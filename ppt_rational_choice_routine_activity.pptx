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Georgia"/>
              </a:rPr>
              <a:t>Rational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Georgia"/>
              </a:rPr>
              <a:t>&amp; Routine Activity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8A84B"/>
                </a:solidFill>
                <a:latin typeface="Calibri"/>
              </a:rPr>
              <a:t>Cornish &amp; Clarke; Cohen &amp; Felson (1970s-80s)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749040"/>
            <a:ext cx="2286000" cy="180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60953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8A84B"/>
                </a:solidFill>
                <a:latin typeface="Calibri"/>
              </a:rPr>
              <a:t>Kwon Joon-sung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66666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222"/>
                </a:solidFill>
                <a:latin typeface="Georgia"/>
              </a:rPr>
              <a:t>Rational Choice &amp; Routine Activity Theory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0000" y="1250000"/>
            <a:ext cx="8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8A84B"/>
                </a:solidFill>
                <a:latin typeface="Calibri"/>
              </a:rPr>
              <a:t>Key Point: </a:t>
            </a:r>
            <a:r>
              <a:rPr sz="1500">
                <a:solidFill>
                  <a:srgbClr val="222222"/>
                </a:solidFill>
                <a:latin typeface="Calibri"/>
              </a:rPr>
              <a:t>Offenders make rational decisions; crime occurs when opportunity meets motivation.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0000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Rational
Choice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230000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Routine
Activity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40" y="230000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Crime
Triangle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08" y="2500000"/>
            <a:ext cx="9144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00000"/>
            <a:ext cx="9144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500000"/>
            <a:ext cx="27432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23000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Hot Spots
Policing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500000"/>
            <a:ext cx="27432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66666"/>
                </a:solidFill>
                <a:latin typeface="Calibri"/>
              </a:rPr>
              <a:t>&amp;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23000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24788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66666"/>
                </a:solidFill>
                <a:latin typeface="Calibri"/>
              </a:rPr>
              <a:t>Research: Empirical Evidence &amp; Policy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PART 1 —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222"/>
                </a:solidFill>
                <a:latin typeface="Georgia"/>
              </a:rPr>
              <a:t>Rational Choice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Cornish &amp; Clarke, 1986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0000" y="1480000"/>
            <a:ext cx="8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4"/>
                </a:solidFill>
                <a:latin typeface="Calibri"/>
              </a:rPr>
              <a:t>Classical Roots: </a:t>
            </a:r>
            <a:r>
              <a:rPr sz="1400">
                <a:solidFill>
                  <a:srgbClr val="222222"/>
                </a:solidFill>
                <a:latin typeface="Calibri"/>
              </a:rPr>
              <a:t>Beccaria &amp; Bentham — offenders as rational actors who calculate pleasure vs pain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0000" y="2210000"/>
            <a:ext cx="8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4"/>
                </a:solidFill>
                <a:latin typeface="Calibri"/>
              </a:rPr>
              <a:t>Core Premise: </a:t>
            </a:r>
            <a:r>
              <a:rPr sz="1400">
                <a:solidFill>
                  <a:srgbClr val="222222"/>
                </a:solidFill>
                <a:latin typeface="Calibri"/>
              </a:rPr>
              <a:t>Offenders weigh costs vs benefits before committing crime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0000" y="2940000"/>
            <a:ext cx="81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8A84B"/>
                </a:solidFill>
                <a:latin typeface="Calibri"/>
              </a:rPr>
              <a:t>Bounded Rationality (Herbert Simon): </a:t>
            </a:r>
            <a:r>
              <a:rPr sz="1400">
                <a:solidFill>
                  <a:srgbClr val="222222"/>
                </a:solidFill>
                <a:latin typeface="Calibri"/>
              </a:rPr>
              <a:t>Not perfectly rational, but reasoning within cognitive and informational limits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Involvement Decisions
(start / continue / stop offending)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65760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Event Decisions
(when / where / how to commit)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PART 1 —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222"/>
                </a:solidFill>
                <a:latin typeface="Georgia"/>
              </a:rPr>
              <a:t>Three Minimal Elements for Crime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Cohen &amp; Felson, 1979</a:t>
            </a:r>
          </a:p>
        </p:txBody>
      </p:sp>
      <p:sp>
        <p:nvSpPr>
          <p:cNvPr id="5" name="Oval 4"/>
          <p:cNvSpPr/>
          <p:nvPr/>
        </p:nvSpPr>
        <p:spPr>
          <a:xfrm>
            <a:off x="1678749" y="1290328"/>
            <a:ext cx="411480" cy="411480"/>
          </a:xfrm>
          <a:prstGeom prst="ellipse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9489" y="1886659"/>
            <a:ext cx="1710000" cy="64008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Motivated
Offender</a:t>
            </a:r>
          </a:p>
        </p:txBody>
      </p:sp>
      <p:sp>
        <p:nvSpPr>
          <p:cNvPr id="7" name="Oval 6"/>
          <p:cNvSpPr/>
          <p:nvPr/>
        </p:nvSpPr>
        <p:spPr>
          <a:xfrm>
            <a:off x="4252983" y="1290328"/>
            <a:ext cx="411480" cy="411480"/>
          </a:xfrm>
          <a:prstGeom prst="ellipse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3723" y="1886659"/>
            <a:ext cx="1710000" cy="64008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Suitable
Target</a:t>
            </a:r>
          </a:p>
        </p:txBody>
      </p:sp>
      <p:sp>
        <p:nvSpPr>
          <p:cNvPr id="9" name="Oval 8"/>
          <p:cNvSpPr/>
          <p:nvPr/>
        </p:nvSpPr>
        <p:spPr>
          <a:xfrm>
            <a:off x="6708588" y="1290328"/>
            <a:ext cx="411480" cy="411480"/>
          </a:xfrm>
          <a:prstGeom prst="ellipse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9328" y="1886659"/>
            <a:ext cx="1710000" cy="64008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1B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B2A44"/>
                </a:solidFill>
                <a:latin typeface="Calibri"/>
              </a:rPr>
              <a:t>Absence of
Capable Guardian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9489" y="1950000"/>
            <a:ext cx="5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66666"/>
                </a:solidFill>
                <a:latin typeface="Calibri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3723" y="1950000"/>
            <a:ext cx="5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66666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05228" y="2709080"/>
            <a:ext cx="4572000" cy="34798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B2A44"/>
                </a:solidFill>
                <a:latin typeface="Calibri"/>
              </a:rPr>
              <a:t>Convergence in space and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849" y="3359150"/>
            <a:ext cx="381000" cy="320040"/>
          </a:xfrm>
          <a:prstGeom prst="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7379" y="3338830"/>
            <a:ext cx="2477670" cy="36576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Crime occurs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8315" y="3336290"/>
            <a:ext cx="170127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66666"/>
                </a:solidFill>
                <a:latin typeface="Calibri"/>
              </a:rPr>
              <a:t>&amp;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31709" y="3338830"/>
            <a:ext cx="4014832" cy="368009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Lack of any one → sufficient to prevent crime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6900" y="4069286"/>
            <a:ext cx="8096250" cy="612902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6900" y="4069286"/>
            <a:ext cx="53975" cy="61290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900" y="4099286"/>
            <a:ext cx="7996250" cy="55290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Limitation: Takes criminal inclination as given — does not explain HOW offender becomes motivated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PART 1 —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222"/>
                </a:solidFill>
                <a:latin typeface="Georgia"/>
              </a:rPr>
              <a:t>VIVA  &amp; Crime Triangle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00000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66666"/>
                </a:solidFill>
                <a:latin typeface="Calibri"/>
              </a:rPr>
              <a:t>VIVA Criteria — Cohen &amp; Felson, 1979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500000"/>
            <a:ext cx="292608" cy="329184"/>
          </a:xfrm>
          <a:prstGeom prst="ellipse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00000"/>
            <a:ext cx="352507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alue — Material or symbolic desirability of target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900000"/>
            <a:ext cx="292608" cy="329184"/>
          </a:xfrm>
          <a:prstGeom prst="ellipse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0000"/>
            <a:ext cx="352507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nertia — Weight, size, portability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00000"/>
            <a:ext cx="292608" cy="329184"/>
          </a:xfrm>
          <a:prstGeom prst="ellipse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00000"/>
            <a:ext cx="352507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isibility — Exposure to offenders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700000"/>
            <a:ext cx="292608" cy="329184"/>
          </a:xfrm>
          <a:prstGeom prst="ellipse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00000"/>
            <a:ext cx="352507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ccess — How easy to reach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000"/>
            <a:ext cx="3840480" cy="400000"/>
          </a:xfrm>
          <a:prstGeom prst="roundRect">
            <a:avLst>
              <a:gd name="adj" fmla="val 10000"/>
            </a:avLst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E.g.) Phone on a café table = near-perfect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0000" y="1100000"/>
            <a:ext cx="350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66666"/>
                </a:solidFill>
                <a:latin typeface="Calibri"/>
              </a:rPr>
              <a:t>Crime Triangle — Eck, 2003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000" y="1550000"/>
            <a:ext cx="1100000" cy="35000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Offender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0" y="2900000"/>
            <a:ext cx="1100000" cy="35000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0000" y="2900000"/>
            <a:ext cx="1100000" cy="35000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0000" y="1550000"/>
            <a:ext cx="12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A44"/>
                </a:solidFill>
                <a:latin typeface="Calibri"/>
              </a:rPr>
              <a:t>Handler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0000" y="177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Calibri"/>
              </a:rPr>
              <a:t>(e.g. parent, friend)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0000" y="3350000"/>
            <a:ext cx="12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A44"/>
                </a:solidFill>
                <a:latin typeface="Calibri"/>
              </a:rPr>
              <a:t>Guardian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0000" y="357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Calibri"/>
              </a:rPr>
              <a:t>(e.g. ordinary citizen)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0" y="3350000"/>
            <a:ext cx="12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A44"/>
                </a:solidFill>
                <a:latin typeface="Calibri"/>
              </a:rPr>
              <a:t>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0" y="357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Calibri"/>
              </a:rPr>
              <a:t>(e.g. owner, staff)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0" y="4000000"/>
            <a:ext cx="3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84B"/>
                </a:solidFill>
                <a:latin typeface="Calibri"/>
              </a:rPr>
              <a:t>If any one controller functions = crime can be prevented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PART 1 —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222"/>
                </a:solidFill>
                <a:latin typeface="Georgia"/>
              </a:rPr>
              <a:t>Situational Crime Prevention (SCP)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71202"/>
            <a:ext cx="8296910" cy="50000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Clarke (1992) → Cornish &amp; Clarke (2003): 25 Techniques in 5 Categories</a:t>
            </a:r>
          </a:p>
        </p:txBody>
      </p:sp>
      <p:sp>
        <p:nvSpPr>
          <p:cNvPr id="5" name="Oval 4"/>
          <p:cNvSpPr/>
          <p:nvPr/>
        </p:nvSpPr>
        <p:spPr>
          <a:xfrm>
            <a:off x="678180" y="2006092"/>
            <a:ext cx="411480" cy="411480"/>
          </a:xfrm>
          <a:prstGeom prst="ellipse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0500" y="2509012"/>
            <a:ext cx="1386840" cy="640080"/>
          </a:xfrm>
          <a:prstGeom prst="roundRect">
            <a:avLst>
              <a:gd name="adj" fmla="val 10000"/>
            </a:avLst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Increase
Effort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" y="3200000"/>
            <a:ext cx="138684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Target hardening,
access control</a:t>
            </a:r>
          </a:p>
        </p:txBody>
      </p:sp>
      <p:sp>
        <p:nvSpPr>
          <p:cNvPr id="8" name="Oval 7"/>
          <p:cNvSpPr/>
          <p:nvPr/>
        </p:nvSpPr>
        <p:spPr>
          <a:xfrm>
            <a:off x="2415540" y="2006092"/>
            <a:ext cx="411480" cy="411480"/>
          </a:xfrm>
          <a:prstGeom prst="ellipse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7860" y="2509012"/>
            <a:ext cx="1386840" cy="640080"/>
          </a:xfrm>
          <a:prstGeom prst="roundRect">
            <a:avLst>
              <a:gd name="adj" fmla="val 10000"/>
            </a:avLst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Increase
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7860" y="3200000"/>
            <a:ext cx="138684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Surveillance,
CCTV, lighting</a:t>
            </a:r>
          </a:p>
        </p:txBody>
      </p:sp>
      <p:sp>
        <p:nvSpPr>
          <p:cNvPr id="11" name="Oval 10"/>
          <p:cNvSpPr/>
          <p:nvPr/>
        </p:nvSpPr>
        <p:spPr>
          <a:xfrm>
            <a:off x="4152900" y="2006092"/>
            <a:ext cx="411480" cy="411480"/>
          </a:xfrm>
          <a:prstGeom prst="ellipse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65220" y="2509012"/>
            <a:ext cx="1386840" cy="640080"/>
          </a:xfrm>
          <a:prstGeom prst="roundRect">
            <a:avLst>
              <a:gd name="adj" fmla="val 10000"/>
            </a:avLst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Reduce
Rewards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5220" y="3200000"/>
            <a:ext cx="138684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Remove targets,
mark property</a:t>
            </a:r>
          </a:p>
        </p:txBody>
      </p:sp>
      <p:sp>
        <p:nvSpPr>
          <p:cNvPr id="14" name="Oval 13"/>
          <p:cNvSpPr/>
          <p:nvPr/>
        </p:nvSpPr>
        <p:spPr>
          <a:xfrm>
            <a:off x="5890260" y="2006092"/>
            <a:ext cx="411480" cy="411480"/>
          </a:xfrm>
          <a:prstGeom prst="ellipse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2580" y="2509012"/>
            <a:ext cx="1386840" cy="640080"/>
          </a:xfrm>
          <a:prstGeom prst="roundRect">
            <a:avLst>
              <a:gd name="adj" fmla="val 10000"/>
            </a:avLst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Reduce
Provocation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2580" y="3200000"/>
            <a:ext cx="138684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Reduce frustration,
avoid disputes</a:t>
            </a:r>
          </a:p>
        </p:txBody>
      </p:sp>
      <p:sp>
        <p:nvSpPr>
          <p:cNvPr id="17" name="Oval 16"/>
          <p:cNvSpPr/>
          <p:nvPr/>
        </p:nvSpPr>
        <p:spPr>
          <a:xfrm>
            <a:off x="7627620" y="2006092"/>
            <a:ext cx="411480" cy="411480"/>
          </a:xfrm>
          <a:prstGeom prst="ellipse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9940" y="2509012"/>
            <a:ext cx="1386840" cy="640080"/>
          </a:xfrm>
          <a:prstGeom prst="roundRect">
            <a:avLst>
              <a:gd name="adj" fmla="val 10000"/>
            </a:avLst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Remove
Excuses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9940" y="3200000"/>
            <a:ext cx="138684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Set rules,
post instructions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00000"/>
            <a:ext cx="8229600" cy="5000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Example: Steering column locks (Effort) | CCTV in parking garages (Risk) | Ink tags on clothing (Rewards)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PART 2 —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222"/>
                </a:solidFill>
                <a:latin typeface="Georgia"/>
              </a:rPr>
              <a:t>Empirical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0000"/>
            <a:ext cx="8229600" cy="780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0000" y="1220000"/>
            <a:ext cx="8100000" cy="7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4"/>
                </a:solidFill>
                <a:latin typeface="Calibri"/>
              </a:rPr>
              <a:t>Sherman, Gartin &amp; Buerger (1989) — Minneapolis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3.5% of addresses → 50% of all police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80000"/>
            <a:ext cx="8229600" cy="780000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0000" y="2100000"/>
            <a:ext cx="8100000" cy="7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4"/>
                </a:solidFill>
                <a:latin typeface="Calibri"/>
              </a:rPr>
              <a:t>Braga et al. (2014) — Meta-analysis of 25 studies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Hot spots policing: significant crime reduction with little displacement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60000"/>
            <a:ext cx="8229600" cy="780000"/>
          </a:xfrm>
          <a:prstGeom prst="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0000" y="2980000"/>
            <a:ext cx="8100000" cy="7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4"/>
                </a:solidFill>
                <a:latin typeface="Calibri"/>
              </a:rPr>
              <a:t>Guerette &amp; Bowers (2009) — 102 evaluations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Displacement: only 26% of studies | Diffusion of benefits: 27%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00000"/>
            <a:ext cx="8229600" cy="502920"/>
          </a:xfrm>
          <a:prstGeom prst="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000" y="3920000"/>
            <a:ext cx="81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8A84B"/>
                </a:solidFill>
                <a:latin typeface="Calibri"/>
              </a:rPr>
              <a:t>Key Insight: </a:t>
            </a:r>
            <a:r>
              <a:rPr sz="1400">
                <a:solidFill>
                  <a:srgbClr val="222222"/>
                </a:solidFill>
                <a:latin typeface="Calibri"/>
              </a:rPr>
              <a:t>"Crime does not simply move around the corner" — Weisburd et al. (2006)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PART 2 —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222"/>
                </a:solidFill>
                <a:latin typeface="Georgia"/>
              </a:rPr>
              <a:t>Policy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0000"/>
            <a:ext cx="8229600" cy="880000"/>
          </a:xfrm>
          <a:prstGeom prst="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0000" y="1220000"/>
            <a:ext cx="810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4"/>
                </a:solidFill>
                <a:latin typeface="Calibri"/>
              </a:rPr>
              <a:t>Kirkholt Burglary Prevention — Forrester et al. (1988, UK)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Removed gas meters (coin-operated) + cocoon neighbourhood watch</a:t>
            </a:r>
          </a:p>
          <a:p>
            <a:r>
              <a:rPr sz="1300" b="1">
                <a:solidFill>
                  <a:srgbClr val="1B2A44"/>
                </a:solidFill>
                <a:latin typeface="Calibri"/>
              </a:rPr>
              <a:t>→ 75% reduction in burglary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00000"/>
            <a:ext cx="8229600" cy="880000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0000" y="2220000"/>
            <a:ext cx="810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4"/>
                </a:solidFill>
                <a:latin typeface="Calibri"/>
              </a:rPr>
              <a:t>Operation Ceasefire — Kennedy (1997, Boston)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Pulling levers: communicating consequences directly to gang members</a:t>
            </a:r>
          </a:p>
          <a:p>
            <a:r>
              <a:rPr sz="1300" b="1">
                <a:solidFill>
                  <a:srgbClr val="1B2A44"/>
                </a:solidFill>
                <a:latin typeface="Calibri"/>
              </a:rPr>
              <a:t>→ 63% reduction in youth homicide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000"/>
            <a:ext cx="8229600" cy="880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0000" y="3220000"/>
            <a:ext cx="810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4"/>
                </a:solidFill>
                <a:latin typeface="Calibri"/>
              </a:rPr>
              <a:t>Netherlands National Strategy — Webb (1994)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Mandatory steering column locks on all new vehicles</a:t>
            </a:r>
          </a:p>
          <a:p>
            <a:r>
              <a:rPr sz="1300" b="1">
                <a:solidFill>
                  <a:srgbClr val="1B2A44"/>
                </a:solidFill>
                <a:latin typeface="Calibri"/>
              </a:rPr>
              <a:t>→ 50% reduction in car theft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222"/>
                </a:solidFill>
                <a:latin typeface="Georgia"/>
              </a:rPr>
              <a:t>Criticisms &amp; Comparisons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0000"/>
            <a:ext cx="400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00000"/>
            <a:ext cx="8229600" cy="370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00000"/>
            <a:ext cx="53975" cy="37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200" y="1130000"/>
            <a:ext cx="81296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Ignores root causes — poverty, inequality, social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0000"/>
            <a:ext cx="8229600" cy="370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0000"/>
            <a:ext cx="53975" cy="37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7200" y="1580000"/>
            <a:ext cx="81296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Assumes too much rationality — many crimes are impulsive or emotional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00000"/>
            <a:ext cx="8229600" cy="370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00000"/>
            <a:ext cx="53975" cy="37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7200" y="2030000"/>
            <a:ext cx="81296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Class and race blind — does not address structural disadvantage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00000"/>
            <a:ext cx="400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2A44"/>
                </a:solidFill>
                <a:latin typeface="Calibri"/>
              </a:rPr>
              <a:t>Theory Comparisons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0000"/>
            <a:ext cx="2700000" cy="35000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57200" y="2920000"/>
            <a:ext cx="2700000" cy="35000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Core 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7200" y="2920000"/>
            <a:ext cx="2629600" cy="35000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Focus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20000"/>
            <a:ext cx="2700000" cy="4500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Rational Choice
(Cornish &amp; Clarke)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57200" y="3320000"/>
            <a:ext cx="2700000" cy="4500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When/where does
crime happen?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57200" y="3320000"/>
            <a:ext cx="2629600" cy="4500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1B2A44"/>
                </a:solidFill>
                <a:latin typeface="Calibri"/>
              </a:rPr>
              <a:t>Opportunity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20000"/>
            <a:ext cx="2700000" cy="4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Social Bond
(Hirschi)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57200" y="3820000"/>
            <a:ext cx="2700000" cy="4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Why do people
conform?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7200" y="3820000"/>
            <a:ext cx="2629600" cy="4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1B2A44"/>
                </a:solidFill>
                <a:latin typeface="Calibri"/>
              </a:rPr>
              <a:t>Bonds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20000"/>
            <a:ext cx="2700000" cy="4500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General Strain
(Agnew)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57200" y="4320000"/>
            <a:ext cx="2700000" cy="4500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Why do people
offend?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7200" y="4320000"/>
            <a:ext cx="2629600" cy="4500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1B2A44"/>
                </a:solidFill>
                <a:latin typeface="Calibri"/>
              </a:rPr>
              <a:t>Pressure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222"/>
                </a:solidFill>
                <a:latin typeface="Georgia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09330" y="937260"/>
            <a:ext cx="8229600" cy="13716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930" y="100584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8BCFC1"/>
                </a:solidFill>
                <a:latin typeface="Calibri"/>
              </a:rPr>
              <a:t>Focus: </a:t>
            </a:r>
            <a:r>
              <a:rPr sz="1400">
                <a:solidFill>
                  <a:srgbClr val="FFFFFF"/>
                </a:solidFill>
                <a:latin typeface="Calibri"/>
              </a:rPr>
              <a:t>Opportunity structure (not offender pathology)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8BCFC1"/>
                </a:solidFill>
                <a:latin typeface="Calibri"/>
              </a:rPr>
              <a:t>Theory: </a:t>
            </a:r>
            <a:r>
              <a:rPr sz="1400">
                <a:solidFill>
                  <a:srgbClr val="FFFFFF"/>
                </a:solidFill>
                <a:latin typeface="Calibri"/>
              </a:rPr>
              <a:t>Rational Choice + Routine Activity + Crime Triangle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8BCFC1"/>
                </a:solidFill>
                <a:latin typeface="Calibri"/>
              </a:rPr>
              <a:t>Practice: </a:t>
            </a:r>
            <a:r>
              <a:rPr sz="1400">
                <a:solidFill>
                  <a:srgbClr val="FFFFFF"/>
                </a:solidFill>
                <a:latin typeface="Calibri"/>
              </a:rPr>
              <a:t>SCP, Hot Spots Policing, CPTED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8BCFC1"/>
                </a:solidFill>
                <a:latin typeface="Calibri"/>
              </a:rPr>
              <a:t>Evidence: </a:t>
            </a:r>
            <a:r>
              <a:rPr sz="1400">
                <a:solidFill>
                  <a:srgbClr val="FFFFFF"/>
                </a:solidFill>
                <a:latin typeface="Calibri"/>
              </a:rPr>
              <a:t>Strong empirical support across multiple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00000"/>
            <a:ext cx="95509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000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1. Crime displacement — may relocate crime rather than eliminate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80000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2. Takes offender motivation as given — does not address root causes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80000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3. Application to private / digital spaces remains limited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1876" y="3800000"/>
            <a:ext cx="8229600" cy="1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732" y="3900000"/>
            <a:ext cx="77724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A84B"/>
                </a:solidFill>
                <a:latin typeface="Calibri"/>
              </a:rPr>
              <a:t>No single approach is sufficient</a:t>
            </a:r>
          </a:p>
          <a:p>
            <a:r>
              <a:rPr sz="1400" b="1">
                <a:solidFill>
                  <a:srgbClr val="222222"/>
                </a:solidFill>
                <a:latin typeface="Calibri"/>
              </a:rPr>
              <a:t>     → Comprehensive understanding based on diverse frameworks is essential.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