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18320" cy="25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30"/>
              </a:lnSpc>
              <a:spcAft>
                <a:spcPts val="400"/>
              </a:spcAft>
              <a:defRPr sz="4200" b="1">
                <a:solidFill>
                  <a:srgbClr val="FFFFFF"/>
                </a:solidFill>
                <a:latin typeface="Calibri"/>
              </a:defRPr>
            </a:pPr>
            <a:r>
              <a:t>Rational Choice &amp;</a:t>
            </a:r>
            <a:br/>
            <a:r>
              <a:t>Routine Activity Theory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429000"/>
            <a:ext cx="3931920" cy="25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400"/>
              </a:spcAft>
              <a:defRPr sz="2000" b="0">
                <a:solidFill>
                  <a:srgbClr val="C8A84B"/>
                </a:solidFill>
                <a:latin typeface="Calibri"/>
              </a:defRPr>
            </a:pPr>
            <a:r>
              <a:t>Cornish &amp; Clarke  ·  Cohen &amp; Felson  (1970s–80s)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976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AAAABB"/>
                </a:solidFill>
                <a:latin typeface="Calibri"/>
              </a:defRPr>
            </a:pPr>
            <a:r>
              <a:t>Lecture 8  ·  Environmental Criminology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029200"/>
            <a:ext cx="9418320" cy="25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C8A84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2194560" cy="146304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Rational Choice</a:t>
            </a:r>
            <a:br/>
            <a:r>
              <a:t>Theory</a:t>
            </a:r>
          </a:p>
        </p:txBody>
      </p:sp>
      <p:sp>
        <p:nvSpPr>
          <p:cNvPr id="7" name="Oval 6"/>
          <p:cNvSpPr/>
          <p:nvPr/>
        </p:nvSpPr>
        <p:spPr>
          <a:xfrm>
            <a:off x="1691640" y="1645920"/>
            <a:ext cx="640080" cy="640080"/>
          </a:xfrm>
          <a:prstGeom prst="ellipse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2A44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194560" cy="146304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Routine Activity</a:t>
            </a:r>
            <a:br/>
            <a:r>
              <a:t>Theory</a:t>
            </a:r>
          </a:p>
        </p:txBody>
      </p:sp>
      <p:sp>
        <p:nvSpPr>
          <p:cNvPr id="9" name="Oval 8"/>
          <p:cNvSpPr/>
          <p:nvPr/>
        </p:nvSpPr>
        <p:spPr>
          <a:xfrm>
            <a:off x="4343400" y="1645920"/>
            <a:ext cx="640080" cy="640080"/>
          </a:xfrm>
          <a:prstGeom prst="ellipse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2A44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2194560" cy="146304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Key Research</a:t>
            </a:r>
            <a:br/>
            <a:r>
              <a:t>&amp; Evidence</a:t>
            </a:r>
          </a:p>
        </p:txBody>
      </p:sp>
      <p:sp>
        <p:nvSpPr>
          <p:cNvPr id="11" name="Oval 10"/>
          <p:cNvSpPr/>
          <p:nvPr/>
        </p:nvSpPr>
        <p:spPr>
          <a:xfrm>
            <a:off x="6995160" y="1645920"/>
            <a:ext cx="640080" cy="640080"/>
          </a:xfrm>
          <a:prstGeom prst="ellipse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2A44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286000"/>
            <a:ext cx="2194560" cy="146304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Policy &amp;</a:t>
            </a:r>
            <a:br/>
            <a:r>
              <a:t>Applications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9646920" y="1645920"/>
            <a:ext cx="640080" cy="640080"/>
          </a:xfrm>
          <a:prstGeom prst="ellipse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B2A44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880360"/>
            <a:ext cx="457200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2880360"/>
            <a:ext cx="457200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880360"/>
            <a:ext cx="457200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4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t>Each section builds on the previous — from theory to evidence to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Classical Roots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Both theories trace back to the Classical School of criminology (18th century)</a:t>
            </a:r>
          </a:p>
          <a:p>
            <a:pPr algn="l">
              <a:spcAft>
                <a:spcPts val="12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Cesare Beccaria (1764): Punishment should be swift, certain, and proportional</a:t>
            </a:r>
          </a:p>
          <a:p>
            <a:pPr algn="l">
              <a:spcAft>
                <a:spcPts val="12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Jeremy Bentham: "Felicific calculus" — people seek pleasure and avoid pain</a:t>
            </a:r>
          </a:p>
          <a:p>
            <a:pPr algn="l">
              <a:spcAft>
                <a:spcPts val="12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Core assumption: Offenders are rational actors who make choices</a:t>
            </a:r>
          </a:p>
          <a:p>
            <a:pPr algn="l">
              <a:spcAft>
                <a:spcPts val="12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Crime is a product of free will, not fate or pathology</a:t>
            </a:r>
          </a:p>
          <a:p>
            <a:pPr algn="l">
              <a:spcAft>
                <a:spcPts val="12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Modern rational choice theory updates these ideas with cognitive psychology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Rational Choice Theory: Core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Offenders weigh perceived costs against perceived benefits before acting</a:t>
            </a:r>
          </a:p>
          <a:p>
            <a:pPr algn="l">
              <a:spcAft>
                <a:spcPts val="10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Bounded rationality (Herbert Simon, 1957): decisions made with limited information, time, and cognitive capacity</a:t>
            </a:r>
          </a:p>
          <a:p>
            <a:pPr algn="l">
              <a:spcAft>
                <a:spcPts val="10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Not perfectly rational, but reasoning within situational constraints</a:t>
            </a:r>
          </a:p>
          <a:p>
            <a:pPr algn="l">
              <a:spcAft>
                <a:spcPts val="10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Decisions are crime-specific — burglary vs. robbery involve different calculus</a:t>
            </a:r>
          </a:p>
          <a:p>
            <a:pPr algn="l">
              <a:spcAft>
                <a:spcPts val="10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Situational factors heavily influence the decision to offend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365760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8A84B"/>
                </a:solidFill>
                <a:latin typeface="Calibri"/>
              </a:defRPr>
            </a:pPr>
            <a:r>
              <a:t>Decision Calculus</a:t>
            </a:r>
          </a:p>
          <a:p>
            <a:br/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Perceived Benefits</a:t>
            </a:r>
          </a:p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• Money / Thrill / Status</a:t>
            </a:r>
          </a:p>
          <a:p>
            <a:br/>
            <a:pPr algn="ctr">
              <a:defRPr sz="1300" b="1">
                <a:solidFill>
                  <a:srgbClr val="C8A84B"/>
                </a:solidFill>
                <a:latin typeface="Calibri"/>
              </a:defRPr>
            </a:pPr>
            <a:r>
              <a:t>     vs.</a:t>
            </a:r>
          </a:p>
          <a:p>
            <a:br/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Perceived Costs</a:t>
            </a:r>
          </a:p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• Arrest / Punishment / Shame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Types (Cornish &amp; Clarke, 1986)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49377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2200" b="1">
                <a:solidFill>
                  <a:srgbClr val="1B2A44"/>
                </a:solidFill>
                <a:latin typeface="Calibri"/>
              </a:defRPr>
            </a:pPr>
            <a:r>
              <a:t>Involvement Decisions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•  Whether to begin offending (initiation)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•  Whether to continue offending (habituation)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•  Whether to stop offending (desistance)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i="1">
                <a:solidFill>
                  <a:srgbClr val="666666"/>
                </a:solidFill>
                <a:latin typeface="Calibri"/>
              </a:defRPr>
            </a:pPr>
            <a:r>
              <a:t>Influenced by background factors,</a:t>
            </a:r>
            <a:br/>
            <a:r>
              <a:t>learning, and life circumstances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9377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08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2200" b="1">
                <a:solidFill>
                  <a:srgbClr val="A0863C"/>
                </a:solidFill>
                <a:latin typeface="Calibri"/>
              </a:defRPr>
            </a:pPr>
            <a:r>
              <a:t>Event Decisions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•  When to commit this specific crime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•  Where to commit it (target selection)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•  How to carry it out (modus operandi)</a:t>
            </a:r>
          </a:p>
          <a:p>
            <a:pPr algn="l">
              <a:spcAft>
                <a:spcPts val="600"/>
              </a:spcAft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500" i="1">
                <a:solidFill>
                  <a:srgbClr val="666666"/>
                </a:solidFill>
                <a:latin typeface="Calibri"/>
              </a:defRPr>
            </a:pPr>
            <a:r>
              <a:t>Influenced by immediate situational</a:t>
            </a:r>
            <a:br/>
            <a:r>
              <a:t>factors and opportunities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Situational Crime Prevention: 25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103120" cy="82296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Increase</a:t>
            </a:r>
            <a:br/>
            <a:r>
              <a:t>Effort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Target hardening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Access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Screen exits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5196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Deflect offenders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9204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Control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463040"/>
            <a:ext cx="2103120" cy="822960"/>
          </a:xfrm>
          <a:prstGeom prst="rect">
            <a:avLst/>
          </a:prstGeom>
          <a:solidFill>
            <a:srgbClr val="2D3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Increase</a:t>
            </a:r>
            <a:br/>
            <a:r>
              <a:t>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33172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Extend guardianship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97180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Assist surveillance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361188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Reduce anonymity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425196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Place managers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489204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Formal surveillance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1463040"/>
            <a:ext cx="2103120" cy="822960"/>
          </a:xfrm>
          <a:prstGeom prst="rect">
            <a:avLst/>
          </a:prstGeom>
          <a:solidFill>
            <a:srgbClr val="3D5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Reduce</a:t>
            </a:r>
            <a:br/>
            <a:r>
              <a:t>Rewards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33172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Conceal targets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7180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Remove targets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361188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Identify property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425196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Disrupt markets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489204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Deny benefits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9480" y="1463040"/>
            <a:ext cx="2103120" cy="822960"/>
          </a:xfrm>
          <a:prstGeom prst="rect">
            <a:avLst/>
          </a:prstGeom>
          <a:solidFill>
            <a:srgbClr val="6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Reduce</a:t>
            </a:r>
            <a:br/>
            <a:r>
              <a:t>Provocations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33172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Reduce frustration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297180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Avoid disputes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61188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Reduce temptation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9480" y="425196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Neutralize pressure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69480" y="489204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Discourage imitation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0" y="1463040"/>
            <a:ext cx="2103120" cy="822960"/>
          </a:xfrm>
          <a:prstGeom prst="rect">
            <a:avLst/>
          </a:prstGeom>
          <a:solidFill>
            <a:srgbClr val="4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Remove</a:t>
            </a:r>
            <a:br/>
            <a:r>
              <a:t>Excuses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9760" y="233172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Set rules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297180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Post instructions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361188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Alert conscience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251960"/>
            <a:ext cx="2103120" cy="5943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Assist compliance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489204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A2A2A"/>
                </a:solidFill>
                <a:latin typeface="Calibri"/>
              </a:defRPr>
            </a:pPr>
            <a:r>
              <a:t>Control substances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40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Clarke (1997); Cornish &amp; Clarke (2003)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Routine Activity Theory: 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Cohen &amp; Felson (1979): "Social Change and Crime Rate Trends"</a:t>
            </a:r>
          </a:p>
          <a:p>
            <a:pPr algn="l">
              <a:spcAft>
                <a:spcPts val="10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Crime is a normal function of everyday life patterns, not pathological behavior</a:t>
            </a:r>
          </a:p>
          <a:p>
            <a:pPr algn="l">
              <a:spcAft>
                <a:spcPts val="1000"/>
              </a:spcAft>
              <a:defRPr sz="1900">
                <a:solidFill>
                  <a:srgbClr val="2A2A2A"/>
                </a:solidFill>
                <a:latin typeface="Calibri"/>
              </a:defRPr>
            </a:pPr>
            <a:r>
              <a:t>•  Crime occurs when three elements converge in time and space: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2743200" cy="118872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Motivated</a:t>
            </a:r>
            <a:br/>
            <a:r>
              <a:t>Offender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3474720"/>
            <a:ext cx="2743200" cy="1188720"/>
          </a:xfrm>
          <a:prstGeom prst="roundRect">
            <a:avLst/>
          </a:prstGeom>
          <a:solidFill>
            <a:srgbClr val="6B3A2A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Suitable</a:t>
            </a:r>
            <a:br/>
            <a:r>
              <a:t>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74720"/>
            <a:ext cx="2743200" cy="1188720"/>
          </a:xfrm>
          <a:prstGeom prst="roundRect">
            <a:avLst/>
          </a:prstGeom>
          <a:solidFill>
            <a:srgbClr val="3D5A3D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Absence of Capable</a:t>
            </a:r>
            <a:br/>
            <a:r>
              <a:t>Guardian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6576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400"/>
              </a:spcAft>
              <a:defRPr sz="3000" b="1">
                <a:solidFill>
                  <a:srgbClr val="C8A84B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6576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400"/>
              </a:spcAft>
              <a:defRPr sz="3000" b="1">
                <a:solidFill>
                  <a:srgbClr val="C8A84B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1">
                <a:solidFill>
                  <a:srgbClr val="1B2A44"/>
                </a:solidFill>
                <a:latin typeface="Calibri"/>
              </a:defRPr>
            </a:pPr>
            <a:r>
              <a:t>Key insight: You don't need to explain criminal motivation to explain crime patterns.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Crime Triangle (Problem Analysis Triangle)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554480"/>
            <a:ext cx="2011680" cy="82296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Motivated</a:t>
            </a:r>
            <a:br/>
            <a:r>
              <a:t>Offender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114800"/>
            <a:ext cx="2011680" cy="82296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Suitable</a:t>
            </a:r>
            <a:br/>
            <a:r>
              <a:t>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2011680" cy="82296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Absence of</a:t>
            </a:r>
            <a:br/>
            <a:r>
              <a:t>Guardian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200400"/>
            <a:ext cx="1828800" cy="64008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2A44"/>
                </a:solidFill>
                <a:latin typeface="Calibri"/>
              </a:defRPr>
            </a:pPr>
            <a:r>
              <a:t>CRIME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1">
                <a:solidFill>
                  <a:srgbClr val="8B4D1A"/>
                </a:solidFill>
                <a:latin typeface="Calibri"/>
              </a:defRPr>
            </a:pPr>
            <a:r>
              <a:t>Handler</a:t>
            </a:r>
            <a:br/>
            <a:r>
              <a:t>(supervises offender)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1206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400"/>
              </a:spcAft>
              <a:defRPr sz="1400" b="1">
                <a:solidFill>
                  <a:srgbClr val="3D5A3D"/>
                </a:solidFill>
                <a:latin typeface="Calibri"/>
              </a:defRPr>
            </a:pPr>
            <a:r>
              <a:t>Place Manager</a:t>
            </a:r>
            <a:br/>
            <a:r>
              <a:t>(controls location)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1148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400"/>
              </a:spcAft>
              <a:defRPr sz="1400" b="1">
                <a:solidFill>
                  <a:srgbClr val="4A3A6A"/>
                </a:solidFill>
                <a:latin typeface="Calibri"/>
              </a:defRPr>
            </a:pPr>
            <a:r>
              <a:t>Guardian</a:t>
            </a:r>
            <a:br/>
            <a:r>
              <a:t>(protects target)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400"/>
              </a:spcAft>
              <a:defRPr sz="1800" b="1">
                <a:solidFill>
                  <a:srgbClr val="1B2A44"/>
                </a:solidFill>
                <a:latin typeface="Calibri"/>
              </a:defRPr>
            </a:pPr>
            <a:r>
              <a:t>Eck's Extended Triangle</a:t>
            </a:r>
          </a:p>
          <a:p>
            <a:br/>
            <a:pPr>
              <a:spcAft>
                <a:spcPts val="200"/>
              </a:spcAft>
              <a:defRPr sz="1200">
                <a:solidFill>
                  <a:srgbClr val="2A2A2A"/>
                </a:solidFill>
                <a:latin typeface="Calibri"/>
              </a:defRPr>
            </a:pPr>
            <a:r>
              <a:t>Inner triangle: three elements needed for crime</a:t>
            </a:r>
          </a:p>
          <a:p>
            <a:br/>
            <a:pPr>
              <a:spcAft>
                <a:spcPts val="200"/>
              </a:spcAft>
              <a:defRPr sz="1200">
                <a:solidFill>
                  <a:srgbClr val="2A2A2A"/>
                </a:solidFill>
                <a:latin typeface="Calibri"/>
              </a:defRPr>
            </a:pPr>
            <a:r>
              <a:t>Outer triangle: three controllers who can prevent it</a:t>
            </a:r>
          </a:p>
          <a:p>
            <a:br/>
            <a:pPr>
              <a:spcAft>
                <a:spcPts val="200"/>
              </a:spcAft>
              <a:defRPr sz="1200">
                <a:solidFill>
                  <a:srgbClr val="2A2A2A"/>
                </a:solidFill>
                <a:latin typeface="Calibri"/>
              </a:defRPr>
            </a:pPr>
            <a:r>
              <a:t>Handler: someone who knows the offender (parent, teacher, employer)</a:t>
            </a:r>
          </a:p>
          <a:p>
            <a:br/>
            <a:pPr>
              <a:spcAft>
                <a:spcPts val="200"/>
              </a:spcAft>
              <a:defRPr sz="1200">
                <a:solidFill>
                  <a:srgbClr val="2A2A2A"/>
                </a:solidFill>
                <a:latin typeface="Calibri"/>
              </a:defRPr>
            </a:pPr>
            <a:r>
              <a:t>Manager: person responsible for the place (owner, janitor)</a:t>
            </a:r>
          </a:p>
          <a:p>
            <a:br/>
            <a:pPr>
              <a:spcAft>
                <a:spcPts val="200"/>
              </a:spcAft>
              <a:defRPr sz="1200">
                <a:solidFill>
                  <a:srgbClr val="2A2A2A"/>
                </a:solidFill>
                <a:latin typeface="Calibri"/>
              </a:defRPr>
            </a:pPr>
            <a:r>
              <a:t>Guardian: person who can protect the target (friend, police, bystander)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VIVA: What Makes a Target "Suitable"?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645920"/>
            <a:ext cx="822960" cy="822960"/>
          </a:xfrm>
          <a:prstGeom prst="ellipse">
            <a:avLst/>
          </a:prstGeom>
          <a:solidFill>
            <a:srgbClr val="1B2A44"/>
          </a:solidFill>
          <a:ln w="2540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8A84B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91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400"/>
              </a:spcAft>
              <a:defRPr sz="2200" b="1">
                <a:solidFill>
                  <a:srgbClr val="1B2A44"/>
                </a:solidFill>
                <a:latin typeface="Calibri"/>
              </a:defRPr>
            </a:pPr>
            <a: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0">
                <a:solidFill>
                  <a:srgbClr val="2A2A2A"/>
                </a:solidFill>
                <a:latin typeface="Calibri"/>
              </a:defRPr>
            </a:pPr>
            <a:r>
              <a:t>Target has value to the offender</a:t>
            </a:r>
            <a:br/>
            <a:r>
              <a:t>(monetary, symbolic, emotional)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834640"/>
            <a:ext cx="822960" cy="822960"/>
          </a:xfrm>
          <a:prstGeom prst="ellipse">
            <a:avLst/>
          </a:prstGeom>
          <a:solidFill>
            <a:srgbClr val="1B2A44"/>
          </a:solidFill>
          <a:ln w="2540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8A84B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880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400"/>
              </a:spcAft>
              <a:defRPr sz="2200" b="1">
                <a:solidFill>
                  <a:srgbClr val="1B2A44"/>
                </a:solidFill>
                <a:latin typeface="Calibri"/>
              </a:defRPr>
            </a:pPr>
            <a:r>
              <a:t>Inertia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0">
                <a:solidFill>
                  <a:srgbClr val="2A2A2A"/>
                </a:solidFill>
                <a:latin typeface="Calibri"/>
              </a:defRPr>
            </a:pPr>
            <a:r>
              <a:t>Target is light, movable, easy to carry</a:t>
            </a:r>
            <a:br/>
            <a:r>
              <a:t>(a laptop vs. a grand piano)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23360"/>
            <a:ext cx="822960" cy="822960"/>
          </a:xfrm>
          <a:prstGeom prst="ellipse">
            <a:avLst/>
          </a:prstGeom>
          <a:solidFill>
            <a:srgbClr val="1B2A44"/>
          </a:solidFill>
          <a:ln w="2540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8A84B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069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400"/>
              </a:spcAft>
              <a:defRPr sz="2200" b="1">
                <a:solidFill>
                  <a:srgbClr val="1B2A44"/>
                </a:solidFill>
                <a:latin typeface="Calibri"/>
              </a:defRPr>
            </a:pPr>
            <a:r>
              <a:t>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02336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0">
                <a:solidFill>
                  <a:srgbClr val="2A2A2A"/>
                </a:solidFill>
                <a:latin typeface="Calibri"/>
              </a:defRPr>
            </a:pPr>
            <a:r>
              <a:t>Target is visible and known to offenders</a:t>
            </a:r>
            <a:br/>
            <a:r>
              <a:t>(items left in plain sight)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212080"/>
            <a:ext cx="822960" cy="822960"/>
          </a:xfrm>
          <a:prstGeom prst="ellipse">
            <a:avLst/>
          </a:prstGeom>
          <a:solidFill>
            <a:srgbClr val="1B2A44"/>
          </a:solidFill>
          <a:ln w="2540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8A84B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257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400"/>
              </a:spcAft>
              <a:defRPr sz="2200" b="1">
                <a:solidFill>
                  <a:srgbClr val="1B2A44"/>
                </a:solidFill>
                <a:latin typeface="Calibri"/>
              </a:defRPr>
            </a:pPr>
            <a:r>
              <a:t>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5212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400"/>
              </a:spcAft>
              <a:defRPr sz="1500" b="0">
                <a:solidFill>
                  <a:srgbClr val="2A2A2A"/>
                </a:solidFill>
                <a:latin typeface="Calibri"/>
              </a:defRPr>
            </a:pPr>
            <a:r>
              <a:t>Target is accessible and unprotected</a:t>
            </a:r>
            <a:br/>
            <a:r>
              <a:t>(unlocked car, open window)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400"/>
              </a:spcAft>
              <a:defRPr sz="1100" b="0">
                <a:solidFill>
                  <a:srgbClr val="888888"/>
                </a:solidFill>
                <a:latin typeface="Calibri"/>
              </a:defRPr>
            </a:pPr>
            <a:r>
              <a:t>Cohen &amp; Felson (1979); also known as CRAVED (Clarke, 1999): Concealable, Removable, Available, Valuable, Enjoyable, Disposable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Social Change &amp; Crime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Felson &amp; Cohen (1980): post-WWII social transformations increased crime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More women entering the workforce → homes left empty during the day → reduced guardianship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Growth of consumer electronics → more lightweight, valuable, portable targets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Suburban sprawl → increased routine travel → more exposure to motivated offenders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Rising affluence → more goods worth stealing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Paradox: Social progress created more criminal opportunities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5029200"/>
            <a:ext cx="8503920" cy="822960"/>
          </a:xfrm>
          <a:prstGeom prst="round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8A84B"/>
                </a:solidFill>
                <a:latin typeface="Calibri"/>
              </a:defRPr>
            </a:pPr>
            <a:r>
              <a:t>Key insight: Crime rose not because people became more criminal, but because opportunities multiplied.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Research: Hot Spots of Crime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Sherman, Gartin &amp; Buerger (1989): Minneapolis hot spots study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3.5% of addresses produced 50% of all calls for police service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Crime is not randomly distributed — it clusters in specific micro-locations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Braga et al. (2014): Meta-analysis of 25 experimental studies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Hot spots policing produces statistically significant reductions in crime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Effect sizes are modest but consistent across diverse settings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Weisburd (2015): The "law of crime concentration" — crime concentrates at places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937760"/>
            <a:ext cx="2286000" cy="91440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C8A84B"/>
                </a:solidFill>
                <a:latin typeface="Calibri"/>
              </a:defRPr>
            </a:pPr>
            <a:r>
              <a:t>3.5%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of addresses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4937760"/>
            <a:ext cx="2286000" cy="91440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C8A84B"/>
                </a:solidFill>
                <a:latin typeface="Calibri"/>
              </a:defRPr>
            </a:pPr>
            <a:r>
              <a:t>50%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of crime calls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937760"/>
            <a:ext cx="2286000" cy="91440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C8A84B"/>
                </a:solidFill>
                <a:latin typeface="Calibri"/>
              </a:defRPr>
            </a:pPr>
            <a:r>
              <a:t>25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t>studies reviewed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Research: Does Crime Just Move?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Displacement: the concern that preventing crime in one area simply moves it elsewhere</a:t>
            </a:r>
          </a:p>
          <a:p>
            <a:pPr algn="l">
              <a:spcAft>
                <a:spcPts val="8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Six types: temporal, spatial, target, tactical, offense, perpetrator</a:t>
            </a:r>
          </a:p>
          <a:p>
            <a:pPr algn="l">
              <a:spcAft>
                <a:spcPts val="8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</a:t>
            </a:r>
          </a:p>
          <a:p>
            <a:pPr algn="l">
              <a:spcAft>
                <a:spcPts val="8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Guerette &amp; Bowers (2009): Systematic review of 102 evaluations: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2743200" cy="1463040"/>
          </a:xfrm>
          <a:prstGeom prst="roundRect">
            <a:avLst/>
          </a:prstGeom>
          <a:solidFill>
            <a:srgbClr val="8B3A3A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C8A84B"/>
                </a:solidFill>
                <a:latin typeface="Calibri"/>
              </a:defRPr>
            </a:pPr>
            <a:r>
              <a:t>26%</a:t>
            </a:r>
          </a:p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showed some</a:t>
            </a:r>
            <a:br/>
            <a:r>
              <a:t>displacement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3474720"/>
            <a:ext cx="2743200" cy="1463040"/>
          </a:xfrm>
          <a:prstGeom prst="roundRect">
            <a:avLst/>
          </a:prstGeom>
          <a:solidFill>
            <a:srgbClr val="3D5A3D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C8A84B"/>
                </a:solidFill>
                <a:latin typeface="Calibri"/>
              </a:defRPr>
            </a:pPr>
            <a:r>
              <a:t>27%</a:t>
            </a:r>
          </a:p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showed diffusion</a:t>
            </a:r>
            <a:br/>
            <a:r>
              <a:t>of benefits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74720"/>
            <a:ext cx="2743200" cy="146304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C8A84B"/>
                </a:solidFill>
                <a:latin typeface="Calibri"/>
              </a:defRPr>
            </a:pPr>
            <a:r>
              <a:t>~50%</a:t>
            </a:r>
          </a:p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showed no</a:t>
            </a:r>
            <a:br/>
            <a:r>
              <a:t>displacement at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400"/>
              </a:spcAft>
              <a:defRPr sz="1500" b="1">
                <a:solidFill>
                  <a:srgbClr val="1B2A44"/>
                </a:solidFill>
                <a:latin typeface="Calibri"/>
              </a:defRPr>
            </a:pPr>
            <a:r>
              <a:t>Weisburd et al. (2006): Crime prevention benefits outweigh any displacement that occurs.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Theory Comparisons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011680" cy="64008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2A44"/>
                </a:solidFill>
                <a:latin typeface="Calibri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2633472" y="1463040"/>
            <a:ext cx="3017520" cy="6400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Rational 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24144" y="1463040"/>
            <a:ext cx="3017520" cy="6400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Social Bond Theory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814816" y="1463040"/>
            <a:ext cx="3017520" cy="6400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General Strain Theory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2011680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2A44"/>
                </a:solidFill>
                <a:latin typeface="Calibri"/>
              </a:defRPr>
            </a:pPr>
            <a:r>
              <a:t>Focus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217627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Opportunity &amp;</a:t>
            </a:r>
            <a:br/>
            <a:r>
              <a:t>Situation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24144" y="217627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Social bonds &amp;</a:t>
            </a:r>
            <a:br/>
            <a:r>
              <a:t>Conformity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14816" y="217627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Strain, stress &amp;</a:t>
            </a:r>
            <a:br/>
            <a:r>
              <a:t>Negative emotions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44952"/>
            <a:ext cx="2011680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2A44"/>
                </a:solidFill>
                <a:latin typeface="Calibri"/>
              </a:defRPr>
            </a:pPr>
            <a:r>
              <a:t>Key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33472" y="3044952"/>
            <a:ext cx="3017520" cy="8229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When and where</a:t>
            </a:r>
            <a:br/>
            <a:r>
              <a:t>does crime occur?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24144" y="3044952"/>
            <a:ext cx="3017520" cy="8229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Why do people</a:t>
            </a:r>
            <a:br/>
            <a:r>
              <a:t>conform?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6" y="3044952"/>
            <a:ext cx="3017520" cy="8229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Why do people</a:t>
            </a:r>
            <a:br/>
            <a:r>
              <a:t>offend?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13632"/>
            <a:ext cx="2011680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2A44"/>
                </a:solidFill>
                <a:latin typeface="Calibri"/>
              </a:defRPr>
            </a:pPr>
            <a:r>
              <a:t>Unit of</a:t>
            </a:r>
            <a:br/>
            <a:r>
              <a:t>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33472" y="391363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Crime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24144" y="391363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Individual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14816" y="391363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Individual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82312"/>
            <a:ext cx="2011680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2A44"/>
                </a:solidFill>
                <a:latin typeface="Calibri"/>
              </a:defRPr>
            </a:pPr>
            <a:r>
              <a:t>Key Scholars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33472" y="4782312"/>
            <a:ext cx="3017520" cy="8229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Cornish &amp; Clarke;</a:t>
            </a:r>
            <a:br/>
            <a:r>
              <a:t>Cohen &amp; Felson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24144" y="4782312"/>
            <a:ext cx="3017520" cy="8229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Hirschi (1969)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14816" y="4782312"/>
            <a:ext cx="3017520" cy="822960"/>
          </a:xfrm>
          <a:prstGeom prst="rect">
            <a:avLst/>
          </a:prstGeom>
          <a:solidFill>
            <a:srgbClr val="E8E5D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Agnew (1992);</a:t>
            </a:r>
            <a:br/>
            <a:r>
              <a:t>Merton (1938)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50992"/>
            <a:ext cx="2011680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2A44"/>
                </a:solidFill>
                <a:latin typeface="Calibri"/>
              </a:defRPr>
            </a:pPr>
            <a:r>
              <a:t>Policy Focus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565099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Situational</a:t>
            </a:r>
            <a:br/>
            <a:r>
              <a:t>prevention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24144" y="565099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Strengthen bonds</a:t>
            </a:r>
            <a:br/>
            <a:r>
              <a:t>(family, school)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14816" y="5650992"/>
            <a:ext cx="3017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A2A2A"/>
                </a:solidFill>
                <a:latin typeface="Calibri"/>
              </a:defRPr>
            </a:pPr>
            <a:r>
              <a:t>Reduce strain;</a:t>
            </a:r>
            <a:br/>
            <a:r>
              <a:t>equal opportunity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Policy Application: The Kirkholt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Forrester, Chatterton &amp; Pease (1988), Kirkholt estate, Rochdale, UK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Problem: Extremely high burglary rates; repeat victimization common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Intervention: Removed pre-payment gas/electricity meters (high-value targets in every home)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Established "cocoon neighbourhood watch" — immediate neighbours of victims alerted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Upgraded security for recently victimized households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Result: 75% reduction in burglary over 3 years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One of the most cited examples of situational crime prevention success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286000"/>
            <a:ext cx="2926080" cy="228600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C8A84B"/>
                </a:solidFill>
                <a:latin typeface="Calibri"/>
              </a:defRPr>
            </a:pPr>
            <a:r>
              <a:t>75%</a:t>
            </a:r>
          </a:p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reduction in</a:t>
            </a:r>
            <a:br/>
            <a:r>
              <a:t>burglary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Policy Application: Operation Ceasefire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Kennedy, Piehl &amp; Braga (1997), Boston, Massachusetts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Problem: Epidemic of youth gun violence; gang-related homicides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"Pulling levers" strategy: directly communicating to gang members that violence would trigger a coordinated law enforcement response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Combined deterrence (rational choice) with social service offers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Interagency cooperation: police, probation, prosecutors, community workers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Result: 63% reduction in youth homicide</a:t>
            </a:r>
          </a:p>
          <a:p>
            <a:pPr algn="l">
              <a:spcAft>
                <a:spcPts val="10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•  Replicated in multiple cities as the "focused deterrence"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286000"/>
            <a:ext cx="2926080" cy="2286000"/>
          </a:xfrm>
          <a:prstGeom prst="roundRect">
            <a:avLst/>
          </a:prstGeom>
          <a:solidFill>
            <a:srgbClr val="1B2A44"/>
          </a:solidFill>
          <a:ln w="19050">
            <a:solidFill>
              <a:srgbClr val="C8A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C8A84B"/>
                </a:solidFill>
                <a:latin typeface="Calibri"/>
              </a:defRPr>
            </a:pPr>
            <a:r>
              <a:t>63%</a:t>
            </a:r>
          </a:p>
          <a:p>
            <a:pPr algn="ctr">
              <a:defRPr sz="1600">
                <a:solidFill>
                  <a:srgbClr val="FFFFFF"/>
                </a:solidFill>
                <a:latin typeface="Calibri"/>
              </a:defRPr>
            </a:pPr>
            <a:r>
              <a:t>reduction in</a:t>
            </a:r>
            <a:br/>
            <a:r>
              <a:t>youth homicide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Criticisms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77724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2A2A2A"/>
                </a:solidFill>
                <a:latin typeface="Calibri"/>
              </a:defRPr>
            </a:pPr>
            <a:r>
              <a:t>Ignores root causes: Focuses on opportunity, not structural factors like poverty, inequality, and social exclusion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109728" cy="777240"/>
          </a:xfrm>
          <a:prstGeom prst="rect">
            <a:avLst/>
          </a:prstGeom>
          <a:solidFill>
            <a:srgbClr val="8B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87752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2A2A2A"/>
                </a:solidFill>
                <a:latin typeface="Calibri"/>
              </a:defRPr>
            </a:pPr>
            <a:r>
              <a:t>Rationality assumption: Many crimes are impulsive, emotional, or committed under the influence of substances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74720"/>
            <a:ext cx="109728" cy="777240"/>
          </a:xfrm>
          <a:prstGeom prst="rect">
            <a:avLst/>
          </a:prstGeom>
          <a:solidFill>
            <a:srgbClr val="6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547872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2A2A2A"/>
                </a:solidFill>
                <a:latin typeface="Calibri"/>
              </a:defRPr>
            </a:pPr>
            <a:r>
              <a:t>Displacement concern: Prevention may simply move crime rather than reduce it (though evidence suggests otherwise)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109728" cy="777240"/>
          </a:xfrm>
          <a:prstGeom prst="rect">
            <a:avLst/>
          </a:prstGeom>
          <a:solidFill>
            <a:srgbClr val="4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507992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2A2A2A"/>
                </a:solidFill>
                <a:latin typeface="Calibri"/>
              </a:defRPr>
            </a:pPr>
            <a:r>
              <a:t>Class and race blind: Target hardening may disproportionately protect affluent areas; surveillance may over-police minority communities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94960"/>
            <a:ext cx="109728" cy="777240"/>
          </a:xfrm>
          <a:prstGeom prst="rect">
            <a:avLst/>
          </a:prstGeom>
          <a:solidFill>
            <a:srgbClr val="3D5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468112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2A2A2A"/>
                </a:solidFill>
                <a:latin typeface="Calibri"/>
              </a:defRPr>
            </a:pPr>
            <a:r>
              <a:t>Theoretical narrowness: Cannot explain why some people are motivated to offend in the first place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Legacy &amp; Significance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309360"/>
            <a:ext cx="11277295" cy="1905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863C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Shifted criminology's central question from "Why are criminals?" to "Why does crime happen here and now?"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Foundation of modern environmental criminology and crime science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Directly shaped evidence-based policing (CompStat, PredPol, hot spots policing)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Influenced urban planning, architecture (CPTED), and public space design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Produced the most actionable, policy-relevant body of criminological research</a:t>
            </a:r>
          </a:p>
          <a:p>
            <a:pPr algn="l"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•  Demonstrated that crime can be reduced without solving "root causes"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Summary &amp;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280160"/>
            <a:ext cx="6675120" cy="25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600"/>
              </a:spcAft>
            </a:pPr>
            <a:r>
              <a:rPr sz="2000" b="1">
                <a:solidFill>
                  <a:srgbClr val="C8A84B"/>
                </a:solidFill>
                <a:latin typeface="Calibri"/>
              </a:rPr>
              <a:t>1.  </a:t>
            </a:r>
            <a:r>
              <a:rPr sz="1800">
                <a:solidFill>
                  <a:srgbClr val="FFFFFF"/>
                </a:solidFill>
                <a:latin typeface="Calibri"/>
              </a:rPr>
              <a:t>Rational Choice Theory: Offenders make bounded-rational decisions by weighing costs and benefits in specific situations.</a:t>
            </a:r>
          </a:p>
          <a:p>
            <a:pPr>
              <a:lnSpc>
                <a:spcPts val="2400"/>
              </a:lnSpc>
              <a:spcAft>
                <a:spcPts val="1600"/>
              </a:spcAft>
            </a:pPr>
            <a:r>
              <a:rPr sz="2000" b="1">
                <a:solidFill>
                  <a:srgbClr val="C8A84B"/>
                </a:solidFill>
                <a:latin typeface="Calibri"/>
              </a:rPr>
              <a:t>2.  </a:t>
            </a:r>
            <a:r>
              <a:rPr sz="1800">
                <a:solidFill>
                  <a:srgbClr val="FFFFFF"/>
                </a:solidFill>
                <a:latin typeface="Calibri"/>
              </a:rPr>
              <a:t>Routine Activity Theory: Crime requires the convergence of a motivated offender, suitable target, and absence of a capable guardian.</a:t>
            </a:r>
          </a:p>
          <a:p>
            <a:pPr>
              <a:lnSpc>
                <a:spcPts val="2400"/>
              </a:lnSpc>
              <a:spcAft>
                <a:spcPts val="1600"/>
              </a:spcAft>
            </a:pPr>
            <a:r>
              <a:rPr sz="2000" b="1">
                <a:solidFill>
                  <a:srgbClr val="C8A84B"/>
                </a:solidFill>
                <a:latin typeface="Calibri"/>
              </a:rPr>
              <a:t>3.  </a:t>
            </a:r>
            <a:r>
              <a:rPr sz="1800">
                <a:solidFill>
                  <a:srgbClr val="FFFFFF"/>
                </a:solidFill>
                <a:latin typeface="Calibri"/>
              </a:rPr>
              <a:t>Both theories are opportunity-focused, shifting attention from offender pathology to the crime event itself.</a:t>
            </a:r>
          </a:p>
          <a:p>
            <a:pPr>
              <a:lnSpc>
                <a:spcPts val="2400"/>
              </a:lnSpc>
              <a:spcAft>
                <a:spcPts val="1600"/>
              </a:spcAft>
            </a:pPr>
            <a:r>
              <a:rPr sz="2000" b="1">
                <a:solidFill>
                  <a:srgbClr val="C8A84B"/>
                </a:solidFill>
                <a:latin typeface="Calibri"/>
              </a:rPr>
              <a:t>4.  </a:t>
            </a:r>
            <a:r>
              <a:rPr sz="1800">
                <a:solidFill>
                  <a:srgbClr val="FFFFFF"/>
                </a:solidFill>
                <a:latin typeface="Calibri"/>
              </a:rPr>
              <a:t>These frameworks have produced highly effective, evidence-based policies: hot spots policing, situational prevention, focused deterrence.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5669280"/>
            <a:ext cx="6675120" cy="25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400"/>
              </a:spcAft>
              <a:defRPr sz="1600" b="0">
                <a:solidFill>
                  <a:srgbClr val="C8A84B"/>
                </a:solidFill>
                <a:latin typeface="Calibri"/>
              </a:defRPr>
            </a:pPr>
            <a:r>
              <a:t>"Opportunity makes the thief."  — Felson &amp; Clarke (1998)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C8A84B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