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A6E"/>
    <a:srgbClr val="FDF3EC"/>
    <a:srgbClr val="2D3E5F"/>
    <a:srgbClr val="8B5E3C"/>
    <a:srgbClr val="E8F5F2"/>
    <a:srgbClr val="C55A11"/>
    <a:srgbClr val="88CC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70211" autoAdjust="0"/>
  </p:normalViewPr>
  <p:slideViewPr>
    <p:cSldViewPr snapToGrid="0" snapToObjects="1">
      <p:cViewPr varScale="1">
        <p:scale>
          <a:sx n="199" d="100"/>
          <a:sy n="199" d="100"/>
        </p:scale>
        <p:origin x="654" y="3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19" d="100"/>
          <a:sy n="119" d="100"/>
        </p:scale>
        <p:origin x="-16056" y="2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457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morning. My name is Kwon Joon-sung. Today, I will focus on the situational approach to crime prevention and its application.</a:t>
            </a:r>
            <a:endParaRPr lang="ko-KR" altLang="ko-KR" sz="9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E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Situational Approach and Its Application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2286000" cy="0"/>
          </a:xfrm>
          <a:prstGeom prst="line">
            <a:avLst/>
          </a:prstGeom>
          <a:noFill/>
          <a:ln w="25400">
            <a:solidFill>
              <a:srgbClr val="1B7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60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Joon-sung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b="1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Situational Approach and Its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199" y="1188720"/>
            <a:ext cx="818890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environment, and you reduce the opportunity for crime.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756603"/>
            <a:ext cx="1554480" cy="91440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756603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Theory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2756603"/>
            <a:ext cx="1554480" cy="91440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101850" y="2756603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2756603"/>
            <a:ext cx="1554480" cy="91440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746500" y="2756603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756603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b="1" dirty="0"/>
          </a:p>
        </p:txBody>
      </p:sp>
      <p:sp>
        <p:nvSpPr>
          <p:cNvPr id="17" name="Shape 15"/>
          <p:cNvSpPr/>
          <p:nvPr/>
        </p:nvSpPr>
        <p:spPr>
          <a:xfrm>
            <a:off x="5852160" y="2756603"/>
            <a:ext cx="1280160" cy="914400"/>
          </a:xfrm>
          <a:prstGeom prst="rect">
            <a:avLst/>
          </a:prstGeom>
          <a:solidFill>
            <a:srgbClr val="2D3E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52160" y="2756603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2756603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600" b="1" dirty="0"/>
          </a:p>
        </p:txBody>
      </p:sp>
      <p:sp>
        <p:nvSpPr>
          <p:cNvPr id="20" name="Shape 18"/>
          <p:cNvSpPr/>
          <p:nvPr/>
        </p:nvSpPr>
        <p:spPr>
          <a:xfrm>
            <a:off x="7406640" y="2756603"/>
            <a:ext cx="1280160" cy="914400"/>
          </a:xfrm>
          <a:prstGeom prst="rect">
            <a:avLst/>
          </a:prstGeom>
          <a:solidFill>
            <a:srgbClr val="2D3E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06640" y="2756603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1039" y="4224788"/>
            <a:ext cx="674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IPV — Strengths &amp; Limitations of the Situational Approach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F2597F-704C-7C37-9B79-0046DF8BA922}"/>
              </a:ext>
            </a:extLst>
          </p:cNvPr>
          <p:cNvSpPr/>
          <p:nvPr/>
        </p:nvSpPr>
        <p:spPr>
          <a:xfrm>
            <a:off x="330333" y="2450088"/>
            <a:ext cx="5110347" cy="1427732"/>
          </a:xfrm>
          <a:prstGeom prst="rect">
            <a:avLst/>
          </a:prstGeom>
          <a:noFill/>
          <a:ln>
            <a:solidFill>
              <a:srgbClr val="1B7A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410193" y="2312928"/>
            <a:ext cx="790207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67D295-2C3D-506B-06FF-1E2A6E5C7E44}"/>
              </a:ext>
            </a:extLst>
          </p:cNvPr>
          <p:cNvSpPr/>
          <p:nvPr/>
        </p:nvSpPr>
        <p:spPr>
          <a:xfrm>
            <a:off x="5731404" y="2450088"/>
            <a:ext cx="3082264" cy="1427732"/>
          </a:xfrm>
          <a:prstGeom prst="rect">
            <a:avLst/>
          </a:prstGeom>
          <a:noFill/>
          <a:ln>
            <a:solidFill>
              <a:srgbClr val="2D3E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64242" y="2312928"/>
            <a:ext cx="886613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D3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SITUATIONAL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 Activity Theory(RAT)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&amp; Felson, 1979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199" y="1463040"/>
            <a:ext cx="6537367" cy="1920240"/>
          </a:xfrm>
          <a:prstGeom prst="rect">
            <a:avLst/>
          </a:prstGeom>
          <a:solidFill>
            <a:srgbClr val="F5F6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569299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Phenomenon: Post-WWII Paradox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2151" y="1866479"/>
            <a:ext cx="638835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grew, employment rates rose, welfare expanded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crime increased</a:t>
            </a:r>
            <a:endParaRPr lang="en-US" sz="16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→Traditional theories(poverty &amp; social disadvantage) could not explain this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348111" y="3070018"/>
            <a:ext cx="6537367" cy="1920240"/>
          </a:xfrm>
          <a:prstGeom prst="rect">
            <a:avLst/>
          </a:prstGeom>
          <a:solidFill>
            <a:srgbClr val="E3F0FC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2528784" y="3223260"/>
            <a:ext cx="56165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Changes in Routine Activities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83335" y="3566160"/>
            <a:ext cx="643670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women entered workforce → homes left empty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high-value goods became widespread -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e.g. TV, portable radios</a:t>
            </a:r>
            <a:endParaRPr lang="en-US" sz="16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There were more things worth stealing, fewer people guarding them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860298" y="1512524"/>
            <a:ext cx="7184643" cy="1368767"/>
          </a:xfrm>
          <a:prstGeom prst="rect">
            <a:avLst/>
          </a:prstGeom>
          <a:noFill/>
          <a:ln>
            <a:solidFill>
              <a:srgbClr val="1B7A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SITUATIONAL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Minimal Elements for Crime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05228" y="2709080"/>
            <a:ext cx="4572000" cy="347980"/>
          </a:xfrm>
          <a:prstGeom prst="rect">
            <a:avLst/>
          </a:prstGeom>
          <a:solidFill>
            <a:schemeClr val="bg1"/>
          </a:solidFill>
          <a:ln>
            <a:solidFill>
              <a:srgbClr val="1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in space and time</a:t>
            </a:r>
            <a:endParaRPr lang="en-US" sz="1600" dirty="0">
              <a:solidFill>
                <a:srgbClr val="1B7A6E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678969" y="1290328"/>
            <a:ext cx="411480" cy="41148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678969" y="1290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088" y="1886659"/>
            <a:ext cx="1710000" cy="64008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Text 7"/>
          <p:cNvSpPr/>
          <p:nvPr/>
        </p:nvSpPr>
        <p:spPr>
          <a:xfrm>
            <a:off x="1085088" y="1886659"/>
            <a:ext cx="1703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Offender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548128" y="1886659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53103" y="1290328"/>
            <a:ext cx="411480" cy="41148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253103" y="1290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45408" y="1886659"/>
            <a:ext cx="1710000" cy="64008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Text 12"/>
          <p:cNvSpPr/>
          <p:nvPr/>
        </p:nvSpPr>
        <p:spPr>
          <a:xfrm>
            <a:off x="3645408" y="1886659"/>
            <a:ext cx="171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08448" y="1886659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08648" y="1290328"/>
            <a:ext cx="411480" cy="41148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08648" y="1290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39125" y="1886659"/>
            <a:ext cx="1709113" cy="640080"/>
          </a:xfrm>
          <a:prstGeom prst="rect">
            <a:avLst/>
          </a:prstGeom>
          <a:solidFill>
            <a:srgbClr val="F5F6FA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Text 17"/>
          <p:cNvSpPr/>
          <p:nvPr/>
        </p:nvSpPr>
        <p:spPr>
          <a:xfrm>
            <a:off x="6039125" y="1886659"/>
            <a:ext cx="1709113" cy="640080"/>
          </a:xfrm>
          <a:prstGeom prst="rect">
            <a:avLst/>
          </a:prstGeom>
          <a:solidFill>
            <a:srgbClr val="1B7A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Guardian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37379" y="3338830"/>
            <a:ext cx="2477670" cy="36576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237379" y="3338830"/>
            <a:ext cx="24776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occurs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88315" y="3336290"/>
            <a:ext cx="1701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31709" y="3338830"/>
            <a:ext cx="4014832" cy="368009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any one → sufficient to prevent crime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6900" y="4069286"/>
            <a:ext cx="8096250" cy="61290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96900" y="4069286"/>
            <a:ext cx="53975" cy="61290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66750" y="4069286"/>
            <a:ext cx="8020050" cy="612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explain how offender becomes motivated in the first place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</a:t>
            </a:r>
            <a:r>
              <a:rPr lang="en-US" sz="16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600" b="1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Took criminal inclination as given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0" name="등호 29"/>
          <p:cNvSpPr/>
          <p:nvPr/>
        </p:nvSpPr>
        <p:spPr>
          <a:xfrm>
            <a:off x="806849" y="3359150"/>
            <a:ext cx="381000" cy="320040"/>
          </a:xfrm>
          <a:prstGeom prst="mathEqual">
            <a:avLst/>
          </a:prstGeom>
          <a:solidFill>
            <a:srgbClr val="1B7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7ECB8E0-10FE-E502-BF41-53DCD8479C0B}"/>
              </a:ext>
            </a:extLst>
          </p:cNvPr>
          <p:cNvCxnSpPr>
            <a:endCxn id="5" idx="1"/>
          </p:cNvCxnSpPr>
          <p:nvPr/>
        </p:nvCxnSpPr>
        <p:spPr>
          <a:xfrm>
            <a:off x="1678969" y="2881291"/>
            <a:ext cx="526259" cy="1779"/>
          </a:xfrm>
          <a:prstGeom prst="straightConnector1">
            <a:avLst/>
          </a:prstGeom>
          <a:ln>
            <a:solidFill>
              <a:srgbClr val="1B7A6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4CB93B2-D427-5BB7-9327-312018BA4E4B}"/>
              </a:ext>
            </a:extLst>
          </p:cNvPr>
          <p:cNvCxnSpPr>
            <a:cxnSpLocks/>
          </p:cNvCxnSpPr>
          <p:nvPr/>
        </p:nvCxnSpPr>
        <p:spPr>
          <a:xfrm flipH="1">
            <a:off x="6769628" y="2883539"/>
            <a:ext cx="570722" cy="0"/>
          </a:xfrm>
          <a:prstGeom prst="straightConnector1">
            <a:avLst/>
          </a:prstGeom>
          <a:ln>
            <a:solidFill>
              <a:srgbClr val="1B7A6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SITUATIONAL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VIVA  &amp; Crime Triangle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983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criteria — Cohen &amp; Felson, 1979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83410"/>
            <a:ext cx="292608" cy="329184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88341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79" y="1883410"/>
            <a:ext cx="3703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alue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Material or symbolic desirability of target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40610"/>
            <a:ext cx="292608" cy="329184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34061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340610"/>
            <a:ext cx="352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nertia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Weight, size, and locked features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97810"/>
            <a:ext cx="292608" cy="329184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79781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2797810"/>
            <a:ext cx="352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isibility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Physical visibility to offenders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010"/>
            <a:ext cx="292608" cy="329184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25501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255010"/>
            <a:ext cx="352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ccess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accessible it 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61740"/>
            <a:ext cx="3840480" cy="50292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7617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E.g.) Phone on a café table = near-perfect target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82045" y="1166022"/>
            <a:ext cx="208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Triangle — Eck, 2003</a:t>
            </a:r>
          </a:p>
        </p:txBody>
      </p:sp>
      <p:sp>
        <p:nvSpPr>
          <p:cNvPr id="23" name="Text 3"/>
          <p:cNvSpPr/>
          <p:nvPr/>
        </p:nvSpPr>
        <p:spPr>
          <a:xfrm>
            <a:off x="457199" y="1393698"/>
            <a:ext cx="3703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r>
              <a:rPr lang="ko-KR" alt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r>
              <a:rPr lang="ko-KR" alt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r>
              <a:rPr lang="ko-KR" alt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a target is suitable?</a:t>
            </a:r>
            <a:r>
              <a:rPr lang="ko-KR" alt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699" y="1440180"/>
            <a:ext cx="4629151" cy="3703320"/>
          </a:xfrm>
          <a:prstGeom prst="rect">
            <a:avLst/>
          </a:prstGeom>
        </p:spPr>
      </p:pic>
      <p:cxnSp>
        <p:nvCxnSpPr>
          <p:cNvPr id="25" name="직선 화살표 연결선 24"/>
          <p:cNvCxnSpPr/>
          <p:nvPr/>
        </p:nvCxnSpPr>
        <p:spPr>
          <a:xfrm flipV="1">
            <a:off x="5480050" y="4235450"/>
            <a:ext cx="152400" cy="146050"/>
          </a:xfrm>
          <a:prstGeom prst="straightConnector1">
            <a:avLst/>
          </a:prstGeom>
          <a:ln>
            <a:solidFill>
              <a:srgbClr val="0F6E56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H="1" flipV="1">
            <a:off x="7886699" y="4235450"/>
            <a:ext cx="158751" cy="146050"/>
          </a:xfrm>
          <a:prstGeom prst="straightConnector1">
            <a:avLst/>
          </a:prstGeom>
          <a:ln>
            <a:solidFill>
              <a:srgbClr val="0F6E56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6772274" y="1862455"/>
            <a:ext cx="0" cy="666115"/>
          </a:xfrm>
          <a:prstGeom prst="straightConnector1">
            <a:avLst/>
          </a:prstGeom>
          <a:ln>
            <a:solidFill>
              <a:srgbClr val="0F6E56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Text 16"/>
          <p:cNvSpPr/>
          <p:nvPr/>
        </p:nvSpPr>
        <p:spPr>
          <a:xfrm>
            <a:off x="6328880" y="2069835"/>
            <a:ext cx="8867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1">
                    <a:lumMod val="50000"/>
                  </a:schemeClr>
                </a:solidFill>
              </a:rPr>
              <a:t>Exert control</a:t>
            </a:r>
            <a:endParaRPr lang="en-US" sz="10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Text 16"/>
          <p:cNvSpPr/>
          <p:nvPr/>
        </p:nvSpPr>
        <p:spPr>
          <a:xfrm>
            <a:off x="5600254" y="4254500"/>
            <a:ext cx="78321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1">
                    <a:lumMod val="50000"/>
                  </a:schemeClr>
                </a:solidFill>
              </a:rPr>
              <a:t>Protect</a:t>
            </a:r>
            <a:endParaRPr lang="en-US" sz="10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Text 16"/>
          <p:cNvSpPr/>
          <p:nvPr/>
        </p:nvSpPr>
        <p:spPr>
          <a:xfrm>
            <a:off x="7959358" y="4105581"/>
            <a:ext cx="1089124" cy="312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1">
                    <a:lumMod val="50000"/>
                  </a:schemeClr>
                </a:solidFill>
              </a:rPr>
              <a:t>Control behavior</a:t>
            </a:r>
            <a:endParaRPr lang="en-US" sz="10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Text 16"/>
          <p:cNvSpPr/>
          <p:nvPr/>
        </p:nvSpPr>
        <p:spPr>
          <a:xfrm>
            <a:off x="6148940" y="1850876"/>
            <a:ext cx="1254140" cy="197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E.g.) parent, friend</a:t>
            </a:r>
          </a:p>
        </p:txBody>
      </p:sp>
      <p:sp>
        <p:nvSpPr>
          <p:cNvPr id="32" name="Text 16"/>
          <p:cNvSpPr/>
          <p:nvPr/>
        </p:nvSpPr>
        <p:spPr>
          <a:xfrm>
            <a:off x="7098410" y="3085639"/>
            <a:ext cx="1735328" cy="323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/>
              <a:t>If any one </a:t>
            </a:r>
            <a:r>
              <a:rPr lang="en-US" sz="1000" b="1" i="1" dirty="0">
                <a:solidFill>
                  <a:srgbClr val="0F6E56"/>
                </a:solidFill>
              </a:rPr>
              <a:t>controller</a:t>
            </a:r>
            <a:r>
              <a:rPr lang="en-US" sz="1000" i="1" dirty="0"/>
              <a:t> functions</a:t>
            </a:r>
          </a:p>
          <a:p>
            <a:pPr marL="0" indent="0" algn="ctr">
              <a:buNone/>
            </a:pPr>
            <a:r>
              <a:rPr lang="en-US" sz="1000" i="1" dirty="0"/>
              <a:t>= crime can be prevented</a:t>
            </a:r>
            <a:endParaRPr lang="en-US" sz="1000" dirty="0"/>
          </a:p>
        </p:txBody>
      </p:sp>
      <p:sp>
        <p:nvSpPr>
          <p:cNvPr id="33" name="굽은 화살표 32"/>
          <p:cNvSpPr/>
          <p:nvPr/>
        </p:nvSpPr>
        <p:spPr>
          <a:xfrm rot="4280247">
            <a:off x="7436932" y="2642735"/>
            <a:ext cx="559701" cy="498974"/>
          </a:xfrm>
          <a:prstGeom prst="bentArrow">
            <a:avLst>
              <a:gd name="adj1" fmla="val 17413"/>
              <a:gd name="adj2" fmla="val 19593"/>
              <a:gd name="adj3" fmla="val 31883"/>
              <a:gd name="adj4" fmla="val 29692"/>
            </a:avLst>
          </a:prstGeom>
          <a:solidFill>
            <a:srgbClr val="6DA6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 16"/>
          <p:cNvSpPr/>
          <p:nvPr/>
        </p:nvSpPr>
        <p:spPr>
          <a:xfrm>
            <a:off x="4393754" y="4566920"/>
            <a:ext cx="14854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E.g.) Ordinary citizens</a:t>
            </a:r>
            <a:endParaRPr lang="en-US" sz="1100" dirty="0"/>
          </a:p>
        </p:txBody>
      </p:sp>
      <p:sp>
        <p:nvSpPr>
          <p:cNvPr id="35" name="Text 16"/>
          <p:cNvSpPr/>
          <p:nvPr/>
        </p:nvSpPr>
        <p:spPr>
          <a:xfrm>
            <a:off x="7608122" y="4547870"/>
            <a:ext cx="15612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E.g.) Owner or designee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SITUATIONAL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9681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 &amp; Crime Triangle</a:t>
            </a:r>
            <a:endParaRPr lang="en-US" sz="2600" dirty="0"/>
          </a:p>
        </p:txBody>
      </p:sp>
      <p:pic>
        <p:nvPicPr>
          <p:cNvPr id="5" name="Image 0" descr="/home/claude/exam_q18-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097280"/>
            <a:ext cx="4708297" cy="3657600"/>
          </a:xfrm>
          <a:prstGeom prst="rect">
            <a:avLst/>
          </a:prstGeom>
        </p:spPr>
      </p:pic>
      <p:sp>
        <p:nvSpPr>
          <p:cNvPr id="10" name="ConfusionBox"/>
          <p:cNvSpPr/>
          <p:nvPr/>
        </p:nvSpPr>
        <p:spPr>
          <a:xfrm>
            <a:off x="4572000" y="1252556"/>
            <a:ext cx="4251097" cy="365760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lIns="91440" tIns="91440" rIns="91440" bIns="91440" rtlCol="0" anchor="t"/>
          <a:lstStyle/>
          <a:p>
            <a:endParaRPr lang="en-US" sz="1100" i="1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DD353-27CE-FE56-B1FE-E2E578070EAA}"/>
              </a:ext>
            </a:extLst>
          </p:cNvPr>
          <p:cNvSpPr txBox="1"/>
          <p:nvPr/>
        </p:nvSpPr>
        <p:spPr>
          <a:xfrm>
            <a:off x="4682372" y="1689660"/>
            <a:ext cx="4251096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accent2">
                    <a:lumMod val="75000"/>
                  </a:schemeClr>
                </a:solidFill>
              </a:rPr>
              <a:t>Left: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RAT framework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— Cohen &amp; Felson, 1979 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1B7A6E"/>
                </a:solidFill>
              </a:rPr>
              <a:t>Right:</a:t>
            </a:r>
            <a:r>
              <a:rPr lang="en-US" altLang="ko-KR" sz="1600" dirty="0">
                <a:solidFill>
                  <a:srgbClr val="1B7A6E"/>
                </a:solidFill>
              </a:rPr>
              <a:t> </a:t>
            </a:r>
            <a:r>
              <a:rPr lang="en-US" altLang="ko-KR" sz="1400" dirty="0">
                <a:solidFill>
                  <a:srgbClr val="1B7A6E"/>
                </a:solidFill>
              </a:rPr>
              <a:t>Crime Triangle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— Eck, 2003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FDDB1-6215-F4C2-905E-CD142F9CF5C3}"/>
              </a:ext>
            </a:extLst>
          </p:cNvPr>
          <p:cNvSpPr txBox="1"/>
          <p:nvPr/>
        </p:nvSpPr>
        <p:spPr>
          <a:xfrm>
            <a:off x="4572000" y="2956469"/>
            <a:ext cx="425109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 </a:t>
            </a:r>
            <a:r>
              <a:rPr lang="ko-KR" altLang="en-US" sz="14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㉠ </a:t>
            </a:r>
            <a:r>
              <a:rPr lang="en-US" altLang="ko-KR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guardian, but option </a:t>
            </a:r>
            <a:r>
              <a:rPr lang="ko-KR" altLang="en-US" sz="14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③</a:t>
            </a:r>
            <a:r>
              <a:rPr lang="en-US" altLang="ko-KR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describes target hardening techniques</a:t>
            </a:r>
          </a:p>
          <a:p>
            <a:endParaRPr lang="en-US" altLang="ko-KR" sz="12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type of confusion that arises when students do not have a clear understanding of each element and how they differ</a:t>
            </a:r>
            <a:endParaRPr lang="ko-KR" altLang="en-US" sz="1400" dirty="0">
              <a:solidFill>
                <a:srgbClr val="222222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SITUATIONAL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 Strategies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1330" y="1596706"/>
            <a:ext cx="8321040" cy="255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457200" y="4277360"/>
            <a:ext cx="2560320" cy="594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7200" y="427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600" b="1" dirty="0"/>
          </a:p>
        </p:txBody>
      </p:sp>
      <p:sp>
        <p:nvSpPr>
          <p:cNvPr id="25" name="Shape 23"/>
          <p:cNvSpPr/>
          <p:nvPr/>
        </p:nvSpPr>
        <p:spPr>
          <a:xfrm>
            <a:off x="3337560" y="4277360"/>
            <a:ext cx="2560320" cy="594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337560" y="427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600" b="1" dirty="0"/>
          </a:p>
        </p:txBody>
      </p:sp>
      <p:sp>
        <p:nvSpPr>
          <p:cNvPr id="27" name="Shape 25"/>
          <p:cNvSpPr/>
          <p:nvPr/>
        </p:nvSpPr>
        <p:spPr>
          <a:xfrm>
            <a:off x="6217920" y="4277360"/>
            <a:ext cx="2560320" cy="594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427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Territorial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600" b="1" dirty="0"/>
          </a:p>
        </p:txBody>
      </p:sp>
      <p:sp>
        <p:nvSpPr>
          <p:cNvPr id="35" name="Shape 4"/>
          <p:cNvSpPr/>
          <p:nvPr/>
        </p:nvSpPr>
        <p:spPr>
          <a:xfrm>
            <a:off x="883920" y="2006092"/>
            <a:ext cx="411480" cy="41148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5"/>
          <p:cNvSpPr/>
          <p:nvPr/>
        </p:nvSpPr>
        <p:spPr>
          <a:xfrm>
            <a:off x="883920" y="20060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7" name="Shape 6"/>
          <p:cNvSpPr/>
          <p:nvPr/>
        </p:nvSpPr>
        <p:spPr>
          <a:xfrm>
            <a:off x="457200" y="2509012"/>
            <a:ext cx="1386840" cy="64008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7"/>
          <p:cNvSpPr/>
          <p:nvPr/>
        </p:nvSpPr>
        <p:spPr>
          <a:xfrm>
            <a:off x="381000" y="25090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600" dirty="0"/>
          </a:p>
        </p:txBody>
      </p:sp>
      <p:sp>
        <p:nvSpPr>
          <p:cNvPr id="39" name="Shape 4"/>
          <p:cNvSpPr/>
          <p:nvPr/>
        </p:nvSpPr>
        <p:spPr>
          <a:xfrm>
            <a:off x="2621280" y="2006092"/>
            <a:ext cx="411480" cy="41148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5"/>
          <p:cNvSpPr/>
          <p:nvPr/>
        </p:nvSpPr>
        <p:spPr>
          <a:xfrm>
            <a:off x="2621280" y="20060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1" name="Shape 6"/>
          <p:cNvSpPr/>
          <p:nvPr/>
        </p:nvSpPr>
        <p:spPr>
          <a:xfrm>
            <a:off x="2118360" y="2509012"/>
            <a:ext cx="1463040" cy="64008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7"/>
          <p:cNvSpPr/>
          <p:nvPr/>
        </p:nvSpPr>
        <p:spPr>
          <a:xfrm>
            <a:off x="2118360" y="25090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600" dirty="0"/>
          </a:p>
        </p:txBody>
      </p:sp>
      <p:sp>
        <p:nvSpPr>
          <p:cNvPr id="45" name="Shape 4"/>
          <p:cNvSpPr/>
          <p:nvPr/>
        </p:nvSpPr>
        <p:spPr>
          <a:xfrm>
            <a:off x="4358640" y="2006092"/>
            <a:ext cx="411480" cy="41148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5"/>
          <p:cNvSpPr/>
          <p:nvPr/>
        </p:nvSpPr>
        <p:spPr>
          <a:xfrm>
            <a:off x="4358640" y="20060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7" name="Shape 6"/>
          <p:cNvSpPr/>
          <p:nvPr/>
        </p:nvSpPr>
        <p:spPr>
          <a:xfrm>
            <a:off x="3855720" y="2509012"/>
            <a:ext cx="1463040" cy="64008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7"/>
          <p:cNvSpPr/>
          <p:nvPr/>
        </p:nvSpPr>
        <p:spPr>
          <a:xfrm>
            <a:off x="3855720" y="25090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600" dirty="0"/>
          </a:p>
        </p:txBody>
      </p:sp>
      <p:sp>
        <p:nvSpPr>
          <p:cNvPr id="49" name="Shape 4"/>
          <p:cNvSpPr/>
          <p:nvPr/>
        </p:nvSpPr>
        <p:spPr>
          <a:xfrm>
            <a:off x="6096000" y="2006092"/>
            <a:ext cx="411480" cy="41148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5"/>
          <p:cNvSpPr/>
          <p:nvPr/>
        </p:nvSpPr>
        <p:spPr>
          <a:xfrm>
            <a:off x="6096000" y="20060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1" name="Shape 6"/>
          <p:cNvSpPr/>
          <p:nvPr/>
        </p:nvSpPr>
        <p:spPr>
          <a:xfrm>
            <a:off x="5593080" y="2509012"/>
            <a:ext cx="1463040" cy="64008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7"/>
          <p:cNvSpPr/>
          <p:nvPr/>
        </p:nvSpPr>
        <p:spPr>
          <a:xfrm>
            <a:off x="5593080" y="25090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</a:t>
            </a:r>
            <a:endParaRPr lang="en-US" sz="1600" dirty="0"/>
          </a:p>
        </p:txBody>
      </p:sp>
      <p:sp>
        <p:nvSpPr>
          <p:cNvPr id="53" name="Shape 4"/>
          <p:cNvSpPr/>
          <p:nvPr/>
        </p:nvSpPr>
        <p:spPr>
          <a:xfrm>
            <a:off x="7833360" y="2001521"/>
            <a:ext cx="411480" cy="41148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"/>
          <p:cNvSpPr/>
          <p:nvPr/>
        </p:nvSpPr>
        <p:spPr>
          <a:xfrm>
            <a:off x="7833360" y="2001521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5" name="Shape 6"/>
          <p:cNvSpPr/>
          <p:nvPr/>
        </p:nvSpPr>
        <p:spPr>
          <a:xfrm>
            <a:off x="7330440" y="2504441"/>
            <a:ext cx="1447800" cy="64008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7"/>
          <p:cNvSpPr/>
          <p:nvPr/>
        </p:nvSpPr>
        <p:spPr>
          <a:xfrm>
            <a:off x="7330440" y="2504441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Excuse</a:t>
            </a:r>
            <a:endParaRPr lang="en-US" sz="1600" dirty="0"/>
          </a:p>
        </p:txBody>
      </p:sp>
      <p:sp>
        <p:nvSpPr>
          <p:cNvPr id="58" name="Text 3"/>
          <p:cNvSpPr/>
          <p:nvPr/>
        </p:nvSpPr>
        <p:spPr>
          <a:xfrm>
            <a:off x="457200" y="1171202"/>
            <a:ext cx="8296910" cy="681412"/>
          </a:xfrm>
          <a:prstGeom prst="rect">
            <a:avLst/>
          </a:prstGeom>
          <a:solidFill>
            <a:srgbClr val="1B7A6E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Crime Prevention(SCP)</a:t>
            </a:r>
          </a:p>
          <a:p>
            <a:pPr algn="ctr"/>
            <a:endParaRPr lang="en-US" altLang="ko-KR" sz="7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altLang="ko-KR" sz="1600" b="1" dirty="0">
                <a:solidFill>
                  <a:schemeClr val="bg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•  </a:t>
            </a:r>
            <a:r>
              <a:rPr lang="en-US" altLang="ko-KR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Clarke(1992) → </a:t>
            </a:r>
            <a:r>
              <a:rPr lang="en-US" altLang="ko-KR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Clarke &amp; Homel (1997)</a:t>
            </a: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altLang="ko-KR" sz="1400" b="1" dirty="0">
                <a:solidFill>
                  <a:srgbClr val="FFFF00"/>
                </a:solidFill>
              </a:rPr>
              <a:t>Cornish &amp; Clarke (2003)</a:t>
            </a:r>
            <a:r>
              <a:rPr lang="en-US" altLang="ko-KR" sz="14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6B47334-D4B1-659B-84FA-7B1C3E579563}"/>
              </a:ext>
            </a:extLst>
          </p:cNvPr>
          <p:cNvSpPr/>
          <p:nvPr/>
        </p:nvSpPr>
        <p:spPr>
          <a:xfrm>
            <a:off x="457200" y="3377949"/>
            <a:ext cx="8296910" cy="68040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Through Environmental Design (CPTED) </a:t>
            </a:r>
          </a:p>
          <a:p>
            <a:pPr algn="ctr"/>
            <a:endParaRPr lang="en-US" altLang="ko-KR" sz="7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altLang="ko-KR" sz="1600" b="1" dirty="0">
                <a:solidFill>
                  <a:schemeClr val="bg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•  </a:t>
            </a:r>
            <a:r>
              <a:rPr lang="en-US" altLang="ko-KR" sz="14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Jeffery(1971) &amp; Newman(1972) </a:t>
            </a:r>
            <a:r>
              <a: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→ Saville &amp; Cleveland (1997)/2G  → </a:t>
            </a:r>
            <a:r>
              <a:rPr lang="en-US" altLang="ko-KR" sz="1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Mihinjac</a:t>
            </a:r>
            <a:r>
              <a: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&amp; Saville(2019)/3G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solidFill>
            <a:srgbClr val="8B5E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IPV APPLICATION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: IPV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60220"/>
            <a:ext cx="8229600" cy="1471298"/>
          </a:xfrm>
          <a:prstGeom prst="rect">
            <a:avLst/>
          </a:prstGeom>
          <a:solidFill>
            <a:srgbClr val="FDF3EC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457201" y="110249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: </a:t>
            </a:r>
            <a:r>
              <a:rPr lang="en-US" altLang="ko-KR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or aggression by a current or former partner </a:t>
            </a:r>
            <a:r>
              <a:rPr lang="en-US" altLang="ko-KR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(CDC,2026)</a:t>
            </a:r>
            <a:r>
              <a:rPr lang="en-US" altLang="ko-KR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Illustrates both strengths &amp; limitations of the situational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4177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Mannon (1997) — RAT applied to IPV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0291" y="2115081"/>
            <a:ext cx="8106509" cy="1081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offender : by power, control, jealousy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Victim(Target) : repeatedly exposed in shared living space</a:t>
            </a:r>
            <a:endParaRPr lang="en-US" sz="14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: structurally difficult (private nature of intimate relationship)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37139"/>
            <a:ext cx="8229600" cy="137160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3551450"/>
            <a:ext cx="481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Hayes (2018) — Strength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0291" y="3962792"/>
            <a:ext cx="794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/ family were present during initial an assault</a:t>
            </a:r>
          </a:p>
          <a:p>
            <a:endParaRPr lang="en-US" sz="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Re-victimization rate ↓ 60%</a:t>
            </a:r>
            <a:r>
              <a:rPr lang="en-US" sz="1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year</a:t>
            </a:r>
            <a:endParaRPr lang="en-US" altLang="ko-KR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solidFill>
            <a:srgbClr val="8B5E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IPV APPLICATION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the Situational Approach to IPV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22099"/>
            <a:ext cx="8229600" cy="17100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56546"/>
            <a:ext cx="64770" cy="167555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15620" y="1156546"/>
            <a:ext cx="8135274" cy="1675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long as the relationship continues, the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structure</a:t>
            </a:r>
            <a:r>
              <a:rPr lang="en-US" sz="1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continuously recreated</a:t>
            </a:r>
            <a:endParaRPr lang="en-US" sz="1400" b="1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Situational approach alone cannot fully address violence in this context.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82804"/>
            <a:ext cx="8229600" cy="1709845"/>
          </a:xfrm>
          <a:prstGeom prst="rect">
            <a:avLst/>
          </a:prstGeom>
          <a:solidFill>
            <a:srgbClr val="FDF3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2982804"/>
            <a:ext cx="54864" cy="17098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21969" y="2982804"/>
            <a:ext cx="8291697" cy="1709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challenge </a:t>
            </a:r>
            <a:r>
              <a:rPr lang="en-US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6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Woodlock(2017)</a:t>
            </a:r>
            <a:endParaRPr lang="en-US" b="1" dirty="0">
              <a:solidFill>
                <a:srgbClr val="8B5E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800" b="1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3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creates </a:t>
            </a:r>
            <a:r>
              <a:rPr lang="en-US" altLang="ko-KR" sz="138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perpetrator omnipresence</a:t>
            </a:r>
            <a:r>
              <a:rPr lang="en-US" altLang="ko-KR" sz="13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(ability to monitor and control without being physically present)</a:t>
            </a:r>
          </a:p>
          <a:p>
            <a:endParaRPr lang="en-US" sz="7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situational approach was designed for physical environments</a:t>
            </a:r>
            <a:endParaRPr lang="en-US" sz="1400" dirty="0"/>
          </a:p>
          <a:p>
            <a:r>
              <a:rPr lang="en-US" altLang="ko-KR" sz="14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Application</a:t>
            </a:r>
            <a:r>
              <a:rPr lang="en-US" sz="14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abuse in digital spaces remains limited.</a:t>
            </a:r>
            <a:endParaRPr lang="en-US" sz="1400" b="1" dirty="0">
              <a:solidFill>
                <a:srgbClr val="8B5E3C"/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C5101B9-9D7C-6BE0-3EAD-D625B74526B1}"/>
              </a:ext>
            </a:extLst>
          </p:cNvPr>
          <p:cNvSpPr/>
          <p:nvPr/>
        </p:nvSpPr>
        <p:spPr>
          <a:xfrm>
            <a:off x="778916" y="26331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E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9330" y="937260"/>
            <a:ext cx="8229600" cy="1371600"/>
          </a:xfrm>
          <a:prstGeom prst="rect">
            <a:avLst/>
          </a:prstGeom>
          <a:solidFill>
            <a:srgbClr val="1E2D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37930" y="1005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:</a:t>
            </a:r>
            <a:r>
              <a:rPr lang="en-US" sz="1600" b="1" dirty="0">
                <a:solidFill>
                  <a:srgbClr val="88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88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 : </a:t>
            </a:r>
            <a:r>
              <a:rPr lang="en-US" sz="1600" dirty="0">
                <a:solidFill>
                  <a:srgbClr val="88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 &amp; VIVA &amp; Crime Triangle</a:t>
            </a:r>
            <a:endParaRPr lang="en-US" sz="1600" dirty="0">
              <a:solidFill>
                <a:srgbClr val="88CCB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strategies  : </a:t>
            </a:r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&amp; CPTED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D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: IPV</a:t>
            </a:r>
            <a:endParaRPr lang="en-US" sz="1600" b="1" dirty="0">
              <a:solidFill>
                <a:srgbClr val="FDF3EC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95509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Crime displacement —Relocate crime, rather than eliminate it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Takes offender motivation as given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Application to private / digital spaces remains limited(e.g. IPV)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51876" y="4093257"/>
            <a:ext cx="8229600" cy="0"/>
          </a:xfrm>
          <a:prstGeom prst="line">
            <a:avLst/>
          </a:prstGeom>
          <a:noFill/>
          <a:ln w="12700">
            <a:solidFill>
              <a:srgbClr val="4455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732" y="4183381"/>
            <a:ext cx="5899315" cy="731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approach is sufficient </a:t>
            </a:r>
          </a:p>
          <a:p>
            <a:pPr>
              <a:lnSpc>
                <a:spcPct val="150000"/>
              </a:lnSpc>
            </a:pPr>
            <a:r>
              <a:rPr lang="en-US" altLang="ko-KR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      → comprehensive understanding based on diverse frameworks is essential.</a:t>
            </a:r>
            <a:endParaRPr lang="en-US" sz="14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11ECDEE-F15B-EDB7-1929-5F63DA714DFB}"/>
              </a:ext>
            </a:extLst>
          </p:cNvPr>
          <p:cNvSpPr/>
          <p:nvPr/>
        </p:nvSpPr>
        <p:spPr>
          <a:xfrm>
            <a:off x="413316" y="2514999"/>
            <a:ext cx="8229600" cy="0"/>
          </a:xfrm>
          <a:prstGeom prst="line">
            <a:avLst/>
          </a:prstGeom>
          <a:noFill/>
          <a:ln w="12700">
            <a:solidFill>
              <a:srgbClr val="4455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760</Words>
  <Application>Microsoft Office PowerPoint</Application>
  <PresentationFormat>화면 슬라이드 쇼(16:9)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KoPubWorld돋움체_Pro Bold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Prevention - Situational Approach and Its Application (v5)</dc:title>
  <dc:subject>PptxGenJS Presentation</dc:subject>
  <dc:creator>Kwon Joon-sung</dc:creator>
  <cp:lastModifiedBy>준성 권</cp:lastModifiedBy>
  <cp:revision>51</cp:revision>
  <dcterms:created xsi:type="dcterms:W3CDTF">2026-03-30T20:00:56Z</dcterms:created>
  <dcterms:modified xsi:type="dcterms:W3CDTF">2026-04-01T16:07:33Z</dcterms:modified>
</cp:coreProperties>
</file>