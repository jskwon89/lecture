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header — 열 머리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header(s, box, 제목, 보조줄, bar=색)  → 머리 아래 남은 영역</a:t>
            </a:r>
          </a:p>
        </p:txBody>
      </p:sp>
      <p:sp>
        <p:nvSpPr>
          <p:cNvPr id="8" name="HBAR"/>
          <p:cNvSpPr/>
          <p:nvPr/>
        </p:nvSpPr>
        <p:spPr>
          <a:xfrm>
            <a:off x="731520" y="2286000"/>
            <a:ext cx="5175504" cy="45720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04872"/>
            <a:ext cx="5175504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일반 소년법원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3212"/>
            <a:ext cx="5175504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Traditional Juvenile Court, TJC</a:t>
            </a:r>
          </a:p>
        </p:txBody>
      </p:sp>
      <p:sp>
        <p:nvSpPr>
          <p:cNvPr id="11" name="HBAR"/>
          <p:cNvSpPr/>
          <p:nvPr/>
        </p:nvSpPr>
        <p:spPr>
          <a:xfrm>
            <a:off x="6281928" y="2286000"/>
            <a:ext cx="5175504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2404872"/>
            <a:ext cx="5175504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소년약물치료법원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693212"/>
            <a:ext cx="5175504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Juvenile Drug Treatment Court, JDTC</a:t>
            </a:r>
          </a:p>
        </p:txBody>
      </p:sp>
      <p:cxnSp>
        <p:nvCxnSpPr>
          <p:cNvPr id="14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meta · note · def_lines — 안내 줄과 정의 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meta(s, box, 라벨, 글) · note(s, box, 글) · def_lines(s, box, [(용어, 설명)])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31520" y="2286000"/>
            <a:ext cx="10725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연구대상   </a:t>
            </a: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12~17세 · DSM-IV 약물남용 또는 의존 기준 충족 · 161명 · 네 조건에 무작위배정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11526"/>
            <a:ext cx="10725912" cy="24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집계 기준  참여: 해당 요소에 실제 참석 · 분모는 모두 246명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91485"/>
            <a:ext cx="10725912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부정기형   </a:t>
            </a: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장기와 단기를 정하여 선고하는 소년의 자유형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71291"/>
            <a:ext cx="10725912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집행유예   </a:t>
            </a: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선고한 형의 집행을 일정 기간 유예하는 결과</a:t>
            </a:r>
          </a:p>
        </p:txBody>
      </p:sp>
      <p:cxnSp>
        <p:nvCxnSpPr>
          <p:cNvPr id="12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items — 항목 목록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items(s, box, [항목…], tail=금색 끝줄, rules=구분선, spread=고르게)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31520" y="2318003"/>
            <a:ext cx="5175504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일반 소년법원 절차에서 사건을 처리한다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70809"/>
            <a:ext cx="5175504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지역사회에 이미 존재하는 약물치료·상담·서비스를 이용할 수 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23615"/>
            <a:ext cx="5175504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일부 법원은 JDTC와 비슷한 요소도 부분적으로 운영했다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62706"/>
            <a:ext cx="5175504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치료가 없는 경로는 아니다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507361"/>
            <a:ext cx="5175504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생명권도 제한의 대상이 될 수 있다고 보았다</a:t>
            </a:r>
          </a:p>
        </p:txBody>
      </p:sp>
      <p:cxnSp>
        <p:nvCxnSpPr>
          <p:cNvPr id="13" name="HRULE"/>
          <p:cNvCxnSpPr/>
          <p:nvPr/>
        </p:nvCxnSpPr>
        <p:spPr>
          <a:xfrm>
            <a:off x="6281928" y="3017520"/>
            <a:ext cx="5175504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281928" y="3238881"/>
            <a:ext cx="5175504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사형제도의 존재를 간접적으로 전제한다고 보았다</a:t>
            </a:r>
          </a:p>
        </p:txBody>
      </p:sp>
      <p:cxnSp>
        <p:nvCxnSpPr>
          <p:cNvPr id="15" name="HRULE"/>
          <p:cNvCxnSpPr/>
          <p:nvPr/>
        </p:nvCxnSpPr>
        <p:spPr>
          <a:xfrm>
            <a:off x="6281928" y="3749039"/>
            <a:ext cx="5175504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281928" y="3970400"/>
            <a:ext cx="5175504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당시에도 형벌로서 기능을 하고 있다고 판단했다</a:t>
            </a:r>
          </a:p>
        </p:txBody>
      </p:sp>
      <p:cxnSp>
        <p:nvCxnSpPr>
          <p:cNvPr id="17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numbered · grid — 번호 목록과 번호 격자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numbered(s, box, [(제목, 설명)], hot=강조번호) · grid(s, box, [(제목, 설명)], cols=2)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Oval 7"/>
          <p:cNvSpPr/>
          <p:nvPr/>
        </p:nvSpPr>
        <p:spPr>
          <a:xfrm>
            <a:off x="731520" y="241333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1333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385898"/>
            <a:ext cx="4273905" cy="568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약물 확보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반복 사용이 이어지면 약물을 계속 구해야 한다</a:t>
            </a:r>
          </a:p>
        </p:txBody>
      </p:sp>
      <p:cxnSp>
        <p:nvCxnSpPr>
          <p:cNvPr id="11" name="HRULE"/>
          <p:cNvCxnSpPr/>
          <p:nvPr/>
        </p:nvCxnSpPr>
        <p:spPr>
          <a:xfrm>
            <a:off x="731520" y="3017520"/>
            <a:ext cx="4657953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731520" y="314485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4485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117418"/>
            <a:ext cx="4273905" cy="568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돈·접근의 문제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약값을 마련하거나 공급자를 계속 찾아야 한다</a:t>
            </a:r>
          </a:p>
        </p:txBody>
      </p:sp>
      <p:cxnSp>
        <p:nvCxnSpPr>
          <p:cNvPr id="15" name="HRULE"/>
          <p:cNvCxnSpPr/>
          <p:nvPr/>
        </p:nvCxnSpPr>
        <p:spPr>
          <a:xfrm>
            <a:off x="731520" y="3749039"/>
            <a:ext cx="4657953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731520" y="3876370"/>
            <a:ext cx="256032" cy="256032"/>
          </a:xfrm>
          <a:prstGeom prst="ellipse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7637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848938"/>
            <a:ext cx="4273905" cy="568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범죄 역할의 확대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판매·운반에 가담하거나 다른 범죄에 연루될 수 있다</a:t>
            </a:r>
          </a:p>
        </p:txBody>
      </p:sp>
      <p:sp>
        <p:nvSpPr>
          <p:cNvPr id="19" name="Oval 18"/>
          <p:cNvSpPr/>
          <p:nvPr/>
        </p:nvSpPr>
        <p:spPr>
          <a:xfrm>
            <a:off x="5764377" y="228600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4377" y="228600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0137" y="2267712"/>
            <a:ext cx="2343607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맞춤형 치료 연결</a:t>
            </a:r>
          </a:p>
          <a:p>
            <a:pPr algn="l">
              <a:lnSpc>
                <a:spcPct val="125000"/>
              </a:lnSpc>
            </a:pPr>
            <a:r>
              <a:rPr sz="1200" b="0" spc="-3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평가 후 근거기반 치료를 개인별로 연결</a:t>
            </a:r>
          </a:p>
        </p:txBody>
      </p:sp>
      <p:sp>
        <p:nvSpPr>
          <p:cNvPr id="22" name="Oval 21"/>
          <p:cNvSpPr/>
          <p:nvPr/>
        </p:nvSpPr>
        <p:spPr>
          <a:xfrm>
            <a:off x="8748064" y="228600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48064" y="228600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3824" y="2267712"/>
            <a:ext cx="2343607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가족 참여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보호자가 치료과정에 참여</a:t>
            </a:r>
          </a:p>
        </p:txBody>
      </p:sp>
      <p:cxnSp>
        <p:nvCxnSpPr>
          <p:cNvPr id="25" name="HRULE"/>
          <p:cNvCxnSpPr/>
          <p:nvPr/>
        </p:nvCxnSpPr>
        <p:spPr>
          <a:xfrm>
            <a:off x="5764377" y="3310128"/>
            <a:ext cx="2709367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5764377" y="338328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4377" y="33832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0137" y="3364992"/>
            <a:ext cx="2343607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법원 감독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정기 약물검사와 준수사항 확인</a:t>
            </a:r>
          </a:p>
        </p:txBody>
      </p:sp>
      <p:cxnSp>
        <p:nvCxnSpPr>
          <p:cNvPr id="29" name="HRULE"/>
          <p:cNvCxnSpPr/>
          <p:nvPr/>
        </p:nvCxnSpPr>
        <p:spPr>
          <a:xfrm>
            <a:off x="8748064" y="3310128"/>
            <a:ext cx="2709368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0" name="Oval 29"/>
          <p:cNvSpPr/>
          <p:nvPr/>
        </p:nvSpPr>
        <p:spPr>
          <a:xfrm>
            <a:off x="8748064" y="338328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48064" y="33832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3824" y="3364992"/>
            <a:ext cx="2343607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완료까지 추적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보상·제재와 수료 여부 확인</a:t>
            </a:r>
          </a:p>
        </p:txBody>
      </p:sp>
      <p:cxnSp>
        <p:nvCxnSpPr>
          <p:cNvPr id="33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cols3 — 기준 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cols3(s, box, [(라벨, 핵심, [보충])], main_pt=16)</a:t>
            </a:r>
          </a:p>
        </p:txBody>
      </p:sp>
      <p:sp>
        <p:nvSpPr>
          <p:cNvPr id="8" name="HBAR"/>
          <p:cNvSpPr/>
          <p:nvPr/>
        </p:nvSpPr>
        <p:spPr>
          <a:xfrm>
            <a:off x="731520" y="2286000"/>
            <a:ext cx="33070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14016"/>
            <a:ext cx="330708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대상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06624"/>
            <a:ext cx="3307080" cy="6801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형사책임이 가능한 14~18세 범죄소년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소년법상 소년은 19세 미만이다</a:t>
            </a:r>
          </a:p>
        </p:txBody>
      </p:sp>
      <p:sp>
        <p:nvSpPr>
          <p:cNvPr id="11" name="HBAR"/>
          <p:cNvSpPr/>
          <p:nvPr/>
        </p:nvSpPr>
        <p:spPr>
          <a:xfrm>
            <a:off x="4440936" y="2286000"/>
            <a:ext cx="33070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0936" y="2414016"/>
            <a:ext cx="330708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행위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0936" y="2706624"/>
            <a:ext cx="3307080" cy="6801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마약류의 위법한 투약·사용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적법한 의료적 사용은 구분한다</a:t>
            </a:r>
          </a:p>
        </p:txBody>
      </p:sp>
      <p:sp>
        <p:nvSpPr>
          <p:cNvPr id="14" name="HBAR"/>
          <p:cNvSpPr/>
          <p:nvPr/>
        </p:nvSpPr>
        <p:spPr>
          <a:xfrm>
            <a:off x="8150352" y="2286000"/>
            <a:ext cx="33070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0352" y="2414016"/>
            <a:ext cx="330708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0352" y="2706624"/>
            <a:ext cx="3307080" cy="379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무엇을 어느 시점에 우선할 것인가</a:t>
            </a:r>
          </a:p>
        </p:txBody>
      </p:sp>
      <p:cxnSp>
        <p:nvCxnSpPr>
          <p:cNvPr id="17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aligned_lists — 좌우 대조 목록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aligned_lists(s, box, [(제목, 색, 표시개수)], [[항목…], [항목…]])  같은 번째 항목끼리 높이를 맞춘다</a:t>
            </a:r>
          </a:p>
        </p:txBody>
      </p:sp>
      <p:sp>
        <p:nvSpPr>
          <p:cNvPr id="8" name="HBAR"/>
          <p:cNvSpPr/>
          <p:nvPr/>
        </p:nvSpPr>
        <p:spPr>
          <a:xfrm>
            <a:off x="731520" y="2286000"/>
            <a:ext cx="5175504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59736"/>
            <a:ext cx="146304" cy="14630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50976" y="2459736"/>
            <a:ext cx="146304" cy="14630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0432" y="2459736"/>
            <a:ext cx="146304" cy="14630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459736"/>
            <a:ext cx="146304" cy="14630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09344" y="2459736"/>
            <a:ext cx="146304" cy="14630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2459736"/>
            <a:ext cx="146304" cy="14630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48256" y="2459736"/>
            <a:ext cx="146304" cy="14630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9152" y="2404872"/>
            <a:ext cx="3547872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다수의견 (합헌 7인)</a:t>
            </a:r>
          </a:p>
        </p:txBody>
      </p:sp>
      <p:sp>
        <p:nvSpPr>
          <p:cNvPr id="17" name="HBAR"/>
          <p:cNvSpPr/>
          <p:nvPr/>
        </p:nvSpPr>
        <p:spPr>
          <a:xfrm>
            <a:off x="6281928" y="2286000"/>
            <a:ext cx="5175504" cy="45720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2459736"/>
            <a:ext cx="146304" cy="146304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01384" y="2459736"/>
            <a:ext cx="146304" cy="146304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404872"/>
            <a:ext cx="4645152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반대의견 (위헌 2인)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177349"/>
            <a:ext cx="5175504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생명권도 제한의 대상이 될 수 있다고 보았다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3177349"/>
            <a:ext cx="5175504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사형은 인간의 존엄과 가치에 반한다</a:t>
            </a:r>
          </a:p>
        </p:txBody>
      </p:sp>
      <p:cxnSp>
        <p:nvCxnSpPr>
          <p:cNvPr id="23" name="HRULE"/>
          <p:cNvCxnSpPr/>
          <p:nvPr/>
        </p:nvCxnSpPr>
        <p:spPr>
          <a:xfrm>
            <a:off x="731520" y="3895344"/>
            <a:ext cx="5175504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cxnSp>
        <p:nvCxnSpPr>
          <p:cNvPr id="24" name="HRULE"/>
          <p:cNvCxnSpPr/>
          <p:nvPr/>
        </p:nvCxnSpPr>
        <p:spPr>
          <a:xfrm>
            <a:off x="6281928" y="3895344"/>
            <a:ext cx="5175504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731520" y="4311205"/>
            <a:ext cx="5175504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사형제도의 존재를 간접적으로 전제한다고 보았다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4311205"/>
            <a:ext cx="5175504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생명 박탈은 기본권의 본질적 내용을 침해한다</a:t>
            </a:r>
          </a:p>
        </p:txBody>
      </p:sp>
      <p:cxnSp>
        <p:nvCxnSpPr>
          <p:cNvPr id="27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issue_list — 쟁점 목록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issue_list(s, box, [(쟁점명, 질문)])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Oval 7"/>
          <p:cNvSpPr/>
          <p:nvPr/>
        </p:nvSpPr>
        <p:spPr>
          <a:xfrm>
            <a:off x="749808" y="2505456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0545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98369"/>
            <a:ext cx="2743200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책임을 묻는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98369"/>
            <a:ext cx="7022592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치료·재활 참여를 먼저 요구하는 것이 적절한가?</a:t>
            </a:r>
          </a:p>
        </p:txBody>
      </p:sp>
      <p:cxnSp>
        <p:nvCxnSpPr>
          <p:cNvPr id="12" name="HRULE"/>
          <p:cNvCxnSpPr/>
          <p:nvPr/>
        </p:nvCxnSpPr>
        <p:spPr>
          <a:xfrm>
            <a:off x="731520" y="3017520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749808" y="3236975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36975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29889"/>
            <a:ext cx="2743200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특별예방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229889"/>
            <a:ext cx="7022592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재사용·재범을 줄이는 데 치료를 우선할 근거가 있는가?</a:t>
            </a:r>
          </a:p>
        </p:txBody>
      </p:sp>
      <p:cxnSp>
        <p:nvCxnSpPr>
          <p:cNvPr id="17" name="HRULE"/>
          <p:cNvCxnSpPr/>
          <p:nvPr/>
        </p:nvCxnSpPr>
        <p:spPr>
          <a:xfrm>
            <a:off x="731520" y="3749039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8" name="Oval 17"/>
          <p:cNvSpPr/>
          <p:nvPr/>
        </p:nvSpPr>
        <p:spPr>
          <a:xfrm>
            <a:off x="749808" y="3968495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968495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61409"/>
            <a:ext cx="2743200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일반예방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961409"/>
            <a:ext cx="7022592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형사처벌 가능성이 낮아지면 다른 청소년의 사용이 늘어날 것인가?</a:t>
            </a:r>
          </a:p>
        </p:txBody>
      </p:sp>
      <p:cxnSp>
        <p:nvCxnSpPr>
          <p:cNvPr id="22" name="HRULE"/>
          <p:cNvCxnSpPr/>
          <p:nvPr/>
        </p:nvCxnSpPr>
        <p:spPr>
          <a:xfrm>
            <a:off x="731520" y="4480559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49808" y="4700015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700015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692929"/>
            <a:ext cx="2743200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치료 여건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692929"/>
            <a:ext cx="7022592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필요한 치료를 실제로 제공하고 지속할 수 있는가?</a:t>
            </a:r>
          </a:p>
        </p:txBody>
      </p:sp>
      <p:cxnSp>
        <p:nvCxnSpPr>
          <p:cNvPr id="27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toc — 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toc(s, box, [(단원명, 다루는 것)])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31520" y="228600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8600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청소년 마약류 사용과 현행 대응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286000"/>
            <a:ext cx="61996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논제의 범위 · 연령과 처리 경로</a:t>
            </a:r>
          </a:p>
        </p:txBody>
      </p:sp>
      <p:cxnSp>
        <p:nvCxnSpPr>
          <p:cNvPr id="11" name="HRULE"/>
          <p:cNvCxnSpPr/>
          <p:nvPr/>
        </p:nvCxnSpPr>
        <p:spPr>
          <a:xfrm>
            <a:off x="731520" y="3017520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31520" y="301752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1752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실태와 사용 맥락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017520"/>
            <a:ext cx="61996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단속 추이 · 주변 관계 · 도움 요청</a:t>
            </a:r>
          </a:p>
        </p:txBody>
      </p:sp>
      <p:cxnSp>
        <p:nvCxnSpPr>
          <p:cNvPr id="15" name="HRULE"/>
          <p:cNvCxnSpPr/>
          <p:nvPr/>
        </p:nvCxnSpPr>
        <p:spPr>
          <a:xfrm>
            <a:off x="731520" y="3749039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731520" y="3749039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749039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형사처벌과 보호처분의 운영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749039"/>
            <a:ext cx="61996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처리 통계 · 형 선고 특례</a:t>
            </a:r>
          </a:p>
        </p:txBody>
      </p:sp>
      <p:cxnSp>
        <p:nvCxnSpPr>
          <p:cNvPr id="19" name="HRULE"/>
          <p:cNvCxnSpPr/>
          <p:nvPr/>
        </p:nvCxnSpPr>
        <p:spPr>
          <a:xfrm>
            <a:off x="731520" y="4480560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731520" y="448056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48056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주요 논거와 최종 판단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480560"/>
            <a:ext cx="61996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쟁점별 주장과 근거 · 최종 판단</a:t>
            </a:r>
          </a:p>
        </p:txBody>
      </p:sp>
      <p:cxnSp>
        <p:nvCxnSpPr>
          <p:cNvPr id="23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row_table — 행머리글 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row_table(s, box, [(머리글, 결론, [보충], 한정)])  행 높이 고르게 · 본문은 행 가운데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cxnSp>
        <p:nvCxnSpPr>
          <p:cNvPr id="8" name="HRULE"/>
          <p:cNvCxnSpPr/>
          <p:nvPr/>
        </p:nvCxnSpPr>
        <p:spPr>
          <a:xfrm>
            <a:off x="731520" y="22860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868680" y="2263140"/>
            <a:ext cx="1965960" cy="12862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지원이 필요한 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620746"/>
            <a:ext cx="8302752" cy="598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가정의 보호를 받기 어렵다는 사정 자체를 이유로 시설처우를 선택하면 더 큰 자유 제한을 받을 수 있다.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소년이 선택하지 않은 환경을 보호력 부족으로만 평가하지 말아야 한다는 취지다.</a:t>
            </a:r>
          </a:p>
        </p:txBody>
      </p:sp>
      <p:cxnSp>
        <p:nvCxnSpPr>
          <p:cNvPr id="11" name="HRULE"/>
          <p:cNvCxnSpPr/>
          <p:nvPr/>
        </p:nvCxnSpPr>
        <p:spPr>
          <a:xfrm>
            <a:off x="731520" y="3572255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68680" y="3549395"/>
            <a:ext cx="1965960" cy="12862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연구가 제시한 개선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4057497"/>
            <a:ext cx="830275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집행기관 확충, 시설 확충, 보호·위탁기관 발굴을 제시했다.</a:t>
            </a:r>
          </a:p>
        </p:txBody>
      </p:sp>
      <p:cxnSp>
        <p:nvCxnSpPr>
          <p:cNvPr id="14" name="HRULE"/>
          <p:cNvCxnSpPr/>
          <p:nvPr/>
        </p:nvCxnSpPr>
        <p:spPr>
          <a:xfrm>
            <a:off x="731520" y="4858511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68680" y="4835651"/>
            <a:ext cx="1965960" cy="12862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논제와의 연결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5193258"/>
            <a:ext cx="8302752" cy="598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연령 하향과 보호처분 작동은 서로 다른 정책과제다.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이 자료로 효과의 크기는 말할 수 없다</a:t>
            </a:r>
          </a:p>
        </p:txBody>
      </p:sp>
      <p:cxnSp>
        <p:nvCxnSpPr>
          <p:cNvPr id="17" name="HRULE"/>
          <p:cNvCxnSpPr/>
          <p:nvPr/>
        </p:nvCxnSpPr>
        <p:spPr>
          <a:xfrm>
            <a:off x="731520" y="6144767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num_table — 수치 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num_table(s, box, [열 이름], [[값…]], total_col=음영 열)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9905999" y="2286000"/>
            <a:ext cx="1551432" cy="1664207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KEEP"/>
          <p:cNvCxnSpPr/>
          <p:nvPr/>
        </p:nvCxnSpPr>
        <p:spPr>
          <a:xfrm>
            <a:off x="731520" y="2286000"/>
            <a:ext cx="10725912" cy="0"/>
          </a:xfrm>
          <a:prstGeom prst="line">
            <a:avLst/>
          </a:prstGeom>
          <a:ln w="15875">
            <a:solidFill>
              <a:srgbClr val="1E276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228600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286000"/>
            <a:ext cx="1551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부정기형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0272" y="2286000"/>
            <a:ext cx="1551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집행유예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1704" y="2286000"/>
            <a:ext cx="1551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소년부 송치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286000"/>
            <a:ext cx="1551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무죄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4568" y="2286000"/>
            <a:ext cx="1551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기타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5999" y="2286000"/>
            <a:ext cx="1551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합계</a:t>
            </a:r>
          </a:p>
        </p:txBody>
      </p:sp>
      <p:cxnSp>
        <p:nvCxnSpPr>
          <p:cNvPr id="17" name="KEEP"/>
          <p:cNvCxnSpPr/>
          <p:nvPr/>
        </p:nvCxnSpPr>
        <p:spPr>
          <a:xfrm>
            <a:off x="731520" y="2670048"/>
            <a:ext cx="10725912" cy="0"/>
          </a:xfrm>
          <a:prstGeom prst="line">
            <a:avLst/>
          </a:prstGeom>
          <a:ln w="9525">
            <a:solidFill>
              <a:srgbClr val="1E2761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31520" y="2670048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670048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0272" y="2670048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1704" y="2670048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2670048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4568" y="2670048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5999" y="2670048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cxnSp>
        <p:nvCxnSpPr>
          <p:cNvPr id="25" name="HRULE"/>
          <p:cNvCxnSpPr/>
          <p:nvPr/>
        </p:nvCxnSpPr>
        <p:spPr>
          <a:xfrm>
            <a:off x="731520" y="3310128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731520" y="3310128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3310128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0272" y="3310128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1704" y="3310128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3136" y="3310128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4568" y="3310128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5999" y="3310128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cxnSp>
        <p:nvCxnSpPr>
          <p:cNvPr id="33" name="KEEP"/>
          <p:cNvCxnSpPr/>
          <p:nvPr/>
        </p:nvCxnSpPr>
        <p:spPr>
          <a:xfrm>
            <a:off x="731520" y="3950208"/>
            <a:ext cx="10725912" cy="0"/>
          </a:xfrm>
          <a:prstGeom prst="line">
            <a:avLst/>
          </a:prstGeom>
          <a:ln w="15875">
            <a:solidFill>
              <a:srgbClr val="1E2761"/>
            </a:solidFill>
          </a:ln>
        </p:spPr>
      </p:cxnSp>
      <p:cxnSp>
        <p:nvCxnSpPr>
          <p:cNvPr id="34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matrix(style='rules') — 설계 대조표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matrix(s, box, [열 머리], [(행 머리, [칸…])], shade=음영 열)  위·아래 마감선이 있는 표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7031736" y="2286000"/>
            <a:ext cx="4425696" cy="23774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KEEP"/>
          <p:cNvCxnSpPr/>
          <p:nvPr/>
        </p:nvCxnSpPr>
        <p:spPr>
          <a:xfrm>
            <a:off x="731520" y="2286000"/>
            <a:ext cx="10725912" cy="0"/>
          </a:xfrm>
          <a:prstGeom prst="line">
            <a:avLst/>
          </a:prstGeom>
          <a:ln w="15875">
            <a:solidFill>
              <a:srgbClr val="1E276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2606039" y="2286000"/>
            <a:ext cx="44256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집단 A · 함께 비교한 집단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1736" y="2286000"/>
            <a:ext cx="44256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집단 B · 실험 집단</a:t>
            </a:r>
          </a:p>
        </p:txBody>
      </p:sp>
      <p:cxnSp>
        <p:nvCxnSpPr>
          <p:cNvPr id="12" name="KEEP"/>
          <p:cNvCxnSpPr/>
          <p:nvPr/>
        </p:nvCxnSpPr>
        <p:spPr>
          <a:xfrm>
            <a:off x="731520" y="2706624"/>
            <a:ext cx="10725912" cy="0"/>
          </a:xfrm>
          <a:prstGeom prst="line">
            <a:avLst/>
          </a:prstGeom>
          <a:ln w="9525">
            <a:solidFill>
              <a:srgbClr val="1E276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31520" y="2683764"/>
            <a:ext cx="1874519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청소년에게 제공한 보상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2706624"/>
            <a:ext cx="4151376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치료에 출석하면 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8896" y="2706624"/>
            <a:ext cx="4151376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약물을 사용하지 않은 것이 확인되면 보상</a:t>
            </a:r>
          </a:p>
        </p:txBody>
      </p:sp>
      <p:cxnSp>
        <p:nvCxnSpPr>
          <p:cNvPr id="16" name="KEEP"/>
          <p:cNvCxnSpPr/>
          <p:nvPr/>
        </p:nvCxnSpPr>
        <p:spPr>
          <a:xfrm>
            <a:off x="731520" y="3685032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31520" y="3662172"/>
            <a:ext cx="1874519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부모에게 요청한 활동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199" y="3685032"/>
            <a:ext cx="4151376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약물 문제와 대응에 관한 정보 교육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3685032"/>
            <a:ext cx="4151376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약물사용 확인과 보상 적용 방법 훈련</a:t>
            </a:r>
          </a:p>
        </p:txBody>
      </p:sp>
      <p:cxnSp>
        <p:nvCxnSpPr>
          <p:cNvPr id="20" name="KEEP"/>
          <p:cNvCxnSpPr/>
          <p:nvPr/>
        </p:nvCxnSpPr>
        <p:spPr>
          <a:xfrm>
            <a:off x="731520" y="4663440"/>
            <a:ext cx="10725912" cy="0"/>
          </a:xfrm>
          <a:prstGeom prst="line">
            <a:avLst/>
          </a:prstGeom>
          <a:ln w="15875">
            <a:solidFill>
              <a:srgbClr val="1E2761"/>
            </a:solidFill>
          </a:ln>
        </p:spPr>
      </p:cxnSp>
      <p:cxnSp>
        <p:nvCxnSpPr>
          <p:cNvPr id="21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matrix(style='bars') — 두 입장 대조표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matrix(s, box, [입장…], [(행 머리, [칸…], 굵게)], style='bars', align='l')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2286000" y="2304288"/>
            <a:ext cx="4494276" cy="38404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286000"/>
            <a:ext cx="43113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치료·재활을 먼저 적용하는 입장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3156" y="2304288"/>
            <a:ext cx="4494276" cy="38404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4596" y="2286000"/>
            <a:ext cx="43113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형사제재의 필요성을 강조하는 입장</a:t>
            </a:r>
          </a:p>
        </p:txBody>
      </p:sp>
      <p:cxnSp>
        <p:nvCxnSpPr>
          <p:cNvPr id="12" name="HRULE"/>
          <p:cNvCxnSpPr/>
          <p:nvPr/>
        </p:nvCxnSpPr>
        <p:spPr>
          <a:xfrm>
            <a:off x="731520" y="2706624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31520" y="2683764"/>
            <a:ext cx="1417320" cy="13536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주장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706624"/>
            <a:ext cx="4219956" cy="13536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불참 사유를 먼저 확인하고 참여를 이어가야 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0316" y="2706624"/>
            <a:ext cx="4219956" cy="13536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중대한 위반이 반복되면 처분을 바꿀 수 있어야 한다</a:t>
            </a:r>
          </a:p>
        </p:txBody>
      </p:sp>
      <p:cxnSp>
        <p:nvCxnSpPr>
          <p:cNvPr id="16" name="HRULE"/>
          <p:cNvCxnSpPr/>
          <p:nvPr/>
        </p:nvCxnSpPr>
        <p:spPr>
          <a:xfrm>
            <a:off x="731520" y="4060317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31520" y="4037456"/>
            <a:ext cx="1417320" cy="1334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근거·이유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4060317"/>
            <a:ext cx="4219956" cy="1334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치료를 받으라는 요구만으로 참여가 보장되지는 않는다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0316" y="4060317"/>
            <a:ext cx="4219956" cy="1334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보호관찰에는 처분 변경 절차가 있다</a:t>
            </a:r>
          </a:p>
        </p:txBody>
      </p:sp>
      <p:cxnSp>
        <p:nvCxnSpPr>
          <p:cNvPr id="20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grouped_bars — 묶음 세로 막대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grouped_bars(s, box, {묶음: [값…]}, [x라벨…], highlight=강조 번호)  폭에 따라 2018 / ’18 / 처음·끝만 표기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860499" y="4998659"/>
            <a:ext cx="197893" cy="12252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339" y="4788347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347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01832" y="4974153"/>
            <a:ext cx="197893" cy="3675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72" y="4763841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80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43165" y="4986406"/>
            <a:ext cx="197893" cy="24505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6005" y="4776094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0013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84498" y="4949647"/>
            <a:ext cx="197893" cy="6126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338" y="4739335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1346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5831" y="4716840"/>
            <a:ext cx="197893" cy="294071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88671" y="4506528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2679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67164" y="3418027"/>
            <a:ext cx="197893" cy="1592884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30004" y="3207715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4012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’23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08497" y="4765852"/>
            <a:ext cx="197893" cy="245059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71337" y="4555540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5345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49830" y="4778105"/>
            <a:ext cx="197893" cy="232806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12670" y="4567793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76678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57800"/>
            <a:ext cx="214518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14세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05681" y="4974153"/>
            <a:ext cx="197893" cy="3675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68521" y="4763841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2529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7014" y="4974153"/>
            <a:ext cx="197893" cy="3675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9854" y="4763841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73862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88347" y="4925141"/>
            <a:ext cx="197893" cy="8577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51187" y="4714829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15195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29680" y="4961900"/>
            <a:ext cx="197893" cy="49011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92520" y="4751588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6528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1013" y="4692335"/>
            <a:ext cx="197893" cy="318576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33853" y="4482023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97861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2346" y="3356762"/>
            <a:ext cx="197893" cy="1654149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75186" y="3146450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39194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’23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53679" y="4606564"/>
            <a:ext cx="197893" cy="404347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16519" y="4396252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0527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5012" y="4643323"/>
            <a:ext cx="197893" cy="36758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57852" y="4433011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21860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76702" y="5257800"/>
            <a:ext cx="214518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15세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876702" y="5010912"/>
            <a:ext cx="0" cy="219456"/>
          </a:xfrm>
          <a:prstGeom prst="line">
            <a:avLst/>
          </a:prstGeom>
          <a:ln w="9525">
            <a:solidFill>
              <a:srgbClr val="464D5C"/>
            </a:solidFill>
          </a:ln>
        </p:spPr>
      </p:cxnSp>
      <p:sp>
        <p:nvSpPr>
          <p:cNvPr id="59" name="Rectangle 58"/>
          <p:cNvSpPr/>
          <p:nvPr/>
        </p:nvSpPr>
        <p:spPr>
          <a:xfrm>
            <a:off x="5150863" y="4937394"/>
            <a:ext cx="197893" cy="73517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13703" y="4727082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77711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92196" y="4937394"/>
            <a:ext cx="197893" cy="73517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55036" y="4727082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19044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33529" y="4716840"/>
            <a:ext cx="197893" cy="294071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96369" y="4506528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60377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74862" y="4741346"/>
            <a:ext cx="197893" cy="269565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37702" y="4531034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01710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16195" y="4582058"/>
            <a:ext cx="197893" cy="428853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79035" y="4371746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43043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57528" y="2989173"/>
            <a:ext cx="197893" cy="2021738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20368" y="2778861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165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84376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’23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98862" y="4251228"/>
            <a:ext cx="197893" cy="759683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1702" y="4040916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25710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40195" y="4128698"/>
            <a:ext cx="197893" cy="882213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03035" y="3918386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7043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1884" y="5257800"/>
            <a:ext cx="214518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16세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021884" y="5010912"/>
            <a:ext cx="0" cy="219456"/>
          </a:xfrm>
          <a:prstGeom prst="line">
            <a:avLst/>
          </a:prstGeom>
          <a:ln w="9525">
            <a:solidFill>
              <a:srgbClr val="464D5C"/>
            </a:solidFill>
          </a:ln>
        </p:spPr>
      </p:cxnSp>
      <p:sp>
        <p:nvSpPr>
          <p:cNvPr id="85" name="Rectangle 84"/>
          <p:cNvSpPr/>
          <p:nvPr/>
        </p:nvSpPr>
        <p:spPr>
          <a:xfrm>
            <a:off x="7296046" y="4778105"/>
            <a:ext cx="197893" cy="232806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58886" y="4567793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22894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37379" y="4802611"/>
            <a:ext cx="197893" cy="20830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400219" y="4592299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64227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78712" y="4606564"/>
            <a:ext cx="197893" cy="404347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41552" y="4396252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05560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20045" y="4263481"/>
            <a:ext cx="197893" cy="74743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82885" y="4053169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46893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61378" y="4496287"/>
            <a:ext cx="197893" cy="51462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24218" y="4285975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88226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02711" y="3038185"/>
            <a:ext cx="197893" cy="1972726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65551" y="2827873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161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29559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’23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744044" y="4177710"/>
            <a:ext cx="197893" cy="833201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606884" y="3967398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70892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5377" y="3675339"/>
            <a:ext cx="197893" cy="1335572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848217" y="3465027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109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12225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167067" y="5257800"/>
            <a:ext cx="214518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17세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7167067" y="5010912"/>
            <a:ext cx="0" cy="219456"/>
          </a:xfrm>
          <a:prstGeom prst="line">
            <a:avLst/>
          </a:prstGeom>
          <a:ln w="9525">
            <a:solidFill>
              <a:srgbClr val="464D5C"/>
            </a:solidFill>
          </a:ln>
        </p:spPr>
      </p:cxnSp>
      <p:sp>
        <p:nvSpPr>
          <p:cNvPr id="111" name="Rectangle 110"/>
          <p:cNvSpPr/>
          <p:nvPr/>
        </p:nvSpPr>
        <p:spPr>
          <a:xfrm>
            <a:off x="9441228" y="4680082"/>
            <a:ext cx="197893" cy="330829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304068" y="4469770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368076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682561" y="4496287"/>
            <a:ext cx="197893" cy="51462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545401" y="4285975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09409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’19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923894" y="4202216"/>
            <a:ext cx="197893" cy="808695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786734" y="3991904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850742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165227" y="3932651"/>
            <a:ext cx="197893" cy="107826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028067" y="3722339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88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92075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406560" y="4128698"/>
            <a:ext cx="197893" cy="882213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269400" y="3918386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333408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647893" y="2609331"/>
            <a:ext cx="197893" cy="2401580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510733" y="2399019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196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574741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’23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889226" y="4140951"/>
            <a:ext cx="197893" cy="86996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752066" y="3930639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71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816074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1130559" y="3981663"/>
            <a:ext cx="197893" cy="102924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993399" y="3771351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84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057407" y="5056631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312249" y="5257800"/>
            <a:ext cx="214518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18세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9312249" y="5010912"/>
            <a:ext cx="0" cy="219456"/>
          </a:xfrm>
          <a:prstGeom prst="line">
            <a:avLst/>
          </a:prstGeom>
          <a:ln w="9525">
            <a:solidFill>
              <a:srgbClr val="464D5C"/>
            </a:solidFill>
          </a:ln>
        </p:spPr>
      </p:cxnSp>
      <p:cxnSp>
        <p:nvCxnSpPr>
          <p:cNvPr id="137" name="KEEP"/>
          <p:cNvCxnSpPr/>
          <p:nvPr/>
        </p:nvCxnSpPr>
        <p:spPr>
          <a:xfrm>
            <a:off x="731520" y="5010912"/>
            <a:ext cx="10725912" cy="0"/>
          </a:xfrm>
          <a:prstGeom prst="line">
            <a:avLst/>
          </a:prstGeom>
          <a:ln w="12700">
            <a:solidFill>
              <a:srgbClr val="222633"/>
            </a:solidFill>
          </a:ln>
        </p:spPr>
      </p:cxnSp>
      <p:cxnSp>
        <p:nvCxnSpPr>
          <p:cNvPr id="138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bars — 세로 막대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bars(s, box, [(라벨, 값)], colors=[…], unit='%', axis_note=주석)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1249299" y="2809036"/>
            <a:ext cx="1463040" cy="1762963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4978" y="2322576"/>
            <a:ext cx="2011680" cy="44988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45152"/>
            <a:ext cx="24985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일반 소년법원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7897" y="3631752"/>
            <a:ext cx="1463040" cy="940247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3577" y="3145292"/>
            <a:ext cx="2011680" cy="44988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32%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118" y="4645152"/>
            <a:ext cx="24985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소년약물치료법원</a:t>
            </a:r>
          </a:p>
        </p:txBody>
      </p:sp>
      <p:cxnSp>
        <p:nvCxnSpPr>
          <p:cNvPr id="14" name="KEEP"/>
          <p:cNvCxnSpPr/>
          <p:nvPr/>
        </p:nvCxnSpPr>
        <p:spPr>
          <a:xfrm>
            <a:off x="731520" y="4572000"/>
            <a:ext cx="4997196" cy="0"/>
          </a:xfrm>
          <a:prstGeom prst="line">
            <a:avLst/>
          </a:prstGeom>
          <a:ln w="9525">
            <a:solidFill>
              <a:srgbClr val="464D5C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31520" y="4956048"/>
            <a:ext cx="4997196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공식 법원 행정자료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78015" y="4112898"/>
            <a:ext cx="1463040" cy="733421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3695" y="3626437"/>
            <a:ext cx="2011680" cy="44988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0236" y="4919472"/>
            <a:ext cx="24985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출석 보상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76613" y="2809036"/>
            <a:ext cx="1463040" cy="2037283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2292" y="2322576"/>
            <a:ext cx="2011680" cy="44988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8834" y="4919472"/>
            <a:ext cx="24985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단약 보상</a:t>
            </a:r>
          </a:p>
        </p:txBody>
      </p:sp>
      <p:cxnSp>
        <p:nvCxnSpPr>
          <p:cNvPr id="22" name="KEEP"/>
          <p:cNvCxnSpPr/>
          <p:nvPr/>
        </p:nvCxnSpPr>
        <p:spPr>
          <a:xfrm>
            <a:off x="6460236" y="4846320"/>
            <a:ext cx="4997196" cy="0"/>
          </a:xfrm>
          <a:prstGeom prst="line">
            <a:avLst/>
          </a:prstGeom>
          <a:ln w="9525">
            <a:solidFill>
              <a:srgbClr val="464D5C"/>
            </a:solidFill>
          </a:ln>
        </p:spPr>
      </p:cxnSp>
      <p:cxnSp>
        <p:nvCxnSpPr>
          <p:cNvPr id="23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hbars — 가로 막대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hbars(s, box, [(라벨, 값)], color=색, pitch=행 간격)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31520" y="2286000"/>
            <a:ext cx="21987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텔레그램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3438" y="2354579"/>
            <a:ext cx="1993757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03438" y="2354579"/>
            <a:ext cx="996878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0348" y="2286000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50.0%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21987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친구·또래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3438" y="2674620"/>
            <a:ext cx="1993757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03438" y="2674620"/>
            <a:ext cx="663921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0348" y="2606040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33.3%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21987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유튜브·블로그 등 온라인 콘텐츠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3438" y="2994660"/>
            <a:ext cx="1993757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03438" y="2994660"/>
            <a:ext cx="332957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0348" y="2926080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16.7%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286000"/>
            <a:ext cx="21987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약국·병의원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154" y="2354579"/>
            <a:ext cx="1993757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154" y="2354579"/>
            <a:ext cx="1285973" cy="182880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99063" y="2286000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64.5%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06040"/>
            <a:ext cx="21987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친구·선후배·직장동료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154" y="2674620"/>
            <a:ext cx="1993757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32154" y="2674620"/>
            <a:ext cx="582177" cy="182880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99063" y="2606040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29.2%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0236" y="2926080"/>
            <a:ext cx="219876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온라인 플랫폼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154" y="2994660"/>
            <a:ext cx="1993757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32154" y="2994660"/>
            <a:ext cx="211338" cy="182880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99063" y="2926080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10.6%</a:t>
            </a:r>
          </a:p>
        </p:txBody>
      </p:sp>
      <p:cxnSp>
        <p:nvCxnSpPr>
          <p:cNvPr id="32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progress · big_numbers — 진행 막대와 큰 숫자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progress(s, box, [(라벨, 작은 글, %)]) · big_numbers(s, box, [(라벨, 값)])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3152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첫 개별면담 참여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2377440"/>
            <a:ext cx="6035040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4680" y="2377440"/>
            <a:ext cx="5250484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286000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214/246명  </a:t>
            </a:r>
            <a:r>
              <a:rPr sz="16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87.0%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0662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첫 집단훈련 참여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2798064"/>
            <a:ext cx="6035040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2798064"/>
            <a:ext cx="2401945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706624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98/246명  </a:t>
            </a:r>
            <a:r>
              <a:rPr sz="16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39.8%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27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네 요소 전체 완수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3218688"/>
            <a:ext cx="6035040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54680" y="3218688"/>
            <a:ext cx="1152692" cy="182880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3127248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47/246명  </a:t>
            </a:r>
            <a:r>
              <a:rPr sz="160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19.1%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13632"/>
            <a:ext cx="28741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기존 서비스 + 추가개입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0027" y="3913632"/>
            <a:ext cx="23516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85.7%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1636" y="3913632"/>
            <a:ext cx="28741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기존 서비스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5823" y="3913632"/>
            <a:ext cx="23516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83.9%</a:t>
            </a:r>
          </a:p>
        </p:txBody>
      </p:sp>
      <p:cxnSp>
        <p:nvCxnSpPr>
          <p:cNvPr id="24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before_after · change_rows — 전후 수치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before_after(s, box, [(제목, 전, 후, 설명)]) · change_rows(s, box, [(이름, 전, 후, 변화, 강조)])</a:t>
            </a:r>
          </a:p>
        </p:txBody>
      </p:sp>
      <p:sp>
        <p:nvSpPr>
          <p:cNvPr id="8" name="HBAR"/>
          <p:cNvSpPr/>
          <p:nvPr/>
        </p:nvSpPr>
        <p:spPr>
          <a:xfrm>
            <a:off x="731520" y="2286000"/>
            <a:ext cx="3392424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392424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예방지원 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3924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3.7점</a:t>
            </a:r>
            <a:r>
              <a:rPr sz="20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30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4.2점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3392424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처벌보다 예방 지원책이 우선되어야 한다는 인식</a:t>
            </a:r>
          </a:p>
        </p:txBody>
      </p:sp>
      <p:sp>
        <p:nvSpPr>
          <p:cNvPr id="12" name="HBAR"/>
          <p:cNvSpPr/>
          <p:nvPr/>
        </p:nvSpPr>
        <p:spPr>
          <a:xfrm>
            <a:off x="4398264" y="2286000"/>
            <a:ext cx="3392424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2423160"/>
            <a:ext cx="3392424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중대범죄 증가 인식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2743200"/>
            <a:ext cx="33924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4.2점</a:t>
            </a:r>
            <a:r>
              <a:rPr sz="20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30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3.9점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3383280"/>
            <a:ext cx="3392424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촉법소년이 중대한 범죄를 저지른다는 인식</a:t>
            </a:r>
          </a:p>
        </p:txBody>
      </p:sp>
      <p:sp>
        <p:nvSpPr>
          <p:cNvPr id="16" name="HBAR"/>
          <p:cNvSpPr/>
          <p:nvPr/>
        </p:nvSpPr>
        <p:spPr>
          <a:xfrm>
            <a:off x="8065008" y="2286000"/>
            <a:ext cx="3392424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2423160"/>
            <a:ext cx="3392424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제도 지식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743200"/>
            <a:ext cx="33924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5.5점</a:t>
            </a:r>
            <a:r>
              <a:rPr sz="20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30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6.3점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3383280"/>
            <a:ext cx="3392424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관련 지식 7문항 평균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9118"/>
            <a:ext cx="22402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일반 소년법원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919118"/>
            <a:ext cx="2624327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52.0일</a:t>
            </a:r>
            <a:r>
              <a:rPr sz="14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39.9일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3919118"/>
            <a:ext cx="153619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80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−12.1일</a:t>
            </a:r>
          </a:p>
        </p:txBody>
      </p:sp>
      <p:cxnSp>
        <p:nvCxnSpPr>
          <p:cNvPr id="23" name="HRULE"/>
          <p:cNvCxnSpPr/>
          <p:nvPr/>
        </p:nvCxnSpPr>
        <p:spPr>
          <a:xfrm>
            <a:off x="731520" y="4577486"/>
            <a:ext cx="6400800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731520" y="4577486"/>
            <a:ext cx="22402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소년약물치료법원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577486"/>
            <a:ext cx="2624327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63.7일</a:t>
            </a:r>
            <a:r>
              <a:rPr sz="14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2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34.7일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6128" y="4577486"/>
            <a:ext cx="153619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80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−29.0일</a:t>
            </a:r>
          </a:p>
        </p:txBody>
      </p:sp>
      <p:cxnSp>
        <p:nvCxnSpPr>
          <p:cNvPr id="27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timeline — 세로 타임라인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timeline(s, box, [(날짜, 결론, 보충)], hot=강조 번호)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2788920" y="2404872"/>
            <a:ext cx="0" cy="1316736"/>
          </a:xfrm>
          <a:prstGeom prst="line">
            <a:avLst/>
          </a:prstGeom>
          <a:ln w="19050">
            <a:solidFill>
              <a:srgbClr val="5A6699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31520" y="228600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2004년 6월</a:t>
            </a:r>
          </a:p>
        </p:txBody>
      </p:sp>
      <p:sp>
        <p:nvSpPr>
          <p:cNvPr id="10" name="Oval 9"/>
          <p:cNvSpPr/>
          <p:nvPr/>
        </p:nvSpPr>
        <p:spPr>
          <a:xfrm>
            <a:off x="2720339" y="2336292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2253996"/>
            <a:ext cx="83027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소년과 어머니가 약물법원 참여에 동의했다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법원은 치료·검사 의무와 제재를 적은 합의를 승인했다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이후</a:t>
            </a:r>
          </a:p>
        </p:txBody>
      </p:sp>
      <p:sp>
        <p:nvSpPr>
          <p:cNvPr id="13" name="Oval 12"/>
          <p:cNvSpPr/>
          <p:nvPr/>
        </p:nvSpPr>
        <p:spPr>
          <a:xfrm>
            <a:off x="2720339" y="2994660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79" y="2912363"/>
            <a:ext cx="83027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대마검사에서 여러 차례 양성반응이 나왔다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치료프로그램 참여를 중단했다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0273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2004년 12월</a:t>
            </a:r>
          </a:p>
        </p:txBody>
      </p:sp>
      <p:sp>
        <p:nvSpPr>
          <p:cNvPr id="16" name="Oval 15"/>
          <p:cNvSpPr/>
          <p:nvPr/>
        </p:nvSpPr>
        <p:spPr>
          <a:xfrm>
            <a:off x="2720339" y="3653028"/>
            <a:ext cx="137160" cy="1371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79" y="3570732"/>
            <a:ext cx="83027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원심은 간접 형사적 법정모욕을 인정했다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치료 참여 의무를 따르지 않았다는 이유다</a:t>
            </a:r>
          </a:p>
        </p:txBody>
      </p:sp>
      <p:cxnSp>
        <p:nvCxnSpPr>
          <p:cNvPr id="18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steps_h · steps_v — 가로 단계와 세로 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steps_h(s, box, [(단계, 설명)]) · steps_v(s, box, [문장…], hot=강조 번호)</a:t>
            </a:r>
          </a:p>
        </p:txBody>
      </p:sp>
      <p:sp>
        <p:nvSpPr>
          <p:cNvPr id="8" name="HBAR"/>
          <p:cNvSpPr/>
          <p:nvPr/>
        </p:nvSpPr>
        <p:spPr>
          <a:xfrm>
            <a:off x="731520" y="2286000"/>
            <a:ext cx="3209544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95728"/>
            <a:ext cx="3209544" cy="644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소년구금시설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10일 수용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1064" y="23591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HBAR"/>
          <p:cNvSpPr/>
          <p:nvPr/>
        </p:nvSpPr>
        <p:spPr>
          <a:xfrm>
            <a:off x="4489704" y="2286000"/>
            <a:ext cx="3209544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2395728"/>
            <a:ext cx="3209544" cy="644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중독 관련 입소시설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주거형 치료 배치까지 수용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3591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HBAR"/>
          <p:cNvSpPr/>
          <p:nvPr/>
        </p:nvSpPr>
        <p:spPr>
          <a:xfrm>
            <a:off x="8247888" y="2286000"/>
            <a:ext cx="3209544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395728"/>
            <a:ext cx="3209544" cy="644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주거형 치료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배치 명령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" y="3515410"/>
            <a:ext cx="0" cy="1261872"/>
          </a:xfrm>
          <a:prstGeom prst="line">
            <a:avLst/>
          </a:prstGeom>
          <a:ln w="19050">
            <a:solidFill>
              <a:srgbClr val="5A6699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790956" y="3451402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40568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이미 마약을 사용하고 있었다</a:t>
            </a:r>
          </a:p>
        </p:txBody>
      </p:sp>
      <p:sp>
        <p:nvSpPr>
          <p:cNvPr id="19" name="Oval 18"/>
          <p:cNvSpPr/>
          <p:nvPr/>
        </p:nvSpPr>
        <p:spPr>
          <a:xfrm>
            <a:off x="790956" y="3872026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3826306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마약을 계속 구해야 하는 상황</a:t>
            </a:r>
          </a:p>
        </p:txBody>
      </p:sp>
      <p:sp>
        <p:nvSpPr>
          <p:cNvPr id="21" name="Oval 20"/>
          <p:cNvSpPr/>
          <p:nvPr/>
        </p:nvSpPr>
        <p:spPr>
          <a:xfrm>
            <a:off x="790956" y="4292650"/>
            <a:ext cx="137160" cy="1371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424693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판매·유통에도 가담</a:t>
            </a:r>
          </a:p>
        </p:txBody>
      </p:sp>
      <p:sp>
        <p:nvSpPr>
          <p:cNvPr id="23" name="Oval 22"/>
          <p:cNvSpPr/>
          <p:nvPr/>
        </p:nvSpPr>
        <p:spPr>
          <a:xfrm>
            <a:off x="790956" y="4713274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466755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상담기관에서 개입</a:t>
            </a:r>
          </a:p>
        </p:txBody>
      </p:sp>
      <p:cxnSp>
        <p:nvCxnSpPr>
          <p:cNvPr id="25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tree — 분기 흐름도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tree(s, box, [(앞 단계, 설명)…], [(갈래 머리, [항목], 바닥 글)…], hot=강조 갈래)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731520" y="2286000"/>
            <a:ext cx="3291840" cy="603504"/>
          </a:xfrm>
          <a:prstGeom prst="rect">
            <a:avLst/>
          </a:prstGeom>
          <a:noFill/>
          <a:ln w="1270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40864"/>
            <a:ext cx="296265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경찰 송치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14~18세 범죄소년 사건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40487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5A6699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2286000"/>
            <a:ext cx="6748272" cy="603504"/>
          </a:xfrm>
          <a:prstGeom prst="rect">
            <a:avLst/>
          </a:prstGeom>
          <a:noFill/>
          <a:ln w="1270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1" y="2340864"/>
            <a:ext cx="641908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검사 판단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중대성 · 재범위험 · 치료 필요 검토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83296" y="2889504"/>
            <a:ext cx="0" cy="228600"/>
          </a:xfrm>
          <a:prstGeom prst="line">
            <a:avLst/>
          </a:prstGeom>
          <a:ln w="15875">
            <a:solidFill>
              <a:srgbClr val="5A6699"/>
            </a:solidFill>
          </a:ln>
        </p:spPr>
      </p:cxnSp>
      <p:cxnSp>
        <p:nvCxnSpPr>
          <p:cNvPr id="14" name="KEEP"/>
          <p:cNvCxnSpPr/>
          <p:nvPr/>
        </p:nvCxnSpPr>
        <p:spPr>
          <a:xfrm>
            <a:off x="2394204" y="3118104"/>
            <a:ext cx="7400544" cy="0"/>
          </a:xfrm>
          <a:prstGeom prst="line">
            <a:avLst/>
          </a:prstGeom>
          <a:ln w="15875">
            <a:solidFill>
              <a:srgbClr val="5A6699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394204" y="3118104"/>
            <a:ext cx="0" cy="228600"/>
          </a:xfrm>
          <a:prstGeom prst="line">
            <a:avLst/>
          </a:prstGeom>
          <a:ln w="15875">
            <a:solidFill>
              <a:srgbClr val="5A6699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6094476" y="3118104"/>
            <a:ext cx="0" cy="228600"/>
          </a:xfrm>
          <a:prstGeom prst="line">
            <a:avLst/>
          </a:prstGeom>
          <a:ln w="15875">
            <a:solidFill>
              <a:srgbClr val="5A6699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9794748" y="3118104"/>
            <a:ext cx="0" cy="228600"/>
          </a:xfrm>
          <a:prstGeom prst="line">
            <a:avLst/>
          </a:prstGeom>
          <a:ln w="15875">
            <a:solidFill>
              <a:srgbClr val="5A6699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731520" y="3346704"/>
            <a:ext cx="3325368" cy="402336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46704"/>
            <a:ext cx="3325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조건부 기소유예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895344"/>
            <a:ext cx="3105912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 spc="-3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연계모델 참여를 조건으로 공소를 제기하지 않는다</a:t>
            </a:r>
          </a:p>
        </p:txBody>
      </p:sp>
      <p:cxnSp>
        <p:nvCxnSpPr>
          <p:cNvPr id="21" name="KEEP"/>
          <p:cNvCxnSpPr/>
          <p:nvPr/>
        </p:nvCxnSpPr>
        <p:spPr>
          <a:xfrm>
            <a:off x="731520" y="5486400"/>
            <a:ext cx="3325368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31520" y="5577840"/>
            <a:ext cx="3325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검찰 단계에서 끝나는 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1792" y="3346704"/>
            <a:ext cx="3325368" cy="402336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1792" y="3346704"/>
            <a:ext cx="3325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소년부 송치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1520" y="3895344"/>
            <a:ext cx="3105912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판사가 보호처분을 심리한다</a:t>
            </a:r>
          </a:p>
        </p:txBody>
      </p:sp>
      <p:cxnSp>
        <p:nvCxnSpPr>
          <p:cNvPr id="26" name="KEEP"/>
          <p:cNvCxnSpPr/>
          <p:nvPr/>
        </p:nvCxnSpPr>
        <p:spPr>
          <a:xfrm>
            <a:off x="4431792" y="5486400"/>
            <a:ext cx="3325368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4431792" y="5577840"/>
            <a:ext cx="3325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법원이 보호처분을 결정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2064" y="3346704"/>
            <a:ext cx="3325368" cy="402336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2064" y="3346704"/>
            <a:ext cx="3325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형사기소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1792" y="3895344"/>
            <a:ext cx="3105912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형사법원이 판단한다</a:t>
            </a:r>
          </a:p>
        </p:txBody>
      </p:sp>
      <p:cxnSp>
        <p:nvCxnSpPr>
          <p:cNvPr id="31" name="KEEP"/>
          <p:cNvCxnSpPr/>
          <p:nvPr/>
        </p:nvCxnSpPr>
        <p:spPr>
          <a:xfrm>
            <a:off x="8132064" y="5486400"/>
            <a:ext cx="3325368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8132064" y="5577840"/>
            <a:ext cx="3325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정식 재판으로 책임을 묻는 경로</a:t>
            </a:r>
          </a:p>
        </p:txBody>
      </p:sp>
      <p:cxnSp>
        <p:nvCxnSpPr>
          <p:cNvPr id="33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부품 ·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stack_columns — 누적 조합 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stack_columns(s, box, [(제목, 보조줄, [항목], 추가 항목 수)], group_label=묶음 표시)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3483864" y="2286000"/>
            <a:ext cx="7973568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소년약물법원 감독이 포함된 세 조건</a:t>
            </a:r>
          </a:p>
        </p:txBody>
      </p:sp>
      <p:sp>
        <p:nvSpPr>
          <p:cNvPr id="9" name="HBAR"/>
          <p:cNvSpPr/>
          <p:nvPr/>
        </p:nvSpPr>
        <p:spPr>
          <a:xfrm>
            <a:off x="731520" y="2560320"/>
            <a:ext cx="24688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79191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① 통상 가정법원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27832"/>
            <a:ext cx="2468880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Family Court · n=42</a:t>
            </a:r>
          </a:p>
        </p:txBody>
      </p:sp>
      <p:cxnSp>
        <p:nvCxnSpPr>
          <p:cNvPr id="12" name="KEEP"/>
          <p:cNvCxnSpPr/>
          <p:nvPr/>
        </p:nvCxnSpPr>
        <p:spPr>
          <a:xfrm>
            <a:off x="731520" y="3483863"/>
            <a:ext cx="2468880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31520" y="356616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통상 가정법원 절차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22191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지역사회 외래 치료</a:t>
            </a:r>
          </a:p>
        </p:txBody>
      </p:sp>
      <p:sp>
        <p:nvSpPr>
          <p:cNvPr id="15" name="HBAR"/>
          <p:cNvSpPr/>
          <p:nvPr/>
        </p:nvSpPr>
        <p:spPr>
          <a:xfrm>
            <a:off x="3483864" y="2560320"/>
            <a:ext cx="24688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2679191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② 소년약물법원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227832"/>
            <a:ext cx="2468880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Drug Court · n=38</a:t>
            </a:r>
          </a:p>
        </p:txBody>
      </p:sp>
      <p:cxnSp>
        <p:nvCxnSpPr>
          <p:cNvPr id="18" name="KEEP"/>
          <p:cNvCxnSpPr/>
          <p:nvPr/>
        </p:nvCxnSpPr>
        <p:spPr>
          <a:xfrm>
            <a:off x="3483864" y="3483863"/>
            <a:ext cx="2468880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3483864" y="356616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주 1회 법원 출석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4" y="3822191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정기 약물검사</a:t>
            </a:r>
          </a:p>
        </p:txBody>
      </p:sp>
      <p:sp>
        <p:nvSpPr>
          <p:cNvPr id="21" name="HBAR"/>
          <p:cNvSpPr/>
          <p:nvPr/>
        </p:nvSpPr>
        <p:spPr>
          <a:xfrm>
            <a:off x="6236208" y="2560320"/>
            <a:ext cx="24688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679191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③ + MST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227832"/>
            <a:ext cx="2468880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Drug Court + MST · n=38</a:t>
            </a:r>
          </a:p>
        </p:txBody>
      </p:sp>
      <p:cxnSp>
        <p:nvCxnSpPr>
          <p:cNvPr id="24" name="KEEP"/>
          <p:cNvCxnSpPr/>
          <p:nvPr/>
        </p:nvCxnSpPr>
        <p:spPr>
          <a:xfrm>
            <a:off x="6236208" y="3483863"/>
            <a:ext cx="2468880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236208" y="356616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②의 법원감독 유지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3822191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+ 다체계치료 추가</a:t>
            </a:r>
          </a:p>
        </p:txBody>
      </p:sp>
      <p:sp>
        <p:nvSpPr>
          <p:cNvPr id="27" name="HBAR"/>
          <p:cNvSpPr/>
          <p:nvPr/>
        </p:nvSpPr>
        <p:spPr>
          <a:xfrm>
            <a:off x="8988552" y="2560320"/>
            <a:ext cx="246888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88552" y="2679191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④ + MST + 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8552" y="3227832"/>
            <a:ext cx="2468880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n=43</a:t>
            </a:r>
          </a:p>
        </p:txBody>
      </p:sp>
      <p:cxnSp>
        <p:nvCxnSpPr>
          <p:cNvPr id="30" name="KEEP"/>
          <p:cNvCxnSpPr/>
          <p:nvPr/>
        </p:nvCxnSpPr>
        <p:spPr>
          <a:xfrm>
            <a:off x="8988552" y="3483863"/>
            <a:ext cx="2468880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8988552" y="356616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③ 유지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3822191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+ 유관관리 추가</a:t>
            </a:r>
          </a:p>
        </p:txBody>
      </p:sp>
      <p:cxnSp>
        <p:nvCxnSpPr>
          <p:cNvPr id="33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