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26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20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응보 · 예방 · 보호와 현행제도의 한계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0" y="384048"/>
            <a:ext cx="5422392" cy="225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다음 → 공론화의 배경과 목적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7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보호처분 선택과 보호환경·지역 자원</a:t>
            </a:r>
            <a:r>
              <a:rPr sz="2750" b="0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 — 이승현 외(2024)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5912" cy="5486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54864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17320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같은 범죄사실이라도 가정환경과 지역에서 이용할 수 있는 기관에 따라 처분 선택이 달라질 수 있다는 지적이 있었다</a:t>
            </a:r>
          </a:p>
        </p:txBody>
      </p:sp>
      <p:cxnSp>
        <p:nvCxnSpPr>
          <p:cNvPr id="8" name="HRULE"/>
          <p:cNvCxnSpPr/>
          <p:nvPr/>
        </p:nvCxnSpPr>
        <p:spPr>
          <a:xfrm>
            <a:off x="731520" y="2057400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868680" y="2034540"/>
            <a:ext cx="1965960" cy="10904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지원이 필요한 환경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153412"/>
            <a:ext cx="8302752" cy="880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가정의 보호를 받기 어렵다는 사정 자체를 이유로 시설처우를 선택하면, 지원이 더 필요한 소년이 오히려 더 큰 자유 제한을 받을 수 있다는 우려가 제기됐다.</a:t>
            </a:r>
          </a:p>
          <a:p>
            <a:pPr algn="l">
              <a:lnSpc>
                <a:spcPct val="118000"/>
              </a:lnSpc>
            </a:pPr>
            <a:r>
              <a:rPr sz="12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보육시설 생활이나 성착취 피해처럼 소년이 선택하지 않은 환경을 「보호자 보호력 부족」으로만 평가하지 말아야 한다는 취지다.</a:t>
            </a:r>
          </a:p>
        </p:txBody>
      </p:sp>
      <p:cxnSp>
        <p:nvCxnSpPr>
          <p:cNvPr id="12" name="HRULE"/>
          <p:cNvCxnSpPr/>
          <p:nvPr/>
        </p:nvCxnSpPr>
        <p:spPr>
          <a:xfrm>
            <a:off x="731520" y="3147822"/>
            <a:ext cx="10725912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868680" y="3124962"/>
            <a:ext cx="1965960" cy="10904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지역 자원의 문제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3243834"/>
            <a:ext cx="8302752" cy="880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필요한 수강·상담·시설·의료기관이 지역에 부족하면, 법에 가능한 처분이라도 실제로 선택하기 어려워 다른 처분이 선택될 수 있다는 지적이 있었다.</a:t>
            </a:r>
          </a:p>
          <a:p>
            <a:pPr algn="l">
              <a:lnSpc>
                <a:spcPct val="118000"/>
              </a:lnSpc>
            </a:pPr>
            <a:r>
              <a:rPr sz="12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수강명령 집행기관, 상담기관, 제6호 아동복지시설, 정신질환 소년을 맡길 병원·의료·위탁기관이 여기에 해당한다.</a:t>
            </a:r>
          </a:p>
        </p:txBody>
      </p:sp>
      <p:cxnSp>
        <p:nvCxnSpPr>
          <p:cNvPr id="15" name="HRULE"/>
          <p:cNvCxnSpPr/>
          <p:nvPr/>
        </p:nvCxnSpPr>
        <p:spPr>
          <a:xfrm>
            <a:off x="731520" y="4238244"/>
            <a:ext cx="10725912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868680" y="4215383"/>
            <a:ext cx="1965960" cy="9532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연구가 제시한 개선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4556988"/>
            <a:ext cx="8302752" cy="297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수강명령 집행기관 확충, 제6호 처분 시설 확충, 정신질환 소년을 위한 보호·위탁기관 발굴을 개선과제로 제시했다.</a:t>
            </a:r>
          </a:p>
        </p:txBody>
      </p:sp>
      <p:cxnSp>
        <p:nvCxnSpPr>
          <p:cNvPr id="18" name="HRULE"/>
          <p:cNvCxnSpPr/>
          <p:nvPr/>
        </p:nvCxnSpPr>
        <p:spPr>
          <a:xfrm>
            <a:off x="731520" y="5191505"/>
            <a:ext cx="10725912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868680" y="5168645"/>
            <a:ext cx="1965960" cy="9532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논제와의 연결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5510250"/>
            <a:ext cx="8302752" cy="297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연령을 낮추는 것과 현재 보호처분을 실제로 작동하게 만드는 것은 서로 다른 정책과제다.</a:t>
            </a:r>
          </a:p>
        </p:txBody>
      </p:sp>
      <p:cxnSp>
        <p:nvCxnSpPr>
          <p:cNvPr id="21" name="HRULE"/>
          <p:cNvCxnSpPr/>
          <p:nvPr/>
        </p:nvCxnSpPr>
        <p:spPr>
          <a:xfrm>
            <a:off x="731520" y="6144767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731520" y="6419088"/>
            <a:ext cx="10725912" cy="225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이승현 외(2024), KICJ 연구총서 24-A-02 · 공식 연구요약 4. 전문가 경험·인식 분석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26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20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보충 자료 · 경찰청 피의자 통계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7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연령별 피의자 수의 연도별 변화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5912" cy="5486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54864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피의자 수는 모든 연령에서 2023년에 가장 많았고, 연령이 높을수록 규모가 컸다</a:t>
            </a:r>
          </a:p>
        </p:txBody>
      </p:sp>
      <p:cxnSp>
        <p:nvCxnSpPr>
          <p:cNvPr id="7" name="HRULE"/>
          <p:cNvCxnSpPr/>
          <p:nvPr/>
        </p:nvCxnSpPr>
        <p:spPr>
          <a:xfrm>
            <a:off x="731520" y="2057400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  <p:cxnSp>
        <p:nvCxnSpPr>
          <p:cNvPr id="8" name="HRULE"/>
          <p:cNvCxnSpPr/>
          <p:nvPr/>
        </p:nvCxnSpPr>
        <p:spPr>
          <a:xfrm>
            <a:off x="731520" y="5527243"/>
            <a:ext cx="10725912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731520" y="5678119"/>
            <a:ext cx="10725912" cy="297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14~15세의 수는 2023년에 크게 늘었다가 이후 2022년 이전 수준에 가까워졌고, 16~17세는 2024·2025년에도 그보다 높은 수준을 유지했다</a:t>
            </a:r>
          </a:p>
        </p:txBody>
      </p:sp>
      <p:cxnSp>
        <p:nvCxnSpPr>
          <p:cNvPr id="10" name="HRULE"/>
          <p:cNvCxnSpPr/>
          <p:nvPr/>
        </p:nvCxnSpPr>
        <p:spPr>
          <a:xfrm>
            <a:off x="731520" y="6144768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731520" y="2185416"/>
            <a:ext cx="107259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2018~2025년 · </a:t>
            </a:r>
            <a:r>
              <a:rPr sz="1150" b="1">
                <a:solidFill>
                  <a:srgbClr val="8A6D10"/>
                </a:solidFill>
                <a:latin typeface="Pretendard"/>
                <a:ea typeface="Pretendard"/>
                <a:cs typeface="Pretendard"/>
              </a:rPr>
              <a:t>금색 막대 = 2023년</a:t>
            </a:r>
            <a:r>
              <a:rPr sz="11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 · 다섯 묶음의 세로 눈금은 같다 · 단위 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0499" y="4858201"/>
            <a:ext cx="197893" cy="10674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339" y="4647889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7347" y="4914595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’18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01832" y="4836852"/>
            <a:ext cx="197893" cy="32022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4672" y="4626540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680" y="4914595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’19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43165" y="4847527"/>
            <a:ext cx="197893" cy="21348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06005" y="4637215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70013" y="4914595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84498" y="4815504"/>
            <a:ext cx="197893" cy="53370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47338" y="4605192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11346" y="4914595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’21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5831" y="4612696"/>
            <a:ext cx="197893" cy="256178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88671" y="4402384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52679" y="4914595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’22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67164" y="3481242"/>
            <a:ext cx="197893" cy="1387632"/>
          </a:xfrm>
          <a:prstGeom prst="rect">
            <a:avLst/>
          </a:prstGeom>
          <a:solidFill>
            <a:srgbClr val="C2A6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30004" y="3270930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8A6D10"/>
                </a:solidFill>
                <a:latin typeface="Pretendard"/>
                <a:ea typeface="Pretendard"/>
                <a:cs typeface="Pretendard"/>
              </a:rPr>
              <a:t>130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94012" y="4914595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8A6D10"/>
                </a:solidFill>
                <a:latin typeface="Pretendard"/>
                <a:ea typeface="Pretendard"/>
                <a:cs typeface="Pretendard"/>
              </a:rPr>
              <a:t>’23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08497" y="4655393"/>
            <a:ext cx="197893" cy="213481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71337" y="4445081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35345" y="4914595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’24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49830" y="4666067"/>
            <a:ext cx="197893" cy="202807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12670" y="4455755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76678" y="4914595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115763"/>
            <a:ext cx="214518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14세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05681" y="4836852"/>
            <a:ext cx="197893" cy="32022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68521" y="4626540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32529" y="4914595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’18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47014" y="4836852"/>
            <a:ext cx="197893" cy="32022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09854" y="4626540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73862" y="4914595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’19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88347" y="4794156"/>
            <a:ext cx="197893" cy="74718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51187" y="4583844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15195" y="4914595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’20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729680" y="4826178"/>
            <a:ext cx="197893" cy="42696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92520" y="4615866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6528" y="4914595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’21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71013" y="4591348"/>
            <a:ext cx="197893" cy="277526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833853" y="4381036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97861" y="4914595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’22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12346" y="3427872"/>
            <a:ext cx="197893" cy="1441002"/>
          </a:xfrm>
          <a:prstGeom prst="rect">
            <a:avLst/>
          </a:prstGeom>
          <a:solidFill>
            <a:srgbClr val="C2A6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075186" y="3217560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8A6D10"/>
                </a:solidFill>
                <a:latin typeface="Pretendard"/>
                <a:ea typeface="Pretendard"/>
                <a:cs typeface="Pretendard"/>
              </a:rPr>
              <a:t>135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39194" y="4914595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8A6D10"/>
                </a:solidFill>
                <a:latin typeface="Pretendard"/>
                <a:ea typeface="Pretendard"/>
                <a:cs typeface="Pretendard"/>
              </a:rPr>
              <a:t>’23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453679" y="4516630"/>
            <a:ext cx="197893" cy="352245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16519" y="4306318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33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80527" y="4914595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’24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695012" y="4548652"/>
            <a:ext cx="197893" cy="320222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57852" y="4338340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21860" y="4914595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’25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76702" y="5115763"/>
            <a:ext cx="214518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15세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2876702" y="4868875"/>
            <a:ext cx="0" cy="219456"/>
          </a:xfrm>
          <a:prstGeom prst="line">
            <a:avLst/>
          </a:prstGeom>
          <a:ln w="9525">
            <a:solidFill>
              <a:srgbClr val="464D5C"/>
            </a:solidFill>
          </a:ln>
        </p:spPr>
      </p:cxnSp>
      <p:sp>
        <p:nvSpPr>
          <p:cNvPr id="63" name="Rectangle 62"/>
          <p:cNvSpPr/>
          <p:nvPr/>
        </p:nvSpPr>
        <p:spPr>
          <a:xfrm>
            <a:off x="5150863" y="4804830"/>
            <a:ext cx="197893" cy="64044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13703" y="4594518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77711" y="4914595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’18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392196" y="4804830"/>
            <a:ext cx="197893" cy="64044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255036" y="4594518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19044" y="4914595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’19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33529" y="4612696"/>
            <a:ext cx="197893" cy="256178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496369" y="4402384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60377" y="4914595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’20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874862" y="4634045"/>
            <a:ext cx="197893" cy="234830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737702" y="4423733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801710" y="4914595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’21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116195" y="4495281"/>
            <a:ext cx="197893" cy="373593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979035" y="4284969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35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043043" y="4914595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’22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357528" y="3107649"/>
            <a:ext cx="197893" cy="1761225"/>
          </a:xfrm>
          <a:prstGeom prst="rect">
            <a:avLst/>
          </a:prstGeom>
          <a:solidFill>
            <a:srgbClr val="C2A6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20368" y="2897337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8A6D10"/>
                </a:solidFill>
                <a:latin typeface="Pretendard"/>
                <a:ea typeface="Pretendard"/>
                <a:cs typeface="Pretendard"/>
              </a:rPr>
              <a:t>165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84376" y="4914595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8A6D10"/>
                </a:solidFill>
                <a:latin typeface="Pretendard"/>
                <a:ea typeface="Pretendard"/>
                <a:cs typeface="Pretendard"/>
              </a:rPr>
              <a:t>’23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598862" y="4207081"/>
            <a:ext cx="197893" cy="661793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461702" y="3996769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62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525710" y="4914595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’24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840195" y="4100340"/>
            <a:ext cx="197893" cy="768534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703035" y="3890028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72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767043" y="4914595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’25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021884" y="5115763"/>
            <a:ext cx="214518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16세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5021884" y="4868875"/>
            <a:ext cx="0" cy="219456"/>
          </a:xfrm>
          <a:prstGeom prst="line">
            <a:avLst/>
          </a:prstGeom>
          <a:ln w="9525">
            <a:solidFill>
              <a:srgbClr val="464D5C"/>
            </a:solidFill>
          </a:ln>
        </p:spPr>
      </p:cxnSp>
      <p:sp>
        <p:nvSpPr>
          <p:cNvPr id="89" name="Rectangle 88"/>
          <p:cNvSpPr/>
          <p:nvPr/>
        </p:nvSpPr>
        <p:spPr>
          <a:xfrm>
            <a:off x="7296046" y="4666067"/>
            <a:ext cx="197893" cy="202807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158886" y="4455755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222894" y="4914595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’18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37379" y="4687415"/>
            <a:ext cx="197893" cy="181459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400219" y="4477103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464227" y="4914595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’19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778712" y="4516630"/>
            <a:ext cx="197893" cy="352245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641552" y="4306318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33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705560" y="4914595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’20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020045" y="4217755"/>
            <a:ext cx="197893" cy="651119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882885" y="4007443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61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946893" y="4914595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’21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261378" y="4420563"/>
            <a:ext cx="197893" cy="448312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124218" y="4210251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42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188226" y="4914595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’22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502711" y="3150345"/>
            <a:ext cx="197893" cy="1718529"/>
          </a:xfrm>
          <a:prstGeom prst="rect">
            <a:avLst/>
          </a:prstGeom>
          <a:solidFill>
            <a:srgbClr val="C2A6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365551" y="2940033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8A6D10"/>
                </a:solidFill>
                <a:latin typeface="Pretendard"/>
                <a:ea typeface="Pretendard"/>
                <a:cs typeface="Pretendard"/>
              </a:rPr>
              <a:t>161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429559" y="4914595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8A6D10"/>
                </a:solidFill>
                <a:latin typeface="Pretendard"/>
                <a:ea typeface="Pretendard"/>
                <a:cs typeface="Pretendard"/>
              </a:rPr>
              <a:t>’23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744044" y="4143036"/>
            <a:ext cx="197893" cy="725838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606884" y="3932724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68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670892" y="4914595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’24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985377" y="3705398"/>
            <a:ext cx="197893" cy="1163476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848217" y="3495086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109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12225" y="4914595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’25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167067" y="5115763"/>
            <a:ext cx="214518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17세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7167067" y="4868875"/>
            <a:ext cx="0" cy="219456"/>
          </a:xfrm>
          <a:prstGeom prst="line">
            <a:avLst/>
          </a:prstGeom>
          <a:ln w="9525">
            <a:solidFill>
              <a:srgbClr val="464D5C"/>
            </a:solidFill>
          </a:ln>
        </p:spPr>
      </p:cxnSp>
      <p:sp>
        <p:nvSpPr>
          <p:cNvPr id="115" name="Rectangle 114"/>
          <p:cNvSpPr/>
          <p:nvPr/>
        </p:nvSpPr>
        <p:spPr>
          <a:xfrm>
            <a:off x="9441228" y="4580674"/>
            <a:ext cx="197893" cy="288200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304068" y="4370362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368076" y="4914595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’18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682561" y="4420563"/>
            <a:ext cx="197893" cy="448312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545401" y="4210251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42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609409" y="4914595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’19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9923894" y="4164384"/>
            <a:ext cx="197893" cy="704490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786734" y="3954072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66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850742" y="4914595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’20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0165227" y="3929554"/>
            <a:ext cx="197893" cy="939320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0028067" y="3719242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88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092075" y="4914595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’21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0406560" y="4100340"/>
            <a:ext cx="197893" cy="768534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0269400" y="3890028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72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0333408" y="4914595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’22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0647893" y="2776752"/>
            <a:ext cx="197893" cy="2092122"/>
          </a:xfrm>
          <a:prstGeom prst="rect">
            <a:avLst/>
          </a:prstGeom>
          <a:solidFill>
            <a:srgbClr val="C2A6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0510733" y="2566440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8A6D10"/>
                </a:solidFill>
                <a:latin typeface="Pretendard"/>
                <a:ea typeface="Pretendard"/>
                <a:cs typeface="Pretendard"/>
              </a:rPr>
              <a:t>196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574741" y="4914595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8A6D10"/>
                </a:solidFill>
                <a:latin typeface="Pretendard"/>
                <a:ea typeface="Pretendard"/>
                <a:cs typeface="Pretendard"/>
              </a:rPr>
              <a:t>’23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0889226" y="4111014"/>
            <a:ext cx="197893" cy="757860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0752066" y="3900702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71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0816074" y="4914595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’24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1130559" y="3972251"/>
            <a:ext cx="197893" cy="896624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0993399" y="3761939"/>
            <a:ext cx="47221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84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1057407" y="4914595"/>
            <a:ext cx="34419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’25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9312249" y="5115763"/>
            <a:ext cx="214518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18세</a:t>
            </a:r>
          </a:p>
        </p:txBody>
      </p:sp>
      <p:cxnSp>
        <p:nvCxnSpPr>
          <p:cNvPr id="140" name="Connector 139"/>
          <p:cNvCxnSpPr/>
          <p:nvPr/>
        </p:nvCxnSpPr>
        <p:spPr>
          <a:xfrm>
            <a:off x="9312249" y="4868875"/>
            <a:ext cx="0" cy="219456"/>
          </a:xfrm>
          <a:prstGeom prst="line">
            <a:avLst/>
          </a:prstGeom>
          <a:ln w="9525">
            <a:solidFill>
              <a:srgbClr val="464D5C"/>
            </a:solidFill>
          </a:ln>
        </p:spPr>
      </p:cxnSp>
      <p:cxnSp>
        <p:nvCxnSpPr>
          <p:cNvPr id="141" name="KEEP"/>
          <p:cNvCxnSpPr/>
          <p:nvPr/>
        </p:nvCxnSpPr>
        <p:spPr>
          <a:xfrm>
            <a:off x="731520" y="4868875"/>
            <a:ext cx="10725912" cy="0"/>
          </a:xfrm>
          <a:prstGeom prst="line">
            <a:avLst/>
          </a:prstGeom>
          <a:ln w="12700">
            <a:solidFill>
              <a:srgbClr val="222633"/>
            </a:solidFill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26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20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5. 치료·재활의 실행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0" y="384048"/>
            <a:ext cx="5422392" cy="225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다음 → 항소심 판단과 시설수용 제재의 한계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7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약물법원 참여 동의와 치료 중단</a:t>
            </a:r>
            <a:r>
              <a:rPr sz="2750" b="0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 — T.N. v. Portesy (2005)</a:t>
            </a:r>
          </a:p>
        </p:txBody>
      </p:sp>
      <p:cxnSp>
        <p:nvCxnSpPr>
          <p:cNvPr id="5" name="HRULE"/>
          <p:cNvCxnSpPr/>
          <p:nvPr/>
        </p:nvCxnSpPr>
        <p:spPr>
          <a:xfrm>
            <a:off x="731520" y="1389888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1124712" y="5751576"/>
            <a:ext cx="9912096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07592" y="5751576"/>
            <a:ext cx="954633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치료를 우선하는 경로에서 어느 정도의 강제와 자유 제한까지 정당화할 수 있는가?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36192"/>
            <a:ext cx="10725912" cy="2793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치료 참여에 동의한 소년이 의무를 이행하지 않았을 때, 참여를 확보하기 위한 제재와 시설수용의 범위가 문제되었다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52117"/>
            <a:ext cx="10725912" cy="2433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미국 플로리다 제2지구 항소법원 · 2D05-01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88920" y="2250948"/>
            <a:ext cx="0" cy="1280160"/>
          </a:xfrm>
          <a:prstGeom prst="line">
            <a:avLst/>
          </a:prstGeom>
          <a:ln w="19050">
            <a:solidFill>
              <a:srgbClr val="5A6699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731520" y="2132076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2004년 6월</a:t>
            </a:r>
          </a:p>
        </p:txBody>
      </p:sp>
      <p:sp>
        <p:nvSpPr>
          <p:cNvPr id="12" name="Oval 11"/>
          <p:cNvSpPr/>
          <p:nvPr/>
        </p:nvSpPr>
        <p:spPr>
          <a:xfrm>
            <a:off x="2720339" y="2182368"/>
            <a:ext cx="137160" cy="1371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4679" y="2100072"/>
            <a:ext cx="8302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4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소년과 어머니가 약물법원 참여에 동의했다</a:t>
            </a:r>
          </a:p>
          <a:p>
            <a:pPr algn="l">
              <a:lnSpc>
                <a:spcPct val="118000"/>
              </a:lnSpc>
            </a:pPr>
            <a:r>
              <a:rPr sz="12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대마소지 혐의를 받은 소년에 대해, 법원은 치료·검사 의무와 불이행 시 제재를 적은 합의를 승인했다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72156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이후</a:t>
            </a:r>
          </a:p>
        </p:txBody>
      </p:sp>
      <p:sp>
        <p:nvSpPr>
          <p:cNvPr id="15" name="Oval 14"/>
          <p:cNvSpPr/>
          <p:nvPr/>
        </p:nvSpPr>
        <p:spPr>
          <a:xfrm>
            <a:off x="2720339" y="2822448"/>
            <a:ext cx="137160" cy="1371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54679" y="2740152"/>
            <a:ext cx="8302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4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대마검사에서 여러 차례 양성반응이 나왔다</a:t>
            </a:r>
          </a:p>
          <a:p>
            <a:pPr algn="l">
              <a:lnSpc>
                <a:spcPct val="118000"/>
              </a:lnSpc>
            </a:pPr>
            <a:r>
              <a:rPr sz="12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8월 중순 이후 치료프로그램 참여를 중단한 것으로 나타났다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412236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2004년 12월</a:t>
            </a:r>
          </a:p>
        </p:txBody>
      </p:sp>
      <p:sp>
        <p:nvSpPr>
          <p:cNvPr id="18" name="Oval 17"/>
          <p:cNvSpPr/>
          <p:nvPr/>
        </p:nvSpPr>
        <p:spPr>
          <a:xfrm>
            <a:off x="2720339" y="3462528"/>
            <a:ext cx="137160" cy="13716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1E27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54679" y="3380232"/>
            <a:ext cx="8302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4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원심은 명령 불이행에 대한 간접 형사적 법정모욕을 인정했다</a:t>
            </a:r>
          </a:p>
          <a:p>
            <a:pPr algn="l">
              <a:lnSpc>
                <a:spcPct val="118000"/>
              </a:lnSpc>
            </a:pPr>
            <a:r>
              <a:rPr sz="12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법원이 승인한 치료 참여 의무를 따르지 않았다는 이유다</a:t>
            </a:r>
          </a:p>
        </p:txBody>
      </p:sp>
      <p:cxnSp>
        <p:nvCxnSpPr>
          <p:cNvPr id="20" name="HRULE"/>
          <p:cNvCxnSpPr/>
          <p:nvPr/>
        </p:nvCxnSpPr>
        <p:spPr>
          <a:xfrm>
            <a:off x="731520" y="4143755"/>
            <a:ext cx="10725912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731520" y="4253484"/>
            <a:ext cx="10725912" cy="26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법원이 명령한 순서</a:t>
            </a:r>
          </a:p>
        </p:txBody>
      </p:sp>
      <p:sp>
        <p:nvSpPr>
          <p:cNvPr id="22" name="HBAR"/>
          <p:cNvSpPr/>
          <p:nvPr/>
        </p:nvSpPr>
        <p:spPr>
          <a:xfrm>
            <a:off x="731520" y="4551426"/>
            <a:ext cx="3209544" cy="45720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661154"/>
            <a:ext cx="3209544" cy="6441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4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소년구금시설</a:t>
            </a:r>
          </a:p>
          <a:p>
            <a:pPr algn="l">
              <a:lnSpc>
                <a:spcPct val="118000"/>
              </a:lnSpc>
            </a:pPr>
            <a:r>
              <a:rPr sz="12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10일 수용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41064" y="462457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C2A648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25" name="HBAR"/>
          <p:cNvSpPr/>
          <p:nvPr/>
        </p:nvSpPr>
        <p:spPr>
          <a:xfrm>
            <a:off x="4489704" y="4551426"/>
            <a:ext cx="3209544" cy="45720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9704" y="4661154"/>
            <a:ext cx="3209544" cy="6441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400" b="1" spc="-3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지역사회 치료서비스 운영 중독 관련 입소시설</a:t>
            </a:r>
          </a:p>
          <a:p>
            <a:pPr algn="l">
              <a:lnSpc>
                <a:spcPct val="118000"/>
              </a:lnSpc>
            </a:pPr>
            <a:r>
              <a:rPr sz="12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주거형 치료 배치까지 수용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99248" y="462457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C2A648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28" name="HBAR"/>
          <p:cNvSpPr/>
          <p:nvPr/>
        </p:nvSpPr>
        <p:spPr>
          <a:xfrm>
            <a:off x="8247888" y="4551426"/>
            <a:ext cx="3209544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47888" y="4661154"/>
            <a:ext cx="3209544" cy="6441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4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주거형 치료</a:t>
            </a:r>
          </a:p>
          <a:p>
            <a:pPr algn="l">
              <a:lnSpc>
                <a:spcPct val="118000"/>
              </a:lnSpc>
            </a:pPr>
            <a:r>
              <a:rPr sz="12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배치 명령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376672"/>
            <a:ext cx="10725912" cy="234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법정모욕: 이 사건에서는 법원 명령 불이행에 대한 제재 판단을 뜻한다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26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20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논제의 범위와 현행 대응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0" y="384048"/>
            <a:ext cx="5422392" cy="225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다음 → 소년부와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7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마약류 사용 범죄소년의 검찰 송치 이후 과정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5912" cy="5486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54864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17320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14~18세 범죄소년 사건에서 검찰은 치료·재활 연계형 조건부 기소유예, 소년부 송치, 형사기소 가운데 경로를 선택할 수 있다</a:t>
            </a:r>
          </a:p>
        </p:txBody>
      </p:sp>
      <p:cxnSp>
        <p:nvCxnSpPr>
          <p:cNvPr id="8" name="HRULE"/>
          <p:cNvCxnSpPr/>
          <p:nvPr/>
        </p:nvCxnSpPr>
        <p:spPr>
          <a:xfrm>
            <a:off x="731520" y="2057400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  <p:cxnSp>
        <p:nvCxnSpPr>
          <p:cNvPr id="9" name="HRULE"/>
          <p:cNvCxnSpPr/>
          <p:nvPr/>
        </p:nvCxnSpPr>
        <p:spPr>
          <a:xfrm>
            <a:off x="731520" y="5527243"/>
            <a:ext cx="10725912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731520" y="5678119"/>
            <a:ext cx="10725912" cy="297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조건부 기소유예는 소년부 송치·형사기소보다 앞 단계에서 치료·재활을 먼저 시도하는 경로이고, 뒤의 두 경로는 더 강한 사법개입이다</a:t>
            </a:r>
          </a:p>
        </p:txBody>
      </p:sp>
      <p:cxnSp>
        <p:nvCxnSpPr>
          <p:cNvPr id="11" name="HRULE"/>
          <p:cNvCxnSpPr/>
          <p:nvPr/>
        </p:nvCxnSpPr>
        <p:spPr>
          <a:xfrm>
            <a:off x="731520" y="6144768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  <p:sp>
        <p:nvSpPr>
          <p:cNvPr id="12" name="Rectangle 11"/>
          <p:cNvSpPr/>
          <p:nvPr/>
        </p:nvSpPr>
        <p:spPr>
          <a:xfrm>
            <a:off x="731520" y="2240280"/>
            <a:ext cx="3291840" cy="603504"/>
          </a:xfrm>
          <a:prstGeom prst="rect">
            <a:avLst/>
          </a:prstGeom>
          <a:noFill/>
          <a:ln w="12700">
            <a:solidFill>
              <a:srgbClr val="1E27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295144"/>
            <a:ext cx="296265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경찰 송치</a:t>
            </a:r>
          </a:p>
          <a:p>
            <a:pPr algn="l">
              <a:lnSpc>
                <a:spcPct val="118000"/>
              </a:lnSpc>
            </a:pPr>
            <a:r>
              <a:rPr sz="120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14~18세 범죄소년 · 마약류 투약·사용 사건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359152"/>
            <a:ext cx="685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5A6699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09159" y="2240280"/>
            <a:ext cx="6748272" cy="603504"/>
          </a:xfrm>
          <a:prstGeom prst="rect">
            <a:avLst/>
          </a:prstGeom>
          <a:noFill/>
          <a:ln w="12700">
            <a:solidFill>
              <a:srgbClr val="1E27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73751" y="2295144"/>
            <a:ext cx="6419088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검사 판단</a:t>
            </a:r>
          </a:p>
          <a:p>
            <a:pPr algn="l">
              <a:lnSpc>
                <a:spcPct val="118000"/>
              </a:lnSpc>
            </a:pPr>
            <a:r>
              <a:rPr sz="120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사안의 중대성 · 재범위험 · 치료 필요 · 소년부 회부 필요성 검토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083296" y="2843784"/>
            <a:ext cx="0" cy="228600"/>
          </a:xfrm>
          <a:prstGeom prst="line">
            <a:avLst/>
          </a:prstGeom>
          <a:ln w="15875">
            <a:solidFill>
              <a:srgbClr val="5A6699"/>
            </a:solidFill>
          </a:ln>
        </p:spPr>
      </p:cxnSp>
      <p:cxnSp>
        <p:nvCxnSpPr>
          <p:cNvPr id="18" name="KEEP"/>
          <p:cNvCxnSpPr/>
          <p:nvPr/>
        </p:nvCxnSpPr>
        <p:spPr>
          <a:xfrm>
            <a:off x="2394204" y="3072384"/>
            <a:ext cx="7400544" cy="0"/>
          </a:xfrm>
          <a:prstGeom prst="line">
            <a:avLst/>
          </a:prstGeom>
          <a:ln w="15875">
            <a:solidFill>
              <a:srgbClr val="5A6699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2394204" y="3072384"/>
            <a:ext cx="0" cy="228600"/>
          </a:xfrm>
          <a:prstGeom prst="line">
            <a:avLst/>
          </a:prstGeom>
          <a:ln w="15875">
            <a:solidFill>
              <a:srgbClr val="5A6699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6094476" y="3072384"/>
            <a:ext cx="0" cy="228600"/>
          </a:xfrm>
          <a:prstGeom prst="line">
            <a:avLst/>
          </a:prstGeom>
          <a:ln w="15875">
            <a:solidFill>
              <a:srgbClr val="5A6699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9794748" y="3072384"/>
            <a:ext cx="0" cy="228600"/>
          </a:xfrm>
          <a:prstGeom prst="line">
            <a:avLst/>
          </a:prstGeom>
          <a:ln w="15875">
            <a:solidFill>
              <a:srgbClr val="5A6699"/>
            </a:solidFill>
          </a:ln>
        </p:spPr>
      </p:cxnSp>
      <p:sp>
        <p:nvSpPr>
          <p:cNvPr id="22" name="Rectangle 21"/>
          <p:cNvSpPr/>
          <p:nvPr/>
        </p:nvSpPr>
        <p:spPr>
          <a:xfrm>
            <a:off x="731520" y="3300984"/>
            <a:ext cx="3325368" cy="402336"/>
          </a:xfrm>
          <a:prstGeom prst="rect">
            <a:avLst/>
          </a:prstGeom>
          <a:solidFill>
            <a:srgbClr val="C2A6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300984"/>
            <a:ext cx="332536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 조건부 기소유예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3849624"/>
            <a:ext cx="3105912" cy="11106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50" b="0" spc="-3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연계모델 참여를 조건으로 공소를 제기하지 않는다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5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조건을 이행하면 사건이 종결된다</a:t>
            </a:r>
          </a:p>
        </p:txBody>
      </p:sp>
      <p:cxnSp>
        <p:nvCxnSpPr>
          <p:cNvPr id="25" name="KEEP"/>
          <p:cNvCxnSpPr/>
          <p:nvPr/>
        </p:nvCxnSpPr>
        <p:spPr>
          <a:xfrm>
            <a:off x="731520" y="5051755"/>
            <a:ext cx="3325368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731520" y="5143195"/>
            <a:ext cx="33253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8A6D10"/>
                </a:solidFill>
                <a:latin typeface="Pretendard"/>
                <a:ea typeface="Pretendard"/>
                <a:cs typeface="Pretendard"/>
              </a:rPr>
              <a:t>검찰 단계에서 끝나는 경로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31792" y="3300984"/>
            <a:ext cx="3325368" cy="402336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1792" y="3300984"/>
            <a:ext cx="332536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 소년부 송치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41520" y="3849624"/>
            <a:ext cx="2484119" cy="11106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5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검사가 사건을 법원 소년부로 보낸다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5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판사가 보호처분의 필요성과 종류를 심리하여 처분한다</a:t>
            </a:r>
          </a:p>
        </p:txBody>
      </p:sp>
      <p:cxnSp>
        <p:nvCxnSpPr>
          <p:cNvPr id="30" name="KEEP"/>
          <p:cNvCxnSpPr/>
          <p:nvPr/>
        </p:nvCxnSpPr>
        <p:spPr>
          <a:xfrm>
            <a:off x="4431792" y="5051755"/>
            <a:ext cx="3325368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4431792" y="5143195"/>
            <a:ext cx="33253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법원이 보호처분을 결정하는 경로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2064" y="3300984"/>
            <a:ext cx="3325368" cy="402336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2064" y="3300984"/>
            <a:ext cx="332536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 형사기소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41792" y="3849624"/>
            <a:ext cx="3105912" cy="11106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5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검사가 형사법원에 공소를 제기한다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5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유·무죄와 형벌, 교육을 형사법원이 판단한다</a:t>
            </a:r>
          </a:p>
        </p:txBody>
      </p:sp>
      <p:cxnSp>
        <p:nvCxnSpPr>
          <p:cNvPr id="35" name="KEEP"/>
          <p:cNvCxnSpPr/>
          <p:nvPr/>
        </p:nvCxnSpPr>
        <p:spPr>
          <a:xfrm>
            <a:off x="8132064" y="5051755"/>
            <a:ext cx="3325368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36" name="TextBox 35"/>
          <p:cNvSpPr txBox="1"/>
          <p:nvPr/>
        </p:nvSpPr>
        <p:spPr>
          <a:xfrm>
            <a:off x="8132064" y="5143195"/>
            <a:ext cx="33253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형사책임을 정식 재판으로 묻는 경로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740859"/>
            <a:ext cx="3215640" cy="252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8A6D10"/>
                </a:solidFill>
                <a:latin typeface="Pretendard"/>
                <a:ea typeface="Pretendard"/>
                <a:cs typeface="Pretendard"/>
              </a:rPr>
              <a:t>치료·재활 우선 과정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26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20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2. 사용 실태와 도움 요청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0" y="384048"/>
            <a:ext cx="5422392" cy="225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다음 → 첫 사용 뒤 무엇이 달라졌나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7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위기청소년의 마약류 사용 — 어떤 약물을 어떻게 접했나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5912" cy="5486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54864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17320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설문에서는 합성대마와 필로폰이 함께 나타났고 텔레그램이 주된 인지·구입 경로였으며, 심층면접에서는 관계를 통한 첫 접촉이 확인됐다</a:t>
            </a:r>
          </a:p>
        </p:txBody>
      </p:sp>
      <p:cxnSp>
        <p:nvCxnSpPr>
          <p:cNvPr id="8" name="HRULE"/>
          <p:cNvCxnSpPr/>
          <p:nvPr/>
        </p:nvCxnSpPr>
        <p:spPr>
          <a:xfrm>
            <a:off x="731520" y="2057400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  <p:cxnSp>
        <p:nvCxnSpPr>
          <p:cNvPr id="9" name="HRULE"/>
          <p:cNvCxnSpPr/>
          <p:nvPr/>
        </p:nvCxnSpPr>
        <p:spPr>
          <a:xfrm>
            <a:off x="731520" y="5527243"/>
            <a:ext cx="10725912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731520" y="5678119"/>
            <a:ext cx="10725912" cy="297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첫 마약 경험은 마약을 찾아 나선 한 순간보다, 이미 알고 있던 관계 속에서 시작된 경우가 많았다</a:t>
            </a:r>
          </a:p>
        </p:txBody>
      </p:sp>
      <p:cxnSp>
        <p:nvCxnSpPr>
          <p:cNvPr id="11" name="HRULE"/>
          <p:cNvCxnSpPr/>
          <p:nvPr/>
        </p:nvCxnSpPr>
        <p:spPr>
          <a:xfrm>
            <a:off x="731520" y="6144768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31520" y="2185416"/>
            <a:ext cx="3337560" cy="270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가장 많이 사용한 마약류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496312"/>
            <a:ext cx="146852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합성대마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73198" y="2564891"/>
            <a:ext cx="1064361" cy="1828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73198" y="2564891"/>
            <a:ext cx="354432" cy="182880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0712" y="2496312"/>
            <a:ext cx="65836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2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33.3%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816352"/>
            <a:ext cx="146852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필로폰·메스암페타민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73198" y="2884932"/>
            <a:ext cx="1064361" cy="1828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73198" y="2884932"/>
            <a:ext cx="354432" cy="182880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10712" y="2816352"/>
            <a:ext cx="65836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2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33.3%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136392"/>
            <a:ext cx="146852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대마초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73198" y="3204972"/>
            <a:ext cx="1064361" cy="1828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73198" y="3204972"/>
            <a:ext cx="177748" cy="182880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10712" y="3136392"/>
            <a:ext cx="65836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2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16.7%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456432"/>
            <a:ext cx="146852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MDMA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73198" y="3525012"/>
            <a:ext cx="1064361" cy="1828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73198" y="3525012"/>
            <a:ext cx="177748" cy="182880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10712" y="3456432"/>
            <a:ext cx="65836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2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16.7%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25696" y="2185416"/>
            <a:ext cx="3337560" cy="270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어떻게 알게 됐나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25696" y="2496312"/>
            <a:ext cx="146852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텔레그램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67374" y="2564891"/>
            <a:ext cx="1064361" cy="1828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67374" y="2564891"/>
            <a:ext cx="532180" cy="182880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04888" y="2496312"/>
            <a:ext cx="65836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2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50.0%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25696" y="2816352"/>
            <a:ext cx="146852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친구·또래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67374" y="2884932"/>
            <a:ext cx="1064361" cy="1828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67374" y="2884932"/>
            <a:ext cx="354432" cy="182880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04888" y="2816352"/>
            <a:ext cx="65836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2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33.3%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25696" y="3136392"/>
            <a:ext cx="146852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유튜브·블로그 등 온라인 콘텐츠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67374" y="3319272"/>
            <a:ext cx="1064361" cy="1828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67374" y="3319272"/>
            <a:ext cx="177748" cy="182880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04888" y="3136392"/>
            <a:ext cx="65836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2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16.7%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19871" y="2185416"/>
            <a:ext cx="3337560" cy="270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어디서 구했나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19871" y="2496312"/>
            <a:ext cx="146852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텔레그램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61550" y="2564891"/>
            <a:ext cx="1064361" cy="1828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661550" y="2564891"/>
            <a:ext cx="532180" cy="182880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799063" y="2496312"/>
            <a:ext cx="65836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2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50.0%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19871" y="2816352"/>
            <a:ext cx="146852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친구·또래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661550" y="2884932"/>
            <a:ext cx="1064361" cy="1828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661550" y="2884932"/>
            <a:ext cx="177748" cy="182880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799063" y="2816352"/>
            <a:ext cx="65836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2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16.7%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19871" y="3136392"/>
            <a:ext cx="146852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텔레그램 외 SNS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61550" y="3204972"/>
            <a:ext cx="1064361" cy="1828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661550" y="3204972"/>
            <a:ext cx="177748" cy="182880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799063" y="3136392"/>
            <a:ext cx="65836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2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16.7%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" y="3831335"/>
            <a:ext cx="10725912" cy="234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설문  위기청소년 297명 가운데 최근 6개월 마약류 사용 경험자 6명의 응답 · 합계가 100%가 되지 않는 항목이 있다</a:t>
            </a:r>
          </a:p>
        </p:txBody>
      </p:sp>
      <p:cxnSp>
        <p:nvCxnSpPr>
          <p:cNvPr id="56" name="HRULE"/>
          <p:cNvCxnSpPr/>
          <p:nvPr/>
        </p:nvCxnSpPr>
        <p:spPr>
          <a:xfrm>
            <a:off x="731520" y="4123944"/>
            <a:ext cx="10725912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57" name="TextBox 56"/>
          <p:cNvSpPr txBox="1"/>
          <p:nvPr/>
        </p:nvSpPr>
        <p:spPr>
          <a:xfrm>
            <a:off x="731520" y="4215383"/>
            <a:ext cx="10725912" cy="252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함께 본 자료  성인 일반조사 · 19~69세 사용경험자 n=115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" y="4489703"/>
            <a:ext cx="146852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프로포폴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273198" y="4558283"/>
            <a:ext cx="1064361" cy="1828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273198" y="4558283"/>
            <a:ext cx="161782" cy="182880"/>
          </a:xfrm>
          <a:prstGeom prst="rect">
            <a:avLst/>
          </a:prstGeom>
          <a:solidFill>
            <a:srgbClr val="C9CE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410712" y="4489703"/>
            <a:ext cx="65836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250" b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15.2%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" y="4809743"/>
            <a:ext cx="146852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모르핀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273198" y="4878323"/>
            <a:ext cx="1064361" cy="1828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273198" y="4878323"/>
            <a:ext cx="141560" cy="182880"/>
          </a:xfrm>
          <a:prstGeom prst="rect">
            <a:avLst/>
          </a:prstGeom>
          <a:solidFill>
            <a:srgbClr val="C9CE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410712" y="4809743"/>
            <a:ext cx="65836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250" b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13.3%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520" y="5129783"/>
            <a:ext cx="146852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펜타닐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273198" y="5198363"/>
            <a:ext cx="1064361" cy="1828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273198" y="5198363"/>
            <a:ext cx="93663" cy="182880"/>
          </a:xfrm>
          <a:prstGeom prst="rect">
            <a:avLst/>
          </a:prstGeom>
          <a:solidFill>
            <a:srgbClr val="C9CE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410712" y="5129783"/>
            <a:ext cx="65836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250" b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8.8%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425696" y="4489703"/>
            <a:ext cx="146852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약국·병의원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967374" y="4558283"/>
            <a:ext cx="1064361" cy="1828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967374" y="4558283"/>
            <a:ext cx="686513" cy="182880"/>
          </a:xfrm>
          <a:prstGeom prst="rect">
            <a:avLst/>
          </a:prstGeom>
          <a:solidFill>
            <a:srgbClr val="C9CE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104888" y="4489703"/>
            <a:ext cx="65836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250" b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64.5%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425696" y="4809743"/>
            <a:ext cx="146852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친구·선후배·직장동료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967374" y="4878323"/>
            <a:ext cx="1064361" cy="1828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5967374" y="4878323"/>
            <a:ext cx="310793" cy="182880"/>
          </a:xfrm>
          <a:prstGeom prst="rect">
            <a:avLst/>
          </a:prstGeom>
          <a:solidFill>
            <a:srgbClr val="C9CE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104888" y="4809743"/>
            <a:ext cx="65836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250" b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29.2%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425696" y="5129783"/>
            <a:ext cx="146852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온라인 플랫폼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967374" y="5198363"/>
            <a:ext cx="1064361" cy="1828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967374" y="5198363"/>
            <a:ext cx="112822" cy="182880"/>
          </a:xfrm>
          <a:prstGeom prst="rect">
            <a:avLst/>
          </a:prstGeom>
          <a:solidFill>
            <a:srgbClr val="C9CE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104888" y="5129783"/>
            <a:ext cx="65836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250" b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10.6%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119871" y="4489703"/>
            <a:ext cx="146852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약국·병의원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661550" y="4558283"/>
            <a:ext cx="1064361" cy="1828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661550" y="4558283"/>
            <a:ext cx="674805" cy="182880"/>
          </a:xfrm>
          <a:prstGeom prst="rect">
            <a:avLst/>
          </a:prstGeom>
          <a:solidFill>
            <a:srgbClr val="C9CE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799063" y="4489703"/>
            <a:ext cx="65836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250" b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63.4%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119871" y="4809743"/>
            <a:ext cx="146852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친구·선후배·직장동료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661550" y="4878323"/>
            <a:ext cx="1064361" cy="1828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661550" y="4878323"/>
            <a:ext cx="327823" cy="182880"/>
          </a:xfrm>
          <a:prstGeom prst="rect">
            <a:avLst/>
          </a:prstGeom>
          <a:solidFill>
            <a:srgbClr val="C9CE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799063" y="4809743"/>
            <a:ext cx="65836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250" b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30.8%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119871" y="5129783"/>
            <a:ext cx="146852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온라인 플랫폼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661550" y="5198363"/>
            <a:ext cx="1064361" cy="1828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661550" y="5198363"/>
            <a:ext cx="136238" cy="182880"/>
          </a:xfrm>
          <a:prstGeom prst="rect">
            <a:avLst/>
          </a:prstGeom>
          <a:solidFill>
            <a:srgbClr val="C9CE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799063" y="5129783"/>
            <a:ext cx="65836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250" b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12.8%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26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20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3. 사건 처리 결과와 소년 특례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0" y="384048"/>
            <a:ext cx="5422392" cy="225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다음 → 소년의 형 선고 특례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7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19세 미만 마약 관련 형사재판의 결과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5912" cy="5486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54864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17320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19세 미만 마약 관련 두 죄명 항목의 제1심 재판 인원은 2023년 23명, 2024년 14명이었다</a:t>
            </a:r>
          </a:p>
        </p:txBody>
      </p:sp>
      <p:cxnSp>
        <p:nvCxnSpPr>
          <p:cNvPr id="8" name="HRULE"/>
          <p:cNvCxnSpPr/>
          <p:nvPr/>
        </p:nvCxnSpPr>
        <p:spPr>
          <a:xfrm>
            <a:off x="731520" y="2057400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  <p:cxnSp>
        <p:nvCxnSpPr>
          <p:cNvPr id="9" name="HRULE"/>
          <p:cNvCxnSpPr/>
          <p:nvPr/>
        </p:nvCxnSpPr>
        <p:spPr>
          <a:xfrm>
            <a:off x="731520" y="5527243"/>
            <a:ext cx="10725912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731520" y="5678119"/>
            <a:ext cx="10725912" cy="297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두 연도 모두 형 선고와 소년부 송치가 함께 나타나며, 재판 인원의 감소가 장기 추세인지는 이 표만으로 판단할 수 없다</a:t>
            </a:r>
          </a:p>
        </p:txBody>
      </p:sp>
      <p:cxnSp>
        <p:nvCxnSpPr>
          <p:cNvPr id="11" name="HRULE"/>
          <p:cNvCxnSpPr/>
          <p:nvPr/>
        </p:nvCxnSpPr>
        <p:spPr>
          <a:xfrm>
            <a:off x="731520" y="6144768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31520" y="2185416"/>
            <a:ext cx="10725912" cy="2433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자료 범위  2023·2024년 제1심 형사공판 · 19세 미만 · 마약류관리법과 특가법 마약사범 두 항목 · 단위 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5999" y="2575102"/>
            <a:ext cx="1551432" cy="1664207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4" name="KEEP"/>
          <p:cNvCxnSpPr/>
          <p:nvPr/>
        </p:nvCxnSpPr>
        <p:spPr>
          <a:xfrm>
            <a:off x="731520" y="2575102"/>
            <a:ext cx="10725912" cy="0"/>
          </a:xfrm>
          <a:prstGeom prst="line">
            <a:avLst/>
          </a:prstGeom>
          <a:ln w="15875">
            <a:solidFill>
              <a:srgbClr val="1E2761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731520" y="2575102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연도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2575102"/>
            <a:ext cx="155143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부정기형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0272" y="2575102"/>
            <a:ext cx="155143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집행유예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1704" y="2575102"/>
            <a:ext cx="155143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소년부 송치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03136" y="2575102"/>
            <a:ext cx="155143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무죄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4568" y="2575102"/>
            <a:ext cx="155143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기타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5999" y="2575102"/>
            <a:ext cx="155143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합계</a:t>
            </a:r>
          </a:p>
        </p:txBody>
      </p:sp>
      <p:cxnSp>
        <p:nvCxnSpPr>
          <p:cNvPr id="22" name="KEEP"/>
          <p:cNvCxnSpPr/>
          <p:nvPr/>
        </p:nvCxnSpPr>
        <p:spPr>
          <a:xfrm>
            <a:off x="731520" y="2959150"/>
            <a:ext cx="10725912" cy="0"/>
          </a:xfrm>
          <a:prstGeom prst="line">
            <a:avLst/>
          </a:prstGeom>
          <a:ln w="9525">
            <a:solidFill>
              <a:srgbClr val="1E2761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731520" y="2959150"/>
            <a:ext cx="1417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2023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8840" y="2959150"/>
            <a:ext cx="15514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0272" y="2959150"/>
            <a:ext cx="15514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1704" y="2959150"/>
            <a:ext cx="15514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03136" y="2959150"/>
            <a:ext cx="15514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4568" y="2959150"/>
            <a:ext cx="15514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05999" y="2959150"/>
            <a:ext cx="15514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  <p:cxnSp>
        <p:nvCxnSpPr>
          <p:cNvPr id="30" name="HRULE"/>
          <p:cNvCxnSpPr/>
          <p:nvPr/>
        </p:nvCxnSpPr>
        <p:spPr>
          <a:xfrm>
            <a:off x="731520" y="3599230"/>
            <a:ext cx="10725912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731520" y="3599230"/>
            <a:ext cx="1417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2024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48840" y="3599230"/>
            <a:ext cx="15514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00272" y="3599230"/>
            <a:ext cx="15514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51704" y="3599230"/>
            <a:ext cx="15514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03136" y="3599230"/>
            <a:ext cx="15514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54568" y="3599230"/>
            <a:ext cx="15514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05999" y="3599230"/>
            <a:ext cx="15514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  <p:cxnSp>
        <p:nvCxnSpPr>
          <p:cNvPr id="38" name="KEEP"/>
          <p:cNvCxnSpPr/>
          <p:nvPr/>
        </p:nvCxnSpPr>
        <p:spPr>
          <a:xfrm>
            <a:off x="731520" y="4239310"/>
            <a:ext cx="10725912" cy="0"/>
          </a:xfrm>
          <a:prstGeom prst="line">
            <a:avLst/>
          </a:prstGeom>
          <a:ln w="15875">
            <a:solidFill>
              <a:srgbClr val="1E2761"/>
            </a:solidFill>
          </a:ln>
        </p:spPr>
      </p:cxnSp>
      <p:sp>
        <p:nvSpPr>
          <p:cNvPr id="39" name="TextBox 38"/>
          <p:cNvSpPr txBox="1"/>
          <p:nvPr/>
        </p:nvSpPr>
        <p:spPr>
          <a:xfrm>
            <a:off x="731520" y="4422190"/>
            <a:ext cx="10725912" cy="252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부정기형   </a:t>
            </a:r>
            <a:r>
              <a:rPr sz="120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장기와 단기를 정하여 선고하는 소년의 자유형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701997"/>
            <a:ext cx="10725912" cy="252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집행유예   </a:t>
            </a:r>
            <a:r>
              <a:rPr sz="120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선고한 형의 집행을 일정 기간 유예하는 결과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4981803"/>
            <a:ext cx="10725912" cy="252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소년부 송치   </a:t>
            </a:r>
            <a:r>
              <a:rPr sz="120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소년부가 보호처분 필요성과 내용을 판단하도록 사건을 보내는 결과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26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20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5. 치료·재활의 실행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0" y="384048"/>
            <a:ext cx="5422392" cy="225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다음 → 치료 필요와 감독 필요에 따른 선정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7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RISKIT-CJS — 전체 완수는 19.1%, 추가효과는 확인되지 않았다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5912" cy="5486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54864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17320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프로그램의 내용을 정한 뒤에는 실제 참여·완수와 기존 서비스보다 나은 결과가 나타나는지를 함께 확인해야 한다</a:t>
            </a:r>
          </a:p>
        </p:txBody>
      </p:sp>
      <p:cxnSp>
        <p:nvCxnSpPr>
          <p:cNvPr id="8" name="HRULE"/>
          <p:cNvCxnSpPr/>
          <p:nvPr/>
        </p:nvCxnSpPr>
        <p:spPr>
          <a:xfrm>
            <a:off x="731520" y="2057400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  <p:cxnSp>
        <p:nvCxnSpPr>
          <p:cNvPr id="9" name="HRULE"/>
          <p:cNvCxnSpPr/>
          <p:nvPr/>
        </p:nvCxnSpPr>
        <p:spPr>
          <a:xfrm>
            <a:off x="731520" y="5527243"/>
            <a:ext cx="10725912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731520" y="5678119"/>
            <a:ext cx="10725912" cy="297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국내에서도 참여율·완료율과 물질사용의 변화를 각각 확인해야 프로그램의 실행과 효과를 함께 판단할 수 있다</a:t>
            </a:r>
          </a:p>
        </p:txBody>
      </p:sp>
      <p:cxnSp>
        <p:nvCxnSpPr>
          <p:cNvPr id="11" name="HRULE"/>
          <p:cNvCxnSpPr/>
          <p:nvPr/>
        </p:nvCxnSpPr>
        <p:spPr>
          <a:xfrm>
            <a:off x="731520" y="6144768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31520" y="2185416"/>
            <a:ext cx="10725912" cy="2433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집계 기준  참여: 해당 요소에 실제 참석 · 전체 완수: 네 요소를 모두 마침 · 분모는 모두 246명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465374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첫 개별면담 참여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54680" y="2556814"/>
            <a:ext cx="6035040" cy="1828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54680" y="2556814"/>
            <a:ext cx="5250484" cy="182880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2465374"/>
            <a:ext cx="21305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214/246명  </a:t>
            </a:r>
            <a:r>
              <a:rPr sz="16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87.0%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88599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첫 집단훈련 참여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54680" y="2977438"/>
            <a:ext cx="6035040" cy="1828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154680" y="2977438"/>
            <a:ext cx="2401945" cy="182880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2885998"/>
            <a:ext cx="21305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98/246명  </a:t>
            </a:r>
            <a:r>
              <a:rPr sz="16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39.8%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30662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8A6D10"/>
                </a:solidFill>
                <a:latin typeface="Pretendard"/>
                <a:ea typeface="Pretendard"/>
                <a:cs typeface="Pretendard"/>
              </a:rPr>
              <a:t>네 요소 전체 완수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54680" y="3398062"/>
            <a:ext cx="6035040" cy="1828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154680" y="3398062"/>
            <a:ext cx="1152692" cy="182880"/>
          </a:xfrm>
          <a:prstGeom prst="rect">
            <a:avLst/>
          </a:prstGeom>
          <a:solidFill>
            <a:srgbClr val="C2A6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0" y="3306622"/>
            <a:ext cx="21305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47/246명  </a:t>
            </a:r>
            <a:r>
              <a:rPr sz="1600" b="1">
                <a:solidFill>
                  <a:srgbClr val="8A6D10"/>
                </a:solidFill>
                <a:latin typeface="Pretendard"/>
                <a:ea typeface="Pretendard"/>
                <a:cs typeface="Pretendard"/>
              </a:rPr>
              <a:t>19.1%</a:t>
            </a:r>
          </a:p>
        </p:txBody>
      </p:sp>
      <p:cxnSp>
        <p:nvCxnSpPr>
          <p:cNvPr id="25" name="HRULE"/>
          <p:cNvCxnSpPr/>
          <p:nvPr/>
        </p:nvCxnSpPr>
        <p:spPr>
          <a:xfrm>
            <a:off x="731520" y="3800398"/>
            <a:ext cx="10725912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731520" y="3910126"/>
            <a:ext cx="10725912" cy="2433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12개월 결과  지난 28일 중 알코올·기타 물질을 사용하지 않은 날의 비율, 집단별 중앙값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190085"/>
            <a:ext cx="287418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기존 서비스 + 추가개입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80027" y="4190085"/>
            <a:ext cx="23516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85.7%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1636" y="4190085"/>
            <a:ext cx="287418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기존 서비스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05823" y="4190085"/>
            <a:ext cx="23516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83.9%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830165"/>
            <a:ext cx="10725912" cy="26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두 집단 사이에 통계적으로 유의한 차이는 확인되지 않았다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086197"/>
            <a:ext cx="10725912" cy="26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8A6D10"/>
                </a:solidFill>
                <a:latin typeface="Pretendard"/>
                <a:ea typeface="Pretendard"/>
                <a:cs typeface="Pretendard"/>
              </a:rPr>
              <a:t>낮은 완수율이 추가효과 미확인의 원인인지는 이 수치만으로 확정할 수 없다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26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20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공론화와 세 정책대안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0" y="384048"/>
            <a:ext cx="5422392" cy="225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다음 → 공론화 논의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7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2026 「촉법소년 연령 기준」 공론화 — 숙의 전후, 무엇이 달라졌나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5912" cy="5486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54864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17320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숙의 뒤에는 예방지원의 중요성에 대한 인식과 제도 지식은 높아지고, 촉법소년 범죄가 과거보다 중대해졌다는 인식은 낮아졌다</a:t>
            </a:r>
          </a:p>
        </p:txBody>
      </p:sp>
      <p:sp>
        <p:nvSpPr>
          <p:cNvPr id="9" name="HBAR"/>
          <p:cNvSpPr/>
          <p:nvPr/>
        </p:nvSpPr>
        <p:spPr>
          <a:xfrm>
            <a:off x="731520" y="2258568"/>
            <a:ext cx="3392424" cy="45720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95728"/>
            <a:ext cx="3392424" cy="288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예방지원 우선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15768"/>
            <a:ext cx="339242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3.7점</a:t>
            </a:r>
            <a:r>
              <a:rPr sz="2000" b="1">
                <a:solidFill>
                  <a:srgbClr val="C2A648"/>
                </a:solidFill>
                <a:latin typeface="Pretendard"/>
                <a:ea typeface="Pretendard"/>
                <a:cs typeface="Pretendard"/>
              </a:rPr>
              <a:t>  →  </a:t>
            </a:r>
            <a:r>
              <a:rPr sz="30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4.2점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55848"/>
            <a:ext cx="3392424" cy="252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처벌보다 범죄예방 지원책이 우선되어야 한다는 인식</a:t>
            </a:r>
          </a:p>
        </p:txBody>
      </p:sp>
      <p:sp>
        <p:nvSpPr>
          <p:cNvPr id="13" name="HBAR"/>
          <p:cNvSpPr/>
          <p:nvPr/>
        </p:nvSpPr>
        <p:spPr>
          <a:xfrm>
            <a:off x="4398264" y="2258568"/>
            <a:ext cx="3392424" cy="45720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8264" y="2395728"/>
            <a:ext cx="3392424" cy="288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중대범죄 증가 인식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8264" y="2715768"/>
            <a:ext cx="339242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4.2점</a:t>
            </a:r>
            <a:r>
              <a:rPr sz="2000" b="1">
                <a:solidFill>
                  <a:srgbClr val="C2A648"/>
                </a:solidFill>
                <a:latin typeface="Pretendard"/>
                <a:ea typeface="Pretendard"/>
                <a:cs typeface="Pretendard"/>
              </a:rPr>
              <a:t>  →  </a:t>
            </a:r>
            <a:r>
              <a:rPr sz="30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3.9점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98264" y="3355848"/>
            <a:ext cx="3392424" cy="252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과거보다 촉법소년이 중대한 범죄를 저지른다는 인식</a:t>
            </a:r>
          </a:p>
        </p:txBody>
      </p:sp>
      <p:sp>
        <p:nvSpPr>
          <p:cNvPr id="17" name="HBAR"/>
          <p:cNvSpPr/>
          <p:nvPr/>
        </p:nvSpPr>
        <p:spPr>
          <a:xfrm>
            <a:off x="8065008" y="2258568"/>
            <a:ext cx="3392424" cy="45720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65008" y="2395728"/>
            <a:ext cx="3392424" cy="288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제도 지식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65008" y="2715768"/>
            <a:ext cx="339242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5.5점</a:t>
            </a:r>
            <a:r>
              <a:rPr sz="2000" b="1">
                <a:solidFill>
                  <a:srgbClr val="C2A648"/>
                </a:solidFill>
                <a:latin typeface="Pretendard"/>
                <a:ea typeface="Pretendard"/>
                <a:cs typeface="Pretendard"/>
              </a:rPr>
              <a:t>  →  </a:t>
            </a:r>
            <a:r>
              <a:rPr sz="30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6.3점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5008" y="3355848"/>
            <a:ext cx="3392424" cy="252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형사미성년자·소년보호절차 관련 지식 7문항 평균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681374"/>
            <a:ext cx="10725912" cy="234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같은 문항을 숙의 전과 후에 반복 측정한 결과 · 점수가 높을수록 해당 인식이 강함</a:t>
            </a:r>
          </a:p>
        </p:txBody>
      </p:sp>
      <p:cxnSp>
        <p:nvCxnSpPr>
          <p:cNvPr id="22" name="HRULE"/>
          <p:cNvCxnSpPr/>
          <p:nvPr/>
        </p:nvCxnSpPr>
        <p:spPr>
          <a:xfrm>
            <a:off x="731520" y="4028846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868680" y="4005986"/>
            <a:ext cx="1965960" cy="1057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자료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399940"/>
            <a:ext cx="8302752" cy="297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시민참여단 212명의 숙의 전·후 조사에서 공개된 인식·지식 변화다.</a:t>
            </a:r>
          </a:p>
        </p:txBody>
      </p:sp>
      <p:cxnSp>
        <p:nvCxnSpPr>
          <p:cNvPr id="25" name="HRULE"/>
          <p:cNvCxnSpPr/>
          <p:nvPr/>
        </p:nvCxnSpPr>
        <p:spPr>
          <a:xfrm>
            <a:off x="731520" y="5086807"/>
            <a:ext cx="10725912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868680" y="5063947"/>
            <a:ext cx="1965960" cy="1057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결론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80" y="5307406"/>
            <a:ext cx="8302752" cy="598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4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숙의 후 예방지원 점수는 높아졌고, 촉법소년 범죄가 과거보다 중대해졌다는 인식 점수는 낮아졌다.</a:t>
            </a:r>
          </a:p>
          <a:p>
            <a:pPr algn="l">
              <a:lnSpc>
                <a:spcPct val="118000"/>
              </a:lnSpc>
            </a:pPr>
            <a:r>
              <a:rPr sz="1250" b="0">
                <a:solidFill>
                  <a:srgbClr val="8A6D10"/>
                </a:solidFill>
                <a:latin typeface="Pretendard"/>
                <a:ea typeface="Pretendard"/>
                <a:cs typeface="Pretendard"/>
              </a:rPr>
              <a:t>공개된 집단 평균의 전후 변화이며, 개인별 정책 선택의 이동이나 숙의만의 인과효과를 보여주는 것은 아니다.</a:t>
            </a:r>
          </a:p>
        </p:txBody>
      </p:sp>
      <p:cxnSp>
        <p:nvCxnSpPr>
          <p:cNvPr id="28" name="HRULE"/>
          <p:cNvCxnSpPr/>
          <p:nvPr/>
        </p:nvCxnSpPr>
        <p:spPr>
          <a:xfrm>
            <a:off x="731520" y="6144768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731520" y="6419088"/>
            <a:ext cx="10725912" cy="225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성평등가족부(2026.7.14.) 공론화 결과 발표 · 시민참여단 숙의 전후 조사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26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20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헌법재판소의 판단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0" y="384048"/>
            <a:ext cx="5422392" cy="225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다음 → 1996년 판단에 붙은 조건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7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1996년 결정 — 사형제의 합헌성 판단</a:t>
            </a:r>
            <a:r>
              <a:rPr sz="2750" b="0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 (95헌바1)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5912" cy="80467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54864" cy="80467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17320"/>
            <a:ext cx="1024128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1심 사형선고 → 2심 사형선고 → 상고 중 제청신청 → 기각 → 헌법소원</a:t>
            </a:r>
          </a:p>
          <a:p>
            <a:pPr algn="l">
              <a:lnSpc>
                <a:spcPct val="118000"/>
              </a:lnSpc>
            </a:pPr>
            <a:r>
              <a:rPr sz="120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— 사형제 합헌성에 관한 최초 판단</a:t>
            </a:r>
          </a:p>
        </p:txBody>
      </p:sp>
      <p:cxnSp>
        <p:nvCxnSpPr>
          <p:cNvPr id="9" name="HRULE"/>
          <p:cNvCxnSpPr/>
          <p:nvPr/>
        </p:nvCxnSpPr>
        <p:spPr>
          <a:xfrm>
            <a:off x="731520" y="5245608"/>
            <a:ext cx="10725912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731520" y="5396484"/>
            <a:ext cx="8567928" cy="57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합헌은 사형을 반드시 유지해야 한다는 명령이 아니다. 다수의견은 사형을 예외적으로 적용해야 하며, 사회적 조건이 달라지면 사형을 폐지해야 할 가능성도 언급했다.</a:t>
            </a:r>
          </a:p>
        </p:txBody>
      </p:sp>
      <p:cxnSp>
        <p:nvCxnSpPr>
          <p:cNvPr id="11" name="HRULE"/>
          <p:cNvCxnSpPr/>
          <p:nvPr/>
        </p:nvCxnSpPr>
        <p:spPr>
          <a:xfrm>
            <a:off x="731520" y="6144768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  <p:sp>
        <p:nvSpPr>
          <p:cNvPr id="12" name="HBAR"/>
          <p:cNvSpPr/>
          <p:nvPr/>
        </p:nvSpPr>
        <p:spPr>
          <a:xfrm>
            <a:off x="731520" y="2478024"/>
            <a:ext cx="5175504" cy="45720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651760"/>
            <a:ext cx="146304" cy="146304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0976" y="2651760"/>
            <a:ext cx="146304" cy="146304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0432" y="2651760"/>
            <a:ext cx="146304" cy="146304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89888" y="2651760"/>
            <a:ext cx="146304" cy="146304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609344" y="2651760"/>
            <a:ext cx="146304" cy="146304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28800" y="2651760"/>
            <a:ext cx="146304" cy="146304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48256" y="2651760"/>
            <a:ext cx="146304" cy="146304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59152" y="2596896"/>
            <a:ext cx="3547872" cy="288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다수의견 (합헌 7인)</a:t>
            </a:r>
          </a:p>
        </p:txBody>
      </p:sp>
      <p:sp>
        <p:nvSpPr>
          <p:cNvPr id="21" name="HBAR"/>
          <p:cNvSpPr/>
          <p:nvPr/>
        </p:nvSpPr>
        <p:spPr>
          <a:xfrm>
            <a:off x="6281928" y="2478024"/>
            <a:ext cx="5175504" cy="45720"/>
          </a:xfrm>
          <a:prstGeom prst="rect">
            <a:avLst/>
          </a:prstGeom>
          <a:solidFill>
            <a:srgbClr val="C2A6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1928" y="2651760"/>
            <a:ext cx="146304" cy="146304"/>
          </a:xfrm>
          <a:prstGeom prst="rect">
            <a:avLst/>
          </a:prstGeom>
          <a:solidFill>
            <a:srgbClr val="C2A6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01384" y="2651760"/>
            <a:ext cx="146304" cy="146304"/>
          </a:xfrm>
          <a:prstGeom prst="rect">
            <a:avLst/>
          </a:prstGeom>
          <a:solidFill>
            <a:srgbClr val="C2A6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2280" y="2596896"/>
            <a:ext cx="4645152" cy="288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반대의견 (위헌 2인)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050159"/>
            <a:ext cx="5175504" cy="521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생명권도 헌법 제37조 제2항에 따른 제한의 대상이 될 수 있다고 보았다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1928" y="3050159"/>
            <a:ext cx="5175504" cy="521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사형은 인간의 존엄과 가치에 반하며, 개선될 수 있는 사람을 사회방위의 수단으로 삼아 그 가능성을 박탈한다</a:t>
            </a:r>
          </a:p>
        </p:txBody>
      </p:sp>
      <p:cxnSp>
        <p:nvCxnSpPr>
          <p:cNvPr id="27" name="HRULE"/>
          <p:cNvCxnSpPr/>
          <p:nvPr/>
        </p:nvCxnSpPr>
        <p:spPr>
          <a:xfrm>
            <a:off x="731520" y="3687064"/>
            <a:ext cx="5175504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cxnSp>
        <p:nvCxnSpPr>
          <p:cNvPr id="28" name="HRULE"/>
          <p:cNvCxnSpPr/>
          <p:nvPr/>
        </p:nvCxnSpPr>
        <p:spPr>
          <a:xfrm>
            <a:off x="6281928" y="3687064"/>
            <a:ext cx="5175504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731520" y="3783711"/>
            <a:ext cx="5175504" cy="521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헌법 제110조 제4항 단서는 사형제도의 존재를 간접적으로 전제한다고 보았다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1928" y="3783711"/>
            <a:ext cx="5175504" cy="521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생명 박탈은 기본권의 본질적 내용을 침해한다. 응보·일반예방·사회방위도 사형을 정당화할 충분한 근거가 되지 못한다</a:t>
            </a:r>
          </a:p>
        </p:txBody>
      </p:sp>
      <p:cxnSp>
        <p:nvCxnSpPr>
          <p:cNvPr id="31" name="HRULE"/>
          <p:cNvCxnSpPr/>
          <p:nvPr/>
        </p:nvCxnSpPr>
        <p:spPr>
          <a:xfrm>
            <a:off x="731520" y="4420616"/>
            <a:ext cx="5175504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cxnSp>
        <p:nvCxnSpPr>
          <p:cNvPr id="32" name="HRULE"/>
          <p:cNvCxnSpPr/>
          <p:nvPr/>
        </p:nvCxnSpPr>
        <p:spPr>
          <a:xfrm>
            <a:off x="6281928" y="4420616"/>
            <a:ext cx="5175504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33" name="TextBox 32"/>
          <p:cNvSpPr txBox="1"/>
          <p:nvPr/>
        </p:nvSpPr>
        <p:spPr>
          <a:xfrm>
            <a:off x="731520" y="4517263"/>
            <a:ext cx="5175504" cy="521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극히 한정적으로 적용되는 사형은 당시에도 형벌로서 기능을 하고 있어 합헌이라고 판단했다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1928" y="4517263"/>
            <a:ext cx="5175504" cy="521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반대의견에서는 무기징역을 통한 대체 가능성, 오판의 회복 불가능성, 사형의 추가적 억제효과를 입증하기 어렵다는 점도 문제 삼았다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26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20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5. 치료·재활의 실행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0" y="384048"/>
            <a:ext cx="5422392" cy="225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다음 → 물질 재사용과 참여의무 불이행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7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미국 소년약물치료법원 — 치료 필요와 감독 필요에 따른 선정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5912" cy="5486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54864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17320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국내 수강명령·의료위탁·보호관찰의 대상 판단과 연결하여, 치료 필요성과 집중적인 감독 필요성을 각각 살펴본다</a:t>
            </a:r>
          </a:p>
        </p:txBody>
      </p:sp>
      <p:cxnSp>
        <p:nvCxnSpPr>
          <p:cNvPr id="8" name="HRULE"/>
          <p:cNvCxnSpPr/>
          <p:nvPr/>
        </p:nvCxnSpPr>
        <p:spPr>
          <a:xfrm>
            <a:off x="731520" y="2057400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  <p:cxnSp>
        <p:nvCxnSpPr>
          <p:cNvPr id="9" name="HRULE"/>
          <p:cNvCxnSpPr/>
          <p:nvPr/>
        </p:nvCxnSpPr>
        <p:spPr>
          <a:xfrm>
            <a:off x="731520" y="5527243"/>
            <a:ext cx="10725912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731520" y="5678119"/>
            <a:ext cx="10725912" cy="297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소년약물치료법원은 재범위험이 중간 이상인 청소년에게 치료와 감독을 결합한다</a:t>
            </a:r>
          </a:p>
        </p:txBody>
      </p:sp>
      <p:cxnSp>
        <p:nvCxnSpPr>
          <p:cNvPr id="11" name="HRULE"/>
          <p:cNvCxnSpPr/>
          <p:nvPr/>
        </p:nvCxnSpPr>
        <p:spPr>
          <a:xfrm>
            <a:off x="731520" y="6144768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31520" y="2185416"/>
            <a:ext cx="10725912" cy="252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소년약물치료법원(JDTC)   </a:t>
            </a:r>
            <a:r>
              <a:rPr sz="120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약물 문제로 소년법원에 들어온 청소년에게 전문적인 치료와 서비스를 제공하는 전담 사건처리 절차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465222"/>
            <a:ext cx="10725912" cy="252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물질사용장애(SUD)   </a:t>
            </a:r>
            <a:r>
              <a:rPr sz="120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해로운 결과에도 물질사용을 조절하기 어렵고, 일상생활에 지장이 나타나는 상태다. 사용 여부만이 아닌 의료전문가가 증상과 생활에 미치는 영향을 평가한다</a:t>
            </a:r>
          </a:p>
        </p:txBody>
      </p:sp>
      <p:sp>
        <p:nvSpPr>
          <p:cNvPr id="14" name="HBAR"/>
          <p:cNvSpPr/>
          <p:nvPr/>
        </p:nvSpPr>
        <p:spPr>
          <a:xfrm>
            <a:off x="731520" y="2891332"/>
            <a:ext cx="3307080" cy="45720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019348"/>
            <a:ext cx="3307080" cy="26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연령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11956"/>
            <a:ext cx="2612135" cy="9316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6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원칙적으로 14세 이상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14세 미만은 발달수준·위험·프로그램 적합성을 개별 검토한다</a:t>
            </a:r>
          </a:p>
        </p:txBody>
      </p:sp>
      <p:sp>
        <p:nvSpPr>
          <p:cNvPr id="17" name="HBAR"/>
          <p:cNvSpPr/>
          <p:nvPr/>
        </p:nvSpPr>
        <p:spPr>
          <a:xfrm>
            <a:off x="4440936" y="2891332"/>
            <a:ext cx="3307080" cy="45720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40936" y="3019348"/>
            <a:ext cx="3307080" cy="26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치료 필요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0936" y="3311956"/>
            <a:ext cx="3307080" cy="6801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6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물질사용장애가 있는 청소년</a:t>
            </a:r>
          </a:p>
          <a:p>
            <a:pPr algn="l">
              <a:lnSpc>
                <a:spcPct val="118000"/>
              </a:lnSpc>
            </a:pPr>
            <a:r>
              <a:rPr sz="1250" b="0" spc="-6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검증된 선별도구와 전문가 평가로 진단 여부를 확인한다</a:t>
            </a:r>
          </a:p>
        </p:txBody>
      </p:sp>
      <p:sp>
        <p:nvSpPr>
          <p:cNvPr id="20" name="HBAR"/>
          <p:cNvSpPr/>
          <p:nvPr/>
        </p:nvSpPr>
        <p:spPr>
          <a:xfrm>
            <a:off x="8150352" y="2891332"/>
            <a:ext cx="3307080" cy="45720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50352" y="3019348"/>
            <a:ext cx="3307080" cy="26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감독 필요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0352" y="3311956"/>
            <a:ext cx="3307080" cy="9557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6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재범위험이 중간~높은 청소년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검증된 도구로 다시 범죄할 가능성을 평가한다</a:t>
            </a:r>
          </a:p>
          <a:p>
            <a:pPr algn="l">
              <a:lnSpc>
                <a:spcPct val="118000"/>
              </a:lnSpc>
            </a:pPr>
            <a:r>
              <a:rPr sz="12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약물 재사용 가능성만을 뜻하지 않는다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354575"/>
            <a:ext cx="1965960" cy="11498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다른 경로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794453"/>
            <a:ext cx="8302752" cy="297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물질사용장애가 없거나 재범위험이 낮은 청소년은 지역사회 서비스 등 다른 경로를 검토한다</a:t>
            </a:r>
          </a:p>
        </p:txBody>
      </p:sp>
      <p:cxnSp>
        <p:nvCxnSpPr>
          <p:cNvPr id="25" name="HRULE"/>
          <p:cNvCxnSpPr/>
          <p:nvPr/>
        </p:nvCxnSpPr>
        <p:spPr>
          <a:xfrm>
            <a:off x="731520" y="4377436"/>
            <a:ext cx="10725912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26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20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주요 논거와 최종 판단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0" y="384048"/>
            <a:ext cx="5422392" cy="225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다음 → 쟁점 ① 청소년의 사용행위에 책임을 묻는 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7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치료·재활 우선을 판단할 쟁점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5912" cy="5486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54864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17320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마약류를 투약·사용한 청소년에게 형사처벌보다 치료·재활을 우선해야 하는지, 다음 여섯 가지 쟁점을 살펴본다</a:t>
            </a:r>
          </a:p>
        </p:txBody>
      </p:sp>
      <p:cxnSp>
        <p:nvCxnSpPr>
          <p:cNvPr id="8" name="HRULE"/>
          <p:cNvCxnSpPr/>
          <p:nvPr/>
        </p:nvCxnSpPr>
        <p:spPr>
          <a:xfrm>
            <a:off x="731520" y="2057400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  <p:sp>
        <p:nvSpPr>
          <p:cNvPr id="9" name="Oval 8"/>
          <p:cNvSpPr/>
          <p:nvPr/>
        </p:nvSpPr>
        <p:spPr>
          <a:xfrm>
            <a:off x="749808" y="2251710"/>
            <a:ext cx="292608" cy="29260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25171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244623"/>
            <a:ext cx="2743200" cy="2884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책임을 묻는 방식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244623"/>
            <a:ext cx="7022592" cy="2884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청소년의 사용행위에 치료·재활 참여를 먼저 요구하는 것이 적절한가?</a:t>
            </a:r>
          </a:p>
        </p:txBody>
      </p:sp>
      <p:cxnSp>
        <p:nvCxnSpPr>
          <p:cNvPr id="13" name="HRULE"/>
          <p:cNvCxnSpPr/>
          <p:nvPr/>
        </p:nvCxnSpPr>
        <p:spPr>
          <a:xfrm>
            <a:off x="731520" y="2738628"/>
            <a:ext cx="10725912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14" name="Oval 13"/>
          <p:cNvSpPr/>
          <p:nvPr/>
        </p:nvSpPr>
        <p:spPr>
          <a:xfrm>
            <a:off x="749808" y="2932938"/>
            <a:ext cx="292608" cy="29260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93293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925851"/>
            <a:ext cx="2743200" cy="2884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재사용·재범 감소 — 특별예방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925851"/>
            <a:ext cx="7022592" cy="2884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이미 사용한 청소년의 재사용·재범을 줄이는 데 치료를 우선할 근거가 있는가?</a:t>
            </a:r>
          </a:p>
        </p:txBody>
      </p:sp>
      <p:cxnSp>
        <p:nvCxnSpPr>
          <p:cNvPr id="18" name="HRULE"/>
          <p:cNvCxnSpPr/>
          <p:nvPr/>
        </p:nvCxnSpPr>
        <p:spPr>
          <a:xfrm>
            <a:off x="731520" y="3419856"/>
            <a:ext cx="10725912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19" name="Oval 18"/>
          <p:cNvSpPr/>
          <p:nvPr/>
        </p:nvSpPr>
        <p:spPr>
          <a:xfrm>
            <a:off x="749808" y="3614165"/>
            <a:ext cx="292608" cy="29260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614165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607079"/>
            <a:ext cx="2743200" cy="2884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다른 청소년의 사용 억제 — 일반예방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607079"/>
            <a:ext cx="7022592" cy="2884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치료를 우선해 형사처벌 가능성이 낮아지면, 다른 청소년의 사용이 늘어날 것인가?</a:t>
            </a:r>
          </a:p>
        </p:txBody>
      </p:sp>
      <p:cxnSp>
        <p:nvCxnSpPr>
          <p:cNvPr id="23" name="HRULE"/>
          <p:cNvCxnSpPr/>
          <p:nvPr/>
        </p:nvCxnSpPr>
        <p:spPr>
          <a:xfrm>
            <a:off x="731520" y="4101084"/>
            <a:ext cx="10725912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24" name="Oval 23"/>
          <p:cNvSpPr/>
          <p:nvPr/>
        </p:nvSpPr>
        <p:spPr>
          <a:xfrm>
            <a:off x="749808" y="4295394"/>
            <a:ext cx="292608" cy="29260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29539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288307"/>
            <a:ext cx="2743200" cy="2884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학교생활·사회복귀와 자유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288307"/>
            <a:ext cx="7022592" cy="2884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치료를 우선하면 학업 중단과 자유 제한 등 청소년이 겪는 불이익을 줄일 수 있는가?</a:t>
            </a:r>
          </a:p>
        </p:txBody>
      </p:sp>
      <p:cxnSp>
        <p:nvCxnSpPr>
          <p:cNvPr id="28" name="HRULE"/>
          <p:cNvCxnSpPr/>
          <p:nvPr/>
        </p:nvCxnSpPr>
        <p:spPr>
          <a:xfrm>
            <a:off x="731520" y="4782312"/>
            <a:ext cx="10725912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749808" y="4976622"/>
            <a:ext cx="292608" cy="29260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497662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4969535"/>
            <a:ext cx="2743200" cy="2884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치료 제공과 지속 여건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4969535"/>
            <a:ext cx="7022592" cy="2884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필요한 치료를 실제로 제공하고, 청소년이 계속 참여하도록 지원할 수 있는가?</a:t>
            </a:r>
          </a:p>
        </p:txBody>
      </p:sp>
      <p:cxnSp>
        <p:nvCxnSpPr>
          <p:cNvPr id="33" name="HRULE"/>
          <p:cNvCxnSpPr/>
          <p:nvPr/>
        </p:nvCxnSpPr>
        <p:spPr>
          <a:xfrm>
            <a:off x="731520" y="5463540"/>
            <a:ext cx="10725912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34" name="Oval 33"/>
          <p:cNvSpPr/>
          <p:nvPr/>
        </p:nvSpPr>
        <p:spPr>
          <a:xfrm>
            <a:off x="749808" y="5657850"/>
            <a:ext cx="292608" cy="29260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" y="565785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34440" y="5650763"/>
            <a:ext cx="2743200" cy="2884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불참·반복 위반에 대한 대응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4840" y="5650763"/>
            <a:ext cx="7022592" cy="2884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spc="-3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치료에 계속 불참하거나 의무를 중대하게 위반할 때, 치료를 조정하거나 적절한 제재를 적용할 수 있는가?</a:t>
            </a:r>
          </a:p>
        </p:txBody>
      </p:sp>
      <p:cxnSp>
        <p:nvCxnSpPr>
          <p:cNvPr id="38" name="HRULE"/>
          <p:cNvCxnSpPr/>
          <p:nvPr/>
        </p:nvCxnSpPr>
        <p:spPr>
          <a:xfrm>
            <a:off x="731520" y="6144768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26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20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주요 논거와 최종 판단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0" y="384048"/>
            <a:ext cx="5422392" cy="225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다음 → 재사용·재범을 줄이는 방법 — 특별예방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7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쟁점 ① 청소년의 사용행위에 책임을 묻는 방식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5912" cy="5486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54864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17320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청소년의 판단 특성을 고려할 때, 사용행위에 대한 형사처벌보다 치료·재활을 먼저 요구하는 것이 적절한지가 쟁점이다</a:t>
            </a:r>
          </a:p>
        </p:txBody>
      </p:sp>
      <p:cxnSp>
        <p:nvCxnSpPr>
          <p:cNvPr id="8" name="HRULE"/>
          <p:cNvCxnSpPr/>
          <p:nvPr/>
        </p:nvCxnSpPr>
        <p:spPr>
          <a:xfrm>
            <a:off x="731520" y="2057400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  <p:cxnSp>
        <p:nvCxnSpPr>
          <p:cNvPr id="9" name="HRULE"/>
          <p:cNvCxnSpPr/>
          <p:nvPr/>
        </p:nvCxnSpPr>
        <p:spPr>
          <a:xfrm>
            <a:off x="731520" y="5527243"/>
            <a:ext cx="10725912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731520" y="5678119"/>
            <a:ext cx="10725912" cy="297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청소년의 미숙함을 형사처벌을 줄이는 이유로 볼지, 치료·재활을 먼저 요구할 이유로 볼지에 따라 판단이 달라질 수 있다.</a:t>
            </a:r>
          </a:p>
        </p:txBody>
      </p:sp>
      <p:cxnSp>
        <p:nvCxnSpPr>
          <p:cNvPr id="11" name="HRULE"/>
          <p:cNvCxnSpPr/>
          <p:nvPr/>
        </p:nvCxnSpPr>
        <p:spPr>
          <a:xfrm>
            <a:off x="731520" y="6144768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  <p:sp>
        <p:nvSpPr>
          <p:cNvPr id="12" name="Rectangle 11"/>
          <p:cNvSpPr/>
          <p:nvPr/>
        </p:nvSpPr>
        <p:spPr>
          <a:xfrm>
            <a:off x="2286000" y="2240280"/>
            <a:ext cx="4494276" cy="384048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7440" y="2221992"/>
            <a:ext cx="431139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치료·재활을 형사처벌보다 우선해야 한다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63156" y="2240280"/>
            <a:ext cx="4494276" cy="384048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4596" y="2221992"/>
            <a:ext cx="431139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치료·재활을 형사처벌보다 우선해야 한다고 볼 수 없다</a:t>
            </a:r>
          </a:p>
        </p:txBody>
      </p:sp>
      <p:cxnSp>
        <p:nvCxnSpPr>
          <p:cNvPr id="16" name="HRULE"/>
          <p:cNvCxnSpPr/>
          <p:nvPr/>
        </p:nvCxnSpPr>
        <p:spPr>
          <a:xfrm>
            <a:off x="731520" y="2642616"/>
            <a:ext cx="10725912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731520" y="2619756"/>
            <a:ext cx="1417320" cy="120037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주장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2642616"/>
            <a:ext cx="4219956" cy="120037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또래의 영향을 받기 쉬운 청소년에게는, 형사처벌보다 사용행동을 바꾸는 치료·재활 참여를 먼저 요구해야 한다.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0316" y="2642616"/>
            <a:ext cx="4219956" cy="120037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치료가 필요하더라도 위법한 사용행위에는 그 책임에 맞는 형사처벌이 필요하므로, 치료를 우선하는 원칙에는 동의하기 어렵다.</a:t>
            </a:r>
          </a:p>
        </p:txBody>
      </p:sp>
      <p:cxnSp>
        <p:nvCxnSpPr>
          <p:cNvPr id="20" name="HRULE"/>
          <p:cNvCxnSpPr/>
          <p:nvPr/>
        </p:nvCxnSpPr>
        <p:spPr>
          <a:xfrm>
            <a:off x="731520" y="3842994"/>
            <a:ext cx="10725912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731520" y="3820134"/>
            <a:ext cx="1417320" cy="16385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근거·이유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3160" y="3842994"/>
            <a:ext cx="4219956" cy="16385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운전 실험에서 청소년은 또래가 지켜볼 때 위험한 선택이 늘었다(Chein 외, 2011). 또래의 영향으로 판단이 흔들릴 수 있다는 점을 책임에 대한 대응에도 반영해야 한다. 청소년에게는 권유를 거절하고 위험한 상황에 대처하는 법을 배울 기회를 먼저 주는 것이 적절하다.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00316" y="3842994"/>
            <a:ext cx="4219956" cy="16385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치료는 앞으로의 사용을 줄이기 위한 것이지만, 형사처벌은 이미 저지른 위법행위에 책임을 묻는다. 청소년의 미숙함을 처벌의 정도에 반영하더라도, 치료 참여만으로 그 행위에 대한 책임까지 충분히 물었다고 보기는 어렵다.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6400800" cy="26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20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WEEK 4 · 지정토론(1)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0" y="384048"/>
            <a:ext cx="5422392" cy="225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다음 → 논제의 범위 — 청소년의 위법한 투약·사용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7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오늘 볼 것</a:t>
            </a:r>
          </a:p>
        </p:txBody>
      </p:sp>
      <p:cxnSp>
        <p:nvCxnSpPr>
          <p:cNvPr id="5" name="HRULE"/>
          <p:cNvCxnSpPr/>
          <p:nvPr/>
        </p:nvCxnSpPr>
        <p:spPr>
          <a:xfrm>
            <a:off x="731520" y="1389888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731520" y="1389888"/>
            <a:ext cx="548640" cy="679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C2A648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389888"/>
            <a:ext cx="4023360" cy="679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청소년 마약류 사용과 현행 대응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1389888"/>
            <a:ext cx="6199632" cy="679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논제의 범위 · 연령과 처리 경로 · 치료와 재활 제도</a:t>
            </a:r>
          </a:p>
        </p:txBody>
      </p:sp>
      <p:cxnSp>
        <p:nvCxnSpPr>
          <p:cNvPr id="9" name="HRULE"/>
          <p:cNvCxnSpPr/>
          <p:nvPr/>
        </p:nvCxnSpPr>
        <p:spPr>
          <a:xfrm>
            <a:off x="731520" y="2069156"/>
            <a:ext cx="10725912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731520" y="2069156"/>
            <a:ext cx="548640" cy="679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C2A648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069156"/>
            <a:ext cx="4023360" cy="679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청소년 마약류의 실태와 사용 맥락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2069156"/>
            <a:ext cx="6199632" cy="679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단속 추이 · 주변 관계 · 사용과 판매의 중첩 · 도움 요청</a:t>
            </a:r>
          </a:p>
        </p:txBody>
      </p:sp>
      <p:cxnSp>
        <p:nvCxnSpPr>
          <p:cNvPr id="13" name="HRULE"/>
          <p:cNvCxnSpPr/>
          <p:nvPr/>
        </p:nvCxnSpPr>
        <p:spPr>
          <a:xfrm>
            <a:off x="731520" y="2748425"/>
            <a:ext cx="10725912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731520" y="2748425"/>
            <a:ext cx="548640" cy="679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C2A648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748425"/>
            <a:ext cx="4023360" cy="679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형사처벌과 보호처분의 운영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748425"/>
            <a:ext cx="6199632" cy="679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국내외 처리 통계 · 소년의 형 선고와 집행 특례</a:t>
            </a:r>
          </a:p>
        </p:txBody>
      </p:sp>
      <p:cxnSp>
        <p:nvCxnSpPr>
          <p:cNvPr id="17" name="HRULE"/>
          <p:cNvCxnSpPr/>
          <p:nvPr/>
        </p:nvCxnSpPr>
        <p:spPr>
          <a:xfrm>
            <a:off x="731520" y="3427693"/>
            <a:ext cx="10725912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731520" y="3427693"/>
            <a:ext cx="548640" cy="679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C2A648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427693"/>
            <a:ext cx="4023360" cy="679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청소년의 특성과 처우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3427693"/>
            <a:ext cx="6199632" cy="679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발달 · 또래와 가족 · 장기 경과 · 치료활동</a:t>
            </a:r>
          </a:p>
        </p:txBody>
      </p:sp>
      <p:cxnSp>
        <p:nvCxnSpPr>
          <p:cNvPr id="21" name="HRULE"/>
          <p:cNvCxnSpPr/>
          <p:nvPr/>
        </p:nvCxnSpPr>
        <p:spPr>
          <a:xfrm>
            <a:off x="731520" y="4106962"/>
            <a:ext cx="10725912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731520" y="4106962"/>
            <a:ext cx="548640" cy="679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C2A648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106962"/>
            <a:ext cx="4023360" cy="679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치료·재활 우선의 조건과 한계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4106962"/>
            <a:ext cx="6199632" cy="679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대상 선정 · 의무 위반 · 프로그램 · 치료 여건과 지속 지원</a:t>
            </a:r>
          </a:p>
        </p:txBody>
      </p:sp>
      <p:cxnSp>
        <p:nvCxnSpPr>
          <p:cNvPr id="25" name="HRULE"/>
          <p:cNvCxnSpPr/>
          <p:nvPr/>
        </p:nvCxnSpPr>
        <p:spPr>
          <a:xfrm>
            <a:off x="731520" y="4786230"/>
            <a:ext cx="10725912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731520" y="4786230"/>
            <a:ext cx="548640" cy="679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C2A648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786230"/>
            <a:ext cx="4023360" cy="679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형사처벌과 치료·재활의 효과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4786230"/>
            <a:ext cx="6199632" cy="679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물질사용 · 특별예방과 일반예방 · 교육과 성인기 결과</a:t>
            </a:r>
          </a:p>
        </p:txBody>
      </p:sp>
      <p:cxnSp>
        <p:nvCxnSpPr>
          <p:cNvPr id="29" name="HRULE"/>
          <p:cNvCxnSpPr/>
          <p:nvPr/>
        </p:nvCxnSpPr>
        <p:spPr>
          <a:xfrm>
            <a:off x="731520" y="5465499"/>
            <a:ext cx="10725912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30" name="TextBox 29"/>
          <p:cNvSpPr txBox="1"/>
          <p:nvPr/>
        </p:nvSpPr>
        <p:spPr>
          <a:xfrm>
            <a:off x="731520" y="5465499"/>
            <a:ext cx="548640" cy="679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C2A648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5465499"/>
            <a:ext cx="4023360" cy="679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주요 논거와 최종 판단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57800" y="5465499"/>
            <a:ext cx="6199632" cy="679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적용 단계 · 정책방향 · 쟁점별 주장과 근거 · 최종 판단</a:t>
            </a:r>
          </a:p>
        </p:txBody>
      </p:sp>
      <p:cxnSp>
        <p:nvCxnSpPr>
          <p:cNvPr id="33" name="HRULE"/>
          <p:cNvCxnSpPr/>
          <p:nvPr/>
        </p:nvCxnSpPr>
        <p:spPr>
          <a:xfrm>
            <a:off x="731520" y="6144768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26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20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청소년 마약류 사용과 현행 대응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0" y="384048"/>
            <a:ext cx="5422392" cy="225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다음 → 마약류의 뜻과 의료용 사용의 구분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7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청소년의 위법한 투약·사용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5912" cy="5486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54864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17320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이번 논제는 마약류를 위법하게 투약·사용한 청소년에게 형사처벌보다 치료·재활을 우선할 것인지를 묻는다</a:t>
            </a:r>
          </a:p>
        </p:txBody>
      </p:sp>
      <p:sp>
        <p:nvSpPr>
          <p:cNvPr id="9" name="HBAR"/>
          <p:cNvSpPr/>
          <p:nvPr/>
        </p:nvSpPr>
        <p:spPr>
          <a:xfrm>
            <a:off x="731520" y="2258568"/>
            <a:ext cx="3307080" cy="45720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86584"/>
            <a:ext cx="3307080" cy="26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대상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79192"/>
            <a:ext cx="3307080" cy="6801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6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형사책임이 가능한 14~18세 범죄소년</a:t>
            </a:r>
          </a:p>
          <a:p>
            <a:pPr algn="l">
              <a:lnSpc>
                <a:spcPct val="118000"/>
              </a:lnSpc>
            </a:pPr>
            <a:r>
              <a:rPr sz="12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소년법상 소년은 19세 미만이다</a:t>
            </a:r>
          </a:p>
        </p:txBody>
      </p:sp>
      <p:sp>
        <p:nvSpPr>
          <p:cNvPr id="12" name="HBAR"/>
          <p:cNvSpPr/>
          <p:nvPr/>
        </p:nvSpPr>
        <p:spPr>
          <a:xfrm>
            <a:off x="4440936" y="2258568"/>
            <a:ext cx="3307080" cy="45720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40936" y="2386584"/>
            <a:ext cx="3307080" cy="26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행위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0936" y="2679192"/>
            <a:ext cx="3307080" cy="6801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6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마약류의 위법한 투약·사용</a:t>
            </a:r>
          </a:p>
          <a:p>
            <a:pPr algn="l">
              <a:lnSpc>
                <a:spcPct val="118000"/>
              </a:lnSpc>
            </a:pPr>
            <a:r>
              <a:rPr sz="12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적법한 의료적 사용은 구분한다</a:t>
            </a:r>
          </a:p>
        </p:txBody>
      </p:sp>
      <p:sp>
        <p:nvSpPr>
          <p:cNvPr id="15" name="HBAR"/>
          <p:cNvSpPr/>
          <p:nvPr/>
        </p:nvSpPr>
        <p:spPr>
          <a:xfrm>
            <a:off x="8150352" y="2258568"/>
            <a:ext cx="3307080" cy="45720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0352" y="2386584"/>
            <a:ext cx="3307080" cy="26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비교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0352" y="2679192"/>
            <a:ext cx="3307080" cy="701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형사처벌과 치료·재활 중 무엇을 어느 시점에 우선할 것인가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494532"/>
            <a:ext cx="1965960" cy="875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다른 행위가 함께 있는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3797401"/>
            <a:ext cx="8302752" cy="297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판매·운반·제공 등이 함께 있으면 그 행위에 대한 책임도 별도로 살핀다</a:t>
            </a:r>
          </a:p>
        </p:txBody>
      </p:sp>
      <p:cxnSp>
        <p:nvCxnSpPr>
          <p:cNvPr id="20" name="HRULE"/>
          <p:cNvCxnSpPr/>
          <p:nvPr/>
        </p:nvCxnSpPr>
        <p:spPr>
          <a:xfrm>
            <a:off x="731520" y="4393184"/>
            <a:ext cx="10725912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868680" y="4370323"/>
            <a:ext cx="1965960" cy="875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두 판단의 구분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4522698"/>
            <a:ext cx="8302752" cy="598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4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치료가 필요한지와 형벌로 책임을 물을 수 있는지는 서로 다른 판단이다</a:t>
            </a:r>
          </a:p>
          <a:p>
            <a:pPr algn="l">
              <a:lnSpc>
                <a:spcPct val="118000"/>
              </a:lnSpc>
            </a:pPr>
            <a:r>
              <a:rPr sz="12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치료 필요성은 어떤 도움과 개입이 필요한지를, 형사책임은 위법행위에 대해 형벌로 책임을 물을 수 있는지를 묻는다</a:t>
            </a:r>
          </a:p>
        </p:txBody>
      </p:sp>
      <p:cxnSp>
        <p:nvCxnSpPr>
          <p:cNvPr id="23" name="HRULE"/>
          <p:cNvCxnSpPr/>
          <p:nvPr/>
        </p:nvCxnSpPr>
        <p:spPr>
          <a:xfrm>
            <a:off x="731520" y="5268975"/>
            <a:ext cx="10725912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868680" y="5246115"/>
            <a:ext cx="1965960" cy="875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‘우선’의 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5548985"/>
            <a:ext cx="8302752" cy="297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어떤 청소년에게 어떤 처리 경로와 처우를 먼저 적용하고, 어떤 경우에 예외를 둘 것인지를 뜻한다</a:t>
            </a:r>
          </a:p>
        </p:txBody>
      </p:sp>
      <p:cxnSp>
        <p:nvCxnSpPr>
          <p:cNvPr id="26" name="HRULE"/>
          <p:cNvCxnSpPr/>
          <p:nvPr/>
        </p:nvCxnSpPr>
        <p:spPr>
          <a:xfrm>
            <a:off x="731520" y="3517392"/>
            <a:ext cx="10725912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cxnSp>
        <p:nvCxnSpPr>
          <p:cNvPr id="27" name="HRULE"/>
          <p:cNvCxnSpPr/>
          <p:nvPr/>
        </p:nvCxnSpPr>
        <p:spPr>
          <a:xfrm>
            <a:off x="731520" y="6144768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731520" y="6419088"/>
            <a:ext cx="10725912" cy="225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14~18세는 형사책임이 가능하지만 사건에 따라 소년부 보호처분·검찰 처분·형사재판 등 처리경로가 달라진다 · 마약류관리법 제2~5조 · 형법 제9조 · 소년법 제2·4조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26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20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2. 사용 실태와 도움 요청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0" y="384048"/>
            <a:ext cx="5422392" cy="225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다음 → 사용 이후 관계망의 변화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7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투약에서 판매·유통으로 — 사용이 계속되며 역할이 확대된 사례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5912" cy="5486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54864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17320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사용을 지속하는 과정에서 약물과 돈, 공급경로를 확보하려는 행동이 추가 범죄 가담으로 이어질 수 있다</a:t>
            </a:r>
          </a:p>
        </p:txBody>
      </p:sp>
      <p:cxnSp>
        <p:nvCxnSpPr>
          <p:cNvPr id="9" name="HRULE"/>
          <p:cNvCxnSpPr/>
          <p:nvPr/>
        </p:nvCxnSpPr>
        <p:spPr>
          <a:xfrm>
            <a:off x="731520" y="5262829"/>
            <a:ext cx="10725912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731520" y="5395417"/>
            <a:ext cx="10725912" cy="598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반복 사용은 약물을 확보하는 문제를 만들고, 일부 청소년에게서는 그 과정이 새로운 범죄 가담으로 이어졌다</a:t>
            </a:r>
          </a:p>
          <a:p>
            <a:pPr algn="l">
              <a:lnSpc>
                <a:spcPct val="118000"/>
              </a:lnSpc>
            </a:pPr>
            <a:r>
              <a:rPr sz="12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사용과 판매·유통이 겹친 사건에서는 사용 문제와 다른 행위에 대한 책임을 함께 살펴야 한다</a:t>
            </a:r>
          </a:p>
        </p:txBody>
      </p:sp>
      <p:cxnSp>
        <p:nvCxnSpPr>
          <p:cNvPr id="11" name="HRULE"/>
          <p:cNvCxnSpPr/>
          <p:nvPr/>
        </p:nvCxnSpPr>
        <p:spPr>
          <a:xfrm>
            <a:off x="731520" y="6144768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  <p:sp>
        <p:nvSpPr>
          <p:cNvPr id="12" name="HBAR"/>
          <p:cNvSpPr/>
          <p:nvPr/>
        </p:nvSpPr>
        <p:spPr>
          <a:xfrm>
            <a:off x="731520" y="2240280"/>
            <a:ext cx="4761463" cy="45720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359152"/>
            <a:ext cx="4761463" cy="288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실제 상담사례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47492"/>
            <a:ext cx="4761463" cy="234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중학교 2학년 여학생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59536" y="3101340"/>
            <a:ext cx="0" cy="1207008"/>
          </a:xfrm>
          <a:prstGeom prst="line">
            <a:avLst/>
          </a:prstGeom>
          <a:ln w="19050">
            <a:solidFill>
              <a:srgbClr val="5A6699"/>
            </a:solidFill>
          </a:ln>
        </p:spPr>
      </p:cxnSp>
      <p:sp>
        <p:nvSpPr>
          <p:cNvPr id="16" name="Oval 15"/>
          <p:cNvSpPr/>
          <p:nvPr/>
        </p:nvSpPr>
        <p:spPr>
          <a:xfrm>
            <a:off x="790956" y="3037331"/>
            <a:ext cx="137160" cy="1371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3856" y="2991612"/>
            <a:ext cx="43499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이미 마약을 사용하고 있었다</a:t>
            </a:r>
          </a:p>
        </p:txBody>
      </p:sp>
      <p:sp>
        <p:nvSpPr>
          <p:cNvPr id="18" name="Oval 17"/>
          <p:cNvSpPr/>
          <p:nvPr/>
        </p:nvSpPr>
        <p:spPr>
          <a:xfrm>
            <a:off x="790956" y="3439667"/>
            <a:ext cx="137160" cy="1371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33856" y="3393948"/>
            <a:ext cx="43499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마약을 계속 구해야 하는 상황</a:t>
            </a:r>
          </a:p>
        </p:txBody>
      </p:sp>
      <p:sp>
        <p:nvSpPr>
          <p:cNvPr id="20" name="Oval 19"/>
          <p:cNvSpPr/>
          <p:nvPr/>
        </p:nvSpPr>
        <p:spPr>
          <a:xfrm>
            <a:off x="790956" y="3842003"/>
            <a:ext cx="137160" cy="13716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1E27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33856" y="3796283"/>
            <a:ext cx="43499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판매·유통에도 가담</a:t>
            </a:r>
          </a:p>
        </p:txBody>
      </p:sp>
      <p:sp>
        <p:nvSpPr>
          <p:cNvPr id="22" name="Oval 21"/>
          <p:cNvSpPr/>
          <p:nvPr/>
        </p:nvSpPr>
        <p:spPr>
          <a:xfrm>
            <a:off x="790956" y="4244340"/>
            <a:ext cx="137160" cy="1371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33856" y="4198620"/>
            <a:ext cx="43499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상담기관에서 개입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619243"/>
            <a:ext cx="4761463" cy="234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대학을위한마약중독예방재활센터(DAPCOC)가 소개한 상담사례다</a:t>
            </a:r>
          </a:p>
        </p:txBody>
      </p:sp>
      <p:sp>
        <p:nvSpPr>
          <p:cNvPr id="25" name="HBAR"/>
          <p:cNvSpPr/>
          <p:nvPr/>
        </p:nvSpPr>
        <p:spPr>
          <a:xfrm>
            <a:off x="5867887" y="2240280"/>
            <a:ext cx="5589544" cy="45720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67887" y="2359152"/>
            <a:ext cx="5589544" cy="288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약물 확보를 위한 추가 범죄 가담</a:t>
            </a:r>
          </a:p>
        </p:txBody>
      </p:sp>
      <p:sp>
        <p:nvSpPr>
          <p:cNvPr id="27" name="Oval 26"/>
          <p:cNvSpPr/>
          <p:nvPr/>
        </p:nvSpPr>
        <p:spPr>
          <a:xfrm>
            <a:off x="5867887" y="2815971"/>
            <a:ext cx="256032" cy="256032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67887" y="2815971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51935" y="2788539"/>
            <a:ext cx="5205496" cy="5682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35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약물 확보</a:t>
            </a:r>
          </a:p>
          <a:p>
            <a:pPr algn="l">
              <a:lnSpc>
                <a:spcPct val="118000"/>
              </a:lnSpc>
            </a:pPr>
            <a:r>
              <a:rPr sz="120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반복 사용이 이어지면 약물을 계속 구해야 한다</a:t>
            </a:r>
          </a:p>
        </p:txBody>
      </p:sp>
      <p:cxnSp>
        <p:nvCxnSpPr>
          <p:cNvPr id="30" name="HRULE"/>
          <p:cNvCxnSpPr/>
          <p:nvPr/>
        </p:nvCxnSpPr>
        <p:spPr>
          <a:xfrm>
            <a:off x="5867887" y="3351580"/>
            <a:ext cx="5589545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31" name="Oval 30"/>
          <p:cNvSpPr/>
          <p:nvPr/>
        </p:nvSpPr>
        <p:spPr>
          <a:xfrm>
            <a:off x="5867887" y="3410331"/>
            <a:ext cx="256032" cy="256032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67887" y="3410331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51935" y="3382899"/>
            <a:ext cx="5205496" cy="5682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35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돈·접근의 문제</a:t>
            </a:r>
          </a:p>
          <a:p>
            <a:pPr algn="l">
              <a:lnSpc>
                <a:spcPct val="118000"/>
              </a:lnSpc>
            </a:pPr>
            <a:r>
              <a:rPr sz="120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약값을 마련하거나 공급자를 계속 찾아야 한다</a:t>
            </a:r>
          </a:p>
        </p:txBody>
      </p:sp>
      <p:cxnSp>
        <p:nvCxnSpPr>
          <p:cNvPr id="34" name="HRULE"/>
          <p:cNvCxnSpPr/>
          <p:nvPr/>
        </p:nvCxnSpPr>
        <p:spPr>
          <a:xfrm>
            <a:off x="5867887" y="3945940"/>
            <a:ext cx="5589545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35" name="Oval 34"/>
          <p:cNvSpPr/>
          <p:nvPr/>
        </p:nvSpPr>
        <p:spPr>
          <a:xfrm>
            <a:off x="5867887" y="4004690"/>
            <a:ext cx="256032" cy="256032"/>
          </a:xfrm>
          <a:prstGeom prst="ellipse">
            <a:avLst/>
          </a:prstGeom>
          <a:solidFill>
            <a:srgbClr val="C2A6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67887" y="4004690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51935" y="3977259"/>
            <a:ext cx="5205496" cy="5682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350" b="1">
                <a:solidFill>
                  <a:srgbClr val="8A6D10"/>
                </a:solidFill>
                <a:latin typeface="Pretendard"/>
                <a:ea typeface="Pretendard"/>
                <a:cs typeface="Pretendard"/>
              </a:rPr>
              <a:t>범죄 역할의 확대</a:t>
            </a:r>
          </a:p>
          <a:p>
            <a:pPr algn="l">
              <a:lnSpc>
                <a:spcPct val="118000"/>
              </a:lnSpc>
            </a:pPr>
            <a:r>
              <a:rPr sz="120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판매·운반에 가담하거나 다른 범죄에 연루될 수 있다</a:t>
            </a:r>
          </a:p>
        </p:txBody>
      </p:sp>
      <p:cxnSp>
        <p:nvCxnSpPr>
          <p:cNvPr id="38" name="HRULE"/>
          <p:cNvCxnSpPr/>
          <p:nvPr/>
        </p:nvCxnSpPr>
        <p:spPr>
          <a:xfrm>
            <a:off x="5867887" y="4567732"/>
            <a:ext cx="5589545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39" name="TextBox 38"/>
          <p:cNvSpPr txBox="1"/>
          <p:nvPr/>
        </p:nvSpPr>
        <p:spPr>
          <a:xfrm>
            <a:off x="5867887" y="4631740"/>
            <a:ext cx="5589544" cy="252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다른 인터뷰에서도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67887" y="4916119"/>
            <a:ext cx="5589544" cy="2525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중2 때 투약을 시작한 A씨: 약값 마련 과정에서 보이스피싱에 연루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67887" y="5177790"/>
            <a:ext cx="5589544" cy="2525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고3 때 사용을 시작한 B씨의 지인: 판매자인 남자친구와 함께 유통에 가담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6419088"/>
            <a:ext cx="10725912" cy="225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연합뉴스, 「[10대 마약의덫] ②」(2026.9.14.)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26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20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6. 형사처벌과 치료·재활의 효과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0" y="384048"/>
            <a:ext cx="5422392" cy="225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다음 → JDTC와 일반법원의 재체포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7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소년약물치료법원(JDTC) — 법원 감독과 치료를 묶은 경로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5912" cy="5486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54864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17320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Belenko 연구는 약물사용 문제와 재범위험이 있는 14~17세 청소년을 일반 소년법원 경로와 JDTC 경로에서 비교했다</a:t>
            </a:r>
          </a:p>
        </p:txBody>
      </p:sp>
      <p:cxnSp>
        <p:nvCxnSpPr>
          <p:cNvPr id="8" name="HRULE"/>
          <p:cNvCxnSpPr/>
          <p:nvPr/>
        </p:nvCxnSpPr>
        <p:spPr>
          <a:xfrm>
            <a:off x="731520" y="2057400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  <p:cxnSp>
        <p:nvCxnSpPr>
          <p:cNvPr id="9" name="HRULE"/>
          <p:cNvCxnSpPr/>
          <p:nvPr/>
        </p:nvCxnSpPr>
        <p:spPr>
          <a:xfrm>
            <a:off x="731520" y="5262829"/>
            <a:ext cx="10725912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731520" y="5395417"/>
            <a:ext cx="10725912" cy="598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두 경로의 차이는 치료 여부보다, 치료·가족·사례관리·검사와 법적 감독을 얼마나 체계적으로 하나의 경로로 묶었는가에 있었다</a:t>
            </a:r>
          </a:p>
          <a:p>
            <a:pPr algn="l">
              <a:lnSpc>
                <a:spcPct val="118000"/>
              </a:lnSpc>
            </a:pPr>
            <a:r>
              <a:rPr sz="1250" b="0">
                <a:solidFill>
                  <a:srgbClr val="8A6D10"/>
                </a:solidFill>
                <a:latin typeface="Pretendard"/>
                <a:ea typeface="Pretendard"/>
                <a:cs typeface="Pretendard"/>
              </a:rPr>
              <a:t>결과가 가장 좋았던 무작위배정 지역의 JDTC는 지침 이행률도 86%에서 92%로 높았다</a:t>
            </a:r>
          </a:p>
        </p:txBody>
      </p:sp>
      <p:cxnSp>
        <p:nvCxnSpPr>
          <p:cNvPr id="11" name="HRULE"/>
          <p:cNvCxnSpPr/>
          <p:nvPr/>
        </p:nvCxnSpPr>
        <p:spPr>
          <a:xfrm>
            <a:off x="731520" y="6144768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31520" y="2185416"/>
            <a:ext cx="107259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8A6D10"/>
                </a:solidFill>
                <a:latin typeface="Pretendard"/>
                <a:ea typeface="Pretendard"/>
                <a:cs typeface="Pretendard"/>
              </a:rPr>
              <a:t>평가 대상   </a:t>
            </a:r>
            <a:r>
              <a:rPr sz="120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14~17세 · 약물사용 문제 · 중등도 이상 재범위험이 있는 소년사법 대상 청소년</a:t>
            </a:r>
          </a:p>
        </p:txBody>
      </p:sp>
      <p:sp>
        <p:nvSpPr>
          <p:cNvPr id="13" name="HBAR"/>
          <p:cNvSpPr/>
          <p:nvPr/>
        </p:nvSpPr>
        <p:spPr>
          <a:xfrm>
            <a:off x="731520" y="2510942"/>
            <a:ext cx="3312322" cy="45720"/>
          </a:xfrm>
          <a:prstGeom prst="rect">
            <a:avLst/>
          </a:prstGeom>
          <a:solidFill>
            <a:srgbClr val="C9CE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29814"/>
            <a:ext cx="3312322" cy="288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일반 소년법원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918155"/>
            <a:ext cx="3312322" cy="234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Traditional Juvenile Court, TJC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294278"/>
            <a:ext cx="3312322" cy="2705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일반 소년법원 절차에서 사건을 처리한다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647084"/>
            <a:ext cx="3312322" cy="521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지역사회에 이미 존재하는 약물치료·상담·서비스를 이용할 수 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51350"/>
            <a:ext cx="3312322" cy="521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일부 법원은 가족참여·사례관리 등 JDTC와 비슷한 요소도 부분적으로 운영하고 있었다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41900"/>
            <a:ext cx="3312322" cy="26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8A6D10"/>
                </a:solidFill>
                <a:latin typeface="Pretendard"/>
                <a:ea typeface="Pretendard"/>
                <a:cs typeface="Pretendard"/>
              </a:rPr>
              <a:t>치료가 없는 경로는 아니다</a:t>
            </a:r>
          </a:p>
        </p:txBody>
      </p:sp>
      <p:sp>
        <p:nvSpPr>
          <p:cNvPr id="20" name="HBAR"/>
          <p:cNvSpPr/>
          <p:nvPr/>
        </p:nvSpPr>
        <p:spPr>
          <a:xfrm>
            <a:off x="4418746" y="2510942"/>
            <a:ext cx="7038685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18746" y="2629814"/>
            <a:ext cx="7038685" cy="288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소년약물치료법원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8746" y="2918155"/>
            <a:ext cx="7038685" cy="234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Juvenile Drug Treatment Court, JDTC</a:t>
            </a:r>
          </a:p>
        </p:txBody>
      </p:sp>
      <p:sp>
        <p:nvSpPr>
          <p:cNvPr id="23" name="Oval 22"/>
          <p:cNvSpPr/>
          <p:nvPr/>
        </p:nvSpPr>
        <p:spPr>
          <a:xfrm>
            <a:off x="4418746" y="3262274"/>
            <a:ext cx="256032" cy="256032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18746" y="326227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84506" y="3243986"/>
            <a:ext cx="3016422" cy="8539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문제를 평가하고 맞춤형 치료를 연결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약물사용·재범위험·정신건강을 평가하고, 근거기반 치료와 서비스를 개인별로 연결</a:t>
            </a:r>
          </a:p>
        </p:txBody>
      </p:sp>
      <p:sp>
        <p:nvSpPr>
          <p:cNvPr id="26" name="Oval 25"/>
          <p:cNvSpPr/>
          <p:nvPr/>
        </p:nvSpPr>
        <p:spPr>
          <a:xfrm>
            <a:off x="8075249" y="3262274"/>
            <a:ext cx="256032" cy="256032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75249" y="326227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1009" y="3243986"/>
            <a:ext cx="3016422" cy="8539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가족까지 치료과정에 참여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부모·보호자가 법원과 치료과정에 참여하고 가정에서의 관리와 회복을 함께 다룸</a:t>
            </a:r>
          </a:p>
        </p:txBody>
      </p:sp>
      <p:cxnSp>
        <p:nvCxnSpPr>
          <p:cNvPr id="29" name="HRULE"/>
          <p:cNvCxnSpPr/>
          <p:nvPr/>
        </p:nvCxnSpPr>
        <p:spPr>
          <a:xfrm>
            <a:off x="4418746" y="4134535"/>
            <a:ext cx="3382183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30" name="Oval 29"/>
          <p:cNvSpPr/>
          <p:nvPr/>
        </p:nvSpPr>
        <p:spPr>
          <a:xfrm>
            <a:off x="4418746" y="4207687"/>
            <a:ext cx="256032" cy="256032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18746" y="4207687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84506" y="4189399"/>
            <a:ext cx="3016422" cy="8539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법원이 사용중단과 참여를 계속 감독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정기 약물검사·지역사회 감독으로 치료 참여와 준수사항 이행을 지속 확인</a:t>
            </a:r>
          </a:p>
        </p:txBody>
      </p:sp>
      <p:cxnSp>
        <p:nvCxnSpPr>
          <p:cNvPr id="33" name="HRULE"/>
          <p:cNvCxnSpPr/>
          <p:nvPr/>
        </p:nvCxnSpPr>
        <p:spPr>
          <a:xfrm>
            <a:off x="8075249" y="4134535"/>
            <a:ext cx="3382183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34" name="Oval 33"/>
          <p:cNvSpPr/>
          <p:nvPr/>
        </p:nvSpPr>
        <p:spPr>
          <a:xfrm>
            <a:off x="8075249" y="4207687"/>
            <a:ext cx="256032" cy="256032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75249" y="4207687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41009" y="4189399"/>
            <a:ext cx="3016422" cy="8539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보상·제재·완료까지 추적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준수·개선에는 보상, 위반에는 단계적 대응 · 참여와 수료 여부를 계속 확인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419088"/>
            <a:ext cx="10725912" cy="225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Belenko 외, JDTC 다지역 평가 · OJJDP, Juvenile Drug Treatment Court Guidelines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26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20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6. 형사처벌과 치료·재활의 효과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0" y="384048"/>
            <a:ext cx="5422392" cy="225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다음 → 법원감독과 MST·CM의 조합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7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무작위배정 지역 — 12개월 재체포 일반법원 60%, JDTC 32%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5912" cy="5486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54864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17320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무작위배정 지역에서 JDTC와 일반 소년법원을 비교했을 때 대마사용과 재체포 모두 JDTC 집단의 결과가 더 좋았다</a:t>
            </a:r>
          </a:p>
        </p:txBody>
      </p:sp>
      <p:cxnSp>
        <p:nvCxnSpPr>
          <p:cNvPr id="9" name="HRULE"/>
          <p:cNvCxnSpPr/>
          <p:nvPr/>
        </p:nvCxnSpPr>
        <p:spPr>
          <a:xfrm>
            <a:off x="731520" y="4987239"/>
            <a:ext cx="10725912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731520" y="5119827"/>
            <a:ext cx="10725912" cy="874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치료·감독 결합형 경로에서 대마사용 감소와 재체포 감소 가능성이 나타났다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다만 모든 지역에서 같은 크기의 효과가 나타난 것은 아니었다</a:t>
            </a:r>
          </a:p>
          <a:p>
            <a:pPr algn="l">
              <a:lnSpc>
                <a:spcPct val="118000"/>
              </a:lnSpc>
            </a:pPr>
            <a:r>
              <a:rPr sz="1250" b="0">
                <a:solidFill>
                  <a:srgbClr val="8A6D10"/>
                </a:solidFill>
                <a:latin typeface="Pretendard"/>
                <a:ea typeface="Pretendard"/>
                <a:cs typeface="Pretendard"/>
              </a:rPr>
              <a:t>재체포 60% 대 32%는 한 무작위배정 지역의 결과이며, 전체 소년약물치료법원의 평균효과로 일반화할 수 없다</a:t>
            </a:r>
          </a:p>
        </p:txBody>
      </p:sp>
      <p:cxnSp>
        <p:nvCxnSpPr>
          <p:cNvPr id="11" name="HRULE"/>
          <p:cNvCxnSpPr/>
          <p:nvPr/>
        </p:nvCxnSpPr>
        <p:spPr>
          <a:xfrm>
            <a:off x="731520" y="6144768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  <p:sp>
        <p:nvSpPr>
          <p:cNvPr id="12" name="HBAR"/>
          <p:cNvSpPr/>
          <p:nvPr/>
        </p:nvSpPr>
        <p:spPr>
          <a:xfrm>
            <a:off x="731520" y="2240280"/>
            <a:ext cx="6188659" cy="45720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359152"/>
            <a:ext cx="6188659" cy="288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최근 90일 대마사용일수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57220"/>
            <a:ext cx="216603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일반 소년법원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97550" y="2757220"/>
            <a:ext cx="253735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52.0일</a:t>
            </a:r>
            <a:r>
              <a:rPr sz="140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  →  </a:t>
            </a:r>
            <a:r>
              <a:rPr sz="22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39.9일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34900" y="2757220"/>
            <a:ext cx="148527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800" b="1">
                <a:solidFill>
                  <a:srgbClr val="8A6D10"/>
                </a:solidFill>
                <a:latin typeface="Pretendard"/>
                <a:ea typeface="Pretendard"/>
                <a:cs typeface="Pretendard"/>
              </a:rPr>
              <a:t>−12.1일</a:t>
            </a:r>
          </a:p>
        </p:txBody>
      </p:sp>
      <p:cxnSp>
        <p:nvCxnSpPr>
          <p:cNvPr id="17" name="HRULE"/>
          <p:cNvCxnSpPr/>
          <p:nvPr/>
        </p:nvCxnSpPr>
        <p:spPr>
          <a:xfrm>
            <a:off x="731520" y="3415588"/>
            <a:ext cx="6188659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731520" y="3415588"/>
            <a:ext cx="216603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소년약물치료법원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97550" y="3415588"/>
            <a:ext cx="253735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63.7일</a:t>
            </a:r>
            <a:r>
              <a:rPr sz="140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  →  </a:t>
            </a:r>
            <a:r>
              <a:rPr sz="22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34.7일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34900" y="3415588"/>
            <a:ext cx="148527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800" b="1">
                <a:solidFill>
                  <a:srgbClr val="8A6D10"/>
                </a:solidFill>
                <a:latin typeface="Pretendard"/>
                <a:ea typeface="Pretendard"/>
                <a:cs typeface="Pretendard"/>
              </a:rPr>
              <a:t>−29.0일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165396"/>
            <a:ext cx="6188659" cy="234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6개월 조사응답자  소년약물치료법원 n=21 · 일반 소년법원 n=23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403140"/>
            <a:ext cx="6188659" cy="234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감소폭은 소년약물치료법원이 컸지만 집단차이는 p&lt;.10으로 5% 유의수준에는 이르지 않았다</a:t>
            </a:r>
          </a:p>
        </p:txBody>
      </p:sp>
      <p:sp>
        <p:nvSpPr>
          <p:cNvPr id="23" name="HBAR"/>
          <p:cNvSpPr/>
          <p:nvPr/>
        </p:nvSpPr>
        <p:spPr>
          <a:xfrm>
            <a:off x="7331659" y="2240280"/>
            <a:ext cx="4125772" cy="45720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31659" y="2359152"/>
            <a:ext cx="4125772" cy="288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12개월 재체포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23607" y="3280257"/>
            <a:ext cx="1278989" cy="957173"/>
          </a:xfrm>
          <a:prstGeom prst="rect">
            <a:avLst/>
          </a:prstGeom>
          <a:solidFill>
            <a:srgbClr val="C9CE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49287" y="2793796"/>
            <a:ext cx="1827629" cy="44988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18000"/>
              </a:lnSpc>
            </a:pPr>
            <a:r>
              <a:rPr sz="2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60%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1659" y="4310583"/>
            <a:ext cx="206288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일반 소년법원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86494" y="3726938"/>
            <a:ext cx="1278989" cy="51049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12174" y="3240477"/>
            <a:ext cx="1827629" cy="44988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18000"/>
              </a:lnSpc>
            </a:pPr>
            <a:r>
              <a:rPr sz="2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32%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94545" y="4310583"/>
            <a:ext cx="206288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소년약물치료법원</a:t>
            </a:r>
          </a:p>
        </p:txBody>
      </p:sp>
      <p:cxnSp>
        <p:nvCxnSpPr>
          <p:cNvPr id="31" name="KEEP"/>
          <p:cNvCxnSpPr/>
          <p:nvPr/>
        </p:nvCxnSpPr>
        <p:spPr>
          <a:xfrm>
            <a:off x="7331659" y="4237431"/>
            <a:ext cx="4125773" cy="0"/>
          </a:xfrm>
          <a:prstGeom prst="line">
            <a:avLst/>
          </a:prstGeom>
          <a:ln w="9525">
            <a:solidFill>
              <a:srgbClr val="464D5C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7331659" y="4621479"/>
            <a:ext cx="4125772" cy="234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공식 법원 행정자료 · OR 0.31, p&lt;.05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419088"/>
            <a:ext cx="10725912" cy="225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Belenko 외, JDTC 다지역 평가 · 무작위배정이 이루어진 한 지역의 결과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26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20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6. 형사처벌과 치료·재활의 효과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0" y="384048"/>
            <a:ext cx="5422392" cy="225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다음 → 치료 구성별 대마검사와 재체포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7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소년약물법원 감독과 MST·CM을 달리 조합한 네 처우경로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5912" cy="5486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54864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17320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 spc="-60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Henggeler(2006)는 통상 법원처리에 소년약물법원 감독을 더하고, 그 위에 다체계치료(MST)와 유관관리(CM)를 차례로 추가해 네 처우조건을 비교했다</a:t>
            </a:r>
          </a:p>
        </p:txBody>
      </p:sp>
      <p:cxnSp>
        <p:nvCxnSpPr>
          <p:cNvPr id="8" name="HRULE"/>
          <p:cNvCxnSpPr/>
          <p:nvPr/>
        </p:nvCxnSpPr>
        <p:spPr>
          <a:xfrm>
            <a:off x="731520" y="2057400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731520" y="2167128"/>
            <a:ext cx="107259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8A6D10"/>
                </a:solidFill>
                <a:latin typeface="Pretendard"/>
                <a:ea typeface="Pretendard"/>
                <a:cs typeface="Pretendard"/>
              </a:rPr>
              <a:t>연구대상   </a:t>
            </a:r>
            <a:r>
              <a:rPr sz="120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12~17세 · DSM-IV 약물남용 또는 의존 기준 충족 · 161명 · 네 조건에 무작위배정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92654"/>
            <a:ext cx="10725912" cy="252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다체계치료(MST)   </a:t>
            </a:r>
            <a:r>
              <a:rPr sz="120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청소년 개인만 상담하지 않고, 약물사용과 연결된 생활환경을 함께 바꾸는 집중적인 가족·지역사회 치료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72460"/>
            <a:ext cx="10725912" cy="252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유관관리(CM)   </a:t>
            </a:r>
            <a:r>
              <a:rPr sz="120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단약과 같은 목표행동에 즉각적인 보상을 연결하는 행동치료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3864" y="3198571"/>
            <a:ext cx="7973568" cy="234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소년약물법원 감독이 포함된 세 조건</a:t>
            </a:r>
          </a:p>
        </p:txBody>
      </p:sp>
      <p:sp>
        <p:nvSpPr>
          <p:cNvPr id="13" name="HBAR"/>
          <p:cNvSpPr/>
          <p:nvPr/>
        </p:nvSpPr>
        <p:spPr>
          <a:xfrm>
            <a:off x="731520" y="3472891"/>
            <a:ext cx="2468880" cy="45720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591763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① 통상 가정법원 + 지역사회 치료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40403"/>
            <a:ext cx="2468880" cy="234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Family Court · n=42</a:t>
            </a:r>
          </a:p>
        </p:txBody>
      </p:sp>
      <p:cxnSp>
        <p:nvCxnSpPr>
          <p:cNvPr id="16" name="KEEP"/>
          <p:cNvCxnSpPr/>
          <p:nvPr/>
        </p:nvCxnSpPr>
        <p:spPr>
          <a:xfrm>
            <a:off x="731520" y="4396435"/>
            <a:ext cx="2468880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731520" y="4478731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통상 가정법원 절차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34763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법원 출석 연 1~2회 수준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990795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지역사회 외래 약물치료 이용</a:t>
            </a:r>
          </a:p>
        </p:txBody>
      </p:sp>
      <p:sp>
        <p:nvSpPr>
          <p:cNvPr id="20" name="HBAR"/>
          <p:cNvSpPr/>
          <p:nvPr/>
        </p:nvSpPr>
        <p:spPr>
          <a:xfrm>
            <a:off x="3483864" y="3472891"/>
            <a:ext cx="2468880" cy="45720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83864" y="3591763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spc="-60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② 소년약물법원 + 기존 지역사회 치료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83864" y="4140403"/>
            <a:ext cx="2468880" cy="234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Drug Court · n=38</a:t>
            </a:r>
          </a:p>
        </p:txBody>
      </p:sp>
      <p:cxnSp>
        <p:nvCxnSpPr>
          <p:cNvPr id="23" name="KEEP"/>
          <p:cNvCxnSpPr/>
          <p:nvPr/>
        </p:nvCxnSpPr>
        <p:spPr>
          <a:xfrm>
            <a:off x="3483864" y="4396435"/>
            <a:ext cx="2468880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3483864" y="4478731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초기 주 1회 법원 출석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83864" y="4734763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정기 소변 약물검사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83864" y="4990795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보호자·상담자의 행동보고 확인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83864" y="5246827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준수·개선 → 보상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83864" y="5502859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위반 → 단계적 제재</a:t>
            </a:r>
          </a:p>
        </p:txBody>
      </p:sp>
      <p:sp>
        <p:nvSpPr>
          <p:cNvPr id="29" name="HBAR"/>
          <p:cNvSpPr/>
          <p:nvPr/>
        </p:nvSpPr>
        <p:spPr>
          <a:xfrm>
            <a:off x="6236208" y="3472891"/>
            <a:ext cx="2468880" cy="45720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36208" y="3591763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③ 소년약물법원 + MST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6208" y="4140403"/>
            <a:ext cx="2468880" cy="234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Drug Court + MST · n=38</a:t>
            </a:r>
          </a:p>
        </p:txBody>
      </p:sp>
      <p:cxnSp>
        <p:nvCxnSpPr>
          <p:cNvPr id="32" name="KEEP"/>
          <p:cNvCxnSpPr/>
          <p:nvPr/>
        </p:nvCxnSpPr>
        <p:spPr>
          <a:xfrm>
            <a:off x="6236208" y="4396435"/>
            <a:ext cx="2468880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33" name="TextBox 32"/>
          <p:cNvSpPr txBox="1"/>
          <p:nvPr/>
        </p:nvSpPr>
        <p:spPr>
          <a:xfrm>
            <a:off x="6236208" y="4478731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②의 법원감독 유지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6208" y="4734763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8A6D10"/>
                </a:solidFill>
                <a:latin typeface="Pretendard"/>
                <a:ea typeface="Pretendard"/>
                <a:cs typeface="Pretendard"/>
              </a:rPr>
              <a:t>+ 다체계치료(MST) 추가</a:t>
            </a:r>
          </a:p>
        </p:txBody>
      </p:sp>
      <p:sp>
        <p:nvSpPr>
          <p:cNvPr id="35" name="HBAR"/>
          <p:cNvSpPr/>
          <p:nvPr/>
        </p:nvSpPr>
        <p:spPr>
          <a:xfrm>
            <a:off x="8988552" y="3472891"/>
            <a:ext cx="2468880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88552" y="3591763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④ 소년약물법원 + MST + CM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88552" y="4140403"/>
            <a:ext cx="2468880" cy="234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Drug Court + MST + CM · n=43</a:t>
            </a:r>
          </a:p>
        </p:txBody>
      </p:sp>
      <p:cxnSp>
        <p:nvCxnSpPr>
          <p:cNvPr id="38" name="KEEP"/>
          <p:cNvCxnSpPr/>
          <p:nvPr/>
        </p:nvCxnSpPr>
        <p:spPr>
          <a:xfrm>
            <a:off x="8988552" y="4396435"/>
            <a:ext cx="2468880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39" name="TextBox 38"/>
          <p:cNvSpPr txBox="1"/>
          <p:nvPr/>
        </p:nvSpPr>
        <p:spPr>
          <a:xfrm>
            <a:off x="8988552" y="4478731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③의 법원감독·MST 유지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88552" y="4734763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8A6D10"/>
                </a:solidFill>
                <a:latin typeface="Pretendard"/>
                <a:ea typeface="Pretendard"/>
                <a:cs typeface="Pretendard"/>
              </a:rPr>
              <a:t>+ 유관관리(CM) 추가</a:t>
            </a:r>
          </a:p>
        </p:txBody>
      </p:sp>
      <p:cxnSp>
        <p:nvCxnSpPr>
          <p:cNvPr id="41" name="HRULE"/>
          <p:cNvCxnSpPr/>
          <p:nvPr/>
        </p:nvCxnSpPr>
        <p:spPr>
          <a:xfrm>
            <a:off x="731520" y="6144768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26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20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형사처벌과 치료·재활의 효과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0" y="384048"/>
            <a:ext cx="5422392" cy="225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다음 → 미국 JDTC 메타분석 — 연구 개요와 주요 한계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7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부모 행동훈련과 단약 보상을 결합한 치료 — 청소년 대마사용 연구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5912" cy="5486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54864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17320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치료·재활의 효과를 논의하려면, 청소년과 보호자에게 제공한 구체적인 활동을 살펴볼 필요가 있다</a:t>
            </a:r>
          </a:p>
        </p:txBody>
      </p:sp>
      <p:cxnSp>
        <p:nvCxnSpPr>
          <p:cNvPr id="8" name="HRULE"/>
          <p:cNvCxnSpPr/>
          <p:nvPr/>
        </p:nvCxnSpPr>
        <p:spPr>
          <a:xfrm>
            <a:off x="731520" y="2057400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  <p:cxnSp>
        <p:nvCxnSpPr>
          <p:cNvPr id="9" name="HRULE"/>
          <p:cNvCxnSpPr/>
          <p:nvPr/>
        </p:nvCxnSpPr>
        <p:spPr>
          <a:xfrm>
            <a:off x="731520" y="5527243"/>
            <a:ext cx="10725912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731520" y="5678119"/>
            <a:ext cx="10725912" cy="297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같은 상담·약물검사를 제공하더라도, 무엇을 보상하고 부모가 가정에서 어떻게 지원하도록 구체적으로 지시하는지에 따라 치료 결과가 달라질 수 있다</a:t>
            </a:r>
          </a:p>
        </p:txBody>
      </p:sp>
      <p:cxnSp>
        <p:nvCxnSpPr>
          <p:cNvPr id="11" name="HRULE"/>
          <p:cNvCxnSpPr/>
          <p:nvPr/>
        </p:nvCxnSpPr>
        <p:spPr>
          <a:xfrm>
            <a:off x="731520" y="6144768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31520" y="2167128"/>
            <a:ext cx="10725912" cy="2793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Stanger 외(2009) · 14~18세 청소년 69명 · 두 집단에 무작위 배정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483053"/>
            <a:ext cx="10725912" cy="252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두 집단 모두 동기강화·인지행동치료와 주 2회 약물검사를 받았다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3942" y="2881731"/>
            <a:ext cx="2695102" cy="2078583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5" name="KEEP"/>
          <p:cNvCxnSpPr/>
          <p:nvPr/>
        </p:nvCxnSpPr>
        <p:spPr>
          <a:xfrm>
            <a:off x="731520" y="2881731"/>
            <a:ext cx="6807525" cy="0"/>
          </a:xfrm>
          <a:prstGeom prst="line">
            <a:avLst/>
          </a:prstGeom>
          <a:ln w="15875">
            <a:solidFill>
              <a:srgbClr val="1E2761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2148840" y="2881731"/>
            <a:ext cx="269510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집단 A · 함께 비교한 집단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3942" y="2881731"/>
            <a:ext cx="269510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집단 B · 실험 집단</a:t>
            </a:r>
          </a:p>
        </p:txBody>
      </p:sp>
      <p:cxnSp>
        <p:nvCxnSpPr>
          <p:cNvPr id="18" name="KEEP"/>
          <p:cNvCxnSpPr/>
          <p:nvPr/>
        </p:nvCxnSpPr>
        <p:spPr>
          <a:xfrm>
            <a:off x="731520" y="3302355"/>
            <a:ext cx="6807525" cy="0"/>
          </a:xfrm>
          <a:prstGeom prst="line">
            <a:avLst/>
          </a:prstGeom>
          <a:ln w="9525">
            <a:solidFill>
              <a:srgbClr val="1E2761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877824" y="3279495"/>
            <a:ext cx="1124711" cy="8289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청소년에게 제공한 보상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3302355"/>
            <a:ext cx="2420782" cy="8289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치료에 출석하면 보상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7134" y="3302355"/>
            <a:ext cx="1908718" cy="8289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약물을 사용하지 않은 것이 확인되면 보상</a:t>
            </a:r>
          </a:p>
        </p:txBody>
      </p:sp>
      <p:cxnSp>
        <p:nvCxnSpPr>
          <p:cNvPr id="22" name="KEEP"/>
          <p:cNvCxnSpPr/>
          <p:nvPr/>
        </p:nvCxnSpPr>
        <p:spPr>
          <a:xfrm>
            <a:off x="731520" y="4131335"/>
            <a:ext cx="6807525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731520" y="4108475"/>
            <a:ext cx="1417320" cy="8289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부모에게 요청한 활동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2032" y="4131335"/>
            <a:ext cx="1908718" cy="8289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부모에게 약물 문제와 대응에 관한 정보 교육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1102" y="4131335"/>
            <a:ext cx="2420782" cy="8289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부모가 약물사용을 확인하고, 보상을 적용하는 방법과 행동을 훈련</a:t>
            </a:r>
          </a:p>
        </p:txBody>
      </p:sp>
      <p:cxnSp>
        <p:nvCxnSpPr>
          <p:cNvPr id="26" name="KEEP"/>
          <p:cNvCxnSpPr/>
          <p:nvPr/>
        </p:nvCxnSpPr>
        <p:spPr>
          <a:xfrm>
            <a:off x="731520" y="4960315"/>
            <a:ext cx="6807525" cy="0"/>
          </a:xfrm>
          <a:prstGeom prst="line">
            <a:avLst/>
          </a:prstGeom>
          <a:ln w="15875">
            <a:solidFill>
              <a:srgbClr val="1E2761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7950525" y="2881731"/>
            <a:ext cx="3506906" cy="512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치료기간 중 10주 이상 연속으로 대마를 사용하지 않은 청소년의 비율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83681" y="4351068"/>
            <a:ext cx="1087141" cy="243486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09361" y="3900574"/>
            <a:ext cx="1635781" cy="41391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18%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0525" y="4667707"/>
            <a:ext cx="175345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출석 보상·부모 정보교육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37134" y="3918204"/>
            <a:ext cx="1087141" cy="676351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62814" y="3467709"/>
            <a:ext cx="1635781" cy="41391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50%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03978" y="4667707"/>
            <a:ext cx="175345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단약 보상·부모 행동훈련</a:t>
            </a:r>
          </a:p>
        </p:txBody>
      </p:sp>
      <p:cxnSp>
        <p:nvCxnSpPr>
          <p:cNvPr id="34" name="KEEP"/>
          <p:cNvCxnSpPr/>
          <p:nvPr/>
        </p:nvCxnSpPr>
        <p:spPr>
          <a:xfrm>
            <a:off x="7950525" y="4594555"/>
            <a:ext cx="3506907" cy="0"/>
          </a:xfrm>
          <a:prstGeom prst="line">
            <a:avLst/>
          </a:prstGeom>
          <a:ln w="9525">
            <a:solidFill>
              <a:srgbClr val="464D5C"/>
            </a:solidFill>
          </a:ln>
        </p:spPr>
      </p:cxnSp>
      <p:sp>
        <p:nvSpPr>
          <p:cNvPr id="35" name="TextBox 34"/>
          <p:cNvSpPr txBox="1"/>
          <p:nvPr/>
        </p:nvSpPr>
        <p:spPr>
          <a:xfrm>
            <a:off x="731520" y="5070043"/>
            <a:ext cx="10725912" cy="26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8A6D10"/>
                </a:solidFill>
                <a:latin typeface="Pretendard"/>
                <a:ea typeface="Pretendard"/>
                <a:cs typeface="Pretendard"/>
              </a:rPr>
              <a:t>치료 중 결과다. 종료 3·6·9개월 시점의 집단 차이는 확인되지 않았다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419088"/>
            <a:ext cx="10725912" cy="225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Stanger 외(2009), Drug and Alcohol Dependence 105(3), 240–247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26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20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섞어 쓴 예시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7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설계 대조표와 묶음 막대를 한 장에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5912" cy="5486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54864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왼쪽은 19번의 설계 대조표, 오른쪽은 02번의 묶음 세로 막대를 좁은 폭에 넣은 예시다</a:t>
            </a:r>
          </a:p>
        </p:txBody>
      </p:sp>
      <p:cxnSp>
        <p:nvCxnSpPr>
          <p:cNvPr id="7" name="HRULE"/>
          <p:cNvCxnSpPr/>
          <p:nvPr/>
        </p:nvCxnSpPr>
        <p:spPr>
          <a:xfrm>
            <a:off x="731520" y="2057400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  <p:cxnSp>
        <p:nvCxnSpPr>
          <p:cNvPr id="8" name="HRULE"/>
          <p:cNvCxnSpPr/>
          <p:nvPr/>
        </p:nvCxnSpPr>
        <p:spPr>
          <a:xfrm>
            <a:off x="731520" y="5527243"/>
            <a:ext cx="10725912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731520" y="5678119"/>
            <a:ext cx="10725912" cy="297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부품은 받은 영역 폭에 맞춰 막대 폭과 연도 표기(2018 / ’18)를 스스로 정한다</a:t>
            </a:r>
          </a:p>
        </p:txBody>
      </p:sp>
      <p:cxnSp>
        <p:nvCxnSpPr>
          <p:cNvPr id="10" name="HRULE"/>
          <p:cNvCxnSpPr/>
          <p:nvPr/>
        </p:nvCxnSpPr>
        <p:spPr>
          <a:xfrm>
            <a:off x="731520" y="6144768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  <p:sp>
        <p:nvSpPr>
          <p:cNvPr id="11" name="Rectangle 10"/>
          <p:cNvSpPr/>
          <p:nvPr/>
        </p:nvSpPr>
        <p:spPr>
          <a:xfrm>
            <a:off x="3973068" y="2240280"/>
            <a:ext cx="1915667" cy="3177235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KEEP"/>
          <p:cNvCxnSpPr/>
          <p:nvPr/>
        </p:nvCxnSpPr>
        <p:spPr>
          <a:xfrm>
            <a:off x="731520" y="2240280"/>
            <a:ext cx="5157216" cy="0"/>
          </a:xfrm>
          <a:prstGeom prst="line">
            <a:avLst/>
          </a:prstGeom>
          <a:ln w="15875">
            <a:solidFill>
              <a:srgbClr val="1E2761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2057400" y="2240280"/>
            <a:ext cx="1915667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집단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3068" y="2240280"/>
            <a:ext cx="1915667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집단 B</a:t>
            </a:r>
          </a:p>
        </p:txBody>
      </p:sp>
      <p:cxnSp>
        <p:nvCxnSpPr>
          <p:cNvPr id="15" name="KEEP"/>
          <p:cNvCxnSpPr/>
          <p:nvPr/>
        </p:nvCxnSpPr>
        <p:spPr>
          <a:xfrm>
            <a:off x="731520" y="2660904"/>
            <a:ext cx="5157216" cy="0"/>
          </a:xfrm>
          <a:prstGeom prst="line">
            <a:avLst/>
          </a:prstGeom>
          <a:ln w="9525">
            <a:solidFill>
              <a:srgbClr val="1E2761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731520" y="2638044"/>
            <a:ext cx="1325880" cy="13783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청소년 보상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2660904"/>
            <a:ext cx="1641347" cy="13783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치료에 출석하면 보상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0228" y="2660904"/>
            <a:ext cx="1641347" cy="13783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약물을 사용하지 않은 것이 확인되면 보상</a:t>
            </a:r>
          </a:p>
        </p:txBody>
      </p:sp>
      <p:cxnSp>
        <p:nvCxnSpPr>
          <p:cNvPr id="19" name="KEEP"/>
          <p:cNvCxnSpPr/>
          <p:nvPr/>
        </p:nvCxnSpPr>
        <p:spPr>
          <a:xfrm>
            <a:off x="731520" y="4039209"/>
            <a:ext cx="5157216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731520" y="4016349"/>
            <a:ext cx="1325880" cy="13783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부모 활동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59152" y="4039209"/>
            <a:ext cx="1312163" cy="13783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약물 문제와 대응에 관한 정보 교육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0228" y="4039209"/>
            <a:ext cx="1641347" cy="13783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약물사용 확인과 보상 적용 방법 훈련</a:t>
            </a:r>
          </a:p>
        </p:txBody>
      </p:sp>
      <p:cxnSp>
        <p:nvCxnSpPr>
          <p:cNvPr id="23" name="KEEP"/>
          <p:cNvCxnSpPr/>
          <p:nvPr/>
        </p:nvCxnSpPr>
        <p:spPr>
          <a:xfrm>
            <a:off x="731520" y="5417515"/>
            <a:ext cx="5157216" cy="0"/>
          </a:xfrm>
          <a:prstGeom prst="line">
            <a:avLst/>
          </a:prstGeom>
          <a:ln w="15875">
            <a:solidFill>
              <a:srgbClr val="1E2761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6300216" y="2240280"/>
            <a:ext cx="5157216" cy="252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연령별 피의자 수 · 2018~2025년 · 금색 = 2023년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3575" y="4789176"/>
            <a:ext cx="158584" cy="61411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6415" y="4578864"/>
            <a:ext cx="432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0423" y="4896307"/>
            <a:ext cx="304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’18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96970" y="4789176"/>
            <a:ext cx="158584" cy="61411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59810" y="4578864"/>
            <a:ext cx="432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3818" y="4896307"/>
            <a:ext cx="304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’19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90366" y="4604942"/>
            <a:ext cx="158584" cy="245644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53206" y="4394630"/>
            <a:ext cx="432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17214" y="4896307"/>
            <a:ext cx="304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83762" y="4625413"/>
            <a:ext cx="158584" cy="225174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46602" y="4415101"/>
            <a:ext cx="432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10610" y="4896307"/>
            <a:ext cx="304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’21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77157" y="4492355"/>
            <a:ext cx="158584" cy="358231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39997" y="4282043"/>
            <a:ext cx="432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35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04005" y="4896307"/>
            <a:ext cx="304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’22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70553" y="3161781"/>
            <a:ext cx="158584" cy="1688805"/>
          </a:xfrm>
          <a:prstGeom prst="rect">
            <a:avLst/>
          </a:prstGeom>
          <a:solidFill>
            <a:srgbClr val="C2A6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33393" y="2951469"/>
            <a:ext cx="432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8A6D10"/>
                </a:solidFill>
                <a:latin typeface="Pretendard"/>
                <a:ea typeface="Pretendard"/>
                <a:cs typeface="Pretendard"/>
              </a:rPr>
              <a:t>165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97401" y="4896307"/>
            <a:ext cx="304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8A6D10"/>
                </a:solidFill>
                <a:latin typeface="Pretendard"/>
                <a:ea typeface="Pretendard"/>
                <a:cs typeface="Pretendard"/>
              </a:rPr>
              <a:t>’23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63948" y="4216005"/>
            <a:ext cx="158584" cy="634581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26788" y="4005693"/>
            <a:ext cx="432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62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0796" y="4896307"/>
            <a:ext cx="304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’24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57344" y="4113653"/>
            <a:ext cx="158584" cy="736933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20184" y="3903341"/>
            <a:ext cx="432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72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4192" y="4896307"/>
            <a:ext cx="304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’25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0216" y="5097475"/>
            <a:ext cx="17190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16세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22647" y="4656118"/>
            <a:ext cx="158584" cy="194468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85487" y="4445806"/>
            <a:ext cx="432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49495" y="4896307"/>
            <a:ext cx="304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’18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316042" y="4676589"/>
            <a:ext cx="158584" cy="173998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78882" y="4466277"/>
            <a:ext cx="432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42890" y="4896307"/>
            <a:ext cx="304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’19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509438" y="4512826"/>
            <a:ext cx="158584" cy="337761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72278" y="4302514"/>
            <a:ext cx="432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33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36286" y="4896307"/>
            <a:ext cx="304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’20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702834" y="4226240"/>
            <a:ext cx="158584" cy="624346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65674" y="4015928"/>
            <a:ext cx="432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61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29682" y="4896307"/>
            <a:ext cx="304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’21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896229" y="4420709"/>
            <a:ext cx="158584" cy="429877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759069" y="4210397"/>
            <a:ext cx="432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42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823077" y="4896307"/>
            <a:ext cx="304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’22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089625" y="3202722"/>
            <a:ext cx="158584" cy="1647864"/>
          </a:xfrm>
          <a:prstGeom prst="rect">
            <a:avLst/>
          </a:prstGeom>
          <a:solidFill>
            <a:srgbClr val="C2A6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952465" y="2992410"/>
            <a:ext cx="432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8A6D10"/>
                </a:solidFill>
                <a:latin typeface="Pretendard"/>
                <a:ea typeface="Pretendard"/>
                <a:cs typeface="Pretendard"/>
              </a:rPr>
              <a:t>161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16473" y="4896307"/>
            <a:ext cx="304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8A6D10"/>
                </a:solidFill>
                <a:latin typeface="Pretendard"/>
                <a:ea typeface="Pretendard"/>
                <a:cs typeface="Pretendard"/>
              </a:rPr>
              <a:t>’23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283020" y="4154594"/>
            <a:ext cx="158584" cy="695992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145860" y="3944282"/>
            <a:ext cx="432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68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209868" y="4896307"/>
            <a:ext cx="304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’24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476416" y="3734952"/>
            <a:ext cx="158584" cy="1115635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339256" y="3524640"/>
            <a:ext cx="432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109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403264" y="4896307"/>
            <a:ext cx="304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’25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019288" y="5097475"/>
            <a:ext cx="17190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17세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8019288" y="4850587"/>
            <a:ext cx="0" cy="219456"/>
          </a:xfrm>
          <a:prstGeom prst="line">
            <a:avLst/>
          </a:prstGeom>
          <a:ln w="9525">
            <a:solidFill>
              <a:srgbClr val="464D5C"/>
            </a:solidFill>
          </a:ln>
        </p:spPr>
      </p:cxnSp>
      <p:sp>
        <p:nvSpPr>
          <p:cNvPr id="76" name="Rectangle 75"/>
          <p:cNvSpPr/>
          <p:nvPr/>
        </p:nvSpPr>
        <p:spPr>
          <a:xfrm>
            <a:off x="9841719" y="4574237"/>
            <a:ext cx="158584" cy="276349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704559" y="4363925"/>
            <a:ext cx="432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768567" y="4896307"/>
            <a:ext cx="304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’18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035114" y="4420709"/>
            <a:ext cx="158584" cy="429877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897954" y="4210397"/>
            <a:ext cx="432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42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961962" y="4896307"/>
            <a:ext cx="304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’19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228510" y="4175065"/>
            <a:ext cx="158584" cy="675522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091350" y="3964753"/>
            <a:ext cx="432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66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155358" y="4896307"/>
            <a:ext cx="304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’20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421906" y="3949891"/>
            <a:ext cx="158584" cy="900696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284746" y="3739579"/>
            <a:ext cx="432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88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348754" y="4896307"/>
            <a:ext cx="304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’21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615301" y="4113653"/>
            <a:ext cx="158584" cy="736933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478141" y="3903341"/>
            <a:ext cx="432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72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542149" y="4896307"/>
            <a:ext cx="304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’22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808697" y="2844491"/>
            <a:ext cx="158584" cy="2006096"/>
          </a:xfrm>
          <a:prstGeom prst="rect">
            <a:avLst/>
          </a:prstGeom>
          <a:solidFill>
            <a:srgbClr val="C2A6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671537" y="2634179"/>
            <a:ext cx="432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8A6D10"/>
                </a:solidFill>
                <a:latin typeface="Pretendard"/>
                <a:ea typeface="Pretendard"/>
                <a:cs typeface="Pretendard"/>
              </a:rPr>
              <a:t>196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735545" y="4896307"/>
            <a:ext cx="304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8A6D10"/>
                </a:solidFill>
                <a:latin typeface="Pretendard"/>
                <a:ea typeface="Pretendard"/>
                <a:cs typeface="Pretendard"/>
              </a:rPr>
              <a:t>’23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1002092" y="4123889"/>
            <a:ext cx="158584" cy="726698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864932" y="3913577"/>
            <a:ext cx="432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71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928940" y="4896307"/>
            <a:ext cx="304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’24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1195488" y="3990831"/>
            <a:ext cx="158584" cy="859755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1058328" y="3780519"/>
            <a:ext cx="432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84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1122336" y="4896307"/>
            <a:ext cx="304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6E7686"/>
                </a:solidFill>
                <a:latin typeface="Pretendard"/>
                <a:ea typeface="Pretendard"/>
                <a:cs typeface="Pretendard"/>
              </a:rPr>
              <a:t>’25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738359" y="5097475"/>
            <a:ext cx="17190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18세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9738359" y="4850587"/>
            <a:ext cx="0" cy="219456"/>
          </a:xfrm>
          <a:prstGeom prst="line">
            <a:avLst/>
          </a:prstGeom>
          <a:ln w="9525">
            <a:solidFill>
              <a:srgbClr val="464D5C"/>
            </a:solidFill>
          </a:ln>
        </p:spPr>
      </p:cxnSp>
      <p:cxnSp>
        <p:nvCxnSpPr>
          <p:cNvPr id="102" name="KEEP"/>
          <p:cNvCxnSpPr/>
          <p:nvPr/>
        </p:nvCxnSpPr>
        <p:spPr>
          <a:xfrm>
            <a:off x="6300216" y="4850587"/>
            <a:ext cx="5157216" cy="0"/>
          </a:xfrm>
          <a:prstGeom prst="line">
            <a:avLst/>
          </a:prstGeom>
          <a:ln w="12700">
            <a:solidFill>
              <a:srgbClr val="222633"/>
            </a:solidFill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26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20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섞어 쓴 예시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7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행머리글 표와 큰 숫자를 한 장에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5912" cy="5486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54864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위쪽은 07번의 큰 숫자, 아래쪽은 01번의 행머리글 표를 조합한 예시다</a:t>
            </a:r>
          </a:p>
        </p:txBody>
      </p:sp>
      <p:cxnSp>
        <p:nvCxnSpPr>
          <p:cNvPr id="7" name="HRULE"/>
          <p:cNvCxnSpPr/>
          <p:nvPr/>
        </p:nvCxnSpPr>
        <p:spPr>
          <a:xfrm>
            <a:off x="731520" y="2057400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731520" y="2258568"/>
            <a:ext cx="10725912" cy="2433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12개월 결과  지난 28일 중 물질을 사용하지 않은 날의 비율, 집단별 중앙값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38526"/>
            <a:ext cx="287418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기존 서비스 + 추가개입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0027" y="2538526"/>
            <a:ext cx="23516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85.7%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1636" y="2538526"/>
            <a:ext cx="2874187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기존 서비스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05823" y="2538526"/>
            <a:ext cx="23516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83.9%</a:t>
            </a:r>
          </a:p>
        </p:txBody>
      </p:sp>
      <p:cxnSp>
        <p:nvCxnSpPr>
          <p:cNvPr id="13" name="HRULE"/>
          <p:cNvCxnSpPr/>
          <p:nvPr/>
        </p:nvCxnSpPr>
        <p:spPr>
          <a:xfrm>
            <a:off x="731520" y="3447288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868680" y="3424428"/>
            <a:ext cx="1965960" cy="8991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참여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3588486"/>
            <a:ext cx="8302752" cy="598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4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첫 개별면담에는 87.0%가 참여했다</a:t>
            </a:r>
          </a:p>
          <a:p>
            <a:pPr algn="l">
              <a:lnSpc>
                <a:spcPct val="118000"/>
              </a:lnSpc>
            </a:pPr>
            <a:r>
              <a:rPr sz="1250" b="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첫 집단훈련 참여는 39.8%였다</a:t>
            </a:r>
          </a:p>
        </p:txBody>
      </p:sp>
      <p:cxnSp>
        <p:nvCxnSpPr>
          <p:cNvPr id="16" name="HRULE"/>
          <p:cNvCxnSpPr/>
          <p:nvPr/>
        </p:nvCxnSpPr>
        <p:spPr>
          <a:xfrm>
            <a:off x="731520" y="4346448"/>
            <a:ext cx="10725912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868680" y="4323588"/>
            <a:ext cx="1965960" cy="8991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완수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4638141"/>
            <a:ext cx="8302752" cy="297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네 요소를 모두 마친 비율은 19.1%였다</a:t>
            </a:r>
          </a:p>
        </p:txBody>
      </p:sp>
      <p:cxnSp>
        <p:nvCxnSpPr>
          <p:cNvPr id="19" name="HRULE"/>
          <p:cNvCxnSpPr/>
          <p:nvPr/>
        </p:nvCxnSpPr>
        <p:spPr>
          <a:xfrm>
            <a:off x="731520" y="5245608"/>
            <a:ext cx="10725912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868680" y="5222748"/>
            <a:ext cx="1965960" cy="8991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해석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5386806"/>
            <a:ext cx="8302752" cy="598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4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두 집단 사이에 통계적으로 유의한 차이는 확인되지 않았다</a:t>
            </a:r>
          </a:p>
          <a:p>
            <a:pPr algn="l">
              <a:lnSpc>
                <a:spcPct val="118000"/>
              </a:lnSpc>
            </a:pPr>
            <a:r>
              <a:rPr sz="1250" b="0">
                <a:solidFill>
                  <a:srgbClr val="8A6D10"/>
                </a:solidFill>
                <a:latin typeface="Pretendard"/>
                <a:ea typeface="Pretendard"/>
                <a:cs typeface="Pretendard"/>
              </a:rPr>
              <a:t>낮은 완수율이 원인인지는 이 수치만으로 확정할 수 없다</a:t>
            </a:r>
          </a:p>
        </p:txBody>
      </p:sp>
      <p:cxnSp>
        <p:nvCxnSpPr>
          <p:cNvPr id="22" name="HRULE"/>
          <p:cNvCxnSpPr/>
          <p:nvPr/>
        </p:nvCxnSpPr>
        <p:spPr>
          <a:xfrm>
            <a:off x="731520" y="6144768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26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spc="200">
                <a:solidFill>
                  <a:srgbClr val="464D5C"/>
                </a:solidFill>
                <a:latin typeface="Pretendard"/>
                <a:ea typeface="Pretendard"/>
                <a:cs typeface="Pretendard"/>
              </a:rPr>
              <a:t>섞어 쓴 예시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7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경과 타임라인과 가로 막대를 한 장에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5912" cy="5486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54864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왼쪽은 03번의 타임라인, 오른쪽은 05번의 가로 막대 한 패널이다</a:t>
            </a:r>
          </a:p>
        </p:txBody>
      </p:sp>
      <p:cxnSp>
        <p:nvCxnSpPr>
          <p:cNvPr id="8" name="HRULE"/>
          <p:cNvCxnSpPr/>
          <p:nvPr/>
        </p:nvCxnSpPr>
        <p:spPr>
          <a:xfrm>
            <a:off x="731520" y="5527243"/>
            <a:ext cx="10725912" cy="0"/>
          </a:xfrm>
          <a:prstGeom prst="line">
            <a:avLst/>
          </a:prstGeom>
          <a:ln w="9525">
            <a:solidFill>
              <a:srgbClr val="C9CEDA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731520" y="5678119"/>
            <a:ext cx="10725912" cy="297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같은 부품을 전체 폭에도, 절반 폭에도 넣을 수 있다</a:t>
            </a:r>
          </a:p>
        </p:txBody>
      </p:sp>
      <p:cxnSp>
        <p:nvCxnSpPr>
          <p:cNvPr id="10" name="HRULE"/>
          <p:cNvCxnSpPr/>
          <p:nvPr/>
        </p:nvCxnSpPr>
        <p:spPr>
          <a:xfrm>
            <a:off x="731520" y="6144768"/>
            <a:ext cx="10725912" cy="0"/>
          </a:xfrm>
          <a:prstGeom prst="line">
            <a:avLst/>
          </a:prstGeom>
          <a:ln w="19050">
            <a:solidFill>
              <a:srgbClr val="1E2761"/>
            </a:solidFill>
          </a:ln>
        </p:spPr>
      </p:cxnSp>
      <p:sp>
        <p:nvSpPr>
          <p:cNvPr id="11" name="HBAR"/>
          <p:cNvSpPr/>
          <p:nvPr/>
        </p:nvSpPr>
        <p:spPr>
          <a:xfrm>
            <a:off x="731520" y="2240280"/>
            <a:ext cx="5672937" cy="45720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359152"/>
            <a:ext cx="5672937" cy="288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사건 경과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94560" y="2876092"/>
            <a:ext cx="0" cy="1133856"/>
          </a:xfrm>
          <a:prstGeom prst="line">
            <a:avLst/>
          </a:prstGeom>
          <a:ln w="19050">
            <a:solidFill>
              <a:srgbClr val="5A6699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731520" y="27572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2004년 6월</a:t>
            </a:r>
          </a:p>
        </p:txBody>
      </p:sp>
      <p:sp>
        <p:nvSpPr>
          <p:cNvPr id="15" name="Oval 14"/>
          <p:cNvSpPr/>
          <p:nvPr/>
        </p:nvSpPr>
        <p:spPr>
          <a:xfrm>
            <a:off x="2125980" y="2807512"/>
            <a:ext cx="137160" cy="1371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2725216"/>
            <a:ext cx="384413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약물법원 참여에 동의했다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3241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이후</a:t>
            </a:r>
          </a:p>
        </p:txBody>
      </p:sp>
      <p:sp>
        <p:nvSpPr>
          <p:cNvPr id="18" name="Oval 17"/>
          <p:cNvSpPr/>
          <p:nvPr/>
        </p:nvSpPr>
        <p:spPr>
          <a:xfrm>
            <a:off x="2125980" y="3374440"/>
            <a:ext cx="137160" cy="1371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0320" y="3292144"/>
            <a:ext cx="384413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양성반응이 여러 차례 나왔다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89107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2004년 12월</a:t>
            </a:r>
          </a:p>
        </p:txBody>
      </p:sp>
      <p:sp>
        <p:nvSpPr>
          <p:cNvPr id="21" name="Oval 20"/>
          <p:cNvSpPr/>
          <p:nvPr/>
        </p:nvSpPr>
        <p:spPr>
          <a:xfrm>
            <a:off x="2125980" y="3941368"/>
            <a:ext cx="137160" cy="13716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1E27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60320" y="3859072"/>
            <a:ext cx="384413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법정모욕이 인정됐다</a:t>
            </a:r>
          </a:p>
        </p:txBody>
      </p:sp>
      <p:sp>
        <p:nvSpPr>
          <p:cNvPr id="23" name="HBAR"/>
          <p:cNvSpPr/>
          <p:nvPr/>
        </p:nvSpPr>
        <p:spPr>
          <a:xfrm>
            <a:off x="6815937" y="2240280"/>
            <a:ext cx="4641494" cy="45720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5937" y="2359152"/>
            <a:ext cx="4641494" cy="288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어떻게 알게 됐나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5937" y="2757220"/>
            <a:ext cx="2042257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텔레그램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31347" y="2825800"/>
            <a:ext cx="1794564" cy="1828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31347" y="2825800"/>
            <a:ext cx="897282" cy="182880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99064" y="2757220"/>
            <a:ext cx="65836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2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50.0%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5937" y="3077260"/>
            <a:ext cx="2042257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친구·또래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31347" y="3145840"/>
            <a:ext cx="1794564" cy="1828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931347" y="3145840"/>
            <a:ext cx="597590" cy="182880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99064" y="3077260"/>
            <a:ext cx="65836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2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33.3%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5937" y="3397300"/>
            <a:ext cx="2042257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222633"/>
                </a:solidFill>
                <a:latin typeface="Pretendard"/>
                <a:ea typeface="Pretendard"/>
                <a:cs typeface="Pretendard"/>
              </a:rPr>
              <a:t>유튜브·블로그 등 온라인 콘텐츠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31347" y="3465880"/>
            <a:ext cx="1794564" cy="1828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931347" y="3465880"/>
            <a:ext cx="299692" cy="182880"/>
          </a:xfrm>
          <a:prstGeom prst="rect">
            <a:avLst/>
          </a:prstGeom>
          <a:solidFill>
            <a:srgbClr val="5A66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799064" y="3397300"/>
            <a:ext cx="65836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250" b="1">
                <a:solidFill>
                  <a:srgbClr val="1E2761"/>
                </a:solidFill>
                <a:latin typeface="Pretendard"/>
                <a:ea typeface="Pretendard"/>
                <a:cs typeface="Pretendard"/>
              </a:rPr>
              <a:t>16.7%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