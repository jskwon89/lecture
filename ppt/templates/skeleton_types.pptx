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21aa6ca729784704" Type="http://schemas.openxmlformats.org/officeDocument/2006/relationships/extended-properties" Target="docProps/app.xml"/><Relationship Id="R570e3adcea3046a5" Type="http://schemas.openxmlformats.org/package/2006/relationships/metadata/core-properties" Target="docProps/core.xml"/><Relationship Id="Rc46171272e5c4a07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f91b326b224b05"/>
  </p:sldMasterIdLst>
  <p:notesMasterIdLst>
    <p:notesMasterId xmlns:r="http://schemas.openxmlformats.org/officeDocument/2006/relationships" r:id="R4403973243ce4dc9"/>
  </p:notesMasterIdLst>
  <p:sldIdLst>
    <p:sldId xmlns:r="http://schemas.openxmlformats.org/officeDocument/2006/relationships" id="256" r:id="rIdS1"/>
    <p:sldId xmlns:r="http://schemas.openxmlformats.org/officeDocument/2006/relationships" id="257" r:id="rIdS2"/>
    <p:sldId xmlns:r="http://schemas.openxmlformats.org/officeDocument/2006/relationships" id="258" r:id="rIdS3"/>
    <p:sldId xmlns:r="http://schemas.openxmlformats.org/officeDocument/2006/relationships" id="259" r:id="rIdS4"/>
    <p:sldId xmlns:r="http://schemas.openxmlformats.org/officeDocument/2006/relationships" id="260" r:id="rIdS5"/>
    <p:sldId xmlns:r="http://schemas.openxmlformats.org/officeDocument/2006/relationships" id="261" r:id="rIdS6"/>
    <p:sldId xmlns:r="http://schemas.openxmlformats.org/officeDocument/2006/relationships" id="262" r:id="rIdS7"/>
    <p:sldId xmlns:r="http://schemas.openxmlformats.org/officeDocument/2006/relationships" id="263" r:id="rIdS8"/>
    <p:sldId xmlns:r="http://schemas.openxmlformats.org/officeDocument/2006/relationships" id="264" r:id="rIdS9"/>
    <p:sldId xmlns:r="http://schemas.openxmlformats.org/officeDocument/2006/relationships" id="265" r:id="rIdS10"/>
    <p:sldId xmlns:r="http://schemas.openxmlformats.org/officeDocument/2006/relationships" id="266" r:id="rIdS11"/>
    <p:sldId xmlns:r="http://schemas.openxmlformats.org/officeDocument/2006/relationships" id="267" r:id="rIdS12"/>
    <p:sldId xmlns:r="http://schemas.openxmlformats.org/officeDocument/2006/relationships" id="268" r:id="rIdS13"/>
    <p:sldId xmlns:r="http://schemas.openxmlformats.org/officeDocument/2006/relationships" id="269" r:id="rIdS14"/>
    <p:sldId xmlns:r="http://schemas.openxmlformats.org/officeDocument/2006/relationships" id="270" r:id="rIdS15"/>
    <p:sldId xmlns:r="http://schemas.openxmlformats.org/officeDocument/2006/relationships" id="271" r:id="rIdS16"/>
    <p:sldId xmlns:r="http://schemas.openxmlformats.org/officeDocument/2006/relationships" id="272" r:id="rIdS17"/>
    <p:sldId xmlns:r="http://schemas.openxmlformats.org/officeDocument/2006/relationships" id="273" r:id="rIdS18"/>
    <p:sldId xmlns:r="http://schemas.openxmlformats.org/officeDocument/2006/relationships" id="274" r:id="rIdS19"/>
    <p:sldId xmlns:r="http://schemas.openxmlformats.org/officeDocument/2006/relationships" id="275" r:id="rIdS20"/>
    <p:sldId xmlns:r="http://schemas.openxmlformats.org/officeDocument/2006/relationships" id="276" r:id="rIdS21"/>
    <p:sldId xmlns:r="http://schemas.openxmlformats.org/officeDocument/2006/relationships" id="277" r:id="rIdS22"/>
    <p:sldId xmlns:r="http://schemas.openxmlformats.org/officeDocument/2006/relationships" id="278" r:id="rIdS23"/>
    <p:sldId xmlns:r="http://schemas.openxmlformats.org/officeDocument/2006/relationships" id="279" r:id="rIdS24"/>
    <p:sldId xmlns:r="http://schemas.openxmlformats.org/officeDocument/2006/relationships" id="280" r:id="rIdS25"/>
    <p:sldId xmlns:r="http://schemas.openxmlformats.org/officeDocument/2006/relationships" id="281" r:id="rIdS26"/>
    <p:sldId xmlns:r="http://schemas.openxmlformats.org/officeDocument/2006/relationships" id="282" r:id="rIdS2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4403973243ce4dc9" Type="http://schemas.openxmlformats.org/officeDocument/2006/relationships/notesMaster" Target="notesMasters/notesMaster1.xml"/><Relationship Id="R45f91b326b224b05" Type="http://schemas.openxmlformats.org/officeDocument/2006/relationships/slideMaster" Target="slideMasters/slideMaster1.xml"/><Relationship Id="R4841ebdda49440f1" Type="http://schemas.openxmlformats.org/officeDocument/2006/relationships/viewProps" Target="viewProps.xml"/><Relationship Id="R64e0645bfd734622" Type="http://schemas.openxmlformats.org/officeDocument/2006/relationships/presProps" Target="presProps.xml"/><Relationship Id="R9d219f20d9bb4513" Type="http://schemas.openxmlformats.org/officeDocument/2006/relationships/tableStyles" Target="tableStyles.xml"/><Relationship Id="R9d34294a9aa3480a" Type="http://schemas.openxmlformats.org/officeDocument/2006/relationships/theme" Target="theme/theme1.xml"/><Relationship Id="rIdS1" Type="http://schemas.openxmlformats.org/officeDocument/2006/relationships/slide" Target="slides/slide1.xml"/><Relationship Id="rIdS10" Type="http://schemas.openxmlformats.org/officeDocument/2006/relationships/slide" Target="slides/slide10.xml"/><Relationship Id="rIdS11" Type="http://schemas.openxmlformats.org/officeDocument/2006/relationships/slide" Target="slides/slide11.xml"/><Relationship Id="rIdS12" Type="http://schemas.openxmlformats.org/officeDocument/2006/relationships/slide" Target="slides/slide12.xml"/><Relationship Id="rIdS13" Type="http://schemas.openxmlformats.org/officeDocument/2006/relationships/slide" Target="slides/slide13.xml"/><Relationship Id="rIdS14" Type="http://schemas.openxmlformats.org/officeDocument/2006/relationships/slide" Target="slides/slide14.xml"/><Relationship Id="rIdS15" Type="http://schemas.openxmlformats.org/officeDocument/2006/relationships/slide" Target="slides/slide15.xml"/><Relationship Id="rIdS16" Type="http://schemas.openxmlformats.org/officeDocument/2006/relationships/slide" Target="slides/slide16.xml"/><Relationship Id="rIdS17" Type="http://schemas.openxmlformats.org/officeDocument/2006/relationships/slide" Target="slides/slide17.xml"/><Relationship Id="rIdS18" Type="http://schemas.openxmlformats.org/officeDocument/2006/relationships/slide" Target="slides/slide18.xml"/><Relationship Id="rIdS19" Type="http://schemas.openxmlformats.org/officeDocument/2006/relationships/slide" Target="slides/slide19.xml"/><Relationship Id="rIdS2" Type="http://schemas.openxmlformats.org/officeDocument/2006/relationships/slide" Target="slides/slide2.xml"/><Relationship Id="rIdS20" Type="http://schemas.openxmlformats.org/officeDocument/2006/relationships/slide" Target="slides/slide20.xml"/><Relationship Id="rIdS21" Type="http://schemas.openxmlformats.org/officeDocument/2006/relationships/slide" Target="slides/slide21.xml"/><Relationship Id="rIdS22" Type="http://schemas.openxmlformats.org/officeDocument/2006/relationships/slide" Target="slides/slide22.xml"/><Relationship Id="rIdS23" Type="http://schemas.openxmlformats.org/officeDocument/2006/relationships/slide" Target="slides/slide23.xml"/><Relationship Id="rIdS24" Type="http://schemas.openxmlformats.org/officeDocument/2006/relationships/slide" Target="slides/slide24.xml"/><Relationship Id="rIdS25" Type="http://schemas.openxmlformats.org/officeDocument/2006/relationships/slide" Target="slides/slide25.xml"/><Relationship Id="rIdS26" Type="http://schemas.openxmlformats.org/officeDocument/2006/relationships/slide" Target="slides/slide26.xml"/><Relationship Id="rIdS27" Type="http://schemas.openxmlformats.org/officeDocument/2006/relationships/slide" Target="slides/slide27.xml"/><Relationship Id="rIdS3" Type="http://schemas.openxmlformats.org/officeDocument/2006/relationships/slide" Target="slides/slide3.xml"/><Relationship Id="rIdS4" Type="http://schemas.openxmlformats.org/officeDocument/2006/relationships/slide" Target="slides/slide4.xml"/><Relationship Id="rIdS5" Type="http://schemas.openxmlformats.org/officeDocument/2006/relationships/slide" Target="slides/slide5.xml"/><Relationship Id="rIdS6" Type="http://schemas.openxmlformats.org/officeDocument/2006/relationships/slide" Target="slides/slide6.xml"/><Relationship Id="rIdS7" Type="http://schemas.openxmlformats.org/officeDocument/2006/relationships/slide" Target="slides/slide7.xml"/><Relationship Id="rIdS8" Type="http://schemas.openxmlformats.org/officeDocument/2006/relationships/slide" Target="slides/slide8.xml"/><Relationship Id="rIdS9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a3c4ef3c3db04170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1100" dirty="0"/>
              <a:t>[형태] 사용 규칙</a:t>
            </a:r>
          </a:p>
          <a:p>
            <a:r>
              <a:rPr lang="ko-KR" sz="1100" dirty="0"/>
              <a:t>[이럴 때 고른다] 이 파일의 쓰는 법.</a:t>
            </a:r>
          </a:p>
          <a:p>
            <a:r>
              <a:rPr lang="ko-KR" sz="1100" dirty="0"/>
              <a:t>[흔한 변형] 없음.</a:t>
            </a:r>
          </a:p>
          <a:p>
            <a:r>
              <a:rPr lang="ko-KR" sz="1100" dirty="0"/>
              <a:t>[유지] 글꼴·색·좌표 격자·정보 위계·여백 사전(0.10/0.16/0.26/0.40)</a:t>
            </a:r>
          </a:p>
          <a:p>
            <a:r>
              <a:rPr lang="ko-KR" sz="1100" dirty="0"/>
              <a:t>[넘칠 때] 글자를 줄이지 말고 장을 나눈다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1100" dirty="0"/>
              <a:t>[형태] A 표지</a:t>
            </a:r>
          </a:p>
          <a:p>
            <a:r>
              <a:rPr lang="ko-KR" sz="1100" dirty="0"/>
              <a:t>[이럴 때 고른다] 첫 장.</a:t>
            </a:r>
          </a:p>
          <a:p>
            <a:r>
              <a:rPr lang="ko-KR" sz="1100" dirty="0"/>
              <a:t>[흔한 변형] 부제 줄만 바꾼다. 예외 크기(40·34pt)를 다른 장으로 옮기지 않는다.</a:t>
            </a:r>
          </a:p>
          <a:p>
            <a:r>
              <a:rPr lang="ko-KR" sz="1100" dirty="0"/>
              <a:t>[유지] 글꼴·색·좌표 격자·정보 위계·여백 사전(0.10/0.16/0.26/0.40)</a:t>
            </a:r>
          </a:p>
          <a:p>
            <a:r>
              <a:rPr lang="ko-KR" sz="1100" dirty="0"/>
              <a:t>[넘칠 때] 글자를 줄이지 말고 장을 나눈다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1100" dirty="0"/>
              <a:t>[형태] B 목차 2열</a:t>
            </a:r>
          </a:p>
          <a:p>
            <a:r>
              <a:rPr lang="ko-KR" sz="1100" dirty="0"/>
              <a:t>[이럴 때 고른다] 자료를 읽는 순서를 안내할 때.</a:t>
            </a:r>
          </a:p>
          <a:p>
            <a:r>
              <a:rPr lang="ko-KR" sz="1100" dirty="0"/>
              <a:t>[흔한 변형] 행 수를 단원 수에 맞춰 늘리거나 줄인다. 밴드와 설명 문장을 두지 않는다.</a:t>
            </a:r>
          </a:p>
          <a:p>
            <a:r>
              <a:rPr lang="ko-KR" sz="1100" dirty="0"/>
              <a:t>[유지] 글꼴·색·좌표 격자·정보 위계·여백 사전(0.10/0.16/0.26/0.40)</a:t>
            </a:r>
          </a:p>
          <a:p>
            <a:r>
              <a:rPr lang="ko-KR" sz="1100" dirty="0"/>
              <a:t>[넘칠 때] 글자를 줄이지 말고 장을 나눈다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1100" dirty="0"/>
              <a:t>[형태] C 행머리글 2행</a:t>
            </a:r>
          </a:p>
          <a:p>
            <a:r>
              <a:rPr lang="ko-KR" sz="1100" dirty="0"/>
              <a:t>[이럴 때 고른다] 한 대상에 성격이 다른 판단이 둘일 때.</a:t>
            </a:r>
          </a:p>
          <a:p>
            <a:r>
              <a:rPr lang="ko-KR" sz="1100" dirty="0"/>
              <a:t>[흔한 변형] 행 복제로 3~5행까지. 결론 줄만 남기고 보충 줄을 지울 수 있다.</a:t>
            </a:r>
          </a:p>
          <a:p>
            <a:r>
              <a:rPr lang="ko-KR" sz="1100" dirty="0"/>
              <a:t>[유지] 글꼴·색·좌표 격자·정보 위계·여백 사전(0.10/0.16/0.26/0.40)</a:t>
            </a:r>
          </a:p>
          <a:p>
            <a:r>
              <a:rPr lang="ko-KR" sz="1100" dirty="0"/>
              <a:t>[넘칠 때] 글자를 줄이지 말고 장을 나눈다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1100" dirty="0"/>
              <a:t>[형태] C 행머리글 3행</a:t>
            </a:r>
          </a:p>
          <a:p>
            <a:r>
              <a:rPr lang="ko-KR" sz="1100" dirty="0"/>
              <a:t>[이럴 때 고른다] 한 대상에 성격이 다른 판단이 셋일 때. 가장 자주 쓰지만 덱의 3분의 2를 넘기지 않는다.</a:t>
            </a:r>
          </a:p>
          <a:p>
            <a:r>
              <a:rPr lang="ko-KR" sz="1100" dirty="0"/>
              <a:t>[흔한 변형] 마지막 행에 금색 한정 줄을 붙인다.</a:t>
            </a:r>
          </a:p>
          <a:p>
            <a:r>
              <a:rPr lang="ko-KR" sz="1100" dirty="0"/>
              <a:t>[유지] 글꼴·색·좌표 격자·정보 위계·여백 사전(0.10/0.16/0.26/0.40)</a:t>
            </a:r>
          </a:p>
          <a:p>
            <a:r>
              <a:rPr lang="ko-KR" sz="1100" dirty="0"/>
              <a:t>[넘칠 때] 글자를 줄이지 말고 장을 나눈다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1100" dirty="0"/>
              <a:t>[형태] C 행머리글 4행</a:t>
            </a:r>
          </a:p>
          <a:p>
            <a:r>
              <a:rPr lang="ko-KR" sz="1100" dirty="0"/>
              <a:t>[이럴 때 고른다] 판단이 넷일 때.</a:t>
            </a:r>
          </a:p>
          <a:p>
            <a:r>
              <a:rPr lang="ko-KR" sz="1100" dirty="0"/>
              <a:t>[흔한 변형] 다섯 행을 넘으면 장을 나눈다.</a:t>
            </a:r>
          </a:p>
          <a:p>
            <a:r>
              <a:rPr lang="ko-KR" sz="1100" dirty="0"/>
              <a:t>[유지] 글꼴·색·좌표 격자·정보 위계·여백 사전(0.10/0.16/0.26/0.40)</a:t>
            </a:r>
          </a:p>
          <a:p>
            <a:r>
              <a:rPr lang="ko-KR" sz="1100" dirty="0"/>
              <a:t>[넘칠 때] 글자를 줄이지 말고 장을 나눈다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1100" dirty="0"/>
              <a:t>[형태] D 좌우 대조</a:t>
            </a:r>
          </a:p>
          <a:p>
            <a:r>
              <a:rPr lang="ko-KR" sz="1100" dirty="0"/>
              <a:t>[이럴 때 고른다] 두 대상을 같은 기준으로 견줄 때.</a:t>
            </a:r>
          </a:p>
          <a:p>
            <a:r>
              <a:rPr lang="ko-KR" sz="1100" dirty="0"/>
              <a:t>[흔한 변형] 3열로 늘릴 수 있다. 한쪽만 표로 두고 반대쪽을 카드로 바꿀 수 있다(R 참조).</a:t>
            </a:r>
          </a:p>
          <a:p>
            <a:r>
              <a:rPr lang="ko-KR" sz="1100" dirty="0"/>
              <a:t>[유지] 글꼴·색·좌표 격자·정보 위계·여백 사전(0.10/0.16/0.26/0.40)</a:t>
            </a:r>
          </a:p>
          <a:p>
            <a:r>
              <a:rPr lang="ko-KR" sz="1100" dirty="0"/>
              <a:t>[넘칠 때] 글자를 줄이지 말고 장을 나눈다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1100" dirty="0"/>
              <a:t>[형태] E 다열 칸</a:t>
            </a:r>
          </a:p>
          <a:p>
            <a:r>
              <a:rPr lang="ko-KR" sz="1100" dirty="0"/>
              <a:t>[이럴 때 고른다] 셋 이상을 같은 기준으로 견줄 때.</a:t>
            </a:r>
          </a:p>
          <a:p>
            <a:r>
              <a:rPr lang="ko-KR" sz="1100" dirty="0"/>
              <a:t>[흔한 변형] 열 수를 3~5로. 아래에 「비교의 기준」 행을 덧붙일 수 있다.</a:t>
            </a:r>
          </a:p>
          <a:p>
            <a:r>
              <a:rPr lang="ko-KR" sz="1100" dirty="0"/>
              <a:t>[유지] 글꼴·색·좌표 격자·정보 위계·여백 사전(0.10/0.16/0.26/0.40)</a:t>
            </a:r>
          </a:p>
          <a:p>
            <a:r>
              <a:rPr lang="ko-KR" sz="1100" dirty="0"/>
              <a:t>[넘칠 때] 글자를 줄이지 말고 장을 나눈다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1100" dirty="0"/>
              <a:t>[형태] F 격자 표</a:t>
            </a:r>
          </a:p>
          <a:p>
            <a:r>
              <a:rPr lang="ko-KR" sz="1100" dirty="0"/>
              <a:t>[이럴 때 고른다] 규격이 정해진 자료(호·기간·연령).</a:t>
            </a:r>
          </a:p>
          <a:p>
            <a:r>
              <a:rPr lang="ko-KR" sz="1100" dirty="0"/>
              <a:t>[흔한 변형] 열 수와 행 수를 자료에 맞춘다. 표 아래 설명 행이 셋을 넘으면 장을 나눈다.</a:t>
            </a:r>
          </a:p>
          <a:p>
            <a:r>
              <a:rPr lang="ko-KR" sz="1100" dirty="0"/>
              <a:t>[유지] 글꼴·색·좌표 격자·정보 위계·여백 사전(0.10/0.16/0.26/0.40)</a:t>
            </a:r>
          </a:p>
          <a:p>
            <a:r>
              <a:rPr lang="ko-KR" sz="1100" dirty="0"/>
              <a:t>[넘칠 때] 글자를 줄이지 말고 장을 나눈다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1100" dirty="0"/>
              <a:t>[형태] G 연구 3행</a:t>
            </a:r>
          </a:p>
          <a:p>
            <a:r>
              <a:rPr lang="ko-KR" sz="1100" dirty="0"/>
              <a:t>[이럴 때 고른다] 연구를 읽되 지면이 좁을 때.</a:t>
            </a:r>
          </a:p>
          <a:p>
            <a:r>
              <a:rPr lang="ko-KR" sz="1100" dirty="0"/>
              <a:t>[흔한 변형] 비교 구도·결과·한계 셋만 남긴다.</a:t>
            </a:r>
          </a:p>
          <a:p>
            <a:r>
              <a:rPr lang="ko-KR" sz="1100" dirty="0"/>
              <a:t>[유지] 글꼴·색·좌표 격자·정보 위계·여백 사전(0.10/0.16/0.26/0.40)</a:t>
            </a:r>
          </a:p>
          <a:p>
            <a:r>
              <a:rPr lang="ko-KR" sz="1100" dirty="0"/>
              <a:t>[넘칠 때] 글자를 줄이지 말고 장을 나눈다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1100" dirty="0"/>
              <a:t>[형태] G 연구 4행</a:t>
            </a:r>
          </a:p>
          <a:p>
            <a:r>
              <a:rPr lang="ko-KR" sz="1100" dirty="0"/>
              <a:t>[이럴 때 고른다] 연구의 기본형.</a:t>
            </a:r>
          </a:p>
          <a:p>
            <a:r>
              <a:rPr lang="ko-KR" sz="1100" dirty="0"/>
              <a:t>[흔한 변형] 결과 행만 13pt Bold로 한 급 올린다.</a:t>
            </a:r>
          </a:p>
          <a:p>
            <a:r>
              <a:rPr lang="ko-KR" sz="1100" dirty="0"/>
              <a:t>[유지] 글꼴·색·좌표 격자·정보 위계·여백 사전(0.10/0.16/0.26/0.40)</a:t>
            </a:r>
          </a:p>
          <a:p>
            <a:r>
              <a:rPr lang="ko-KR" sz="1100" dirty="0"/>
              <a:t>[넘칠 때] 글자를 줄이지 말고 장을 나눈다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1100" dirty="0"/>
              <a:t>[형태] G 연구 5행</a:t>
            </a:r>
          </a:p>
          <a:p>
            <a:r>
              <a:rPr lang="ko-KR" sz="1100" dirty="0"/>
              <a:t>[이럴 때 고른다] 조건을 바꾼 결과까지 볼 때.</a:t>
            </a:r>
          </a:p>
          <a:p>
            <a:r>
              <a:rPr lang="ko-KR" sz="1100" dirty="0"/>
              <a:t>[흔한 변형] 「논제에 쓸 범위」 행에 금색 한정 줄을 둔다.</a:t>
            </a:r>
          </a:p>
          <a:p>
            <a:r>
              <a:rPr lang="ko-KR" sz="1100" dirty="0"/>
              <a:t>[유지] 글꼴·색·좌표 격자·정보 위계·여백 사전(0.10/0.16/0.26/0.40)</a:t>
            </a:r>
          </a:p>
          <a:p>
            <a:r>
              <a:rPr lang="ko-KR" sz="1100" dirty="0"/>
              <a:t>[넘칠 때] 글자를 줄이지 말고 장을 나눈다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1100" dirty="0"/>
              <a:t>[형태] H 막대</a:t>
            </a:r>
          </a:p>
          <a:p>
            <a:r>
              <a:rPr lang="ko-KR" sz="1100" dirty="0"/>
              <a:t>[이럴 때 고른다] 비율이 전체를 나눌 때.</a:t>
            </a:r>
          </a:p>
          <a:p>
            <a:r>
              <a:rPr lang="ko-KR" sz="1100" dirty="0"/>
              <a:t>[흔한 변형] 전후 비교면 막대 두 벌을 나란히. 좁은 조각은 라벨을 막대 밖에 둔다.</a:t>
            </a:r>
          </a:p>
          <a:p>
            <a:r>
              <a:rPr lang="ko-KR" sz="1100" dirty="0"/>
              <a:t>[유지] 글꼴·색·좌표 격자·정보 위계·여백 사전(0.10/0.16/0.26/0.40)</a:t>
            </a:r>
          </a:p>
          <a:p>
            <a:r>
              <a:rPr lang="ko-KR" sz="1100" dirty="0"/>
              <a:t>[넘칠 때] 글자를 줄이지 말고 장을 나눈다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1100" dirty="0"/>
              <a:t>[형태] I 경과 밴드</a:t>
            </a:r>
          </a:p>
          <a:p>
            <a:r>
              <a:rPr lang="ko-KR" sz="1100" dirty="0"/>
              <a:t>[이럴 때 고른다] 사건이 심급을 거쳐 이동할 때.</a:t>
            </a:r>
          </a:p>
          <a:p>
            <a:r>
              <a:rPr lang="ko-KR" sz="1100" dirty="0"/>
              <a:t>[흔한 변형] 경과 줄을 상단 밴드 아래 한 줄로 두고 아래는 행 표로.</a:t>
            </a:r>
          </a:p>
          <a:p>
            <a:r>
              <a:rPr lang="ko-KR" sz="1100" dirty="0"/>
              <a:t>[유지] 글꼴·색·좌표 격자·정보 위계·여백 사전(0.10/0.16/0.26/0.40)</a:t>
            </a:r>
          </a:p>
          <a:p>
            <a:r>
              <a:rPr lang="ko-KR" sz="1100" dirty="0"/>
              <a:t>[넘칠 때] 글자를 줄이지 말고 장을 나눈다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1100" dirty="0"/>
              <a:t>[형태] J 도식</a:t>
            </a:r>
          </a:p>
          <a:p>
            <a:r>
              <a:rPr lang="ko-KR" sz="1100" dirty="0"/>
              <a:t>[이럴 때 고른다] 절차가 갈라지고 결과가 여럿일 때.</a:t>
            </a:r>
          </a:p>
          <a:p>
            <a:r>
              <a:rPr lang="ko-KR" sz="1100" dirty="0"/>
              <a:t>[흔한 변형] 노드 텍스트만 바꾼다. 예외 크기를 쓰므로 다른 장으로 옮기지 않는다.</a:t>
            </a:r>
          </a:p>
          <a:p>
            <a:r>
              <a:rPr lang="ko-KR" sz="1100" dirty="0"/>
              <a:t>[유지] 글꼴·색·좌표 격자·정보 위계·여백 사전(0.10/0.16/0.26/0.40)</a:t>
            </a:r>
          </a:p>
          <a:p>
            <a:r>
              <a:rPr lang="ko-KR" sz="1100" dirty="0"/>
              <a:t>[넘칠 때] 글자를 줄이지 말고 장을 나눈다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1100" dirty="0"/>
              <a:t>[형태] K 쟁점 지도</a:t>
            </a:r>
          </a:p>
          <a:p>
            <a:r>
              <a:rPr lang="ko-KR" sz="1100" dirty="0"/>
              <a:t>[이럴 때 고른다] 판단이 달라지는 물음을 모을 때. 종합 단계에만 둔다.</a:t>
            </a:r>
          </a:p>
          <a:p>
            <a:r>
              <a:rPr lang="ko-KR" sz="1100" dirty="0"/>
              <a:t>[흔한 변형] 물음 수를 3~5로. 공통 지점은 2~3항목.</a:t>
            </a:r>
          </a:p>
          <a:p>
            <a:r>
              <a:rPr lang="ko-KR" sz="1100" dirty="0"/>
              <a:t>[유지] 글꼴·색·좌표 격자·정보 위계·여백 사전(0.10/0.16/0.26/0.40)</a:t>
            </a:r>
          </a:p>
          <a:p>
            <a:r>
              <a:rPr lang="ko-KR" sz="1100" dirty="0"/>
              <a:t>[넘칠 때] 글자를 줄이지 말고 장을 나눈다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1100" dirty="0"/>
              <a:t>[형태] L 워크시트</a:t>
            </a:r>
          </a:p>
          <a:p>
            <a:r>
              <a:rPr lang="ko-KR" sz="1100" dirty="0"/>
              <a:t>[이럴 때 고른다] 학생이 채울 때.</a:t>
            </a:r>
          </a:p>
          <a:p>
            <a:r>
              <a:rPr lang="ko-KR" sz="1100" dirty="0"/>
              <a:t>[흔한 변형] 항목 수를 3~5로. 빈 줄의 높이를 늘릴 수 있다.</a:t>
            </a:r>
          </a:p>
          <a:p>
            <a:r>
              <a:rPr lang="ko-KR" sz="1100" dirty="0"/>
              <a:t>[유지] 글꼴·색·좌표 격자·정보 위계·여백 사전(0.10/0.16/0.26/0.40)</a:t>
            </a:r>
          </a:p>
          <a:p>
            <a:r>
              <a:rPr lang="ko-KR" sz="1100" dirty="0"/>
              <a:t>[넘칠 때] 글자를 줄이지 말고 장을 나눈다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1100" dirty="0"/>
              <a:t>[형태] 구분 장 · 예외 크기</a:t>
            </a:r>
          </a:p>
          <a:p>
            <a:r>
              <a:rPr lang="ko-KR" sz="1100" dirty="0"/>
              <a:t>[이럴 때 고른다] 구간을 끊을 때.</a:t>
            </a:r>
          </a:p>
          <a:p>
            <a:r>
              <a:rPr lang="ko-KR" sz="1100" dirty="0"/>
              <a:t>[흔한 변형] 수록 항목 줄만 바꾼다.</a:t>
            </a:r>
          </a:p>
          <a:p>
            <a:r>
              <a:rPr lang="ko-KR" sz="1100" dirty="0"/>
              <a:t>[유지] 글꼴·색·좌표 격자·정보 위계·여백 사전(0.10/0.16/0.26/0.40)</a:t>
            </a:r>
          </a:p>
          <a:p>
            <a:r>
              <a:rPr lang="ko-KR" sz="1100" dirty="0"/>
              <a:t>[넘칠 때] 글자를 줄이지 말고 장을 나눈다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1100" dirty="0"/>
              <a:t>[형태] M 분기 도식</a:t>
            </a:r>
          </a:p>
          <a:p>
            <a:r>
              <a:rPr lang="ko-KR" sz="1100" dirty="0"/>
              <a:t>[이럴 때 고른다] 절차가 조건에 따라 갈라질 때.</a:t>
            </a:r>
          </a:p>
          <a:p>
            <a:r>
              <a:rPr lang="ko-KR" sz="1100" dirty="0"/>
              <a:t>[흔한 변형] 갈래 수를 늘리면 노드 폭을 줄인다. 아래에 전제 설명 행을 붙일 수 있다.</a:t>
            </a:r>
          </a:p>
          <a:p>
            <a:r>
              <a:rPr lang="ko-KR" sz="1100" dirty="0"/>
              <a:t>[유지] 글꼴·색·좌표 격자·정보 위계·여백 사전(0.10/0.16/0.26/0.40)</a:t>
            </a:r>
          </a:p>
          <a:p>
            <a:r>
              <a:rPr lang="ko-KR" sz="1100" dirty="0"/>
              <a:t>[넘칠 때] 글자를 줄이지 말고 장을 나눈다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1100" dirty="0"/>
              <a:t>[형태] N 가로 단계 밴드</a:t>
            </a:r>
          </a:p>
          <a:p>
            <a:r>
              <a:rPr lang="ko-KR" sz="1100" dirty="0"/>
              <a:t>[이럴 때 고른다] 단계가 순서대로 이어질 때.</a:t>
            </a:r>
          </a:p>
          <a:p>
            <a:r>
              <a:rPr lang="ko-KR" sz="1100" dirty="0"/>
              <a:t>[흔한 변형] 칸 수를 3~5로. 아래에 단독 대비 행을 붙일 수 있다.</a:t>
            </a:r>
          </a:p>
          <a:p>
            <a:r>
              <a:rPr lang="ko-KR" sz="1100" dirty="0"/>
              <a:t>[유지] 글꼴·색·좌표 격자·정보 위계·여백 사전(0.10/0.16/0.26/0.40)</a:t>
            </a:r>
          </a:p>
          <a:p>
            <a:r>
              <a:rPr lang="ko-KR" sz="1100" dirty="0"/>
              <a:t>[넘칠 때] 글자를 줄이지 말고 장을 나눈다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1100" dirty="0"/>
              <a:t>[형태] O 세로 바 항목</a:t>
            </a:r>
          </a:p>
          <a:p>
            <a:r>
              <a:rPr lang="ko-KR" sz="1100" dirty="0"/>
              <a:t>[이럴 때 고른다] 항목이 나열되고 서로 순위가 없을 때. 연표에도 쓴다.</a:t>
            </a:r>
          </a:p>
          <a:p>
            <a:r>
              <a:rPr lang="ko-KR" sz="1100" dirty="0"/>
              <a:t>[흔한 변형] 항목 수 3~5. 바 색을 금색·남색으로 번갈아 둔다.</a:t>
            </a:r>
          </a:p>
          <a:p>
            <a:r>
              <a:rPr lang="ko-KR" sz="1100" dirty="0"/>
              <a:t>[유지] 글꼴·색·좌표 격자·정보 위계·여백 사전(0.10/0.16/0.26/0.40)</a:t>
            </a:r>
          </a:p>
          <a:p>
            <a:r>
              <a:rPr lang="ko-KR" sz="1100" dirty="0"/>
              <a:t>[넘칠 때] 글자를 줄이지 말고 장을 나눈다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1100" dirty="0"/>
              <a:t>[형태] P 좌우 논거 카드</a:t>
            </a:r>
          </a:p>
          <a:p>
            <a:r>
              <a:rPr lang="ko-KR" sz="1100" dirty="0"/>
              <a:t>[이럴 때 고른다] 두 입장의 논거를 각각 여러 개 펼 때.</a:t>
            </a:r>
          </a:p>
          <a:p>
            <a:r>
              <a:rPr lang="ko-KR" sz="1100" dirty="0"/>
              <a:t>[흔한 변형] 카드 수를 좌우 같게. 카드 안은 소제목 + 한 문장.</a:t>
            </a:r>
          </a:p>
          <a:p>
            <a:r>
              <a:rPr lang="ko-KR" sz="1100" dirty="0"/>
              <a:t>[유지] 글꼴·색·좌표 격자·정보 위계·여백 사전(0.10/0.16/0.26/0.40)</a:t>
            </a:r>
          </a:p>
          <a:p>
            <a:r>
              <a:rPr lang="ko-KR" sz="1100" dirty="0"/>
              <a:t>[넘칠 때] 글자를 줄이지 말고 장을 나눈다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1100" dirty="0"/>
              <a:t>[형태] Q 셀 격자 4열</a:t>
            </a:r>
          </a:p>
          <a:p>
            <a:r>
              <a:rPr lang="ko-KR" sz="1100" dirty="0"/>
              <a:t>[이럴 때 고른다] 셋 이상을 네 개 이상의 기준으로 견줄 때.</a:t>
            </a:r>
          </a:p>
          <a:p>
            <a:r>
              <a:rPr lang="ko-KR" sz="1100" dirty="0"/>
              <a:t>[흔한 변형] 열을 3~5로. 좌열 라벨은 금색.</a:t>
            </a:r>
          </a:p>
          <a:p>
            <a:r>
              <a:rPr lang="ko-KR" sz="1100" dirty="0"/>
              <a:t>[유지] 글꼴·색·좌표 격자·정보 위계·여백 사전(0.10/0.16/0.26/0.40)</a:t>
            </a:r>
          </a:p>
          <a:p>
            <a:r>
              <a:rPr lang="ko-KR" sz="1100" dirty="0"/>
              <a:t>[넘칠 때] 글자를 줄이지 말고 장을 나눈다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1100" dirty="0"/>
              <a:t>[형태] R 좌우 비대칭</a:t>
            </a:r>
          </a:p>
          <a:p>
            <a:r>
              <a:rPr lang="ko-KR" sz="1100" dirty="0"/>
              <a:t>[이럴 때 고른다] 두 열의 형태가 서로 다를 때.</a:t>
            </a:r>
          </a:p>
          <a:p>
            <a:r>
              <a:rPr lang="ko-KR" sz="1100" dirty="0"/>
              <a:t>[흔한 변형] 왼쪽 표 + 오른쪽 카드가 기본. 반대로도 쓴다.</a:t>
            </a:r>
          </a:p>
          <a:p>
            <a:r>
              <a:rPr lang="ko-KR" sz="1100" dirty="0"/>
              <a:t>[유지] 글꼴·색·좌표 격자·정보 위계·여백 사전(0.10/0.16/0.26/0.40)</a:t>
            </a:r>
          </a:p>
          <a:p>
            <a:r>
              <a:rPr lang="ko-KR" sz="1100" dirty="0"/>
              <a:t>[넘칠 때] 글자를 줄이지 말고 장을 나눈다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1100" dirty="0"/>
              <a:t>[형태] S 3열 표</a:t>
            </a:r>
          </a:p>
          <a:p>
            <a:r>
              <a:rPr lang="ko-KR" sz="1100" dirty="0"/>
              <a:t>[이럴 때 고른다] 항목마다 속성이 둘씩 붙을 때.</a:t>
            </a:r>
          </a:p>
          <a:p>
            <a:r>
              <a:rPr lang="ko-KR" sz="1100" dirty="0"/>
              <a:t>[흔한 변형] 행 수를 자료에 맞춘다. 셀 테두리는 유지.</a:t>
            </a:r>
          </a:p>
          <a:p>
            <a:r>
              <a:rPr lang="ko-KR" sz="1100" dirty="0"/>
              <a:t>[유지] 글꼴·색·좌표 격자·정보 위계·여백 사전(0.10/0.16/0.26/0.40)</a:t>
            </a:r>
          </a:p>
          <a:p>
            <a:r>
              <a:rPr lang="ko-KR" sz="1100" dirty="0"/>
              <a:t>[넘칠 때] 글자를 줄이지 말고 장을 나눈다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1100" dirty="0"/>
              <a:t>[형태] T 자료·시점 3열</a:t>
            </a:r>
          </a:p>
          <a:p>
            <a:r>
              <a:rPr lang="ko-KR" sz="1100" dirty="0"/>
              <a:t>[이럴 때 고른다] 기관·시점·핵심이 한 줄로 묶일 때.</a:t>
            </a:r>
          </a:p>
          <a:p>
            <a:r>
              <a:rPr lang="ko-KR" sz="1100" dirty="0"/>
              <a:t>[흔한 변형] 행 수 3~5. 우열에 금색 한정 줄을 둘 수 있다.</a:t>
            </a:r>
          </a:p>
          <a:p>
            <a:r>
              <a:rPr lang="ko-KR" sz="1100" dirty="0"/>
              <a:t>[유지] 글꼴·색·좌표 격자·정보 위계·여백 사전(0.10/0.16/0.26/0.40)</a:t>
            </a:r>
          </a:p>
          <a:p>
            <a:r>
              <a:rPr lang="ko-KR" sz="1100" dirty="0"/>
              <a:t>[넘칠 때] 글자를 줄이지 말고 장을 나눈다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1100" dirty="0"/>
              <a:t>[형태] U 좌우 소제목 병렬</a:t>
            </a:r>
          </a:p>
          <a:p>
            <a:r>
              <a:rPr lang="ko-KR" sz="1100" dirty="0"/>
              <a:t>[이럴 때 고른다] 두 축의 소제목 아래 각각 결론이 있을 때.</a:t>
            </a:r>
          </a:p>
          <a:p>
            <a:r>
              <a:rPr lang="ko-KR" sz="1100" dirty="0"/>
              <a:t>[흔한 변형] 가운데 결론 한 줄을 지우고 두 열만 둘 수 있다.</a:t>
            </a:r>
          </a:p>
          <a:p>
            <a:r>
              <a:rPr lang="ko-KR" sz="1100" dirty="0"/>
              <a:t>[유지] 글꼴·색·좌표 격자·정보 위계·여백 사전(0.10/0.16/0.26/0.40)</a:t>
            </a:r>
          </a:p>
          <a:p>
            <a:r>
              <a:rPr lang="ko-KR" sz="1100" dirty="0"/>
              <a:t>[넘칠 때] 글자를 줄이지 말고 장을 나눈다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832cefed21664d5e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937d2cd199bb46a5" Type="http://schemas.openxmlformats.org/officeDocument/2006/relationships/theme" Target="theme/theme2.xml"/><Relationship Id="Rf75e1fb04b504a95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5e1fb04b504a95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Pretendard"/>
          <a:ea typeface="Pretendard"/>
          <a:cs typeface="Pretendard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retendard"/>
          <a:ea typeface="Pretendard"/>
          <a:cs typeface="Pretendard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retendard"/>
          <a:ea typeface="Pretendard"/>
          <a:cs typeface="Pretendard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retendard"/>
          <a:ea typeface="Pretendard"/>
          <a:cs typeface="Pretendard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4ef41e8e8c83433f" Type="http://schemas.openxmlformats.org/officeDocument/2006/relationships/slideLayout" Target="../slideLayouts/slideLayout1.xml"/><Relationship Id="rIdN1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4ef41e8e8c83433f" Type="http://schemas.openxmlformats.org/officeDocument/2006/relationships/slideLayout" Target="../slideLayouts/slideLayout1.xml"/><Relationship Id="rIdN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4ef41e8e8c83433f" Type="http://schemas.openxmlformats.org/officeDocument/2006/relationships/slideLayout" Target="../slideLayouts/slideLayout1.xml"/><Relationship Id="rIdN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4ef41e8e8c83433f" Type="http://schemas.openxmlformats.org/officeDocument/2006/relationships/slideLayout" Target="../slideLayouts/slideLayout1.xml"/><Relationship Id="rIdN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4ef41e8e8c83433f" Type="http://schemas.openxmlformats.org/officeDocument/2006/relationships/slideLayout" Target="../slideLayouts/slideLayout1.xml"/><Relationship Id="rIdN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4ef41e8e8c83433f" Type="http://schemas.openxmlformats.org/officeDocument/2006/relationships/slideLayout" Target="../slideLayouts/slideLayout1.xml"/><Relationship Id="rIdN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4ef41e8e8c83433f" Type="http://schemas.openxmlformats.org/officeDocument/2006/relationships/slideLayout" Target="../slideLayouts/slideLayout1.xml"/><Relationship Id="rIdN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4ef41e8e8c83433f" Type="http://schemas.openxmlformats.org/officeDocument/2006/relationships/slideLayout" Target="../slideLayouts/slideLayout1.xml"/><Relationship Id="rIdN8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4ef41e8e8c83433f" Type="http://schemas.openxmlformats.org/officeDocument/2006/relationships/slideLayout" Target="../slideLayouts/slideLayout1.xml"/><Relationship Id="rIdN9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4ef41e8e8c83433f" Type="http://schemas.openxmlformats.org/officeDocument/2006/relationships/slideLayout" Target="../slideLayouts/slideLayout1.xml"/><Relationship Id="rIdN10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4ef41e8e8c83433f" Type="http://schemas.openxmlformats.org/officeDocument/2006/relationships/slideLayout" Target="../slideLayouts/slideLayout1.xml"/><Relationship Id="rIdN11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4ef41e8e8c83433f" Type="http://schemas.openxmlformats.org/officeDocument/2006/relationships/slideLayout" Target="../slideLayouts/slideLayout1.xml"/><Relationship Id="rIdN1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4ef41e8e8c83433f" Type="http://schemas.openxmlformats.org/officeDocument/2006/relationships/slideLayout" Target="../slideLayouts/slideLayout1.xml"/><Relationship Id="rIdN1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4ef41e8e8c83433f" Type="http://schemas.openxmlformats.org/officeDocument/2006/relationships/slideLayout" Target="../slideLayouts/slideLayout1.xml"/><Relationship Id="rIdN1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4ef41e8e8c83433f" Type="http://schemas.openxmlformats.org/officeDocument/2006/relationships/slideLayout" Target="../slideLayouts/slideLayout1.xml"/><Relationship Id="rIdN1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4ef41e8e8c83433f" Type="http://schemas.openxmlformats.org/officeDocument/2006/relationships/slideLayout" Target="../slideLayouts/slideLayout1.xml"/><Relationship Id="rIdN16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4ef41e8e8c83433f" Type="http://schemas.openxmlformats.org/officeDocument/2006/relationships/slideLayout" Target="../slideLayouts/slideLayout1.xml"/><Relationship Id="rIdN17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4ef41e8e8c83433f" Type="http://schemas.openxmlformats.org/officeDocument/2006/relationships/slideLayout" Target="../slideLayouts/slideLayout1.xml"/><Relationship Id="rIdN18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4ef41e8e8c83433f" Type="http://schemas.openxmlformats.org/officeDocument/2006/relationships/slideLayout" Target="../slideLayouts/slideLayout1.xml"/><Relationship Id="rIdN19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4ef41e8e8c83433f" Type="http://schemas.openxmlformats.org/officeDocument/2006/relationships/slideLayout" Target="../slideLayouts/slideLayout1.xml"/><Relationship Id="rIdN20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4ef41e8e8c83433f" Type="http://schemas.openxmlformats.org/officeDocument/2006/relationships/slideLayout" Target="../slideLayouts/slideLayout1.xml"/><Relationship Id="rIdN21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4ef41e8e8c83433f" Type="http://schemas.openxmlformats.org/officeDocument/2006/relationships/slideLayout" Target="../slideLayouts/slideLayout1.xml"/><Relationship Id="rIdN2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4ef41e8e8c83433f" Type="http://schemas.openxmlformats.org/officeDocument/2006/relationships/slideLayout" Target="../slideLayouts/slideLayout1.xml"/><Relationship Id="rIdN2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4ef41e8e8c83433f" Type="http://schemas.openxmlformats.org/officeDocument/2006/relationships/slideLayout" Target="../slideLayouts/slideLayout1.xml"/><Relationship Id="rIdN2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4ef41e8e8c83433f" Type="http://schemas.openxmlformats.org/officeDocument/2006/relationships/slideLayout" Target="../slideLayouts/slideLayout1.xml"/><Relationship Id="rIdN25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4ef41e8e8c83433f" Type="http://schemas.openxmlformats.org/officeDocument/2006/relationships/slideLayout" Target="../slideLayouts/slideLayout1.xml"/><Relationship Id="rIdN26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4ef41e8e8c83433f" Type="http://schemas.openxmlformats.org/officeDocument/2006/relationships/slideLayout" Target="../slideLayouts/slideLayout1.xml"/><Relationship Id="rIdN27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ICKER"/>
          <p:cNvSpPr/>
          <p:nvPr/>
        </p:nvSpPr>
        <p:spPr>
          <a:xfrm>
            <a:off x="731520" y="36576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250" b="1" spc="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골격 파일</a:t>
            </a:r>
          </a:p>
        </p:txBody>
      </p:sp>
      <p:sp>
        <p:nvSpPr>
          <p:cNvPr id="11" name="NEXT"/>
          <p:cNvSpPr/>
          <p:nvPr/>
        </p:nvSpPr>
        <p:spPr>
          <a:xfrm>
            <a:off x="6035040" y="384048"/>
            <a:ext cx="5422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8000"/>
              </a:lnSpc>
              <a:buNone/>
            </a:pPr>
            <a:r>
              <a:rPr lang="ko-KR" alt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→ 표지</a:t>
            </a:r>
          </a:p>
        </p:txBody>
      </p:sp>
      <p:sp>
        <p:nvSpPr>
          <p:cNvPr id="12" name="TITLE"/>
          <p:cNvSpPr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27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파일을 쓰는 방법</a:t>
            </a:r>
          </a:p>
        </p:txBody>
      </p:sp>
      <p:sp>
        <p:nvSpPr>
          <p:cNvPr id="13" name="BANDBG"/>
          <p:cNvSpPr/>
          <p:nvPr/>
        </p:nvSpPr>
        <p:spPr>
          <a:xfrm>
            <a:off x="731520" y="1417320"/>
            <a:ext cx="10725912" cy="54864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14" name="BANDTX"/>
          <p:cNvSpPr/>
          <p:nvPr/>
        </p:nvSpPr>
        <p:spPr>
          <a:xfrm>
            <a:off x="1005840" y="141732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승인된 골격 장을 복제해 내용만 바꾼다</a:t>
            </a:r>
          </a:p>
        </p:txBody>
      </p:sp>
      <p:sp>
        <p:nvSpPr>
          <p:cNvPr id="15" name="RULE"/>
          <p:cNvSpPr/>
          <p:nvPr/>
        </p:nvSpPr>
        <p:spPr>
          <a:xfrm>
            <a:off x="731520" y="2057400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6" name="HEAD16"/>
          <p:cNvSpPr/>
          <p:nvPr/>
        </p:nvSpPr>
        <p:spPr>
          <a:xfrm>
            <a:off x="731520" y="2295144"/>
            <a:ext cx="22402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복제</a:t>
            </a:r>
          </a:p>
        </p:txBody>
      </p:sp>
      <p:sp>
        <p:nvSpPr>
          <p:cNvPr id="17" name="BODY17"/>
          <p:cNvSpPr/>
          <p:nvPr/>
        </p:nvSpPr>
        <p:spPr>
          <a:xfrm>
            <a:off x="3154680" y="2295144"/>
            <a:ext cx="830275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25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파일의 장을 복제한 뒤 텍스트를 바꾼다.</a:t>
            </a:r>
          </a:p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15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글꼴·색·기본 여백·정보 위계는 그대로 둔다.</a:t>
            </a:r>
          </a:p>
        </p:txBody>
      </p:sp>
      <p:sp>
        <p:nvSpPr>
          <p:cNvPr id="18" name="RULE18"/>
          <p:cNvSpPr/>
          <p:nvPr/>
        </p:nvSpPr>
        <p:spPr>
          <a:xfrm>
            <a:off x="731520" y="2834640"/>
            <a:ext cx="10725912" cy="0"/>
          </a:xfrm>
          <a:prstGeom prst="line">
            <a:avLst/>
          </a:prstGeom>
          <a:ln w="9525">
            <a:solidFill>
              <a:srgbClr val="DCE0E8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9" name="HEAD19"/>
          <p:cNvSpPr/>
          <p:nvPr/>
        </p:nvSpPr>
        <p:spPr>
          <a:xfrm>
            <a:off x="731520" y="2889504"/>
            <a:ext cx="22402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허용하는 조정</a:t>
            </a:r>
          </a:p>
        </p:txBody>
      </p:sp>
      <p:sp>
        <p:nvSpPr>
          <p:cNvPr id="20" name="BODY20"/>
          <p:cNvSpPr/>
          <p:nvPr/>
        </p:nvSpPr>
        <p:spPr>
          <a:xfrm>
            <a:off x="3154680" y="2889504"/>
            <a:ext cx="830275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25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내용량에 따른 행 복제·삭제, 텍스트 상자 높이와 구분선 위치 조정은 허용한다.</a:t>
            </a:r>
          </a:p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15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상자 높이 = 내용 높이 + 0.16인치. 남는 공간을 행 높이에 균등 배분하지 않는다.</a:t>
            </a:r>
          </a:p>
        </p:txBody>
      </p:sp>
      <p:sp>
        <p:nvSpPr>
          <p:cNvPr id="21" name="RULE21"/>
          <p:cNvSpPr/>
          <p:nvPr/>
        </p:nvSpPr>
        <p:spPr>
          <a:xfrm>
            <a:off x="731520" y="3429000"/>
            <a:ext cx="10725912" cy="0"/>
          </a:xfrm>
          <a:prstGeom prst="line">
            <a:avLst/>
          </a:prstGeom>
          <a:ln w="9525">
            <a:solidFill>
              <a:srgbClr val="DCE0E8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2" name="HEAD22"/>
          <p:cNvSpPr/>
          <p:nvPr/>
        </p:nvSpPr>
        <p:spPr>
          <a:xfrm>
            <a:off x="731520" y="3483864"/>
            <a:ext cx="22402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 확인이 필요한 것</a:t>
            </a:r>
          </a:p>
        </p:txBody>
      </p:sp>
      <p:sp>
        <p:nvSpPr>
          <p:cNvPr id="23" name="BODY23"/>
          <p:cNvSpPr/>
          <p:nvPr/>
        </p:nvSpPr>
        <p:spPr>
          <a:xfrm>
            <a:off x="3154680" y="3483864"/>
            <a:ext cx="830275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25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열 구성이나 정보 관계를 바꾸는 새 도식은 사전 확인한다.</a:t>
            </a:r>
          </a:p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15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공간이 부족하면 글자를 줄이지 말고 슬라이드를 추가한다.</a:t>
            </a:r>
          </a:p>
        </p:txBody>
      </p:sp>
      <p:sp>
        <p:nvSpPr>
          <p:cNvPr id="24" name="RULE24"/>
          <p:cNvSpPr/>
          <p:nvPr/>
        </p:nvSpPr>
        <p:spPr>
          <a:xfrm>
            <a:off x="731520" y="4023360"/>
            <a:ext cx="10725912" cy="0"/>
          </a:xfrm>
          <a:prstGeom prst="line">
            <a:avLst/>
          </a:prstGeom>
          <a:ln w="9525">
            <a:solidFill>
              <a:srgbClr val="DCE0E8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5" name="HEAD25"/>
          <p:cNvSpPr/>
          <p:nvPr/>
        </p:nvSpPr>
        <p:spPr>
          <a:xfrm>
            <a:off x="731520" y="4078224"/>
            <a:ext cx="22402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예외 크기</a:t>
            </a:r>
          </a:p>
        </p:txBody>
      </p:sp>
      <p:sp>
        <p:nvSpPr>
          <p:cNvPr id="26" name="BODY26"/>
          <p:cNvSpPr/>
          <p:nvPr/>
        </p:nvSpPr>
        <p:spPr>
          <a:xfrm>
            <a:off x="3154680" y="4078224"/>
            <a:ext cx="830275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25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표지·구분 장·도식은 본문 허용 일곱 값 밖의 크기를 쓴다.</a:t>
            </a:r>
          </a:p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15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장에는 「예외 크기」라고 표시해 두었다. 복제할 때 예외를 다른 장으로 옮기지 않는다.</a:t>
            </a:r>
          </a:p>
        </p:txBody>
      </p:sp>
      <p:sp>
        <p:nvSpPr>
          <p:cNvPr id="27" name="RULE27"/>
          <p:cNvSpPr/>
          <p:nvPr/>
        </p:nvSpPr>
        <p:spPr>
          <a:xfrm>
            <a:off x="731520" y="4617720"/>
            <a:ext cx="10725912" cy="0"/>
          </a:xfrm>
          <a:prstGeom prst="line">
            <a:avLst/>
          </a:prstGeom>
          <a:ln w="9525">
            <a:solidFill>
              <a:srgbClr val="DCE0E8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8" name="HEAD28"/>
          <p:cNvSpPr/>
          <p:nvPr/>
        </p:nvSpPr>
        <p:spPr>
          <a:xfrm>
            <a:off x="731520" y="4672584"/>
            <a:ext cx="22402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</a:t>
            </a:r>
          </a:p>
        </p:txBody>
      </p:sp>
      <p:sp>
        <p:nvSpPr>
          <p:cNvPr id="29" name="BODY29"/>
          <p:cNvSpPr/>
          <p:nvPr/>
        </p:nvSpPr>
        <p:spPr>
          <a:xfrm>
            <a:off x="3154680" y="4672584"/>
            <a:ext cx="830275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ko-KR" altLang="en-US" sz="125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pptlib의 slide_frame · row · footnote를 쓰면 좌표를 계산하지 않아도 된다.</a:t>
            </a:r>
          </a:p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15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audit(root, n)으로 색·크기·줄간격·경계·노트 역참조를 한 번에 확인한다.</a:t>
            </a:r>
          </a:p>
        </p:txBody>
      </p:sp>
      <p:sp>
        <p:nvSpPr>
          <p:cNvPr id="30" name="RULE30"/>
          <p:cNvSpPr/>
          <p:nvPr/>
        </p:nvSpPr>
        <p:spPr>
          <a:xfrm>
            <a:off x="731520" y="5212080"/>
            <a:ext cx="10725912" cy="0"/>
          </a:xfrm>
          <a:prstGeom prst="line">
            <a:avLst/>
          </a:prstGeom>
          <a:ln w="9525">
            <a:solidFill>
              <a:srgbClr val="DCE0E8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31" name="HEAD31"/>
          <p:cNvSpPr/>
          <p:nvPr/>
        </p:nvSpPr>
        <p:spPr>
          <a:xfrm>
            <a:off x="731520" y="5266944"/>
            <a:ext cx="22402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2주차 원본 예시</a:t>
            </a:r>
          </a:p>
        </p:txBody>
      </p:sp>
      <p:sp>
        <p:nvSpPr>
          <p:cNvPr id="32" name="BODY32"/>
          <p:cNvSpPr/>
          <p:nvPr/>
        </p:nvSpPr>
        <p:spPr>
          <a:xfrm>
            <a:off x="3154680" y="5266944"/>
            <a:ext cx="830275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25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19장부터는 2주차 확정본에서 그대로 가져온 장이다.</a:t>
            </a:r>
          </a:p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15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도형을 새로 그리지 말고 이 장을 복제해 텍스트만 바꾼다. 검토 흔적(형광)은 지워 두었다.</a:t>
            </a:r>
          </a:p>
        </p:txBody>
      </p:sp>
      <p:sp>
        <p:nvSpPr>
          <p:cNvPr id="33" name="FOOT"/>
          <p:cNvSpPr/>
          <p:nvPr/>
        </p:nvSpPr>
        <p:spPr>
          <a:xfrm>
            <a:off x="731520" y="6419088"/>
            <a:ext cx="107259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제작 지침 5판 §1 화면 골격 · §2 화면 유형 · §3 화면 문안 형식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">
            <a:extLst xmlns:a="http://schemas.openxmlformats.org/drawingml/2006/main">
              <a:ext uri="{FF2B5EF4-FFF2-40B4-BE49-F238E27FC236}">
                <a16:creationId xmlns:a16="http://schemas.microsoft.com/office/drawing/2014/main" id="{AA82C679-B6CC-4624-A60C-34315B56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7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6A4E82D-BED3-4E65-9E81-343D9B0E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286000"/>
            <a:ext cx="100584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0">
                <a:solidFill>
                  <a:srgbClr val="AFBBD9"/>
                </a:solidFill>
                <a:latin typeface="Pretendard"/>
                <a:ea typeface="Pretendard"/>
                <a:cs typeface="Pretendard"/>
              </a:rPr>
              <a:t>범죄 · 공공안전세미나 Ⅱ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606B304-1FC1-4C1A-84C4-7293FFB6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724912"/>
            <a:ext cx="100584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형사미성년자 기준 내지 촉법소년</a:t>
            </a:r>
            <a:endParaRPr sz="110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622A40C-AFD9-46EC-AFC6-78207183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291840"/>
            <a:ext cx="100584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상한 연령을 하향하여야 하는가?</a:t>
            </a:r>
          </a:p>
        </p:txBody>
      </p:sp>
      <p:sp>
        <p:nvSpPr>
          <p:cNvPr id="6" name="Shape 2">
            <a:extLst xmlns:a="http://schemas.openxmlformats.org/drawingml/2006/main">
              <a:ext uri="{FF2B5EF4-FFF2-40B4-BE49-F238E27FC236}">
                <a16:creationId xmlns:a16="http://schemas.microsoft.com/office/drawing/2014/main" id="{6B23B8A7-5B82-416C-B104-2A67B0F6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095750"/>
            <a:ext cx="146304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A648"/>
          </a:solidFill>
          <a:ln xmlns:a="http://schemas.openxmlformats.org/drawingml/2006/main" w="0">
            <a:noFill xmlns:a="http://schemas.openxmlformats.org/drawingml/2006/main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8280" rIns="90000" bIns="-828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18000"/>
              </a:lnSpc>
              <a:buNone/>
            </a:pPr>
            <a:endParaRPr sz="1800" b="0" u="none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3745086-1F0B-4CA0-BD6C-C6E231D4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352544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0">
                <a:solidFill>
                  <a:srgbClr val="C9D2E6"/>
                </a:solidFill>
                <a:latin typeface="Pretendard"/>
                <a:ea typeface="Pretendard"/>
                <a:cs typeface="Pretendard"/>
              </a:rPr>
              <a:t>워밍업(2) — 1 · 2주차에서 익힌 방법을 두 번째 논쟁에 적용해 봅니다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2C3E3EC-5CB3-4214-96B0-98D086FE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34924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200" b="0">
                <a:solidFill>
                  <a:srgbClr val="8A97BC"/>
                </a:solidFill>
                <a:latin typeface="Pretendard"/>
                <a:ea typeface="Pretendard"/>
                <a:cs typeface="Pretendard"/>
              </a:rPr>
              <a:t>2026학년도 2학기 · 3주차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ICKER"/>
          <p:cNvSpPr/>
          <p:nvPr/>
        </p:nvSpPr>
        <p:spPr>
          <a:xfrm>
            <a:off x="731520" y="36576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250" b="1" spc="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논제·개념과 제도의 변천</a:t>
            </a:r>
          </a:p>
        </p:txBody>
      </p:sp>
      <p:sp>
        <p:nvSpPr>
          <p:cNvPr id="11" name="NEXT"/>
          <p:cNvSpPr/>
          <p:nvPr/>
        </p:nvSpPr>
        <p:spPr>
          <a:xfrm>
            <a:off x="6035040" y="384048"/>
            <a:ext cx="5422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8000"/>
              </a:lnSpc>
              <a:buNone/>
            </a:pPr>
            <a:r>
              <a:rPr lang="ko-KR" alt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→ 첫 단원의 제목</a:t>
            </a:r>
          </a:p>
        </p:txBody>
      </p:sp>
      <p:sp>
        <p:nvSpPr>
          <p:cNvPr id="12" name="TITLE"/>
          <p:cNvSpPr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27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볼 것</a:t>
            </a:r>
          </a:p>
        </p:txBody>
      </p:sp>
      <p:sp>
        <p:nvSpPr>
          <p:cNvPr id="13" name="RULE"/>
          <p:cNvSpPr/>
          <p:nvPr/>
        </p:nvSpPr>
        <p:spPr>
          <a:xfrm>
            <a:off x="731520" y="1389888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4" name="U14"/>
          <p:cNvSpPr/>
          <p:nvPr/>
        </p:nvSpPr>
        <p:spPr>
          <a:xfrm>
            <a:off x="731520" y="1572768"/>
            <a:ext cx="3474720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단원 1 — 키커와 글자까지 같게</a:t>
            </a:r>
          </a:p>
        </p:txBody>
      </p:sp>
      <p:sp>
        <p:nvSpPr>
          <p:cNvPr id="15" name="I15"/>
          <p:cNvSpPr/>
          <p:nvPr/>
        </p:nvSpPr>
        <p:spPr>
          <a:xfrm>
            <a:off x="4343400" y="1572768"/>
            <a:ext cx="7114032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2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단원에서 다루는 것을 명사로 · 이어 적는다</a:t>
            </a:r>
          </a:p>
        </p:txBody>
      </p:sp>
      <p:sp>
        <p:nvSpPr>
          <p:cNvPr id="16" name="L16"/>
          <p:cNvSpPr/>
          <p:nvPr/>
        </p:nvSpPr>
        <p:spPr>
          <a:xfrm>
            <a:off x="731520" y="2407920"/>
            <a:ext cx="10725912" cy="0"/>
          </a:xfrm>
          <a:prstGeom prst="line">
            <a:avLst/>
          </a:prstGeom>
          <a:ln w="9525">
            <a:solidFill>
              <a:srgbClr val="DCE0E8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7" name="U17"/>
          <p:cNvSpPr/>
          <p:nvPr/>
        </p:nvSpPr>
        <p:spPr>
          <a:xfrm>
            <a:off x="731520" y="2407920"/>
            <a:ext cx="3474720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단원 2 — 키커와 글자까지 같게</a:t>
            </a:r>
          </a:p>
        </p:txBody>
      </p:sp>
      <p:sp>
        <p:nvSpPr>
          <p:cNvPr id="18" name="I18"/>
          <p:cNvSpPr/>
          <p:nvPr/>
        </p:nvSpPr>
        <p:spPr>
          <a:xfrm>
            <a:off x="4343400" y="2407920"/>
            <a:ext cx="7114032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2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단원에서 다루는 것을 명사로 · 이어 적는다</a:t>
            </a:r>
          </a:p>
        </p:txBody>
      </p:sp>
      <p:sp>
        <p:nvSpPr>
          <p:cNvPr id="19" name="L19"/>
          <p:cNvSpPr/>
          <p:nvPr/>
        </p:nvSpPr>
        <p:spPr>
          <a:xfrm>
            <a:off x="731520" y="3243072"/>
            <a:ext cx="10725912" cy="0"/>
          </a:xfrm>
          <a:prstGeom prst="line">
            <a:avLst/>
          </a:prstGeom>
          <a:ln w="9525">
            <a:solidFill>
              <a:srgbClr val="DCE0E8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0" name="U20"/>
          <p:cNvSpPr/>
          <p:nvPr/>
        </p:nvSpPr>
        <p:spPr>
          <a:xfrm>
            <a:off x="731520" y="3243072"/>
            <a:ext cx="3474720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단원 3 — 키커와 글자까지 같게</a:t>
            </a:r>
          </a:p>
        </p:txBody>
      </p:sp>
      <p:sp>
        <p:nvSpPr>
          <p:cNvPr id="21" name="I21"/>
          <p:cNvSpPr/>
          <p:nvPr/>
        </p:nvSpPr>
        <p:spPr>
          <a:xfrm>
            <a:off x="4343400" y="3243072"/>
            <a:ext cx="7114032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2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단원에서 다루는 것을 명사로 · 이어 적는다</a:t>
            </a:r>
          </a:p>
        </p:txBody>
      </p:sp>
      <p:sp>
        <p:nvSpPr>
          <p:cNvPr id="22" name="L22"/>
          <p:cNvSpPr/>
          <p:nvPr/>
        </p:nvSpPr>
        <p:spPr>
          <a:xfrm>
            <a:off x="731520" y="4078224"/>
            <a:ext cx="10725912" cy="0"/>
          </a:xfrm>
          <a:prstGeom prst="line">
            <a:avLst/>
          </a:prstGeom>
          <a:ln w="9525">
            <a:solidFill>
              <a:srgbClr val="DCE0E8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3" name="U23"/>
          <p:cNvSpPr/>
          <p:nvPr/>
        </p:nvSpPr>
        <p:spPr>
          <a:xfrm>
            <a:off x="731520" y="4078224"/>
            <a:ext cx="3474720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단원 4 — 키커와 글자까지 같게</a:t>
            </a:r>
          </a:p>
        </p:txBody>
      </p:sp>
      <p:sp>
        <p:nvSpPr>
          <p:cNvPr id="24" name="I24"/>
          <p:cNvSpPr/>
          <p:nvPr/>
        </p:nvSpPr>
        <p:spPr>
          <a:xfrm>
            <a:off x="4343400" y="4078224"/>
            <a:ext cx="7114032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2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단원에서 다루는 것을 명사로 · 이어 적는다</a:t>
            </a:r>
          </a:p>
        </p:txBody>
      </p:sp>
      <p:sp>
        <p:nvSpPr>
          <p:cNvPr id="25" name="L25"/>
          <p:cNvSpPr/>
          <p:nvPr/>
        </p:nvSpPr>
        <p:spPr>
          <a:xfrm>
            <a:off x="731520" y="4913376"/>
            <a:ext cx="10725912" cy="0"/>
          </a:xfrm>
          <a:prstGeom prst="line">
            <a:avLst/>
          </a:prstGeom>
          <a:ln w="9525">
            <a:solidFill>
              <a:srgbClr val="DCE0E8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6" name="U26"/>
          <p:cNvSpPr/>
          <p:nvPr/>
        </p:nvSpPr>
        <p:spPr>
          <a:xfrm>
            <a:off x="731520" y="4913376"/>
            <a:ext cx="3474720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단원 5 — 키커와 글자까지 같게</a:t>
            </a:r>
          </a:p>
        </p:txBody>
      </p:sp>
      <p:sp>
        <p:nvSpPr>
          <p:cNvPr id="27" name="I27"/>
          <p:cNvSpPr/>
          <p:nvPr/>
        </p:nvSpPr>
        <p:spPr>
          <a:xfrm>
            <a:off x="4343400" y="4913376"/>
            <a:ext cx="7114032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2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단원에서 다루는 것을 명사로 · 이어 적는다</a:t>
            </a:r>
          </a:p>
        </p:txBody>
      </p:sp>
      <p:sp>
        <p:nvSpPr>
          <p:cNvPr id="28" name="L28"/>
          <p:cNvSpPr/>
          <p:nvPr/>
        </p:nvSpPr>
        <p:spPr>
          <a:xfrm>
            <a:off x="731520" y="5748528"/>
            <a:ext cx="10725912" cy="0"/>
          </a:xfrm>
          <a:prstGeom prst="line">
            <a:avLst/>
          </a:prstGeom>
          <a:ln w="9525">
            <a:solidFill>
              <a:srgbClr val="DCE0E8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9" name="U29"/>
          <p:cNvSpPr/>
          <p:nvPr/>
        </p:nvSpPr>
        <p:spPr>
          <a:xfrm>
            <a:off x="731520" y="5748528"/>
            <a:ext cx="3474720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단원 6 — 키커와 글자까지 같게</a:t>
            </a:r>
          </a:p>
        </p:txBody>
      </p:sp>
      <p:sp>
        <p:nvSpPr>
          <p:cNvPr id="30" name="I30"/>
          <p:cNvSpPr/>
          <p:nvPr/>
        </p:nvSpPr>
        <p:spPr>
          <a:xfrm>
            <a:off x="4343400" y="5748528"/>
            <a:ext cx="7114032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2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단원에서 다루는 것을 명사로 · 이어 적는다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ICKER"/>
          <p:cNvSpPr/>
          <p:nvPr/>
        </p:nvSpPr>
        <p:spPr>
          <a:xfrm>
            <a:off x="731520" y="36576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250" b="1" spc="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단원 이름</a:t>
            </a:r>
          </a:p>
        </p:txBody>
      </p:sp>
      <p:sp>
        <p:nvSpPr>
          <p:cNvPr id="11" name="NEXT"/>
          <p:cNvSpPr/>
          <p:nvPr/>
        </p:nvSpPr>
        <p:spPr>
          <a:xfrm>
            <a:off x="6035040" y="384048"/>
            <a:ext cx="5422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8000"/>
              </a:lnSpc>
              <a:buNone/>
            </a:pPr>
            <a:r>
              <a:rPr lang="ko-KR" alt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→ 다음 장 핵심어</a:t>
            </a:r>
          </a:p>
        </p:txBody>
      </p:sp>
      <p:sp>
        <p:nvSpPr>
          <p:cNvPr id="12" name="TITLE"/>
          <p:cNvSpPr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27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 행머리글 표 — 2행 변형</a:t>
            </a:r>
          </a:p>
        </p:txBody>
      </p:sp>
      <p:sp>
        <p:nvSpPr>
          <p:cNvPr id="13" name="BANDBG"/>
          <p:cNvSpPr/>
          <p:nvPr/>
        </p:nvSpPr>
        <p:spPr>
          <a:xfrm>
            <a:off x="731520" y="1417320"/>
            <a:ext cx="10725912" cy="77724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14" name="BANDTX"/>
          <p:cNvSpPr/>
          <p:nvPr/>
        </p:nvSpPr>
        <p:spPr>
          <a:xfrm>
            <a:off x="1005840" y="141732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장이 보여 주는 것을 선언형 한 문장으로 적는다</a:t>
            </a:r>
          </a:p>
          <a:p>
            <a:pPr marL="0" indent="0">
              <a:lnSpc>
                <a:spcPct val="118000"/>
              </a:lnSpc>
              <a:buNone/>
            </a:pPr>
            <a:r>
              <a:rPr lang="ko-KR" altLang="en-US" sz="115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조건이나 범위가 필요하면 이 회색 줄에 둔다</a:t>
            </a:r>
          </a:p>
        </p:txBody>
      </p:sp>
      <p:sp>
        <p:nvSpPr>
          <p:cNvPr id="15" name="RULE"/>
          <p:cNvSpPr/>
          <p:nvPr/>
        </p:nvSpPr>
        <p:spPr>
          <a:xfrm>
            <a:off x="731520" y="2286000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6" name="HEAD16"/>
          <p:cNvSpPr/>
          <p:nvPr/>
        </p:nvSpPr>
        <p:spPr>
          <a:xfrm>
            <a:off x="731520" y="2523744"/>
            <a:ext cx="22402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행머리글 1</a:t>
            </a:r>
          </a:p>
        </p:txBody>
      </p:sp>
      <p:sp>
        <p:nvSpPr>
          <p:cNvPr id="17" name="BODY17"/>
          <p:cNvSpPr/>
          <p:nvPr/>
        </p:nvSpPr>
        <p:spPr>
          <a:xfrm>
            <a:off x="3154680" y="2523744"/>
            <a:ext cx="830275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25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 줄 — 그 행이 말하는 것을 한 문장 40자 이내로 적는다.</a:t>
            </a:r>
          </a:p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15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보충 줄 — 조건·범위·출처의 성격·예외를 적는다. 결론 줄과 줄을 나눈다.</a:t>
            </a:r>
          </a:p>
        </p:txBody>
      </p:sp>
      <p:sp>
        <p:nvSpPr>
          <p:cNvPr id="18" name="RULE18"/>
          <p:cNvSpPr/>
          <p:nvPr/>
        </p:nvSpPr>
        <p:spPr>
          <a:xfrm>
            <a:off x="731520" y="3063240"/>
            <a:ext cx="10725912" cy="0"/>
          </a:xfrm>
          <a:prstGeom prst="line">
            <a:avLst/>
          </a:prstGeom>
          <a:ln w="9525">
            <a:solidFill>
              <a:srgbClr val="DCE0E8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9" name="HEAD19"/>
          <p:cNvSpPr/>
          <p:nvPr/>
        </p:nvSpPr>
        <p:spPr>
          <a:xfrm>
            <a:off x="731520" y="3118104"/>
            <a:ext cx="2240280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행머리글 2</a:t>
            </a:r>
          </a:p>
        </p:txBody>
      </p:sp>
      <p:sp>
        <p:nvSpPr>
          <p:cNvPr id="20" name="BODY20"/>
          <p:cNvSpPr/>
          <p:nvPr/>
        </p:nvSpPr>
        <p:spPr>
          <a:xfrm>
            <a:off x="3154680" y="3118104"/>
            <a:ext cx="8302752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25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 줄 — 그 행이 말하는 것을 한 문장 40자 이내로 적는다.</a:t>
            </a:r>
          </a:p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15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보충 줄 — 조건·범위·출처의 성격·예외를 적는다. 결론 줄과 줄을 나눈다.</a:t>
            </a:r>
          </a:p>
          <a:p>
            <a:pPr marL="0" indent="0">
              <a:lnSpc>
                <a:spcPct val="118000"/>
              </a:lnSpc>
              <a:buNone/>
            </a:pPr>
            <a:r>
              <a:rPr lang="ko-KR" altLang="en-US" sz="1200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한정 줄 — 이 자료로 말할 수 없는 것을 금색으로 적는다.</a:t>
            </a:r>
          </a:p>
        </p:txBody>
      </p:sp>
      <p:sp>
        <p:nvSpPr>
          <p:cNvPr id="21" name="FOOT"/>
          <p:cNvSpPr/>
          <p:nvPr/>
        </p:nvSpPr>
        <p:spPr>
          <a:xfrm>
            <a:off x="731520" y="6419088"/>
            <a:ext cx="107259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· 확인 범위 · 기준 시점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ICKER"/>
          <p:cNvSpPr/>
          <p:nvPr/>
        </p:nvSpPr>
        <p:spPr>
          <a:xfrm>
            <a:off x="731520" y="36576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250" b="1" spc="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단원 이름</a:t>
            </a:r>
          </a:p>
        </p:txBody>
      </p:sp>
      <p:sp>
        <p:nvSpPr>
          <p:cNvPr id="11" name="NEXT"/>
          <p:cNvSpPr/>
          <p:nvPr/>
        </p:nvSpPr>
        <p:spPr>
          <a:xfrm>
            <a:off x="6035040" y="384048"/>
            <a:ext cx="5422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8000"/>
              </a:lnSpc>
              <a:buNone/>
            </a:pPr>
            <a:r>
              <a:rPr lang="ko-KR" alt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→ 다음 장 핵심어</a:t>
            </a:r>
          </a:p>
        </p:txBody>
      </p:sp>
      <p:sp>
        <p:nvSpPr>
          <p:cNvPr id="12" name="TITLE"/>
          <p:cNvSpPr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27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 행머리글 표 — 3행 변형</a:t>
            </a:r>
          </a:p>
        </p:txBody>
      </p:sp>
      <p:sp>
        <p:nvSpPr>
          <p:cNvPr id="13" name="BANDBG"/>
          <p:cNvSpPr/>
          <p:nvPr/>
        </p:nvSpPr>
        <p:spPr>
          <a:xfrm>
            <a:off x="731520" y="1417320"/>
            <a:ext cx="10725912" cy="77724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14" name="BANDTX"/>
          <p:cNvSpPr/>
          <p:nvPr/>
        </p:nvSpPr>
        <p:spPr>
          <a:xfrm>
            <a:off x="1005840" y="141732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장이 보여 주는 것을 선언형 한 문장으로 적는다</a:t>
            </a:r>
          </a:p>
          <a:p>
            <a:pPr marL="0" indent="0">
              <a:lnSpc>
                <a:spcPct val="118000"/>
              </a:lnSpc>
              <a:buNone/>
            </a:pPr>
            <a:r>
              <a:rPr lang="ko-KR" altLang="en-US" sz="115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조건이나 범위가 필요하면 이 회색 줄에 둔다</a:t>
            </a:r>
          </a:p>
        </p:txBody>
      </p:sp>
      <p:sp>
        <p:nvSpPr>
          <p:cNvPr id="15" name="RULE"/>
          <p:cNvSpPr/>
          <p:nvPr/>
        </p:nvSpPr>
        <p:spPr>
          <a:xfrm>
            <a:off x="731520" y="2286000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6" name="HEAD16"/>
          <p:cNvSpPr/>
          <p:nvPr/>
        </p:nvSpPr>
        <p:spPr>
          <a:xfrm>
            <a:off x="731520" y="2523744"/>
            <a:ext cx="22402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행머리글 1</a:t>
            </a:r>
          </a:p>
        </p:txBody>
      </p:sp>
      <p:sp>
        <p:nvSpPr>
          <p:cNvPr id="17" name="BODY17"/>
          <p:cNvSpPr/>
          <p:nvPr/>
        </p:nvSpPr>
        <p:spPr>
          <a:xfrm>
            <a:off x="3154680" y="2523744"/>
            <a:ext cx="830275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25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 줄 — 그 행이 말하는 것을 한 문장 40자 이내로 적는다.</a:t>
            </a:r>
          </a:p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15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보충 줄 — 조건·범위·출처의 성격·예외를 적는다. 결론 줄과 줄을 나눈다.</a:t>
            </a:r>
          </a:p>
        </p:txBody>
      </p:sp>
      <p:sp>
        <p:nvSpPr>
          <p:cNvPr id="18" name="RULE18"/>
          <p:cNvSpPr/>
          <p:nvPr/>
        </p:nvSpPr>
        <p:spPr>
          <a:xfrm>
            <a:off x="731520" y="3063240"/>
            <a:ext cx="10725912" cy="0"/>
          </a:xfrm>
          <a:prstGeom prst="line">
            <a:avLst/>
          </a:prstGeom>
          <a:ln w="9525">
            <a:solidFill>
              <a:srgbClr val="DCE0E8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9" name="HEAD19"/>
          <p:cNvSpPr/>
          <p:nvPr/>
        </p:nvSpPr>
        <p:spPr>
          <a:xfrm>
            <a:off x="731520" y="3118104"/>
            <a:ext cx="22402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행머리글 2</a:t>
            </a:r>
          </a:p>
        </p:txBody>
      </p:sp>
      <p:sp>
        <p:nvSpPr>
          <p:cNvPr id="20" name="BODY20"/>
          <p:cNvSpPr/>
          <p:nvPr/>
        </p:nvSpPr>
        <p:spPr>
          <a:xfrm>
            <a:off x="3154680" y="3118104"/>
            <a:ext cx="830275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25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 줄 — 그 행이 말하는 것을 한 문장 40자 이내로 적는다.</a:t>
            </a:r>
          </a:p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15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보충 줄 — 조건·범위·출처의 성격·예외를 적는다. 결론 줄과 줄을 나눈다.</a:t>
            </a:r>
          </a:p>
        </p:txBody>
      </p:sp>
      <p:sp>
        <p:nvSpPr>
          <p:cNvPr id="21" name="RULE21"/>
          <p:cNvSpPr/>
          <p:nvPr/>
        </p:nvSpPr>
        <p:spPr>
          <a:xfrm>
            <a:off x="731520" y="3657600"/>
            <a:ext cx="10725912" cy="0"/>
          </a:xfrm>
          <a:prstGeom prst="line">
            <a:avLst/>
          </a:prstGeom>
          <a:ln w="9525">
            <a:solidFill>
              <a:srgbClr val="DCE0E8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2" name="HEAD22"/>
          <p:cNvSpPr/>
          <p:nvPr/>
        </p:nvSpPr>
        <p:spPr>
          <a:xfrm>
            <a:off x="731520" y="3712464"/>
            <a:ext cx="2240280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행머리글 3</a:t>
            </a:r>
          </a:p>
        </p:txBody>
      </p:sp>
      <p:sp>
        <p:nvSpPr>
          <p:cNvPr id="23" name="BODY23"/>
          <p:cNvSpPr/>
          <p:nvPr/>
        </p:nvSpPr>
        <p:spPr>
          <a:xfrm>
            <a:off x="3154680" y="3712464"/>
            <a:ext cx="8302752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25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 줄 — 그 행이 말하는 것을 한 문장 40자 이내로 적는다.</a:t>
            </a:r>
          </a:p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15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보충 줄 — 조건·범위·출처의 성격·예외를 적는다. 결론 줄과 줄을 나눈다.</a:t>
            </a:r>
          </a:p>
          <a:p>
            <a:pPr marL="0" indent="0">
              <a:lnSpc>
                <a:spcPct val="118000"/>
              </a:lnSpc>
              <a:buNone/>
            </a:pPr>
            <a:r>
              <a:rPr lang="ko-KR" altLang="en-US" sz="1200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한정 줄 — 이 자료로 말할 수 없는 것을 금색으로 적는다.</a:t>
            </a:r>
          </a:p>
        </p:txBody>
      </p:sp>
      <p:sp>
        <p:nvSpPr>
          <p:cNvPr id="24" name="FOOT"/>
          <p:cNvSpPr/>
          <p:nvPr/>
        </p:nvSpPr>
        <p:spPr>
          <a:xfrm>
            <a:off x="731520" y="6419088"/>
            <a:ext cx="107259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· 확인 범위 · 기준 시점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ICKER"/>
          <p:cNvSpPr/>
          <p:nvPr/>
        </p:nvSpPr>
        <p:spPr>
          <a:xfrm>
            <a:off x="731520" y="36576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250" b="1" spc="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단원 이름</a:t>
            </a:r>
          </a:p>
        </p:txBody>
      </p:sp>
      <p:sp>
        <p:nvSpPr>
          <p:cNvPr id="11" name="NEXT"/>
          <p:cNvSpPr/>
          <p:nvPr/>
        </p:nvSpPr>
        <p:spPr>
          <a:xfrm>
            <a:off x="6035040" y="384048"/>
            <a:ext cx="5422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8000"/>
              </a:lnSpc>
              <a:buNone/>
            </a:pPr>
            <a:r>
              <a:rPr lang="ko-KR" alt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→ 다음 장 핵심어</a:t>
            </a:r>
          </a:p>
        </p:txBody>
      </p:sp>
      <p:sp>
        <p:nvSpPr>
          <p:cNvPr id="12" name="TITLE"/>
          <p:cNvSpPr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27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 행머리글 표 — 4행 변형</a:t>
            </a:r>
          </a:p>
        </p:txBody>
      </p:sp>
      <p:sp>
        <p:nvSpPr>
          <p:cNvPr id="13" name="BANDBG"/>
          <p:cNvSpPr/>
          <p:nvPr/>
        </p:nvSpPr>
        <p:spPr>
          <a:xfrm>
            <a:off x="731520" y="1417320"/>
            <a:ext cx="10725912" cy="77724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14" name="BANDTX"/>
          <p:cNvSpPr/>
          <p:nvPr/>
        </p:nvSpPr>
        <p:spPr>
          <a:xfrm>
            <a:off x="1005840" y="141732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장이 보여 주는 것을 선언형 한 문장으로 적는다</a:t>
            </a:r>
          </a:p>
          <a:p>
            <a:pPr marL="0" indent="0">
              <a:lnSpc>
                <a:spcPct val="118000"/>
              </a:lnSpc>
              <a:buNone/>
            </a:pPr>
            <a:r>
              <a:rPr lang="ko-KR" altLang="en-US" sz="115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조건이나 범위가 필요하면 이 회색 줄에 둔다</a:t>
            </a:r>
          </a:p>
        </p:txBody>
      </p:sp>
      <p:sp>
        <p:nvSpPr>
          <p:cNvPr id="15" name="RULE"/>
          <p:cNvSpPr/>
          <p:nvPr/>
        </p:nvSpPr>
        <p:spPr>
          <a:xfrm>
            <a:off x="731520" y="2286000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6" name="HEAD16"/>
          <p:cNvSpPr/>
          <p:nvPr/>
        </p:nvSpPr>
        <p:spPr>
          <a:xfrm>
            <a:off x="731520" y="2523744"/>
            <a:ext cx="22402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행머리글 1</a:t>
            </a:r>
          </a:p>
        </p:txBody>
      </p:sp>
      <p:sp>
        <p:nvSpPr>
          <p:cNvPr id="17" name="BODY17"/>
          <p:cNvSpPr/>
          <p:nvPr/>
        </p:nvSpPr>
        <p:spPr>
          <a:xfrm>
            <a:off x="3154680" y="2523744"/>
            <a:ext cx="830275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25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 줄 — 그 행이 말하는 것을 한 문장 40자 이내로 적는다.</a:t>
            </a:r>
          </a:p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15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보충 줄 — 조건·범위·출처의 성격·예외를 적는다. 결론 줄과 줄을 나눈다.</a:t>
            </a:r>
          </a:p>
        </p:txBody>
      </p:sp>
      <p:sp>
        <p:nvSpPr>
          <p:cNvPr id="18" name="RULE18"/>
          <p:cNvSpPr/>
          <p:nvPr/>
        </p:nvSpPr>
        <p:spPr>
          <a:xfrm>
            <a:off x="731520" y="3063240"/>
            <a:ext cx="10725912" cy="0"/>
          </a:xfrm>
          <a:prstGeom prst="line">
            <a:avLst/>
          </a:prstGeom>
          <a:ln w="9525">
            <a:solidFill>
              <a:srgbClr val="DCE0E8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9" name="HEAD19"/>
          <p:cNvSpPr/>
          <p:nvPr/>
        </p:nvSpPr>
        <p:spPr>
          <a:xfrm>
            <a:off x="731520" y="3118104"/>
            <a:ext cx="22402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행머리글 2</a:t>
            </a:r>
          </a:p>
        </p:txBody>
      </p:sp>
      <p:sp>
        <p:nvSpPr>
          <p:cNvPr id="20" name="BODY20"/>
          <p:cNvSpPr/>
          <p:nvPr/>
        </p:nvSpPr>
        <p:spPr>
          <a:xfrm>
            <a:off x="3154680" y="3118104"/>
            <a:ext cx="830275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25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 줄 — 그 행이 말하는 것을 한 문장 40자 이내로 적는다.</a:t>
            </a:r>
          </a:p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15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보충 줄 — 조건·범위·출처의 성격·예외를 적는다. 결론 줄과 줄을 나눈다.</a:t>
            </a:r>
          </a:p>
        </p:txBody>
      </p:sp>
      <p:sp>
        <p:nvSpPr>
          <p:cNvPr id="21" name="RULE21"/>
          <p:cNvSpPr/>
          <p:nvPr/>
        </p:nvSpPr>
        <p:spPr>
          <a:xfrm>
            <a:off x="731520" y="3657600"/>
            <a:ext cx="10725912" cy="0"/>
          </a:xfrm>
          <a:prstGeom prst="line">
            <a:avLst/>
          </a:prstGeom>
          <a:ln w="9525">
            <a:solidFill>
              <a:srgbClr val="DCE0E8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2" name="HEAD22"/>
          <p:cNvSpPr/>
          <p:nvPr/>
        </p:nvSpPr>
        <p:spPr>
          <a:xfrm>
            <a:off x="731520" y="3712464"/>
            <a:ext cx="22402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행머리글 3</a:t>
            </a:r>
          </a:p>
        </p:txBody>
      </p:sp>
      <p:sp>
        <p:nvSpPr>
          <p:cNvPr id="23" name="BODY23"/>
          <p:cNvSpPr/>
          <p:nvPr/>
        </p:nvSpPr>
        <p:spPr>
          <a:xfrm>
            <a:off x="3154680" y="3712464"/>
            <a:ext cx="830275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25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 줄 — 그 행이 말하는 것을 한 문장 40자 이내로 적는다.</a:t>
            </a:r>
          </a:p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15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보충 줄 — 조건·범위·출처의 성격·예외를 적는다. 결론 줄과 줄을 나눈다.</a:t>
            </a:r>
          </a:p>
        </p:txBody>
      </p:sp>
      <p:sp>
        <p:nvSpPr>
          <p:cNvPr id="24" name="RULE24"/>
          <p:cNvSpPr/>
          <p:nvPr/>
        </p:nvSpPr>
        <p:spPr>
          <a:xfrm>
            <a:off x="731520" y="4251960"/>
            <a:ext cx="10725912" cy="0"/>
          </a:xfrm>
          <a:prstGeom prst="line">
            <a:avLst/>
          </a:prstGeom>
          <a:ln w="9525">
            <a:solidFill>
              <a:srgbClr val="DCE0E8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5" name="HEAD25"/>
          <p:cNvSpPr/>
          <p:nvPr/>
        </p:nvSpPr>
        <p:spPr>
          <a:xfrm>
            <a:off x="731520" y="4306824"/>
            <a:ext cx="2240280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행머리글 4</a:t>
            </a:r>
          </a:p>
        </p:txBody>
      </p:sp>
      <p:sp>
        <p:nvSpPr>
          <p:cNvPr id="26" name="BODY26"/>
          <p:cNvSpPr/>
          <p:nvPr/>
        </p:nvSpPr>
        <p:spPr>
          <a:xfrm>
            <a:off x="3154680" y="4306824"/>
            <a:ext cx="8302752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25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 줄 — 그 행이 말하는 것을 한 문장 40자 이내로 적는다.</a:t>
            </a:r>
          </a:p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15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보충 줄 — 조건·범위·출처의 성격·예외를 적는다. 결론 줄과 줄을 나눈다.</a:t>
            </a:r>
          </a:p>
          <a:p>
            <a:pPr marL="0" indent="0">
              <a:lnSpc>
                <a:spcPct val="118000"/>
              </a:lnSpc>
              <a:buNone/>
            </a:pPr>
            <a:r>
              <a:rPr lang="ko-KR" altLang="en-US" sz="1200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한정 줄 — 이 자료로 말할 수 없는 것을 금색으로 적는다.</a:t>
            </a:r>
          </a:p>
        </p:txBody>
      </p:sp>
      <p:sp>
        <p:nvSpPr>
          <p:cNvPr id="27" name="FOOT"/>
          <p:cNvSpPr/>
          <p:nvPr/>
        </p:nvSpPr>
        <p:spPr>
          <a:xfrm>
            <a:off x="731520" y="6419088"/>
            <a:ext cx="107259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· 확인 범위 · 기준 시점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ICKER"/>
          <p:cNvSpPr/>
          <p:nvPr/>
        </p:nvSpPr>
        <p:spPr>
          <a:xfrm>
            <a:off x="731520" y="36576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250" b="1" spc="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단원 이름</a:t>
            </a:r>
          </a:p>
        </p:txBody>
      </p:sp>
      <p:sp>
        <p:nvSpPr>
          <p:cNvPr id="11" name="NEXT"/>
          <p:cNvSpPr/>
          <p:nvPr/>
        </p:nvSpPr>
        <p:spPr>
          <a:xfrm>
            <a:off x="6035040" y="384048"/>
            <a:ext cx="5422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8000"/>
              </a:lnSpc>
              <a:buNone/>
            </a:pPr>
            <a:r>
              <a:rPr lang="ko-KR" alt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→ 다음 장 핵심어</a:t>
            </a:r>
          </a:p>
        </p:txBody>
      </p:sp>
      <p:sp>
        <p:nvSpPr>
          <p:cNvPr id="12" name="TITLE"/>
          <p:cNvSpPr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27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 좌우 대조</a:t>
            </a:r>
          </a:p>
        </p:txBody>
      </p:sp>
      <p:sp>
        <p:nvSpPr>
          <p:cNvPr id="13" name="BANDBG"/>
          <p:cNvSpPr/>
          <p:nvPr/>
        </p:nvSpPr>
        <p:spPr>
          <a:xfrm>
            <a:off x="731520" y="1417320"/>
            <a:ext cx="10725912" cy="54864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14" name="BANDTX"/>
          <p:cNvSpPr/>
          <p:nvPr/>
        </p:nvSpPr>
        <p:spPr>
          <a:xfrm>
            <a:off x="1005840" y="141732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조문·두 판단·확인할 것과 밝힐 것을 나란히 놓는다</a:t>
            </a:r>
          </a:p>
        </p:txBody>
      </p:sp>
      <p:sp>
        <p:nvSpPr>
          <p:cNvPr id="15" name="RULE"/>
          <p:cNvSpPr/>
          <p:nvPr/>
        </p:nvSpPr>
        <p:spPr>
          <a:xfrm>
            <a:off x="731520" y="2057400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6" name="CH16"/>
          <p:cNvSpPr/>
          <p:nvPr/>
        </p:nvSpPr>
        <p:spPr>
          <a:xfrm>
            <a:off x="731520" y="2240280"/>
            <a:ext cx="5175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왼쪽 열 제목</a:t>
            </a:r>
          </a:p>
        </p:txBody>
      </p:sp>
      <p:sp>
        <p:nvSpPr>
          <p:cNvPr id="17" name="CL17"/>
          <p:cNvSpPr/>
          <p:nvPr/>
        </p:nvSpPr>
        <p:spPr>
          <a:xfrm>
            <a:off x="731520" y="2679192"/>
            <a:ext cx="5175504" cy="0"/>
          </a:xfrm>
          <a:prstGeom prst="line">
            <a:avLst/>
          </a:prstGeom>
          <a:ln w="19050">
            <a:solidFill>
              <a:srgbClr val="1E2761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8" name="CB18"/>
          <p:cNvSpPr/>
          <p:nvPr/>
        </p:nvSpPr>
        <p:spPr>
          <a:xfrm>
            <a:off x="731520" y="2807208"/>
            <a:ext cx="5175504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ko-KR" altLang="en-US" sz="120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 줄 — 이 열이 말하는 것.</a:t>
            </a:r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ko-KR" altLang="en-US" sz="1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보충 줄 — 조건과 범위.</a:t>
            </a:r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ko-KR" altLang="en-US" sz="1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보충 줄 — 필요하면 한 줄 더.</a:t>
            </a:r>
          </a:p>
        </p:txBody>
      </p:sp>
      <p:sp>
        <p:nvSpPr>
          <p:cNvPr id="19" name="CH19"/>
          <p:cNvSpPr/>
          <p:nvPr/>
        </p:nvSpPr>
        <p:spPr>
          <a:xfrm>
            <a:off x="6281928" y="2240280"/>
            <a:ext cx="5175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오른쪽 열 제목</a:t>
            </a:r>
          </a:p>
        </p:txBody>
      </p:sp>
      <p:sp>
        <p:nvSpPr>
          <p:cNvPr id="20" name="CL20"/>
          <p:cNvSpPr/>
          <p:nvPr/>
        </p:nvSpPr>
        <p:spPr>
          <a:xfrm>
            <a:off x="6281928" y="2679192"/>
            <a:ext cx="5175504" cy="0"/>
          </a:xfrm>
          <a:prstGeom prst="line">
            <a:avLst/>
          </a:prstGeom>
          <a:ln w="19050">
            <a:solidFill>
              <a:srgbClr val="1E2761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1" name="CB21"/>
          <p:cNvSpPr/>
          <p:nvPr/>
        </p:nvSpPr>
        <p:spPr>
          <a:xfrm>
            <a:off x="6281928" y="2807208"/>
            <a:ext cx="5175504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ko-KR" altLang="en-US" sz="120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 줄 — 왼쪽과 같은 급으로 적는다.</a:t>
            </a:r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ko-KR" altLang="en-US" sz="1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보충 줄 — 좌우의 줄 수를 맞춘다.</a:t>
            </a:r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ko-KR" altLang="en-US" sz="1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보충 줄 — 필요하면 한 줄 더.</a:t>
            </a:r>
          </a:p>
        </p:txBody>
      </p:sp>
      <p:sp>
        <p:nvSpPr>
          <p:cNvPr id="22" name="FOOT"/>
          <p:cNvSpPr/>
          <p:nvPr/>
        </p:nvSpPr>
        <p:spPr>
          <a:xfrm>
            <a:off x="731520" y="6419088"/>
            <a:ext cx="107259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· 확인 범위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ICKER"/>
          <p:cNvSpPr/>
          <p:nvPr/>
        </p:nvSpPr>
        <p:spPr>
          <a:xfrm>
            <a:off x="731520" y="36576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250" b="1" spc="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단원 이름</a:t>
            </a:r>
          </a:p>
        </p:txBody>
      </p:sp>
      <p:sp>
        <p:nvSpPr>
          <p:cNvPr id="11" name="NEXT"/>
          <p:cNvSpPr/>
          <p:nvPr/>
        </p:nvSpPr>
        <p:spPr>
          <a:xfrm>
            <a:off x="6035040" y="384048"/>
            <a:ext cx="5422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8000"/>
              </a:lnSpc>
              <a:buNone/>
            </a:pPr>
            <a:r>
              <a:rPr lang="ko-KR" alt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→ 다음 장 핵심어</a:t>
            </a:r>
          </a:p>
        </p:txBody>
      </p:sp>
      <p:sp>
        <p:nvSpPr>
          <p:cNvPr id="12" name="TITLE"/>
          <p:cNvSpPr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27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 다열 칸 — 국가별·시기별 비교</a:t>
            </a:r>
          </a:p>
        </p:txBody>
      </p:sp>
      <p:sp>
        <p:nvSpPr>
          <p:cNvPr id="13" name="BANDBG"/>
          <p:cNvSpPr/>
          <p:nvPr/>
        </p:nvSpPr>
        <p:spPr>
          <a:xfrm>
            <a:off x="731520" y="1417320"/>
            <a:ext cx="10725912" cy="54864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14" name="BANDTX"/>
          <p:cNvSpPr/>
          <p:nvPr/>
        </p:nvSpPr>
        <p:spPr>
          <a:xfrm>
            <a:off x="1005840" y="141732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기준을 세 곳에 나란히 적용해 비교한다</a:t>
            </a:r>
          </a:p>
        </p:txBody>
      </p:sp>
      <p:sp>
        <p:nvSpPr>
          <p:cNvPr id="15" name="RULE"/>
          <p:cNvSpPr/>
          <p:nvPr/>
        </p:nvSpPr>
        <p:spPr>
          <a:xfrm>
            <a:off x="731520" y="2057400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6" name="CH16"/>
          <p:cNvSpPr/>
          <p:nvPr/>
        </p:nvSpPr>
        <p:spPr>
          <a:xfrm>
            <a:off x="731520" y="2240280"/>
            <a:ext cx="3392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첫째 항목</a:t>
            </a:r>
          </a:p>
        </p:txBody>
      </p:sp>
      <p:sp>
        <p:nvSpPr>
          <p:cNvPr id="17" name="CL17"/>
          <p:cNvSpPr/>
          <p:nvPr/>
        </p:nvSpPr>
        <p:spPr>
          <a:xfrm>
            <a:off x="731520" y="2679192"/>
            <a:ext cx="3392424" cy="0"/>
          </a:xfrm>
          <a:prstGeom prst="line">
            <a:avLst/>
          </a:prstGeom>
          <a:ln w="19050">
            <a:solidFill>
              <a:srgbClr val="1E2761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8" name="CB18"/>
          <p:cNvSpPr/>
          <p:nvPr/>
        </p:nvSpPr>
        <p:spPr>
          <a:xfrm>
            <a:off x="731520" y="2807208"/>
            <a:ext cx="3392424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ko-KR" altLang="en-US" sz="120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 줄.</a:t>
            </a:r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ko-KR" altLang="en-US" sz="1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보충 줄 — 조건.</a:t>
            </a:r>
          </a:p>
        </p:txBody>
      </p:sp>
      <p:sp>
        <p:nvSpPr>
          <p:cNvPr id="19" name="CH19"/>
          <p:cNvSpPr/>
          <p:nvPr/>
        </p:nvSpPr>
        <p:spPr>
          <a:xfrm>
            <a:off x="4398264" y="2240280"/>
            <a:ext cx="3392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둘째 항목</a:t>
            </a:r>
          </a:p>
        </p:txBody>
      </p:sp>
      <p:sp>
        <p:nvSpPr>
          <p:cNvPr id="20" name="CL20"/>
          <p:cNvSpPr/>
          <p:nvPr/>
        </p:nvSpPr>
        <p:spPr>
          <a:xfrm>
            <a:off x="4398264" y="2679192"/>
            <a:ext cx="3392424" cy="0"/>
          </a:xfrm>
          <a:prstGeom prst="line">
            <a:avLst/>
          </a:prstGeom>
          <a:ln w="19050">
            <a:solidFill>
              <a:srgbClr val="1E2761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1" name="CB21"/>
          <p:cNvSpPr/>
          <p:nvPr/>
        </p:nvSpPr>
        <p:spPr>
          <a:xfrm>
            <a:off x="4398264" y="2807208"/>
            <a:ext cx="3392424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ko-KR" altLang="en-US" sz="120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 줄.</a:t>
            </a:r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ko-KR" altLang="en-US" sz="1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보충 줄 — 조건.</a:t>
            </a:r>
          </a:p>
        </p:txBody>
      </p:sp>
      <p:sp>
        <p:nvSpPr>
          <p:cNvPr id="22" name="CH22"/>
          <p:cNvSpPr/>
          <p:nvPr/>
        </p:nvSpPr>
        <p:spPr>
          <a:xfrm>
            <a:off x="8065008" y="2240280"/>
            <a:ext cx="3392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셋째 항목</a:t>
            </a:r>
          </a:p>
        </p:txBody>
      </p:sp>
      <p:sp>
        <p:nvSpPr>
          <p:cNvPr id="23" name="CL23"/>
          <p:cNvSpPr/>
          <p:nvPr/>
        </p:nvSpPr>
        <p:spPr>
          <a:xfrm>
            <a:off x="8065008" y="2679192"/>
            <a:ext cx="3392424" cy="0"/>
          </a:xfrm>
          <a:prstGeom prst="line">
            <a:avLst/>
          </a:prstGeom>
          <a:ln w="19050">
            <a:solidFill>
              <a:srgbClr val="1E2761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4" name="CB24"/>
          <p:cNvSpPr/>
          <p:nvPr/>
        </p:nvSpPr>
        <p:spPr>
          <a:xfrm>
            <a:off x="8065008" y="2807208"/>
            <a:ext cx="3392424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ko-KR" altLang="en-US" sz="120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 줄.</a:t>
            </a:r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ko-KR" altLang="en-US" sz="1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보충 줄 — 조건.</a:t>
            </a:r>
          </a:p>
        </p:txBody>
      </p:sp>
      <p:sp>
        <p:nvSpPr>
          <p:cNvPr id="25" name="HEAD25"/>
          <p:cNvSpPr/>
          <p:nvPr/>
        </p:nvSpPr>
        <p:spPr>
          <a:xfrm>
            <a:off x="731520" y="5449824"/>
            <a:ext cx="22402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비교의 기준</a:t>
            </a:r>
          </a:p>
        </p:txBody>
      </p:sp>
      <p:sp>
        <p:nvSpPr>
          <p:cNvPr id="26" name="BODY26"/>
          <p:cNvSpPr/>
          <p:nvPr/>
        </p:nvSpPr>
        <p:spPr>
          <a:xfrm>
            <a:off x="3154680" y="5449824"/>
            <a:ext cx="830275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25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열을 같은 기준으로 읽는 방법을 한 문장으로 적는다.</a:t>
            </a:r>
          </a:p>
          <a:p>
            <a:pPr marL="0" indent="0">
              <a:lnSpc>
                <a:spcPct val="118000"/>
              </a:lnSpc>
              <a:buNone/>
            </a:pPr>
            <a:r>
              <a:rPr lang="ko-KR" altLang="en-US" sz="1200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숫자만 떼어 순위를 매기지 않는다.</a:t>
            </a:r>
          </a:p>
        </p:txBody>
      </p:sp>
      <p:sp>
        <p:nvSpPr>
          <p:cNvPr id="27" name="FOOT"/>
          <p:cNvSpPr/>
          <p:nvPr/>
        </p:nvSpPr>
        <p:spPr>
          <a:xfrm>
            <a:off x="731520" y="6419088"/>
            <a:ext cx="107259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· 확인 범위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ICKER"/>
          <p:cNvSpPr/>
          <p:nvPr/>
        </p:nvSpPr>
        <p:spPr>
          <a:xfrm>
            <a:off x="731520" y="36576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250" b="1" spc="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단원 이름</a:t>
            </a:r>
          </a:p>
        </p:txBody>
      </p:sp>
      <p:sp>
        <p:nvSpPr>
          <p:cNvPr id="11" name="NEXT"/>
          <p:cNvSpPr/>
          <p:nvPr/>
        </p:nvSpPr>
        <p:spPr>
          <a:xfrm>
            <a:off x="6035040" y="384048"/>
            <a:ext cx="5422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8000"/>
              </a:lnSpc>
              <a:buNone/>
            </a:pPr>
            <a:r>
              <a:rPr lang="ko-KR" alt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→ 다음 장 핵심어</a:t>
            </a:r>
          </a:p>
        </p:txBody>
      </p:sp>
      <p:sp>
        <p:nvSpPr>
          <p:cNvPr id="12" name="TITLE"/>
          <p:cNvSpPr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27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 격자 표 — 규격 자료</a:t>
            </a:r>
          </a:p>
        </p:txBody>
      </p:sp>
      <p:sp>
        <p:nvSpPr>
          <p:cNvPr id="13" name="BANDBG"/>
          <p:cNvSpPr/>
          <p:nvPr/>
        </p:nvSpPr>
        <p:spPr>
          <a:xfrm>
            <a:off x="731520" y="1417320"/>
            <a:ext cx="10725912" cy="54864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14" name="BANDTX"/>
          <p:cNvSpPr/>
          <p:nvPr/>
        </p:nvSpPr>
        <p:spPr>
          <a:xfrm>
            <a:off x="1005840" y="141732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호·기간·연령 같은 규격 자료는 같은 칸 구성으로 적는다</a:t>
            </a:r>
          </a:p>
        </p:txBody>
      </p:sp>
      <p:sp>
        <p:nvSpPr>
          <p:cNvPr id="15" name="RULE"/>
          <p:cNvSpPr/>
          <p:nvPr/>
        </p:nvSpPr>
        <p:spPr>
          <a:xfrm>
            <a:off x="731520" y="2057400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6" name="TH16"/>
          <p:cNvSpPr/>
          <p:nvPr/>
        </p:nvSpPr>
        <p:spPr>
          <a:xfrm>
            <a:off x="731520" y="224028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200" b="1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</a:t>
            </a:r>
          </a:p>
        </p:txBody>
      </p:sp>
      <p:sp>
        <p:nvSpPr>
          <p:cNvPr id="17" name="TH17"/>
          <p:cNvSpPr/>
          <p:nvPr/>
        </p:nvSpPr>
        <p:spPr>
          <a:xfrm>
            <a:off x="1783080" y="22402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200" b="1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</a:t>
            </a:r>
          </a:p>
        </p:txBody>
      </p:sp>
      <p:sp>
        <p:nvSpPr>
          <p:cNvPr id="18" name="TH18"/>
          <p:cNvSpPr/>
          <p:nvPr/>
        </p:nvSpPr>
        <p:spPr>
          <a:xfrm>
            <a:off x="6995160" y="22402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200" b="1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기간</a:t>
            </a:r>
          </a:p>
        </p:txBody>
      </p:sp>
      <p:sp>
        <p:nvSpPr>
          <p:cNvPr id="19" name="TH19"/>
          <p:cNvSpPr/>
          <p:nvPr/>
        </p:nvSpPr>
        <p:spPr>
          <a:xfrm>
            <a:off x="9555480" y="2240280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200" b="1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제한</a:t>
            </a:r>
          </a:p>
        </p:txBody>
      </p:sp>
      <p:sp>
        <p:nvSpPr>
          <p:cNvPr id="20" name="THL"/>
          <p:cNvSpPr/>
          <p:nvPr/>
        </p:nvSpPr>
        <p:spPr>
          <a:xfrm>
            <a:off x="731520" y="2569464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1" name="TC21"/>
          <p:cNvSpPr/>
          <p:nvPr/>
        </p:nvSpPr>
        <p:spPr>
          <a:xfrm>
            <a:off x="731520" y="264261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제1호</a:t>
            </a:r>
          </a:p>
        </p:txBody>
      </p:sp>
      <p:sp>
        <p:nvSpPr>
          <p:cNvPr id="22" name="TC22"/>
          <p:cNvSpPr/>
          <p:nvPr/>
        </p:nvSpPr>
        <p:spPr>
          <a:xfrm>
            <a:off x="1783080" y="2642616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이름</a:t>
            </a:r>
          </a:p>
        </p:txBody>
      </p:sp>
      <p:sp>
        <p:nvSpPr>
          <p:cNvPr id="23" name="TC23"/>
          <p:cNvSpPr/>
          <p:nvPr/>
        </p:nvSpPr>
        <p:spPr>
          <a:xfrm>
            <a:off x="6995160" y="2642616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2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기간</a:t>
            </a:r>
          </a:p>
        </p:txBody>
      </p:sp>
      <p:sp>
        <p:nvSpPr>
          <p:cNvPr id="24" name="TC24"/>
          <p:cNvSpPr/>
          <p:nvPr/>
        </p:nvSpPr>
        <p:spPr>
          <a:xfrm>
            <a:off x="9555480" y="2642616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2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</a:p>
        </p:txBody>
      </p:sp>
      <p:sp>
        <p:nvSpPr>
          <p:cNvPr id="25" name="RL25"/>
          <p:cNvSpPr/>
          <p:nvPr/>
        </p:nvSpPr>
        <p:spPr>
          <a:xfrm>
            <a:off x="731520" y="3063240"/>
            <a:ext cx="10725912" cy="0"/>
          </a:xfrm>
          <a:prstGeom prst="line">
            <a:avLst/>
          </a:prstGeom>
          <a:ln w="9525">
            <a:solidFill>
              <a:srgbClr val="DCE0E8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6" name="TC26"/>
          <p:cNvSpPr/>
          <p:nvPr/>
        </p:nvSpPr>
        <p:spPr>
          <a:xfrm>
            <a:off x="731520" y="3063240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제2호</a:t>
            </a:r>
          </a:p>
        </p:txBody>
      </p:sp>
      <p:sp>
        <p:nvSpPr>
          <p:cNvPr id="27" name="TC27"/>
          <p:cNvSpPr/>
          <p:nvPr/>
        </p:nvSpPr>
        <p:spPr>
          <a:xfrm>
            <a:off x="1783080" y="3063240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이름</a:t>
            </a:r>
          </a:p>
        </p:txBody>
      </p:sp>
      <p:sp>
        <p:nvSpPr>
          <p:cNvPr id="28" name="TC28"/>
          <p:cNvSpPr/>
          <p:nvPr/>
        </p:nvSpPr>
        <p:spPr>
          <a:xfrm>
            <a:off x="6995160" y="306324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2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기간</a:t>
            </a:r>
          </a:p>
        </p:txBody>
      </p:sp>
      <p:sp>
        <p:nvSpPr>
          <p:cNvPr id="29" name="TC29"/>
          <p:cNvSpPr/>
          <p:nvPr/>
        </p:nvSpPr>
        <p:spPr>
          <a:xfrm>
            <a:off x="9555480" y="3063240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25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제한</a:t>
            </a:r>
          </a:p>
        </p:txBody>
      </p:sp>
      <p:sp>
        <p:nvSpPr>
          <p:cNvPr id="30" name="RL30"/>
          <p:cNvSpPr/>
          <p:nvPr/>
        </p:nvSpPr>
        <p:spPr>
          <a:xfrm>
            <a:off x="731520" y="3483864"/>
            <a:ext cx="10725912" cy="0"/>
          </a:xfrm>
          <a:prstGeom prst="line">
            <a:avLst/>
          </a:prstGeom>
          <a:ln w="9525">
            <a:solidFill>
              <a:srgbClr val="DCE0E8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31" name="TC31"/>
          <p:cNvSpPr/>
          <p:nvPr/>
        </p:nvSpPr>
        <p:spPr>
          <a:xfrm>
            <a:off x="731520" y="3483864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제3호</a:t>
            </a:r>
          </a:p>
        </p:txBody>
      </p:sp>
      <p:sp>
        <p:nvSpPr>
          <p:cNvPr id="32" name="TC32"/>
          <p:cNvSpPr/>
          <p:nvPr/>
        </p:nvSpPr>
        <p:spPr>
          <a:xfrm>
            <a:off x="1783080" y="3483864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이름</a:t>
            </a:r>
          </a:p>
        </p:txBody>
      </p:sp>
      <p:sp>
        <p:nvSpPr>
          <p:cNvPr id="33" name="TC33"/>
          <p:cNvSpPr/>
          <p:nvPr/>
        </p:nvSpPr>
        <p:spPr>
          <a:xfrm>
            <a:off x="6995160" y="3483864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2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기간</a:t>
            </a:r>
          </a:p>
        </p:txBody>
      </p:sp>
      <p:sp>
        <p:nvSpPr>
          <p:cNvPr id="34" name="TC34"/>
          <p:cNvSpPr/>
          <p:nvPr/>
        </p:nvSpPr>
        <p:spPr>
          <a:xfrm>
            <a:off x="9555480" y="3483864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2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</a:p>
        </p:txBody>
      </p:sp>
      <p:sp>
        <p:nvSpPr>
          <p:cNvPr id="35" name="RL35"/>
          <p:cNvSpPr/>
          <p:nvPr/>
        </p:nvSpPr>
        <p:spPr>
          <a:xfrm>
            <a:off x="731520" y="3904488"/>
            <a:ext cx="10725912" cy="0"/>
          </a:xfrm>
          <a:prstGeom prst="line">
            <a:avLst/>
          </a:prstGeom>
          <a:ln w="9525">
            <a:solidFill>
              <a:srgbClr val="DCE0E8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36" name="TC36"/>
          <p:cNvSpPr/>
          <p:nvPr/>
        </p:nvSpPr>
        <p:spPr>
          <a:xfrm>
            <a:off x="731520" y="390448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제4호</a:t>
            </a:r>
          </a:p>
        </p:txBody>
      </p:sp>
      <p:sp>
        <p:nvSpPr>
          <p:cNvPr id="37" name="TC37"/>
          <p:cNvSpPr/>
          <p:nvPr/>
        </p:nvSpPr>
        <p:spPr>
          <a:xfrm>
            <a:off x="1783080" y="3904488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이름</a:t>
            </a:r>
          </a:p>
        </p:txBody>
      </p:sp>
      <p:sp>
        <p:nvSpPr>
          <p:cNvPr id="38" name="TC38"/>
          <p:cNvSpPr/>
          <p:nvPr/>
        </p:nvSpPr>
        <p:spPr>
          <a:xfrm>
            <a:off x="6995160" y="390448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2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기간</a:t>
            </a:r>
          </a:p>
        </p:txBody>
      </p:sp>
      <p:sp>
        <p:nvSpPr>
          <p:cNvPr id="39" name="TC39"/>
          <p:cNvSpPr/>
          <p:nvPr/>
        </p:nvSpPr>
        <p:spPr>
          <a:xfrm>
            <a:off x="9555480" y="3904488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2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</a:p>
        </p:txBody>
      </p:sp>
      <p:sp>
        <p:nvSpPr>
          <p:cNvPr id="40" name="RL40"/>
          <p:cNvSpPr/>
          <p:nvPr/>
        </p:nvSpPr>
        <p:spPr>
          <a:xfrm>
            <a:off x="731520" y="4325112"/>
            <a:ext cx="10725912" cy="0"/>
          </a:xfrm>
          <a:prstGeom prst="line">
            <a:avLst/>
          </a:prstGeom>
          <a:ln w="9525">
            <a:solidFill>
              <a:srgbClr val="DCE0E8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41" name="TC41"/>
          <p:cNvSpPr/>
          <p:nvPr/>
        </p:nvSpPr>
        <p:spPr>
          <a:xfrm>
            <a:off x="731520" y="4325112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제5호</a:t>
            </a:r>
          </a:p>
        </p:txBody>
      </p:sp>
      <p:sp>
        <p:nvSpPr>
          <p:cNvPr id="42" name="TC42"/>
          <p:cNvSpPr/>
          <p:nvPr/>
        </p:nvSpPr>
        <p:spPr>
          <a:xfrm>
            <a:off x="1783080" y="4325112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이름</a:t>
            </a:r>
          </a:p>
        </p:txBody>
      </p:sp>
      <p:sp>
        <p:nvSpPr>
          <p:cNvPr id="43" name="TC43"/>
          <p:cNvSpPr/>
          <p:nvPr/>
        </p:nvSpPr>
        <p:spPr>
          <a:xfrm>
            <a:off x="6995160" y="432511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2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기간</a:t>
            </a:r>
          </a:p>
        </p:txBody>
      </p:sp>
      <p:sp>
        <p:nvSpPr>
          <p:cNvPr id="44" name="TC44"/>
          <p:cNvSpPr/>
          <p:nvPr/>
        </p:nvSpPr>
        <p:spPr>
          <a:xfrm>
            <a:off x="9555480" y="4325112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25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제한</a:t>
            </a:r>
          </a:p>
        </p:txBody>
      </p:sp>
      <p:sp>
        <p:nvSpPr>
          <p:cNvPr id="45" name="HEAD45"/>
          <p:cNvSpPr/>
          <p:nvPr/>
        </p:nvSpPr>
        <p:spPr>
          <a:xfrm>
            <a:off x="731520" y="4892040"/>
            <a:ext cx="22402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표가 답하는 것</a:t>
            </a:r>
          </a:p>
        </p:txBody>
      </p:sp>
      <p:sp>
        <p:nvSpPr>
          <p:cNvPr id="46" name="BODY46"/>
          <p:cNvSpPr/>
          <p:nvPr/>
        </p:nvSpPr>
        <p:spPr>
          <a:xfrm>
            <a:off x="3154680" y="4892040"/>
            <a:ext cx="830275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25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표에서 바로 읽히는 것을 한 문장으로 적는다.</a:t>
            </a:r>
          </a:p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15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표만으로 답할 수 없는 것을 보충 줄에 적는다.</a:t>
            </a:r>
          </a:p>
        </p:txBody>
      </p:sp>
      <p:sp>
        <p:nvSpPr>
          <p:cNvPr id="47" name="FOOT"/>
          <p:cNvSpPr/>
          <p:nvPr/>
        </p:nvSpPr>
        <p:spPr>
          <a:xfrm>
            <a:off x="731520" y="6419088"/>
            <a:ext cx="107259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조문 · 확인 범위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ICKER"/>
          <p:cNvSpPr/>
          <p:nvPr/>
        </p:nvSpPr>
        <p:spPr>
          <a:xfrm>
            <a:off x="731520" y="36576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250" b="1" spc="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단원 이름</a:t>
            </a:r>
          </a:p>
        </p:txBody>
      </p:sp>
      <p:sp>
        <p:nvSpPr>
          <p:cNvPr id="11" name="NEXT"/>
          <p:cNvSpPr/>
          <p:nvPr/>
        </p:nvSpPr>
        <p:spPr>
          <a:xfrm>
            <a:off x="6035040" y="384048"/>
            <a:ext cx="5422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8000"/>
              </a:lnSpc>
              <a:buNone/>
            </a:pPr>
            <a:r>
              <a:rPr lang="ko-KR" alt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→ 다음 장 핵심어</a:t>
            </a:r>
          </a:p>
        </p:txBody>
      </p:sp>
      <p:sp>
        <p:nvSpPr>
          <p:cNvPr id="12" name="TITLE"/>
          <p:cNvSpPr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27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 연구 표준형 — 3행 변형 · 주제 — 연구자(연도)</a:t>
            </a:r>
          </a:p>
        </p:txBody>
      </p:sp>
      <p:sp>
        <p:nvSpPr>
          <p:cNvPr id="13" name="BANDBG"/>
          <p:cNvSpPr/>
          <p:nvPr/>
        </p:nvSpPr>
        <p:spPr>
          <a:xfrm>
            <a:off x="731520" y="1417320"/>
            <a:ext cx="10725912" cy="54864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14" name="BANDTX"/>
          <p:cNvSpPr/>
          <p:nvPr/>
        </p:nvSpPr>
        <p:spPr>
          <a:xfrm>
            <a:off x="1005840" y="141732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연구가 답한 것과 답하지 않은 것을 함께 적는다</a:t>
            </a:r>
          </a:p>
        </p:txBody>
      </p:sp>
      <p:sp>
        <p:nvSpPr>
          <p:cNvPr id="15" name="RULE"/>
          <p:cNvSpPr/>
          <p:nvPr/>
        </p:nvSpPr>
        <p:spPr>
          <a:xfrm>
            <a:off x="731520" y="2057400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6" name="HEAD16"/>
          <p:cNvSpPr/>
          <p:nvPr/>
        </p:nvSpPr>
        <p:spPr>
          <a:xfrm>
            <a:off x="731520" y="2295144"/>
            <a:ext cx="22402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비교했나</a:t>
            </a:r>
          </a:p>
        </p:txBody>
      </p:sp>
      <p:sp>
        <p:nvSpPr>
          <p:cNvPr id="17" name="BODY17"/>
          <p:cNvSpPr/>
          <p:nvPr/>
        </p:nvSpPr>
        <p:spPr>
          <a:xfrm>
            <a:off x="3154680" y="2295144"/>
            <a:ext cx="830275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25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 구도를 먼저 세운다 — 무엇과 무엇을 비교했는가.</a:t>
            </a:r>
          </a:p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15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대상·개입·비교 방식을 화면에서 빼지 않는다.</a:t>
            </a:r>
          </a:p>
        </p:txBody>
      </p:sp>
      <p:sp>
        <p:nvSpPr>
          <p:cNvPr id="18" name="RULE18"/>
          <p:cNvSpPr/>
          <p:nvPr/>
        </p:nvSpPr>
        <p:spPr>
          <a:xfrm>
            <a:off x="731520" y="2834640"/>
            <a:ext cx="10725912" cy="0"/>
          </a:xfrm>
          <a:prstGeom prst="line">
            <a:avLst/>
          </a:prstGeom>
          <a:ln w="9525">
            <a:solidFill>
              <a:srgbClr val="DCE0E8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9" name="HEAD19"/>
          <p:cNvSpPr/>
          <p:nvPr/>
        </p:nvSpPr>
        <p:spPr>
          <a:xfrm>
            <a:off x="731520" y="2889504"/>
            <a:ext cx="22402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변화의 분리</a:t>
            </a:r>
          </a:p>
        </p:txBody>
      </p:sp>
      <p:sp>
        <p:nvSpPr>
          <p:cNvPr id="20" name="BODY20"/>
          <p:cNvSpPr/>
          <p:nvPr/>
        </p:nvSpPr>
        <p:spPr>
          <a:xfrm>
            <a:off x="3154680" y="2889504"/>
            <a:ext cx="830275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25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요인의 영향을 어떻게 분리했는지 적는다.</a:t>
            </a:r>
          </a:p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15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사실만 적고 방법론 명칭은 쓰지 않는다.</a:t>
            </a:r>
          </a:p>
        </p:txBody>
      </p:sp>
      <p:sp>
        <p:nvSpPr>
          <p:cNvPr id="21" name="RULE21"/>
          <p:cNvSpPr/>
          <p:nvPr/>
        </p:nvSpPr>
        <p:spPr>
          <a:xfrm>
            <a:off x="731520" y="3429000"/>
            <a:ext cx="10725912" cy="0"/>
          </a:xfrm>
          <a:prstGeom prst="line">
            <a:avLst/>
          </a:prstGeom>
          <a:ln w="9525">
            <a:solidFill>
              <a:srgbClr val="DCE0E8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2" name="HEAD22"/>
          <p:cNvSpPr/>
          <p:nvPr/>
        </p:nvSpPr>
        <p:spPr>
          <a:xfrm>
            <a:off x="731520" y="3483864"/>
            <a:ext cx="22402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무엇이 나타났나</a:t>
            </a:r>
          </a:p>
        </p:txBody>
      </p:sp>
      <p:sp>
        <p:nvSpPr>
          <p:cNvPr id="23" name="BODY23"/>
          <p:cNvSpPr/>
          <p:nvPr/>
        </p:nvSpPr>
        <p:spPr>
          <a:xfrm>
            <a:off x="3154680" y="3483864"/>
            <a:ext cx="830275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30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결과를 결론 줄에 놓는다. 이 행은 한 급 크게 적는다.</a:t>
            </a:r>
          </a:p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15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수치는 단위와 기준을 함께 적는다.</a:t>
            </a:r>
          </a:p>
        </p:txBody>
      </p:sp>
      <p:sp>
        <p:nvSpPr>
          <p:cNvPr id="24" name="FOOT"/>
          <p:cNvSpPr/>
          <p:nvPr/>
        </p:nvSpPr>
        <p:spPr>
          <a:xfrm>
            <a:off x="731520" y="6419088"/>
            <a:ext cx="107259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저자(연도), 학술지 권(호), 면 · 표본과 대상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ICKER"/>
          <p:cNvSpPr/>
          <p:nvPr/>
        </p:nvSpPr>
        <p:spPr>
          <a:xfrm>
            <a:off x="731520" y="36576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250" b="1" spc="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단원 이름</a:t>
            </a:r>
          </a:p>
        </p:txBody>
      </p:sp>
      <p:sp>
        <p:nvSpPr>
          <p:cNvPr id="11" name="NEXT"/>
          <p:cNvSpPr/>
          <p:nvPr/>
        </p:nvSpPr>
        <p:spPr>
          <a:xfrm>
            <a:off x="6035040" y="384048"/>
            <a:ext cx="5422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8000"/>
              </a:lnSpc>
              <a:buNone/>
            </a:pPr>
            <a:r>
              <a:rPr lang="ko-KR" alt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→ 다음 장 핵심어</a:t>
            </a:r>
          </a:p>
        </p:txBody>
      </p:sp>
      <p:sp>
        <p:nvSpPr>
          <p:cNvPr id="12" name="TITLE"/>
          <p:cNvSpPr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27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 연구 표준형 — 4행 변형 · 주제 — 연구자(연도)</a:t>
            </a:r>
          </a:p>
        </p:txBody>
      </p:sp>
      <p:sp>
        <p:nvSpPr>
          <p:cNvPr id="13" name="BANDBG"/>
          <p:cNvSpPr/>
          <p:nvPr/>
        </p:nvSpPr>
        <p:spPr>
          <a:xfrm>
            <a:off x="731520" y="1417320"/>
            <a:ext cx="10725912" cy="54864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14" name="BANDTX"/>
          <p:cNvSpPr/>
          <p:nvPr/>
        </p:nvSpPr>
        <p:spPr>
          <a:xfrm>
            <a:off x="1005840" y="141732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연구가 답한 것과 답하지 않은 것을 함께 적는다</a:t>
            </a:r>
          </a:p>
        </p:txBody>
      </p:sp>
      <p:sp>
        <p:nvSpPr>
          <p:cNvPr id="15" name="RULE"/>
          <p:cNvSpPr/>
          <p:nvPr/>
        </p:nvSpPr>
        <p:spPr>
          <a:xfrm>
            <a:off x="731520" y="2057400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6" name="HEAD16"/>
          <p:cNvSpPr/>
          <p:nvPr/>
        </p:nvSpPr>
        <p:spPr>
          <a:xfrm>
            <a:off x="731520" y="2295144"/>
            <a:ext cx="22402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비교했나</a:t>
            </a:r>
          </a:p>
        </p:txBody>
      </p:sp>
      <p:sp>
        <p:nvSpPr>
          <p:cNvPr id="17" name="BODY17"/>
          <p:cNvSpPr/>
          <p:nvPr/>
        </p:nvSpPr>
        <p:spPr>
          <a:xfrm>
            <a:off x="3154680" y="2295144"/>
            <a:ext cx="830275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25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 구도를 먼저 세운다 — 무엇과 무엇을 비교했는가.</a:t>
            </a:r>
          </a:p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15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대상·개입·비교 방식을 화면에서 빼지 않는다.</a:t>
            </a:r>
          </a:p>
        </p:txBody>
      </p:sp>
      <p:sp>
        <p:nvSpPr>
          <p:cNvPr id="18" name="RULE18"/>
          <p:cNvSpPr/>
          <p:nvPr/>
        </p:nvSpPr>
        <p:spPr>
          <a:xfrm>
            <a:off x="731520" y="2834640"/>
            <a:ext cx="10725912" cy="0"/>
          </a:xfrm>
          <a:prstGeom prst="line">
            <a:avLst/>
          </a:prstGeom>
          <a:ln w="9525">
            <a:solidFill>
              <a:srgbClr val="DCE0E8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9" name="HEAD19"/>
          <p:cNvSpPr/>
          <p:nvPr/>
        </p:nvSpPr>
        <p:spPr>
          <a:xfrm>
            <a:off x="731520" y="2889504"/>
            <a:ext cx="22402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변화의 분리</a:t>
            </a:r>
          </a:p>
        </p:txBody>
      </p:sp>
      <p:sp>
        <p:nvSpPr>
          <p:cNvPr id="20" name="BODY20"/>
          <p:cNvSpPr/>
          <p:nvPr/>
        </p:nvSpPr>
        <p:spPr>
          <a:xfrm>
            <a:off x="3154680" y="2889504"/>
            <a:ext cx="830275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25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요인의 영향을 어떻게 분리했는지 적는다.</a:t>
            </a:r>
          </a:p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15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사실만 적고 방법론 명칭은 쓰지 않는다.</a:t>
            </a:r>
          </a:p>
        </p:txBody>
      </p:sp>
      <p:sp>
        <p:nvSpPr>
          <p:cNvPr id="21" name="RULE21"/>
          <p:cNvSpPr/>
          <p:nvPr/>
        </p:nvSpPr>
        <p:spPr>
          <a:xfrm>
            <a:off x="731520" y="3429000"/>
            <a:ext cx="10725912" cy="0"/>
          </a:xfrm>
          <a:prstGeom prst="line">
            <a:avLst/>
          </a:prstGeom>
          <a:ln w="9525">
            <a:solidFill>
              <a:srgbClr val="DCE0E8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2" name="HEAD22"/>
          <p:cNvSpPr/>
          <p:nvPr/>
        </p:nvSpPr>
        <p:spPr>
          <a:xfrm>
            <a:off x="731520" y="3483864"/>
            <a:ext cx="22402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무엇이 나타났나</a:t>
            </a:r>
          </a:p>
        </p:txBody>
      </p:sp>
      <p:sp>
        <p:nvSpPr>
          <p:cNvPr id="23" name="BODY23"/>
          <p:cNvSpPr/>
          <p:nvPr/>
        </p:nvSpPr>
        <p:spPr>
          <a:xfrm>
            <a:off x="3154680" y="3483864"/>
            <a:ext cx="830275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30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결과를 결론 줄에 놓는다. 이 행은 한 급 크게 적는다.</a:t>
            </a:r>
          </a:p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15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수치는 단위와 기준을 함께 적는다.</a:t>
            </a:r>
          </a:p>
        </p:txBody>
      </p:sp>
      <p:sp>
        <p:nvSpPr>
          <p:cNvPr id="24" name="RULE24"/>
          <p:cNvSpPr/>
          <p:nvPr/>
        </p:nvSpPr>
        <p:spPr>
          <a:xfrm>
            <a:off x="731520" y="4023360"/>
            <a:ext cx="10725912" cy="0"/>
          </a:xfrm>
          <a:prstGeom prst="line">
            <a:avLst/>
          </a:prstGeom>
          <a:ln w="9525">
            <a:solidFill>
              <a:srgbClr val="DCE0E8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5" name="HEAD25"/>
          <p:cNvSpPr/>
          <p:nvPr/>
        </p:nvSpPr>
        <p:spPr>
          <a:xfrm>
            <a:off x="731520" y="4078224"/>
            <a:ext cx="22402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조건을 바꾸면</a:t>
            </a:r>
          </a:p>
        </p:txBody>
      </p:sp>
      <p:sp>
        <p:nvSpPr>
          <p:cNvPr id="26" name="BODY26"/>
          <p:cNvSpPr/>
          <p:nvPr/>
        </p:nvSpPr>
        <p:spPr>
          <a:xfrm>
            <a:off x="3154680" y="4078224"/>
            <a:ext cx="830275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25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조건을 바꾸어도 결과가 유지되는지 적는다.</a:t>
            </a:r>
          </a:p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15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유지되지 않으면 어느 조건에서 달라졌는지 적는다.</a:t>
            </a:r>
          </a:p>
        </p:txBody>
      </p:sp>
      <p:sp>
        <p:nvSpPr>
          <p:cNvPr id="27" name="FOOT"/>
          <p:cNvSpPr/>
          <p:nvPr/>
        </p:nvSpPr>
        <p:spPr>
          <a:xfrm>
            <a:off x="731520" y="6419088"/>
            <a:ext cx="107259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저자(연도), 학술지 권(호), 면 · 표본과 대상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ICKER"/>
          <p:cNvSpPr/>
          <p:nvPr/>
        </p:nvSpPr>
        <p:spPr>
          <a:xfrm>
            <a:off x="731520" y="36576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250" b="1" spc="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단원 이름</a:t>
            </a:r>
          </a:p>
        </p:txBody>
      </p:sp>
      <p:sp>
        <p:nvSpPr>
          <p:cNvPr id="11" name="NEXT"/>
          <p:cNvSpPr/>
          <p:nvPr/>
        </p:nvSpPr>
        <p:spPr>
          <a:xfrm>
            <a:off x="6035040" y="384048"/>
            <a:ext cx="5422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8000"/>
              </a:lnSpc>
              <a:buNone/>
            </a:pPr>
            <a:r>
              <a:rPr lang="ko-KR" alt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→ 다음 장 핵심어</a:t>
            </a:r>
          </a:p>
        </p:txBody>
      </p:sp>
      <p:sp>
        <p:nvSpPr>
          <p:cNvPr id="12" name="TITLE"/>
          <p:cNvSpPr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27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 연구 표준형 — 5행 변형 · 주제 — 연구자(연도)</a:t>
            </a:r>
          </a:p>
        </p:txBody>
      </p:sp>
      <p:sp>
        <p:nvSpPr>
          <p:cNvPr id="13" name="BANDBG"/>
          <p:cNvSpPr/>
          <p:nvPr/>
        </p:nvSpPr>
        <p:spPr>
          <a:xfrm>
            <a:off x="731520" y="1417320"/>
            <a:ext cx="10725912" cy="54864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14" name="BANDTX"/>
          <p:cNvSpPr/>
          <p:nvPr/>
        </p:nvSpPr>
        <p:spPr>
          <a:xfrm>
            <a:off x="1005840" y="141732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연구가 답한 것과 답하지 않은 것을 함께 적는다</a:t>
            </a:r>
          </a:p>
        </p:txBody>
      </p:sp>
      <p:sp>
        <p:nvSpPr>
          <p:cNvPr id="15" name="RULE"/>
          <p:cNvSpPr/>
          <p:nvPr/>
        </p:nvSpPr>
        <p:spPr>
          <a:xfrm>
            <a:off x="731520" y="2057400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6" name="HEAD16"/>
          <p:cNvSpPr/>
          <p:nvPr/>
        </p:nvSpPr>
        <p:spPr>
          <a:xfrm>
            <a:off x="731520" y="2295144"/>
            <a:ext cx="22402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비교했나</a:t>
            </a:r>
          </a:p>
        </p:txBody>
      </p:sp>
      <p:sp>
        <p:nvSpPr>
          <p:cNvPr id="17" name="BODY17"/>
          <p:cNvSpPr/>
          <p:nvPr/>
        </p:nvSpPr>
        <p:spPr>
          <a:xfrm>
            <a:off x="3154680" y="2295144"/>
            <a:ext cx="830275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25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 구도를 먼저 세운다 — 무엇과 무엇을 비교했는가.</a:t>
            </a:r>
          </a:p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15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대상·개입·비교 방식을 화면에서 빼지 않는다.</a:t>
            </a:r>
          </a:p>
        </p:txBody>
      </p:sp>
      <p:sp>
        <p:nvSpPr>
          <p:cNvPr id="18" name="RULE18"/>
          <p:cNvSpPr/>
          <p:nvPr/>
        </p:nvSpPr>
        <p:spPr>
          <a:xfrm>
            <a:off x="731520" y="2834640"/>
            <a:ext cx="10725912" cy="0"/>
          </a:xfrm>
          <a:prstGeom prst="line">
            <a:avLst/>
          </a:prstGeom>
          <a:ln w="9525">
            <a:solidFill>
              <a:srgbClr val="DCE0E8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9" name="HEAD19"/>
          <p:cNvSpPr/>
          <p:nvPr/>
        </p:nvSpPr>
        <p:spPr>
          <a:xfrm>
            <a:off x="731520" y="2889504"/>
            <a:ext cx="22402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변화의 분리</a:t>
            </a:r>
          </a:p>
        </p:txBody>
      </p:sp>
      <p:sp>
        <p:nvSpPr>
          <p:cNvPr id="20" name="BODY20"/>
          <p:cNvSpPr/>
          <p:nvPr/>
        </p:nvSpPr>
        <p:spPr>
          <a:xfrm>
            <a:off x="3154680" y="2889504"/>
            <a:ext cx="830275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25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요인의 영향을 어떻게 분리했는지 적는다.</a:t>
            </a:r>
          </a:p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15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사실만 적고 방법론 명칭은 쓰지 않는다.</a:t>
            </a:r>
          </a:p>
        </p:txBody>
      </p:sp>
      <p:sp>
        <p:nvSpPr>
          <p:cNvPr id="21" name="RULE21"/>
          <p:cNvSpPr/>
          <p:nvPr/>
        </p:nvSpPr>
        <p:spPr>
          <a:xfrm>
            <a:off x="731520" y="3429000"/>
            <a:ext cx="10725912" cy="0"/>
          </a:xfrm>
          <a:prstGeom prst="line">
            <a:avLst/>
          </a:prstGeom>
          <a:ln w="9525">
            <a:solidFill>
              <a:srgbClr val="DCE0E8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2" name="HEAD22"/>
          <p:cNvSpPr/>
          <p:nvPr/>
        </p:nvSpPr>
        <p:spPr>
          <a:xfrm>
            <a:off x="731520" y="3483864"/>
            <a:ext cx="22402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무엇이 나타났나</a:t>
            </a:r>
          </a:p>
        </p:txBody>
      </p:sp>
      <p:sp>
        <p:nvSpPr>
          <p:cNvPr id="23" name="BODY23"/>
          <p:cNvSpPr/>
          <p:nvPr/>
        </p:nvSpPr>
        <p:spPr>
          <a:xfrm>
            <a:off x="3154680" y="3483864"/>
            <a:ext cx="830275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30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결과를 결론 줄에 놓는다. 이 행은 한 급 크게 적는다.</a:t>
            </a:r>
          </a:p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15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수치는 단위와 기준을 함께 적는다.</a:t>
            </a:r>
          </a:p>
        </p:txBody>
      </p:sp>
      <p:sp>
        <p:nvSpPr>
          <p:cNvPr id="24" name="RULE24"/>
          <p:cNvSpPr/>
          <p:nvPr/>
        </p:nvSpPr>
        <p:spPr>
          <a:xfrm>
            <a:off x="731520" y="4023360"/>
            <a:ext cx="10725912" cy="0"/>
          </a:xfrm>
          <a:prstGeom prst="line">
            <a:avLst/>
          </a:prstGeom>
          <a:ln w="9525">
            <a:solidFill>
              <a:srgbClr val="DCE0E8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5" name="HEAD25"/>
          <p:cNvSpPr/>
          <p:nvPr/>
        </p:nvSpPr>
        <p:spPr>
          <a:xfrm>
            <a:off x="731520" y="4078224"/>
            <a:ext cx="22402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조건을 바꾸면</a:t>
            </a:r>
          </a:p>
        </p:txBody>
      </p:sp>
      <p:sp>
        <p:nvSpPr>
          <p:cNvPr id="26" name="BODY26"/>
          <p:cNvSpPr/>
          <p:nvPr/>
        </p:nvSpPr>
        <p:spPr>
          <a:xfrm>
            <a:off x="3154680" y="4078224"/>
            <a:ext cx="830275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25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조건을 바꾸어도 결과가 유지되는지 적는다.</a:t>
            </a:r>
          </a:p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15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유지되지 않으면 어느 조건에서 달라졌는지 적는다.</a:t>
            </a:r>
          </a:p>
        </p:txBody>
      </p:sp>
      <p:sp>
        <p:nvSpPr>
          <p:cNvPr id="27" name="RULE27"/>
          <p:cNvSpPr/>
          <p:nvPr/>
        </p:nvSpPr>
        <p:spPr>
          <a:xfrm>
            <a:off x="731520" y="4617720"/>
            <a:ext cx="10725912" cy="0"/>
          </a:xfrm>
          <a:prstGeom prst="line">
            <a:avLst/>
          </a:prstGeom>
          <a:ln w="9525">
            <a:solidFill>
              <a:srgbClr val="DCE0E8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8" name="HEAD28"/>
          <p:cNvSpPr/>
          <p:nvPr/>
        </p:nvSpPr>
        <p:spPr>
          <a:xfrm>
            <a:off x="731520" y="4672584"/>
            <a:ext cx="2240280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논제에 쓸 범위</a:t>
            </a:r>
          </a:p>
        </p:txBody>
      </p:sp>
      <p:sp>
        <p:nvSpPr>
          <p:cNvPr id="29" name="BODY29"/>
          <p:cNvSpPr/>
          <p:nvPr/>
        </p:nvSpPr>
        <p:spPr>
          <a:xfrm>
            <a:off x="3154680" y="4672584"/>
            <a:ext cx="8302752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25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연구를 오늘 논제에 어디까지 쓸 수 있는지 적는다.</a:t>
            </a:r>
          </a:p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15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제도·대상이 다르면 그 차이를 적는다.</a:t>
            </a:r>
          </a:p>
          <a:p>
            <a:pPr marL="0" indent="0">
              <a:lnSpc>
                <a:spcPct val="118000"/>
              </a:lnSpc>
              <a:buNone/>
            </a:pPr>
            <a:r>
              <a:rPr lang="ko-KR" altLang="en-US" sz="1200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나라의 추정치를 그대로 옮기지 않는다.</a:t>
            </a:r>
          </a:p>
        </p:txBody>
      </p:sp>
      <p:sp>
        <p:nvSpPr>
          <p:cNvPr id="30" name="FOOT"/>
          <p:cNvSpPr/>
          <p:nvPr/>
        </p:nvSpPr>
        <p:spPr>
          <a:xfrm>
            <a:off x="731520" y="6419088"/>
            <a:ext cx="107259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저자(연도), 학술지 권(호), 면 · 표본과 대상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ICKER"/>
          <p:cNvSpPr/>
          <p:nvPr/>
        </p:nvSpPr>
        <p:spPr>
          <a:xfrm>
            <a:off x="731520" y="36576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250" b="1" spc="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단원 이름</a:t>
            </a:r>
          </a:p>
        </p:txBody>
      </p:sp>
      <p:sp>
        <p:nvSpPr>
          <p:cNvPr id="11" name="NEXT"/>
          <p:cNvSpPr/>
          <p:nvPr/>
        </p:nvSpPr>
        <p:spPr>
          <a:xfrm>
            <a:off x="6035040" y="384048"/>
            <a:ext cx="5422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8000"/>
              </a:lnSpc>
              <a:buNone/>
            </a:pPr>
            <a:r>
              <a:rPr lang="ko-KR" alt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→ 다음 장 핵심어</a:t>
            </a:r>
          </a:p>
        </p:txBody>
      </p:sp>
      <p:sp>
        <p:nvSpPr>
          <p:cNvPr id="12" name="TITLE"/>
          <p:cNvSpPr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27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 막대 — 비율 분포</a:t>
            </a:r>
          </a:p>
        </p:txBody>
      </p:sp>
      <p:sp>
        <p:nvSpPr>
          <p:cNvPr id="13" name="BANDBG"/>
          <p:cNvSpPr/>
          <p:nvPr/>
        </p:nvSpPr>
        <p:spPr>
          <a:xfrm>
            <a:off x="731520" y="1417320"/>
            <a:ext cx="10725912" cy="54864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14" name="BANDTX"/>
          <p:cNvSpPr/>
          <p:nvPr/>
        </p:nvSpPr>
        <p:spPr>
          <a:xfrm>
            <a:off x="1005840" y="141732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분모가 무엇인지 먼저 밝히고 비율을 읽는다</a:t>
            </a:r>
          </a:p>
        </p:txBody>
      </p:sp>
      <p:sp>
        <p:nvSpPr>
          <p:cNvPr id="15" name="RULE"/>
          <p:cNvSpPr/>
          <p:nvPr/>
        </p:nvSpPr>
        <p:spPr>
          <a:xfrm>
            <a:off x="731520" y="2057400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6" name="SEG16"/>
          <p:cNvSpPr/>
          <p:nvPr/>
        </p:nvSpPr>
        <p:spPr>
          <a:xfrm>
            <a:off x="731520" y="2240280"/>
            <a:ext cx="4579964" cy="566928"/>
          </a:xfrm>
          <a:prstGeom prst="rect">
            <a:avLst/>
          </a:prstGeom>
          <a:solidFill>
            <a:srgbClr val="5A6699"/>
          </a:solidFill>
          <a:ln/>
        </p:spPr>
      </p:sp>
      <p:sp>
        <p:nvSpPr>
          <p:cNvPr id="17" name="SGT17"/>
          <p:cNvSpPr/>
          <p:nvPr/>
        </p:nvSpPr>
        <p:spPr>
          <a:xfrm>
            <a:off x="731520" y="2240280"/>
            <a:ext cx="45799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첫째 42.7%</a:t>
            </a:r>
          </a:p>
        </p:txBody>
      </p:sp>
      <p:sp>
        <p:nvSpPr>
          <p:cNvPr id="18" name="SEG18"/>
          <p:cNvSpPr/>
          <p:nvPr/>
        </p:nvSpPr>
        <p:spPr>
          <a:xfrm>
            <a:off x="5311484" y="2240280"/>
            <a:ext cx="2853093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SGT19"/>
          <p:cNvSpPr/>
          <p:nvPr/>
        </p:nvSpPr>
        <p:spPr>
          <a:xfrm>
            <a:off x="5311484" y="2240280"/>
            <a:ext cx="285309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둘째 26.6%</a:t>
            </a:r>
          </a:p>
        </p:txBody>
      </p:sp>
      <p:sp>
        <p:nvSpPr>
          <p:cNvPr id="20" name="SEG20"/>
          <p:cNvSpPr/>
          <p:nvPr/>
        </p:nvSpPr>
        <p:spPr>
          <a:xfrm>
            <a:off x="8164577" y="2240280"/>
            <a:ext cx="2509863" cy="566928"/>
          </a:xfrm>
          <a:prstGeom prst="rect">
            <a:avLst/>
          </a:prstGeom>
          <a:solidFill>
            <a:srgbClr val="8A97BC"/>
          </a:solidFill>
          <a:ln/>
        </p:spPr>
      </p:sp>
      <p:sp>
        <p:nvSpPr>
          <p:cNvPr id="21" name="SGT21"/>
          <p:cNvSpPr/>
          <p:nvPr/>
        </p:nvSpPr>
        <p:spPr>
          <a:xfrm>
            <a:off x="8164577" y="2240280"/>
            <a:ext cx="250986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ko-KR" altLang="en-US" sz="120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셋째 23.4%</a:t>
            </a:r>
          </a:p>
        </p:txBody>
      </p:sp>
      <p:sp>
        <p:nvSpPr>
          <p:cNvPr id="22" name="SEG22"/>
          <p:cNvSpPr/>
          <p:nvPr/>
        </p:nvSpPr>
        <p:spPr>
          <a:xfrm>
            <a:off x="10674440" y="2240280"/>
            <a:ext cx="782992" cy="566928"/>
          </a:xfrm>
          <a:prstGeom prst="rect">
            <a:avLst/>
          </a:prstGeom>
          <a:solidFill>
            <a:srgbClr val="C9CEDA"/>
          </a:solidFill>
          <a:ln/>
        </p:spPr>
      </p:sp>
      <p:sp>
        <p:nvSpPr>
          <p:cNvPr id="23" name="SGT23"/>
          <p:cNvSpPr/>
          <p:nvPr/>
        </p:nvSpPr>
        <p:spPr>
          <a:xfrm>
            <a:off x="10171520" y="2843784"/>
            <a:ext cx="178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ko-KR" altLang="en-US" sz="120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넷째 7.3%</a:t>
            </a:r>
          </a:p>
        </p:txBody>
      </p:sp>
      <p:sp>
        <p:nvSpPr>
          <p:cNvPr id="24" name="HEAD24"/>
          <p:cNvSpPr/>
          <p:nvPr/>
        </p:nvSpPr>
        <p:spPr>
          <a:xfrm>
            <a:off x="731520" y="3355848"/>
            <a:ext cx="22402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대상과 시점</a:t>
            </a:r>
          </a:p>
        </p:txBody>
      </p:sp>
      <p:sp>
        <p:nvSpPr>
          <p:cNvPr id="25" name="BODY25"/>
          <p:cNvSpPr/>
          <p:nvPr/>
        </p:nvSpPr>
        <p:spPr>
          <a:xfrm>
            <a:off x="3154680" y="3355848"/>
            <a:ext cx="830275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25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누구를 언제 어떤 단위로 셌는지 적는다.</a:t>
            </a:r>
          </a:p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15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기관의 다른 분모와 섞지 않는다.</a:t>
            </a:r>
          </a:p>
        </p:txBody>
      </p:sp>
      <p:sp>
        <p:nvSpPr>
          <p:cNvPr id="26" name="RULE26"/>
          <p:cNvSpPr/>
          <p:nvPr/>
        </p:nvSpPr>
        <p:spPr>
          <a:xfrm>
            <a:off x="731520" y="3895344"/>
            <a:ext cx="10725912" cy="0"/>
          </a:xfrm>
          <a:prstGeom prst="line">
            <a:avLst/>
          </a:prstGeom>
          <a:ln w="9525">
            <a:solidFill>
              <a:srgbClr val="DCE0E8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7" name="HEAD27"/>
          <p:cNvSpPr/>
          <p:nvPr/>
        </p:nvSpPr>
        <p:spPr>
          <a:xfrm>
            <a:off x="731520" y="3950208"/>
            <a:ext cx="2240280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무엇이 확인되나</a:t>
            </a:r>
          </a:p>
        </p:txBody>
      </p:sp>
      <p:sp>
        <p:nvSpPr>
          <p:cNvPr id="28" name="BODY28"/>
          <p:cNvSpPr/>
          <p:nvPr/>
        </p:nvSpPr>
        <p:spPr>
          <a:xfrm>
            <a:off x="3154680" y="3950208"/>
            <a:ext cx="8302752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25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분포에서 바로 읽히는 것을 적는다.</a:t>
            </a:r>
          </a:p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15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추세나 인과로 넘어가지 않는다.</a:t>
            </a:r>
          </a:p>
          <a:p>
            <a:pPr marL="0" indent="0">
              <a:lnSpc>
                <a:spcPct val="118000"/>
              </a:lnSpc>
              <a:buNone/>
            </a:pPr>
            <a:r>
              <a:rPr lang="ko-KR" altLang="en-US" sz="1200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수치만으로 미래 정책의 결과를 예측하지 않는다.</a:t>
            </a:r>
          </a:p>
        </p:txBody>
      </p:sp>
      <p:sp>
        <p:nvSpPr>
          <p:cNvPr id="29" name="FOOT"/>
          <p:cNvSpPr/>
          <p:nvPr/>
        </p:nvSpPr>
        <p:spPr>
          <a:xfrm>
            <a:off x="731520" y="6419088"/>
            <a:ext cx="107259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기관 · 발표 시점 · 집계 단위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ICKER"/>
          <p:cNvSpPr/>
          <p:nvPr/>
        </p:nvSpPr>
        <p:spPr>
          <a:xfrm>
            <a:off x="731520" y="36576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250" b="1" spc="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단원 이름</a:t>
            </a:r>
          </a:p>
        </p:txBody>
      </p:sp>
      <p:sp>
        <p:nvSpPr>
          <p:cNvPr id="11" name="NEXT"/>
          <p:cNvSpPr/>
          <p:nvPr/>
        </p:nvSpPr>
        <p:spPr>
          <a:xfrm>
            <a:off x="6035040" y="384048"/>
            <a:ext cx="5422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8000"/>
              </a:lnSpc>
              <a:buNone/>
            </a:pPr>
            <a:r>
              <a:rPr lang="ko-KR" alt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→ 다음 장 핵심어</a:t>
            </a:r>
          </a:p>
        </p:txBody>
      </p:sp>
      <p:sp>
        <p:nvSpPr>
          <p:cNvPr id="12" name="TITLE"/>
          <p:cNvSpPr/>
          <p:nvPr/>
        </p:nvSpPr>
        <p:spPr>
          <a:xfrm>
            <a:off x="731520" y="64008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27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 경과 밴드 — 사건명(연도)</a:t>
            </a:r>
          </a:p>
        </p:txBody>
      </p:sp>
      <p:sp>
        <p:nvSpPr>
          <p:cNvPr id="13" name="CHIP"/>
          <p:cNvSpPr/>
          <p:nvPr/>
        </p:nvSpPr>
        <p:spPr>
          <a:xfrm>
            <a:off x="6035040" y="713232"/>
            <a:ext cx="5422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사건번호</a:t>
            </a:r>
          </a:p>
        </p:txBody>
      </p:sp>
      <p:sp>
        <p:nvSpPr>
          <p:cNvPr id="14" name="BANDBG"/>
          <p:cNvSpPr/>
          <p:nvPr/>
        </p:nvSpPr>
        <p:spPr>
          <a:xfrm>
            <a:off x="731520" y="1417320"/>
            <a:ext cx="10725912" cy="54864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15" name="BANDTX"/>
          <p:cNvSpPr/>
          <p:nvPr/>
        </p:nvSpPr>
        <p:spPr>
          <a:xfrm>
            <a:off x="1005840" y="141732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심급을 명시해 경과를 시간 순으로 적는다</a:t>
            </a:r>
          </a:p>
        </p:txBody>
      </p:sp>
      <p:sp>
        <p:nvSpPr>
          <p:cNvPr id="16" name="RULE"/>
          <p:cNvSpPr/>
          <p:nvPr/>
        </p:nvSpPr>
        <p:spPr>
          <a:xfrm>
            <a:off x="731520" y="2057400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7" name="PATH"/>
          <p:cNvSpPr/>
          <p:nvPr/>
        </p:nvSpPr>
        <p:spPr>
          <a:xfrm>
            <a:off x="731520" y="2240280"/>
            <a:ext cx="10725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ko-KR" altLang="en-US" sz="1250" b="1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1심 → 2심(항소심) → 상고 → 파기환송</a:t>
            </a:r>
          </a:p>
        </p:txBody>
      </p:sp>
      <p:sp>
        <p:nvSpPr>
          <p:cNvPr id="18" name="PL"/>
          <p:cNvSpPr/>
          <p:nvPr/>
        </p:nvSpPr>
        <p:spPr>
          <a:xfrm>
            <a:off x="731520" y="2606040"/>
            <a:ext cx="10725912" cy="0"/>
          </a:xfrm>
          <a:prstGeom prst="line">
            <a:avLst/>
          </a:prstGeom>
          <a:ln w="9525">
            <a:solidFill>
              <a:srgbClr val="DCE0E8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9" name="HEAD19"/>
          <p:cNvSpPr/>
          <p:nvPr/>
        </p:nvSpPr>
        <p:spPr>
          <a:xfrm>
            <a:off x="731520" y="2770632"/>
            <a:ext cx="22402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사건의 경로</a:t>
            </a:r>
          </a:p>
        </p:txBody>
      </p:sp>
      <p:sp>
        <p:nvSpPr>
          <p:cNvPr id="20" name="BODY20"/>
          <p:cNvSpPr/>
          <p:nvPr/>
        </p:nvSpPr>
        <p:spPr>
          <a:xfrm>
            <a:off x="3154680" y="2770632"/>
            <a:ext cx="830275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25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절차를 거쳤는지 결론 줄에 적는다.</a:t>
            </a:r>
          </a:p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15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날짜와 사건번호는 여기 보충 줄이나 칩에 둔다.</a:t>
            </a:r>
          </a:p>
        </p:txBody>
      </p:sp>
      <p:sp>
        <p:nvSpPr>
          <p:cNvPr id="21" name="RULE21"/>
          <p:cNvSpPr/>
          <p:nvPr/>
        </p:nvSpPr>
        <p:spPr>
          <a:xfrm>
            <a:off x="731520" y="3310128"/>
            <a:ext cx="10725912" cy="0"/>
          </a:xfrm>
          <a:prstGeom prst="line">
            <a:avLst/>
          </a:prstGeom>
          <a:ln w="9525">
            <a:solidFill>
              <a:srgbClr val="DCE0E8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2" name="HEAD22"/>
          <p:cNvSpPr/>
          <p:nvPr/>
        </p:nvSpPr>
        <p:spPr>
          <a:xfrm>
            <a:off x="731520" y="3364992"/>
            <a:ext cx="22402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법원의 판단</a:t>
            </a:r>
          </a:p>
        </p:txBody>
      </p:sp>
      <p:sp>
        <p:nvSpPr>
          <p:cNvPr id="23" name="BODY23"/>
          <p:cNvSpPr/>
          <p:nvPr/>
        </p:nvSpPr>
        <p:spPr>
          <a:xfrm>
            <a:off x="3154680" y="3364992"/>
            <a:ext cx="830275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30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판시의 핵심을 원문대로 적는다. 이 행은 한 급 크게 적는다.</a:t>
            </a:r>
          </a:p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15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둘 이상의 판단은 붙여서 인용하지 않는다.</a:t>
            </a:r>
          </a:p>
        </p:txBody>
      </p:sp>
      <p:sp>
        <p:nvSpPr>
          <p:cNvPr id="24" name="RULE24"/>
          <p:cNvSpPr/>
          <p:nvPr/>
        </p:nvSpPr>
        <p:spPr>
          <a:xfrm>
            <a:off x="731520" y="3904488"/>
            <a:ext cx="10725912" cy="0"/>
          </a:xfrm>
          <a:prstGeom prst="line">
            <a:avLst/>
          </a:prstGeom>
          <a:ln w="9525">
            <a:solidFill>
              <a:srgbClr val="DCE0E8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5" name="HEAD25"/>
          <p:cNvSpPr/>
          <p:nvPr/>
        </p:nvSpPr>
        <p:spPr>
          <a:xfrm>
            <a:off x="731520" y="3959352"/>
            <a:ext cx="22402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논제에 쓸 범위</a:t>
            </a:r>
          </a:p>
        </p:txBody>
      </p:sp>
      <p:sp>
        <p:nvSpPr>
          <p:cNvPr id="26" name="BODY26"/>
          <p:cNvSpPr/>
          <p:nvPr/>
        </p:nvSpPr>
        <p:spPr>
          <a:xfrm>
            <a:off x="3154680" y="3959352"/>
            <a:ext cx="830275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ko-KR" altLang="en-US" sz="125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판단을 오늘 논제에 어디까지 쓸 수 있는지 적는다.</a:t>
            </a:r>
          </a:p>
          <a:p>
            <a:pPr marL="0" indent="0">
              <a:lnSpc>
                <a:spcPct val="118000"/>
              </a:lnSpc>
              <a:buNone/>
            </a:pPr>
            <a:r>
              <a:rPr lang="ko-KR" altLang="en-US" sz="1200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판결이 다른 제도까지 판단한 것은 아니다.</a:t>
            </a:r>
          </a:p>
        </p:txBody>
      </p:sp>
      <p:sp>
        <p:nvSpPr>
          <p:cNvPr id="27" name="FOOT"/>
          <p:cNvSpPr/>
          <p:nvPr/>
        </p:nvSpPr>
        <p:spPr>
          <a:xfrm>
            <a:off x="731520" y="6419088"/>
            <a:ext cx="107259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법원 · 선고일 · 사건번호 · 확인 경로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icker"/>
          <p:cNvSpPr txBox="1"/>
          <p:nvPr/>
        </p:nvSpPr>
        <p:spPr>
          <a:xfrm>
            <a:off x="731520" y="365760"/>
            <a:ext cx="5212080" cy="292608"/>
          </a:xfrm>
          <a:prstGeom prst="rect">
            <a:avLst/>
          </a:prstGeom>
          <a:noFill/>
        </p:spPr>
        <p:txBody>
          <a:bodyPr wrap="square" lIns="0" tIns="27432" rIns="0" bIns="27432" anchor="ctr">
            <a:noAutofit/>
          </a:bodyPr>
          <a:lstStyle/>
          <a:p>
            <a:pPr algn="l">
              <a:lnSpc>
                <a:spcPct val="118000"/>
              </a:lnSpc>
            </a:pPr>
            <a:r>
              <a:rPr lang="ko-KR" sz="1250" b="1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현행 대응과 현실</a:t>
            </a:r>
          </a:p>
        </p:txBody>
      </p:sp>
      <p:sp>
        <p:nvSpPr>
          <p:cNvPr id="11" name="cue"/>
          <p:cNvSpPr txBox="1"/>
          <p:nvPr/>
        </p:nvSpPr>
        <p:spPr>
          <a:xfrm>
            <a:off x="6035040" y="384048"/>
            <a:ext cx="5422392" cy="256032"/>
          </a:xfrm>
          <a:prstGeom prst="rect">
            <a:avLst/>
          </a:prstGeom>
          <a:noFill/>
        </p:spPr>
        <p:txBody>
          <a:bodyPr wrap="square" lIns="0" tIns="27432" rIns="0" bIns="27432" anchor="ctr">
            <a:noAutofit/>
          </a:bodyPr>
          <a:lstStyle/>
          <a:p>
            <a:pPr algn="r">
              <a:lnSpc>
                <a:spcPct val="118000"/>
              </a:lnSpc>
            </a:pPr>
            <a:r>
              <a:rPr lang="ko-KR" sz="1050" b="0" dirty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다음 → 연령 하향이 실제로 바꾸는 것</a:t>
            </a:r>
          </a:p>
        </p:txBody>
      </p:sp>
      <p:sp>
        <p:nvSpPr>
          <p:cNvPr id="12" name="title"/>
          <p:cNvSpPr txBox="1"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</p:spPr>
        <p:txBody>
          <a:bodyPr wrap="square" lIns="0" tIns="27432" rIns="0" bIns="27432" anchor="ctr">
            <a:noAutofit/>
          </a:bodyPr>
          <a:lstStyle/>
          <a:p>
            <a:pPr algn="l">
              <a:lnSpc>
                <a:spcPct val="118000"/>
              </a:lnSpc>
            </a:pPr>
            <a:r>
              <a:rPr lang="ko-KR" sz="2750" b="1" dirty="0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연령대별 처리 경로와 결과</a:t>
            </a:r>
          </a:p>
        </p:txBody>
      </p:sp>
      <p:sp>
        <p:nvSpPr>
          <p:cNvPr id="13" name="topband"/>
          <p:cNvSpPr/>
          <p:nvPr/>
        </p:nvSpPr>
        <p:spPr>
          <a:xfrm>
            <a:off x="731520" y="1417320"/>
            <a:ext cx="10725912" cy="5486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opbandtx"/>
          <p:cNvSpPr txBox="1"/>
          <p:nvPr/>
        </p:nvSpPr>
        <p:spPr>
          <a:xfrm>
            <a:off x="1005840" y="1417320"/>
            <a:ext cx="10149840" cy="548640"/>
          </a:xfrm>
          <a:prstGeom prst="rect">
            <a:avLst/>
          </a:prstGeom>
          <a:noFill/>
        </p:spPr>
        <p:txBody>
          <a:bodyPr wrap="square" lIns="0" tIns="27432" rIns="0" bIns="27432" anchor="ctr">
            <a:noAutofit/>
          </a:bodyPr>
          <a:lstStyle/>
          <a:p>
            <a:pPr algn="l">
              <a:lnSpc>
                <a:spcPct val="118000"/>
              </a:lnSpc>
            </a:pPr>
            <a:r>
              <a:rPr lang="ko-KR" sz="1300" b="1" dirty="0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13세로 하향하면 적용 대상인 13세에게도 검찰 단계와 형사재판 가능성이 새로 열린다.</a:t>
            </a:r>
          </a:p>
        </p:txBody>
      </p:sp>
      <p:sp>
        <p:nvSpPr>
          <p:cNvPr id="15" name="line15"/>
          <p:cNvSpPr/>
          <p:nvPr/>
        </p:nvSpPr>
        <p:spPr>
          <a:xfrm>
            <a:off x="731520" y="2057400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  <p:txBody>
          <a:bodyPr/>
          <a:lstStyle/>
          <a:p/>
        </p:txBody>
      </p:sp>
      <p:sp>
        <p:nvSpPr>
          <p:cNvPr id="200" name="lh">
            <a:extLst xmlns:a="http://schemas.openxmlformats.org/drawingml/2006/main">
              <a:ext uri="{FF2B5EF4-FFF2-40B4-BE49-F238E27FC236}">
                <a16:creationId xmlns:a16="http://schemas.microsoft.com/office/drawing/2014/main" id="{FEB34D3A-9675-4D1E-BB8B-63FC81CB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240280"/>
            <a:ext cx="1417320" cy="2493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10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연령대</a:t>
            </a:r>
          </a:p>
        </p:txBody>
      </p:sp>
      <p:sp>
        <p:nvSpPr>
          <p:cNvPr id="201" name="ch">
            <a:extLst xmlns:a="http://schemas.openxmlformats.org/drawingml/2006/main">
              <a:ext uri="{FF2B5EF4-FFF2-40B4-BE49-F238E27FC236}">
                <a16:creationId xmlns:a16="http://schemas.microsoft.com/office/drawing/2014/main" id="{E3744B15-02CA-48E6-BCB5-BAA40C23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2240280"/>
            <a:ext cx="2176272" cy="2493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8000"/>
              </a:lnSpc>
              <a:buNone/>
            </a:pPr>
            <a:r>
              <a:rPr sz="11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경찰 단계</a:t>
            </a:r>
          </a:p>
        </p:txBody>
      </p:sp>
      <p:sp>
        <p:nvSpPr>
          <p:cNvPr id="202" name="ch">
            <a:extLst xmlns:a="http://schemas.openxmlformats.org/drawingml/2006/main">
              <a:ext uri="{FF2B5EF4-FFF2-40B4-BE49-F238E27FC236}">
                <a16:creationId xmlns:a16="http://schemas.microsoft.com/office/drawing/2014/main" id="{733D5FE5-D0A5-448B-A95A-C589FF3D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2240280"/>
            <a:ext cx="2176272" cy="2493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8000"/>
              </a:lnSpc>
              <a:buNone/>
            </a:pPr>
            <a:r>
              <a:rPr sz="11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검찰 단계</a:t>
            </a:r>
          </a:p>
        </p:txBody>
      </p:sp>
      <p:sp>
        <p:nvSpPr>
          <p:cNvPr id="203" name="ch">
            <a:extLst xmlns:a="http://schemas.openxmlformats.org/drawingml/2006/main">
              <a:ext uri="{FF2B5EF4-FFF2-40B4-BE49-F238E27FC236}">
                <a16:creationId xmlns:a16="http://schemas.microsoft.com/office/drawing/2014/main" id="{8CB7B683-BBE8-47DF-9908-EBDFD5E4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2240280"/>
            <a:ext cx="2176272" cy="2493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8000"/>
              </a:lnSpc>
              <a:buNone/>
            </a:pPr>
            <a:r>
              <a:rPr sz="11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법원 단계</a:t>
            </a:r>
          </a:p>
        </p:txBody>
      </p:sp>
      <p:sp>
        <p:nvSpPr>
          <p:cNvPr id="204" name="ch">
            <a:extLst xmlns:a="http://schemas.openxmlformats.org/drawingml/2006/main">
              <a:ext uri="{FF2B5EF4-FFF2-40B4-BE49-F238E27FC236}">
                <a16:creationId xmlns:a16="http://schemas.microsoft.com/office/drawing/2014/main" id="{7DF9B3FD-192F-4A69-BAD3-47D0FE2C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144" y="2240280"/>
            <a:ext cx="2176272" cy="2493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8000"/>
              </a:lnSpc>
              <a:buNone/>
            </a:pPr>
            <a:r>
              <a:rPr sz="11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결과</a:t>
            </a:r>
          </a:p>
        </p:txBody>
      </p:sp>
      <p:sp>
        <p:nvSpPr>
          <p:cNvPr id="205" name="hl">
            <a:extLst xmlns:a="http://schemas.openxmlformats.org/drawingml/2006/main">
              <a:ext uri="{FF2B5EF4-FFF2-40B4-BE49-F238E27FC236}">
                <a16:creationId xmlns:a16="http://schemas.microsoft.com/office/drawing/2014/main" id="{FF3BBA96-1F04-4ABC-97BC-68CCAB84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39538"/>
            <a:ext cx="10597896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E276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06" name="rl">
            <a:extLst xmlns:a="http://schemas.openxmlformats.org/drawingml/2006/main">
              <a:ext uri="{FF2B5EF4-FFF2-40B4-BE49-F238E27FC236}">
                <a16:creationId xmlns:a16="http://schemas.microsoft.com/office/drawing/2014/main" id="{5E436F14-DB2C-4FD1-8D1B-A7218137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06040"/>
            <a:ext cx="1417320" cy="382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8"/>
          </a:solidFill>
          <a:ln xmlns:a="http://schemas.openxmlformats.org/drawingml/2006/main">
            <a:noFill xmlns:a="http://schemas.openxmlformats.org/drawingml/2006/main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07" name="rlt">
            <a:extLst xmlns:a="http://schemas.openxmlformats.org/drawingml/2006/main">
              <a:ext uri="{FF2B5EF4-FFF2-40B4-BE49-F238E27FC236}">
                <a16:creationId xmlns:a16="http://schemas.microsoft.com/office/drawing/2014/main" id="{C8B32A37-03B8-46AC-A7D4-0FBD70EA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91492"/>
            <a:ext cx="1417320" cy="3823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8000"/>
              </a:lnSpc>
              <a:buNone/>
            </a:pPr>
            <a:r>
              <a:rPr sz="1200" b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10세 미만</a:t>
            </a:r>
          </a:p>
          <a:p xmlns:a="http://schemas.openxmlformats.org/drawingml/2006/main">
            <a:pPr marL="0" indent="0" algn="ctr">
              <a:lnSpc>
                <a:spcPct val="118000"/>
              </a:lnSpc>
              <a:buNone/>
            </a:pPr>
            <a:r>
              <a:rPr sz="100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소년보호사건 대상 아님</a:t>
            </a:r>
          </a:p>
        </p:txBody>
      </p:sp>
      <p:sp>
        <p:nvSpPr>
          <p:cNvPr id="208" name="na">
            <a:extLst xmlns:a="http://schemas.openxmlformats.org/drawingml/2006/main">
              <a:ext uri="{FF2B5EF4-FFF2-40B4-BE49-F238E27FC236}">
                <a16:creationId xmlns:a16="http://schemas.microsoft.com/office/drawing/2014/main" id="{6A8D7708-F984-4EE7-8949-64E70996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2606040"/>
            <a:ext cx="2176272" cy="3823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8000"/>
              </a:lnSpc>
              <a:buNone/>
            </a:pPr>
            <a:r>
              <a:rPr sz="105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안전확인·보호연계</a:t>
            </a:r>
          </a:p>
        </p:txBody>
      </p:sp>
      <p:sp>
        <p:nvSpPr>
          <p:cNvPr id="209" name="na">
            <a:extLst xmlns:a="http://schemas.openxmlformats.org/drawingml/2006/main">
              <a:ext uri="{FF2B5EF4-FFF2-40B4-BE49-F238E27FC236}">
                <a16:creationId xmlns:a16="http://schemas.microsoft.com/office/drawing/2014/main" id="{E46C6C78-FE11-431F-AD5B-96BED23D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2606040"/>
            <a:ext cx="2176272" cy="3823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8000"/>
              </a:lnSpc>
              <a:buNone/>
            </a:pPr>
            <a:r>
              <a:rPr sz="105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기소 대상 아님</a:t>
            </a:r>
          </a:p>
        </p:txBody>
      </p:sp>
      <p:sp>
        <p:nvSpPr>
          <p:cNvPr id="210" name="na">
            <a:extLst xmlns:a="http://schemas.openxmlformats.org/drawingml/2006/main">
              <a:ext uri="{FF2B5EF4-FFF2-40B4-BE49-F238E27FC236}">
                <a16:creationId xmlns:a16="http://schemas.microsoft.com/office/drawing/2014/main" id="{9719695A-8BF7-4935-BBAD-9C85E7AB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2606040"/>
            <a:ext cx="2176272" cy="3823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8000"/>
              </a:lnSpc>
              <a:buNone/>
            </a:pPr>
            <a:r>
              <a:rPr sz="105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소년보호심리 대상 아님</a:t>
            </a:r>
          </a:p>
        </p:txBody>
      </p:sp>
      <p:sp>
        <p:nvSpPr>
          <p:cNvPr id="211" name="na">
            <a:extLst xmlns:a="http://schemas.openxmlformats.org/drawingml/2006/main">
              <a:ext uri="{FF2B5EF4-FFF2-40B4-BE49-F238E27FC236}">
                <a16:creationId xmlns:a16="http://schemas.microsoft.com/office/drawing/2014/main" id="{C4A01115-50C3-464C-966C-1A733AB6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144" y="2606040"/>
            <a:ext cx="2176272" cy="3823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8000"/>
              </a:lnSpc>
              <a:buNone/>
            </a:pPr>
            <a:r>
              <a:rPr sz="105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요건 충족 시 아동보호</a:t>
            </a:r>
          </a:p>
        </p:txBody>
      </p:sp>
      <p:sp>
        <p:nvSpPr>
          <p:cNvPr id="212" name="d1">
            <a:extLst xmlns:a="http://schemas.openxmlformats.org/drawingml/2006/main">
              <a:ext uri="{FF2B5EF4-FFF2-40B4-BE49-F238E27FC236}">
                <a16:creationId xmlns:a16="http://schemas.microsoft.com/office/drawing/2014/main" id="{60F1F74B-AD1F-4DC0-8687-F72B79EA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38301"/>
            <a:ext cx="10597896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CE0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13" name="rl">
            <a:extLst xmlns:a="http://schemas.openxmlformats.org/drawingml/2006/main">
              <a:ext uri="{FF2B5EF4-FFF2-40B4-BE49-F238E27FC236}">
                <a16:creationId xmlns:a16="http://schemas.microsoft.com/office/drawing/2014/main" id="{FC3A3AC3-B52E-4B7E-8D9A-6DF8CB8A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88178"/>
            <a:ext cx="1417320" cy="7980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8"/>
          </a:solidFill>
          <a:ln xmlns:a="http://schemas.openxmlformats.org/drawingml/2006/main">
            <a:noFill xmlns:a="http://schemas.openxmlformats.org/drawingml/2006/main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14" name="rlt">
            <a:extLst xmlns:a="http://schemas.openxmlformats.org/drawingml/2006/main">
              <a:ext uri="{FF2B5EF4-FFF2-40B4-BE49-F238E27FC236}">
                <a16:creationId xmlns:a16="http://schemas.microsoft.com/office/drawing/2014/main" id="{B76CAEA6-F86B-4E1F-857F-BB005851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70860"/>
            <a:ext cx="1417320" cy="7980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8000"/>
              </a:lnSpc>
              <a:buNone/>
            </a:pPr>
            <a:r>
              <a:rPr sz="12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10 ~ 13세</a:t>
            </a:r>
          </a:p>
          <a:p xmlns:a="http://schemas.openxmlformats.org/drawingml/2006/main">
            <a:pPr marL="0" indent="0" algn="ctr">
              <a:lnSpc>
                <a:spcPct val="118000"/>
              </a:lnSpc>
              <a:buNone/>
            </a:pPr>
            <a:r>
              <a:rPr sz="100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촉법소년</a:t>
            </a:r>
          </a:p>
        </p:txBody>
      </p:sp>
      <p:sp>
        <p:nvSpPr>
          <p:cNvPr id="215" name="sg">
            <a:extLst xmlns:a="http://schemas.openxmlformats.org/drawingml/2006/main">
              <a:ext uri="{FF2B5EF4-FFF2-40B4-BE49-F238E27FC236}">
                <a16:creationId xmlns:a16="http://schemas.microsoft.com/office/drawing/2014/main" id="{2D0B1793-9368-4380-84EB-0DC7C291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576" y="3158836"/>
            <a:ext cx="2011680" cy="6567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0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16" name="sgt">
            <a:extLst xmlns:a="http://schemas.openxmlformats.org/drawingml/2006/main">
              <a:ext uri="{FF2B5EF4-FFF2-40B4-BE49-F238E27FC236}">
                <a16:creationId xmlns:a16="http://schemas.microsoft.com/office/drawing/2014/main" id="{A0B454B8-104E-4472-B937-C0BD35DD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576" y="3141518"/>
            <a:ext cx="2011680" cy="65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8000"/>
              </a:lnSpc>
              <a:buNone/>
            </a:pPr>
            <a:r>
              <a:rPr sz="110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경찰 조사</a:t>
            </a:r>
          </a:p>
          <a:p xmlns:a="http://schemas.openxmlformats.org/drawingml/2006/main">
            <a:pPr marL="0" indent="0" algn="ctr">
              <a:lnSpc>
                <a:spcPct val="118000"/>
              </a:lnSpc>
              <a:buNone/>
            </a:pPr>
            <a:r>
              <a:rPr sz="95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경찰서장이 법원 소년부에 직접 송치 (보호자 · 학교도 통고 가능)</a:t>
            </a:r>
          </a:p>
        </p:txBody>
      </p:sp>
      <p:sp>
        <p:nvSpPr>
          <p:cNvPr id="217" name="sg">
            <a:extLst xmlns:a="http://schemas.openxmlformats.org/drawingml/2006/main">
              <a:ext uri="{FF2B5EF4-FFF2-40B4-BE49-F238E27FC236}">
                <a16:creationId xmlns:a16="http://schemas.microsoft.com/office/drawing/2014/main" id="{FC631002-1F4E-4FD3-8D34-767A981F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864" y="3192087"/>
            <a:ext cx="2011680" cy="5902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0E8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18" name="sgt">
            <a:extLst xmlns:a="http://schemas.openxmlformats.org/drawingml/2006/main">
              <a:ext uri="{FF2B5EF4-FFF2-40B4-BE49-F238E27FC236}">
                <a16:creationId xmlns:a16="http://schemas.microsoft.com/office/drawing/2014/main" id="{A2E65825-0FF8-4C79-82A1-6C42E6BB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864" y="3183428"/>
            <a:ext cx="2011680" cy="59020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8000"/>
              </a:lnSpc>
              <a:buNone/>
            </a:pPr>
            <a:r>
              <a:rPr sz="110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해당 단계 없음</a:t>
            </a:r>
          </a:p>
        </p:txBody>
      </p:sp>
      <p:sp>
        <p:nvSpPr>
          <p:cNvPr id="219" name="sg">
            <a:extLst xmlns:a="http://schemas.openxmlformats.org/drawingml/2006/main">
              <a:ext uri="{FF2B5EF4-FFF2-40B4-BE49-F238E27FC236}">
                <a16:creationId xmlns:a16="http://schemas.microsoft.com/office/drawing/2014/main" id="{D5E61E6B-70C8-4565-BF07-4B5CA2A2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152" y="3192087"/>
            <a:ext cx="2011680" cy="5902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0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20" name="sgt">
            <a:extLst xmlns:a="http://schemas.openxmlformats.org/drawingml/2006/main">
              <a:ext uri="{FF2B5EF4-FFF2-40B4-BE49-F238E27FC236}">
                <a16:creationId xmlns:a16="http://schemas.microsoft.com/office/drawing/2014/main" id="{1E40F325-7E6F-404C-B5D5-572EE89C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152" y="3183428"/>
            <a:ext cx="2011680" cy="59020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8000"/>
              </a:lnSpc>
              <a:buNone/>
            </a:pPr>
            <a:r>
              <a:rPr sz="110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법원 소년부 심리</a:t>
            </a:r>
          </a:p>
        </p:txBody>
      </p:sp>
      <p:sp>
        <p:nvSpPr>
          <p:cNvPr id="221" name="rs">
            <a:extLst xmlns:a="http://schemas.openxmlformats.org/drawingml/2006/main">
              <a:ext uri="{FF2B5EF4-FFF2-40B4-BE49-F238E27FC236}">
                <a16:creationId xmlns:a16="http://schemas.microsoft.com/office/drawing/2014/main" id="{5533B528-5290-4A05-813E-6517E1C9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192087"/>
            <a:ext cx="2011680" cy="2660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8"/>
          </a:solidFill>
          <a:ln xmlns:a="http://schemas.openxmlformats.org/drawingml/2006/main" w="9525">
            <a:solidFill>
              <a:srgbClr val="DCE0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22" name="rst">
            <a:extLst xmlns:a="http://schemas.openxmlformats.org/drawingml/2006/main">
              <a:ext uri="{FF2B5EF4-FFF2-40B4-BE49-F238E27FC236}">
                <a16:creationId xmlns:a16="http://schemas.microsoft.com/office/drawing/2014/main" id="{850DFE7E-F061-4ED3-9C74-44F32396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172863"/>
            <a:ext cx="2011680" cy="2660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8000"/>
              </a:lnSpc>
              <a:buNone/>
            </a:pPr>
            <a:r>
              <a:rPr sz="12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보호처분</a:t>
            </a:r>
          </a:p>
        </p:txBody>
      </p:sp>
      <p:sp>
        <p:nvSpPr>
          <p:cNvPr id="223" name="rs">
            <a:extLst xmlns:a="http://schemas.openxmlformats.org/drawingml/2006/main">
              <a:ext uri="{FF2B5EF4-FFF2-40B4-BE49-F238E27FC236}">
                <a16:creationId xmlns:a16="http://schemas.microsoft.com/office/drawing/2014/main" id="{E9694908-E30F-4BD2-AC55-657F7FF5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516283"/>
            <a:ext cx="2011680" cy="2660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0E8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24" name="rst">
            <a:extLst xmlns:a="http://schemas.openxmlformats.org/drawingml/2006/main">
              <a:ext uri="{FF2B5EF4-FFF2-40B4-BE49-F238E27FC236}">
                <a16:creationId xmlns:a16="http://schemas.microsoft.com/office/drawing/2014/main" id="{C0BF91F6-71D5-4E75-B810-C08E3EF2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500870"/>
            <a:ext cx="2011680" cy="2660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8000"/>
              </a:lnSpc>
              <a:buNone/>
            </a:pPr>
            <a:r>
              <a:rPr sz="1200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심리불개시 · 불처분</a:t>
            </a:r>
          </a:p>
        </p:txBody>
      </p:sp>
      <p:sp>
        <p:nvSpPr>
          <p:cNvPr id="225" name="ha">
            <a:extLst xmlns:a="http://schemas.openxmlformats.org/drawingml/2006/main">
              <a:ext uri="{FF2B5EF4-FFF2-40B4-BE49-F238E27FC236}">
                <a16:creationId xmlns:a16="http://schemas.microsoft.com/office/drawing/2014/main" id="{1723BCBB-6B47-4012-8C82-52ABA7A4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976" y="3487189"/>
            <a:ext cx="210312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64D5C"/>
            </a:solidFill>
            <a:tailEnd type="triangl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26" name="ha">
            <a:extLst xmlns:a="http://schemas.openxmlformats.org/drawingml/2006/main">
              <a:ext uri="{FF2B5EF4-FFF2-40B4-BE49-F238E27FC236}">
                <a16:creationId xmlns:a16="http://schemas.microsoft.com/office/drawing/2014/main" id="{924F06FB-6EEB-4440-8DEB-40D4EE8D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4264" y="3487189"/>
            <a:ext cx="210312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64D5C"/>
            </a:solidFill>
            <a:tailEnd type="triangl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27" name="ha">
            <a:extLst xmlns:a="http://schemas.openxmlformats.org/drawingml/2006/main">
              <a:ext uri="{FF2B5EF4-FFF2-40B4-BE49-F238E27FC236}">
                <a16:creationId xmlns:a16="http://schemas.microsoft.com/office/drawing/2014/main" id="{CFC63E48-E33E-4B92-80AE-B29B06AE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8552" y="3325090"/>
            <a:ext cx="210312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64D5C"/>
            </a:solidFill>
            <a:tailEnd type="triangl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28" name="ha">
            <a:extLst xmlns:a="http://schemas.openxmlformats.org/drawingml/2006/main">
              <a:ext uri="{FF2B5EF4-FFF2-40B4-BE49-F238E27FC236}">
                <a16:creationId xmlns:a16="http://schemas.microsoft.com/office/drawing/2014/main" id="{7760E49B-4B6D-4D83-8D19-B70335C1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8552" y="3649287"/>
            <a:ext cx="210312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64D5C"/>
            </a:solidFill>
            <a:tailEnd type="triangl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29" name="rl">
            <a:extLst xmlns:a="http://schemas.openxmlformats.org/drawingml/2006/main">
              <a:ext uri="{FF2B5EF4-FFF2-40B4-BE49-F238E27FC236}">
                <a16:creationId xmlns:a16="http://schemas.microsoft.com/office/drawing/2014/main" id="{EFBF9335-5F03-4B69-8AC3-BAC98765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68585"/>
            <a:ext cx="1417320" cy="19950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8"/>
          </a:solidFill>
          <a:ln xmlns:a="http://schemas.openxmlformats.org/drawingml/2006/main">
            <a:noFill xmlns:a="http://schemas.openxmlformats.org/drawingml/2006/main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30" name="rlt">
            <a:extLst xmlns:a="http://schemas.openxmlformats.org/drawingml/2006/main">
              <a:ext uri="{FF2B5EF4-FFF2-40B4-BE49-F238E27FC236}">
                <a16:creationId xmlns:a16="http://schemas.microsoft.com/office/drawing/2014/main" id="{A46518FB-8923-4D8D-BEF4-72F46AE7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50748"/>
            <a:ext cx="1417320" cy="19950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8000"/>
              </a:lnSpc>
              <a:buNone/>
            </a:pPr>
            <a:r>
              <a:rPr sz="12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14 ~ 18세</a:t>
            </a:r>
          </a:p>
          <a:p xmlns:a="http://schemas.openxmlformats.org/drawingml/2006/main">
            <a:pPr marL="0" indent="0" algn="ctr">
              <a:lnSpc>
                <a:spcPct val="118000"/>
              </a:lnSpc>
              <a:buNone/>
            </a:pPr>
            <a:r>
              <a:rPr sz="100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범죄소년</a:t>
            </a:r>
          </a:p>
        </p:txBody>
      </p:sp>
      <p:sp>
        <p:nvSpPr>
          <p:cNvPr id="231" name="sg">
            <a:extLst xmlns:a="http://schemas.openxmlformats.org/drawingml/2006/main">
              <a:ext uri="{FF2B5EF4-FFF2-40B4-BE49-F238E27FC236}">
                <a16:creationId xmlns:a16="http://schemas.microsoft.com/office/drawing/2014/main" id="{6925632D-1E49-4C35-81F7-CCA89D16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576" y="4335087"/>
            <a:ext cx="2011680" cy="18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0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32" name="sgt">
            <a:extLst xmlns:a="http://schemas.openxmlformats.org/drawingml/2006/main">
              <a:ext uri="{FF2B5EF4-FFF2-40B4-BE49-F238E27FC236}">
                <a16:creationId xmlns:a16="http://schemas.microsoft.com/office/drawing/2014/main" id="{47E99471-69F4-4CD5-B730-2D2BA3F7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576" y="4321579"/>
            <a:ext cx="2011680" cy="1862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8000"/>
              </a:lnSpc>
              <a:buNone/>
            </a:pPr>
            <a:r>
              <a:rPr sz="110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경찰 수사</a:t>
            </a:r>
          </a:p>
        </p:txBody>
      </p:sp>
      <p:sp>
        <p:nvSpPr>
          <p:cNvPr id="233" name="sg">
            <a:extLst xmlns:a="http://schemas.openxmlformats.org/drawingml/2006/main">
              <a:ext uri="{FF2B5EF4-FFF2-40B4-BE49-F238E27FC236}">
                <a16:creationId xmlns:a16="http://schemas.microsoft.com/office/drawing/2014/main" id="{3571A3B2-FB39-48C5-A09D-17EC7BF5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864" y="4335087"/>
            <a:ext cx="2011680" cy="5902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0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34" name="sgt">
            <a:extLst xmlns:a="http://schemas.openxmlformats.org/drawingml/2006/main">
              <a:ext uri="{FF2B5EF4-FFF2-40B4-BE49-F238E27FC236}">
                <a16:creationId xmlns:a16="http://schemas.microsoft.com/office/drawing/2014/main" id="{E18469FE-D355-45EB-948E-B572F340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864" y="4326428"/>
            <a:ext cx="2011680" cy="59020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8000"/>
              </a:lnSpc>
              <a:buNone/>
            </a:pPr>
            <a:r>
              <a:rPr sz="110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검사의 기소</a:t>
            </a:r>
          </a:p>
        </p:txBody>
      </p:sp>
      <p:sp>
        <p:nvSpPr>
          <p:cNvPr id="235" name="sg">
            <a:extLst xmlns:a="http://schemas.openxmlformats.org/drawingml/2006/main">
              <a:ext uri="{FF2B5EF4-FFF2-40B4-BE49-F238E27FC236}">
                <a16:creationId xmlns:a16="http://schemas.microsoft.com/office/drawing/2014/main" id="{165323CF-E53B-44B4-814F-41F21C69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152" y="4335087"/>
            <a:ext cx="2011680" cy="5902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0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36" name="sgt">
            <a:extLst xmlns:a="http://schemas.openxmlformats.org/drawingml/2006/main">
              <a:ext uri="{FF2B5EF4-FFF2-40B4-BE49-F238E27FC236}">
                <a16:creationId xmlns:a16="http://schemas.microsoft.com/office/drawing/2014/main" id="{25D52D2F-0D88-4A2E-9991-3046A37F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152" y="4326428"/>
            <a:ext cx="2011680" cy="59020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8000"/>
              </a:lnSpc>
              <a:buNone/>
            </a:pPr>
            <a:r>
              <a:rPr sz="110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형사법원 재판</a:t>
            </a:r>
          </a:p>
        </p:txBody>
      </p:sp>
      <p:sp>
        <p:nvSpPr>
          <p:cNvPr id="237" name="rs">
            <a:extLst xmlns:a="http://schemas.openxmlformats.org/drawingml/2006/main">
              <a:ext uri="{FF2B5EF4-FFF2-40B4-BE49-F238E27FC236}">
                <a16:creationId xmlns:a16="http://schemas.microsoft.com/office/drawing/2014/main" id="{9B20B3C0-64C7-43CF-815C-3E63C8D4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4335087"/>
            <a:ext cx="2011680" cy="2660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8"/>
          </a:solidFill>
          <a:ln xmlns:a="http://schemas.openxmlformats.org/drawingml/2006/main" w="9525">
            <a:solidFill>
              <a:srgbClr val="DCE0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38" name="rst">
            <a:extLst xmlns:a="http://schemas.openxmlformats.org/drawingml/2006/main">
              <a:ext uri="{FF2B5EF4-FFF2-40B4-BE49-F238E27FC236}">
                <a16:creationId xmlns:a16="http://schemas.microsoft.com/office/drawing/2014/main" id="{08AAD445-016E-4389-84B8-2AC787BE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4320193"/>
            <a:ext cx="2011680" cy="2660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8000"/>
              </a:lnSpc>
              <a:buNone/>
            </a:pPr>
            <a:r>
              <a:rPr sz="12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형 선고</a:t>
            </a:r>
          </a:p>
        </p:txBody>
      </p:sp>
      <p:sp>
        <p:nvSpPr>
          <p:cNvPr id="239" name="rs">
            <a:extLst xmlns:a="http://schemas.openxmlformats.org/drawingml/2006/main">
              <a:ext uri="{FF2B5EF4-FFF2-40B4-BE49-F238E27FC236}">
                <a16:creationId xmlns:a16="http://schemas.microsoft.com/office/drawing/2014/main" id="{0E266C17-198F-4665-AEC3-B51F45D1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4659283"/>
            <a:ext cx="2011680" cy="2660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0E8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40" name="rst">
            <a:extLst xmlns:a="http://schemas.openxmlformats.org/drawingml/2006/main">
              <a:ext uri="{FF2B5EF4-FFF2-40B4-BE49-F238E27FC236}">
                <a16:creationId xmlns:a16="http://schemas.microsoft.com/office/drawing/2014/main" id="{BF87E515-B091-49D5-A526-513ABD7A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4643870"/>
            <a:ext cx="2011680" cy="2660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8000"/>
              </a:lnSpc>
              <a:buNone/>
            </a:pPr>
            <a:r>
              <a:rPr sz="1200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무죄 · 공소기각</a:t>
            </a:r>
          </a:p>
        </p:txBody>
      </p:sp>
      <p:sp>
        <p:nvSpPr>
          <p:cNvPr id="241" name="sg">
            <a:extLst xmlns:a="http://schemas.openxmlformats.org/drawingml/2006/main">
              <a:ext uri="{FF2B5EF4-FFF2-40B4-BE49-F238E27FC236}">
                <a16:creationId xmlns:a16="http://schemas.microsoft.com/office/drawing/2014/main" id="{3B1E5386-2A9E-4D01-B834-B6AA96E1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864" y="5224549"/>
            <a:ext cx="2011680" cy="5902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0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42" name="sgt">
            <a:extLst xmlns:a="http://schemas.openxmlformats.org/drawingml/2006/main">
              <a:ext uri="{FF2B5EF4-FFF2-40B4-BE49-F238E27FC236}">
                <a16:creationId xmlns:a16="http://schemas.microsoft.com/office/drawing/2014/main" id="{ECDEB3CF-A1D2-4ED8-BBE4-BCE5A332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864" y="5213465"/>
            <a:ext cx="2011680" cy="59020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8000"/>
              </a:lnSpc>
              <a:buNone/>
            </a:pPr>
            <a:r>
              <a:rPr sz="110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검사의 법원 소년부 송치</a:t>
            </a:r>
          </a:p>
        </p:txBody>
      </p:sp>
      <p:sp>
        <p:nvSpPr>
          <p:cNvPr id="243" name="sg">
            <a:extLst xmlns:a="http://schemas.openxmlformats.org/drawingml/2006/main">
              <a:ext uri="{FF2B5EF4-FFF2-40B4-BE49-F238E27FC236}">
                <a16:creationId xmlns:a16="http://schemas.microsoft.com/office/drawing/2014/main" id="{CBF1F577-3E26-4D94-8963-D32115C7C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152" y="5224549"/>
            <a:ext cx="2011680" cy="5902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0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44" name="sgt">
            <a:extLst xmlns:a="http://schemas.openxmlformats.org/drawingml/2006/main">
              <a:ext uri="{FF2B5EF4-FFF2-40B4-BE49-F238E27FC236}">
                <a16:creationId xmlns:a16="http://schemas.microsoft.com/office/drawing/2014/main" id="{E3FCEDEE-E00F-485B-A2EF-635D35B2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152" y="5213465"/>
            <a:ext cx="2011680" cy="59020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8000"/>
              </a:lnSpc>
              <a:buNone/>
            </a:pPr>
            <a:r>
              <a:rPr sz="110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법원 소년부 심리</a:t>
            </a:r>
          </a:p>
        </p:txBody>
      </p:sp>
      <p:sp>
        <p:nvSpPr>
          <p:cNvPr id="245" name="rs">
            <a:extLst xmlns:a="http://schemas.openxmlformats.org/drawingml/2006/main">
              <a:ext uri="{FF2B5EF4-FFF2-40B4-BE49-F238E27FC236}">
                <a16:creationId xmlns:a16="http://schemas.microsoft.com/office/drawing/2014/main" id="{FD7A637F-85C9-4ADC-B0FB-7A6DB3C8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5224549"/>
            <a:ext cx="2011680" cy="2660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8"/>
          </a:solidFill>
          <a:ln xmlns:a="http://schemas.openxmlformats.org/drawingml/2006/main" w="9525">
            <a:solidFill>
              <a:srgbClr val="DCE0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46" name="rst">
            <a:extLst xmlns:a="http://schemas.openxmlformats.org/drawingml/2006/main">
              <a:ext uri="{FF2B5EF4-FFF2-40B4-BE49-F238E27FC236}">
                <a16:creationId xmlns:a16="http://schemas.microsoft.com/office/drawing/2014/main" id="{27FFE0E6-F400-465C-BC14-D5454AC8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5211560"/>
            <a:ext cx="2011680" cy="2660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8000"/>
              </a:lnSpc>
              <a:buNone/>
            </a:pPr>
            <a:r>
              <a:rPr sz="12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보호처분</a:t>
            </a:r>
          </a:p>
        </p:txBody>
      </p:sp>
      <p:sp>
        <p:nvSpPr>
          <p:cNvPr id="247" name="rs">
            <a:extLst xmlns:a="http://schemas.openxmlformats.org/drawingml/2006/main">
              <a:ext uri="{FF2B5EF4-FFF2-40B4-BE49-F238E27FC236}">
                <a16:creationId xmlns:a16="http://schemas.microsoft.com/office/drawing/2014/main" id="{DC001973-2608-4220-BB71-E3C91E51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5548745"/>
            <a:ext cx="2011680" cy="2660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0E8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48" name="rst">
            <a:extLst xmlns:a="http://schemas.openxmlformats.org/drawingml/2006/main">
              <a:ext uri="{FF2B5EF4-FFF2-40B4-BE49-F238E27FC236}">
                <a16:creationId xmlns:a16="http://schemas.microsoft.com/office/drawing/2014/main" id="{255DF218-39D3-4CB4-89AD-3FA36ABC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5530908"/>
            <a:ext cx="2011680" cy="2660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8000"/>
              </a:lnSpc>
              <a:buNone/>
            </a:pPr>
            <a:r>
              <a:rPr sz="1200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심리불개시 · 불처분</a:t>
            </a:r>
          </a:p>
        </p:txBody>
      </p:sp>
      <p:sp>
        <p:nvSpPr>
          <p:cNvPr id="249" name="sg">
            <a:extLst xmlns:a="http://schemas.openxmlformats.org/drawingml/2006/main">
              <a:ext uri="{FF2B5EF4-FFF2-40B4-BE49-F238E27FC236}">
                <a16:creationId xmlns:a16="http://schemas.microsoft.com/office/drawing/2014/main" id="{6F5CF7CE-A309-4A23-B09C-CC0F9EC2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864" y="5931130"/>
            <a:ext cx="2011680" cy="2660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0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50" name="sgt">
            <a:extLst xmlns:a="http://schemas.openxmlformats.org/drawingml/2006/main">
              <a:ext uri="{FF2B5EF4-FFF2-40B4-BE49-F238E27FC236}">
                <a16:creationId xmlns:a16="http://schemas.microsoft.com/office/drawing/2014/main" id="{DEAE9948-C037-4A88-9424-7AFB72EA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864" y="5919008"/>
            <a:ext cx="2011680" cy="2660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8000"/>
              </a:lnSpc>
              <a:buNone/>
            </a:pPr>
            <a:r>
              <a:rPr sz="110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검사의 불기소</a:t>
            </a:r>
          </a:p>
        </p:txBody>
      </p:sp>
      <p:sp>
        <p:nvSpPr>
          <p:cNvPr id="251" name="nd">
            <a:extLst xmlns:a="http://schemas.openxmlformats.org/drawingml/2006/main">
              <a:ext uri="{FF2B5EF4-FFF2-40B4-BE49-F238E27FC236}">
                <a16:creationId xmlns:a16="http://schemas.microsoft.com/office/drawing/2014/main" id="{E7807A2D-A6BB-459D-8CD8-29C63096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152" y="5931130"/>
            <a:ext cx="2011680" cy="2660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8000"/>
              </a:lnSpc>
              <a:buNone/>
            </a:pPr>
            <a:r>
              <a:rPr sz="100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법원 단계 없음</a:t>
            </a:r>
          </a:p>
        </p:txBody>
      </p:sp>
      <p:sp>
        <p:nvSpPr>
          <p:cNvPr id="252" name="rs">
            <a:extLst xmlns:a="http://schemas.openxmlformats.org/drawingml/2006/main">
              <a:ext uri="{FF2B5EF4-FFF2-40B4-BE49-F238E27FC236}">
                <a16:creationId xmlns:a16="http://schemas.microsoft.com/office/drawing/2014/main" id="{651CBECE-E546-40F5-999A-9ECA05A8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5931130"/>
            <a:ext cx="2011680" cy="2660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0E8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53" name="rst">
            <a:extLst xmlns:a="http://schemas.openxmlformats.org/drawingml/2006/main">
              <a:ext uri="{FF2B5EF4-FFF2-40B4-BE49-F238E27FC236}">
                <a16:creationId xmlns:a16="http://schemas.microsoft.com/office/drawing/2014/main" id="{146F2442-3DA3-4468-BB3A-D6730B72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5914679"/>
            <a:ext cx="2011680" cy="2660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8000"/>
              </a:lnSpc>
              <a:buNone/>
            </a:pPr>
            <a:r>
              <a:rPr sz="1200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불기소 종결</a:t>
            </a:r>
          </a:p>
        </p:txBody>
      </p:sp>
      <p:sp>
        <p:nvSpPr>
          <p:cNvPr id="254" name="ha">
            <a:extLst xmlns:a="http://schemas.openxmlformats.org/drawingml/2006/main">
              <a:ext uri="{FF2B5EF4-FFF2-40B4-BE49-F238E27FC236}">
                <a16:creationId xmlns:a16="http://schemas.microsoft.com/office/drawing/2014/main" id="{062FCBDE-3FDE-4F39-9997-E59B6E63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976" y="4630189"/>
            <a:ext cx="210312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64D5C"/>
            </a:solidFill>
            <a:tailEnd type="triangl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55" name="ha">
            <a:extLst xmlns:a="http://schemas.openxmlformats.org/drawingml/2006/main">
              <a:ext uri="{FF2B5EF4-FFF2-40B4-BE49-F238E27FC236}">
                <a16:creationId xmlns:a16="http://schemas.microsoft.com/office/drawing/2014/main" id="{C496E960-769F-42F0-8B62-58561E4D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976" y="5519650"/>
            <a:ext cx="210312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64D5C"/>
            </a:solidFill>
            <a:tailEnd type="triangl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56" name="ha">
            <a:extLst xmlns:a="http://schemas.openxmlformats.org/drawingml/2006/main">
              <a:ext uri="{FF2B5EF4-FFF2-40B4-BE49-F238E27FC236}">
                <a16:creationId xmlns:a16="http://schemas.microsoft.com/office/drawing/2014/main" id="{D204386D-BDF4-48EF-A378-BEDD51BE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976" y="6064134"/>
            <a:ext cx="210312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64D5C"/>
            </a:solidFill>
            <a:tailEnd type="triangl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57" name="ha">
            <a:extLst xmlns:a="http://schemas.openxmlformats.org/drawingml/2006/main">
              <a:ext uri="{FF2B5EF4-FFF2-40B4-BE49-F238E27FC236}">
                <a16:creationId xmlns:a16="http://schemas.microsoft.com/office/drawing/2014/main" id="{CF7A3C63-A6F6-4F9B-8D04-3D16C725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4264" y="4630189"/>
            <a:ext cx="210312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64D5C"/>
            </a:solidFill>
            <a:tailEnd type="triangl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58" name="ha">
            <a:extLst xmlns:a="http://schemas.openxmlformats.org/drawingml/2006/main">
              <a:ext uri="{FF2B5EF4-FFF2-40B4-BE49-F238E27FC236}">
                <a16:creationId xmlns:a16="http://schemas.microsoft.com/office/drawing/2014/main" id="{0D810191-37A8-4DAF-A064-3BBF81FD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4264" y="5519650"/>
            <a:ext cx="210312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64D5C"/>
            </a:solidFill>
            <a:tailEnd type="triangl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59" name="ha">
            <a:extLst xmlns:a="http://schemas.openxmlformats.org/drawingml/2006/main">
              <a:ext uri="{FF2B5EF4-FFF2-40B4-BE49-F238E27FC236}">
                <a16:creationId xmlns:a16="http://schemas.microsoft.com/office/drawing/2014/main" id="{404A5DDC-C850-46C7-909C-19649E7A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4264" y="6064134"/>
            <a:ext cx="210312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64D5C"/>
            </a:solidFill>
            <a:tailEnd type="triangl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60" name="ha">
            <a:extLst xmlns:a="http://schemas.openxmlformats.org/drawingml/2006/main">
              <a:ext uri="{FF2B5EF4-FFF2-40B4-BE49-F238E27FC236}">
                <a16:creationId xmlns:a16="http://schemas.microsoft.com/office/drawing/2014/main" id="{F42E6749-67B8-4C11-9643-49B40B1E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8552" y="4468090"/>
            <a:ext cx="210312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64D5C"/>
            </a:solidFill>
            <a:tailEnd type="triangl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61" name="ha">
            <a:extLst xmlns:a="http://schemas.openxmlformats.org/drawingml/2006/main">
              <a:ext uri="{FF2B5EF4-FFF2-40B4-BE49-F238E27FC236}">
                <a16:creationId xmlns:a16="http://schemas.microsoft.com/office/drawing/2014/main" id="{EAA06AB5-EAAC-4007-A46B-87FED924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8552" y="4792287"/>
            <a:ext cx="210312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64D5C"/>
            </a:solidFill>
            <a:tailEnd type="triangl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62" name="ha">
            <a:extLst xmlns:a="http://schemas.openxmlformats.org/drawingml/2006/main">
              <a:ext uri="{FF2B5EF4-FFF2-40B4-BE49-F238E27FC236}">
                <a16:creationId xmlns:a16="http://schemas.microsoft.com/office/drawing/2014/main" id="{2394A31C-08BF-45C0-A31F-9F58C741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8552" y="5357552"/>
            <a:ext cx="210312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64D5C"/>
            </a:solidFill>
            <a:tailEnd type="triangl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63" name="ha">
            <a:extLst xmlns:a="http://schemas.openxmlformats.org/drawingml/2006/main">
              <a:ext uri="{FF2B5EF4-FFF2-40B4-BE49-F238E27FC236}">
                <a16:creationId xmlns:a16="http://schemas.microsoft.com/office/drawing/2014/main" id="{1D416463-3EAD-4A94-BFE5-1AE31436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8552" y="5681749"/>
            <a:ext cx="210312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64D5C"/>
            </a:solidFill>
            <a:tailEnd type="triangl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64" name="ha">
            <a:extLst xmlns:a="http://schemas.openxmlformats.org/drawingml/2006/main">
              <a:ext uri="{FF2B5EF4-FFF2-40B4-BE49-F238E27FC236}">
                <a16:creationId xmlns:a16="http://schemas.microsoft.com/office/drawing/2014/main" id="{915119B4-ECD1-416A-AE4B-5374483D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8552" y="6064134"/>
            <a:ext cx="210312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64D5C"/>
            </a:solidFill>
            <a:tailEnd type="triangl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65" name="va">
            <a:extLst xmlns:a="http://schemas.openxmlformats.org/drawingml/2006/main">
              <a:ext uri="{FF2B5EF4-FFF2-40B4-BE49-F238E27FC236}">
                <a16:creationId xmlns:a16="http://schemas.microsoft.com/office/drawing/2014/main" id="{72535CB3-699D-41BF-BE70-969CD9F1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992" y="4950229"/>
            <a:ext cx="0" cy="24938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64D5C"/>
            </a:solidFill>
            <a:tailEnd type="triangl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66" name="mg">
            <a:extLst xmlns:a="http://schemas.openxmlformats.org/drawingml/2006/main">
              <a:ext uri="{FF2B5EF4-FFF2-40B4-BE49-F238E27FC236}">
                <a16:creationId xmlns:a16="http://schemas.microsoft.com/office/drawing/2014/main" id="{B5DE2725-130A-41B0-A81C-C88726DA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1" y="4925290"/>
            <a:ext cx="1188720" cy="299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95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소년부 송치</a:t>
            </a:r>
          </a:p>
        </p:txBody>
      </p:sp>
      <p:sp>
        <p:nvSpPr>
          <p:cNvPr id="267" name="newzone">
            <a:extLst xmlns:a="http://schemas.openxmlformats.org/drawingml/2006/main">
              <a:ext uri="{FF2B5EF4-FFF2-40B4-BE49-F238E27FC236}">
                <a16:creationId xmlns:a16="http://schemas.microsoft.com/office/drawing/2014/main" id="{3E824FEE-9DE6-4B4F-A48E-2B0E7678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712" y="4268584"/>
            <a:ext cx="4462272" cy="1995054"/>
          </a:xfrm>
          <a:custGeom xmlns:a="http://schemas.openxmlformats.org/drawingml/2006/main">
            <a:rect l="0" t="0" r="r" b="b"/>
            <a:pathLst>
              <a:path w="4462272" h="2194560">
                <a:moveTo>
                  <a:pt x="0" y="0"/>
                </a:moveTo>
                <a:lnTo>
                  <a:pt x="4462272" y="0"/>
                </a:lnTo>
                <a:lnTo>
                  <a:pt x="4462272" y="795528"/>
                </a:lnTo>
                <a:lnTo>
                  <a:pt x="2157984" y="795528"/>
                </a:lnTo>
                <a:lnTo>
                  <a:pt x="2157984" y="2194560"/>
                </a:lnTo>
                <a:lnTo>
                  <a:pt x="0" y="219456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8871C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foot"/>
          <p:cNvSpPr txBox="1"/>
          <p:nvPr/>
        </p:nvSpPr>
        <p:spPr>
          <a:xfrm>
            <a:off x="731520" y="6419088"/>
            <a:ext cx="10725912" cy="301752"/>
          </a:xfrm>
          <a:prstGeom prst="rect">
            <a:avLst/>
          </a:prstGeom>
          <a:noFill/>
        </p:spPr>
        <p:txBody>
          <a:bodyPr wrap="square" lIns="0" tIns="27432" rIns="0" bIns="27432" anchor="ctr">
            <a:noAutofit/>
          </a:bodyPr>
          <a:lstStyle/>
          <a:p>
            <a:pPr algn="l">
              <a:lnSpc>
                <a:spcPct val="118000"/>
              </a:lnSpc>
            </a:pPr>
            <a:r>
              <a:rPr lang="ko-KR" sz="1050" b="0" dirty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소년법 제4조·제49조·제50조 · 대표 경로이며, 보호자 등의 통고·10세 미만의 아동보호는 별도 요건에 따른다.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ICKER"/>
          <p:cNvSpPr/>
          <p:nvPr/>
        </p:nvSpPr>
        <p:spPr>
          <a:xfrm>
            <a:off x="731520" y="36576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250" b="1" spc="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</a:t>
            </a:r>
          </a:p>
        </p:txBody>
      </p:sp>
      <p:sp>
        <p:nvSpPr>
          <p:cNvPr id="11" name="NEXT"/>
          <p:cNvSpPr/>
          <p:nvPr/>
        </p:nvSpPr>
        <p:spPr>
          <a:xfrm>
            <a:off x="6035040" y="384048"/>
            <a:ext cx="5422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8000"/>
              </a:lnSpc>
              <a:buNone/>
            </a:pPr>
            <a:r>
              <a:rPr lang="ko-KR" alt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→ 나의 판단</a:t>
            </a:r>
          </a:p>
        </p:txBody>
      </p:sp>
      <p:sp>
        <p:nvSpPr>
          <p:cNvPr id="12" name="TITLE"/>
          <p:cNvSpPr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27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 쟁점 지도 — 자료에서 정리되는 물음</a:t>
            </a:r>
          </a:p>
        </p:txBody>
      </p:sp>
      <p:sp>
        <p:nvSpPr>
          <p:cNvPr id="13" name="BANDBG"/>
          <p:cNvSpPr/>
          <p:nvPr/>
        </p:nvSpPr>
        <p:spPr>
          <a:xfrm>
            <a:off x="731520" y="1417320"/>
            <a:ext cx="10725912" cy="54864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14" name="BANDTX"/>
          <p:cNvSpPr/>
          <p:nvPr/>
        </p:nvSpPr>
        <p:spPr>
          <a:xfrm>
            <a:off x="1005840" y="141732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자료가 확인한 내용과 그 자료에서 자신의 판단으로 이어지는 이유를 함께 정리한다</a:t>
            </a:r>
          </a:p>
        </p:txBody>
      </p:sp>
      <p:sp>
        <p:nvSpPr>
          <p:cNvPr id="15" name="RULE"/>
          <p:cNvSpPr/>
          <p:nvPr/>
        </p:nvSpPr>
        <p:spPr>
          <a:xfrm>
            <a:off x="731520" y="2057400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6" name="CBG"/>
          <p:cNvSpPr/>
          <p:nvPr/>
        </p:nvSpPr>
        <p:spPr>
          <a:xfrm>
            <a:off x="731520" y="2240280"/>
            <a:ext cx="10725912" cy="125730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17" name="CH"/>
          <p:cNvSpPr/>
          <p:nvPr/>
        </p:nvSpPr>
        <p:spPr>
          <a:xfrm>
            <a:off x="1005840" y="229514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공통으로 인정하는 지점</a:t>
            </a:r>
          </a:p>
        </p:txBody>
      </p:sp>
      <p:sp>
        <p:nvSpPr>
          <p:cNvPr id="18" name="CB"/>
          <p:cNvSpPr/>
          <p:nvPr/>
        </p:nvSpPr>
        <p:spPr>
          <a:xfrm>
            <a:off x="1005840" y="2569464"/>
            <a:ext cx="101498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400"/>
              </a:spcAft>
              <a:buNone/>
            </a:pPr>
            <a:r>
              <a:rPr lang="ko-KR" altLang="en-US" sz="12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어느 입장에서도 다투지 않는 사안의 조건 1. 한 줄에 하나, 번호는 붙이지 않는다.</a:t>
            </a:r>
          </a:p>
          <a:p>
            <a:pPr marL="0" indent="0">
              <a:lnSpc>
                <a:spcPct val="118000"/>
              </a:lnSpc>
              <a:spcAft>
                <a:spcPts val="400"/>
              </a:spcAft>
              <a:buNone/>
            </a:pPr>
            <a:r>
              <a:rPr lang="ko-KR" altLang="en-US" sz="12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어느 입장에서도 다투지 않는 사안의 조건 2. 한 줄에 하나, 번호는 붙이지 않는다.</a:t>
            </a:r>
          </a:p>
          <a:p>
            <a:pPr marL="0" indent="0">
              <a:lnSpc>
                <a:spcPct val="118000"/>
              </a:lnSpc>
              <a:spcAft>
                <a:spcPts val="400"/>
              </a:spcAft>
              <a:buNone/>
            </a:pPr>
            <a:r>
              <a:rPr lang="ko-KR" altLang="en-US" sz="12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어느 입장에서도 다투지 않는 사안의 조건 3. 한 줄에 하나, 번호는 붙이지 않는다.</a:t>
            </a:r>
          </a:p>
        </p:txBody>
      </p:sp>
      <p:sp>
        <p:nvSpPr>
          <p:cNvPr id="19" name="QN19"/>
          <p:cNvSpPr/>
          <p:nvPr/>
        </p:nvSpPr>
        <p:spPr>
          <a:xfrm>
            <a:off x="731520" y="3717036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판단이 달라지는 물음 1은 무엇인가?</a:t>
            </a:r>
          </a:p>
        </p:txBody>
      </p:sp>
      <p:sp>
        <p:nvSpPr>
          <p:cNvPr id="20" name="QB20"/>
          <p:cNvSpPr/>
          <p:nvPr/>
        </p:nvSpPr>
        <p:spPr>
          <a:xfrm>
            <a:off x="731520" y="4155948"/>
            <a:ext cx="5175504" cy="697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ko-KR" altLang="en-US" sz="1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물음에 답하려면 무엇을 확인하고 무엇을 이유로 밝혀야 하는지 적는다.</a:t>
            </a:r>
          </a:p>
        </p:txBody>
      </p:sp>
      <p:sp>
        <p:nvSpPr>
          <p:cNvPr id="21" name="QN21"/>
          <p:cNvSpPr/>
          <p:nvPr/>
        </p:nvSpPr>
        <p:spPr>
          <a:xfrm>
            <a:off x="6281928" y="3717036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판단이 달라지는 물음 2은 무엇인가?</a:t>
            </a:r>
          </a:p>
        </p:txBody>
      </p:sp>
      <p:sp>
        <p:nvSpPr>
          <p:cNvPr id="22" name="QB22"/>
          <p:cNvSpPr/>
          <p:nvPr/>
        </p:nvSpPr>
        <p:spPr>
          <a:xfrm>
            <a:off x="6281928" y="4155948"/>
            <a:ext cx="5175504" cy="697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ko-KR" altLang="en-US" sz="1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물음에 답하려면 무엇을 확인하고 무엇을 이유로 밝혀야 하는지 적는다.</a:t>
            </a:r>
          </a:p>
        </p:txBody>
      </p:sp>
      <p:sp>
        <p:nvSpPr>
          <p:cNvPr id="23" name="QN23"/>
          <p:cNvSpPr/>
          <p:nvPr/>
        </p:nvSpPr>
        <p:spPr>
          <a:xfrm>
            <a:off x="731520" y="512749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판단이 달라지는 물음 3은 무엇인가?</a:t>
            </a:r>
          </a:p>
        </p:txBody>
      </p:sp>
      <p:sp>
        <p:nvSpPr>
          <p:cNvPr id="24" name="QB24"/>
          <p:cNvSpPr/>
          <p:nvPr/>
        </p:nvSpPr>
        <p:spPr>
          <a:xfrm>
            <a:off x="731520" y="5566410"/>
            <a:ext cx="5175504" cy="697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ko-KR" altLang="en-US" sz="1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물음에 답하려면 무엇을 확인하고 무엇을 이유로 밝혀야 하는지 적는다.</a:t>
            </a:r>
          </a:p>
        </p:txBody>
      </p:sp>
      <p:sp>
        <p:nvSpPr>
          <p:cNvPr id="25" name="QN25"/>
          <p:cNvSpPr/>
          <p:nvPr/>
        </p:nvSpPr>
        <p:spPr>
          <a:xfrm>
            <a:off x="6281928" y="512749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판단이 달라지는 물음 4은 무엇인가?</a:t>
            </a:r>
          </a:p>
        </p:txBody>
      </p:sp>
      <p:sp>
        <p:nvSpPr>
          <p:cNvPr id="26" name="QB26"/>
          <p:cNvSpPr/>
          <p:nvPr/>
        </p:nvSpPr>
        <p:spPr>
          <a:xfrm>
            <a:off x="6281928" y="5566410"/>
            <a:ext cx="5175504" cy="697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ko-KR" altLang="en-US" sz="1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물음에 답하려면 무엇을 확인하고 무엇을 이유로 밝혀야 하는지 적는다.</a:t>
            </a:r>
          </a:p>
        </p:txBody>
      </p:sp>
      <p:sp>
        <p:nvSpPr>
          <p:cNvPr id="27" name="FOOT"/>
          <p:cNvSpPr/>
          <p:nvPr/>
        </p:nvSpPr>
        <p:spPr>
          <a:xfrm>
            <a:off x="731520" y="6419088"/>
            <a:ext cx="107259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종합 — 앞서 검토한 자료의 범위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ICKER"/>
          <p:cNvSpPr/>
          <p:nvPr/>
        </p:nvSpPr>
        <p:spPr>
          <a:xfrm>
            <a:off x="731520" y="36576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250" b="1" spc="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</a:t>
            </a:r>
          </a:p>
        </p:txBody>
      </p:sp>
      <p:sp>
        <p:nvSpPr>
          <p:cNvPr id="11" name="NEXT"/>
          <p:cNvSpPr/>
          <p:nvPr/>
        </p:nvSpPr>
        <p:spPr>
          <a:xfrm>
            <a:off x="6035040" y="384048"/>
            <a:ext cx="5422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8000"/>
              </a:lnSpc>
              <a:buNone/>
            </a:pPr>
            <a:r>
              <a:rPr lang="ko-KR" alt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→ 이번 주 할 일</a:t>
            </a:r>
          </a:p>
        </p:txBody>
      </p:sp>
      <p:sp>
        <p:nvSpPr>
          <p:cNvPr id="12" name="TITLE"/>
          <p:cNvSpPr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27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 워크시트 — 나의 판단</a:t>
            </a:r>
          </a:p>
        </p:txBody>
      </p:sp>
      <p:sp>
        <p:nvSpPr>
          <p:cNvPr id="13" name="BANDBG"/>
          <p:cNvSpPr/>
          <p:nvPr/>
        </p:nvSpPr>
        <p:spPr>
          <a:xfrm>
            <a:off x="731520" y="1417320"/>
            <a:ext cx="10725912" cy="54864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14" name="BANDTX"/>
          <p:cNvSpPr/>
          <p:nvPr/>
        </p:nvSpPr>
        <p:spPr>
          <a:xfrm>
            <a:off x="1005840" y="141732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결론과 근거의 연결을 설명하고 판단을 바꿀 조건을 적는다</a:t>
            </a:r>
          </a:p>
        </p:txBody>
      </p:sp>
      <p:sp>
        <p:nvSpPr>
          <p:cNvPr id="15" name="RULE"/>
          <p:cNvSpPr/>
          <p:nvPr/>
        </p:nvSpPr>
        <p:spPr>
          <a:xfrm>
            <a:off x="731520" y="2057400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6" name="WN16"/>
          <p:cNvSpPr/>
          <p:nvPr/>
        </p:nvSpPr>
        <p:spPr>
          <a:xfrm>
            <a:off x="731520" y="227685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50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</a:p>
        </p:txBody>
      </p:sp>
      <p:sp>
        <p:nvSpPr>
          <p:cNvPr id="17" name="WH17"/>
          <p:cNvSpPr/>
          <p:nvPr/>
        </p:nvSpPr>
        <p:spPr>
          <a:xfrm>
            <a:off x="1170432" y="227685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현재의 결론</a:t>
            </a:r>
          </a:p>
        </p:txBody>
      </p:sp>
      <p:sp>
        <p:nvSpPr>
          <p:cNvPr id="18" name="WB18"/>
          <p:cNvSpPr/>
          <p:nvPr/>
        </p:nvSpPr>
        <p:spPr>
          <a:xfrm>
            <a:off x="1170432" y="2587752"/>
            <a:ext cx="10287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ko-KR" altLang="en-US" sz="1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학생이 채울 자리 — 무엇을 어떻게 적는지 한 문장으로 안내한다.</a:t>
            </a:r>
          </a:p>
        </p:txBody>
      </p:sp>
      <p:sp>
        <p:nvSpPr>
          <p:cNvPr id="19" name="WL19"/>
          <p:cNvSpPr/>
          <p:nvPr/>
        </p:nvSpPr>
        <p:spPr>
          <a:xfrm>
            <a:off x="731520" y="3154680"/>
            <a:ext cx="10725912" cy="0"/>
          </a:xfrm>
          <a:prstGeom prst="line">
            <a:avLst/>
          </a:prstGeom>
          <a:ln w="9525">
            <a:solidFill>
              <a:srgbClr val="DCE0E8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0" name="WN20"/>
          <p:cNvSpPr/>
          <p:nvPr/>
        </p:nvSpPr>
        <p:spPr>
          <a:xfrm>
            <a:off x="731520" y="328269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50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</a:p>
        </p:txBody>
      </p:sp>
      <p:sp>
        <p:nvSpPr>
          <p:cNvPr id="21" name="WH21"/>
          <p:cNvSpPr/>
          <p:nvPr/>
        </p:nvSpPr>
        <p:spPr>
          <a:xfrm>
            <a:off x="1170432" y="328269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근거와 연결 이유</a:t>
            </a:r>
          </a:p>
        </p:txBody>
      </p:sp>
      <p:sp>
        <p:nvSpPr>
          <p:cNvPr id="22" name="WB22"/>
          <p:cNvSpPr/>
          <p:nvPr/>
        </p:nvSpPr>
        <p:spPr>
          <a:xfrm>
            <a:off x="1170432" y="3593592"/>
            <a:ext cx="10287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ko-KR" altLang="en-US" sz="1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학생이 채울 자리 — 무엇을 어떻게 적는지 한 문장으로 안내한다.</a:t>
            </a:r>
          </a:p>
        </p:txBody>
      </p:sp>
      <p:sp>
        <p:nvSpPr>
          <p:cNvPr id="23" name="WL23"/>
          <p:cNvSpPr/>
          <p:nvPr/>
        </p:nvSpPr>
        <p:spPr>
          <a:xfrm>
            <a:off x="731520" y="4160520"/>
            <a:ext cx="10725912" cy="0"/>
          </a:xfrm>
          <a:prstGeom prst="line">
            <a:avLst/>
          </a:prstGeom>
          <a:ln w="9525">
            <a:solidFill>
              <a:srgbClr val="DCE0E8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4" name="WN24"/>
          <p:cNvSpPr/>
          <p:nvPr/>
        </p:nvSpPr>
        <p:spPr>
          <a:xfrm>
            <a:off x="731520" y="428853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50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</a:p>
        </p:txBody>
      </p:sp>
      <p:sp>
        <p:nvSpPr>
          <p:cNvPr id="25" name="WH25"/>
          <p:cNvSpPr/>
          <p:nvPr/>
        </p:nvSpPr>
        <p:spPr>
          <a:xfrm>
            <a:off x="1170432" y="428853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대안에 남는 문제</a:t>
            </a:r>
          </a:p>
        </p:txBody>
      </p:sp>
      <p:sp>
        <p:nvSpPr>
          <p:cNvPr id="26" name="WB26"/>
          <p:cNvSpPr/>
          <p:nvPr/>
        </p:nvSpPr>
        <p:spPr>
          <a:xfrm>
            <a:off x="1170432" y="4599432"/>
            <a:ext cx="10287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ko-KR" altLang="en-US" sz="1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학생이 채울 자리 — 무엇을 어떻게 적는지 한 문장으로 안내한다.</a:t>
            </a:r>
          </a:p>
        </p:txBody>
      </p:sp>
      <p:sp>
        <p:nvSpPr>
          <p:cNvPr id="27" name="WL27"/>
          <p:cNvSpPr/>
          <p:nvPr/>
        </p:nvSpPr>
        <p:spPr>
          <a:xfrm>
            <a:off x="731520" y="5166360"/>
            <a:ext cx="10725912" cy="0"/>
          </a:xfrm>
          <a:prstGeom prst="line">
            <a:avLst/>
          </a:prstGeom>
          <a:ln w="9525">
            <a:solidFill>
              <a:srgbClr val="DCE0E8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8" name="WN28"/>
          <p:cNvSpPr/>
          <p:nvPr/>
        </p:nvSpPr>
        <p:spPr>
          <a:xfrm>
            <a:off x="731520" y="529437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50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</a:p>
        </p:txBody>
      </p:sp>
      <p:sp>
        <p:nvSpPr>
          <p:cNvPr id="29" name="WH29"/>
          <p:cNvSpPr/>
          <p:nvPr/>
        </p:nvSpPr>
        <p:spPr>
          <a:xfrm>
            <a:off x="1170432" y="529437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판단을 바꿀 조건</a:t>
            </a:r>
          </a:p>
        </p:txBody>
      </p:sp>
      <p:sp>
        <p:nvSpPr>
          <p:cNvPr id="30" name="WB30"/>
          <p:cNvSpPr/>
          <p:nvPr/>
        </p:nvSpPr>
        <p:spPr>
          <a:xfrm>
            <a:off x="1170432" y="5605272"/>
            <a:ext cx="10287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ko-KR" altLang="en-US" sz="1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학생이 채울 자리 — 무엇을 어떻게 적는지 한 문장으로 안내한다.</a:t>
            </a:r>
          </a:p>
        </p:txBody>
      </p:sp>
      <p:sp>
        <p:nvSpPr>
          <p:cNvPr id="31" name="WL31"/>
          <p:cNvSpPr/>
          <p:nvPr/>
        </p:nvSpPr>
        <p:spPr>
          <a:xfrm>
            <a:off x="731520" y="6172200"/>
            <a:ext cx="10725912" cy="0"/>
          </a:xfrm>
          <a:prstGeom prst="line">
            <a:avLst/>
          </a:prstGeom>
          <a:ln w="9525">
            <a:solidFill>
              <a:srgbClr val="DCE0E8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32" name="FOOT"/>
          <p:cNvSpPr/>
          <p:nvPr/>
        </p:nvSpPr>
        <p:spPr>
          <a:xfrm>
            <a:off x="731520" y="6419088"/>
            <a:ext cx="107259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종합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"/>
          <p:cNvSpPr/>
          <p:nvPr/>
        </p:nvSpPr>
        <p:spPr>
          <a:xfrm>
            <a:off x="1463040" y="2468880"/>
            <a:ext cx="9262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보충 자료</a:t>
            </a:r>
          </a:p>
        </p:txBody>
      </p:sp>
      <p:sp>
        <p:nvSpPr>
          <p:cNvPr id="11" name="L"/>
          <p:cNvSpPr/>
          <p:nvPr/>
        </p:nvSpPr>
        <p:spPr>
          <a:xfrm>
            <a:off x="1463040" y="3474720"/>
            <a:ext cx="1280160" cy="0"/>
          </a:xfrm>
          <a:prstGeom prst="line">
            <a:avLst/>
          </a:prstGeom>
          <a:ln w="19050">
            <a:solidFill>
              <a:srgbClr val="C2A648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2" name="LI"/>
          <p:cNvSpPr/>
          <p:nvPr/>
        </p:nvSpPr>
        <p:spPr>
          <a:xfrm>
            <a:off x="1463040" y="3749040"/>
            <a:ext cx="9262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spcAft>
                <a:spcPts val="800"/>
              </a:spcAft>
              <a:buNone/>
            </a:pPr>
            <a:r>
              <a:rPr lang="ko-KR" altLang="en-US" sz="1400" dirty="0">
                <a:solidFill>
                  <a:srgbClr val="C9D2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구간에 넣을 자료 이름</a:t>
            </a:r>
          </a:p>
          <a:p>
            <a:pPr marL="0" indent="0">
              <a:lnSpc>
                <a:spcPct val="118000"/>
              </a:lnSpc>
              <a:buNone/>
            </a:pPr>
            <a:r>
              <a:rPr lang="ko-KR" altLang="en-US" sz="1400" dirty="0">
                <a:solidFill>
                  <a:srgbClr val="C9D2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번째 자료 이름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KICKER"/>
          <p:cNvSpPr/>
          <p:nvPr/>
        </p:nvSpPr>
        <p:spPr>
          <a:xfrm>
            <a:off x="731520" y="365760"/>
            <a:ext cx="667332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 spc="20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헌법재판소의 판단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37" name="TITLE"/>
          <p:cNvSpPr/>
          <p:nvPr/>
        </p:nvSpPr>
        <p:spPr>
          <a:xfrm>
            <a:off x="731520" y="640080"/>
            <a:ext cx="1097100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위헌법률심판 제청과 위헌심사형 헌법소원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38" name="NEXT"/>
          <p:cNvSpPr/>
          <p:nvPr/>
        </p:nvSpPr>
        <p:spPr>
          <a:xfrm>
            <a:off x="7616880" y="365760"/>
            <a:ext cx="383868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다음 → 생명권 논의의 헌법 조항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39" name="BAND"/>
          <p:cNvSpPr/>
          <p:nvPr/>
        </p:nvSpPr>
        <p:spPr>
          <a:xfrm>
            <a:off x="731520" y="1417320"/>
            <a:ext cx="10696680" cy="54684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40" name="BANDT"/>
          <p:cNvSpPr/>
          <p:nvPr/>
        </p:nvSpPr>
        <p:spPr>
          <a:xfrm>
            <a:off x="1005840" y="1417320"/>
            <a:ext cx="10148040" cy="54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적용 법률의 위헌 여부가 재판 결과에 영향을 줄 때</a:t>
            </a: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lang="zh-CN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재판의 전제성</a:t>
            </a: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), </a:t>
            </a:r>
            <a:r>
              <a:rPr lang="zh-CN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법원 제청 또는 제</a:t>
            </a: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68</a:t>
            </a:r>
            <a:r>
              <a:rPr lang="zh-CN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조 제</a:t>
            </a: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2</a:t>
            </a:r>
            <a:r>
              <a:rPr lang="zh-CN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항 헌법소원으로 다툰다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41" name="ND"/>
          <p:cNvSpPr/>
          <p:nvPr/>
        </p:nvSpPr>
        <p:spPr>
          <a:xfrm>
            <a:off x="731520" y="3246120"/>
            <a:ext cx="2101320" cy="86688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42" name="NT"/>
          <p:cNvSpPr/>
          <p:nvPr/>
        </p:nvSpPr>
        <p:spPr>
          <a:xfrm>
            <a:off x="731520" y="3246120"/>
            <a:ext cx="2101320" cy="86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25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zh-CN" sz="125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진행 중인 재판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0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적용 법률의 위헌 여부 문제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43" name="ND"/>
          <p:cNvSpPr/>
          <p:nvPr/>
        </p:nvSpPr>
        <p:spPr>
          <a:xfrm>
            <a:off x="3429000" y="2487240"/>
            <a:ext cx="2375640" cy="78444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44" name="NT"/>
          <p:cNvSpPr/>
          <p:nvPr/>
        </p:nvSpPr>
        <p:spPr>
          <a:xfrm>
            <a:off x="3429000" y="2487240"/>
            <a:ext cx="2375640" cy="78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법원이 직권으로 제청 결정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위헌이라고 의심할 만한 이유가 있는 경우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45" name="ND"/>
          <p:cNvSpPr/>
          <p:nvPr/>
        </p:nvSpPr>
        <p:spPr>
          <a:xfrm>
            <a:off x="3429000" y="3931920"/>
            <a:ext cx="2375640" cy="82116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46" name="NT"/>
          <p:cNvSpPr/>
          <p:nvPr/>
        </p:nvSpPr>
        <p:spPr>
          <a:xfrm>
            <a:off x="3429000" y="3931920"/>
            <a:ext cx="2375640" cy="82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당사자가 제청신청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법원에 제청을 요청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47" name="ND"/>
          <p:cNvSpPr/>
          <p:nvPr/>
        </p:nvSpPr>
        <p:spPr>
          <a:xfrm>
            <a:off x="6400800" y="3703320"/>
            <a:ext cx="2009880" cy="56520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48" name="NT"/>
          <p:cNvSpPr/>
          <p:nvPr/>
        </p:nvSpPr>
        <p:spPr>
          <a:xfrm>
            <a:off x="6400800" y="3703320"/>
            <a:ext cx="2009880" cy="56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250" b="0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받아들임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49" name="ND"/>
          <p:cNvSpPr/>
          <p:nvPr/>
        </p:nvSpPr>
        <p:spPr>
          <a:xfrm>
            <a:off x="6400800" y="4617720"/>
            <a:ext cx="2009880" cy="56520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50" name="NT"/>
          <p:cNvSpPr/>
          <p:nvPr/>
        </p:nvSpPr>
        <p:spPr>
          <a:xfrm>
            <a:off x="6400800" y="4617720"/>
            <a:ext cx="2009880" cy="56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250" b="0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기각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51" name="ND"/>
          <p:cNvSpPr/>
          <p:nvPr/>
        </p:nvSpPr>
        <p:spPr>
          <a:xfrm>
            <a:off x="9006840" y="2487240"/>
            <a:ext cx="2421360" cy="82116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52" name="NT"/>
          <p:cNvSpPr/>
          <p:nvPr/>
        </p:nvSpPr>
        <p:spPr>
          <a:xfrm>
            <a:off x="9006840" y="2487240"/>
            <a:ext cx="2421360" cy="82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위헌법률심판 제청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lang="zh-CN" sz="110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법원</a:t>
            </a:r>
            <a:r>
              <a:rPr lang="en-US" sz="110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53" name="ND"/>
          <p:cNvSpPr/>
          <p:nvPr/>
        </p:nvSpPr>
        <p:spPr>
          <a:xfrm>
            <a:off x="9006840" y="4590360"/>
            <a:ext cx="2421360" cy="82116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54" name="NT"/>
          <p:cNvSpPr/>
          <p:nvPr/>
        </p:nvSpPr>
        <p:spPr>
          <a:xfrm>
            <a:off x="9006840" y="4590360"/>
            <a:ext cx="2421360" cy="82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헌법소원 청구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lang="zh-CN" sz="110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당사자</a:t>
            </a:r>
            <a:r>
              <a:rPr lang="en-US" sz="110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55" name="L"/>
          <p:cNvSpPr/>
          <p:nvPr/>
        </p:nvSpPr>
        <p:spPr>
          <a:xfrm>
            <a:off x="2834640" y="3675600"/>
            <a:ext cx="29232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56" name="VL"/>
          <p:cNvSpPr/>
          <p:nvPr/>
        </p:nvSpPr>
        <p:spPr>
          <a:xfrm>
            <a:off x="3126960" y="2880360"/>
            <a:ext cx="360" cy="146304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57" name="L"/>
          <p:cNvSpPr/>
          <p:nvPr/>
        </p:nvSpPr>
        <p:spPr>
          <a:xfrm>
            <a:off x="3126960" y="2880360"/>
            <a:ext cx="30204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58" name="L"/>
          <p:cNvSpPr/>
          <p:nvPr/>
        </p:nvSpPr>
        <p:spPr>
          <a:xfrm>
            <a:off x="3126960" y="4343400"/>
            <a:ext cx="30204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59" name="L"/>
          <p:cNvSpPr/>
          <p:nvPr/>
        </p:nvSpPr>
        <p:spPr>
          <a:xfrm>
            <a:off x="5806440" y="2880360"/>
            <a:ext cx="320040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60" name="L"/>
          <p:cNvSpPr/>
          <p:nvPr/>
        </p:nvSpPr>
        <p:spPr>
          <a:xfrm>
            <a:off x="5806440" y="4343400"/>
            <a:ext cx="36576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61" name="VL"/>
          <p:cNvSpPr/>
          <p:nvPr/>
        </p:nvSpPr>
        <p:spPr>
          <a:xfrm>
            <a:off x="6172200" y="3986640"/>
            <a:ext cx="360" cy="91440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62" name="L"/>
          <p:cNvSpPr/>
          <p:nvPr/>
        </p:nvSpPr>
        <p:spPr>
          <a:xfrm>
            <a:off x="6172200" y="3986640"/>
            <a:ext cx="22860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63" name="L"/>
          <p:cNvSpPr/>
          <p:nvPr/>
        </p:nvSpPr>
        <p:spPr>
          <a:xfrm>
            <a:off x="6172200" y="4901040"/>
            <a:ext cx="22860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64" name="L"/>
          <p:cNvSpPr/>
          <p:nvPr/>
        </p:nvSpPr>
        <p:spPr>
          <a:xfrm>
            <a:off x="8412480" y="3986640"/>
            <a:ext cx="27432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65" name="VL"/>
          <p:cNvSpPr/>
          <p:nvPr/>
        </p:nvSpPr>
        <p:spPr>
          <a:xfrm>
            <a:off x="8686800" y="2898360"/>
            <a:ext cx="360" cy="108828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66" name="L"/>
          <p:cNvSpPr/>
          <p:nvPr/>
        </p:nvSpPr>
        <p:spPr>
          <a:xfrm>
            <a:off x="8686800" y="2898360"/>
            <a:ext cx="32004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67" name="L"/>
          <p:cNvSpPr/>
          <p:nvPr/>
        </p:nvSpPr>
        <p:spPr>
          <a:xfrm>
            <a:off x="8412480" y="4901040"/>
            <a:ext cx="59436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68" name="P80"/>
          <p:cNvSpPr/>
          <p:nvPr/>
        </p:nvSpPr>
        <p:spPr>
          <a:xfrm>
            <a:off x="731520" y="5669280"/>
            <a:ext cx="10696680" cy="32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ko-KR" sz="130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재판의 전제성</a:t>
            </a:r>
            <a:r>
              <a:rPr lang="en-US" sz="130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: </a:t>
            </a:r>
            <a:r>
              <a:rPr lang="ko-KR" sz="130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문제된 법률이 그 사건에 적용되고</a:t>
            </a:r>
            <a:r>
              <a:rPr lang="en-US" sz="130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ko-KR" sz="130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그 법률의 위헌 여부에 따라 재판의 주문</a:t>
            </a:r>
            <a:r>
              <a:rPr lang="en-US" sz="130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ko-KR" sz="130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결론 또는 내용과 효력의 법률적 의미가 달라지는 경우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69" name="LBAND"/>
          <p:cNvSpPr/>
          <p:nvPr/>
        </p:nvSpPr>
        <p:spPr>
          <a:xfrm>
            <a:off x="731520" y="6016680"/>
            <a:ext cx="10696680" cy="65664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70" name="P81"/>
          <p:cNvSpPr/>
          <p:nvPr/>
        </p:nvSpPr>
        <p:spPr>
          <a:xfrm>
            <a:off x="1005840" y="6016680"/>
            <a:ext cx="10148040" cy="65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ko-KR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어느 심급에서든 가능</a:t>
            </a:r>
            <a:r>
              <a:rPr lang="en-US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: </a:t>
            </a:r>
            <a:r>
              <a:rPr lang="ko-KR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제</a:t>
            </a:r>
            <a:r>
              <a:rPr lang="en-US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1</a:t>
            </a:r>
            <a:r>
              <a:rPr lang="ko-KR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심</a:t>
            </a:r>
            <a:r>
              <a:rPr lang="en-US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ko-KR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항소심</a:t>
            </a:r>
            <a:r>
              <a:rPr lang="en-US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ko-KR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상고심에서 그 재판에 적용되는 법률의 위헌 여부가 전제가 되면 제청할 수 있다</a:t>
            </a:r>
            <a:r>
              <a:rPr lang="en-US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ko-KR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법원 제청은 헌가</a:t>
            </a:r>
            <a:r>
              <a:rPr lang="en-US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ko-KR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제청신청 기각 뒤 제</a:t>
            </a:r>
            <a:r>
              <a:rPr lang="en-US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68</a:t>
            </a:r>
            <a:r>
              <a:rPr lang="ko-KR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조 제</a:t>
            </a:r>
            <a:r>
              <a:rPr lang="en-US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2</a:t>
            </a:r>
            <a:r>
              <a:rPr lang="ko-KR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항 헌법소원은 헌바 사건번호를 사용한다</a:t>
            </a:r>
            <a:r>
              <a:rPr lang="en-US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KICKER"/>
          <p:cNvSpPr/>
          <p:nvPr/>
        </p:nvSpPr>
        <p:spPr>
          <a:xfrm>
            <a:off x="731520" y="365760"/>
            <a:ext cx="667332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 spc="20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한국 사형제의 형성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59" name="TITLE"/>
          <p:cNvSpPr/>
          <p:nvPr/>
        </p:nvSpPr>
        <p:spPr>
          <a:xfrm>
            <a:off x="731520" y="640080"/>
            <a:ext cx="1097100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조선의 사형절차와 삼복제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60" name="NEXT"/>
          <p:cNvSpPr/>
          <p:nvPr/>
        </p:nvSpPr>
        <p:spPr>
          <a:xfrm>
            <a:off x="7616880" y="365760"/>
            <a:ext cx="383868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다음 → 현행법에 남아 있는 사형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61" name="BAND"/>
          <p:cNvSpPr/>
          <p:nvPr/>
        </p:nvSpPr>
        <p:spPr>
          <a:xfrm>
            <a:off x="731520" y="1417320"/>
            <a:ext cx="10696680" cy="83952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62" name="BANDT"/>
          <p:cNvSpPr/>
          <p:nvPr/>
        </p:nvSpPr>
        <p:spPr>
          <a:xfrm>
            <a:off x="1005840" y="1417320"/>
            <a:ext cx="10148040" cy="83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사형에 해당하는 사건은 한 번의 심리로 끝내지 않았다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— 초복 · </a:t>
            </a:r>
            <a:r>
              <a:rPr lang="zh-CN" sz="130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재복 </a:t>
            </a:r>
            <a:r>
              <a:rPr lang="en-US" sz="130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lang="zh-CN" sz="130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삼복으로 거듭 조사한 뒤 국왕에게 보고해 처결하는 구조였다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63" name="L"/>
          <p:cNvSpPr/>
          <p:nvPr/>
        </p:nvSpPr>
        <p:spPr>
          <a:xfrm>
            <a:off x="731520" y="224028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64" name="R"/>
          <p:cNvSpPr/>
          <p:nvPr/>
        </p:nvSpPr>
        <p:spPr>
          <a:xfrm>
            <a:off x="731520" y="2519280"/>
            <a:ext cx="2009880" cy="56520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65" name="T"/>
          <p:cNvSpPr/>
          <p:nvPr/>
        </p:nvSpPr>
        <p:spPr>
          <a:xfrm>
            <a:off x="731520" y="2519280"/>
            <a:ext cx="2009880" cy="56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초복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66" name="R"/>
          <p:cNvSpPr/>
          <p:nvPr/>
        </p:nvSpPr>
        <p:spPr>
          <a:xfrm>
            <a:off x="3337560" y="2519280"/>
            <a:ext cx="2009880" cy="56520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67" name="T"/>
          <p:cNvSpPr/>
          <p:nvPr/>
        </p:nvSpPr>
        <p:spPr>
          <a:xfrm>
            <a:off x="3337560" y="2519280"/>
            <a:ext cx="2009880" cy="56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재복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68" name="R"/>
          <p:cNvSpPr/>
          <p:nvPr/>
        </p:nvSpPr>
        <p:spPr>
          <a:xfrm>
            <a:off x="5943600" y="2519280"/>
            <a:ext cx="2009880" cy="56520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69" name="T"/>
          <p:cNvSpPr/>
          <p:nvPr/>
        </p:nvSpPr>
        <p:spPr>
          <a:xfrm>
            <a:off x="5943600" y="2519280"/>
            <a:ext cx="2009880" cy="56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삼복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70" name="R"/>
          <p:cNvSpPr/>
          <p:nvPr/>
        </p:nvSpPr>
        <p:spPr>
          <a:xfrm>
            <a:off x="8549640" y="2519280"/>
            <a:ext cx="2878560" cy="56520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71" name="T"/>
          <p:cNvSpPr/>
          <p:nvPr/>
        </p:nvSpPr>
        <p:spPr>
          <a:xfrm>
            <a:off x="8549640" y="2519280"/>
            <a:ext cx="2878560" cy="56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국왕에게 보고 </a:t>
            </a: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lang="zh-CN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처결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72" name="ARR"/>
          <p:cNvSpPr/>
          <p:nvPr/>
        </p:nvSpPr>
        <p:spPr>
          <a:xfrm>
            <a:off x="2834640" y="2519280"/>
            <a:ext cx="455400" cy="56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→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73" name="ARR"/>
          <p:cNvSpPr/>
          <p:nvPr/>
        </p:nvSpPr>
        <p:spPr>
          <a:xfrm>
            <a:off x="5440680" y="2519280"/>
            <a:ext cx="455400" cy="56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→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74" name="ARR"/>
          <p:cNvSpPr/>
          <p:nvPr/>
        </p:nvSpPr>
        <p:spPr>
          <a:xfrm>
            <a:off x="8046720" y="2519280"/>
            <a:ext cx="455400" cy="56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→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75" name="L"/>
          <p:cNvSpPr/>
          <p:nvPr/>
        </p:nvSpPr>
        <p:spPr>
          <a:xfrm>
            <a:off x="731520" y="340128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76" name="RL"/>
          <p:cNvSpPr/>
          <p:nvPr/>
        </p:nvSpPr>
        <p:spPr>
          <a:xfrm>
            <a:off x="960120" y="4047490"/>
            <a:ext cx="1918440" cy="38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삼심제와의 차이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77" name="RT"/>
          <p:cNvSpPr/>
          <p:nvPr/>
        </p:nvSpPr>
        <p:spPr>
          <a:xfrm>
            <a:off x="2720340" y="3977640"/>
            <a:ext cx="8593560" cy="54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4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오늘날 삼심제와 같은 상급심 제도는 아니지만</a:t>
            </a:r>
            <a:r>
              <a:rPr lang="en-US" sz="14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4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사형사건을 한 번의 심리로 끝내지 않고 거듭 살핀 절차였다</a:t>
            </a:r>
            <a:r>
              <a:rPr lang="en-US" sz="14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 </a:t>
            </a: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altLang="en-US" sz="14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이는</a:t>
            </a:r>
            <a:r>
              <a:rPr lang="zh-CN" sz="14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lang="zh-CN" sz="14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인명을 중히 여겨 사형의 판단을 신중히 하려는 취지에서 비롯한 것으로 </a:t>
            </a:r>
            <a:r>
              <a:rPr lang="ko-KR" altLang="en-US" sz="14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전해진</a:t>
            </a:r>
            <a:r>
              <a:rPr lang="zh-CN" sz="14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</a:t>
            </a:r>
            <a:r>
              <a:rPr lang="en-US" sz="14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78" name="L"/>
          <p:cNvSpPr/>
          <p:nvPr/>
        </p:nvSpPr>
        <p:spPr>
          <a:xfrm>
            <a:off x="731520" y="513864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79" name="GBAND"/>
          <p:cNvSpPr/>
          <p:nvPr/>
        </p:nvSpPr>
        <p:spPr>
          <a:xfrm>
            <a:off x="731520" y="5565060"/>
            <a:ext cx="106966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25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사형사건을 거듭 심리한 뒤 국왕의 최종 판단을 받도록 한 절차가 법제화되어 있었다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80" name="NOTE"/>
          <p:cNvSpPr/>
          <p:nvPr/>
        </p:nvSpPr>
        <p:spPr>
          <a:xfrm>
            <a:off x="731520" y="6355080"/>
            <a:ext cx="1069668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한국민족문화대백과 「삼복제」 </a:t>
            </a:r>
            <a:r>
              <a:rPr lang="en-US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lang="zh-CN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성종실록 </a:t>
            </a:r>
            <a:r>
              <a:rPr lang="en-US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85</a:t>
            </a:r>
            <a:r>
              <a:rPr lang="zh-CN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권</a:t>
            </a:r>
            <a:r>
              <a:rPr lang="en-US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성종 </a:t>
            </a:r>
            <a:r>
              <a:rPr lang="en-US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8</a:t>
            </a:r>
            <a:r>
              <a:rPr lang="zh-CN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년</a:t>
            </a:r>
            <a:r>
              <a:rPr lang="en-US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(1477) 10</a:t>
            </a:r>
            <a:r>
              <a:rPr lang="zh-CN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월 </a:t>
            </a:r>
            <a:r>
              <a:rPr lang="en-US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17</a:t>
            </a:r>
            <a:r>
              <a:rPr lang="zh-CN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일 제</a:t>
            </a:r>
            <a:r>
              <a:rPr lang="en-US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3</a:t>
            </a:r>
            <a:r>
              <a:rPr lang="zh-CN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기사</a:t>
            </a:r>
            <a:r>
              <a:rPr lang="en-US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lang="zh-CN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삼복하여 아뢰는 사례</a:t>
            </a:r>
            <a:r>
              <a:rPr lang="en-US" sz="110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)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KICKER"/>
          <p:cNvSpPr/>
          <p:nvPr/>
        </p:nvSpPr>
        <p:spPr>
          <a:xfrm>
            <a:off x="731520" y="365760"/>
            <a:ext cx="667332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 spc="20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국제 현황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78" name="TITLE"/>
          <p:cNvSpPr/>
          <p:nvPr/>
        </p:nvSpPr>
        <p:spPr>
          <a:xfrm>
            <a:off x="731520" y="640080"/>
            <a:ext cx="1097100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장기 미집행에서 법률상 폐지로 — 레바논 </a:t>
            </a:r>
            <a:r>
              <a:rPr lang="en-US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2026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79" name="NEXT"/>
          <p:cNvSpPr/>
          <p:nvPr/>
        </p:nvSpPr>
        <p:spPr>
          <a:xfrm>
            <a:off x="7616880" y="365760"/>
            <a:ext cx="383868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다음 → 레바논의 형 감경 제도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80" name="BAND"/>
          <p:cNvSpPr/>
          <p:nvPr/>
        </p:nvSpPr>
        <p:spPr>
          <a:xfrm>
            <a:off x="731520" y="1417320"/>
            <a:ext cx="10696680" cy="54684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81" name="BANDT"/>
          <p:cNvSpPr/>
          <p:nvPr/>
        </p:nvSpPr>
        <p:spPr>
          <a:xfrm>
            <a:off x="1005840" y="1417320"/>
            <a:ext cx="10148040" cy="54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ko-KR" altLang="en-US" sz="1300" b="1" dirty="0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레바논은 </a:t>
            </a:r>
            <a:r>
              <a:rPr lang="en-US" altLang="ko-KR" sz="1300" b="1" dirty="0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2026</a:t>
            </a:r>
            <a:r>
              <a:rPr lang="ko-KR" altLang="en-US" sz="1300" b="1" dirty="0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년 사형을 법에서 없애고</a:t>
            </a:r>
            <a:r>
              <a:rPr lang="en-US" altLang="ko-KR" sz="1300" b="1" dirty="0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300" b="1" dirty="0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범죄 시점에 따라 서로 다른 종신형을 대체형벌로 두었다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82" name="L"/>
          <p:cNvSpPr/>
          <p:nvPr/>
        </p:nvSpPr>
        <p:spPr>
          <a:xfrm>
            <a:off x="731520" y="224028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83" name="TICK"/>
          <p:cNvSpPr/>
          <p:nvPr/>
        </p:nvSpPr>
        <p:spPr>
          <a:xfrm>
            <a:off x="731520" y="2470320"/>
            <a:ext cx="71280" cy="309240"/>
          </a:xfrm>
          <a:prstGeom prst="rect">
            <a:avLst/>
          </a:prstGeom>
          <a:solidFill>
            <a:srgbClr val="C2A64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84" name="H"/>
          <p:cNvSpPr/>
          <p:nvPr/>
        </p:nvSpPr>
        <p:spPr>
          <a:xfrm>
            <a:off x="1005840" y="2415600"/>
            <a:ext cx="10422360" cy="38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2004</a:t>
            </a:r>
            <a:r>
              <a:rPr lang="zh-CN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년 이후 미집행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85" name="X"/>
          <p:cNvSpPr/>
          <p:nvPr/>
        </p:nvSpPr>
        <p:spPr>
          <a:xfrm>
            <a:off x="1005840" y="2817720"/>
            <a:ext cx="105765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마지막 집행은 </a:t>
            </a:r>
            <a:r>
              <a:rPr lang="en-US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2004</a:t>
            </a:r>
            <a:r>
              <a:rPr lang="zh-CN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년 </a:t>
            </a:r>
            <a:r>
              <a:rPr lang="en-US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1</a:t>
            </a:r>
            <a:r>
              <a:rPr lang="zh-CN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월</a:t>
            </a:r>
            <a:r>
              <a:rPr lang="en-US" altLang="zh-CN" sz="120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.</a:t>
            </a:r>
            <a:r>
              <a:rPr lang="ko-KR" altLang="en-US" sz="120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 그러나 </a:t>
            </a:r>
            <a:r>
              <a:rPr lang="en-US" altLang="ko-KR" sz="120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Amnesty</a:t>
            </a:r>
            <a:r>
              <a:rPr lang="ko-KR" altLang="en-US" sz="120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는 </a:t>
            </a:r>
            <a:r>
              <a:rPr lang="en-US" altLang="ko-KR" sz="120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2025</a:t>
            </a:r>
            <a:r>
              <a:rPr lang="ko-KR" altLang="en-US" sz="120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년 말까지 레바논을 존치국으로 분류했다 </a:t>
            </a:r>
            <a:r>
              <a:rPr lang="en-US" altLang="ko-KR" sz="120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— </a:t>
            </a:r>
            <a:r>
              <a:rPr lang="ko-KR" altLang="en-US" sz="120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미집행</a:t>
            </a:r>
            <a:r>
              <a:rPr lang="ko-KR" altLang="en-US" sz="120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 기간뿐 아니라 집행하지 않는 정책</a:t>
            </a:r>
            <a:r>
              <a:rPr lang="en-US" altLang="ko-KR" sz="120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120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확립된 관행까지 분류에 고려한다</a:t>
            </a:r>
            <a:r>
              <a:rPr lang="en-US" altLang="ko-KR" sz="120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.</a:t>
            </a:r>
            <a:r>
              <a:rPr lang="en-US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 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86" name="L"/>
          <p:cNvSpPr/>
          <p:nvPr/>
        </p:nvSpPr>
        <p:spPr>
          <a:xfrm>
            <a:off x="731520" y="332820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87" name="TICK"/>
          <p:cNvSpPr/>
          <p:nvPr/>
        </p:nvSpPr>
        <p:spPr>
          <a:xfrm>
            <a:off x="731520" y="3456360"/>
            <a:ext cx="71280" cy="309240"/>
          </a:xfrm>
          <a:prstGeom prst="rect">
            <a:avLst/>
          </a:prstGeom>
          <a:solidFill>
            <a:srgbClr val="C2A64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88" name="H"/>
          <p:cNvSpPr/>
          <p:nvPr/>
        </p:nvSpPr>
        <p:spPr>
          <a:xfrm>
            <a:off x="1005840" y="3401640"/>
            <a:ext cx="10422360" cy="38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2026. 8. 20. </a:t>
            </a:r>
            <a:r>
              <a:rPr lang="zh-CN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법률상 폐지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89" name="X"/>
          <p:cNvSpPr/>
          <p:nvPr/>
        </p:nvSpPr>
        <p:spPr>
          <a:xfrm>
            <a:off x="1005840" y="3803760"/>
            <a:ext cx="104223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의회 가결</a:t>
            </a:r>
            <a:r>
              <a:rPr lang="en-US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(8. 11.) → </a:t>
            </a:r>
            <a:r>
              <a:rPr lang="zh-CN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관보</a:t>
            </a:r>
            <a:r>
              <a:rPr lang="en-US" altLang="zh-CN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정부의 공식 </a:t>
            </a:r>
            <a:r>
              <a:rPr lang="ko-KR" altLang="en-US" sz="1200" b="0" u="none" strike="noStrike" dirty="0" err="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공고물</a:t>
            </a:r>
            <a:r>
              <a:rPr lang="en-US" altLang="ko-KR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)</a:t>
            </a:r>
            <a:r>
              <a:rPr lang="zh-CN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게재</a:t>
            </a:r>
            <a:r>
              <a:rPr lang="en-US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zh-CN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시행</a:t>
            </a:r>
            <a:r>
              <a:rPr lang="en-US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(8. 20.) · </a:t>
            </a:r>
            <a:r>
              <a:rPr lang="zh-CN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법률 제</a:t>
            </a:r>
            <a:r>
              <a:rPr lang="en-US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68</a:t>
            </a:r>
            <a:r>
              <a:rPr lang="zh-CN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호 제</a:t>
            </a:r>
            <a:r>
              <a:rPr lang="en-US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6</a:t>
            </a:r>
            <a:r>
              <a:rPr lang="zh-CN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조는 관보 게재일부터 시행하도록 정했다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90" name="L"/>
          <p:cNvSpPr/>
          <p:nvPr/>
        </p:nvSpPr>
        <p:spPr>
          <a:xfrm>
            <a:off x="731520" y="424260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91" name="TICK"/>
          <p:cNvSpPr/>
          <p:nvPr/>
        </p:nvSpPr>
        <p:spPr>
          <a:xfrm>
            <a:off x="731520" y="4370760"/>
            <a:ext cx="71280" cy="309240"/>
          </a:xfrm>
          <a:prstGeom prst="rect">
            <a:avLst/>
          </a:prstGeom>
          <a:solidFill>
            <a:srgbClr val="C2A64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92" name="H"/>
          <p:cNvSpPr/>
          <p:nvPr/>
        </p:nvSpPr>
        <p:spPr>
          <a:xfrm>
            <a:off x="1005840" y="4316040"/>
            <a:ext cx="10422360" cy="38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대체형벌</a:t>
            </a:r>
            <a:r>
              <a:rPr lang="en-US" altLang="zh-CN" sz="14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4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설계</a:t>
            </a:r>
            <a:r>
              <a:rPr lang="zh-CN" sz="14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 — 시행시점에 따라 달리 적용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93" name="X"/>
          <p:cNvSpPr/>
          <p:nvPr/>
        </p:nvSpPr>
        <p:spPr>
          <a:xfrm>
            <a:off x="1005840" y="4718160"/>
            <a:ext cx="104223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시행 전 범죄</a:t>
            </a:r>
            <a:r>
              <a:rPr lang="en-US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zh-CN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기존 미집행 사형은 종신 중노동형</a:t>
            </a:r>
            <a:r>
              <a:rPr lang="en-US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20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시행 후 범죄는 가중된 종신 중노동형으로 대체한다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94" name="L"/>
          <p:cNvSpPr/>
          <p:nvPr/>
        </p:nvSpPr>
        <p:spPr>
          <a:xfrm>
            <a:off x="731520" y="515700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95" name="TICK"/>
          <p:cNvSpPr/>
          <p:nvPr/>
        </p:nvSpPr>
        <p:spPr>
          <a:xfrm>
            <a:off x="731520" y="5285160"/>
            <a:ext cx="71280" cy="309240"/>
          </a:xfrm>
          <a:prstGeom prst="rect">
            <a:avLst/>
          </a:prstGeom>
          <a:solidFill>
            <a:srgbClr val="C2A64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96" name="H"/>
          <p:cNvSpPr/>
          <p:nvPr/>
        </p:nvSpPr>
        <p:spPr>
          <a:xfrm>
            <a:off x="1005840" y="5230440"/>
            <a:ext cx="10422360" cy="38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무엇이 ‘가중’되었나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97" name="X"/>
          <p:cNvSpPr/>
          <p:nvPr/>
        </p:nvSpPr>
        <p:spPr>
          <a:xfrm>
            <a:off x="1005840" y="5632560"/>
            <a:ext cx="104223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ko-KR" altLang="en-US" sz="120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노동강도나 </a:t>
            </a:r>
            <a:r>
              <a:rPr lang="ko-KR" altLang="en-US" sz="120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최소복역기간을</a:t>
            </a:r>
            <a:r>
              <a:rPr lang="ko-KR" altLang="en-US" sz="120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 새로 정한 것이 아니라</a:t>
            </a:r>
            <a:r>
              <a:rPr lang="en-US" altLang="ko-KR" sz="120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20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가중된 종신 노동형의 </a:t>
            </a:r>
            <a:r>
              <a:rPr lang="ko-KR" altLang="en-US" sz="120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감경을</a:t>
            </a:r>
            <a:r>
              <a:rPr lang="ko-KR" altLang="en-US" sz="120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 법률 제</a:t>
            </a:r>
            <a:r>
              <a:rPr lang="en-US" altLang="ko-KR" sz="120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463/2002</a:t>
            </a:r>
            <a:r>
              <a:rPr lang="ko-KR" altLang="en-US" sz="120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호에 따른 절차로 제한한 것이 핵심이다</a:t>
            </a:r>
            <a:r>
              <a:rPr lang="en-US" altLang="ko-KR" sz="120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98" name="L"/>
          <p:cNvSpPr/>
          <p:nvPr/>
        </p:nvSpPr>
        <p:spPr>
          <a:xfrm>
            <a:off x="731520" y="607140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99" name="GBAND"/>
          <p:cNvSpPr/>
          <p:nvPr/>
        </p:nvSpPr>
        <p:spPr>
          <a:xfrm>
            <a:off x="731520" y="6166440"/>
            <a:ext cx="10696680" cy="38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ko-KR" altLang="en-US" sz="1250" b="1" dirty="0">
                <a:solidFill>
                  <a:srgbClr val="A8871C"/>
                </a:solidFill>
                <a:latin typeface="Pretendard"/>
                <a:ea typeface="Pretendard"/>
                <a:cs typeface="Pretendard"/>
              </a:rPr>
              <a:t>사형을 법에서 없애는 순간</a:t>
            </a:r>
            <a:r>
              <a:rPr lang="en-US" altLang="ko-KR" sz="1250" b="1" dirty="0">
                <a:solidFill>
                  <a:srgbClr val="A8871C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250" b="1" dirty="0">
                <a:solidFill>
                  <a:srgbClr val="A8871C"/>
                </a:solidFill>
                <a:latin typeface="Pretendard"/>
                <a:ea typeface="Pretendard"/>
                <a:cs typeface="Pretendard"/>
              </a:rPr>
              <a:t>무엇을 최고형으로 </a:t>
            </a:r>
            <a:r>
              <a:rPr lang="ko-KR" altLang="en-US" sz="1250" b="1" dirty="0" err="1">
                <a:solidFill>
                  <a:srgbClr val="A8871C"/>
                </a:solidFill>
                <a:latin typeface="Pretendard"/>
                <a:ea typeface="Pretendard"/>
                <a:cs typeface="Pretendard"/>
              </a:rPr>
              <a:t>둘지와</a:t>
            </a:r>
            <a:r>
              <a:rPr lang="ko-KR" altLang="en-US" sz="1250" b="1" dirty="0">
                <a:solidFill>
                  <a:srgbClr val="A8871C"/>
                </a:solidFill>
                <a:latin typeface="Pretendard"/>
                <a:ea typeface="Pretendard"/>
                <a:cs typeface="Pretendard"/>
              </a:rPr>
              <a:t> 그 형을 어떻게 집행</a:t>
            </a:r>
            <a:r>
              <a:rPr lang="en-US" altLang="ko-KR" sz="1250" b="1" dirty="0">
                <a:solidFill>
                  <a:srgbClr val="A8871C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1250" b="1" dirty="0">
                <a:solidFill>
                  <a:srgbClr val="A8871C"/>
                </a:solidFill>
                <a:latin typeface="Pretendard"/>
                <a:ea typeface="Pretendard"/>
                <a:cs typeface="Pretendard"/>
              </a:rPr>
              <a:t>감경할지도 함께 결정해야 한다</a:t>
            </a:r>
            <a:r>
              <a:rPr lang="en-US" altLang="ko-KR" sz="1250" b="1" dirty="0">
                <a:solidFill>
                  <a:srgbClr val="A8871C"/>
                </a:solidFill>
                <a:latin typeface="Pretendard"/>
                <a:ea typeface="Pretendard"/>
                <a:cs typeface="Pretendard"/>
              </a:rPr>
              <a:t>.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TextBox 1"/>
          <p:cNvSpPr/>
          <p:nvPr/>
        </p:nvSpPr>
        <p:spPr>
          <a:xfrm>
            <a:off x="731520" y="329040"/>
            <a:ext cx="3682088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300" b="1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헌법재판소의 판단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34" name="TextBox 2"/>
          <p:cNvSpPr/>
          <p:nvPr/>
        </p:nvSpPr>
        <p:spPr>
          <a:xfrm>
            <a:off x="731520" y="658440"/>
            <a:ext cx="8417977" cy="43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en-US" sz="275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2022 </a:t>
            </a:r>
            <a:r>
              <a:rPr lang="ko-KR" sz="275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공개변론 </a:t>
            </a:r>
            <a:endParaRPr lang="en-US" sz="27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35" name="TextBox 3"/>
          <p:cNvSpPr/>
          <p:nvPr/>
        </p:nvSpPr>
        <p:spPr>
          <a:xfrm>
            <a:off x="9194729" y="438840"/>
            <a:ext cx="2235011" cy="31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r" defTabSz="914400">
              <a:lnSpc>
                <a:spcPct val="118000"/>
              </a:lnSpc>
            </a:pPr>
            <a:r>
              <a:rPr lang="ko-KR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다음 → 참고인의 의견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cxnSp>
        <p:nvCxnSpPr>
          <p:cNvPr id="536" name="Connector 4"/>
          <p:cNvCxnSpPr/>
          <p:nvPr/>
        </p:nvCxnSpPr>
        <p:spPr>
          <a:xfrm>
            <a:off x="731520" y="1216080"/>
            <a:ext cx="10727224" cy="1440"/>
          </a:xfrm>
          <a:prstGeom prst="straightConnector1">
            <a:avLst/>
          </a:prstGeom>
          <a:ln w="0">
            <a:solidFill>
              <a:srgbClr val="F2F4F8"/>
            </a:solidFill>
          </a:ln>
        </p:spPr>
      </p:cxnSp>
      <p:sp>
        <p:nvSpPr>
          <p:cNvPr id="537" name="TextBox 5"/>
          <p:cNvSpPr/>
          <p:nvPr/>
        </p:nvSpPr>
        <p:spPr>
          <a:xfrm>
            <a:off x="889314" y="1337760"/>
            <a:ext cx="10347414" cy="30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ctr">
              <a:lnSpc>
                <a:spcPct val="118000"/>
              </a:lnSpc>
            </a:pPr>
            <a:r>
              <a:rPr lang="en-US" altLang="ko-KR" sz="1300" b="1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2019</a:t>
            </a:r>
            <a:r>
              <a:rPr lang="ko-KR" altLang="en-US" sz="1300" b="1" dirty="0" err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헌바</a:t>
            </a:r>
            <a:r>
              <a:rPr lang="en-US" altLang="ko-KR" sz="1300" b="1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59 · 2022. 7. 14. </a:t>
            </a:r>
            <a:r>
              <a:rPr lang="ko-KR" altLang="en-US" sz="1300" b="1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공개변론 </a:t>
            </a:r>
            <a:r>
              <a:rPr lang="ko-KR" altLang="en-US" sz="1300" b="1" dirty="0" err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ㅡ</a:t>
            </a:r>
            <a:r>
              <a:rPr lang="ko-KR" altLang="en-US" sz="1300" b="1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 당사자 측의 주요 논거</a:t>
            </a:r>
          </a:p>
        </p:txBody>
      </p:sp>
      <p:sp>
        <p:nvSpPr>
          <p:cNvPr id="538" name="TextBox 6"/>
          <p:cNvSpPr/>
          <p:nvPr/>
        </p:nvSpPr>
        <p:spPr>
          <a:xfrm>
            <a:off x="819222" y="1783080"/>
            <a:ext cx="5195114" cy="291240"/>
          </a:xfrm>
          <a:prstGeom prst="rect">
            <a:avLst/>
          </a:prstGeom>
          <a:solidFill>
            <a:srgbClr val="F2F4F8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r>
              <a:rPr lang="ko-KR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이해관계인</a:t>
            </a: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lang="ko-KR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법무부장관</a:t>
            </a: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) </a:t>
            </a:r>
            <a:r>
              <a:rPr lang="ko-KR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측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39" name="TextBox 7"/>
          <p:cNvSpPr/>
          <p:nvPr/>
        </p:nvSpPr>
        <p:spPr>
          <a:xfrm>
            <a:off x="6234971" y="1783080"/>
            <a:ext cx="5195114" cy="291240"/>
          </a:xfrm>
          <a:prstGeom prst="rect">
            <a:avLst/>
          </a:prstGeom>
          <a:solidFill>
            <a:srgbClr val="F2F4F8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r>
              <a:rPr lang="ko-KR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청구인 측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40" name="Rounded Rectangle 8"/>
          <p:cNvSpPr/>
          <p:nvPr/>
        </p:nvSpPr>
        <p:spPr>
          <a:xfrm>
            <a:off x="819222" y="2167200"/>
            <a:ext cx="5195114" cy="570240"/>
          </a:xfrm>
          <a:prstGeom prst="rect">
            <a:avLst/>
          </a:prstGeom>
          <a:solidFill>
            <a:srgbClr val="FFFFFF"/>
          </a:solidFill>
          <a:ln w="8890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41" name="TextBox 9"/>
          <p:cNvSpPr/>
          <p:nvPr/>
        </p:nvSpPr>
        <p:spPr>
          <a:xfrm>
            <a:off x="889314" y="2240280"/>
            <a:ext cx="5054585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헌법적 근거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42" name="TextBox 10"/>
          <p:cNvSpPr/>
          <p:nvPr/>
        </p:nvSpPr>
        <p:spPr>
          <a:xfrm>
            <a:off x="889314" y="2551320"/>
            <a:ext cx="5054585" cy="13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헌법 제</a:t>
            </a:r>
            <a:r>
              <a:rPr lang="en-US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110</a:t>
            </a:r>
            <a:r>
              <a:rPr lang="ko-KR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조 제</a:t>
            </a:r>
            <a:r>
              <a:rPr lang="en-US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4</a:t>
            </a:r>
            <a:r>
              <a:rPr lang="ko-KR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항이 사형의 존재를 간접적으로 인정한다고 본다</a:t>
            </a:r>
            <a:r>
              <a:rPr lang="en-US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43" name="Rounded Rectangle 11"/>
          <p:cNvSpPr/>
          <p:nvPr/>
        </p:nvSpPr>
        <p:spPr>
          <a:xfrm>
            <a:off x="819222" y="2811960"/>
            <a:ext cx="5195114" cy="570240"/>
          </a:xfrm>
          <a:prstGeom prst="rect">
            <a:avLst/>
          </a:prstGeom>
          <a:solidFill>
            <a:srgbClr val="FFFFFF"/>
          </a:solidFill>
          <a:ln w="8890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44" name="TextBox 12"/>
          <p:cNvSpPr/>
          <p:nvPr/>
        </p:nvSpPr>
        <p:spPr>
          <a:xfrm>
            <a:off x="889314" y="2885040"/>
            <a:ext cx="5054585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응보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45" name="TextBox 13"/>
          <p:cNvSpPr/>
          <p:nvPr/>
        </p:nvSpPr>
        <p:spPr>
          <a:xfrm>
            <a:off x="889314" y="3195720"/>
            <a:ext cx="5054585" cy="13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극히 중대한 범죄에는 책임에 상응하는 최고형이 필요하다고 본다</a:t>
            </a:r>
            <a:r>
              <a:rPr lang="en-US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46" name="Rounded Rectangle 14"/>
          <p:cNvSpPr/>
          <p:nvPr/>
        </p:nvSpPr>
        <p:spPr>
          <a:xfrm>
            <a:off x="819222" y="3456360"/>
            <a:ext cx="5195114" cy="570240"/>
          </a:xfrm>
          <a:prstGeom prst="rect">
            <a:avLst/>
          </a:prstGeom>
          <a:solidFill>
            <a:srgbClr val="FFFFFF"/>
          </a:solidFill>
          <a:ln w="8890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47" name="TextBox 15"/>
          <p:cNvSpPr/>
          <p:nvPr/>
        </p:nvSpPr>
        <p:spPr>
          <a:xfrm>
            <a:off x="889314" y="3529440"/>
            <a:ext cx="5054585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억제효과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48" name="TextBox 16"/>
          <p:cNvSpPr/>
          <p:nvPr/>
        </p:nvSpPr>
        <p:spPr>
          <a:xfrm>
            <a:off x="889314" y="3840480"/>
            <a:ext cx="5054585" cy="13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사형의 범죄 억제 기능을 중시한다</a:t>
            </a:r>
            <a:r>
              <a:rPr lang="en-US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49" name="Rounded Rectangle 17"/>
          <p:cNvSpPr/>
          <p:nvPr/>
        </p:nvSpPr>
        <p:spPr>
          <a:xfrm>
            <a:off x="819222" y="4101120"/>
            <a:ext cx="5195114" cy="570240"/>
          </a:xfrm>
          <a:prstGeom prst="rect">
            <a:avLst/>
          </a:prstGeom>
          <a:solidFill>
            <a:srgbClr val="FFFFFF"/>
          </a:solidFill>
          <a:ln w="8890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50" name="TextBox 18"/>
          <p:cNvSpPr/>
          <p:nvPr/>
        </p:nvSpPr>
        <p:spPr>
          <a:xfrm>
            <a:off x="889314" y="4174200"/>
            <a:ext cx="5054585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국제 비교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51" name="TextBox 19"/>
          <p:cNvSpPr/>
          <p:nvPr/>
        </p:nvSpPr>
        <p:spPr>
          <a:xfrm>
            <a:off x="889314" y="4485240"/>
            <a:ext cx="5054585" cy="13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미국</a:t>
            </a:r>
            <a:r>
              <a:rPr lang="en-US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ko-KR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일본 등도 사형을 두므로 존치 자체가 후진성을 뜻하지는 않는다고 본다</a:t>
            </a:r>
            <a:r>
              <a:rPr lang="en-US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52" name="Rounded Rectangle 20"/>
          <p:cNvSpPr/>
          <p:nvPr/>
        </p:nvSpPr>
        <p:spPr>
          <a:xfrm>
            <a:off x="819222" y="4745880"/>
            <a:ext cx="5195114" cy="570240"/>
          </a:xfrm>
          <a:prstGeom prst="rect">
            <a:avLst/>
          </a:prstGeom>
          <a:solidFill>
            <a:srgbClr val="FFFFFF"/>
          </a:solidFill>
          <a:ln w="8890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53" name="TextBox 21"/>
          <p:cNvSpPr/>
          <p:nvPr/>
        </p:nvSpPr>
        <p:spPr>
          <a:xfrm>
            <a:off x="889314" y="4818960"/>
            <a:ext cx="5054585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대체형벌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54" name="TextBox 22"/>
          <p:cNvSpPr/>
          <p:nvPr/>
        </p:nvSpPr>
        <p:spPr>
          <a:xfrm>
            <a:off x="889314" y="5129640"/>
            <a:ext cx="5054585" cy="13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가석방 없는 종신형만으로 사형을 대체하기 어렵다고 본다</a:t>
            </a:r>
            <a:r>
              <a:rPr lang="en-US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55" name="Rounded Rectangle 23"/>
          <p:cNvSpPr/>
          <p:nvPr/>
        </p:nvSpPr>
        <p:spPr>
          <a:xfrm>
            <a:off x="819222" y="5390280"/>
            <a:ext cx="5195114" cy="570240"/>
          </a:xfrm>
          <a:prstGeom prst="rect">
            <a:avLst/>
          </a:prstGeom>
          <a:solidFill>
            <a:srgbClr val="FFFFFF"/>
          </a:solidFill>
          <a:ln w="8890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56" name="TextBox 24"/>
          <p:cNvSpPr/>
          <p:nvPr/>
        </p:nvSpPr>
        <p:spPr>
          <a:xfrm>
            <a:off x="889314" y="5463720"/>
            <a:ext cx="5054585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오판 가능성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57" name="TextBox 25"/>
          <p:cNvSpPr/>
          <p:nvPr/>
        </p:nvSpPr>
        <p:spPr>
          <a:xfrm>
            <a:off x="889314" y="5774400"/>
            <a:ext cx="5054585" cy="13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오판은 사법제도 일반의 한계이므로 사형제 자체의 위헌 사유로 보기 어렵다고 본다</a:t>
            </a:r>
            <a:r>
              <a:rPr lang="en-US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58" name="Rounded Rectangle 26"/>
          <p:cNvSpPr/>
          <p:nvPr/>
        </p:nvSpPr>
        <p:spPr>
          <a:xfrm>
            <a:off x="6234971" y="2167200"/>
            <a:ext cx="5195114" cy="570240"/>
          </a:xfrm>
          <a:prstGeom prst="rect">
            <a:avLst/>
          </a:prstGeom>
          <a:solidFill>
            <a:srgbClr val="FFFFFF"/>
          </a:solidFill>
          <a:ln w="8890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59" name="TextBox 27"/>
          <p:cNvSpPr/>
          <p:nvPr/>
        </p:nvSpPr>
        <p:spPr>
          <a:xfrm>
            <a:off x="6305064" y="2240280"/>
            <a:ext cx="5054585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생명권 제한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60" name="TextBox 28"/>
          <p:cNvSpPr/>
          <p:nvPr/>
        </p:nvSpPr>
        <p:spPr>
          <a:xfrm>
            <a:off x="6305064" y="2551320"/>
            <a:ext cx="5054585" cy="13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생명은 법적 평가로 박탈할 수 있는 것이 아니며</a:t>
            </a:r>
            <a:r>
              <a:rPr lang="en-US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ko-KR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생명권의 본질을 침해한다고 본다</a:t>
            </a:r>
            <a:r>
              <a:rPr lang="en-US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61" name="Rounded Rectangle 29"/>
          <p:cNvSpPr/>
          <p:nvPr/>
        </p:nvSpPr>
        <p:spPr>
          <a:xfrm>
            <a:off x="6234971" y="2811960"/>
            <a:ext cx="5195114" cy="570240"/>
          </a:xfrm>
          <a:prstGeom prst="rect">
            <a:avLst/>
          </a:prstGeom>
          <a:solidFill>
            <a:srgbClr val="FFFFFF"/>
          </a:solidFill>
          <a:ln w="8890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62" name="TextBox 30"/>
          <p:cNvSpPr/>
          <p:nvPr/>
        </p:nvSpPr>
        <p:spPr>
          <a:xfrm>
            <a:off x="6305064" y="2885040"/>
            <a:ext cx="5054585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억제효과의 근거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63" name="TextBox 31"/>
          <p:cNvSpPr/>
          <p:nvPr/>
        </p:nvSpPr>
        <p:spPr>
          <a:xfrm>
            <a:off x="6305064" y="3195720"/>
            <a:ext cx="5054585" cy="13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사형이 범죄를 더 줄인다는 데 일치된 연구결과가 없다고 본다</a:t>
            </a:r>
            <a:r>
              <a:rPr lang="en-US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64" name="Rounded Rectangle 32"/>
          <p:cNvSpPr/>
          <p:nvPr/>
        </p:nvSpPr>
        <p:spPr>
          <a:xfrm>
            <a:off x="6234971" y="3456360"/>
            <a:ext cx="5195114" cy="570240"/>
          </a:xfrm>
          <a:prstGeom prst="rect">
            <a:avLst/>
          </a:prstGeom>
          <a:solidFill>
            <a:srgbClr val="FFFFFF"/>
          </a:solidFill>
          <a:ln w="8890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65" name="TextBox 33"/>
          <p:cNvSpPr/>
          <p:nvPr/>
        </p:nvSpPr>
        <p:spPr>
          <a:xfrm>
            <a:off x="6305064" y="3529440"/>
            <a:ext cx="5054585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대체형벌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66" name="TextBox 34"/>
          <p:cNvSpPr/>
          <p:nvPr/>
        </p:nvSpPr>
        <p:spPr>
          <a:xfrm>
            <a:off x="6305064" y="3840480"/>
            <a:ext cx="5054585" cy="13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절대적 종신형 등 생명을 박탈하지 않는 수단으로 사회 격리 목적을 달성할 수 있다고 본다</a:t>
            </a:r>
            <a:r>
              <a:rPr lang="en-US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67" name="Rounded Rectangle 35"/>
          <p:cNvSpPr/>
          <p:nvPr/>
        </p:nvSpPr>
        <p:spPr>
          <a:xfrm>
            <a:off x="6234971" y="4101120"/>
            <a:ext cx="5195114" cy="570240"/>
          </a:xfrm>
          <a:prstGeom prst="rect">
            <a:avLst/>
          </a:prstGeom>
          <a:solidFill>
            <a:srgbClr val="FFFFFF"/>
          </a:solidFill>
          <a:ln w="8890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68" name="TextBox 36"/>
          <p:cNvSpPr/>
          <p:nvPr/>
        </p:nvSpPr>
        <p:spPr>
          <a:xfrm>
            <a:off x="6305064" y="4174200"/>
            <a:ext cx="5054585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오판</a:t>
            </a:r>
            <a:r>
              <a:rPr lang="en-US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ko-KR" sz="125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불가역성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69" name="TextBox 37"/>
          <p:cNvSpPr/>
          <p:nvPr/>
        </p:nvSpPr>
        <p:spPr>
          <a:xfrm>
            <a:off x="6305064" y="4485240"/>
            <a:ext cx="5054585" cy="13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 집행 후 오판이 드러나면 생명을 되돌릴 수 없다는 점을 중시한다</a:t>
            </a:r>
            <a:r>
              <a:rPr lang="en-US" sz="10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TextBox 1"/>
          <p:cNvSpPr/>
          <p:nvPr/>
        </p:nvSpPr>
        <p:spPr>
          <a:xfrm>
            <a:off x="731520" y="329040"/>
            <a:ext cx="3682088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1300" b="1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헌법재판소의 판단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89" name="TextBox 2"/>
          <p:cNvSpPr/>
          <p:nvPr/>
        </p:nvSpPr>
        <p:spPr>
          <a:xfrm>
            <a:off x="731520" y="658440"/>
            <a:ext cx="8417977" cy="43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ko-KR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시기별 비교 ① — 사형 허용</a:t>
            </a:r>
            <a:r>
              <a:rPr lang="en-US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ko-KR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유지 쪽 논거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90" name="TextBox 3"/>
          <p:cNvSpPr/>
          <p:nvPr/>
        </p:nvSpPr>
        <p:spPr>
          <a:xfrm>
            <a:off x="9194729" y="438840"/>
            <a:ext cx="2235011" cy="31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r" defTabSz="914400">
              <a:lnSpc>
                <a:spcPct val="118000"/>
              </a:lnSpc>
            </a:pPr>
            <a:r>
              <a:rPr lang="ko-KR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다음 → 폐지</a:t>
            </a:r>
            <a:r>
              <a:rPr lang="en-US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ko-KR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위헌 쪽 논거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cxnSp>
        <p:nvCxnSpPr>
          <p:cNvPr id="591" name="Connector 4"/>
          <p:cNvCxnSpPr/>
          <p:nvPr/>
        </p:nvCxnSpPr>
        <p:spPr>
          <a:xfrm>
            <a:off x="731520" y="1216080"/>
            <a:ext cx="10727224" cy="1440"/>
          </a:xfrm>
          <a:prstGeom prst="straightConnector1">
            <a:avLst/>
          </a:prstGeom>
          <a:ln w="0">
            <a:solidFill>
              <a:srgbClr val="F2F4F8"/>
            </a:solidFill>
          </a:ln>
        </p:spPr>
      </p:cxnSp>
      <p:sp>
        <p:nvSpPr>
          <p:cNvPr id="592" name="TextBox 5"/>
          <p:cNvSpPr/>
          <p:nvPr/>
        </p:nvSpPr>
        <p:spPr>
          <a:xfrm>
            <a:off x="863072" y="1307520"/>
            <a:ext cx="10522817" cy="25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r>
              <a:rPr lang="en-US" sz="12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1996·2010</a:t>
            </a:r>
            <a:r>
              <a:rPr lang="ko-KR" sz="12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은 결정의 의견</a:t>
            </a:r>
            <a:r>
              <a:rPr lang="en-US" sz="12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2022</a:t>
            </a:r>
            <a:r>
              <a:rPr lang="ko-KR" sz="12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는 공개변론 관련 의견요지다</a:t>
            </a:r>
            <a:r>
              <a:rPr lang="en-US" sz="12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 </a:t>
            </a:r>
            <a:r>
              <a:rPr lang="ko-KR" sz="12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동일한 법적 지위의 자료는 아니다</a:t>
            </a:r>
            <a:r>
              <a:rPr lang="en-US" sz="1200" b="1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93" name="TextBox 6"/>
          <p:cNvSpPr/>
          <p:nvPr/>
        </p:nvSpPr>
        <p:spPr>
          <a:xfrm>
            <a:off x="792980" y="1719000"/>
            <a:ext cx="1270293" cy="291240"/>
          </a:xfrm>
          <a:prstGeom prst="rect">
            <a:avLst/>
          </a:prstGeom>
          <a:solidFill>
            <a:srgbClr val="F2F4F8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r>
              <a:rPr lang="ko-KR" sz="10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쟁점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94" name="TextBox 7"/>
          <p:cNvSpPr/>
          <p:nvPr/>
        </p:nvSpPr>
        <p:spPr>
          <a:xfrm>
            <a:off x="2090896" y="1719000"/>
            <a:ext cx="2980475" cy="291240"/>
          </a:xfrm>
          <a:prstGeom prst="rect">
            <a:avLst/>
          </a:prstGeom>
          <a:solidFill>
            <a:srgbClr val="F2F4F8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r>
              <a:rPr lang="en-US" sz="10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1996 · 95</a:t>
            </a:r>
            <a:r>
              <a:rPr lang="ko-KR" sz="10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헌바</a:t>
            </a:r>
            <a:r>
              <a:rPr lang="en-US" sz="10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95" name="TextBox 8"/>
          <p:cNvSpPr/>
          <p:nvPr/>
        </p:nvSpPr>
        <p:spPr>
          <a:xfrm>
            <a:off x="5160453" y="1719000"/>
            <a:ext cx="2980475" cy="291240"/>
          </a:xfrm>
          <a:prstGeom prst="rect">
            <a:avLst/>
          </a:prstGeom>
          <a:solidFill>
            <a:srgbClr val="F2F4F8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r>
              <a:rPr lang="en-US" sz="10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2010 · 2008</a:t>
            </a:r>
            <a:r>
              <a:rPr lang="ko-KR" sz="10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헌가</a:t>
            </a:r>
            <a:r>
              <a:rPr lang="en-US" sz="10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23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96" name="TextBox 9"/>
          <p:cNvSpPr/>
          <p:nvPr/>
        </p:nvSpPr>
        <p:spPr>
          <a:xfrm>
            <a:off x="8230011" y="1719000"/>
            <a:ext cx="3112028" cy="291240"/>
          </a:xfrm>
          <a:prstGeom prst="rect">
            <a:avLst/>
          </a:prstGeom>
          <a:solidFill>
            <a:srgbClr val="F2F4F8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32760" rIns="54720" bIns="32760" anchor="ctr">
            <a:noAutofit/>
          </a:bodyPr>
          <a:lstStyle/>
          <a:p>
            <a:pPr algn="ctr" defTabSz="914400">
              <a:lnSpc>
                <a:spcPct val="118000"/>
              </a:lnSpc>
            </a:pPr>
            <a:r>
              <a:rPr lang="en-US" sz="10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2022 · </a:t>
            </a:r>
            <a:r>
              <a:rPr lang="ko-KR" sz="10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공개변론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98" name="TextBox 11"/>
          <p:cNvSpPr/>
          <p:nvPr/>
        </p:nvSpPr>
        <p:spPr>
          <a:xfrm>
            <a:off x="795528" y="2048256"/>
            <a:ext cx="1271016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27360" tIns="16560" rIns="27360" bIns="165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생명권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99" name="TextBox 12"/>
          <p:cNvSpPr/>
          <p:nvPr/>
        </p:nvSpPr>
        <p:spPr>
          <a:xfrm>
            <a:off x="2093976" y="2048256"/>
            <a:ext cx="2980944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생명권도 예외적으로 제한 가능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00" name="TextBox 13"/>
          <p:cNvSpPr/>
          <p:nvPr/>
        </p:nvSpPr>
        <p:spPr>
          <a:xfrm>
            <a:off x="5157216" y="2048256"/>
            <a:ext cx="2980944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생명권 제한 가능성을 전제로 비례심사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01" name="TextBox 14"/>
          <p:cNvSpPr/>
          <p:nvPr/>
        </p:nvSpPr>
        <p:spPr>
          <a:xfrm>
            <a:off x="8229600" y="2048256"/>
            <a:ext cx="31089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생명권 제한 가능성을 전제로 제도 존치 주장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02" name="TextBox 15"/>
          <p:cNvSpPr/>
          <p:nvPr/>
        </p:nvSpPr>
        <p:spPr>
          <a:xfrm>
            <a:off x="795528" y="2560320"/>
            <a:ext cx="1271016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27360" tIns="16560" rIns="27360" bIns="165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헌법 제110조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03" name="TextBox 16"/>
          <p:cNvSpPr/>
          <p:nvPr/>
        </p:nvSpPr>
        <p:spPr>
          <a:xfrm>
            <a:off x="2093976" y="2560320"/>
            <a:ext cx="2980944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 언급을 존재 전제로 해석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04" name="TextBox 17"/>
          <p:cNvSpPr/>
          <p:nvPr/>
        </p:nvSpPr>
        <p:spPr>
          <a:xfrm>
            <a:off x="5157216" y="2560320"/>
            <a:ext cx="2980944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사형을 예외적으로 전제한 조항으로 해석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05" name="TextBox 18"/>
          <p:cNvSpPr/>
          <p:nvPr/>
        </p:nvSpPr>
        <p:spPr>
          <a:xfrm>
            <a:off x="8229600" y="2560320"/>
            <a:ext cx="31089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헌법의 사형 언급을 간접적 인정으로 해석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06" name="TextBox 19"/>
          <p:cNvSpPr/>
          <p:nvPr/>
        </p:nvSpPr>
        <p:spPr>
          <a:xfrm>
            <a:off x="795528" y="3072384"/>
            <a:ext cx="1271016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27360" tIns="16560" rIns="27360" bIns="165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응보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07" name="TextBox 20"/>
          <p:cNvSpPr/>
          <p:nvPr/>
        </p:nvSpPr>
        <p:spPr>
          <a:xfrm>
            <a:off x="2093976" y="3072384"/>
            <a:ext cx="2980944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중대한 범죄에 상응하는 형벌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08" name="TextBox 21"/>
          <p:cNvSpPr/>
          <p:nvPr/>
        </p:nvSpPr>
        <p:spPr>
          <a:xfrm>
            <a:off x="5157216" y="3072384"/>
            <a:ext cx="2980944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정의 실현과 책임에 상응하는 형벌 강조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09" name="TextBox 22"/>
          <p:cNvSpPr/>
          <p:nvPr/>
        </p:nvSpPr>
        <p:spPr>
          <a:xfrm>
            <a:off x="8229600" y="3072384"/>
            <a:ext cx="31089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응보의 필요성 주장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10" name="TextBox 23"/>
          <p:cNvSpPr/>
          <p:nvPr/>
        </p:nvSpPr>
        <p:spPr>
          <a:xfrm>
            <a:off x="795528" y="3584448"/>
            <a:ext cx="1271016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27360" tIns="16560" rIns="27360" bIns="165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억제효과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11" name="TextBox 24"/>
          <p:cNvSpPr/>
          <p:nvPr/>
        </p:nvSpPr>
        <p:spPr>
          <a:xfrm>
            <a:off x="2093976" y="3584448"/>
            <a:ext cx="2980944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위하효과를 기대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12" name="TextBox 25"/>
          <p:cNvSpPr/>
          <p:nvPr/>
        </p:nvSpPr>
        <p:spPr>
          <a:xfrm>
            <a:off x="5157216" y="3584448"/>
            <a:ext cx="2980944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강한 범죄 억제 가능성 강조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13" name="TextBox 26"/>
          <p:cNvSpPr/>
          <p:nvPr/>
        </p:nvSpPr>
        <p:spPr>
          <a:xfrm>
            <a:off x="8229600" y="3584448"/>
            <a:ext cx="31089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범죄 억제 기능 주장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14" name="TextBox 27"/>
          <p:cNvSpPr/>
          <p:nvPr/>
        </p:nvSpPr>
        <p:spPr>
          <a:xfrm>
            <a:off x="795528" y="4096512"/>
            <a:ext cx="1271016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27360" tIns="16560" rIns="27360" bIns="165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대체형벌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15" name="TextBox 28"/>
          <p:cNvSpPr/>
          <p:nvPr/>
        </p:nvSpPr>
        <p:spPr>
          <a:xfrm>
            <a:off x="2093976" y="4096512"/>
            <a:ext cx="2980944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무기형만으로 충분히 대신하기 어렵다고 봄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16" name="TextBox 29"/>
          <p:cNvSpPr/>
          <p:nvPr/>
        </p:nvSpPr>
        <p:spPr>
          <a:xfrm>
            <a:off x="5157216" y="4096512"/>
            <a:ext cx="2980944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동일 효과의 덜 침해적 대안이 명백하지 않음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17" name="TextBox 30"/>
          <p:cNvSpPr/>
          <p:nvPr/>
        </p:nvSpPr>
        <p:spPr>
          <a:xfrm>
            <a:off x="8229600" y="4096512"/>
            <a:ext cx="31089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가석방 없는 종신형만으로 대체하기 어렵다는 주장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18" name="TextBox 31"/>
          <p:cNvSpPr/>
          <p:nvPr/>
        </p:nvSpPr>
        <p:spPr>
          <a:xfrm>
            <a:off x="795528" y="4608576"/>
            <a:ext cx="1271016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27360" tIns="16560" rIns="27360" bIns="165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오판·불가역성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19" name="TextBox 32"/>
          <p:cNvSpPr/>
          <p:nvPr/>
        </p:nvSpPr>
        <p:spPr>
          <a:xfrm>
            <a:off x="2093976" y="4608576"/>
            <a:ext cx="2980944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en-US" sz="10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—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20" name="TextBox 33"/>
          <p:cNvSpPr/>
          <p:nvPr/>
        </p:nvSpPr>
        <p:spPr>
          <a:xfrm>
            <a:off x="5157216" y="4608576"/>
            <a:ext cx="2980944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오판 위험은 사법제도 일반의 문제라는 응답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621" name="TextBox 34"/>
          <p:cNvSpPr/>
          <p:nvPr/>
        </p:nvSpPr>
        <p:spPr>
          <a:xfrm>
            <a:off x="8229600" y="4608576"/>
            <a:ext cx="31089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오판을 제도 일반의 한계로 보는 응답 반복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2" name="TextBox 31"/>
          <p:cNvSpPr/>
          <p:nvPr/>
        </p:nvSpPr>
        <p:spPr>
          <a:xfrm>
            <a:off x="795528" y="5120640"/>
            <a:ext cx="1271016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27360" tIns="16560" rIns="27360" bIns="165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인간 존엄·개선 가능성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Box 32"/>
          <p:cNvSpPr/>
          <p:nvPr/>
        </p:nvSpPr>
        <p:spPr>
          <a:xfrm>
            <a:off x="2093976" y="5120640"/>
            <a:ext cx="2980944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en-US" sz="10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—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Box 33"/>
          <p:cNvSpPr/>
          <p:nvPr/>
        </p:nvSpPr>
        <p:spPr>
          <a:xfrm>
            <a:off x="5157216" y="5120640"/>
            <a:ext cx="2980944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절차 엄격화·적용범위 축소 필요성을 보충의견에서 제시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Box 34"/>
          <p:cNvSpPr/>
          <p:nvPr/>
        </p:nvSpPr>
        <p:spPr>
          <a:xfrm>
            <a:off x="8229600" y="5120640"/>
            <a:ext cx="31089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21960" rIns="36720" bIns="21960" anchor="ctr">
            <a:noAutofit/>
          </a:bodyPr>
          <a:lstStyle/>
          <a:p>
            <a:pPr algn="ctr" defTabSz="914400">
              <a:lnSpc>
                <a:spcPct val="125000"/>
              </a:lnSpc>
            </a:pPr>
            <a:r>
              <a:rPr lang="ko-KR" sz="10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—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TextBox 1"/>
          <p:cNvSpPr/>
          <p:nvPr/>
        </p:nvSpPr>
        <p:spPr>
          <a:xfrm>
            <a:off x="731520" y="347400"/>
            <a:ext cx="4384392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118000"/>
              </a:lnSpc>
            </a:pPr>
            <a:r>
              <a:rPr lang="zh-CN" sz="1300" b="1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국제 비교 </a:t>
            </a:r>
            <a:r>
              <a:rPr lang="en-US" sz="1300" b="1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lang="zh-CN" sz="1300" b="1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헌법재판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21" name="TextBox 2"/>
          <p:cNvSpPr/>
          <p:nvPr/>
        </p:nvSpPr>
        <p:spPr>
          <a:xfrm>
            <a:off x="731520" y="713160"/>
            <a:ext cx="8769475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118000"/>
              </a:lnSpc>
            </a:pPr>
            <a:r>
              <a:rPr lang="zh-CN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대만 </a:t>
            </a:r>
            <a:r>
              <a:rPr lang="en-US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2024 — </a:t>
            </a:r>
            <a:r>
              <a:rPr lang="zh-CN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위헌 판단과 사형의 제한적 허용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22" name="TextBox 3"/>
          <p:cNvSpPr/>
          <p:nvPr/>
        </p:nvSpPr>
        <p:spPr>
          <a:xfrm>
            <a:off x="8348472" y="457200"/>
            <a:ext cx="310896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r">
              <a:lnSpc>
                <a:spcPct val="118000"/>
              </a:lnSpc>
            </a:pP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다음 → 정신적 장애에 따른 사형 제한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23" name="Rectangle 4"/>
          <p:cNvSpPr/>
          <p:nvPr/>
        </p:nvSpPr>
        <p:spPr>
          <a:xfrm>
            <a:off x="731520" y="1243440"/>
            <a:ext cx="10742762" cy="1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lstStyle/>
          <a:p>
            <a:pPr algn="ctr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24" name="TextBox 5"/>
          <p:cNvSpPr/>
          <p:nvPr/>
        </p:nvSpPr>
        <p:spPr>
          <a:xfrm>
            <a:off x="906923" y="1393880"/>
            <a:ext cx="10348105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118000"/>
              </a:lnSpc>
            </a:pPr>
            <a:r>
              <a:rPr lang="en-US" sz="16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2024</a:t>
            </a:r>
            <a:r>
              <a:rPr lang="zh-CN" sz="16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년 헌법법정</a:t>
            </a:r>
            <a:r>
              <a:rPr lang="ko-KR" altLang="en-US" sz="16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의 결정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25" name="Rounded Rectangle 6"/>
          <p:cNvSpPr/>
          <p:nvPr/>
        </p:nvSpPr>
        <p:spPr>
          <a:xfrm>
            <a:off x="731520" y="1874520"/>
            <a:ext cx="4933605" cy="35654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26" name="Rounded Rectangle 7"/>
          <p:cNvSpPr/>
          <p:nvPr/>
        </p:nvSpPr>
        <p:spPr>
          <a:xfrm>
            <a:off x="6169023" y="1850360"/>
            <a:ext cx="5129856" cy="35654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27" name="TextBox 8"/>
          <p:cNvSpPr/>
          <p:nvPr/>
        </p:nvSpPr>
        <p:spPr>
          <a:xfrm>
            <a:off x="2305050" y="2032200"/>
            <a:ext cx="1884895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118000"/>
              </a:lnSpc>
            </a:pPr>
            <a:r>
              <a:rPr lang="zh-CN" sz="150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 규정에 대한 판단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28" name="TextBox 9"/>
          <p:cNvSpPr/>
          <p:nvPr/>
        </p:nvSpPr>
        <p:spPr>
          <a:xfrm>
            <a:off x="916028" y="2972520"/>
            <a:ext cx="1884895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118000"/>
              </a:lnSpc>
            </a:pPr>
            <a:r>
              <a:rPr lang="zh-CN" sz="15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필요적 사형은 위헌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29" name="TextBox 10"/>
          <p:cNvSpPr/>
          <p:nvPr/>
        </p:nvSpPr>
        <p:spPr>
          <a:xfrm>
            <a:off x="2713913" y="2926080"/>
            <a:ext cx="2734388" cy="59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118000"/>
              </a:lnSpc>
            </a:pPr>
            <a:r>
              <a:rPr lang="zh-CN" sz="13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법원이 다른 형을 선택할 수 없이 사형을 선고해야 하는 구조는</a:t>
            </a:r>
            <a:r>
              <a:rPr lang="en-US" sz="13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3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개별 책임과 범행의 중대성을 따질 선택지를 없앤다</a:t>
            </a:r>
            <a:r>
              <a:rPr lang="en-US" sz="13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3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30" name="Rectangle 11"/>
          <p:cNvSpPr/>
          <p:nvPr/>
        </p:nvSpPr>
        <p:spPr>
          <a:xfrm>
            <a:off x="846777" y="3703320"/>
            <a:ext cx="4691348" cy="8280"/>
          </a:xfrm>
          <a:prstGeom prst="rect">
            <a:avLst/>
          </a:prstGeom>
          <a:solidFill>
            <a:srgbClr val="DC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lstStyle/>
          <a:p>
            <a:pPr algn="ctr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31" name="TextBox 12"/>
          <p:cNvSpPr/>
          <p:nvPr/>
        </p:nvSpPr>
        <p:spPr>
          <a:xfrm>
            <a:off x="916028" y="3969360"/>
            <a:ext cx="1389022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118000"/>
              </a:lnSpc>
            </a:pPr>
            <a:r>
              <a:rPr lang="zh-CN" sz="15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선택형 사형 규정은 제한적으로 허용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32" name="TextBox 13"/>
          <p:cNvSpPr/>
          <p:nvPr/>
        </p:nvSpPr>
        <p:spPr>
          <a:xfrm>
            <a:off x="2713912" y="3905280"/>
            <a:ext cx="2734389" cy="86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118000"/>
              </a:lnSpc>
            </a:pPr>
            <a:r>
              <a:rPr lang="zh-CN" sz="13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 외에 무기징역 등을 함께 둔 네 살인 관련 조항은 전면 위헌으로 보지 않았다</a:t>
            </a:r>
            <a:r>
              <a:rPr lang="en-US" sz="13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 </a:t>
            </a:r>
            <a:r>
              <a:rPr lang="zh-CN" sz="13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다만 </a:t>
            </a:r>
            <a:r>
              <a:rPr lang="zh-CN" sz="13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가장 중대한 사건이고 엄격한 절차가 보장될 때만 사형 선고가 가능하다고 보았다</a:t>
            </a:r>
            <a:r>
              <a:rPr lang="en-US" sz="135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3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33" name="TextBox 14"/>
          <p:cNvSpPr/>
          <p:nvPr/>
        </p:nvSpPr>
        <p:spPr>
          <a:xfrm>
            <a:off x="7512827" y="1979240"/>
            <a:ext cx="2196324" cy="3373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118000"/>
              </a:lnSpc>
            </a:pPr>
            <a:r>
              <a:rPr lang="zh-CN" sz="150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 선고에 필요한 절차</a:t>
            </a:r>
            <a:r>
              <a:rPr lang="en-US" altLang="zh-CN" sz="150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50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강화</a:t>
            </a:r>
            <a:endParaRPr lang="en-US" altLang="ko-KR" sz="1500" b="1" u="none" strike="noStrike" dirty="0">
              <a:solidFill>
                <a:srgbClr val="A8871C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34" name="Rectangle 15"/>
          <p:cNvSpPr/>
          <p:nvPr/>
        </p:nvSpPr>
        <p:spPr>
          <a:xfrm>
            <a:off x="6388277" y="2930000"/>
            <a:ext cx="4647497" cy="621000"/>
          </a:xfrm>
          <a:prstGeom prst="rect">
            <a:avLst/>
          </a:prstGeom>
          <a:solidFill>
            <a:srgbClr val="F2F4F8"/>
          </a:solidFill>
          <a:ln w="9525">
            <a:solidFill>
              <a:srgbClr val="DCE0E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35" name="TextBox 16"/>
          <p:cNvSpPr/>
          <p:nvPr/>
        </p:nvSpPr>
        <p:spPr>
          <a:xfrm>
            <a:off x="6546071" y="3039800"/>
            <a:ext cx="966756" cy="4463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</a:pPr>
            <a:r>
              <a:rPr lang="zh-CN" sz="12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수사 중 변호인 </a:t>
            </a:r>
            <a:endParaRPr lang="en-US" altLang="zh-CN" sz="1200" b="1" u="none" strike="noStrike" dirty="0">
              <a:solidFill>
                <a:srgbClr val="1E2761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>
              <a:lnSpc>
                <a:spcPct val="118000"/>
              </a:lnSpc>
            </a:pPr>
            <a:r>
              <a:rPr lang="zh-CN" sz="12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조력 보장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36" name="TextBox 17"/>
          <p:cNvSpPr/>
          <p:nvPr/>
        </p:nvSpPr>
        <p:spPr>
          <a:xfrm>
            <a:off x="7885746" y="3021440"/>
            <a:ext cx="3018475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118000"/>
              </a:lnSpc>
            </a:pPr>
            <a:r>
              <a:rPr lang="zh-CN" sz="11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해당 범죄 수사에서 피의자가 변호인의 도움을 받아 의견을 말할 수 있도록 한다</a:t>
            </a:r>
            <a:r>
              <a:rPr lang="en-US" sz="11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37" name="Rectangle 18"/>
          <p:cNvSpPr/>
          <p:nvPr/>
        </p:nvSpPr>
        <p:spPr>
          <a:xfrm>
            <a:off x="6388277" y="3752960"/>
            <a:ext cx="4647497" cy="621000"/>
          </a:xfrm>
          <a:prstGeom prst="rect">
            <a:avLst/>
          </a:prstGeom>
          <a:solidFill>
            <a:srgbClr val="F2F4F8"/>
          </a:solidFill>
          <a:ln w="9525">
            <a:solidFill>
              <a:srgbClr val="DCE0E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38" name="TextBox 19"/>
          <p:cNvSpPr/>
          <p:nvPr/>
        </p:nvSpPr>
        <p:spPr>
          <a:xfrm>
            <a:off x="6546071" y="3862760"/>
            <a:ext cx="1181880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</a:pPr>
            <a:r>
              <a:rPr lang="zh-CN" sz="12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최종심 변호인 참여</a:t>
            </a:r>
            <a:r>
              <a:rPr lang="en-US" sz="12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</a:p>
          <a:p>
            <a:pPr>
              <a:lnSpc>
                <a:spcPct val="118000"/>
              </a:lnSpc>
            </a:pPr>
            <a:r>
              <a:rPr lang="zh-CN" sz="12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구두변론 의무화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39" name="TextBox 20"/>
          <p:cNvSpPr/>
          <p:nvPr/>
        </p:nvSpPr>
        <p:spPr>
          <a:xfrm>
            <a:off x="7885746" y="3844400"/>
            <a:ext cx="3018476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118000"/>
              </a:lnSpc>
            </a:pPr>
            <a:r>
              <a:rPr lang="zh-CN" sz="11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마지막 심급에서도 변호인의 조력과 구두변론을 거쳐 사형 여부를 판단한다</a:t>
            </a:r>
            <a:r>
              <a:rPr lang="en-US" sz="11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40" name="Rectangle 21"/>
          <p:cNvSpPr/>
          <p:nvPr/>
        </p:nvSpPr>
        <p:spPr>
          <a:xfrm>
            <a:off x="6388277" y="4575920"/>
            <a:ext cx="4647497" cy="621000"/>
          </a:xfrm>
          <a:prstGeom prst="rect">
            <a:avLst/>
          </a:prstGeom>
          <a:solidFill>
            <a:srgbClr val="F2F4F8"/>
          </a:solidFill>
          <a:ln w="9525">
            <a:solidFill>
              <a:srgbClr val="DCE0E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41" name="TextBox 22"/>
          <p:cNvSpPr/>
          <p:nvPr/>
        </p:nvSpPr>
        <p:spPr>
          <a:xfrm>
            <a:off x="6546070" y="4685720"/>
            <a:ext cx="1181881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8000"/>
              </a:lnSpc>
            </a:pPr>
            <a:r>
              <a:rPr lang="zh-CN" sz="12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합의부 법관 전원의 </a:t>
            </a:r>
            <a:endParaRPr lang="en-US" altLang="zh-CN" sz="1200" b="1" u="none" strike="noStrike" dirty="0">
              <a:solidFill>
                <a:srgbClr val="1E2761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>
              <a:lnSpc>
                <a:spcPct val="118000"/>
              </a:lnSpc>
            </a:pPr>
            <a:r>
              <a:rPr lang="zh-CN" sz="12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동의 요구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42" name="TextBox 23"/>
          <p:cNvSpPr/>
          <p:nvPr/>
        </p:nvSpPr>
        <p:spPr>
          <a:xfrm>
            <a:off x="7885744" y="4667360"/>
            <a:ext cx="3018477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118000"/>
              </a:lnSpc>
            </a:pPr>
            <a:r>
              <a:rPr lang="zh-CN" sz="11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사형은 그 형사재판부의 합의부 구성원 모두가 동의한 때에만 선고할 수 있다</a:t>
            </a:r>
            <a:r>
              <a:rPr lang="en-US" sz="110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100" b="1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43" name="Rounded Rectangle 24"/>
          <p:cNvSpPr/>
          <p:nvPr/>
        </p:nvSpPr>
        <p:spPr>
          <a:xfrm>
            <a:off x="731521" y="5742360"/>
            <a:ext cx="10567358" cy="502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44" name="TextBox 25"/>
          <p:cNvSpPr/>
          <p:nvPr/>
        </p:nvSpPr>
        <p:spPr>
          <a:xfrm>
            <a:off x="1126177" y="5879520"/>
            <a:ext cx="9953447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>
              <a:lnSpc>
                <a:spcPct val="118000"/>
              </a:lnSpc>
            </a:pPr>
            <a:r>
              <a:rPr lang="zh-CN" sz="15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  <a:cs typeface="Pretendard"/>
              </a:rPr>
              <a:t>대만 결정은 사형을 전면 위헌으로 보지 않았다</a:t>
            </a: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  <a:cs typeface="Pretendard"/>
              </a:rPr>
              <a:t>. </a:t>
            </a:r>
            <a:r>
              <a:rPr lang="zh-CN" sz="15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다만 필요적 사형은 위헌으로 보고</a:t>
            </a: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5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  <a:cs typeface="Pretendard"/>
              </a:rPr>
              <a:t>선택형 사형도 가장 중대한 사건과 엄격한 절차가 있을 때만 허용했다</a:t>
            </a: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848570-5885-7A7C-16FA-6FB1FCAC8F3E}"/>
              </a:ext>
            </a:extLst>
          </p:cNvPr>
          <p:cNvSpPr txBox="1"/>
          <p:nvPr/>
        </p:nvSpPr>
        <p:spPr>
          <a:xfrm>
            <a:off x="6845477" y="2380893"/>
            <a:ext cx="400667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lang="ko-KR" altLang="ko-KR" sz="110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기존에도 일부 보호와 실무 관행은 있었지만, 의무화한 상태는 아니었다. </a:t>
            </a:r>
            <a:endParaRPr lang="en-US" altLang="ko-KR" sz="1100" dirty="0">
              <a:solidFill>
                <a:srgbClr val="222633"/>
              </a:solidFill>
              <a:latin typeface="Pretendard"/>
              <a:ea typeface="Pretendard"/>
              <a:cs typeface="Pretendard"/>
            </a:endParaRPr>
          </a:p>
          <a:p>
            <a:pPr>
              <a:lnSpc>
                <a:spcPct val="118000"/>
              </a:lnSpc>
            </a:pPr>
            <a:r>
              <a:rPr lang="ko-KR" altLang="ko-KR" sz="110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헌법법정은 그 부족한 부분을 </a:t>
            </a:r>
            <a:r>
              <a:rPr lang="ko-KR" altLang="ko-KR" sz="110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헌법상 필수 요건으로 끌어올렸다.</a:t>
            </a:r>
            <a:endParaRPr lang="en-US" altLang="ko-KR" sz="1100" dirty="0">
              <a:solidFill>
                <a:srgbClr val="222633"/>
              </a:solidFill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TextBox 1"/>
          <p:cNvSpPr/>
          <p:nvPr/>
        </p:nvSpPr>
        <p:spPr>
          <a:xfrm>
            <a:off x="731520" y="347400"/>
            <a:ext cx="4384392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118000"/>
              </a:lnSpc>
            </a:pPr>
            <a:r>
              <a:rPr lang="zh-CN" sz="1300" b="1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국제 비교 </a:t>
            </a:r>
            <a:r>
              <a:rPr lang="en-US" sz="1300" b="1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lang="zh-CN" sz="1300" b="1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헌법재판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47" name="TextBox 2"/>
          <p:cNvSpPr/>
          <p:nvPr/>
        </p:nvSpPr>
        <p:spPr>
          <a:xfrm>
            <a:off x="731520" y="713160"/>
            <a:ext cx="8769475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118000"/>
              </a:lnSpc>
            </a:pPr>
            <a:r>
              <a:rPr lang="zh-CN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대만 </a:t>
            </a:r>
            <a:r>
              <a:rPr lang="en-US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2024 — </a:t>
            </a:r>
            <a:r>
              <a:rPr lang="zh-CN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정신적 장애에 따른 사형 제한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48" name="TextBox 3"/>
          <p:cNvSpPr/>
          <p:nvPr/>
        </p:nvSpPr>
        <p:spPr>
          <a:xfrm>
            <a:off x="8348472" y="457200"/>
            <a:ext cx="310896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r">
              <a:lnSpc>
                <a:spcPct val="118000"/>
              </a:lnSpc>
            </a:pP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다음 → 무기수의 교도소 내 살인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49" name="Rectangle 4"/>
          <p:cNvSpPr/>
          <p:nvPr/>
        </p:nvSpPr>
        <p:spPr>
          <a:xfrm>
            <a:off x="731520" y="1243440"/>
            <a:ext cx="10742762" cy="1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lstStyle/>
          <a:p>
            <a:pPr algn="ctr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50" name="TextBox 5"/>
          <p:cNvSpPr/>
          <p:nvPr/>
        </p:nvSpPr>
        <p:spPr>
          <a:xfrm>
            <a:off x="729929" y="1444680"/>
            <a:ext cx="10260403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118000"/>
              </a:lnSpc>
            </a:pPr>
            <a:r>
              <a:rPr lang="ko-KR" altLang="en-US" sz="1500" b="1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기존에도 정신적 장애를 양형에서 고려할 수 있었지만</a:t>
            </a:r>
            <a:r>
              <a:rPr lang="en-US" altLang="ko-KR" sz="1500" b="1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, 2024</a:t>
            </a:r>
            <a:r>
              <a:rPr lang="ko-KR" altLang="en-US" sz="1500" b="1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년 결정은 일정한 능력 저하가 있으면 사형 선고</a:t>
            </a:r>
            <a:r>
              <a:rPr lang="en-US" altLang="ko-KR" sz="1500" b="1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1500" b="1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집행 자체를 제한했다</a:t>
            </a:r>
            <a:r>
              <a:rPr lang="en-US" altLang="ko-KR" sz="1500" b="1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.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51" name="Rectangle 6"/>
          <p:cNvSpPr/>
          <p:nvPr/>
        </p:nvSpPr>
        <p:spPr>
          <a:xfrm>
            <a:off x="906923" y="2020570"/>
            <a:ext cx="1884895" cy="3283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52" name="TextBox 7"/>
          <p:cNvSpPr/>
          <p:nvPr/>
        </p:nvSpPr>
        <p:spPr>
          <a:xfrm>
            <a:off x="906923" y="2093650"/>
            <a:ext cx="1884895" cy="18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>
              <a:lnSpc>
                <a:spcPct val="118000"/>
              </a:lnSpc>
            </a:pPr>
            <a:r>
              <a:rPr lang="zh-CN" sz="13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해당 시점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53" name="Rectangle 8"/>
          <p:cNvSpPr/>
          <p:nvPr/>
        </p:nvSpPr>
        <p:spPr>
          <a:xfrm>
            <a:off x="2880210" y="2020570"/>
            <a:ext cx="2060298" cy="3283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54" name="TextBox 9"/>
          <p:cNvSpPr/>
          <p:nvPr/>
        </p:nvSpPr>
        <p:spPr>
          <a:xfrm>
            <a:off x="2880210" y="2093650"/>
            <a:ext cx="2060298" cy="18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>
              <a:lnSpc>
                <a:spcPct val="118000"/>
              </a:lnSpc>
            </a:pPr>
            <a:r>
              <a:rPr lang="zh-CN" sz="13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보호의 결과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55" name="Rectangle 10"/>
          <p:cNvSpPr/>
          <p:nvPr/>
        </p:nvSpPr>
        <p:spPr>
          <a:xfrm>
            <a:off x="5028901" y="2020570"/>
            <a:ext cx="6182276" cy="3283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56" name="TextBox 11"/>
          <p:cNvSpPr/>
          <p:nvPr/>
        </p:nvSpPr>
        <p:spPr>
          <a:xfrm>
            <a:off x="5028901" y="2093650"/>
            <a:ext cx="6182276" cy="18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>
              <a:lnSpc>
                <a:spcPct val="118000"/>
              </a:lnSpc>
            </a:pPr>
            <a:r>
              <a:rPr lang="zh-CN" sz="13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무엇을 확인하는가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57" name="Rectangle 12"/>
          <p:cNvSpPr/>
          <p:nvPr/>
        </p:nvSpPr>
        <p:spPr>
          <a:xfrm>
            <a:off x="906923" y="2395728"/>
            <a:ext cx="1884895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58" name="TextBox 13"/>
          <p:cNvSpPr/>
          <p:nvPr/>
        </p:nvSpPr>
        <p:spPr>
          <a:xfrm>
            <a:off x="1012234" y="2468880"/>
            <a:ext cx="1674273" cy="64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>
              <a:lnSpc>
                <a:spcPct val="118000"/>
              </a:lnSpc>
            </a:pPr>
            <a:r>
              <a:rPr lang="zh-CN" sz="140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범행 당시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59" name="Rectangle 14"/>
          <p:cNvSpPr/>
          <p:nvPr/>
        </p:nvSpPr>
        <p:spPr>
          <a:xfrm>
            <a:off x="2880210" y="2395728"/>
            <a:ext cx="2060298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60" name="TextBox 15"/>
          <p:cNvSpPr/>
          <p:nvPr/>
        </p:nvSpPr>
        <p:spPr>
          <a:xfrm>
            <a:off x="2985522" y="2468880"/>
            <a:ext cx="1849676" cy="64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>
              <a:lnSpc>
                <a:spcPct val="118000"/>
              </a:lnSpc>
            </a:pPr>
            <a:r>
              <a:rPr lang="zh-CN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 선고 금지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61" name="Rectangle 16"/>
          <p:cNvSpPr/>
          <p:nvPr/>
        </p:nvSpPr>
        <p:spPr>
          <a:xfrm>
            <a:off x="5028901" y="2395728"/>
            <a:ext cx="6182276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62" name="TextBox 17"/>
          <p:cNvSpPr/>
          <p:nvPr/>
        </p:nvSpPr>
        <p:spPr>
          <a:xfrm>
            <a:off x="5134212" y="2468880"/>
            <a:ext cx="5971654" cy="64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118000"/>
              </a:lnSpc>
            </a:pPr>
            <a:r>
              <a:rPr lang="zh-CN" sz="13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행위의 위법성을 인식하거나 그 인식에 따라 행동할 능력이 현저히 낮은 경우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63" name="Rectangle 18"/>
          <p:cNvSpPr/>
          <p:nvPr/>
        </p:nvSpPr>
        <p:spPr>
          <a:xfrm>
            <a:off x="906923" y="3273552"/>
            <a:ext cx="1884895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64" name="TextBox 19"/>
          <p:cNvSpPr/>
          <p:nvPr/>
        </p:nvSpPr>
        <p:spPr>
          <a:xfrm>
            <a:off x="1012234" y="3346704"/>
            <a:ext cx="1674273" cy="64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>
              <a:lnSpc>
                <a:spcPct val="118000"/>
              </a:lnSpc>
            </a:pPr>
            <a:r>
              <a:rPr lang="zh-CN" sz="140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재판 당시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65" name="Rectangle 20"/>
          <p:cNvSpPr/>
          <p:nvPr/>
        </p:nvSpPr>
        <p:spPr>
          <a:xfrm>
            <a:off x="2880210" y="3273552"/>
            <a:ext cx="2060298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66" name="TextBox 21"/>
          <p:cNvSpPr/>
          <p:nvPr/>
        </p:nvSpPr>
        <p:spPr>
          <a:xfrm>
            <a:off x="2985522" y="3346704"/>
            <a:ext cx="1849676" cy="64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>
              <a:lnSpc>
                <a:spcPct val="118000"/>
              </a:lnSpc>
            </a:pPr>
            <a:r>
              <a:rPr lang="zh-CN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 선고 금지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67" name="Rectangle 22"/>
          <p:cNvSpPr/>
          <p:nvPr/>
        </p:nvSpPr>
        <p:spPr>
          <a:xfrm>
            <a:off x="5028901" y="3273552"/>
            <a:ext cx="6182276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68" name="TextBox 23"/>
          <p:cNvSpPr/>
          <p:nvPr/>
        </p:nvSpPr>
        <p:spPr>
          <a:xfrm>
            <a:off x="5134212" y="3346704"/>
            <a:ext cx="5971654" cy="64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118000"/>
              </a:lnSpc>
            </a:pPr>
            <a:r>
              <a:rPr lang="zh-CN" sz="13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자신의 사건에서 효과적으로 방어하고 재판에 참여할 능력이 현저히 부족한 경우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69" name="Rectangle 24"/>
          <p:cNvSpPr/>
          <p:nvPr/>
        </p:nvSpPr>
        <p:spPr>
          <a:xfrm>
            <a:off x="906923" y="4151376"/>
            <a:ext cx="1884895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70" name="TextBox 25"/>
          <p:cNvSpPr/>
          <p:nvPr/>
        </p:nvSpPr>
        <p:spPr>
          <a:xfrm>
            <a:off x="1012234" y="4224528"/>
            <a:ext cx="1674273" cy="64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>
              <a:lnSpc>
                <a:spcPct val="118000"/>
              </a:lnSpc>
            </a:pPr>
            <a:r>
              <a:rPr lang="zh-CN" sz="140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집행 당시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71" name="Rectangle 26"/>
          <p:cNvSpPr/>
          <p:nvPr/>
        </p:nvSpPr>
        <p:spPr>
          <a:xfrm>
            <a:off x="2880210" y="4151376"/>
            <a:ext cx="2060298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72" name="TextBox 27"/>
          <p:cNvSpPr/>
          <p:nvPr/>
        </p:nvSpPr>
        <p:spPr>
          <a:xfrm>
            <a:off x="2985522" y="4224528"/>
            <a:ext cx="1849676" cy="64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>
              <a:lnSpc>
                <a:spcPct val="118000"/>
              </a:lnSpc>
            </a:pPr>
            <a:r>
              <a:rPr lang="zh-CN" sz="14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 집행 금지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73" name="Rectangle 28"/>
          <p:cNvSpPr/>
          <p:nvPr/>
        </p:nvSpPr>
        <p:spPr>
          <a:xfrm>
            <a:off x="5028901" y="4151376"/>
            <a:ext cx="6182276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74" name="TextBox 29"/>
          <p:cNvSpPr/>
          <p:nvPr/>
        </p:nvSpPr>
        <p:spPr>
          <a:xfrm>
            <a:off x="5134212" y="4224528"/>
            <a:ext cx="5971654" cy="64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118000"/>
              </a:lnSpc>
            </a:pPr>
            <a:r>
              <a:rPr lang="zh-CN" sz="135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 집행의 의미와 이유를 이해할 능력이 결여된 경우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75" name="TextBox 30"/>
          <p:cNvSpPr/>
          <p:nvPr/>
        </p:nvSpPr>
        <p:spPr>
          <a:xfrm>
            <a:off x="906923" y="5240528"/>
            <a:ext cx="10304254" cy="32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>
              <a:lnSpc>
                <a:spcPct val="118000"/>
              </a:lnSpc>
            </a:pPr>
            <a:r>
              <a:rPr lang="zh-CN" sz="125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청구인 </a:t>
            </a:r>
            <a:r>
              <a:rPr lang="en-US" sz="125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3</a:t>
            </a:r>
            <a:r>
              <a:rPr lang="zh-CN" sz="125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명은 재판 중 방어능력이 쟁점이 되었고</a:t>
            </a:r>
            <a:r>
              <a:rPr lang="en-US" sz="125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25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법 정비 전 집행 금지와 정비 후 특별구제절차 요청 대상이 되었다</a:t>
            </a:r>
            <a:r>
              <a:rPr lang="en-US" sz="1250" b="0" u="none" strike="noStrike" dirty="0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76" name="Rounded Rectangle 31"/>
          <p:cNvSpPr/>
          <p:nvPr/>
        </p:nvSpPr>
        <p:spPr>
          <a:xfrm>
            <a:off x="906923" y="5742360"/>
            <a:ext cx="10304254" cy="502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18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777" name="TextBox 32"/>
          <p:cNvSpPr/>
          <p:nvPr/>
        </p:nvSpPr>
        <p:spPr>
          <a:xfrm>
            <a:off x="1126177" y="5879520"/>
            <a:ext cx="9953447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>
              <a:lnSpc>
                <a:spcPct val="118000"/>
              </a:lnSpc>
            </a:pPr>
            <a:r>
              <a:rPr lang="ko-KR" altLang="en-US" sz="15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정신적 장애에 따른 제한은 진단명만이 아니라 범행</a:t>
            </a:r>
            <a:r>
              <a:rPr lang="en-US" altLang="ko-KR" sz="15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15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재판</a:t>
            </a:r>
            <a:r>
              <a:rPr lang="en-US" altLang="ko-KR" sz="15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15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집행 당시의 기능적 능력에 따른다</a:t>
            </a:r>
            <a:r>
              <a:rPr lang="en-US" altLang="ko-KR" sz="15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778" name="TextBox 33"/>
          <p:cNvSpPr/>
          <p:nvPr/>
        </p:nvSpPr>
        <p:spPr>
          <a:xfrm>
            <a:off x="731520" y="6473880"/>
            <a:ext cx="10523508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118000"/>
              </a:lnSpc>
            </a:pPr>
            <a:r>
              <a:rPr lang="zh-CN" sz="105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대만 사형제 헌법심판</a:t>
            </a:r>
            <a:r>
              <a:rPr lang="en-US" sz="105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(2024.9.20.) · </a:t>
            </a:r>
            <a:r>
              <a:rPr lang="zh-CN" sz="105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진단명 자체가 아니라 각 시점의 능력 기준으로 정리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KICKER"/>
          <p:cNvSpPr/>
          <p:nvPr/>
        </p:nvSpPr>
        <p:spPr>
          <a:xfrm>
            <a:off x="731520" y="365760"/>
            <a:ext cx="667332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 spc="20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정책대안 </a:t>
            </a:r>
            <a:r>
              <a:rPr lang="en-US" sz="1300" b="1" u="none" strike="noStrike" spc="20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lang="zh-CN" sz="1300" b="1" u="none" strike="noStrike" spc="20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대체형벌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32" name="TITLE"/>
          <p:cNvSpPr/>
          <p:nvPr/>
        </p:nvSpPr>
        <p:spPr>
          <a:xfrm>
            <a:off x="731520" y="640080"/>
            <a:ext cx="1097100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275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가석방 없는 무기형 — 국내의 도입 논의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33" name="NEXT"/>
          <p:cNvSpPr/>
          <p:nvPr/>
        </p:nvSpPr>
        <p:spPr>
          <a:xfrm>
            <a:off x="7616880" y="365760"/>
            <a:ext cx="383868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다음 → 사형과 종신형의 비용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34" name="TH"/>
          <p:cNvSpPr/>
          <p:nvPr/>
        </p:nvSpPr>
        <p:spPr>
          <a:xfrm>
            <a:off x="928370" y="2381400"/>
            <a:ext cx="232992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150" b="1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자료 </a:t>
            </a:r>
            <a:r>
              <a:rPr lang="en-US" sz="1150" b="1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lang="zh-CN" sz="1150" b="1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시점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35" name="TH"/>
          <p:cNvSpPr/>
          <p:nvPr/>
        </p:nvSpPr>
        <p:spPr>
          <a:xfrm>
            <a:off x="3246120" y="2381400"/>
            <a:ext cx="315288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150" b="1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논의의 맥락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36" name="TH"/>
          <p:cNvSpPr/>
          <p:nvPr/>
        </p:nvSpPr>
        <p:spPr>
          <a:xfrm>
            <a:off x="6675120" y="2381400"/>
            <a:ext cx="475308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150" b="1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핵심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37" name="L"/>
          <p:cNvSpPr/>
          <p:nvPr/>
        </p:nvSpPr>
        <p:spPr>
          <a:xfrm>
            <a:off x="731520" y="270504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38" name="C1"/>
          <p:cNvSpPr/>
          <p:nvPr/>
        </p:nvSpPr>
        <p:spPr>
          <a:xfrm>
            <a:off x="910080" y="2793940"/>
            <a:ext cx="2329920" cy="68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법무부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2023. 8.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39" name="C2"/>
          <p:cNvSpPr/>
          <p:nvPr/>
        </p:nvSpPr>
        <p:spPr>
          <a:xfrm>
            <a:off x="3246120" y="2819520"/>
            <a:ext cx="3152880" cy="68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사형을 유지한 채 가석방 없는 무기형을 추가하는 정부안을 입법예고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40" name="C3"/>
          <p:cNvSpPr/>
          <p:nvPr/>
        </p:nvSpPr>
        <p:spPr>
          <a:xfrm>
            <a:off x="6675120" y="2819520"/>
            <a:ext cx="4753080" cy="68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사형을 유지하면서 별도의 가석방 없는 무기형을 추가하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는 구조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41" name="L"/>
          <p:cNvSpPr/>
          <p:nvPr/>
        </p:nvSpPr>
        <p:spPr>
          <a:xfrm>
            <a:off x="731520" y="352404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42" name="C1"/>
          <p:cNvSpPr/>
          <p:nvPr/>
        </p:nvSpPr>
        <p:spPr>
          <a:xfrm>
            <a:off x="910080" y="3612940"/>
            <a:ext cx="2329920" cy="68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대한변호사협회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2023. 9. 12.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43" name="C2"/>
          <p:cNvSpPr/>
          <p:nvPr/>
        </p:nvSpPr>
        <p:spPr>
          <a:xfrm>
            <a:off x="3246120" y="3638520"/>
            <a:ext cx="3152880" cy="68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법무부의 가석방 없는 무기형 신설 개정안에 검토의견 제출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44" name="C3"/>
          <p:cNvSpPr/>
          <p:nvPr/>
        </p:nvSpPr>
        <p:spPr>
          <a:xfrm>
            <a:off x="6675120" y="3638520"/>
            <a:ext cx="4753080" cy="68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 외에 가석방 없는 무기형도 선택할 수 있어야 한다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는 취지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의견서 전달 보도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)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45" name="L"/>
          <p:cNvSpPr/>
          <p:nvPr/>
        </p:nvSpPr>
        <p:spPr>
          <a:xfrm>
            <a:off x="731520" y="430524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46" name="C1"/>
          <p:cNvSpPr/>
          <p:nvPr/>
        </p:nvSpPr>
        <p:spPr>
          <a:xfrm>
            <a:off x="910080" y="4394140"/>
            <a:ext cx="2329920" cy="74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2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법원행정처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2023. 8. 25.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47" name="C2"/>
          <p:cNvSpPr/>
          <p:nvPr/>
        </p:nvSpPr>
        <p:spPr>
          <a:xfrm>
            <a:off x="3246120" y="4654670"/>
            <a:ext cx="3152880" cy="3722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국회 법제사법위원회의 의견조회에 회신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48" name="C3"/>
          <p:cNvSpPr/>
          <p:nvPr/>
        </p:nvSpPr>
        <p:spPr>
          <a:xfrm>
            <a:off x="6675120" y="4419720"/>
            <a:ext cx="4753080" cy="74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 대체인지 추가 형벌인지 먼저 검토할 필요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ko-KR" altLang="en-US" sz="1200" dirty="0" err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ㅡ</a:t>
            </a:r>
            <a:r>
              <a:rPr lang="ko-KR" altLang="en-US" sz="120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 사형을 유지한 채 가석방 없는 무기형을 별도 형벌로 추가하면</a:t>
            </a:r>
            <a:r>
              <a:rPr lang="en-US" altLang="ko-KR" sz="120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20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입법 방식에 따라 </a:t>
            </a:r>
            <a:r>
              <a:rPr lang="ko-KR" altLang="en-US" sz="120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기존에 사형이 법정형이 아니었던 범죄에도 적용범위가 넓어질 수 있다는 우려</a:t>
            </a:r>
            <a:r>
              <a:rPr lang="en-US" altLang="ko-KR" sz="120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49" name="L"/>
          <p:cNvSpPr/>
          <p:nvPr/>
        </p:nvSpPr>
        <p:spPr>
          <a:xfrm>
            <a:off x="731520" y="521964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50" name="C1"/>
          <p:cNvSpPr/>
          <p:nvPr/>
        </p:nvSpPr>
        <p:spPr>
          <a:xfrm>
            <a:off x="928370" y="5334840"/>
            <a:ext cx="2329920" cy="117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2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국회입법조사처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2023. 10.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51" name="C2"/>
          <p:cNvSpPr/>
          <p:nvPr/>
        </p:nvSpPr>
        <p:spPr>
          <a:xfrm>
            <a:off x="3246120" y="5315040"/>
            <a:ext cx="3152880" cy="117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ko-KR" altLang="en-US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도입 시 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새 형벌의 보완책과 별도 대안을 구분한다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52" name="C3"/>
          <p:cNvSpPr/>
          <p:nvPr/>
        </p:nvSpPr>
        <p:spPr>
          <a:xfrm>
            <a:off x="6675120" y="5315040"/>
            <a:ext cx="4753080" cy="117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도입 시 보완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: 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특별감형을 거쳐 가석방 가능한 형으로 바꿀 길을 마련한다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ko-KR" altLang="en-US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미 도입 시 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별도 대안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: 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최소복역기간</a:t>
            </a:r>
            <a:r>
              <a:rPr lang="en-US" alt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현 </a:t>
            </a:r>
            <a:r>
              <a:rPr lang="en-US" altLang="ko-KR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2</a:t>
            </a:r>
            <a:r>
              <a:rPr lang="en-US" altLang="ko-KR" sz="120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0</a:t>
            </a:r>
            <a:r>
              <a:rPr lang="ko-KR" altLang="en-US" sz="120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년</a:t>
            </a:r>
            <a:r>
              <a:rPr lang="en-US" altLang="ko-KR" sz="120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)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lang="zh-CN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심사요건을 강화한다</a:t>
            </a:r>
            <a:r>
              <a:rPr lang="en-US" sz="1200" b="0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53" name="L"/>
          <p:cNvSpPr/>
          <p:nvPr/>
        </p:nvSpPr>
        <p:spPr>
          <a:xfrm>
            <a:off x="731520" y="653400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54" name="BAND"/>
          <p:cNvSpPr/>
          <p:nvPr/>
        </p:nvSpPr>
        <p:spPr>
          <a:xfrm>
            <a:off x="731520" y="1417320"/>
            <a:ext cx="10696680" cy="83952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855" name="BANDT"/>
          <p:cNvSpPr/>
          <p:nvPr/>
        </p:nvSpPr>
        <p:spPr>
          <a:xfrm>
            <a:off x="1005840" y="1417320"/>
            <a:ext cx="10148040" cy="83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검토할 선택은 두 가지다</a:t>
            </a:r>
            <a:r>
              <a:rPr lang="en-US" sz="13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: </a:t>
            </a:r>
            <a:r>
              <a:rPr lang="zh-CN" sz="13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사형을 대체할 것인가</a:t>
            </a:r>
            <a:r>
              <a:rPr lang="en-US" sz="13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3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사형을 유지하면서 새 형벌을 추가할 것인가</a:t>
            </a:r>
            <a:r>
              <a:rPr lang="en-US" sz="1300" b="0" u="none" strike="noStrike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101"/>
          <p:cNvSpPr/>
          <p:nvPr/>
        </p:nvSpPr>
        <p:spPr>
          <a:xfrm>
            <a:off x="731520" y="365760"/>
            <a:ext cx="667332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 spc="201">
                <a:solidFill>
                  <a:srgbClr val="464D5C"/>
                </a:solidFill>
                <a:effectLst/>
                <a:uFillTx/>
                <a:latin typeface="Pretendard"/>
                <a:ea typeface="Pretendard"/>
                <a:cs typeface="Pretendard"/>
              </a:rPr>
              <a:t>논제와 쟁점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15" name="S102"/>
          <p:cNvSpPr/>
          <p:nvPr/>
        </p:nvSpPr>
        <p:spPr>
          <a:xfrm>
            <a:off x="731520" y="640080"/>
            <a:ext cx="1097100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ko-KR" altLang="en-US" sz="275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한국에서 </a:t>
            </a:r>
            <a:r>
              <a:rPr lang="zh-CN" sz="275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사형을 폐지한다는 것은 무엇을 바꾸는가</a:t>
            </a:r>
            <a:endParaRPr lang="en-US" sz="27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16" name="S103"/>
          <p:cNvSpPr/>
          <p:nvPr/>
        </p:nvSpPr>
        <p:spPr>
          <a:xfrm>
            <a:off x="731520" y="1417320"/>
            <a:ext cx="10696680" cy="54684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17" name="S104"/>
          <p:cNvSpPr/>
          <p:nvPr/>
        </p:nvSpPr>
        <p:spPr>
          <a:xfrm>
            <a:off x="1005840" y="1417320"/>
            <a:ext cx="10148040" cy="54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“사형제는 폐지되어야 하는가?”</a:t>
            </a:r>
            <a:r>
              <a:rPr lang="zh-CN" sz="1300" b="1" u="none" strike="noStrike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는 사형이라는 형벌을 법에서 없앨 것인지를 묻는다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18" name="L105"/>
          <p:cNvSpPr/>
          <p:nvPr/>
        </p:nvSpPr>
        <p:spPr>
          <a:xfrm>
            <a:off x="731520" y="2194560"/>
            <a:ext cx="10698480" cy="360"/>
          </a:xfrm>
          <a:prstGeom prst="line">
            <a:avLst/>
          </a:prstGeom>
          <a:ln w="1905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19" name="NEXT"/>
          <p:cNvSpPr/>
          <p:nvPr/>
        </p:nvSpPr>
        <p:spPr>
          <a:xfrm>
            <a:off x="7616880" y="365760"/>
            <a:ext cx="383868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6E7686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다음 → 사형 규정의 역사적 변천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20" name="M411"/>
          <p:cNvSpPr/>
          <p:nvPr/>
        </p:nvSpPr>
        <p:spPr>
          <a:xfrm>
            <a:off x="731520" y="5495400"/>
            <a:ext cx="1069668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21" name="R600"/>
          <p:cNvSpPr/>
          <p:nvPr/>
        </p:nvSpPr>
        <p:spPr>
          <a:xfrm>
            <a:off x="731520" y="2517480"/>
            <a:ext cx="493596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사형의 형벌체계상 특수성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22" name="R601"/>
          <p:cNvSpPr/>
          <p:nvPr/>
        </p:nvSpPr>
        <p:spPr>
          <a:xfrm>
            <a:off x="731520" y="2928960"/>
            <a:ext cx="4935960" cy="100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5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가장 무거운 형이자 생명을 직접 박탈하는 형벌</a:t>
            </a:r>
            <a:endParaRPr lang="en-US" sz="13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5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다른 형벌과 달리</a:t>
            </a:r>
            <a:r>
              <a:rPr lang="en-US" altLang="zh-CN" sz="1350" b="1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,</a:t>
            </a:r>
            <a:r>
              <a:rPr lang="en-US" sz="135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35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사형이 </a:t>
            </a:r>
            <a:r>
              <a:rPr lang="zh-CN" sz="135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집행</a:t>
            </a:r>
            <a:r>
              <a:rPr lang="ko-KR" altLang="en-US" sz="135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된</a:t>
            </a:r>
            <a:r>
              <a:rPr lang="zh-CN" sz="135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 뒤 박탈된 생명을 회복할 수 없다</a:t>
            </a:r>
            <a:endParaRPr lang="en-US" sz="13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23" name="R602"/>
          <p:cNvSpPr/>
          <p:nvPr/>
        </p:nvSpPr>
        <p:spPr>
          <a:xfrm>
            <a:off x="6309360" y="2517480"/>
            <a:ext cx="5118840" cy="29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0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폐지 논의에서 비교</a:t>
            </a:r>
            <a:r>
              <a:rPr lang="ko-KR" altLang="en-US" sz="130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와 대안이</a:t>
            </a:r>
            <a:r>
              <a:rPr lang="zh-CN" sz="130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 필요한 이유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24" name="R603"/>
          <p:cNvSpPr/>
          <p:nvPr/>
        </p:nvSpPr>
        <p:spPr>
          <a:xfrm>
            <a:off x="6309360" y="2928960"/>
            <a:ext cx="5118840" cy="100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350" b="1" u="none" strike="noStrike" dirty="0">
                <a:solidFill>
                  <a:srgbClr val="222633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사형의 기능을 다른 형벌로도 달성할 수 있는가</a:t>
            </a:r>
            <a:endParaRPr lang="en-US" sz="13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altLang="en-US" sz="1200" dirty="0">
                <a:solidFill>
                  <a:srgbClr val="464D5C"/>
                </a:solidFill>
                <a:latin typeface="Pretendard"/>
                <a:cs typeface="Pretendard"/>
              </a:rPr>
              <a:t>사회보호</a:t>
            </a:r>
            <a:r>
              <a:rPr lang="en-US" sz="120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zh-CN" altLang="en-US" sz="1200" dirty="0">
                <a:solidFill>
                  <a:srgbClr val="464D5C"/>
                </a:solidFill>
                <a:latin typeface="Pretendard"/>
                <a:cs typeface="Pretendard"/>
              </a:rPr>
              <a:t>범죄예방</a:t>
            </a:r>
            <a:r>
              <a:rPr lang="en-US" sz="120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zh-CN" altLang="en-US" sz="1200" dirty="0">
                <a:solidFill>
                  <a:srgbClr val="464D5C"/>
                </a:solidFill>
                <a:latin typeface="Pretendard"/>
                <a:cs typeface="Pretendard"/>
              </a:rPr>
              <a:t>책임에 상응하는 처벌을 </a:t>
            </a:r>
            <a:r>
              <a:rPr lang="zh-CN" altLang="en-US" sz="1200" dirty="0">
                <a:solidFill>
                  <a:srgbClr val="464D5C"/>
                </a:solidFill>
                <a:latin typeface="Pretendard"/>
                <a:cs typeface="Pretendard"/>
              </a:rPr>
              <a:t>다른 형벌이 어느 정도 수행할 수 있는지 살펴야 한다</a:t>
            </a:r>
            <a:endParaRPr lang="en-US" sz="1200" dirty="0">
              <a:solidFill>
                <a:srgbClr val="464D5C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25" name="R605"/>
          <p:cNvSpPr/>
          <p:nvPr/>
        </p:nvSpPr>
        <p:spPr>
          <a:xfrm>
            <a:off x="2484120" y="4124880"/>
            <a:ext cx="7059930" cy="30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사형이 갖는 최고형의 위치와 특수한 기능 때문에</a:t>
            </a:r>
            <a:r>
              <a:rPr lang="en-US" sz="14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lang="zh-CN" sz="14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폐지 뒤 최고형의 종류와 </a:t>
            </a:r>
            <a:r>
              <a:rPr lang="ko-KR" altLang="en-US" sz="14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범위</a:t>
            </a:r>
            <a:r>
              <a:rPr lang="zh-CN" sz="1400" b="1" u="none" strike="noStrike" dirty="0">
                <a:solidFill>
                  <a:srgbClr val="1E2761"/>
                </a:solidFill>
                <a:effectLst/>
                <a:uFillTx/>
                <a:latin typeface="Pretendard"/>
                <a:ea typeface="Pretendard"/>
                <a:cs typeface="Pretendard"/>
              </a:rPr>
              <a:t>도 함께 설계해야 한다</a:t>
            </a:r>
            <a:endParaRPr lang="en-US" sz="140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26" name="RL606"/>
          <p:cNvSpPr/>
          <p:nvPr/>
        </p:nvSpPr>
        <p:spPr>
          <a:xfrm>
            <a:off x="731520" y="475488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27" name="R607"/>
          <p:cNvSpPr/>
          <p:nvPr/>
        </p:nvSpPr>
        <p:spPr>
          <a:xfrm>
            <a:off x="731520" y="4920840"/>
            <a:ext cx="10696680" cy="30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ko-KR" altLang="en-US" sz="1250" b="1" u="none" strike="noStrike" dirty="0">
                <a:solidFill>
                  <a:srgbClr val="A8871C"/>
                </a:solidFill>
                <a:effectLst/>
                <a:uFillTx/>
                <a:latin typeface="Pretendard"/>
                <a:ea typeface="Pretendard"/>
                <a:cs typeface="Pretendard"/>
              </a:rPr>
              <a:t>사형제의 필요성과 폐지 이후의 결과를 판단하기 위해 필요한 관련 쟁점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  <p:sp>
        <p:nvSpPr>
          <p:cNvPr id="128" name="R608"/>
          <p:cNvSpPr/>
          <p:nvPr/>
        </p:nvSpPr>
        <p:spPr>
          <a:xfrm>
            <a:off x="731520" y="5303520"/>
            <a:ext cx="10696680" cy="72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ko-KR" altLang="en-US" sz="1350" b="1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폐지 시 대체 형벌의 설계</a:t>
            </a:r>
            <a:endParaRPr lang="en-US" altLang="ko-KR" sz="1350" b="1" dirty="0">
              <a:solidFill>
                <a:srgbClr val="222633"/>
              </a:solidFill>
              <a:latin typeface="Pretendard"/>
              <a:ea typeface="Pretendard"/>
              <a:cs typeface="Pretendard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altLang="en-US" sz="1350" b="1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집행 재개 여부</a:t>
            </a:r>
            <a:endParaRPr lang="en-US" sz="1350" b="1" dirty="0">
              <a:solidFill>
                <a:srgbClr val="222633"/>
              </a:solidFill>
              <a:latin typeface="Pretendard"/>
              <a:ea typeface="Pretendard"/>
              <a:cs typeface="Pretendard"/>
            </a:endParaRPr>
          </a:p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ko-KR" altLang="en-US" sz="1350" b="1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사형 적용 범위의 축소 여부</a:t>
            </a:r>
            <a:endParaRPr lang="en-US" altLang="ko-KR" sz="1350" b="1" dirty="0">
              <a:solidFill>
                <a:srgbClr val="222633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29" name="RL609"/>
          <p:cNvSpPr/>
          <p:nvPr/>
        </p:nvSpPr>
        <p:spPr>
          <a:xfrm>
            <a:off x="729720" y="6101080"/>
            <a:ext cx="10698480" cy="360"/>
          </a:xfrm>
          <a:prstGeom prst="line">
            <a:avLst/>
          </a:prstGeom>
          <a:ln w="9525">
            <a:solidFill>
              <a:srgbClr val="DC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2026-09-08T07:27:05.8650000Z</dcterms:created>
  <dcterms:modified xsi:type="dcterms:W3CDTF">2026-09-08T07:27:05.8650000Z</dcterms:modified>
</coreProperties>
</file>