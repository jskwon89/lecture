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db9894d34f841ee" /><Relationship Type="http://schemas.openxmlformats.org/officeDocument/2006/relationships/extended-properties" Target="/docProps/app.xml" Id="R9ff22d01e5e94157" /><Relationship Type="http://schemas.openxmlformats.org/officeDocument/2006/relationships/officeDocument" Target="/ppt/presentation.xml" Id="R9a3917248b334102" /></Relationships>
</file>

<file path=ppt/presentation.xml><?xml version="1.0" encoding="utf-8"?>
<p:presentation xmlns:p="http://schemas.openxmlformats.org/presentationml/2006/main">
  <p:sldMasterIdLst>
    <p:sldMasterId xmlns:r="http://schemas.openxmlformats.org/officeDocument/2006/relationships" id="2147483648" r:id="Rd9be9f865a404e56"/>
  </p:sldMasterIdLst>
  <p:notesMasterIdLst>
    <p:notesMasterId xmlns:r="http://schemas.openxmlformats.org/officeDocument/2006/relationships" r:id="R2e39bfc6afa745de"/>
  </p:notesMasterIdLst>
  <p:sldIdLst>
    <p:sldId xmlns:r="http://schemas.openxmlformats.org/officeDocument/2006/relationships" id="256" r:id="R3280ab2b56ce44ef"/>
    <p:sldId xmlns:r="http://schemas.openxmlformats.org/officeDocument/2006/relationships" id="257" r:id="R9e27a84fbf93488d"/>
    <p:sldId xmlns:r="http://schemas.openxmlformats.org/officeDocument/2006/relationships" id="258" r:id="R1a951fe7efc74696"/>
    <p:sldId xmlns:r="http://schemas.openxmlformats.org/officeDocument/2006/relationships" id="259" r:id="Re4021639a7ca47bf"/>
    <p:sldId xmlns:r="http://schemas.openxmlformats.org/officeDocument/2006/relationships" id="260" r:id="Rd18658147d0047dc"/>
    <p:sldId xmlns:r="http://schemas.openxmlformats.org/officeDocument/2006/relationships" id="261" r:id="R98ec767a534440ae"/>
    <p:sldId xmlns:r="http://schemas.openxmlformats.org/officeDocument/2006/relationships" id="262" r:id="R1049137a876c4cde"/>
    <p:sldId xmlns:r="http://schemas.openxmlformats.org/officeDocument/2006/relationships" id="263" r:id="R386909bde7014285"/>
    <p:sldId xmlns:r="http://schemas.openxmlformats.org/officeDocument/2006/relationships" id="264" r:id="Rd2f050a52ed743c6"/>
    <p:sldId xmlns:r="http://schemas.openxmlformats.org/officeDocument/2006/relationships" id="265" r:id="Rb2824f82683c4cb3"/>
    <p:sldId xmlns:r="http://schemas.openxmlformats.org/officeDocument/2006/relationships" id="266" r:id="R3b3793433662435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598620f73094bd2" /><Relationship Type="http://schemas.openxmlformats.org/officeDocument/2006/relationships/slideMaster" Target="/ppt/slideMasters/slideMaster1.xml" Id="Rd9be9f865a404e56" /><Relationship Type="http://schemas.openxmlformats.org/officeDocument/2006/relationships/notesMaster" Target="/ppt/notesMasters/notesMaster1.xml" Id="R2e39bfc6afa745de" /><Relationship Type="http://schemas.openxmlformats.org/officeDocument/2006/relationships/presProps" Target="/ppt/presProps.xml" Id="R05ebd228fd9d40a1" /><Relationship Type="http://schemas.openxmlformats.org/officeDocument/2006/relationships/tableStyles" Target="/ppt/tableStyles.xml" Id="Re92ea7a310a744df" /><Relationship Type="http://schemas.openxmlformats.org/officeDocument/2006/relationships/slide" Target="/ppt/slides/slide1.xml" Id="R3280ab2b56ce44ef" /><Relationship Type="http://schemas.openxmlformats.org/officeDocument/2006/relationships/slide" Target="/ppt/slides/slide2.xml" Id="R9e27a84fbf93488d" /><Relationship Type="http://schemas.openxmlformats.org/officeDocument/2006/relationships/slide" Target="/ppt/slides/slide3.xml" Id="R1a951fe7efc74696" /><Relationship Type="http://schemas.openxmlformats.org/officeDocument/2006/relationships/slide" Target="/ppt/slides/slide4.xml" Id="Re4021639a7ca47bf" /><Relationship Type="http://schemas.openxmlformats.org/officeDocument/2006/relationships/slide" Target="/ppt/slides/slide5.xml" Id="Rd18658147d0047dc" /><Relationship Type="http://schemas.openxmlformats.org/officeDocument/2006/relationships/slide" Target="/ppt/slides/slide6.xml" Id="R98ec767a534440ae" /><Relationship Type="http://schemas.openxmlformats.org/officeDocument/2006/relationships/slide" Target="/ppt/slides/slide7.xml" Id="R1049137a876c4cde" /><Relationship Type="http://schemas.openxmlformats.org/officeDocument/2006/relationships/slide" Target="/ppt/slides/slide8.xml" Id="R386909bde7014285" /><Relationship Type="http://schemas.openxmlformats.org/officeDocument/2006/relationships/slide" Target="/ppt/slides/slide9.xml" Id="Rd2f050a52ed743c6" /><Relationship Type="http://schemas.openxmlformats.org/officeDocument/2006/relationships/slide" Target="/ppt/slides/slide10.xml" Id="Rb2824f82683c4cb3" /><Relationship Type="http://schemas.openxmlformats.org/officeDocument/2006/relationships/slide" Target="/ppt/slides/slide11.xml" Id="R3b3793433662435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9d2f4efa0b5421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524112213c64021" /><Relationship Type="http://schemas.openxmlformats.org/officeDocument/2006/relationships/notesMaster" Target="/ppt/notesMasters/notesMaster1.xml" Id="Rb0e18480ee5d4860" /></Relationships>
</file>

<file path=ppt/notesSlides/_rels/notesSlide2.xml.rels>&#65279;<?xml version="1.0" encoding="utf-8"?><Relationships xmlns="http://schemas.openxmlformats.org/package/2006/relationships"><Relationship Type="http://schemas.openxmlformats.org/officeDocument/2006/relationships/slide" Target="/ppt/slides/slide2.xml" Id="R555f345d4c524845" /><Relationship Type="http://schemas.openxmlformats.org/officeDocument/2006/relationships/notesMaster" Target="/ppt/notesMasters/notesMaster1.xml" Id="R0a3f574e64c74d04" /></Relationships>
</file>

<file path=ppt/notesSlides/_rels/notesSlide3.xml.rels>&#65279;<?xml version="1.0" encoding="utf-8"?><Relationships xmlns="http://schemas.openxmlformats.org/package/2006/relationships"><Relationship Type="http://schemas.openxmlformats.org/officeDocument/2006/relationships/slide" Target="/ppt/slides/slide3.xml" Id="R6452c509477d405c" /><Relationship Type="http://schemas.openxmlformats.org/officeDocument/2006/relationships/notesMaster" Target="/ppt/notesMasters/notesMaster1.xml" Id="Rf4fb7fa84eaf460f" /></Relationships>
</file>

<file path=ppt/notesSlides/_rels/notesSlide4.xml.rels>&#65279;<?xml version="1.0" encoding="utf-8"?><Relationships xmlns="http://schemas.openxmlformats.org/package/2006/relationships"><Relationship Type="http://schemas.openxmlformats.org/officeDocument/2006/relationships/slide" Target="/ppt/slides/slide4.xml" Id="R5c3b002820d74636" /><Relationship Type="http://schemas.openxmlformats.org/officeDocument/2006/relationships/notesMaster" Target="/ppt/notesMasters/notesMaster1.xml" Id="R7b27f718125c4f87" /></Relationships>
</file>

<file path=ppt/notesSlides/_rels/notesSlide5.xml.rels>&#65279;<?xml version="1.0" encoding="utf-8"?><Relationships xmlns="http://schemas.openxmlformats.org/package/2006/relationships"><Relationship Type="http://schemas.openxmlformats.org/officeDocument/2006/relationships/slide" Target="/ppt/slides/slide5.xml" Id="R4272aa90e27643fe" /><Relationship Type="http://schemas.openxmlformats.org/officeDocument/2006/relationships/notesMaster" Target="/ppt/notesMasters/notesMaster1.xml" Id="Rd3ab663d65764dee" /></Relationships>
</file>

<file path=ppt/notesSlides/_rels/notesSlide6.xml.rels>&#65279;<?xml version="1.0" encoding="utf-8"?><Relationships xmlns="http://schemas.openxmlformats.org/package/2006/relationships"><Relationship Type="http://schemas.openxmlformats.org/officeDocument/2006/relationships/slide" Target="/ppt/slides/slide6.xml" Id="R2d3ef0b46a7c44bc" /><Relationship Type="http://schemas.openxmlformats.org/officeDocument/2006/relationships/notesMaster" Target="/ppt/notesMasters/notesMaster1.xml" Id="Rb9d2a3d08dfe4422" /></Relationships>
</file>

<file path=ppt/notesSlides/_rels/notesSlide7.xml.rels>&#65279;<?xml version="1.0" encoding="utf-8"?><Relationships xmlns="http://schemas.openxmlformats.org/package/2006/relationships"><Relationship Type="http://schemas.openxmlformats.org/officeDocument/2006/relationships/slide" Target="/ppt/slides/slide7.xml" Id="Rceb67f2be51c411e" /><Relationship Type="http://schemas.openxmlformats.org/officeDocument/2006/relationships/notesMaster" Target="/ppt/notesMasters/notesMaster1.xml" Id="R301f90698198489e" /></Relationships>
</file>

<file path=ppt/notesSlides/_rels/notesSlide8.xml.rels>&#65279;<?xml version="1.0" encoding="utf-8"?><Relationships xmlns="http://schemas.openxmlformats.org/package/2006/relationships"><Relationship Type="http://schemas.openxmlformats.org/officeDocument/2006/relationships/slide" Target="/ppt/slides/slide8.xml" Id="R6513279126b84bda" /><Relationship Type="http://schemas.openxmlformats.org/officeDocument/2006/relationships/notesMaster" Target="/ppt/notesMasters/notesMaster1.xml" Id="R11966cd606eb4316" /></Relationships>
</file>

<file path=ppt/notesSlides/_rels/notesSlide9.xml.rels>&#65279;<?xml version="1.0" encoding="utf-8"?><Relationships xmlns="http://schemas.openxmlformats.org/package/2006/relationships"><Relationship Type="http://schemas.openxmlformats.org/officeDocument/2006/relationships/slide" Target="/ppt/slides/slide9.xml" Id="R4dd22536083d4056" /><Relationship Type="http://schemas.openxmlformats.org/officeDocument/2006/relationships/notesMaster" Target="/ppt/notesMasters/notesMaster1.xml" Id="Rcc279384bf724e8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b1a2a05d3c8497e" /><Relationship Type="http://schemas.openxmlformats.org/officeDocument/2006/relationships/notesMaster" Target="/ppt/notesMasters/notesMaster1.xml" Id="R3a12799d2c8940e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f87ef22173846e6" /><Relationship Type="http://schemas.openxmlformats.org/officeDocument/2006/relationships/notesMaster" Target="/ppt/notesMasters/notesMaster1.xml" Id="Rb1ab53f8b0054f8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lnSpc>
                <a:spcPct val="125000"/>
              </a:lnSpc>
            </a:pPr>
            <a:r>
              <a:t>제1장 1/11 · 소년부 보호사건의 세 출발점</a:t>
            </a:r>
          </a:p>
          <a:p xmlns:a="http://schemas.openxmlformats.org/drawingml/2006/main">
            <a:pPr>
              <a:lnSpc>
                <a:spcPct val="125000"/>
              </a:lnSpc>
            </a:pPr>
            <a:r>
              <a:t>목적: 이미 한 행위와 앞으로의 우려를 구분하고 ‘우범사유’를 쉬운 말로 소개한다.</a:t>
            </a:r>
          </a:p>
          <a:p xmlns:a="http://schemas.openxmlformats.org/drawingml/2006/main">
            <a:pPr>
              <a:lnSpc>
                <a:spcPct val="125000"/>
              </a:lnSpc>
            </a:pPr>
            <a:r>
              <a:t>설명 시간: 약 2분 (수업 운영용 추정)</a:t>
            </a:r>
          </a:p>
          <a:p xmlns:a="http://schemas.openxmlformats.org/drawingml/2006/main">
            <a:pPr>
              <a:lnSpc>
                <a:spcPct val="125000"/>
              </a:lnSpc>
            </a:pPr>
            <a:r>
              <a:t/>
            </a:r>
          </a:p>
          <a:p xmlns:a="http://schemas.openxmlformats.org/drawingml/2006/main">
            <a:pPr>
              <a:lnSpc>
                <a:spcPct val="125000"/>
              </a:lnSpc>
            </a:pPr>
            <a:r>
              <a:t>강의 대본</a:t>
            </a:r>
          </a:p>
          <a:p xmlns:a="http://schemas.openxmlformats.org/drawingml/2006/main">
            <a:pPr>
              <a:lnSpc>
                <a:spcPct val="125000"/>
              </a:lnSpc>
            </a:pPr>
            <a:r>
              <a:t>오늘 논제는 성매매가 우려되는 가출 청소년을 우범소년으로 소년부에 송치해야 하는가입니다. 이 질문을 이해하려면 먼저 소년부 보호사건이 어떤 사실을 출발점으로 하는지 봐야 합니다. 첫째는 죄를 범한 소년, 둘째는 형벌 법령에 저촉되는 행위를 한 10세 이상 14세 미만 소년입니다. 두 범주는 이미 일어난 행위를 봅니다. 같은 종류의 행위를 했더라도 14세 미만에게는 형사책임을 묻지 않으므로 조문의 표현이 달라집니다.</a:t>
            </a:r>
          </a:p>
          <a:p xmlns:a="http://schemas.openxmlformats.org/drawingml/2006/main">
            <a:pPr>
              <a:lnSpc>
                <a:spcPct val="125000"/>
              </a:lnSpc>
            </a:pPr>
            <a:r>
              <a:t/>
            </a:r>
          </a:p>
          <a:p xmlns:a="http://schemas.openxmlformats.org/drawingml/2006/main">
            <a:pPr>
              <a:lnSpc>
                <a:spcPct val="125000"/>
              </a:lnSpc>
            </a:pPr>
            <a:r>
              <a:t>셋째인 우범소년은 앞으로의 우려를 요건으로 삼습니다. 우범은 쉽게 말해 ‘앞으로 범죄를 저지를 우려가 있다’는 뜻입니다. 우범사유는 그런 우려를 갖게 하는 행동이나 상황이라는 말입니다. 다만 법을 적용할 때는 우리가 위험해 보인다고 생각하는 모든 사정을 마음대로 우범사유로 정할 수 없습니다. 법에 정해진 사유가 있어야 합니다.</a:t>
            </a:r>
          </a:p>
          <a:p xmlns:a="http://schemas.openxmlformats.org/drawingml/2006/main">
            <a:pPr>
              <a:lnSpc>
                <a:spcPct val="125000"/>
              </a:lnSpc>
            </a:pPr>
            <a:r>
              <a:t/>
            </a:r>
          </a:p>
          <a:p xmlns:a="http://schemas.openxmlformats.org/drawingml/2006/main">
            <a:pPr>
              <a:lnSpc>
                <a:spcPct val="125000"/>
              </a:lnSpc>
            </a:pPr>
            <a:r>
              <a:t>세 범주는 모두 소년법상 보호사건의 대상이지만, 보호사건이 성립하는 요건은 서로 다릅니다. 오늘 우리가 따질 것은 가출 청소년에게 도움이 필요한가만이 아닙니다. 그 청소년을 ‘우범소년’이라는 법적 경로로 보내는 요건과 이유가 무엇인가입니다. 이제 그 요건을 세 부분으로 나누어 보겠습니다.</a:t>
            </a:r>
          </a:p>
          <a:p xmlns:a="http://schemas.openxmlformats.org/drawingml/2006/main">
            <a:pPr>
              <a:lnSpc>
                <a:spcPct val="125000"/>
              </a:lnSpc>
            </a:pPr>
            <a:r>
              <a:t/>
            </a:r>
          </a:p>
          <a:p xmlns:a="http://schemas.openxmlformats.org/drawingml/2006/main">
            <a:pPr>
              <a:lnSpc>
                <a:spcPct val="125000"/>
              </a:lnSpc>
            </a:pPr>
            <a:r>
              <a:t>다음 연결</a:t>
            </a:r>
          </a:p>
          <a:p xmlns:a="http://schemas.openxmlformats.org/drawingml/2006/main">
            <a:pPr>
              <a:lnSpc>
                <a:spcPct val="125000"/>
              </a:lnSpc>
            </a:pPr>
            <a:r>
              <a:t>그러면 우범소년이라고 하려면 무엇을 함께 확인해야 할까요?</a:t>
            </a:r>
          </a:p>
          <a:p xmlns:a="http://schemas.openxmlformats.org/drawingml/2006/main">
            <a:pPr>
              <a:lnSpc>
                <a:spcPct val="125000"/>
              </a:lnSpc>
            </a:pPr>
            <a:r>
              <a:t/>
            </a:r>
          </a:p>
          <a:p xmlns:a="http://schemas.openxmlformats.org/drawingml/2006/main">
            <a:pPr>
              <a:lnSpc>
                <a:spcPct val="125000"/>
              </a:lnSpc>
            </a:pPr>
            <a:r>
              <a:t>자료 확인</a:t>
            </a:r>
          </a:p>
          <a:p xmlns:a="http://schemas.openxmlformats.org/drawingml/2006/main">
            <a:pPr>
              <a:lnSpc>
                <a:spcPct val="125000"/>
              </a:lnSpc>
            </a:pPr>
            <a:r>
              <a:t>소년법 제4조 제1항의 세 범주와 제2조의 19세 미만 기준을 대조했다. 화면의 우범·우범사유 설명은 쉬운 말 풀이이며 법정요건의 대체 정의가 아니다.</a:t>
            </a:r>
          </a:p>
          <a:p xmlns:a="http://schemas.openxmlformats.org/drawingml/2006/main">
            <a:pPr>
              <a:lnSpc>
                <a:spcPct val="125000"/>
              </a:lnSpc>
            </a:pPr>
            <a:r>
              <a:t/>
            </a:r>
          </a:p>
          <a:p xmlns:a="http://schemas.openxmlformats.org/drawingml/2006/main">
            <a:pPr>
              <a:lnSpc>
                <a:spcPct val="125000"/>
              </a:lnSpc>
            </a:pPr>
            <a:r>
              <a:t>설명 범위</a:t>
            </a:r>
          </a:p>
          <a:p xmlns:a="http://schemas.openxmlformats.org/drawingml/2006/main">
            <a:pPr>
              <a:lnSpc>
                <a:spcPct val="125000"/>
              </a:lnSpc>
            </a:pPr>
            <a:r>
              <a:t>‘촉법소년은 범죄와 무관한 행위를 한 소년’이라고 설명하지 않는다. 형사책임 연령과 행위의 성격을 구별한다.</a:t>
            </a:r>
          </a:p>
          <a:p xmlns:a="http://schemas.openxmlformats.org/drawingml/2006/main">
            <a:pPr>
              <a:lnSpc>
                <a:spcPct val="125000"/>
              </a:lnSpc>
            </a:pPr>
            <a:r>
              <a:t/>
            </a:r>
          </a:p>
          <a:p xmlns:a="http://schemas.openxmlformats.org/drawingml/2006/main">
            <a:pPr>
              <a:lnSpc>
                <a:spcPct val="125000"/>
              </a:lnSpc>
            </a:pPr>
            <a:r>
              <a:t>출처</a:t>
            </a:r>
          </a:p>
          <a:p xmlns:a="http://schemas.openxmlformats.org/drawingml/2006/main">
            <a:pPr>
              <a:lnSpc>
                <a:spcPct val="125000"/>
              </a:lnSpc>
            </a:pPr>
            <a:r>
              <a:t>[L1] 국가법령정보센터, 소년법</a:t>
            </a:r>
          </a:p>
          <a:p xmlns:a="http://schemas.openxmlformats.org/drawingml/2006/main">
            <a:pPr>
              <a:lnSpc>
                <a:spcPct val="125000"/>
              </a:lnSpc>
            </a:pPr>
            <a:r>
              <a:t>제2조·제3조·제4조·제19조·제29조·제32조. 확인본: 시행 2021.4.21., 법률 제17505호.</a:t>
            </a:r>
          </a:p>
          <a:p xmlns:a="http://schemas.openxmlformats.org/drawingml/2006/main">
            <a:pPr>
              <a:lnSpc>
                <a:spcPct val="125000"/>
              </a:lnSpc>
            </a:pPr>
            <a:r>
              <a:t>https://www.law.go.kr/lsInfoP.do?lsId=001662</a:t>
            </a:r>
          </a:p>
          <a:p xmlns:a="http://schemas.openxmlformats.org/drawingml/2006/main">
            <a:pPr>
              <a:lnSpc>
                <a:spcPct val="125000"/>
              </a:lnSpc>
            </a:pPr>
            <a:r>
              <a:t>연령, 우범소년 요건, 송치·통고, 소년부 심리와 처분의 구분. 부록에는 제4조 전문을 수록한다.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a:pPr>
              <a:lnSpc>
                <a:spcPct val="118000"/>
              </a:lnSpc>
            </a:pPr>
          </a:p>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lnSpc>
                <a:spcPct val="125000"/>
              </a:lnSpc>
            </a:pPr>
            <a:r>
              <a:t>제1장 2/11 · 우범소년의 세 요건</a:t>
            </a:r>
          </a:p>
          <a:p xmlns:a="http://schemas.openxmlformats.org/drawingml/2006/main">
            <a:pPr>
              <a:lnSpc>
                <a:spcPct val="125000"/>
              </a:lnSpc>
            </a:pPr>
            <a:r>
              <a:t>목적: 연령·법정 우범사유·장래 범법 우려가 함께 필요함을 보여 준다.</a:t>
            </a:r>
          </a:p>
          <a:p xmlns:a="http://schemas.openxmlformats.org/drawingml/2006/main">
            <a:pPr>
              <a:lnSpc>
                <a:spcPct val="125000"/>
              </a:lnSpc>
            </a:pPr>
            <a:r>
              <a:t>설명 시간: 약 2분 (수업 운영용 추정)</a:t>
            </a:r>
          </a:p>
          <a:p xmlns:a="http://schemas.openxmlformats.org/drawingml/2006/main">
            <a:pPr>
              <a:lnSpc>
                <a:spcPct val="125000"/>
              </a:lnSpc>
            </a:pPr>
            <a:r>
              <a:t/>
            </a:r>
          </a:p>
          <a:p xmlns:a="http://schemas.openxmlformats.org/drawingml/2006/main">
            <a:pPr>
              <a:lnSpc>
                <a:spcPct val="125000"/>
              </a:lnSpc>
            </a:pPr>
            <a:r>
              <a:t>강의 대본</a:t>
            </a:r>
          </a:p>
          <a:p xmlns:a="http://schemas.openxmlformats.org/drawingml/2006/main">
            <a:pPr>
              <a:lnSpc>
                <a:spcPct val="125000"/>
              </a:lnSpc>
            </a:pPr>
            <a:r>
              <a:t>우범소년의 요건은 세 가지를 함께 봅니다. 먼저 10세 이상 19세 미만이어야 합니다. 다음으로 법이 정한 가목·나목·다목 가운데 해당하는 사유가 있어야 합니다. 그리고 그 소년의 성격이나 환경을 보아 앞으로 형벌 법령에 저촉되는 행위를 할 우려가 있어야 합니다. 가출 사실 하나로 세 요건을 모두 충족했다고 말할 수 없는 구조입니다.</a:t>
            </a:r>
          </a:p>
          <a:p xmlns:a="http://schemas.openxmlformats.org/drawingml/2006/main">
            <a:pPr>
              <a:lnSpc>
                <a:spcPct val="125000"/>
              </a:lnSpc>
            </a:pPr>
            <a:r>
              <a:t/>
            </a:r>
          </a:p>
          <a:p xmlns:a="http://schemas.openxmlformats.org/drawingml/2006/main">
            <a:pPr>
              <a:lnSpc>
                <a:spcPct val="125000"/>
              </a:lnSpc>
            </a:pPr>
            <a:r>
              <a:t>여기서 장래의 우려는 ‘누군가 이 청소년에게 나쁜 일을 할 것 같다’는 뜻과 다릅니다. ‘이 청소년이 앞으로 범죄에 해당하는 행동을 할까’를 판단하는 요건입니다. 피해를 입을 위험과 함께 나타날 수는 있지만, 둘을 같은 것으로 놓아서는 안 됩니다. 뒤에서 실제 송치 사례를 볼 때도 어떤 위험을 말하는지 확인하겠습니다.</a:t>
            </a:r>
          </a:p>
          <a:p xmlns:a="http://schemas.openxmlformats.org/drawingml/2006/main">
            <a:pPr>
              <a:lnSpc>
                <a:spcPct val="125000"/>
              </a:lnSpc>
            </a:pPr>
            <a:r>
              <a:t/>
            </a:r>
          </a:p>
          <a:p xmlns:a="http://schemas.openxmlformats.org/drawingml/2006/main">
            <a:pPr>
              <a:lnSpc>
                <a:spcPct val="125000"/>
              </a:lnSpc>
            </a:pPr>
            <a:r>
              <a:t>누가 판단하느냐도 단계로 나누어야 합니다. 경찰서장이 송치할 때 먼저 이 요건에 해당하는지 판단합니다. 소년부에 온 뒤에는 판사가 조사와 심리를 통해 요건과 보호처분의 필요성을 판단합니다. 경찰이 판단할 부분이 전혀 없는 것도 아니고, 경찰의 송치만으로 보호처분이 확정되는 것도 아닙니다. 먼저 법정 우범사유의 내용을 구체적으로 보겠습니다.</a:t>
            </a:r>
          </a:p>
          <a:p xmlns:a="http://schemas.openxmlformats.org/drawingml/2006/main">
            <a:pPr>
              <a:lnSpc>
                <a:spcPct val="125000"/>
              </a:lnSpc>
            </a:pPr>
            <a:r>
              <a:t/>
            </a:r>
          </a:p>
          <a:p xmlns:a="http://schemas.openxmlformats.org/drawingml/2006/main">
            <a:pPr>
              <a:lnSpc>
                <a:spcPct val="125000"/>
              </a:lnSpc>
            </a:pPr>
            <a:r>
              <a:t>다음 연결</a:t>
            </a:r>
          </a:p>
          <a:p xmlns:a="http://schemas.openxmlformats.org/drawingml/2006/main">
            <a:pPr>
              <a:lnSpc>
                <a:spcPct val="125000"/>
              </a:lnSpc>
            </a:pPr>
            <a:r>
              <a:t>우리 논제의 가출은 이 가운데 두 번째 요건에 들어갑니다. 법은 가출을 어떻게 적고 있을까요?</a:t>
            </a:r>
          </a:p>
          <a:p xmlns:a="http://schemas.openxmlformats.org/drawingml/2006/main">
            <a:pPr>
              <a:lnSpc>
                <a:spcPct val="125000"/>
              </a:lnSpc>
            </a:pPr>
            <a:r>
              <a:t/>
            </a:r>
          </a:p>
          <a:p xmlns:a="http://schemas.openxmlformats.org/drawingml/2006/main">
            <a:pPr>
              <a:lnSpc>
                <a:spcPct val="125000"/>
              </a:lnSpc>
            </a:pPr>
            <a:r>
              <a:t>자료 확인</a:t>
            </a:r>
          </a:p>
          <a:p xmlns:a="http://schemas.openxmlformats.org/drawingml/2006/main">
            <a:pPr>
              <a:lnSpc>
                <a:spcPct val="125000"/>
              </a:lnSpc>
            </a:pPr>
            <a:r>
              <a:t>제4조 제1항 제3호의 문장에는 법정 사유와 장래의 우려가 접속되어 있다. 제4조 제2항의 송치 단계와 제3조·제19조·제29조·제32조의 법원 판단 단계를 구별했다.</a:t>
            </a:r>
          </a:p>
          <a:p xmlns:a="http://schemas.openxmlformats.org/drawingml/2006/main">
            <a:pPr>
              <a:lnSpc>
                <a:spcPct val="125000"/>
              </a:lnSpc>
            </a:pPr>
            <a:r>
              <a:t/>
            </a:r>
          </a:p>
          <a:p xmlns:a="http://schemas.openxmlformats.org/drawingml/2006/main">
            <a:pPr>
              <a:lnSpc>
                <a:spcPct val="125000"/>
              </a:lnSpc>
            </a:pPr>
            <a:r>
              <a:t>설명 범위</a:t>
            </a:r>
          </a:p>
          <a:p xmlns:a="http://schemas.openxmlformats.org/drawingml/2006/main">
            <a:pPr>
              <a:lnSpc>
                <a:spcPct val="125000"/>
              </a:lnSpc>
            </a:pPr>
            <a:r>
              <a:t>‘판사만 장래 우려를 판단한다’ 또는 ‘송치됐으므로 우범소년 요건이 최종 확정됐다’고 설명하지 않는다.</a:t>
            </a:r>
          </a:p>
          <a:p xmlns:a="http://schemas.openxmlformats.org/drawingml/2006/main">
            <a:pPr>
              <a:lnSpc>
                <a:spcPct val="125000"/>
              </a:lnSpc>
            </a:pPr>
            <a:r>
              <a:t/>
            </a:r>
          </a:p>
          <a:p xmlns:a="http://schemas.openxmlformats.org/drawingml/2006/main">
            <a:pPr>
              <a:lnSpc>
                <a:spcPct val="125000"/>
              </a:lnSpc>
            </a:pPr>
            <a:r>
              <a:t>출처</a:t>
            </a:r>
          </a:p>
          <a:p xmlns:a="http://schemas.openxmlformats.org/drawingml/2006/main">
            <a:pPr>
              <a:lnSpc>
                <a:spcPct val="125000"/>
              </a:lnSpc>
            </a:pPr>
            <a:r>
              <a:t>[L1] 국가법령정보센터, 소년법</a:t>
            </a:r>
          </a:p>
          <a:p xmlns:a="http://schemas.openxmlformats.org/drawingml/2006/main">
            <a:pPr>
              <a:lnSpc>
                <a:spcPct val="125000"/>
              </a:lnSpc>
            </a:pPr>
            <a:r>
              <a:t>제2조·제3조·제4조·제19조·제29조·제32조. 확인본: 시행 2021.4.21., 법률 제17505호.</a:t>
            </a:r>
          </a:p>
          <a:p xmlns:a="http://schemas.openxmlformats.org/drawingml/2006/main">
            <a:pPr>
              <a:lnSpc>
                <a:spcPct val="125000"/>
              </a:lnSpc>
            </a:pPr>
            <a:r>
              <a:t>https://www.law.go.kr/lsInfoP.do?lsId=001662</a:t>
            </a:r>
          </a:p>
          <a:p xmlns:a="http://schemas.openxmlformats.org/drawingml/2006/main">
            <a:pPr>
              <a:lnSpc>
                <a:spcPct val="125000"/>
              </a:lnSpc>
            </a:pPr>
            <a:r>
              <a:t>연령, 우범소년 요건, 송치·통고, 소년부 심리와 처분의 구분. 부록에는 제4조 전문을 수록한다.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a:pPr>
              <a:lnSpc>
                <a:spcPct val="118000"/>
              </a:lnSpc>
            </a:pPr>
          </a:p>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lnSpc>
                <a:spcPct val="125000"/>
              </a:lnSpc>
            </a:pPr>
            <a:r>
              <a:t>제1장 3/11 · 가출과 법정 우범사유</a:t>
            </a:r>
          </a:p>
          <a:p xmlns:a="http://schemas.openxmlformats.org/drawingml/2006/main">
            <a:pPr>
              <a:lnSpc>
                <a:spcPct val="125000"/>
              </a:lnSpc>
            </a:pPr>
            <a:r>
              <a:t>목적: 가출의 법정 문구와 성벽의 뜻을 풀고, 가출 이유를 확인할 필요를 설명한다.</a:t>
            </a:r>
          </a:p>
          <a:p xmlns:a="http://schemas.openxmlformats.org/drawingml/2006/main">
            <a:pPr>
              <a:lnSpc>
                <a:spcPct val="125000"/>
              </a:lnSpc>
            </a:pPr>
            <a:r>
              <a:t>설명 시간: 약 2분 (수업 운영용 추정)</a:t>
            </a:r>
          </a:p>
          <a:p xmlns:a="http://schemas.openxmlformats.org/drawingml/2006/main">
            <a:pPr>
              <a:lnSpc>
                <a:spcPct val="125000"/>
              </a:lnSpc>
            </a:pPr>
            <a:r>
              <a:t/>
            </a:r>
          </a:p>
          <a:p xmlns:a="http://schemas.openxmlformats.org/drawingml/2006/main">
            <a:pPr>
              <a:lnSpc>
                <a:spcPct val="125000"/>
              </a:lnSpc>
            </a:pPr>
            <a:r>
              <a:t>강의 대본</a:t>
            </a:r>
          </a:p>
          <a:p xmlns:a="http://schemas.openxmlformats.org/drawingml/2006/main">
            <a:pPr>
              <a:lnSpc>
                <a:spcPct val="125000"/>
              </a:lnSpc>
            </a:pPr>
            <a:r>
              <a:t>법정 우범사유는 화면의 세 가지입니다. 가목은 집단적으로 몰려다니며 주변에 불안감을 주는 성벽, 나목은 정당한 이유 없는 가출, 다목은 음주 소란이나 유해환경에 접하는 성벽을 말합니다. 여기서 성벽은 성적인 습성이라는 뜻으로 읽으면 안 됩니다. 이 문맥에서는 행동상의 버릇이나 성향을 뜻합니다. 법에 횟수 기준이 적혀 있는 것은 아닙니다.</a:t>
            </a:r>
          </a:p>
          <a:p xmlns:a="http://schemas.openxmlformats.org/drawingml/2006/main">
            <a:pPr>
              <a:lnSpc>
                <a:spcPct val="125000"/>
              </a:lnSpc>
            </a:pPr>
            <a:r>
              <a:t/>
            </a:r>
          </a:p>
          <a:p xmlns:a="http://schemas.openxmlformats.org/drawingml/2006/main">
            <a:pPr>
              <a:lnSpc>
                <a:spcPct val="125000"/>
              </a:lnSpc>
            </a:pPr>
            <a:r>
              <a:t>가출 부분에는 분명히 ‘정당한 이유 없이’라는 말이 있습니다. 따라서 단순히 집에 있지 않다는 사실뿐 아니라 왜 나왔는지도 확인해야 합니다. 특히 뒤의 실제 자료에는 아버지의 폭력이나 부모의 다툼을 피한 사정이 등장합니다. 집으로 돌려보내는 것이 안전한지와 가출이 법정 사유에 해당하는지는 이런 배경을 빼고 설명하기 어렵습니다.</a:t>
            </a:r>
          </a:p>
          <a:p xmlns:a="http://schemas.openxmlformats.org/drawingml/2006/main">
            <a:pPr>
              <a:lnSpc>
                <a:spcPct val="125000"/>
              </a:lnSpc>
            </a:pPr>
            <a:r>
              <a:t/>
            </a:r>
          </a:p>
          <a:p xmlns:a="http://schemas.openxmlformats.org/drawingml/2006/main">
            <a:pPr>
              <a:lnSpc>
                <a:spcPct val="125000"/>
              </a:lnSpc>
            </a:pPr>
            <a:r>
              <a:t>다만 공개된 두 사례 요약에는 법원이 그 가출 이유를 법적으로 어떻게 평가했는지 상세한 판단이 없습니다. 그래서 폭력이 있었으니 반드시 요건에서 제외된다고 결론 내리거나, 시설에 갔으니 정당한 이유가 없었다고 거꾸로 추정하지 않겠습니다. 우리가 분명히 할 수 있는 것은 가출의 경위와 장래 범법 우려를 각각 확인해야 한다는 점입니다.</a:t>
            </a:r>
          </a:p>
          <a:p xmlns:a="http://schemas.openxmlformats.org/drawingml/2006/main">
            <a:pPr>
              <a:lnSpc>
                <a:spcPct val="125000"/>
              </a:lnSpc>
            </a:pPr>
            <a:r>
              <a:t/>
            </a:r>
          </a:p>
          <a:p xmlns:a="http://schemas.openxmlformats.org/drawingml/2006/main">
            <a:pPr>
              <a:lnSpc>
                <a:spcPct val="125000"/>
              </a:lnSpc>
            </a:pPr>
            <a:r>
              <a:t>다음 연결</a:t>
            </a:r>
          </a:p>
          <a:p xmlns:a="http://schemas.openxmlformats.org/drawingml/2006/main">
            <a:pPr>
              <a:lnSpc>
                <a:spcPct val="125000"/>
              </a:lnSpc>
            </a:pPr>
            <a:r>
              <a:t>이제 가출 뒤 위험해진 상황에서, 피해 위험과 장래 범법 우려를 어떻게 나누어 볼지 살펴보겠습니다.</a:t>
            </a:r>
          </a:p>
          <a:p xmlns:a="http://schemas.openxmlformats.org/drawingml/2006/main">
            <a:pPr>
              <a:lnSpc>
                <a:spcPct val="125000"/>
              </a:lnSpc>
            </a:pPr>
            <a:r>
              <a:t/>
            </a:r>
          </a:p>
          <a:p xmlns:a="http://schemas.openxmlformats.org/drawingml/2006/main">
            <a:pPr>
              <a:lnSpc>
                <a:spcPct val="125000"/>
              </a:lnSpc>
            </a:pPr>
            <a:r>
              <a:t>자료 확인</a:t>
            </a:r>
          </a:p>
          <a:p xmlns:a="http://schemas.openxmlformats.org/drawingml/2006/main">
            <a:pPr>
              <a:lnSpc>
                <a:spcPct val="125000"/>
              </a:lnSpc>
            </a:pPr>
            <a:r>
              <a:t>제4조 제1항 제3호 가·나·다목 원문을 화면에 제시한다. S1·S2는 가정폭력 배경을 보여 주지만 ‘정당한 이유’의 기준을 확립한 판례는 아니다.</a:t>
            </a:r>
          </a:p>
          <a:p xmlns:a="http://schemas.openxmlformats.org/drawingml/2006/main">
            <a:pPr>
              <a:lnSpc>
                <a:spcPct val="125000"/>
              </a:lnSpc>
            </a:pPr>
            <a:r>
              <a:t/>
            </a:r>
          </a:p>
          <a:p xmlns:a="http://schemas.openxmlformats.org/drawingml/2006/main">
            <a:pPr>
              <a:lnSpc>
                <a:spcPct val="125000"/>
              </a:lnSpc>
            </a:pPr>
            <a:r>
              <a:t>설명 범위</a:t>
            </a:r>
          </a:p>
          <a:p xmlns:a="http://schemas.openxmlformats.org/drawingml/2006/main">
            <a:pPr>
              <a:lnSpc>
                <a:spcPct val="125000"/>
              </a:lnSpc>
            </a:pPr>
            <a:r>
              <a:t>‘정당한 이유 없이’에 법적 근거가 없다고 쓰지 않는다. 법에는 문구가 있고, 이 사례들에서 구체적 인정·배척 이유가 공개되지 않았다는 뜻이다.</a:t>
            </a:r>
          </a:p>
          <a:p xmlns:a="http://schemas.openxmlformats.org/drawingml/2006/main">
            <a:pPr>
              <a:lnSpc>
                <a:spcPct val="125000"/>
              </a:lnSpc>
            </a:pPr>
            <a:r>
              <a:t/>
            </a:r>
          </a:p>
          <a:p xmlns:a="http://schemas.openxmlformats.org/drawingml/2006/main">
            <a:pPr>
              <a:lnSpc>
                <a:spcPct val="125000"/>
              </a:lnSpc>
            </a:pPr>
            <a:r>
              <a:t>출처</a:t>
            </a:r>
          </a:p>
          <a:p xmlns:a="http://schemas.openxmlformats.org/drawingml/2006/main">
            <a:pPr>
              <a:lnSpc>
                <a:spcPct val="125000"/>
              </a:lnSpc>
            </a:pPr>
            <a:r>
              <a:t>[L1] 국가법령정보센터, 소년법</a:t>
            </a:r>
          </a:p>
          <a:p xmlns:a="http://schemas.openxmlformats.org/drawingml/2006/main">
            <a:pPr>
              <a:lnSpc>
                <a:spcPct val="125000"/>
              </a:lnSpc>
            </a:pPr>
            <a:r>
              <a:t>제2조·제3조·제4조·제19조·제29조·제32조. 확인본: 시행 2021.4.21., 법률 제17505호.</a:t>
            </a:r>
          </a:p>
          <a:p xmlns:a="http://schemas.openxmlformats.org/drawingml/2006/main">
            <a:pPr>
              <a:lnSpc>
                <a:spcPct val="125000"/>
              </a:lnSpc>
            </a:pPr>
            <a:r>
              <a:t>https://www.law.go.kr/lsInfoP.do?lsId=001662</a:t>
            </a:r>
          </a:p>
          <a:p xmlns:a="http://schemas.openxmlformats.org/drawingml/2006/main">
            <a:pPr>
              <a:lnSpc>
                <a:spcPct val="125000"/>
              </a:lnSpc>
            </a:pPr>
            <a:r>
              <a:t>연령, 우범소년 요건, 송치·통고, 소년부 심리와 처분의 구분. 부록에는 제4조 전문을 수록한다.</a:t>
            </a:r>
          </a:p>
          <a:p xmlns:a="http://schemas.openxmlformats.org/drawingml/2006/main">
            <a:pPr>
              <a:lnSpc>
                <a:spcPct val="125000"/>
              </a:lnSpc>
            </a:pPr>
            <a:r>
              <a:t/>
            </a:r>
          </a:p>
          <a:p xmlns:a="http://schemas.openxmlformats.org/drawingml/2006/main">
            <a:pPr>
              <a:lnSpc>
                <a:spcPct val="125000"/>
              </a:lnSpc>
            </a:pPr>
            <a:r>
              <a:t>[S1] 법원행정처, 『소년 통고 실무(2024년 개정판)』</a:t>
            </a:r>
          </a:p>
          <a:p xmlns:a="http://schemas.openxmlformats.org/drawingml/2006/main">
            <a:pPr>
              <a:lnSpc>
                <a:spcPct val="125000"/>
              </a:lnSpc>
            </a:pPr>
            <a:r>
              <a:t>인쇄면 33쪽, PDF 42번째 면, 학교현장 통고 사례 7 「반복된 거짓말, 장기무단가출」. 게시일 2024.12.20.</a:t>
            </a:r>
          </a:p>
          <a:p xmlns:a="http://schemas.openxmlformats.org/drawingml/2006/main">
            <a:pPr>
              <a:lnSpc>
                <a:spcPct val="125000"/>
              </a:lnSpc>
            </a:pPr>
            <a:r>
              <a:t>https://www.scourt.go.kr/portal/news/NewsViewAction.work?gubun=713&amp;seqnum=43</a:t>
            </a:r>
          </a:p>
          <a:p xmlns:a="http://schemas.openxmlformats.org/drawingml/2006/main">
            <a:pPr>
              <a:lnSpc>
                <a:spcPct val="125000"/>
              </a:lnSpc>
            </a:pPr>
            <a:r>
              <a:t>가정폭력·쉼터·장기가출, 동행영장과 임시위탁, 시설 위탁의 설명된 이유. 사건번호와 결정문 전문은 제시되지 않는다.</a:t>
            </a:r>
          </a:p>
          <a:p xmlns:a="http://schemas.openxmlformats.org/drawingml/2006/main">
            <a:pPr>
              <a:lnSpc>
                <a:spcPct val="125000"/>
              </a:lnSpc>
            </a:pPr>
            <a:r>
              <a:t/>
            </a:r>
          </a:p>
          <a:p xmlns:a="http://schemas.openxmlformats.org/drawingml/2006/main">
            <a:pPr>
              <a:lnSpc>
                <a:spcPct val="125000"/>
              </a:lnSpc>
            </a:pPr>
            <a:r>
              <a:t>[S2] 『우범소년 규정 폐지 필요성 토론회』 자료집(2021.3.9.)</a:t>
            </a:r>
          </a:p>
          <a:p xmlns:a="http://schemas.openxmlformats.org/drawingml/2006/main">
            <a:pPr>
              <a:lnSpc>
                <a:spcPct val="125000"/>
              </a:lnSpc>
            </a:pPr>
            <a:r>
              <a:t>강정은 발제 18쪽(B 사건); 양현규 토론 67–69쪽; 고평기 토론 75쪽; 이승현 토론 83–85쪽. PDF는 인쇄면 두 쪽이 한 면에 배치됨.</a:t>
            </a:r>
          </a:p>
          <a:p xmlns:a="http://schemas.openxmlformats.org/drawingml/2006/main">
            <a:pPr>
              <a:lnSpc>
                <a:spcPct val="125000"/>
              </a:lnSpc>
            </a:pPr>
            <a:r>
              <a:t>https://duroo.org/data/?bmode=view&amp;idx=128595217</a:t>
            </a:r>
          </a:p>
          <a:p xmlns:a="http://schemas.openxmlformats.org/drawingml/2006/main">
            <a:pPr>
              <a:lnSpc>
                <a:spcPct val="125000"/>
              </a:lnSpc>
            </a:pPr>
            <a:r>
              <a:t>직접 수행한 B 사건의 보고와 서로 다른 토론자의 주장. 토론회 제목을 모든 참석자의 합의로 설명하지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a:pPr>
              <a:lnSpc>
                <a:spcPct val="118000"/>
              </a:lnSpc>
            </a:pPr>
          </a:p>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lnSpc>
                <a:spcPct val="125000"/>
              </a:lnSpc>
            </a:pPr>
            <a:r>
              <a:t>제1장 4/11 · 성착취 피해 위험과 장래 범법 우려</a:t>
            </a:r>
          </a:p>
          <a:p xmlns:a="http://schemas.openxmlformats.org/drawingml/2006/main">
            <a:pPr>
              <a:lnSpc>
                <a:spcPct val="125000"/>
              </a:lnSpc>
            </a:pPr>
            <a:r>
              <a:t>목적: 피해 가능성과 청소년의 장래 행위를 구분하여 사례를 읽을 기준을 만든다.</a:t>
            </a:r>
          </a:p>
          <a:p xmlns:a="http://schemas.openxmlformats.org/drawingml/2006/main">
            <a:pPr>
              <a:lnSpc>
                <a:spcPct val="125000"/>
              </a:lnSpc>
            </a:pPr>
            <a:r>
              <a:t>설명 시간: 약 2분 (수업 운영용 추정)</a:t>
            </a:r>
          </a:p>
          <a:p xmlns:a="http://schemas.openxmlformats.org/drawingml/2006/main">
            <a:pPr>
              <a:lnSpc>
                <a:spcPct val="125000"/>
              </a:lnSpc>
            </a:pPr>
            <a:r>
              <a:t/>
            </a:r>
          </a:p>
          <a:p xmlns:a="http://schemas.openxmlformats.org/drawingml/2006/main">
            <a:pPr>
              <a:lnSpc>
                <a:spcPct val="125000"/>
              </a:lnSpc>
            </a:pPr>
            <a:r>
              <a:t>강의 대본</a:t>
            </a:r>
          </a:p>
          <a:p xmlns:a="http://schemas.openxmlformats.org/drawingml/2006/main">
            <a:pPr>
              <a:lnSpc>
                <a:spcPct val="125000"/>
              </a:lnSpc>
            </a:pPr>
            <a:r>
              <a:t>왼쪽 질문은 ‘이 청소년이 성착취를 당할 위험이 있는가’입니다. 성인이 숙식이나 돈을 빌미로 접근하거나, 이미 피해를 입은 청소년이 다시 피해를 입을 가능성 등을 생각할 수 있습니다. 이때 확인할 것은 가해자와의 접촉을 끊을 수 있는지, 안전한 거처와 생계, 상담과 치료가 필요한지입니다. 이것은 피해를 막고 회복을 돕기 위한 판단입니다.</a:t>
            </a:r>
          </a:p>
          <a:p xmlns:a="http://schemas.openxmlformats.org/drawingml/2006/main">
            <a:pPr>
              <a:lnSpc>
                <a:spcPct val="125000"/>
              </a:lnSpc>
            </a:pPr>
            <a:r>
              <a:t/>
            </a:r>
          </a:p>
          <a:p xmlns:a="http://schemas.openxmlformats.org/drawingml/2006/main">
            <a:pPr>
              <a:lnSpc>
                <a:spcPct val="125000"/>
              </a:lnSpc>
            </a:pPr>
            <a:r>
              <a:t>오른쪽 질문은 다릅니다. ‘이 청소년이 앞으로 범죄에 해당하는 행동을 할 우려가 있는가’입니다. 이는 소년법상 우범소년 요건에 관한 질문입니다. 어떤 행위가 우려되는지, 그 판단을 뒷받침하는 구체적 사정이 무엇인지가 필요합니다. 피해를 입을 것 같다는 설명만을 그대로 오른쪽의 근거로 옮길 수는 없습니다.</a:t>
            </a:r>
          </a:p>
          <a:p xmlns:a="http://schemas.openxmlformats.org/drawingml/2006/main">
            <a:pPr>
              <a:lnSpc>
                <a:spcPct val="125000"/>
              </a:lnSpc>
            </a:pPr>
            <a:r>
              <a:t/>
            </a:r>
          </a:p>
          <a:p xmlns:a="http://schemas.openxmlformats.org/drawingml/2006/main">
            <a:pPr>
              <a:lnSpc>
                <a:spcPct val="125000"/>
              </a:lnSpc>
            </a:pPr>
            <a:r>
              <a:t>뒤에 볼 자료에는 ‘성범죄 연루 우려’라는 표현이 나옵니다. 일상적으로는 넓게 쓰일 수 있는 말이지만, 강의에서는 누구의 어떤 위험인지 풀어서 읽어야 합니다. 피해를 당할 위험을 말한 것인지, 청소년 자신의 장래 행동을 말한 것인지 확인하는 겁니다. 두 가지 지위가 언제나 양립할 수 없다는 이야기가 아니라, 두 판단에 필요한 근거가 다르다는 뜻입니다.</a:t>
            </a:r>
          </a:p>
          <a:p xmlns:a="http://schemas.openxmlformats.org/drawingml/2006/main">
            <a:pPr>
              <a:lnSpc>
                <a:spcPct val="125000"/>
              </a:lnSpc>
            </a:pPr>
            <a:r>
              <a:t/>
            </a:r>
          </a:p>
          <a:p xmlns:a="http://schemas.openxmlformats.org/drawingml/2006/main">
            <a:pPr>
              <a:lnSpc>
                <a:spcPct val="125000"/>
              </a:lnSpc>
            </a:pPr>
            <a:r>
              <a:t>다음 연결</a:t>
            </a:r>
          </a:p>
          <a:p xmlns:a="http://schemas.openxmlformats.org/drawingml/2006/main">
            <a:pPr>
              <a:lnSpc>
                <a:spcPct val="125000"/>
              </a:lnSpc>
            </a:pPr>
            <a:r>
              <a:t>이 구별을 실제 절차에서 누가 확인하고, 소년부에는 어떤 경로로 사건이 들어가는지 보겠습니다.</a:t>
            </a:r>
          </a:p>
          <a:p xmlns:a="http://schemas.openxmlformats.org/drawingml/2006/main">
            <a:pPr>
              <a:lnSpc>
                <a:spcPct val="125000"/>
              </a:lnSpc>
            </a:pPr>
            <a:r>
              <a:t/>
            </a:r>
          </a:p>
          <a:p xmlns:a="http://schemas.openxmlformats.org/drawingml/2006/main">
            <a:pPr>
              <a:lnSpc>
                <a:spcPct val="125000"/>
              </a:lnSpc>
            </a:pPr>
            <a:r>
              <a:t>자료 확인</a:t>
            </a:r>
          </a:p>
          <a:p xmlns:a="http://schemas.openxmlformats.org/drawingml/2006/main">
            <a:pPr>
              <a:lnSpc>
                <a:spcPct val="125000"/>
              </a:lnSpc>
            </a:pPr>
            <a:r>
              <a:t>오른쪽은 소년법 제4조 제1항 제3호의 문장에 근거한다. 왼쪽의 보호 필요 항목은 피해지원 관점의 설명이며, 모든 사건에 동일하게 필요한 조치 목록이라는 뜻은 아니다.</a:t>
            </a:r>
          </a:p>
          <a:p xmlns:a="http://schemas.openxmlformats.org/drawingml/2006/main">
            <a:pPr>
              <a:lnSpc>
                <a:spcPct val="125000"/>
              </a:lnSpc>
            </a:pPr>
            <a:r>
              <a:t/>
            </a:r>
          </a:p>
          <a:p xmlns:a="http://schemas.openxmlformats.org/drawingml/2006/main">
            <a:pPr>
              <a:lnSpc>
                <a:spcPct val="125000"/>
              </a:lnSpc>
            </a:pPr>
            <a:r>
              <a:t>설명 범위</a:t>
            </a:r>
          </a:p>
          <a:p xmlns:a="http://schemas.openxmlformats.org/drawingml/2006/main">
            <a:pPr>
              <a:lnSpc>
                <a:spcPct val="125000"/>
              </a:lnSpc>
            </a:pPr>
            <a:r>
              <a:t>‘피해자이면 어떤 경우에도 우범소년일 수 없다’는 일반 명제로 확대하지 않는다. ‘성범죄 연루’만으로 성범죄 가해를 인정하지 않는다.</a:t>
            </a:r>
          </a:p>
          <a:p xmlns:a="http://schemas.openxmlformats.org/drawingml/2006/main">
            <a:pPr>
              <a:lnSpc>
                <a:spcPct val="125000"/>
              </a:lnSpc>
            </a:pPr>
            <a:r>
              <a:t/>
            </a:r>
          </a:p>
          <a:p xmlns:a="http://schemas.openxmlformats.org/drawingml/2006/main">
            <a:pPr>
              <a:lnSpc>
                <a:spcPct val="125000"/>
              </a:lnSpc>
            </a:pPr>
            <a:r>
              <a:t>출처</a:t>
            </a:r>
          </a:p>
          <a:p xmlns:a="http://schemas.openxmlformats.org/drawingml/2006/main">
            <a:pPr>
              <a:lnSpc>
                <a:spcPct val="125000"/>
              </a:lnSpc>
            </a:pPr>
            <a:r>
              <a:t>[L1] 국가법령정보센터, 소년법</a:t>
            </a:r>
          </a:p>
          <a:p xmlns:a="http://schemas.openxmlformats.org/drawingml/2006/main">
            <a:pPr>
              <a:lnSpc>
                <a:spcPct val="125000"/>
              </a:lnSpc>
            </a:pPr>
            <a:r>
              <a:t>제2조·제3조·제4조·제19조·제29조·제32조. 확인본: 시행 2021.4.21., 법률 제17505호.</a:t>
            </a:r>
          </a:p>
          <a:p xmlns:a="http://schemas.openxmlformats.org/drawingml/2006/main">
            <a:pPr>
              <a:lnSpc>
                <a:spcPct val="125000"/>
              </a:lnSpc>
            </a:pPr>
            <a:r>
              <a:t>https://www.law.go.kr/lsInfoP.do?lsId=001662</a:t>
            </a:r>
          </a:p>
          <a:p xmlns:a="http://schemas.openxmlformats.org/drawingml/2006/main">
            <a:pPr>
              <a:lnSpc>
                <a:spcPct val="125000"/>
              </a:lnSpc>
            </a:pPr>
            <a:r>
              <a:t>연령, 우범소년 요건, 송치·통고, 소년부 심리와 처분의 구분. 부록에는 제4조 전문을 수록한다.</a:t>
            </a:r>
          </a:p>
          <a:p xmlns:a="http://schemas.openxmlformats.org/drawingml/2006/main">
            <a:pPr>
              <a:lnSpc>
                <a:spcPct val="125000"/>
              </a:lnSpc>
            </a:pPr>
            <a:r>
              <a:t/>
            </a:r>
          </a:p>
          <a:p xmlns:a="http://schemas.openxmlformats.org/drawingml/2006/main">
            <a:pPr>
              <a:lnSpc>
                <a:spcPct val="125000"/>
              </a:lnSpc>
            </a:pPr>
            <a:r>
              <a:t>[S2] 『우범소년 규정 폐지 필요성 토론회』 자료집(2021.3.9.)</a:t>
            </a:r>
          </a:p>
          <a:p xmlns:a="http://schemas.openxmlformats.org/drawingml/2006/main">
            <a:pPr>
              <a:lnSpc>
                <a:spcPct val="125000"/>
              </a:lnSpc>
            </a:pPr>
            <a:r>
              <a:t>강정은 발제 18쪽(B 사건); 양현규 토론 67–69쪽; 고평기 토론 75쪽; 이승현 토론 83–85쪽. PDF는 인쇄면 두 쪽이 한 면에 배치됨.</a:t>
            </a:r>
          </a:p>
          <a:p xmlns:a="http://schemas.openxmlformats.org/drawingml/2006/main">
            <a:pPr>
              <a:lnSpc>
                <a:spcPct val="125000"/>
              </a:lnSpc>
            </a:pPr>
            <a:r>
              <a:t>https://duroo.org/data/?bmode=view&amp;idx=128595217</a:t>
            </a:r>
          </a:p>
          <a:p xmlns:a="http://schemas.openxmlformats.org/drawingml/2006/main">
            <a:pPr>
              <a:lnSpc>
                <a:spcPct val="125000"/>
              </a:lnSpc>
            </a:pPr>
            <a:r>
              <a:t>직접 수행한 B 사건의 보고와 서로 다른 토론자의 주장. 토론회 제목을 모든 참석자의 합의로 설명하지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a:pPr>
              <a:lnSpc>
                <a:spcPct val="118000"/>
              </a:lnSpc>
            </a:pPr>
          </a:p>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lnSpc>
                <a:spcPct val="125000"/>
              </a:lnSpc>
            </a:pPr>
            <a:r>
              <a:t>제1장 5/11 · 우범소년 사건의 송치·통고 경로</a:t>
            </a:r>
          </a:p>
          <a:p xmlns:a="http://schemas.openxmlformats.org/drawingml/2006/main">
            <a:pPr>
              <a:lnSpc>
                <a:spcPct val="125000"/>
              </a:lnSpc>
            </a:pPr>
            <a:r>
              <a:t>목적: 경찰의 송치와 보호자·기관장의 통고를 구별하고 법원 판단을 연결한다.</a:t>
            </a:r>
          </a:p>
          <a:p xmlns:a="http://schemas.openxmlformats.org/drawingml/2006/main">
            <a:pPr>
              <a:lnSpc>
                <a:spcPct val="125000"/>
              </a:lnSpc>
            </a:pPr>
            <a:r>
              <a:t>설명 시간: 약 2분 (수업 운영용 추정)</a:t>
            </a:r>
          </a:p>
          <a:p xmlns:a="http://schemas.openxmlformats.org/drawingml/2006/main">
            <a:pPr>
              <a:lnSpc>
                <a:spcPct val="125000"/>
              </a:lnSpc>
            </a:pPr>
            <a:r>
              <a:t/>
            </a:r>
          </a:p>
          <a:p xmlns:a="http://schemas.openxmlformats.org/drawingml/2006/main">
            <a:pPr>
              <a:lnSpc>
                <a:spcPct val="125000"/>
              </a:lnSpc>
            </a:pPr>
            <a:r>
              <a:t>강의 대본</a:t>
            </a:r>
          </a:p>
          <a:p xmlns:a="http://schemas.openxmlformats.org/drawingml/2006/main">
            <a:pPr>
              <a:lnSpc>
                <a:spcPct val="125000"/>
              </a:lnSpc>
            </a:pPr>
            <a:r>
              <a:t>우범소년 사건의 소년부 진입 경로는 여기서 두 가지를 보겠습니다. 경찰서장은 촉법소년 또는 우범소년에 해당하는 소년이 있으면 직접 관할 소년부에 송치해야 합니다. 보호자나 학교·사회복리시설·보호관찰소의 장은 제4조 제1항의 소년을 발견하면 소년부에 통고할 수 있습니다. 둘 다 소년부로 이어지지만, 주체와 조문의 표현이 다릅니다.</a:t>
            </a:r>
          </a:p>
          <a:p xmlns:a="http://schemas.openxmlformats.org/drawingml/2006/main">
            <a:pPr>
              <a:lnSpc>
                <a:spcPct val="125000"/>
              </a:lnSpc>
            </a:pPr>
            <a:r>
              <a:t/>
            </a:r>
          </a:p>
          <a:p xmlns:a="http://schemas.openxmlformats.org/drawingml/2006/main">
            <a:pPr>
              <a:lnSpc>
                <a:spcPct val="125000"/>
              </a:lnSpc>
            </a:pPr>
            <a:r>
              <a:t>송치 의무는 먼저 우범소년 요건에 해당한다는 판단을 전제로 합니다. ‘성착취가 걱정된다’는 말만으로 이 전제를 생략할 수 없습니다. 학교장 통고 역시 학교가 최종 처분을 정하는 절차가 아닙니다. 사건이 들어오면 법원이 사실과 환경을 조사하고 심리 및 처분 필요성을 판단합니다. 심리를 시작하지 않거나 보호처분을 하지 않는 결정도 제도 안에 있습니다.</a:t>
            </a:r>
          </a:p>
          <a:p xmlns:a="http://schemas.openxmlformats.org/drawingml/2006/main">
            <a:pPr>
              <a:lnSpc>
                <a:spcPct val="125000"/>
              </a:lnSpc>
            </a:pPr>
            <a:r>
              <a:t/>
            </a:r>
          </a:p>
          <a:p xmlns:a="http://schemas.openxmlformats.org/drawingml/2006/main">
            <a:pPr>
              <a:lnSpc>
                <a:spcPct val="125000"/>
              </a:lnSpc>
            </a:pPr>
            <a:r>
              <a:t>또 소년부에 사건을 보내는 일과 특정 시설에 위탁하는 일은 구별해야 합니다. 절차 중의 임시위탁과 최종 보호처분도 서로 다릅니다. 뒤의 사례에서 분류심사원과 6호·7호 처분이 연이어 나오는 이유를 이 순서로 이해하면 됩니다. 이제 현장에서 왜 이 경로를 보호 수단으로 찾는지, 구체적인 어려움을 보겠습니다.</a:t>
            </a:r>
          </a:p>
          <a:p xmlns:a="http://schemas.openxmlformats.org/drawingml/2006/main">
            <a:pPr>
              <a:lnSpc>
                <a:spcPct val="125000"/>
              </a:lnSpc>
            </a:pPr>
            <a:r>
              <a:t/>
            </a:r>
          </a:p>
          <a:p xmlns:a="http://schemas.openxmlformats.org/drawingml/2006/main">
            <a:pPr>
              <a:lnSpc>
                <a:spcPct val="125000"/>
              </a:lnSpc>
            </a:pPr>
            <a:r>
              <a:t>다음 연결</a:t>
            </a:r>
          </a:p>
          <a:p xmlns:a="http://schemas.openxmlformats.org/drawingml/2006/main">
            <a:pPr>
              <a:lnSpc>
                <a:spcPct val="125000"/>
              </a:lnSpc>
            </a:pPr>
            <a:r>
              <a:t>법정요건은 이렇습니다. 그런데 현장에서는 왜 피해청소년에 대해서도 송치가 거론될까요?</a:t>
            </a:r>
          </a:p>
          <a:p xmlns:a="http://schemas.openxmlformats.org/drawingml/2006/main">
            <a:pPr>
              <a:lnSpc>
                <a:spcPct val="125000"/>
              </a:lnSpc>
            </a:pPr>
            <a:r>
              <a:t/>
            </a:r>
          </a:p>
          <a:p xmlns:a="http://schemas.openxmlformats.org/drawingml/2006/main">
            <a:pPr>
              <a:lnSpc>
                <a:spcPct val="125000"/>
              </a:lnSpc>
            </a:pPr>
            <a:r>
              <a:t>자료 확인</a:t>
            </a:r>
          </a:p>
          <a:p xmlns:a="http://schemas.openxmlformats.org/drawingml/2006/main">
            <a:pPr>
              <a:lnSpc>
                <a:spcPct val="125000"/>
              </a:lnSpc>
            </a:pPr>
            <a:r>
              <a:t>제4조 제2항의 ‘송치하여야 한다’와 제3항의 ‘통고할 수 있다’를 구별한다. 법원 판단은 제3조·제19조·제29조·제32조를 함께 확인했다.</a:t>
            </a:r>
          </a:p>
          <a:p xmlns:a="http://schemas.openxmlformats.org/drawingml/2006/main">
            <a:pPr>
              <a:lnSpc>
                <a:spcPct val="125000"/>
              </a:lnSpc>
            </a:pPr>
            <a:r>
              <a:t/>
            </a:r>
          </a:p>
          <a:p xmlns:a="http://schemas.openxmlformats.org/drawingml/2006/main">
            <a:pPr>
              <a:lnSpc>
                <a:spcPct val="125000"/>
              </a:lnSpc>
            </a:pPr>
            <a:r>
              <a:t>설명 범위</a:t>
            </a:r>
          </a:p>
          <a:p xmlns:a="http://schemas.openxmlformats.org/drawingml/2006/main">
            <a:pPr>
              <a:lnSpc>
                <a:spcPct val="125000"/>
              </a:lnSpc>
            </a:pPr>
            <a:r>
              <a:t>경찰의 피해 신고 접수부터 곧바로 보호처분이 결정되는 단일 절차로 그리지 않는다. 임시위탁은 최종 7호 처분과 동일하지 않다.</a:t>
            </a:r>
          </a:p>
          <a:p xmlns:a="http://schemas.openxmlformats.org/drawingml/2006/main">
            <a:pPr>
              <a:lnSpc>
                <a:spcPct val="125000"/>
              </a:lnSpc>
            </a:pPr>
            <a:r>
              <a:t/>
            </a:r>
          </a:p>
          <a:p xmlns:a="http://schemas.openxmlformats.org/drawingml/2006/main">
            <a:pPr>
              <a:lnSpc>
                <a:spcPct val="125000"/>
              </a:lnSpc>
            </a:pPr>
            <a:r>
              <a:t>출처</a:t>
            </a:r>
          </a:p>
          <a:p xmlns:a="http://schemas.openxmlformats.org/drawingml/2006/main">
            <a:pPr>
              <a:lnSpc>
                <a:spcPct val="125000"/>
              </a:lnSpc>
            </a:pPr>
            <a:r>
              <a:t>[L1] 국가법령정보센터, 소년법</a:t>
            </a:r>
          </a:p>
          <a:p xmlns:a="http://schemas.openxmlformats.org/drawingml/2006/main">
            <a:pPr>
              <a:lnSpc>
                <a:spcPct val="125000"/>
              </a:lnSpc>
            </a:pPr>
            <a:r>
              <a:t>제2조·제3조·제4조·제19조·제29조·제32조. 확인본: 시행 2021.4.21., 법률 제17505호.</a:t>
            </a:r>
          </a:p>
          <a:p xmlns:a="http://schemas.openxmlformats.org/drawingml/2006/main">
            <a:pPr>
              <a:lnSpc>
                <a:spcPct val="125000"/>
              </a:lnSpc>
            </a:pPr>
            <a:r>
              <a:t>https://www.law.go.kr/lsInfoP.do?lsId=001662</a:t>
            </a:r>
          </a:p>
          <a:p xmlns:a="http://schemas.openxmlformats.org/drawingml/2006/main">
            <a:pPr>
              <a:lnSpc>
                <a:spcPct val="125000"/>
              </a:lnSpc>
            </a:pPr>
            <a:r>
              <a:t>연령, 우범소년 요건, 송치·통고, 소년부 심리와 처분의 구분. 부록에는 제4조 전문을 수록한다.</a:t>
            </a:r>
          </a:p>
          <a:p xmlns:a="http://schemas.openxmlformats.org/drawingml/2006/main">
            <a:pPr>
              <a:lnSpc>
                <a:spcPct val="125000"/>
              </a:lnSpc>
            </a:pPr>
            <a:r>
              <a:t/>
            </a:r>
          </a:p>
          <a:p xmlns:a="http://schemas.openxmlformats.org/drawingml/2006/main">
            <a:pPr>
              <a:lnSpc>
                <a:spcPct val="125000"/>
              </a:lnSpc>
            </a:pPr>
            <a:r>
              <a:t>[L2] 국가법령정보센터, 소년법 제32조</a:t>
            </a:r>
          </a:p>
          <a:p xmlns:a="http://schemas.openxmlformats.org/drawingml/2006/main">
            <a:pPr>
              <a:lnSpc>
                <a:spcPct val="125000"/>
              </a:lnSpc>
            </a:pPr>
            <a:r>
              <a:t>제1항 제5호·제6호·제7호 및 제2항.</a:t>
            </a:r>
          </a:p>
          <a:p xmlns:a="http://schemas.openxmlformats.org/drawingml/2006/main">
            <a:pPr>
              <a:lnSpc>
                <a:spcPct val="125000"/>
              </a:lnSpc>
            </a:pPr>
            <a:r>
              <a:t>https://law.go.kr/lsLinkCommonInfo.do?chrClsCd=010202&amp;lsJoLnkSeq=1014134273</a:t>
            </a:r>
          </a:p>
          <a:p xmlns:a="http://schemas.openxmlformats.org/drawingml/2006/main">
            <a:pPr>
              <a:lnSpc>
                <a:spcPct val="125000"/>
              </a:lnSpc>
            </a:pPr>
            <a:r>
              <a:t>두 사례의 보호처분 명칭 대조. 7호는 병원·요양소 또는 의료재활소년원 위탁이다.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a:pPr>
              <a:lnSpc>
                <a:spcPct val="118000"/>
              </a:lnSpc>
            </a:pPr>
          </a:p>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lnSpc>
                <a:spcPct val="125000"/>
              </a:lnSpc>
            </a:pPr>
            <a:r>
              <a:t>제1장 6/11 · 반복 피해와 지원 연결의 어려움</a:t>
            </a:r>
          </a:p>
          <a:p xmlns:a="http://schemas.openxmlformats.org/drawingml/2006/main">
            <a:pPr>
              <a:lnSpc>
                <a:spcPct val="125000"/>
              </a:lnSpc>
            </a:pPr>
            <a:r>
              <a:t>목적: 실제 면접자료로 개입의 필요성과 지원 지속의 어려움을 환기한다.</a:t>
            </a:r>
          </a:p>
          <a:p xmlns:a="http://schemas.openxmlformats.org/drawingml/2006/main">
            <a:pPr>
              <a:lnSpc>
                <a:spcPct val="125000"/>
              </a:lnSpc>
            </a:pPr>
            <a:r>
              <a:t>설명 시간: 약 2분 30초 (수업 운영용 추정)</a:t>
            </a:r>
          </a:p>
          <a:p xmlns:a="http://schemas.openxmlformats.org/drawingml/2006/main">
            <a:pPr>
              <a:lnSpc>
                <a:spcPct val="125000"/>
              </a:lnSpc>
            </a:pPr>
            <a:r>
              <a:t/>
            </a:r>
          </a:p>
          <a:p xmlns:a="http://schemas.openxmlformats.org/drawingml/2006/main">
            <a:pPr>
              <a:lnSpc>
                <a:spcPct val="125000"/>
              </a:lnSpc>
            </a:pPr>
            <a:r>
              <a:t>강의 대본</a:t>
            </a:r>
          </a:p>
          <a:p xmlns:a="http://schemas.openxmlformats.org/drawingml/2006/main">
            <a:pPr>
              <a:lnSpc>
                <a:spcPct val="125000"/>
              </a:lnSpc>
            </a:pPr>
            <a:r>
              <a:t>2025년 한국여성정책연구원 연구는 경찰관과 피해지원 종사자 각각 10명을 면접했습니다. 경찰 면접에서는 같은 청소년이 다시 피해를 입어 경찰을 찾는 상황과, 가출 등 다른 사유를 통해서라도 개입하려는 고민이 나타납니다. 이 대목은 위험을 아는데 일시적인 조치만으로는 걱정이 끝나지 않는다는 현장의 인식을 보여 줍니다.</a:t>
            </a:r>
          </a:p>
          <a:p xmlns:a="http://schemas.openxmlformats.org/drawingml/2006/main">
            <a:pPr>
              <a:lnSpc>
                <a:spcPct val="125000"/>
              </a:lnSpc>
            </a:pPr>
            <a:r>
              <a:t/>
            </a:r>
          </a:p>
          <a:p xmlns:a="http://schemas.openxmlformats.org/drawingml/2006/main">
            <a:pPr>
              <a:lnSpc>
                <a:spcPct val="125000"/>
              </a:lnSpc>
            </a:pPr>
            <a:r>
              <a:t>지원 연결도 자동으로 이루어지지는 않습니다. 같은 연구에는 피해 사실의 통보가 늦어 지원 시점을 놓치거나, 청소년 또는 보호자가 상담과 교육을 받아들이지 않아 관계를 이어 가기 어려운 사정이 나옵니다. 이런 문제를 청소년이 말을 안 듣기 때문이라고만 읽으면 부족합니다. 지원이 얼마나 빨리 시작됐는지, 안전한 생활 조건과 신뢰가 만들어졌는지도 함께 질문해야 합니다.</a:t>
            </a:r>
          </a:p>
          <a:p xmlns:a="http://schemas.openxmlformats.org/drawingml/2006/main">
            <a:pPr>
              <a:lnSpc>
                <a:spcPct val="125000"/>
              </a:lnSpc>
            </a:pPr>
            <a:r>
              <a:t/>
            </a:r>
          </a:p>
          <a:p xmlns:a="http://schemas.openxmlformats.org/drawingml/2006/main">
            <a:pPr>
              <a:lnSpc>
                <a:spcPct val="125000"/>
              </a:lnSpc>
            </a:pPr>
            <a:r>
              <a:t>여기에서 소년사법의 개입을 지지하는 문제의식이 나옵니다. 당장의 접촉과 이탈을 막아 보호를 지속할 수 있지 않느냐는 것입니다. 동시에 그 수단이 실제 피해를 줄이는지, 피해자에게 어떤 부담을 주는지 따져야 합니다. 면접에서 필요하다고 말한 것과 효과가 입증된 것은 다릅니다. 다음 사례에서는 실제로 어떤 사정 때문에 시설 위탁까지 이어졌는지 보겠습니다.</a:t>
            </a:r>
          </a:p>
          <a:p xmlns:a="http://schemas.openxmlformats.org/drawingml/2006/main">
            <a:pPr>
              <a:lnSpc>
                <a:spcPct val="125000"/>
              </a:lnSpc>
            </a:pPr>
            <a:r>
              <a:t/>
            </a:r>
          </a:p>
          <a:p xmlns:a="http://schemas.openxmlformats.org/drawingml/2006/main">
            <a:pPr>
              <a:lnSpc>
                <a:spcPct val="125000"/>
              </a:lnSpc>
            </a:pPr>
            <a:r>
              <a:t>다음 연결</a:t>
            </a:r>
          </a:p>
          <a:p xmlns:a="http://schemas.openxmlformats.org/drawingml/2006/main">
            <a:pPr>
              <a:lnSpc>
                <a:spcPct val="125000"/>
              </a:lnSpc>
            </a:pPr>
            <a:r>
              <a:t>첫 사례에는 이미 쉼터와 아동보호전문기관이 등장합니다. 그런데도 어떤 경로로 시설 위탁까지 갔을까요?</a:t>
            </a:r>
          </a:p>
          <a:p xmlns:a="http://schemas.openxmlformats.org/drawingml/2006/main">
            <a:pPr>
              <a:lnSpc>
                <a:spcPct val="125000"/>
              </a:lnSpc>
            </a:pPr>
            <a:r>
              <a:t/>
            </a:r>
          </a:p>
          <a:p xmlns:a="http://schemas.openxmlformats.org/drawingml/2006/main">
            <a:pPr>
              <a:lnSpc>
                <a:spcPct val="125000"/>
              </a:lnSpc>
            </a:pPr>
            <a:r>
              <a:t>자료 확인</a:t>
            </a:r>
          </a:p>
          <a:p xmlns:a="http://schemas.openxmlformats.org/drawingml/2006/main">
            <a:pPr>
              <a:lnSpc>
                <a:spcPct val="125000"/>
              </a:lnSpc>
            </a:pPr>
            <a:r>
              <a:t>S3 인쇄면 190–191쪽은 반복 피해와 우범소년 개입 논의, 206–208쪽은 통보 및 지원 연계의 어려움을 확인할 위치다. 질적 면접이므로 전국 발생률이나 인과 효과를 제시하지 않는다.</a:t>
            </a:r>
          </a:p>
          <a:p xmlns:a="http://schemas.openxmlformats.org/drawingml/2006/main">
            <a:pPr>
              <a:lnSpc>
                <a:spcPct val="125000"/>
              </a:lnSpc>
            </a:pPr>
            <a:r>
              <a:t/>
            </a:r>
          </a:p>
          <a:p xmlns:a="http://schemas.openxmlformats.org/drawingml/2006/main">
            <a:pPr>
              <a:lnSpc>
                <a:spcPct val="125000"/>
              </a:lnSpc>
            </a:pPr>
            <a:r>
              <a:t>설명 범위</a:t>
            </a:r>
          </a:p>
          <a:p xmlns:a="http://schemas.openxmlformats.org/drawingml/2006/main">
            <a:pPr>
              <a:lnSpc>
                <a:spcPct val="125000"/>
              </a:lnSpc>
            </a:pPr>
            <a:r>
              <a:t>‘피해지원은 전부 자발적이므로 아무 조치도 못 한다’고 일반화하지 않는다. 이 자료에서 확인한 것은 특정 지원 과정의 어려움이다.</a:t>
            </a:r>
          </a:p>
          <a:p xmlns:a="http://schemas.openxmlformats.org/drawingml/2006/main">
            <a:pPr>
              <a:lnSpc>
                <a:spcPct val="125000"/>
              </a:lnSpc>
            </a:pPr>
            <a:r>
              <a:t/>
            </a:r>
          </a:p>
          <a:p xmlns:a="http://schemas.openxmlformats.org/drawingml/2006/main">
            <a:pPr>
              <a:lnSpc>
                <a:spcPct val="125000"/>
              </a:lnSpc>
            </a:pPr>
            <a:r>
              <a:t>선택 설명</a:t>
            </a:r>
          </a:p>
          <a:p xmlns:a="http://schemas.openxmlformats.org/drawingml/2006/main">
            <a:pPr>
              <a:lnSpc>
                <a:spcPct val="125000"/>
              </a:lnSpc>
            </a:pPr>
            <a:r>
              <a:t>시간이 있으면: 2024년 거제 사건 보도에는 가출 집단 내 성매매 강요·수익 착취 수사 과정에서 피해자가 가해자를 두둔하거나 진술에 소극적이었던 사정이 나온다. 겉으로 도움을 청하지 않는 모습만으로 피해나 보호 필요가 작다고 볼 수 없다는 설명에 쓴다. 이 보도는 우범소년 송치의 효과를 보여 주는 자료가 아니다.</a:t>
            </a:r>
          </a:p>
          <a:p xmlns:a="http://schemas.openxmlformats.org/drawingml/2006/main">
            <a:pPr>
              <a:lnSpc>
                <a:spcPct val="125000"/>
              </a:lnSpc>
            </a:pPr>
            <a:r>
              <a:t/>
            </a:r>
          </a:p>
          <a:p xmlns:a="http://schemas.openxmlformats.org/drawingml/2006/main">
            <a:pPr>
              <a:lnSpc>
                <a:spcPct val="125000"/>
              </a:lnSpc>
            </a:pPr>
            <a:r>
              <a:t>출처</a:t>
            </a:r>
          </a:p>
          <a:p xmlns:a="http://schemas.openxmlformats.org/drawingml/2006/main">
            <a:pPr>
              <a:lnSpc>
                <a:spcPct val="125000"/>
              </a:lnSpc>
            </a:pPr>
            <a:r>
              <a:t>[S3] 박상민·김효정·정다은·이은심, 『성착취 피해 아동·청소년의 법적 지위 변화에 따른 법제도 운영 현황과 과제』, 한국여성정책연구원(2025)</a:t>
            </a:r>
          </a:p>
          <a:p xmlns:a="http://schemas.openxmlformats.org/drawingml/2006/main">
            <a:pPr>
              <a:lnSpc>
                <a:spcPct val="125000"/>
              </a:lnSpc>
            </a:pPr>
            <a:r>
              <a:t>경찰관 10명·피해지원 종사자 10명 면접. 인쇄면 190–191쪽(반복 피해와 우범소년 개입), 206–208쪽(통보·지원 연계의 어려움). PDF 해당 면 237–238, 253–255.</a:t>
            </a:r>
          </a:p>
          <a:p xmlns:a="http://schemas.openxmlformats.org/drawingml/2006/main">
            <a:pPr>
              <a:lnSpc>
                <a:spcPct val="125000"/>
              </a:lnSpc>
            </a:pPr>
            <a:r>
              <a:t>https://www.kwdi.re.kr/publications/reportView.do?idx=133642&amp;p=3</a:t>
            </a:r>
          </a:p>
          <a:p xmlns:a="http://schemas.openxmlformats.org/drawingml/2006/main">
            <a:pPr>
              <a:lnSpc>
                <a:spcPct val="125000"/>
              </a:lnSpc>
            </a:pPr>
            <a:r>
              <a:t>지원 연결의 어려움과 강제 개입 요구가 생기는 맥락. 전국 빈도나 송치의 효과를 추정하는 통계가 아니다.</a:t>
            </a:r>
          </a:p>
          <a:p xmlns:a="http://schemas.openxmlformats.org/drawingml/2006/main">
            <a:pPr>
              <a:lnSpc>
                <a:spcPct val="125000"/>
              </a:lnSpc>
            </a:pPr>
            <a:r>
              <a:t/>
            </a:r>
          </a:p>
          <a:p xmlns:a="http://schemas.openxmlformats.org/drawingml/2006/main">
            <a:pPr>
              <a:lnSpc>
                <a:spcPct val="125000"/>
              </a:lnSpc>
            </a:pPr>
            <a:r>
              <a:t>[S5] 연합뉴스, 거제 가출 청소년 성착취 사건 보도(2024.7.24.)</a:t>
            </a:r>
          </a:p>
          <a:p xmlns:a="http://schemas.openxmlformats.org/drawingml/2006/main">
            <a:pPr>
              <a:lnSpc>
                <a:spcPct val="125000"/>
              </a:lnSpc>
            </a:pPr>
            <a:r>
              <a:t>가출 집단의 성매매 강요·수익 착취 등에 대한 수사 보도. 대본의 선택 설명용.</a:t>
            </a:r>
          </a:p>
          <a:p xmlns:a="http://schemas.openxmlformats.org/drawingml/2006/main">
            <a:pPr>
              <a:lnSpc>
                <a:spcPct val="125000"/>
              </a:lnSpc>
            </a:pPr>
            <a:r>
              <a:t>https://www.yna.co.kr/view/AKR20240724110300052</a:t>
            </a:r>
          </a:p>
          <a:p xmlns:a="http://schemas.openxmlformats.org/drawingml/2006/main">
            <a:pPr>
              <a:lnSpc>
                <a:spcPct val="125000"/>
              </a:lnSpc>
            </a:pPr>
            <a:r>
              <a:t>피해자가 가해자를 두둔하거나 진술에 소극적인 상황도 있다는 구체적 맥락. 다른 두 사례와 별개 사건이다.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a:pPr>
              <a:lnSpc>
                <a:spcPct val="118000"/>
              </a:lnSpc>
            </a:pPr>
          </a:p>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lnSpc>
                <a:spcPct val="125000"/>
              </a:lnSpc>
            </a:pPr>
            <a:r>
              <a:t>제1장 7/11 · 가정폭력·장기가출 뒤 시설 위탁으로 이어진 사례</a:t>
            </a:r>
          </a:p>
          <a:p xmlns:a="http://schemas.openxmlformats.org/drawingml/2006/main">
            <a:pPr>
              <a:lnSpc>
                <a:spcPct val="125000"/>
              </a:lnSpc>
            </a:pPr>
            <a:r>
              <a:t>목적: 기존 지원, 연락 단절, 법원 개입, 설명된 처분 이유를 순서대로 보여 준다.</a:t>
            </a:r>
          </a:p>
          <a:p xmlns:a="http://schemas.openxmlformats.org/drawingml/2006/main">
            <a:pPr>
              <a:lnSpc>
                <a:spcPct val="125000"/>
              </a:lnSpc>
            </a:pPr>
            <a:r>
              <a:t>설명 시간: 약 2분 30초 (수업 운영용 추정)</a:t>
            </a:r>
          </a:p>
          <a:p xmlns:a="http://schemas.openxmlformats.org/drawingml/2006/main">
            <a:pPr>
              <a:lnSpc>
                <a:spcPct val="125000"/>
              </a:lnSpc>
            </a:pPr>
            <a:r>
              <a:t/>
            </a:r>
          </a:p>
          <a:p xmlns:a="http://schemas.openxmlformats.org/drawingml/2006/main">
            <a:pPr>
              <a:lnSpc>
                <a:spcPct val="125000"/>
              </a:lnSpc>
            </a:pPr>
            <a:r>
              <a:t>강의 대본</a:t>
            </a:r>
          </a:p>
          <a:p xmlns:a="http://schemas.openxmlformats.org/drawingml/2006/main">
            <a:pPr>
              <a:lnSpc>
                <a:spcPct val="125000"/>
              </a:lnSpc>
            </a:pPr>
            <a:r>
              <a:t>이 사례는 법원행정처 실무자료에 실린 학교장 통고 사건입니다. 청소년은 음주 신고 뒤 귀가를 거부해 쉼터에 들어갔습니다. 임시퇴소 뒤 학교와 연락이 끊겼고, 아버지와의 갈등 속에서 가출이 길어졌습니다. 아버지의 폭력 때문에 아동보호전문기관의 사례관리도 진행 중이었습니다. 단순히 ‘집을 나간 아이’라는 말로는 이 배경이 설명되지 않습니다.</a:t>
            </a:r>
          </a:p>
          <a:p xmlns:a="http://schemas.openxmlformats.org/drawingml/2006/main">
            <a:pPr>
              <a:lnSpc>
                <a:spcPct val="125000"/>
              </a:lnSpc>
            </a:pPr>
            <a:r>
              <a:t/>
            </a:r>
          </a:p>
          <a:p xmlns:a="http://schemas.openxmlformats.org/drawingml/2006/main">
            <a:pPr>
              <a:lnSpc>
                <a:spcPct val="125000"/>
              </a:lnSpc>
            </a:pPr>
            <a:r>
              <a:t>이후 아버지뿐 아니라 소년사건조사관의 전화와 문자에도 응답하지 않았습니다. 자료에는 동행영장이 발부되고 소년분류심사원에 임시위탁된 과정이 나옵니다. 처분 이유로 설명된 것은 조건만남 등을 통해 가출 생활을 유지할 가능성이 높다는 점입니다. 결과는 소년보호시설 감호위탁과 장기보호관찰입니다. 현행 처분 명칭과 대조하면 6호와 5호에 해당합니다.</a:t>
            </a:r>
          </a:p>
          <a:p xmlns:a="http://schemas.openxmlformats.org/drawingml/2006/main">
            <a:pPr>
              <a:lnSpc>
                <a:spcPct val="125000"/>
              </a:lnSpc>
            </a:pPr>
            <a:r>
              <a:t/>
            </a:r>
          </a:p>
          <a:p xmlns:a="http://schemas.openxmlformats.org/drawingml/2006/main">
            <a:pPr>
              <a:lnSpc>
                <a:spcPct val="125000"/>
              </a:lnSpc>
            </a:pPr>
            <a:r>
              <a:t>이 사례는 위험한 생활을 중단시키기 위해 신병을 확보하고 거처를 정하는 개입이 실제 사용된 모습을 보여 줍니다. 그러나 자료만으로 앞선 지원이 왜 충분하지 못했는지, 위탁 뒤 피해가 줄었는지까지 알 수는 없습니다. 무엇이 부족했을지 상상으로 채우기보다, 어떤 주거·생계·보호의 필요에 어떤 경로가 응답했는지 비교해 보겠습니다. ‘정당한 이유 없는 가출’에 대한 상세한 법원 판단도 이 요약에는 없습니다.</a:t>
            </a:r>
          </a:p>
          <a:p xmlns:a="http://schemas.openxmlformats.org/drawingml/2006/main">
            <a:pPr>
              <a:lnSpc>
                <a:spcPct val="125000"/>
              </a:lnSpc>
            </a:pPr>
            <a:r>
              <a:t/>
            </a:r>
          </a:p>
          <a:p xmlns:a="http://schemas.openxmlformats.org/drawingml/2006/main">
            <a:pPr>
              <a:lnSpc>
                <a:spcPct val="125000"/>
              </a:lnSpc>
            </a:pPr>
            <a:r>
              <a:t>다음 연결</a:t>
            </a:r>
          </a:p>
          <a:p xmlns:a="http://schemas.openxmlformats.org/drawingml/2006/main">
            <a:pPr>
              <a:lnSpc>
                <a:spcPct val="125000"/>
              </a:lnSpc>
            </a:pPr>
            <a:r>
              <a:t>다음 사례는 비슷하게 가정폭력과 가출이 나오지만, 치료 필요성이 거론되며 7호 처분으로 이어졌습니다.</a:t>
            </a:r>
          </a:p>
          <a:p xmlns:a="http://schemas.openxmlformats.org/drawingml/2006/main">
            <a:pPr>
              <a:lnSpc>
                <a:spcPct val="125000"/>
              </a:lnSpc>
            </a:pPr>
            <a:r>
              <a:t/>
            </a:r>
          </a:p>
          <a:p xmlns:a="http://schemas.openxmlformats.org/drawingml/2006/main">
            <a:pPr>
              <a:lnSpc>
                <a:spcPct val="125000"/>
              </a:lnSpc>
            </a:pPr>
            <a:r>
              <a:t>자료 확인</a:t>
            </a:r>
          </a:p>
          <a:p xmlns:a="http://schemas.openxmlformats.org/drawingml/2006/main">
            <a:pPr>
              <a:lnSpc>
                <a:spcPct val="125000"/>
              </a:lnSpc>
            </a:pPr>
            <a:r>
              <a:t>S1 인쇄면 33쪽의 ‘비행사실’, ‘특이사항’, ‘처분내용’을 함께 읽는다. 화면의 5호·6호 번호는 원자료의 처분 명칭을 현행 제32조와 대조하여 표기했다.</a:t>
            </a:r>
          </a:p>
          <a:p xmlns:a="http://schemas.openxmlformats.org/drawingml/2006/main">
            <a:pPr>
              <a:lnSpc>
                <a:spcPct val="125000"/>
              </a:lnSpc>
            </a:pPr>
            <a:r>
              <a:t/>
            </a:r>
          </a:p>
          <a:p xmlns:a="http://schemas.openxmlformats.org/drawingml/2006/main">
            <a:pPr>
              <a:lnSpc>
                <a:spcPct val="125000"/>
              </a:lnSpc>
            </a:pPr>
            <a:r>
              <a:t>설명 범위</a:t>
            </a:r>
          </a:p>
          <a:p xmlns:a="http://schemas.openxmlformats.org/drawingml/2006/main">
            <a:pPr>
              <a:lnSpc>
                <a:spcPct val="125000"/>
              </a:lnSpc>
            </a:pPr>
            <a:r>
              <a:t>기존 기관이 등장한다는 사실을 곧바로 복지지원 실패의 증거로 쓰지 않는다. 조건만남 ‘정황’을 확정된 성범죄 가해나 확정된 피해 사실로 바꾸지 않는다.</a:t>
            </a:r>
          </a:p>
          <a:p xmlns:a="http://schemas.openxmlformats.org/drawingml/2006/main">
            <a:pPr>
              <a:lnSpc>
                <a:spcPct val="125000"/>
              </a:lnSpc>
            </a:pPr>
            <a:r>
              <a:t/>
            </a:r>
          </a:p>
          <a:p xmlns:a="http://schemas.openxmlformats.org/drawingml/2006/main">
            <a:pPr>
              <a:lnSpc>
                <a:spcPct val="125000"/>
              </a:lnSpc>
            </a:pPr>
            <a:r>
              <a:t>출처</a:t>
            </a:r>
          </a:p>
          <a:p xmlns:a="http://schemas.openxmlformats.org/drawingml/2006/main">
            <a:pPr>
              <a:lnSpc>
                <a:spcPct val="125000"/>
              </a:lnSpc>
            </a:pPr>
            <a:r>
              <a:t>[S1] 법원행정처, 『소년 통고 실무(2024년 개정판)』</a:t>
            </a:r>
          </a:p>
          <a:p xmlns:a="http://schemas.openxmlformats.org/drawingml/2006/main">
            <a:pPr>
              <a:lnSpc>
                <a:spcPct val="125000"/>
              </a:lnSpc>
            </a:pPr>
            <a:r>
              <a:t>인쇄면 33쪽, PDF 42번째 면, 학교현장 통고 사례 7 「반복된 거짓말, 장기무단가출」. 게시일 2024.12.20.</a:t>
            </a:r>
          </a:p>
          <a:p xmlns:a="http://schemas.openxmlformats.org/drawingml/2006/main">
            <a:pPr>
              <a:lnSpc>
                <a:spcPct val="125000"/>
              </a:lnSpc>
            </a:pPr>
            <a:r>
              <a:t>https://www.scourt.go.kr/portal/news/NewsViewAction.work?gubun=713&amp;seqnum=43</a:t>
            </a:r>
          </a:p>
          <a:p xmlns:a="http://schemas.openxmlformats.org/drawingml/2006/main">
            <a:pPr>
              <a:lnSpc>
                <a:spcPct val="125000"/>
              </a:lnSpc>
            </a:pPr>
            <a:r>
              <a:t>가정폭력·쉼터·장기가출, 동행영장과 임시위탁, 시설 위탁의 설명된 이유. 사건번호와 결정문 전문은 제시되지 않는다.</a:t>
            </a:r>
          </a:p>
          <a:p xmlns:a="http://schemas.openxmlformats.org/drawingml/2006/main">
            <a:pPr>
              <a:lnSpc>
                <a:spcPct val="125000"/>
              </a:lnSpc>
            </a:pPr>
            <a:r>
              <a:t/>
            </a:r>
          </a:p>
          <a:p xmlns:a="http://schemas.openxmlformats.org/drawingml/2006/main">
            <a:pPr>
              <a:lnSpc>
                <a:spcPct val="125000"/>
              </a:lnSpc>
            </a:pPr>
            <a:r>
              <a:t>[L2] 국가법령정보센터, 소년법 제32조</a:t>
            </a:r>
          </a:p>
          <a:p xmlns:a="http://schemas.openxmlformats.org/drawingml/2006/main">
            <a:pPr>
              <a:lnSpc>
                <a:spcPct val="125000"/>
              </a:lnSpc>
            </a:pPr>
            <a:r>
              <a:t>제1항 제5호·제6호·제7호 및 제2항.</a:t>
            </a:r>
          </a:p>
          <a:p xmlns:a="http://schemas.openxmlformats.org/drawingml/2006/main">
            <a:pPr>
              <a:lnSpc>
                <a:spcPct val="125000"/>
              </a:lnSpc>
            </a:pPr>
            <a:r>
              <a:t>https://law.go.kr/lsLinkCommonInfo.do?chrClsCd=010202&amp;lsJoLnkSeq=1014134273</a:t>
            </a:r>
          </a:p>
          <a:p xmlns:a="http://schemas.openxmlformats.org/drawingml/2006/main">
            <a:pPr>
              <a:lnSpc>
                <a:spcPct val="125000"/>
              </a:lnSpc>
            </a:pPr>
            <a:r>
              <a:t>두 사례의 보호처분 명칭 대조. 7호는 병원·요양소 또는 의료재활소년원 위탁이다.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a:pPr>
              <a:lnSpc>
                <a:spcPct val="118000"/>
              </a:lnSpc>
            </a:pPr>
          </a:p>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lnSpc>
                <a:spcPct val="125000"/>
              </a:lnSpc>
            </a:pPr>
            <a:r>
              <a:t>제1장 8/11 · 성범죄 연루 우려가 제시된 송치 사례</a:t>
            </a:r>
          </a:p>
          <a:p xmlns:a="http://schemas.openxmlformats.org/drawingml/2006/main">
            <a:pPr>
              <a:lnSpc>
                <a:spcPct val="125000"/>
              </a:lnSpc>
            </a:pPr>
            <a:r>
              <a:t>목적: 송치의 사정과 7호 선택의 사정을 분리해, 7호 처분이 내려진 이유를 설명한다.</a:t>
            </a:r>
          </a:p>
          <a:p xmlns:a="http://schemas.openxmlformats.org/drawingml/2006/main">
            <a:pPr>
              <a:lnSpc>
                <a:spcPct val="125000"/>
              </a:lnSpc>
            </a:pPr>
            <a:r>
              <a:t>설명 시간: 약 2분 30초 (수업 운영용 추정)</a:t>
            </a:r>
          </a:p>
          <a:p xmlns:a="http://schemas.openxmlformats.org/drawingml/2006/main">
            <a:pPr>
              <a:lnSpc>
                <a:spcPct val="125000"/>
              </a:lnSpc>
            </a:pPr>
            <a:r>
              <a:t/>
            </a:r>
          </a:p>
          <a:p xmlns:a="http://schemas.openxmlformats.org/drawingml/2006/main">
            <a:pPr>
              <a:lnSpc>
                <a:spcPct val="125000"/>
              </a:lnSpc>
            </a:pPr>
            <a:r>
              <a:t>강의 대본</a:t>
            </a:r>
          </a:p>
          <a:p xmlns:a="http://schemas.openxmlformats.org/drawingml/2006/main">
            <a:pPr>
              <a:lnSpc>
                <a:spcPct val="125000"/>
              </a:lnSpc>
            </a:pPr>
            <a:r>
              <a:t>이것은 2021년 토론회에서 강정은 변호사가 자신이 수행한 사건으로 보고한 사례입니다. B는 부모의 다툼을 피해 어릴 때부터 가출했고, 가정폭력 위험으로 아동보호전문기관과 구청의 사례관리를 받고 있었습니다. 아버지의 신고 뒤 경찰서장이 소년부로 송치했습니다. 자료에는 가출, 부모 동의 없는 소액결제, 성인 남성과의 접촉, 그리고 ‘성범죄 연루 우려’라는 표현이 제시됩니다.</a:t>
            </a:r>
          </a:p>
          <a:p xmlns:a="http://schemas.openxmlformats.org/drawingml/2006/main">
            <a:pPr>
              <a:lnSpc>
                <a:spcPct val="125000"/>
              </a:lnSpc>
            </a:pPr>
            <a:r>
              <a:t/>
            </a:r>
          </a:p>
          <a:p xmlns:a="http://schemas.openxmlformats.org/drawingml/2006/main">
            <a:pPr>
              <a:lnSpc>
                <a:spcPct val="125000"/>
              </a:lnSpc>
            </a:pPr>
            <a:r>
              <a:t>왜 7호 처분이었느냐는 질문에는 보고에 있는 만큼 답할 수 있습니다. 부모가 B를 보호하기 어렵다는 점, 부모가 시설처분을 원한 점, B에게 치료가 필요하다는 점 등이 고려되었다고 설명되어 있습니다. 7호는 병원·요양소 또는 의료재활소년원에 위탁하는 처분입니다. 숫자가 더 높으니 단순히 더 나쁜 행동을 했다는 의미로 읽으면 안 됩니다.</a:t>
            </a:r>
          </a:p>
          <a:p xmlns:a="http://schemas.openxmlformats.org/drawingml/2006/main">
            <a:pPr>
              <a:lnSpc>
                <a:spcPct val="125000"/>
              </a:lnSpc>
            </a:pPr>
            <a:r>
              <a:t/>
            </a:r>
          </a:p>
          <a:p xmlns:a="http://schemas.openxmlformats.org/drawingml/2006/main">
            <a:pPr>
              <a:lnSpc>
                <a:spcPct val="125000"/>
              </a:lnSpc>
            </a:pPr>
            <a:r>
              <a:t>여기서 송치 이유와 치료 위탁의 이유를 따로 봐야 합니다. 치료가 필요하거나 부모가 시설을 원한다는 사실이 우범소년의 법정요건을 대신하지는 않습니다. 또한 공개된 보고에는 진단명이나 의료진 의견, 다른 치료 경로 대신 이 처분을 선택한 상세 판단이 없습니다. 그래서 ‘치료 필요성이 고려됐다고 보고되어 있다’까지 설명하겠습니다. 이어서 비슷한 보호 문제가 기관 협의를 통해 다른 경로로 다뤄진 사례를 보겠습니다.</a:t>
            </a:r>
          </a:p>
          <a:p xmlns:a="http://schemas.openxmlformats.org/drawingml/2006/main">
            <a:pPr>
              <a:lnSpc>
                <a:spcPct val="125000"/>
              </a:lnSpc>
            </a:pPr>
            <a:r>
              <a:t/>
            </a:r>
          </a:p>
          <a:p xmlns:a="http://schemas.openxmlformats.org/drawingml/2006/main">
            <a:pPr>
              <a:lnSpc>
                <a:spcPct val="125000"/>
              </a:lnSpc>
            </a:pPr>
            <a:r>
              <a:t>다음 연결</a:t>
            </a:r>
          </a:p>
          <a:p xmlns:a="http://schemas.openxmlformats.org/drawingml/2006/main">
            <a:pPr>
              <a:lnSpc>
                <a:spcPct val="125000"/>
              </a:lnSpc>
            </a:pPr>
            <a:r>
              <a:t>치료가 필요한 피해청소년을 만났을 때 우범소년 송치가 유일한 접근이었을까요? 다음은 실제 협의가 이루어진 사례입니다.</a:t>
            </a:r>
          </a:p>
          <a:p xmlns:a="http://schemas.openxmlformats.org/drawingml/2006/main">
            <a:pPr>
              <a:lnSpc>
                <a:spcPct val="125000"/>
              </a:lnSpc>
            </a:pPr>
            <a:r>
              <a:t/>
            </a:r>
          </a:p>
          <a:p xmlns:a="http://schemas.openxmlformats.org/drawingml/2006/main">
            <a:pPr>
              <a:lnSpc>
                <a:spcPct val="125000"/>
              </a:lnSpc>
            </a:pPr>
            <a:r>
              <a:t>자료 확인</a:t>
            </a:r>
          </a:p>
          <a:p xmlns:a="http://schemas.openxmlformats.org/drawingml/2006/main">
            <a:pPr>
              <a:lnSpc>
                <a:spcPct val="125000"/>
              </a:lnSpc>
            </a:pPr>
            <a:r>
              <a:t>S2 강정은 발제 18쪽. 발제자의 직접 수행 사건 보고이며 판결문 전문이 아니다. 원문의 ‘치료감호’ 표현을 현행 7호의 정식 명칭으로 사용하지 않았다.</a:t>
            </a:r>
          </a:p>
          <a:p xmlns:a="http://schemas.openxmlformats.org/drawingml/2006/main">
            <a:pPr>
              <a:lnSpc>
                <a:spcPct val="125000"/>
              </a:lnSpc>
            </a:pPr>
            <a:r>
              <a:t/>
            </a:r>
          </a:p>
          <a:p xmlns:a="http://schemas.openxmlformats.org/drawingml/2006/main">
            <a:pPr>
              <a:lnSpc>
                <a:spcPct val="125000"/>
              </a:lnSpc>
            </a:pPr>
            <a:r>
              <a:t>설명 범위</a:t>
            </a:r>
          </a:p>
          <a:p xmlns:a="http://schemas.openxmlformats.org/drawingml/2006/main">
            <a:pPr>
              <a:lnSpc>
                <a:spcPct val="125000"/>
              </a:lnSpc>
            </a:pPr>
            <a:r>
              <a:t>진단명·시설명·치료 효과를 추정하지 않는다. 부모의 요청과 법정요건 충족을 같은 것으로 제시하지 않는다.</a:t>
            </a:r>
          </a:p>
          <a:p xmlns:a="http://schemas.openxmlformats.org/drawingml/2006/main">
            <a:pPr>
              <a:lnSpc>
                <a:spcPct val="125000"/>
              </a:lnSpc>
            </a:pPr>
            <a:r>
              <a:t/>
            </a:r>
          </a:p>
          <a:p xmlns:a="http://schemas.openxmlformats.org/drawingml/2006/main">
            <a:pPr>
              <a:lnSpc>
                <a:spcPct val="125000"/>
              </a:lnSpc>
            </a:pPr>
            <a:r>
              <a:t>출처</a:t>
            </a:r>
          </a:p>
          <a:p xmlns:a="http://schemas.openxmlformats.org/drawingml/2006/main">
            <a:pPr>
              <a:lnSpc>
                <a:spcPct val="125000"/>
              </a:lnSpc>
            </a:pPr>
            <a:r>
              <a:t>[S2] 『우범소년 규정 폐지 필요성 토론회』 자료집(2021.3.9.)</a:t>
            </a:r>
          </a:p>
          <a:p xmlns:a="http://schemas.openxmlformats.org/drawingml/2006/main">
            <a:pPr>
              <a:lnSpc>
                <a:spcPct val="125000"/>
              </a:lnSpc>
            </a:pPr>
            <a:r>
              <a:t>강정은 발제 18쪽(B 사건); 양현규 토론 67–69쪽; 고평기 토론 75쪽; 이승현 토론 83–85쪽. PDF는 인쇄면 두 쪽이 한 면에 배치됨.</a:t>
            </a:r>
          </a:p>
          <a:p xmlns:a="http://schemas.openxmlformats.org/drawingml/2006/main">
            <a:pPr>
              <a:lnSpc>
                <a:spcPct val="125000"/>
              </a:lnSpc>
            </a:pPr>
            <a:r>
              <a:t>https://duroo.org/data/?bmode=view&amp;idx=128595217</a:t>
            </a:r>
          </a:p>
          <a:p xmlns:a="http://schemas.openxmlformats.org/drawingml/2006/main">
            <a:pPr>
              <a:lnSpc>
                <a:spcPct val="125000"/>
              </a:lnSpc>
            </a:pPr>
            <a:r>
              <a:t>직접 수행한 B 사건의 보고와 서로 다른 토론자의 주장. 토론회 제목을 모든 참석자의 합의로 설명하지 않는다.</a:t>
            </a:r>
          </a:p>
          <a:p xmlns:a="http://schemas.openxmlformats.org/drawingml/2006/main">
            <a:pPr>
              <a:lnSpc>
                <a:spcPct val="125000"/>
              </a:lnSpc>
            </a:pPr>
            <a:r>
              <a:t/>
            </a:r>
          </a:p>
          <a:p xmlns:a="http://schemas.openxmlformats.org/drawingml/2006/main">
            <a:pPr>
              <a:lnSpc>
                <a:spcPct val="125000"/>
              </a:lnSpc>
            </a:pPr>
            <a:r>
              <a:t>[L2] 국가법령정보센터, 소년법 제32조</a:t>
            </a:r>
          </a:p>
          <a:p xmlns:a="http://schemas.openxmlformats.org/drawingml/2006/main">
            <a:pPr>
              <a:lnSpc>
                <a:spcPct val="125000"/>
              </a:lnSpc>
            </a:pPr>
            <a:r>
              <a:t>제1항 제5호·제6호·제7호 및 제2항.</a:t>
            </a:r>
          </a:p>
          <a:p xmlns:a="http://schemas.openxmlformats.org/drawingml/2006/main">
            <a:pPr>
              <a:lnSpc>
                <a:spcPct val="125000"/>
              </a:lnSpc>
            </a:pPr>
            <a:r>
              <a:t>https://law.go.kr/lsLinkCommonInfo.do?chrClsCd=010202&amp;lsJoLnkSeq=1014134273</a:t>
            </a:r>
          </a:p>
          <a:p xmlns:a="http://schemas.openxmlformats.org/drawingml/2006/main">
            <a:pPr>
              <a:lnSpc>
                <a:spcPct val="125000"/>
              </a:lnSpc>
            </a:pPr>
            <a:r>
              <a:t>두 사례의 보호처분 명칭 대조. 7호는 병원·요양소 또는 의료재활소년원 위탁이다.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a:pPr>
              <a:lnSpc>
                <a:spcPct val="118000"/>
              </a:lnSpc>
            </a:pPr>
          </a:p>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lnSpc>
                <a:spcPct val="125000"/>
              </a:lnSpc>
            </a:pPr>
            <a:r>
              <a:t>제1장 9/11 · 기관 협의로 달라진 송치 계획</a:t>
            </a:r>
          </a:p>
          <a:p xmlns:a="http://schemas.openxmlformats.org/drawingml/2006/main">
            <a:pPr>
              <a:lnSpc>
                <a:spcPct val="125000"/>
              </a:lnSpc>
            </a:pPr>
            <a:r>
              <a:t>목적: 송치와 무대응의 양자택일을 벗어나 실제 지원기관 개입 경로를 제시한다.</a:t>
            </a:r>
          </a:p>
          <a:p xmlns:a="http://schemas.openxmlformats.org/drawingml/2006/main">
            <a:pPr>
              <a:lnSpc>
                <a:spcPct val="125000"/>
              </a:lnSpc>
            </a:pPr>
            <a:r>
              <a:t>설명 시간: 약 2분 (수업 운영용 추정)</a:t>
            </a:r>
          </a:p>
          <a:p xmlns:a="http://schemas.openxmlformats.org/drawingml/2006/main">
            <a:pPr>
              <a:lnSpc>
                <a:spcPct val="125000"/>
              </a:lnSpc>
            </a:pPr>
            <a:r>
              <a:t/>
            </a:r>
          </a:p>
          <a:p xmlns:a="http://schemas.openxmlformats.org/drawingml/2006/main">
            <a:pPr>
              <a:lnSpc>
                <a:spcPct val="125000"/>
              </a:lnSpc>
            </a:pPr>
            <a:r>
              <a:t>강의 대본</a:t>
            </a:r>
          </a:p>
          <a:p xmlns:a="http://schemas.openxmlformats.org/drawingml/2006/main">
            <a:pPr>
              <a:lnSpc>
                <a:spcPct val="125000"/>
              </a:lnSpc>
            </a:pPr>
            <a:r>
              <a:t>평화의샘이 2021년에 공개한 사례입니다. 지적장애가 있는 성착취 피해청소년에 대해 경찰이 치료를 이유로 우범소년 송치를 계획했습니다. 지원기관은 피해자로서의 지위와 개정법의 취지를 설명하고, 앞으로의 보호에 관해 경찰과 여러 차례 협의했다고 보고합니다. 그 뒤 송치 계획은 중단되었고, 가해자 수사가 요청되었습니다.</a:t>
            </a:r>
          </a:p>
          <a:p xmlns:a="http://schemas.openxmlformats.org/drawingml/2006/main">
            <a:pPr>
              <a:lnSpc>
                <a:spcPct val="125000"/>
              </a:lnSpc>
            </a:pPr>
            <a:r>
              <a:t/>
            </a:r>
          </a:p>
          <a:p xmlns:a="http://schemas.openxmlformats.org/drawingml/2006/main">
            <a:pPr>
              <a:lnSpc>
                <a:spcPct val="125000"/>
              </a:lnSpc>
            </a:pPr>
            <a:r>
              <a:t>이 사례가 보여 주는 것은 우범소년으로 보내지 않으면 아무 일도 하지 않는다는 그림이 실제 선택지를 모두 담지 못한다는 점입니다. 지원기관과의 협의, 피해 보호의 논의, 가해자에 대한 수사도 가능한 대응입니다. 다만 지원기관이 개입했다는 사실만으로 필요한 치료나 안전이 충분히 확보됐다고 말할 수는 없습니다. 그 이후의 구체적 경과는 이 글에 제시되지 않습니다.</a:t>
            </a:r>
          </a:p>
          <a:p xmlns:a="http://schemas.openxmlformats.org/drawingml/2006/main">
            <a:pPr>
              <a:lnSpc>
                <a:spcPct val="125000"/>
              </a:lnSpc>
            </a:pPr>
            <a:r>
              <a:t/>
            </a:r>
          </a:p>
          <a:p xmlns:a="http://schemas.openxmlformats.org/drawingml/2006/main">
            <a:pPr>
              <a:lnSpc>
                <a:spcPct val="125000"/>
              </a:lnSpc>
            </a:pPr>
            <a:r>
              <a:t>앞선 두 사례와 이 사례의 결과를 그대로 효과 비교로 쓰지는 않겠습니다. 대상과 조건이 다르고 추적 결과도 없기 때문입니다. 대신 실제로 선택된 경로가 어떻게 달랐는지 보겠습니다. 어떤 위험을 해결하려 했는가, 누가 판단에 참여했는가, 이후 무엇을 확인해야 하는가입니다. 이 질문을 가지고 토론회에서 제시된 서로 다른 주장을 읽어 보겠습니다.</a:t>
            </a:r>
          </a:p>
          <a:p xmlns:a="http://schemas.openxmlformats.org/drawingml/2006/main">
            <a:pPr>
              <a:lnSpc>
                <a:spcPct val="125000"/>
              </a:lnSpc>
            </a:pPr>
            <a:r>
              <a:t/>
            </a:r>
          </a:p>
          <a:p xmlns:a="http://schemas.openxmlformats.org/drawingml/2006/main">
            <a:pPr>
              <a:lnSpc>
                <a:spcPct val="125000"/>
              </a:lnSpc>
            </a:pPr>
            <a:r>
              <a:t>다음 연결</a:t>
            </a:r>
          </a:p>
          <a:p xmlns:a="http://schemas.openxmlformats.org/drawingml/2006/main">
            <a:pPr>
              <a:lnSpc>
                <a:spcPct val="125000"/>
              </a:lnSpc>
            </a:pPr>
            <a:r>
              <a:t>지금까지의 자료는 어떤 주장을 뒷받침하고, 그 주장에 답하려면 무엇이 더 필요할까요?</a:t>
            </a:r>
          </a:p>
          <a:p xmlns:a="http://schemas.openxmlformats.org/drawingml/2006/main">
            <a:pPr>
              <a:lnSpc>
                <a:spcPct val="125000"/>
              </a:lnSpc>
            </a:pPr>
            <a:r>
              <a:t/>
            </a:r>
          </a:p>
          <a:p xmlns:a="http://schemas.openxmlformats.org/drawingml/2006/main">
            <a:pPr>
              <a:lnSpc>
                <a:spcPct val="125000"/>
              </a:lnSpc>
            </a:pPr>
            <a:r>
              <a:t>자료 확인</a:t>
            </a:r>
          </a:p>
          <a:p xmlns:a="http://schemas.openxmlformats.org/drawingml/2006/main">
            <a:pPr>
              <a:lnSpc>
                <a:spcPct val="125000"/>
              </a:lnSpc>
            </a:pPr>
            <a:r>
              <a:t>S4는 지원기관 자신의 활동 보고이다. 경찰의 송치 계획, 반복 협의, 계획 중단과 가해자 수사 요청을 확인할 수 있다. 사법적 판단이나 효과 평가 자료와는 성격이 다르다.</a:t>
            </a:r>
          </a:p>
          <a:p xmlns:a="http://schemas.openxmlformats.org/drawingml/2006/main">
            <a:pPr>
              <a:lnSpc>
                <a:spcPct val="125000"/>
              </a:lnSpc>
            </a:pPr>
            <a:r>
              <a:t/>
            </a:r>
          </a:p>
          <a:p xmlns:a="http://schemas.openxmlformats.org/drawingml/2006/main">
            <a:pPr>
              <a:lnSpc>
                <a:spcPct val="125000"/>
              </a:lnSpc>
            </a:pPr>
            <a:r>
              <a:t>설명 범위</a:t>
            </a:r>
          </a:p>
          <a:p xmlns:a="http://schemas.openxmlformats.org/drawingml/2006/main">
            <a:pPr>
              <a:lnSpc>
                <a:spcPct val="125000"/>
              </a:lnSpc>
            </a:pPr>
            <a:r>
              <a:t>‘지원기관이 장기 보호에 성공했다’ 또는 ‘치료 필요가 없었다’고 바꾸지 않는다. 다른 사건의 시설 위탁 결과와 직접 비교해 우열을 결론 내리지 않는다.</a:t>
            </a:r>
          </a:p>
          <a:p xmlns:a="http://schemas.openxmlformats.org/drawingml/2006/main">
            <a:pPr>
              <a:lnSpc>
                <a:spcPct val="125000"/>
              </a:lnSpc>
            </a:pPr>
            <a:r>
              <a:t/>
            </a:r>
          </a:p>
          <a:p xmlns:a="http://schemas.openxmlformats.org/drawingml/2006/main">
            <a:pPr>
              <a:lnSpc>
                <a:spcPct val="125000"/>
              </a:lnSpc>
            </a:pPr>
            <a:r>
              <a:t>출처</a:t>
            </a:r>
          </a:p>
          <a:p xmlns:a="http://schemas.openxmlformats.org/drawingml/2006/main">
            <a:pPr>
              <a:lnSpc>
                <a:spcPct val="125000"/>
              </a:lnSpc>
            </a:pPr>
            <a:r>
              <a:t>[S4] 평화의샘, 「아청법 개정 1년, 그리고」(2021.12.20.)</a:t>
            </a:r>
          </a:p>
          <a:p xmlns:a="http://schemas.openxmlformats.org/drawingml/2006/main">
            <a:pPr>
              <a:lnSpc>
                <a:spcPct val="125000"/>
              </a:lnSpc>
            </a:pPr>
            <a:r>
              <a:t>지적장애가 있는 성착취 피해청소년에 관한 지원기관의 사례 보고.</a:t>
            </a:r>
          </a:p>
          <a:p xmlns:a="http://schemas.openxmlformats.org/drawingml/2006/main">
            <a:pPr>
              <a:lnSpc>
                <a:spcPct val="125000"/>
              </a:lnSpc>
            </a:pPr>
            <a:r>
              <a:t>https://peacewell.org/아청법-개정-1년-그리고/</a:t>
            </a:r>
          </a:p>
          <a:p xmlns:a="http://schemas.openxmlformats.org/drawingml/2006/main">
            <a:pPr>
              <a:lnSpc>
                <a:spcPct val="125000"/>
              </a:lnSpc>
            </a:pPr>
            <a:r>
              <a:t>치료를 이유로 계획된 우범소년 송치가 지원기관과 경찰의 협의 뒤 중단된 경위. 이후 치료·안전의 성과는 확인되지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a:pPr>
              <a:lnSpc>
                <a:spcPct val="118000"/>
              </a:lnSpc>
            </a:pPr>
          </a:p>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lnSpc>
                <a:spcPct val="125000"/>
              </a:lnSpc>
            </a:pPr>
            <a:r>
              <a:t>제1장 10/11 · 보호를 위한 개입과 소년사법의 부담</a:t>
            </a:r>
          </a:p>
          <a:p xmlns:a="http://schemas.openxmlformats.org/drawingml/2006/main">
            <a:pPr>
              <a:lnSpc>
                <a:spcPct val="125000"/>
              </a:lnSpc>
            </a:pPr>
            <a:r>
              <a:t>목적: 토론자의 주장·근거·추가 확인 질문을 나란히 놓아 이후 단원 논거로 연결한다.</a:t>
            </a:r>
          </a:p>
          <a:p xmlns:a="http://schemas.openxmlformats.org/drawingml/2006/main">
            <a:pPr>
              <a:lnSpc>
                <a:spcPct val="125000"/>
              </a:lnSpc>
            </a:pPr>
            <a:r>
              <a:t>설명 시간: 약 2분 30초 (수업 운영용 추정)</a:t>
            </a:r>
          </a:p>
          <a:p xmlns:a="http://schemas.openxmlformats.org/drawingml/2006/main">
            <a:pPr>
              <a:lnSpc>
                <a:spcPct val="125000"/>
              </a:lnSpc>
            </a:pPr>
            <a:r>
              <a:t/>
            </a:r>
          </a:p>
          <a:p xmlns:a="http://schemas.openxmlformats.org/drawingml/2006/main">
            <a:pPr>
              <a:lnSpc>
                <a:spcPct val="125000"/>
              </a:lnSpc>
            </a:pPr>
            <a:r>
              <a:t>강의 대본</a:t>
            </a:r>
          </a:p>
          <a:p xmlns:a="http://schemas.openxmlformats.org/drawingml/2006/main">
            <a:pPr>
              <a:lnSpc>
                <a:spcPct val="125000"/>
              </a:lnSpc>
            </a:pPr>
            <a:r>
              <a:t>2021년 토론회에서 당시 경찰청 아동청소년과장 고평기는 반복되는 성폭력 피해 등을 막기 위해 우범소년 송치를 활용한 현장 사례를 설명했습니다. 이 주장을 쉽게 풀면, 위험을 알고도 보호가 끊기는 상황에서는 청소년을 위험한 환경에서 떼어 내고 개입을 지속할 수단이 필요하다는 것입니다. 앞서 본 반복 피해와 연락 단절은 이런 주장이 나오는 맥락을 이해하게 합니다.</a:t>
            </a:r>
          </a:p>
          <a:p xmlns:a="http://schemas.openxmlformats.org/drawingml/2006/main">
            <a:pPr>
              <a:lnSpc>
                <a:spcPct val="125000"/>
              </a:lnSpc>
            </a:pPr>
            <a:r>
              <a:t/>
            </a:r>
          </a:p>
          <a:p xmlns:a="http://schemas.openxmlformats.org/drawingml/2006/main">
            <a:pPr>
              <a:lnSpc>
                <a:spcPct val="125000"/>
              </a:lnSpc>
            </a:pPr>
            <a:r>
              <a:t>반면 이승현 연구자는 가정의 학대나 방임처럼 청소년 바깥에 있는 문제를 소년사법으로 넘기면, 문제의 원인을 바꾸기보다 청소년을 관리·수용하는 방향으로 갈 수 있다고 비판했습니다. 학교와 보호자가 책임을 다른 기관에 넘기는 문제, 자유 제한과 낙인의 부담도 지적했습니다. 이 비판을 단순히 ‘보호하지 말자’는 주장으로 읽어서는 안 됩니다. 보호를 누가 어떤 방식으로 제공할 것인가에 관한 주장입니다.</a:t>
            </a:r>
          </a:p>
          <a:p xmlns:a="http://schemas.openxmlformats.org/drawingml/2006/main">
            <a:pPr>
              <a:lnSpc>
                <a:spcPct val="125000"/>
              </a:lnSpc>
            </a:pPr>
            <a:r>
              <a:t/>
            </a:r>
          </a:p>
          <a:p xmlns:a="http://schemas.openxmlformats.org/drawingml/2006/main">
            <a:pPr>
              <a:lnSpc>
                <a:spcPct val="125000"/>
              </a:lnSpc>
            </a:pPr>
            <a:r>
              <a:t>양쪽 모두 보호라는 말을 쓰지만, 판단해야 할 것은 더 구체적입니다. 송치가 어떤 피해를 얼마나 줄이는지, 자유 제한에 비례하는 이익이 있는지, 지원 경로가 같은 문제에 어떻게 대응할 수 있는지입니다. 토론회 사례는 이러한 주장을 제기할 근거가 되지만, 개입의 효과가 입증됐다는 뜻은 아닙니다. 이 질문들을 뒤 단원의 제도·자원·효과 자료로 이어서 검토하겠습니다.</a:t>
            </a:r>
          </a:p>
          <a:p xmlns:a="http://schemas.openxmlformats.org/drawingml/2006/main">
            <a:pPr>
              <a:lnSpc>
                <a:spcPct val="125000"/>
              </a:lnSpc>
            </a:pPr>
            <a:r>
              <a:t/>
            </a:r>
          </a:p>
          <a:p xmlns:a="http://schemas.openxmlformats.org/drawingml/2006/main">
            <a:pPr>
              <a:lnSpc>
                <a:spcPct val="125000"/>
              </a:lnSpc>
            </a:pPr>
            <a:r>
              <a:t>다음 연결</a:t>
            </a:r>
          </a:p>
          <a:p xmlns:a="http://schemas.openxmlformats.org/drawingml/2006/main">
            <a:pPr>
              <a:lnSpc>
                <a:spcPct val="125000"/>
              </a:lnSpc>
            </a:pPr>
            <a:r>
              <a:t>이 논의를 정리하려면 지금 법을 적용하는 질문과 법 자체를 바꾸는 질문을 나눠야 합니다.</a:t>
            </a:r>
          </a:p>
          <a:p xmlns:a="http://schemas.openxmlformats.org/drawingml/2006/main">
            <a:pPr>
              <a:lnSpc>
                <a:spcPct val="125000"/>
              </a:lnSpc>
            </a:pPr>
            <a:r>
              <a:t/>
            </a:r>
          </a:p>
          <a:p xmlns:a="http://schemas.openxmlformats.org/drawingml/2006/main">
            <a:pPr>
              <a:lnSpc>
                <a:spcPct val="125000"/>
              </a:lnSpc>
            </a:pPr>
            <a:r>
              <a:t>자료 확인</a:t>
            </a:r>
          </a:p>
          <a:p xmlns:a="http://schemas.openxmlformats.org/drawingml/2006/main">
            <a:pPr>
              <a:lnSpc>
                <a:spcPct val="125000"/>
              </a:lnSpc>
            </a:pPr>
            <a:r>
              <a:t>S2 고평기 토론 75쪽과 이승현 토론 83–85쪽을 대조했다. 양현규의 67–69쪽 토론에는 대체 경로 정비와 요건·처분·송치 방식 조정 논의가 있어 마지막 페이지의 정책 선택 설명에 활용한다.</a:t>
            </a:r>
          </a:p>
          <a:p xmlns:a="http://schemas.openxmlformats.org/drawingml/2006/main">
            <a:pPr>
              <a:lnSpc>
                <a:spcPct val="125000"/>
              </a:lnSpc>
            </a:pPr>
            <a:r>
              <a:t/>
            </a:r>
          </a:p>
          <a:p xmlns:a="http://schemas.openxmlformats.org/drawingml/2006/main">
            <a:pPr>
              <a:lnSpc>
                <a:spcPct val="125000"/>
              </a:lnSpc>
            </a:pPr>
            <a:r>
              <a:t>설명 범위</a:t>
            </a:r>
          </a:p>
          <a:p xmlns:a="http://schemas.openxmlformats.org/drawingml/2006/main">
            <a:pPr>
              <a:lnSpc>
                <a:spcPct val="125000"/>
              </a:lnSpc>
            </a:pPr>
            <a:r>
              <a:t>2021년 특정 토론자의 발언을 2026년 기관 전체의 확정된 정책으로 제시하지 않는다. ‘폐지 필요성’이라는 행사명이 참가자 전원의 동일한 결론을 뜻하지 않는다.</a:t>
            </a:r>
          </a:p>
          <a:p xmlns:a="http://schemas.openxmlformats.org/drawingml/2006/main">
            <a:pPr>
              <a:lnSpc>
                <a:spcPct val="125000"/>
              </a:lnSpc>
            </a:pPr>
            <a:r>
              <a:t/>
            </a:r>
          </a:p>
          <a:p xmlns:a="http://schemas.openxmlformats.org/drawingml/2006/main">
            <a:pPr>
              <a:lnSpc>
                <a:spcPct val="125000"/>
              </a:lnSpc>
            </a:pPr>
            <a:r>
              <a:t>출처</a:t>
            </a:r>
          </a:p>
          <a:p xmlns:a="http://schemas.openxmlformats.org/drawingml/2006/main">
            <a:pPr>
              <a:lnSpc>
                <a:spcPct val="125000"/>
              </a:lnSpc>
            </a:pPr>
            <a:r>
              <a:t>[S2] 『우범소년 규정 폐지 필요성 토론회』 자료집(2021.3.9.)</a:t>
            </a:r>
          </a:p>
          <a:p xmlns:a="http://schemas.openxmlformats.org/drawingml/2006/main">
            <a:pPr>
              <a:lnSpc>
                <a:spcPct val="125000"/>
              </a:lnSpc>
            </a:pPr>
            <a:r>
              <a:t>강정은 발제 18쪽(B 사건); 양현규 토론 67–69쪽; 고평기 토론 75쪽; 이승현 토론 83–85쪽. PDF는 인쇄면 두 쪽이 한 면에 배치됨.</a:t>
            </a:r>
          </a:p>
          <a:p xmlns:a="http://schemas.openxmlformats.org/drawingml/2006/main">
            <a:pPr>
              <a:lnSpc>
                <a:spcPct val="125000"/>
              </a:lnSpc>
            </a:pPr>
            <a:r>
              <a:t>https://duroo.org/data/?bmode=view&amp;idx=128595217</a:t>
            </a:r>
          </a:p>
          <a:p xmlns:a="http://schemas.openxmlformats.org/drawingml/2006/main">
            <a:pPr>
              <a:lnSpc>
                <a:spcPct val="125000"/>
              </a:lnSpc>
            </a:pPr>
            <a:r>
              <a:t>직접 수행한 B 사건의 보고와 서로 다른 토론자의 주장. 토론회 제목을 모든 참석자의 합의로 설명하지 않는다.</a:t>
            </a:r>
          </a:p>
          <a:p xmlns:a="http://schemas.openxmlformats.org/drawingml/2006/main">
            <a:pPr>
              <a:lnSpc>
                <a:spcPct val="125000"/>
              </a:lnSpc>
            </a:pPr>
            <a:r>
              <a:t/>
            </a:r>
          </a:p>
          <a:p xmlns:a="http://schemas.openxmlformats.org/drawingml/2006/main">
            <a:pPr>
              <a:lnSpc>
                <a:spcPct val="125000"/>
              </a:lnSpc>
            </a:pPr>
            <a:r>
              <a:t>[S3] 박상민·김효정·정다은·이은심, 『성착취 피해 아동·청소년의 법적 지위 변화에 따른 법제도 운영 현황과 과제』, 한국여성정책연구원(2025)</a:t>
            </a:r>
          </a:p>
          <a:p xmlns:a="http://schemas.openxmlformats.org/drawingml/2006/main">
            <a:pPr>
              <a:lnSpc>
                <a:spcPct val="125000"/>
              </a:lnSpc>
            </a:pPr>
            <a:r>
              <a:t>경찰관 10명·피해지원 종사자 10명 면접. 인쇄면 190–191쪽(반복 피해와 우범소년 개입), 206–208쪽(통보·지원 연계의 어려움). PDF 해당 면 237–238, 253–255.</a:t>
            </a:r>
          </a:p>
          <a:p xmlns:a="http://schemas.openxmlformats.org/drawingml/2006/main">
            <a:pPr>
              <a:lnSpc>
                <a:spcPct val="125000"/>
              </a:lnSpc>
            </a:pPr>
            <a:r>
              <a:t>https://www.kwdi.re.kr/publications/reportView.do?idx=133642&amp;p=3</a:t>
            </a:r>
          </a:p>
          <a:p xmlns:a="http://schemas.openxmlformats.org/drawingml/2006/main">
            <a:pPr>
              <a:lnSpc>
                <a:spcPct val="125000"/>
              </a:lnSpc>
            </a:pPr>
            <a:r>
              <a:t>지원 연결의 어려움과 강제 개입 요구가 생기는 맥락. 전국 빈도나 송치의 효과를 추정하는 통계가 아니다.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a:pPr>
              <a:lnSpc>
                <a:spcPct val="118000"/>
              </a:lnSpc>
            </a:pPr>
          </a:p>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lnSpc>
                <a:spcPct val="125000"/>
              </a:lnSpc>
            </a:pPr>
            <a:r>
              <a:t>제1장 11/11 · 현행법 적용과 정책·제도 판단</a:t>
            </a:r>
          </a:p>
          <a:p xmlns:a="http://schemas.openxmlformats.org/drawingml/2006/main">
            <a:pPr>
              <a:lnSpc>
                <a:spcPct val="125000"/>
              </a:lnSpc>
            </a:pPr>
            <a:r>
              <a:t>목적: 법정요건 판단과 제도 선택을 구별하고 제2장 피해청소년 지위 변화로 넘긴다.</a:t>
            </a:r>
          </a:p>
          <a:p xmlns:a="http://schemas.openxmlformats.org/drawingml/2006/main">
            <a:pPr>
              <a:lnSpc>
                <a:spcPct val="125000"/>
              </a:lnSpc>
            </a:pPr>
            <a:r>
              <a:t>설명 시간: 약 2분 (수업 운영용 추정)</a:t>
            </a:r>
          </a:p>
          <a:p xmlns:a="http://schemas.openxmlformats.org/drawingml/2006/main">
            <a:pPr>
              <a:lnSpc>
                <a:spcPct val="125000"/>
              </a:lnSpc>
            </a:pPr>
            <a:r>
              <a:t/>
            </a:r>
          </a:p>
          <a:p xmlns:a="http://schemas.openxmlformats.org/drawingml/2006/main">
            <a:pPr>
              <a:lnSpc>
                <a:spcPct val="125000"/>
              </a:lnSpc>
            </a:pPr>
            <a:r>
              <a:t>강의 대본</a:t>
            </a:r>
          </a:p>
          <a:p xmlns:a="http://schemas.openxmlformats.org/drawingml/2006/main">
            <a:pPr>
              <a:lnSpc>
                <a:spcPct val="125000"/>
              </a:lnSpc>
            </a:pPr>
            <a:r>
              <a:t>첫 번째 질문은 현행법 적용입니다. 이 청소년에게 법에 정한 우범사유가 있는가, 장래 범법 우려를 뒷받침하는 사정이 있는가를 판단합니다. 그 요건이 성립한다면 경찰서장에게 제4조 제2항의 직접 송치 의무가 적용됩니다. 피해 위험이 크다는 이유만으로 요건을 건너뛰거나, 반대로 제도에 비판적이라는 이유만으로 현행 규정을 없는 것으로 취급할 수는 없습니다.</a:t>
            </a:r>
          </a:p>
          <a:p xmlns:a="http://schemas.openxmlformats.org/drawingml/2006/main">
            <a:pPr>
              <a:lnSpc>
                <a:spcPct val="125000"/>
              </a:lnSpc>
            </a:pPr>
            <a:r>
              <a:t/>
            </a:r>
          </a:p>
          <a:p xmlns:a="http://schemas.openxmlformats.org/drawingml/2006/main">
            <a:pPr>
              <a:lnSpc>
                <a:spcPct val="125000"/>
              </a:lnSpc>
            </a:pPr>
            <a:r>
              <a:t>두 번째 질문은 정책과 제도입니다. 이 경로를 유지할 것인지, 범위를 좁힐 것인지, 지원 경로로 대체하거나 함께 보완할 것인지입니다. 2021년 토론회에서도 즉시 존치·폐지라는 결론뿐 아니라 대체 보호체계, 요건과 처분의 조정, 의무 송치 방식의 변경 등이 논의됐습니다. 제도를 바꾸자고 할 때에는 지금 그 경로가 맡는 보호 기능을 누가 이어받을지도 설명해야 합니다.</a:t>
            </a:r>
          </a:p>
          <a:p xmlns:a="http://schemas.openxmlformats.org/drawingml/2006/main">
            <a:pPr>
              <a:lnSpc>
                <a:spcPct val="125000"/>
              </a:lnSpc>
            </a:pPr>
            <a:r>
              <a:t/>
            </a:r>
          </a:p>
          <a:p xmlns:a="http://schemas.openxmlformats.org/drawingml/2006/main">
            <a:pPr>
              <a:lnSpc>
                <a:spcPct val="125000"/>
              </a:lnSpc>
            </a:pPr>
            <a:r>
              <a:t>이 문제는 과거에만 제기된 것도 아닙니다. 2026년 9월 경찰청 간담회 보도에서도 지원기관이 피해청소년의 우범소년 송치 문제를 제기했고, 경찰 측은 현장 실태와 대안을 검토하겠다는 취지로 답했습니다. 이것은 이미 제도가 바뀌었다는 뜻은 아닙니다. 다음 장에서는 2020년 개정으로 성매매 피해 아동·청소년의 법적 지위가 어떻게 달라졌는지 보겠습니다. 그 변화와 우범소년 경로가 어디에서 연결되거나 충돌하는지 살펴볼 차례입니다.</a:t>
            </a:r>
          </a:p>
          <a:p xmlns:a="http://schemas.openxmlformats.org/drawingml/2006/main">
            <a:pPr>
              <a:lnSpc>
                <a:spcPct val="125000"/>
              </a:lnSpc>
            </a:pPr>
            <a:r>
              <a:t/>
            </a:r>
          </a:p>
          <a:p xmlns:a="http://schemas.openxmlformats.org/drawingml/2006/main">
            <a:pPr>
              <a:lnSpc>
                <a:spcPct val="125000"/>
              </a:lnSpc>
            </a:pPr>
            <a:r>
              <a:t>다음 연결</a:t>
            </a:r>
          </a:p>
          <a:p xmlns:a="http://schemas.openxmlformats.org/drawingml/2006/main">
            <a:pPr>
              <a:lnSpc>
                <a:spcPct val="125000"/>
              </a:lnSpc>
            </a:pPr>
            <a:r>
              <a:t>제2장: 성매매 피해청소년의 법적 지위는 2020년 개정으로 어떻게 달라졌는가?</a:t>
            </a:r>
          </a:p>
          <a:p xmlns:a="http://schemas.openxmlformats.org/drawingml/2006/main">
            <a:pPr>
              <a:lnSpc>
                <a:spcPct val="125000"/>
              </a:lnSpc>
            </a:pPr>
            <a:r>
              <a:t/>
            </a:r>
          </a:p>
          <a:p xmlns:a="http://schemas.openxmlformats.org/drawingml/2006/main">
            <a:pPr>
              <a:lnSpc>
                <a:spcPct val="125000"/>
              </a:lnSpc>
            </a:pPr>
            <a:r>
              <a:t>자료 확인</a:t>
            </a:r>
          </a:p>
          <a:p xmlns:a="http://schemas.openxmlformats.org/drawingml/2006/main">
            <a:pPr>
              <a:lnSpc>
                <a:spcPct val="125000"/>
              </a:lnSpc>
            </a:pPr>
            <a:r>
              <a:t>현재 적용은 L1, 정책 선택의 토론은 S2, 최근 공론화는 S6에 각각 근거한다. 세 자료의 시점과 증거 성격을 분리했다.</a:t>
            </a:r>
          </a:p>
          <a:p xmlns:a="http://schemas.openxmlformats.org/drawingml/2006/main">
            <a:pPr>
              <a:lnSpc>
                <a:spcPct val="125000"/>
              </a:lnSpc>
            </a:pPr>
            <a:r>
              <a:t/>
            </a:r>
          </a:p>
          <a:p xmlns:a="http://schemas.openxmlformats.org/drawingml/2006/main">
            <a:pPr>
              <a:lnSpc>
                <a:spcPct val="125000"/>
              </a:lnSpc>
            </a:pPr>
            <a:r>
              <a:t>설명 범위</a:t>
            </a:r>
          </a:p>
          <a:p xmlns:a="http://schemas.openxmlformats.org/drawingml/2006/main">
            <a:pPr>
              <a:lnSpc>
                <a:spcPct val="125000"/>
              </a:lnSpc>
            </a:pPr>
            <a:r>
              <a:t>2026년 간담회 발언을 법 개정 또는 송치 일괄 중단의 확정 발표로 서술하지 않는다. 다음 장의 법적 지위 변화 내용을 여기서 전부 설명하지 않는다.</a:t>
            </a:r>
          </a:p>
          <a:p xmlns:a="http://schemas.openxmlformats.org/drawingml/2006/main">
            <a:pPr>
              <a:lnSpc>
                <a:spcPct val="125000"/>
              </a:lnSpc>
            </a:pPr>
            <a:r>
              <a:t/>
            </a:r>
          </a:p>
          <a:p xmlns:a="http://schemas.openxmlformats.org/drawingml/2006/main">
            <a:pPr>
              <a:lnSpc>
                <a:spcPct val="125000"/>
              </a:lnSpc>
            </a:pPr>
            <a:r>
              <a:t>출처</a:t>
            </a:r>
          </a:p>
          <a:p xmlns:a="http://schemas.openxmlformats.org/drawingml/2006/main">
            <a:pPr>
              <a:lnSpc>
                <a:spcPct val="125000"/>
              </a:lnSpc>
            </a:pPr>
            <a:r>
              <a:t>[L1] 국가법령정보센터, 소년법</a:t>
            </a:r>
          </a:p>
          <a:p xmlns:a="http://schemas.openxmlformats.org/drawingml/2006/main">
            <a:pPr>
              <a:lnSpc>
                <a:spcPct val="125000"/>
              </a:lnSpc>
            </a:pPr>
            <a:r>
              <a:t>제2조·제3조·제4조·제19조·제29조·제32조. 확인본: 시행 2021.4.21., 법률 제17505호.</a:t>
            </a:r>
          </a:p>
          <a:p xmlns:a="http://schemas.openxmlformats.org/drawingml/2006/main">
            <a:pPr>
              <a:lnSpc>
                <a:spcPct val="125000"/>
              </a:lnSpc>
            </a:pPr>
            <a:r>
              <a:t>https://www.law.go.kr/lsInfoP.do?lsId=001662</a:t>
            </a:r>
          </a:p>
          <a:p xmlns:a="http://schemas.openxmlformats.org/drawingml/2006/main">
            <a:pPr>
              <a:lnSpc>
                <a:spcPct val="125000"/>
              </a:lnSpc>
            </a:pPr>
            <a:r>
              <a:t>연령, 우범소년 요건, 송치·통고, 소년부 심리와 처분의 구분. 부록에는 제4조 전문을 수록한다.</a:t>
            </a:r>
          </a:p>
          <a:p xmlns:a="http://schemas.openxmlformats.org/drawingml/2006/main">
            <a:pPr>
              <a:lnSpc>
                <a:spcPct val="125000"/>
              </a:lnSpc>
            </a:pPr>
            <a:r>
              <a:t/>
            </a:r>
          </a:p>
          <a:p xmlns:a="http://schemas.openxmlformats.org/drawingml/2006/main">
            <a:pPr>
              <a:lnSpc>
                <a:spcPct val="125000"/>
              </a:lnSpc>
            </a:pPr>
            <a:r>
              <a:t>[S2] 『우범소년 규정 폐지 필요성 토론회』 자료집(2021.3.9.)</a:t>
            </a:r>
          </a:p>
          <a:p xmlns:a="http://schemas.openxmlformats.org/drawingml/2006/main">
            <a:pPr>
              <a:lnSpc>
                <a:spcPct val="125000"/>
              </a:lnSpc>
            </a:pPr>
            <a:r>
              <a:t>강정은 발제 18쪽(B 사건); 양현규 토론 67–69쪽; 고평기 토론 75쪽; 이승현 토론 83–85쪽. PDF는 인쇄면 두 쪽이 한 면에 배치됨.</a:t>
            </a:r>
          </a:p>
          <a:p xmlns:a="http://schemas.openxmlformats.org/drawingml/2006/main">
            <a:pPr>
              <a:lnSpc>
                <a:spcPct val="125000"/>
              </a:lnSpc>
            </a:pPr>
            <a:r>
              <a:t>https://duroo.org/data/?bmode=view&amp;idx=128595217</a:t>
            </a:r>
          </a:p>
          <a:p xmlns:a="http://schemas.openxmlformats.org/drawingml/2006/main">
            <a:pPr>
              <a:lnSpc>
                <a:spcPct val="125000"/>
              </a:lnSpc>
            </a:pPr>
            <a:r>
              <a:t>직접 수행한 B 사건의 보고와 서로 다른 토론자의 주장. 토론회 제목을 모든 참석자의 합의로 설명하지 않는다.</a:t>
            </a:r>
          </a:p>
          <a:p xmlns:a="http://schemas.openxmlformats.org/drawingml/2006/main">
            <a:pPr>
              <a:lnSpc>
                <a:spcPct val="125000"/>
              </a:lnSpc>
            </a:pPr>
            <a:r>
              <a:t/>
            </a:r>
          </a:p>
          <a:p xmlns:a="http://schemas.openxmlformats.org/drawingml/2006/main">
            <a:pPr>
              <a:lnSpc>
                <a:spcPct val="125000"/>
              </a:lnSpc>
            </a:pPr>
            <a:r>
              <a:t>[S6] 연합뉴스, 경찰청 성착취 피해청소년 보호 관련 간담회 보도(2026.9.17.)</a:t>
            </a:r>
          </a:p>
          <a:p xmlns:a="http://schemas.openxmlformats.org/drawingml/2006/main">
            <a:pPr>
              <a:lnSpc>
                <a:spcPct val="125000"/>
              </a:lnSpc>
            </a:pPr>
            <a:r>
              <a:t>지원기관의 우범소년 송치 비판과 경찰 측 검토 발언.</a:t>
            </a:r>
          </a:p>
          <a:p xmlns:a="http://schemas.openxmlformats.org/drawingml/2006/main">
            <a:pPr>
              <a:lnSpc>
                <a:spcPct val="125000"/>
              </a:lnSpc>
            </a:pPr>
            <a:r>
              <a:t>https://www.yna.co.kr/view/AKR20260917093951004</a:t>
            </a:r>
          </a:p>
          <a:p xmlns:a="http://schemas.openxmlformats.org/drawingml/2006/main">
            <a:pPr>
              <a:lnSpc>
                <a:spcPct val="125000"/>
              </a:lnSpc>
            </a:pPr>
            <a:r>
              <a:t>쟁점이 현재에도 논의된다는 환기. 법 개정이나 송치 중단 방침이 확정됐다는 근거로 쓰지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a:pPr>
              <a:lnSpc>
                <a:spcPct val="118000"/>
              </a:lnSpc>
            </a:pPr>
          </a:p>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727a22d073b437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d70cc537f1441da" /><Relationship Type="http://schemas.openxmlformats.org/officeDocument/2006/relationships/slideLayout" Target="/ppt/slideLayouts/slideLayout1.xml" Id="Ra2606ce47676446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2606ce47676446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baef96ca7bf4a24" /><Relationship Type="http://schemas.openxmlformats.org/officeDocument/2006/relationships/notesSlide" Target="/ppt/notesSlides/notesSlide1.xml" Id="Rba69f3fb195044d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f78daee5fa04207" /><Relationship Type="http://schemas.openxmlformats.org/officeDocument/2006/relationships/notesSlide" Target="/ppt/notesSlides/notesSlide2.xml" Id="R815409188be3451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5e20cd746ee4982" /><Relationship Type="http://schemas.openxmlformats.org/officeDocument/2006/relationships/notesSlide" Target="/ppt/notesSlides/notesSlide3.xml" Id="R49130c1690a5428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5e06986f95a44c4" /><Relationship Type="http://schemas.openxmlformats.org/officeDocument/2006/relationships/notesSlide" Target="/ppt/notesSlides/notesSlide4.xml" Id="R4bc433ccd5204de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8a82b80df044bd2" /><Relationship Type="http://schemas.openxmlformats.org/officeDocument/2006/relationships/notesSlide" Target="/ppt/notesSlides/notesSlide5.xml" Id="Rb8b4c6fe3b5c427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46832dd9bd84024" /><Relationship Type="http://schemas.openxmlformats.org/officeDocument/2006/relationships/notesSlide" Target="/ppt/notesSlides/notesSlide6.xml" Id="R75f608cded3941a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1141323a10c47cb" /><Relationship Type="http://schemas.openxmlformats.org/officeDocument/2006/relationships/notesSlide" Target="/ppt/notesSlides/notesSlide7.xml" Id="Rce255148c98246f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86a47b9cc444c8f" /><Relationship Type="http://schemas.openxmlformats.org/officeDocument/2006/relationships/notesSlide" Target="/ppt/notesSlides/notesSlide8.xml" Id="R9120db49ed06497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b332e7691834d40" /><Relationship Type="http://schemas.openxmlformats.org/officeDocument/2006/relationships/notesSlide" Target="/ppt/notesSlides/notesSlide9.xml" Id="Re16355dbb2d148b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40c8f0515e83452d" /><Relationship Type="http://schemas.openxmlformats.org/officeDocument/2006/relationships/notesSlide" Target="/ppt/notesSlides/notesSlide10.xml" Id="Rc7e586e6254a493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cc3b6a7979b1415d" /><Relationship Type="http://schemas.openxmlformats.org/officeDocument/2006/relationships/notesSlide" Target="/ppt/notesSlides/notesSlide11.xml" Id="Re78633d5ea244e31"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chapter">
            <a:extLst xmlns:a="http://schemas.openxmlformats.org/drawingml/2006/main">
              <a:ext uri="{FF2B5EF4-FFF2-40B4-BE49-F238E27FC236}">
                <a16:creationId xmlns:a16="http://schemas.microsoft.com/office/drawing/2014/main" id="{22B0BD1D-1838-4A3E-B630-8D058BEB76F2}"/>
              </a:ext>
            </a:extLst>
          </p:cNvPr>
          <p:cNvSpPr>
            <a:spLocks xmlns:a="http://schemas.openxmlformats.org/drawingml/2006/main" noGrp="1"/>
          </p:cNvSpPr>
          <p:nvPr/>
        </p:nvSpPr>
        <p:spPr>
          <a:xfrm xmlns:a="http://schemas.openxmlformats.org/drawingml/2006/main">
            <a:off x="731520" y="36576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buNone/>
              <a:defRPr sz="1250" b="1">
                <a:solidFill>
                  <a:srgbClr val="464D5C"/>
                </a:solidFill>
                <a:latin typeface="Pretendard"/>
                <a:ea typeface="Pretendard"/>
                <a:cs typeface="Pretendard"/>
              </a:defRPr>
            </a:pPr>
            <a:r>
              <a:rPr sz="1250" b="1" spc="200">
                <a:solidFill>
                  <a:srgbClr val="464D5C"/>
                </a:solidFill>
                <a:latin typeface="Pretendard"/>
                <a:ea typeface="Pretendard"/>
                <a:cs typeface="Pretendard"/>
              </a:rPr>
              <a:t>1. 논제의 대상과 현행 우범소년 제도</a:t>
            </a:r>
          </a:p>
        </p:txBody>
      </p:sp>
      <p:sp>
        <p:nvSpPr>
          <p:cNvPr id="2" name="next">
            <a:extLst xmlns:a="http://schemas.openxmlformats.org/drawingml/2006/main">
              <a:ext uri="{FF2B5EF4-FFF2-40B4-BE49-F238E27FC236}">
                <a16:creationId xmlns:a16="http://schemas.microsoft.com/office/drawing/2014/main" id="{6AA23EB6-F134-4BCC-85CE-0176C3D2E47C}"/>
              </a:ext>
            </a:extLst>
          </p:cNvPr>
          <p:cNvSpPr>
            <a:spLocks xmlns:a="http://schemas.openxmlformats.org/drawingml/2006/main" noGrp="1"/>
          </p:cNvSpPr>
          <p:nvPr/>
        </p:nvSpPr>
        <p:spPr>
          <a:xfrm xmlns:a="http://schemas.openxmlformats.org/drawingml/2006/main">
            <a:off x="6191250" y="383858"/>
            <a:ext cx="526351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18000"/>
              </a:lnSpc>
              <a:buNone/>
              <a:defRPr sz="1050" b="0">
                <a:solidFill>
                  <a:srgbClr val="6E7686"/>
                </a:solidFill>
                <a:latin typeface="Pretendard"/>
                <a:ea typeface="Pretendard"/>
                <a:cs typeface="Pretendard"/>
              </a:defRPr>
            </a:pPr>
            <a:r>
              <a:rPr sz="1050" b="0">
                <a:solidFill>
                  <a:srgbClr val="6E7686"/>
                </a:solidFill>
                <a:latin typeface="Pretendard"/>
                <a:ea typeface="Pretendard"/>
                <a:cs typeface="Pretendard"/>
              </a:rPr>
              <a:t>다음 → 우범소년의 세 요건</a:t>
            </a:r>
          </a:p>
        </p:txBody>
      </p:sp>
      <p:sp>
        <p:nvSpPr>
          <p:cNvPr id="3" name="title">
            <a:extLst xmlns:a="http://schemas.openxmlformats.org/drawingml/2006/main">
              <a:ext uri="{FF2B5EF4-FFF2-40B4-BE49-F238E27FC236}">
                <a16:creationId xmlns:a16="http://schemas.microsoft.com/office/drawing/2014/main" id="{BC35FFE0-F529-4194-8A96-FC405B3EC1AE}"/>
              </a:ext>
            </a:extLst>
          </p:cNvPr>
          <p:cNvSpPr>
            <a:spLocks xmlns:a="http://schemas.openxmlformats.org/drawingml/2006/main" noGrp="1"/>
          </p:cNvSpPr>
          <p:nvPr/>
        </p:nvSpPr>
        <p:spPr>
          <a:xfrm xmlns:a="http://schemas.openxmlformats.org/drawingml/2006/main">
            <a:off x="731520" y="762000"/>
            <a:ext cx="10726103"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buNone/>
              <a:defRPr sz="2750" b="1">
                <a:solidFill>
                  <a:srgbClr val="1E2761"/>
                </a:solidFill>
                <a:latin typeface="Pretendard"/>
                <a:ea typeface="Pretendard"/>
                <a:cs typeface="Pretendard"/>
              </a:defRPr>
            </a:pPr>
            <a:r>
              <a:rPr sz="2750" b="1">
                <a:solidFill>
                  <a:srgbClr val="1E2761"/>
                </a:solidFill>
                <a:latin typeface="Pretendard"/>
                <a:ea typeface="Pretendard"/>
                <a:cs typeface="Pretendard"/>
              </a:rPr>
              <a:t>소년부 보호사건의 세 출발점</a:t>
            </a:r>
          </a:p>
        </p:txBody>
      </p:sp>
      <p:sp>
        <p:nvSpPr>
          <p:cNvPr id="4" name="summary_bg">
            <a:extLst xmlns:a="http://schemas.openxmlformats.org/drawingml/2006/main">
              <a:ext uri="{FF2B5EF4-FFF2-40B4-BE49-F238E27FC236}">
                <a16:creationId xmlns:a16="http://schemas.microsoft.com/office/drawing/2014/main" id="{9276ACF6-C25A-41E4-B198-E6925DEF9281}"/>
              </a:ext>
            </a:extLst>
          </p:cNvPr>
          <p:cNvSpPr>
            <a:spLocks xmlns:a="http://schemas.openxmlformats.org/drawingml/2006/main" noGrp="1"/>
          </p:cNvSpPr>
          <p:nvPr/>
        </p:nvSpPr>
        <p:spPr>
          <a:xfrm xmlns:a="http://schemas.openxmlformats.org/drawingml/2006/main">
            <a:off x="731520" y="1417320"/>
            <a:ext cx="10726103" cy="548640"/>
          </a:xfrm>
          <a:prstGeom xmlns:a="http://schemas.openxmlformats.org/drawingml/2006/main" prst="rect">
            <a:avLst/>
          </a:prstGeom>
          <a:solidFill xmlns:a="http://schemas.openxmlformats.org/drawingml/2006/main">
            <a:srgbClr val="F2F4F8"/>
          </a:solidFill>
          <a:ln xmlns:a="http://schemas.openxmlformats.org/drawingml/2006/main" w="0">
            <a:noFill/>
          </a:ln>
        </p:spPr>
      </p:sp>
      <p:sp>
        <p:nvSpPr>
          <p:cNvPr id="5" name="summary_marker">
            <a:extLst xmlns:a="http://schemas.openxmlformats.org/drawingml/2006/main">
              <a:ext uri="{FF2B5EF4-FFF2-40B4-BE49-F238E27FC236}">
                <a16:creationId xmlns:a16="http://schemas.microsoft.com/office/drawing/2014/main" id="{CB2E3AFE-08C3-4D10-944A-FEFC6F9682C9}"/>
              </a:ext>
            </a:extLst>
          </p:cNvPr>
          <p:cNvSpPr>
            <a:spLocks xmlns:a="http://schemas.openxmlformats.org/drawingml/2006/main" noGrp="1"/>
          </p:cNvSpPr>
          <p:nvPr/>
        </p:nvSpPr>
        <p:spPr>
          <a:xfrm xmlns:a="http://schemas.openxmlformats.org/drawingml/2006/main">
            <a:off x="731520" y="1417320"/>
            <a:ext cx="47625" cy="548640"/>
          </a:xfrm>
          <a:prstGeom xmlns:a="http://schemas.openxmlformats.org/drawingml/2006/main" prst="rect">
            <a:avLst/>
          </a:prstGeom>
          <a:solidFill xmlns:a="http://schemas.openxmlformats.org/drawingml/2006/main">
            <a:srgbClr val="1E2761"/>
          </a:solidFill>
          <a:ln xmlns:a="http://schemas.openxmlformats.org/drawingml/2006/main" w="0">
            <a:noFill/>
          </a:ln>
        </p:spPr>
      </p:sp>
      <p:sp>
        <p:nvSpPr>
          <p:cNvPr id="6" name="summary">
            <a:extLst xmlns:a="http://schemas.openxmlformats.org/drawingml/2006/main">
              <a:ext uri="{FF2B5EF4-FFF2-40B4-BE49-F238E27FC236}">
                <a16:creationId xmlns:a16="http://schemas.microsoft.com/office/drawing/2014/main" id="{3EC4D05B-36D6-4D9F-8F7D-A6301D8ED7EB}"/>
              </a:ext>
            </a:extLst>
          </p:cNvPr>
          <p:cNvSpPr>
            <a:spLocks xmlns:a="http://schemas.openxmlformats.org/drawingml/2006/main" noGrp="1"/>
          </p:cNvSpPr>
          <p:nvPr/>
        </p:nvSpPr>
        <p:spPr>
          <a:xfrm xmlns:a="http://schemas.openxmlformats.org/drawingml/2006/main">
            <a:off x="1005840" y="1600200"/>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buNone/>
              <a:defRPr sz="1300" b="1">
                <a:solidFill>
                  <a:srgbClr val="1E2761"/>
                </a:solidFill>
                <a:latin typeface="Pretendard"/>
                <a:ea typeface="Pretendard"/>
                <a:cs typeface="Pretendard"/>
              </a:defRPr>
            </a:pPr>
            <a:r>
              <a:rPr sz="1300" b="1">
                <a:solidFill>
                  <a:srgbClr val="1E2761"/>
                </a:solidFill>
                <a:latin typeface="Pretendard"/>
                <a:ea typeface="Pretendard"/>
                <a:cs typeface="Pretendard"/>
              </a:rPr>
              <a:t>범죄소년·촉법소년은 이미 한 행위, 우범소년은 법정 사유와 장래 범법 우려를 기준으로 본다</a:t>
            </a:r>
          </a:p>
        </p:txBody>
      </p:sp>
      <p:sp>
        <p:nvSpPr>
          <p:cNvPr id="7" name="start_rule_0">
            <a:extLst xmlns:a="http://schemas.openxmlformats.org/drawingml/2006/main">
              <a:ext uri="{FF2B5EF4-FFF2-40B4-BE49-F238E27FC236}">
                <a16:creationId xmlns:a16="http://schemas.microsoft.com/office/drawing/2014/main" id="{19922EC6-787A-4F28-9FFB-DA57DDCF553E}"/>
              </a:ext>
            </a:extLst>
          </p:cNvPr>
          <p:cNvSpPr>
            <a:spLocks xmlns:a="http://schemas.openxmlformats.org/drawingml/2006/main" noGrp="1"/>
          </p:cNvSpPr>
          <p:nvPr/>
        </p:nvSpPr>
        <p:spPr>
          <a:xfrm xmlns:a="http://schemas.openxmlformats.org/drawingml/2006/main">
            <a:off x="731520" y="2533650"/>
            <a:ext cx="3392424" cy="38100"/>
          </a:xfrm>
          <a:prstGeom xmlns:a="http://schemas.openxmlformats.org/drawingml/2006/main" prst="rect">
            <a:avLst/>
          </a:prstGeom>
          <a:solidFill xmlns:a="http://schemas.openxmlformats.org/drawingml/2006/main">
            <a:srgbClr val="C9CEDA"/>
          </a:solidFill>
          <a:ln xmlns:a="http://schemas.openxmlformats.org/drawingml/2006/main" w="0">
            <a:noFill/>
          </a:ln>
        </p:spPr>
      </p:sp>
      <p:sp>
        <p:nvSpPr>
          <p:cNvPr id="8" name="article_0">
            <a:extLst xmlns:a="http://schemas.openxmlformats.org/drawingml/2006/main">
              <a:ext uri="{FF2B5EF4-FFF2-40B4-BE49-F238E27FC236}">
                <a16:creationId xmlns:a16="http://schemas.microsoft.com/office/drawing/2014/main" id="{84297EA2-5604-41D2-AD6C-5F53EB3F77B6}"/>
              </a:ext>
            </a:extLst>
          </p:cNvPr>
          <p:cNvSpPr>
            <a:spLocks xmlns:a="http://schemas.openxmlformats.org/drawingml/2006/main" noGrp="1"/>
          </p:cNvSpPr>
          <p:nvPr/>
        </p:nvSpPr>
        <p:spPr>
          <a:xfrm xmlns:a="http://schemas.openxmlformats.org/drawingml/2006/main">
            <a:off x="731520" y="2724150"/>
            <a:ext cx="3392424"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buNone/>
              <a:defRPr sz="1050" b="1">
                <a:solidFill>
                  <a:srgbClr val="464D5C"/>
                </a:solidFill>
                <a:latin typeface="Pretendard"/>
                <a:ea typeface="Pretendard"/>
                <a:cs typeface="Pretendard"/>
              </a:defRPr>
            </a:pPr>
            <a:r>
              <a:rPr sz="1050" b="1">
                <a:solidFill>
                  <a:srgbClr val="464D5C"/>
                </a:solidFill>
                <a:latin typeface="Pretendard"/>
                <a:ea typeface="Pretendard"/>
                <a:cs typeface="Pretendard"/>
              </a:rPr>
              <a:t>제4조 제1항 제1호</a:t>
            </a:r>
          </a:p>
        </p:txBody>
      </p:sp>
      <p:sp>
        <p:nvSpPr>
          <p:cNvPr id="9" name="start_0">
            <a:extLst xmlns:a="http://schemas.openxmlformats.org/drawingml/2006/main">
              <a:ext uri="{FF2B5EF4-FFF2-40B4-BE49-F238E27FC236}">
                <a16:creationId xmlns:a16="http://schemas.microsoft.com/office/drawing/2014/main" id="{A8EC545F-5E6A-4BDC-95BE-CCA21D69B2B7}"/>
              </a:ext>
            </a:extLst>
          </p:cNvPr>
          <p:cNvSpPr>
            <a:spLocks xmlns:a="http://schemas.openxmlformats.org/drawingml/2006/main" noGrp="1"/>
          </p:cNvSpPr>
          <p:nvPr/>
        </p:nvSpPr>
        <p:spPr>
          <a:xfrm xmlns:a="http://schemas.openxmlformats.org/drawingml/2006/main">
            <a:off x="731520" y="3067050"/>
            <a:ext cx="3392424"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buNone/>
              <a:defRPr sz="1400" b="1">
                <a:solidFill>
                  <a:srgbClr val="222633"/>
                </a:solidFill>
                <a:latin typeface="Pretendard"/>
                <a:ea typeface="Pretendard"/>
                <a:cs typeface="Pretendard"/>
              </a:defRPr>
            </a:pPr>
            <a:r>
              <a:rPr sz="1400" b="1">
                <a:solidFill>
                  <a:srgbClr val="222633"/>
                </a:solidFill>
                <a:latin typeface="Pretendard"/>
                <a:ea typeface="Pretendard"/>
                <a:cs typeface="Pretendard"/>
              </a:rPr>
              <a:t>죄를 범한 소년</a:t>
            </a:r>
          </a:p>
        </p:txBody>
      </p:sp>
      <p:sp>
        <p:nvSpPr>
          <p:cNvPr id="10" name="description_0">
            <a:extLst xmlns:a="http://schemas.openxmlformats.org/drawingml/2006/main">
              <a:ext uri="{FF2B5EF4-FFF2-40B4-BE49-F238E27FC236}">
                <a16:creationId xmlns:a16="http://schemas.microsoft.com/office/drawing/2014/main" id="{D2218C0A-1F78-451F-9BF2-C77738CC4E3F}"/>
              </a:ext>
            </a:extLst>
          </p:cNvPr>
          <p:cNvSpPr>
            <a:spLocks xmlns:a="http://schemas.openxmlformats.org/drawingml/2006/main" noGrp="1"/>
          </p:cNvSpPr>
          <p:nvPr/>
        </p:nvSpPr>
        <p:spPr>
          <a:xfrm xmlns:a="http://schemas.openxmlformats.org/drawingml/2006/main">
            <a:off x="731520" y="3476625"/>
            <a:ext cx="3392424"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5000"/>
              </a:lnSpc>
              <a:buNone/>
              <a:defRPr sz="1250" b="0">
                <a:solidFill>
                  <a:srgbClr val="464D5C"/>
                </a:solidFill>
                <a:latin typeface="Pretendard"/>
                <a:ea typeface="Pretendard"/>
                <a:cs typeface="Pretendard"/>
              </a:defRPr>
            </a:pPr>
            <a:r>
              <a:rPr sz="1250" b="0">
                <a:solidFill>
                  <a:srgbClr val="464D5C"/>
                </a:solidFill>
                <a:latin typeface="Pretendard"/>
                <a:ea typeface="Pretendard"/>
                <a:cs typeface="Pretendard"/>
              </a:rPr>
              <a:t>14세 이상 19세 미만</a:t>
            </a:r>
          </a:p>
          <a:p xmlns:a="http://schemas.openxmlformats.org/drawingml/2006/main">
            <a:pPr algn="l">
              <a:lnSpc>
                <a:spcPct val="125000"/>
              </a:lnSpc>
              <a:buNone/>
              <a:defRPr sz="1250" b="0">
                <a:solidFill>
                  <a:srgbClr val="464D5C"/>
                </a:solidFill>
                <a:latin typeface="Pretendard"/>
                <a:ea typeface="Pretendard"/>
                <a:cs typeface="Pretendard"/>
              </a:defRPr>
            </a:pPr>
            <a:r>
              <a:rPr sz="1250" b="0">
                <a:solidFill>
                  <a:srgbClr val="464D5C"/>
                </a:solidFill>
                <a:latin typeface="Pretendard"/>
                <a:ea typeface="Pretendard"/>
                <a:cs typeface="Pretendard"/>
              </a:rPr>
              <a:t>이미 범한 죄를 기준으로 본다.</a:t>
            </a:r>
          </a:p>
        </p:txBody>
      </p:sp>
      <p:sp>
        <p:nvSpPr>
          <p:cNvPr id="11" name="start_rule_1">
            <a:extLst xmlns:a="http://schemas.openxmlformats.org/drawingml/2006/main">
              <a:ext uri="{FF2B5EF4-FFF2-40B4-BE49-F238E27FC236}">
                <a16:creationId xmlns:a16="http://schemas.microsoft.com/office/drawing/2014/main" id="{FC417722-CBA3-4C1E-B642-69F18D33FE03}"/>
              </a:ext>
            </a:extLst>
          </p:cNvPr>
          <p:cNvSpPr>
            <a:spLocks xmlns:a="http://schemas.openxmlformats.org/drawingml/2006/main" noGrp="1"/>
          </p:cNvSpPr>
          <p:nvPr/>
        </p:nvSpPr>
        <p:spPr>
          <a:xfrm xmlns:a="http://schemas.openxmlformats.org/drawingml/2006/main">
            <a:off x="4398264" y="2533650"/>
            <a:ext cx="3392424" cy="38100"/>
          </a:xfrm>
          <a:prstGeom xmlns:a="http://schemas.openxmlformats.org/drawingml/2006/main" prst="rect">
            <a:avLst/>
          </a:prstGeom>
          <a:solidFill xmlns:a="http://schemas.openxmlformats.org/drawingml/2006/main">
            <a:srgbClr val="C9CEDA"/>
          </a:solidFill>
          <a:ln xmlns:a="http://schemas.openxmlformats.org/drawingml/2006/main" w="0">
            <a:noFill/>
          </a:ln>
        </p:spPr>
      </p:sp>
      <p:sp>
        <p:nvSpPr>
          <p:cNvPr id="12" name="article_1">
            <a:extLst xmlns:a="http://schemas.openxmlformats.org/drawingml/2006/main">
              <a:ext uri="{FF2B5EF4-FFF2-40B4-BE49-F238E27FC236}">
                <a16:creationId xmlns:a16="http://schemas.microsoft.com/office/drawing/2014/main" id="{686A0B83-B53C-4092-A0D4-BC184F9BAE3A}"/>
              </a:ext>
            </a:extLst>
          </p:cNvPr>
          <p:cNvSpPr>
            <a:spLocks xmlns:a="http://schemas.openxmlformats.org/drawingml/2006/main" noGrp="1"/>
          </p:cNvSpPr>
          <p:nvPr/>
        </p:nvSpPr>
        <p:spPr>
          <a:xfrm xmlns:a="http://schemas.openxmlformats.org/drawingml/2006/main">
            <a:off x="4398264" y="2724150"/>
            <a:ext cx="3392424"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buNone/>
              <a:defRPr sz="1050" b="1">
                <a:solidFill>
                  <a:srgbClr val="464D5C"/>
                </a:solidFill>
                <a:latin typeface="Pretendard"/>
                <a:ea typeface="Pretendard"/>
                <a:cs typeface="Pretendard"/>
              </a:defRPr>
            </a:pPr>
            <a:r>
              <a:rPr sz="1050" b="1">
                <a:solidFill>
                  <a:srgbClr val="464D5C"/>
                </a:solidFill>
                <a:latin typeface="Pretendard"/>
                <a:ea typeface="Pretendard"/>
                <a:cs typeface="Pretendard"/>
              </a:rPr>
              <a:t>제4조 제1항 제2호</a:t>
            </a:r>
          </a:p>
        </p:txBody>
      </p:sp>
      <p:sp>
        <p:nvSpPr>
          <p:cNvPr id="13" name="start_1">
            <a:extLst xmlns:a="http://schemas.openxmlformats.org/drawingml/2006/main">
              <a:ext uri="{FF2B5EF4-FFF2-40B4-BE49-F238E27FC236}">
                <a16:creationId xmlns:a16="http://schemas.microsoft.com/office/drawing/2014/main" id="{2CAF7FCB-5D47-490F-8A7E-42C1A450E85A}"/>
              </a:ext>
            </a:extLst>
          </p:cNvPr>
          <p:cNvSpPr>
            <a:spLocks xmlns:a="http://schemas.openxmlformats.org/drawingml/2006/main" noGrp="1"/>
          </p:cNvSpPr>
          <p:nvPr/>
        </p:nvSpPr>
        <p:spPr>
          <a:xfrm xmlns:a="http://schemas.openxmlformats.org/drawingml/2006/main">
            <a:off x="4398264" y="3067050"/>
            <a:ext cx="3392424"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buNone/>
              <a:defRPr sz="1400" b="1">
                <a:solidFill>
                  <a:srgbClr val="222633"/>
                </a:solidFill>
                <a:latin typeface="Pretendard"/>
                <a:ea typeface="Pretendard"/>
                <a:cs typeface="Pretendard"/>
              </a:defRPr>
            </a:pPr>
            <a:r>
              <a:rPr sz="1400" b="1">
                <a:solidFill>
                  <a:srgbClr val="222633"/>
                </a:solidFill>
                <a:latin typeface="Pretendard"/>
                <a:ea typeface="Pretendard"/>
                <a:cs typeface="Pretendard"/>
              </a:rPr>
              <a:t>촉법소년</a:t>
            </a:r>
          </a:p>
        </p:txBody>
      </p:sp>
      <p:sp>
        <p:nvSpPr>
          <p:cNvPr id="14" name="description_1">
            <a:extLst xmlns:a="http://schemas.openxmlformats.org/drawingml/2006/main">
              <a:ext uri="{FF2B5EF4-FFF2-40B4-BE49-F238E27FC236}">
                <a16:creationId xmlns:a16="http://schemas.microsoft.com/office/drawing/2014/main" id="{F7D205C0-895B-41FB-9965-93606181C6AF}"/>
              </a:ext>
            </a:extLst>
          </p:cNvPr>
          <p:cNvSpPr>
            <a:spLocks xmlns:a="http://schemas.openxmlformats.org/drawingml/2006/main" noGrp="1"/>
          </p:cNvSpPr>
          <p:nvPr/>
        </p:nvSpPr>
        <p:spPr>
          <a:xfrm xmlns:a="http://schemas.openxmlformats.org/drawingml/2006/main">
            <a:off x="4398264" y="3476625"/>
            <a:ext cx="3392424"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5000"/>
              </a:lnSpc>
              <a:buNone/>
              <a:defRPr sz="1250" b="0">
                <a:solidFill>
                  <a:srgbClr val="464D5C"/>
                </a:solidFill>
                <a:latin typeface="Pretendard"/>
                <a:ea typeface="Pretendard"/>
                <a:cs typeface="Pretendard"/>
              </a:defRPr>
            </a:pPr>
            <a:r>
              <a:rPr sz="1250" b="0">
                <a:solidFill>
                  <a:srgbClr val="464D5C"/>
                </a:solidFill>
                <a:latin typeface="Pretendard"/>
                <a:ea typeface="Pretendard"/>
                <a:cs typeface="Pretendard"/>
              </a:rPr>
              <a:t>10세 이상 14세 미만</a:t>
            </a:r>
          </a:p>
          <a:p xmlns:a="http://schemas.openxmlformats.org/drawingml/2006/main">
            <a:pPr algn="l">
              <a:lnSpc>
                <a:spcPct val="125000"/>
              </a:lnSpc>
              <a:buNone/>
              <a:defRPr sz="1250" b="0">
                <a:solidFill>
                  <a:srgbClr val="464D5C"/>
                </a:solidFill>
                <a:latin typeface="Pretendard"/>
                <a:ea typeface="Pretendard"/>
                <a:cs typeface="Pretendard"/>
              </a:defRPr>
            </a:pPr>
            <a:r>
              <a:rPr sz="1250" b="0">
                <a:solidFill>
                  <a:srgbClr val="464D5C"/>
                </a:solidFill>
                <a:latin typeface="Pretendard"/>
                <a:ea typeface="Pretendard"/>
                <a:cs typeface="Pretendard"/>
              </a:rPr>
              <a:t>형벌 법령에 저촉되는 행위를 했지만</a:t>
            </a:r>
          </a:p>
          <a:p xmlns:a="http://schemas.openxmlformats.org/drawingml/2006/main">
            <a:pPr algn="l">
              <a:lnSpc>
                <a:spcPct val="125000"/>
              </a:lnSpc>
              <a:buNone/>
              <a:defRPr sz="1250" b="0">
                <a:solidFill>
                  <a:srgbClr val="464D5C"/>
                </a:solidFill>
                <a:latin typeface="Pretendard"/>
                <a:ea typeface="Pretendard"/>
                <a:cs typeface="Pretendard"/>
              </a:defRPr>
            </a:pPr>
            <a:r>
              <a:rPr sz="1250" b="0">
                <a:solidFill>
                  <a:srgbClr val="464D5C"/>
                </a:solidFill>
                <a:latin typeface="Pretendard"/>
                <a:ea typeface="Pretendard"/>
                <a:cs typeface="Pretendard"/>
              </a:rPr>
              <a:t>형사책임 연령에 이르지 않았다.</a:t>
            </a:r>
          </a:p>
        </p:txBody>
      </p:sp>
      <p:sp>
        <p:nvSpPr>
          <p:cNvPr id="15" name="start_rule_2">
            <a:extLst xmlns:a="http://schemas.openxmlformats.org/drawingml/2006/main">
              <a:ext uri="{FF2B5EF4-FFF2-40B4-BE49-F238E27FC236}">
                <a16:creationId xmlns:a16="http://schemas.microsoft.com/office/drawing/2014/main" id="{5EE6AA75-48D2-461B-A159-41A37364BC41}"/>
              </a:ext>
            </a:extLst>
          </p:cNvPr>
          <p:cNvSpPr>
            <a:spLocks xmlns:a="http://schemas.openxmlformats.org/drawingml/2006/main" noGrp="1"/>
          </p:cNvSpPr>
          <p:nvPr/>
        </p:nvSpPr>
        <p:spPr>
          <a:xfrm xmlns:a="http://schemas.openxmlformats.org/drawingml/2006/main">
            <a:off x="8065008" y="2533650"/>
            <a:ext cx="3392424" cy="38100"/>
          </a:xfrm>
          <a:prstGeom xmlns:a="http://schemas.openxmlformats.org/drawingml/2006/main" prst="rect">
            <a:avLst/>
          </a:prstGeom>
          <a:solidFill xmlns:a="http://schemas.openxmlformats.org/drawingml/2006/main">
            <a:srgbClr val="5A6699"/>
          </a:solidFill>
          <a:ln xmlns:a="http://schemas.openxmlformats.org/drawingml/2006/main" w="0">
            <a:noFill/>
          </a:ln>
        </p:spPr>
      </p:sp>
      <p:sp>
        <p:nvSpPr>
          <p:cNvPr id="16" name="article_2">
            <a:extLst xmlns:a="http://schemas.openxmlformats.org/drawingml/2006/main">
              <a:ext uri="{FF2B5EF4-FFF2-40B4-BE49-F238E27FC236}">
                <a16:creationId xmlns:a16="http://schemas.microsoft.com/office/drawing/2014/main" id="{5CDBD565-F07D-4F61-A4E0-5D59DC588674}"/>
              </a:ext>
            </a:extLst>
          </p:cNvPr>
          <p:cNvSpPr>
            <a:spLocks xmlns:a="http://schemas.openxmlformats.org/drawingml/2006/main" noGrp="1"/>
          </p:cNvSpPr>
          <p:nvPr/>
        </p:nvSpPr>
        <p:spPr>
          <a:xfrm xmlns:a="http://schemas.openxmlformats.org/drawingml/2006/main">
            <a:off x="8065008" y="2724150"/>
            <a:ext cx="3392424"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buNone/>
              <a:defRPr sz="1050" b="1">
                <a:solidFill>
                  <a:srgbClr val="A8871C"/>
                </a:solidFill>
                <a:latin typeface="Pretendard"/>
                <a:ea typeface="Pretendard"/>
                <a:cs typeface="Pretendard"/>
              </a:defRPr>
            </a:pPr>
            <a:r>
              <a:rPr sz="1050" b="1">
                <a:solidFill>
                  <a:srgbClr val="A8871C"/>
                </a:solidFill>
                <a:latin typeface="Pretendard"/>
                <a:ea typeface="Pretendard"/>
                <a:cs typeface="Pretendard"/>
              </a:rPr>
              <a:t>제4조 제1항 제3호</a:t>
            </a:r>
          </a:p>
        </p:txBody>
      </p:sp>
      <p:sp>
        <p:nvSpPr>
          <p:cNvPr id="17" name="start_2">
            <a:extLst xmlns:a="http://schemas.openxmlformats.org/drawingml/2006/main">
              <a:ext uri="{FF2B5EF4-FFF2-40B4-BE49-F238E27FC236}">
                <a16:creationId xmlns:a16="http://schemas.microsoft.com/office/drawing/2014/main" id="{79B75AA8-C0EA-4D19-B19A-B81978E2F88B}"/>
              </a:ext>
            </a:extLst>
          </p:cNvPr>
          <p:cNvSpPr>
            <a:spLocks xmlns:a="http://schemas.openxmlformats.org/drawingml/2006/main" noGrp="1"/>
          </p:cNvSpPr>
          <p:nvPr/>
        </p:nvSpPr>
        <p:spPr>
          <a:xfrm xmlns:a="http://schemas.openxmlformats.org/drawingml/2006/main">
            <a:off x="8065008" y="3067050"/>
            <a:ext cx="3392424"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buNone/>
              <a:defRPr sz="1400" b="1">
                <a:solidFill>
                  <a:srgbClr val="222633"/>
                </a:solidFill>
                <a:latin typeface="Pretendard"/>
                <a:ea typeface="Pretendard"/>
                <a:cs typeface="Pretendard"/>
              </a:defRPr>
            </a:pPr>
            <a:r>
              <a:rPr sz="1400" b="1">
                <a:solidFill>
                  <a:srgbClr val="222633"/>
                </a:solidFill>
                <a:latin typeface="Pretendard"/>
                <a:ea typeface="Pretendard"/>
                <a:cs typeface="Pretendard"/>
              </a:rPr>
              <a:t>우범소년</a:t>
            </a:r>
          </a:p>
        </p:txBody>
      </p:sp>
      <p:sp>
        <p:nvSpPr>
          <p:cNvPr id="18" name="description_2">
            <a:extLst xmlns:a="http://schemas.openxmlformats.org/drawingml/2006/main">
              <a:ext uri="{FF2B5EF4-FFF2-40B4-BE49-F238E27FC236}">
                <a16:creationId xmlns:a16="http://schemas.microsoft.com/office/drawing/2014/main" id="{7A3A5EFF-54BB-48FB-B6DA-4921BD157088}"/>
              </a:ext>
            </a:extLst>
          </p:cNvPr>
          <p:cNvSpPr>
            <a:spLocks xmlns:a="http://schemas.openxmlformats.org/drawingml/2006/main" noGrp="1"/>
          </p:cNvSpPr>
          <p:nvPr/>
        </p:nvSpPr>
        <p:spPr>
          <a:xfrm xmlns:a="http://schemas.openxmlformats.org/drawingml/2006/main">
            <a:off x="8065008" y="3476625"/>
            <a:ext cx="3392424"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5000"/>
              </a:lnSpc>
              <a:buNone/>
              <a:defRPr sz="1250" b="0">
                <a:solidFill>
                  <a:srgbClr val="464D5C"/>
                </a:solidFill>
                <a:latin typeface="Pretendard"/>
                <a:ea typeface="Pretendard"/>
                <a:cs typeface="Pretendard"/>
              </a:defRPr>
            </a:pPr>
            <a:r>
              <a:rPr sz="1250" b="0">
                <a:solidFill>
                  <a:srgbClr val="464D5C"/>
                </a:solidFill>
                <a:latin typeface="Pretendard"/>
                <a:ea typeface="Pretendard"/>
                <a:cs typeface="Pretendard"/>
              </a:rPr>
              <a:t>10세 이상 19세 미만</a:t>
            </a:r>
          </a:p>
          <a:p xmlns:a="http://schemas.openxmlformats.org/drawingml/2006/main">
            <a:pPr algn="l">
              <a:lnSpc>
                <a:spcPct val="125000"/>
              </a:lnSpc>
              <a:buNone/>
              <a:defRPr sz="1250" b="0">
                <a:solidFill>
                  <a:srgbClr val="464D5C"/>
                </a:solidFill>
                <a:latin typeface="Pretendard"/>
                <a:ea typeface="Pretendard"/>
                <a:cs typeface="Pretendard"/>
              </a:defRPr>
            </a:pPr>
            <a:r>
              <a:rPr sz="1250" b="0">
                <a:solidFill>
                  <a:srgbClr val="464D5C"/>
                </a:solidFill>
                <a:latin typeface="Pretendard"/>
                <a:ea typeface="Pretendard"/>
                <a:cs typeface="Pretendard"/>
              </a:rPr>
              <a:t>법정 우범사유와</a:t>
            </a:r>
          </a:p>
          <a:p xmlns:a="http://schemas.openxmlformats.org/drawingml/2006/main">
            <a:pPr algn="l">
              <a:lnSpc>
                <a:spcPct val="125000"/>
              </a:lnSpc>
              <a:buNone/>
              <a:defRPr sz="1250" b="0">
                <a:solidFill>
                  <a:srgbClr val="464D5C"/>
                </a:solidFill>
                <a:latin typeface="Pretendard"/>
                <a:ea typeface="Pretendard"/>
                <a:cs typeface="Pretendard"/>
              </a:defRPr>
            </a:pPr>
            <a:r>
              <a:rPr sz="1250" b="0">
                <a:solidFill>
                  <a:srgbClr val="464D5C"/>
                </a:solidFill>
                <a:latin typeface="Pretendard"/>
                <a:ea typeface="Pretendard"/>
                <a:cs typeface="Pretendard"/>
              </a:rPr>
              <a:t>장래 범법 우려를 함께 본다.</a:t>
            </a:r>
          </a:p>
        </p:txBody>
      </p:sp>
      <p:sp>
        <p:nvSpPr>
          <p:cNvPr id="19" name="definition_rule">
            <a:extLst xmlns:a="http://schemas.openxmlformats.org/drawingml/2006/main">
              <a:ext uri="{FF2B5EF4-FFF2-40B4-BE49-F238E27FC236}">
                <a16:creationId xmlns:a16="http://schemas.microsoft.com/office/drawing/2014/main" id="{DCED1009-0856-419B-9333-4D2E10317AA9}"/>
              </a:ext>
            </a:extLst>
          </p:cNvPr>
          <p:cNvSpPr>
            <a:spLocks xmlns:a="http://schemas.openxmlformats.org/drawingml/2006/main" noGrp="1"/>
          </p:cNvSpPr>
          <p:nvPr/>
        </p:nvSpPr>
        <p:spPr>
          <a:xfrm xmlns:a="http://schemas.openxmlformats.org/drawingml/2006/main">
            <a:off x="731520" y="4438650"/>
            <a:ext cx="10726103" cy="9525"/>
          </a:xfrm>
          <a:prstGeom xmlns:a="http://schemas.openxmlformats.org/drawingml/2006/main" prst="rect">
            <a:avLst/>
          </a:prstGeom>
          <a:solidFill xmlns:a="http://schemas.openxmlformats.org/drawingml/2006/main">
            <a:srgbClr val="DCE0E8"/>
          </a:solidFill>
          <a:ln xmlns:a="http://schemas.openxmlformats.org/drawingml/2006/main" w="0">
            <a:noFill/>
          </a:ln>
        </p:spPr>
      </p:sp>
      <p:sp>
        <p:nvSpPr>
          <p:cNvPr id="20" name="definition_label">
            <a:extLst xmlns:a="http://schemas.openxmlformats.org/drawingml/2006/main">
              <a:ext uri="{FF2B5EF4-FFF2-40B4-BE49-F238E27FC236}">
                <a16:creationId xmlns:a16="http://schemas.microsoft.com/office/drawing/2014/main" id="{1AAAEE30-E062-4065-A5D0-D46FE540626B}"/>
              </a:ext>
            </a:extLst>
          </p:cNvPr>
          <p:cNvSpPr>
            <a:spLocks xmlns:a="http://schemas.openxmlformats.org/drawingml/2006/main" noGrp="1"/>
          </p:cNvSpPr>
          <p:nvPr/>
        </p:nvSpPr>
        <p:spPr>
          <a:xfrm xmlns:a="http://schemas.openxmlformats.org/drawingml/2006/main">
            <a:off x="731520" y="4676775"/>
            <a:ext cx="1905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buNone/>
              <a:defRPr sz="1300" b="1">
                <a:solidFill>
                  <a:srgbClr val="1E2761"/>
                </a:solidFill>
                <a:latin typeface="Pretendard"/>
                <a:ea typeface="Pretendard"/>
                <a:cs typeface="Pretendard"/>
              </a:defRPr>
            </a:pPr>
            <a:r>
              <a:rPr sz="1300" b="1">
                <a:solidFill>
                  <a:srgbClr val="1E2761"/>
                </a:solidFill>
                <a:latin typeface="Pretendard"/>
                <a:ea typeface="Pretendard"/>
                <a:cs typeface="Pretendard"/>
              </a:rPr>
              <a:t>우범·우범사유</a:t>
            </a:r>
          </a:p>
        </p:txBody>
      </p:sp>
      <p:sp>
        <p:nvSpPr>
          <p:cNvPr id="21" name="definition">
            <a:extLst xmlns:a="http://schemas.openxmlformats.org/drawingml/2006/main">
              <a:ext uri="{FF2B5EF4-FFF2-40B4-BE49-F238E27FC236}">
                <a16:creationId xmlns:a16="http://schemas.microsoft.com/office/drawing/2014/main" id="{14965EF6-7E96-422F-A8D9-ECCF8429535D}"/>
              </a:ext>
            </a:extLst>
          </p:cNvPr>
          <p:cNvSpPr>
            <a:spLocks xmlns:a="http://schemas.openxmlformats.org/drawingml/2006/main" noGrp="1"/>
          </p:cNvSpPr>
          <p:nvPr/>
        </p:nvSpPr>
        <p:spPr>
          <a:xfrm xmlns:a="http://schemas.openxmlformats.org/drawingml/2006/main">
            <a:off x="2724150" y="4667250"/>
            <a:ext cx="87344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5000"/>
              </a:lnSpc>
              <a:buNone/>
              <a:defRPr sz="1250" b="0">
                <a:solidFill>
                  <a:srgbClr val="222633"/>
                </a:solidFill>
                <a:latin typeface="Pretendard"/>
                <a:ea typeface="Pretendard"/>
                <a:cs typeface="Pretendard"/>
              </a:defRPr>
            </a:pPr>
            <a:r>
              <a:rPr sz="1250" b="0">
                <a:solidFill>
                  <a:srgbClr val="222633"/>
                </a:solidFill>
                <a:latin typeface="Pretendard"/>
                <a:ea typeface="Pretendard"/>
                <a:cs typeface="Pretendard"/>
              </a:rPr>
              <a:t>우범(虞犯)은 ‘앞으로 범죄를 저지를 우려가 있다’는 뜻이다.</a:t>
            </a:r>
          </a:p>
          <a:p xmlns:a="http://schemas.openxmlformats.org/drawingml/2006/main">
            <a:pPr algn="l">
              <a:lnSpc>
                <a:spcPct val="125000"/>
              </a:lnSpc>
              <a:buNone/>
              <a:defRPr sz="1250" b="0">
                <a:solidFill>
                  <a:srgbClr val="222633"/>
                </a:solidFill>
                <a:latin typeface="Pretendard"/>
                <a:ea typeface="Pretendard"/>
                <a:cs typeface="Pretendard"/>
              </a:defRPr>
            </a:pPr>
            <a:r>
              <a:rPr sz="1250" b="0">
                <a:solidFill>
                  <a:srgbClr val="222633"/>
                </a:solidFill>
                <a:latin typeface="Pretendard"/>
                <a:ea typeface="Pretendard"/>
                <a:cs typeface="Pretendard"/>
              </a:rPr>
              <a:t>우범사유는 그런 우려를 갖게 하는 행동이나 상황이다. 법 적용에서는 법정 사유를 확인한다.</a:t>
            </a:r>
          </a:p>
        </p:txBody>
      </p:sp>
      <p:sp>
        <p:nvSpPr>
          <p:cNvPr id="22" name="conclusion_top">
            <a:extLst xmlns:a="http://schemas.openxmlformats.org/drawingml/2006/main">
              <a:ext uri="{FF2B5EF4-FFF2-40B4-BE49-F238E27FC236}">
                <a16:creationId xmlns:a16="http://schemas.microsoft.com/office/drawing/2014/main" id="{4F731A70-53F9-4B55-B8E5-FAF1D164CD91}"/>
              </a:ext>
            </a:extLst>
          </p:cNvPr>
          <p:cNvSpPr>
            <a:spLocks xmlns:a="http://schemas.openxmlformats.org/drawingml/2006/main" noGrp="1"/>
          </p:cNvSpPr>
          <p:nvPr/>
        </p:nvSpPr>
        <p:spPr>
          <a:xfrm xmlns:a="http://schemas.openxmlformats.org/drawingml/2006/main">
            <a:off x="731520" y="5532120"/>
            <a:ext cx="10726103" cy="9525"/>
          </a:xfrm>
          <a:prstGeom xmlns:a="http://schemas.openxmlformats.org/drawingml/2006/main" prst="rect">
            <a:avLst/>
          </a:prstGeom>
          <a:solidFill xmlns:a="http://schemas.openxmlformats.org/drawingml/2006/main">
            <a:srgbClr val="DCE0E8"/>
          </a:solidFill>
          <a:ln xmlns:a="http://schemas.openxmlformats.org/drawingml/2006/main" w="0">
            <a:noFill/>
          </a:ln>
        </p:spPr>
      </p:sp>
      <p:sp>
        <p:nvSpPr>
          <p:cNvPr id="23" name="conclusion">
            <a:extLst xmlns:a="http://schemas.openxmlformats.org/drawingml/2006/main">
              <a:ext uri="{FF2B5EF4-FFF2-40B4-BE49-F238E27FC236}">
                <a16:creationId xmlns:a16="http://schemas.microsoft.com/office/drawing/2014/main" id="{B37293C7-A26A-4A5A-B1EF-D7473465C2FC}"/>
              </a:ext>
            </a:extLst>
          </p:cNvPr>
          <p:cNvSpPr>
            <a:spLocks xmlns:a="http://schemas.openxmlformats.org/drawingml/2006/main" noGrp="1"/>
          </p:cNvSpPr>
          <p:nvPr/>
        </p:nvSpPr>
        <p:spPr>
          <a:xfrm xmlns:a="http://schemas.openxmlformats.org/drawingml/2006/main">
            <a:off x="731520" y="5743575"/>
            <a:ext cx="10726103"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buNone/>
              <a:defRPr sz="1300" b="1">
                <a:solidFill>
                  <a:srgbClr val="1E2761"/>
                </a:solidFill>
                <a:latin typeface="Pretendard"/>
                <a:ea typeface="Pretendard"/>
                <a:cs typeface="Pretendard"/>
              </a:defRPr>
            </a:pPr>
            <a:r>
              <a:rPr sz="1300" b="1">
                <a:solidFill>
                  <a:srgbClr val="1E2761"/>
                </a:solidFill>
                <a:latin typeface="Pretendard"/>
                <a:ea typeface="Pretendard"/>
                <a:cs typeface="Pretendard"/>
              </a:rPr>
              <a:t>세 범주는 모두 소년법상 보호사건의 대상이지만, 보호사건이 성립하는 요건은 서로 다르다.</a:t>
            </a:r>
          </a:p>
        </p:txBody>
      </p:sp>
      <p:sp>
        <p:nvSpPr>
          <p:cNvPr id="24" name="conclusion_bottom">
            <a:extLst xmlns:a="http://schemas.openxmlformats.org/drawingml/2006/main">
              <a:ext uri="{FF2B5EF4-FFF2-40B4-BE49-F238E27FC236}">
                <a16:creationId xmlns:a16="http://schemas.microsoft.com/office/drawing/2014/main" id="{38222F3E-3875-4973-9D22-71594EDF82A1}"/>
              </a:ext>
            </a:extLst>
          </p:cNvPr>
          <p:cNvSpPr>
            <a:spLocks xmlns:a="http://schemas.openxmlformats.org/drawingml/2006/main" noGrp="1"/>
          </p:cNvSpPr>
          <p:nvPr/>
        </p:nvSpPr>
        <p:spPr>
          <a:xfrm xmlns:a="http://schemas.openxmlformats.org/drawingml/2006/main">
            <a:off x="731520" y="6144578"/>
            <a:ext cx="10726103" cy="16193"/>
          </a:xfrm>
          <a:prstGeom xmlns:a="http://schemas.openxmlformats.org/drawingml/2006/main" prst="rect">
            <a:avLst/>
          </a:prstGeom>
          <a:solidFill xmlns:a="http://schemas.openxmlformats.org/drawingml/2006/main">
            <a:srgbClr val="1E2761"/>
          </a:solidFill>
          <a:ln xmlns:a="http://schemas.openxmlformats.org/drawingml/2006/main" w="0">
            <a:noFill/>
          </a:ln>
        </p:spPr>
      </p:sp>
    </p:spTree>
    <p:extLst>
      <p:ext uri="{BB962C8B-B14F-4D97-AF65-F5344CB8AC3E}">
        <p14:creationId xmlns:p14="http://schemas.microsoft.com/office/powerpoint/2010/main" val="161805767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chapter">
            <a:extLst xmlns:a="http://schemas.openxmlformats.org/drawingml/2006/main">
              <a:ext uri="{FF2B5EF4-FFF2-40B4-BE49-F238E27FC236}">
                <a16:creationId xmlns:a16="http://schemas.microsoft.com/office/drawing/2014/main" id="{E8EC4A6F-9082-4F05-8B43-01956A4EEEDA}"/>
              </a:ext>
            </a:extLst>
          </p:cNvPr>
          <p:cNvSpPr>
            <a:spLocks xmlns:a="http://schemas.openxmlformats.org/drawingml/2006/main" noGrp="1"/>
          </p:cNvSpPr>
          <p:nvPr/>
        </p:nvSpPr>
        <p:spPr>
          <a:xfrm xmlns:a="http://schemas.openxmlformats.org/drawingml/2006/main">
            <a:off x="731520" y="36576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buNone/>
              <a:defRPr sz="1250" b="1">
                <a:solidFill>
                  <a:srgbClr val="464D5C"/>
                </a:solidFill>
                <a:latin typeface="Pretendard"/>
                <a:ea typeface="Pretendard"/>
                <a:cs typeface="Pretendard"/>
              </a:defRPr>
            </a:pPr>
            <a:r>
              <a:rPr sz="1250" b="1" spc="200">
                <a:solidFill>
                  <a:srgbClr val="464D5C"/>
                </a:solidFill>
                <a:latin typeface="Pretendard"/>
                <a:ea typeface="Pretendard"/>
                <a:cs typeface="Pretendard"/>
              </a:rPr>
              <a:t>1. 논제의 대상과 현행 우범소년 제도</a:t>
            </a:r>
          </a:p>
        </p:txBody>
      </p:sp>
      <p:sp>
        <p:nvSpPr>
          <p:cNvPr id="2" name="next">
            <a:extLst xmlns:a="http://schemas.openxmlformats.org/drawingml/2006/main">
              <a:ext uri="{FF2B5EF4-FFF2-40B4-BE49-F238E27FC236}">
                <a16:creationId xmlns:a16="http://schemas.microsoft.com/office/drawing/2014/main" id="{B2D70169-A19E-4BC1-B7DD-0553BAD7B1EE}"/>
              </a:ext>
            </a:extLst>
          </p:cNvPr>
          <p:cNvSpPr>
            <a:spLocks xmlns:a="http://schemas.openxmlformats.org/drawingml/2006/main" noGrp="1"/>
          </p:cNvSpPr>
          <p:nvPr/>
        </p:nvSpPr>
        <p:spPr>
          <a:xfrm xmlns:a="http://schemas.openxmlformats.org/drawingml/2006/main">
            <a:off x="6191250" y="383858"/>
            <a:ext cx="526351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18000"/>
              </a:lnSpc>
              <a:buNone/>
              <a:defRPr sz="1050" b="0">
                <a:solidFill>
                  <a:srgbClr val="6E7686"/>
                </a:solidFill>
                <a:latin typeface="Pretendard"/>
                <a:ea typeface="Pretendard"/>
                <a:cs typeface="Pretendard"/>
              </a:defRPr>
            </a:pPr>
            <a:r>
              <a:rPr sz="1050" b="0">
                <a:solidFill>
                  <a:srgbClr val="6E7686"/>
                </a:solidFill>
                <a:latin typeface="Pretendard"/>
                <a:ea typeface="Pretendard"/>
                <a:cs typeface="Pretendard"/>
              </a:rPr>
              <a:t>다음 → 가출과 법정 우범사유</a:t>
            </a:r>
          </a:p>
        </p:txBody>
      </p:sp>
      <p:sp>
        <p:nvSpPr>
          <p:cNvPr id="3" name="title">
            <a:extLst xmlns:a="http://schemas.openxmlformats.org/drawingml/2006/main">
              <a:ext uri="{FF2B5EF4-FFF2-40B4-BE49-F238E27FC236}">
                <a16:creationId xmlns:a16="http://schemas.microsoft.com/office/drawing/2014/main" id="{EEF0FB32-133D-4484-9D58-8D1E77993528}"/>
              </a:ext>
            </a:extLst>
          </p:cNvPr>
          <p:cNvSpPr>
            <a:spLocks xmlns:a="http://schemas.openxmlformats.org/drawingml/2006/main" noGrp="1"/>
          </p:cNvSpPr>
          <p:nvPr/>
        </p:nvSpPr>
        <p:spPr>
          <a:xfrm xmlns:a="http://schemas.openxmlformats.org/drawingml/2006/main">
            <a:off x="731520" y="762000"/>
            <a:ext cx="10726103"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buNone/>
              <a:defRPr sz="2750" b="1">
                <a:solidFill>
                  <a:srgbClr val="1E2761"/>
                </a:solidFill>
                <a:latin typeface="Pretendard"/>
                <a:ea typeface="Pretendard"/>
                <a:cs typeface="Pretendard"/>
              </a:defRPr>
            </a:pPr>
            <a:r>
              <a:rPr sz="2750" b="1">
                <a:solidFill>
                  <a:srgbClr val="1E2761"/>
                </a:solidFill>
                <a:latin typeface="Pretendard"/>
                <a:ea typeface="Pretendard"/>
                <a:cs typeface="Pretendard"/>
              </a:rPr>
              <a:t>우범소년의 세 요건</a:t>
            </a:r>
          </a:p>
        </p:txBody>
      </p:sp>
      <p:sp>
        <p:nvSpPr>
          <p:cNvPr id="4" name="summary_bg">
            <a:extLst xmlns:a="http://schemas.openxmlformats.org/drawingml/2006/main">
              <a:ext uri="{FF2B5EF4-FFF2-40B4-BE49-F238E27FC236}">
                <a16:creationId xmlns:a16="http://schemas.microsoft.com/office/drawing/2014/main" id="{BF8163BB-4E8C-4703-BB44-E65AB4756A66}"/>
              </a:ext>
            </a:extLst>
          </p:cNvPr>
          <p:cNvSpPr>
            <a:spLocks xmlns:a="http://schemas.openxmlformats.org/drawingml/2006/main" noGrp="1"/>
          </p:cNvSpPr>
          <p:nvPr/>
        </p:nvSpPr>
        <p:spPr>
          <a:xfrm xmlns:a="http://schemas.openxmlformats.org/drawingml/2006/main">
            <a:off x="731520" y="1417320"/>
            <a:ext cx="10726103" cy="548640"/>
          </a:xfrm>
          <a:prstGeom xmlns:a="http://schemas.openxmlformats.org/drawingml/2006/main" prst="rect">
            <a:avLst/>
          </a:prstGeom>
          <a:solidFill xmlns:a="http://schemas.openxmlformats.org/drawingml/2006/main">
            <a:srgbClr val="F2F4F8"/>
          </a:solidFill>
          <a:ln xmlns:a="http://schemas.openxmlformats.org/drawingml/2006/main" w="0">
            <a:noFill/>
          </a:ln>
        </p:spPr>
      </p:sp>
      <p:sp>
        <p:nvSpPr>
          <p:cNvPr id="5" name="summary_marker">
            <a:extLst xmlns:a="http://schemas.openxmlformats.org/drawingml/2006/main">
              <a:ext uri="{FF2B5EF4-FFF2-40B4-BE49-F238E27FC236}">
                <a16:creationId xmlns:a16="http://schemas.microsoft.com/office/drawing/2014/main" id="{3FE69D92-F85F-44AB-B6E2-1DCDB0A26E0A}"/>
              </a:ext>
            </a:extLst>
          </p:cNvPr>
          <p:cNvSpPr>
            <a:spLocks xmlns:a="http://schemas.openxmlformats.org/drawingml/2006/main" noGrp="1"/>
          </p:cNvSpPr>
          <p:nvPr/>
        </p:nvSpPr>
        <p:spPr>
          <a:xfrm xmlns:a="http://schemas.openxmlformats.org/drawingml/2006/main">
            <a:off x="731520" y="1417320"/>
            <a:ext cx="47625" cy="548640"/>
          </a:xfrm>
          <a:prstGeom xmlns:a="http://schemas.openxmlformats.org/drawingml/2006/main" prst="rect">
            <a:avLst/>
          </a:prstGeom>
          <a:solidFill xmlns:a="http://schemas.openxmlformats.org/drawingml/2006/main">
            <a:srgbClr val="1E2761"/>
          </a:solidFill>
          <a:ln xmlns:a="http://schemas.openxmlformats.org/drawingml/2006/main" w="0">
            <a:noFill/>
          </a:ln>
        </p:spPr>
      </p:sp>
      <p:sp>
        <p:nvSpPr>
          <p:cNvPr id="6" name="summary">
            <a:extLst xmlns:a="http://schemas.openxmlformats.org/drawingml/2006/main">
              <a:ext uri="{FF2B5EF4-FFF2-40B4-BE49-F238E27FC236}">
                <a16:creationId xmlns:a16="http://schemas.microsoft.com/office/drawing/2014/main" id="{422AFC81-1EF1-48B8-9AA0-8CB4286C229E}"/>
              </a:ext>
            </a:extLst>
          </p:cNvPr>
          <p:cNvSpPr>
            <a:spLocks xmlns:a="http://schemas.openxmlformats.org/drawingml/2006/main" noGrp="1"/>
          </p:cNvSpPr>
          <p:nvPr/>
        </p:nvSpPr>
        <p:spPr>
          <a:xfrm xmlns:a="http://schemas.openxmlformats.org/drawingml/2006/main">
            <a:off x="1005840" y="1600200"/>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buNone/>
              <a:defRPr sz="1300" b="1">
                <a:solidFill>
                  <a:srgbClr val="1E2761"/>
                </a:solidFill>
                <a:latin typeface="Pretendard"/>
                <a:ea typeface="Pretendard"/>
                <a:cs typeface="Pretendard"/>
              </a:defRPr>
            </a:pPr>
            <a:r>
              <a:rPr sz="1300" b="1">
                <a:solidFill>
                  <a:srgbClr val="1E2761"/>
                </a:solidFill>
                <a:latin typeface="Pretendard"/>
                <a:ea typeface="Pretendard"/>
                <a:cs typeface="Pretendard"/>
              </a:rPr>
              <a:t>소년법 제4조 제1항 제3호는 연령·법정 우범사유·장래 범법 우려를 함께 요구한다</a:t>
            </a:r>
          </a:p>
        </p:txBody>
      </p:sp>
      <p:sp>
        <p:nvSpPr>
          <p:cNvPr id="7" name="requirement_rule_0">
            <a:extLst xmlns:a="http://schemas.openxmlformats.org/drawingml/2006/main">
              <a:ext uri="{FF2B5EF4-FFF2-40B4-BE49-F238E27FC236}">
                <a16:creationId xmlns:a16="http://schemas.microsoft.com/office/drawing/2014/main" id="{E4724EBA-B896-468C-A254-DB635ABF5DE5}"/>
              </a:ext>
            </a:extLst>
          </p:cNvPr>
          <p:cNvSpPr>
            <a:spLocks xmlns:a="http://schemas.openxmlformats.org/drawingml/2006/main" noGrp="1"/>
          </p:cNvSpPr>
          <p:nvPr/>
        </p:nvSpPr>
        <p:spPr>
          <a:xfrm xmlns:a="http://schemas.openxmlformats.org/drawingml/2006/main">
            <a:off x="731520" y="2590800"/>
            <a:ext cx="3392424" cy="38100"/>
          </a:xfrm>
          <a:prstGeom xmlns:a="http://schemas.openxmlformats.org/drawingml/2006/main" prst="rect">
            <a:avLst/>
          </a:prstGeom>
          <a:solidFill xmlns:a="http://schemas.openxmlformats.org/drawingml/2006/main">
            <a:srgbClr val="5A6699"/>
          </a:solidFill>
          <a:ln xmlns:a="http://schemas.openxmlformats.org/drawingml/2006/main" w="0">
            <a:noFill/>
          </a:ln>
        </p:spPr>
      </p:sp>
      <p:sp>
        <p:nvSpPr>
          <p:cNvPr id="8" name="number_0">
            <a:extLst xmlns:a="http://schemas.openxmlformats.org/drawingml/2006/main">
              <a:ext uri="{FF2B5EF4-FFF2-40B4-BE49-F238E27FC236}">
                <a16:creationId xmlns:a16="http://schemas.microsoft.com/office/drawing/2014/main" id="{7EBB1BFD-728E-43AB-8857-86A5EF1D43E1}"/>
              </a:ext>
            </a:extLst>
          </p:cNvPr>
          <p:cNvSpPr>
            <a:spLocks xmlns:a="http://schemas.openxmlformats.org/drawingml/2006/main" noGrp="1"/>
          </p:cNvSpPr>
          <p:nvPr/>
        </p:nvSpPr>
        <p:spPr>
          <a:xfrm xmlns:a="http://schemas.openxmlformats.org/drawingml/2006/main">
            <a:off x="731520" y="2762250"/>
            <a:ext cx="3392424"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buNone/>
              <a:defRPr sz="1050" b="0">
                <a:solidFill>
                  <a:srgbClr val="464D5C"/>
                </a:solidFill>
                <a:latin typeface="Pretendard"/>
                <a:ea typeface="Pretendard"/>
                <a:cs typeface="Pretendard"/>
              </a:defRPr>
            </a:pPr>
            <a:r>
              <a:rPr sz="1050" b="0">
                <a:solidFill>
                  <a:srgbClr val="464D5C"/>
                </a:solidFill>
                <a:latin typeface="Pretendard"/>
                <a:ea typeface="Pretendard"/>
                <a:cs typeface="Pretendard"/>
              </a:rPr>
              <a:t>요건 ①</a:t>
            </a:r>
          </a:p>
        </p:txBody>
      </p:sp>
      <p:sp>
        <p:nvSpPr>
          <p:cNvPr id="9" name="requirement_0">
            <a:extLst xmlns:a="http://schemas.openxmlformats.org/drawingml/2006/main">
              <a:ext uri="{FF2B5EF4-FFF2-40B4-BE49-F238E27FC236}">
                <a16:creationId xmlns:a16="http://schemas.microsoft.com/office/drawing/2014/main" id="{E26A8742-0F9B-49E0-A183-EE894E43DFF4}"/>
              </a:ext>
            </a:extLst>
          </p:cNvPr>
          <p:cNvSpPr>
            <a:spLocks xmlns:a="http://schemas.openxmlformats.org/drawingml/2006/main" noGrp="1"/>
          </p:cNvSpPr>
          <p:nvPr/>
        </p:nvSpPr>
        <p:spPr>
          <a:xfrm xmlns:a="http://schemas.openxmlformats.org/drawingml/2006/main">
            <a:off x="731520" y="3162300"/>
            <a:ext cx="3392424"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buNone/>
              <a:defRPr sz="2250" b="1">
                <a:solidFill>
                  <a:srgbClr val="1E2761"/>
                </a:solidFill>
                <a:latin typeface="Pretendard"/>
                <a:ea typeface="Pretendard"/>
                <a:cs typeface="Pretendard"/>
              </a:defRPr>
            </a:pPr>
            <a:r>
              <a:rPr sz="2250" b="1">
                <a:solidFill>
                  <a:srgbClr val="1E2761"/>
                </a:solidFill>
                <a:latin typeface="Pretendard"/>
                <a:ea typeface="Pretendard"/>
                <a:cs typeface="Pretendard"/>
              </a:rPr>
              <a:t>연령</a:t>
            </a:r>
          </a:p>
        </p:txBody>
      </p:sp>
      <p:sp>
        <p:nvSpPr>
          <p:cNvPr id="10" name="requirement_detail_0">
            <a:extLst xmlns:a="http://schemas.openxmlformats.org/drawingml/2006/main">
              <a:ext uri="{FF2B5EF4-FFF2-40B4-BE49-F238E27FC236}">
                <a16:creationId xmlns:a16="http://schemas.microsoft.com/office/drawing/2014/main" id="{D0E25A04-2FE3-402C-A389-0ABA2A84B337}"/>
              </a:ext>
            </a:extLst>
          </p:cNvPr>
          <p:cNvSpPr>
            <a:spLocks xmlns:a="http://schemas.openxmlformats.org/drawingml/2006/main" noGrp="1"/>
          </p:cNvSpPr>
          <p:nvPr/>
        </p:nvSpPr>
        <p:spPr>
          <a:xfrm xmlns:a="http://schemas.openxmlformats.org/drawingml/2006/main">
            <a:off x="731520" y="3752850"/>
            <a:ext cx="3392424"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5000"/>
              </a:lnSpc>
              <a:buNone/>
              <a:defRPr sz="1250" b="0">
                <a:solidFill>
                  <a:srgbClr val="464D5C"/>
                </a:solidFill>
                <a:latin typeface="Pretendard"/>
                <a:ea typeface="Pretendard"/>
                <a:cs typeface="Pretendard"/>
              </a:defRPr>
            </a:pPr>
            <a:r>
              <a:rPr sz="1250" b="0">
                <a:solidFill>
                  <a:srgbClr val="464D5C"/>
                </a:solidFill>
                <a:latin typeface="Pretendard"/>
                <a:ea typeface="Pretendard"/>
                <a:cs typeface="Pretendard"/>
              </a:rPr>
              <a:t>10세 이상 19세 미만</a:t>
            </a:r>
          </a:p>
          <a:p xmlns:a="http://schemas.openxmlformats.org/drawingml/2006/main">
            <a:pPr algn="l">
              <a:lnSpc>
                <a:spcPct val="125000"/>
              </a:lnSpc>
              <a:buNone/>
              <a:defRPr sz="1250" b="0">
                <a:solidFill>
                  <a:srgbClr val="464D5C"/>
                </a:solidFill>
                <a:latin typeface="Pretendard"/>
                <a:ea typeface="Pretendard"/>
                <a:cs typeface="Pretendard"/>
              </a:defRPr>
            </a:pPr>
            <a:r>
              <a:rPr sz="1250" b="0">
                <a:solidFill>
                  <a:srgbClr val="464D5C"/>
                </a:solidFill>
                <a:latin typeface="Pretendard"/>
                <a:ea typeface="Pretendard"/>
                <a:cs typeface="Pretendard"/>
              </a:rPr>
              <a:t>소년법 제2조·제4조 제1항 제3호</a:t>
            </a:r>
          </a:p>
        </p:txBody>
      </p:sp>
      <p:sp>
        <p:nvSpPr>
          <p:cNvPr id="11" name="requirement_rule_1">
            <a:extLst xmlns:a="http://schemas.openxmlformats.org/drawingml/2006/main">
              <a:ext uri="{FF2B5EF4-FFF2-40B4-BE49-F238E27FC236}">
                <a16:creationId xmlns:a16="http://schemas.microsoft.com/office/drawing/2014/main" id="{7288230C-24C0-4F88-9A21-C22676383D67}"/>
              </a:ext>
            </a:extLst>
          </p:cNvPr>
          <p:cNvSpPr>
            <a:spLocks xmlns:a="http://schemas.openxmlformats.org/drawingml/2006/main" noGrp="1"/>
          </p:cNvSpPr>
          <p:nvPr/>
        </p:nvSpPr>
        <p:spPr>
          <a:xfrm xmlns:a="http://schemas.openxmlformats.org/drawingml/2006/main">
            <a:off x="4398264" y="2590800"/>
            <a:ext cx="3392424" cy="38100"/>
          </a:xfrm>
          <a:prstGeom xmlns:a="http://schemas.openxmlformats.org/drawingml/2006/main" prst="rect">
            <a:avLst/>
          </a:prstGeom>
          <a:solidFill xmlns:a="http://schemas.openxmlformats.org/drawingml/2006/main">
            <a:srgbClr val="5A6699"/>
          </a:solidFill>
          <a:ln xmlns:a="http://schemas.openxmlformats.org/drawingml/2006/main" w="0">
            <a:noFill/>
          </a:ln>
        </p:spPr>
      </p:sp>
      <p:sp>
        <p:nvSpPr>
          <p:cNvPr id="12" name="number_1">
            <a:extLst xmlns:a="http://schemas.openxmlformats.org/drawingml/2006/main">
              <a:ext uri="{FF2B5EF4-FFF2-40B4-BE49-F238E27FC236}">
                <a16:creationId xmlns:a16="http://schemas.microsoft.com/office/drawing/2014/main" id="{3DA8896B-A443-4D45-BB10-9527ED3B58F4}"/>
              </a:ext>
            </a:extLst>
          </p:cNvPr>
          <p:cNvSpPr>
            <a:spLocks xmlns:a="http://schemas.openxmlformats.org/drawingml/2006/main" noGrp="1"/>
          </p:cNvSpPr>
          <p:nvPr/>
        </p:nvSpPr>
        <p:spPr>
          <a:xfrm xmlns:a="http://schemas.openxmlformats.org/drawingml/2006/main">
            <a:off x="4398264" y="2762250"/>
            <a:ext cx="3392424"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buNone/>
              <a:defRPr sz="1050" b="0">
                <a:solidFill>
                  <a:srgbClr val="464D5C"/>
                </a:solidFill>
                <a:latin typeface="Pretendard"/>
                <a:ea typeface="Pretendard"/>
                <a:cs typeface="Pretendard"/>
              </a:defRPr>
            </a:pPr>
            <a:r>
              <a:rPr sz="1050" b="0">
                <a:solidFill>
                  <a:srgbClr val="464D5C"/>
                </a:solidFill>
                <a:latin typeface="Pretendard"/>
                <a:ea typeface="Pretendard"/>
                <a:cs typeface="Pretendard"/>
              </a:rPr>
              <a:t>요건 ②</a:t>
            </a:r>
          </a:p>
        </p:txBody>
      </p:sp>
      <p:sp>
        <p:nvSpPr>
          <p:cNvPr id="13" name="requirement_1">
            <a:extLst xmlns:a="http://schemas.openxmlformats.org/drawingml/2006/main">
              <a:ext uri="{FF2B5EF4-FFF2-40B4-BE49-F238E27FC236}">
                <a16:creationId xmlns:a16="http://schemas.microsoft.com/office/drawing/2014/main" id="{847B49AF-A3F0-48BC-AAF5-39B1F484B2B6}"/>
              </a:ext>
            </a:extLst>
          </p:cNvPr>
          <p:cNvSpPr>
            <a:spLocks xmlns:a="http://schemas.openxmlformats.org/drawingml/2006/main" noGrp="1"/>
          </p:cNvSpPr>
          <p:nvPr/>
        </p:nvSpPr>
        <p:spPr>
          <a:xfrm xmlns:a="http://schemas.openxmlformats.org/drawingml/2006/main">
            <a:off x="4398264" y="3162300"/>
            <a:ext cx="3392424"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buNone/>
              <a:defRPr sz="2250" b="1">
                <a:solidFill>
                  <a:srgbClr val="1E2761"/>
                </a:solidFill>
                <a:latin typeface="Pretendard"/>
                <a:ea typeface="Pretendard"/>
                <a:cs typeface="Pretendard"/>
              </a:defRPr>
            </a:pPr>
            <a:r>
              <a:rPr sz="2250" b="1">
                <a:solidFill>
                  <a:srgbClr val="1E2761"/>
                </a:solidFill>
                <a:latin typeface="Pretendard"/>
                <a:ea typeface="Pretendard"/>
                <a:cs typeface="Pretendard"/>
              </a:rPr>
              <a:t>법정 우범사유</a:t>
            </a:r>
          </a:p>
        </p:txBody>
      </p:sp>
      <p:sp>
        <p:nvSpPr>
          <p:cNvPr id="14" name="requirement_detail_1">
            <a:extLst xmlns:a="http://schemas.openxmlformats.org/drawingml/2006/main">
              <a:ext uri="{FF2B5EF4-FFF2-40B4-BE49-F238E27FC236}">
                <a16:creationId xmlns:a16="http://schemas.microsoft.com/office/drawing/2014/main" id="{B8904BF7-66FE-4A11-8EC3-21E332798679}"/>
              </a:ext>
            </a:extLst>
          </p:cNvPr>
          <p:cNvSpPr>
            <a:spLocks xmlns:a="http://schemas.openxmlformats.org/drawingml/2006/main" noGrp="1"/>
          </p:cNvSpPr>
          <p:nvPr/>
        </p:nvSpPr>
        <p:spPr>
          <a:xfrm xmlns:a="http://schemas.openxmlformats.org/drawingml/2006/main">
            <a:off x="4398264" y="3752850"/>
            <a:ext cx="3392424"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5000"/>
              </a:lnSpc>
              <a:buNone/>
              <a:defRPr sz="1250" b="0">
                <a:solidFill>
                  <a:srgbClr val="464D5C"/>
                </a:solidFill>
                <a:latin typeface="Pretendard"/>
                <a:ea typeface="Pretendard"/>
                <a:cs typeface="Pretendard"/>
              </a:defRPr>
            </a:pPr>
            <a:r>
              <a:rPr sz="1250" b="0">
                <a:solidFill>
                  <a:srgbClr val="464D5C"/>
                </a:solidFill>
                <a:latin typeface="Pretendard"/>
                <a:ea typeface="Pretendard"/>
                <a:cs typeface="Pretendard"/>
              </a:rPr>
              <a:t>가목·나목·다목 중</a:t>
            </a:r>
          </a:p>
          <a:p xmlns:a="http://schemas.openxmlformats.org/drawingml/2006/main">
            <a:pPr algn="l">
              <a:lnSpc>
                <a:spcPct val="125000"/>
              </a:lnSpc>
              <a:buNone/>
              <a:defRPr sz="1250" b="0">
                <a:solidFill>
                  <a:srgbClr val="464D5C"/>
                </a:solidFill>
                <a:latin typeface="Pretendard"/>
                <a:ea typeface="Pretendard"/>
                <a:cs typeface="Pretendard"/>
              </a:defRPr>
            </a:pPr>
            <a:r>
              <a:rPr sz="1250" b="0">
                <a:solidFill>
                  <a:srgbClr val="464D5C"/>
                </a:solidFill>
                <a:latin typeface="Pretendard"/>
                <a:ea typeface="Pretendard"/>
                <a:cs typeface="Pretendard"/>
              </a:rPr>
              <a:t>해당하는 사유가 있을 것</a:t>
            </a:r>
          </a:p>
        </p:txBody>
      </p:sp>
      <p:sp>
        <p:nvSpPr>
          <p:cNvPr id="15" name="requirement_rule_2">
            <a:extLst xmlns:a="http://schemas.openxmlformats.org/drawingml/2006/main">
              <a:ext uri="{FF2B5EF4-FFF2-40B4-BE49-F238E27FC236}">
                <a16:creationId xmlns:a16="http://schemas.microsoft.com/office/drawing/2014/main" id="{C7FD1880-AD9A-4FD3-B524-CAAB641F5AD4}"/>
              </a:ext>
            </a:extLst>
          </p:cNvPr>
          <p:cNvSpPr>
            <a:spLocks xmlns:a="http://schemas.openxmlformats.org/drawingml/2006/main" noGrp="1"/>
          </p:cNvSpPr>
          <p:nvPr/>
        </p:nvSpPr>
        <p:spPr>
          <a:xfrm xmlns:a="http://schemas.openxmlformats.org/drawingml/2006/main">
            <a:off x="8065008" y="2590800"/>
            <a:ext cx="3392424" cy="38100"/>
          </a:xfrm>
          <a:prstGeom xmlns:a="http://schemas.openxmlformats.org/drawingml/2006/main" prst="rect">
            <a:avLst/>
          </a:prstGeom>
          <a:solidFill xmlns:a="http://schemas.openxmlformats.org/drawingml/2006/main">
            <a:srgbClr val="5A6699"/>
          </a:solidFill>
          <a:ln xmlns:a="http://schemas.openxmlformats.org/drawingml/2006/main" w="0">
            <a:noFill/>
          </a:ln>
        </p:spPr>
      </p:sp>
      <p:sp>
        <p:nvSpPr>
          <p:cNvPr id="16" name="number_2">
            <a:extLst xmlns:a="http://schemas.openxmlformats.org/drawingml/2006/main">
              <a:ext uri="{FF2B5EF4-FFF2-40B4-BE49-F238E27FC236}">
                <a16:creationId xmlns:a16="http://schemas.microsoft.com/office/drawing/2014/main" id="{668A5A2C-D66D-463D-852D-AB0679A13523}"/>
              </a:ext>
            </a:extLst>
          </p:cNvPr>
          <p:cNvSpPr>
            <a:spLocks xmlns:a="http://schemas.openxmlformats.org/drawingml/2006/main" noGrp="1"/>
          </p:cNvSpPr>
          <p:nvPr/>
        </p:nvSpPr>
        <p:spPr>
          <a:xfrm xmlns:a="http://schemas.openxmlformats.org/drawingml/2006/main">
            <a:off x="8065008" y="2762250"/>
            <a:ext cx="3392424"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buNone/>
              <a:defRPr sz="1050" b="0">
                <a:solidFill>
                  <a:srgbClr val="464D5C"/>
                </a:solidFill>
                <a:latin typeface="Pretendard"/>
                <a:ea typeface="Pretendard"/>
                <a:cs typeface="Pretendard"/>
              </a:defRPr>
            </a:pPr>
            <a:r>
              <a:rPr sz="1050" b="0">
                <a:solidFill>
                  <a:srgbClr val="464D5C"/>
                </a:solidFill>
                <a:latin typeface="Pretendard"/>
                <a:ea typeface="Pretendard"/>
                <a:cs typeface="Pretendard"/>
              </a:rPr>
              <a:t>요건 ③</a:t>
            </a:r>
          </a:p>
        </p:txBody>
      </p:sp>
      <p:sp>
        <p:nvSpPr>
          <p:cNvPr id="17" name="requirement_2">
            <a:extLst xmlns:a="http://schemas.openxmlformats.org/drawingml/2006/main">
              <a:ext uri="{FF2B5EF4-FFF2-40B4-BE49-F238E27FC236}">
                <a16:creationId xmlns:a16="http://schemas.microsoft.com/office/drawing/2014/main" id="{91776E0A-E423-4CA2-BC31-E864DA112BAC}"/>
              </a:ext>
            </a:extLst>
          </p:cNvPr>
          <p:cNvSpPr>
            <a:spLocks xmlns:a="http://schemas.openxmlformats.org/drawingml/2006/main" noGrp="1"/>
          </p:cNvSpPr>
          <p:nvPr/>
        </p:nvSpPr>
        <p:spPr>
          <a:xfrm xmlns:a="http://schemas.openxmlformats.org/drawingml/2006/main">
            <a:off x="8065008" y="3162300"/>
            <a:ext cx="3392424"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buNone/>
              <a:defRPr sz="2250" b="1">
                <a:solidFill>
                  <a:srgbClr val="1E2761"/>
                </a:solidFill>
                <a:latin typeface="Pretendard"/>
                <a:ea typeface="Pretendard"/>
                <a:cs typeface="Pretendard"/>
              </a:defRPr>
            </a:pPr>
            <a:r>
              <a:rPr sz="2250" b="1">
                <a:solidFill>
                  <a:srgbClr val="1E2761"/>
                </a:solidFill>
                <a:latin typeface="Pretendard"/>
                <a:ea typeface="Pretendard"/>
                <a:cs typeface="Pretendard"/>
              </a:rPr>
              <a:t>장래의 우려</a:t>
            </a:r>
          </a:p>
        </p:txBody>
      </p:sp>
      <p:sp>
        <p:nvSpPr>
          <p:cNvPr id="18" name="requirement_detail_2">
            <a:extLst xmlns:a="http://schemas.openxmlformats.org/drawingml/2006/main">
              <a:ext uri="{FF2B5EF4-FFF2-40B4-BE49-F238E27FC236}">
                <a16:creationId xmlns:a16="http://schemas.microsoft.com/office/drawing/2014/main" id="{9680AF71-51D1-4ED0-9F4D-99CA384D34AB}"/>
              </a:ext>
            </a:extLst>
          </p:cNvPr>
          <p:cNvSpPr>
            <a:spLocks xmlns:a="http://schemas.openxmlformats.org/drawingml/2006/main" noGrp="1"/>
          </p:cNvSpPr>
          <p:nvPr/>
        </p:nvSpPr>
        <p:spPr>
          <a:xfrm xmlns:a="http://schemas.openxmlformats.org/drawingml/2006/main">
            <a:off x="8065008" y="3752850"/>
            <a:ext cx="3392424"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5000"/>
              </a:lnSpc>
              <a:buNone/>
              <a:defRPr sz="1250" b="0">
                <a:solidFill>
                  <a:srgbClr val="464D5C"/>
                </a:solidFill>
                <a:latin typeface="Pretendard"/>
                <a:ea typeface="Pretendard"/>
                <a:cs typeface="Pretendard"/>
              </a:defRPr>
            </a:pPr>
            <a:r>
              <a:rPr sz="1250" b="0">
                <a:solidFill>
                  <a:srgbClr val="464D5C"/>
                </a:solidFill>
                <a:latin typeface="Pretendard"/>
                <a:ea typeface="Pretendard"/>
                <a:cs typeface="Pretendard"/>
              </a:rPr>
              <a:t>그의 성격이나 환경에 비추어</a:t>
            </a:r>
          </a:p>
          <a:p xmlns:a="http://schemas.openxmlformats.org/drawingml/2006/main">
            <a:pPr algn="l">
              <a:lnSpc>
                <a:spcPct val="125000"/>
              </a:lnSpc>
              <a:buNone/>
              <a:defRPr sz="1250" b="0">
                <a:solidFill>
                  <a:srgbClr val="464D5C"/>
                </a:solidFill>
                <a:latin typeface="Pretendard"/>
                <a:ea typeface="Pretendard"/>
                <a:cs typeface="Pretendard"/>
              </a:defRPr>
            </a:pPr>
            <a:r>
              <a:rPr sz="1250" b="0">
                <a:solidFill>
                  <a:srgbClr val="464D5C"/>
                </a:solidFill>
                <a:latin typeface="Pretendard"/>
                <a:ea typeface="Pretendard"/>
                <a:cs typeface="Pretendard"/>
              </a:rPr>
              <a:t>앞으로 형벌 법령에 저촉되는</a:t>
            </a:r>
          </a:p>
          <a:p xmlns:a="http://schemas.openxmlformats.org/drawingml/2006/main">
            <a:pPr algn="l">
              <a:lnSpc>
                <a:spcPct val="125000"/>
              </a:lnSpc>
              <a:buNone/>
              <a:defRPr sz="1250" b="0">
                <a:solidFill>
                  <a:srgbClr val="464D5C"/>
                </a:solidFill>
                <a:latin typeface="Pretendard"/>
                <a:ea typeface="Pretendard"/>
                <a:cs typeface="Pretendard"/>
              </a:defRPr>
            </a:pPr>
            <a:r>
              <a:rPr sz="1250" b="0">
                <a:solidFill>
                  <a:srgbClr val="464D5C"/>
                </a:solidFill>
                <a:latin typeface="Pretendard"/>
                <a:ea typeface="Pretendard"/>
                <a:cs typeface="Pretendard"/>
              </a:rPr>
              <a:t>행위를 할 우려가 있을 것</a:t>
            </a:r>
          </a:p>
        </p:txBody>
      </p:sp>
      <p:sp>
        <p:nvSpPr>
          <p:cNvPr id="19" name="plus1">
            <a:extLst xmlns:a="http://schemas.openxmlformats.org/drawingml/2006/main">
              <a:ext uri="{FF2B5EF4-FFF2-40B4-BE49-F238E27FC236}">
                <a16:creationId xmlns:a16="http://schemas.microsoft.com/office/drawing/2014/main" id="{BA79227F-2854-44FD-AA99-367CCE95ECA8}"/>
              </a:ext>
            </a:extLst>
          </p:cNvPr>
          <p:cNvSpPr>
            <a:spLocks xmlns:a="http://schemas.openxmlformats.org/drawingml/2006/main" noGrp="1"/>
          </p:cNvSpPr>
          <p:nvPr/>
        </p:nvSpPr>
        <p:spPr>
          <a:xfrm xmlns:a="http://schemas.openxmlformats.org/drawingml/2006/main">
            <a:off x="4164330" y="3267075"/>
            <a:ext cx="2286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18000"/>
              </a:lnSpc>
              <a:buNone/>
              <a:defRPr sz="1800" b="1">
                <a:solidFill>
                  <a:srgbClr val="C2A648"/>
                </a:solidFill>
                <a:latin typeface="Pretendard"/>
                <a:ea typeface="Pretendard"/>
                <a:cs typeface="Pretendard"/>
              </a:defRPr>
            </a:pPr>
            <a:r>
              <a:rPr sz="1800" b="1">
                <a:solidFill>
                  <a:srgbClr val="C2A648"/>
                </a:solidFill>
                <a:latin typeface="Pretendard"/>
                <a:ea typeface="Pretendard"/>
                <a:cs typeface="Pretendard"/>
              </a:rPr>
              <a:t>+</a:t>
            </a:r>
          </a:p>
        </p:txBody>
      </p:sp>
      <p:sp>
        <p:nvSpPr>
          <p:cNvPr id="20" name="plus2">
            <a:extLst xmlns:a="http://schemas.openxmlformats.org/drawingml/2006/main">
              <a:ext uri="{FF2B5EF4-FFF2-40B4-BE49-F238E27FC236}">
                <a16:creationId xmlns:a16="http://schemas.microsoft.com/office/drawing/2014/main" id="{5D3BF765-7A98-43AA-8B6F-485478705163}"/>
              </a:ext>
            </a:extLst>
          </p:cNvPr>
          <p:cNvSpPr>
            <a:spLocks xmlns:a="http://schemas.openxmlformats.org/drawingml/2006/main" noGrp="1"/>
          </p:cNvSpPr>
          <p:nvPr/>
        </p:nvSpPr>
        <p:spPr>
          <a:xfrm xmlns:a="http://schemas.openxmlformats.org/drawingml/2006/main">
            <a:off x="7831074" y="3267075"/>
            <a:ext cx="2286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18000"/>
              </a:lnSpc>
              <a:buNone/>
              <a:defRPr sz="1800" b="1">
                <a:solidFill>
                  <a:srgbClr val="C2A648"/>
                </a:solidFill>
                <a:latin typeface="Pretendard"/>
                <a:ea typeface="Pretendard"/>
                <a:cs typeface="Pretendard"/>
              </a:defRPr>
            </a:pPr>
            <a:r>
              <a:rPr sz="1800" b="1">
                <a:solidFill>
                  <a:srgbClr val="C2A648"/>
                </a:solidFill>
                <a:latin typeface="Pretendard"/>
                <a:ea typeface="Pretendard"/>
                <a:cs typeface="Pretendard"/>
              </a:rPr>
              <a:t>+</a:t>
            </a:r>
          </a:p>
        </p:txBody>
      </p:sp>
      <p:sp>
        <p:nvSpPr>
          <p:cNvPr id="21" name="judge_rule">
            <a:extLst xmlns:a="http://schemas.openxmlformats.org/drawingml/2006/main">
              <a:ext uri="{FF2B5EF4-FFF2-40B4-BE49-F238E27FC236}">
                <a16:creationId xmlns:a16="http://schemas.microsoft.com/office/drawing/2014/main" id="{29F65360-4477-4760-B354-530B7ECCD5D1}"/>
              </a:ext>
            </a:extLst>
          </p:cNvPr>
          <p:cNvSpPr>
            <a:spLocks xmlns:a="http://schemas.openxmlformats.org/drawingml/2006/main" noGrp="1"/>
          </p:cNvSpPr>
          <p:nvPr/>
        </p:nvSpPr>
        <p:spPr>
          <a:xfrm xmlns:a="http://schemas.openxmlformats.org/drawingml/2006/main">
            <a:off x="731520" y="4848225"/>
            <a:ext cx="10726103" cy="9525"/>
          </a:xfrm>
          <a:prstGeom xmlns:a="http://schemas.openxmlformats.org/drawingml/2006/main" prst="rect">
            <a:avLst/>
          </a:prstGeom>
          <a:solidFill xmlns:a="http://schemas.openxmlformats.org/drawingml/2006/main">
            <a:srgbClr val="DCE0E8"/>
          </a:solidFill>
          <a:ln xmlns:a="http://schemas.openxmlformats.org/drawingml/2006/main" w="0">
            <a:noFill/>
          </a:ln>
        </p:spPr>
      </p:sp>
      <p:sp>
        <p:nvSpPr>
          <p:cNvPr id="22" name="judge_label">
            <a:extLst xmlns:a="http://schemas.openxmlformats.org/drawingml/2006/main">
              <a:ext uri="{FF2B5EF4-FFF2-40B4-BE49-F238E27FC236}">
                <a16:creationId xmlns:a16="http://schemas.microsoft.com/office/drawing/2014/main" id="{36249945-E901-4788-9BEB-B407CD56799D}"/>
              </a:ext>
            </a:extLst>
          </p:cNvPr>
          <p:cNvSpPr>
            <a:spLocks xmlns:a="http://schemas.openxmlformats.org/drawingml/2006/main" noGrp="1"/>
          </p:cNvSpPr>
          <p:nvPr/>
        </p:nvSpPr>
        <p:spPr>
          <a:xfrm xmlns:a="http://schemas.openxmlformats.org/drawingml/2006/main">
            <a:off x="731520" y="5076825"/>
            <a:ext cx="1714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buNone/>
              <a:defRPr sz="1300" b="1">
                <a:solidFill>
                  <a:srgbClr val="1E2761"/>
                </a:solidFill>
                <a:latin typeface="Pretendard"/>
                <a:ea typeface="Pretendard"/>
                <a:cs typeface="Pretendard"/>
              </a:defRPr>
            </a:pPr>
            <a:r>
              <a:rPr sz="1300" b="1">
                <a:solidFill>
                  <a:srgbClr val="1E2761"/>
                </a:solidFill>
                <a:latin typeface="Pretendard"/>
                <a:ea typeface="Pretendard"/>
                <a:cs typeface="Pretendard"/>
              </a:rPr>
              <a:t>판단의 단계</a:t>
            </a:r>
          </a:p>
        </p:txBody>
      </p:sp>
      <p:sp>
        <p:nvSpPr>
          <p:cNvPr id="23" name="judge_detail">
            <a:extLst xmlns:a="http://schemas.openxmlformats.org/drawingml/2006/main">
              <a:ext uri="{FF2B5EF4-FFF2-40B4-BE49-F238E27FC236}">
                <a16:creationId xmlns:a16="http://schemas.microsoft.com/office/drawing/2014/main" id="{9A870D3A-00DA-4077-9CA1-C8F4C15B0B9D}"/>
              </a:ext>
            </a:extLst>
          </p:cNvPr>
          <p:cNvSpPr>
            <a:spLocks xmlns:a="http://schemas.openxmlformats.org/drawingml/2006/main" noGrp="1"/>
          </p:cNvSpPr>
          <p:nvPr/>
        </p:nvSpPr>
        <p:spPr>
          <a:xfrm xmlns:a="http://schemas.openxmlformats.org/drawingml/2006/main">
            <a:off x="2495550" y="5076825"/>
            <a:ext cx="89630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buNone/>
              <a:defRPr sz="1250" b="0">
                <a:solidFill>
                  <a:srgbClr val="222633"/>
                </a:solidFill>
                <a:latin typeface="Pretendard"/>
                <a:ea typeface="Pretendard"/>
                <a:cs typeface="Pretendard"/>
              </a:defRPr>
            </a:pPr>
            <a:r>
              <a:rPr sz="1250" b="0">
                <a:solidFill>
                  <a:srgbClr val="222633"/>
                </a:solidFill>
                <a:latin typeface="Pretendard"/>
                <a:ea typeface="Pretendard"/>
                <a:cs typeface="Pretendard"/>
              </a:rPr>
              <a:t>경찰서장이 송치 전 요건을 판단하고, 소년부 판사가 조사·심리를 통해 요건과 처분 필요성을 판단한다.</a:t>
            </a:r>
          </a:p>
        </p:txBody>
      </p:sp>
      <p:sp>
        <p:nvSpPr>
          <p:cNvPr id="24" name="conclusion_top">
            <a:extLst xmlns:a="http://schemas.openxmlformats.org/drawingml/2006/main">
              <a:ext uri="{FF2B5EF4-FFF2-40B4-BE49-F238E27FC236}">
                <a16:creationId xmlns:a16="http://schemas.microsoft.com/office/drawing/2014/main" id="{C54775CE-9120-4ED1-A40F-7451D9A1EA2A}"/>
              </a:ext>
            </a:extLst>
          </p:cNvPr>
          <p:cNvSpPr>
            <a:spLocks xmlns:a="http://schemas.openxmlformats.org/drawingml/2006/main" noGrp="1"/>
          </p:cNvSpPr>
          <p:nvPr/>
        </p:nvSpPr>
        <p:spPr>
          <a:xfrm xmlns:a="http://schemas.openxmlformats.org/drawingml/2006/main">
            <a:off x="731520" y="5532120"/>
            <a:ext cx="10726103" cy="9525"/>
          </a:xfrm>
          <a:prstGeom xmlns:a="http://schemas.openxmlformats.org/drawingml/2006/main" prst="rect">
            <a:avLst/>
          </a:prstGeom>
          <a:solidFill xmlns:a="http://schemas.openxmlformats.org/drawingml/2006/main">
            <a:srgbClr val="DCE0E8"/>
          </a:solidFill>
          <a:ln xmlns:a="http://schemas.openxmlformats.org/drawingml/2006/main" w="0">
            <a:noFill/>
          </a:ln>
        </p:spPr>
      </p:sp>
      <p:sp>
        <p:nvSpPr>
          <p:cNvPr id="25" name="conclusion">
            <a:extLst xmlns:a="http://schemas.openxmlformats.org/drawingml/2006/main">
              <a:ext uri="{FF2B5EF4-FFF2-40B4-BE49-F238E27FC236}">
                <a16:creationId xmlns:a16="http://schemas.microsoft.com/office/drawing/2014/main" id="{B655265E-FA4F-4F6E-AB87-AC3F34526E1F}"/>
              </a:ext>
            </a:extLst>
          </p:cNvPr>
          <p:cNvSpPr>
            <a:spLocks xmlns:a="http://schemas.openxmlformats.org/drawingml/2006/main" noGrp="1"/>
          </p:cNvSpPr>
          <p:nvPr/>
        </p:nvSpPr>
        <p:spPr>
          <a:xfrm xmlns:a="http://schemas.openxmlformats.org/drawingml/2006/main">
            <a:off x="731520" y="5743575"/>
            <a:ext cx="10726103"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buNone/>
              <a:defRPr sz="1300" b="1">
                <a:solidFill>
                  <a:srgbClr val="1E2761"/>
                </a:solidFill>
                <a:latin typeface="Pretendard"/>
                <a:ea typeface="Pretendard"/>
                <a:cs typeface="Pretendard"/>
              </a:defRPr>
            </a:pPr>
            <a:r>
              <a:rPr sz="1300" b="1">
                <a:solidFill>
                  <a:srgbClr val="1E2761"/>
                </a:solidFill>
                <a:latin typeface="Pretendard"/>
                <a:ea typeface="Pretendard"/>
                <a:cs typeface="Pretendard"/>
              </a:rPr>
              <a:t>가출 사실만으로는 충분하지 않다. 법정 사유에 해당하는지와 장래 범법 우려를 함께 확인해야 한다.</a:t>
            </a:r>
          </a:p>
        </p:txBody>
      </p:sp>
      <p:sp>
        <p:nvSpPr>
          <p:cNvPr id="26" name="conclusion_bottom">
            <a:extLst xmlns:a="http://schemas.openxmlformats.org/drawingml/2006/main">
              <a:ext uri="{FF2B5EF4-FFF2-40B4-BE49-F238E27FC236}">
                <a16:creationId xmlns:a16="http://schemas.microsoft.com/office/drawing/2014/main" id="{29D979D1-DEC0-4ADD-89F7-D0F1CBBCB8AB}"/>
              </a:ext>
            </a:extLst>
          </p:cNvPr>
          <p:cNvSpPr>
            <a:spLocks xmlns:a="http://schemas.openxmlformats.org/drawingml/2006/main" noGrp="1"/>
          </p:cNvSpPr>
          <p:nvPr/>
        </p:nvSpPr>
        <p:spPr>
          <a:xfrm xmlns:a="http://schemas.openxmlformats.org/drawingml/2006/main">
            <a:off x="731520" y="6144578"/>
            <a:ext cx="10726103" cy="16193"/>
          </a:xfrm>
          <a:prstGeom xmlns:a="http://schemas.openxmlformats.org/drawingml/2006/main" prst="rect">
            <a:avLst/>
          </a:prstGeom>
          <a:solidFill xmlns:a="http://schemas.openxmlformats.org/drawingml/2006/main">
            <a:srgbClr val="1E2761"/>
          </a:solidFill>
          <a:ln xmlns:a="http://schemas.openxmlformats.org/drawingml/2006/main" w="0">
            <a:noFill/>
          </a:ln>
        </p:spPr>
      </p:sp>
    </p:spTree>
    <p:extLst>
      <p:ext uri="{BB962C8B-B14F-4D97-AF65-F5344CB8AC3E}">
        <p14:creationId xmlns:p14="http://schemas.microsoft.com/office/powerpoint/2010/main" val="168392815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chapter">
            <a:extLst xmlns:a="http://schemas.openxmlformats.org/drawingml/2006/main">
              <a:ext uri="{FF2B5EF4-FFF2-40B4-BE49-F238E27FC236}">
                <a16:creationId xmlns:a16="http://schemas.microsoft.com/office/drawing/2014/main" id="{9B0163F4-3249-4B27-A1EE-E84FB0953276}"/>
              </a:ext>
            </a:extLst>
          </p:cNvPr>
          <p:cNvSpPr>
            <a:spLocks xmlns:a="http://schemas.openxmlformats.org/drawingml/2006/main" noGrp="1"/>
          </p:cNvSpPr>
          <p:nvPr/>
        </p:nvSpPr>
        <p:spPr>
          <a:xfrm xmlns:a="http://schemas.openxmlformats.org/drawingml/2006/main">
            <a:off x="731520" y="36576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buNone/>
              <a:defRPr sz="1250" b="1">
                <a:solidFill>
                  <a:srgbClr val="464D5C"/>
                </a:solidFill>
                <a:latin typeface="Pretendard"/>
                <a:ea typeface="Pretendard"/>
                <a:cs typeface="Pretendard"/>
              </a:defRPr>
            </a:pPr>
            <a:r>
              <a:rPr sz="1250" b="1" spc="200">
                <a:solidFill>
                  <a:srgbClr val="464D5C"/>
                </a:solidFill>
                <a:latin typeface="Pretendard"/>
                <a:ea typeface="Pretendard"/>
                <a:cs typeface="Pretendard"/>
              </a:rPr>
              <a:t>1. 논제의 대상과 현행 우범소년 제도</a:t>
            </a:r>
          </a:p>
        </p:txBody>
      </p:sp>
      <p:sp>
        <p:nvSpPr>
          <p:cNvPr id="2" name="next">
            <a:extLst xmlns:a="http://schemas.openxmlformats.org/drawingml/2006/main">
              <a:ext uri="{FF2B5EF4-FFF2-40B4-BE49-F238E27FC236}">
                <a16:creationId xmlns:a16="http://schemas.microsoft.com/office/drawing/2014/main" id="{C8A4C9FE-C930-4C9F-BEA1-7EBCCD3CF4F4}"/>
              </a:ext>
            </a:extLst>
          </p:cNvPr>
          <p:cNvSpPr>
            <a:spLocks xmlns:a="http://schemas.openxmlformats.org/drawingml/2006/main" noGrp="1"/>
          </p:cNvSpPr>
          <p:nvPr/>
        </p:nvSpPr>
        <p:spPr>
          <a:xfrm xmlns:a="http://schemas.openxmlformats.org/drawingml/2006/main">
            <a:off x="6191250" y="383858"/>
            <a:ext cx="526351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18000"/>
              </a:lnSpc>
              <a:buNone/>
              <a:defRPr sz="1050" b="0">
                <a:solidFill>
                  <a:srgbClr val="6E7686"/>
                </a:solidFill>
                <a:latin typeface="Pretendard"/>
                <a:ea typeface="Pretendard"/>
                <a:cs typeface="Pretendard"/>
              </a:defRPr>
            </a:pPr>
            <a:r>
              <a:rPr sz="1050" b="0">
                <a:solidFill>
                  <a:srgbClr val="6E7686"/>
                </a:solidFill>
                <a:latin typeface="Pretendard"/>
                <a:ea typeface="Pretendard"/>
                <a:cs typeface="Pretendard"/>
              </a:rPr>
              <a:t>다음 → 성착취 피해 위험과 장래 범법 우려</a:t>
            </a:r>
          </a:p>
        </p:txBody>
      </p:sp>
      <p:sp>
        <p:nvSpPr>
          <p:cNvPr id="3" name="title">
            <a:extLst xmlns:a="http://schemas.openxmlformats.org/drawingml/2006/main">
              <a:ext uri="{FF2B5EF4-FFF2-40B4-BE49-F238E27FC236}">
                <a16:creationId xmlns:a16="http://schemas.microsoft.com/office/drawing/2014/main" id="{34E71101-1246-4A12-80E8-0D8D2E01EC74}"/>
              </a:ext>
            </a:extLst>
          </p:cNvPr>
          <p:cNvSpPr>
            <a:spLocks xmlns:a="http://schemas.openxmlformats.org/drawingml/2006/main" noGrp="1"/>
          </p:cNvSpPr>
          <p:nvPr/>
        </p:nvSpPr>
        <p:spPr>
          <a:xfrm xmlns:a="http://schemas.openxmlformats.org/drawingml/2006/main">
            <a:off x="731520" y="762000"/>
            <a:ext cx="10726103"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buNone/>
              <a:defRPr sz="2750" b="1">
                <a:solidFill>
                  <a:srgbClr val="1E2761"/>
                </a:solidFill>
                <a:latin typeface="Pretendard"/>
                <a:ea typeface="Pretendard"/>
                <a:cs typeface="Pretendard"/>
              </a:defRPr>
            </a:pPr>
            <a:r>
              <a:rPr sz="2750" b="1">
                <a:solidFill>
                  <a:srgbClr val="1E2761"/>
                </a:solidFill>
                <a:latin typeface="Pretendard"/>
                <a:ea typeface="Pretendard"/>
                <a:cs typeface="Pretendard"/>
              </a:rPr>
              <a:t>가출과 법정 우범사유</a:t>
            </a:r>
          </a:p>
        </p:txBody>
      </p:sp>
      <p:sp>
        <p:nvSpPr>
          <p:cNvPr id="4" name="summary_bg">
            <a:extLst xmlns:a="http://schemas.openxmlformats.org/drawingml/2006/main">
              <a:ext uri="{FF2B5EF4-FFF2-40B4-BE49-F238E27FC236}">
                <a16:creationId xmlns:a16="http://schemas.microsoft.com/office/drawing/2014/main" id="{C8855BAA-4E95-49CC-86BC-AF17877D1978}"/>
              </a:ext>
            </a:extLst>
          </p:cNvPr>
          <p:cNvSpPr>
            <a:spLocks xmlns:a="http://schemas.openxmlformats.org/drawingml/2006/main" noGrp="1"/>
          </p:cNvSpPr>
          <p:nvPr/>
        </p:nvSpPr>
        <p:spPr>
          <a:xfrm xmlns:a="http://schemas.openxmlformats.org/drawingml/2006/main">
            <a:off x="731520" y="1417320"/>
            <a:ext cx="10726103" cy="548640"/>
          </a:xfrm>
          <a:prstGeom xmlns:a="http://schemas.openxmlformats.org/drawingml/2006/main" prst="rect">
            <a:avLst/>
          </a:prstGeom>
          <a:solidFill xmlns:a="http://schemas.openxmlformats.org/drawingml/2006/main">
            <a:srgbClr val="F2F4F8"/>
          </a:solidFill>
          <a:ln xmlns:a="http://schemas.openxmlformats.org/drawingml/2006/main" w="0">
            <a:noFill/>
          </a:ln>
        </p:spPr>
      </p:sp>
      <p:sp>
        <p:nvSpPr>
          <p:cNvPr id="5" name="summary_marker">
            <a:extLst xmlns:a="http://schemas.openxmlformats.org/drawingml/2006/main">
              <a:ext uri="{FF2B5EF4-FFF2-40B4-BE49-F238E27FC236}">
                <a16:creationId xmlns:a16="http://schemas.microsoft.com/office/drawing/2014/main" id="{132E77DE-3619-49D0-80A2-502DC052C375}"/>
              </a:ext>
            </a:extLst>
          </p:cNvPr>
          <p:cNvSpPr>
            <a:spLocks xmlns:a="http://schemas.openxmlformats.org/drawingml/2006/main" noGrp="1"/>
          </p:cNvSpPr>
          <p:nvPr/>
        </p:nvSpPr>
        <p:spPr>
          <a:xfrm xmlns:a="http://schemas.openxmlformats.org/drawingml/2006/main">
            <a:off x="731520" y="1417320"/>
            <a:ext cx="47625" cy="548640"/>
          </a:xfrm>
          <a:prstGeom xmlns:a="http://schemas.openxmlformats.org/drawingml/2006/main" prst="rect">
            <a:avLst/>
          </a:prstGeom>
          <a:solidFill xmlns:a="http://schemas.openxmlformats.org/drawingml/2006/main">
            <a:srgbClr val="1E2761"/>
          </a:solidFill>
          <a:ln xmlns:a="http://schemas.openxmlformats.org/drawingml/2006/main" w="0">
            <a:noFill/>
          </a:ln>
        </p:spPr>
      </p:sp>
      <p:sp>
        <p:nvSpPr>
          <p:cNvPr id="6" name="summary">
            <a:extLst xmlns:a="http://schemas.openxmlformats.org/drawingml/2006/main">
              <a:ext uri="{FF2B5EF4-FFF2-40B4-BE49-F238E27FC236}">
                <a16:creationId xmlns:a16="http://schemas.microsoft.com/office/drawing/2014/main" id="{7D06D34B-5E04-4942-80D6-76B247BFE079}"/>
              </a:ext>
            </a:extLst>
          </p:cNvPr>
          <p:cNvSpPr>
            <a:spLocks xmlns:a="http://schemas.openxmlformats.org/drawingml/2006/main" noGrp="1"/>
          </p:cNvSpPr>
          <p:nvPr/>
        </p:nvSpPr>
        <p:spPr>
          <a:xfrm xmlns:a="http://schemas.openxmlformats.org/drawingml/2006/main">
            <a:off x="1005840" y="1600200"/>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buNone/>
              <a:defRPr sz="1300" b="1">
                <a:solidFill>
                  <a:srgbClr val="1E2761"/>
                </a:solidFill>
                <a:latin typeface="Pretendard"/>
                <a:ea typeface="Pretendard"/>
                <a:cs typeface="Pretendard"/>
              </a:defRPr>
            </a:pPr>
            <a:r>
              <a:rPr sz="1300" b="1">
                <a:solidFill>
                  <a:srgbClr val="1E2761"/>
                </a:solidFill>
                <a:latin typeface="Pretendard"/>
                <a:ea typeface="Pretendard"/>
                <a:cs typeface="Pretendard"/>
              </a:rPr>
              <a:t>가출에 관한 나목은 “정당한 이유 없이 가출하는 것”을 법정 우범사유로 정한다</a:t>
            </a:r>
          </a:p>
        </p:txBody>
      </p:sp>
      <p:sp>
        <p:nvSpPr>
          <p:cNvPr id="7" name="legal_table_start">
            <a:extLst xmlns:a="http://schemas.openxmlformats.org/drawingml/2006/main">
              <a:ext uri="{FF2B5EF4-FFF2-40B4-BE49-F238E27FC236}">
                <a16:creationId xmlns:a16="http://schemas.microsoft.com/office/drawing/2014/main" id="{C48B654A-EE4A-4917-B1AB-3D9185DE3EEF}"/>
              </a:ext>
            </a:extLst>
          </p:cNvPr>
          <p:cNvSpPr>
            <a:spLocks xmlns:a="http://schemas.openxmlformats.org/drawingml/2006/main" noGrp="1"/>
          </p:cNvSpPr>
          <p:nvPr/>
        </p:nvSpPr>
        <p:spPr>
          <a:xfrm xmlns:a="http://schemas.openxmlformats.org/drawingml/2006/main">
            <a:off x="731520" y="2228850"/>
            <a:ext cx="10726103" cy="16193"/>
          </a:xfrm>
          <a:prstGeom xmlns:a="http://schemas.openxmlformats.org/drawingml/2006/main" prst="rect">
            <a:avLst/>
          </a:prstGeom>
          <a:solidFill xmlns:a="http://schemas.openxmlformats.org/drawingml/2006/main">
            <a:srgbClr val="5A6699"/>
          </a:solidFill>
          <a:ln xmlns:a="http://schemas.openxmlformats.org/drawingml/2006/main" w="0">
            <a:noFill/>
          </a:ln>
        </p:spPr>
      </p:sp>
      <p:sp>
        <p:nvSpPr>
          <p:cNvPr id="8" name="runaway_highlight">
            <a:extLst xmlns:a="http://schemas.openxmlformats.org/drawingml/2006/main">
              <a:ext uri="{FF2B5EF4-FFF2-40B4-BE49-F238E27FC236}">
                <a16:creationId xmlns:a16="http://schemas.microsoft.com/office/drawing/2014/main" id="{DCD51238-6DD3-4C8C-A20B-3993A119015E}"/>
              </a:ext>
            </a:extLst>
          </p:cNvPr>
          <p:cNvSpPr>
            <a:spLocks xmlns:a="http://schemas.openxmlformats.org/drawingml/2006/main" noGrp="1"/>
          </p:cNvSpPr>
          <p:nvPr/>
        </p:nvSpPr>
        <p:spPr>
          <a:xfrm xmlns:a="http://schemas.openxmlformats.org/drawingml/2006/main">
            <a:off x="731520" y="3200400"/>
            <a:ext cx="10726103" cy="876300"/>
          </a:xfrm>
          <a:prstGeom xmlns:a="http://schemas.openxmlformats.org/drawingml/2006/main" prst="rect">
            <a:avLst/>
          </a:prstGeom>
          <a:solidFill xmlns:a="http://schemas.openxmlformats.org/drawingml/2006/main">
            <a:srgbClr val="F2F4F8"/>
          </a:solidFill>
          <a:ln xmlns:a="http://schemas.openxmlformats.org/drawingml/2006/main" w="0">
            <a:noFill/>
          </a:ln>
        </p:spPr>
      </p:sp>
      <p:sp>
        <p:nvSpPr>
          <p:cNvPr id="9" name="legal_label_0">
            <a:extLst xmlns:a="http://schemas.openxmlformats.org/drawingml/2006/main">
              <a:ext uri="{FF2B5EF4-FFF2-40B4-BE49-F238E27FC236}">
                <a16:creationId xmlns:a16="http://schemas.microsoft.com/office/drawing/2014/main" id="{DD652307-7F42-439B-9141-91ED99D78612}"/>
              </a:ext>
            </a:extLst>
          </p:cNvPr>
          <p:cNvSpPr>
            <a:spLocks xmlns:a="http://schemas.openxmlformats.org/drawingml/2006/main" noGrp="1"/>
          </p:cNvSpPr>
          <p:nvPr/>
        </p:nvSpPr>
        <p:spPr>
          <a:xfrm xmlns:a="http://schemas.openxmlformats.org/drawingml/2006/main">
            <a:off x="971550" y="2447925"/>
            <a:ext cx="1285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18000"/>
              </a:lnSpc>
              <a:buNone/>
              <a:defRPr sz="1300" b="1">
                <a:solidFill>
                  <a:srgbClr val="1E2761"/>
                </a:solidFill>
                <a:latin typeface="Pretendard"/>
                <a:ea typeface="Pretendard"/>
                <a:cs typeface="Pretendard"/>
              </a:defRPr>
            </a:pPr>
            <a:r>
              <a:rPr sz="1300" b="1">
                <a:solidFill>
                  <a:srgbClr val="1E2761"/>
                </a:solidFill>
                <a:latin typeface="Pretendard"/>
                <a:ea typeface="Pretendard"/>
                <a:cs typeface="Pretendard"/>
              </a:rPr>
              <a:t>가목</a:t>
            </a:r>
          </a:p>
        </p:txBody>
      </p:sp>
      <p:sp>
        <p:nvSpPr>
          <p:cNvPr id="10" name="legal_text_0">
            <a:extLst xmlns:a="http://schemas.openxmlformats.org/drawingml/2006/main">
              <a:ext uri="{FF2B5EF4-FFF2-40B4-BE49-F238E27FC236}">
                <a16:creationId xmlns:a16="http://schemas.microsoft.com/office/drawing/2014/main" id="{8D7B2B76-2487-4D78-9436-5ADE9991A574}"/>
              </a:ext>
            </a:extLst>
          </p:cNvPr>
          <p:cNvSpPr>
            <a:spLocks xmlns:a="http://schemas.openxmlformats.org/drawingml/2006/main" noGrp="1"/>
          </p:cNvSpPr>
          <p:nvPr/>
        </p:nvSpPr>
        <p:spPr>
          <a:xfrm xmlns:a="http://schemas.openxmlformats.org/drawingml/2006/main">
            <a:off x="2428875" y="2447925"/>
            <a:ext cx="881062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buNone/>
              <a:defRPr sz="1400" b="0">
                <a:solidFill>
                  <a:srgbClr val="222633"/>
                </a:solidFill>
                <a:latin typeface="Pretendard"/>
                <a:ea typeface="Pretendard"/>
                <a:cs typeface="Pretendard"/>
              </a:defRPr>
            </a:pPr>
            <a:r>
              <a:rPr sz="1400" b="0">
                <a:solidFill>
                  <a:srgbClr val="222633"/>
                </a:solidFill>
                <a:latin typeface="Pretendard"/>
                <a:ea typeface="Pretendard"/>
                <a:cs typeface="Pretendard"/>
              </a:rPr>
              <a:t>집단적으로 몰려다니며 주위 사람들에게 불안감을 조성하는 성벽(性癖)이 있는 것</a:t>
            </a:r>
          </a:p>
        </p:txBody>
      </p:sp>
      <p:sp>
        <p:nvSpPr>
          <p:cNvPr id="11" name="row_rule_0">
            <a:extLst xmlns:a="http://schemas.openxmlformats.org/drawingml/2006/main">
              <a:ext uri="{FF2B5EF4-FFF2-40B4-BE49-F238E27FC236}">
                <a16:creationId xmlns:a16="http://schemas.microsoft.com/office/drawing/2014/main" id="{2F33D1A1-7852-49AA-AE08-8E1E2692C53D}"/>
              </a:ext>
            </a:extLst>
          </p:cNvPr>
          <p:cNvSpPr>
            <a:spLocks xmlns:a="http://schemas.openxmlformats.org/drawingml/2006/main" noGrp="1"/>
          </p:cNvSpPr>
          <p:nvPr/>
        </p:nvSpPr>
        <p:spPr>
          <a:xfrm xmlns:a="http://schemas.openxmlformats.org/drawingml/2006/main">
            <a:off x="731520" y="3133725"/>
            <a:ext cx="10726103" cy="9525"/>
          </a:xfrm>
          <a:prstGeom xmlns:a="http://schemas.openxmlformats.org/drawingml/2006/main" prst="rect">
            <a:avLst/>
          </a:prstGeom>
          <a:solidFill xmlns:a="http://schemas.openxmlformats.org/drawingml/2006/main">
            <a:srgbClr val="DCE0E8"/>
          </a:solidFill>
          <a:ln xmlns:a="http://schemas.openxmlformats.org/drawingml/2006/main" w="0">
            <a:noFill/>
          </a:ln>
        </p:spPr>
      </p:sp>
      <p:sp>
        <p:nvSpPr>
          <p:cNvPr id="12" name="legal_label_1">
            <a:extLst xmlns:a="http://schemas.openxmlformats.org/drawingml/2006/main">
              <a:ext uri="{FF2B5EF4-FFF2-40B4-BE49-F238E27FC236}">
                <a16:creationId xmlns:a16="http://schemas.microsoft.com/office/drawing/2014/main" id="{D22D3AC2-3C4C-4323-BD27-9187434D40F8}"/>
              </a:ext>
            </a:extLst>
          </p:cNvPr>
          <p:cNvSpPr>
            <a:spLocks xmlns:a="http://schemas.openxmlformats.org/drawingml/2006/main" noGrp="1"/>
          </p:cNvSpPr>
          <p:nvPr/>
        </p:nvSpPr>
        <p:spPr>
          <a:xfrm xmlns:a="http://schemas.openxmlformats.org/drawingml/2006/main">
            <a:off x="971550" y="3371850"/>
            <a:ext cx="1285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18000"/>
              </a:lnSpc>
              <a:buNone/>
              <a:defRPr sz="1300" b="1">
                <a:solidFill>
                  <a:srgbClr val="A8871C"/>
                </a:solidFill>
                <a:latin typeface="Pretendard"/>
                <a:ea typeface="Pretendard"/>
                <a:cs typeface="Pretendard"/>
              </a:defRPr>
            </a:pPr>
            <a:r>
              <a:rPr sz="1300" b="1">
                <a:solidFill>
                  <a:srgbClr val="A8871C"/>
                </a:solidFill>
                <a:latin typeface="Pretendard"/>
                <a:ea typeface="Pretendard"/>
                <a:cs typeface="Pretendard"/>
              </a:rPr>
              <a:t>나목</a:t>
            </a:r>
          </a:p>
        </p:txBody>
      </p:sp>
      <p:sp>
        <p:nvSpPr>
          <p:cNvPr id="13" name="legal_text_1">
            <a:extLst xmlns:a="http://schemas.openxmlformats.org/drawingml/2006/main">
              <a:ext uri="{FF2B5EF4-FFF2-40B4-BE49-F238E27FC236}">
                <a16:creationId xmlns:a16="http://schemas.microsoft.com/office/drawing/2014/main" id="{611B36ED-BDBF-4E4E-8B94-A3D150EF4B68}"/>
              </a:ext>
            </a:extLst>
          </p:cNvPr>
          <p:cNvSpPr>
            <a:spLocks xmlns:a="http://schemas.openxmlformats.org/drawingml/2006/main" noGrp="1"/>
          </p:cNvSpPr>
          <p:nvPr/>
        </p:nvSpPr>
        <p:spPr>
          <a:xfrm xmlns:a="http://schemas.openxmlformats.org/drawingml/2006/main">
            <a:off x="2428875" y="3371850"/>
            <a:ext cx="881062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buNone/>
              <a:defRPr sz="1400" b="1">
                <a:solidFill>
                  <a:srgbClr val="A8871C"/>
                </a:solidFill>
                <a:latin typeface="Pretendard"/>
                <a:ea typeface="Pretendard"/>
                <a:cs typeface="Pretendard"/>
              </a:defRPr>
            </a:pPr>
            <a:r>
              <a:rPr sz="1400" b="1">
                <a:solidFill>
                  <a:srgbClr val="A8871C"/>
                </a:solidFill>
                <a:latin typeface="Pretendard"/>
                <a:ea typeface="Pretendard"/>
                <a:cs typeface="Pretendard"/>
              </a:rPr>
              <a:t>정당한 이유 없이 가출하는 것</a:t>
            </a:r>
          </a:p>
        </p:txBody>
      </p:sp>
      <p:sp>
        <p:nvSpPr>
          <p:cNvPr id="14" name="row_rule_1">
            <a:extLst xmlns:a="http://schemas.openxmlformats.org/drawingml/2006/main">
              <a:ext uri="{FF2B5EF4-FFF2-40B4-BE49-F238E27FC236}">
                <a16:creationId xmlns:a16="http://schemas.microsoft.com/office/drawing/2014/main" id="{CA26BB48-BFD9-45C0-84C4-CACCC0C83A85}"/>
              </a:ext>
            </a:extLst>
          </p:cNvPr>
          <p:cNvSpPr>
            <a:spLocks xmlns:a="http://schemas.openxmlformats.org/drawingml/2006/main" noGrp="1"/>
          </p:cNvSpPr>
          <p:nvPr/>
        </p:nvSpPr>
        <p:spPr>
          <a:xfrm xmlns:a="http://schemas.openxmlformats.org/drawingml/2006/main">
            <a:off x="731520" y="4057650"/>
            <a:ext cx="10726103" cy="9525"/>
          </a:xfrm>
          <a:prstGeom xmlns:a="http://schemas.openxmlformats.org/drawingml/2006/main" prst="rect">
            <a:avLst/>
          </a:prstGeom>
          <a:solidFill xmlns:a="http://schemas.openxmlformats.org/drawingml/2006/main">
            <a:srgbClr val="DCE0E8"/>
          </a:solidFill>
          <a:ln xmlns:a="http://schemas.openxmlformats.org/drawingml/2006/main" w="0">
            <a:noFill/>
          </a:ln>
        </p:spPr>
      </p:sp>
      <p:sp>
        <p:nvSpPr>
          <p:cNvPr id="15" name="legal_label_2">
            <a:extLst xmlns:a="http://schemas.openxmlformats.org/drawingml/2006/main">
              <a:ext uri="{FF2B5EF4-FFF2-40B4-BE49-F238E27FC236}">
                <a16:creationId xmlns:a16="http://schemas.microsoft.com/office/drawing/2014/main" id="{ACB6443F-ABA1-4F44-A9EB-8AB0D0EE4E54}"/>
              </a:ext>
            </a:extLst>
          </p:cNvPr>
          <p:cNvSpPr>
            <a:spLocks xmlns:a="http://schemas.openxmlformats.org/drawingml/2006/main" noGrp="1"/>
          </p:cNvSpPr>
          <p:nvPr/>
        </p:nvSpPr>
        <p:spPr>
          <a:xfrm xmlns:a="http://schemas.openxmlformats.org/drawingml/2006/main">
            <a:off x="971550" y="4295775"/>
            <a:ext cx="1285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18000"/>
              </a:lnSpc>
              <a:buNone/>
              <a:defRPr sz="1300" b="1">
                <a:solidFill>
                  <a:srgbClr val="1E2761"/>
                </a:solidFill>
                <a:latin typeface="Pretendard"/>
                <a:ea typeface="Pretendard"/>
                <a:cs typeface="Pretendard"/>
              </a:defRPr>
            </a:pPr>
            <a:r>
              <a:rPr sz="1300" b="1">
                <a:solidFill>
                  <a:srgbClr val="1E2761"/>
                </a:solidFill>
                <a:latin typeface="Pretendard"/>
                <a:ea typeface="Pretendard"/>
                <a:cs typeface="Pretendard"/>
              </a:rPr>
              <a:t>다목</a:t>
            </a:r>
          </a:p>
        </p:txBody>
      </p:sp>
      <p:sp>
        <p:nvSpPr>
          <p:cNvPr id="16" name="legal_text_2">
            <a:extLst xmlns:a="http://schemas.openxmlformats.org/drawingml/2006/main">
              <a:ext uri="{FF2B5EF4-FFF2-40B4-BE49-F238E27FC236}">
                <a16:creationId xmlns:a16="http://schemas.microsoft.com/office/drawing/2014/main" id="{2C527562-C4B9-4A3E-8A4E-4229EF5EF56D}"/>
              </a:ext>
            </a:extLst>
          </p:cNvPr>
          <p:cNvSpPr>
            <a:spLocks xmlns:a="http://schemas.openxmlformats.org/drawingml/2006/main" noGrp="1"/>
          </p:cNvSpPr>
          <p:nvPr/>
        </p:nvSpPr>
        <p:spPr>
          <a:xfrm xmlns:a="http://schemas.openxmlformats.org/drawingml/2006/main">
            <a:off x="2428875" y="4295775"/>
            <a:ext cx="881062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buNone/>
              <a:defRPr sz="1400" b="0">
                <a:solidFill>
                  <a:srgbClr val="222633"/>
                </a:solidFill>
                <a:latin typeface="Pretendard"/>
                <a:ea typeface="Pretendard"/>
                <a:cs typeface="Pretendard"/>
              </a:defRPr>
            </a:pPr>
            <a:r>
              <a:rPr sz="1400" b="0">
                <a:solidFill>
                  <a:srgbClr val="222633"/>
                </a:solidFill>
                <a:latin typeface="Pretendard"/>
                <a:ea typeface="Pretendard"/>
                <a:cs typeface="Pretendard"/>
              </a:rPr>
              <a:t>술을 마시고 소란을 피우거나 유해환경에 접하는 성벽이 있는 것</a:t>
            </a:r>
          </a:p>
        </p:txBody>
      </p:sp>
      <p:sp>
        <p:nvSpPr>
          <p:cNvPr id="17" name="habit_label">
            <a:extLst xmlns:a="http://schemas.openxmlformats.org/drawingml/2006/main">
              <a:ext uri="{FF2B5EF4-FFF2-40B4-BE49-F238E27FC236}">
                <a16:creationId xmlns:a16="http://schemas.microsoft.com/office/drawing/2014/main" id="{5C7B20CA-24F5-4EFD-ACAC-103A28AE7B52}"/>
              </a:ext>
            </a:extLst>
          </p:cNvPr>
          <p:cNvSpPr>
            <a:spLocks xmlns:a="http://schemas.openxmlformats.org/drawingml/2006/main" noGrp="1"/>
          </p:cNvSpPr>
          <p:nvPr/>
        </p:nvSpPr>
        <p:spPr>
          <a:xfrm xmlns:a="http://schemas.openxmlformats.org/drawingml/2006/main">
            <a:off x="731520" y="5000625"/>
            <a:ext cx="1714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buNone/>
              <a:defRPr sz="1250" b="1">
                <a:solidFill>
                  <a:srgbClr val="1E2761"/>
                </a:solidFill>
                <a:latin typeface="Pretendard"/>
                <a:ea typeface="Pretendard"/>
                <a:cs typeface="Pretendard"/>
              </a:defRPr>
            </a:pPr>
            <a:r>
              <a:rPr sz="1250" b="1">
                <a:solidFill>
                  <a:srgbClr val="1E2761"/>
                </a:solidFill>
                <a:latin typeface="Pretendard"/>
                <a:ea typeface="Pretendard"/>
                <a:cs typeface="Pretendard"/>
              </a:rPr>
              <a:t>성벽(性癖)</a:t>
            </a:r>
          </a:p>
        </p:txBody>
      </p:sp>
      <p:sp>
        <p:nvSpPr>
          <p:cNvPr id="18" name="habit">
            <a:extLst xmlns:a="http://schemas.openxmlformats.org/drawingml/2006/main">
              <a:ext uri="{FF2B5EF4-FFF2-40B4-BE49-F238E27FC236}">
                <a16:creationId xmlns:a16="http://schemas.microsoft.com/office/drawing/2014/main" id="{57D28E31-3B53-4CCB-801D-7ACA7C69FACE}"/>
              </a:ext>
            </a:extLst>
          </p:cNvPr>
          <p:cNvSpPr>
            <a:spLocks xmlns:a="http://schemas.openxmlformats.org/drawingml/2006/main" noGrp="1"/>
          </p:cNvSpPr>
          <p:nvPr/>
        </p:nvSpPr>
        <p:spPr>
          <a:xfrm xmlns:a="http://schemas.openxmlformats.org/drawingml/2006/main">
            <a:off x="2428875" y="5000625"/>
            <a:ext cx="90297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buNone/>
              <a:defRPr sz="1250" b="0">
                <a:solidFill>
                  <a:srgbClr val="464D5C"/>
                </a:solidFill>
                <a:latin typeface="Pretendard"/>
                <a:ea typeface="Pretendard"/>
                <a:cs typeface="Pretendard"/>
              </a:defRPr>
            </a:pPr>
            <a:r>
              <a:rPr sz="1250" b="0">
                <a:solidFill>
                  <a:srgbClr val="464D5C"/>
                </a:solidFill>
                <a:latin typeface="Pretendard"/>
                <a:ea typeface="Pretendard"/>
                <a:cs typeface="Pretendard"/>
              </a:rPr>
              <a:t>여기서는 행동상의 버릇·성향을 뜻한다. 성적인 습성을 뜻하는 말로 읽지 않는다.</a:t>
            </a:r>
          </a:p>
        </p:txBody>
      </p:sp>
      <p:sp>
        <p:nvSpPr>
          <p:cNvPr id="19" name="conclusion_top">
            <a:extLst xmlns:a="http://schemas.openxmlformats.org/drawingml/2006/main">
              <a:ext uri="{FF2B5EF4-FFF2-40B4-BE49-F238E27FC236}">
                <a16:creationId xmlns:a16="http://schemas.microsoft.com/office/drawing/2014/main" id="{F0F5290D-F4FC-4891-9D0A-4CE90177FDC0}"/>
              </a:ext>
            </a:extLst>
          </p:cNvPr>
          <p:cNvSpPr>
            <a:spLocks xmlns:a="http://schemas.openxmlformats.org/drawingml/2006/main" noGrp="1"/>
          </p:cNvSpPr>
          <p:nvPr/>
        </p:nvSpPr>
        <p:spPr>
          <a:xfrm xmlns:a="http://schemas.openxmlformats.org/drawingml/2006/main">
            <a:off x="731520" y="5532120"/>
            <a:ext cx="10726103" cy="9525"/>
          </a:xfrm>
          <a:prstGeom xmlns:a="http://schemas.openxmlformats.org/drawingml/2006/main" prst="rect">
            <a:avLst/>
          </a:prstGeom>
          <a:solidFill xmlns:a="http://schemas.openxmlformats.org/drawingml/2006/main">
            <a:srgbClr val="DCE0E8"/>
          </a:solidFill>
          <a:ln xmlns:a="http://schemas.openxmlformats.org/drawingml/2006/main" w="0">
            <a:noFill/>
          </a:ln>
        </p:spPr>
      </p:sp>
      <p:sp>
        <p:nvSpPr>
          <p:cNvPr id="20" name="conclusion">
            <a:extLst xmlns:a="http://schemas.openxmlformats.org/drawingml/2006/main">
              <a:ext uri="{FF2B5EF4-FFF2-40B4-BE49-F238E27FC236}">
                <a16:creationId xmlns:a16="http://schemas.microsoft.com/office/drawing/2014/main" id="{AD65AC92-2085-48B3-8DE0-806F06803C85}"/>
              </a:ext>
            </a:extLst>
          </p:cNvPr>
          <p:cNvSpPr>
            <a:spLocks xmlns:a="http://schemas.openxmlformats.org/drawingml/2006/main" noGrp="1"/>
          </p:cNvSpPr>
          <p:nvPr/>
        </p:nvSpPr>
        <p:spPr>
          <a:xfrm xmlns:a="http://schemas.openxmlformats.org/drawingml/2006/main">
            <a:off x="731520" y="5743575"/>
            <a:ext cx="10726103"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buNone/>
              <a:defRPr sz="1300" b="1">
                <a:solidFill>
                  <a:srgbClr val="1E2761"/>
                </a:solidFill>
                <a:latin typeface="Pretendard"/>
                <a:ea typeface="Pretendard"/>
                <a:cs typeface="Pretendard"/>
              </a:defRPr>
            </a:pPr>
            <a:r>
              <a:rPr sz="1300" b="1">
                <a:solidFill>
                  <a:srgbClr val="1E2761"/>
                </a:solidFill>
                <a:latin typeface="Pretendard"/>
                <a:ea typeface="Pretendard"/>
                <a:cs typeface="Pretendard"/>
              </a:rPr>
              <a:t>가출을 이유로 판단하려면, 집을 나온 경위와 돌아갈 가정의 상황도 확인해야 한다.</a:t>
            </a:r>
          </a:p>
        </p:txBody>
      </p:sp>
      <p:sp>
        <p:nvSpPr>
          <p:cNvPr id="21" name="conclusion_bottom">
            <a:extLst xmlns:a="http://schemas.openxmlformats.org/drawingml/2006/main">
              <a:ext uri="{FF2B5EF4-FFF2-40B4-BE49-F238E27FC236}">
                <a16:creationId xmlns:a16="http://schemas.microsoft.com/office/drawing/2014/main" id="{1B9BA6FE-194F-4002-B3CD-29C24771A147}"/>
              </a:ext>
            </a:extLst>
          </p:cNvPr>
          <p:cNvSpPr>
            <a:spLocks xmlns:a="http://schemas.openxmlformats.org/drawingml/2006/main" noGrp="1"/>
          </p:cNvSpPr>
          <p:nvPr/>
        </p:nvSpPr>
        <p:spPr>
          <a:xfrm xmlns:a="http://schemas.openxmlformats.org/drawingml/2006/main">
            <a:off x="731520" y="6144578"/>
            <a:ext cx="10726103" cy="16193"/>
          </a:xfrm>
          <a:prstGeom xmlns:a="http://schemas.openxmlformats.org/drawingml/2006/main" prst="rect">
            <a:avLst/>
          </a:prstGeom>
          <a:solidFill xmlns:a="http://schemas.openxmlformats.org/drawingml/2006/main">
            <a:srgbClr val="1E2761"/>
          </a:solidFill>
          <a:ln xmlns:a="http://schemas.openxmlformats.org/drawingml/2006/main" w="0">
            <a:noFill/>
          </a:ln>
        </p:spPr>
      </p:sp>
    </p:spTree>
    <p:extLst>
      <p:ext uri="{BB962C8B-B14F-4D97-AF65-F5344CB8AC3E}">
        <p14:creationId xmlns:p14="http://schemas.microsoft.com/office/powerpoint/2010/main" val="142574556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chapter">
            <a:extLst xmlns:a="http://schemas.openxmlformats.org/drawingml/2006/main">
              <a:ext uri="{FF2B5EF4-FFF2-40B4-BE49-F238E27FC236}">
                <a16:creationId xmlns:a16="http://schemas.microsoft.com/office/drawing/2014/main" id="{99EDCC79-D3ED-4158-ACA0-F97F18589BF9}"/>
              </a:ext>
            </a:extLst>
          </p:cNvPr>
          <p:cNvSpPr>
            <a:spLocks xmlns:a="http://schemas.openxmlformats.org/drawingml/2006/main" noGrp="1"/>
          </p:cNvSpPr>
          <p:nvPr/>
        </p:nvSpPr>
        <p:spPr>
          <a:xfrm xmlns:a="http://schemas.openxmlformats.org/drawingml/2006/main">
            <a:off x="731520" y="36576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buNone/>
              <a:defRPr sz="1250" b="1">
                <a:solidFill>
                  <a:srgbClr val="464D5C"/>
                </a:solidFill>
                <a:latin typeface="Pretendard"/>
                <a:ea typeface="Pretendard"/>
                <a:cs typeface="Pretendard"/>
              </a:defRPr>
            </a:pPr>
            <a:r>
              <a:rPr sz="1250" b="1" spc="200">
                <a:solidFill>
                  <a:srgbClr val="464D5C"/>
                </a:solidFill>
                <a:latin typeface="Pretendard"/>
                <a:ea typeface="Pretendard"/>
                <a:cs typeface="Pretendard"/>
              </a:rPr>
              <a:t>1. 논제의 대상과 현행 우범소년 제도</a:t>
            </a:r>
          </a:p>
        </p:txBody>
      </p:sp>
      <p:sp>
        <p:nvSpPr>
          <p:cNvPr id="2" name="next">
            <a:extLst xmlns:a="http://schemas.openxmlformats.org/drawingml/2006/main">
              <a:ext uri="{FF2B5EF4-FFF2-40B4-BE49-F238E27FC236}">
                <a16:creationId xmlns:a16="http://schemas.microsoft.com/office/drawing/2014/main" id="{35EDD62C-5E24-4941-B6D7-BF57C68E4187}"/>
              </a:ext>
            </a:extLst>
          </p:cNvPr>
          <p:cNvSpPr>
            <a:spLocks xmlns:a="http://schemas.openxmlformats.org/drawingml/2006/main" noGrp="1"/>
          </p:cNvSpPr>
          <p:nvPr/>
        </p:nvSpPr>
        <p:spPr>
          <a:xfrm xmlns:a="http://schemas.openxmlformats.org/drawingml/2006/main">
            <a:off x="6191250" y="383858"/>
            <a:ext cx="526351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18000"/>
              </a:lnSpc>
              <a:buNone/>
              <a:defRPr sz="1050" b="0">
                <a:solidFill>
                  <a:srgbClr val="6E7686"/>
                </a:solidFill>
                <a:latin typeface="Pretendard"/>
                <a:ea typeface="Pretendard"/>
                <a:cs typeface="Pretendard"/>
              </a:defRPr>
            </a:pPr>
            <a:r>
              <a:rPr sz="1050" b="0">
                <a:solidFill>
                  <a:srgbClr val="6E7686"/>
                </a:solidFill>
                <a:latin typeface="Pretendard"/>
                <a:ea typeface="Pretendard"/>
                <a:cs typeface="Pretendard"/>
              </a:rPr>
              <a:t>다음 → 우범소년 사건의 송치·통고 경로</a:t>
            </a:r>
          </a:p>
        </p:txBody>
      </p:sp>
      <p:sp>
        <p:nvSpPr>
          <p:cNvPr id="3" name="title">
            <a:extLst xmlns:a="http://schemas.openxmlformats.org/drawingml/2006/main">
              <a:ext uri="{FF2B5EF4-FFF2-40B4-BE49-F238E27FC236}">
                <a16:creationId xmlns:a16="http://schemas.microsoft.com/office/drawing/2014/main" id="{D8CE8357-ED14-4379-A1CF-2A0D904E808C}"/>
              </a:ext>
            </a:extLst>
          </p:cNvPr>
          <p:cNvSpPr>
            <a:spLocks xmlns:a="http://schemas.openxmlformats.org/drawingml/2006/main" noGrp="1"/>
          </p:cNvSpPr>
          <p:nvPr/>
        </p:nvSpPr>
        <p:spPr>
          <a:xfrm xmlns:a="http://schemas.openxmlformats.org/drawingml/2006/main">
            <a:off x="731520" y="762000"/>
            <a:ext cx="10726103"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buNone/>
              <a:defRPr sz="2750" b="1">
                <a:solidFill>
                  <a:srgbClr val="1E2761"/>
                </a:solidFill>
                <a:latin typeface="Pretendard"/>
                <a:ea typeface="Pretendard"/>
                <a:cs typeface="Pretendard"/>
              </a:defRPr>
            </a:pPr>
            <a:r>
              <a:rPr sz="2750" b="1">
                <a:solidFill>
                  <a:srgbClr val="1E2761"/>
                </a:solidFill>
                <a:latin typeface="Pretendard"/>
                <a:ea typeface="Pretendard"/>
                <a:cs typeface="Pretendard"/>
              </a:rPr>
              <a:t>성착취 피해 위험과 장래 범법 우려</a:t>
            </a:r>
          </a:p>
        </p:txBody>
      </p:sp>
      <p:sp>
        <p:nvSpPr>
          <p:cNvPr id="4" name="summary_bg">
            <a:extLst xmlns:a="http://schemas.openxmlformats.org/drawingml/2006/main">
              <a:ext uri="{FF2B5EF4-FFF2-40B4-BE49-F238E27FC236}">
                <a16:creationId xmlns:a16="http://schemas.microsoft.com/office/drawing/2014/main" id="{C3DD084F-D880-46BA-8043-00DFE6025C6E}"/>
              </a:ext>
            </a:extLst>
          </p:cNvPr>
          <p:cNvSpPr>
            <a:spLocks xmlns:a="http://schemas.openxmlformats.org/drawingml/2006/main" noGrp="1"/>
          </p:cNvSpPr>
          <p:nvPr/>
        </p:nvSpPr>
        <p:spPr>
          <a:xfrm xmlns:a="http://schemas.openxmlformats.org/drawingml/2006/main">
            <a:off x="731520" y="1417320"/>
            <a:ext cx="10726103" cy="548640"/>
          </a:xfrm>
          <a:prstGeom xmlns:a="http://schemas.openxmlformats.org/drawingml/2006/main" prst="rect">
            <a:avLst/>
          </a:prstGeom>
          <a:solidFill xmlns:a="http://schemas.openxmlformats.org/drawingml/2006/main">
            <a:srgbClr val="F2F4F8"/>
          </a:solidFill>
          <a:ln xmlns:a="http://schemas.openxmlformats.org/drawingml/2006/main" w="0">
            <a:noFill/>
          </a:ln>
        </p:spPr>
      </p:sp>
      <p:sp>
        <p:nvSpPr>
          <p:cNvPr id="5" name="summary_marker">
            <a:extLst xmlns:a="http://schemas.openxmlformats.org/drawingml/2006/main">
              <a:ext uri="{FF2B5EF4-FFF2-40B4-BE49-F238E27FC236}">
                <a16:creationId xmlns:a16="http://schemas.microsoft.com/office/drawing/2014/main" id="{8729BEB7-BB63-48A2-BB48-A664B773407B}"/>
              </a:ext>
            </a:extLst>
          </p:cNvPr>
          <p:cNvSpPr>
            <a:spLocks xmlns:a="http://schemas.openxmlformats.org/drawingml/2006/main" noGrp="1"/>
          </p:cNvSpPr>
          <p:nvPr/>
        </p:nvSpPr>
        <p:spPr>
          <a:xfrm xmlns:a="http://schemas.openxmlformats.org/drawingml/2006/main">
            <a:off x="731520" y="1417320"/>
            <a:ext cx="47625" cy="548640"/>
          </a:xfrm>
          <a:prstGeom xmlns:a="http://schemas.openxmlformats.org/drawingml/2006/main" prst="rect">
            <a:avLst/>
          </a:prstGeom>
          <a:solidFill xmlns:a="http://schemas.openxmlformats.org/drawingml/2006/main">
            <a:srgbClr val="1E2761"/>
          </a:solidFill>
          <a:ln xmlns:a="http://schemas.openxmlformats.org/drawingml/2006/main" w="0">
            <a:noFill/>
          </a:ln>
        </p:spPr>
      </p:sp>
      <p:sp>
        <p:nvSpPr>
          <p:cNvPr id="6" name="summary">
            <a:extLst xmlns:a="http://schemas.openxmlformats.org/drawingml/2006/main">
              <a:ext uri="{FF2B5EF4-FFF2-40B4-BE49-F238E27FC236}">
                <a16:creationId xmlns:a16="http://schemas.microsoft.com/office/drawing/2014/main" id="{A84003E0-18B3-493D-9D2B-07842B529A44}"/>
              </a:ext>
            </a:extLst>
          </p:cNvPr>
          <p:cNvSpPr>
            <a:spLocks xmlns:a="http://schemas.openxmlformats.org/drawingml/2006/main" noGrp="1"/>
          </p:cNvSpPr>
          <p:nvPr/>
        </p:nvSpPr>
        <p:spPr>
          <a:xfrm xmlns:a="http://schemas.openxmlformats.org/drawingml/2006/main">
            <a:off x="1005840" y="1600200"/>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buNone/>
              <a:defRPr sz="1300" b="1">
                <a:solidFill>
                  <a:srgbClr val="1E2761"/>
                </a:solidFill>
                <a:latin typeface="Pretendard"/>
                <a:ea typeface="Pretendard"/>
                <a:cs typeface="Pretendard"/>
              </a:defRPr>
            </a:pPr>
            <a:r>
              <a:rPr sz="1300" b="1">
                <a:solidFill>
                  <a:srgbClr val="1E2761"/>
                </a:solidFill>
                <a:latin typeface="Pretendard"/>
                <a:ea typeface="Pretendard"/>
                <a:cs typeface="Pretendard"/>
              </a:rPr>
              <a:t>성착취를 당할 위험과 청소년이 앞으로 범죄에 해당하는 행동을 할 우려는 서로 다른 질문이다</a:t>
            </a:r>
          </a:p>
        </p:txBody>
      </p:sp>
      <p:sp>
        <p:nvSpPr>
          <p:cNvPr id="7" name="comparison_header_0">
            <a:extLst xmlns:a="http://schemas.openxmlformats.org/drawingml/2006/main">
              <a:ext uri="{FF2B5EF4-FFF2-40B4-BE49-F238E27FC236}">
                <a16:creationId xmlns:a16="http://schemas.microsoft.com/office/drawing/2014/main" id="{34676F18-BAA0-4449-8582-A7049E92E778}"/>
              </a:ext>
            </a:extLst>
          </p:cNvPr>
          <p:cNvSpPr>
            <a:spLocks xmlns:a="http://schemas.openxmlformats.org/drawingml/2006/main" noGrp="1"/>
          </p:cNvSpPr>
          <p:nvPr/>
        </p:nvSpPr>
        <p:spPr>
          <a:xfrm xmlns:a="http://schemas.openxmlformats.org/drawingml/2006/main">
            <a:off x="731520" y="2381250"/>
            <a:ext cx="5175504" cy="409575"/>
          </a:xfrm>
          <a:prstGeom xmlns:a="http://schemas.openxmlformats.org/drawingml/2006/main" prst="rect">
            <a:avLst/>
          </a:prstGeom>
          <a:solidFill xmlns:a="http://schemas.openxmlformats.org/drawingml/2006/main">
            <a:srgbClr val="5A6699"/>
          </a:solidFill>
          <a:ln xmlns:a="http://schemas.openxmlformats.org/drawingml/2006/main" w="0">
            <a:noFill/>
          </a:ln>
        </p:spPr>
      </p:sp>
      <p:sp>
        <p:nvSpPr>
          <p:cNvPr id="8" name="comparison_name_0">
            <a:extLst xmlns:a="http://schemas.openxmlformats.org/drawingml/2006/main">
              <a:ext uri="{FF2B5EF4-FFF2-40B4-BE49-F238E27FC236}">
                <a16:creationId xmlns:a16="http://schemas.microsoft.com/office/drawing/2014/main" id="{6E279301-62CB-4E2B-B05F-7951D040174C}"/>
              </a:ext>
            </a:extLst>
          </p:cNvPr>
          <p:cNvSpPr>
            <a:spLocks xmlns:a="http://schemas.openxmlformats.org/drawingml/2006/main" noGrp="1"/>
          </p:cNvSpPr>
          <p:nvPr/>
        </p:nvSpPr>
        <p:spPr>
          <a:xfrm xmlns:a="http://schemas.openxmlformats.org/drawingml/2006/main">
            <a:off x="845820" y="2476500"/>
            <a:ext cx="4946904"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18000"/>
              </a:lnSpc>
              <a:buNone/>
              <a:defRPr sz="1300" b="1">
                <a:solidFill>
                  <a:srgbClr val="FFFFFF"/>
                </a:solidFill>
                <a:latin typeface="Pretendard"/>
                <a:ea typeface="Pretendard"/>
                <a:cs typeface="Pretendard"/>
              </a:defRPr>
            </a:pPr>
            <a:r>
              <a:rPr sz="1300" b="1">
                <a:solidFill>
                  <a:srgbClr val="FFFFFF"/>
                </a:solidFill>
                <a:latin typeface="Pretendard"/>
                <a:ea typeface="Pretendard"/>
                <a:cs typeface="Pretendard"/>
              </a:rPr>
              <a:t>성착취 피해 위험</a:t>
            </a:r>
          </a:p>
        </p:txBody>
      </p:sp>
      <p:sp>
        <p:nvSpPr>
          <p:cNvPr id="9" name="risk_question_0">
            <a:extLst xmlns:a="http://schemas.openxmlformats.org/drawingml/2006/main">
              <a:ext uri="{FF2B5EF4-FFF2-40B4-BE49-F238E27FC236}">
                <a16:creationId xmlns:a16="http://schemas.microsoft.com/office/drawing/2014/main" id="{01F71364-F1AF-4395-A7BF-013867C3AB32}"/>
              </a:ext>
            </a:extLst>
          </p:cNvPr>
          <p:cNvSpPr>
            <a:spLocks xmlns:a="http://schemas.openxmlformats.org/drawingml/2006/main" noGrp="1"/>
          </p:cNvSpPr>
          <p:nvPr/>
        </p:nvSpPr>
        <p:spPr>
          <a:xfrm xmlns:a="http://schemas.openxmlformats.org/drawingml/2006/main">
            <a:off x="731520" y="3057525"/>
            <a:ext cx="5175504"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buNone/>
              <a:defRPr sz="1400" b="1">
                <a:solidFill>
                  <a:srgbClr val="222633"/>
                </a:solidFill>
                <a:latin typeface="Pretendard"/>
                <a:ea typeface="Pretendard"/>
                <a:cs typeface="Pretendard"/>
              </a:defRPr>
            </a:pPr>
            <a:r>
              <a:rPr sz="1400" b="1">
                <a:solidFill>
                  <a:srgbClr val="222633"/>
                </a:solidFill>
                <a:latin typeface="Pretendard"/>
                <a:ea typeface="Pretendard"/>
                <a:cs typeface="Pretendard"/>
              </a:rPr>
              <a:t>“이 청소년이 피해를 당할 위험이 있는가?”</a:t>
            </a:r>
          </a:p>
        </p:txBody>
      </p:sp>
      <p:sp>
        <p:nvSpPr>
          <p:cNvPr id="10" name="risk_description_0">
            <a:extLst xmlns:a="http://schemas.openxmlformats.org/drawingml/2006/main">
              <a:ext uri="{FF2B5EF4-FFF2-40B4-BE49-F238E27FC236}">
                <a16:creationId xmlns:a16="http://schemas.microsoft.com/office/drawing/2014/main" id="{9615A94E-CE15-4CFB-897D-697EBDDB667B}"/>
              </a:ext>
            </a:extLst>
          </p:cNvPr>
          <p:cNvSpPr>
            <a:spLocks xmlns:a="http://schemas.openxmlformats.org/drawingml/2006/main" noGrp="1"/>
          </p:cNvSpPr>
          <p:nvPr/>
        </p:nvSpPr>
        <p:spPr>
          <a:xfrm xmlns:a="http://schemas.openxmlformats.org/drawingml/2006/main">
            <a:off x="731520" y="3724275"/>
            <a:ext cx="5175504"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5000"/>
              </a:lnSpc>
              <a:buNone/>
              <a:defRPr sz="1250" b="0">
                <a:solidFill>
                  <a:srgbClr val="464D5C"/>
                </a:solidFill>
                <a:latin typeface="Pretendard"/>
                <a:ea typeface="Pretendard"/>
                <a:cs typeface="Pretendard"/>
              </a:defRPr>
            </a:pPr>
            <a:r>
              <a:rPr sz="1250" b="0">
                <a:solidFill>
                  <a:srgbClr val="464D5C"/>
                </a:solidFill>
                <a:latin typeface="Pretendard"/>
                <a:ea typeface="Pretendard"/>
                <a:cs typeface="Pretendard"/>
              </a:rPr>
              <a:t>성매매·성착취의 피해자가 되거나</a:t>
            </a:r>
          </a:p>
          <a:p xmlns:a="http://schemas.openxmlformats.org/drawingml/2006/main">
            <a:pPr algn="l">
              <a:lnSpc>
                <a:spcPct val="125000"/>
              </a:lnSpc>
              <a:buNone/>
              <a:defRPr sz="1250" b="0">
                <a:solidFill>
                  <a:srgbClr val="464D5C"/>
                </a:solidFill>
                <a:latin typeface="Pretendard"/>
                <a:ea typeface="Pretendard"/>
                <a:cs typeface="Pretendard"/>
              </a:defRPr>
            </a:pPr>
            <a:r>
              <a:rPr sz="1250" b="0">
                <a:solidFill>
                  <a:srgbClr val="464D5C"/>
                </a:solidFill>
                <a:latin typeface="Pretendard"/>
                <a:ea typeface="Pretendard"/>
                <a:cs typeface="Pretendard"/>
              </a:rPr>
              <a:t>다시 피해를 입을 가능성</a:t>
            </a:r>
          </a:p>
        </p:txBody>
      </p:sp>
      <p:sp>
        <p:nvSpPr>
          <p:cNvPr id="11" name="risk_detail_rule_0">
            <a:extLst xmlns:a="http://schemas.openxmlformats.org/drawingml/2006/main">
              <a:ext uri="{FF2B5EF4-FFF2-40B4-BE49-F238E27FC236}">
                <a16:creationId xmlns:a16="http://schemas.microsoft.com/office/drawing/2014/main" id="{DF00D133-4187-4623-BF67-B4CBB66995E7}"/>
              </a:ext>
            </a:extLst>
          </p:cNvPr>
          <p:cNvSpPr>
            <a:spLocks xmlns:a="http://schemas.openxmlformats.org/drawingml/2006/main" noGrp="1"/>
          </p:cNvSpPr>
          <p:nvPr/>
        </p:nvSpPr>
        <p:spPr>
          <a:xfrm xmlns:a="http://schemas.openxmlformats.org/drawingml/2006/main">
            <a:off x="731520" y="4495800"/>
            <a:ext cx="5175504" cy="9525"/>
          </a:xfrm>
          <a:prstGeom xmlns:a="http://schemas.openxmlformats.org/drawingml/2006/main" prst="rect">
            <a:avLst/>
          </a:prstGeom>
          <a:solidFill xmlns:a="http://schemas.openxmlformats.org/drawingml/2006/main">
            <a:srgbClr val="DCE0E8"/>
          </a:solidFill>
          <a:ln xmlns:a="http://schemas.openxmlformats.org/drawingml/2006/main" w="0">
            <a:noFill/>
          </a:ln>
        </p:spPr>
      </p:sp>
      <p:sp>
        <p:nvSpPr>
          <p:cNvPr id="12" name="risk_view_0">
            <a:extLst xmlns:a="http://schemas.openxmlformats.org/drawingml/2006/main">
              <a:ext uri="{FF2B5EF4-FFF2-40B4-BE49-F238E27FC236}">
                <a16:creationId xmlns:a16="http://schemas.microsoft.com/office/drawing/2014/main" id="{BA597EC4-39CE-44C4-90D2-106AB925B88C}"/>
              </a:ext>
            </a:extLst>
          </p:cNvPr>
          <p:cNvSpPr>
            <a:spLocks xmlns:a="http://schemas.openxmlformats.org/drawingml/2006/main" noGrp="1"/>
          </p:cNvSpPr>
          <p:nvPr/>
        </p:nvSpPr>
        <p:spPr>
          <a:xfrm xmlns:a="http://schemas.openxmlformats.org/drawingml/2006/main">
            <a:off x="731520" y="4686300"/>
            <a:ext cx="5175504"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buNone/>
              <a:defRPr sz="1250" b="1">
                <a:solidFill>
                  <a:srgbClr val="1E2761"/>
                </a:solidFill>
                <a:latin typeface="Pretendard"/>
                <a:ea typeface="Pretendard"/>
                <a:cs typeface="Pretendard"/>
              </a:defRPr>
            </a:pPr>
            <a:r>
              <a:rPr sz="1250" b="1">
                <a:solidFill>
                  <a:srgbClr val="1E2761"/>
                </a:solidFill>
                <a:latin typeface="Pretendard"/>
                <a:ea typeface="Pretendard"/>
                <a:cs typeface="Pretendard"/>
              </a:rPr>
              <a:t>판단할 것  ·  안전한 거처, 생계, 상담·치료 등</a:t>
            </a:r>
          </a:p>
        </p:txBody>
      </p:sp>
      <p:sp>
        <p:nvSpPr>
          <p:cNvPr id="13" name="risk_goal_0">
            <a:extLst xmlns:a="http://schemas.openxmlformats.org/drawingml/2006/main">
              <a:ext uri="{FF2B5EF4-FFF2-40B4-BE49-F238E27FC236}">
                <a16:creationId xmlns:a16="http://schemas.microsoft.com/office/drawing/2014/main" id="{5F8A52F5-FF3A-4CB9-94E7-FE2F997A1586}"/>
              </a:ext>
            </a:extLst>
          </p:cNvPr>
          <p:cNvSpPr>
            <a:spLocks xmlns:a="http://schemas.openxmlformats.org/drawingml/2006/main" noGrp="1"/>
          </p:cNvSpPr>
          <p:nvPr/>
        </p:nvSpPr>
        <p:spPr>
          <a:xfrm xmlns:a="http://schemas.openxmlformats.org/drawingml/2006/main">
            <a:off x="731520" y="5048250"/>
            <a:ext cx="5175504"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buNone/>
              <a:defRPr sz="1250" b="0">
                <a:solidFill>
                  <a:srgbClr val="464D5C"/>
                </a:solidFill>
                <a:latin typeface="Pretendard"/>
                <a:ea typeface="Pretendard"/>
                <a:cs typeface="Pretendard"/>
              </a:defRPr>
            </a:pPr>
            <a:r>
              <a:rPr sz="1250" b="0">
                <a:solidFill>
                  <a:srgbClr val="464D5C"/>
                </a:solidFill>
                <a:latin typeface="Pretendard"/>
                <a:ea typeface="Pretendard"/>
                <a:cs typeface="Pretendard"/>
              </a:rPr>
              <a:t>피해 예방과 회복을 위한 지원 필요</a:t>
            </a:r>
          </a:p>
        </p:txBody>
      </p:sp>
      <p:sp>
        <p:nvSpPr>
          <p:cNvPr id="14" name="comparison_header_1">
            <a:extLst xmlns:a="http://schemas.openxmlformats.org/drawingml/2006/main">
              <a:ext uri="{FF2B5EF4-FFF2-40B4-BE49-F238E27FC236}">
                <a16:creationId xmlns:a16="http://schemas.microsoft.com/office/drawing/2014/main" id="{B45877E2-2815-44DE-8DD6-4915F2D2E99C}"/>
              </a:ext>
            </a:extLst>
          </p:cNvPr>
          <p:cNvSpPr>
            <a:spLocks xmlns:a="http://schemas.openxmlformats.org/drawingml/2006/main" noGrp="1"/>
          </p:cNvSpPr>
          <p:nvPr/>
        </p:nvSpPr>
        <p:spPr>
          <a:xfrm xmlns:a="http://schemas.openxmlformats.org/drawingml/2006/main">
            <a:off x="6281928" y="2381250"/>
            <a:ext cx="5175504" cy="409575"/>
          </a:xfrm>
          <a:prstGeom xmlns:a="http://schemas.openxmlformats.org/drawingml/2006/main" prst="rect">
            <a:avLst/>
          </a:prstGeom>
          <a:solidFill xmlns:a="http://schemas.openxmlformats.org/drawingml/2006/main">
            <a:srgbClr val="5A6699"/>
          </a:solidFill>
          <a:ln xmlns:a="http://schemas.openxmlformats.org/drawingml/2006/main" w="0">
            <a:noFill/>
          </a:ln>
        </p:spPr>
      </p:sp>
      <p:sp>
        <p:nvSpPr>
          <p:cNvPr id="15" name="comparison_name_1">
            <a:extLst xmlns:a="http://schemas.openxmlformats.org/drawingml/2006/main">
              <a:ext uri="{FF2B5EF4-FFF2-40B4-BE49-F238E27FC236}">
                <a16:creationId xmlns:a16="http://schemas.microsoft.com/office/drawing/2014/main" id="{9758F6CD-7429-4AEC-99C0-D4B49F5BADCA}"/>
              </a:ext>
            </a:extLst>
          </p:cNvPr>
          <p:cNvSpPr>
            <a:spLocks xmlns:a="http://schemas.openxmlformats.org/drawingml/2006/main" noGrp="1"/>
          </p:cNvSpPr>
          <p:nvPr/>
        </p:nvSpPr>
        <p:spPr>
          <a:xfrm xmlns:a="http://schemas.openxmlformats.org/drawingml/2006/main">
            <a:off x="6396228" y="2476500"/>
            <a:ext cx="4946904"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18000"/>
              </a:lnSpc>
              <a:buNone/>
              <a:defRPr sz="1300" b="1">
                <a:solidFill>
                  <a:srgbClr val="FFFFFF"/>
                </a:solidFill>
                <a:latin typeface="Pretendard"/>
                <a:ea typeface="Pretendard"/>
                <a:cs typeface="Pretendard"/>
              </a:defRPr>
            </a:pPr>
            <a:r>
              <a:rPr sz="1300" b="1">
                <a:solidFill>
                  <a:srgbClr val="FFFFFF"/>
                </a:solidFill>
                <a:latin typeface="Pretendard"/>
                <a:ea typeface="Pretendard"/>
                <a:cs typeface="Pretendard"/>
              </a:rPr>
              <a:t>소년법상 장래 범법 우려</a:t>
            </a:r>
          </a:p>
        </p:txBody>
      </p:sp>
      <p:sp>
        <p:nvSpPr>
          <p:cNvPr id="16" name="risk_question_1">
            <a:extLst xmlns:a="http://schemas.openxmlformats.org/drawingml/2006/main">
              <a:ext uri="{FF2B5EF4-FFF2-40B4-BE49-F238E27FC236}">
                <a16:creationId xmlns:a16="http://schemas.microsoft.com/office/drawing/2014/main" id="{B1211AEF-D4B0-4069-8262-2B25D01BA9DB}"/>
              </a:ext>
            </a:extLst>
          </p:cNvPr>
          <p:cNvSpPr>
            <a:spLocks xmlns:a="http://schemas.openxmlformats.org/drawingml/2006/main" noGrp="1"/>
          </p:cNvSpPr>
          <p:nvPr/>
        </p:nvSpPr>
        <p:spPr>
          <a:xfrm xmlns:a="http://schemas.openxmlformats.org/drawingml/2006/main">
            <a:off x="6281928" y="3057525"/>
            <a:ext cx="5175504"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buNone/>
              <a:defRPr sz="1400" b="1">
                <a:solidFill>
                  <a:srgbClr val="222633"/>
                </a:solidFill>
                <a:latin typeface="Pretendard"/>
                <a:ea typeface="Pretendard"/>
                <a:cs typeface="Pretendard"/>
              </a:defRPr>
            </a:pPr>
            <a:r>
              <a:rPr sz="1400" b="1">
                <a:solidFill>
                  <a:srgbClr val="222633"/>
                </a:solidFill>
                <a:latin typeface="Pretendard"/>
                <a:ea typeface="Pretendard"/>
                <a:cs typeface="Pretendard"/>
              </a:rPr>
              <a:t>“이 청소년이 범죄에 해당하는 행동을 할까?”</a:t>
            </a:r>
          </a:p>
        </p:txBody>
      </p:sp>
      <p:sp>
        <p:nvSpPr>
          <p:cNvPr id="17" name="risk_description_1">
            <a:extLst xmlns:a="http://schemas.openxmlformats.org/drawingml/2006/main">
              <a:ext uri="{FF2B5EF4-FFF2-40B4-BE49-F238E27FC236}">
                <a16:creationId xmlns:a16="http://schemas.microsoft.com/office/drawing/2014/main" id="{93727C37-3475-46EE-B578-7A38D9ACEDA1}"/>
              </a:ext>
            </a:extLst>
          </p:cNvPr>
          <p:cNvSpPr>
            <a:spLocks xmlns:a="http://schemas.openxmlformats.org/drawingml/2006/main" noGrp="1"/>
          </p:cNvSpPr>
          <p:nvPr/>
        </p:nvSpPr>
        <p:spPr>
          <a:xfrm xmlns:a="http://schemas.openxmlformats.org/drawingml/2006/main">
            <a:off x="6281928" y="3724275"/>
            <a:ext cx="5175504"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5000"/>
              </a:lnSpc>
              <a:buNone/>
              <a:defRPr sz="1250" b="0">
                <a:solidFill>
                  <a:srgbClr val="464D5C"/>
                </a:solidFill>
                <a:latin typeface="Pretendard"/>
                <a:ea typeface="Pretendard"/>
                <a:cs typeface="Pretendard"/>
              </a:defRPr>
            </a:pPr>
            <a:r>
              <a:rPr sz="1250" b="0">
                <a:solidFill>
                  <a:srgbClr val="464D5C"/>
                </a:solidFill>
                <a:latin typeface="Pretendard"/>
                <a:ea typeface="Pretendard"/>
                <a:cs typeface="Pretendard"/>
              </a:rPr>
              <a:t>그 청소년의 성격이나 환경에 비추어</a:t>
            </a:r>
          </a:p>
          <a:p xmlns:a="http://schemas.openxmlformats.org/drawingml/2006/main">
            <a:pPr algn="l">
              <a:lnSpc>
                <a:spcPct val="125000"/>
              </a:lnSpc>
              <a:buNone/>
              <a:defRPr sz="1250" b="0">
                <a:solidFill>
                  <a:srgbClr val="464D5C"/>
                </a:solidFill>
                <a:latin typeface="Pretendard"/>
                <a:ea typeface="Pretendard"/>
                <a:cs typeface="Pretendard"/>
              </a:defRPr>
            </a:pPr>
            <a:r>
              <a:rPr sz="1250" b="0">
                <a:solidFill>
                  <a:srgbClr val="464D5C"/>
                </a:solidFill>
                <a:latin typeface="Pretendard"/>
                <a:ea typeface="Pretendard"/>
                <a:cs typeface="Pretendard"/>
              </a:rPr>
              <a:t>앞으로 형벌 법령에 저촉되는 행위를 할 우려</a:t>
            </a:r>
          </a:p>
        </p:txBody>
      </p:sp>
      <p:sp>
        <p:nvSpPr>
          <p:cNvPr id="18" name="risk_detail_rule_1">
            <a:extLst xmlns:a="http://schemas.openxmlformats.org/drawingml/2006/main">
              <a:ext uri="{FF2B5EF4-FFF2-40B4-BE49-F238E27FC236}">
                <a16:creationId xmlns:a16="http://schemas.microsoft.com/office/drawing/2014/main" id="{8B6113DC-6CCC-4B7B-BD87-327F3AA65797}"/>
              </a:ext>
            </a:extLst>
          </p:cNvPr>
          <p:cNvSpPr>
            <a:spLocks xmlns:a="http://schemas.openxmlformats.org/drawingml/2006/main" noGrp="1"/>
          </p:cNvSpPr>
          <p:nvPr/>
        </p:nvSpPr>
        <p:spPr>
          <a:xfrm xmlns:a="http://schemas.openxmlformats.org/drawingml/2006/main">
            <a:off x="6281928" y="4495800"/>
            <a:ext cx="5175504" cy="9525"/>
          </a:xfrm>
          <a:prstGeom xmlns:a="http://schemas.openxmlformats.org/drawingml/2006/main" prst="rect">
            <a:avLst/>
          </a:prstGeom>
          <a:solidFill xmlns:a="http://schemas.openxmlformats.org/drawingml/2006/main">
            <a:srgbClr val="DCE0E8"/>
          </a:solidFill>
          <a:ln xmlns:a="http://schemas.openxmlformats.org/drawingml/2006/main" w="0">
            <a:noFill/>
          </a:ln>
        </p:spPr>
      </p:sp>
      <p:sp>
        <p:nvSpPr>
          <p:cNvPr id="19" name="risk_view_1">
            <a:extLst xmlns:a="http://schemas.openxmlformats.org/drawingml/2006/main">
              <a:ext uri="{FF2B5EF4-FFF2-40B4-BE49-F238E27FC236}">
                <a16:creationId xmlns:a16="http://schemas.microsoft.com/office/drawing/2014/main" id="{B20E32DA-03D6-4FBC-AB12-CF63DD003FB0}"/>
              </a:ext>
            </a:extLst>
          </p:cNvPr>
          <p:cNvSpPr>
            <a:spLocks xmlns:a="http://schemas.openxmlformats.org/drawingml/2006/main" noGrp="1"/>
          </p:cNvSpPr>
          <p:nvPr/>
        </p:nvSpPr>
        <p:spPr>
          <a:xfrm xmlns:a="http://schemas.openxmlformats.org/drawingml/2006/main">
            <a:off x="6281928" y="4686300"/>
            <a:ext cx="5175504"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buNone/>
              <a:defRPr sz="1250" b="1">
                <a:solidFill>
                  <a:srgbClr val="1E2761"/>
                </a:solidFill>
                <a:latin typeface="Pretendard"/>
                <a:ea typeface="Pretendard"/>
                <a:cs typeface="Pretendard"/>
              </a:defRPr>
            </a:pPr>
            <a:r>
              <a:rPr sz="1250" b="1">
                <a:solidFill>
                  <a:srgbClr val="1E2761"/>
                </a:solidFill>
                <a:latin typeface="Pretendard"/>
                <a:ea typeface="Pretendard"/>
                <a:cs typeface="Pretendard"/>
              </a:rPr>
              <a:t>판단할 것  ·  우려되는 행위와 이를 뒷받침할 사정</a:t>
            </a:r>
          </a:p>
        </p:txBody>
      </p:sp>
      <p:sp>
        <p:nvSpPr>
          <p:cNvPr id="20" name="risk_goal_1">
            <a:extLst xmlns:a="http://schemas.openxmlformats.org/drawingml/2006/main">
              <a:ext uri="{FF2B5EF4-FFF2-40B4-BE49-F238E27FC236}">
                <a16:creationId xmlns:a16="http://schemas.microsoft.com/office/drawing/2014/main" id="{2E1A713E-DB05-473E-A08D-136B2D6D5404}"/>
              </a:ext>
            </a:extLst>
          </p:cNvPr>
          <p:cNvSpPr>
            <a:spLocks xmlns:a="http://schemas.openxmlformats.org/drawingml/2006/main" noGrp="1"/>
          </p:cNvSpPr>
          <p:nvPr/>
        </p:nvSpPr>
        <p:spPr>
          <a:xfrm xmlns:a="http://schemas.openxmlformats.org/drawingml/2006/main">
            <a:off x="6281928" y="5048250"/>
            <a:ext cx="5175504"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buNone/>
              <a:defRPr sz="1250" b="0">
                <a:solidFill>
                  <a:srgbClr val="464D5C"/>
                </a:solidFill>
                <a:latin typeface="Pretendard"/>
                <a:ea typeface="Pretendard"/>
                <a:cs typeface="Pretendard"/>
              </a:defRPr>
            </a:pPr>
            <a:r>
              <a:rPr sz="1250" b="0">
                <a:solidFill>
                  <a:srgbClr val="464D5C"/>
                </a:solidFill>
                <a:latin typeface="Pretendard"/>
                <a:ea typeface="Pretendard"/>
                <a:cs typeface="Pretendard"/>
              </a:rPr>
              <a:t>우범소년 요건에 해당하는지에 관한 판단</a:t>
            </a:r>
          </a:p>
        </p:txBody>
      </p:sp>
      <p:sp>
        <p:nvSpPr>
          <p:cNvPr id="21" name="conclusion_top">
            <a:extLst xmlns:a="http://schemas.openxmlformats.org/drawingml/2006/main">
              <a:ext uri="{FF2B5EF4-FFF2-40B4-BE49-F238E27FC236}">
                <a16:creationId xmlns:a16="http://schemas.microsoft.com/office/drawing/2014/main" id="{8BD465F9-28CE-48CA-98EB-1EA35E63C8BE}"/>
              </a:ext>
            </a:extLst>
          </p:cNvPr>
          <p:cNvSpPr>
            <a:spLocks xmlns:a="http://schemas.openxmlformats.org/drawingml/2006/main" noGrp="1"/>
          </p:cNvSpPr>
          <p:nvPr/>
        </p:nvSpPr>
        <p:spPr>
          <a:xfrm xmlns:a="http://schemas.openxmlformats.org/drawingml/2006/main">
            <a:off x="731520" y="5532120"/>
            <a:ext cx="10726103" cy="9525"/>
          </a:xfrm>
          <a:prstGeom xmlns:a="http://schemas.openxmlformats.org/drawingml/2006/main" prst="rect">
            <a:avLst/>
          </a:prstGeom>
          <a:solidFill xmlns:a="http://schemas.openxmlformats.org/drawingml/2006/main">
            <a:srgbClr val="DCE0E8"/>
          </a:solidFill>
          <a:ln xmlns:a="http://schemas.openxmlformats.org/drawingml/2006/main" w="0">
            <a:noFill/>
          </a:ln>
        </p:spPr>
      </p:sp>
      <p:sp>
        <p:nvSpPr>
          <p:cNvPr id="22" name="conclusion">
            <a:extLst xmlns:a="http://schemas.openxmlformats.org/drawingml/2006/main">
              <a:ext uri="{FF2B5EF4-FFF2-40B4-BE49-F238E27FC236}">
                <a16:creationId xmlns:a16="http://schemas.microsoft.com/office/drawing/2014/main" id="{91B9F161-DABD-435D-B575-DA27A059FE19}"/>
              </a:ext>
            </a:extLst>
          </p:cNvPr>
          <p:cNvSpPr>
            <a:spLocks xmlns:a="http://schemas.openxmlformats.org/drawingml/2006/main" noGrp="1"/>
          </p:cNvSpPr>
          <p:nvPr/>
        </p:nvSpPr>
        <p:spPr>
          <a:xfrm xmlns:a="http://schemas.openxmlformats.org/drawingml/2006/main">
            <a:off x="731520" y="5743575"/>
            <a:ext cx="10726103"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buNone/>
              <a:defRPr sz="1300" b="1">
                <a:solidFill>
                  <a:srgbClr val="1E2761"/>
                </a:solidFill>
                <a:latin typeface="Pretendard"/>
                <a:ea typeface="Pretendard"/>
                <a:cs typeface="Pretendard"/>
              </a:defRPr>
            </a:pPr>
            <a:r>
              <a:rPr sz="1300" b="1">
                <a:solidFill>
                  <a:srgbClr val="1E2761"/>
                </a:solidFill>
                <a:latin typeface="Pretendard"/>
                <a:ea typeface="Pretendard"/>
                <a:cs typeface="Pretendard"/>
              </a:rPr>
              <a:t>피해를 입을 위험이 크다는 설명만으로, 청소년의 장래 범법 우려까지 인정할 수는 없다.</a:t>
            </a:r>
          </a:p>
        </p:txBody>
      </p:sp>
      <p:sp>
        <p:nvSpPr>
          <p:cNvPr id="23" name="conclusion_bottom">
            <a:extLst xmlns:a="http://schemas.openxmlformats.org/drawingml/2006/main">
              <a:ext uri="{FF2B5EF4-FFF2-40B4-BE49-F238E27FC236}">
                <a16:creationId xmlns:a16="http://schemas.microsoft.com/office/drawing/2014/main" id="{63DDB553-86B9-4F87-9E5A-E0F77BB70607}"/>
              </a:ext>
            </a:extLst>
          </p:cNvPr>
          <p:cNvSpPr>
            <a:spLocks xmlns:a="http://schemas.openxmlformats.org/drawingml/2006/main" noGrp="1"/>
          </p:cNvSpPr>
          <p:nvPr/>
        </p:nvSpPr>
        <p:spPr>
          <a:xfrm xmlns:a="http://schemas.openxmlformats.org/drawingml/2006/main">
            <a:off x="731520" y="6144578"/>
            <a:ext cx="10726103" cy="16193"/>
          </a:xfrm>
          <a:prstGeom xmlns:a="http://schemas.openxmlformats.org/drawingml/2006/main" prst="rect">
            <a:avLst/>
          </a:prstGeom>
          <a:solidFill xmlns:a="http://schemas.openxmlformats.org/drawingml/2006/main">
            <a:srgbClr val="1E2761"/>
          </a:solidFill>
          <a:ln xmlns:a="http://schemas.openxmlformats.org/drawingml/2006/main" w="0">
            <a:noFill/>
          </a:ln>
        </p:spPr>
      </p:sp>
    </p:spTree>
    <p:extLst>
      <p:ext uri="{BB962C8B-B14F-4D97-AF65-F5344CB8AC3E}">
        <p14:creationId xmlns:p14="http://schemas.microsoft.com/office/powerpoint/2010/main" val="99225627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chapter">
            <a:extLst xmlns:a="http://schemas.openxmlformats.org/drawingml/2006/main">
              <a:ext uri="{FF2B5EF4-FFF2-40B4-BE49-F238E27FC236}">
                <a16:creationId xmlns:a16="http://schemas.microsoft.com/office/drawing/2014/main" id="{6AAEE2E1-CA82-415D-84AC-C8D1328CC4EE}"/>
              </a:ext>
            </a:extLst>
          </p:cNvPr>
          <p:cNvSpPr>
            <a:spLocks xmlns:a="http://schemas.openxmlformats.org/drawingml/2006/main" noGrp="1"/>
          </p:cNvSpPr>
          <p:nvPr/>
        </p:nvSpPr>
        <p:spPr>
          <a:xfrm xmlns:a="http://schemas.openxmlformats.org/drawingml/2006/main">
            <a:off x="731520" y="36576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buNone/>
              <a:defRPr sz="1250" b="1">
                <a:solidFill>
                  <a:srgbClr val="464D5C"/>
                </a:solidFill>
                <a:latin typeface="Pretendard"/>
                <a:ea typeface="Pretendard"/>
                <a:cs typeface="Pretendard"/>
              </a:defRPr>
            </a:pPr>
            <a:r>
              <a:rPr sz="1250" b="1" spc="200">
                <a:solidFill>
                  <a:srgbClr val="464D5C"/>
                </a:solidFill>
                <a:latin typeface="Pretendard"/>
                <a:ea typeface="Pretendard"/>
                <a:cs typeface="Pretendard"/>
              </a:rPr>
              <a:t>1. 논제의 대상과 현행 우범소년 제도</a:t>
            </a:r>
          </a:p>
        </p:txBody>
      </p:sp>
      <p:sp>
        <p:nvSpPr>
          <p:cNvPr id="2" name="next">
            <a:extLst xmlns:a="http://schemas.openxmlformats.org/drawingml/2006/main">
              <a:ext uri="{FF2B5EF4-FFF2-40B4-BE49-F238E27FC236}">
                <a16:creationId xmlns:a16="http://schemas.microsoft.com/office/drawing/2014/main" id="{8ED063EA-EF1B-4BC5-8739-2A0D20EBD5AB}"/>
              </a:ext>
            </a:extLst>
          </p:cNvPr>
          <p:cNvSpPr>
            <a:spLocks xmlns:a="http://schemas.openxmlformats.org/drawingml/2006/main" noGrp="1"/>
          </p:cNvSpPr>
          <p:nvPr/>
        </p:nvSpPr>
        <p:spPr>
          <a:xfrm xmlns:a="http://schemas.openxmlformats.org/drawingml/2006/main">
            <a:off x="6191250" y="383858"/>
            <a:ext cx="526351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18000"/>
              </a:lnSpc>
              <a:buNone/>
              <a:defRPr sz="1050" b="0">
                <a:solidFill>
                  <a:srgbClr val="6E7686"/>
                </a:solidFill>
                <a:latin typeface="Pretendard"/>
                <a:ea typeface="Pretendard"/>
                <a:cs typeface="Pretendard"/>
              </a:defRPr>
            </a:pPr>
            <a:r>
              <a:rPr sz="1050" b="0">
                <a:solidFill>
                  <a:srgbClr val="6E7686"/>
                </a:solidFill>
                <a:latin typeface="Pretendard"/>
                <a:ea typeface="Pretendard"/>
                <a:cs typeface="Pretendard"/>
              </a:rPr>
              <a:t>다음 → 반복 피해와 지원 연결의 어려움</a:t>
            </a:r>
          </a:p>
        </p:txBody>
      </p:sp>
      <p:sp>
        <p:nvSpPr>
          <p:cNvPr id="3" name="title">
            <a:extLst xmlns:a="http://schemas.openxmlformats.org/drawingml/2006/main">
              <a:ext uri="{FF2B5EF4-FFF2-40B4-BE49-F238E27FC236}">
                <a16:creationId xmlns:a16="http://schemas.microsoft.com/office/drawing/2014/main" id="{9E828572-0393-45B1-80A5-C81FBAB3D858}"/>
              </a:ext>
            </a:extLst>
          </p:cNvPr>
          <p:cNvSpPr>
            <a:spLocks xmlns:a="http://schemas.openxmlformats.org/drawingml/2006/main" noGrp="1"/>
          </p:cNvSpPr>
          <p:nvPr/>
        </p:nvSpPr>
        <p:spPr>
          <a:xfrm xmlns:a="http://schemas.openxmlformats.org/drawingml/2006/main">
            <a:off x="731520" y="762000"/>
            <a:ext cx="10726103"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buNone/>
              <a:defRPr sz="2750" b="1">
                <a:solidFill>
                  <a:srgbClr val="1E2761"/>
                </a:solidFill>
                <a:latin typeface="Pretendard"/>
                <a:ea typeface="Pretendard"/>
                <a:cs typeface="Pretendard"/>
              </a:defRPr>
            </a:pPr>
            <a:r>
              <a:rPr sz="2750" b="1">
                <a:solidFill>
                  <a:srgbClr val="1E2761"/>
                </a:solidFill>
                <a:latin typeface="Pretendard"/>
                <a:ea typeface="Pretendard"/>
                <a:cs typeface="Pretendard"/>
              </a:rPr>
              <a:t>우범소년 사건의 송치·통고 경로</a:t>
            </a:r>
          </a:p>
        </p:txBody>
      </p:sp>
      <p:sp>
        <p:nvSpPr>
          <p:cNvPr id="4" name="summary_bg">
            <a:extLst xmlns:a="http://schemas.openxmlformats.org/drawingml/2006/main">
              <a:ext uri="{FF2B5EF4-FFF2-40B4-BE49-F238E27FC236}">
                <a16:creationId xmlns:a16="http://schemas.microsoft.com/office/drawing/2014/main" id="{BDD01553-93E7-4FBD-B7D8-89EB48C79F04}"/>
              </a:ext>
            </a:extLst>
          </p:cNvPr>
          <p:cNvSpPr>
            <a:spLocks xmlns:a="http://schemas.openxmlformats.org/drawingml/2006/main" noGrp="1"/>
          </p:cNvSpPr>
          <p:nvPr/>
        </p:nvSpPr>
        <p:spPr>
          <a:xfrm xmlns:a="http://schemas.openxmlformats.org/drawingml/2006/main">
            <a:off x="731520" y="1417320"/>
            <a:ext cx="10726103" cy="548640"/>
          </a:xfrm>
          <a:prstGeom xmlns:a="http://schemas.openxmlformats.org/drawingml/2006/main" prst="rect">
            <a:avLst/>
          </a:prstGeom>
          <a:solidFill xmlns:a="http://schemas.openxmlformats.org/drawingml/2006/main">
            <a:srgbClr val="F2F4F8"/>
          </a:solidFill>
          <a:ln xmlns:a="http://schemas.openxmlformats.org/drawingml/2006/main" w="0">
            <a:noFill/>
          </a:ln>
        </p:spPr>
      </p:sp>
      <p:sp>
        <p:nvSpPr>
          <p:cNvPr id="5" name="summary_marker">
            <a:extLst xmlns:a="http://schemas.openxmlformats.org/drawingml/2006/main">
              <a:ext uri="{FF2B5EF4-FFF2-40B4-BE49-F238E27FC236}">
                <a16:creationId xmlns:a16="http://schemas.microsoft.com/office/drawing/2014/main" id="{7050DB8A-5973-4108-824A-B05D941A609C}"/>
              </a:ext>
            </a:extLst>
          </p:cNvPr>
          <p:cNvSpPr>
            <a:spLocks xmlns:a="http://schemas.openxmlformats.org/drawingml/2006/main" noGrp="1"/>
          </p:cNvSpPr>
          <p:nvPr/>
        </p:nvSpPr>
        <p:spPr>
          <a:xfrm xmlns:a="http://schemas.openxmlformats.org/drawingml/2006/main">
            <a:off x="731520" y="1417320"/>
            <a:ext cx="47625" cy="548640"/>
          </a:xfrm>
          <a:prstGeom xmlns:a="http://schemas.openxmlformats.org/drawingml/2006/main" prst="rect">
            <a:avLst/>
          </a:prstGeom>
          <a:solidFill xmlns:a="http://schemas.openxmlformats.org/drawingml/2006/main">
            <a:srgbClr val="1E2761"/>
          </a:solidFill>
          <a:ln xmlns:a="http://schemas.openxmlformats.org/drawingml/2006/main" w="0">
            <a:noFill/>
          </a:ln>
        </p:spPr>
      </p:sp>
      <p:sp>
        <p:nvSpPr>
          <p:cNvPr id="6" name="summary">
            <a:extLst xmlns:a="http://schemas.openxmlformats.org/drawingml/2006/main">
              <a:ext uri="{FF2B5EF4-FFF2-40B4-BE49-F238E27FC236}">
                <a16:creationId xmlns:a16="http://schemas.microsoft.com/office/drawing/2014/main" id="{64AC35F0-98AB-458E-AF80-A1555870070C}"/>
              </a:ext>
            </a:extLst>
          </p:cNvPr>
          <p:cNvSpPr>
            <a:spLocks xmlns:a="http://schemas.openxmlformats.org/drawingml/2006/main" noGrp="1"/>
          </p:cNvSpPr>
          <p:nvPr/>
        </p:nvSpPr>
        <p:spPr>
          <a:xfrm xmlns:a="http://schemas.openxmlformats.org/drawingml/2006/main">
            <a:off x="1005840" y="1600200"/>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buNone/>
              <a:defRPr sz="1300" b="1">
                <a:solidFill>
                  <a:srgbClr val="1E2761"/>
                </a:solidFill>
                <a:latin typeface="Pretendard"/>
                <a:ea typeface="Pretendard"/>
                <a:cs typeface="Pretendard"/>
              </a:defRPr>
            </a:pPr>
            <a:r>
              <a:rPr sz="1300" b="1">
                <a:solidFill>
                  <a:srgbClr val="1E2761"/>
                </a:solidFill>
                <a:latin typeface="Pretendard"/>
                <a:ea typeface="Pretendard"/>
                <a:cs typeface="Pretendard"/>
              </a:rPr>
              <a:t>경찰서장의 송치와 보호자·기관장의 통고는 소년부로 이어지지만, 주체와 법적 성격이 다르다</a:t>
            </a:r>
          </a:p>
        </p:txBody>
      </p:sp>
      <p:sp>
        <p:nvSpPr>
          <p:cNvPr id="7" name="police_rule">
            <a:extLst xmlns:a="http://schemas.openxmlformats.org/drawingml/2006/main">
              <a:ext uri="{FF2B5EF4-FFF2-40B4-BE49-F238E27FC236}">
                <a16:creationId xmlns:a16="http://schemas.microsoft.com/office/drawing/2014/main" id="{70595D2E-1818-4ED8-BA65-C2AC97D34E02}"/>
              </a:ext>
            </a:extLst>
          </p:cNvPr>
          <p:cNvSpPr>
            <a:spLocks xmlns:a="http://schemas.openxmlformats.org/drawingml/2006/main" noGrp="1"/>
          </p:cNvSpPr>
          <p:nvPr/>
        </p:nvSpPr>
        <p:spPr>
          <a:xfrm xmlns:a="http://schemas.openxmlformats.org/drawingml/2006/main">
            <a:off x="731520" y="2466975"/>
            <a:ext cx="4619625" cy="38100"/>
          </a:xfrm>
          <a:prstGeom xmlns:a="http://schemas.openxmlformats.org/drawingml/2006/main" prst="rect">
            <a:avLst/>
          </a:prstGeom>
          <a:solidFill xmlns:a="http://schemas.openxmlformats.org/drawingml/2006/main">
            <a:srgbClr val="5A6699"/>
          </a:solidFill>
          <a:ln xmlns:a="http://schemas.openxmlformats.org/drawingml/2006/main" w="0">
            <a:noFill/>
          </a:ln>
        </p:spPr>
      </p:sp>
      <p:sp>
        <p:nvSpPr>
          <p:cNvPr id="8" name="police_head">
            <a:extLst xmlns:a="http://schemas.openxmlformats.org/drawingml/2006/main">
              <a:ext uri="{FF2B5EF4-FFF2-40B4-BE49-F238E27FC236}">
                <a16:creationId xmlns:a16="http://schemas.microsoft.com/office/drawing/2014/main" id="{55453251-67C4-4A77-B5D1-38DE6C04DE3A}"/>
              </a:ext>
            </a:extLst>
          </p:cNvPr>
          <p:cNvSpPr>
            <a:spLocks xmlns:a="http://schemas.openxmlformats.org/drawingml/2006/main" noGrp="1"/>
          </p:cNvSpPr>
          <p:nvPr/>
        </p:nvSpPr>
        <p:spPr>
          <a:xfrm xmlns:a="http://schemas.openxmlformats.org/drawingml/2006/main">
            <a:off x="731520" y="2638425"/>
            <a:ext cx="4619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buNone/>
              <a:defRPr sz="1400" b="1">
                <a:solidFill>
                  <a:srgbClr val="1E2761"/>
                </a:solidFill>
                <a:latin typeface="Pretendard"/>
                <a:ea typeface="Pretendard"/>
                <a:cs typeface="Pretendard"/>
              </a:defRPr>
            </a:pPr>
            <a:r>
              <a:rPr sz="1400" b="1">
                <a:solidFill>
                  <a:srgbClr val="1E2761"/>
                </a:solidFill>
                <a:latin typeface="Pretendard"/>
                <a:ea typeface="Pretendard"/>
                <a:cs typeface="Pretendard"/>
              </a:rPr>
              <a:t>경찰서장  ·  직접 송치</a:t>
            </a:r>
          </a:p>
        </p:txBody>
      </p:sp>
      <p:sp>
        <p:nvSpPr>
          <p:cNvPr id="9" name="police_detail">
            <a:extLst xmlns:a="http://schemas.openxmlformats.org/drawingml/2006/main">
              <a:ext uri="{FF2B5EF4-FFF2-40B4-BE49-F238E27FC236}">
                <a16:creationId xmlns:a16="http://schemas.microsoft.com/office/drawing/2014/main" id="{EFC9BA17-FF30-4B3A-AB1B-38FDD6E3B385}"/>
              </a:ext>
            </a:extLst>
          </p:cNvPr>
          <p:cNvSpPr>
            <a:spLocks xmlns:a="http://schemas.openxmlformats.org/drawingml/2006/main" noGrp="1"/>
          </p:cNvSpPr>
          <p:nvPr/>
        </p:nvSpPr>
        <p:spPr>
          <a:xfrm xmlns:a="http://schemas.openxmlformats.org/drawingml/2006/main">
            <a:off x="731520" y="2962275"/>
            <a:ext cx="4619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5000"/>
              </a:lnSpc>
              <a:buNone/>
              <a:defRPr sz="1400" b="0">
                <a:solidFill>
                  <a:srgbClr val="222633"/>
                </a:solidFill>
                <a:latin typeface="Pretendard"/>
                <a:ea typeface="Pretendard"/>
                <a:cs typeface="Pretendard"/>
              </a:defRPr>
            </a:pPr>
            <a:r>
              <a:rPr sz="1400" b="0">
                <a:solidFill>
                  <a:srgbClr val="222633"/>
                </a:solidFill>
                <a:latin typeface="Pretendard"/>
                <a:ea typeface="Pretendard"/>
                <a:cs typeface="Pretendard"/>
              </a:rPr>
              <a:t>촉법소년·우범소년에 해당하면</a:t>
            </a:r>
          </a:p>
          <a:p xmlns:a="http://schemas.openxmlformats.org/drawingml/2006/main">
            <a:pPr algn="l">
              <a:lnSpc>
                <a:spcPct val="125000"/>
              </a:lnSpc>
              <a:buNone/>
              <a:defRPr sz="1400" b="0">
                <a:solidFill>
                  <a:srgbClr val="222633"/>
                </a:solidFill>
                <a:latin typeface="Pretendard"/>
                <a:ea typeface="Pretendard"/>
                <a:cs typeface="Pretendard"/>
              </a:defRPr>
            </a:pPr>
            <a:r>
              <a:rPr sz="1400" b="0">
                <a:solidFill>
                  <a:srgbClr val="222633"/>
                </a:solidFill>
                <a:latin typeface="Pretendard"/>
                <a:ea typeface="Pretendard"/>
                <a:cs typeface="Pretendard"/>
              </a:rPr>
              <a:t>직접 관할 소년부에 송치하여야 한다.</a:t>
            </a:r>
          </a:p>
        </p:txBody>
      </p:sp>
      <p:sp>
        <p:nvSpPr>
          <p:cNvPr id="10" name="police_law">
            <a:extLst xmlns:a="http://schemas.openxmlformats.org/drawingml/2006/main">
              <a:ext uri="{FF2B5EF4-FFF2-40B4-BE49-F238E27FC236}">
                <a16:creationId xmlns:a16="http://schemas.microsoft.com/office/drawing/2014/main" id="{0EFC227F-1908-4CEB-8066-A4C04FCB0ADD}"/>
              </a:ext>
            </a:extLst>
          </p:cNvPr>
          <p:cNvSpPr>
            <a:spLocks xmlns:a="http://schemas.openxmlformats.org/drawingml/2006/main" noGrp="1"/>
          </p:cNvSpPr>
          <p:nvPr/>
        </p:nvSpPr>
        <p:spPr>
          <a:xfrm xmlns:a="http://schemas.openxmlformats.org/drawingml/2006/main">
            <a:off x="731520" y="3638550"/>
            <a:ext cx="4619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buNone/>
              <a:defRPr sz="1050" b="0">
                <a:solidFill>
                  <a:srgbClr val="6E7686"/>
                </a:solidFill>
                <a:latin typeface="Pretendard"/>
                <a:ea typeface="Pretendard"/>
                <a:cs typeface="Pretendard"/>
              </a:defRPr>
            </a:pPr>
            <a:r>
              <a:rPr sz="1050" b="0">
                <a:solidFill>
                  <a:srgbClr val="6E7686"/>
                </a:solidFill>
                <a:latin typeface="Pretendard"/>
                <a:ea typeface="Pretendard"/>
                <a:cs typeface="Pretendard"/>
              </a:rPr>
              <a:t>소년법 제4조 제2항</a:t>
            </a:r>
          </a:p>
        </p:txBody>
      </p:sp>
      <p:sp>
        <p:nvSpPr>
          <p:cNvPr id="11" name="notifier_rule">
            <a:extLst xmlns:a="http://schemas.openxmlformats.org/drawingml/2006/main">
              <a:ext uri="{FF2B5EF4-FFF2-40B4-BE49-F238E27FC236}">
                <a16:creationId xmlns:a16="http://schemas.microsoft.com/office/drawing/2014/main" id="{480F3648-F416-474B-9A26-D1E5F38E8261}"/>
              </a:ext>
            </a:extLst>
          </p:cNvPr>
          <p:cNvSpPr>
            <a:spLocks xmlns:a="http://schemas.openxmlformats.org/drawingml/2006/main" noGrp="1"/>
          </p:cNvSpPr>
          <p:nvPr/>
        </p:nvSpPr>
        <p:spPr>
          <a:xfrm xmlns:a="http://schemas.openxmlformats.org/drawingml/2006/main">
            <a:off x="731520" y="4143375"/>
            <a:ext cx="4619625" cy="38100"/>
          </a:xfrm>
          <a:prstGeom xmlns:a="http://schemas.openxmlformats.org/drawingml/2006/main" prst="rect">
            <a:avLst/>
          </a:prstGeom>
          <a:solidFill xmlns:a="http://schemas.openxmlformats.org/drawingml/2006/main">
            <a:srgbClr val="5A6699"/>
          </a:solidFill>
          <a:ln xmlns:a="http://schemas.openxmlformats.org/drawingml/2006/main" w="0">
            <a:noFill/>
          </a:ln>
        </p:spPr>
      </p:sp>
      <p:sp>
        <p:nvSpPr>
          <p:cNvPr id="12" name="notifier_head">
            <a:extLst xmlns:a="http://schemas.openxmlformats.org/drawingml/2006/main">
              <a:ext uri="{FF2B5EF4-FFF2-40B4-BE49-F238E27FC236}">
                <a16:creationId xmlns:a16="http://schemas.microsoft.com/office/drawing/2014/main" id="{81445C49-50F9-44A6-B881-C4FA5BDE0B9C}"/>
              </a:ext>
            </a:extLst>
          </p:cNvPr>
          <p:cNvSpPr>
            <a:spLocks xmlns:a="http://schemas.openxmlformats.org/drawingml/2006/main" noGrp="1"/>
          </p:cNvSpPr>
          <p:nvPr/>
        </p:nvSpPr>
        <p:spPr>
          <a:xfrm xmlns:a="http://schemas.openxmlformats.org/drawingml/2006/main">
            <a:off x="731520" y="4314825"/>
            <a:ext cx="4619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buNone/>
              <a:defRPr sz="1400" b="1">
                <a:solidFill>
                  <a:srgbClr val="1E2761"/>
                </a:solidFill>
                <a:latin typeface="Pretendard"/>
                <a:ea typeface="Pretendard"/>
                <a:cs typeface="Pretendard"/>
              </a:defRPr>
            </a:pPr>
            <a:r>
              <a:rPr sz="1400" b="1">
                <a:solidFill>
                  <a:srgbClr val="1E2761"/>
                </a:solidFill>
                <a:latin typeface="Pretendard"/>
                <a:ea typeface="Pretendard"/>
                <a:cs typeface="Pretendard"/>
              </a:rPr>
              <a:t>보호자·학교·사회복리시설·보호관찰소의 장</a:t>
            </a:r>
          </a:p>
        </p:txBody>
      </p:sp>
      <p:sp>
        <p:nvSpPr>
          <p:cNvPr id="13" name="notifier_detail">
            <a:extLst xmlns:a="http://schemas.openxmlformats.org/drawingml/2006/main">
              <a:ext uri="{FF2B5EF4-FFF2-40B4-BE49-F238E27FC236}">
                <a16:creationId xmlns:a16="http://schemas.microsoft.com/office/drawing/2014/main" id="{43ADB0A1-4505-4FD2-974B-731BBDD2CD46}"/>
              </a:ext>
            </a:extLst>
          </p:cNvPr>
          <p:cNvSpPr>
            <a:spLocks xmlns:a="http://schemas.openxmlformats.org/drawingml/2006/main" noGrp="1"/>
          </p:cNvSpPr>
          <p:nvPr/>
        </p:nvSpPr>
        <p:spPr>
          <a:xfrm xmlns:a="http://schemas.openxmlformats.org/drawingml/2006/main">
            <a:off x="731520" y="4638675"/>
            <a:ext cx="4619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5000"/>
              </a:lnSpc>
              <a:buNone/>
              <a:defRPr sz="1400" b="0">
                <a:solidFill>
                  <a:srgbClr val="222633"/>
                </a:solidFill>
                <a:latin typeface="Pretendard"/>
                <a:ea typeface="Pretendard"/>
                <a:cs typeface="Pretendard"/>
              </a:defRPr>
            </a:pPr>
            <a:r>
              <a:rPr sz="1400" b="0">
                <a:solidFill>
                  <a:srgbClr val="222633"/>
                </a:solidFill>
                <a:latin typeface="Pretendard"/>
                <a:ea typeface="Pretendard"/>
                <a:cs typeface="Pretendard"/>
              </a:rPr>
              <a:t>제4조 제1항의 소년을 발견하면</a:t>
            </a:r>
          </a:p>
          <a:p xmlns:a="http://schemas.openxmlformats.org/drawingml/2006/main">
            <a:pPr algn="l">
              <a:lnSpc>
                <a:spcPct val="125000"/>
              </a:lnSpc>
              <a:buNone/>
              <a:defRPr sz="1400" b="0">
                <a:solidFill>
                  <a:srgbClr val="222633"/>
                </a:solidFill>
                <a:latin typeface="Pretendard"/>
                <a:ea typeface="Pretendard"/>
                <a:cs typeface="Pretendard"/>
              </a:defRPr>
            </a:pPr>
            <a:r>
              <a:rPr sz="1400" b="0">
                <a:solidFill>
                  <a:srgbClr val="222633"/>
                </a:solidFill>
                <a:latin typeface="Pretendard"/>
                <a:ea typeface="Pretendard"/>
                <a:cs typeface="Pretendard"/>
              </a:rPr>
              <a:t>관할 소년부에 통고할 수 있다.</a:t>
            </a:r>
          </a:p>
        </p:txBody>
      </p:sp>
      <p:sp>
        <p:nvSpPr>
          <p:cNvPr id="14" name="notifier_law">
            <a:extLst xmlns:a="http://schemas.openxmlformats.org/drawingml/2006/main">
              <a:ext uri="{FF2B5EF4-FFF2-40B4-BE49-F238E27FC236}">
                <a16:creationId xmlns:a16="http://schemas.microsoft.com/office/drawing/2014/main" id="{3C2972AB-83E5-42FB-A5EF-B712872B5A8D}"/>
              </a:ext>
            </a:extLst>
          </p:cNvPr>
          <p:cNvSpPr>
            <a:spLocks xmlns:a="http://schemas.openxmlformats.org/drawingml/2006/main" noGrp="1"/>
          </p:cNvSpPr>
          <p:nvPr/>
        </p:nvSpPr>
        <p:spPr>
          <a:xfrm xmlns:a="http://schemas.openxmlformats.org/drawingml/2006/main">
            <a:off x="731520" y="5276850"/>
            <a:ext cx="46196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buNone/>
              <a:defRPr sz="1050" b="0">
                <a:solidFill>
                  <a:srgbClr val="6E7686"/>
                </a:solidFill>
                <a:latin typeface="Pretendard"/>
                <a:ea typeface="Pretendard"/>
                <a:cs typeface="Pretendard"/>
              </a:defRPr>
            </a:pPr>
            <a:r>
              <a:rPr sz="1050" b="0">
                <a:solidFill>
                  <a:srgbClr val="6E7686"/>
                </a:solidFill>
                <a:latin typeface="Pretendard"/>
                <a:ea typeface="Pretendard"/>
                <a:cs typeface="Pretendard"/>
              </a:rPr>
              <a:t>소년법 제4조 제3항</a:t>
            </a:r>
          </a:p>
        </p:txBody>
      </p:sp>
      <p:sp>
        <p:nvSpPr>
          <p:cNvPr id="15" name="merge_vertical">
            <a:extLst xmlns:a="http://schemas.openxmlformats.org/drawingml/2006/main">
              <a:ext uri="{FF2B5EF4-FFF2-40B4-BE49-F238E27FC236}">
                <a16:creationId xmlns:a16="http://schemas.microsoft.com/office/drawing/2014/main" id="{74B96755-DCB7-467F-AE87-8788A0C94A3A}"/>
              </a:ext>
            </a:extLst>
          </p:cNvPr>
          <p:cNvSpPr>
            <a:spLocks xmlns:a="http://schemas.openxmlformats.org/drawingml/2006/main" noGrp="1"/>
          </p:cNvSpPr>
          <p:nvPr/>
        </p:nvSpPr>
        <p:spPr>
          <a:xfrm xmlns:a="http://schemas.openxmlformats.org/drawingml/2006/main">
            <a:off x="5838825" y="3248025"/>
            <a:ext cx="13335" cy="1714500"/>
          </a:xfrm>
          <a:prstGeom xmlns:a="http://schemas.openxmlformats.org/drawingml/2006/main" prst="rect">
            <a:avLst/>
          </a:prstGeom>
          <a:solidFill xmlns:a="http://schemas.openxmlformats.org/drawingml/2006/main">
            <a:srgbClr val="C9CEDA"/>
          </a:solidFill>
          <a:ln xmlns:a="http://schemas.openxmlformats.org/drawingml/2006/main" w="0">
            <a:noFill/>
          </a:ln>
        </p:spPr>
      </p:sp>
      <p:sp>
        <p:nvSpPr>
          <p:cNvPr id="16" name="merge_upper">
            <a:extLst xmlns:a="http://schemas.openxmlformats.org/drawingml/2006/main">
              <a:ext uri="{FF2B5EF4-FFF2-40B4-BE49-F238E27FC236}">
                <a16:creationId xmlns:a16="http://schemas.microsoft.com/office/drawing/2014/main" id="{49227C72-831C-4FC2-8A7C-0BDD8510DBDE}"/>
              </a:ext>
            </a:extLst>
          </p:cNvPr>
          <p:cNvSpPr>
            <a:spLocks xmlns:a="http://schemas.openxmlformats.org/drawingml/2006/main" noGrp="1"/>
          </p:cNvSpPr>
          <p:nvPr/>
        </p:nvSpPr>
        <p:spPr>
          <a:xfrm xmlns:a="http://schemas.openxmlformats.org/drawingml/2006/main">
            <a:off x="5591175" y="3248025"/>
            <a:ext cx="257175" cy="13335"/>
          </a:xfrm>
          <a:prstGeom xmlns:a="http://schemas.openxmlformats.org/drawingml/2006/main" prst="rect">
            <a:avLst/>
          </a:prstGeom>
          <a:solidFill xmlns:a="http://schemas.openxmlformats.org/drawingml/2006/main">
            <a:srgbClr val="C9CEDA"/>
          </a:solidFill>
          <a:ln xmlns:a="http://schemas.openxmlformats.org/drawingml/2006/main" w="0">
            <a:noFill/>
          </a:ln>
        </p:spPr>
      </p:sp>
      <p:sp>
        <p:nvSpPr>
          <p:cNvPr id="17" name="merge_lower">
            <a:extLst xmlns:a="http://schemas.openxmlformats.org/drawingml/2006/main">
              <a:ext uri="{FF2B5EF4-FFF2-40B4-BE49-F238E27FC236}">
                <a16:creationId xmlns:a16="http://schemas.microsoft.com/office/drawing/2014/main" id="{C4F66EF4-DD99-4FEA-AF58-34E9C8E94CDB}"/>
              </a:ext>
            </a:extLst>
          </p:cNvPr>
          <p:cNvSpPr>
            <a:spLocks xmlns:a="http://schemas.openxmlformats.org/drawingml/2006/main" noGrp="1"/>
          </p:cNvSpPr>
          <p:nvPr/>
        </p:nvSpPr>
        <p:spPr>
          <a:xfrm xmlns:a="http://schemas.openxmlformats.org/drawingml/2006/main">
            <a:off x="5591175" y="4953000"/>
            <a:ext cx="257175" cy="13335"/>
          </a:xfrm>
          <a:prstGeom xmlns:a="http://schemas.openxmlformats.org/drawingml/2006/main" prst="rect">
            <a:avLst/>
          </a:prstGeom>
          <a:solidFill xmlns:a="http://schemas.openxmlformats.org/drawingml/2006/main">
            <a:srgbClr val="C9CEDA"/>
          </a:solidFill>
          <a:ln xmlns:a="http://schemas.openxmlformats.org/drawingml/2006/main" w="0">
            <a:noFill/>
          </a:ln>
        </p:spPr>
      </p:sp>
      <p:sp>
        <p:nvSpPr>
          <p:cNvPr id="18" name="merge_arrow">
            <a:extLst xmlns:a="http://schemas.openxmlformats.org/drawingml/2006/main">
              <a:ext uri="{FF2B5EF4-FFF2-40B4-BE49-F238E27FC236}">
                <a16:creationId xmlns:a16="http://schemas.microsoft.com/office/drawing/2014/main" id="{F4D3F02C-0AF5-46F9-B167-A03B2C27F90E}"/>
              </a:ext>
            </a:extLst>
          </p:cNvPr>
          <p:cNvSpPr>
            <a:spLocks xmlns:a="http://schemas.openxmlformats.org/drawingml/2006/main" noGrp="1"/>
          </p:cNvSpPr>
          <p:nvPr/>
        </p:nvSpPr>
        <p:spPr>
          <a:xfrm xmlns:a="http://schemas.openxmlformats.org/drawingml/2006/main">
            <a:off x="5886450" y="3962400"/>
            <a:ext cx="3238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18000"/>
              </a:lnSpc>
              <a:buNone/>
              <a:defRPr sz="1800" b="1">
                <a:solidFill>
                  <a:srgbClr val="C2A648"/>
                </a:solidFill>
                <a:latin typeface="Pretendard"/>
                <a:ea typeface="Pretendard"/>
                <a:cs typeface="Pretendard"/>
              </a:defRPr>
            </a:pPr>
            <a:r>
              <a:rPr sz="1800" b="1">
                <a:solidFill>
                  <a:srgbClr val="C2A648"/>
                </a:solidFill>
                <a:latin typeface="Pretendard"/>
                <a:ea typeface="Pretendard"/>
                <a:cs typeface="Pretendard"/>
              </a:rPr>
              <a:t>→</a:t>
            </a:r>
          </a:p>
        </p:txBody>
      </p:sp>
      <p:sp>
        <p:nvSpPr>
          <p:cNvPr id="19" name="court_rule">
            <a:extLst xmlns:a="http://schemas.openxmlformats.org/drawingml/2006/main">
              <a:ext uri="{FF2B5EF4-FFF2-40B4-BE49-F238E27FC236}">
                <a16:creationId xmlns:a16="http://schemas.microsoft.com/office/drawing/2014/main" id="{8DF88F20-0707-47A4-AF98-7E8226DD68A7}"/>
              </a:ext>
            </a:extLst>
          </p:cNvPr>
          <p:cNvSpPr>
            <a:spLocks xmlns:a="http://schemas.openxmlformats.org/drawingml/2006/main" noGrp="1"/>
          </p:cNvSpPr>
          <p:nvPr/>
        </p:nvSpPr>
        <p:spPr>
          <a:xfrm xmlns:a="http://schemas.openxmlformats.org/drawingml/2006/main">
            <a:off x="6457950" y="3086100"/>
            <a:ext cx="5000625" cy="38100"/>
          </a:xfrm>
          <a:prstGeom xmlns:a="http://schemas.openxmlformats.org/drawingml/2006/main" prst="rect">
            <a:avLst/>
          </a:prstGeom>
          <a:solidFill xmlns:a="http://schemas.openxmlformats.org/drawingml/2006/main">
            <a:srgbClr val="5A6699"/>
          </a:solidFill>
          <a:ln xmlns:a="http://schemas.openxmlformats.org/drawingml/2006/main" w="0">
            <a:noFill/>
          </a:ln>
        </p:spPr>
      </p:sp>
      <p:sp>
        <p:nvSpPr>
          <p:cNvPr id="20" name="court_head">
            <a:extLst xmlns:a="http://schemas.openxmlformats.org/drawingml/2006/main">
              <a:ext uri="{FF2B5EF4-FFF2-40B4-BE49-F238E27FC236}">
                <a16:creationId xmlns:a16="http://schemas.microsoft.com/office/drawing/2014/main" id="{99000E59-97E0-4C38-8021-8F9564D7A03A}"/>
              </a:ext>
            </a:extLst>
          </p:cNvPr>
          <p:cNvSpPr>
            <a:spLocks xmlns:a="http://schemas.openxmlformats.org/drawingml/2006/main" noGrp="1"/>
          </p:cNvSpPr>
          <p:nvPr/>
        </p:nvSpPr>
        <p:spPr>
          <a:xfrm xmlns:a="http://schemas.openxmlformats.org/drawingml/2006/main">
            <a:off x="6457950" y="3257550"/>
            <a:ext cx="5000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buNone/>
              <a:defRPr sz="1400" b="1">
                <a:solidFill>
                  <a:srgbClr val="1E2761"/>
                </a:solidFill>
                <a:latin typeface="Pretendard"/>
                <a:ea typeface="Pretendard"/>
                <a:cs typeface="Pretendard"/>
              </a:defRPr>
            </a:pPr>
            <a:r>
              <a:rPr sz="1400" b="1">
                <a:solidFill>
                  <a:srgbClr val="1E2761"/>
                </a:solidFill>
                <a:latin typeface="Pretendard"/>
                <a:ea typeface="Pretendard"/>
                <a:cs typeface="Pretendard"/>
              </a:rPr>
              <a:t>소년부 판사의 판단</a:t>
            </a:r>
          </a:p>
        </p:txBody>
      </p:sp>
      <p:sp>
        <p:nvSpPr>
          <p:cNvPr id="21" name="court_process">
            <a:extLst xmlns:a="http://schemas.openxmlformats.org/drawingml/2006/main">
              <a:ext uri="{FF2B5EF4-FFF2-40B4-BE49-F238E27FC236}">
                <a16:creationId xmlns:a16="http://schemas.microsoft.com/office/drawing/2014/main" id="{E245ADB3-1957-46A2-81A4-FB8AB104BBD7}"/>
              </a:ext>
            </a:extLst>
          </p:cNvPr>
          <p:cNvSpPr>
            <a:spLocks xmlns:a="http://schemas.openxmlformats.org/drawingml/2006/main" noGrp="1"/>
          </p:cNvSpPr>
          <p:nvPr/>
        </p:nvSpPr>
        <p:spPr>
          <a:xfrm xmlns:a="http://schemas.openxmlformats.org/drawingml/2006/main">
            <a:off x="6457950" y="3648075"/>
            <a:ext cx="50006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buNone/>
              <a:defRPr sz="1400" b="1">
                <a:solidFill>
                  <a:srgbClr val="222633"/>
                </a:solidFill>
                <a:latin typeface="Pretendard"/>
                <a:ea typeface="Pretendard"/>
                <a:cs typeface="Pretendard"/>
              </a:defRPr>
            </a:pPr>
            <a:r>
              <a:rPr sz="1400" b="1">
                <a:solidFill>
                  <a:srgbClr val="222633"/>
                </a:solidFill>
                <a:latin typeface="Pretendard"/>
                <a:ea typeface="Pretendard"/>
                <a:cs typeface="Pretendard"/>
              </a:rPr>
              <a:t>사실·환경 조사 → 심리·처분 필요성 판단</a:t>
            </a:r>
          </a:p>
        </p:txBody>
      </p:sp>
      <p:sp>
        <p:nvSpPr>
          <p:cNvPr id="22" name="court_detail">
            <a:extLst xmlns:a="http://schemas.openxmlformats.org/drawingml/2006/main">
              <a:ext uri="{FF2B5EF4-FFF2-40B4-BE49-F238E27FC236}">
                <a16:creationId xmlns:a16="http://schemas.microsoft.com/office/drawing/2014/main" id="{39663BED-C186-4C41-915B-2A53395EFEA2}"/>
              </a:ext>
            </a:extLst>
          </p:cNvPr>
          <p:cNvSpPr>
            <a:spLocks xmlns:a="http://schemas.openxmlformats.org/drawingml/2006/main" noGrp="1"/>
          </p:cNvSpPr>
          <p:nvPr/>
        </p:nvSpPr>
        <p:spPr>
          <a:xfrm xmlns:a="http://schemas.openxmlformats.org/drawingml/2006/main">
            <a:off x="6457950" y="4143375"/>
            <a:ext cx="50006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5000"/>
              </a:lnSpc>
              <a:buNone/>
              <a:defRPr sz="1250" b="0">
                <a:solidFill>
                  <a:srgbClr val="464D5C"/>
                </a:solidFill>
                <a:latin typeface="Pretendard"/>
                <a:ea typeface="Pretendard"/>
                <a:cs typeface="Pretendard"/>
              </a:defRPr>
            </a:pPr>
            <a:r>
              <a:rPr sz="1250" b="0">
                <a:solidFill>
                  <a:srgbClr val="464D5C"/>
                </a:solidFill>
                <a:latin typeface="Pretendard"/>
                <a:ea typeface="Pretendard"/>
                <a:cs typeface="Pretendard"/>
              </a:rPr>
              <a:t>심리불개시·불처분 결정도 가능하다.</a:t>
            </a:r>
          </a:p>
          <a:p xmlns:a="http://schemas.openxmlformats.org/drawingml/2006/main">
            <a:pPr algn="l">
              <a:lnSpc>
                <a:spcPct val="125000"/>
              </a:lnSpc>
              <a:buNone/>
              <a:defRPr sz="1250" b="0">
                <a:solidFill>
                  <a:srgbClr val="464D5C"/>
                </a:solidFill>
                <a:latin typeface="Pretendard"/>
                <a:ea typeface="Pretendard"/>
                <a:cs typeface="Pretendard"/>
              </a:defRPr>
            </a:pPr>
            <a:r>
              <a:rPr sz="1250" b="0">
                <a:solidFill>
                  <a:srgbClr val="464D5C"/>
                </a:solidFill>
                <a:latin typeface="Pretendard"/>
                <a:ea typeface="Pretendard"/>
                <a:cs typeface="Pretendard"/>
              </a:rPr>
              <a:t>보호처분이 필요하면 종류와 내용을 정한다.</a:t>
            </a:r>
          </a:p>
        </p:txBody>
      </p:sp>
      <p:sp>
        <p:nvSpPr>
          <p:cNvPr id="23" name="court_law">
            <a:extLst xmlns:a="http://schemas.openxmlformats.org/drawingml/2006/main">
              <a:ext uri="{FF2B5EF4-FFF2-40B4-BE49-F238E27FC236}">
                <a16:creationId xmlns:a16="http://schemas.microsoft.com/office/drawing/2014/main" id="{D4FB86F5-DF87-4629-B2DD-7721D2AE7F78}"/>
              </a:ext>
            </a:extLst>
          </p:cNvPr>
          <p:cNvSpPr>
            <a:spLocks xmlns:a="http://schemas.openxmlformats.org/drawingml/2006/main" noGrp="1"/>
          </p:cNvSpPr>
          <p:nvPr/>
        </p:nvSpPr>
        <p:spPr>
          <a:xfrm xmlns:a="http://schemas.openxmlformats.org/drawingml/2006/main">
            <a:off x="6457950" y="4972050"/>
            <a:ext cx="5000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buNone/>
              <a:defRPr sz="1050" b="0">
                <a:solidFill>
                  <a:srgbClr val="6E7686"/>
                </a:solidFill>
                <a:latin typeface="Pretendard"/>
                <a:ea typeface="Pretendard"/>
                <a:cs typeface="Pretendard"/>
              </a:defRPr>
            </a:pPr>
            <a:r>
              <a:rPr sz="1050" b="0">
                <a:solidFill>
                  <a:srgbClr val="6E7686"/>
                </a:solidFill>
                <a:latin typeface="Pretendard"/>
                <a:ea typeface="Pretendard"/>
                <a:cs typeface="Pretendard"/>
              </a:rPr>
              <a:t>소년법 제3조·제19조·제29조·제32조</a:t>
            </a:r>
          </a:p>
        </p:txBody>
      </p:sp>
      <p:sp>
        <p:nvSpPr>
          <p:cNvPr id="24" name="conclusion_top">
            <a:extLst xmlns:a="http://schemas.openxmlformats.org/drawingml/2006/main">
              <a:ext uri="{FF2B5EF4-FFF2-40B4-BE49-F238E27FC236}">
                <a16:creationId xmlns:a16="http://schemas.microsoft.com/office/drawing/2014/main" id="{2029086E-B6C3-4845-A03B-D2447FE12643}"/>
              </a:ext>
            </a:extLst>
          </p:cNvPr>
          <p:cNvSpPr>
            <a:spLocks xmlns:a="http://schemas.openxmlformats.org/drawingml/2006/main" noGrp="1"/>
          </p:cNvSpPr>
          <p:nvPr/>
        </p:nvSpPr>
        <p:spPr>
          <a:xfrm xmlns:a="http://schemas.openxmlformats.org/drawingml/2006/main">
            <a:off x="731520" y="5532120"/>
            <a:ext cx="10726103" cy="9525"/>
          </a:xfrm>
          <a:prstGeom xmlns:a="http://schemas.openxmlformats.org/drawingml/2006/main" prst="rect">
            <a:avLst/>
          </a:prstGeom>
          <a:solidFill xmlns:a="http://schemas.openxmlformats.org/drawingml/2006/main">
            <a:srgbClr val="DCE0E8"/>
          </a:solidFill>
          <a:ln xmlns:a="http://schemas.openxmlformats.org/drawingml/2006/main" w="0">
            <a:noFill/>
          </a:ln>
        </p:spPr>
      </p:sp>
      <p:sp>
        <p:nvSpPr>
          <p:cNvPr id="25" name="conclusion">
            <a:extLst xmlns:a="http://schemas.openxmlformats.org/drawingml/2006/main">
              <a:ext uri="{FF2B5EF4-FFF2-40B4-BE49-F238E27FC236}">
                <a16:creationId xmlns:a16="http://schemas.microsoft.com/office/drawing/2014/main" id="{468DE1BD-88D0-41DB-8742-43608B1833B4}"/>
              </a:ext>
            </a:extLst>
          </p:cNvPr>
          <p:cNvSpPr>
            <a:spLocks xmlns:a="http://schemas.openxmlformats.org/drawingml/2006/main" noGrp="1"/>
          </p:cNvSpPr>
          <p:nvPr/>
        </p:nvSpPr>
        <p:spPr>
          <a:xfrm xmlns:a="http://schemas.openxmlformats.org/drawingml/2006/main">
            <a:off x="731520" y="5743575"/>
            <a:ext cx="10726103"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buNone/>
              <a:defRPr sz="1300" b="1">
                <a:solidFill>
                  <a:srgbClr val="1E2761"/>
                </a:solidFill>
                <a:latin typeface="Pretendard"/>
                <a:ea typeface="Pretendard"/>
                <a:cs typeface="Pretendard"/>
              </a:defRPr>
            </a:pPr>
            <a:r>
              <a:rPr sz="1300" b="1">
                <a:solidFill>
                  <a:srgbClr val="1E2761"/>
                </a:solidFill>
                <a:latin typeface="Pretendard"/>
                <a:ea typeface="Pretendard"/>
                <a:cs typeface="Pretendard"/>
              </a:rPr>
              <a:t>송치·통고는 사건을 소년부로 보내는 절차이며, 시설 위탁 등 특정 보호처분이 곧바로 정해지는 것은 아니다.</a:t>
            </a:r>
          </a:p>
        </p:txBody>
      </p:sp>
      <p:sp>
        <p:nvSpPr>
          <p:cNvPr id="26" name="conclusion_bottom">
            <a:extLst xmlns:a="http://schemas.openxmlformats.org/drawingml/2006/main">
              <a:ext uri="{FF2B5EF4-FFF2-40B4-BE49-F238E27FC236}">
                <a16:creationId xmlns:a16="http://schemas.microsoft.com/office/drawing/2014/main" id="{B0CBCA01-950D-4DA5-8138-EBBFC0A80653}"/>
              </a:ext>
            </a:extLst>
          </p:cNvPr>
          <p:cNvSpPr>
            <a:spLocks xmlns:a="http://schemas.openxmlformats.org/drawingml/2006/main" noGrp="1"/>
          </p:cNvSpPr>
          <p:nvPr/>
        </p:nvSpPr>
        <p:spPr>
          <a:xfrm xmlns:a="http://schemas.openxmlformats.org/drawingml/2006/main">
            <a:off x="731520" y="6144578"/>
            <a:ext cx="10726103" cy="16193"/>
          </a:xfrm>
          <a:prstGeom xmlns:a="http://schemas.openxmlformats.org/drawingml/2006/main" prst="rect">
            <a:avLst/>
          </a:prstGeom>
          <a:solidFill xmlns:a="http://schemas.openxmlformats.org/drawingml/2006/main">
            <a:srgbClr val="1E2761"/>
          </a:solidFill>
          <a:ln xmlns:a="http://schemas.openxmlformats.org/drawingml/2006/main" w="0">
            <a:noFill/>
          </a:ln>
        </p:spPr>
      </p:sp>
    </p:spTree>
    <p:extLst>
      <p:ext uri="{BB962C8B-B14F-4D97-AF65-F5344CB8AC3E}">
        <p14:creationId xmlns:p14="http://schemas.microsoft.com/office/powerpoint/2010/main" val="176055578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chapter">
            <a:extLst xmlns:a="http://schemas.openxmlformats.org/drawingml/2006/main">
              <a:ext uri="{FF2B5EF4-FFF2-40B4-BE49-F238E27FC236}">
                <a16:creationId xmlns:a16="http://schemas.microsoft.com/office/drawing/2014/main" id="{E5213720-15E5-46CA-BFE8-9B4F27961D90}"/>
              </a:ext>
            </a:extLst>
          </p:cNvPr>
          <p:cNvSpPr>
            <a:spLocks xmlns:a="http://schemas.openxmlformats.org/drawingml/2006/main" noGrp="1"/>
          </p:cNvSpPr>
          <p:nvPr/>
        </p:nvSpPr>
        <p:spPr>
          <a:xfrm xmlns:a="http://schemas.openxmlformats.org/drawingml/2006/main">
            <a:off x="731520" y="36576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buNone/>
              <a:defRPr sz="1250" b="1">
                <a:solidFill>
                  <a:srgbClr val="464D5C"/>
                </a:solidFill>
                <a:latin typeface="Pretendard"/>
                <a:ea typeface="Pretendard"/>
                <a:cs typeface="Pretendard"/>
              </a:defRPr>
            </a:pPr>
            <a:r>
              <a:rPr sz="1250" b="1" spc="200">
                <a:solidFill>
                  <a:srgbClr val="464D5C"/>
                </a:solidFill>
                <a:latin typeface="Pretendard"/>
                <a:ea typeface="Pretendard"/>
                <a:cs typeface="Pretendard"/>
              </a:rPr>
              <a:t>1. 논제의 대상과 현행 우범소년 제도</a:t>
            </a:r>
          </a:p>
        </p:txBody>
      </p:sp>
      <p:sp>
        <p:nvSpPr>
          <p:cNvPr id="2" name="next">
            <a:extLst xmlns:a="http://schemas.openxmlformats.org/drawingml/2006/main">
              <a:ext uri="{FF2B5EF4-FFF2-40B4-BE49-F238E27FC236}">
                <a16:creationId xmlns:a16="http://schemas.microsoft.com/office/drawing/2014/main" id="{1B66D39D-8A7C-4476-BB51-28553E78EBFA}"/>
              </a:ext>
            </a:extLst>
          </p:cNvPr>
          <p:cNvSpPr>
            <a:spLocks xmlns:a="http://schemas.openxmlformats.org/drawingml/2006/main" noGrp="1"/>
          </p:cNvSpPr>
          <p:nvPr/>
        </p:nvSpPr>
        <p:spPr>
          <a:xfrm xmlns:a="http://schemas.openxmlformats.org/drawingml/2006/main">
            <a:off x="6191250" y="383858"/>
            <a:ext cx="526351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18000"/>
              </a:lnSpc>
              <a:buNone/>
              <a:defRPr sz="1050" b="0">
                <a:solidFill>
                  <a:srgbClr val="6E7686"/>
                </a:solidFill>
                <a:latin typeface="Pretendard"/>
                <a:ea typeface="Pretendard"/>
                <a:cs typeface="Pretendard"/>
              </a:defRPr>
            </a:pPr>
            <a:r>
              <a:rPr sz="1050" b="0">
                <a:solidFill>
                  <a:srgbClr val="6E7686"/>
                </a:solidFill>
                <a:latin typeface="Pretendard"/>
                <a:ea typeface="Pretendard"/>
                <a:cs typeface="Pretendard"/>
              </a:rPr>
              <a:t>다음 → 가정폭력·장기가출 뒤 시설 위탁 사례</a:t>
            </a:r>
          </a:p>
        </p:txBody>
      </p:sp>
      <p:sp>
        <p:nvSpPr>
          <p:cNvPr id="3" name="title">
            <a:extLst xmlns:a="http://schemas.openxmlformats.org/drawingml/2006/main">
              <a:ext uri="{FF2B5EF4-FFF2-40B4-BE49-F238E27FC236}">
                <a16:creationId xmlns:a16="http://schemas.microsoft.com/office/drawing/2014/main" id="{81260D27-373B-4B93-8BF2-C60F9D244C00}"/>
              </a:ext>
            </a:extLst>
          </p:cNvPr>
          <p:cNvSpPr>
            <a:spLocks xmlns:a="http://schemas.openxmlformats.org/drawingml/2006/main" noGrp="1"/>
          </p:cNvSpPr>
          <p:nvPr/>
        </p:nvSpPr>
        <p:spPr>
          <a:xfrm xmlns:a="http://schemas.openxmlformats.org/drawingml/2006/main">
            <a:off x="731520" y="762000"/>
            <a:ext cx="10726103"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buNone/>
              <a:defRPr sz="2750" b="1">
                <a:solidFill>
                  <a:srgbClr val="1E2761"/>
                </a:solidFill>
                <a:latin typeface="Pretendard"/>
                <a:ea typeface="Pretendard"/>
                <a:cs typeface="Pretendard"/>
              </a:defRPr>
            </a:pPr>
            <a:r>
              <a:rPr sz="2750" b="1">
                <a:solidFill>
                  <a:srgbClr val="1E2761"/>
                </a:solidFill>
                <a:latin typeface="Pretendard"/>
                <a:ea typeface="Pretendard"/>
                <a:cs typeface="Pretendard"/>
              </a:rPr>
              <a:t>반복 피해와 지원 연결의 어려움</a:t>
            </a:r>
          </a:p>
        </p:txBody>
      </p:sp>
      <p:sp>
        <p:nvSpPr>
          <p:cNvPr id="4" name="header_rule">
            <a:extLst xmlns:a="http://schemas.openxmlformats.org/drawingml/2006/main">
              <a:ext uri="{FF2B5EF4-FFF2-40B4-BE49-F238E27FC236}">
                <a16:creationId xmlns:a16="http://schemas.microsoft.com/office/drawing/2014/main" id="{4128B777-85E6-4460-8914-13E068802016}"/>
              </a:ext>
            </a:extLst>
          </p:cNvPr>
          <p:cNvSpPr>
            <a:spLocks xmlns:a="http://schemas.openxmlformats.org/drawingml/2006/main" noGrp="1"/>
          </p:cNvSpPr>
          <p:nvPr/>
        </p:nvSpPr>
        <p:spPr>
          <a:xfrm xmlns:a="http://schemas.openxmlformats.org/drawingml/2006/main">
            <a:off x="731520" y="1386840"/>
            <a:ext cx="10726103" cy="15240"/>
          </a:xfrm>
          <a:prstGeom xmlns:a="http://schemas.openxmlformats.org/drawingml/2006/main" prst="rect">
            <a:avLst/>
          </a:prstGeom>
          <a:solidFill xmlns:a="http://schemas.openxmlformats.org/drawingml/2006/main">
            <a:srgbClr val="1E2761"/>
          </a:solidFill>
          <a:ln xmlns:a="http://schemas.openxmlformats.org/drawingml/2006/main" w="0">
            <a:noFill/>
          </a:ln>
        </p:spPr>
      </p:sp>
      <p:sp>
        <p:nvSpPr>
          <p:cNvPr id="5" name="summary">
            <a:extLst xmlns:a="http://schemas.openxmlformats.org/drawingml/2006/main">
              <a:ext uri="{FF2B5EF4-FFF2-40B4-BE49-F238E27FC236}">
                <a16:creationId xmlns:a16="http://schemas.microsoft.com/office/drawing/2014/main" id="{7F0D6BDE-2127-4AE3-8492-F293D98CF317}"/>
              </a:ext>
            </a:extLst>
          </p:cNvPr>
          <p:cNvSpPr>
            <a:spLocks xmlns:a="http://schemas.openxmlformats.org/drawingml/2006/main" noGrp="1"/>
          </p:cNvSpPr>
          <p:nvPr/>
        </p:nvSpPr>
        <p:spPr>
          <a:xfrm xmlns:a="http://schemas.openxmlformats.org/drawingml/2006/main">
            <a:off x="731520" y="1581150"/>
            <a:ext cx="10726103"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buNone/>
              <a:defRPr sz="1300" b="1">
                <a:solidFill>
                  <a:srgbClr val="1E2761"/>
                </a:solidFill>
                <a:latin typeface="Pretendard"/>
                <a:ea typeface="Pretendard"/>
                <a:cs typeface="Pretendard"/>
              </a:defRPr>
            </a:pPr>
            <a:r>
              <a:rPr sz="1300" b="1">
                <a:solidFill>
                  <a:srgbClr val="1E2761"/>
                </a:solidFill>
                <a:latin typeface="Pretendard"/>
                <a:ea typeface="Pretendard"/>
                <a:cs typeface="Pretendard"/>
              </a:rPr>
              <a:t>2025년 경찰관 10명·피해지원 종사자 10명 면접에는 반복 피해와 지원 지속의 어려움이 함께 나타난다.</a:t>
            </a:r>
          </a:p>
        </p:txBody>
      </p:sp>
      <p:sp>
        <p:nvSpPr>
          <p:cNvPr id="6" name="barrier_0_rule">
            <a:extLst xmlns:a="http://schemas.openxmlformats.org/drawingml/2006/main">
              <a:ext uri="{FF2B5EF4-FFF2-40B4-BE49-F238E27FC236}">
                <a16:creationId xmlns:a16="http://schemas.microsoft.com/office/drawing/2014/main" id="{1A1B8F8F-2096-4946-84F8-576FF90EC69A}"/>
              </a:ext>
            </a:extLst>
          </p:cNvPr>
          <p:cNvSpPr>
            <a:spLocks xmlns:a="http://schemas.openxmlformats.org/drawingml/2006/main" noGrp="1"/>
          </p:cNvSpPr>
          <p:nvPr/>
        </p:nvSpPr>
        <p:spPr>
          <a:xfrm xmlns:a="http://schemas.openxmlformats.org/drawingml/2006/main">
            <a:off x="731520" y="2543175"/>
            <a:ext cx="3392424" cy="38100"/>
          </a:xfrm>
          <a:prstGeom xmlns:a="http://schemas.openxmlformats.org/drawingml/2006/main" prst="rect">
            <a:avLst/>
          </a:prstGeom>
          <a:solidFill xmlns:a="http://schemas.openxmlformats.org/drawingml/2006/main">
            <a:srgbClr val="5A6699"/>
          </a:solidFill>
          <a:ln xmlns:a="http://schemas.openxmlformats.org/drawingml/2006/main" w="0">
            <a:noFill/>
          </a:ln>
        </p:spPr>
      </p:sp>
      <p:sp>
        <p:nvSpPr>
          <p:cNvPr id="7" name="barrier_0_head">
            <a:extLst xmlns:a="http://schemas.openxmlformats.org/drawingml/2006/main">
              <a:ext uri="{FF2B5EF4-FFF2-40B4-BE49-F238E27FC236}">
                <a16:creationId xmlns:a16="http://schemas.microsoft.com/office/drawing/2014/main" id="{E87CFDF6-BBCB-42A7-8E0C-48CE0BDA0FCB}"/>
              </a:ext>
            </a:extLst>
          </p:cNvPr>
          <p:cNvSpPr>
            <a:spLocks xmlns:a="http://schemas.openxmlformats.org/drawingml/2006/main" noGrp="1"/>
          </p:cNvSpPr>
          <p:nvPr/>
        </p:nvSpPr>
        <p:spPr>
          <a:xfrm xmlns:a="http://schemas.openxmlformats.org/drawingml/2006/main">
            <a:off x="731520" y="2714625"/>
            <a:ext cx="3392424"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buNone/>
              <a:defRPr sz="1400" b="1">
                <a:solidFill>
                  <a:srgbClr val="1E2761"/>
                </a:solidFill>
                <a:latin typeface="Pretendard"/>
                <a:ea typeface="Pretendard"/>
                <a:cs typeface="Pretendard"/>
              </a:defRPr>
            </a:pPr>
            <a:r>
              <a:rPr sz="1400" b="1">
                <a:solidFill>
                  <a:srgbClr val="1E2761"/>
                </a:solidFill>
                <a:latin typeface="Pretendard"/>
                <a:ea typeface="Pretendard"/>
                <a:cs typeface="Pretendard"/>
              </a:rPr>
              <a:t>반복해서 나타나는 피해</a:t>
            </a:r>
          </a:p>
        </p:txBody>
      </p:sp>
      <p:sp>
        <p:nvSpPr>
          <p:cNvPr id="8" name="barrier_key_0">
            <a:extLst xmlns:a="http://schemas.openxmlformats.org/drawingml/2006/main">
              <a:ext uri="{FF2B5EF4-FFF2-40B4-BE49-F238E27FC236}">
                <a16:creationId xmlns:a16="http://schemas.microsoft.com/office/drawing/2014/main" id="{99010B87-1BA4-4051-BE61-700107776822}"/>
              </a:ext>
            </a:extLst>
          </p:cNvPr>
          <p:cNvSpPr>
            <a:spLocks xmlns:a="http://schemas.openxmlformats.org/drawingml/2006/main" noGrp="1"/>
          </p:cNvSpPr>
          <p:nvPr/>
        </p:nvSpPr>
        <p:spPr>
          <a:xfrm xmlns:a="http://schemas.openxmlformats.org/drawingml/2006/main">
            <a:off x="731520" y="3200400"/>
            <a:ext cx="3392424"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buNone/>
              <a:defRPr sz="1400" b="1">
                <a:solidFill>
                  <a:srgbClr val="222633"/>
                </a:solidFill>
                <a:latin typeface="Pretendard"/>
                <a:ea typeface="Pretendard"/>
                <a:cs typeface="Pretendard"/>
              </a:defRPr>
            </a:pPr>
            <a:r>
              <a:rPr sz="1400" b="1">
                <a:solidFill>
                  <a:srgbClr val="222633"/>
                </a:solidFill>
                <a:latin typeface="Pretendard"/>
                <a:ea typeface="Pretendard"/>
                <a:cs typeface="Pretendard"/>
              </a:rPr>
              <a:t>“어제 왔던 애가 오늘 또 오고”</a:t>
            </a:r>
          </a:p>
        </p:txBody>
      </p:sp>
      <p:sp>
        <p:nvSpPr>
          <p:cNvPr id="9" name="barrier_body_0">
            <a:extLst xmlns:a="http://schemas.openxmlformats.org/drawingml/2006/main">
              <a:ext uri="{FF2B5EF4-FFF2-40B4-BE49-F238E27FC236}">
                <a16:creationId xmlns:a16="http://schemas.microsoft.com/office/drawing/2014/main" id="{0B2DD6EF-A6E5-4B79-A4A3-4169D2FF523F}"/>
              </a:ext>
            </a:extLst>
          </p:cNvPr>
          <p:cNvSpPr>
            <a:spLocks xmlns:a="http://schemas.openxmlformats.org/drawingml/2006/main" noGrp="1"/>
          </p:cNvSpPr>
          <p:nvPr/>
        </p:nvSpPr>
        <p:spPr>
          <a:xfrm xmlns:a="http://schemas.openxmlformats.org/drawingml/2006/main">
            <a:off x="731520" y="3971925"/>
            <a:ext cx="3392424"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5000"/>
              </a:lnSpc>
              <a:buNone/>
              <a:defRPr sz="1250" b="0">
                <a:solidFill>
                  <a:srgbClr val="464D5C"/>
                </a:solidFill>
                <a:latin typeface="Pretendard"/>
                <a:ea typeface="Pretendard"/>
                <a:cs typeface="Pretendard"/>
              </a:defRPr>
            </a:pPr>
            <a:r>
              <a:rPr sz="1250" b="0">
                <a:solidFill>
                  <a:srgbClr val="464D5C"/>
                </a:solidFill>
                <a:latin typeface="Pretendard"/>
                <a:ea typeface="Pretendard"/>
                <a:cs typeface="Pretendard"/>
              </a:rPr>
              <a:t>경찰 면접에는 반복 피해를 막으려</a:t>
            </a:r>
          </a:p>
          <a:p xmlns:a="http://schemas.openxmlformats.org/drawingml/2006/main">
            <a:pPr algn="l">
              <a:lnSpc>
                <a:spcPct val="125000"/>
              </a:lnSpc>
              <a:buNone/>
              <a:defRPr sz="1250" b="0">
                <a:solidFill>
                  <a:srgbClr val="464D5C"/>
                </a:solidFill>
                <a:latin typeface="Pretendard"/>
                <a:ea typeface="Pretendard"/>
                <a:cs typeface="Pretendard"/>
              </a:defRPr>
            </a:pPr>
            <a:r>
              <a:rPr sz="1250" b="0">
                <a:solidFill>
                  <a:srgbClr val="464D5C"/>
                </a:solidFill>
                <a:latin typeface="Pretendard"/>
                <a:ea typeface="Pretendard"/>
                <a:cs typeface="Pretendard"/>
              </a:rPr>
              <a:t>가출 등 다른 사유로 개입하는</a:t>
            </a:r>
          </a:p>
          <a:p xmlns:a="http://schemas.openxmlformats.org/drawingml/2006/main">
            <a:pPr algn="l">
              <a:lnSpc>
                <a:spcPct val="125000"/>
              </a:lnSpc>
              <a:buNone/>
              <a:defRPr sz="1250" b="0">
                <a:solidFill>
                  <a:srgbClr val="464D5C"/>
                </a:solidFill>
                <a:latin typeface="Pretendard"/>
                <a:ea typeface="Pretendard"/>
                <a:cs typeface="Pretendard"/>
              </a:defRPr>
            </a:pPr>
            <a:r>
              <a:rPr sz="1250" b="0">
                <a:solidFill>
                  <a:srgbClr val="464D5C"/>
                </a:solidFill>
                <a:latin typeface="Pretendard"/>
                <a:ea typeface="Pretendard"/>
                <a:cs typeface="Pretendard"/>
              </a:rPr>
              <a:t>상황과 고민이 제시된다.</a:t>
            </a:r>
          </a:p>
        </p:txBody>
      </p:sp>
      <p:sp>
        <p:nvSpPr>
          <p:cNvPr id="10" name="barrier_1_rule">
            <a:extLst xmlns:a="http://schemas.openxmlformats.org/drawingml/2006/main">
              <a:ext uri="{FF2B5EF4-FFF2-40B4-BE49-F238E27FC236}">
                <a16:creationId xmlns:a16="http://schemas.microsoft.com/office/drawing/2014/main" id="{BDF1EB51-1143-4DEA-9FC5-B050494D2B56}"/>
              </a:ext>
            </a:extLst>
          </p:cNvPr>
          <p:cNvSpPr>
            <a:spLocks xmlns:a="http://schemas.openxmlformats.org/drawingml/2006/main" noGrp="1"/>
          </p:cNvSpPr>
          <p:nvPr/>
        </p:nvSpPr>
        <p:spPr>
          <a:xfrm xmlns:a="http://schemas.openxmlformats.org/drawingml/2006/main">
            <a:off x="4398264" y="2543175"/>
            <a:ext cx="3392424" cy="38100"/>
          </a:xfrm>
          <a:prstGeom xmlns:a="http://schemas.openxmlformats.org/drawingml/2006/main" prst="rect">
            <a:avLst/>
          </a:prstGeom>
          <a:solidFill xmlns:a="http://schemas.openxmlformats.org/drawingml/2006/main">
            <a:srgbClr val="5A6699"/>
          </a:solidFill>
          <a:ln xmlns:a="http://schemas.openxmlformats.org/drawingml/2006/main" w="0">
            <a:noFill/>
          </a:ln>
        </p:spPr>
      </p:sp>
      <p:sp>
        <p:nvSpPr>
          <p:cNvPr id="11" name="barrier_1_head">
            <a:extLst xmlns:a="http://schemas.openxmlformats.org/drawingml/2006/main">
              <a:ext uri="{FF2B5EF4-FFF2-40B4-BE49-F238E27FC236}">
                <a16:creationId xmlns:a16="http://schemas.microsoft.com/office/drawing/2014/main" id="{13DAEB2B-CB7F-4878-9C1C-B55F6FA78552}"/>
              </a:ext>
            </a:extLst>
          </p:cNvPr>
          <p:cNvSpPr>
            <a:spLocks xmlns:a="http://schemas.openxmlformats.org/drawingml/2006/main" noGrp="1"/>
          </p:cNvSpPr>
          <p:nvPr/>
        </p:nvSpPr>
        <p:spPr>
          <a:xfrm xmlns:a="http://schemas.openxmlformats.org/drawingml/2006/main">
            <a:off x="4398264" y="2714625"/>
            <a:ext cx="3392424"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buNone/>
              <a:defRPr sz="1400" b="1">
                <a:solidFill>
                  <a:srgbClr val="1E2761"/>
                </a:solidFill>
                <a:latin typeface="Pretendard"/>
                <a:ea typeface="Pretendard"/>
                <a:cs typeface="Pretendard"/>
              </a:defRPr>
            </a:pPr>
            <a:r>
              <a:rPr sz="1400" b="1">
                <a:solidFill>
                  <a:srgbClr val="1E2761"/>
                </a:solidFill>
                <a:latin typeface="Pretendard"/>
                <a:ea typeface="Pretendard"/>
                <a:cs typeface="Pretendard"/>
              </a:rPr>
              <a:t>늦어지는 지원 연결</a:t>
            </a:r>
          </a:p>
        </p:txBody>
      </p:sp>
      <p:sp>
        <p:nvSpPr>
          <p:cNvPr id="12" name="barrier_key_1">
            <a:extLst xmlns:a="http://schemas.openxmlformats.org/drawingml/2006/main">
              <a:ext uri="{FF2B5EF4-FFF2-40B4-BE49-F238E27FC236}">
                <a16:creationId xmlns:a16="http://schemas.microsoft.com/office/drawing/2014/main" id="{F82C8544-DE84-46FF-B487-7D552709739C}"/>
              </a:ext>
            </a:extLst>
          </p:cNvPr>
          <p:cNvSpPr>
            <a:spLocks xmlns:a="http://schemas.openxmlformats.org/drawingml/2006/main" noGrp="1"/>
          </p:cNvSpPr>
          <p:nvPr/>
        </p:nvSpPr>
        <p:spPr>
          <a:xfrm xmlns:a="http://schemas.openxmlformats.org/drawingml/2006/main">
            <a:off x="4398264" y="3200400"/>
            <a:ext cx="3392424"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buNone/>
              <a:defRPr sz="1400" b="1">
                <a:solidFill>
                  <a:srgbClr val="222633"/>
                </a:solidFill>
                <a:latin typeface="Pretendard"/>
                <a:ea typeface="Pretendard"/>
                <a:cs typeface="Pretendard"/>
              </a:defRPr>
            </a:pPr>
            <a:r>
              <a:rPr sz="1400" b="1">
                <a:solidFill>
                  <a:srgbClr val="222633"/>
                </a:solidFill>
                <a:latin typeface="Pretendard"/>
                <a:ea typeface="Pretendard"/>
                <a:cs typeface="Pretendard"/>
              </a:rPr>
              <a:t>통보가 늦으면 개입 시점도 늦어진다</a:t>
            </a:r>
          </a:p>
        </p:txBody>
      </p:sp>
      <p:sp>
        <p:nvSpPr>
          <p:cNvPr id="13" name="barrier_body_1">
            <a:extLst xmlns:a="http://schemas.openxmlformats.org/drawingml/2006/main">
              <a:ext uri="{FF2B5EF4-FFF2-40B4-BE49-F238E27FC236}">
                <a16:creationId xmlns:a16="http://schemas.microsoft.com/office/drawing/2014/main" id="{46E57AFB-5F53-47D3-A20A-8EB82A812F95}"/>
              </a:ext>
            </a:extLst>
          </p:cNvPr>
          <p:cNvSpPr>
            <a:spLocks xmlns:a="http://schemas.openxmlformats.org/drawingml/2006/main" noGrp="1"/>
          </p:cNvSpPr>
          <p:nvPr/>
        </p:nvSpPr>
        <p:spPr>
          <a:xfrm xmlns:a="http://schemas.openxmlformats.org/drawingml/2006/main">
            <a:off x="4398264" y="3971925"/>
            <a:ext cx="3392424"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5000"/>
              </a:lnSpc>
              <a:buNone/>
              <a:defRPr sz="1250" b="0">
                <a:solidFill>
                  <a:srgbClr val="464D5C"/>
                </a:solidFill>
                <a:latin typeface="Pretendard"/>
                <a:ea typeface="Pretendard"/>
                <a:cs typeface="Pretendard"/>
              </a:defRPr>
            </a:pPr>
            <a:r>
              <a:rPr sz="1250" b="0">
                <a:solidFill>
                  <a:srgbClr val="464D5C"/>
                </a:solidFill>
                <a:latin typeface="Pretendard"/>
                <a:ea typeface="Pretendard"/>
                <a:cs typeface="Pretendard"/>
              </a:rPr>
              <a:t>수사 뒤 피해 사실을 늦게 통보받아</a:t>
            </a:r>
          </a:p>
          <a:p xmlns:a="http://schemas.openxmlformats.org/drawingml/2006/main">
            <a:pPr algn="l">
              <a:lnSpc>
                <a:spcPct val="125000"/>
              </a:lnSpc>
              <a:buNone/>
              <a:defRPr sz="1250" b="0">
                <a:solidFill>
                  <a:srgbClr val="464D5C"/>
                </a:solidFill>
                <a:latin typeface="Pretendard"/>
                <a:ea typeface="Pretendard"/>
                <a:cs typeface="Pretendard"/>
              </a:defRPr>
            </a:pPr>
            <a:r>
              <a:rPr sz="1250" b="0">
                <a:solidFill>
                  <a:srgbClr val="464D5C"/>
                </a:solidFill>
                <a:latin typeface="Pretendard"/>
                <a:ea typeface="Pretendard"/>
                <a:cs typeface="Pretendard"/>
              </a:rPr>
              <a:t>지원이 지연되거나 관계 형성이</a:t>
            </a:r>
          </a:p>
          <a:p xmlns:a="http://schemas.openxmlformats.org/drawingml/2006/main">
            <a:pPr algn="l">
              <a:lnSpc>
                <a:spcPct val="125000"/>
              </a:lnSpc>
              <a:buNone/>
              <a:defRPr sz="1250" b="0">
                <a:solidFill>
                  <a:srgbClr val="464D5C"/>
                </a:solidFill>
                <a:latin typeface="Pretendard"/>
                <a:ea typeface="Pretendard"/>
                <a:cs typeface="Pretendard"/>
              </a:defRPr>
            </a:pPr>
            <a:r>
              <a:rPr sz="1250" b="0">
                <a:solidFill>
                  <a:srgbClr val="464D5C"/>
                </a:solidFill>
                <a:latin typeface="Pretendard"/>
                <a:ea typeface="Pretendard"/>
                <a:cs typeface="Pretendard"/>
              </a:rPr>
              <a:t>어려워지는 사정이 제시된다.</a:t>
            </a:r>
          </a:p>
        </p:txBody>
      </p:sp>
      <p:sp>
        <p:nvSpPr>
          <p:cNvPr id="14" name="barrier_2_rule">
            <a:extLst xmlns:a="http://schemas.openxmlformats.org/drawingml/2006/main">
              <a:ext uri="{FF2B5EF4-FFF2-40B4-BE49-F238E27FC236}">
                <a16:creationId xmlns:a16="http://schemas.microsoft.com/office/drawing/2014/main" id="{E6651E9D-2B25-48DC-8586-57567AB89B9B}"/>
              </a:ext>
            </a:extLst>
          </p:cNvPr>
          <p:cNvSpPr>
            <a:spLocks xmlns:a="http://schemas.openxmlformats.org/drawingml/2006/main" noGrp="1"/>
          </p:cNvSpPr>
          <p:nvPr/>
        </p:nvSpPr>
        <p:spPr>
          <a:xfrm xmlns:a="http://schemas.openxmlformats.org/drawingml/2006/main">
            <a:off x="8065008" y="2543175"/>
            <a:ext cx="3392424" cy="38100"/>
          </a:xfrm>
          <a:prstGeom xmlns:a="http://schemas.openxmlformats.org/drawingml/2006/main" prst="rect">
            <a:avLst/>
          </a:prstGeom>
          <a:solidFill xmlns:a="http://schemas.openxmlformats.org/drawingml/2006/main">
            <a:srgbClr val="5A6699"/>
          </a:solidFill>
          <a:ln xmlns:a="http://schemas.openxmlformats.org/drawingml/2006/main" w="0">
            <a:noFill/>
          </a:ln>
        </p:spPr>
      </p:sp>
      <p:sp>
        <p:nvSpPr>
          <p:cNvPr id="15" name="barrier_2_head">
            <a:extLst xmlns:a="http://schemas.openxmlformats.org/drawingml/2006/main">
              <a:ext uri="{FF2B5EF4-FFF2-40B4-BE49-F238E27FC236}">
                <a16:creationId xmlns:a16="http://schemas.microsoft.com/office/drawing/2014/main" id="{8553CB86-6F95-436E-8466-6FF4D6D12DD4}"/>
              </a:ext>
            </a:extLst>
          </p:cNvPr>
          <p:cNvSpPr>
            <a:spLocks xmlns:a="http://schemas.openxmlformats.org/drawingml/2006/main" noGrp="1"/>
          </p:cNvSpPr>
          <p:nvPr/>
        </p:nvSpPr>
        <p:spPr>
          <a:xfrm xmlns:a="http://schemas.openxmlformats.org/drawingml/2006/main">
            <a:off x="8065008" y="2714625"/>
            <a:ext cx="3392424"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buNone/>
              <a:defRPr sz="1400" b="1">
                <a:solidFill>
                  <a:srgbClr val="1E2761"/>
                </a:solidFill>
                <a:latin typeface="Pretendard"/>
                <a:ea typeface="Pretendard"/>
                <a:cs typeface="Pretendard"/>
              </a:defRPr>
            </a:pPr>
            <a:r>
              <a:rPr sz="1400" b="1">
                <a:solidFill>
                  <a:srgbClr val="1E2761"/>
                </a:solidFill>
                <a:latin typeface="Pretendard"/>
                <a:ea typeface="Pretendard"/>
                <a:cs typeface="Pretendard"/>
              </a:rPr>
              <a:t>지속하기 어려운 지원</a:t>
            </a:r>
          </a:p>
        </p:txBody>
      </p:sp>
      <p:sp>
        <p:nvSpPr>
          <p:cNvPr id="16" name="barrier_key_2">
            <a:extLst xmlns:a="http://schemas.openxmlformats.org/drawingml/2006/main">
              <a:ext uri="{FF2B5EF4-FFF2-40B4-BE49-F238E27FC236}">
                <a16:creationId xmlns:a16="http://schemas.microsoft.com/office/drawing/2014/main" id="{4BC78772-4131-4915-B771-8C121582F164}"/>
              </a:ext>
            </a:extLst>
          </p:cNvPr>
          <p:cNvSpPr>
            <a:spLocks xmlns:a="http://schemas.openxmlformats.org/drawingml/2006/main" noGrp="1"/>
          </p:cNvSpPr>
          <p:nvPr/>
        </p:nvSpPr>
        <p:spPr>
          <a:xfrm xmlns:a="http://schemas.openxmlformats.org/drawingml/2006/main">
            <a:off x="8065008" y="3200400"/>
            <a:ext cx="3392424"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buNone/>
              <a:defRPr sz="1400" b="1">
                <a:solidFill>
                  <a:srgbClr val="222633"/>
                </a:solidFill>
                <a:latin typeface="Pretendard"/>
                <a:ea typeface="Pretendard"/>
                <a:cs typeface="Pretendard"/>
              </a:defRPr>
            </a:pPr>
            <a:r>
              <a:rPr sz="1400" b="1">
                <a:solidFill>
                  <a:srgbClr val="222633"/>
                </a:solidFill>
                <a:latin typeface="Pretendard"/>
                <a:ea typeface="Pretendard"/>
                <a:cs typeface="Pretendard"/>
              </a:rPr>
              <a:t>상담·교육을 이어 가기 어렵다</a:t>
            </a:r>
          </a:p>
        </p:txBody>
      </p:sp>
      <p:sp>
        <p:nvSpPr>
          <p:cNvPr id="17" name="barrier_body_2">
            <a:extLst xmlns:a="http://schemas.openxmlformats.org/drawingml/2006/main">
              <a:ext uri="{FF2B5EF4-FFF2-40B4-BE49-F238E27FC236}">
                <a16:creationId xmlns:a16="http://schemas.microsoft.com/office/drawing/2014/main" id="{3A27BA38-E57F-49CE-9C71-80F710873655}"/>
              </a:ext>
            </a:extLst>
          </p:cNvPr>
          <p:cNvSpPr>
            <a:spLocks xmlns:a="http://schemas.openxmlformats.org/drawingml/2006/main" noGrp="1"/>
          </p:cNvSpPr>
          <p:nvPr/>
        </p:nvSpPr>
        <p:spPr>
          <a:xfrm xmlns:a="http://schemas.openxmlformats.org/drawingml/2006/main">
            <a:off x="8065008" y="3971925"/>
            <a:ext cx="3392424"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5000"/>
              </a:lnSpc>
              <a:buNone/>
              <a:defRPr sz="1250" b="0">
                <a:solidFill>
                  <a:srgbClr val="464D5C"/>
                </a:solidFill>
                <a:latin typeface="Pretendard"/>
                <a:ea typeface="Pretendard"/>
                <a:cs typeface="Pretendard"/>
              </a:defRPr>
            </a:pPr>
            <a:r>
              <a:rPr sz="1250" b="0">
                <a:solidFill>
                  <a:srgbClr val="464D5C"/>
                </a:solidFill>
                <a:latin typeface="Pretendard"/>
                <a:ea typeface="Pretendard"/>
                <a:cs typeface="Pretendard"/>
              </a:rPr>
              <a:t>청소년이나 보호자가 지원을</a:t>
            </a:r>
          </a:p>
          <a:p xmlns:a="http://schemas.openxmlformats.org/drawingml/2006/main">
            <a:pPr algn="l">
              <a:lnSpc>
                <a:spcPct val="125000"/>
              </a:lnSpc>
              <a:buNone/>
              <a:defRPr sz="1250" b="0">
                <a:solidFill>
                  <a:srgbClr val="464D5C"/>
                </a:solidFill>
                <a:latin typeface="Pretendard"/>
                <a:ea typeface="Pretendard"/>
                <a:cs typeface="Pretendard"/>
              </a:defRPr>
            </a:pPr>
            <a:r>
              <a:rPr sz="1250" b="0">
                <a:solidFill>
                  <a:srgbClr val="464D5C"/>
                </a:solidFill>
                <a:latin typeface="Pretendard"/>
                <a:ea typeface="Pretendard"/>
                <a:cs typeface="Pretendard"/>
              </a:rPr>
              <a:t>받아들이지 않거나 협조하지 않아</a:t>
            </a:r>
          </a:p>
          <a:p xmlns:a="http://schemas.openxmlformats.org/drawingml/2006/main">
            <a:pPr algn="l">
              <a:lnSpc>
                <a:spcPct val="125000"/>
              </a:lnSpc>
              <a:buNone/>
              <a:defRPr sz="1250" b="0">
                <a:solidFill>
                  <a:srgbClr val="464D5C"/>
                </a:solidFill>
                <a:latin typeface="Pretendard"/>
                <a:ea typeface="Pretendard"/>
                <a:cs typeface="Pretendard"/>
              </a:defRPr>
            </a:pPr>
            <a:r>
              <a:rPr sz="1250" b="0">
                <a:solidFill>
                  <a:srgbClr val="464D5C"/>
                </a:solidFill>
                <a:latin typeface="Pretendard"/>
                <a:ea typeface="Pretendard"/>
                <a:cs typeface="Pretendard"/>
              </a:rPr>
              <a:t>지속적 관계 형성에 어려움을 겪는다.</a:t>
            </a:r>
          </a:p>
        </p:txBody>
      </p:sp>
      <p:sp>
        <p:nvSpPr>
          <p:cNvPr id="18" name="context_rule">
            <a:extLst xmlns:a="http://schemas.openxmlformats.org/drawingml/2006/main">
              <a:ext uri="{FF2B5EF4-FFF2-40B4-BE49-F238E27FC236}">
                <a16:creationId xmlns:a16="http://schemas.microsoft.com/office/drawing/2014/main" id="{86ABDEE0-68E8-4A84-B305-DBF6A0A37FCB}"/>
              </a:ext>
            </a:extLst>
          </p:cNvPr>
          <p:cNvSpPr>
            <a:spLocks xmlns:a="http://schemas.openxmlformats.org/drawingml/2006/main" noGrp="1"/>
          </p:cNvSpPr>
          <p:nvPr/>
        </p:nvSpPr>
        <p:spPr>
          <a:xfrm xmlns:a="http://schemas.openxmlformats.org/drawingml/2006/main">
            <a:off x="731520" y="5114925"/>
            <a:ext cx="10726103" cy="9525"/>
          </a:xfrm>
          <a:prstGeom xmlns:a="http://schemas.openxmlformats.org/drawingml/2006/main" prst="rect">
            <a:avLst/>
          </a:prstGeom>
          <a:solidFill xmlns:a="http://schemas.openxmlformats.org/drawingml/2006/main">
            <a:srgbClr val="DCE0E8"/>
          </a:solidFill>
          <a:ln xmlns:a="http://schemas.openxmlformats.org/drawingml/2006/main" w="0">
            <a:noFill/>
          </a:ln>
        </p:spPr>
      </p:sp>
      <p:sp>
        <p:nvSpPr>
          <p:cNvPr id="19" name="context">
            <a:extLst xmlns:a="http://schemas.openxmlformats.org/drawingml/2006/main">
              <a:ext uri="{FF2B5EF4-FFF2-40B4-BE49-F238E27FC236}">
                <a16:creationId xmlns:a16="http://schemas.microsoft.com/office/drawing/2014/main" id="{201B0023-C47C-4C57-8581-86719621ECEA}"/>
              </a:ext>
            </a:extLst>
          </p:cNvPr>
          <p:cNvSpPr>
            <a:spLocks xmlns:a="http://schemas.openxmlformats.org/drawingml/2006/main" noGrp="1"/>
          </p:cNvSpPr>
          <p:nvPr/>
        </p:nvSpPr>
        <p:spPr>
          <a:xfrm xmlns:a="http://schemas.openxmlformats.org/drawingml/2006/main">
            <a:off x="731520" y="5276850"/>
            <a:ext cx="10726103"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buNone/>
              <a:defRPr sz="1250" b="0">
                <a:solidFill>
                  <a:srgbClr val="464D5C"/>
                </a:solidFill>
                <a:latin typeface="Pretendard"/>
                <a:ea typeface="Pretendard"/>
                <a:cs typeface="Pretendard"/>
              </a:defRPr>
            </a:pPr>
            <a:r>
              <a:rPr sz="1250" b="0">
                <a:solidFill>
                  <a:srgbClr val="464D5C"/>
                </a:solidFill>
                <a:latin typeface="Pretendard"/>
                <a:ea typeface="Pretendard"/>
                <a:cs typeface="Pretendard"/>
              </a:rPr>
              <a:t>이 자료는 현장의 경험을 보여 준다. 전국 발생률이나 송치의 피해 예방 효과를 측정한 결과는 아니다.</a:t>
            </a:r>
          </a:p>
        </p:txBody>
      </p:sp>
      <p:sp>
        <p:nvSpPr>
          <p:cNvPr id="20" name="question_band">
            <a:extLst xmlns:a="http://schemas.openxmlformats.org/drawingml/2006/main">
              <a:ext uri="{FF2B5EF4-FFF2-40B4-BE49-F238E27FC236}">
                <a16:creationId xmlns:a16="http://schemas.microsoft.com/office/drawing/2014/main" id="{0AE292EE-692C-486D-9BDE-3CA288449F4F}"/>
              </a:ext>
            </a:extLst>
          </p:cNvPr>
          <p:cNvSpPr>
            <a:spLocks xmlns:a="http://schemas.openxmlformats.org/drawingml/2006/main" noGrp="1"/>
          </p:cNvSpPr>
          <p:nvPr/>
        </p:nvSpPr>
        <p:spPr>
          <a:xfrm xmlns:a="http://schemas.openxmlformats.org/drawingml/2006/main">
            <a:off x="1124712" y="5751576"/>
            <a:ext cx="9912096" cy="457200"/>
          </a:xfrm>
          <a:prstGeom xmlns:a="http://schemas.openxmlformats.org/drawingml/2006/main" prst="rect">
            <a:avLst/>
          </a:prstGeom>
          <a:solidFill xmlns:a="http://schemas.openxmlformats.org/drawingml/2006/main">
            <a:srgbClr val="1E2761"/>
          </a:solidFill>
          <a:ln xmlns:a="http://schemas.openxmlformats.org/drawingml/2006/main" w="0">
            <a:noFill/>
          </a:ln>
        </p:spPr>
      </p:sp>
      <p:sp>
        <p:nvSpPr>
          <p:cNvPr id="21" name="question">
            <a:extLst xmlns:a="http://schemas.openxmlformats.org/drawingml/2006/main">
              <a:ext uri="{FF2B5EF4-FFF2-40B4-BE49-F238E27FC236}">
                <a16:creationId xmlns:a16="http://schemas.microsoft.com/office/drawing/2014/main" id="{EFEAA996-F1AA-4FD1-976C-D12C362C59BC}"/>
              </a:ext>
            </a:extLst>
          </p:cNvPr>
          <p:cNvSpPr>
            <a:spLocks xmlns:a="http://schemas.openxmlformats.org/drawingml/2006/main" noGrp="1"/>
          </p:cNvSpPr>
          <p:nvPr/>
        </p:nvSpPr>
        <p:spPr>
          <a:xfrm xmlns:a="http://schemas.openxmlformats.org/drawingml/2006/main">
            <a:off x="1314450" y="5862638"/>
            <a:ext cx="9534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18000"/>
              </a:lnSpc>
              <a:buNone/>
              <a:defRPr sz="1250" b="1">
                <a:solidFill>
                  <a:srgbClr val="FFFFFF"/>
                </a:solidFill>
                <a:latin typeface="Pretendard"/>
                <a:ea typeface="Pretendard"/>
                <a:cs typeface="Pretendard"/>
              </a:defRPr>
            </a:pPr>
            <a:r>
              <a:rPr sz="1250" b="1">
                <a:solidFill>
                  <a:srgbClr val="FFFFFF"/>
                </a:solidFill>
                <a:latin typeface="Pretendard"/>
                <a:ea typeface="Pretendard"/>
                <a:cs typeface="Pretendard"/>
              </a:rPr>
              <a:t>반복 피해를 막으려면, 즉시 위험에서 분리하는 조치와 지속적인 생활 지원을 어떻게 연결해야 하는가?</a:t>
            </a:r>
          </a:p>
        </p:txBody>
      </p:sp>
    </p:spTree>
    <p:extLst>
      <p:ext uri="{BB962C8B-B14F-4D97-AF65-F5344CB8AC3E}">
        <p14:creationId xmlns:p14="http://schemas.microsoft.com/office/powerpoint/2010/main" val="87071660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chapter">
            <a:extLst xmlns:a="http://schemas.openxmlformats.org/drawingml/2006/main">
              <a:ext uri="{FF2B5EF4-FFF2-40B4-BE49-F238E27FC236}">
                <a16:creationId xmlns:a16="http://schemas.microsoft.com/office/drawing/2014/main" id="{41ADEF7F-B560-4286-94D3-E7F200685A45}"/>
              </a:ext>
            </a:extLst>
          </p:cNvPr>
          <p:cNvSpPr>
            <a:spLocks xmlns:a="http://schemas.openxmlformats.org/drawingml/2006/main" noGrp="1"/>
          </p:cNvSpPr>
          <p:nvPr/>
        </p:nvSpPr>
        <p:spPr>
          <a:xfrm xmlns:a="http://schemas.openxmlformats.org/drawingml/2006/main">
            <a:off x="731520" y="36576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buNone/>
              <a:defRPr sz="1250" b="1">
                <a:solidFill>
                  <a:srgbClr val="464D5C"/>
                </a:solidFill>
                <a:latin typeface="Pretendard"/>
                <a:ea typeface="Pretendard"/>
                <a:cs typeface="Pretendard"/>
              </a:defRPr>
            </a:pPr>
            <a:r>
              <a:rPr sz="1250" b="1" spc="200">
                <a:solidFill>
                  <a:srgbClr val="464D5C"/>
                </a:solidFill>
                <a:latin typeface="Pretendard"/>
                <a:ea typeface="Pretendard"/>
                <a:cs typeface="Pretendard"/>
              </a:rPr>
              <a:t>1. 논제의 대상과 현행 우범소년 제도</a:t>
            </a:r>
          </a:p>
        </p:txBody>
      </p:sp>
      <p:sp>
        <p:nvSpPr>
          <p:cNvPr id="2" name="next">
            <a:extLst xmlns:a="http://schemas.openxmlformats.org/drawingml/2006/main">
              <a:ext uri="{FF2B5EF4-FFF2-40B4-BE49-F238E27FC236}">
                <a16:creationId xmlns:a16="http://schemas.microsoft.com/office/drawing/2014/main" id="{432A0AB9-2590-40BB-96C8-6AAF6503B608}"/>
              </a:ext>
            </a:extLst>
          </p:cNvPr>
          <p:cNvSpPr>
            <a:spLocks xmlns:a="http://schemas.openxmlformats.org/drawingml/2006/main" noGrp="1"/>
          </p:cNvSpPr>
          <p:nvPr/>
        </p:nvSpPr>
        <p:spPr>
          <a:xfrm xmlns:a="http://schemas.openxmlformats.org/drawingml/2006/main">
            <a:off x="6191250" y="383858"/>
            <a:ext cx="526351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18000"/>
              </a:lnSpc>
              <a:buNone/>
              <a:defRPr sz="1050" b="0">
                <a:solidFill>
                  <a:srgbClr val="6E7686"/>
                </a:solidFill>
                <a:latin typeface="Pretendard"/>
                <a:ea typeface="Pretendard"/>
                <a:cs typeface="Pretendard"/>
              </a:defRPr>
            </a:pPr>
            <a:r>
              <a:rPr sz="1050" b="0">
                <a:solidFill>
                  <a:srgbClr val="6E7686"/>
                </a:solidFill>
                <a:latin typeface="Pretendard"/>
                <a:ea typeface="Pretendard"/>
                <a:cs typeface="Pretendard"/>
              </a:rPr>
              <a:t>다음 → 성범죄 연루 우려가 제시된 송치 사례</a:t>
            </a:r>
          </a:p>
        </p:txBody>
      </p:sp>
      <p:sp>
        <p:nvSpPr>
          <p:cNvPr id="3" name="title">
            <a:extLst xmlns:a="http://schemas.openxmlformats.org/drawingml/2006/main">
              <a:ext uri="{FF2B5EF4-FFF2-40B4-BE49-F238E27FC236}">
                <a16:creationId xmlns:a16="http://schemas.microsoft.com/office/drawing/2014/main" id="{2EE1F714-267F-4AA6-BD45-70A72B5550E5}"/>
              </a:ext>
            </a:extLst>
          </p:cNvPr>
          <p:cNvSpPr>
            <a:spLocks xmlns:a="http://schemas.openxmlformats.org/drawingml/2006/main" noGrp="1"/>
          </p:cNvSpPr>
          <p:nvPr/>
        </p:nvSpPr>
        <p:spPr>
          <a:xfrm xmlns:a="http://schemas.openxmlformats.org/drawingml/2006/main">
            <a:off x="731520" y="762000"/>
            <a:ext cx="10726103"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buNone/>
              <a:defRPr sz="2750" b="1">
                <a:solidFill>
                  <a:srgbClr val="1E2761"/>
                </a:solidFill>
                <a:latin typeface="Pretendard"/>
                <a:ea typeface="Pretendard"/>
                <a:cs typeface="Pretendard"/>
              </a:defRPr>
            </a:pPr>
            <a:r>
              <a:rPr sz="2750" b="1">
                <a:solidFill>
                  <a:srgbClr val="1E2761"/>
                </a:solidFill>
                <a:latin typeface="Pretendard"/>
                <a:ea typeface="Pretendard"/>
                <a:cs typeface="Pretendard"/>
              </a:rPr>
              <a:t>가정폭력·장기가출 뒤 시설 위탁으로 이어진 사례</a:t>
            </a:r>
          </a:p>
        </p:txBody>
      </p:sp>
      <p:sp>
        <p:nvSpPr>
          <p:cNvPr id="4" name="header_rule">
            <a:extLst xmlns:a="http://schemas.openxmlformats.org/drawingml/2006/main">
              <a:ext uri="{FF2B5EF4-FFF2-40B4-BE49-F238E27FC236}">
                <a16:creationId xmlns:a16="http://schemas.microsoft.com/office/drawing/2014/main" id="{187F300A-2EC0-4428-A3DB-01E19B845177}"/>
              </a:ext>
            </a:extLst>
          </p:cNvPr>
          <p:cNvSpPr>
            <a:spLocks xmlns:a="http://schemas.openxmlformats.org/drawingml/2006/main" noGrp="1"/>
          </p:cNvSpPr>
          <p:nvPr/>
        </p:nvSpPr>
        <p:spPr>
          <a:xfrm xmlns:a="http://schemas.openxmlformats.org/drawingml/2006/main">
            <a:off x="731520" y="1386840"/>
            <a:ext cx="10726103" cy="15240"/>
          </a:xfrm>
          <a:prstGeom xmlns:a="http://schemas.openxmlformats.org/drawingml/2006/main" prst="rect">
            <a:avLst/>
          </a:prstGeom>
          <a:solidFill xmlns:a="http://schemas.openxmlformats.org/drawingml/2006/main">
            <a:srgbClr val="1E2761"/>
          </a:solidFill>
          <a:ln xmlns:a="http://schemas.openxmlformats.org/drawingml/2006/main" w="0">
            <a:noFill/>
          </a:ln>
        </p:spPr>
      </p:sp>
      <p:sp>
        <p:nvSpPr>
          <p:cNvPr id="5" name="summary">
            <a:extLst xmlns:a="http://schemas.openxmlformats.org/drawingml/2006/main">
              <a:ext uri="{FF2B5EF4-FFF2-40B4-BE49-F238E27FC236}">
                <a16:creationId xmlns:a16="http://schemas.microsoft.com/office/drawing/2014/main" id="{B7CCE9D1-D744-4D76-834E-A187E9A18EC3}"/>
              </a:ext>
            </a:extLst>
          </p:cNvPr>
          <p:cNvSpPr>
            <a:spLocks xmlns:a="http://schemas.openxmlformats.org/drawingml/2006/main" noGrp="1"/>
          </p:cNvSpPr>
          <p:nvPr/>
        </p:nvSpPr>
        <p:spPr>
          <a:xfrm xmlns:a="http://schemas.openxmlformats.org/drawingml/2006/main">
            <a:off x="731520" y="1581150"/>
            <a:ext cx="10726103"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buNone/>
              <a:defRPr sz="1300" b="1">
                <a:solidFill>
                  <a:srgbClr val="1E2761"/>
                </a:solidFill>
                <a:latin typeface="Pretendard"/>
                <a:ea typeface="Pretendard"/>
                <a:cs typeface="Pretendard"/>
              </a:defRPr>
            </a:pPr>
            <a:r>
              <a:rPr sz="1300" b="1">
                <a:solidFill>
                  <a:srgbClr val="1E2761"/>
                </a:solidFill>
                <a:latin typeface="Pretendard"/>
                <a:ea typeface="Pretendard"/>
                <a:cs typeface="Pretendard"/>
              </a:rPr>
              <a:t>법원 실무자료는 조건만남으로 가출 생활을 유지할 가능성을 소년보호시설 위탁의 이유로 제시한다.</a:t>
            </a:r>
          </a:p>
        </p:txBody>
      </p:sp>
      <p:sp>
        <p:nvSpPr>
          <p:cNvPr id="6" name="left_section_rule">
            <a:extLst xmlns:a="http://schemas.openxmlformats.org/drawingml/2006/main">
              <a:ext uri="{FF2B5EF4-FFF2-40B4-BE49-F238E27FC236}">
                <a16:creationId xmlns:a16="http://schemas.microsoft.com/office/drawing/2014/main" id="{0B46C2F2-0D42-4A03-8445-440C9565A268}"/>
              </a:ext>
            </a:extLst>
          </p:cNvPr>
          <p:cNvSpPr>
            <a:spLocks xmlns:a="http://schemas.openxmlformats.org/drawingml/2006/main" noGrp="1"/>
          </p:cNvSpPr>
          <p:nvPr/>
        </p:nvSpPr>
        <p:spPr>
          <a:xfrm xmlns:a="http://schemas.openxmlformats.org/drawingml/2006/main">
            <a:off x="731520" y="2181225"/>
            <a:ext cx="5175504" cy="38100"/>
          </a:xfrm>
          <a:prstGeom xmlns:a="http://schemas.openxmlformats.org/drawingml/2006/main" prst="rect">
            <a:avLst/>
          </a:prstGeom>
          <a:solidFill xmlns:a="http://schemas.openxmlformats.org/drawingml/2006/main">
            <a:srgbClr val="5A6699"/>
          </a:solidFill>
          <a:ln xmlns:a="http://schemas.openxmlformats.org/drawingml/2006/main" w="0">
            <a:noFill/>
          </a:ln>
        </p:spPr>
      </p:sp>
      <p:sp>
        <p:nvSpPr>
          <p:cNvPr id="7" name="right_section_rule">
            <a:extLst xmlns:a="http://schemas.openxmlformats.org/drawingml/2006/main">
              <a:ext uri="{FF2B5EF4-FFF2-40B4-BE49-F238E27FC236}">
                <a16:creationId xmlns:a16="http://schemas.microsoft.com/office/drawing/2014/main" id="{4A9BDF3E-C610-4E6A-AF9B-CD4902049233}"/>
              </a:ext>
            </a:extLst>
          </p:cNvPr>
          <p:cNvSpPr>
            <a:spLocks xmlns:a="http://schemas.openxmlformats.org/drawingml/2006/main" noGrp="1"/>
          </p:cNvSpPr>
          <p:nvPr/>
        </p:nvSpPr>
        <p:spPr>
          <a:xfrm xmlns:a="http://schemas.openxmlformats.org/drawingml/2006/main">
            <a:off x="6281928" y="2181225"/>
            <a:ext cx="5175504" cy="38100"/>
          </a:xfrm>
          <a:prstGeom xmlns:a="http://schemas.openxmlformats.org/drawingml/2006/main" prst="rect">
            <a:avLst/>
          </a:prstGeom>
          <a:solidFill xmlns:a="http://schemas.openxmlformats.org/drawingml/2006/main">
            <a:srgbClr val="5A6699"/>
          </a:solidFill>
          <a:ln xmlns:a="http://schemas.openxmlformats.org/drawingml/2006/main" w="0">
            <a:noFill/>
          </a:ln>
        </p:spPr>
      </p:sp>
      <p:sp>
        <p:nvSpPr>
          <p:cNvPr id="8" name="left_header">
            <a:extLst xmlns:a="http://schemas.openxmlformats.org/drawingml/2006/main">
              <a:ext uri="{FF2B5EF4-FFF2-40B4-BE49-F238E27FC236}">
                <a16:creationId xmlns:a16="http://schemas.microsoft.com/office/drawing/2014/main" id="{CE8AD94E-D45D-4367-BB7B-1250F7D69067}"/>
              </a:ext>
            </a:extLst>
          </p:cNvPr>
          <p:cNvSpPr>
            <a:spLocks xmlns:a="http://schemas.openxmlformats.org/drawingml/2006/main" noGrp="1"/>
          </p:cNvSpPr>
          <p:nvPr/>
        </p:nvSpPr>
        <p:spPr>
          <a:xfrm xmlns:a="http://schemas.openxmlformats.org/drawingml/2006/main">
            <a:off x="731520" y="2362200"/>
            <a:ext cx="5175504"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buNone/>
              <a:defRPr sz="1400" b="1">
                <a:solidFill>
                  <a:srgbClr val="1E2761"/>
                </a:solidFill>
                <a:latin typeface="Pretendard"/>
                <a:ea typeface="Pretendard"/>
                <a:cs typeface="Pretendard"/>
              </a:defRPr>
            </a:pPr>
            <a:r>
              <a:rPr sz="1400" b="1">
                <a:solidFill>
                  <a:srgbClr val="1E2761"/>
                </a:solidFill>
                <a:latin typeface="Pretendard"/>
                <a:ea typeface="Pretendard"/>
                <a:cs typeface="Pretendard"/>
              </a:rPr>
              <a:t>가출 경위와 기존 지원</a:t>
            </a:r>
          </a:p>
        </p:txBody>
      </p:sp>
      <p:sp>
        <p:nvSpPr>
          <p:cNvPr id="9" name="right_header">
            <a:extLst xmlns:a="http://schemas.openxmlformats.org/drawingml/2006/main">
              <a:ext uri="{FF2B5EF4-FFF2-40B4-BE49-F238E27FC236}">
                <a16:creationId xmlns:a16="http://schemas.microsoft.com/office/drawing/2014/main" id="{BAFA1B16-6FE8-43EB-B9C5-B986E667BD18}"/>
              </a:ext>
            </a:extLst>
          </p:cNvPr>
          <p:cNvSpPr>
            <a:spLocks xmlns:a="http://schemas.openxmlformats.org/drawingml/2006/main" noGrp="1"/>
          </p:cNvSpPr>
          <p:nvPr/>
        </p:nvSpPr>
        <p:spPr>
          <a:xfrm xmlns:a="http://schemas.openxmlformats.org/drawingml/2006/main">
            <a:off x="6281928" y="2362200"/>
            <a:ext cx="5175504"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buNone/>
              <a:defRPr sz="1400" b="1">
                <a:solidFill>
                  <a:srgbClr val="1E2761"/>
                </a:solidFill>
                <a:latin typeface="Pretendard"/>
                <a:ea typeface="Pretendard"/>
                <a:cs typeface="Pretendard"/>
              </a:defRPr>
            </a:pPr>
            <a:r>
              <a:rPr sz="1400" b="1">
                <a:solidFill>
                  <a:srgbClr val="1E2761"/>
                </a:solidFill>
                <a:latin typeface="Pretendard"/>
                <a:ea typeface="Pretendard"/>
                <a:cs typeface="Pretendard"/>
              </a:rPr>
              <a:t>법원 개입과 처분 이유</a:t>
            </a:r>
          </a:p>
        </p:txBody>
      </p:sp>
      <p:sp>
        <p:nvSpPr>
          <p:cNvPr id="10" name="left_key_1">
            <a:extLst xmlns:a="http://schemas.openxmlformats.org/drawingml/2006/main">
              <a:ext uri="{FF2B5EF4-FFF2-40B4-BE49-F238E27FC236}">
                <a16:creationId xmlns:a16="http://schemas.microsoft.com/office/drawing/2014/main" id="{C99B8EBE-E6F1-45DE-AFC4-78E967F00A72}"/>
              </a:ext>
            </a:extLst>
          </p:cNvPr>
          <p:cNvSpPr>
            <a:spLocks xmlns:a="http://schemas.openxmlformats.org/drawingml/2006/main" noGrp="1"/>
          </p:cNvSpPr>
          <p:nvPr/>
        </p:nvSpPr>
        <p:spPr>
          <a:xfrm xmlns:a="http://schemas.openxmlformats.org/drawingml/2006/main">
            <a:off x="731520" y="2762250"/>
            <a:ext cx="5175504"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buNone/>
              <a:defRPr sz="1400" b="1">
                <a:solidFill>
                  <a:srgbClr val="222633"/>
                </a:solidFill>
                <a:latin typeface="Pretendard"/>
                <a:ea typeface="Pretendard"/>
                <a:cs typeface="Pretendard"/>
              </a:defRPr>
            </a:pPr>
            <a:r>
              <a:rPr sz="1400" b="1">
                <a:solidFill>
                  <a:srgbClr val="222633"/>
                </a:solidFill>
                <a:latin typeface="Pretendard"/>
                <a:ea typeface="Pretendard"/>
                <a:cs typeface="Pretendard"/>
              </a:rPr>
              <a:t>쉼터 입소 후에도 가출이 장기화됐다</a:t>
            </a:r>
          </a:p>
        </p:txBody>
      </p:sp>
      <p:sp>
        <p:nvSpPr>
          <p:cNvPr id="11" name="left_detail_1">
            <a:extLst xmlns:a="http://schemas.openxmlformats.org/drawingml/2006/main">
              <a:ext uri="{FF2B5EF4-FFF2-40B4-BE49-F238E27FC236}">
                <a16:creationId xmlns:a16="http://schemas.microsoft.com/office/drawing/2014/main" id="{04038BB6-140D-4036-84E3-9260C7F6C7C7}"/>
              </a:ext>
            </a:extLst>
          </p:cNvPr>
          <p:cNvSpPr>
            <a:spLocks xmlns:a="http://schemas.openxmlformats.org/drawingml/2006/main" noGrp="1"/>
          </p:cNvSpPr>
          <p:nvPr/>
        </p:nvSpPr>
        <p:spPr>
          <a:xfrm xmlns:a="http://schemas.openxmlformats.org/drawingml/2006/main">
            <a:off x="731520" y="3048000"/>
            <a:ext cx="5175504"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5000"/>
              </a:lnSpc>
              <a:buNone/>
              <a:defRPr sz="1250" b="0">
                <a:solidFill>
                  <a:srgbClr val="464D5C"/>
                </a:solidFill>
                <a:latin typeface="Pretendard"/>
                <a:ea typeface="Pretendard"/>
                <a:cs typeface="Pretendard"/>
              </a:defRPr>
            </a:pPr>
            <a:r>
              <a:rPr sz="1250" b="0">
                <a:solidFill>
                  <a:srgbClr val="464D5C"/>
                </a:solidFill>
                <a:latin typeface="Pretendard"/>
                <a:ea typeface="Pretendard"/>
                <a:cs typeface="Pretendard"/>
              </a:rPr>
              <a:t>음주 신고 뒤 귀가를 거부해 쉼터에 입소했다.</a:t>
            </a:r>
          </a:p>
          <a:p xmlns:a="http://schemas.openxmlformats.org/drawingml/2006/main">
            <a:pPr algn="l">
              <a:lnSpc>
                <a:spcPct val="125000"/>
              </a:lnSpc>
              <a:buNone/>
              <a:defRPr sz="1250" b="0">
                <a:solidFill>
                  <a:srgbClr val="464D5C"/>
                </a:solidFill>
                <a:latin typeface="Pretendard"/>
                <a:ea typeface="Pretendard"/>
                <a:cs typeface="Pretendard"/>
              </a:defRPr>
            </a:pPr>
            <a:r>
              <a:rPr sz="1250" b="0">
                <a:solidFill>
                  <a:srgbClr val="464D5C"/>
                </a:solidFill>
                <a:latin typeface="Pretendard"/>
                <a:ea typeface="Pretendard"/>
                <a:cs typeface="Pretendard"/>
              </a:rPr>
              <a:t>임시퇴소 후 학교의 연락을 받지 않았고,</a:t>
            </a:r>
          </a:p>
          <a:p xmlns:a="http://schemas.openxmlformats.org/drawingml/2006/main">
            <a:pPr algn="l">
              <a:lnSpc>
                <a:spcPct val="125000"/>
              </a:lnSpc>
              <a:buNone/>
              <a:defRPr sz="1250" b="0">
                <a:solidFill>
                  <a:srgbClr val="464D5C"/>
                </a:solidFill>
                <a:latin typeface="Pretendard"/>
                <a:ea typeface="Pretendard"/>
                <a:cs typeface="Pretendard"/>
              </a:defRPr>
            </a:pPr>
            <a:r>
              <a:rPr sz="1250" b="0">
                <a:solidFill>
                  <a:srgbClr val="464D5C"/>
                </a:solidFill>
                <a:latin typeface="Pretendard"/>
                <a:ea typeface="Pretendard"/>
                <a:cs typeface="Pretendard"/>
              </a:rPr>
              <a:t>아버지와의 갈등 속에서 가출이 장기화됐다.</a:t>
            </a:r>
          </a:p>
        </p:txBody>
      </p:sp>
      <p:sp>
        <p:nvSpPr>
          <p:cNvPr id="12" name="right_key_1">
            <a:extLst xmlns:a="http://schemas.openxmlformats.org/drawingml/2006/main">
              <a:ext uri="{FF2B5EF4-FFF2-40B4-BE49-F238E27FC236}">
                <a16:creationId xmlns:a16="http://schemas.microsoft.com/office/drawing/2014/main" id="{5BD625BF-7F6D-457F-8AD3-D1CF037F857B}"/>
              </a:ext>
            </a:extLst>
          </p:cNvPr>
          <p:cNvSpPr>
            <a:spLocks xmlns:a="http://schemas.openxmlformats.org/drawingml/2006/main" noGrp="1"/>
          </p:cNvSpPr>
          <p:nvPr/>
        </p:nvSpPr>
        <p:spPr>
          <a:xfrm xmlns:a="http://schemas.openxmlformats.org/drawingml/2006/main">
            <a:off x="6281928" y="2762250"/>
            <a:ext cx="5175504"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buNone/>
              <a:defRPr sz="1400" b="1">
                <a:solidFill>
                  <a:srgbClr val="222633"/>
                </a:solidFill>
                <a:latin typeface="Pretendard"/>
                <a:ea typeface="Pretendard"/>
                <a:cs typeface="Pretendard"/>
              </a:defRPr>
            </a:pPr>
            <a:r>
              <a:rPr sz="1400" b="1">
                <a:solidFill>
                  <a:srgbClr val="222633"/>
                </a:solidFill>
                <a:latin typeface="Pretendard"/>
                <a:ea typeface="Pretendard"/>
                <a:cs typeface="Pretendard"/>
              </a:rPr>
              <a:t>연락 불응 뒤 동행영장이 발부됐다</a:t>
            </a:r>
          </a:p>
        </p:txBody>
      </p:sp>
      <p:sp>
        <p:nvSpPr>
          <p:cNvPr id="13" name="right_detail_1">
            <a:extLst xmlns:a="http://schemas.openxmlformats.org/drawingml/2006/main">
              <a:ext uri="{FF2B5EF4-FFF2-40B4-BE49-F238E27FC236}">
                <a16:creationId xmlns:a16="http://schemas.microsoft.com/office/drawing/2014/main" id="{2DAFDD1B-4DB0-48B8-AB37-0B944B6B18DC}"/>
              </a:ext>
            </a:extLst>
          </p:cNvPr>
          <p:cNvSpPr>
            <a:spLocks xmlns:a="http://schemas.openxmlformats.org/drawingml/2006/main" noGrp="1"/>
          </p:cNvSpPr>
          <p:nvPr/>
        </p:nvSpPr>
        <p:spPr>
          <a:xfrm xmlns:a="http://schemas.openxmlformats.org/drawingml/2006/main">
            <a:off x="6281928" y="3048000"/>
            <a:ext cx="5175504"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5000"/>
              </a:lnSpc>
              <a:buNone/>
              <a:defRPr sz="1250" b="0">
                <a:solidFill>
                  <a:srgbClr val="464D5C"/>
                </a:solidFill>
                <a:latin typeface="Pretendard"/>
                <a:ea typeface="Pretendard"/>
                <a:cs typeface="Pretendard"/>
              </a:defRPr>
            </a:pPr>
            <a:r>
              <a:rPr sz="1250" b="0">
                <a:solidFill>
                  <a:srgbClr val="464D5C"/>
                </a:solidFill>
                <a:latin typeface="Pretendard"/>
                <a:ea typeface="Pretendard"/>
                <a:cs typeface="Pretendard"/>
              </a:rPr>
              <a:t>아버지와 연락이 끊겼고, 조사관의 전화·문자에도</a:t>
            </a:r>
          </a:p>
          <a:p xmlns:a="http://schemas.openxmlformats.org/drawingml/2006/main">
            <a:pPr algn="l">
              <a:lnSpc>
                <a:spcPct val="125000"/>
              </a:lnSpc>
              <a:buNone/>
              <a:defRPr sz="1250" b="0">
                <a:solidFill>
                  <a:srgbClr val="464D5C"/>
                </a:solidFill>
                <a:latin typeface="Pretendard"/>
                <a:ea typeface="Pretendard"/>
                <a:cs typeface="Pretendard"/>
              </a:defRPr>
            </a:pPr>
            <a:r>
              <a:rPr sz="1250" b="0">
                <a:solidFill>
                  <a:srgbClr val="464D5C"/>
                </a:solidFill>
                <a:latin typeface="Pretendard"/>
                <a:ea typeface="Pretendard"/>
                <a:cs typeface="Pretendard"/>
              </a:rPr>
              <a:t>응답하지 않았다. 동행영장이 발부되었으며</a:t>
            </a:r>
          </a:p>
          <a:p xmlns:a="http://schemas.openxmlformats.org/drawingml/2006/main">
            <a:pPr algn="l">
              <a:lnSpc>
                <a:spcPct val="125000"/>
              </a:lnSpc>
              <a:buNone/>
              <a:defRPr sz="1250" b="0">
                <a:solidFill>
                  <a:srgbClr val="464D5C"/>
                </a:solidFill>
                <a:latin typeface="Pretendard"/>
                <a:ea typeface="Pretendard"/>
                <a:cs typeface="Pretendard"/>
              </a:defRPr>
            </a:pPr>
            <a:r>
              <a:rPr sz="1250" b="0">
                <a:solidFill>
                  <a:srgbClr val="464D5C"/>
                </a:solidFill>
                <a:latin typeface="Pretendard"/>
                <a:ea typeface="Pretendard"/>
                <a:cs typeface="Pretendard"/>
              </a:rPr>
              <a:t>소년분류심사원에 임시위탁되었다.</a:t>
            </a:r>
          </a:p>
        </p:txBody>
      </p:sp>
      <p:sp>
        <p:nvSpPr>
          <p:cNvPr id="14" name="left_key_2">
            <a:extLst xmlns:a="http://schemas.openxmlformats.org/drawingml/2006/main">
              <a:ext uri="{FF2B5EF4-FFF2-40B4-BE49-F238E27FC236}">
                <a16:creationId xmlns:a16="http://schemas.microsoft.com/office/drawing/2014/main" id="{26AB8384-6D23-4273-A20F-1F1B34EE6287}"/>
              </a:ext>
            </a:extLst>
          </p:cNvPr>
          <p:cNvSpPr>
            <a:spLocks xmlns:a="http://schemas.openxmlformats.org/drawingml/2006/main" noGrp="1"/>
          </p:cNvSpPr>
          <p:nvPr/>
        </p:nvSpPr>
        <p:spPr>
          <a:xfrm xmlns:a="http://schemas.openxmlformats.org/drawingml/2006/main">
            <a:off x="731520" y="3829050"/>
            <a:ext cx="5175504"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buNone/>
              <a:defRPr sz="1400" b="1">
                <a:solidFill>
                  <a:srgbClr val="222633"/>
                </a:solidFill>
                <a:latin typeface="Pretendard"/>
                <a:ea typeface="Pretendard"/>
                <a:cs typeface="Pretendard"/>
              </a:defRPr>
            </a:pPr>
            <a:r>
              <a:rPr sz="1400" b="1">
                <a:solidFill>
                  <a:srgbClr val="222633"/>
                </a:solidFill>
                <a:latin typeface="Pretendard"/>
                <a:ea typeface="Pretendard"/>
                <a:cs typeface="Pretendard"/>
              </a:rPr>
              <a:t>아버지의 폭력으로 사례관리가 진행 중이었다</a:t>
            </a:r>
          </a:p>
        </p:txBody>
      </p:sp>
      <p:sp>
        <p:nvSpPr>
          <p:cNvPr id="15" name="left_detail_2">
            <a:extLst xmlns:a="http://schemas.openxmlformats.org/drawingml/2006/main">
              <a:ext uri="{FF2B5EF4-FFF2-40B4-BE49-F238E27FC236}">
                <a16:creationId xmlns:a16="http://schemas.microsoft.com/office/drawing/2014/main" id="{AAD63421-05ED-438D-A3AE-B9007107F4B4}"/>
              </a:ext>
            </a:extLst>
          </p:cNvPr>
          <p:cNvSpPr>
            <a:spLocks xmlns:a="http://schemas.openxmlformats.org/drawingml/2006/main" noGrp="1"/>
          </p:cNvSpPr>
          <p:nvPr/>
        </p:nvSpPr>
        <p:spPr>
          <a:xfrm xmlns:a="http://schemas.openxmlformats.org/drawingml/2006/main">
            <a:off x="731520" y="4114800"/>
            <a:ext cx="5175504"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5000"/>
              </a:lnSpc>
              <a:buNone/>
              <a:defRPr sz="1250" b="0">
                <a:solidFill>
                  <a:srgbClr val="464D5C"/>
                </a:solidFill>
                <a:latin typeface="Pretendard"/>
                <a:ea typeface="Pretendard"/>
                <a:cs typeface="Pretendard"/>
              </a:defRPr>
            </a:pPr>
            <a:r>
              <a:rPr sz="1250" b="0">
                <a:solidFill>
                  <a:srgbClr val="464D5C"/>
                </a:solidFill>
                <a:latin typeface="Pretendard"/>
                <a:ea typeface="Pretendard"/>
                <a:cs typeface="Pretendard"/>
              </a:rPr>
              <a:t>아동보호전문기관의 사례관리와 함께</a:t>
            </a:r>
          </a:p>
          <a:p xmlns:a="http://schemas.openxmlformats.org/drawingml/2006/main">
            <a:pPr algn="l">
              <a:lnSpc>
                <a:spcPct val="125000"/>
              </a:lnSpc>
              <a:buNone/>
              <a:defRPr sz="1250" b="0">
                <a:solidFill>
                  <a:srgbClr val="464D5C"/>
                </a:solidFill>
                <a:latin typeface="Pretendard"/>
                <a:ea typeface="Pretendard"/>
                <a:cs typeface="Pretendard"/>
              </a:defRPr>
            </a:pPr>
            <a:r>
              <a:rPr sz="1250" b="0">
                <a:solidFill>
                  <a:srgbClr val="464D5C"/>
                </a:solidFill>
                <a:latin typeface="Pretendard"/>
                <a:ea typeface="Pretendard"/>
                <a:cs typeface="Pretendard"/>
              </a:rPr>
              <a:t>청소년의 조건만남 정황도 자료에 기록됐다.</a:t>
            </a:r>
          </a:p>
        </p:txBody>
      </p:sp>
      <p:sp>
        <p:nvSpPr>
          <p:cNvPr id="16" name="right_key_2">
            <a:extLst xmlns:a="http://schemas.openxmlformats.org/drawingml/2006/main">
              <a:ext uri="{FF2B5EF4-FFF2-40B4-BE49-F238E27FC236}">
                <a16:creationId xmlns:a16="http://schemas.microsoft.com/office/drawing/2014/main" id="{CF5738D3-8792-4234-B5BE-906F4EAE93F4}"/>
              </a:ext>
            </a:extLst>
          </p:cNvPr>
          <p:cNvSpPr>
            <a:spLocks xmlns:a="http://schemas.openxmlformats.org/drawingml/2006/main" noGrp="1"/>
          </p:cNvSpPr>
          <p:nvPr/>
        </p:nvSpPr>
        <p:spPr>
          <a:xfrm xmlns:a="http://schemas.openxmlformats.org/drawingml/2006/main">
            <a:off x="6281928" y="3829050"/>
            <a:ext cx="5175504"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buNone/>
              <a:defRPr sz="1400" b="1">
                <a:solidFill>
                  <a:srgbClr val="222633"/>
                </a:solidFill>
                <a:latin typeface="Pretendard"/>
                <a:ea typeface="Pretendard"/>
                <a:cs typeface="Pretendard"/>
              </a:defRPr>
            </a:pPr>
            <a:r>
              <a:rPr sz="1400" b="1">
                <a:solidFill>
                  <a:srgbClr val="222633"/>
                </a:solidFill>
                <a:latin typeface="Pretendard"/>
                <a:ea typeface="Pretendard"/>
                <a:cs typeface="Pretendard"/>
              </a:rPr>
              <a:t>조건만남을 통한 생활 지속 가능성을 들었다</a:t>
            </a:r>
          </a:p>
        </p:txBody>
      </p:sp>
      <p:sp>
        <p:nvSpPr>
          <p:cNvPr id="17" name="right_detail_2">
            <a:extLst xmlns:a="http://schemas.openxmlformats.org/drawingml/2006/main">
              <a:ext uri="{FF2B5EF4-FFF2-40B4-BE49-F238E27FC236}">
                <a16:creationId xmlns:a16="http://schemas.microsoft.com/office/drawing/2014/main" id="{689A6077-FD70-42B1-92D8-7EBAA23F04AC}"/>
              </a:ext>
            </a:extLst>
          </p:cNvPr>
          <p:cNvSpPr>
            <a:spLocks xmlns:a="http://schemas.openxmlformats.org/drawingml/2006/main" noGrp="1"/>
          </p:cNvSpPr>
          <p:nvPr/>
        </p:nvSpPr>
        <p:spPr>
          <a:xfrm xmlns:a="http://schemas.openxmlformats.org/drawingml/2006/main">
            <a:off x="6281928" y="4114800"/>
            <a:ext cx="5175504"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5000"/>
              </a:lnSpc>
              <a:buNone/>
              <a:defRPr sz="1250" b="0">
                <a:solidFill>
                  <a:srgbClr val="464D5C"/>
                </a:solidFill>
                <a:latin typeface="Pretendard"/>
                <a:ea typeface="Pretendard"/>
                <a:cs typeface="Pretendard"/>
              </a:defRPr>
            </a:pPr>
            <a:r>
              <a:rPr sz="1250" b="0">
                <a:solidFill>
                  <a:srgbClr val="464D5C"/>
                </a:solidFill>
                <a:latin typeface="Pretendard"/>
                <a:ea typeface="Pretendard"/>
                <a:cs typeface="Pretendard"/>
              </a:rPr>
              <a:t>실무자료는 이 가능성이 높아</a:t>
            </a:r>
          </a:p>
          <a:p xmlns:a="http://schemas.openxmlformats.org/drawingml/2006/main">
            <a:pPr algn="l">
              <a:lnSpc>
                <a:spcPct val="125000"/>
              </a:lnSpc>
              <a:buNone/>
              <a:defRPr sz="1250" b="0">
                <a:solidFill>
                  <a:srgbClr val="464D5C"/>
                </a:solidFill>
                <a:latin typeface="Pretendard"/>
                <a:ea typeface="Pretendard"/>
                <a:cs typeface="Pretendard"/>
              </a:defRPr>
            </a:pPr>
            <a:r>
              <a:rPr sz="1250" b="0">
                <a:solidFill>
                  <a:srgbClr val="464D5C"/>
                </a:solidFill>
                <a:latin typeface="Pretendard"/>
                <a:ea typeface="Pretendard"/>
                <a:cs typeface="Pretendard"/>
              </a:rPr>
              <a:t>소년보호시설 위탁 처분이 이루어졌다고 설명한다.</a:t>
            </a:r>
          </a:p>
        </p:txBody>
      </p:sp>
      <p:sp>
        <p:nvSpPr>
          <p:cNvPr id="18" name="procedure_rule_0">
            <a:extLst xmlns:a="http://schemas.openxmlformats.org/drawingml/2006/main">
              <a:ext uri="{FF2B5EF4-FFF2-40B4-BE49-F238E27FC236}">
                <a16:creationId xmlns:a16="http://schemas.microsoft.com/office/drawing/2014/main" id="{CAB87B9B-546E-42C9-A782-DDDBD96FA197}"/>
              </a:ext>
            </a:extLst>
          </p:cNvPr>
          <p:cNvSpPr>
            <a:spLocks xmlns:a="http://schemas.openxmlformats.org/drawingml/2006/main" noGrp="1"/>
          </p:cNvSpPr>
          <p:nvPr/>
        </p:nvSpPr>
        <p:spPr>
          <a:xfrm xmlns:a="http://schemas.openxmlformats.org/drawingml/2006/main">
            <a:off x="731520" y="4905375"/>
            <a:ext cx="3392424" cy="16193"/>
          </a:xfrm>
          <a:prstGeom xmlns:a="http://schemas.openxmlformats.org/drawingml/2006/main" prst="rect">
            <a:avLst/>
          </a:prstGeom>
          <a:solidFill xmlns:a="http://schemas.openxmlformats.org/drawingml/2006/main">
            <a:srgbClr val="DCE0E8"/>
          </a:solidFill>
          <a:ln xmlns:a="http://schemas.openxmlformats.org/drawingml/2006/main" w="0">
            <a:noFill/>
          </a:ln>
        </p:spPr>
      </p:sp>
      <p:sp>
        <p:nvSpPr>
          <p:cNvPr id="19" name="procedure_rule_1">
            <a:extLst xmlns:a="http://schemas.openxmlformats.org/drawingml/2006/main">
              <a:ext uri="{FF2B5EF4-FFF2-40B4-BE49-F238E27FC236}">
                <a16:creationId xmlns:a16="http://schemas.microsoft.com/office/drawing/2014/main" id="{D69D3C24-4BBC-4099-B0D6-359C5F1E3A57}"/>
              </a:ext>
            </a:extLst>
          </p:cNvPr>
          <p:cNvSpPr>
            <a:spLocks xmlns:a="http://schemas.openxmlformats.org/drawingml/2006/main" noGrp="1"/>
          </p:cNvSpPr>
          <p:nvPr/>
        </p:nvSpPr>
        <p:spPr>
          <a:xfrm xmlns:a="http://schemas.openxmlformats.org/drawingml/2006/main">
            <a:off x="4398264" y="4905375"/>
            <a:ext cx="3392424" cy="16193"/>
          </a:xfrm>
          <a:prstGeom xmlns:a="http://schemas.openxmlformats.org/drawingml/2006/main" prst="rect">
            <a:avLst/>
          </a:prstGeom>
          <a:solidFill xmlns:a="http://schemas.openxmlformats.org/drawingml/2006/main">
            <a:srgbClr val="DCE0E8"/>
          </a:solidFill>
          <a:ln xmlns:a="http://schemas.openxmlformats.org/drawingml/2006/main" w="0">
            <a:noFill/>
          </a:ln>
        </p:spPr>
      </p:sp>
      <p:sp>
        <p:nvSpPr>
          <p:cNvPr id="20" name="procedure_rule_2">
            <a:extLst xmlns:a="http://schemas.openxmlformats.org/drawingml/2006/main">
              <a:ext uri="{FF2B5EF4-FFF2-40B4-BE49-F238E27FC236}">
                <a16:creationId xmlns:a16="http://schemas.microsoft.com/office/drawing/2014/main" id="{E0F3DD5F-3E4D-4DBB-9D4F-D410DA2CCA30}"/>
              </a:ext>
            </a:extLst>
          </p:cNvPr>
          <p:cNvSpPr>
            <a:spLocks xmlns:a="http://schemas.openxmlformats.org/drawingml/2006/main" noGrp="1"/>
          </p:cNvSpPr>
          <p:nvPr/>
        </p:nvSpPr>
        <p:spPr>
          <a:xfrm xmlns:a="http://schemas.openxmlformats.org/drawingml/2006/main">
            <a:off x="8065008" y="4905375"/>
            <a:ext cx="3392424" cy="16193"/>
          </a:xfrm>
          <a:prstGeom xmlns:a="http://schemas.openxmlformats.org/drawingml/2006/main" prst="rect">
            <a:avLst/>
          </a:prstGeom>
          <a:solidFill xmlns:a="http://schemas.openxmlformats.org/drawingml/2006/main">
            <a:srgbClr val="DCE0E8"/>
          </a:solidFill>
          <a:ln xmlns:a="http://schemas.openxmlformats.org/drawingml/2006/main" w="0">
            <a:noFill/>
          </a:ln>
        </p:spPr>
      </p:sp>
      <p:sp>
        <p:nvSpPr>
          <p:cNvPr id="21" name="procedure_1">
            <a:extLst xmlns:a="http://schemas.openxmlformats.org/drawingml/2006/main">
              <a:ext uri="{FF2B5EF4-FFF2-40B4-BE49-F238E27FC236}">
                <a16:creationId xmlns:a16="http://schemas.microsoft.com/office/drawing/2014/main" id="{70BC5C56-1DEB-4B58-952C-93D3CF956A53}"/>
              </a:ext>
            </a:extLst>
          </p:cNvPr>
          <p:cNvSpPr>
            <a:spLocks xmlns:a="http://schemas.openxmlformats.org/drawingml/2006/main" noGrp="1"/>
          </p:cNvSpPr>
          <p:nvPr/>
        </p:nvSpPr>
        <p:spPr>
          <a:xfrm xmlns:a="http://schemas.openxmlformats.org/drawingml/2006/main">
            <a:off x="731520" y="5038725"/>
            <a:ext cx="3392424"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buNone/>
              <a:defRPr sz="1400" b="1">
                <a:solidFill>
                  <a:srgbClr val="222633"/>
                </a:solidFill>
                <a:latin typeface="Pretendard"/>
                <a:ea typeface="Pretendard"/>
                <a:cs typeface="Pretendard"/>
              </a:defRPr>
            </a:pPr>
            <a:r>
              <a:rPr sz="1400" b="1">
                <a:solidFill>
                  <a:srgbClr val="222633"/>
                </a:solidFill>
                <a:latin typeface="Pretendard"/>
                <a:ea typeface="Pretendard"/>
                <a:cs typeface="Pretendard"/>
              </a:rPr>
              <a:t>학교장 통고</a:t>
            </a:r>
          </a:p>
        </p:txBody>
      </p:sp>
      <p:sp>
        <p:nvSpPr>
          <p:cNvPr id="22" name="procedure_2">
            <a:extLst xmlns:a="http://schemas.openxmlformats.org/drawingml/2006/main">
              <a:ext uri="{FF2B5EF4-FFF2-40B4-BE49-F238E27FC236}">
                <a16:creationId xmlns:a16="http://schemas.microsoft.com/office/drawing/2014/main" id="{C5B5EF51-52B8-4B1D-BA10-24501FEE0765}"/>
              </a:ext>
            </a:extLst>
          </p:cNvPr>
          <p:cNvSpPr>
            <a:spLocks xmlns:a="http://schemas.openxmlformats.org/drawingml/2006/main" noGrp="1"/>
          </p:cNvSpPr>
          <p:nvPr/>
        </p:nvSpPr>
        <p:spPr>
          <a:xfrm xmlns:a="http://schemas.openxmlformats.org/drawingml/2006/main">
            <a:off x="4398264" y="5038725"/>
            <a:ext cx="3392424"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5000"/>
              </a:lnSpc>
              <a:buNone/>
              <a:defRPr sz="1400" b="1">
                <a:solidFill>
                  <a:srgbClr val="222633"/>
                </a:solidFill>
                <a:latin typeface="Pretendard"/>
                <a:ea typeface="Pretendard"/>
                <a:cs typeface="Pretendard"/>
              </a:defRPr>
            </a:pPr>
            <a:r>
              <a:rPr sz="1400" b="1">
                <a:solidFill>
                  <a:srgbClr val="222633"/>
                </a:solidFill>
                <a:latin typeface="Pretendard"/>
                <a:ea typeface="Pretendard"/>
                <a:cs typeface="Pretendard"/>
              </a:rPr>
              <a:t>소년사건 조사·동행영장</a:t>
            </a:r>
          </a:p>
          <a:p xmlns:a="http://schemas.openxmlformats.org/drawingml/2006/main">
            <a:pPr algn="l">
              <a:lnSpc>
                <a:spcPct val="125000"/>
              </a:lnSpc>
              <a:buNone/>
              <a:defRPr sz="1400" b="1">
                <a:solidFill>
                  <a:srgbClr val="222633"/>
                </a:solidFill>
                <a:latin typeface="Pretendard"/>
                <a:ea typeface="Pretendard"/>
                <a:cs typeface="Pretendard"/>
              </a:defRPr>
            </a:pPr>
            <a:r>
              <a:rPr sz="1400" b="1">
                <a:solidFill>
                  <a:srgbClr val="222633"/>
                </a:solidFill>
                <a:latin typeface="Pretendard"/>
                <a:ea typeface="Pretendard"/>
                <a:cs typeface="Pretendard"/>
              </a:rPr>
              <a:t>소년분류심사원 임시위탁</a:t>
            </a:r>
          </a:p>
        </p:txBody>
      </p:sp>
      <p:sp>
        <p:nvSpPr>
          <p:cNvPr id="23" name="procedure_3">
            <a:extLst xmlns:a="http://schemas.openxmlformats.org/drawingml/2006/main">
              <a:ext uri="{FF2B5EF4-FFF2-40B4-BE49-F238E27FC236}">
                <a16:creationId xmlns:a16="http://schemas.microsoft.com/office/drawing/2014/main" id="{94B63DDC-018E-4EFF-A52F-BCE4D346B409}"/>
              </a:ext>
            </a:extLst>
          </p:cNvPr>
          <p:cNvSpPr>
            <a:spLocks xmlns:a="http://schemas.openxmlformats.org/drawingml/2006/main" noGrp="1"/>
          </p:cNvSpPr>
          <p:nvPr/>
        </p:nvSpPr>
        <p:spPr>
          <a:xfrm xmlns:a="http://schemas.openxmlformats.org/drawingml/2006/main">
            <a:off x="8065008" y="5038725"/>
            <a:ext cx="3392424"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5000"/>
              </a:lnSpc>
              <a:buNone/>
              <a:defRPr sz="1400" b="1">
                <a:solidFill>
                  <a:srgbClr val="222633"/>
                </a:solidFill>
                <a:latin typeface="Pretendard"/>
                <a:ea typeface="Pretendard"/>
                <a:cs typeface="Pretendard"/>
              </a:defRPr>
            </a:pPr>
            <a:r>
              <a:rPr sz="1400" b="1">
                <a:solidFill>
                  <a:srgbClr val="222633"/>
                </a:solidFill>
                <a:latin typeface="Pretendard"/>
                <a:ea typeface="Pretendard"/>
                <a:cs typeface="Pretendard"/>
              </a:rPr>
              <a:t>소년보호시설 감호위탁(6호)</a:t>
            </a:r>
          </a:p>
          <a:p xmlns:a="http://schemas.openxmlformats.org/drawingml/2006/main">
            <a:pPr algn="l">
              <a:lnSpc>
                <a:spcPct val="125000"/>
              </a:lnSpc>
              <a:buNone/>
              <a:defRPr sz="1400" b="1">
                <a:solidFill>
                  <a:srgbClr val="222633"/>
                </a:solidFill>
                <a:latin typeface="Pretendard"/>
                <a:ea typeface="Pretendard"/>
                <a:cs typeface="Pretendard"/>
              </a:defRPr>
            </a:pPr>
            <a:r>
              <a:rPr sz="1400" b="1">
                <a:solidFill>
                  <a:srgbClr val="222633"/>
                </a:solidFill>
                <a:latin typeface="Pretendard"/>
                <a:ea typeface="Pretendard"/>
                <a:cs typeface="Pretendard"/>
              </a:rPr>
              <a:t>장기보호관찰(5호)</a:t>
            </a:r>
          </a:p>
        </p:txBody>
      </p:sp>
      <p:sp>
        <p:nvSpPr>
          <p:cNvPr id="24" name="arrow_1">
            <a:extLst xmlns:a="http://schemas.openxmlformats.org/drawingml/2006/main">
              <a:ext uri="{FF2B5EF4-FFF2-40B4-BE49-F238E27FC236}">
                <a16:creationId xmlns:a16="http://schemas.microsoft.com/office/drawing/2014/main" id="{31D932E3-7F69-4107-9B01-388449A680EA}"/>
              </a:ext>
            </a:extLst>
          </p:cNvPr>
          <p:cNvSpPr>
            <a:spLocks xmlns:a="http://schemas.openxmlformats.org/drawingml/2006/main" noGrp="1"/>
          </p:cNvSpPr>
          <p:nvPr/>
        </p:nvSpPr>
        <p:spPr>
          <a:xfrm xmlns:a="http://schemas.openxmlformats.org/drawingml/2006/main">
            <a:off x="4164330" y="5133975"/>
            <a:ext cx="2190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18000"/>
              </a:lnSpc>
              <a:buNone/>
              <a:defRPr sz="1600" b="1">
                <a:solidFill>
                  <a:srgbClr val="C2A648"/>
                </a:solidFill>
                <a:latin typeface="Pretendard"/>
                <a:ea typeface="Pretendard"/>
                <a:cs typeface="Pretendard"/>
              </a:defRPr>
            </a:pPr>
            <a:r>
              <a:rPr sz="1600" b="1">
                <a:solidFill>
                  <a:srgbClr val="C2A648"/>
                </a:solidFill>
                <a:latin typeface="Pretendard"/>
                <a:ea typeface="Pretendard"/>
                <a:cs typeface="Pretendard"/>
              </a:rPr>
              <a:t>→</a:t>
            </a:r>
          </a:p>
        </p:txBody>
      </p:sp>
      <p:sp>
        <p:nvSpPr>
          <p:cNvPr id="25" name="arrow_2">
            <a:extLst xmlns:a="http://schemas.openxmlformats.org/drawingml/2006/main">
              <a:ext uri="{FF2B5EF4-FFF2-40B4-BE49-F238E27FC236}">
                <a16:creationId xmlns:a16="http://schemas.microsoft.com/office/drawing/2014/main" id="{4C876FFF-2CCA-41A3-915B-9FE668A8A246}"/>
              </a:ext>
            </a:extLst>
          </p:cNvPr>
          <p:cNvSpPr>
            <a:spLocks xmlns:a="http://schemas.openxmlformats.org/drawingml/2006/main" noGrp="1"/>
          </p:cNvSpPr>
          <p:nvPr/>
        </p:nvSpPr>
        <p:spPr>
          <a:xfrm xmlns:a="http://schemas.openxmlformats.org/drawingml/2006/main">
            <a:off x="7831074" y="5133975"/>
            <a:ext cx="2190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18000"/>
              </a:lnSpc>
              <a:buNone/>
              <a:defRPr sz="1600" b="1">
                <a:solidFill>
                  <a:srgbClr val="C2A648"/>
                </a:solidFill>
                <a:latin typeface="Pretendard"/>
                <a:ea typeface="Pretendard"/>
                <a:cs typeface="Pretendard"/>
              </a:defRPr>
            </a:pPr>
            <a:r>
              <a:rPr sz="1600" b="1">
                <a:solidFill>
                  <a:srgbClr val="C2A648"/>
                </a:solidFill>
                <a:latin typeface="Pretendard"/>
                <a:ea typeface="Pretendard"/>
                <a:cs typeface="Pretendard"/>
              </a:rPr>
              <a:t>→</a:t>
            </a:r>
          </a:p>
        </p:txBody>
      </p:sp>
      <p:sp>
        <p:nvSpPr>
          <p:cNvPr id="26" name="question_band">
            <a:extLst xmlns:a="http://schemas.openxmlformats.org/drawingml/2006/main">
              <a:ext uri="{FF2B5EF4-FFF2-40B4-BE49-F238E27FC236}">
                <a16:creationId xmlns:a16="http://schemas.microsoft.com/office/drawing/2014/main" id="{99BE30CB-B8A1-4819-9127-EFA276F8C101}"/>
              </a:ext>
            </a:extLst>
          </p:cNvPr>
          <p:cNvSpPr>
            <a:spLocks xmlns:a="http://schemas.openxmlformats.org/drawingml/2006/main" noGrp="1"/>
          </p:cNvSpPr>
          <p:nvPr/>
        </p:nvSpPr>
        <p:spPr>
          <a:xfrm xmlns:a="http://schemas.openxmlformats.org/drawingml/2006/main">
            <a:off x="1124712" y="5751576"/>
            <a:ext cx="9912096" cy="457200"/>
          </a:xfrm>
          <a:prstGeom xmlns:a="http://schemas.openxmlformats.org/drawingml/2006/main" prst="rect">
            <a:avLst/>
          </a:prstGeom>
          <a:solidFill xmlns:a="http://schemas.openxmlformats.org/drawingml/2006/main">
            <a:srgbClr val="1E2761"/>
          </a:solidFill>
          <a:ln xmlns:a="http://schemas.openxmlformats.org/drawingml/2006/main" w="0">
            <a:noFill/>
          </a:ln>
        </p:spPr>
      </p:sp>
      <p:sp>
        <p:nvSpPr>
          <p:cNvPr id="27" name="question">
            <a:extLst xmlns:a="http://schemas.openxmlformats.org/drawingml/2006/main">
              <a:ext uri="{FF2B5EF4-FFF2-40B4-BE49-F238E27FC236}">
                <a16:creationId xmlns:a16="http://schemas.microsoft.com/office/drawing/2014/main" id="{4E33AD6F-93B5-4A97-B620-54D12016054F}"/>
              </a:ext>
            </a:extLst>
          </p:cNvPr>
          <p:cNvSpPr>
            <a:spLocks xmlns:a="http://schemas.openxmlformats.org/drawingml/2006/main" noGrp="1"/>
          </p:cNvSpPr>
          <p:nvPr/>
        </p:nvSpPr>
        <p:spPr>
          <a:xfrm xmlns:a="http://schemas.openxmlformats.org/drawingml/2006/main">
            <a:off x="1314450" y="5862638"/>
            <a:ext cx="9534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18000"/>
              </a:lnSpc>
              <a:buNone/>
              <a:defRPr sz="1250" b="1">
                <a:solidFill>
                  <a:srgbClr val="FFFFFF"/>
                </a:solidFill>
                <a:latin typeface="Pretendard"/>
                <a:ea typeface="Pretendard"/>
                <a:cs typeface="Pretendard"/>
              </a:defRPr>
            </a:pPr>
            <a:r>
              <a:rPr sz="1250" b="1">
                <a:solidFill>
                  <a:srgbClr val="FFFFFF"/>
                </a:solidFill>
                <a:latin typeface="Pretendard"/>
                <a:ea typeface="Pretendard"/>
                <a:cs typeface="Pretendard"/>
              </a:rPr>
              <a:t>성착취 위험과 불안정한 생활에, 시설 위탁과 피해지원·주거지원은 각각 무엇을 제공할 수 있는가?</a:t>
            </a:r>
          </a:p>
        </p:txBody>
      </p:sp>
    </p:spTree>
    <p:extLst>
      <p:ext uri="{BB962C8B-B14F-4D97-AF65-F5344CB8AC3E}">
        <p14:creationId xmlns:p14="http://schemas.microsoft.com/office/powerpoint/2010/main" val="133288477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chapter">
            <a:extLst xmlns:a="http://schemas.openxmlformats.org/drawingml/2006/main">
              <a:ext uri="{FF2B5EF4-FFF2-40B4-BE49-F238E27FC236}">
                <a16:creationId xmlns:a16="http://schemas.microsoft.com/office/drawing/2014/main" id="{3E75182E-A597-4E80-B209-3D570797E5B5}"/>
              </a:ext>
            </a:extLst>
          </p:cNvPr>
          <p:cNvSpPr>
            <a:spLocks xmlns:a="http://schemas.openxmlformats.org/drawingml/2006/main" noGrp="1"/>
          </p:cNvSpPr>
          <p:nvPr/>
        </p:nvSpPr>
        <p:spPr>
          <a:xfrm xmlns:a="http://schemas.openxmlformats.org/drawingml/2006/main">
            <a:off x="731520" y="36576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buNone/>
              <a:defRPr sz="1250" b="1">
                <a:solidFill>
                  <a:srgbClr val="464D5C"/>
                </a:solidFill>
                <a:latin typeface="Pretendard"/>
                <a:ea typeface="Pretendard"/>
                <a:cs typeface="Pretendard"/>
              </a:defRPr>
            </a:pPr>
            <a:r>
              <a:rPr sz="1250" b="1" spc="200">
                <a:solidFill>
                  <a:srgbClr val="464D5C"/>
                </a:solidFill>
                <a:latin typeface="Pretendard"/>
                <a:ea typeface="Pretendard"/>
                <a:cs typeface="Pretendard"/>
              </a:rPr>
              <a:t>1. 논제의 대상과 현행 우범소년 제도</a:t>
            </a:r>
          </a:p>
        </p:txBody>
      </p:sp>
      <p:sp>
        <p:nvSpPr>
          <p:cNvPr id="2" name="next">
            <a:extLst xmlns:a="http://schemas.openxmlformats.org/drawingml/2006/main">
              <a:ext uri="{FF2B5EF4-FFF2-40B4-BE49-F238E27FC236}">
                <a16:creationId xmlns:a16="http://schemas.microsoft.com/office/drawing/2014/main" id="{4DF3434D-DCF6-4F95-AE28-2A099F85DF02}"/>
              </a:ext>
            </a:extLst>
          </p:cNvPr>
          <p:cNvSpPr>
            <a:spLocks xmlns:a="http://schemas.openxmlformats.org/drawingml/2006/main" noGrp="1"/>
          </p:cNvSpPr>
          <p:nvPr/>
        </p:nvSpPr>
        <p:spPr>
          <a:xfrm xmlns:a="http://schemas.openxmlformats.org/drawingml/2006/main">
            <a:off x="6191250" y="383858"/>
            <a:ext cx="526351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18000"/>
              </a:lnSpc>
              <a:buNone/>
              <a:defRPr sz="1050" b="0">
                <a:solidFill>
                  <a:srgbClr val="6E7686"/>
                </a:solidFill>
                <a:latin typeface="Pretendard"/>
                <a:ea typeface="Pretendard"/>
                <a:cs typeface="Pretendard"/>
              </a:defRPr>
            </a:pPr>
            <a:r>
              <a:rPr sz="1050" b="0">
                <a:solidFill>
                  <a:srgbClr val="6E7686"/>
                </a:solidFill>
                <a:latin typeface="Pretendard"/>
                <a:ea typeface="Pretendard"/>
                <a:cs typeface="Pretendard"/>
              </a:rPr>
              <a:t>다음 → 기관 협의로 달라진 송치 계획</a:t>
            </a:r>
          </a:p>
        </p:txBody>
      </p:sp>
      <p:sp>
        <p:nvSpPr>
          <p:cNvPr id="3" name="title">
            <a:extLst xmlns:a="http://schemas.openxmlformats.org/drawingml/2006/main">
              <a:ext uri="{FF2B5EF4-FFF2-40B4-BE49-F238E27FC236}">
                <a16:creationId xmlns:a16="http://schemas.microsoft.com/office/drawing/2014/main" id="{9DA929A0-1AEE-4AD8-82BD-AAA787672E8B}"/>
              </a:ext>
            </a:extLst>
          </p:cNvPr>
          <p:cNvSpPr>
            <a:spLocks xmlns:a="http://schemas.openxmlformats.org/drawingml/2006/main" noGrp="1"/>
          </p:cNvSpPr>
          <p:nvPr/>
        </p:nvSpPr>
        <p:spPr>
          <a:xfrm xmlns:a="http://schemas.openxmlformats.org/drawingml/2006/main">
            <a:off x="731520" y="762000"/>
            <a:ext cx="10726103"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buNone/>
              <a:defRPr sz="2750" b="1">
                <a:solidFill>
                  <a:srgbClr val="1E2761"/>
                </a:solidFill>
                <a:latin typeface="Pretendard"/>
                <a:ea typeface="Pretendard"/>
                <a:cs typeface="Pretendard"/>
              </a:defRPr>
            </a:pPr>
            <a:r>
              <a:rPr sz="2750" b="1">
                <a:solidFill>
                  <a:srgbClr val="1E2761"/>
                </a:solidFill>
                <a:latin typeface="Pretendard"/>
                <a:ea typeface="Pretendard"/>
                <a:cs typeface="Pretendard"/>
              </a:rPr>
              <a:t>성범죄 연루 우려가 제시된 송치 사례</a:t>
            </a:r>
          </a:p>
        </p:txBody>
      </p:sp>
      <p:sp>
        <p:nvSpPr>
          <p:cNvPr id="4" name="header_rule">
            <a:extLst xmlns:a="http://schemas.openxmlformats.org/drawingml/2006/main">
              <a:ext uri="{FF2B5EF4-FFF2-40B4-BE49-F238E27FC236}">
                <a16:creationId xmlns:a16="http://schemas.microsoft.com/office/drawing/2014/main" id="{41AFA379-C138-4B46-9EB5-568AB9E255A6}"/>
              </a:ext>
            </a:extLst>
          </p:cNvPr>
          <p:cNvSpPr>
            <a:spLocks xmlns:a="http://schemas.openxmlformats.org/drawingml/2006/main" noGrp="1"/>
          </p:cNvSpPr>
          <p:nvPr/>
        </p:nvSpPr>
        <p:spPr>
          <a:xfrm xmlns:a="http://schemas.openxmlformats.org/drawingml/2006/main">
            <a:off x="731520" y="1386840"/>
            <a:ext cx="10726103" cy="15240"/>
          </a:xfrm>
          <a:prstGeom xmlns:a="http://schemas.openxmlformats.org/drawingml/2006/main" prst="rect">
            <a:avLst/>
          </a:prstGeom>
          <a:solidFill xmlns:a="http://schemas.openxmlformats.org/drawingml/2006/main">
            <a:srgbClr val="1E2761"/>
          </a:solidFill>
          <a:ln xmlns:a="http://schemas.openxmlformats.org/drawingml/2006/main" w="0">
            <a:noFill/>
          </a:ln>
        </p:spPr>
      </p:sp>
      <p:sp>
        <p:nvSpPr>
          <p:cNvPr id="5" name="summary">
            <a:extLst xmlns:a="http://schemas.openxmlformats.org/drawingml/2006/main">
              <a:ext uri="{FF2B5EF4-FFF2-40B4-BE49-F238E27FC236}">
                <a16:creationId xmlns:a16="http://schemas.microsoft.com/office/drawing/2014/main" id="{41A007D9-3A8D-43E4-A5B9-5B288FD4CEDE}"/>
              </a:ext>
            </a:extLst>
          </p:cNvPr>
          <p:cNvSpPr>
            <a:spLocks xmlns:a="http://schemas.openxmlformats.org/drawingml/2006/main" noGrp="1"/>
          </p:cNvSpPr>
          <p:nvPr/>
        </p:nvSpPr>
        <p:spPr>
          <a:xfrm xmlns:a="http://schemas.openxmlformats.org/drawingml/2006/main">
            <a:off x="731520" y="1581150"/>
            <a:ext cx="10726103"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buNone/>
              <a:defRPr sz="1300" b="1">
                <a:solidFill>
                  <a:srgbClr val="1E2761"/>
                </a:solidFill>
                <a:latin typeface="Pretendard"/>
                <a:ea typeface="Pretendard"/>
                <a:cs typeface="Pretendard"/>
              </a:defRPr>
            </a:pPr>
            <a:r>
              <a:rPr sz="1300" b="1">
                <a:solidFill>
                  <a:srgbClr val="1E2761"/>
                </a:solidFill>
                <a:latin typeface="Pretendard"/>
                <a:ea typeface="Pretendard"/>
                <a:cs typeface="Pretendard"/>
              </a:rPr>
              <a:t>담당 변호사의 보고에는 가정폭력 환경에서 가출한 청소년의 송치 경위와 7호 처분에 고려된 사정이 제시되어 있다.</a:t>
            </a:r>
          </a:p>
        </p:txBody>
      </p:sp>
      <p:sp>
        <p:nvSpPr>
          <p:cNvPr id="6" name="column_rule_0">
            <a:extLst xmlns:a="http://schemas.openxmlformats.org/drawingml/2006/main">
              <a:ext uri="{FF2B5EF4-FFF2-40B4-BE49-F238E27FC236}">
                <a16:creationId xmlns:a16="http://schemas.microsoft.com/office/drawing/2014/main" id="{F86C0F18-D1C0-4D79-B535-950767916574}"/>
              </a:ext>
            </a:extLst>
          </p:cNvPr>
          <p:cNvSpPr>
            <a:spLocks xmlns:a="http://schemas.openxmlformats.org/drawingml/2006/main" noGrp="1"/>
          </p:cNvSpPr>
          <p:nvPr/>
        </p:nvSpPr>
        <p:spPr>
          <a:xfrm xmlns:a="http://schemas.openxmlformats.org/drawingml/2006/main">
            <a:off x="731520" y="2681288"/>
            <a:ext cx="3392424" cy="38100"/>
          </a:xfrm>
          <a:prstGeom xmlns:a="http://schemas.openxmlformats.org/drawingml/2006/main" prst="rect">
            <a:avLst/>
          </a:prstGeom>
          <a:solidFill xmlns:a="http://schemas.openxmlformats.org/drawingml/2006/main">
            <a:srgbClr val="5A6699"/>
          </a:solidFill>
          <a:ln xmlns:a="http://schemas.openxmlformats.org/drawingml/2006/main" w="0">
            <a:noFill/>
          </a:ln>
        </p:spPr>
      </p:sp>
      <p:sp>
        <p:nvSpPr>
          <p:cNvPr id="7" name="column_header_0">
            <a:extLst xmlns:a="http://schemas.openxmlformats.org/drawingml/2006/main">
              <a:ext uri="{FF2B5EF4-FFF2-40B4-BE49-F238E27FC236}">
                <a16:creationId xmlns:a16="http://schemas.microsoft.com/office/drawing/2014/main" id="{EFA68877-0EF2-4083-9C40-EEB83F6D78BB}"/>
              </a:ext>
            </a:extLst>
          </p:cNvPr>
          <p:cNvSpPr>
            <a:spLocks xmlns:a="http://schemas.openxmlformats.org/drawingml/2006/main" noGrp="1"/>
          </p:cNvSpPr>
          <p:nvPr/>
        </p:nvSpPr>
        <p:spPr>
          <a:xfrm xmlns:a="http://schemas.openxmlformats.org/drawingml/2006/main">
            <a:off x="731520" y="2857500"/>
            <a:ext cx="3392424"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buNone/>
              <a:defRPr sz="1400" b="1">
                <a:solidFill>
                  <a:srgbClr val="1E2761"/>
                </a:solidFill>
                <a:latin typeface="Pretendard"/>
                <a:ea typeface="Pretendard"/>
                <a:cs typeface="Pretendard"/>
              </a:defRPr>
            </a:pPr>
            <a:r>
              <a:rPr sz="1400" b="1">
                <a:solidFill>
                  <a:srgbClr val="1E2761"/>
                </a:solidFill>
                <a:latin typeface="Pretendard"/>
                <a:ea typeface="Pretendard"/>
                <a:cs typeface="Pretendard"/>
              </a:rPr>
              <a:t>① 가출의 배경</a:t>
            </a:r>
          </a:p>
        </p:txBody>
      </p:sp>
      <p:sp>
        <p:nvSpPr>
          <p:cNvPr id="8" name="column_body_0">
            <a:extLst xmlns:a="http://schemas.openxmlformats.org/drawingml/2006/main">
              <a:ext uri="{FF2B5EF4-FFF2-40B4-BE49-F238E27FC236}">
                <a16:creationId xmlns:a16="http://schemas.microsoft.com/office/drawing/2014/main" id="{1E6EC3EB-160E-4B49-BC02-D122CE005ACB}"/>
              </a:ext>
            </a:extLst>
          </p:cNvPr>
          <p:cNvSpPr>
            <a:spLocks xmlns:a="http://schemas.openxmlformats.org/drawingml/2006/main" noGrp="1"/>
          </p:cNvSpPr>
          <p:nvPr/>
        </p:nvSpPr>
        <p:spPr>
          <a:xfrm xmlns:a="http://schemas.openxmlformats.org/drawingml/2006/main">
            <a:off x="731520" y="3276600"/>
            <a:ext cx="3392424"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5000"/>
              </a:lnSpc>
              <a:buNone/>
              <a:defRPr sz="1400" b="0">
                <a:solidFill>
                  <a:srgbClr val="222633"/>
                </a:solidFill>
                <a:latin typeface="Pretendard"/>
                <a:ea typeface="Pretendard"/>
                <a:cs typeface="Pretendard"/>
              </a:defRPr>
            </a:pPr>
            <a:r>
              <a:rPr sz="1400" b="0">
                <a:solidFill>
                  <a:srgbClr val="222633"/>
                </a:solidFill>
                <a:latin typeface="Pretendard"/>
                <a:ea typeface="Pretendard"/>
                <a:cs typeface="Pretendard"/>
              </a:rPr>
              <a:t>B는 </a:t>
            </a:r>
            <a:r>
              <a:rPr sz="1400" b="1">
                <a:solidFill>
                  <a:srgbClr val="222633"/>
                </a:solidFill>
                <a:latin typeface="Pretendard"/>
                <a:ea typeface="Pretendard"/>
                <a:cs typeface="Pretendard"/>
              </a:rPr>
              <a:t>부모의 다툼을 피해</a:t>
            </a:r>
          </a:p>
          <a:p xmlns:a="http://schemas.openxmlformats.org/drawingml/2006/main">
            <a:pPr algn="l">
              <a:lnSpc>
                <a:spcPct val="125000"/>
              </a:lnSpc>
              <a:buNone/>
              <a:defRPr sz="1400" b="0">
                <a:solidFill>
                  <a:srgbClr val="222633"/>
                </a:solidFill>
                <a:latin typeface="Pretendard"/>
                <a:ea typeface="Pretendard"/>
                <a:cs typeface="Pretendard"/>
              </a:defRPr>
            </a:pPr>
            <a:r>
              <a:rPr sz="1400" b="0">
                <a:solidFill>
                  <a:srgbClr val="222633"/>
                </a:solidFill>
                <a:latin typeface="Pretendard"/>
                <a:ea typeface="Pretendard"/>
                <a:cs typeface="Pretendard"/>
              </a:rPr>
              <a:t>초등학교 때 처음 가출했다.</a:t>
            </a:r>
          </a:p>
          <a:p xmlns:a="http://schemas.openxmlformats.org/drawingml/2006/main">
            <a:pPr algn="l">
              <a:lnSpc>
                <a:spcPct val="125000"/>
              </a:lnSpc>
              <a:buNone/>
              <a:defRPr sz="1400" b="0">
                <a:solidFill>
                  <a:srgbClr val="222633"/>
                </a:solidFill>
                <a:latin typeface="Pretendard"/>
                <a:ea typeface="Pretendard"/>
                <a:cs typeface="Pretendard"/>
              </a:defRPr>
            </a:pPr>
            <a:r>
              <a:rPr sz="1400" b="1">
                <a:solidFill>
                  <a:srgbClr val="222633"/>
                </a:solidFill>
                <a:latin typeface="Pretendard"/>
                <a:ea typeface="Pretendard"/>
                <a:cs typeface="Pretendard"/>
              </a:rPr>
              <a:t>가정폭력 위험</a:t>
            </a:r>
            <a:r>
              <a:rPr sz="1400" b="0">
                <a:solidFill>
                  <a:srgbClr val="222633"/>
                </a:solidFill>
                <a:latin typeface="Pretendard"/>
                <a:ea typeface="Pretendard"/>
                <a:cs typeface="Pretendard"/>
              </a:rPr>
              <a:t>으로</a:t>
            </a:r>
          </a:p>
          <a:p xmlns:a="http://schemas.openxmlformats.org/drawingml/2006/main">
            <a:pPr algn="l">
              <a:lnSpc>
                <a:spcPct val="125000"/>
              </a:lnSpc>
              <a:buNone/>
              <a:defRPr sz="1400" b="0">
                <a:solidFill>
                  <a:srgbClr val="222633"/>
                </a:solidFill>
                <a:latin typeface="Pretendard"/>
                <a:ea typeface="Pretendard"/>
                <a:cs typeface="Pretendard"/>
              </a:defRPr>
            </a:pPr>
            <a:r>
              <a:rPr sz="1400" b="0">
                <a:solidFill>
                  <a:srgbClr val="222633"/>
                </a:solidFill>
                <a:latin typeface="Pretendard"/>
                <a:ea typeface="Pretendard"/>
                <a:cs typeface="Pretendard"/>
              </a:rPr>
              <a:t>아동보호전문기관과 구청의</a:t>
            </a:r>
          </a:p>
          <a:p xmlns:a="http://schemas.openxmlformats.org/drawingml/2006/main">
            <a:pPr algn="l">
              <a:lnSpc>
                <a:spcPct val="125000"/>
              </a:lnSpc>
              <a:buNone/>
              <a:defRPr sz="1400" b="0">
                <a:solidFill>
                  <a:srgbClr val="222633"/>
                </a:solidFill>
                <a:latin typeface="Pretendard"/>
                <a:ea typeface="Pretendard"/>
                <a:cs typeface="Pretendard"/>
              </a:defRPr>
            </a:pPr>
            <a:r>
              <a:rPr sz="1400" b="0">
                <a:solidFill>
                  <a:srgbClr val="222633"/>
                </a:solidFill>
                <a:latin typeface="Pretendard"/>
                <a:ea typeface="Pretendard"/>
                <a:cs typeface="Pretendard"/>
              </a:rPr>
              <a:t>사례관리를 받고 있었다.</a:t>
            </a:r>
          </a:p>
        </p:txBody>
      </p:sp>
      <p:sp>
        <p:nvSpPr>
          <p:cNvPr id="9" name="column_rule_1">
            <a:extLst xmlns:a="http://schemas.openxmlformats.org/drawingml/2006/main">
              <a:ext uri="{FF2B5EF4-FFF2-40B4-BE49-F238E27FC236}">
                <a16:creationId xmlns:a16="http://schemas.microsoft.com/office/drawing/2014/main" id="{16A44302-B1DB-4A80-9313-E3F6A0414841}"/>
              </a:ext>
            </a:extLst>
          </p:cNvPr>
          <p:cNvSpPr>
            <a:spLocks xmlns:a="http://schemas.openxmlformats.org/drawingml/2006/main" noGrp="1"/>
          </p:cNvSpPr>
          <p:nvPr/>
        </p:nvSpPr>
        <p:spPr>
          <a:xfrm xmlns:a="http://schemas.openxmlformats.org/drawingml/2006/main">
            <a:off x="4398264" y="2681288"/>
            <a:ext cx="3392424" cy="38100"/>
          </a:xfrm>
          <a:prstGeom xmlns:a="http://schemas.openxmlformats.org/drawingml/2006/main" prst="rect">
            <a:avLst/>
          </a:prstGeom>
          <a:solidFill xmlns:a="http://schemas.openxmlformats.org/drawingml/2006/main">
            <a:srgbClr val="5A6699"/>
          </a:solidFill>
          <a:ln xmlns:a="http://schemas.openxmlformats.org/drawingml/2006/main" w="0">
            <a:noFill/>
          </a:ln>
        </p:spPr>
      </p:sp>
      <p:sp>
        <p:nvSpPr>
          <p:cNvPr id="10" name="column_header_1">
            <a:extLst xmlns:a="http://schemas.openxmlformats.org/drawingml/2006/main">
              <a:ext uri="{FF2B5EF4-FFF2-40B4-BE49-F238E27FC236}">
                <a16:creationId xmlns:a16="http://schemas.microsoft.com/office/drawing/2014/main" id="{312E9DA1-957C-465D-A3D6-7C9030492348}"/>
              </a:ext>
            </a:extLst>
          </p:cNvPr>
          <p:cNvSpPr>
            <a:spLocks xmlns:a="http://schemas.openxmlformats.org/drawingml/2006/main" noGrp="1"/>
          </p:cNvSpPr>
          <p:nvPr/>
        </p:nvSpPr>
        <p:spPr>
          <a:xfrm xmlns:a="http://schemas.openxmlformats.org/drawingml/2006/main">
            <a:off x="4398264" y="2857500"/>
            <a:ext cx="3392424"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buNone/>
              <a:defRPr sz="1400" b="1">
                <a:solidFill>
                  <a:srgbClr val="1E2761"/>
                </a:solidFill>
                <a:latin typeface="Pretendard"/>
                <a:ea typeface="Pretendard"/>
                <a:cs typeface="Pretendard"/>
              </a:defRPr>
            </a:pPr>
            <a:r>
              <a:rPr sz="1400" b="1">
                <a:solidFill>
                  <a:srgbClr val="1E2761"/>
                </a:solidFill>
                <a:latin typeface="Pretendard"/>
                <a:ea typeface="Pretendard"/>
                <a:cs typeface="Pretendard"/>
              </a:rPr>
              <a:t>② 송치에 이른 과정</a:t>
            </a:r>
          </a:p>
        </p:txBody>
      </p:sp>
      <p:sp>
        <p:nvSpPr>
          <p:cNvPr id="11" name="column_body_1">
            <a:extLst xmlns:a="http://schemas.openxmlformats.org/drawingml/2006/main">
              <a:ext uri="{FF2B5EF4-FFF2-40B4-BE49-F238E27FC236}">
                <a16:creationId xmlns:a16="http://schemas.microsoft.com/office/drawing/2014/main" id="{73223E4E-B672-4B87-B846-B0359FEEF3F2}"/>
              </a:ext>
            </a:extLst>
          </p:cNvPr>
          <p:cNvSpPr>
            <a:spLocks xmlns:a="http://schemas.openxmlformats.org/drawingml/2006/main" noGrp="1"/>
          </p:cNvSpPr>
          <p:nvPr/>
        </p:nvSpPr>
        <p:spPr>
          <a:xfrm xmlns:a="http://schemas.openxmlformats.org/drawingml/2006/main">
            <a:off x="4398264" y="3276600"/>
            <a:ext cx="3392424"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5000"/>
              </a:lnSpc>
              <a:buNone/>
              <a:defRPr sz="1400" b="0">
                <a:solidFill>
                  <a:srgbClr val="222633"/>
                </a:solidFill>
                <a:latin typeface="Pretendard"/>
                <a:ea typeface="Pretendard"/>
                <a:cs typeface="Pretendard"/>
              </a:defRPr>
            </a:pPr>
            <a:r>
              <a:rPr sz="1400" b="0">
                <a:solidFill>
                  <a:srgbClr val="222633"/>
                </a:solidFill>
                <a:latin typeface="Pretendard"/>
                <a:ea typeface="Pretendard"/>
                <a:cs typeface="Pretendard"/>
              </a:rPr>
              <a:t>아버지의 신고 후 경찰서장이</a:t>
            </a:r>
          </a:p>
          <a:p xmlns:a="http://schemas.openxmlformats.org/drawingml/2006/main">
            <a:pPr algn="l">
              <a:lnSpc>
                <a:spcPct val="125000"/>
              </a:lnSpc>
              <a:buNone/>
              <a:defRPr sz="1400" b="0">
                <a:solidFill>
                  <a:srgbClr val="222633"/>
                </a:solidFill>
                <a:latin typeface="Pretendard"/>
                <a:ea typeface="Pretendard"/>
                <a:cs typeface="Pretendard"/>
              </a:defRPr>
            </a:pPr>
            <a:r>
              <a:rPr sz="1400" b="0">
                <a:solidFill>
                  <a:srgbClr val="222633"/>
                </a:solidFill>
                <a:latin typeface="Pretendard"/>
                <a:ea typeface="Pretendard"/>
                <a:cs typeface="Pretendard"/>
              </a:rPr>
              <a:t>소년부로 송치했다.</a:t>
            </a:r>
          </a:p>
          <a:p xmlns:a="http://schemas.openxmlformats.org/drawingml/2006/main">
            <a:pPr algn="l">
              <a:lnSpc>
                <a:spcPct val="125000"/>
              </a:lnSpc>
              <a:buNone/>
              <a:defRPr sz="1400" b="0">
                <a:solidFill>
                  <a:srgbClr val="222633"/>
                </a:solidFill>
                <a:latin typeface="Pretendard"/>
                <a:ea typeface="Pretendard"/>
                <a:cs typeface="Pretendard"/>
              </a:defRPr>
            </a:pPr>
            <a:r>
              <a:rPr sz="1400" b="0">
                <a:solidFill>
                  <a:srgbClr val="222633"/>
                </a:solidFill>
                <a:latin typeface="Pretendard"/>
                <a:ea typeface="Pretendard"/>
                <a:cs typeface="Pretendard"/>
              </a:rPr>
              <a:t>가출, </a:t>
            </a:r>
            <a:r>
              <a:rPr sz="1400" b="1">
                <a:solidFill>
                  <a:srgbClr val="222633"/>
                </a:solidFill>
                <a:latin typeface="Pretendard"/>
                <a:ea typeface="Pretendard"/>
                <a:cs typeface="Pretendard"/>
              </a:rPr>
              <a:t>부모 동의 없는 소액결제</a:t>
            </a:r>
            <a:r>
              <a:rPr sz="1400" b="0">
                <a:solidFill>
                  <a:srgbClr val="222633"/>
                </a:solidFill>
                <a:latin typeface="Pretendard"/>
                <a:ea typeface="Pretendard"/>
                <a:cs typeface="Pretendard"/>
              </a:rPr>
              <a:t>,</a:t>
            </a:r>
          </a:p>
          <a:p xmlns:a="http://schemas.openxmlformats.org/drawingml/2006/main">
            <a:pPr algn="l">
              <a:lnSpc>
                <a:spcPct val="125000"/>
              </a:lnSpc>
              <a:buNone/>
              <a:defRPr sz="1400" b="0">
                <a:solidFill>
                  <a:srgbClr val="222633"/>
                </a:solidFill>
                <a:latin typeface="Pretendard"/>
                <a:ea typeface="Pretendard"/>
                <a:cs typeface="Pretendard"/>
              </a:defRPr>
            </a:pPr>
            <a:r>
              <a:rPr sz="1400" b="1">
                <a:solidFill>
                  <a:srgbClr val="222633"/>
                </a:solidFill>
                <a:latin typeface="Pretendard"/>
                <a:ea typeface="Pretendard"/>
                <a:cs typeface="Pretendard"/>
              </a:rPr>
              <a:t>성인 남성과의 접촉</a:t>
            </a:r>
            <a:r>
              <a:rPr sz="1400" b="0">
                <a:solidFill>
                  <a:srgbClr val="222633"/>
                </a:solidFill>
                <a:latin typeface="Pretendard"/>
                <a:ea typeface="Pretendard"/>
                <a:cs typeface="Pretendard"/>
              </a:rPr>
              <a:t> 등이 제시됐고</a:t>
            </a:r>
          </a:p>
          <a:p xmlns:a="http://schemas.openxmlformats.org/drawingml/2006/main">
            <a:pPr algn="l">
              <a:lnSpc>
                <a:spcPct val="125000"/>
              </a:lnSpc>
              <a:buNone/>
              <a:defRPr sz="1400" b="0">
                <a:solidFill>
                  <a:srgbClr val="222633"/>
                </a:solidFill>
                <a:latin typeface="Pretendard"/>
                <a:ea typeface="Pretendard"/>
                <a:cs typeface="Pretendard"/>
              </a:defRPr>
            </a:pPr>
            <a:r>
              <a:rPr sz="1400" b="0">
                <a:solidFill>
                  <a:srgbClr val="222633"/>
                </a:solidFill>
                <a:latin typeface="Pretendard"/>
                <a:ea typeface="Pretendard"/>
                <a:cs typeface="Pretendard"/>
              </a:rPr>
              <a:t>‘성범죄 연루 우려’가 거론됐다.</a:t>
            </a:r>
          </a:p>
        </p:txBody>
      </p:sp>
      <p:sp>
        <p:nvSpPr>
          <p:cNvPr id="12" name="column_rule_2">
            <a:extLst xmlns:a="http://schemas.openxmlformats.org/drawingml/2006/main">
              <a:ext uri="{FF2B5EF4-FFF2-40B4-BE49-F238E27FC236}">
                <a16:creationId xmlns:a16="http://schemas.microsoft.com/office/drawing/2014/main" id="{7819AB2C-0A4D-4D3B-B642-2C4ED40E3AAB}"/>
              </a:ext>
            </a:extLst>
          </p:cNvPr>
          <p:cNvSpPr>
            <a:spLocks xmlns:a="http://schemas.openxmlformats.org/drawingml/2006/main" noGrp="1"/>
          </p:cNvSpPr>
          <p:nvPr/>
        </p:nvSpPr>
        <p:spPr>
          <a:xfrm xmlns:a="http://schemas.openxmlformats.org/drawingml/2006/main">
            <a:off x="8065008" y="2681288"/>
            <a:ext cx="3392424" cy="38100"/>
          </a:xfrm>
          <a:prstGeom xmlns:a="http://schemas.openxmlformats.org/drawingml/2006/main" prst="rect">
            <a:avLst/>
          </a:prstGeom>
          <a:solidFill xmlns:a="http://schemas.openxmlformats.org/drawingml/2006/main">
            <a:srgbClr val="5A6699"/>
          </a:solidFill>
          <a:ln xmlns:a="http://schemas.openxmlformats.org/drawingml/2006/main" w="0">
            <a:noFill/>
          </a:ln>
        </p:spPr>
      </p:sp>
      <p:sp>
        <p:nvSpPr>
          <p:cNvPr id="13" name="column_header_2">
            <a:extLst xmlns:a="http://schemas.openxmlformats.org/drawingml/2006/main">
              <a:ext uri="{FF2B5EF4-FFF2-40B4-BE49-F238E27FC236}">
                <a16:creationId xmlns:a16="http://schemas.microsoft.com/office/drawing/2014/main" id="{6DD1181B-0F1C-4998-BDD8-9D737254AEC9}"/>
              </a:ext>
            </a:extLst>
          </p:cNvPr>
          <p:cNvSpPr>
            <a:spLocks xmlns:a="http://schemas.openxmlformats.org/drawingml/2006/main" noGrp="1"/>
          </p:cNvSpPr>
          <p:nvPr/>
        </p:nvSpPr>
        <p:spPr>
          <a:xfrm xmlns:a="http://schemas.openxmlformats.org/drawingml/2006/main">
            <a:off x="8065008" y="2857500"/>
            <a:ext cx="3392424"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buNone/>
              <a:defRPr sz="1400" b="1">
                <a:solidFill>
                  <a:srgbClr val="1E2761"/>
                </a:solidFill>
                <a:latin typeface="Pretendard"/>
                <a:ea typeface="Pretendard"/>
                <a:cs typeface="Pretendard"/>
              </a:defRPr>
            </a:pPr>
            <a:r>
              <a:rPr sz="1400" b="1">
                <a:solidFill>
                  <a:srgbClr val="1E2761"/>
                </a:solidFill>
                <a:latin typeface="Pretendard"/>
                <a:ea typeface="Pretendard"/>
                <a:cs typeface="Pretendard"/>
              </a:rPr>
              <a:t>③ 처리 결과</a:t>
            </a:r>
          </a:p>
        </p:txBody>
      </p:sp>
      <p:sp>
        <p:nvSpPr>
          <p:cNvPr id="14" name="column_body_2">
            <a:extLst xmlns:a="http://schemas.openxmlformats.org/drawingml/2006/main">
              <a:ext uri="{FF2B5EF4-FFF2-40B4-BE49-F238E27FC236}">
                <a16:creationId xmlns:a16="http://schemas.microsoft.com/office/drawing/2014/main" id="{2FE148B4-9939-401A-B4DD-602A018EED46}"/>
              </a:ext>
            </a:extLst>
          </p:cNvPr>
          <p:cNvSpPr>
            <a:spLocks xmlns:a="http://schemas.openxmlformats.org/drawingml/2006/main" noGrp="1"/>
          </p:cNvSpPr>
          <p:nvPr/>
        </p:nvSpPr>
        <p:spPr>
          <a:xfrm xmlns:a="http://schemas.openxmlformats.org/drawingml/2006/main">
            <a:off x="8065008" y="3276600"/>
            <a:ext cx="3392424"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5000"/>
              </a:lnSpc>
              <a:buNone/>
              <a:defRPr sz="1400" b="0">
                <a:solidFill>
                  <a:srgbClr val="222633"/>
                </a:solidFill>
                <a:latin typeface="Pretendard"/>
                <a:ea typeface="Pretendard"/>
                <a:cs typeface="Pretendard"/>
              </a:defRPr>
            </a:pPr>
            <a:r>
              <a:rPr sz="1400" b="1">
                <a:solidFill>
                  <a:srgbClr val="222633"/>
                </a:solidFill>
                <a:latin typeface="Pretendard"/>
                <a:ea typeface="Pretendard"/>
                <a:cs typeface="Pretendard"/>
              </a:rPr>
              <a:t>부모가 B를 보호하기 어렵다는 점</a:t>
            </a:r>
            <a:r>
              <a:rPr sz="1400" b="0">
                <a:solidFill>
                  <a:srgbClr val="222633"/>
                </a:solidFill>
                <a:latin typeface="Pretendard"/>
                <a:ea typeface="Pretendard"/>
                <a:cs typeface="Pretendard"/>
              </a:rPr>
              <a:t>,</a:t>
            </a:r>
          </a:p>
          <a:p xmlns:a="http://schemas.openxmlformats.org/drawingml/2006/main">
            <a:pPr algn="l">
              <a:lnSpc>
                <a:spcPct val="125000"/>
              </a:lnSpc>
              <a:buNone/>
              <a:defRPr sz="1400" b="0">
                <a:solidFill>
                  <a:srgbClr val="222633"/>
                </a:solidFill>
                <a:latin typeface="Pretendard"/>
                <a:ea typeface="Pretendard"/>
                <a:cs typeface="Pretendard"/>
              </a:defRPr>
            </a:pPr>
            <a:r>
              <a:rPr sz="1400" b="1">
                <a:solidFill>
                  <a:srgbClr val="222633"/>
                </a:solidFill>
                <a:latin typeface="Pretendard"/>
                <a:ea typeface="Pretendard"/>
                <a:cs typeface="Pretendard"/>
              </a:rPr>
              <a:t>부모의 시설처분 요청</a:t>
            </a:r>
            <a:r>
              <a:rPr sz="1400" b="0">
                <a:solidFill>
                  <a:srgbClr val="222633"/>
                </a:solidFill>
                <a:latin typeface="Pretendard"/>
                <a:ea typeface="Pretendard"/>
                <a:cs typeface="Pretendard"/>
              </a:rPr>
              <a:t>,</a:t>
            </a:r>
          </a:p>
          <a:p xmlns:a="http://schemas.openxmlformats.org/drawingml/2006/main">
            <a:pPr algn="l">
              <a:lnSpc>
                <a:spcPct val="125000"/>
              </a:lnSpc>
              <a:buNone/>
              <a:defRPr sz="1400" b="0">
                <a:solidFill>
                  <a:srgbClr val="222633"/>
                </a:solidFill>
                <a:latin typeface="Pretendard"/>
                <a:ea typeface="Pretendard"/>
                <a:cs typeface="Pretendard"/>
              </a:defRPr>
            </a:pPr>
            <a:r>
              <a:rPr sz="1400" b="1">
                <a:solidFill>
                  <a:srgbClr val="222633"/>
                </a:solidFill>
                <a:latin typeface="Pretendard"/>
                <a:ea typeface="Pretendard"/>
                <a:cs typeface="Pretendard"/>
              </a:rPr>
              <a:t>B의 치료 필요성</a:t>
            </a:r>
            <a:r>
              <a:rPr sz="1400" b="0">
                <a:solidFill>
                  <a:srgbClr val="222633"/>
                </a:solidFill>
                <a:latin typeface="Pretendard"/>
                <a:ea typeface="Pretendard"/>
                <a:cs typeface="Pretendard"/>
              </a:rPr>
              <a:t> 등이 고려되었다.</a:t>
            </a:r>
          </a:p>
          <a:p xmlns:a="http://schemas.openxmlformats.org/drawingml/2006/main">
            <a:pPr algn="l">
              <a:lnSpc>
                <a:spcPct val="125000"/>
              </a:lnSpc>
              <a:buNone/>
              <a:defRPr sz="1400" b="0">
                <a:solidFill>
                  <a:srgbClr val="222633"/>
                </a:solidFill>
                <a:latin typeface="Pretendard"/>
                <a:ea typeface="Pretendard"/>
                <a:cs typeface="Pretendard"/>
              </a:defRPr>
            </a:pPr>
            <a:r>
              <a:rPr sz="1400" b="0">
                <a:solidFill>
                  <a:srgbClr val="222633"/>
                </a:solidFill>
                <a:latin typeface="Pretendard"/>
                <a:ea typeface="Pretendard"/>
                <a:cs typeface="Pretendard"/>
              </a:rPr>
              <a:t>분류심사원 위탁을 거쳐</a:t>
            </a:r>
          </a:p>
          <a:p xmlns:a="http://schemas.openxmlformats.org/drawingml/2006/main">
            <a:pPr algn="l">
              <a:lnSpc>
                <a:spcPct val="125000"/>
              </a:lnSpc>
              <a:buNone/>
              <a:defRPr sz="1400" b="0">
                <a:solidFill>
                  <a:srgbClr val="222633"/>
                </a:solidFill>
                <a:latin typeface="Pretendard"/>
                <a:ea typeface="Pretendard"/>
                <a:cs typeface="Pretendard"/>
              </a:defRPr>
            </a:pPr>
            <a:r>
              <a:rPr sz="1400" b="0">
                <a:solidFill>
                  <a:srgbClr val="222633"/>
                </a:solidFill>
                <a:latin typeface="Pretendard"/>
                <a:ea typeface="Pretendard"/>
                <a:cs typeface="Pretendard"/>
              </a:rPr>
              <a:t>7호 보호처분을 받았다고 보고됐다.</a:t>
            </a:r>
          </a:p>
        </p:txBody>
      </p:sp>
      <p:sp>
        <p:nvSpPr>
          <p:cNvPr id="15" name="arrow_1">
            <a:extLst xmlns:a="http://schemas.openxmlformats.org/drawingml/2006/main">
              <a:ext uri="{FF2B5EF4-FFF2-40B4-BE49-F238E27FC236}">
                <a16:creationId xmlns:a16="http://schemas.microsoft.com/office/drawing/2014/main" id="{A24D3BC4-4133-448A-A684-A1DF6DDA5F6C}"/>
              </a:ext>
            </a:extLst>
          </p:cNvPr>
          <p:cNvSpPr>
            <a:spLocks xmlns:a="http://schemas.openxmlformats.org/drawingml/2006/main" noGrp="1"/>
          </p:cNvSpPr>
          <p:nvPr/>
        </p:nvSpPr>
        <p:spPr>
          <a:xfrm xmlns:a="http://schemas.openxmlformats.org/drawingml/2006/main">
            <a:off x="4164330" y="3848100"/>
            <a:ext cx="2190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18000"/>
              </a:lnSpc>
              <a:buNone/>
              <a:defRPr sz="1600" b="1">
                <a:solidFill>
                  <a:srgbClr val="C2A648"/>
                </a:solidFill>
                <a:latin typeface="Pretendard"/>
                <a:ea typeface="Pretendard"/>
                <a:cs typeface="Pretendard"/>
              </a:defRPr>
            </a:pPr>
            <a:r>
              <a:rPr sz="1600" b="1">
                <a:solidFill>
                  <a:srgbClr val="C2A648"/>
                </a:solidFill>
                <a:latin typeface="Pretendard"/>
                <a:ea typeface="Pretendard"/>
                <a:cs typeface="Pretendard"/>
              </a:rPr>
              <a:t>→</a:t>
            </a:r>
          </a:p>
        </p:txBody>
      </p:sp>
      <p:sp>
        <p:nvSpPr>
          <p:cNvPr id="16" name="arrow_2">
            <a:extLst xmlns:a="http://schemas.openxmlformats.org/drawingml/2006/main">
              <a:ext uri="{FF2B5EF4-FFF2-40B4-BE49-F238E27FC236}">
                <a16:creationId xmlns:a16="http://schemas.microsoft.com/office/drawing/2014/main" id="{82A1ED95-50B3-4BCE-BF54-3A3547AEBB72}"/>
              </a:ext>
            </a:extLst>
          </p:cNvPr>
          <p:cNvSpPr>
            <a:spLocks xmlns:a="http://schemas.openxmlformats.org/drawingml/2006/main" noGrp="1"/>
          </p:cNvSpPr>
          <p:nvPr/>
        </p:nvSpPr>
        <p:spPr>
          <a:xfrm xmlns:a="http://schemas.openxmlformats.org/drawingml/2006/main">
            <a:off x="7831074" y="3848100"/>
            <a:ext cx="2190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18000"/>
              </a:lnSpc>
              <a:buNone/>
              <a:defRPr sz="1600" b="1">
                <a:solidFill>
                  <a:srgbClr val="C2A648"/>
                </a:solidFill>
                <a:latin typeface="Pretendard"/>
                <a:ea typeface="Pretendard"/>
                <a:cs typeface="Pretendard"/>
              </a:defRPr>
            </a:pPr>
            <a:r>
              <a:rPr sz="1600" b="1">
                <a:solidFill>
                  <a:srgbClr val="C2A648"/>
                </a:solidFill>
                <a:latin typeface="Pretendard"/>
                <a:ea typeface="Pretendard"/>
                <a:cs typeface="Pretendard"/>
              </a:rPr>
              <a:t>→</a:t>
            </a:r>
          </a:p>
        </p:txBody>
      </p:sp>
      <p:sp>
        <p:nvSpPr>
          <p:cNvPr id="17" name="definition_rule">
            <a:extLst xmlns:a="http://schemas.openxmlformats.org/drawingml/2006/main">
              <a:ext uri="{FF2B5EF4-FFF2-40B4-BE49-F238E27FC236}">
                <a16:creationId xmlns:a16="http://schemas.microsoft.com/office/drawing/2014/main" id="{98A582C8-EE91-4638-84AD-005486EB91BC}"/>
              </a:ext>
            </a:extLst>
          </p:cNvPr>
          <p:cNvSpPr>
            <a:spLocks xmlns:a="http://schemas.openxmlformats.org/drawingml/2006/main" noGrp="1"/>
          </p:cNvSpPr>
          <p:nvPr/>
        </p:nvSpPr>
        <p:spPr>
          <a:xfrm xmlns:a="http://schemas.openxmlformats.org/drawingml/2006/main">
            <a:off x="731520" y="5076825"/>
            <a:ext cx="10726103" cy="9525"/>
          </a:xfrm>
          <a:prstGeom xmlns:a="http://schemas.openxmlformats.org/drawingml/2006/main" prst="rect">
            <a:avLst/>
          </a:prstGeom>
          <a:solidFill xmlns:a="http://schemas.openxmlformats.org/drawingml/2006/main">
            <a:srgbClr val="DCE0E8"/>
          </a:solidFill>
          <a:ln xmlns:a="http://schemas.openxmlformats.org/drawingml/2006/main" w="0">
            <a:noFill/>
          </a:ln>
        </p:spPr>
      </p:sp>
      <p:sp>
        <p:nvSpPr>
          <p:cNvPr id="18" name="definition_label">
            <a:extLst xmlns:a="http://schemas.openxmlformats.org/drawingml/2006/main">
              <a:ext uri="{FF2B5EF4-FFF2-40B4-BE49-F238E27FC236}">
                <a16:creationId xmlns:a16="http://schemas.microsoft.com/office/drawing/2014/main" id="{F80422BC-A480-45AA-969C-C53C478340A0}"/>
              </a:ext>
            </a:extLst>
          </p:cNvPr>
          <p:cNvSpPr>
            <a:spLocks xmlns:a="http://schemas.openxmlformats.org/drawingml/2006/main" noGrp="1"/>
          </p:cNvSpPr>
          <p:nvPr/>
        </p:nvSpPr>
        <p:spPr>
          <a:xfrm xmlns:a="http://schemas.openxmlformats.org/drawingml/2006/main">
            <a:off x="731520" y="5219700"/>
            <a:ext cx="12668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buNone/>
              <a:defRPr sz="1250" b="1">
                <a:solidFill>
                  <a:srgbClr val="464D5C"/>
                </a:solidFill>
                <a:latin typeface="Pretendard"/>
                <a:ea typeface="Pretendard"/>
                <a:cs typeface="Pretendard"/>
              </a:defRPr>
            </a:pPr>
            <a:r>
              <a:rPr sz="1250" b="1">
                <a:solidFill>
                  <a:srgbClr val="464D5C"/>
                </a:solidFill>
                <a:latin typeface="Pretendard"/>
                <a:ea typeface="Pretendard"/>
                <a:cs typeface="Pretendard"/>
              </a:rPr>
              <a:t>현행 7호 처분</a:t>
            </a:r>
          </a:p>
        </p:txBody>
      </p:sp>
      <p:sp>
        <p:nvSpPr>
          <p:cNvPr id="19" name="definition">
            <a:extLst xmlns:a="http://schemas.openxmlformats.org/drawingml/2006/main">
              <a:ext uri="{FF2B5EF4-FFF2-40B4-BE49-F238E27FC236}">
                <a16:creationId xmlns:a16="http://schemas.microsoft.com/office/drawing/2014/main" id="{D70E93F2-4AB6-40B5-A62C-7B952313633D}"/>
              </a:ext>
            </a:extLst>
          </p:cNvPr>
          <p:cNvSpPr>
            <a:spLocks xmlns:a="http://schemas.openxmlformats.org/drawingml/2006/main" noGrp="1"/>
          </p:cNvSpPr>
          <p:nvPr/>
        </p:nvSpPr>
        <p:spPr>
          <a:xfrm xmlns:a="http://schemas.openxmlformats.org/drawingml/2006/main">
            <a:off x="2105025" y="5219700"/>
            <a:ext cx="9353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buNone/>
              <a:defRPr sz="1250" b="0">
                <a:solidFill>
                  <a:srgbClr val="464D5C"/>
                </a:solidFill>
                <a:latin typeface="Pretendard"/>
                <a:ea typeface="Pretendard"/>
                <a:cs typeface="Pretendard"/>
              </a:defRPr>
            </a:pPr>
            <a:r>
              <a:rPr sz="1250" b="0">
                <a:solidFill>
                  <a:srgbClr val="464D5C"/>
                </a:solidFill>
                <a:latin typeface="Pretendard"/>
                <a:ea typeface="Pretendard"/>
                <a:cs typeface="Pretendard"/>
              </a:rPr>
              <a:t>병원·요양소 또는 의료재활소년원에 위탁(소년법 제32조 제1항 제7호)</a:t>
            </a:r>
          </a:p>
        </p:txBody>
      </p:sp>
      <p:sp>
        <p:nvSpPr>
          <p:cNvPr id="20" name="question_band">
            <a:extLst xmlns:a="http://schemas.openxmlformats.org/drawingml/2006/main">
              <a:ext uri="{FF2B5EF4-FFF2-40B4-BE49-F238E27FC236}">
                <a16:creationId xmlns:a16="http://schemas.microsoft.com/office/drawing/2014/main" id="{67313443-9A2A-440B-AB98-70CAA4BC7A16}"/>
              </a:ext>
            </a:extLst>
          </p:cNvPr>
          <p:cNvSpPr>
            <a:spLocks xmlns:a="http://schemas.openxmlformats.org/drawingml/2006/main" noGrp="1"/>
          </p:cNvSpPr>
          <p:nvPr/>
        </p:nvSpPr>
        <p:spPr>
          <a:xfrm xmlns:a="http://schemas.openxmlformats.org/drawingml/2006/main">
            <a:off x="1124712" y="5751576"/>
            <a:ext cx="9912096" cy="457200"/>
          </a:xfrm>
          <a:prstGeom xmlns:a="http://schemas.openxmlformats.org/drawingml/2006/main" prst="rect">
            <a:avLst/>
          </a:prstGeom>
          <a:solidFill xmlns:a="http://schemas.openxmlformats.org/drawingml/2006/main">
            <a:srgbClr val="1E2761"/>
          </a:solidFill>
          <a:ln xmlns:a="http://schemas.openxmlformats.org/drawingml/2006/main" w="0">
            <a:noFill/>
          </a:ln>
        </p:spPr>
      </p:sp>
      <p:sp>
        <p:nvSpPr>
          <p:cNvPr id="21" name="question">
            <a:extLst xmlns:a="http://schemas.openxmlformats.org/drawingml/2006/main">
              <a:ext uri="{FF2B5EF4-FFF2-40B4-BE49-F238E27FC236}">
                <a16:creationId xmlns:a16="http://schemas.microsoft.com/office/drawing/2014/main" id="{B1B08D0F-2F8F-4237-899A-6F43E356303F}"/>
              </a:ext>
            </a:extLst>
          </p:cNvPr>
          <p:cNvSpPr>
            <a:spLocks xmlns:a="http://schemas.openxmlformats.org/drawingml/2006/main" noGrp="1"/>
          </p:cNvSpPr>
          <p:nvPr/>
        </p:nvSpPr>
        <p:spPr>
          <a:xfrm xmlns:a="http://schemas.openxmlformats.org/drawingml/2006/main">
            <a:off x="1314450" y="5862638"/>
            <a:ext cx="9534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18000"/>
              </a:lnSpc>
              <a:buNone/>
              <a:defRPr sz="1250" b="1">
                <a:solidFill>
                  <a:srgbClr val="FFFFFF"/>
                </a:solidFill>
                <a:latin typeface="Pretendard"/>
                <a:ea typeface="Pretendard"/>
                <a:cs typeface="Pretendard"/>
              </a:defRPr>
            </a:pPr>
            <a:r>
              <a:rPr sz="1250" b="1">
                <a:solidFill>
                  <a:srgbClr val="FFFFFF"/>
                </a:solidFill>
                <a:latin typeface="Pretendard"/>
                <a:ea typeface="Pretendard"/>
                <a:cs typeface="Pretendard"/>
              </a:rPr>
              <a:t>이 사례에서 소년부 송치와 치료를 위한 위탁은 각각 어떤 사정을 근거로 이루어졌는가?</a:t>
            </a:r>
          </a:p>
        </p:txBody>
      </p:sp>
    </p:spTree>
    <p:extLst>
      <p:ext uri="{BB962C8B-B14F-4D97-AF65-F5344CB8AC3E}">
        <p14:creationId xmlns:p14="http://schemas.microsoft.com/office/powerpoint/2010/main" val="210327270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chapter">
            <a:extLst xmlns:a="http://schemas.openxmlformats.org/drawingml/2006/main">
              <a:ext uri="{FF2B5EF4-FFF2-40B4-BE49-F238E27FC236}">
                <a16:creationId xmlns:a16="http://schemas.microsoft.com/office/drawing/2014/main" id="{69BCB079-69B3-4E7E-AABF-DFC5624A3DEA}"/>
              </a:ext>
            </a:extLst>
          </p:cNvPr>
          <p:cNvSpPr>
            <a:spLocks xmlns:a="http://schemas.openxmlformats.org/drawingml/2006/main" noGrp="1"/>
          </p:cNvSpPr>
          <p:nvPr/>
        </p:nvSpPr>
        <p:spPr>
          <a:xfrm xmlns:a="http://schemas.openxmlformats.org/drawingml/2006/main">
            <a:off x="731520" y="36576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buNone/>
              <a:defRPr sz="1250" b="1">
                <a:solidFill>
                  <a:srgbClr val="464D5C"/>
                </a:solidFill>
                <a:latin typeface="Pretendard"/>
                <a:ea typeface="Pretendard"/>
                <a:cs typeface="Pretendard"/>
              </a:defRPr>
            </a:pPr>
            <a:r>
              <a:rPr sz="1250" b="1" spc="200">
                <a:solidFill>
                  <a:srgbClr val="464D5C"/>
                </a:solidFill>
                <a:latin typeface="Pretendard"/>
                <a:ea typeface="Pretendard"/>
                <a:cs typeface="Pretendard"/>
              </a:rPr>
              <a:t>1. 논제의 대상과 현행 우범소년 제도</a:t>
            </a:r>
          </a:p>
        </p:txBody>
      </p:sp>
      <p:sp>
        <p:nvSpPr>
          <p:cNvPr id="2" name="next">
            <a:extLst xmlns:a="http://schemas.openxmlformats.org/drawingml/2006/main">
              <a:ext uri="{FF2B5EF4-FFF2-40B4-BE49-F238E27FC236}">
                <a16:creationId xmlns:a16="http://schemas.microsoft.com/office/drawing/2014/main" id="{696FF254-AA54-4A99-9E30-FE4B6D5E2049}"/>
              </a:ext>
            </a:extLst>
          </p:cNvPr>
          <p:cNvSpPr>
            <a:spLocks xmlns:a="http://schemas.openxmlformats.org/drawingml/2006/main" noGrp="1"/>
          </p:cNvSpPr>
          <p:nvPr/>
        </p:nvSpPr>
        <p:spPr>
          <a:xfrm xmlns:a="http://schemas.openxmlformats.org/drawingml/2006/main">
            <a:off x="6191250" y="383858"/>
            <a:ext cx="526351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18000"/>
              </a:lnSpc>
              <a:buNone/>
              <a:defRPr sz="1050" b="0">
                <a:solidFill>
                  <a:srgbClr val="6E7686"/>
                </a:solidFill>
                <a:latin typeface="Pretendard"/>
                <a:ea typeface="Pretendard"/>
                <a:cs typeface="Pretendard"/>
              </a:defRPr>
            </a:pPr>
            <a:r>
              <a:rPr sz="1050" b="0">
                <a:solidFill>
                  <a:srgbClr val="6E7686"/>
                </a:solidFill>
                <a:latin typeface="Pretendard"/>
                <a:ea typeface="Pretendard"/>
                <a:cs typeface="Pretendard"/>
              </a:rPr>
              <a:t>다음 → 보호를 위한 개입과 소년사법의 부담</a:t>
            </a:r>
          </a:p>
        </p:txBody>
      </p:sp>
      <p:sp>
        <p:nvSpPr>
          <p:cNvPr id="3" name="title">
            <a:extLst xmlns:a="http://schemas.openxmlformats.org/drawingml/2006/main">
              <a:ext uri="{FF2B5EF4-FFF2-40B4-BE49-F238E27FC236}">
                <a16:creationId xmlns:a16="http://schemas.microsoft.com/office/drawing/2014/main" id="{C741201F-1D3C-4743-A3E6-DEFDCAE2B00E}"/>
              </a:ext>
            </a:extLst>
          </p:cNvPr>
          <p:cNvSpPr>
            <a:spLocks xmlns:a="http://schemas.openxmlformats.org/drawingml/2006/main" noGrp="1"/>
          </p:cNvSpPr>
          <p:nvPr/>
        </p:nvSpPr>
        <p:spPr>
          <a:xfrm xmlns:a="http://schemas.openxmlformats.org/drawingml/2006/main">
            <a:off x="731520" y="762000"/>
            <a:ext cx="10726103"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buNone/>
              <a:defRPr sz="2750" b="1">
                <a:solidFill>
                  <a:srgbClr val="1E2761"/>
                </a:solidFill>
                <a:latin typeface="Pretendard"/>
                <a:ea typeface="Pretendard"/>
                <a:cs typeface="Pretendard"/>
              </a:defRPr>
            </a:pPr>
            <a:r>
              <a:rPr sz="2750" b="1">
                <a:solidFill>
                  <a:srgbClr val="1E2761"/>
                </a:solidFill>
                <a:latin typeface="Pretendard"/>
                <a:ea typeface="Pretendard"/>
                <a:cs typeface="Pretendard"/>
              </a:rPr>
              <a:t>기관 협의로 달라진 송치 계획</a:t>
            </a:r>
          </a:p>
        </p:txBody>
      </p:sp>
      <p:sp>
        <p:nvSpPr>
          <p:cNvPr id="4" name="header_rule">
            <a:extLst xmlns:a="http://schemas.openxmlformats.org/drawingml/2006/main">
              <a:ext uri="{FF2B5EF4-FFF2-40B4-BE49-F238E27FC236}">
                <a16:creationId xmlns:a16="http://schemas.microsoft.com/office/drawing/2014/main" id="{747DC320-B2AC-40A1-BA15-2DE041DE4451}"/>
              </a:ext>
            </a:extLst>
          </p:cNvPr>
          <p:cNvSpPr>
            <a:spLocks xmlns:a="http://schemas.openxmlformats.org/drawingml/2006/main" noGrp="1"/>
          </p:cNvSpPr>
          <p:nvPr/>
        </p:nvSpPr>
        <p:spPr>
          <a:xfrm xmlns:a="http://schemas.openxmlformats.org/drawingml/2006/main">
            <a:off x="731520" y="1386840"/>
            <a:ext cx="10726103" cy="15240"/>
          </a:xfrm>
          <a:prstGeom xmlns:a="http://schemas.openxmlformats.org/drawingml/2006/main" prst="rect">
            <a:avLst/>
          </a:prstGeom>
          <a:solidFill xmlns:a="http://schemas.openxmlformats.org/drawingml/2006/main">
            <a:srgbClr val="1E2761"/>
          </a:solidFill>
          <a:ln xmlns:a="http://schemas.openxmlformats.org/drawingml/2006/main" w="0">
            <a:noFill/>
          </a:ln>
        </p:spPr>
      </p:sp>
      <p:sp>
        <p:nvSpPr>
          <p:cNvPr id="5" name="summary">
            <a:extLst xmlns:a="http://schemas.openxmlformats.org/drawingml/2006/main">
              <a:ext uri="{FF2B5EF4-FFF2-40B4-BE49-F238E27FC236}">
                <a16:creationId xmlns:a16="http://schemas.microsoft.com/office/drawing/2014/main" id="{95A5BFBA-97B1-4D32-B0FC-C763194A0B70}"/>
              </a:ext>
            </a:extLst>
          </p:cNvPr>
          <p:cNvSpPr>
            <a:spLocks xmlns:a="http://schemas.openxmlformats.org/drawingml/2006/main" noGrp="1"/>
          </p:cNvSpPr>
          <p:nvPr/>
        </p:nvSpPr>
        <p:spPr>
          <a:xfrm xmlns:a="http://schemas.openxmlformats.org/drawingml/2006/main">
            <a:off x="731520" y="1581150"/>
            <a:ext cx="10726103"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buNone/>
              <a:defRPr sz="1300" b="1">
                <a:solidFill>
                  <a:srgbClr val="1E2761"/>
                </a:solidFill>
                <a:latin typeface="Pretendard"/>
                <a:ea typeface="Pretendard"/>
                <a:cs typeface="Pretendard"/>
              </a:defRPr>
            </a:pPr>
            <a:r>
              <a:rPr sz="1300" b="1">
                <a:solidFill>
                  <a:srgbClr val="1E2761"/>
                </a:solidFill>
                <a:latin typeface="Pretendard"/>
                <a:ea typeface="Pretendard"/>
                <a:cs typeface="Pretendard"/>
              </a:rPr>
              <a:t>지원기관의 사례 보고에는 치료를 이유로 계획된 우범소년 송치가 경찰과의 협의 뒤 중단된 경위가 나온다.</a:t>
            </a:r>
          </a:p>
        </p:txBody>
      </p:sp>
      <p:sp>
        <p:nvSpPr>
          <p:cNvPr id="6" name="response_0_rule">
            <a:extLst xmlns:a="http://schemas.openxmlformats.org/drawingml/2006/main">
              <a:ext uri="{FF2B5EF4-FFF2-40B4-BE49-F238E27FC236}">
                <a16:creationId xmlns:a16="http://schemas.microsoft.com/office/drawing/2014/main" id="{2F822113-9183-4CB3-B1C4-9A8C58B39D14}"/>
              </a:ext>
            </a:extLst>
          </p:cNvPr>
          <p:cNvSpPr>
            <a:spLocks xmlns:a="http://schemas.openxmlformats.org/drawingml/2006/main" noGrp="1"/>
          </p:cNvSpPr>
          <p:nvPr/>
        </p:nvSpPr>
        <p:spPr>
          <a:xfrm xmlns:a="http://schemas.openxmlformats.org/drawingml/2006/main">
            <a:off x="731520" y="2609850"/>
            <a:ext cx="3392424" cy="38100"/>
          </a:xfrm>
          <a:prstGeom xmlns:a="http://schemas.openxmlformats.org/drawingml/2006/main" prst="rect">
            <a:avLst/>
          </a:prstGeom>
          <a:solidFill xmlns:a="http://schemas.openxmlformats.org/drawingml/2006/main">
            <a:srgbClr val="5A6699"/>
          </a:solidFill>
          <a:ln xmlns:a="http://schemas.openxmlformats.org/drawingml/2006/main" w="0">
            <a:noFill/>
          </a:ln>
        </p:spPr>
      </p:sp>
      <p:sp>
        <p:nvSpPr>
          <p:cNvPr id="7" name="response_0_head">
            <a:extLst xmlns:a="http://schemas.openxmlformats.org/drawingml/2006/main">
              <a:ext uri="{FF2B5EF4-FFF2-40B4-BE49-F238E27FC236}">
                <a16:creationId xmlns:a16="http://schemas.microsoft.com/office/drawing/2014/main" id="{35A5AFFB-5790-4457-ADFC-264559D8C62E}"/>
              </a:ext>
            </a:extLst>
          </p:cNvPr>
          <p:cNvSpPr>
            <a:spLocks xmlns:a="http://schemas.openxmlformats.org/drawingml/2006/main" noGrp="1"/>
          </p:cNvSpPr>
          <p:nvPr/>
        </p:nvSpPr>
        <p:spPr>
          <a:xfrm xmlns:a="http://schemas.openxmlformats.org/drawingml/2006/main">
            <a:off x="731520" y="2781300"/>
            <a:ext cx="3392424"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buNone/>
              <a:defRPr sz="1400" b="1">
                <a:solidFill>
                  <a:srgbClr val="1E2761"/>
                </a:solidFill>
                <a:latin typeface="Pretendard"/>
                <a:ea typeface="Pretendard"/>
                <a:cs typeface="Pretendard"/>
              </a:defRPr>
            </a:pPr>
            <a:r>
              <a:rPr sz="1400" b="1">
                <a:solidFill>
                  <a:srgbClr val="1E2761"/>
                </a:solidFill>
                <a:latin typeface="Pretendard"/>
                <a:ea typeface="Pretendard"/>
                <a:cs typeface="Pretendard"/>
              </a:rPr>
              <a:t>① 송치 계획</a:t>
            </a:r>
          </a:p>
        </p:txBody>
      </p:sp>
      <p:sp>
        <p:nvSpPr>
          <p:cNvPr id="8" name="response_body_0">
            <a:extLst xmlns:a="http://schemas.openxmlformats.org/drawingml/2006/main">
              <a:ext uri="{FF2B5EF4-FFF2-40B4-BE49-F238E27FC236}">
                <a16:creationId xmlns:a16="http://schemas.microsoft.com/office/drawing/2014/main" id="{4C388AAA-E0BD-4B50-B1A3-4C9D3FAA2611}"/>
              </a:ext>
            </a:extLst>
          </p:cNvPr>
          <p:cNvSpPr>
            <a:spLocks xmlns:a="http://schemas.openxmlformats.org/drawingml/2006/main" noGrp="1"/>
          </p:cNvSpPr>
          <p:nvPr/>
        </p:nvSpPr>
        <p:spPr>
          <a:xfrm xmlns:a="http://schemas.openxmlformats.org/drawingml/2006/main">
            <a:off x="731520" y="3324225"/>
            <a:ext cx="3392424" cy="131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5000"/>
              </a:lnSpc>
              <a:buNone/>
              <a:defRPr sz="1400" b="0">
                <a:solidFill>
                  <a:srgbClr val="222633"/>
                </a:solidFill>
                <a:latin typeface="Pretendard"/>
                <a:ea typeface="Pretendard"/>
                <a:cs typeface="Pretendard"/>
              </a:defRPr>
            </a:pPr>
            <a:r>
              <a:rPr sz="1400" b="0">
                <a:solidFill>
                  <a:srgbClr val="222633"/>
                </a:solidFill>
                <a:latin typeface="Pretendard"/>
                <a:ea typeface="Pretendard"/>
                <a:cs typeface="Pretendard"/>
              </a:rPr>
              <a:t>지적장애가 있는</a:t>
            </a:r>
          </a:p>
          <a:p xmlns:a="http://schemas.openxmlformats.org/drawingml/2006/main">
            <a:pPr algn="l">
              <a:lnSpc>
                <a:spcPct val="125000"/>
              </a:lnSpc>
              <a:buNone/>
              <a:defRPr sz="1400" b="0">
                <a:solidFill>
                  <a:srgbClr val="222633"/>
                </a:solidFill>
                <a:latin typeface="Pretendard"/>
                <a:ea typeface="Pretendard"/>
                <a:cs typeface="Pretendard"/>
              </a:defRPr>
            </a:pPr>
            <a:r>
              <a:rPr sz="1400" b="0">
                <a:solidFill>
                  <a:srgbClr val="222633"/>
                </a:solidFill>
                <a:latin typeface="Pretendard"/>
                <a:ea typeface="Pretendard"/>
                <a:cs typeface="Pretendard"/>
              </a:rPr>
              <a:t>성착취 피해청소년에 대해</a:t>
            </a:r>
          </a:p>
          <a:p xmlns:a="http://schemas.openxmlformats.org/drawingml/2006/main">
            <a:pPr algn="l">
              <a:lnSpc>
                <a:spcPct val="125000"/>
              </a:lnSpc>
              <a:buNone/>
              <a:defRPr sz="1400" b="0">
                <a:solidFill>
                  <a:srgbClr val="222633"/>
                </a:solidFill>
                <a:latin typeface="Pretendard"/>
                <a:ea typeface="Pretendard"/>
                <a:cs typeface="Pretendard"/>
              </a:defRPr>
            </a:pPr>
            <a:r>
              <a:rPr sz="1400" b="0">
                <a:solidFill>
                  <a:srgbClr val="222633"/>
                </a:solidFill>
                <a:latin typeface="Pretendard"/>
                <a:ea typeface="Pretendard"/>
                <a:cs typeface="Pretendard"/>
              </a:rPr>
              <a:t>경찰이 치료를 이유로</a:t>
            </a:r>
          </a:p>
          <a:p xmlns:a="http://schemas.openxmlformats.org/drawingml/2006/main">
            <a:pPr algn="l">
              <a:lnSpc>
                <a:spcPct val="125000"/>
              </a:lnSpc>
              <a:buNone/>
              <a:defRPr sz="1400" b="0">
                <a:solidFill>
                  <a:srgbClr val="222633"/>
                </a:solidFill>
                <a:latin typeface="Pretendard"/>
                <a:ea typeface="Pretendard"/>
                <a:cs typeface="Pretendard"/>
              </a:defRPr>
            </a:pPr>
            <a:r>
              <a:rPr sz="1400" b="0">
                <a:solidFill>
                  <a:srgbClr val="222633"/>
                </a:solidFill>
                <a:latin typeface="Pretendard"/>
                <a:ea typeface="Pretendard"/>
                <a:cs typeface="Pretendard"/>
              </a:rPr>
              <a:t>우범소년 송치를 계획했다.</a:t>
            </a:r>
          </a:p>
        </p:txBody>
      </p:sp>
      <p:sp>
        <p:nvSpPr>
          <p:cNvPr id="9" name="response_1_rule">
            <a:extLst xmlns:a="http://schemas.openxmlformats.org/drawingml/2006/main">
              <a:ext uri="{FF2B5EF4-FFF2-40B4-BE49-F238E27FC236}">
                <a16:creationId xmlns:a16="http://schemas.microsoft.com/office/drawing/2014/main" id="{A5AFB8B9-7868-4011-9C64-C13076A1C45F}"/>
              </a:ext>
            </a:extLst>
          </p:cNvPr>
          <p:cNvSpPr>
            <a:spLocks xmlns:a="http://schemas.openxmlformats.org/drawingml/2006/main" noGrp="1"/>
          </p:cNvSpPr>
          <p:nvPr/>
        </p:nvSpPr>
        <p:spPr>
          <a:xfrm xmlns:a="http://schemas.openxmlformats.org/drawingml/2006/main">
            <a:off x="4398264" y="2609850"/>
            <a:ext cx="3392424" cy="38100"/>
          </a:xfrm>
          <a:prstGeom xmlns:a="http://schemas.openxmlformats.org/drawingml/2006/main" prst="rect">
            <a:avLst/>
          </a:prstGeom>
          <a:solidFill xmlns:a="http://schemas.openxmlformats.org/drawingml/2006/main">
            <a:srgbClr val="5A6699"/>
          </a:solidFill>
          <a:ln xmlns:a="http://schemas.openxmlformats.org/drawingml/2006/main" w="0">
            <a:noFill/>
          </a:ln>
        </p:spPr>
      </p:sp>
      <p:sp>
        <p:nvSpPr>
          <p:cNvPr id="10" name="response_1_head">
            <a:extLst xmlns:a="http://schemas.openxmlformats.org/drawingml/2006/main">
              <a:ext uri="{FF2B5EF4-FFF2-40B4-BE49-F238E27FC236}">
                <a16:creationId xmlns:a16="http://schemas.microsoft.com/office/drawing/2014/main" id="{24341725-974D-4DEC-AF97-3973BF65E5E9}"/>
              </a:ext>
            </a:extLst>
          </p:cNvPr>
          <p:cNvSpPr>
            <a:spLocks xmlns:a="http://schemas.openxmlformats.org/drawingml/2006/main" noGrp="1"/>
          </p:cNvSpPr>
          <p:nvPr/>
        </p:nvSpPr>
        <p:spPr>
          <a:xfrm xmlns:a="http://schemas.openxmlformats.org/drawingml/2006/main">
            <a:off x="4398264" y="2781300"/>
            <a:ext cx="3392424"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buNone/>
              <a:defRPr sz="1400" b="1">
                <a:solidFill>
                  <a:srgbClr val="1E2761"/>
                </a:solidFill>
                <a:latin typeface="Pretendard"/>
                <a:ea typeface="Pretendard"/>
                <a:cs typeface="Pretendard"/>
              </a:defRPr>
            </a:pPr>
            <a:r>
              <a:rPr sz="1400" b="1">
                <a:solidFill>
                  <a:srgbClr val="1E2761"/>
                </a:solidFill>
                <a:latin typeface="Pretendard"/>
                <a:ea typeface="Pretendard"/>
                <a:cs typeface="Pretendard"/>
              </a:rPr>
              <a:t>② 지원기관과 협의</a:t>
            </a:r>
          </a:p>
        </p:txBody>
      </p:sp>
      <p:sp>
        <p:nvSpPr>
          <p:cNvPr id="11" name="response_body_1">
            <a:extLst xmlns:a="http://schemas.openxmlformats.org/drawingml/2006/main">
              <a:ext uri="{FF2B5EF4-FFF2-40B4-BE49-F238E27FC236}">
                <a16:creationId xmlns:a16="http://schemas.microsoft.com/office/drawing/2014/main" id="{FEA8CA67-4195-4F53-814E-41CE5F630FC8}"/>
              </a:ext>
            </a:extLst>
          </p:cNvPr>
          <p:cNvSpPr>
            <a:spLocks xmlns:a="http://schemas.openxmlformats.org/drawingml/2006/main" noGrp="1"/>
          </p:cNvSpPr>
          <p:nvPr/>
        </p:nvSpPr>
        <p:spPr>
          <a:xfrm xmlns:a="http://schemas.openxmlformats.org/drawingml/2006/main">
            <a:off x="4398264" y="3324225"/>
            <a:ext cx="3392424" cy="131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5000"/>
              </a:lnSpc>
              <a:buNone/>
              <a:defRPr sz="1400" b="0">
                <a:solidFill>
                  <a:srgbClr val="222633"/>
                </a:solidFill>
                <a:latin typeface="Pretendard"/>
                <a:ea typeface="Pretendard"/>
                <a:cs typeface="Pretendard"/>
              </a:defRPr>
            </a:pPr>
            <a:r>
              <a:rPr sz="1400" b="0">
                <a:solidFill>
                  <a:srgbClr val="222633"/>
                </a:solidFill>
                <a:latin typeface="Pretendard"/>
                <a:ea typeface="Pretendard"/>
                <a:cs typeface="Pretendard"/>
              </a:rPr>
              <a:t>지원기관은 피해자로서의 지위와</a:t>
            </a:r>
          </a:p>
          <a:p xmlns:a="http://schemas.openxmlformats.org/drawingml/2006/main">
            <a:pPr algn="l">
              <a:lnSpc>
                <a:spcPct val="125000"/>
              </a:lnSpc>
              <a:buNone/>
              <a:defRPr sz="1400" b="0">
                <a:solidFill>
                  <a:srgbClr val="222633"/>
                </a:solidFill>
                <a:latin typeface="Pretendard"/>
                <a:ea typeface="Pretendard"/>
                <a:cs typeface="Pretendard"/>
              </a:defRPr>
            </a:pPr>
            <a:r>
              <a:rPr sz="1400" b="0">
                <a:solidFill>
                  <a:srgbClr val="222633"/>
                </a:solidFill>
                <a:latin typeface="Pretendard"/>
                <a:ea typeface="Pretendard"/>
                <a:cs typeface="Pretendard"/>
              </a:rPr>
              <a:t>개정법의 취지를 설명했다.</a:t>
            </a:r>
          </a:p>
          <a:p xmlns:a="http://schemas.openxmlformats.org/drawingml/2006/main">
            <a:pPr algn="l">
              <a:lnSpc>
                <a:spcPct val="125000"/>
              </a:lnSpc>
              <a:buNone/>
              <a:defRPr sz="1400" b="0">
                <a:solidFill>
                  <a:srgbClr val="222633"/>
                </a:solidFill>
                <a:latin typeface="Pretendard"/>
                <a:ea typeface="Pretendard"/>
                <a:cs typeface="Pretendard"/>
              </a:defRPr>
            </a:pPr>
            <a:r>
              <a:rPr sz="1400" b="0">
                <a:solidFill>
                  <a:srgbClr val="222633"/>
                </a:solidFill>
                <a:latin typeface="Pretendard"/>
                <a:ea typeface="Pretendard"/>
                <a:cs typeface="Pretendard"/>
              </a:rPr>
              <a:t>경찰과 여러 차례</a:t>
            </a:r>
          </a:p>
          <a:p xmlns:a="http://schemas.openxmlformats.org/drawingml/2006/main">
            <a:pPr algn="l">
              <a:lnSpc>
                <a:spcPct val="125000"/>
              </a:lnSpc>
              <a:buNone/>
              <a:defRPr sz="1400" b="0">
                <a:solidFill>
                  <a:srgbClr val="222633"/>
                </a:solidFill>
                <a:latin typeface="Pretendard"/>
                <a:ea typeface="Pretendard"/>
                <a:cs typeface="Pretendard"/>
              </a:defRPr>
            </a:pPr>
            <a:r>
              <a:rPr sz="1400" b="0">
                <a:solidFill>
                  <a:srgbClr val="222633"/>
                </a:solidFill>
                <a:latin typeface="Pretendard"/>
                <a:ea typeface="Pretendard"/>
                <a:cs typeface="Pretendard"/>
              </a:rPr>
              <a:t>향후 보호 방안을 협의했다.</a:t>
            </a:r>
          </a:p>
        </p:txBody>
      </p:sp>
      <p:sp>
        <p:nvSpPr>
          <p:cNvPr id="12" name="response_2_rule">
            <a:extLst xmlns:a="http://schemas.openxmlformats.org/drawingml/2006/main">
              <a:ext uri="{FF2B5EF4-FFF2-40B4-BE49-F238E27FC236}">
                <a16:creationId xmlns:a16="http://schemas.microsoft.com/office/drawing/2014/main" id="{AB716BD1-6C1B-43B1-9144-C034C9E644A0}"/>
              </a:ext>
            </a:extLst>
          </p:cNvPr>
          <p:cNvSpPr>
            <a:spLocks xmlns:a="http://schemas.openxmlformats.org/drawingml/2006/main" noGrp="1"/>
          </p:cNvSpPr>
          <p:nvPr/>
        </p:nvSpPr>
        <p:spPr>
          <a:xfrm xmlns:a="http://schemas.openxmlformats.org/drawingml/2006/main">
            <a:off x="8065008" y="2609850"/>
            <a:ext cx="3392424" cy="38100"/>
          </a:xfrm>
          <a:prstGeom xmlns:a="http://schemas.openxmlformats.org/drawingml/2006/main" prst="rect">
            <a:avLst/>
          </a:prstGeom>
          <a:solidFill xmlns:a="http://schemas.openxmlformats.org/drawingml/2006/main">
            <a:srgbClr val="5A6699"/>
          </a:solidFill>
          <a:ln xmlns:a="http://schemas.openxmlformats.org/drawingml/2006/main" w="0">
            <a:noFill/>
          </a:ln>
        </p:spPr>
      </p:sp>
      <p:sp>
        <p:nvSpPr>
          <p:cNvPr id="13" name="response_2_head">
            <a:extLst xmlns:a="http://schemas.openxmlformats.org/drawingml/2006/main">
              <a:ext uri="{FF2B5EF4-FFF2-40B4-BE49-F238E27FC236}">
                <a16:creationId xmlns:a16="http://schemas.microsoft.com/office/drawing/2014/main" id="{83463667-2E6C-461C-B08B-DC3039D56203}"/>
              </a:ext>
            </a:extLst>
          </p:cNvPr>
          <p:cNvSpPr>
            <a:spLocks xmlns:a="http://schemas.openxmlformats.org/drawingml/2006/main" noGrp="1"/>
          </p:cNvSpPr>
          <p:nvPr/>
        </p:nvSpPr>
        <p:spPr>
          <a:xfrm xmlns:a="http://schemas.openxmlformats.org/drawingml/2006/main">
            <a:off x="8065008" y="2781300"/>
            <a:ext cx="3392424"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buNone/>
              <a:defRPr sz="1400" b="1">
                <a:solidFill>
                  <a:srgbClr val="1E2761"/>
                </a:solidFill>
                <a:latin typeface="Pretendard"/>
                <a:ea typeface="Pretendard"/>
                <a:cs typeface="Pretendard"/>
              </a:defRPr>
            </a:pPr>
            <a:r>
              <a:rPr sz="1400" b="1">
                <a:solidFill>
                  <a:srgbClr val="1E2761"/>
                </a:solidFill>
                <a:latin typeface="Pretendard"/>
                <a:ea typeface="Pretendard"/>
                <a:cs typeface="Pretendard"/>
              </a:rPr>
              <a:t>③ 달라진 대응</a:t>
            </a:r>
          </a:p>
        </p:txBody>
      </p:sp>
      <p:sp>
        <p:nvSpPr>
          <p:cNvPr id="14" name="response_body_2">
            <a:extLst xmlns:a="http://schemas.openxmlformats.org/drawingml/2006/main">
              <a:ext uri="{FF2B5EF4-FFF2-40B4-BE49-F238E27FC236}">
                <a16:creationId xmlns:a16="http://schemas.microsoft.com/office/drawing/2014/main" id="{E694E856-2AF8-4E5A-86D0-7F4F5EAC737F}"/>
              </a:ext>
            </a:extLst>
          </p:cNvPr>
          <p:cNvSpPr>
            <a:spLocks xmlns:a="http://schemas.openxmlformats.org/drawingml/2006/main" noGrp="1"/>
          </p:cNvSpPr>
          <p:nvPr/>
        </p:nvSpPr>
        <p:spPr>
          <a:xfrm xmlns:a="http://schemas.openxmlformats.org/drawingml/2006/main">
            <a:off x="8065008" y="3324225"/>
            <a:ext cx="3392424" cy="131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5000"/>
              </a:lnSpc>
              <a:buNone/>
              <a:defRPr sz="1400" b="0">
                <a:solidFill>
                  <a:srgbClr val="222633"/>
                </a:solidFill>
                <a:latin typeface="Pretendard"/>
                <a:ea typeface="Pretendard"/>
                <a:cs typeface="Pretendard"/>
              </a:defRPr>
            </a:pPr>
            <a:r>
              <a:rPr sz="1400" b="0">
                <a:solidFill>
                  <a:srgbClr val="222633"/>
                </a:solidFill>
                <a:latin typeface="Pretendard"/>
                <a:ea typeface="Pretendard"/>
                <a:cs typeface="Pretendard"/>
              </a:rPr>
              <a:t>우범소년 송치 계획이</a:t>
            </a:r>
          </a:p>
          <a:p xmlns:a="http://schemas.openxmlformats.org/drawingml/2006/main">
            <a:pPr algn="l">
              <a:lnSpc>
                <a:spcPct val="125000"/>
              </a:lnSpc>
              <a:buNone/>
              <a:defRPr sz="1400" b="0">
                <a:solidFill>
                  <a:srgbClr val="222633"/>
                </a:solidFill>
                <a:latin typeface="Pretendard"/>
                <a:ea typeface="Pretendard"/>
                <a:cs typeface="Pretendard"/>
              </a:defRPr>
            </a:pPr>
            <a:r>
              <a:rPr sz="1400" b="0">
                <a:solidFill>
                  <a:srgbClr val="222633"/>
                </a:solidFill>
                <a:latin typeface="Pretendard"/>
                <a:ea typeface="Pretendard"/>
                <a:cs typeface="Pretendard"/>
              </a:rPr>
              <a:t>중단되었다고 보고됐다.</a:t>
            </a:r>
          </a:p>
          <a:p xmlns:a="http://schemas.openxmlformats.org/drawingml/2006/main">
            <a:pPr algn="l">
              <a:lnSpc>
                <a:spcPct val="125000"/>
              </a:lnSpc>
              <a:buNone/>
              <a:defRPr sz="1400" b="0">
                <a:solidFill>
                  <a:srgbClr val="222633"/>
                </a:solidFill>
                <a:latin typeface="Pretendard"/>
                <a:ea typeface="Pretendard"/>
                <a:cs typeface="Pretendard"/>
              </a:defRPr>
            </a:pPr>
            <a:r>
              <a:rPr sz="1400" b="0">
                <a:solidFill>
                  <a:srgbClr val="222633"/>
                </a:solidFill>
                <a:latin typeface="Pretendard"/>
                <a:ea typeface="Pretendard"/>
                <a:cs typeface="Pretendard"/>
              </a:rPr>
              <a:t>지원기관은</a:t>
            </a:r>
          </a:p>
          <a:p xmlns:a="http://schemas.openxmlformats.org/drawingml/2006/main">
            <a:pPr algn="l">
              <a:lnSpc>
                <a:spcPct val="125000"/>
              </a:lnSpc>
              <a:buNone/>
              <a:defRPr sz="1400" b="0">
                <a:solidFill>
                  <a:srgbClr val="222633"/>
                </a:solidFill>
                <a:latin typeface="Pretendard"/>
                <a:ea typeface="Pretendard"/>
                <a:cs typeface="Pretendard"/>
              </a:defRPr>
            </a:pPr>
            <a:r>
              <a:rPr sz="1400" b="0">
                <a:solidFill>
                  <a:srgbClr val="222633"/>
                </a:solidFill>
                <a:latin typeface="Pretendard"/>
                <a:ea typeface="Pretendard"/>
                <a:cs typeface="Pretendard"/>
              </a:rPr>
              <a:t>가해자 수사를 요청했다.</a:t>
            </a:r>
          </a:p>
        </p:txBody>
      </p:sp>
      <p:sp>
        <p:nvSpPr>
          <p:cNvPr id="15" name="response_arrow_1">
            <a:extLst xmlns:a="http://schemas.openxmlformats.org/drawingml/2006/main">
              <a:ext uri="{FF2B5EF4-FFF2-40B4-BE49-F238E27FC236}">
                <a16:creationId xmlns:a16="http://schemas.microsoft.com/office/drawing/2014/main" id="{AF963913-420A-4AF4-B5E2-F711C09362B9}"/>
              </a:ext>
            </a:extLst>
          </p:cNvPr>
          <p:cNvSpPr>
            <a:spLocks xmlns:a="http://schemas.openxmlformats.org/drawingml/2006/main" noGrp="1"/>
          </p:cNvSpPr>
          <p:nvPr/>
        </p:nvSpPr>
        <p:spPr>
          <a:xfrm xmlns:a="http://schemas.openxmlformats.org/drawingml/2006/main">
            <a:off x="4164330" y="3790950"/>
            <a:ext cx="2190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18000"/>
              </a:lnSpc>
              <a:buNone/>
              <a:defRPr sz="1600" b="1">
                <a:solidFill>
                  <a:srgbClr val="C2A648"/>
                </a:solidFill>
                <a:latin typeface="Pretendard"/>
                <a:ea typeface="Pretendard"/>
                <a:cs typeface="Pretendard"/>
              </a:defRPr>
            </a:pPr>
            <a:r>
              <a:rPr sz="1600" b="1">
                <a:solidFill>
                  <a:srgbClr val="C2A648"/>
                </a:solidFill>
                <a:latin typeface="Pretendard"/>
                <a:ea typeface="Pretendard"/>
                <a:cs typeface="Pretendard"/>
              </a:rPr>
              <a:t>→</a:t>
            </a:r>
          </a:p>
        </p:txBody>
      </p:sp>
      <p:sp>
        <p:nvSpPr>
          <p:cNvPr id="16" name="response_arrow_2">
            <a:extLst xmlns:a="http://schemas.openxmlformats.org/drawingml/2006/main">
              <a:ext uri="{FF2B5EF4-FFF2-40B4-BE49-F238E27FC236}">
                <a16:creationId xmlns:a16="http://schemas.microsoft.com/office/drawing/2014/main" id="{019A2648-2712-487A-B022-B205C2C14050}"/>
              </a:ext>
            </a:extLst>
          </p:cNvPr>
          <p:cNvSpPr>
            <a:spLocks xmlns:a="http://schemas.openxmlformats.org/drawingml/2006/main" noGrp="1"/>
          </p:cNvSpPr>
          <p:nvPr/>
        </p:nvSpPr>
        <p:spPr>
          <a:xfrm xmlns:a="http://schemas.openxmlformats.org/drawingml/2006/main">
            <a:off x="7831074" y="3790950"/>
            <a:ext cx="2190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18000"/>
              </a:lnSpc>
              <a:buNone/>
              <a:defRPr sz="1600" b="1">
                <a:solidFill>
                  <a:srgbClr val="C2A648"/>
                </a:solidFill>
                <a:latin typeface="Pretendard"/>
                <a:ea typeface="Pretendard"/>
                <a:cs typeface="Pretendard"/>
              </a:defRPr>
            </a:pPr>
            <a:r>
              <a:rPr sz="1600" b="1">
                <a:solidFill>
                  <a:srgbClr val="C2A648"/>
                </a:solidFill>
                <a:latin typeface="Pretendard"/>
                <a:ea typeface="Pretendard"/>
                <a:cs typeface="Pretendard"/>
              </a:rPr>
              <a:t>→</a:t>
            </a:r>
          </a:p>
        </p:txBody>
      </p:sp>
      <p:sp>
        <p:nvSpPr>
          <p:cNvPr id="17" name="response_limit_rule">
            <a:extLst xmlns:a="http://schemas.openxmlformats.org/drawingml/2006/main">
              <a:ext uri="{FF2B5EF4-FFF2-40B4-BE49-F238E27FC236}">
                <a16:creationId xmlns:a16="http://schemas.microsoft.com/office/drawing/2014/main" id="{D114DF9E-D644-4933-8E40-0B2A70079280}"/>
              </a:ext>
            </a:extLst>
          </p:cNvPr>
          <p:cNvSpPr>
            <a:spLocks xmlns:a="http://schemas.openxmlformats.org/drawingml/2006/main" noGrp="1"/>
          </p:cNvSpPr>
          <p:nvPr/>
        </p:nvSpPr>
        <p:spPr>
          <a:xfrm xmlns:a="http://schemas.openxmlformats.org/drawingml/2006/main">
            <a:off x="731520" y="4991100"/>
            <a:ext cx="10726103" cy="9525"/>
          </a:xfrm>
          <a:prstGeom xmlns:a="http://schemas.openxmlformats.org/drawingml/2006/main" prst="rect">
            <a:avLst/>
          </a:prstGeom>
          <a:solidFill xmlns:a="http://schemas.openxmlformats.org/drawingml/2006/main">
            <a:srgbClr val="DCE0E8"/>
          </a:solidFill>
          <a:ln xmlns:a="http://schemas.openxmlformats.org/drawingml/2006/main" w="0">
            <a:noFill/>
          </a:ln>
        </p:spPr>
      </p:sp>
      <p:sp>
        <p:nvSpPr>
          <p:cNvPr id="18" name="response_limit">
            <a:extLst xmlns:a="http://schemas.openxmlformats.org/drawingml/2006/main">
              <a:ext uri="{FF2B5EF4-FFF2-40B4-BE49-F238E27FC236}">
                <a16:creationId xmlns:a16="http://schemas.microsoft.com/office/drawing/2014/main" id="{3226C8A0-79D4-4C99-B0BA-F424A8927D72}"/>
              </a:ext>
            </a:extLst>
          </p:cNvPr>
          <p:cNvSpPr>
            <a:spLocks xmlns:a="http://schemas.openxmlformats.org/drawingml/2006/main" noGrp="1"/>
          </p:cNvSpPr>
          <p:nvPr/>
        </p:nvSpPr>
        <p:spPr>
          <a:xfrm xmlns:a="http://schemas.openxmlformats.org/drawingml/2006/main">
            <a:off x="731520" y="5200650"/>
            <a:ext cx="10726103"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buNone/>
              <a:defRPr sz="1250" b="0">
                <a:solidFill>
                  <a:srgbClr val="464D5C"/>
                </a:solidFill>
                <a:latin typeface="Pretendard"/>
                <a:ea typeface="Pretendard"/>
                <a:cs typeface="Pretendard"/>
              </a:defRPr>
            </a:pPr>
            <a:r>
              <a:rPr sz="1250" b="0">
                <a:solidFill>
                  <a:srgbClr val="464D5C"/>
                </a:solidFill>
                <a:latin typeface="Pretendard"/>
                <a:ea typeface="Pretendard"/>
                <a:cs typeface="Pretendard"/>
              </a:rPr>
              <a:t>평화의샘의 2021년 활동 보고  ·  이후 치료·안전 확보의 성과까지 제시된 자료는 아니다.</a:t>
            </a:r>
          </a:p>
        </p:txBody>
      </p:sp>
      <p:sp>
        <p:nvSpPr>
          <p:cNvPr id="19" name="question_band">
            <a:extLst xmlns:a="http://schemas.openxmlformats.org/drawingml/2006/main">
              <a:ext uri="{FF2B5EF4-FFF2-40B4-BE49-F238E27FC236}">
                <a16:creationId xmlns:a16="http://schemas.microsoft.com/office/drawing/2014/main" id="{B75EC539-D6BF-4B20-BBE3-ABEDD7B5018F}"/>
              </a:ext>
            </a:extLst>
          </p:cNvPr>
          <p:cNvSpPr>
            <a:spLocks xmlns:a="http://schemas.openxmlformats.org/drawingml/2006/main" noGrp="1"/>
          </p:cNvSpPr>
          <p:nvPr/>
        </p:nvSpPr>
        <p:spPr>
          <a:xfrm xmlns:a="http://schemas.openxmlformats.org/drawingml/2006/main">
            <a:off x="1124712" y="5751576"/>
            <a:ext cx="9912096" cy="457200"/>
          </a:xfrm>
          <a:prstGeom xmlns:a="http://schemas.openxmlformats.org/drawingml/2006/main" prst="rect">
            <a:avLst/>
          </a:prstGeom>
          <a:solidFill xmlns:a="http://schemas.openxmlformats.org/drawingml/2006/main">
            <a:srgbClr val="1E2761"/>
          </a:solidFill>
          <a:ln xmlns:a="http://schemas.openxmlformats.org/drawingml/2006/main" w="0">
            <a:noFill/>
          </a:ln>
        </p:spPr>
      </p:sp>
      <p:sp>
        <p:nvSpPr>
          <p:cNvPr id="20" name="question">
            <a:extLst xmlns:a="http://schemas.openxmlformats.org/drawingml/2006/main">
              <a:ext uri="{FF2B5EF4-FFF2-40B4-BE49-F238E27FC236}">
                <a16:creationId xmlns:a16="http://schemas.microsoft.com/office/drawing/2014/main" id="{3CEA03B2-B188-42AE-9FE2-E1EC92CB9959}"/>
              </a:ext>
            </a:extLst>
          </p:cNvPr>
          <p:cNvSpPr>
            <a:spLocks xmlns:a="http://schemas.openxmlformats.org/drawingml/2006/main" noGrp="1"/>
          </p:cNvSpPr>
          <p:nvPr/>
        </p:nvSpPr>
        <p:spPr>
          <a:xfrm xmlns:a="http://schemas.openxmlformats.org/drawingml/2006/main">
            <a:off x="1314450" y="5862638"/>
            <a:ext cx="9534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18000"/>
              </a:lnSpc>
              <a:buNone/>
              <a:defRPr sz="1250" b="1">
                <a:solidFill>
                  <a:srgbClr val="FFFFFF"/>
                </a:solidFill>
                <a:latin typeface="Pretendard"/>
                <a:ea typeface="Pretendard"/>
                <a:cs typeface="Pretendard"/>
              </a:defRPr>
            </a:pPr>
            <a:r>
              <a:rPr sz="1250" b="1">
                <a:solidFill>
                  <a:srgbClr val="FFFFFF"/>
                </a:solidFill>
                <a:latin typeface="Pretendard"/>
                <a:ea typeface="Pretendard"/>
                <a:cs typeface="Pretendard"/>
              </a:rPr>
              <a:t>송치 대신 피해지원 경로로 연결할 때, 필요한 치료와 안전을 누가 어떻게 책임질 것인가?</a:t>
            </a:r>
          </a:p>
        </p:txBody>
      </p:sp>
    </p:spTree>
    <p:extLst>
      <p:ext uri="{BB962C8B-B14F-4D97-AF65-F5344CB8AC3E}">
        <p14:creationId xmlns:p14="http://schemas.microsoft.com/office/powerpoint/2010/main" val="186408364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chapter">
            <a:extLst xmlns:a="http://schemas.openxmlformats.org/drawingml/2006/main">
              <a:ext uri="{FF2B5EF4-FFF2-40B4-BE49-F238E27FC236}">
                <a16:creationId xmlns:a16="http://schemas.microsoft.com/office/drawing/2014/main" id="{85F5315D-AD46-451E-8ABF-FD8DB41A9350}"/>
              </a:ext>
            </a:extLst>
          </p:cNvPr>
          <p:cNvSpPr>
            <a:spLocks xmlns:a="http://schemas.openxmlformats.org/drawingml/2006/main" noGrp="1"/>
          </p:cNvSpPr>
          <p:nvPr/>
        </p:nvSpPr>
        <p:spPr>
          <a:xfrm xmlns:a="http://schemas.openxmlformats.org/drawingml/2006/main">
            <a:off x="731520" y="36576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buNone/>
              <a:defRPr sz="1250" b="1">
                <a:solidFill>
                  <a:srgbClr val="464D5C"/>
                </a:solidFill>
                <a:latin typeface="Pretendard"/>
                <a:ea typeface="Pretendard"/>
                <a:cs typeface="Pretendard"/>
              </a:defRPr>
            </a:pPr>
            <a:r>
              <a:rPr sz="1250" b="1" spc="200">
                <a:solidFill>
                  <a:srgbClr val="464D5C"/>
                </a:solidFill>
                <a:latin typeface="Pretendard"/>
                <a:ea typeface="Pretendard"/>
                <a:cs typeface="Pretendard"/>
              </a:rPr>
              <a:t>1. 논제의 대상과 현행 우범소년 제도</a:t>
            </a:r>
          </a:p>
        </p:txBody>
      </p:sp>
      <p:sp>
        <p:nvSpPr>
          <p:cNvPr id="2" name="next">
            <a:extLst xmlns:a="http://schemas.openxmlformats.org/drawingml/2006/main">
              <a:ext uri="{FF2B5EF4-FFF2-40B4-BE49-F238E27FC236}">
                <a16:creationId xmlns:a16="http://schemas.microsoft.com/office/drawing/2014/main" id="{704BBAC2-63F8-4DC8-B29A-FE656D4080AC}"/>
              </a:ext>
            </a:extLst>
          </p:cNvPr>
          <p:cNvSpPr>
            <a:spLocks xmlns:a="http://schemas.openxmlformats.org/drawingml/2006/main" noGrp="1"/>
          </p:cNvSpPr>
          <p:nvPr/>
        </p:nvSpPr>
        <p:spPr>
          <a:xfrm xmlns:a="http://schemas.openxmlformats.org/drawingml/2006/main">
            <a:off x="6191250" y="383858"/>
            <a:ext cx="526351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18000"/>
              </a:lnSpc>
              <a:buNone/>
              <a:defRPr sz="1050" b="0">
                <a:solidFill>
                  <a:srgbClr val="6E7686"/>
                </a:solidFill>
                <a:latin typeface="Pretendard"/>
                <a:ea typeface="Pretendard"/>
                <a:cs typeface="Pretendard"/>
              </a:defRPr>
            </a:pPr>
            <a:r>
              <a:rPr sz="1050" b="0">
                <a:solidFill>
                  <a:srgbClr val="6E7686"/>
                </a:solidFill>
                <a:latin typeface="Pretendard"/>
                <a:ea typeface="Pretendard"/>
                <a:cs typeface="Pretendard"/>
              </a:rPr>
              <a:t>다음 → 현행법 적용과 정책·제도 판단</a:t>
            </a:r>
          </a:p>
        </p:txBody>
      </p:sp>
      <p:sp>
        <p:nvSpPr>
          <p:cNvPr id="3" name="title">
            <a:extLst xmlns:a="http://schemas.openxmlformats.org/drawingml/2006/main">
              <a:ext uri="{FF2B5EF4-FFF2-40B4-BE49-F238E27FC236}">
                <a16:creationId xmlns:a16="http://schemas.microsoft.com/office/drawing/2014/main" id="{4022362E-8D7C-4F82-B4EE-4EEEAA34D58D}"/>
              </a:ext>
            </a:extLst>
          </p:cNvPr>
          <p:cNvSpPr>
            <a:spLocks xmlns:a="http://schemas.openxmlformats.org/drawingml/2006/main" noGrp="1"/>
          </p:cNvSpPr>
          <p:nvPr/>
        </p:nvSpPr>
        <p:spPr>
          <a:xfrm xmlns:a="http://schemas.openxmlformats.org/drawingml/2006/main">
            <a:off x="731520" y="762000"/>
            <a:ext cx="10726103"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buNone/>
              <a:defRPr sz="2750" b="1">
                <a:solidFill>
                  <a:srgbClr val="1E2761"/>
                </a:solidFill>
                <a:latin typeface="Pretendard"/>
                <a:ea typeface="Pretendard"/>
                <a:cs typeface="Pretendard"/>
              </a:defRPr>
            </a:pPr>
            <a:r>
              <a:rPr sz="2750" b="1">
                <a:solidFill>
                  <a:srgbClr val="1E2761"/>
                </a:solidFill>
                <a:latin typeface="Pretendard"/>
                <a:ea typeface="Pretendard"/>
                <a:cs typeface="Pretendard"/>
              </a:rPr>
              <a:t>보호를 위한 개입과 소년사법의 부담</a:t>
            </a:r>
          </a:p>
        </p:txBody>
      </p:sp>
      <p:sp>
        <p:nvSpPr>
          <p:cNvPr id="4" name="header_rule">
            <a:extLst xmlns:a="http://schemas.openxmlformats.org/drawingml/2006/main">
              <a:ext uri="{FF2B5EF4-FFF2-40B4-BE49-F238E27FC236}">
                <a16:creationId xmlns:a16="http://schemas.microsoft.com/office/drawing/2014/main" id="{37E00D71-80DF-420B-A4EF-E5028BEAD07F}"/>
              </a:ext>
            </a:extLst>
          </p:cNvPr>
          <p:cNvSpPr>
            <a:spLocks xmlns:a="http://schemas.openxmlformats.org/drawingml/2006/main" noGrp="1"/>
          </p:cNvSpPr>
          <p:nvPr/>
        </p:nvSpPr>
        <p:spPr>
          <a:xfrm xmlns:a="http://schemas.openxmlformats.org/drawingml/2006/main">
            <a:off x="731520" y="1386840"/>
            <a:ext cx="10726103" cy="15240"/>
          </a:xfrm>
          <a:prstGeom xmlns:a="http://schemas.openxmlformats.org/drawingml/2006/main" prst="rect">
            <a:avLst/>
          </a:prstGeom>
          <a:solidFill xmlns:a="http://schemas.openxmlformats.org/drawingml/2006/main">
            <a:srgbClr val="1E2761"/>
          </a:solidFill>
          <a:ln xmlns:a="http://schemas.openxmlformats.org/drawingml/2006/main" w="0">
            <a:noFill/>
          </a:ln>
        </p:spPr>
      </p:sp>
      <p:sp>
        <p:nvSpPr>
          <p:cNvPr id="5" name="summary">
            <a:extLst xmlns:a="http://schemas.openxmlformats.org/drawingml/2006/main">
              <a:ext uri="{FF2B5EF4-FFF2-40B4-BE49-F238E27FC236}">
                <a16:creationId xmlns:a16="http://schemas.microsoft.com/office/drawing/2014/main" id="{B97D1929-8A0D-4EB5-BA22-F372306B8397}"/>
              </a:ext>
            </a:extLst>
          </p:cNvPr>
          <p:cNvSpPr>
            <a:spLocks xmlns:a="http://schemas.openxmlformats.org/drawingml/2006/main" noGrp="1"/>
          </p:cNvSpPr>
          <p:nvPr/>
        </p:nvSpPr>
        <p:spPr>
          <a:xfrm xmlns:a="http://schemas.openxmlformats.org/drawingml/2006/main">
            <a:off x="731520" y="1581150"/>
            <a:ext cx="10726103"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buNone/>
              <a:defRPr sz="1300" b="1">
                <a:solidFill>
                  <a:srgbClr val="1E2761"/>
                </a:solidFill>
                <a:latin typeface="Pretendard"/>
                <a:ea typeface="Pretendard"/>
                <a:cs typeface="Pretendard"/>
              </a:defRPr>
            </a:pPr>
            <a:r>
              <a:rPr sz="1300" b="1">
                <a:solidFill>
                  <a:srgbClr val="1E2761"/>
                </a:solidFill>
                <a:latin typeface="Pretendard"/>
                <a:ea typeface="Pretendard"/>
                <a:cs typeface="Pretendard"/>
              </a:rPr>
              <a:t>2021년 토론회에서는 반복 피해를 막을 개입 수단과, 피해청소년에게 지워지는 부담이 함께 논의됐다.</a:t>
            </a:r>
          </a:p>
        </p:txBody>
      </p:sp>
      <p:sp>
        <p:nvSpPr>
          <p:cNvPr id="6" name="claim1_rule">
            <a:extLst xmlns:a="http://schemas.openxmlformats.org/drawingml/2006/main">
              <a:ext uri="{FF2B5EF4-FFF2-40B4-BE49-F238E27FC236}">
                <a16:creationId xmlns:a16="http://schemas.microsoft.com/office/drawing/2014/main" id="{002C3AA6-B01D-4E0B-9C55-45A9208716BB}"/>
              </a:ext>
            </a:extLst>
          </p:cNvPr>
          <p:cNvSpPr>
            <a:spLocks xmlns:a="http://schemas.openxmlformats.org/drawingml/2006/main" noGrp="1"/>
          </p:cNvSpPr>
          <p:nvPr/>
        </p:nvSpPr>
        <p:spPr>
          <a:xfrm xmlns:a="http://schemas.openxmlformats.org/drawingml/2006/main">
            <a:off x="731520" y="2447925"/>
            <a:ext cx="5175504" cy="38100"/>
          </a:xfrm>
          <a:prstGeom xmlns:a="http://schemas.openxmlformats.org/drawingml/2006/main" prst="rect">
            <a:avLst/>
          </a:prstGeom>
          <a:solidFill xmlns:a="http://schemas.openxmlformats.org/drawingml/2006/main">
            <a:srgbClr val="5A6699"/>
          </a:solidFill>
          <a:ln xmlns:a="http://schemas.openxmlformats.org/drawingml/2006/main" w="0">
            <a:noFill/>
          </a:ln>
        </p:spPr>
      </p:sp>
      <p:sp>
        <p:nvSpPr>
          <p:cNvPr id="7" name="claim1_head">
            <a:extLst xmlns:a="http://schemas.openxmlformats.org/drawingml/2006/main">
              <a:ext uri="{FF2B5EF4-FFF2-40B4-BE49-F238E27FC236}">
                <a16:creationId xmlns:a16="http://schemas.microsoft.com/office/drawing/2014/main" id="{3894D0A7-87B1-4D5B-ADD9-40DDE2FDD3CA}"/>
              </a:ext>
            </a:extLst>
          </p:cNvPr>
          <p:cNvSpPr>
            <a:spLocks xmlns:a="http://schemas.openxmlformats.org/drawingml/2006/main" noGrp="1"/>
          </p:cNvSpPr>
          <p:nvPr/>
        </p:nvSpPr>
        <p:spPr>
          <a:xfrm xmlns:a="http://schemas.openxmlformats.org/drawingml/2006/main">
            <a:off x="731520" y="2619375"/>
            <a:ext cx="5175504"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buNone/>
              <a:defRPr sz="1400" b="1">
                <a:solidFill>
                  <a:srgbClr val="1E2761"/>
                </a:solidFill>
                <a:latin typeface="Pretendard"/>
                <a:ea typeface="Pretendard"/>
                <a:cs typeface="Pretendard"/>
              </a:defRPr>
            </a:pPr>
            <a:r>
              <a:rPr sz="1400" b="1">
                <a:solidFill>
                  <a:srgbClr val="1E2761"/>
                </a:solidFill>
                <a:latin typeface="Pretendard"/>
                <a:ea typeface="Pretendard"/>
                <a:cs typeface="Pretendard"/>
              </a:rPr>
              <a:t>지속적인 보호 수단이 필요하다는 주장</a:t>
            </a:r>
          </a:p>
        </p:txBody>
      </p:sp>
      <p:sp>
        <p:nvSpPr>
          <p:cNvPr id="8" name="claim2_rule">
            <a:extLst xmlns:a="http://schemas.openxmlformats.org/drawingml/2006/main">
              <a:ext uri="{FF2B5EF4-FFF2-40B4-BE49-F238E27FC236}">
                <a16:creationId xmlns:a16="http://schemas.microsoft.com/office/drawing/2014/main" id="{F6CE754A-5485-49E6-862D-4B6E94AAEF5C}"/>
              </a:ext>
            </a:extLst>
          </p:cNvPr>
          <p:cNvSpPr>
            <a:spLocks xmlns:a="http://schemas.openxmlformats.org/drawingml/2006/main" noGrp="1"/>
          </p:cNvSpPr>
          <p:nvPr/>
        </p:nvSpPr>
        <p:spPr>
          <a:xfrm xmlns:a="http://schemas.openxmlformats.org/drawingml/2006/main">
            <a:off x="6281928" y="2447925"/>
            <a:ext cx="5175504" cy="38100"/>
          </a:xfrm>
          <a:prstGeom xmlns:a="http://schemas.openxmlformats.org/drawingml/2006/main" prst="rect">
            <a:avLst/>
          </a:prstGeom>
          <a:solidFill xmlns:a="http://schemas.openxmlformats.org/drawingml/2006/main">
            <a:srgbClr val="5A6699"/>
          </a:solidFill>
          <a:ln xmlns:a="http://schemas.openxmlformats.org/drawingml/2006/main" w="0">
            <a:noFill/>
          </a:ln>
        </p:spPr>
      </p:sp>
      <p:sp>
        <p:nvSpPr>
          <p:cNvPr id="9" name="claim2_head">
            <a:extLst xmlns:a="http://schemas.openxmlformats.org/drawingml/2006/main">
              <a:ext uri="{FF2B5EF4-FFF2-40B4-BE49-F238E27FC236}">
                <a16:creationId xmlns:a16="http://schemas.microsoft.com/office/drawing/2014/main" id="{F83B5CD6-C049-4DB8-BF7C-F6E3B3160E1F}"/>
              </a:ext>
            </a:extLst>
          </p:cNvPr>
          <p:cNvSpPr>
            <a:spLocks xmlns:a="http://schemas.openxmlformats.org/drawingml/2006/main" noGrp="1"/>
          </p:cNvSpPr>
          <p:nvPr/>
        </p:nvSpPr>
        <p:spPr>
          <a:xfrm xmlns:a="http://schemas.openxmlformats.org/drawingml/2006/main">
            <a:off x="6281928" y="2619375"/>
            <a:ext cx="5175504"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buNone/>
              <a:defRPr sz="1400" b="1">
                <a:solidFill>
                  <a:srgbClr val="1E2761"/>
                </a:solidFill>
                <a:latin typeface="Pretendard"/>
                <a:ea typeface="Pretendard"/>
                <a:cs typeface="Pretendard"/>
              </a:defRPr>
            </a:pPr>
            <a:r>
              <a:rPr sz="1400" b="1">
                <a:solidFill>
                  <a:srgbClr val="1E2761"/>
                </a:solidFill>
                <a:latin typeface="Pretendard"/>
                <a:ea typeface="Pretendard"/>
                <a:cs typeface="Pretendard"/>
              </a:rPr>
              <a:t>청소년에게 문제를 떠넘길 수 있다는 비판</a:t>
            </a:r>
          </a:p>
        </p:txBody>
      </p:sp>
      <p:sp>
        <p:nvSpPr>
          <p:cNvPr id="10" name="speaker1">
            <a:extLst xmlns:a="http://schemas.openxmlformats.org/drawingml/2006/main">
              <a:ext uri="{FF2B5EF4-FFF2-40B4-BE49-F238E27FC236}">
                <a16:creationId xmlns:a16="http://schemas.microsoft.com/office/drawing/2014/main" id="{2E17F43D-E9B8-4FF4-93B8-9B0FAD3F62D5}"/>
              </a:ext>
            </a:extLst>
          </p:cNvPr>
          <p:cNvSpPr>
            <a:spLocks xmlns:a="http://schemas.openxmlformats.org/drawingml/2006/main" noGrp="1"/>
          </p:cNvSpPr>
          <p:nvPr/>
        </p:nvSpPr>
        <p:spPr>
          <a:xfrm xmlns:a="http://schemas.openxmlformats.org/drawingml/2006/main">
            <a:off x="731520" y="2943225"/>
            <a:ext cx="5175504"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buNone/>
              <a:defRPr sz="1050" b="0">
                <a:solidFill>
                  <a:srgbClr val="6E7686"/>
                </a:solidFill>
                <a:latin typeface="Pretendard"/>
                <a:ea typeface="Pretendard"/>
                <a:cs typeface="Pretendard"/>
              </a:defRPr>
            </a:pPr>
            <a:r>
              <a:rPr sz="1050" b="0">
                <a:solidFill>
                  <a:srgbClr val="6E7686"/>
                </a:solidFill>
                <a:latin typeface="Pretendard"/>
                <a:ea typeface="Pretendard"/>
                <a:cs typeface="Pretendard"/>
              </a:rPr>
              <a:t>고평기 · 당시 경찰청 아동청소년과장</a:t>
            </a:r>
          </a:p>
        </p:txBody>
      </p:sp>
      <p:sp>
        <p:nvSpPr>
          <p:cNvPr id="11" name="speaker2">
            <a:extLst xmlns:a="http://schemas.openxmlformats.org/drawingml/2006/main">
              <a:ext uri="{FF2B5EF4-FFF2-40B4-BE49-F238E27FC236}">
                <a16:creationId xmlns:a16="http://schemas.microsoft.com/office/drawing/2014/main" id="{6FA8E42C-954B-44D5-8B70-D76E82958118}"/>
              </a:ext>
            </a:extLst>
          </p:cNvPr>
          <p:cNvSpPr>
            <a:spLocks xmlns:a="http://schemas.openxmlformats.org/drawingml/2006/main" noGrp="1"/>
          </p:cNvSpPr>
          <p:nvPr/>
        </p:nvSpPr>
        <p:spPr>
          <a:xfrm xmlns:a="http://schemas.openxmlformats.org/drawingml/2006/main">
            <a:off x="6281928" y="2943225"/>
            <a:ext cx="5175504"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buNone/>
              <a:defRPr sz="1050" b="0">
                <a:solidFill>
                  <a:srgbClr val="6E7686"/>
                </a:solidFill>
                <a:latin typeface="Pretendard"/>
                <a:ea typeface="Pretendard"/>
                <a:cs typeface="Pretendard"/>
              </a:defRPr>
            </a:pPr>
            <a:r>
              <a:rPr sz="1050" b="0">
                <a:solidFill>
                  <a:srgbClr val="6E7686"/>
                </a:solidFill>
                <a:latin typeface="Pretendard"/>
                <a:ea typeface="Pretendard"/>
                <a:cs typeface="Pretendard"/>
              </a:rPr>
              <a:t>이승현 · 당시 한국형사정책연구원 선임연구위원</a:t>
            </a:r>
          </a:p>
        </p:txBody>
      </p:sp>
      <p:sp>
        <p:nvSpPr>
          <p:cNvPr id="12" name="claim1_key">
            <a:extLst xmlns:a="http://schemas.openxmlformats.org/drawingml/2006/main">
              <a:ext uri="{FF2B5EF4-FFF2-40B4-BE49-F238E27FC236}">
                <a16:creationId xmlns:a16="http://schemas.microsoft.com/office/drawing/2014/main" id="{EFB02268-1BDE-49B7-B162-9CE0630EEACB}"/>
              </a:ext>
            </a:extLst>
          </p:cNvPr>
          <p:cNvSpPr>
            <a:spLocks xmlns:a="http://schemas.openxmlformats.org/drawingml/2006/main" noGrp="1"/>
          </p:cNvSpPr>
          <p:nvPr/>
        </p:nvSpPr>
        <p:spPr>
          <a:xfrm xmlns:a="http://schemas.openxmlformats.org/drawingml/2006/main">
            <a:off x="731520" y="3390900"/>
            <a:ext cx="5175504"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buNone/>
              <a:defRPr sz="1400" b="1">
                <a:solidFill>
                  <a:srgbClr val="222633"/>
                </a:solidFill>
                <a:latin typeface="Pretendard"/>
                <a:ea typeface="Pretendard"/>
                <a:cs typeface="Pretendard"/>
              </a:defRPr>
            </a:pPr>
            <a:r>
              <a:rPr sz="1400" b="1">
                <a:solidFill>
                  <a:srgbClr val="222633"/>
                </a:solidFill>
                <a:latin typeface="Pretendard"/>
                <a:ea typeface="Pretendard"/>
                <a:cs typeface="Pretendard"/>
              </a:rPr>
              <a:t>반복 피해를 막기 위해 송치한 사례를 제시했다.</a:t>
            </a:r>
          </a:p>
        </p:txBody>
      </p:sp>
      <p:sp>
        <p:nvSpPr>
          <p:cNvPr id="13" name="claim2_key">
            <a:extLst xmlns:a="http://schemas.openxmlformats.org/drawingml/2006/main">
              <a:ext uri="{FF2B5EF4-FFF2-40B4-BE49-F238E27FC236}">
                <a16:creationId xmlns:a16="http://schemas.microsoft.com/office/drawing/2014/main" id="{B4083195-50A4-4C8F-9C97-D6DF3C1766A3}"/>
              </a:ext>
            </a:extLst>
          </p:cNvPr>
          <p:cNvSpPr>
            <a:spLocks xmlns:a="http://schemas.openxmlformats.org/drawingml/2006/main" noGrp="1"/>
          </p:cNvSpPr>
          <p:nvPr/>
        </p:nvSpPr>
        <p:spPr>
          <a:xfrm xmlns:a="http://schemas.openxmlformats.org/drawingml/2006/main">
            <a:off x="6281928" y="3390900"/>
            <a:ext cx="5175504"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buNone/>
              <a:defRPr sz="1400" b="1">
                <a:solidFill>
                  <a:srgbClr val="222633"/>
                </a:solidFill>
                <a:latin typeface="Pretendard"/>
                <a:ea typeface="Pretendard"/>
                <a:cs typeface="Pretendard"/>
              </a:defRPr>
            </a:pPr>
            <a:r>
              <a:rPr sz="1400" b="1">
                <a:solidFill>
                  <a:srgbClr val="222633"/>
                </a:solidFill>
                <a:latin typeface="Pretendard"/>
                <a:ea typeface="Pretendard"/>
                <a:cs typeface="Pretendard"/>
              </a:rPr>
              <a:t>가정·지원체계의 문제를 소년사법으로 넘길 수 있다.</a:t>
            </a:r>
          </a:p>
        </p:txBody>
      </p:sp>
      <p:sp>
        <p:nvSpPr>
          <p:cNvPr id="14" name="claim1_body">
            <a:extLst xmlns:a="http://schemas.openxmlformats.org/drawingml/2006/main">
              <a:ext uri="{FF2B5EF4-FFF2-40B4-BE49-F238E27FC236}">
                <a16:creationId xmlns:a16="http://schemas.microsoft.com/office/drawing/2014/main" id="{CAA9E03D-BCAA-444A-B659-7E01099C9F9D}"/>
              </a:ext>
            </a:extLst>
          </p:cNvPr>
          <p:cNvSpPr>
            <a:spLocks xmlns:a="http://schemas.openxmlformats.org/drawingml/2006/main" noGrp="1"/>
          </p:cNvSpPr>
          <p:nvPr/>
        </p:nvSpPr>
        <p:spPr>
          <a:xfrm xmlns:a="http://schemas.openxmlformats.org/drawingml/2006/main">
            <a:off x="731520" y="3981450"/>
            <a:ext cx="5175504"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5000"/>
              </a:lnSpc>
              <a:buNone/>
              <a:defRPr sz="1250" b="0">
                <a:solidFill>
                  <a:srgbClr val="464D5C"/>
                </a:solidFill>
                <a:latin typeface="Pretendard"/>
                <a:ea typeface="Pretendard"/>
                <a:cs typeface="Pretendard"/>
              </a:defRPr>
            </a:pPr>
            <a:r>
              <a:rPr sz="1250" b="0">
                <a:solidFill>
                  <a:srgbClr val="464D5C"/>
                </a:solidFill>
                <a:latin typeface="Pretendard"/>
                <a:ea typeface="Pretendard"/>
                <a:cs typeface="Pretendard"/>
              </a:rPr>
              <a:t>위험한 환경에서 분리하고</a:t>
            </a:r>
          </a:p>
          <a:p xmlns:a="http://schemas.openxmlformats.org/drawingml/2006/main">
            <a:pPr algn="l">
              <a:lnSpc>
                <a:spcPct val="125000"/>
              </a:lnSpc>
              <a:buNone/>
              <a:defRPr sz="1250" b="0">
                <a:solidFill>
                  <a:srgbClr val="464D5C"/>
                </a:solidFill>
                <a:latin typeface="Pretendard"/>
                <a:ea typeface="Pretendard"/>
                <a:cs typeface="Pretendard"/>
              </a:defRPr>
            </a:pPr>
            <a:r>
              <a:rPr sz="1250" b="0">
                <a:solidFill>
                  <a:srgbClr val="464D5C"/>
                </a:solidFill>
                <a:latin typeface="Pretendard"/>
                <a:ea typeface="Pretendard"/>
                <a:cs typeface="Pretendard"/>
              </a:rPr>
              <a:t>보호를 이어 갈 수단이 필요하다는 논거다.</a:t>
            </a:r>
          </a:p>
        </p:txBody>
      </p:sp>
      <p:sp>
        <p:nvSpPr>
          <p:cNvPr id="15" name="claim2_body">
            <a:extLst xmlns:a="http://schemas.openxmlformats.org/drawingml/2006/main">
              <a:ext uri="{FF2B5EF4-FFF2-40B4-BE49-F238E27FC236}">
                <a16:creationId xmlns:a16="http://schemas.microsoft.com/office/drawing/2014/main" id="{393E92D9-7CF6-4BB6-8D36-FD09752FAB7F}"/>
              </a:ext>
            </a:extLst>
          </p:cNvPr>
          <p:cNvSpPr>
            <a:spLocks xmlns:a="http://schemas.openxmlformats.org/drawingml/2006/main" noGrp="1"/>
          </p:cNvSpPr>
          <p:nvPr/>
        </p:nvSpPr>
        <p:spPr>
          <a:xfrm xmlns:a="http://schemas.openxmlformats.org/drawingml/2006/main">
            <a:off x="6281928" y="3981450"/>
            <a:ext cx="5175504"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5000"/>
              </a:lnSpc>
              <a:buNone/>
              <a:defRPr sz="1250" b="0">
                <a:solidFill>
                  <a:srgbClr val="464D5C"/>
                </a:solidFill>
                <a:latin typeface="Pretendard"/>
                <a:ea typeface="Pretendard"/>
                <a:cs typeface="Pretendard"/>
              </a:defRPr>
            </a:pPr>
            <a:r>
              <a:rPr sz="1250" b="0">
                <a:solidFill>
                  <a:srgbClr val="464D5C"/>
                </a:solidFill>
                <a:latin typeface="Pretendard"/>
                <a:ea typeface="Pretendard"/>
                <a:cs typeface="Pretendard"/>
              </a:rPr>
              <a:t>가정의 학대·방임을 해결하지 못한 채</a:t>
            </a:r>
          </a:p>
          <a:p xmlns:a="http://schemas.openxmlformats.org/drawingml/2006/main">
            <a:pPr algn="l">
              <a:lnSpc>
                <a:spcPct val="125000"/>
              </a:lnSpc>
              <a:buNone/>
              <a:defRPr sz="1250" b="0">
                <a:solidFill>
                  <a:srgbClr val="464D5C"/>
                </a:solidFill>
                <a:latin typeface="Pretendard"/>
                <a:ea typeface="Pretendard"/>
                <a:cs typeface="Pretendard"/>
              </a:defRPr>
            </a:pPr>
            <a:r>
              <a:rPr sz="1250" b="0">
                <a:solidFill>
                  <a:srgbClr val="464D5C"/>
                </a:solidFill>
                <a:latin typeface="Pretendard"/>
                <a:ea typeface="Pretendard"/>
                <a:cs typeface="Pretendard"/>
              </a:rPr>
              <a:t>청소년의 자유 제한과 낙인이 생길 수 있다는 논거다.</a:t>
            </a:r>
          </a:p>
        </p:txBody>
      </p:sp>
      <p:sp>
        <p:nvSpPr>
          <p:cNvPr id="16" name="claim_question_rule_0">
            <a:extLst xmlns:a="http://schemas.openxmlformats.org/drawingml/2006/main">
              <a:ext uri="{FF2B5EF4-FFF2-40B4-BE49-F238E27FC236}">
                <a16:creationId xmlns:a16="http://schemas.microsoft.com/office/drawing/2014/main" id="{D71E06D1-79D1-4BEC-A3E6-61B52C7C4A83}"/>
              </a:ext>
            </a:extLst>
          </p:cNvPr>
          <p:cNvSpPr>
            <a:spLocks xmlns:a="http://schemas.openxmlformats.org/drawingml/2006/main" noGrp="1"/>
          </p:cNvSpPr>
          <p:nvPr/>
        </p:nvSpPr>
        <p:spPr>
          <a:xfrm xmlns:a="http://schemas.openxmlformats.org/drawingml/2006/main">
            <a:off x="731520" y="4857750"/>
            <a:ext cx="5175504" cy="9525"/>
          </a:xfrm>
          <a:prstGeom xmlns:a="http://schemas.openxmlformats.org/drawingml/2006/main" prst="rect">
            <a:avLst/>
          </a:prstGeom>
          <a:solidFill xmlns:a="http://schemas.openxmlformats.org/drawingml/2006/main">
            <a:srgbClr val="DCE0E8"/>
          </a:solidFill>
          <a:ln xmlns:a="http://schemas.openxmlformats.org/drawingml/2006/main" w="0">
            <a:noFill/>
          </a:ln>
        </p:spPr>
      </p:sp>
      <p:sp>
        <p:nvSpPr>
          <p:cNvPr id="17" name="claim_question_rule_1">
            <a:extLst xmlns:a="http://schemas.openxmlformats.org/drawingml/2006/main">
              <a:ext uri="{FF2B5EF4-FFF2-40B4-BE49-F238E27FC236}">
                <a16:creationId xmlns:a16="http://schemas.microsoft.com/office/drawing/2014/main" id="{47C43F00-A69E-40AE-9472-22B6123AED73}"/>
              </a:ext>
            </a:extLst>
          </p:cNvPr>
          <p:cNvSpPr>
            <a:spLocks xmlns:a="http://schemas.openxmlformats.org/drawingml/2006/main" noGrp="1"/>
          </p:cNvSpPr>
          <p:nvPr/>
        </p:nvSpPr>
        <p:spPr>
          <a:xfrm xmlns:a="http://schemas.openxmlformats.org/drawingml/2006/main">
            <a:off x="6281928" y="4857750"/>
            <a:ext cx="5175504" cy="9525"/>
          </a:xfrm>
          <a:prstGeom xmlns:a="http://schemas.openxmlformats.org/drawingml/2006/main" prst="rect">
            <a:avLst/>
          </a:prstGeom>
          <a:solidFill xmlns:a="http://schemas.openxmlformats.org/drawingml/2006/main">
            <a:srgbClr val="DCE0E8"/>
          </a:solidFill>
          <a:ln xmlns:a="http://schemas.openxmlformats.org/drawingml/2006/main" w="0">
            <a:noFill/>
          </a:ln>
        </p:spPr>
      </p:sp>
      <p:sp>
        <p:nvSpPr>
          <p:cNvPr id="18" name="claim1_check">
            <a:extLst xmlns:a="http://schemas.openxmlformats.org/drawingml/2006/main">
              <a:ext uri="{FF2B5EF4-FFF2-40B4-BE49-F238E27FC236}">
                <a16:creationId xmlns:a16="http://schemas.microsoft.com/office/drawing/2014/main" id="{C04FF1D3-513D-4347-A586-E7785C231B5E}"/>
              </a:ext>
            </a:extLst>
          </p:cNvPr>
          <p:cNvSpPr>
            <a:spLocks xmlns:a="http://schemas.openxmlformats.org/drawingml/2006/main" noGrp="1"/>
          </p:cNvSpPr>
          <p:nvPr/>
        </p:nvSpPr>
        <p:spPr>
          <a:xfrm xmlns:a="http://schemas.openxmlformats.org/drawingml/2006/main">
            <a:off x="731520" y="5067300"/>
            <a:ext cx="5175504"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buNone/>
              <a:defRPr sz="1250" b="1">
                <a:solidFill>
                  <a:srgbClr val="1E2761"/>
                </a:solidFill>
                <a:latin typeface="Pretendard"/>
                <a:ea typeface="Pretendard"/>
                <a:cs typeface="Pretendard"/>
              </a:defRPr>
            </a:pPr>
            <a:r>
              <a:rPr sz="1250" b="1">
                <a:solidFill>
                  <a:srgbClr val="1E2761"/>
                </a:solidFill>
                <a:latin typeface="Pretendard"/>
                <a:ea typeface="Pretendard"/>
                <a:cs typeface="Pretendard"/>
              </a:rPr>
              <a:t>확인할 것  ·  송치가 실제 피해를 줄이는가?</a:t>
            </a:r>
          </a:p>
        </p:txBody>
      </p:sp>
      <p:sp>
        <p:nvSpPr>
          <p:cNvPr id="19" name="claim2_check">
            <a:extLst xmlns:a="http://schemas.openxmlformats.org/drawingml/2006/main">
              <a:ext uri="{FF2B5EF4-FFF2-40B4-BE49-F238E27FC236}">
                <a16:creationId xmlns:a16="http://schemas.microsoft.com/office/drawing/2014/main" id="{F7F1824D-C865-438A-9562-1B1B8E786215}"/>
              </a:ext>
            </a:extLst>
          </p:cNvPr>
          <p:cNvSpPr>
            <a:spLocks xmlns:a="http://schemas.openxmlformats.org/drawingml/2006/main" noGrp="1"/>
          </p:cNvSpPr>
          <p:nvPr/>
        </p:nvSpPr>
        <p:spPr>
          <a:xfrm xmlns:a="http://schemas.openxmlformats.org/drawingml/2006/main">
            <a:off x="6281928" y="5067300"/>
            <a:ext cx="5175504"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buNone/>
              <a:defRPr sz="1250" b="1">
                <a:solidFill>
                  <a:srgbClr val="1E2761"/>
                </a:solidFill>
                <a:latin typeface="Pretendard"/>
                <a:ea typeface="Pretendard"/>
                <a:cs typeface="Pretendard"/>
              </a:defRPr>
            </a:pPr>
            <a:r>
              <a:rPr sz="1250" b="1">
                <a:solidFill>
                  <a:srgbClr val="1E2761"/>
                </a:solidFill>
                <a:latin typeface="Pretendard"/>
                <a:ea typeface="Pretendard"/>
                <a:cs typeface="Pretendard"/>
              </a:rPr>
              <a:t>확인할 것  ·  지원으로 같은 보호 기능을 제공할 수 있는가?</a:t>
            </a:r>
          </a:p>
        </p:txBody>
      </p:sp>
      <p:sp>
        <p:nvSpPr>
          <p:cNvPr id="20" name="question_band">
            <a:extLst xmlns:a="http://schemas.openxmlformats.org/drawingml/2006/main">
              <a:ext uri="{FF2B5EF4-FFF2-40B4-BE49-F238E27FC236}">
                <a16:creationId xmlns:a16="http://schemas.microsoft.com/office/drawing/2014/main" id="{3F3C7B11-B12F-45FE-BB5B-FACC2FB9F190}"/>
              </a:ext>
            </a:extLst>
          </p:cNvPr>
          <p:cNvSpPr>
            <a:spLocks xmlns:a="http://schemas.openxmlformats.org/drawingml/2006/main" noGrp="1"/>
          </p:cNvSpPr>
          <p:nvPr/>
        </p:nvSpPr>
        <p:spPr>
          <a:xfrm xmlns:a="http://schemas.openxmlformats.org/drawingml/2006/main">
            <a:off x="1124712" y="5751576"/>
            <a:ext cx="9912096" cy="457200"/>
          </a:xfrm>
          <a:prstGeom xmlns:a="http://schemas.openxmlformats.org/drawingml/2006/main" prst="rect">
            <a:avLst/>
          </a:prstGeom>
          <a:solidFill xmlns:a="http://schemas.openxmlformats.org/drawingml/2006/main">
            <a:srgbClr val="1E2761"/>
          </a:solidFill>
          <a:ln xmlns:a="http://schemas.openxmlformats.org/drawingml/2006/main" w="0">
            <a:noFill/>
          </a:ln>
        </p:spPr>
      </p:sp>
      <p:sp>
        <p:nvSpPr>
          <p:cNvPr id="21" name="question">
            <a:extLst xmlns:a="http://schemas.openxmlformats.org/drawingml/2006/main">
              <a:ext uri="{FF2B5EF4-FFF2-40B4-BE49-F238E27FC236}">
                <a16:creationId xmlns:a16="http://schemas.microsoft.com/office/drawing/2014/main" id="{AC57699B-AE49-4453-B2FC-6D5AA4D05B54}"/>
              </a:ext>
            </a:extLst>
          </p:cNvPr>
          <p:cNvSpPr>
            <a:spLocks xmlns:a="http://schemas.openxmlformats.org/drawingml/2006/main" noGrp="1"/>
          </p:cNvSpPr>
          <p:nvPr/>
        </p:nvSpPr>
        <p:spPr>
          <a:xfrm xmlns:a="http://schemas.openxmlformats.org/drawingml/2006/main">
            <a:off x="1314450" y="5862638"/>
            <a:ext cx="9534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18000"/>
              </a:lnSpc>
              <a:buNone/>
              <a:defRPr sz="1250" b="1">
                <a:solidFill>
                  <a:srgbClr val="FFFFFF"/>
                </a:solidFill>
                <a:latin typeface="Pretendard"/>
                <a:ea typeface="Pretendard"/>
                <a:cs typeface="Pretendard"/>
              </a:defRPr>
            </a:pPr>
            <a:r>
              <a:rPr sz="1250" b="1">
                <a:solidFill>
                  <a:srgbClr val="FFFFFF"/>
                </a:solidFill>
                <a:latin typeface="Pretendard"/>
                <a:ea typeface="Pretendard"/>
                <a:cs typeface="Pretendard"/>
              </a:rPr>
              <a:t>송치로 얻는 보호의 이익, 청소년이 부담하는 제약, 다른 지원 경로의 가능성을 무엇으로 비교할 것인가?</a:t>
            </a:r>
          </a:p>
        </p:txBody>
      </p:sp>
    </p:spTree>
    <p:extLst>
      <p:ext uri="{BB962C8B-B14F-4D97-AF65-F5344CB8AC3E}">
        <p14:creationId xmlns:p14="http://schemas.microsoft.com/office/powerpoint/2010/main" val="1731578602"/>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chapter">
            <a:extLst xmlns:a="http://schemas.openxmlformats.org/drawingml/2006/main">
              <a:ext uri="{FF2B5EF4-FFF2-40B4-BE49-F238E27FC236}">
                <a16:creationId xmlns:a16="http://schemas.microsoft.com/office/drawing/2014/main" id="{023BE07C-91A3-4EA3-A355-5D3EC2260B54}"/>
              </a:ext>
            </a:extLst>
          </p:cNvPr>
          <p:cNvSpPr>
            <a:spLocks xmlns:a="http://schemas.openxmlformats.org/drawingml/2006/main" noGrp="1"/>
          </p:cNvSpPr>
          <p:nvPr/>
        </p:nvSpPr>
        <p:spPr>
          <a:xfrm xmlns:a="http://schemas.openxmlformats.org/drawingml/2006/main">
            <a:off x="731520" y="36576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buNone/>
              <a:defRPr sz="1250" b="1">
                <a:solidFill>
                  <a:srgbClr val="464D5C"/>
                </a:solidFill>
                <a:latin typeface="Pretendard"/>
                <a:ea typeface="Pretendard"/>
                <a:cs typeface="Pretendard"/>
              </a:defRPr>
            </a:pPr>
            <a:r>
              <a:rPr sz="1250" b="1" spc="200">
                <a:solidFill>
                  <a:srgbClr val="464D5C"/>
                </a:solidFill>
                <a:latin typeface="Pretendard"/>
                <a:ea typeface="Pretendard"/>
                <a:cs typeface="Pretendard"/>
              </a:rPr>
              <a:t>1. 논제의 대상과 현행 우범소년 제도</a:t>
            </a:r>
          </a:p>
        </p:txBody>
      </p:sp>
      <p:sp>
        <p:nvSpPr>
          <p:cNvPr id="2" name="next">
            <a:extLst xmlns:a="http://schemas.openxmlformats.org/drawingml/2006/main">
              <a:ext uri="{FF2B5EF4-FFF2-40B4-BE49-F238E27FC236}">
                <a16:creationId xmlns:a16="http://schemas.microsoft.com/office/drawing/2014/main" id="{0C46E1DE-EB02-4CFD-93FE-E22B002E3C3D}"/>
              </a:ext>
            </a:extLst>
          </p:cNvPr>
          <p:cNvSpPr>
            <a:spLocks xmlns:a="http://schemas.openxmlformats.org/drawingml/2006/main" noGrp="1"/>
          </p:cNvSpPr>
          <p:nvPr/>
        </p:nvSpPr>
        <p:spPr>
          <a:xfrm xmlns:a="http://schemas.openxmlformats.org/drawingml/2006/main">
            <a:off x="6191250" y="383858"/>
            <a:ext cx="526351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18000"/>
              </a:lnSpc>
              <a:buNone/>
              <a:defRPr sz="1050" b="0">
                <a:solidFill>
                  <a:srgbClr val="6E7686"/>
                </a:solidFill>
                <a:latin typeface="Pretendard"/>
                <a:ea typeface="Pretendard"/>
                <a:cs typeface="Pretendard"/>
              </a:defRPr>
            </a:pPr>
            <a:r>
              <a:rPr sz="1050" b="0">
                <a:solidFill>
                  <a:srgbClr val="6E7686"/>
                </a:solidFill>
                <a:latin typeface="Pretendard"/>
                <a:ea typeface="Pretendard"/>
                <a:cs typeface="Pretendard"/>
              </a:rPr>
              <a:t>다음 → 제2장 · 성매매 피해청소년의 법적 지위 변화</a:t>
            </a:r>
          </a:p>
        </p:txBody>
      </p:sp>
      <p:sp>
        <p:nvSpPr>
          <p:cNvPr id="3" name="title">
            <a:extLst xmlns:a="http://schemas.openxmlformats.org/drawingml/2006/main">
              <a:ext uri="{FF2B5EF4-FFF2-40B4-BE49-F238E27FC236}">
                <a16:creationId xmlns:a16="http://schemas.microsoft.com/office/drawing/2014/main" id="{5739B3D1-B287-4744-ABBA-8A33FAD26BF7}"/>
              </a:ext>
            </a:extLst>
          </p:cNvPr>
          <p:cNvSpPr>
            <a:spLocks xmlns:a="http://schemas.openxmlformats.org/drawingml/2006/main" noGrp="1"/>
          </p:cNvSpPr>
          <p:nvPr/>
        </p:nvSpPr>
        <p:spPr>
          <a:xfrm xmlns:a="http://schemas.openxmlformats.org/drawingml/2006/main">
            <a:off x="731520" y="762000"/>
            <a:ext cx="10726103"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buNone/>
              <a:defRPr sz="2750" b="1">
                <a:solidFill>
                  <a:srgbClr val="1E2761"/>
                </a:solidFill>
                <a:latin typeface="Pretendard"/>
                <a:ea typeface="Pretendard"/>
                <a:cs typeface="Pretendard"/>
              </a:defRPr>
            </a:pPr>
            <a:r>
              <a:rPr sz="2750" b="1">
                <a:solidFill>
                  <a:srgbClr val="1E2761"/>
                </a:solidFill>
                <a:latin typeface="Pretendard"/>
                <a:ea typeface="Pretendard"/>
                <a:cs typeface="Pretendard"/>
              </a:rPr>
              <a:t>현행법 적용과 정책·제도 판단</a:t>
            </a:r>
          </a:p>
        </p:txBody>
      </p:sp>
      <p:sp>
        <p:nvSpPr>
          <p:cNvPr id="4" name="header_rule">
            <a:extLst xmlns:a="http://schemas.openxmlformats.org/drawingml/2006/main">
              <a:ext uri="{FF2B5EF4-FFF2-40B4-BE49-F238E27FC236}">
                <a16:creationId xmlns:a16="http://schemas.microsoft.com/office/drawing/2014/main" id="{79B1301D-A2D1-43D0-A504-C1DA7330B9E7}"/>
              </a:ext>
            </a:extLst>
          </p:cNvPr>
          <p:cNvSpPr>
            <a:spLocks xmlns:a="http://schemas.openxmlformats.org/drawingml/2006/main" noGrp="1"/>
          </p:cNvSpPr>
          <p:nvPr/>
        </p:nvSpPr>
        <p:spPr>
          <a:xfrm xmlns:a="http://schemas.openxmlformats.org/drawingml/2006/main">
            <a:off x="731520" y="1386840"/>
            <a:ext cx="10726103" cy="15240"/>
          </a:xfrm>
          <a:prstGeom xmlns:a="http://schemas.openxmlformats.org/drawingml/2006/main" prst="rect">
            <a:avLst/>
          </a:prstGeom>
          <a:solidFill xmlns:a="http://schemas.openxmlformats.org/drawingml/2006/main">
            <a:srgbClr val="1E2761"/>
          </a:solidFill>
          <a:ln xmlns:a="http://schemas.openxmlformats.org/drawingml/2006/main" w="0">
            <a:noFill/>
          </a:ln>
        </p:spPr>
      </p:sp>
      <p:sp>
        <p:nvSpPr>
          <p:cNvPr id="5" name="summary">
            <a:extLst xmlns:a="http://schemas.openxmlformats.org/drawingml/2006/main">
              <a:ext uri="{FF2B5EF4-FFF2-40B4-BE49-F238E27FC236}">
                <a16:creationId xmlns:a16="http://schemas.microsoft.com/office/drawing/2014/main" id="{B1740D69-AC5C-403F-AE03-156BF332C5E6}"/>
              </a:ext>
            </a:extLst>
          </p:cNvPr>
          <p:cNvSpPr>
            <a:spLocks xmlns:a="http://schemas.openxmlformats.org/drawingml/2006/main" noGrp="1"/>
          </p:cNvSpPr>
          <p:nvPr/>
        </p:nvSpPr>
        <p:spPr>
          <a:xfrm xmlns:a="http://schemas.openxmlformats.org/drawingml/2006/main">
            <a:off x="731520" y="1581150"/>
            <a:ext cx="10726103"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buNone/>
              <a:defRPr sz="1300" b="1">
                <a:solidFill>
                  <a:srgbClr val="1E2761"/>
                </a:solidFill>
                <a:latin typeface="Pretendard"/>
                <a:ea typeface="Pretendard"/>
                <a:cs typeface="Pretendard"/>
              </a:defRPr>
            </a:pPr>
            <a:r>
              <a:rPr sz="1300" b="1">
                <a:solidFill>
                  <a:srgbClr val="1E2761"/>
                </a:solidFill>
                <a:latin typeface="Pretendard"/>
                <a:ea typeface="Pretendard"/>
                <a:cs typeface="Pretendard"/>
              </a:rPr>
              <a:t>현행법 적용은 요건 충족을, 정책 판단은 이 경로를 유지·축소·대체·보완할 이유를 묻는다.</a:t>
            </a:r>
          </a:p>
        </p:txBody>
      </p:sp>
      <p:sp>
        <p:nvSpPr>
          <p:cNvPr id="6" name="law_label">
            <a:extLst xmlns:a="http://schemas.openxmlformats.org/drawingml/2006/main">
              <a:ext uri="{FF2B5EF4-FFF2-40B4-BE49-F238E27FC236}">
                <a16:creationId xmlns:a16="http://schemas.microsoft.com/office/drawing/2014/main" id="{43A43C7A-15A8-45D3-ACA4-F74B95E71F62}"/>
              </a:ext>
            </a:extLst>
          </p:cNvPr>
          <p:cNvSpPr>
            <a:spLocks xmlns:a="http://schemas.openxmlformats.org/drawingml/2006/main" noGrp="1"/>
          </p:cNvSpPr>
          <p:nvPr/>
        </p:nvSpPr>
        <p:spPr>
          <a:xfrm xmlns:a="http://schemas.openxmlformats.org/drawingml/2006/main">
            <a:off x="731520" y="2305050"/>
            <a:ext cx="10726103"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buNone/>
              <a:defRPr sz="1300" b="1">
                <a:solidFill>
                  <a:srgbClr val="1E2761"/>
                </a:solidFill>
                <a:latin typeface="Pretendard"/>
                <a:ea typeface="Pretendard"/>
                <a:cs typeface="Pretendard"/>
              </a:defRPr>
            </a:pPr>
            <a:r>
              <a:rPr sz="1300" b="1">
                <a:solidFill>
                  <a:srgbClr val="1E2761"/>
                </a:solidFill>
                <a:latin typeface="Pretendard"/>
                <a:ea typeface="Pretendard"/>
                <a:cs typeface="Pretendard"/>
              </a:rPr>
              <a:t>현행법 적용</a:t>
            </a:r>
          </a:p>
        </p:txBody>
      </p:sp>
      <p:sp>
        <p:nvSpPr>
          <p:cNvPr id="7" name="law_step_rule_0">
            <a:extLst xmlns:a="http://schemas.openxmlformats.org/drawingml/2006/main">
              <a:ext uri="{FF2B5EF4-FFF2-40B4-BE49-F238E27FC236}">
                <a16:creationId xmlns:a16="http://schemas.microsoft.com/office/drawing/2014/main" id="{EC997B3E-395C-477E-99D8-80461E44B4D6}"/>
              </a:ext>
            </a:extLst>
          </p:cNvPr>
          <p:cNvSpPr>
            <a:spLocks xmlns:a="http://schemas.openxmlformats.org/drawingml/2006/main" noGrp="1"/>
          </p:cNvSpPr>
          <p:nvPr/>
        </p:nvSpPr>
        <p:spPr>
          <a:xfrm xmlns:a="http://schemas.openxmlformats.org/drawingml/2006/main">
            <a:off x="731520" y="2714625"/>
            <a:ext cx="3392424" cy="19050"/>
          </a:xfrm>
          <a:prstGeom xmlns:a="http://schemas.openxmlformats.org/drawingml/2006/main" prst="rect">
            <a:avLst/>
          </a:prstGeom>
          <a:solidFill xmlns:a="http://schemas.openxmlformats.org/drawingml/2006/main">
            <a:srgbClr val="5A6699"/>
          </a:solidFill>
          <a:ln xmlns:a="http://schemas.openxmlformats.org/drawingml/2006/main" w="0">
            <a:noFill/>
          </a:ln>
        </p:spPr>
      </p:sp>
      <p:sp>
        <p:nvSpPr>
          <p:cNvPr id="8" name="law_step_0">
            <a:extLst xmlns:a="http://schemas.openxmlformats.org/drawingml/2006/main">
              <a:ext uri="{FF2B5EF4-FFF2-40B4-BE49-F238E27FC236}">
                <a16:creationId xmlns:a16="http://schemas.microsoft.com/office/drawing/2014/main" id="{DBC063E3-7531-4502-BE2F-E52B1CB07B22}"/>
              </a:ext>
            </a:extLst>
          </p:cNvPr>
          <p:cNvSpPr>
            <a:spLocks xmlns:a="http://schemas.openxmlformats.org/drawingml/2006/main" noGrp="1"/>
          </p:cNvSpPr>
          <p:nvPr/>
        </p:nvSpPr>
        <p:spPr>
          <a:xfrm xmlns:a="http://schemas.openxmlformats.org/drawingml/2006/main">
            <a:off x="731520" y="2895600"/>
            <a:ext cx="3392424"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buNone/>
              <a:defRPr sz="1400" b="1">
                <a:solidFill>
                  <a:srgbClr val="222633"/>
                </a:solidFill>
                <a:latin typeface="Pretendard"/>
                <a:ea typeface="Pretendard"/>
                <a:cs typeface="Pretendard"/>
              </a:defRPr>
            </a:pPr>
            <a:r>
              <a:rPr sz="1400" b="1">
                <a:solidFill>
                  <a:srgbClr val="222633"/>
                </a:solidFill>
                <a:latin typeface="Pretendard"/>
                <a:ea typeface="Pretendard"/>
                <a:cs typeface="Pretendard"/>
              </a:rPr>
              <a:t>사실관계 확인</a:t>
            </a:r>
          </a:p>
        </p:txBody>
      </p:sp>
      <p:sp>
        <p:nvSpPr>
          <p:cNvPr id="9" name="law_detail_0">
            <a:extLst xmlns:a="http://schemas.openxmlformats.org/drawingml/2006/main">
              <a:ext uri="{FF2B5EF4-FFF2-40B4-BE49-F238E27FC236}">
                <a16:creationId xmlns:a16="http://schemas.microsoft.com/office/drawing/2014/main" id="{BF54F00A-293E-45A3-9321-7EF455572F26}"/>
              </a:ext>
            </a:extLst>
          </p:cNvPr>
          <p:cNvSpPr>
            <a:spLocks xmlns:a="http://schemas.openxmlformats.org/drawingml/2006/main" noGrp="1"/>
          </p:cNvSpPr>
          <p:nvPr/>
        </p:nvSpPr>
        <p:spPr>
          <a:xfrm xmlns:a="http://schemas.openxmlformats.org/drawingml/2006/main">
            <a:off x="731520" y="3295650"/>
            <a:ext cx="3392424"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buNone/>
              <a:defRPr sz="1250" b="0">
                <a:solidFill>
                  <a:srgbClr val="464D5C"/>
                </a:solidFill>
                <a:latin typeface="Pretendard"/>
                <a:ea typeface="Pretendard"/>
                <a:cs typeface="Pretendard"/>
              </a:defRPr>
            </a:pPr>
            <a:r>
              <a:rPr sz="1250" b="0">
                <a:solidFill>
                  <a:srgbClr val="464D5C"/>
                </a:solidFill>
                <a:latin typeface="Pretendard"/>
                <a:ea typeface="Pretendard"/>
                <a:cs typeface="Pretendard"/>
              </a:rPr>
              <a:t>가출 경위와 환경, 우려되는 행위</a:t>
            </a:r>
          </a:p>
        </p:txBody>
      </p:sp>
      <p:sp>
        <p:nvSpPr>
          <p:cNvPr id="10" name="law_step_rule_1">
            <a:extLst xmlns:a="http://schemas.openxmlformats.org/drawingml/2006/main">
              <a:ext uri="{FF2B5EF4-FFF2-40B4-BE49-F238E27FC236}">
                <a16:creationId xmlns:a16="http://schemas.microsoft.com/office/drawing/2014/main" id="{BA6B360A-1A9F-430C-97F2-33EDB3096B4A}"/>
              </a:ext>
            </a:extLst>
          </p:cNvPr>
          <p:cNvSpPr>
            <a:spLocks xmlns:a="http://schemas.openxmlformats.org/drawingml/2006/main" noGrp="1"/>
          </p:cNvSpPr>
          <p:nvPr/>
        </p:nvSpPr>
        <p:spPr>
          <a:xfrm xmlns:a="http://schemas.openxmlformats.org/drawingml/2006/main">
            <a:off x="4398264" y="2714625"/>
            <a:ext cx="3392424" cy="19050"/>
          </a:xfrm>
          <a:prstGeom xmlns:a="http://schemas.openxmlformats.org/drawingml/2006/main" prst="rect">
            <a:avLst/>
          </a:prstGeom>
          <a:solidFill xmlns:a="http://schemas.openxmlformats.org/drawingml/2006/main">
            <a:srgbClr val="5A6699"/>
          </a:solidFill>
          <a:ln xmlns:a="http://schemas.openxmlformats.org/drawingml/2006/main" w="0">
            <a:noFill/>
          </a:ln>
        </p:spPr>
      </p:sp>
      <p:sp>
        <p:nvSpPr>
          <p:cNvPr id="11" name="law_step_1">
            <a:extLst xmlns:a="http://schemas.openxmlformats.org/drawingml/2006/main">
              <a:ext uri="{FF2B5EF4-FFF2-40B4-BE49-F238E27FC236}">
                <a16:creationId xmlns:a16="http://schemas.microsoft.com/office/drawing/2014/main" id="{380E6035-FED0-4B49-9C54-1B69A4C2A951}"/>
              </a:ext>
            </a:extLst>
          </p:cNvPr>
          <p:cNvSpPr>
            <a:spLocks xmlns:a="http://schemas.openxmlformats.org/drawingml/2006/main" noGrp="1"/>
          </p:cNvSpPr>
          <p:nvPr/>
        </p:nvSpPr>
        <p:spPr>
          <a:xfrm xmlns:a="http://schemas.openxmlformats.org/drawingml/2006/main">
            <a:off x="4398264" y="2895600"/>
            <a:ext cx="3392424"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buNone/>
              <a:defRPr sz="1400" b="1">
                <a:solidFill>
                  <a:srgbClr val="222633"/>
                </a:solidFill>
                <a:latin typeface="Pretendard"/>
                <a:ea typeface="Pretendard"/>
                <a:cs typeface="Pretendard"/>
              </a:defRPr>
            </a:pPr>
            <a:r>
              <a:rPr sz="1400" b="1">
                <a:solidFill>
                  <a:srgbClr val="222633"/>
                </a:solidFill>
                <a:latin typeface="Pretendard"/>
                <a:ea typeface="Pretendard"/>
                <a:cs typeface="Pretendard"/>
              </a:rPr>
              <a:t>우범소년 요건 판단</a:t>
            </a:r>
          </a:p>
        </p:txBody>
      </p:sp>
      <p:sp>
        <p:nvSpPr>
          <p:cNvPr id="12" name="law_detail_1">
            <a:extLst xmlns:a="http://schemas.openxmlformats.org/drawingml/2006/main">
              <a:ext uri="{FF2B5EF4-FFF2-40B4-BE49-F238E27FC236}">
                <a16:creationId xmlns:a16="http://schemas.microsoft.com/office/drawing/2014/main" id="{8EEE7EA7-B5CF-4941-9EE8-AC1C12E660BE}"/>
              </a:ext>
            </a:extLst>
          </p:cNvPr>
          <p:cNvSpPr>
            <a:spLocks xmlns:a="http://schemas.openxmlformats.org/drawingml/2006/main" noGrp="1"/>
          </p:cNvSpPr>
          <p:nvPr/>
        </p:nvSpPr>
        <p:spPr>
          <a:xfrm xmlns:a="http://schemas.openxmlformats.org/drawingml/2006/main">
            <a:off x="4398264" y="3295650"/>
            <a:ext cx="3392424"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buNone/>
              <a:defRPr sz="1250" b="0">
                <a:solidFill>
                  <a:srgbClr val="464D5C"/>
                </a:solidFill>
                <a:latin typeface="Pretendard"/>
                <a:ea typeface="Pretendard"/>
                <a:cs typeface="Pretendard"/>
              </a:defRPr>
            </a:pPr>
            <a:r>
              <a:rPr sz="1250" b="0">
                <a:solidFill>
                  <a:srgbClr val="464D5C"/>
                </a:solidFill>
                <a:latin typeface="Pretendard"/>
                <a:ea typeface="Pretendard"/>
                <a:cs typeface="Pretendard"/>
              </a:rPr>
              <a:t>법정 우범사유 + 장래 범법 우려</a:t>
            </a:r>
          </a:p>
        </p:txBody>
      </p:sp>
      <p:sp>
        <p:nvSpPr>
          <p:cNvPr id="13" name="law_step_rule_2">
            <a:extLst xmlns:a="http://schemas.openxmlformats.org/drawingml/2006/main">
              <a:ext uri="{FF2B5EF4-FFF2-40B4-BE49-F238E27FC236}">
                <a16:creationId xmlns:a16="http://schemas.microsoft.com/office/drawing/2014/main" id="{16B8845E-7B03-42E5-B964-80C3EED17211}"/>
              </a:ext>
            </a:extLst>
          </p:cNvPr>
          <p:cNvSpPr>
            <a:spLocks xmlns:a="http://schemas.openxmlformats.org/drawingml/2006/main" noGrp="1"/>
          </p:cNvSpPr>
          <p:nvPr/>
        </p:nvSpPr>
        <p:spPr>
          <a:xfrm xmlns:a="http://schemas.openxmlformats.org/drawingml/2006/main">
            <a:off x="8065008" y="2714625"/>
            <a:ext cx="3392424" cy="19050"/>
          </a:xfrm>
          <a:prstGeom xmlns:a="http://schemas.openxmlformats.org/drawingml/2006/main" prst="rect">
            <a:avLst/>
          </a:prstGeom>
          <a:solidFill xmlns:a="http://schemas.openxmlformats.org/drawingml/2006/main">
            <a:srgbClr val="5A6699"/>
          </a:solidFill>
          <a:ln xmlns:a="http://schemas.openxmlformats.org/drawingml/2006/main" w="0">
            <a:noFill/>
          </a:ln>
        </p:spPr>
      </p:sp>
      <p:sp>
        <p:nvSpPr>
          <p:cNvPr id="14" name="law_step_2">
            <a:extLst xmlns:a="http://schemas.openxmlformats.org/drawingml/2006/main">
              <a:ext uri="{FF2B5EF4-FFF2-40B4-BE49-F238E27FC236}">
                <a16:creationId xmlns:a16="http://schemas.microsoft.com/office/drawing/2014/main" id="{252460BA-FBFF-4EA8-AA12-3E07EA2C0687}"/>
              </a:ext>
            </a:extLst>
          </p:cNvPr>
          <p:cNvSpPr>
            <a:spLocks xmlns:a="http://schemas.openxmlformats.org/drawingml/2006/main" noGrp="1"/>
          </p:cNvSpPr>
          <p:nvPr/>
        </p:nvSpPr>
        <p:spPr>
          <a:xfrm xmlns:a="http://schemas.openxmlformats.org/drawingml/2006/main">
            <a:off x="8065008" y="2895600"/>
            <a:ext cx="3392424"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buNone/>
              <a:defRPr sz="1400" b="1">
                <a:solidFill>
                  <a:srgbClr val="222633"/>
                </a:solidFill>
                <a:latin typeface="Pretendard"/>
                <a:ea typeface="Pretendard"/>
                <a:cs typeface="Pretendard"/>
              </a:defRPr>
            </a:pPr>
            <a:r>
              <a:rPr sz="1400" b="1">
                <a:solidFill>
                  <a:srgbClr val="222633"/>
                </a:solidFill>
                <a:latin typeface="Pretendard"/>
                <a:ea typeface="Pretendard"/>
                <a:cs typeface="Pretendard"/>
              </a:rPr>
              <a:t>요건이 성립하면 직접 송치</a:t>
            </a:r>
          </a:p>
        </p:txBody>
      </p:sp>
      <p:sp>
        <p:nvSpPr>
          <p:cNvPr id="15" name="law_detail_2">
            <a:extLst xmlns:a="http://schemas.openxmlformats.org/drawingml/2006/main">
              <a:ext uri="{FF2B5EF4-FFF2-40B4-BE49-F238E27FC236}">
                <a16:creationId xmlns:a16="http://schemas.microsoft.com/office/drawing/2014/main" id="{E5076A6A-DE93-4F03-BE5E-82E5B75462AF}"/>
              </a:ext>
            </a:extLst>
          </p:cNvPr>
          <p:cNvSpPr>
            <a:spLocks xmlns:a="http://schemas.openxmlformats.org/drawingml/2006/main" noGrp="1"/>
          </p:cNvSpPr>
          <p:nvPr/>
        </p:nvSpPr>
        <p:spPr>
          <a:xfrm xmlns:a="http://schemas.openxmlformats.org/drawingml/2006/main">
            <a:off x="8065008" y="3295650"/>
            <a:ext cx="3392424"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buNone/>
              <a:defRPr sz="1250" b="0">
                <a:solidFill>
                  <a:srgbClr val="464D5C"/>
                </a:solidFill>
                <a:latin typeface="Pretendard"/>
                <a:ea typeface="Pretendard"/>
                <a:cs typeface="Pretendard"/>
              </a:defRPr>
            </a:pPr>
            <a:r>
              <a:rPr sz="1250" b="0">
                <a:solidFill>
                  <a:srgbClr val="464D5C"/>
                </a:solidFill>
                <a:latin typeface="Pretendard"/>
                <a:ea typeface="Pretendard"/>
                <a:cs typeface="Pretendard"/>
              </a:rPr>
              <a:t>경찰서장의 송치 의무 · 제4조 제2항</a:t>
            </a:r>
          </a:p>
        </p:txBody>
      </p:sp>
      <p:sp>
        <p:nvSpPr>
          <p:cNvPr id="16" name="law_arrow1">
            <a:extLst xmlns:a="http://schemas.openxmlformats.org/drawingml/2006/main">
              <a:ext uri="{FF2B5EF4-FFF2-40B4-BE49-F238E27FC236}">
                <a16:creationId xmlns:a16="http://schemas.microsoft.com/office/drawing/2014/main" id="{79759602-FE88-43E5-B57C-FC3952DEEBCF}"/>
              </a:ext>
            </a:extLst>
          </p:cNvPr>
          <p:cNvSpPr>
            <a:spLocks xmlns:a="http://schemas.openxmlformats.org/drawingml/2006/main" noGrp="1"/>
          </p:cNvSpPr>
          <p:nvPr/>
        </p:nvSpPr>
        <p:spPr>
          <a:xfrm xmlns:a="http://schemas.openxmlformats.org/drawingml/2006/main">
            <a:off x="4164330" y="2933700"/>
            <a:ext cx="2190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18000"/>
              </a:lnSpc>
              <a:buNone/>
              <a:defRPr sz="1600" b="1">
                <a:solidFill>
                  <a:srgbClr val="C2A648"/>
                </a:solidFill>
                <a:latin typeface="Pretendard"/>
                <a:ea typeface="Pretendard"/>
                <a:cs typeface="Pretendard"/>
              </a:defRPr>
            </a:pPr>
            <a:r>
              <a:rPr sz="1600" b="1">
                <a:solidFill>
                  <a:srgbClr val="C2A648"/>
                </a:solidFill>
                <a:latin typeface="Pretendard"/>
                <a:ea typeface="Pretendard"/>
                <a:cs typeface="Pretendard"/>
              </a:rPr>
              <a:t>→</a:t>
            </a:r>
          </a:p>
        </p:txBody>
      </p:sp>
      <p:sp>
        <p:nvSpPr>
          <p:cNvPr id="17" name="law_arrow2">
            <a:extLst xmlns:a="http://schemas.openxmlformats.org/drawingml/2006/main">
              <a:ext uri="{FF2B5EF4-FFF2-40B4-BE49-F238E27FC236}">
                <a16:creationId xmlns:a16="http://schemas.microsoft.com/office/drawing/2014/main" id="{CF309D2D-D6F8-4F04-BC86-233DAE814B55}"/>
              </a:ext>
            </a:extLst>
          </p:cNvPr>
          <p:cNvSpPr>
            <a:spLocks xmlns:a="http://schemas.openxmlformats.org/drawingml/2006/main" noGrp="1"/>
          </p:cNvSpPr>
          <p:nvPr/>
        </p:nvSpPr>
        <p:spPr>
          <a:xfrm xmlns:a="http://schemas.openxmlformats.org/drawingml/2006/main">
            <a:off x="7831074" y="2933700"/>
            <a:ext cx="2190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18000"/>
              </a:lnSpc>
              <a:buNone/>
              <a:defRPr sz="1600" b="1">
                <a:solidFill>
                  <a:srgbClr val="C2A648"/>
                </a:solidFill>
                <a:latin typeface="Pretendard"/>
                <a:ea typeface="Pretendard"/>
                <a:cs typeface="Pretendard"/>
              </a:defRPr>
            </a:pPr>
            <a:r>
              <a:rPr sz="1600" b="1">
                <a:solidFill>
                  <a:srgbClr val="C2A648"/>
                </a:solidFill>
                <a:latin typeface="Pretendard"/>
                <a:ea typeface="Pretendard"/>
                <a:cs typeface="Pretendard"/>
              </a:rPr>
              <a:t>→</a:t>
            </a:r>
          </a:p>
        </p:txBody>
      </p:sp>
      <p:sp>
        <p:nvSpPr>
          <p:cNvPr id="18" name="policy_separator">
            <a:extLst xmlns:a="http://schemas.openxmlformats.org/drawingml/2006/main">
              <a:ext uri="{FF2B5EF4-FFF2-40B4-BE49-F238E27FC236}">
                <a16:creationId xmlns:a16="http://schemas.microsoft.com/office/drawing/2014/main" id="{F39BC2DD-5929-4616-9F1E-3386B60B00FF}"/>
              </a:ext>
            </a:extLst>
          </p:cNvPr>
          <p:cNvSpPr>
            <a:spLocks xmlns:a="http://schemas.openxmlformats.org/drawingml/2006/main" noGrp="1"/>
          </p:cNvSpPr>
          <p:nvPr/>
        </p:nvSpPr>
        <p:spPr>
          <a:xfrm xmlns:a="http://schemas.openxmlformats.org/drawingml/2006/main">
            <a:off x="731520" y="3848100"/>
            <a:ext cx="10726103" cy="9525"/>
          </a:xfrm>
          <a:prstGeom xmlns:a="http://schemas.openxmlformats.org/drawingml/2006/main" prst="rect">
            <a:avLst/>
          </a:prstGeom>
          <a:solidFill xmlns:a="http://schemas.openxmlformats.org/drawingml/2006/main">
            <a:srgbClr val="DCE0E8"/>
          </a:solidFill>
          <a:ln xmlns:a="http://schemas.openxmlformats.org/drawingml/2006/main" w="0">
            <a:noFill/>
          </a:ln>
        </p:spPr>
      </p:sp>
      <p:sp>
        <p:nvSpPr>
          <p:cNvPr id="19" name="policy_label">
            <a:extLst xmlns:a="http://schemas.openxmlformats.org/drawingml/2006/main">
              <a:ext uri="{FF2B5EF4-FFF2-40B4-BE49-F238E27FC236}">
                <a16:creationId xmlns:a16="http://schemas.microsoft.com/office/drawing/2014/main" id="{CD04B856-6F4A-4DD0-B71F-7E0C029BD219}"/>
              </a:ext>
            </a:extLst>
          </p:cNvPr>
          <p:cNvSpPr>
            <a:spLocks xmlns:a="http://schemas.openxmlformats.org/drawingml/2006/main" noGrp="1"/>
          </p:cNvSpPr>
          <p:nvPr/>
        </p:nvSpPr>
        <p:spPr>
          <a:xfrm xmlns:a="http://schemas.openxmlformats.org/drawingml/2006/main">
            <a:off x="731520" y="4057650"/>
            <a:ext cx="2095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buNone/>
              <a:defRPr sz="1300" b="1">
                <a:solidFill>
                  <a:srgbClr val="1E2761"/>
                </a:solidFill>
                <a:latin typeface="Pretendard"/>
                <a:ea typeface="Pretendard"/>
                <a:cs typeface="Pretendard"/>
              </a:defRPr>
            </a:pPr>
            <a:r>
              <a:rPr sz="1300" b="1">
                <a:solidFill>
                  <a:srgbClr val="1E2761"/>
                </a:solidFill>
                <a:latin typeface="Pretendard"/>
                <a:ea typeface="Pretendard"/>
                <a:cs typeface="Pretendard"/>
              </a:rPr>
              <a:t>정책·제도 판단</a:t>
            </a:r>
          </a:p>
        </p:txBody>
      </p:sp>
      <p:sp>
        <p:nvSpPr>
          <p:cNvPr id="20" name="policy_text">
            <a:extLst xmlns:a="http://schemas.openxmlformats.org/drawingml/2006/main">
              <a:ext uri="{FF2B5EF4-FFF2-40B4-BE49-F238E27FC236}">
                <a16:creationId xmlns:a16="http://schemas.microsoft.com/office/drawing/2014/main" id="{304A22C7-94AD-4AD0-989E-2FCB46E115AE}"/>
              </a:ext>
            </a:extLst>
          </p:cNvPr>
          <p:cNvSpPr>
            <a:spLocks xmlns:a="http://schemas.openxmlformats.org/drawingml/2006/main" noGrp="1"/>
          </p:cNvSpPr>
          <p:nvPr/>
        </p:nvSpPr>
        <p:spPr>
          <a:xfrm xmlns:a="http://schemas.openxmlformats.org/drawingml/2006/main">
            <a:off x="2990850" y="4057650"/>
            <a:ext cx="84677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5000"/>
              </a:lnSpc>
              <a:buNone/>
              <a:defRPr sz="1400" b="1">
                <a:solidFill>
                  <a:srgbClr val="222633"/>
                </a:solidFill>
                <a:latin typeface="Pretendard"/>
                <a:ea typeface="Pretendard"/>
                <a:cs typeface="Pretendard"/>
              </a:defRPr>
            </a:pPr>
            <a:r>
              <a:rPr sz="1400" b="1">
                <a:solidFill>
                  <a:srgbClr val="222633"/>
                </a:solidFill>
                <a:latin typeface="Pretendard"/>
                <a:ea typeface="Pretendard"/>
                <a:cs typeface="Pretendard"/>
              </a:rPr>
              <a:t>이 경로를 유지·축소·대체·보완할 것인가?</a:t>
            </a:r>
          </a:p>
          <a:p xmlns:a="http://schemas.openxmlformats.org/drawingml/2006/main">
            <a:pPr algn="l">
              <a:lnSpc>
                <a:spcPct val="125000"/>
              </a:lnSpc>
              <a:buNone/>
              <a:defRPr sz="1400" b="1">
                <a:solidFill>
                  <a:srgbClr val="222633"/>
                </a:solidFill>
                <a:latin typeface="Pretendard"/>
                <a:ea typeface="Pretendard"/>
                <a:cs typeface="Pretendard"/>
              </a:defRPr>
            </a:pPr>
            <a:r>
              <a:rPr sz="1400" b="1">
                <a:solidFill>
                  <a:srgbClr val="222633"/>
                </a:solidFill>
                <a:latin typeface="Pretendard"/>
                <a:ea typeface="Pretendard"/>
                <a:cs typeface="Pretendard"/>
              </a:rPr>
              <a:t>필요한 보호는 누가 제공하고, 자유 제한의 부담은 어떻게 줄일 것인가?</a:t>
            </a:r>
          </a:p>
        </p:txBody>
      </p:sp>
      <p:sp>
        <p:nvSpPr>
          <p:cNvPr id="21" name="recent_rule">
            <a:extLst xmlns:a="http://schemas.openxmlformats.org/drawingml/2006/main">
              <a:ext uri="{FF2B5EF4-FFF2-40B4-BE49-F238E27FC236}">
                <a16:creationId xmlns:a16="http://schemas.microsoft.com/office/drawing/2014/main" id="{BB0ABA5C-BDDB-429F-A67B-A7270D452397}"/>
              </a:ext>
            </a:extLst>
          </p:cNvPr>
          <p:cNvSpPr>
            <a:spLocks xmlns:a="http://schemas.openxmlformats.org/drawingml/2006/main" noGrp="1"/>
          </p:cNvSpPr>
          <p:nvPr/>
        </p:nvSpPr>
        <p:spPr>
          <a:xfrm xmlns:a="http://schemas.openxmlformats.org/drawingml/2006/main">
            <a:off x="731520" y="4914900"/>
            <a:ext cx="10726103" cy="9525"/>
          </a:xfrm>
          <a:prstGeom xmlns:a="http://schemas.openxmlformats.org/drawingml/2006/main" prst="rect">
            <a:avLst/>
          </a:prstGeom>
          <a:solidFill xmlns:a="http://schemas.openxmlformats.org/drawingml/2006/main">
            <a:srgbClr val="DCE0E8"/>
          </a:solidFill>
          <a:ln xmlns:a="http://schemas.openxmlformats.org/drawingml/2006/main" w="0">
            <a:noFill/>
          </a:ln>
        </p:spPr>
      </p:sp>
      <p:sp>
        <p:nvSpPr>
          <p:cNvPr id="22" name="recent_label">
            <a:extLst xmlns:a="http://schemas.openxmlformats.org/drawingml/2006/main">
              <a:ext uri="{FF2B5EF4-FFF2-40B4-BE49-F238E27FC236}">
                <a16:creationId xmlns:a16="http://schemas.microsoft.com/office/drawing/2014/main" id="{D8E2FB1F-F6C0-41C4-9A75-A35352A39EE6}"/>
              </a:ext>
            </a:extLst>
          </p:cNvPr>
          <p:cNvSpPr>
            <a:spLocks xmlns:a="http://schemas.openxmlformats.org/drawingml/2006/main" noGrp="1"/>
          </p:cNvSpPr>
          <p:nvPr/>
        </p:nvSpPr>
        <p:spPr>
          <a:xfrm xmlns:a="http://schemas.openxmlformats.org/drawingml/2006/main">
            <a:off x="731520" y="5143500"/>
            <a:ext cx="2133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buNone/>
              <a:defRPr sz="1250" b="1">
                <a:solidFill>
                  <a:srgbClr val="464D5C"/>
                </a:solidFill>
                <a:latin typeface="Pretendard"/>
                <a:ea typeface="Pretendard"/>
                <a:cs typeface="Pretendard"/>
              </a:defRPr>
            </a:pPr>
            <a:r>
              <a:rPr sz="1250" b="1">
                <a:solidFill>
                  <a:srgbClr val="464D5C"/>
                </a:solidFill>
                <a:latin typeface="Pretendard"/>
                <a:ea typeface="Pretendard"/>
                <a:cs typeface="Pretendard"/>
              </a:rPr>
              <a:t>2026.9.17. 간담회</a:t>
            </a:r>
          </a:p>
        </p:txBody>
      </p:sp>
      <p:sp>
        <p:nvSpPr>
          <p:cNvPr id="23" name="recent_detail">
            <a:extLst xmlns:a="http://schemas.openxmlformats.org/drawingml/2006/main">
              <a:ext uri="{FF2B5EF4-FFF2-40B4-BE49-F238E27FC236}">
                <a16:creationId xmlns:a16="http://schemas.microsoft.com/office/drawing/2014/main" id="{D5703F61-A529-498C-BA76-F2AC859BEC0C}"/>
              </a:ext>
            </a:extLst>
          </p:cNvPr>
          <p:cNvSpPr>
            <a:spLocks xmlns:a="http://schemas.openxmlformats.org/drawingml/2006/main" noGrp="1"/>
          </p:cNvSpPr>
          <p:nvPr/>
        </p:nvSpPr>
        <p:spPr>
          <a:xfrm xmlns:a="http://schemas.openxmlformats.org/drawingml/2006/main">
            <a:off x="2990850" y="5143500"/>
            <a:ext cx="84677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buNone/>
              <a:defRPr sz="1250" b="0">
                <a:solidFill>
                  <a:srgbClr val="464D5C"/>
                </a:solidFill>
                <a:latin typeface="Pretendard"/>
                <a:ea typeface="Pretendard"/>
                <a:cs typeface="Pretendard"/>
              </a:defRPr>
            </a:pPr>
            <a:r>
              <a:rPr sz="1250" b="0">
                <a:solidFill>
                  <a:srgbClr val="464D5C"/>
                </a:solidFill>
                <a:latin typeface="Pretendard"/>
                <a:ea typeface="Pretendard"/>
                <a:cs typeface="Pretendard"/>
              </a:rPr>
              <a:t>지원기관은 피해청소년 송치 문제를 제기했고, 경찰 측은 현장 실태와 대안 검토를 언급했다.</a:t>
            </a:r>
          </a:p>
        </p:txBody>
      </p:sp>
      <p:sp>
        <p:nvSpPr>
          <p:cNvPr id="24" name="question_band">
            <a:extLst xmlns:a="http://schemas.openxmlformats.org/drawingml/2006/main">
              <a:ext uri="{FF2B5EF4-FFF2-40B4-BE49-F238E27FC236}">
                <a16:creationId xmlns:a16="http://schemas.microsoft.com/office/drawing/2014/main" id="{30C664F0-E477-4BC9-B001-57A441A52443}"/>
              </a:ext>
            </a:extLst>
          </p:cNvPr>
          <p:cNvSpPr>
            <a:spLocks xmlns:a="http://schemas.openxmlformats.org/drawingml/2006/main" noGrp="1"/>
          </p:cNvSpPr>
          <p:nvPr/>
        </p:nvSpPr>
        <p:spPr>
          <a:xfrm xmlns:a="http://schemas.openxmlformats.org/drawingml/2006/main">
            <a:off x="1124712" y="5751576"/>
            <a:ext cx="9912096" cy="457200"/>
          </a:xfrm>
          <a:prstGeom xmlns:a="http://schemas.openxmlformats.org/drawingml/2006/main" prst="rect">
            <a:avLst/>
          </a:prstGeom>
          <a:solidFill xmlns:a="http://schemas.openxmlformats.org/drawingml/2006/main">
            <a:srgbClr val="1E2761"/>
          </a:solidFill>
          <a:ln xmlns:a="http://schemas.openxmlformats.org/drawingml/2006/main" w="0">
            <a:noFill/>
          </a:ln>
        </p:spPr>
      </p:sp>
      <p:sp>
        <p:nvSpPr>
          <p:cNvPr id="25" name="question">
            <a:extLst xmlns:a="http://schemas.openxmlformats.org/drawingml/2006/main">
              <a:ext uri="{FF2B5EF4-FFF2-40B4-BE49-F238E27FC236}">
                <a16:creationId xmlns:a16="http://schemas.microsoft.com/office/drawing/2014/main" id="{1859619A-933C-422F-B4CB-377C306675F9}"/>
              </a:ext>
            </a:extLst>
          </p:cNvPr>
          <p:cNvSpPr>
            <a:spLocks xmlns:a="http://schemas.openxmlformats.org/drawingml/2006/main" noGrp="1"/>
          </p:cNvSpPr>
          <p:nvPr/>
        </p:nvSpPr>
        <p:spPr>
          <a:xfrm xmlns:a="http://schemas.openxmlformats.org/drawingml/2006/main">
            <a:off x="1314450" y="5862638"/>
            <a:ext cx="9534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18000"/>
              </a:lnSpc>
              <a:buNone/>
              <a:defRPr sz="1250" b="1">
                <a:solidFill>
                  <a:srgbClr val="FFFFFF"/>
                </a:solidFill>
                <a:latin typeface="Pretendard"/>
                <a:ea typeface="Pretendard"/>
                <a:cs typeface="Pretendard"/>
              </a:defRPr>
            </a:pPr>
            <a:r>
              <a:rPr sz="1250" b="1">
                <a:solidFill>
                  <a:srgbClr val="FFFFFF"/>
                </a:solidFill>
                <a:latin typeface="Pretendard"/>
                <a:ea typeface="Pretendard"/>
                <a:cs typeface="Pretendard"/>
              </a:rPr>
              <a:t>우범소년 송치의 법정요건이 충족되는가, 그리고 그 경로를 유지할 이유는 무엇인가?</a:t>
            </a:r>
          </a:p>
        </p:txBody>
      </p:sp>
    </p:spTree>
    <p:extLst>
      <p:ext uri="{BB962C8B-B14F-4D97-AF65-F5344CB8AC3E}">
        <p14:creationId xmlns:p14="http://schemas.microsoft.com/office/powerpoint/2010/main" val="105144510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2026-09-22T16:48:33.9240000Z</dcterms:created>
  <dcterms:modified xsi:type="dcterms:W3CDTF">2026-09-22T16:48:33.9250000Z</dcterms:modified>
</coreProperties>
</file>