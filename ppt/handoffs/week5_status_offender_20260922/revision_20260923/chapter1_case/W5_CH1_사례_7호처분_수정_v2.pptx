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7ac2898de64978" /><Relationship Type="http://schemas.openxmlformats.org/officeDocument/2006/relationships/extended-properties" Target="/docProps/app.xml" Id="R4ce8ad1efb2b4102" /><Relationship Type="http://schemas.openxmlformats.org/officeDocument/2006/relationships/officeDocument" Target="/ppt/presentation.xml" Id="Raa7ddd2b0799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7e11f30884083"/>
  </p:sldMasterIdLst>
  <p:notesMasterIdLst>
    <p:notesMasterId xmlns:r="http://schemas.openxmlformats.org/officeDocument/2006/relationships" r:id="Rb7f0ff7b9f8649a4"/>
  </p:notesMasterIdLst>
  <p:sldIdLst>
    <p:sldId xmlns:r="http://schemas.openxmlformats.org/officeDocument/2006/relationships" id="256" r:id="Rafbcf85afc34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2ccc5293e84f37" /><Relationship Type="http://schemas.openxmlformats.org/officeDocument/2006/relationships/slideMaster" Target="/ppt/slideMasters/slideMaster1.xml" Id="R3e67e11f30884083" /><Relationship Type="http://schemas.openxmlformats.org/officeDocument/2006/relationships/notesMaster" Target="/ppt/notesMasters/notesMaster1.xml" Id="Rb7f0ff7b9f8649a4" /><Relationship Type="http://schemas.openxmlformats.org/officeDocument/2006/relationships/presProps" Target="/ppt/presProps.xml" Id="Ra58fda21ce7d4f54" /><Relationship Type="http://schemas.openxmlformats.org/officeDocument/2006/relationships/tableStyles" Target="/ppt/tableStyles.xml" Id="R7c9e39d749a446e7" /><Relationship Type="http://schemas.openxmlformats.org/officeDocument/2006/relationships/slide" Target="/ppt/slides/slide1.xml" Id="Rafbcf85afc34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72965a4014f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d18aad0aa4ef2" /><Relationship Type="http://schemas.openxmlformats.org/officeDocument/2006/relationships/notesMaster" Target="/ppt/notesMasters/notesMaster1.xml" Id="R048f02398950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t>강정은, 「아동의 권리에 비추어 본 우범소년 개정방향」, 『우범소년 규정 폐지 필요성 토론회』(2021.3.9), 인쇄면 18쪽. 두루 자료 게시 페이지: https://duroo.org/data/?bmode=view&amp;idx=128595217</a:t>
            </a:r>
          </a:p>
          <a:p xmlns:a="http://schemas.openxmlformats.org/drawingml/2006/main">
            <a:pPr>
              <a:lnSpc>
                <a:spcPct val="125000"/>
              </a:lnSpc>
            </a:pPr>
            <a:r>
              <a:t>발제자가 직접 수행한 B 사건의 보고이다. 법원 결정문이나 사건번호가 공개된 판례로 소개하지 않는다.</a:t>
            </a:r>
          </a:p>
          <a:p xmlns:a="http://schemas.openxmlformats.org/drawingml/2006/main">
            <a:pPr>
              <a:lnSpc>
                <a:spcPct val="125000"/>
              </a:lnSpc>
            </a:pPr>
            <a:r>
              <a:t>보고에 따르면 부모가 B를 보호하기 어렵고 시설처분을 원하고 있으며 B에게 치료가 필요하다는 이유 등이 고려되어 7호 처분을 받았다. 이 설명은 해당 보고가 제시한 처분 사정이다. B의 진단명, 의료진 의견, 특정 시설 및 다른 대안 대신 7호를 선택한 법원의 상세 판단은 자료에서 확인되지 않는다. 원문 괄호의 '치료감호'를 현행 7호 처분의 정식 명칭으로 사용하지 않는다.</a:t>
            </a:r>
          </a:p>
          <a:p xmlns:a="http://schemas.openxmlformats.org/drawingml/2006/main">
            <a:pPr>
              <a:lnSpc>
                <a:spcPct val="125000"/>
              </a:lnSpc>
            </a:pPr>
            <a:r>
              <a:t>현행 소년법 제32조 제1항 제7호: 병원, 요양소 또는 「보호소년 등의 처우에 관한 법률」에 따른 의료재활소년원에 위탁하는 처분.</a:t>
            </a:r>
          </a:p>
          <a:p xmlns:a="http://schemas.openxmlformats.org/drawingml/2006/main">
            <a:pPr>
              <a:lnSpc>
                <a:spcPct val="125000"/>
              </a:lnSpc>
            </a:pPr>
            <a:r>
              <a:t>제32조 공식 확인 링크: https://law.go.kr/lsLinkCommonInfo.do?chrClsCd=010202&amp;lsJoLnkSeq=1014134273</a:t>
            </a:r>
          </a:p>
          <a:p xmlns:a="http://schemas.openxmlformats.org/drawingml/2006/main">
            <a:pPr>
              <a:lnSpc>
                <a:spcPct val="125000"/>
              </a:lnSpc>
            </a:pPr>
            <a:r>
              <a:t>설명: 송치 경위와 보호처분 선택의 사정을 순서대로 설명한다. 부모의 시설 요청 자체가 송치 법정요건을 대신하는 것으로 설명하지 않는다. 다음 장에서 성착취 피해 위험과 소년 자신의 장래 범법 우려를 구별한다.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</a:pP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4a8a6effa45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40ce0e62ff4cac" /><Relationship Type="http://schemas.openxmlformats.org/officeDocument/2006/relationships/slideLayout" Target="/ppt/slideLayouts/slideLayout1.xml" Id="R557d7260e0f5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d7260e0f5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a1f05b10e4e0d" /><Relationship Type="http://schemas.openxmlformats.org/officeDocument/2006/relationships/notesSlide" Target="/ppt/notesSlides/notesSlide1.xml" Id="R4e871bd6e4ab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apter">
            <a:extLst xmlns:a="http://schemas.openxmlformats.org/drawingml/2006/main">
              <a:ext uri="{FF2B5EF4-FFF2-40B4-BE49-F238E27FC236}">
                <a16:creationId xmlns:a16="http://schemas.microsoft.com/office/drawing/2014/main" id="{DB536E3A-EE17-44F4-8012-99547610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defRPr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1. 논제의 대상과 현행 우범소년 제도</a:t>
            </a:r>
          </a:p>
        </p:txBody>
      </p:sp>
      <p:sp>
        <p:nvSpPr>
          <p:cNvPr id="2" name="next">
            <a:extLst xmlns:a="http://schemas.openxmlformats.org/drawingml/2006/main">
              <a:ext uri="{FF2B5EF4-FFF2-40B4-BE49-F238E27FC236}">
                <a16:creationId xmlns:a16="http://schemas.microsoft.com/office/drawing/2014/main" id="{23B78E4F-05EF-4C21-94EB-0C563D0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8"/>
            <a:ext cx="526351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성착취 피해 위험과 장래 범법 우려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AC94E5-4126-4DF2-ACFB-7C52471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62000"/>
            <a:ext cx="10726103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성범죄 연루 우려가 제시된 송치 사례</a:t>
            </a:r>
          </a:p>
        </p:txBody>
      </p:sp>
      <p:sp>
        <p:nvSpPr>
          <p:cNvPr id="4" name="header_rule">
            <a:extLst xmlns:a="http://schemas.openxmlformats.org/drawingml/2006/main">
              <a:ext uri="{FF2B5EF4-FFF2-40B4-BE49-F238E27FC236}">
                <a16:creationId xmlns:a16="http://schemas.microsoft.com/office/drawing/2014/main" id="{2A9B5684-75DB-4603-B423-5156EEFA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6840"/>
            <a:ext cx="10726103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noFill/>
          </a:ln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3DD4AE20-923C-41FD-89CC-706F5592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81150"/>
            <a:ext cx="10726103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담당 변호사의 보고에는 가정폭력 환경에서 가출한 청소년의 송치 경위와 7호 처분에 고려된 사정이 제시되어 있다.</a:t>
            </a:r>
          </a:p>
        </p:txBody>
      </p:sp>
      <p:sp>
        <p:nvSpPr>
          <p:cNvPr id="6" name="column_rule_0">
            <a:extLst xmlns:a="http://schemas.openxmlformats.org/drawingml/2006/main">
              <a:ext uri="{FF2B5EF4-FFF2-40B4-BE49-F238E27FC236}">
                <a16:creationId xmlns:a16="http://schemas.microsoft.com/office/drawing/2014/main" id="{5CE229E9-B3C3-41F8-994B-861A04A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1288"/>
            <a:ext cx="339242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99"/>
          </a:solidFill>
          <a:ln xmlns:a="http://schemas.openxmlformats.org/drawingml/2006/main" w="0">
            <a:noFill/>
          </a:ln>
        </p:spPr>
      </p:sp>
      <p:sp>
        <p:nvSpPr>
          <p:cNvPr id="7" name="column_header_0">
            <a:extLst xmlns:a="http://schemas.openxmlformats.org/drawingml/2006/main">
              <a:ext uri="{FF2B5EF4-FFF2-40B4-BE49-F238E27FC236}">
                <a16:creationId xmlns:a16="http://schemas.microsoft.com/office/drawing/2014/main" id="{36C25290-9F62-49E5-B446-4F130EC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7500"/>
            <a:ext cx="3392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① 가출의 배경</a:t>
            </a:r>
          </a:p>
        </p:txBody>
      </p:sp>
      <p:sp>
        <p:nvSpPr>
          <p:cNvPr id="8" name="column_body_0">
            <a:extLst xmlns:a="http://schemas.openxmlformats.org/drawingml/2006/main">
              <a:ext uri="{FF2B5EF4-FFF2-40B4-BE49-F238E27FC236}">
                <a16:creationId xmlns:a16="http://schemas.microsoft.com/office/drawing/2014/main" id="{B2B6325B-EBF2-465C-8D8D-DDDF3076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76600"/>
            <a:ext cx="3392424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B는 </a:t>
            </a: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부모의 다툼을 피해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초등학교 때 처음 가출했다.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가정폭력 위험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으로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아동보호전문기관과 구청의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사례관리를 받고 있었다.</a:t>
            </a:r>
          </a:p>
        </p:txBody>
      </p:sp>
      <p:sp>
        <p:nvSpPr>
          <p:cNvPr id="9" name="column_rule_1">
            <a:extLst xmlns:a="http://schemas.openxmlformats.org/drawingml/2006/main">
              <a:ext uri="{FF2B5EF4-FFF2-40B4-BE49-F238E27FC236}">
                <a16:creationId xmlns:a16="http://schemas.microsoft.com/office/drawing/2014/main" id="{C1097319-4298-4275-B942-2E409F24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681288"/>
            <a:ext cx="339242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99"/>
          </a:solidFill>
          <a:ln xmlns:a="http://schemas.openxmlformats.org/drawingml/2006/main" w="0">
            <a:noFill/>
          </a:ln>
        </p:spPr>
      </p:sp>
      <p:sp>
        <p:nvSpPr>
          <p:cNvPr id="10" name="column_header_1">
            <a:extLst xmlns:a="http://schemas.openxmlformats.org/drawingml/2006/main">
              <a:ext uri="{FF2B5EF4-FFF2-40B4-BE49-F238E27FC236}">
                <a16:creationId xmlns:a16="http://schemas.microsoft.com/office/drawing/2014/main" id="{7D81F604-EBEF-4DD5-9A72-600C611D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857500"/>
            <a:ext cx="3392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② 송치에 이른 과정</a:t>
            </a:r>
          </a:p>
        </p:txBody>
      </p:sp>
      <p:sp>
        <p:nvSpPr>
          <p:cNvPr id="11" name="column_body_1">
            <a:extLst xmlns:a="http://schemas.openxmlformats.org/drawingml/2006/main">
              <a:ext uri="{FF2B5EF4-FFF2-40B4-BE49-F238E27FC236}">
                <a16:creationId xmlns:a16="http://schemas.microsoft.com/office/drawing/2014/main" id="{98807004-FABC-4859-9A27-AA932830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3276600"/>
            <a:ext cx="3392424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아버지의 신고 후 경찰서장이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소년부로 송치했다.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가출, </a:t>
            </a: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 동의 없는 소액결제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성인 남성과의 접촉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등이 제시됐고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‘성범죄 연루 우려’가 거론됐다.</a:t>
            </a:r>
          </a:p>
        </p:txBody>
      </p:sp>
      <p:sp>
        <p:nvSpPr>
          <p:cNvPr id="12" name="column_rule_2">
            <a:extLst xmlns:a="http://schemas.openxmlformats.org/drawingml/2006/main">
              <a:ext uri="{FF2B5EF4-FFF2-40B4-BE49-F238E27FC236}">
                <a16:creationId xmlns:a16="http://schemas.microsoft.com/office/drawing/2014/main" id="{41051FEA-DD17-40C8-8733-B96F202F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681288"/>
            <a:ext cx="339242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99"/>
          </a:solidFill>
          <a:ln xmlns:a="http://schemas.openxmlformats.org/drawingml/2006/main" w="0">
            <a:noFill/>
          </a:ln>
        </p:spPr>
      </p:sp>
      <p:sp>
        <p:nvSpPr>
          <p:cNvPr id="13" name="column_header_2">
            <a:extLst xmlns:a="http://schemas.openxmlformats.org/drawingml/2006/main">
              <a:ext uri="{FF2B5EF4-FFF2-40B4-BE49-F238E27FC236}">
                <a16:creationId xmlns:a16="http://schemas.microsoft.com/office/drawing/2014/main" id="{11D24529-AA1E-4A3B-8164-748DFB1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857500"/>
            <a:ext cx="3392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③ 처리 결과</a:t>
            </a:r>
          </a:p>
        </p:txBody>
      </p:sp>
      <p:sp>
        <p:nvSpPr>
          <p:cNvPr id="14" name="column_body_2">
            <a:extLst xmlns:a="http://schemas.openxmlformats.org/drawingml/2006/main">
              <a:ext uri="{FF2B5EF4-FFF2-40B4-BE49-F238E27FC236}">
                <a16:creationId xmlns:a16="http://schemas.microsoft.com/office/drawing/2014/main" id="{2359384F-C3AE-4135-955A-D846F37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276600"/>
            <a:ext cx="3392424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부모가 B를 보호하기 어렵다는 점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부모의 시설처분 요청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B의 치료 필요성</a:t>
            </a: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등이 고려되었다.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분류심사원 위탁을 거쳐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7호 보호처분을 받았다고 보고됐다.</a:t>
            </a:r>
          </a:p>
        </p:txBody>
      </p:sp>
      <p:sp>
        <p:nvSpPr>
          <p:cNvPr id="15" name="arrow_1">
            <a:extLst xmlns:a="http://schemas.openxmlformats.org/drawingml/2006/main">
              <a:ext uri="{FF2B5EF4-FFF2-40B4-BE49-F238E27FC236}">
                <a16:creationId xmlns:a16="http://schemas.microsoft.com/office/drawing/2014/main" id="{DAFE4290-053E-47D5-BF29-AAE6149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3848100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>
                <a:solidFill>
                  <a:srgbClr val="C2A648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" name="arrow_2">
            <a:extLst xmlns:a="http://schemas.openxmlformats.org/drawingml/2006/main">
              <a:ext uri="{FF2B5EF4-FFF2-40B4-BE49-F238E27FC236}">
                <a16:creationId xmlns:a16="http://schemas.microsoft.com/office/drawing/2014/main" id="{3ADA5696-4509-42AA-A632-355BD0E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074" y="3848100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>
                <a:solidFill>
                  <a:srgbClr val="C2A648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definition_rule">
            <a:extLst xmlns:a="http://schemas.openxmlformats.org/drawingml/2006/main">
              <a:ext uri="{FF2B5EF4-FFF2-40B4-BE49-F238E27FC236}">
                <a16:creationId xmlns:a16="http://schemas.microsoft.com/office/drawing/2014/main" id="{0DF041AA-7A8F-4BDD-99DD-29BA22E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6825"/>
            <a:ext cx="107261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8"/>
          </a:solidFill>
          <a:ln xmlns:a="http://schemas.openxmlformats.org/drawingml/2006/main" w="0">
            <a:noFill/>
          </a:ln>
        </p:spPr>
      </p:sp>
      <p:sp>
        <p:nvSpPr>
          <p:cNvPr id="18" name="definition_label">
            <a:extLst xmlns:a="http://schemas.openxmlformats.org/drawingml/2006/main">
              <a:ext uri="{FF2B5EF4-FFF2-40B4-BE49-F238E27FC236}">
                <a16:creationId xmlns:a16="http://schemas.microsoft.com/office/drawing/2014/main" id="{04ACB074-1B34-4651-A8EA-87BC39AE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197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defRPr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현행 7호 처분</a:t>
            </a:r>
          </a:p>
        </p:txBody>
      </p:sp>
      <p:sp>
        <p:nvSpPr>
          <p:cNvPr id="19" name="definition">
            <a:extLst xmlns:a="http://schemas.openxmlformats.org/drawingml/2006/main">
              <a:ext uri="{FF2B5EF4-FFF2-40B4-BE49-F238E27FC236}">
                <a16:creationId xmlns:a16="http://schemas.microsoft.com/office/drawing/2014/main" id="{5518DFCE-5381-413B-A9D9-757DBD9D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19700"/>
            <a:ext cx="935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defRPr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병원·요양소 또는 의료재활소년원에 위탁(소년법 제32조 제1항 제7호)</a:t>
            </a:r>
          </a:p>
        </p:txBody>
      </p:sp>
      <p:sp>
        <p:nvSpPr>
          <p:cNvPr id="20" name="question_band">
            <a:extLst xmlns:a="http://schemas.openxmlformats.org/drawingml/2006/main">
              <a:ext uri="{FF2B5EF4-FFF2-40B4-BE49-F238E27FC236}">
                <a16:creationId xmlns:a16="http://schemas.microsoft.com/office/drawing/2014/main" id="{A80DAA82-CE03-472A-A8C9-005EF1A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5751576"/>
            <a:ext cx="99120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noFill/>
          </a:ln>
        </p:spPr>
      </p:sp>
      <p:sp>
        <p:nvSpPr>
          <p:cNvPr id="21" name="question">
            <a:extLst xmlns:a="http://schemas.openxmlformats.org/drawingml/2006/main">
              <a:ext uri="{FF2B5EF4-FFF2-40B4-BE49-F238E27FC236}">
                <a16:creationId xmlns:a16="http://schemas.microsoft.com/office/drawing/2014/main" id="{9BD6B642-BF15-4299-B2BE-661C118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62638"/>
            <a:ext cx="953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사례에서 소년부 송치와 치료를 위한 위탁은 각각 어떤 사정을 근거로 이루어졌는가?</a:t>
            </a:r>
          </a:p>
        </p:txBody>
      </p:sp>
    </p:spTree>
    <p:extLst>
      <p:ext uri="{BB962C8B-B14F-4D97-AF65-F5344CB8AC3E}">
        <p14:creationId xmlns:p14="http://schemas.microsoft.com/office/powerpoint/2010/main" val="220324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2026-09-22T15:48:05.0790000Z</dcterms:created>
  <dcterms:modified xsi:type="dcterms:W3CDTF">2026-09-22T15:48:05.0790000Z</dcterms:modified>
</coreProperties>
</file>