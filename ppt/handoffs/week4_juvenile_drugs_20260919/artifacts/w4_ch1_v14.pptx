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74" r:id="rId4"/>
    <p:sldId id="275" r:id="rId5"/>
    <p:sldId id="260" r:id="rId6"/>
    <p:sldId id="261" r:id="rId7"/>
    <p:sldId id="281" r:id="rId8"/>
    <p:sldId id="282" r:id="rId9"/>
    <p:sldId id="273" r:id="rId10"/>
    <p:sldId id="272" r:id="rId11"/>
    <p:sldId id="277" r:id="rId12"/>
    <p:sldId id="278" r:id="rId13"/>
    <p:sldId id="283" r:id="rId14"/>
    <p:sldId id="279" r:id="rId15"/>
    <p:sldId id="280" r:id="rId16"/>
    <p:sldId id="285" r:id="rId17"/>
    <p:sldId id="286" r:id="rId18"/>
    <p:sldId id="287" r:id="rId19"/>
    <p:sldId id="288" r:id="rId20"/>
    <p:sldId id="289" r:id="rId21"/>
    <p:sldId id="291" r:id="rId22"/>
    <p:sldId id="293" r:id="rId23"/>
    <p:sldId id="259" r:id="rId24"/>
    <p:sldId id="294" r:id="rId25"/>
    <p:sldId id="295" r:id="rId26"/>
    <p:sldId id="296" r:id="rId27"/>
    <p:sldId id="262" r:id="rId28"/>
    <p:sldId id="297" r:id="rId29"/>
    <p:sldId id="258" r:id="rId30"/>
    <p:sldId id="264" r:id="rId31"/>
    <p:sldId id="265" r:id="rId32"/>
    <p:sldId id="266" r:id="rId33"/>
    <p:sldId id="298" r:id="rId34"/>
    <p:sldId id="267" r:id="rId35"/>
    <p:sldId id="268" r:id="rId36"/>
    <p:sldId id="299" r:id="rId37"/>
    <p:sldId id="300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4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[제작 메모] 연령 축 도식. 두 조문을 같은 축 위에 놓아 형사미성년자(나이만)와 촉법소년(나이+행위)이 다른 기준임을 보인다. 13세는 하향안의 새 적용 대상으로만 표시한다.</a:t>
            </a:r>
          </a:p>
          <a:p>
            <a:r>
              <a:rPr lang="ko-KR" sz="1100" dirty="0"/>
              <a:t>[자료] 형법 제9조 · 소년법 제2조·제4조 제1항</a:t>
            </a:r>
          </a:p>
          <a:p>
            <a:r>
              <a:rPr lang="ko-KR" sz="1100" dirty="0"/>
              <a:t>[대본] v27 대본 재작성 대상 — 화면 문구는 이 장에 수록되어 있다.</a:t>
            </a:r>
          </a:p>
        </p:txBody>
      </p:sp>
    </p:spTree>
    <p:extLst>
      <p:ext uri="{BB962C8B-B14F-4D97-AF65-F5344CB8AC3E}">
        <p14:creationId xmlns:p14="http://schemas.microsoft.com/office/powerpoint/2010/main" val="4024596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100" dirty="0"/>
              <a:t>[제작 메모] 밝은 바탕의 3개 연령 행으로 도식을 다시 그린다. 화살표와 글자는 남색으로 충분한 대비를 확보한다. 검찰 노드는 범죄소년 행에만 둔다. 마지막 단락은 금색 보충문으로 본문 안에 둔다.</a:t>
            </a:r>
          </a:p>
          <a:p>
            <a:r>
              <a:rPr lang="ko-KR" sz="1100" dirty="0"/>
              <a:t>[제작 메모] 기존 검토반영 대본 P05의 설명을 사용한다. 핵심 설명과 한정은 이 장의 화면 문구에도 포함했다.</a:t>
            </a:r>
          </a:p>
          <a:p>
            <a:r>
              <a:rPr lang="ko-KR" sz="1100" dirty="0"/>
              <a:t>[제작 메모] [삭제한 장에서 옮김] 기소 후에도 형사법원은 보호처분이 적절하다고 보아 소년부로 송치할 수 있다. 도식의 소년부 송치 화살표에서 짚는다.</a:t>
            </a:r>
          </a:p>
          <a:p>
            <a:r>
              <a:rPr lang="ko-KR" sz="1100" dirty="0"/>
              <a:t>[자료] 소년법 제4조·제49조·제50조 · 대표 경로이며, 보호자 등의 통고·10세 미만의 아동보호는 별도 요건에 따른다</a:t>
            </a:r>
          </a:p>
          <a:p>
            <a:r>
              <a:rPr lang="ko-KR" sz="1100" dirty="0"/>
              <a:t>원출처 1 · www.law.go.kr</a:t>
            </a:r>
          </a:p>
          <a:p>
            <a:r>
              <a:rPr lang="ko-KR" sz="1100" dirty="0"/>
              <a:t>원출처 2 · www.law.go.kr</a:t>
            </a:r>
          </a:p>
          <a:p>
            <a:r>
              <a:rPr lang="ko-KR" sz="1100" dirty="0"/>
              <a:t>원출처 3 · www.law.go.kr</a:t>
            </a:r>
          </a:p>
          <a:p>
            <a:r>
              <a:rPr lang="ko-KR" sz="1100" dirty="0"/>
              <a:t>[대본] v27 대본 재작성 대상 — 화면 문구는 이 장에 수록되어 있다.</a:t>
            </a:r>
          </a:p>
        </p:txBody>
      </p:sp>
    </p:spTree>
    <p:extLst>
      <p:ext uri="{BB962C8B-B14F-4D97-AF65-F5344CB8AC3E}">
        <p14:creationId xmlns:p14="http://schemas.microsoft.com/office/powerpoint/2010/main" val="635567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53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29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29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19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956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8745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AFB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범죄 · 공공안전세미나 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97280" y="23774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마약류를 투약·사용한 청소년에게는</a:t>
            </a:r>
            <a:endParaRPr lang="en-US" sz="31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형사처벌보다 치료·재활을 우선하여야 하는가?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97280" y="4096512"/>
            <a:ext cx="1463040" cy="41148"/>
          </a:xfrm>
          <a:prstGeom prst="rect">
            <a:avLst/>
          </a:prstGeom>
          <a:solidFill>
            <a:srgbClr val="C2A648"/>
          </a:solidFill>
          <a:ln w="12700">
            <a:solidFill>
              <a:srgbClr val="C2A6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지정토론 — 책임과 회복의 순서를 어떻게 설계할 것인가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2026학년도 2학기  ·  4주차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4 · 지정토론(1)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논제의 범위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볼 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57800" y="1572768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논제 · 마약류 · 위법한 사용 · 연령 · 처리경로 · 현재의 치료·재활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231136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230428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마약류의 실태와 사용 맥락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57800" y="2304288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사건 · 단속 추이 · 약물 · 사용 이유 · 또래와 온라인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962656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303580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57800" y="3035808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재사용 · 재범 · 일반예방 · 치료프로그램 연구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694176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376732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청소년의 특성과 처우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57800" y="3767328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발달 · 또래 영향 · 자기통제 · 회복 가능성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425696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449884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치료·재활 우선의 조건과 한계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57800" y="4498848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선정 · 법적 감독 · 인프라 · 권리 보장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5157216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1520" y="523036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논거와 최종 판단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57800" y="5230368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논거 · 적용범위 · 쟁점 · 최종 판단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마약류의 뜻과 종류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논제의 범위 — 청소년의 위법한 투약·사용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논제는 마약류를 위법하게 투약·사용한 청소년에게 형사처벌보다 치료·재활을 우선할 것인지를 묻는다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56816"/>
            <a:ext cx="33588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9264" y="2139696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" y="2542032"/>
            <a:ext cx="2883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소년법상 소년은 19세 미만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논의의 중심은 형사책임이 가능한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14~18세 범죄소년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1312" y="1956816"/>
            <a:ext cx="33588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39056" y="2139696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9056" y="2542032"/>
            <a:ext cx="2883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마약류의 위법한 투약·사용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적법한 의료적 사용은 구분한다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1104" y="1956816"/>
            <a:ext cx="33588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08848" y="2139696"/>
            <a:ext cx="288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8848" y="2542032"/>
            <a:ext cx="2883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 중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어느 시점에 우선할 것인가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행위가 함께 있는 경우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43400" y="3749040"/>
            <a:ext cx="7086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· 운반 · 제공 등이 함께 있으면 그 행위에 대한 책임도 별도로 살핀다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5171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치료가 필요한지와 형벌로 책임을 물을 수 있는지는 서로 다른 판단이다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480974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필요성은 어떤 도움과 개입이 필요한지를, 형사책임은 위법행위에 대해 형벌로 책임을 물을 수 있는지를 묻는다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5212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치료가 필요하다고 해서 형사책임이 없어지는 것은 아니며, 형사책임을 물을 수 있다고 해서 치료가 불필요한 것도 아니다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14~18세는 형사책임이 가능하지만 사건에 따라 소년부 보호처분 · 검찰 처분 · 형사재판 등 처리경로가 달라진다  ·  마약류관리법 제2~5조 · 형법 제9조 · 소년법 제2·4조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의료용 사용과 위법한 투약·사용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마약류의 뜻과 종류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법률상 마약류는 마약 · 향정신성의약품 · 대마를 함께 부르는 말이다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10698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9385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마약류관리법 제2조 제1호   </a:t>
            </a:r>
            <a:r>
              <a:rPr lang="en-US" sz="1250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“마약류”란 마약·향정신성의약품 및 대마를 말한다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578608"/>
            <a:ext cx="2103120" cy="402336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834640" y="2578608"/>
            <a:ext cx="2862072" cy="402336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889504" y="2578608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96712" y="2578608"/>
            <a:ext cx="2862072" cy="402336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751576" y="2578608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향정신성의약품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558784" y="2578608"/>
            <a:ext cx="2871216" cy="402336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613648" y="2578608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대마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2980944"/>
            <a:ext cx="2103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59536" y="2980944"/>
            <a:ext cx="18470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법에서 어떻게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정하나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34640" y="2980944"/>
            <a:ext cx="286207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962656" y="2980944"/>
            <a:ext cx="2606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양귀비 · 아편 · 코카 잎과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추출물 · 합성품 등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법이 열거한 물질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96712" y="2980944"/>
            <a:ext cx="286207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824728" y="2980944"/>
            <a:ext cx="2606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중추신경계 작용에 더해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오남용 위험 · 의존성 · 의료용 여부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등을 기준으로 지정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58784" y="2980944"/>
            <a:ext cx="2871216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686800" y="2980944"/>
            <a:ext cx="2615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대마초 · 수지와 이를 원료로 한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및 법령이 정한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물질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858768"/>
            <a:ext cx="2103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59536" y="3858768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예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834640" y="3858768"/>
            <a:ext cx="286207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962656" y="385876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모르핀 · 코카인 · 펜타닐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96712" y="3858768"/>
            <a:ext cx="286207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824728" y="385876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메트암페타민(필로폰)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졸피뎀 · 프로포폴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58784" y="3858768"/>
            <a:ext cx="287121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686800" y="3858768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대마초 · 대마수지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462272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59536" y="4462272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834640" y="4462272"/>
            <a:ext cx="28620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962656" y="446227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의료용으로 사용되는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물질도 포함된다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96712" y="4462272"/>
            <a:ext cx="28620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824728" y="446227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가~라목은 오남용 위험 · 의료용 사용 ·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등으로 구분하고, 마목은 이를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함유한 혼합물질 · 혼합제제를 포함한다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58784" y="4462272"/>
            <a:ext cx="28712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686800" y="4462272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식물 · 수지 및 관련 제품을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별도의 법적 범주로 관리한다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53035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마약과 대마도 중추신경계에 작용할 수 있다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31520" y="5724144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005840" y="572414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범주는 약리작용을 배타적으로 나눈 것이 아니라 「마약류관리법」이 정한 법적 분류입니다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투약·사용의 주요 처벌규정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의료용 사용과 위법한 투약·사용은 어떻게 구분되는가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575736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575736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위법성은 법이 허용한 목적 · 절차 · 사용범위를 함께 보아 판단한다</a:t>
            </a:r>
            <a:r>
              <a:rPr lang="en-US" sz="12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— 마약류에 해당하는 물질을 사용했다는 사실만으로 곧바로 정해지지 않는다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179240"/>
            <a:ext cx="51663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24128" y="2325544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법이 허용한 사용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24128" y="2709592"/>
            <a:ext cx="4581144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24128" y="2819320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의료인에게 법에 따라 투약받는 경우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3258232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처방에 따라 의약품을 구입·양수하여 사용하는 경우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697144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법률이 허용한 목적·범위에서 소지·관리하는 경우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179240"/>
            <a:ext cx="5166360" cy="1956816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56248" y="2325544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위법한 사용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56248" y="2709592"/>
            <a:ext cx="4581144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56248" y="2819320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적법한 근거 없이 취득하여 투약·사용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56248" y="3258232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허용된 목적과 다른 목적으로 사용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56248" y="3697144"/>
            <a:ext cx="458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처방·관리 체계를 벗어나 수수·제공·사용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282360"/>
            <a:ext cx="5166360" cy="78638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05840" y="43738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제4조 제2항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46298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마약류취급자가 아니더라도 적법하게 투약받거나 구입·양수한 경우 등에는 예외적으로 취급할 수 있다</a:t>
            </a:r>
            <a:endParaRPr lang="en-US" sz="1150" b="1" dirty="0">
              <a:highlight>
                <a:srgbClr val="FFFF00"/>
              </a:highlight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63640" y="4282360"/>
            <a:ext cx="5166360" cy="78638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537960" y="43738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제5조 제2항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46298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 법에 따라 </a:t>
            </a:r>
            <a:r>
              <a:rPr lang="en-US" sz="115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 … 를 관리하는 자는 다른 목적을 위하여 이를 사용하여서는 아니 된다</a:t>
            </a: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" y="5306488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05840" y="5306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출발점은 “마약류 성분을 사용했는가”가 아니라 “법이 허용하지 않은 방식으로 사용했는가”입니다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마약류관리법 제3조 제10호 · 제4조 제1·2항 · 제5조 제2항 — ‘이 법’은 「마약류 관리에 관한 법률」 · 죄의 성립은 개별 사실에 따라 판단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연령으로 보는 세 개념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 투약</a:t>
            </a:r>
            <a:r>
              <a:rPr lang="en-US" altLang="ko-KR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사용의 법정형 </a:t>
            </a:r>
            <a:r>
              <a:rPr lang="en-US" altLang="ko-KR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</a:t>
            </a:r>
            <a:r>
              <a:rPr lang="ko-KR" alt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물질과 행위에 따라 달라진다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마약류의 범주와 세부분류에 따라 적용되는 벌칙조항과 법정형이 달라진다</a:t>
            </a:r>
            <a:endParaRPr lang="en-US" sz="12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1901952"/>
            <a:ext cx="2103120" cy="365760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86384" y="190195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분류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34640" y="1901952"/>
            <a:ext cx="2788920" cy="365760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889504" y="1901952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구분 · 위반행위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23560" y="1901952"/>
            <a:ext cx="3063240" cy="365760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78424" y="190195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금지조항 / 벌칙조항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0" y="1901952"/>
            <a:ext cx="2743200" cy="365760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41664" y="19019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2267712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Text 15"/>
          <p:cNvSpPr/>
          <p:nvPr/>
        </p:nvSpPr>
        <p:spPr>
          <a:xfrm>
            <a:off x="749808" y="2267712"/>
            <a:ext cx="20848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 제2조 제2호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834640" y="2267712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926080" y="22677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마약의 </a:t>
            </a:r>
            <a:r>
              <a:rPr lang="en-US" sz="105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위법한</a:t>
            </a: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사용 금지 규정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23560" y="2267712"/>
            <a:ext cx="3063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715000" y="22677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  제3조 제1호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벌칙  제60조 제1항 제1호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0" y="2267712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23" name="Text 21"/>
          <p:cNvSpPr/>
          <p:nvPr/>
        </p:nvSpPr>
        <p:spPr>
          <a:xfrm>
            <a:off x="8778240" y="2267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이하의 징역 또는</a:t>
            </a:r>
            <a:endParaRPr lang="en-US" sz="1050" b="1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1억원 이하의 벌금</a:t>
            </a:r>
            <a:endParaRPr lang="en-US" sz="1050" b="1" dirty="0"/>
          </a:p>
        </p:txBody>
      </p:sp>
      <p:sp>
        <p:nvSpPr>
          <p:cNvPr id="25" name="Shape 23"/>
          <p:cNvSpPr/>
          <p:nvPr/>
        </p:nvSpPr>
        <p:spPr>
          <a:xfrm>
            <a:off x="2834640" y="2770632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926080" y="27706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헤로인</a:t>
            </a: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등의 사용·투약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염류 또는 함유물 포함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23560" y="2770632"/>
            <a:ext cx="3063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715000" y="27706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  제3조 제3호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벌칙  제59조 제1항 제3호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0" y="2770632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30" name="Text 28"/>
          <p:cNvSpPr/>
          <p:nvPr/>
        </p:nvSpPr>
        <p:spPr>
          <a:xfrm>
            <a:off x="8778240" y="2770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이상의 유기징역</a:t>
            </a:r>
            <a:endParaRPr lang="en-US" sz="1050" b="1" dirty="0">
              <a:highlight>
                <a:srgbClr val="FFFF00"/>
              </a:highlight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31520" y="3273552"/>
            <a:ext cx="2103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62000" y="3273552"/>
            <a:ext cx="2072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향정신성의약품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 제2조 제3호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(물질의 위험성과 의료용 사용 정도로 목을 세부분류)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834640" y="3273552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" name="Text 32"/>
          <p:cNvSpPr/>
          <p:nvPr/>
        </p:nvSpPr>
        <p:spPr>
          <a:xfrm>
            <a:off x="2926080" y="32735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가목의 사용</a:t>
            </a:r>
            <a:endParaRPr lang="en-US" sz="1050" dirty="0">
              <a:solidFill>
                <a:srgbClr val="22263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의료용 사용 없음 · 오남용 우려 심함</a:t>
            </a:r>
            <a:endParaRPr lang="en-US" sz="1050" dirty="0">
              <a:solidFill>
                <a:srgbClr val="22263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623560" y="3273552"/>
            <a:ext cx="3063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715000" y="327355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  제3조 제5호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벌칙  제59조 제1항 제5호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686800" y="3273552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38" name="Text 36"/>
          <p:cNvSpPr/>
          <p:nvPr/>
        </p:nvSpPr>
        <p:spPr>
          <a:xfrm>
            <a:off x="8778240" y="32735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이상의 유기징역</a:t>
            </a:r>
            <a:endParaRPr lang="en-US" sz="1050" b="1" dirty="0"/>
          </a:p>
        </p:txBody>
      </p:sp>
      <p:sp>
        <p:nvSpPr>
          <p:cNvPr id="40" name="Shape 38"/>
          <p:cNvSpPr/>
          <p:nvPr/>
        </p:nvSpPr>
        <p:spPr>
          <a:xfrm>
            <a:off x="2834640" y="3776472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926080" y="3776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나·다목의 사용·투약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나목 제한적 의료용 · 다목 의료용 가능</a:t>
            </a:r>
          </a:p>
        </p:txBody>
      </p:sp>
      <p:sp>
        <p:nvSpPr>
          <p:cNvPr id="42" name="Shape 40"/>
          <p:cNvSpPr/>
          <p:nvPr/>
        </p:nvSpPr>
        <p:spPr>
          <a:xfrm>
            <a:off x="5623560" y="3776472"/>
            <a:ext cx="3063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715000" y="377647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  제4조 제1항 제1호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벌칙  제60조 제1항 제2호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686800" y="3776472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45" name="Text 43"/>
          <p:cNvSpPr/>
          <p:nvPr/>
        </p:nvSpPr>
        <p:spPr>
          <a:xfrm>
            <a:off x="8778240" y="3776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이하의 징역 또는</a:t>
            </a:r>
            <a:endParaRPr lang="en-US" sz="1050" b="1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1억원 이하의 벌금</a:t>
            </a:r>
            <a:endParaRPr lang="en-US" sz="1050" b="1" dirty="0"/>
          </a:p>
        </p:txBody>
      </p:sp>
      <p:sp>
        <p:nvSpPr>
          <p:cNvPr id="47" name="Shape 45"/>
          <p:cNvSpPr/>
          <p:nvPr/>
        </p:nvSpPr>
        <p:spPr>
          <a:xfrm>
            <a:off x="2834640" y="4279392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2926080" y="42793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라목의 사용·투약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의료용 사용 · 오남용 우려 낮음</a:t>
            </a:r>
          </a:p>
        </p:txBody>
      </p:sp>
      <p:sp>
        <p:nvSpPr>
          <p:cNvPr id="49" name="Shape 47"/>
          <p:cNvSpPr/>
          <p:nvPr/>
        </p:nvSpPr>
        <p:spPr>
          <a:xfrm>
            <a:off x="5623560" y="4279392"/>
            <a:ext cx="3063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715000" y="42793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  제4조 제1항 제1호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벌칙  제61조 제1항 제5호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686800" y="4279392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52" name="Text 50"/>
          <p:cNvSpPr/>
          <p:nvPr/>
        </p:nvSpPr>
        <p:spPr>
          <a:xfrm>
            <a:off x="8778240" y="4279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 이하의 징역 또는</a:t>
            </a:r>
            <a:endParaRPr lang="en-US" sz="1050" b="1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5천만원 이하의 벌금</a:t>
            </a:r>
            <a:endParaRPr lang="en-US" sz="1050" b="1" dirty="0"/>
          </a:p>
        </p:txBody>
      </p:sp>
      <p:sp>
        <p:nvSpPr>
          <p:cNvPr id="53" name="Shape 51"/>
          <p:cNvSpPr/>
          <p:nvPr/>
        </p:nvSpPr>
        <p:spPr>
          <a:xfrm>
            <a:off x="731520" y="4782312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822960" y="4782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대마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 제2조 제4호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834640" y="4782312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2926080" y="47823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ko-KR" alt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대마 또는 대마초 종자의 껍질을 흡연</a:t>
            </a:r>
            <a:r>
              <a:rPr lang="en-US" altLang="ko-KR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섭취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623560" y="4782312"/>
            <a:ext cx="3063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5715000" y="47823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  제3조 제10호 가목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벌칙  제61조 제1항 제4호 가목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686800" y="4782312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60" name="Text 58"/>
          <p:cNvSpPr/>
          <p:nvPr/>
        </p:nvSpPr>
        <p:spPr>
          <a:xfrm>
            <a:off x="8778240" y="4782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 이하의 징역 또는</a:t>
            </a:r>
            <a:endParaRPr lang="en-US" sz="1050" b="1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5천만원 이하의 벌금</a:t>
            </a:r>
            <a:endParaRPr lang="en-US" sz="1050" b="1" dirty="0"/>
          </a:p>
        </p:txBody>
      </p:sp>
      <p:sp>
        <p:nvSpPr>
          <p:cNvPr id="61" name="Shape 59"/>
          <p:cNvSpPr/>
          <p:nvPr/>
        </p:nvSpPr>
        <p:spPr>
          <a:xfrm>
            <a:off x="731520" y="5504688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005840" y="55046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마약류라도 물질과 행위에 따라 적용 조문과 법정형이 달라집니다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금지규정과 특정 물질·행위의 별도규정이 함께 있어 실제 적용 법조는 구체적인 물질과 행위에 따라 정한다  ·  「마약류 관리에 관한 법률」 제3·4·59·60·61조 · 2026.8.27. 시행본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</a:rPr>
              <a:t>청소년 마약류 사용과 현행 대응</a:t>
            </a:r>
          </a:p>
        </p:txBody>
      </p:sp>
      <p:sp>
        <p:nvSpPr>
          <p:cNvPr id="11" name="cue"/>
          <p:cNvSpPr txBox="1"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ko-KR" sz="1050" b="0" dirty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연령대별 처리 경로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275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연령으로 보는 세 개념 — 형사미성년자·촉법소년·범죄소년</a:t>
            </a:r>
          </a:p>
        </p:txBody>
      </p:sp>
      <p:sp>
        <p:nvSpPr>
          <p:cNvPr id="13" name="topband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opbandtx"/>
          <p:cNvSpPr txBox="1"/>
          <p:nvPr/>
        </p:nvSpPr>
        <p:spPr>
          <a:xfrm>
            <a:off x="1015274" y="1399031"/>
            <a:ext cx="10149840" cy="54864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</a:rPr>
              <a:t>형법 기준은 14세 미만 전체에 적용되고, 소년법 기준은 그중 10~13세의 저촉행위를 보호사건으로 다룬다</a:t>
            </a:r>
          </a:p>
        </p:txBody>
      </p:sp>
      <p:sp>
        <p:nvSpPr>
          <p:cNvPr id="15" name="line15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tick0"/>
          <p:cNvSpPr txBox="1"/>
          <p:nvPr/>
        </p:nvSpPr>
        <p:spPr>
          <a:xfrm>
            <a:off x="2697479" y="2395728"/>
            <a:ext cx="640080" cy="237744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sz="110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0세</a:t>
            </a:r>
          </a:p>
        </p:txBody>
      </p:sp>
      <p:sp>
        <p:nvSpPr>
          <p:cNvPr id="17" name="tick5"/>
          <p:cNvSpPr txBox="1"/>
          <p:nvPr/>
        </p:nvSpPr>
        <p:spPr>
          <a:xfrm>
            <a:off x="4656908" y="2395728"/>
            <a:ext cx="640080" cy="237744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sz="110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5세</a:t>
            </a:r>
          </a:p>
        </p:txBody>
      </p:sp>
      <p:sp>
        <p:nvSpPr>
          <p:cNvPr id="18" name="tick10"/>
          <p:cNvSpPr txBox="1"/>
          <p:nvPr/>
        </p:nvSpPr>
        <p:spPr>
          <a:xfrm>
            <a:off x="6616337" y="2395728"/>
            <a:ext cx="640080" cy="237744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sz="1100" b="1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10세</a:t>
            </a:r>
          </a:p>
        </p:txBody>
      </p:sp>
      <p:sp>
        <p:nvSpPr>
          <p:cNvPr id="19" name="tick19"/>
          <p:cNvSpPr txBox="1"/>
          <p:nvPr/>
        </p:nvSpPr>
        <p:spPr>
          <a:xfrm>
            <a:off x="10143308" y="2395728"/>
            <a:ext cx="640080" cy="237744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sz="110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19세</a:t>
            </a:r>
          </a:p>
        </p:txBody>
      </p:sp>
      <p:sp>
        <p:nvSpPr>
          <p:cNvPr id="21" name="tick14"/>
          <p:cNvSpPr txBox="1"/>
          <p:nvPr/>
        </p:nvSpPr>
        <p:spPr>
          <a:xfrm>
            <a:off x="8361535" y="2176272"/>
            <a:ext cx="841248" cy="45720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1000" b="0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(현행)</a:t>
            </a:r>
          </a:p>
          <a:p>
            <a:pPr algn="l">
              <a:lnSpc>
                <a:spcPct val="118000"/>
              </a:lnSpc>
            </a:pPr>
            <a:r>
              <a:rPr lang="ko-KR" sz="11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14세</a:t>
            </a:r>
          </a:p>
        </p:txBody>
      </p:sp>
      <p:sp>
        <p:nvSpPr>
          <p:cNvPr id="22" name="line22"/>
          <p:cNvSpPr/>
          <p:nvPr/>
        </p:nvSpPr>
        <p:spPr>
          <a:xfrm>
            <a:off x="3017520" y="2670048"/>
            <a:ext cx="8229600" cy="0"/>
          </a:xfrm>
          <a:prstGeom prst="line">
            <a:avLst/>
          </a:prstGeom>
          <a:ln w="9525">
            <a:solidFill>
              <a:srgbClr val="464D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1"/>
          <p:cNvSpPr txBox="1"/>
          <p:nvPr/>
        </p:nvSpPr>
        <p:spPr>
          <a:xfrm>
            <a:off x="731520" y="2834640"/>
            <a:ext cx="2194560" cy="7132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135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형법 제9조</a:t>
            </a:r>
          </a:p>
          <a:p>
            <a:pPr algn="l">
              <a:lnSpc>
                <a:spcPct val="118000"/>
              </a:lnSpc>
            </a:pPr>
            <a:r>
              <a:rPr lang="ko-KR" sz="110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나이만 묻는다</a:t>
            </a:r>
          </a:p>
        </p:txBody>
      </p:sp>
      <p:sp>
        <p:nvSpPr>
          <p:cNvPr id="25" name="b25"/>
          <p:cNvSpPr/>
          <p:nvPr/>
        </p:nvSpPr>
        <p:spPr>
          <a:xfrm>
            <a:off x="3017520" y="2834640"/>
            <a:ext cx="5486400" cy="713232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bt26"/>
          <p:cNvSpPr txBox="1"/>
          <p:nvPr/>
        </p:nvSpPr>
        <p:spPr>
          <a:xfrm>
            <a:off x="3017520" y="2834640"/>
            <a:ext cx="5464455" cy="7132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형사미성년자</a:t>
            </a:r>
          </a:p>
          <a:p>
            <a:pPr algn="ctr">
              <a:lnSpc>
                <a:spcPct val="118000"/>
              </a:lnSpc>
            </a:pPr>
            <a:r>
              <a:rPr lang="ko-KR" sz="105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14세 미만 · 형벌을 부과하지 않는다</a:t>
            </a:r>
          </a:p>
        </p:txBody>
      </p:sp>
      <p:sp>
        <p:nvSpPr>
          <p:cNvPr id="27" name="b27"/>
          <p:cNvSpPr/>
          <p:nvPr/>
        </p:nvSpPr>
        <p:spPr>
          <a:xfrm>
            <a:off x="8503920" y="2834640"/>
            <a:ext cx="2743200" cy="71323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bt28"/>
          <p:cNvSpPr txBox="1"/>
          <p:nvPr/>
        </p:nvSpPr>
        <p:spPr>
          <a:xfrm>
            <a:off x="8503920" y="2834640"/>
            <a:ext cx="2743200" cy="7132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형사책임을 물을 수 있는 나이</a:t>
            </a:r>
          </a:p>
          <a:p>
            <a:pPr algn="ctr">
              <a:lnSpc>
                <a:spcPct val="118000"/>
              </a:lnSpc>
            </a:pPr>
            <a:r>
              <a:rPr lang="ko-KR" sz="105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14세 이상</a:t>
            </a:r>
          </a:p>
        </p:txBody>
      </p:sp>
      <p:sp>
        <p:nvSpPr>
          <p:cNvPr id="29" name="r2"/>
          <p:cNvSpPr txBox="1"/>
          <p:nvPr/>
        </p:nvSpPr>
        <p:spPr>
          <a:xfrm>
            <a:off x="731520" y="3840480"/>
            <a:ext cx="2194560" cy="7132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135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소년법 제4조</a:t>
            </a:r>
          </a:p>
          <a:p>
            <a:pPr algn="l">
              <a:lnSpc>
                <a:spcPct val="118000"/>
              </a:lnSpc>
            </a:pPr>
            <a:r>
              <a:rPr lang="ko-KR" sz="1100" b="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나이와 행위를 함께 묻는다</a:t>
            </a:r>
          </a:p>
        </p:txBody>
      </p:sp>
      <p:sp>
        <p:nvSpPr>
          <p:cNvPr id="30" name="b30"/>
          <p:cNvSpPr/>
          <p:nvPr/>
        </p:nvSpPr>
        <p:spPr>
          <a:xfrm>
            <a:off x="3017520" y="3840480"/>
            <a:ext cx="3918857" cy="713232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bt31"/>
          <p:cNvSpPr txBox="1"/>
          <p:nvPr/>
        </p:nvSpPr>
        <p:spPr>
          <a:xfrm>
            <a:off x="3017520" y="3840480"/>
            <a:ext cx="3918857" cy="7132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소년보호처분 대상 아님</a:t>
            </a:r>
          </a:p>
          <a:p>
            <a:pPr algn="ctr">
              <a:lnSpc>
                <a:spcPct val="118000"/>
              </a:lnSpc>
            </a:pPr>
            <a:r>
              <a:rPr lang="ko-KR" sz="1050" b="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10세 미만</a:t>
            </a:r>
          </a:p>
        </p:txBody>
      </p:sp>
      <p:sp>
        <p:nvSpPr>
          <p:cNvPr id="32" name="b32"/>
          <p:cNvSpPr/>
          <p:nvPr/>
        </p:nvSpPr>
        <p:spPr>
          <a:xfrm>
            <a:off x="6936377" y="3840480"/>
            <a:ext cx="1567542" cy="713232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b34"/>
          <p:cNvSpPr/>
          <p:nvPr/>
        </p:nvSpPr>
        <p:spPr>
          <a:xfrm>
            <a:off x="8503920" y="3840480"/>
            <a:ext cx="1959428" cy="71323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bt35"/>
          <p:cNvSpPr txBox="1"/>
          <p:nvPr/>
        </p:nvSpPr>
        <p:spPr>
          <a:xfrm>
            <a:off x="8503920" y="3840480"/>
            <a:ext cx="1959428" cy="7132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범죄소년</a:t>
            </a:r>
          </a:p>
          <a:p>
            <a:pPr algn="ctr">
              <a:lnSpc>
                <a:spcPct val="118000"/>
              </a:lnSpc>
            </a:pPr>
            <a:r>
              <a:rPr lang="ko-KR" sz="1050"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14~18세 · 죄를 범한 소년</a:t>
            </a:r>
          </a:p>
        </p:txBody>
      </p:sp>
      <p:sp>
        <p:nvSpPr>
          <p:cNvPr id="36" name="b36"/>
          <p:cNvSpPr/>
          <p:nvPr/>
        </p:nvSpPr>
        <p:spPr>
          <a:xfrm>
            <a:off x="10463348" y="3840480"/>
            <a:ext cx="783771" cy="713232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bt37"/>
          <p:cNvSpPr txBox="1"/>
          <p:nvPr/>
        </p:nvSpPr>
        <p:spPr>
          <a:xfrm>
            <a:off x="10463348" y="3840480"/>
            <a:ext cx="783771" cy="7132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sz="13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성인</a:t>
            </a:r>
          </a:p>
          <a:p>
            <a:pPr algn="ctr">
              <a:lnSpc>
                <a:spcPct val="118000"/>
              </a:lnSpc>
            </a:pPr>
            <a:r>
              <a:rPr lang="ko-KR" sz="1050" b="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19세 이상</a:t>
            </a:r>
          </a:p>
        </p:txBody>
      </p:sp>
      <p:sp>
        <p:nvSpPr>
          <p:cNvPr id="39" name="v39"/>
          <p:cNvSpPr/>
          <p:nvPr/>
        </p:nvSpPr>
        <p:spPr>
          <a:xfrm>
            <a:off x="8492947" y="2670048"/>
            <a:ext cx="45719" cy="18836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line41"/>
          <p:cNvSpPr/>
          <p:nvPr/>
        </p:nvSpPr>
        <p:spPr>
          <a:xfrm>
            <a:off x="731520" y="5175504"/>
            <a:ext cx="10725912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dh0"/>
          <p:cNvSpPr txBox="1"/>
          <p:nvPr/>
        </p:nvSpPr>
        <p:spPr>
          <a:xfrm>
            <a:off x="731520" y="5266944"/>
            <a:ext cx="3392424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형사미성년자</a:t>
            </a:r>
          </a:p>
        </p:txBody>
      </p:sp>
      <p:sp>
        <p:nvSpPr>
          <p:cNvPr id="43" name="db0"/>
          <p:cNvSpPr txBox="1"/>
          <p:nvPr/>
        </p:nvSpPr>
        <p:spPr>
          <a:xfrm>
            <a:off x="731520" y="5541264"/>
            <a:ext cx="3392424" cy="786384"/>
          </a:xfrm>
          <a:prstGeom prst="rect">
            <a:avLst/>
          </a:prstGeom>
          <a:noFill/>
        </p:spPr>
        <p:txBody>
          <a:bodyPr wrap="square" lIns="0" tIns="27432" rIns="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22633"/>
                </a:solidFill>
                <a:latin typeface="Pretendard"/>
              </a:rPr>
              <a:t>형법 제9조에 따라 14세 미만이면 형사책임이 배제된다. 10세 미만도 여기에 포함된다.</a:t>
            </a:r>
          </a:p>
        </p:txBody>
      </p:sp>
      <p:sp>
        <p:nvSpPr>
          <p:cNvPr id="44" name="dh1"/>
          <p:cNvSpPr txBox="1"/>
          <p:nvPr/>
        </p:nvSpPr>
        <p:spPr>
          <a:xfrm>
            <a:off x="4398264" y="5266944"/>
            <a:ext cx="3392424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촉법소년</a:t>
            </a:r>
          </a:p>
        </p:txBody>
      </p:sp>
      <p:sp>
        <p:nvSpPr>
          <p:cNvPr id="45" name="db1"/>
          <p:cNvSpPr txBox="1"/>
          <p:nvPr/>
        </p:nvSpPr>
        <p:spPr>
          <a:xfrm>
            <a:off x="4398264" y="5541264"/>
            <a:ext cx="3392424" cy="786384"/>
          </a:xfrm>
          <a:prstGeom prst="rect">
            <a:avLst/>
          </a:prstGeom>
          <a:noFill/>
        </p:spPr>
        <p:txBody>
          <a:bodyPr wrap="square" lIns="0" tIns="27432" rIns="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22633"/>
                </a:solidFill>
                <a:latin typeface="Pretendard"/>
              </a:rPr>
              <a:t>그 형사미성년자 중 10세 이상 14세 미만이면서 형벌 법령에 저촉되는 행위를 한 소년. 형벌이 아니라 소년보호절차의 대상이다.</a:t>
            </a:r>
          </a:p>
        </p:txBody>
      </p:sp>
      <p:sp>
        <p:nvSpPr>
          <p:cNvPr id="46" name="dh2"/>
          <p:cNvSpPr txBox="1"/>
          <p:nvPr/>
        </p:nvSpPr>
        <p:spPr>
          <a:xfrm>
            <a:off x="8065008" y="5266944"/>
            <a:ext cx="3392424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13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범죄소년</a:t>
            </a:r>
          </a:p>
        </p:txBody>
      </p:sp>
      <p:sp>
        <p:nvSpPr>
          <p:cNvPr id="47" name="db2"/>
          <p:cNvSpPr txBox="1"/>
          <p:nvPr/>
        </p:nvSpPr>
        <p:spPr>
          <a:xfrm>
            <a:off x="8065008" y="5541264"/>
            <a:ext cx="3392424" cy="786384"/>
          </a:xfrm>
          <a:prstGeom prst="rect">
            <a:avLst/>
          </a:prstGeom>
          <a:noFill/>
        </p:spPr>
        <p:txBody>
          <a:bodyPr wrap="square" lIns="0" tIns="27432" rIns="0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sz="1150" b="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14세 이상 19세 미만으로 죄를 범한 소년. 형사책임을 물을 수 있지만 사건에 따라 소년부로 송치되어 보호처분을 받을 수 있다.</a:t>
            </a:r>
          </a:p>
        </p:txBody>
      </p:sp>
      <p:sp>
        <p:nvSpPr>
          <p:cNvPr id="48" name="foot"/>
          <p:cNvSpPr txBox="1"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</a:rPr>
              <a:t>형법 제9조 · 소년법 제2조(소년 = 19세 미만)·제4조 제1항 제1호·제2호 · 우범소년(소년법 제4조 제1항 제3호)은 별도 요건이며 이 도식에서 제외</a:t>
            </a:r>
          </a:p>
        </p:txBody>
      </p:sp>
      <p:sp>
        <p:nvSpPr>
          <p:cNvPr id="33" name="bt33"/>
          <p:cNvSpPr txBox="1"/>
          <p:nvPr/>
        </p:nvSpPr>
        <p:spPr>
          <a:xfrm>
            <a:off x="6936377" y="3840480"/>
            <a:ext cx="1545598" cy="7132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ctr">
              <a:lnSpc>
                <a:spcPct val="118000"/>
              </a:lnSpc>
            </a:pPr>
            <a:r>
              <a:rPr lang="ko-KR" sz="1300" b="1" dirty="0">
                <a:solidFill>
                  <a:sysClr val="windowText" lastClr="000000"/>
                </a:solidFill>
                <a:latin typeface="Pretendard"/>
                <a:ea typeface="Pretendard"/>
                <a:cs typeface="Pretendard"/>
              </a:rPr>
              <a:t>촉법소년</a:t>
            </a:r>
          </a:p>
          <a:p>
            <a:pPr algn="ctr">
              <a:lnSpc>
                <a:spcPct val="118000"/>
              </a:lnSpc>
            </a:pPr>
            <a:r>
              <a:rPr lang="ko-KR" sz="1050" b="0" dirty="0">
                <a:solidFill>
                  <a:sysClr val="windowText" lastClr="000000"/>
                </a:solidFill>
                <a:latin typeface="Pretendard"/>
                <a:ea typeface="Pretendard"/>
                <a:cs typeface="Pretendard"/>
              </a:rPr>
              <a:t>10~13세 · </a:t>
            </a:r>
            <a:r>
              <a:rPr lang="ko-KR" altLang="en-US" sz="1050" b="0" dirty="0">
                <a:solidFill>
                  <a:sysClr val="windowText" lastClr="000000"/>
                </a:solidFill>
                <a:latin typeface="Pretendard"/>
                <a:ea typeface="Pretendard"/>
                <a:cs typeface="Pretendard"/>
              </a:rPr>
              <a:t>보호 처분</a:t>
            </a:r>
            <a:endParaRPr lang="ko-KR" sz="1050" b="0" dirty="0">
              <a:solidFill>
                <a:sysClr val="windowText" lastClr="000000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052632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newzone">
            <a:extLst>
              <a:ext uri="{FF2B5EF4-FFF2-40B4-BE49-F238E27FC236}">
                <a16:creationId xmlns:a16="http://schemas.microsoft.com/office/drawing/2014/main" id="{3E824FEE-9DE6-4B4F-A48E-2B0E7678C9B1}"/>
              </a:ext>
            </a:extLst>
          </p:cNvPr>
          <p:cNvSpPr>
            <a:spLocks noGrp="1"/>
          </p:cNvSpPr>
          <p:nvPr/>
        </p:nvSpPr>
        <p:spPr>
          <a:xfrm>
            <a:off x="4553712" y="3900561"/>
            <a:ext cx="4462272" cy="1845425"/>
          </a:xfrm>
          <a:custGeom>
            <a:avLst/>
            <a:gdLst/>
            <a:ahLst/>
            <a:cxnLst/>
            <a:rect l="0" t="0" r="r" b="b"/>
            <a:pathLst>
              <a:path w="4462272" h="2194560">
                <a:moveTo>
                  <a:pt x="0" y="0"/>
                </a:moveTo>
                <a:lnTo>
                  <a:pt x="4462272" y="0"/>
                </a:lnTo>
                <a:lnTo>
                  <a:pt x="4462272" y="795528"/>
                </a:lnTo>
                <a:lnTo>
                  <a:pt x="2157984" y="795528"/>
                </a:lnTo>
                <a:lnTo>
                  <a:pt x="2157984" y="2194560"/>
                </a:lnTo>
                <a:lnTo>
                  <a:pt x="0" y="2194560"/>
                </a:lnTo>
                <a:close/>
              </a:path>
            </a:pathLst>
          </a:custGeom>
          <a:noFill/>
          <a:ln w="19050">
            <a:solidFill>
              <a:srgbClr val="A8871C"/>
            </a:solidFill>
            <a:prstDash val="dash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kicker"/>
          <p:cNvSpPr txBox="1"/>
          <p:nvPr/>
        </p:nvSpPr>
        <p:spPr>
          <a:xfrm>
            <a:off x="731520" y="365760"/>
            <a:ext cx="5212080" cy="292608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</a:rPr>
              <a:t>청소년 마약류 사용과 현행 대응</a:t>
            </a:r>
          </a:p>
        </p:txBody>
      </p:sp>
      <p:sp>
        <p:nvSpPr>
          <p:cNvPr id="11" name="cue"/>
          <p:cNvSpPr txBox="1"/>
          <p:nvPr/>
        </p:nvSpPr>
        <p:spPr>
          <a:xfrm>
            <a:off x="6035040" y="384048"/>
            <a:ext cx="5422392" cy="25603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r">
              <a:lnSpc>
                <a:spcPct val="118000"/>
              </a:lnSpc>
            </a:pPr>
            <a:r>
              <a:rPr lang="ko-KR" sz="1050" b="0" dirty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보호관찰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275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연령대별 처리 경로와 결과</a:t>
            </a:r>
          </a:p>
        </p:txBody>
      </p:sp>
      <p:sp>
        <p:nvSpPr>
          <p:cNvPr id="13" name="topband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opbandtx"/>
          <p:cNvSpPr txBox="1"/>
          <p:nvPr/>
        </p:nvSpPr>
        <p:spPr>
          <a:xfrm>
            <a:off x="1005840" y="1417320"/>
            <a:ext cx="10149840" cy="548640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>
              <a:lnSpc>
                <a:spcPct val="118000"/>
              </a:lnSpc>
            </a:pPr>
            <a:r>
              <a:rPr lang="en-US" altLang="ko-KR" sz="1300" b="1" dirty="0">
                <a:solidFill>
                  <a:srgbClr val="1E276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 위법한 마약류 사용이라도 연령에 따라 경찰 · 검찰 · 법원 각 단계에서 가능한 처리와 결과가 달라진다</a:t>
            </a:r>
            <a:endParaRPr sz="1300" b="1" dirty="0">
              <a:solidFill>
                <a:srgbClr val="1E276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line15"/>
          <p:cNvSpPr/>
          <p:nvPr/>
        </p:nv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0" name="lh">
            <a:extLst>
              <a:ext uri="{FF2B5EF4-FFF2-40B4-BE49-F238E27FC236}">
                <a16:creationId xmlns:a16="http://schemas.microsoft.com/office/drawing/2014/main" id="{FEB34D3A-9675-4D1E-BB8B-63FC81CB8B6D}"/>
              </a:ext>
            </a:extLst>
          </p:cNvPr>
          <p:cNvSpPr>
            <a:spLocks noGrp="1"/>
          </p:cNvSpPr>
          <p:nvPr/>
        </p:nvSpPr>
        <p:spPr>
          <a:xfrm>
            <a:off x="731520" y="2240280"/>
            <a:ext cx="1417320" cy="2306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sz="11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연령대</a:t>
            </a:r>
            <a:endParaRPr sz="1100" dirty="0">
              <a:solidFill>
                <a:srgbClr val="464D5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1" name="ch">
            <a:extLst>
              <a:ext uri="{FF2B5EF4-FFF2-40B4-BE49-F238E27FC236}">
                <a16:creationId xmlns:a16="http://schemas.microsoft.com/office/drawing/2014/main" id="{E3744B15-02CA-48E6-BCB5-BAA40C23FC45}"/>
              </a:ext>
            </a:extLst>
          </p:cNvPr>
          <p:cNvSpPr>
            <a:spLocks noGrp="1"/>
          </p:cNvSpPr>
          <p:nvPr/>
        </p:nvSpPr>
        <p:spPr>
          <a:xfrm>
            <a:off x="2240280" y="2240280"/>
            <a:ext cx="2176272" cy="2306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경찰 단계</a:t>
            </a:r>
          </a:p>
        </p:txBody>
      </p:sp>
      <p:sp>
        <p:nvSpPr>
          <p:cNvPr id="202" name="ch">
            <a:extLst>
              <a:ext uri="{FF2B5EF4-FFF2-40B4-BE49-F238E27FC236}">
                <a16:creationId xmlns:a16="http://schemas.microsoft.com/office/drawing/2014/main" id="{733D5FE5-D0A5-448B-A95A-C589FF3DDEE1}"/>
              </a:ext>
            </a:extLst>
          </p:cNvPr>
          <p:cNvSpPr>
            <a:spLocks noGrp="1"/>
          </p:cNvSpPr>
          <p:nvPr/>
        </p:nvSpPr>
        <p:spPr>
          <a:xfrm>
            <a:off x="4544568" y="2240280"/>
            <a:ext cx="2176272" cy="2306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검찰 단계</a:t>
            </a:r>
          </a:p>
        </p:txBody>
      </p:sp>
      <p:sp>
        <p:nvSpPr>
          <p:cNvPr id="203" name="ch">
            <a:extLst>
              <a:ext uri="{FF2B5EF4-FFF2-40B4-BE49-F238E27FC236}">
                <a16:creationId xmlns:a16="http://schemas.microsoft.com/office/drawing/2014/main" id="{8CB7B683-BBE8-47DF-9908-EBDFD5E45F4D}"/>
              </a:ext>
            </a:extLst>
          </p:cNvPr>
          <p:cNvSpPr>
            <a:spLocks noGrp="1"/>
          </p:cNvSpPr>
          <p:nvPr/>
        </p:nvSpPr>
        <p:spPr>
          <a:xfrm>
            <a:off x="6848856" y="2240280"/>
            <a:ext cx="2176272" cy="2306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법원 단계</a:t>
            </a:r>
          </a:p>
        </p:txBody>
      </p:sp>
      <p:sp>
        <p:nvSpPr>
          <p:cNvPr id="204" name="ch">
            <a:extLst>
              <a:ext uri="{FF2B5EF4-FFF2-40B4-BE49-F238E27FC236}">
                <a16:creationId xmlns:a16="http://schemas.microsoft.com/office/drawing/2014/main" id="{7DF9B3FD-192F-4A69-BAD3-47D0FE2CF0AF}"/>
              </a:ext>
            </a:extLst>
          </p:cNvPr>
          <p:cNvSpPr>
            <a:spLocks noGrp="1"/>
          </p:cNvSpPr>
          <p:nvPr/>
        </p:nvSpPr>
        <p:spPr>
          <a:xfrm>
            <a:off x="9153144" y="2240280"/>
            <a:ext cx="2176272" cy="23067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05" name="hl">
            <a:extLst>
              <a:ext uri="{FF2B5EF4-FFF2-40B4-BE49-F238E27FC236}">
                <a16:creationId xmlns:a16="http://schemas.microsoft.com/office/drawing/2014/main" id="{FF3BBA96-1F04-4ABC-97BC-68CCAB84FEC5}"/>
              </a:ext>
            </a:extLst>
          </p:cNvPr>
          <p:cNvSpPr>
            <a:spLocks noGrp="1"/>
          </p:cNvSpPr>
          <p:nvPr/>
        </p:nvSpPr>
        <p:spPr>
          <a:xfrm>
            <a:off x="731520" y="2517093"/>
            <a:ext cx="10597896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06" name="rl">
            <a:extLst>
              <a:ext uri="{FF2B5EF4-FFF2-40B4-BE49-F238E27FC236}">
                <a16:creationId xmlns:a16="http://schemas.microsoft.com/office/drawing/2014/main" id="{5E436F14-DB2C-4FD1-8D1B-A7218137F5C2}"/>
              </a:ext>
            </a:extLst>
          </p:cNvPr>
          <p:cNvSpPr>
            <a:spLocks noGrp="1"/>
          </p:cNvSpPr>
          <p:nvPr/>
        </p:nvSpPr>
        <p:spPr>
          <a:xfrm>
            <a:off x="731520" y="2578608"/>
            <a:ext cx="1417320" cy="35370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07" name="rlt">
            <a:extLst>
              <a:ext uri="{FF2B5EF4-FFF2-40B4-BE49-F238E27FC236}">
                <a16:creationId xmlns:a16="http://schemas.microsoft.com/office/drawing/2014/main" id="{C8B32A37-03B8-46AC-A7D4-0FBD70EA4880}"/>
              </a:ext>
            </a:extLst>
          </p:cNvPr>
          <p:cNvSpPr>
            <a:spLocks noGrp="1"/>
          </p:cNvSpPr>
          <p:nvPr/>
        </p:nvSpPr>
        <p:spPr>
          <a:xfrm>
            <a:off x="731520" y="2565151"/>
            <a:ext cx="1417320" cy="35370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20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10세 미만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sz="100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소년보호사건 대상 아님</a:t>
            </a:r>
          </a:p>
        </p:txBody>
      </p:sp>
      <p:sp>
        <p:nvSpPr>
          <p:cNvPr id="208" name="na">
            <a:extLst>
              <a:ext uri="{FF2B5EF4-FFF2-40B4-BE49-F238E27FC236}">
                <a16:creationId xmlns:a16="http://schemas.microsoft.com/office/drawing/2014/main" id="{6A8D7708-F984-4EE7-8949-64E70996EF01}"/>
              </a:ext>
            </a:extLst>
          </p:cNvPr>
          <p:cNvSpPr>
            <a:spLocks noGrp="1"/>
          </p:cNvSpPr>
          <p:nvPr/>
        </p:nvSpPr>
        <p:spPr>
          <a:xfrm>
            <a:off x="2240280" y="2578608"/>
            <a:ext cx="2176272" cy="3537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sz="105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안전확인·보호연계</a:t>
            </a:r>
          </a:p>
        </p:txBody>
      </p:sp>
      <p:sp>
        <p:nvSpPr>
          <p:cNvPr id="209" name="na">
            <a:extLst>
              <a:ext uri="{FF2B5EF4-FFF2-40B4-BE49-F238E27FC236}">
                <a16:creationId xmlns:a16="http://schemas.microsoft.com/office/drawing/2014/main" id="{E46C6C78-FE11-431F-AD5B-96BED23D62FC}"/>
              </a:ext>
            </a:extLst>
          </p:cNvPr>
          <p:cNvSpPr>
            <a:spLocks noGrp="1"/>
          </p:cNvSpPr>
          <p:nvPr/>
        </p:nvSpPr>
        <p:spPr>
          <a:xfrm>
            <a:off x="4544568" y="2578608"/>
            <a:ext cx="2176272" cy="3537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sz="105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기소 대상 아님</a:t>
            </a:r>
          </a:p>
        </p:txBody>
      </p:sp>
      <p:sp>
        <p:nvSpPr>
          <p:cNvPr id="210" name="na">
            <a:extLst>
              <a:ext uri="{FF2B5EF4-FFF2-40B4-BE49-F238E27FC236}">
                <a16:creationId xmlns:a16="http://schemas.microsoft.com/office/drawing/2014/main" id="{9719695A-8BF7-4935-BBAD-9C85E7AB6DD0}"/>
              </a:ext>
            </a:extLst>
          </p:cNvPr>
          <p:cNvSpPr>
            <a:spLocks noGrp="1"/>
          </p:cNvSpPr>
          <p:nvPr/>
        </p:nvSpPr>
        <p:spPr>
          <a:xfrm>
            <a:off x="6848856" y="2578608"/>
            <a:ext cx="2176272" cy="3537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sz="105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소년보호심리 대상 아님</a:t>
            </a:r>
          </a:p>
        </p:txBody>
      </p:sp>
      <p:sp>
        <p:nvSpPr>
          <p:cNvPr id="211" name="na">
            <a:extLst>
              <a:ext uri="{FF2B5EF4-FFF2-40B4-BE49-F238E27FC236}">
                <a16:creationId xmlns:a16="http://schemas.microsoft.com/office/drawing/2014/main" id="{C4A01115-50C3-464C-966C-1A733AB6A706}"/>
              </a:ext>
            </a:extLst>
          </p:cNvPr>
          <p:cNvSpPr>
            <a:spLocks noGrp="1"/>
          </p:cNvSpPr>
          <p:nvPr/>
        </p:nvSpPr>
        <p:spPr>
          <a:xfrm>
            <a:off x="9153144" y="2578608"/>
            <a:ext cx="2176272" cy="3537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sz="105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요건 충족 시 아동보호</a:t>
            </a:r>
          </a:p>
        </p:txBody>
      </p:sp>
      <p:sp>
        <p:nvSpPr>
          <p:cNvPr id="212" name="d1">
            <a:extLst>
              <a:ext uri="{FF2B5EF4-FFF2-40B4-BE49-F238E27FC236}">
                <a16:creationId xmlns:a16="http://schemas.microsoft.com/office/drawing/2014/main" id="{60F1F74B-AD1F-4DC0-8687-F72B79EA57E6}"/>
              </a:ext>
            </a:extLst>
          </p:cNvPr>
          <p:cNvSpPr>
            <a:spLocks noGrp="1"/>
          </p:cNvSpPr>
          <p:nvPr/>
        </p:nvSpPr>
        <p:spPr>
          <a:xfrm>
            <a:off x="731520" y="2978450"/>
            <a:ext cx="10597896" cy="0"/>
          </a:xfrm>
          <a:prstGeom prst="line">
            <a:avLst/>
          </a:prstGeom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3" name="rl">
            <a:extLst>
              <a:ext uri="{FF2B5EF4-FFF2-40B4-BE49-F238E27FC236}">
                <a16:creationId xmlns:a16="http://schemas.microsoft.com/office/drawing/2014/main" id="{FC3A3AC3-B52E-4B7E-8D9A-6DF8CB8A0B80}"/>
              </a:ext>
            </a:extLst>
          </p:cNvPr>
          <p:cNvSpPr>
            <a:spLocks noGrp="1"/>
          </p:cNvSpPr>
          <p:nvPr/>
        </p:nvSpPr>
        <p:spPr>
          <a:xfrm>
            <a:off x="731520" y="3024585"/>
            <a:ext cx="1417320" cy="73817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4" name="rlt">
            <a:extLst>
              <a:ext uri="{FF2B5EF4-FFF2-40B4-BE49-F238E27FC236}">
                <a16:creationId xmlns:a16="http://schemas.microsoft.com/office/drawing/2014/main" id="{B76CAEA6-F86B-4E1F-857F-BB0058512720}"/>
              </a:ext>
            </a:extLst>
          </p:cNvPr>
          <p:cNvSpPr>
            <a:spLocks noGrp="1"/>
          </p:cNvSpPr>
          <p:nvPr/>
        </p:nvSpPr>
        <p:spPr>
          <a:xfrm>
            <a:off x="731520" y="3008566"/>
            <a:ext cx="1417320" cy="73817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200" b="1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10 ~ 13세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sz="1000" dirty="0" err="1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촉법소년</a:t>
            </a:r>
            <a:endParaRPr lang="en-US" sz="1000" dirty="0">
              <a:solidFill>
                <a:srgbClr val="6E768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5" name="sg">
            <a:extLst>
              <a:ext uri="{FF2B5EF4-FFF2-40B4-BE49-F238E27FC236}">
                <a16:creationId xmlns:a16="http://schemas.microsoft.com/office/drawing/2014/main" id="{2D0B1793-9368-4380-84EB-0DC7C2913D9A}"/>
              </a:ext>
            </a:extLst>
          </p:cNvPr>
          <p:cNvSpPr>
            <a:spLocks noGrp="1"/>
          </p:cNvSpPr>
          <p:nvPr/>
        </p:nvSpPr>
        <p:spPr>
          <a:xfrm>
            <a:off x="2322576" y="3089944"/>
            <a:ext cx="2011680" cy="607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6" name="sgt">
            <a:extLst>
              <a:ext uri="{FF2B5EF4-FFF2-40B4-BE49-F238E27FC236}">
                <a16:creationId xmlns:a16="http://schemas.microsoft.com/office/drawing/2014/main" id="{A0B454B8-104E-4472-B937-C0BD35DD9A41}"/>
              </a:ext>
            </a:extLst>
          </p:cNvPr>
          <p:cNvSpPr>
            <a:spLocks noGrp="1"/>
          </p:cNvSpPr>
          <p:nvPr/>
        </p:nvSpPr>
        <p:spPr>
          <a:xfrm>
            <a:off x="2322576" y="3073925"/>
            <a:ext cx="2011680" cy="6074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00" dirty="0" err="1">
                <a:solidFill>
                  <a:srgbClr val="222633"/>
                </a:solidFill>
                <a:latin typeface="Pretendard"/>
              </a:rPr>
              <a:t>경찰</a:t>
            </a:r>
            <a:r>
              <a:rPr sz="1100" dirty="0">
                <a:solidFill>
                  <a:srgbClr val="222633"/>
                </a:solidFill>
                <a:latin typeface="Pretendard"/>
              </a:rPr>
              <a:t> </a:t>
            </a:r>
            <a:r>
              <a:rPr sz="1100" dirty="0" err="1">
                <a:solidFill>
                  <a:srgbClr val="222633"/>
                </a:solidFill>
                <a:latin typeface="Pretendard"/>
              </a:rPr>
              <a:t>조사·사실확인</a:t>
            </a:r>
            <a:endParaRPr sz="1100" dirty="0">
              <a:solidFill>
                <a:srgbClr val="222633"/>
              </a:solidFill>
              <a:latin typeface="Pretendard"/>
            </a:endParaRPr>
          </a:p>
          <a:p>
            <a:pPr algn="ctr"/>
            <a:r>
              <a:rPr sz="950" dirty="0" err="1">
                <a:solidFill>
                  <a:srgbClr val="6E7686"/>
                </a:solidFill>
                <a:latin typeface="Pretendard"/>
              </a:rPr>
              <a:t>경찰서장이</a:t>
            </a:r>
            <a:r>
              <a:rPr sz="950" dirty="0">
                <a:solidFill>
                  <a:srgbClr val="6E7686"/>
                </a:solidFill>
                <a:latin typeface="Pretendard"/>
              </a:rPr>
              <a:t> </a:t>
            </a:r>
            <a:r>
              <a:rPr sz="950" dirty="0" err="1">
                <a:solidFill>
                  <a:srgbClr val="6E7686"/>
                </a:solidFill>
                <a:latin typeface="Pretendard"/>
              </a:rPr>
              <a:t>법원</a:t>
            </a:r>
            <a:r>
              <a:rPr sz="950" dirty="0">
                <a:solidFill>
                  <a:srgbClr val="6E7686"/>
                </a:solidFill>
                <a:latin typeface="Pretendard"/>
              </a:rPr>
              <a:t> </a:t>
            </a:r>
            <a:r>
              <a:rPr sz="950" dirty="0" err="1">
                <a:solidFill>
                  <a:srgbClr val="6E7686"/>
                </a:solidFill>
                <a:latin typeface="Pretendard"/>
              </a:rPr>
              <a:t>소년부에</a:t>
            </a:r>
            <a:r>
              <a:rPr sz="950" dirty="0">
                <a:solidFill>
                  <a:srgbClr val="6E7686"/>
                </a:solidFill>
                <a:latin typeface="Pretendard"/>
              </a:rPr>
              <a:t> </a:t>
            </a:r>
            <a:r>
              <a:rPr sz="950" dirty="0" err="1">
                <a:solidFill>
                  <a:srgbClr val="6E7686"/>
                </a:solidFill>
                <a:latin typeface="Pretendard"/>
              </a:rPr>
              <a:t>직접</a:t>
            </a:r>
            <a:r>
              <a:rPr sz="950" dirty="0">
                <a:solidFill>
                  <a:srgbClr val="6E7686"/>
                </a:solidFill>
                <a:latin typeface="Pretendard"/>
              </a:rPr>
              <a:t> </a:t>
            </a:r>
            <a:r>
              <a:rPr sz="950" dirty="0" err="1">
                <a:solidFill>
                  <a:srgbClr val="6E7686"/>
                </a:solidFill>
                <a:latin typeface="Pretendard"/>
              </a:rPr>
              <a:t>송치</a:t>
            </a:r>
            <a:r>
              <a:rPr sz="950" dirty="0">
                <a:solidFill>
                  <a:srgbClr val="6E7686"/>
                </a:solidFill>
                <a:latin typeface="Pretendard"/>
              </a:rPr>
              <a:t> (</a:t>
            </a:r>
            <a:r>
              <a:rPr sz="950" dirty="0" err="1">
                <a:solidFill>
                  <a:srgbClr val="6E7686"/>
                </a:solidFill>
                <a:latin typeface="Pretendard"/>
              </a:rPr>
              <a:t>보호자</a:t>
            </a:r>
            <a:r>
              <a:rPr sz="950" dirty="0">
                <a:solidFill>
                  <a:srgbClr val="6E7686"/>
                </a:solidFill>
                <a:latin typeface="Pretendard"/>
              </a:rPr>
              <a:t> · </a:t>
            </a:r>
            <a:r>
              <a:rPr sz="950" dirty="0" err="1">
                <a:solidFill>
                  <a:srgbClr val="6E7686"/>
                </a:solidFill>
                <a:latin typeface="Pretendard"/>
              </a:rPr>
              <a:t>학교도</a:t>
            </a:r>
            <a:r>
              <a:rPr sz="950" dirty="0">
                <a:solidFill>
                  <a:srgbClr val="6E7686"/>
                </a:solidFill>
                <a:latin typeface="Pretendard"/>
              </a:rPr>
              <a:t> </a:t>
            </a:r>
            <a:r>
              <a:rPr sz="950" dirty="0" err="1">
                <a:solidFill>
                  <a:srgbClr val="6E7686"/>
                </a:solidFill>
                <a:latin typeface="Pretendard"/>
              </a:rPr>
              <a:t>통고</a:t>
            </a:r>
            <a:r>
              <a:rPr sz="950" dirty="0">
                <a:solidFill>
                  <a:srgbClr val="6E7686"/>
                </a:solidFill>
                <a:latin typeface="Pretendard"/>
              </a:rPr>
              <a:t> </a:t>
            </a:r>
            <a:r>
              <a:rPr sz="950" dirty="0" err="1">
                <a:solidFill>
                  <a:srgbClr val="6E7686"/>
                </a:solidFill>
                <a:latin typeface="Pretendard"/>
              </a:rPr>
              <a:t>가능</a:t>
            </a:r>
            <a:r>
              <a:rPr sz="950" dirty="0">
                <a:solidFill>
                  <a:srgbClr val="6E7686"/>
                </a:solidFill>
                <a:latin typeface="Pretendard"/>
              </a:rPr>
              <a:t>)</a:t>
            </a:r>
          </a:p>
        </p:txBody>
      </p:sp>
      <p:sp>
        <p:nvSpPr>
          <p:cNvPr id="217" name="sg">
            <a:extLst>
              <a:ext uri="{FF2B5EF4-FFF2-40B4-BE49-F238E27FC236}">
                <a16:creationId xmlns:a16="http://schemas.microsoft.com/office/drawing/2014/main" id="{FC631002-1F4E-4FD3-8D34-767A981FF6DC}"/>
              </a:ext>
            </a:extLst>
          </p:cNvPr>
          <p:cNvSpPr>
            <a:spLocks noGrp="1"/>
          </p:cNvSpPr>
          <p:nvPr/>
        </p:nvSpPr>
        <p:spPr>
          <a:xfrm>
            <a:off x="4626864" y="3120701"/>
            <a:ext cx="2011680" cy="545938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prstDash val="dash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8" name="sgt">
            <a:extLst>
              <a:ext uri="{FF2B5EF4-FFF2-40B4-BE49-F238E27FC236}">
                <a16:creationId xmlns:a16="http://schemas.microsoft.com/office/drawing/2014/main" id="{A2E65825-0FF8-4C79-82A1-6C42E6BBEEA7}"/>
              </a:ext>
            </a:extLst>
          </p:cNvPr>
          <p:cNvSpPr>
            <a:spLocks noGrp="1"/>
          </p:cNvSpPr>
          <p:nvPr/>
        </p:nvSpPr>
        <p:spPr>
          <a:xfrm>
            <a:off x="4626864" y="3112692"/>
            <a:ext cx="2011680" cy="5459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해당 단계 없음</a:t>
            </a:r>
          </a:p>
        </p:txBody>
      </p:sp>
      <p:sp>
        <p:nvSpPr>
          <p:cNvPr id="219" name="sg">
            <a:extLst>
              <a:ext uri="{FF2B5EF4-FFF2-40B4-BE49-F238E27FC236}">
                <a16:creationId xmlns:a16="http://schemas.microsoft.com/office/drawing/2014/main" id="{D5E61E6B-70C8-4565-BF07-4B5CA2A27DC3}"/>
              </a:ext>
            </a:extLst>
          </p:cNvPr>
          <p:cNvSpPr>
            <a:spLocks noGrp="1"/>
          </p:cNvSpPr>
          <p:nvPr/>
        </p:nvSpPr>
        <p:spPr>
          <a:xfrm>
            <a:off x="6931152" y="3120701"/>
            <a:ext cx="2011680" cy="545938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0" name="sgt">
            <a:extLst>
              <a:ext uri="{FF2B5EF4-FFF2-40B4-BE49-F238E27FC236}">
                <a16:creationId xmlns:a16="http://schemas.microsoft.com/office/drawing/2014/main" id="{1E40F325-7E6F-404C-B5D5-572EE89CBAD9}"/>
              </a:ext>
            </a:extLst>
          </p:cNvPr>
          <p:cNvSpPr>
            <a:spLocks noGrp="1"/>
          </p:cNvSpPr>
          <p:nvPr/>
        </p:nvSpPr>
        <p:spPr>
          <a:xfrm>
            <a:off x="6931152" y="3112692"/>
            <a:ext cx="2011680" cy="5459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법원 소년부 심리</a:t>
            </a:r>
          </a:p>
        </p:txBody>
      </p:sp>
      <p:sp>
        <p:nvSpPr>
          <p:cNvPr id="221" name="rs">
            <a:extLst>
              <a:ext uri="{FF2B5EF4-FFF2-40B4-BE49-F238E27FC236}">
                <a16:creationId xmlns:a16="http://schemas.microsoft.com/office/drawing/2014/main" id="{5533B528-5290-4A05-813E-6517E1C96094}"/>
              </a:ext>
            </a:extLst>
          </p:cNvPr>
          <p:cNvSpPr>
            <a:spLocks noGrp="1"/>
          </p:cNvSpPr>
          <p:nvPr/>
        </p:nvSpPr>
        <p:spPr>
          <a:xfrm>
            <a:off x="9235440" y="3120701"/>
            <a:ext cx="2011680" cy="246056"/>
          </a:xfrm>
          <a:prstGeom prst="rect">
            <a:avLst/>
          </a:prstGeom>
          <a:solidFill>
            <a:srgbClr val="F2F4F8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2" name="rst">
            <a:extLst>
              <a:ext uri="{FF2B5EF4-FFF2-40B4-BE49-F238E27FC236}">
                <a16:creationId xmlns:a16="http://schemas.microsoft.com/office/drawing/2014/main" id="{850DFE7E-F061-4ED3-9C74-44F323964AD3}"/>
              </a:ext>
            </a:extLst>
          </p:cNvPr>
          <p:cNvSpPr>
            <a:spLocks noGrp="1"/>
          </p:cNvSpPr>
          <p:nvPr/>
        </p:nvSpPr>
        <p:spPr>
          <a:xfrm>
            <a:off x="9235440" y="3102919"/>
            <a:ext cx="2011680" cy="246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보호처분</a:t>
            </a:r>
          </a:p>
        </p:txBody>
      </p:sp>
      <p:sp>
        <p:nvSpPr>
          <p:cNvPr id="223" name="rs">
            <a:extLst>
              <a:ext uri="{FF2B5EF4-FFF2-40B4-BE49-F238E27FC236}">
                <a16:creationId xmlns:a16="http://schemas.microsoft.com/office/drawing/2014/main" id="{E9694908-E30F-4BD2-AC55-657F7FF56186}"/>
              </a:ext>
            </a:extLst>
          </p:cNvPr>
          <p:cNvSpPr>
            <a:spLocks noGrp="1"/>
          </p:cNvSpPr>
          <p:nvPr/>
        </p:nvSpPr>
        <p:spPr>
          <a:xfrm>
            <a:off x="9235440" y="3420583"/>
            <a:ext cx="2011680" cy="2460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prstDash val="dash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4" name="rst">
            <a:extLst>
              <a:ext uri="{FF2B5EF4-FFF2-40B4-BE49-F238E27FC236}">
                <a16:creationId xmlns:a16="http://schemas.microsoft.com/office/drawing/2014/main" id="{C0BF91F6-71D5-4E75-B810-C08E3EF2C6EC}"/>
              </a:ext>
            </a:extLst>
          </p:cNvPr>
          <p:cNvSpPr>
            <a:spLocks noGrp="1"/>
          </p:cNvSpPr>
          <p:nvPr/>
        </p:nvSpPr>
        <p:spPr>
          <a:xfrm>
            <a:off x="9235440" y="3406326"/>
            <a:ext cx="2011680" cy="246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20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심리불개시 · 불처분</a:t>
            </a:r>
          </a:p>
        </p:txBody>
      </p:sp>
      <p:sp>
        <p:nvSpPr>
          <p:cNvPr id="225" name="ha">
            <a:extLst>
              <a:ext uri="{FF2B5EF4-FFF2-40B4-BE49-F238E27FC236}">
                <a16:creationId xmlns:a16="http://schemas.microsoft.com/office/drawing/2014/main" id="{1723BCBB-6B47-4012-8C82-52ABA7A46FCC}"/>
              </a:ext>
            </a:extLst>
          </p:cNvPr>
          <p:cNvSpPr>
            <a:spLocks noGrp="1"/>
          </p:cNvSpPr>
          <p:nvPr/>
        </p:nvSpPr>
        <p:spPr>
          <a:xfrm>
            <a:off x="4386326" y="3393670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6" name="ha">
            <a:extLst>
              <a:ext uri="{FF2B5EF4-FFF2-40B4-BE49-F238E27FC236}">
                <a16:creationId xmlns:a16="http://schemas.microsoft.com/office/drawing/2014/main" id="{924F06FB-6EEB-4440-8DEB-40D4EE8DDA73}"/>
              </a:ext>
            </a:extLst>
          </p:cNvPr>
          <p:cNvSpPr>
            <a:spLocks noGrp="1"/>
          </p:cNvSpPr>
          <p:nvPr/>
        </p:nvSpPr>
        <p:spPr>
          <a:xfrm>
            <a:off x="6684264" y="3393670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7" name="ha">
            <a:extLst>
              <a:ext uri="{FF2B5EF4-FFF2-40B4-BE49-F238E27FC236}">
                <a16:creationId xmlns:a16="http://schemas.microsoft.com/office/drawing/2014/main" id="{CFC63E48-E33E-4B92-80AE-B29B06AEEC4D}"/>
              </a:ext>
            </a:extLst>
          </p:cNvPr>
          <p:cNvSpPr>
            <a:spLocks noGrp="1"/>
          </p:cNvSpPr>
          <p:nvPr/>
        </p:nvSpPr>
        <p:spPr>
          <a:xfrm>
            <a:off x="8988552" y="3243730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8" name="ha">
            <a:extLst>
              <a:ext uri="{FF2B5EF4-FFF2-40B4-BE49-F238E27FC236}">
                <a16:creationId xmlns:a16="http://schemas.microsoft.com/office/drawing/2014/main" id="{7760E49B-4B6D-4D83-8D19-B70335C1BBBC}"/>
              </a:ext>
            </a:extLst>
          </p:cNvPr>
          <p:cNvSpPr>
            <a:spLocks noGrp="1"/>
          </p:cNvSpPr>
          <p:nvPr/>
        </p:nvSpPr>
        <p:spPr>
          <a:xfrm>
            <a:off x="8988552" y="3543611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9" name="rl">
            <a:extLst>
              <a:ext uri="{FF2B5EF4-FFF2-40B4-BE49-F238E27FC236}">
                <a16:creationId xmlns:a16="http://schemas.microsoft.com/office/drawing/2014/main" id="{EFBF9335-5F03-4B69-8AC3-BAC9876555E3}"/>
              </a:ext>
            </a:extLst>
          </p:cNvPr>
          <p:cNvSpPr>
            <a:spLocks noGrp="1"/>
          </p:cNvSpPr>
          <p:nvPr/>
        </p:nvSpPr>
        <p:spPr>
          <a:xfrm>
            <a:off x="731520" y="3900561"/>
            <a:ext cx="1417320" cy="2152765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0" name="rlt">
            <a:extLst>
              <a:ext uri="{FF2B5EF4-FFF2-40B4-BE49-F238E27FC236}">
                <a16:creationId xmlns:a16="http://schemas.microsoft.com/office/drawing/2014/main" id="{A46518FB-8923-4D8D-BEF4-72F46AE7FBB8}"/>
              </a:ext>
            </a:extLst>
          </p:cNvPr>
          <p:cNvSpPr>
            <a:spLocks noGrp="1"/>
          </p:cNvSpPr>
          <p:nvPr/>
        </p:nvSpPr>
        <p:spPr>
          <a:xfrm>
            <a:off x="731520" y="3884063"/>
            <a:ext cx="1417320" cy="184542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200" b="1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14 ~ 18세</a:t>
            </a:r>
          </a:p>
          <a:p>
            <a:pPr marL="0" indent="0" algn="ctr">
              <a:lnSpc>
                <a:spcPct val="118000"/>
              </a:lnSpc>
              <a:buNone/>
            </a:pPr>
            <a:r>
              <a:rPr sz="1000" dirty="0" err="1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범죄소년</a:t>
            </a:r>
            <a:endParaRPr lang="en-US" sz="1000" dirty="0">
              <a:solidFill>
                <a:srgbClr val="6E768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1" name="sg">
            <a:extLst>
              <a:ext uri="{FF2B5EF4-FFF2-40B4-BE49-F238E27FC236}">
                <a16:creationId xmlns:a16="http://schemas.microsoft.com/office/drawing/2014/main" id="{6925632D-1E49-4C35-81F7-CCA89D162036}"/>
              </a:ext>
            </a:extLst>
          </p:cNvPr>
          <p:cNvSpPr>
            <a:spLocks noGrp="1"/>
          </p:cNvSpPr>
          <p:nvPr/>
        </p:nvSpPr>
        <p:spPr>
          <a:xfrm>
            <a:off x="2322576" y="3944072"/>
            <a:ext cx="1270000" cy="21092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2" name="sgt">
            <a:extLst>
              <a:ext uri="{FF2B5EF4-FFF2-40B4-BE49-F238E27FC236}">
                <a16:creationId xmlns:a16="http://schemas.microsoft.com/office/drawing/2014/main" id="{47E99471-69F4-4CD5-B730-2D2BA3F713EA}"/>
              </a:ext>
            </a:extLst>
          </p:cNvPr>
          <p:cNvSpPr>
            <a:spLocks noGrp="1"/>
          </p:cNvSpPr>
          <p:nvPr/>
        </p:nvSpPr>
        <p:spPr>
          <a:xfrm>
            <a:off x="2322576" y="3931469"/>
            <a:ext cx="1270000" cy="212185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1100" dirty="0">
                <a:solidFill>
                  <a:srgbClr val="2226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형사</a:t>
            </a:r>
            <a:r>
              <a:rPr sz="1100" dirty="0" err="1">
                <a:solidFill>
                  <a:srgbClr val="2226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사건</a:t>
            </a:r>
            <a:r>
              <a:rPr sz="1100" dirty="0">
                <a:solidFill>
                  <a:srgbClr val="2226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100" dirty="0" err="1">
                <a:solidFill>
                  <a:srgbClr val="2226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수사</a:t>
            </a:r>
            <a:endParaRPr lang="en-US" sz="1100" dirty="0">
              <a:solidFill>
                <a:srgbClr val="22263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18000"/>
              </a:lnSpc>
            </a:pPr>
            <a:r>
              <a:rPr lang="en-US" sz="950" dirty="0">
                <a:solidFill>
                  <a:srgbClr val="6E768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950" dirty="0">
                <a:solidFill>
                  <a:srgbClr val="6E768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일부 경미사건은 </a:t>
            </a:r>
            <a:endParaRPr lang="en-US" altLang="ko-KR" sz="950" dirty="0">
              <a:solidFill>
                <a:srgbClr val="6E768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18000"/>
              </a:lnSpc>
            </a:pPr>
            <a:r>
              <a:rPr lang="ko-KR" altLang="en-US" sz="950" dirty="0">
                <a:solidFill>
                  <a:srgbClr val="6E768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경찰 단계에서 훈방 또는 즉결심판 청구 가능</a:t>
            </a:r>
            <a:r>
              <a:rPr lang="en-US" altLang="ko-KR" sz="950" dirty="0">
                <a:solidFill>
                  <a:srgbClr val="6E768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233" name="sg">
            <a:extLst>
              <a:ext uri="{FF2B5EF4-FFF2-40B4-BE49-F238E27FC236}">
                <a16:creationId xmlns:a16="http://schemas.microsoft.com/office/drawing/2014/main" id="{3571A3B2-FB39-48C5-A09D-17EC7BF5797D}"/>
              </a:ext>
            </a:extLst>
          </p:cNvPr>
          <p:cNvSpPr>
            <a:spLocks noGrp="1"/>
          </p:cNvSpPr>
          <p:nvPr/>
        </p:nvSpPr>
        <p:spPr>
          <a:xfrm>
            <a:off x="4626864" y="3962076"/>
            <a:ext cx="2011680" cy="545938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4" name="sgt">
            <a:extLst>
              <a:ext uri="{FF2B5EF4-FFF2-40B4-BE49-F238E27FC236}">
                <a16:creationId xmlns:a16="http://schemas.microsoft.com/office/drawing/2014/main" id="{E18469FE-D355-45EB-948E-B572F3408BAC}"/>
              </a:ext>
            </a:extLst>
          </p:cNvPr>
          <p:cNvSpPr>
            <a:spLocks noGrp="1"/>
          </p:cNvSpPr>
          <p:nvPr/>
        </p:nvSpPr>
        <p:spPr>
          <a:xfrm>
            <a:off x="4626864" y="3954067"/>
            <a:ext cx="2011680" cy="5459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0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검사의</a:t>
            </a:r>
            <a:r>
              <a:rPr sz="1100" dirty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기소</a:t>
            </a:r>
            <a:endParaRPr sz="1100" dirty="0">
              <a:solidFill>
                <a:srgbClr val="22263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5" name="sg">
            <a:extLst>
              <a:ext uri="{FF2B5EF4-FFF2-40B4-BE49-F238E27FC236}">
                <a16:creationId xmlns:a16="http://schemas.microsoft.com/office/drawing/2014/main" id="{165323CF-E53B-44B4-814F-41F21C6930DE}"/>
              </a:ext>
            </a:extLst>
          </p:cNvPr>
          <p:cNvSpPr>
            <a:spLocks noGrp="1"/>
          </p:cNvSpPr>
          <p:nvPr/>
        </p:nvSpPr>
        <p:spPr>
          <a:xfrm>
            <a:off x="6931152" y="3962076"/>
            <a:ext cx="2011680" cy="545938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6" name="sgt">
            <a:extLst>
              <a:ext uri="{FF2B5EF4-FFF2-40B4-BE49-F238E27FC236}">
                <a16:creationId xmlns:a16="http://schemas.microsoft.com/office/drawing/2014/main" id="{25D52D2F-0D88-4A2E-9991-3046A37FA38F}"/>
              </a:ext>
            </a:extLst>
          </p:cNvPr>
          <p:cNvSpPr>
            <a:spLocks noGrp="1"/>
          </p:cNvSpPr>
          <p:nvPr/>
        </p:nvSpPr>
        <p:spPr>
          <a:xfrm>
            <a:off x="6931152" y="3954067"/>
            <a:ext cx="2011680" cy="5459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형사법원 재판</a:t>
            </a:r>
          </a:p>
        </p:txBody>
      </p:sp>
      <p:sp>
        <p:nvSpPr>
          <p:cNvPr id="237" name="rs">
            <a:extLst>
              <a:ext uri="{FF2B5EF4-FFF2-40B4-BE49-F238E27FC236}">
                <a16:creationId xmlns:a16="http://schemas.microsoft.com/office/drawing/2014/main" id="{9B20B3C0-64C7-43CF-815C-3E63C8D40796}"/>
              </a:ext>
            </a:extLst>
          </p:cNvPr>
          <p:cNvSpPr>
            <a:spLocks noGrp="1"/>
          </p:cNvSpPr>
          <p:nvPr/>
        </p:nvSpPr>
        <p:spPr>
          <a:xfrm>
            <a:off x="9235440" y="3962076"/>
            <a:ext cx="2011680" cy="246056"/>
          </a:xfrm>
          <a:prstGeom prst="rect">
            <a:avLst/>
          </a:prstGeom>
          <a:solidFill>
            <a:srgbClr val="F2F4F8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8" name="rst">
            <a:extLst>
              <a:ext uri="{FF2B5EF4-FFF2-40B4-BE49-F238E27FC236}">
                <a16:creationId xmlns:a16="http://schemas.microsoft.com/office/drawing/2014/main" id="{08AAD445-016E-4389-84B8-2AC787BE4967}"/>
              </a:ext>
            </a:extLst>
          </p:cNvPr>
          <p:cNvSpPr>
            <a:spLocks noGrp="1"/>
          </p:cNvSpPr>
          <p:nvPr/>
        </p:nvSpPr>
        <p:spPr>
          <a:xfrm>
            <a:off x="9235440" y="3948300"/>
            <a:ext cx="2011680" cy="246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형 선고</a:t>
            </a:r>
          </a:p>
        </p:txBody>
      </p:sp>
      <p:sp>
        <p:nvSpPr>
          <p:cNvPr id="239" name="rs">
            <a:extLst>
              <a:ext uri="{FF2B5EF4-FFF2-40B4-BE49-F238E27FC236}">
                <a16:creationId xmlns:a16="http://schemas.microsoft.com/office/drawing/2014/main" id="{0E266C17-198F-4665-AEC3-B51F45D17EF6}"/>
              </a:ext>
            </a:extLst>
          </p:cNvPr>
          <p:cNvSpPr>
            <a:spLocks noGrp="1"/>
          </p:cNvSpPr>
          <p:nvPr/>
        </p:nvSpPr>
        <p:spPr>
          <a:xfrm>
            <a:off x="9235440" y="4261958"/>
            <a:ext cx="2011680" cy="2460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prstDash val="dash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0" name="rst">
            <a:extLst>
              <a:ext uri="{FF2B5EF4-FFF2-40B4-BE49-F238E27FC236}">
                <a16:creationId xmlns:a16="http://schemas.microsoft.com/office/drawing/2014/main" id="{BF87E515-B091-49D5-A526-513ABD7A976A}"/>
              </a:ext>
            </a:extLst>
          </p:cNvPr>
          <p:cNvSpPr>
            <a:spLocks noGrp="1"/>
          </p:cNvSpPr>
          <p:nvPr/>
        </p:nvSpPr>
        <p:spPr>
          <a:xfrm>
            <a:off x="9235440" y="4247701"/>
            <a:ext cx="2011680" cy="246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20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무죄 · 공소기각</a:t>
            </a:r>
          </a:p>
        </p:txBody>
      </p:sp>
      <p:sp>
        <p:nvSpPr>
          <p:cNvPr id="241" name="sg">
            <a:extLst>
              <a:ext uri="{FF2B5EF4-FFF2-40B4-BE49-F238E27FC236}">
                <a16:creationId xmlns:a16="http://schemas.microsoft.com/office/drawing/2014/main" id="{3B1E5386-2A9E-4D01-B834-B6AA96E18F77}"/>
              </a:ext>
            </a:extLst>
          </p:cNvPr>
          <p:cNvSpPr>
            <a:spLocks noGrp="1"/>
          </p:cNvSpPr>
          <p:nvPr/>
        </p:nvSpPr>
        <p:spPr>
          <a:xfrm>
            <a:off x="4626864" y="4784828"/>
            <a:ext cx="2011680" cy="545938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2" name="sgt">
            <a:extLst>
              <a:ext uri="{FF2B5EF4-FFF2-40B4-BE49-F238E27FC236}">
                <a16:creationId xmlns:a16="http://schemas.microsoft.com/office/drawing/2014/main" id="{ECDEB3CF-A1D2-4ED8-BBE4-BCE5A33278DD}"/>
              </a:ext>
            </a:extLst>
          </p:cNvPr>
          <p:cNvSpPr>
            <a:spLocks noGrp="1"/>
          </p:cNvSpPr>
          <p:nvPr/>
        </p:nvSpPr>
        <p:spPr>
          <a:xfrm>
            <a:off x="4626864" y="4774576"/>
            <a:ext cx="2011680" cy="5459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검사의 법원 소년부 송치</a:t>
            </a:r>
          </a:p>
        </p:txBody>
      </p:sp>
      <p:sp>
        <p:nvSpPr>
          <p:cNvPr id="243" name="sg">
            <a:extLst>
              <a:ext uri="{FF2B5EF4-FFF2-40B4-BE49-F238E27FC236}">
                <a16:creationId xmlns:a16="http://schemas.microsoft.com/office/drawing/2014/main" id="{CBF1F577-3E26-4D94-8963-D32115C7C821}"/>
              </a:ext>
            </a:extLst>
          </p:cNvPr>
          <p:cNvSpPr>
            <a:spLocks noGrp="1"/>
          </p:cNvSpPr>
          <p:nvPr/>
        </p:nvSpPr>
        <p:spPr>
          <a:xfrm>
            <a:off x="6931152" y="4784828"/>
            <a:ext cx="2011680" cy="545938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4" name="sgt">
            <a:extLst>
              <a:ext uri="{FF2B5EF4-FFF2-40B4-BE49-F238E27FC236}">
                <a16:creationId xmlns:a16="http://schemas.microsoft.com/office/drawing/2014/main" id="{E3FCEDEE-E00F-485B-A2EF-635D35B29A13}"/>
              </a:ext>
            </a:extLst>
          </p:cNvPr>
          <p:cNvSpPr>
            <a:spLocks noGrp="1"/>
          </p:cNvSpPr>
          <p:nvPr/>
        </p:nvSpPr>
        <p:spPr>
          <a:xfrm>
            <a:off x="6931152" y="4774576"/>
            <a:ext cx="2011680" cy="54593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법원 소년부 심리</a:t>
            </a:r>
          </a:p>
        </p:txBody>
      </p:sp>
      <p:sp>
        <p:nvSpPr>
          <p:cNvPr id="245" name="rs">
            <a:extLst>
              <a:ext uri="{FF2B5EF4-FFF2-40B4-BE49-F238E27FC236}">
                <a16:creationId xmlns:a16="http://schemas.microsoft.com/office/drawing/2014/main" id="{FD7A637F-85C9-4ADC-B0FB-7A6DB3C86DC1}"/>
              </a:ext>
            </a:extLst>
          </p:cNvPr>
          <p:cNvSpPr>
            <a:spLocks noGrp="1"/>
          </p:cNvSpPr>
          <p:nvPr/>
        </p:nvSpPr>
        <p:spPr>
          <a:xfrm>
            <a:off x="9235440" y="4784828"/>
            <a:ext cx="2011680" cy="246056"/>
          </a:xfrm>
          <a:prstGeom prst="rect">
            <a:avLst/>
          </a:prstGeom>
          <a:solidFill>
            <a:srgbClr val="F2F4F8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6" name="rst">
            <a:extLst>
              <a:ext uri="{FF2B5EF4-FFF2-40B4-BE49-F238E27FC236}">
                <a16:creationId xmlns:a16="http://schemas.microsoft.com/office/drawing/2014/main" id="{27FFE0E6-F400-465C-BC14-D5454AC837B0}"/>
              </a:ext>
            </a:extLst>
          </p:cNvPr>
          <p:cNvSpPr>
            <a:spLocks noGrp="1"/>
          </p:cNvSpPr>
          <p:nvPr/>
        </p:nvSpPr>
        <p:spPr>
          <a:xfrm>
            <a:off x="9235440" y="4772814"/>
            <a:ext cx="2011680" cy="246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보호처분</a:t>
            </a:r>
          </a:p>
        </p:txBody>
      </p:sp>
      <p:sp>
        <p:nvSpPr>
          <p:cNvPr id="247" name="rs">
            <a:extLst>
              <a:ext uri="{FF2B5EF4-FFF2-40B4-BE49-F238E27FC236}">
                <a16:creationId xmlns:a16="http://schemas.microsoft.com/office/drawing/2014/main" id="{DC001973-2608-4220-BB71-E3C91E513BF5}"/>
              </a:ext>
            </a:extLst>
          </p:cNvPr>
          <p:cNvSpPr>
            <a:spLocks noGrp="1"/>
          </p:cNvSpPr>
          <p:nvPr/>
        </p:nvSpPr>
        <p:spPr>
          <a:xfrm>
            <a:off x="9235440" y="5084710"/>
            <a:ext cx="2011680" cy="2460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prstDash val="dash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8" name="rst">
            <a:extLst>
              <a:ext uri="{FF2B5EF4-FFF2-40B4-BE49-F238E27FC236}">
                <a16:creationId xmlns:a16="http://schemas.microsoft.com/office/drawing/2014/main" id="{255DF218-39D3-4CB4-89AD-3FA36ABC4696}"/>
              </a:ext>
            </a:extLst>
          </p:cNvPr>
          <p:cNvSpPr>
            <a:spLocks noGrp="1"/>
          </p:cNvSpPr>
          <p:nvPr/>
        </p:nvSpPr>
        <p:spPr>
          <a:xfrm>
            <a:off x="9235440" y="5068211"/>
            <a:ext cx="2011680" cy="246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200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심리불개시</a:t>
            </a:r>
            <a:r>
              <a:rPr sz="1200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200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불처분</a:t>
            </a:r>
            <a:endParaRPr sz="1200" dirty="0">
              <a:solidFill>
                <a:srgbClr val="1E276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9" name="sg">
            <a:extLst>
              <a:ext uri="{FF2B5EF4-FFF2-40B4-BE49-F238E27FC236}">
                <a16:creationId xmlns:a16="http://schemas.microsoft.com/office/drawing/2014/main" id="{6F5CF7CE-A309-4A23-B09C-CC0F9EC25A05}"/>
              </a:ext>
            </a:extLst>
          </p:cNvPr>
          <p:cNvSpPr>
            <a:spLocks noGrp="1"/>
          </p:cNvSpPr>
          <p:nvPr/>
        </p:nvSpPr>
        <p:spPr>
          <a:xfrm>
            <a:off x="4626864" y="5438417"/>
            <a:ext cx="2011680" cy="2460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0" name="sgt">
            <a:extLst>
              <a:ext uri="{FF2B5EF4-FFF2-40B4-BE49-F238E27FC236}">
                <a16:creationId xmlns:a16="http://schemas.microsoft.com/office/drawing/2014/main" id="{DEAE9948-C037-4A88-9424-7AFB72EAE787}"/>
              </a:ext>
            </a:extLst>
          </p:cNvPr>
          <p:cNvSpPr>
            <a:spLocks noGrp="1"/>
          </p:cNvSpPr>
          <p:nvPr/>
        </p:nvSpPr>
        <p:spPr>
          <a:xfrm>
            <a:off x="4626864" y="5427203"/>
            <a:ext cx="2011680" cy="246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10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검사의 불기소</a:t>
            </a:r>
          </a:p>
        </p:txBody>
      </p:sp>
      <p:sp>
        <p:nvSpPr>
          <p:cNvPr id="251" name="nd">
            <a:extLst>
              <a:ext uri="{FF2B5EF4-FFF2-40B4-BE49-F238E27FC236}">
                <a16:creationId xmlns:a16="http://schemas.microsoft.com/office/drawing/2014/main" id="{E7807A2D-A6BB-459D-8CD8-29C6309609DB}"/>
              </a:ext>
            </a:extLst>
          </p:cNvPr>
          <p:cNvSpPr>
            <a:spLocks noGrp="1"/>
          </p:cNvSpPr>
          <p:nvPr/>
        </p:nvSpPr>
        <p:spPr>
          <a:xfrm>
            <a:off x="6931152" y="5438417"/>
            <a:ext cx="2011680" cy="246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sz="10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법원</a:t>
            </a:r>
            <a:r>
              <a:rPr sz="10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단계</a:t>
            </a:r>
            <a:r>
              <a:rPr sz="100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없음</a:t>
            </a:r>
            <a:endParaRPr sz="1000" dirty="0">
              <a:solidFill>
                <a:srgbClr val="464D5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2" name="rs">
            <a:extLst>
              <a:ext uri="{FF2B5EF4-FFF2-40B4-BE49-F238E27FC236}">
                <a16:creationId xmlns:a16="http://schemas.microsoft.com/office/drawing/2014/main" id="{651CBECE-E546-40F5-999A-9ECA05A8ABE9}"/>
              </a:ext>
            </a:extLst>
          </p:cNvPr>
          <p:cNvSpPr>
            <a:spLocks noGrp="1"/>
          </p:cNvSpPr>
          <p:nvPr/>
        </p:nvSpPr>
        <p:spPr>
          <a:xfrm>
            <a:off x="9235440" y="5438417"/>
            <a:ext cx="2011680" cy="2460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prstDash val="dash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3" name="rst">
            <a:extLst>
              <a:ext uri="{FF2B5EF4-FFF2-40B4-BE49-F238E27FC236}">
                <a16:creationId xmlns:a16="http://schemas.microsoft.com/office/drawing/2014/main" id="{146F2442-3DA3-4468-BB3A-D6730B7265D3}"/>
              </a:ext>
            </a:extLst>
          </p:cNvPr>
          <p:cNvSpPr>
            <a:spLocks noGrp="1"/>
          </p:cNvSpPr>
          <p:nvPr/>
        </p:nvSpPr>
        <p:spPr>
          <a:xfrm>
            <a:off x="9235440" y="5423199"/>
            <a:ext cx="2011680" cy="246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</a:pPr>
            <a:r>
              <a:rPr sz="1200" dirty="0" err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불기소</a:t>
            </a:r>
            <a:endParaRPr sz="1200" dirty="0">
              <a:solidFill>
                <a:srgbClr val="1E276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4" name="ha">
            <a:extLst>
              <a:ext uri="{FF2B5EF4-FFF2-40B4-BE49-F238E27FC236}">
                <a16:creationId xmlns:a16="http://schemas.microsoft.com/office/drawing/2014/main" id="{062FCBDE-3FDE-4F39-9997-E59B6E63AC1A}"/>
              </a:ext>
            </a:extLst>
          </p:cNvPr>
          <p:cNvSpPr>
            <a:spLocks noGrp="1"/>
          </p:cNvSpPr>
          <p:nvPr/>
        </p:nvSpPr>
        <p:spPr>
          <a:xfrm>
            <a:off x="4341876" y="4235045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5" name="ha">
            <a:extLst>
              <a:ext uri="{FF2B5EF4-FFF2-40B4-BE49-F238E27FC236}">
                <a16:creationId xmlns:a16="http://schemas.microsoft.com/office/drawing/2014/main" id="{C496E960-769F-42F0-8B62-58561E4DE3B3}"/>
              </a:ext>
            </a:extLst>
          </p:cNvPr>
          <p:cNvSpPr>
            <a:spLocks noGrp="1"/>
          </p:cNvSpPr>
          <p:nvPr/>
        </p:nvSpPr>
        <p:spPr>
          <a:xfrm>
            <a:off x="4341876" y="5057798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6" name="ha">
            <a:extLst>
              <a:ext uri="{FF2B5EF4-FFF2-40B4-BE49-F238E27FC236}">
                <a16:creationId xmlns:a16="http://schemas.microsoft.com/office/drawing/2014/main" id="{D204386D-BDF4-48EF-A378-BEDD51BEBCFE}"/>
              </a:ext>
            </a:extLst>
          </p:cNvPr>
          <p:cNvSpPr>
            <a:spLocks noGrp="1"/>
          </p:cNvSpPr>
          <p:nvPr/>
        </p:nvSpPr>
        <p:spPr>
          <a:xfrm>
            <a:off x="4341876" y="5561445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7" name="ha">
            <a:extLst>
              <a:ext uri="{FF2B5EF4-FFF2-40B4-BE49-F238E27FC236}">
                <a16:creationId xmlns:a16="http://schemas.microsoft.com/office/drawing/2014/main" id="{CF7A3C63-A6F6-4F9B-8D04-3D16C72500DE}"/>
              </a:ext>
            </a:extLst>
          </p:cNvPr>
          <p:cNvSpPr>
            <a:spLocks noGrp="1"/>
          </p:cNvSpPr>
          <p:nvPr/>
        </p:nvSpPr>
        <p:spPr>
          <a:xfrm>
            <a:off x="6684264" y="4235045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8" name="ha">
            <a:extLst>
              <a:ext uri="{FF2B5EF4-FFF2-40B4-BE49-F238E27FC236}">
                <a16:creationId xmlns:a16="http://schemas.microsoft.com/office/drawing/2014/main" id="{0D810191-37A8-4DAF-A064-3BBF81FD55FB}"/>
              </a:ext>
            </a:extLst>
          </p:cNvPr>
          <p:cNvSpPr>
            <a:spLocks noGrp="1"/>
          </p:cNvSpPr>
          <p:nvPr/>
        </p:nvSpPr>
        <p:spPr>
          <a:xfrm>
            <a:off x="6684264" y="5057798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9" name="ha">
            <a:extLst>
              <a:ext uri="{FF2B5EF4-FFF2-40B4-BE49-F238E27FC236}">
                <a16:creationId xmlns:a16="http://schemas.microsoft.com/office/drawing/2014/main" id="{404A5DDC-C850-46C7-909C-19649E7A68FC}"/>
              </a:ext>
            </a:extLst>
          </p:cNvPr>
          <p:cNvSpPr>
            <a:spLocks noGrp="1"/>
          </p:cNvSpPr>
          <p:nvPr/>
        </p:nvSpPr>
        <p:spPr>
          <a:xfrm>
            <a:off x="6684264" y="5561445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0" name="ha">
            <a:extLst>
              <a:ext uri="{FF2B5EF4-FFF2-40B4-BE49-F238E27FC236}">
                <a16:creationId xmlns:a16="http://schemas.microsoft.com/office/drawing/2014/main" id="{F42E6749-67B8-4C11-9643-49B40B1E99EE}"/>
              </a:ext>
            </a:extLst>
          </p:cNvPr>
          <p:cNvSpPr>
            <a:spLocks noGrp="1"/>
          </p:cNvSpPr>
          <p:nvPr/>
        </p:nvSpPr>
        <p:spPr>
          <a:xfrm>
            <a:off x="8988552" y="4085105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1" name="ha">
            <a:extLst>
              <a:ext uri="{FF2B5EF4-FFF2-40B4-BE49-F238E27FC236}">
                <a16:creationId xmlns:a16="http://schemas.microsoft.com/office/drawing/2014/main" id="{EAA06AB5-EAAC-4007-A46B-87FED9246073}"/>
              </a:ext>
            </a:extLst>
          </p:cNvPr>
          <p:cNvSpPr>
            <a:spLocks noGrp="1"/>
          </p:cNvSpPr>
          <p:nvPr/>
        </p:nvSpPr>
        <p:spPr>
          <a:xfrm>
            <a:off x="8988552" y="4384986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2" name="ha">
            <a:extLst>
              <a:ext uri="{FF2B5EF4-FFF2-40B4-BE49-F238E27FC236}">
                <a16:creationId xmlns:a16="http://schemas.microsoft.com/office/drawing/2014/main" id="{2394A31C-08BF-45C0-A31F-9F58C74165EF}"/>
              </a:ext>
            </a:extLst>
          </p:cNvPr>
          <p:cNvSpPr>
            <a:spLocks noGrp="1"/>
          </p:cNvSpPr>
          <p:nvPr/>
        </p:nvSpPr>
        <p:spPr>
          <a:xfrm>
            <a:off x="8988552" y="4907857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3" name="ha">
            <a:extLst>
              <a:ext uri="{FF2B5EF4-FFF2-40B4-BE49-F238E27FC236}">
                <a16:creationId xmlns:a16="http://schemas.microsoft.com/office/drawing/2014/main" id="{1D416463-3EAD-4A94-BFE5-1AE314364C91}"/>
              </a:ext>
            </a:extLst>
          </p:cNvPr>
          <p:cNvSpPr>
            <a:spLocks noGrp="1"/>
          </p:cNvSpPr>
          <p:nvPr/>
        </p:nvSpPr>
        <p:spPr>
          <a:xfrm>
            <a:off x="8988552" y="5207738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4" name="ha">
            <a:extLst>
              <a:ext uri="{FF2B5EF4-FFF2-40B4-BE49-F238E27FC236}">
                <a16:creationId xmlns:a16="http://schemas.microsoft.com/office/drawing/2014/main" id="{915119B4-ECD1-416A-AE4B-5374483DB76B}"/>
              </a:ext>
            </a:extLst>
          </p:cNvPr>
          <p:cNvSpPr>
            <a:spLocks noGrp="1"/>
          </p:cNvSpPr>
          <p:nvPr/>
        </p:nvSpPr>
        <p:spPr>
          <a:xfrm>
            <a:off x="8988552" y="5561445"/>
            <a:ext cx="210312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5" name="va">
            <a:extLst>
              <a:ext uri="{FF2B5EF4-FFF2-40B4-BE49-F238E27FC236}">
                <a16:creationId xmlns:a16="http://schemas.microsoft.com/office/drawing/2014/main" id="{72535CB3-699D-41BF-BE70-969CD9F1CDAF}"/>
              </a:ext>
            </a:extLst>
          </p:cNvPr>
          <p:cNvSpPr>
            <a:spLocks noGrp="1"/>
          </p:cNvSpPr>
          <p:nvPr/>
        </p:nvSpPr>
        <p:spPr>
          <a:xfrm>
            <a:off x="7936992" y="4531082"/>
            <a:ext cx="0" cy="230678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6" name="mg">
            <a:extLst>
              <a:ext uri="{FF2B5EF4-FFF2-40B4-BE49-F238E27FC236}">
                <a16:creationId xmlns:a16="http://schemas.microsoft.com/office/drawing/2014/main" id="{B5DE2725-130A-41B0-A81C-C88726DA2FAB}"/>
              </a:ext>
            </a:extLst>
          </p:cNvPr>
          <p:cNvSpPr>
            <a:spLocks noGrp="1"/>
          </p:cNvSpPr>
          <p:nvPr/>
        </p:nvSpPr>
        <p:spPr>
          <a:xfrm>
            <a:off x="8028431" y="4539765"/>
            <a:ext cx="582169" cy="27681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sz="95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소년부</a:t>
            </a:r>
            <a:r>
              <a:rPr sz="95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5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송치</a:t>
            </a:r>
            <a:endParaRPr sz="950" dirty="0">
              <a:solidFill>
                <a:srgbClr val="464D5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line16"/>
          <p:cNvSpPr/>
          <p:nvPr/>
        </p:nv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foot"/>
          <p:cNvSpPr txBox="1"/>
          <p:nvPr/>
        </p:nvSpPr>
        <p:spPr>
          <a:xfrm>
            <a:off x="731520" y="6419088"/>
            <a:ext cx="10725912" cy="301752"/>
          </a:xfrm>
          <a:prstGeom prst="rect">
            <a:avLst/>
          </a:prstGeom>
          <a:noFill/>
        </p:spPr>
        <p:txBody>
          <a:bodyPr wrap="square" lIns="0" tIns="27432" rIns="0" bIns="27432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ko-KR" sz="1050" b="0" dirty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소년법 제4조·제49조·제50조 · 대표 경로이며, 보호자 등의 통고·10세 미만의 아동보호는 별도 요건에 따른다</a:t>
            </a:r>
          </a:p>
        </p:txBody>
      </p:sp>
      <p:sp>
        <p:nvSpPr>
          <p:cNvPr id="2" name="ha">
            <a:extLst>
              <a:ext uri="{FF2B5EF4-FFF2-40B4-BE49-F238E27FC236}">
                <a16:creationId xmlns:a16="http://schemas.microsoft.com/office/drawing/2014/main" id="{16063DBD-A5D4-0D4C-3C42-63F2DFCA799C}"/>
              </a:ext>
            </a:extLst>
          </p:cNvPr>
          <p:cNvSpPr>
            <a:spLocks noGrp="1"/>
          </p:cNvSpPr>
          <p:nvPr/>
        </p:nvSpPr>
        <p:spPr>
          <a:xfrm>
            <a:off x="4334256" y="5910695"/>
            <a:ext cx="4864608" cy="0"/>
          </a:xfrm>
          <a:prstGeom prst="line">
            <a:avLst/>
          </a:prstGeom>
          <a:ln w="19050">
            <a:solidFill>
              <a:srgbClr val="464D5C"/>
            </a:solidFill>
            <a:tailEnd type="triangle" w="sm" len="sm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rs">
            <a:extLst>
              <a:ext uri="{FF2B5EF4-FFF2-40B4-BE49-F238E27FC236}">
                <a16:creationId xmlns:a16="http://schemas.microsoft.com/office/drawing/2014/main" id="{55AE1A09-13E2-72E9-055E-23E394311FFD}"/>
              </a:ext>
            </a:extLst>
          </p:cNvPr>
          <p:cNvSpPr>
            <a:spLocks noGrp="1"/>
          </p:cNvSpPr>
          <p:nvPr/>
        </p:nvSpPr>
        <p:spPr>
          <a:xfrm>
            <a:off x="9235440" y="5770129"/>
            <a:ext cx="2011680" cy="2460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8"/>
            </a:solidFill>
            <a:prstDash val="dash"/>
          </a:ln>
        </p:spPr>
        <p:txBody>
          <a:bodyPr/>
          <a:lstStyle/>
          <a:p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st">
            <a:extLst>
              <a:ext uri="{FF2B5EF4-FFF2-40B4-BE49-F238E27FC236}">
                <a16:creationId xmlns:a16="http://schemas.microsoft.com/office/drawing/2014/main" id="{0CED6FC9-CAAB-806B-8C13-54C909D44EBA}"/>
              </a:ext>
            </a:extLst>
          </p:cNvPr>
          <p:cNvSpPr>
            <a:spLocks noGrp="1"/>
          </p:cNvSpPr>
          <p:nvPr/>
        </p:nvSpPr>
        <p:spPr>
          <a:xfrm>
            <a:off x="9236964" y="5752336"/>
            <a:ext cx="2011680" cy="2460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</a:pPr>
            <a:r>
              <a:rPr sz="1200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불</a:t>
            </a:r>
            <a:r>
              <a:rPr lang="ko-KR" altLang="en-US" sz="1200" dirty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송치</a:t>
            </a:r>
            <a:endParaRPr sz="1200" dirty="0">
              <a:solidFill>
                <a:srgbClr val="1E276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mg">
            <a:extLst>
              <a:ext uri="{FF2B5EF4-FFF2-40B4-BE49-F238E27FC236}">
                <a16:creationId xmlns:a16="http://schemas.microsoft.com/office/drawing/2014/main" id="{AEBE5780-4CBA-5D03-15CA-64FCE2F32A49}"/>
              </a:ext>
            </a:extLst>
          </p:cNvPr>
          <p:cNvSpPr>
            <a:spLocks noGrp="1"/>
          </p:cNvSpPr>
          <p:nvPr/>
        </p:nvSpPr>
        <p:spPr>
          <a:xfrm>
            <a:off x="3592576" y="4899890"/>
            <a:ext cx="713232" cy="27681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ko-KR" altLang="en-US" sz="95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검찰</a:t>
            </a:r>
            <a:r>
              <a:rPr sz="95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5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송치</a:t>
            </a:r>
            <a:endParaRPr sz="950" dirty="0">
              <a:solidFill>
                <a:srgbClr val="464D5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mg">
            <a:extLst>
              <a:ext uri="{FF2B5EF4-FFF2-40B4-BE49-F238E27FC236}">
                <a16:creationId xmlns:a16="http://schemas.microsoft.com/office/drawing/2014/main" id="{C8149740-A8A0-31D3-645F-AAB3D64744FB}"/>
              </a:ext>
            </a:extLst>
          </p:cNvPr>
          <p:cNvSpPr>
            <a:spLocks noGrp="1"/>
          </p:cNvSpPr>
          <p:nvPr/>
        </p:nvSpPr>
        <p:spPr>
          <a:xfrm>
            <a:off x="3676141" y="5756462"/>
            <a:ext cx="582169" cy="27681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ko-KR" altLang="en-US" sz="950" dirty="0" err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불송치</a:t>
            </a:r>
            <a:r>
              <a:rPr lang="ko-KR" altLang="en-US" sz="950" b="1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950" dirty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결정</a:t>
            </a:r>
            <a:endParaRPr sz="950" dirty="0">
              <a:solidFill>
                <a:srgbClr val="464D5C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390B89-597D-F04E-0EE7-16E91AA398B0}"/>
              </a:ext>
            </a:extLst>
          </p:cNvPr>
          <p:cNvCxnSpPr>
            <a:cxnSpLocks/>
            <a:stCxn id="254" idx="0"/>
            <a:endCxn id="256" idx="0"/>
          </p:cNvCxnSpPr>
          <p:nvPr/>
        </p:nvCxnSpPr>
        <p:spPr>
          <a:xfrm>
            <a:off x="4341876" y="4235045"/>
            <a:ext cx="0" cy="1326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821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수강명령과 의료위탁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 — 지역사회에서 사용 중단과 치료 참여를 어떻게 관리하는가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보호관찰은 소년을 시설에 수용하지 않고 지역사회에서 생활하게 하면서, 준수사항과 프로그램 참여를 지도·감독하는 처분이다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3322320" cy="69494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313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제4호 단기 · 제5호 장기</a:t>
            </a:r>
            <a:endParaRPr lang="en-US" sz="130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 결정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53840" y="1920240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9600" y="1920240"/>
            <a:ext cx="3322320" cy="69494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11040" y="1920240"/>
            <a:ext cx="313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보호관찰관의</a:t>
            </a:r>
            <a:endParaRPr lang="en-US" sz="130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 · 감독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41920" y="1920240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7680" y="1920240"/>
            <a:ext cx="3322320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199120" y="1920240"/>
            <a:ext cx="313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특별준수사항을</a:t>
            </a:r>
            <a:endParaRPr lang="en-US" sz="130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붙일 수 있음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724912"/>
            <a:ext cx="3291840" cy="402336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04672" y="272491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붙일 수 있는 내용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023360" y="2724912"/>
            <a:ext cx="7406640" cy="402336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096512" y="2724912"/>
            <a:ext cx="7260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작동하나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3127248"/>
            <a:ext cx="3291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59536" y="3127248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 사용 금지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023360" y="3127248"/>
            <a:ext cx="7406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242816" y="3127248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특별준수사항으로 “마약 등 중독성 있는 물질을 사용하지 않을 것”</a:t>
            </a: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부과할 수 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3621024"/>
            <a:ext cx="3291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59536" y="3621024"/>
            <a:ext cx="250329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약물검사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023360" y="3621024"/>
            <a:ext cx="7406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242816" y="3621024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 투약 · 흡연 · 섭취 여부 검사에 따를 것</a:t>
            </a: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부과할 수 있다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" y="4114800"/>
            <a:ext cx="3291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215188" y="4114800"/>
            <a:ext cx="26801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· 상담 · 프로그램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023360" y="4114800"/>
            <a:ext cx="7406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242816" y="4114800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· 치료 · 처우 프로그램에 관한 보호관찰관의 지시에 따를 것을 부과할 수 있다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31520" y="4608576"/>
            <a:ext cx="3291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59536" y="4608576"/>
            <a:ext cx="259954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이행 확인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023360" y="4608576"/>
            <a:ext cx="7406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42816" y="4608576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보호관찰관이 지도 · 감독하면서 준수 여부를 확인한다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보호관찰은 감독만 하는 처분이 아니라, 지역사회 생활을 유지하면서 사용 중단 · 검사 · 치료 참여를 함께 관리할 수 있는 틀입니다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소년법 제32조 제1항 제4·5호 · 보호관찰 등에 관한 법률 제32조 · 같은 법 시행령 제19조 — 어떤 준수사항을 붙일지는 개별 사건과 소년의 상태에 따라 결정된다</a:t>
            </a:r>
            <a:endParaRPr lang="en-US" sz="1050" dirty="0"/>
          </a:p>
        </p:txBody>
      </p:sp>
      <p:sp>
        <p:nvSpPr>
          <p:cNvPr id="40" name="TextBox 39"/>
          <p:cNvSpPr txBox="1"/>
          <p:nvPr/>
        </p:nvSpPr>
        <p:spPr>
          <a:xfrm>
            <a:off x="731520" y="519379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8871C"/>
                </a:solidFill>
                <a:latin typeface="Pretendard"/>
              </a:rPr>
              <a:t>법적 감독   </a:t>
            </a:r>
            <a:r>
              <a:rPr sz="1150">
                <a:solidFill>
                  <a:srgbClr val="222633"/>
                </a:solidFill>
                <a:latin typeface="Pretendard"/>
              </a:rPr>
              <a:t>치료·재활 참여와 조건 이행을 확인하고, 지키지 않을 때 후속조치를 결정하는 장치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형사재판 경로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소년부의 치료·교육 처분 — 수강명령과 의료위탁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소년부 보호처분에는 프로그램 참여를 명하는 수강명령과, 의료적 치료·요양이 필요한 소년을 기관에 위탁하는 의료위탁이 별도로 마련되어 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56816"/>
            <a:ext cx="516636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9264" y="202996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제2호 수강명령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9264" y="2304288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· 치료 프로그램</a:t>
            </a:r>
            <a:r>
              <a:rPr lang="en-US" sz="1100" dirty="0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sz="1100" dirty="0" err="1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참여하도록</a:t>
            </a:r>
            <a:r>
              <a:rPr lang="en-US" sz="1100" dirty="0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956816"/>
            <a:ext cx="5166360" cy="65836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01384" y="202996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제7호 의료위탁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01384" y="2304288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4D5C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의학적 치료 · 요양</a:t>
            </a:r>
            <a:r>
              <a:rPr lang="en-US" sz="11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필요한 경우 </a:t>
            </a:r>
            <a:r>
              <a:rPr lang="en-US" sz="1100" dirty="0" err="1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기관에</a:t>
            </a:r>
            <a:r>
              <a:rPr lang="en-US" sz="11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24912"/>
            <a:ext cx="5166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27249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무엇인가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724912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시간 동안 범죄성 개선을 위한 교육과 치료를 받도록 하는 보호처분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163824"/>
            <a:ext cx="5166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1638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 · 연령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16382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100시간 이내  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</a:t>
            </a:r>
            <a:r>
              <a:rPr lang="en-US" sz="110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12세 이상</a:t>
            </a:r>
            <a:endParaRPr lang="en-US" sz="1100" b="1" dirty="0">
              <a:highlight>
                <a:srgbClr val="FFFF00"/>
              </a:highlight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" y="3529584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14400" y="35295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집행되나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529584"/>
            <a:ext cx="3136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보호관찰소에서 초기면접·심리검사를 거쳐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사범 · 연령 등 대상자 특성에 맞는 프로그램을 배정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096512"/>
            <a:ext cx="5166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14400" y="409651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 사건에서는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4096512"/>
            <a:ext cx="3136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약물의 신체적·정신적·사회적 폐해 이해</a:t>
            </a:r>
            <a:endParaRPr lang="en-US" sz="1100" b="1" dirty="0">
              <a:highlight>
                <a:srgbClr val="FFFF00"/>
              </a:highlight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투약 유혹에 대한 거절훈련</a:t>
            </a:r>
            <a:endParaRPr lang="en-US" sz="1100" b="1" dirty="0">
              <a:highlight>
                <a:srgbClr val="FFFF00"/>
              </a:highlight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투약 요인에 대한 대처기술 학습</a:t>
            </a:r>
            <a:endParaRPr lang="en-US" sz="1100" b="1" dirty="0">
              <a:highlight>
                <a:srgbClr val="FFFF00"/>
              </a:highlight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63640" y="2724912"/>
            <a:ext cx="5166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46520" y="27249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무엇인가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2440" y="2724912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병원 · 요양소 또는 의료재활소년원에 위탁하는 보호처분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163824"/>
            <a:ext cx="5166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46520" y="31638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92440" y="316382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약물남용 · 중독 등으로 의료적 치료나</a:t>
            </a:r>
            <a:endParaRPr lang="en-US" sz="1100" b="1" dirty="0">
              <a:highlight>
                <a:srgbClr val="FFFF00"/>
              </a:highlight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집중적인 재활이 필요하다고 판단되는 경우</a:t>
            </a:r>
            <a:endParaRPr lang="en-US" sz="1100" b="1" dirty="0">
              <a:highlight>
                <a:srgbClr val="FFFF00"/>
              </a:highlight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63640" y="3529584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46520" y="35295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92440" y="3529584"/>
            <a:ext cx="3136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6개월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필요하면 한 번에 한해 6개월 범위에서 연장 가능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096512"/>
            <a:ext cx="5166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446520" y="409651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다른가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92440" y="4096512"/>
            <a:ext cx="3136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지역사회에서 프로그램에 참여하는 수강명령과 달리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치료기관 등에 위탁하여 의료적 처우를 받게 한다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484632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수강명령은 단순한 강의 듣기가 아니라, 약물 사용의 원인을 다루고 거절 · 대처기술을 연습하는 프로그램까지 포함할 수 있다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484632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제7호 의료위탁은 제32조 제2항이 정한 병합 대상에는 포함되어 </a:t>
            </a:r>
            <a:r>
              <a:rPr lang="en-US" sz="1100" b="1" dirty="0" err="1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있지</a:t>
            </a: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b="1" dirty="0" err="1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않다</a:t>
            </a:r>
            <a:r>
              <a:rPr lang="ko-KR" alt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altLang="ko-KR" sz="1100" b="1" dirty="0">
              <a:solidFill>
                <a:srgbClr val="A8871C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ts val="1600"/>
              </a:lnSpc>
            </a:pPr>
            <a:r>
              <a:rPr lang="ko-KR" alt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보호관찰에 ‘추가로 붙이는 </a:t>
            </a:r>
            <a:r>
              <a:rPr lang="ko-KR" altLang="en-US" sz="1100" b="1" dirty="0" err="1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명령’이라기보다</a:t>
            </a:r>
            <a:r>
              <a:rPr lang="en-US" altLang="ko-KR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의료위탁 자체를 하나의 처분으로 선택하는 방식</a:t>
            </a:r>
            <a:endParaRPr lang="en-US" sz="1100" b="1" dirty="0">
              <a:solidFill>
                <a:srgbClr val="A8871C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5312665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제2호 수강명령은 제4·5호 보호관찰과 병합 가능</a:t>
            </a:r>
            <a:endParaRPr lang="en-US" sz="1000" b="1" dirty="0"/>
          </a:p>
        </p:txBody>
      </p:sp>
      <p:sp>
        <p:nvSpPr>
          <p:cNvPr id="41" name="Shape 39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005840" y="56692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수강명령은 지역사회에서 교육·치료 프로그램에 참여하게 하는 처분이고, 의료위탁은 치료 필요가 큰 경우 치료기관 등에 맡기는 처분입니다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소년법 제32조 제1항 제2·7호 · 제32조 제2항 · 제33조 · 법무부 소년 수강명령 프로그램(약물 치료 분야) — 둘 다 치료와 관련된 처분이지만 개입의 방식과 강도가 다르다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검찰 단계의 선택적 치료경로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형사재판 경로 — 형을 선고받아도 재활교육은 함께 이루어진다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마약류를 위법하게 투약·흡연·섭취한 사람은 재판 결과에 따라 보호관찰 · 수강명령 또는 재활교육 이수명령을 받는다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86537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적용대상 │ </a:t>
            </a: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「마약류관리법」 제3·4·5조를 위반하여 마약류를 투약 · 흡연 · 섭취한 사람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176272"/>
            <a:ext cx="2834640" cy="402336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4672" y="2176272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재판 결과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66160" y="2176272"/>
            <a:ext cx="4480560" cy="402336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39312" y="2176272"/>
            <a:ext cx="4334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이루어지는 조치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76272"/>
            <a:ext cx="3383280" cy="402336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119872" y="2176272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· 어디서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2578608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1248" y="2578608"/>
            <a:ext cx="203429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선고유예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66160" y="2578608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785616" y="2578608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보호관찰을 명할 수 있음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2578608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66176" y="2578608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지역사회에서 보호관찰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10896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41248" y="3108960"/>
            <a:ext cx="203429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집행유예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66160" y="3108960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785616" y="3108960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200시간 범위 재범예방교육 수강명령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3108960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266176" y="3108960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집행유예기간 안에  ·  보호관찰소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639312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41248" y="3639312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벌금형 · 약식명령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66160" y="3639312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785616" y="3639312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200시간 범위 재활교육 프로그램 이수명령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639312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266176" y="3639312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후 6개월 이내  ·  보호관찰소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4169664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41248" y="4169664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실형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566160" y="4169664"/>
            <a:ext cx="4480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785616" y="4169664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200시간 범위 재활교육 프로그램 이수명령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46720" y="4169664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266176" y="4169664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형기 안에  ·  교정시설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1520" y="4882896"/>
            <a:ext cx="10698480" cy="93268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05840" y="4956048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수강명령 · 이수명령에서 무엇을 하나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05840" y="5212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· 상담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05840" y="5468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마약류사범의 행동과 사용문제를 파악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80560" y="5212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폐해 교육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480560" y="5468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 사용이 개인과 생활에 미치는 위해를 이해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55280" y="5212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재범예방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955280" y="5468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사용하지 않도록 필요한 교육과 개입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31520" y="5961888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005840" y="59618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형의 형태에 따라 지역사회 또는 교정시설에서 재범예방교육과 재활교육이 함께 이루어집니다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731520" y="651052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수강 · 이수명령을 부과할 수 없는 특별한 사정이 있으면 예외  ·  「마약류 관리에 관한 법률」 제40조의2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실제 치료·재활 기관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검찰 단계의 선택적 치료경로 — 사법·치료·재활 연계모델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단순 투약사범에게 정식 기소 전 치료·재활 참여를 조건으로 기소유예할 수 있는 경로다</a:t>
            </a:r>
            <a:r>
              <a:rPr lang="en-US" sz="12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— 모든 마약류 사건이 거치는 기본절차는 아니다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2023년 시범  →  2024년 4월 전국 확대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21408"/>
            <a:ext cx="1860678" cy="84124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9070" y="2303617"/>
            <a:ext cx="1853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검찰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9070" y="2559649"/>
            <a:ext cx="18531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연계모델 대상 </a:t>
            </a:r>
            <a:r>
              <a:rPr lang="en-US" sz="100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판단</a:t>
            </a:r>
            <a:endParaRPr lang="en-US" sz="1000" b="1" dirty="0"/>
          </a:p>
        </p:txBody>
      </p:sp>
      <p:sp>
        <p:nvSpPr>
          <p:cNvPr id="12" name="Text 10"/>
          <p:cNvSpPr/>
          <p:nvPr/>
        </p:nvSpPr>
        <p:spPr>
          <a:xfrm>
            <a:off x="2632213" y="2121408"/>
            <a:ext cx="237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0291" y="2121408"/>
            <a:ext cx="1936132" cy="84124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920290" y="2303617"/>
            <a:ext cx="19426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전문상담사 사전평가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20290" y="2559648"/>
            <a:ext cx="1942637" cy="403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ko-KR" alt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대상자와 </a:t>
            </a:r>
            <a:r>
              <a:rPr lang="en-US" altLang="ko-KR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</a:t>
            </a:r>
            <a:r>
              <a:rPr lang="en-US" sz="1000" dirty="0" err="1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면담</a:t>
            </a:r>
            <a:r>
              <a:rPr 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algn="ctr">
              <a:lnSpc>
                <a:spcPts val="1400"/>
              </a:lnSpc>
            </a:pPr>
            <a:r>
              <a:rPr lang="en-US" sz="1000" dirty="0" err="1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중독</a:t>
            </a:r>
            <a:r>
              <a:rPr lang="ko-KR" alt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000" dirty="0" err="1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생활상황</a:t>
            </a:r>
            <a:r>
              <a:rPr lang="en-US" altLang="ko-KR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등</a:t>
            </a:r>
            <a:r>
              <a:rPr 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평가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2928" y="2121408"/>
            <a:ext cx="28887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71436" y="2121408"/>
            <a:ext cx="3533861" cy="84124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171435" y="2219727"/>
            <a:ext cx="35338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r>
              <a:rPr lang="en-US" sz="115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전문가위원회</a:t>
            </a: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71435" y="2475759"/>
            <a:ext cx="353386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ko-KR" alt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정신건강의학과 전문의 등 여러 전문가가 함께 검토 </a:t>
            </a:r>
            <a:endParaRPr lang="en-US" altLang="ko-KR" sz="1000" dirty="0">
              <a:solidFill>
                <a:srgbClr val="464D5C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ctr">
              <a:lnSpc>
                <a:spcPts val="1400"/>
              </a:lnSpc>
            </a:pPr>
            <a:r>
              <a:rPr lang="ko-KR" alt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사전평가 자료를 토대로 </a:t>
            </a:r>
            <a:r>
              <a:rPr lang="ko-KR" altLang="en-US" sz="1000" dirty="0" err="1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중독수준과</a:t>
            </a:r>
            <a:r>
              <a:rPr lang="ko-KR" alt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적절한 치료</a:t>
            </a:r>
            <a:r>
              <a:rPr lang="en-US" altLang="ko-KR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재활 프로그램을 제안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95944" y="2121408"/>
            <a:ext cx="237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33688" y="2121408"/>
            <a:ext cx="249631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025128" y="219456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검사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25128" y="2450592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의견 + 사건내용 검토</a:t>
            </a:r>
            <a:endParaRPr lang="en-US" sz="10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참여조건부 기소유예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054096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 6개월간 치료·재활 + 보호관찰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3328416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96112" y="34198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" y="36941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약물검사 · 참여상황 감독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89120" y="3328416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53712" y="34198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함께한걸음센터 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53712" y="36941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맞춤형 재활프로그램 제공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328416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211312" y="34198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필요 시 치료보호기관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11312" y="36941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판별검사 · 입원 / 통원치료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1520" y="4224528"/>
            <a:ext cx="2651760" cy="7863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31520" y="422452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조건 이행 확인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419856" y="4224528"/>
            <a:ext cx="329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40480" y="4224528"/>
            <a:ext cx="7589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059936" y="4224528"/>
            <a:ext cx="7150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이행   →   </a:t>
            </a:r>
            <a:r>
              <a:rPr 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처분 종료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40480" y="4626864"/>
            <a:ext cx="7589520" cy="38404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059936" y="4626864"/>
            <a:ext cx="7150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중도탈락 · 재범 등 조건 미이행   →   </a:t>
            </a:r>
            <a:r>
              <a:rPr 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기소유예 취소 후 기소 가능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513892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소년의 경우   </a:t>
            </a: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소년에게 조건부 기소유예를 하는 경우 「소년법」 제49조의3에 따라 소년과 친권자 · 후견인 등 법정대리인의 동의가 필요하다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005840" y="54864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전문가가 치료·재활의 필요와 내용을 제안하고, 검사는 법적 처분을 결정하며, 보호관찰소가 그 이행을 감독합니다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법무부 등 관계기관(2024.4.15), 「마약류 단순 투약사범 ‘사법-치료-재활 연계모델’ 전국 확대 실시」 · 「소년법」 제49조의3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10199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청소년 맞춤형 치료·재활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치료보호와 사회재활 — 실제 서비스를 누가 제공하는가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사법기관이 치료를 결정하거나 연계하더라도, 실제 진료와 사회복귀 지원은 의료기관과 재활기관이 제공한다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516636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9264" y="192024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치료보호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395728"/>
            <a:ext cx="5166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3957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하나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23957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 중독 여부 판별검사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중독자로 판명된 경우 입원 · 통원 등 의료적 치료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62656"/>
            <a:ext cx="5166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14400" y="296265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결정하나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296265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보건복지부장관 또는 시 · 도지사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치료보호심사위원회 심의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5166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어디에서 하나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3160" y="34747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지정된 치료보호기관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22192"/>
            <a:ext cx="5166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14400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23160" y="38221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판별검사 1개월 이내  ·  치료보호 12개월 이내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920240"/>
            <a:ext cx="5166360" cy="42062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01384" y="192024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사회재활  —  함께한걸음센터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2395728"/>
            <a:ext cx="5166360" cy="35295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46520" y="2395728"/>
            <a:ext cx="192024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개별상담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58200" y="2395728"/>
            <a:ext cx="27432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심리 · 중독 상담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748686"/>
            <a:ext cx="5166360" cy="35295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46520" y="2748686"/>
            <a:ext cx="192024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사례관리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58200" y="2748686"/>
            <a:ext cx="27432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회복과정 지속 관리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101645"/>
            <a:ext cx="5166360" cy="35295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46520" y="3101645"/>
            <a:ext cx="192024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주간재활프로그램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58200" y="3101645"/>
            <a:ext cx="27432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일과 중심의 회복 프로그램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454603"/>
            <a:ext cx="5166360" cy="35295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446520" y="3454603"/>
            <a:ext cx="192024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가족지원 · 자조모임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58200" y="3454603"/>
            <a:ext cx="27432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가족과 동료의 회복 지원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807562"/>
            <a:ext cx="5166360" cy="35295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446520" y="3807562"/>
            <a:ext cx="192024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사회복귀 지원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58200" y="3807562"/>
            <a:ext cx="27432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단약 유지와 일상 복귀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426110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말 지정 현황</a:t>
            </a:r>
            <a:r>
              <a:rPr lang="en-US" sz="10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※ 전체 연령 대상 지정현황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4535424"/>
            <a:ext cx="3383280" cy="65836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22960" y="45354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32개소    </a:t>
            </a:r>
            <a:r>
              <a:rPr lang="en-US" sz="115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치료보호 지정기관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4389120" y="4535424"/>
            <a:ext cx="3383280" cy="65836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480560" y="45354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332개    </a:t>
            </a:r>
            <a:r>
              <a:rPr lang="en-US" sz="115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지정병상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8046720" y="4535424"/>
            <a:ext cx="3383280" cy="65836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138160" y="45354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17개소    </a:t>
            </a:r>
            <a:r>
              <a:rPr lang="en-US" sz="115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함께한걸음센터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31520" y="526694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‘지정병상’은 법·제도상 지정된 병상 수이며, 특정 시점의 실제 입원 가능 병상 수와는 다를 수 있다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의료적 치료와 일상복귀 지원은 서로 다른 기관에서 이어집니다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「마약류 관리에 관한 법률」 제40조 · 제51조의2 · 「2026년 마약류 관리 시행계획」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10800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치료·재활의 과정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맞춤형 치료·재활 — 무엇이 달라지는가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맞춤형은 별도 프로그램을 두는 것만이 아니라, 위험을 선별하고 참여방식을 조정하며 치료 이후 생활까지 연결하는 것이다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56816"/>
            <a:ext cx="332232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9264" y="2084832"/>
            <a:ext cx="2846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필요를 먼저 확인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9264" y="2414016"/>
            <a:ext cx="2846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 청소년의 사용실태와 위험을 확인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9264" y="2889504"/>
            <a:ext cx="2846832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9264" y="2999232"/>
            <a:ext cx="2846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 단계에서 마약류 사용실태를 살피고 예방교육을 실시한다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위험군은 간이정신진단 등으로 선별해 전문가 상담 · 치료로 연계한다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53840" y="1956816"/>
            <a:ext cx="36576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19600" y="1956816"/>
            <a:ext cx="332232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57344" y="2084832"/>
            <a:ext cx="2846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청소년에게 맞는 재활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57344" y="2414016"/>
            <a:ext cx="2846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청소년이 참여할 수 있는 활동형 프로그램 운영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57344" y="2889504"/>
            <a:ext cx="2846832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657344" y="2999232"/>
            <a:ext cx="2846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함께한걸음센터에서 요리 · 미술 · 야외활동 등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청소년이 지속적으로 참여할 수 있는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맞춤형 프로그램을 운영한다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전국 실시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여성 청소년 프로그램 보급 ·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 밖 청소년 프로그램 개발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41920" y="1956816"/>
            <a:ext cx="36576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07680" y="1956816"/>
            <a:ext cx="3322320" cy="261518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345424" y="2084832"/>
            <a:ext cx="2846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치료 뒤 생활로 연결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45424" y="2414016"/>
            <a:ext cx="2846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치료·재활 종료 뒤 상담복지체계로 연결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45424" y="2889504"/>
            <a:ext cx="2846832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345424" y="2999232"/>
            <a:ext cx="2846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· 재활을 마친 청소년을 청소년상담복지센터와 연계해 개별 사례관리한다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우울 · 불안 등에 대한 상담 · 심리지원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위험이 다시 높아지면 전문기관 재연계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성인과 완전히 다른 치료를 한다는 뜻은 아니다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" y="5230368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05840" y="5230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맞춤형의 핵심은 발달과 생활환경을 고려해 선별 · 참여 · 사후지원을 조정하는 데 있습니다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「제1차 마약류 관리 기본계획(2025~2029)」 · 마약류대책협의회, 「2026년 마약류 관리 시행계획」 — 청소년 재활프로그램 전국 확대 운영, 청소년상담복지센터 연계·관리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75644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현행 대응의 기준선 정리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치료·재활은 한 번의 프로그램으로 끝나지 않는다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문제의 확인 · 평가에서 치료 · 재활과 사후관리까지 이어지는 과정으로 설계되어 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2441448" cy="51206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문제의 확인</a:t>
            </a:r>
            <a:r>
              <a:rPr lang="en-US" altLang="ko-KR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596896"/>
            <a:ext cx="244144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32688" y="2724912"/>
            <a:ext cx="203911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ko-KR" alt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검찰 · 보호관찰 · 상담기관 등에서 사용 문제가 확인되면 평가와 치료·재활로 연계될 수 있다</a:t>
            </a:r>
            <a:endParaRPr lang="en-US" sz="1100" dirty="0"/>
          </a:p>
          <a:p>
            <a:pPr>
              <a:lnSpc>
                <a:spcPts val="1900"/>
              </a:lnSpc>
            </a:pPr>
            <a:r>
              <a:rPr lang="ko-KR" alt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자발적 상담으로도 연결된다 — 1342 24시간 전화 · 채팅 상담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72968" y="2011680"/>
            <a:ext cx="310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83864" y="2011680"/>
            <a:ext cx="2441448" cy="51206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575304" y="201168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평가 · 선별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83864" y="2596896"/>
            <a:ext cx="244144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85032" y="2724912"/>
            <a:ext cx="203911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양상과 위험도를 확인하고, 필요하면 정신건강 · 중독 문제를 추가 평가한다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위험군은 전문상담 · 치료기관과 연계한다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25312" y="2011680"/>
            <a:ext cx="310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36208" y="2011680"/>
            <a:ext cx="2441448" cy="51206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327648" y="201168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치료 · 재활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2596896"/>
            <a:ext cx="244144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37376" y="2724912"/>
            <a:ext cx="203911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의료적 치료가 필요하면 치료기관으로 연결한다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함께한걸음센터 등에서 중독 수준 · 약물 특성에 따른 재활과 사례관리를 제공한다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77656" y="2011680"/>
            <a:ext cx="310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88552" y="2011680"/>
            <a:ext cx="2441448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079992" y="2011680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</a:t>
            </a:r>
            <a:r>
              <a:rPr lang="en-US" sz="125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지역사회</a:t>
            </a: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연계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88552" y="2596896"/>
            <a:ext cx="244144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89720" y="2724912"/>
            <a:ext cx="203911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치료가 끝나도 지원이 이어진다</a:t>
            </a: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endParaRPr lang="en-US" sz="11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청소년상담복지센터 등과 연결해 상담 · 사례관리를 계속한다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517136"/>
            <a:ext cx="10698480" cy="56692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05840" y="4517136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이어지나   </a:t>
            </a: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함께한걸음센터 17개소를 거점으로 중독 수준별 · 약물별 재활과 사례관리가 추진된다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2303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“치료를 받았다”도 평가 · 개입 · 지속기간에 따라 내용이 달라진다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1520" y="5632704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05840" y="563270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치료·재활을 비교할 때는 누가 어떤 평가를 받고 어떤 개입을 얼마나 지속해서 받는지를 비교해야 합니다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식품의약품안전처 2026년 주요업무 추진계획 · 「2026년 마약류 관리 시행계획」 · 1342 용기한걸음센터(한국마약퇴치운동본부) — 함께한걸음센터 17개소는 전체 연령 대상 설치 현황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120423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 사용과 현행 대응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제2장 · 실태와 사용 맥락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대응의 기준선 — 사법처리 안에서도 치료·재활이 연결된다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검찰 · 소년부 · 형사법원은 법적 처분을 결정하고, 치료보호기관과 함께한걸음센터는 실제 치료 · 사회재활을 제공한다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865376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처리 — 처분을 결정한다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21408"/>
            <a:ext cx="334670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50976" y="224942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50976" y="2596896"/>
            <a:ext cx="2907792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0976" y="2688336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조건부 기소유예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사법·치료·재활 연계모델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255264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07408" y="2121408"/>
            <a:ext cx="334670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26864" y="224942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26864" y="2596896"/>
            <a:ext cx="2907792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2688336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보호관찰 · 수강명령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제7호 의료위탁 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07408" y="3255264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83296" y="2121408"/>
            <a:ext cx="334670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02752" y="224942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형사법원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02752" y="2596896"/>
            <a:ext cx="2907792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302752" y="2688336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 선고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수강명령 · 재활교육 이수명령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83296" y="3255264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56616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치료 · 재활 — 서비스를 제공한다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822192"/>
            <a:ext cx="5166360" cy="107899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0976" y="395020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치료보호기관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50976" y="4297680"/>
            <a:ext cx="4727448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50976" y="4389120"/>
            <a:ext cx="4727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중독 판별검사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입원 · 통원 등 의료적 치료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3822192"/>
            <a:ext cx="5166360" cy="107899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83096" y="395020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함께한걸음센터 등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83096" y="4297680"/>
            <a:ext cx="4727448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83096" y="4389120"/>
            <a:ext cx="4727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· 사회재활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회복지원 · 사후연계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1520" y="4992624"/>
            <a:ext cx="10698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05840" y="499262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논제는 치료제도를 새로 만들 것인가를 묻는 것이 아니라, 위법하게 마약류를 사용한 청소년에게 형사제재와 치료·재활의 우선순위 · 시점 · 결합방식을 어떻게 정할 것인가를 묻는다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5705856"/>
            <a:ext cx="10698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05840" y="570585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제2장 — 청소년 마약류의 실태와 사용 맥락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장에서는 그 판단에 앞서 실제 청소년 마약류 사용의 규모 · 약물 · 유입경로 · 사용 배경을 살펴본다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44039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마약류의 실태와 사용 맥락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19세 이하 마약류 사범의 단속 추이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펜타닐 사건 — 의료용 약물이 위법한 사용·유통으로 이어지다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2021년 경남경찰청은 병·의원에서 처방된 펜타닐 패치를 판매·투약한 혐의로 10대 42명을 검거했다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01952"/>
            <a:ext cx="10698480" cy="47548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2020. 6 ~ 2021. 4</a:t>
            </a:r>
            <a:r>
              <a:rPr 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행위        →        </a:t>
            </a: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2021. 5</a:t>
            </a:r>
            <a:r>
              <a:rPr 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검거 발표        </a:t>
            </a: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10대 42명</a:t>
            </a:r>
            <a:r>
              <a:rPr lang="en-US" sz="11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보도에 확인된 연령은 만 17~19세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505456"/>
            <a:ext cx="331012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50976" y="263347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처방 경로를 우회한 확보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0976" y="2980944"/>
            <a:ext cx="2871216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50976" y="3090672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정상적인 진료 절차를 거치지 않고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병·의원 처방과 약국 구입을 통해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패치를 확보한 사례가 확인됐다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41648" y="2505456"/>
            <a:ext cx="3840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25696" y="2505456"/>
            <a:ext cx="331012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45152" y="263347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또래 사이의 유통과 오남용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45152" y="2980944"/>
            <a:ext cx="2871216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45152" y="3090672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확보한 패치가 다른 10대에게 판매됐고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목적이 아닌 방식으로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오남용됐다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35824" y="2505456"/>
            <a:ext cx="38404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19872" y="2505456"/>
            <a:ext cx="331012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39328" y="263347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판매와 사용의 중첩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39328" y="2980944"/>
            <a:ext cx="2871216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339328" y="3090672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검거된 사건 중 일부에서는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본인의 투약과 타인에 대한 판매가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포함되었다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4078224"/>
            <a:ext cx="10698480" cy="84124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05840" y="41513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사용에 대한 인식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00400" y="415137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수사관은 일부가 “의사가 처방한 약”이라는 이유로 문제를 가볍게 받아들였다고 설명했다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05840" y="45171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반복된 사용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00400" y="451713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수사가 진행되는 동안에도 투약하다 적발된 사례가 있었다고 담당 수사관이 설명했다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5084064"/>
            <a:ext cx="10698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69264" y="5084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책임의 범위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108960" y="5084064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사용한 행위와 다른 사람에게 판매한 행위의 책임을 어떻게, 어느 정도로 구분할 것인가?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5522976"/>
            <a:ext cx="10698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969264" y="55229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투약 대응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108960" y="5522976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수사 중에도 반복 투약한다면, 처벌 · 감독과 치료를 어떤 순서와 강도로 적용할 것인가?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서울신문(2021.10.31. 입력 · 11.1. 지면) 보도 · 경남경찰청 담당 수사관 설명 — 수사 발표와 인터뷰 보도 기준이며 수사기록 · 판결문은 대조하지 않았다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마약류의 실태와 사용 맥락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10대 합성대마와 전자담배 형태의 유통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19세 이하 마약류 사범의 단속 추이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19세 이하 단속인원은 2023년에 크게 늘었다가 2024년 감소했으며, 2024년 규모는 2020년보다 컸다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 범위   </a:t>
            </a: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2020~2024년  ·  대검찰청 계열  ·  </a:t>
            </a:r>
            <a:r>
              <a:rPr 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19세 이하</a:t>
            </a: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투약뿐 아니라 </a:t>
            </a:r>
            <a:r>
              <a:rPr 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마약류 범죄</a:t>
            </a: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단속인원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4078224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15768" y="3756241"/>
            <a:ext cx="1133856" cy="321983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377440" y="3463633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313명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3615309"/>
            <a:ext cx="1133856" cy="462915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187952" y="3322701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450명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36792" y="3583419"/>
            <a:ext cx="1133856" cy="494805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98464" y="3290811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481명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7304" y="2558834"/>
            <a:ext cx="1133856" cy="151939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808976" y="226622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1,477명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57816" y="3410598"/>
            <a:ext cx="1133856" cy="66762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619488" y="311799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649명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77440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87952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98464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08976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19488" y="41330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" y="4407408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4462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마약류 사범(명)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44622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18,050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87952" y="44622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16,153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98464" y="44622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18,395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08976" y="44622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27,611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19488" y="44622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23,022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791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중 비중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77440" y="47914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1.7%</a:t>
            </a:r>
            <a:endParaRPr lang="en-US" sz="11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187952" y="47914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2.8%</a:t>
            </a:r>
            <a:endParaRPr lang="en-US" sz="11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998464" y="47914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2.6%</a:t>
            </a:r>
            <a:endParaRPr lang="en-US" sz="11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808976" y="47914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5.3%</a:t>
            </a:r>
            <a:endParaRPr lang="en-US" sz="11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9619488" y="47914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2.8%</a:t>
            </a:r>
            <a:endParaRPr lang="en-US" sz="11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1520" y="528523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단속규모가 오르내리는 동안에도, 사법절차에 들어온 청소년에게 어떤 처우를 제공할지는 계속되는 과제다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31520" y="572414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19세 이하 전체 마약류 범죄 단속인원  ·  14~18세 투약·사용자만의 규모와는 다르며, ‘투약한 청소년 수’나 사용률로 바꾸어 말하지 않는다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국회예산정책처(2025), 「2026년도 예산안 위원회별 분석: 보건복지위원회·성평등가족위원회」 인쇄 183쪽 · 원자료: 검찰 「2024 마약류 범죄백서」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마약류의 실태와 사용 맥락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치료 목적 외 의약품 사용 경험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감정자료에서 본 마약류와 </a:t>
            </a:r>
            <a:r>
              <a:rPr lang="en-US" altLang="ko-KR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r>
              <a:rPr lang="ko-KR" alt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 관련 합성대마</a:t>
            </a:r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감정자료에서는 합성대마류 등 신종 마약류와 전자담배와 유사한 제품 형태가 확인된다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04825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압수품에서 확인된 물질 구성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34086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연령 압수품 성분 기준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7066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메트암페타민</a:t>
            </a: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25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필로폰</a:t>
            </a: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</a:p>
          <a:p>
            <a:pPr marL="0" indent="0">
              <a:buNone/>
            </a:pPr>
            <a:r>
              <a:rPr lang="ko-KR" alt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향정신성의약품 </a:t>
            </a:r>
            <a:r>
              <a:rPr lang="ko-KR" altLang="en-US" sz="12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나목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74342" y="2770632"/>
            <a:ext cx="172676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10838" y="27066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52.7%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2186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신종 마약류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874342" y="3282696"/>
            <a:ext cx="1032129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016199" y="32186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31.5%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50976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안에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80160" y="4041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합성대마류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74342" y="4105656"/>
            <a:ext cx="494767" cy="164592"/>
          </a:xfrm>
          <a:prstGeom prst="rect">
            <a:avLst/>
          </a:prstGeom>
          <a:solidFill>
            <a:srgbClr val="DCE0E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78837" y="40416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15.1%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280160" y="4480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케타민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74342" y="4544568"/>
            <a:ext cx="347320" cy="164592"/>
          </a:xfrm>
          <a:prstGeom prst="rect">
            <a:avLst/>
          </a:prstGeom>
          <a:solidFill>
            <a:srgbClr val="DCE0E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331390" y="4480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10.6%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8210" y="5095855"/>
            <a:ext cx="5166360" cy="202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합성대마류 · 케타민은 신종 마약류에 포함되는 항목이므로 비율을 서로 더하지 않는다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204825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10대 관련 감정에서 확인된 합성대마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63640" y="234086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국과수 감정자료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706624"/>
            <a:ext cx="5166360" cy="96926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19672" y="2798064"/>
            <a:ext cx="4654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합성대마 관련 감정   </a:t>
            </a:r>
            <a:r>
              <a:rPr lang="en-US" sz="2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364건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19672" y="3236976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수가 아니라 감정 관련 건수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822191"/>
            <a:ext cx="5166360" cy="154990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519672" y="3950208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전자담배</a:t>
            </a:r>
            <a:r>
              <a:rPr lang="en-US" sz="130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30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액상</a:t>
            </a:r>
            <a:r>
              <a:rPr lang="en-US" altLang="ko-KR" sz="130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30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카트리지</a:t>
            </a:r>
            <a:r>
              <a:rPr lang="en-US" altLang="ko-KR" sz="130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en-US" sz="130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외형이 유사한 제품 형태가 확인됨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19672" y="4261103"/>
            <a:ext cx="4654296" cy="96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ko-KR" altLang="en-US" sz="1150" b="1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ㅡ</a:t>
            </a:r>
            <a:r>
              <a:rPr lang="ko-KR" alt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일부 청소년에게 이미 익숙한 형태로 사용이 쉽고</a:t>
            </a:r>
            <a:endParaRPr lang="en-US" altLang="ko-KR" sz="1150" b="1" dirty="0">
              <a:solidFill>
                <a:srgbClr val="22263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ts val="1900"/>
              </a:lnSpc>
            </a:pPr>
            <a:r>
              <a:rPr lang="ko-KR" altLang="en-US" sz="1150" b="1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ㅡ</a:t>
            </a:r>
            <a:r>
              <a:rPr lang="ko-KR" alt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익숙한 방식으로 마약에 대한 심리적 접근장벽을 낮출 수 있고</a:t>
            </a:r>
            <a:endParaRPr lang="en-US" altLang="ko-KR" sz="1150" b="1" dirty="0">
              <a:solidFill>
                <a:srgbClr val="22263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ts val="1900"/>
              </a:lnSpc>
            </a:pPr>
            <a:r>
              <a:rPr lang="ko-KR" altLang="en-US" sz="1150" b="1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ㅡ</a:t>
            </a:r>
            <a:r>
              <a:rPr lang="ko-KR" alt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작고 냄새가 적어 학교와 가정에서 발각될 위험이 적다</a:t>
            </a:r>
            <a:endParaRPr lang="en-US" altLang="ko-KR" sz="1150" b="1" dirty="0">
              <a:solidFill>
                <a:srgbClr val="22263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>
              <a:lnSpc>
                <a:spcPts val="1900"/>
              </a:lnSpc>
            </a:pPr>
            <a:r>
              <a:rPr lang="ko-KR" altLang="en-US" sz="1200" b="1" dirty="0"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ko-KR" altLang="en-US" sz="1200" b="1" dirty="0" err="1"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국과수는</a:t>
            </a:r>
            <a:r>
              <a:rPr lang="ko-KR" altLang="en-US" sz="1200" b="1" dirty="0"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청소년의 초기 유입과 연결해 분석</a:t>
            </a:r>
            <a:endParaRPr lang="en-US" altLang="ko-KR" sz="1200" b="1" dirty="0">
              <a:highlight>
                <a:srgbClr val="FFFF00"/>
              </a:highlight>
            </a:endParaRPr>
          </a:p>
          <a:p>
            <a:pPr>
              <a:lnSpc>
                <a:spcPts val="1900"/>
              </a:lnSpc>
            </a:pPr>
            <a:endParaRPr lang="en-US" altLang="ko-KR" sz="1150" b="1" dirty="0">
              <a:solidFill>
                <a:srgbClr val="222633"/>
              </a:solidFill>
              <a:highlight>
                <a:srgbClr val="FFFF00"/>
              </a:highlight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1520" y="544982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약물의 종류뿐 아니라 어떤 형태로 접하고 그것을 무엇이라고 인식했는지도 확인할 필요가 있다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청소년의 약물 접근과 인식도 이 변화와 함께 살펴야 하며, 예방 · 발견 · 치료 과정에서 같은 물음이 이어진다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국립과학수사연구원·행정안전부, 「마약류 감정백서 2025」 발간자료(2026.6.4.) — 압수품 성분 비율은 전체 연령 기준이며 청소년만의 분포가 아니다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마약류의 실태와 사용 맥락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투약에서 판매·유통으로 이어진 상담사례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또래·온라인 관계에서 마약류를 접한 사례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또래</a:t>
            </a:r>
            <a:r>
              <a:rPr lang="en-US" altLang="ko-KR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온라인가족 등 주변 관계는 마약류에 접근하는 경로가 될 수 있지만</a:t>
            </a:r>
            <a:r>
              <a:rPr lang="en-US" altLang="ko-KR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관계는 위험을 발견하고 사용으로의 진행을 막는 보호망이 될 수도 있다</a:t>
            </a:r>
            <a:r>
              <a:rPr lang="en-US" altLang="ko-KR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516178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2231136"/>
            <a:ext cx="46131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사용을 시작한 경험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42032"/>
            <a:ext cx="4613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고3 때 처음 사용했다는 인터뷰 참여자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871216"/>
            <a:ext cx="4613148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9809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980944"/>
            <a:ext cx="3104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여자친구와 동네 선배의 사용 경험을 알게 됐다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35112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3511296"/>
            <a:ext cx="3104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뒤 자신도 사용하게 되었다고 회고했다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4041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관계의 의미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4041648"/>
            <a:ext cx="3104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약물을 사용하는 친구들과 있을 때 소속감을 느꼈다고 설명했다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4590288"/>
            <a:ext cx="4613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 점 │ 사용 시작 · 지속의 관계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8212" y="2103120"/>
            <a:ext cx="5161788" cy="28346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42532" y="2231136"/>
            <a:ext cx="46131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투약 전 발견 사례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42532" y="2542032"/>
            <a:ext cx="4613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고1 남학생 상담사례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42532" y="2871216"/>
            <a:ext cx="4613148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42532" y="29809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51292" y="2980944"/>
            <a:ext cx="3104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온라인으로 알게 된 선배에게 약물을 건네받았다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42532" y="35112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51292" y="3511296"/>
            <a:ext cx="3104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발견해 실제 투약으로 이어지지 않았다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42532" y="4041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보호요인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51292" y="4041648"/>
            <a:ext cx="3104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가족이 위험을 먼저 확인해 지원으로 연결될 수 있었다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42532" y="4590288"/>
            <a:ext cx="4613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 점 │ 위험 발견 · 지원 연결의 관계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51389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청소년의 약물 사용은 또래</a:t>
            </a:r>
            <a:r>
              <a:rPr lang="en-US" altLang="ko-KR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등 관계 속에서 시작될 수 있고</a:t>
            </a:r>
            <a:r>
              <a:rPr lang="en-US" altLang="ko-KR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이후에도 같은 관계와 생활환경의 영향을 받는다</a:t>
            </a:r>
            <a:r>
              <a:rPr lang="en-US" altLang="ko-KR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</a:p>
          <a:p>
            <a:r>
              <a:rPr lang="ko-KR" alt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따라서 처우를 판단할 때 사용행위와 함께 그 청소년이 돌아갈 환경도 살펴볼 필요가 있다</a:t>
            </a:r>
            <a:r>
              <a:rPr lang="en-US" altLang="ko-KR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</p:txBody>
      </p:sp>
      <p:sp>
        <p:nvSpPr>
          <p:cNvPr id="31" name="Text 29"/>
          <p:cNvSpPr/>
          <p:nvPr/>
        </p:nvSpPr>
        <p:spPr>
          <a:xfrm>
            <a:off x="868680" y="57424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서로 다른 두 사람의 회고 · 상담사례다  ·  첫 사례는 인터뷰 당시 23세 성인이 자신의 고교 시절을 회고한 내용이다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연합뉴스, 「[10대 마약의덫] ① 흡연보다 흔해졌다」(2026.9.14.) — 기사 본문 직접 확인 · 기사 제목의 확산 배수나 2차 통계는 화면 결론으로 사용하지 않는다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마약류의 실태와 사용 맥락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위기청소년의 위험 인식과 약물 접근 환경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투약에서 판매·유통으로 — 사용이 계속되며 역할이 달라진 사례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마약을 계속 사용하는 과정에서는 약물을 구할 돈과 새로운 공급경로가 필요해질 수 있다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95681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상담사례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1284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중학교 2학년 여학생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23744"/>
            <a:ext cx="612648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5237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마약을 사용하고 있었다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980944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127248"/>
            <a:ext cx="612648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14400" y="3127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마약을 계속 구해야 하는 상황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584448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30752"/>
            <a:ext cx="6126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14400" y="37307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· 유통에도 가담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18795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334256"/>
            <a:ext cx="6126480" cy="4572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14400" y="43342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상담기관에서 개입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974336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대학을위한마약중독예방재활센터(DAPCOC)는 마약을 사용하다 판매·유통에 가담한 중2 여학생 상담사례를 소개했다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23760" y="19568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사용을 계속하려면 새로운 문제가 생긴다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23760" y="2322576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24928" y="2377440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약물 확보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424928" y="259689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사용이 이어지면 약물을 계속 구해야 한다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6265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310896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24928" y="3163824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돈 · 접근의 문제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24928" y="3383280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약값을 마련하거나 공급자를 계속 찾아야 한다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7490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3895344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424928" y="3950208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범죄 역할의 확대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24928" y="4169664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· 운반에 가담하거나 다른 범죄에 연루될 수 있다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47000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인터뷰에서도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23760" y="4919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중2 때 투약을 시작한 A씨 — 약값 마련 과정에서 </a:t>
            </a:r>
            <a:r>
              <a:rPr lang="en-US" sz="1050" b="1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보이스피싱에 연루</a:t>
            </a:r>
            <a:endParaRPr lang="en-US" sz="1050" b="1" dirty="0"/>
          </a:p>
        </p:txBody>
      </p:sp>
      <p:sp>
        <p:nvSpPr>
          <p:cNvPr id="36" name="Text 34"/>
          <p:cNvSpPr/>
          <p:nvPr/>
        </p:nvSpPr>
        <p:spPr>
          <a:xfrm>
            <a:off x="7223760" y="515408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고3 때 사용을 시작한 B씨가 전한 지인 </a:t>
            </a:r>
            <a:r>
              <a:rPr lang="en-US" sz="1050" dirty="0" err="1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</a:t>
            </a: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— 사용자이면서 판매자인 남자친구와 함께 유통에 가담</a:t>
            </a:r>
            <a:endParaRPr lang="en-US" sz="1050" b="1" dirty="0"/>
          </a:p>
        </p:txBody>
      </p:sp>
      <p:sp>
        <p:nvSpPr>
          <p:cNvPr id="37" name="Text 35"/>
          <p:cNvSpPr/>
          <p:nvPr/>
        </p:nvSpPr>
        <p:spPr>
          <a:xfrm>
            <a:off x="731520" y="561441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사용은 약물을 확보하는 문제를 만들고, 일부 청소년에게서는 그 과정이 새로운 범죄 가담으로 이어졌다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31520" y="588873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따라서 사용을 중단시키는 개입은 추가 투약뿐 아니라 이후의 범죄 가담을 막는 문제와도 연결될 수 있다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연합뉴스, 「[10대 마약의덫] ②」(2026.9.14.) — 기사 본문 직접 확인 · 개별 사례의 최초 사용경위와 상담자의 일반 설명을 구분하며, 거래 수량 · 보상 비율 · 수법은 제외한다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마약류의 실태와 사용 맥락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첫 사용 뒤 무엇이 달라졌나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위기청소년의 마약류 사용 — 어떤 약물을 어떻게 접했나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설문에서는 합성대마와 필로폰이 함께 나타났고 텔레그램이 주된 인지·구입 경로였으며, 심층면접에서는 관계를 통한 첫 접촉이 확인됐다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많이 사용한 마약류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3310128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39572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합성대마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32888" y="2468880"/>
            <a:ext cx="51764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55848" y="23957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33.3%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279806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필로폰 · 메스암페타민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32888" y="2871216"/>
            <a:ext cx="51764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55848" y="27980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33.3%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대마초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32888" y="3273552"/>
            <a:ext cx="259598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355848" y="32004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16.7%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360273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MDMA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32888" y="3675888"/>
            <a:ext cx="259598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355848" y="360273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16.7%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25696" y="197510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알게 됐나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25696" y="2286000"/>
            <a:ext cx="3310128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425696" y="239572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텔레그램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27064" y="2468880"/>
            <a:ext cx="77724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050024" y="23957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50.0%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25696" y="279806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 · 또래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27064" y="2871216"/>
            <a:ext cx="51764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050024" y="27980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33.3%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425696" y="32004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· 블로그 등 </a:t>
            </a:r>
          </a:p>
          <a:p>
            <a:pPr marL="0" indent="0">
              <a:buNone/>
            </a:pPr>
            <a:r>
              <a:rPr lang="en-US" sz="115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</a:t>
            </a: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콘텐츠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27064" y="3273552"/>
            <a:ext cx="259598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050024" y="32004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16.7%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19872" y="197510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구했나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19872" y="2286000"/>
            <a:ext cx="3310128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119872" y="239572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텔레그램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921240" y="2468880"/>
            <a:ext cx="77724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0744200" y="23957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50.0%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119872" y="279806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 · 또래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921240" y="2871216"/>
            <a:ext cx="259598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744200" y="27980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16.7%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19872" y="320040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텔레그램 외 SNS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921240" y="3273552"/>
            <a:ext cx="259598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0744200" y="32004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16.7%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31520" y="405993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│ 위기청소년 297명 가운데 최근 6개월 마약류 사용 경험자 6명의 응답  ·  합계가 100%가 되지 않는 항목이 있다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31520" y="44439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심층면접에서 실제로 나타난 모습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31520" y="4754880"/>
            <a:ext cx="3310128" cy="78638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926672" y="496038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친구의 친구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26672" y="521641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중2 남학생이 친구의 친구를 통해 액상대마를 접함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425696" y="4773649"/>
            <a:ext cx="3310128" cy="78638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626864" y="49483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하우스파티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626864" y="5204380"/>
            <a:ext cx="2907792" cy="20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고2 시기 유학 중 하우스파티에서 대마초를 권유받음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119872" y="4754880"/>
            <a:ext cx="3310128" cy="78638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8321040" y="48280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성인 지인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321040" y="5084064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성인 지인에게서 텔레그램으로 약물을 구하는 방법을 배움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31520" y="5577839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면접사례는 10명의 실제 경로이며 비율로 환산하지 않는다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" y="58521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마약 경험은 마약을 찾아 나선 한 순간보다, 이미 알고 있던 관계 속에서 시작된 경우가 많았다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배상률 외(2025), 한국청소년정책연구원 「사회환경 변화에 따른 청소년보호정책 개선방안 연구Ⅱ」 — 제Ⅲ장 마약류 조사 및 제Ⅳ장 심층면접</a:t>
            </a:r>
            <a:endParaRPr lang="en-US" sz="105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F60048A-E597-7D55-7CC8-422A886766D2}"/>
              </a:ext>
            </a:extLst>
          </p:cNvPr>
          <p:cNvSpPr/>
          <p:nvPr/>
        </p:nvSpPr>
        <p:spPr>
          <a:xfrm>
            <a:off x="4319337" y="2377440"/>
            <a:ext cx="7218947" cy="731520"/>
          </a:xfrm>
          <a:prstGeom prst="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마약류의 실태와 사용 맥락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학교 · 입시 · 가정생활의 변화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사용이 이어지자 주변 관계도 달라졌다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사용이 알려지거나 계속되면서 다른 사용자들이 연결되고, 성인 일탈집단까지 관계망이 확대된 사례가 있었다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2427732" cy="62179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22448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전 관계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9252" y="201168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88436" y="2011680"/>
            <a:ext cx="2427732" cy="62179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579876" y="2011680"/>
            <a:ext cx="22448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사실이 알려짐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16168" y="201168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2011680"/>
            <a:ext cx="2427732" cy="62179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36792" y="2011680"/>
            <a:ext cx="22448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사용자가 접근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73084" y="201168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2268" y="2011680"/>
            <a:ext cx="2427732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093708" y="2011680"/>
            <a:ext cx="22448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성인 관계망까지 확대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962656"/>
            <a:ext cx="10698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69264" y="29626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사건이 알려지자 다른 사용자들이 다가옴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2962656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자신이 마약사건에 연루된 사실이 알려진 뒤, 주변 친구들이 자신의 투약사실을 이야기하며 접근했다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698480" y="296265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675888"/>
            <a:ext cx="10698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69264" y="367588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주변에 사용자가 모임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3675888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마약하는 사람 주변에는 마약하는 사람들만 모인다고 표현했다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698480" y="367588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389120"/>
            <a:ext cx="10698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69264" y="43891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또래에서 성인 일탈망으로 확대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0" y="438912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마약을 사용하는 ‘오빠’를 통해 그 사람의 다른 성인 관계망까지 만나게 됐다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698480" y="438912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" y="526694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사용이 지속되면 기존 관계에서 마약을 떼어내기 어려워질 수 있다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31520" y="557784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경우에는 마약을 사용하는 사람들과의 관계 자체가 생활환경이 되었다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배상률 외(2025), 한국청소년정책연구원 「사회환경 변화에 따른 청소년보호정책 개선방안 연구Ⅱ」 — 심층면접 표 Ⅳ-11, 마약·일탈 네트워크 확장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마약류의 실태와 사용 맥락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학교 · 상담기관과의 연결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문제가 커져도 부모에게 바로 말하지 못했다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심층면접에서는 마약 사용을 숨기거나 혼자 해결하려다 상황이 커진 뒤에야 부모에게 알린 사례가 나타났다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나타난 세 경로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6949440" cy="69494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450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숨김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724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마약에 노출됐지만 혼날 것이 두려워 부모에게 알리지 않음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07238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36976"/>
            <a:ext cx="6949440" cy="69494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3310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혼자 해결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584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경찰과 접촉한 뒤에도 부모 연락처를 말하지 않고 혼자 처리하려 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96512"/>
            <a:ext cx="6949440" cy="6949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05840" y="4169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뒤늦게 알림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4439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해결할 수 없는 상황이 된 뒤에야 부모에게 알림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가족에게 도움을 요청하려 했지만 갈등이 커져 오히려 더 멀어진 사례도 있었다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83296" y="201168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 본 지원 연결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83296" y="2377440"/>
            <a:ext cx="3346704" cy="1591056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083296" y="2542032"/>
            <a:ext cx="3346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4.4%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266176" y="331012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 또는 약물 문제로</a:t>
            </a:r>
            <a:endParaRPr lang="en-US" sz="11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전문기관 상담 · 치료 경험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83296" y="404164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 또는 약물 문제  ·  n=296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83296" y="440740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 징계 · 조치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424160" y="44074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7.4%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83296" y="4773168"/>
            <a:ext cx="3346704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083296" y="480974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처벌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424160" y="48097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3.7%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1520" y="544982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사실을 숨기고 혼자 해결하려는 동안 가족의 개입은 늦어질 수 있었고, 조사에서도 전문 상담 · 치료 경험은 많지 않았다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배상률 외(2025), 한국청소년정책연구원 「사회환경 변화에 따른 청소년보호정책 개선방안 연구Ⅱ」 — 위기청소년 설문 및 심층면접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마약류의 실태와 사용 맥락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제3장 · 형사처벌과 치료·재활의 효과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학교에</a:t>
            </a: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27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기관을</a:t>
            </a: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통한 지원은 제 기능을 하고 있나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학교에 말하지 못하거나, 요청할 기관을 떠올리지 못하거나, 찾아간 뒤에도 필요한 지원으로 이어지지 않은 경험이 나타났다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331012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9264" y="21396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학교에 말하지 않음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" y="254203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 상담실</a:t>
            </a:r>
            <a:r>
              <a:rPr lang="en-US" altLang="ko-KR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sz="110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Wee클래스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)에 알리면 </a:t>
            </a:r>
            <a:r>
              <a:rPr lang="en-US" sz="110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 사용 사실이 주변에 알려질 것 같아 도움을 요청하지 않음</a:t>
            </a:r>
            <a:endParaRPr lang="en-US" sz="1100" b="1" dirty="0">
              <a:highlight>
                <a:srgbClr val="FFFF00"/>
              </a:highlight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25696" y="2011680"/>
            <a:ext cx="331012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21396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도움을 요청할 곳을 떠올리지 못함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54203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문제가 생겨도 누군가나 </a:t>
            </a:r>
            <a:r>
              <a:rPr lang="en-US" sz="110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전문기관에 도움을 요청한다는 생각 자체를 하지 못함</a:t>
            </a:r>
            <a:endParaRPr lang="en-US" sz="1100" b="1" dirty="0">
              <a:highlight>
                <a:srgbClr val="FFFF00"/>
              </a:highlight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19872" y="2011680"/>
            <a:ext cx="3310128" cy="1225296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57616" y="21396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상담기관을 찾았지만 연결되지 않음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7616" y="254203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스스로 상담기관을 </a:t>
            </a:r>
            <a:r>
              <a:rPr lang="en-US" sz="110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찾아갔지만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별다른 조치 없이 보내졌다는 기록도 존재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38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도움을 찾았던 사례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749040"/>
            <a:ext cx="1801368" cy="84124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04672" y="374904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성인이 된 뒤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인터넷으로 도움을 찾음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32888" y="3749040"/>
            <a:ext cx="2194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52344" y="3749040"/>
            <a:ext cx="1801368" cy="84124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825496" y="374904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상담기관 방문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3712" y="3749040"/>
            <a:ext cx="2194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73168" y="3749040"/>
            <a:ext cx="1801368" cy="84124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46320" y="374904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도움을</a:t>
            </a:r>
            <a:endParaRPr lang="en-US" sz="11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받지 못했다고 느낌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74536" y="3749040"/>
            <a:ext cx="2194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93992" y="3749040"/>
            <a:ext cx="1801368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867144" y="374904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경찰에 스스로 신고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97696" y="343814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연구의 위기청소년 설문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97696" y="3749040"/>
            <a:ext cx="24323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997696" y="3840480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4.4%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125712" y="4370832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 또는 약물 문제로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전문기관 상담 · 치료 경험 있음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997696" y="471830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n=296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1520" y="515721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 요청의 어려움은 기관을 찾아가기 전에도 나타났고, 직접 기관을 찾은 뒤에도 필요한 지원으로 이어지지 않은 경험이 있었다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31520" y="544982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치료가 필요한 시점과 실제 전문적 도움을 받는 시점 사이에 공백이 생길 수 있었다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1520" y="5797296"/>
            <a:ext cx="1069848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Text 35"/>
          <p:cNvSpPr/>
          <p:nvPr/>
        </p:nvSpPr>
        <p:spPr>
          <a:xfrm>
            <a:off x="603504" y="5798369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제3장 — 형사처벌과 치료·재활의 효과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배상률 외(2025), 한국청소년정책연구원 「사회환경 변화에 따른 청소년보호정책 개선방안 연구Ⅱ」 — 위기청소년 설문 및 심층면접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소년 약물치료법원 연구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— 특별예방과 일반예방을 나눠 본다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처우를 받은 청소년의 사용중단 · 재범방지 · 생활회복과, 다른 청소년의 사용 억제는 서로 다른 효과다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특별예방</a:t>
            </a:r>
            <a:r>
              <a:rPr lang="en-US" sz="1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처우를 받은 청소년이 다시 범죄하지 않는가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322576"/>
            <a:ext cx="2103120" cy="384048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3225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2322576"/>
            <a:ext cx="5440680" cy="384048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108960" y="232257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효과가 있다면 나타나야 할 변화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706624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2960" y="27066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재사용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8960" y="2706624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28416" y="2706624"/>
            <a:ext cx="5001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마약류를 다시 사용하는 빈도 · 비율이나 사용기간이 줄어든다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328416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332841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재범 · 재접촉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08960" y="3328416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328416" y="3328416"/>
            <a:ext cx="5001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범죄 · 재체포 · 재유죄판결 등 다시 사법절차에 들어오는 일이 줄어든다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950208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2960" y="39502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생활회복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108960" y="3950208"/>
            <a:ext cx="5440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328416" y="3950208"/>
            <a:ext cx="5001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학교생활 · 가족관계 · 정신건강 등 일상 기능이 개선된다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62686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· 재활을 통한 재사회화, 처벌에 의한 개별 억제, 필요시 격리 모두 특별예방의 방식이 될 수 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51976" y="1975104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일반예방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951976" y="2322576"/>
            <a:ext cx="2478024" cy="224942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208008" y="2505456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정책을 직접 적용받지 않은</a:t>
            </a:r>
            <a:endParaRPr lang="en-US" sz="12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청소년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262872" y="3127248"/>
            <a:ext cx="1856232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226296" y="3273552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정책을 직접 적용받지 않은 다른 청소년의 사용 · 범죄가 줄어드는가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992624"/>
            <a:ext cx="54864" cy="566928"/>
          </a:xfrm>
          <a:prstGeom prst="rect">
            <a:avLst/>
          </a:prstGeom>
          <a:solidFill>
            <a:srgbClr val="C2A648"/>
          </a:solidFill>
          <a:ln w="12700">
            <a:solidFill>
              <a:srgbClr val="C2A6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69264" y="4992624"/>
            <a:ext cx="10460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지속성</a:t>
            </a: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감독 · 치료가 끝난 뒤에도 변화가 유지되는가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1520" y="572414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재사용이 줄었다고 재범 · 생활회복 · 일반예방까지 좋아졌다고 말할 수는 없다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뒤에 나오는 연구들은 서로 다른 결과를 측정한다  ·  “효과가 있었다”는 문장을 볼 때마다 어떤 결과가 바뀌었는지를 먼저 확인한다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무작위배정 지역의 결과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소년약물치료법원(JDTC) — 법원 감독과 치료를 묶은 경로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Belenko 연구는 약물사용 문제와 재범위험이 있는 14~17세 청소년을 일반 소년법원 경로와 JDTC 경로에서 비교했다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6760" y="193540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소년약물치료법원 (Juvenile Drug Treatment Court, JDTC)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약물사용 문제가 있는 소년사법 대상 청소년에게</a:t>
            </a:r>
            <a:r>
              <a:rPr 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일반 소년법원 절차보다 </a:t>
            </a:r>
            <a:r>
              <a:rPr lang="en-US" sz="120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· 사례관리 · 가족참여 · 약물검사와 법원의 지속적 감독을 더 체계적으로 결합한 전문 법원 경로</a:t>
            </a:r>
            <a:endParaRPr lang="en-US" sz="1200" b="1" dirty="0">
              <a:highlight>
                <a:srgbClr val="FFFF00"/>
              </a:highlight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252374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치료기관으로 사건을 넘기고 법원이 손을 떼는 방식이 아니라, 치료 참여와 약물사용 여부를 법원이 계속 확인하면서 경로 전체를 관리한다</a:t>
            </a:r>
            <a:endParaRPr lang="en-US" sz="1050" b="1" dirty="0"/>
          </a:p>
        </p:txBody>
      </p:sp>
      <p:sp>
        <p:nvSpPr>
          <p:cNvPr id="12" name="Text 10"/>
          <p:cNvSpPr/>
          <p:nvPr/>
        </p:nvSpPr>
        <p:spPr>
          <a:xfrm>
            <a:off x="731520" y="29443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Belenko et al. 평가 대상 │ </a:t>
            </a:r>
            <a:r>
              <a:rPr lang="en-US" sz="11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14~17세  ·  약물사용 문제  ·  중등도 이상 재범위험이 있는 소년사법 대상 청소년</a:t>
            </a:r>
            <a:endParaRPr lang="en-US" sz="1100" b="1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4171348" cy="243230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50976" y="332841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소년법원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50976" y="3566160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Traditional Juvenile Court, TJC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38953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일반 소년법원 절차에서 사건을 처리한다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37083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지역사회에 </a:t>
            </a:r>
            <a:r>
              <a:rPr 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존재하는 약물치료 · 상담 · 서비스를 이용할 수 있다</a:t>
            </a:r>
            <a:endParaRPr lang="en-US" sz="1150" b="1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일부 법원은 가족참여 · 사례관리 등 </a:t>
            </a:r>
            <a:r>
              <a:rPr 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JDTC와 비슷한 요소도 부분적으로 운영</a:t>
            </a: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하고 있었다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358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치료가 없는 경로는 아니다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73579" y="3291840"/>
            <a:ext cx="6283853" cy="2432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68112" y="3328416"/>
            <a:ext cx="5742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소년약물치료법원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68112" y="3566160"/>
            <a:ext cx="5742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B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Juvenile Drug Treatment Court, JDTC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5926" y="3895344"/>
            <a:ext cx="292367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394960" y="396849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문제를 평가하고 치료를 연결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422452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약물사용 · 재범위험 · 정신건강을 평가하고, 근거기반 치료와 서비스를 개인별로 연결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49056" y="3895344"/>
            <a:ext cx="29199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595360" y="396849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가족까지 치료과정에 참여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422452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· 보호자가 법원과 치료과정에 참여하고 가정에서의 관리와 회복을 함께 다룸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5926" y="4791456"/>
            <a:ext cx="292367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394960" y="486460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법원이 사용중단과 참여를 계속 감독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5120640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약물검사 · 지역사회 감독으로 치료 참여와 준수사항 이행을 지속 확인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49056" y="4791456"/>
            <a:ext cx="291998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595360" y="486460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보상 · </a:t>
            </a:r>
            <a:r>
              <a:rPr lang="en-US" sz="11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제재</a:t>
            </a:r>
            <a:r>
              <a:rPr lang="en-US" altLang="ko-KR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완료까지</a:t>
            </a: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추적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0" y="5120640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준수 · 개선에는 보상, 위반에는 단계적 대응 · 참여와 수료 여부를 계속 확인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58155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경로의 차이는 ‘치료를 하느냐 마느냐’보다, 치료 · 가족 · 사례관리 · 검사와 법적 감독을 얼마나 체계적으로 하나의 경로로 묶었는가에 있었다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1520" y="6108192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가장 좋았던 무작위배정 지역의 JDTC는 지침 이행률도 86% → 92%로 높았다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1520" y="6437376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31520" y="658368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Belenko 외, JDTC 다지역 평가 · OJJDP, Juvenile Drug Treatment Court Guidelines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같은 Drug Court 안에서 치료내용이 달라지면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무작위배정 지역 — 12개월 재체포 일반법원 60%, JDTC 32%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무작위배정</a:t>
            </a: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지역에서 치료 · 감독 결합형 JDTC와 일반 소년법원을 비교했을 때 약물사용과 특별예방 모두에서 JDTC에 유리한 방향이 나타났다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956816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90일 대마사용일수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304288"/>
            <a:ext cx="514807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13181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소년약물치료법원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34916" y="2304288"/>
            <a:ext cx="17816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63.7일</a:t>
            </a:r>
            <a:r>
              <a:rPr lang="en-US" sz="1200" dirty="0">
                <a:solidFill>
                  <a:srgbClr val="AFBB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 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34.7일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7992" y="230428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−29.0일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163824"/>
            <a:ext cx="5148072" cy="74980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32928" y="316382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소년법원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34916" y="3163824"/>
            <a:ext cx="17816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52.0일</a:t>
            </a:r>
            <a:r>
              <a:rPr lang="en-US" sz="12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 </a:t>
            </a:r>
            <a:r>
              <a:rPr lang="en-US" sz="15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39.9일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7992" y="316382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−12.1일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5148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 </a:t>
            </a:r>
            <a:r>
              <a:rPr lang="en-US" sz="1050" dirty="0" err="1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조사응답자</a:t>
            </a: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소년약물치료법원</a:t>
            </a: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n=21 · TJC n=23</a:t>
            </a:r>
            <a:endParaRPr lang="en-US" sz="1050" dirty="0"/>
          </a:p>
          <a:p>
            <a:pPr>
              <a:lnSpc>
                <a:spcPts val="1500"/>
              </a:lnSpc>
            </a:pPr>
            <a:r>
              <a:rPr lang="en-US" sz="1050" dirty="0" err="1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감소폭은</a:t>
            </a: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소년약물치료법원 </a:t>
            </a: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컸지만 집단차이는 p&lt;.10으로 5% 유의수준에는 이르지 않음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81928" y="1956816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12개월 재체포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47688" y="2670048"/>
            <a:ext cx="2025396" cy="1243584"/>
          </a:xfrm>
          <a:prstGeom prst="rect">
            <a:avLst/>
          </a:prstGeom>
          <a:solidFill>
            <a:srgbClr val="DCE0E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647688" y="2304288"/>
            <a:ext cx="20253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64808" y="3986784"/>
            <a:ext cx="2391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소년법원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38844" y="3250387"/>
            <a:ext cx="2025396" cy="663245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038844" y="2884627"/>
            <a:ext cx="20253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855964" y="3986784"/>
            <a:ext cx="2391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소년약물치료법원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81928" y="4315968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법원 행정자료  ·  OR 0.31, p&lt;.05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· 감독 결합형 경로에서 대마사용 감소와 재체포 감소 가능성이 나타났다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5269591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다만 모든 지역에서 같은 크기의 효과가 나타난 것은 아니었다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52297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재체포 60% 대 32%는 한 무작위배정 지역의 결과이며, </a:t>
            </a:r>
            <a:r>
              <a:rPr lang="en-US" sz="1150" b="1" dirty="0" err="1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소년약물치료법원</a:t>
            </a: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평균효과로 일반화할 수 없다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Belenko 외, JDTC 다지역 평가 — 무작위배정이 이루어진 한 지역의 결과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치료구성별 대마검사와 재체포 결과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소년약물법원 감독과 MST · CM을 달리 조합한 네 처우경로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Henggeler(2006)는 통상 법원처리에 소년약물법원 감독을 더하고, 그 위에 다체계치료(MST)와 유관관리(CM)를 차례로 추가해 네 처우조건을 비교했다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연구대상 │ 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12~17세  ·  DSM-IV 약물남용 또는 의존 기준 충족  ·  161명  ·  네 조건에 무작위배정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2191667"/>
            <a:ext cx="514807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69264" y="2283107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다체계치료 (MST)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9264" y="2520851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Multisystemic Therapy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69264" y="2722019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청소년 개인만 상담하지 않고, </a:t>
            </a:r>
            <a:r>
              <a:rPr lang="en-US" sz="115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약물사용과 연결된 생활환경을 함께 바꾸는 집중적인 가족 · 지역사회 치료</a:t>
            </a:r>
            <a:endParaRPr lang="en-US" sz="1150" dirty="0">
              <a:highlight>
                <a:srgbClr val="FFFF00"/>
              </a:highlight>
            </a:endParaRPr>
          </a:p>
        </p:txBody>
      </p:sp>
      <p:sp>
        <p:nvSpPr>
          <p:cNvPr id="44" name="Text 42"/>
          <p:cNvSpPr/>
          <p:nvPr/>
        </p:nvSpPr>
        <p:spPr>
          <a:xfrm>
            <a:off x="969264" y="3142643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ko-KR" altLang="en-US" sz="1000" dirty="0" err="1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ㅡ</a:t>
            </a:r>
            <a:r>
              <a:rPr lang="ko-KR" alt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부모의</a:t>
            </a:r>
            <a:r>
              <a:rPr 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감독과 가정규칙, 또래관계, 학교생활을 함께 다루고 실제 생활에서 행동변화를 만들어 간다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81928" y="2191667"/>
            <a:ext cx="5148072" cy="13533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519672" y="2283107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유관관리 (CM)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19672" y="2520851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Contingency Management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19672" y="2722019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단약과 같은 </a:t>
            </a:r>
            <a:r>
              <a:rPr lang="en-US" sz="115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목표행동에 즉각적인 보상을 연결하는 행동치료</a:t>
            </a:r>
            <a:endParaRPr lang="en-US" sz="1150" dirty="0">
              <a:highlight>
                <a:srgbClr val="FFFF00"/>
              </a:highlight>
            </a:endParaRPr>
          </a:p>
        </p:txBody>
      </p:sp>
      <p:sp>
        <p:nvSpPr>
          <p:cNvPr id="49" name="Text 47"/>
          <p:cNvSpPr/>
          <p:nvPr/>
        </p:nvSpPr>
        <p:spPr>
          <a:xfrm>
            <a:off x="6519672" y="3142643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연구에서는 음성 약물검사에 보상을 제공하고, 약물을 사용하는 상황을 분석해 재사용을 피할 계획과 자기관리 행동을 만들었다</a:t>
            </a:r>
            <a:endParaRPr lang="en-US" sz="1000" dirty="0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4B4B9D62-A59D-3947-3C1A-438CB9FE45B2}"/>
              </a:ext>
            </a:extLst>
          </p:cNvPr>
          <p:cNvSpPr/>
          <p:nvPr/>
        </p:nvSpPr>
        <p:spPr>
          <a:xfrm>
            <a:off x="731520" y="3924703"/>
            <a:ext cx="2372868" cy="676656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DCCB0413-6C1C-328B-1B89-E5741F5EFF7A}"/>
              </a:ext>
            </a:extLst>
          </p:cNvPr>
          <p:cNvSpPr/>
          <p:nvPr/>
        </p:nvSpPr>
        <p:spPr>
          <a:xfrm>
            <a:off x="822960" y="3924703"/>
            <a:ext cx="21899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통상 가정법원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지역사회 치료</a:t>
            </a:r>
            <a:endParaRPr lang="en-US" sz="1150" dirty="0"/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FEC7CBC1-81D0-38A8-EFE7-ABDEFB5F9C9E}"/>
              </a:ext>
            </a:extLst>
          </p:cNvPr>
          <p:cNvSpPr/>
          <p:nvPr/>
        </p:nvSpPr>
        <p:spPr>
          <a:xfrm>
            <a:off x="731520" y="4656223"/>
            <a:ext cx="237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Family Court · n=42</a:t>
            </a:r>
            <a:endParaRPr lang="en-US" sz="950" dirty="0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A71856BB-C966-8D34-2B55-751111130AD6}"/>
              </a:ext>
            </a:extLst>
          </p:cNvPr>
          <p:cNvSpPr/>
          <p:nvPr/>
        </p:nvSpPr>
        <p:spPr>
          <a:xfrm>
            <a:off x="731520" y="4948831"/>
            <a:ext cx="237286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861B04C7-C342-357D-6AB7-BA70E444E98B}"/>
              </a:ext>
            </a:extLst>
          </p:cNvPr>
          <p:cNvSpPr/>
          <p:nvPr/>
        </p:nvSpPr>
        <p:spPr>
          <a:xfrm>
            <a:off x="896112" y="5058559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통상 가정법원 절차</a:t>
            </a:r>
            <a:endParaRPr lang="en-US" sz="10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8B02D6FE-9CF3-BAAE-49B6-6DBAD9653F5D}"/>
              </a:ext>
            </a:extLst>
          </p:cNvPr>
          <p:cNvSpPr/>
          <p:nvPr/>
        </p:nvSpPr>
        <p:spPr>
          <a:xfrm>
            <a:off x="896112" y="5351167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법원 출석 연 1~2회 수준</a:t>
            </a:r>
            <a:endParaRPr lang="en-US" sz="1050" dirty="0"/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0827DD3-C46E-1384-A053-305C00713A92}"/>
              </a:ext>
            </a:extLst>
          </p:cNvPr>
          <p:cNvSpPr/>
          <p:nvPr/>
        </p:nvSpPr>
        <p:spPr>
          <a:xfrm>
            <a:off x="896112" y="5643775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지역사회 외래 약물치료 이용</a:t>
            </a:r>
            <a:endParaRPr lang="en-US" sz="1050" dirty="0"/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84CEBFA1-317D-561F-D222-C80D540DF70D}"/>
              </a:ext>
            </a:extLst>
          </p:cNvPr>
          <p:cNvSpPr/>
          <p:nvPr/>
        </p:nvSpPr>
        <p:spPr>
          <a:xfrm>
            <a:off x="3506724" y="3924703"/>
            <a:ext cx="2372868" cy="676656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C8E4A192-5F96-6D47-781B-3AFEB67A3B32}"/>
              </a:ext>
            </a:extLst>
          </p:cNvPr>
          <p:cNvSpPr/>
          <p:nvPr/>
        </p:nvSpPr>
        <p:spPr>
          <a:xfrm>
            <a:off x="3598164" y="3924703"/>
            <a:ext cx="21899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소년약물법원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기존 지역사회 치료</a:t>
            </a:r>
            <a:endParaRPr lang="en-US" sz="1150" dirty="0"/>
          </a:p>
        </p:txBody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80D21C01-E4F8-B215-A8B7-473A6D0FA7EE}"/>
              </a:ext>
            </a:extLst>
          </p:cNvPr>
          <p:cNvSpPr/>
          <p:nvPr/>
        </p:nvSpPr>
        <p:spPr>
          <a:xfrm>
            <a:off x="3506724" y="4656223"/>
            <a:ext cx="237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Drug Court · n=38</a:t>
            </a:r>
            <a:endParaRPr lang="en-US" sz="950" dirty="0"/>
          </a:p>
        </p:txBody>
      </p:sp>
      <p:sp>
        <p:nvSpPr>
          <p:cNvPr id="73" name="Shape 18">
            <a:extLst>
              <a:ext uri="{FF2B5EF4-FFF2-40B4-BE49-F238E27FC236}">
                <a16:creationId xmlns:a16="http://schemas.microsoft.com/office/drawing/2014/main" id="{A68717AD-0587-5D99-C1E2-60910EFC71B3}"/>
              </a:ext>
            </a:extLst>
          </p:cNvPr>
          <p:cNvSpPr/>
          <p:nvPr/>
        </p:nvSpPr>
        <p:spPr>
          <a:xfrm>
            <a:off x="3506724" y="4948831"/>
            <a:ext cx="237286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545A45A0-5C6B-1E99-2202-0A0206E21521}"/>
              </a:ext>
            </a:extLst>
          </p:cNvPr>
          <p:cNvSpPr/>
          <p:nvPr/>
        </p:nvSpPr>
        <p:spPr>
          <a:xfrm>
            <a:off x="3671316" y="5058559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초기 주 1회 법원 출석</a:t>
            </a:r>
            <a:endParaRPr lang="en-US" sz="1050" dirty="0"/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B330BCBB-A217-3767-E5E7-5772D2068D9F}"/>
              </a:ext>
            </a:extLst>
          </p:cNvPr>
          <p:cNvSpPr/>
          <p:nvPr/>
        </p:nvSpPr>
        <p:spPr>
          <a:xfrm>
            <a:off x="3671316" y="5351167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정기 소변 약물검사</a:t>
            </a:r>
            <a:endParaRPr lang="en-US" sz="1050" dirty="0"/>
          </a:p>
        </p:txBody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9F55CCA5-A892-6AA3-6CC9-C7AA8BAF285F}"/>
              </a:ext>
            </a:extLst>
          </p:cNvPr>
          <p:cNvSpPr/>
          <p:nvPr/>
        </p:nvSpPr>
        <p:spPr>
          <a:xfrm>
            <a:off x="3671316" y="5643775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보호자 · 상담자의 행동보고 확인</a:t>
            </a:r>
            <a:endParaRPr lang="en-US" sz="1050" dirty="0"/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05F7C403-0F09-3867-8573-94C8FC16D647}"/>
              </a:ext>
            </a:extLst>
          </p:cNvPr>
          <p:cNvSpPr/>
          <p:nvPr/>
        </p:nvSpPr>
        <p:spPr>
          <a:xfrm>
            <a:off x="3671316" y="5936383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준수 · 개선 → 보상</a:t>
            </a:r>
            <a:endParaRPr lang="en-US" sz="1050" dirty="0"/>
          </a:p>
        </p:txBody>
      </p:sp>
      <p:sp>
        <p:nvSpPr>
          <p:cNvPr id="83" name="Text 23">
            <a:extLst>
              <a:ext uri="{FF2B5EF4-FFF2-40B4-BE49-F238E27FC236}">
                <a16:creationId xmlns:a16="http://schemas.microsoft.com/office/drawing/2014/main" id="{CE3D060F-AEBE-548F-91B2-C31C5272E8DC}"/>
              </a:ext>
            </a:extLst>
          </p:cNvPr>
          <p:cNvSpPr/>
          <p:nvPr/>
        </p:nvSpPr>
        <p:spPr>
          <a:xfrm>
            <a:off x="3671316" y="6228991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위반 → 단계적 제재</a:t>
            </a:r>
            <a:endParaRPr lang="en-US" sz="1050" dirty="0"/>
          </a:p>
        </p:txBody>
      </p:sp>
      <p:sp>
        <p:nvSpPr>
          <p:cNvPr id="85" name="Text 24">
            <a:extLst>
              <a:ext uri="{FF2B5EF4-FFF2-40B4-BE49-F238E27FC236}">
                <a16:creationId xmlns:a16="http://schemas.microsoft.com/office/drawing/2014/main" id="{C9D44463-DF1D-0CAC-874E-3510DEE87A5E}"/>
              </a:ext>
            </a:extLst>
          </p:cNvPr>
          <p:cNvSpPr/>
          <p:nvPr/>
        </p:nvSpPr>
        <p:spPr>
          <a:xfrm>
            <a:off x="5641848" y="4647079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MST 추가 →</a:t>
            </a:r>
            <a:endParaRPr lang="en-US" sz="950" dirty="0"/>
          </a:p>
        </p:txBody>
      </p:sp>
      <p:sp>
        <p:nvSpPr>
          <p:cNvPr id="87" name="Shape 25">
            <a:extLst>
              <a:ext uri="{FF2B5EF4-FFF2-40B4-BE49-F238E27FC236}">
                <a16:creationId xmlns:a16="http://schemas.microsoft.com/office/drawing/2014/main" id="{FA50F9FF-B3F8-90D3-45E9-73F26020F966}"/>
              </a:ext>
            </a:extLst>
          </p:cNvPr>
          <p:cNvSpPr/>
          <p:nvPr/>
        </p:nvSpPr>
        <p:spPr>
          <a:xfrm>
            <a:off x="6281928" y="3924703"/>
            <a:ext cx="2372868" cy="676656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26">
            <a:extLst>
              <a:ext uri="{FF2B5EF4-FFF2-40B4-BE49-F238E27FC236}">
                <a16:creationId xmlns:a16="http://schemas.microsoft.com/office/drawing/2014/main" id="{229A418D-644E-ADB4-7AD3-33EFA08FAD91}"/>
              </a:ext>
            </a:extLst>
          </p:cNvPr>
          <p:cNvSpPr/>
          <p:nvPr/>
        </p:nvSpPr>
        <p:spPr>
          <a:xfrm>
            <a:off x="6373368" y="3924703"/>
            <a:ext cx="21899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소년약물법원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MST</a:t>
            </a:r>
            <a:endParaRPr lang="en-US" sz="1150" dirty="0"/>
          </a:p>
        </p:txBody>
      </p:sp>
      <p:sp>
        <p:nvSpPr>
          <p:cNvPr id="91" name="Text 27">
            <a:extLst>
              <a:ext uri="{FF2B5EF4-FFF2-40B4-BE49-F238E27FC236}">
                <a16:creationId xmlns:a16="http://schemas.microsoft.com/office/drawing/2014/main" id="{FC79F6CB-52E4-C295-8E10-CA0DB7694B33}"/>
              </a:ext>
            </a:extLst>
          </p:cNvPr>
          <p:cNvSpPr/>
          <p:nvPr/>
        </p:nvSpPr>
        <p:spPr>
          <a:xfrm>
            <a:off x="6281928" y="4656223"/>
            <a:ext cx="237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Drug Court + MST · n=38</a:t>
            </a:r>
            <a:endParaRPr lang="en-US" sz="950" dirty="0"/>
          </a:p>
        </p:txBody>
      </p:sp>
      <p:sp>
        <p:nvSpPr>
          <p:cNvPr id="93" name="Shape 28">
            <a:extLst>
              <a:ext uri="{FF2B5EF4-FFF2-40B4-BE49-F238E27FC236}">
                <a16:creationId xmlns:a16="http://schemas.microsoft.com/office/drawing/2014/main" id="{C43535BB-1FCE-66DB-9BBD-B85740F443D6}"/>
              </a:ext>
            </a:extLst>
          </p:cNvPr>
          <p:cNvSpPr/>
          <p:nvPr/>
        </p:nvSpPr>
        <p:spPr>
          <a:xfrm>
            <a:off x="6281928" y="4948831"/>
            <a:ext cx="237286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29">
            <a:extLst>
              <a:ext uri="{FF2B5EF4-FFF2-40B4-BE49-F238E27FC236}">
                <a16:creationId xmlns:a16="http://schemas.microsoft.com/office/drawing/2014/main" id="{72A3B090-08CB-3BE5-A534-0EB6CE7FA042}"/>
              </a:ext>
            </a:extLst>
          </p:cNvPr>
          <p:cNvSpPr/>
          <p:nvPr/>
        </p:nvSpPr>
        <p:spPr>
          <a:xfrm>
            <a:off x="6446520" y="5058559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②의 법원감독 유지</a:t>
            </a:r>
            <a:endParaRPr lang="en-US" sz="1050" dirty="0"/>
          </a:p>
        </p:txBody>
      </p:sp>
      <p:sp>
        <p:nvSpPr>
          <p:cNvPr id="97" name="Text 30">
            <a:extLst>
              <a:ext uri="{FF2B5EF4-FFF2-40B4-BE49-F238E27FC236}">
                <a16:creationId xmlns:a16="http://schemas.microsoft.com/office/drawing/2014/main" id="{F436F884-7ED5-1813-C9AD-3A7A22130A3E}"/>
              </a:ext>
            </a:extLst>
          </p:cNvPr>
          <p:cNvSpPr/>
          <p:nvPr/>
        </p:nvSpPr>
        <p:spPr>
          <a:xfrm>
            <a:off x="6446520" y="5351167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다체계치료(MST) 추가</a:t>
            </a:r>
            <a:endParaRPr lang="en-US" sz="1050" dirty="0"/>
          </a:p>
        </p:txBody>
      </p:sp>
      <p:sp>
        <p:nvSpPr>
          <p:cNvPr id="99" name="Text 31">
            <a:extLst>
              <a:ext uri="{FF2B5EF4-FFF2-40B4-BE49-F238E27FC236}">
                <a16:creationId xmlns:a16="http://schemas.microsoft.com/office/drawing/2014/main" id="{1AA17BED-FF6A-63F0-E056-9B804ACE502E}"/>
              </a:ext>
            </a:extLst>
          </p:cNvPr>
          <p:cNvSpPr/>
          <p:nvPr/>
        </p:nvSpPr>
        <p:spPr>
          <a:xfrm>
            <a:off x="8490204" y="468269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 추가 →</a:t>
            </a:r>
            <a:endParaRPr lang="en-US" sz="950" dirty="0"/>
          </a:p>
        </p:txBody>
      </p:sp>
      <p:sp>
        <p:nvSpPr>
          <p:cNvPr id="101" name="Shape 32">
            <a:extLst>
              <a:ext uri="{FF2B5EF4-FFF2-40B4-BE49-F238E27FC236}">
                <a16:creationId xmlns:a16="http://schemas.microsoft.com/office/drawing/2014/main" id="{E3882F32-1082-D58C-9172-AB2499B80B93}"/>
              </a:ext>
            </a:extLst>
          </p:cNvPr>
          <p:cNvSpPr/>
          <p:nvPr/>
        </p:nvSpPr>
        <p:spPr>
          <a:xfrm>
            <a:off x="9057132" y="3924703"/>
            <a:ext cx="2372868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33">
            <a:extLst>
              <a:ext uri="{FF2B5EF4-FFF2-40B4-BE49-F238E27FC236}">
                <a16:creationId xmlns:a16="http://schemas.microsoft.com/office/drawing/2014/main" id="{3946F656-AC11-0611-EC31-9B839D851D1E}"/>
              </a:ext>
            </a:extLst>
          </p:cNvPr>
          <p:cNvSpPr/>
          <p:nvPr/>
        </p:nvSpPr>
        <p:spPr>
          <a:xfrm>
            <a:off x="9148572" y="3924703"/>
            <a:ext cx="21899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소년약물법원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MST + CM</a:t>
            </a:r>
            <a:endParaRPr lang="en-US" sz="1150" dirty="0"/>
          </a:p>
        </p:txBody>
      </p:sp>
      <p:sp>
        <p:nvSpPr>
          <p:cNvPr id="105" name="Text 34">
            <a:extLst>
              <a:ext uri="{FF2B5EF4-FFF2-40B4-BE49-F238E27FC236}">
                <a16:creationId xmlns:a16="http://schemas.microsoft.com/office/drawing/2014/main" id="{C2D76E94-9244-13EF-A1EB-1EAD2F8AE65B}"/>
              </a:ext>
            </a:extLst>
          </p:cNvPr>
          <p:cNvSpPr/>
          <p:nvPr/>
        </p:nvSpPr>
        <p:spPr>
          <a:xfrm>
            <a:off x="9057132" y="4656223"/>
            <a:ext cx="237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Drug Court + MST + CM · n=43</a:t>
            </a:r>
            <a:endParaRPr lang="en-US" sz="950" dirty="0"/>
          </a:p>
        </p:txBody>
      </p:sp>
      <p:sp>
        <p:nvSpPr>
          <p:cNvPr id="107" name="Shape 35">
            <a:extLst>
              <a:ext uri="{FF2B5EF4-FFF2-40B4-BE49-F238E27FC236}">
                <a16:creationId xmlns:a16="http://schemas.microsoft.com/office/drawing/2014/main" id="{74BF4326-B010-9DCA-7A32-E737DCE03868}"/>
              </a:ext>
            </a:extLst>
          </p:cNvPr>
          <p:cNvSpPr/>
          <p:nvPr/>
        </p:nvSpPr>
        <p:spPr>
          <a:xfrm>
            <a:off x="9057132" y="4948831"/>
            <a:ext cx="237286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36">
            <a:extLst>
              <a:ext uri="{FF2B5EF4-FFF2-40B4-BE49-F238E27FC236}">
                <a16:creationId xmlns:a16="http://schemas.microsoft.com/office/drawing/2014/main" id="{6CECCD83-46DD-CFD3-0214-1F75A97721F7}"/>
              </a:ext>
            </a:extLst>
          </p:cNvPr>
          <p:cNvSpPr/>
          <p:nvPr/>
        </p:nvSpPr>
        <p:spPr>
          <a:xfrm>
            <a:off x="9221724" y="5058559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③의 법원감독 · MST 유지</a:t>
            </a:r>
            <a:endParaRPr lang="en-US" sz="1050" dirty="0"/>
          </a:p>
        </p:txBody>
      </p:sp>
      <p:sp>
        <p:nvSpPr>
          <p:cNvPr id="111" name="Text 37">
            <a:extLst>
              <a:ext uri="{FF2B5EF4-FFF2-40B4-BE49-F238E27FC236}">
                <a16:creationId xmlns:a16="http://schemas.microsoft.com/office/drawing/2014/main" id="{56D9743C-B2DE-A188-6CD0-60B375D44A40}"/>
              </a:ext>
            </a:extLst>
          </p:cNvPr>
          <p:cNvSpPr/>
          <p:nvPr/>
        </p:nvSpPr>
        <p:spPr>
          <a:xfrm>
            <a:off x="9221724" y="5351167"/>
            <a:ext cx="204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유관관리(CM) 추가</a:t>
            </a:r>
            <a:endParaRPr lang="en-US" sz="1050" dirty="0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2EF38AD-A8D4-D6FF-6237-0C95478C8B30}"/>
              </a:ext>
            </a:extLst>
          </p:cNvPr>
          <p:cNvSpPr/>
          <p:nvPr/>
        </p:nvSpPr>
        <p:spPr>
          <a:xfrm>
            <a:off x="3415284" y="3825563"/>
            <a:ext cx="8123000" cy="2758112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55개 표본을 합치면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소년약물치료법원 세 조건 비교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소년약물법원이라는 제도 이름보다, 그 안에 어떤 치료를 실제로 넣는지가 약물사용 결과에 영향을 줄 수 있었다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004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대마 약물검사 양성 비율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59936" y="2249424"/>
            <a:ext cx="231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Drug Court + 기존 지역치료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9776" y="2249424"/>
            <a:ext cx="231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Drug Court + </a:t>
            </a:r>
            <a:r>
              <a:rPr lang="ko-KR" alt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다체계치료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19616" y="2249424"/>
            <a:ext cx="2310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Drug Court + </a:t>
            </a:r>
            <a:r>
              <a:rPr lang="ko-KR" altLang="en-US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다체계치료 </a:t>
            </a:r>
            <a:r>
              <a:rPr lang="en-US" altLang="ko-KR" sz="11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</a:t>
            </a:r>
            <a:r>
              <a:rPr lang="ko-KR" altLang="en-US" sz="11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유관관리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88336"/>
            <a:ext cx="3108960" cy="7315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68833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4개월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59936" y="2688336"/>
            <a:ext cx="23103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059936" y="2688336"/>
            <a:ext cx="2310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69%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89776" y="2688336"/>
            <a:ext cx="2310384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9776" y="2688336"/>
            <a:ext cx="2310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119616" y="2688336"/>
            <a:ext cx="2310384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19616" y="2688336"/>
            <a:ext cx="2310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1520" y="3529584"/>
            <a:ext cx="3108960" cy="7315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1520" y="35295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4~12개월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59936" y="3529584"/>
            <a:ext cx="23103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059936" y="3529584"/>
            <a:ext cx="2310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589776" y="3529584"/>
            <a:ext cx="2310384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89776" y="3529584"/>
            <a:ext cx="2310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119616" y="3529584"/>
            <a:ext cx="2310384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119616" y="3529584"/>
            <a:ext cx="2310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" y="440740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CM을 더한 집단이 언제나 MST보다 좋았던 것은 아니다  ·  두 MST 조건이 기존 Drug Court 치료보다 낮았다는 점이 핵심이다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718304"/>
            <a:ext cx="5166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69264" y="4791456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재체포 · 수감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9264" y="504748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뒤 네 집단 간 유의한 차이 없음</a:t>
            </a: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자기보고 약물사용과 범죄행동은 Drug Court 조건에서 더 감소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718304"/>
            <a:ext cx="5166360" cy="78638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501384" y="4791456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약물검사 양성 비율과 공식 </a:t>
            </a:r>
            <a:r>
              <a:rPr lang="ko-KR" altLang="en-US" sz="1200" b="1" dirty="0" err="1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재체포</a:t>
            </a:r>
            <a:r>
              <a:rPr lang="ko-KR" altLang="en-US" sz="12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비율 간 불일치에 대한 </a:t>
            </a:r>
            <a:r>
              <a:rPr lang="en-US" sz="1200" b="1" dirty="0" err="1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가능성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01384" y="504748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Drug Court는 검사 · 법원출석 · 감독이 훨씬 잦아 실제 위반을 더 많이 발견했을 </a:t>
            </a:r>
            <a:r>
              <a:rPr lang="en-US" sz="1050" b="1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가능성이</a:t>
            </a: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있다</a:t>
            </a: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같은 수준의 위반행동이 있어도 발견될 기회가 더 많음</a:t>
            </a:r>
            <a:r>
              <a:rPr lang="en-US" altLang="ko-KR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050" b="1" dirty="0"/>
          </a:p>
        </p:txBody>
      </p:sp>
      <p:sp>
        <p:nvSpPr>
          <p:cNvPr id="35" name="Text 33"/>
          <p:cNvSpPr/>
          <p:nvPr/>
        </p:nvSpPr>
        <p:spPr>
          <a:xfrm>
            <a:off x="731520" y="56931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약물사용의 개선과 공식 재범의 감소는 같은 결과가 아니며, 효과를 평가할 때 어떤 지표를 보는지가 중요하다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4676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Henggeler 외, 소년약물법원 무작위통제시험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JDTC의 평균 재범 · 약물사용 효과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JDTC 효과연구 44편을 합친 메타분석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미국에서 JDTC와 전통적 소년법원 처리를 비교한 통제평가를 모아, 재범 · 약물사용 · 프로그램 수료 결과를 따로 합산했다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0698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Tanner-Smith, Mojekwu, &amp; Frankel (2024)   │   </a:t>
            </a:r>
            <a:r>
              <a:rPr lang="en-US" sz="12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44개 연구  ·  55개 표본  ·  12,310명  ·  모두 미국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52374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청소년 · 법원을 모았나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798064"/>
            <a:ext cx="514807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0976" y="284739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연구에 포함된 청소년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312171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평균 연령 16.0세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337774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중 </a:t>
            </a:r>
            <a:r>
              <a:rPr lang="en-US" sz="110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남성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 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0976" y="363377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중 </a:t>
            </a:r>
            <a:r>
              <a:rPr lang="en-US" sz="110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백인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 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96512"/>
            <a:ext cx="5148072" cy="148132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50976" y="418795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포함된 JDTC의 평균적인 운영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" y="4462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프로그램 기간 약 10.5개월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471830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첫 단계 소변검사 주 약 2.1회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0976" y="497433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법원 상태심리 월 약 3.3회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0976" y="523036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평균 3.4단계로 운영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1928" y="252374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표본의 질에 </a:t>
            </a:r>
            <a:r>
              <a:rPr lang="ko-KR" altLang="en-US" sz="125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주의해야한다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81928" y="2798064"/>
            <a:ext cx="51480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501384" y="2871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연구설계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01384" y="312724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무작위배정 연구 4개(7%)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01384" y="338328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회귀불연속 연구 1개(2%)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01384" y="363931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나머지는 주로 준실험 · 관찰적 비교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81928" y="4096512"/>
            <a:ext cx="51480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501384" y="41335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운영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01384" y="4389600"/>
            <a:ext cx="4709160" cy="43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평가된 </a:t>
            </a:r>
            <a:r>
              <a:rPr lang="en-US" altLang="ko-KR" sz="11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</a:t>
            </a:r>
            <a:r>
              <a:rPr lang="ko-KR" altLang="en-US" sz="11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 가운데 상당수에서</a:t>
            </a:r>
            <a:r>
              <a:rPr lang="en-US" altLang="ko-KR" sz="11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프로그램이 설계된 방식 그대로 충분히 운영되지 않았을 가능성이 보고되었다</a:t>
            </a:r>
            <a:r>
              <a:rPr lang="en-US" altLang="ko-KR" sz="11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00" b="1" dirty="0">
              <a:highlight>
                <a:srgbClr val="FFFF00"/>
              </a:highlight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81928" y="5013801"/>
            <a:ext cx="5148072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281928" y="5013801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근거 확실성 — 낮음 또는 매우 낮음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81928" y="5646423"/>
            <a:ext cx="5148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JDTC군과 비교군은 연령은 비슷했지만, 시작시점의 위험수준 · 인종 · 성별 구성에 차이가 있어 선택편향 가능성도 있었다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58338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따라서 개별 무작위배정 연구의 결과와 55개 표본의 평균효과는 구분해서 읽어야 한다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Tanner-Smith, Mojekwu, &amp; Frankel (2024), Criminal Justice and Behavior, 51(1), 148–170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효과자료가 남긴 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 평균효과 — 감독 중 </a:t>
            </a:r>
            <a:r>
              <a:rPr lang="en-US" sz="27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재범만</a:t>
            </a: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7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소폭</a:t>
            </a: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감소</a:t>
            </a: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약물사용은 미확인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효과는 ‘법원 감독 중 </a:t>
            </a:r>
            <a:r>
              <a:rPr lang="en-US" sz="1250" b="1" dirty="0" err="1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재범</a:t>
            </a:r>
            <a:r>
              <a:rPr lang="en-US" sz="125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’, ‘프로그램 종료 뒤 재범’, ‘약물사용’에서 서로 다르게 나타났다</a:t>
            </a:r>
            <a:endParaRPr lang="en-US" sz="1250" dirty="0">
              <a:highlight>
                <a:srgbClr val="FFFF00"/>
              </a:highlight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1956816"/>
            <a:ext cx="332232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50976" y="2048256"/>
            <a:ext cx="2883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법원 감독 중 일반재범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2359152"/>
            <a:ext cx="2883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JDTC에서 소폭 감소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50976" y="2889504"/>
            <a:ext cx="2883408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0976" y="2980944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14개 연구 · 46개 효과크기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0976" y="3255264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재범하지 않을 오즈 1.38배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0976" y="3584448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절대 차이로 환산하면 약 1%p 수준의 작은 효과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19600" y="1956816"/>
            <a:ext cx="3322320" cy="215798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39056" y="2048256"/>
            <a:ext cx="2883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프로그램 종료 뒤 일반재범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39056" y="2359152"/>
            <a:ext cx="2883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JDTC의 우월성 확인되지 않음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39056" y="2889504"/>
            <a:ext cx="2883408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39056" y="2980944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50개 표본 · 254개 효과크기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39056" y="3255264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평균효과가 통계적으로 유의하지 않음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39056" y="3584448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감독 중의 작은 차이가 종료 뒤까지 이어진다는 근거는 없었다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07680" y="1956816"/>
            <a:ext cx="3322320" cy="2157984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327136" y="2048256"/>
            <a:ext cx="2883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약물사용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7136" y="2359152"/>
            <a:ext cx="2883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JDTC의 감소효과 확인되지 않음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27136" y="2889504"/>
            <a:ext cx="2883408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327136" y="2980944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감독 중 약물사용 9개 연구 · 34개 효과크기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27136" y="3255264"/>
            <a:ext cx="2883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집단 간 유의한 차이 없음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7136" y="3584448"/>
            <a:ext cx="2883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종료 뒤 약물사용도 유의한 차이는 확인되지 않았으나 자료가 적어 해석에 주의가 필요하다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261104"/>
            <a:ext cx="10698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05840" y="431596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 평균 수료율   </a:t>
            </a:r>
            <a:r>
              <a:rPr lang="en-US" sz="20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54.74%</a:t>
            </a: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95% CI 50~59%  ·  50개 연구 · 68개 수료율 추정치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05840" y="462686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등록한 청소년 가운데 약 절반만 프로그램을 공식 수료했다  ·  효과크기가 아니라 운영 · 완료의 결과다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" y="50840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문제가 보고된 JDTC에서는 재범효과도 더 작게 나타났다. </a:t>
            </a: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다만 이 관계는 관찰적 비교이므로 구현 문제가 효과 감소의 원인이라고 단정할 수는 없다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394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JDTC를 합친 평균에서는 </a:t>
            </a:r>
            <a:r>
              <a:rPr lang="en-US" sz="125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감독 중 </a:t>
            </a:r>
            <a:r>
              <a:rPr lang="en-US" sz="1250" b="1" dirty="0" err="1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재범에</a:t>
            </a:r>
            <a:r>
              <a:rPr lang="en-US" sz="1250" b="1" dirty="0">
                <a:solidFill>
                  <a:srgbClr val="1E2761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작은 차이가 있었지만, 약물사용 감소와 종료 뒤 재범 감소는 일관되게 확인되지 않았다</a:t>
            </a:r>
            <a:endParaRPr lang="en-US" sz="1250" dirty="0">
              <a:highlight>
                <a:srgbClr val="FFFF00"/>
              </a:highlight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1520" y="570585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수료율 54.7%는 치료 · 감독의 효과뿐 아니라 실제 참여 · 완료가 정책 성과를 좌우한다는 문제로 이어진다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Tanner-Smith, Mojekwu, &amp; Frankel (2024), Criminal Justice and Behavior, 51(1), 148–170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형사제재 · 구금을 강화했을 때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가족·생활환경 개입 치료에서 약물사용 개선 사례가 나타났다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284974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449566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449566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치료를 강화한 연구에서는 약물사용 결과가 개선된 사례가 나타났다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390677"/>
            <a:ext cx="514807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9264" y="2482117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Stanger 외 (2009)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9264" y="2864723"/>
            <a:ext cx="4672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행동훈련 · 가정 단약계약 · 단약 연동 보상을 추가한 조건에서 10주 이상 연속 단약이 늘었다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3707413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치료의 유무가 아니라 보상의 대상과 부모의 역할을 바꾼 결과다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1928" y="2390677"/>
            <a:ext cx="5148072" cy="1773936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19672" y="2482117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Henggeler 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9672" y="2864723"/>
            <a:ext cx="4672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· 가정 · 또래 · 학교까지 다룬 MST 포함 경로에서 기존 지역치료보다 대마 양성검사 비율이 낮았다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9672" y="3707413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같은 소년약물법원 감독 안에서도 치료내용에 따라 결과가 갈렸다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329205"/>
            <a:ext cx="1069848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87552" y="4420645"/>
            <a:ext cx="10186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읽을 한계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4658389"/>
            <a:ext cx="10186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효과가 모든 연구와 모든 시점에서 일관된 것은 아니며, 가족개입 하나만의 독립효과로 분리할 수도 없다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87552" y="4896133"/>
            <a:ext cx="10186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 연구 전체를 합친 분석에서는 약물사용의 평균적인 우위가 확인되지 않았다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5408197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치료·재활 우선 논거에서는 ‘치료를 제공한다’는 것보다 어떤 치료를 얼마나 구체적으로 제공하는지가 중요하게 나타났다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Stanger, Budney, Kamon, &amp; Thostensen (2009), Drug and Alcohol Dependence, 105(3), 240–247 · Henggeler 외, 소년약물법원 무작위통제시험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치료와 법원감독을 결합했을 때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형사제재·구금 — 재범 감소와 장기적인 불리한 결과가 함께 있었다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구금 연구에서는 재범이 줄어든 결과와 교육 · 성인기 결과가 나빠진 결과가 함께 보고됐다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444097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특별예방 — 재범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773281"/>
            <a:ext cx="51480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69264" y="2864721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Hjalmarsson (2009)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3139041"/>
            <a:ext cx="4672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양형기준 경계에서 장기 시설구금을 받은 청소년은 석방 뒤 재범 위험이 약 36% 낮게 추정됐다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9264" y="4144881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형사제재가 그 청소년의 재범을 억제할 가능성을 보여주는 자료다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81928" y="2444097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장기적인 효과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81928" y="2773281"/>
            <a:ext cx="5148072" cy="18288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19672" y="2864721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Aizer &amp; Doyle (2015)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3139041"/>
            <a:ext cx="4672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소년구금은 고교 졸업 가능성을 낮추고 25세까지 성인 교정시설에 수감될 가능성을 높인 것으로 추정됐다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9672" y="4144881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구금의 성과를 재범만으로 평가하면 교육 · 성인기 결과의 비용을 놓칠 수 있다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967841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 우선 여부를 판단할 때에는 재범 억제 가능성과 교육 · 성인기 사법체계 접촉에 미친 결과를 함께 고려해야 한다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278737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연구는 대상 · 제도 · 비교경계 · 관찰기간이 달라 하나의 구금 효과로 합치지 않는다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Hjalmarsson (2009), Journal of Law and Economics, 52(4), 779–809 · Aizer &amp; Doyle (2015), Quarterly Journal of Economics, 130(2), 759–803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효과가 끝난 뒤에도 남는가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+ 법원감독 결합 — 한쪽의 순수효과로 볼 수 없는 경로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82856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82856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소년약물치료법원(JDTC)은 치료와 법적 감독을 하나의 경로로 묶으므로 어느 한쪽의 순수효과로 해석할 수 없다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432066"/>
            <a:ext cx="5148072" cy="859536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9264" y="2505218"/>
            <a:ext cx="4672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9264" y="2779538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· 가족참여 · 사례관리 · 약물검사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79592" y="2432066"/>
            <a:ext cx="4023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81928" y="2432066"/>
            <a:ext cx="5148072" cy="859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19672" y="2505218"/>
            <a:ext cx="4672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감독 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9672" y="2779538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법원심리 · 준수감독 · 보상과 단계적 제재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45619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결합형 경로에서 나온 결과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785378"/>
            <a:ext cx="3346704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32688" y="387681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Belenko 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" y="4151138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무작위배정 지역에서 12개월 재체포가 일반 소년법원보다 낮았다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07408" y="3785378"/>
            <a:ext cx="3346704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08576" y="387681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Henggeler 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08576" y="4151138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약물사용에서는 MST 포함 조건이 더 좋았지만 공식 재체포 · 수감에는 차이가 없었다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83296" y="3785378"/>
            <a:ext cx="3346704" cy="1225296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284464" y="387681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Tanner-Smith 외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84464" y="4151138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감독 중 일반재범은 소폭 개선, 약물사용 평균효과는 불명확, 종료 뒤 재범 우위는 확인되지 않았다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32157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 자료는 치료와 법적 감독을 함께 사용했을 때의 결과이므로, 치료 우선이나 형사처벌 우선 어느 한쪽의 효과로 그대로 읽을 수 없다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Belenko 외, JDTC 다지역 평가 · Henggeler 외, 소년약물법원 무작위통제시험 · Tanner-Smith 외(2024)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논제로 돌아가 정리한다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효과의 유지 — 치료·감독 중 나타난 변화가 종료 뒤에도 계속되는가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2063177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2063177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 중 나타난 효과와 프로그램 종료 뒤에도 남은 효과는 구분해서 볼 필요가 있었다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21545"/>
            <a:ext cx="5148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9264" y="2812985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Stanger 외 (2009)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" y="3142169"/>
            <a:ext cx="4672584" cy="56692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15568" y="3197033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치료기간 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15568" y="3398201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 이상 연속 단약에서 큰 차이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09097"/>
            <a:ext cx="5148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9264" y="3837113"/>
            <a:ext cx="467258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15568" y="389197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후속기간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15568" y="4093145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차이가 그대로 유지되지는 않았다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81928" y="2721545"/>
            <a:ext cx="5148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19672" y="2812985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 메타분석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19672" y="3142169"/>
            <a:ext cx="4672584" cy="56692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665976" y="3197033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감독 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65976" y="3398201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일반재범에서 작은 개선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1928" y="3709097"/>
            <a:ext cx="5148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19672" y="3837113"/>
            <a:ext cx="467258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665976" y="389197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2A6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종료 뒤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65976" y="4093145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우위가 확인되지 않았다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970969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효과가 나타나는 것과 그 효과가 종료 뒤에도 유지되는 것은 서로 다른 결과다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6153912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Stanger 외(2009) · Tanner-Smith 외(2024)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64D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형사처벌과 치료·재활의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223760" y="2743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68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→ 왜 청소년에게는 성인과 같은 처우만 적용하기 어려운가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논제로 돌아가 — 다섯 판단축에서 두 우선순위를 견준다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698480" cy="438912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87552" y="135331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치료·재</a:t>
            </a:r>
            <a:r>
              <a:rPr lang="ko-KR" alt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활에 관한 연구에서 약물 사용과 재체포의 개선 사례가 다소 있었으나</a:t>
            </a:r>
            <a:r>
              <a:rPr lang="en-US" altLang="ko-KR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장기적인 효과 유지 측면에서의 근거는 부족했다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45094"/>
            <a:ext cx="2011680" cy="384048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86384" y="224509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245094"/>
            <a:ext cx="4343400" cy="384048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2798064" y="224509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치료·재</a:t>
            </a:r>
            <a:r>
              <a:rPr lang="ko-KR" altLang="en-US" sz="1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2245094"/>
            <a:ext cx="4343400" cy="384048"/>
          </a:xfrm>
          <a:prstGeom prst="rect">
            <a:avLst/>
          </a:prstGeom>
          <a:solidFill>
            <a:srgbClr val="F2F4F8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141464" y="224509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형사처벌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629142"/>
            <a:ext cx="2011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04672" y="2629142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약물사용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0" y="2629142"/>
            <a:ext cx="4343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926080" y="262914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ko-KR" altLang="en-US" sz="105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</a:t>
            </a:r>
            <a:r>
              <a:rPr lang="en-US" sz="1050" b="1" dirty="0" err="1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</a:t>
            </a:r>
            <a:r>
              <a:rPr lang="en-US" sz="105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</a:t>
            </a:r>
            <a:r>
              <a:rPr lang="en-US" sz="1050" b="1" dirty="0" err="1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</a:t>
            </a:r>
            <a:r>
              <a:rPr lang="en-US" sz="105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상당한 약물 사용 </a:t>
            </a:r>
            <a:r>
              <a:rPr lang="en-US" sz="1050" b="1" dirty="0" err="1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</a:t>
            </a:r>
            <a:r>
              <a:rPr lang="en-US" sz="105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사례</a:t>
            </a:r>
            <a:endParaRPr lang="en-US" sz="105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 </a:t>
            </a:r>
            <a:r>
              <a:rPr lang="en-US" sz="1050" b="1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</a:t>
            </a:r>
            <a:r>
              <a:rPr lang="ko-KR" alt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분석한 </a:t>
            </a:r>
            <a:r>
              <a:rPr lang="ko-KR" altLang="en-US" sz="105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메타분석에서는</a:t>
            </a: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</a:t>
            </a: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</a:t>
            </a: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우위</a:t>
            </a: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불명확</a:t>
            </a:r>
            <a:endParaRPr lang="en-US" sz="105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86600" y="2629142"/>
            <a:ext cx="4343400" cy="603504"/>
          </a:xfrm>
          <a:prstGeom prst="rect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269480" y="262914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232646"/>
            <a:ext cx="2011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04672" y="3232646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특별예방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0" y="3232646"/>
            <a:ext cx="4343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926080" y="323264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 일부 연구에서 재체포 감소</a:t>
            </a:r>
            <a:endParaRPr lang="en-US" sz="105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평균효과는 감독 중 </a:t>
            </a:r>
            <a:r>
              <a:rPr lang="en-US" sz="1050" b="1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소폭</a:t>
            </a:r>
            <a:r>
              <a:rPr lang="ko-KR" altLang="en-US" sz="1050" b="1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나타남</a:t>
            </a:r>
            <a:endParaRPr lang="en-US" sz="1050" b="1" dirty="0"/>
          </a:p>
        </p:txBody>
      </p:sp>
      <p:sp>
        <p:nvSpPr>
          <p:cNvPr id="24" name="Shape 22"/>
          <p:cNvSpPr/>
          <p:nvPr/>
        </p:nvSpPr>
        <p:spPr>
          <a:xfrm>
            <a:off x="7086600" y="3232646"/>
            <a:ext cx="4343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269480" y="323264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장기구금 뒤 석방 후 재범위험 감소 연구 존재</a:t>
            </a:r>
            <a:endParaRPr lang="en-US" sz="105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1520" y="3836150"/>
            <a:ext cx="2011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04672" y="3836150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· 성인기 결과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0" y="3836150"/>
            <a:ext cx="4343400" cy="493776"/>
          </a:xfrm>
          <a:prstGeom prst="rect">
            <a:avLst/>
          </a:prstGeom>
          <a:noFill/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926080" y="3836150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86600" y="3836150"/>
            <a:ext cx="4343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269480" y="3836150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소년구금 → 고교졸업 감소 · 성인기 수감 증가</a:t>
            </a:r>
            <a:endParaRPr lang="en-US" sz="105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1520" y="4329926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04672" y="432992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효과의 유지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0" y="4329926"/>
            <a:ext cx="4343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926080" y="432992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 · JDTC의 프로그램 중 차이가 종료 뒤 그대로 유지된다는 근거 제한</a:t>
            </a:r>
            <a:endParaRPr lang="en-US" sz="105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086600" y="4329926"/>
            <a:ext cx="4343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731520" y="5431536"/>
            <a:ext cx="10698480" cy="566928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987552" y="5431536"/>
            <a:ext cx="10186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7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결합형 처우   </a:t>
            </a: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JDTC는 치료와 법원감독이 </a:t>
            </a:r>
            <a:r>
              <a:rPr lang="en-US" sz="115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</a:t>
            </a: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들어가므로</a:t>
            </a:r>
            <a:r>
              <a:rPr 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2226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결합형 처우 방향으로 고려해 볼 수 있다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7088</Words>
  <Application>Microsoft Office PowerPoint</Application>
  <PresentationFormat>와이드스크린</PresentationFormat>
  <Paragraphs>1028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0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범죄·공공안전세미나 Ⅱ · 4주차 제1장</dc:title>
  <dc:subject>PptxGenJS Presentation</dc:subject>
  <dc:creator>권준성</dc:creator>
  <cp:lastModifiedBy>준성 권</cp:lastModifiedBy>
  <cp:revision>13</cp:revision>
  <dcterms:created xsi:type="dcterms:W3CDTF">2026-09-16T15:34:24Z</dcterms:created>
  <dcterms:modified xsi:type="dcterms:W3CDTF">2026-09-18T19:03:04Z</dcterms:modified>
</cp:coreProperties>
</file>