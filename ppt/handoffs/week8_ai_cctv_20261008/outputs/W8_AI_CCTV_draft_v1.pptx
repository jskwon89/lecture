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07c2a969f6e4e21" /><Relationship Type="http://schemas.openxmlformats.org/officeDocument/2006/relationships/extended-properties" Target="/docProps/app.xml" Id="R0e82db7fa45c45ae" /><Relationship Type="http://schemas.openxmlformats.org/officeDocument/2006/relationships/officeDocument" Target="/ppt/presentation.xml" Id="R0eebb0debf5a4236" /></Relationships>
</file>

<file path=ppt/presentation.xml><?xml version="1.0" encoding="utf-8"?>
<p:presentation xmlns:p="http://schemas.openxmlformats.org/presentationml/2006/main">
  <p:sldMasterIdLst>
    <p:sldMasterId xmlns:r="http://schemas.openxmlformats.org/officeDocument/2006/relationships" id="2147483648" r:id="Rd739305d00774544"/>
  </p:sldMasterIdLst>
  <p:notesMasterIdLst>
    <p:notesMasterId xmlns:r="http://schemas.openxmlformats.org/officeDocument/2006/relationships" r:id="Rd066bd4c21124845"/>
  </p:notesMasterIdLst>
  <p:sldIdLst>
    <p:sldId xmlns:r="http://schemas.openxmlformats.org/officeDocument/2006/relationships" id="256" r:id="R4a07a91753784e91"/>
    <p:sldId xmlns:r="http://schemas.openxmlformats.org/officeDocument/2006/relationships" id="257" r:id="R32b9162c0ae44004"/>
    <p:sldId xmlns:r="http://schemas.openxmlformats.org/officeDocument/2006/relationships" id="258" r:id="R84fc625495dd4f3c"/>
    <p:sldId xmlns:r="http://schemas.openxmlformats.org/officeDocument/2006/relationships" id="259" r:id="R570de929e43e4bf8"/>
    <p:sldId xmlns:r="http://schemas.openxmlformats.org/officeDocument/2006/relationships" id="260" r:id="R714e2f8dfa0d4f8d"/>
    <p:sldId xmlns:r="http://schemas.openxmlformats.org/officeDocument/2006/relationships" id="261" r:id="Rc3558a3801a2475f"/>
    <p:sldId xmlns:r="http://schemas.openxmlformats.org/officeDocument/2006/relationships" id="262" r:id="Rbd4bf605c7894bf4"/>
    <p:sldId xmlns:r="http://schemas.openxmlformats.org/officeDocument/2006/relationships" id="263" r:id="Rc2d55d32a9bd4507"/>
    <p:sldId xmlns:r="http://schemas.openxmlformats.org/officeDocument/2006/relationships" id="264" r:id="R86d3faa497e74b3c"/>
    <p:sldId xmlns:r="http://schemas.openxmlformats.org/officeDocument/2006/relationships" id="265" r:id="Ra904546434844a27"/>
    <p:sldId xmlns:r="http://schemas.openxmlformats.org/officeDocument/2006/relationships" id="266" r:id="R273c3f9d92c14971"/>
    <p:sldId xmlns:r="http://schemas.openxmlformats.org/officeDocument/2006/relationships" id="267" r:id="Rf743c9c07aff4f57"/>
    <p:sldId xmlns:r="http://schemas.openxmlformats.org/officeDocument/2006/relationships" id="268" r:id="Rfe9b0b4a88524c69"/>
    <p:sldId xmlns:r="http://schemas.openxmlformats.org/officeDocument/2006/relationships" id="269" r:id="R88ba5fde461546ea"/>
    <p:sldId xmlns:r="http://schemas.openxmlformats.org/officeDocument/2006/relationships" id="270" r:id="R3232e28310ab414c"/>
    <p:sldId xmlns:r="http://schemas.openxmlformats.org/officeDocument/2006/relationships" id="271" r:id="R517b79f4372d4221"/>
    <p:sldId xmlns:r="http://schemas.openxmlformats.org/officeDocument/2006/relationships" id="272" r:id="Rbc874fcba5ec4084"/>
    <p:sldId xmlns:r="http://schemas.openxmlformats.org/officeDocument/2006/relationships" id="273" r:id="R55e835e20007480e"/>
    <p:sldId xmlns:r="http://schemas.openxmlformats.org/officeDocument/2006/relationships" id="274" r:id="Raf5c59dbabac4fdb"/>
    <p:sldId xmlns:r="http://schemas.openxmlformats.org/officeDocument/2006/relationships" id="275" r:id="R809c17e9ca834ae4"/>
    <p:sldId xmlns:r="http://schemas.openxmlformats.org/officeDocument/2006/relationships" id="276" r:id="R70d20847c123470d"/>
    <p:sldId xmlns:r="http://schemas.openxmlformats.org/officeDocument/2006/relationships" id="277" r:id="Rb1b5b88ea2144f3f"/>
    <p:sldId xmlns:r="http://schemas.openxmlformats.org/officeDocument/2006/relationships" id="278" r:id="R26fc3f04e0e04d4b"/>
    <p:sldId xmlns:r="http://schemas.openxmlformats.org/officeDocument/2006/relationships" id="279" r:id="Rf57f11d926844a5b"/>
    <p:sldId xmlns:r="http://schemas.openxmlformats.org/officeDocument/2006/relationships" id="280" r:id="R80b8684940d14434"/>
    <p:sldId xmlns:r="http://schemas.openxmlformats.org/officeDocument/2006/relationships" id="281" r:id="R9fcadaea475a4895"/>
    <p:sldId xmlns:r="http://schemas.openxmlformats.org/officeDocument/2006/relationships" id="282" r:id="R9e3f3e30f4d644c9"/>
    <p:sldId xmlns:r="http://schemas.openxmlformats.org/officeDocument/2006/relationships" id="283" r:id="Rd8ea7a5060cd4a20"/>
    <p:sldId xmlns:r="http://schemas.openxmlformats.org/officeDocument/2006/relationships" id="284" r:id="R0409eda92ee440a1"/>
    <p:sldId xmlns:r="http://schemas.openxmlformats.org/officeDocument/2006/relationships" id="285" r:id="Raea551b9acc64771"/>
    <p:sldId xmlns:r="http://schemas.openxmlformats.org/officeDocument/2006/relationships" id="286" r:id="R6da7ab93fa874ffe"/>
    <p:sldId xmlns:r="http://schemas.openxmlformats.org/officeDocument/2006/relationships" id="287" r:id="R5d224155289243a4"/>
    <p:sldId xmlns:r="http://schemas.openxmlformats.org/officeDocument/2006/relationships" id="288" r:id="R5878b87f867b4f6a"/>
    <p:sldId xmlns:r="http://schemas.openxmlformats.org/officeDocument/2006/relationships" id="289" r:id="R9b321d8141114de9"/>
    <p:sldId xmlns:r="http://schemas.openxmlformats.org/officeDocument/2006/relationships" id="290" r:id="R53687dc138b348cc"/>
    <p:sldId xmlns:r="http://schemas.openxmlformats.org/officeDocument/2006/relationships" id="291" r:id="Rb9ba53bdb31847b2"/>
    <p:sldId xmlns:r="http://schemas.openxmlformats.org/officeDocument/2006/relationships" id="292" r:id="R466c5260d976480a"/>
    <p:sldId xmlns:r="http://schemas.openxmlformats.org/officeDocument/2006/relationships" id="293" r:id="R1a91f2c0c4234e91"/>
    <p:sldId xmlns:r="http://schemas.openxmlformats.org/officeDocument/2006/relationships" id="294" r:id="R8a7e391232a04bbd"/>
    <p:sldId xmlns:r="http://schemas.openxmlformats.org/officeDocument/2006/relationships" id="295" r:id="R21f11e0361e5417a"/>
    <p:sldId xmlns:r="http://schemas.openxmlformats.org/officeDocument/2006/relationships" id="296" r:id="R0d53fedf7d984638"/>
    <p:sldId xmlns:r="http://schemas.openxmlformats.org/officeDocument/2006/relationships" id="297" r:id="R126bfd997c6241b4"/>
    <p:sldId xmlns:r="http://schemas.openxmlformats.org/officeDocument/2006/relationships" id="298" r:id="R210a172505944191"/>
    <p:sldId xmlns:r="http://schemas.openxmlformats.org/officeDocument/2006/relationships" id="299" r:id="Rfe358747dec6411c"/>
    <p:sldId xmlns:r="http://schemas.openxmlformats.org/officeDocument/2006/relationships" id="300" r:id="Rc1f00356370a4f96"/>
    <p:sldId xmlns:r="http://schemas.openxmlformats.org/officeDocument/2006/relationships" id="301" r:id="Rf0c1880362a9481d"/>
    <p:sldId xmlns:r="http://schemas.openxmlformats.org/officeDocument/2006/relationships" id="302" r:id="Rb934a282c43d4f5f"/>
    <p:sldId xmlns:r="http://schemas.openxmlformats.org/officeDocument/2006/relationships" id="303" r:id="R15094514a9c149a2"/>
    <p:sldId xmlns:r="http://schemas.openxmlformats.org/officeDocument/2006/relationships" id="304" r:id="Rb138451a7b3346a0"/>
    <p:sldId xmlns:r="http://schemas.openxmlformats.org/officeDocument/2006/relationships" id="305" r:id="R731a6da816354605"/>
    <p:sldId xmlns:r="http://schemas.openxmlformats.org/officeDocument/2006/relationships" id="306" r:id="R3b32167dd48c47b6"/>
    <p:sldId xmlns:r="http://schemas.openxmlformats.org/officeDocument/2006/relationships" id="307" r:id="R5bd73efeb0de469c"/>
    <p:sldId xmlns:r="http://schemas.openxmlformats.org/officeDocument/2006/relationships" id="308" r:id="Rc0544da2873548fa"/>
  </p:sldIdLst>
  <p:sldSz cx="12188952"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f9c14320fcb44d6" /><Relationship Type="http://schemas.openxmlformats.org/officeDocument/2006/relationships/slideMaster" Target="/ppt/slideMasters/slideMaster1.xml" Id="Rd739305d00774544" /><Relationship Type="http://schemas.openxmlformats.org/officeDocument/2006/relationships/notesMaster" Target="/ppt/notesMasters/notesMaster1.xml" Id="Rd066bd4c21124845" /><Relationship Type="http://schemas.openxmlformats.org/officeDocument/2006/relationships/presProps" Target="/ppt/presProps.xml" Id="R1196e7a6a2144298" /><Relationship Type="http://schemas.openxmlformats.org/officeDocument/2006/relationships/tableStyles" Target="/ppt/tableStyles.xml" Id="Ra85829b1cf5844ae" /><Relationship Type="http://schemas.openxmlformats.org/officeDocument/2006/relationships/slide" Target="/ppt/slides/slide1.xml" Id="R4a07a91753784e91" /><Relationship Type="http://schemas.openxmlformats.org/officeDocument/2006/relationships/slide" Target="/ppt/slides/slide2.xml" Id="R32b9162c0ae44004" /><Relationship Type="http://schemas.openxmlformats.org/officeDocument/2006/relationships/slide" Target="/ppt/slides/slide3.xml" Id="R84fc625495dd4f3c" /><Relationship Type="http://schemas.openxmlformats.org/officeDocument/2006/relationships/slide" Target="/ppt/slides/slide4.xml" Id="R570de929e43e4bf8" /><Relationship Type="http://schemas.openxmlformats.org/officeDocument/2006/relationships/slide" Target="/ppt/slides/slide5.xml" Id="R714e2f8dfa0d4f8d" /><Relationship Type="http://schemas.openxmlformats.org/officeDocument/2006/relationships/slide" Target="/ppt/slides/slide6.xml" Id="Rc3558a3801a2475f" /><Relationship Type="http://schemas.openxmlformats.org/officeDocument/2006/relationships/slide" Target="/ppt/slides/slide7.xml" Id="Rbd4bf605c7894bf4" /><Relationship Type="http://schemas.openxmlformats.org/officeDocument/2006/relationships/slide" Target="/ppt/slides/slide8.xml" Id="Rc2d55d32a9bd4507" /><Relationship Type="http://schemas.openxmlformats.org/officeDocument/2006/relationships/slide" Target="/ppt/slides/slide9.xml" Id="R86d3faa497e74b3c" /><Relationship Type="http://schemas.openxmlformats.org/officeDocument/2006/relationships/slide" Target="/ppt/slides/slide10.xml" Id="Ra904546434844a27" /><Relationship Type="http://schemas.openxmlformats.org/officeDocument/2006/relationships/slide" Target="/ppt/slides/slide11.xml" Id="R273c3f9d92c14971" /><Relationship Type="http://schemas.openxmlformats.org/officeDocument/2006/relationships/slide" Target="/ppt/slides/slide12.xml" Id="Rf743c9c07aff4f57" /><Relationship Type="http://schemas.openxmlformats.org/officeDocument/2006/relationships/slide" Target="/ppt/slides/slide13.xml" Id="Rfe9b0b4a88524c69" /><Relationship Type="http://schemas.openxmlformats.org/officeDocument/2006/relationships/slide" Target="/ppt/slides/slide14.xml" Id="R88ba5fde461546ea" /><Relationship Type="http://schemas.openxmlformats.org/officeDocument/2006/relationships/slide" Target="/ppt/slides/slide15.xml" Id="R3232e28310ab414c" /><Relationship Type="http://schemas.openxmlformats.org/officeDocument/2006/relationships/slide" Target="/ppt/slides/slide16.xml" Id="R517b79f4372d4221" /><Relationship Type="http://schemas.openxmlformats.org/officeDocument/2006/relationships/slide" Target="/ppt/slides/slide17.xml" Id="Rbc874fcba5ec4084" /><Relationship Type="http://schemas.openxmlformats.org/officeDocument/2006/relationships/slide" Target="/ppt/slides/slide18.xml" Id="R55e835e20007480e" /><Relationship Type="http://schemas.openxmlformats.org/officeDocument/2006/relationships/slide" Target="/ppt/slides/slide19.xml" Id="Raf5c59dbabac4fdb" /><Relationship Type="http://schemas.openxmlformats.org/officeDocument/2006/relationships/slide" Target="/ppt/slides/slide20.xml" Id="R809c17e9ca834ae4" /><Relationship Type="http://schemas.openxmlformats.org/officeDocument/2006/relationships/slide" Target="/ppt/slides/slide21.xml" Id="R70d20847c123470d" /><Relationship Type="http://schemas.openxmlformats.org/officeDocument/2006/relationships/slide" Target="/ppt/slides/slide22.xml" Id="Rb1b5b88ea2144f3f" /><Relationship Type="http://schemas.openxmlformats.org/officeDocument/2006/relationships/slide" Target="/ppt/slides/slide23.xml" Id="R26fc3f04e0e04d4b" /><Relationship Type="http://schemas.openxmlformats.org/officeDocument/2006/relationships/slide" Target="/ppt/slides/slide24.xml" Id="Rf57f11d926844a5b" /><Relationship Type="http://schemas.openxmlformats.org/officeDocument/2006/relationships/slide" Target="/ppt/slides/slide25.xml" Id="R80b8684940d14434" /><Relationship Type="http://schemas.openxmlformats.org/officeDocument/2006/relationships/slide" Target="/ppt/slides/slide26.xml" Id="R9fcadaea475a4895" /><Relationship Type="http://schemas.openxmlformats.org/officeDocument/2006/relationships/slide" Target="/ppt/slides/slide27.xml" Id="R9e3f3e30f4d644c9" /><Relationship Type="http://schemas.openxmlformats.org/officeDocument/2006/relationships/slide" Target="/ppt/slides/slide28.xml" Id="Rd8ea7a5060cd4a20" /><Relationship Type="http://schemas.openxmlformats.org/officeDocument/2006/relationships/slide" Target="/ppt/slides/slide29.xml" Id="R0409eda92ee440a1" /><Relationship Type="http://schemas.openxmlformats.org/officeDocument/2006/relationships/slide" Target="/ppt/slides/slide30.xml" Id="Raea551b9acc64771" /><Relationship Type="http://schemas.openxmlformats.org/officeDocument/2006/relationships/slide" Target="/ppt/slides/slide31.xml" Id="R6da7ab93fa874ffe" /><Relationship Type="http://schemas.openxmlformats.org/officeDocument/2006/relationships/slide" Target="/ppt/slides/slide32.xml" Id="R5d224155289243a4" /><Relationship Type="http://schemas.openxmlformats.org/officeDocument/2006/relationships/slide" Target="/ppt/slides/slide33.xml" Id="R5878b87f867b4f6a" /><Relationship Type="http://schemas.openxmlformats.org/officeDocument/2006/relationships/slide" Target="/ppt/slides/slide34.xml" Id="R9b321d8141114de9" /><Relationship Type="http://schemas.openxmlformats.org/officeDocument/2006/relationships/slide" Target="/ppt/slides/slide35.xml" Id="R53687dc138b348cc" /><Relationship Type="http://schemas.openxmlformats.org/officeDocument/2006/relationships/slide" Target="/ppt/slides/slide36.xml" Id="Rb9ba53bdb31847b2" /><Relationship Type="http://schemas.openxmlformats.org/officeDocument/2006/relationships/slide" Target="/ppt/slides/slide37.xml" Id="R466c5260d976480a" /><Relationship Type="http://schemas.openxmlformats.org/officeDocument/2006/relationships/slide" Target="/ppt/slides/slide38.xml" Id="R1a91f2c0c4234e91" /><Relationship Type="http://schemas.openxmlformats.org/officeDocument/2006/relationships/slide" Target="/ppt/slides/slide39.xml" Id="R8a7e391232a04bbd" /><Relationship Type="http://schemas.openxmlformats.org/officeDocument/2006/relationships/slide" Target="/ppt/slides/slide40.xml" Id="R21f11e0361e5417a" /><Relationship Type="http://schemas.openxmlformats.org/officeDocument/2006/relationships/slide" Target="/ppt/slides/slide41.xml" Id="R0d53fedf7d984638" /><Relationship Type="http://schemas.openxmlformats.org/officeDocument/2006/relationships/slide" Target="/ppt/slides/slide42.xml" Id="R126bfd997c6241b4" /><Relationship Type="http://schemas.openxmlformats.org/officeDocument/2006/relationships/slide" Target="/ppt/slides/slide43.xml" Id="R210a172505944191" /><Relationship Type="http://schemas.openxmlformats.org/officeDocument/2006/relationships/slide" Target="/ppt/slides/slide44.xml" Id="Rfe358747dec6411c" /><Relationship Type="http://schemas.openxmlformats.org/officeDocument/2006/relationships/slide" Target="/ppt/slides/slide45.xml" Id="Rc1f00356370a4f96" /><Relationship Type="http://schemas.openxmlformats.org/officeDocument/2006/relationships/slide" Target="/ppt/slides/slide46.xml" Id="Rf0c1880362a9481d" /><Relationship Type="http://schemas.openxmlformats.org/officeDocument/2006/relationships/slide" Target="/ppt/slides/slide47.xml" Id="Rb934a282c43d4f5f" /><Relationship Type="http://schemas.openxmlformats.org/officeDocument/2006/relationships/slide" Target="/ppt/slides/slide48.xml" Id="R15094514a9c149a2" /><Relationship Type="http://schemas.openxmlformats.org/officeDocument/2006/relationships/slide" Target="/ppt/slides/slide49.xml" Id="Rb138451a7b3346a0" /><Relationship Type="http://schemas.openxmlformats.org/officeDocument/2006/relationships/slide" Target="/ppt/slides/slide50.xml" Id="R731a6da816354605" /><Relationship Type="http://schemas.openxmlformats.org/officeDocument/2006/relationships/slide" Target="/ppt/slides/slide51.xml" Id="R3b32167dd48c47b6" /><Relationship Type="http://schemas.openxmlformats.org/officeDocument/2006/relationships/slide" Target="/ppt/slides/slide52.xml" Id="R5bd73efeb0de469c" /><Relationship Type="http://schemas.openxmlformats.org/officeDocument/2006/relationships/slide" Target="/ppt/slides/slide53.xml" Id="Rc0544da2873548f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c11ef8d1dfc4a4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Pretendard"/>
        <a:ea typeface="Pretendard"/>
        <a:cs typeface="Pretendard"/>
      </a:majorFont>
      <a:minorFont>
        <a:latin typeface="Pretendard"/>
        <a:ea typeface="Pretendard"/>
        <a:cs typeface="Pretendard"/>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884eac7cfb14c27" /><Relationship Type="http://schemas.openxmlformats.org/officeDocument/2006/relationships/notesMaster" Target="/ppt/notesMasters/notesMaster1.xml" Id="R7077dc8e0abb4a6b" /></Relationships>
</file>

<file path=ppt/notesSlides/_rels/notesSlide2.xml.rels>&#65279;<?xml version="1.0" encoding="utf-8"?><Relationships xmlns="http://schemas.openxmlformats.org/package/2006/relationships"><Relationship Type="http://schemas.openxmlformats.org/officeDocument/2006/relationships/slide" Target="/ppt/slides/slide2.xml" Id="Rcdc0066139b94e41" /><Relationship Type="http://schemas.openxmlformats.org/officeDocument/2006/relationships/notesMaster" Target="/ppt/notesMasters/notesMaster1.xml" Id="Re31c213b3b0c429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e35a3bf6b8741df" /><Relationship Type="http://schemas.openxmlformats.org/officeDocument/2006/relationships/notesMaster" Target="/ppt/notesMasters/notesMaster1.xml" Id="R13e8a6ed1fe34631" /></Relationships>
</file>

<file path=ppt/notesSlides/_rels/notesSlide4.xml.rels>&#65279;<?xml version="1.0" encoding="utf-8"?><Relationships xmlns="http://schemas.openxmlformats.org/package/2006/relationships"><Relationship Type="http://schemas.openxmlformats.org/officeDocument/2006/relationships/slide" Target="/ppt/slides/slide4.xml" Id="R06f56d740e944b1a" /><Relationship Type="http://schemas.openxmlformats.org/officeDocument/2006/relationships/notesMaster" Target="/ppt/notesMasters/notesMaster1.xml" Id="R590e1e3e9d8b4788" /></Relationships>
</file>

<file path=ppt/notesSlides/_rels/notesSlide5.xml.rels>&#65279;<?xml version="1.0" encoding="utf-8"?><Relationships xmlns="http://schemas.openxmlformats.org/package/2006/relationships"><Relationship Type="http://schemas.openxmlformats.org/officeDocument/2006/relationships/slide" Target="/ppt/slides/slide5.xml" Id="R6551e5a7b8914c92" /><Relationship Type="http://schemas.openxmlformats.org/officeDocument/2006/relationships/notesMaster" Target="/ppt/notesMasters/notesMaster1.xml" Id="R0b621ac79a714be1" /></Relationships>
</file>

<file path=ppt/notesSlides/_rels/notesSlide6.xml.rels>&#65279;<?xml version="1.0" encoding="utf-8"?><Relationships xmlns="http://schemas.openxmlformats.org/package/2006/relationships"><Relationship Type="http://schemas.openxmlformats.org/officeDocument/2006/relationships/slide" Target="/ppt/slides/slide6.xml" Id="Rb7a2e5fee8e8407d" /><Relationship Type="http://schemas.openxmlformats.org/officeDocument/2006/relationships/notesMaster" Target="/ppt/notesMasters/notesMaster1.xml" Id="Rad488a759e0846f4" /></Relationships>
</file>

<file path=ppt/notesSlides/_rels/notesSlide7.xml.rels>&#65279;<?xml version="1.0" encoding="utf-8"?><Relationships xmlns="http://schemas.openxmlformats.org/package/2006/relationships"><Relationship Type="http://schemas.openxmlformats.org/officeDocument/2006/relationships/slide" Target="/ppt/slides/slide7.xml" Id="R3f664416fd304a1e" /><Relationship Type="http://schemas.openxmlformats.org/officeDocument/2006/relationships/notesMaster" Target="/ppt/notesMasters/notesMaster1.xml" Id="R03c6d3dfe59345ab" /></Relationships>
</file>

<file path=ppt/notesSlides/_rels/notesSlide8.xml.rels>&#65279;<?xml version="1.0" encoding="utf-8"?><Relationships xmlns="http://schemas.openxmlformats.org/package/2006/relationships"><Relationship Type="http://schemas.openxmlformats.org/officeDocument/2006/relationships/slide" Target="/ppt/slides/slide8.xml" Id="R73c99b9f17dc41b3" /><Relationship Type="http://schemas.openxmlformats.org/officeDocument/2006/relationships/notesMaster" Target="/ppt/notesMasters/notesMaster1.xml" Id="R71a07693706447f9" /></Relationships>
</file>

<file path=ppt/notesSlides/_rels/notesSlide9.xml.rels>&#65279;<?xml version="1.0" encoding="utf-8"?><Relationships xmlns="http://schemas.openxmlformats.org/package/2006/relationships"><Relationship Type="http://schemas.openxmlformats.org/officeDocument/2006/relationships/slide" Target="/ppt/slides/slide9.xml" Id="Rddb3dbcba4ba4678" /><Relationship Type="http://schemas.openxmlformats.org/officeDocument/2006/relationships/notesMaster" Target="/ppt/notesMasters/notesMaster1.xml" Id="R5710a22b54614fe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78994170510466e" /><Relationship Type="http://schemas.openxmlformats.org/officeDocument/2006/relationships/notesMaster" Target="/ppt/notesMasters/notesMaster1.xml" Id="Rb231826dd4d9498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42d8afda07c478c" /><Relationship Type="http://schemas.openxmlformats.org/officeDocument/2006/relationships/notesMaster" Target="/ppt/notesMasters/notesMaster1.xml" Id="R2b677cd0ee2940e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e6d29dfe3de45c4" /><Relationship Type="http://schemas.openxmlformats.org/officeDocument/2006/relationships/notesMaster" Target="/ppt/notesMasters/notesMaster1.xml" Id="R2db434e3d51e42c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014bc2fcfc940be" /><Relationship Type="http://schemas.openxmlformats.org/officeDocument/2006/relationships/notesMaster" Target="/ppt/notesMasters/notesMaster1.xml" Id="Rb14512aaeac6441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fc34e4772c6405d" /><Relationship Type="http://schemas.openxmlformats.org/officeDocument/2006/relationships/notesMaster" Target="/ppt/notesMasters/notesMaster1.xml" Id="R8d139716e550432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49bfac4d25b4259" /><Relationship Type="http://schemas.openxmlformats.org/officeDocument/2006/relationships/notesMaster" Target="/ppt/notesMasters/notesMaster1.xml" Id="R8b699f2288ff468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157f32e1aab4a4d" /><Relationship Type="http://schemas.openxmlformats.org/officeDocument/2006/relationships/notesMaster" Target="/ppt/notesMasters/notesMaster1.xml" Id="Ree5e0f58ba5c4aa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ecc762d402f4e92" /><Relationship Type="http://schemas.openxmlformats.org/officeDocument/2006/relationships/notesMaster" Target="/ppt/notesMasters/notesMaster1.xml" Id="R1f116c94ebde471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5f4cf05e70c46da" /><Relationship Type="http://schemas.openxmlformats.org/officeDocument/2006/relationships/notesMaster" Target="/ppt/notesMasters/notesMaster1.xml" Id="R238d652fc2814d9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c771d1136e34e8c" /><Relationship Type="http://schemas.openxmlformats.org/officeDocument/2006/relationships/notesMaster" Target="/ppt/notesMasters/notesMaster1.xml" Id="R157d9252ac52462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8aa9d0dc3e643dd" /><Relationship Type="http://schemas.openxmlformats.org/officeDocument/2006/relationships/notesMaster" Target="/ppt/notesMasters/notesMaster1.xml" Id="Rdd3bd3a80edf4c3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f91febcc7e94eb4" /><Relationship Type="http://schemas.openxmlformats.org/officeDocument/2006/relationships/notesMaster" Target="/ppt/notesMasters/notesMaster1.xml" Id="R6589dfdc021b4a0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f07c7304caa4a9c" /><Relationship Type="http://schemas.openxmlformats.org/officeDocument/2006/relationships/notesMaster" Target="/ppt/notesMasters/notesMaster1.xml" Id="R7e9320432bdf498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89ee56e7d954ac4" /><Relationship Type="http://schemas.openxmlformats.org/officeDocument/2006/relationships/notesMaster" Target="/ppt/notesMasters/notesMaster1.xml" Id="R97e95507811f40a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545925a0f6f4034" /><Relationship Type="http://schemas.openxmlformats.org/officeDocument/2006/relationships/notesMaster" Target="/ppt/notesMasters/notesMaster1.xml" Id="Rac5735bce9814b4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efa2c8eddb846df" /><Relationship Type="http://schemas.openxmlformats.org/officeDocument/2006/relationships/notesMaster" Target="/ppt/notesMasters/notesMaster1.xml" Id="R6d23e25919d9402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886d3f6cc44423e" /><Relationship Type="http://schemas.openxmlformats.org/officeDocument/2006/relationships/notesMaster" Target="/ppt/notesMasters/notesMaster1.xml" Id="R50a3417315f6447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f12e04226fa4bbb" /><Relationship Type="http://schemas.openxmlformats.org/officeDocument/2006/relationships/notesMaster" Target="/ppt/notesMasters/notesMaster1.xml" Id="R6f2eacf820b44c9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a5a9d57ef6c4180" /><Relationship Type="http://schemas.openxmlformats.org/officeDocument/2006/relationships/notesMaster" Target="/ppt/notesMasters/notesMaster1.xml" Id="R31d23a32ea7d428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d0ae3e73a354f2a" /><Relationship Type="http://schemas.openxmlformats.org/officeDocument/2006/relationships/notesMaster" Target="/ppt/notesMasters/notesMaster1.xml" Id="R2d3138c444dd447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a5b89b0d75e4209" /><Relationship Type="http://schemas.openxmlformats.org/officeDocument/2006/relationships/notesMaster" Target="/ppt/notesMasters/notesMaster1.xml" Id="R6b804f76aefb4af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efe13d7c0f6429c" /><Relationship Type="http://schemas.openxmlformats.org/officeDocument/2006/relationships/notesMaster" Target="/ppt/notesMasters/notesMaster1.xml" Id="R6bd38fe767e5454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dc624c205444650" /><Relationship Type="http://schemas.openxmlformats.org/officeDocument/2006/relationships/notesMaster" Target="/ppt/notesMasters/notesMaster1.xml" Id="R513d68a5990c4ff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361e21aaf484b4f" /><Relationship Type="http://schemas.openxmlformats.org/officeDocument/2006/relationships/notesMaster" Target="/ppt/notesMasters/notesMaster1.xml" Id="Rcc001d5ec1634e9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8eb55f7ab5c4971" /><Relationship Type="http://schemas.openxmlformats.org/officeDocument/2006/relationships/notesMaster" Target="/ppt/notesMasters/notesMaster1.xml" Id="R5e8123e678b4421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b4b53e418cf4918" /><Relationship Type="http://schemas.openxmlformats.org/officeDocument/2006/relationships/notesMaster" Target="/ppt/notesMasters/notesMaster1.xml" Id="R4591d5d8882847b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dc1a387e6744fdd" /><Relationship Type="http://schemas.openxmlformats.org/officeDocument/2006/relationships/notesMaster" Target="/ppt/notesMasters/notesMaster1.xml" Id="Rdf1e055e3034452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d53960c8f994ae9" /><Relationship Type="http://schemas.openxmlformats.org/officeDocument/2006/relationships/notesMaster" Target="/ppt/notesMasters/notesMaster1.xml" Id="Rb49a942fc87f49a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b2b669f1ec34bd9" /><Relationship Type="http://schemas.openxmlformats.org/officeDocument/2006/relationships/notesMaster" Target="/ppt/notesMasters/notesMaster1.xml" Id="R725f22c33ae443d0"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ea11e1c33f14cec" /><Relationship Type="http://schemas.openxmlformats.org/officeDocument/2006/relationships/notesMaster" Target="/ppt/notesMasters/notesMaster1.xml" Id="Rc6318f1b4b9b482f"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521be81c29549ea" /><Relationship Type="http://schemas.openxmlformats.org/officeDocument/2006/relationships/notesMaster" Target="/ppt/notesMasters/notesMaster1.xml" Id="Rc6881df3033648c4"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047d881b47c44fa6" /><Relationship Type="http://schemas.openxmlformats.org/officeDocument/2006/relationships/notesMaster" Target="/ppt/notesMasters/notesMaster1.xml" Id="Re54e97f52c1b4eb3"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1ff5a7378844d12" /><Relationship Type="http://schemas.openxmlformats.org/officeDocument/2006/relationships/notesMaster" Target="/ppt/notesMasters/notesMaster1.xml" Id="Rf9733315007f4e8d"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d45b5532cea4795" /><Relationship Type="http://schemas.openxmlformats.org/officeDocument/2006/relationships/notesMaster" Target="/ppt/notesMasters/notesMaster1.xml" Id="Rac02eeffa6a548ed"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f22338a40e114e35" /><Relationship Type="http://schemas.openxmlformats.org/officeDocument/2006/relationships/notesMaster" Target="/ppt/notesMasters/notesMaster1.xml" Id="R1c67648bf4e64224"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a188b76d29bb460d" /><Relationship Type="http://schemas.openxmlformats.org/officeDocument/2006/relationships/notesMaster" Target="/ppt/notesMasters/notesMaster1.xml" Id="R33e0d0762e274612"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6729f617ae764f5b" /><Relationship Type="http://schemas.openxmlformats.org/officeDocument/2006/relationships/notesMaster" Target="/ppt/notesMasters/notesMaster1.xml" Id="R2ee140be764c412f"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f435194677684187" /><Relationship Type="http://schemas.openxmlformats.org/officeDocument/2006/relationships/notesMaster" Target="/ppt/notesMasters/notesMaster1.xml" Id="R66e22b3bf21d43d4"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f25d5f4a172547e2" /><Relationship Type="http://schemas.openxmlformats.org/officeDocument/2006/relationships/notesMaster" Target="/ppt/notesMasters/notesMaster1.xml" Id="Re9d16dcb10a8433b"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b9c3f906febd44bd" /><Relationship Type="http://schemas.openxmlformats.org/officeDocument/2006/relationships/notesMaster" Target="/ppt/notesMasters/notesMaster1.xml" Id="Rc9ef272b45ff499d"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624c4de8bd4c4f7a" /><Relationship Type="http://schemas.openxmlformats.org/officeDocument/2006/relationships/notesMaster" Target="/ppt/notesMasters/notesMaster1.xml" Id="R0263d59aa05c4d11"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d43f86de550f4f67" /><Relationship Type="http://schemas.openxmlformats.org/officeDocument/2006/relationships/notesMaster" Target="/ppt/notesMasters/notesMaster1.xml" Id="Ra1d553274ee24219"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bb166f3ebeab4cfc" /><Relationship Type="http://schemas.openxmlformats.org/officeDocument/2006/relationships/notesMaster" Target="/ppt/notesMasters/notesMaster1.xml" Id="R415db16e2cf04760"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97888f657a204d41" /><Relationship Type="http://schemas.openxmlformats.org/officeDocument/2006/relationships/notesMaster" Target="/ppt/notesMasters/notesMaster1.xml" Id="R44534a8b5d0149e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카메라에 찍힌 얼굴이 경찰의 검색 명단과 연결되면, 영상은 사람을 찾아내는 수단이 됩니다. 기술이 제시한 후보는 신원 확인과 현장 조치로 이어질 수 있습니다. 오늘의 질문은 공공 CCTV를 이런 목적으로 실시간 분석하도록 허용할지, 허용한다면 어떤 범위와 절차를 둘지입니다.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D01 | 국가인권위원회 | 권고 2023-01-12 / 회신 수용 공표 2024-02-22</a:t>
            </a:r>
          </a:p>
          <a:p xmlns:a="http://schemas.openxmlformats.org/drawingml/2006/main">
            <a:pPr>
              <a:lnSpc>
                <a:spcPct val="125000"/>
              </a:lnSpc>
              <a:spcBef>
                <a:spcPts val="0"/>
              </a:spcBef>
              <a:spcAft>
                <a:spcPts val="0"/>
              </a:spcAft>
            </a:pPr>
            <a:r>
              <a:rPr>
                <a:latin typeface="Pretendard"/>
                <a:ea typeface="Pretendard"/>
                <a:cs typeface="Pretendard"/>
              </a:rPr>
              <a:t>실시간 원격 얼굴인식 기술 도입·활용 중지 조치 권고, 국무총리 수용</a:t>
            </a:r>
          </a:p>
          <a:p xmlns:a="http://schemas.openxmlformats.org/drawingml/2006/main">
            <a:pPr>
              <a:lnSpc>
                <a:spcPct val="125000"/>
              </a:lnSpc>
              <a:spcBef>
                <a:spcPts val="0"/>
              </a:spcBef>
              <a:spcAft>
                <a:spcPts val="0"/>
              </a:spcAft>
            </a:pPr>
            <a:r>
              <a:rPr>
                <a:latin typeface="Pretendard"/>
                <a:ea typeface="Pretendard"/>
                <a:cs typeface="Pretendard"/>
              </a:rPr>
              <a:t>https://www.humanrights.go.kr/base/board/read?boardManagementNo=24&amp;boardNo=7609889&amp;menuLevel=3&amp;menuNo=91&amp;page=1&amp;searchCategory=&amp;searchType=&amp;searchWord=</a:t>
            </a:r>
          </a:p>
          <a:p xmlns:a="http://schemas.openxmlformats.org/drawingml/2006/main">
            <a:pPr>
              <a:lnSpc>
                <a:spcPct val="125000"/>
              </a:lnSpc>
              <a:spcBef>
                <a:spcPts val="0"/>
              </a:spcBef>
              <a:spcAft>
                <a:spcPts val="0"/>
              </a:spcAft>
            </a:pPr>
            <a:r>
              <a:rPr>
                <a:latin typeface="Pretendard"/>
                <a:ea typeface="Pretendard"/>
                <a:cs typeface="Pretendard"/>
              </a:rPr>
              <a:t>확인 범위: 공식 보도자료 본문. 첨부 결정문은 접근 실패.</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D02 | 경기도 2025년 제3회 도민인권배심회의 | 2025-08-27</a:t>
            </a:r>
          </a:p>
          <a:p xmlns:a="http://schemas.openxmlformats.org/drawingml/2006/main">
            <a:pPr>
              <a:lnSpc>
                <a:spcPct val="125000"/>
              </a:lnSpc>
              <a:spcBef>
                <a:spcPts val="0"/>
              </a:spcBef>
              <a:spcAft>
                <a:spcPts val="0"/>
              </a:spcAft>
            </a:pPr>
            <a:r>
              <a:rPr>
                <a:latin typeface="Pretendard"/>
                <a:ea typeface="Pretendard"/>
                <a:cs typeface="Pretendard"/>
              </a:rPr>
              <a:t>중범죄 대응을 위한 실시간 원격 얼굴인식 기술의 인권 침해 여부 숙의</a:t>
            </a:r>
          </a:p>
          <a:p xmlns:a="http://schemas.openxmlformats.org/drawingml/2006/main">
            <a:pPr>
              <a:lnSpc>
                <a:spcPct val="125000"/>
              </a:lnSpc>
              <a:spcBef>
                <a:spcPts val="0"/>
              </a:spcBef>
              <a:spcAft>
                <a:spcPts val="0"/>
              </a:spcAft>
            </a:pPr>
            <a:r>
              <a:rPr>
                <a:latin typeface="Pretendard"/>
                <a:ea typeface="Pretendard"/>
                <a:cs typeface="Pretendard"/>
              </a:rPr>
              <a:t>https://gnews.gg.go.kr/briefing/brief_gongbo_view.do?BS_CODE=S017&amp;number=67424</a:t>
            </a:r>
          </a:p>
          <a:p xmlns:a="http://schemas.openxmlformats.org/drawingml/2006/main">
            <a:pPr>
              <a:lnSpc>
                <a:spcPct val="125000"/>
              </a:lnSpc>
              <a:spcBef>
                <a:spcPts val="0"/>
              </a:spcBef>
              <a:spcAft>
                <a:spcPts val="0"/>
              </a:spcAft>
            </a:pPr>
            <a:r>
              <a:rPr>
                <a:latin typeface="Pretendard"/>
                <a:ea typeface="Pretendard"/>
                <a:cs typeface="Pretendard"/>
              </a:rPr>
              <a:t>확인 범위: 경기도 공식 발표 본문. 발언록·표결 원표 미확인.</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F01 | 유럽연합 / 집행위원회 공식 조문 서비스 | 2024 제정 / 현행 조문 조회 2026-10-07</a:t>
            </a:r>
          </a:p>
          <a:p xmlns:a="http://schemas.openxmlformats.org/drawingml/2006/main">
            <a:pPr>
              <a:lnSpc>
                <a:spcPct val="125000"/>
              </a:lnSpc>
              <a:spcBef>
                <a:spcPts val="0"/>
              </a:spcBef>
              <a:spcAft>
                <a:spcPts val="0"/>
              </a:spcAft>
            </a:pPr>
            <a:r>
              <a:rPr>
                <a:latin typeface="Pretendard"/>
                <a:ea typeface="Pretendard"/>
                <a:cs typeface="Pretendard"/>
              </a:rPr>
              <a:t>EU AI Act 제5조: 공공장소 실시간 원격 생체식별</a:t>
            </a:r>
          </a:p>
          <a:p xmlns:a="http://schemas.openxmlformats.org/drawingml/2006/main">
            <a:pPr>
              <a:lnSpc>
                <a:spcPct val="125000"/>
              </a:lnSpc>
              <a:spcBef>
                <a:spcPts val="0"/>
              </a:spcBef>
              <a:spcAft>
                <a:spcPts val="0"/>
              </a:spcAft>
            </a:pPr>
            <a:r>
              <a:rPr>
                <a:latin typeface="Pretendard"/>
                <a:ea typeface="Pretendard"/>
                <a:cs typeface="Pretendard"/>
              </a:rPr>
              <a:t>https://ai-act-service-desk.ec.europa.eu/en/ai-act/article-5</a:t>
            </a:r>
          </a:p>
          <a:p xmlns:a="http://schemas.openxmlformats.org/drawingml/2006/main">
            <a:pPr>
              <a:lnSpc>
                <a:spcPct val="125000"/>
              </a:lnSpc>
              <a:spcBef>
                <a:spcPts val="0"/>
              </a:spcBef>
              <a:spcAft>
                <a:spcPts val="0"/>
              </a:spcAft>
            </a:pPr>
            <a:r>
              <a:rPr>
                <a:latin typeface="Pretendard"/>
                <a:ea typeface="Pretendard"/>
                <a:cs typeface="Pretendard"/>
              </a:rPr>
              <a:t>확인 범위: 공식 제5조 본문, 특히 1(h)와 2–7항.</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공공 CCTV의 실시간 용의자 식별·체포 허용 여부와 조건을 판단한다.</a:t>
            </a:r>
          </a:p>
          <a:p xmlns:a="http://schemas.openxmlformats.org/drawingml/2006/main">
            <a:pPr>
              <a:lnSpc>
                <a:spcPct val="125000"/>
              </a:lnSpc>
              <a:spcBef>
                <a:spcPts val="0"/>
              </a:spcBef>
              <a:spcAft>
                <a:spcPts val="0"/>
              </a:spcAft>
            </a:pPr>
            <a:r>
              <a:rPr>
                <a:latin typeface="Pretendard"/>
                <a:ea typeface="Pretendard"/>
                <a:cs typeface="Pretendard"/>
              </a:rPr>
              <a:t>확장 질문: 오늘 판단할 정책은 무엇인가?</a:t>
            </a:r>
          </a:p>
          <a:p xmlns:a="http://schemas.openxmlformats.org/drawingml/2006/main">
            <a:pPr>
              <a:lnSpc>
                <a:spcPct val="125000"/>
              </a:lnSpc>
              <a:spcBef>
                <a:spcPts val="0"/>
              </a:spcBef>
              <a:spcAft>
                <a:spcPts val="0"/>
              </a:spcAft>
            </a:pPr>
            <a:r>
              <a:rPr>
                <a:latin typeface="Pretendard"/>
                <a:ea typeface="Pretendard"/>
                <a:cs typeface="Pretendard"/>
              </a:rPr>
              <a:t>D01: 보호 입법 전 공공기관의 공공장소 실시간 원격 얼굴인식 도입·활용 중지 권고. 국무조정실은 개별 법적 근거 없는 도입을 하지 않겠다고 회신했고 인권위가 이를 수용으로 판단했다.</a:t>
            </a:r>
          </a:p>
          <a:p xmlns:a="http://schemas.openxmlformats.org/drawingml/2006/main">
            <a:pPr>
              <a:lnSpc>
                <a:spcPct val="125000"/>
              </a:lnSpc>
              <a:spcBef>
                <a:spcPts val="0"/>
              </a:spcBef>
              <a:spcAft>
                <a:spcPts val="0"/>
              </a:spcAft>
            </a:pPr>
            <a:r>
              <a:rPr>
                <a:latin typeface="Pretendard"/>
                <a:ea typeface="Pretendard"/>
                <a:cs typeface="Pretendard"/>
              </a:rPr>
              <a:t>적용 범위·한계: 권고·회신이며, 2026년 현재 모든 얼굴인식을 금지하는 법률이라는 뜻이 아니다.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D02: 엄격한 조건과 보호장치 아래 중범죄 대응에 활용하는 경우 인권침해로 볼 수 없다는 배심회의 결과를 발표했다. 오인 수사·체포와 편향·낙인 위험도 논의했다.</a:t>
            </a:r>
          </a:p>
          <a:p xmlns:a="http://schemas.openxmlformats.org/drawingml/2006/main">
            <a:pPr>
              <a:lnSpc>
                <a:spcPct val="125000"/>
              </a:lnSpc>
              <a:spcBef>
                <a:spcPts val="0"/>
              </a:spcBef>
              <a:spcAft>
                <a:spcPts val="0"/>
              </a:spcAft>
            </a:pPr>
            <a:r>
              <a:rPr>
                <a:latin typeface="Pretendard"/>
                <a:ea typeface="Pretendard"/>
                <a:cs typeface="Pretendard"/>
              </a:rPr>
              <a:t>적용 범위·한계: 법원 판단·국가 정책 승인·전국 대표 여론조사가 아니다. 이희대 이사의 주재와 전문가·도민 참여는 확인했으나 2025년 실제 표본 수·찬반 분포는 미확인.</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F01: 법집행 목적의 공공장소 실시간 원격 생체식별은 원칙적으로 금지하되 특정 피해자·실종자 수색, 생명·안전 위협 및 테러, 일정 중대범죄 용의자 식별 등에 예외를 둔다. 사전 독립적 허가와 시간·장소·인적 제한, 영향평가 및 회원국의 별도 법제가 요구된다.</a:t>
            </a:r>
          </a:p>
          <a:p xmlns:a="http://schemas.openxmlformats.org/drawingml/2006/main">
            <a:pPr>
              <a:lnSpc>
                <a:spcPct val="125000"/>
              </a:lnSpc>
              <a:spcBef>
                <a:spcPts val="0"/>
              </a:spcBef>
              <a:spcAft>
                <a:spcPts val="0"/>
              </a:spcAft>
            </a:pPr>
            <a:r>
              <a:rPr>
                <a:latin typeface="Pretendard"/>
                <a:ea typeface="Pretendard"/>
                <a:cs typeface="Pretendard"/>
              </a:rPr>
              <a:t>적용 범위·한계: 유럽 전체에서 경찰이 자동으로 사용할 수 있다는 뜻이 아니다. 범죄 기준은 해당 목록 범죄의 법정 최고형 4년 이상이다. 긴급 예외의 24시간은 허가 신청 시한이며 승인 시한이 아니다.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W8-01 / 본편 필수 / NECESSARY BASELINE</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이전 연결: 수업 시작: 정식 논제와 범위를 제시한다.</a:t>
            </a:r>
          </a:p>
          <a:p xmlns:a="http://schemas.openxmlformats.org/drawingml/2006/main">
            <a:pPr>
              <a:lnSpc>
                <a:spcPct val="125000"/>
              </a:lnSpc>
              <a:spcBef>
                <a:spcPts val="0"/>
              </a:spcBef>
              <a:spcAft>
                <a:spcPts val="0"/>
              </a:spcAft>
            </a:pPr>
            <a:r>
              <a:rPr>
                <a:latin typeface="Pretendard"/>
                <a:ea typeface="Pretendard"/>
                <a:cs typeface="Pretendard"/>
              </a:rPr>
              <a:t>다음 연결: 논제의 적용 범위를 알면 학습할 개념과 자료의 순서가 정해진다.</a:t>
            </a:r>
          </a:p>
          <a:p xmlns:a="http://schemas.openxmlformats.org/drawingml/2006/main">
            <a:pPr>
              <a:lnSpc>
                <a:spcPct val="125000"/>
              </a:lnSpc>
              <a:spcBef>
                <a:spcPts val="0"/>
              </a:spcBef>
              <a:spcAft>
                <a:spcPts val="0"/>
              </a:spcAft>
            </a:pPr>
            <a:r>
              <a:rPr>
                <a:latin typeface="Pretendard"/>
                <a:ea typeface="Pretendard"/>
                <a:cs typeface="Pretendard"/>
              </a:rPr>
              <a:t>운영시간 초안: 0.5분.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실시간 분석의 기능을 구분하면, 어떤 변화에 법적 근거와 성능 평가가 필요한지 분명해집니다. 현장에서 얻은 성과와 시민이 겪은 부담, 국내외의 허용 조건을 함께 놓고 자신의 판단을 구성할 수 있습니다.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D01 | 국가인권위원회 | 권고 2023-01-12 / 회신 수용 공표 2024-02-22</a:t>
            </a:r>
          </a:p>
          <a:p xmlns:a="http://schemas.openxmlformats.org/drawingml/2006/main">
            <a:pPr>
              <a:lnSpc>
                <a:spcPct val="125000"/>
              </a:lnSpc>
              <a:spcBef>
                <a:spcPts val="0"/>
              </a:spcBef>
              <a:spcAft>
                <a:spcPts val="0"/>
              </a:spcAft>
            </a:pPr>
            <a:r>
              <a:rPr>
                <a:latin typeface="Pretendard"/>
                <a:ea typeface="Pretendard"/>
                <a:cs typeface="Pretendard"/>
              </a:rPr>
              <a:t>실시간 원격 얼굴인식 기술 도입·활용 중지 조치 권고, 국무총리 수용</a:t>
            </a:r>
          </a:p>
          <a:p xmlns:a="http://schemas.openxmlformats.org/drawingml/2006/main">
            <a:pPr>
              <a:lnSpc>
                <a:spcPct val="125000"/>
              </a:lnSpc>
              <a:spcBef>
                <a:spcPts val="0"/>
              </a:spcBef>
              <a:spcAft>
                <a:spcPts val="0"/>
              </a:spcAft>
            </a:pPr>
            <a:r>
              <a:rPr>
                <a:latin typeface="Pretendard"/>
                <a:ea typeface="Pretendard"/>
                <a:cs typeface="Pretendard"/>
              </a:rPr>
              <a:t>https://www.humanrights.go.kr/base/board/read?boardManagementNo=24&amp;boardNo=7609889&amp;menuLevel=3&amp;menuNo=91&amp;page=1&amp;searchCategory=&amp;searchType=&amp;searchWord=</a:t>
            </a:r>
          </a:p>
          <a:p xmlns:a="http://schemas.openxmlformats.org/drawingml/2006/main">
            <a:pPr>
              <a:lnSpc>
                <a:spcPct val="125000"/>
              </a:lnSpc>
              <a:spcBef>
                <a:spcPts val="0"/>
              </a:spcBef>
              <a:spcAft>
                <a:spcPts val="0"/>
              </a:spcAft>
            </a:pPr>
            <a:r>
              <a:rPr>
                <a:latin typeface="Pretendard"/>
                <a:ea typeface="Pretendard"/>
                <a:cs typeface="Pretendard"/>
              </a:rPr>
              <a:t>확인 범위: 공식 보도자료 본문. 첨부 결정문은 접근 실패.</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F01 | 유럽연합 / 집행위원회 공식 조문 서비스 | 2024 제정 / 현행 조문 조회 2026-10-07</a:t>
            </a:r>
          </a:p>
          <a:p xmlns:a="http://schemas.openxmlformats.org/drawingml/2006/main">
            <a:pPr>
              <a:lnSpc>
                <a:spcPct val="125000"/>
              </a:lnSpc>
              <a:spcBef>
                <a:spcPts val="0"/>
              </a:spcBef>
              <a:spcAft>
                <a:spcPts val="0"/>
              </a:spcAft>
            </a:pPr>
            <a:r>
              <a:rPr>
                <a:latin typeface="Pretendard"/>
                <a:ea typeface="Pretendard"/>
                <a:cs typeface="Pretendard"/>
              </a:rPr>
              <a:t>EU AI Act 제5조: 공공장소 실시간 원격 생체식별</a:t>
            </a:r>
          </a:p>
          <a:p xmlns:a="http://schemas.openxmlformats.org/drawingml/2006/main">
            <a:pPr>
              <a:lnSpc>
                <a:spcPct val="125000"/>
              </a:lnSpc>
              <a:spcBef>
                <a:spcPts val="0"/>
              </a:spcBef>
              <a:spcAft>
                <a:spcPts val="0"/>
              </a:spcAft>
            </a:pPr>
            <a:r>
              <a:rPr>
                <a:latin typeface="Pretendard"/>
                <a:ea typeface="Pretendard"/>
                <a:cs typeface="Pretendard"/>
              </a:rPr>
              <a:t>https://ai-act-service-desk.ec.europa.eu/en/ai-act/article-5</a:t>
            </a:r>
          </a:p>
          <a:p xmlns:a="http://schemas.openxmlformats.org/drawingml/2006/main">
            <a:pPr>
              <a:lnSpc>
                <a:spcPct val="125000"/>
              </a:lnSpc>
              <a:spcBef>
                <a:spcPts val="0"/>
              </a:spcBef>
              <a:spcAft>
                <a:spcPts val="0"/>
              </a:spcAft>
            </a:pPr>
            <a:r>
              <a:rPr>
                <a:latin typeface="Pretendard"/>
                <a:ea typeface="Pretendard"/>
                <a:cs typeface="Pretendard"/>
              </a:rPr>
              <a:t>확인 범위: 공식 제5조 본문, 특히 1(h)와 2–7항.</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F05 | 런던경찰청(Metropolitan Police) | 발행 2025-09-30 / 대상 2024-09-11~2025-09-10</a:t>
            </a:r>
          </a:p>
          <a:p xmlns:a="http://schemas.openxmlformats.org/drawingml/2006/main">
            <a:pPr>
              <a:lnSpc>
                <a:spcPct val="125000"/>
              </a:lnSpc>
              <a:spcBef>
                <a:spcPts val="0"/>
              </a:spcBef>
              <a:spcAft>
                <a:spcPts val="0"/>
              </a:spcAft>
            </a:pPr>
            <a:r>
              <a:rPr>
                <a:latin typeface="Pretendard"/>
                <a:ea typeface="Pretendard"/>
                <a:cs typeface="Pretendard"/>
              </a:rPr>
              <a:t>Live Facial Recognition Annual Report 2025</a:t>
            </a:r>
          </a:p>
          <a:p xmlns:a="http://schemas.openxmlformats.org/drawingml/2006/main">
            <a:pPr>
              <a:lnSpc>
                <a:spcPct val="125000"/>
              </a:lnSpc>
              <a:spcBef>
                <a:spcPts val="0"/>
              </a:spcBef>
              <a:spcAft>
                <a:spcPts val="0"/>
              </a:spcAft>
            </a:pPr>
            <a:r>
              <a:rPr>
                <a:latin typeface="Pretendard"/>
                <a:ea typeface="Pretendard"/>
                <a:cs typeface="Pretendard"/>
              </a:rPr>
              <a:t>https://www.met.police.uk/SysSiteAssets/media/downloads/force-content/met/advice/lfr/other-lfr-documents/live-facial-recognition-annual-report-2025.pdf</a:t>
            </a:r>
          </a:p>
          <a:p xmlns:a="http://schemas.openxmlformats.org/drawingml/2006/main">
            <a:pPr>
              <a:lnSpc>
                <a:spcPct val="125000"/>
              </a:lnSpc>
              <a:spcBef>
                <a:spcPts val="0"/>
              </a:spcBef>
              <a:spcAft>
                <a:spcPts val="0"/>
              </a:spcAft>
            </a:pPr>
            <a:r>
              <a:rPr>
                <a:latin typeface="Pretendard"/>
                <a:ea typeface="Pretendard"/>
                <a:cs typeface="Pretendard"/>
              </a:rPr>
              <a:t>확인 범위: 공식 PDF 19쪽 중 배치·경보·체포 및 오류 통계.</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기능·기준선·실제 운영·권리·대안을 배운 뒤 판단한다.</a:t>
            </a:r>
          </a:p>
          <a:p xmlns:a="http://schemas.openxmlformats.org/drawingml/2006/main">
            <a:pPr>
              <a:lnSpc>
                <a:spcPct val="125000"/>
              </a:lnSpc>
              <a:spcBef>
                <a:spcPts val="0"/>
              </a:spcBef>
              <a:spcAft>
                <a:spcPts val="0"/>
              </a:spcAft>
            </a:pPr>
            <a:r>
              <a:rPr>
                <a:latin typeface="Pretendard"/>
                <a:ea typeface="Pretendard"/>
                <a:cs typeface="Pretendard"/>
              </a:rPr>
              <a:t>확장 질문: 학습 순서는 어떻게 연결되는가?</a:t>
            </a:r>
          </a:p>
          <a:p xmlns:a="http://schemas.openxmlformats.org/drawingml/2006/main">
            <a:pPr>
              <a:lnSpc>
                <a:spcPct val="125000"/>
              </a:lnSpc>
              <a:spcBef>
                <a:spcPts val="0"/>
              </a:spcBef>
              <a:spcAft>
                <a:spcPts val="0"/>
              </a:spcAft>
            </a:pPr>
            <a:r>
              <a:rPr>
                <a:latin typeface="Pretendard"/>
                <a:ea typeface="Pretendard"/>
                <a:cs typeface="Pretendard"/>
              </a:rPr>
              <a:t>D01: 보호 입법 전 공공기관의 공공장소 실시간 원격 얼굴인식 도입·활용 중지 권고. 국무조정실은 개별 법적 근거 없는 도입을 하지 않겠다고 회신했고 인권위가 이를 수용으로 판단했다.</a:t>
            </a:r>
          </a:p>
          <a:p xmlns:a="http://schemas.openxmlformats.org/drawingml/2006/main">
            <a:pPr>
              <a:lnSpc>
                <a:spcPct val="125000"/>
              </a:lnSpc>
              <a:spcBef>
                <a:spcPts val="0"/>
              </a:spcBef>
              <a:spcAft>
                <a:spcPts val="0"/>
              </a:spcAft>
            </a:pPr>
            <a:r>
              <a:rPr>
                <a:latin typeface="Pretendard"/>
                <a:ea typeface="Pretendard"/>
                <a:cs typeface="Pretendard"/>
              </a:rPr>
              <a:t>적용 범위·한계: 권고·회신이며, 2026년 현재 모든 얼굴인식을 금지하는 법률이라는 뜻이 아니다.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F01: 법집행 목적의 공공장소 실시간 원격 생체식별은 원칙적으로 금지하되 특정 피해자·실종자 수색, 생명·안전 위협 및 테러, 일정 중대범죄 용의자 식별 등에 예외를 둔다. 사전 독립적 허가와 시간·장소·인적 제한, 영향평가 및 회원국의 별도 법제가 요구된다.</a:t>
            </a:r>
          </a:p>
          <a:p xmlns:a="http://schemas.openxmlformats.org/drawingml/2006/main">
            <a:pPr>
              <a:lnSpc>
                <a:spcPct val="125000"/>
              </a:lnSpc>
              <a:spcBef>
                <a:spcPts val="0"/>
              </a:spcBef>
              <a:spcAft>
                <a:spcPts val="0"/>
              </a:spcAft>
            </a:pPr>
            <a:r>
              <a:rPr>
                <a:latin typeface="Pretendard"/>
                <a:ea typeface="Pretendard"/>
                <a:cs typeface="Pretendard"/>
              </a:rPr>
              <a:t>적용 범위·한계: 유럽 전체에서 경찰이 자동으로 사용할 수 있다는 뜻이 아니다. 범죄 기준은 해당 목록 범죄의 법정 최고형 4년 이상이다. 긴급 예외의 24시간은 허가 신청 시한이며 승인 시한이 아니다.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F05: 범죄다발지역 203회와 행사보안 4회 배치를 구분한다. 전체 기간 약 314만 7,436회 얼굴 통과, 경보 2,077건(진경보 2,067·오경보 10), 체포 962건을 보고했다. 오경보 중 6건에서 현장 접촉이 있었고 그로 인한 체포는 0건이었다.</a:t>
            </a:r>
          </a:p>
          <a:p xmlns:a="http://schemas.openxmlformats.org/drawingml/2006/main">
            <a:pPr>
              <a:lnSpc>
                <a:spcPct val="125000"/>
              </a:lnSpc>
              <a:spcBef>
                <a:spcPts val="0"/>
              </a:spcBef>
              <a:spcAft>
                <a:spcPts val="0"/>
              </a:spcAft>
            </a:pPr>
            <a:r>
              <a:rPr>
                <a:latin typeface="Pretendard"/>
                <a:ea typeface="Pretendard"/>
                <a:cs typeface="Pretendard"/>
              </a:rPr>
              <a:t>적용 범위·한계: 경찰의 자체 집계다. 얼굴 통과는 고유 인원수가 아니며 체포는 유죄가 아니다. 전후·대조집단 비교가 없어 범죄 감소의 인과효과를 입증하지 않는다.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W8-02 / 본편 필수 / NECESSARY BASELINE</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이전 연결: 논제의 적용 범위를 알면 학습할 개념과 자료의 순서가 정해진다.</a:t>
            </a:r>
          </a:p>
          <a:p xmlns:a="http://schemas.openxmlformats.org/drawingml/2006/main">
            <a:pPr>
              <a:lnSpc>
                <a:spcPct val="125000"/>
              </a:lnSpc>
              <a:spcBef>
                <a:spcPts val="0"/>
              </a:spcBef>
              <a:spcAft>
                <a:spcPts val="0"/>
              </a:spcAft>
            </a:pPr>
            <a:r>
              <a:rPr>
                <a:latin typeface="Pretendard"/>
                <a:ea typeface="Pretendard"/>
                <a:cs typeface="Pretendard"/>
              </a:rPr>
              <a:t>다음 연결: 학습 순서의 출발점은 누가 검색 대상이고 누가 입력 대상인지 구분하는 것이다.</a:t>
            </a:r>
          </a:p>
          <a:p xmlns:a="http://schemas.openxmlformats.org/drawingml/2006/main">
            <a:pPr>
              <a:lnSpc>
                <a:spcPct val="125000"/>
              </a:lnSpc>
              <a:spcBef>
                <a:spcPts val="0"/>
              </a:spcBef>
              <a:spcAft>
                <a:spcPts val="0"/>
              </a:spcAft>
            </a:pPr>
            <a:r>
              <a:rPr>
                <a:latin typeface="Pretendard"/>
                <a:ea typeface="Pretendard"/>
                <a:cs typeface="Pretendard"/>
              </a:rPr>
              <a:t>운영시간 초안: 0.5분.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수사기관은 이미 알고 있는 용의자의 얼굴을 명단에 올리고, 그 사람이 카메라 앞을 지나는지 찾을 수 있습니다. 이때 시스템이 처리하는 영상에는 명단 밖의 통행인도 들어옵니다. 정책의 적용 범위는 찾으려는 사람과 실제로 얼굴을 처리하는 사람을 함께 포함합니다.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F02 | 잉글랜드·웨일스 항소법원 / [2020] EWCA Civ 1058 | 2020-08-11</a:t>
            </a:r>
          </a:p>
          <a:p xmlns:a="http://schemas.openxmlformats.org/drawingml/2006/main">
            <a:pPr>
              <a:lnSpc>
                <a:spcPct val="125000"/>
              </a:lnSpc>
              <a:spcBef>
                <a:spcPts val="0"/>
              </a:spcBef>
              <a:spcAft>
                <a:spcPts val="0"/>
              </a:spcAft>
            </a:pPr>
            <a:r>
              <a:rPr>
                <a:latin typeface="Pretendard"/>
                <a:ea typeface="Pretendard"/>
                <a:cs typeface="Pretendard"/>
              </a:rPr>
              <a:t>R (Bridges) v Chief Constable of South Wales Police</a:t>
            </a:r>
          </a:p>
          <a:p xmlns:a="http://schemas.openxmlformats.org/drawingml/2006/main">
            <a:pPr>
              <a:lnSpc>
                <a:spcPct val="125000"/>
              </a:lnSpc>
              <a:spcBef>
                <a:spcPts val="0"/>
              </a:spcBef>
              <a:spcAft>
                <a:spcPts val="0"/>
              </a:spcAft>
            </a:pPr>
            <a:r>
              <a:rPr>
                <a:latin typeface="Pretendard"/>
                <a:ea typeface="Pretendard"/>
                <a:cs typeface="Pretendard"/>
              </a:rPr>
              <a:t>https://www.judiciary.uk/wp-content/uploads/2020/08/R-Bridges-v-CC-South-Wales-ors-Judgment.pdf</a:t>
            </a:r>
          </a:p>
          <a:p xmlns:a="http://schemas.openxmlformats.org/drawingml/2006/main">
            <a:pPr>
              <a:lnSpc>
                <a:spcPct val="125000"/>
              </a:lnSpc>
              <a:spcBef>
                <a:spcPts val="0"/>
              </a:spcBef>
              <a:spcAft>
                <a:spcPts val="0"/>
              </a:spcAft>
            </a:pPr>
            <a:r>
              <a:rPr>
                <a:latin typeface="Pretendard"/>
                <a:ea typeface="Pretendard"/>
                <a:cs typeface="Pretendard"/>
              </a:rPr>
              <a:t>확인 범위: 공식 판결 PDF 59쪽의 주요 판단·결론.</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F01 | 유럽연합 / 집행위원회 공식 조문 서비스 | 2024 제정 / 현행 조문 조회 2026-10-07</a:t>
            </a:r>
          </a:p>
          <a:p xmlns:a="http://schemas.openxmlformats.org/drawingml/2006/main">
            <a:pPr>
              <a:lnSpc>
                <a:spcPct val="125000"/>
              </a:lnSpc>
              <a:spcBef>
                <a:spcPts val="0"/>
              </a:spcBef>
              <a:spcAft>
                <a:spcPts val="0"/>
              </a:spcAft>
            </a:pPr>
            <a:r>
              <a:rPr>
                <a:latin typeface="Pretendard"/>
                <a:ea typeface="Pretendard"/>
                <a:cs typeface="Pretendard"/>
              </a:rPr>
              <a:t>EU AI Act 제5조: 공공장소 실시간 원격 생체식별</a:t>
            </a:r>
          </a:p>
          <a:p xmlns:a="http://schemas.openxmlformats.org/drawingml/2006/main">
            <a:pPr>
              <a:lnSpc>
                <a:spcPct val="125000"/>
              </a:lnSpc>
              <a:spcBef>
                <a:spcPts val="0"/>
              </a:spcBef>
              <a:spcAft>
                <a:spcPts val="0"/>
              </a:spcAft>
            </a:pPr>
            <a:r>
              <a:rPr>
                <a:latin typeface="Pretendard"/>
                <a:ea typeface="Pretendard"/>
                <a:cs typeface="Pretendard"/>
              </a:rPr>
              <a:t>https://ai-act-service-desk.ec.europa.eu/en/ai-act/article-5</a:t>
            </a:r>
          </a:p>
          <a:p xmlns:a="http://schemas.openxmlformats.org/drawingml/2006/main">
            <a:pPr>
              <a:lnSpc>
                <a:spcPct val="125000"/>
              </a:lnSpc>
              <a:spcBef>
                <a:spcPts val="0"/>
              </a:spcBef>
              <a:spcAft>
                <a:spcPts val="0"/>
              </a:spcAft>
            </a:pPr>
            <a:r>
              <a:rPr>
                <a:latin typeface="Pretendard"/>
                <a:ea typeface="Pretendard"/>
                <a:cs typeface="Pretendard"/>
              </a:rPr>
              <a:t>확인 범위: 공식 제5조 본문, 특히 1(h)와 2–7항.</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특정인을 찾기 위해 명단 밖 통행인의 얼굴도 대조한다.</a:t>
            </a:r>
          </a:p>
          <a:p xmlns:a="http://schemas.openxmlformats.org/drawingml/2006/main">
            <a:pPr>
              <a:lnSpc>
                <a:spcPct val="125000"/>
              </a:lnSpc>
              <a:spcBef>
                <a:spcPts val="0"/>
              </a:spcBef>
              <a:spcAft>
                <a:spcPts val="0"/>
              </a:spcAft>
            </a:pPr>
            <a:r>
              <a:rPr>
                <a:latin typeface="Pretendard"/>
                <a:ea typeface="Pretendard"/>
                <a:cs typeface="Pretendard"/>
              </a:rPr>
              <a:t>확장 질문: 누구를 찾고 누구의 얼굴을 처리하는가?</a:t>
            </a:r>
          </a:p>
          <a:p xmlns:a="http://schemas.openxmlformats.org/drawingml/2006/main">
            <a:pPr>
              <a:lnSpc>
                <a:spcPct val="125000"/>
              </a:lnSpc>
              <a:spcBef>
                <a:spcPts val="0"/>
              </a:spcBef>
              <a:spcAft>
                <a:spcPts val="0"/>
              </a:spcAft>
            </a:pPr>
            <a:r>
              <a:rPr>
                <a:latin typeface="Pretendard"/>
                <a:ea typeface="Pretendard"/>
                <a:cs typeface="Pretendard"/>
              </a:rPr>
              <a:t>F02: 감시대상자와 배치 장소를 정하는 재량의 통제 부족, 개인정보 영향평가 및 평등의무 문제를 인정해 항소를 일부 받아들였다.</a:t>
            </a:r>
          </a:p>
          <a:p xmlns:a="http://schemas.openxmlformats.org/drawingml/2006/main">
            <a:pPr>
              <a:lnSpc>
                <a:spcPct val="125000"/>
              </a:lnSpc>
              <a:spcBef>
                <a:spcPts val="0"/>
              </a:spcBef>
              <a:spcAft>
                <a:spcPts val="0"/>
              </a:spcAft>
            </a:pPr>
            <a:r>
              <a:rPr>
                <a:latin typeface="Pretendard"/>
                <a:ea typeface="Pretendard"/>
                <a:cs typeface="Pretendard"/>
              </a:rPr>
              <a:t>적용 범위·한계: 실시간 얼굴인식 기술 자체를 영구 전면 금지한 판결이 아니다. 당시 정책·기록에 대한 판단이다.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F01: 법집행 목적의 공공장소 실시간 원격 생체식별은 원칙적으로 금지하되 특정 피해자·실종자 수색, 생명·안전 위협 및 테러, 일정 중대범죄 용의자 식별 등에 예외를 둔다. 사전 독립적 허가와 시간·장소·인적 제한, 영향평가 및 회원국의 별도 법제가 요구된다.</a:t>
            </a:r>
          </a:p>
          <a:p xmlns:a="http://schemas.openxmlformats.org/drawingml/2006/main">
            <a:pPr>
              <a:lnSpc>
                <a:spcPct val="125000"/>
              </a:lnSpc>
              <a:spcBef>
                <a:spcPts val="0"/>
              </a:spcBef>
              <a:spcAft>
                <a:spcPts val="0"/>
              </a:spcAft>
            </a:pPr>
            <a:r>
              <a:rPr>
                <a:latin typeface="Pretendard"/>
                <a:ea typeface="Pretendard"/>
                <a:cs typeface="Pretendard"/>
              </a:rPr>
              <a:t>적용 범위·한계: 유럽 전체에서 경찰이 자동으로 사용할 수 있다는 뜻이 아니다. 범죄 기준은 해당 목록 범죄의 법정 최고형 4년 이상이다. 긴급 예외의 24시간은 허가 신청 시한이며 승인 시한이 아니다.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W8-03 / 본편 필수 / NECESSARY BASELINE</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이전 연결: 학습 순서의 출발점은 누가 검색 대상이고 누가 입력 대상인지 구분하는 것이다.</a:t>
            </a:r>
          </a:p>
          <a:p xmlns:a="http://schemas.openxmlformats.org/drawingml/2006/main">
            <a:pPr>
              <a:lnSpc>
                <a:spcPct val="125000"/>
              </a:lnSpc>
              <a:spcBef>
                <a:spcPts val="0"/>
              </a:spcBef>
              <a:spcAft>
                <a:spcPts val="0"/>
              </a:spcAft>
            </a:pPr>
            <a:r>
              <a:rPr>
                <a:latin typeface="Pretendard"/>
                <a:ea typeface="Pretendard"/>
                <a:cs typeface="Pretendard"/>
              </a:rPr>
              <a:t>다음 연결: 같은 CCTV 영상도 찾으려는 대상에 따라 서로 다른 분석 기능을 사용한다.</a:t>
            </a:r>
          </a:p>
          <a:p xmlns:a="http://schemas.openxmlformats.org/drawingml/2006/main">
            <a:pPr>
              <a:lnSpc>
                <a:spcPct val="125000"/>
              </a:lnSpc>
              <a:spcBef>
                <a:spcPts val="0"/>
              </a:spcBef>
              <a:spcAft>
                <a:spcPts val="0"/>
              </a:spcAft>
            </a:pPr>
            <a:r>
              <a:rPr>
                <a:latin typeface="Pretendard"/>
                <a:ea typeface="Pretendard"/>
                <a:cs typeface="Pretendard"/>
              </a:rPr>
              <a:t>운영시간 초안: 1.5분.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파리 올림픽의 상황 탐지와 안양의 실종자 외형 검색은 서로 다른 질문을 기계에 맡깁니다. 하나는 무슨 상황이 발생했는지, 다른 하나는 이런 모습의 사람이 어디로 갔는지를 찾습니다. 얼굴 신원식별은 그 사람이 등록 명단 속 누구인지 묻습니다. 각 기능에서 필요한 정보와 오류의 종류도 달라집니다.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F15 | 프랑스 헌법위원회 | 2023-05-17</a:t>
            </a:r>
          </a:p>
          <a:p xmlns:a="http://schemas.openxmlformats.org/drawingml/2006/main">
            <a:pPr>
              <a:lnSpc>
                <a:spcPct val="125000"/>
              </a:lnSpc>
              <a:spcBef>
                <a:spcPts val="0"/>
              </a:spcBef>
              <a:spcAft>
                <a:spcPts val="0"/>
              </a:spcAft>
            </a:pPr>
            <a:r>
              <a:rPr>
                <a:latin typeface="Pretendard"/>
                <a:ea typeface="Pretendard"/>
                <a:cs typeface="Pretendard"/>
              </a:rPr>
              <a:t>Décision n° 2023-850 DC: 파리 올림픽 관련 알고리즘 영상분석</a:t>
            </a:r>
          </a:p>
          <a:p xmlns:a="http://schemas.openxmlformats.org/drawingml/2006/main">
            <a:pPr>
              <a:lnSpc>
                <a:spcPct val="125000"/>
              </a:lnSpc>
              <a:spcBef>
                <a:spcPts val="0"/>
              </a:spcBef>
              <a:spcAft>
                <a:spcPts val="0"/>
              </a:spcAft>
            </a:pPr>
            <a:r>
              <a:rPr>
                <a:latin typeface="Pretendard"/>
                <a:ea typeface="Pretendard"/>
                <a:cs typeface="Pretendard"/>
              </a:rPr>
              <a:t>https://www.legifrance.gouv.fr/juri/id/CONSTEXT000047602516</a:t>
            </a:r>
          </a:p>
          <a:p xmlns:a="http://schemas.openxmlformats.org/drawingml/2006/main">
            <a:pPr>
              <a:lnSpc>
                <a:spcPct val="125000"/>
              </a:lnSpc>
              <a:spcBef>
                <a:spcPts val="0"/>
              </a:spcBef>
              <a:spcAft>
                <a:spcPts val="0"/>
              </a:spcAft>
            </a:pPr>
            <a:r>
              <a:rPr>
                <a:latin typeface="Pretendard"/>
                <a:ea typeface="Pretendard"/>
                <a:cs typeface="Pretendard"/>
              </a:rPr>
              <a:t>확인 범위: 공식 결정문 중 알고리즘 영상분석 부분, 특히 제42–43항.</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S17 | CNIL | 2024-06-25</a:t>
            </a:r>
          </a:p>
          <a:p xmlns:a="http://schemas.openxmlformats.org/drawingml/2006/main">
            <a:pPr>
              <a:lnSpc>
                <a:spcPct val="125000"/>
              </a:lnSpc>
              <a:spcBef>
                <a:spcPts val="0"/>
              </a:spcBef>
              <a:spcAft>
                <a:spcPts val="0"/>
              </a:spcAft>
            </a:pPr>
            <a:r>
              <a:rPr>
                <a:latin typeface="Pretendard"/>
                <a:ea typeface="Pretendard"/>
                <a:cs typeface="Pretendard"/>
              </a:rPr>
              <a:t>2024 Olympics: the CNIL’s Q&amp;A on your privacy and freedoms</a:t>
            </a:r>
          </a:p>
          <a:p xmlns:a="http://schemas.openxmlformats.org/drawingml/2006/main">
            <a:pPr>
              <a:lnSpc>
                <a:spcPct val="125000"/>
              </a:lnSpc>
              <a:spcBef>
                <a:spcPts val="0"/>
              </a:spcBef>
              <a:spcAft>
                <a:spcPts val="0"/>
              </a:spcAft>
            </a:pPr>
            <a:r>
              <a:rPr>
                <a:latin typeface="Pretendard"/>
                <a:ea typeface="Pretendard"/>
                <a:cs typeface="Pretendard"/>
              </a:rPr>
              <a:t>https://www.cnil.fr/en/2024-olympics-cnils-qa-your-privacy-and-freedoms</a:t>
            </a:r>
          </a:p>
          <a:p xmlns:a="http://schemas.openxmlformats.org/drawingml/2006/main">
            <a:pPr>
              <a:lnSpc>
                <a:spcPct val="125000"/>
              </a:lnSpc>
              <a:spcBef>
                <a:spcPts val="0"/>
              </a:spcBef>
              <a:spcAft>
                <a:spcPts val="0"/>
              </a:spcAft>
            </a:pPr>
            <a:r>
              <a:rPr>
                <a:latin typeface="Pretendard"/>
                <a:ea typeface="Pretendard"/>
                <a:cs typeface="Pretendard"/>
              </a:rPr>
              <a:t>확인 범위: Augmented cameras 관련 문답</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D23 | 정책주간지 K-공감 / 고유선 | 2025-11-21</a:t>
            </a:r>
          </a:p>
          <a:p xmlns:a="http://schemas.openxmlformats.org/drawingml/2006/main">
            <a:pPr>
              <a:lnSpc>
                <a:spcPct val="125000"/>
              </a:lnSpc>
              <a:spcBef>
                <a:spcPts val="0"/>
              </a:spcBef>
              <a:spcAft>
                <a:spcPts val="0"/>
              </a:spcAft>
            </a:pPr>
            <a:r>
              <a:rPr>
                <a:latin typeface="Pretendard"/>
                <a:ea typeface="Pretendard"/>
                <a:cs typeface="Pretendard"/>
              </a:rPr>
              <a:t>실종자를 찾아라—AI 영상검색 AIDE 활용 사례</a:t>
            </a:r>
          </a:p>
          <a:p xmlns:a="http://schemas.openxmlformats.org/drawingml/2006/main">
            <a:pPr>
              <a:lnSpc>
                <a:spcPct val="125000"/>
              </a:lnSpc>
              <a:spcBef>
                <a:spcPts val="0"/>
              </a:spcBef>
              <a:spcAft>
                <a:spcPts val="0"/>
              </a:spcAft>
            </a:pPr>
            <a:r>
              <a:rPr>
                <a:latin typeface="Pretendard"/>
                <a:ea typeface="Pretendard"/>
                <a:cs typeface="Pretendard"/>
              </a:rPr>
              <a:t>https://gonggam.korea.kr/newsContentView.es?b_list=9&amp;code_cd=&amp;content=&amp;mid=a12605000000&amp;nPage=1&amp;news_id=a19b4b5e-fad6-4a3a-9120-5e9488c3a8d9&amp;section_id=NCCD_CULTURE_TOTAL</a:t>
            </a:r>
          </a:p>
          <a:p xmlns:a="http://schemas.openxmlformats.org/drawingml/2006/main">
            <a:pPr>
              <a:lnSpc>
                <a:spcPct val="125000"/>
              </a:lnSpc>
              <a:spcBef>
                <a:spcPts val="0"/>
              </a:spcBef>
              <a:spcAft>
                <a:spcPts val="0"/>
              </a:spcAft>
            </a:pPr>
            <a:r>
              <a:rPr>
                <a:latin typeface="Pretendard"/>
                <a:ea typeface="Pretendard"/>
                <a:cs typeface="Pretendard"/>
              </a:rPr>
              <a:t>확인 범위: 기사 본문과 기술·실제 수색 사례 설명.</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S04 | K-공감 | 2025-11-21</a:t>
            </a:r>
          </a:p>
          <a:p xmlns:a="http://schemas.openxmlformats.org/drawingml/2006/main">
            <a:pPr>
              <a:lnSpc>
                <a:spcPct val="125000"/>
              </a:lnSpc>
              <a:spcBef>
                <a:spcPts val="0"/>
              </a:spcBef>
              <a:spcAft>
                <a:spcPts val="0"/>
              </a:spcAft>
            </a:pPr>
            <a:r>
              <a:rPr>
                <a:latin typeface="Pretendard"/>
                <a:ea typeface="Pretendard"/>
                <a:cs typeface="Pretendard"/>
              </a:rPr>
              <a:t>실종자를 찾아라 1초에 CCTV 1000대 분석 60시간 할 일을 단 1분에</a:t>
            </a:r>
          </a:p>
          <a:p xmlns:a="http://schemas.openxmlformats.org/drawingml/2006/main">
            <a:pPr>
              <a:lnSpc>
                <a:spcPct val="125000"/>
              </a:lnSpc>
              <a:spcBef>
                <a:spcPts val="0"/>
              </a:spcBef>
              <a:spcAft>
                <a:spcPts val="0"/>
              </a:spcAft>
            </a:pPr>
            <a:r>
              <a:rPr>
                <a:latin typeface="Pretendard"/>
                <a:ea typeface="Pretendard"/>
                <a:cs typeface="Pretendard"/>
              </a:rPr>
              <a:t>https://gonggam.korea.kr/newsContentView.es?mid=a12603000000&amp;news_id=a19b4b5e-fad6-4a3a-9120-5e9488c3a8d9&amp;section_id=</a:t>
            </a:r>
          </a:p>
          <a:p xmlns:a="http://schemas.openxmlformats.org/drawingml/2006/main">
            <a:pPr>
              <a:lnSpc>
                <a:spcPct val="125000"/>
              </a:lnSpc>
              <a:spcBef>
                <a:spcPts val="0"/>
              </a:spcBef>
              <a:spcAft>
                <a:spcPts val="0"/>
              </a:spcAft>
            </a:pPr>
            <a:r>
              <a:rPr>
                <a:latin typeface="Pretendard"/>
                <a:ea typeface="Pretendard"/>
                <a:cs typeface="Pretendard"/>
              </a:rPr>
              <a:t>확인 범위: 10월 3일 치매 노인 실종 사례</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F02 | 잉글랜드·웨일스 항소법원 / [2020] EWCA Civ 1058 | 2020-08-11</a:t>
            </a:r>
          </a:p>
          <a:p xmlns:a="http://schemas.openxmlformats.org/drawingml/2006/main">
            <a:pPr>
              <a:lnSpc>
                <a:spcPct val="125000"/>
              </a:lnSpc>
              <a:spcBef>
                <a:spcPts val="0"/>
              </a:spcBef>
              <a:spcAft>
                <a:spcPts val="0"/>
              </a:spcAft>
            </a:pPr>
            <a:r>
              <a:rPr>
                <a:latin typeface="Pretendard"/>
                <a:ea typeface="Pretendard"/>
                <a:cs typeface="Pretendard"/>
              </a:rPr>
              <a:t>R (Bridges) v Chief Constable of South Wales Police</a:t>
            </a:r>
          </a:p>
          <a:p xmlns:a="http://schemas.openxmlformats.org/drawingml/2006/main">
            <a:pPr>
              <a:lnSpc>
                <a:spcPct val="125000"/>
              </a:lnSpc>
              <a:spcBef>
                <a:spcPts val="0"/>
              </a:spcBef>
              <a:spcAft>
                <a:spcPts val="0"/>
              </a:spcAft>
            </a:pPr>
            <a:r>
              <a:rPr>
                <a:latin typeface="Pretendard"/>
                <a:ea typeface="Pretendard"/>
                <a:cs typeface="Pretendard"/>
              </a:rPr>
              <a:t>https://www.judiciary.uk/wp-content/uploads/2020/08/R-Bridges-v-CC-South-Wales-ors-Judgment.pdf</a:t>
            </a:r>
          </a:p>
          <a:p xmlns:a="http://schemas.openxmlformats.org/drawingml/2006/main">
            <a:pPr>
              <a:lnSpc>
                <a:spcPct val="125000"/>
              </a:lnSpc>
              <a:spcBef>
                <a:spcPts val="0"/>
              </a:spcBef>
              <a:spcAft>
                <a:spcPts val="0"/>
              </a:spcAft>
            </a:pPr>
            <a:r>
              <a:rPr>
                <a:latin typeface="Pretendard"/>
                <a:ea typeface="Pretendard"/>
                <a:cs typeface="Pretendard"/>
              </a:rPr>
              <a:t>확인 범위: 공식 판결 PDF 59쪽의 주요 판단·결론.</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상황·외형·신원은 서로 다른 검색 과업이다.</a:t>
            </a:r>
          </a:p>
          <a:p xmlns:a="http://schemas.openxmlformats.org/drawingml/2006/main">
            <a:pPr>
              <a:lnSpc>
                <a:spcPct val="125000"/>
              </a:lnSpc>
              <a:spcBef>
                <a:spcPts val="0"/>
              </a:spcBef>
              <a:spcAft>
                <a:spcPts val="0"/>
              </a:spcAft>
            </a:pPr>
            <a:r>
              <a:rPr>
                <a:latin typeface="Pretendard"/>
                <a:ea typeface="Pretendard"/>
                <a:cs typeface="Pretendard"/>
              </a:rPr>
              <a:t>확장 질문: AI 관제는 모두 얼굴로 신원을 알아내는가?</a:t>
            </a:r>
          </a:p>
          <a:p xmlns:a="http://schemas.openxmlformats.org/drawingml/2006/main">
            <a:pPr>
              <a:lnSpc>
                <a:spcPct val="125000"/>
              </a:lnSpc>
              <a:spcBef>
                <a:spcPts val="0"/>
              </a:spcBef>
              <a:spcAft>
                <a:spcPts val="0"/>
              </a:spcAft>
            </a:pPr>
            <a:r>
              <a:rPr>
                <a:latin typeface="Pretendard"/>
                <a:ea typeface="Pretendard"/>
                <a:cs typeface="Pretendard"/>
              </a:rPr>
              <a:t>F15: 생체식별·얼굴인식을 배제하고 특정 사건 탐지와 사람의 확인을 중심으로 한 영상분석 제도의 조건을 판단했다.</a:t>
            </a:r>
          </a:p>
          <a:p xmlns:a="http://schemas.openxmlformats.org/drawingml/2006/main">
            <a:pPr>
              <a:lnSpc>
                <a:spcPct val="125000"/>
              </a:lnSpc>
              <a:spcBef>
                <a:spcPts val="0"/>
              </a:spcBef>
              <a:spcAft>
                <a:spcPts val="0"/>
              </a:spcAft>
            </a:pPr>
            <a:r>
              <a:rPr>
                <a:latin typeface="Pretendard"/>
                <a:ea typeface="Pretendard"/>
                <a:cs typeface="Pretendard"/>
              </a:rPr>
              <a:t>적용 범위·한계: 얼굴인식 없는 이상징후 탐지 사례다. 이를 프랑스가 용의자 얼굴인식을 포괄 허용한 사례로 쓰면 잘못이다. 당시 한시법의 후속 연장 여부는 별도 문제이다.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S17: 여덟 가지 탐지 상황, 사람의 경보 확인, 얼굴인식·생체정보 식별 제외</a:t>
            </a:r>
          </a:p>
          <a:p xmlns:a="http://schemas.openxmlformats.org/drawingml/2006/main">
            <a:pPr>
              <a:lnSpc>
                <a:spcPct val="125000"/>
              </a:lnSpc>
              <a:spcBef>
                <a:spcPts val="0"/>
              </a:spcBef>
              <a:spcAft>
                <a:spcPts val="0"/>
              </a:spcAft>
            </a:pPr>
            <a:r>
              <a:rPr>
                <a:latin typeface="Pretendard"/>
                <a:ea typeface="Pretendard"/>
                <a:cs typeface="Pretendard"/>
              </a:rPr>
              <a:t>적용 범위·한계: 2024년 올림픽 실험 규칙; 2026년 현행법 전체 설명에 사용하지 않음</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D23: 인상착의를 바탕으로 영상 속 후보를 좁히고 사람이 확인하는 실종자 수색 사례가 소개된다. 기사 자체가 얼굴사진 대조 방식과의 차이를 설명한다.</a:t>
            </a:r>
          </a:p>
          <a:p xmlns:a="http://schemas.openxmlformats.org/drawingml/2006/main">
            <a:pPr>
              <a:lnSpc>
                <a:spcPct val="125000"/>
              </a:lnSpc>
              <a:spcBef>
                <a:spcPts val="0"/>
              </a:spcBef>
              <a:spcAft>
                <a:spcPts val="0"/>
              </a:spcAft>
            </a:pPr>
            <a:r>
              <a:rPr>
                <a:latin typeface="Pretendard"/>
                <a:ea typeface="Pretendard"/>
                <a:cs typeface="Pretendard"/>
              </a:rPr>
              <a:t>적용 범위·한계: 실종자 수색·인상착의 검색의 성과를 범죄 용의자의 실시간 얼굴식별·체포 효과로 전용하지 않는다. 검색 속도 시연은 비교집단을 둔 효과평가가 아니다.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S04: 흰 모자·지팡이, 아파트 진입 영상, 지하 1층 기계실 발견</a:t>
            </a:r>
          </a:p>
          <a:p xmlns:a="http://schemas.openxmlformats.org/drawingml/2006/main">
            <a:pPr>
              <a:lnSpc>
                <a:spcPct val="125000"/>
              </a:lnSpc>
              <a:spcBef>
                <a:spcPts val="0"/>
              </a:spcBef>
              <a:spcAft>
                <a:spcPts val="0"/>
              </a:spcAft>
            </a:pPr>
            <a:r>
              <a:rPr>
                <a:latin typeface="Pretendard"/>
                <a:ea typeface="Pretendard"/>
                <a:cs typeface="Pretendard"/>
              </a:rPr>
              <a:t>적용 범위·한계: 관제센터 취재에 근거; 경찰 사건기록 미확보; 제목의 속도 수치를 평균 효과로 사용하지 않음</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F02: 감시대상자와 배치 장소를 정하는 재량의 통제 부족, 개인정보 영향평가 및 평등의무 문제를 인정해 항소를 일부 받아들였다.</a:t>
            </a:r>
          </a:p>
          <a:p xmlns:a="http://schemas.openxmlformats.org/drawingml/2006/main">
            <a:pPr>
              <a:lnSpc>
                <a:spcPct val="125000"/>
              </a:lnSpc>
              <a:spcBef>
                <a:spcPts val="0"/>
              </a:spcBef>
              <a:spcAft>
                <a:spcPts val="0"/>
              </a:spcAft>
            </a:pPr>
            <a:r>
              <a:rPr>
                <a:latin typeface="Pretendard"/>
                <a:ea typeface="Pretendard"/>
                <a:cs typeface="Pretendard"/>
              </a:rPr>
              <a:t>적용 범위·한계: 실시간 얼굴인식 기술 자체를 영구 전면 금지한 판결이 아니다. 당시 정책·기록에 대한 판단이다.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W8-04 / 본편 필수 / NECESSARY BASELINE</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이전 연결: 같은 CCTV 영상도 찾으려는 대상에 따라 서로 다른 분석 기능을 사용한다.</a:t>
            </a:r>
          </a:p>
          <a:p xmlns:a="http://schemas.openxmlformats.org/drawingml/2006/main">
            <a:pPr>
              <a:lnSpc>
                <a:spcPct val="125000"/>
              </a:lnSpc>
              <a:spcBef>
                <a:spcPts val="0"/>
              </a:spcBef>
              <a:spcAft>
                <a:spcPts val="0"/>
              </a:spcAft>
            </a:pPr>
            <a:r>
              <a:rPr>
                <a:latin typeface="Pretendard"/>
                <a:ea typeface="Pretendard"/>
                <a:cs typeface="Pretendard"/>
              </a:rPr>
              <a:t>다음 연결: 얼굴 신원식별의 기술 과정을 알면 후보 경보의 의미를 설명할 수 있다.</a:t>
            </a:r>
          </a:p>
          <a:p xmlns:a="http://schemas.openxmlformats.org/drawingml/2006/main">
            <a:pPr>
              <a:lnSpc>
                <a:spcPct val="125000"/>
              </a:lnSpc>
              <a:spcBef>
                <a:spcPts val="0"/>
              </a:spcBef>
              <a:spcAft>
                <a:spcPts val="0"/>
              </a:spcAft>
            </a:pPr>
            <a:r>
              <a:rPr>
                <a:latin typeface="Pretendard"/>
                <a:ea typeface="Pretendard"/>
                <a:cs typeface="Pretendard"/>
              </a:rPr>
              <a:t>운영시간 초안: 1.5분.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1:N은 한 얼굴을 여러 등록 얼굴과 비교한다는 뜻입니다. 시스템은 먼저 얼굴 영역을 찾아 수치로 표현하고, 명단의 얼굴과 유사도를 계산합니다. 운영자가 정한 경보 기준값을 넘으면 후보가 제시됩니다. 그 결과를 본 담당자는 실제 영상과 명단 사진을 대조해 후속 확인의 필요성을 판단합니다.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F02 | 잉글랜드·웨일스 항소법원 / [2020] EWCA Civ 1058 | 2020-08-11</a:t>
            </a:r>
          </a:p>
          <a:p xmlns:a="http://schemas.openxmlformats.org/drawingml/2006/main">
            <a:pPr>
              <a:lnSpc>
                <a:spcPct val="125000"/>
              </a:lnSpc>
              <a:spcBef>
                <a:spcPts val="0"/>
              </a:spcBef>
              <a:spcAft>
                <a:spcPts val="0"/>
              </a:spcAft>
            </a:pPr>
            <a:r>
              <a:rPr>
                <a:latin typeface="Pretendard"/>
                <a:ea typeface="Pretendard"/>
                <a:cs typeface="Pretendard"/>
              </a:rPr>
              <a:t>R (Bridges) v Chief Constable of South Wales Police</a:t>
            </a:r>
          </a:p>
          <a:p xmlns:a="http://schemas.openxmlformats.org/drawingml/2006/main">
            <a:pPr>
              <a:lnSpc>
                <a:spcPct val="125000"/>
              </a:lnSpc>
              <a:spcBef>
                <a:spcPts val="0"/>
              </a:spcBef>
              <a:spcAft>
                <a:spcPts val="0"/>
              </a:spcAft>
            </a:pPr>
            <a:r>
              <a:rPr>
                <a:latin typeface="Pretendard"/>
                <a:ea typeface="Pretendard"/>
                <a:cs typeface="Pretendard"/>
              </a:rPr>
              <a:t>https://www.judiciary.uk/wp-content/uploads/2020/08/R-Bridges-v-CC-South-Wales-ors-Judgment.pdf</a:t>
            </a:r>
          </a:p>
          <a:p xmlns:a="http://schemas.openxmlformats.org/drawingml/2006/main">
            <a:pPr>
              <a:lnSpc>
                <a:spcPct val="125000"/>
              </a:lnSpc>
              <a:spcBef>
                <a:spcPts val="0"/>
              </a:spcBef>
              <a:spcAft>
                <a:spcPts val="0"/>
              </a:spcAft>
            </a:pPr>
            <a:r>
              <a:rPr>
                <a:latin typeface="Pretendard"/>
                <a:ea typeface="Pretendard"/>
                <a:cs typeface="Pretendard"/>
              </a:rPr>
              <a:t>확인 범위: 공식 판결 PDF 59쪽의 주요 판단·결론.</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얼굴 검출·특징 추출·대조·경보 뒤에 사람의 확인이 이어진다.</a:t>
            </a:r>
          </a:p>
          <a:p xmlns:a="http://schemas.openxmlformats.org/drawingml/2006/main">
            <a:pPr>
              <a:lnSpc>
                <a:spcPct val="125000"/>
              </a:lnSpc>
              <a:spcBef>
                <a:spcPts val="0"/>
              </a:spcBef>
              <a:spcAft>
                <a:spcPts val="0"/>
              </a:spcAft>
            </a:pPr>
            <a:r>
              <a:rPr>
                <a:latin typeface="Pretendard"/>
                <a:ea typeface="Pretendard"/>
                <a:cs typeface="Pretendard"/>
              </a:rPr>
              <a:t>확장 질문: 1:N 대조는 어떤 순서로 작동하는가?</a:t>
            </a:r>
          </a:p>
          <a:p xmlns:a="http://schemas.openxmlformats.org/drawingml/2006/main">
            <a:pPr>
              <a:lnSpc>
                <a:spcPct val="125000"/>
              </a:lnSpc>
              <a:spcBef>
                <a:spcPts val="0"/>
              </a:spcBef>
              <a:spcAft>
                <a:spcPts val="0"/>
              </a:spcAft>
            </a:pPr>
            <a:r>
              <a:rPr>
                <a:latin typeface="Pretendard"/>
                <a:ea typeface="Pretendard"/>
                <a:cs typeface="Pretendard"/>
              </a:rPr>
              <a:t>F02: 감시대상자와 배치 장소를 정하는 재량의 통제 부족, 개인정보 영향평가 및 평등의무 문제를 인정해 항소를 일부 받아들였다.</a:t>
            </a:r>
          </a:p>
          <a:p xmlns:a="http://schemas.openxmlformats.org/drawingml/2006/main">
            <a:pPr>
              <a:lnSpc>
                <a:spcPct val="125000"/>
              </a:lnSpc>
              <a:spcBef>
                <a:spcPts val="0"/>
              </a:spcBef>
              <a:spcAft>
                <a:spcPts val="0"/>
              </a:spcAft>
            </a:pPr>
            <a:r>
              <a:rPr>
                <a:latin typeface="Pretendard"/>
                <a:ea typeface="Pretendard"/>
                <a:cs typeface="Pretendard"/>
              </a:rPr>
              <a:t>적용 범위·한계: 실시간 얼굴인식 기술 자체를 영구 전면 금지한 판결이 아니다. 당시 정책·기록에 대한 판단이다.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W8-05 / 본편 필수 / NECESSARY BASELINE</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이전 연결: 얼굴 신원식별의 기술 과정을 알면 후보 경보의 의미를 설명할 수 있다.</a:t>
            </a:r>
          </a:p>
          <a:p xmlns:a="http://schemas.openxmlformats.org/drawingml/2006/main">
            <a:pPr>
              <a:lnSpc>
                <a:spcPct val="125000"/>
              </a:lnSpc>
              <a:spcBef>
                <a:spcPts val="0"/>
              </a:spcBef>
              <a:spcAft>
                <a:spcPts val="0"/>
              </a:spcAft>
            </a:pPr>
            <a:r>
              <a:rPr>
                <a:latin typeface="Pretendard"/>
                <a:ea typeface="Pretendard"/>
                <a:cs typeface="Pretendard"/>
              </a:rPr>
              <a:t>다음 연결: 유사도 문턱은 어떤 후보를 통과시키고 놓치는지와 연결된다.</a:t>
            </a:r>
          </a:p>
          <a:p xmlns:a="http://schemas.openxmlformats.org/drawingml/2006/main">
            <a:pPr>
              <a:lnSpc>
                <a:spcPct val="125000"/>
              </a:lnSpc>
              <a:spcBef>
                <a:spcPts val="0"/>
              </a:spcBef>
              <a:spcAft>
                <a:spcPts val="0"/>
              </a:spcAft>
            </a:pPr>
            <a:r>
              <a:rPr>
                <a:latin typeface="Pretendard"/>
                <a:ea typeface="Pretendard"/>
                <a:cs typeface="Pretendard"/>
              </a:rPr>
              <a:t>운영시간 초안: 2분.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오경보를 줄이는 설정과 대상자를 더 많이 찾아내는 설정은 함께 검토해야 합니다. 기준값을 높이면 닮은 정도가 낮은 후보가 걸러지지만, 촬영 각도나 화질 때문에 점수가 낮아진 실제 대상자도 빠질 수 있습니다. 따라서 운영 성능에는 잘못 울린 경보와 놓친 대상자에 관한 정보가 모두 필요합니다.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F02 | 잉글랜드·웨일스 항소법원 / [2020] EWCA Civ 1058 | 2020-08-11</a:t>
            </a:r>
          </a:p>
          <a:p xmlns:a="http://schemas.openxmlformats.org/drawingml/2006/main">
            <a:pPr>
              <a:lnSpc>
                <a:spcPct val="125000"/>
              </a:lnSpc>
              <a:spcBef>
                <a:spcPts val="0"/>
              </a:spcBef>
              <a:spcAft>
                <a:spcPts val="0"/>
              </a:spcAft>
            </a:pPr>
            <a:r>
              <a:rPr>
                <a:latin typeface="Pretendard"/>
                <a:ea typeface="Pretendard"/>
                <a:cs typeface="Pretendard"/>
              </a:rPr>
              <a:t>R (Bridges) v Chief Constable of South Wales Police</a:t>
            </a:r>
          </a:p>
          <a:p xmlns:a="http://schemas.openxmlformats.org/drawingml/2006/main">
            <a:pPr>
              <a:lnSpc>
                <a:spcPct val="125000"/>
              </a:lnSpc>
              <a:spcBef>
                <a:spcPts val="0"/>
              </a:spcBef>
              <a:spcAft>
                <a:spcPts val="0"/>
              </a:spcAft>
            </a:pPr>
            <a:r>
              <a:rPr>
                <a:latin typeface="Pretendard"/>
                <a:ea typeface="Pretendard"/>
                <a:cs typeface="Pretendard"/>
              </a:rPr>
              <a:t>https://www.judiciary.uk/wp-content/uploads/2020/08/R-Bridges-v-CC-South-Wales-ors-Judgment.pdf</a:t>
            </a:r>
          </a:p>
          <a:p xmlns:a="http://schemas.openxmlformats.org/drawingml/2006/main">
            <a:pPr>
              <a:lnSpc>
                <a:spcPct val="125000"/>
              </a:lnSpc>
              <a:spcBef>
                <a:spcPts val="0"/>
              </a:spcBef>
              <a:spcAft>
                <a:spcPts val="0"/>
              </a:spcAft>
            </a:pPr>
            <a:r>
              <a:rPr>
                <a:latin typeface="Pretendard"/>
                <a:ea typeface="Pretendard"/>
                <a:cs typeface="Pretendard"/>
              </a:rPr>
              <a:t>확인 범위: 공식 판결 PDF 59쪽의 주요 판단·결론.</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F06 | 영국 국립물리연구소(NPL), MS 43 | 2023-03</a:t>
            </a:r>
          </a:p>
          <a:p xmlns:a="http://schemas.openxmlformats.org/drawingml/2006/main">
            <a:pPr>
              <a:lnSpc>
                <a:spcPct val="125000"/>
              </a:lnSpc>
              <a:spcBef>
                <a:spcPts val="0"/>
              </a:spcBef>
              <a:spcAft>
                <a:spcPts val="0"/>
              </a:spcAft>
            </a:pPr>
            <a:r>
              <a:rPr>
                <a:latin typeface="Pretendard"/>
                <a:ea typeface="Pretendard"/>
                <a:cs typeface="Pretendard"/>
              </a:rPr>
              <a:t>Facial Recognition Technology in Law Enforcement: Equitability Study, Final Report</a:t>
            </a:r>
          </a:p>
          <a:p xmlns:a="http://schemas.openxmlformats.org/drawingml/2006/main">
            <a:pPr>
              <a:lnSpc>
                <a:spcPct val="125000"/>
              </a:lnSpc>
              <a:spcBef>
                <a:spcPts val="0"/>
              </a:spcBef>
              <a:spcAft>
                <a:spcPts val="0"/>
              </a:spcAft>
            </a:pPr>
            <a:r>
              <a:rPr>
                <a:latin typeface="Pretendard"/>
                <a:ea typeface="Pretendard"/>
                <a:cs typeface="Pretendard"/>
              </a:rPr>
              <a:t>https://science.police.uk/site/assets/files/3396/frt-equitability-study_mar2023.pdf</a:t>
            </a:r>
          </a:p>
          <a:p xmlns:a="http://schemas.openxmlformats.org/drawingml/2006/main">
            <a:pPr>
              <a:lnSpc>
                <a:spcPct val="125000"/>
              </a:lnSpc>
              <a:spcBef>
                <a:spcPts val="0"/>
              </a:spcBef>
              <a:spcAft>
                <a:spcPts val="0"/>
              </a:spcAft>
            </a:pPr>
            <a:r>
              <a:rPr>
                <a:latin typeface="Pretendard"/>
                <a:ea typeface="Pretendard"/>
                <a:cs typeface="Pretendard"/>
              </a:rPr>
              <a:t>확인 범위: 공식 PDF의 실험 설계·주요 결과와 한계.</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경보 문턱의 선택은 오경보와 미탐지의 부담을 조정한다.</a:t>
            </a:r>
          </a:p>
          <a:p xmlns:a="http://schemas.openxmlformats.org/drawingml/2006/main">
            <a:pPr>
              <a:lnSpc>
                <a:spcPct val="125000"/>
              </a:lnSpc>
              <a:spcBef>
                <a:spcPts val="0"/>
              </a:spcBef>
              <a:spcAft>
                <a:spcPts val="0"/>
              </a:spcAft>
            </a:pPr>
            <a:r>
              <a:rPr>
                <a:latin typeface="Pretendard"/>
                <a:ea typeface="Pretendard"/>
                <a:cs typeface="Pretendard"/>
              </a:rPr>
              <a:t>확장 질문: 경보를 더 엄격하게 만들면 무엇이 달라지는가?</a:t>
            </a:r>
          </a:p>
          <a:p xmlns:a="http://schemas.openxmlformats.org/drawingml/2006/main">
            <a:pPr>
              <a:lnSpc>
                <a:spcPct val="125000"/>
              </a:lnSpc>
              <a:spcBef>
                <a:spcPts val="0"/>
              </a:spcBef>
              <a:spcAft>
                <a:spcPts val="0"/>
              </a:spcAft>
            </a:pPr>
            <a:r>
              <a:rPr>
                <a:latin typeface="Pretendard"/>
                <a:ea typeface="Pretendard"/>
                <a:cs typeface="Pretendard"/>
              </a:rPr>
              <a:t>F02: 감시대상자와 배치 장소를 정하는 재량의 통제 부족, 개인정보 영향평가 및 평등의무 문제를 인정해 항소를 일부 받아들였다.</a:t>
            </a:r>
          </a:p>
          <a:p xmlns:a="http://schemas.openxmlformats.org/drawingml/2006/main">
            <a:pPr>
              <a:lnSpc>
                <a:spcPct val="125000"/>
              </a:lnSpc>
              <a:spcBef>
                <a:spcPts val="0"/>
              </a:spcBef>
              <a:spcAft>
                <a:spcPts val="0"/>
              </a:spcAft>
            </a:pPr>
            <a:r>
              <a:rPr>
                <a:latin typeface="Pretendard"/>
                <a:ea typeface="Pretendard"/>
                <a:cs typeface="Pretendard"/>
              </a:rPr>
              <a:t>적용 범위·한계: 실시간 얼굴인식 기술 자체를 영구 전면 금지한 판결이 아니다. 당시 정책·기록에 대한 판단이다.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F06: 배치 환경, 판단 문턱과 감시명단 크기에 따라 오인 지표가 달라짐을 보여준다. 특정 설정에서 성별·인종별 차이가 통계적으로 유의하지 않은 결과와 연령 관련 차이를 구분해 보고한다.</a:t>
            </a:r>
          </a:p>
          <a:p xmlns:a="http://schemas.openxmlformats.org/drawingml/2006/main">
            <a:pPr>
              <a:lnSpc>
                <a:spcPct val="125000"/>
              </a:lnSpc>
              <a:spcBef>
                <a:spcPts val="0"/>
              </a:spcBef>
              <a:spcAft>
                <a:spcPts val="0"/>
              </a:spcAft>
            </a:pPr>
            <a:r>
              <a:rPr>
                <a:latin typeface="Pretendard"/>
                <a:ea typeface="Pretendard"/>
                <a:cs typeface="Pretendard"/>
              </a:rPr>
              <a:t>적용 범위·한계: 특정 시스템·설정·표본에 관한 평가다. 차이가 유의하지 않다는 결과는 차이의 부재 증명이 아니며 모든 제품의 공정성이나 실제 검거 효과를 보증하지 않는다.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W8-06 / 본편 필수 / NECESSARY BASELINE</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이전 연결: 유사도 문턱은 어떤 후보를 통과시키고 놓치는지와 연결된다.</a:t>
            </a:r>
          </a:p>
          <a:p xmlns:a="http://schemas.openxmlformats.org/drawingml/2006/main">
            <a:pPr>
              <a:lnSpc>
                <a:spcPct val="125000"/>
              </a:lnSpc>
              <a:spcBef>
                <a:spcPts val="0"/>
              </a:spcBef>
              <a:spcAft>
                <a:spcPts val="0"/>
              </a:spcAft>
            </a:pPr>
            <a:r>
              <a:rPr>
                <a:latin typeface="Pretendard"/>
                <a:ea typeface="Pretendard"/>
                <a:cs typeface="Pretendard"/>
              </a:rPr>
              <a:t>다음 연결: 오류를 측정하는 기준은 얼굴 기록과 공통 시험이 발전해 온 역사에 연결된다.</a:t>
            </a:r>
          </a:p>
          <a:p xmlns:a="http://schemas.openxmlformats.org/drawingml/2006/main">
            <a:pPr>
              <a:lnSpc>
                <a:spcPct val="125000"/>
              </a:lnSpc>
              <a:spcBef>
                <a:spcPts val="0"/>
              </a:spcBef>
              <a:spcAft>
                <a:spcPts val="0"/>
              </a:spcAft>
            </a:pPr>
            <a:r>
              <a:rPr>
                <a:latin typeface="Pretendard"/>
                <a:ea typeface="Pretendard"/>
                <a:cs typeface="Pretendard"/>
              </a:rPr>
              <a:t>운영시간 초안: 2분.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베르티용의 체계는 다시 잡힌 사람이 과거 기록 속 누구인지 찾기 위해 신체와 사진을 일정한 형식으로 남겼습니다. 초기 컴퓨터 연구에서는 사람이 특징점의 위치를 직접 입력했습니다. FERET는 공통 자료로 알고리즘을 시험하면서, 특정한 시연의 인상과 여러 기술을 같은 조건에서 비교하는 평가를 구분할 기반을 만들었습니다.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S06 | 미국 국립의학도서관 NLM | 게시일 미표시</a:t>
            </a:r>
          </a:p>
          <a:p xmlns:a="http://schemas.openxmlformats.org/drawingml/2006/main">
            <a:pPr>
              <a:lnSpc>
                <a:spcPct val="125000"/>
              </a:lnSpc>
              <a:spcBef>
                <a:spcPts val="0"/>
              </a:spcBef>
              <a:spcAft>
                <a:spcPts val="0"/>
              </a:spcAft>
            </a:pPr>
            <a:r>
              <a:rPr>
                <a:latin typeface="Pretendard"/>
                <a:ea typeface="Pretendard"/>
                <a:cs typeface="Pretendard"/>
              </a:rPr>
              <a:t>Alphonse Bertillon (1853–1914)</a:t>
            </a:r>
          </a:p>
          <a:p xmlns:a="http://schemas.openxmlformats.org/drawingml/2006/main">
            <a:pPr>
              <a:lnSpc>
                <a:spcPct val="125000"/>
              </a:lnSpc>
              <a:spcBef>
                <a:spcPts val="0"/>
              </a:spcBef>
              <a:spcAft>
                <a:spcPts val="0"/>
              </a:spcAft>
            </a:pPr>
            <a:r>
              <a:rPr>
                <a:latin typeface="Pretendard"/>
                <a:ea typeface="Pretendard"/>
                <a:cs typeface="Pretendard"/>
              </a:rPr>
              <a:t>https://www.nlm.nih.gov/exhibition/visibleproofs/galleries/biographies/bertillon.html</a:t>
            </a:r>
          </a:p>
          <a:p xmlns:a="http://schemas.openxmlformats.org/drawingml/2006/main">
            <a:pPr>
              <a:lnSpc>
                <a:spcPct val="125000"/>
              </a:lnSpc>
              <a:spcBef>
                <a:spcPts val="0"/>
              </a:spcBef>
              <a:spcAft>
                <a:spcPts val="0"/>
              </a:spcAft>
            </a:pPr>
            <a:r>
              <a:rPr>
                <a:latin typeface="Pretendard"/>
                <a:ea typeface="Pretendard"/>
                <a:cs typeface="Pretendard"/>
              </a:rPr>
              <a:t>확인 범위: Visible Proofs / Biographies / Bertillon</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S07 | National Academies of Sciences, Engineering, and Medicine | 2024</a:t>
            </a:r>
          </a:p>
          <a:p xmlns:a="http://schemas.openxmlformats.org/drawingml/2006/main">
            <a:pPr>
              <a:lnSpc>
                <a:spcPct val="125000"/>
              </a:lnSpc>
              <a:spcBef>
                <a:spcPts val="0"/>
              </a:spcBef>
              <a:spcAft>
                <a:spcPts val="0"/>
              </a:spcAft>
            </a:pPr>
            <a:r>
              <a:rPr>
                <a:latin typeface="Pretendard"/>
                <a:ea typeface="Pretendard"/>
                <a:cs typeface="Pretendard"/>
              </a:rPr>
              <a:t>Facial Recognition Technology: Current Capabilities, Future Prospects, and Governance</a:t>
            </a:r>
          </a:p>
          <a:p xmlns:a="http://schemas.openxmlformats.org/drawingml/2006/main">
            <a:pPr>
              <a:lnSpc>
                <a:spcPct val="125000"/>
              </a:lnSpc>
              <a:spcBef>
                <a:spcPts val="0"/>
              </a:spcBef>
              <a:spcAft>
                <a:spcPts val="0"/>
              </a:spcAft>
            </a:pPr>
            <a:r>
              <a:rPr>
                <a:latin typeface="Pretendard"/>
                <a:ea typeface="Pretendard"/>
                <a:cs typeface="Pretendard"/>
              </a:rPr>
              <a:t>https://www.nationalacademies.org/read/27397/chapter/4</a:t>
            </a:r>
          </a:p>
          <a:p xmlns:a="http://schemas.openxmlformats.org/drawingml/2006/main">
            <a:pPr>
              <a:lnSpc>
                <a:spcPct val="125000"/>
              </a:lnSpc>
              <a:spcBef>
                <a:spcPts val="0"/>
              </a:spcBef>
              <a:spcAft>
                <a:spcPts val="0"/>
              </a:spcAft>
            </a:pPr>
            <a:r>
              <a:rPr>
                <a:latin typeface="Pretendard"/>
                <a:ea typeface="Pretendard"/>
                <a:cs typeface="Pretendard"/>
              </a:rPr>
              <a:t>확인 범위: 제2장, 인쇄 쪽수 34–35</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S08 | NIST | 게시일 미표시</a:t>
            </a:r>
          </a:p>
          <a:p xmlns:a="http://schemas.openxmlformats.org/drawingml/2006/main">
            <a:pPr>
              <a:lnSpc>
                <a:spcPct val="125000"/>
              </a:lnSpc>
              <a:spcBef>
                <a:spcPts val="0"/>
              </a:spcBef>
              <a:spcAft>
                <a:spcPts val="0"/>
              </a:spcAft>
            </a:pPr>
            <a:r>
              <a:rPr>
                <a:latin typeface="Pretendard"/>
                <a:ea typeface="Pretendard"/>
                <a:cs typeface="Pretendard"/>
              </a:rPr>
              <a:t>Face Recognition Technology (FERET)</a:t>
            </a:r>
          </a:p>
          <a:p xmlns:a="http://schemas.openxmlformats.org/drawingml/2006/main">
            <a:pPr>
              <a:lnSpc>
                <a:spcPct val="125000"/>
              </a:lnSpc>
              <a:spcBef>
                <a:spcPts val="0"/>
              </a:spcBef>
              <a:spcAft>
                <a:spcPts val="0"/>
              </a:spcAft>
            </a:pPr>
            <a:r>
              <a:rPr>
                <a:latin typeface="Pretendard"/>
                <a:ea typeface="Pretendard"/>
                <a:cs typeface="Pretendard"/>
              </a:rPr>
              <a:t>https://www.nist.gov/programs-projects/face-recognition-technology-feret</a:t>
            </a:r>
          </a:p>
          <a:p xmlns:a="http://schemas.openxmlformats.org/drawingml/2006/main">
            <a:pPr>
              <a:lnSpc>
                <a:spcPct val="125000"/>
              </a:lnSpc>
              <a:spcBef>
                <a:spcPts val="0"/>
              </a:spcBef>
              <a:spcAft>
                <a:spcPts val="0"/>
              </a:spcAft>
            </a:pPr>
            <a:r>
              <a:rPr>
                <a:latin typeface="Pretendard"/>
                <a:ea typeface="Pretendard"/>
                <a:cs typeface="Pretendard"/>
              </a:rPr>
              <a:t>확인 범위: 사업 배경과 August 1994 evaluation</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기록의 표준화·특징 계산·공통 시험이 자동 식별의 토대가 됐다.</a:t>
            </a:r>
          </a:p>
          <a:p xmlns:a="http://schemas.openxmlformats.org/drawingml/2006/main">
            <a:pPr>
              <a:lnSpc>
                <a:spcPct val="125000"/>
              </a:lnSpc>
              <a:spcBef>
                <a:spcPts val="0"/>
              </a:spcBef>
              <a:spcAft>
                <a:spcPts val="0"/>
              </a:spcAft>
            </a:pPr>
            <a:r>
              <a:rPr>
                <a:latin typeface="Pretendard"/>
                <a:ea typeface="Pretendard"/>
                <a:cs typeface="Pretendard"/>
              </a:rPr>
              <a:t>확장 질문: 자동 식별 이전에는 사람을 어떻게 다시 알아보았는가?</a:t>
            </a:r>
          </a:p>
          <a:p xmlns:a="http://schemas.openxmlformats.org/drawingml/2006/main">
            <a:pPr>
              <a:lnSpc>
                <a:spcPct val="125000"/>
              </a:lnSpc>
              <a:spcBef>
                <a:spcPts val="0"/>
              </a:spcBef>
              <a:spcAft>
                <a:spcPts val="0"/>
              </a:spcAft>
            </a:pPr>
            <a:r>
              <a:rPr>
                <a:latin typeface="Pretendard"/>
                <a:ea typeface="Pretendard"/>
                <a:cs typeface="Pretendard"/>
              </a:rPr>
              <a:t>S06: 1883년 파리 경찰의 체계 채택, 신체 계측과 표준 사진 기록</a:t>
            </a:r>
          </a:p>
          <a:p xmlns:a="http://schemas.openxmlformats.org/drawingml/2006/main">
            <a:pPr>
              <a:lnSpc>
                <a:spcPct val="125000"/>
              </a:lnSpc>
              <a:spcBef>
                <a:spcPts val="0"/>
              </a:spcBef>
              <a:spcAft>
                <a:spcPts val="0"/>
              </a:spcAft>
            </a:pPr>
            <a:r>
              <a:rPr>
                <a:latin typeface="Pretendard"/>
                <a:ea typeface="Pretendard"/>
                <a:cs typeface="Pretendard"/>
              </a:rPr>
              <a:t>적용 범위·한계: 역사 종합 해설; 당시 경찰 원기록 미확보</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S07: 1960년대 중반 Bledsoe의 사람·기계 결합 얼굴 비교 연구</a:t>
            </a:r>
          </a:p>
          <a:p xmlns:a="http://schemas.openxmlformats.org/drawingml/2006/main">
            <a:pPr>
              <a:lnSpc>
                <a:spcPct val="125000"/>
              </a:lnSpc>
              <a:spcBef>
                <a:spcPts val="0"/>
              </a:spcBef>
              <a:spcAft>
                <a:spcPts val="0"/>
              </a:spcAft>
            </a:pPr>
            <a:r>
              <a:rPr>
                <a:latin typeface="Pretendard"/>
                <a:ea typeface="Pretendard"/>
                <a:cs typeface="Pretendard"/>
              </a:rPr>
              <a:t>적용 범위·한계: 1966년 원논문 대신 전문가 종합보고서의 역사 서술 사용</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S08: 1993년 시작, 1994년 첫 평가와 공통 시험의 필요성</a:t>
            </a:r>
          </a:p>
          <a:p xmlns:a="http://schemas.openxmlformats.org/drawingml/2006/main">
            <a:pPr>
              <a:lnSpc>
                <a:spcPct val="125000"/>
              </a:lnSpc>
              <a:spcBef>
                <a:spcPts val="0"/>
              </a:spcBef>
              <a:spcAft>
                <a:spcPts val="0"/>
              </a:spcAft>
            </a:pPr>
            <a:r>
              <a:rPr>
                <a:latin typeface="Pretendard"/>
                <a:ea typeface="Pretendard"/>
                <a:cs typeface="Pretendard"/>
              </a:rPr>
              <a:t>적용 범위·한계: 당시 벤치마크 역사; 현재 제품 성능 판단 자료 아님</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W8-07 / 본편 확장 / NECESSARY BASELINE</a:t>
            </a:r>
          </a:p>
          <a:p xmlns:a="http://schemas.openxmlformats.org/drawingml/2006/main">
            <a:pPr>
              <a:lnSpc>
                <a:spcPct val="125000"/>
              </a:lnSpc>
              <a:spcBef>
                <a:spcPts val="0"/>
              </a:spcBef>
              <a:spcAft>
                <a:spcPts val="0"/>
              </a:spcAft>
            </a:pPr>
            <a:r>
              <a:rPr>
                <a:latin typeface="Pretendard"/>
                <a:ea typeface="Pretendard"/>
                <a:cs typeface="Pretendard"/>
              </a:rPr>
              <a:t>연대별 모든 기술사를 포괄하는 연표가 아니라 세 전환점이다.</a:t>
            </a:r>
          </a:p>
          <a:p xmlns:a="http://schemas.openxmlformats.org/drawingml/2006/main">
            <a:pPr>
              <a:lnSpc>
                <a:spcPct val="125000"/>
              </a:lnSpc>
              <a:spcBef>
                <a:spcPts val="0"/>
              </a:spcBef>
              <a:spcAft>
                <a:spcPts val="0"/>
              </a:spcAft>
            </a:pPr>
            <a:r>
              <a:rPr>
                <a:latin typeface="Pretendard"/>
                <a:ea typeface="Pretendard"/>
                <a:cs typeface="Pretendard"/>
              </a:rPr>
              <a:t>이전 연결: 오류를 측정하는 기준은 얼굴 기록과 공통 시험이 발전해 온 역사에 연결된다.</a:t>
            </a:r>
          </a:p>
          <a:p xmlns:a="http://schemas.openxmlformats.org/drawingml/2006/main">
            <a:pPr>
              <a:lnSpc>
                <a:spcPct val="125000"/>
              </a:lnSpc>
              <a:spcBef>
                <a:spcPts val="0"/>
              </a:spcBef>
              <a:spcAft>
                <a:spcPts val="0"/>
              </a:spcAft>
            </a:pPr>
            <a:r>
              <a:rPr>
                <a:latin typeface="Pretendard"/>
                <a:ea typeface="Pretendard"/>
                <a:cs typeface="Pretendard"/>
              </a:rPr>
              <a:t>다음 연결: 알고리즘의 발전과 함께 국내에서는 영상 수집·통합·경보의 운영 기반이 확대됐다.</a:t>
            </a:r>
          </a:p>
          <a:p xmlns:a="http://schemas.openxmlformats.org/drawingml/2006/main">
            <a:pPr>
              <a:lnSpc>
                <a:spcPct val="125000"/>
              </a:lnSpc>
              <a:spcBef>
                <a:spcPts val="0"/>
              </a:spcBef>
              <a:spcAft>
                <a:spcPts val="0"/>
              </a:spcAft>
            </a:pPr>
            <a:r>
              <a:rPr>
                <a:latin typeface="Pretendard"/>
                <a:ea typeface="Pretendard"/>
                <a:cs typeface="Pretendard"/>
              </a:rPr>
              <a:t>운영시간 초안: 1.5분.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통합관제는 떨어져 있던 영상을 한곳에서 살펴보는 운영 변화입니다. 초기 방범 카메라 설치 때부터 설치 주체와 장소, 보관과 관리의 법적 기준이 논의됐습니다. 이후에는 영상을 모으는 데 더해 기계가 위험 징후를 먼저 알리는 기능이 등장했습니다. 영상의 수가 늘어나는 변화와 영상에 맡기는 판단이 늘어나는 변화가 함께 진행된 것입니다.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S01 | 국가인권위원회 | 2004-05-10</a:t>
            </a:r>
          </a:p>
          <a:p xmlns:a="http://schemas.openxmlformats.org/drawingml/2006/main">
            <a:pPr>
              <a:lnSpc>
                <a:spcPct val="125000"/>
              </a:lnSpc>
              <a:spcBef>
                <a:spcPts val="0"/>
              </a:spcBef>
              <a:spcAft>
                <a:spcPts val="0"/>
              </a:spcAft>
            </a:pPr>
            <a:r>
              <a:rPr>
                <a:latin typeface="Pretendard"/>
                <a:ea typeface="Pretendard"/>
                <a:cs typeface="Pretendard"/>
              </a:rPr>
              <a:t>방범 CCTV 등 무인단속장비의 설치·운영에 관한 법적 기준 마련해야</a:t>
            </a:r>
          </a:p>
          <a:p xmlns:a="http://schemas.openxmlformats.org/drawingml/2006/main">
            <a:pPr>
              <a:lnSpc>
                <a:spcPct val="125000"/>
              </a:lnSpc>
              <a:spcBef>
                <a:spcPts val="0"/>
              </a:spcBef>
              <a:spcAft>
                <a:spcPts val="0"/>
              </a:spcAft>
            </a:pPr>
            <a:r>
              <a:rPr>
                <a:latin typeface="Pretendard"/>
                <a:ea typeface="Pretendard"/>
                <a:cs typeface="Pretendard"/>
              </a:rPr>
              <a:t>https://www.humanrights.go.kr/site/program/board/basicboard/view?boardid=554769&amp;boardtypeid=24&amp;currentpage=232&amp;menuid=001004002001&amp;pagesize=10</a:t>
            </a:r>
          </a:p>
          <a:p xmlns:a="http://schemas.openxmlformats.org/drawingml/2006/main">
            <a:pPr>
              <a:lnSpc>
                <a:spcPct val="125000"/>
              </a:lnSpc>
              <a:spcBef>
                <a:spcPts val="0"/>
              </a:spcBef>
              <a:spcAft>
                <a:spcPts val="0"/>
              </a:spcAft>
            </a:pPr>
            <a:r>
              <a:rPr>
                <a:latin typeface="Pretendard"/>
                <a:ea typeface="Pretendard"/>
                <a:cs typeface="Pretendard"/>
              </a:rPr>
              <a:t>확인 범위: 방범 CCTV 설치 경위 및 권고 내용</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S02 | 행정안전부 | 2011-01-18</a:t>
            </a:r>
          </a:p>
          <a:p xmlns:a="http://schemas.openxmlformats.org/drawingml/2006/main">
            <a:pPr>
              <a:lnSpc>
                <a:spcPct val="125000"/>
              </a:lnSpc>
              <a:spcBef>
                <a:spcPts val="0"/>
              </a:spcBef>
              <a:spcAft>
                <a:spcPts val="0"/>
              </a:spcAft>
            </a:pPr>
            <a:r>
              <a:rPr>
                <a:latin typeface="Pretendard"/>
                <a:ea typeface="Pretendard"/>
                <a:cs typeface="Pretendard"/>
              </a:rPr>
              <a:t>34개 시군구 CCTV 통합관제센터 구축</a:t>
            </a:r>
          </a:p>
          <a:p xmlns:a="http://schemas.openxmlformats.org/drawingml/2006/main">
            <a:pPr>
              <a:lnSpc>
                <a:spcPct val="125000"/>
              </a:lnSpc>
              <a:spcBef>
                <a:spcPts val="0"/>
              </a:spcBef>
              <a:spcAft>
                <a:spcPts val="0"/>
              </a:spcAft>
            </a:pPr>
            <a:r>
              <a:rPr>
                <a:latin typeface="Pretendard"/>
                <a:ea typeface="Pretendard"/>
                <a:cs typeface="Pretendard"/>
              </a:rPr>
              <a:t>https://www.mois.go.kr/frt/bbs/type010/commonSelectBoardArticle.do?bbsId=BBSMSTR_000000000008&amp;nttId=27953</a:t>
            </a:r>
          </a:p>
          <a:p xmlns:a="http://schemas.openxmlformats.org/drawingml/2006/main">
            <a:pPr>
              <a:lnSpc>
                <a:spcPct val="125000"/>
              </a:lnSpc>
              <a:spcBef>
                <a:spcPts val="0"/>
              </a:spcBef>
              <a:spcAft>
                <a:spcPts val="0"/>
              </a:spcAft>
            </a:pPr>
            <a:r>
              <a:rPr>
                <a:latin typeface="Pretendard"/>
                <a:ea typeface="Pretendard"/>
                <a:cs typeface="Pretendard"/>
              </a:rPr>
              <a:t>확인 범위: 본문의 구축 대상 및 관제 기능</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S03 | 안전행정부 | 2014-01-08</a:t>
            </a:r>
          </a:p>
          <a:p xmlns:a="http://schemas.openxmlformats.org/drawingml/2006/main">
            <a:pPr>
              <a:lnSpc>
                <a:spcPct val="125000"/>
              </a:lnSpc>
              <a:spcBef>
                <a:spcPts val="0"/>
              </a:spcBef>
              <a:spcAft>
                <a:spcPts val="0"/>
              </a:spcAft>
            </a:pPr>
            <a:r>
              <a:rPr>
                <a:latin typeface="Pretendard"/>
                <a:ea typeface="Pretendard"/>
                <a:cs typeface="Pretendard"/>
              </a:rPr>
              <a:t>CCTV 소리에 반응하다</a:t>
            </a:r>
          </a:p>
          <a:p xmlns:a="http://schemas.openxmlformats.org/drawingml/2006/main">
            <a:pPr>
              <a:lnSpc>
                <a:spcPct val="125000"/>
              </a:lnSpc>
              <a:spcBef>
                <a:spcPts val="0"/>
              </a:spcBef>
              <a:spcAft>
                <a:spcPts val="0"/>
              </a:spcAft>
            </a:pPr>
            <a:r>
              <a:rPr>
                <a:latin typeface="Pretendard"/>
                <a:ea typeface="Pretendard"/>
                <a:cs typeface="Pretendard"/>
              </a:rPr>
              <a:t>https://mois.go.kr/frt/bbs/type010/commonSelectBoardArticle.do?bbsId=BBSMSTR_000000000008&amp;nttId=40565</a:t>
            </a:r>
          </a:p>
          <a:p xmlns:a="http://schemas.openxmlformats.org/drawingml/2006/main">
            <a:pPr>
              <a:lnSpc>
                <a:spcPct val="125000"/>
              </a:lnSpc>
              <a:spcBef>
                <a:spcPts val="0"/>
              </a:spcBef>
              <a:spcAft>
                <a:spcPts val="0"/>
              </a:spcAft>
            </a:pPr>
            <a:r>
              <a:rPr>
                <a:latin typeface="Pretendard"/>
                <a:ea typeface="Pretendard"/>
                <a:cs typeface="Pretendard"/>
              </a:rPr>
              <a:t>확인 범위: 비명·충돌음 감지 및 관제 화면 알림 설명</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카메라 수집·영상 통합·자동 경보에는 각각 새로운 운영 기준이 필요했다.</a:t>
            </a:r>
          </a:p>
          <a:p xmlns:a="http://schemas.openxmlformats.org/drawingml/2006/main">
            <a:pPr>
              <a:lnSpc>
                <a:spcPct val="125000"/>
              </a:lnSpc>
              <a:spcBef>
                <a:spcPts val="0"/>
              </a:spcBef>
              <a:spcAft>
                <a:spcPts val="0"/>
              </a:spcAft>
            </a:pPr>
            <a:r>
              <a:rPr>
                <a:latin typeface="Pretendard"/>
                <a:ea typeface="Pretendard"/>
                <a:cs typeface="Pretendard"/>
              </a:rPr>
              <a:t>확장 질문: 국내 관제의 확장은 어떤 변화를 포함했는가?</a:t>
            </a:r>
          </a:p>
          <a:p xmlns:a="http://schemas.openxmlformats.org/drawingml/2006/main">
            <a:pPr>
              <a:lnSpc>
                <a:spcPct val="125000"/>
              </a:lnSpc>
              <a:spcBef>
                <a:spcPts val="0"/>
              </a:spcBef>
              <a:spcAft>
                <a:spcPts val="0"/>
              </a:spcAft>
            </a:pPr>
            <a:r>
              <a:rPr>
                <a:latin typeface="Pretendard"/>
                <a:ea typeface="Pretendard"/>
                <a:cs typeface="Pretendard"/>
              </a:rPr>
              <a:t>S01: 2002년 12월 5대 시범 설치, 2003년 공개청문회, 2004년 법적 기준 권고</a:t>
            </a:r>
          </a:p>
          <a:p xmlns:a="http://schemas.openxmlformats.org/drawingml/2006/main">
            <a:pPr>
              <a:lnSpc>
                <a:spcPct val="125000"/>
              </a:lnSpc>
              <a:spcBef>
                <a:spcPts val="0"/>
              </a:spcBef>
              <a:spcAft>
                <a:spcPts val="0"/>
              </a:spcAft>
            </a:pPr>
            <a:r>
              <a:rPr>
                <a:latin typeface="Pretendard"/>
                <a:ea typeface="Pretendard"/>
                <a:cs typeface="Pretendard"/>
              </a:rPr>
              <a:t>적용 범위·한계: 보도자료 확인; 권고 결정문 전체는 이번 보완에서 재확인하지 않음</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S02: 2011년 통합관제센터 34개 구축 계획과 목적별 CCTV 통합 구상</a:t>
            </a:r>
          </a:p>
          <a:p xmlns:a="http://schemas.openxmlformats.org/drawingml/2006/main">
            <a:pPr>
              <a:lnSpc>
                <a:spcPct val="125000"/>
              </a:lnSpc>
              <a:spcBef>
                <a:spcPts val="0"/>
              </a:spcBef>
              <a:spcAft>
                <a:spcPts val="0"/>
              </a:spcAft>
            </a:pPr>
            <a:r>
              <a:rPr>
                <a:latin typeface="Pretendard"/>
                <a:ea typeface="Pretendard"/>
                <a:cs typeface="Pretendard"/>
              </a:rPr>
              <a:t>적용 범위·한계: 계획 발표; 완료 실적이나 효과 평가 아님</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S03: 특수 소리 감지, 카메라 회전, 화면 확대 및 경보</a:t>
            </a:r>
          </a:p>
          <a:p xmlns:a="http://schemas.openxmlformats.org/drawingml/2006/main">
            <a:pPr>
              <a:lnSpc>
                <a:spcPct val="125000"/>
              </a:lnSpc>
              <a:spcBef>
                <a:spcPts val="0"/>
              </a:spcBef>
              <a:spcAft>
                <a:spcPts val="0"/>
              </a:spcAft>
            </a:pPr>
            <a:r>
              <a:rPr>
                <a:latin typeface="Pretendard"/>
                <a:ea typeface="Pretendard"/>
                <a:cs typeface="Pretendard"/>
              </a:rPr>
              <a:t>적용 범위·한계: 웹 등록일 기준; 독립 성능시험 미확보</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W8-08 / 본편 확장 / NECESSARY BASELINE</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이전 연결: 알고리즘의 발전과 함께 국내에서는 영상 수집·통합·경보의 운영 기반이 확대됐다.</a:t>
            </a:r>
          </a:p>
          <a:p xmlns:a="http://schemas.openxmlformats.org/drawingml/2006/main">
            <a:pPr>
              <a:lnSpc>
                <a:spcPct val="125000"/>
              </a:lnSpc>
              <a:spcBef>
                <a:spcPts val="0"/>
              </a:spcBef>
              <a:spcAft>
                <a:spcPts val="0"/>
              </a:spcAft>
            </a:pPr>
            <a:r>
              <a:rPr>
                <a:latin typeface="Pretendard"/>
                <a:ea typeface="Pretendard"/>
                <a:cs typeface="Pretendard"/>
              </a:rPr>
              <a:t>다음 연결: 관제의 확장과 별도로 같은 시험에서 인식 성능의 변화를 측정할 수 있다.</a:t>
            </a:r>
          </a:p>
          <a:p xmlns:a="http://schemas.openxmlformats.org/drawingml/2006/main">
            <a:pPr>
              <a:lnSpc>
                <a:spcPct val="125000"/>
              </a:lnSpc>
              <a:spcBef>
                <a:spcPts val="0"/>
              </a:spcBef>
              <a:spcAft>
                <a:spcPts val="0"/>
              </a:spcAft>
            </a:pPr>
            <a:r>
              <a:rPr>
                <a:latin typeface="Pretendard"/>
                <a:ea typeface="Pretendard"/>
                <a:cs typeface="Pretendard"/>
              </a:rPr>
              <a:t>운영시간 초안: 1.5분.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NIST는 2018년 보고에서 얼굴인식 성능이 크게 향상됐다고 설명했습니다. 제시된 같은 사진 검색 평가에서 미탐지율은 2014년 4%에서 2018년 0.2%로 낮아졌습니다. 거리의 운용 성과를 판단하려면 이 기술적 변화에 더해 실제 촬영 영상, 검색 명단, 경보 설정과 현장 대응을 확인해야 합니다.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S09 | NIST | 2018-11-30</a:t>
            </a:r>
          </a:p>
          <a:p xmlns:a="http://schemas.openxmlformats.org/drawingml/2006/main">
            <a:pPr>
              <a:lnSpc>
                <a:spcPct val="125000"/>
              </a:lnSpc>
              <a:spcBef>
                <a:spcPts val="0"/>
              </a:spcBef>
              <a:spcAft>
                <a:spcPts val="0"/>
              </a:spcAft>
            </a:pPr>
            <a:r>
              <a:rPr>
                <a:latin typeface="Pretendard"/>
                <a:ea typeface="Pretendard"/>
                <a:cs typeface="Pretendard"/>
              </a:rPr>
              <a:t>NIST Evaluation Shows Advance in Face Recognition Software’s Capabilities</a:t>
            </a:r>
          </a:p>
          <a:p xmlns:a="http://schemas.openxmlformats.org/drawingml/2006/main">
            <a:pPr>
              <a:lnSpc>
                <a:spcPct val="125000"/>
              </a:lnSpc>
              <a:spcBef>
                <a:spcPts val="0"/>
              </a:spcBef>
              <a:spcAft>
                <a:spcPts val="0"/>
              </a:spcAft>
            </a:pPr>
            <a:r>
              <a:rPr>
                <a:latin typeface="Pretendard"/>
                <a:ea typeface="Pretendard"/>
                <a:cs typeface="Pretendard"/>
              </a:rPr>
              <a:t>https://www.nist.gov/news-events/news/2018/11/nist-evaluation-shows-advance-face-recognition-softwares-capabilities</a:t>
            </a:r>
          </a:p>
          <a:p xmlns:a="http://schemas.openxmlformats.org/drawingml/2006/main">
            <a:pPr>
              <a:lnSpc>
                <a:spcPct val="125000"/>
              </a:lnSpc>
              <a:spcBef>
                <a:spcPts val="0"/>
              </a:spcBef>
              <a:spcAft>
                <a:spcPts val="0"/>
              </a:spcAft>
            </a:pPr>
            <a:r>
              <a:rPr>
                <a:latin typeface="Pretendard"/>
                <a:ea typeface="Pretendard"/>
                <a:cs typeface="Pretendard"/>
              </a:rPr>
              <a:t>확인 범위: 2014년과 2018년 검색 누락 비율 비교</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사진 검색 시험의 미탐지율은 크게 낮아졌고 현장 운용은 추가 평가가 필요하다.</a:t>
            </a:r>
          </a:p>
          <a:p xmlns:a="http://schemas.openxmlformats.org/drawingml/2006/main">
            <a:pPr>
              <a:lnSpc>
                <a:spcPct val="125000"/>
              </a:lnSpc>
              <a:spcBef>
                <a:spcPts val="0"/>
              </a:spcBef>
              <a:spcAft>
                <a:spcPts val="0"/>
              </a:spcAft>
            </a:pPr>
            <a:r>
              <a:rPr>
                <a:latin typeface="Pretendard"/>
                <a:ea typeface="Pretendard"/>
                <a:cs typeface="Pretendard"/>
              </a:rPr>
              <a:t>확장 질문: 성능 발전은 어떤 시험 결과에서 확인됐는가?</a:t>
            </a:r>
          </a:p>
          <a:p xmlns:a="http://schemas.openxmlformats.org/drawingml/2006/main">
            <a:pPr>
              <a:lnSpc>
                <a:spcPct val="125000"/>
              </a:lnSpc>
              <a:spcBef>
                <a:spcPts val="0"/>
              </a:spcBef>
              <a:spcAft>
                <a:spcPts val="0"/>
              </a:spcAft>
            </a:pPr>
            <a:r>
              <a:rPr>
                <a:latin typeface="Pretendard"/>
                <a:ea typeface="Pretendard"/>
                <a:cs typeface="Pretendard"/>
              </a:rPr>
              <a:t>S09: 해당 검색 시험의 누락 비율 4%에서 0.2%로 감소, CNN 성능 향상</a:t>
            </a:r>
          </a:p>
          <a:p xmlns:a="http://schemas.openxmlformats.org/drawingml/2006/main">
            <a:pPr>
              <a:lnSpc>
                <a:spcPct val="125000"/>
              </a:lnSpc>
              <a:spcBef>
                <a:spcPts val="0"/>
              </a:spcBef>
              <a:spcAft>
                <a:spcPts val="0"/>
              </a:spcAft>
            </a:pPr>
            <a:r>
              <a:rPr>
                <a:latin typeface="Pretendard"/>
                <a:ea typeface="Pretendard"/>
                <a:cs typeface="Pretendard"/>
              </a:rPr>
              <a:t>적용 범위·한계: 거리 실시간 검색의 비대상자 오경보율과 구별 필요</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W8-09 / 본편 확장 / INDIRECT</a:t>
            </a:r>
          </a:p>
          <a:p xmlns:a="http://schemas.openxmlformats.org/drawingml/2006/main">
            <a:pPr>
              <a:lnSpc>
                <a:spcPct val="125000"/>
              </a:lnSpc>
              <a:spcBef>
                <a:spcPts val="0"/>
              </a:spcBef>
              <a:spcAft>
                <a:spcPts val="0"/>
              </a:spcAft>
            </a:pPr>
            <a:r>
              <a:rPr>
                <a:latin typeface="Pretendard"/>
                <a:ea typeface="Pretendard"/>
                <a:cs typeface="Pretendard"/>
              </a:rPr>
              <a:t>NIST가 소개한 상위 성능 평가 수치. 거리 오경보율·범죄 감소율로 전환하지 않는다.</a:t>
            </a:r>
          </a:p>
          <a:p xmlns:a="http://schemas.openxmlformats.org/drawingml/2006/main">
            <a:pPr>
              <a:lnSpc>
                <a:spcPct val="125000"/>
              </a:lnSpc>
              <a:spcBef>
                <a:spcPts val="0"/>
              </a:spcBef>
              <a:spcAft>
                <a:spcPts val="0"/>
              </a:spcAft>
            </a:pPr>
            <a:r>
              <a:rPr>
                <a:latin typeface="Pretendard"/>
                <a:ea typeface="Pretendard"/>
                <a:cs typeface="Pretendard"/>
              </a:rPr>
              <a:t>이전 연결: 관제의 확장과 별도로 같은 시험에서 인식 성능의 변화를 측정할 수 있다.</a:t>
            </a:r>
          </a:p>
          <a:p xmlns:a="http://schemas.openxmlformats.org/drawingml/2006/main">
            <a:pPr>
              <a:lnSpc>
                <a:spcPct val="125000"/>
              </a:lnSpc>
              <a:spcBef>
                <a:spcPts val="0"/>
              </a:spcBef>
              <a:spcAft>
                <a:spcPts val="0"/>
              </a:spcAft>
            </a:pPr>
            <a:r>
              <a:rPr>
                <a:latin typeface="Pretendard"/>
                <a:ea typeface="Pretendard"/>
                <a:cs typeface="Pretendard"/>
              </a:rPr>
              <a:t>다음 연결: 사진 시험의 향상은 실제 배치에서 후보가 조치로 이어지는 운영 질문을 남긴다.</a:t>
            </a:r>
          </a:p>
          <a:p xmlns:a="http://schemas.openxmlformats.org/drawingml/2006/main">
            <a:pPr>
              <a:lnSpc>
                <a:spcPct val="125000"/>
              </a:lnSpc>
              <a:spcBef>
                <a:spcPts val="0"/>
              </a:spcBef>
              <a:spcAft>
                <a:spcPts val="0"/>
              </a:spcAft>
            </a:pPr>
            <a:r>
              <a:rPr>
                <a:latin typeface="Pretendard"/>
                <a:ea typeface="Pretendard"/>
                <a:cs typeface="Pretendard"/>
              </a:rPr>
              <a:t>운영시간 초안: 1.5분.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경기장에 기술을 설치해 얼굴을 대조하는 장면은 큰 관심을 끌었습니다. 그러나 당시 보도에 따르면 이 슈퍼볼 배치에서는 체포가 없었습니다. 후보를 화면에서 찾은 뒤에도 현장 인력이 그 사람을 다시 찾고 확인해야 했기 때문입니다. 대규모 공간에서 탐지 결과를 어디로, 얼마나 빨리 전달할지는 시스템의 운영 과제입니다.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S10 | Associated Press / Deseret News | 2001-07-03</a:t>
            </a:r>
          </a:p>
          <a:p xmlns:a="http://schemas.openxmlformats.org/drawingml/2006/main">
            <a:pPr>
              <a:lnSpc>
                <a:spcPct val="125000"/>
              </a:lnSpc>
              <a:spcBef>
                <a:spcPts val="0"/>
              </a:spcBef>
              <a:spcAft>
                <a:spcPts val="0"/>
              </a:spcAft>
            </a:pPr>
            <a:r>
              <a:rPr>
                <a:latin typeface="Pretendard"/>
                <a:ea typeface="Pretendard"/>
                <a:cs typeface="Pretendard"/>
              </a:rPr>
              <a:t>Street cameras in Tampa a sign of Big Brother</a:t>
            </a:r>
          </a:p>
          <a:p xmlns:a="http://schemas.openxmlformats.org/drawingml/2006/main">
            <a:pPr>
              <a:lnSpc>
                <a:spcPct val="125000"/>
              </a:lnSpc>
              <a:spcBef>
                <a:spcPts val="0"/>
              </a:spcBef>
              <a:spcAft>
                <a:spcPts val="0"/>
              </a:spcAft>
            </a:pPr>
            <a:r>
              <a:rPr>
                <a:latin typeface="Pretendard"/>
                <a:ea typeface="Pretendard"/>
                <a:cs typeface="Pretendard"/>
              </a:rPr>
              <a:t>https://www.deseret.com/2001/7/3/19594393/street-cameras-in-tampa-a-sign-of-big-brother/</a:t>
            </a:r>
          </a:p>
          <a:p xmlns:a="http://schemas.openxmlformats.org/drawingml/2006/main">
            <a:pPr>
              <a:lnSpc>
                <a:spcPct val="125000"/>
              </a:lnSpc>
              <a:spcBef>
                <a:spcPts val="0"/>
              </a:spcBef>
              <a:spcAft>
                <a:spcPts val="0"/>
              </a:spcAft>
            </a:pPr>
            <a:r>
              <a:rPr>
                <a:latin typeface="Pretendard"/>
                <a:ea typeface="Pretendard"/>
                <a:cs typeface="Pretendard"/>
              </a:rPr>
              <a:t>확인 범위: 슈퍼볼 운용과 Bill Todd 인터뷰</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S22 | Deseret News | 2001-11-15</a:t>
            </a:r>
          </a:p>
          <a:p xmlns:a="http://schemas.openxmlformats.org/drawingml/2006/main">
            <a:pPr>
              <a:lnSpc>
                <a:spcPct val="125000"/>
              </a:lnSpc>
              <a:spcBef>
                <a:spcPts val="0"/>
              </a:spcBef>
              <a:spcAft>
                <a:spcPts val="0"/>
              </a:spcAft>
            </a:pPr>
            <a:r>
              <a:rPr>
                <a:latin typeface="Pretendard"/>
                <a:ea typeface="Pretendard"/>
                <a:cs typeface="Pretendard"/>
              </a:rPr>
              <a:t>W.V. police to buy ‘Snooper Bowl’ devices</a:t>
            </a:r>
          </a:p>
          <a:p xmlns:a="http://schemas.openxmlformats.org/drawingml/2006/main">
            <a:pPr>
              <a:lnSpc>
                <a:spcPct val="125000"/>
              </a:lnSpc>
              <a:spcBef>
                <a:spcPts val="0"/>
              </a:spcBef>
              <a:spcAft>
                <a:spcPts val="0"/>
              </a:spcAft>
            </a:pPr>
            <a:r>
              <a:rPr>
                <a:latin typeface="Pretendard"/>
                <a:ea typeface="Pretendard"/>
                <a:cs typeface="Pretendard"/>
              </a:rPr>
              <a:t>https://www.deseret.com/2001/11/15/19616892/w-v-police-to-buy-snooper-bowl-devices/</a:t>
            </a:r>
          </a:p>
          <a:p xmlns:a="http://schemas.openxmlformats.org/drawingml/2006/main">
            <a:pPr>
              <a:lnSpc>
                <a:spcPct val="125000"/>
              </a:lnSpc>
              <a:spcBef>
                <a:spcPts val="0"/>
              </a:spcBef>
              <a:spcAft>
                <a:spcPts val="0"/>
              </a:spcAft>
            </a:pPr>
            <a:r>
              <a:rPr>
                <a:latin typeface="Pretendard"/>
                <a:ea typeface="Pretendard"/>
                <a:cs typeface="Pretendard"/>
              </a:rPr>
              <a:t>확인 범위: 탬파 슈퍼볼 장비와 별명 설명</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현장 위치 전달과 확인 절차가 탐지 이후의 결과를 좌우한다.</a:t>
            </a:r>
          </a:p>
          <a:p xmlns:a="http://schemas.openxmlformats.org/drawingml/2006/main">
            <a:pPr>
              <a:lnSpc>
                <a:spcPct val="125000"/>
              </a:lnSpc>
              <a:spcBef>
                <a:spcPts val="0"/>
              </a:spcBef>
              <a:spcAft>
                <a:spcPts val="0"/>
              </a:spcAft>
            </a:pPr>
            <a:r>
              <a:rPr>
                <a:latin typeface="Pretendard"/>
                <a:ea typeface="Pretendard"/>
                <a:cs typeface="Pretendard"/>
              </a:rPr>
              <a:t>확장 질문: 경보가 실제 체포까지 이어지려면 무엇이 필요한가?</a:t>
            </a:r>
          </a:p>
          <a:p xmlns:a="http://schemas.openxmlformats.org/drawingml/2006/main">
            <a:pPr>
              <a:lnSpc>
                <a:spcPct val="125000"/>
              </a:lnSpc>
              <a:spcBef>
                <a:spcPts val="0"/>
              </a:spcBef>
              <a:spcAft>
                <a:spcPts val="0"/>
              </a:spcAft>
            </a:pPr>
            <a:r>
              <a:rPr>
                <a:latin typeface="Pretendard"/>
                <a:ea typeface="Pretendard"/>
                <a:cs typeface="Pretendard"/>
              </a:rPr>
              <a:t>S10: 2001년 슈퍼볼 얼굴 대조, 체포 없음, 경보 이후 현장 접근의 어려움</a:t>
            </a:r>
          </a:p>
          <a:p xmlns:a="http://schemas.openxmlformats.org/drawingml/2006/main">
            <a:pPr>
              <a:lnSpc>
                <a:spcPct val="125000"/>
              </a:lnSpc>
              <a:spcBef>
                <a:spcPts val="0"/>
              </a:spcBef>
              <a:spcAft>
                <a:spcPts val="0"/>
              </a:spcAft>
            </a:pPr>
            <a:r>
              <a:rPr>
                <a:latin typeface="Pretendard"/>
                <a:ea typeface="Pretendard"/>
                <a:cs typeface="Pretendard"/>
              </a:rPr>
              <a:t>적용 범위·한계: 같은 기사 속 이보시티 거리 카메라 실험과 구분</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S22: Snooper Bowl 별명과 슈퍼볼 체포 없음의 교차 확인</a:t>
            </a:r>
          </a:p>
          <a:p xmlns:a="http://schemas.openxmlformats.org/drawingml/2006/main">
            <a:pPr>
              <a:lnSpc>
                <a:spcPct val="125000"/>
              </a:lnSpc>
              <a:spcBef>
                <a:spcPts val="0"/>
              </a:spcBef>
              <a:spcAft>
                <a:spcPts val="0"/>
              </a:spcAft>
            </a:pPr>
            <a:r>
              <a:rPr>
                <a:latin typeface="Pretendard"/>
                <a:ea typeface="Pretendard"/>
                <a:cs typeface="Pretendard"/>
              </a:rPr>
              <a:t>적용 범위·한계: 신규 구매 계획과 이미 발생한 슈퍼볼 사건 구분</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W8-10 / 본편 확장 / INDIRECT</a:t>
            </a:r>
          </a:p>
          <a:p xmlns:a="http://schemas.openxmlformats.org/drawingml/2006/main">
            <a:pPr>
              <a:lnSpc>
                <a:spcPct val="125000"/>
              </a:lnSpc>
              <a:spcBef>
                <a:spcPts val="0"/>
              </a:spcBef>
              <a:spcAft>
                <a:spcPts val="0"/>
              </a:spcAft>
            </a:pPr>
            <a:r>
              <a:rPr>
                <a:latin typeface="Pretendard"/>
                <a:ea typeface="Pretendard"/>
                <a:cs typeface="Pretendard"/>
              </a:rPr>
              <a:t>슈퍼볼과 별개인 Ybor City 시범사업 수치·결과를 섞지 않는다.</a:t>
            </a:r>
          </a:p>
          <a:p xmlns:a="http://schemas.openxmlformats.org/drawingml/2006/main">
            <a:pPr>
              <a:lnSpc>
                <a:spcPct val="125000"/>
              </a:lnSpc>
              <a:spcBef>
                <a:spcPts val="0"/>
              </a:spcBef>
              <a:spcAft>
                <a:spcPts val="0"/>
              </a:spcAft>
            </a:pPr>
            <a:r>
              <a:rPr>
                <a:latin typeface="Pretendard"/>
                <a:ea typeface="Pretendard"/>
                <a:cs typeface="Pretendard"/>
              </a:rPr>
              <a:t>이전 연결: 사진 시험의 향상은 실제 배치에서 후보가 조치로 이어지는 운영 질문을 남긴다.</a:t>
            </a:r>
          </a:p>
          <a:p xmlns:a="http://schemas.openxmlformats.org/drawingml/2006/main">
            <a:pPr>
              <a:lnSpc>
                <a:spcPct val="125000"/>
              </a:lnSpc>
              <a:spcBef>
                <a:spcPts val="0"/>
              </a:spcBef>
              <a:spcAft>
                <a:spcPts val="0"/>
              </a:spcAft>
            </a:pPr>
            <a:r>
              <a:rPr>
                <a:latin typeface="Pretendard"/>
                <a:ea typeface="Pretendard"/>
                <a:cs typeface="Pretendard"/>
              </a:rPr>
              <a:t>다음 연결: 대규모 배치의 가능성은 국내에서 영상을 수집·처리할 법적 근거를 묻게 한다.</a:t>
            </a:r>
          </a:p>
          <a:p xmlns:a="http://schemas.openxmlformats.org/drawingml/2006/main">
            <a:pPr>
              <a:lnSpc>
                <a:spcPct val="125000"/>
              </a:lnSpc>
              <a:spcBef>
                <a:spcPts val="0"/>
              </a:spcBef>
              <a:spcAft>
                <a:spcPts val="0"/>
              </a:spcAft>
            </a:pPr>
            <a:r>
              <a:rPr>
                <a:latin typeface="Pretendard"/>
                <a:ea typeface="Pretendard"/>
                <a:cs typeface="Pretendard"/>
              </a:rPr>
              <a:t>운영시간 초안: 1.5분.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공개된 장소의 CCTV 설치는 법에서 열거한 사유와 연결됩니다. 범죄 예방과 수사를 위해 필요한 경우가 그중 하나입니다. 공공기관의 설치 의견 수렴, 안내판, 안전성 확보도 같은 조문 체계에 들어 있습니다. 수집한 영상에서 얼굴 특징을 만들거나 다른 명단과 연결할 때에는 그 후속 처리의 목적과 근거를 더 확인하게 됩니다.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D14 | 국가법령정보센터 | 시행 2026-09-11 / 법률 제21445호</a:t>
            </a:r>
          </a:p>
          <a:p xmlns:a="http://schemas.openxmlformats.org/drawingml/2006/main">
            <a:pPr>
              <a:lnSpc>
                <a:spcPct val="125000"/>
              </a:lnSpc>
              <a:spcBef>
                <a:spcPts val="0"/>
              </a:spcBef>
              <a:spcAft>
                <a:spcPts val="0"/>
              </a:spcAft>
            </a:pPr>
            <a:r>
              <a:rPr>
                <a:latin typeface="Pretendard"/>
                <a:ea typeface="Pretendard"/>
                <a:cs typeface="Pretendard"/>
              </a:rPr>
              <a:t>개인정보 보호법 제15·18·23·25조</a:t>
            </a:r>
          </a:p>
          <a:p xmlns:a="http://schemas.openxmlformats.org/drawingml/2006/main">
            <a:pPr>
              <a:lnSpc>
                <a:spcPct val="125000"/>
              </a:lnSpc>
              <a:spcBef>
                <a:spcPts val="0"/>
              </a:spcBef>
              <a:spcAft>
                <a:spcPts val="0"/>
              </a:spcAft>
            </a:pPr>
            <a:r>
              <a:rPr>
                <a:latin typeface="Pretendard"/>
                <a:ea typeface="Pretendard"/>
                <a:cs typeface="Pretendard"/>
              </a:rPr>
              <a:t>https://www.law.go.kr/LSW//lsSideInfoP.do?docCls=jo&amp;joBrNo=00&amp;joNo=0025&amp;lsiSeq=283839&amp;urlMode=lsScJoRltInfoR</a:t>
            </a:r>
          </a:p>
          <a:p xmlns:a="http://schemas.openxmlformats.org/drawingml/2006/main">
            <a:pPr>
              <a:lnSpc>
                <a:spcPct val="125000"/>
              </a:lnSpc>
              <a:spcBef>
                <a:spcPts val="0"/>
              </a:spcBef>
              <a:spcAft>
                <a:spcPts val="0"/>
              </a:spcAft>
            </a:pPr>
            <a:r>
              <a:rPr>
                <a:latin typeface="Pretendard"/>
                <a:ea typeface="Pretendard"/>
                <a:cs typeface="Pretendard"/>
              </a:rPr>
              <a:t>확인 범위: 관련 조문 본문.</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CCTV 설치의 법정 사유와 운영 의무가 함께 적용된다.</a:t>
            </a:r>
          </a:p>
          <a:p xmlns:a="http://schemas.openxmlformats.org/drawingml/2006/main">
            <a:pPr>
              <a:lnSpc>
                <a:spcPct val="125000"/>
              </a:lnSpc>
              <a:spcBef>
                <a:spcPts val="0"/>
              </a:spcBef>
              <a:spcAft>
                <a:spcPts val="0"/>
              </a:spcAft>
            </a:pPr>
            <a:r>
              <a:rPr>
                <a:latin typeface="Pretendard"/>
                <a:ea typeface="Pretendard"/>
                <a:cs typeface="Pretendard"/>
              </a:rPr>
              <a:t>확장 질문: 공공장소에 CCTV를 설치할 법적 기준은 무엇인가?</a:t>
            </a:r>
          </a:p>
          <a:p xmlns:a="http://schemas.openxmlformats.org/drawingml/2006/main">
            <a:pPr>
              <a:lnSpc>
                <a:spcPct val="125000"/>
              </a:lnSpc>
              <a:spcBef>
                <a:spcPts val="0"/>
              </a:spcBef>
              <a:spcAft>
                <a:spcPts val="0"/>
              </a:spcAft>
            </a:pPr>
            <a:r>
              <a:rPr>
                <a:latin typeface="Pretendard"/>
                <a:ea typeface="Pretendard"/>
                <a:cs typeface="Pretendard"/>
              </a:rPr>
              <a:t>D14: 수집·이용, 목적 외 이용·제공의 수사 예외, 민감정보 처리, 공개장소 고정형 CCTV 설치·운영을 각각 규정한다. 공공기관 설치 시 의견 수렴 절차도 확인할 수 있다.</a:t>
            </a:r>
          </a:p>
          <a:p xmlns:a="http://schemas.openxmlformats.org/drawingml/2006/main">
            <a:pPr>
              <a:lnSpc>
                <a:spcPct val="125000"/>
              </a:lnSpc>
              <a:spcBef>
                <a:spcPts val="0"/>
              </a:spcBef>
              <a:spcAft>
                <a:spcPts val="0"/>
              </a:spcAft>
            </a:pPr>
            <a:r>
              <a:rPr>
                <a:latin typeface="Pretendard"/>
                <a:ea typeface="Pretendard"/>
                <a:cs typeface="Pretendard"/>
              </a:rPr>
              <a:t>적용 범위·한계: CCTV 설치근거와 추가 생체식별·연계·체포 권한을 구분해 읽는다. 수사 예외와 D15의 단서를 누락해 일률적으로 동의 필수라고 단정해서도 안 된다.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W8-11 / 본편 필수 / DIRECT</a:t>
            </a:r>
          </a:p>
          <a:p xmlns:a="http://schemas.openxmlformats.org/drawingml/2006/main">
            <a:pPr>
              <a:lnSpc>
                <a:spcPct val="125000"/>
              </a:lnSpc>
              <a:spcBef>
                <a:spcPts val="0"/>
              </a:spcBef>
              <a:spcAft>
                <a:spcPts val="0"/>
              </a:spcAft>
            </a:pPr>
            <a:r>
              <a:rPr>
                <a:latin typeface="Pretendard"/>
                <a:ea typeface="Pretendard"/>
                <a:cs typeface="Pretendard"/>
              </a:rPr>
              <a:t>법령 링크의 제25조 원문을 재검색해 대조. 상세 출처는 노트에만 둔다.</a:t>
            </a:r>
          </a:p>
          <a:p xmlns:a="http://schemas.openxmlformats.org/drawingml/2006/main">
            <a:pPr>
              <a:lnSpc>
                <a:spcPct val="125000"/>
              </a:lnSpc>
              <a:spcBef>
                <a:spcPts val="0"/>
              </a:spcBef>
              <a:spcAft>
                <a:spcPts val="0"/>
              </a:spcAft>
            </a:pPr>
            <a:r>
              <a:rPr>
                <a:latin typeface="Pretendard"/>
                <a:ea typeface="Pretendard"/>
                <a:cs typeface="Pretendard"/>
              </a:rPr>
              <a:t>이전 연결: 대규모 배치의 가능성은 국내에서 영상을 수집·처리할 법적 근거를 묻게 한다.</a:t>
            </a:r>
          </a:p>
          <a:p xmlns:a="http://schemas.openxmlformats.org/drawingml/2006/main">
            <a:pPr>
              <a:lnSpc>
                <a:spcPct val="125000"/>
              </a:lnSpc>
              <a:spcBef>
                <a:spcPts val="0"/>
              </a:spcBef>
              <a:spcAft>
                <a:spcPts val="0"/>
              </a:spcAft>
            </a:pPr>
            <a:r>
              <a:rPr>
                <a:latin typeface="Pretendard"/>
                <a:ea typeface="Pretendard"/>
                <a:cs typeface="Pretendard"/>
              </a:rPr>
              <a:t>다음 연결: 촬영한 영상에서 신원을 알아볼 특징정보를 생성하면 추가 처리 규정을 검토한다.</a:t>
            </a:r>
          </a:p>
          <a:p xmlns:a="http://schemas.openxmlformats.org/drawingml/2006/main">
            <a:pPr>
              <a:lnSpc>
                <a:spcPct val="125000"/>
              </a:lnSpc>
              <a:spcBef>
                <a:spcPts val="0"/>
              </a:spcBef>
              <a:spcAft>
                <a:spcPts val="0"/>
              </a:spcAft>
            </a:pPr>
            <a:r>
              <a:rPr>
                <a:latin typeface="Pretendard"/>
                <a:ea typeface="Pretendard"/>
                <a:cs typeface="Pretendard"/>
              </a:rPr>
              <a:t>운영시간 초안: 1.5분.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얼굴 사진을 보유하는 행위와 그 사진에서 신원을 알아볼 특징정보를 만드는 행위는 처리 내용을 따져야 합니다. 시행령은 식별 목적과 기술적 생성이라는 조건을 명시합니다. 동시에 공공기관이 법 제18조제2항의 특정 사유로 처리하는 경우를 제외하는 단서를 둡니다. 사용 목적과 기관, 해당 예외의 요건을 함께 확인해야 하는 이유입니다.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D14 | 국가법령정보센터 | 시행 2026-09-11 / 법률 제21445호</a:t>
            </a:r>
          </a:p>
          <a:p xmlns:a="http://schemas.openxmlformats.org/drawingml/2006/main">
            <a:pPr>
              <a:lnSpc>
                <a:spcPct val="125000"/>
              </a:lnSpc>
              <a:spcBef>
                <a:spcPts val="0"/>
              </a:spcBef>
              <a:spcAft>
                <a:spcPts val="0"/>
              </a:spcAft>
            </a:pPr>
            <a:r>
              <a:rPr>
                <a:latin typeface="Pretendard"/>
                <a:ea typeface="Pretendard"/>
                <a:cs typeface="Pretendard"/>
              </a:rPr>
              <a:t>개인정보 보호법 제15·18·23·25조</a:t>
            </a:r>
          </a:p>
          <a:p xmlns:a="http://schemas.openxmlformats.org/drawingml/2006/main">
            <a:pPr>
              <a:lnSpc>
                <a:spcPct val="125000"/>
              </a:lnSpc>
              <a:spcBef>
                <a:spcPts val="0"/>
              </a:spcBef>
              <a:spcAft>
                <a:spcPts val="0"/>
              </a:spcAft>
            </a:pPr>
            <a:r>
              <a:rPr>
                <a:latin typeface="Pretendard"/>
                <a:ea typeface="Pretendard"/>
                <a:cs typeface="Pretendard"/>
              </a:rPr>
              <a:t>https://www.law.go.kr/LSW//lsSideInfoP.do?docCls=jo&amp;joBrNo=00&amp;joNo=0025&amp;lsiSeq=283839&amp;urlMode=lsScJoRltInfoR</a:t>
            </a:r>
          </a:p>
          <a:p xmlns:a="http://schemas.openxmlformats.org/drawingml/2006/main">
            <a:pPr>
              <a:lnSpc>
                <a:spcPct val="125000"/>
              </a:lnSpc>
              <a:spcBef>
                <a:spcPts val="0"/>
              </a:spcBef>
              <a:spcAft>
                <a:spcPts val="0"/>
              </a:spcAft>
            </a:pPr>
            <a:r>
              <a:rPr>
                <a:latin typeface="Pretendard"/>
                <a:ea typeface="Pretendard"/>
                <a:cs typeface="Pretendard"/>
              </a:rPr>
              <a:t>확인 범위: 관련 조문 본문.</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D15 | 국가법령정보센터 | 시행 2026-09-11 / 대통령령 제36671호</a:t>
            </a:r>
          </a:p>
          <a:p xmlns:a="http://schemas.openxmlformats.org/drawingml/2006/main">
            <a:pPr>
              <a:lnSpc>
                <a:spcPct val="125000"/>
              </a:lnSpc>
              <a:spcBef>
                <a:spcPts val="0"/>
              </a:spcBef>
              <a:spcAft>
                <a:spcPts val="0"/>
              </a:spcAft>
            </a:pPr>
            <a:r>
              <a:rPr>
                <a:latin typeface="Pretendard"/>
                <a:ea typeface="Pretendard"/>
                <a:cs typeface="Pretendard"/>
              </a:rPr>
              <a:t>개인정보 보호법 시행령 제18조 민감정보의 범위</a:t>
            </a:r>
          </a:p>
          <a:p xmlns:a="http://schemas.openxmlformats.org/drawingml/2006/main">
            <a:pPr>
              <a:lnSpc>
                <a:spcPct val="125000"/>
              </a:lnSpc>
              <a:spcBef>
                <a:spcPts val="0"/>
              </a:spcBef>
              <a:spcAft>
                <a:spcPts val="0"/>
              </a:spcAft>
            </a:pPr>
            <a:r>
              <a:rPr>
                <a:latin typeface="Pretendard"/>
                <a:ea typeface="Pretendard"/>
                <a:cs typeface="Pretendard"/>
              </a:rPr>
              <a:t>https://www.law.go.kr/LSW/lsLinkCommonInfo.do?chrClsCd=010202&amp;lsJoLnkSeq=1034050143</a:t>
            </a:r>
          </a:p>
          <a:p xmlns:a="http://schemas.openxmlformats.org/drawingml/2006/main">
            <a:pPr>
              <a:lnSpc>
                <a:spcPct val="125000"/>
              </a:lnSpc>
              <a:spcBef>
                <a:spcPts val="0"/>
              </a:spcBef>
              <a:spcAft>
                <a:spcPts val="0"/>
              </a:spcAft>
            </a:pPr>
            <a:r>
              <a:rPr>
                <a:latin typeface="Pretendard"/>
                <a:ea typeface="Pretendard"/>
                <a:cs typeface="Pretendard"/>
              </a:rPr>
              <a:t>확인 범위: 제18조 본문·단서·생체정보 항목.</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민감정보 정의와 공공기관의 법정 제외 단서를 함께 검토한다.</a:t>
            </a:r>
          </a:p>
          <a:p xmlns:a="http://schemas.openxmlformats.org/drawingml/2006/main">
            <a:pPr>
              <a:lnSpc>
                <a:spcPct val="125000"/>
              </a:lnSpc>
              <a:spcBef>
                <a:spcPts val="0"/>
              </a:spcBef>
              <a:spcAft>
                <a:spcPts val="0"/>
              </a:spcAft>
            </a:pPr>
            <a:r>
              <a:rPr>
                <a:latin typeface="Pretendard"/>
                <a:ea typeface="Pretendard"/>
                <a:cs typeface="Pretendard"/>
              </a:rPr>
              <a:t>확장 질문: 얼굴 특징정보에는 어떤 규정과 예외가 적용되는가?</a:t>
            </a:r>
          </a:p>
          <a:p xmlns:a="http://schemas.openxmlformats.org/drawingml/2006/main">
            <a:pPr>
              <a:lnSpc>
                <a:spcPct val="125000"/>
              </a:lnSpc>
              <a:spcBef>
                <a:spcPts val="0"/>
              </a:spcBef>
              <a:spcAft>
                <a:spcPts val="0"/>
              </a:spcAft>
            </a:pPr>
            <a:r>
              <a:rPr>
                <a:latin typeface="Pretendard"/>
                <a:ea typeface="Pretendard"/>
                <a:cs typeface="Pretendard"/>
              </a:rPr>
              <a:t>D14: 수집·이용, 목적 외 이용·제공의 수사 예외, 민감정보 처리, 공개장소 고정형 CCTV 설치·운영을 각각 규정한다. 공공기관 설치 시 의견 수렴 절차도 확인할 수 있다.</a:t>
            </a:r>
          </a:p>
          <a:p xmlns:a="http://schemas.openxmlformats.org/drawingml/2006/main">
            <a:pPr>
              <a:lnSpc>
                <a:spcPct val="125000"/>
              </a:lnSpc>
              <a:spcBef>
                <a:spcPts val="0"/>
              </a:spcBef>
              <a:spcAft>
                <a:spcPts val="0"/>
              </a:spcAft>
            </a:pPr>
            <a:r>
              <a:rPr>
                <a:latin typeface="Pretendard"/>
                <a:ea typeface="Pretendard"/>
                <a:cs typeface="Pretendard"/>
              </a:rPr>
              <a:t>적용 범위·한계: CCTV 설치근거와 추가 생체식별·연계·체포 권한을 구분해 읽는다. 수사 예외와 D15의 단서를 누락해 일률적으로 동의 필수라고 단정해서도 안 된다.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D15: 특정 개인을 알아볼 목적으로 기술적 수단을 통해 생성한 신체·생리·행동적 특징 정보를 규정한다. 공공기관이 법 제18조제2항제5~9호에 따라 처리하는 경우를 제외하는 단서가 있다.</a:t>
            </a:r>
          </a:p>
          <a:p xmlns:a="http://schemas.openxmlformats.org/drawingml/2006/main">
            <a:pPr>
              <a:lnSpc>
                <a:spcPct val="125000"/>
              </a:lnSpc>
              <a:spcBef>
                <a:spcPts val="0"/>
              </a:spcBef>
              <a:spcAft>
                <a:spcPts val="0"/>
              </a:spcAft>
            </a:pPr>
            <a:r>
              <a:rPr>
                <a:latin typeface="Pretendard"/>
                <a:ea typeface="Pretendard"/>
                <a:cs typeface="Pretendard"/>
              </a:rPr>
              <a:t>적용 범위·한계: 이 단서의 적용범위와 헌법상 법률유보·비례 심사는 별도 검토사항이다. 민감정보 정의만 인용하고 단서를 숨기지 않는다.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W8-12 / 본편 필수 / DIRECT</a:t>
            </a:r>
          </a:p>
          <a:p xmlns:a="http://schemas.openxmlformats.org/drawingml/2006/main">
            <a:pPr>
              <a:lnSpc>
                <a:spcPct val="125000"/>
              </a:lnSpc>
              <a:spcBef>
                <a:spcPts val="0"/>
              </a:spcBef>
              <a:spcAft>
                <a:spcPts val="0"/>
              </a:spcAft>
            </a:pPr>
            <a:r>
              <a:rPr>
                <a:latin typeface="Pretendard"/>
                <a:ea typeface="Pretendard"/>
                <a:cs typeface="Pretendard"/>
              </a:rPr>
              <a:t>사진 일반이 모두 같은 민감정보라고 단정하지 않는다. 예외가 헌법상 비례 심사를 제거한다고 쓰지 않는다.</a:t>
            </a:r>
          </a:p>
          <a:p xmlns:a="http://schemas.openxmlformats.org/drawingml/2006/main">
            <a:pPr>
              <a:lnSpc>
                <a:spcPct val="125000"/>
              </a:lnSpc>
              <a:spcBef>
                <a:spcPts val="0"/>
              </a:spcBef>
              <a:spcAft>
                <a:spcPts val="0"/>
              </a:spcAft>
            </a:pPr>
            <a:r>
              <a:rPr>
                <a:latin typeface="Pretendard"/>
                <a:ea typeface="Pretendard"/>
                <a:cs typeface="Pretendard"/>
              </a:rPr>
              <a:t>이전 연결: 촬영한 영상에서 신원을 알아볼 특징정보를 생성하면 추가 처리 규정을 검토한다.</a:t>
            </a:r>
          </a:p>
          <a:p xmlns:a="http://schemas.openxmlformats.org/drawingml/2006/main">
            <a:pPr>
              <a:lnSpc>
                <a:spcPct val="125000"/>
              </a:lnSpc>
              <a:spcBef>
                <a:spcPts val="0"/>
              </a:spcBef>
              <a:spcAft>
                <a:spcPts val="0"/>
              </a:spcAft>
            </a:pPr>
            <a:r>
              <a:rPr>
                <a:latin typeface="Pretendard"/>
                <a:ea typeface="Pretendard"/>
                <a:cs typeface="Pretendard"/>
              </a:rPr>
              <a:t>다음 연결: 생체정보의 처리 규정과 함께 관제센터에 부여된 분석 목적·권한을 확인한다.</a:t>
            </a:r>
          </a:p>
          <a:p xmlns:a="http://schemas.openxmlformats.org/drawingml/2006/main">
            <a:pPr>
              <a:lnSpc>
                <a:spcPct val="125000"/>
              </a:lnSpc>
              <a:spcBef>
                <a:spcPts val="0"/>
              </a:spcBef>
              <a:spcAft>
                <a:spcPts val="0"/>
              </a:spcAft>
            </a:pPr>
            <a:r>
              <a:rPr>
                <a:latin typeface="Pretendard"/>
                <a:ea typeface="Pretendard"/>
                <a:cs typeface="Pretendard"/>
              </a:rPr>
              <a:t>운영시간 초안: 2분.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2025년에 신설·시행된 이 조항은 통합관제센터와 AI 분석의 법적 기반을 명시합니다. 지방자치단체장은 재난과 각종 사고를 예방하고 대응하기 위해 영상을 분석하고 연계할 수 있습니다. 분석을 설계할 때에는 어떤 상황을 찾는지와 어떤 개인정보를 처리하는지가 이 목적과 연결되어야 합니다. 용의자의 신원 대조에는 명단의 근거와 후속 수사 절차도 함께 검토됩니다.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D38 | 국가법령정보센터 / 재난 및 안전관리 기본법 | 2025-01-07 신설 / 2025-07-08 최초 시행; 확인본 2026-07-22 시행</a:t>
            </a:r>
          </a:p>
          <a:p xmlns:a="http://schemas.openxmlformats.org/drawingml/2006/main">
            <a:pPr>
              <a:lnSpc>
                <a:spcPct val="125000"/>
              </a:lnSpc>
              <a:spcBef>
                <a:spcPts val="0"/>
              </a:spcBef>
              <a:spcAft>
                <a:spcPts val="0"/>
              </a:spcAft>
            </a:pPr>
            <a:r>
              <a:rPr>
                <a:latin typeface="Pretendard"/>
                <a:ea typeface="Pretendard"/>
                <a:cs typeface="Pretendard"/>
              </a:rPr>
              <a:t>재난 및 안전관리 기본법 제74조의5: 통합관제센터·AI 분석·목적 제한</a:t>
            </a:r>
          </a:p>
          <a:p xmlns:a="http://schemas.openxmlformats.org/drawingml/2006/main">
            <a:pPr>
              <a:lnSpc>
                <a:spcPct val="125000"/>
              </a:lnSpc>
              <a:spcBef>
                <a:spcPts val="0"/>
              </a:spcBef>
              <a:spcAft>
                <a:spcPts val="0"/>
              </a:spcAft>
            </a:pPr>
            <a:r>
              <a:rPr>
                <a:latin typeface="Pretendard"/>
                <a:ea typeface="Pretendard"/>
                <a:cs typeface="Pretendard"/>
              </a:rPr>
              <a:t>https://www.law.go.kr/LSW/lsLinkCommonInfo.do?chrClsCd=010202&amp;lsJoLnkSeq=1031357295</a:t>
            </a:r>
          </a:p>
          <a:p xmlns:a="http://schemas.openxmlformats.org/drawingml/2006/main">
            <a:pPr>
              <a:lnSpc>
                <a:spcPct val="125000"/>
              </a:lnSpc>
              <a:spcBef>
                <a:spcPts val="0"/>
              </a:spcBef>
              <a:spcAft>
                <a:spcPts val="0"/>
              </a:spcAft>
            </a:pPr>
            <a:r>
              <a:rPr>
                <a:latin typeface="Pretendard"/>
                <a:ea typeface="Pretendard"/>
                <a:cs typeface="Pretendard"/>
              </a:rPr>
              <a:t>확인 범위: 제74조의5 제1–6항 원문. 관련 조항 최초 시행일은 행안부 2026-05-06 발령 안내와 대조.</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D17 | 행정안전부 | 2026-05-11 / 고시 제2026-31호</a:t>
            </a:r>
          </a:p>
          <a:p xmlns:a="http://schemas.openxmlformats.org/drawingml/2006/main">
            <a:pPr>
              <a:lnSpc>
                <a:spcPct val="125000"/>
              </a:lnSpc>
              <a:spcBef>
                <a:spcPts val="0"/>
              </a:spcBef>
              <a:spcAft>
                <a:spcPts val="0"/>
              </a:spcAft>
            </a:pPr>
            <a:r>
              <a:rPr>
                <a:latin typeface="Pretendard"/>
                <a:ea typeface="Pretendard"/>
                <a:cs typeface="Pretendard"/>
              </a:rPr>
              <a:t>지방자치단체 영상정보처리기기 통합관제센터 설치·운영에 관한 고시</a:t>
            </a:r>
          </a:p>
          <a:p xmlns:a="http://schemas.openxmlformats.org/drawingml/2006/main">
            <a:pPr>
              <a:lnSpc>
                <a:spcPct val="125000"/>
              </a:lnSpc>
              <a:spcBef>
                <a:spcPts val="0"/>
              </a:spcBef>
              <a:spcAft>
                <a:spcPts val="0"/>
              </a:spcAft>
            </a:pPr>
            <a:r>
              <a:rPr>
                <a:latin typeface="Pretendard"/>
                <a:ea typeface="Pretendard"/>
                <a:cs typeface="Pretendard"/>
              </a:rPr>
              <a:t>https://www.law.go.kr/LSW/admRulLsInfoP.do?admRulSeq=2100000278958</a:t>
            </a:r>
          </a:p>
          <a:p xmlns:a="http://schemas.openxmlformats.org/drawingml/2006/main">
            <a:pPr>
              <a:lnSpc>
                <a:spcPct val="125000"/>
              </a:lnSpc>
              <a:spcBef>
                <a:spcPts val="0"/>
              </a:spcBef>
              <a:spcAft>
                <a:spcPts val="0"/>
              </a:spcAft>
            </a:pPr>
            <a:r>
              <a:rPr>
                <a:latin typeface="Pretendard"/>
                <a:ea typeface="Pretendard"/>
                <a:cs typeface="Pretendard"/>
              </a:rPr>
              <a:t>확인 범위: 고시명·발령번호·시행일과 행안부 공식 발령 안내 본문. 국가법령정보센터 검색 색인의 일부 조항 확인. 고시 전문은 미열람.</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재난·사고 관제의 AI 권한에는 목적과 최소처리 조건이 붙는다.</a:t>
            </a:r>
          </a:p>
          <a:p xmlns:a="http://schemas.openxmlformats.org/drawingml/2006/main">
            <a:pPr>
              <a:lnSpc>
                <a:spcPct val="125000"/>
              </a:lnSpc>
              <a:spcBef>
                <a:spcPts val="0"/>
              </a:spcBef>
              <a:spcAft>
                <a:spcPts val="0"/>
              </a:spcAft>
            </a:pPr>
            <a:r>
              <a:rPr>
                <a:latin typeface="Pretendard"/>
                <a:ea typeface="Pretendard"/>
                <a:cs typeface="Pretendard"/>
              </a:rPr>
              <a:t>확장 질문: 관제센터의 AI 분석 권한은 어떤 목적에 연결되는가?</a:t>
            </a:r>
          </a:p>
          <a:p xmlns:a="http://schemas.openxmlformats.org/drawingml/2006/main">
            <a:pPr>
              <a:lnSpc>
                <a:spcPct val="125000"/>
              </a:lnSpc>
              <a:spcBef>
                <a:spcPts val="0"/>
              </a:spcBef>
              <a:spcAft>
                <a:spcPts val="0"/>
              </a:spcAft>
            </a:pPr>
            <a:r>
              <a:rPr>
                <a:latin typeface="Pretendard"/>
                <a:ea typeface="Pretendard"/>
                <a:cs typeface="Pretendard"/>
              </a:rPr>
              <a:t>D38: 지자체장은 재난·각종 사고의 예방·대비·대응을 위해 센터를 운영하고 AI로 수집 영상을 분석하며 관내 공공기관 영상을 연계할 수 있다. 동시에 목적에 필요한 최소 개인정보 처리와 목적 외 활용 금지를 규정한다.</a:t>
            </a:r>
          </a:p>
          <a:p xmlns:a="http://schemas.openxmlformats.org/drawingml/2006/main">
            <a:pPr>
              <a:lnSpc>
                <a:spcPct val="125000"/>
              </a:lnSpc>
              <a:spcBef>
                <a:spcPts val="0"/>
              </a:spcBef>
              <a:spcAft>
                <a:spcPts val="0"/>
              </a:spcAft>
            </a:pPr>
            <a:r>
              <a:rPr>
                <a:latin typeface="Pretendard"/>
                <a:ea typeface="Pretendard"/>
                <a:cs typeface="Pretendard"/>
              </a:rPr>
              <a:t>적용 범위·한계: 법률 제21313호 시행본의 해당 조항을 확인했다. 범죄 용의자 생체식별 배치의 법적 평가에는 대상·목적·명단 정보원·개인정보 처리·강제처분 요건을 함께 대조해야 한다.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D17: 행안부는 2025년 7월 8일 시행된 통합관제센터 관련 법률·시행령을 바탕으로 2026년 5월 11일 고시를 발령한다고 안내한다. 센터 운영·영상 연계의 후속 규범으로 D38과 연결한다.</a:t>
            </a:r>
          </a:p>
          <a:p xmlns:a="http://schemas.openxmlformats.org/drawingml/2006/main">
            <a:pPr>
              <a:lnSpc>
                <a:spcPct val="125000"/>
              </a:lnSpc>
              <a:spcBef>
                <a:spcPts val="0"/>
              </a:spcBef>
              <a:spcAft>
                <a:spcPts val="0"/>
              </a:spcAft>
            </a:pPr>
            <a:r>
              <a:rPr>
                <a:latin typeface="Pretendard"/>
                <a:ea typeface="Pretendard"/>
                <a:cs typeface="Pretendard"/>
              </a:rPr>
              <a:t>적용 범위·한계: 제14조의 30일 보관 등 일부 문구는 검색 색인에서만 확인했다. 단서·예외·다른 조항과의 관계 대조 전에는 보관 기준을 확정된 요건으로 제시하지 않는다.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W8-13 / 본편 필수 / DIRECT</a:t>
            </a:r>
          </a:p>
          <a:p xmlns:a="http://schemas.openxmlformats.org/drawingml/2006/main">
            <a:pPr>
              <a:lnSpc>
                <a:spcPct val="125000"/>
              </a:lnSpc>
              <a:spcBef>
                <a:spcPts val="0"/>
              </a:spcBef>
              <a:spcAft>
                <a:spcPts val="0"/>
              </a:spcAft>
            </a:pPr>
            <a:r>
              <a:rPr>
                <a:latin typeface="Pretendard"/>
                <a:ea typeface="Pretendard"/>
                <a:cs typeface="Pretendard"/>
              </a:rPr>
              <a:t>D17 고시의 전문 미열람 조항은 인용하지 않았다.</a:t>
            </a:r>
          </a:p>
          <a:p xmlns:a="http://schemas.openxmlformats.org/drawingml/2006/main">
            <a:pPr>
              <a:lnSpc>
                <a:spcPct val="125000"/>
              </a:lnSpc>
              <a:spcBef>
                <a:spcPts val="0"/>
              </a:spcBef>
              <a:spcAft>
                <a:spcPts val="0"/>
              </a:spcAft>
            </a:pPr>
            <a:r>
              <a:rPr>
                <a:latin typeface="Pretendard"/>
                <a:ea typeface="Pretendard"/>
                <a:cs typeface="Pretendard"/>
              </a:rPr>
              <a:t>이전 연결: 생체정보의 처리 규정과 함께 관제센터에 부여된 분석 목적·권한을 확인한다.</a:t>
            </a:r>
          </a:p>
          <a:p xmlns:a="http://schemas.openxmlformats.org/drawingml/2006/main">
            <a:pPr>
              <a:lnSpc>
                <a:spcPct val="125000"/>
              </a:lnSpc>
              <a:spcBef>
                <a:spcPts val="0"/>
              </a:spcBef>
              <a:spcAft>
                <a:spcPts val="0"/>
              </a:spcAft>
            </a:pPr>
            <a:r>
              <a:rPr>
                <a:latin typeface="Pretendard"/>
                <a:ea typeface="Pretendard"/>
                <a:cs typeface="Pretendard"/>
              </a:rPr>
              <a:t>다음 연결: 정보 분석이 현장 접촉으로 이어지는 순간에는 경찰의 정지·질문 요건이 적용된다.</a:t>
            </a:r>
          </a:p>
          <a:p xmlns:a="http://schemas.openxmlformats.org/drawingml/2006/main">
            <a:pPr>
              <a:lnSpc>
                <a:spcPct val="125000"/>
              </a:lnSpc>
              <a:spcBef>
                <a:spcPts val="0"/>
              </a:spcBef>
              <a:spcAft>
                <a:spcPts val="0"/>
              </a:spcAft>
            </a:pPr>
            <a:r>
              <a:rPr>
                <a:latin typeface="Pretendard"/>
                <a:ea typeface="Pretendard"/>
                <a:cs typeface="Pretendard"/>
              </a:rPr>
              <a:t>운영시간 초안: 2분.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경보를 본 경찰이 통행인을 멈춰 세우고 질문하는 순간에는 불심검문의 요건이 문제됩니다. 법은 수상한 행동과 주변 사정을 합리적으로 판단하도록 합니다. 경찰은 자신의 신분과 질문 이유를 설명해야 하고, 동행 요구에는 거절권이 있습니다. 현장의 판단 과정에서 영상과 사진의 동일성, 명단 정보의 신뢰성, 주변 사정을 확인할 필요가 생깁니다.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X01 | 국가법령정보센터 | 시행 2026-07-07 / 법률 제21304호</a:t>
            </a:r>
          </a:p>
          <a:p xmlns:a="http://schemas.openxmlformats.org/drawingml/2006/main">
            <a:pPr>
              <a:lnSpc>
                <a:spcPct val="125000"/>
              </a:lnSpc>
              <a:spcBef>
                <a:spcPts val="0"/>
              </a:spcBef>
              <a:spcAft>
                <a:spcPts val="0"/>
              </a:spcAft>
            </a:pPr>
            <a:r>
              <a:rPr>
                <a:latin typeface="Pretendard"/>
                <a:ea typeface="Pretendard"/>
                <a:cs typeface="Pretendard"/>
              </a:rPr>
              <a:t>경찰관 직무집행법 제3조 불심검문</a:t>
            </a:r>
          </a:p>
          <a:p xmlns:a="http://schemas.openxmlformats.org/drawingml/2006/main">
            <a:pPr>
              <a:lnSpc>
                <a:spcPct val="125000"/>
              </a:lnSpc>
              <a:spcBef>
                <a:spcPts val="0"/>
              </a:spcBef>
              <a:spcAft>
                <a:spcPts val="0"/>
              </a:spcAft>
            </a:pPr>
            <a:r>
              <a:rPr>
                <a:latin typeface="Pretendard"/>
                <a:ea typeface="Pretendard"/>
                <a:cs typeface="Pretendard"/>
              </a:rPr>
              <a:t>https://law.go.kr/LSW/lsSideInfoP.do?docCls=jo&amp;joBrNo=00&amp;joNo=0003&amp;lsiSeq=282479&amp;urlMode=lsScJoRltInfoR</a:t>
            </a:r>
          </a:p>
          <a:p xmlns:a="http://schemas.openxmlformats.org/drawingml/2006/main">
            <a:pPr>
              <a:lnSpc>
                <a:spcPct val="125000"/>
              </a:lnSpc>
              <a:spcBef>
                <a:spcPts val="0"/>
              </a:spcBef>
              <a:spcAft>
                <a:spcPts val="0"/>
              </a:spcAft>
            </a:pPr>
            <a:r>
              <a:rPr>
                <a:latin typeface="Pretendard"/>
                <a:ea typeface="Pretendard"/>
                <a:cs typeface="Pretendard"/>
              </a:rPr>
              <a:t>확인 범위: 제3조 제1–7항 원문</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F03 | 잉글랜드·웨일스 고등법원 / [2026] EWHC 915 (Admin) | 2026-04-21</a:t>
            </a:r>
          </a:p>
          <a:p xmlns:a="http://schemas.openxmlformats.org/drawingml/2006/main">
            <a:pPr>
              <a:lnSpc>
                <a:spcPct val="125000"/>
              </a:lnSpc>
              <a:spcBef>
                <a:spcPts val="0"/>
              </a:spcBef>
              <a:spcAft>
                <a:spcPts val="0"/>
              </a:spcAft>
            </a:pPr>
            <a:r>
              <a:rPr>
                <a:latin typeface="Pretendard"/>
                <a:ea typeface="Pretendard"/>
                <a:cs typeface="Pretendard"/>
              </a:rPr>
              <a:t>R (Thompson and Carlo) v Commissioner of Police of the Metropolis</a:t>
            </a:r>
          </a:p>
          <a:p xmlns:a="http://schemas.openxmlformats.org/drawingml/2006/main">
            <a:pPr>
              <a:lnSpc>
                <a:spcPct val="125000"/>
              </a:lnSpc>
              <a:spcBef>
                <a:spcPts val="0"/>
              </a:spcBef>
              <a:spcAft>
                <a:spcPts val="0"/>
              </a:spcAft>
            </a:pPr>
            <a:r>
              <a:rPr>
                <a:latin typeface="Pretendard"/>
                <a:ea typeface="Pretendard"/>
                <a:cs typeface="Pretendard"/>
              </a:rPr>
              <a:t>https://www.judiciary.uk/wp-content/uploads/2026/04/AC-2024-LON-001764-R-Thompson-and-Carlo-version-for-hand-down-21-04-2026.pdf</a:t>
            </a:r>
          </a:p>
          <a:p xmlns:a="http://schemas.openxmlformats.org/drawingml/2006/main">
            <a:pPr>
              <a:lnSpc>
                <a:spcPct val="125000"/>
              </a:lnSpc>
              <a:spcBef>
                <a:spcPts val="0"/>
              </a:spcBef>
              <a:spcAft>
                <a:spcPts val="0"/>
              </a:spcAft>
            </a:pPr>
            <a:r>
              <a:rPr>
                <a:latin typeface="Pretendard"/>
                <a:ea typeface="Pretendard"/>
                <a:cs typeface="Pretendard"/>
              </a:rPr>
              <a:t>확인 범위: 공식 47쪽 판결의 심판범위 §§1–15, 사실관계 §17, CCTV 확장 §68, 정책 평가 §§219–231.</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정지·질문에는 상당한 이유와 고지·거절·답변 권리의 기준이 적용된다.</a:t>
            </a:r>
          </a:p>
          <a:p xmlns:a="http://schemas.openxmlformats.org/drawingml/2006/main">
            <a:pPr>
              <a:lnSpc>
                <a:spcPct val="125000"/>
              </a:lnSpc>
              <a:spcBef>
                <a:spcPts val="0"/>
              </a:spcBef>
              <a:spcAft>
                <a:spcPts val="0"/>
              </a:spcAft>
            </a:pPr>
            <a:r>
              <a:rPr>
                <a:latin typeface="Pretendard"/>
                <a:ea typeface="Pretendard"/>
                <a:cs typeface="Pretendard"/>
              </a:rPr>
              <a:t>확장 질문: 경찰은 AI 경보 뒤 어떤 요건으로 정지·질문할 수 있는가?</a:t>
            </a:r>
          </a:p>
          <a:p xmlns:a="http://schemas.openxmlformats.org/drawingml/2006/main">
            <a:pPr>
              <a:lnSpc>
                <a:spcPct val="125000"/>
              </a:lnSpc>
              <a:spcBef>
                <a:spcPts val="0"/>
              </a:spcBef>
              <a:spcAft>
                <a:spcPts val="0"/>
              </a:spcAft>
            </a:pPr>
            <a:r>
              <a:rPr>
                <a:latin typeface="Pretendard"/>
                <a:ea typeface="Pretendard"/>
                <a:cs typeface="Pretendard"/>
              </a:rPr>
              <a:t>X01: 상당한 이유에 의한 정지·질문, 흉기 조사, 신분·이유 고지, 동행 거절 및 의사에 반한 답변 강요 금지를 확인했다.</a:t>
            </a:r>
          </a:p>
          <a:p xmlns:a="http://schemas.openxmlformats.org/drawingml/2006/main">
            <a:pPr>
              <a:lnSpc>
                <a:spcPct val="125000"/>
              </a:lnSpc>
              <a:spcBef>
                <a:spcPts val="0"/>
              </a:spcBef>
              <a:spcAft>
                <a:spcPts val="0"/>
              </a:spcAft>
            </a:pPr>
            <a:r>
              <a:rPr>
                <a:latin typeface="Pretendard"/>
                <a:ea typeface="Pretendard"/>
                <a:cs typeface="Pretendard"/>
              </a:rPr>
              <a:t>적용 범위·한계: 개별 AI 경보가 요건을 충족하는지에 관한 판결은 아니다.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F03: 법원은 런던경찰의 2024년 정책이 목적·명단·장소·비례성 판단을 결합하여 경찰 재량의 예측가능성을 확보했다고 보고 청구를 기각했다. §17은 원고가 2024년 2월 형제로 오인되어 정지·질문·신원 증명 요구를 받은 경위를 기재한다.</a:t>
            </a:r>
          </a:p>
          <a:p xmlns:a="http://schemas.openxmlformats.org/drawingml/2006/main">
            <a:pPr>
              <a:lnSpc>
                <a:spcPct val="125000"/>
              </a:lnSpc>
              <a:spcBef>
                <a:spcPts val="0"/>
              </a:spcBef>
              <a:spcAft>
                <a:spcPts val="0"/>
              </a:spcAft>
            </a:pPr>
            <a:r>
              <a:rPr>
                <a:latin typeface="Pretendard"/>
                <a:ea typeface="Pretendard"/>
                <a:cs typeface="Pretendard"/>
              </a:rPr>
              <a:t>적용 범위·한계: 소송의 중심은 정책의 명확성과 자의적 재량 통제이다. 원고들은 이 소송에서 비례성 자체를 다투지 않았다. §17 사건의 개별 처분 적법성 및 미래 상시 CCTV 연계의 심사는 범위 밖이며 상소 상태는 미확인.</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W8-14 / 본편 필수 / DIRECT</a:t>
            </a:r>
          </a:p>
          <a:p xmlns:a="http://schemas.openxmlformats.org/drawingml/2006/main">
            <a:pPr>
              <a:lnSpc>
                <a:spcPct val="125000"/>
              </a:lnSpc>
              <a:spcBef>
                <a:spcPts val="0"/>
              </a:spcBef>
              <a:spcAft>
                <a:spcPts val="0"/>
              </a:spcAft>
            </a:pPr>
            <a:r>
              <a:rPr>
                <a:latin typeface="Pretendard"/>
                <a:ea typeface="Pretendard"/>
                <a:cs typeface="Pretendard"/>
              </a:rPr>
              <a:t>경보만으로 상당한 이유가 자동 충족된다는 개별 법적 결론을 내리지 않는다.</a:t>
            </a:r>
          </a:p>
          <a:p xmlns:a="http://schemas.openxmlformats.org/drawingml/2006/main">
            <a:pPr>
              <a:lnSpc>
                <a:spcPct val="125000"/>
              </a:lnSpc>
              <a:spcBef>
                <a:spcPts val="0"/>
              </a:spcBef>
              <a:spcAft>
                <a:spcPts val="0"/>
              </a:spcAft>
            </a:pPr>
            <a:r>
              <a:rPr>
                <a:latin typeface="Pretendard"/>
                <a:ea typeface="Pretendard"/>
                <a:cs typeface="Pretendard"/>
              </a:rPr>
              <a:t>이전 연결: 정보 분석이 현장 접촉으로 이어지는 순간에는 경찰의 정지·질문 요건이 적용된다.</a:t>
            </a:r>
          </a:p>
          <a:p xmlns:a="http://schemas.openxmlformats.org/drawingml/2006/main">
            <a:pPr>
              <a:lnSpc>
                <a:spcPct val="125000"/>
              </a:lnSpc>
              <a:spcBef>
                <a:spcPts val="0"/>
              </a:spcBef>
              <a:spcAft>
                <a:spcPts val="0"/>
              </a:spcAft>
            </a:pPr>
            <a:r>
              <a:rPr>
                <a:latin typeface="Pretendard"/>
                <a:ea typeface="Pretendard"/>
                <a:cs typeface="Pretendard"/>
              </a:rPr>
              <a:t>다음 연결: 정지·질문 이후 신체를 구속하는 체포에는 별도의 영장과 법정 요건이 있다.</a:t>
            </a:r>
          </a:p>
          <a:p xmlns:a="http://schemas.openxmlformats.org/drawingml/2006/main">
            <a:pPr>
              <a:lnSpc>
                <a:spcPct val="125000"/>
              </a:lnSpc>
              <a:spcBef>
                <a:spcPts val="0"/>
              </a:spcBef>
              <a:spcAft>
                <a:spcPts val="0"/>
              </a:spcAft>
            </a:pPr>
            <a:r>
              <a:rPr>
                <a:latin typeface="Pretendard"/>
                <a:ea typeface="Pretendard"/>
                <a:cs typeface="Pretendard"/>
              </a:rPr>
              <a:t>운영시간 초안: 2분.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영장에 의한 체포는 범죄 혐의가 있다고 의심할 상당한 이유와 정당한 이유 없는 출석 불응 또는 불응 우려를 요건으로 합니다. 경찰의 신청, 검사의 청구, 판사의 발부를 거칩니다. 거리에서 명단 속 대상자 후보가 발견되면, 경찰은 그 사람이 영장 대상자와 같은 사람인지 확인해야 합니다. 체포 경로마다 법정 요건이 있으므로 대상자를 찾는 과정과 강제처분의 근거를 각각 설명해야 합니다.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X02 | 국가법령정보센터 | 시행 2026-10-02 / 법률 제22009호</a:t>
            </a:r>
          </a:p>
          <a:p xmlns:a="http://schemas.openxmlformats.org/drawingml/2006/main">
            <a:pPr>
              <a:lnSpc>
                <a:spcPct val="125000"/>
              </a:lnSpc>
              <a:spcBef>
                <a:spcPts val="0"/>
              </a:spcBef>
              <a:spcAft>
                <a:spcPts val="0"/>
              </a:spcAft>
            </a:pPr>
            <a:r>
              <a:rPr>
                <a:latin typeface="Pretendard"/>
                <a:ea typeface="Pretendard"/>
                <a:cs typeface="Pretendard"/>
              </a:rPr>
              <a:t>형사소송법 제200조의2 제1항 영장에 의한 체포</a:t>
            </a:r>
          </a:p>
          <a:p xmlns:a="http://schemas.openxmlformats.org/drawingml/2006/main">
            <a:pPr>
              <a:lnSpc>
                <a:spcPct val="125000"/>
              </a:lnSpc>
              <a:spcBef>
                <a:spcPts val="0"/>
              </a:spcBef>
              <a:spcAft>
                <a:spcPts val="0"/>
              </a:spcAft>
            </a:pPr>
            <a:r>
              <a:rPr>
                <a:latin typeface="Pretendard"/>
                <a:ea typeface="Pretendard"/>
                <a:cs typeface="Pretendard"/>
              </a:rPr>
              <a:t>https://www.law.go.kr/LSW/lsLinkCommonInfo.do?lsJoLnkSeq=1013583337</a:t>
            </a:r>
          </a:p>
          <a:p xmlns:a="http://schemas.openxmlformats.org/drawingml/2006/main">
            <a:pPr>
              <a:lnSpc>
                <a:spcPct val="125000"/>
              </a:lnSpc>
              <a:spcBef>
                <a:spcPts val="0"/>
              </a:spcBef>
              <a:spcAft>
                <a:spcPts val="0"/>
              </a:spcAft>
            </a:pPr>
            <a:r>
              <a:rPr>
                <a:latin typeface="Pretendard"/>
                <a:ea typeface="Pretendard"/>
                <a:cs typeface="Pretendard"/>
              </a:rPr>
              <a:t>확인 범위: 제200조의2 제1항 본문·경미사건 단서</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체포의 요건·영장 발부·집행 대상의 동일성을 구별한다.</a:t>
            </a:r>
          </a:p>
          <a:p xmlns:a="http://schemas.openxmlformats.org/drawingml/2006/main">
            <a:pPr>
              <a:lnSpc>
                <a:spcPct val="125000"/>
              </a:lnSpc>
              <a:spcBef>
                <a:spcPts val="0"/>
              </a:spcBef>
              <a:spcAft>
                <a:spcPts val="0"/>
              </a:spcAft>
            </a:pPr>
            <a:r>
              <a:rPr>
                <a:latin typeface="Pretendard"/>
                <a:ea typeface="Pretendard"/>
                <a:cs typeface="Pretendard"/>
              </a:rPr>
              <a:t>확장 질문: 영장 체포에서 누가 무엇을 결정하는가?</a:t>
            </a:r>
          </a:p>
          <a:p xmlns:a="http://schemas.openxmlformats.org/drawingml/2006/main">
            <a:pPr>
              <a:lnSpc>
                <a:spcPct val="125000"/>
              </a:lnSpc>
              <a:spcBef>
                <a:spcPts val="0"/>
              </a:spcBef>
              <a:spcAft>
                <a:spcPts val="0"/>
              </a:spcAft>
            </a:pPr>
            <a:r>
              <a:rPr>
                <a:latin typeface="Pretendard"/>
                <a:ea typeface="Pretendard"/>
                <a:cs typeface="Pretendard"/>
              </a:rPr>
              <a:t>X02: 범죄 혐의의 상당한 이유와 출석 불응·불응 우려, 사법경찰관 신청·검사 청구·판사 영장 발부의 경로를 확인했다.</a:t>
            </a:r>
          </a:p>
          <a:p xmlns:a="http://schemas.openxmlformats.org/drawingml/2006/main">
            <a:pPr>
              <a:lnSpc>
                <a:spcPct val="125000"/>
              </a:lnSpc>
              <a:spcBef>
                <a:spcPts val="0"/>
              </a:spcBef>
              <a:spcAft>
                <a:spcPts val="0"/>
              </a:spcAft>
            </a:pPr>
            <a:r>
              <a:rPr>
                <a:latin typeface="Pretendard"/>
                <a:ea typeface="Pretendard"/>
                <a:cs typeface="Pretendard"/>
              </a:rPr>
              <a:t>적용 범위·한계: 긴급체포·현행범 체포와 구별하며 이 조항만으로 전체 체포법을 설명하지 않는다.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W8-15 / 본편 필수 / DIRECT</a:t>
            </a:r>
          </a:p>
          <a:p xmlns:a="http://schemas.openxmlformats.org/drawingml/2006/main">
            <a:pPr>
              <a:lnSpc>
                <a:spcPct val="125000"/>
              </a:lnSpc>
              <a:spcBef>
                <a:spcPts val="0"/>
              </a:spcBef>
              <a:spcAft>
                <a:spcPts val="0"/>
              </a:spcAft>
            </a:pPr>
            <a:r>
              <a:rPr>
                <a:latin typeface="Pretendard"/>
                <a:ea typeface="Pretendard"/>
                <a:cs typeface="Pretendard"/>
              </a:rPr>
              <a:t>경미사건 단서는 상세자료에 보존. 긴급·현행범 체포는 별도 법정 경로이며 이 도식의 대상이 아니다.</a:t>
            </a:r>
          </a:p>
          <a:p xmlns:a="http://schemas.openxmlformats.org/drawingml/2006/main">
            <a:pPr>
              <a:lnSpc>
                <a:spcPct val="125000"/>
              </a:lnSpc>
              <a:spcBef>
                <a:spcPts val="0"/>
              </a:spcBef>
              <a:spcAft>
                <a:spcPts val="0"/>
              </a:spcAft>
            </a:pPr>
            <a:r>
              <a:rPr>
                <a:latin typeface="Pretendard"/>
                <a:ea typeface="Pretendard"/>
                <a:cs typeface="Pretendard"/>
              </a:rPr>
              <a:t>이전 연결: 정지·질문 이후 신체를 구속하는 체포에는 별도의 영장과 법정 요건이 있다.</a:t>
            </a:r>
          </a:p>
          <a:p xmlns:a="http://schemas.openxmlformats.org/drawingml/2006/main">
            <a:pPr>
              <a:lnSpc>
                <a:spcPct val="125000"/>
              </a:lnSpc>
              <a:spcBef>
                <a:spcPts val="0"/>
              </a:spcBef>
              <a:spcAft>
                <a:spcPts val="0"/>
              </a:spcAft>
            </a:pPr>
            <a:r>
              <a:rPr>
                <a:latin typeface="Pretendard"/>
                <a:ea typeface="Pretendard"/>
                <a:cs typeface="Pretendard"/>
              </a:rPr>
              <a:t>다음 연결: 제도적 단계는 국내 검색·출동 사례에서 담당자들의 실제 행동으로 구체화된다.</a:t>
            </a:r>
          </a:p>
          <a:p xmlns:a="http://schemas.openxmlformats.org/drawingml/2006/main">
            <a:pPr>
              <a:lnSpc>
                <a:spcPct val="125000"/>
              </a:lnSpc>
              <a:spcBef>
                <a:spcPts val="0"/>
              </a:spcBef>
              <a:spcAft>
                <a:spcPts val="0"/>
              </a:spcAft>
            </a:pPr>
            <a:r>
              <a:rPr>
                <a:latin typeface="Pretendard"/>
                <a:ea typeface="Pretendard"/>
                <a:cs typeface="Pretendard"/>
              </a:rPr>
              <a:t>운영시간 초안: 3분.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이 수색에서 눈에 띄는 단서는 얼굴 정면 사진보다 모자와 지팡이 같은 외형입니다. 관제센터는 여러 영상에서 닮은 모습을 좁혔고, 경찰은 이동 경로를 바탕으로 현장 공간을 살폈습니다. 발견 장소는 아파트 지하 기계실이었습니다. 영상 검색이 담당자의 탐색 범위를 줄이고 실제 수색으로 이어진 국내 운영 사례입니다.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D23 | 정책주간지 K-공감 / 고유선 | 2025-11-21</a:t>
            </a:r>
          </a:p>
          <a:p xmlns:a="http://schemas.openxmlformats.org/drawingml/2006/main">
            <a:pPr>
              <a:lnSpc>
                <a:spcPct val="125000"/>
              </a:lnSpc>
              <a:spcBef>
                <a:spcPts val="0"/>
              </a:spcBef>
              <a:spcAft>
                <a:spcPts val="0"/>
              </a:spcAft>
            </a:pPr>
            <a:r>
              <a:rPr>
                <a:latin typeface="Pretendard"/>
                <a:ea typeface="Pretendard"/>
                <a:cs typeface="Pretendard"/>
              </a:rPr>
              <a:t>실종자를 찾아라—AI 영상검색 AIDE 활용 사례</a:t>
            </a:r>
          </a:p>
          <a:p xmlns:a="http://schemas.openxmlformats.org/drawingml/2006/main">
            <a:pPr>
              <a:lnSpc>
                <a:spcPct val="125000"/>
              </a:lnSpc>
              <a:spcBef>
                <a:spcPts val="0"/>
              </a:spcBef>
              <a:spcAft>
                <a:spcPts val="0"/>
              </a:spcAft>
            </a:pPr>
            <a:r>
              <a:rPr>
                <a:latin typeface="Pretendard"/>
                <a:ea typeface="Pretendard"/>
                <a:cs typeface="Pretendard"/>
              </a:rPr>
              <a:t>https://gonggam.korea.kr/newsContentView.es?b_list=9&amp;code_cd=&amp;content=&amp;mid=a12605000000&amp;nPage=1&amp;news_id=a19b4b5e-fad6-4a3a-9120-5e9488c3a8d9&amp;section_id=NCCD_CULTURE_TOTAL</a:t>
            </a:r>
          </a:p>
          <a:p xmlns:a="http://schemas.openxmlformats.org/drawingml/2006/main">
            <a:pPr>
              <a:lnSpc>
                <a:spcPct val="125000"/>
              </a:lnSpc>
              <a:spcBef>
                <a:spcPts val="0"/>
              </a:spcBef>
              <a:spcAft>
                <a:spcPts val="0"/>
              </a:spcAft>
            </a:pPr>
            <a:r>
              <a:rPr>
                <a:latin typeface="Pretendard"/>
                <a:ea typeface="Pretendard"/>
                <a:cs typeface="Pretendard"/>
              </a:rPr>
              <a:t>확인 범위: 기사 본문과 기술·실제 수색 사례 설명.</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S04 | K-공감 | 2025-11-21</a:t>
            </a:r>
          </a:p>
          <a:p xmlns:a="http://schemas.openxmlformats.org/drawingml/2006/main">
            <a:pPr>
              <a:lnSpc>
                <a:spcPct val="125000"/>
              </a:lnSpc>
              <a:spcBef>
                <a:spcPts val="0"/>
              </a:spcBef>
              <a:spcAft>
                <a:spcPts val="0"/>
              </a:spcAft>
            </a:pPr>
            <a:r>
              <a:rPr>
                <a:latin typeface="Pretendard"/>
                <a:ea typeface="Pretendard"/>
                <a:cs typeface="Pretendard"/>
              </a:rPr>
              <a:t>실종자를 찾아라 1초에 CCTV 1000대 분석 60시간 할 일을 단 1분에</a:t>
            </a:r>
          </a:p>
          <a:p xmlns:a="http://schemas.openxmlformats.org/drawingml/2006/main">
            <a:pPr>
              <a:lnSpc>
                <a:spcPct val="125000"/>
              </a:lnSpc>
              <a:spcBef>
                <a:spcPts val="0"/>
              </a:spcBef>
              <a:spcAft>
                <a:spcPts val="0"/>
              </a:spcAft>
            </a:pPr>
            <a:r>
              <a:rPr>
                <a:latin typeface="Pretendard"/>
                <a:ea typeface="Pretendard"/>
                <a:cs typeface="Pretendard"/>
              </a:rPr>
              <a:t>https://gonggam.korea.kr/newsContentView.es?mid=a12603000000&amp;news_id=a19b4b5e-fad6-4a3a-9120-5e9488c3a8d9&amp;section_id=</a:t>
            </a:r>
          </a:p>
          <a:p xmlns:a="http://schemas.openxmlformats.org/drawingml/2006/main">
            <a:pPr>
              <a:lnSpc>
                <a:spcPct val="125000"/>
              </a:lnSpc>
              <a:spcBef>
                <a:spcPts val="0"/>
              </a:spcBef>
              <a:spcAft>
                <a:spcPts val="0"/>
              </a:spcAft>
            </a:pPr>
            <a:r>
              <a:rPr>
                <a:latin typeface="Pretendard"/>
                <a:ea typeface="Pretendard"/>
                <a:cs typeface="Pretendard"/>
              </a:rPr>
              <a:t>확인 범위: 10월 3일 치매 노인 실종 사례</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영상 후보를 좁힌 뒤 사람의 확인과 현장 수색이 발견으로 이어졌다.</a:t>
            </a:r>
          </a:p>
          <a:p xmlns:a="http://schemas.openxmlformats.org/drawingml/2006/main">
            <a:pPr>
              <a:lnSpc>
                <a:spcPct val="125000"/>
              </a:lnSpc>
              <a:spcBef>
                <a:spcPts val="0"/>
              </a:spcBef>
              <a:spcAft>
                <a:spcPts val="0"/>
              </a:spcAft>
            </a:pPr>
            <a:r>
              <a:rPr>
                <a:latin typeface="Pretendard"/>
                <a:ea typeface="Pretendard"/>
                <a:cs typeface="Pretendard"/>
              </a:rPr>
              <a:t>확장 질문: 외형 검색은 국내 수색에서 어떤 일을 맡았는가?</a:t>
            </a:r>
          </a:p>
          <a:p xmlns:a="http://schemas.openxmlformats.org/drawingml/2006/main">
            <a:pPr>
              <a:lnSpc>
                <a:spcPct val="125000"/>
              </a:lnSpc>
              <a:spcBef>
                <a:spcPts val="0"/>
              </a:spcBef>
              <a:spcAft>
                <a:spcPts val="0"/>
              </a:spcAft>
            </a:pPr>
            <a:r>
              <a:rPr>
                <a:latin typeface="Pretendard"/>
                <a:ea typeface="Pretendard"/>
                <a:cs typeface="Pretendard"/>
              </a:rPr>
              <a:t>D23: 인상착의를 바탕으로 영상 속 후보를 좁히고 사람이 확인하는 실종자 수색 사례가 소개된다. 기사 자체가 얼굴사진 대조 방식과의 차이를 설명한다.</a:t>
            </a:r>
          </a:p>
          <a:p xmlns:a="http://schemas.openxmlformats.org/drawingml/2006/main">
            <a:pPr>
              <a:lnSpc>
                <a:spcPct val="125000"/>
              </a:lnSpc>
              <a:spcBef>
                <a:spcPts val="0"/>
              </a:spcBef>
              <a:spcAft>
                <a:spcPts val="0"/>
              </a:spcAft>
            </a:pPr>
            <a:r>
              <a:rPr>
                <a:latin typeface="Pretendard"/>
                <a:ea typeface="Pretendard"/>
                <a:cs typeface="Pretendard"/>
              </a:rPr>
              <a:t>적용 범위·한계: 실종자 수색·인상착의 검색의 성과를 범죄 용의자의 실시간 얼굴식별·체포 효과로 전용하지 않는다. 검색 속도 시연은 비교집단을 둔 효과평가가 아니다.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S04: 흰 모자·지팡이, 아파트 진입 영상, 지하 1층 기계실 발견</a:t>
            </a:r>
          </a:p>
          <a:p xmlns:a="http://schemas.openxmlformats.org/drawingml/2006/main">
            <a:pPr>
              <a:lnSpc>
                <a:spcPct val="125000"/>
              </a:lnSpc>
              <a:spcBef>
                <a:spcPts val="0"/>
              </a:spcBef>
              <a:spcAft>
                <a:spcPts val="0"/>
              </a:spcAft>
            </a:pPr>
            <a:r>
              <a:rPr>
                <a:latin typeface="Pretendard"/>
                <a:ea typeface="Pretendard"/>
                <a:cs typeface="Pretendard"/>
              </a:rPr>
              <a:t>적용 범위·한계: 관제센터 취재에 근거; 경찰 사건기록 미확보; 제목의 속도 수치를 평균 효과로 사용하지 않음</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W8-16 / 본편 필수 / INDIRECT</a:t>
            </a:r>
          </a:p>
          <a:p xmlns:a="http://schemas.openxmlformats.org/drawingml/2006/main">
            <a:pPr>
              <a:lnSpc>
                <a:spcPct val="125000"/>
              </a:lnSpc>
              <a:spcBef>
                <a:spcPts val="0"/>
              </a:spcBef>
              <a:spcAft>
                <a:spcPts val="0"/>
              </a:spcAft>
            </a:pPr>
            <a:r>
              <a:rPr>
                <a:latin typeface="Pretendard"/>
                <a:ea typeface="Pretendard"/>
                <a:cs typeface="Pretendard"/>
              </a:rPr>
              <a:t>기능은 외형·동선 검색이다. 실시간 얼굴 신원식별의 검거 실적으로 집계하지 않는다.</a:t>
            </a:r>
          </a:p>
          <a:p xmlns:a="http://schemas.openxmlformats.org/drawingml/2006/main">
            <a:pPr>
              <a:lnSpc>
                <a:spcPct val="125000"/>
              </a:lnSpc>
              <a:spcBef>
                <a:spcPts val="0"/>
              </a:spcBef>
              <a:spcAft>
                <a:spcPts val="0"/>
              </a:spcAft>
            </a:pPr>
            <a:r>
              <a:rPr>
                <a:latin typeface="Pretendard"/>
                <a:ea typeface="Pretendard"/>
                <a:cs typeface="Pretendard"/>
              </a:rPr>
              <a:t>이전 연결: 제도적 단계는 국내 검색·출동 사례에서 담당자들의 실제 행동으로 구체화된다.</a:t>
            </a:r>
          </a:p>
          <a:p xmlns:a="http://schemas.openxmlformats.org/drawingml/2006/main">
            <a:pPr>
              <a:lnSpc>
                <a:spcPct val="125000"/>
              </a:lnSpc>
              <a:spcBef>
                <a:spcPts val="0"/>
              </a:spcBef>
              <a:spcAft>
                <a:spcPts val="0"/>
              </a:spcAft>
            </a:pPr>
            <a:r>
              <a:rPr>
                <a:latin typeface="Pretendard"/>
                <a:ea typeface="Pretendard"/>
                <a:cs typeface="Pretendard"/>
              </a:rPr>
              <a:t>다음 연결: 실종자 외형 검색의 역할을 구분한 뒤 용의자 실시간 얼굴 대조의 실제 사례를 본다.</a:t>
            </a:r>
          </a:p>
          <a:p xmlns:a="http://schemas.openxmlformats.org/drawingml/2006/main">
            <a:pPr>
              <a:lnSpc>
                <a:spcPct val="125000"/>
              </a:lnSpc>
              <a:spcBef>
                <a:spcPts val="0"/>
              </a:spcBef>
              <a:spcAft>
                <a:spcPts val="0"/>
              </a:spcAft>
            </a:pPr>
            <a:r>
              <a:rPr>
                <a:latin typeface="Pretendard"/>
                <a:ea typeface="Pretendard"/>
                <a:cs typeface="Pretendard"/>
              </a:rPr>
              <a:t>운영시간 초안: 1.5분.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런던경찰은 이미 수배 중인 Patel을 Dalston의 실시간 얼굴인식 배치로 찾아냈다고 발표했습니다. 사건 보도는 경보와 체포에서 끝나지 않고 유죄 인정과 선고일까지 연결합니다. 선고 내용은 징역 12개월에 집행유예 12개월입니다. 특정 배치의 결과를 평가할 때에도 발견, 체포, 재판 결과를 각각 기록하면 기술이 맡은 역할을 더 구체적으로 설명할 수 있습니다.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S14 | Metropolitan Police | 2026-02-03</a:t>
            </a:r>
          </a:p>
          <a:p xmlns:a="http://schemas.openxmlformats.org/drawingml/2006/main">
            <a:pPr>
              <a:lnSpc>
                <a:spcPct val="125000"/>
              </a:lnSpc>
              <a:spcBef>
                <a:spcPts val="0"/>
              </a:spcBef>
              <a:spcAft>
                <a:spcPts val="0"/>
              </a:spcAft>
            </a:pPr>
            <a:r>
              <a:rPr>
                <a:latin typeface="Pretendard"/>
                <a:ea typeface="Pretendard"/>
                <a:cs typeface="Pretendard"/>
              </a:rPr>
              <a:t>Child sex offender identified through Met’s Live Facial Recognition sentenced</a:t>
            </a:r>
          </a:p>
          <a:p xmlns:a="http://schemas.openxmlformats.org/drawingml/2006/main">
            <a:pPr>
              <a:lnSpc>
                <a:spcPct val="125000"/>
              </a:lnSpc>
              <a:spcBef>
                <a:spcPts val="0"/>
              </a:spcBef>
              <a:spcAft>
                <a:spcPts val="0"/>
              </a:spcAft>
            </a:pPr>
            <a:r>
              <a:rPr>
                <a:latin typeface="Pretendard"/>
                <a:ea typeface="Pretendard"/>
                <a:cs typeface="Pretendard"/>
              </a:rPr>
              <a:t>https://news.met.police.uk/news/child-sex-offender-identified-through-mets-live-facial-recognition-sentenced-505799</a:t>
            </a:r>
          </a:p>
          <a:p xmlns:a="http://schemas.openxmlformats.org/drawingml/2006/main">
            <a:pPr>
              <a:lnSpc>
                <a:spcPct val="125000"/>
              </a:lnSpc>
              <a:spcBef>
                <a:spcPts val="0"/>
              </a:spcBef>
              <a:spcAft>
                <a:spcPts val="0"/>
              </a:spcAft>
            </a:pPr>
            <a:r>
              <a:rPr>
                <a:latin typeface="Pretendard"/>
                <a:ea typeface="Pretendard"/>
                <a:cs typeface="Pretendard"/>
              </a:rPr>
              <a:t>확인 범위: 2025-12-19 체포, 2026-02-02 선고 경위</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수배자 탐지·체포·재판의 각 단계가 실제 사건에서 연결됐다.</a:t>
            </a:r>
          </a:p>
          <a:p xmlns:a="http://schemas.openxmlformats.org/drawingml/2006/main">
            <a:pPr>
              <a:lnSpc>
                <a:spcPct val="125000"/>
              </a:lnSpc>
              <a:spcBef>
                <a:spcPts val="0"/>
              </a:spcBef>
              <a:spcAft>
                <a:spcPts val="0"/>
              </a:spcAft>
            </a:pPr>
            <a:r>
              <a:rPr>
                <a:latin typeface="Pretendard"/>
                <a:ea typeface="Pretendard"/>
                <a:cs typeface="Pretendard"/>
              </a:rPr>
              <a:t>확장 질문: 실시간 경보가 실제 수배자 사건에서 어떤 결과로 이어졌는가?</a:t>
            </a:r>
          </a:p>
          <a:p xmlns:a="http://schemas.openxmlformats.org/drawingml/2006/main">
            <a:pPr>
              <a:lnSpc>
                <a:spcPct val="125000"/>
              </a:lnSpc>
              <a:spcBef>
                <a:spcPts val="0"/>
              </a:spcBef>
              <a:spcAft>
                <a:spcPts val="0"/>
              </a:spcAft>
            </a:pPr>
            <a:r>
              <a:rPr>
                <a:latin typeface="Pretendard"/>
                <a:ea typeface="Pretendard"/>
                <a:cs typeface="Pretendard"/>
              </a:rPr>
              <a:t>S14: 공판 불출석 수배자 LFR 체포, 유죄 인정, 징역 12개월·집행유예 12개월</a:t>
            </a:r>
          </a:p>
          <a:p xmlns:a="http://schemas.openxmlformats.org/drawingml/2006/main">
            <a:pPr>
              <a:lnSpc>
                <a:spcPct val="125000"/>
              </a:lnSpc>
              <a:spcBef>
                <a:spcPts val="0"/>
              </a:spcBef>
              <a:spcAft>
                <a:spcPts val="0"/>
              </a:spcAft>
            </a:pPr>
            <a:r>
              <a:rPr>
                <a:latin typeface="Pretendard"/>
                <a:ea typeface="Pretendard"/>
                <a:cs typeface="Pretendard"/>
              </a:rPr>
              <a:t>적용 범위·한계: 선고문 원문 미확보; 경찰 발표에 따른 개별 사례</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W8-17 / 본편 필수 / DIRECT</a:t>
            </a:r>
          </a:p>
          <a:p xmlns:a="http://schemas.openxmlformats.org/drawingml/2006/main">
            <a:pPr>
              <a:lnSpc>
                <a:spcPct val="125000"/>
              </a:lnSpc>
              <a:spcBef>
                <a:spcPts val="0"/>
              </a:spcBef>
              <a:spcAft>
                <a:spcPts val="0"/>
              </a:spcAft>
            </a:pPr>
            <a:r>
              <a:rPr>
                <a:latin typeface="Pretendard"/>
                <a:ea typeface="Pretendard"/>
                <a:cs typeface="Pretendard"/>
              </a:rPr>
              <a:t>경찰 공식 발표에 근거. 원판결 전문 미확인을 과도한 화면 방어문구로 반복하지 않는다.</a:t>
            </a:r>
          </a:p>
          <a:p xmlns:a="http://schemas.openxmlformats.org/drawingml/2006/main">
            <a:pPr>
              <a:lnSpc>
                <a:spcPct val="125000"/>
              </a:lnSpc>
              <a:spcBef>
                <a:spcPts val="0"/>
              </a:spcBef>
              <a:spcAft>
                <a:spcPts val="0"/>
              </a:spcAft>
            </a:pPr>
            <a:r>
              <a:rPr>
                <a:latin typeface="Pretendard"/>
                <a:ea typeface="Pretendard"/>
                <a:cs typeface="Pretendard"/>
              </a:rPr>
              <a:t>이전 연결: 실종자 외형 검색의 역할을 구분한 뒤 용의자 실시간 얼굴 대조의 실제 사례를 본다.</a:t>
            </a:r>
          </a:p>
          <a:p xmlns:a="http://schemas.openxmlformats.org/drawingml/2006/main">
            <a:pPr>
              <a:lnSpc>
                <a:spcPct val="125000"/>
              </a:lnSpc>
              <a:spcBef>
                <a:spcPts val="0"/>
              </a:spcBef>
              <a:spcAft>
                <a:spcPts val="0"/>
              </a:spcAft>
            </a:pPr>
            <a:r>
              <a:rPr>
                <a:latin typeface="Pretendard"/>
                <a:ea typeface="Pretendard"/>
                <a:cs typeface="Pretendard"/>
              </a:rPr>
              <a:t>다음 연결: 한 체포 사례의 경과와 함께 여러 배치를 합친 연간 운영의 단위도 살핀다.</a:t>
            </a:r>
          </a:p>
          <a:p xmlns:a="http://schemas.openxmlformats.org/drawingml/2006/main">
            <a:pPr>
              <a:lnSpc>
                <a:spcPct val="125000"/>
              </a:lnSpc>
              <a:spcBef>
                <a:spcPts val="0"/>
              </a:spcBef>
              <a:spcAft>
                <a:spcPts val="0"/>
              </a:spcAft>
            </a:pPr>
            <a:r>
              <a:rPr>
                <a:latin typeface="Pretendard"/>
                <a:ea typeface="Pretendard"/>
                <a:cs typeface="Pretendard"/>
              </a:rPr>
              <a:t>운영시간 초안: 1.5분.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이 보고서의 집계 기간은 2024년 9월 11일부터 2025년 9월 10일까지입니다. 얼굴 통과 약 314만 회와 경보 2,077건, 체포 962건이 보고됐습니다. 배치는 범죄다발지역 203회와 행사보안 4회로 구분됩니다. 통과는 반복을 포함한 횟수이고, 체포 건수에는 다른 시점의 동일인 체포가 포함될 수 있습니다.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F05 | 런던경찰청(Metropolitan Police) | 발행 2025-09-30 / 대상 2024-09-11~2025-09-10</a:t>
            </a:r>
          </a:p>
          <a:p xmlns:a="http://schemas.openxmlformats.org/drawingml/2006/main">
            <a:pPr>
              <a:lnSpc>
                <a:spcPct val="125000"/>
              </a:lnSpc>
              <a:spcBef>
                <a:spcPts val="0"/>
              </a:spcBef>
              <a:spcAft>
                <a:spcPts val="0"/>
              </a:spcAft>
            </a:pPr>
            <a:r>
              <a:rPr>
                <a:latin typeface="Pretendard"/>
                <a:ea typeface="Pretendard"/>
                <a:cs typeface="Pretendard"/>
              </a:rPr>
              <a:t>Live Facial Recognition Annual Report 2025</a:t>
            </a:r>
          </a:p>
          <a:p xmlns:a="http://schemas.openxmlformats.org/drawingml/2006/main">
            <a:pPr>
              <a:lnSpc>
                <a:spcPct val="125000"/>
              </a:lnSpc>
              <a:spcBef>
                <a:spcPts val="0"/>
              </a:spcBef>
              <a:spcAft>
                <a:spcPts val="0"/>
              </a:spcAft>
            </a:pPr>
            <a:r>
              <a:rPr>
                <a:latin typeface="Pretendard"/>
                <a:ea typeface="Pretendard"/>
                <a:cs typeface="Pretendard"/>
              </a:rPr>
              <a:t>https://www.met.police.uk/SysSiteAssets/media/downloads/force-content/met/advice/lfr/other-lfr-documents/live-facial-recognition-annual-report-2025.pdf</a:t>
            </a:r>
          </a:p>
          <a:p xmlns:a="http://schemas.openxmlformats.org/drawingml/2006/main">
            <a:pPr>
              <a:lnSpc>
                <a:spcPct val="125000"/>
              </a:lnSpc>
              <a:spcBef>
                <a:spcPts val="0"/>
              </a:spcBef>
              <a:spcAft>
                <a:spcPts val="0"/>
              </a:spcAft>
            </a:pPr>
            <a:r>
              <a:rPr>
                <a:latin typeface="Pretendard"/>
                <a:ea typeface="Pretendard"/>
                <a:cs typeface="Pretendard"/>
              </a:rPr>
              <a:t>확인 범위: 공식 PDF 19쪽 중 배치·경보·체포 및 오류 통계.</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얼굴 통과·경보·체포는 서로 다른 단계의 운영 지표다.</a:t>
            </a:r>
          </a:p>
          <a:p xmlns:a="http://schemas.openxmlformats.org/drawingml/2006/main">
            <a:pPr>
              <a:lnSpc>
                <a:spcPct val="125000"/>
              </a:lnSpc>
              <a:spcBef>
                <a:spcPts val="0"/>
              </a:spcBef>
              <a:spcAft>
                <a:spcPts val="0"/>
              </a:spcAft>
            </a:pPr>
            <a:r>
              <a:rPr>
                <a:latin typeface="Pretendard"/>
                <a:ea typeface="Pretendard"/>
                <a:cs typeface="Pretendard"/>
              </a:rPr>
              <a:t>확장 질문: 런던의 연간 기록은 어떤 단위로 무엇을 집계했는가?</a:t>
            </a:r>
          </a:p>
          <a:p xmlns:a="http://schemas.openxmlformats.org/drawingml/2006/main">
            <a:pPr>
              <a:lnSpc>
                <a:spcPct val="125000"/>
              </a:lnSpc>
              <a:spcBef>
                <a:spcPts val="0"/>
              </a:spcBef>
              <a:spcAft>
                <a:spcPts val="0"/>
              </a:spcAft>
            </a:pPr>
            <a:r>
              <a:rPr>
                <a:latin typeface="Pretendard"/>
                <a:ea typeface="Pretendard"/>
                <a:cs typeface="Pretendard"/>
              </a:rPr>
              <a:t>F05: 범죄다발지역 203회와 행사보안 4회 배치를 구분한다. 전체 기간 약 314만 7,436회 얼굴 통과, 경보 2,077건(진경보 2,067·오경보 10), 체포 962건을 보고했다. 오경보 중 6건에서 현장 접촉이 있었고 그로 인한 체포는 0건이었다.</a:t>
            </a:r>
          </a:p>
          <a:p xmlns:a="http://schemas.openxmlformats.org/drawingml/2006/main">
            <a:pPr>
              <a:lnSpc>
                <a:spcPct val="125000"/>
              </a:lnSpc>
              <a:spcBef>
                <a:spcPts val="0"/>
              </a:spcBef>
              <a:spcAft>
                <a:spcPts val="0"/>
              </a:spcAft>
            </a:pPr>
            <a:r>
              <a:rPr>
                <a:latin typeface="Pretendard"/>
                <a:ea typeface="Pretendard"/>
                <a:cs typeface="Pretendard"/>
              </a:rPr>
              <a:t>적용 범위·한계: 경찰의 자체 집계다. 얼굴 통과는 고유 인원수가 아니며 체포는 유죄가 아니다. 전후·대조집단 비교가 없어 범죄 감소의 인과효과를 입증하지 않는다.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W8-18 / 본편 필수 / DIRECT</a:t>
            </a:r>
          </a:p>
          <a:p xmlns:a="http://schemas.openxmlformats.org/drawingml/2006/main">
            <a:pPr>
              <a:lnSpc>
                <a:spcPct val="125000"/>
              </a:lnSpc>
              <a:spcBef>
                <a:spcPts val="0"/>
              </a:spcBef>
              <a:spcAft>
                <a:spcPts val="0"/>
              </a:spcAft>
            </a:pPr>
            <a:r>
              <a:rPr>
                <a:latin typeface="Pretendard"/>
                <a:ea typeface="Pretendard"/>
                <a:cs typeface="Pretendard"/>
              </a:rPr>
              <a:t>원표 PDF p.5. 유죄나 추가 범죄예방 효과로 확대하지 않는다.</a:t>
            </a:r>
          </a:p>
          <a:p xmlns:a="http://schemas.openxmlformats.org/drawingml/2006/main">
            <a:pPr>
              <a:lnSpc>
                <a:spcPct val="125000"/>
              </a:lnSpc>
              <a:spcBef>
                <a:spcPts val="0"/>
              </a:spcBef>
              <a:spcAft>
                <a:spcPts val="0"/>
              </a:spcAft>
            </a:pPr>
            <a:r>
              <a:rPr>
                <a:latin typeface="Pretendard"/>
                <a:ea typeface="Pretendard"/>
                <a:cs typeface="Pretendard"/>
              </a:rPr>
              <a:t>이전 연결: 한 체포 사례의 경과와 함께 여러 배치를 합친 연간 운영의 단위도 살핀다.</a:t>
            </a:r>
          </a:p>
          <a:p xmlns:a="http://schemas.openxmlformats.org/drawingml/2006/main">
            <a:pPr>
              <a:lnSpc>
                <a:spcPct val="125000"/>
              </a:lnSpc>
              <a:spcBef>
                <a:spcPts val="0"/>
              </a:spcBef>
              <a:spcAft>
                <a:spcPts val="0"/>
              </a:spcAft>
            </a:pPr>
            <a:r>
              <a:rPr>
                <a:latin typeface="Pretendard"/>
                <a:ea typeface="Pretendard"/>
                <a:cs typeface="Pretendard"/>
              </a:rPr>
              <a:t>다음 연결: 전체 실적 중 잘못된 경보가 시민에게 어떤 조치로 이어졌는지를 분리한다.</a:t>
            </a:r>
          </a:p>
          <a:p xmlns:a="http://schemas.openxmlformats.org/drawingml/2006/main">
            <a:pPr>
              <a:lnSpc>
                <a:spcPct val="125000"/>
              </a:lnSpc>
              <a:spcBef>
                <a:spcPts val="0"/>
              </a:spcBef>
              <a:spcAft>
                <a:spcPts val="0"/>
              </a:spcAft>
            </a:pPr>
            <a:r>
              <a:rPr>
                <a:latin typeface="Pretendard"/>
                <a:ea typeface="Pretendard"/>
                <a:cs typeface="Pretendard"/>
              </a:rPr>
              <a:t>운영시간 초안: 2분.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오경보 10건 중 6건에서는 경찰의 현장 접촉이 있었습니다. 보고서는 이 오경보 때문에 체포된 사례는 없었다고 기록합니다. 오인체포까지 이어지지 않더라도 통행인은 정지나 질문을 겪을 수 있습니다. 따라서 오류를 기록할 때에는 경보의 정확도와 시민에게 실제로 가해진 조치의 정도를 함께 남길 필요가 있습니다.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F05 | 런던경찰청(Metropolitan Police) | 발행 2025-09-30 / 대상 2024-09-11~2025-09-10</a:t>
            </a:r>
          </a:p>
          <a:p xmlns:a="http://schemas.openxmlformats.org/drawingml/2006/main">
            <a:pPr>
              <a:lnSpc>
                <a:spcPct val="125000"/>
              </a:lnSpc>
              <a:spcBef>
                <a:spcPts val="0"/>
              </a:spcBef>
              <a:spcAft>
                <a:spcPts val="0"/>
              </a:spcAft>
            </a:pPr>
            <a:r>
              <a:rPr>
                <a:latin typeface="Pretendard"/>
                <a:ea typeface="Pretendard"/>
                <a:cs typeface="Pretendard"/>
              </a:rPr>
              <a:t>Live Facial Recognition Annual Report 2025</a:t>
            </a:r>
          </a:p>
          <a:p xmlns:a="http://schemas.openxmlformats.org/drawingml/2006/main">
            <a:pPr>
              <a:lnSpc>
                <a:spcPct val="125000"/>
              </a:lnSpc>
              <a:spcBef>
                <a:spcPts val="0"/>
              </a:spcBef>
              <a:spcAft>
                <a:spcPts val="0"/>
              </a:spcAft>
            </a:pPr>
            <a:r>
              <a:rPr>
                <a:latin typeface="Pretendard"/>
                <a:ea typeface="Pretendard"/>
                <a:cs typeface="Pretendard"/>
              </a:rPr>
              <a:t>https://www.met.police.uk/SysSiteAssets/media/downloads/force-content/met/advice/lfr/other-lfr-documents/live-facial-recognition-annual-report-2025.pdf</a:t>
            </a:r>
          </a:p>
          <a:p xmlns:a="http://schemas.openxmlformats.org/drawingml/2006/main">
            <a:pPr>
              <a:lnSpc>
                <a:spcPct val="125000"/>
              </a:lnSpc>
              <a:spcBef>
                <a:spcPts val="0"/>
              </a:spcBef>
              <a:spcAft>
                <a:spcPts val="0"/>
              </a:spcAft>
            </a:pPr>
            <a:r>
              <a:rPr>
                <a:latin typeface="Pretendard"/>
                <a:ea typeface="Pretendard"/>
                <a:cs typeface="Pretendard"/>
              </a:rPr>
              <a:t>확인 범위: 공식 PDF 19쪽 중 배치·경보·체포 및 오류 통계.</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오경보·오인접촉·오인체포를 각각 기록해야 실제 부담을 알 수 있다.</a:t>
            </a:r>
          </a:p>
          <a:p xmlns:a="http://schemas.openxmlformats.org/drawingml/2006/main">
            <a:pPr>
              <a:lnSpc>
                <a:spcPct val="125000"/>
              </a:lnSpc>
              <a:spcBef>
                <a:spcPts val="0"/>
              </a:spcBef>
              <a:spcAft>
                <a:spcPts val="0"/>
              </a:spcAft>
            </a:pPr>
            <a:r>
              <a:rPr>
                <a:latin typeface="Pretendard"/>
                <a:ea typeface="Pretendard"/>
                <a:cs typeface="Pretendard"/>
              </a:rPr>
              <a:t>확장 질문: 잘못된 경보는 시민에게 어느 단계까지 영향을 미쳤는가?</a:t>
            </a:r>
          </a:p>
          <a:p xmlns:a="http://schemas.openxmlformats.org/drawingml/2006/main">
            <a:pPr>
              <a:lnSpc>
                <a:spcPct val="125000"/>
              </a:lnSpc>
              <a:spcBef>
                <a:spcPts val="0"/>
              </a:spcBef>
              <a:spcAft>
                <a:spcPts val="0"/>
              </a:spcAft>
            </a:pPr>
            <a:r>
              <a:rPr>
                <a:latin typeface="Pretendard"/>
                <a:ea typeface="Pretendard"/>
                <a:cs typeface="Pretendard"/>
              </a:rPr>
              <a:t>F05: 범죄다발지역 203회와 행사보안 4회 배치를 구분한다. 전체 기간 약 314만 7,436회 얼굴 통과, 경보 2,077건(진경보 2,067·오경보 10), 체포 962건을 보고했다. 오경보 중 6건에서 현장 접촉이 있었고 그로 인한 체포는 0건이었다.</a:t>
            </a:r>
          </a:p>
          <a:p xmlns:a="http://schemas.openxmlformats.org/drawingml/2006/main">
            <a:pPr>
              <a:lnSpc>
                <a:spcPct val="125000"/>
              </a:lnSpc>
              <a:spcBef>
                <a:spcPts val="0"/>
              </a:spcBef>
              <a:spcAft>
                <a:spcPts val="0"/>
              </a:spcAft>
            </a:pPr>
            <a:r>
              <a:rPr>
                <a:latin typeface="Pretendard"/>
                <a:ea typeface="Pretendard"/>
                <a:cs typeface="Pretendard"/>
              </a:rPr>
              <a:t>적용 범위·한계: 경찰의 자체 집계다. 얼굴 통과는 고유 인원수가 아니며 체포는 유죄가 아니다. 전후·대조집단 비교가 없어 범죄 감소의 인과효과를 입증하지 않는다.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W8-19 / 본편 필수 / DIRECT</a:t>
            </a:r>
          </a:p>
          <a:p xmlns:a="http://schemas.openxmlformats.org/drawingml/2006/main">
            <a:pPr>
              <a:lnSpc>
                <a:spcPct val="125000"/>
              </a:lnSpc>
              <a:spcBef>
                <a:spcPts val="0"/>
              </a:spcBef>
              <a:spcAft>
                <a:spcPts val="0"/>
              </a:spcAft>
            </a:pPr>
            <a:r>
              <a:rPr>
                <a:latin typeface="Pretendard"/>
                <a:ea typeface="Pretendard"/>
                <a:cs typeface="Pretendard"/>
              </a:rPr>
              <a:t>10→6→0은 동일 오류 경보의 후속 처리 흐름이다. 전체 체포962건의 흐름으로 연결하지 않는다.</a:t>
            </a:r>
          </a:p>
          <a:p xmlns:a="http://schemas.openxmlformats.org/drawingml/2006/main">
            <a:pPr>
              <a:lnSpc>
                <a:spcPct val="125000"/>
              </a:lnSpc>
              <a:spcBef>
                <a:spcPts val="0"/>
              </a:spcBef>
              <a:spcAft>
                <a:spcPts val="0"/>
              </a:spcAft>
            </a:pPr>
            <a:r>
              <a:rPr>
                <a:latin typeface="Pretendard"/>
                <a:ea typeface="Pretendard"/>
                <a:cs typeface="Pretendard"/>
              </a:rPr>
              <a:t>이전 연결: 전체 실적 중 잘못된 경보가 시민에게 어떤 조치로 이어졌는지를 분리한다.</a:t>
            </a:r>
          </a:p>
          <a:p xmlns:a="http://schemas.openxmlformats.org/drawingml/2006/main">
            <a:pPr>
              <a:lnSpc>
                <a:spcPct val="125000"/>
              </a:lnSpc>
              <a:spcBef>
                <a:spcPts val="0"/>
              </a:spcBef>
              <a:spcAft>
                <a:spcPts val="0"/>
              </a:spcAft>
            </a:pPr>
            <a:r>
              <a:rPr>
                <a:latin typeface="Pretendard"/>
                <a:ea typeface="Pretendard"/>
                <a:cs typeface="Pretendard"/>
              </a:rPr>
              <a:t>다음 연결: 오경보 건수의 의미는 전체 경보와 통과 횟수 중 어떤 분모를 쓰는지에 달려 있다.</a:t>
            </a:r>
          </a:p>
          <a:p xmlns:a="http://schemas.openxmlformats.org/drawingml/2006/main">
            <a:pPr>
              <a:lnSpc>
                <a:spcPct val="125000"/>
              </a:lnSpc>
              <a:spcBef>
                <a:spcPts val="0"/>
              </a:spcBef>
              <a:spcAft>
                <a:spcPts val="0"/>
              </a:spcAft>
            </a:pPr>
            <a:r>
              <a:rPr>
                <a:latin typeface="Pretendard"/>
                <a:ea typeface="Pretendard"/>
                <a:cs typeface="Pretendard"/>
              </a:rPr>
              <a:t>운영시간 초안: 2분.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같은 10건을 경보 전체로 나누면 약 0.48퍼센트이고, 얼굴 통과 전체로 나누면 100만 회당 약 3.18건입니다. 앞 수치는 경보를 받았을 때의 신뢰성을, 뒤 수치는 대량 처리에서 발생하는 오경보 빈도를 설명합니다. 미탐지율에는 명단 인물이 실제로 몇 번 지나갔는지라는 별도의 정답 자료가 필요합니다.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F05 | 런던경찰청(Metropolitan Police) | 발행 2025-09-30 / 대상 2024-09-11~2025-09-10</a:t>
            </a:r>
          </a:p>
          <a:p xmlns:a="http://schemas.openxmlformats.org/drawingml/2006/main">
            <a:pPr>
              <a:lnSpc>
                <a:spcPct val="125000"/>
              </a:lnSpc>
              <a:spcBef>
                <a:spcPts val="0"/>
              </a:spcBef>
              <a:spcAft>
                <a:spcPts val="0"/>
              </a:spcAft>
            </a:pPr>
            <a:r>
              <a:rPr>
                <a:latin typeface="Pretendard"/>
                <a:ea typeface="Pretendard"/>
                <a:cs typeface="Pretendard"/>
              </a:rPr>
              <a:t>Live Facial Recognition Annual Report 2025</a:t>
            </a:r>
          </a:p>
          <a:p xmlns:a="http://schemas.openxmlformats.org/drawingml/2006/main">
            <a:pPr>
              <a:lnSpc>
                <a:spcPct val="125000"/>
              </a:lnSpc>
              <a:spcBef>
                <a:spcPts val="0"/>
              </a:spcBef>
              <a:spcAft>
                <a:spcPts val="0"/>
              </a:spcAft>
            </a:pPr>
            <a:r>
              <a:rPr>
                <a:latin typeface="Pretendard"/>
                <a:ea typeface="Pretendard"/>
                <a:cs typeface="Pretendard"/>
              </a:rPr>
              <a:t>https://www.met.police.uk/SysSiteAssets/media/downloads/force-content/met/advice/lfr/other-lfr-documents/live-facial-recognition-annual-report-2025.pdf</a:t>
            </a:r>
          </a:p>
          <a:p xmlns:a="http://schemas.openxmlformats.org/drawingml/2006/main">
            <a:pPr>
              <a:lnSpc>
                <a:spcPct val="125000"/>
              </a:lnSpc>
              <a:spcBef>
                <a:spcPts val="0"/>
              </a:spcBef>
              <a:spcAft>
                <a:spcPts val="0"/>
              </a:spcAft>
            </a:pPr>
            <a:r>
              <a:rPr>
                <a:latin typeface="Pretendard"/>
                <a:ea typeface="Pretendard"/>
                <a:cs typeface="Pretendard"/>
              </a:rPr>
              <a:t>확인 범위: 공식 PDF 19쪽 중 배치·경보·체포 및 오류 통계.</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분모가 다르면 경보 신뢰성과 통과당 오류 빈도라는 서로 다른 질문에 답한다.</a:t>
            </a:r>
          </a:p>
          <a:p xmlns:a="http://schemas.openxmlformats.org/drawingml/2006/main">
            <a:pPr>
              <a:lnSpc>
                <a:spcPct val="125000"/>
              </a:lnSpc>
              <a:spcBef>
                <a:spcPts val="0"/>
              </a:spcBef>
              <a:spcAft>
                <a:spcPts val="0"/>
              </a:spcAft>
            </a:pPr>
            <a:r>
              <a:rPr>
                <a:latin typeface="Pretendard"/>
                <a:ea typeface="Pretendard"/>
                <a:cs typeface="Pretendard"/>
              </a:rPr>
              <a:t>확장 질문: 같은 오류 건수인데 비율이 다른 이유는 무엇인가?</a:t>
            </a:r>
          </a:p>
          <a:p xmlns:a="http://schemas.openxmlformats.org/drawingml/2006/main">
            <a:pPr>
              <a:lnSpc>
                <a:spcPct val="125000"/>
              </a:lnSpc>
              <a:spcBef>
                <a:spcPts val="0"/>
              </a:spcBef>
              <a:spcAft>
                <a:spcPts val="0"/>
              </a:spcAft>
            </a:pPr>
            <a:r>
              <a:rPr>
                <a:latin typeface="Pretendard"/>
                <a:ea typeface="Pretendard"/>
                <a:cs typeface="Pretendard"/>
              </a:rPr>
              <a:t>F05: 범죄다발지역 203회와 행사보안 4회 배치를 구분한다. 전체 기간 약 314만 7,436회 얼굴 통과, 경보 2,077건(진경보 2,067·오경보 10), 체포 962건을 보고했다. 오경보 중 6건에서 현장 접촉이 있었고 그로 인한 체포는 0건이었다.</a:t>
            </a:r>
          </a:p>
          <a:p xmlns:a="http://schemas.openxmlformats.org/drawingml/2006/main">
            <a:pPr>
              <a:lnSpc>
                <a:spcPct val="125000"/>
              </a:lnSpc>
              <a:spcBef>
                <a:spcPts val="0"/>
              </a:spcBef>
              <a:spcAft>
                <a:spcPts val="0"/>
              </a:spcAft>
            </a:pPr>
            <a:r>
              <a:rPr>
                <a:latin typeface="Pretendard"/>
                <a:ea typeface="Pretendard"/>
                <a:cs typeface="Pretendard"/>
              </a:rPr>
              <a:t>적용 범위·한계: 경찰의 자체 집계다. 얼굴 통과는 고유 인원수가 아니며 체포는 유죄가 아니다. 전후·대조집단 비교가 없어 범죄 감소의 인과효과를 입증하지 않는다.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W8-20 / 본편 필수 / DIRECT</a:t>
            </a:r>
          </a:p>
          <a:p xmlns:a="http://schemas.openxmlformats.org/drawingml/2006/main">
            <a:pPr>
              <a:lnSpc>
                <a:spcPct val="125000"/>
              </a:lnSpc>
              <a:spcBef>
                <a:spcPts val="0"/>
              </a:spcBef>
              <a:spcAft>
                <a:spcPts val="0"/>
              </a:spcAft>
            </a:pPr>
            <a:r>
              <a:rPr>
                <a:latin typeface="Pretendard"/>
                <a:ea typeface="Pretendard"/>
                <a:cs typeface="Pretendard"/>
              </a:rPr>
              <a:t>기존 실측자료의 산술 재계산. 가상 모집단을 만들지 않았다.</a:t>
            </a:r>
          </a:p>
          <a:p xmlns:a="http://schemas.openxmlformats.org/drawingml/2006/main">
            <a:pPr>
              <a:lnSpc>
                <a:spcPct val="125000"/>
              </a:lnSpc>
              <a:spcBef>
                <a:spcPts val="0"/>
              </a:spcBef>
              <a:spcAft>
                <a:spcPts val="0"/>
              </a:spcAft>
            </a:pPr>
            <a:r>
              <a:rPr>
                <a:latin typeface="Pretendard"/>
                <a:ea typeface="Pretendard"/>
                <a:cs typeface="Pretendard"/>
              </a:rPr>
              <a:t>이전 연결: 오경보 건수의 의미는 전체 경보와 통과 횟수 중 어떤 분모를 쓰는지에 달려 있다.</a:t>
            </a:r>
          </a:p>
          <a:p xmlns:a="http://schemas.openxmlformats.org/drawingml/2006/main">
            <a:pPr>
              <a:lnSpc>
                <a:spcPct val="125000"/>
              </a:lnSpc>
              <a:spcBef>
                <a:spcPts val="0"/>
              </a:spcBef>
              <a:spcAft>
                <a:spcPts val="0"/>
              </a:spcAft>
            </a:pPr>
            <a:r>
              <a:rPr>
                <a:latin typeface="Pretendard"/>
                <a:ea typeface="Pretendard"/>
                <a:cs typeface="Pretendard"/>
              </a:rPr>
              <a:t>다음 연결: 측정 단위를 정하면 기존 수사와 비교할 추가 성과의 지표를 설계할 수 있다.</a:t>
            </a:r>
          </a:p>
          <a:p xmlns:a="http://schemas.openxmlformats.org/drawingml/2006/main">
            <a:pPr>
              <a:lnSpc>
                <a:spcPct val="125000"/>
              </a:lnSpc>
              <a:spcBef>
                <a:spcPts val="0"/>
              </a:spcBef>
              <a:spcAft>
                <a:spcPts val="0"/>
              </a:spcAft>
            </a:pPr>
            <a:r>
              <a:rPr>
                <a:latin typeface="Pretendard"/>
                <a:ea typeface="Pretendard"/>
                <a:cs typeface="Pretendard"/>
              </a:rPr>
              <a:t>운영시간 초안: 3분.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체포 실적은 실제 활동의 산출을 보여 줍니다. 실시간 얼굴식별을 추가해서 무엇이 개선됐는지를 판단하려면 기존 수사에서 걸린 시간과 필요한 인력, 사건의 처리결과가 함께 있어야 합니다. 국내에서는 이 단계들을 연결한 공개 원표를 확보하지 못했습니다. 그러므로 도입 평가를 설계할 때부터 비교할 수단과 기록할 지표를 정하는 일이 남습니다.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F05 | 런던경찰청(Metropolitan Police) | 발행 2025-09-30 / 대상 2024-09-11~2025-09-10</a:t>
            </a:r>
          </a:p>
          <a:p xmlns:a="http://schemas.openxmlformats.org/drawingml/2006/main">
            <a:pPr>
              <a:lnSpc>
                <a:spcPct val="125000"/>
              </a:lnSpc>
              <a:spcBef>
                <a:spcPts val="0"/>
              </a:spcBef>
              <a:spcAft>
                <a:spcPts val="0"/>
              </a:spcAft>
            </a:pPr>
            <a:r>
              <a:rPr>
                <a:latin typeface="Pretendard"/>
                <a:ea typeface="Pretendard"/>
                <a:cs typeface="Pretendard"/>
              </a:rPr>
              <a:t>Live Facial Recognition Annual Report 2025</a:t>
            </a:r>
          </a:p>
          <a:p xmlns:a="http://schemas.openxmlformats.org/drawingml/2006/main">
            <a:pPr>
              <a:lnSpc>
                <a:spcPct val="125000"/>
              </a:lnSpc>
              <a:spcBef>
                <a:spcPts val="0"/>
              </a:spcBef>
              <a:spcAft>
                <a:spcPts val="0"/>
              </a:spcAft>
            </a:pPr>
            <a:r>
              <a:rPr>
                <a:latin typeface="Pretendard"/>
                <a:ea typeface="Pretendard"/>
                <a:cs typeface="Pretendard"/>
              </a:rPr>
              <a:t>https://www.met.police.uk/SysSiteAssets/media/downloads/force-content/met/advice/lfr/other-lfr-documents/live-facial-recognition-annual-report-2025.pdf</a:t>
            </a:r>
          </a:p>
          <a:p xmlns:a="http://schemas.openxmlformats.org/drawingml/2006/main">
            <a:pPr>
              <a:lnSpc>
                <a:spcPct val="125000"/>
              </a:lnSpc>
              <a:spcBef>
                <a:spcPts val="0"/>
              </a:spcBef>
              <a:spcAft>
                <a:spcPts val="0"/>
              </a:spcAft>
            </a:pPr>
            <a:r>
              <a:rPr>
                <a:latin typeface="Pretendard"/>
                <a:ea typeface="Pretendard"/>
                <a:cs typeface="Pretendard"/>
              </a:rPr>
              <a:t>확인 범위: 공식 PDF 19쪽 중 배치·경보·체포 및 오류 통계.</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D39 | 한국정보경영평가 / 연구책임자 윤병호, 제주특별자치도 연구용역; 제주도의회 공개 PDF | 2024-10</a:t>
            </a:r>
          </a:p>
          <a:p xmlns:a="http://schemas.openxmlformats.org/drawingml/2006/main">
            <a:pPr>
              <a:lnSpc>
                <a:spcPct val="125000"/>
              </a:lnSpc>
              <a:spcBef>
                <a:spcPts val="0"/>
              </a:spcBef>
              <a:spcAft>
                <a:spcPts val="0"/>
              </a:spcAft>
            </a:pPr>
            <a:r>
              <a:rPr>
                <a:latin typeface="Pretendard"/>
                <a:ea typeface="Pretendard"/>
                <a:cs typeface="Pretendard"/>
              </a:rPr>
              <a:t>CCTV 통합관제센터 혁신을 위한 운영개선 효율화 방안 연구 최종보고서</a:t>
            </a:r>
          </a:p>
          <a:p xmlns:a="http://schemas.openxmlformats.org/drawingml/2006/main">
            <a:pPr>
              <a:lnSpc>
                <a:spcPct val="125000"/>
              </a:lnSpc>
              <a:spcBef>
                <a:spcPts val="0"/>
              </a:spcBef>
              <a:spcAft>
                <a:spcPts val="0"/>
              </a:spcAft>
            </a:pPr>
            <a:r>
              <a:rPr>
                <a:latin typeface="Pretendard"/>
                <a:ea typeface="Pretendard"/>
                <a:cs typeface="Pretendard"/>
              </a:rPr>
              <a:t>https://record.council.jeju.kr/CLRecords/Files/FileAppendix/a12/A044556.pdf</a:t>
            </a:r>
          </a:p>
          <a:p xmlns:a="http://schemas.openxmlformats.org/drawingml/2006/main">
            <a:pPr>
              <a:lnSpc>
                <a:spcPct val="125000"/>
              </a:lnSpc>
              <a:spcBef>
                <a:spcPts val="0"/>
              </a:spcBef>
              <a:spcAft>
                <a:spcPts val="0"/>
              </a:spcAft>
            </a:pPr>
            <a:r>
              <a:rPr>
                <a:latin typeface="Pretendard"/>
                <a:ea typeface="Pretendard"/>
                <a:cs typeface="Pretendard"/>
              </a:rPr>
              <a:t>확인 범위: 290쪽 PDF 중 제출문, 표37·38·45, 부록 요원 설문 원표, 표135–136의 추계 및 운영방침 제안 관련 부분.</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기존 수사와 비교한 시간·사건 결과·피해·비용 기록이 추가효과 판단에 필요하다.</a:t>
            </a:r>
          </a:p>
          <a:p xmlns:a="http://schemas.openxmlformats.org/drawingml/2006/main">
            <a:pPr>
              <a:lnSpc>
                <a:spcPct val="125000"/>
              </a:lnSpc>
              <a:spcBef>
                <a:spcPts val="0"/>
              </a:spcBef>
              <a:spcAft>
                <a:spcPts val="0"/>
              </a:spcAft>
            </a:pPr>
            <a:r>
              <a:rPr>
                <a:latin typeface="Pretendard"/>
                <a:ea typeface="Pretendard"/>
                <a:cs typeface="Pretendard"/>
              </a:rPr>
              <a:t>확장 질문: 도입으로 더 얻은 성과는 어떻게 확인하는가?</a:t>
            </a:r>
          </a:p>
          <a:p xmlns:a="http://schemas.openxmlformats.org/drawingml/2006/main">
            <a:pPr>
              <a:lnSpc>
                <a:spcPct val="125000"/>
              </a:lnSpc>
              <a:spcBef>
                <a:spcPts val="0"/>
              </a:spcBef>
              <a:spcAft>
                <a:spcPts val="0"/>
              </a:spcAft>
            </a:pPr>
            <a:r>
              <a:rPr>
                <a:latin typeface="Pretendard"/>
                <a:ea typeface="Pretendard"/>
                <a:cs typeface="Pretendard"/>
              </a:rPr>
              <a:t>F05: 범죄다발지역 203회와 행사보안 4회 배치를 구분한다. 전체 기간 약 314만 7,436회 얼굴 통과, 경보 2,077건(진경보 2,067·오경보 10), 체포 962건을 보고했다. 오경보 중 6건에서 현장 접촉이 있었고 그로 인한 체포는 0건이었다.</a:t>
            </a:r>
          </a:p>
          <a:p xmlns:a="http://schemas.openxmlformats.org/drawingml/2006/main">
            <a:pPr>
              <a:lnSpc>
                <a:spcPct val="125000"/>
              </a:lnSpc>
              <a:spcBef>
                <a:spcPts val="0"/>
              </a:spcBef>
              <a:spcAft>
                <a:spcPts val="0"/>
              </a:spcAft>
            </a:pPr>
            <a:r>
              <a:rPr>
                <a:latin typeface="Pretendard"/>
                <a:ea typeface="Pretendard"/>
                <a:cs typeface="Pretendard"/>
              </a:rPr>
              <a:t>적용 범위·한계: 경찰의 자체 집계다. 얼굴 통과는 고유 인원수가 아니며 체포는 유죄가 아니다. 전후·대조집단 비교가 없어 범죄 감소의 인과효과를 입증하지 않는다.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D39: 2023년 관제요원 101명·상주 경찰 3명, 표37의 예산 합계 11,755,443천원. 2023년 요원 설문 총 35명 중 정확도 문항 응답 34명이며 27명이 지능형 선별관제 체감 정확도를 50% 미만으로 응답했다.</a:t>
            </a:r>
          </a:p>
          <a:p xmlns:a="http://schemas.openxmlformats.org/drawingml/2006/main">
            <a:pPr>
              <a:lnSpc>
                <a:spcPct val="125000"/>
              </a:lnSpc>
              <a:spcBef>
                <a:spcPts val="0"/>
              </a:spcBef>
              <a:spcAft>
                <a:spcPts val="0"/>
              </a:spcAft>
            </a:pPr>
            <a:r>
              <a:rPr>
                <a:latin typeface="Pretendard"/>
                <a:ea typeface="Pretendard"/>
                <a:cs typeface="Pretendard"/>
              </a:rPr>
              <a:t>적용 범위·한계: 일반 통합관제·선별관제의 단일 지역 자료이다. 정확도 문항은 요원의 인식 조사이고 비용 수치는 전체 센터의 예산이다. 표135–136은 가정에 따른 미래 추계이다.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W8-21 / 본편 필수 / DIRECT</a:t>
            </a:r>
          </a:p>
          <a:p xmlns:a="http://schemas.openxmlformats.org/drawingml/2006/main">
            <a:pPr>
              <a:lnSpc>
                <a:spcPct val="125000"/>
              </a:lnSpc>
              <a:spcBef>
                <a:spcPts val="0"/>
              </a:spcBef>
              <a:spcAft>
                <a:spcPts val="0"/>
              </a:spcAft>
            </a:pPr>
            <a:r>
              <a:rPr>
                <a:latin typeface="Pretendard"/>
                <a:ea typeface="Pretendard"/>
                <a:cs typeface="Pretendard"/>
              </a:rPr>
              <a:t>교수자 구성 평가안. 검증된 국내 효과나 실제 시행 중인 평가제도로 귀속하지 않는다.</a:t>
            </a:r>
          </a:p>
          <a:p xmlns:a="http://schemas.openxmlformats.org/drawingml/2006/main">
            <a:pPr>
              <a:lnSpc>
                <a:spcPct val="125000"/>
              </a:lnSpc>
              <a:spcBef>
                <a:spcPts val="0"/>
              </a:spcBef>
              <a:spcAft>
                <a:spcPts val="0"/>
              </a:spcAft>
            </a:pPr>
            <a:r>
              <a:rPr>
                <a:latin typeface="Pretendard"/>
                <a:ea typeface="Pretendard"/>
                <a:cs typeface="Pretendard"/>
              </a:rPr>
              <a:t>이전 연결: 측정 단위를 정하면 기존 수사와 비교할 추가 성과의 지표를 설계할 수 있다.</a:t>
            </a:r>
          </a:p>
          <a:p xmlns:a="http://schemas.openxmlformats.org/drawingml/2006/main">
            <a:pPr>
              <a:lnSpc>
                <a:spcPct val="125000"/>
              </a:lnSpc>
              <a:spcBef>
                <a:spcPts val="0"/>
              </a:spcBef>
              <a:spcAft>
                <a:spcPts val="0"/>
              </a:spcAft>
            </a:pPr>
            <a:r>
              <a:rPr>
                <a:latin typeface="Pretendard"/>
                <a:ea typeface="Pretendard"/>
                <a:cs typeface="Pretendard"/>
              </a:rPr>
              <a:t>다음 연결: 성과 비교에는 현장에서 반복적으로 필요한 인력과 비용이 포함된다.</a:t>
            </a:r>
          </a:p>
          <a:p xmlns:a="http://schemas.openxmlformats.org/drawingml/2006/main">
            <a:pPr>
              <a:lnSpc>
                <a:spcPct val="125000"/>
              </a:lnSpc>
              <a:spcBef>
                <a:spcPts val="0"/>
              </a:spcBef>
              <a:spcAft>
                <a:spcPts val="0"/>
              </a:spcAft>
            </a:pPr>
            <a:r>
              <a:rPr>
                <a:latin typeface="Pretendard"/>
                <a:ea typeface="Pretendard"/>
                <a:cs typeface="Pretendard"/>
              </a:rPr>
              <a:t>운영시간 초안: 2분.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제주 보고서의 2023년 전체 센터 예산은 약 117억 5,544만 원입니다. 인건비와 유지보수처럼 매년 반복되는 비용이 포함됩니다. 요원 101명과 상주 경찰 3명이라는 인력도 함께 기록돼 있습니다. 새 얼굴식별 기능의 예산을 짤 때에는 구매비에 더해 경보를 확인할 인력, 교육, 감독과 구제에 필요한 자원을 산정해야 합니다.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D39 | 한국정보경영평가 / 연구책임자 윤병호, 제주특별자치도 연구용역; 제주도의회 공개 PDF | 2024-10</a:t>
            </a:r>
          </a:p>
          <a:p xmlns:a="http://schemas.openxmlformats.org/drawingml/2006/main">
            <a:pPr>
              <a:lnSpc>
                <a:spcPct val="125000"/>
              </a:lnSpc>
              <a:spcBef>
                <a:spcPts val="0"/>
              </a:spcBef>
              <a:spcAft>
                <a:spcPts val="0"/>
              </a:spcAft>
            </a:pPr>
            <a:r>
              <a:rPr>
                <a:latin typeface="Pretendard"/>
                <a:ea typeface="Pretendard"/>
                <a:cs typeface="Pretendard"/>
              </a:rPr>
              <a:t>CCTV 통합관제센터 혁신을 위한 운영개선 효율화 방안 연구 최종보고서</a:t>
            </a:r>
          </a:p>
          <a:p xmlns:a="http://schemas.openxmlformats.org/drawingml/2006/main">
            <a:pPr>
              <a:lnSpc>
                <a:spcPct val="125000"/>
              </a:lnSpc>
              <a:spcBef>
                <a:spcPts val="0"/>
              </a:spcBef>
              <a:spcAft>
                <a:spcPts val="0"/>
              </a:spcAft>
            </a:pPr>
            <a:r>
              <a:rPr>
                <a:latin typeface="Pretendard"/>
                <a:ea typeface="Pretendard"/>
                <a:cs typeface="Pretendard"/>
              </a:rPr>
              <a:t>https://record.council.jeju.kr/CLRecords/Files/FileAppendix/a12/A044556.pdf</a:t>
            </a:r>
          </a:p>
          <a:p xmlns:a="http://schemas.openxmlformats.org/drawingml/2006/main">
            <a:pPr>
              <a:lnSpc>
                <a:spcPct val="125000"/>
              </a:lnSpc>
              <a:spcBef>
                <a:spcPts val="0"/>
              </a:spcBef>
              <a:spcAft>
                <a:spcPts val="0"/>
              </a:spcAft>
            </a:pPr>
            <a:r>
              <a:rPr>
                <a:latin typeface="Pretendard"/>
                <a:ea typeface="Pretendard"/>
                <a:cs typeface="Pretendard"/>
              </a:rPr>
              <a:t>확인 범위: 290쪽 PDF 중 제출문, 표37·38·45, 부록 요원 설문 원표, 표135–136의 추계 및 운영방침 제안 관련 부분.</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국내 일반 관제 예산은 인력·유지보수 등 반복 비용을 보여 준다.</a:t>
            </a:r>
          </a:p>
          <a:p xmlns:a="http://schemas.openxmlformats.org/drawingml/2006/main">
            <a:pPr>
              <a:lnSpc>
                <a:spcPct val="125000"/>
              </a:lnSpc>
              <a:spcBef>
                <a:spcPts val="0"/>
              </a:spcBef>
              <a:spcAft>
                <a:spcPts val="0"/>
              </a:spcAft>
            </a:pPr>
            <a:r>
              <a:rPr>
                <a:latin typeface="Pretendard"/>
                <a:ea typeface="Pretendard"/>
                <a:cs typeface="Pretendard"/>
              </a:rPr>
              <a:t>확장 질문: 새 기술의 비용 평가에는 어떤 운영 자원이 필요한가?</a:t>
            </a:r>
          </a:p>
          <a:p xmlns:a="http://schemas.openxmlformats.org/drawingml/2006/main">
            <a:pPr>
              <a:lnSpc>
                <a:spcPct val="125000"/>
              </a:lnSpc>
              <a:spcBef>
                <a:spcPts val="0"/>
              </a:spcBef>
              <a:spcAft>
                <a:spcPts val="0"/>
              </a:spcAft>
            </a:pPr>
            <a:r>
              <a:rPr>
                <a:latin typeface="Pretendard"/>
                <a:ea typeface="Pretendard"/>
                <a:cs typeface="Pretendard"/>
              </a:rPr>
              <a:t>D39: 2023년 관제요원 101명·상주 경찰 3명, 표37의 예산 합계 11,755,443천원. 2023년 요원 설문 총 35명 중 정확도 문항 응답 34명이며 27명이 지능형 선별관제 체감 정확도를 50% 미만으로 응답했다.</a:t>
            </a:r>
          </a:p>
          <a:p xmlns:a="http://schemas.openxmlformats.org/drawingml/2006/main">
            <a:pPr>
              <a:lnSpc>
                <a:spcPct val="125000"/>
              </a:lnSpc>
              <a:spcBef>
                <a:spcPts val="0"/>
              </a:spcBef>
              <a:spcAft>
                <a:spcPts val="0"/>
              </a:spcAft>
            </a:pPr>
            <a:r>
              <a:rPr>
                <a:latin typeface="Pretendard"/>
                <a:ea typeface="Pretendard"/>
                <a:cs typeface="Pretendard"/>
              </a:rPr>
              <a:t>적용 범위·한계: 일반 통합관제·선별관제의 단일 지역 자료이다. 정확도 문항은 요원의 인식 조사이고 비용 수치는 전체 센터의 예산이다. 표135–136은 가정에 따른 미래 추계이다.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W8-22 / 본편 확장 / INDIRECT</a:t>
            </a:r>
          </a:p>
          <a:p xmlns:a="http://schemas.openxmlformats.org/drawingml/2006/main">
            <a:pPr>
              <a:lnSpc>
                <a:spcPct val="125000"/>
              </a:lnSpc>
              <a:spcBef>
                <a:spcPts val="0"/>
              </a:spcBef>
              <a:spcAft>
                <a:spcPts val="0"/>
              </a:spcAft>
            </a:pPr>
            <a:r>
              <a:rPr>
                <a:latin typeface="Pretendard"/>
                <a:ea typeface="Pretendard"/>
                <a:cs typeface="Pretendard"/>
              </a:rPr>
              <a:t>금액 환산: 천원 ÷100000=억원. 유지보수 원값1,490,258천원. 전체예산을 얼굴식별 비용으로 제시하지 않는다.</a:t>
            </a:r>
          </a:p>
          <a:p xmlns:a="http://schemas.openxmlformats.org/drawingml/2006/main">
            <a:pPr>
              <a:lnSpc>
                <a:spcPct val="125000"/>
              </a:lnSpc>
              <a:spcBef>
                <a:spcPts val="0"/>
              </a:spcBef>
              <a:spcAft>
                <a:spcPts val="0"/>
              </a:spcAft>
            </a:pPr>
            <a:r>
              <a:rPr>
                <a:latin typeface="Pretendard"/>
                <a:ea typeface="Pretendard"/>
                <a:cs typeface="Pretendard"/>
              </a:rPr>
              <a:t>이전 연결: 성과 비교에는 현장에서 반복적으로 필요한 인력과 비용이 포함된다.</a:t>
            </a:r>
          </a:p>
          <a:p xmlns:a="http://schemas.openxmlformats.org/drawingml/2006/main">
            <a:pPr>
              <a:lnSpc>
                <a:spcPct val="125000"/>
              </a:lnSpc>
              <a:spcBef>
                <a:spcPts val="0"/>
              </a:spcBef>
              <a:spcAft>
                <a:spcPts val="0"/>
              </a:spcAft>
            </a:pPr>
            <a:r>
              <a:rPr>
                <a:latin typeface="Pretendard"/>
                <a:ea typeface="Pretendard"/>
                <a:cs typeface="Pretendard"/>
              </a:rPr>
              <a:t>다음 연결: 운영 자원과 함께 실제 영상·명단·설정에 맞는 성능 시험을 구성해야 한다.</a:t>
            </a:r>
          </a:p>
          <a:p xmlns:a="http://schemas.openxmlformats.org/drawingml/2006/main">
            <a:pPr>
              <a:lnSpc>
                <a:spcPct val="125000"/>
              </a:lnSpc>
              <a:spcBef>
                <a:spcPts val="0"/>
              </a:spcBef>
              <a:spcAft>
                <a:spcPts val="0"/>
              </a:spcAft>
            </a:pPr>
            <a:r>
              <a:rPr>
                <a:latin typeface="Pretendard"/>
                <a:ea typeface="Pretendard"/>
                <a:cs typeface="Pretendard"/>
              </a:rPr>
              <a:t>운영시간 초안: 1.5분.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얼굴인식은 알고리즘 이름만으로 성능을 설명하기 어렵습니다. 같은 시스템도 영상과 명단, 경보 기준값에 따라 다른 결과를 낼 수 있습니다. NPL의 평가와 NIST의 연구 설명은 과업과 조건별 결과를 구분합니다. 실제 배치에서는 시스템의 출력뿐 아니라 담당자의 확인 과정에서 어떤 오류가 걸러지고 남는지도 기록해야 합니다.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F06 | 영국 국립물리연구소(NPL), MS 43 | 2023-03</a:t>
            </a:r>
          </a:p>
          <a:p xmlns:a="http://schemas.openxmlformats.org/drawingml/2006/main">
            <a:pPr>
              <a:lnSpc>
                <a:spcPct val="125000"/>
              </a:lnSpc>
              <a:spcBef>
                <a:spcPts val="0"/>
              </a:spcBef>
              <a:spcAft>
                <a:spcPts val="0"/>
              </a:spcAft>
            </a:pPr>
            <a:r>
              <a:rPr>
                <a:latin typeface="Pretendard"/>
                <a:ea typeface="Pretendard"/>
                <a:cs typeface="Pretendard"/>
              </a:rPr>
              <a:t>Facial Recognition Technology in Law Enforcement: Equitability Study, Final Report</a:t>
            </a:r>
          </a:p>
          <a:p xmlns:a="http://schemas.openxmlformats.org/drawingml/2006/main">
            <a:pPr>
              <a:lnSpc>
                <a:spcPct val="125000"/>
              </a:lnSpc>
              <a:spcBef>
                <a:spcPts val="0"/>
              </a:spcBef>
              <a:spcAft>
                <a:spcPts val="0"/>
              </a:spcAft>
            </a:pPr>
            <a:r>
              <a:rPr>
                <a:latin typeface="Pretendard"/>
                <a:ea typeface="Pretendard"/>
                <a:cs typeface="Pretendard"/>
              </a:rPr>
              <a:t>https://science.police.uk/site/assets/files/3396/frt-equitability-study_mar2023.pdf</a:t>
            </a:r>
          </a:p>
          <a:p xmlns:a="http://schemas.openxmlformats.org/drawingml/2006/main">
            <a:pPr>
              <a:lnSpc>
                <a:spcPct val="125000"/>
              </a:lnSpc>
              <a:spcBef>
                <a:spcPts val="0"/>
              </a:spcBef>
              <a:spcAft>
                <a:spcPts val="0"/>
              </a:spcAft>
            </a:pPr>
            <a:r>
              <a:rPr>
                <a:latin typeface="Pretendard"/>
                <a:ea typeface="Pretendard"/>
                <a:cs typeface="Pretendard"/>
              </a:rPr>
              <a:t>확인 범위: 공식 PDF의 실험 설계·주요 결과와 한계.</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F07 | 미국 국립표준기술연구소(NIST), IR 8280 | 2019-12</a:t>
            </a:r>
          </a:p>
          <a:p xmlns:a="http://schemas.openxmlformats.org/drawingml/2006/main">
            <a:pPr>
              <a:lnSpc>
                <a:spcPct val="125000"/>
              </a:lnSpc>
              <a:spcBef>
                <a:spcPts val="0"/>
              </a:spcBef>
              <a:spcAft>
                <a:spcPts val="0"/>
              </a:spcAft>
            </a:pPr>
            <a:r>
              <a:rPr>
                <a:latin typeface="Pretendard"/>
                <a:ea typeface="Pretendard"/>
                <a:cs typeface="Pretendard"/>
              </a:rPr>
              <a:t>Face Recognition Vendor Test Part 3: Demographic Effects</a:t>
            </a:r>
          </a:p>
          <a:p xmlns:a="http://schemas.openxmlformats.org/drawingml/2006/main">
            <a:pPr>
              <a:lnSpc>
                <a:spcPct val="125000"/>
              </a:lnSpc>
              <a:spcBef>
                <a:spcPts val="0"/>
              </a:spcBef>
              <a:spcAft>
                <a:spcPts val="0"/>
              </a:spcAft>
            </a:pPr>
            <a:r>
              <a:rPr>
                <a:latin typeface="Pretendard"/>
                <a:ea typeface="Pretendard"/>
                <a:cs typeface="Pretendard"/>
              </a:rPr>
              <a:t>https://www.nist.gov/news-events/news/2019/12/nist-study-evaluates-effects-race-age-sex-face-recognition-software</a:t>
            </a:r>
          </a:p>
          <a:p xmlns:a="http://schemas.openxmlformats.org/drawingml/2006/main">
            <a:pPr>
              <a:lnSpc>
                <a:spcPct val="125000"/>
              </a:lnSpc>
              <a:spcBef>
                <a:spcPts val="0"/>
              </a:spcBef>
              <a:spcAft>
                <a:spcPts val="0"/>
              </a:spcAft>
            </a:pPr>
            <a:r>
              <a:rPr>
                <a:latin typeface="Pretendard"/>
                <a:ea typeface="Pretendard"/>
                <a:cs typeface="Pretendard"/>
              </a:rPr>
              <a:t>확인 범위: NIST 공식 연구 설명·보고서 서지. 보고서 전문 정독 미실시.</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F02 | 잉글랜드·웨일스 항소법원 / [2020] EWCA Civ 1058 | 2020-08-11</a:t>
            </a:r>
          </a:p>
          <a:p xmlns:a="http://schemas.openxmlformats.org/drawingml/2006/main">
            <a:pPr>
              <a:lnSpc>
                <a:spcPct val="125000"/>
              </a:lnSpc>
              <a:spcBef>
                <a:spcPts val="0"/>
              </a:spcBef>
              <a:spcAft>
                <a:spcPts val="0"/>
              </a:spcAft>
            </a:pPr>
            <a:r>
              <a:rPr>
                <a:latin typeface="Pretendard"/>
                <a:ea typeface="Pretendard"/>
                <a:cs typeface="Pretendard"/>
              </a:rPr>
              <a:t>R (Bridges) v Chief Constable of South Wales Police</a:t>
            </a:r>
          </a:p>
          <a:p xmlns:a="http://schemas.openxmlformats.org/drawingml/2006/main">
            <a:pPr>
              <a:lnSpc>
                <a:spcPct val="125000"/>
              </a:lnSpc>
              <a:spcBef>
                <a:spcPts val="0"/>
              </a:spcBef>
              <a:spcAft>
                <a:spcPts val="0"/>
              </a:spcAft>
            </a:pPr>
            <a:r>
              <a:rPr>
                <a:latin typeface="Pretendard"/>
                <a:ea typeface="Pretendard"/>
                <a:cs typeface="Pretendard"/>
              </a:rPr>
              <a:t>https://www.judiciary.uk/wp-content/uploads/2020/08/R-Bridges-v-CC-South-Wales-ors-Judgment.pdf</a:t>
            </a:r>
          </a:p>
          <a:p xmlns:a="http://schemas.openxmlformats.org/drawingml/2006/main">
            <a:pPr>
              <a:lnSpc>
                <a:spcPct val="125000"/>
              </a:lnSpc>
              <a:spcBef>
                <a:spcPts val="0"/>
              </a:spcBef>
              <a:spcAft>
                <a:spcPts val="0"/>
              </a:spcAft>
            </a:pPr>
            <a:r>
              <a:rPr>
                <a:latin typeface="Pretendard"/>
                <a:ea typeface="Pretendard"/>
                <a:cs typeface="Pretendard"/>
              </a:rPr>
              <a:t>확인 범위: 공식 판결 PDF 59쪽의 주요 판단·결론.</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실제 영상·명단·설정과 사람의 후속 확인을 함께 평가한다.</a:t>
            </a:r>
          </a:p>
          <a:p xmlns:a="http://schemas.openxmlformats.org/drawingml/2006/main">
            <a:pPr>
              <a:lnSpc>
                <a:spcPct val="125000"/>
              </a:lnSpc>
              <a:spcBef>
                <a:spcPts val="0"/>
              </a:spcBef>
              <a:spcAft>
                <a:spcPts val="0"/>
              </a:spcAft>
            </a:pPr>
            <a:r>
              <a:rPr>
                <a:latin typeface="Pretendard"/>
                <a:ea typeface="Pretendard"/>
                <a:cs typeface="Pretendard"/>
              </a:rPr>
              <a:t>확장 질문: 도입 전에 어떤 조건에서 성능을 시험해야 하는가?</a:t>
            </a:r>
          </a:p>
          <a:p xmlns:a="http://schemas.openxmlformats.org/drawingml/2006/main">
            <a:pPr>
              <a:lnSpc>
                <a:spcPct val="125000"/>
              </a:lnSpc>
              <a:spcBef>
                <a:spcPts val="0"/>
              </a:spcBef>
              <a:spcAft>
                <a:spcPts val="0"/>
              </a:spcAft>
            </a:pPr>
            <a:r>
              <a:rPr>
                <a:latin typeface="Pretendard"/>
                <a:ea typeface="Pretendard"/>
                <a:cs typeface="Pretendard"/>
              </a:rPr>
              <a:t>F06: 배치 환경, 판단 문턱과 감시명단 크기에 따라 오인 지표가 달라짐을 보여준다. 특정 설정에서 성별·인종별 차이가 통계적으로 유의하지 않은 결과와 연령 관련 차이를 구분해 보고한다.</a:t>
            </a:r>
          </a:p>
          <a:p xmlns:a="http://schemas.openxmlformats.org/drawingml/2006/main">
            <a:pPr>
              <a:lnSpc>
                <a:spcPct val="125000"/>
              </a:lnSpc>
              <a:spcBef>
                <a:spcPts val="0"/>
              </a:spcBef>
              <a:spcAft>
                <a:spcPts val="0"/>
              </a:spcAft>
            </a:pPr>
            <a:r>
              <a:rPr>
                <a:latin typeface="Pretendard"/>
                <a:ea typeface="Pretendard"/>
                <a:cs typeface="Pretendard"/>
              </a:rPr>
              <a:t>적용 범위·한계: 특정 시스템·설정·표본에 관한 평가다. 차이가 유의하지 않다는 결과는 차이의 부재 증명이 아니며 모든 제품의 공정성이나 실제 검거 효과를 보증하지 않는다.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F07: 오류의 집단별 차이가 알고리즘, 과업과 영상조건에 따라 달라짐을 설명한다. 1:1 확인과 1:N 식별을 구별해 평가할 필요가 있다.</a:t>
            </a:r>
          </a:p>
          <a:p xmlns:a="http://schemas.openxmlformats.org/drawingml/2006/main">
            <a:pPr>
              <a:lnSpc>
                <a:spcPct val="125000"/>
              </a:lnSpc>
              <a:spcBef>
                <a:spcPts val="0"/>
              </a:spcBef>
              <a:spcAft>
                <a:spcPts val="0"/>
              </a:spcAft>
            </a:pPr>
            <a:r>
              <a:rPr>
                <a:latin typeface="Pretendard"/>
                <a:ea typeface="Pretendard"/>
                <a:cs typeface="Pretendard"/>
              </a:rPr>
              <a:t>적용 범위·한계: 2019년 평가를 2026년 모든 제품의 오류율로 일반화하지 않는다. 얼굴 성별분류의 정확도와 신원식별 정확도도 구별한다.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F02: 감시대상자와 배치 장소를 정하는 재량의 통제 부족, 개인정보 영향평가 및 평등의무 문제를 인정해 항소를 일부 받아들였다.</a:t>
            </a:r>
          </a:p>
          <a:p xmlns:a="http://schemas.openxmlformats.org/drawingml/2006/main">
            <a:pPr>
              <a:lnSpc>
                <a:spcPct val="125000"/>
              </a:lnSpc>
              <a:spcBef>
                <a:spcPts val="0"/>
              </a:spcBef>
              <a:spcAft>
                <a:spcPts val="0"/>
              </a:spcAft>
            </a:pPr>
            <a:r>
              <a:rPr>
                <a:latin typeface="Pretendard"/>
                <a:ea typeface="Pretendard"/>
                <a:cs typeface="Pretendard"/>
              </a:rPr>
              <a:t>적용 범위·한계: 실시간 얼굴인식 기술 자체를 영구 전면 금지한 판결이 아니다. 당시 정책·기록에 대한 판단이다.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W8-23 / 본편 확장 / DIRECT</a:t>
            </a:r>
          </a:p>
          <a:p xmlns:a="http://schemas.openxmlformats.org/drawingml/2006/main">
            <a:pPr>
              <a:lnSpc>
                <a:spcPct val="125000"/>
              </a:lnSpc>
              <a:spcBef>
                <a:spcPts val="0"/>
              </a:spcBef>
              <a:spcAft>
                <a:spcPts val="0"/>
              </a:spcAft>
            </a:pPr>
            <a:r>
              <a:rPr>
                <a:latin typeface="Pretendard"/>
                <a:ea typeface="Pretendard"/>
                <a:cs typeface="Pretendard"/>
              </a:rPr>
              <a:t>F06 신규 수치나 2026 모든 제품의 집단별 성능을 주장하지 않는다. F07은 공식 연구 설명 확인 범위다.</a:t>
            </a:r>
          </a:p>
          <a:p xmlns:a="http://schemas.openxmlformats.org/drawingml/2006/main">
            <a:pPr>
              <a:lnSpc>
                <a:spcPct val="125000"/>
              </a:lnSpc>
              <a:spcBef>
                <a:spcPts val="0"/>
              </a:spcBef>
              <a:spcAft>
                <a:spcPts val="0"/>
              </a:spcAft>
            </a:pPr>
            <a:r>
              <a:rPr>
                <a:latin typeface="Pretendard"/>
                <a:ea typeface="Pretendard"/>
                <a:cs typeface="Pretendard"/>
              </a:rPr>
              <a:t>이전 연결: 운영 자원과 함께 실제 영상·명단·설정에 맞는 성능 시험을 구성해야 한다.</a:t>
            </a:r>
          </a:p>
          <a:p xmlns:a="http://schemas.openxmlformats.org/drawingml/2006/main">
            <a:pPr>
              <a:lnSpc>
                <a:spcPct val="125000"/>
              </a:lnSpc>
              <a:spcBef>
                <a:spcPts val="0"/>
              </a:spcBef>
              <a:spcAft>
                <a:spcPts val="0"/>
              </a:spcAft>
            </a:pPr>
            <a:r>
              <a:rPr>
                <a:latin typeface="Pretendard"/>
                <a:ea typeface="Pretendard"/>
                <a:cs typeface="Pretendard"/>
              </a:rPr>
              <a:t>다음 연결: 사람이 후보를 확인하는 과정의 실패는 실제 오인체포 사건에서 드러난다.</a:t>
            </a:r>
          </a:p>
          <a:p xmlns:a="http://schemas.openxmlformats.org/drawingml/2006/main">
            <a:pPr>
              <a:lnSpc>
                <a:spcPct val="125000"/>
              </a:lnSpc>
              <a:spcBef>
                <a:spcPts val="0"/>
              </a:spcBef>
              <a:spcAft>
                <a:spcPts val="0"/>
              </a:spcAft>
            </a:pPr>
            <a:r>
              <a:rPr>
                <a:latin typeface="Pretendard"/>
                <a:ea typeface="Pretendard"/>
                <a:cs typeface="Pretendard"/>
              </a:rPr>
              <a:t>운영시간 초안: 1.5분.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Williams 사건은 범행 뒤 확보한 흐린 영상에서 얼굴을 검색한 수사입니다. 검색 후보를 넣은 사진 배열을 확인한 사람도 같은 범행 영상을 보았던 사람이었습니다. 같은 영상에서 출발한 판단이 여러 단계를 거치면서 체포의 근거로 연결됐습니다. 별개의 확인처럼 보이는 절차가 실제로 어떤 정보에 의존하는지 검토할 필요가 드러납니다.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F08 | ACLU of Michigan 등 소송 대리인 측 | 2024-06-28 / 오인체포 2020</a:t>
            </a:r>
          </a:p>
          <a:p xmlns:a="http://schemas.openxmlformats.org/drawingml/2006/main">
            <a:pPr>
              <a:lnSpc>
                <a:spcPct val="125000"/>
              </a:lnSpc>
              <a:spcBef>
                <a:spcPts val="0"/>
              </a:spcBef>
              <a:spcAft>
                <a:spcPts val="0"/>
              </a:spcAft>
            </a:pPr>
            <a:r>
              <a:rPr>
                <a:latin typeface="Pretendard"/>
                <a:ea typeface="Pretendard"/>
                <a:cs typeface="Pretendard"/>
              </a:rPr>
              <a:t>Williams v City of Detroit 합의와 얼굴인식 수사 정책 변경</a:t>
            </a:r>
          </a:p>
          <a:p xmlns:a="http://schemas.openxmlformats.org/drawingml/2006/main">
            <a:pPr>
              <a:lnSpc>
                <a:spcPct val="125000"/>
              </a:lnSpc>
              <a:spcBef>
                <a:spcPts val="0"/>
              </a:spcBef>
              <a:spcAft>
                <a:spcPts val="0"/>
              </a:spcAft>
            </a:pPr>
            <a:r>
              <a:rPr>
                <a:latin typeface="Pretendard"/>
                <a:ea typeface="Pretendard"/>
                <a:cs typeface="Pretendard"/>
              </a:rPr>
              <a:t>https://www.aclu.org/press-releases/civil-rights-advocates-achieve-the-nations-strongest-police-department-policy-on-facial-recognition-technology</a:t>
            </a:r>
          </a:p>
          <a:p xmlns:a="http://schemas.openxmlformats.org/drawingml/2006/main">
            <a:pPr>
              <a:lnSpc>
                <a:spcPct val="125000"/>
              </a:lnSpc>
              <a:spcBef>
                <a:spcPts val="0"/>
              </a:spcBef>
              <a:spcAft>
                <a:spcPts val="0"/>
              </a:spcAft>
            </a:pPr>
            <a:r>
              <a:rPr>
                <a:latin typeface="Pretendard"/>
                <a:ea typeface="Pretendard"/>
                <a:cs typeface="Pretendard"/>
              </a:rPr>
              <a:t>확인 범위: 대리인 보도자료와 합의 요약 PDF 2쪽.</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S12 | ACLU | 2024년 합의 관련 갱신 페이지</a:t>
            </a:r>
          </a:p>
          <a:p xmlns:a="http://schemas.openxmlformats.org/drawingml/2006/main">
            <a:pPr>
              <a:lnSpc>
                <a:spcPct val="125000"/>
              </a:lnSpc>
              <a:spcBef>
                <a:spcPts val="0"/>
              </a:spcBef>
              <a:spcAft>
                <a:spcPts val="0"/>
              </a:spcAft>
            </a:pPr>
            <a:r>
              <a:rPr>
                <a:latin typeface="Pretendard"/>
                <a:ea typeface="Pretendard"/>
                <a:cs typeface="Pretendard"/>
              </a:rPr>
              <a:t>Williams v. City of Detroit — Face Recognition False Arrest</a:t>
            </a:r>
          </a:p>
          <a:p xmlns:a="http://schemas.openxmlformats.org/drawingml/2006/main">
            <a:pPr>
              <a:lnSpc>
                <a:spcPct val="125000"/>
              </a:lnSpc>
              <a:spcBef>
                <a:spcPts val="0"/>
              </a:spcBef>
              <a:spcAft>
                <a:spcPts val="0"/>
              </a:spcAft>
            </a:pPr>
            <a:r>
              <a:rPr>
                <a:latin typeface="Pretendard"/>
                <a:ea typeface="Pretendard"/>
                <a:cs typeface="Pretendard"/>
              </a:rPr>
              <a:t>https://www.aclu.org/cases/williams-v-city-of-detroit-face-recognition-false-arrest?document=Settlement-Agreement</a:t>
            </a:r>
          </a:p>
          <a:p xmlns:a="http://schemas.openxmlformats.org/drawingml/2006/main">
            <a:pPr>
              <a:lnSpc>
                <a:spcPct val="125000"/>
              </a:lnSpc>
              <a:spcBef>
                <a:spcPts val="0"/>
              </a:spcBef>
              <a:spcAft>
                <a:spcPts val="0"/>
              </a:spcAft>
            </a:pPr>
            <a:r>
              <a:rPr>
                <a:latin typeface="Pretendard"/>
                <a:ea typeface="Pretendard"/>
                <a:cs typeface="Pretendard"/>
              </a:rPr>
              <a:t>확인 범위: 사건 경위 및 2024년 합의 설명</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S13 | 미국 미시간 동부 연방지방법원·사건 당사자 | 2024-06-28</a:t>
            </a:r>
          </a:p>
          <a:p xmlns:a="http://schemas.openxmlformats.org/drawingml/2006/main">
            <a:pPr>
              <a:lnSpc>
                <a:spcPct val="125000"/>
              </a:lnSpc>
              <a:spcBef>
                <a:spcPts val="0"/>
              </a:spcBef>
              <a:spcAft>
                <a:spcPts val="0"/>
              </a:spcAft>
            </a:pPr>
            <a:r>
              <a:rPr>
                <a:latin typeface="Pretendard"/>
                <a:ea typeface="Pretendard"/>
                <a:cs typeface="Pretendard"/>
              </a:rPr>
              <a:t>Williams v. City of Detroit — Final Order of Dismissal and Settlement Agreement</a:t>
            </a:r>
          </a:p>
          <a:p xmlns:a="http://schemas.openxmlformats.org/drawingml/2006/main">
            <a:pPr>
              <a:lnSpc>
                <a:spcPct val="125000"/>
              </a:lnSpc>
              <a:spcBef>
                <a:spcPts val="0"/>
              </a:spcBef>
              <a:spcAft>
                <a:spcPts val="0"/>
              </a:spcAft>
            </a:pPr>
            <a:r>
              <a:rPr>
                <a:latin typeface="Pretendard"/>
                <a:ea typeface="Pretendard"/>
                <a:cs typeface="Pretendard"/>
              </a:rPr>
              <a:t>https://assets.aclu.org/live/uploads/2024/06/Final-Order-of-Dismissal-and-Settlement-Agreement.pdf</a:t>
            </a:r>
          </a:p>
          <a:p xmlns:a="http://schemas.openxmlformats.org/drawingml/2006/main">
            <a:pPr>
              <a:lnSpc>
                <a:spcPct val="125000"/>
              </a:lnSpc>
              <a:spcBef>
                <a:spcPts val="0"/>
              </a:spcBef>
              <a:spcAft>
                <a:spcPts val="0"/>
              </a:spcAft>
            </a:pPr>
            <a:r>
              <a:rPr>
                <a:latin typeface="Pretendard"/>
                <a:ea typeface="Pretendard"/>
                <a:cs typeface="Pretendard"/>
              </a:rPr>
              <a:t>확인 범위: 42쪽 PDF 중 1–2쪽 종결 명령, 16쪽 지침 307.5-5.3</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검색과 사진 확인이 같은 불명확한 영상에 의존하면 오류가 다음 단계로 이어질 수 있다.</a:t>
            </a:r>
          </a:p>
          <a:p xmlns:a="http://schemas.openxmlformats.org/drawingml/2006/main">
            <a:pPr>
              <a:lnSpc>
                <a:spcPct val="125000"/>
              </a:lnSpc>
              <a:spcBef>
                <a:spcPts val="0"/>
              </a:spcBef>
              <a:spcAft>
                <a:spcPts val="0"/>
              </a:spcAft>
            </a:pPr>
            <a:r>
              <a:rPr>
                <a:latin typeface="Pretendard"/>
                <a:ea typeface="Pretendard"/>
                <a:cs typeface="Pretendard"/>
              </a:rPr>
              <a:t>확장 질문: 사람의 사진 확인은 어떤 정보에 의존했는가?</a:t>
            </a:r>
          </a:p>
          <a:p xmlns:a="http://schemas.openxmlformats.org/drawingml/2006/main">
            <a:pPr>
              <a:lnSpc>
                <a:spcPct val="125000"/>
              </a:lnSpc>
              <a:spcBef>
                <a:spcPts val="0"/>
              </a:spcBef>
              <a:spcAft>
                <a:spcPts val="0"/>
              </a:spcAft>
            </a:pPr>
            <a:r>
              <a:rPr>
                <a:latin typeface="Pretendard"/>
                <a:ea typeface="Pretendard"/>
                <a:cs typeface="Pretendard"/>
              </a:rPr>
              <a:t>F08: 얼굴인식 후보와 사진식별만으로 영장을 청구하지 못하도록 독립적인 수사 근거·감독자 확인·기록 제공 등을 강화한 합의 내용을 설명한다.</a:t>
            </a:r>
          </a:p>
          <a:p xmlns:a="http://schemas.openxmlformats.org/drawingml/2006/main">
            <a:pPr>
              <a:lnSpc>
                <a:spcPct val="125000"/>
              </a:lnSpc>
              <a:spcBef>
                <a:spcPts val="0"/>
              </a:spcBef>
              <a:spcAft>
                <a:spcPts val="0"/>
              </a:spcAft>
            </a:pPr>
            <a:r>
              <a:rPr>
                <a:latin typeface="Pretendard"/>
                <a:ea typeface="Pretendard"/>
                <a:cs typeface="Pretendard"/>
              </a:rPr>
              <a:t>적용 범위·한계: 사후 영상검색 사건이다. 실시간 시스템의 오체포 빈도가 아니며 합의를 전국에 적용되는 판결 법리로 표현하지 않는다. 서명된 합의서 전체가 아니라 대리인 측 요약을 확인했다.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S12: 검색 후보, 사진 대질, 2020년 체포와 약 30시간 구금</a:t>
            </a:r>
          </a:p>
          <a:p xmlns:a="http://schemas.openxmlformats.org/drawingml/2006/main">
            <a:pPr>
              <a:lnSpc>
                <a:spcPct val="125000"/>
              </a:lnSpc>
              <a:spcBef>
                <a:spcPts val="0"/>
              </a:spcBef>
              <a:spcAft>
                <a:spcPts val="0"/>
              </a:spcAft>
            </a:pPr>
            <a:r>
              <a:rPr>
                <a:latin typeface="Pretendard"/>
                <a:ea typeface="Pretendard"/>
                <a:cs typeface="Pretendard"/>
              </a:rPr>
              <a:t>적용 범위·한계: 원고 측 사건 설명; 모든 사실에 대한 법원의 확정 판단으로 제시하지 않음</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S13: 체포·영장 신청에 독립적이고 신뢰할 수 있는 추가 증거 요구</a:t>
            </a:r>
          </a:p>
          <a:p xmlns:a="http://schemas.openxmlformats.org/drawingml/2006/main">
            <a:pPr>
              <a:lnSpc>
                <a:spcPct val="125000"/>
              </a:lnSpc>
              <a:spcBef>
                <a:spcPts val="0"/>
              </a:spcBef>
              <a:spcAft>
                <a:spcPts val="0"/>
              </a:spcAft>
            </a:pPr>
            <a:r>
              <a:rPr>
                <a:latin typeface="Pretendard"/>
                <a:ea typeface="Pretendard"/>
                <a:cs typeface="Pretendard"/>
              </a:rPr>
              <a:t>적용 범위·한계: 합의문과 첨부 경찰 지침의 내용; 2026년 개별 집행 실적은 미확인</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W8-24 / 본편 필수 / INDIRECT</a:t>
            </a:r>
          </a:p>
          <a:p xmlns:a="http://schemas.openxmlformats.org/drawingml/2006/main">
            <a:pPr>
              <a:lnSpc>
                <a:spcPct val="125000"/>
              </a:lnSpc>
              <a:spcBef>
                <a:spcPts val="0"/>
              </a:spcBef>
              <a:spcAft>
                <a:spcPts val="0"/>
              </a:spcAft>
            </a:pPr>
            <a:r>
              <a:rPr>
                <a:latin typeface="Pretendard"/>
                <a:ea typeface="Pretendard"/>
                <a:cs typeface="Pretendard"/>
              </a:rPr>
              <a:t>사후 얼굴 검색 사건이다. 공공 CCTV 실시간 LFR의 오류 발생률 자료가 아니다.</a:t>
            </a:r>
          </a:p>
          <a:p xmlns:a="http://schemas.openxmlformats.org/drawingml/2006/main">
            <a:pPr>
              <a:lnSpc>
                <a:spcPct val="125000"/>
              </a:lnSpc>
              <a:spcBef>
                <a:spcPts val="0"/>
              </a:spcBef>
              <a:spcAft>
                <a:spcPts val="0"/>
              </a:spcAft>
            </a:pPr>
            <a:r>
              <a:rPr>
                <a:latin typeface="Pretendard"/>
                <a:ea typeface="Pretendard"/>
                <a:cs typeface="Pretendard"/>
              </a:rPr>
              <a:t>이전 연결: 사람이 후보를 확인하는 과정의 실패는 실제 오인체포 사건에서 드러난다.</a:t>
            </a:r>
          </a:p>
          <a:p xmlns:a="http://schemas.openxmlformats.org/drawingml/2006/main">
            <a:pPr>
              <a:lnSpc>
                <a:spcPct val="125000"/>
              </a:lnSpc>
              <a:spcBef>
                <a:spcPts val="0"/>
              </a:spcBef>
              <a:spcAft>
                <a:spcPts val="0"/>
              </a:spcAft>
            </a:pPr>
            <a:r>
              <a:rPr>
                <a:latin typeface="Pretendard"/>
                <a:ea typeface="Pretendard"/>
                <a:cs typeface="Pretendard"/>
              </a:rPr>
              <a:t>다음 연결: 잘못된 후보가 체포로 이어진 경로를 바탕으로 합의는 추가 수사 근거를 요구했다.</a:t>
            </a:r>
          </a:p>
          <a:p xmlns:a="http://schemas.openxmlformats.org/drawingml/2006/main">
            <a:pPr>
              <a:lnSpc>
                <a:spcPct val="125000"/>
              </a:lnSpc>
              <a:spcBef>
                <a:spcPts val="0"/>
              </a:spcBef>
              <a:spcAft>
                <a:spcPts val="0"/>
              </a:spcAft>
            </a:pPr>
            <a:r>
              <a:rPr>
                <a:latin typeface="Pretendard"/>
                <a:ea typeface="Pretendard"/>
                <a:cs typeface="Pretendard"/>
              </a:rPr>
              <a:t>운영시간 초안: 2분.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2024년 합의는 얼굴 검색 이후의 절차를 구체적으로 바꿨습니다. 검색 결과만으로 사진 배열에 사람을 넣거나 체포 근거를 구성하는 일을 제한하고, 신뢰할 수 있는 독립된 근거를 요구했습니다. 사람이 최종 확인 버튼을 누르는 것에 더해, 그 사람이 판단할 때 어떤 추가 정보를 갖고 있는지가 중요한 설계 문제입니다.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S13 | 미국 미시간 동부 연방지방법원·사건 당사자 | 2024-06-28</a:t>
            </a:r>
          </a:p>
          <a:p xmlns:a="http://schemas.openxmlformats.org/drawingml/2006/main">
            <a:pPr>
              <a:lnSpc>
                <a:spcPct val="125000"/>
              </a:lnSpc>
              <a:spcBef>
                <a:spcPts val="0"/>
              </a:spcBef>
              <a:spcAft>
                <a:spcPts val="0"/>
              </a:spcAft>
            </a:pPr>
            <a:r>
              <a:rPr>
                <a:latin typeface="Pretendard"/>
                <a:ea typeface="Pretendard"/>
                <a:cs typeface="Pretendard"/>
              </a:rPr>
              <a:t>Williams v. City of Detroit — Final Order of Dismissal and Settlement Agreement</a:t>
            </a:r>
          </a:p>
          <a:p xmlns:a="http://schemas.openxmlformats.org/drawingml/2006/main">
            <a:pPr>
              <a:lnSpc>
                <a:spcPct val="125000"/>
              </a:lnSpc>
              <a:spcBef>
                <a:spcPts val="0"/>
              </a:spcBef>
              <a:spcAft>
                <a:spcPts val="0"/>
              </a:spcAft>
            </a:pPr>
            <a:r>
              <a:rPr>
                <a:latin typeface="Pretendard"/>
                <a:ea typeface="Pretendard"/>
                <a:cs typeface="Pretendard"/>
              </a:rPr>
              <a:t>https://assets.aclu.org/live/uploads/2024/06/Final-Order-of-Dismissal-and-Settlement-Agreement.pdf</a:t>
            </a:r>
          </a:p>
          <a:p xmlns:a="http://schemas.openxmlformats.org/drawingml/2006/main">
            <a:pPr>
              <a:lnSpc>
                <a:spcPct val="125000"/>
              </a:lnSpc>
              <a:spcBef>
                <a:spcPts val="0"/>
              </a:spcBef>
              <a:spcAft>
                <a:spcPts val="0"/>
              </a:spcAft>
            </a:pPr>
            <a:r>
              <a:rPr>
                <a:latin typeface="Pretendard"/>
                <a:ea typeface="Pretendard"/>
                <a:cs typeface="Pretendard"/>
              </a:rPr>
              <a:t>확인 범위: 42쪽 PDF 중 1–2쪽 종결 명령, 16쪽 지침 307.5-5.3</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S12 | ACLU | 2024년 합의 관련 갱신 페이지</a:t>
            </a:r>
          </a:p>
          <a:p xmlns:a="http://schemas.openxmlformats.org/drawingml/2006/main">
            <a:pPr>
              <a:lnSpc>
                <a:spcPct val="125000"/>
              </a:lnSpc>
              <a:spcBef>
                <a:spcPts val="0"/>
              </a:spcBef>
              <a:spcAft>
                <a:spcPts val="0"/>
              </a:spcAft>
            </a:pPr>
            <a:r>
              <a:rPr>
                <a:latin typeface="Pretendard"/>
                <a:ea typeface="Pretendard"/>
                <a:cs typeface="Pretendard"/>
              </a:rPr>
              <a:t>Williams v. City of Detroit — Face Recognition False Arrest</a:t>
            </a:r>
          </a:p>
          <a:p xmlns:a="http://schemas.openxmlformats.org/drawingml/2006/main">
            <a:pPr>
              <a:lnSpc>
                <a:spcPct val="125000"/>
              </a:lnSpc>
              <a:spcBef>
                <a:spcPts val="0"/>
              </a:spcBef>
              <a:spcAft>
                <a:spcPts val="0"/>
              </a:spcAft>
            </a:pPr>
            <a:r>
              <a:rPr>
                <a:latin typeface="Pretendard"/>
                <a:ea typeface="Pretendard"/>
                <a:cs typeface="Pretendard"/>
              </a:rPr>
              <a:t>https://www.aclu.org/cases/williams-v-city-of-detroit-face-recognition-false-arrest?document=Settlement-Agreement</a:t>
            </a:r>
          </a:p>
          <a:p xmlns:a="http://schemas.openxmlformats.org/drawingml/2006/main">
            <a:pPr>
              <a:lnSpc>
                <a:spcPct val="125000"/>
              </a:lnSpc>
              <a:spcBef>
                <a:spcPts val="0"/>
              </a:spcBef>
              <a:spcAft>
                <a:spcPts val="0"/>
              </a:spcAft>
            </a:pPr>
            <a:r>
              <a:rPr>
                <a:latin typeface="Pretendard"/>
                <a:ea typeface="Pretendard"/>
                <a:cs typeface="Pretendard"/>
              </a:rPr>
              <a:t>확인 범위: 사건 경위 및 2024년 합의 설명</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후속 확인에는 얼굴 검색과 독립된 신뢰할 수 있는 정보가 필요하다.</a:t>
            </a:r>
          </a:p>
          <a:p xmlns:a="http://schemas.openxmlformats.org/drawingml/2006/main">
            <a:pPr>
              <a:lnSpc>
                <a:spcPct val="125000"/>
              </a:lnSpc>
              <a:spcBef>
                <a:spcPts val="0"/>
              </a:spcBef>
              <a:spcAft>
                <a:spcPts val="0"/>
              </a:spcAft>
            </a:pPr>
            <a:r>
              <a:rPr>
                <a:latin typeface="Pretendard"/>
                <a:ea typeface="Pretendard"/>
                <a:cs typeface="Pretendard"/>
              </a:rPr>
              <a:t>확장 질문: 사람의 확인은 무엇을 추가해야 하는가?</a:t>
            </a:r>
          </a:p>
          <a:p xmlns:a="http://schemas.openxmlformats.org/drawingml/2006/main">
            <a:pPr>
              <a:lnSpc>
                <a:spcPct val="125000"/>
              </a:lnSpc>
              <a:spcBef>
                <a:spcPts val="0"/>
              </a:spcBef>
              <a:spcAft>
                <a:spcPts val="0"/>
              </a:spcAft>
            </a:pPr>
            <a:r>
              <a:rPr>
                <a:latin typeface="Pretendard"/>
                <a:ea typeface="Pretendard"/>
                <a:cs typeface="Pretendard"/>
              </a:rPr>
              <a:t>S13: 체포·영장 신청에 독립적이고 신뢰할 수 있는 추가 증거 요구</a:t>
            </a:r>
          </a:p>
          <a:p xmlns:a="http://schemas.openxmlformats.org/drawingml/2006/main">
            <a:pPr>
              <a:lnSpc>
                <a:spcPct val="125000"/>
              </a:lnSpc>
              <a:spcBef>
                <a:spcPts val="0"/>
              </a:spcBef>
              <a:spcAft>
                <a:spcPts val="0"/>
              </a:spcAft>
            </a:pPr>
            <a:r>
              <a:rPr>
                <a:latin typeface="Pretendard"/>
                <a:ea typeface="Pretendard"/>
                <a:cs typeface="Pretendard"/>
              </a:rPr>
              <a:t>적용 범위·한계: 합의문과 첨부 경찰 지침의 내용; 2026년 개별 집행 실적은 미확인</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S12: 검색 후보, 사진 대질, 2020년 체포와 약 30시간 구금</a:t>
            </a:r>
          </a:p>
          <a:p xmlns:a="http://schemas.openxmlformats.org/drawingml/2006/main">
            <a:pPr>
              <a:lnSpc>
                <a:spcPct val="125000"/>
              </a:lnSpc>
              <a:spcBef>
                <a:spcPts val="0"/>
              </a:spcBef>
              <a:spcAft>
                <a:spcPts val="0"/>
              </a:spcAft>
            </a:pPr>
            <a:r>
              <a:rPr>
                <a:latin typeface="Pretendard"/>
                <a:ea typeface="Pretendard"/>
                <a:cs typeface="Pretendard"/>
              </a:rPr>
              <a:t>적용 범위·한계: 원고 측 사건 설명; 모든 사실에 대한 법원의 확정 판단으로 제시하지 않음</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W8-25 / 본편 필수 / INDIRECT</a:t>
            </a:r>
          </a:p>
          <a:p xmlns:a="http://schemas.openxmlformats.org/drawingml/2006/main">
            <a:pPr>
              <a:lnSpc>
                <a:spcPct val="125000"/>
              </a:lnSpc>
              <a:spcBef>
                <a:spcPts val="0"/>
              </a:spcBef>
              <a:spcAft>
                <a:spcPts val="0"/>
              </a:spcAft>
            </a:pPr>
            <a:r>
              <a:rPr>
                <a:latin typeface="Pretendard"/>
                <a:ea typeface="Pretendard"/>
                <a:cs typeface="Pretendard"/>
              </a:rPr>
              <a:t>연방법원 명령에 부속된 합의·정책의 실제 조건. 한국에 직접 적용되는 규칙으로 설명하지 않는다.</a:t>
            </a:r>
          </a:p>
          <a:p xmlns:a="http://schemas.openxmlformats.org/drawingml/2006/main">
            <a:pPr>
              <a:lnSpc>
                <a:spcPct val="125000"/>
              </a:lnSpc>
              <a:spcBef>
                <a:spcPts val="0"/>
              </a:spcBef>
              <a:spcAft>
                <a:spcPts val="0"/>
              </a:spcAft>
            </a:pPr>
            <a:r>
              <a:rPr>
                <a:latin typeface="Pretendard"/>
                <a:ea typeface="Pretendard"/>
                <a:cs typeface="Pretendard"/>
              </a:rPr>
              <a:t>이전 연결: 잘못된 후보가 체포로 이어진 경로를 바탕으로 합의는 추가 수사 근거를 요구했다.</a:t>
            </a:r>
          </a:p>
          <a:p xmlns:a="http://schemas.openxmlformats.org/drawingml/2006/main">
            <a:pPr>
              <a:lnSpc>
                <a:spcPct val="125000"/>
              </a:lnSpc>
              <a:spcBef>
                <a:spcPts val="0"/>
              </a:spcBef>
              <a:spcAft>
                <a:spcPts val="0"/>
              </a:spcAft>
            </a:pPr>
            <a:r>
              <a:rPr>
                <a:latin typeface="Pretendard"/>
                <a:ea typeface="Pretendard"/>
                <a:cs typeface="Pretendard"/>
              </a:rPr>
              <a:t>다음 연결: 체포의 근거를 강화하는 통제와 별도로 체포 이전의 접촉 부담도 평가해야 한다.</a:t>
            </a:r>
          </a:p>
          <a:p xmlns:a="http://schemas.openxmlformats.org/drawingml/2006/main">
            <a:pPr>
              <a:lnSpc>
                <a:spcPct val="125000"/>
              </a:lnSpc>
              <a:spcBef>
                <a:spcPts val="0"/>
              </a:spcBef>
              <a:spcAft>
                <a:spcPts val="0"/>
              </a:spcAft>
            </a:pPr>
            <a:r>
              <a:rPr>
                <a:latin typeface="Pretendard"/>
                <a:ea typeface="Pretendard"/>
                <a:cs typeface="Pretendard"/>
              </a:rPr>
              <a:t>운영시간 초안: 2분.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판결문은 Thompson이 자신의 형제로 오인되어 정지와 질문을 받고 신원을 증명하도록 요구받은 경험을 기록합니다. 오류의 부담은 체포 여부만으로 모두 표현되지 않습니다. 통행을 멈춘 시간, 요구받은 정보, 반복 접촉이 있었는지 같은 내용도 시민이 겪는 영향을 설명합니다. 이런 기록이 있어야 경보를 검토하는 절차의 실제 효과도 평가할 수 있습니다.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F03 | 잉글랜드·웨일스 고등법원 / [2026] EWHC 915 (Admin) | 2026-04-21</a:t>
            </a:r>
          </a:p>
          <a:p xmlns:a="http://schemas.openxmlformats.org/drawingml/2006/main">
            <a:pPr>
              <a:lnSpc>
                <a:spcPct val="125000"/>
              </a:lnSpc>
              <a:spcBef>
                <a:spcPts val="0"/>
              </a:spcBef>
              <a:spcAft>
                <a:spcPts val="0"/>
              </a:spcAft>
            </a:pPr>
            <a:r>
              <a:rPr>
                <a:latin typeface="Pretendard"/>
                <a:ea typeface="Pretendard"/>
                <a:cs typeface="Pretendard"/>
              </a:rPr>
              <a:t>R (Thompson and Carlo) v Commissioner of Police of the Metropolis</a:t>
            </a:r>
          </a:p>
          <a:p xmlns:a="http://schemas.openxmlformats.org/drawingml/2006/main">
            <a:pPr>
              <a:lnSpc>
                <a:spcPct val="125000"/>
              </a:lnSpc>
              <a:spcBef>
                <a:spcPts val="0"/>
              </a:spcBef>
              <a:spcAft>
                <a:spcPts val="0"/>
              </a:spcAft>
            </a:pPr>
            <a:r>
              <a:rPr>
                <a:latin typeface="Pretendard"/>
                <a:ea typeface="Pretendard"/>
                <a:cs typeface="Pretendard"/>
              </a:rPr>
              <a:t>https://www.judiciary.uk/wp-content/uploads/2026/04/AC-2024-LON-001764-R-Thompson-and-Carlo-version-for-hand-down-21-04-2026.pdf</a:t>
            </a:r>
          </a:p>
          <a:p xmlns:a="http://schemas.openxmlformats.org/drawingml/2006/main">
            <a:pPr>
              <a:lnSpc>
                <a:spcPct val="125000"/>
              </a:lnSpc>
              <a:spcBef>
                <a:spcPts val="0"/>
              </a:spcBef>
              <a:spcAft>
                <a:spcPts val="0"/>
              </a:spcAft>
            </a:pPr>
            <a:r>
              <a:rPr>
                <a:latin typeface="Pretendard"/>
                <a:ea typeface="Pretendard"/>
                <a:cs typeface="Pretendard"/>
              </a:rPr>
              <a:t>확인 범위: 공식 47쪽 판결의 심판범위 §§1–15, 사실관계 §17, CCTV 확장 §68, 정책 평가 §§219–231.</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오인 경보로 인한 정지·질문·신원 확인도 시민 부담에 포함된다.</a:t>
            </a:r>
          </a:p>
          <a:p xmlns:a="http://schemas.openxmlformats.org/drawingml/2006/main">
            <a:pPr>
              <a:lnSpc>
                <a:spcPct val="125000"/>
              </a:lnSpc>
              <a:spcBef>
                <a:spcPts val="0"/>
              </a:spcBef>
              <a:spcAft>
                <a:spcPts val="0"/>
              </a:spcAft>
            </a:pPr>
            <a:r>
              <a:rPr>
                <a:latin typeface="Pretendard"/>
                <a:ea typeface="Pretendard"/>
                <a:cs typeface="Pretendard"/>
              </a:rPr>
              <a:t>확장 질문: 잘못된 경보의 부담은 체포 전에도 발생하는가?</a:t>
            </a:r>
          </a:p>
          <a:p xmlns:a="http://schemas.openxmlformats.org/drawingml/2006/main">
            <a:pPr>
              <a:lnSpc>
                <a:spcPct val="125000"/>
              </a:lnSpc>
              <a:spcBef>
                <a:spcPts val="0"/>
              </a:spcBef>
              <a:spcAft>
                <a:spcPts val="0"/>
              </a:spcAft>
            </a:pPr>
            <a:r>
              <a:rPr>
                <a:latin typeface="Pretendard"/>
                <a:ea typeface="Pretendard"/>
                <a:cs typeface="Pretendard"/>
              </a:rPr>
              <a:t>F03: 법원은 런던경찰의 2024년 정책이 목적·명단·장소·비례성 판단을 결합하여 경찰 재량의 예측가능성을 확보했다고 보고 청구를 기각했다. §17은 원고가 2024년 2월 형제로 오인되어 정지·질문·신원 증명 요구를 받은 경위를 기재한다.</a:t>
            </a:r>
          </a:p>
          <a:p xmlns:a="http://schemas.openxmlformats.org/drawingml/2006/main">
            <a:pPr>
              <a:lnSpc>
                <a:spcPct val="125000"/>
              </a:lnSpc>
              <a:spcBef>
                <a:spcPts val="0"/>
              </a:spcBef>
              <a:spcAft>
                <a:spcPts val="0"/>
              </a:spcAft>
            </a:pPr>
            <a:r>
              <a:rPr>
                <a:latin typeface="Pretendard"/>
                <a:ea typeface="Pretendard"/>
                <a:cs typeface="Pretendard"/>
              </a:rPr>
              <a:t>적용 범위·한계: 소송의 중심은 정책의 명확성과 자의적 재량 통제이다. 원고들은 이 소송에서 비례성 자체를 다투지 않았다. §17 사건의 개별 처분 적법성 및 미래 상시 CCTV 연계의 심사는 범위 밖이며 상소 상태는 미확인.</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W8-26 / 본편 필수 / DIRECT</a:t>
            </a:r>
          </a:p>
          <a:p xmlns:a="http://schemas.openxmlformats.org/drawingml/2006/main">
            <a:pPr>
              <a:lnSpc>
                <a:spcPct val="125000"/>
              </a:lnSpc>
              <a:spcBef>
                <a:spcPts val="0"/>
              </a:spcBef>
              <a:spcAft>
                <a:spcPts val="0"/>
              </a:spcAft>
            </a:pPr>
            <a:r>
              <a:rPr>
                <a:latin typeface="Pretendard"/>
                <a:ea typeface="Pretendard"/>
                <a:cs typeface="Pretendard"/>
              </a:rPr>
              <a:t>판결 §17의 사실과 2024년9월 정책의 법적 심판을 구분. 이 개별 정지의 적법성을 판단했다고 쓰지 않는다.</a:t>
            </a:r>
          </a:p>
          <a:p xmlns:a="http://schemas.openxmlformats.org/drawingml/2006/main">
            <a:pPr>
              <a:lnSpc>
                <a:spcPct val="125000"/>
              </a:lnSpc>
              <a:spcBef>
                <a:spcPts val="0"/>
              </a:spcBef>
              <a:spcAft>
                <a:spcPts val="0"/>
              </a:spcAft>
            </a:pPr>
            <a:r>
              <a:rPr>
                <a:latin typeface="Pretendard"/>
                <a:ea typeface="Pretendard"/>
                <a:cs typeface="Pretendard"/>
              </a:rPr>
              <a:t>이전 연결: 체포의 근거를 강화하는 통제와 별도로 체포 이전의 접촉 부담도 평가해야 한다.</a:t>
            </a:r>
          </a:p>
          <a:p xmlns:a="http://schemas.openxmlformats.org/drawingml/2006/main">
            <a:pPr>
              <a:lnSpc>
                <a:spcPct val="125000"/>
              </a:lnSpc>
              <a:spcBef>
                <a:spcPts val="0"/>
              </a:spcBef>
              <a:spcAft>
                <a:spcPts val="0"/>
              </a:spcAft>
            </a:pPr>
            <a:r>
              <a:rPr>
                <a:latin typeface="Pretendard"/>
                <a:ea typeface="Pretendard"/>
                <a:cs typeface="Pretendard"/>
              </a:rPr>
              <a:t>다음 연결: 오인접촉의 부담에 더해 정확히 찾은 사람에게 어떤 목적으로 사용했는지도 문제된다.</a:t>
            </a:r>
          </a:p>
          <a:p xmlns:a="http://schemas.openxmlformats.org/drawingml/2006/main">
            <a:pPr>
              <a:lnSpc>
                <a:spcPct val="125000"/>
              </a:lnSpc>
              <a:spcBef>
                <a:spcPts val="0"/>
              </a:spcBef>
              <a:spcAft>
                <a:spcPts val="0"/>
              </a:spcAft>
            </a:pPr>
            <a:r>
              <a:rPr>
                <a:latin typeface="Pretendard"/>
                <a:ea typeface="Pretendard"/>
                <a:cs typeface="Pretendard"/>
              </a:rPr>
              <a:t>운영시간 초안: 1.5분.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Glukhin은 정치적 메시지를 담은 판지 인형과 함께 지하철에서 평화적으로 시위했습니다. 당국은 그를 식별하고 찾아내 행정위반 절차로 처벌했습니다. 유럽인권재판소는 사생활과 표현의 자유 침해를 인정했습니다. 정확히 같은 사람을 찾았더라도, 어떤 행위를 대상으로 어느 정도의 정보처리를 사용할지는 별도의 비례 판단을 요구합니다.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F04 | 유럽인권재판소 | 2023-07-04 / 확정 2023-10-04</a:t>
            </a:r>
          </a:p>
          <a:p xmlns:a="http://schemas.openxmlformats.org/drawingml/2006/main">
            <a:pPr>
              <a:lnSpc>
                <a:spcPct val="125000"/>
              </a:lnSpc>
              <a:spcBef>
                <a:spcPts val="0"/>
              </a:spcBef>
              <a:spcAft>
                <a:spcPts val="0"/>
              </a:spcAft>
            </a:pPr>
            <a:r>
              <a:rPr>
                <a:latin typeface="Pretendard"/>
                <a:ea typeface="Pretendard"/>
                <a:cs typeface="Pretendard"/>
              </a:rPr>
              <a:t>Glukhin v Russia, no. 11519/20</a:t>
            </a:r>
          </a:p>
          <a:p xmlns:a="http://schemas.openxmlformats.org/drawingml/2006/main">
            <a:pPr>
              <a:lnSpc>
                <a:spcPct val="125000"/>
              </a:lnSpc>
              <a:spcBef>
                <a:spcPts val="0"/>
              </a:spcBef>
              <a:spcAft>
                <a:spcPts val="0"/>
              </a:spcAft>
            </a:pPr>
            <a:r>
              <a:rPr>
                <a:latin typeface="Pretendard"/>
                <a:ea typeface="Pretendard"/>
                <a:cs typeface="Pretendard"/>
              </a:rPr>
              <a:t>https://hudoc.echr.coe.int/app/conversion/pdf/?library=ECHR&amp;id=001-225655&amp;filename=CASE%20OF%20GLUKHIN%20v.%20RUSSIA.pdf</a:t>
            </a:r>
          </a:p>
          <a:p xmlns:a="http://schemas.openxmlformats.org/drawingml/2006/main">
            <a:pPr>
              <a:lnSpc>
                <a:spcPct val="125000"/>
              </a:lnSpc>
              <a:spcBef>
                <a:spcPts val="0"/>
              </a:spcBef>
              <a:spcAft>
                <a:spcPts val="0"/>
              </a:spcAft>
            </a:pPr>
            <a:r>
              <a:rPr>
                <a:latin typeface="Pretendard"/>
                <a:ea typeface="Pretendard"/>
                <a:cs typeface="Pretendard"/>
              </a:rPr>
              <a:t>확인 범위: 공식 판결 PDF 32쪽의 안면인식·비례성 판단 및 공식 보도자료.</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평화적 시위자에 대한 식별·추적은 목적의 중대성과 비례 심사를 요구한다.</a:t>
            </a:r>
          </a:p>
          <a:p xmlns:a="http://schemas.openxmlformats.org/drawingml/2006/main">
            <a:pPr>
              <a:lnSpc>
                <a:spcPct val="125000"/>
              </a:lnSpc>
              <a:spcBef>
                <a:spcPts val="0"/>
              </a:spcBef>
              <a:spcAft>
                <a:spcPts val="0"/>
              </a:spcAft>
            </a:pPr>
            <a:r>
              <a:rPr>
                <a:latin typeface="Pretendard"/>
                <a:ea typeface="Pretendard"/>
                <a:cs typeface="Pretendard"/>
              </a:rPr>
              <a:t>확장 질문: 정확한 식별이라도 사용 목적에 따라 권리 문제가 생기는가?</a:t>
            </a:r>
          </a:p>
          <a:p xmlns:a="http://schemas.openxmlformats.org/drawingml/2006/main">
            <a:pPr>
              <a:lnSpc>
                <a:spcPct val="125000"/>
              </a:lnSpc>
              <a:spcBef>
                <a:spcPts val="0"/>
              </a:spcBef>
              <a:spcAft>
                <a:spcPts val="0"/>
              </a:spcAft>
            </a:pPr>
            <a:r>
              <a:rPr>
                <a:latin typeface="Pretendard"/>
                <a:ea typeface="Pretendard"/>
                <a:cs typeface="Pretendard"/>
              </a:rPr>
              <a:t>F04: 평화적 1인 시위자를 영상으로 식별하고 지하철에서 추적·체포한 사건에서 사생활과 표현의 자유 침해를 인정했다.</a:t>
            </a:r>
          </a:p>
          <a:p xmlns:a="http://schemas.openxmlformats.org/drawingml/2006/main">
            <a:pPr>
              <a:lnSpc>
                <a:spcPct val="125000"/>
              </a:lnSpc>
              <a:spcBef>
                <a:spcPts val="0"/>
              </a:spcBef>
              <a:spcAft>
                <a:spcPts val="0"/>
              </a:spcAft>
            </a:pPr>
            <a:r>
              <a:rPr>
                <a:latin typeface="Pretendard"/>
                <a:ea typeface="Pretendard"/>
                <a:cs typeface="Pretendard"/>
              </a:rPr>
              <a:t>적용 범위·한계: 경미한 행위와 정치적 표현이라는 맥락이 핵심이다. 중대범죄의 구체적 급박한 위험까지 같은 결론이라고 단정하지 않는다.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W8-27 / 본편 필수 / DIRECT</a:t>
            </a:r>
          </a:p>
          <a:p xmlns:a="http://schemas.openxmlformats.org/drawingml/2006/main">
            <a:pPr>
              <a:lnSpc>
                <a:spcPct val="125000"/>
              </a:lnSpc>
              <a:spcBef>
                <a:spcPts val="0"/>
              </a:spcBef>
              <a:spcAft>
                <a:spcPts val="0"/>
              </a:spcAft>
            </a:pPr>
            <a:r>
              <a:rPr>
                <a:latin typeface="Pretendard"/>
                <a:ea typeface="Pretendard"/>
                <a:cs typeface="Pretendard"/>
              </a:rPr>
              <a:t>체포 시 실시간 식별은 법원이 인정한 사건 맥락. 법원판단 전문§§86–91과 주문. 상반되는 범죄 맥락으로 결론을 확장하지 않는다.</a:t>
            </a:r>
          </a:p>
          <a:p xmlns:a="http://schemas.openxmlformats.org/drawingml/2006/main">
            <a:pPr>
              <a:lnSpc>
                <a:spcPct val="125000"/>
              </a:lnSpc>
              <a:spcBef>
                <a:spcPts val="0"/>
              </a:spcBef>
              <a:spcAft>
                <a:spcPts val="0"/>
              </a:spcAft>
            </a:pPr>
            <a:r>
              <a:rPr>
                <a:latin typeface="Pretendard"/>
                <a:ea typeface="Pretendard"/>
                <a:cs typeface="Pretendard"/>
              </a:rPr>
              <a:t>이전 연결: 오인접촉의 부담에 더해 정확히 찾은 사람에게 어떤 목적으로 사용했는지도 문제된다.</a:t>
            </a:r>
          </a:p>
          <a:p xmlns:a="http://schemas.openxmlformats.org/drawingml/2006/main">
            <a:pPr>
              <a:lnSpc>
                <a:spcPct val="125000"/>
              </a:lnSpc>
              <a:spcBef>
                <a:spcPts val="0"/>
              </a:spcBef>
              <a:spcAft>
                <a:spcPts val="0"/>
              </a:spcAft>
            </a:pPr>
            <a:r>
              <a:rPr>
                <a:latin typeface="Pretendard"/>
                <a:ea typeface="Pretendard"/>
                <a:cs typeface="Pretendard"/>
              </a:rPr>
              <a:t>다음 연결: 권리 침해에 이의를 제기하려면 삭제할 정보와 남길 판단 기록을 함께 설계한다.</a:t>
            </a:r>
          </a:p>
          <a:p xmlns:a="http://schemas.openxmlformats.org/drawingml/2006/main">
            <a:pPr>
              <a:lnSpc>
                <a:spcPct val="125000"/>
              </a:lnSpc>
              <a:spcBef>
                <a:spcPts val="0"/>
              </a:spcBef>
              <a:spcAft>
                <a:spcPts val="0"/>
              </a:spcAft>
            </a:pPr>
            <a:r>
              <a:rPr>
                <a:latin typeface="Pretendard"/>
                <a:ea typeface="Pretendard"/>
                <a:cs typeface="Pretendard"/>
              </a:rPr>
              <a:t>운영시간 초안: 3분.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정보를 오래 남기면 다시 검색하거나 다른 목적으로 사용할 가능성이 커집니다. 반대로 잘못된 접촉에 관한 기록까지 즉시 사라지면 당사자가 어떤 판단을 받았는지 확인하기 어렵습니다. 원영상, 비교용 특징, 경보와 담당자 판단, 접근 이력을 구분하면 수집 최소화와 권리구제를 각각 뒷받침하는 보존 기준을 설계할 수 있습니다.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F02 | 잉글랜드·웨일스 항소법원 / [2020] EWCA Civ 1058 | 2020-08-11</a:t>
            </a:r>
          </a:p>
          <a:p xmlns:a="http://schemas.openxmlformats.org/drawingml/2006/main">
            <a:pPr>
              <a:lnSpc>
                <a:spcPct val="125000"/>
              </a:lnSpc>
              <a:spcBef>
                <a:spcPts val="0"/>
              </a:spcBef>
              <a:spcAft>
                <a:spcPts val="0"/>
              </a:spcAft>
            </a:pPr>
            <a:r>
              <a:rPr>
                <a:latin typeface="Pretendard"/>
                <a:ea typeface="Pretendard"/>
                <a:cs typeface="Pretendard"/>
              </a:rPr>
              <a:t>R (Bridges) v Chief Constable of South Wales Police</a:t>
            </a:r>
          </a:p>
          <a:p xmlns:a="http://schemas.openxmlformats.org/drawingml/2006/main">
            <a:pPr>
              <a:lnSpc>
                <a:spcPct val="125000"/>
              </a:lnSpc>
              <a:spcBef>
                <a:spcPts val="0"/>
              </a:spcBef>
              <a:spcAft>
                <a:spcPts val="0"/>
              </a:spcAft>
            </a:pPr>
            <a:r>
              <a:rPr>
                <a:latin typeface="Pretendard"/>
                <a:ea typeface="Pretendard"/>
                <a:cs typeface="Pretendard"/>
              </a:rPr>
              <a:t>https://www.judiciary.uk/wp-content/uploads/2020/08/R-Bridges-v-CC-South-Wales-ors-Judgment.pdf</a:t>
            </a:r>
          </a:p>
          <a:p xmlns:a="http://schemas.openxmlformats.org/drawingml/2006/main">
            <a:pPr>
              <a:lnSpc>
                <a:spcPct val="125000"/>
              </a:lnSpc>
              <a:spcBef>
                <a:spcPts val="0"/>
              </a:spcBef>
              <a:spcAft>
                <a:spcPts val="0"/>
              </a:spcAft>
            </a:pPr>
            <a:r>
              <a:rPr>
                <a:latin typeface="Pretendard"/>
                <a:ea typeface="Pretendard"/>
                <a:cs typeface="Pretendard"/>
              </a:rPr>
              <a:t>확인 범위: 공식 판결 PDF 59쪽의 주요 판단·결론.</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F01 | 유럽연합 / 집행위원회 공식 조문 서비스 | 2024 제정 / 현행 조문 조회 2026-10-07</a:t>
            </a:r>
          </a:p>
          <a:p xmlns:a="http://schemas.openxmlformats.org/drawingml/2006/main">
            <a:pPr>
              <a:lnSpc>
                <a:spcPct val="125000"/>
              </a:lnSpc>
              <a:spcBef>
                <a:spcPts val="0"/>
              </a:spcBef>
              <a:spcAft>
                <a:spcPts val="0"/>
              </a:spcAft>
            </a:pPr>
            <a:r>
              <a:rPr>
                <a:latin typeface="Pretendard"/>
                <a:ea typeface="Pretendard"/>
                <a:cs typeface="Pretendard"/>
              </a:rPr>
              <a:t>EU AI Act 제5조: 공공장소 실시간 원격 생체식별</a:t>
            </a:r>
          </a:p>
          <a:p xmlns:a="http://schemas.openxmlformats.org/drawingml/2006/main">
            <a:pPr>
              <a:lnSpc>
                <a:spcPct val="125000"/>
              </a:lnSpc>
              <a:spcBef>
                <a:spcPts val="0"/>
              </a:spcBef>
              <a:spcAft>
                <a:spcPts val="0"/>
              </a:spcAft>
            </a:pPr>
            <a:r>
              <a:rPr>
                <a:latin typeface="Pretendard"/>
                <a:ea typeface="Pretendard"/>
                <a:cs typeface="Pretendard"/>
              </a:rPr>
              <a:t>https://ai-act-service-desk.ec.europa.eu/en/ai-act/article-5</a:t>
            </a:r>
          </a:p>
          <a:p xmlns:a="http://schemas.openxmlformats.org/drawingml/2006/main">
            <a:pPr>
              <a:lnSpc>
                <a:spcPct val="125000"/>
              </a:lnSpc>
              <a:spcBef>
                <a:spcPts val="0"/>
              </a:spcBef>
              <a:spcAft>
                <a:spcPts val="0"/>
              </a:spcAft>
            </a:pPr>
            <a:r>
              <a:rPr>
                <a:latin typeface="Pretendard"/>
                <a:ea typeface="Pretendard"/>
                <a:cs typeface="Pretendard"/>
              </a:rPr>
              <a:t>확인 범위: 공식 제5조 본문, 특히 1(h)와 2–7항.</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D37 | 이진백 / 국가인권위원회 인권정책과, 인권 웹진 | 2023-02</a:t>
            </a:r>
          </a:p>
          <a:p xmlns:a="http://schemas.openxmlformats.org/drawingml/2006/main">
            <a:pPr>
              <a:lnSpc>
                <a:spcPct val="125000"/>
              </a:lnSpc>
              <a:spcBef>
                <a:spcPts val="0"/>
              </a:spcBef>
              <a:spcAft>
                <a:spcPts val="0"/>
              </a:spcAft>
            </a:pPr>
            <a:r>
              <a:rPr>
                <a:latin typeface="Pretendard"/>
                <a:ea typeface="Pretendard"/>
                <a:cs typeface="Pretendard"/>
              </a:rPr>
              <a:t>얼굴인식 기술 도입, 지나칠만큼 신중해야 한다</a:t>
            </a:r>
          </a:p>
          <a:p xmlns:a="http://schemas.openxmlformats.org/drawingml/2006/main">
            <a:pPr>
              <a:lnSpc>
                <a:spcPct val="125000"/>
              </a:lnSpc>
              <a:spcBef>
                <a:spcPts val="0"/>
              </a:spcBef>
              <a:spcAft>
                <a:spcPts val="0"/>
              </a:spcAft>
            </a:pPr>
            <a:r>
              <a:rPr>
                <a:latin typeface="Pretendard"/>
                <a:ea typeface="Pretendard"/>
                <a:cs typeface="Pretendard"/>
              </a:rPr>
              <a:t>https://www.humanrights.go.kr/webzine/webzineListAndDetail?boardNo=7608823&amp;issueNo=7608811</a:t>
            </a:r>
          </a:p>
          <a:p xmlns:a="http://schemas.openxmlformats.org/drawingml/2006/main">
            <a:pPr>
              <a:lnSpc>
                <a:spcPct val="125000"/>
              </a:lnSpc>
              <a:spcBef>
                <a:spcPts val="0"/>
              </a:spcBef>
              <a:spcAft>
                <a:spcPts val="0"/>
              </a:spcAft>
            </a:pPr>
            <a:r>
              <a:rPr>
                <a:latin typeface="Pretendard"/>
                <a:ea typeface="Pretendard"/>
                <a:cs typeface="Pretendard"/>
              </a:rPr>
              <a:t>확인 범위: 공식 웹진 해설 본문.</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데이터 종류별 목적·보존기간·접근권한을 구분해 삭제와 구제를 설계한다.</a:t>
            </a:r>
          </a:p>
          <a:p xmlns:a="http://schemas.openxmlformats.org/drawingml/2006/main">
            <a:pPr>
              <a:lnSpc>
                <a:spcPct val="125000"/>
              </a:lnSpc>
              <a:spcBef>
                <a:spcPts val="0"/>
              </a:spcBef>
              <a:spcAft>
                <a:spcPts val="0"/>
              </a:spcAft>
            </a:pPr>
            <a:r>
              <a:rPr>
                <a:latin typeface="Pretendard"/>
                <a:ea typeface="Pretendard"/>
                <a:cs typeface="Pretendard"/>
              </a:rPr>
              <a:t>확장 질문: 빠른 삭제와 오류 구제를 어떻게 함께 보장하는가?</a:t>
            </a:r>
          </a:p>
          <a:p xmlns:a="http://schemas.openxmlformats.org/drawingml/2006/main">
            <a:pPr>
              <a:lnSpc>
                <a:spcPct val="125000"/>
              </a:lnSpc>
              <a:spcBef>
                <a:spcPts val="0"/>
              </a:spcBef>
              <a:spcAft>
                <a:spcPts val="0"/>
              </a:spcAft>
            </a:pPr>
            <a:r>
              <a:rPr>
                <a:latin typeface="Pretendard"/>
                <a:ea typeface="Pretendard"/>
                <a:cs typeface="Pretendard"/>
              </a:rPr>
              <a:t>F02: 감시대상자와 배치 장소를 정하는 재량의 통제 부족, 개인정보 영향평가 및 평등의무 문제를 인정해 항소를 일부 받아들였다.</a:t>
            </a:r>
          </a:p>
          <a:p xmlns:a="http://schemas.openxmlformats.org/drawingml/2006/main">
            <a:pPr>
              <a:lnSpc>
                <a:spcPct val="125000"/>
              </a:lnSpc>
              <a:spcBef>
                <a:spcPts val="0"/>
              </a:spcBef>
              <a:spcAft>
                <a:spcPts val="0"/>
              </a:spcAft>
            </a:pPr>
            <a:r>
              <a:rPr>
                <a:latin typeface="Pretendard"/>
                <a:ea typeface="Pretendard"/>
                <a:cs typeface="Pretendard"/>
              </a:rPr>
              <a:t>적용 범위·한계: 실시간 얼굴인식 기술 자체를 영구 전면 금지한 판결이 아니다. 당시 정책·기록에 대한 판단이다.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F01: 법집행 목적의 공공장소 실시간 원격 생체식별은 원칙적으로 금지하되 특정 피해자·실종자 수색, 생명·안전 위협 및 테러, 일정 중대범죄 용의자 식별 등에 예외를 둔다. 사전 독립적 허가와 시간·장소·인적 제한, 영향평가 및 회원국의 별도 법제가 요구된다.</a:t>
            </a:r>
          </a:p>
          <a:p xmlns:a="http://schemas.openxmlformats.org/drawingml/2006/main">
            <a:pPr>
              <a:lnSpc>
                <a:spcPct val="125000"/>
              </a:lnSpc>
              <a:spcBef>
                <a:spcPts val="0"/>
              </a:spcBef>
              <a:spcAft>
                <a:spcPts val="0"/>
              </a:spcAft>
            </a:pPr>
            <a:r>
              <a:rPr>
                <a:latin typeface="Pretendard"/>
                <a:ea typeface="Pretendard"/>
                <a:cs typeface="Pretendard"/>
              </a:rPr>
              <a:t>적용 범위·한계: 유럽 전체에서 경찰이 자동으로 사용할 수 있다는 뜻이 아니다. 범죄 기준은 해당 목록 범죄의 법정 최고형 4년 이상이다. 긴급 예외의 24시간은 허가 신청 시한이며 승인 시한이 아니다.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D37: 공공장소의 불특정 다수 대상 실시간 원격 얼굴인식 원칙적 금지, 공익적 필요에 따른 예외·보충적 활용, 도입 전 및 중대한 변경 시 독립적 인권영향평가를 권고 취지로 설명한다.</a:t>
            </a:r>
          </a:p>
          <a:p xmlns:a="http://schemas.openxmlformats.org/drawingml/2006/main">
            <a:pPr>
              <a:lnSpc>
                <a:spcPct val="125000"/>
              </a:lnSpc>
              <a:spcBef>
                <a:spcPts val="0"/>
              </a:spcBef>
              <a:spcAft>
                <a:spcPts val="0"/>
              </a:spcAft>
            </a:pPr>
            <a:r>
              <a:rPr>
                <a:latin typeface="Pretendard"/>
                <a:ea typeface="Pretendard"/>
                <a:cs typeface="Pretendard"/>
              </a:rPr>
              <a:t>적용 범위·한계: 담당자의 공식 해설이며 권고 결정문 전문과 구분한다. D01과 같은 권고 문서군에 속한다.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W8-28 / 본편 필수 / DIRECT</a:t>
            </a:r>
          </a:p>
          <a:p xmlns:a="http://schemas.openxmlformats.org/drawingml/2006/main">
            <a:pPr>
              <a:lnSpc>
                <a:spcPct val="125000"/>
              </a:lnSpc>
              <a:spcBef>
                <a:spcPts val="0"/>
              </a:spcBef>
              <a:spcAft>
                <a:spcPts val="0"/>
              </a:spcAft>
            </a:pPr>
            <a:r>
              <a:rPr>
                <a:latin typeface="Pretendard"/>
                <a:ea typeface="Pretendard"/>
                <a:cs typeface="Pretendard"/>
              </a:rPr>
              <a:t>여러 규범을 바탕으로 구성한 강의용 설계안. 한국의 일률적인 현행 보존기간으로 제시하지 않는다.</a:t>
            </a:r>
          </a:p>
          <a:p xmlns:a="http://schemas.openxmlformats.org/drawingml/2006/main">
            <a:pPr>
              <a:lnSpc>
                <a:spcPct val="125000"/>
              </a:lnSpc>
              <a:spcBef>
                <a:spcPts val="0"/>
              </a:spcBef>
              <a:spcAft>
                <a:spcPts val="0"/>
              </a:spcAft>
            </a:pPr>
            <a:r>
              <a:rPr>
                <a:latin typeface="Pretendard"/>
                <a:ea typeface="Pretendard"/>
                <a:cs typeface="Pretendard"/>
              </a:rPr>
              <a:t>이전 연결: 권리 침해에 이의를 제기하려면 삭제할 정보와 남길 판단 기록을 함께 설계한다.</a:t>
            </a:r>
          </a:p>
          <a:p xmlns:a="http://schemas.openxmlformats.org/drawingml/2006/main">
            <a:pPr>
              <a:lnSpc>
                <a:spcPct val="125000"/>
              </a:lnSpc>
              <a:spcBef>
                <a:spcPts val="0"/>
              </a:spcBef>
              <a:spcAft>
                <a:spcPts val="0"/>
              </a:spcAft>
            </a:pPr>
            <a:r>
              <a:rPr>
                <a:latin typeface="Pretendard"/>
                <a:ea typeface="Pretendard"/>
                <a:cs typeface="Pretendard"/>
              </a:rPr>
              <a:t>다음 연결: 개별 보호 설계는 국내 기관이 요구한 도입 전의 법적 근거와 영향평가에 연결된다.</a:t>
            </a:r>
          </a:p>
          <a:p xmlns:a="http://schemas.openxmlformats.org/drawingml/2006/main">
            <a:pPr>
              <a:lnSpc>
                <a:spcPct val="125000"/>
              </a:lnSpc>
              <a:spcBef>
                <a:spcPts val="0"/>
              </a:spcBef>
              <a:spcAft>
                <a:spcPts val="0"/>
              </a:spcAft>
            </a:pPr>
            <a:r>
              <a:rPr>
                <a:latin typeface="Pretendard"/>
                <a:ea typeface="Pretendard"/>
                <a:cs typeface="Pretendard"/>
              </a:rPr>
              <a:t>운영시간 초안: 1.5분.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인권위는 실시간 원격 얼굴인식에 대해 보호 입법과 엄격한 통제를 요구했습니다. 국무조정실은 개별적인 법적 근거가 없는 도입은 하지 않겠다고 회신했고, 인권위는 이를 수용으로 판단했습니다. 권고의 핵심은 최초 도입뿐 아니라 용도와 규모가 크게 바뀔 때에도 독립적으로 권리 영향을 검토하자는 것입니다.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D01 | 국가인권위원회 | 권고 2023-01-12 / 회신 수용 공표 2024-02-22</a:t>
            </a:r>
          </a:p>
          <a:p xmlns:a="http://schemas.openxmlformats.org/drawingml/2006/main">
            <a:pPr>
              <a:lnSpc>
                <a:spcPct val="125000"/>
              </a:lnSpc>
              <a:spcBef>
                <a:spcPts val="0"/>
              </a:spcBef>
              <a:spcAft>
                <a:spcPts val="0"/>
              </a:spcAft>
            </a:pPr>
            <a:r>
              <a:rPr>
                <a:latin typeface="Pretendard"/>
                <a:ea typeface="Pretendard"/>
                <a:cs typeface="Pretendard"/>
              </a:rPr>
              <a:t>실시간 원격 얼굴인식 기술 도입·활용 중지 조치 권고, 국무총리 수용</a:t>
            </a:r>
          </a:p>
          <a:p xmlns:a="http://schemas.openxmlformats.org/drawingml/2006/main">
            <a:pPr>
              <a:lnSpc>
                <a:spcPct val="125000"/>
              </a:lnSpc>
              <a:spcBef>
                <a:spcPts val="0"/>
              </a:spcBef>
              <a:spcAft>
                <a:spcPts val="0"/>
              </a:spcAft>
            </a:pPr>
            <a:r>
              <a:rPr>
                <a:latin typeface="Pretendard"/>
                <a:ea typeface="Pretendard"/>
                <a:cs typeface="Pretendard"/>
              </a:rPr>
              <a:t>https://www.humanrights.go.kr/base/board/read?boardManagementNo=24&amp;boardNo=7609889&amp;menuLevel=3&amp;menuNo=91&amp;page=1&amp;searchCategory=&amp;searchType=&amp;searchWord=</a:t>
            </a:r>
          </a:p>
          <a:p xmlns:a="http://schemas.openxmlformats.org/drawingml/2006/main">
            <a:pPr>
              <a:lnSpc>
                <a:spcPct val="125000"/>
              </a:lnSpc>
              <a:spcBef>
                <a:spcPts val="0"/>
              </a:spcBef>
              <a:spcAft>
                <a:spcPts val="0"/>
              </a:spcAft>
            </a:pPr>
            <a:r>
              <a:rPr>
                <a:latin typeface="Pretendard"/>
                <a:ea typeface="Pretendard"/>
                <a:cs typeface="Pretendard"/>
              </a:rPr>
              <a:t>확인 범위: 공식 보도자료 본문. 첨부 결정문은 접근 실패.</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D37 | 이진백 / 국가인권위원회 인권정책과, 인권 웹진 | 2023-02</a:t>
            </a:r>
          </a:p>
          <a:p xmlns:a="http://schemas.openxmlformats.org/drawingml/2006/main">
            <a:pPr>
              <a:lnSpc>
                <a:spcPct val="125000"/>
              </a:lnSpc>
              <a:spcBef>
                <a:spcPts val="0"/>
              </a:spcBef>
              <a:spcAft>
                <a:spcPts val="0"/>
              </a:spcAft>
            </a:pPr>
            <a:r>
              <a:rPr>
                <a:latin typeface="Pretendard"/>
                <a:ea typeface="Pretendard"/>
                <a:cs typeface="Pretendard"/>
              </a:rPr>
              <a:t>얼굴인식 기술 도입, 지나칠만큼 신중해야 한다</a:t>
            </a:r>
          </a:p>
          <a:p xmlns:a="http://schemas.openxmlformats.org/drawingml/2006/main">
            <a:pPr>
              <a:lnSpc>
                <a:spcPct val="125000"/>
              </a:lnSpc>
              <a:spcBef>
                <a:spcPts val="0"/>
              </a:spcBef>
              <a:spcAft>
                <a:spcPts val="0"/>
              </a:spcAft>
            </a:pPr>
            <a:r>
              <a:rPr>
                <a:latin typeface="Pretendard"/>
                <a:ea typeface="Pretendard"/>
                <a:cs typeface="Pretendard"/>
              </a:rPr>
              <a:t>https://www.humanrights.go.kr/webzine/webzineListAndDetail?boardNo=7608823&amp;issueNo=7608811</a:t>
            </a:r>
          </a:p>
          <a:p xmlns:a="http://schemas.openxmlformats.org/drawingml/2006/main">
            <a:pPr>
              <a:lnSpc>
                <a:spcPct val="125000"/>
              </a:lnSpc>
              <a:spcBef>
                <a:spcPts val="0"/>
              </a:spcBef>
              <a:spcAft>
                <a:spcPts val="0"/>
              </a:spcAft>
            </a:pPr>
            <a:r>
              <a:rPr>
                <a:latin typeface="Pretendard"/>
                <a:ea typeface="Pretendard"/>
                <a:cs typeface="Pretendard"/>
              </a:rPr>
              <a:t>확인 범위: 공식 웹진 해설 본문.</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법적 근거·보호 입법·독립 영향평가가 국내 권고의 핵심 조건이다.</a:t>
            </a:r>
          </a:p>
          <a:p xmlns:a="http://schemas.openxmlformats.org/drawingml/2006/main">
            <a:pPr>
              <a:lnSpc>
                <a:spcPct val="125000"/>
              </a:lnSpc>
              <a:spcBef>
                <a:spcPts val="0"/>
              </a:spcBef>
              <a:spcAft>
                <a:spcPts val="0"/>
              </a:spcAft>
            </a:pPr>
            <a:r>
              <a:rPr>
                <a:latin typeface="Pretendard"/>
                <a:ea typeface="Pretendard"/>
                <a:cs typeface="Pretendard"/>
              </a:rPr>
              <a:t>확장 질문: 국내 인권기구와 정부 회신은 어떤 출발 조건을 제시했는가?</a:t>
            </a:r>
          </a:p>
          <a:p xmlns:a="http://schemas.openxmlformats.org/drawingml/2006/main">
            <a:pPr>
              <a:lnSpc>
                <a:spcPct val="125000"/>
              </a:lnSpc>
              <a:spcBef>
                <a:spcPts val="0"/>
              </a:spcBef>
              <a:spcAft>
                <a:spcPts val="0"/>
              </a:spcAft>
            </a:pPr>
            <a:r>
              <a:rPr>
                <a:latin typeface="Pretendard"/>
                <a:ea typeface="Pretendard"/>
                <a:cs typeface="Pretendard"/>
              </a:rPr>
              <a:t>D01: 보호 입법 전 공공기관의 공공장소 실시간 원격 얼굴인식 도입·활용 중지 권고. 국무조정실은 개별 법적 근거 없는 도입을 하지 않겠다고 회신했고 인권위가 이를 수용으로 판단했다.</a:t>
            </a:r>
          </a:p>
          <a:p xmlns:a="http://schemas.openxmlformats.org/drawingml/2006/main">
            <a:pPr>
              <a:lnSpc>
                <a:spcPct val="125000"/>
              </a:lnSpc>
              <a:spcBef>
                <a:spcPts val="0"/>
              </a:spcBef>
              <a:spcAft>
                <a:spcPts val="0"/>
              </a:spcAft>
            </a:pPr>
            <a:r>
              <a:rPr>
                <a:latin typeface="Pretendard"/>
                <a:ea typeface="Pretendard"/>
                <a:cs typeface="Pretendard"/>
              </a:rPr>
              <a:t>적용 범위·한계: 권고·회신이며, 2026년 현재 모든 얼굴인식을 금지하는 법률이라는 뜻이 아니다.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D37: 공공장소의 불특정 다수 대상 실시간 원격 얼굴인식 원칙적 금지, 공익적 필요에 따른 예외·보충적 활용, 도입 전 및 중대한 변경 시 독립적 인권영향평가를 권고 취지로 설명한다.</a:t>
            </a:r>
          </a:p>
          <a:p xmlns:a="http://schemas.openxmlformats.org/drawingml/2006/main">
            <a:pPr>
              <a:lnSpc>
                <a:spcPct val="125000"/>
              </a:lnSpc>
              <a:spcBef>
                <a:spcPts val="0"/>
              </a:spcBef>
              <a:spcAft>
                <a:spcPts val="0"/>
              </a:spcAft>
            </a:pPr>
            <a:r>
              <a:rPr>
                <a:latin typeface="Pretendard"/>
                <a:ea typeface="Pretendard"/>
                <a:cs typeface="Pretendard"/>
              </a:rPr>
              <a:t>적용 범위·한계: 담당자의 공식 해설이며 권고 결정문 전문과 구분한다. D01과 같은 권고 문서군에 속한다.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W8-29 / 본편 필수 / DIRECT</a:t>
            </a:r>
          </a:p>
          <a:p xmlns:a="http://schemas.openxmlformats.org/drawingml/2006/main">
            <a:pPr>
              <a:lnSpc>
                <a:spcPct val="125000"/>
              </a:lnSpc>
              <a:spcBef>
                <a:spcPts val="0"/>
              </a:spcBef>
              <a:spcAft>
                <a:spcPts val="0"/>
              </a:spcAft>
            </a:pPr>
            <a:r>
              <a:rPr>
                <a:latin typeface="Pretendard"/>
                <a:ea typeface="Pretendard"/>
                <a:cs typeface="Pretendard"/>
              </a:rPr>
              <a:t>권고·회신이며 일반 금지법 제정 사실로 바꾸지 않는다.</a:t>
            </a:r>
          </a:p>
          <a:p xmlns:a="http://schemas.openxmlformats.org/drawingml/2006/main">
            <a:pPr>
              <a:lnSpc>
                <a:spcPct val="125000"/>
              </a:lnSpc>
              <a:spcBef>
                <a:spcPts val="0"/>
              </a:spcBef>
              <a:spcAft>
                <a:spcPts val="0"/>
              </a:spcAft>
            </a:pPr>
            <a:r>
              <a:rPr>
                <a:latin typeface="Pretendard"/>
                <a:ea typeface="Pretendard"/>
                <a:cs typeface="Pretendard"/>
              </a:rPr>
              <a:t>이전 연결: 개별 보호 설계는 국내 기관이 요구한 도입 전의 법적 근거와 영향평가에 연결된다.</a:t>
            </a:r>
          </a:p>
          <a:p xmlns:a="http://schemas.openxmlformats.org/drawingml/2006/main">
            <a:pPr>
              <a:lnSpc>
                <a:spcPct val="125000"/>
              </a:lnSpc>
              <a:spcBef>
                <a:spcPts val="0"/>
              </a:spcBef>
              <a:spcAft>
                <a:spcPts val="0"/>
              </a:spcAft>
            </a:pPr>
            <a:r>
              <a:rPr>
                <a:latin typeface="Pretendard"/>
                <a:ea typeface="Pretendard"/>
                <a:cs typeface="Pretendard"/>
              </a:rPr>
              <a:t>다음 연결: 도입을 유예하자는 권고와 함께 엄격한 조건 아래 활용하자는 국내 숙의 결과가 있다.</a:t>
            </a:r>
          </a:p>
          <a:p xmlns:a="http://schemas.openxmlformats.org/drawingml/2006/main">
            <a:pPr>
              <a:lnSpc>
                <a:spcPct val="125000"/>
              </a:lnSpc>
              <a:spcBef>
                <a:spcPts val="0"/>
              </a:spcBef>
              <a:spcAft>
                <a:spcPts val="0"/>
              </a:spcAft>
            </a:pPr>
            <a:r>
              <a:rPr>
                <a:latin typeface="Pretendard"/>
                <a:ea typeface="Pretendard"/>
                <a:cs typeface="Pretendard"/>
              </a:rPr>
              <a:t>운영시간 초안: 1.5분.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경기도의 도민인권배심회의는 중범죄 대응을 위한 실시간 얼굴인식을 다뤘습니다. 공식 발표는 엄격한 조건과 보호장치 아래 활용하는 경우에 대한 허용 의견을 전합니다. 동시에 오인 수사와 체포, 편향과 낙인의 위험도 논의됐습니다. 같은 기술에 관한 국내 논의에서도 허용할 목적과 먼저 갖출 조건이 판단을 구성합니다.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D02 | 경기도 2025년 제3회 도민인권배심회의 | 2025-08-27</a:t>
            </a:r>
          </a:p>
          <a:p xmlns:a="http://schemas.openxmlformats.org/drawingml/2006/main">
            <a:pPr>
              <a:lnSpc>
                <a:spcPct val="125000"/>
              </a:lnSpc>
              <a:spcBef>
                <a:spcPts val="0"/>
              </a:spcBef>
              <a:spcAft>
                <a:spcPts val="0"/>
              </a:spcAft>
            </a:pPr>
            <a:r>
              <a:rPr>
                <a:latin typeface="Pretendard"/>
                <a:ea typeface="Pretendard"/>
                <a:cs typeface="Pretendard"/>
              </a:rPr>
              <a:t>중범죄 대응을 위한 실시간 원격 얼굴인식 기술의 인권 침해 여부 숙의</a:t>
            </a:r>
          </a:p>
          <a:p xmlns:a="http://schemas.openxmlformats.org/drawingml/2006/main">
            <a:pPr>
              <a:lnSpc>
                <a:spcPct val="125000"/>
              </a:lnSpc>
              <a:spcBef>
                <a:spcPts val="0"/>
              </a:spcBef>
              <a:spcAft>
                <a:spcPts val="0"/>
              </a:spcAft>
            </a:pPr>
            <a:r>
              <a:rPr>
                <a:latin typeface="Pretendard"/>
                <a:ea typeface="Pretendard"/>
                <a:cs typeface="Pretendard"/>
              </a:rPr>
              <a:t>https://gnews.gg.go.kr/briefing/brief_gongbo_view.do?BS_CODE=S017&amp;number=67424</a:t>
            </a:r>
          </a:p>
          <a:p xmlns:a="http://schemas.openxmlformats.org/drawingml/2006/main">
            <a:pPr>
              <a:lnSpc>
                <a:spcPct val="125000"/>
              </a:lnSpc>
              <a:spcBef>
                <a:spcPts val="0"/>
              </a:spcBef>
              <a:spcAft>
                <a:spcPts val="0"/>
              </a:spcAft>
            </a:pPr>
            <a:r>
              <a:rPr>
                <a:latin typeface="Pretendard"/>
                <a:ea typeface="Pretendard"/>
                <a:cs typeface="Pretendard"/>
              </a:rPr>
              <a:t>확인 범위: 경기도 공식 발표 본문. 발언록·표결 원표 미확인.</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숙의 결과는 중범죄 목적과 엄격한 보호조건을 묶은 활용 의견이다.</a:t>
            </a:r>
          </a:p>
          <a:p xmlns:a="http://schemas.openxmlformats.org/drawingml/2006/main">
            <a:pPr>
              <a:lnSpc>
                <a:spcPct val="125000"/>
              </a:lnSpc>
              <a:spcBef>
                <a:spcPts val="0"/>
              </a:spcBef>
              <a:spcAft>
                <a:spcPts val="0"/>
              </a:spcAft>
            </a:pPr>
            <a:r>
              <a:rPr>
                <a:latin typeface="Pretendard"/>
                <a:ea typeface="Pretendard"/>
                <a:cs typeface="Pretendard"/>
              </a:rPr>
              <a:t>확장 질문: 국내 시민 숙의에서는 어떤 조건으로 활용 의견을 제시했는가?</a:t>
            </a:r>
          </a:p>
          <a:p xmlns:a="http://schemas.openxmlformats.org/drawingml/2006/main">
            <a:pPr>
              <a:lnSpc>
                <a:spcPct val="125000"/>
              </a:lnSpc>
              <a:spcBef>
                <a:spcPts val="0"/>
              </a:spcBef>
              <a:spcAft>
                <a:spcPts val="0"/>
              </a:spcAft>
            </a:pPr>
            <a:r>
              <a:rPr>
                <a:latin typeface="Pretendard"/>
                <a:ea typeface="Pretendard"/>
                <a:cs typeface="Pretendard"/>
              </a:rPr>
              <a:t>D02: 엄격한 조건과 보호장치 아래 중범죄 대응에 활용하는 경우 인권침해로 볼 수 없다는 배심회의 결과를 발표했다. 오인 수사·체포와 편향·낙인 위험도 논의했다.</a:t>
            </a:r>
          </a:p>
          <a:p xmlns:a="http://schemas.openxmlformats.org/drawingml/2006/main">
            <a:pPr>
              <a:lnSpc>
                <a:spcPct val="125000"/>
              </a:lnSpc>
              <a:spcBef>
                <a:spcPts val="0"/>
              </a:spcBef>
              <a:spcAft>
                <a:spcPts val="0"/>
              </a:spcAft>
            </a:pPr>
            <a:r>
              <a:rPr>
                <a:latin typeface="Pretendard"/>
                <a:ea typeface="Pretendard"/>
                <a:cs typeface="Pretendard"/>
              </a:rPr>
              <a:t>적용 범위·한계: 법원 판단·국가 정책 승인·전국 대표 여론조사가 아니다. 이희대 이사의 주재와 전문가·도민 참여는 확인했으나 2025년 실제 표본 수·찬반 분포는 미확인.</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W8-30 / 본편 필수 / DIRECT</a:t>
            </a:r>
          </a:p>
          <a:p xmlns:a="http://schemas.openxmlformats.org/drawingml/2006/main">
            <a:pPr>
              <a:lnSpc>
                <a:spcPct val="125000"/>
              </a:lnSpc>
              <a:spcBef>
                <a:spcPts val="0"/>
              </a:spcBef>
              <a:spcAft>
                <a:spcPts val="0"/>
              </a:spcAft>
            </a:pPr>
            <a:r>
              <a:rPr>
                <a:latin typeface="Pretendard"/>
                <a:ea typeface="Pretendard"/>
                <a:cs typeface="Pretendard"/>
              </a:rPr>
              <a:t>전체 국민 여론이나 법원판결로 표현하지 않는다. 발언록·표결 수치는 미확인이므로 쓰지 않는다.</a:t>
            </a:r>
          </a:p>
          <a:p xmlns:a="http://schemas.openxmlformats.org/drawingml/2006/main">
            <a:pPr>
              <a:lnSpc>
                <a:spcPct val="125000"/>
              </a:lnSpc>
              <a:spcBef>
                <a:spcPts val="0"/>
              </a:spcBef>
              <a:spcAft>
                <a:spcPts val="0"/>
              </a:spcAft>
            </a:pPr>
            <a:r>
              <a:rPr>
                <a:latin typeface="Pretendard"/>
                <a:ea typeface="Pretendard"/>
                <a:cs typeface="Pretendard"/>
              </a:rPr>
              <a:t>이전 연결: 도입을 유예하자는 권고와 함께 엄격한 조건 아래 활용하자는 국내 숙의 결과가 있다.</a:t>
            </a:r>
          </a:p>
          <a:p xmlns:a="http://schemas.openxmlformats.org/drawingml/2006/main">
            <a:pPr>
              <a:lnSpc>
                <a:spcPct val="125000"/>
              </a:lnSpc>
              <a:spcBef>
                <a:spcPts val="0"/>
              </a:spcBef>
              <a:spcAft>
                <a:spcPts val="0"/>
              </a:spcAft>
            </a:pPr>
            <a:r>
              <a:rPr>
                <a:latin typeface="Pretendard"/>
                <a:ea typeface="Pretendard"/>
                <a:cs typeface="Pretendard"/>
              </a:rPr>
              <a:t>다음 연결: 국내의 조건부 논의와 비교해 EU 법률은 금지와 예외 목적을 구체적으로 구분한다.</a:t>
            </a:r>
          </a:p>
          <a:p xmlns:a="http://schemas.openxmlformats.org/drawingml/2006/main">
            <a:pPr>
              <a:lnSpc>
                <a:spcPct val="125000"/>
              </a:lnSpc>
              <a:spcBef>
                <a:spcPts val="0"/>
              </a:spcBef>
              <a:spcAft>
                <a:spcPts val="0"/>
              </a:spcAft>
            </a:pPr>
            <a:r>
              <a:rPr>
                <a:latin typeface="Pretendard"/>
                <a:ea typeface="Pretendard"/>
                <a:cs typeface="Pretendard"/>
              </a:rPr>
              <a:t>운영시간 초안: 1.5분.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EU는 법집행 목적의 공공장소 실시간 원격 생체식별을 원칙적으로 금지하고, 엄격히 필요한 경우에 한해 세 범주의 예외를 둡니다. 특정 피해자와 실종자 수색, 중대한 생명·안전 또는 테러 위협, 일정한 중대범죄의 용의자 식별입니다. 예외 목적을 충족하는지와 구체적 배치를 허가할지는 추가 요건을 통해 판단합니다.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F01 | 유럽연합 / 집행위원회 공식 조문 서비스 | 2024 제정 / 현행 조문 조회 2026-10-07</a:t>
            </a:r>
          </a:p>
          <a:p xmlns:a="http://schemas.openxmlformats.org/drawingml/2006/main">
            <a:pPr>
              <a:lnSpc>
                <a:spcPct val="125000"/>
              </a:lnSpc>
              <a:spcBef>
                <a:spcPts val="0"/>
              </a:spcBef>
              <a:spcAft>
                <a:spcPts val="0"/>
              </a:spcAft>
            </a:pPr>
            <a:r>
              <a:rPr>
                <a:latin typeface="Pretendard"/>
                <a:ea typeface="Pretendard"/>
                <a:cs typeface="Pretendard"/>
              </a:rPr>
              <a:t>EU AI Act 제5조: 공공장소 실시간 원격 생체식별</a:t>
            </a:r>
          </a:p>
          <a:p xmlns:a="http://schemas.openxmlformats.org/drawingml/2006/main">
            <a:pPr>
              <a:lnSpc>
                <a:spcPct val="125000"/>
              </a:lnSpc>
              <a:spcBef>
                <a:spcPts val="0"/>
              </a:spcBef>
              <a:spcAft>
                <a:spcPts val="0"/>
              </a:spcAft>
            </a:pPr>
            <a:r>
              <a:rPr>
                <a:latin typeface="Pretendard"/>
                <a:ea typeface="Pretendard"/>
                <a:cs typeface="Pretendard"/>
              </a:rPr>
              <a:t>https://ai-act-service-desk.ec.europa.eu/en/ai-act/article-5</a:t>
            </a:r>
          </a:p>
          <a:p xmlns:a="http://schemas.openxmlformats.org/drawingml/2006/main">
            <a:pPr>
              <a:lnSpc>
                <a:spcPct val="125000"/>
              </a:lnSpc>
              <a:spcBef>
                <a:spcPts val="0"/>
              </a:spcBef>
              <a:spcAft>
                <a:spcPts val="0"/>
              </a:spcAft>
            </a:pPr>
            <a:r>
              <a:rPr>
                <a:latin typeface="Pretendard"/>
                <a:ea typeface="Pretendard"/>
                <a:cs typeface="Pretendard"/>
              </a:rPr>
              <a:t>확인 범위: 공식 제5조 본문, 특히 1(h)와 2–7항.</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일반 금지 아래 특정 수색·위협·중대범죄 목적에 엄격한 예외를 둔다.</a:t>
            </a:r>
          </a:p>
          <a:p xmlns:a="http://schemas.openxmlformats.org/drawingml/2006/main">
            <a:pPr>
              <a:lnSpc>
                <a:spcPct val="125000"/>
              </a:lnSpc>
              <a:spcBef>
                <a:spcPts val="0"/>
              </a:spcBef>
              <a:spcAft>
                <a:spcPts val="0"/>
              </a:spcAft>
            </a:pPr>
            <a:r>
              <a:rPr>
                <a:latin typeface="Pretendard"/>
                <a:ea typeface="Pretendard"/>
                <a:cs typeface="Pretendard"/>
              </a:rPr>
              <a:t>확장 질문: EU는 어떤 목적에 예외 가능성을 두는가?</a:t>
            </a:r>
          </a:p>
          <a:p xmlns:a="http://schemas.openxmlformats.org/drawingml/2006/main">
            <a:pPr>
              <a:lnSpc>
                <a:spcPct val="125000"/>
              </a:lnSpc>
              <a:spcBef>
                <a:spcPts val="0"/>
              </a:spcBef>
              <a:spcAft>
                <a:spcPts val="0"/>
              </a:spcAft>
            </a:pPr>
            <a:r>
              <a:rPr>
                <a:latin typeface="Pretendard"/>
                <a:ea typeface="Pretendard"/>
                <a:cs typeface="Pretendard"/>
              </a:rPr>
              <a:t>F01: 법집행 목적의 공공장소 실시간 원격 생체식별은 원칙적으로 금지하되 특정 피해자·실종자 수색, 생명·안전 위협 및 테러, 일정 중대범죄 용의자 식별 등에 예외를 둔다. 사전 독립적 허가와 시간·장소·인적 제한, 영향평가 및 회원국의 별도 법제가 요구된다.</a:t>
            </a:r>
          </a:p>
          <a:p xmlns:a="http://schemas.openxmlformats.org/drawingml/2006/main">
            <a:pPr>
              <a:lnSpc>
                <a:spcPct val="125000"/>
              </a:lnSpc>
              <a:spcBef>
                <a:spcPts val="0"/>
              </a:spcBef>
              <a:spcAft>
                <a:spcPts val="0"/>
              </a:spcAft>
            </a:pPr>
            <a:r>
              <a:rPr>
                <a:latin typeface="Pretendard"/>
                <a:ea typeface="Pretendard"/>
                <a:cs typeface="Pretendard"/>
              </a:rPr>
              <a:t>적용 범위·한계: 유럽 전체에서 경찰이 자동으로 사용할 수 있다는 뜻이 아니다. 범죄 기준은 해당 목록 범죄의 법정 최고형 4년 이상이다. 긴급 예외의 24시간은 허가 신청 시한이며 승인 시한이 아니다.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W8-31 / 본편 필수 / DIRECT</a:t>
            </a:r>
          </a:p>
          <a:p xmlns:a="http://schemas.openxmlformats.org/drawingml/2006/main">
            <a:pPr>
              <a:lnSpc>
                <a:spcPct val="125000"/>
              </a:lnSpc>
              <a:spcBef>
                <a:spcPts val="0"/>
              </a:spcBef>
              <a:spcAft>
                <a:spcPts val="0"/>
              </a:spcAft>
            </a:pPr>
            <a:r>
              <a:rPr>
                <a:latin typeface="Pretendard"/>
                <a:ea typeface="Pretendard"/>
                <a:cs typeface="Pretendard"/>
              </a:rPr>
              <a:t>제5조1(h)(iii)의4년은 법정 최고형. 최소형으로 쓰지 않는다.</a:t>
            </a:r>
          </a:p>
          <a:p xmlns:a="http://schemas.openxmlformats.org/drawingml/2006/main">
            <a:pPr>
              <a:lnSpc>
                <a:spcPct val="125000"/>
              </a:lnSpc>
              <a:spcBef>
                <a:spcPts val="0"/>
              </a:spcBef>
              <a:spcAft>
                <a:spcPts val="0"/>
              </a:spcAft>
            </a:pPr>
            <a:r>
              <a:rPr>
                <a:latin typeface="Pretendard"/>
                <a:ea typeface="Pretendard"/>
                <a:cs typeface="Pretendard"/>
              </a:rPr>
              <a:t>이전 연결: 국내의 조건부 논의와 비교해 EU 법률은 금지와 예외 목적을 구체적으로 구분한다.</a:t>
            </a:r>
          </a:p>
          <a:p xmlns:a="http://schemas.openxmlformats.org/drawingml/2006/main">
            <a:pPr>
              <a:lnSpc>
                <a:spcPct val="125000"/>
              </a:lnSpc>
              <a:spcBef>
                <a:spcPts val="0"/>
              </a:spcBef>
              <a:spcAft>
                <a:spcPts val="0"/>
              </a:spcAft>
            </a:pPr>
            <a:r>
              <a:rPr>
                <a:latin typeface="Pretendard"/>
                <a:ea typeface="Pretendard"/>
                <a:cs typeface="Pretendard"/>
              </a:rPr>
              <a:t>다음 연결: 법정 예외 목적에 해당하는 배치에도 허가·기간·장소·대상 제한이 붙는다.</a:t>
            </a:r>
          </a:p>
          <a:p xmlns:a="http://schemas.openxmlformats.org/drawingml/2006/main">
            <a:pPr>
              <a:lnSpc>
                <a:spcPct val="125000"/>
              </a:lnSpc>
              <a:spcBef>
                <a:spcPts val="0"/>
              </a:spcBef>
              <a:spcAft>
                <a:spcPts val="0"/>
              </a:spcAft>
            </a:pPr>
            <a:r>
              <a:rPr>
                <a:latin typeface="Pretendard"/>
                <a:ea typeface="Pretendard"/>
                <a:cs typeface="Pretendard"/>
              </a:rPr>
              <a:t>운영시간 초안: 2분.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EU의 예외를 적용하려면 회원국의 법률이 사용 가능 범위와 세부 절차를 정하고, 사법기관이나 독립 행정기관이 구체적인 신청을 심사합니다. 긴급한 경우 사전 허가 없이 시작할 수 있지만 지체 없이, 늦어도 24시간 안에 허가를 신청해야 합니다. 거절되면 즉시 중단하고 관련 데이터와 결과를 삭제하도록 합니다.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F01 | 유럽연합 / 집행위원회 공식 조문 서비스 | 2024 제정 / 현행 조문 조회 2026-10-07</a:t>
            </a:r>
          </a:p>
          <a:p xmlns:a="http://schemas.openxmlformats.org/drawingml/2006/main">
            <a:pPr>
              <a:lnSpc>
                <a:spcPct val="125000"/>
              </a:lnSpc>
              <a:spcBef>
                <a:spcPts val="0"/>
              </a:spcBef>
              <a:spcAft>
                <a:spcPts val="0"/>
              </a:spcAft>
            </a:pPr>
            <a:r>
              <a:rPr>
                <a:latin typeface="Pretendard"/>
                <a:ea typeface="Pretendard"/>
                <a:cs typeface="Pretendard"/>
              </a:rPr>
              <a:t>EU AI Act 제5조: 공공장소 실시간 원격 생체식별</a:t>
            </a:r>
          </a:p>
          <a:p xmlns:a="http://schemas.openxmlformats.org/drawingml/2006/main">
            <a:pPr>
              <a:lnSpc>
                <a:spcPct val="125000"/>
              </a:lnSpc>
              <a:spcBef>
                <a:spcPts val="0"/>
              </a:spcBef>
              <a:spcAft>
                <a:spcPts val="0"/>
              </a:spcAft>
            </a:pPr>
            <a:r>
              <a:rPr>
                <a:latin typeface="Pretendard"/>
                <a:ea typeface="Pretendard"/>
                <a:cs typeface="Pretendard"/>
              </a:rPr>
              <a:t>https://ai-act-service-desk.ec.europa.eu/en/ai-act/article-5</a:t>
            </a:r>
          </a:p>
          <a:p xmlns:a="http://schemas.openxmlformats.org/drawingml/2006/main">
            <a:pPr>
              <a:lnSpc>
                <a:spcPct val="125000"/>
              </a:lnSpc>
              <a:spcBef>
                <a:spcPts val="0"/>
              </a:spcBef>
              <a:spcAft>
                <a:spcPts val="0"/>
              </a:spcAft>
            </a:pPr>
            <a:r>
              <a:rPr>
                <a:latin typeface="Pretendard"/>
                <a:ea typeface="Pretendard"/>
                <a:cs typeface="Pretendard"/>
              </a:rPr>
              <a:t>확인 범위: 공식 제5조 본문, 특히 1(h)와 2–7항.</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회원국 법률·영향평가와 개별 배치의 독립적 허가가 결합된다.</a:t>
            </a:r>
          </a:p>
          <a:p xmlns:a="http://schemas.openxmlformats.org/drawingml/2006/main">
            <a:pPr>
              <a:lnSpc>
                <a:spcPct val="125000"/>
              </a:lnSpc>
              <a:spcBef>
                <a:spcPts val="0"/>
              </a:spcBef>
              <a:spcAft>
                <a:spcPts val="0"/>
              </a:spcAft>
            </a:pPr>
            <a:r>
              <a:rPr>
                <a:latin typeface="Pretendard"/>
                <a:ea typeface="Pretendard"/>
                <a:cs typeface="Pretendard"/>
              </a:rPr>
              <a:t>확장 질문: 예외 목적에 해당하면 어떤 허가를 더 받아야 하는가?</a:t>
            </a:r>
          </a:p>
          <a:p xmlns:a="http://schemas.openxmlformats.org/drawingml/2006/main">
            <a:pPr>
              <a:lnSpc>
                <a:spcPct val="125000"/>
              </a:lnSpc>
              <a:spcBef>
                <a:spcPts val="0"/>
              </a:spcBef>
              <a:spcAft>
                <a:spcPts val="0"/>
              </a:spcAft>
            </a:pPr>
            <a:r>
              <a:rPr>
                <a:latin typeface="Pretendard"/>
                <a:ea typeface="Pretendard"/>
                <a:cs typeface="Pretendard"/>
              </a:rPr>
              <a:t>F01: 법집행 목적의 공공장소 실시간 원격 생체식별은 원칙적으로 금지하되 특정 피해자·실종자 수색, 생명·안전 위협 및 테러, 일정 중대범죄 용의자 식별 등에 예외를 둔다. 사전 독립적 허가와 시간·장소·인적 제한, 영향평가 및 회원국의 별도 법제가 요구된다.</a:t>
            </a:r>
          </a:p>
          <a:p xmlns:a="http://schemas.openxmlformats.org/drawingml/2006/main">
            <a:pPr>
              <a:lnSpc>
                <a:spcPct val="125000"/>
              </a:lnSpc>
              <a:spcBef>
                <a:spcPts val="0"/>
              </a:spcBef>
              <a:spcAft>
                <a:spcPts val="0"/>
              </a:spcAft>
            </a:pPr>
            <a:r>
              <a:rPr>
                <a:latin typeface="Pretendard"/>
                <a:ea typeface="Pretendard"/>
                <a:cs typeface="Pretendard"/>
              </a:rPr>
              <a:t>적용 범위·한계: 유럽 전체에서 경찰이 자동으로 사용할 수 있다는 뜻이 아니다. 범죄 기준은 해당 목록 범죄의 법정 최고형 4년 이상이다. 긴급 예외의 24시간은 허가 신청 시한이며 승인 시한이 아니다.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W8-32 / 본편 필수 / DIRECT</a:t>
            </a:r>
          </a:p>
          <a:p xmlns:a="http://schemas.openxmlformats.org/drawingml/2006/main">
            <a:pPr>
              <a:lnSpc>
                <a:spcPct val="125000"/>
              </a:lnSpc>
              <a:spcBef>
                <a:spcPts val="0"/>
              </a:spcBef>
              <a:spcAft>
                <a:spcPts val="0"/>
              </a:spcAft>
            </a:pPr>
            <a:r>
              <a:rPr>
                <a:latin typeface="Pretendard"/>
                <a:ea typeface="Pretendard"/>
                <a:cs typeface="Pretendard"/>
              </a:rPr>
              <a:t>24시간은 신청 기한이다. 원문제5조3항 “subject to a prior authorisation”을 상세자료에 보존.</a:t>
            </a:r>
          </a:p>
          <a:p xmlns:a="http://schemas.openxmlformats.org/drawingml/2006/main">
            <a:pPr>
              <a:lnSpc>
                <a:spcPct val="125000"/>
              </a:lnSpc>
              <a:spcBef>
                <a:spcPts val="0"/>
              </a:spcBef>
              <a:spcAft>
                <a:spcPts val="0"/>
              </a:spcAft>
            </a:pPr>
            <a:r>
              <a:rPr>
                <a:latin typeface="Pretendard"/>
                <a:ea typeface="Pretendard"/>
                <a:cs typeface="Pretendard"/>
              </a:rPr>
              <a:t>이전 연결: 법정 예외 목적에 해당하는 배치에도 허가·기간·장소·대상 제한이 붙는다.</a:t>
            </a:r>
          </a:p>
          <a:p xmlns:a="http://schemas.openxmlformats.org/drawingml/2006/main">
            <a:pPr>
              <a:lnSpc>
                <a:spcPct val="125000"/>
              </a:lnSpc>
              <a:spcBef>
                <a:spcPts val="0"/>
              </a:spcBef>
              <a:spcAft>
                <a:spcPts val="0"/>
              </a:spcAft>
            </a:pPr>
            <a:r>
              <a:rPr>
                <a:latin typeface="Pretendard"/>
                <a:ea typeface="Pretendard"/>
                <a:cs typeface="Pretendard"/>
              </a:rPr>
              <a:t>다음 연결: 배치 통제의 구체성은 명단·장소의 재량을 심사한 영국 판결에서 드러난다.</a:t>
            </a:r>
          </a:p>
          <a:p xmlns:a="http://schemas.openxmlformats.org/drawingml/2006/main">
            <a:pPr>
              <a:lnSpc>
                <a:spcPct val="125000"/>
              </a:lnSpc>
              <a:spcBef>
                <a:spcPts val="0"/>
              </a:spcBef>
              <a:spcAft>
                <a:spcPts val="0"/>
              </a:spcAft>
            </a:pPr>
            <a:r>
              <a:rPr>
                <a:latin typeface="Pretendard"/>
                <a:ea typeface="Pretendard"/>
                <a:cs typeface="Pretendard"/>
              </a:rPr>
              <a:t>운영시간 초안: 2분.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Bridges 판결은 명단에 누가 들어갈 수 있는지와 어떤 장소에 배치할 수 있는지를 구체적으로 물었습니다. 정보수집상 관심이 있다는 이유만으로 명단을 넓힐 여지가 있었고, 장소 선택의 한계도 충분히 정해져 있지 않았습니다. 항소법원은 이런 재량의 폭과 영향평가·평등의무 문제를 인정했습니다. 시스템의 정확성과 함께 누구에게 사용될지를 통제하는 기준이 필요합니다.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F02 | 잉글랜드·웨일스 항소법원 / [2020] EWCA Civ 1058 | 2020-08-11</a:t>
            </a:r>
          </a:p>
          <a:p xmlns:a="http://schemas.openxmlformats.org/drawingml/2006/main">
            <a:pPr>
              <a:lnSpc>
                <a:spcPct val="125000"/>
              </a:lnSpc>
              <a:spcBef>
                <a:spcPts val="0"/>
              </a:spcBef>
              <a:spcAft>
                <a:spcPts val="0"/>
              </a:spcAft>
            </a:pPr>
            <a:r>
              <a:rPr>
                <a:latin typeface="Pretendard"/>
                <a:ea typeface="Pretendard"/>
                <a:cs typeface="Pretendard"/>
              </a:rPr>
              <a:t>R (Bridges) v Chief Constable of South Wales Police</a:t>
            </a:r>
          </a:p>
          <a:p xmlns:a="http://schemas.openxmlformats.org/drawingml/2006/main">
            <a:pPr>
              <a:lnSpc>
                <a:spcPct val="125000"/>
              </a:lnSpc>
              <a:spcBef>
                <a:spcPts val="0"/>
              </a:spcBef>
              <a:spcAft>
                <a:spcPts val="0"/>
              </a:spcAft>
            </a:pPr>
            <a:r>
              <a:rPr>
                <a:latin typeface="Pretendard"/>
                <a:ea typeface="Pretendard"/>
                <a:cs typeface="Pretendard"/>
              </a:rPr>
              <a:t>https://www.judiciary.uk/wp-content/uploads/2020/08/R-Bridges-v-CC-South-Wales-ors-Judgment.pdf</a:t>
            </a:r>
          </a:p>
          <a:p xmlns:a="http://schemas.openxmlformats.org/drawingml/2006/main">
            <a:pPr>
              <a:lnSpc>
                <a:spcPct val="125000"/>
              </a:lnSpc>
              <a:spcBef>
                <a:spcPts val="0"/>
              </a:spcBef>
              <a:spcAft>
                <a:spcPts val="0"/>
              </a:spcAft>
            </a:pPr>
            <a:r>
              <a:rPr>
                <a:latin typeface="Pretendard"/>
                <a:ea typeface="Pretendard"/>
                <a:cs typeface="Pretendard"/>
              </a:rPr>
              <a:t>확인 범위: 공식 판결 PDF 59쪽의 주요 판단·결론.</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명단 등록과 배치 장소를 정하는 재량에는 공개되고 구체적인 통제가 필요하다.</a:t>
            </a:r>
          </a:p>
          <a:p xmlns:a="http://schemas.openxmlformats.org/drawingml/2006/main">
            <a:pPr>
              <a:lnSpc>
                <a:spcPct val="125000"/>
              </a:lnSpc>
              <a:spcBef>
                <a:spcPts val="0"/>
              </a:spcBef>
              <a:spcAft>
                <a:spcPts val="0"/>
              </a:spcAft>
            </a:pPr>
            <a:r>
              <a:rPr>
                <a:latin typeface="Pretendard"/>
                <a:ea typeface="Pretendard"/>
                <a:cs typeface="Pretendard"/>
              </a:rPr>
              <a:t>확장 질문: 경찰의 명단·장소 선택에는 어떤 구체성이 필요한가?</a:t>
            </a:r>
          </a:p>
          <a:p xmlns:a="http://schemas.openxmlformats.org/drawingml/2006/main">
            <a:pPr>
              <a:lnSpc>
                <a:spcPct val="125000"/>
              </a:lnSpc>
              <a:spcBef>
                <a:spcPts val="0"/>
              </a:spcBef>
              <a:spcAft>
                <a:spcPts val="0"/>
              </a:spcAft>
            </a:pPr>
            <a:r>
              <a:rPr>
                <a:latin typeface="Pretendard"/>
                <a:ea typeface="Pretendard"/>
                <a:cs typeface="Pretendard"/>
              </a:rPr>
              <a:t>F02: 감시대상자와 배치 장소를 정하는 재량의 통제 부족, 개인정보 영향평가 및 평등의무 문제를 인정해 항소를 일부 받아들였다.</a:t>
            </a:r>
          </a:p>
          <a:p xmlns:a="http://schemas.openxmlformats.org/drawingml/2006/main">
            <a:pPr>
              <a:lnSpc>
                <a:spcPct val="125000"/>
              </a:lnSpc>
              <a:spcBef>
                <a:spcPts val="0"/>
              </a:spcBef>
              <a:spcAft>
                <a:spcPts val="0"/>
              </a:spcAft>
            </a:pPr>
            <a:r>
              <a:rPr>
                <a:latin typeface="Pretendard"/>
                <a:ea typeface="Pretendard"/>
                <a:cs typeface="Pretendard"/>
              </a:rPr>
              <a:t>적용 범위·한계: 실시간 얼굴인식 기술 자체를 영구 전면 금지한 판결이 아니다. 당시 정책·기록에 대한 판단이다.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W8-33 / 본편 필수 / DIRECT</a:t>
            </a:r>
          </a:p>
          <a:p xmlns:a="http://schemas.openxmlformats.org/drawingml/2006/main">
            <a:pPr>
              <a:lnSpc>
                <a:spcPct val="125000"/>
              </a:lnSpc>
              <a:spcBef>
                <a:spcPts val="0"/>
              </a:spcBef>
              <a:spcAft>
                <a:spcPts val="0"/>
              </a:spcAft>
            </a:pPr>
            <a:r>
              <a:rPr>
                <a:latin typeface="Pretendard"/>
                <a:ea typeface="Pretendard"/>
                <a:cs typeface="Pretendard"/>
              </a:rPr>
              <a:t>당시 정책의 위법 문제이며 기술 자체 영구금지로 확대하지 않는다.</a:t>
            </a:r>
          </a:p>
          <a:p xmlns:a="http://schemas.openxmlformats.org/drawingml/2006/main">
            <a:pPr>
              <a:lnSpc>
                <a:spcPct val="125000"/>
              </a:lnSpc>
              <a:spcBef>
                <a:spcPts val="0"/>
              </a:spcBef>
              <a:spcAft>
                <a:spcPts val="0"/>
              </a:spcAft>
            </a:pPr>
            <a:r>
              <a:rPr>
                <a:latin typeface="Pretendard"/>
                <a:ea typeface="Pretendard"/>
                <a:cs typeface="Pretendard"/>
              </a:rPr>
              <a:t>이전 연결: 배치 통제의 구체성은 명단·장소의 재량을 심사한 영국 판결에서 드러난다.</a:t>
            </a:r>
          </a:p>
          <a:p xmlns:a="http://schemas.openxmlformats.org/drawingml/2006/main">
            <a:pPr>
              <a:lnSpc>
                <a:spcPct val="125000"/>
              </a:lnSpc>
              <a:spcBef>
                <a:spcPts val="0"/>
              </a:spcBef>
              <a:spcAft>
                <a:spcPts val="0"/>
              </a:spcAft>
            </a:pPr>
            <a:r>
              <a:rPr>
                <a:latin typeface="Pretendard"/>
                <a:ea typeface="Pretendard"/>
                <a:cs typeface="Pretendard"/>
              </a:rPr>
              <a:t>다음 연결: 2020년의 재량 통제 문제와 구분해 2026년 판결은 다른 경찰의 구체화된 정책을 심사했다.</a:t>
            </a:r>
          </a:p>
          <a:p xmlns:a="http://schemas.openxmlformats.org/drawingml/2006/main">
            <a:pPr>
              <a:lnSpc>
                <a:spcPct val="125000"/>
              </a:lnSpc>
              <a:spcBef>
                <a:spcPts val="0"/>
              </a:spcBef>
              <a:spcAft>
                <a:spcPts val="0"/>
              </a:spcAft>
            </a:pPr>
            <a:r>
              <a:rPr>
                <a:latin typeface="Pretendard"/>
                <a:ea typeface="Pretendard"/>
                <a:cs typeface="Pretendard"/>
              </a:rPr>
              <a:t>운영시간 초안: 2분.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2026년 판결이 심사한 것은 2024년 9월 채택된 런던경찰 정책의 명확성과 재량 통제였습니다. 법원은 명단과 장소, 비례성 검토를 연결한 지침을 전체적으로 읽고 자의적 운용을 통제할 구조가 있다고 보았습니다. 원고들이 제기한 법의 명확성 쟁점에서 청구가 기각됐습니다. 구체적인 배치의 필요성과 비례성은 그 배치의 사정을 바탕으로 판단하게 됩니다.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F03 | 잉글랜드·웨일스 고등법원 / [2026] EWHC 915 (Admin) | 2026-04-21</a:t>
            </a:r>
          </a:p>
          <a:p xmlns:a="http://schemas.openxmlformats.org/drawingml/2006/main">
            <a:pPr>
              <a:lnSpc>
                <a:spcPct val="125000"/>
              </a:lnSpc>
              <a:spcBef>
                <a:spcPts val="0"/>
              </a:spcBef>
              <a:spcAft>
                <a:spcPts val="0"/>
              </a:spcAft>
            </a:pPr>
            <a:r>
              <a:rPr>
                <a:latin typeface="Pretendard"/>
                <a:ea typeface="Pretendard"/>
                <a:cs typeface="Pretendard"/>
              </a:rPr>
              <a:t>R (Thompson and Carlo) v Commissioner of Police of the Metropolis</a:t>
            </a:r>
          </a:p>
          <a:p xmlns:a="http://schemas.openxmlformats.org/drawingml/2006/main">
            <a:pPr>
              <a:lnSpc>
                <a:spcPct val="125000"/>
              </a:lnSpc>
              <a:spcBef>
                <a:spcPts val="0"/>
              </a:spcBef>
              <a:spcAft>
                <a:spcPts val="0"/>
              </a:spcAft>
            </a:pPr>
            <a:r>
              <a:rPr>
                <a:latin typeface="Pretendard"/>
                <a:ea typeface="Pretendard"/>
                <a:cs typeface="Pretendard"/>
              </a:rPr>
              <a:t>https://www.judiciary.uk/wp-content/uploads/2026/04/AC-2024-LON-001764-R-Thompson-and-Carlo-version-for-hand-down-21-04-2026.pdf</a:t>
            </a:r>
          </a:p>
          <a:p xmlns:a="http://schemas.openxmlformats.org/drawingml/2006/main">
            <a:pPr>
              <a:lnSpc>
                <a:spcPct val="125000"/>
              </a:lnSpc>
              <a:spcBef>
                <a:spcPts val="0"/>
              </a:spcBef>
              <a:spcAft>
                <a:spcPts val="0"/>
              </a:spcAft>
            </a:pPr>
            <a:r>
              <a:rPr>
                <a:latin typeface="Pretendard"/>
                <a:ea typeface="Pretendard"/>
                <a:cs typeface="Pretendard"/>
              </a:rPr>
              <a:t>확인 범위: 공식 47쪽 판결의 심판범위 §§1–15, 사실관계 §17, CCTV 확장 §68, 정책 평가 §§219–231.</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정책의 구체적 기준과 검토 구조는 재량의 예측가능성 심사에 영향을 준다.</a:t>
            </a:r>
          </a:p>
          <a:p xmlns:a="http://schemas.openxmlformats.org/drawingml/2006/main">
            <a:pPr>
              <a:lnSpc>
                <a:spcPct val="125000"/>
              </a:lnSpc>
              <a:spcBef>
                <a:spcPts val="0"/>
              </a:spcBef>
              <a:spcAft>
                <a:spcPts val="0"/>
              </a:spcAft>
            </a:pPr>
            <a:r>
              <a:rPr>
                <a:latin typeface="Pretendard"/>
                <a:ea typeface="Pretendard"/>
                <a:cs typeface="Pretendard"/>
              </a:rPr>
              <a:t>확장 질문: 2026년 법원은 어떤 정책의 어떤 쟁점을 판단했는가?</a:t>
            </a:r>
          </a:p>
          <a:p xmlns:a="http://schemas.openxmlformats.org/drawingml/2006/main">
            <a:pPr>
              <a:lnSpc>
                <a:spcPct val="125000"/>
              </a:lnSpc>
              <a:spcBef>
                <a:spcPts val="0"/>
              </a:spcBef>
              <a:spcAft>
                <a:spcPts val="0"/>
              </a:spcAft>
            </a:pPr>
            <a:r>
              <a:rPr>
                <a:latin typeface="Pretendard"/>
                <a:ea typeface="Pretendard"/>
                <a:cs typeface="Pretendard"/>
              </a:rPr>
              <a:t>F03: 법원은 런던경찰의 2024년 정책이 목적·명단·장소·비례성 판단을 결합하여 경찰 재량의 예측가능성을 확보했다고 보고 청구를 기각했다. §17은 원고가 2024년 2월 형제로 오인되어 정지·질문·신원 증명 요구를 받은 경위를 기재한다.</a:t>
            </a:r>
          </a:p>
          <a:p xmlns:a="http://schemas.openxmlformats.org/drawingml/2006/main">
            <a:pPr>
              <a:lnSpc>
                <a:spcPct val="125000"/>
              </a:lnSpc>
              <a:spcBef>
                <a:spcPts val="0"/>
              </a:spcBef>
              <a:spcAft>
                <a:spcPts val="0"/>
              </a:spcAft>
            </a:pPr>
            <a:r>
              <a:rPr>
                <a:latin typeface="Pretendard"/>
                <a:ea typeface="Pretendard"/>
                <a:cs typeface="Pretendard"/>
              </a:rPr>
              <a:t>적용 범위·한계: 소송의 중심은 정책의 명확성과 자의적 재량 통제이다. 원고들은 이 소송에서 비례성 자체를 다투지 않았다. §17 사건의 개별 처분 적법성 및 미래 상시 CCTV 연계의 심사는 범위 밖이며 상소 상태는 미확인.</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W8-34 / 본편 필수 / DIRECT</a:t>
            </a:r>
          </a:p>
          <a:p xmlns:a="http://schemas.openxmlformats.org/drawingml/2006/main">
            <a:pPr>
              <a:lnSpc>
                <a:spcPct val="125000"/>
              </a:lnSpc>
              <a:spcBef>
                <a:spcPts val="0"/>
              </a:spcBef>
              <a:spcAft>
                <a:spcPts val="0"/>
              </a:spcAft>
            </a:pPr>
            <a:r>
              <a:rPr>
                <a:latin typeface="Pretendard"/>
                <a:ea typeface="Pretendard"/>
                <a:cs typeface="Pretendard"/>
              </a:rPr>
              <a:t>Bridges의 항소심 후속심이 아니라 별개 경찰·정책에 대한 별개 사건. 본안에서 비례성 자체를 다투지 않았고 상소 상태 미확인.</a:t>
            </a:r>
          </a:p>
          <a:p xmlns:a="http://schemas.openxmlformats.org/drawingml/2006/main">
            <a:pPr>
              <a:lnSpc>
                <a:spcPct val="125000"/>
              </a:lnSpc>
              <a:spcBef>
                <a:spcPts val="0"/>
              </a:spcBef>
              <a:spcAft>
                <a:spcPts val="0"/>
              </a:spcAft>
            </a:pPr>
            <a:r>
              <a:rPr>
                <a:latin typeface="Pretendard"/>
                <a:ea typeface="Pretendard"/>
                <a:cs typeface="Pretendard"/>
              </a:rPr>
              <a:t>이전 연결: 2020년의 재량 통제 문제와 구분해 2026년 판결은 다른 경찰의 구체화된 정책을 심사했다.</a:t>
            </a:r>
          </a:p>
          <a:p xmlns:a="http://schemas.openxmlformats.org/drawingml/2006/main">
            <a:pPr>
              <a:lnSpc>
                <a:spcPct val="125000"/>
              </a:lnSpc>
              <a:spcBef>
                <a:spcPts val="0"/>
              </a:spcBef>
              <a:spcAft>
                <a:spcPts val="0"/>
              </a:spcAft>
            </a:pPr>
            <a:r>
              <a:rPr>
                <a:latin typeface="Pretendard"/>
                <a:ea typeface="Pretendard"/>
                <a:cs typeface="Pretendard"/>
              </a:rPr>
              <a:t>다음 연결: 사용 조건을 정하는 판단에는 신원을 식별하지 않는 안전 기능의 선택도 포함된다.</a:t>
            </a:r>
          </a:p>
          <a:p xmlns:a="http://schemas.openxmlformats.org/drawingml/2006/main">
            <a:pPr>
              <a:lnSpc>
                <a:spcPct val="125000"/>
              </a:lnSpc>
              <a:spcBef>
                <a:spcPts val="0"/>
              </a:spcBef>
              <a:spcAft>
                <a:spcPts val="0"/>
              </a:spcAft>
            </a:pPr>
            <a:r>
              <a:rPr>
                <a:latin typeface="Pretendard"/>
                <a:ea typeface="Pretendard"/>
                <a:cs typeface="Pretendard"/>
              </a:rPr>
              <a:t>운영시간 초안: 2분.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파리 올림픽의 실험은 위험 상황을 먼저 찾는 기능에 초점을 맞췄습니다. 여덟 가지 사건 범주에는 버려진 물건, 쓰러진 사람, 높은 군중 밀도와 화재 등이 포함됩니다. 얼굴과 생체 신원식별은 제외했고 경보 뒤에는 사람이 영상을 확인했습니다. 안전 목표가 혼잡이나 사고 탐지라면 어떤 기술이 그 목표에 직접 답하는지를 구분할 수 있습니다.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F15 | 프랑스 헌법위원회 | 2023-05-17</a:t>
            </a:r>
          </a:p>
          <a:p xmlns:a="http://schemas.openxmlformats.org/drawingml/2006/main">
            <a:pPr>
              <a:lnSpc>
                <a:spcPct val="125000"/>
              </a:lnSpc>
              <a:spcBef>
                <a:spcPts val="0"/>
              </a:spcBef>
              <a:spcAft>
                <a:spcPts val="0"/>
              </a:spcAft>
            </a:pPr>
            <a:r>
              <a:rPr>
                <a:latin typeface="Pretendard"/>
                <a:ea typeface="Pretendard"/>
                <a:cs typeface="Pretendard"/>
              </a:rPr>
              <a:t>Décision n° 2023-850 DC: 파리 올림픽 관련 알고리즘 영상분석</a:t>
            </a:r>
          </a:p>
          <a:p xmlns:a="http://schemas.openxmlformats.org/drawingml/2006/main">
            <a:pPr>
              <a:lnSpc>
                <a:spcPct val="125000"/>
              </a:lnSpc>
              <a:spcBef>
                <a:spcPts val="0"/>
              </a:spcBef>
              <a:spcAft>
                <a:spcPts val="0"/>
              </a:spcAft>
            </a:pPr>
            <a:r>
              <a:rPr>
                <a:latin typeface="Pretendard"/>
                <a:ea typeface="Pretendard"/>
                <a:cs typeface="Pretendard"/>
              </a:rPr>
              <a:t>https://www.legifrance.gouv.fr/juri/id/CONSTEXT000047602516</a:t>
            </a:r>
          </a:p>
          <a:p xmlns:a="http://schemas.openxmlformats.org/drawingml/2006/main">
            <a:pPr>
              <a:lnSpc>
                <a:spcPct val="125000"/>
              </a:lnSpc>
              <a:spcBef>
                <a:spcPts val="0"/>
              </a:spcBef>
              <a:spcAft>
                <a:spcPts val="0"/>
              </a:spcAft>
            </a:pPr>
            <a:r>
              <a:rPr>
                <a:latin typeface="Pretendard"/>
                <a:ea typeface="Pretendard"/>
                <a:cs typeface="Pretendard"/>
              </a:rPr>
              <a:t>확인 범위: 공식 결정문 중 알고리즘 영상분석 부분, 특히 제42–43항.</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S17 | CNIL | 2024-06-25</a:t>
            </a:r>
          </a:p>
          <a:p xmlns:a="http://schemas.openxmlformats.org/drawingml/2006/main">
            <a:pPr>
              <a:lnSpc>
                <a:spcPct val="125000"/>
              </a:lnSpc>
              <a:spcBef>
                <a:spcPts val="0"/>
              </a:spcBef>
              <a:spcAft>
                <a:spcPts val="0"/>
              </a:spcAft>
            </a:pPr>
            <a:r>
              <a:rPr>
                <a:latin typeface="Pretendard"/>
                <a:ea typeface="Pretendard"/>
                <a:cs typeface="Pretendard"/>
              </a:rPr>
              <a:t>2024 Olympics: the CNIL’s Q&amp;A on your privacy and freedoms</a:t>
            </a:r>
          </a:p>
          <a:p xmlns:a="http://schemas.openxmlformats.org/drawingml/2006/main">
            <a:pPr>
              <a:lnSpc>
                <a:spcPct val="125000"/>
              </a:lnSpc>
              <a:spcBef>
                <a:spcPts val="0"/>
              </a:spcBef>
              <a:spcAft>
                <a:spcPts val="0"/>
              </a:spcAft>
            </a:pPr>
            <a:r>
              <a:rPr>
                <a:latin typeface="Pretendard"/>
                <a:ea typeface="Pretendard"/>
                <a:cs typeface="Pretendard"/>
              </a:rPr>
              <a:t>https://www.cnil.fr/en/2024-olympics-cnils-qa-your-privacy-and-freedoms</a:t>
            </a:r>
          </a:p>
          <a:p xmlns:a="http://schemas.openxmlformats.org/drawingml/2006/main">
            <a:pPr>
              <a:lnSpc>
                <a:spcPct val="125000"/>
              </a:lnSpc>
              <a:spcBef>
                <a:spcPts val="0"/>
              </a:spcBef>
              <a:spcAft>
                <a:spcPts val="0"/>
              </a:spcAft>
            </a:pPr>
            <a:r>
              <a:rPr>
                <a:latin typeface="Pretendard"/>
                <a:ea typeface="Pretendard"/>
                <a:cs typeface="Pretendard"/>
              </a:rPr>
              <a:t>확인 범위: Augmented cameras 관련 문답</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사고·혼잡 탐지는 사람의 신원을 찾지 않는 기능으로도 설계할 수 있다.</a:t>
            </a:r>
          </a:p>
          <a:p xmlns:a="http://schemas.openxmlformats.org/drawingml/2006/main">
            <a:pPr>
              <a:lnSpc>
                <a:spcPct val="125000"/>
              </a:lnSpc>
              <a:spcBef>
                <a:spcPts val="0"/>
              </a:spcBef>
              <a:spcAft>
                <a:spcPts val="0"/>
              </a:spcAft>
            </a:pPr>
            <a:r>
              <a:rPr>
                <a:latin typeface="Pretendard"/>
                <a:ea typeface="Pretendard"/>
                <a:cs typeface="Pretendard"/>
              </a:rPr>
              <a:t>확장 질문: 안전 목적을 위해 신원식별 외에 어떤 기능을 선택할 수 있는가?</a:t>
            </a:r>
          </a:p>
          <a:p xmlns:a="http://schemas.openxmlformats.org/drawingml/2006/main">
            <a:pPr>
              <a:lnSpc>
                <a:spcPct val="125000"/>
              </a:lnSpc>
              <a:spcBef>
                <a:spcPts val="0"/>
              </a:spcBef>
              <a:spcAft>
                <a:spcPts val="0"/>
              </a:spcAft>
            </a:pPr>
            <a:r>
              <a:rPr>
                <a:latin typeface="Pretendard"/>
                <a:ea typeface="Pretendard"/>
                <a:cs typeface="Pretendard"/>
              </a:rPr>
              <a:t>F15: 생체식별·얼굴인식을 배제하고 특정 사건 탐지와 사람의 확인을 중심으로 한 영상분석 제도의 조건을 판단했다.</a:t>
            </a:r>
          </a:p>
          <a:p xmlns:a="http://schemas.openxmlformats.org/drawingml/2006/main">
            <a:pPr>
              <a:lnSpc>
                <a:spcPct val="125000"/>
              </a:lnSpc>
              <a:spcBef>
                <a:spcPts val="0"/>
              </a:spcBef>
              <a:spcAft>
                <a:spcPts val="0"/>
              </a:spcAft>
            </a:pPr>
            <a:r>
              <a:rPr>
                <a:latin typeface="Pretendard"/>
                <a:ea typeface="Pretendard"/>
                <a:cs typeface="Pretendard"/>
              </a:rPr>
              <a:t>적용 범위·한계: 얼굴인식 없는 이상징후 탐지 사례다. 이를 프랑스가 용의자 얼굴인식을 포괄 허용한 사례로 쓰면 잘못이다. 당시 한시법의 후속 연장 여부는 별도 문제이다.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S17: 여덟 가지 탐지 상황, 사람의 경보 확인, 얼굴인식·생체정보 식별 제외</a:t>
            </a:r>
          </a:p>
          <a:p xmlns:a="http://schemas.openxmlformats.org/drawingml/2006/main">
            <a:pPr>
              <a:lnSpc>
                <a:spcPct val="125000"/>
              </a:lnSpc>
              <a:spcBef>
                <a:spcPts val="0"/>
              </a:spcBef>
              <a:spcAft>
                <a:spcPts val="0"/>
              </a:spcAft>
            </a:pPr>
            <a:r>
              <a:rPr>
                <a:latin typeface="Pretendard"/>
                <a:ea typeface="Pretendard"/>
                <a:cs typeface="Pretendard"/>
              </a:rPr>
              <a:t>적용 범위·한계: 2024년 올림픽 실험 규칙; 2026년 현행법 전체 설명에 사용하지 않음</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W8-35 / 본편 필수 / INDIRECT</a:t>
            </a:r>
          </a:p>
          <a:p xmlns:a="http://schemas.openxmlformats.org/drawingml/2006/main">
            <a:pPr>
              <a:lnSpc>
                <a:spcPct val="125000"/>
              </a:lnSpc>
              <a:spcBef>
                <a:spcPts val="0"/>
              </a:spcBef>
              <a:spcAft>
                <a:spcPts val="0"/>
              </a:spcAft>
            </a:pPr>
            <a:r>
              <a:rPr>
                <a:latin typeface="Pretendard"/>
                <a:ea typeface="Pretendard"/>
                <a:cs typeface="Pretendard"/>
              </a:rPr>
              <a:t>실험 법제·기능 범위이다. 얼굴식별과 같은 범죄예방 성과가 입증됐다고 쓰지 않는다.</a:t>
            </a:r>
          </a:p>
          <a:p xmlns:a="http://schemas.openxmlformats.org/drawingml/2006/main">
            <a:pPr>
              <a:lnSpc>
                <a:spcPct val="125000"/>
              </a:lnSpc>
              <a:spcBef>
                <a:spcPts val="0"/>
              </a:spcBef>
              <a:spcAft>
                <a:spcPts val="0"/>
              </a:spcAft>
            </a:pPr>
            <a:r>
              <a:rPr>
                <a:latin typeface="Pretendard"/>
                <a:ea typeface="Pretendard"/>
                <a:cs typeface="Pretendard"/>
              </a:rPr>
              <a:t>이전 연결: 사용 조건을 정하는 판단에는 신원을 식별하지 않는 안전 기능의 선택도 포함된다.</a:t>
            </a:r>
          </a:p>
          <a:p xmlns:a="http://schemas.openxmlformats.org/drawingml/2006/main">
            <a:pPr>
              <a:lnSpc>
                <a:spcPct val="125000"/>
              </a:lnSpc>
              <a:spcBef>
                <a:spcPts val="0"/>
              </a:spcBef>
              <a:spcAft>
                <a:spcPts val="0"/>
              </a:spcAft>
            </a:pPr>
            <a:r>
              <a:rPr>
                <a:latin typeface="Pretendard"/>
                <a:ea typeface="Pretendard"/>
                <a:cs typeface="Pretendard"/>
              </a:rPr>
              <a:t>다음 연결: 상황 탐지와 얼굴식별의 과업을 구분하면 목적별 대안의 조합을 비교할 수 있다.</a:t>
            </a:r>
          </a:p>
          <a:p xmlns:a="http://schemas.openxmlformats.org/drawingml/2006/main">
            <a:pPr>
              <a:lnSpc>
                <a:spcPct val="125000"/>
              </a:lnSpc>
              <a:spcBef>
                <a:spcPts val="0"/>
              </a:spcBef>
              <a:spcAft>
                <a:spcPts val="0"/>
              </a:spcAft>
            </a:pPr>
            <a:r>
              <a:rPr>
                <a:latin typeface="Pretendard"/>
                <a:ea typeface="Pretendard"/>
                <a:cs typeface="Pretendard"/>
              </a:rPr>
              <a:t>운영시간 초안: 1.5분.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정책 선택은 기술 이름보다 해결하려는 과업에서 시작할 수 있습니다. 특정 수배자의 소재를 찾는 일, 실종자의 이동 경로를 좁히는 일, 행사장 혼잡에 대응하는 일은 필요한 출력이 다릅니다. 기존 수사와 사후 검색, 상황 탐지, 현장 인력은 함께 사용할 수도 있습니다. 같은 목적에 대해 어느 조합이 더 빠르고 부담이 적은지 비교할 자료가 필요합니다.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S04 | K-공감 | 2025-11-21</a:t>
            </a:r>
          </a:p>
          <a:p xmlns:a="http://schemas.openxmlformats.org/drawingml/2006/main">
            <a:pPr>
              <a:lnSpc>
                <a:spcPct val="125000"/>
              </a:lnSpc>
              <a:spcBef>
                <a:spcPts val="0"/>
              </a:spcBef>
              <a:spcAft>
                <a:spcPts val="0"/>
              </a:spcAft>
            </a:pPr>
            <a:r>
              <a:rPr>
                <a:latin typeface="Pretendard"/>
                <a:ea typeface="Pretendard"/>
                <a:cs typeface="Pretendard"/>
              </a:rPr>
              <a:t>실종자를 찾아라 1초에 CCTV 1000대 분석 60시간 할 일을 단 1분에</a:t>
            </a:r>
          </a:p>
          <a:p xmlns:a="http://schemas.openxmlformats.org/drawingml/2006/main">
            <a:pPr>
              <a:lnSpc>
                <a:spcPct val="125000"/>
              </a:lnSpc>
              <a:spcBef>
                <a:spcPts val="0"/>
              </a:spcBef>
              <a:spcAft>
                <a:spcPts val="0"/>
              </a:spcAft>
            </a:pPr>
            <a:r>
              <a:rPr>
                <a:latin typeface="Pretendard"/>
                <a:ea typeface="Pretendard"/>
                <a:cs typeface="Pretendard"/>
              </a:rPr>
              <a:t>https://gonggam.korea.kr/newsContentView.es?mid=a12603000000&amp;news_id=a19b4b5e-fad6-4a3a-9120-5e9488c3a8d9&amp;section_id=</a:t>
            </a:r>
          </a:p>
          <a:p xmlns:a="http://schemas.openxmlformats.org/drawingml/2006/main">
            <a:pPr>
              <a:lnSpc>
                <a:spcPct val="125000"/>
              </a:lnSpc>
              <a:spcBef>
                <a:spcPts val="0"/>
              </a:spcBef>
              <a:spcAft>
                <a:spcPts val="0"/>
              </a:spcAft>
            </a:pPr>
            <a:r>
              <a:rPr>
                <a:latin typeface="Pretendard"/>
                <a:ea typeface="Pretendard"/>
                <a:cs typeface="Pretendard"/>
              </a:rPr>
              <a:t>확인 범위: 10월 3일 치매 노인 실종 사례</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S14 | Metropolitan Police | 2026-02-03</a:t>
            </a:r>
          </a:p>
          <a:p xmlns:a="http://schemas.openxmlformats.org/drawingml/2006/main">
            <a:pPr>
              <a:lnSpc>
                <a:spcPct val="125000"/>
              </a:lnSpc>
              <a:spcBef>
                <a:spcPts val="0"/>
              </a:spcBef>
              <a:spcAft>
                <a:spcPts val="0"/>
              </a:spcAft>
            </a:pPr>
            <a:r>
              <a:rPr>
                <a:latin typeface="Pretendard"/>
                <a:ea typeface="Pretendard"/>
                <a:cs typeface="Pretendard"/>
              </a:rPr>
              <a:t>Child sex offender identified through Met’s Live Facial Recognition sentenced</a:t>
            </a:r>
          </a:p>
          <a:p xmlns:a="http://schemas.openxmlformats.org/drawingml/2006/main">
            <a:pPr>
              <a:lnSpc>
                <a:spcPct val="125000"/>
              </a:lnSpc>
              <a:spcBef>
                <a:spcPts val="0"/>
              </a:spcBef>
              <a:spcAft>
                <a:spcPts val="0"/>
              </a:spcAft>
            </a:pPr>
            <a:r>
              <a:rPr>
                <a:latin typeface="Pretendard"/>
                <a:ea typeface="Pretendard"/>
                <a:cs typeface="Pretendard"/>
              </a:rPr>
              <a:t>https://news.met.police.uk/news/child-sex-offender-identified-through-mets-live-facial-recognition-sentenced-505799</a:t>
            </a:r>
          </a:p>
          <a:p xmlns:a="http://schemas.openxmlformats.org/drawingml/2006/main">
            <a:pPr>
              <a:lnSpc>
                <a:spcPct val="125000"/>
              </a:lnSpc>
              <a:spcBef>
                <a:spcPts val="0"/>
              </a:spcBef>
              <a:spcAft>
                <a:spcPts val="0"/>
              </a:spcAft>
            </a:pPr>
            <a:r>
              <a:rPr>
                <a:latin typeface="Pretendard"/>
                <a:ea typeface="Pretendard"/>
                <a:cs typeface="Pretendard"/>
              </a:rPr>
              <a:t>확인 범위: 2025-12-19 체포, 2026-02-02 선고 경위</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F05 | 런던경찰청(Metropolitan Police) | 발행 2025-09-30 / 대상 2024-09-11~2025-09-10</a:t>
            </a:r>
          </a:p>
          <a:p xmlns:a="http://schemas.openxmlformats.org/drawingml/2006/main">
            <a:pPr>
              <a:lnSpc>
                <a:spcPct val="125000"/>
              </a:lnSpc>
              <a:spcBef>
                <a:spcPts val="0"/>
              </a:spcBef>
              <a:spcAft>
                <a:spcPts val="0"/>
              </a:spcAft>
            </a:pPr>
            <a:r>
              <a:rPr>
                <a:latin typeface="Pretendard"/>
                <a:ea typeface="Pretendard"/>
                <a:cs typeface="Pretendard"/>
              </a:rPr>
              <a:t>Live Facial Recognition Annual Report 2025</a:t>
            </a:r>
          </a:p>
          <a:p xmlns:a="http://schemas.openxmlformats.org/drawingml/2006/main">
            <a:pPr>
              <a:lnSpc>
                <a:spcPct val="125000"/>
              </a:lnSpc>
              <a:spcBef>
                <a:spcPts val="0"/>
              </a:spcBef>
              <a:spcAft>
                <a:spcPts val="0"/>
              </a:spcAft>
            </a:pPr>
            <a:r>
              <a:rPr>
                <a:latin typeface="Pretendard"/>
                <a:ea typeface="Pretendard"/>
                <a:cs typeface="Pretendard"/>
              </a:rPr>
              <a:t>https://www.met.police.uk/SysSiteAssets/media/downloads/force-content/met/advice/lfr/other-lfr-documents/live-facial-recognition-annual-report-2025.pdf</a:t>
            </a:r>
          </a:p>
          <a:p xmlns:a="http://schemas.openxmlformats.org/drawingml/2006/main">
            <a:pPr>
              <a:lnSpc>
                <a:spcPct val="125000"/>
              </a:lnSpc>
              <a:spcBef>
                <a:spcPts val="0"/>
              </a:spcBef>
              <a:spcAft>
                <a:spcPts val="0"/>
              </a:spcAft>
            </a:pPr>
            <a:r>
              <a:rPr>
                <a:latin typeface="Pretendard"/>
                <a:ea typeface="Pretendard"/>
                <a:cs typeface="Pretendard"/>
              </a:rPr>
              <a:t>확인 범위: 공식 PDF 19쪽 중 배치·경보·체포 및 오류 통계.</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S17 | CNIL | 2024-06-25</a:t>
            </a:r>
          </a:p>
          <a:p xmlns:a="http://schemas.openxmlformats.org/drawingml/2006/main">
            <a:pPr>
              <a:lnSpc>
                <a:spcPct val="125000"/>
              </a:lnSpc>
              <a:spcBef>
                <a:spcPts val="0"/>
              </a:spcBef>
              <a:spcAft>
                <a:spcPts val="0"/>
              </a:spcAft>
            </a:pPr>
            <a:r>
              <a:rPr>
                <a:latin typeface="Pretendard"/>
                <a:ea typeface="Pretendard"/>
                <a:cs typeface="Pretendard"/>
              </a:rPr>
              <a:t>2024 Olympics: the CNIL’s Q&amp;A on your privacy and freedoms</a:t>
            </a:r>
          </a:p>
          <a:p xmlns:a="http://schemas.openxmlformats.org/drawingml/2006/main">
            <a:pPr>
              <a:lnSpc>
                <a:spcPct val="125000"/>
              </a:lnSpc>
              <a:spcBef>
                <a:spcPts val="0"/>
              </a:spcBef>
              <a:spcAft>
                <a:spcPts val="0"/>
              </a:spcAft>
            </a:pPr>
            <a:r>
              <a:rPr>
                <a:latin typeface="Pretendard"/>
                <a:ea typeface="Pretendard"/>
                <a:cs typeface="Pretendard"/>
              </a:rPr>
              <a:t>https://www.cnil.fr/en/2024-olympics-cnils-qa-your-privacy-and-freedoms</a:t>
            </a:r>
          </a:p>
          <a:p xmlns:a="http://schemas.openxmlformats.org/drawingml/2006/main">
            <a:pPr>
              <a:lnSpc>
                <a:spcPct val="125000"/>
              </a:lnSpc>
              <a:spcBef>
                <a:spcPts val="0"/>
              </a:spcBef>
              <a:spcAft>
                <a:spcPts val="0"/>
              </a:spcAft>
            </a:pPr>
            <a:r>
              <a:rPr>
                <a:latin typeface="Pretendard"/>
                <a:ea typeface="Pretendard"/>
                <a:cs typeface="Pretendard"/>
              </a:rPr>
              <a:t>확인 범위: Augmented cameras 관련 문답</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D39 | 한국정보경영평가 / 연구책임자 윤병호, 제주특별자치도 연구용역; 제주도의회 공개 PDF | 2024-10</a:t>
            </a:r>
          </a:p>
          <a:p xmlns:a="http://schemas.openxmlformats.org/drawingml/2006/main">
            <a:pPr>
              <a:lnSpc>
                <a:spcPct val="125000"/>
              </a:lnSpc>
              <a:spcBef>
                <a:spcPts val="0"/>
              </a:spcBef>
              <a:spcAft>
                <a:spcPts val="0"/>
              </a:spcAft>
            </a:pPr>
            <a:r>
              <a:rPr>
                <a:latin typeface="Pretendard"/>
                <a:ea typeface="Pretendard"/>
                <a:cs typeface="Pretendard"/>
              </a:rPr>
              <a:t>CCTV 통합관제센터 혁신을 위한 운영개선 효율화 방안 연구 최종보고서</a:t>
            </a:r>
          </a:p>
          <a:p xmlns:a="http://schemas.openxmlformats.org/drawingml/2006/main">
            <a:pPr>
              <a:lnSpc>
                <a:spcPct val="125000"/>
              </a:lnSpc>
              <a:spcBef>
                <a:spcPts val="0"/>
              </a:spcBef>
              <a:spcAft>
                <a:spcPts val="0"/>
              </a:spcAft>
            </a:pPr>
            <a:r>
              <a:rPr>
                <a:latin typeface="Pretendard"/>
                <a:ea typeface="Pretendard"/>
                <a:cs typeface="Pretendard"/>
              </a:rPr>
              <a:t>https://record.council.jeju.kr/CLRecords/Files/FileAppendix/a12/A044556.pdf</a:t>
            </a:r>
          </a:p>
          <a:p xmlns:a="http://schemas.openxmlformats.org/drawingml/2006/main">
            <a:pPr>
              <a:lnSpc>
                <a:spcPct val="125000"/>
              </a:lnSpc>
              <a:spcBef>
                <a:spcPts val="0"/>
              </a:spcBef>
              <a:spcAft>
                <a:spcPts val="0"/>
              </a:spcAft>
            </a:pPr>
            <a:r>
              <a:rPr>
                <a:latin typeface="Pretendard"/>
                <a:ea typeface="Pretendard"/>
                <a:cs typeface="Pretendard"/>
              </a:rPr>
              <a:t>확인 범위: 290쪽 PDF 중 제출문, 표37·38·45, 부록 요원 설문 원표, 표135–136의 추계 및 운영방침 제안 관련 부분.</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동일한 목적에서 실제 수단의 성과·자원·권리 부담을 견주어 판단한다.</a:t>
            </a:r>
          </a:p>
          <a:p xmlns:a="http://schemas.openxmlformats.org/drawingml/2006/main">
            <a:pPr>
              <a:lnSpc>
                <a:spcPct val="125000"/>
              </a:lnSpc>
              <a:spcBef>
                <a:spcPts val="0"/>
              </a:spcBef>
              <a:spcAft>
                <a:spcPts val="0"/>
              </a:spcAft>
            </a:pPr>
            <a:r>
              <a:rPr>
                <a:latin typeface="Pretendard"/>
                <a:ea typeface="Pretendard"/>
                <a:cs typeface="Pretendard"/>
              </a:rPr>
              <a:t>확장 질문: 대안은 어떤 공통 과업을 기준으로 비교하는가?</a:t>
            </a:r>
          </a:p>
          <a:p xmlns:a="http://schemas.openxmlformats.org/drawingml/2006/main">
            <a:pPr>
              <a:lnSpc>
                <a:spcPct val="125000"/>
              </a:lnSpc>
              <a:spcBef>
                <a:spcPts val="0"/>
              </a:spcBef>
              <a:spcAft>
                <a:spcPts val="0"/>
              </a:spcAft>
            </a:pPr>
            <a:r>
              <a:rPr>
                <a:latin typeface="Pretendard"/>
                <a:ea typeface="Pretendard"/>
                <a:cs typeface="Pretendard"/>
              </a:rPr>
              <a:t>S04: 흰 모자·지팡이, 아파트 진입 영상, 지하 1층 기계실 발견</a:t>
            </a:r>
          </a:p>
          <a:p xmlns:a="http://schemas.openxmlformats.org/drawingml/2006/main">
            <a:pPr>
              <a:lnSpc>
                <a:spcPct val="125000"/>
              </a:lnSpc>
              <a:spcBef>
                <a:spcPts val="0"/>
              </a:spcBef>
              <a:spcAft>
                <a:spcPts val="0"/>
              </a:spcAft>
            </a:pPr>
            <a:r>
              <a:rPr>
                <a:latin typeface="Pretendard"/>
                <a:ea typeface="Pretendard"/>
                <a:cs typeface="Pretendard"/>
              </a:rPr>
              <a:t>적용 범위·한계: 관제센터 취재에 근거; 경찰 사건기록 미확보; 제목의 속도 수치를 평균 효과로 사용하지 않음</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S14: 공판 불출석 수배자 LFR 체포, 유죄 인정, 징역 12개월·집행유예 12개월</a:t>
            </a:r>
          </a:p>
          <a:p xmlns:a="http://schemas.openxmlformats.org/drawingml/2006/main">
            <a:pPr>
              <a:lnSpc>
                <a:spcPct val="125000"/>
              </a:lnSpc>
              <a:spcBef>
                <a:spcPts val="0"/>
              </a:spcBef>
              <a:spcAft>
                <a:spcPts val="0"/>
              </a:spcAft>
            </a:pPr>
            <a:r>
              <a:rPr>
                <a:latin typeface="Pretendard"/>
                <a:ea typeface="Pretendard"/>
                <a:cs typeface="Pretendard"/>
              </a:rPr>
              <a:t>적용 범위·한계: 선고문 원문 미확보; 경찰 발표에 따른 개별 사례</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F05: 범죄다발지역 203회와 행사보안 4회 배치를 구분한다. 전체 기간 약 314만 7,436회 얼굴 통과, 경보 2,077건(진경보 2,067·오경보 10), 체포 962건을 보고했다. 오경보 중 6건에서 현장 접촉이 있었고 그로 인한 체포는 0건이었다.</a:t>
            </a:r>
          </a:p>
          <a:p xmlns:a="http://schemas.openxmlformats.org/drawingml/2006/main">
            <a:pPr>
              <a:lnSpc>
                <a:spcPct val="125000"/>
              </a:lnSpc>
              <a:spcBef>
                <a:spcPts val="0"/>
              </a:spcBef>
              <a:spcAft>
                <a:spcPts val="0"/>
              </a:spcAft>
            </a:pPr>
            <a:r>
              <a:rPr>
                <a:latin typeface="Pretendard"/>
                <a:ea typeface="Pretendard"/>
                <a:cs typeface="Pretendard"/>
              </a:rPr>
              <a:t>적용 범위·한계: 경찰의 자체 집계다. 얼굴 통과는 고유 인원수가 아니며 체포는 유죄가 아니다. 전후·대조집단 비교가 없어 범죄 감소의 인과효과를 입증하지 않는다.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S17: 여덟 가지 탐지 상황, 사람의 경보 확인, 얼굴인식·생체정보 식별 제외</a:t>
            </a:r>
          </a:p>
          <a:p xmlns:a="http://schemas.openxmlformats.org/drawingml/2006/main">
            <a:pPr>
              <a:lnSpc>
                <a:spcPct val="125000"/>
              </a:lnSpc>
              <a:spcBef>
                <a:spcPts val="0"/>
              </a:spcBef>
              <a:spcAft>
                <a:spcPts val="0"/>
              </a:spcAft>
            </a:pPr>
            <a:r>
              <a:rPr>
                <a:latin typeface="Pretendard"/>
                <a:ea typeface="Pretendard"/>
                <a:cs typeface="Pretendard"/>
              </a:rPr>
              <a:t>적용 범위·한계: 2024년 올림픽 실험 규칙; 2026년 현행법 전체 설명에 사용하지 않음</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D39: 2023년 관제요원 101명·상주 경찰 3명, 표37의 예산 합계 11,755,443천원. 2023년 요원 설문 총 35명 중 정확도 문항 응답 34명이며 27명이 지능형 선별관제 체감 정확도를 50% 미만으로 응답했다.</a:t>
            </a:r>
          </a:p>
          <a:p xmlns:a="http://schemas.openxmlformats.org/drawingml/2006/main">
            <a:pPr>
              <a:lnSpc>
                <a:spcPct val="125000"/>
              </a:lnSpc>
              <a:spcBef>
                <a:spcPts val="0"/>
              </a:spcBef>
              <a:spcAft>
                <a:spcPts val="0"/>
              </a:spcAft>
            </a:pPr>
            <a:r>
              <a:rPr>
                <a:latin typeface="Pretendard"/>
                <a:ea typeface="Pretendard"/>
                <a:cs typeface="Pretendard"/>
              </a:rPr>
              <a:t>적용 범위·한계: 일반 통합관제·선별관제의 단일 지역 자료이다. 정확도 문항은 요원의 인식 조사이고 비용 수치는 전체 센터의 예산이다. 표135–136은 가정에 따른 미래 추계이다.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W8-36 / 본편 필수 / DIRECT</a:t>
            </a:r>
          </a:p>
          <a:p xmlns:a="http://schemas.openxmlformats.org/drawingml/2006/main">
            <a:pPr>
              <a:lnSpc>
                <a:spcPct val="125000"/>
              </a:lnSpc>
              <a:spcBef>
                <a:spcPts val="0"/>
              </a:spcBef>
              <a:spcAft>
                <a:spcPts val="0"/>
              </a:spcAft>
            </a:pPr>
            <a:r>
              <a:rPr>
                <a:latin typeface="Pretendard"/>
                <a:ea typeface="Pretendard"/>
                <a:cs typeface="Pretendard"/>
              </a:rPr>
              <a:t>강의용 대안 구조. 서로 다른 과업에서 관찰된 실적을 효과 수치로 직접 비교하지 않는다.</a:t>
            </a:r>
          </a:p>
          <a:p xmlns:a="http://schemas.openxmlformats.org/drawingml/2006/main">
            <a:pPr>
              <a:lnSpc>
                <a:spcPct val="125000"/>
              </a:lnSpc>
              <a:spcBef>
                <a:spcPts val="0"/>
              </a:spcBef>
              <a:spcAft>
                <a:spcPts val="0"/>
              </a:spcAft>
            </a:pPr>
            <a:r>
              <a:rPr>
                <a:latin typeface="Pretendard"/>
                <a:ea typeface="Pretendard"/>
                <a:cs typeface="Pretendard"/>
              </a:rPr>
              <a:t>이전 연결: 상황 탐지와 얼굴식별의 과업을 구분하면 목적별 대안의 조합을 비교할 수 있다.</a:t>
            </a:r>
          </a:p>
          <a:p xmlns:a="http://schemas.openxmlformats.org/drawingml/2006/main">
            <a:pPr>
              <a:lnSpc>
                <a:spcPct val="125000"/>
              </a:lnSpc>
              <a:spcBef>
                <a:spcPts val="0"/>
              </a:spcBef>
              <a:spcAft>
                <a:spcPts val="0"/>
              </a:spcAft>
            </a:pPr>
            <a:r>
              <a:rPr>
                <a:latin typeface="Pretendard"/>
                <a:ea typeface="Pretendard"/>
                <a:cs typeface="Pretendard"/>
              </a:rPr>
              <a:t>다음 연결: 수단 선택이 운영 중에도 검토되려면 시작·확대·중단의 책임 주체가 필요하다.</a:t>
            </a:r>
          </a:p>
          <a:p xmlns:a="http://schemas.openxmlformats.org/drawingml/2006/main">
            <a:pPr>
              <a:lnSpc>
                <a:spcPct val="125000"/>
              </a:lnSpc>
              <a:spcBef>
                <a:spcPts val="0"/>
              </a:spcBef>
              <a:spcAft>
                <a:spcPts val="0"/>
              </a:spcAft>
            </a:pPr>
            <a:r>
              <a:rPr>
                <a:latin typeface="Pretendard"/>
                <a:ea typeface="Pretendard"/>
                <a:cs typeface="Pretendard"/>
              </a:rPr>
              <a:t>운영시간 초안: 1.5분.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허용 여부를 정하는 결정은 운영이 시작된 뒤에도 계속됩니다. 명단과 촬영 범위가 늘거나 용도가 바뀌면 영향을 받는 사람도 달라집니다. 그래서 운영기관이 남길 기록, 독립 평가자의 자료 접근권, 중단을 명할 주체를 구체화할 수 있습니다. 오류가 생긴 시민이 어디에 이의를 제기하고 어떤 자료를 통해 정정받을지도 설계에 포함됩니다.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D37 | 이진백 / 국가인권위원회 인권정책과, 인권 웹진 | 2023-02</a:t>
            </a:r>
          </a:p>
          <a:p xmlns:a="http://schemas.openxmlformats.org/drawingml/2006/main">
            <a:pPr>
              <a:lnSpc>
                <a:spcPct val="125000"/>
              </a:lnSpc>
              <a:spcBef>
                <a:spcPts val="0"/>
              </a:spcBef>
              <a:spcAft>
                <a:spcPts val="0"/>
              </a:spcAft>
            </a:pPr>
            <a:r>
              <a:rPr>
                <a:latin typeface="Pretendard"/>
                <a:ea typeface="Pretendard"/>
                <a:cs typeface="Pretendard"/>
              </a:rPr>
              <a:t>얼굴인식 기술 도입, 지나칠만큼 신중해야 한다</a:t>
            </a:r>
          </a:p>
          <a:p xmlns:a="http://schemas.openxmlformats.org/drawingml/2006/main">
            <a:pPr>
              <a:lnSpc>
                <a:spcPct val="125000"/>
              </a:lnSpc>
              <a:spcBef>
                <a:spcPts val="0"/>
              </a:spcBef>
              <a:spcAft>
                <a:spcPts val="0"/>
              </a:spcAft>
            </a:pPr>
            <a:r>
              <a:rPr>
                <a:latin typeface="Pretendard"/>
                <a:ea typeface="Pretendard"/>
                <a:cs typeface="Pretendard"/>
              </a:rPr>
              <a:t>https://www.humanrights.go.kr/webzine/webzineListAndDetail?boardNo=7608823&amp;issueNo=7608811</a:t>
            </a:r>
          </a:p>
          <a:p xmlns:a="http://schemas.openxmlformats.org/drawingml/2006/main">
            <a:pPr>
              <a:lnSpc>
                <a:spcPct val="125000"/>
              </a:lnSpc>
              <a:spcBef>
                <a:spcPts val="0"/>
              </a:spcBef>
              <a:spcAft>
                <a:spcPts val="0"/>
              </a:spcAft>
            </a:pPr>
            <a:r>
              <a:rPr>
                <a:latin typeface="Pretendard"/>
                <a:ea typeface="Pretendard"/>
                <a:cs typeface="Pretendard"/>
              </a:rPr>
              <a:t>확인 범위: 공식 웹진 해설 본문.</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F01 | 유럽연합 / 집행위원회 공식 조문 서비스 | 2024 제정 / 현행 조문 조회 2026-10-07</a:t>
            </a:r>
          </a:p>
          <a:p xmlns:a="http://schemas.openxmlformats.org/drawingml/2006/main">
            <a:pPr>
              <a:lnSpc>
                <a:spcPct val="125000"/>
              </a:lnSpc>
              <a:spcBef>
                <a:spcPts val="0"/>
              </a:spcBef>
              <a:spcAft>
                <a:spcPts val="0"/>
              </a:spcAft>
            </a:pPr>
            <a:r>
              <a:rPr>
                <a:latin typeface="Pretendard"/>
                <a:ea typeface="Pretendard"/>
                <a:cs typeface="Pretendard"/>
              </a:rPr>
              <a:t>EU AI Act 제5조: 공공장소 실시간 원격 생체식별</a:t>
            </a:r>
          </a:p>
          <a:p xmlns:a="http://schemas.openxmlformats.org/drawingml/2006/main">
            <a:pPr>
              <a:lnSpc>
                <a:spcPct val="125000"/>
              </a:lnSpc>
              <a:spcBef>
                <a:spcPts val="0"/>
              </a:spcBef>
              <a:spcAft>
                <a:spcPts val="0"/>
              </a:spcAft>
            </a:pPr>
            <a:r>
              <a:rPr>
                <a:latin typeface="Pretendard"/>
                <a:ea typeface="Pretendard"/>
                <a:cs typeface="Pretendard"/>
              </a:rPr>
              <a:t>https://ai-act-service-desk.ec.europa.eu/en/ai-act/article-5</a:t>
            </a:r>
          </a:p>
          <a:p xmlns:a="http://schemas.openxmlformats.org/drawingml/2006/main">
            <a:pPr>
              <a:lnSpc>
                <a:spcPct val="125000"/>
              </a:lnSpc>
              <a:spcBef>
                <a:spcPts val="0"/>
              </a:spcBef>
              <a:spcAft>
                <a:spcPts val="0"/>
              </a:spcAft>
            </a:pPr>
            <a:r>
              <a:rPr>
                <a:latin typeface="Pretendard"/>
                <a:ea typeface="Pretendard"/>
                <a:cs typeface="Pretendard"/>
              </a:rPr>
              <a:t>확인 범위: 공식 제5조 본문, 특히 1(h)와 2–7항.</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F16 | 유엔 인권최고대표사무소(OHCHR) | 2021-09-13</a:t>
            </a:r>
          </a:p>
          <a:p xmlns:a="http://schemas.openxmlformats.org/drawingml/2006/main">
            <a:pPr>
              <a:lnSpc>
                <a:spcPct val="125000"/>
              </a:lnSpc>
              <a:spcBef>
                <a:spcPts val="0"/>
              </a:spcBef>
              <a:spcAft>
                <a:spcPts val="0"/>
              </a:spcAft>
            </a:pPr>
            <a:r>
              <a:rPr>
                <a:latin typeface="Pretendard"/>
                <a:ea typeface="Pretendard"/>
                <a:cs typeface="Pretendard"/>
              </a:rPr>
              <a:t>The right to privacy in the digital age, A/HRC/48/31</a:t>
            </a:r>
          </a:p>
          <a:p xmlns:a="http://schemas.openxmlformats.org/drawingml/2006/main">
            <a:pPr>
              <a:lnSpc>
                <a:spcPct val="125000"/>
              </a:lnSpc>
              <a:spcBef>
                <a:spcPts val="0"/>
              </a:spcBef>
              <a:spcAft>
                <a:spcPts val="0"/>
              </a:spcAft>
            </a:pPr>
            <a:r>
              <a:rPr>
                <a:latin typeface="Pretendard"/>
                <a:ea typeface="Pretendard"/>
                <a:cs typeface="Pretendard"/>
              </a:rPr>
              <a:t>https://documents.un.org/doc/undoc/gen/g21/249/21/pdf/g2124921.pdf</a:t>
            </a:r>
          </a:p>
          <a:p xmlns:a="http://schemas.openxmlformats.org/drawingml/2006/main">
            <a:pPr>
              <a:lnSpc>
                <a:spcPct val="125000"/>
              </a:lnSpc>
              <a:spcBef>
                <a:spcPts val="0"/>
              </a:spcBef>
              <a:spcAft>
                <a:spcPts val="0"/>
              </a:spcAft>
            </a:pPr>
            <a:r>
              <a:rPr>
                <a:latin typeface="Pretendard"/>
                <a:ea typeface="Pretendard"/>
                <a:cs typeface="Pretendard"/>
              </a:rPr>
              <a:t>확인 범위: UN 공식 16쪽 PDF 중 §§25–28, 38–50, 59–60의 관련 원문 확인.</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허가·기록·독립 평가·중단·구제의 책임을 사전에 배분한다.</a:t>
            </a:r>
          </a:p>
          <a:p xmlns:a="http://schemas.openxmlformats.org/drawingml/2006/main">
            <a:pPr>
              <a:lnSpc>
                <a:spcPct val="125000"/>
              </a:lnSpc>
              <a:spcBef>
                <a:spcPts val="0"/>
              </a:spcBef>
              <a:spcAft>
                <a:spcPts val="0"/>
              </a:spcAft>
            </a:pPr>
            <a:r>
              <a:rPr>
                <a:latin typeface="Pretendard"/>
                <a:ea typeface="Pretendard"/>
                <a:cs typeface="Pretendard"/>
              </a:rPr>
              <a:t>확장 질문: 운영의 확대와 중단은 누가 어떤 자료로 결정하는가?</a:t>
            </a:r>
          </a:p>
          <a:p xmlns:a="http://schemas.openxmlformats.org/drawingml/2006/main">
            <a:pPr>
              <a:lnSpc>
                <a:spcPct val="125000"/>
              </a:lnSpc>
              <a:spcBef>
                <a:spcPts val="0"/>
              </a:spcBef>
              <a:spcAft>
                <a:spcPts val="0"/>
              </a:spcAft>
            </a:pPr>
            <a:r>
              <a:rPr>
                <a:latin typeface="Pretendard"/>
                <a:ea typeface="Pretendard"/>
                <a:cs typeface="Pretendard"/>
              </a:rPr>
              <a:t>D37: 공공장소의 불특정 다수 대상 실시간 원격 얼굴인식 원칙적 금지, 공익적 필요에 따른 예외·보충적 활용, 도입 전 및 중대한 변경 시 독립적 인권영향평가를 권고 취지로 설명한다.</a:t>
            </a:r>
          </a:p>
          <a:p xmlns:a="http://schemas.openxmlformats.org/drawingml/2006/main">
            <a:pPr>
              <a:lnSpc>
                <a:spcPct val="125000"/>
              </a:lnSpc>
              <a:spcBef>
                <a:spcPts val="0"/>
              </a:spcBef>
              <a:spcAft>
                <a:spcPts val="0"/>
              </a:spcAft>
            </a:pPr>
            <a:r>
              <a:rPr>
                <a:latin typeface="Pretendard"/>
                <a:ea typeface="Pretendard"/>
                <a:cs typeface="Pretendard"/>
              </a:rPr>
              <a:t>적용 범위·한계: 담당자의 공식 해설이며 권고 결정문 전문과 구분한다. D01과 같은 권고 문서군에 속한다.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F01: 법집행 목적의 공공장소 실시간 원격 생체식별은 원칙적으로 금지하되 특정 피해자·실종자 수색, 생명·안전 위협 및 테러, 일정 중대범죄 용의자 식별 등에 예외를 둔다. 사전 독립적 허가와 시간·장소·인적 제한, 영향평가 및 회원국의 별도 법제가 요구된다.</a:t>
            </a:r>
          </a:p>
          <a:p xmlns:a="http://schemas.openxmlformats.org/drawingml/2006/main">
            <a:pPr>
              <a:lnSpc>
                <a:spcPct val="125000"/>
              </a:lnSpc>
              <a:spcBef>
                <a:spcPts val="0"/>
              </a:spcBef>
              <a:spcAft>
                <a:spcPts val="0"/>
              </a:spcAft>
            </a:pPr>
            <a:r>
              <a:rPr>
                <a:latin typeface="Pretendard"/>
                <a:ea typeface="Pretendard"/>
                <a:cs typeface="Pretendard"/>
              </a:rPr>
              <a:t>적용 범위·한계: 유럽 전체에서 경찰이 자동으로 사용할 수 있다는 뜻이 아니다. 범죄 기준은 해당 목록 범죄의 법정 최고형 4년 이상이다. 긴급 예외의 24시간은 허가 신청 시한이며 승인 시한이 아니다.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F16: §59(d)는 공공장소 원격 생체인식의 유예를 권고하고, 개인정보 기준 준수·중대한 정확성 문제 및 차별적 영향의 부재 입증·선행 집회 보호 권고 이행을 해제 조건으로 제시한다. §§49–50은 전 생애주기 영향평가와 당사자 참여·결과 공개를 요구한다.</a:t>
            </a:r>
          </a:p>
          <a:p xmlns:a="http://schemas.openxmlformats.org/drawingml/2006/main">
            <a:pPr>
              <a:lnSpc>
                <a:spcPct val="125000"/>
              </a:lnSpc>
              <a:spcBef>
                <a:spcPts val="0"/>
              </a:spcBef>
              <a:spcAft>
                <a:spcPts val="0"/>
              </a:spcAft>
            </a:pPr>
            <a:r>
              <a:rPr>
                <a:latin typeface="Pretendard"/>
                <a:ea typeface="Pretendard"/>
                <a:cs typeface="Pretendard"/>
              </a:rPr>
              <a:t>적용 범위·한계: 인권최고대표의 권고 보고서이다. 국내에 직접 적용되는 금지 법률 및 EU AI Act의 법정 예외와 법적 성격을 구별한다.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W8-37 / 본편 필수 / DIRECT</a:t>
            </a:r>
          </a:p>
          <a:p xmlns:a="http://schemas.openxmlformats.org/drawingml/2006/main">
            <a:pPr>
              <a:lnSpc>
                <a:spcPct val="125000"/>
              </a:lnSpc>
              <a:spcBef>
                <a:spcPts val="0"/>
              </a:spcBef>
              <a:spcAft>
                <a:spcPts val="0"/>
              </a:spcAft>
            </a:pPr>
            <a:r>
              <a:rPr>
                <a:latin typeface="Pretendard"/>
                <a:ea typeface="Pretendard"/>
                <a:cs typeface="Pretendard"/>
              </a:rPr>
              <a:t>강의용 제도 설계안. 현재 한국에 이 절차가 일괄 시행된다고 쓰지 않는다.</a:t>
            </a:r>
          </a:p>
          <a:p xmlns:a="http://schemas.openxmlformats.org/drawingml/2006/main">
            <a:pPr>
              <a:lnSpc>
                <a:spcPct val="125000"/>
              </a:lnSpc>
              <a:spcBef>
                <a:spcPts val="0"/>
              </a:spcBef>
              <a:spcAft>
                <a:spcPts val="0"/>
              </a:spcAft>
            </a:pPr>
            <a:r>
              <a:rPr>
                <a:latin typeface="Pretendard"/>
                <a:ea typeface="Pretendard"/>
                <a:cs typeface="Pretendard"/>
              </a:rPr>
              <a:t>이전 연결: 수단 선택이 운영 중에도 검토되려면 시작·확대·중단의 책임 주체가 필요하다.</a:t>
            </a:r>
          </a:p>
          <a:p xmlns:a="http://schemas.openxmlformats.org/drawingml/2006/main">
            <a:pPr>
              <a:lnSpc>
                <a:spcPct val="125000"/>
              </a:lnSpc>
              <a:spcBef>
                <a:spcPts val="0"/>
              </a:spcBef>
              <a:spcAft>
                <a:spcPts val="0"/>
              </a:spcAft>
            </a:pPr>
            <a:r>
              <a:rPr>
                <a:latin typeface="Pretendard"/>
                <a:ea typeface="Pretendard"/>
                <a:cs typeface="Pretendard"/>
              </a:rPr>
              <a:t>다음 연결: 통제 책임을 갖춘 설계는 도입 시점과 허용 범위의 정책 선택으로 구체화된다.</a:t>
            </a:r>
          </a:p>
          <a:p xmlns:a="http://schemas.openxmlformats.org/drawingml/2006/main">
            <a:pPr>
              <a:lnSpc>
                <a:spcPct val="125000"/>
              </a:lnSpc>
              <a:spcBef>
                <a:spcPts val="0"/>
              </a:spcBef>
              <a:spcAft>
                <a:spcPts val="0"/>
              </a:spcAft>
            </a:pPr>
            <a:r>
              <a:rPr>
                <a:latin typeface="Pretendard"/>
                <a:ea typeface="Pretendard"/>
                <a:cs typeface="Pretendard"/>
              </a:rPr>
              <a:t>운영시간 초안: 1.5분.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도입 유예, 제한적 허용, 한정 운영 뒤의 단계적 확대는 시점과 범위를 다르게 정합니다. 세 선택 모두 기존의 수사와 시민 보호 의무를 전제로 구체화해야 합니다. 제한적으로 허용한다고 하더라도 어떤 범죄와 어느 명단을 포함할지, 한 번의 허가가 어디까지 미칠지를 정해야 실제 정책이 됩니다.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D01 | 국가인권위원회 | 권고 2023-01-12 / 회신 수용 공표 2024-02-22</a:t>
            </a:r>
          </a:p>
          <a:p xmlns:a="http://schemas.openxmlformats.org/drawingml/2006/main">
            <a:pPr>
              <a:lnSpc>
                <a:spcPct val="125000"/>
              </a:lnSpc>
              <a:spcBef>
                <a:spcPts val="0"/>
              </a:spcBef>
              <a:spcAft>
                <a:spcPts val="0"/>
              </a:spcAft>
            </a:pPr>
            <a:r>
              <a:rPr>
                <a:latin typeface="Pretendard"/>
                <a:ea typeface="Pretendard"/>
                <a:cs typeface="Pretendard"/>
              </a:rPr>
              <a:t>실시간 원격 얼굴인식 기술 도입·활용 중지 조치 권고, 국무총리 수용</a:t>
            </a:r>
          </a:p>
          <a:p xmlns:a="http://schemas.openxmlformats.org/drawingml/2006/main">
            <a:pPr>
              <a:lnSpc>
                <a:spcPct val="125000"/>
              </a:lnSpc>
              <a:spcBef>
                <a:spcPts val="0"/>
              </a:spcBef>
              <a:spcAft>
                <a:spcPts val="0"/>
              </a:spcAft>
            </a:pPr>
            <a:r>
              <a:rPr>
                <a:latin typeface="Pretendard"/>
                <a:ea typeface="Pretendard"/>
                <a:cs typeface="Pretendard"/>
              </a:rPr>
              <a:t>https://www.humanrights.go.kr/base/board/read?boardManagementNo=24&amp;boardNo=7609889&amp;menuLevel=3&amp;menuNo=91&amp;page=1&amp;searchCategory=&amp;searchType=&amp;searchWord=</a:t>
            </a:r>
          </a:p>
          <a:p xmlns:a="http://schemas.openxmlformats.org/drawingml/2006/main">
            <a:pPr>
              <a:lnSpc>
                <a:spcPct val="125000"/>
              </a:lnSpc>
              <a:spcBef>
                <a:spcPts val="0"/>
              </a:spcBef>
              <a:spcAft>
                <a:spcPts val="0"/>
              </a:spcAft>
            </a:pPr>
            <a:r>
              <a:rPr>
                <a:latin typeface="Pretendard"/>
                <a:ea typeface="Pretendard"/>
                <a:cs typeface="Pretendard"/>
              </a:rPr>
              <a:t>확인 범위: 공식 보도자료 본문. 첨부 결정문은 접근 실패.</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D02 | 경기도 2025년 제3회 도민인권배심회의 | 2025-08-27</a:t>
            </a:r>
          </a:p>
          <a:p xmlns:a="http://schemas.openxmlformats.org/drawingml/2006/main">
            <a:pPr>
              <a:lnSpc>
                <a:spcPct val="125000"/>
              </a:lnSpc>
              <a:spcBef>
                <a:spcPts val="0"/>
              </a:spcBef>
              <a:spcAft>
                <a:spcPts val="0"/>
              </a:spcAft>
            </a:pPr>
            <a:r>
              <a:rPr>
                <a:latin typeface="Pretendard"/>
                <a:ea typeface="Pretendard"/>
                <a:cs typeface="Pretendard"/>
              </a:rPr>
              <a:t>중범죄 대응을 위한 실시간 원격 얼굴인식 기술의 인권 침해 여부 숙의</a:t>
            </a:r>
          </a:p>
          <a:p xmlns:a="http://schemas.openxmlformats.org/drawingml/2006/main">
            <a:pPr>
              <a:lnSpc>
                <a:spcPct val="125000"/>
              </a:lnSpc>
              <a:spcBef>
                <a:spcPts val="0"/>
              </a:spcBef>
              <a:spcAft>
                <a:spcPts val="0"/>
              </a:spcAft>
            </a:pPr>
            <a:r>
              <a:rPr>
                <a:latin typeface="Pretendard"/>
                <a:ea typeface="Pretendard"/>
                <a:cs typeface="Pretendard"/>
              </a:rPr>
              <a:t>https://gnews.gg.go.kr/briefing/brief_gongbo_view.do?BS_CODE=S017&amp;number=67424</a:t>
            </a:r>
          </a:p>
          <a:p xmlns:a="http://schemas.openxmlformats.org/drawingml/2006/main">
            <a:pPr>
              <a:lnSpc>
                <a:spcPct val="125000"/>
              </a:lnSpc>
              <a:spcBef>
                <a:spcPts val="0"/>
              </a:spcBef>
              <a:spcAft>
                <a:spcPts val="0"/>
              </a:spcAft>
            </a:pPr>
            <a:r>
              <a:rPr>
                <a:latin typeface="Pretendard"/>
                <a:ea typeface="Pretendard"/>
                <a:cs typeface="Pretendard"/>
              </a:rPr>
              <a:t>확인 범위: 경기도 공식 발표 본문. 발언록·표결 원표 미확인.</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D37 | 이진백 / 국가인권위원회 인권정책과, 인권 웹진 | 2023-02</a:t>
            </a:r>
          </a:p>
          <a:p xmlns:a="http://schemas.openxmlformats.org/drawingml/2006/main">
            <a:pPr>
              <a:lnSpc>
                <a:spcPct val="125000"/>
              </a:lnSpc>
              <a:spcBef>
                <a:spcPts val="0"/>
              </a:spcBef>
              <a:spcAft>
                <a:spcPts val="0"/>
              </a:spcAft>
            </a:pPr>
            <a:r>
              <a:rPr>
                <a:latin typeface="Pretendard"/>
                <a:ea typeface="Pretendard"/>
                <a:cs typeface="Pretendard"/>
              </a:rPr>
              <a:t>얼굴인식 기술 도입, 지나칠만큼 신중해야 한다</a:t>
            </a:r>
          </a:p>
          <a:p xmlns:a="http://schemas.openxmlformats.org/drawingml/2006/main">
            <a:pPr>
              <a:lnSpc>
                <a:spcPct val="125000"/>
              </a:lnSpc>
              <a:spcBef>
                <a:spcPts val="0"/>
              </a:spcBef>
              <a:spcAft>
                <a:spcPts val="0"/>
              </a:spcAft>
            </a:pPr>
            <a:r>
              <a:rPr>
                <a:latin typeface="Pretendard"/>
                <a:ea typeface="Pretendard"/>
                <a:cs typeface="Pretendard"/>
              </a:rPr>
              <a:t>https://www.humanrights.go.kr/webzine/webzineListAndDetail?boardNo=7608823&amp;issueNo=7608811</a:t>
            </a:r>
          </a:p>
          <a:p xmlns:a="http://schemas.openxmlformats.org/drawingml/2006/main">
            <a:pPr>
              <a:lnSpc>
                <a:spcPct val="125000"/>
              </a:lnSpc>
              <a:spcBef>
                <a:spcPts val="0"/>
              </a:spcBef>
              <a:spcAft>
                <a:spcPts val="0"/>
              </a:spcAft>
            </a:pPr>
            <a:r>
              <a:rPr>
                <a:latin typeface="Pretendard"/>
                <a:ea typeface="Pretendard"/>
                <a:cs typeface="Pretendard"/>
              </a:rPr>
              <a:t>확인 범위: 공식 웹진 해설 본문.</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F01 | 유럽연합 / 집행위원회 공식 조문 서비스 | 2024 제정 / 현행 조문 조회 2026-10-07</a:t>
            </a:r>
          </a:p>
          <a:p xmlns:a="http://schemas.openxmlformats.org/drawingml/2006/main">
            <a:pPr>
              <a:lnSpc>
                <a:spcPct val="125000"/>
              </a:lnSpc>
              <a:spcBef>
                <a:spcPts val="0"/>
              </a:spcBef>
              <a:spcAft>
                <a:spcPts val="0"/>
              </a:spcAft>
            </a:pPr>
            <a:r>
              <a:rPr>
                <a:latin typeface="Pretendard"/>
                <a:ea typeface="Pretendard"/>
                <a:cs typeface="Pretendard"/>
              </a:rPr>
              <a:t>EU AI Act 제5조: 공공장소 실시간 원격 생체식별</a:t>
            </a:r>
          </a:p>
          <a:p xmlns:a="http://schemas.openxmlformats.org/drawingml/2006/main">
            <a:pPr>
              <a:lnSpc>
                <a:spcPct val="125000"/>
              </a:lnSpc>
              <a:spcBef>
                <a:spcPts val="0"/>
              </a:spcBef>
              <a:spcAft>
                <a:spcPts val="0"/>
              </a:spcAft>
            </a:pPr>
            <a:r>
              <a:rPr>
                <a:latin typeface="Pretendard"/>
                <a:ea typeface="Pretendard"/>
                <a:cs typeface="Pretendard"/>
              </a:rPr>
              <a:t>https://ai-act-service-desk.ec.europa.eu/en/ai-act/article-5</a:t>
            </a:r>
          </a:p>
          <a:p xmlns:a="http://schemas.openxmlformats.org/drawingml/2006/main">
            <a:pPr>
              <a:lnSpc>
                <a:spcPct val="125000"/>
              </a:lnSpc>
              <a:spcBef>
                <a:spcPts val="0"/>
              </a:spcBef>
              <a:spcAft>
                <a:spcPts val="0"/>
              </a:spcAft>
            </a:pPr>
            <a:r>
              <a:rPr>
                <a:latin typeface="Pretendard"/>
                <a:ea typeface="Pretendard"/>
                <a:cs typeface="Pretendard"/>
              </a:rPr>
              <a:t>확인 범위: 공식 제5조 본문, 특히 1(h)와 2–7항.</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F16 | 유엔 인권최고대표사무소(OHCHR) | 2021-09-13</a:t>
            </a:r>
          </a:p>
          <a:p xmlns:a="http://schemas.openxmlformats.org/drawingml/2006/main">
            <a:pPr>
              <a:lnSpc>
                <a:spcPct val="125000"/>
              </a:lnSpc>
              <a:spcBef>
                <a:spcPts val="0"/>
              </a:spcBef>
              <a:spcAft>
                <a:spcPts val="0"/>
              </a:spcAft>
            </a:pPr>
            <a:r>
              <a:rPr>
                <a:latin typeface="Pretendard"/>
                <a:ea typeface="Pretendard"/>
                <a:cs typeface="Pretendard"/>
              </a:rPr>
              <a:t>The right to privacy in the digital age, A/HRC/48/31</a:t>
            </a:r>
          </a:p>
          <a:p xmlns:a="http://schemas.openxmlformats.org/drawingml/2006/main">
            <a:pPr>
              <a:lnSpc>
                <a:spcPct val="125000"/>
              </a:lnSpc>
              <a:spcBef>
                <a:spcPts val="0"/>
              </a:spcBef>
              <a:spcAft>
                <a:spcPts val="0"/>
              </a:spcAft>
            </a:pPr>
            <a:r>
              <a:rPr>
                <a:latin typeface="Pretendard"/>
                <a:ea typeface="Pretendard"/>
                <a:cs typeface="Pretendard"/>
              </a:rPr>
              <a:t>https://documents.un.org/doc/undoc/gen/g21/249/21/pdf/g2124921.pdf</a:t>
            </a:r>
          </a:p>
          <a:p xmlns:a="http://schemas.openxmlformats.org/drawingml/2006/main">
            <a:pPr>
              <a:lnSpc>
                <a:spcPct val="125000"/>
              </a:lnSpc>
              <a:spcBef>
                <a:spcPts val="0"/>
              </a:spcBef>
              <a:spcAft>
                <a:spcPts val="0"/>
              </a:spcAft>
            </a:pPr>
            <a:r>
              <a:rPr>
                <a:latin typeface="Pretendard"/>
                <a:ea typeface="Pretendard"/>
                <a:cs typeface="Pretendard"/>
              </a:rPr>
              <a:t>확인 범위: UN 공식 16쪽 PDF 중 §§25–28, 38–50, 59–60의 관련 원문 확인.</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도입 시점·대상 범죄·배치 범위·재승인 조건을 함께 정한다.</a:t>
            </a:r>
          </a:p>
          <a:p xmlns:a="http://schemas.openxmlformats.org/drawingml/2006/main">
            <a:pPr>
              <a:lnSpc>
                <a:spcPct val="125000"/>
              </a:lnSpc>
              <a:spcBef>
                <a:spcPts val="0"/>
              </a:spcBef>
              <a:spcAft>
                <a:spcPts val="0"/>
              </a:spcAft>
            </a:pPr>
            <a:r>
              <a:rPr>
                <a:latin typeface="Pretendard"/>
                <a:ea typeface="Pretendard"/>
                <a:cs typeface="Pretendard"/>
              </a:rPr>
              <a:t>확장 질문: 허용 여부를 구체적인 정책 선택으로 어떻게 표현하는가?</a:t>
            </a:r>
          </a:p>
          <a:p xmlns:a="http://schemas.openxmlformats.org/drawingml/2006/main">
            <a:pPr>
              <a:lnSpc>
                <a:spcPct val="125000"/>
              </a:lnSpc>
              <a:spcBef>
                <a:spcPts val="0"/>
              </a:spcBef>
              <a:spcAft>
                <a:spcPts val="0"/>
              </a:spcAft>
            </a:pPr>
            <a:r>
              <a:rPr>
                <a:latin typeface="Pretendard"/>
                <a:ea typeface="Pretendard"/>
                <a:cs typeface="Pretendard"/>
              </a:rPr>
              <a:t>D01: 보호 입법 전 공공기관의 공공장소 실시간 원격 얼굴인식 도입·활용 중지 권고. 국무조정실은 개별 법적 근거 없는 도입을 하지 않겠다고 회신했고 인권위가 이를 수용으로 판단했다.</a:t>
            </a:r>
          </a:p>
          <a:p xmlns:a="http://schemas.openxmlformats.org/drawingml/2006/main">
            <a:pPr>
              <a:lnSpc>
                <a:spcPct val="125000"/>
              </a:lnSpc>
              <a:spcBef>
                <a:spcPts val="0"/>
              </a:spcBef>
              <a:spcAft>
                <a:spcPts val="0"/>
              </a:spcAft>
            </a:pPr>
            <a:r>
              <a:rPr>
                <a:latin typeface="Pretendard"/>
                <a:ea typeface="Pretendard"/>
                <a:cs typeface="Pretendard"/>
              </a:rPr>
              <a:t>적용 범위·한계: 권고·회신이며, 2026년 현재 모든 얼굴인식을 금지하는 법률이라는 뜻이 아니다.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D02: 엄격한 조건과 보호장치 아래 중범죄 대응에 활용하는 경우 인권침해로 볼 수 없다는 배심회의 결과를 발표했다. 오인 수사·체포와 편향·낙인 위험도 논의했다.</a:t>
            </a:r>
          </a:p>
          <a:p xmlns:a="http://schemas.openxmlformats.org/drawingml/2006/main">
            <a:pPr>
              <a:lnSpc>
                <a:spcPct val="125000"/>
              </a:lnSpc>
              <a:spcBef>
                <a:spcPts val="0"/>
              </a:spcBef>
              <a:spcAft>
                <a:spcPts val="0"/>
              </a:spcAft>
            </a:pPr>
            <a:r>
              <a:rPr>
                <a:latin typeface="Pretendard"/>
                <a:ea typeface="Pretendard"/>
                <a:cs typeface="Pretendard"/>
              </a:rPr>
              <a:t>적용 범위·한계: 법원 판단·국가 정책 승인·전국 대표 여론조사가 아니다. 이희대 이사의 주재와 전문가·도민 참여는 확인했으나 2025년 실제 표본 수·찬반 분포는 미확인.</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D37: 공공장소의 불특정 다수 대상 실시간 원격 얼굴인식 원칙적 금지, 공익적 필요에 따른 예외·보충적 활용, 도입 전 및 중대한 변경 시 독립적 인권영향평가를 권고 취지로 설명한다.</a:t>
            </a:r>
          </a:p>
          <a:p xmlns:a="http://schemas.openxmlformats.org/drawingml/2006/main">
            <a:pPr>
              <a:lnSpc>
                <a:spcPct val="125000"/>
              </a:lnSpc>
              <a:spcBef>
                <a:spcPts val="0"/>
              </a:spcBef>
              <a:spcAft>
                <a:spcPts val="0"/>
              </a:spcAft>
            </a:pPr>
            <a:r>
              <a:rPr>
                <a:latin typeface="Pretendard"/>
                <a:ea typeface="Pretendard"/>
                <a:cs typeface="Pretendard"/>
              </a:rPr>
              <a:t>적용 범위·한계: 담당자의 공식 해설이며 권고 결정문 전문과 구분한다. D01과 같은 권고 문서군에 속한다.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F01: 법집행 목적의 공공장소 실시간 원격 생체식별은 원칙적으로 금지하되 특정 피해자·실종자 수색, 생명·안전 위협 및 테러, 일정 중대범죄 용의자 식별 등에 예외를 둔다. 사전 독립적 허가와 시간·장소·인적 제한, 영향평가 및 회원국의 별도 법제가 요구된다.</a:t>
            </a:r>
          </a:p>
          <a:p xmlns:a="http://schemas.openxmlformats.org/drawingml/2006/main">
            <a:pPr>
              <a:lnSpc>
                <a:spcPct val="125000"/>
              </a:lnSpc>
              <a:spcBef>
                <a:spcPts val="0"/>
              </a:spcBef>
              <a:spcAft>
                <a:spcPts val="0"/>
              </a:spcAft>
            </a:pPr>
            <a:r>
              <a:rPr>
                <a:latin typeface="Pretendard"/>
                <a:ea typeface="Pretendard"/>
                <a:cs typeface="Pretendard"/>
              </a:rPr>
              <a:t>적용 범위·한계: 유럽 전체에서 경찰이 자동으로 사용할 수 있다는 뜻이 아니다. 범죄 기준은 해당 목록 범죄의 법정 최고형 4년 이상이다. 긴급 예외의 24시간은 허가 신청 시한이며 승인 시한이 아니다.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F16: §59(d)는 공공장소 원격 생체인식의 유예를 권고하고, 개인정보 기준 준수·중대한 정확성 문제 및 차별적 영향의 부재 입증·선행 집회 보호 권고 이행을 해제 조건으로 제시한다. §§49–50은 전 생애주기 영향평가와 당사자 참여·결과 공개를 요구한다.</a:t>
            </a:r>
          </a:p>
          <a:p xmlns:a="http://schemas.openxmlformats.org/drawingml/2006/main">
            <a:pPr>
              <a:lnSpc>
                <a:spcPct val="125000"/>
              </a:lnSpc>
              <a:spcBef>
                <a:spcPts val="0"/>
              </a:spcBef>
              <a:spcAft>
                <a:spcPts val="0"/>
              </a:spcAft>
            </a:pPr>
            <a:r>
              <a:rPr>
                <a:latin typeface="Pretendard"/>
                <a:ea typeface="Pretendard"/>
                <a:cs typeface="Pretendard"/>
              </a:rPr>
              <a:t>적용 범위·한계: 인권최고대표의 권고 보고서이다. 국내에 직접 적용되는 금지 법률 및 EU AI Act의 법정 예외와 법적 성격을 구별한다.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W8-38 / 본편 필수 / DIRECT</a:t>
            </a:r>
          </a:p>
          <a:p xmlns:a="http://schemas.openxmlformats.org/drawingml/2006/main">
            <a:pPr>
              <a:lnSpc>
                <a:spcPct val="125000"/>
              </a:lnSpc>
              <a:spcBef>
                <a:spcPts val="0"/>
              </a:spcBef>
              <a:spcAft>
                <a:spcPts val="0"/>
              </a:spcAft>
            </a:pPr>
            <a:r>
              <a:rPr>
                <a:latin typeface="Pretendard"/>
                <a:ea typeface="Pretendard"/>
                <a:cs typeface="Pretendard"/>
              </a:rPr>
              <a:t>실제 기관 의견을 참고해 구성한 강의용 선택지. 3안을 기관 공통 합의로 귀속하지 않는다.</a:t>
            </a:r>
          </a:p>
          <a:p xmlns:a="http://schemas.openxmlformats.org/drawingml/2006/main">
            <a:pPr>
              <a:lnSpc>
                <a:spcPct val="125000"/>
              </a:lnSpc>
              <a:spcBef>
                <a:spcPts val="0"/>
              </a:spcBef>
              <a:spcAft>
                <a:spcPts val="0"/>
              </a:spcAft>
            </a:pPr>
            <a:r>
              <a:rPr>
                <a:latin typeface="Pretendard"/>
                <a:ea typeface="Pretendard"/>
                <a:cs typeface="Pretendard"/>
              </a:rPr>
              <a:t>이전 연결: 통제 책임을 갖춘 설계는 도입 시점과 허용 범위의 정책 선택으로 구체화된다.</a:t>
            </a:r>
          </a:p>
          <a:p xmlns:a="http://schemas.openxmlformats.org/drawingml/2006/main">
            <a:pPr>
              <a:lnSpc>
                <a:spcPct val="125000"/>
              </a:lnSpc>
              <a:spcBef>
                <a:spcPts val="0"/>
              </a:spcBef>
              <a:spcAft>
                <a:spcPts val="0"/>
              </a:spcAft>
            </a:pPr>
            <a:r>
              <a:rPr>
                <a:latin typeface="Pretendard"/>
                <a:ea typeface="Pretendard"/>
                <a:cs typeface="Pretendard"/>
              </a:rPr>
              <a:t>다음 연결: 정책 선택을 지지하려면 대응 필요성과 기존 수사 대비 추가 성과의 기준을 밝혀야 한다.</a:t>
            </a:r>
          </a:p>
          <a:p xmlns:a="http://schemas.openxmlformats.org/drawingml/2006/main">
            <a:pPr>
              <a:lnSpc>
                <a:spcPct val="125000"/>
              </a:lnSpc>
              <a:spcBef>
                <a:spcPts val="0"/>
              </a:spcBef>
              <a:spcAft>
                <a:spcPts val="0"/>
              </a:spcAft>
            </a:pPr>
            <a:r>
              <a:rPr>
                <a:latin typeface="Pretendard"/>
                <a:ea typeface="Pretendard"/>
                <a:cs typeface="Pretendard"/>
              </a:rPr>
              <a:t>운영시간 초안: 3분.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실제 수배자를 찾아낸 사례는 신속한 대응의 이익을 구체적으로 보여 줍니다. 그 이익에 큰 비중을 두는 입장은 중대한 위험을 놓칠 부담을 강조할 수 있습니다. 반면 통행인 전체를 대조하는 부담을 중시하면 기존 수사보다 더 얻는 성과의 입증을 요구할 수 있습니다. 어느 정도의 위험과 추가 이익이면 허용할지 판단 기준을 밝혀야 합니다.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S14 | Metropolitan Police | 2026-02-03</a:t>
            </a:r>
          </a:p>
          <a:p xmlns:a="http://schemas.openxmlformats.org/drawingml/2006/main">
            <a:pPr>
              <a:lnSpc>
                <a:spcPct val="125000"/>
              </a:lnSpc>
              <a:spcBef>
                <a:spcPts val="0"/>
              </a:spcBef>
              <a:spcAft>
                <a:spcPts val="0"/>
              </a:spcAft>
            </a:pPr>
            <a:r>
              <a:rPr>
                <a:latin typeface="Pretendard"/>
                <a:ea typeface="Pretendard"/>
                <a:cs typeface="Pretendard"/>
              </a:rPr>
              <a:t>Child sex offender identified through Met’s Live Facial Recognition sentenced</a:t>
            </a:r>
          </a:p>
          <a:p xmlns:a="http://schemas.openxmlformats.org/drawingml/2006/main">
            <a:pPr>
              <a:lnSpc>
                <a:spcPct val="125000"/>
              </a:lnSpc>
              <a:spcBef>
                <a:spcPts val="0"/>
              </a:spcBef>
              <a:spcAft>
                <a:spcPts val="0"/>
              </a:spcAft>
            </a:pPr>
            <a:r>
              <a:rPr>
                <a:latin typeface="Pretendard"/>
                <a:ea typeface="Pretendard"/>
                <a:cs typeface="Pretendard"/>
              </a:rPr>
              <a:t>https://news.met.police.uk/news/child-sex-offender-identified-through-mets-live-facial-recognition-sentenced-505799</a:t>
            </a:r>
          </a:p>
          <a:p xmlns:a="http://schemas.openxmlformats.org/drawingml/2006/main">
            <a:pPr>
              <a:lnSpc>
                <a:spcPct val="125000"/>
              </a:lnSpc>
              <a:spcBef>
                <a:spcPts val="0"/>
              </a:spcBef>
              <a:spcAft>
                <a:spcPts val="0"/>
              </a:spcAft>
            </a:pPr>
            <a:r>
              <a:rPr>
                <a:latin typeface="Pretendard"/>
                <a:ea typeface="Pretendard"/>
                <a:cs typeface="Pretendard"/>
              </a:rPr>
              <a:t>확인 범위: 2025-12-19 체포, 2026-02-02 선고 경위</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F05 | 런던경찰청(Metropolitan Police) | 발행 2025-09-30 / 대상 2024-09-11~2025-09-10</a:t>
            </a:r>
          </a:p>
          <a:p xmlns:a="http://schemas.openxmlformats.org/drawingml/2006/main">
            <a:pPr>
              <a:lnSpc>
                <a:spcPct val="125000"/>
              </a:lnSpc>
              <a:spcBef>
                <a:spcPts val="0"/>
              </a:spcBef>
              <a:spcAft>
                <a:spcPts val="0"/>
              </a:spcAft>
            </a:pPr>
            <a:r>
              <a:rPr>
                <a:latin typeface="Pretendard"/>
                <a:ea typeface="Pretendard"/>
                <a:cs typeface="Pretendard"/>
              </a:rPr>
              <a:t>Live Facial Recognition Annual Report 2025</a:t>
            </a:r>
          </a:p>
          <a:p xmlns:a="http://schemas.openxmlformats.org/drawingml/2006/main">
            <a:pPr>
              <a:lnSpc>
                <a:spcPct val="125000"/>
              </a:lnSpc>
              <a:spcBef>
                <a:spcPts val="0"/>
              </a:spcBef>
              <a:spcAft>
                <a:spcPts val="0"/>
              </a:spcAft>
            </a:pPr>
            <a:r>
              <a:rPr>
                <a:latin typeface="Pretendard"/>
                <a:ea typeface="Pretendard"/>
                <a:cs typeface="Pretendard"/>
              </a:rPr>
              <a:t>https://www.met.police.uk/SysSiteAssets/media/downloads/force-content/met/advice/lfr/other-lfr-documents/live-facial-recognition-annual-report-2025.pdf</a:t>
            </a:r>
          </a:p>
          <a:p xmlns:a="http://schemas.openxmlformats.org/drawingml/2006/main">
            <a:pPr>
              <a:lnSpc>
                <a:spcPct val="125000"/>
              </a:lnSpc>
              <a:spcBef>
                <a:spcPts val="0"/>
              </a:spcBef>
              <a:spcAft>
                <a:spcPts val="0"/>
              </a:spcAft>
            </a:pPr>
            <a:r>
              <a:rPr>
                <a:latin typeface="Pretendard"/>
                <a:ea typeface="Pretendard"/>
                <a:cs typeface="Pretendard"/>
              </a:rPr>
              <a:t>확인 범위: 공식 PDF 19쪽 중 배치·경보·체포 및 오류 통계.</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D39 | 한국정보경영평가 / 연구책임자 윤병호, 제주특별자치도 연구용역; 제주도의회 공개 PDF | 2024-10</a:t>
            </a:r>
          </a:p>
          <a:p xmlns:a="http://schemas.openxmlformats.org/drawingml/2006/main">
            <a:pPr>
              <a:lnSpc>
                <a:spcPct val="125000"/>
              </a:lnSpc>
              <a:spcBef>
                <a:spcPts val="0"/>
              </a:spcBef>
              <a:spcAft>
                <a:spcPts val="0"/>
              </a:spcAft>
            </a:pPr>
            <a:r>
              <a:rPr>
                <a:latin typeface="Pretendard"/>
                <a:ea typeface="Pretendard"/>
                <a:cs typeface="Pretendard"/>
              </a:rPr>
              <a:t>CCTV 통합관제센터 혁신을 위한 운영개선 효율화 방안 연구 최종보고서</a:t>
            </a:r>
          </a:p>
          <a:p xmlns:a="http://schemas.openxmlformats.org/drawingml/2006/main">
            <a:pPr>
              <a:lnSpc>
                <a:spcPct val="125000"/>
              </a:lnSpc>
              <a:spcBef>
                <a:spcPts val="0"/>
              </a:spcBef>
              <a:spcAft>
                <a:spcPts val="0"/>
              </a:spcAft>
            </a:pPr>
            <a:r>
              <a:rPr>
                <a:latin typeface="Pretendard"/>
                <a:ea typeface="Pretendard"/>
                <a:cs typeface="Pretendard"/>
              </a:rPr>
              <a:t>https://record.council.jeju.kr/CLRecords/Files/FileAppendix/a12/A044556.pdf</a:t>
            </a:r>
          </a:p>
          <a:p xmlns:a="http://schemas.openxmlformats.org/drawingml/2006/main">
            <a:pPr>
              <a:lnSpc>
                <a:spcPct val="125000"/>
              </a:lnSpc>
              <a:spcBef>
                <a:spcPts val="0"/>
              </a:spcBef>
              <a:spcAft>
                <a:spcPts val="0"/>
              </a:spcAft>
            </a:pPr>
            <a:r>
              <a:rPr>
                <a:latin typeface="Pretendard"/>
                <a:ea typeface="Pretendard"/>
                <a:cs typeface="Pretendard"/>
              </a:rPr>
              <a:t>확인 범위: 290쪽 PDF 중 제출문, 표37·38·45, 부록 요원 설문 원표, 표135–136의 추계 및 운영방침 제안 관련 부분.</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실제 대응 가능성과 기존 수사 대비 추가 이익의 요구 수준을 함께 판단한다.</a:t>
            </a:r>
          </a:p>
          <a:p xmlns:a="http://schemas.openxmlformats.org/drawingml/2006/main">
            <a:pPr>
              <a:lnSpc>
                <a:spcPct val="125000"/>
              </a:lnSpc>
              <a:spcBef>
                <a:spcPts val="0"/>
              </a:spcBef>
              <a:spcAft>
                <a:spcPts val="0"/>
              </a:spcAft>
            </a:pPr>
            <a:r>
              <a:rPr>
                <a:latin typeface="Pretendard"/>
                <a:ea typeface="Pretendard"/>
                <a:cs typeface="Pretendard"/>
              </a:rPr>
              <a:t>확장 질문: 필요성과 성과에 대한 어떤 전제가 결론을 바꾸는가?</a:t>
            </a:r>
          </a:p>
          <a:p xmlns:a="http://schemas.openxmlformats.org/drawingml/2006/main">
            <a:pPr>
              <a:lnSpc>
                <a:spcPct val="125000"/>
              </a:lnSpc>
              <a:spcBef>
                <a:spcPts val="0"/>
              </a:spcBef>
              <a:spcAft>
                <a:spcPts val="0"/>
              </a:spcAft>
            </a:pPr>
            <a:r>
              <a:rPr>
                <a:latin typeface="Pretendard"/>
                <a:ea typeface="Pretendard"/>
                <a:cs typeface="Pretendard"/>
              </a:rPr>
              <a:t>S14: 공판 불출석 수배자 LFR 체포, 유죄 인정, 징역 12개월·집행유예 12개월</a:t>
            </a:r>
          </a:p>
          <a:p xmlns:a="http://schemas.openxmlformats.org/drawingml/2006/main">
            <a:pPr>
              <a:lnSpc>
                <a:spcPct val="125000"/>
              </a:lnSpc>
              <a:spcBef>
                <a:spcPts val="0"/>
              </a:spcBef>
              <a:spcAft>
                <a:spcPts val="0"/>
              </a:spcAft>
            </a:pPr>
            <a:r>
              <a:rPr>
                <a:latin typeface="Pretendard"/>
                <a:ea typeface="Pretendard"/>
                <a:cs typeface="Pretendard"/>
              </a:rPr>
              <a:t>적용 범위·한계: 선고문 원문 미확보; 경찰 발표에 따른 개별 사례</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F05: 범죄다발지역 203회와 행사보안 4회 배치를 구분한다. 전체 기간 약 314만 7,436회 얼굴 통과, 경보 2,077건(진경보 2,067·오경보 10), 체포 962건을 보고했다. 오경보 중 6건에서 현장 접촉이 있었고 그로 인한 체포는 0건이었다.</a:t>
            </a:r>
          </a:p>
          <a:p xmlns:a="http://schemas.openxmlformats.org/drawingml/2006/main">
            <a:pPr>
              <a:lnSpc>
                <a:spcPct val="125000"/>
              </a:lnSpc>
              <a:spcBef>
                <a:spcPts val="0"/>
              </a:spcBef>
              <a:spcAft>
                <a:spcPts val="0"/>
              </a:spcAft>
            </a:pPr>
            <a:r>
              <a:rPr>
                <a:latin typeface="Pretendard"/>
                <a:ea typeface="Pretendard"/>
                <a:cs typeface="Pretendard"/>
              </a:rPr>
              <a:t>적용 범위·한계: 경찰의 자체 집계다. 얼굴 통과는 고유 인원수가 아니며 체포는 유죄가 아니다. 전후·대조집단 비교가 없어 범죄 감소의 인과효과를 입증하지 않는다.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D39: 2023년 관제요원 101명·상주 경찰 3명, 표37의 예산 합계 11,755,443천원. 2023년 요원 설문 총 35명 중 정확도 문항 응답 34명이며 27명이 지능형 선별관제 체감 정확도를 50% 미만으로 응답했다.</a:t>
            </a:r>
          </a:p>
          <a:p xmlns:a="http://schemas.openxmlformats.org/drawingml/2006/main">
            <a:pPr>
              <a:lnSpc>
                <a:spcPct val="125000"/>
              </a:lnSpc>
              <a:spcBef>
                <a:spcPts val="0"/>
              </a:spcBef>
              <a:spcAft>
                <a:spcPts val="0"/>
              </a:spcAft>
            </a:pPr>
            <a:r>
              <a:rPr>
                <a:latin typeface="Pretendard"/>
                <a:ea typeface="Pretendard"/>
                <a:cs typeface="Pretendard"/>
              </a:rPr>
              <a:t>적용 범위·한계: 일반 통합관제·선별관제의 단일 지역 자료이다. 정확도 문항은 요원의 인식 조사이고 비용 수치는 전체 센터의 예산이다. 표135–136은 가정에 따른 미래 추계이다.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W8-39 / 본편 필수 / DIRECT</a:t>
            </a:r>
          </a:p>
          <a:p xmlns:a="http://schemas.openxmlformats.org/drawingml/2006/main">
            <a:pPr>
              <a:lnSpc>
                <a:spcPct val="125000"/>
              </a:lnSpc>
              <a:spcBef>
                <a:spcPts val="0"/>
              </a:spcBef>
              <a:spcAft>
                <a:spcPts val="0"/>
              </a:spcAft>
            </a:pPr>
            <a:r>
              <a:rPr>
                <a:latin typeface="Pretendard"/>
                <a:ea typeface="Pretendard"/>
                <a:cs typeface="Pretendard"/>
              </a:rPr>
              <a:t>강의용 규범적 논거 구성. 어느 기관이나 저자의 직접 발언으로 귀속하지 않는다.</a:t>
            </a:r>
          </a:p>
          <a:p xmlns:a="http://schemas.openxmlformats.org/drawingml/2006/main">
            <a:pPr>
              <a:lnSpc>
                <a:spcPct val="125000"/>
              </a:lnSpc>
              <a:spcBef>
                <a:spcPts val="0"/>
              </a:spcBef>
              <a:spcAft>
                <a:spcPts val="0"/>
              </a:spcAft>
            </a:pPr>
            <a:r>
              <a:rPr>
                <a:latin typeface="Pretendard"/>
                <a:ea typeface="Pretendard"/>
                <a:cs typeface="Pretendard"/>
              </a:rPr>
              <a:t>이전 연결: 정책 선택을 지지하려면 대응 필요성과 기존 수사 대비 추가 성과의 기준을 밝혀야 한다.</a:t>
            </a:r>
          </a:p>
          <a:p xmlns:a="http://schemas.openxmlformats.org/drawingml/2006/main">
            <a:pPr>
              <a:lnSpc>
                <a:spcPct val="125000"/>
              </a:lnSpc>
              <a:spcBef>
                <a:spcPts val="0"/>
              </a:spcBef>
              <a:spcAft>
                <a:spcPts val="0"/>
              </a:spcAft>
            </a:pPr>
            <a:r>
              <a:rPr>
                <a:latin typeface="Pretendard"/>
                <a:ea typeface="Pretendard"/>
                <a:cs typeface="Pretendard"/>
              </a:rPr>
              <a:t>다음 연결: 성과의 이유와 함께 정보를 처리하고 사람에게 개입할 법적 문턱을 정해야 한다.</a:t>
            </a:r>
          </a:p>
          <a:p xmlns:a="http://schemas.openxmlformats.org/drawingml/2006/main">
            <a:pPr>
              <a:lnSpc>
                <a:spcPct val="125000"/>
              </a:lnSpc>
              <a:spcBef>
                <a:spcPts val="0"/>
              </a:spcBef>
              <a:spcAft>
                <a:spcPts val="0"/>
              </a:spcAft>
            </a:pPr>
            <a:r>
              <a:rPr>
                <a:latin typeface="Pretendard"/>
                <a:ea typeface="Pretendard"/>
                <a:cs typeface="Pretendard"/>
              </a:rPr>
              <a:t>운영시간 초안: 3분.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도입의 근거를 어떻게 정할지와 개별 시민에게 무엇을 할 수 있을지는 연결되지만 서로 다른 판단입니다. 영국의 정책 심사는 운용 기준이 재량을 얼마나 통제하는지를 보여 줍니다. 한국에서는 관련 개인정보 처리 근거와 경찰작용·형사절차 요건을 적용해야 합니다. 법률과 지침, 사전 허가 중 어디에서 어느 내용을 구체화할지 자신의 이유를 제시할 수 있습니다.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D01 | 국가인권위원회 | 권고 2023-01-12 / 회신 수용 공표 2024-02-22</a:t>
            </a:r>
          </a:p>
          <a:p xmlns:a="http://schemas.openxmlformats.org/drawingml/2006/main">
            <a:pPr>
              <a:lnSpc>
                <a:spcPct val="125000"/>
              </a:lnSpc>
              <a:spcBef>
                <a:spcPts val="0"/>
              </a:spcBef>
              <a:spcAft>
                <a:spcPts val="0"/>
              </a:spcAft>
            </a:pPr>
            <a:r>
              <a:rPr>
                <a:latin typeface="Pretendard"/>
                <a:ea typeface="Pretendard"/>
                <a:cs typeface="Pretendard"/>
              </a:rPr>
              <a:t>실시간 원격 얼굴인식 기술 도입·활용 중지 조치 권고, 국무총리 수용</a:t>
            </a:r>
          </a:p>
          <a:p xmlns:a="http://schemas.openxmlformats.org/drawingml/2006/main">
            <a:pPr>
              <a:lnSpc>
                <a:spcPct val="125000"/>
              </a:lnSpc>
              <a:spcBef>
                <a:spcPts val="0"/>
              </a:spcBef>
              <a:spcAft>
                <a:spcPts val="0"/>
              </a:spcAft>
            </a:pPr>
            <a:r>
              <a:rPr>
                <a:latin typeface="Pretendard"/>
                <a:ea typeface="Pretendard"/>
                <a:cs typeface="Pretendard"/>
              </a:rPr>
              <a:t>https://www.humanrights.go.kr/base/board/read?boardManagementNo=24&amp;boardNo=7609889&amp;menuLevel=3&amp;menuNo=91&amp;page=1&amp;searchCategory=&amp;searchType=&amp;searchWord=</a:t>
            </a:r>
          </a:p>
          <a:p xmlns:a="http://schemas.openxmlformats.org/drawingml/2006/main">
            <a:pPr>
              <a:lnSpc>
                <a:spcPct val="125000"/>
              </a:lnSpc>
              <a:spcBef>
                <a:spcPts val="0"/>
              </a:spcBef>
              <a:spcAft>
                <a:spcPts val="0"/>
              </a:spcAft>
            </a:pPr>
            <a:r>
              <a:rPr>
                <a:latin typeface="Pretendard"/>
                <a:ea typeface="Pretendard"/>
                <a:cs typeface="Pretendard"/>
              </a:rPr>
              <a:t>확인 범위: 공식 보도자료 본문. 첨부 결정문은 접근 실패.</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F01 | 유럽연합 / 집행위원회 공식 조문 서비스 | 2024 제정 / 현행 조문 조회 2026-10-07</a:t>
            </a:r>
          </a:p>
          <a:p xmlns:a="http://schemas.openxmlformats.org/drawingml/2006/main">
            <a:pPr>
              <a:lnSpc>
                <a:spcPct val="125000"/>
              </a:lnSpc>
              <a:spcBef>
                <a:spcPts val="0"/>
              </a:spcBef>
              <a:spcAft>
                <a:spcPts val="0"/>
              </a:spcAft>
            </a:pPr>
            <a:r>
              <a:rPr>
                <a:latin typeface="Pretendard"/>
                <a:ea typeface="Pretendard"/>
                <a:cs typeface="Pretendard"/>
              </a:rPr>
              <a:t>EU AI Act 제5조: 공공장소 실시간 원격 생체식별</a:t>
            </a:r>
          </a:p>
          <a:p xmlns:a="http://schemas.openxmlformats.org/drawingml/2006/main">
            <a:pPr>
              <a:lnSpc>
                <a:spcPct val="125000"/>
              </a:lnSpc>
              <a:spcBef>
                <a:spcPts val="0"/>
              </a:spcBef>
              <a:spcAft>
                <a:spcPts val="0"/>
              </a:spcAft>
            </a:pPr>
            <a:r>
              <a:rPr>
                <a:latin typeface="Pretendard"/>
                <a:ea typeface="Pretendard"/>
                <a:cs typeface="Pretendard"/>
              </a:rPr>
              <a:t>https://ai-act-service-desk.ec.europa.eu/en/ai-act/article-5</a:t>
            </a:r>
          </a:p>
          <a:p xmlns:a="http://schemas.openxmlformats.org/drawingml/2006/main">
            <a:pPr>
              <a:lnSpc>
                <a:spcPct val="125000"/>
              </a:lnSpc>
              <a:spcBef>
                <a:spcPts val="0"/>
              </a:spcBef>
              <a:spcAft>
                <a:spcPts val="0"/>
              </a:spcAft>
            </a:pPr>
            <a:r>
              <a:rPr>
                <a:latin typeface="Pretendard"/>
                <a:ea typeface="Pretendard"/>
                <a:cs typeface="Pretendard"/>
              </a:rPr>
              <a:t>확인 범위: 공식 제5조 본문, 특히 1(h)와 2–7항.</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F03 | 잉글랜드·웨일스 고등법원 / [2026] EWHC 915 (Admin) | 2026-04-21</a:t>
            </a:r>
          </a:p>
          <a:p xmlns:a="http://schemas.openxmlformats.org/drawingml/2006/main">
            <a:pPr>
              <a:lnSpc>
                <a:spcPct val="125000"/>
              </a:lnSpc>
              <a:spcBef>
                <a:spcPts val="0"/>
              </a:spcBef>
              <a:spcAft>
                <a:spcPts val="0"/>
              </a:spcAft>
            </a:pPr>
            <a:r>
              <a:rPr>
                <a:latin typeface="Pretendard"/>
                <a:ea typeface="Pretendard"/>
                <a:cs typeface="Pretendard"/>
              </a:rPr>
              <a:t>R (Thompson and Carlo) v Commissioner of Police of the Metropolis</a:t>
            </a:r>
          </a:p>
          <a:p xmlns:a="http://schemas.openxmlformats.org/drawingml/2006/main">
            <a:pPr>
              <a:lnSpc>
                <a:spcPct val="125000"/>
              </a:lnSpc>
              <a:spcBef>
                <a:spcPts val="0"/>
              </a:spcBef>
              <a:spcAft>
                <a:spcPts val="0"/>
              </a:spcAft>
            </a:pPr>
            <a:r>
              <a:rPr>
                <a:latin typeface="Pretendard"/>
                <a:ea typeface="Pretendard"/>
                <a:cs typeface="Pretendard"/>
              </a:rPr>
              <a:t>https://www.judiciary.uk/wp-content/uploads/2026/04/AC-2024-LON-001764-R-Thompson-and-Carlo-version-for-hand-down-21-04-2026.pdf</a:t>
            </a:r>
          </a:p>
          <a:p xmlns:a="http://schemas.openxmlformats.org/drawingml/2006/main">
            <a:pPr>
              <a:lnSpc>
                <a:spcPct val="125000"/>
              </a:lnSpc>
              <a:spcBef>
                <a:spcPts val="0"/>
              </a:spcBef>
              <a:spcAft>
                <a:spcPts val="0"/>
              </a:spcAft>
            </a:pPr>
            <a:r>
              <a:rPr>
                <a:latin typeface="Pretendard"/>
                <a:ea typeface="Pretendard"/>
                <a:cs typeface="Pretendard"/>
              </a:rPr>
              <a:t>확인 범위: 공식 47쪽 판결의 심판범위 §§1–15, 사실관계 §17, CCTV 확장 §68, 정책 평가 §§219–231.</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X01 | 국가법령정보센터 | 시행 2026-07-07 / 법률 제21304호</a:t>
            </a:r>
          </a:p>
          <a:p xmlns:a="http://schemas.openxmlformats.org/drawingml/2006/main">
            <a:pPr>
              <a:lnSpc>
                <a:spcPct val="125000"/>
              </a:lnSpc>
              <a:spcBef>
                <a:spcPts val="0"/>
              </a:spcBef>
              <a:spcAft>
                <a:spcPts val="0"/>
              </a:spcAft>
            </a:pPr>
            <a:r>
              <a:rPr>
                <a:latin typeface="Pretendard"/>
                <a:ea typeface="Pretendard"/>
                <a:cs typeface="Pretendard"/>
              </a:rPr>
              <a:t>경찰관 직무집행법 제3조 불심검문</a:t>
            </a:r>
          </a:p>
          <a:p xmlns:a="http://schemas.openxmlformats.org/drawingml/2006/main">
            <a:pPr>
              <a:lnSpc>
                <a:spcPct val="125000"/>
              </a:lnSpc>
              <a:spcBef>
                <a:spcPts val="0"/>
              </a:spcBef>
              <a:spcAft>
                <a:spcPts val="0"/>
              </a:spcAft>
            </a:pPr>
            <a:r>
              <a:rPr>
                <a:latin typeface="Pretendard"/>
                <a:ea typeface="Pretendard"/>
                <a:cs typeface="Pretendard"/>
              </a:rPr>
              <a:t>https://law.go.kr/LSW/lsSideInfoP.do?docCls=jo&amp;joBrNo=00&amp;joNo=0003&amp;lsiSeq=282479&amp;urlMode=lsScJoRltInfoR</a:t>
            </a:r>
          </a:p>
          <a:p xmlns:a="http://schemas.openxmlformats.org/drawingml/2006/main">
            <a:pPr>
              <a:lnSpc>
                <a:spcPct val="125000"/>
              </a:lnSpc>
              <a:spcBef>
                <a:spcPts val="0"/>
              </a:spcBef>
              <a:spcAft>
                <a:spcPts val="0"/>
              </a:spcAft>
            </a:pPr>
            <a:r>
              <a:rPr>
                <a:latin typeface="Pretendard"/>
                <a:ea typeface="Pretendard"/>
                <a:cs typeface="Pretendard"/>
              </a:rPr>
              <a:t>확인 범위: 제3조 제1–7항 원문</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X02 | 국가법령정보센터 | 시행 2026-10-02 / 법률 제22009호</a:t>
            </a:r>
          </a:p>
          <a:p xmlns:a="http://schemas.openxmlformats.org/drawingml/2006/main">
            <a:pPr>
              <a:lnSpc>
                <a:spcPct val="125000"/>
              </a:lnSpc>
              <a:spcBef>
                <a:spcPts val="0"/>
              </a:spcBef>
              <a:spcAft>
                <a:spcPts val="0"/>
              </a:spcAft>
            </a:pPr>
            <a:r>
              <a:rPr>
                <a:latin typeface="Pretendard"/>
                <a:ea typeface="Pretendard"/>
                <a:cs typeface="Pretendard"/>
              </a:rPr>
              <a:t>형사소송법 제200조의2 제1항 영장에 의한 체포</a:t>
            </a:r>
          </a:p>
          <a:p xmlns:a="http://schemas.openxmlformats.org/drawingml/2006/main">
            <a:pPr>
              <a:lnSpc>
                <a:spcPct val="125000"/>
              </a:lnSpc>
              <a:spcBef>
                <a:spcPts val="0"/>
              </a:spcBef>
              <a:spcAft>
                <a:spcPts val="0"/>
              </a:spcAft>
            </a:pPr>
            <a:r>
              <a:rPr>
                <a:latin typeface="Pretendard"/>
                <a:ea typeface="Pretendard"/>
                <a:cs typeface="Pretendard"/>
              </a:rPr>
              <a:t>https://www.law.go.kr/LSW/lsLinkCommonInfo.do?lsJoLnkSeq=1013583337</a:t>
            </a:r>
          </a:p>
          <a:p xmlns:a="http://schemas.openxmlformats.org/drawingml/2006/main">
            <a:pPr>
              <a:lnSpc>
                <a:spcPct val="125000"/>
              </a:lnSpc>
              <a:spcBef>
                <a:spcPts val="0"/>
              </a:spcBef>
              <a:spcAft>
                <a:spcPts val="0"/>
              </a:spcAft>
            </a:pPr>
            <a:r>
              <a:rPr>
                <a:latin typeface="Pretendard"/>
                <a:ea typeface="Pretendard"/>
                <a:cs typeface="Pretendard"/>
              </a:rPr>
              <a:t>확인 범위: 제200조의2 제1항 본문·경미사건 단서</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S13 | 미국 미시간 동부 연방지방법원·사건 당사자 | 2024-06-28</a:t>
            </a:r>
          </a:p>
          <a:p xmlns:a="http://schemas.openxmlformats.org/drawingml/2006/main">
            <a:pPr>
              <a:lnSpc>
                <a:spcPct val="125000"/>
              </a:lnSpc>
              <a:spcBef>
                <a:spcPts val="0"/>
              </a:spcBef>
              <a:spcAft>
                <a:spcPts val="0"/>
              </a:spcAft>
            </a:pPr>
            <a:r>
              <a:rPr>
                <a:latin typeface="Pretendard"/>
                <a:ea typeface="Pretendard"/>
                <a:cs typeface="Pretendard"/>
              </a:rPr>
              <a:t>Williams v. City of Detroit — Final Order of Dismissal and Settlement Agreement</a:t>
            </a:r>
          </a:p>
          <a:p xmlns:a="http://schemas.openxmlformats.org/drawingml/2006/main">
            <a:pPr>
              <a:lnSpc>
                <a:spcPct val="125000"/>
              </a:lnSpc>
              <a:spcBef>
                <a:spcPts val="0"/>
              </a:spcBef>
              <a:spcAft>
                <a:spcPts val="0"/>
              </a:spcAft>
            </a:pPr>
            <a:r>
              <a:rPr>
                <a:latin typeface="Pretendard"/>
                <a:ea typeface="Pretendard"/>
                <a:cs typeface="Pretendard"/>
              </a:rPr>
              <a:t>https://assets.aclu.org/live/uploads/2024/06/Final-Order-of-Dismissal-and-Settlement-Agreement.pdf</a:t>
            </a:r>
          </a:p>
          <a:p xmlns:a="http://schemas.openxmlformats.org/drawingml/2006/main">
            <a:pPr>
              <a:lnSpc>
                <a:spcPct val="125000"/>
              </a:lnSpc>
              <a:spcBef>
                <a:spcPts val="0"/>
              </a:spcBef>
              <a:spcAft>
                <a:spcPts val="0"/>
              </a:spcAft>
            </a:pPr>
            <a:r>
              <a:rPr>
                <a:latin typeface="Pretendard"/>
                <a:ea typeface="Pretendard"/>
                <a:cs typeface="Pretendard"/>
              </a:rPr>
              <a:t>확인 범위: 42쪽 PDF 중 1–2쪽 종결 명령, 16쪽 지침 307.5-5.3</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도입의 권한과 정지·체포의 법적 요건을 각각 통제한다.</a:t>
            </a:r>
          </a:p>
          <a:p xmlns:a="http://schemas.openxmlformats.org/drawingml/2006/main">
            <a:pPr>
              <a:lnSpc>
                <a:spcPct val="125000"/>
              </a:lnSpc>
              <a:spcBef>
                <a:spcPts val="0"/>
              </a:spcBef>
              <a:spcAft>
                <a:spcPts val="0"/>
              </a:spcAft>
            </a:pPr>
            <a:r>
              <a:rPr>
                <a:latin typeface="Pretendard"/>
                <a:ea typeface="Pretendard"/>
                <a:cs typeface="Pretendard"/>
              </a:rPr>
              <a:t>확장 질문: 법률·지침·허가와 현장 확인은 각각 무엇을 맡는가?</a:t>
            </a:r>
          </a:p>
          <a:p xmlns:a="http://schemas.openxmlformats.org/drawingml/2006/main">
            <a:pPr>
              <a:lnSpc>
                <a:spcPct val="125000"/>
              </a:lnSpc>
              <a:spcBef>
                <a:spcPts val="0"/>
              </a:spcBef>
              <a:spcAft>
                <a:spcPts val="0"/>
              </a:spcAft>
            </a:pPr>
            <a:r>
              <a:rPr>
                <a:latin typeface="Pretendard"/>
                <a:ea typeface="Pretendard"/>
                <a:cs typeface="Pretendard"/>
              </a:rPr>
              <a:t>D01: 보호 입법 전 공공기관의 공공장소 실시간 원격 얼굴인식 도입·활용 중지 권고. 국무조정실은 개별 법적 근거 없는 도입을 하지 않겠다고 회신했고 인권위가 이를 수용으로 판단했다.</a:t>
            </a:r>
          </a:p>
          <a:p xmlns:a="http://schemas.openxmlformats.org/drawingml/2006/main">
            <a:pPr>
              <a:lnSpc>
                <a:spcPct val="125000"/>
              </a:lnSpc>
              <a:spcBef>
                <a:spcPts val="0"/>
              </a:spcBef>
              <a:spcAft>
                <a:spcPts val="0"/>
              </a:spcAft>
            </a:pPr>
            <a:r>
              <a:rPr>
                <a:latin typeface="Pretendard"/>
                <a:ea typeface="Pretendard"/>
                <a:cs typeface="Pretendard"/>
              </a:rPr>
              <a:t>적용 범위·한계: 권고·회신이며, 2026년 현재 모든 얼굴인식을 금지하는 법률이라는 뜻이 아니다.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F01: 법집행 목적의 공공장소 실시간 원격 생체식별은 원칙적으로 금지하되 특정 피해자·실종자 수색, 생명·안전 위협 및 테러, 일정 중대범죄 용의자 식별 등에 예외를 둔다. 사전 독립적 허가와 시간·장소·인적 제한, 영향평가 및 회원국의 별도 법제가 요구된다.</a:t>
            </a:r>
          </a:p>
          <a:p xmlns:a="http://schemas.openxmlformats.org/drawingml/2006/main">
            <a:pPr>
              <a:lnSpc>
                <a:spcPct val="125000"/>
              </a:lnSpc>
              <a:spcBef>
                <a:spcPts val="0"/>
              </a:spcBef>
              <a:spcAft>
                <a:spcPts val="0"/>
              </a:spcAft>
            </a:pPr>
            <a:r>
              <a:rPr>
                <a:latin typeface="Pretendard"/>
                <a:ea typeface="Pretendard"/>
                <a:cs typeface="Pretendard"/>
              </a:rPr>
              <a:t>적용 범위·한계: 유럽 전체에서 경찰이 자동으로 사용할 수 있다는 뜻이 아니다. 범죄 기준은 해당 목록 범죄의 법정 최고형 4년 이상이다. 긴급 예외의 24시간은 허가 신청 시한이며 승인 시한이 아니다.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F03: 법원은 런던경찰의 2024년 정책이 목적·명단·장소·비례성 판단을 결합하여 경찰 재량의 예측가능성을 확보했다고 보고 청구를 기각했다. §17은 원고가 2024년 2월 형제로 오인되어 정지·질문·신원 증명 요구를 받은 경위를 기재한다.</a:t>
            </a:r>
          </a:p>
          <a:p xmlns:a="http://schemas.openxmlformats.org/drawingml/2006/main">
            <a:pPr>
              <a:lnSpc>
                <a:spcPct val="125000"/>
              </a:lnSpc>
              <a:spcBef>
                <a:spcPts val="0"/>
              </a:spcBef>
              <a:spcAft>
                <a:spcPts val="0"/>
              </a:spcAft>
            </a:pPr>
            <a:r>
              <a:rPr>
                <a:latin typeface="Pretendard"/>
                <a:ea typeface="Pretendard"/>
                <a:cs typeface="Pretendard"/>
              </a:rPr>
              <a:t>적용 범위·한계: 소송의 중심은 정책의 명확성과 자의적 재량 통제이다. 원고들은 이 소송에서 비례성 자체를 다투지 않았다. §17 사건의 개별 처분 적법성 및 미래 상시 CCTV 연계의 심사는 범위 밖이며 상소 상태는 미확인.</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X01: 상당한 이유에 의한 정지·질문, 흉기 조사, 신분·이유 고지, 동행 거절 및 의사에 반한 답변 강요 금지를 확인했다.</a:t>
            </a:r>
          </a:p>
          <a:p xmlns:a="http://schemas.openxmlformats.org/drawingml/2006/main">
            <a:pPr>
              <a:lnSpc>
                <a:spcPct val="125000"/>
              </a:lnSpc>
              <a:spcBef>
                <a:spcPts val="0"/>
              </a:spcBef>
              <a:spcAft>
                <a:spcPts val="0"/>
              </a:spcAft>
            </a:pPr>
            <a:r>
              <a:rPr>
                <a:latin typeface="Pretendard"/>
                <a:ea typeface="Pretendard"/>
                <a:cs typeface="Pretendard"/>
              </a:rPr>
              <a:t>적용 범위·한계: 개별 AI 경보가 요건을 충족하는지에 관한 판결은 아니다.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X02: 범죄 혐의의 상당한 이유와 출석 불응·불응 우려, 사법경찰관 신청·검사 청구·판사 영장 발부의 경로를 확인했다.</a:t>
            </a:r>
          </a:p>
          <a:p xmlns:a="http://schemas.openxmlformats.org/drawingml/2006/main">
            <a:pPr>
              <a:lnSpc>
                <a:spcPct val="125000"/>
              </a:lnSpc>
              <a:spcBef>
                <a:spcPts val="0"/>
              </a:spcBef>
              <a:spcAft>
                <a:spcPts val="0"/>
              </a:spcAft>
            </a:pPr>
            <a:r>
              <a:rPr>
                <a:latin typeface="Pretendard"/>
                <a:ea typeface="Pretendard"/>
                <a:cs typeface="Pretendard"/>
              </a:rPr>
              <a:t>적용 범위·한계: 긴급체포·현행범 체포와 구별하며 이 조항만으로 전체 체포법을 설명하지 않는다.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S13: 체포·영장 신청에 독립적이고 신뢰할 수 있는 추가 증거 요구</a:t>
            </a:r>
          </a:p>
          <a:p xmlns:a="http://schemas.openxmlformats.org/drawingml/2006/main">
            <a:pPr>
              <a:lnSpc>
                <a:spcPct val="125000"/>
              </a:lnSpc>
              <a:spcBef>
                <a:spcPts val="0"/>
              </a:spcBef>
              <a:spcAft>
                <a:spcPts val="0"/>
              </a:spcAft>
            </a:pPr>
            <a:r>
              <a:rPr>
                <a:latin typeface="Pretendard"/>
                <a:ea typeface="Pretendard"/>
                <a:cs typeface="Pretendard"/>
              </a:rPr>
              <a:t>적용 범위·한계: 합의문과 첨부 경찰 지침의 내용; 2026년 개별 집행 실적은 미확인</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W8-40 / 본편 필수 / DIRECT</a:t>
            </a:r>
          </a:p>
          <a:p xmlns:a="http://schemas.openxmlformats.org/drawingml/2006/main">
            <a:pPr>
              <a:lnSpc>
                <a:spcPct val="125000"/>
              </a:lnSpc>
              <a:spcBef>
                <a:spcPts val="0"/>
              </a:spcBef>
              <a:spcAft>
                <a:spcPts val="0"/>
              </a:spcAft>
            </a:pPr>
            <a:r>
              <a:rPr>
                <a:latin typeface="Pretendard"/>
                <a:ea typeface="Pretendard"/>
                <a:cs typeface="Pretendard"/>
              </a:rPr>
              <a:t>두 열은 배타적 법체계를 단정한 것이 아니라 통제의 중심을 달리하는 논거다. 현장 권리보장은 공통 의무.</a:t>
            </a:r>
          </a:p>
          <a:p xmlns:a="http://schemas.openxmlformats.org/drawingml/2006/main">
            <a:pPr>
              <a:lnSpc>
                <a:spcPct val="125000"/>
              </a:lnSpc>
              <a:spcBef>
                <a:spcPts val="0"/>
              </a:spcBef>
              <a:spcAft>
                <a:spcPts val="0"/>
              </a:spcAft>
            </a:pPr>
            <a:r>
              <a:rPr>
                <a:latin typeface="Pretendard"/>
                <a:ea typeface="Pretendard"/>
                <a:cs typeface="Pretendard"/>
              </a:rPr>
              <a:t>이전 연결: 성과의 이유와 함께 정보를 처리하고 사람에게 개입할 법적 문턱을 정해야 한다.</a:t>
            </a:r>
          </a:p>
          <a:p xmlns:a="http://schemas.openxmlformats.org/drawingml/2006/main">
            <a:pPr>
              <a:lnSpc>
                <a:spcPct val="125000"/>
              </a:lnSpc>
              <a:spcBef>
                <a:spcPts val="0"/>
              </a:spcBef>
              <a:spcAft>
                <a:spcPts val="0"/>
              </a:spcAft>
            </a:pPr>
            <a:r>
              <a:rPr>
                <a:latin typeface="Pretendard"/>
                <a:ea typeface="Pretendard"/>
                <a:cs typeface="Pretendard"/>
              </a:rPr>
              <a:t>다음 연결: 법적 문턱을 갖춘 운영에서도 남는 오류·접촉·정보 축적의 부담을 판단한다.</a:t>
            </a:r>
          </a:p>
          <a:p xmlns:a="http://schemas.openxmlformats.org/drawingml/2006/main">
            <a:pPr>
              <a:lnSpc>
                <a:spcPct val="125000"/>
              </a:lnSpc>
              <a:spcBef>
                <a:spcPts val="0"/>
              </a:spcBef>
              <a:spcAft>
                <a:spcPts val="0"/>
              </a:spcAft>
            </a:pPr>
            <a:r>
              <a:rPr>
                <a:latin typeface="Pretendard"/>
                <a:ea typeface="Pretendard"/>
                <a:cs typeface="Pretendard"/>
              </a:rPr>
              <a:t>운영시간 초안: 3분.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확인 절차가 잘못된 체포를 줄이는지 평가하는 일과 정지·질문 자체의 부담을 평가하는 일이 함께 필요합니다. 시스템이 정확히 찾은 경우에도 사용 목적이 지나치게 넓으면 표현과 이동의 자유가 제한될 수 있습니다. 어떤 정보는 빠르게 삭제하고 어떤 기록은 구제를 위해 남길지, 대상과 기간을 구분해 기준을 설명해야 합니다.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F05 | 런던경찰청(Metropolitan Police) | 발행 2025-09-30 / 대상 2024-09-11~2025-09-10</a:t>
            </a:r>
          </a:p>
          <a:p xmlns:a="http://schemas.openxmlformats.org/drawingml/2006/main">
            <a:pPr>
              <a:lnSpc>
                <a:spcPct val="125000"/>
              </a:lnSpc>
              <a:spcBef>
                <a:spcPts val="0"/>
              </a:spcBef>
              <a:spcAft>
                <a:spcPts val="0"/>
              </a:spcAft>
            </a:pPr>
            <a:r>
              <a:rPr>
                <a:latin typeface="Pretendard"/>
                <a:ea typeface="Pretendard"/>
                <a:cs typeface="Pretendard"/>
              </a:rPr>
              <a:t>Live Facial Recognition Annual Report 2025</a:t>
            </a:r>
          </a:p>
          <a:p xmlns:a="http://schemas.openxmlformats.org/drawingml/2006/main">
            <a:pPr>
              <a:lnSpc>
                <a:spcPct val="125000"/>
              </a:lnSpc>
              <a:spcBef>
                <a:spcPts val="0"/>
              </a:spcBef>
              <a:spcAft>
                <a:spcPts val="0"/>
              </a:spcAft>
            </a:pPr>
            <a:r>
              <a:rPr>
                <a:latin typeface="Pretendard"/>
                <a:ea typeface="Pretendard"/>
                <a:cs typeface="Pretendard"/>
              </a:rPr>
              <a:t>https://www.met.police.uk/SysSiteAssets/media/downloads/force-content/met/advice/lfr/other-lfr-documents/live-facial-recognition-annual-report-2025.pdf</a:t>
            </a:r>
          </a:p>
          <a:p xmlns:a="http://schemas.openxmlformats.org/drawingml/2006/main">
            <a:pPr>
              <a:lnSpc>
                <a:spcPct val="125000"/>
              </a:lnSpc>
              <a:spcBef>
                <a:spcPts val="0"/>
              </a:spcBef>
              <a:spcAft>
                <a:spcPts val="0"/>
              </a:spcAft>
            </a:pPr>
            <a:r>
              <a:rPr>
                <a:latin typeface="Pretendard"/>
                <a:ea typeface="Pretendard"/>
                <a:cs typeface="Pretendard"/>
              </a:rPr>
              <a:t>확인 범위: 공식 PDF 19쪽 중 배치·경보·체포 및 오류 통계.</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F03 | 잉글랜드·웨일스 고등법원 / [2026] EWHC 915 (Admin) | 2026-04-21</a:t>
            </a:r>
          </a:p>
          <a:p xmlns:a="http://schemas.openxmlformats.org/drawingml/2006/main">
            <a:pPr>
              <a:lnSpc>
                <a:spcPct val="125000"/>
              </a:lnSpc>
              <a:spcBef>
                <a:spcPts val="0"/>
              </a:spcBef>
              <a:spcAft>
                <a:spcPts val="0"/>
              </a:spcAft>
            </a:pPr>
            <a:r>
              <a:rPr>
                <a:latin typeface="Pretendard"/>
                <a:ea typeface="Pretendard"/>
                <a:cs typeface="Pretendard"/>
              </a:rPr>
              <a:t>R (Thompson and Carlo) v Commissioner of Police of the Metropolis</a:t>
            </a:r>
          </a:p>
          <a:p xmlns:a="http://schemas.openxmlformats.org/drawingml/2006/main">
            <a:pPr>
              <a:lnSpc>
                <a:spcPct val="125000"/>
              </a:lnSpc>
              <a:spcBef>
                <a:spcPts val="0"/>
              </a:spcBef>
              <a:spcAft>
                <a:spcPts val="0"/>
              </a:spcAft>
            </a:pPr>
            <a:r>
              <a:rPr>
                <a:latin typeface="Pretendard"/>
                <a:ea typeface="Pretendard"/>
                <a:cs typeface="Pretendard"/>
              </a:rPr>
              <a:t>https://www.judiciary.uk/wp-content/uploads/2026/04/AC-2024-LON-001764-R-Thompson-and-Carlo-version-for-hand-down-21-04-2026.pdf</a:t>
            </a:r>
          </a:p>
          <a:p xmlns:a="http://schemas.openxmlformats.org/drawingml/2006/main">
            <a:pPr>
              <a:lnSpc>
                <a:spcPct val="125000"/>
              </a:lnSpc>
              <a:spcBef>
                <a:spcPts val="0"/>
              </a:spcBef>
              <a:spcAft>
                <a:spcPts val="0"/>
              </a:spcAft>
            </a:pPr>
            <a:r>
              <a:rPr>
                <a:latin typeface="Pretendard"/>
                <a:ea typeface="Pretendard"/>
                <a:cs typeface="Pretendard"/>
              </a:rPr>
              <a:t>확인 범위: 공식 47쪽 판결의 심판범위 §§1–15, 사실관계 §17, CCTV 확장 §68, 정책 평가 §§219–231.</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F04 | 유럽인권재판소 | 2023-07-04 / 확정 2023-10-04</a:t>
            </a:r>
          </a:p>
          <a:p xmlns:a="http://schemas.openxmlformats.org/drawingml/2006/main">
            <a:pPr>
              <a:lnSpc>
                <a:spcPct val="125000"/>
              </a:lnSpc>
              <a:spcBef>
                <a:spcPts val="0"/>
              </a:spcBef>
              <a:spcAft>
                <a:spcPts val="0"/>
              </a:spcAft>
            </a:pPr>
            <a:r>
              <a:rPr>
                <a:latin typeface="Pretendard"/>
                <a:ea typeface="Pretendard"/>
                <a:cs typeface="Pretendard"/>
              </a:rPr>
              <a:t>Glukhin v Russia, no. 11519/20</a:t>
            </a:r>
          </a:p>
          <a:p xmlns:a="http://schemas.openxmlformats.org/drawingml/2006/main">
            <a:pPr>
              <a:lnSpc>
                <a:spcPct val="125000"/>
              </a:lnSpc>
              <a:spcBef>
                <a:spcPts val="0"/>
              </a:spcBef>
              <a:spcAft>
                <a:spcPts val="0"/>
              </a:spcAft>
            </a:pPr>
            <a:r>
              <a:rPr>
                <a:latin typeface="Pretendard"/>
                <a:ea typeface="Pretendard"/>
                <a:cs typeface="Pretendard"/>
              </a:rPr>
              <a:t>https://hudoc.echr.coe.int/app/conversion/pdf/?library=ECHR&amp;id=001-225655&amp;filename=CASE%20OF%20GLUKHIN%20v.%20RUSSIA.pdf</a:t>
            </a:r>
          </a:p>
          <a:p xmlns:a="http://schemas.openxmlformats.org/drawingml/2006/main">
            <a:pPr>
              <a:lnSpc>
                <a:spcPct val="125000"/>
              </a:lnSpc>
              <a:spcBef>
                <a:spcPts val="0"/>
              </a:spcBef>
              <a:spcAft>
                <a:spcPts val="0"/>
              </a:spcAft>
            </a:pPr>
            <a:r>
              <a:rPr>
                <a:latin typeface="Pretendard"/>
                <a:ea typeface="Pretendard"/>
                <a:cs typeface="Pretendard"/>
              </a:rPr>
              <a:t>확인 범위: 공식 판결 PDF 32쪽의 안면인식·비례성 판단 및 공식 보도자료.</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F02 | 잉글랜드·웨일스 항소법원 / [2020] EWCA Civ 1058 | 2020-08-11</a:t>
            </a:r>
          </a:p>
          <a:p xmlns:a="http://schemas.openxmlformats.org/drawingml/2006/main">
            <a:pPr>
              <a:lnSpc>
                <a:spcPct val="125000"/>
              </a:lnSpc>
              <a:spcBef>
                <a:spcPts val="0"/>
              </a:spcBef>
              <a:spcAft>
                <a:spcPts val="0"/>
              </a:spcAft>
            </a:pPr>
            <a:r>
              <a:rPr>
                <a:latin typeface="Pretendard"/>
                <a:ea typeface="Pretendard"/>
                <a:cs typeface="Pretendard"/>
              </a:rPr>
              <a:t>R (Bridges) v Chief Constable of South Wales Police</a:t>
            </a:r>
          </a:p>
          <a:p xmlns:a="http://schemas.openxmlformats.org/drawingml/2006/main">
            <a:pPr>
              <a:lnSpc>
                <a:spcPct val="125000"/>
              </a:lnSpc>
              <a:spcBef>
                <a:spcPts val="0"/>
              </a:spcBef>
              <a:spcAft>
                <a:spcPts val="0"/>
              </a:spcAft>
            </a:pPr>
            <a:r>
              <a:rPr>
                <a:latin typeface="Pretendard"/>
                <a:ea typeface="Pretendard"/>
                <a:cs typeface="Pretendard"/>
              </a:rPr>
              <a:t>https://www.judiciary.uk/wp-content/uploads/2020/08/R-Bridges-v-CC-South-Wales-ors-Judgment.pdf</a:t>
            </a:r>
          </a:p>
          <a:p xmlns:a="http://schemas.openxmlformats.org/drawingml/2006/main">
            <a:pPr>
              <a:lnSpc>
                <a:spcPct val="125000"/>
              </a:lnSpc>
              <a:spcBef>
                <a:spcPts val="0"/>
              </a:spcBef>
              <a:spcAft>
                <a:spcPts val="0"/>
              </a:spcAft>
            </a:pPr>
            <a:r>
              <a:rPr>
                <a:latin typeface="Pretendard"/>
                <a:ea typeface="Pretendard"/>
                <a:cs typeface="Pretendard"/>
              </a:rPr>
              <a:t>확인 범위: 공식 판결 PDF 59쪽의 주요 판단·결론.</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D37 | 이진백 / 국가인권위원회 인권정책과, 인권 웹진 | 2023-02</a:t>
            </a:r>
          </a:p>
          <a:p xmlns:a="http://schemas.openxmlformats.org/drawingml/2006/main">
            <a:pPr>
              <a:lnSpc>
                <a:spcPct val="125000"/>
              </a:lnSpc>
              <a:spcBef>
                <a:spcPts val="0"/>
              </a:spcBef>
              <a:spcAft>
                <a:spcPts val="0"/>
              </a:spcAft>
            </a:pPr>
            <a:r>
              <a:rPr>
                <a:latin typeface="Pretendard"/>
                <a:ea typeface="Pretendard"/>
                <a:cs typeface="Pretendard"/>
              </a:rPr>
              <a:t>얼굴인식 기술 도입, 지나칠만큼 신중해야 한다</a:t>
            </a:r>
          </a:p>
          <a:p xmlns:a="http://schemas.openxmlformats.org/drawingml/2006/main">
            <a:pPr>
              <a:lnSpc>
                <a:spcPct val="125000"/>
              </a:lnSpc>
              <a:spcBef>
                <a:spcPts val="0"/>
              </a:spcBef>
              <a:spcAft>
                <a:spcPts val="0"/>
              </a:spcAft>
            </a:pPr>
            <a:r>
              <a:rPr>
                <a:latin typeface="Pretendard"/>
                <a:ea typeface="Pretendard"/>
                <a:cs typeface="Pretendard"/>
              </a:rPr>
              <a:t>https://www.humanrights.go.kr/webzine/webzineListAndDetail?boardNo=7608823&amp;issueNo=7608811</a:t>
            </a:r>
          </a:p>
          <a:p xmlns:a="http://schemas.openxmlformats.org/drawingml/2006/main">
            <a:pPr>
              <a:lnSpc>
                <a:spcPct val="125000"/>
              </a:lnSpc>
              <a:spcBef>
                <a:spcPts val="0"/>
              </a:spcBef>
              <a:spcAft>
                <a:spcPts val="0"/>
              </a:spcAft>
            </a:pPr>
            <a:r>
              <a:rPr>
                <a:latin typeface="Pretendard"/>
                <a:ea typeface="Pretendard"/>
                <a:cs typeface="Pretendard"/>
              </a:rPr>
              <a:t>확인 범위: 공식 웹진 해설 본문.</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오인접촉·목적·정보보존·구제를 함께 평가해 허용 조건을 정한다.</a:t>
            </a:r>
          </a:p>
          <a:p xmlns:a="http://schemas.openxmlformats.org/drawingml/2006/main">
            <a:pPr>
              <a:lnSpc>
                <a:spcPct val="125000"/>
              </a:lnSpc>
              <a:spcBef>
                <a:spcPts val="0"/>
              </a:spcBef>
              <a:spcAft>
                <a:spcPts val="0"/>
              </a:spcAft>
            </a:pPr>
            <a:r>
              <a:rPr>
                <a:latin typeface="Pretendard"/>
                <a:ea typeface="Pretendard"/>
                <a:cs typeface="Pretendard"/>
              </a:rPr>
              <a:t>확장 질문: 어떤 오류와 권리 부담을 감수할 수 있으며 기록은 얼마나 남기는가?</a:t>
            </a:r>
          </a:p>
          <a:p xmlns:a="http://schemas.openxmlformats.org/drawingml/2006/main">
            <a:pPr>
              <a:lnSpc>
                <a:spcPct val="125000"/>
              </a:lnSpc>
              <a:spcBef>
                <a:spcPts val="0"/>
              </a:spcBef>
              <a:spcAft>
                <a:spcPts val="0"/>
              </a:spcAft>
            </a:pPr>
            <a:r>
              <a:rPr>
                <a:latin typeface="Pretendard"/>
                <a:ea typeface="Pretendard"/>
                <a:cs typeface="Pretendard"/>
              </a:rPr>
              <a:t>F05: 범죄다발지역 203회와 행사보안 4회 배치를 구분한다. 전체 기간 약 314만 7,436회 얼굴 통과, 경보 2,077건(진경보 2,067·오경보 10), 체포 962건을 보고했다. 오경보 중 6건에서 현장 접촉이 있었고 그로 인한 체포는 0건이었다.</a:t>
            </a:r>
          </a:p>
          <a:p xmlns:a="http://schemas.openxmlformats.org/drawingml/2006/main">
            <a:pPr>
              <a:lnSpc>
                <a:spcPct val="125000"/>
              </a:lnSpc>
              <a:spcBef>
                <a:spcPts val="0"/>
              </a:spcBef>
              <a:spcAft>
                <a:spcPts val="0"/>
              </a:spcAft>
            </a:pPr>
            <a:r>
              <a:rPr>
                <a:latin typeface="Pretendard"/>
                <a:ea typeface="Pretendard"/>
                <a:cs typeface="Pretendard"/>
              </a:rPr>
              <a:t>적용 범위·한계: 경찰의 자체 집계다. 얼굴 통과는 고유 인원수가 아니며 체포는 유죄가 아니다. 전후·대조집단 비교가 없어 범죄 감소의 인과효과를 입증하지 않는다.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F03: 법원은 런던경찰의 2024년 정책이 목적·명단·장소·비례성 판단을 결합하여 경찰 재량의 예측가능성을 확보했다고 보고 청구를 기각했다. §17은 원고가 2024년 2월 형제로 오인되어 정지·질문·신원 증명 요구를 받은 경위를 기재한다.</a:t>
            </a:r>
          </a:p>
          <a:p xmlns:a="http://schemas.openxmlformats.org/drawingml/2006/main">
            <a:pPr>
              <a:lnSpc>
                <a:spcPct val="125000"/>
              </a:lnSpc>
              <a:spcBef>
                <a:spcPts val="0"/>
              </a:spcBef>
              <a:spcAft>
                <a:spcPts val="0"/>
              </a:spcAft>
            </a:pPr>
            <a:r>
              <a:rPr>
                <a:latin typeface="Pretendard"/>
                <a:ea typeface="Pretendard"/>
                <a:cs typeface="Pretendard"/>
              </a:rPr>
              <a:t>적용 범위·한계: 소송의 중심은 정책의 명확성과 자의적 재량 통제이다. 원고들은 이 소송에서 비례성 자체를 다투지 않았다. §17 사건의 개별 처분 적법성 및 미래 상시 CCTV 연계의 심사는 범위 밖이며 상소 상태는 미확인.</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F04: 평화적 1인 시위자를 영상으로 식별하고 지하철에서 추적·체포한 사건에서 사생활과 표현의 자유 침해를 인정했다.</a:t>
            </a:r>
          </a:p>
          <a:p xmlns:a="http://schemas.openxmlformats.org/drawingml/2006/main">
            <a:pPr>
              <a:lnSpc>
                <a:spcPct val="125000"/>
              </a:lnSpc>
              <a:spcBef>
                <a:spcPts val="0"/>
              </a:spcBef>
              <a:spcAft>
                <a:spcPts val="0"/>
              </a:spcAft>
            </a:pPr>
            <a:r>
              <a:rPr>
                <a:latin typeface="Pretendard"/>
                <a:ea typeface="Pretendard"/>
                <a:cs typeface="Pretendard"/>
              </a:rPr>
              <a:t>적용 범위·한계: 경미한 행위와 정치적 표현이라는 맥락이 핵심이다. 중대범죄의 구체적 급박한 위험까지 같은 결론이라고 단정하지 않는다.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F02: 감시대상자와 배치 장소를 정하는 재량의 통제 부족, 개인정보 영향평가 및 평등의무 문제를 인정해 항소를 일부 받아들였다.</a:t>
            </a:r>
          </a:p>
          <a:p xmlns:a="http://schemas.openxmlformats.org/drawingml/2006/main">
            <a:pPr>
              <a:lnSpc>
                <a:spcPct val="125000"/>
              </a:lnSpc>
              <a:spcBef>
                <a:spcPts val="0"/>
              </a:spcBef>
              <a:spcAft>
                <a:spcPts val="0"/>
              </a:spcAft>
            </a:pPr>
            <a:r>
              <a:rPr>
                <a:latin typeface="Pretendard"/>
                <a:ea typeface="Pretendard"/>
                <a:cs typeface="Pretendard"/>
              </a:rPr>
              <a:t>적용 범위·한계: 실시간 얼굴인식 기술 자체를 영구 전면 금지한 판결이 아니다. 당시 정책·기록에 대한 판단이다.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D37: 공공장소의 불특정 다수 대상 실시간 원격 얼굴인식 원칙적 금지, 공익적 필요에 따른 예외·보충적 활용, 도입 전 및 중대한 변경 시 독립적 인권영향평가를 권고 취지로 설명한다.</a:t>
            </a:r>
          </a:p>
          <a:p xmlns:a="http://schemas.openxmlformats.org/drawingml/2006/main">
            <a:pPr>
              <a:lnSpc>
                <a:spcPct val="125000"/>
              </a:lnSpc>
              <a:spcBef>
                <a:spcPts val="0"/>
              </a:spcBef>
              <a:spcAft>
                <a:spcPts val="0"/>
              </a:spcAft>
            </a:pPr>
            <a:r>
              <a:rPr>
                <a:latin typeface="Pretendard"/>
                <a:ea typeface="Pretendard"/>
                <a:cs typeface="Pretendard"/>
              </a:rPr>
              <a:t>적용 범위·한계: 담당자의 공식 해설이며 권고 결정문 전문과 구분한다. D01과 같은 권고 문서군에 속한다.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W8-41 / 본편 필수 / DIRECT</a:t>
            </a:r>
          </a:p>
          <a:p xmlns:a="http://schemas.openxmlformats.org/drawingml/2006/main">
            <a:pPr>
              <a:lnSpc>
                <a:spcPct val="125000"/>
              </a:lnSpc>
              <a:spcBef>
                <a:spcPts val="0"/>
              </a:spcBef>
              <a:spcAft>
                <a:spcPts val="0"/>
              </a:spcAft>
            </a:pPr>
            <a:r>
              <a:rPr>
                <a:latin typeface="Pretendard"/>
                <a:ea typeface="Pretendard"/>
                <a:cs typeface="Pretendard"/>
              </a:rPr>
              <a:t>강의용 논거. 모든 기술의 편향·오인 비율을 한 사건에서 추정하지 않는다.</a:t>
            </a:r>
          </a:p>
          <a:p xmlns:a="http://schemas.openxmlformats.org/drawingml/2006/main">
            <a:pPr>
              <a:lnSpc>
                <a:spcPct val="125000"/>
              </a:lnSpc>
              <a:spcBef>
                <a:spcPts val="0"/>
              </a:spcBef>
              <a:spcAft>
                <a:spcPts val="0"/>
              </a:spcAft>
            </a:pPr>
            <a:r>
              <a:rPr>
                <a:latin typeface="Pretendard"/>
                <a:ea typeface="Pretendard"/>
                <a:cs typeface="Pretendard"/>
              </a:rPr>
              <a:t>이전 연결: 법적 문턱을 갖춘 운영에서도 남는 오류·접촉·정보 축적의 부담을 판단한다.</a:t>
            </a:r>
          </a:p>
          <a:p xmlns:a="http://schemas.openxmlformats.org/drawingml/2006/main">
            <a:pPr>
              <a:lnSpc>
                <a:spcPct val="125000"/>
              </a:lnSpc>
              <a:spcBef>
                <a:spcPts val="0"/>
              </a:spcBef>
              <a:spcAft>
                <a:spcPts val="0"/>
              </a:spcAft>
            </a:pPr>
            <a:r>
              <a:rPr>
                <a:latin typeface="Pretendard"/>
                <a:ea typeface="Pretendard"/>
                <a:cs typeface="Pretendard"/>
              </a:rPr>
              <a:t>다음 연결: 부담과 근거 공백을 다루는 방식은 시작 전 입증과 운영 후 평가의 선택으로 이어진다.</a:t>
            </a:r>
          </a:p>
          <a:p xmlns:a="http://schemas.openxmlformats.org/drawingml/2006/main">
            <a:pPr>
              <a:lnSpc>
                <a:spcPct val="125000"/>
              </a:lnSpc>
              <a:spcBef>
                <a:spcPts val="0"/>
              </a:spcBef>
              <a:spcAft>
                <a:spcPts val="0"/>
              </a:spcAft>
            </a:pPr>
            <a:r>
              <a:rPr>
                <a:latin typeface="Pretendard"/>
                <a:ea typeface="Pretendard"/>
                <a:cs typeface="Pretendard"/>
              </a:rPr>
              <a:t>운영시간 초안: 3분.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현장 자료를 얻기 위해 한정 운영을 시작하자는 입장은 운영 자체가 정보의 공백을 줄인다고 봅니다. 먼저 입증하자는 입장은 그 정보를 얻는 동안 시민에게 발생하는 부담을 강조합니다. 어느 선택이든 평가 결과가 실제 중단과 재승인에 영향을 주어야 합니다. 운영기관과 독립 감독자의 권한·예산·자료 접근을 구체적으로 적으면 실행 가능성까지 검토할 수 있습니다.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D37 | 이진백 / 국가인권위원회 인권정책과, 인권 웹진 | 2023-02</a:t>
            </a:r>
          </a:p>
          <a:p xmlns:a="http://schemas.openxmlformats.org/drawingml/2006/main">
            <a:pPr>
              <a:lnSpc>
                <a:spcPct val="125000"/>
              </a:lnSpc>
              <a:spcBef>
                <a:spcPts val="0"/>
              </a:spcBef>
              <a:spcAft>
                <a:spcPts val="0"/>
              </a:spcAft>
            </a:pPr>
            <a:r>
              <a:rPr>
                <a:latin typeface="Pretendard"/>
                <a:ea typeface="Pretendard"/>
                <a:cs typeface="Pretendard"/>
              </a:rPr>
              <a:t>얼굴인식 기술 도입, 지나칠만큼 신중해야 한다</a:t>
            </a:r>
          </a:p>
          <a:p xmlns:a="http://schemas.openxmlformats.org/drawingml/2006/main">
            <a:pPr>
              <a:lnSpc>
                <a:spcPct val="125000"/>
              </a:lnSpc>
              <a:spcBef>
                <a:spcPts val="0"/>
              </a:spcBef>
              <a:spcAft>
                <a:spcPts val="0"/>
              </a:spcAft>
            </a:pPr>
            <a:r>
              <a:rPr>
                <a:latin typeface="Pretendard"/>
                <a:ea typeface="Pretendard"/>
                <a:cs typeface="Pretendard"/>
              </a:rPr>
              <a:t>https://www.humanrights.go.kr/webzine/webzineListAndDetail?boardNo=7608823&amp;issueNo=7608811</a:t>
            </a:r>
          </a:p>
          <a:p xmlns:a="http://schemas.openxmlformats.org/drawingml/2006/main">
            <a:pPr>
              <a:lnSpc>
                <a:spcPct val="125000"/>
              </a:lnSpc>
              <a:spcBef>
                <a:spcPts val="0"/>
              </a:spcBef>
              <a:spcAft>
                <a:spcPts val="0"/>
              </a:spcAft>
            </a:pPr>
            <a:r>
              <a:rPr>
                <a:latin typeface="Pretendard"/>
                <a:ea typeface="Pretendard"/>
                <a:cs typeface="Pretendard"/>
              </a:rPr>
              <a:t>확인 범위: 공식 웹진 해설 본문.</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F16 | 유엔 인권최고대표사무소(OHCHR) | 2021-09-13</a:t>
            </a:r>
          </a:p>
          <a:p xmlns:a="http://schemas.openxmlformats.org/drawingml/2006/main">
            <a:pPr>
              <a:lnSpc>
                <a:spcPct val="125000"/>
              </a:lnSpc>
              <a:spcBef>
                <a:spcPts val="0"/>
              </a:spcBef>
              <a:spcAft>
                <a:spcPts val="0"/>
              </a:spcAft>
            </a:pPr>
            <a:r>
              <a:rPr>
                <a:latin typeface="Pretendard"/>
                <a:ea typeface="Pretendard"/>
                <a:cs typeface="Pretendard"/>
              </a:rPr>
              <a:t>The right to privacy in the digital age, A/HRC/48/31</a:t>
            </a:r>
          </a:p>
          <a:p xmlns:a="http://schemas.openxmlformats.org/drawingml/2006/main">
            <a:pPr>
              <a:lnSpc>
                <a:spcPct val="125000"/>
              </a:lnSpc>
              <a:spcBef>
                <a:spcPts val="0"/>
              </a:spcBef>
              <a:spcAft>
                <a:spcPts val="0"/>
              </a:spcAft>
            </a:pPr>
            <a:r>
              <a:rPr>
                <a:latin typeface="Pretendard"/>
                <a:ea typeface="Pretendard"/>
                <a:cs typeface="Pretendard"/>
              </a:rPr>
              <a:t>https://documents.un.org/doc/undoc/gen/g21/249/21/pdf/g2124921.pdf</a:t>
            </a:r>
          </a:p>
          <a:p xmlns:a="http://schemas.openxmlformats.org/drawingml/2006/main">
            <a:pPr>
              <a:lnSpc>
                <a:spcPct val="125000"/>
              </a:lnSpc>
              <a:spcBef>
                <a:spcPts val="0"/>
              </a:spcBef>
              <a:spcAft>
                <a:spcPts val="0"/>
              </a:spcAft>
            </a:pPr>
            <a:r>
              <a:rPr>
                <a:latin typeface="Pretendard"/>
                <a:ea typeface="Pretendard"/>
                <a:cs typeface="Pretendard"/>
              </a:rPr>
              <a:t>확인 범위: UN 공식 16쪽 PDF 중 §§25–28, 38–50, 59–60의 관련 원문 확인.</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F05 | 런던경찰청(Metropolitan Police) | 발행 2025-09-30 / 대상 2024-09-11~2025-09-10</a:t>
            </a:r>
          </a:p>
          <a:p xmlns:a="http://schemas.openxmlformats.org/drawingml/2006/main">
            <a:pPr>
              <a:lnSpc>
                <a:spcPct val="125000"/>
              </a:lnSpc>
              <a:spcBef>
                <a:spcPts val="0"/>
              </a:spcBef>
              <a:spcAft>
                <a:spcPts val="0"/>
              </a:spcAft>
            </a:pPr>
            <a:r>
              <a:rPr>
                <a:latin typeface="Pretendard"/>
                <a:ea typeface="Pretendard"/>
                <a:cs typeface="Pretendard"/>
              </a:rPr>
              <a:t>Live Facial Recognition Annual Report 2025</a:t>
            </a:r>
          </a:p>
          <a:p xmlns:a="http://schemas.openxmlformats.org/drawingml/2006/main">
            <a:pPr>
              <a:lnSpc>
                <a:spcPct val="125000"/>
              </a:lnSpc>
              <a:spcBef>
                <a:spcPts val="0"/>
              </a:spcBef>
              <a:spcAft>
                <a:spcPts val="0"/>
              </a:spcAft>
            </a:pPr>
            <a:r>
              <a:rPr>
                <a:latin typeface="Pretendard"/>
                <a:ea typeface="Pretendard"/>
                <a:cs typeface="Pretendard"/>
              </a:rPr>
              <a:t>https://www.met.police.uk/SysSiteAssets/media/downloads/force-content/met/advice/lfr/other-lfr-documents/live-facial-recognition-annual-report-2025.pdf</a:t>
            </a:r>
          </a:p>
          <a:p xmlns:a="http://schemas.openxmlformats.org/drawingml/2006/main">
            <a:pPr>
              <a:lnSpc>
                <a:spcPct val="125000"/>
              </a:lnSpc>
              <a:spcBef>
                <a:spcPts val="0"/>
              </a:spcBef>
              <a:spcAft>
                <a:spcPts val="0"/>
              </a:spcAft>
            </a:pPr>
            <a:r>
              <a:rPr>
                <a:latin typeface="Pretendard"/>
                <a:ea typeface="Pretendard"/>
                <a:cs typeface="Pretendard"/>
              </a:rPr>
              <a:t>확인 범위: 공식 PDF 19쪽 중 배치·경보·체포 및 오류 통계.</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입증 시점과 독립 감독·중단의 실효성이 정책 선택을 좌우한다.</a:t>
            </a:r>
          </a:p>
          <a:p xmlns:a="http://schemas.openxmlformats.org/drawingml/2006/main">
            <a:pPr>
              <a:lnSpc>
                <a:spcPct val="125000"/>
              </a:lnSpc>
              <a:spcBef>
                <a:spcPts val="0"/>
              </a:spcBef>
              <a:spcAft>
                <a:spcPts val="0"/>
              </a:spcAft>
            </a:pPr>
            <a:r>
              <a:rPr>
                <a:latin typeface="Pretendard"/>
                <a:ea typeface="Pretendard"/>
                <a:cs typeface="Pretendard"/>
              </a:rPr>
              <a:t>확장 질문: 근거가 충분하지 않을 때 시작과 중단의 책임을 어떻게 배분하는가?</a:t>
            </a:r>
          </a:p>
          <a:p xmlns:a="http://schemas.openxmlformats.org/drawingml/2006/main">
            <a:pPr>
              <a:lnSpc>
                <a:spcPct val="125000"/>
              </a:lnSpc>
              <a:spcBef>
                <a:spcPts val="0"/>
              </a:spcBef>
              <a:spcAft>
                <a:spcPts val="0"/>
              </a:spcAft>
            </a:pPr>
            <a:r>
              <a:rPr>
                <a:latin typeface="Pretendard"/>
                <a:ea typeface="Pretendard"/>
                <a:cs typeface="Pretendard"/>
              </a:rPr>
              <a:t>D37: 공공장소의 불특정 다수 대상 실시간 원격 얼굴인식 원칙적 금지, 공익적 필요에 따른 예외·보충적 활용, 도입 전 및 중대한 변경 시 독립적 인권영향평가를 권고 취지로 설명한다.</a:t>
            </a:r>
          </a:p>
          <a:p xmlns:a="http://schemas.openxmlformats.org/drawingml/2006/main">
            <a:pPr>
              <a:lnSpc>
                <a:spcPct val="125000"/>
              </a:lnSpc>
              <a:spcBef>
                <a:spcPts val="0"/>
              </a:spcBef>
              <a:spcAft>
                <a:spcPts val="0"/>
              </a:spcAft>
            </a:pPr>
            <a:r>
              <a:rPr>
                <a:latin typeface="Pretendard"/>
                <a:ea typeface="Pretendard"/>
                <a:cs typeface="Pretendard"/>
              </a:rPr>
              <a:t>적용 범위·한계: 담당자의 공식 해설이며 권고 결정문 전문과 구분한다. D01과 같은 권고 문서군에 속한다.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F16: §59(d)는 공공장소 원격 생체인식의 유예를 권고하고, 개인정보 기준 준수·중대한 정확성 문제 및 차별적 영향의 부재 입증·선행 집회 보호 권고 이행을 해제 조건으로 제시한다. §§49–50은 전 생애주기 영향평가와 당사자 참여·결과 공개를 요구한다.</a:t>
            </a:r>
          </a:p>
          <a:p xmlns:a="http://schemas.openxmlformats.org/drawingml/2006/main">
            <a:pPr>
              <a:lnSpc>
                <a:spcPct val="125000"/>
              </a:lnSpc>
              <a:spcBef>
                <a:spcPts val="0"/>
              </a:spcBef>
              <a:spcAft>
                <a:spcPts val="0"/>
              </a:spcAft>
            </a:pPr>
            <a:r>
              <a:rPr>
                <a:latin typeface="Pretendard"/>
                <a:ea typeface="Pretendard"/>
                <a:cs typeface="Pretendard"/>
              </a:rPr>
              <a:t>적용 범위·한계: 인권최고대표의 권고 보고서이다. 국내에 직접 적용되는 금지 법률 및 EU AI Act의 법정 예외와 법적 성격을 구별한다.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F05: 범죄다발지역 203회와 행사보안 4회 배치를 구분한다. 전체 기간 약 314만 7,436회 얼굴 통과, 경보 2,077건(진경보 2,067·오경보 10), 체포 962건을 보고했다. 오경보 중 6건에서 현장 접촉이 있었고 그로 인한 체포는 0건이었다.</a:t>
            </a:r>
          </a:p>
          <a:p xmlns:a="http://schemas.openxmlformats.org/drawingml/2006/main">
            <a:pPr>
              <a:lnSpc>
                <a:spcPct val="125000"/>
              </a:lnSpc>
              <a:spcBef>
                <a:spcPts val="0"/>
              </a:spcBef>
              <a:spcAft>
                <a:spcPts val="0"/>
              </a:spcAft>
            </a:pPr>
            <a:r>
              <a:rPr>
                <a:latin typeface="Pretendard"/>
                <a:ea typeface="Pretendard"/>
                <a:cs typeface="Pretendard"/>
              </a:rPr>
              <a:t>적용 범위·한계: 경찰의 자체 집계다. 얼굴 통과는 고유 인원수가 아니며 체포는 유죄가 아니다. 전후·대조집단 비교가 없어 범죄 감소의 인과효과를 입증하지 않는다.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W8-42 / 본편 필수 / DIRECT</a:t>
            </a:r>
          </a:p>
          <a:p xmlns:a="http://schemas.openxmlformats.org/drawingml/2006/main">
            <a:pPr>
              <a:lnSpc>
                <a:spcPct val="125000"/>
              </a:lnSpc>
              <a:spcBef>
                <a:spcPts val="0"/>
              </a:spcBef>
              <a:spcAft>
                <a:spcPts val="0"/>
              </a:spcAft>
            </a:pPr>
            <a:r>
              <a:rPr>
                <a:latin typeface="Pretendard"/>
                <a:ea typeface="Pretendard"/>
                <a:cs typeface="Pretendard"/>
              </a:rPr>
              <a:t>강의용 주장 비교. 적법한 근거 없는 시범운영을 허용하는 제안이 아니다.</a:t>
            </a:r>
          </a:p>
          <a:p xmlns:a="http://schemas.openxmlformats.org/drawingml/2006/main">
            <a:pPr>
              <a:lnSpc>
                <a:spcPct val="125000"/>
              </a:lnSpc>
              <a:spcBef>
                <a:spcPts val="0"/>
              </a:spcBef>
              <a:spcAft>
                <a:spcPts val="0"/>
              </a:spcAft>
            </a:pPr>
            <a:r>
              <a:rPr>
                <a:latin typeface="Pretendard"/>
                <a:ea typeface="Pretendard"/>
                <a:cs typeface="Pretendard"/>
              </a:rPr>
              <a:t>이전 연결: 부담과 근거 공백을 다루는 방식은 시작 전 입증과 운영 후 평가의 선택으로 이어진다.</a:t>
            </a:r>
          </a:p>
          <a:p xmlns:a="http://schemas.openxmlformats.org/drawingml/2006/main">
            <a:pPr>
              <a:lnSpc>
                <a:spcPct val="125000"/>
              </a:lnSpc>
              <a:spcBef>
                <a:spcPts val="0"/>
              </a:spcBef>
              <a:spcAft>
                <a:spcPts val="0"/>
              </a:spcAft>
            </a:pPr>
            <a:r>
              <a:rPr>
                <a:latin typeface="Pretendard"/>
                <a:ea typeface="Pretendard"/>
                <a:cs typeface="Pretendard"/>
              </a:rPr>
              <a:t>다음 연결: 앞의 판단 조건들을 필요·근거·성과·부담·조치·기록·감독의 일곱 질문으로 회수한다.</a:t>
            </a:r>
          </a:p>
          <a:p xmlns:a="http://schemas.openxmlformats.org/drawingml/2006/main">
            <a:pPr>
              <a:lnSpc>
                <a:spcPct val="125000"/>
              </a:lnSpc>
              <a:spcBef>
                <a:spcPts val="0"/>
              </a:spcBef>
              <a:spcAft>
                <a:spcPts val="0"/>
              </a:spcAft>
            </a:pPr>
            <a:r>
              <a:rPr>
                <a:latin typeface="Pretendard"/>
                <a:ea typeface="Pretendard"/>
                <a:cs typeface="Pretendard"/>
              </a:rPr>
              <a:t>운영시간 초안: 3분.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이 일곱 질문은 허용 여부를 구체적인 조건으로 바꿉니다. 필요성과 추가 성과는 무엇을 얻으려는지, 법적 근거와 현장 조치는 어떤 권한으로 행동하는지 묻습니다. 오류·노출과 기록·구제는 시민이 겪는 부담을 다루고, 감독·중단은 그 조건이 운영 중에도 지켜지게 할 주체를 묻습니다. 자신의 결론을 좌우하는 질문을 골라 자료와 이유를 연결할 수 있습니다.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D01 | 국가인권위원회 | 권고 2023-01-12 / 회신 수용 공표 2024-02-22</a:t>
            </a:r>
          </a:p>
          <a:p xmlns:a="http://schemas.openxmlformats.org/drawingml/2006/main">
            <a:pPr>
              <a:lnSpc>
                <a:spcPct val="125000"/>
              </a:lnSpc>
              <a:spcBef>
                <a:spcPts val="0"/>
              </a:spcBef>
              <a:spcAft>
                <a:spcPts val="0"/>
              </a:spcAft>
            </a:pPr>
            <a:r>
              <a:rPr>
                <a:latin typeface="Pretendard"/>
                <a:ea typeface="Pretendard"/>
                <a:cs typeface="Pretendard"/>
              </a:rPr>
              <a:t>실시간 원격 얼굴인식 기술 도입·활용 중지 조치 권고, 국무총리 수용</a:t>
            </a:r>
          </a:p>
          <a:p xmlns:a="http://schemas.openxmlformats.org/drawingml/2006/main">
            <a:pPr>
              <a:lnSpc>
                <a:spcPct val="125000"/>
              </a:lnSpc>
              <a:spcBef>
                <a:spcPts val="0"/>
              </a:spcBef>
              <a:spcAft>
                <a:spcPts val="0"/>
              </a:spcAft>
            </a:pPr>
            <a:r>
              <a:rPr>
                <a:latin typeface="Pretendard"/>
                <a:ea typeface="Pretendard"/>
                <a:cs typeface="Pretendard"/>
              </a:rPr>
              <a:t>https://www.humanrights.go.kr/base/board/read?boardManagementNo=24&amp;boardNo=7609889&amp;menuLevel=3&amp;menuNo=91&amp;page=1&amp;searchCategory=&amp;searchType=&amp;searchWord=</a:t>
            </a:r>
          </a:p>
          <a:p xmlns:a="http://schemas.openxmlformats.org/drawingml/2006/main">
            <a:pPr>
              <a:lnSpc>
                <a:spcPct val="125000"/>
              </a:lnSpc>
              <a:spcBef>
                <a:spcPts val="0"/>
              </a:spcBef>
              <a:spcAft>
                <a:spcPts val="0"/>
              </a:spcAft>
            </a:pPr>
            <a:r>
              <a:rPr>
                <a:latin typeface="Pretendard"/>
                <a:ea typeface="Pretendard"/>
                <a:cs typeface="Pretendard"/>
              </a:rPr>
              <a:t>확인 범위: 공식 보도자료 본문. 첨부 결정문은 접근 실패.</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D02 | 경기도 2025년 제3회 도민인권배심회의 | 2025-08-27</a:t>
            </a:r>
          </a:p>
          <a:p xmlns:a="http://schemas.openxmlformats.org/drawingml/2006/main">
            <a:pPr>
              <a:lnSpc>
                <a:spcPct val="125000"/>
              </a:lnSpc>
              <a:spcBef>
                <a:spcPts val="0"/>
              </a:spcBef>
              <a:spcAft>
                <a:spcPts val="0"/>
              </a:spcAft>
            </a:pPr>
            <a:r>
              <a:rPr>
                <a:latin typeface="Pretendard"/>
                <a:ea typeface="Pretendard"/>
                <a:cs typeface="Pretendard"/>
              </a:rPr>
              <a:t>중범죄 대응을 위한 실시간 원격 얼굴인식 기술의 인권 침해 여부 숙의</a:t>
            </a:r>
          </a:p>
          <a:p xmlns:a="http://schemas.openxmlformats.org/drawingml/2006/main">
            <a:pPr>
              <a:lnSpc>
                <a:spcPct val="125000"/>
              </a:lnSpc>
              <a:spcBef>
                <a:spcPts val="0"/>
              </a:spcBef>
              <a:spcAft>
                <a:spcPts val="0"/>
              </a:spcAft>
            </a:pPr>
            <a:r>
              <a:rPr>
                <a:latin typeface="Pretendard"/>
                <a:ea typeface="Pretendard"/>
                <a:cs typeface="Pretendard"/>
              </a:rPr>
              <a:t>https://gnews.gg.go.kr/briefing/brief_gongbo_view.do?BS_CODE=S017&amp;number=67424</a:t>
            </a:r>
          </a:p>
          <a:p xmlns:a="http://schemas.openxmlformats.org/drawingml/2006/main">
            <a:pPr>
              <a:lnSpc>
                <a:spcPct val="125000"/>
              </a:lnSpc>
              <a:spcBef>
                <a:spcPts val="0"/>
              </a:spcBef>
              <a:spcAft>
                <a:spcPts val="0"/>
              </a:spcAft>
            </a:pPr>
            <a:r>
              <a:rPr>
                <a:latin typeface="Pretendard"/>
                <a:ea typeface="Pretendard"/>
                <a:cs typeface="Pretendard"/>
              </a:rPr>
              <a:t>확인 범위: 경기도 공식 발표 본문. 발언록·표결 원표 미확인.</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D37 | 이진백 / 국가인권위원회 인권정책과, 인권 웹진 | 2023-02</a:t>
            </a:r>
          </a:p>
          <a:p xmlns:a="http://schemas.openxmlformats.org/drawingml/2006/main">
            <a:pPr>
              <a:lnSpc>
                <a:spcPct val="125000"/>
              </a:lnSpc>
              <a:spcBef>
                <a:spcPts val="0"/>
              </a:spcBef>
              <a:spcAft>
                <a:spcPts val="0"/>
              </a:spcAft>
            </a:pPr>
            <a:r>
              <a:rPr>
                <a:latin typeface="Pretendard"/>
                <a:ea typeface="Pretendard"/>
                <a:cs typeface="Pretendard"/>
              </a:rPr>
              <a:t>얼굴인식 기술 도입, 지나칠만큼 신중해야 한다</a:t>
            </a:r>
          </a:p>
          <a:p xmlns:a="http://schemas.openxmlformats.org/drawingml/2006/main">
            <a:pPr>
              <a:lnSpc>
                <a:spcPct val="125000"/>
              </a:lnSpc>
              <a:spcBef>
                <a:spcPts val="0"/>
              </a:spcBef>
              <a:spcAft>
                <a:spcPts val="0"/>
              </a:spcAft>
            </a:pPr>
            <a:r>
              <a:rPr>
                <a:latin typeface="Pretendard"/>
                <a:ea typeface="Pretendard"/>
                <a:cs typeface="Pretendard"/>
              </a:rPr>
              <a:t>https://www.humanrights.go.kr/webzine/webzineListAndDetail?boardNo=7608823&amp;issueNo=7608811</a:t>
            </a:r>
          </a:p>
          <a:p xmlns:a="http://schemas.openxmlformats.org/drawingml/2006/main">
            <a:pPr>
              <a:lnSpc>
                <a:spcPct val="125000"/>
              </a:lnSpc>
              <a:spcBef>
                <a:spcPts val="0"/>
              </a:spcBef>
              <a:spcAft>
                <a:spcPts val="0"/>
              </a:spcAft>
            </a:pPr>
            <a:r>
              <a:rPr>
                <a:latin typeface="Pretendard"/>
                <a:ea typeface="Pretendard"/>
                <a:cs typeface="Pretendard"/>
              </a:rPr>
              <a:t>확인 범위: 공식 웹진 해설 본문.</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F01 | 유럽연합 / 집행위원회 공식 조문 서비스 | 2024 제정 / 현행 조문 조회 2026-10-07</a:t>
            </a:r>
          </a:p>
          <a:p xmlns:a="http://schemas.openxmlformats.org/drawingml/2006/main">
            <a:pPr>
              <a:lnSpc>
                <a:spcPct val="125000"/>
              </a:lnSpc>
              <a:spcBef>
                <a:spcPts val="0"/>
              </a:spcBef>
              <a:spcAft>
                <a:spcPts val="0"/>
              </a:spcAft>
            </a:pPr>
            <a:r>
              <a:rPr>
                <a:latin typeface="Pretendard"/>
                <a:ea typeface="Pretendard"/>
                <a:cs typeface="Pretendard"/>
              </a:rPr>
              <a:t>EU AI Act 제5조: 공공장소 실시간 원격 생체식별</a:t>
            </a:r>
          </a:p>
          <a:p xmlns:a="http://schemas.openxmlformats.org/drawingml/2006/main">
            <a:pPr>
              <a:lnSpc>
                <a:spcPct val="125000"/>
              </a:lnSpc>
              <a:spcBef>
                <a:spcPts val="0"/>
              </a:spcBef>
              <a:spcAft>
                <a:spcPts val="0"/>
              </a:spcAft>
            </a:pPr>
            <a:r>
              <a:rPr>
                <a:latin typeface="Pretendard"/>
                <a:ea typeface="Pretendard"/>
                <a:cs typeface="Pretendard"/>
              </a:rPr>
              <a:t>https://ai-act-service-desk.ec.europa.eu/en/ai-act/article-5</a:t>
            </a:r>
          </a:p>
          <a:p xmlns:a="http://schemas.openxmlformats.org/drawingml/2006/main">
            <a:pPr>
              <a:lnSpc>
                <a:spcPct val="125000"/>
              </a:lnSpc>
              <a:spcBef>
                <a:spcPts val="0"/>
              </a:spcBef>
              <a:spcAft>
                <a:spcPts val="0"/>
              </a:spcAft>
            </a:pPr>
            <a:r>
              <a:rPr>
                <a:latin typeface="Pretendard"/>
                <a:ea typeface="Pretendard"/>
                <a:cs typeface="Pretendard"/>
              </a:rPr>
              <a:t>확인 범위: 공식 제5조 본문, 특히 1(h)와 2–7항.</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F02 | 잉글랜드·웨일스 항소법원 / [2020] EWCA Civ 1058 | 2020-08-11</a:t>
            </a:r>
          </a:p>
          <a:p xmlns:a="http://schemas.openxmlformats.org/drawingml/2006/main">
            <a:pPr>
              <a:lnSpc>
                <a:spcPct val="125000"/>
              </a:lnSpc>
              <a:spcBef>
                <a:spcPts val="0"/>
              </a:spcBef>
              <a:spcAft>
                <a:spcPts val="0"/>
              </a:spcAft>
            </a:pPr>
            <a:r>
              <a:rPr>
                <a:latin typeface="Pretendard"/>
                <a:ea typeface="Pretendard"/>
                <a:cs typeface="Pretendard"/>
              </a:rPr>
              <a:t>R (Bridges) v Chief Constable of South Wales Police</a:t>
            </a:r>
          </a:p>
          <a:p xmlns:a="http://schemas.openxmlformats.org/drawingml/2006/main">
            <a:pPr>
              <a:lnSpc>
                <a:spcPct val="125000"/>
              </a:lnSpc>
              <a:spcBef>
                <a:spcPts val="0"/>
              </a:spcBef>
              <a:spcAft>
                <a:spcPts val="0"/>
              </a:spcAft>
            </a:pPr>
            <a:r>
              <a:rPr>
                <a:latin typeface="Pretendard"/>
                <a:ea typeface="Pretendard"/>
                <a:cs typeface="Pretendard"/>
              </a:rPr>
              <a:t>https://www.judiciary.uk/wp-content/uploads/2020/08/R-Bridges-v-CC-South-Wales-ors-Judgment.pdf</a:t>
            </a:r>
          </a:p>
          <a:p xmlns:a="http://schemas.openxmlformats.org/drawingml/2006/main">
            <a:pPr>
              <a:lnSpc>
                <a:spcPct val="125000"/>
              </a:lnSpc>
              <a:spcBef>
                <a:spcPts val="0"/>
              </a:spcBef>
              <a:spcAft>
                <a:spcPts val="0"/>
              </a:spcAft>
            </a:pPr>
            <a:r>
              <a:rPr>
                <a:latin typeface="Pretendard"/>
                <a:ea typeface="Pretendard"/>
                <a:cs typeface="Pretendard"/>
              </a:rPr>
              <a:t>확인 범위: 공식 판결 PDF 59쪽의 주요 판단·결론.</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F03 | 잉글랜드·웨일스 고등법원 / [2026] EWHC 915 (Admin) | 2026-04-21</a:t>
            </a:r>
          </a:p>
          <a:p xmlns:a="http://schemas.openxmlformats.org/drawingml/2006/main">
            <a:pPr>
              <a:lnSpc>
                <a:spcPct val="125000"/>
              </a:lnSpc>
              <a:spcBef>
                <a:spcPts val="0"/>
              </a:spcBef>
              <a:spcAft>
                <a:spcPts val="0"/>
              </a:spcAft>
            </a:pPr>
            <a:r>
              <a:rPr>
                <a:latin typeface="Pretendard"/>
                <a:ea typeface="Pretendard"/>
                <a:cs typeface="Pretendard"/>
              </a:rPr>
              <a:t>R (Thompson and Carlo) v Commissioner of Police of the Metropolis</a:t>
            </a:r>
          </a:p>
          <a:p xmlns:a="http://schemas.openxmlformats.org/drawingml/2006/main">
            <a:pPr>
              <a:lnSpc>
                <a:spcPct val="125000"/>
              </a:lnSpc>
              <a:spcBef>
                <a:spcPts val="0"/>
              </a:spcBef>
              <a:spcAft>
                <a:spcPts val="0"/>
              </a:spcAft>
            </a:pPr>
            <a:r>
              <a:rPr>
                <a:latin typeface="Pretendard"/>
                <a:ea typeface="Pretendard"/>
                <a:cs typeface="Pretendard"/>
              </a:rPr>
              <a:t>https://www.judiciary.uk/wp-content/uploads/2026/04/AC-2024-LON-001764-R-Thompson-and-Carlo-version-for-hand-down-21-04-2026.pdf</a:t>
            </a:r>
          </a:p>
          <a:p xmlns:a="http://schemas.openxmlformats.org/drawingml/2006/main">
            <a:pPr>
              <a:lnSpc>
                <a:spcPct val="125000"/>
              </a:lnSpc>
              <a:spcBef>
                <a:spcPts val="0"/>
              </a:spcBef>
              <a:spcAft>
                <a:spcPts val="0"/>
              </a:spcAft>
            </a:pPr>
            <a:r>
              <a:rPr>
                <a:latin typeface="Pretendard"/>
                <a:ea typeface="Pretendard"/>
                <a:cs typeface="Pretendard"/>
              </a:rPr>
              <a:t>확인 범위: 공식 47쪽 판결의 심판범위 §§1–15, 사실관계 §17, CCTV 확장 §68, 정책 평가 §§219–231.</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F04 | 유럽인권재판소 | 2023-07-04 / 확정 2023-10-04</a:t>
            </a:r>
          </a:p>
          <a:p xmlns:a="http://schemas.openxmlformats.org/drawingml/2006/main">
            <a:pPr>
              <a:lnSpc>
                <a:spcPct val="125000"/>
              </a:lnSpc>
              <a:spcBef>
                <a:spcPts val="0"/>
              </a:spcBef>
              <a:spcAft>
                <a:spcPts val="0"/>
              </a:spcAft>
            </a:pPr>
            <a:r>
              <a:rPr>
                <a:latin typeface="Pretendard"/>
                <a:ea typeface="Pretendard"/>
                <a:cs typeface="Pretendard"/>
              </a:rPr>
              <a:t>Glukhin v Russia, no. 11519/20</a:t>
            </a:r>
          </a:p>
          <a:p xmlns:a="http://schemas.openxmlformats.org/drawingml/2006/main">
            <a:pPr>
              <a:lnSpc>
                <a:spcPct val="125000"/>
              </a:lnSpc>
              <a:spcBef>
                <a:spcPts val="0"/>
              </a:spcBef>
              <a:spcAft>
                <a:spcPts val="0"/>
              </a:spcAft>
            </a:pPr>
            <a:r>
              <a:rPr>
                <a:latin typeface="Pretendard"/>
                <a:ea typeface="Pretendard"/>
                <a:cs typeface="Pretendard"/>
              </a:rPr>
              <a:t>https://hudoc.echr.coe.int/app/conversion/pdf/?library=ECHR&amp;id=001-225655&amp;filename=CASE%20OF%20GLUKHIN%20v.%20RUSSIA.pdf</a:t>
            </a:r>
          </a:p>
          <a:p xmlns:a="http://schemas.openxmlformats.org/drawingml/2006/main">
            <a:pPr>
              <a:lnSpc>
                <a:spcPct val="125000"/>
              </a:lnSpc>
              <a:spcBef>
                <a:spcPts val="0"/>
              </a:spcBef>
              <a:spcAft>
                <a:spcPts val="0"/>
              </a:spcAft>
            </a:pPr>
            <a:r>
              <a:rPr>
                <a:latin typeface="Pretendard"/>
                <a:ea typeface="Pretendard"/>
                <a:cs typeface="Pretendard"/>
              </a:rPr>
              <a:t>확인 범위: 공식 판결 PDF 32쪽의 안면인식·비례성 판단 및 공식 보도자료.</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F05 | 런던경찰청(Metropolitan Police) | 발행 2025-09-30 / 대상 2024-09-11~2025-09-10</a:t>
            </a:r>
          </a:p>
          <a:p xmlns:a="http://schemas.openxmlformats.org/drawingml/2006/main">
            <a:pPr>
              <a:lnSpc>
                <a:spcPct val="125000"/>
              </a:lnSpc>
              <a:spcBef>
                <a:spcPts val="0"/>
              </a:spcBef>
              <a:spcAft>
                <a:spcPts val="0"/>
              </a:spcAft>
            </a:pPr>
            <a:r>
              <a:rPr>
                <a:latin typeface="Pretendard"/>
                <a:ea typeface="Pretendard"/>
                <a:cs typeface="Pretendard"/>
              </a:rPr>
              <a:t>Live Facial Recognition Annual Report 2025</a:t>
            </a:r>
          </a:p>
          <a:p xmlns:a="http://schemas.openxmlformats.org/drawingml/2006/main">
            <a:pPr>
              <a:lnSpc>
                <a:spcPct val="125000"/>
              </a:lnSpc>
              <a:spcBef>
                <a:spcPts val="0"/>
              </a:spcBef>
              <a:spcAft>
                <a:spcPts val="0"/>
              </a:spcAft>
            </a:pPr>
            <a:r>
              <a:rPr>
                <a:latin typeface="Pretendard"/>
                <a:ea typeface="Pretendard"/>
                <a:cs typeface="Pretendard"/>
              </a:rPr>
              <a:t>https://www.met.police.uk/SysSiteAssets/media/downloads/force-content/met/advice/lfr/other-lfr-documents/live-facial-recognition-annual-report-2025.pdf</a:t>
            </a:r>
          </a:p>
          <a:p xmlns:a="http://schemas.openxmlformats.org/drawingml/2006/main">
            <a:pPr>
              <a:lnSpc>
                <a:spcPct val="125000"/>
              </a:lnSpc>
              <a:spcBef>
                <a:spcPts val="0"/>
              </a:spcBef>
              <a:spcAft>
                <a:spcPts val="0"/>
              </a:spcAft>
            </a:pPr>
            <a:r>
              <a:rPr>
                <a:latin typeface="Pretendard"/>
                <a:ea typeface="Pretendard"/>
                <a:cs typeface="Pretendard"/>
              </a:rPr>
              <a:t>확인 범위: 공식 PDF 19쪽 중 배치·경보·체포 및 오류 통계.</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X01 | 국가법령정보센터 | 시행 2026-07-07 / 법률 제21304호</a:t>
            </a:r>
          </a:p>
          <a:p xmlns:a="http://schemas.openxmlformats.org/drawingml/2006/main">
            <a:pPr>
              <a:lnSpc>
                <a:spcPct val="125000"/>
              </a:lnSpc>
              <a:spcBef>
                <a:spcPts val="0"/>
              </a:spcBef>
              <a:spcAft>
                <a:spcPts val="0"/>
              </a:spcAft>
            </a:pPr>
            <a:r>
              <a:rPr>
                <a:latin typeface="Pretendard"/>
                <a:ea typeface="Pretendard"/>
                <a:cs typeface="Pretendard"/>
              </a:rPr>
              <a:t>경찰관 직무집행법 제3조 불심검문</a:t>
            </a:r>
          </a:p>
          <a:p xmlns:a="http://schemas.openxmlformats.org/drawingml/2006/main">
            <a:pPr>
              <a:lnSpc>
                <a:spcPct val="125000"/>
              </a:lnSpc>
              <a:spcBef>
                <a:spcPts val="0"/>
              </a:spcBef>
              <a:spcAft>
                <a:spcPts val="0"/>
              </a:spcAft>
            </a:pPr>
            <a:r>
              <a:rPr>
                <a:latin typeface="Pretendard"/>
                <a:ea typeface="Pretendard"/>
                <a:cs typeface="Pretendard"/>
              </a:rPr>
              <a:t>https://law.go.kr/LSW/lsSideInfoP.do?docCls=jo&amp;joBrNo=00&amp;joNo=0003&amp;lsiSeq=282479&amp;urlMode=lsScJoRltInfoR</a:t>
            </a:r>
          </a:p>
          <a:p xmlns:a="http://schemas.openxmlformats.org/drawingml/2006/main">
            <a:pPr>
              <a:lnSpc>
                <a:spcPct val="125000"/>
              </a:lnSpc>
              <a:spcBef>
                <a:spcPts val="0"/>
              </a:spcBef>
              <a:spcAft>
                <a:spcPts val="0"/>
              </a:spcAft>
            </a:pPr>
            <a:r>
              <a:rPr>
                <a:latin typeface="Pretendard"/>
                <a:ea typeface="Pretendard"/>
                <a:cs typeface="Pretendard"/>
              </a:rPr>
              <a:t>확인 범위: 제3조 제1–7항 원문</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X02 | 국가법령정보센터 | 시행 2026-10-02 / 법률 제22009호</a:t>
            </a:r>
          </a:p>
          <a:p xmlns:a="http://schemas.openxmlformats.org/drawingml/2006/main">
            <a:pPr>
              <a:lnSpc>
                <a:spcPct val="125000"/>
              </a:lnSpc>
              <a:spcBef>
                <a:spcPts val="0"/>
              </a:spcBef>
              <a:spcAft>
                <a:spcPts val="0"/>
              </a:spcAft>
            </a:pPr>
            <a:r>
              <a:rPr>
                <a:latin typeface="Pretendard"/>
                <a:ea typeface="Pretendard"/>
                <a:cs typeface="Pretendard"/>
              </a:rPr>
              <a:t>형사소송법 제200조의2 제1항 영장에 의한 체포</a:t>
            </a:r>
          </a:p>
          <a:p xmlns:a="http://schemas.openxmlformats.org/drawingml/2006/main">
            <a:pPr>
              <a:lnSpc>
                <a:spcPct val="125000"/>
              </a:lnSpc>
              <a:spcBef>
                <a:spcPts val="0"/>
              </a:spcBef>
              <a:spcAft>
                <a:spcPts val="0"/>
              </a:spcAft>
            </a:pPr>
            <a:r>
              <a:rPr>
                <a:latin typeface="Pretendard"/>
                <a:ea typeface="Pretendard"/>
                <a:cs typeface="Pretendard"/>
              </a:rPr>
              <a:t>https://www.law.go.kr/LSW/lsLinkCommonInfo.do?lsJoLnkSeq=1013583337</a:t>
            </a:r>
          </a:p>
          <a:p xmlns:a="http://schemas.openxmlformats.org/drawingml/2006/main">
            <a:pPr>
              <a:lnSpc>
                <a:spcPct val="125000"/>
              </a:lnSpc>
              <a:spcBef>
                <a:spcPts val="0"/>
              </a:spcBef>
              <a:spcAft>
                <a:spcPts val="0"/>
              </a:spcAft>
            </a:pPr>
            <a:r>
              <a:rPr>
                <a:latin typeface="Pretendard"/>
                <a:ea typeface="Pretendard"/>
                <a:cs typeface="Pretendard"/>
              </a:rPr>
              <a:t>확인 범위: 제200조의2 제1항 본문·경미사건 단서</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일곱 질문에서 자신의 결론을 좌우하는 조건을 선택한다.</a:t>
            </a:r>
          </a:p>
          <a:p xmlns:a="http://schemas.openxmlformats.org/drawingml/2006/main">
            <a:pPr>
              <a:lnSpc>
                <a:spcPct val="125000"/>
              </a:lnSpc>
              <a:spcBef>
                <a:spcPts val="0"/>
              </a:spcBef>
              <a:spcAft>
                <a:spcPts val="0"/>
              </a:spcAft>
            </a:pPr>
            <a:r>
              <a:rPr>
                <a:latin typeface="Pretendard"/>
                <a:ea typeface="Pretendard"/>
                <a:cs typeface="Pretendard"/>
              </a:rPr>
              <a:t>확장 질문: 최종 결론을 바꾸는 핵심 질문은 무엇인가?</a:t>
            </a:r>
          </a:p>
          <a:p xmlns:a="http://schemas.openxmlformats.org/drawingml/2006/main">
            <a:pPr>
              <a:lnSpc>
                <a:spcPct val="125000"/>
              </a:lnSpc>
              <a:spcBef>
                <a:spcPts val="0"/>
              </a:spcBef>
              <a:spcAft>
                <a:spcPts val="0"/>
              </a:spcAft>
            </a:pPr>
            <a:r>
              <a:rPr>
                <a:latin typeface="Pretendard"/>
                <a:ea typeface="Pretendard"/>
                <a:cs typeface="Pretendard"/>
              </a:rPr>
              <a:t>D01: 보호 입법 전 공공기관의 공공장소 실시간 원격 얼굴인식 도입·활용 중지 권고. 국무조정실은 개별 법적 근거 없는 도입을 하지 않겠다고 회신했고 인권위가 이를 수용으로 판단했다.</a:t>
            </a:r>
          </a:p>
          <a:p xmlns:a="http://schemas.openxmlformats.org/drawingml/2006/main">
            <a:pPr>
              <a:lnSpc>
                <a:spcPct val="125000"/>
              </a:lnSpc>
              <a:spcBef>
                <a:spcPts val="0"/>
              </a:spcBef>
              <a:spcAft>
                <a:spcPts val="0"/>
              </a:spcAft>
            </a:pPr>
            <a:r>
              <a:rPr>
                <a:latin typeface="Pretendard"/>
                <a:ea typeface="Pretendard"/>
                <a:cs typeface="Pretendard"/>
              </a:rPr>
              <a:t>적용 범위·한계: 권고·회신이며, 2026년 현재 모든 얼굴인식을 금지하는 법률이라는 뜻이 아니다.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D02: 엄격한 조건과 보호장치 아래 중범죄 대응에 활용하는 경우 인권침해로 볼 수 없다는 배심회의 결과를 발표했다. 오인 수사·체포와 편향·낙인 위험도 논의했다.</a:t>
            </a:r>
          </a:p>
          <a:p xmlns:a="http://schemas.openxmlformats.org/drawingml/2006/main">
            <a:pPr>
              <a:lnSpc>
                <a:spcPct val="125000"/>
              </a:lnSpc>
              <a:spcBef>
                <a:spcPts val="0"/>
              </a:spcBef>
              <a:spcAft>
                <a:spcPts val="0"/>
              </a:spcAft>
            </a:pPr>
            <a:r>
              <a:rPr>
                <a:latin typeface="Pretendard"/>
                <a:ea typeface="Pretendard"/>
                <a:cs typeface="Pretendard"/>
              </a:rPr>
              <a:t>적용 범위·한계: 법원 판단·국가 정책 승인·전국 대표 여론조사가 아니다. 이희대 이사의 주재와 전문가·도민 참여는 확인했으나 2025년 실제 표본 수·찬반 분포는 미확인.</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D37: 공공장소의 불특정 다수 대상 실시간 원격 얼굴인식 원칙적 금지, 공익적 필요에 따른 예외·보충적 활용, 도입 전 및 중대한 변경 시 독립적 인권영향평가를 권고 취지로 설명한다.</a:t>
            </a:r>
          </a:p>
          <a:p xmlns:a="http://schemas.openxmlformats.org/drawingml/2006/main">
            <a:pPr>
              <a:lnSpc>
                <a:spcPct val="125000"/>
              </a:lnSpc>
              <a:spcBef>
                <a:spcPts val="0"/>
              </a:spcBef>
              <a:spcAft>
                <a:spcPts val="0"/>
              </a:spcAft>
            </a:pPr>
            <a:r>
              <a:rPr>
                <a:latin typeface="Pretendard"/>
                <a:ea typeface="Pretendard"/>
                <a:cs typeface="Pretendard"/>
              </a:rPr>
              <a:t>적용 범위·한계: 담당자의 공식 해설이며 권고 결정문 전문과 구분한다. D01과 같은 권고 문서군에 속한다.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F01: 법집행 목적의 공공장소 실시간 원격 생체식별은 원칙적으로 금지하되 특정 피해자·실종자 수색, 생명·안전 위협 및 테러, 일정 중대범죄 용의자 식별 등에 예외를 둔다. 사전 독립적 허가와 시간·장소·인적 제한, 영향평가 및 회원국의 별도 법제가 요구된다.</a:t>
            </a:r>
          </a:p>
          <a:p xmlns:a="http://schemas.openxmlformats.org/drawingml/2006/main">
            <a:pPr>
              <a:lnSpc>
                <a:spcPct val="125000"/>
              </a:lnSpc>
              <a:spcBef>
                <a:spcPts val="0"/>
              </a:spcBef>
              <a:spcAft>
                <a:spcPts val="0"/>
              </a:spcAft>
            </a:pPr>
            <a:r>
              <a:rPr>
                <a:latin typeface="Pretendard"/>
                <a:ea typeface="Pretendard"/>
                <a:cs typeface="Pretendard"/>
              </a:rPr>
              <a:t>적용 범위·한계: 유럽 전체에서 경찰이 자동으로 사용할 수 있다는 뜻이 아니다. 범죄 기준은 해당 목록 범죄의 법정 최고형 4년 이상이다. 긴급 예외의 24시간은 허가 신청 시한이며 승인 시한이 아니다.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F02: 감시대상자와 배치 장소를 정하는 재량의 통제 부족, 개인정보 영향평가 및 평등의무 문제를 인정해 항소를 일부 받아들였다.</a:t>
            </a:r>
          </a:p>
          <a:p xmlns:a="http://schemas.openxmlformats.org/drawingml/2006/main">
            <a:pPr>
              <a:lnSpc>
                <a:spcPct val="125000"/>
              </a:lnSpc>
              <a:spcBef>
                <a:spcPts val="0"/>
              </a:spcBef>
              <a:spcAft>
                <a:spcPts val="0"/>
              </a:spcAft>
            </a:pPr>
            <a:r>
              <a:rPr>
                <a:latin typeface="Pretendard"/>
                <a:ea typeface="Pretendard"/>
                <a:cs typeface="Pretendard"/>
              </a:rPr>
              <a:t>적용 범위·한계: 실시간 얼굴인식 기술 자체를 영구 전면 금지한 판결이 아니다. 당시 정책·기록에 대한 판단이다.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F03: 법원은 런던경찰의 2024년 정책이 목적·명단·장소·비례성 판단을 결합하여 경찰 재량의 예측가능성을 확보했다고 보고 청구를 기각했다. §17은 원고가 2024년 2월 형제로 오인되어 정지·질문·신원 증명 요구를 받은 경위를 기재한다.</a:t>
            </a:r>
          </a:p>
          <a:p xmlns:a="http://schemas.openxmlformats.org/drawingml/2006/main">
            <a:pPr>
              <a:lnSpc>
                <a:spcPct val="125000"/>
              </a:lnSpc>
              <a:spcBef>
                <a:spcPts val="0"/>
              </a:spcBef>
              <a:spcAft>
                <a:spcPts val="0"/>
              </a:spcAft>
            </a:pPr>
            <a:r>
              <a:rPr>
                <a:latin typeface="Pretendard"/>
                <a:ea typeface="Pretendard"/>
                <a:cs typeface="Pretendard"/>
              </a:rPr>
              <a:t>적용 범위·한계: 소송의 중심은 정책의 명확성과 자의적 재량 통제이다. 원고들은 이 소송에서 비례성 자체를 다투지 않았다. §17 사건의 개별 처분 적법성 및 미래 상시 CCTV 연계의 심사는 범위 밖이며 상소 상태는 미확인.</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F04: 평화적 1인 시위자를 영상으로 식별하고 지하철에서 추적·체포한 사건에서 사생활과 표현의 자유 침해를 인정했다.</a:t>
            </a:r>
          </a:p>
          <a:p xmlns:a="http://schemas.openxmlformats.org/drawingml/2006/main">
            <a:pPr>
              <a:lnSpc>
                <a:spcPct val="125000"/>
              </a:lnSpc>
              <a:spcBef>
                <a:spcPts val="0"/>
              </a:spcBef>
              <a:spcAft>
                <a:spcPts val="0"/>
              </a:spcAft>
            </a:pPr>
            <a:r>
              <a:rPr>
                <a:latin typeface="Pretendard"/>
                <a:ea typeface="Pretendard"/>
                <a:cs typeface="Pretendard"/>
              </a:rPr>
              <a:t>적용 범위·한계: 경미한 행위와 정치적 표현이라는 맥락이 핵심이다. 중대범죄의 구체적 급박한 위험까지 같은 결론이라고 단정하지 않는다.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F05: 범죄다발지역 203회와 행사보안 4회 배치를 구분한다. 전체 기간 약 314만 7,436회 얼굴 통과, 경보 2,077건(진경보 2,067·오경보 10), 체포 962건을 보고했다. 오경보 중 6건에서 현장 접촉이 있었고 그로 인한 체포는 0건이었다.</a:t>
            </a:r>
          </a:p>
          <a:p xmlns:a="http://schemas.openxmlformats.org/drawingml/2006/main">
            <a:pPr>
              <a:lnSpc>
                <a:spcPct val="125000"/>
              </a:lnSpc>
              <a:spcBef>
                <a:spcPts val="0"/>
              </a:spcBef>
              <a:spcAft>
                <a:spcPts val="0"/>
              </a:spcAft>
            </a:pPr>
            <a:r>
              <a:rPr>
                <a:latin typeface="Pretendard"/>
                <a:ea typeface="Pretendard"/>
                <a:cs typeface="Pretendard"/>
              </a:rPr>
              <a:t>적용 범위·한계: 경찰의 자체 집계다. 얼굴 통과는 고유 인원수가 아니며 체포는 유죄가 아니다. 전후·대조집단 비교가 없어 범죄 감소의 인과효과를 입증하지 않는다.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X01: 상당한 이유에 의한 정지·질문, 흉기 조사, 신분·이유 고지, 동행 거절 및 의사에 반한 답변 강요 금지를 확인했다.</a:t>
            </a:r>
          </a:p>
          <a:p xmlns:a="http://schemas.openxmlformats.org/drawingml/2006/main">
            <a:pPr>
              <a:lnSpc>
                <a:spcPct val="125000"/>
              </a:lnSpc>
              <a:spcBef>
                <a:spcPts val="0"/>
              </a:spcBef>
              <a:spcAft>
                <a:spcPts val="0"/>
              </a:spcAft>
            </a:pPr>
            <a:r>
              <a:rPr>
                <a:latin typeface="Pretendard"/>
                <a:ea typeface="Pretendard"/>
                <a:cs typeface="Pretendard"/>
              </a:rPr>
              <a:t>적용 범위·한계: 개별 AI 경보가 요건을 충족하는지에 관한 판결은 아니다.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X02: 범죄 혐의의 상당한 이유와 출석 불응·불응 우려, 사법경찰관 신청·검사 청구·판사 영장 발부의 경로를 확인했다.</a:t>
            </a:r>
          </a:p>
          <a:p xmlns:a="http://schemas.openxmlformats.org/drawingml/2006/main">
            <a:pPr>
              <a:lnSpc>
                <a:spcPct val="125000"/>
              </a:lnSpc>
              <a:spcBef>
                <a:spcPts val="0"/>
              </a:spcBef>
              <a:spcAft>
                <a:spcPts val="0"/>
              </a:spcAft>
            </a:pPr>
            <a:r>
              <a:rPr>
                <a:latin typeface="Pretendard"/>
                <a:ea typeface="Pretendard"/>
                <a:cs typeface="Pretendard"/>
              </a:rPr>
              <a:t>적용 범위·한계: 긴급체포·현행범 체포와 구별하며 이 조항만으로 전체 체포법을 설명하지 않는다.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W8-43 / 본편 필수 / DIRECT</a:t>
            </a:r>
          </a:p>
          <a:p xmlns:a="http://schemas.openxmlformats.org/drawingml/2006/main">
            <a:pPr>
              <a:lnSpc>
                <a:spcPct val="125000"/>
              </a:lnSpc>
              <a:spcBef>
                <a:spcPts val="0"/>
              </a:spcBef>
              <a:spcAft>
                <a:spcPts val="0"/>
              </a:spcAft>
            </a:pPr>
            <a:r>
              <a:rPr>
                <a:latin typeface="Pretendard"/>
                <a:ea typeface="Pretendard"/>
                <a:cs typeface="Pretendard"/>
              </a:rPr>
              <a:t>앞 본편의 근거만 회수. 숫자에 맞춘 새로운 경험적 쟁점을 추가하지 않았다.</a:t>
            </a:r>
          </a:p>
          <a:p xmlns:a="http://schemas.openxmlformats.org/drawingml/2006/main">
            <a:pPr>
              <a:lnSpc>
                <a:spcPct val="125000"/>
              </a:lnSpc>
              <a:spcBef>
                <a:spcPts val="0"/>
              </a:spcBef>
              <a:spcAft>
                <a:spcPts val="0"/>
              </a:spcAft>
            </a:pPr>
            <a:r>
              <a:rPr>
                <a:latin typeface="Pretendard"/>
                <a:ea typeface="Pretendard"/>
                <a:cs typeface="Pretendard"/>
              </a:rPr>
              <a:t>이전 연결: 앞의 판단 조건들을 필요·근거·성과·부담·조치·기록·감독의 일곱 질문으로 회수한다.</a:t>
            </a:r>
          </a:p>
          <a:p xmlns:a="http://schemas.openxmlformats.org/drawingml/2006/main">
            <a:pPr>
              <a:lnSpc>
                <a:spcPct val="125000"/>
              </a:lnSpc>
              <a:spcBef>
                <a:spcPts val="0"/>
              </a:spcBef>
              <a:spcAft>
                <a:spcPts val="0"/>
              </a:spcAft>
            </a:pPr>
            <a:r>
              <a:rPr>
                <a:latin typeface="Pretendard"/>
                <a:ea typeface="Pretendard"/>
                <a:cs typeface="Pretendard"/>
              </a:rPr>
              <a:t>다음 연결: 일곱 질문 중 자기 결론을 좌우하는 조건을 골라 근거와 변경 조건을 적는다.</a:t>
            </a:r>
          </a:p>
          <a:p xmlns:a="http://schemas.openxmlformats.org/drawingml/2006/main">
            <a:pPr>
              <a:lnSpc>
                <a:spcPct val="125000"/>
              </a:lnSpc>
              <a:spcBef>
                <a:spcPts val="0"/>
              </a:spcBef>
              <a:spcAft>
                <a:spcPts val="0"/>
              </a:spcAft>
            </a:pPr>
            <a:r>
              <a:rPr>
                <a:latin typeface="Pretendard"/>
                <a:ea typeface="Pretendard"/>
                <a:cs typeface="Pretendard"/>
              </a:rPr>
              <a:t>운영시간 초안: 3분.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결론은 허용 또는 유예라는 말에 조건을 붙여 완성할 수 있습니다. 어느 범죄와 명단, 어느 장소와 기간을 말하는지 적어 보십시오. 핵심 자료 두 개를 고르고 그 자료에서 왜 자신의 결론이 나오는지 설명하면 전제가 드러납니다. 이어서 자신의 선택이 남기는 부담과 판단을 바꿀 새로운 사실을 적으면, 질의와 토론에서 검토할 부분이 분명해집니다.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D01 | 국가인권위원회 | 권고 2023-01-12 / 회신 수용 공표 2024-02-22</a:t>
            </a:r>
          </a:p>
          <a:p xmlns:a="http://schemas.openxmlformats.org/drawingml/2006/main">
            <a:pPr>
              <a:lnSpc>
                <a:spcPct val="125000"/>
              </a:lnSpc>
              <a:spcBef>
                <a:spcPts val="0"/>
              </a:spcBef>
              <a:spcAft>
                <a:spcPts val="0"/>
              </a:spcAft>
            </a:pPr>
            <a:r>
              <a:rPr>
                <a:latin typeface="Pretendard"/>
                <a:ea typeface="Pretendard"/>
                <a:cs typeface="Pretendard"/>
              </a:rPr>
              <a:t>실시간 원격 얼굴인식 기술 도입·활용 중지 조치 권고, 국무총리 수용</a:t>
            </a:r>
          </a:p>
          <a:p xmlns:a="http://schemas.openxmlformats.org/drawingml/2006/main">
            <a:pPr>
              <a:lnSpc>
                <a:spcPct val="125000"/>
              </a:lnSpc>
              <a:spcBef>
                <a:spcPts val="0"/>
              </a:spcBef>
              <a:spcAft>
                <a:spcPts val="0"/>
              </a:spcAft>
            </a:pPr>
            <a:r>
              <a:rPr>
                <a:latin typeface="Pretendard"/>
                <a:ea typeface="Pretendard"/>
                <a:cs typeface="Pretendard"/>
              </a:rPr>
              <a:t>https://www.humanrights.go.kr/base/board/read?boardManagementNo=24&amp;boardNo=7609889&amp;menuLevel=3&amp;menuNo=91&amp;page=1&amp;searchCategory=&amp;searchType=&amp;searchWord=</a:t>
            </a:r>
          </a:p>
          <a:p xmlns:a="http://schemas.openxmlformats.org/drawingml/2006/main">
            <a:pPr>
              <a:lnSpc>
                <a:spcPct val="125000"/>
              </a:lnSpc>
              <a:spcBef>
                <a:spcPts val="0"/>
              </a:spcBef>
              <a:spcAft>
                <a:spcPts val="0"/>
              </a:spcAft>
            </a:pPr>
            <a:r>
              <a:rPr>
                <a:latin typeface="Pretendard"/>
                <a:ea typeface="Pretendard"/>
                <a:cs typeface="Pretendard"/>
              </a:rPr>
              <a:t>확인 범위: 공식 보도자료 본문. 첨부 결정문은 접근 실패.</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D02 | 경기도 2025년 제3회 도민인권배심회의 | 2025-08-27</a:t>
            </a:r>
          </a:p>
          <a:p xmlns:a="http://schemas.openxmlformats.org/drawingml/2006/main">
            <a:pPr>
              <a:lnSpc>
                <a:spcPct val="125000"/>
              </a:lnSpc>
              <a:spcBef>
                <a:spcPts val="0"/>
              </a:spcBef>
              <a:spcAft>
                <a:spcPts val="0"/>
              </a:spcAft>
            </a:pPr>
            <a:r>
              <a:rPr>
                <a:latin typeface="Pretendard"/>
                <a:ea typeface="Pretendard"/>
                <a:cs typeface="Pretendard"/>
              </a:rPr>
              <a:t>중범죄 대응을 위한 실시간 원격 얼굴인식 기술의 인권 침해 여부 숙의</a:t>
            </a:r>
          </a:p>
          <a:p xmlns:a="http://schemas.openxmlformats.org/drawingml/2006/main">
            <a:pPr>
              <a:lnSpc>
                <a:spcPct val="125000"/>
              </a:lnSpc>
              <a:spcBef>
                <a:spcPts val="0"/>
              </a:spcBef>
              <a:spcAft>
                <a:spcPts val="0"/>
              </a:spcAft>
            </a:pPr>
            <a:r>
              <a:rPr>
                <a:latin typeface="Pretendard"/>
                <a:ea typeface="Pretendard"/>
                <a:cs typeface="Pretendard"/>
              </a:rPr>
              <a:t>https://gnews.gg.go.kr/briefing/brief_gongbo_view.do?BS_CODE=S017&amp;number=67424</a:t>
            </a:r>
          </a:p>
          <a:p xmlns:a="http://schemas.openxmlformats.org/drawingml/2006/main">
            <a:pPr>
              <a:lnSpc>
                <a:spcPct val="125000"/>
              </a:lnSpc>
              <a:spcBef>
                <a:spcPts val="0"/>
              </a:spcBef>
              <a:spcAft>
                <a:spcPts val="0"/>
              </a:spcAft>
            </a:pPr>
            <a:r>
              <a:rPr>
                <a:latin typeface="Pretendard"/>
                <a:ea typeface="Pretendard"/>
                <a:cs typeface="Pretendard"/>
              </a:rPr>
              <a:t>확인 범위: 경기도 공식 발표 본문. 발언록·표결 원표 미확인.</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F01 | 유럽연합 / 집행위원회 공식 조문 서비스 | 2024 제정 / 현행 조문 조회 2026-10-07</a:t>
            </a:r>
          </a:p>
          <a:p xmlns:a="http://schemas.openxmlformats.org/drawingml/2006/main">
            <a:pPr>
              <a:lnSpc>
                <a:spcPct val="125000"/>
              </a:lnSpc>
              <a:spcBef>
                <a:spcPts val="0"/>
              </a:spcBef>
              <a:spcAft>
                <a:spcPts val="0"/>
              </a:spcAft>
            </a:pPr>
            <a:r>
              <a:rPr>
                <a:latin typeface="Pretendard"/>
                <a:ea typeface="Pretendard"/>
                <a:cs typeface="Pretendard"/>
              </a:rPr>
              <a:t>EU AI Act 제5조: 공공장소 실시간 원격 생체식별</a:t>
            </a:r>
          </a:p>
          <a:p xmlns:a="http://schemas.openxmlformats.org/drawingml/2006/main">
            <a:pPr>
              <a:lnSpc>
                <a:spcPct val="125000"/>
              </a:lnSpc>
              <a:spcBef>
                <a:spcPts val="0"/>
              </a:spcBef>
              <a:spcAft>
                <a:spcPts val="0"/>
              </a:spcAft>
            </a:pPr>
            <a:r>
              <a:rPr>
                <a:latin typeface="Pretendard"/>
                <a:ea typeface="Pretendard"/>
                <a:cs typeface="Pretendard"/>
              </a:rPr>
              <a:t>https://ai-act-service-desk.ec.europa.eu/en/ai-act/article-5</a:t>
            </a:r>
          </a:p>
          <a:p xmlns:a="http://schemas.openxmlformats.org/drawingml/2006/main">
            <a:pPr>
              <a:lnSpc>
                <a:spcPct val="125000"/>
              </a:lnSpc>
              <a:spcBef>
                <a:spcPts val="0"/>
              </a:spcBef>
              <a:spcAft>
                <a:spcPts val="0"/>
              </a:spcAft>
            </a:pPr>
            <a:r>
              <a:rPr>
                <a:latin typeface="Pretendard"/>
                <a:ea typeface="Pretendard"/>
                <a:cs typeface="Pretendard"/>
              </a:rPr>
              <a:t>확인 범위: 공식 제5조 본문, 특히 1(h)와 2–7항.</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F05 | 런던경찰청(Metropolitan Police) | 발행 2025-09-30 / 대상 2024-09-11~2025-09-10</a:t>
            </a:r>
          </a:p>
          <a:p xmlns:a="http://schemas.openxmlformats.org/drawingml/2006/main">
            <a:pPr>
              <a:lnSpc>
                <a:spcPct val="125000"/>
              </a:lnSpc>
              <a:spcBef>
                <a:spcPts val="0"/>
              </a:spcBef>
              <a:spcAft>
                <a:spcPts val="0"/>
              </a:spcAft>
            </a:pPr>
            <a:r>
              <a:rPr>
                <a:latin typeface="Pretendard"/>
                <a:ea typeface="Pretendard"/>
                <a:cs typeface="Pretendard"/>
              </a:rPr>
              <a:t>Live Facial Recognition Annual Report 2025</a:t>
            </a:r>
          </a:p>
          <a:p xmlns:a="http://schemas.openxmlformats.org/drawingml/2006/main">
            <a:pPr>
              <a:lnSpc>
                <a:spcPct val="125000"/>
              </a:lnSpc>
              <a:spcBef>
                <a:spcPts val="0"/>
              </a:spcBef>
              <a:spcAft>
                <a:spcPts val="0"/>
              </a:spcAft>
            </a:pPr>
            <a:r>
              <a:rPr>
                <a:latin typeface="Pretendard"/>
                <a:ea typeface="Pretendard"/>
                <a:cs typeface="Pretendard"/>
              </a:rPr>
              <a:t>https://www.met.police.uk/SysSiteAssets/media/downloads/force-content/met/advice/lfr/other-lfr-documents/live-facial-recognition-annual-report-2025.pdf</a:t>
            </a:r>
          </a:p>
          <a:p xmlns:a="http://schemas.openxmlformats.org/drawingml/2006/main">
            <a:pPr>
              <a:lnSpc>
                <a:spcPct val="125000"/>
              </a:lnSpc>
              <a:spcBef>
                <a:spcPts val="0"/>
              </a:spcBef>
              <a:spcAft>
                <a:spcPts val="0"/>
              </a:spcAft>
            </a:pPr>
            <a:r>
              <a:rPr>
                <a:latin typeface="Pretendard"/>
                <a:ea typeface="Pretendard"/>
                <a:cs typeface="Pretendard"/>
              </a:rPr>
              <a:t>확인 범위: 공식 PDF 19쪽 중 배치·경보·체포 및 오류 통계.</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결론·근거·남는 부담·변경 조건을 연결한 자기 논증을 구성한다.</a:t>
            </a:r>
          </a:p>
          <a:p xmlns:a="http://schemas.openxmlformats.org/drawingml/2006/main">
            <a:pPr>
              <a:lnSpc>
                <a:spcPct val="125000"/>
              </a:lnSpc>
              <a:spcBef>
                <a:spcPts val="0"/>
              </a:spcBef>
              <a:spcAft>
                <a:spcPts val="0"/>
              </a:spcAft>
            </a:pPr>
            <a:r>
              <a:rPr>
                <a:latin typeface="Pretendard"/>
                <a:ea typeface="Pretendard"/>
                <a:cs typeface="Pretendard"/>
              </a:rPr>
              <a:t>확장 질문: 나의 정책 결론은 어떤 자료·전제·변경 조건에 기반하는가?</a:t>
            </a:r>
          </a:p>
          <a:p xmlns:a="http://schemas.openxmlformats.org/drawingml/2006/main">
            <a:pPr>
              <a:lnSpc>
                <a:spcPct val="125000"/>
              </a:lnSpc>
              <a:spcBef>
                <a:spcPts val="0"/>
              </a:spcBef>
              <a:spcAft>
                <a:spcPts val="0"/>
              </a:spcAft>
            </a:pPr>
            <a:r>
              <a:rPr>
                <a:latin typeface="Pretendard"/>
                <a:ea typeface="Pretendard"/>
                <a:cs typeface="Pretendard"/>
              </a:rPr>
              <a:t>D01: 보호 입법 전 공공기관의 공공장소 실시간 원격 얼굴인식 도입·활용 중지 권고. 국무조정실은 개별 법적 근거 없는 도입을 하지 않겠다고 회신했고 인권위가 이를 수용으로 판단했다.</a:t>
            </a:r>
          </a:p>
          <a:p xmlns:a="http://schemas.openxmlformats.org/drawingml/2006/main">
            <a:pPr>
              <a:lnSpc>
                <a:spcPct val="125000"/>
              </a:lnSpc>
              <a:spcBef>
                <a:spcPts val="0"/>
              </a:spcBef>
              <a:spcAft>
                <a:spcPts val="0"/>
              </a:spcAft>
            </a:pPr>
            <a:r>
              <a:rPr>
                <a:latin typeface="Pretendard"/>
                <a:ea typeface="Pretendard"/>
                <a:cs typeface="Pretendard"/>
              </a:rPr>
              <a:t>적용 범위·한계: 권고·회신이며, 2026년 현재 모든 얼굴인식을 금지하는 법률이라는 뜻이 아니다.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D02: 엄격한 조건과 보호장치 아래 중범죄 대응에 활용하는 경우 인권침해로 볼 수 없다는 배심회의 결과를 발표했다. 오인 수사·체포와 편향·낙인 위험도 논의했다.</a:t>
            </a:r>
          </a:p>
          <a:p xmlns:a="http://schemas.openxmlformats.org/drawingml/2006/main">
            <a:pPr>
              <a:lnSpc>
                <a:spcPct val="125000"/>
              </a:lnSpc>
              <a:spcBef>
                <a:spcPts val="0"/>
              </a:spcBef>
              <a:spcAft>
                <a:spcPts val="0"/>
              </a:spcAft>
            </a:pPr>
            <a:r>
              <a:rPr>
                <a:latin typeface="Pretendard"/>
                <a:ea typeface="Pretendard"/>
                <a:cs typeface="Pretendard"/>
              </a:rPr>
              <a:t>적용 범위·한계: 법원 판단·국가 정책 승인·전국 대표 여론조사가 아니다. 이희대 이사의 주재와 전문가·도민 참여는 확인했으나 2025년 실제 표본 수·찬반 분포는 미확인.</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F01: 법집행 목적의 공공장소 실시간 원격 생체식별은 원칙적으로 금지하되 특정 피해자·실종자 수색, 생명·안전 위협 및 테러, 일정 중대범죄 용의자 식별 등에 예외를 둔다. 사전 독립적 허가와 시간·장소·인적 제한, 영향평가 및 회원국의 별도 법제가 요구된다.</a:t>
            </a:r>
          </a:p>
          <a:p xmlns:a="http://schemas.openxmlformats.org/drawingml/2006/main">
            <a:pPr>
              <a:lnSpc>
                <a:spcPct val="125000"/>
              </a:lnSpc>
              <a:spcBef>
                <a:spcPts val="0"/>
              </a:spcBef>
              <a:spcAft>
                <a:spcPts val="0"/>
              </a:spcAft>
            </a:pPr>
            <a:r>
              <a:rPr>
                <a:latin typeface="Pretendard"/>
                <a:ea typeface="Pretendard"/>
                <a:cs typeface="Pretendard"/>
              </a:rPr>
              <a:t>적용 범위·한계: 유럽 전체에서 경찰이 자동으로 사용할 수 있다는 뜻이 아니다. 범죄 기준은 해당 목록 범죄의 법정 최고형 4년 이상이다. 긴급 예외의 24시간은 허가 신청 시한이며 승인 시한이 아니다.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F05: 범죄다발지역 203회와 행사보안 4회 배치를 구분한다. 전체 기간 약 314만 7,436회 얼굴 통과, 경보 2,077건(진경보 2,067·오경보 10), 체포 962건을 보고했다. 오경보 중 6건에서 현장 접촉이 있었고 그로 인한 체포는 0건이었다.</a:t>
            </a:r>
          </a:p>
          <a:p xmlns:a="http://schemas.openxmlformats.org/drawingml/2006/main">
            <a:pPr>
              <a:lnSpc>
                <a:spcPct val="125000"/>
              </a:lnSpc>
              <a:spcBef>
                <a:spcPts val="0"/>
              </a:spcBef>
              <a:spcAft>
                <a:spcPts val="0"/>
              </a:spcAft>
            </a:pPr>
            <a:r>
              <a:rPr>
                <a:latin typeface="Pretendard"/>
                <a:ea typeface="Pretendard"/>
                <a:cs typeface="Pretendard"/>
              </a:rPr>
              <a:t>적용 범위·한계: 경찰의 자체 집계다. 얼굴 통과는 고유 인원수가 아니며 체포는 유죄가 아니다. 전후·대조집단 비교가 없어 범죄 감소의 인과효과를 입증하지 않는다.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W8-44 / 본편 필수 / DIRECT</a:t>
            </a:r>
          </a:p>
          <a:p xmlns:a="http://schemas.openxmlformats.org/drawingml/2006/main">
            <a:pPr>
              <a:lnSpc>
                <a:spcPct val="125000"/>
              </a:lnSpc>
              <a:spcBef>
                <a:spcPts val="0"/>
              </a:spcBef>
              <a:spcAft>
                <a:spcPts val="0"/>
              </a:spcAft>
            </a:pPr>
            <a:r>
              <a:rPr>
                <a:latin typeface="Pretendard"/>
                <a:ea typeface="Pretendard"/>
                <a:cs typeface="Pretendard"/>
              </a:rPr>
              <a:t>학생 판단 활동이며 강사 결론을 제시하지 않는다. 별도 과제·평가 일정을 신설하지 않는다.</a:t>
            </a:r>
          </a:p>
          <a:p xmlns:a="http://schemas.openxmlformats.org/drawingml/2006/main">
            <a:pPr>
              <a:lnSpc>
                <a:spcPct val="125000"/>
              </a:lnSpc>
              <a:spcBef>
                <a:spcPts val="0"/>
              </a:spcBef>
              <a:spcAft>
                <a:spcPts val="0"/>
              </a:spcAft>
            </a:pPr>
            <a:r>
              <a:rPr>
                <a:latin typeface="Pretendard"/>
                <a:ea typeface="Pretendard"/>
                <a:cs typeface="Pretendard"/>
              </a:rPr>
              <a:t>이전 연결: 일곱 질문 중 자기 결론을 좌우하는 조건을 골라 근거와 변경 조건을 적는다.</a:t>
            </a:r>
          </a:p>
          <a:p xmlns:a="http://schemas.openxmlformats.org/drawingml/2006/main">
            <a:pPr>
              <a:lnSpc>
                <a:spcPct val="125000"/>
              </a:lnSpc>
              <a:spcBef>
                <a:spcPts val="0"/>
              </a:spcBef>
              <a:spcAft>
                <a:spcPts val="0"/>
              </a:spcAft>
            </a:pPr>
            <a:r>
              <a:rPr>
                <a:latin typeface="Pretendard"/>
                <a:ea typeface="Pretendard"/>
                <a:cs typeface="Pretendard"/>
              </a:rPr>
              <a:t>다음 연결: 본편 판단 활동이 끝난 뒤 보충 자료는 개별 질문이 있을 때 선택한다.</a:t>
            </a:r>
          </a:p>
          <a:p xmlns:a="http://schemas.openxmlformats.org/drawingml/2006/main">
            <a:pPr>
              <a:lnSpc>
                <a:spcPct val="125000"/>
              </a:lnSpc>
              <a:spcBef>
                <a:spcPts val="0"/>
              </a:spcBef>
              <a:spcAft>
                <a:spcPts val="0"/>
              </a:spcAft>
            </a:pPr>
            <a:r>
              <a:rPr>
                <a:latin typeface="Pretendard"/>
                <a:ea typeface="Pretendard"/>
                <a:cs typeface="Pretendard"/>
              </a:rPr>
              <a:t>운영시간 초안: 5분.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개인 기기의 얼굴 확인, 광고 이미지의 오인, 민간 공연장의 출입 명단은 얼굴인식에 맡기는 과업과 목적이 어떻게 달라지는지 보여 줍니다. 국내의 데이터 처리 판단과 관제 운영 자료는 정보 처리와 권리구제를 더 구체적으로 검토할 수 있게 합니다.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S11 | 中国宁波网·现代金报 / 浙江在线 | 2018-11-22</a:t>
            </a:r>
          </a:p>
          <a:p xmlns:a="http://schemas.openxmlformats.org/drawingml/2006/main">
            <a:pPr>
              <a:lnSpc>
                <a:spcPct val="125000"/>
              </a:lnSpc>
              <a:spcBef>
                <a:spcPts val="0"/>
              </a:spcBef>
              <a:spcAft>
                <a:spcPts val="0"/>
              </a:spcAft>
            </a:pPr>
            <a:r>
              <a:rPr>
                <a:latin typeface="Pretendard"/>
                <a:ea typeface="Pretendard"/>
                <a:cs typeface="Pretendard"/>
              </a:rPr>
              <a:t>董明珠宁波闯红灯？交警：这是一次误识别</a:t>
            </a:r>
          </a:p>
          <a:p xmlns:a="http://schemas.openxmlformats.org/drawingml/2006/main">
            <a:pPr>
              <a:lnSpc>
                <a:spcPct val="125000"/>
              </a:lnSpc>
              <a:spcBef>
                <a:spcPts val="0"/>
              </a:spcBef>
              <a:spcAft>
                <a:spcPts val="0"/>
              </a:spcAft>
            </a:pPr>
            <a:r>
              <a:rPr>
                <a:latin typeface="Pretendard"/>
                <a:ea typeface="Pretendard"/>
                <a:cs typeface="Pretendard"/>
              </a:rPr>
              <a:t>https://zjnews.zjol.com.cn/zjnews/nbnews/201811/t20181122_8807787.shtml</a:t>
            </a:r>
          </a:p>
          <a:p xmlns:a="http://schemas.openxmlformats.org/drawingml/2006/main">
            <a:pPr>
              <a:lnSpc>
                <a:spcPct val="125000"/>
              </a:lnSpc>
              <a:spcBef>
                <a:spcPts val="0"/>
              </a:spcBef>
              <a:spcAft>
                <a:spcPts val="0"/>
              </a:spcAft>
            </a:pPr>
            <a:r>
              <a:rPr>
                <a:latin typeface="Pretendard"/>
                <a:ea typeface="Pretendard"/>
                <a:cs typeface="Pretendard"/>
              </a:rPr>
              <a:t>확인 범위: 11월 21일 사건 및 교통경찰 17시 28분 설명</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S15 | New York State Office of the Attorney General | 2023-01-25</a:t>
            </a:r>
          </a:p>
          <a:p xmlns:a="http://schemas.openxmlformats.org/drawingml/2006/main">
            <a:pPr>
              <a:lnSpc>
                <a:spcPct val="125000"/>
              </a:lnSpc>
              <a:spcBef>
                <a:spcPts val="0"/>
              </a:spcBef>
              <a:spcAft>
                <a:spcPts val="0"/>
              </a:spcAft>
            </a:pPr>
            <a:r>
              <a:rPr>
                <a:latin typeface="Pretendard"/>
                <a:ea typeface="Pretendard"/>
                <a:cs typeface="Pretendard"/>
              </a:rPr>
              <a:t>Attorney General James Seeks Information from Madison Square Garden Regarding Use of Facial Recognition Technology to Prohibit Ticket Holders from Entering Venues</a:t>
            </a:r>
          </a:p>
          <a:p xmlns:a="http://schemas.openxmlformats.org/drawingml/2006/main">
            <a:pPr>
              <a:lnSpc>
                <a:spcPct val="125000"/>
              </a:lnSpc>
              <a:spcBef>
                <a:spcPts val="0"/>
              </a:spcBef>
              <a:spcAft>
                <a:spcPts val="0"/>
              </a:spcAft>
            </a:pPr>
            <a:r>
              <a:rPr>
                <a:latin typeface="Pretendard"/>
                <a:ea typeface="Pretendard"/>
                <a:cs typeface="Pretendard"/>
              </a:rPr>
              <a:t>https://ag.ny.gov/press-release/2023/attorney-general-james-seeks-information-madison-square-garden-regarding-use</a:t>
            </a:r>
          </a:p>
          <a:p xmlns:a="http://schemas.openxmlformats.org/drawingml/2006/main">
            <a:pPr>
              <a:lnSpc>
                <a:spcPct val="125000"/>
              </a:lnSpc>
              <a:spcBef>
                <a:spcPts val="0"/>
              </a:spcBef>
              <a:spcAft>
                <a:spcPts val="0"/>
              </a:spcAft>
            </a:pPr>
            <a:r>
              <a:rPr>
                <a:latin typeface="Pretendard"/>
                <a:ea typeface="Pretendard"/>
                <a:cs typeface="Pretendard"/>
              </a:rPr>
              <a:t>확인 범위: 소송 상대 로펌 소속 변호사 출입 제한 설명</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S18 | Apple | 2017-09-12</a:t>
            </a:r>
          </a:p>
          <a:p xmlns:a="http://schemas.openxmlformats.org/drawingml/2006/main">
            <a:pPr>
              <a:lnSpc>
                <a:spcPct val="125000"/>
              </a:lnSpc>
              <a:spcBef>
                <a:spcPts val="0"/>
              </a:spcBef>
              <a:spcAft>
                <a:spcPts val="0"/>
              </a:spcAft>
            </a:pPr>
            <a:r>
              <a:rPr>
                <a:latin typeface="Pretendard"/>
                <a:ea typeface="Pretendard"/>
                <a:cs typeface="Pretendard"/>
              </a:rPr>
              <a:t>미래가 바로 여기에: iPhone X</a:t>
            </a:r>
          </a:p>
          <a:p xmlns:a="http://schemas.openxmlformats.org/drawingml/2006/main">
            <a:pPr>
              <a:lnSpc>
                <a:spcPct val="125000"/>
              </a:lnSpc>
              <a:spcBef>
                <a:spcPts val="0"/>
              </a:spcBef>
              <a:spcAft>
                <a:spcPts val="0"/>
              </a:spcAft>
            </a:pPr>
            <a:r>
              <a:rPr>
                <a:latin typeface="Pretendard"/>
                <a:ea typeface="Pretendard"/>
                <a:cs typeface="Pretendard"/>
              </a:rPr>
              <a:t>https://www.apple.com/kr/newsroom/2017/09/the-future-is-here-iphone-x/</a:t>
            </a:r>
          </a:p>
          <a:p xmlns:a="http://schemas.openxmlformats.org/drawingml/2006/main">
            <a:pPr>
              <a:lnSpc>
                <a:spcPct val="125000"/>
              </a:lnSpc>
              <a:spcBef>
                <a:spcPts val="0"/>
              </a:spcBef>
              <a:spcAft>
                <a:spcPts val="0"/>
              </a:spcAft>
            </a:pPr>
            <a:r>
              <a:rPr>
                <a:latin typeface="Pretendard"/>
                <a:ea typeface="Pretendard"/>
                <a:cs typeface="Pretendard"/>
              </a:rPr>
              <a:t>확인 범위: TrueDepth 카메라와 Face ID 설명</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S20 | Phillips et al. | 2018</a:t>
            </a:r>
          </a:p>
          <a:p xmlns:a="http://schemas.openxmlformats.org/drawingml/2006/main">
            <a:pPr>
              <a:lnSpc>
                <a:spcPct val="125000"/>
              </a:lnSpc>
              <a:spcBef>
                <a:spcPts val="0"/>
              </a:spcBef>
              <a:spcAft>
                <a:spcPts val="0"/>
              </a:spcAft>
            </a:pPr>
            <a:r>
              <a:rPr>
                <a:latin typeface="Pretendard"/>
                <a:ea typeface="Pretendard"/>
                <a:cs typeface="Pretendard"/>
              </a:rPr>
              <a:t>Face recognition accuracy of forensic examiners, superrecognizers, and face recognition algorithms</a:t>
            </a:r>
          </a:p>
          <a:p xmlns:a="http://schemas.openxmlformats.org/drawingml/2006/main">
            <a:pPr>
              <a:lnSpc>
                <a:spcPct val="125000"/>
              </a:lnSpc>
              <a:spcBef>
                <a:spcPts val="0"/>
              </a:spcBef>
              <a:spcAft>
                <a:spcPts val="0"/>
              </a:spcAft>
            </a:pPr>
            <a:r>
              <a:rPr>
                <a:latin typeface="Pretendard"/>
                <a:ea typeface="Pretendard"/>
                <a:cs typeface="Pretendard"/>
              </a:rPr>
              <a:t>https://obj.umiacs.umd.edu/papers_for_stories/chellappa_facial_recognition.pdf</a:t>
            </a:r>
          </a:p>
          <a:p xmlns:a="http://schemas.openxmlformats.org/drawingml/2006/main">
            <a:pPr>
              <a:lnSpc>
                <a:spcPct val="125000"/>
              </a:lnSpc>
              <a:spcBef>
                <a:spcPts val="0"/>
              </a:spcBef>
              <a:spcAft>
                <a:spcPts val="0"/>
              </a:spcAft>
            </a:pPr>
            <a:r>
              <a:rPr>
                <a:latin typeface="Pretendard"/>
                <a:ea typeface="Pretendard"/>
                <a:cs typeface="Pretendard"/>
              </a:rPr>
              <a:t>확인 범위: PNAS, DOI 10.1073/pnas.1721355115; PDF 3쪽 결합 방법, 5–6쪽 Methods</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D18 | 개인정보보호위원회 | 2022-04-27</a:t>
            </a:r>
          </a:p>
          <a:p xmlns:a="http://schemas.openxmlformats.org/drawingml/2006/main">
            <a:pPr>
              <a:lnSpc>
                <a:spcPct val="125000"/>
              </a:lnSpc>
              <a:spcBef>
                <a:spcPts val="0"/>
              </a:spcBef>
              <a:spcAft>
                <a:spcPts val="0"/>
              </a:spcAft>
            </a:pPr>
            <a:r>
              <a:rPr>
                <a:latin typeface="Pretendard"/>
                <a:ea typeface="Pretendard"/>
                <a:cs typeface="Pretendard"/>
              </a:rPr>
              <a:t>출입국 AI 식별추적 사업 조사결과와 개인정보위 제7회 전체회의 브리핑</a:t>
            </a:r>
          </a:p>
          <a:p xmlns:a="http://schemas.openxmlformats.org/drawingml/2006/main">
            <a:pPr>
              <a:lnSpc>
                <a:spcPct val="125000"/>
              </a:lnSpc>
              <a:spcBef>
                <a:spcPts val="0"/>
              </a:spcBef>
              <a:spcAft>
                <a:spcPts val="0"/>
              </a:spcAft>
            </a:pPr>
            <a:r>
              <a:rPr>
                <a:latin typeface="Pretendard"/>
                <a:ea typeface="Pretendard"/>
                <a:cs typeface="Pretendard"/>
              </a:rPr>
              <a:t>https://www.korea.kr/briefing/policyBriefingView.do?newsId=156505203</a:t>
            </a:r>
          </a:p>
          <a:p xmlns:a="http://schemas.openxmlformats.org/drawingml/2006/main">
            <a:pPr>
              <a:lnSpc>
                <a:spcPct val="125000"/>
              </a:lnSpc>
              <a:spcBef>
                <a:spcPts val="0"/>
              </a:spcBef>
              <a:spcAft>
                <a:spcPts val="0"/>
              </a:spcAft>
            </a:pPr>
            <a:r>
              <a:rPr>
                <a:latin typeface="Pretendard"/>
                <a:ea typeface="Pretendard"/>
                <a:cs typeface="Pretendard"/>
              </a:rPr>
              <a:t>확인 범위: 정책브리핑의 정혜원 조사총괄과장 발표와 질의응답 전문. 위원회 의결서 첨부 전체는 미열람.</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본편에서 생긴 기술·명단·절차·운영 질문을 실제 사례로 확장한다.</a:t>
            </a:r>
          </a:p>
          <a:p xmlns:a="http://schemas.openxmlformats.org/drawingml/2006/main">
            <a:pPr>
              <a:lnSpc>
                <a:spcPct val="125000"/>
              </a:lnSpc>
              <a:spcBef>
                <a:spcPts val="0"/>
              </a:spcBef>
              <a:spcAft>
                <a:spcPts val="0"/>
              </a:spcAft>
            </a:pPr>
            <a:r>
              <a:rPr>
                <a:latin typeface="Pretendard"/>
                <a:ea typeface="Pretendard"/>
                <a:cs typeface="Pretendard"/>
              </a:rPr>
              <a:t>확장 질문: 보충 자료는 어떤 질문을 더 설명하는가?</a:t>
            </a:r>
          </a:p>
          <a:p xmlns:a="http://schemas.openxmlformats.org/drawingml/2006/main">
            <a:pPr>
              <a:lnSpc>
                <a:spcPct val="125000"/>
              </a:lnSpc>
              <a:spcBef>
                <a:spcPts val="0"/>
              </a:spcBef>
              <a:spcAft>
                <a:spcPts val="0"/>
              </a:spcAft>
            </a:pPr>
            <a:r>
              <a:rPr>
                <a:latin typeface="Pretendard"/>
                <a:ea typeface="Pretendard"/>
                <a:cs typeface="Pretendard"/>
              </a:rPr>
              <a:t>S11: 버스 광고 얼굴 오인 표시, 경찰의 삭제 설명, 실제 이름과 다른 표기</a:t>
            </a:r>
          </a:p>
          <a:p xmlns:a="http://schemas.openxmlformats.org/drawingml/2006/main">
            <a:pPr>
              <a:lnSpc>
                <a:spcPct val="125000"/>
              </a:lnSpc>
              <a:spcBef>
                <a:spcPts val="0"/>
              </a:spcBef>
              <a:spcAft>
                <a:spcPts val="0"/>
              </a:spcAft>
            </a:pPr>
            <a:r>
              <a:rPr>
                <a:latin typeface="Pretendard"/>
                <a:ea typeface="Pretendard"/>
                <a:cs typeface="Pretendard"/>
              </a:rPr>
              <a:t>적용 범위·한계: 원 웨이보 미확보; 벌금·체포 확인 없음</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S15: 소송 상대 로펌 변호사 배제 정책과 얼굴인식 이용 문제 제기</a:t>
            </a:r>
          </a:p>
          <a:p xmlns:a="http://schemas.openxmlformats.org/drawingml/2006/main">
            <a:pPr>
              <a:lnSpc>
                <a:spcPct val="125000"/>
              </a:lnSpc>
              <a:spcBef>
                <a:spcPts val="0"/>
              </a:spcBef>
              <a:spcAft>
                <a:spcPts val="0"/>
              </a:spcAft>
            </a:pPr>
            <a:r>
              <a:rPr>
                <a:latin typeface="Pretendard"/>
                <a:ea typeface="Pretendard"/>
                <a:cs typeface="Pretendard"/>
              </a:rPr>
              <a:t>적용 범위·한계: 위법 확정 판결 아님; 현재 정책 유지 여부 미확인</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S18: 아이폰 X의 Face ID 도입과 본인 확인 기능</a:t>
            </a:r>
          </a:p>
          <a:p xmlns:a="http://schemas.openxmlformats.org/drawingml/2006/main">
            <a:pPr>
              <a:lnSpc>
                <a:spcPct val="125000"/>
              </a:lnSpc>
              <a:spcBef>
                <a:spcPts val="0"/>
              </a:spcBef>
              <a:spcAft>
                <a:spcPts val="0"/>
              </a:spcAft>
            </a:pPr>
            <a:r>
              <a:rPr>
                <a:latin typeface="Pretendard"/>
                <a:ea typeface="Pretendard"/>
                <a:cs typeface="Pretendard"/>
              </a:rPr>
              <a:t>적용 범위·한계: 제조사 설명; 독립적 성능 평가 아님</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S20: 어려운 얼굴 사진 20쌍, 독립 판단 점수 평균, 전문가·알고리즘 결합 결과</a:t>
            </a:r>
          </a:p>
          <a:p xmlns:a="http://schemas.openxmlformats.org/drawingml/2006/main">
            <a:pPr>
              <a:lnSpc>
                <a:spcPct val="125000"/>
              </a:lnSpc>
              <a:spcBef>
                <a:spcPts val="0"/>
              </a:spcBef>
              <a:spcAft>
                <a:spcPts val="0"/>
              </a:spcAft>
            </a:pPr>
            <a:r>
              <a:rPr>
                <a:latin typeface="Pretendard"/>
                <a:ea typeface="Pretendard"/>
                <a:cs typeface="Pretendard"/>
              </a:rPr>
              <a:t>적용 범위·한계: 선정된 사진쌍 실험; 거리 실시간 운영에서의 일반적 안전성 보장은 아님</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D18: 개인정보위는 출입국관리법에 근거한 민감정보 처리, 출입국 심사 고도화 목적 내 학습, 관리·감독 아래의 처리위탁을 인정했다. 위탁사실·수탁자 미공개에는 과태료 100만 원을 부과했다. 이상행동 추적용 CCTV 영상은 실제 이용되지 않아 위반 판단을 하지 않았고, 재추진 시 동의·법적 근거·비식별화 경로를 제시했다.</a:t>
            </a:r>
          </a:p>
          <a:p xmlns:a="http://schemas.openxmlformats.org/drawingml/2006/main">
            <a:pPr>
              <a:lnSpc>
                <a:spcPct val="125000"/>
              </a:lnSpc>
              <a:spcBef>
                <a:spcPts val="0"/>
              </a:spcBef>
              <a:spcAft>
                <a:spcPts val="0"/>
              </a:spcAft>
            </a:pPr>
            <a:r>
              <a:rPr>
                <a:latin typeface="Pretendard"/>
                <a:ea typeface="Pretendard"/>
                <a:cs typeface="Pretendard"/>
              </a:rPr>
              <a:t>적용 범위·한계: 2022년 출입국 심사 사업의 개별 판단이다. 브리핑에서 발표한 행정 판단과 D09의 2026년 헌법소원 각하를 각각의 판단기관·대상에 귀속한다.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W8-45 / 보충 자료 / NECESSARY BASELINE</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이전 연결: 본편 판단 활동이 끝난 뒤 보충 자료는 개별 질문이 있을 때 선택한다.</a:t>
            </a:r>
          </a:p>
          <a:p xmlns:a="http://schemas.openxmlformats.org/drawingml/2006/main">
            <a:pPr>
              <a:lnSpc>
                <a:spcPct val="125000"/>
              </a:lnSpc>
              <a:spcBef>
                <a:spcPts val="0"/>
              </a:spcBef>
              <a:spcAft>
                <a:spcPts val="0"/>
              </a:spcAft>
            </a:pPr>
            <a:r>
              <a:rPr>
                <a:latin typeface="Pretendard"/>
                <a:ea typeface="Pretendard"/>
                <a:cs typeface="Pretendard"/>
              </a:rPr>
              <a:t>다음 연결: 익숙한 기기의 본인 확인은 거리의 명단 검색과 과업을 구분할 출발점이 된다.</a:t>
            </a:r>
          </a:p>
          <a:p xmlns:a="http://schemas.openxmlformats.org/drawingml/2006/main">
            <a:pPr>
              <a:lnSpc>
                <a:spcPct val="125000"/>
              </a:lnSpc>
              <a:spcBef>
                <a:spcPts val="0"/>
              </a:spcBef>
              <a:spcAft>
                <a:spcPts val="0"/>
              </a:spcAft>
            </a:pPr>
            <a:r>
              <a:rPr>
                <a:latin typeface="Pretendard"/>
                <a:ea typeface="Pretendard"/>
                <a:cs typeface="Pretendard"/>
              </a:rPr>
              <a:t>운영시간 초안: 0분.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휴대전화의 얼굴 잠금 해제는 익숙한 1:1 확인의 예입니다. 이용자가 등록한 얼굴과 지금 제시한 얼굴이 같은지 묻습니다. 거리의 1:N 검색은 명단 속 여러 사람 중 후보를 찾고, 명단 밖 통행인의 얼굴도 입력받습니다. 사용자의 행동과 대조 범위가 달라지므로 각 과업에 맞는 성능과 권리 기준이 필요합니다.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S18 | Apple | 2017-09-12</a:t>
            </a:r>
          </a:p>
          <a:p xmlns:a="http://schemas.openxmlformats.org/drawingml/2006/main">
            <a:pPr>
              <a:lnSpc>
                <a:spcPct val="125000"/>
              </a:lnSpc>
              <a:spcBef>
                <a:spcPts val="0"/>
              </a:spcBef>
              <a:spcAft>
                <a:spcPts val="0"/>
              </a:spcAft>
            </a:pPr>
            <a:r>
              <a:rPr>
                <a:latin typeface="Pretendard"/>
                <a:ea typeface="Pretendard"/>
                <a:cs typeface="Pretendard"/>
              </a:rPr>
              <a:t>미래가 바로 여기에: iPhone X</a:t>
            </a:r>
          </a:p>
          <a:p xmlns:a="http://schemas.openxmlformats.org/drawingml/2006/main">
            <a:pPr>
              <a:lnSpc>
                <a:spcPct val="125000"/>
              </a:lnSpc>
              <a:spcBef>
                <a:spcPts val="0"/>
              </a:spcBef>
              <a:spcAft>
                <a:spcPts val="0"/>
              </a:spcAft>
            </a:pPr>
            <a:r>
              <a:rPr>
                <a:latin typeface="Pretendard"/>
                <a:ea typeface="Pretendard"/>
                <a:cs typeface="Pretendard"/>
              </a:rPr>
              <a:t>https://www.apple.com/kr/newsroom/2017/09/the-future-is-here-iphone-x/</a:t>
            </a:r>
          </a:p>
          <a:p xmlns:a="http://schemas.openxmlformats.org/drawingml/2006/main">
            <a:pPr>
              <a:lnSpc>
                <a:spcPct val="125000"/>
              </a:lnSpc>
              <a:spcBef>
                <a:spcPts val="0"/>
              </a:spcBef>
              <a:spcAft>
                <a:spcPts val="0"/>
              </a:spcAft>
            </a:pPr>
            <a:r>
              <a:rPr>
                <a:latin typeface="Pretendard"/>
                <a:ea typeface="Pretendard"/>
                <a:cs typeface="Pretendard"/>
              </a:rPr>
              <a:t>확인 범위: TrueDepth 카메라와 Face ID 설명</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S19 | Apple Support | 갱신형 기술 지원 페이지</a:t>
            </a:r>
          </a:p>
          <a:p xmlns:a="http://schemas.openxmlformats.org/drawingml/2006/main">
            <a:pPr>
              <a:lnSpc>
                <a:spcPct val="125000"/>
              </a:lnSpc>
              <a:spcBef>
                <a:spcPts val="0"/>
              </a:spcBef>
              <a:spcAft>
                <a:spcPts val="0"/>
              </a:spcAft>
            </a:pPr>
            <a:r>
              <a:rPr>
                <a:latin typeface="Pretendard"/>
                <a:ea typeface="Pretendard"/>
                <a:cs typeface="Pretendard"/>
              </a:rPr>
              <a:t>About Face ID advanced technology</a:t>
            </a:r>
          </a:p>
          <a:p xmlns:a="http://schemas.openxmlformats.org/drawingml/2006/main">
            <a:pPr>
              <a:lnSpc>
                <a:spcPct val="125000"/>
              </a:lnSpc>
              <a:spcBef>
                <a:spcPts val="0"/>
              </a:spcBef>
              <a:spcAft>
                <a:spcPts val="0"/>
              </a:spcAft>
            </a:pPr>
            <a:r>
              <a:rPr>
                <a:latin typeface="Pretendard"/>
                <a:ea typeface="Pretendard"/>
                <a:cs typeface="Pretendard"/>
              </a:rPr>
              <a:t>https://support.apple.com/en-us/102381</a:t>
            </a:r>
          </a:p>
          <a:p xmlns:a="http://schemas.openxmlformats.org/drawingml/2006/main">
            <a:pPr>
              <a:lnSpc>
                <a:spcPct val="125000"/>
              </a:lnSpc>
              <a:spcBef>
                <a:spcPts val="0"/>
              </a:spcBef>
              <a:spcAft>
                <a:spcPts val="0"/>
              </a:spcAft>
            </a:pPr>
            <a:r>
              <a:rPr>
                <a:latin typeface="Pretendard"/>
                <a:ea typeface="Pretendard"/>
                <a:cs typeface="Pretendard"/>
              </a:rPr>
              <a:t>확인 범위: How Face ID works 및 Security safeguards</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F02 | 잉글랜드·웨일스 항소법원 / [2020] EWCA Civ 1058 | 2020-08-11</a:t>
            </a:r>
          </a:p>
          <a:p xmlns:a="http://schemas.openxmlformats.org/drawingml/2006/main">
            <a:pPr>
              <a:lnSpc>
                <a:spcPct val="125000"/>
              </a:lnSpc>
              <a:spcBef>
                <a:spcPts val="0"/>
              </a:spcBef>
              <a:spcAft>
                <a:spcPts val="0"/>
              </a:spcAft>
            </a:pPr>
            <a:r>
              <a:rPr>
                <a:latin typeface="Pretendard"/>
                <a:ea typeface="Pretendard"/>
                <a:cs typeface="Pretendard"/>
              </a:rPr>
              <a:t>R (Bridges) v Chief Constable of South Wales Police</a:t>
            </a:r>
          </a:p>
          <a:p xmlns:a="http://schemas.openxmlformats.org/drawingml/2006/main">
            <a:pPr>
              <a:lnSpc>
                <a:spcPct val="125000"/>
              </a:lnSpc>
              <a:spcBef>
                <a:spcPts val="0"/>
              </a:spcBef>
              <a:spcAft>
                <a:spcPts val="0"/>
              </a:spcAft>
            </a:pPr>
            <a:r>
              <a:rPr>
                <a:latin typeface="Pretendard"/>
                <a:ea typeface="Pretendard"/>
                <a:cs typeface="Pretendard"/>
              </a:rPr>
              <a:t>https://www.judiciary.uk/wp-content/uploads/2020/08/R-Bridges-v-CC-South-Wales-ors-Judgment.pdf</a:t>
            </a:r>
          </a:p>
          <a:p xmlns:a="http://schemas.openxmlformats.org/drawingml/2006/main">
            <a:pPr>
              <a:lnSpc>
                <a:spcPct val="125000"/>
              </a:lnSpc>
              <a:spcBef>
                <a:spcPts val="0"/>
              </a:spcBef>
              <a:spcAft>
                <a:spcPts val="0"/>
              </a:spcAft>
            </a:pPr>
            <a:r>
              <a:rPr>
                <a:latin typeface="Pretendard"/>
                <a:ea typeface="Pretendard"/>
                <a:cs typeface="Pretendard"/>
              </a:rPr>
              <a:t>확인 범위: 공식 판결 PDF 59쪽의 주요 판단·결론.</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1:1 본인 확인과 1:N 검색의 범위·참여 조건이 다르다.</a:t>
            </a:r>
          </a:p>
          <a:p xmlns:a="http://schemas.openxmlformats.org/drawingml/2006/main">
            <a:pPr>
              <a:lnSpc>
                <a:spcPct val="125000"/>
              </a:lnSpc>
              <a:spcBef>
                <a:spcPts val="0"/>
              </a:spcBef>
              <a:spcAft>
                <a:spcPts val="0"/>
              </a:spcAft>
            </a:pPr>
            <a:r>
              <a:rPr>
                <a:latin typeface="Pretendard"/>
                <a:ea typeface="Pretendard"/>
                <a:cs typeface="Pretendard"/>
              </a:rPr>
              <a:t>확장 질문: 본인 확인과 명단 검색은 무엇이 다른가?</a:t>
            </a:r>
          </a:p>
          <a:p xmlns:a="http://schemas.openxmlformats.org/drawingml/2006/main">
            <a:pPr>
              <a:lnSpc>
                <a:spcPct val="125000"/>
              </a:lnSpc>
              <a:spcBef>
                <a:spcPts val="0"/>
              </a:spcBef>
              <a:spcAft>
                <a:spcPts val="0"/>
              </a:spcAft>
            </a:pPr>
            <a:r>
              <a:rPr>
                <a:latin typeface="Pretendard"/>
                <a:ea typeface="Pretendard"/>
                <a:cs typeface="Pretendard"/>
              </a:rPr>
              <a:t>S18: 아이폰 X의 Face ID 도입과 본인 확인 기능</a:t>
            </a:r>
          </a:p>
          <a:p xmlns:a="http://schemas.openxmlformats.org/drawingml/2006/main">
            <a:pPr>
              <a:lnSpc>
                <a:spcPct val="125000"/>
              </a:lnSpc>
              <a:spcBef>
                <a:spcPts val="0"/>
              </a:spcBef>
              <a:spcAft>
                <a:spcPts val="0"/>
              </a:spcAft>
            </a:pPr>
            <a:r>
              <a:rPr>
                <a:latin typeface="Pretendard"/>
                <a:ea typeface="Pretendard"/>
                <a:cs typeface="Pretendard"/>
              </a:rPr>
              <a:t>적용 범위·한계: 제조사 설명; 독립적 성능 평가 아님</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S19: 등록된 얼굴과의 비교, 깊이·적외선 정보 이용</a:t>
            </a:r>
          </a:p>
          <a:p xmlns:a="http://schemas.openxmlformats.org/drawingml/2006/main">
            <a:pPr>
              <a:lnSpc>
                <a:spcPct val="125000"/>
              </a:lnSpc>
              <a:spcBef>
                <a:spcPts val="0"/>
              </a:spcBef>
              <a:spcAft>
                <a:spcPts val="0"/>
              </a:spcAft>
            </a:pPr>
            <a:r>
              <a:rPr>
                <a:latin typeface="Pretendard"/>
                <a:ea typeface="Pretendard"/>
                <a:cs typeface="Pretendard"/>
              </a:rPr>
              <a:t>적용 범위·한계: 페이지 확인일 2026-10-08; 휴대전화 수치를 공공 CCTV에 전용하지 않음</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F02: 감시대상자와 배치 장소를 정하는 재량의 통제 부족, 개인정보 영향평가 및 평등의무 문제를 인정해 항소를 일부 받아들였다.</a:t>
            </a:r>
          </a:p>
          <a:p xmlns:a="http://schemas.openxmlformats.org/drawingml/2006/main">
            <a:pPr>
              <a:lnSpc>
                <a:spcPct val="125000"/>
              </a:lnSpc>
              <a:spcBef>
                <a:spcPts val="0"/>
              </a:spcBef>
              <a:spcAft>
                <a:spcPts val="0"/>
              </a:spcAft>
            </a:pPr>
            <a:r>
              <a:rPr>
                <a:latin typeface="Pretendard"/>
                <a:ea typeface="Pretendard"/>
                <a:cs typeface="Pretendard"/>
              </a:rPr>
              <a:t>적용 범위·한계: 실시간 얼굴인식 기술 자체를 영구 전면 금지한 판결이 아니다. 당시 정책·기록에 대한 판단이다.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W8-46 / 보충 자료 / INDIRECT</a:t>
            </a:r>
          </a:p>
          <a:p xmlns:a="http://schemas.openxmlformats.org/drawingml/2006/main">
            <a:pPr>
              <a:lnSpc>
                <a:spcPct val="125000"/>
              </a:lnSpc>
              <a:spcBef>
                <a:spcPts val="0"/>
              </a:spcBef>
              <a:spcAft>
                <a:spcPts val="0"/>
              </a:spcAft>
            </a:pPr>
            <a:r>
              <a:rPr>
                <a:latin typeface="Pretendard"/>
                <a:ea typeface="Pretendard"/>
                <a:cs typeface="Pretendard"/>
              </a:rPr>
              <a:t>Apple의 소비자용 오류 확률을 거리의 식별 확률로 사용하지 않는다.</a:t>
            </a:r>
          </a:p>
          <a:p xmlns:a="http://schemas.openxmlformats.org/drawingml/2006/main">
            <a:pPr>
              <a:lnSpc>
                <a:spcPct val="125000"/>
              </a:lnSpc>
              <a:spcBef>
                <a:spcPts val="0"/>
              </a:spcBef>
              <a:spcAft>
                <a:spcPts val="0"/>
              </a:spcAft>
            </a:pPr>
            <a:r>
              <a:rPr>
                <a:latin typeface="Pretendard"/>
                <a:ea typeface="Pretendard"/>
                <a:cs typeface="Pretendard"/>
              </a:rPr>
              <a:t>이전 연결: 익숙한 기기의 본인 확인은 거리의 명단 검색과 과업을 구분할 출발점이 된다.</a:t>
            </a:r>
          </a:p>
          <a:p xmlns:a="http://schemas.openxmlformats.org/drawingml/2006/main">
            <a:pPr>
              <a:lnSpc>
                <a:spcPct val="125000"/>
              </a:lnSpc>
              <a:spcBef>
                <a:spcPts val="0"/>
              </a:spcBef>
              <a:spcAft>
                <a:spcPts val="0"/>
              </a:spcAft>
            </a:pPr>
            <a:r>
              <a:rPr>
                <a:latin typeface="Pretendard"/>
                <a:ea typeface="Pretendard"/>
                <a:cs typeface="Pretendard"/>
              </a:rPr>
              <a:t>다음 연결: 대조 과업을 구분한 뒤 얼굴 이미지와 실제 사람·행위를 연결하는 오류를 살핀다.</a:t>
            </a:r>
          </a:p>
          <a:p xmlns:a="http://schemas.openxmlformats.org/drawingml/2006/main">
            <a:pPr>
              <a:lnSpc>
                <a:spcPct val="125000"/>
              </a:lnSpc>
              <a:spcBef>
                <a:spcPts val="0"/>
              </a:spcBef>
              <a:spcAft>
                <a:spcPts val="0"/>
              </a:spcAft>
            </a:pPr>
            <a:r>
              <a:rPr>
                <a:latin typeface="Pretendard"/>
                <a:ea typeface="Pretendard"/>
                <a:cs typeface="Pretendard"/>
              </a:rPr>
              <a:t>운영시간 초안: 0분.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이 사건의 얼굴은 현장을 걷던 사람의 얼굴이 아니라 버스 광고에 인쇄된 얼굴이었습니다. 시스템의 표시에는 실제 사람과 이미지 속 인물, 보행 행위의 연결 문제가 들어 있습니다. 경찰은 오류를 인정하고 표시를 지웠습니다. 얼굴을 찾는 단계와 그 얼굴에 특정 행동을 귀속시키는 단계가 각각 검토 대상이라는 점을 보여 줍니다.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S11 | 中国宁波网·现代金报 / 浙江在线 | 2018-11-22</a:t>
            </a:r>
          </a:p>
          <a:p xmlns:a="http://schemas.openxmlformats.org/drawingml/2006/main">
            <a:pPr>
              <a:lnSpc>
                <a:spcPct val="125000"/>
              </a:lnSpc>
              <a:spcBef>
                <a:spcPts val="0"/>
              </a:spcBef>
              <a:spcAft>
                <a:spcPts val="0"/>
              </a:spcAft>
            </a:pPr>
            <a:r>
              <a:rPr>
                <a:latin typeface="Pretendard"/>
                <a:ea typeface="Pretendard"/>
                <a:cs typeface="Pretendard"/>
              </a:rPr>
              <a:t>董明珠宁波闯红灯？交警：这是一次误识别</a:t>
            </a:r>
          </a:p>
          <a:p xmlns:a="http://schemas.openxmlformats.org/drawingml/2006/main">
            <a:pPr>
              <a:lnSpc>
                <a:spcPct val="125000"/>
              </a:lnSpc>
              <a:spcBef>
                <a:spcPts val="0"/>
              </a:spcBef>
              <a:spcAft>
                <a:spcPts val="0"/>
              </a:spcAft>
            </a:pPr>
            <a:r>
              <a:rPr>
                <a:latin typeface="Pretendard"/>
                <a:ea typeface="Pretendard"/>
                <a:cs typeface="Pretendard"/>
              </a:rPr>
              <a:t>https://zjnews.zjol.com.cn/zjnews/nbnews/201811/t20181122_8807787.shtml</a:t>
            </a:r>
          </a:p>
          <a:p xmlns:a="http://schemas.openxmlformats.org/drawingml/2006/main">
            <a:pPr>
              <a:lnSpc>
                <a:spcPct val="125000"/>
              </a:lnSpc>
              <a:spcBef>
                <a:spcPts val="0"/>
              </a:spcBef>
              <a:spcAft>
                <a:spcPts val="0"/>
              </a:spcAft>
            </a:pPr>
            <a:r>
              <a:rPr>
                <a:latin typeface="Pretendard"/>
                <a:ea typeface="Pretendard"/>
                <a:cs typeface="Pretendard"/>
              </a:rPr>
              <a:t>확인 범위: 11월 21일 사건 및 교통경찰 17시 28분 설명</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이미지 속 얼굴과 실제 행위자를 구분하는 맥락 확인이 필요하다.</a:t>
            </a:r>
          </a:p>
          <a:p xmlns:a="http://schemas.openxmlformats.org/drawingml/2006/main">
            <a:pPr>
              <a:lnSpc>
                <a:spcPct val="125000"/>
              </a:lnSpc>
              <a:spcBef>
                <a:spcPts val="0"/>
              </a:spcBef>
              <a:spcAft>
                <a:spcPts val="0"/>
              </a:spcAft>
            </a:pPr>
            <a:r>
              <a:rPr>
                <a:latin typeface="Pretendard"/>
                <a:ea typeface="Pretendard"/>
                <a:cs typeface="Pretendard"/>
              </a:rPr>
              <a:t>확장 질문: 시스템은 얼굴의 존재와 사람의 행동을 어떻게 연결했는가?</a:t>
            </a:r>
          </a:p>
          <a:p xmlns:a="http://schemas.openxmlformats.org/drawingml/2006/main">
            <a:pPr>
              <a:lnSpc>
                <a:spcPct val="125000"/>
              </a:lnSpc>
              <a:spcBef>
                <a:spcPts val="0"/>
              </a:spcBef>
              <a:spcAft>
                <a:spcPts val="0"/>
              </a:spcAft>
            </a:pPr>
            <a:r>
              <a:rPr>
                <a:latin typeface="Pretendard"/>
                <a:ea typeface="Pretendard"/>
                <a:cs typeface="Pretendard"/>
              </a:rPr>
              <a:t>S11: 버스 광고 얼굴 오인 표시, 경찰의 삭제 설명, 실제 이름과 다른 표기</a:t>
            </a:r>
          </a:p>
          <a:p xmlns:a="http://schemas.openxmlformats.org/drawingml/2006/main">
            <a:pPr>
              <a:lnSpc>
                <a:spcPct val="125000"/>
              </a:lnSpc>
              <a:spcBef>
                <a:spcPts val="0"/>
              </a:spcBef>
              <a:spcAft>
                <a:spcPts val="0"/>
              </a:spcAft>
            </a:pPr>
            <a:r>
              <a:rPr>
                <a:latin typeface="Pretendard"/>
                <a:ea typeface="Pretendard"/>
                <a:cs typeface="Pretendard"/>
              </a:rPr>
              <a:t>적용 범위·한계: 원 웨이보 미확보; 벌금·체포 확인 없음</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W8-47 / 보충 자료 / INDIRECT</a:t>
            </a:r>
          </a:p>
          <a:p xmlns:a="http://schemas.openxmlformats.org/drawingml/2006/main">
            <a:pPr>
              <a:lnSpc>
                <a:spcPct val="125000"/>
              </a:lnSpc>
              <a:spcBef>
                <a:spcPts val="0"/>
              </a:spcBef>
              <a:spcAft>
                <a:spcPts val="0"/>
              </a:spcAft>
            </a:pPr>
            <a:r>
              <a:rPr>
                <a:latin typeface="Pretendard"/>
                <a:ea typeface="Pretendard"/>
                <a:cs typeface="Pretendard"/>
              </a:rPr>
              <a:t>정확한 신원 매칭 성공·실제 과태료 부과를 주장하지 않는다. 화면에 표시된 마스킹 이름이 달랐다는 세부는 원자료에 보존.</a:t>
            </a:r>
          </a:p>
          <a:p xmlns:a="http://schemas.openxmlformats.org/drawingml/2006/main">
            <a:pPr>
              <a:lnSpc>
                <a:spcPct val="125000"/>
              </a:lnSpc>
              <a:spcBef>
                <a:spcPts val="0"/>
              </a:spcBef>
              <a:spcAft>
                <a:spcPts val="0"/>
              </a:spcAft>
            </a:pPr>
            <a:r>
              <a:rPr>
                <a:latin typeface="Pretendard"/>
                <a:ea typeface="Pretendard"/>
                <a:cs typeface="Pretendard"/>
              </a:rPr>
              <a:t>이전 연결: 대조 과업을 구분한 뒤 얼굴 이미지와 실제 사람·행위를 연결하는 오류를 살핀다.</a:t>
            </a:r>
          </a:p>
          <a:p xmlns:a="http://schemas.openxmlformats.org/drawingml/2006/main">
            <a:pPr>
              <a:lnSpc>
                <a:spcPct val="125000"/>
              </a:lnSpc>
              <a:spcBef>
                <a:spcPts val="0"/>
              </a:spcBef>
              <a:spcAft>
                <a:spcPts val="0"/>
              </a:spcAft>
            </a:pPr>
            <a:r>
              <a:rPr>
                <a:latin typeface="Pretendard"/>
                <a:ea typeface="Pretendard"/>
                <a:cs typeface="Pretendard"/>
              </a:rPr>
              <a:t>다음 연결: 맥락을 정확히 연결한 뒤에도 검색 명단에 포함할 목적과 이유가 남는다.</a:t>
            </a:r>
          </a:p>
          <a:p xmlns:a="http://schemas.openxmlformats.org/drawingml/2006/main">
            <a:pPr>
              <a:lnSpc>
                <a:spcPct val="125000"/>
              </a:lnSpc>
              <a:spcBef>
                <a:spcPts val="0"/>
              </a:spcBef>
              <a:spcAft>
                <a:spcPts val="0"/>
              </a:spcAft>
            </a:pPr>
            <a:r>
              <a:rPr>
                <a:latin typeface="Pretendard"/>
                <a:ea typeface="Pretendard"/>
                <a:cs typeface="Pretendard"/>
              </a:rPr>
              <a:t>운영시간 초안: 0분.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공연장의 얼굴인식은 범죄 용의자 명단과 다른 목적의 명단을 사용했습니다. 회사와 소송 관계에 있는 로펌의 변호사라는 이유로 출입을 제한한 것입니다. 뉴욕주 법무장관은 관련 정보 제출을 요구했습니다. 식별이 정확한지에 더해, 명단에 포함될 이유와 그에 따른 불이익이 정당한지라는 질문이 남습니다.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S15 | New York State Office of the Attorney General | 2023-01-25</a:t>
            </a:r>
          </a:p>
          <a:p xmlns:a="http://schemas.openxmlformats.org/drawingml/2006/main">
            <a:pPr>
              <a:lnSpc>
                <a:spcPct val="125000"/>
              </a:lnSpc>
              <a:spcBef>
                <a:spcPts val="0"/>
              </a:spcBef>
              <a:spcAft>
                <a:spcPts val="0"/>
              </a:spcAft>
            </a:pPr>
            <a:r>
              <a:rPr>
                <a:latin typeface="Pretendard"/>
                <a:ea typeface="Pretendard"/>
                <a:cs typeface="Pretendard"/>
              </a:rPr>
              <a:t>Attorney General James Seeks Information from Madison Square Garden Regarding Use of Facial Recognition Technology to Prohibit Ticket Holders from Entering Venues</a:t>
            </a:r>
          </a:p>
          <a:p xmlns:a="http://schemas.openxmlformats.org/drawingml/2006/main">
            <a:pPr>
              <a:lnSpc>
                <a:spcPct val="125000"/>
              </a:lnSpc>
              <a:spcBef>
                <a:spcPts val="0"/>
              </a:spcBef>
              <a:spcAft>
                <a:spcPts val="0"/>
              </a:spcAft>
            </a:pPr>
            <a:r>
              <a:rPr>
                <a:latin typeface="Pretendard"/>
                <a:ea typeface="Pretendard"/>
                <a:cs typeface="Pretendard"/>
              </a:rPr>
              <a:t>https://ag.ny.gov/press-release/2023/attorney-general-james-seeks-information-madison-square-garden-regarding-use</a:t>
            </a:r>
          </a:p>
          <a:p xmlns:a="http://schemas.openxmlformats.org/drawingml/2006/main">
            <a:pPr>
              <a:lnSpc>
                <a:spcPct val="125000"/>
              </a:lnSpc>
              <a:spcBef>
                <a:spcPts val="0"/>
              </a:spcBef>
              <a:spcAft>
                <a:spcPts val="0"/>
              </a:spcAft>
            </a:pPr>
            <a:r>
              <a:rPr>
                <a:latin typeface="Pretendard"/>
                <a:ea typeface="Pretendard"/>
                <a:cs typeface="Pretendard"/>
              </a:rPr>
              <a:t>확인 범위: 소송 상대 로펌 소속 변호사 출입 제한 설명</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S16 | New York State Office of the Attorney General | 2023-01-25</a:t>
            </a:r>
          </a:p>
          <a:p xmlns:a="http://schemas.openxmlformats.org/drawingml/2006/main">
            <a:pPr>
              <a:lnSpc>
                <a:spcPct val="125000"/>
              </a:lnSpc>
              <a:spcBef>
                <a:spcPts val="0"/>
              </a:spcBef>
              <a:spcAft>
                <a:spcPts val="0"/>
              </a:spcAft>
            </a:pPr>
            <a:r>
              <a:rPr>
                <a:latin typeface="Pretendard"/>
                <a:ea typeface="Pretendard"/>
                <a:cs typeface="Pretendard"/>
              </a:rPr>
              <a:t>Letter to Madison Square Garden Entertainment Corp.</a:t>
            </a:r>
          </a:p>
          <a:p xmlns:a="http://schemas.openxmlformats.org/drawingml/2006/main">
            <a:pPr>
              <a:lnSpc>
                <a:spcPct val="125000"/>
              </a:lnSpc>
              <a:spcBef>
                <a:spcPts val="0"/>
              </a:spcBef>
              <a:spcAft>
                <a:spcPts val="0"/>
              </a:spcAft>
            </a:pPr>
            <a:r>
              <a:rPr>
                <a:latin typeface="Pretendard"/>
                <a:ea typeface="Pretendard"/>
                <a:cs typeface="Pretendard"/>
              </a:rPr>
              <a:t>https://ag.ny.gov/sites/default/files/2023-01/nys_oag_letter_to_madison_square_garden_entertainment_corp.pdf</a:t>
            </a:r>
          </a:p>
          <a:p xmlns:a="http://schemas.openxmlformats.org/drawingml/2006/main">
            <a:pPr>
              <a:lnSpc>
                <a:spcPct val="125000"/>
              </a:lnSpc>
              <a:spcBef>
                <a:spcPts val="0"/>
              </a:spcBef>
              <a:spcAft>
                <a:spcPts val="0"/>
              </a:spcAft>
            </a:pPr>
            <a:r>
              <a:rPr>
                <a:latin typeface="Pretendard"/>
                <a:ea typeface="Pretendard"/>
                <a:cs typeface="Pretendard"/>
              </a:rPr>
              <a:t>확인 범위: 2쪽 서한 전체</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검색 명단의 목적·등록 사유·불이익도 독립적으로 심사해야 한다.</a:t>
            </a:r>
          </a:p>
          <a:p xmlns:a="http://schemas.openxmlformats.org/drawingml/2006/main">
            <a:pPr>
              <a:lnSpc>
                <a:spcPct val="125000"/>
              </a:lnSpc>
              <a:spcBef>
                <a:spcPts val="0"/>
              </a:spcBef>
              <a:spcAft>
                <a:spcPts val="0"/>
              </a:spcAft>
            </a:pPr>
            <a:r>
              <a:rPr>
                <a:latin typeface="Pretendard"/>
                <a:ea typeface="Pretendard"/>
                <a:cs typeface="Pretendard"/>
              </a:rPr>
              <a:t>확장 질문: 얼굴인식의 정확도 외에 어떤 명단 기준을 검토해야 하는가?</a:t>
            </a:r>
          </a:p>
          <a:p xmlns:a="http://schemas.openxmlformats.org/drawingml/2006/main">
            <a:pPr>
              <a:lnSpc>
                <a:spcPct val="125000"/>
              </a:lnSpc>
              <a:spcBef>
                <a:spcPts val="0"/>
              </a:spcBef>
              <a:spcAft>
                <a:spcPts val="0"/>
              </a:spcAft>
            </a:pPr>
            <a:r>
              <a:rPr>
                <a:latin typeface="Pretendard"/>
                <a:ea typeface="Pretendard"/>
                <a:cs typeface="Pretendard"/>
              </a:rPr>
              <a:t>S15: 소송 상대 로펌 변호사 배제 정책과 얼굴인식 이용 문제 제기</a:t>
            </a:r>
          </a:p>
          <a:p xmlns:a="http://schemas.openxmlformats.org/drawingml/2006/main">
            <a:pPr>
              <a:lnSpc>
                <a:spcPct val="125000"/>
              </a:lnSpc>
              <a:spcBef>
                <a:spcPts val="0"/>
              </a:spcBef>
              <a:spcAft>
                <a:spcPts val="0"/>
              </a:spcAft>
            </a:pPr>
            <a:r>
              <a:rPr>
                <a:latin typeface="Pretendard"/>
                <a:ea typeface="Pretendard"/>
                <a:cs typeface="Pretendard"/>
              </a:rPr>
              <a:t>적용 범위·한계: 위법 확정 판결 아님; 현재 정책 유지 여부 미확인</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S16: 배제 정책·얼굴인식 운용과 관련한 회사 설명 요청</a:t>
            </a:r>
          </a:p>
          <a:p xmlns:a="http://schemas.openxmlformats.org/drawingml/2006/main">
            <a:pPr>
              <a:lnSpc>
                <a:spcPct val="125000"/>
              </a:lnSpc>
              <a:spcBef>
                <a:spcPts val="0"/>
              </a:spcBef>
              <a:spcAft>
                <a:spcPts val="0"/>
              </a:spcAft>
            </a:pPr>
            <a:r>
              <a:rPr>
                <a:latin typeface="Pretendard"/>
                <a:ea typeface="Pretendard"/>
                <a:cs typeface="Pretendard"/>
              </a:rPr>
              <a:t>적용 범위·한계: 회사 답변이나 후속 판결은 이번 보완에서 확인하지 않음</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W8-48 / 보충 자료 / INDIRECT</a:t>
            </a:r>
          </a:p>
          <a:p xmlns:a="http://schemas.openxmlformats.org/drawingml/2006/main">
            <a:pPr>
              <a:lnSpc>
                <a:spcPct val="125000"/>
              </a:lnSpc>
              <a:spcBef>
                <a:spcPts val="0"/>
              </a:spcBef>
              <a:spcAft>
                <a:spcPts val="0"/>
              </a:spcAft>
            </a:pPr>
            <a:r>
              <a:rPr>
                <a:latin typeface="Pretendard"/>
                <a:ea typeface="Pretendard"/>
                <a:cs typeface="Pretendard"/>
              </a:rPr>
              <a:t>2023년 정보요구·조사 단계 자료. 확정 위법 판결·2026년 현행 운영상태로 표현하지 않는다.</a:t>
            </a:r>
          </a:p>
          <a:p xmlns:a="http://schemas.openxmlformats.org/drawingml/2006/main">
            <a:pPr>
              <a:lnSpc>
                <a:spcPct val="125000"/>
              </a:lnSpc>
              <a:spcBef>
                <a:spcPts val="0"/>
              </a:spcBef>
              <a:spcAft>
                <a:spcPts val="0"/>
              </a:spcAft>
            </a:pPr>
            <a:r>
              <a:rPr>
                <a:latin typeface="Pretendard"/>
                <a:ea typeface="Pretendard"/>
                <a:cs typeface="Pretendard"/>
              </a:rPr>
              <a:t>이전 연결: 맥락을 정확히 연결한 뒤에도 검색 명단에 포함할 목적과 이유가 남는다.</a:t>
            </a:r>
          </a:p>
          <a:p xmlns:a="http://schemas.openxmlformats.org/drawingml/2006/main">
            <a:pPr>
              <a:lnSpc>
                <a:spcPct val="125000"/>
              </a:lnSpc>
              <a:spcBef>
                <a:spcPts val="0"/>
              </a:spcBef>
              <a:spcAft>
                <a:spcPts val="0"/>
              </a:spcAft>
            </a:pPr>
            <a:r>
              <a:rPr>
                <a:latin typeface="Pretendard"/>
                <a:ea typeface="Pretendard"/>
                <a:cs typeface="Pretendard"/>
              </a:rPr>
              <a:t>다음 연결: 명단 목적과 별도로 독립된 사람·알고리즘 판단의 결합을 실험할 수 있다.</a:t>
            </a:r>
          </a:p>
          <a:p xmlns:a="http://schemas.openxmlformats.org/drawingml/2006/main">
            <a:pPr>
              <a:lnSpc>
                <a:spcPct val="125000"/>
              </a:lnSpc>
              <a:spcBef>
                <a:spcPts val="0"/>
              </a:spcBef>
              <a:spcAft>
                <a:spcPts val="0"/>
              </a:spcAft>
            </a:pPr>
            <a:r>
              <a:rPr>
                <a:latin typeface="Pretendard"/>
                <a:ea typeface="Pretendard"/>
                <a:cs typeface="Pretendard"/>
              </a:rPr>
              <a:t>운영시간 초안: 0분.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이 연구는 사람과 알고리즘이 각각 사진쌍을 평가한 뒤 연구진이 점수를 결합한 실험입니다. 같은 사람인 사진 12쌍과 다른 사람인 사진 8쌍, 총 20쌍의 어려운 문제를 사용했습니다. 연구진은 점수 척도를 맞춰 평균했고, 전문가와 성능이 높은 알고리즘의 결합에서 좋은 정확도가 나타났습니다. 두 판단의 정보가 서로 얼마나 겹치고 보완되는지 검토하는 연구입니다.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S20 | Phillips et al. | 2018</a:t>
            </a:r>
          </a:p>
          <a:p xmlns:a="http://schemas.openxmlformats.org/drawingml/2006/main">
            <a:pPr>
              <a:lnSpc>
                <a:spcPct val="125000"/>
              </a:lnSpc>
              <a:spcBef>
                <a:spcPts val="0"/>
              </a:spcBef>
              <a:spcAft>
                <a:spcPts val="0"/>
              </a:spcAft>
            </a:pPr>
            <a:r>
              <a:rPr>
                <a:latin typeface="Pretendard"/>
                <a:ea typeface="Pretendard"/>
                <a:cs typeface="Pretendard"/>
              </a:rPr>
              <a:t>Face recognition accuracy of forensic examiners, superrecognizers, and face recognition algorithms</a:t>
            </a:r>
          </a:p>
          <a:p xmlns:a="http://schemas.openxmlformats.org/drawingml/2006/main">
            <a:pPr>
              <a:lnSpc>
                <a:spcPct val="125000"/>
              </a:lnSpc>
              <a:spcBef>
                <a:spcPts val="0"/>
              </a:spcBef>
              <a:spcAft>
                <a:spcPts val="0"/>
              </a:spcAft>
            </a:pPr>
            <a:r>
              <a:rPr>
                <a:latin typeface="Pretendard"/>
                <a:ea typeface="Pretendard"/>
                <a:cs typeface="Pretendard"/>
              </a:rPr>
              <a:t>https://obj.umiacs.umd.edu/papers_for_stories/chellappa_facial_recognition.pdf</a:t>
            </a:r>
          </a:p>
          <a:p xmlns:a="http://schemas.openxmlformats.org/drawingml/2006/main">
            <a:pPr>
              <a:lnSpc>
                <a:spcPct val="125000"/>
              </a:lnSpc>
              <a:spcBef>
                <a:spcPts val="0"/>
              </a:spcBef>
              <a:spcAft>
                <a:spcPts val="0"/>
              </a:spcAft>
            </a:pPr>
            <a:r>
              <a:rPr>
                <a:latin typeface="Pretendard"/>
                <a:ea typeface="Pretendard"/>
                <a:cs typeface="Pretendard"/>
              </a:rPr>
              <a:t>확인 범위: PNAS, DOI 10.1073/pnas.1721355115; PDF 3쪽 결합 방법, 5–6쪽 Methods</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S21 | NIST | 2018-05-29</a:t>
            </a:r>
          </a:p>
          <a:p xmlns:a="http://schemas.openxmlformats.org/drawingml/2006/main">
            <a:pPr>
              <a:lnSpc>
                <a:spcPct val="125000"/>
              </a:lnSpc>
              <a:spcBef>
                <a:spcPts val="0"/>
              </a:spcBef>
              <a:spcAft>
                <a:spcPts val="0"/>
              </a:spcAft>
            </a:pPr>
            <a:r>
              <a:rPr>
                <a:latin typeface="Pretendard"/>
                <a:ea typeface="Pretendard"/>
                <a:cs typeface="Pretendard"/>
              </a:rPr>
              <a:t>NIST Study Shows Face Recognition Experts Perform Better With AI as Partner</a:t>
            </a:r>
          </a:p>
          <a:p xmlns:a="http://schemas.openxmlformats.org/drawingml/2006/main">
            <a:pPr>
              <a:lnSpc>
                <a:spcPct val="125000"/>
              </a:lnSpc>
              <a:spcBef>
                <a:spcPts val="0"/>
              </a:spcBef>
              <a:spcAft>
                <a:spcPts val="0"/>
              </a:spcAft>
            </a:pPr>
            <a:r>
              <a:rPr>
                <a:latin typeface="Pretendard"/>
                <a:ea typeface="Pretendard"/>
                <a:cs typeface="Pretendard"/>
              </a:rPr>
              <a:t>https://www.nist.gov/news-events/news/2018/05/nist-study-shows-face-recognition-experts-perform-better-ai-partner</a:t>
            </a:r>
          </a:p>
          <a:p xmlns:a="http://schemas.openxmlformats.org/drawingml/2006/main">
            <a:pPr>
              <a:lnSpc>
                <a:spcPct val="125000"/>
              </a:lnSpc>
              <a:spcBef>
                <a:spcPts val="0"/>
              </a:spcBef>
              <a:spcAft>
                <a:spcPts val="0"/>
              </a:spcAft>
            </a:pPr>
            <a:r>
              <a:rPr>
                <a:latin typeface="Pretendard"/>
                <a:ea typeface="Pretendard"/>
                <a:cs typeface="Pretendard"/>
              </a:rPr>
              <a:t>확인 범위: 인간·알고리즘 조합 및 실제 운영 미시험 설명</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독립적으로 얻은 사람·알고리즘 점수를 사후 결합한 사진쌍 실험이다.</a:t>
            </a:r>
          </a:p>
          <a:p xmlns:a="http://schemas.openxmlformats.org/drawingml/2006/main">
            <a:pPr>
              <a:lnSpc>
                <a:spcPct val="125000"/>
              </a:lnSpc>
              <a:spcBef>
                <a:spcPts val="0"/>
              </a:spcBef>
              <a:spcAft>
                <a:spcPts val="0"/>
              </a:spcAft>
            </a:pPr>
            <a:r>
              <a:rPr>
                <a:latin typeface="Pretendard"/>
                <a:ea typeface="Pretendard"/>
                <a:cs typeface="Pretendard"/>
              </a:rPr>
              <a:t>확장 질문: 사람과 알고리즘의 결합은 이 연구에서 어떻게 이루어졌는가?</a:t>
            </a:r>
          </a:p>
          <a:p xmlns:a="http://schemas.openxmlformats.org/drawingml/2006/main">
            <a:pPr>
              <a:lnSpc>
                <a:spcPct val="125000"/>
              </a:lnSpc>
              <a:spcBef>
                <a:spcPts val="0"/>
              </a:spcBef>
              <a:spcAft>
                <a:spcPts val="0"/>
              </a:spcAft>
            </a:pPr>
            <a:r>
              <a:rPr>
                <a:latin typeface="Pretendard"/>
                <a:ea typeface="Pretendard"/>
                <a:cs typeface="Pretendard"/>
              </a:rPr>
              <a:t>S20: 어려운 얼굴 사진 20쌍, 독립 판단 점수 평균, 전문가·알고리즘 결합 결과</a:t>
            </a:r>
          </a:p>
          <a:p xmlns:a="http://schemas.openxmlformats.org/drawingml/2006/main">
            <a:pPr>
              <a:lnSpc>
                <a:spcPct val="125000"/>
              </a:lnSpc>
              <a:spcBef>
                <a:spcPts val="0"/>
              </a:spcBef>
              <a:spcAft>
                <a:spcPts val="0"/>
              </a:spcAft>
            </a:pPr>
            <a:r>
              <a:rPr>
                <a:latin typeface="Pretendard"/>
                <a:ea typeface="Pretendard"/>
                <a:cs typeface="Pretendard"/>
              </a:rPr>
              <a:t>적용 범위·한계: 선정된 사진쌍 실험; 거리 실시간 운영에서의 일반적 안전성 보장은 아님</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S21: 전문가·AI 결합 연구의 맥락과 실제 운영 시험의 한계</a:t>
            </a:r>
          </a:p>
          <a:p xmlns:a="http://schemas.openxmlformats.org/drawingml/2006/main">
            <a:pPr>
              <a:lnSpc>
                <a:spcPct val="125000"/>
              </a:lnSpc>
              <a:spcBef>
                <a:spcPts val="0"/>
              </a:spcBef>
              <a:spcAft>
                <a:spcPts val="0"/>
              </a:spcAft>
            </a:pPr>
            <a:r>
              <a:rPr>
                <a:latin typeface="Pretendard"/>
                <a:ea typeface="Pretendard"/>
                <a:cs typeface="Pretendard"/>
              </a:rPr>
              <a:t>적용 범위·한계: S20과 같은 연구의 해설로 독립된 효과 연구 수에 더하지 않음</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W8-49 / 보충 자료 / INDIRECT</a:t>
            </a:r>
          </a:p>
          <a:p xmlns:a="http://schemas.openxmlformats.org/drawingml/2006/main">
            <a:pPr>
              <a:lnSpc>
                <a:spcPct val="125000"/>
              </a:lnSpc>
              <a:spcBef>
                <a:spcPts val="0"/>
              </a:spcBef>
              <a:spcAft>
                <a:spcPts val="0"/>
              </a:spcAft>
            </a:pPr>
            <a:r>
              <a:rPr>
                <a:latin typeface="Pretendard"/>
                <a:ea typeface="Pretendard"/>
                <a:cs typeface="Pretendard"/>
              </a:rPr>
              <a:t>실시간 현장 승인 안전성 실험으로 일반화하지 않는다. 본문과 대본에서 연구의 실제 결합 방법을 우선 설명한다.</a:t>
            </a:r>
          </a:p>
          <a:p xmlns:a="http://schemas.openxmlformats.org/drawingml/2006/main">
            <a:pPr>
              <a:lnSpc>
                <a:spcPct val="125000"/>
              </a:lnSpc>
              <a:spcBef>
                <a:spcPts val="0"/>
              </a:spcBef>
              <a:spcAft>
                <a:spcPts val="0"/>
              </a:spcAft>
            </a:pPr>
            <a:r>
              <a:rPr>
                <a:latin typeface="Pretendard"/>
                <a:ea typeface="Pretendard"/>
                <a:cs typeface="Pretendard"/>
              </a:rPr>
              <a:t>이전 연결: 명단 목적과 별도로 독립된 사람·알고리즘 판단의 결합을 실험할 수 있다.</a:t>
            </a:r>
          </a:p>
          <a:p xmlns:a="http://schemas.openxmlformats.org/drawingml/2006/main">
            <a:pPr>
              <a:lnSpc>
                <a:spcPct val="125000"/>
              </a:lnSpc>
              <a:spcBef>
                <a:spcPts val="0"/>
              </a:spcBef>
              <a:spcAft>
                <a:spcPts val="0"/>
              </a:spcAft>
            </a:pPr>
            <a:r>
              <a:rPr>
                <a:latin typeface="Pretendard"/>
                <a:ea typeface="Pretendard"/>
                <a:cs typeface="Pretendard"/>
              </a:rPr>
              <a:t>다음 연결: 연구의 학습·평가 데이터와 연결해 국내 AI 사업의 처리 목적·위탁 판단을 살핀다.</a:t>
            </a:r>
          </a:p>
          <a:p xmlns:a="http://schemas.openxmlformats.org/drawingml/2006/main">
            <a:pPr>
              <a:lnSpc>
                <a:spcPct val="125000"/>
              </a:lnSpc>
              <a:spcBef>
                <a:spcPts val="0"/>
              </a:spcBef>
              <a:spcAft>
                <a:spcPts val="0"/>
              </a:spcAft>
            </a:pPr>
            <a:r>
              <a:rPr>
                <a:latin typeface="Pretendard"/>
                <a:ea typeface="Pretendard"/>
                <a:cs typeface="Pretendard"/>
              </a:rPr>
              <a:t>운영시간 초안: 0분.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개인정보위는 출입국 심사를 위한 법적 근거와 처리 목적, 위탁 관계를 나누어 판단했습니다. 심사 고도화를 위한 AI 학습과 감독하의 위탁은 인정하면서, 위탁 사실을 공개하지 않은 행위에는 과태료를 부과했습니다. 이상행동 추적용 CCTV 영상은 실제로 사용되지 않아 해당 부문 판단을 유보했습니다. 처리의 대상·목적·행위마다 법적 평가가 달라지는 국내 사례입니다.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D18 | 개인정보보호위원회 | 2022-04-27</a:t>
            </a:r>
          </a:p>
          <a:p xmlns:a="http://schemas.openxmlformats.org/drawingml/2006/main">
            <a:pPr>
              <a:lnSpc>
                <a:spcPct val="125000"/>
              </a:lnSpc>
              <a:spcBef>
                <a:spcPts val="0"/>
              </a:spcBef>
              <a:spcAft>
                <a:spcPts val="0"/>
              </a:spcAft>
            </a:pPr>
            <a:r>
              <a:rPr>
                <a:latin typeface="Pretendard"/>
                <a:ea typeface="Pretendard"/>
                <a:cs typeface="Pretendard"/>
              </a:rPr>
              <a:t>출입국 AI 식별추적 사업 조사결과와 개인정보위 제7회 전체회의 브리핑</a:t>
            </a:r>
          </a:p>
          <a:p xmlns:a="http://schemas.openxmlformats.org/drawingml/2006/main">
            <a:pPr>
              <a:lnSpc>
                <a:spcPct val="125000"/>
              </a:lnSpc>
              <a:spcBef>
                <a:spcPts val="0"/>
              </a:spcBef>
              <a:spcAft>
                <a:spcPts val="0"/>
              </a:spcAft>
            </a:pPr>
            <a:r>
              <a:rPr>
                <a:latin typeface="Pretendard"/>
                <a:ea typeface="Pretendard"/>
                <a:cs typeface="Pretendard"/>
              </a:rPr>
              <a:t>https://www.korea.kr/briefing/policyBriefingView.do?newsId=156505203</a:t>
            </a:r>
          </a:p>
          <a:p xmlns:a="http://schemas.openxmlformats.org/drawingml/2006/main">
            <a:pPr>
              <a:lnSpc>
                <a:spcPct val="125000"/>
              </a:lnSpc>
              <a:spcBef>
                <a:spcPts val="0"/>
              </a:spcBef>
              <a:spcAft>
                <a:spcPts val="0"/>
              </a:spcAft>
            </a:pPr>
            <a:r>
              <a:rPr>
                <a:latin typeface="Pretendard"/>
                <a:ea typeface="Pretendard"/>
                <a:cs typeface="Pretendard"/>
              </a:rPr>
              <a:t>확인 범위: 정책브리핑의 정혜원 조사총괄과장 발표와 질의응답 전문. 위원회 의결서 첨부 전체는 미열람.</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목적 내 학습·위탁 관리·공개 의무·미사용 부문을 구별해 판단했다.</a:t>
            </a:r>
          </a:p>
          <a:p xmlns:a="http://schemas.openxmlformats.org/drawingml/2006/main">
            <a:pPr>
              <a:lnSpc>
                <a:spcPct val="125000"/>
              </a:lnSpc>
              <a:spcBef>
                <a:spcPts val="0"/>
              </a:spcBef>
              <a:spcAft>
                <a:spcPts val="0"/>
              </a:spcAft>
            </a:pPr>
            <a:r>
              <a:rPr>
                <a:latin typeface="Pretendard"/>
                <a:ea typeface="Pretendard"/>
                <a:cs typeface="Pretendard"/>
              </a:rPr>
              <a:t>확장 질문: 같은 AI 사업에서도 무엇을 기준으로 적법성과 의무 위반을 나누었는가?</a:t>
            </a:r>
          </a:p>
          <a:p xmlns:a="http://schemas.openxmlformats.org/drawingml/2006/main">
            <a:pPr>
              <a:lnSpc>
                <a:spcPct val="125000"/>
              </a:lnSpc>
              <a:spcBef>
                <a:spcPts val="0"/>
              </a:spcBef>
              <a:spcAft>
                <a:spcPts val="0"/>
              </a:spcAft>
            </a:pPr>
            <a:r>
              <a:rPr>
                <a:latin typeface="Pretendard"/>
                <a:ea typeface="Pretendard"/>
                <a:cs typeface="Pretendard"/>
              </a:rPr>
              <a:t>D18: 개인정보위는 출입국관리법에 근거한 민감정보 처리, 출입국 심사 고도화 목적 내 학습, 관리·감독 아래의 처리위탁을 인정했다. 위탁사실·수탁자 미공개에는 과태료 100만 원을 부과했다. 이상행동 추적용 CCTV 영상은 실제 이용되지 않아 위반 판단을 하지 않았고, 재추진 시 동의·법적 근거·비식별화 경로를 제시했다.</a:t>
            </a:r>
          </a:p>
          <a:p xmlns:a="http://schemas.openxmlformats.org/drawingml/2006/main">
            <a:pPr>
              <a:lnSpc>
                <a:spcPct val="125000"/>
              </a:lnSpc>
              <a:spcBef>
                <a:spcPts val="0"/>
              </a:spcBef>
              <a:spcAft>
                <a:spcPts val="0"/>
              </a:spcAft>
            </a:pPr>
            <a:r>
              <a:rPr>
                <a:latin typeface="Pretendard"/>
                <a:ea typeface="Pretendard"/>
                <a:cs typeface="Pretendard"/>
              </a:rPr>
              <a:t>적용 범위·한계: 2022년 출입국 심사 사업의 개별 판단이다. 브리핑에서 발표한 행정 판단과 D09의 2026년 헌법소원 각하를 각각의 판단기관·대상에 귀속한다.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W8-50 / 보충 자료 / INDIRECT</a:t>
            </a:r>
          </a:p>
          <a:p xmlns:a="http://schemas.openxmlformats.org/drawingml/2006/main">
            <a:pPr>
              <a:lnSpc>
                <a:spcPct val="125000"/>
              </a:lnSpc>
              <a:spcBef>
                <a:spcPts val="0"/>
              </a:spcBef>
              <a:spcAft>
                <a:spcPts val="0"/>
              </a:spcAft>
            </a:pPr>
            <a:r>
              <a:rPr>
                <a:latin typeface="Pretendard"/>
                <a:ea typeface="Pretendard"/>
                <a:cs typeface="Pretendard"/>
              </a:rPr>
              <a:t>행정기관의 공식 브리핑 확인 범위. 공공 CCTV 실시간 수사 허가로 확대하지 않는다.</a:t>
            </a:r>
          </a:p>
          <a:p xmlns:a="http://schemas.openxmlformats.org/drawingml/2006/main">
            <a:pPr>
              <a:lnSpc>
                <a:spcPct val="125000"/>
              </a:lnSpc>
              <a:spcBef>
                <a:spcPts val="0"/>
              </a:spcBef>
              <a:spcAft>
                <a:spcPts val="0"/>
              </a:spcAft>
            </a:pPr>
            <a:r>
              <a:rPr>
                <a:latin typeface="Pretendard"/>
                <a:ea typeface="Pretendard"/>
                <a:cs typeface="Pretendard"/>
              </a:rPr>
              <a:t>이전 연결: 연구의 학습·평가 데이터와 연결해 국내 AI 사업의 처리 목적·위탁 판단을 살핀다.</a:t>
            </a:r>
          </a:p>
          <a:p xmlns:a="http://schemas.openxmlformats.org/drawingml/2006/main">
            <a:pPr>
              <a:lnSpc>
                <a:spcPct val="125000"/>
              </a:lnSpc>
              <a:spcBef>
                <a:spcPts val="0"/>
              </a:spcBef>
              <a:spcAft>
                <a:spcPts val="0"/>
              </a:spcAft>
            </a:pPr>
            <a:r>
              <a:rPr>
                <a:latin typeface="Pretendard"/>
                <a:ea typeface="Pretendard"/>
                <a:cs typeface="Pretendard"/>
              </a:rPr>
              <a:t>다음 연결: 행정기관의 처리 판단과 별개로 헌법소원은 사후 심판의 소송요건을 검토했다.</a:t>
            </a:r>
          </a:p>
          <a:p xmlns:a="http://schemas.openxmlformats.org/drawingml/2006/main">
            <a:pPr>
              <a:lnSpc>
                <a:spcPct val="125000"/>
              </a:lnSpc>
              <a:spcBef>
                <a:spcPts val="0"/>
              </a:spcBef>
              <a:spcAft>
                <a:spcPts val="0"/>
              </a:spcAft>
            </a:pPr>
            <a:r>
              <a:rPr>
                <a:latin typeface="Pretendard"/>
                <a:ea typeface="Pretendard"/>
                <a:cs typeface="Pretendard"/>
              </a:rPr>
              <a:t>운영시간 초안: 0분.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이 헌법소원은 출입국 데이터의 AI 학습과 보관 등을 둘러싼 사건입니다. 헌재는 사업이 끝나고 데이터가 삭제된 사정, 법률조항이 직접 권리를 침해하는지 등의 소송요건을 심사했습니다. 결론은 전원일치 각하였습니다. 정보 처리의 기간과 기록 보존 방식은 당사자가 사후에 다툴 수 있는 조건과도 연결됩니다.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D09 | 헌법재판소 | 2026-02-26</a:t>
            </a:r>
          </a:p>
          <a:p xmlns:a="http://schemas.openxmlformats.org/drawingml/2006/main">
            <a:pPr>
              <a:lnSpc>
                <a:spcPct val="125000"/>
              </a:lnSpc>
              <a:spcBef>
                <a:spcPts val="0"/>
              </a:spcBef>
              <a:spcAft>
                <a:spcPts val="0"/>
              </a:spcAft>
            </a:pPr>
            <a:r>
              <a:rPr>
                <a:latin typeface="Pretendard"/>
                <a:ea typeface="Pretendard"/>
                <a:cs typeface="Pretendard"/>
              </a:rPr>
              <a:t>2021헌마1575등 안면 데이터·이상행동 데이터 수집 및 보관 등 위헌확인</a:t>
            </a:r>
          </a:p>
          <a:p xmlns:a="http://schemas.openxmlformats.org/drawingml/2006/main">
            <a:pPr>
              <a:lnSpc>
                <a:spcPct val="125000"/>
              </a:lnSpc>
              <a:spcBef>
                <a:spcPts val="0"/>
              </a:spcBef>
              <a:spcAft>
                <a:spcPts val="0"/>
              </a:spcAft>
            </a:pPr>
            <a:r>
              <a:rPr>
                <a:latin typeface="Pretendard"/>
                <a:ea typeface="Pretendard"/>
                <a:cs typeface="Pretendard"/>
              </a:rPr>
              <a:t>https://www.ccourt.go.kr/site/kor/ex/bbs/View.do?bcIdx=4264348&amp;cbIdx=1195</a:t>
            </a:r>
          </a:p>
          <a:p xmlns:a="http://schemas.openxmlformats.org/drawingml/2006/main">
            <a:pPr>
              <a:lnSpc>
                <a:spcPct val="125000"/>
              </a:lnSpc>
              <a:spcBef>
                <a:spcPts val="0"/>
              </a:spcBef>
              <a:spcAft>
                <a:spcPts val="0"/>
              </a:spcAft>
            </a:pPr>
            <a:r>
              <a:rPr>
                <a:latin typeface="Pretendard"/>
                <a:ea typeface="Pretendard"/>
                <a:cs typeface="Pretendard"/>
              </a:rPr>
              <a:t>확인 범위: 헌재가 공개한 사건개요·심판대상·결정요지 본문. 결정문 첨부 전체와 구분.</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사업 종료·삭제와 직접성 등 소송요건에 관한 각하 결정이다.</a:t>
            </a:r>
          </a:p>
          <a:p xmlns:a="http://schemas.openxmlformats.org/drawingml/2006/main">
            <a:pPr>
              <a:lnSpc>
                <a:spcPct val="125000"/>
              </a:lnSpc>
              <a:spcBef>
                <a:spcPts val="0"/>
              </a:spcBef>
              <a:spcAft>
                <a:spcPts val="0"/>
              </a:spcAft>
            </a:pPr>
            <a:r>
              <a:rPr>
                <a:latin typeface="Pretendard"/>
                <a:ea typeface="Pretendard"/>
                <a:cs typeface="Pretendard"/>
              </a:rPr>
              <a:t>확장 질문: 이 헌재 결정은 어떤 요건을 심사해 청구를 끝냈는가?</a:t>
            </a:r>
          </a:p>
          <a:p xmlns:a="http://schemas.openxmlformats.org/drawingml/2006/main">
            <a:pPr>
              <a:lnSpc>
                <a:spcPct val="125000"/>
              </a:lnSpc>
              <a:spcBef>
                <a:spcPts val="0"/>
              </a:spcBef>
              <a:spcAft>
                <a:spcPts val="0"/>
              </a:spcAft>
            </a:pPr>
            <a:r>
              <a:rPr>
                <a:latin typeface="Pretendard"/>
                <a:ea typeface="Pretendard"/>
                <a:cs typeface="Pretendard"/>
              </a:rPr>
              <a:t>D09: 출입국 얼굴정보의 AI 학습 이전·처리 등에 대한 청구를 전원일치 각하. 사업 종료·데이터 삭제 등에 따른 권리보호이익 흠결, 법률조항 직접성·입법의무 문제를 판단했다.</a:t>
            </a:r>
          </a:p>
          <a:p xmlns:a="http://schemas.openxmlformats.org/drawingml/2006/main">
            <a:pPr>
              <a:lnSpc>
                <a:spcPct val="125000"/>
              </a:lnSpc>
              <a:spcBef>
                <a:spcPts val="0"/>
              </a:spcBef>
              <a:spcAft>
                <a:spcPts val="0"/>
              </a:spcAft>
            </a:pPr>
            <a:r>
              <a:rPr>
                <a:latin typeface="Pretendard"/>
                <a:ea typeface="Pretendard"/>
                <a:cs typeface="Pretendard"/>
              </a:rPr>
              <a:t>적용 범위·한계: 각하는 얼굴인식 수사의 실체적 합헌 판단이 아니다. 출입국 데이터 학습 사건을 공공 CCTV 실시간 체포 승인으로 확대할 수 없다.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W8-51 / 보충 자료 / INDIRECT</a:t>
            </a:r>
          </a:p>
          <a:p xmlns:a="http://schemas.openxmlformats.org/drawingml/2006/main">
            <a:pPr>
              <a:lnSpc>
                <a:spcPct val="125000"/>
              </a:lnSpc>
              <a:spcBef>
                <a:spcPts val="0"/>
              </a:spcBef>
              <a:spcAft>
                <a:spcPts val="0"/>
              </a:spcAft>
            </a:pPr>
            <a:r>
              <a:rPr>
                <a:latin typeface="Pretendard"/>
                <a:ea typeface="Pretendard"/>
                <a:cs typeface="Pretendard"/>
              </a:rPr>
              <a:t>헌재 공식 주요결정 소개 확인. 결정문 전문과 구별. 실시간 얼굴인식 수사의 실체적 합헌 판단으로 표기하지 않는다.</a:t>
            </a:r>
          </a:p>
          <a:p xmlns:a="http://schemas.openxmlformats.org/drawingml/2006/main">
            <a:pPr>
              <a:lnSpc>
                <a:spcPct val="125000"/>
              </a:lnSpc>
              <a:spcBef>
                <a:spcPts val="0"/>
              </a:spcBef>
              <a:spcAft>
                <a:spcPts val="0"/>
              </a:spcAft>
            </a:pPr>
            <a:r>
              <a:rPr>
                <a:latin typeface="Pretendard"/>
                <a:ea typeface="Pretendard"/>
                <a:cs typeface="Pretendard"/>
              </a:rPr>
              <a:t>이전 연결: 행정기관의 처리 판단과 별개로 헌법소원은 사후 심판의 소송요건을 검토했다.</a:t>
            </a:r>
          </a:p>
          <a:p xmlns:a="http://schemas.openxmlformats.org/drawingml/2006/main">
            <a:pPr>
              <a:lnSpc>
                <a:spcPct val="125000"/>
              </a:lnSpc>
              <a:spcBef>
                <a:spcPts val="0"/>
              </a:spcBef>
              <a:spcAft>
                <a:spcPts val="0"/>
              </a:spcAft>
            </a:pPr>
            <a:r>
              <a:rPr>
                <a:latin typeface="Pretendard"/>
                <a:ea typeface="Pretendard"/>
                <a:cs typeface="Pretendard"/>
              </a:rPr>
              <a:t>다음 연결: 데이터를 둘러싼 국내 판단과 함께 검색 범위를 넓히는 실제 사업계획을 살핀다.</a:t>
            </a:r>
          </a:p>
          <a:p xmlns:a="http://schemas.openxmlformats.org/drawingml/2006/main">
            <a:pPr>
              <a:lnSpc>
                <a:spcPct val="125000"/>
              </a:lnSpc>
              <a:spcBef>
                <a:spcPts val="0"/>
              </a:spcBef>
              <a:spcAft>
                <a:spcPts val="0"/>
              </a:spcAft>
            </a:pPr>
            <a:r>
              <a:rPr>
                <a:latin typeface="Pretendard"/>
                <a:ea typeface="Pretendard"/>
                <a:cs typeface="Pretendard"/>
              </a:rPr>
              <a:t>운영시간 초안: 0분.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실종자가 자치구 경계를 넘으면 한 구의 영상만으로 이동 경로를 찾기 어려울 수 있습니다. 서울시는 2026년 4월 발표에서 외형 특징 검색을 25개 자치구 전체로 확대하는 계획을 제시했습니다. 범위를 넓히는 운영에서는 누가 검색을 요청하고 어느 영상에 접근하며, 결과를 현장 수색에 어떻게 전달할지가 구체적인 과제가 됩니다.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S05 | 서울특별시 | 2026-04-01</a:t>
            </a:r>
          </a:p>
          <a:p xmlns:a="http://schemas.openxmlformats.org/drawingml/2006/main">
            <a:pPr>
              <a:lnSpc>
                <a:spcPct val="125000"/>
              </a:lnSpc>
              <a:spcBef>
                <a:spcPts val="0"/>
              </a:spcBef>
              <a:spcAft>
                <a:spcPts val="0"/>
              </a:spcAft>
            </a:pPr>
            <a:r>
              <a:rPr>
                <a:latin typeface="Pretendard"/>
                <a:ea typeface="Pretendard"/>
                <a:cs typeface="Pretendard"/>
              </a:rPr>
              <a:t>서울 전역 CCTV 통합 검색… 실종자 수색 빨라진다</a:t>
            </a:r>
          </a:p>
          <a:p xmlns:a="http://schemas.openxmlformats.org/drawingml/2006/main">
            <a:pPr>
              <a:lnSpc>
                <a:spcPct val="125000"/>
              </a:lnSpc>
              <a:spcBef>
                <a:spcPts val="0"/>
              </a:spcBef>
              <a:spcAft>
                <a:spcPts val="0"/>
              </a:spcAft>
            </a:pPr>
            <a:r>
              <a:rPr>
                <a:latin typeface="Pretendard"/>
                <a:ea typeface="Pretendard"/>
                <a:cs typeface="Pretendard"/>
              </a:rPr>
              <a:t>https://www.seoul.go.kr/news/news_report.do?nttNo=455379</a:t>
            </a:r>
          </a:p>
          <a:p xmlns:a="http://schemas.openxmlformats.org/drawingml/2006/main">
            <a:pPr>
              <a:lnSpc>
                <a:spcPct val="125000"/>
              </a:lnSpc>
              <a:spcBef>
                <a:spcPts val="0"/>
              </a:spcBef>
              <a:spcAft>
                <a:spcPts val="0"/>
              </a:spcAft>
            </a:pPr>
            <a:r>
              <a:rPr>
                <a:latin typeface="Pretendard"/>
                <a:ea typeface="Pretendard"/>
                <a:cs typeface="Pretendard"/>
              </a:rPr>
              <a:t>확인 범위: 25개 자치구 확대와 외형 특징 검색 설명</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광역 외형 검색에는 관할 간 요청·접근·연락 책임의 설계가 따른다.</a:t>
            </a:r>
          </a:p>
          <a:p xmlns:a="http://schemas.openxmlformats.org/drawingml/2006/main">
            <a:pPr>
              <a:lnSpc>
                <a:spcPct val="125000"/>
              </a:lnSpc>
              <a:spcBef>
                <a:spcPts val="0"/>
              </a:spcBef>
              <a:spcAft>
                <a:spcPts val="0"/>
              </a:spcAft>
            </a:pPr>
            <a:r>
              <a:rPr>
                <a:latin typeface="Pretendard"/>
                <a:ea typeface="Pretendard"/>
                <a:cs typeface="Pretendard"/>
              </a:rPr>
              <a:t>확장 질문: 영상 검색 범위를 넓히면 어떤 협력과 통제가 필요한가?</a:t>
            </a:r>
          </a:p>
          <a:p xmlns:a="http://schemas.openxmlformats.org/drawingml/2006/main">
            <a:pPr>
              <a:lnSpc>
                <a:spcPct val="125000"/>
              </a:lnSpc>
              <a:spcBef>
                <a:spcPts val="0"/>
              </a:spcBef>
              <a:spcAft>
                <a:spcPts val="0"/>
              </a:spcAft>
            </a:pPr>
            <a:r>
              <a:rPr>
                <a:latin typeface="Pretendard"/>
                <a:ea typeface="Pretendard"/>
                <a:cs typeface="Pretendard"/>
              </a:rPr>
              <a:t>S05: 자치구 간 검색과 2026년 확대 계획</a:t>
            </a:r>
          </a:p>
          <a:p xmlns:a="http://schemas.openxmlformats.org/drawingml/2006/main">
            <a:pPr>
              <a:lnSpc>
                <a:spcPct val="125000"/>
              </a:lnSpc>
              <a:spcBef>
                <a:spcPts val="0"/>
              </a:spcBef>
              <a:spcAft>
                <a:spcPts val="0"/>
              </a:spcAft>
            </a:pPr>
            <a:r>
              <a:rPr>
                <a:latin typeface="Pretendard"/>
                <a:ea typeface="Pretendard"/>
                <a:cs typeface="Pretendard"/>
              </a:rPr>
              <a:t>적용 범위·한계: 2026년 4월의 확대 계획; 2026년 10월 완료 여부는 미확인</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W8-52 / 보충 자료 / INDIRECT</a:t>
            </a:r>
          </a:p>
          <a:p xmlns:a="http://schemas.openxmlformats.org/drawingml/2006/main">
            <a:pPr>
              <a:lnSpc>
                <a:spcPct val="125000"/>
              </a:lnSpc>
              <a:spcBef>
                <a:spcPts val="0"/>
              </a:spcBef>
              <a:spcAft>
                <a:spcPts val="0"/>
              </a:spcAft>
            </a:pPr>
            <a:r>
              <a:rPr>
                <a:latin typeface="Pretendard"/>
                <a:ea typeface="Pretendard"/>
                <a:cs typeface="Pretendard"/>
              </a:rPr>
              <a:t>2026년4월 계획. 10월현재 완료·효과를 확인한 것으로 쓰지 않는다. 마지막 행은 강의용 운영 질문이다.</a:t>
            </a:r>
          </a:p>
          <a:p xmlns:a="http://schemas.openxmlformats.org/drawingml/2006/main">
            <a:pPr>
              <a:lnSpc>
                <a:spcPct val="125000"/>
              </a:lnSpc>
              <a:spcBef>
                <a:spcPts val="0"/>
              </a:spcBef>
              <a:spcAft>
                <a:spcPts val="0"/>
              </a:spcAft>
            </a:pPr>
            <a:r>
              <a:rPr>
                <a:latin typeface="Pretendard"/>
                <a:ea typeface="Pretendard"/>
                <a:cs typeface="Pretendard"/>
              </a:rPr>
              <a:t>이전 연결: 데이터를 둘러싼 국내 판단과 함께 검색 범위를 넓히는 실제 사업계획을 살핀다.</a:t>
            </a:r>
          </a:p>
          <a:p xmlns:a="http://schemas.openxmlformats.org/drawingml/2006/main">
            <a:pPr>
              <a:lnSpc>
                <a:spcPct val="125000"/>
              </a:lnSpc>
              <a:spcBef>
                <a:spcPts val="0"/>
              </a:spcBef>
              <a:spcAft>
                <a:spcPts val="0"/>
              </a:spcAft>
            </a:pPr>
            <a:r>
              <a:rPr>
                <a:latin typeface="Pretendard"/>
                <a:ea typeface="Pretendard"/>
                <a:cs typeface="Pretendard"/>
              </a:rPr>
              <a:t>다음 연결: 검색 범위 확대의 운영 과제에는 경보를 사용하는 요원의 경험도 포함된다.</a:t>
            </a:r>
          </a:p>
          <a:p xmlns:a="http://schemas.openxmlformats.org/drawingml/2006/main">
            <a:pPr>
              <a:lnSpc>
                <a:spcPct val="125000"/>
              </a:lnSpc>
              <a:spcBef>
                <a:spcPts val="0"/>
              </a:spcBef>
              <a:spcAft>
                <a:spcPts val="0"/>
              </a:spcAft>
            </a:pPr>
            <a:r>
              <a:rPr>
                <a:latin typeface="Pretendard"/>
                <a:ea typeface="Pretendard"/>
                <a:cs typeface="Pretendard"/>
              </a:rPr>
              <a:t>운영시간 초안: 0분.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25000"/>
              </a:lnSpc>
              <a:spcBef>
                <a:spcPts val="0"/>
              </a:spcBef>
              <a:spcAft>
                <a:spcPts val="0"/>
              </a:spcAft>
            </a:pPr>
            <a:r>
              <a:rPr>
                <a:latin typeface="Pretendard"/>
                <a:ea typeface="Pretendard"/>
                <a:cs typeface="Pretendard"/>
              </a:rPr>
              <a:t>[낭독 대본]</a:t>
            </a:r>
          </a:p>
          <a:p xmlns:a="http://schemas.openxmlformats.org/drawingml/2006/main">
            <a:pPr>
              <a:lnSpc>
                <a:spcPct val="125000"/>
              </a:lnSpc>
              <a:spcBef>
                <a:spcPts val="0"/>
              </a:spcBef>
              <a:spcAft>
                <a:spcPts val="0"/>
              </a:spcAft>
            </a:pPr>
            <a:r>
              <a:rPr>
                <a:latin typeface="Pretendard"/>
                <a:ea typeface="Pretendard"/>
                <a:cs typeface="Pretendard"/>
              </a:rPr>
              <a:t>이 조사는 관제요원이 지능형 선별관제를 사용하면서 느낀 정확도를 물었습니다. 전체 설문 35명 가운데 정확도 문항에는 34명이 답했고, 27명이 50퍼센트 미만 범주를 선택했습니다. 실제 영상에 정답을 붙여 측정한 성능과는 측정 방식이 다릅니다. 요원이 경보를 얼마나 신뢰하고 업무에 활용하는지를 파악하는 국내 운영 자료입니다.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[출처]</a:t>
            </a:r>
          </a:p>
          <a:p xmlns:a="http://schemas.openxmlformats.org/drawingml/2006/main">
            <a:pPr>
              <a:lnSpc>
                <a:spcPct val="125000"/>
              </a:lnSpc>
              <a:spcBef>
                <a:spcPts val="0"/>
              </a:spcBef>
              <a:spcAft>
                <a:spcPts val="0"/>
              </a:spcAft>
            </a:pPr>
            <a:r>
              <a:rPr>
                <a:latin typeface="Pretendard"/>
                <a:ea typeface="Pretendard"/>
                <a:cs typeface="Pretendard"/>
              </a:rPr>
              <a:t>D39 | 한국정보경영평가 / 연구책임자 윤병호, 제주특별자치도 연구용역; 제주도의회 공개 PDF | 2024-10</a:t>
            </a:r>
          </a:p>
          <a:p xmlns:a="http://schemas.openxmlformats.org/drawingml/2006/main">
            <a:pPr>
              <a:lnSpc>
                <a:spcPct val="125000"/>
              </a:lnSpc>
              <a:spcBef>
                <a:spcPts val="0"/>
              </a:spcBef>
              <a:spcAft>
                <a:spcPts val="0"/>
              </a:spcAft>
            </a:pPr>
            <a:r>
              <a:rPr>
                <a:latin typeface="Pretendard"/>
                <a:ea typeface="Pretendard"/>
                <a:cs typeface="Pretendard"/>
              </a:rPr>
              <a:t>CCTV 통합관제센터 혁신을 위한 운영개선 효율화 방안 연구 최종보고서</a:t>
            </a:r>
          </a:p>
          <a:p xmlns:a="http://schemas.openxmlformats.org/drawingml/2006/main">
            <a:pPr>
              <a:lnSpc>
                <a:spcPct val="125000"/>
              </a:lnSpc>
              <a:spcBef>
                <a:spcPts val="0"/>
              </a:spcBef>
              <a:spcAft>
                <a:spcPts val="0"/>
              </a:spcAft>
            </a:pPr>
            <a:r>
              <a:rPr>
                <a:latin typeface="Pretendard"/>
                <a:ea typeface="Pretendard"/>
                <a:cs typeface="Pretendard"/>
              </a:rPr>
              <a:t>https://record.council.jeju.kr/CLRecords/Files/FileAppendix/a12/A044556.pdf</a:t>
            </a:r>
          </a:p>
          <a:p xmlns:a="http://schemas.openxmlformats.org/drawingml/2006/main">
            <a:pPr>
              <a:lnSpc>
                <a:spcPct val="125000"/>
              </a:lnSpc>
              <a:spcBef>
                <a:spcPts val="0"/>
              </a:spcBef>
              <a:spcAft>
                <a:spcPts val="0"/>
              </a:spcAft>
            </a:pPr>
            <a:r>
              <a:rPr>
                <a:latin typeface="Pretendard"/>
                <a:ea typeface="Pretendard"/>
                <a:cs typeface="Pretendard"/>
              </a:rPr>
              <a:t>확인 범위: 290쪽 PDF 중 제출문, 표37·38·45, 부록 요원 설문 원표, 표135–136의 추계 및 운영방침 제안 관련 부분.</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[강사용 상세자료]</a:t>
            </a:r>
          </a:p>
          <a:p xmlns:a="http://schemas.openxmlformats.org/drawingml/2006/main">
            <a:pPr>
              <a:lnSpc>
                <a:spcPct val="125000"/>
              </a:lnSpc>
              <a:spcBef>
                <a:spcPts val="0"/>
              </a:spcBef>
              <a:spcAft>
                <a:spcPts val="0"/>
              </a:spcAft>
            </a:pPr>
            <a:r>
              <a:rPr>
                <a:latin typeface="Pretendard"/>
                <a:ea typeface="Pretendard"/>
                <a:cs typeface="Pretendard"/>
              </a:rPr>
              <a:t>학습목표: 현장 요원의 체감 정확도 응답과 실제 탐지 성능 측정을 구분한다.</a:t>
            </a:r>
          </a:p>
          <a:p xmlns:a="http://schemas.openxmlformats.org/drawingml/2006/main">
            <a:pPr>
              <a:lnSpc>
                <a:spcPct val="125000"/>
              </a:lnSpc>
              <a:spcBef>
                <a:spcPts val="0"/>
              </a:spcBef>
              <a:spcAft>
                <a:spcPts val="0"/>
              </a:spcAft>
            </a:pPr>
            <a:r>
              <a:rPr>
                <a:latin typeface="Pretendard"/>
                <a:ea typeface="Pretendard"/>
                <a:cs typeface="Pretendard"/>
              </a:rPr>
              <a:t>확장 질문: 이 숫자는 누구의 무엇에 대한 평가인가?</a:t>
            </a:r>
          </a:p>
          <a:p xmlns:a="http://schemas.openxmlformats.org/drawingml/2006/main">
            <a:pPr>
              <a:lnSpc>
                <a:spcPct val="125000"/>
              </a:lnSpc>
              <a:spcBef>
                <a:spcPts val="0"/>
              </a:spcBef>
              <a:spcAft>
                <a:spcPts val="0"/>
              </a:spcAft>
            </a:pPr>
            <a:r>
              <a:rPr>
                <a:latin typeface="Pretendard"/>
                <a:ea typeface="Pretendard"/>
                <a:cs typeface="Pretendard"/>
              </a:rPr>
              <a:t>D39: 2023년 관제요원 101명·상주 경찰 3명, 표37의 예산 합계 11,755,443천원. 2023년 요원 설문 총 35명 중 정확도 문항 응답 34명이며 27명이 지능형 선별관제 체감 정확도를 50% 미만으로 응답했다.</a:t>
            </a:r>
          </a:p>
          <a:p xmlns:a="http://schemas.openxmlformats.org/drawingml/2006/main">
            <a:pPr>
              <a:lnSpc>
                <a:spcPct val="125000"/>
              </a:lnSpc>
              <a:spcBef>
                <a:spcPts val="0"/>
              </a:spcBef>
              <a:spcAft>
                <a:spcPts val="0"/>
              </a:spcAft>
            </a:pPr>
            <a:r>
              <a:rPr>
                <a:latin typeface="Pretendard"/>
                <a:ea typeface="Pretendard"/>
                <a:cs typeface="Pretendard"/>
              </a:rPr>
              <a:t>적용 범위·한계: 일반 통합관제·선별관제의 단일 지역 자료이다. 정확도 문항은 요원의 인식 조사이고 비용 수치는 전체 센터의 예산이다. 표135–136은 가정에 따른 미래 추계이다.</a:t>
            </a:r>
          </a:p>
          <a:p xmlns:a="http://schemas.openxmlformats.org/drawingml/2006/main">
            <a:pPr>
              <a:lnSpc>
                <a:spcPct val="125000"/>
              </a:lnSpc>
              <a:spcBef>
                <a:spcPts val="0"/>
              </a:spcBef>
              <a:spcAft>
                <a:spcPts val="0"/>
              </a:spcAft>
            </a:pPr>
            <a:r>
              <a:rPr>
                <a:latin typeface="Pretendard"/>
                <a:ea typeface="Pretendard"/>
                <a:cs typeface="Pretendard"/>
              </a:rPr>
              <a:t/>
            </a:r>
          </a:p>
          <a:p xmlns:a="http://schemas.openxmlformats.org/drawingml/2006/main">
            <a:pPr>
              <a:lnSpc>
                <a:spcPct val="125000"/>
              </a:lnSpc>
              <a:spcBef>
                <a:spcPts val="0"/>
              </a:spcBef>
              <a:spcAft>
                <a:spcPts val="0"/>
              </a:spcAft>
            </a:pPr>
            <a:r>
              <a:rPr>
                <a:latin typeface="Pretendard"/>
                <a:ea typeface="Pretendard"/>
                <a:cs typeface="Pretendard"/>
              </a:rPr>
              <a:t>[내부 제작 메모]</a:t>
            </a:r>
          </a:p>
          <a:p xmlns:a="http://schemas.openxmlformats.org/drawingml/2006/main">
            <a:pPr>
              <a:lnSpc>
                <a:spcPct val="125000"/>
              </a:lnSpc>
              <a:spcBef>
                <a:spcPts val="0"/>
              </a:spcBef>
              <a:spcAft>
                <a:spcPts val="0"/>
              </a:spcAft>
            </a:pPr>
            <a:r>
              <a:rPr>
                <a:latin typeface="Pretendard"/>
                <a:ea typeface="Pretendard"/>
                <a:cs typeface="Pretendard"/>
              </a:rPr>
              <a:t>W8-53 / 보충 자료 / INDIRECT</a:t>
            </a:r>
          </a:p>
          <a:p xmlns:a="http://schemas.openxmlformats.org/drawingml/2006/main">
            <a:pPr>
              <a:lnSpc>
                <a:spcPct val="125000"/>
              </a:lnSpc>
              <a:spcBef>
                <a:spcPts val="0"/>
              </a:spcBef>
              <a:spcAft>
                <a:spcPts val="0"/>
              </a:spcAft>
            </a:pPr>
            <a:r>
              <a:rPr>
                <a:latin typeface="Pretendard"/>
                <a:ea typeface="Pretendard"/>
                <a:cs typeface="Pretendard"/>
              </a:rPr>
              <a:t>원표 PDF270–271쪽. 27/34를 생체식별 오탐률로 표현하지 않는다.</a:t>
            </a:r>
          </a:p>
          <a:p xmlns:a="http://schemas.openxmlformats.org/drawingml/2006/main">
            <a:pPr>
              <a:lnSpc>
                <a:spcPct val="125000"/>
              </a:lnSpc>
              <a:spcBef>
                <a:spcPts val="0"/>
              </a:spcBef>
              <a:spcAft>
                <a:spcPts val="0"/>
              </a:spcAft>
            </a:pPr>
            <a:r>
              <a:rPr>
                <a:latin typeface="Pretendard"/>
                <a:ea typeface="Pretendard"/>
                <a:cs typeface="Pretendard"/>
              </a:rPr>
              <a:t>이전 연결: 검색 범위 확대의 운영 과제에는 경보를 사용하는 요원의 경험도 포함된다.</a:t>
            </a:r>
          </a:p>
          <a:p xmlns:a="http://schemas.openxmlformats.org/drawingml/2006/main">
            <a:pPr>
              <a:lnSpc>
                <a:spcPct val="125000"/>
              </a:lnSpc>
              <a:spcBef>
                <a:spcPts val="0"/>
              </a:spcBef>
              <a:spcAft>
                <a:spcPts val="0"/>
              </a:spcAft>
            </a:pPr>
            <a:r>
              <a:rPr>
                <a:latin typeface="Pretendard"/>
                <a:ea typeface="Pretendard"/>
                <a:cs typeface="Pretendard"/>
              </a:rPr>
              <a:t>다음 연결: 보충 자료는 본편의 성과·권리·운영 판단에 필요한 질문으로 회수한다.</a:t>
            </a:r>
          </a:p>
          <a:p xmlns:a="http://schemas.openxmlformats.org/drawingml/2006/main">
            <a:pPr>
              <a:lnSpc>
                <a:spcPct val="125000"/>
              </a:lnSpc>
              <a:spcBef>
                <a:spcPts val="0"/>
              </a:spcBef>
              <a:spcAft>
                <a:spcPts val="0"/>
              </a:spcAft>
            </a:pPr>
            <a:r>
              <a:rPr>
                <a:latin typeface="Pretendard"/>
                <a:ea typeface="Pretendard"/>
                <a:cs typeface="Pretendard"/>
              </a:rPr>
              <a:t>운영시간 초안: 0분. 실제 리허설 측정값이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wrap="none" lIns="0" rIns="0" tIns="0" bIns="0">
            <a:noAutofit/>
          </a:bodyPr>
          <a:lstStyle xmlns:a="http://schemas.openxmlformats.org/drawingml/2006/main"/>
          <a:p xmlns:a="http://schemas.openxmlformats.org/drawingml/2006/main">
            <a:pPr>
              <a:lnSpc>
                <a:spcPct val="118000"/>
              </a:lnSpc>
              <a:spcBef>
                <a:spcPts val="0"/>
              </a:spcBef>
              <a:spcAft>
                <a:spcPts val="0"/>
              </a:spcAft>
            </a:pP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6a49ebf01c4f9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b3d664bceb04fc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a6063d50ead460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c513cdddf724cd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fbd1ccea4b74da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c5f7b714bd442c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CC6053A1-88C5-42D0-925D-733F0B3B10BE}"/>
              </a:ext>
            </a:extLst>
          </p:cNvPr>
          <p:cNvSpPr>
            <a:spLocks xmlns:a="http://schemas.openxmlformats.org/drawingml/2006/main" noGrp="1"/>
          </p:cNvSpPr>
          <p:nvPr/>
        </p:nvSpPr>
        <p:spPr>
          <a:xfrm xmlns:a="http://schemas.openxmlformats.org/drawingml/2006/main">
            <a:off x="5789752" y="2209800"/>
            <a:ext cx="609448"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6D01B49F-9153-40B4-8891-510703445E1C}"/>
              </a:ext>
            </a:extLst>
          </p:cNvPr>
          <p:cNvSpPr>
            <a:spLocks xmlns:a="http://schemas.openxmlformats.org/drawingml/2006/main" noGrp="1"/>
          </p:cNvSpPr>
          <p:nvPr>
            <p:ph type="title" idx="0"/>
          </p:nvPr>
        </p:nvSpPr>
        <p:spPr>
          <a:xfrm xmlns:a="http://schemas.openxmlformats.org/drawingml/2006/main">
            <a:off x="1218895" y="2590800"/>
            <a:ext cx="9751162"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none" lIns="0" tIns="0" rIns="0" bIns="0" anchor="ctr">
            <a:no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a:pPr>
              <a:lnSpc>
                <a:spcPct val="118000"/>
              </a:lnSpc>
              <a:spcBef>
                <a:spcPts val="0"/>
              </a:spcBef>
              <a:spcAft>
                <a:spcPts val="0"/>
              </a:spcAft>
            </a:pPr>
          </a:p>
        </p:txBody>
      </p:sp>
      <p:sp>
        <p:nvSpPr>
          <p:cNvPr id="3" name="Subtitle">
            <a:extLst xmlns:a="http://schemas.openxmlformats.org/drawingml/2006/main">
              <a:ext uri="{FF2B5EF4-FFF2-40B4-BE49-F238E27FC236}">
                <a16:creationId xmlns:a16="http://schemas.microsoft.com/office/drawing/2014/main" id="{0ECEAFFF-7C03-4B54-9715-E4B4A9DE4B6D}"/>
              </a:ext>
            </a:extLst>
          </p:cNvPr>
          <p:cNvSpPr>
            <a:spLocks xmlns:a="http://schemas.openxmlformats.org/drawingml/2006/main" noGrp="1"/>
          </p:cNvSpPr>
          <p:nvPr>
            <p:ph type="subTitle" idx="1"/>
          </p:nvPr>
        </p:nvSpPr>
        <p:spPr>
          <a:xfrm xmlns:a="http://schemas.openxmlformats.org/drawingml/2006/main">
            <a:off x="1828343" y="3771900"/>
            <a:ext cx="8532266"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none" lIns="0" tIns="0" rIns="0" bIns="0" anchor="ctr">
            <a:no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a:pPr>
              <a:lnSpc>
                <a:spcPct val="118000"/>
              </a:lnSpc>
              <a:spcBef>
                <a:spcPts val="0"/>
              </a:spcBef>
              <a:spcAft>
                <a:spcPts val="0"/>
              </a:spcAft>
            </a:p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08DCD879-3AD6-49F4-9C70-1EE758D021AA}"/>
              </a:ext>
            </a:extLst>
          </p:cNvPr>
          <p:cNvSpPr>
            <a:spLocks xmlns:a="http://schemas.openxmlformats.org/drawingml/2006/main" noGrp="1"/>
          </p:cNvSpPr>
          <p:nvPr/>
        </p:nvSpPr>
        <p:spPr>
          <a:xfrm xmlns:a="http://schemas.openxmlformats.org/drawingml/2006/main">
            <a:off x="5789752" y="2476500"/>
            <a:ext cx="609448"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A24ECA74-592B-49D7-8C37-9F0D4FB23B4A}"/>
              </a:ext>
            </a:extLst>
          </p:cNvPr>
          <p:cNvSpPr>
            <a:spLocks xmlns:a="http://schemas.openxmlformats.org/drawingml/2006/main" noGrp="1"/>
          </p:cNvSpPr>
          <p:nvPr>
            <p:ph type="title" idx="0"/>
          </p:nvPr>
        </p:nvSpPr>
        <p:spPr>
          <a:xfrm xmlns:a="http://schemas.openxmlformats.org/drawingml/2006/main">
            <a:off x="1218895" y="2857500"/>
            <a:ext cx="9751162"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none" lIns="0" tIns="0" rIns="0" bIns="0" anchor="ctr">
            <a:no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a:pPr>
              <a:lnSpc>
                <a:spcPct val="118000"/>
              </a:lnSpc>
              <a:spcBef>
                <a:spcPts val="0"/>
              </a:spcBef>
              <a:spcAft>
                <a:spcPts val="0"/>
              </a:spcAft>
            </a:p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165234B0-9A14-4BCD-874E-9F429A1E7221}"/>
              </a:ext>
            </a:extLst>
          </p:cNvPr>
          <p:cNvSpPr>
            <a:spLocks xmlns:a="http://schemas.openxmlformats.org/drawingml/2006/main" noGrp="1"/>
          </p:cNvSpPr>
          <p:nvPr/>
        </p:nvSpPr>
        <p:spPr>
          <a:xfrm xmlns:a="http://schemas.openxmlformats.org/drawingml/2006/main">
            <a:off x="685629" y="1524000"/>
            <a:ext cx="609448"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6834BD96-51D7-4AEE-892D-D5D735967AB4}"/>
              </a:ext>
            </a:extLst>
          </p:cNvPr>
          <p:cNvSpPr>
            <a:spLocks xmlns:a="http://schemas.openxmlformats.org/drawingml/2006/main" noGrp="1"/>
          </p:cNvSpPr>
          <p:nvPr>
            <p:ph type="title" idx="0"/>
          </p:nvPr>
        </p:nvSpPr>
        <p:spPr>
          <a:xfrm xmlns:a="http://schemas.openxmlformats.org/drawingml/2006/main">
            <a:off x="685629" y="533400"/>
            <a:ext cx="10817695"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none" lIns="0" tIns="0" rIns="0" bIns="0" anchor="t">
            <a:no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a:pPr>
              <a:lnSpc>
                <a:spcPct val="118000"/>
              </a:lnSpc>
              <a:spcBef>
                <a:spcPts val="0"/>
              </a:spcBef>
              <a:spcAft>
                <a:spcPts val="0"/>
              </a:spcAft>
            </a:pPr>
          </a:p>
        </p:txBody>
      </p:sp>
      <p:sp>
        <p:nvSpPr>
          <p:cNvPr id="3" name="Body">
            <a:extLst xmlns:a="http://schemas.openxmlformats.org/drawingml/2006/main">
              <a:ext uri="{FF2B5EF4-FFF2-40B4-BE49-F238E27FC236}">
                <a16:creationId xmlns:a16="http://schemas.microsoft.com/office/drawing/2014/main" id="{1DE2CD2B-D13C-42A7-B1CB-A994F2209DCB}"/>
              </a:ext>
            </a:extLst>
          </p:cNvPr>
          <p:cNvSpPr>
            <a:spLocks xmlns:a="http://schemas.openxmlformats.org/drawingml/2006/main" noGrp="1"/>
          </p:cNvSpPr>
          <p:nvPr>
            <p:ph type="body" idx="1"/>
          </p:nvPr>
        </p:nvSpPr>
        <p:spPr>
          <a:xfrm xmlns:a="http://schemas.openxmlformats.org/drawingml/2006/main">
            <a:off x="685629" y="1905000"/>
            <a:ext cx="10817695"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none" lIns="0" tIns="0" rIns="0" bIns="0" anchor="t">
            <a:noAutofit/>
          </a:bodyPr>
          <a:lstStyle xmlns:a="http://schemas.openxmlformats.org/drawingml/2006/main">
            <a:lvl1pPr marL="228543" indent="-228543">
              <a:lnSpc>
                <a:spcPct val="110000"/>
              </a:lnSpc>
              <a:spcBef>
                <a:spcPts val="0"/>
              </a:spcBef>
              <a:spcAft>
                <a:spcPts val="1200"/>
              </a:spcAft>
              <a:buChar char="•"/>
            </a:lvl1pPr>
            <a:lvl2pPr marL="533267" indent="-228543">
              <a:lnSpc>
                <a:spcPct val="110000"/>
              </a:lnSpc>
              <a:spcBef>
                <a:spcPts val="0"/>
              </a:spcBef>
              <a:spcAft>
                <a:spcPts val="1200"/>
              </a:spcAft>
              <a:buChar char="•"/>
            </a:lvl2pPr>
            <a:lvl3pPr marL="837990" indent="-228543">
              <a:lnSpc>
                <a:spcPct val="110000"/>
              </a:lnSpc>
              <a:spcBef>
                <a:spcPts val="0"/>
              </a:spcBef>
              <a:spcAft>
                <a:spcPts val="1200"/>
              </a:spcAft>
              <a:buChar char="•"/>
            </a:lvl3pPr>
            <a:lvl4pPr marL="1142714" indent="-228543">
              <a:lnSpc>
                <a:spcPct val="110000"/>
              </a:lnSpc>
              <a:spcBef>
                <a:spcPts val="0"/>
              </a:spcBef>
              <a:spcAft>
                <a:spcPts val="1200"/>
              </a:spcAft>
              <a:buChar char="•"/>
            </a:lvl4pPr>
            <a:lvl5pPr marL="1447438" indent="-228543">
              <a:lnSpc>
                <a:spcPct val="110000"/>
              </a:lnSpc>
              <a:spcBef>
                <a:spcPts val="0"/>
              </a:spcBef>
              <a:spcAft>
                <a:spcPts val="1200"/>
              </a:spcAft>
              <a:buChar char="•"/>
            </a:lvl5pPr>
            <a:lvl6pPr marL="1752162" indent="-228543">
              <a:lnSpc>
                <a:spcPct val="110000"/>
              </a:lnSpc>
              <a:spcBef>
                <a:spcPts val="0"/>
              </a:spcBef>
              <a:spcAft>
                <a:spcPts val="1200"/>
              </a:spcAft>
              <a:buChar char="•"/>
            </a:lvl6pPr>
            <a:lvl7pPr marL="2056886" indent="-228543">
              <a:lnSpc>
                <a:spcPct val="110000"/>
              </a:lnSpc>
              <a:spcBef>
                <a:spcPts val="0"/>
              </a:spcBef>
              <a:spcAft>
                <a:spcPts val="1200"/>
              </a:spcAft>
              <a:buChar char="•"/>
            </a:lvl7pPr>
            <a:lvl8pPr marL="2361609" indent="-228543">
              <a:lnSpc>
                <a:spcPct val="110000"/>
              </a:lnSpc>
              <a:spcBef>
                <a:spcPts val="0"/>
              </a:spcBef>
              <a:spcAft>
                <a:spcPts val="1200"/>
              </a:spcAft>
              <a:buChar char="•"/>
            </a:lvl8pPr>
            <a:lvl9pPr marL="2666333" indent="-228543">
              <a:lnSpc>
                <a:spcPct val="110000"/>
              </a:lnSpc>
              <a:spcBef>
                <a:spcPts val="0"/>
              </a:spcBef>
              <a:spcAft>
                <a:spcPts val="1200"/>
              </a:spcAft>
              <a:buChar char="•"/>
            </a:lvl9pPr>
          </a:lstStyle>
          <a:p xmlns:a="http://schemas.openxmlformats.org/drawingml/2006/main">
            <a:pPr>
              <a:lnSpc>
                <a:spcPct val="118000"/>
              </a:lnSpc>
              <a:spcBef>
                <a:spcPts val="0"/>
              </a:spcBef>
              <a:spcAft>
                <a:spcPts val="0"/>
              </a:spcAft>
            </a:p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BEB74A18-F4C9-4F71-85CD-D4BB326B52A2}"/>
              </a:ext>
            </a:extLst>
          </p:cNvPr>
          <p:cNvSpPr>
            <a:spLocks xmlns:a="http://schemas.openxmlformats.org/drawingml/2006/main" noGrp="1"/>
          </p:cNvSpPr>
          <p:nvPr/>
        </p:nvSpPr>
        <p:spPr>
          <a:xfrm xmlns:a="http://schemas.openxmlformats.org/drawingml/2006/main">
            <a:off x="685629" y="1524000"/>
            <a:ext cx="609448"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7B83E4AA-48EF-472D-982B-FB46B9542174}"/>
              </a:ext>
            </a:extLst>
          </p:cNvPr>
          <p:cNvSpPr>
            <a:spLocks xmlns:a="http://schemas.openxmlformats.org/drawingml/2006/main" noGrp="1"/>
          </p:cNvSpPr>
          <p:nvPr>
            <p:ph type="title" idx="0"/>
          </p:nvPr>
        </p:nvSpPr>
        <p:spPr>
          <a:xfrm xmlns:a="http://schemas.openxmlformats.org/drawingml/2006/main">
            <a:off x="685629" y="533400"/>
            <a:ext cx="10817695"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none" lIns="0" tIns="0" rIns="0" bIns="0" anchor="t">
            <a:no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a:pPr>
              <a:lnSpc>
                <a:spcPct val="118000"/>
              </a:lnSpc>
              <a:spcBef>
                <a:spcPts val="0"/>
              </a:spcBef>
              <a:spcAft>
                <a:spcPts val="0"/>
              </a:spcAft>
            </a:pPr>
          </a:p>
        </p:txBody>
      </p:sp>
      <p:sp>
        <p:nvSpPr>
          <p:cNvPr id="3" name="Left column">
            <a:extLst xmlns:a="http://schemas.openxmlformats.org/drawingml/2006/main">
              <a:ext uri="{FF2B5EF4-FFF2-40B4-BE49-F238E27FC236}">
                <a16:creationId xmlns:a16="http://schemas.microsoft.com/office/drawing/2014/main" id="{A79FA8E9-80C3-4DC9-8FFB-CF6BC70897CA}"/>
              </a:ext>
            </a:extLst>
          </p:cNvPr>
          <p:cNvSpPr>
            <a:spLocks xmlns:a="http://schemas.openxmlformats.org/drawingml/2006/main" noGrp="1"/>
          </p:cNvSpPr>
          <p:nvPr>
            <p:ph type="body" idx="1"/>
          </p:nvPr>
        </p:nvSpPr>
        <p:spPr>
          <a:xfrm xmlns:a="http://schemas.openxmlformats.org/drawingml/2006/main">
            <a:off x="685629" y="1905000"/>
            <a:ext cx="5027943"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none" lIns="0" tIns="0" rIns="0" bIns="0" anchor="t">
            <a:noAutofit/>
          </a:bodyPr>
          <a:lstStyle xmlns:a="http://schemas.openxmlformats.org/drawingml/2006/main">
            <a:lvl1pPr marL="228543" indent="-228543">
              <a:lnSpc>
                <a:spcPct val="110000"/>
              </a:lnSpc>
              <a:spcBef>
                <a:spcPts val="0"/>
              </a:spcBef>
              <a:spcAft>
                <a:spcPts val="1200"/>
              </a:spcAft>
              <a:buChar char="•"/>
            </a:lvl1pPr>
            <a:lvl2pPr marL="533267" indent="-228543">
              <a:lnSpc>
                <a:spcPct val="110000"/>
              </a:lnSpc>
              <a:spcBef>
                <a:spcPts val="0"/>
              </a:spcBef>
              <a:spcAft>
                <a:spcPts val="1200"/>
              </a:spcAft>
              <a:buChar char="•"/>
            </a:lvl2pPr>
            <a:lvl3pPr marL="837990" indent="-228543">
              <a:lnSpc>
                <a:spcPct val="110000"/>
              </a:lnSpc>
              <a:spcBef>
                <a:spcPts val="0"/>
              </a:spcBef>
              <a:spcAft>
                <a:spcPts val="1200"/>
              </a:spcAft>
              <a:buChar char="•"/>
            </a:lvl3pPr>
            <a:lvl4pPr marL="1142714" indent="-228543">
              <a:lnSpc>
                <a:spcPct val="110000"/>
              </a:lnSpc>
              <a:spcBef>
                <a:spcPts val="0"/>
              </a:spcBef>
              <a:spcAft>
                <a:spcPts val="1200"/>
              </a:spcAft>
              <a:buChar char="•"/>
            </a:lvl4pPr>
            <a:lvl5pPr marL="1447438" indent="-228543">
              <a:lnSpc>
                <a:spcPct val="110000"/>
              </a:lnSpc>
              <a:spcBef>
                <a:spcPts val="0"/>
              </a:spcBef>
              <a:spcAft>
                <a:spcPts val="1200"/>
              </a:spcAft>
              <a:buChar char="•"/>
            </a:lvl5pPr>
            <a:lvl6pPr marL="1752162" indent="-228543">
              <a:lnSpc>
                <a:spcPct val="110000"/>
              </a:lnSpc>
              <a:spcBef>
                <a:spcPts val="0"/>
              </a:spcBef>
              <a:spcAft>
                <a:spcPts val="1200"/>
              </a:spcAft>
              <a:buChar char="•"/>
            </a:lvl6pPr>
            <a:lvl7pPr marL="2056886" indent="-228543">
              <a:lnSpc>
                <a:spcPct val="110000"/>
              </a:lnSpc>
              <a:spcBef>
                <a:spcPts val="0"/>
              </a:spcBef>
              <a:spcAft>
                <a:spcPts val="1200"/>
              </a:spcAft>
              <a:buChar char="•"/>
            </a:lvl7pPr>
            <a:lvl8pPr marL="2361609" indent="-228543">
              <a:lnSpc>
                <a:spcPct val="110000"/>
              </a:lnSpc>
              <a:spcBef>
                <a:spcPts val="0"/>
              </a:spcBef>
              <a:spcAft>
                <a:spcPts val="1200"/>
              </a:spcAft>
              <a:buChar char="•"/>
            </a:lvl8pPr>
            <a:lvl9pPr marL="2666333" indent="-228543">
              <a:lnSpc>
                <a:spcPct val="110000"/>
              </a:lnSpc>
              <a:spcBef>
                <a:spcPts val="0"/>
              </a:spcBef>
              <a:spcAft>
                <a:spcPts val="1200"/>
              </a:spcAft>
              <a:buChar char="•"/>
            </a:lvl9pPr>
          </a:lstStyle>
          <a:p xmlns:a="http://schemas.openxmlformats.org/drawingml/2006/main">
            <a:pPr>
              <a:lnSpc>
                <a:spcPct val="118000"/>
              </a:lnSpc>
              <a:spcBef>
                <a:spcPts val="0"/>
              </a:spcBef>
              <a:spcAft>
                <a:spcPts val="0"/>
              </a:spcAft>
            </a:pPr>
          </a:p>
        </p:txBody>
      </p:sp>
      <p:sp>
        <p:nvSpPr>
          <p:cNvPr id="4" name="Right column">
            <a:extLst xmlns:a="http://schemas.openxmlformats.org/drawingml/2006/main">
              <a:ext uri="{FF2B5EF4-FFF2-40B4-BE49-F238E27FC236}">
                <a16:creationId xmlns:a16="http://schemas.microsoft.com/office/drawing/2014/main" id="{C7022761-7001-487B-A8C4-E240C65372C1}"/>
              </a:ext>
            </a:extLst>
          </p:cNvPr>
          <p:cNvSpPr>
            <a:spLocks xmlns:a="http://schemas.openxmlformats.org/drawingml/2006/main" noGrp="1"/>
          </p:cNvSpPr>
          <p:nvPr>
            <p:ph type="body" idx="2"/>
          </p:nvPr>
        </p:nvSpPr>
        <p:spPr>
          <a:xfrm xmlns:a="http://schemas.openxmlformats.org/drawingml/2006/main">
            <a:off x="6475381" y="1905000"/>
            <a:ext cx="5027943"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none" lIns="0" tIns="0" rIns="0" bIns="0" anchor="t">
            <a:noAutofit/>
          </a:bodyPr>
          <a:lstStyle xmlns:a="http://schemas.openxmlformats.org/drawingml/2006/main">
            <a:lvl1pPr marL="228543" indent="-228543">
              <a:lnSpc>
                <a:spcPct val="110000"/>
              </a:lnSpc>
              <a:spcBef>
                <a:spcPts val="0"/>
              </a:spcBef>
              <a:spcAft>
                <a:spcPts val="1200"/>
              </a:spcAft>
              <a:buChar char="•"/>
            </a:lvl1pPr>
            <a:lvl2pPr marL="533267" indent="-228543">
              <a:lnSpc>
                <a:spcPct val="110000"/>
              </a:lnSpc>
              <a:spcBef>
                <a:spcPts val="0"/>
              </a:spcBef>
              <a:spcAft>
                <a:spcPts val="1200"/>
              </a:spcAft>
              <a:buChar char="•"/>
            </a:lvl2pPr>
            <a:lvl3pPr marL="837990" indent="-228543">
              <a:lnSpc>
                <a:spcPct val="110000"/>
              </a:lnSpc>
              <a:spcBef>
                <a:spcPts val="0"/>
              </a:spcBef>
              <a:spcAft>
                <a:spcPts val="1200"/>
              </a:spcAft>
              <a:buChar char="•"/>
            </a:lvl3pPr>
            <a:lvl4pPr marL="1142714" indent="-228543">
              <a:lnSpc>
                <a:spcPct val="110000"/>
              </a:lnSpc>
              <a:spcBef>
                <a:spcPts val="0"/>
              </a:spcBef>
              <a:spcAft>
                <a:spcPts val="1200"/>
              </a:spcAft>
              <a:buChar char="•"/>
            </a:lvl4pPr>
            <a:lvl5pPr marL="1447438" indent="-228543">
              <a:lnSpc>
                <a:spcPct val="110000"/>
              </a:lnSpc>
              <a:spcBef>
                <a:spcPts val="0"/>
              </a:spcBef>
              <a:spcAft>
                <a:spcPts val="1200"/>
              </a:spcAft>
              <a:buChar char="•"/>
            </a:lvl5pPr>
            <a:lvl6pPr marL="1752162" indent="-228543">
              <a:lnSpc>
                <a:spcPct val="110000"/>
              </a:lnSpc>
              <a:spcBef>
                <a:spcPts val="0"/>
              </a:spcBef>
              <a:spcAft>
                <a:spcPts val="1200"/>
              </a:spcAft>
              <a:buChar char="•"/>
            </a:lvl6pPr>
            <a:lvl7pPr marL="2056886" indent="-228543">
              <a:lnSpc>
                <a:spcPct val="110000"/>
              </a:lnSpc>
              <a:spcBef>
                <a:spcPts val="0"/>
              </a:spcBef>
              <a:spcAft>
                <a:spcPts val="1200"/>
              </a:spcAft>
              <a:buChar char="•"/>
            </a:lvl7pPr>
            <a:lvl8pPr marL="2361609" indent="-228543">
              <a:lnSpc>
                <a:spcPct val="110000"/>
              </a:lnSpc>
              <a:spcBef>
                <a:spcPts val="0"/>
              </a:spcBef>
              <a:spcAft>
                <a:spcPts val="1200"/>
              </a:spcAft>
              <a:buChar char="•"/>
            </a:lvl8pPr>
            <a:lvl9pPr marL="2666333" indent="-228543">
              <a:lnSpc>
                <a:spcPct val="110000"/>
              </a:lnSpc>
              <a:spcBef>
                <a:spcPts val="0"/>
              </a:spcBef>
              <a:spcAft>
                <a:spcPts val="1200"/>
              </a:spcAft>
              <a:buChar char="•"/>
            </a:lvl9pPr>
          </a:lstStyle>
          <a:p xmlns:a="http://schemas.openxmlformats.org/drawingml/2006/main">
            <a:pPr>
              <a:lnSpc>
                <a:spcPct val="118000"/>
              </a:lnSpc>
              <a:spcBef>
                <a:spcPts val="0"/>
              </a:spcBef>
              <a:spcAft>
                <a:spcPts val="0"/>
              </a:spcAft>
            </a:p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187A74D0-6CE1-4139-A4A5-C638E194E59F}"/>
              </a:ext>
            </a:extLst>
          </p:cNvPr>
          <p:cNvSpPr>
            <a:spLocks xmlns:a="http://schemas.openxmlformats.org/drawingml/2006/main" noGrp="1"/>
          </p:cNvSpPr>
          <p:nvPr/>
        </p:nvSpPr>
        <p:spPr>
          <a:xfrm xmlns:a="http://schemas.openxmlformats.org/drawingml/2006/main">
            <a:off x="685629" y="1524000"/>
            <a:ext cx="609448"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0C94154D-ECE1-4866-BED7-EFD1A1DBFFC4}"/>
              </a:ext>
            </a:extLst>
          </p:cNvPr>
          <p:cNvSpPr>
            <a:spLocks xmlns:a="http://schemas.openxmlformats.org/drawingml/2006/main" noGrp="1"/>
          </p:cNvSpPr>
          <p:nvPr>
            <p:ph type="title" idx="0"/>
          </p:nvPr>
        </p:nvSpPr>
        <p:spPr>
          <a:xfrm xmlns:a="http://schemas.openxmlformats.org/drawingml/2006/main">
            <a:off x="685629" y="533400"/>
            <a:ext cx="10817695"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none" lIns="0" tIns="0" rIns="0" bIns="0" anchor="t">
            <a:no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a:pPr>
              <a:lnSpc>
                <a:spcPct val="118000"/>
              </a:lnSpc>
              <a:spcBef>
                <a:spcPts val="0"/>
              </a:spcBef>
              <a:spcAft>
                <a:spcPts val="0"/>
              </a:spcAft>
            </a:pPr>
          </a:p>
        </p:txBody>
      </p:sp>
      <p:sp>
        <p:nvSpPr>
          <p:cNvPr id="3" name="Left column">
            <a:extLst xmlns:a="http://schemas.openxmlformats.org/drawingml/2006/main">
              <a:ext uri="{FF2B5EF4-FFF2-40B4-BE49-F238E27FC236}">
                <a16:creationId xmlns:a16="http://schemas.microsoft.com/office/drawing/2014/main" id="{FDD206EE-4B22-41EE-B2A6-EA2DF672A24A}"/>
              </a:ext>
            </a:extLst>
          </p:cNvPr>
          <p:cNvSpPr>
            <a:spLocks xmlns:a="http://schemas.openxmlformats.org/drawingml/2006/main" noGrp="1"/>
          </p:cNvSpPr>
          <p:nvPr>
            <p:ph type="body" idx="1"/>
          </p:nvPr>
        </p:nvSpPr>
        <p:spPr>
          <a:xfrm xmlns:a="http://schemas.openxmlformats.org/drawingml/2006/main">
            <a:off x="685629" y="1905000"/>
            <a:ext cx="5027943"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none" lIns="0" tIns="0" rIns="0" bIns="0" anchor="t">
            <a:noAutofit/>
          </a:bodyPr>
          <a:lstStyle xmlns:a="http://schemas.openxmlformats.org/drawingml/2006/main">
            <a:lvl1pPr marL="228543" indent="-228543">
              <a:lnSpc>
                <a:spcPct val="110000"/>
              </a:lnSpc>
              <a:spcBef>
                <a:spcPts val="0"/>
              </a:spcBef>
              <a:spcAft>
                <a:spcPts val="1200"/>
              </a:spcAft>
              <a:buChar char="•"/>
            </a:lvl1pPr>
            <a:lvl2pPr marL="533267" indent="-228543">
              <a:lnSpc>
                <a:spcPct val="110000"/>
              </a:lnSpc>
              <a:spcBef>
                <a:spcPts val="0"/>
              </a:spcBef>
              <a:spcAft>
                <a:spcPts val="1200"/>
              </a:spcAft>
              <a:buChar char="•"/>
            </a:lvl2pPr>
            <a:lvl3pPr marL="837990" indent="-228543">
              <a:lnSpc>
                <a:spcPct val="110000"/>
              </a:lnSpc>
              <a:spcBef>
                <a:spcPts val="0"/>
              </a:spcBef>
              <a:spcAft>
                <a:spcPts val="1200"/>
              </a:spcAft>
              <a:buChar char="•"/>
            </a:lvl3pPr>
            <a:lvl4pPr marL="1142714" indent="-228543">
              <a:lnSpc>
                <a:spcPct val="110000"/>
              </a:lnSpc>
              <a:spcBef>
                <a:spcPts val="0"/>
              </a:spcBef>
              <a:spcAft>
                <a:spcPts val="1200"/>
              </a:spcAft>
              <a:buChar char="•"/>
            </a:lvl4pPr>
            <a:lvl5pPr marL="1447438" indent="-228543">
              <a:lnSpc>
                <a:spcPct val="110000"/>
              </a:lnSpc>
              <a:spcBef>
                <a:spcPts val="0"/>
              </a:spcBef>
              <a:spcAft>
                <a:spcPts val="1200"/>
              </a:spcAft>
              <a:buChar char="•"/>
            </a:lvl5pPr>
            <a:lvl6pPr marL="1752162" indent="-228543">
              <a:lnSpc>
                <a:spcPct val="110000"/>
              </a:lnSpc>
              <a:spcBef>
                <a:spcPts val="0"/>
              </a:spcBef>
              <a:spcAft>
                <a:spcPts val="1200"/>
              </a:spcAft>
              <a:buChar char="•"/>
            </a:lvl6pPr>
            <a:lvl7pPr marL="2056886" indent="-228543">
              <a:lnSpc>
                <a:spcPct val="110000"/>
              </a:lnSpc>
              <a:spcBef>
                <a:spcPts val="0"/>
              </a:spcBef>
              <a:spcAft>
                <a:spcPts val="1200"/>
              </a:spcAft>
              <a:buChar char="•"/>
            </a:lvl7pPr>
            <a:lvl8pPr marL="2361609" indent="-228543">
              <a:lnSpc>
                <a:spcPct val="110000"/>
              </a:lnSpc>
              <a:spcBef>
                <a:spcPts val="0"/>
              </a:spcBef>
              <a:spcAft>
                <a:spcPts val="1200"/>
              </a:spcAft>
              <a:buChar char="•"/>
            </a:lvl8pPr>
            <a:lvl9pPr marL="2666333" indent="-228543">
              <a:lnSpc>
                <a:spcPct val="110000"/>
              </a:lnSpc>
              <a:spcBef>
                <a:spcPts val="0"/>
              </a:spcBef>
              <a:spcAft>
                <a:spcPts val="1200"/>
              </a:spcAft>
              <a:buChar char="•"/>
            </a:lvl9pPr>
          </a:lstStyle>
          <a:p xmlns:a="http://schemas.openxmlformats.org/drawingml/2006/main">
            <a:pPr>
              <a:lnSpc>
                <a:spcPct val="118000"/>
              </a:lnSpc>
              <a:spcBef>
                <a:spcPts val="0"/>
              </a:spcBef>
              <a:spcAft>
                <a:spcPts val="0"/>
              </a:spcAft>
            </a:p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f4180438068429e" /><Relationship Type="http://schemas.openxmlformats.org/officeDocument/2006/relationships/slideLayout" Target="/ppt/slideLayouts/slideLayout1.xml" Id="R7d71883348374a82" /><Relationship Type="http://schemas.openxmlformats.org/officeDocument/2006/relationships/slideLayout" Target="/ppt/slideLayouts/slideLayout2.xml" Id="R54aa396d28a9416d" /><Relationship Type="http://schemas.openxmlformats.org/officeDocument/2006/relationships/slideLayout" Target="/ppt/slideLayouts/slideLayout3.xml" Id="R610ef79e41854267" /><Relationship Type="http://schemas.openxmlformats.org/officeDocument/2006/relationships/slideLayout" Target="/ppt/slideLayouts/slideLayout4.xml" Id="R8b4f4cb530894a1b" /><Relationship Type="http://schemas.openxmlformats.org/officeDocument/2006/relationships/slideLayout" Target="/ppt/slideLayouts/slideLayout5.xml" Id="Re0772f4a1ec2402b" /><Relationship Type="http://schemas.openxmlformats.org/officeDocument/2006/relationships/slideLayout" Target="/ppt/slideLayouts/slideLayout6.xml" Id="R7d64fcf1e344465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d71883348374a82"/>
    <p:sldLayoutId xmlns:r="http://schemas.openxmlformats.org/officeDocument/2006/relationships" id="2147483650" r:id="R54aa396d28a9416d"/>
    <p:sldLayoutId xmlns:r="http://schemas.openxmlformats.org/officeDocument/2006/relationships" id="2147483651" r:id="R610ef79e41854267"/>
    <p:sldLayoutId xmlns:r="http://schemas.openxmlformats.org/officeDocument/2006/relationships" id="2147483652" r:id="R8b4f4cb530894a1b"/>
    <p:sldLayoutId xmlns:r="http://schemas.openxmlformats.org/officeDocument/2006/relationships" id="2147483653" r:id="Re0772f4a1ec2402b"/>
    <p:sldLayoutId xmlns:r="http://schemas.openxmlformats.org/officeDocument/2006/relationships" id="2147483654" r:id="R7d64fcf1e3444656"/>
  </p:sldLayoutIdLst>
  <p:txStyles>
    <p:titleStyle>
      <a:lvl1pPr xmlns:a="http://schemas.openxmlformats.org/drawingml/2006/main" algn="l">
        <a:lnSpc>
          <a:spcPct val="90000"/>
        </a:lnSpc>
        <a:spcBef>
          <a:spcPts val="0"/>
        </a:spcBef>
        <a:buNone/>
        <a:defRPr sz="4400">
          <a:solidFill>
            <a:schemeClr val="tx1"/>
          </a:solidFill>
          <a:latin typeface="Pretendard"/>
          <a:ea typeface="Pretendard"/>
          <a:cs typeface="Pretendard"/>
        </a:defRPr>
      </a:lvl1pPr>
    </p:titleStyle>
    <p:bodyStyle>
      <a:lvl1pPr xmlns:a="http://schemas.openxmlformats.org/drawingml/2006/main" marL="228600" indent="-228600" algn="l">
        <a:lnSpc>
          <a:spcPct val="90000"/>
        </a:lnSpc>
        <a:spcBef>
          <a:spcPts val="1000"/>
        </a:spcBef>
        <a:buChar char="•"/>
        <a:defRPr sz="2800">
          <a:solidFill>
            <a:schemeClr val="tx1"/>
          </a:solidFill>
          <a:latin typeface="Pretendard"/>
          <a:ea typeface="Pretendard"/>
          <a:cs typeface="Pretendard"/>
        </a:defRPr>
      </a:lvl1pPr>
      <a:lvl2pPr xmlns:a="http://schemas.openxmlformats.org/drawingml/2006/main" marL="685800" indent="-228600" algn="l">
        <a:lnSpc>
          <a:spcPct val="90000"/>
        </a:lnSpc>
        <a:spcBef>
          <a:spcPts val="500"/>
        </a:spcBef>
        <a:buChar char="•"/>
        <a:defRPr sz="2400">
          <a:solidFill>
            <a:schemeClr val="tx1"/>
          </a:solidFill>
          <a:latin typeface="Pretendard"/>
          <a:ea typeface="Pretendard"/>
          <a:cs typeface="Pretendard"/>
        </a:defRPr>
      </a:lvl2pPr>
      <a:lvl3pPr xmlns:a="http://schemas.openxmlformats.org/drawingml/2006/main" marL="1143000" indent="-228600" algn="l">
        <a:lnSpc>
          <a:spcPct val="90000"/>
        </a:lnSpc>
        <a:spcBef>
          <a:spcPts val="500"/>
        </a:spcBef>
        <a:buChar char="•"/>
        <a:defRPr sz="2000">
          <a:solidFill>
            <a:schemeClr val="tx1"/>
          </a:solidFill>
          <a:latin typeface="Pretendard"/>
          <a:ea typeface="Pretendard"/>
          <a:cs typeface="Pretendard"/>
        </a:defRPr>
      </a:lvl3pPr>
      <a:lvl4pPr xmlns:a="http://schemas.openxmlformats.org/drawingml/2006/main" marL="1600200" indent="-228600" algn="l">
        <a:lnSpc>
          <a:spcPct val="90000"/>
        </a:lnSpc>
        <a:spcBef>
          <a:spcPts val="500"/>
        </a:spcBef>
        <a:buChar char="•"/>
        <a:defRPr sz="1800">
          <a:solidFill>
            <a:schemeClr val="tx1"/>
          </a:solidFill>
          <a:latin typeface="Pretendard"/>
          <a:ea typeface="Pretendard"/>
          <a:cs typeface="Pretendard"/>
        </a:defRPr>
      </a:lvl4pPr>
      <a:lvl5pPr xmlns:a="http://schemas.openxmlformats.org/drawingml/2006/main" marL="2057400" indent="-228600" algn="l">
        <a:lnSpc>
          <a:spcPct val="90000"/>
        </a:lnSpc>
        <a:spcBef>
          <a:spcPts val="500"/>
        </a:spcBef>
        <a:buChar char="•"/>
        <a:defRPr sz="1800">
          <a:solidFill>
            <a:schemeClr val="tx1"/>
          </a:solidFill>
          <a:latin typeface="Pretendard"/>
          <a:ea typeface="Pretendard"/>
          <a:cs typeface="Pretendard"/>
        </a:defRPr>
      </a:lvl5pPr>
      <a:lvl6pPr xmlns:a="http://schemas.openxmlformats.org/drawingml/2006/main" marL="2514600" indent="-228600" algn="l">
        <a:lnSpc>
          <a:spcPct val="90000"/>
        </a:lnSpc>
        <a:spcBef>
          <a:spcPts val="500"/>
        </a:spcBef>
        <a:buChar char="•"/>
        <a:defRPr sz="1800">
          <a:solidFill>
            <a:schemeClr val="tx1"/>
          </a:solidFill>
          <a:latin typeface="Pretendard"/>
          <a:ea typeface="Pretendard"/>
          <a:cs typeface="Pretendard"/>
        </a:defRPr>
      </a:lvl6pPr>
      <a:lvl7pPr xmlns:a="http://schemas.openxmlformats.org/drawingml/2006/main" marL="2971800" indent="-228600" algn="l">
        <a:lnSpc>
          <a:spcPct val="90000"/>
        </a:lnSpc>
        <a:spcBef>
          <a:spcPts val="500"/>
        </a:spcBef>
        <a:buChar char="•"/>
        <a:defRPr sz="1800">
          <a:solidFill>
            <a:schemeClr val="tx1"/>
          </a:solidFill>
          <a:latin typeface="Pretendard"/>
          <a:ea typeface="Pretendard"/>
          <a:cs typeface="Pretendard"/>
        </a:defRPr>
      </a:lvl7pPr>
      <a:lvl8pPr xmlns:a="http://schemas.openxmlformats.org/drawingml/2006/main" marL="3429000" indent="-228600" algn="l">
        <a:lnSpc>
          <a:spcPct val="90000"/>
        </a:lnSpc>
        <a:spcBef>
          <a:spcPts val="500"/>
        </a:spcBef>
        <a:buChar char="•"/>
        <a:defRPr sz="1800">
          <a:solidFill>
            <a:schemeClr val="tx1"/>
          </a:solidFill>
          <a:latin typeface="Pretendard"/>
          <a:ea typeface="Pretendard"/>
          <a:cs typeface="Pretendard"/>
        </a:defRPr>
      </a:lvl8pPr>
      <a:lvl9pPr xmlns:a="http://schemas.openxmlformats.org/drawingml/2006/main" marL="3886200" indent="-228600" algn="l">
        <a:lnSpc>
          <a:spcPct val="90000"/>
        </a:lnSpc>
        <a:spcBef>
          <a:spcPts val="500"/>
        </a:spcBef>
        <a:buChar char="•"/>
        <a:defRPr sz="1800">
          <a:solidFill>
            <a:schemeClr val="tx1"/>
          </a:solidFill>
          <a:latin typeface="Pretendard"/>
          <a:ea typeface="Pretendard"/>
          <a:cs typeface="Pretendard"/>
        </a:defRPr>
      </a:lvl9pPr>
    </p:bodyStyle>
    <p:otherStyle>
      <a:lvl1pPr xmlns:a="http://schemas.openxmlformats.org/drawingml/2006/main" marL="0" algn="l">
        <a:buNone/>
        <a:defRPr sz="1800">
          <a:solidFill>
            <a:schemeClr val="tx1"/>
          </a:solidFill>
          <a:latin typeface="Pretendard"/>
          <a:ea typeface="Pretendard"/>
          <a:cs typeface="Pretendard"/>
        </a:defRPr>
      </a:lvl1pPr>
      <a:lvl2pPr xmlns:a="http://schemas.openxmlformats.org/drawingml/2006/main" marL="457200" algn="l">
        <a:buNone/>
        <a:defRPr sz="1800">
          <a:solidFill>
            <a:schemeClr val="tx1"/>
          </a:solidFill>
          <a:latin typeface="Pretendard"/>
          <a:ea typeface="Pretendard"/>
          <a:cs typeface="Pretendard"/>
        </a:defRPr>
      </a:lvl2pPr>
      <a:lvl3pPr xmlns:a="http://schemas.openxmlformats.org/drawingml/2006/main" marL="914400" algn="l">
        <a:buNone/>
        <a:defRPr sz="1800">
          <a:solidFill>
            <a:schemeClr val="tx1"/>
          </a:solidFill>
          <a:latin typeface="Pretendard"/>
          <a:ea typeface="Pretendard"/>
          <a:cs typeface="Pretendard"/>
        </a:defRPr>
      </a:lvl3pPr>
      <a:lvl4pPr xmlns:a="http://schemas.openxmlformats.org/drawingml/2006/main" marL="1371600" algn="l">
        <a:buNone/>
        <a:defRPr sz="1800">
          <a:solidFill>
            <a:schemeClr val="tx1"/>
          </a:solidFill>
          <a:latin typeface="Pretendard"/>
          <a:ea typeface="Pretendard"/>
          <a:cs typeface="Pretendard"/>
        </a:defRPr>
      </a:lvl4pPr>
      <a:lvl5pPr xmlns:a="http://schemas.openxmlformats.org/drawingml/2006/main" marL="1828800" algn="l">
        <a:buNone/>
        <a:defRPr sz="1800">
          <a:solidFill>
            <a:schemeClr val="tx1"/>
          </a:solidFill>
          <a:latin typeface="Pretendard"/>
          <a:ea typeface="Pretendard"/>
          <a:cs typeface="Pretendard"/>
        </a:defRPr>
      </a:lvl5pPr>
      <a:lvl6pPr xmlns:a="http://schemas.openxmlformats.org/drawingml/2006/main" marL="2286000" algn="l">
        <a:buNone/>
        <a:defRPr sz="1800">
          <a:solidFill>
            <a:schemeClr val="tx1"/>
          </a:solidFill>
          <a:latin typeface="Pretendard"/>
          <a:ea typeface="Pretendard"/>
          <a:cs typeface="Pretendard"/>
        </a:defRPr>
      </a:lvl6pPr>
      <a:lvl7pPr xmlns:a="http://schemas.openxmlformats.org/drawingml/2006/main" marL="2743200" algn="l">
        <a:buNone/>
        <a:defRPr sz="1800">
          <a:solidFill>
            <a:schemeClr val="tx1"/>
          </a:solidFill>
          <a:latin typeface="Pretendard"/>
          <a:ea typeface="Pretendard"/>
          <a:cs typeface="Pretendard"/>
        </a:defRPr>
      </a:lvl7pPr>
      <a:lvl8pPr xmlns:a="http://schemas.openxmlformats.org/drawingml/2006/main" marL="3200400" algn="l">
        <a:buNone/>
        <a:defRPr sz="1800">
          <a:solidFill>
            <a:schemeClr val="tx1"/>
          </a:solidFill>
          <a:latin typeface="Pretendard"/>
          <a:ea typeface="Pretendard"/>
          <a:cs typeface="Pretendard"/>
        </a:defRPr>
      </a:lvl8pPr>
      <a:lvl9pPr xmlns:a="http://schemas.openxmlformats.org/drawingml/2006/main" marL="3657600" algn="l">
        <a:buNone/>
        <a:defRPr sz="1800">
          <a:solidFill>
            <a:schemeClr val="tx1"/>
          </a:solidFill>
          <a:latin typeface="Pretendard"/>
          <a:ea typeface="Pretendard"/>
          <a:cs typeface="Pretendard"/>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Pretendard"/>
        <a:ea typeface="Pretendard"/>
        <a:cs typeface="Pretendard"/>
      </a:majorFont>
      <a:minorFont>
        <a:latin typeface="Pretendard"/>
        <a:ea typeface="Pretendard"/>
        <a:cs typeface="Pretendard"/>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cf098c194034575" /><Relationship Type="http://schemas.openxmlformats.org/officeDocument/2006/relationships/notesSlide" Target="/ppt/notesSlides/notesSlide1.xml" Id="R3f7a1b45c4444a2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8d3700667654a58" /><Relationship Type="http://schemas.openxmlformats.org/officeDocument/2006/relationships/notesSlide" Target="/ppt/notesSlides/notesSlide2.xml" Id="R4d02ca695e294a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3b050cee2294164" /><Relationship Type="http://schemas.openxmlformats.org/officeDocument/2006/relationships/notesSlide" Target="/ppt/notesSlides/notesSlide3.xml" Id="Rfc8d2509549b428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62b382c83e64703" /><Relationship Type="http://schemas.openxmlformats.org/officeDocument/2006/relationships/notesSlide" Target="/ppt/notesSlides/notesSlide4.xml" Id="R106d3383668640d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83c344e24d34318" /><Relationship Type="http://schemas.openxmlformats.org/officeDocument/2006/relationships/notesSlide" Target="/ppt/notesSlides/notesSlide5.xml" Id="R6b9ef374829d491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52b0af23b394221" /><Relationship Type="http://schemas.openxmlformats.org/officeDocument/2006/relationships/notesSlide" Target="/ppt/notesSlides/notesSlide6.xml" Id="R61db37a32919435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60bf7dd247b46d4" /><Relationship Type="http://schemas.openxmlformats.org/officeDocument/2006/relationships/notesSlide" Target="/ppt/notesSlides/notesSlide7.xml" Id="R9b21953b70b34c7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cc4a49fd2714739" /><Relationship Type="http://schemas.openxmlformats.org/officeDocument/2006/relationships/notesSlide" Target="/ppt/notesSlides/notesSlide8.xml" Id="Rd362d46d2cd1441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b1f6e5147b64cb2" /><Relationship Type="http://schemas.openxmlformats.org/officeDocument/2006/relationships/chart" Target="/ppt/slides/charts/chart1.xml" Id="R412f3a692a124d8c" /><Relationship Type="http://schemas.openxmlformats.org/officeDocument/2006/relationships/notesSlide" Target="/ppt/notesSlides/notesSlide9.xml" Id="R4d2d6b5fe603418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2379596d636482f" /><Relationship Type="http://schemas.openxmlformats.org/officeDocument/2006/relationships/notesSlide" Target="/ppt/notesSlides/notesSlide10.xml" Id="Rdd38256504b64ef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05a05705af04196" /><Relationship Type="http://schemas.openxmlformats.org/officeDocument/2006/relationships/notesSlide" Target="/ppt/notesSlides/notesSlide11.xml" Id="R57ffdfeda528490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660afc0fb5145d0" /><Relationship Type="http://schemas.openxmlformats.org/officeDocument/2006/relationships/notesSlide" Target="/ppt/notesSlides/notesSlide12.xml" Id="R2e56460f5ea24e9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c0c9c9105cf4ecb" /><Relationship Type="http://schemas.openxmlformats.org/officeDocument/2006/relationships/notesSlide" Target="/ppt/notesSlides/notesSlide13.xml" Id="Rd59d58e8608c496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dccc940249c45ab" /><Relationship Type="http://schemas.openxmlformats.org/officeDocument/2006/relationships/notesSlide" Target="/ppt/notesSlides/notesSlide14.xml" Id="R763e765cb0d54bc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aa6132520aa4ef7" /><Relationship Type="http://schemas.openxmlformats.org/officeDocument/2006/relationships/notesSlide" Target="/ppt/notesSlides/notesSlide15.xml" Id="R00c98582a7bb4e0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53faccfb8124f14" /><Relationship Type="http://schemas.openxmlformats.org/officeDocument/2006/relationships/notesSlide" Target="/ppt/notesSlides/notesSlide16.xml" Id="R94448471c821445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9775bdc3d84452f" /><Relationship Type="http://schemas.openxmlformats.org/officeDocument/2006/relationships/notesSlide" Target="/ppt/notesSlides/notesSlide17.xml" Id="Rfc0b04ddfa83408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51ab70194c749e6" /><Relationship Type="http://schemas.openxmlformats.org/officeDocument/2006/relationships/notesSlide" Target="/ppt/notesSlides/notesSlide18.xml" Id="R86b35f64be1e4ff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a46bd7d28304528" /><Relationship Type="http://schemas.openxmlformats.org/officeDocument/2006/relationships/notesSlide" Target="/ppt/notesSlides/notesSlide19.xml" Id="R58f87526942e47c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62c206dc1384b32" /><Relationship Type="http://schemas.openxmlformats.org/officeDocument/2006/relationships/notesSlide" Target="/ppt/notesSlides/notesSlide20.xml" Id="R351c036b8fe0469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a60e0e73f584f54" /><Relationship Type="http://schemas.openxmlformats.org/officeDocument/2006/relationships/notesSlide" Target="/ppt/notesSlides/notesSlide21.xml" Id="Rdda9b581015c4e4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2102ae384dc4dba" /><Relationship Type="http://schemas.openxmlformats.org/officeDocument/2006/relationships/notesSlide" Target="/ppt/notesSlides/notesSlide22.xml" Id="Ra1d247984950421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9ab93cc27b4e4ae9" /><Relationship Type="http://schemas.openxmlformats.org/officeDocument/2006/relationships/notesSlide" Target="/ppt/notesSlides/notesSlide23.xml" Id="R01bd6e364fd547b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30e6792fd9aa40c9" /><Relationship Type="http://schemas.openxmlformats.org/officeDocument/2006/relationships/notesSlide" Target="/ppt/notesSlides/notesSlide24.xml" Id="R3d472d2b1aa44be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192f7c744a4e4e3d" /><Relationship Type="http://schemas.openxmlformats.org/officeDocument/2006/relationships/notesSlide" Target="/ppt/notesSlides/notesSlide25.xml" Id="Rcc412f417d9545e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2f486edcbd944bb4" /><Relationship Type="http://schemas.openxmlformats.org/officeDocument/2006/relationships/notesSlide" Target="/ppt/notesSlides/notesSlide26.xml" Id="R2a4dc68568164f1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84d8e05c722b4ecb" /><Relationship Type="http://schemas.openxmlformats.org/officeDocument/2006/relationships/notesSlide" Target="/ppt/notesSlides/notesSlide27.xml" Id="R10ef7cce292d4fd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980a91daea4d4959" /><Relationship Type="http://schemas.openxmlformats.org/officeDocument/2006/relationships/notesSlide" Target="/ppt/notesSlides/notesSlide28.xml" Id="R77db3b4299cf43d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b4278a9b048c47aa" /><Relationship Type="http://schemas.openxmlformats.org/officeDocument/2006/relationships/notesSlide" Target="/ppt/notesSlides/notesSlide29.xml" Id="Rbc7c2707071743b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9c6b004297244292" /><Relationship Type="http://schemas.openxmlformats.org/officeDocument/2006/relationships/notesSlide" Target="/ppt/notesSlides/notesSlide30.xml" Id="R8e09be060ef5404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b861cebd874f4d77" /><Relationship Type="http://schemas.openxmlformats.org/officeDocument/2006/relationships/notesSlide" Target="/ppt/notesSlides/notesSlide31.xml" Id="Rf30cded0691c406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f9f286c2037c45c9" /><Relationship Type="http://schemas.openxmlformats.org/officeDocument/2006/relationships/notesSlide" Target="/ppt/notesSlides/notesSlide32.xml" Id="R4d658ed36c8c446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b96dcaa15f9b498e" /><Relationship Type="http://schemas.openxmlformats.org/officeDocument/2006/relationships/notesSlide" Target="/ppt/notesSlides/notesSlide33.xml" Id="Rb640b43225764c9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8fede0606c7340f2" /><Relationship Type="http://schemas.openxmlformats.org/officeDocument/2006/relationships/notesSlide" Target="/ppt/notesSlides/notesSlide34.xml" Id="R49ced37b5c134a0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1aec33597a654cc4" /><Relationship Type="http://schemas.openxmlformats.org/officeDocument/2006/relationships/notesSlide" Target="/ppt/notesSlides/notesSlide35.xml" Id="R6e99deb86e474ed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5dfd2edcba1b486c" /><Relationship Type="http://schemas.openxmlformats.org/officeDocument/2006/relationships/notesSlide" Target="/ppt/notesSlides/notesSlide36.xml" Id="R5477c4a4ac0e4b8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89de2106b9534870" /><Relationship Type="http://schemas.openxmlformats.org/officeDocument/2006/relationships/notesSlide" Target="/ppt/notesSlides/notesSlide37.xml" Id="Rcc21135f0a0446f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f0394d7a874c4eb9" /><Relationship Type="http://schemas.openxmlformats.org/officeDocument/2006/relationships/notesSlide" Target="/ppt/notesSlides/notesSlide38.xml" Id="Rad00f5e197b144dd"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2a6c352827ea4d5c" /><Relationship Type="http://schemas.openxmlformats.org/officeDocument/2006/relationships/notesSlide" Target="/ppt/notesSlides/notesSlide39.xml" Id="R383571a953d4459c"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d36198e3866c4a50" /><Relationship Type="http://schemas.openxmlformats.org/officeDocument/2006/relationships/notesSlide" Target="/ppt/notesSlides/notesSlide40.xml" Id="Re24f9c35ff38444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3e6be5bc3d794c25" /><Relationship Type="http://schemas.openxmlformats.org/officeDocument/2006/relationships/notesSlide" Target="/ppt/notesSlides/notesSlide41.xml" Id="Ra8e077c64b8d4442"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c3f35461c7f2495c" /><Relationship Type="http://schemas.openxmlformats.org/officeDocument/2006/relationships/notesSlide" Target="/ppt/notesSlides/notesSlide42.xml" Id="R4baaca5a0d224e1e"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b7f7f28ea12b48fc" /><Relationship Type="http://schemas.openxmlformats.org/officeDocument/2006/relationships/notesSlide" Target="/ppt/notesSlides/notesSlide43.xml" Id="R6360f888dc9145c5"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6b24915974bf4a28" /><Relationship Type="http://schemas.openxmlformats.org/officeDocument/2006/relationships/notesSlide" Target="/ppt/notesSlides/notesSlide44.xml" Id="R16e20f9a815343d4"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09b810f2022c4888" /><Relationship Type="http://schemas.openxmlformats.org/officeDocument/2006/relationships/notesSlide" Target="/ppt/notesSlides/notesSlide45.xml" Id="Rad95c94aebf5459c"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eb704af2fe724bd1" /><Relationship Type="http://schemas.openxmlformats.org/officeDocument/2006/relationships/notesSlide" Target="/ppt/notesSlides/notesSlide46.xml" Id="Rd5ce0435705e44b2"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7a8b2861cb1a4f74" /><Relationship Type="http://schemas.openxmlformats.org/officeDocument/2006/relationships/notesSlide" Target="/ppt/notesSlides/notesSlide47.xml" Id="R5cb35ccb9bfe446a"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3b18f663992c41be" /><Relationship Type="http://schemas.openxmlformats.org/officeDocument/2006/relationships/notesSlide" Target="/ppt/notesSlides/notesSlide48.xml" Id="R77e20591bfc94e9d"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b9c4a798971b45ea" /><Relationship Type="http://schemas.openxmlformats.org/officeDocument/2006/relationships/notesSlide" Target="/ppt/notesSlides/notesSlide49.xml" Id="Raaad8930af424ef2"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9eec7280f1de4832" /><Relationship Type="http://schemas.openxmlformats.org/officeDocument/2006/relationships/notesSlide" Target="/ppt/notesSlides/notesSlide50.xml" Id="R44332f1517864fa9"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f21280680fa448bd" /><Relationship Type="http://schemas.openxmlformats.org/officeDocument/2006/relationships/notesSlide" Target="/ppt/notesSlides/notesSlide51.xml" Id="R6d55c4cc25d94a28"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6fbdfa320b094fcd" /><Relationship Type="http://schemas.openxmlformats.org/officeDocument/2006/relationships/notesSlide" Target="/ppt/notesSlides/notesSlide52.xml" Id="R2865484f10f049ee"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677375a46057450e" /><Relationship Type="http://schemas.openxmlformats.org/officeDocument/2006/relationships/notesSlide" Target="/ppt/notesSlides/notesSlide53.xml" Id="R07c1b6fb4d9a415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사진 검색 미탐지율</c:v>
          </c:tx>
          <c:spPr>
            <a:solidFill xmlns:a="http://schemas.openxmlformats.org/drawingml/2006/main">
              <a:srgbClr val="5A6699"/>
            </a:solidFill>
          </c:spPr>
          <c:dPt>
            <c:idx val="1"/>
            <c:invertIfNegative val="0"/>
            <c:spPr>
              <a:solidFill xmlns:a="http://schemas.openxmlformats.org/drawingml/2006/main">
                <a:srgbClr val="C2A648"/>
              </a:solidFill>
            </c:spPr>
          </c:dPt>
          <c:cat>
            <c:strRef>
              <c:f>'Chart Data'!$A$2:$A$3</c:f>
              <c:strCache>
                <c:ptCount val="2"/>
                <c:pt idx="0">
                  <c:v>2014년</c:v>
                </c:pt>
                <c:pt idx="1">
                  <c:v>2018년</c:v>
                </c:pt>
              </c:strCache>
            </c:strRef>
          </c:cat>
          <c:val>
            <c:numRef>
              <c:f>'Chart Data'!$B$2:$B$3</c:f>
              <c:numCache>
                <c:formatCode>0.0"%"</c:formatCode>
                <c:ptCount val="2"/>
                <c:pt idx="0">
                  <c:v>4</c:v>
                </c:pt>
                <c:pt idx="1">
                  <c:v>0.2</c:v>
                </c:pt>
              </c:numCache>
            </c:numRef>
          </c:val>
        </c:ser>
        <c:dLbls>
          <c:txPr>
            <a:bodyPr xmlns:a="http://schemas.openxmlformats.org/drawingml/2006/main" anchorCtr="1"/>
            <a:lstStyle xmlns:a="http://schemas.openxmlformats.org/drawingml/2006/main"/>
            <a:p xmlns:a="http://schemas.openxmlformats.org/drawingml/2006/main">
              <a:pPr>
                <a:defRPr sz="1500" b="1">
                  <a:solidFill>
                    <a:srgbClr val="1E2761"/>
                  </a:solidFill>
                  <a:latin typeface="Pretendard"/>
                  <a:ea typeface="Pretendard"/>
                  <a:cs typeface="Pretendard"/>
                </a:defRPr>
              </a:pPr>
            </a:p>
          </c:txPr>
          <c:dLblPos val="outEnd"/>
          <c:showLegendKey val="0"/>
          <c:showVal val="1"/>
          <c:showCatName val="0"/>
          <c:showSerName val="0"/>
          <c:showPercent val="0"/>
          <c:showBubbleSize val="0"/>
          <c:showLeaderLines val="0"/>
        </c:dLbls>
        <c:gapWidth val="1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0E8"/>
            </a:solidFill>
          </a:ln>
        </c:spPr>
        <c:txPr>
          <a:bodyPr xmlns:a="http://schemas.openxmlformats.org/drawingml/2006/main" anchorCtr="1"/>
          <a:lstStyle xmlns:a="http://schemas.openxmlformats.org/drawingml/2006/main"/>
          <a:p xmlns:a="http://schemas.openxmlformats.org/drawingml/2006/main">
            <a:pPr>
              <a:defRPr sz="1300">
                <a:solidFill>
                  <a:srgbClr val="222633"/>
                </a:solidFill>
                <a:latin typeface="Pretendard"/>
                <a:ea typeface="Pretendard"/>
                <a:cs typeface="Pretendard"/>
              </a:defRPr>
            </a:pPr>
          </a:p>
        </c:txPr>
        <c:crossAx val="48672768"/>
      </c:catAx>
      <c:valAx>
        <c:axId val="48672768"/>
        <c:scaling>
          <c:orientation val="minMax"/>
          <c:max val="5"/>
          <c:min val="0"/>
        </c:scaling>
        <c:delete val="0"/>
        <c:axPos val="l"/>
        <c:majorGridlines>
          <c:spPr>
            <a:ln xmlns:a="http://schemas.openxmlformats.org/drawingml/2006/main" w="4763">
              <a:solidFill>
                <a:srgbClr val="DCE0E8"/>
              </a:solidFill>
            </a:ln>
          </c:spPr>
        </c:majorGridlines>
        <c:numFmt formatCode="0&quot;%&quot;"/>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00">
                <a:solidFill>
                  <a:srgbClr val="464D5C"/>
                </a:solidFill>
                <a:latin typeface="Pretendard"/>
                <a:ea typeface="Pretendard"/>
                <a:cs typeface="Pretendard"/>
              </a:defRPr>
            </a:pPr>
          </a:p>
        </c:txPr>
        <c:crossAx val="48650112"/>
        <c:crossBetween val="between"/>
        <c:majorUnit val="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1_body_0">
            <a:extLst xmlns:a="http://schemas.openxmlformats.org/drawingml/2006/main">
              <a:ext uri="{FF2B5EF4-FFF2-40B4-BE49-F238E27FC236}">
                <a16:creationId xmlns:a16="http://schemas.microsoft.com/office/drawing/2014/main" id="{C93D93F3-E5DB-45C4-BD19-A90FC3C099E2}"/>
              </a:ext>
            </a:extLst>
          </p:cNvPr>
          <p:cNvSpPr>
            <a:spLocks xmlns:a="http://schemas.openxmlformats.org/drawingml/2006/main" noGrp="1"/>
          </p:cNvSpPr>
          <p:nvPr/>
        </p:nvSpPr>
        <p:spPr>
          <a:xfrm xmlns:a="http://schemas.openxmlformats.org/drawingml/2006/main">
            <a:off x="731520" y="502920"/>
            <a:ext cx="91440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464D5C"/>
                </a:solidFill>
                <a:latin typeface="Pretendard"/>
                <a:ea typeface="Pretendard"/>
                <a:cs typeface="Pretendard"/>
              </a:defRPr>
              <a:spcBef>
                <a:spcPts val="0"/>
              </a:spcBef>
              <a:spcAft>
                <a:spcPts val="0"/>
              </a:spcAft>
            </a:pPr>
            <a:r>
              <a:rPr sz="1300" b="1">
                <a:solidFill>
                  <a:srgbClr val="464D5C"/>
                </a:solidFill>
                <a:latin typeface="Pretendard"/>
                <a:ea typeface="Pretendard"/>
                <a:cs typeface="Pretendard"/>
              </a:rPr>
              <a:t>범죄·공공안전세미나Ⅱ</a:t>
            </a:r>
          </a:p>
        </p:txBody>
      </p:sp>
      <p:sp>
        <p:nvSpPr>
          <p:cNvPr id="2" name="s1_body_1">
            <a:extLst xmlns:a="http://schemas.openxmlformats.org/drawingml/2006/main">
              <a:ext uri="{FF2B5EF4-FFF2-40B4-BE49-F238E27FC236}">
                <a16:creationId xmlns:a16="http://schemas.microsoft.com/office/drawing/2014/main" id="{C53FBA63-1611-4339-8C4B-94C8983E3DD4}"/>
              </a:ext>
            </a:extLst>
          </p:cNvPr>
          <p:cNvSpPr>
            <a:spLocks xmlns:a="http://schemas.openxmlformats.org/drawingml/2006/main" noGrp="1"/>
          </p:cNvSpPr>
          <p:nvPr/>
        </p:nvSpPr>
        <p:spPr>
          <a:xfrm xmlns:a="http://schemas.openxmlformats.org/drawingml/2006/main">
            <a:off x="731520" y="1371600"/>
            <a:ext cx="9144000" cy="2900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600" b="1">
                <a:solidFill>
                  <a:srgbClr val="1E2761"/>
                </a:solidFill>
                <a:latin typeface="Pretendard"/>
                <a:ea typeface="Pretendard"/>
                <a:cs typeface="Pretendard"/>
              </a:defRPr>
              <a:spcBef>
                <a:spcPts val="0"/>
              </a:spcBef>
              <a:spcAft>
                <a:spcPts val="0"/>
              </a:spcAft>
            </a:pPr>
            <a:r>
              <a:rPr sz="1600" b="1">
                <a:solidFill>
                  <a:srgbClr val="1E2761"/>
                </a:solidFill>
                <a:latin typeface="Pretendard"/>
                <a:ea typeface="Pretendard"/>
                <a:cs typeface="Pretendard"/>
              </a:rPr>
              <a:t>8주차</a:t>
            </a:r>
          </a:p>
        </p:txBody>
      </p:sp>
      <p:sp>
        <p:nvSpPr>
          <p:cNvPr id="3" name="s1_body_2">
            <a:extLst xmlns:a="http://schemas.openxmlformats.org/drawingml/2006/main">
              <a:ext uri="{FF2B5EF4-FFF2-40B4-BE49-F238E27FC236}">
                <a16:creationId xmlns:a16="http://schemas.microsoft.com/office/drawing/2014/main" id="{5E5F7DD1-C441-4AFC-8628-EF0DC9392AE2}"/>
              </a:ext>
            </a:extLst>
          </p:cNvPr>
          <p:cNvSpPr>
            <a:spLocks xmlns:a="http://schemas.openxmlformats.org/drawingml/2006/main" noGrp="1"/>
          </p:cNvSpPr>
          <p:nvPr/>
        </p:nvSpPr>
        <p:spPr>
          <a:xfrm xmlns:a="http://schemas.openxmlformats.org/drawingml/2006/main">
            <a:off x="731520" y="1828800"/>
            <a:ext cx="10725912" cy="5598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3400" b="1">
                <a:solidFill>
                  <a:srgbClr val="1E2761"/>
                </a:solidFill>
                <a:latin typeface="Pretendard"/>
                <a:ea typeface="Pretendard"/>
                <a:cs typeface="Pretendard"/>
              </a:defRPr>
              <a:spcBef>
                <a:spcPts val="0"/>
              </a:spcBef>
              <a:spcAft>
                <a:spcPts val="0"/>
              </a:spcAft>
            </a:pPr>
            <a:r>
              <a:rPr sz="3400" b="1">
                <a:solidFill>
                  <a:srgbClr val="1E2761"/>
                </a:solidFill>
                <a:latin typeface="Pretendard"/>
                <a:ea typeface="Pretendard"/>
                <a:cs typeface="Pretendard"/>
              </a:rPr>
              <a:t>공공 CCTV의 실시간 AI 분석</a:t>
            </a:r>
          </a:p>
        </p:txBody>
      </p:sp>
      <p:sp>
        <p:nvSpPr>
          <p:cNvPr id="4" name="">
            <a:extLst xmlns:a="http://schemas.openxmlformats.org/drawingml/2006/main">
              <a:ext uri="{FF2B5EF4-FFF2-40B4-BE49-F238E27FC236}">
                <a16:creationId xmlns:a16="http://schemas.microsoft.com/office/drawing/2014/main" id="{EAA4A4CF-27B3-4B59-B641-47A86F116395}"/>
              </a:ext>
            </a:extLst>
          </p:cNvPr>
          <p:cNvSpPr>
            <a:spLocks xmlns:a="http://schemas.openxmlformats.org/drawingml/2006/main" noGrp="1"/>
          </p:cNvSpPr>
          <p:nvPr/>
        </p:nvSpPr>
        <p:spPr>
          <a:xfrm xmlns:a="http://schemas.openxmlformats.org/drawingml/2006/main">
            <a:off x="731520" y="285292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5" name="s1_body_4">
            <a:extLst xmlns:a="http://schemas.openxmlformats.org/drawingml/2006/main">
              <a:ext uri="{FF2B5EF4-FFF2-40B4-BE49-F238E27FC236}">
                <a16:creationId xmlns:a16="http://schemas.microsoft.com/office/drawing/2014/main" id="{087434B1-3485-4488-9987-5B02C28CDE00}"/>
              </a:ext>
            </a:extLst>
          </p:cNvPr>
          <p:cNvSpPr>
            <a:spLocks xmlns:a="http://schemas.openxmlformats.org/drawingml/2006/main" noGrp="1"/>
          </p:cNvSpPr>
          <p:nvPr/>
        </p:nvSpPr>
        <p:spPr>
          <a:xfrm xmlns:a="http://schemas.openxmlformats.org/drawingml/2006/main">
            <a:off x="731520" y="3081528"/>
            <a:ext cx="19202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논제</a:t>
            </a:r>
          </a:p>
        </p:txBody>
      </p:sp>
      <p:sp>
        <p:nvSpPr>
          <p:cNvPr id="6" name="s1_body_5">
            <a:extLst xmlns:a="http://schemas.openxmlformats.org/drawingml/2006/main">
              <a:ext uri="{FF2B5EF4-FFF2-40B4-BE49-F238E27FC236}">
                <a16:creationId xmlns:a16="http://schemas.microsoft.com/office/drawing/2014/main" id="{37285ADA-7BF0-42C3-9F4C-5A71C3A4B6A8}"/>
              </a:ext>
            </a:extLst>
          </p:cNvPr>
          <p:cNvSpPr>
            <a:spLocks xmlns:a="http://schemas.openxmlformats.org/drawingml/2006/main" noGrp="1"/>
          </p:cNvSpPr>
          <p:nvPr/>
        </p:nvSpPr>
        <p:spPr>
          <a:xfrm xmlns:a="http://schemas.openxmlformats.org/drawingml/2006/main">
            <a:off x="2880360" y="3063240"/>
            <a:ext cx="8577072" cy="6852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defRPr sz="2000" b="1">
                <a:solidFill>
                  <a:srgbClr val="222633"/>
                </a:solidFill>
                <a:latin typeface="Pretendard"/>
                <a:ea typeface="Pretendard"/>
                <a:cs typeface="Pretendard"/>
              </a:defRPr>
              <a:spcBef>
                <a:spcPts val="0"/>
              </a:spcBef>
              <a:spcAft>
                <a:spcPts val="0"/>
              </a:spcAft>
            </a:pPr>
            <a:r>
              <a:rPr sz="2000" b="1">
                <a:solidFill>
                  <a:srgbClr val="222633"/>
                </a:solidFill>
                <a:latin typeface="Pretendard"/>
                <a:ea typeface="Pretendard"/>
                <a:cs typeface="Pretendard"/>
              </a:rPr>
              <a:t>범죄 용의자를 식별·체포하기 위해 공공 CCTV 영상을 AI로 실시간 분석하는</a:t>
            </a:r>
          </a:p>
          <a:p xmlns:a="http://schemas.openxmlformats.org/drawingml/2006/main">
            <a:pPr algn="l">
              <a:lnSpc>
                <a:spcPct val="125000"/>
              </a:lnSpc>
              <a:defRPr sz="2000" b="1">
                <a:solidFill>
                  <a:srgbClr val="222633"/>
                </a:solidFill>
                <a:latin typeface="Pretendard"/>
                <a:ea typeface="Pretendard"/>
                <a:cs typeface="Pretendard"/>
              </a:defRPr>
              <a:spcBef>
                <a:spcPts val="0"/>
              </a:spcBef>
              <a:spcAft>
                <a:spcPts val="0"/>
              </a:spcAft>
            </a:pPr>
            <a:r>
              <a:rPr sz="2000" b="1">
                <a:solidFill>
                  <a:srgbClr val="222633"/>
                </a:solidFill>
                <a:latin typeface="Pretendard"/>
                <a:ea typeface="Pretendard"/>
                <a:cs typeface="Pretendard"/>
              </a:rPr>
              <a:t>것을 허용하여야 하는가?</a:t>
            </a:r>
          </a:p>
        </p:txBody>
      </p:sp>
      <p:sp>
        <p:nvSpPr>
          <p:cNvPr id="7" name="">
            <a:extLst xmlns:a="http://schemas.openxmlformats.org/drawingml/2006/main">
              <a:ext uri="{FF2B5EF4-FFF2-40B4-BE49-F238E27FC236}">
                <a16:creationId xmlns:a16="http://schemas.microsoft.com/office/drawing/2014/main" id="{A09CC38D-FD00-42C2-82CB-3E73EB2BD94D}"/>
              </a:ext>
            </a:extLst>
          </p:cNvPr>
          <p:cNvSpPr>
            <a:spLocks xmlns:a="http://schemas.openxmlformats.org/drawingml/2006/main" noGrp="1"/>
          </p:cNvSpPr>
          <p:nvPr/>
        </p:nvSpPr>
        <p:spPr>
          <a:xfrm xmlns:a="http://schemas.openxmlformats.org/drawingml/2006/main">
            <a:off x="731520" y="3977132"/>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8" name="s1_body_7">
            <a:extLst xmlns:a="http://schemas.openxmlformats.org/drawingml/2006/main">
              <a:ext uri="{FF2B5EF4-FFF2-40B4-BE49-F238E27FC236}">
                <a16:creationId xmlns:a16="http://schemas.microsoft.com/office/drawing/2014/main" id="{4FA13114-D5C2-4EFE-BC7B-941EFAA13F22}"/>
              </a:ext>
            </a:extLst>
          </p:cNvPr>
          <p:cNvSpPr>
            <a:spLocks xmlns:a="http://schemas.openxmlformats.org/drawingml/2006/main" noGrp="1"/>
          </p:cNvSpPr>
          <p:nvPr/>
        </p:nvSpPr>
        <p:spPr>
          <a:xfrm xmlns:a="http://schemas.openxmlformats.org/drawingml/2006/main">
            <a:off x="731520" y="4205732"/>
            <a:ext cx="19202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수업의 판단</a:t>
            </a:r>
          </a:p>
        </p:txBody>
      </p:sp>
      <p:sp>
        <p:nvSpPr>
          <p:cNvPr id="9" name="s1_body_8">
            <a:extLst xmlns:a="http://schemas.openxmlformats.org/drawingml/2006/main">
              <a:ext uri="{FF2B5EF4-FFF2-40B4-BE49-F238E27FC236}">
                <a16:creationId xmlns:a16="http://schemas.microsoft.com/office/drawing/2014/main" id="{6A02CC14-30E5-43DA-9E1B-AC182055C7B8}"/>
              </a:ext>
            </a:extLst>
          </p:cNvPr>
          <p:cNvSpPr>
            <a:spLocks xmlns:a="http://schemas.openxmlformats.org/drawingml/2006/main" noGrp="1"/>
          </p:cNvSpPr>
          <p:nvPr/>
        </p:nvSpPr>
        <p:spPr>
          <a:xfrm xmlns:a="http://schemas.openxmlformats.org/drawingml/2006/main">
            <a:off x="2880360" y="4187444"/>
            <a:ext cx="857707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허용 범위 · 현장 성과 · 권리 보호 · 통제 조건</a:t>
            </a:r>
          </a:p>
        </p:txBody>
      </p:sp>
      <p:sp>
        <p:nvSpPr>
          <p:cNvPr id="10" name="">
            <a:extLst xmlns:a="http://schemas.openxmlformats.org/drawingml/2006/main">
              <a:ext uri="{FF2B5EF4-FFF2-40B4-BE49-F238E27FC236}">
                <a16:creationId xmlns:a16="http://schemas.microsoft.com/office/drawing/2014/main" id="{113B2B83-52A5-4197-9FD9-66F44B60FBA3}"/>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167012237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s2_kicker_0">
            <a:extLst xmlns:a="http://schemas.openxmlformats.org/drawingml/2006/main">
              <a:ext uri="{FF2B5EF4-FFF2-40B4-BE49-F238E27FC236}">
                <a16:creationId xmlns:a16="http://schemas.microsoft.com/office/drawing/2014/main" id="{7B5FE37A-5370-4D40-861B-1EBFA6BD3B76}"/>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기능과 판단 대상</a:t>
            </a:r>
          </a:p>
        </p:txBody>
      </p:sp>
      <p:sp>
        <p:nvSpPr>
          <p:cNvPr id="2" name="s2_next_1">
            <a:extLst xmlns:a="http://schemas.openxmlformats.org/drawingml/2006/main">
              <a:ext uri="{FF2B5EF4-FFF2-40B4-BE49-F238E27FC236}">
                <a16:creationId xmlns:a16="http://schemas.microsoft.com/office/drawing/2014/main" id="{7E775DD0-A8C2-46C4-A896-29E6D727D366}"/>
              </a:ext>
            </a:extLst>
          </p:cNvPr>
          <p:cNvSpPr>
            <a:spLocks xmlns:a="http://schemas.openxmlformats.org/drawingml/2006/main" noGrp="1"/>
          </p:cNvSpPr>
          <p:nvPr/>
        </p:nvSpPr>
        <p:spPr>
          <a:xfrm xmlns:a="http://schemas.openxmlformats.org/drawingml/2006/main">
            <a:off x="6035040" y="384048"/>
            <a:ext cx="5422392"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defRPr sz="1050" b="0">
                <a:solidFill>
                  <a:srgbClr val="464D5C"/>
                </a:solidFill>
                <a:latin typeface="Pretendard"/>
                <a:ea typeface="Pretendard"/>
                <a:cs typeface="Pretendard"/>
              </a:defRPr>
              <a:spcBef>
                <a:spcPts val="0"/>
              </a:spcBef>
              <a:spcAft>
                <a:spcPts val="0"/>
              </a:spcAft>
            </a:pPr>
            <a:r>
              <a:rPr sz="1050" b="0">
                <a:solidFill>
                  <a:srgbClr val="464D5C"/>
                </a:solidFill>
                <a:latin typeface="Pretendard"/>
                <a:ea typeface="Pretendard"/>
                <a:cs typeface="Pretendard"/>
              </a:rPr>
              <a:t>다음  영상 속 사람과 검색 명단의 연결</a:t>
            </a:r>
          </a:p>
        </p:txBody>
      </p:sp>
      <p:sp>
        <p:nvSpPr>
          <p:cNvPr id="3" name="s2_title_2">
            <a:extLst xmlns:a="http://schemas.openxmlformats.org/drawingml/2006/main">
              <a:ext uri="{FF2B5EF4-FFF2-40B4-BE49-F238E27FC236}">
                <a16:creationId xmlns:a16="http://schemas.microsoft.com/office/drawing/2014/main" id="{5D0F6541-5822-4A56-8590-A2234B2ED917}"/>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오늘 볼 것</a:t>
            </a:r>
          </a:p>
        </p:txBody>
      </p:sp>
      <p:sp>
        <p:nvSpPr>
          <p:cNvPr id="4" name="">
            <a:extLst xmlns:a="http://schemas.openxmlformats.org/drawingml/2006/main">
              <a:ext uri="{FF2B5EF4-FFF2-40B4-BE49-F238E27FC236}">
                <a16:creationId xmlns:a16="http://schemas.microsoft.com/office/drawing/2014/main" id="{DED3D283-50CD-4061-9B9F-88F6B45F9E8E}"/>
              </a:ext>
            </a:extLst>
          </p:cNvPr>
          <p:cNvSpPr>
            <a:spLocks xmlns:a="http://schemas.openxmlformats.org/drawingml/2006/main" noGrp="1"/>
          </p:cNvSpPr>
          <p:nvPr/>
        </p:nvSpPr>
        <p:spPr>
          <a:xfrm xmlns:a="http://schemas.openxmlformats.org/drawingml/2006/main">
            <a:off x="731520" y="138988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5" name="s2_body_4">
            <a:extLst xmlns:a="http://schemas.openxmlformats.org/drawingml/2006/main">
              <a:ext uri="{FF2B5EF4-FFF2-40B4-BE49-F238E27FC236}">
                <a16:creationId xmlns:a16="http://schemas.microsoft.com/office/drawing/2014/main" id="{37B20BD7-B347-4ABE-9C54-7ACE3BE61B53}"/>
              </a:ext>
            </a:extLst>
          </p:cNvPr>
          <p:cNvSpPr>
            <a:spLocks xmlns:a="http://schemas.openxmlformats.org/drawingml/2006/main" noGrp="1"/>
          </p:cNvSpPr>
          <p:nvPr/>
        </p:nvSpPr>
        <p:spPr>
          <a:xfrm xmlns:a="http://schemas.openxmlformats.org/drawingml/2006/main">
            <a:off x="786384" y="1554480"/>
            <a:ext cx="50292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A8871C"/>
                </a:solidFill>
                <a:latin typeface="Pretendard"/>
                <a:ea typeface="Pretendard"/>
                <a:cs typeface="Pretendard"/>
              </a:defRPr>
              <a:spcBef>
                <a:spcPts val="0"/>
              </a:spcBef>
              <a:spcAft>
                <a:spcPts val="0"/>
              </a:spcAft>
            </a:pPr>
            <a:r>
              <a:rPr sz="1300" b="1">
                <a:solidFill>
                  <a:srgbClr val="A8871C"/>
                </a:solidFill>
                <a:latin typeface="Pretendard"/>
                <a:ea typeface="Pretendard"/>
                <a:cs typeface="Pretendard"/>
              </a:rPr>
              <a:t>01</a:t>
            </a:r>
          </a:p>
        </p:txBody>
      </p:sp>
      <p:sp>
        <p:nvSpPr>
          <p:cNvPr id="6" name="s2_body_5">
            <a:extLst xmlns:a="http://schemas.openxmlformats.org/drawingml/2006/main">
              <a:ext uri="{FF2B5EF4-FFF2-40B4-BE49-F238E27FC236}">
                <a16:creationId xmlns:a16="http://schemas.microsoft.com/office/drawing/2014/main" id="{59EA570E-F86D-45AF-BB12-D907BE13A445}"/>
              </a:ext>
            </a:extLst>
          </p:cNvPr>
          <p:cNvSpPr>
            <a:spLocks xmlns:a="http://schemas.openxmlformats.org/drawingml/2006/main" noGrp="1"/>
          </p:cNvSpPr>
          <p:nvPr/>
        </p:nvSpPr>
        <p:spPr>
          <a:xfrm xmlns:a="http://schemas.openxmlformats.org/drawingml/2006/main">
            <a:off x="1417320" y="1536192"/>
            <a:ext cx="318211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1E2761"/>
                </a:solidFill>
                <a:latin typeface="Pretendard"/>
                <a:ea typeface="Pretendard"/>
                <a:cs typeface="Pretendard"/>
              </a:defRPr>
              <a:spcBef>
                <a:spcPts val="0"/>
              </a:spcBef>
              <a:spcAft>
                <a:spcPts val="0"/>
              </a:spcAft>
            </a:pPr>
            <a:r>
              <a:rPr sz="1400" b="1">
                <a:solidFill>
                  <a:srgbClr val="1E2761"/>
                </a:solidFill>
                <a:latin typeface="Pretendard"/>
                <a:ea typeface="Pretendard"/>
                <a:cs typeface="Pretendard"/>
              </a:rPr>
              <a:t>기능과 판단 대상</a:t>
            </a:r>
          </a:p>
        </p:txBody>
      </p:sp>
      <p:sp>
        <p:nvSpPr>
          <p:cNvPr id="7" name="s2_body_6">
            <a:extLst xmlns:a="http://schemas.openxmlformats.org/drawingml/2006/main">
              <a:ext uri="{FF2B5EF4-FFF2-40B4-BE49-F238E27FC236}">
                <a16:creationId xmlns:a16="http://schemas.microsoft.com/office/drawing/2014/main" id="{FEDB5481-E233-4C21-B249-C9194FB37EC1}"/>
              </a:ext>
            </a:extLst>
          </p:cNvPr>
          <p:cNvSpPr>
            <a:spLocks xmlns:a="http://schemas.openxmlformats.org/drawingml/2006/main" noGrp="1"/>
          </p:cNvSpPr>
          <p:nvPr/>
        </p:nvSpPr>
        <p:spPr>
          <a:xfrm xmlns:a="http://schemas.openxmlformats.org/drawingml/2006/main">
            <a:off x="4754880" y="1536192"/>
            <a:ext cx="665683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행동 탐지 · 외형 검색 · 얼굴 대조 · 경보</a:t>
            </a:r>
          </a:p>
        </p:txBody>
      </p:sp>
      <p:sp>
        <p:nvSpPr>
          <p:cNvPr id="8" name="">
            <a:extLst xmlns:a="http://schemas.openxmlformats.org/drawingml/2006/main">
              <a:ext uri="{FF2B5EF4-FFF2-40B4-BE49-F238E27FC236}">
                <a16:creationId xmlns:a16="http://schemas.microsoft.com/office/drawing/2014/main" id="{F99CCB38-063C-4ECF-83AB-EC2EA8015712}"/>
              </a:ext>
            </a:extLst>
          </p:cNvPr>
          <p:cNvSpPr>
            <a:spLocks xmlns:a="http://schemas.openxmlformats.org/drawingml/2006/main" noGrp="1"/>
          </p:cNvSpPr>
          <p:nvPr/>
        </p:nvSpPr>
        <p:spPr>
          <a:xfrm xmlns:a="http://schemas.openxmlformats.org/drawingml/2006/main">
            <a:off x="731520" y="2069157"/>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9" name="s2_body_8">
            <a:extLst xmlns:a="http://schemas.openxmlformats.org/drawingml/2006/main">
              <a:ext uri="{FF2B5EF4-FFF2-40B4-BE49-F238E27FC236}">
                <a16:creationId xmlns:a16="http://schemas.microsoft.com/office/drawing/2014/main" id="{42501627-AB30-4621-A966-49E29A364A2A}"/>
              </a:ext>
            </a:extLst>
          </p:cNvPr>
          <p:cNvSpPr>
            <a:spLocks xmlns:a="http://schemas.openxmlformats.org/drawingml/2006/main" noGrp="1"/>
          </p:cNvSpPr>
          <p:nvPr/>
        </p:nvSpPr>
        <p:spPr>
          <a:xfrm xmlns:a="http://schemas.openxmlformats.org/drawingml/2006/main">
            <a:off x="786384" y="2233749"/>
            <a:ext cx="50292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A8871C"/>
                </a:solidFill>
                <a:latin typeface="Pretendard"/>
                <a:ea typeface="Pretendard"/>
                <a:cs typeface="Pretendard"/>
              </a:defRPr>
              <a:spcBef>
                <a:spcPts val="0"/>
              </a:spcBef>
              <a:spcAft>
                <a:spcPts val="0"/>
              </a:spcAft>
            </a:pPr>
            <a:r>
              <a:rPr sz="1300" b="1">
                <a:solidFill>
                  <a:srgbClr val="A8871C"/>
                </a:solidFill>
                <a:latin typeface="Pretendard"/>
                <a:ea typeface="Pretendard"/>
                <a:cs typeface="Pretendard"/>
              </a:rPr>
              <a:t>02</a:t>
            </a:r>
          </a:p>
        </p:txBody>
      </p:sp>
      <p:sp>
        <p:nvSpPr>
          <p:cNvPr id="10" name="s2_body_9">
            <a:extLst xmlns:a="http://schemas.openxmlformats.org/drawingml/2006/main">
              <a:ext uri="{FF2B5EF4-FFF2-40B4-BE49-F238E27FC236}">
                <a16:creationId xmlns:a16="http://schemas.microsoft.com/office/drawing/2014/main" id="{19211E5D-47EB-417A-811B-04B6BAB91849}"/>
              </a:ext>
            </a:extLst>
          </p:cNvPr>
          <p:cNvSpPr>
            <a:spLocks xmlns:a="http://schemas.openxmlformats.org/drawingml/2006/main" noGrp="1"/>
          </p:cNvSpPr>
          <p:nvPr/>
        </p:nvSpPr>
        <p:spPr>
          <a:xfrm xmlns:a="http://schemas.openxmlformats.org/drawingml/2006/main">
            <a:off x="1417320" y="2215461"/>
            <a:ext cx="318211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1E2761"/>
                </a:solidFill>
                <a:latin typeface="Pretendard"/>
                <a:ea typeface="Pretendard"/>
                <a:cs typeface="Pretendard"/>
              </a:defRPr>
              <a:spcBef>
                <a:spcPts val="0"/>
              </a:spcBef>
              <a:spcAft>
                <a:spcPts val="0"/>
              </a:spcAft>
            </a:pPr>
            <a:r>
              <a:rPr sz="1400" b="1">
                <a:solidFill>
                  <a:srgbClr val="1E2761"/>
                </a:solidFill>
                <a:latin typeface="Pretendard"/>
                <a:ea typeface="Pretendard"/>
                <a:cs typeface="Pretendard"/>
              </a:rPr>
              <a:t>발전과 공공 감시</a:t>
            </a:r>
          </a:p>
        </p:txBody>
      </p:sp>
      <p:sp>
        <p:nvSpPr>
          <p:cNvPr id="11" name="s2_body_10">
            <a:extLst xmlns:a="http://schemas.openxmlformats.org/drawingml/2006/main">
              <a:ext uri="{FF2B5EF4-FFF2-40B4-BE49-F238E27FC236}">
                <a16:creationId xmlns:a16="http://schemas.microsoft.com/office/drawing/2014/main" id="{007E7268-579B-4115-9B73-BFC3E367DED9}"/>
              </a:ext>
            </a:extLst>
          </p:cNvPr>
          <p:cNvSpPr>
            <a:spLocks xmlns:a="http://schemas.openxmlformats.org/drawingml/2006/main" noGrp="1"/>
          </p:cNvSpPr>
          <p:nvPr/>
        </p:nvSpPr>
        <p:spPr>
          <a:xfrm xmlns:a="http://schemas.openxmlformats.org/drawingml/2006/main">
            <a:off x="4754880" y="2215461"/>
            <a:ext cx="665683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표준 기록 · 통합관제 · 공통 시험 · 현장 배치</a:t>
            </a:r>
          </a:p>
        </p:txBody>
      </p:sp>
      <p:sp>
        <p:nvSpPr>
          <p:cNvPr id="12" name="">
            <a:extLst xmlns:a="http://schemas.openxmlformats.org/drawingml/2006/main">
              <a:ext uri="{FF2B5EF4-FFF2-40B4-BE49-F238E27FC236}">
                <a16:creationId xmlns:a16="http://schemas.microsoft.com/office/drawing/2014/main" id="{9071F2AF-8B5C-4B26-913D-F3493514BB72}"/>
              </a:ext>
            </a:extLst>
          </p:cNvPr>
          <p:cNvSpPr>
            <a:spLocks xmlns:a="http://schemas.openxmlformats.org/drawingml/2006/main" noGrp="1"/>
          </p:cNvSpPr>
          <p:nvPr/>
        </p:nvSpPr>
        <p:spPr>
          <a:xfrm xmlns:a="http://schemas.openxmlformats.org/drawingml/2006/main">
            <a:off x="731520" y="2748425"/>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3" name="s2_body_12">
            <a:extLst xmlns:a="http://schemas.openxmlformats.org/drawingml/2006/main">
              <a:ext uri="{FF2B5EF4-FFF2-40B4-BE49-F238E27FC236}">
                <a16:creationId xmlns:a16="http://schemas.microsoft.com/office/drawing/2014/main" id="{160181D4-44CA-40FB-94E8-2B450EAC6242}"/>
              </a:ext>
            </a:extLst>
          </p:cNvPr>
          <p:cNvSpPr>
            <a:spLocks xmlns:a="http://schemas.openxmlformats.org/drawingml/2006/main" noGrp="1"/>
          </p:cNvSpPr>
          <p:nvPr/>
        </p:nvSpPr>
        <p:spPr>
          <a:xfrm xmlns:a="http://schemas.openxmlformats.org/drawingml/2006/main">
            <a:off x="786384" y="2913017"/>
            <a:ext cx="50292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A8871C"/>
                </a:solidFill>
                <a:latin typeface="Pretendard"/>
                <a:ea typeface="Pretendard"/>
                <a:cs typeface="Pretendard"/>
              </a:defRPr>
              <a:spcBef>
                <a:spcPts val="0"/>
              </a:spcBef>
              <a:spcAft>
                <a:spcPts val="0"/>
              </a:spcAft>
            </a:pPr>
            <a:r>
              <a:rPr sz="1300" b="1">
                <a:solidFill>
                  <a:srgbClr val="A8871C"/>
                </a:solidFill>
                <a:latin typeface="Pretendard"/>
                <a:ea typeface="Pretendard"/>
                <a:cs typeface="Pretendard"/>
              </a:rPr>
              <a:t>03</a:t>
            </a:r>
          </a:p>
        </p:txBody>
      </p:sp>
      <p:sp>
        <p:nvSpPr>
          <p:cNvPr id="14" name="s2_body_13">
            <a:extLst xmlns:a="http://schemas.openxmlformats.org/drawingml/2006/main">
              <a:ext uri="{FF2B5EF4-FFF2-40B4-BE49-F238E27FC236}">
                <a16:creationId xmlns:a16="http://schemas.microsoft.com/office/drawing/2014/main" id="{6D52A3B9-4322-4904-97E1-891728BE043A}"/>
              </a:ext>
            </a:extLst>
          </p:cNvPr>
          <p:cNvSpPr>
            <a:spLocks xmlns:a="http://schemas.openxmlformats.org/drawingml/2006/main" noGrp="1"/>
          </p:cNvSpPr>
          <p:nvPr/>
        </p:nvSpPr>
        <p:spPr>
          <a:xfrm xmlns:a="http://schemas.openxmlformats.org/drawingml/2006/main">
            <a:off x="1417320" y="2894729"/>
            <a:ext cx="318211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1E2761"/>
                </a:solidFill>
                <a:latin typeface="Pretendard"/>
                <a:ea typeface="Pretendard"/>
                <a:cs typeface="Pretendard"/>
              </a:defRPr>
              <a:spcBef>
                <a:spcPts val="0"/>
              </a:spcBef>
              <a:spcAft>
                <a:spcPts val="0"/>
              </a:spcAft>
            </a:pPr>
            <a:r>
              <a:rPr sz="1400" b="1">
                <a:solidFill>
                  <a:srgbClr val="1E2761"/>
                </a:solidFill>
                <a:latin typeface="Pretendard"/>
                <a:ea typeface="Pretendard"/>
                <a:cs typeface="Pretendard"/>
              </a:rPr>
              <a:t>한국의 법과 현장 조치</a:t>
            </a:r>
          </a:p>
        </p:txBody>
      </p:sp>
      <p:sp>
        <p:nvSpPr>
          <p:cNvPr id="15" name="s2_body_14">
            <a:extLst xmlns:a="http://schemas.openxmlformats.org/drawingml/2006/main">
              <a:ext uri="{FF2B5EF4-FFF2-40B4-BE49-F238E27FC236}">
                <a16:creationId xmlns:a16="http://schemas.microsoft.com/office/drawing/2014/main" id="{48FA93D3-FCF6-4235-B843-77512EABB850}"/>
              </a:ext>
            </a:extLst>
          </p:cNvPr>
          <p:cNvSpPr>
            <a:spLocks xmlns:a="http://schemas.openxmlformats.org/drawingml/2006/main" noGrp="1"/>
          </p:cNvSpPr>
          <p:nvPr/>
        </p:nvSpPr>
        <p:spPr>
          <a:xfrm xmlns:a="http://schemas.openxmlformats.org/drawingml/2006/main">
            <a:off x="4754880" y="2894729"/>
            <a:ext cx="665683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영상 수집 · 생체정보 · 불심검문 · 체포</a:t>
            </a:r>
          </a:p>
        </p:txBody>
      </p:sp>
      <p:sp>
        <p:nvSpPr>
          <p:cNvPr id="16" name="">
            <a:extLst xmlns:a="http://schemas.openxmlformats.org/drawingml/2006/main">
              <a:ext uri="{FF2B5EF4-FFF2-40B4-BE49-F238E27FC236}">
                <a16:creationId xmlns:a16="http://schemas.microsoft.com/office/drawing/2014/main" id="{730A0F74-870F-40C8-8F1C-43E41550A8EC}"/>
              </a:ext>
            </a:extLst>
          </p:cNvPr>
          <p:cNvSpPr>
            <a:spLocks xmlns:a="http://schemas.openxmlformats.org/drawingml/2006/main" noGrp="1"/>
          </p:cNvSpPr>
          <p:nvPr/>
        </p:nvSpPr>
        <p:spPr>
          <a:xfrm xmlns:a="http://schemas.openxmlformats.org/drawingml/2006/main">
            <a:off x="731520" y="3427694"/>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7" name="s2_body_16">
            <a:extLst xmlns:a="http://schemas.openxmlformats.org/drawingml/2006/main">
              <a:ext uri="{FF2B5EF4-FFF2-40B4-BE49-F238E27FC236}">
                <a16:creationId xmlns:a16="http://schemas.microsoft.com/office/drawing/2014/main" id="{DA32E51B-72B5-49CB-AC45-367284BF2820}"/>
              </a:ext>
            </a:extLst>
          </p:cNvPr>
          <p:cNvSpPr>
            <a:spLocks xmlns:a="http://schemas.openxmlformats.org/drawingml/2006/main" noGrp="1"/>
          </p:cNvSpPr>
          <p:nvPr/>
        </p:nvSpPr>
        <p:spPr>
          <a:xfrm xmlns:a="http://schemas.openxmlformats.org/drawingml/2006/main">
            <a:off x="786384" y="3592286"/>
            <a:ext cx="50292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A8871C"/>
                </a:solidFill>
                <a:latin typeface="Pretendard"/>
                <a:ea typeface="Pretendard"/>
                <a:cs typeface="Pretendard"/>
              </a:defRPr>
              <a:spcBef>
                <a:spcPts val="0"/>
              </a:spcBef>
              <a:spcAft>
                <a:spcPts val="0"/>
              </a:spcAft>
            </a:pPr>
            <a:r>
              <a:rPr sz="1300" b="1">
                <a:solidFill>
                  <a:srgbClr val="A8871C"/>
                </a:solidFill>
                <a:latin typeface="Pretendard"/>
                <a:ea typeface="Pretendard"/>
                <a:cs typeface="Pretendard"/>
              </a:rPr>
              <a:t>04</a:t>
            </a:r>
          </a:p>
        </p:txBody>
      </p:sp>
      <p:sp>
        <p:nvSpPr>
          <p:cNvPr id="18" name="s2_body_17">
            <a:extLst xmlns:a="http://schemas.openxmlformats.org/drawingml/2006/main">
              <a:ext uri="{FF2B5EF4-FFF2-40B4-BE49-F238E27FC236}">
                <a16:creationId xmlns:a16="http://schemas.microsoft.com/office/drawing/2014/main" id="{169F83FB-9D2F-4443-82C9-626FBF5658AA}"/>
              </a:ext>
            </a:extLst>
          </p:cNvPr>
          <p:cNvSpPr>
            <a:spLocks xmlns:a="http://schemas.openxmlformats.org/drawingml/2006/main" noGrp="1"/>
          </p:cNvSpPr>
          <p:nvPr/>
        </p:nvSpPr>
        <p:spPr>
          <a:xfrm xmlns:a="http://schemas.openxmlformats.org/drawingml/2006/main">
            <a:off x="1417320" y="3573998"/>
            <a:ext cx="318211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1E2761"/>
                </a:solidFill>
                <a:latin typeface="Pretendard"/>
                <a:ea typeface="Pretendard"/>
                <a:cs typeface="Pretendard"/>
              </a:defRPr>
              <a:spcBef>
                <a:spcPts val="0"/>
              </a:spcBef>
              <a:spcAft>
                <a:spcPts val="0"/>
              </a:spcAft>
            </a:pPr>
            <a:r>
              <a:rPr sz="1400" b="1">
                <a:solidFill>
                  <a:srgbClr val="1E2761"/>
                </a:solidFill>
                <a:latin typeface="Pretendard"/>
                <a:ea typeface="Pretendard"/>
                <a:cs typeface="Pretendard"/>
              </a:rPr>
              <a:t>현장 성과와 평가</a:t>
            </a:r>
          </a:p>
        </p:txBody>
      </p:sp>
      <p:sp>
        <p:nvSpPr>
          <p:cNvPr id="19" name="s2_body_18">
            <a:extLst xmlns:a="http://schemas.openxmlformats.org/drawingml/2006/main">
              <a:ext uri="{FF2B5EF4-FFF2-40B4-BE49-F238E27FC236}">
                <a16:creationId xmlns:a16="http://schemas.microsoft.com/office/drawing/2014/main" id="{EA9332DF-7A8F-474F-8D5B-50472E4AC0F4}"/>
              </a:ext>
            </a:extLst>
          </p:cNvPr>
          <p:cNvSpPr>
            <a:spLocks xmlns:a="http://schemas.openxmlformats.org/drawingml/2006/main" noGrp="1"/>
          </p:cNvSpPr>
          <p:nvPr/>
        </p:nvSpPr>
        <p:spPr>
          <a:xfrm xmlns:a="http://schemas.openxmlformats.org/drawingml/2006/main">
            <a:off x="4754880" y="3573998"/>
            <a:ext cx="665683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국내 수색 · 런던 실적 · 분모 · 비용</a:t>
            </a:r>
          </a:p>
        </p:txBody>
      </p:sp>
      <p:sp>
        <p:nvSpPr>
          <p:cNvPr id="20" name="">
            <a:extLst xmlns:a="http://schemas.openxmlformats.org/drawingml/2006/main">
              <a:ext uri="{FF2B5EF4-FFF2-40B4-BE49-F238E27FC236}">
                <a16:creationId xmlns:a16="http://schemas.microsoft.com/office/drawing/2014/main" id="{0556217A-2BD5-4DF5-9BB0-7F77C5752EC5}"/>
              </a:ext>
            </a:extLst>
          </p:cNvPr>
          <p:cNvSpPr>
            <a:spLocks xmlns:a="http://schemas.openxmlformats.org/drawingml/2006/main" noGrp="1"/>
          </p:cNvSpPr>
          <p:nvPr/>
        </p:nvSpPr>
        <p:spPr>
          <a:xfrm xmlns:a="http://schemas.openxmlformats.org/drawingml/2006/main">
            <a:off x="731520" y="4106962"/>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21" name="s2_body_20">
            <a:extLst xmlns:a="http://schemas.openxmlformats.org/drawingml/2006/main">
              <a:ext uri="{FF2B5EF4-FFF2-40B4-BE49-F238E27FC236}">
                <a16:creationId xmlns:a16="http://schemas.microsoft.com/office/drawing/2014/main" id="{19E44850-CA88-4BFD-91BB-1D6C7788E609}"/>
              </a:ext>
            </a:extLst>
          </p:cNvPr>
          <p:cNvSpPr>
            <a:spLocks xmlns:a="http://schemas.openxmlformats.org/drawingml/2006/main" noGrp="1"/>
          </p:cNvSpPr>
          <p:nvPr/>
        </p:nvSpPr>
        <p:spPr>
          <a:xfrm xmlns:a="http://schemas.openxmlformats.org/drawingml/2006/main">
            <a:off x="786384" y="4271554"/>
            <a:ext cx="50292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A8871C"/>
                </a:solidFill>
                <a:latin typeface="Pretendard"/>
                <a:ea typeface="Pretendard"/>
                <a:cs typeface="Pretendard"/>
              </a:defRPr>
              <a:spcBef>
                <a:spcPts val="0"/>
              </a:spcBef>
              <a:spcAft>
                <a:spcPts val="0"/>
              </a:spcAft>
            </a:pPr>
            <a:r>
              <a:rPr sz="1300" b="1">
                <a:solidFill>
                  <a:srgbClr val="A8871C"/>
                </a:solidFill>
                <a:latin typeface="Pretendard"/>
                <a:ea typeface="Pretendard"/>
                <a:cs typeface="Pretendard"/>
              </a:rPr>
              <a:t>05</a:t>
            </a:r>
          </a:p>
        </p:txBody>
      </p:sp>
      <p:sp>
        <p:nvSpPr>
          <p:cNvPr id="22" name="s2_body_21">
            <a:extLst xmlns:a="http://schemas.openxmlformats.org/drawingml/2006/main">
              <a:ext uri="{FF2B5EF4-FFF2-40B4-BE49-F238E27FC236}">
                <a16:creationId xmlns:a16="http://schemas.microsoft.com/office/drawing/2014/main" id="{FEF0E16D-1194-4BA6-AC3C-4DBFE059E425}"/>
              </a:ext>
            </a:extLst>
          </p:cNvPr>
          <p:cNvSpPr>
            <a:spLocks xmlns:a="http://schemas.openxmlformats.org/drawingml/2006/main" noGrp="1"/>
          </p:cNvSpPr>
          <p:nvPr/>
        </p:nvSpPr>
        <p:spPr>
          <a:xfrm xmlns:a="http://schemas.openxmlformats.org/drawingml/2006/main">
            <a:off x="1417320" y="4253266"/>
            <a:ext cx="318211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1E2761"/>
                </a:solidFill>
                <a:latin typeface="Pretendard"/>
                <a:ea typeface="Pretendard"/>
                <a:cs typeface="Pretendard"/>
              </a:defRPr>
              <a:spcBef>
                <a:spcPts val="0"/>
              </a:spcBef>
              <a:spcAft>
                <a:spcPts val="0"/>
              </a:spcAft>
            </a:pPr>
            <a:r>
              <a:rPr sz="1400" b="1">
                <a:solidFill>
                  <a:srgbClr val="1E2761"/>
                </a:solidFill>
                <a:latin typeface="Pretendard"/>
                <a:ea typeface="Pretendard"/>
                <a:cs typeface="Pretendard"/>
              </a:rPr>
              <a:t>오류와 권리</a:t>
            </a:r>
          </a:p>
        </p:txBody>
      </p:sp>
      <p:sp>
        <p:nvSpPr>
          <p:cNvPr id="23" name="s2_body_22">
            <a:extLst xmlns:a="http://schemas.openxmlformats.org/drawingml/2006/main">
              <a:ext uri="{FF2B5EF4-FFF2-40B4-BE49-F238E27FC236}">
                <a16:creationId xmlns:a16="http://schemas.microsoft.com/office/drawing/2014/main" id="{4692D6A1-8961-4DE4-B0D8-EC911D57A33E}"/>
              </a:ext>
            </a:extLst>
          </p:cNvPr>
          <p:cNvSpPr>
            <a:spLocks xmlns:a="http://schemas.openxmlformats.org/drawingml/2006/main" noGrp="1"/>
          </p:cNvSpPr>
          <p:nvPr/>
        </p:nvSpPr>
        <p:spPr>
          <a:xfrm xmlns:a="http://schemas.openxmlformats.org/drawingml/2006/main">
            <a:off x="4754880" y="4253266"/>
            <a:ext cx="665683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오인체포 · 현장 접촉 · 표현의 자유 · 기록</a:t>
            </a:r>
          </a:p>
        </p:txBody>
      </p:sp>
      <p:sp>
        <p:nvSpPr>
          <p:cNvPr id="24" name="">
            <a:extLst xmlns:a="http://schemas.openxmlformats.org/drawingml/2006/main">
              <a:ext uri="{FF2B5EF4-FFF2-40B4-BE49-F238E27FC236}">
                <a16:creationId xmlns:a16="http://schemas.microsoft.com/office/drawing/2014/main" id="{16EE5F94-1880-43C5-982F-7A40BE331829}"/>
              </a:ext>
            </a:extLst>
          </p:cNvPr>
          <p:cNvSpPr>
            <a:spLocks xmlns:a="http://schemas.openxmlformats.org/drawingml/2006/main" noGrp="1"/>
          </p:cNvSpPr>
          <p:nvPr/>
        </p:nvSpPr>
        <p:spPr>
          <a:xfrm xmlns:a="http://schemas.openxmlformats.org/drawingml/2006/main">
            <a:off x="731520" y="4786231"/>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25" name="s2_body_24">
            <a:extLst xmlns:a="http://schemas.openxmlformats.org/drawingml/2006/main">
              <a:ext uri="{FF2B5EF4-FFF2-40B4-BE49-F238E27FC236}">
                <a16:creationId xmlns:a16="http://schemas.microsoft.com/office/drawing/2014/main" id="{E0E8F40A-43E7-40CE-883D-1FD68DBBD54D}"/>
              </a:ext>
            </a:extLst>
          </p:cNvPr>
          <p:cNvSpPr>
            <a:spLocks xmlns:a="http://schemas.openxmlformats.org/drawingml/2006/main" noGrp="1"/>
          </p:cNvSpPr>
          <p:nvPr/>
        </p:nvSpPr>
        <p:spPr>
          <a:xfrm xmlns:a="http://schemas.openxmlformats.org/drawingml/2006/main">
            <a:off x="786384" y="4950823"/>
            <a:ext cx="50292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A8871C"/>
                </a:solidFill>
                <a:latin typeface="Pretendard"/>
                <a:ea typeface="Pretendard"/>
                <a:cs typeface="Pretendard"/>
              </a:defRPr>
              <a:spcBef>
                <a:spcPts val="0"/>
              </a:spcBef>
              <a:spcAft>
                <a:spcPts val="0"/>
              </a:spcAft>
            </a:pPr>
            <a:r>
              <a:rPr sz="1300" b="1">
                <a:solidFill>
                  <a:srgbClr val="A8871C"/>
                </a:solidFill>
                <a:latin typeface="Pretendard"/>
                <a:ea typeface="Pretendard"/>
                <a:cs typeface="Pretendard"/>
              </a:rPr>
              <a:t>06</a:t>
            </a:r>
          </a:p>
        </p:txBody>
      </p:sp>
      <p:sp>
        <p:nvSpPr>
          <p:cNvPr id="26" name="s2_body_25">
            <a:extLst xmlns:a="http://schemas.openxmlformats.org/drawingml/2006/main">
              <a:ext uri="{FF2B5EF4-FFF2-40B4-BE49-F238E27FC236}">
                <a16:creationId xmlns:a16="http://schemas.microsoft.com/office/drawing/2014/main" id="{8821111F-D9C9-4F75-9358-7004A1FCA482}"/>
              </a:ext>
            </a:extLst>
          </p:cNvPr>
          <p:cNvSpPr>
            <a:spLocks xmlns:a="http://schemas.openxmlformats.org/drawingml/2006/main" noGrp="1"/>
          </p:cNvSpPr>
          <p:nvPr/>
        </p:nvSpPr>
        <p:spPr>
          <a:xfrm xmlns:a="http://schemas.openxmlformats.org/drawingml/2006/main">
            <a:off x="1417320" y="4932535"/>
            <a:ext cx="318211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1E2761"/>
                </a:solidFill>
                <a:latin typeface="Pretendard"/>
                <a:ea typeface="Pretendard"/>
                <a:cs typeface="Pretendard"/>
              </a:defRPr>
              <a:spcBef>
                <a:spcPts val="0"/>
              </a:spcBef>
              <a:spcAft>
                <a:spcPts val="0"/>
              </a:spcAft>
            </a:pPr>
            <a:r>
              <a:rPr sz="1400" b="1">
                <a:solidFill>
                  <a:srgbClr val="1E2761"/>
                </a:solidFill>
                <a:latin typeface="Pretendard"/>
                <a:ea typeface="Pretendard"/>
                <a:cs typeface="Pretendard"/>
              </a:rPr>
              <a:t>허용 조건과 대안</a:t>
            </a:r>
          </a:p>
        </p:txBody>
      </p:sp>
      <p:sp>
        <p:nvSpPr>
          <p:cNvPr id="27" name="s2_body_26">
            <a:extLst xmlns:a="http://schemas.openxmlformats.org/drawingml/2006/main">
              <a:ext uri="{FF2B5EF4-FFF2-40B4-BE49-F238E27FC236}">
                <a16:creationId xmlns:a16="http://schemas.microsoft.com/office/drawing/2014/main" id="{DC7FCA3A-FA36-4EFD-8FCD-BA64882E845F}"/>
              </a:ext>
            </a:extLst>
          </p:cNvPr>
          <p:cNvSpPr>
            <a:spLocks xmlns:a="http://schemas.openxmlformats.org/drawingml/2006/main" noGrp="1"/>
          </p:cNvSpPr>
          <p:nvPr/>
        </p:nvSpPr>
        <p:spPr>
          <a:xfrm xmlns:a="http://schemas.openxmlformats.org/drawingml/2006/main">
            <a:off x="4754880" y="4932535"/>
            <a:ext cx="665683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국내 논의 · EU 기준 · 영국 판결 · 대안</a:t>
            </a:r>
          </a:p>
        </p:txBody>
      </p:sp>
      <p:sp>
        <p:nvSpPr>
          <p:cNvPr id="28" name="">
            <a:extLst xmlns:a="http://schemas.openxmlformats.org/drawingml/2006/main">
              <a:ext uri="{FF2B5EF4-FFF2-40B4-BE49-F238E27FC236}">
                <a16:creationId xmlns:a16="http://schemas.microsoft.com/office/drawing/2014/main" id="{7D6A915D-38CF-4571-BF89-17941DD44AE7}"/>
              </a:ext>
            </a:extLst>
          </p:cNvPr>
          <p:cNvSpPr>
            <a:spLocks xmlns:a="http://schemas.openxmlformats.org/drawingml/2006/main" noGrp="1"/>
          </p:cNvSpPr>
          <p:nvPr/>
        </p:nvSpPr>
        <p:spPr>
          <a:xfrm xmlns:a="http://schemas.openxmlformats.org/drawingml/2006/main">
            <a:off x="731520" y="5465499"/>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29" name="s2_body_28">
            <a:extLst xmlns:a="http://schemas.openxmlformats.org/drawingml/2006/main">
              <a:ext uri="{FF2B5EF4-FFF2-40B4-BE49-F238E27FC236}">
                <a16:creationId xmlns:a16="http://schemas.microsoft.com/office/drawing/2014/main" id="{9994A64F-57BA-480A-B01F-F79D920F6D38}"/>
              </a:ext>
            </a:extLst>
          </p:cNvPr>
          <p:cNvSpPr>
            <a:spLocks xmlns:a="http://schemas.openxmlformats.org/drawingml/2006/main" noGrp="1"/>
          </p:cNvSpPr>
          <p:nvPr/>
        </p:nvSpPr>
        <p:spPr>
          <a:xfrm xmlns:a="http://schemas.openxmlformats.org/drawingml/2006/main">
            <a:off x="786384" y="5630091"/>
            <a:ext cx="50292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A8871C"/>
                </a:solidFill>
                <a:latin typeface="Pretendard"/>
                <a:ea typeface="Pretendard"/>
                <a:cs typeface="Pretendard"/>
              </a:defRPr>
              <a:spcBef>
                <a:spcPts val="0"/>
              </a:spcBef>
              <a:spcAft>
                <a:spcPts val="0"/>
              </a:spcAft>
            </a:pPr>
            <a:r>
              <a:rPr sz="1300" b="1">
                <a:solidFill>
                  <a:srgbClr val="A8871C"/>
                </a:solidFill>
                <a:latin typeface="Pretendard"/>
                <a:ea typeface="Pretendard"/>
                <a:cs typeface="Pretendard"/>
              </a:rPr>
              <a:t>07</a:t>
            </a:r>
          </a:p>
        </p:txBody>
      </p:sp>
      <p:sp>
        <p:nvSpPr>
          <p:cNvPr id="30" name="s2_body_29">
            <a:extLst xmlns:a="http://schemas.openxmlformats.org/drawingml/2006/main">
              <a:ext uri="{FF2B5EF4-FFF2-40B4-BE49-F238E27FC236}">
                <a16:creationId xmlns:a16="http://schemas.microsoft.com/office/drawing/2014/main" id="{181148A7-842C-457E-BC09-8CDFD93CE5C2}"/>
              </a:ext>
            </a:extLst>
          </p:cNvPr>
          <p:cNvSpPr>
            <a:spLocks xmlns:a="http://schemas.openxmlformats.org/drawingml/2006/main" noGrp="1"/>
          </p:cNvSpPr>
          <p:nvPr/>
        </p:nvSpPr>
        <p:spPr>
          <a:xfrm xmlns:a="http://schemas.openxmlformats.org/drawingml/2006/main">
            <a:off x="1417320" y="5611803"/>
            <a:ext cx="318211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1E2761"/>
                </a:solidFill>
                <a:latin typeface="Pretendard"/>
                <a:ea typeface="Pretendard"/>
                <a:cs typeface="Pretendard"/>
              </a:defRPr>
              <a:spcBef>
                <a:spcPts val="0"/>
              </a:spcBef>
              <a:spcAft>
                <a:spcPts val="0"/>
              </a:spcAft>
            </a:pPr>
            <a:r>
              <a:rPr sz="1400" b="1">
                <a:solidFill>
                  <a:srgbClr val="1E2761"/>
                </a:solidFill>
                <a:latin typeface="Pretendard"/>
                <a:ea typeface="Pretendard"/>
                <a:cs typeface="Pretendard"/>
              </a:rPr>
              <a:t>주요 논거와 최종 판단</a:t>
            </a:r>
          </a:p>
        </p:txBody>
      </p:sp>
      <p:sp>
        <p:nvSpPr>
          <p:cNvPr id="31" name="s2_body_30">
            <a:extLst xmlns:a="http://schemas.openxmlformats.org/drawingml/2006/main">
              <a:ext uri="{FF2B5EF4-FFF2-40B4-BE49-F238E27FC236}">
                <a16:creationId xmlns:a16="http://schemas.microsoft.com/office/drawing/2014/main" id="{EF79414A-4B21-42B2-BF1D-3A663FD12CF6}"/>
              </a:ext>
            </a:extLst>
          </p:cNvPr>
          <p:cNvSpPr>
            <a:spLocks xmlns:a="http://schemas.openxmlformats.org/drawingml/2006/main" noGrp="1"/>
          </p:cNvSpPr>
          <p:nvPr/>
        </p:nvSpPr>
        <p:spPr>
          <a:xfrm xmlns:a="http://schemas.openxmlformats.org/drawingml/2006/main">
            <a:off x="4754880" y="5611803"/>
            <a:ext cx="665683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정책 선택 · 근거와 부담 · 쟁점 · 나의 판단</a:t>
            </a:r>
          </a:p>
        </p:txBody>
      </p:sp>
      <p:sp>
        <p:nvSpPr>
          <p:cNvPr id="32" name="">
            <a:extLst xmlns:a="http://schemas.openxmlformats.org/drawingml/2006/main">
              <a:ext uri="{FF2B5EF4-FFF2-40B4-BE49-F238E27FC236}">
                <a16:creationId xmlns:a16="http://schemas.microsoft.com/office/drawing/2014/main" id="{59B43554-54C9-4DA0-9F93-6BB12514AD43}"/>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52124106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3_kicker_0">
            <a:extLst xmlns:a="http://schemas.openxmlformats.org/drawingml/2006/main">
              <a:ext uri="{FF2B5EF4-FFF2-40B4-BE49-F238E27FC236}">
                <a16:creationId xmlns:a16="http://schemas.microsoft.com/office/drawing/2014/main" id="{B68DF44D-9BD0-44F5-8666-A5A551DB5343}"/>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기능과 판단 대상</a:t>
            </a:r>
          </a:p>
        </p:txBody>
      </p:sp>
      <p:sp>
        <p:nvSpPr>
          <p:cNvPr id="2" name="s3_next_1">
            <a:extLst xmlns:a="http://schemas.openxmlformats.org/drawingml/2006/main">
              <a:ext uri="{FF2B5EF4-FFF2-40B4-BE49-F238E27FC236}">
                <a16:creationId xmlns:a16="http://schemas.microsoft.com/office/drawing/2014/main" id="{B153C133-D256-4765-B122-F3B74CACE485}"/>
              </a:ext>
            </a:extLst>
          </p:cNvPr>
          <p:cNvSpPr>
            <a:spLocks xmlns:a="http://schemas.openxmlformats.org/drawingml/2006/main" noGrp="1"/>
          </p:cNvSpPr>
          <p:nvPr/>
        </p:nvSpPr>
        <p:spPr>
          <a:xfrm xmlns:a="http://schemas.openxmlformats.org/drawingml/2006/main">
            <a:off x="6035040" y="384048"/>
            <a:ext cx="5422392"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defRPr sz="1050" b="0">
                <a:solidFill>
                  <a:srgbClr val="464D5C"/>
                </a:solidFill>
                <a:latin typeface="Pretendard"/>
                <a:ea typeface="Pretendard"/>
                <a:cs typeface="Pretendard"/>
              </a:defRPr>
              <a:spcBef>
                <a:spcPts val="0"/>
              </a:spcBef>
              <a:spcAft>
                <a:spcPts val="0"/>
              </a:spcAft>
            </a:pPr>
            <a:r>
              <a:rPr sz="1050" b="0">
                <a:solidFill>
                  <a:srgbClr val="464D5C"/>
                </a:solidFill>
                <a:latin typeface="Pretendard"/>
                <a:ea typeface="Pretendard"/>
                <a:cs typeface="Pretendard"/>
              </a:rPr>
              <a:t>다음  AI 관제의 세 가지 기능</a:t>
            </a:r>
          </a:p>
        </p:txBody>
      </p:sp>
      <p:sp>
        <p:nvSpPr>
          <p:cNvPr id="3" name="s3_title_2">
            <a:extLst xmlns:a="http://schemas.openxmlformats.org/drawingml/2006/main">
              <a:ext uri="{FF2B5EF4-FFF2-40B4-BE49-F238E27FC236}">
                <a16:creationId xmlns:a16="http://schemas.microsoft.com/office/drawing/2014/main" id="{9C247E28-3DEE-4121-BCBB-A78AE7F0F1B7}"/>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영상 속 사람과 검색 명단의 연결</a:t>
            </a:r>
          </a:p>
        </p:txBody>
      </p:sp>
      <p:sp>
        <p:nvSpPr>
          <p:cNvPr id="4" name="">
            <a:extLst xmlns:a="http://schemas.openxmlformats.org/drawingml/2006/main">
              <a:ext uri="{FF2B5EF4-FFF2-40B4-BE49-F238E27FC236}">
                <a16:creationId xmlns:a16="http://schemas.microsoft.com/office/drawing/2014/main" id="{442F2101-A022-40DC-98DA-B661052D0EDB}"/>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3_band_4">
            <a:extLst xmlns:a="http://schemas.openxmlformats.org/drawingml/2006/main">
              <a:ext uri="{FF2B5EF4-FFF2-40B4-BE49-F238E27FC236}">
                <a16:creationId xmlns:a16="http://schemas.microsoft.com/office/drawing/2014/main" id="{1CD1D6A7-55D2-4468-B2F8-0B55E7A19500}"/>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공공장소를 통행하는 사람의 얼굴을 범죄 용의자 명단과 대조한다.</a:t>
            </a:r>
          </a:p>
        </p:txBody>
      </p:sp>
      <p:sp>
        <p:nvSpPr>
          <p:cNvPr id="6" name="">
            <a:extLst xmlns:a="http://schemas.openxmlformats.org/drawingml/2006/main">
              <a:ext uri="{FF2B5EF4-FFF2-40B4-BE49-F238E27FC236}">
                <a16:creationId xmlns:a16="http://schemas.microsoft.com/office/drawing/2014/main" id="{6EDFF67E-594E-49C6-8553-7CEF3AA5573E}"/>
              </a:ext>
            </a:extLst>
          </p:cNvPr>
          <p:cNvSpPr>
            <a:spLocks xmlns:a="http://schemas.openxmlformats.org/drawingml/2006/main" noGrp="1"/>
          </p:cNvSpPr>
          <p:nvPr/>
        </p:nvSpPr>
        <p:spPr>
          <a:xfrm xmlns:a="http://schemas.openxmlformats.org/drawingml/2006/main">
            <a:off x="731520" y="2057400"/>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7" name="s3_body_6">
            <a:extLst xmlns:a="http://schemas.openxmlformats.org/drawingml/2006/main">
              <a:ext uri="{FF2B5EF4-FFF2-40B4-BE49-F238E27FC236}">
                <a16:creationId xmlns:a16="http://schemas.microsoft.com/office/drawing/2014/main" id="{2E4E7A57-79B4-4F79-BBBF-A583BF3B8792}"/>
              </a:ext>
            </a:extLst>
          </p:cNvPr>
          <p:cNvSpPr>
            <a:spLocks xmlns:a="http://schemas.openxmlformats.org/drawingml/2006/main" noGrp="1"/>
          </p:cNvSpPr>
          <p:nvPr/>
        </p:nvSpPr>
        <p:spPr>
          <a:xfrm xmlns:a="http://schemas.openxmlformats.org/drawingml/2006/main">
            <a:off x="731520" y="2423160"/>
            <a:ext cx="3392424"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입력</a:t>
            </a:r>
          </a:p>
        </p:txBody>
      </p:sp>
      <p:sp>
        <p:nvSpPr>
          <p:cNvPr id="8" name="s3_body_7">
            <a:extLst xmlns:a="http://schemas.openxmlformats.org/drawingml/2006/main">
              <a:ext uri="{FF2B5EF4-FFF2-40B4-BE49-F238E27FC236}">
                <a16:creationId xmlns:a16="http://schemas.microsoft.com/office/drawing/2014/main" id="{AD36EB84-3542-4317-BE76-05D40AB338D6}"/>
              </a:ext>
            </a:extLst>
          </p:cNvPr>
          <p:cNvSpPr>
            <a:spLocks xmlns:a="http://schemas.openxmlformats.org/drawingml/2006/main" noGrp="1"/>
          </p:cNvSpPr>
          <p:nvPr/>
        </p:nvSpPr>
        <p:spPr>
          <a:xfrm xmlns:a="http://schemas.openxmlformats.org/drawingml/2006/main">
            <a:off x="731520" y="2971800"/>
            <a:ext cx="3392424" cy="3874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250" b="1">
                <a:solidFill>
                  <a:srgbClr val="1E2761"/>
                </a:solidFill>
                <a:latin typeface="Pretendard"/>
                <a:ea typeface="Pretendard"/>
                <a:cs typeface="Pretendard"/>
              </a:defRPr>
              <a:spcBef>
                <a:spcPts val="0"/>
              </a:spcBef>
              <a:spcAft>
                <a:spcPts val="0"/>
              </a:spcAft>
            </a:pPr>
            <a:r>
              <a:rPr sz="2250" b="1">
                <a:solidFill>
                  <a:srgbClr val="1E2761"/>
                </a:solidFill>
                <a:latin typeface="Pretendard"/>
                <a:ea typeface="Pretendard"/>
                <a:cs typeface="Pretendard"/>
              </a:rPr>
              <a:t>CCTV의 현재 영상</a:t>
            </a:r>
          </a:p>
        </p:txBody>
      </p:sp>
      <p:sp>
        <p:nvSpPr>
          <p:cNvPr id="9" name="s3_body_8">
            <a:extLst xmlns:a="http://schemas.openxmlformats.org/drawingml/2006/main">
              <a:ext uri="{FF2B5EF4-FFF2-40B4-BE49-F238E27FC236}">
                <a16:creationId xmlns:a16="http://schemas.microsoft.com/office/drawing/2014/main" id="{4794781B-FEC9-47EC-A7EF-AFDEB3DFA7FB}"/>
              </a:ext>
            </a:extLst>
          </p:cNvPr>
          <p:cNvSpPr>
            <a:spLocks xmlns:a="http://schemas.openxmlformats.org/drawingml/2006/main" noGrp="1"/>
          </p:cNvSpPr>
          <p:nvPr/>
        </p:nvSpPr>
        <p:spPr>
          <a:xfrm xmlns:a="http://schemas.openxmlformats.org/drawingml/2006/main">
            <a:off x="731520" y="3706749"/>
            <a:ext cx="3392424" cy="494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카메라 시야에 들어온 사람의 얼굴을</a:t>
            </a:r>
          </a:p>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처리한다.</a:t>
            </a:r>
          </a:p>
        </p:txBody>
      </p:sp>
      <p:sp>
        <p:nvSpPr>
          <p:cNvPr id="10" name="s3_body_9">
            <a:extLst xmlns:a="http://schemas.openxmlformats.org/drawingml/2006/main">
              <a:ext uri="{FF2B5EF4-FFF2-40B4-BE49-F238E27FC236}">
                <a16:creationId xmlns:a16="http://schemas.microsoft.com/office/drawing/2014/main" id="{D49A3C51-F799-4206-AFB3-639FB8650A0A}"/>
              </a:ext>
            </a:extLst>
          </p:cNvPr>
          <p:cNvSpPr>
            <a:spLocks xmlns:a="http://schemas.openxmlformats.org/drawingml/2006/main" noGrp="1"/>
          </p:cNvSpPr>
          <p:nvPr/>
        </p:nvSpPr>
        <p:spPr>
          <a:xfrm xmlns:a="http://schemas.openxmlformats.org/drawingml/2006/main">
            <a:off x="4398264" y="2423160"/>
            <a:ext cx="3392424"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검색</a:t>
            </a:r>
          </a:p>
        </p:txBody>
      </p:sp>
      <p:sp>
        <p:nvSpPr>
          <p:cNvPr id="11" name="s3_body_10">
            <a:extLst xmlns:a="http://schemas.openxmlformats.org/drawingml/2006/main">
              <a:ext uri="{FF2B5EF4-FFF2-40B4-BE49-F238E27FC236}">
                <a16:creationId xmlns:a16="http://schemas.microsoft.com/office/drawing/2014/main" id="{AED562B9-5700-4B60-9CB4-49161F8D0BEE}"/>
              </a:ext>
            </a:extLst>
          </p:cNvPr>
          <p:cNvSpPr>
            <a:spLocks xmlns:a="http://schemas.openxmlformats.org/drawingml/2006/main" noGrp="1"/>
          </p:cNvSpPr>
          <p:nvPr/>
        </p:nvSpPr>
        <p:spPr>
          <a:xfrm xmlns:a="http://schemas.openxmlformats.org/drawingml/2006/main">
            <a:off x="4398264" y="2971800"/>
            <a:ext cx="3392424" cy="3874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250" b="1">
                <a:solidFill>
                  <a:srgbClr val="1E2761"/>
                </a:solidFill>
                <a:latin typeface="Pretendard"/>
                <a:ea typeface="Pretendard"/>
                <a:cs typeface="Pretendard"/>
              </a:defRPr>
              <a:spcBef>
                <a:spcPts val="0"/>
              </a:spcBef>
              <a:spcAft>
                <a:spcPts val="0"/>
              </a:spcAft>
            </a:pPr>
            <a:r>
              <a:rPr sz="2250" b="1">
                <a:solidFill>
                  <a:srgbClr val="1E2761"/>
                </a:solidFill>
                <a:latin typeface="Pretendard"/>
                <a:ea typeface="Pretendard"/>
                <a:cs typeface="Pretendard"/>
              </a:rPr>
              <a:t>여러 등록 얼굴과 대조</a:t>
            </a:r>
          </a:p>
        </p:txBody>
      </p:sp>
      <p:sp>
        <p:nvSpPr>
          <p:cNvPr id="12" name="s3_body_11">
            <a:extLst xmlns:a="http://schemas.openxmlformats.org/drawingml/2006/main">
              <a:ext uri="{FF2B5EF4-FFF2-40B4-BE49-F238E27FC236}">
                <a16:creationId xmlns:a16="http://schemas.microsoft.com/office/drawing/2014/main" id="{4ED1B282-5FA6-40C4-8B9D-768EB341B80A}"/>
              </a:ext>
            </a:extLst>
          </p:cNvPr>
          <p:cNvSpPr>
            <a:spLocks xmlns:a="http://schemas.openxmlformats.org/drawingml/2006/main" noGrp="1"/>
          </p:cNvSpPr>
          <p:nvPr/>
        </p:nvSpPr>
        <p:spPr>
          <a:xfrm xmlns:a="http://schemas.openxmlformats.org/drawingml/2006/main">
            <a:off x="4398264" y="3706749"/>
            <a:ext cx="3392424" cy="494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명단 속 인물과 닮은 정도를 계산해 후보를</a:t>
            </a:r>
          </a:p>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알린다.</a:t>
            </a:r>
          </a:p>
        </p:txBody>
      </p:sp>
      <p:sp>
        <p:nvSpPr>
          <p:cNvPr id="13" name="s3_body_12">
            <a:extLst xmlns:a="http://schemas.openxmlformats.org/drawingml/2006/main">
              <a:ext uri="{FF2B5EF4-FFF2-40B4-BE49-F238E27FC236}">
                <a16:creationId xmlns:a16="http://schemas.microsoft.com/office/drawing/2014/main" id="{6A4A019E-CDFF-4B98-BF54-0FFB74AAB3F0}"/>
              </a:ext>
            </a:extLst>
          </p:cNvPr>
          <p:cNvSpPr>
            <a:spLocks xmlns:a="http://schemas.openxmlformats.org/drawingml/2006/main" noGrp="1"/>
          </p:cNvSpPr>
          <p:nvPr/>
        </p:nvSpPr>
        <p:spPr>
          <a:xfrm xmlns:a="http://schemas.openxmlformats.org/drawingml/2006/main">
            <a:off x="8065008" y="2423160"/>
            <a:ext cx="3392424"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후속 조치</a:t>
            </a:r>
          </a:p>
        </p:txBody>
      </p:sp>
      <p:sp>
        <p:nvSpPr>
          <p:cNvPr id="14" name="s3_body_13">
            <a:extLst xmlns:a="http://schemas.openxmlformats.org/drawingml/2006/main">
              <a:ext uri="{FF2B5EF4-FFF2-40B4-BE49-F238E27FC236}">
                <a16:creationId xmlns:a16="http://schemas.microsoft.com/office/drawing/2014/main" id="{D038E50C-1009-4245-9378-48B73FF80A31}"/>
              </a:ext>
            </a:extLst>
          </p:cNvPr>
          <p:cNvSpPr>
            <a:spLocks xmlns:a="http://schemas.openxmlformats.org/drawingml/2006/main" noGrp="1"/>
          </p:cNvSpPr>
          <p:nvPr/>
        </p:nvSpPr>
        <p:spPr>
          <a:xfrm xmlns:a="http://schemas.openxmlformats.org/drawingml/2006/main">
            <a:off x="8065008" y="2971800"/>
            <a:ext cx="3392424" cy="3874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250" b="1">
                <a:solidFill>
                  <a:srgbClr val="1E2761"/>
                </a:solidFill>
                <a:latin typeface="Pretendard"/>
                <a:ea typeface="Pretendard"/>
                <a:cs typeface="Pretendard"/>
              </a:defRPr>
              <a:spcBef>
                <a:spcPts val="0"/>
              </a:spcBef>
              <a:spcAft>
                <a:spcPts val="0"/>
              </a:spcAft>
            </a:pPr>
            <a:r>
              <a:rPr sz="2250" b="1">
                <a:solidFill>
                  <a:srgbClr val="1E2761"/>
                </a:solidFill>
                <a:latin typeface="Pretendard"/>
                <a:ea typeface="Pretendard"/>
                <a:cs typeface="Pretendard"/>
              </a:rPr>
              <a:t>경찰의 확인과 개입</a:t>
            </a:r>
          </a:p>
        </p:txBody>
      </p:sp>
      <p:sp>
        <p:nvSpPr>
          <p:cNvPr id="15" name="s3_body_14">
            <a:extLst xmlns:a="http://schemas.openxmlformats.org/drawingml/2006/main">
              <a:ext uri="{FF2B5EF4-FFF2-40B4-BE49-F238E27FC236}">
                <a16:creationId xmlns:a16="http://schemas.microsoft.com/office/drawing/2014/main" id="{1C7F0922-F36C-4AC7-8B9D-7C18603375C5}"/>
              </a:ext>
            </a:extLst>
          </p:cNvPr>
          <p:cNvSpPr>
            <a:spLocks xmlns:a="http://schemas.openxmlformats.org/drawingml/2006/main" noGrp="1"/>
          </p:cNvSpPr>
          <p:nvPr/>
        </p:nvSpPr>
        <p:spPr>
          <a:xfrm xmlns:a="http://schemas.openxmlformats.org/drawingml/2006/main">
            <a:off x="8065008" y="3706749"/>
            <a:ext cx="3392424" cy="494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동일인 여부를 확인하고 각 현장 조치의</a:t>
            </a:r>
          </a:p>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요건을 판단한다.</a:t>
            </a:r>
          </a:p>
        </p:txBody>
      </p:sp>
      <p:sp>
        <p:nvSpPr>
          <p:cNvPr id="16" name="">
            <a:extLst xmlns:a="http://schemas.openxmlformats.org/drawingml/2006/main">
              <a:ext uri="{FF2B5EF4-FFF2-40B4-BE49-F238E27FC236}">
                <a16:creationId xmlns:a16="http://schemas.microsoft.com/office/drawing/2014/main" id="{041D2A75-601C-4D18-B6EE-6CC7CEF3FDF0}"/>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75021404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4_kicker_0">
            <a:extLst xmlns:a="http://schemas.openxmlformats.org/drawingml/2006/main">
              <a:ext uri="{FF2B5EF4-FFF2-40B4-BE49-F238E27FC236}">
                <a16:creationId xmlns:a16="http://schemas.microsoft.com/office/drawing/2014/main" id="{039C9BA5-D33F-462C-9A22-A85D32A8C876}"/>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기능과 판단 대상</a:t>
            </a:r>
          </a:p>
        </p:txBody>
      </p:sp>
      <p:sp>
        <p:nvSpPr>
          <p:cNvPr id="2" name="s4_next_1">
            <a:extLst xmlns:a="http://schemas.openxmlformats.org/drawingml/2006/main">
              <a:ext uri="{FF2B5EF4-FFF2-40B4-BE49-F238E27FC236}">
                <a16:creationId xmlns:a16="http://schemas.microsoft.com/office/drawing/2014/main" id="{3FBA6DE5-B77C-4B74-AB3C-61E6379BDD3F}"/>
              </a:ext>
            </a:extLst>
          </p:cNvPr>
          <p:cNvSpPr>
            <a:spLocks xmlns:a="http://schemas.openxmlformats.org/drawingml/2006/main" noGrp="1"/>
          </p:cNvSpPr>
          <p:nvPr/>
        </p:nvSpPr>
        <p:spPr>
          <a:xfrm xmlns:a="http://schemas.openxmlformats.org/drawingml/2006/main">
            <a:off x="6035040" y="384048"/>
            <a:ext cx="5422392"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defRPr sz="1050" b="0">
                <a:solidFill>
                  <a:srgbClr val="464D5C"/>
                </a:solidFill>
                <a:latin typeface="Pretendard"/>
                <a:ea typeface="Pretendard"/>
                <a:cs typeface="Pretendard"/>
              </a:defRPr>
              <a:spcBef>
                <a:spcPts val="0"/>
              </a:spcBef>
              <a:spcAft>
                <a:spcPts val="0"/>
              </a:spcAft>
            </a:pPr>
            <a:r>
              <a:rPr sz="1050" b="0">
                <a:solidFill>
                  <a:srgbClr val="464D5C"/>
                </a:solidFill>
                <a:latin typeface="Pretendard"/>
                <a:ea typeface="Pretendard"/>
                <a:cs typeface="Pretendard"/>
              </a:rPr>
              <a:t>다음  얼굴에서 경보까지</a:t>
            </a:r>
          </a:p>
        </p:txBody>
      </p:sp>
      <p:sp>
        <p:nvSpPr>
          <p:cNvPr id="3" name="s4_title_2">
            <a:extLst xmlns:a="http://schemas.openxmlformats.org/drawingml/2006/main">
              <a:ext uri="{FF2B5EF4-FFF2-40B4-BE49-F238E27FC236}">
                <a16:creationId xmlns:a16="http://schemas.microsoft.com/office/drawing/2014/main" id="{C4C1BC6F-3610-4C0E-A508-2C936134BDC4}"/>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AI 관제의 세 가지 기능</a:t>
            </a:r>
          </a:p>
        </p:txBody>
      </p:sp>
      <p:sp>
        <p:nvSpPr>
          <p:cNvPr id="4" name="">
            <a:extLst xmlns:a="http://schemas.openxmlformats.org/drawingml/2006/main">
              <a:ext uri="{FF2B5EF4-FFF2-40B4-BE49-F238E27FC236}">
                <a16:creationId xmlns:a16="http://schemas.microsoft.com/office/drawing/2014/main" id="{18C602FA-0C98-4DC8-9FF1-BFC07A03F53C}"/>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4_band_4">
            <a:extLst xmlns:a="http://schemas.openxmlformats.org/drawingml/2006/main">
              <a:ext uri="{FF2B5EF4-FFF2-40B4-BE49-F238E27FC236}">
                <a16:creationId xmlns:a16="http://schemas.microsoft.com/office/drawing/2014/main" id="{5C934E85-1D5A-4C19-8090-DE00B2AC51B0}"/>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찾는 대상에 따라 입력과 결과가 달라진다.</a:t>
            </a:r>
          </a:p>
        </p:txBody>
      </p:sp>
      <p:graphicFrame>
        <p:nvGraphicFramePr>
          <p:cNvPr id="13" name=""/>
          <p:cNvGraphicFramePr/>
          <p:nvPr/>
        </p:nvGraphicFramePr>
        <p:xfrm>
          <a:off xmlns:a="http://schemas.openxmlformats.org/drawingml/2006/main" x="731520" y="2057400"/>
          <a:ext xmlns:a="http://schemas.openxmlformats.org/drawingml/2006/main" cx="10725912" cy="4087368"/>
        </p:xfrm>
        <a:graphic xmlns:a="http://schemas.openxmlformats.org/drawingml/2006/main">
          <a:graphicData uri="http://schemas.openxmlformats.org/drawingml/2006/table">
            <a:tbl>
              <a:tblPr firstRow="0" firstCol="0" bandRow="0" bandCol="0"/>
              <a:tblGrid>
                <a:gridCol w="2148840"/>
                <a:gridCol w="4087368"/>
                <a:gridCol w="4489704"/>
              </a:tblGrid>
              <a:tr h="512064">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기능</a:t>
                      </a:r>
                    </a:p>
                  </a:txBody>
                  <a:tcPr marL="146304" marR="146304" marT="91440" marB="91440" anchor="ctr">
                    <a:solidFill>
                      <a:srgbClr val="F2F4F8"/>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300" b="1">
                          <a:solidFill>
                            <a:srgbClr val="1E2761"/>
                          </a:solidFill>
                          <a:latin typeface="Pretendard"/>
                          <a:ea typeface="Pretendard"/>
                          <a:cs typeface="Pretendard"/>
                        </a:rPr>
                        <a:t>분석 대상</a:t>
                      </a:r>
                    </a:p>
                  </a:txBody>
                  <a:tcPr marL="146304" marR="146304" marT="91440" marB="91440" anchor="ctr">
                    <a:solidFill>
                      <a:srgbClr val="F2F4F8"/>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300" b="1">
                          <a:solidFill>
                            <a:srgbClr val="1E2761"/>
                          </a:solidFill>
                          <a:latin typeface="Pretendard"/>
                          <a:ea typeface="Pretendard"/>
                          <a:cs typeface="Pretendard"/>
                        </a:rPr>
                        <a:t>출력</a:t>
                      </a:r>
                    </a:p>
                  </a:txBody>
                  <a:tcPr marL="146304" marR="146304" marT="91440" marB="91440" anchor="ctr">
                    <a:solidFill>
                      <a:srgbClr val="F2F4F8"/>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r h="1191768">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행동·상황 탐지</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쓰러짐·화재·군중 움직임</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관제요원에게 사건 후보를 알린다.</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r h="1191768">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외형·동선 검색</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옷·모자·지팡이 등 모습</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여러 영상에서 닮은 사람과 이동 경로를 찾는다.</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r h="1191768">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얼굴 신원식별</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얼굴 특징과 등록 명단</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명단 속 특정인과 일치할 후보를 제시한다.</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bl>
          </a:graphicData>
        </a:graphic>
      </p:graphicFrame>
      <p:sp>
        <p:nvSpPr>
          <p:cNvPr id="7" name="">
            <a:extLst xmlns:a="http://schemas.openxmlformats.org/drawingml/2006/main">
              <a:ext uri="{FF2B5EF4-FFF2-40B4-BE49-F238E27FC236}">
                <a16:creationId xmlns:a16="http://schemas.microsoft.com/office/drawing/2014/main" id="{D1C73200-DC36-4492-BA10-1029F261D246}"/>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91391284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5_kicker_0">
            <a:extLst xmlns:a="http://schemas.openxmlformats.org/drawingml/2006/main">
              <a:ext uri="{FF2B5EF4-FFF2-40B4-BE49-F238E27FC236}">
                <a16:creationId xmlns:a16="http://schemas.microsoft.com/office/drawing/2014/main" id="{5742AC2E-887E-41CA-9709-13A1A9639F7B}"/>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기능과 판단 대상</a:t>
            </a:r>
          </a:p>
        </p:txBody>
      </p:sp>
      <p:sp>
        <p:nvSpPr>
          <p:cNvPr id="2" name="s5_next_1">
            <a:extLst xmlns:a="http://schemas.openxmlformats.org/drawingml/2006/main">
              <a:ext uri="{FF2B5EF4-FFF2-40B4-BE49-F238E27FC236}">
                <a16:creationId xmlns:a16="http://schemas.microsoft.com/office/drawing/2014/main" id="{D6106ECB-FC8B-492F-9534-CD0968743C2C}"/>
              </a:ext>
            </a:extLst>
          </p:cNvPr>
          <p:cNvSpPr>
            <a:spLocks xmlns:a="http://schemas.openxmlformats.org/drawingml/2006/main" noGrp="1"/>
          </p:cNvSpPr>
          <p:nvPr/>
        </p:nvSpPr>
        <p:spPr>
          <a:xfrm xmlns:a="http://schemas.openxmlformats.org/drawingml/2006/main">
            <a:off x="6035040" y="384048"/>
            <a:ext cx="5422392"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defRPr sz="1050" b="0">
                <a:solidFill>
                  <a:srgbClr val="464D5C"/>
                </a:solidFill>
                <a:latin typeface="Pretendard"/>
                <a:ea typeface="Pretendard"/>
                <a:cs typeface="Pretendard"/>
              </a:defRPr>
              <a:spcBef>
                <a:spcPts val="0"/>
              </a:spcBef>
              <a:spcAft>
                <a:spcPts val="0"/>
              </a:spcAft>
            </a:pPr>
            <a:r>
              <a:rPr sz="1050" b="0">
                <a:solidFill>
                  <a:srgbClr val="464D5C"/>
                </a:solidFill>
                <a:latin typeface="Pretendard"/>
                <a:ea typeface="Pretendard"/>
                <a:cs typeface="Pretendard"/>
              </a:rPr>
              <a:t>다음  오경보와 미탐지</a:t>
            </a:r>
          </a:p>
        </p:txBody>
      </p:sp>
      <p:sp>
        <p:nvSpPr>
          <p:cNvPr id="3" name="s5_title_2">
            <a:extLst xmlns:a="http://schemas.openxmlformats.org/drawingml/2006/main">
              <a:ext uri="{FF2B5EF4-FFF2-40B4-BE49-F238E27FC236}">
                <a16:creationId xmlns:a16="http://schemas.microsoft.com/office/drawing/2014/main" id="{DBD42407-9504-4BB5-8833-F523C0378FCD}"/>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얼굴에서 경보까지</a:t>
            </a:r>
          </a:p>
        </p:txBody>
      </p:sp>
      <p:sp>
        <p:nvSpPr>
          <p:cNvPr id="4" name="">
            <a:extLst xmlns:a="http://schemas.openxmlformats.org/drawingml/2006/main">
              <a:ext uri="{FF2B5EF4-FFF2-40B4-BE49-F238E27FC236}">
                <a16:creationId xmlns:a16="http://schemas.microsoft.com/office/drawing/2014/main" id="{4C325E30-DA76-42D3-A18F-8578230B290F}"/>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5_band_4">
            <a:extLst xmlns:a="http://schemas.openxmlformats.org/drawingml/2006/main">
              <a:ext uri="{FF2B5EF4-FFF2-40B4-BE49-F238E27FC236}">
                <a16:creationId xmlns:a16="http://schemas.microsoft.com/office/drawing/2014/main" id="{E96BC7E8-DB5E-4018-867E-31BBEEDB624E}"/>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실시간 얼굴인식(LFR)은 현재 영상의 얼굴을 명단과 1:N 대조한다.</a:t>
            </a:r>
          </a:p>
        </p:txBody>
      </p:sp>
      <p:sp>
        <p:nvSpPr>
          <p:cNvPr id="6" name="">
            <a:extLst xmlns:a="http://schemas.openxmlformats.org/drawingml/2006/main">
              <a:ext uri="{FF2B5EF4-FFF2-40B4-BE49-F238E27FC236}">
                <a16:creationId xmlns:a16="http://schemas.microsoft.com/office/drawing/2014/main" id="{E76FF88A-C5A7-4D9A-8E68-83EE0A4B51DC}"/>
              </a:ext>
            </a:extLst>
          </p:cNvPr>
          <p:cNvSpPr>
            <a:spLocks xmlns:a="http://schemas.openxmlformats.org/drawingml/2006/main" noGrp="1"/>
          </p:cNvSpPr>
          <p:nvPr/>
        </p:nvSpPr>
        <p:spPr>
          <a:xfrm xmlns:a="http://schemas.openxmlformats.org/drawingml/2006/main">
            <a:off x="731520" y="2057400"/>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7" name="s5_body_6">
            <a:extLst xmlns:a="http://schemas.openxmlformats.org/drawingml/2006/main">
              <a:ext uri="{FF2B5EF4-FFF2-40B4-BE49-F238E27FC236}">
                <a16:creationId xmlns:a16="http://schemas.microsoft.com/office/drawing/2014/main" id="{2E691538-4693-487D-88B5-898A74C56A38}"/>
              </a:ext>
            </a:extLst>
          </p:cNvPr>
          <p:cNvSpPr>
            <a:spLocks xmlns:a="http://schemas.openxmlformats.org/drawingml/2006/main" noGrp="1"/>
          </p:cNvSpPr>
          <p:nvPr/>
        </p:nvSpPr>
        <p:spPr>
          <a:xfrm xmlns:a="http://schemas.openxmlformats.org/drawingml/2006/main">
            <a:off x="731520" y="2377440"/>
            <a:ext cx="243459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A8871C"/>
                </a:solidFill>
                <a:latin typeface="Pretendard"/>
                <a:ea typeface="Pretendard"/>
                <a:cs typeface="Pretendard"/>
              </a:defRPr>
              <a:spcBef>
                <a:spcPts val="0"/>
              </a:spcBef>
              <a:spcAft>
                <a:spcPts val="0"/>
              </a:spcAft>
            </a:pPr>
            <a:r>
              <a:rPr sz="1300" b="1">
                <a:solidFill>
                  <a:srgbClr val="A8871C"/>
                </a:solidFill>
                <a:latin typeface="Pretendard"/>
                <a:ea typeface="Pretendard"/>
                <a:cs typeface="Pretendard"/>
              </a:rPr>
              <a:t>01</a:t>
            </a:r>
          </a:p>
        </p:txBody>
      </p:sp>
      <p:sp>
        <p:nvSpPr>
          <p:cNvPr id="8" name="s5_body_7">
            <a:extLst xmlns:a="http://schemas.openxmlformats.org/drawingml/2006/main">
              <a:ext uri="{FF2B5EF4-FFF2-40B4-BE49-F238E27FC236}">
                <a16:creationId xmlns:a16="http://schemas.microsoft.com/office/drawing/2014/main" id="{8890500D-3286-4A69-A118-B79EB3DF7E9E}"/>
              </a:ext>
            </a:extLst>
          </p:cNvPr>
          <p:cNvSpPr>
            <a:spLocks xmlns:a="http://schemas.openxmlformats.org/drawingml/2006/main" noGrp="1"/>
          </p:cNvSpPr>
          <p:nvPr/>
        </p:nvSpPr>
        <p:spPr>
          <a:xfrm xmlns:a="http://schemas.openxmlformats.org/drawingml/2006/main">
            <a:off x="731520" y="2926080"/>
            <a:ext cx="2434590" cy="3874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250" b="1">
                <a:solidFill>
                  <a:srgbClr val="1E2761"/>
                </a:solidFill>
                <a:latin typeface="Pretendard"/>
                <a:ea typeface="Pretendard"/>
                <a:cs typeface="Pretendard"/>
              </a:defRPr>
              <a:spcBef>
                <a:spcPts val="0"/>
              </a:spcBef>
              <a:spcAft>
                <a:spcPts val="0"/>
              </a:spcAft>
            </a:pPr>
            <a:r>
              <a:rPr sz="2250" b="1">
                <a:solidFill>
                  <a:srgbClr val="1E2761"/>
                </a:solidFill>
                <a:latin typeface="Pretendard"/>
                <a:ea typeface="Pretendard"/>
                <a:cs typeface="Pretendard"/>
              </a:rPr>
              <a:t>얼굴 검출</a:t>
            </a:r>
          </a:p>
        </p:txBody>
      </p:sp>
      <p:sp>
        <p:nvSpPr>
          <p:cNvPr id="9" name="s5_body_8">
            <a:extLst xmlns:a="http://schemas.openxmlformats.org/drawingml/2006/main">
              <a:ext uri="{FF2B5EF4-FFF2-40B4-BE49-F238E27FC236}">
                <a16:creationId xmlns:a16="http://schemas.microsoft.com/office/drawing/2014/main" id="{49994230-B3F9-4A4F-A9E7-9F304D7C6EAA}"/>
              </a:ext>
            </a:extLst>
          </p:cNvPr>
          <p:cNvSpPr>
            <a:spLocks xmlns:a="http://schemas.openxmlformats.org/drawingml/2006/main" noGrp="1"/>
          </p:cNvSpPr>
          <p:nvPr/>
        </p:nvSpPr>
        <p:spPr>
          <a:xfrm xmlns:a="http://schemas.openxmlformats.org/drawingml/2006/main">
            <a:off x="731520" y="3560445"/>
            <a:ext cx="2434590"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영상에서 얼굴 영역을 찾는다.</a:t>
            </a:r>
          </a:p>
        </p:txBody>
      </p:sp>
      <p:sp>
        <p:nvSpPr>
          <p:cNvPr id="10" name="s5_body_9">
            <a:extLst xmlns:a="http://schemas.openxmlformats.org/drawingml/2006/main">
              <a:ext uri="{FF2B5EF4-FFF2-40B4-BE49-F238E27FC236}">
                <a16:creationId xmlns:a16="http://schemas.microsoft.com/office/drawing/2014/main" id="{2C3AC93D-0D04-4552-A813-10F7282B8374}"/>
              </a:ext>
            </a:extLst>
          </p:cNvPr>
          <p:cNvSpPr>
            <a:spLocks xmlns:a="http://schemas.openxmlformats.org/drawingml/2006/main" noGrp="1"/>
          </p:cNvSpPr>
          <p:nvPr/>
        </p:nvSpPr>
        <p:spPr>
          <a:xfrm xmlns:a="http://schemas.openxmlformats.org/drawingml/2006/main">
            <a:off x="3495294" y="2377440"/>
            <a:ext cx="243459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A8871C"/>
                </a:solidFill>
                <a:latin typeface="Pretendard"/>
                <a:ea typeface="Pretendard"/>
                <a:cs typeface="Pretendard"/>
              </a:defRPr>
              <a:spcBef>
                <a:spcPts val="0"/>
              </a:spcBef>
              <a:spcAft>
                <a:spcPts val="0"/>
              </a:spcAft>
            </a:pPr>
            <a:r>
              <a:rPr sz="1300" b="1">
                <a:solidFill>
                  <a:srgbClr val="A8871C"/>
                </a:solidFill>
                <a:latin typeface="Pretendard"/>
                <a:ea typeface="Pretendard"/>
                <a:cs typeface="Pretendard"/>
              </a:rPr>
              <a:t>02</a:t>
            </a:r>
          </a:p>
        </p:txBody>
      </p:sp>
      <p:sp>
        <p:nvSpPr>
          <p:cNvPr id="11" name="s5_body_10">
            <a:extLst xmlns:a="http://schemas.openxmlformats.org/drawingml/2006/main">
              <a:ext uri="{FF2B5EF4-FFF2-40B4-BE49-F238E27FC236}">
                <a16:creationId xmlns:a16="http://schemas.microsoft.com/office/drawing/2014/main" id="{625DDB74-DB1B-4267-9432-F9FD4CF99B5E}"/>
              </a:ext>
            </a:extLst>
          </p:cNvPr>
          <p:cNvSpPr>
            <a:spLocks xmlns:a="http://schemas.openxmlformats.org/drawingml/2006/main" noGrp="1"/>
          </p:cNvSpPr>
          <p:nvPr/>
        </p:nvSpPr>
        <p:spPr>
          <a:xfrm xmlns:a="http://schemas.openxmlformats.org/drawingml/2006/main">
            <a:off x="3495294" y="2926080"/>
            <a:ext cx="2434590" cy="3874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250" b="1">
                <a:solidFill>
                  <a:srgbClr val="1E2761"/>
                </a:solidFill>
                <a:latin typeface="Pretendard"/>
                <a:ea typeface="Pretendard"/>
                <a:cs typeface="Pretendard"/>
              </a:defRPr>
              <a:spcBef>
                <a:spcPts val="0"/>
              </a:spcBef>
              <a:spcAft>
                <a:spcPts val="0"/>
              </a:spcAft>
            </a:pPr>
            <a:r>
              <a:rPr sz="2250" b="1">
                <a:solidFill>
                  <a:srgbClr val="1E2761"/>
                </a:solidFill>
                <a:latin typeface="Pretendard"/>
                <a:ea typeface="Pretendard"/>
                <a:cs typeface="Pretendard"/>
              </a:rPr>
              <a:t>특징 추출</a:t>
            </a:r>
          </a:p>
        </p:txBody>
      </p:sp>
      <p:sp>
        <p:nvSpPr>
          <p:cNvPr id="12" name="s5_body_11">
            <a:extLst xmlns:a="http://schemas.openxmlformats.org/drawingml/2006/main">
              <a:ext uri="{FF2B5EF4-FFF2-40B4-BE49-F238E27FC236}">
                <a16:creationId xmlns:a16="http://schemas.microsoft.com/office/drawing/2014/main" id="{EE903CD0-2F4E-4194-9A1E-9947B40FAA5C}"/>
              </a:ext>
            </a:extLst>
          </p:cNvPr>
          <p:cNvSpPr>
            <a:spLocks xmlns:a="http://schemas.openxmlformats.org/drawingml/2006/main" noGrp="1"/>
          </p:cNvSpPr>
          <p:nvPr/>
        </p:nvSpPr>
        <p:spPr>
          <a:xfrm xmlns:a="http://schemas.openxmlformats.org/drawingml/2006/main">
            <a:off x="3495294" y="3560445"/>
            <a:ext cx="2434590" cy="494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얼굴을 비교할 수 있는 수치</a:t>
            </a:r>
          </a:p>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정보로 바꾼다.</a:t>
            </a:r>
          </a:p>
        </p:txBody>
      </p:sp>
      <p:sp>
        <p:nvSpPr>
          <p:cNvPr id="13" name="s5_body_12">
            <a:extLst xmlns:a="http://schemas.openxmlformats.org/drawingml/2006/main">
              <a:ext uri="{FF2B5EF4-FFF2-40B4-BE49-F238E27FC236}">
                <a16:creationId xmlns:a16="http://schemas.microsoft.com/office/drawing/2014/main" id="{16B66155-B23C-4398-B56A-278CB4F73625}"/>
              </a:ext>
            </a:extLst>
          </p:cNvPr>
          <p:cNvSpPr>
            <a:spLocks xmlns:a="http://schemas.openxmlformats.org/drawingml/2006/main" noGrp="1"/>
          </p:cNvSpPr>
          <p:nvPr/>
        </p:nvSpPr>
        <p:spPr>
          <a:xfrm xmlns:a="http://schemas.openxmlformats.org/drawingml/2006/main">
            <a:off x="6259068" y="2377440"/>
            <a:ext cx="243459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A8871C"/>
                </a:solidFill>
                <a:latin typeface="Pretendard"/>
                <a:ea typeface="Pretendard"/>
                <a:cs typeface="Pretendard"/>
              </a:defRPr>
              <a:spcBef>
                <a:spcPts val="0"/>
              </a:spcBef>
              <a:spcAft>
                <a:spcPts val="0"/>
              </a:spcAft>
            </a:pPr>
            <a:r>
              <a:rPr sz="1300" b="1">
                <a:solidFill>
                  <a:srgbClr val="A8871C"/>
                </a:solidFill>
                <a:latin typeface="Pretendard"/>
                <a:ea typeface="Pretendard"/>
                <a:cs typeface="Pretendard"/>
              </a:rPr>
              <a:t>03</a:t>
            </a:r>
          </a:p>
        </p:txBody>
      </p:sp>
      <p:sp>
        <p:nvSpPr>
          <p:cNvPr id="14" name="s5_body_13">
            <a:extLst xmlns:a="http://schemas.openxmlformats.org/drawingml/2006/main">
              <a:ext uri="{FF2B5EF4-FFF2-40B4-BE49-F238E27FC236}">
                <a16:creationId xmlns:a16="http://schemas.microsoft.com/office/drawing/2014/main" id="{9FD3DACC-4249-4F1E-8C02-56BF6CE38E89}"/>
              </a:ext>
            </a:extLst>
          </p:cNvPr>
          <p:cNvSpPr>
            <a:spLocks xmlns:a="http://schemas.openxmlformats.org/drawingml/2006/main" noGrp="1"/>
          </p:cNvSpPr>
          <p:nvPr/>
        </p:nvSpPr>
        <p:spPr>
          <a:xfrm xmlns:a="http://schemas.openxmlformats.org/drawingml/2006/main">
            <a:off x="6259068" y="2926080"/>
            <a:ext cx="2434590" cy="3874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250" b="1">
                <a:solidFill>
                  <a:srgbClr val="1E2761"/>
                </a:solidFill>
                <a:latin typeface="Pretendard"/>
                <a:ea typeface="Pretendard"/>
                <a:cs typeface="Pretendard"/>
              </a:defRPr>
              <a:spcBef>
                <a:spcPts val="0"/>
              </a:spcBef>
              <a:spcAft>
                <a:spcPts val="0"/>
              </a:spcAft>
            </a:pPr>
            <a:r>
              <a:rPr sz="2250" b="1">
                <a:solidFill>
                  <a:srgbClr val="1E2761"/>
                </a:solidFill>
                <a:latin typeface="Pretendard"/>
                <a:ea typeface="Pretendard"/>
                <a:cs typeface="Pretendard"/>
              </a:rPr>
              <a:t>명단 대조</a:t>
            </a:r>
          </a:p>
        </p:txBody>
      </p:sp>
      <p:sp>
        <p:nvSpPr>
          <p:cNvPr id="15" name="s5_body_14">
            <a:extLst xmlns:a="http://schemas.openxmlformats.org/drawingml/2006/main">
              <a:ext uri="{FF2B5EF4-FFF2-40B4-BE49-F238E27FC236}">
                <a16:creationId xmlns:a16="http://schemas.microsoft.com/office/drawing/2014/main" id="{C87B0E99-C014-41F1-83D4-CCAAB3B4E2F3}"/>
              </a:ext>
            </a:extLst>
          </p:cNvPr>
          <p:cNvSpPr>
            <a:spLocks xmlns:a="http://schemas.openxmlformats.org/drawingml/2006/main" noGrp="1"/>
          </p:cNvSpPr>
          <p:nvPr/>
        </p:nvSpPr>
        <p:spPr>
          <a:xfrm xmlns:a="http://schemas.openxmlformats.org/drawingml/2006/main">
            <a:off x="6259068" y="3560445"/>
            <a:ext cx="2434590" cy="494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등록 얼굴들과 유사도를</a:t>
            </a:r>
          </a:p>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계산한다.</a:t>
            </a:r>
          </a:p>
        </p:txBody>
      </p:sp>
      <p:sp>
        <p:nvSpPr>
          <p:cNvPr id="16" name="s5_body_15">
            <a:extLst xmlns:a="http://schemas.openxmlformats.org/drawingml/2006/main">
              <a:ext uri="{FF2B5EF4-FFF2-40B4-BE49-F238E27FC236}">
                <a16:creationId xmlns:a16="http://schemas.microsoft.com/office/drawing/2014/main" id="{00E5B6A4-1726-4EB8-8305-38555C5A1E03}"/>
              </a:ext>
            </a:extLst>
          </p:cNvPr>
          <p:cNvSpPr>
            <a:spLocks xmlns:a="http://schemas.openxmlformats.org/drawingml/2006/main" noGrp="1"/>
          </p:cNvSpPr>
          <p:nvPr/>
        </p:nvSpPr>
        <p:spPr>
          <a:xfrm xmlns:a="http://schemas.openxmlformats.org/drawingml/2006/main">
            <a:off x="9022842" y="2377440"/>
            <a:ext cx="243459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A8871C"/>
                </a:solidFill>
                <a:latin typeface="Pretendard"/>
                <a:ea typeface="Pretendard"/>
                <a:cs typeface="Pretendard"/>
              </a:defRPr>
              <a:spcBef>
                <a:spcPts val="0"/>
              </a:spcBef>
              <a:spcAft>
                <a:spcPts val="0"/>
              </a:spcAft>
            </a:pPr>
            <a:r>
              <a:rPr sz="1300" b="1">
                <a:solidFill>
                  <a:srgbClr val="A8871C"/>
                </a:solidFill>
                <a:latin typeface="Pretendard"/>
                <a:ea typeface="Pretendard"/>
                <a:cs typeface="Pretendard"/>
              </a:rPr>
              <a:t>04</a:t>
            </a:r>
          </a:p>
        </p:txBody>
      </p:sp>
      <p:sp>
        <p:nvSpPr>
          <p:cNvPr id="17" name="s5_body_16">
            <a:extLst xmlns:a="http://schemas.openxmlformats.org/drawingml/2006/main">
              <a:ext uri="{FF2B5EF4-FFF2-40B4-BE49-F238E27FC236}">
                <a16:creationId xmlns:a16="http://schemas.microsoft.com/office/drawing/2014/main" id="{D4200E74-3402-4803-B58D-C044131A4490}"/>
              </a:ext>
            </a:extLst>
          </p:cNvPr>
          <p:cNvSpPr>
            <a:spLocks xmlns:a="http://schemas.openxmlformats.org/drawingml/2006/main" noGrp="1"/>
          </p:cNvSpPr>
          <p:nvPr/>
        </p:nvSpPr>
        <p:spPr>
          <a:xfrm xmlns:a="http://schemas.openxmlformats.org/drawingml/2006/main">
            <a:off x="9022842" y="2926080"/>
            <a:ext cx="2434590" cy="3874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250" b="1">
                <a:solidFill>
                  <a:srgbClr val="1E2761"/>
                </a:solidFill>
                <a:latin typeface="Pretendard"/>
                <a:ea typeface="Pretendard"/>
                <a:cs typeface="Pretendard"/>
              </a:defRPr>
              <a:spcBef>
                <a:spcPts val="0"/>
              </a:spcBef>
              <a:spcAft>
                <a:spcPts val="0"/>
              </a:spcAft>
            </a:pPr>
            <a:r>
              <a:rPr sz="2250" b="1">
                <a:solidFill>
                  <a:srgbClr val="1E2761"/>
                </a:solidFill>
                <a:latin typeface="Pretendard"/>
                <a:ea typeface="Pretendard"/>
                <a:cs typeface="Pretendard"/>
              </a:rPr>
              <a:t>경보·검토</a:t>
            </a:r>
          </a:p>
        </p:txBody>
      </p:sp>
      <p:sp>
        <p:nvSpPr>
          <p:cNvPr id="18" name="s5_body_17">
            <a:extLst xmlns:a="http://schemas.openxmlformats.org/drawingml/2006/main">
              <a:ext uri="{FF2B5EF4-FFF2-40B4-BE49-F238E27FC236}">
                <a16:creationId xmlns:a16="http://schemas.microsoft.com/office/drawing/2014/main" id="{89A3DD71-A528-43F1-95DC-9B464D1C4AA9}"/>
              </a:ext>
            </a:extLst>
          </p:cNvPr>
          <p:cNvSpPr>
            <a:spLocks xmlns:a="http://schemas.openxmlformats.org/drawingml/2006/main" noGrp="1"/>
          </p:cNvSpPr>
          <p:nvPr/>
        </p:nvSpPr>
        <p:spPr>
          <a:xfrm xmlns:a="http://schemas.openxmlformats.org/drawingml/2006/main">
            <a:off x="9022842" y="3560445"/>
            <a:ext cx="2434590" cy="494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기준값을 넘는 후보를 사람이</a:t>
            </a:r>
          </a:p>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확인한다.</a:t>
            </a:r>
          </a:p>
        </p:txBody>
      </p:sp>
      <p:sp>
        <p:nvSpPr>
          <p:cNvPr id="19" name="">
            <a:extLst xmlns:a="http://schemas.openxmlformats.org/drawingml/2006/main">
              <a:ext uri="{FF2B5EF4-FFF2-40B4-BE49-F238E27FC236}">
                <a16:creationId xmlns:a16="http://schemas.microsoft.com/office/drawing/2014/main" id="{9D5AFF18-BC94-4D58-8331-04E2D3494A7C}"/>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48128308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6_kicker_0">
            <a:extLst xmlns:a="http://schemas.openxmlformats.org/drawingml/2006/main">
              <a:ext uri="{FF2B5EF4-FFF2-40B4-BE49-F238E27FC236}">
                <a16:creationId xmlns:a16="http://schemas.microsoft.com/office/drawing/2014/main" id="{45EA7AEB-F193-4315-8EDC-E48E63A2A0C8}"/>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기능과 판단 대상</a:t>
            </a:r>
          </a:p>
        </p:txBody>
      </p:sp>
      <p:sp>
        <p:nvSpPr>
          <p:cNvPr id="2" name="s6_next_1">
            <a:extLst xmlns:a="http://schemas.openxmlformats.org/drawingml/2006/main">
              <a:ext uri="{FF2B5EF4-FFF2-40B4-BE49-F238E27FC236}">
                <a16:creationId xmlns:a16="http://schemas.microsoft.com/office/drawing/2014/main" id="{E715D094-23D0-4B1B-81DD-9D21DEDEFB3E}"/>
              </a:ext>
            </a:extLst>
          </p:cNvPr>
          <p:cNvSpPr>
            <a:spLocks xmlns:a="http://schemas.openxmlformats.org/drawingml/2006/main" noGrp="1"/>
          </p:cNvSpPr>
          <p:nvPr/>
        </p:nvSpPr>
        <p:spPr>
          <a:xfrm xmlns:a="http://schemas.openxmlformats.org/drawingml/2006/main">
            <a:off x="6035040" y="384048"/>
            <a:ext cx="5422392"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defRPr sz="1050" b="0">
                <a:solidFill>
                  <a:srgbClr val="464D5C"/>
                </a:solidFill>
                <a:latin typeface="Pretendard"/>
                <a:ea typeface="Pretendard"/>
                <a:cs typeface="Pretendard"/>
              </a:defRPr>
              <a:spcBef>
                <a:spcPts val="0"/>
              </a:spcBef>
              <a:spcAft>
                <a:spcPts val="0"/>
              </a:spcAft>
            </a:pPr>
            <a:r>
              <a:rPr sz="1050" b="0">
                <a:solidFill>
                  <a:srgbClr val="464D5C"/>
                </a:solidFill>
                <a:latin typeface="Pretendard"/>
                <a:ea typeface="Pretendard"/>
                <a:cs typeface="Pretendard"/>
              </a:rPr>
              <a:t>다음  표준 기록에서 공통 시험으로</a:t>
            </a:r>
          </a:p>
        </p:txBody>
      </p:sp>
      <p:sp>
        <p:nvSpPr>
          <p:cNvPr id="3" name="s6_title_2">
            <a:extLst xmlns:a="http://schemas.openxmlformats.org/drawingml/2006/main">
              <a:ext uri="{FF2B5EF4-FFF2-40B4-BE49-F238E27FC236}">
                <a16:creationId xmlns:a16="http://schemas.microsoft.com/office/drawing/2014/main" id="{50A0C0E2-5496-476D-ABD0-01DAFFB0230C}"/>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오경보와 미탐지</a:t>
            </a:r>
          </a:p>
        </p:txBody>
      </p:sp>
      <p:sp>
        <p:nvSpPr>
          <p:cNvPr id="4" name="">
            <a:extLst xmlns:a="http://schemas.openxmlformats.org/drawingml/2006/main">
              <a:ext uri="{FF2B5EF4-FFF2-40B4-BE49-F238E27FC236}">
                <a16:creationId xmlns:a16="http://schemas.microsoft.com/office/drawing/2014/main" id="{9B9840C7-3AEA-4475-BF34-B5C6D62E3263}"/>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6_band_4">
            <a:extLst xmlns:a="http://schemas.openxmlformats.org/drawingml/2006/main">
              <a:ext uri="{FF2B5EF4-FFF2-40B4-BE49-F238E27FC236}">
                <a16:creationId xmlns:a16="http://schemas.microsoft.com/office/drawing/2014/main" id="{27A2EE17-70F6-4183-8327-94BE735532A9}"/>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경보 기준값은 어떤 후보를 사람에게 보여 줄지 정한다.</a:t>
            </a:r>
          </a:p>
        </p:txBody>
      </p:sp>
      <p:sp>
        <p:nvSpPr>
          <p:cNvPr id="6" name="">
            <a:extLst xmlns:a="http://schemas.openxmlformats.org/drawingml/2006/main">
              <a:ext uri="{FF2B5EF4-FFF2-40B4-BE49-F238E27FC236}">
                <a16:creationId xmlns:a16="http://schemas.microsoft.com/office/drawing/2014/main" id="{AF88C532-9789-4B0B-B8BF-315FBBEB13DD}"/>
              </a:ext>
            </a:extLst>
          </p:cNvPr>
          <p:cNvSpPr>
            <a:spLocks xmlns:a="http://schemas.openxmlformats.org/drawingml/2006/main" noGrp="1"/>
          </p:cNvSpPr>
          <p:nvPr/>
        </p:nvSpPr>
        <p:spPr>
          <a:xfrm xmlns:a="http://schemas.openxmlformats.org/drawingml/2006/main">
            <a:off x="731520" y="2057400"/>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7" name="s6_body_6">
            <a:extLst xmlns:a="http://schemas.openxmlformats.org/drawingml/2006/main">
              <a:ext uri="{FF2B5EF4-FFF2-40B4-BE49-F238E27FC236}">
                <a16:creationId xmlns:a16="http://schemas.microsoft.com/office/drawing/2014/main" id="{9BF35783-0D08-4679-BB96-A5C4FB5BD678}"/>
              </a:ext>
            </a:extLst>
          </p:cNvPr>
          <p:cNvSpPr>
            <a:spLocks xmlns:a="http://schemas.openxmlformats.org/drawingml/2006/main" noGrp="1"/>
          </p:cNvSpPr>
          <p:nvPr/>
        </p:nvSpPr>
        <p:spPr>
          <a:xfrm xmlns:a="http://schemas.openxmlformats.org/drawingml/2006/main">
            <a:off x="731520" y="2423160"/>
            <a:ext cx="3392424"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오경보</a:t>
            </a:r>
          </a:p>
        </p:txBody>
      </p:sp>
      <p:sp>
        <p:nvSpPr>
          <p:cNvPr id="8" name="s6_body_7">
            <a:extLst xmlns:a="http://schemas.openxmlformats.org/drawingml/2006/main">
              <a:ext uri="{FF2B5EF4-FFF2-40B4-BE49-F238E27FC236}">
                <a16:creationId xmlns:a16="http://schemas.microsoft.com/office/drawing/2014/main" id="{251C1F15-BB05-4940-A48F-3F3AC5CE89BB}"/>
              </a:ext>
            </a:extLst>
          </p:cNvPr>
          <p:cNvSpPr>
            <a:spLocks xmlns:a="http://schemas.openxmlformats.org/drawingml/2006/main" noGrp="1"/>
          </p:cNvSpPr>
          <p:nvPr/>
        </p:nvSpPr>
        <p:spPr>
          <a:xfrm xmlns:a="http://schemas.openxmlformats.org/drawingml/2006/main">
            <a:off x="731520" y="2971800"/>
            <a:ext cx="3392424" cy="3874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250" b="1">
                <a:solidFill>
                  <a:srgbClr val="1E2761"/>
                </a:solidFill>
                <a:latin typeface="Pretendard"/>
                <a:ea typeface="Pretendard"/>
                <a:cs typeface="Pretendard"/>
              </a:defRPr>
              <a:spcBef>
                <a:spcPts val="0"/>
              </a:spcBef>
              <a:spcAft>
                <a:spcPts val="0"/>
              </a:spcAft>
            </a:pPr>
            <a:r>
              <a:rPr sz="2250" b="1">
                <a:solidFill>
                  <a:srgbClr val="1E2761"/>
                </a:solidFill>
                <a:latin typeface="Pretendard"/>
                <a:ea typeface="Pretendard"/>
                <a:cs typeface="Pretendard"/>
              </a:rPr>
              <a:t>다른 사람에게 경보</a:t>
            </a:r>
          </a:p>
        </p:txBody>
      </p:sp>
      <p:sp>
        <p:nvSpPr>
          <p:cNvPr id="9" name="s6_body_8">
            <a:extLst xmlns:a="http://schemas.openxmlformats.org/drawingml/2006/main">
              <a:ext uri="{FF2B5EF4-FFF2-40B4-BE49-F238E27FC236}">
                <a16:creationId xmlns:a16="http://schemas.microsoft.com/office/drawing/2014/main" id="{64FD05BE-C9B1-44F3-ABDD-5843E201C576}"/>
              </a:ext>
            </a:extLst>
          </p:cNvPr>
          <p:cNvSpPr>
            <a:spLocks xmlns:a="http://schemas.openxmlformats.org/drawingml/2006/main" noGrp="1"/>
          </p:cNvSpPr>
          <p:nvPr/>
        </p:nvSpPr>
        <p:spPr>
          <a:xfrm xmlns:a="http://schemas.openxmlformats.org/drawingml/2006/main">
            <a:off x="731520" y="3706749"/>
            <a:ext cx="3392424" cy="494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명단 속 인물이 아닌 통행인을 닮은 후보로</a:t>
            </a:r>
          </a:p>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제시한다.</a:t>
            </a:r>
          </a:p>
        </p:txBody>
      </p:sp>
      <p:sp>
        <p:nvSpPr>
          <p:cNvPr id="10" name="s6_body_9">
            <a:extLst xmlns:a="http://schemas.openxmlformats.org/drawingml/2006/main">
              <a:ext uri="{FF2B5EF4-FFF2-40B4-BE49-F238E27FC236}">
                <a16:creationId xmlns:a16="http://schemas.microsoft.com/office/drawing/2014/main" id="{6FF2C4D7-01A0-4E08-85F6-A841200F58AF}"/>
              </a:ext>
            </a:extLst>
          </p:cNvPr>
          <p:cNvSpPr>
            <a:spLocks xmlns:a="http://schemas.openxmlformats.org/drawingml/2006/main" noGrp="1"/>
          </p:cNvSpPr>
          <p:nvPr/>
        </p:nvSpPr>
        <p:spPr>
          <a:xfrm xmlns:a="http://schemas.openxmlformats.org/drawingml/2006/main">
            <a:off x="4398264" y="2423160"/>
            <a:ext cx="3392424"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미탐지</a:t>
            </a:r>
          </a:p>
        </p:txBody>
      </p:sp>
      <p:sp>
        <p:nvSpPr>
          <p:cNvPr id="11" name="s6_body_10">
            <a:extLst xmlns:a="http://schemas.openxmlformats.org/drawingml/2006/main">
              <a:ext uri="{FF2B5EF4-FFF2-40B4-BE49-F238E27FC236}">
                <a16:creationId xmlns:a16="http://schemas.microsoft.com/office/drawing/2014/main" id="{E8DECE96-B48A-4997-8C02-049828A0979B}"/>
              </a:ext>
            </a:extLst>
          </p:cNvPr>
          <p:cNvSpPr>
            <a:spLocks xmlns:a="http://schemas.openxmlformats.org/drawingml/2006/main" noGrp="1"/>
          </p:cNvSpPr>
          <p:nvPr/>
        </p:nvSpPr>
        <p:spPr>
          <a:xfrm xmlns:a="http://schemas.openxmlformats.org/drawingml/2006/main">
            <a:off x="4398264" y="2971800"/>
            <a:ext cx="3392424" cy="3874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250" b="1">
                <a:solidFill>
                  <a:srgbClr val="1E2761"/>
                </a:solidFill>
                <a:latin typeface="Pretendard"/>
                <a:ea typeface="Pretendard"/>
                <a:cs typeface="Pretendard"/>
              </a:defRPr>
              <a:spcBef>
                <a:spcPts val="0"/>
              </a:spcBef>
              <a:spcAft>
                <a:spcPts val="0"/>
              </a:spcAft>
            </a:pPr>
            <a:r>
              <a:rPr sz="2250" b="1">
                <a:solidFill>
                  <a:srgbClr val="1E2761"/>
                </a:solidFill>
                <a:latin typeface="Pretendard"/>
                <a:ea typeface="Pretendard"/>
                <a:cs typeface="Pretendard"/>
              </a:rPr>
              <a:t>찾는 사람을 놓침</a:t>
            </a:r>
          </a:p>
        </p:txBody>
      </p:sp>
      <p:sp>
        <p:nvSpPr>
          <p:cNvPr id="12" name="s6_body_11">
            <a:extLst xmlns:a="http://schemas.openxmlformats.org/drawingml/2006/main">
              <a:ext uri="{FF2B5EF4-FFF2-40B4-BE49-F238E27FC236}">
                <a16:creationId xmlns:a16="http://schemas.microsoft.com/office/drawing/2014/main" id="{942ABE5F-1697-41D9-9610-D75070F275DB}"/>
              </a:ext>
            </a:extLst>
          </p:cNvPr>
          <p:cNvSpPr>
            <a:spLocks xmlns:a="http://schemas.openxmlformats.org/drawingml/2006/main" noGrp="1"/>
          </p:cNvSpPr>
          <p:nvPr/>
        </p:nvSpPr>
        <p:spPr>
          <a:xfrm xmlns:a="http://schemas.openxmlformats.org/drawingml/2006/main">
            <a:off x="4398264" y="3706749"/>
            <a:ext cx="3392424"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명단 속 인물이 지나가도 경보를 내지 못한다.</a:t>
            </a:r>
          </a:p>
        </p:txBody>
      </p:sp>
      <p:sp>
        <p:nvSpPr>
          <p:cNvPr id="13" name="s6_body_12">
            <a:extLst xmlns:a="http://schemas.openxmlformats.org/drawingml/2006/main">
              <a:ext uri="{FF2B5EF4-FFF2-40B4-BE49-F238E27FC236}">
                <a16:creationId xmlns:a16="http://schemas.microsoft.com/office/drawing/2014/main" id="{DCE03051-30B6-43C0-A15B-D51C1B856AB0}"/>
              </a:ext>
            </a:extLst>
          </p:cNvPr>
          <p:cNvSpPr>
            <a:spLocks xmlns:a="http://schemas.openxmlformats.org/drawingml/2006/main" noGrp="1"/>
          </p:cNvSpPr>
          <p:nvPr/>
        </p:nvSpPr>
        <p:spPr>
          <a:xfrm xmlns:a="http://schemas.openxmlformats.org/drawingml/2006/main">
            <a:off x="8065008" y="2423160"/>
            <a:ext cx="3392424"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기준값</a:t>
            </a:r>
          </a:p>
        </p:txBody>
      </p:sp>
      <p:sp>
        <p:nvSpPr>
          <p:cNvPr id="14" name="s6_body_13">
            <a:extLst xmlns:a="http://schemas.openxmlformats.org/drawingml/2006/main">
              <a:ext uri="{FF2B5EF4-FFF2-40B4-BE49-F238E27FC236}">
                <a16:creationId xmlns:a16="http://schemas.microsoft.com/office/drawing/2014/main" id="{484A0652-ED61-4F5D-A4E6-89D148F012E7}"/>
              </a:ext>
            </a:extLst>
          </p:cNvPr>
          <p:cNvSpPr>
            <a:spLocks xmlns:a="http://schemas.openxmlformats.org/drawingml/2006/main" noGrp="1"/>
          </p:cNvSpPr>
          <p:nvPr/>
        </p:nvSpPr>
        <p:spPr>
          <a:xfrm xmlns:a="http://schemas.openxmlformats.org/drawingml/2006/main">
            <a:off x="8065008" y="2971800"/>
            <a:ext cx="3392424" cy="3874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250" b="1">
                <a:solidFill>
                  <a:srgbClr val="1E2761"/>
                </a:solidFill>
                <a:latin typeface="Pretendard"/>
                <a:ea typeface="Pretendard"/>
                <a:cs typeface="Pretendard"/>
              </a:defRPr>
              <a:spcBef>
                <a:spcPts val="0"/>
              </a:spcBef>
              <a:spcAft>
                <a:spcPts val="0"/>
              </a:spcAft>
            </a:pPr>
            <a:r>
              <a:rPr sz="2250" b="1">
                <a:solidFill>
                  <a:srgbClr val="1E2761"/>
                </a:solidFill>
                <a:latin typeface="Pretendard"/>
                <a:ea typeface="Pretendard"/>
                <a:cs typeface="Pretendard"/>
              </a:rPr>
              <a:t>오류 사이의 조정</a:t>
            </a:r>
          </a:p>
        </p:txBody>
      </p:sp>
      <p:sp>
        <p:nvSpPr>
          <p:cNvPr id="15" name="s6_body_14">
            <a:extLst xmlns:a="http://schemas.openxmlformats.org/drawingml/2006/main">
              <a:ext uri="{FF2B5EF4-FFF2-40B4-BE49-F238E27FC236}">
                <a16:creationId xmlns:a16="http://schemas.microsoft.com/office/drawing/2014/main" id="{3F98701C-FF4C-4DB3-ACAA-C40E363039C4}"/>
              </a:ext>
            </a:extLst>
          </p:cNvPr>
          <p:cNvSpPr>
            <a:spLocks xmlns:a="http://schemas.openxmlformats.org/drawingml/2006/main" noGrp="1"/>
          </p:cNvSpPr>
          <p:nvPr/>
        </p:nvSpPr>
        <p:spPr>
          <a:xfrm xmlns:a="http://schemas.openxmlformats.org/drawingml/2006/main">
            <a:off x="8065008" y="3706749"/>
            <a:ext cx="3392424" cy="494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문턱을 높이면 약한 유사도 경보가 줄고,</a:t>
            </a:r>
          </a:p>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실제 대상자를 놓칠 수 있다.</a:t>
            </a:r>
          </a:p>
        </p:txBody>
      </p:sp>
      <p:sp>
        <p:nvSpPr>
          <p:cNvPr id="16" name="">
            <a:extLst xmlns:a="http://schemas.openxmlformats.org/drawingml/2006/main">
              <a:ext uri="{FF2B5EF4-FFF2-40B4-BE49-F238E27FC236}">
                <a16:creationId xmlns:a16="http://schemas.microsoft.com/office/drawing/2014/main" id="{5D27EEF6-B11C-4589-95D7-94528B87B130}"/>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27533912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7_kicker_0">
            <a:extLst xmlns:a="http://schemas.openxmlformats.org/drawingml/2006/main">
              <a:ext uri="{FF2B5EF4-FFF2-40B4-BE49-F238E27FC236}">
                <a16:creationId xmlns:a16="http://schemas.microsoft.com/office/drawing/2014/main" id="{116B4E55-3866-4616-A905-801323976EF4}"/>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발전과 공공 감시</a:t>
            </a:r>
          </a:p>
        </p:txBody>
      </p:sp>
      <p:sp>
        <p:nvSpPr>
          <p:cNvPr id="2" name="s7_next_1">
            <a:extLst xmlns:a="http://schemas.openxmlformats.org/drawingml/2006/main">
              <a:ext uri="{FF2B5EF4-FFF2-40B4-BE49-F238E27FC236}">
                <a16:creationId xmlns:a16="http://schemas.microsoft.com/office/drawing/2014/main" id="{EBE2C42B-BBA8-471E-A4D5-8E5A5C3FB670}"/>
              </a:ext>
            </a:extLst>
          </p:cNvPr>
          <p:cNvSpPr>
            <a:spLocks xmlns:a="http://schemas.openxmlformats.org/drawingml/2006/main" noGrp="1"/>
          </p:cNvSpPr>
          <p:nvPr/>
        </p:nvSpPr>
        <p:spPr>
          <a:xfrm xmlns:a="http://schemas.openxmlformats.org/drawingml/2006/main">
            <a:off x="6035040" y="384048"/>
            <a:ext cx="5422392"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defRPr sz="1050" b="0">
                <a:solidFill>
                  <a:srgbClr val="464D5C"/>
                </a:solidFill>
                <a:latin typeface="Pretendard"/>
                <a:ea typeface="Pretendard"/>
                <a:cs typeface="Pretendard"/>
              </a:defRPr>
              <a:spcBef>
                <a:spcPts val="0"/>
              </a:spcBef>
              <a:spcAft>
                <a:spcPts val="0"/>
              </a:spcAft>
            </a:pPr>
            <a:r>
              <a:rPr sz="1050" b="0">
                <a:solidFill>
                  <a:srgbClr val="464D5C"/>
                </a:solidFill>
                <a:latin typeface="Pretendard"/>
                <a:ea typeface="Pretendard"/>
                <a:cs typeface="Pretendard"/>
              </a:rPr>
              <a:t>다음  카메라 설치에서 통합관제로</a:t>
            </a:r>
          </a:p>
        </p:txBody>
      </p:sp>
      <p:sp>
        <p:nvSpPr>
          <p:cNvPr id="3" name="s7_title_2">
            <a:extLst xmlns:a="http://schemas.openxmlformats.org/drawingml/2006/main">
              <a:ext uri="{FF2B5EF4-FFF2-40B4-BE49-F238E27FC236}">
                <a16:creationId xmlns:a16="http://schemas.microsoft.com/office/drawing/2014/main" id="{2792EF0D-2BE9-4031-827F-3299D6603851}"/>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표준 기록에서 공통 시험으로</a:t>
            </a:r>
          </a:p>
        </p:txBody>
      </p:sp>
      <p:sp>
        <p:nvSpPr>
          <p:cNvPr id="4" name="">
            <a:extLst xmlns:a="http://schemas.openxmlformats.org/drawingml/2006/main">
              <a:ext uri="{FF2B5EF4-FFF2-40B4-BE49-F238E27FC236}">
                <a16:creationId xmlns:a16="http://schemas.microsoft.com/office/drawing/2014/main" id="{EEF80F54-3088-47A6-BCA1-D424DDCDD671}"/>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7_band_4">
            <a:extLst xmlns:a="http://schemas.openxmlformats.org/drawingml/2006/main">
              <a:ext uri="{FF2B5EF4-FFF2-40B4-BE49-F238E27FC236}">
                <a16:creationId xmlns:a16="http://schemas.microsoft.com/office/drawing/2014/main" id="{CD235673-92D4-4B54-A024-D91852B677B7}"/>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사람을 다시 알아보는 작업이 기록 정리에서 계산·평가로 확장됐다.</a:t>
            </a:r>
          </a:p>
        </p:txBody>
      </p:sp>
      <p:sp>
        <p:nvSpPr>
          <p:cNvPr id="6" name="">
            <a:extLst xmlns:a="http://schemas.openxmlformats.org/drawingml/2006/main">
              <a:ext uri="{FF2B5EF4-FFF2-40B4-BE49-F238E27FC236}">
                <a16:creationId xmlns:a16="http://schemas.microsoft.com/office/drawing/2014/main" id="{E13737FB-2CC6-4C1E-81AE-C103209E3DB6}"/>
              </a:ext>
            </a:extLst>
          </p:cNvPr>
          <p:cNvSpPr>
            <a:spLocks xmlns:a="http://schemas.openxmlformats.org/drawingml/2006/main" noGrp="1"/>
          </p:cNvSpPr>
          <p:nvPr/>
        </p:nvSpPr>
        <p:spPr>
          <a:xfrm xmlns:a="http://schemas.openxmlformats.org/drawingml/2006/main">
            <a:off x="731520" y="2057400"/>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7" name="s7_rowlabel_6">
            <a:extLst xmlns:a="http://schemas.openxmlformats.org/drawingml/2006/main">
              <a:ext uri="{FF2B5EF4-FFF2-40B4-BE49-F238E27FC236}">
                <a16:creationId xmlns:a16="http://schemas.microsoft.com/office/drawing/2014/main" id="{6BD94FAC-A7E9-4A29-8503-FB2136CA0D75}"/>
              </a:ext>
            </a:extLst>
          </p:cNvPr>
          <p:cNvSpPr>
            <a:spLocks xmlns:a="http://schemas.openxmlformats.org/drawingml/2006/main" noGrp="1"/>
          </p:cNvSpPr>
          <p:nvPr/>
        </p:nvSpPr>
        <p:spPr>
          <a:xfrm xmlns:a="http://schemas.openxmlformats.org/drawingml/2006/main">
            <a:off x="822960" y="2593213"/>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1883년</a:t>
            </a:r>
          </a:p>
        </p:txBody>
      </p:sp>
      <p:sp>
        <p:nvSpPr>
          <p:cNvPr id="8" name="s7_conclusion_7">
            <a:extLst xmlns:a="http://schemas.openxmlformats.org/drawingml/2006/main">
              <a:ext uri="{FF2B5EF4-FFF2-40B4-BE49-F238E27FC236}">
                <a16:creationId xmlns:a16="http://schemas.microsoft.com/office/drawing/2014/main" id="{11D84ED3-9401-4218-80E4-69B600BD237B}"/>
              </a:ext>
            </a:extLst>
          </p:cNvPr>
          <p:cNvSpPr>
            <a:spLocks xmlns:a="http://schemas.openxmlformats.org/drawingml/2006/main" noGrp="1"/>
          </p:cNvSpPr>
          <p:nvPr/>
        </p:nvSpPr>
        <p:spPr>
          <a:xfrm xmlns:a="http://schemas.openxmlformats.org/drawingml/2006/main">
            <a:off x="3154680" y="2409762"/>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파리 경찰의 베르티용 체계</a:t>
            </a:r>
          </a:p>
        </p:txBody>
      </p:sp>
      <p:sp>
        <p:nvSpPr>
          <p:cNvPr id="9" name="s7_supplement_8">
            <a:extLst xmlns:a="http://schemas.openxmlformats.org/drawingml/2006/main">
              <a:ext uri="{FF2B5EF4-FFF2-40B4-BE49-F238E27FC236}">
                <a16:creationId xmlns:a16="http://schemas.microsoft.com/office/drawing/2014/main" id="{606ACD97-5424-40F2-8784-61A09BEE523C}"/>
              </a:ext>
            </a:extLst>
          </p:cNvPr>
          <p:cNvSpPr>
            <a:spLocks xmlns:a="http://schemas.openxmlformats.org/drawingml/2006/main" noGrp="1"/>
          </p:cNvSpPr>
          <p:nvPr/>
        </p:nvSpPr>
        <p:spPr>
          <a:xfrm xmlns:a="http://schemas.openxmlformats.org/drawingml/2006/main">
            <a:off x="3154680" y="2765870"/>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신체 계측과 정면·측면 사진을 표준 기록으로 정리했다.</a:t>
            </a:r>
          </a:p>
        </p:txBody>
      </p:sp>
      <p:sp>
        <p:nvSpPr>
          <p:cNvPr id="10" name="">
            <a:extLst xmlns:a="http://schemas.openxmlformats.org/drawingml/2006/main">
              <a:ext uri="{FF2B5EF4-FFF2-40B4-BE49-F238E27FC236}">
                <a16:creationId xmlns:a16="http://schemas.microsoft.com/office/drawing/2014/main" id="{E4AF50D8-1151-4DAC-8385-1D326B4165BE}"/>
              </a:ext>
            </a:extLst>
          </p:cNvPr>
          <p:cNvSpPr>
            <a:spLocks xmlns:a="http://schemas.openxmlformats.org/drawingml/2006/main" noGrp="1"/>
          </p:cNvSpPr>
          <p:nvPr/>
        </p:nvSpPr>
        <p:spPr>
          <a:xfrm xmlns:a="http://schemas.openxmlformats.org/drawingml/2006/main">
            <a:off x="731520" y="3419856"/>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1" name="s7_rowlabel_10">
            <a:extLst xmlns:a="http://schemas.openxmlformats.org/drawingml/2006/main">
              <a:ext uri="{FF2B5EF4-FFF2-40B4-BE49-F238E27FC236}">
                <a16:creationId xmlns:a16="http://schemas.microsoft.com/office/drawing/2014/main" id="{067539E5-1C38-4417-937B-96683E83BA82}"/>
              </a:ext>
            </a:extLst>
          </p:cNvPr>
          <p:cNvSpPr>
            <a:spLocks xmlns:a="http://schemas.openxmlformats.org/drawingml/2006/main" noGrp="1"/>
          </p:cNvSpPr>
          <p:nvPr/>
        </p:nvSpPr>
        <p:spPr>
          <a:xfrm xmlns:a="http://schemas.openxmlformats.org/drawingml/2006/main">
            <a:off x="822960" y="3955669"/>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1960년대</a:t>
            </a:r>
          </a:p>
        </p:txBody>
      </p:sp>
      <p:sp>
        <p:nvSpPr>
          <p:cNvPr id="12" name="s7_conclusion_11">
            <a:extLst xmlns:a="http://schemas.openxmlformats.org/drawingml/2006/main">
              <a:ext uri="{FF2B5EF4-FFF2-40B4-BE49-F238E27FC236}">
                <a16:creationId xmlns:a16="http://schemas.microsoft.com/office/drawing/2014/main" id="{114C596C-3ECB-4EE5-A5BF-C86D93C98155}"/>
              </a:ext>
            </a:extLst>
          </p:cNvPr>
          <p:cNvSpPr>
            <a:spLocks xmlns:a="http://schemas.openxmlformats.org/drawingml/2006/main" noGrp="1"/>
          </p:cNvSpPr>
          <p:nvPr/>
        </p:nvSpPr>
        <p:spPr>
          <a:xfrm xmlns:a="http://schemas.openxmlformats.org/drawingml/2006/main">
            <a:off x="3154680" y="3772218"/>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사람이 얼굴 특징점을 지정</a:t>
            </a:r>
          </a:p>
        </p:txBody>
      </p:sp>
      <p:sp>
        <p:nvSpPr>
          <p:cNvPr id="13" name="s7_supplement_12">
            <a:extLst xmlns:a="http://schemas.openxmlformats.org/drawingml/2006/main">
              <a:ext uri="{FF2B5EF4-FFF2-40B4-BE49-F238E27FC236}">
                <a16:creationId xmlns:a16="http://schemas.microsoft.com/office/drawing/2014/main" id="{013DE0EB-AD85-49BC-B81B-31D15138D29B}"/>
              </a:ext>
            </a:extLst>
          </p:cNvPr>
          <p:cNvSpPr>
            <a:spLocks xmlns:a="http://schemas.openxmlformats.org/drawingml/2006/main" noGrp="1"/>
          </p:cNvSpPr>
          <p:nvPr/>
        </p:nvSpPr>
        <p:spPr>
          <a:xfrm xmlns:a="http://schemas.openxmlformats.org/drawingml/2006/main">
            <a:off x="3154680" y="4128326"/>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블레드소의 연구에서는 컴퓨터가 특징점 사이 거리를 계산했다.</a:t>
            </a:r>
          </a:p>
        </p:txBody>
      </p:sp>
      <p:sp>
        <p:nvSpPr>
          <p:cNvPr id="14" name="">
            <a:extLst xmlns:a="http://schemas.openxmlformats.org/drawingml/2006/main">
              <a:ext uri="{FF2B5EF4-FFF2-40B4-BE49-F238E27FC236}">
                <a16:creationId xmlns:a16="http://schemas.microsoft.com/office/drawing/2014/main" id="{681458AA-187F-4C5C-A1D6-D92178EF6C19}"/>
              </a:ext>
            </a:extLst>
          </p:cNvPr>
          <p:cNvSpPr>
            <a:spLocks xmlns:a="http://schemas.openxmlformats.org/drawingml/2006/main" noGrp="1"/>
          </p:cNvSpPr>
          <p:nvPr/>
        </p:nvSpPr>
        <p:spPr>
          <a:xfrm xmlns:a="http://schemas.openxmlformats.org/drawingml/2006/main">
            <a:off x="731520" y="4782312"/>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5" name="s7_rowlabel_14">
            <a:extLst xmlns:a="http://schemas.openxmlformats.org/drawingml/2006/main">
              <a:ext uri="{FF2B5EF4-FFF2-40B4-BE49-F238E27FC236}">
                <a16:creationId xmlns:a16="http://schemas.microsoft.com/office/drawing/2014/main" id="{4DB52AF0-CDFA-4BB9-AF54-0DF9B3F6D6E0}"/>
              </a:ext>
            </a:extLst>
          </p:cNvPr>
          <p:cNvSpPr>
            <a:spLocks xmlns:a="http://schemas.openxmlformats.org/drawingml/2006/main" noGrp="1"/>
          </p:cNvSpPr>
          <p:nvPr/>
        </p:nvSpPr>
        <p:spPr>
          <a:xfrm xmlns:a="http://schemas.openxmlformats.org/drawingml/2006/main">
            <a:off x="822960" y="5318125"/>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1993–1994년</a:t>
            </a:r>
          </a:p>
        </p:txBody>
      </p:sp>
      <p:sp>
        <p:nvSpPr>
          <p:cNvPr id="16" name="s7_conclusion_15">
            <a:extLst xmlns:a="http://schemas.openxmlformats.org/drawingml/2006/main">
              <a:ext uri="{FF2B5EF4-FFF2-40B4-BE49-F238E27FC236}">
                <a16:creationId xmlns:a16="http://schemas.microsoft.com/office/drawing/2014/main" id="{B896D86B-0229-44CF-8884-BD91458DD06C}"/>
              </a:ext>
            </a:extLst>
          </p:cNvPr>
          <p:cNvSpPr>
            <a:spLocks xmlns:a="http://schemas.openxmlformats.org/drawingml/2006/main" noGrp="1"/>
          </p:cNvSpPr>
          <p:nvPr/>
        </p:nvSpPr>
        <p:spPr>
          <a:xfrm xmlns:a="http://schemas.openxmlformats.org/drawingml/2006/main">
            <a:off x="3154680" y="5134674"/>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FERET의 공통 이미지 평가</a:t>
            </a:r>
          </a:p>
        </p:txBody>
      </p:sp>
      <p:sp>
        <p:nvSpPr>
          <p:cNvPr id="17" name="s7_supplement_16">
            <a:extLst xmlns:a="http://schemas.openxmlformats.org/drawingml/2006/main">
              <a:ext uri="{FF2B5EF4-FFF2-40B4-BE49-F238E27FC236}">
                <a16:creationId xmlns:a16="http://schemas.microsoft.com/office/drawing/2014/main" id="{56646497-8120-4C82-8F89-ED2508568A27}"/>
              </a:ext>
            </a:extLst>
          </p:cNvPr>
          <p:cNvSpPr>
            <a:spLocks xmlns:a="http://schemas.openxmlformats.org/drawingml/2006/main" noGrp="1"/>
          </p:cNvSpPr>
          <p:nvPr/>
        </p:nvSpPr>
        <p:spPr>
          <a:xfrm xmlns:a="http://schemas.openxmlformats.org/drawingml/2006/main">
            <a:off x="3154680" y="5490782"/>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같은 시험자료로 알고리즘의 얼굴인식 성능을 비교했다.</a:t>
            </a:r>
          </a:p>
        </p:txBody>
      </p:sp>
      <p:sp>
        <p:nvSpPr>
          <p:cNvPr id="18" name="">
            <a:extLst xmlns:a="http://schemas.openxmlformats.org/drawingml/2006/main">
              <a:ext uri="{FF2B5EF4-FFF2-40B4-BE49-F238E27FC236}">
                <a16:creationId xmlns:a16="http://schemas.microsoft.com/office/drawing/2014/main" id="{51DEE834-54C1-440A-B8C4-36D2CC5FD1BE}"/>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107525032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8_kicker_0">
            <a:extLst xmlns:a="http://schemas.openxmlformats.org/drawingml/2006/main">
              <a:ext uri="{FF2B5EF4-FFF2-40B4-BE49-F238E27FC236}">
                <a16:creationId xmlns:a16="http://schemas.microsoft.com/office/drawing/2014/main" id="{8EE39816-70A8-4438-911B-E6DB1F34D99A}"/>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발전과 공공 감시</a:t>
            </a:r>
          </a:p>
        </p:txBody>
      </p:sp>
      <p:sp>
        <p:nvSpPr>
          <p:cNvPr id="2" name="s8_next_1">
            <a:extLst xmlns:a="http://schemas.openxmlformats.org/drawingml/2006/main">
              <a:ext uri="{FF2B5EF4-FFF2-40B4-BE49-F238E27FC236}">
                <a16:creationId xmlns:a16="http://schemas.microsoft.com/office/drawing/2014/main" id="{57DFD8F1-26FE-4944-AC28-A9E1897C8ECD}"/>
              </a:ext>
            </a:extLst>
          </p:cNvPr>
          <p:cNvSpPr>
            <a:spLocks xmlns:a="http://schemas.openxmlformats.org/drawingml/2006/main" noGrp="1"/>
          </p:cNvSpPr>
          <p:nvPr/>
        </p:nvSpPr>
        <p:spPr>
          <a:xfrm xmlns:a="http://schemas.openxmlformats.org/drawingml/2006/main">
            <a:off x="6035040" y="384048"/>
            <a:ext cx="5422392"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defRPr sz="1050" b="0">
                <a:solidFill>
                  <a:srgbClr val="464D5C"/>
                </a:solidFill>
                <a:latin typeface="Pretendard"/>
                <a:ea typeface="Pretendard"/>
                <a:cs typeface="Pretendard"/>
              </a:defRPr>
              <a:spcBef>
                <a:spcPts val="0"/>
              </a:spcBef>
              <a:spcAft>
                <a:spcPts val="0"/>
              </a:spcAft>
            </a:pPr>
            <a:r>
              <a:rPr sz="1050" b="0">
                <a:solidFill>
                  <a:srgbClr val="464D5C"/>
                </a:solidFill>
                <a:latin typeface="Pretendard"/>
                <a:ea typeface="Pretendard"/>
                <a:cs typeface="Pretendard"/>
              </a:rPr>
              <a:t>다음  사진 검색 성능의 향상</a:t>
            </a:r>
          </a:p>
        </p:txBody>
      </p:sp>
      <p:sp>
        <p:nvSpPr>
          <p:cNvPr id="3" name="s8_title_2">
            <a:extLst xmlns:a="http://schemas.openxmlformats.org/drawingml/2006/main">
              <a:ext uri="{FF2B5EF4-FFF2-40B4-BE49-F238E27FC236}">
                <a16:creationId xmlns:a16="http://schemas.microsoft.com/office/drawing/2014/main" id="{0389C5A6-4F25-473D-BA97-39002B248252}"/>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카메라 설치에서 통합관제로</a:t>
            </a:r>
          </a:p>
        </p:txBody>
      </p:sp>
      <p:sp>
        <p:nvSpPr>
          <p:cNvPr id="4" name="">
            <a:extLst xmlns:a="http://schemas.openxmlformats.org/drawingml/2006/main">
              <a:ext uri="{FF2B5EF4-FFF2-40B4-BE49-F238E27FC236}">
                <a16:creationId xmlns:a16="http://schemas.microsoft.com/office/drawing/2014/main" id="{3AA03ACF-5C3A-44EC-B48A-2463921759F3}"/>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8_band_4">
            <a:extLst xmlns:a="http://schemas.openxmlformats.org/drawingml/2006/main">
              <a:ext uri="{FF2B5EF4-FFF2-40B4-BE49-F238E27FC236}">
                <a16:creationId xmlns:a16="http://schemas.microsoft.com/office/drawing/2014/main" id="{38876B3F-CB9F-4B46-BA02-43B2E3B3CA9D}"/>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국내에서는 영상의 수집·통합·자동 경보가 차례로 확대됐다.</a:t>
            </a:r>
          </a:p>
        </p:txBody>
      </p:sp>
      <p:sp>
        <p:nvSpPr>
          <p:cNvPr id="6" name="">
            <a:extLst xmlns:a="http://schemas.openxmlformats.org/drawingml/2006/main">
              <a:ext uri="{FF2B5EF4-FFF2-40B4-BE49-F238E27FC236}">
                <a16:creationId xmlns:a16="http://schemas.microsoft.com/office/drawing/2014/main" id="{6980C43F-9D52-4BCE-8A9B-ED1E2ABCADB1}"/>
              </a:ext>
            </a:extLst>
          </p:cNvPr>
          <p:cNvSpPr>
            <a:spLocks xmlns:a="http://schemas.openxmlformats.org/drawingml/2006/main" noGrp="1"/>
          </p:cNvSpPr>
          <p:nvPr/>
        </p:nvSpPr>
        <p:spPr>
          <a:xfrm xmlns:a="http://schemas.openxmlformats.org/drawingml/2006/main">
            <a:off x="731520" y="2057400"/>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7" name="s8_rowlabel_6">
            <a:extLst xmlns:a="http://schemas.openxmlformats.org/drawingml/2006/main">
              <a:ext uri="{FF2B5EF4-FFF2-40B4-BE49-F238E27FC236}">
                <a16:creationId xmlns:a16="http://schemas.microsoft.com/office/drawing/2014/main" id="{E9EFBB70-5143-4AF6-BED9-8FDE544F0721}"/>
              </a:ext>
            </a:extLst>
          </p:cNvPr>
          <p:cNvSpPr>
            <a:spLocks xmlns:a="http://schemas.openxmlformats.org/drawingml/2006/main" noGrp="1"/>
          </p:cNvSpPr>
          <p:nvPr/>
        </p:nvSpPr>
        <p:spPr>
          <a:xfrm xmlns:a="http://schemas.openxmlformats.org/drawingml/2006/main">
            <a:off x="822960" y="2593213"/>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2002–2004년</a:t>
            </a:r>
          </a:p>
        </p:txBody>
      </p:sp>
      <p:sp>
        <p:nvSpPr>
          <p:cNvPr id="8" name="s8_conclusion_7">
            <a:extLst xmlns:a="http://schemas.openxmlformats.org/drawingml/2006/main">
              <a:ext uri="{FF2B5EF4-FFF2-40B4-BE49-F238E27FC236}">
                <a16:creationId xmlns:a16="http://schemas.microsoft.com/office/drawing/2014/main" id="{10A5DA50-3FCF-4D8D-9A86-EA2B939E25A1}"/>
              </a:ext>
            </a:extLst>
          </p:cNvPr>
          <p:cNvSpPr>
            <a:spLocks xmlns:a="http://schemas.openxmlformats.org/drawingml/2006/main" noGrp="1"/>
          </p:cNvSpPr>
          <p:nvPr/>
        </p:nvSpPr>
        <p:spPr>
          <a:xfrm xmlns:a="http://schemas.openxmlformats.org/drawingml/2006/main">
            <a:off x="3154680" y="2409762"/>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강남의 CCTV 5대와 법적 기준 논의</a:t>
            </a:r>
          </a:p>
        </p:txBody>
      </p:sp>
      <p:sp>
        <p:nvSpPr>
          <p:cNvPr id="9" name="s8_supplement_8">
            <a:extLst xmlns:a="http://schemas.openxmlformats.org/drawingml/2006/main">
              <a:ext uri="{FF2B5EF4-FFF2-40B4-BE49-F238E27FC236}">
                <a16:creationId xmlns:a16="http://schemas.microsoft.com/office/drawing/2014/main" id="{CC32A4CB-E434-4095-89D6-2AA9FA5A51EF}"/>
              </a:ext>
            </a:extLst>
          </p:cNvPr>
          <p:cNvSpPr>
            <a:spLocks xmlns:a="http://schemas.openxmlformats.org/drawingml/2006/main" noGrp="1"/>
          </p:cNvSpPr>
          <p:nvPr/>
        </p:nvSpPr>
        <p:spPr>
          <a:xfrm xmlns:a="http://schemas.openxmlformats.org/drawingml/2006/main">
            <a:off x="3154680" y="2765870"/>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2002년 12월 시범 설치 뒤 인권위가 2003년 청문회·2004년 법적 기준 권고를 진행했다.</a:t>
            </a:r>
          </a:p>
        </p:txBody>
      </p:sp>
      <p:sp>
        <p:nvSpPr>
          <p:cNvPr id="10" name="">
            <a:extLst xmlns:a="http://schemas.openxmlformats.org/drawingml/2006/main">
              <a:ext uri="{FF2B5EF4-FFF2-40B4-BE49-F238E27FC236}">
                <a16:creationId xmlns:a16="http://schemas.microsoft.com/office/drawing/2014/main" id="{C9E2427B-B49A-4DB2-A753-3901877B5E74}"/>
              </a:ext>
            </a:extLst>
          </p:cNvPr>
          <p:cNvSpPr>
            <a:spLocks xmlns:a="http://schemas.openxmlformats.org/drawingml/2006/main" noGrp="1"/>
          </p:cNvSpPr>
          <p:nvPr/>
        </p:nvSpPr>
        <p:spPr>
          <a:xfrm xmlns:a="http://schemas.openxmlformats.org/drawingml/2006/main">
            <a:off x="731520" y="3419856"/>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1" name="s8_rowlabel_10">
            <a:extLst xmlns:a="http://schemas.openxmlformats.org/drawingml/2006/main">
              <a:ext uri="{FF2B5EF4-FFF2-40B4-BE49-F238E27FC236}">
                <a16:creationId xmlns:a16="http://schemas.microsoft.com/office/drawing/2014/main" id="{3DE7258C-F3AD-4814-A6A4-7DCE6C0A6E58}"/>
              </a:ext>
            </a:extLst>
          </p:cNvPr>
          <p:cNvSpPr>
            <a:spLocks xmlns:a="http://schemas.openxmlformats.org/drawingml/2006/main" noGrp="1"/>
          </p:cNvSpPr>
          <p:nvPr/>
        </p:nvSpPr>
        <p:spPr>
          <a:xfrm xmlns:a="http://schemas.openxmlformats.org/drawingml/2006/main">
            <a:off x="822960" y="3955669"/>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2011년</a:t>
            </a:r>
          </a:p>
        </p:txBody>
      </p:sp>
      <p:sp>
        <p:nvSpPr>
          <p:cNvPr id="12" name="s8_conclusion_11">
            <a:extLst xmlns:a="http://schemas.openxmlformats.org/drawingml/2006/main">
              <a:ext uri="{FF2B5EF4-FFF2-40B4-BE49-F238E27FC236}">
                <a16:creationId xmlns:a16="http://schemas.microsoft.com/office/drawing/2014/main" id="{A9F10DFC-B9B5-4085-8FC0-80FE5E0F08F5}"/>
              </a:ext>
            </a:extLst>
          </p:cNvPr>
          <p:cNvSpPr>
            <a:spLocks xmlns:a="http://schemas.openxmlformats.org/drawingml/2006/main" noGrp="1"/>
          </p:cNvSpPr>
          <p:nvPr/>
        </p:nvSpPr>
        <p:spPr>
          <a:xfrm xmlns:a="http://schemas.openxmlformats.org/drawingml/2006/main">
            <a:off x="3154680" y="3772218"/>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34개 시군구 통합관제센터 구축 계획</a:t>
            </a:r>
          </a:p>
        </p:txBody>
      </p:sp>
      <p:sp>
        <p:nvSpPr>
          <p:cNvPr id="13" name="s8_supplement_12">
            <a:extLst xmlns:a="http://schemas.openxmlformats.org/drawingml/2006/main">
              <a:ext uri="{FF2B5EF4-FFF2-40B4-BE49-F238E27FC236}">
                <a16:creationId xmlns:a16="http://schemas.microsoft.com/office/drawing/2014/main" id="{4C7D7BCB-92AC-49B6-8A33-B7F22894776E}"/>
              </a:ext>
            </a:extLst>
          </p:cNvPr>
          <p:cNvSpPr>
            <a:spLocks xmlns:a="http://schemas.openxmlformats.org/drawingml/2006/main" noGrp="1"/>
          </p:cNvSpPr>
          <p:nvPr/>
        </p:nvSpPr>
        <p:spPr>
          <a:xfrm xmlns:a="http://schemas.openxmlformats.org/drawingml/2006/main">
            <a:off x="3154680" y="4128326"/>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행정안전부가 범죄·교통·재난 등 목적별 영상을 한곳에 모으는 계획을 발표했다.</a:t>
            </a:r>
          </a:p>
        </p:txBody>
      </p:sp>
      <p:sp>
        <p:nvSpPr>
          <p:cNvPr id="14" name="">
            <a:extLst xmlns:a="http://schemas.openxmlformats.org/drawingml/2006/main">
              <a:ext uri="{FF2B5EF4-FFF2-40B4-BE49-F238E27FC236}">
                <a16:creationId xmlns:a16="http://schemas.microsoft.com/office/drawing/2014/main" id="{667B8B17-6FDB-4E03-8CEA-EB6ED0FCDFBF}"/>
              </a:ext>
            </a:extLst>
          </p:cNvPr>
          <p:cNvSpPr>
            <a:spLocks xmlns:a="http://schemas.openxmlformats.org/drawingml/2006/main" noGrp="1"/>
          </p:cNvSpPr>
          <p:nvPr/>
        </p:nvSpPr>
        <p:spPr>
          <a:xfrm xmlns:a="http://schemas.openxmlformats.org/drawingml/2006/main">
            <a:off x="731520" y="4782312"/>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5" name="s8_rowlabel_14">
            <a:extLst xmlns:a="http://schemas.openxmlformats.org/drawingml/2006/main">
              <a:ext uri="{FF2B5EF4-FFF2-40B4-BE49-F238E27FC236}">
                <a16:creationId xmlns:a16="http://schemas.microsoft.com/office/drawing/2014/main" id="{573C6CC2-B878-4D6C-9177-D5B819C4F0E7}"/>
              </a:ext>
            </a:extLst>
          </p:cNvPr>
          <p:cNvSpPr>
            <a:spLocks xmlns:a="http://schemas.openxmlformats.org/drawingml/2006/main" noGrp="1"/>
          </p:cNvSpPr>
          <p:nvPr/>
        </p:nvSpPr>
        <p:spPr>
          <a:xfrm xmlns:a="http://schemas.openxmlformats.org/drawingml/2006/main">
            <a:off x="822960" y="5318125"/>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2014년</a:t>
            </a:r>
          </a:p>
        </p:txBody>
      </p:sp>
      <p:sp>
        <p:nvSpPr>
          <p:cNvPr id="16" name="s8_conclusion_15">
            <a:extLst xmlns:a="http://schemas.openxmlformats.org/drawingml/2006/main">
              <a:ext uri="{FF2B5EF4-FFF2-40B4-BE49-F238E27FC236}">
                <a16:creationId xmlns:a16="http://schemas.microsoft.com/office/drawing/2014/main" id="{ACBE264B-6BF8-4E41-8E8D-2C2C0EB38E23}"/>
              </a:ext>
            </a:extLst>
          </p:cNvPr>
          <p:cNvSpPr>
            <a:spLocks xmlns:a="http://schemas.openxmlformats.org/drawingml/2006/main" noGrp="1"/>
          </p:cNvSpPr>
          <p:nvPr/>
        </p:nvSpPr>
        <p:spPr>
          <a:xfrm xmlns:a="http://schemas.openxmlformats.org/drawingml/2006/main">
            <a:off x="3154680" y="5134674"/>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비명·충돌음에 반응하는 관제 기술</a:t>
            </a:r>
          </a:p>
        </p:txBody>
      </p:sp>
      <p:sp>
        <p:nvSpPr>
          <p:cNvPr id="17" name="s8_supplement_16">
            <a:extLst xmlns:a="http://schemas.openxmlformats.org/drawingml/2006/main">
              <a:ext uri="{FF2B5EF4-FFF2-40B4-BE49-F238E27FC236}">
                <a16:creationId xmlns:a16="http://schemas.microsoft.com/office/drawing/2014/main" id="{04154F02-76C0-4D30-9723-B416EDC72F2F}"/>
              </a:ext>
            </a:extLst>
          </p:cNvPr>
          <p:cNvSpPr>
            <a:spLocks xmlns:a="http://schemas.openxmlformats.org/drawingml/2006/main" noGrp="1"/>
          </p:cNvSpPr>
          <p:nvPr/>
        </p:nvSpPr>
        <p:spPr>
          <a:xfrm xmlns:a="http://schemas.openxmlformats.org/drawingml/2006/main">
            <a:off x="3154680" y="5490782"/>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안전행정부가 소리에 따라 카메라 방향을 바꾸고 요원에게 알리는 기술을 발표했다.</a:t>
            </a:r>
          </a:p>
        </p:txBody>
      </p:sp>
      <p:sp>
        <p:nvSpPr>
          <p:cNvPr id="18" name="">
            <a:extLst xmlns:a="http://schemas.openxmlformats.org/drawingml/2006/main">
              <a:ext uri="{FF2B5EF4-FFF2-40B4-BE49-F238E27FC236}">
                <a16:creationId xmlns:a16="http://schemas.microsoft.com/office/drawing/2014/main" id="{7CC51315-46A9-40A8-A91C-1291B4DA1FD1}"/>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120901841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9_kicker_0">
            <a:extLst xmlns:a="http://schemas.openxmlformats.org/drawingml/2006/main">
              <a:ext uri="{FF2B5EF4-FFF2-40B4-BE49-F238E27FC236}">
                <a16:creationId xmlns:a16="http://schemas.microsoft.com/office/drawing/2014/main" id="{70149707-8F2A-4354-8A23-F41AD7E0BE5A}"/>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발전과 공공 감시</a:t>
            </a:r>
          </a:p>
        </p:txBody>
      </p:sp>
      <p:sp>
        <p:nvSpPr>
          <p:cNvPr id="2" name="s9_next_1">
            <a:extLst xmlns:a="http://schemas.openxmlformats.org/drawingml/2006/main">
              <a:ext uri="{FF2B5EF4-FFF2-40B4-BE49-F238E27FC236}">
                <a16:creationId xmlns:a16="http://schemas.microsoft.com/office/drawing/2014/main" id="{CDD850B6-7A0F-4F52-B43C-46C95081D2C0}"/>
              </a:ext>
            </a:extLst>
          </p:cNvPr>
          <p:cNvSpPr>
            <a:spLocks xmlns:a="http://schemas.openxmlformats.org/drawingml/2006/main" noGrp="1"/>
          </p:cNvSpPr>
          <p:nvPr/>
        </p:nvSpPr>
        <p:spPr>
          <a:xfrm xmlns:a="http://schemas.openxmlformats.org/drawingml/2006/main">
            <a:off x="6035040" y="384048"/>
            <a:ext cx="5422392"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defRPr sz="1050" b="0">
                <a:solidFill>
                  <a:srgbClr val="464D5C"/>
                </a:solidFill>
                <a:latin typeface="Pretendard"/>
                <a:ea typeface="Pretendard"/>
                <a:cs typeface="Pretendard"/>
              </a:defRPr>
              <a:spcBef>
                <a:spcPts val="0"/>
              </a:spcBef>
              <a:spcAft>
                <a:spcPts val="0"/>
              </a:spcAft>
            </a:pPr>
            <a:r>
              <a:rPr sz="1050" b="0">
                <a:solidFill>
                  <a:srgbClr val="464D5C"/>
                </a:solidFill>
                <a:latin typeface="Pretendard"/>
                <a:ea typeface="Pretendard"/>
                <a:cs typeface="Pretendard"/>
              </a:rPr>
              <a:t>다음  체포 없이 끝난 ‘Snooper Bowl’</a:t>
            </a:r>
          </a:p>
        </p:txBody>
      </p:sp>
      <p:sp>
        <p:nvSpPr>
          <p:cNvPr id="3" name="s9_title_2">
            <a:extLst xmlns:a="http://schemas.openxmlformats.org/drawingml/2006/main">
              <a:ext uri="{FF2B5EF4-FFF2-40B4-BE49-F238E27FC236}">
                <a16:creationId xmlns:a16="http://schemas.microsoft.com/office/drawing/2014/main" id="{EB16A7A6-2F38-4D5C-BBA2-64858A069D44}"/>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사진 검색 성능의 향상</a:t>
            </a:r>
          </a:p>
        </p:txBody>
      </p:sp>
      <p:sp>
        <p:nvSpPr>
          <p:cNvPr id="4" name="">
            <a:extLst xmlns:a="http://schemas.openxmlformats.org/drawingml/2006/main">
              <a:ext uri="{FF2B5EF4-FFF2-40B4-BE49-F238E27FC236}">
                <a16:creationId xmlns:a16="http://schemas.microsoft.com/office/drawing/2014/main" id="{CA0A09ED-BDFB-4859-8DC9-8A4A6B7D177E}"/>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9_band_4">
            <a:extLst xmlns:a="http://schemas.openxmlformats.org/drawingml/2006/main">
              <a:ext uri="{FF2B5EF4-FFF2-40B4-BE49-F238E27FC236}">
                <a16:creationId xmlns:a16="http://schemas.microsoft.com/office/drawing/2014/main" id="{DDF7BC11-E435-4A75-A4BC-CD1E5FF13526}"/>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NIST의 2018년 평가: 같은 평가 조건에서 상위 알고리즘의 1:N 검색 미탐지율</a:t>
            </a:r>
          </a:p>
        </p:txBody>
      </p:sp>
      <p:sp>
        <p:nvSpPr>
          <p:cNvPr id="6" name="">
            <a:extLst xmlns:a="http://schemas.openxmlformats.org/drawingml/2006/main">
              <a:ext uri="{FF2B5EF4-FFF2-40B4-BE49-F238E27FC236}">
                <a16:creationId xmlns:a16="http://schemas.microsoft.com/office/drawing/2014/main" id="{04B78BCD-797F-4CD9-8BDA-F6A0672A0869}"/>
              </a:ext>
            </a:extLst>
          </p:cNvPr>
          <p:cNvSpPr>
            <a:spLocks xmlns:a="http://schemas.openxmlformats.org/drawingml/2006/main" noGrp="1"/>
          </p:cNvSpPr>
          <p:nvPr/>
        </p:nvSpPr>
        <p:spPr>
          <a:xfrm xmlns:a="http://schemas.openxmlformats.org/drawingml/2006/main">
            <a:off x="731520" y="2057400"/>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graphicFrame>
        <p:nvGraphicFramePr>
          <p:cNvPr id="16" name="Chart"/>
          <p:cNvGraphicFramePr/>
          <p:nvPr/>
        </p:nvGraphicFramePr>
        <p:xfrm>
          <a:off xmlns:a="http://schemas.openxmlformats.org/drawingml/2006/main" x="960120" y="2240280"/>
          <a:ext xmlns:a="http://schemas.openxmlformats.org/drawingml/2006/main" cx="10241280" cy="3336036"/>
        </p:xfrm>
        <a:graphic xmlns:a="http://schemas.openxmlformats.org/drawingml/2006/main">
          <a:graphicData uri="http://schemas.openxmlformats.org/drawingml/2006/chart">
            <c:chart xmlns:r="http://schemas.openxmlformats.org/officeDocument/2006/relationships" xmlns:c="http://schemas.openxmlformats.org/drawingml/2006/chart" r:id="R412f3a692a124d8c"/>
          </a:graphicData>
        </a:graphic>
      </p:graphicFrame>
      <p:sp>
        <p:nvSpPr>
          <p:cNvPr id="8" name="s9_scope_7">
            <a:extLst xmlns:a="http://schemas.openxmlformats.org/drawingml/2006/main">
              <a:ext uri="{FF2B5EF4-FFF2-40B4-BE49-F238E27FC236}">
                <a16:creationId xmlns:a16="http://schemas.microsoft.com/office/drawing/2014/main" id="{0ED9EF4B-3480-496D-ABCA-18646EF54C8F}"/>
              </a:ext>
            </a:extLst>
          </p:cNvPr>
          <p:cNvSpPr>
            <a:spLocks xmlns:a="http://schemas.openxmlformats.org/drawingml/2006/main" noGrp="1"/>
          </p:cNvSpPr>
          <p:nvPr/>
        </p:nvSpPr>
        <p:spPr>
          <a:xfrm xmlns:a="http://schemas.openxmlformats.org/drawingml/2006/main">
            <a:off x="731520" y="5878068"/>
            <a:ext cx="10725912" cy="2301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00" b="0">
                <a:solidFill>
                  <a:srgbClr val="A8871C"/>
                </a:solidFill>
                <a:latin typeface="Pretendard"/>
                <a:ea typeface="Pretendard"/>
                <a:cs typeface="Pretendard"/>
              </a:defRPr>
              <a:spcBef>
                <a:spcPts val="0"/>
              </a:spcBef>
              <a:spcAft>
                <a:spcPts val="0"/>
              </a:spcAft>
            </a:pPr>
            <a:r>
              <a:rPr sz="1200" b="0">
                <a:solidFill>
                  <a:srgbClr val="A8871C"/>
                </a:solidFill>
                <a:latin typeface="Pretendard"/>
                <a:ea typeface="Pretendard"/>
                <a:cs typeface="Pretendard"/>
              </a:rPr>
              <a:t>평가 단위: 사진의 1:N 검색 · 지표: 명단 속 동일인을 찾지 못한 비율</a:t>
            </a:r>
          </a:p>
        </p:txBody>
      </p:sp>
      <p:sp>
        <p:nvSpPr>
          <p:cNvPr id="9" name="">
            <a:extLst xmlns:a="http://schemas.openxmlformats.org/drawingml/2006/main">
              <a:ext uri="{FF2B5EF4-FFF2-40B4-BE49-F238E27FC236}">
                <a16:creationId xmlns:a16="http://schemas.microsoft.com/office/drawing/2014/main" id="{6C170A8C-9447-4B15-82B1-9F75C9AFE1F5}"/>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189142065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10_kicker_0">
            <a:extLst xmlns:a="http://schemas.openxmlformats.org/drawingml/2006/main">
              <a:ext uri="{FF2B5EF4-FFF2-40B4-BE49-F238E27FC236}">
                <a16:creationId xmlns:a16="http://schemas.microsoft.com/office/drawing/2014/main" id="{F0B6F00D-9BF4-4E9B-9281-F9AD8B671A9C}"/>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발전과 공공 감시</a:t>
            </a:r>
          </a:p>
        </p:txBody>
      </p:sp>
      <p:sp>
        <p:nvSpPr>
          <p:cNvPr id="2" name="s10_next_1">
            <a:extLst xmlns:a="http://schemas.openxmlformats.org/drawingml/2006/main">
              <a:ext uri="{FF2B5EF4-FFF2-40B4-BE49-F238E27FC236}">
                <a16:creationId xmlns:a16="http://schemas.microsoft.com/office/drawing/2014/main" id="{68B49753-E3A9-4833-8E4D-743AC7CD1B06}"/>
              </a:ext>
            </a:extLst>
          </p:cNvPr>
          <p:cNvSpPr>
            <a:spLocks xmlns:a="http://schemas.openxmlformats.org/drawingml/2006/main" noGrp="1"/>
          </p:cNvSpPr>
          <p:nvPr/>
        </p:nvSpPr>
        <p:spPr>
          <a:xfrm xmlns:a="http://schemas.openxmlformats.org/drawingml/2006/main">
            <a:off x="6035040" y="384048"/>
            <a:ext cx="5422392"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defRPr sz="1050" b="0">
                <a:solidFill>
                  <a:srgbClr val="464D5C"/>
                </a:solidFill>
                <a:latin typeface="Pretendard"/>
                <a:ea typeface="Pretendard"/>
                <a:cs typeface="Pretendard"/>
              </a:defRPr>
              <a:spcBef>
                <a:spcPts val="0"/>
              </a:spcBef>
              <a:spcAft>
                <a:spcPts val="0"/>
              </a:spcAft>
            </a:pPr>
            <a:r>
              <a:rPr sz="1050" b="0">
                <a:solidFill>
                  <a:srgbClr val="464D5C"/>
                </a:solidFill>
                <a:latin typeface="Pretendard"/>
                <a:ea typeface="Pretendard"/>
                <a:cs typeface="Pretendard"/>
              </a:rPr>
              <a:t>다음  공개장소 CCTV 설치의 근거</a:t>
            </a:r>
          </a:p>
        </p:txBody>
      </p:sp>
      <p:sp>
        <p:nvSpPr>
          <p:cNvPr id="3" name="s10_title_2">
            <a:extLst xmlns:a="http://schemas.openxmlformats.org/drawingml/2006/main">
              <a:ext uri="{FF2B5EF4-FFF2-40B4-BE49-F238E27FC236}">
                <a16:creationId xmlns:a16="http://schemas.microsoft.com/office/drawing/2014/main" id="{36B1CE16-F714-43EE-BAC1-7592F293F3B2}"/>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체포 없이 끝난 ‘Snooper Bowl’</a:t>
            </a:r>
          </a:p>
        </p:txBody>
      </p:sp>
      <p:sp>
        <p:nvSpPr>
          <p:cNvPr id="4" name="">
            <a:extLst xmlns:a="http://schemas.openxmlformats.org/drawingml/2006/main">
              <a:ext uri="{FF2B5EF4-FFF2-40B4-BE49-F238E27FC236}">
                <a16:creationId xmlns:a16="http://schemas.microsoft.com/office/drawing/2014/main" id="{01E24F8E-DAFE-4C87-86A0-1697A97F1CF9}"/>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10_band_4">
            <a:extLst xmlns:a="http://schemas.openxmlformats.org/drawingml/2006/main">
              <a:ext uri="{FF2B5EF4-FFF2-40B4-BE49-F238E27FC236}">
                <a16:creationId xmlns:a16="http://schemas.microsoft.com/office/drawing/2014/main" id="{3E4F9638-D2C4-4931-92C4-6643C98C8056}"/>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2001년 미국 탬파 슈퍼볼: 경기장 입장객의 얼굴을 경찰 명단과 실시간 대조</a:t>
            </a:r>
          </a:p>
        </p:txBody>
      </p:sp>
      <p:sp>
        <p:nvSpPr>
          <p:cNvPr id="6" name="">
            <a:extLst xmlns:a="http://schemas.openxmlformats.org/drawingml/2006/main">
              <a:ext uri="{FF2B5EF4-FFF2-40B4-BE49-F238E27FC236}">
                <a16:creationId xmlns:a16="http://schemas.microsoft.com/office/drawing/2014/main" id="{210B6ED9-5887-459B-BC42-B3ED01729638}"/>
              </a:ext>
            </a:extLst>
          </p:cNvPr>
          <p:cNvSpPr>
            <a:spLocks xmlns:a="http://schemas.openxmlformats.org/drawingml/2006/main" noGrp="1"/>
          </p:cNvSpPr>
          <p:nvPr/>
        </p:nvSpPr>
        <p:spPr>
          <a:xfrm xmlns:a="http://schemas.openxmlformats.org/drawingml/2006/main">
            <a:off x="731520" y="2057400"/>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7" name="s10_rowlabel_6">
            <a:extLst xmlns:a="http://schemas.openxmlformats.org/drawingml/2006/main">
              <a:ext uri="{FF2B5EF4-FFF2-40B4-BE49-F238E27FC236}">
                <a16:creationId xmlns:a16="http://schemas.microsoft.com/office/drawing/2014/main" id="{0706D361-FD02-4316-9AF8-6A8D706A1CC2}"/>
              </a:ext>
            </a:extLst>
          </p:cNvPr>
          <p:cNvSpPr>
            <a:spLocks xmlns:a="http://schemas.openxmlformats.org/drawingml/2006/main" noGrp="1"/>
          </p:cNvSpPr>
          <p:nvPr/>
        </p:nvSpPr>
        <p:spPr>
          <a:xfrm xmlns:a="http://schemas.openxmlformats.org/drawingml/2006/main">
            <a:off x="822960" y="2593213"/>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도입</a:t>
            </a:r>
          </a:p>
        </p:txBody>
      </p:sp>
      <p:sp>
        <p:nvSpPr>
          <p:cNvPr id="8" name="s10_conclusion_7">
            <a:extLst xmlns:a="http://schemas.openxmlformats.org/drawingml/2006/main">
              <a:ext uri="{FF2B5EF4-FFF2-40B4-BE49-F238E27FC236}">
                <a16:creationId xmlns:a16="http://schemas.microsoft.com/office/drawing/2014/main" id="{1B2F0FB6-024F-4821-900D-F08022B5293D}"/>
              </a:ext>
            </a:extLst>
          </p:cNvPr>
          <p:cNvSpPr>
            <a:spLocks xmlns:a="http://schemas.openxmlformats.org/drawingml/2006/main" noGrp="1"/>
          </p:cNvSpPr>
          <p:nvPr/>
        </p:nvSpPr>
        <p:spPr>
          <a:xfrm xmlns:a="http://schemas.openxmlformats.org/drawingml/2006/main">
            <a:off x="3154680" y="2409762"/>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대규모 행사에 얼굴인식을 배치했다.</a:t>
            </a:r>
          </a:p>
        </p:txBody>
      </p:sp>
      <p:sp>
        <p:nvSpPr>
          <p:cNvPr id="9" name="s10_supplement_8">
            <a:extLst xmlns:a="http://schemas.openxmlformats.org/drawingml/2006/main">
              <a:ext uri="{FF2B5EF4-FFF2-40B4-BE49-F238E27FC236}">
                <a16:creationId xmlns:a16="http://schemas.microsoft.com/office/drawing/2014/main" id="{579BD022-0D9E-4780-AB25-84FC68998ACF}"/>
              </a:ext>
            </a:extLst>
          </p:cNvPr>
          <p:cNvSpPr>
            <a:spLocks xmlns:a="http://schemas.openxmlformats.org/drawingml/2006/main" noGrp="1"/>
          </p:cNvSpPr>
          <p:nvPr/>
        </p:nvSpPr>
        <p:spPr>
          <a:xfrm xmlns:a="http://schemas.openxmlformats.org/drawingml/2006/main">
            <a:off x="3154680" y="2765870"/>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동시대 보도는 감시 논란을 반영해 ‘Snooper Bowl’이라는 별명을 전했다.</a:t>
            </a:r>
          </a:p>
        </p:txBody>
      </p:sp>
      <p:sp>
        <p:nvSpPr>
          <p:cNvPr id="10" name="">
            <a:extLst xmlns:a="http://schemas.openxmlformats.org/drawingml/2006/main">
              <a:ext uri="{FF2B5EF4-FFF2-40B4-BE49-F238E27FC236}">
                <a16:creationId xmlns:a16="http://schemas.microsoft.com/office/drawing/2014/main" id="{F20F1634-C789-425D-9AB9-B8E9246F4564}"/>
              </a:ext>
            </a:extLst>
          </p:cNvPr>
          <p:cNvSpPr>
            <a:spLocks xmlns:a="http://schemas.openxmlformats.org/drawingml/2006/main" noGrp="1"/>
          </p:cNvSpPr>
          <p:nvPr/>
        </p:nvSpPr>
        <p:spPr>
          <a:xfrm xmlns:a="http://schemas.openxmlformats.org/drawingml/2006/main">
            <a:off x="731520" y="3419856"/>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1" name="s10_rowlabel_10">
            <a:extLst xmlns:a="http://schemas.openxmlformats.org/drawingml/2006/main">
              <a:ext uri="{FF2B5EF4-FFF2-40B4-BE49-F238E27FC236}">
                <a16:creationId xmlns:a16="http://schemas.microsoft.com/office/drawing/2014/main" id="{FE8DF90F-CE2C-44BB-88B8-C918AE42FF8C}"/>
              </a:ext>
            </a:extLst>
          </p:cNvPr>
          <p:cNvSpPr>
            <a:spLocks xmlns:a="http://schemas.openxmlformats.org/drawingml/2006/main" noGrp="1"/>
          </p:cNvSpPr>
          <p:nvPr/>
        </p:nvSpPr>
        <p:spPr>
          <a:xfrm xmlns:a="http://schemas.openxmlformats.org/drawingml/2006/main">
            <a:off x="822960" y="3955669"/>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운영 결과</a:t>
            </a:r>
          </a:p>
        </p:txBody>
      </p:sp>
      <p:sp>
        <p:nvSpPr>
          <p:cNvPr id="12" name="s10_conclusion_11">
            <a:extLst xmlns:a="http://schemas.openxmlformats.org/drawingml/2006/main">
              <a:ext uri="{FF2B5EF4-FFF2-40B4-BE49-F238E27FC236}">
                <a16:creationId xmlns:a16="http://schemas.microsoft.com/office/drawing/2014/main" id="{BC91DEEA-7838-405D-A4DB-D178BB34DB7E}"/>
              </a:ext>
            </a:extLst>
          </p:cNvPr>
          <p:cNvSpPr>
            <a:spLocks xmlns:a="http://schemas.openxmlformats.org/drawingml/2006/main" noGrp="1"/>
          </p:cNvSpPr>
          <p:nvPr/>
        </p:nvSpPr>
        <p:spPr>
          <a:xfrm xmlns:a="http://schemas.openxmlformats.org/drawingml/2006/main">
            <a:off x="3154680" y="3772218"/>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이 배치에서 체포는 이루어지지 않았다.</a:t>
            </a:r>
          </a:p>
        </p:txBody>
      </p:sp>
      <p:sp>
        <p:nvSpPr>
          <p:cNvPr id="13" name="s10_supplement_12">
            <a:extLst xmlns:a="http://schemas.openxmlformats.org/drawingml/2006/main">
              <a:ext uri="{FF2B5EF4-FFF2-40B4-BE49-F238E27FC236}">
                <a16:creationId xmlns:a16="http://schemas.microsoft.com/office/drawing/2014/main" id="{77A5A996-C5B8-4BE6-B067-F92EE8F8BE2A}"/>
              </a:ext>
            </a:extLst>
          </p:cNvPr>
          <p:cNvSpPr>
            <a:spLocks xmlns:a="http://schemas.openxmlformats.org/drawingml/2006/main" noGrp="1"/>
          </p:cNvSpPr>
          <p:nvPr/>
        </p:nvSpPr>
        <p:spPr>
          <a:xfrm xmlns:a="http://schemas.openxmlformats.org/drawingml/2006/main">
            <a:off x="3154680" y="4128326"/>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경보 뒤 실제 인물을 현장에서 찾는 과정에도 어려움이 있었다.</a:t>
            </a:r>
          </a:p>
        </p:txBody>
      </p:sp>
      <p:sp>
        <p:nvSpPr>
          <p:cNvPr id="14" name="">
            <a:extLst xmlns:a="http://schemas.openxmlformats.org/drawingml/2006/main">
              <a:ext uri="{FF2B5EF4-FFF2-40B4-BE49-F238E27FC236}">
                <a16:creationId xmlns:a16="http://schemas.microsoft.com/office/drawing/2014/main" id="{7F14B21B-A499-41F6-BD6B-E9F53ACF173B}"/>
              </a:ext>
            </a:extLst>
          </p:cNvPr>
          <p:cNvSpPr>
            <a:spLocks xmlns:a="http://schemas.openxmlformats.org/drawingml/2006/main" noGrp="1"/>
          </p:cNvSpPr>
          <p:nvPr/>
        </p:nvSpPr>
        <p:spPr>
          <a:xfrm xmlns:a="http://schemas.openxmlformats.org/drawingml/2006/main">
            <a:off x="731520" y="4782312"/>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5" name="s10_rowlabel_14">
            <a:extLst xmlns:a="http://schemas.openxmlformats.org/drawingml/2006/main">
              <a:ext uri="{FF2B5EF4-FFF2-40B4-BE49-F238E27FC236}">
                <a16:creationId xmlns:a16="http://schemas.microsoft.com/office/drawing/2014/main" id="{BB63AB45-1434-46C3-9319-080F21261F2B}"/>
              </a:ext>
            </a:extLst>
          </p:cNvPr>
          <p:cNvSpPr>
            <a:spLocks xmlns:a="http://schemas.openxmlformats.org/drawingml/2006/main" noGrp="1"/>
          </p:cNvSpPr>
          <p:nvPr/>
        </p:nvSpPr>
        <p:spPr>
          <a:xfrm xmlns:a="http://schemas.openxmlformats.org/drawingml/2006/main">
            <a:off x="822960" y="5318125"/>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운영 질문</a:t>
            </a:r>
          </a:p>
        </p:txBody>
      </p:sp>
      <p:sp>
        <p:nvSpPr>
          <p:cNvPr id="16" name="s10_conclusion_15">
            <a:extLst xmlns:a="http://schemas.openxmlformats.org/drawingml/2006/main">
              <a:ext uri="{FF2B5EF4-FFF2-40B4-BE49-F238E27FC236}">
                <a16:creationId xmlns:a16="http://schemas.microsoft.com/office/drawing/2014/main" id="{39652EF5-29CF-4D23-B5EF-5B37364E5381}"/>
              </a:ext>
            </a:extLst>
          </p:cNvPr>
          <p:cNvSpPr>
            <a:spLocks xmlns:a="http://schemas.openxmlformats.org/drawingml/2006/main" noGrp="1"/>
          </p:cNvSpPr>
          <p:nvPr/>
        </p:nvSpPr>
        <p:spPr>
          <a:xfrm xmlns:a="http://schemas.openxmlformats.org/drawingml/2006/main">
            <a:off x="3154680" y="5134674"/>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후보 탐지와 현장 대응을 연결해야 한다.</a:t>
            </a:r>
          </a:p>
        </p:txBody>
      </p:sp>
      <p:sp>
        <p:nvSpPr>
          <p:cNvPr id="17" name="s10_supplement_16">
            <a:extLst xmlns:a="http://schemas.openxmlformats.org/drawingml/2006/main">
              <a:ext uri="{FF2B5EF4-FFF2-40B4-BE49-F238E27FC236}">
                <a16:creationId xmlns:a16="http://schemas.microsoft.com/office/drawing/2014/main" id="{4D2D08FB-E7F1-4102-A1AE-56442F50EFA3}"/>
              </a:ext>
            </a:extLst>
          </p:cNvPr>
          <p:cNvSpPr>
            <a:spLocks xmlns:a="http://schemas.openxmlformats.org/drawingml/2006/main" noGrp="1"/>
          </p:cNvSpPr>
          <p:nvPr/>
        </p:nvSpPr>
        <p:spPr>
          <a:xfrm xmlns:a="http://schemas.openxmlformats.org/drawingml/2006/main">
            <a:off x="3154680" y="5490782"/>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대상자의 위치 전달, 접근 시간, 신원 확인 절차가 실제 조치를 좌우한다.</a:t>
            </a:r>
          </a:p>
        </p:txBody>
      </p:sp>
      <p:sp>
        <p:nvSpPr>
          <p:cNvPr id="18" name="">
            <a:extLst xmlns:a="http://schemas.openxmlformats.org/drawingml/2006/main">
              <a:ext uri="{FF2B5EF4-FFF2-40B4-BE49-F238E27FC236}">
                <a16:creationId xmlns:a16="http://schemas.microsoft.com/office/drawing/2014/main" id="{1A47EF6F-AAF8-409D-A323-8D2AC600C405}"/>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107826097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11_kicker_0">
            <a:extLst xmlns:a="http://schemas.openxmlformats.org/drawingml/2006/main">
              <a:ext uri="{FF2B5EF4-FFF2-40B4-BE49-F238E27FC236}">
                <a16:creationId xmlns:a16="http://schemas.microsoft.com/office/drawing/2014/main" id="{60DABA5C-A0B6-4F09-B7EA-03F6DB14E7D0}"/>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한국의 법과 현장 조치</a:t>
            </a:r>
          </a:p>
        </p:txBody>
      </p:sp>
      <p:sp>
        <p:nvSpPr>
          <p:cNvPr id="2" name="s11_next_1">
            <a:extLst xmlns:a="http://schemas.openxmlformats.org/drawingml/2006/main">
              <a:ext uri="{FF2B5EF4-FFF2-40B4-BE49-F238E27FC236}">
                <a16:creationId xmlns:a16="http://schemas.microsoft.com/office/drawing/2014/main" id="{84E45CCC-B113-4DB3-8C17-D9BF9B4C19F1}"/>
              </a:ext>
            </a:extLst>
          </p:cNvPr>
          <p:cNvSpPr>
            <a:spLocks xmlns:a="http://schemas.openxmlformats.org/drawingml/2006/main" noGrp="1"/>
          </p:cNvSpPr>
          <p:nvPr/>
        </p:nvSpPr>
        <p:spPr>
          <a:xfrm xmlns:a="http://schemas.openxmlformats.org/drawingml/2006/main">
            <a:off x="6035040" y="384048"/>
            <a:ext cx="5422392"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defRPr sz="1050" b="0">
                <a:solidFill>
                  <a:srgbClr val="464D5C"/>
                </a:solidFill>
                <a:latin typeface="Pretendard"/>
                <a:ea typeface="Pretendard"/>
                <a:cs typeface="Pretendard"/>
              </a:defRPr>
              <a:spcBef>
                <a:spcPts val="0"/>
              </a:spcBef>
              <a:spcAft>
                <a:spcPts val="0"/>
              </a:spcAft>
            </a:pPr>
            <a:r>
              <a:rPr sz="1050" b="0">
                <a:solidFill>
                  <a:srgbClr val="464D5C"/>
                </a:solidFill>
                <a:latin typeface="Pretendard"/>
                <a:ea typeface="Pretendard"/>
                <a:cs typeface="Pretendard"/>
              </a:rPr>
              <a:t>다음  생체 특징정보와 공공기관의 예외</a:t>
            </a:r>
          </a:p>
        </p:txBody>
      </p:sp>
      <p:sp>
        <p:nvSpPr>
          <p:cNvPr id="3" name="s11_title_2">
            <a:extLst xmlns:a="http://schemas.openxmlformats.org/drawingml/2006/main">
              <a:ext uri="{FF2B5EF4-FFF2-40B4-BE49-F238E27FC236}">
                <a16:creationId xmlns:a16="http://schemas.microsoft.com/office/drawing/2014/main" id="{A1FE0DD2-7CA0-4447-B99E-DF75B41B7D98}"/>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공개장소 CCTV 설치의 근거</a:t>
            </a:r>
          </a:p>
        </p:txBody>
      </p:sp>
      <p:sp>
        <p:nvSpPr>
          <p:cNvPr id="4" name="">
            <a:extLst xmlns:a="http://schemas.openxmlformats.org/drawingml/2006/main">
              <a:ext uri="{FF2B5EF4-FFF2-40B4-BE49-F238E27FC236}">
                <a16:creationId xmlns:a16="http://schemas.microsoft.com/office/drawing/2014/main" id="{CFC9EA02-13EA-49C6-A74A-E91AEA2C75BE}"/>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11_band_4">
            <a:extLst xmlns:a="http://schemas.openxmlformats.org/drawingml/2006/main">
              <a:ext uri="{FF2B5EF4-FFF2-40B4-BE49-F238E27FC236}">
                <a16:creationId xmlns:a16="http://schemas.microsoft.com/office/drawing/2014/main" id="{614C2656-FA23-44FE-80CF-5C52FD27C459}"/>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개인정보 보호법 제25조: 고정형 영상정보처리기기의 설치·운영 제한</a:t>
            </a:r>
          </a:p>
        </p:txBody>
      </p:sp>
      <p:sp>
        <p:nvSpPr>
          <p:cNvPr id="6" name="">
            <a:extLst xmlns:a="http://schemas.openxmlformats.org/drawingml/2006/main">
              <a:ext uri="{FF2B5EF4-FFF2-40B4-BE49-F238E27FC236}">
                <a16:creationId xmlns:a16="http://schemas.microsoft.com/office/drawing/2014/main" id="{8AD4F7F6-AC4C-4179-84B0-3F20EA46DECC}"/>
              </a:ext>
            </a:extLst>
          </p:cNvPr>
          <p:cNvSpPr>
            <a:spLocks xmlns:a="http://schemas.openxmlformats.org/drawingml/2006/main" noGrp="1"/>
          </p:cNvSpPr>
          <p:nvPr/>
        </p:nvSpPr>
        <p:spPr>
          <a:xfrm xmlns:a="http://schemas.openxmlformats.org/drawingml/2006/main">
            <a:off x="731520" y="2057400"/>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7" name="s11_rowlabel_6">
            <a:extLst xmlns:a="http://schemas.openxmlformats.org/drawingml/2006/main">
              <a:ext uri="{FF2B5EF4-FFF2-40B4-BE49-F238E27FC236}">
                <a16:creationId xmlns:a16="http://schemas.microsoft.com/office/drawing/2014/main" id="{0502F537-1FD5-4C63-A37A-3064EFE1D3F1}"/>
              </a:ext>
            </a:extLst>
          </p:cNvPr>
          <p:cNvSpPr>
            <a:spLocks xmlns:a="http://schemas.openxmlformats.org/drawingml/2006/main" noGrp="1"/>
          </p:cNvSpPr>
          <p:nvPr/>
        </p:nvSpPr>
        <p:spPr>
          <a:xfrm xmlns:a="http://schemas.openxmlformats.org/drawingml/2006/main">
            <a:off x="822960" y="2593213"/>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원칙</a:t>
            </a:r>
          </a:p>
        </p:txBody>
      </p:sp>
      <p:sp>
        <p:nvSpPr>
          <p:cNvPr id="8" name="s11_conclusion_7">
            <a:extLst xmlns:a="http://schemas.openxmlformats.org/drawingml/2006/main">
              <a:ext uri="{FF2B5EF4-FFF2-40B4-BE49-F238E27FC236}">
                <a16:creationId xmlns:a16="http://schemas.microsoft.com/office/drawing/2014/main" id="{E8DE7857-63FD-447D-9721-4EAF783F0C59}"/>
              </a:ext>
            </a:extLst>
          </p:cNvPr>
          <p:cNvSpPr>
            <a:spLocks xmlns:a="http://schemas.openxmlformats.org/drawingml/2006/main" noGrp="1"/>
          </p:cNvSpPr>
          <p:nvPr/>
        </p:nvSpPr>
        <p:spPr>
          <a:xfrm xmlns:a="http://schemas.openxmlformats.org/drawingml/2006/main">
            <a:off x="3154680" y="2304987"/>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공개장소 설치에는 법정 사유가 필요하다.</a:t>
            </a:r>
          </a:p>
        </p:txBody>
      </p:sp>
      <p:sp>
        <p:nvSpPr>
          <p:cNvPr id="9" name="s11_supplement_8">
            <a:extLst xmlns:a="http://schemas.openxmlformats.org/drawingml/2006/main">
              <a:ext uri="{FF2B5EF4-FFF2-40B4-BE49-F238E27FC236}">
                <a16:creationId xmlns:a16="http://schemas.microsoft.com/office/drawing/2014/main" id="{1D9E8E59-1D2B-4129-8815-2BE6D48F420F}"/>
              </a:ext>
            </a:extLst>
          </p:cNvPr>
          <p:cNvSpPr>
            <a:spLocks xmlns:a="http://schemas.openxmlformats.org/drawingml/2006/main" noGrp="1"/>
          </p:cNvSpPr>
          <p:nvPr/>
        </p:nvSpPr>
        <p:spPr>
          <a:xfrm xmlns:a="http://schemas.openxmlformats.org/drawingml/2006/main">
            <a:off x="3154680" y="2661095"/>
            <a:ext cx="8302752" cy="447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제25조제1항: “누구든지 다음 각 호의 경우를 제외하고는 공개된 장소에 고정형 영상정보처리기기를 설치ㆍ운영하여서는</a:t>
            </a:r>
          </a:p>
          <a:p xmlns:a="http://schemas.openxmlformats.org/drawingml/2006/main">
            <a:pPr algn="l">
              <a:lnSpc>
                <a:spcPct val="125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아니 된다.”</a:t>
            </a:r>
          </a:p>
        </p:txBody>
      </p:sp>
      <p:sp>
        <p:nvSpPr>
          <p:cNvPr id="10" name="">
            <a:extLst xmlns:a="http://schemas.openxmlformats.org/drawingml/2006/main">
              <a:ext uri="{FF2B5EF4-FFF2-40B4-BE49-F238E27FC236}">
                <a16:creationId xmlns:a16="http://schemas.microsoft.com/office/drawing/2014/main" id="{BCE59B0E-BC2D-4C29-B38D-E9FA6CE78728}"/>
              </a:ext>
            </a:extLst>
          </p:cNvPr>
          <p:cNvSpPr>
            <a:spLocks xmlns:a="http://schemas.openxmlformats.org/drawingml/2006/main" noGrp="1"/>
          </p:cNvSpPr>
          <p:nvPr/>
        </p:nvSpPr>
        <p:spPr>
          <a:xfrm xmlns:a="http://schemas.openxmlformats.org/drawingml/2006/main">
            <a:off x="731520" y="3419856"/>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1" name="s11_rowlabel_10">
            <a:extLst xmlns:a="http://schemas.openxmlformats.org/drawingml/2006/main">
              <a:ext uri="{FF2B5EF4-FFF2-40B4-BE49-F238E27FC236}">
                <a16:creationId xmlns:a16="http://schemas.microsoft.com/office/drawing/2014/main" id="{9AA23397-E64E-4521-AEF5-15A0BE63D5EE}"/>
              </a:ext>
            </a:extLst>
          </p:cNvPr>
          <p:cNvSpPr>
            <a:spLocks xmlns:a="http://schemas.openxmlformats.org/drawingml/2006/main" noGrp="1"/>
          </p:cNvSpPr>
          <p:nvPr/>
        </p:nvSpPr>
        <p:spPr>
          <a:xfrm xmlns:a="http://schemas.openxmlformats.org/drawingml/2006/main">
            <a:off x="822960" y="3955669"/>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수사 목적</a:t>
            </a:r>
          </a:p>
        </p:txBody>
      </p:sp>
      <p:sp>
        <p:nvSpPr>
          <p:cNvPr id="12" name="s11_conclusion_11">
            <a:extLst xmlns:a="http://schemas.openxmlformats.org/drawingml/2006/main">
              <a:ext uri="{FF2B5EF4-FFF2-40B4-BE49-F238E27FC236}">
                <a16:creationId xmlns:a16="http://schemas.microsoft.com/office/drawing/2014/main" id="{113DA715-3106-4807-9AC0-526F18C2DDA9}"/>
              </a:ext>
            </a:extLst>
          </p:cNvPr>
          <p:cNvSpPr>
            <a:spLocks xmlns:a="http://schemas.openxmlformats.org/drawingml/2006/main" noGrp="1"/>
          </p:cNvSpPr>
          <p:nvPr/>
        </p:nvSpPr>
        <p:spPr>
          <a:xfrm xmlns:a="http://schemas.openxmlformats.org/drawingml/2006/main">
            <a:off x="3154680" y="3772218"/>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범죄 예방·수사는 설치 사유에 포함된다.</a:t>
            </a:r>
          </a:p>
        </p:txBody>
      </p:sp>
      <p:sp>
        <p:nvSpPr>
          <p:cNvPr id="13" name="s11_supplement_12">
            <a:extLst xmlns:a="http://schemas.openxmlformats.org/drawingml/2006/main">
              <a:ext uri="{FF2B5EF4-FFF2-40B4-BE49-F238E27FC236}">
                <a16:creationId xmlns:a16="http://schemas.microsoft.com/office/drawing/2014/main" id="{39C322C7-1A52-49C1-8156-78F883FA81AA}"/>
              </a:ext>
            </a:extLst>
          </p:cNvPr>
          <p:cNvSpPr>
            <a:spLocks xmlns:a="http://schemas.openxmlformats.org/drawingml/2006/main" noGrp="1"/>
          </p:cNvSpPr>
          <p:nvPr/>
        </p:nvSpPr>
        <p:spPr>
          <a:xfrm xmlns:a="http://schemas.openxmlformats.org/drawingml/2006/main">
            <a:off x="3154680" y="4128326"/>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제25조제1항제2호: “범죄의 예방 및 수사를 위하여 필요한 경우”</a:t>
            </a:r>
          </a:p>
        </p:txBody>
      </p:sp>
      <p:sp>
        <p:nvSpPr>
          <p:cNvPr id="14" name="">
            <a:extLst xmlns:a="http://schemas.openxmlformats.org/drawingml/2006/main">
              <a:ext uri="{FF2B5EF4-FFF2-40B4-BE49-F238E27FC236}">
                <a16:creationId xmlns:a16="http://schemas.microsoft.com/office/drawing/2014/main" id="{E2901FBC-CA02-4C56-83F3-6875E467F995}"/>
              </a:ext>
            </a:extLst>
          </p:cNvPr>
          <p:cNvSpPr>
            <a:spLocks xmlns:a="http://schemas.openxmlformats.org/drawingml/2006/main" noGrp="1"/>
          </p:cNvSpPr>
          <p:nvPr/>
        </p:nvSpPr>
        <p:spPr>
          <a:xfrm xmlns:a="http://schemas.openxmlformats.org/drawingml/2006/main">
            <a:off x="731520" y="4782312"/>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5" name="s11_rowlabel_14">
            <a:extLst xmlns:a="http://schemas.openxmlformats.org/drawingml/2006/main">
              <a:ext uri="{FF2B5EF4-FFF2-40B4-BE49-F238E27FC236}">
                <a16:creationId xmlns:a16="http://schemas.microsoft.com/office/drawing/2014/main" id="{1801AB90-4627-49CF-BA4E-28E2339260F7}"/>
              </a:ext>
            </a:extLst>
          </p:cNvPr>
          <p:cNvSpPr>
            <a:spLocks xmlns:a="http://schemas.openxmlformats.org/drawingml/2006/main" noGrp="1"/>
          </p:cNvSpPr>
          <p:nvPr/>
        </p:nvSpPr>
        <p:spPr>
          <a:xfrm xmlns:a="http://schemas.openxmlformats.org/drawingml/2006/main">
            <a:off x="822960" y="5318125"/>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운영 절차</a:t>
            </a:r>
          </a:p>
        </p:txBody>
      </p:sp>
      <p:sp>
        <p:nvSpPr>
          <p:cNvPr id="16" name="s11_conclusion_15">
            <a:extLst xmlns:a="http://schemas.openxmlformats.org/drawingml/2006/main">
              <a:ext uri="{FF2B5EF4-FFF2-40B4-BE49-F238E27FC236}">
                <a16:creationId xmlns:a16="http://schemas.microsoft.com/office/drawing/2014/main" id="{B715C341-5210-4B15-BDD9-AB02B249B32B}"/>
              </a:ext>
            </a:extLst>
          </p:cNvPr>
          <p:cNvSpPr>
            <a:spLocks xmlns:a="http://schemas.openxmlformats.org/drawingml/2006/main" noGrp="1"/>
          </p:cNvSpPr>
          <p:nvPr/>
        </p:nvSpPr>
        <p:spPr>
          <a:xfrm xmlns:a="http://schemas.openxmlformats.org/drawingml/2006/main">
            <a:off x="3154680" y="5134674"/>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의견 수렴·안내·안전조치를 함께 둔다.</a:t>
            </a:r>
          </a:p>
        </p:txBody>
      </p:sp>
      <p:sp>
        <p:nvSpPr>
          <p:cNvPr id="17" name="s11_supplement_16">
            <a:extLst xmlns:a="http://schemas.openxmlformats.org/drawingml/2006/main">
              <a:ext uri="{FF2B5EF4-FFF2-40B4-BE49-F238E27FC236}">
                <a16:creationId xmlns:a16="http://schemas.microsoft.com/office/drawing/2014/main" id="{042E1D75-F66E-4129-B506-91D54BFC46EE}"/>
              </a:ext>
            </a:extLst>
          </p:cNvPr>
          <p:cNvSpPr>
            <a:spLocks xmlns:a="http://schemas.openxmlformats.org/drawingml/2006/main" noGrp="1"/>
          </p:cNvSpPr>
          <p:nvPr/>
        </p:nvSpPr>
        <p:spPr>
          <a:xfrm xmlns:a="http://schemas.openxmlformats.org/drawingml/2006/main">
            <a:off x="3154680" y="5490782"/>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공공기관 설치의 의견 수렴과 운영자의 안내판·안전성 확보 의무를 규정한다.</a:t>
            </a:r>
          </a:p>
        </p:txBody>
      </p:sp>
      <p:sp>
        <p:nvSpPr>
          <p:cNvPr id="18" name="">
            <a:extLst xmlns:a="http://schemas.openxmlformats.org/drawingml/2006/main">
              <a:ext uri="{FF2B5EF4-FFF2-40B4-BE49-F238E27FC236}">
                <a16:creationId xmlns:a16="http://schemas.microsoft.com/office/drawing/2014/main" id="{C8715571-506A-4149-8535-8925EE1C64B2}"/>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115586890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12_kicker_0">
            <a:extLst xmlns:a="http://schemas.openxmlformats.org/drawingml/2006/main">
              <a:ext uri="{FF2B5EF4-FFF2-40B4-BE49-F238E27FC236}">
                <a16:creationId xmlns:a16="http://schemas.microsoft.com/office/drawing/2014/main" id="{B7F2B40F-4531-43BD-9086-5593D117EAB2}"/>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한국의 법과 현장 조치</a:t>
            </a:r>
          </a:p>
        </p:txBody>
      </p:sp>
      <p:sp>
        <p:nvSpPr>
          <p:cNvPr id="2" name="s12_next_1">
            <a:extLst xmlns:a="http://schemas.openxmlformats.org/drawingml/2006/main">
              <a:ext uri="{FF2B5EF4-FFF2-40B4-BE49-F238E27FC236}">
                <a16:creationId xmlns:a16="http://schemas.microsoft.com/office/drawing/2014/main" id="{AC4E42C3-A312-4C9E-A1BF-973FD7139FD0}"/>
              </a:ext>
            </a:extLst>
          </p:cNvPr>
          <p:cNvSpPr>
            <a:spLocks xmlns:a="http://schemas.openxmlformats.org/drawingml/2006/main" noGrp="1"/>
          </p:cNvSpPr>
          <p:nvPr/>
        </p:nvSpPr>
        <p:spPr>
          <a:xfrm xmlns:a="http://schemas.openxmlformats.org/drawingml/2006/main">
            <a:off x="6035040" y="384048"/>
            <a:ext cx="5422392"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defRPr sz="1050" b="0">
                <a:solidFill>
                  <a:srgbClr val="464D5C"/>
                </a:solidFill>
                <a:latin typeface="Pretendard"/>
                <a:ea typeface="Pretendard"/>
                <a:cs typeface="Pretendard"/>
              </a:defRPr>
              <a:spcBef>
                <a:spcPts val="0"/>
              </a:spcBef>
              <a:spcAft>
                <a:spcPts val="0"/>
              </a:spcAft>
            </a:pPr>
            <a:r>
              <a:rPr sz="1050" b="0">
                <a:solidFill>
                  <a:srgbClr val="464D5C"/>
                </a:solidFill>
                <a:latin typeface="Pretendard"/>
                <a:ea typeface="Pretendard"/>
                <a:cs typeface="Pretendard"/>
              </a:rPr>
              <a:t>다음  통합관제센터의 AI 분석 권한</a:t>
            </a:r>
          </a:p>
        </p:txBody>
      </p:sp>
      <p:sp>
        <p:nvSpPr>
          <p:cNvPr id="3" name="s12_title_2">
            <a:extLst xmlns:a="http://schemas.openxmlformats.org/drawingml/2006/main">
              <a:ext uri="{FF2B5EF4-FFF2-40B4-BE49-F238E27FC236}">
                <a16:creationId xmlns:a16="http://schemas.microsoft.com/office/drawing/2014/main" id="{CED1EE4D-C561-4F49-A903-1F91A92B2045}"/>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생체 특징정보와 공공기관의 예외</a:t>
            </a:r>
          </a:p>
        </p:txBody>
      </p:sp>
      <p:sp>
        <p:nvSpPr>
          <p:cNvPr id="4" name="">
            <a:extLst xmlns:a="http://schemas.openxmlformats.org/drawingml/2006/main">
              <a:ext uri="{FF2B5EF4-FFF2-40B4-BE49-F238E27FC236}">
                <a16:creationId xmlns:a16="http://schemas.microsoft.com/office/drawing/2014/main" id="{61E6CFC9-CD61-4D38-9B71-707F3284D9FD}"/>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12_band_4">
            <a:extLst xmlns:a="http://schemas.openxmlformats.org/drawingml/2006/main">
              <a:ext uri="{FF2B5EF4-FFF2-40B4-BE49-F238E27FC236}">
                <a16:creationId xmlns:a16="http://schemas.microsoft.com/office/drawing/2014/main" id="{2C976691-C120-4B21-9D28-43879E385D99}"/>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개인정보 보호법 제23조와 시행령 제18조를 함께 읽는다.</a:t>
            </a:r>
          </a:p>
        </p:txBody>
      </p:sp>
      <p:sp>
        <p:nvSpPr>
          <p:cNvPr id="6" name="">
            <a:extLst xmlns:a="http://schemas.openxmlformats.org/drawingml/2006/main">
              <a:ext uri="{FF2B5EF4-FFF2-40B4-BE49-F238E27FC236}">
                <a16:creationId xmlns:a16="http://schemas.microsoft.com/office/drawing/2014/main" id="{43E910CB-3746-4224-B2BD-8012BFA6B337}"/>
              </a:ext>
            </a:extLst>
          </p:cNvPr>
          <p:cNvSpPr>
            <a:spLocks xmlns:a="http://schemas.openxmlformats.org/drawingml/2006/main" noGrp="1"/>
          </p:cNvSpPr>
          <p:nvPr/>
        </p:nvSpPr>
        <p:spPr>
          <a:xfrm xmlns:a="http://schemas.openxmlformats.org/drawingml/2006/main">
            <a:off x="731520" y="2057400"/>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7" name="s12_rowlabel_6">
            <a:extLst xmlns:a="http://schemas.openxmlformats.org/drawingml/2006/main">
              <a:ext uri="{FF2B5EF4-FFF2-40B4-BE49-F238E27FC236}">
                <a16:creationId xmlns:a16="http://schemas.microsoft.com/office/drawing/2014/main" id="{75F6DC19-74E1-44B4-B895-AB346E6F92FE}"/>
              </a:ext>
            </a:extLst>
          </p:cNvPr>
          <p:cNvSpPr>
            <a:spLocks xmlns:a="http://schemas.openxmlformats.org/drawingml/2006/main" noGrp="1"/>
          </p:cNvSpPr>
          <p:nvPr/>
        </p:nvSpPr>
        <p:spPr>
          <a:xfrm xmlns:a="http://schemas.openxmlformats.org/drawingml/2006/main">
            <a:off x="822960" y="2593213"/>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생체 특징</a:t>
            </a:r>
          </a:p>
        </p:txBody>
      </p:sp>
      <p:sp>
        <p:nvSpPr>
          <p:cNvPr id="8" name="s12_conclusion_7">
            <a:extLst xmlns:a="http://schemas.openxmlformats.org/drawingml/2006/main">
              <a:ext uri="{FF2B5EF4-FFF2-40B4-BE49-F238E27FC236}">
                <a16:creationId xmlns:a16="http://schemas.microsoft.com/office/drawing/2014/main" id="{CDC00575-8A05-4FE0-B9A9-36256B977F57}"/>
              </a:ext>
            </a:extLst>
          </p:cNvPr>
          <p:cNvSpPr>
            <a:spLocks xmlns:a="http://schemas.openxmlformats.org/drawingml/2006/main" noGrp="1"/>
          </p:cNvSpPr>
          <p:nvPr/>
        </p:nvSpPr>
        <p:spPr>
          <a:xfrm xmlns:a="http://schemas.openxmlformats.org/drawingml/2006/main">
            <a:off x="3154680" y="2304987"/>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신원 식별 목적으로 생성한 정보를 다룬다.</a:t>
            </a:r>
          </a:p>
        </p:txBody>
      </p:sp>
      <p:sp>
        <p:nvSpPr>
          <p:cNvPr id="9" name="s12_supplement_8">
            <a:extLst xmlns:a="http://schemas.openxmlformats.org/drawingml/2006/main">
              <a:ext uri="{FF2B5EF4-FFF2-40B4-BE49-F238E27FC236}">
                <a16:creationId xmlns:a16="http://schemas.microsoft.com/office/drawing/2014/main" id="{9C150A84-560A-42EB-B2FE-C85B5E32CC0C}"/>
              </a:ext>
            </a:extLst>
          </p:cNvPr>
          <p:cNvSpPr>
            <a:spLocks xmlns:a="http://schemas.openxmlformats.org/drawingml/2006/main" noGrp="1"/>
          </p:cNvSpPr>
          <p:nvPr/>
        </p:nvSpPr>
        <p:spPr>
          <a:xfrm xmlns:a="http://schemas.openxmlformats.org/drawingml/2006/main">
            <a:off x="3154680" y="2661095"/>
            <a:ext cx="8302752" cy="447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시행령 제18조제3호: “개인의 신체적, 생리적, 행동적 특징에 관한 정보로서 특정 개인을 알아볼 목적으로 일정한 기술적</a:t>
            </a:r>
          </a:p>
          <a:p xmlns:a="http://schemas.openxmlformats.org/drawingml/2006/main">
            <a:pPr algn="l">
              <a:lnSpc>
                <a:spcPct val="125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수단을 통해 생성한 정보”</a:t>
            </a:r>
          </a:p>
        </p:txBody>
      </p:sp>
      <p:sp>
        <p:nvSpPr>
          <p:cNvPr id="10" name="">
            <a:extLst xmlns:a="http://schemas.openxmlformats.org/drawingml/2006/main">
              <a:ext uri="{FF2B5EF4-FFF2-40B4-BE49-F238E27FC236}">
                <a16:creationId xmlns:a16="http://schemas.microsoft.com/office/drawing/2014/main" id="{38E1EE51-2BC5-40C7-B40E-1B247DBEAD75}"/>
              </a:ext>
            </a:extLst>
          </p:cNvPr>
          <p:cNvSpPr>
            <a:spLocks xmlns:a="http://schemas.openxmlformats.org/drawingml/2006/main" noGrp="1"/>
          </p:cNvSpPr>
          <p:nvPr/>
        </p:nvSpPr>
        <p:spPr>
          <a:xfrm xmlns:a="http://schemas.openxmlformats.org/drawingml/2006/main">
            <a:off x="731520" y="3419856"/>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1" name="s12_rowlabel_10">
            <a:extLst xmlns:a="http://schemas.openxmlformats.org/drawingml/2006/main">
              <a:ext uri="{FF2B5EF4-FFF2-40B4-BE49-F238E27FC236}">
                <a16:creationId xmlns:a16="http://schemas.microsoft.com/office/drawing/2014/main" id="{F6483F44-0494-4122-97B1-59EB3D1B5B64}"/>
              </a:ext>
            </a:extLst>
          </p:cNvPr>
          <p:cNvSpPr>
            <a:spLocks xmlns:a="http://schemas.openxmlformats.org/drawingml/2006/main" noGrp="1"/>
          </p:cNvSpPr>
          <p:nvPr/>
        </p:nvSpPr>
        <p:spPr>
          <a:xfrm xmlns:a="http://schemas.openxmlformats.org/drawingml/2006/main">
            <a:off x="822960" y="3955669"/>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처리 근거</a:t>
            </a:r>
          </a:p>
        </p:txBody>
      </p:sp>
      <p:sp>
        <p:nvSpPr>
          <p:cNvPr id="12" name="s12_conclusion_11">
            <a:extLst xmlns:a="http://schemas.openxmlformats.org/drawingml/2006/main">
              <a:ext uri="{FF2B5EF4-FFF2-40B4-BE49-F238E27FC236}">
                <a16:creationId xmlns:a16="http://schemas.microsoft.com/office/drawing/2014/main" id="{F818FBCD-9FA7-441C-9A9C-9CFEAEC5FE1D}"/>
              </a:ext>
            </a:extLst>
          </p:cNvPr>
          <p:cNvSpPr>
            <a:spLocks xmlns:a="http://schemas.openxmlformats.org/drawingml/2006/main" noGrp="1"/>
          </p:cNvSpPr>
          <p:nvPr/>
        </p:nvSpPr>
        <p:spPr>
          <a:xfrm xmlns:a="http://schemas.openxmlformats.org/drawingml/2006/main">
            <a:off x="3154680" y="3772218"/>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법 제23조는 민감정보 처리 근거를 정한다.</a:t>
            </a:r>
          </a:p>
        </p:txBody>
      </p:sp>
      <p:sp>
        <p:nvSpPr>
          <p:cNvPr id="13" name="s12_supplement_12">
            <a:extLst xmlns:a="http://schemas.openxmlformats.org/drawingml/2006/main">
              <a:ext uri="{FF2B5EF4-FFF2-40B4-BE49-F238E27FC236}">
                <a16:creationId xmlns:a16="http://schemas.microsoft.com/office/drawing/2014/main" id="{F53F82FC-A8B0-4EA8-841E-CA2F0074214C}"/>
              </a:ext>
            </a:extLst>
          </p:cNvPr>
          <p:cNvSpPr>
            <a:spLocks xmlns:a="http://schemas.openxmlformats.org/drawingml/2006/main" noGrp="1"/>
          </p:cNvSpPr>
          <p:nvPr/>
        </p:nvSpPr>
        <p:spPr>
          <a:xfrm xmlns:a="http://schemas.openxmlformats.org/drawingml/2006/main">
            <a:off x="3154680" y="4128326"/>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별도 동의 또는 법령에서 처리를 요구·허용하는 경우 등 법정 요건을 확인한다.</a:t>
            </a:r>
          </a:p>
        </p:txBody>
      </p:sp>
      <p:sp>
        <p:nvSpPr>
          <p:cNvPr id="14" name="">
            <a:extLst xmlns:a="http://schemas.openxmlformats.org/drawingml/2006/main">
              <a:ext uri="{FF2B5EF4-FFF2-40B4-BE49-F238E27FC236}">
                <a16:creationId xmlns:a16="http://schemas.microsoft.com/office/drawing/2014/main" id="{82303DFA-0D28-42BE-B1CD-41499C70E078}"/>
              </a:ext>
            </a:extLst>
          </p:cNvPr>
          <p:cNvSpPr>
            <a:spLocks xmlns:a="http://schemas.openxmlformats.org/drawingml/2006/main" noGrp="1"/>
          </p:cNvSpPr>
          <p:nvPr/>
        </p:nvSpPr>
        <p:spPr>
          <a:xfrm xmlns:a="http://schemas.openxmlformats.org/drawingml/2006/main">
            <a:off x="731520" y="4782312"/>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5" name="s12_rowlabel_14">
            <a:extLst xmlns:a="http://schemas.openxmlformats.org/drawingml/2006/main">
              <a:ext uri="{FF2B5EF4-FFF2-40B4-BE49-F238E27FC236}">
                <a16:creationId xmlns:a16="http://schemas.microsoft.com/office/drawing/2014/main" id="{30E8182B-FFB6-4CA1-9269-F7D1897B0687}"/>
              </a:ext>
            </a:extLst>
          </p:cNvPr>
          <p:cNvSpPr>
            <a:spLocks xmlns:a="http://schemas.openxmlformats.org/drawingml/2006/main" noGrp="1"/>
          </p:cNvSpPr>
          <p:nvPr/>
        </p:nvSpPr>
        <p:spPr>
          <a:xfrm xmlns:a="http://schemas.openxmlformats.org/drawingml/2006/main">
            <a:off x="822960" y="5318125"/>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공공기관</a:t>
            </a:r>
          </a:p>
        </p:txBody>
      </p:sp>
      <p:sp>
        <p:nvSpPr>
          <p:cNvPr id="16" name="s12_conclusion_15">
            <a:extLst xmlns:a="http://schemas.openxmlformats.org/drawingml/2006/main">
              <a:ext uri="{FF2B5EF4-FFF2-40B4-BE49-F238E27FC236}">
                <a16:creationId xmlns:a16="http://schemas.microsoft.com/office/drawing/2014/main" id="{29ED0D68-C5E4-4040-9EEF-AF5E50E0516F}"/>
              </a:ext>
            </a:extLst>
          </p:cNvPr>
          <p:cNvSpPr>
            <a:spLocks xmlns:a="http://schemas.openxmlformats.org/drawingml/2006/main" noGrp="1"/>
          </p:cNvSpPr>
          <p:nvPr/>
        </p:nvSpPr>
        <p:spPr>
          <a:xfrm xmlns:a="http://schemas.openxmlformats.org/drawingml/2006/main">
            <a:off x="3154680" y="5029898"/>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특정 목적 외 처리에는 제외 단서가 있다.</a:t>
            </a:r>
          </a:p>
        </p:txBody>
      </p:sp>
      <p:sp>
        <p:nvSpPr>
          <p:cNvPr id="17" name="s12_supplement_16">
            <a:extLst xmlns:a="http://schemas.openxmlformats.org/drawingml/2006/main">
              <a:ext uri="{FF2B5EF4-FFF2-40B4-BE49-F238E27FC236}">
                <a16:creationId xmlns:a16="http://schemas.microsoft.com/office/drawing/2014/main" id="{CFCB700B-77D6-4148-B78C-92249F757BB4}"/>
              </a:ext>
            </a:extLst>
          </p:cNvPr>
          <p:cNvSpPr>
            <a:spLocks xmlns:a="http://schemas.openxmlformats.org/drawingml/2006/main" noGrp="1"/>
          </p:cNvSpPr>
          <p:nvPr/>
        </p:nvSpPr>
        <p:spPr>
          <a:xfrm xmlns:a="http://schemas.openxmlformats.org/drawingml/2006/main">
            <a:off x="3154680" y="5386007"/>
            <a:ext cx="8302752" cy="447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시행령 제18조는 공공기관의 법 제18조제2항제5–9호에 따른 정보 처리를 정의에서 제외한다. 수사 목적 등 실제 적용</a:t>
            </a:r>
          </a:p>
          <a:p xmlns:a="http://schemas.openxmlformats.org/drawingml/2006/main">
            <a:pPr algn="l">
              <a:lnSpc>
                <a:spcPct val="125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요건을 대조한다.</a:t>
            </a:r>
          </a:p>
        </p:txBody>
      </p:sp>
      <p:sp>
        <p:nvSpPr>
          <p:cNvPr id="18" name="">
            <a:extLst xmlns:a="http://schemas.openxmlformats.org/drawingml/2006/main">
              <a:ext uri="{FF2B5EF4-FFF2-40B4-BE49-F238E27FC236}">
                <a16:creationId xmlns:a16="http://schemas.microsoft.com/office/drawing/2014/main" id="{7AF513E7-AD5E-4CD9-93BF-A004BC0FF14F}"/>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159251089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13_kicker_0">
            <a:extLst xmlns:a="http://schemas.openxmlformats.org/drawingml/2006/main">
              <a:ext uri="{FF2B5EF4-FFF2-40B4-BE49-F238E27FC236}">
                <a16:creationId xmlns:a16="http://schemas.microsoft.com/office/drawing/2014/main" id="{0119537E-A73A-4D59-B181-069D2DFC60E0}"/>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한국의 법과 현장 조치</a:t>
            </a:r>
          </a:p>
        </p:txBody>
      </p:sp>
      <p:sp>
        <p:nvSpPr>
          <p:cNvPr id="2" name="s13_next_1">
            <a:extLst xmlns:a="http://schemas.openxmlformats.org/drawingml/2006/main">
              <a:ext uri="{FF2B5EF4-FFF2-40B4-BE49-F238E27FC236}">
                <a16:creationId xmlns:a16="http://schemas.microsoft.com/office/drawing/2014/main" id="{762B0310-CEF1-48AE-BE9B-B86D3B6034DF}"/>
              </a:ext>
            </a:extLst>
          </p:cNvPr>
          <p:cNvSpPr>
            <a:spLocks xmlns:a="http://schemas.openxmlformats.org/drawingml/2006/main" noGrp="1"/>
          </p:cNvSpPr>
          <p:nvPr/>
        </p:nvSpPr>
        <p:spPr>
          <a:xfrm xmlns:a="http://schemas.openxmlformats.org/drawingml/2006/main">
            <a:off x="6035040" y="384048"/>
            <a:ext cx="5422392"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defRPr sz="1050" b="0">
                <a:solidFill>
                  <a:srgbClr val="464D5C"/>
                </a:solidFill>
                <a:latin typeface="Pretendard"/>
                <a:ea typeface="Pretendard"/>
                <a:cs typeface="Pretendard"/>
              </a:defRPr>
              <a:spcBef>
                <a:spcPts val="0"/>
              </a:spcBef>
              <a:spcAft>
                <a:spcPts val="0"/>
              </a:spcAft>
            </a:pPr>
            <a:r>
              <a:rPr sz="1050" b="0">
                <a:solidFill>
                  <a:srgbClr val="464D5C"/>
                </a:solidFill>
                <a:latin typeface="Pretendard"/>
                <a:ea typeface="Pretendard"/>
                <a:cs typeface="Pretendard"/>
              </a:rPr>
              <a:t>다음  경보 이후의 정지와 질문</a:t>
            </a:r>
          </a:p>
        </p:txBody>
      </p:sp>
      <p:sp>
        <p:nvSpPr>
          <p:cNvPr id="3" name="s13_title_2">
            <a:extLst xmlns:a="http://schemas.openxmlformats.org/drawingml/2006/main">
              <a:ext uri="{FF2B5EF4-FFF2-40B4-BE49-F238E27FC236}">
                <a16:creationId xmlns:a16="http://schemas.microsoft.com/office/drawing/2014/main" id="{711D099F-0AA2-456D-80DC-6E4BFC88455C}"/>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통합관제센터의 AI 분석 권한</a:t>
            </a:r>
          </a:p>
        </p:txBody>
      </p:sp>
      <p:sp>
        <p:nvSpPr>
          <p:cNvPr id="4" name="">
            <a:extLst xmlns:a="http://schemas.openxmlformats.org/drawingml/2006/main">
              <a:ext uri="{FF2B5EF4-FFF2-40B4-BE49-F238E27FC236}">
                <a16:creationId xmlns:a16="http://schemas.microsoft.com/office/drawing/2014/main" id="{2C9F3CC2-63CC-4537-8A46-C6E09614370F}"/>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13_band_4">
            <a:extLst xmlns:a="http://schemas.openxmlformats.org/drawingml/2006/main">
              <a:ext uri="{FF2B5EF4-FFF2-40B4-BE49-F238E27FC236}">
                <a16:creationId xmlns:a16="http://schemas.microsoft.com/office/drawing/2014/main" id="{0B9F8187-4B9A-449A-BD72-CE9C71F97022}"/>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재난 및 안전관리 기본법 제74조의5: 재난·각종 사고의 예방·대비·대응</a:t>
            </a:r>
          </a:p>
        </p:txBody>
      </p:sp>
      <p:sp>
        <p:nvSpPr>
          <p:cNvPr id="6" name="">
            <a:extLst xmlns:a="http://schemas.openxmlformats.org/drawingml/2006/main">
              <a:ext uri="{FF2B5EF4-FFF2-40B4-BE49-F238E27FC236}">
                <a16:creationId xmlns:a16="http://schemas.microsoft.com/office/drawing/2014/main" id="{A6E4614C-37D8-4997-91E3-D25F6C806876}"/>
              </a:ext>
            </a:extLst>
          </p:cNvPr>
          <p:cNvSpPr>
            <a:spLocks xmlns:a="http://schemas.openxmlformats.org/drawingml/2006/main" noGrp="1"/>
          </p:cNvSpPr>
          <p:nvPr/>
        </p:nvSpPr>
        <p:spPr>
          <a:xfrm xmlns:a="http://schemas.openxmlformats.org/drawingml/2006/main">
            <a:off x="731520" y="2057400"/>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7" name="s13_rowlabel_6">
            <a:extLst xmlns:a="http://schemas.openxmlformats.org/drawingml/2006/main">
              <a:ext uri="{FF2B5EF4-FFF2-40B4-BE49-F238E27FC236}">
                <a16:creationId xmlns:a16="http://schemas.microsoft.com/office/drawing/2014/main" id="{CC88EFA4-1612-4132-BA90-C1177B4F533C}"/>
              </a:ext>
            </a:extLst>
          </p:cNvPr>
          <p:cNvSpPr>
            <a:spLocks xmlns:a="http://schemas.openxmlformats.org/drawingml/2006/main" noGrp="1"/>
          </p:cNvSpPr>
          <p:nvPr/>
        </p:nvSpPr>
        <p:spPr>
          <a:xfrm xmlns:a="http://schemas.openxmlformats.org/drawingml/2006/main">
            <a:off x="822960" y="2593213"/>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센터 운영</a:t>
            </a:r>
          </a:p>
        </p:txBody>
      </p:sp>
      <p:sp>
        <p:nvSpPr>
          <p:cNvPr id="8" name="s13_conclusion_7">
            <a:extLst xmlns:a="http://schemas.openxmlformats.org/drawingml/2006/main">
              <a:ext uri="{FF2B5EF4-FFF2-40B4-BE49-F238E27FC236}">
                <a16:creationId xmlns:a16="http://schemas.microsoft.com/office/drawing/2014/main" id="{80121A7A-46DE-4241-8DE0-DC3785D78CB7}"/>
              </a:ext>
            </a:extLst>
          </p:cNvPr>
          <p:cNvSpPr>
            <a:spLocks xmlns:a="http://schemas.openxmlformats.org/drawingml/2006/main" noGrp="1"/>
          </p:cNvSpPr>
          <p:nvPr/>
        </p:nvSpPr>
        <p:spPr>
          <a:xfrm xmlns:a="http://schemas.openxmlformats.org/drawingml/2006/main">
            <a:off x="3154680" y="2409762"/>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지방자치단체장이 관제센터를 운영한다.</a:t>
            </a:r>
          </a:p>
        </p:txBody>
      </p:sp>
      <p:sp>
        <p:nvSpPr>
          <p:cNvPr id="9" name="s13_supplement_8">
            <a:extLst xmlns:a="http://schemas.openxmlformats.org/drawingml/2006/main">
              <a:ext uri="{FF2B5EF4-FFF2-40B4-BE49-F238E27FC236}">
                <a16:creationId xmlns:a16="http://schemas.microsoft.com/office/drawing/2014/main" id="{71B63AFE-E04B-48C4-80DA-7A0FF10B3E4F}"/>
              </a:ext>
            </a:extLst>
          </p:cNvPr>
          <p:cNvSpPr>
            <a:spLocks xmlns:a="http://schemas.openxmlformats.org/drawingml/2006/main" noGrp="1"/>
          </p:cNvSpPr>
          <p:nvPr/>
        </p:nvSpPr>
        <p:spPr>
          <a:xfrm xmlns:a="http://schemas.openxmlformats.org/drawingml/2006/main">
            <a:off x="3154680" y="2765870"/>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제1항은 재난·각종 사고의 예방·대비·대응이라는 목적과 필요한 최소 개인정보 처리를 규정한다.</a:t>
            </a:r>
          </a:p>
        </p:txBody>
      </p:sp>
      <p:sp>
        <p:nvSpPr>
          <p:cNvPr id="10" name="">
            <a:extLst xmlns:a="http://schemas.openxmlformats.org/drawingml/2006/main">
              <a:ext uri="{FF2B5EF4-FFF2-40B4-BE49-F238E27FC236}">
                <a16:creationId xmlns:a16="http://schemas.microsoft.com/office/drawing/2014/main" id="{C6DE6276-65D7-442C-B77A-21761CA86898}"/>
              </a:ext>
            </a:extLst>
          </p:cNvPr>
          <p:cNvSpPr>
            <a:spLocks xmlns:a="http://schemas.openxmlformats.org/drawingml/2006/main" noGrp="1"/>
          </p:cNvSpPr>
          <p:nvPr/>
        </p:nvSpPr>
        <p:spPr>
          <a:xfrm xmlns:a="http://schemas.openxmlformats.org/drawingml/2006/main">
            <a:off x="731520" y="3419856"/>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1" name="s13_rowlabel_10">
            <a:extLst xmlns:a="http://schemas.openxmlformats.org/drawingml/2006/main">
              <a:ext uri="{FF2B5EF4-FFF2-40B4-BE49-F238E27FC236}">
                <a16:creationId xmlns:a16="http://schemas.microsoft.com/office/drawing/2014/main" id="{0F4960C1-D37A-4802-B201-597E10A57502}"/>
              </a:ext>
            </a:extLst>
          </p:cNvPr>
          <p:cNvSpPr>
            <a:spLocks xmlns:a="http://schemas.openxmlformats.org/drawingml/2006/main" noGrp="1"/>
          </p:cNvSpPr>
          <p:nvPr/>
        </p:nvSpPr>
        <p:spPr>
          <a:xfrm xmlns:a="http://schemas.openxmlformats.org/drawingml/2006/main">
            <a:off x="822960" y="3955669"/>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분석 권한</a:t>
            </a:r>
          </a:p>
        </p:txBody>
      </p:sp>
      <p:sp>
        <p:nvSpPr>
          <p:cNvPr id="12" name="s13_conclusion_11">
            <a:extLst xmlns:a="http://schemas.openxmlformats.org/drawingml/2006/main">
              <a:ext uri="{FF2B5EF4-FFF2-40B4-BE49-F238E27FC236}">
                <a16:creationId xmlns:a16="http://schemas.microsoft.com/office/drawing/2014/main" id="{F9F9855C-5513-4F4E-BF05-A2C626DC0272}"/>
              </a:ext>
            </a:extLst>
          </p:cNvPr>
          <p:cNvSpPr>
            <a:spLocks xmlns:a="http://schemas.openxmlformats.org/drawingml/2006/main" noGrp="1"/>
          </p:cNvSpPr>
          <p:nvPr/>
        </p:nvSpPr>
        <p:spPr>
          <a:xfrm xmlns:a="http://schemas.openxmlformats.org/drawingml/2006/main">
            <a:off x="3154680" y="3667442"/>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수집 영상의 AI 분석을 규정한다.</a:t>
            </a:r>
          </a:p>
        </p:txBody>
      </p:sp>
      <p:sp>
        <p:nvSpPr>
          <p:cNvPr id="13" name="s13_supplement_12">
            <a:extLst xmlns:a="http://schemas.openxmlformats.org/drawingml/2006/main">
              <a:ext uri="{FF2B5EF4-FFF2-40B4-BE49-F238E27FC236}">
                <a16:creationId xmlns:a16="http://schemas.microsoft.com/office/drawing/2014/main" id="{30782134-8613-40E9-9F2A-EB063B701288}"/>
              </a:ext>
            </a:extLst>
          </p:cNvPr>
          <p:cNvSpPr>
            <a:spLocks xmlns:a="http://schemas.openxmlformats.org/drawingml/2006/main" noGrp="1"/>
          </p:cNvSpPr>
          <p:nvPr/>
        </p:nvSpPr>
        <p:spPr>
          <a:xfrm xmlns:a="http://schemas.openxmlformats.org/drawingml/2006/main">
            <a:off x="3154680" y="4023551"/>
            <a:ext cx="8302752" cy="447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제2항: “지방자치단체의 장은 효율적인 통합관제를 위하여 인공지능 기술 등을 활용하여 영상정보처리기기에서 수집된</a:t>
            </a:r>
          </a:p>
          <a:p xmlns:a="http://schemas.openxmlformats.org/drawingml/2006/main">
            <a:pPr algn="l">
              <a:lnSpc>
                <a:spcPct val="125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정보를 분석할 수 있다.”</a:t>
            </a:r>
          </a:p>
        </p:txBody>
      </p:sp>
      <p:sp>
        <p:nvSpPr>
          <p:cNvPr id="14" name="">
            <a:extLst xmlns:a="http://schemas.openxmlformats.org/drawingml/2006/main">
              <a:ext uri="{FF2B5EF4-FFF2-40B4-BE49-F238E27FC236}">
                <a16:creationId xmlns:a16="http://schemas.microsoft.com/office/drawing/2014/main" id="{5731604F-3E7B-401E-8D30-B79267FD493B}"/>
              </a:ext>
            </a:extLst>
          </p:cNvPr>
          <p:cNvSpPr>
            <a:spLocks xmlns:a="http://schemas.openxmlformats.org/drawingml/2006/main" noGrp="1"/>
          </p:cNvSpPr>
          <p:nvPr/>
        </p:nvSpPr>
        <p:spPr>
          <a:xfrm xmlns:a="http://schemas.openxmlformats.org/drawingml/2006/main">
            <a:off x="731520" y="4782312"/>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5" name="s13_rowlabel_14">
            <a:extLst xmlns:a="http://schemas.openxmlformats.org/drawingml/2006/main">
              <a:ext uri="{FF2B5EF4-FFF2-40B4-BE49-F238E27FC236}">
                <a16:creationId xmlns:a16="http://schemas.microsoft.com/office/drawing/2014/main" id="{C044ED83-6B8C-4B90-BF1F-02DB0D152696}"/>
              </a:ext>
            </a:extLst>
          </p:cNvPr>
          <p:cNvSpPr>
            <a:spLocks xmlns:a="http://schemas.openxmlformats.org/drawingml/2006/main" noGrp="1"/>
          </p:cNvSpPr>
          <p:nvPr/>
        </p:nvSpPr>
        <p:spPr>
          <a:xfrm xmlns:a="http://schemas.openxmlformats.org/drawingml/2006/main">
            <a:off x="822960" y="5318125"/>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영상 연계</a:t>
            </a:r>
          </a:p>
        </p:txBody>
      </p:sp>
      <p:sp>
        <p:nvSpPr>
          <p:cNvPr id="16" name="s13_conclusion_15">
            <a:extLst xmlns:a="http://schemas.openxmlformats.org/drawingml/2006/main">
              <a:ext uri="{FF2B5EF4-FFF2-40B4-BE49-F238E27FC236}">
                <a16:creationId xmlns:a16="http://schemas.microsoft.com/office/drawing/2014/main" id="{853C40AB-5294-4083-84BF-4A14C39848EF}"/>
              </a:ext>
            </a:extLst>
          </p:cNvPr>
          <p:cNvSpPr>
            <a:spLocks xmlns:a="http://schemas.openxmlformats.org/drawingml/2006/main" noGrp="1"/>
          </p:cNvSpPr>
          <p:nvPr/>
        </p:nvSpPr>
        <p:spPr>
          <a:xfrm xmlns:a="http://schemas.openxmlformats.org/drawingml/2006/main">
            <a:off x="3154680" y="5134674"/>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관내 공공기관 영상을 연계할 수 있다.</a:t>
            </a:r>
          </a:p>
        </p:txBody>
      </p:sp>
      <p:sp>
        <p:nvSpPr>
          <p:cNvPr id="17" name="s13_supplement_16">
            <a:extLst xmlns:a="http://schemas.openxmlformats.org/drawingml/2006/main">
              <a:ext uri="{FF2B5EF4-FFF2-40B4-BE49-F238E27FC236}">
                <a16:creationId xmlns:a16="http://schemas.microsoft.com/office/drawing/2014/main" id="{6CE08416-ACB0-48E8-94DF-AC40BA053843}"/>
              </a:ext>
            </a:extLst>
          </p:cNvPr>
          <p:cNvSpPr>
            <a:spLocks xmlns:a="http://schemas.openxmlformats.org/drawingml/2006/main" noGrp="1"/>
          </p:cNvSpPr>
          <p:nvPr/>
        </p:nvSpPr>
        <p:spPr>
          <a:xfrm xmlns:a="http://schemas.openxmlformats.org/drawingml/2006/main">
            <a:off x="3154680" y="5490782"/>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제3항의 재난·사고 관제 목적과 제1항의 목적 외 활용 금지를 함께 적용한다.</a:t>
            </a:r>
          </a:p>
        </p:txBody>
      </p:sp>
      <p:sp>
        <p:nvSpPr>
          <p:cNvPr id="18" name="">
            <a:extLst xmlns:a="http://schemas.openxmlformats.org/drawingml/2006/main">
              <a:ext uri="{FF2B5EF4-FFF2-40B4-BE49-F238E27FC236}">
                <a16:creationId xmlns:a16="http://schemas.microsoft.com/office/drawing/2014/main" id="{C6A8EE1D-2AE2-4B46-B9CE-3874452AD735}"/>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52336129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14_kicker_0">
            <a:extLst xmlns:a="http://schemas.openxmlformats.org/drawingml/2006/main">
              <a:ext uri="{FF2B5EF4-FFF2-40B4-BE49-F238E27FC236}">
                <a16:creationId xmlns:a16="http://schemas.microsoft.com/office/drawing/2014/main" id="{85A797FA-719D-4694-B145-7AB910239519}"/>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한국의 법과 현장 조치</a:t>
            </a:r>
          </a:p>
        </p:txBody>
      </p:sp>
      <p:sp>
        <p:nvSpPr>
          <p:cNvPr id="2" name="s14_next_1">
            <a:extLst xmlns:a="http://schemas.openxmlformats.org/drawingml/2006/main">
              <a:ext uri="{FF2B5EF4-FFF2-40B4-BE49-F238E27FC236}">
                <a16:creationId xmlns:a16="http://schemas.microsoft.com/office/drawing/2014/main" id="{33E74D7F-65C6-4E4B-A0A1-8C04240A262F}"/>
              </a:ext>
            </a:extLst>
          </p:cNvPr>
          <p:cNvSpPr>
            <a:spLocks xmlns:a="http://schemas.openxmlformats.org/drawingml/2006/main" noGrp="1"/>
          </p:cNvSpPr>
          <p:nvPr/>
        </p:nvSpPr>
        <p:spPr>
          <a:xfrm xmlns:a="http://schemas.openxmlformats.org/drawingml/2006/main">
            <a:off x="6035040" y="384048"/>
            <a:ext cx="5422392"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defRPr sz="1050" b="0">
                <a:solidFill>
                  <a:srgbClr val="464D5C"/>
                </a:solidFill>
                <a:latin typeface="Pretendard"/>
                <a:ea typeface="Pretendard"/>
                <a:cs typeface="Pretendard"/>
              </a:defRPr>
              <a:spcBef>
                <a:spcPts val="0"/>
              </a:spcBef>
              <a:spcAft>
                <a:spcPts val="0"/>
              </a:spcAft>
            </a:pPr>
            <a:r>
              <a:rPr sz="1050" b="0">
                <a:solidFill>
                  <a:srgbClr val="464D5C"/>
                </a:solidFill>
                <a:latin typeface="Pretendard"/>
                <a:ea typeface="Pretendard"/>
                <a:cs typeface="Pretendard"/>
              </a:rPr>
              <a:t>다음  영장에 의한 체포의 요건</a:t>
            </a:r>
          </a:p>
        </p:txBody>
      </p:sp>
      <p:sp>
        <p:nvSpPr>
          <p:cNvPr id="3" name="s14_title_2">
            <a:extLst xmlns:a="http://schemas.openxmlformats.org/drawingml/2006/main">
              <a:ext uri="{FF2B5EF4-FFF2-40B4-BE49-F238E27FC236}">
                <a16:creationId xmlns:a16="http://schemas.microsoft.com/office/drawing/2014/main" id="{2D639BC3-CA79-41EA-985B-40C142254E51}"/>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경보 이후의 정지와 질문</a:t>
            </a:r>
          </a:p>
        </p:txBody>
      </p:sp>
      <p:sp>
        <p:nvSpPr>
          <p:cNvPr id="4" name="">
            <a:extLst xmlns:a="http://schemas.openxmlformats.org/drawingml/2006/main">
              <a:ext uri="{FF2B5EF4-FFF2-40B4-BE49-F238E27FC236}">
                <a16:creationId xmlns:a16="http://schemas.microsoft.com/office/drawing/2014/main" id="{49A7D31E-FD24-4FF0-A3EE-A0EF26A48863}"/>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14_band_4">
            <a:extLst xmlns:a="http://schemas.openxmlformats.org/drawingml/2006/main">
              <a:ext uri="{FF2B5EF4-FFF2-40B4-BE49-F238E27FC236}">
                <a16:creationId xmlns:a16="http://schemas.microsoft.com/office/drawing/2014/main" id="{F44919D7-0081-472F-A86E-6396A3EE7BEB}"/>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경찰관 직무집행법 제3조: 불심검문의 요건과 상대방의 권리</a:t>
            </a:r>
          </a:p>
        </p:txBody>
      </p:sp>
      <p:sp>
        <p:nvSpPr>
          <p:cNvPr id="6" name="">
            <a:extLst xmlns:a="http://schemas.openxmlformats.org/drawingml/2006/main">
              <a:ext uri="{FF2B5EF4-FFF2-40B4-BE49-F238E27FC236}">
                <a16:creationId xmlns:a16="http://schemas.microsoft.com/office/drawing/2014/main" id="{D64EFD62-C3B2-4812-9DB4-C59E7E8E6E56}"/>
              </a:ext>
            </a:extLst>
          </p:cNvPr>
          <p:cNvSpPr>
            <a:spLocks xmlns:a="http://schemas.openxmlformats.org/drawingml/2006/main" noGrp="1"/>
          </p:cNvSpPr>
          <p:nvPr/>
        </p:nvSpPr>
        <p:spPr>
          <a:xfrm xmlns:a="http://schemas.openxmlformats.org/drawingml/2006/main">
            <a:off x="731520" y="2057400"/>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7" name="s14_rowlabel_6">
            <a:extLst xmlns:a="http://schemas.openxmlformats.org/drawingml/2006/main">
              <a:ext uri="{FF2B5EF4-FFF2-40B4-BE49-F238E27FC236}">
                <a16:creationId xmlns:a16="http://schemas.microsoft.com/office/drawing/2014/main" id="{39E9EC9C-0003-42E0-BFC7-2B01628BE18E}"/>
              </a:ext>
            </a:extLst>
          </p:cNvPr>
          <p:cNvSpPr>
            <a:spLocks xmlns:a="http://schemas.openxmlformats.org/drawingml/2006/main" noGrp="1"/>
          </p:cNvSpPr>
          <p:nvPr/>
        </p:nvSpPr>
        <p:spPr>
          <a:xfrm xmlns:a="http://schemas.openxmlformats.org/drawingml/2006/main">
            <a:off x="822960" y="2593213"/>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정지·질문</a:t>
            </a:r>
          </a:p>
        </p:txBody>
      </p:sp>
      <p:sp>
        <p:nvSpPr>
          <p:cNvPr id="8" name="s14_conclusion_7">
            <a:extLst xmlns:a="http://schemas.openxmlformats.org/drawingml/2006/main">
              <a:ext uri="{FF2B5EF4-FFF2-40B4-BE49-F238E27FC236}">
                <a16:creationId xmlns:a16="http://schemas.microsoft.com/office/drawing/2014/main" id="{A5948112-DC31-449D-B813-1E111A942EB8}"/>
              </a:ext>
            </a:extLst>
          </p:cNvPr>
          <p:cNvSpPr>
            <a:spLocks xmlns:a="http://schemas.openxmlformats.org/drawingml/2006/main" noGrp="1"/>
          </p:cNvSpPr>
          <p:nvPr/>
        </p:nvSpPr>
        <p:spPr>
          <a:xfrm xmlns:a="http://schemas.openxmlformats.org/drawingml/2006/main">
            <a:off x="3154680" y="2409762"/>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수상한 행동과 주위 사정을 판단한다.</a:t>
            </a:r>
          </a:p>
        </p:txBody>
      </p:sp>
      <p:sp>
        <p:nvSpPr>
          <p:cNvPr id="9" name="s14_supplement_8">
            <a:extLst xmlns:a="http://schemas.openxmlformats.org/drawingml/2006/main">
              <a:ext uri="{FF2B5EF4-FFF2-40B4-BE49-F238E27FC236}">
                <a16:creationId xmlns:a16="http://schemas.microsoft.com/office/drawing/2014/main" id="{F85654EE-3720-49DD-80A6-69C16B80D913}"/>
              </a:ext>
            </a:extLst>
          </p:cNvPr>
          <p:cNvSpPr>
            <a:spLocks xmlns:a="http://schemas.openxmlformats.org/drawingml/2006/main" noGrp="1"/>
          </p:cNvSpPr>
          <p:nvPr/>
        </p:nvSpPr>
        <p:spPr>
          <a:xfrm xmlns:a="http://schemas.openxmlformats.org/drawingml/2006/main">
            <a:off x="3154680" y="2765870"/>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제1항제1호: “어떠한 죄를 범하였거나 범하려 하고 있다고 의심할 만한 상당한 이유가 있는 사람”</a:t>
            </a:r>
          </a:p>
        </p:txBody>
      </p:sp>
      <p:sp>
        <p:nvSpPr>
          <p:cNvPr id="10" name="">
            <a:extLst xmlns:a="http://schemas.openxmlformats.org/drawingml/2006/main">
              <a:ext uri="{FF2B5EF4-FFF2-40B4-BE49-F238E27FC236}">
                <a16:creationId xmlns:a16="http://schemas.microsoft.com/office/drawing/2014/main" id="{BC9A4CD2-AC9B-4679-9A03-66103A36E8A7}"/>
              </a:ext>
            </a:extLst>
          </p:cNvPr>
          <p:cNvSpPr>
            <a:spLocks xmlns:a="http://schemas.openxmlformats.org/drawingml/2006/main" noGrp="1"/>
          </p:cNvSpPr>
          <p:nvPr/>
        </p:nvSpPr>
        <p:spPr>
          <a:xfrm xmlns:a="http://schemas.openxmlformats.org/drawingml/2006/main">
            <a:off x="731520" y="3419856"/>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1" name="s14_rowlabel_10">
            <a:extLst xmlns:a="http://schemas.openxmlformats.org/drawingml/2006/main">
              <a:ext uri="{FF2B5EF4-FFF2-40B4-BE49-F238E27FC236}">
                <a16:creationId xmlns:a16="http://schemas.microsoft.com/office/drawing/2014/main" id="{44FCF21D-A4D0-408A-A46E-6FB41AEA871B}"/>
              </a:ext>
            </a:extLst>
          </p:cNvPr>
          <p:cNvSpPr>
            <a:spLocks xmlns:a="http://schemas.openxmlformats.org/drawingml/2006/main" noGrp="1"/>
          </p:cNvSpPr>
          <p:nvPr/>
        </p:nvSpPr>
        <p:spPr>
          <a:xfrm xmlns:a="http://schemas.openxmlformats.org/drawingml/2006/main">
            <a:off x="822960" y="3955669"/>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고지·동행</a:t>
            </a:r>
          </a:p>
        </p:txBody>
      </p:sp>
      <p:sp>
        <p:nvSpPr>
          <p:cNvPr id="12" name="s14_conclusion_11">
            <a:extLst xmlns:a="http://schemas.openxmlformats.org/drawingml/2006/main">
              <a:ext uri="{FF2B5EF4-FFF2-40B4-BE49-F238E27FC236}">
                <a16:creationId xmlns:a16="http://schemas.microsoft.com/office/drawing/2014/main" id="{7E42E43C-76F8-42C9-A758-DC48F01B3410}"/>
              </a:ext>
            </a:extLst>
          </p:cNvPr>
          <p:cNvSpPr>
            <a:spLocks xmlns:a="http://schemas.openxmlformats.org/drawingml/2006/main" noGrp="1"/>
          </p:cNvSpPr>
          <p:nvPr/>
        </p:nvSpPr>
        <p:spPr>
          <a:xfrm xmlns:a="http://schemas.openxmlformats.org/drawingml/2006/main">
            <a:off x="3154680" y="3772218"/>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경찰은 신분과 목적·이유를 설명한다.</a:t>
            </a:r>
          </a:p>
        </p:txBody>
      </p:sp>
      <p:sp>
        <p:nvSpPr>
          <p:cNvPr id="13" name="s14_supplement_12">
            <a:extLst xmlns:a="http://schemas.openxmlformats.org/drawingml/2006/main">
              <a:ext uri="{FF2B5EF4-FFF2-40B4-BE49-F238E27FC236}">
                <a16:creationId xmlns:a16="http://schemas.microsoft.com/office/drawing/2014/main" id="{BDF4D9D3-DC5B-45AB-BF75-B3DD53ADA408}"/>
              </a:ext>
            </a:extLst>
          </p:cNvPr>
          <p:cNvSpPr>
            <a:spLocks xmlns:a="http://schemas.openxmlformats.org/drawingml/2006/main" noGrp="1"/>
          </p:cNvSpPr>
          <p:nvPr/>
        </p:nvSpPr>
        <p:spPr>
          <a:xfrm xmlns:a="http://schemas.openxmlformats.org/drawingml/2006/main">
            <a:off x="3154680" y="4128326"/>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제4항에 따른 증표 제시·소속·성명 고지. 제2항의 동행 요구를 받은 사람은 거절할 수 있다.</a:t>
            </a:r>
          </a:p>
        </p:txBody>
      </p:sp>
      <p:sp>
        <p:nvSpPr>
          <p:cNvPr id="14" name="">
            <a:extLst xmlns:a="http://schemas.openxmlformats.org/drawingml/2006/main">
              <a:ext uri="{FF2B5EF4-FFF2-40B4-BE49-F238E27FC236}">
                <a16:creationId xmlns:a16="http://schemas.microsoft.com/office/drawing/2014/main" id="{F8BB5FB4-A893-40C8-93AB-A11115764AEA}"/>
              </a:ext>
            </a:extLst>
          </p:cNvPr>
          <p:cNvSpPr>
            <a:spLocks xmlns:a="http://schemas.openxmlformats.org/drawingml/2006/main" noGrp="1"/>
          </p:cNvSpPr>
          <p:nvPr/>
        </p:nvSpPr>
        <p:spPr>
          <a:xfrm xmlns:a="http://schemas.openxmlformats.org/drawingml/2006/main">
            <a:off x="731520" y="4782312"/>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5" name="s14_rowlabel_14">
            <a:extLst xmlns:a="http://schemas.openxmlformats.org/drawingml/2006/main">
              <a:ext uri="{FF2B5EF4-FFF2-40B4-BE49-F238E27FC236}">
                <a16:creationId xmlns:a16="http://schemas.microsoft.com/office/drawing/2014/main" id="{DE325F5B-F6BD-4FBB-82FA-8B4A2554800B}"/>
              </a:ext>
            </a:extLst>
          </p:cNvPr>
          <p:cNvSpPr>
            <a:spLocks xmlns:a="http://schemas.openxmlformats.org/drawingml/2006/main" noGrp="1"/>
          </p:cNvSpPr>
          <p:nvPr/>
        </p:nvSpPr>
        <p:spPr>
          <a:xfrm xmlns:a="http://schemas.openxmlformats.org/drawingml/2006/main">
            <a:off x="822960" y="5318125"/>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답변·구속</a:t>
            </a:r>
          </a:p>
        </p:txBody>
      </p:sp>
      <p:sp>
        <p:nvSpPr>
          <p:cNvPr id="16" name="s14_conclusion_15">
            <a:extLst xmlns:a="http://schemas.openxmlformats.org/drawingml/2006/main">
              <a:ext uri="{FF2B5EF4-FFF2-40B4-BE49-F238E27FC236}">
                <a16:creationId xmlns:a16="http://schemas.microsoft.com/office/drawing/2014/main" id="{723F1329-D1BB-4351-9217-F9DE6238A515}"/>
              </a:ext>
            </a:extLst>
          </p:cNvPr>
          <p:cNvSpPr>
            <a:spLocks xmlns:a="http://schemas.openxmlformats.org/drawingml/2006/main" noGrp="1"/>
          </p:cNvSpPr>
          <p:nvPr/>
        </p:nvSpPr>
        <p:spPr>
          <a:xfrm xmlns:a="http://schemas.openxmlformats.org/drawingml/2006/main">
            <a:off x="3154680" y="5029898"/>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답변 강요와 신체 구속의 한계를 둔다.</a:t>
            </a:r>
          </a:p>
        </p:txBody>
      </p:sp>
      <p:sp>
        <p:nvSpPr>
          <p:cNvPr id="17" name="s14_supplement_16">
            <a:extLst xmlns:a="http://schemas.openxmlformats.org/drawingml/2006/main">
              <a:ext uri="{FF2B5EF4-FFF2-40B4-BE49-F238E27FC236}">
                <a16:creationId xmlns:a16="http://schemas.microsoft.com/office/drawing/2014/main" id="{6DC5278E-59F3-461E-80BF-FE6F398334AA}"/>
              </a:ext>
            </a:extLst>
          </p:cNvPr>
          <p:cNvSpPr>
            <a:spLocks xmlns:a="http://schemas.openxmlformats.org/drawingml/2006/main" noGrp="1"/>
          </p:cNvSpPr>
          <p:nvPr/>
        </p:nvSpPr>
        <p:spPr>
          <a:xfrm xmlns:a="http://schemas.openxmlformats.org/drawingml/2006/main">
            <a:off x="3154680" y="5386007"/>
            <a:ext cx="8302752" cy="447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제7항: “형사소송에 관한 법률에 따르지 아니하고는 신체를 구속당하지 아니하며, 그 의사에 반하여 답변을 강요당하지</a:t>
            </a:r>
          </a:p>
          <a:p xmlns:a="http://schemas.openxmlformats.org/drawingml/2006/main">
            <a:pPr algn="l">
              <a:lnSpc>
                <a:spcPct val="125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아니한다.”</a:t>
            </a:r>
          </a:p>
        </p:txBody>
      </p:sp>
      <p:sp>
        <p:nvSpPr>
          <p:cNvPr id="18" name="">
            <a:extLst xmlns:a="http://schemas.openxmlformats.org/drawingml/2006/main">
              <a:ext uri="{FF2B5EF4-FFF2-40B4-BE49-F238E27FC236}">
                <a16:creationId xmlns:a16="http://schemas.microsoft.com/office/drawing/2014/main" id="{93048D5D-6C0E-4801-87FB-1366B16D000A}"/>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204129803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15_kicker_0">
            <a:extLst xmlns:a="http://schemas.openxmlformats.org/drawingml/2006/main">
              <a:ext uri="{FF2B5EF4-FFF2-40B4-BE49-F238E27FC236}">
                <a16:creationId xmlns:a16="http://schemas.microsoft.com/office/drawing/2014/main" id="{C1E77024-2FB5-4609-AD64-FB69A0EF212A}"/>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한국의 법과 현장 조치</a:t>
            </a:r>
          </a:p>
        </p:txBody>
      </p:sp>
      <p:sp>
        <p:nvSpPr>
          <p:cNvPr id="2" name="s15_next_1">
            <a:extLst xmlns:a="http://schemas.openxmlformats.org/drawingml/2006/main">
              <a:ext uri="{FF2B5EF4-FFF2-40B4-BE49-F238E27FC236}">
                <a16:creationId xmlns:a16="http://schemas.microsoft.com/office/drawing/2014/main" id="{A9B13829-8E10-466B-8B3C-33569EABA430}"/>
              </a:ext>
            </a:extLst>
          </p:cNvPr>
          <p:cNvSpPr>
            <a:spLocks xmlns:a="http://schemas.openxmlformats.org/drawingml/2006/main" noGrp="1"/>
          </p:cNvSpPr>
          <p:nvPr/>
        </p:nvSpPr>
        <p:spPr>
          <a:xfrm xmlns:a="http://schemas.openxmlformats.org/drawingml/2006/main">
            <a:off x="6035040" y="384048"/>
            <a:ext cx="5422392"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defRPr sz="1050" b="0">
                <a:solidFill>
                  <a:srgbClr val="464D5C"/>
                </a:solidFill>
                <a:latin typeface="Pretendard"/>
                <a:ea typeface="Pretendard"/>
                <a:cs typeface="Pretendard"/>
              </a:defRPr>
              <a:spcBef>
                <a:spcPts val="0"/>
              </a:spcBef>
              <a:spcAft>
                <a:spcPts val="0"/>
              </a:spcAft>
            </a:pPr>
            <a:r>
              <a:rPr sz="1050" b="0">
                <a:solidFill>
                  <a:srgbClr val="464D5C"/>
                </a:solidFill>
                <a:latin typeface="Pretendard"/>
                <a:ea typeface="Pretendard"/>
                <a:cs typeface="Pretendard"/>
              </a:rPr>
              <a:t>다음  외형 검색으로 찾은 안양의 실종자</a:t>
            </a:r>
          </a:p>
        </p:txBody>
      </p:sp>
      <p:sp>
        <p:nvSpPr>
          <p:cNvPr id="3" name="s15_title_2">
            <a:extLst xmlns:a="http://schemas.openxmlformats.org/drawingml/2006/main">
              <a:ext uri="{FF2B5EF4-FFF2-40B4-BE49-F238E27FC236}">
                <a16:creationId xmlns:a16="http://schemas.microsoft.com/office/drawing/2014/main" id="{23A649CC-CB3D-4B52-A5AD-7C88F4B5FA54}"/>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영장에 의한 체포의 요건</a:t>
            </a:r>
          </a:p>
        </p:txBody>
      </p:sp>
      <p:sp>
        <p:nvSpPr>
          <p:cNvPr id="4" name="">
            <a:extLst xmlns:a="http://schemas.openxmlformats.org/drawingml/2006/main">
              <a:ext uri="{FF2B5EF4-FFF2-40B4-BE49-F238E27FC236}">
                <a16:creationId xmlns:a16="http://schemas.microsoft.com/office/drawing/2014/main" id="{92316716-6995-4F27-B540-82BC457BFB3E}"/>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15_band_4">
            <a:extLst xmlns:a="http://schemas.openxmlformats.org/drawingml/2006/main">
              <a:ext uri="{FF2B5EF4-FFF2-40B4-BE49-F238E27FC236}">
                <a16:creationId xmlns:a16="http://schemas.microsoft.com/office/drawing/2014/main" id="{505173B9-C8E9-4D72-9F7A-60B0C613F855}"/>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형사소송법 제200조의2제1항 · 2026년 10월 2일 시행본</a:t>
            </a:r>
          </a:p>
        </p:txBody>
      </p:sp>
      <p:sp>
        <p:nvSpPr>
          <p:cNvPr id="6" name="">
            <a:extLst xmlns:a="http://schemas.openxmlformats.org/drawingml/2006/main">
              <a:ext uri="{FF2B5EF4-FFF2-40B4-BE49-F238E27FC236}">
                <a16:creationId xmlns:a16="http://schemas.microsoft.com/office/drawing/2014/main" id="{F31562C5-122A-41BF-BCB3-358567F90CED}"/>
              </a:ext>
            </a:extLst>
          </p:cNvPr>
          <p:cNvSpPr>
            <a:spLocks xmlns:a="http://schemas.openxmlformats.org/drawingml/2006/main" noGrp="1"/>
          </p:cNvSpPr>
          <p:nvPr/>
        </p:nvSpPr>
        <p:spPr>
          <a:xfrm xmlns:a="http://schemas.openxmlformats.org/drawingml/2006/main">
            <a:off x="731520" y="2057400"/>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7" name="s15_body_6">
            <a:extLst xmlns:a="http://schemas.openxmlformats.org/drawingml/2006/main">
              <a:ext uri="{FF2B5EF4-FFF2-40B4-BE49-F238E27FC236}">
                <a16:creationId xmlns:a16="http://schemas.microsoft.com/office/drawing/2014/main" id="{97E1AEE3-1D84-46C0-ADAA-A2DF52CA8D87}"/>
              </a:ext>
            </a:extLst>
          </p:cNvPr>
          <p:cNvSpPr>
            <a:spLocks xmlns:a="http://schemas.openxmlformats.org/drawingml/2006/main" noGrp="1"/>
          </p:cNvSpPr>
          <p:nvPr/>
        </p:nvSpPr>
        <p:spPr>
          <a:xfrm xmlns:a="http://schemas.openxmlformats.org/drawingml/2006/main">
            <a:off x="731520" y="2377440"/>
            <a:ext cx="3355848"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A8871C"/>
                </a:solidFill>
                <a:latin typeface="Pretendard"/>
                <a:ea typeface="Pretendard"/>
                <a:cs typeface="Pretendard"/>
              </a:defRPr>
              <a:spcBef>
                <a:spcPts val="0"/>
              </a:spcBef>
              <a:spcAft>
                <a:spcPts val="0"/>
              </a:spcAft>
            </a:pPr>
            <a:r>
              <a:rPr sz="1300" b="1">
                <a:solidFill>
                  <a:srgbClr val="A8871C"/>
                </a:solidFill>
                <a:latin typeface="Pretendard"/>
                <a:ea typeface="Pretendard"/>
                <a:cs typeface="Pretendard"/>
              </a:rPr>
              <a:t>01</a:t>
            </a:r>
          </a:p>
        </p:txBody>
      </p:sp>
      <p:sp>
        <p:nvSpPr>
          <p:cNvPr id="8" name="s15_body_7">
            <a:extLst xmlns:a="http://schemas.openxmlformats.org/drawingml/2006/main">
              <a:ext uri="{FF2B5EF4-FFF2-40B4-BE49-F238E27FC236}">
                <a16:creationId xmlns:a16="http://schemas.microsoft.com/office/drawing/2014/main" id="{80C86C35-97AB-4B6E-A298-195E5527C964}"/>
              </a:ext>
            </a:extLst>
          </p:cNvPr>
          <p:cNvSpPr>
            <a:spLocks xmlns:a="http://schemas.openxmlformats.org/drawingml/2006/main" noGrp="1"/>
          </p:cNvSpPr>
          <p:nvPr/>
        </p:nvSpPr>
        <p:spPr>
          <a:xfrm xmlns:a="http://schemas.openxmlformats.org/drawingml/2006/main">
            <a:off x="731520" y="2926080"/>
            <a:ext cx="3355848" cy="3874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250" b="1">
                <a:solidFill>
                  <a:srgbClr val="1E2761"/>
                </a:solidFill>
                <a:latin typeface="Pretendard"/>
                <a:ea typeface="Pretendard"/>
                <a:cs typeface="Pretendard"/>
              </a:defRPr>
              <a:spcBef>
                <a:spcPts val="0"/>
              </a:spcBef>
              <a:spcAft>
                <a:spcPts val="0"/>
              </a:spcAft>
            </a:pPr>
            <a:r>
              <a:rPr sz="2250" b="1">
                <a:solidFill>
                  <a:srgbClr val="1E2761"/>
                </a:solidFill>
                <a:latin typeface="Pretendard"/>
                <a:ea typeface="Pretendard"/>
                <a:cs typeface="Pretendard"/>
              </a:rPr>
              <a:t>혐의·불응</a:t>
            </a:r>
          </a:p>
        </p:txBody>
      </p:sp>
      <p:sp>
        <p:nvSpPr>
          <p:cNvPr id="9" name="s15_body_8">
            <a:extLst xmlns:a="http://schemas.openxmlformats.org/drawingml/2006/main">
              <a:ext uri="{FF2B5EF4-FFF2-40B4-BE49-F238E27FC236}">
                <a16:creationId xmlns:a16="http://schemas.microsoft.com/office/drawing/2014/main" id="{0F65B120-C5A0-4A44-BAC9-7F506BE264C1}"/>
              </a:ext>
            </a:extLst>
          </p:cNvPr>
          <p:cNvSpPr>
            <a:spLocks xmlns:a="http://schemas.openxmlformats.org/drawingml/2006/main" noGrp="1"/>
          </p:cNvSpPr>
          <p:nvPr/>
        </p:nvSpPr>
        <p:spPr>
          <a:xfrm xmlns:a="http://schemas.openxmlformats.org/drawingml/2006/main">
            <a:off x="731520" y="3560445"/>
            <a:ext cx="3355848" cy="494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범죄 혐의의 상당한 이유와 출석 불응 또는</a:t>
            </a:r>
          </a:p>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불응 우려를 확인한다.</a:t>
            </a:r>
          </a:p>
        </p:txBody>
      </p:sp>
      <p:sp>
        <p:nvSpPr>
          <p:cNvPr id="10" name="s15_body_9">
            <a:extLst xmlns:a="http://schemas.openxmlformats.org/drawingml/2006/main">
              <a:ext uri="{FF2B5EF4-FFF2-40B4-BE49-F238E27FC236}">
                <a16:creationId xmlns:a16="http://schemas.microsoft.com/office/drawing/2014/main" id="{232D7341-F748-4D84-80AC-E51605E68843}"/>
              </a:ext>
            </a:extLst>
          </p:cNvPr>
          <p:cNvSpPr>
            <a:spLocks xmlns:a="http://schemas.openxmlformats.org/drawingml/2006/main" noGrp="1"/>
          </p:cNvSpPr>
          <p:nvPr/>
        </p:nvSpPr>
        <p:spPr>
          <a:xfrm xmlns:a="http://schemas.openxmlformats.org/drawingml/2006/main">
            <a:off x="4416552" y="2377440"/>
            <a:ext cx="3355848"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A8871C"/>
                </a:solidFill>
                <a:latin typeface="Pretendard"/>
                <a:ea typeface="Pretendard"/>
                <a:cs typeface="Pretendard"/>
              </a:defRPr>
              <a:spcBef>
                <a:spcPts val="0"/>
              </a:spcBef>
              <a:spcAft>
                <a:spcPts val="0"/>
              </a:spcAft>
            </a:pPr>
            <a:r>
              <a:rPr sz="1300" b="1">
                <a:solidFill>
                  <a:srgbClr val="A8871C"/>
                </a:solidFill>
                <a:latin typeface="Pretendard"/>
                <a:ea typeface="Pretendard"/>
                <a:cs typeface="Pretendard"/>
              </a:rPr>
              <a:t>02</a:t>
            </a:r>
          </a:p>
        </p:txBody>
      </p:sp>
      <p:sp>
        <p:nvSpPr>
          <p:cNvPr id="11" name="s15_body_10">
            <a:extLst xmlns:a="http://schemas.openxmlformats.org/drawingml/2006/main">
              <a:ext uri="{FF2B5EF4-FFF2-40B4-BE49-F238E27FC236}">
                <a16:creationId xmlns:a16="http://schemas.microsoft.com/office/drawing/2014/main" id="{3FB68195-73B0-401B-B9B1-AA96CFC21032}"/>
              </a:ext>
            </a:extLst>
          </p:cNvPr>
          <p:cNvSpPr>
            <a:spLocks xmlns:a="http://schemas.openxmlformats.org/drawingml/2006/main" noGrp="1"/>
          </p:cNvSpPr>
          <p:nvPr/>
        </p:nvSpPr>
        <p:spPr>
          <a:xfrm xmlns:a="http://schemas.openxmlformats.org/drawingml/2006/main">
            <a:off x="4416552" y="2926080"/>
            <a:ext cx="3355848" cy="3874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250" b="1">
                <a:solidFill>
                  <a:srgbClr val="1E2761"/>
                </a:solidFill>
                <a:latin typeface="Pretendard"/>
                <a:ea typeface="Pretendard"/>
                <a:cs typeface="Pretendard"/>
              </a:defRPr>
              <a:spcBef>
                <a:spcPts val="0"/>
              </a:spcBef>
              <a:spcAft>
                <a:spcPts val="0"/>
              </a:spcAft>
            </a:pPr>
            <a:r>
              <a:rPr sz="2250" b="1">
                <a:solidFill>
                  <a:srgbClr val="1E2761"/>
                </a:solidFill>
                <a:latin typeface="Pretendard"/>
                <a:ea typeface="Pretendard"/>
                <a:cs typeface="Pretendard"/>
              </a:rPr>
              <a:t>신청·청구</a:t>
            </a:r>
          </a:p>
        </p:txBody>
      </p:sp>
      <p:sp>
        <p:nvSpPr>
          <p:cNvPr id="12" name="s15_body_11">
            <a:extLst xmlns:a="http://schemas.openxmlformats.org/drawingml/2006/main">
              <a:ext uri="{FF2B5EF4-FFF2-40B4-BE49-F238E27FC236}">
                <a16:creationId xmlns:a16="http://schemas.microsoft.com/office/drawing/2014/main" id="{DCB29A83-390A-43CD-9957-8E04202DD6B5}"/>
              </a:ext>
            </a:extLst>
          </p:cNvPr>
          <p:cNvSpPr>
            <a:spLocks xmlns:a="http://schemas.openxmlformats.org/drawingml/2006/main" noGrp="1"/>
          </p:cNvSpPr>
          <p:nvPr/>
        </p:nvSpPr>
        <p:spPr>
          <a:xfrm xmlns:a="http://schemas.openxmlformats.org/drawingml/2006/main">
            <a:off x="4416552" y="3560445"/>
            <a:ext cx="3355848" cy="494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사법경찰관이 검사에게 신청하고 검사가</a:t>
            </a:r>
          </a:p>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판사에게 청구한다.</a:t>
            </a:r>
          </a:p>
        </p:txBody>
      </p:sp>
      <p:sp>
        <p:nvSpPr>
          <p:cNvPr id="13" name="s15_body_12">
            <a:extLst xmlns:a="http://schemas.openxmlformats.org/drawingml/2006/main">
              <a:ext uri="{FF2B5EF4-FFF2-40B4-BE49-F238E27FC236}">
                <a16:creationId xmlns:a16="http://schemas.microsoft.com/office/drawing/2014/main" id="{916EABB4-E7AC-4526-AB98-64FFE22585EB}"/>
              </a:ext>
            </a:extLst>
          </p:cNvPr>
          <p:cNvSpPr>
            <a:spLocks xmlns:a="http://schemas.openxmlformats.org/drawingml/2006/main" noGrp="1"/>
          </p:cNvSpPr>
          <p:nvPr/>
        </p:nvSpPr>
        <p:spPr>
          <a:xfrm xmlns:a="http://schemas.openxmlformats.org/drawingml/2006/main">
            <a:off x="8101584" y="2377440"/>
            <a:ext cx="3355848"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A8871C"/>
                </a:solidFill>
                <a:latin typeface="Pretendard"/>
                <a:ea typeface="Pretendard"/>
                <a:cs typeface="Pretendard"/>
              </a:defRPr>
              <a:spcBef>
                <a:spcPts val="0"/>
              </a:spcBef>
              <a:spcAft>
                <a:spcPts val="0"/>
              </a:spcAft>
            </a:pPr>
            <a:r>
              <a:rPr sz="1300" b="1">
                <a:solidFill>
                  <a:srgbClr val="A8871C"/>
                </a:solidFill>
                <a:latin typeface="Pretendard"/>
                <a:ea typeface="Pretendard"/>
                <a:cs typeface="Pretendard"/>
              </a:rPr>
              <a:t>03</a:t>
            </a:r>
          </a:p>
        </p:txBody>
      </p:sp>
      <p:sp>
        <p:nvSpPr>
          <p:cNvPr id="14" name="s15_body_13">
            <a:extLst xmlns:a="http://schemas.openxmlformats.org/drawingml/2006/main">
              <a:ext uri="{FF2B5EF4-FFF2-40B4-BE49-F238E27FC236}">
                <a16:creationId xmlns:a16="http://schemas.microsoft.com/office/drawing/2014/main" id="{356C2912-D7AC-40E5-85F5-F262A992C93A}"/>
              </a:ext>
            </a:extLst>
          </p:cNvPr>
          <p:cNvSpPr>
            <a:spLocks xmlns:a="http://schemas.openxmlformats.org/drawingml/2006/main" noGrp="1"/>
          </p:cNvSpPr>
          <p:nvPr/>
        </p:nvSpPr>
        <p:spPr>
          <a:xfrm xmlns:a="http://schemas.openxmlformats.org/drawingml/2006/main">
            <a:off x="8101584" y="2926080"/>
            <a:ext cx="3355848" cy="3874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250" b="1">
                <a:solidFill>
                  <a:srgbClr val="1E2761"/>
                </a:solidFill>
                <a:latin typeface="Pretendard"/>
                <a:ea typeface="Pretendard"/>
                <a:cs typeface="Pretendard"/>
              </a:defRPr>
              <a:spcBef>
                <a:spcPts val="0"/>
              </a:spcBef>
              <a:spcAft>
                <a:spcPts val="0"/>
              </a:spcAft>
            </a:pPr>
            <a:r>
              <a:rPr sz="2250" b="1">
                <a:solidFill>
                  <a:srgbClr val="1E2761"/>
                </a:solidFill>
                <a:latin typeface="Pretendard"/>
                <a:ea typeface="Pretendard"/>
                <a:cs typeface="Pretendard"/>
              </a:rPr>
              <a:t>발부·집행</a:t>
            </a:r>
          </a:p>
        </p:txBody>
      </p:sp>
      <p:sp>
        <p:nvSpPr>
          <p:cNvPr id="15" name="s15_body_14">
            <a:extLst xmlns:a="http://schemas.openxmlformats.org/drawingml/2006/main">
              <a:ext uri="{FF2B5EF4-FFF2-40B4-BE49-F238E27FC236}">
                <a16:creationId xmlns:a16="http://schemas.microsoft.com/office/drawing/2014/main" id="{C4DAB154-8FDC-4DBD-B6D4-854BE49C105D}"/>
              </a:ext>
            </a:extLst>
          </p:cNvPr>
          <p:cNvSpPr>
            <a:spLocks xmlns:a="http://schemas.openxmlformats.org/drawingml/2006/main" noGrp="1"/>
          </p:cNvSpPr>
          <p:nvPr/>
        </p:nvSpPr>
        <p:spPr>
          <a:xfrm xmlns:a="http://schemas.openxmlformats.org/drawingml/2006/main">
            <a:off x="8101584" y="3560445"/>
            <a:ext cx="3355848" cy="494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관할 지방법원 판사가 영장을 발부하고</a:t>
            </a:r>
          </a:p>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경찰이 대상자의 동일성을 확인해 집행한다.</a:t>
            </a:r>
          </a:p>
        </p:txBody>
      </p:sp>
      <p:sp>
        <p:nvSpPr>
          <p:cNvPr id="16" name="s15_scope_15">
            <a:extLst xmlns:a="http://schemas.openxmlformats.org/drawingml/2006/main">
              <a:ext uri="{FF2B5EF4-FFF2-40B4-BE49-F238E27FC236}">
                <a16:creationId xmlns:a16="http://schemas.microsoft.com/office/drawing/2014/main" id="{8C199F3D-E194-4188-AC3E-7C54B403AC76}"/>
              </a:ext>
            </a:extLst>
          </p:cNvPr>
          <p:cNvSpPr>
            <a:spLocks xmlns:a="http://schemas.openxmlformats.org/drawingml/2006/main" noGrp="1"/>
          </p:cNvSpPr>
          <p:nvPr/>
        </p:nvSpPr>
        <p:spPr>
          <a:xfrm xmlns:a="http://schemas.openxmlformats.org/drawingml/2006/main">
            <a:off x="731520" y="5878068"/>
            <a:ext cx="10725912" cy="2301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00" b="0">
                <a:solidFill>
                  <a:srgbClr val="A8871C"/>
                </a:solidFill>
                <a:latin typeface="Pretendard"/>
                <a:ea typeface="Pretendard"/>
                <a:cs typeface="Pretendard"/>
              </a:defRPr>
              <a:spcBef>
                <a:spcPts val="0"/>
              </a:spcBef>
              <a:spcAft>
                <a:spcPts val="0"/>
              </a:spcAft>
            </a:pPr>
            <a:r>
              <a:rPr sz="1200" b="0">
                <a:solidFill>
                  <a:srgbClr val="A8871C"/>
                </a:solidFill>
                <a:latin typeface="Pretendard"/>
                <a:ea typeface="Pretendard"/>
                <a:cs typeface="Pretendard"/>
              </a:rPr>
              <a:t>조문 발췌: “사법경찰관은 검사에게 신청하여 검사의 청구로 관할 지방법원 판사의 체포영장을 발부받아 피의자를 체포할 수 있다.”</a:t>
            </a:r>
          </a:p>
        </p:txBody>
      </p:sp>
      <p:sp>
        <p:nvSpPr>
          <p:cNvPr id="17" name="">
            <a:extLst xmlns:a="http://schemas.openxmlformats.org/drawingml/2006/main">
              <a:ext uri="{FF2B5EF4-FFF2-40B4-BE49-F238E27FC236}">
                <a16:creationId xmlns:a16="http://schemas.microsoft.com/office/drawing/2014/main" id="{46358127-0902-4543-BFDB-DEC9E3AE3EFB}"/>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107137221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16_kicker_0">
            <a:extLst xmlns:a="http://schemas.openxmlformats.org/drawingml/2006/main">
              <a:ext uri="{FF2B5EF4-FFF2-40B4-BE49-F238E27FC236}">
                <a16:creationId xmlns:a16="http://schemas.microsoft.com/office/drawing/2014/main" id="{F4E56BFE-BA60-4476-BC21-34FAAF07F72E}"/>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현장 성과와 평가</a:t>
            </a:r>
          </a:p>
        </p:txBody>
      </p:sp>
      <p:sp>
        <p:nvSpPr>
          <p:cNvPr id="2" name="s16_next_1">
            <a:extLst xmlns:a="http://schemas.openxmlformats.org/drawingml/2006/main">
              <a:ext uri="{FF2B5EF4-FFF2-40B4-BE49-F238E27FC236}">
                <a16:creationId xmlns:a16="http://schemas.microsoft.com/office/drawing/2014/main" id="{EC37DBB6-60A3-406E-A053-533E3A0097A4}"/>
              </a:ext>
            </a:extLst>
          </p:cNvPr>
          <p:cNvSpPr>
            <a:spLocks xmlns:a="http://schemas.openxmlformats.org/drawingml/2006/main" noGrp="1"/>
          </p:cNvSpPr>
          <p:nvPr/>
        </p:nvSpPr>
        <p:spPr>
          <a:xfrm xmlns:a="http://schemas.openxmlformats.org/drawingml/2006/main">
            <a:off x="6035040" y="384048"/>
            <a:ext cx="5422392"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defRPr sz="1050" b="0">
                <a:solidFill>
                  <a:srgbClr val="464D5C"/>
                </a:solidFill>
                <a:latin typeface="Pretendard"/>
                <a:ea typeface="Pretendard"/>
                <a:cs typeface="Pretendard"/>
              </a:defRPr>
              <a:spcBef>
                <a:spcPts val="0"/>
              </a:spcBef>
              <a:spcAft>
                <a:spcPts val="0"/>
              </a:spcAft>
            </a:pPr>
            <a:r>
              <a:rPr sz="1050" b="0">
                <a:solidFill>
                  <a:srgbClr val="464D5C"/>
                </a:solidFill>
                <a:latin typeface="Pretendard"/>
                <a:ea typeface="Pretendard"/>
                <a:cs typeface="Pretendard"/>
              </a:rPr>
              <a:t>다음  수배자를 찾아낸 런던의 경보</a:t>
            </a:r>
          </a:p>
        </p:txBody>
      </p:sp>
      <p:sp>
        <p:nvSpPr>
          <p:cNvPr id="3" name="s16_title_2">
            <a:extLst xmlns:a="http://schemas.openxmlformats.org/drawingml/2006/main">
              <a:ext uri="{FF2B5EF4-FFF2-40B4-BE49-F238E27FC236}">
                <a16:creationId xmlns:a16="http://schemas.microsoft.com/office/drawing/2014/main" id="{D76DB7B1-6311-42BB-BA8A-981C2B248A2B}"/>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외형 검색으로 찾은 안양의 실종자</a:t>
            </a:r>
          </a:p>
        </p:txBody>
      </p:sp>
      <p:sp>
        <p:nvSpPr>
          <p:cNvPr id="4" name="">
            <a:extLst xmlns:a="http://schemas.openxmlformats.org/drawingml/2006/main">
              <a:ext uri="{FF2B5EF4-FFF2-40B4-BE49-F238E27FC236}">
                <a16:creationId xmlns:a16="http://schemas.microsoft.com/office/drawing/2014/main" id="{760C99E5-2463-4B6F-A184-038676BB0168}"/>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16_band_4">
            <a:extLst xmlns:a="http://schemas.openxmlformats.org/drawingml/2006/main">
              <a:ext uri="{FF2B5EF4-FFF2-40B4-BE49-F238E27FC236}">
                <a16:creationId xmlns:a16="http://schemas.microsoft.com/office/drawing/2014/main" id="{B3CE4D16-458E-48D9-BF92-6F688BE3BF05}"/>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2025년 10월 3일 · 안양시 관제센터와 경찰의 치매 노인 수색</a:t>
            </a:r>
          </a:p>
        </p:txBody>
      </p:sp>
      <p:sp>
        <p:nvSpPr>
          <p:cNvPr id="6" name="">
            <a:extLst xmlns:a="http://schemas.openxmlformats.org/drawingml/2006/main">
              <a:ext uri="{FF2B5EF4-FFF2-40B4-BE49-F238E27FC236}">
                <a16:creationId xmlns:a16="http://schemas.microsoft.com/office/drawing/2014/main" id="{FD65205E-FA6A-429A-BD7C-49193E2848CF}"/>
              </a:ext>
            </a:extLst>
          </p:cNvPr>
          <p:cNvSpPr>
            <a:spLocks xmlns:a="http://schemas.openxmlformats.org/drawingml/2006/main" noGrp="1"/>
          </p:cNvSpPr>
          <p:nvPr/>
        </p:nvSpPr>
        <p:spPr>
          <a:xfrm xmlns:a="http://schemas.openxmlformats.org/drawingml/2006/main">
            <a:off x="731520" y="2057400"/>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7" name="s16_rowlabel_6">
            <a:extLst xmlns:a="http://schemas.openxmlformats.org/drawingml/2006/main">
              <a:ext uri="{FF2B5EF4-FFF2-40B4-BE49-F238E27FC236}">
                <a16:creationId xmlns:a16="http://schemas.microsoft.com/office/drawing/2014/main" id="{5AE9FC0B-18C2-40FD-B710-590984FD38FB}"/>
              </a:ext>
            </a:extLst>
          </p:cNvPr>
          <p:cNvSpPr>
            <a:spLocks xmlns:a="http://schemas.openxmlformats.org/drawingml/2006/main" noGrp="1"/>
          </p:cNvSpPr>
          <p:nvPr/>
        </p:nvSpPr>
        <p:spPr>
          <a:xfrm xmlns:a="http://schemas.openxmlformats.org/drawingml/2006/main">
            <a:off x="822960" y="2593213"/>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검색 단서</a:t>
            </a:r>
          </a:p>
        </p:txBody>
      </p:sp>
      <p:sp>
        <p:nvSpPr>
          <p:cNvPr id="8" name="s16_conclusion_7">
            <a:extLst xmlns:a="http://schemas.openxmlformats.org/drawingml/2006/main">
              <a:ext uri="{FF2B5EF4-FFF2-40B4-BE49-F238E27FC236}">
                <a16:creationId xmlns:a16="http://schemas.microsoft.com/office/drawing/2014/main" id="{1D477048-7680-4A28-986B-D68C93D4B75B}"/>
              </a:ext>
            </a:extLst>
          </p:cNvPr>
          <p:cNvSpPr>
            <a:spLocks xmlns:a="http://schemas.openxmlformats.org/drawingml/2006/main" noGrp="1"/>
          </p:cNvSpPr>
          <p:nvPr/>
        </p:nvSpPr>
        <p:spPr>
          <a:xfrm xmlns:a="http://schemas.openxmlformats.org/drawingml/2006/main">
            <a:off x="3154680" y="2409762"/>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흰 모자와 지팡이로 영상을 좁혔다.</a:t>
            </a:r>
          </a:p>
        </p:txBody>
      </p:sp>
      <p:sp>
        <p:nvSpPr>
          <p:cNvPr id="9" name="s16_supplement_8">
            <a:extLst xmlns:a="http://schemas.openxmlformats.org/drawingml/2006/main">
              <a:ext uri="{FF2B5EF4-FFF2-40B4-BE49-F238E27FC236}">
                <a16:creationId xmlns:a16="http://schemas.microsoft.com/office/drawing/2014/main" id="{BA8EF71E-2F32-485D-AC7E-A38DB5C6EC3B}"/>
              </a:ext>
            </a:extLst>
          </p:cNvPr>
          <p:cNvSpPr>
            <a:spLocks xmlns:a="http://schemas.openxmlformats.org/drawingml/2006/main" noGrp="1"/>
          </p:cNvSpPr>
          <p:nvPr/>
        </p:nvSpPr>
        <p:spPr>
          <a:xfrm xmlns:a="http://schemas.openxmlformats.org/drawingml/2006/main">
            <a:off x="3154680" y="2765870"/>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실종자의 외형과 엘리베이터 뒷모습 영상 등을 바탕으로 이동 경로를 찾았다.</a:t>
            </a:r>
          </a:p>
        </p:txBody>
      </p:sp>
      <p:sp>
        <p:nvSpPr>
          <p:cNvPr id="10" name="">
            <a:extLst xmlns:a="http://schemas.openxmlformats.org/drawingml/2006/main">
              <a:ext uri="{FF2B5EF4-FFF2-40B4-BE49-F238E27FC236}">
                <a16:creationId xmlns:a16="http://schemas.microsoft.com/office/drawing/2014/main" id="{BF7FD25A-4BD6-48D4-A6E2-F5BFEFD42023}"/>
              </a:ext>
            </a:extLst>
          </p:cNvPr>
          <p:cNvSpPr>
            <a:spLocks xmlns:a="http://schemas.openxmlformats.org/drawingml/2006/main" noGrp="1"/>
          </p:cNvSpPr>
          <p:nvPr/>
        </p:nvSpPr>
        <p:spPr>
          <a:xfrm xmlns:a="http://schemas.openxmlformats.org/drawingml/2006/main">
            <a:off x="731520" y="3419856"/>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1" name="s16_rowlabel_10">
            <a:extLst xmlns:a="http://schemas.openxmlformats.org/drawingml/2006/main">
              <a:ext uri="{FF2B5EF4-FFF2-40B4-BE49-F238E27FC236}">
                <a16:creationId xmlns:a16="http://schemas.microsoft.com/office/drawing/2014/main" id="{C2E8845D-A931-430F-88EE-7C3284118A86}"/>
              </a:ext>
            </a:extLst>
          </p:cNvPr>
          <p:cNvSpPr>
            <a:spLocks xmlns:a="http://schemas.openxmlformats.org/drawingml/2006/main" noGrp="1"/>
          </p:cNvSpPr>
          <p:nvPr/>
        </p:nvSpPr>
        <p:spPr>
          <a:xfrm xmlns:a="http://schemas.openxmlformats.org/drawingml/2006/main">
            <a:off x="822960" y="3955669"/>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현장 확인</a:t>
            </a:r>
          </a:p>
        </p:txBody>
      </p:sp>
      <p:sp>
        <p:nvSpPr>
          <p:cNvPr id="12" name="s16_conclusion_11">
            <a:extLst xmlns:a="http://schemas.openxmlformats.org/drawingml/2006/main">
              <a:ext uri="{FF2B5EF4-FFF2-40B4-BE49-F238E27FC236}">
                <a16:creationId xmlns:a16="http://schemas.microsoft.com/office/drawing/2014/main" id="{7AFC6DC3-2619-49E1-9128-EE1AB7586EE5}"/>
              </a:ext>
            </a:extLst>
          </p:cNvPr>
          <p:cNvSpPr>
            <a:spLocks xmlns:a="http://schemas.openxmlformats.org/drawingml/2006/main" noGrp="1"/>
          </p:cNvSpPr>
          <p:nvPr/>
        </p:nvSpPr>
        <p:spPr>
          <a:xfrm xmlns:a="http://schemas.openxmlformats.org/drawingml/2006/main">
            <a:off x="3154680" y="3772218"/>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경찰이 아파트 지하 공간을 수색했다.</a:t>
            </a:r>
          </a:p>
        </p:txBody>
      </p:sp>
      <p:sp>
        <p:nvSpPr>
          <p:cNvPr id="13" name="s16_supplement_12">
            <a:extLst xmlns:a="http://schemas.openxmlformats.org/drawingml/2006/main">
              <a:ext uri="{FF2B5EF4-FFF2-40B4-BE49-F238E27FC236}">
                <a16:creationId xmlns:a16="http://schemas.microsoft.com/office/drawing/2014/main" id="{439181A3-ACF4-4A51-AEBC-F85BA8A3E1EE}"/>
              </a:ext>
            </a:extLst>
          </p:cNvPr>
          <p:cNvSpPr>
            <a:spLocks xmlns:a="http://schemas.openxmlformats.org/drawingml/2006/main" noGrp="1"/>
          </p:cNvSpPr>
          <p:nvPr/>
        </p:nvSpPr>
        <p:spPr>
          <a:xfrm xmlns:a="http://schemas.openxmlformats.org/drawingml/2006/main">
            <a:off x="3154680" y="4128326"/>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관제센터가 찾은 영상·동선을 현장 수색으로 연결했다.</a:t>
            </a:r>
          </a:p>
        </p:txBody>
      </p:sp>
      <p:sp>
        <p:nvSpPr>
          <p:cNvPr id="14" name="">
            <a:extLst xmlns:a="http://schemas.openxmlformats.org/drawingml/2006/main">
              <a:ext uri="{FF2B5EF4-FFF2-40B4-BE49-F238E27FC236}">
                <a16:creationId xmlns:a16="http://schemas.microsoft.com/office/drawing/2014/main" id="{2CF2F088-B0B0-4A88-B418-0C074C2CA025}"/>
              </a:ext>
            </a:extLst>
          </p:cNvPr>
          <p:cNvSpPr>
            <a:spLocks xmlns:a="http://schemas.openxmlformats.org/drawingml/2006/main" noGrp="1"/>
          </p:cNvSpPr>
          <p:nvPr/>
        </p:nvSpPr>
        <p:spPr>
          <a:xfrm xmlns:a="http://schemas.openxmlformats.org/drawingml/2006/main">
            <a:off x="731520" y="4782312"/>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5" name="s16_rowlabel_14">
            <a:extLst xmlns:a="http://schemas.openxmlformats.org/drawingml/2006/main">
              <a:ext uri="{FF2B5EF4-FFF2-40B4-BE49-F238E27FC236}">
                <a16:creationId xmlns:a16="http://schemas.microsoft.com/office/drawing/2014/main" id="{DFFF7BB2-7674-4D42-AF6E-0D60412DBCE4}"/>
              </a:ext>
            </a:extLst>
          </p:cNvPr>
          <p:cNvSpPr>
            <a:spLocks xmlns:a="http://schemas.openxmlformats.org/drawingml/2006/main" noGrp="1"/>
          </p:cNvSpPr>
          <p:nvPr/>
        </p:nvSpPr>
        <p:spPr>
          <a:xfrm xmlns:a="http://schemas.openxmlformats.org/drawingml/2006/main">
            <a:off x="822960" y="5318125"/>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발견</a:t>
            </a:r>
          </a:p>
        </p:txBody>
      </p:sp>
      <p:sp>
        <p:nvSpPr>
          <p:cNvPr id="16" name="s16_conclusion_15">
            <a:extLst xmlns:a="http://schemas.openxmlformats.org/drawingml/2006/main">
              <a:ext uri="{FF2B5EF4-FFF2-40B4-BE49-F238E27FC236}">
                <a16:creationId xmlns:a16="http://schemas.microsoft.com/office/drawing/2014/main" id="{A6D3F28C-BFD1-4BCC-86BE-A71CEEE9E702}"/>
              </a:ext>
            </a:extLst>
          </p:cNvPr>
          <p:cNvSpPr>
            <a:spLocks xmlns:a="http://schemas.openxmlformats.org/drawingml/2006/main" noGrp="1"/>
          </p:cNvSpPr>
          <p:nvPr/>
        </p:nvSpPr>
        <p:spPr>
          <a:xfrm xmlns:a="http://schemas.openxmlformats.org/drawingml/2006/main">
            <a:off x="3154680" y="5134674"/>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아파트 지하 기계실에서 실종자를 찾았다.</a:t>
            </a:r>
          </a:p>
        </p:txBody>
      </p:sp>
      <p:sp>
        <p:nvSpPr>
          <p:cNvPr id="17" name="s16_supplement_16">
            <a:extLst xmlns:a="http://schemas.openxmlformats.org/drawingml/2006/main">
              <a:ext uri="{FF2B5EF4-FFF2-40B4-BE49-F238E27FC236}">
                <a16:creationId xmlns:a16="http://schemas.microsoft.com/office/drawing/2014/main" id="{2EE216E8-65F6-4B57-95A9-E5260B55954A}"/>
              </a:ext>
            </a:extLst>
          </p:cNvPr>
          <p:cNvSpPr>
            <a:spLocks xmlns:a="http://schemas.openxmlformats.org/drawingml/2006/main" noGrp="1"/>
          </p:cNvSpPr>
          <p:nvPr/>
        </p:nvSpPr>
        <p:spPr>
          <a:xfrm xmlns:a="http://schemas.openxmlformats.org/drawingml/2006/main">
            <a:off x="3154680" y="5490782"/>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AI 외형 검색, 관제요원의 확인, 경찰의 물리적 수색이 이어졌다.</a:t>
            </a:r>
          </a:p>
        </p:txBody>
      </p:sp>
      <p:sp>
        <p:nvSpPr>
          <p:cNvPr id="18" name="">
            <a:extLst xmlns:a="http://schemas.openxmlformats.org/drawingml/2006/main">
              <a:ext uri="{FF2B5EF4-FFF2-40B4-BE49-F238E27FC236}">
                <a16:creationId xmlns:a16="http://schemas.microsoft.com/office/drawing/2014/main" id="{20D67F9A-96B6-44B0-9128-540ABAADC18B}"/>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65307562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17_kicker_0">
            <a:extLst xmlns:a="http://schemas.openxmlformats.org/drawingml/2006/main">
              <a:ext uri="{FF2B5EF4-FFF2-40B4-BE49-F238E27FC236}">
                <a16:creationId xmlns:a16="http://schemas.microsoft.com/office/drawing/2014/main" id="{66F6E770-0CC0-4888-8E8F-EB4DB31C2958}"/>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현장 성과와 평가</a:t>
            </a:r>
          </a:p>
        </p:txBody>
      </p:sp>
      <p:sp>
        <p:nvSpPr>
          <p:cNvPr id="2" name="s17_next_1">
            <a:extLst xmlns:a="http://schemas.openxmlformats.org/drawingml/2006/main">
              <a:ext uri="{FF2B5EF4-FFF2-40B4-BE49-F238E27FC236}">
                <a16:creationId xmlns:a16="http://schemas.microsoft.com/office/drawing/2014/main" id="{A8E1B392-6877-4A90-B170-03EA540A92BE}"/>
              </a:ext>
            </a:extLst>
          </p:cNvPr>
          <p:cNvSpPr>
            <a:spLocks xmlns:a="http://schemas.openxmlformats.org/drawingml/2006/main" noGrp="1"/>
          </p:cNvSpPr>
          <p:nvPr/>
        </p:nvSpPr>
        <p:spPr>
          <a:xfrm xmlns:a="http://schemas.openxmlformats.org/drawingml/2006/main">
            <a:off x="6035040" y="384048"/>
            <a:ext cx="5422392"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defRPr sz="1050" b="0">
                <a:solidFill>
                  <a:srgbClr val="464D5C"/>
                </a:solidFill>
                <a:latin typeface="Pretendard"/>
                <a:ea typeface="Pretendard"/>
                <a:cs typeface="Pretendard"/>
              </a:defRPr>
              <a:spcBef>
                <a:spcPts val="0"/>
              </a:spcBef>
              <a:spcAft>
                <a:spcPts val="0"/>
              </a:spcAft>
            </a:pPr>
            <a:r>
              <a:rPr sz="1050" b="0">
                <a:solidFill>
                  <a:srgbClr val="464D5C"/>
                </a:solidFill>
                <a:latin typeface="Pretendard"/>
                <a:ea typeface="Pretendard"/>
                <a:cs typeface="Pretendard"/>
              </a:rPr>
              <a:t>다음  런던경찰의 1년 운영 실적</a:t>
            </a:r>
          </a:p>
        </p:txBody>
      </p:sp>
      <p:sp>
        <p:nvSpPr>
          <p:cNvPr id="3" name="s17_title_2">
            <a:extLst xmlns:a="http://schemas.openxmlformats.org/drawingml/2006/main">
              <a:ext uri="{FF2B5EF4-FFF2-40B4-BE49-F238E27FC236}">
                <a16:creationId xmlns:a16="http://schemas.microsoft.com/office/drawing/2014/main" id="{D645E5B6-66F5-4B38-9F32-13638C85F684}"/>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수배자를 찾아낸 런던의 경보</a:t>
            </a:r>
          </a:p>
        </p:txBody>
      </p:sp>
      <p:sp>
        <p:nvSpPr>
          <p:cNvPr id="4" name="">
            <a:extLst xmlns:a="http://schemas.openxmlformats.org/drawingml/2006/main">
              <a:ext uri="{FF2B5EF4-FFF2-40B4-BE49-F238E27FC236}">
                <a16:creationId xmlns:a16="http://schemas.microsoft.com/office/drawing/2014/main" id="{0F57B90A-56F8-478E-9285-A7C921253955}"/>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17_band_4">
            <a:extLst xmlns:a="http://schemas.openxmlformats.org/drawingml/2006/main">
              <a:ext uri="{FF2B5EF4-FFF2-40B4-BE49-F238E27FC236}">
                <a16:creationId xmlns:a16="http://schemas.microsoft.com/office/drawing/2014/main" id="{5F713C5D-CA1B-4DC5-8258-7F1E336C6B14}"/>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런던경찰의 2026년 2월 발표 · Mohamed Patel 사건</a:t>
            </a:r>
          </a:p>
        </p:txBody>
      </p:sp>
      <p:sp>
        <p:nvSpPr>
          <p:cNvPr id="6" name="">
            <a:extLst xmlns:a="http://schemas.openxmlformats.org/drawingml/2006/main">
              <a:ext uri="{FF2B5EF4-FFF2-40B4-BE49-F238E27FC236}">
                <a16:creationId xmlns:a16="http://schemas.microsoft.com/office/drawing/2014/main" id="{AE4C3B84-7729-41BD-B5F6-88BB9EBAF02A}"/>
              </a:ext>
            </a:extLst>
          </p:cNvPr>
          <p:cNvSpPr>
            <a:spLocks xmlns:a="http://schemas.openxmlformats.org/drawingml/2006/main" noGrp="1"/>
          </p:cNvSpPr>
          <p:nvPr/>
        </p:nvSpPr>
        <p:spPr>
          <a:xfrm xmlns:a="http://schemas.openxmlformats.org/drawingml/2006/main">
            <a:off x="731520" y="2057400"/>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7" name="s17_rowlabel_6">
            <a:extLst xmlns:a="http://schemas.openxmlformats.org/drawingml/2006/main">
              <a:ext uri="{FF2B5EF4-FFF2-40B4-BE49-F238E27FC236}">
                <a16:creationId xmlns:a16="http://schemas.microsoft.com/office/drawing/2014/main" id="{BDA36902-2868-434A-859B-7E93611A6848}"/>
              </a:ext>
            </a:extLst>
          </p:cNvPr>
          <p:cNvSpPr>
            <a:spLocks xmlns:a="http://schemas.openxmlformats.org/drawingml/2006/main" noGrp="1"/>
          </p:cNvSpPr>
          <p:nvPr/>
        </p:nvSpPr>
        <p:spPr>
          <a:xfrm xmlns:a="http://schemas.openxmlformats.org/drawingml/2006/main">
            <a:off x="822960" y="2593213"/>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2025.12.19</a:t>
            </a:r>
          </a:p>
        </p:txBody>
      </p:sp>
      <p:sp>
        <p:nvSpPr>
          <p:cNvPr id="8" name="s17_conclusion_7">
            <a:extLst xmlns:a="http://schemas.openxmlformats.org/drawingml/2006/main">
              <a:ext uri="{FF2B5EF4-FFF2-40B4-BE49-F238E27FC236}">
                <a16:creationId xmlns:a16="http://schemas.microsoft.com/office/drawing/2014/main" id="{BA6F3CD5-CDAC-408D-9839-57ED17DC9B74}"/>
              </a:ext>
            </a:extLst>
          </p:cNvPr>
          <p:cNvSpPr>
            <a:spLocks xmlns:a="http://schemas.openxmlformats.org/drawingml/2006/main" noGrp="1"/>
          </p:cNvSpPr>
          <p:nvPr/>
        </p:nvSpPr>
        <p:spPr>
          <a:xfrm xmlns:a="http://schemas.openxmlformats.org/drawingml/2006/main">
            <a:off x="3154680" y="2409762"/>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Dalston에서 실시간 얼굴인식 경보</a:t>
            </a:r>
          </a:p>
        </p:txBody>
      </p:sp>
      <p:sp>
        <p:nvSpPr>
          <p:cNvPr id="9" name="s17_supplement_8">
            <a:extLst xmlns:a="http://schemas.openxmlformats.org/drawingml/2006/main">
              <a:ext uri="{FF2B5EF4-FFF2-40B4-BE49-F238E27FC236}">
                <a16:creationId xmlns:a16="http://schemas.microsoft.com/office/drawing/2014/main" id="{AF0F17E2-44C0-422C-9E2F-0769720FD197}"/>
              </a:ext>
            </a:extLst>
          </p:cNvPr>
          <p:cNvSpPr>
            <a:spLocks xmlns:a="http://schemas.openxmlformats.org/drawingml/2006/main" noGrp="1"/>
          </p:cNvSpPr>
          <p:nvPr/>
        </p:nvSpPr>
        <p:spPr>
          <a:xfrm xmlns:a="http://schemas.openxmlformats.org/drawingml/2006/main">
            <a:off x="3154680" y="2765870"/>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법정 불출석으로 수배 중이던 Patel을 경찰이 찾아 체포했다.</a:t>
            </a:r>
          </a:p>
        </p:txBody>
      </p:sp>
      <p:sp>
        <p:nvSpPr>
          <p:cNvPr id="10" name="">
            <a:extLst xmlns:a="http://schemas.openxmlformats.org/drawingml/2006/main">
              <a:ext uri="{FF2B5EF4-FFF2-40B4-BE49-F238E27FC236}">
                <a16:creationId xmlns:a16="http://schemas.microsoft.com/office/drawing/2014/main" id="{5E025513-BCB9-46E4-BDAE-33608882190D}"/>
              </a:ext>
            </a:extLst>
          </p:cNvPr>
          <p:cNvSpPr>
            <a:spLocks xmlns:a="http://schemas.openxmlformats.org/drawingml/2006/main" noGrp="1"/>
          </p:cNvSpPr>
          <p:nvPr/>
        </p:nvSpPr>
        <p:spPr>
          <a:xfrm xmlns:a="http://schemas.openxmlformats.org/drawingml/2006/main">
            <a:off x="731520" y="3419856"/>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1" name="s17_rowlabel_10">
            <a:extLst xmlns:a="http://schemas.openxmlformats.org/drawingml/2006/main">
              <a:ext uri="{FF2B5EF4-FFF2-40B4-BE49-F238E27FC236}">
                <a16:creationId xmlns:a16="http://schemas.microsoft.com/office/drawing/2014/main" id="{8A8E6C45-0D48-45B3-A2EA-D21FB8929F3C}"/>
              </a:ext>
            </a:extLst>
          </p:cNvPr>
          <p:cNvSpPr>
            <a:spLocks xmlns:a="http://schemas.openxmlformats.org/drawingml/2006/main" noGrp="1"/>
          </p:cNvSpPr>
          <p:nvPr/>
        </p:nvSpPr>
        <p:spPr>
          <a:xfrm xmlns:a="http://schemas.openxmlformats.org/drawingml/2006/main">
            <a:off x="822960" y="3955669"/>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2025.12.20</a:t>
            </a:r>
          </a:p>
        </p:txBody>
      </p:sp>
      <p:sp>
        <p:nvSpPr>
          <p:cNvPr id="12" name="s17_conclusion_11">
            <a:extLst xmlns:a="http://schemas.openxmlformats.org/drawingml/2006/main">
              <a:ext uri="{FF2B5EF4-FFF2-40B4-BE49-F238E27FC236}">
                <a16:creationId xmlns:a16="http://schemas.microsoft.com/office/drawing/2014/main" id="{F9EA357E-9B40-4252-A67F-CAD0D5DB162A}"/>
              </a:ext>
            </a:extLst>
          </p:cNvPr>
          <p:cNvSpPr>
            <a:spLocks xmlns:a="http://schemas.openxmlformats.org/drawingml/2006/main" noGrp="1"/>
          </p:cNvSpPr>
          <p:nvPr/>
        </p:nvSpPr>
        <p:spPr>
          <a:xfrm xmlns:a="http://schemas.openxmlformats.org/drawingml/2006/main">
            <a:off x="3154680" y="3772218"/>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피고인이 유죄를 인정</a:t>
            </a:r>
          </a:p>
        </p:txBody>
      </p:sp>
      <p:sp>
        <p:nvSpPr>
          <p:cNvPr id="13" name="s17_supplement_12">
            <a:extLst xmlns:a="http://schemas.openxmlformats.org/drawingml/2006/main">
              <a:ext uri="{FF2B5EF4-FFF2-40B4-BE49-F238E27FC236}">
                <a16:creationId xmlns:a16="http://schemas.microsoft.com/office/drawing/2014/main" id="{6B9BAFCE-7A4C-4F9A-9721-ED57A75DFC67}"/>
              </a:ext>
            </a:extLst>
          </p:cNvPr>
          <p:cNvSpPr>
            <a:spLocks xmlns:a="http://schemas.openxmlformats.org/drawingml/2006/main" noGrp="1"/>
          </p:cNvSpPr>
          <p:nvPr/>
        </p:nvSpPr>
        <p:spPr>
          <a:xfrm xmlns:a="http://schemas.openxmlformats.org/drawingml/2006/main">
            <a:off x="3154680" y="4128326"/>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경찰 발표는 체포 뒤 재판 진행을 함께 전했다.</a:t>
            </a:r>
          </a:p>
        </p:txBody>
      </p:sp>
      <p:sp>
        <p:nvSpPr>
          <p:cNvPr id="14" name="">
            <a:extLst xmlns:a="http://schemas.openxmlformats.org/drawingml/2006/main">
              <a:ext uri="{FF2B5EF4-FFF2-40B4-BE49-F238E27FC236}">
                <a16:creationId xmlns:a16="http://schemas.microsoft.com/office/drawing/2014/main" id="{6A16B211-48BF-4061-8ED2-CB826C5FBBE3}"/>
              </a:ext>
            </a:extLst>
          </p:cNvPr>
          <p:cNvSpPr>
            <a:spLocks xmlns:a="http://schemas.openxmlformats.org/drawingml/2006/main" noGrp="1"/>
          </p:cNvSpPr>
          <p:nvPr/>
        </p:nvSpPr>
        <p:spPr>
          <a:xfrm xmlns:a="http://schemas.openxmlformats.org/drawingml/2006/main">
            <a:off x="731520" y="4782312"/>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5" name="s17_rowlabel_14">
            <a:extLst xmlns:a="http://schemas.openxmlformats.org/drawingml/2006/main">
              <a:ext uri="{FF2B5EF4-FFF2-40B4-BE49-F238E27FC236}">
                <a16:creationId xmlns:a16="http://schemas.microsoft.com/office/drawing/2014/main" id="{D32E8C6C-6F1F-45B7-9254-CB5D26D1490C}"/>
              </a:ext>
            </a:extLst>
          </p:cNvPr>
          <p:cNvSpPr>
            <a:spLocks xmlns:a="http://schemas.openxmlformats.org/drawingml/2006/main" noGrp="1"/>
          </p:cNvSpPr>
          <p:nvPr/>
        </p:nvSpPr>
        <p:spPr>
          <a:xfrm xmlns:a="http://schemas.openxmlformats.org/drawingml/2006/main">
            <a:off x="822960" y="5318125"/>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2026.02.02</a:t>
            </a:r>
          </a:p>
        </p:txBody>
      </p:sp>
      <p:sp>
        <p:nvSpPr>
          <p:cNvPr id="16" name="s17_conclusion_15">
            <a:extLst xmlns:a="http://schemas.openxmlformats.org/drawingml/2006/main">
              <a:ext uri="{FF2B5EF4-FFF2-40B4-BE49-F238E27FC236}">
                <a16:creationId xmlns:a16="http://schemas.microsoft.com/office/drawing/2014/main" id="{68A0DFC4-9E43-4B52-9F35-CF06462472D0}"/>
              </a:ext>
            </a:extLst>
          </p:cNvPr>
          <p:cNvSpPr>
            <a:spLocks xmlns:a="http://schemas.openxmlformats.org/drawingml/2006/main" noGrp="1"/>
          </p:cNvSpPr>
          <p:nvPr/>
        </p:nvSpPr>
        <p:spPr>
          <a:xfrm xmlns:a="http://schemas.openxmlformats.org/drawingml/2006/main">
            <a:off x="3154680" y="5134674"/>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징역 12개월·집행유예 12개월 선고</a:t>
            </a:r>
          </a:p>
        </p:txBody>
      </p:sp>
      <p:sp>
        <p:nvSpPr>
          <p:cNvPr id="17" name="s17_supplement_16">
            <a:extLst xmlns:a="http://schemas.openxmlformats.org/drawingml/2006/main">
              <a:ext uri="{FF2B5EF4-FFF2-40B4-BE49-F238E27FC236}">
                <a16:creationId xmlns:a16="http://schemas.microsoft.com/office/drawing/2014/main" id="{817A9C3B-4CEF-4B5F-B8F4-A1FF717820D3}"/>
              </a:ext>
            </a:extLst>
          </p:cNvPr>
          <p:cNvSpPr>
            <a:spLocks xmlns:a="http://schemas.openxmlformats.org/drawingml/2006/main" noGrp="1"/>
          </p:cNvSpPr>
          <p:nvPr/>
        </p:nvSpPr>
        <p:spPr>
          <a:xfrm xmlns:a="http://schemas.openxmlformats.org/drawingml/2006/main">
            <a:off x="3154680" y="5490782"/>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경찰 발표는 체포와 유죄 인정·선고까지 사건의 경과를 연결했다.</a:t>
            </a:r>
          </a:p>
        </p:txBody>
      </p:sp>
      <p:sp>
        <p:nvSpPr>
          <p:cNvPr id="18" name="">
            <a:extLst xmlns:a="http://schemas.openxmlformats.org/drawingml/2006/main">
              <a:ext uri="{FF2B5EF4-FFF2-40B4-BE49-F238E27FC236}">
                <a16:creationId xmlns:a16="http://schemas.microsoft.com/office/drawing/2014/main" id="{46893B9C-1DA4-4E7D-A4EA-33E119CF70F7}"/>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213633304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18_kicker_0">
            <a:extLst xmlns:a="http://schemas.openxmlformats.org/drawingml/2006/main">
              <a:ext uri="{FF2B5EF4-FFF2-40B4-BE49-F238E27FC236}">
                <a16:creationId xmlns:a16="http://schemas.microsoft.com/office/drawing/2014/main" id="{CEC022DC-7503-4D20-8EF8-97963F0A1585}"/>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현장 성과와 평가</a:t>
            </a:r>
          </a:p>
        </p:txBody>
      </p:sp>
      <p:sp>
        <p:nvSpPr>
          <p:cNvPr id="2" name="s18_next_1">
            <a:extLst xmlns:a="http://schemas.openxmlformats.org/drawingml/2006/main">
              <a:ext uri="{FF2B5EF4-FFF2-40B4-BE49-F238E27FC236}">
                <a16:creationId xmlns:a16="http://schemas.microsoft.com/office/drawing/2014/main" id="{8F5DF337-1DC7-4120-8F5A-79B8867C3204}"/>
              </a:ext>
            </a:extLst>
          </p:cNvPr>
          <p:cNvSpPr>
            <a:spLocks xmlns:a="http://schemas.openxmlformats.org/drawingml/2006/main" noGrp="1"/>
          </p:cNvSpPr>
          <p:nvPr/>
        </p:nvSpPr>
        <p:spPr>
          <a:xfrm xmlns:a="http://schemas.openxmlformats.org/drawingml/2006/main">
            <a:off x="6035040" y="384048"/>
            <a:ext cx="5422392"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defRPr sz="1050" b="0">
                <a:solidFill>
                  <a:srgbClr val="464D5C"/>
                </a:solidFill>
                <a:latin typeface="Pretendard"/>
                <a:ea typeface="Pretendard"/>
                <a:cs typeface="Pretendard"/>
              </a:defRPr>
              <a:spcBef>
                <a:spcPts val="0"/>
              </a:spcBef>
              <a:spcAft>
                <a:spcPts val="0"/>
              </a:spcAft>
            </a:pPr>
            <a:r>
              <a:rPr sz="1050" b="0">
                <a:solidFill>
                  <a:srgbClr val="464D5C"/>
                </a:solidFill>
                <a:latin typeface="Pretendard"/>
                <a:ea typeface="Pretendard"/>
                <a:cs typeface="Pretendard"/>
              </a:rPr>
              <a:t>다음  오경보 뒤 실제 접촉</a:t>
            </a:r>
          </a:p>
        </p:txBody>
      </p:sp>
      <p:sp>
        <p:nvSpPr>
          <p:cNvPr id="3" name="s18_title_2">
            <a:extLst xmlns:a="http://schemas.openxmlformats.org/drawingml/2006/main">
              <a:ext uri="{FF2B5EF4-FFF2-40B4-BE49-F238E27FC236}">
                <a16:creationId xmlns:a16="http://schemas.microsoft.com/office/drawing/2014/main" id="{C5D02819-2233-4199-8867-02FA7AAD86EC}"/>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런던경찰의 1년 운영 실적</a:t>
            </a:r>
          </a:p>
        </p:txBody>
      </p:sp>
      <p:sp>
        <p:nvSpPr>
          <p:cNvPr id="4" name="">
            <a:extLst xmlns:a="http://schemas.openxmlformats.org/drawingml/2006/main">
              <a:ext uri="{FF2B5EF4-FFF2-40B4-BE49-F238E27FC236}">
                <a16:creationId xmlns:a16="http://schemas.microsoft.com/office/drawing/2014/main" id="{53F3954F-C9E8-4BAD-BC40-E508426C8AEB}"/>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18_band_4">
            <a:extLst xmlns:a="http://schemas.openxmlformats.org/drawingml/2006/main">
              <a:ext uri="{FF2B5EF4-FFF2-40B4-BE49-F238E27FC236}">
                <a16:creationId xmlns:a16="http://schemas.microsoft.com/office/drawing/2014/main" id="{91B5D4FF-3FDF-4401-ABD0-9E681373F27F}"/>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2024.09.11–2025.09.10 · 런던경찰 자체 집계</a:t>
            </a:r>
          </a:p>
        </p:txBody>
      </p:sp>
      <p:sp>
        <p:nvSpPr>
          <p:cNvPr id="6" name="">
            <a:extLst xmlns:a="http://schemas.openxmlformats.org/drawingml/2006/main">
              <a:ext uri="{FF2B5EF4-FFF2-40B4-BE49-F238E27FC236}">
                <a16:creationId xmlns:a16="http://schemas.microsoft.com/office/drawing/2014/main" id="{2919896E-EBD8-47D8-9BED-36B574408B93}"/>
              </a:ext>
            </a:extLst>
          </p:cNvPr>
          <p:cNvSpPr>
            <a:spLocks xmlns:a="http://schemas.openxmlformats.org/drawingml/2006/main" noGrp="1"/>
          </p:cNvSpPr>
          <p:nvPr/>
        </p:nvSpPr>
        <p:spPr>
          <a:xfrm xmlns:a="http://schemas.openxmlformats.org/drawingml/2006/main">
            <a:off x="731520" y="2057400"/>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7" name="s18_body_6">
            <a:extLst xmlns:a="http://schemas.openxmlformats.org/drawingml/2006/main">
              <a:ext uri="{FF2B5EF4-FFF2-40B4-BE49-F238E27FC236}">
                <a16:creationId xmlns:a16="http://schemas.microsoft.com/office/drawing/2014/main" id="{43019E27-1BEB-45FD-902B-918C8E52064A}"/>
              </a:ext>
            </a:extLst>
          </p:cNvPr>
          <p:cNvSpPr>
            <a:spLocks xmlns:a="http://schemas.openxmlformats.org/drawingml/2006/main" noGrp="1"/>
          </p:cNvSpPr>
          <p:nvPr/>
        </p:nvSpPr>
        <p:spPr>
          <a:xfrm xmlns:a="http://schemas.openxmlformats.org/drawingml/2006/main">
            <a:off x="731520" y="2423160"/>
            <a:ext cx="3392424"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얼굴 통과</a:t>
            </a:r>
          </a:p>
        </p:txBody>
      </p:sp>
      <p:sp>
        <p:nvSpPr>
          <p:cNvPr id="8" name="s18_body_7">
            <a:extLst xmlns:a="http://schemas.openxmlformats.org/drawingml/2006/main">
              <a:ext uri="{FF2B5EF4-FFF2-40B4-BE49-F238E27FC236}">
                <a16:creationId xmlns:a16="http://schemas.microsoft.com/office/drawing/2014/main" id="{6159B5F3-34FD-453D-9C6A-680192CF67CB}"/>
              </a:ext>
            </a:extLst>
          </p:cNvPr>
          <p:cNvSpPr>
            <a:spLocks xmlns:a="http://schemas.openxmlformats.org/drawingml/2006/main" noGrp="1"/>
          </p:cNvSpPr>
          <p:nvPr/>
        </p:nvSpPr>
        <p:spPr>
          <a:xfrm xmlns:a="http://schemas.openxmlformats.org/drawingml/2006/main">
            <a:off x="731520" y="2971800"/>
            <a:ext cx="3392424" cy="3874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250" b="1">
                <a:solidFill>
                  <a:srgbClr val="1E2761"/>
                </a:solidFill>
                <a:latin typeface="Pretendard"/>
                <a:ea typeface="Pretendard"/>
                <a:cs typeface="Pretendard"/>
              </a:defRPr>
              <a:spcBef>
                <a:spcPts val="0"/>
              </a:spcBef>
              <a:spcAft>
                <a:spcPts val="0"/>
              </a:spcAft>
            </a:pPr>
            <a:r>
              <a:rPr sz="2250" b="1">
                <a:solidFill>
                  <a:srgbClr val="1E2761"/>
                </a:solidFill>
                <a:latin typeface="Pretendard"/>
                <a:ea typeface="Pretendard"/>
                <a:cs typeface="Pretendard"/>
              </a:rPr>
              <a:t>3,147,436회</a:t>
            </a:r>
          </a:p>
        </p:txBody>
      </p:sp>
      <p:sp>
        <p:nvSpPr>
          <p:cNvPr id="9" name="s18_body_8">
            <a:extLst xmlns:a="http://schemas.openxmlformats.org/drawingml/2006/main">
              <a:ext uri="{FF2B5EF4-FFF2-40B4-BE49-F238E27FC236}">
                <a16:creationId xmlns:a16="http://schemas.microsoft.com/office/drawing/2014/main" id="{1638637F-2EC5-406A-821B-74D6C0A18706}"/>
              </a:ext>
            </a:extLst>
          </p:cNvPr>
          <p:cNvSpPr>
            <a:spLocks xmlns:a="http://schemas.openxmlformats.org/drawingml/2006/main" noGrp="1"/>
          </p:cNvSpPr>
          <p:nvPr/>
        </p:nvSpPr>
        <p:spPr>
          <a:xfrm xmlns:a="http://schemas.openxmlformats.org/drawingml/2006/main">
            <a:off x="731520" y="3706749"/>
            <a:ext cx="3392424"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동일인의 반복 통과를 포함한 추정 횟수</a:t>
            </a:r>
          </a:p>
        </p:txBody>
      </p:sp>
      <p:sp>
        <p:nvSpPr>
          <p:cNvPr id="10" name="s18_body_9">
            <a:extLst xmlns:a="http://schemas.openxmlformats.org/drawingml/2006/main">
              <a:ext uri="{FF2B5EF4-FFF2-40B4-BE49-F238E27FC236}">
                <a16:creationId xmlns:a16="http://schemas.microsoft.com/office/drawing/2014/main" id="{C67A6C57-A7C4-4441-BFE6-000C590E4564}"/>
              </a:ext>
            </a:extLst>
          </p:cNvPr>
          <p:cNvSpPr>
            <a:spLocks xmlns:a="http://schemas.openxmlformats.org/drawingml/2006/main" noGrp="1"/>
          </p:cNvSpPr>
          <p:nvPr/>
        </p:nvSpPr>
        <p:spPr>
          <a:xfrm xmlns:a="http://schemas.openxmlformats.org/drawingml/2006/main">
            <a:off x="4398264" y="2423160"/>
            <a:ext cx="3392424"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경보</a:t>
            </a:r>
          </a:p>
        </p:txBody>
      </p:sp>
      <p:sp>
        <p:nvSpPr>
          <p:cNvPr id="11" name="s18_body_10">
            <a:extLst xmlns:a="http://schemas.openxmlformats.org/drawingml/2006/main">
              <a:ext uri="{FF2B5EF4-FFF2-40B4-BE49-F238E27FC236}">
                <a16:creationId xmlns:a16="http://schemas.microsoft.com/office/drawing/2014/main" id="{FAF61A97-D771-4081-9EEB-0288917018D5}"/>
              </a:ext>
            </a:extLst>
          </p:cNvPr>
          <p:cNvSpPr>
            <a:spLocks xmlns:a="http://schemas.openxmlformats.org/drawingml/2006/main" noGrp="1"/>
          </p:cNvSpPr>
          <p:nvPr/>
        </p:nvSpPr>
        <p:spPr>
          <a:xfrm xmlns:a="http://schemas.openxmlformats.org/drawingml/2006/main">
            <a:off x="4398264" y="2971800"/>
            <a:ext cx="3392424" cy="3874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250" b="1">
                <a:solidFill>
                  <a:srgbClr val="1E2761"/>
                </a:solidFill>
                <a:latin typeface="Pretendard"/>
                <a:ea typeface="Pretendard"/>
                <a:cs typeface="Pretendard"/>
              </a:defRPr>
              <a:spcBef>
                <a:spcPts val="0"/>
              </a:spcBef>
              <a:spcAft>
                <a:spcPts val="0"/>
              </a:spcAft>
            </a:pPr>
            <a:r>
              <a:rPr sz="2250" b="1">
                <a:solidFill>
                  <a:srgbClr val="1E2761"/>
                </a:solidFill>
                <a:latin typeface="Pretendard"/>
                <a:ea typeface="Pretendard"/>
                <a:cs typeface="Pretendard"/>
              </a:rPr>
              <a:t>2,077건</a:t>
            </a:r>
          </a:p>
        </p:txBody>
      </p:sp>
      <p:sp>
        <p:nvSpPr>
          <p:cNvPr id="12" name="s18_body_11">
            <a:extLst xmlns:a="http://schemas.openxmlformats.org/drawingml/2006/main">
              <a:ext uri="{FF2B5EF4-FFF2-40B4-BE49-F238E27FC236}">
                <a16:creationId xmlns:a16="http://schemas.microsoft.com/office/drawing/2014/main" id="{8A4764B0-1A9C-4A2A-BC6E-BC1F83A0215C}"/>
              </a:ext>
            </a:extLst>
          </p:cNvPr>
          <p:cNvSpPr>
            <a:spLocks xmlns:a="http://schemas.openxmlformats.org/drawingml/2006/main" noGrp="1"/>
          </p:cNvSpPr>
          <p:nvPr/>
        </p:nvSpPr>
        <p:spPr>
          <a:xfrm xmlns:a="http://schemas.openxmlformats.org/drawingml/2006/main">
            <a:off x="4398264" y="3706749"/>
            <a:ext cx="3392424"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진경보 2,067건 · 오경보 10건</a:t>
            </a:r>
          </a:p>
        </p:txBody>
      </p:sp>
      <p:sp>
        <p:nvSpPr>
          <p:cNvPr id="13" name="s18_body_12">
            <a:extLst xmlns:a="http://schemas.openxmlformats.org/drawingml/2006/main">
              <a:ext uri="{FF2B5EF4-FFF2-40B4-BE49-F238E27FC236}">
                <a16:creationId xmlns:a16="http://schemas.microsoft.com/office/drawing/2014/main" id="{FF9A671B-601A-440E-A791-7F8723D261DC}"/>
              </a:ext>
            </a:extLst>
          </p:cNvPr>
          <p:cNvSpPr>
            <a:spLocks xmlns:a="http://schemas.openxmlformats.org/drawingml/2006/main" noGrp="1"/>
          </p:cNvSpPr>
          <p:nvPr/>
        </p:nvSpPr>
        <p:spPr>
          <a:xfrm xmlns:a="http://schemas.openxmlformats.org/drawingml/2006/main">
            <a:off x="8065008" y="2423160"/>
            <a:ext cx="3392424"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체포</a:t>
            </a:r>
          </a:p>
        </p:txBody>
      </p:sp>
      <p:sp>
        <p:nvSpPr>
          <p:cNvPr id="14" name="s18_body_13">
            <a:extLst xmlns:a="http://schemas.openxmlformats.org/drawingml/2006/main">
              <a:ext uri="{FF2B5EF4-FFF2-40B4-BE49-F238E27FC236}">
                <a16:creationId xmlns:a16="http://schemas.microsoft.com/office/drawing/2014/main" id="{2001BED6-8B35-4EB3-8C08-131108539C61}"/>
              </a:ext>
            </a:extLst>
          </p:cNvPr>
          <p:cNvSpPr>
            <a:spLocks xmlns:a="http://schemas.openxmlformats.org/drawingml/2006/main" noGrp="1"/>
          </p:cNvSpPr>
          <p:nvPr/>
        </p:nvSpPr>
        <p:spPr>
          <a:xfrm xmlns:a="http://schemas.openxmlformats.org/drawingml/2006/main">
            <a:off x="8065008" y="2971800"/>
            <a:ext cx="3392424" cy="3874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250" b="1">
                <a:solidFill>
                  <a:srgbClr val="1E2761"/>
                </a:solidFill>
                <a:latin typeface="Pretendard"/>
                <a:ea typeface="Pretendard"/>
                <a:cs typeface="Pretendard"/>
              </a:defRPr>
              <a:spcBef>
                <a:spcPts val="0"/>
              </a:spcBef>
              <a:spcAft>
                <a:spcPts val="0"/>
              </a:spcAft>
            </a:pPr>
            <a:r>
              <a:rPr sz="2250" b="1">
                <a:solidFill>
                  <a:srgbClr val="1E2761"/>
                </a:solidFill>
                <a:latin typeface="Pretendard"/>
                <a:ea typeface="Pretendard"/>
                <a:cs typeface="Pretendard"/>
              </a:rPr>
              <a:t>962건</a:t>
            </a:r>
          </a:p>
        </p:txBody>
      </p:sp>
      <p:sp>
        <p:nvSpPr>
          <p:cNvPr id="15" name="s18_body_14">
            <a:extLst xmlns:a="http://schemas.openxmlformats.org/drawingml/2006/main">
              <a:ext uri="{FF2B5EF4-FFF2-40B4-BE49-F238E27FC236}">
                <a16:creationId xmlns:a16="http://schemas.microsoft.com/office/drawing/2014/main" id="{EE3B2918-6F90-45BE-B4C3-E1AD97EE617C}"/>
              </a:ext>
            </a:extLst>
          </p:cNvPr>
          <p:cNvSpPr>
            <a:spLocks xmlns:a="http://schemas.openxmlformats.org/drawingml/2006/main" noGrp="1"/>
          </p:cNvSpPr>
          <p:nvPr/>
        </p:nvSpPr>
        <p:spPr>
          <a:xfrm xmlns:a="http://schemas.openxmlformats.org/drawingml/2006/main">
            <a:off x="8065008" y="3706749"/>
            <a:ext cx="3392424"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경보 이후 현장 확인·조치의 결과</a:t>
            </a:r>
          </a:p>
        </p:txBody>
      </p:sp>
      <p:sp>
        <p:nvSpPr>
          <p:cNvPr id="16" name="s18_scope_15">
            <a:extLst xmlns:a="http://schemas.openxmlformats.org/drawingml/2006/main">
              <a:ext uri="{FF2B5EF4-FFF2-40B4-BE49-F238E27FC236}">
                <a16:creationId xmlns:a16="http://schemas.microsoft.com/office/drawing/2014/main" id="{AAEDB7E0-7805-4632-8A03-262C5062DBE7}"/>
              </a:ext>
            </a:extLst>
          </p:cNvPr>
          <p:cNvSpPr>
            <a:spLocks xmlns:a="http://schemas.openxmlformats.org/drawingml/2006/main" noGrp="1"/>
          </p:cNvSpPr>
          <p:nvPr/>
        </p:nvSpPr>
        <p:spPr>
          <a:xfrm xmlns:a="http://schemas.openxmlformats.org/drawingml/2006/main">
            <a:off x="731520" y="5878068"/>
            <a:ext cx="10725912" cy="2301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00" b="0">
                <a:solidFill>
                  <a:srgbClr val="A8871C"/>
                </a:solidFill>
                <a:latin typeface="Pretendard"/>
                <a:ea typeface="Pretendard"/>
                <a:cs typeface="Pretendard"/>
              </a:defRPr>
              <a:spcBef>
                <a:spcPts val="0"/>
              </a:spcBef>
              <a:spcAft>
                <a:spcPts val="0"/>
              </a:spcAft>
            </a:pPr>
            <a:r>
              <a:rPr sz="1200" b="0">
                <a:solidFill>
                  <a:srgbClr val="A8871C"/>
                </a:solidFill>
                <a:latin typeface="Pretendard"/>
                <a:ea typeface="Pretendard"/>
                <a:cs typeface="Pretendard"/>
              </a:rPr>
              <a:t>배치: 범죄다발지역 203회 + 행사보안 4회</a:t>
            </a:r>
          </a:p>
        </p:txBody>
      </p:sp>
      <p:sp>
        <p:nvSpPr>
          <p:cNvPr id="17" name="">
            <a:extLst xmlns:a="http://schemas.openxmlformats.org/drawingml/2006/main">
              <a:ext uri="{FF2B5EF4-FFF2-40B4-BE49-F238E27FC236}">
                <a16:creationId xmlns:a16="http://schemas.microsoft.com/office/drawing/2014/main" id="{EEC98355-03A7-4344-BC5D-78EC6D43C865}"/>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138515304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19_kicker_0">
            <a:extLst xmlns:a="http://schemas.openxmlformats.org/drawingml/2006/main">
              <a:ext uri="{FF2B5EF4-FFF2-40B4-BE49-F238E27FC236}">
                <a16:creationId xmlns:a16="http://schemas.microsoft.com/office/drawing/2014/main" id="{FE297E26-D395-4237-B791-877CA035CB9C}"/>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현장 성과와 평가</a:t>
            </a:r>
          </a:p>
        </p:txBody>
      </p:sp>
      <p:sp>
        <p:nvSpPr>
          <p:cNvPr id="2" name="s19_next_1">
            <a:extLst xmlns:a="http://schemas.openxmlformats.org/drawingml/2006/main">
              <a:ext uri="{FF2B5EF4-FFF2-40B4-BE49-F238E27FC236}">
                <a16:creationId xmlns:a16="http://schemas.microsoft.com/office/drawing/2014/main" id="{F7669B4D-873C-4045-82E5-7C46B8F137E8}"/>
              </a:ext>
            </a:extLst>
          </p:cNvPr>
          <p:cNvSpPr>
            <a:spLocks xmlns:a="http://schemas.openxmlformats.org/drawingml/2006/main" noGrp="1"/>
          </p:cNvSpPr>
          <p:nvPr/>
        </p:nvSpPr>
        <p:spPr>
          <a:xfrm xmlns:a="http://schemas.openxmlformats.org/drawingml/2006/main">
            <a:off x="6035040" y="384048"/>
            <a:ext cx="5422392"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defRPr sz="1050" b="0">
                <a:solidFill>
                  <a:srgbClr val="464D5C"/>
                </a:solidFill>
                <a:latin typeface="Pretendard"/>
                <a:ea typeface="Pretendard"/>
                <a:cs typeface="Pretendard"/>
              </a:defRPr>
              <a:spcBef>
                <a:spcPts val="0"/>
              </a:spcBef>
              <a:spcAft>
                <a:spcPts val="0"/>
              </a:spcAft>
            </a:pPr>
            <a:r>
              <a:rPr sz="1050" b="0">
                <a:solidFill>
                  <a:srgbClr val="464D5C"/>
                </a:solidFill>
                <a:latin typeface="Pretendard"/>
                <a:ea typeface="Pretendard"/>
                <a:cs typeface="Pretendard"/>
              </a:rPr>
              <a:t>다음  분모가 바꾸는 오류 수치</a:t>
            </a:r>
          </a:p>
        </p:txBody>
      </p:sp>
      <p:sp>
        <p:nvSpPr>
          <p:cNvPr id="3" name="s19_title_2">
            <a:extLst xmlns:a="http://schemas.openxmlformats.org/drawingml/2006/main">
              <a:ext uri="{FF2B5EF4-FFF2-40B4-BE49-F238E27FC236}">
                <a16:creationId xmlns:a16="http://schemas.microsoft.com/office/drawing/2014/main" id="{94D5FFA5-901F-4293-98E1-713D3C776F86}"/>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오경보 뒤 실제 접촉</a:t>
            </a:r>
          </a:p>
        </p:txBody>
      </p:sp>
      <p:sp>
        <p:nvSpPr>
          <p:cNvPr id="4" name="">
            <a:extLst xmlns:a="http://schemas.openxmlformats.org/drawingml/2006/main">
              <a:ext uri="{FF2B5EF4-FFF2-40B4-BE49-F238E27FC236}">
                <a16:creationId xmlns:a16="http://schemas.microsoft.com/office/drawing/2014/main" id="{864C6458-AD1B-408C-A6E4-D5718EAB390D}"/>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19_band_4">
            <a:extLst xmlns:a="http://schemas.openxmlformats.org/drawingml/2006/main">
              <a:ext uri="{FF2B5EF4-FFF2-40B4-BE49-F238E27FC236}">
                <a16:creationId xmlns:a16="http://schemas.microsoft.com/office/drawing/2014/main" id="{33379854-E232-42CF-8FB5-54A98BA36F91}"/>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같은 런던경찰 연간 보고 · 2024.09.11–2025.09.10</a:t>
            </a:r>
          </a:p>
        </p:txBody>
      </p:sp>
      <p:sp>
        <p:nvSpPr>
          <p:cNvPr id="6" name="">
            <a:extLst xmlns:a="http://schemas.openxmlformats.org/drawingml/2006/main">
              <a:ext uri="{FF2B5EF4-FFF2-40B4-BE49-F238E27FC236}">
                <a16:creationId xmlns:a16="http://schemas.microsoft.com/office/drawing/2014/main" id="{2F973E0B-E041-43AB-B8C7-1C9CFF783A53}"/>
              </a:ext>
            </a:extLst>
          </p:cNvPr>
          <p:cNvSpPr>
            <a:spLocks xmlns:a="http://schemas.openxmlformats.org/drawingml/2006/main" noGrp="1"/>
          </p:cNvSpPr>
          <p:nvPr/>
        </p:nvSpPr>
        <p:spPr>
          <a:xfrm xmlns:a="http://schemas.openxmlformats.org/drawingml/2006/main">
            <a:off x="731520" y="2057400"/>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7" name="s19_body_6">
            <a:extLst xmlns:a="http://schemas.openxmlformats.org/drawingml/2006/main">
              <a:ext uri="{FF2B5EF4-FFF2-40B4-BE49-F238E27FC236}">
                <a16:creationId xmlns:a16="http://schemas.microsoft.com/office/drawing/2014/main" id="{6FA26CEA-4319-44EA-A449-7AE0635924E6}"/>
              </a:ext>
            </a:extLst>
          </p:cNvPr>
          <p:cNvSpPr>
            <a:spLocks xmlns:a="http://schemas.openxmlformats.org/drawingml/2006/main" noGrp="1"/>
          </p:cNvSpPr>
          <p:nvPr/>
        </p:nvSpPr>
        <p:spPr>
          <a:xfrm xmlns:a="http://schemas.openxmlformats.org/drawingml/2006/main">
            <a:off x="731520" y="2377440"/>
            <a:ext cx="3355848"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A8871C"/>
                </a:solidFill>
                <a:latin typeface="Pretendard"/>
                <a:ea typeface="Pretendard"/>
                <a:cs typeface="Pretendard"/>
              </a:defRPr>
              <a:spcBef>
                <a:spcPts val="0"/>
              </a:spcBef>
              <a:spcAft>
                <a:spcPts val="0"/>
              </a:spcAft>
            </a:pPr>
            <a:r>
              <a:rPr sz="1300" b="1">
                <a:solidFill>
                  <a:srgbClr val="A8871C"/>
                </a:solidFill>
                <a:latin typeface="Pretendard"/>
                <a:ea typeface="Pretendard"/>
                <a:cs typeface="Pretendard"/>
              </a:rPr>
              <a:t>01</a:t>
            </a:r>
          </a:p>
        </p:txBody>
      </p:sp>
      <p:sp>
        <p:nvSpPr>
          <p:cNvPr id="8" name="s19_body_7">
            <a:extLst xmlns:a="http://schemas.openxmlformats.org/drawingml/2006/main">
              <a:ext uri="{FF2B5EF4-FFF2-40B4-BE49-F238E27FC236}">
                <a16:creationId xmlns:a16="http://schemas.microsoft.com/office/drawing/2014/main" id="{A8F99D87-4420-49EC-B210-B531263ECDA7}"/>
              </a:ext>
            </a:extLst>
          </p:cNvPr>
          <p:cNvSpPr>
            <a:spLocks xmlns:a="http://schemas.openxmlformats.org/drawingml/2006/main" noGrp="1"/>
          </p:cNvSpPr>
          <p:nvPr/>
        </p:nvSpPr>
        <p:spPr>
          <a:xfrm xmlns:a="http://schemas.openxmlformats.org/drawingml/2006/main">
            <a:off x="731520" y="2926080"/>
            <a:ext cx="3355848" cy="3874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250" b="1">
                <a:solidFill>
                  <a:srgbClr val="1E2761"/>
                </a:solidFill>
                <a:latin typeface="Pretendard"/>
                <a:ea typeface="Pretendard"/>
                <a:cs typeface="Pretendard"/>
              </a:defRPr>
              <a:spcBef>
                <a:spcPts val="0"/>
              </a:spcBef>
              <a:spcAft>
                <a:spcPts val="0"/>
              </a:spcAft>
            </a:pPr>
            <a:r>
              <a:rPr sz="2250" b="1">
                <a:solidFill>
                  <a:srgbClr val="1E2761"/>
                </a:solidFill>
                <a:latin typeface="Pretendard"/>
                <a:ea typeface="Pretendard"/>
                <a:cs typeface="Pretendard"/>
              </a:rPr>
              <a:t>오경보 10건</a:t>
            </a:r>
          </a:p>
        </p:txBody>
      </p:sp>
      <p:sp>
        <p:nvSpPr>
          <p:cNvPr id="9" name="s19_body_8">
            <a:extLst xmlns:a="http://schemas.openxmlformats.org/drawingml/2006/main">
              <a:ext uri="{FF2B5EF4-FFF2-40B4-BE49-F238E27FC236}">
                <a16:creationId xmlns:a16="http://schemas.microsoft.com/office/drawing/2014/main" id="{AB9B63AA-8376-4D95-85BA-803DEB0EB4CD}"/>
              </a:ext>
            </a:extLst>
          </p:cNvPr>
          <p:cNvSpPr>
            <a:spLocks xmlns:a="http://schemas.openxmlformats.org/drawingml/2006/main" noGrp="1"/>
          </p:cNvSpPr>
          <p:nvPr/>
        </p:nvSpPr>
        <p:spPr>
          <a:xfrm xmlns:a="http://schemas.openxmlformats.org/drawingml/2006/main">
            <a:off x="731520" y="3560445"/>
            <a:ext cx="3355848"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명단 인물과 다른 사람을 후보로 알렸다.</a:t>
            </a:r>
          </a:p>
        </p:txBody>
      </p:sp>
      <p:sp>
        <p:nvSpPr>
          <p:cNvPr id="10" name="s19_body_9">
            <a:extLst xmlns:a="http://schemas.openxmlformats.org/drawingml/2006/main">
              <a:ext uri="{FF2B5EF4-FFF2-40B4-BE49-F238E27FC236}">
                <a16:creationId xmlns:a16="http://schemas.microsoft.com/office/drawing/2014/main" id="{5324BC0C-14C4-4542-908A-8C4D2E2B3B1D}"/>
              </a:ext>
            </a:extLst>
          </p:cNvPr>
          <p:cNvSpPr>
            <a:spLocks xmlns:a="http://schemas.openxmlformats.org/drawingml/2006/main" noGrp="1"/>
          </p:cNvSpPr>
          <p:nvPr/>
        </p:nvSpPr>
        <p:spPr>
          <a:xfrm xmlns:a="http://schemas.openxmlformats.org/drawingml/2006/main">
            <a:off x="4416552" y="2377440"/>
            <a:ext cx="3355848"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A8871C"/>
                </a:solidFill>
                <a:latin typeface="Pretendard"/>
                <a:ea typeface="Pretendard"/>
                <a:cs typeface="Pretendard"/>
              </a:defRPr>
              <a:spcBef>
                <a:spcPts val="0"/>
              </a:spcBef>
              <a:spcAft>
                <a:spcPts val="0"/>
              </a:spcAft>
            </a:pPr>
            <a:r>
              <a:rPr sz="1300" b="1">
                <a:solidFill>
                  <a:srgbClr val="A8871C"/>
                </a:solidFill>
                <a:latin typeface="Pretendard"/>
                <a:ea typeface="Pretendard"/>
                <a:cs typeface="Pretendard"/>
              </a:rPr>
              <a:t>02</a:t>
            </a:r>
          </a:p>
        </p:txBody>
      </p:sp>
      <p:sp>
        <p:nvSpPr>
          <p:cNvPr id="11" name="s19_body_10">
            <a:extLst xmlns:a="http://schemas.openxmlformats.org/drawingml/2006/main">
              <a:ext uri="{FF2B5EF4-FFF2-40B4-BE49-F238E27FC236}">
                <a16:creationId xmlns:a16="http://schemas.microsoft.com/office/drawing/2014/main" id="{525B1D4E-49CF-49A6-910D-7B2443F5546C}"/>
              </a:ext>
            </a:extLst>
          </p:cNvPr>
          <p:cNvSpPr>
            <a:spLocks xmlns:a="http://schemas.openxmlformats.org/drawingml/2006/main" noGrp="1"/>
          </p:cNvSpPr>
          <p:nvPr/>
        </p:nvSpPr>
        <p:spPr>
          <a:xfrm xmlns:a="http://schemas.openxmlformats.org/drawingml/2006/main">
            <a:off x="4416552" y="2926080"/>
            <a:ext cx="3355848" cy="3874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250" b="1">
                <a:solidFill>
                  <a:srgbClr val="1E2761"/>
                </a:solidFill>
                <a:latin typeface="Pretendard"/>
                <a:ea typeface="Pretendard"/>
                <a:cs typeface="Pretendard"/>
              </a:defRPr>
              <a:spcBef>
                <a:spcPts val="0"/>
              </a:spcBef>
              <a:spcAft>
                <a:spcPts val="0"/>
              </a:spcAft>
            </a:pPr>
            <a:r>
              <a:rPr sz="2250" b="1">
                <a:solidFill>
                  <a:srgbClr val="1E2761"/>
                </a:solidFill>
                <a:latin typeface="Pretendard"/>
                <a:ea typeface="Pretendard"/>
                <a:cs typeface="Pretendard"/>
              </a:rPr>
              <a:t>현장 접촉 6건</a:t>
            </a:r>
          </a:p>
        </p:txBody>
      </p:sp>
      <p:sp>
        <p:nvSpPr>
          <p:cNvPr id="12" name="s19_body_11">
            <a:extLst xmlns:a="http://schemas.openxmlformats.org/drawingml/2006/main">
              <a:ext uri="{FF2B5EF4-FFF2-40B4-BE49-F238E27FC236}">
                <a16:creationId xmlns:a16="http://schemas.microsoft.com/office/drawing/2014/main" id="{4DC5A603-4592-4329-A9E0-3B397C013EDA}"/>
              </a:ext>
            </a:extLst>
          </p:cNvPr>
          <p:cNvSpPr>
            <a:spLocks xmlns:a="http://schemas.openxmlformats.org/drawingml/2006/main" noGrp="1"/>
          </p:cNvSpPr>
          <p:nvPr/>
        </p:nvSpPr>
        <p:spPr>
          <a:xfrm xmlns:a="http://schemas.openxmlformats.org/drawingml/2006/main">
            <a:off x="4416552" y="3560445"/>
            <a:ext cx="3355848" cy="494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경찰이 잘못 제시된 후보에게 접근해</a:t>
            </a:r>
          </a:p>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확인했다.</a:t>
            </a:r>
          </a:p>
        </p:txBody>
      </p:sp>
      <p:sp>
        <p:nvSpPr>
          <p:cNvPr id="13" name="s19_body_12">
            <a:extLst xmlns:a="http://schemas.openxmlformats.org/drawingml/2006/main">
              <a:ext uri="{FF2B5EF4-FFF2-40B4-BE49-F238E27FC236}">
                <a16:creationId xmlns:a16="http://schemas.microsoft.com/office/drawing/2014/main" id="{8F8D2D96-9F84-460C-976B-09EC4EE34280}"/>
              </a:ext>
            </a:extLst>
          </p:cNvPr>
          <p:cNvSpPr>
            <a:spLocks xmlns:a="http://schemas.openxmlformats.org/drawingml/2006/main" noGrp="1"/>
          </p:cNvSpPr>
          <p:nvPr/>
        </p:nvSpPr>
        <p:spPr>
          <a:xfrm xmlns:a="http://schemas.openxmlformats.org/drawingml/2006/main">
            <a:off x="8101584" y="2377440"/>
            <a:ext cx="3355848"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A8871C"/>
                </a:solidFill>
                <a:latin typeface="Pretendard"/>
                <a:ea typeface="Pretendard"/>
                <a:cs typeface="Pretendard"/>
              </a:defRPr>
              <a:spcBef>
                <a:spcPts val="0"/>
              </a:spcBef>
              <a:spcAft>
                <a:spcPts val="0"/>
              </a:spcAft>
            </a:pPr>
            <a:r>
              <a:rPr sz="1300" b="1">
                <a:solidFill>
                  <a:srgbClr val="A8871C"/>
                </a:solidFill>
                <a:latin typeface="Pretendard"/>
                <a:ea typeface="Pretendard"/>
                <a:cs typeface="Pretendard"/>
              </a:rPr>
              <a:t>03</a:t>
            </a:r>
          </a:p>
        </p:txBody>
      </p:sp>
      <p:sp>
        <p:nvSpPr>
          <p:cNvPr id="14" name="s19_body_13">
            <a:extLst xmlns:a="http://schemas.openxmlformats.org/drawingml/2006/main">
              <a:ext uri="{FF2B5EF4-FFF2-40B4-BE49-F238E27FC236}">
                <a16:creationId xmlns:a16="http://schemas.microsoft.com/office/drawing/2014/main" id="{9148BB2C-D873-4949-951E-06BF3981351A}"/>
              </a:ext>
            </a:extLst>
          </p:cNvPr>
          <p:cNvSpPr>
            <a:spLocks xmlns:a="http://schemas.openxmlformats.org/drawingml/2006/main" noGrp="1"/>
          </p:cNvSpPr>
          <p:nvPr/>
        </p:nvSpPr>
        <p:spPr>
          <a:xfrm xmlns:a="http://schemas.openxmlformats.org/drawingml/2006/main">
            <a:off x="8101584" y="2926080"/>
            <a:ext cx="3355848" cy="3874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250" b="1">
                <a:solidFill>
                  <a:srgbClr val="1E2761"/>
                </a:solidFill>
                <a:latin typeface="Pretendard"/>
                <a:ea typeface="Pretendard"/>
                <a:cs typeface="Pretendard"/>
              </a:defRPr>
              <a:spcBef>
                <a:spcPts val="0"/>
              </a:spcBef>
              <a:spcAft>
                <a:spcPts val="0"/>
              </a:spcAft>
            </a:pPr>
            <a:r>
              <a:rPr sz="2250" b="1">
                <a:solidFill>
                  <a:srgbClr val="1E2761"/>
                </a:solidFill>
                <a:latin typeface="Pretendard"/>
                <a:ea typeface="Pretendard"/>
                <a:cs typeface="Pretendard"/>
              </a:rPr>
              <a:t>체포 0건</a:t>
            </a:r>
          </a:p>
        </p:txBody>
      </p:sp>
      <p:sp>
        <p:nvSpPr>
          <p:cNvPr id="15" name="s19_body_14">
            <a:extLst xmlns:a="http://schemas.openxmlformats.org/drawingml/2006/main">
              <a:ext uri="{FF2B5EF4-FFF2-40B4-BE49-F238E27FC236}">
                <a16:creationId xmlns:a16="http://schemas.microsoft.com/office/drawing/2014/main" id="{9C3BEE39-241D-4B60-B325-1929C501A066}"/>
              </a:ext>
            </a:extLst>
          </p:cNvPr>
          <p:cNvSpPr>
            <a:spLocks xmlns:a="http://schemas.openxmlformats.org/drawingml/2006/main" noGrp="1"/>
          </p:cNvSpPr>
          <p:nvPr/>
        </p:nvSpPr>
        <p:spPr>
          <a:xfrm xmlns:a="http://schemas.openxmlformats.org/drawingml/2006/main">
            <a:off x="8101584" y="3560445"/>
            <a:ext cx="3355848" cy="494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보고서는 이 오경보로 인한 체포가 없었다고</a:t>
            </a:r>
          </a:p>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기록했다.</a:t>
            </a:r>
          </a:p>
        </p:txBody>
      </p:sp>
      <p:sp>
        <p:nvSpPr>
          <p:cNvPr id="16" name="">
            <a:extLst xmlns:a="http://schemas.openxmlformats.org/drawingml/2006/main">
              <a:ext uri="{FF2B5EF4-FFF2-40B4-BE49-F238E27FC236}">
                <a16:creationId xmlns:a16="http://schemas.microsoft.com/office/drawing/2014/main" id="{319BABA3-0E1C-410B-9742-936EFEAA290A}"/>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84825068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20_kicker_0">
            <a:extLst xmlns:a="http://schemas.openxmlformats.org/drawingml/2006/main">
              <a:ext uri="{FF2B5EF4-FFF2-40B4-BE49-F238E27FC236}">
                <a16:creationId xmlns:a16="http://schemas.microsoft.com/office/drawing/2014/main" id="{09B2AAE6-1CEF-43A9-87A8-FFB391004AB9}"/>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현장 성과와 평가</a:t>
            </a:r>
          </a:p>
        </p:txBody>
      </p:sp>
      <p:sp>
        <p:nvSpPr>
          <p:cNvPr id="2" name="s20_next_1">
            <a:extLst xmlns:a="http://schemas.openxmlformats.org/drawingml/2006/main">
              <a:ext uri="{FF2B5EF4-FFF2-40B4-BE49-F238E27FC236}">
                <a16:creationId xmlns:a16="http://schemas.microsoft.com/office/drawing/2014/main" id="{58C26682-5A63-4EB7-835D-0720283ACC59}"/>
              </a:ext>
            </a:extLst>
          </p:cNvPr>
          <p:cNvSpPr>
            <a:spLocks xmlns:a="http://schemas.openxmlformats.org/drawingml/2006/main" noGrp="1"/>
          </p:cNvSpPr>
          <p:nvPr/>
        </p:nvSpPr>
        <p:spPr>
          <a:xfrm xmlns:a="http://schemas.openxmlformats.org/drawingml/2006/main">
            <a:off x="6035040" y="384048"/>
            <a:ext cx="5422392"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defRPr sz="1050" b="0">
                <a:solidFill>
                  <a:srgbClr val="464D5C"/>
                </a:solidFill>
                <a:latin typeface="Pretendard"/>
                <a:ea typeface="Pretendard"/>
                <a:cs typeface="Pretendard"/>
              </a:defRPr>
              <a:spcBef>
                <a:spcPts val="0"/>
              </a:spcBef>
              <a:spcAft>
                <a:spcPts val="0"/>
              </a:spcAft>
            </a:pPr>
            <a:r>
              <a:rPr sz="1050" b="0">
                <a:solidFill>
                  <a:srgbClr val="464D5C"/>
                </a:solidFill>
                <a:latin typeface="Pretendard"/>
                <a:ea typeface="Pretendard"/>
                <a:cs typeface="Pretendard"/>
              </a:rPr>
              <a:t>다음  추가 성과를 평가할 기록</a:t>
            </a:r>
          </a:p>
        </p:txBody>
      </p:sp>
      <p:sp>
        <p:nvSpPr>
          <p:cNvPr id="3" name="s20_title_2">
            <a:extLst xmlns:a="http://schemas.openxmlformats.org/drawingml/2006/main">
              <a:ext uri="{FF2B5EF4-FFF2-40B4-BE49-F238E27FC236}">
                <a16:creationId xmlns:a16="http://schemas.microsoft.com/office/drawing/2014/main" id="{8100F68A-456A-4425-9145-C6DDFC3FA366}"/>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분모가 바꾸는 오류 수치</a:t>
            </a:r>
          </a:p>
        </p:txBody>
      </p:sp>
      <p:sp>
        <p:nvSpPr>
          <p:cNvPr id="4" name="">
            <a:extLst xmlns:a="http://schemas.openxmlformats.org/drawingml/2006/main">
              <a:ext uri="{FF2B5EF4-FFF2-40B4-BE49-F238E27FC236}">
                <a16:creationId xmlns:a16="http://schemas.microsoft.com/office/drawing/2014/main" id="{0635CB10-D1FA-48BA-A597-571046C895F4}"/>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20_band_4">
            <a:extLst xmlns:a="http://schemas.openxmlformats.org/drawingml/2006/main">
              <a:ext uri="{FF2B5EF4-FFF2-40B4-BE49-F238E27FC236}">
                <a16:creationId xmlns:a16="http://schemas.microsoft.com/office/drawing/2014/main" id="{B35BEC14-4236-473B-87CF-D0859FE2C332}"/>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런던경찰 1년 보고의 같은 오경보 10건을 서로 다른 질문으로 계산</a:t>
            </a:r>
          </a:p>
        </p:txBody>
      </p:sp>
      <p:graphicFrame>
        <p:nvGraphicFramePr>
          <p:cNvPr id="13" name=""/>
          <p:cNvGraphicFramePr/>
          <p:nvPr/>
        </p:nvGraphicFramePr>
        <p:xfrm>
          <a:off xmlns:a="http://schemas.openxmlformats.org/drawingml/2006/main" x="731520" y="2057400"/>
          <a:ext xmlns:a="http://schemas.openxmlformats.org/drawingml/2006/main" cx="10725912" cy="4087368"/>
        </p:xfrm>
        <a:graphic xmlns:a="http://schemas.openxmlformats.org/drawingml/2006/main">
          <a:graphicData uri="http://schemas.openxmlformats.org/drawingml/2006/table">
            <a:tbl>
              <a:tblPr firstRow="0" firstCol="0" bandRow="0" bandCol="0"/>
              <a:tblGrid>
                <a:gridCol w="1965960"/>
                <a:gridCol w="3154680"/>
                <a:gridCol w="1874520"/>
                <a:gridCol w="3730752"/>
              </a:tblGrid>
              <a:tr h="512064">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질문</a:t>
                      </a:r>
                    </a:p>
                  </a:txBody>
                  <a:tcPr marL="146304" marR="146304" marT="91440" marB="91440" anchor="ctr">
                    <a:solidFill>
                      <a:srgbClr val="F2F4F8"/>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300" b="1">
                          <a:solidFill>
                            <a:srgbClr val="1E2761"/>
                          </a:solidFill>
                          <a:latin typeface="Pretendard"/>
                          <a:ea typeface="Pretendard"/>
                          <a:cs typeface="Pretendard"/>
                        </a:rPr>
                        <a:t>계산</a:t>
                      </a:r>
                    </a:p>
                  </a:txBody>
                  <a:tcPr marL="146304" marR="146304" marT="91440" marB="91440" anchor="ctr">
                    <a:solidFill>
                      <a:srgbClr val="F2F4F8"/>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300" b="1">
                          <a:solidFill>
                            <a:srgbClr val="1E2761"/>
                          </a:solidFill>
                          <a:latin typeface="Pretendard"/>
                          <a:ea typeface="Pretendard"/>
                          <a:cs typeface="Pretendard"/>
                        </a:rPr>
                        <a:t>값</a:t>
                      </a:r>
                    </a:p>
                  </a:txBody>
                  <a:tcPr marL="146304" marR="146304" marT="91440" marB="91440" anchor="ctr">
                    <a:solidFill>
                      <a:srgbClr val="F2F4F8"/>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300" b="1">
                          <a:solidFill>
                            <a:srgbClr val="1E2761"/>
                          </a:solidFill>
                          <a:latin typeface="Pretendard"/>
                          <a:ea typeface="Pretendard"/>
                          <a:cs typeface="Pretendard"/>
                        </a:rPr>
                        <a:t>뜻</a:t>
                      </a:r>
                    </a:p>
                  </a:txBody>
                  <a:tcPr marL="146304" marR="146304" marT="91440" marB="91440" anchor="ctr">
                    <a:solidFill>
                      <a:srgbClr val="F2F4F8"/>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r h="1191768">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경보 중 오경보</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10 ÷ 2,077 × 100</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약 0.48%</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울린 경보 가운데 잘못된 경보의 비중</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r h="1191768">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얼굴 통과당 오경보</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10 ÷ 3,147,436 × 1,000,000</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약 3.18건/100만 회</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전체 얼굴 통과에 대한 오경보 빈도</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r h="1191768">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명단 인물의 미탐지</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실제 대상자의 전체 통과가 필요</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이 집계로 산출 불가</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대상자가 지나간 경우 중 놓친 비중</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bl>
          </a:graphicData>
        </a:graphic>
      </p:graphicFrame>
      <p:sp>
        <p:nvSpPr>
          <p:cNvPr id="7" name="">
            <a:extLst xmlns:a="http://schemas.openxmlformats.org/drawingml/2006/main">
              <a:ext uri="{FF2B5EF4-FFF2-40B4-BE49-F238E27FC236}">
                <a16:creationId xmlns:a16="http://schemas.microsoft.com/office/drawing/2014/main" id="{B31CD715-0E32-4D29-9260-C8A6ADE87900}"/>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137883990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21_kicker_0">
            <a:extLst xmlns:a="http://schemas.openxmlformats.org/drawingml/2006/main">
              <a:ext uri="{FF2B5EF4-FFF2-40B4-BE49-F238E27FC236}">
                <a16:creationId xmlns:a16="http://schemas.microsoft.com/office/drawing/2014/main" id="{87B4297A-88FD-40C5-B947-0D3E035CB025}"/>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현장 성과와 평가</a:t>
            </a:r>
          </a:p>
        </p:txBody>
      </p:sp>
      <p:sp>
        <p:nvSpPr>
          <p:cNvPr id="2" name="s21_next_1">
            <a:extLst xmlns:a="http://schemas.openxmlformats.org/drawingml/2006/main">
              <a:ext uri="{FF2B5EF4-FFF2-40B4-BE49-F238E27FC236}">
                <a16:creationId xmlns:a16="http://schemas.microsoft.com/office/drawing/2014/main" id="{DDFD03E6-96D6-4BE7-897B-ECC173EC332A}"/>
              </a:ext>
            </a:extLst>
          </p:cNvPr>
          <p:cNvSpPr>
            <a:spLocks xmlns:a="http://schemas.openxmlformats.org/drawingml/2006/main" noGrp="1"/>
          </p:cNvSpPr>
          <p:nvPr/>
        </p:nvSpPr>
        <p:spPr>
          <a:xfrm xmlns:a="http://schemas.openxmlformats.org/drawingml/2006/main">
            <a:off x="6035040" y="384048"/>
            <a:ext cx="5422392"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defRPr sz="1050" b="0">
                <a:solidFill>
                  <a:srgbClr val="464D5C"/>
                </a:solidFill>
                <a:latin typeface="Pretendard"/>
                <a:ea typeface="Pretendard"/>
                <a:cs typeface="Pretendard"/>
              </a:defRPr>
              <a:spcBef>
                <a:spcPts val="0"/>
              </a:spcBef>
              <a:spcAft>
                <a:spcPts val="0"/>
              </a:spcAft>
            </a:pPr>
            <a:r>
              <a:rPr sz="1050" b="0">
                <a:solidFill>
                  <a:srgbClr val="464D5C"/>
                </a:solidFill>
                <a:latin typeface="Pretendard"/>
                <a:ea typeface="Pretendard"/>
                <a:cs typeface="Pretendard"/>
              </a:rPr>
              <a:t>다음  관제에는 지속적인 인력과 비용이 든다</a:t>
            </a:r>
          </a:p>
        </p:txBody>
      </p:sp>
      <p:sp>
        <p:nvSpPr>
          <p:cNvPr id="3" name="s21_title_2">
            <a:extLst xmlns:a="http://schemas.openxmlformats.org/drawingml/2006/main">
              <a:ext uri="{FF2B5EF4-FFF2-40B4-BE49-F238E27FC236}">
                <a16:creationId xmlns:a16="http://schemas.microsoft.com/office/drawing/2014/main" id="{77808D40-3BB5-4FAB-9520-8CB9A09C97AC}"/>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추가 성과를 평가할 기록</a:t>
            </a:r>
          </a:p>
        </p:txBody>
      </p:sp>
      <p:sp>
        <p:nvSpPr>
          <p:cNvPr id="4" name="">
            <a:extLst xmlns:a="http://schemas.openxmlformats.org/drawingml/2006/main">
              <a:ext uri="{FF2B5EF4-FFF2-40B4-BE49-F238E27FC236}">
                <a16:creationId xmlns:a16="http://schemas.microsoft.com/office/drawing/2014/main" id="{B24AD9BA-43D5-4C1E-B553-1CE18647C663}"/>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21_band_4">
            <a:extLst xmlns:a="http://schemas.openxmlformats.org/drawingml/2006/main">
              <a:ext uri="{FF2B5EF4-FFF2-40B4-BE49-F238E27FC236}">
                <a16:creationId xmlns:a16="http://schemas.microsoft.com/office/drawing/2014/main" id="{B2C177C9-3CC7-4271-A5BC-FABD6BD2BCAA}"/>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정책 평가 설계안: 같은 기간·지역·투입 조건에서 수사 결과를 비교한다.</a:t>
            </a:r>
          </a:p>
        </p:txBody>
      </p:sp>
      <p:graphicFrame>
        <p:nvGraphicFramePr>
          <p:cNvPr id="13" name=""/>
          <p:cNvGraphicFramePr/>
          <p:nvPr/>
        </p:nvGraphicFramePr>
        <p:xfrm>
          <a:off xmlns:a="http://schemas.openxmlformats.org/drawingml/2006/main" x="731520" y="2057400"/>
          <a:ext xmlns:a="http://schemas.openxmlformats.org/drawingml/2006/main" cx="10725912" cy="4087368"/>
        </p:xfrm>
        <a:graphic xmlns:a="http://schemas.openxmlformats.org/drawingml/2006/main">
          <a:graphicData uri="http://schemas.openxmlformats.org/drawingml/2006/table">
            <a:tbl>
              <a:tblPr firstRow="0" firstCol="0" bandRow="0" bandCol="0"/>
              <a:tblGrid>
                <a:gridCol w="2148840"/>
                <a:gridCol w="4087368"/>
                <a:gridCol w="4489704"/>
              </a:tblGrid>
              <a:tr h="512064">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평가 영역</a:t>
                      </a:r>
                    </a:p>
                  </a:txBody>
                  <a:tcPr marL="146304" marR="146304" marT="91440" marB="91440" anchor="ctr">
                    <a:solidFill>
                      <a:srgbClr val="F2F4F8"/>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300" b="1">
                          <a:solidFill>
                            <a:srgbClr val="1E2761"/>
                          </a:solidFill>
                          <a:latin typeface="Pretendard"/>
                          <a:ea typeface="Pretendard"/>
                          <a:cs typeface="Pretendard"/>
                        </a:rPr>
                        <a:t>기록할 지표</a:t>
                      </a:r>
                    </a:p>
                  </a:txBody>
                  <a:tcPr marL="146304" marR="146304" marT="91440" marB="91440" anchor="ctr">
                    <a:solidFill>
                      <a:srgbClr val="F2F4F8"/>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300" b="1">
                          <a:solidFill>
                            <a:srgbClr val="1E2761"/>
                          </a:solidFill>
                          <a:latin typeface="Pretendard"/>
                          <a:ea typeface="Pretendard"/>
                          <a:cs typeface="Pretendard"/>
                        </a:rPr>
                        <a:t>비교 조건</a:t>
                      </a:r>
                    </a:p>
                  </a:txBody>
                  <a:tcPr marL="146304" marR="146304" marT="91440" marB="91440" anchor="ctr">
                    <a:solidFill>
                      <a:srgbClr val="F2F4F8"/>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r h="1191768">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발견·체포</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찾는 데 걸린 시간 · 검거까지의 경로</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기존 수사와 사후 영상 검색을 포함해 비교한다.</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r h="1191768">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사건 결과</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기소 · 종결 · 유죄 · 잘못된 조치의 정정</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배치·경보 기록과 사건 결과를 연결한다.</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r h="1191768">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피해·비용</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범죄 피해의 변화 · 인력·장비·감사 비용</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다른 치안 활동과 지역 변화도 함께 확인한다.</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bl>
          </a:graphicData>
        </a:graphic>
      </p:graphicFrame>
      <p:sp>
        <p:nvSpPr>
          <p:cNvPr id="7" name="">
            <a:extLst xmlns:a="http://schemas.openxmlformats.org/drawingml/2006/main">
              <a:ext uri="{FF2B5EF4-FFF2-40B4-BE49-F238E27FC236}">
                <a16:creationId xmlns:a16="http://schemas.microsoft.com/office/drawing/2014/main" id="{7A758025-5643-4381-BFBC-B453BF9ECE63}"/>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116606599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22_kicker_0">
            <a:extLst xmlns:a="http://schemas.openxmlformats.org/drawingml/2006/main">
              <a:ext uri="{FF2B5EF4-FFF2-40B4-BE49-F238E27FC236}">
                <a16:creationId xmlns:a16="http://schemas.microsoft.com/office/drawing/2014/main" id="{BC01D0D4-E89D-4D71-B4F2-452EE5F2A878}"/>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현장 성과와 평가</a:t>
            </a:r>
          </a:p>
        </p:txBody>
      </p:sp>
      <p:sp>
        <p:nvSpPr>
          <p:cNvPr id="2" name="s22_next_1">
            <a:extLst xmlns:a="http://schemas.openxmlformats.org/drawingml/2006/main">
              <a:ext uri="{FF2B5EF4-FFF2-40B4-BE49-F238E27FC236}">
                <a16:creationId xmlns:a16="http://schemas.microsoft.com/office/drawing/2014/main" id="{F93936F3-1CF2-4E1A-B8A5-CBC654DE681B}"/>
              </a:ext>
            </a:extLst>
          </p:cNvPr>
          <p:cNvSpPr>
            <a:spLocks xmlns:a="http://schemas.openxmlformats.org/drawingml/2006/main" noGrp="1"/>
          </p:cNvSpPr>
          <p:nvPr/>
        </p:nvSpPr>
        <p:spPr>
          <a:xfrm xmlns:a="http://schemas.openxmlformats.org/drawingml/2006/main">
            <a:off x="6035040" y="384048"/>
            <a:ext cx="5422392"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defRPr sz="1050" b="0">
                <a:solidFill>
                  <a:srgbClr val="464D5C"/>
                </a:solidFill>
                <a:latin typeface="Pretendard"/>
                <a:ea typeface="Pretendard"/>
                <a:cs typeface="Pretendard"/>
              </a:defRPr>
              <a:spcBef>
                <a:spcPts val="0"/>
              </a:spcBef>
              <a:spcAft>
                <a:spcPts val="0"/>
              </a:spcAft>
            </a:pPr>
            <a:r>
              <a:rPr sz="1050" b="0">
                <a:solidFill>
                  <a:srgbClr val="464D5C"/>
                </a:solidFill>
                <a:latin typeface="Pretendard"/>
                <a:ea typeface="Pretendard"/>
                <a:cs typeface="Pretendard"/>
              </a:rPr>
              <a:t>다음  시험 조건과 배치 환경</a:t>
            </a:r>
          </a:p>
        </p:txBody>
      </p:sp>
      <p:sp>
        <p:nvSpPr>
          <p:cNvPr id="3" name="s22_title_2">
            <a:extLst xmlns:a="http://schemas.openxmlformats.org/drawingml/2006/main">
              <a:ext uri="{FF2B5EF4-FFF2-40B4-BE49-F238E27FC236}">
                <a16:creationId xmlns:a16="http://schemas.microsoft.com/office/drawing/2014/main" id="{4BDDFD89-D479-4921-BA58-DEC4FA0BE680}"/>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관제에는 지속적인 인력과 비용이 든다</a:t>
            </a:r>
          </a:p>
        </p:txBody>
      </p:sp>
      <p:sp>
        <p:nvSpPr>
          <p:cNvPr id="4" name="">
            <a:extLst xmlns:a="http://schemas.openxmlformats.org/drawingml/2006/main">
              <a:ext uri="{FF2B5EF4-FFF2-40B4-BE49-F238E27FC236}">
                <a16:creationId xmlns:a16="http://schemas.microsoft.com/office/drawing/2014/main" id="{EEDA6981-CA10-482E-8ADA-9A68A4501F2F}"/>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22_band_4">
            <a:extLst xmlns:a="http://schemas.openxmlformats.org/drawingml/2006/main">
              <a:ext uri="{FF2B5EF4-FFF2-40B4-BE49-F238E27FC236}">
                <a16:creationId xmlns:a16="http://schemas.microsoft.com/office/drawing/2014/main" id="{B920FDFD-D39F-4C1B-A02B-952D2E03F8C1}"/>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제주 CCTV 통합관제센터 · 2023년 현황 · 2024년 연구용역 보고서</a:t>
            </a:r>
          </a:p>
        </p:txBody>
      </p:sp>
      <p:sp>
        <p:nvSpPr>
          <p:cNvPr id="6" name="">
            <a:extLst xmlns:a="http://schemas.openxmlformats.org/drawingml/2006/main">
              <a:ext uri="{FF2B5EF4-FFF2-40B4-BE49-F238E27FC236}">
                <a16:creationId xmlns:a16="http://schemas.microsoft.com/office/drawing/2014/main" id="{8D52503F-0920-4DDD-9029-4C10B31F7ED3}"/>
              </a:ext>
            </a:extLst>
          </p:cNvPr>
          <p:cNvSpPr>
            <a:spLocks xmlns:a="http://schemas.openxmlformats.org/drawingml/2006/main" noGrp="1"/>
          </p:cNvSpPr>
          <p:nvPr/>
        </p:nvSpPr>
        <p:spPr>
          <a:xfrm xmlns:a="http://schemas.openxmlformats.org/drawingml/2006/main">
            <a:off x="731520" y="2057400"/>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7" name="s22_body_6">
            <a:extLst xmlns:a="http://schemas.openxmlformats.org/drawingml/2006/main">
              <a:ext uri="{FF2B5EF4-FFF2-40B4-BE49-F238E27FC236}">
                <a16:creationId xmlns:a16="http://schemas.microsoft.com/office/drawing/2014/main" id="{88B64012-21CA-45AC-B2E7-FA5A12839CFA}"/>
              </a:ext>
            </a:extLst>
          </p:cNvPr>
          <p:cNvSpPr>
            <a:spLocks xmlns:a="http://schemas.openxmlformats.org/drawingml/2006/main" noGrp="1"/>
          </p:cNvSpPr>
          <p:nvPr/>
        </p:nvSpPr>
        <p:spPr>
          <a:xfrm xmlns:a="http://schemas.openxmlformats.org/drawingml/2006/main">
            <a:off x="731520" y="2423160"/>
            <a:ext cx="3392424"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전체 예산</a:t>
            </a:r>
          </a:p>
        </p:txBody>
      </p:sp>
      <p:sp>
        <p:nvSpPr>
          <p:cNvPr id="8" name="s22_body_7">
            <a:extLst xmlns:a="http://schemas.openxmlformats.org/drawingml/2006/main">
              <a:ext uri="{FF2B5EF4-FFF2-40B4-BE49-F238E27FC236}">
                <a16:creationId xmlns:a16="http://schemas.microsoft.com/office/drawing/2014/main" id="{1951AB12-ADD9-4683-A82B-42CAC01A0882}"/>
              </a:ext>
            </a:extLst>
          </p:cNvPr>
          <p:cNvSpPr>
            <a:spLocks xmlns:a="http://schemas.openxmlformats.org/drawingml/2006/main" noGrp="1"/>
          </p:cNvSpPr>
          <p:nvPr/>
        </p:nvSpPr>
        <p:spPr>
          <a:xfrm xmlns:a="http://schemas.openxmlformats.org/drawingml/2006/main">
            <a:off x="731520" y="2971800"/>
            <a:ext cx="3392424" cy="3874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250" b="1">
                <a:solidFill>
                  <a:srgbClr val="1E2761"/>
                </a:solidFill>
                <a:latin typeface="Pretendard"/>
                <a:ea typeface="Pretendard"/>
                <a:cs typeface="Pretendard"/>
              </a:defRPr>
              <a:spcBef>
                <a:spcPts val="0"/>
              </a:spcBef>
              <a:spcAft>
                <a:spcPts val="0"/>
              </a:spcAft>
            </a:pPr>
            <a:r>
              <a:rPr sz="2250" b="1">
                <a:solidFill>
                  <a:srgbClr val="1E2761"/>
                </a:solidFill>
                <a:latin typeface="Pretendard"/>
                <a:ea typeface="Pretendard"/>
                <a:cs typeface="Pretendard"/>
              </a:rPr>
              <a:t>약 117.55억원</a:t>
            </a:r>
          </a:p>
        </p:txBody>
      </p:sp>
      <p:sp>
        <p:nvSpPr>
          <p:cNvPr id="9" name="s22_body_8">
            <a:extLst xmlns:a="http://schemas.openxmlformats.org/drawingml/2006/main">
              <a:ext uri="{FF2B5EF4-FFF2-40B4-BE49-F238E27FC236}">
                <a16:creationId xmlns:a16="http://schemas.microsoft.com/office/drawing/2014/main" id="{18EF8C24-6D3E-4A9E-8CAD-066CE5C268A2}"/>
              </a:ext>
            </a:extLst>
          </p:cNvPr>
          <p:cNvSpPr>
            <a:spLocks xmlns:a="http://schemas.openxmlformats.org/drawingml/2006/main" noGrp="1"/>
          </p:cNvSpPr>
          <p:nvPr/>
        </p:nvSpPr>
        <p:spPr>
          <a:xfrm xmlns:a="http://schemas.openxmlformats.org/drawingml/2006/main">
            <a:off x="731520" y="3706749"/>
            <a:ext cx="3392424"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원표: 11,755,443천원</a:t>
            </a:r>
          </a:p>
        </p:txBody>
      </p:sp>
      <p:sp>
        <p:nvSpPr>
          <p:cNvPr id="10" name="s22_body_9">
            <a:extLst xmlns:a="http://schemas.openxmlformats.org/drawingml/2006/main">
              <a:ext uri="{FF2B5EF4-FFF2-40B4-BE49-F238E27FC236}">
                <a16:creationId xmlns:a16="http://schemas.microsoft.com/office/drawing/2014/main" id="{AC10C1CA-B394-4116-AB98-7BED211AB368}"/>
              </a:ext>
            </a:extLst>
          </p:cNvPr>
          <p:cNvSpPr>
            <a:spLocks xmlns:a="http://schemas.openxmlformats.org/drawingml/2006/main" noGrp="1"/>
          </p:cNvSpPr>
          <p:nvPr/>
        </p:nvSpPr>
        <p:spPr>
          <a:xfrm xmlns:a="http://schemas.openxmlformats.org/drawingml/2006/main">
            <a:off x="4398264" y="2423160"/>
            <a:ext cx="3392424"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관제요원</a:t>
            </a:r>
          </a:p>
        </p:txBody>
      </p:sp>
      <p:sp>
        <p:nvSpPr>
          <p:cNvPr id="11" name="s22_body_10">
            <a:extLst xmlns:a="http://schemas.openxmlformats.org/drawingml/2006/main">
              <a:ext uri="{FF2B5EF4-FFF2-40B4-BE49-F238E27FC236}">
                <a16:creationId xmlns:a16="http://schemas.microsoft.com/office/drawing/2014/main" id="{883BEC77-5463-4290-A945-6BABD011446E}"/>
              </a:ext>
            </a:extLst>
          </p:cNvPr>
          <p:cNvSpPr>
            <a:spLocks xmlns:a="http://schemas.openxmlformats.org/drawingml/2006/main" noGrp="1"/>
          </p:cNvSpPr>
          <p:nvPr/>
        </p:nvSpPr>
        <p:spPr>
          <a:xfrm xmlns:a="http://schemas.openxmlformats.org/drawingml/2006/main">
            <a:off x="4398264" y="2971800"/>
            <a:ext cx="3392424" cy="3874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250" b="1">
                <a:solidFill>
                  <a:srgbClr val="1E2761"/>
                </a:solidFill>
                <a:latin typeface="Pretendard"/>
                <a:ea typeface="Pretendard"/>
                <a:cs typeface="Pretendard"/>
              </a:defRPr>
              <a:spcBef>
                <a:spcPts val="0"/>
              </a:spcBef>
              <a:spcAft>
                <a:spcPts val="0"/>
              </a:spcAft>
            </a:pPr>
            <a:r>
              <a:rPr sz="2250" b="1">
                <a:solidFill>
                  <a:srgbClr val="1E2761"/>
                </a:solidFill>
                <a:latin typeface="Pretendard"/>
                <a:ea typeface="Pretendard"/>
                <a:cs typeface="Pretendard"/>
              </a:rPr>
              <a:t>101명</a:t>
            </a:r>
          </a:p>
        </p:txBody>
      </p:sp>
      <p:sp>
        <p:nvSpPr>
          <p:cNvPr id="12" name="s22_body_11">
            <a:extLst xmlns:a="http://schemas.openxmlformats.org/drawingml/2006/main">
              <a:ext uri="{FF2B5EF4-FFF2-40B4-BE49-F238E27FC236}">
                <a16:creationId xmlns:a16="http://schemas.microsoft.com/office/drawing/2014/main" id="{6AF9BA58-2510-455D-87E3-7AC117410930}"/>
              </a:ext>
            </a:extLst>
          </p:cNvPr>
          <p:cNvSpPr>
            <a:spLocks xmlns:a="http://schemas.openxmlformats.org/drawingml/2006/main" noGrp="1"/>
          </p:cNvSpPr>
          <p:nvPr/>
        </p:nvSpPr>
        <p:spPr>
          <a:xfrm xmlns:a="http://schemas.openxmlformats.org/drawingml/2006/main">
            <a:off x="4398264" y="3706749"/>
            <a:ext cx="3392424"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상주 경찰 3명 별도</a:t>
            </a:r>
          </a:p>
        </p:txBody>
      </p:sp>
      <p:sp>
        <p:nvSpPr>
          <p:cNvPr id="13" name="s22_body_12">
            <a:extLst xmlns:a="http://schemas.openxmlformats.org/drawingml/2006/main">
              <a:ext uri="{FF2B5EF4-FFF2-40B4-BE49-F238E27FC236}">
                <a16:creationId xmlns:a16="http://schemas.microsoft.com/office/drawing/2014/main" id="{F580643A-1D4E-479E-BF29-A3B4D3CE8FCC}"/>
              </a:ext>
            </a:extLst>
          </p:cNvPr>
          <p:cNvSpPr>
            <a:spLocks xmlns:a="http://schemas.openxmlformats.org/drawingml/2006/main" noGrp="1"/>
          </p:cNvSpPr>
          <p:nvPr/>
        </p:nvSpPr>
        <p:spPr>
          <a:xfrm xmlns:a="http://schemas.openxmlformats.org/drawingml/2006/main">
            <a:off x="8065008" y="2423160"/>
            <a:ext cx="3392424"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인건비</a:t>
            </a:r>
          </a:p>
        </p:txBody>
      </p:sp>
      <p:sp>
        <p:nvSpPr>
          <p:cNvPr id="14" name="s22_body_13">
            <a:extLst xmlns:a="http://schemas.openxmlformats.org/drawingml/2006/main">
              <a:ext uri="{FF2B5EF4-FFF2-40B4-BE49-F238E27FC236}">
                <a16:creationId xmlns:a16="http://schemas.microsoft.com/office/drawing/2014/main" id="{79082AAE-6093-41D0-B74E-5F23F2DFF18E}"/>
              </a:ext>
            </a:extLst>
          </p:cNvPr>
          <p:cNvSpPr>
            <a:spLocks xmlns:a="http://schemas.openxmlformats.org/drawingml/2006/main" noGrp="1"/>
          </p:cNvSpPr>
          <p:nvPr/>
        </p:nvSpPr>
        <p:spPr>
          <a:xfrm xmlns:a="http://schemas.openxmlformats.org/drawingml/2006/main">
            <a:off x="8065008" y="2971800"/>
            <a:ext cx="3392424" cy="3874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250" b="1">
                <a:solidFill>
                  <a:srgbClr val="1E2761"/>
                </a:solidFill>
                <a:latin typeface="Pretendard"/>
                <a:ea typeface="Pretendard"/>
                <a:cs typeface="Pretendard"/>
              </a:defRPr>
              <a:spcBef>
                <a:spcPts val="0"/>
              </a:spcBef>
              <a:spcAft>
                <a:spcPts val="0"/>
              </a:spcAft>
            </a:pPr>
            <a:r>
              <a:rPr sz="2250" b="1">
                <a:solidFill>
                  <a:srgbClr val="1E2761"/>
                </a:solidFill>
                <a:latin typeface="Pretendard"/>
                <a:ea typeface="Pretendard"/>
                <a:cs typeface="Pretendard"/>
              </a:rPr>
              <a:t>44.28억원</a:t>
            </a:r>
          </a:p>
        </p:txBody>
      </p:sp>
      <p:sp>
        <p:nvSpPr>
          <p:cNvPr id="15" name="s22_body_14">
            <a:extLst xmlns:a="http://schemas.openxmlformats.org/drawingml/2006/main">
              <a:ext uri="{FF2B5EF4-FFF2-40B4-BE49-F238E27FC236}">
                <a16:creationId xmlns:a16="http://schemas.microsoft.com/office/drawing/2014/main" id="{35EC8A24-1FC6-4773-BB58-F373045F0AC1}"/>
              </a:ext>
            </a:extLst>
          </p:cNvPr>
          <p:cNvSpPr>
            <a:spLocks xmlns:a="http://schemas.openxmlformats.org/drawingml/2006/main" noGrp="1"/>
          </p:cNvSpPr>
          <p:nvPr/>
        </p:nvSpPr>
        <p:spPr>
          <a:xfrm xmlns:a="http://schemas.openxmlformats.org/drawingml/2006/main">
            <a:off x="8065008" y="3706749"/>
            <a:ext cx="3392424"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유지보수 14.90억원 별도</a:t>
            </a:r>
          </a:p>
        </p:txBody>
      </p:sp>
      <p:sp>
        <p:nvSpPr>
          <p:cNvPr id="16" name="s22_scope_15">
            <a:extLst xmlns:a="http://schemas.openxmlformats.org/drawingml/2006/main">
              <a:ext uri="{FF2B5EF4-FFF2-40B4-BE49-F238E27FC236}">
                <a16:creationId xmlns:a16="http://schemas.microsoft.com/office/drawing/2014/main" id="{350DF0B4-C0F3-438E-915D-570BE58354ED}"/>
              </a:ext>
            </a:extLst>
          </p:cNvPr>
          <p:cNvSpPr>
            <a:spLocks xmlns:a="http://schemas.openxmlformats.org/drawingml/2006/main" noGrp="1"/>
          </p:cNvSpPr>
          <p:nvPr/>
        </p:nvSpPr>
        <p:spPr>
          <a:xfrm xmlns:a="http://schemas.openxmlformats.org/drawingml/2006/main">
            <a:off x="731520" y="5878068"/>
            <a:ext cx="10725912" cy="2301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00" b="0">
                <a:solidFill>
                  <a:srgbClr val="A8871C"/>
                </a:solidFill>
                <a:latin typeface="Pretendard"/>
                <a:ea typeface="Pretendard"/>
                <a:cs typeface="Pretendard"/>
              </a:defRPr>
              <a:spcBef>
                <a:spcPts val="0"/>
              </a:spcBef>
              <a:spcAft>
                <a:spcPts val="0"/>
              </a:spcAft>
            </a:pPr>
            <a:r>
              <a:rPr sz="1200" b="0">
                <a:solidFill>
                  <a:srgbClr val="A8871C"/>
                </a:solidFill>
                <a:latin typeface="Pretendard"/>
                <a:ea typeface="Pretendard"/>
                <a:cs typeface="Pretendard"/>
              </a:rPr>
              <a:t>일반 통합관제센터의 전체 예산·인력 · 얼굴식별 추가비용은 별도 산정</a:t>
            </a:r>
          </a:p>
        </p:txBody>
      </p:sp>
      <p:sp>
        <p:nvSpPr>
          <p:cNvPr id="17" name="">
            <a:extLst xmlns:a="http://schemas.openxmlformats.org/drawingml/2006/main">
              <a:ext uri="{FF2B5EF4-FFF2-40B4-BE49-F238E27FC236}">
                <a16:creationId xmlns:a16="http://schemas.microsoft.com/office/drawing/2014/main" id="{AC70F38A-B113-410C-803F-15A6DA312342}"/>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175826713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23_kicker_0">
            <a:extLst xmlns:a="http://schemas.openxmlformats.org/drawingml/2006/main">
              <a:ext uri="{FF2B5EF4-FFF2-40B4-BE49-F238E27FC236}">
                <a16:creationId xmlns:a16="http://schemas.microsoft.com/office/drawing/2014/main" id="{63ECF00D-CDCB-4A62-BB6E-B6D4AC6F364F}"/>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현장 성과와 평가</a:t>
            </a:r>
          </a:p>
        </p:txBody>
      </p:sp>
      <p:sp>
        <p:nvSpPr>
          <p:cNvPr id="2" name="s23_next_1">
            <a:extLst xmlns:a="http://schemas.openxmlformats.org/drawingml/2006/main">
              <a:ext uri="{FF2B5EF4-FFF2-40B4-BE49-F238E27FC236}">
                <a16:creationId xmlns:a16="http://schemas.microsoft.com/office/drawing/2014/main" id="{DA69B3B0-9A0B-4743-8749-BE6220740C16}"/>
              </a:ext>
            </a:extLst>
          </p:cNvPr>
          <p:cNvSpPr>
            <a:spLocks xmlns:a="http://schemas.openxmlformats.org/drawingml/2006/main" noGrp="1"/>
          </p:cNvSpPr>
          <p:nvPr/>
        </p:nvSpPr>
        <p:spPr>
          <a:xfrm xmlns:a="http://schemas.openxmlformats.org/drawingml/2006/main">
            <a:off x="6035040" y="384048"/>
            <a:ext cx="5422392"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defRPr sz="1050" b="0">
                <a:solidFill>
                  <a:srgbClr val="464D5C"/>
                </a:solidFill>
                <a:latin typeface="Pretendard"/>
                <a:ea typeface="Pretendard"/>
                <a:cs typeface="Pretendard"/>
              </a:defRPr>
              <a:spcBef>
                <a:spcPts val="0"/>
              </a:spcBef>
              <a:spcAft>
                <a:spcPts val="0"/>
              </a:spcAft>
            </a:pPr>
            <a:r>
              <a:rPr sz="1050" b="0">
                <a:solidFill>
                  <a:srgbClr val="464D5C"/>
                </a:solidFill>
                <a:latin typeface="Pretendard"/>
                <a:ea typeface="Pretendard"/>
                <a:cs typeface="Pretendard"/>
              </a:rPr>
              <a:t>다음  잘못된 후보가 체포로 이어진 경로</a:t>
            </a:r>
          </a:p>
        </p:txBody>
      </p:sp>
      <p:sp>
        <p:nvSpPr>
          <p:cNvPr id="3" name="s23_title_2">
            <a:extLst xmlns:a="http://schemas.openxmlformats.org/drawingml/2006/main">
              <a:ext uri="{FF2B5EF4-FFF2-40B4-BE49-F238E27FC236}">
                <a16:creationId xmlns:a16="http://schemas.microsoft.com/office/drawing/2014/main" id="{DFC6D24A-DF88-435D-BFC9-043481E6D33A}"/>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시험 조건과 배치 환경</a:t>
            </a:r>
          </a:p>
        </p:txBody>
      </p:sp>
      <p:sp>
        <p:nvSpPr>
          <p:cNvPr id="4" name="">
            <a:extLst xmlns:a="http://schemas.openxmlformats.org/drawingml/2006/main">
              <a:ext uri="{FF2B5EF4-FFF2-40B4-BE49-F238E27FC236}">
                <a16:creationId xmlns:a16="http://schemas.microsoft.com/office/drawing/2014/main" id="{B04FEE5C-8358-467C-B5F9-DC5DEC53A3DE}"/>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23_band_4">
            <a:extLst xmlns:a="http://schemas.openxmlformats.org/drawingml/2006/main">
              <a:ext uri="{FF2B5EF4-FFF2-40B4-BE49-F238E27FC236}">
                <a16:creationId xmlns:a16="http://schemas.microsoft.com/office/drawing/2014/main" id="{EA54015C-4644-48DA-8205-702303938256}"/>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성능 평가에는 실제로 사용할 영상·명단·경보 기준값을 포함한다.</a:t>
            </a:r>
          </a:p>
        </p:txBody>
      </p:sp>
      <p:sp>
        <p:nvSpPr>
          <p:cNvPr id="6" name="">
            <a:extLst xmlns:a="http://schemas.openxmlformats.org/drawingml/2006/main">
              <a:ext uri="{FF2B5EF4-FFF2-40B4-BE49-F238E27FC236}">
                <a16:creationId xmlns:a16="http://schemas.microsoft.com/office/drawing/2014/main" id="{E4CCA39A-359D-4531-97E9-A8980FAD251C}"/>
              </a:ext>
            </a:extLst>
          </p:cNvPr>
          <p:cNvSpPr>
            <a:spLocks xmlns:a="http://schemas.openxmlformats.org/drawingml/2006/main" noGrp="1"/>
          </p:cNvSpPr>
          <p:nvPr/>
        </p:nvSpPr>
        <p:spPr>
          <a:xfrm xmlns:a="http://schemas.openxmlformats.org/drawingml/2006/main">
            <a:off x="731520" y="2057400"/>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7" name="s23_body_6">
            <a:extLst xmlns:a="http://schemas.openxmlformats.org/drawingml/2006/main">
              <a:ext uri="{FF2B5EF4-FFF2-40B4-BE49-F238E27FC236}">
                <a16:creationId xmlns:a16="http://schemas.microsoft.com/office/drawing/2014/main" id="{048D8020-73E8-4114-9B59-FC7232C7CC34}"/>
              </a:ext>
            </a:extLst>
          </p:cNvPr>
          <p:cNvSpPr>
            <a:spLocks xmlns:a="http://schemas.openxmlformats.org/drawingml/2006/main" noGrp="1"/>
          </p:cNvSpPr>
          <p:nvPr/>
        </p:nvSpPr>
        <p:spPr>
          <a:xfrm xmlns:a="http://schemas.openxmlformats.org/drawingml/2006/main">
            <a:off x="731520" y="2423160"/>
            <a:ext cx="3392424"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영상 조건</a:t>
            </a:r>
          </a:p>
        </p:txBody>
      </p:sp>
      <p:sp>
        <p:nvSpPr>
          <p:cNvPr id="8" name="s23_body_7">
            <a:extLst xmlns:a="http://schemas.openxmlformats.org/drawingml/2006/main">
              <a:ext uri="{FF2B5EF4-FFF2-40B4-BE49-F238E27FC236}">
                <a16:creationId xmlns:a16="http://schemas.microsoft.com/office/drawing/2014/main" id="{6D48C6CA-9B56-4AF3-B7DE-572D9798FCC7}"/>
              </a:ext>
            </a:extLst>
          </p:cNvPr>
          <p:cNvSpPr>
            <a:spLocks xmlns:a="http://schemas.openxmlformats.org/drawingml/2006/main" noGrp="1"/>
          </p:cNvSpPr>
          <p:nvPr/>
        </p:nvSpPr>
        <p:spPr>
          <a:xfrm xmlns:a="http://schemas.openxmlformats.org/drawingml/2006/main">
            <a:off x="731520" y="2971800"/>
            <a:ext cx="3392424" cy="3874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250" b="1">
                <a:solidFill>
                  <a:srgbClr val="1E2761"/>
                </a:solidFill>
                <a:latin typeface="Pretendard"/>
                <a:ea typeface="Pretendard"/>
                <a:cs typeface="Pretendard"/>
              </a:defRPr>
              <a:spcBef>
                <a:spcPts val="0"/>
              </a:spcBef>
              <a:spcAft>
                <a:spcPts val="0"/>
              </a:spcAft>
            </a:pPr>
            <a:r>
              <a:rPr sz="2250" b="1">
                <a:solidFill>
                  <a:srgbClr val="1E2761"/>
                </a:solidFill>
                <a:latin typeface="Pretendard"/>
                <a:ea typeface="Pretendard"/>
                <a:cs typeface="Pretendard"/>
              </a:rPr>
              <a:t>얼굴이 어떻게 찍히는가</a:t>
            </a:r>
          </a:p>
        </p:txBody>
      </p:sp>
      <p:sp>
        <p:nvSpPr>
          <p:cNvPr id="9" name="s23_body_8">
            <a:extLst xmlns:a="http://schemas.openxmlformats.org/drawingml/2006/main">
              <a:ext uri="{FF2B5EF4-FFF2-40B4-BE49-F238E27FC236}">
                <a16:creationId xmlns:a16="http://schemas.microsoft.com/office/drawing/2014/main" id="{D3899727-6398-4B31-832E-C1247F71FCAF}"/>
              </a:ext>
            </a:extLst>
          </p:cNvPr>
          <p:cNvSpPr>
            <a:spLocks xmlns:a="http://schemas.openxmlformats.org/drawingml/2006/main" noGrp="1"/>
          </p:cNvSpPr>
          <p:nvPr/>
        </p:nvSpPr>
        <p:spPr>
          <a:xfrm xmlns:a="http://schemas.openxmlformats.org/drawingml/2006/main">
            <a:off x="731520" y="3706749"/>
            <a:ext cx="3392424"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각도·조명·화질·가림과 이동 상황을 시험한다.</a:t>
            </a:r>
          </a:p>
        </p:txBody>
      </p:sp>
      <p:sp>
        <p:nvSpPr>
          <p:cNvPr id="10" name="s23_body_9">
            <a:extLst xmlns:a="http://schemas.openxmlformats.org/drawingml/2006/main">
              <a:ext uri="{FF2B5EF4-FFF2-40B4-BE49-F238E27FC236}">
                <a16:creationId xmlns:a16="http://schemas.microsoft.com/office/drawing/2014/main" id="{8E43CA20-045B-4B72-A5B0-5FEA2E242472}"/>
              </a:ext>
            </a:extLst>
          </p:cNvPr>
          <p:cNvSpPr>
            <a:spLocks xmlns:a="http://schemas.openxmlformats.org/drawingml/2006/main" noGrp="1"/>
          </p:cNvSpPr>
          <p:nvPr/>
        </p:nvSpPr>
        <p:spPr>
          <a:xfrm xmlns:a="http://schemas.openxmlformats.org/drawingml/2006/main">
            <a:off x="4398264" y="2423160"/>
            <a:ext cx="3392424"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명단·설정</a:t>
            </a:r>
          </a:p>
        </p:txBody>
      </p:sp>
      <p:sp>
        <p:nvSpPr>
          <p:cNvPr id="11" name="s23_body_10">
            <a:extLst xmlns:a="http://schemas.openxmlformats.org/drawingml/2006/main">
              <a:ext uri="{FF2B5EF4-FFF2-40B4-BE49-F238E27FC236}">
                <a16:creationId xmlns:a16="http://schemas.microsoft.com/office/drawing/2014/main" id="{016604CE-7F58-490A-830B-CF15EF19540C}"/>
              </a:ext>
            </a:extLst>
          </p:cNvPr>
          <p:cNvSpPr>
            <a:spLocks xmlns:a="http://schemas.openxmlformats.org/drawingml/2006/main" noGrp="1"/>
          </p:cNvSpPr>
          <p:nvPr/>
        </p:nvSpPr>
        <p:spPr>
          <a:xfrm xmlns:a="http://schemas.openxmlformats.org/drawingml/2006/main">
            <a:off x="4398264" y="2971800"/>
            <a:ext cx="3392424" cy="3874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250" b="1">
                <a:solidFill>
                  <a:srgbClr val="1E2761"/>
                </a:solidFill>
                <a:latin typeface="Pretendard"/>
                <a:ea typeface="Pretendard"/>
                <a:cs typeface="Pretendard"/>
              </a:defRPr>
              <a:spcBef>
                <a:spcPts val="0"/>
              </a:spcBef>
              <a:spcAft>
                <a:spcPts val="0"/>
              </a:spcAft>
            </a:pPr>
            <a:r>
              <a:rPr sz="2250" b="1">
                <a:solidFill>
                  <a:srgbClr val="1E2761"/>
                </a:solidFill>
                <a:latin typeface="Pretendard"/>
                <a:ea typeface="Pretendard"/>
                <a:cs typeface="Pretendard"/>
              </a:rPr>
              <a:t>무엇과 얼마나 대조하는가</a:t>
            </a:r>
          </a:p>
        </p:txBody>
      </p:sp>
      <p:sp>
        <p:nvSpPr>
          <p:cNvPr id="12" name="s23_body_11">
            <a:extLst xmlns:a="http://schemas.openxmlformats.org/drawingml/2006/main">
              <a:ext uri="{FF2B5EF4-FFF2-40B4-BE49-F238E27FC236}">
                <a16:creationId xmlns:a16="http://schemas.microsoft.com/office/drawing/2014/main" id="{83007087-3AC6-4272-97D5-73E31E86CBD8}"/>
              </a:ext>
            </a:extLst>
          </p:cNvPr>
          <p:cNvSpPr>
            <a:spLocks xmlns:a="http://schemas.openxmlformats.org/drawingml/2006/main" noGrp="1"/>
          </p:cNvSpPr>
          <p:nvPr/>
        </p:nvSpPr>
        <p:spPr>
          <a:xfrm xmlns:a="http://schemas.openxmlformats.org/drawingml/2006/main">
            <a:off x="4398264" y="3706749"/>
            <a:ext cx="3392424" cy="494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명단 크기·사진 품질·등록 기준과 경보</a:t>
            </a:r>
          </a:p>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문턱을 기록한다.</a:t>
            </a:r>
          </a:p>
        </p:txBody>
      </p:sp>
      <p:sp>
        <p:nvSpPr>
          <p:cNvPr id="13" name="s23_body_12">
            <a:extLst xmlns:a="http://schemas.openxmlformats.org/drawingml/2006/main">
              <a:ext uri="{FF2B5EF4-FFF2-40B4-BE49-F238E27FC236}">
                <a16:creationId xmlns:a16="http://schemas.microsoft.com/office/drawing/2014/main" id="{9BD0B4EB-570B-4251-812C-C59AE15D7AB6}"/>
              </a:ext>
            </a:extLst>
          </p:cNvPr>
          <p:cNvSpPr>
            <a:spLocks xmlns:a="http://schemas.openxmlformats.org/drawingml/2006/main" noGrp="1"/>
          </p:cNvSpPr>
          <p:nvPr/>
        </p:nvSpPr>
        <p:spPr>
          <a:xfrm xmlns:a="http://schemas.openxmlformats.org/drawingml/2006/main">
            <a:off x="8065008" y="2423160"/>
            <a:ext cx="3392424"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사람의 확인</a:t>
            </a:r>
          </a:p>
        </p:txBody>
      </p:sp>
      <p:sp>
        <p:nvSpPr>
          <p:cNvPr id="14" name="s23_body_13">
            <a:extLst xmlns:a="http://schemas.openxmlformats.org/drawingml/2006/main">
              <a:ext uri="{FF2B5EF4-FFF2-40B4-BE49-F238E27FC236}">
                <a16:creationId xmlns:a16="http://schemas.microsoft.com/office/drawing/2014/main" id="{9B1FA653-C046-4C16-A7CB-76C85198CEAD}"/>
              </a:ext>
            </a:extLst>
          </p:cNvPr>
          <p:cNvSpPr>
            <a:spLocks xmlns:a="http://schemas.openxmlformats.org/drawingml/2006/main" noGrp="1"/>
          </p:cNvSpPr>
          <p:nvPr/>
        </p:nvSpPr>
        <p:spPr>
          <a:xfrm xmlns:a="http://schemas.openxmlformats.org/drawingml/2006/main">
            <a:off x="8065008" y="2971800"/>
            <a:ext cx="3392424" cy="3874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250" b="1">
                <a:solidFill>
                  <a:srgbClr val="1E2761"/>
                </a:solidFill>
                <a:latin typeface="Pretendard"/>
                <a:ea typeface="Pretendard"/>
                <a:cs typeface="Pretendard"/>
              </a:defRPr>
              <a:spcBef>
                <a:spcPts val="0"/>
              </a:spcBef>
              <a:spcAft>
                <a:spcPts val="0"/>
              </a:spcAft>
            </a:pPr>
            <a:r>
              <a:rPr sz="2250" b="1">
                <a:solidFill>
                  <a:srgbClr val="1E2761"/>
                </a:solidFill>
                <a:latin typeface="Pretendard"/>
                <a:ea typeface="Pretendard"/>
                <a:cs typeface="Pretendard"/>
              </a:rPr>
              <a:t>오류가 어디서 걸러지는가</a:t>
            </a:r>
          </a:p>
        </p:txBody>
      </p:sp>
      <p:sp>
        <p:nvSpPr>
          <p:cNvPr id="15" name="s23_body_14">
            <a:extLst xmlns:a="http://schemas.openxmlformats.org/drawingml/2006/main">
              <a:ext uri="{FF2B5EF4-FFF2-40B4-BE49-F238E27FC236}">
                <a16:creationId xmlns:a16="http://schemas.microsoft.com/office/drawing/2014/main" id="{FA6F03AB-D880-4F93-B7A9-8D4094481F5F}"/>
              </a:ext>
            </a:extLst>
          </p:cNvPr>
          <p:cNvSpPr>
            <a:spLocks xmlns:a="http://schemas.openxmlformats.org/drawingml/2006/main" noGrp="1"/>
          </p:cNvSpPr>
          <p:nvPr/>
        </p:nvSpPr>
        <p:spPr>
          <a:xfrm xmlns:a="http://schemas.openxmlformats.org/drawingml/2006/main">
            <a:off x="8065008" y="3706749"/>
            <a:ext cx="3392424" cy="494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요원이 후보를 검토하고 현장에서 확인하는</a:t>
            </a:r>
          </a:p>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과정까지 평가한다.</a:t>
            </a:r>
          </a:p>
        </p:txBody>
      </p:sp>
      <p:sp>
        <p:nvSpPr>
          <p:cNvPr id="16" name="">
            <a:extLst xmlns:a="http://schemas.openxmlformats.org/drawingml/2006/main">
              <a:ext uri="{FF2B5EF4-FFF2-40B4-BE49-F238E27FC236}">
                <a16:creationId xmlns:a16="http://schemas.microsoft.com/office/drawing/2014/main" id="{58379896-EAE4-46CA-BB52-F006D705740D}"/>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181648012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24_kicker_0">
            <a:extLst xmlns:a="http://schemas.openxmlformats.org/drawingml/2006/main">
              <a:ext uri="{FF2B5EF4-FFF2-40B4-BE49-F238E27FC236}">
                <a16:creationId xmlns:a16="http://schemas.microsoft.com/office/drawing/2014/main" id="{0786DD6C-D2A7-4DE8-9C74-B268A920E3CF}"/>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오류와 권리</a:t>
            </a:r>
          </a:p>
        </p:txBody>
      </p:sp>
      <p:sp>
        <p:nvSpPr>
          <p:cNvPr id="2" name="s24_next_1">
            <a:extLst xmlns:a="http://schemas.openxmlformats.org/drawingml/2006/main">
              <a:ext uri="{FF2B5EF4-FFF2-40B4-BE49-F238E27FC236}">
                <a16:creationId xmlns:a16="http://schemas.microsoft.com/office/drawing/2014/main" id="{5AF48B65-8133-45CB-8D6B-E58C4BF63864}"/>
              </a:ext>
            </a:extLst>
          </p:cNvPr>
          <p:cNvSpPr>
            <a:spLocks xmlns:a="http://schemas.openxmlformats.org/drawingml/2006/main" noGrp="1"/>
          </p:cNvSpPr>
          <p:nvPr/>
        </p:nvSpPr>
        <p:spPr>
          <a:xfrm xmlns:a="http://schemas.openxmlformats.org/drawingml/2006/main">
            <a:off x="6035040" y="384048"/>
            <a:ext cx="5422392"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defRPr sz="1050" b="0">
                <a:solidFill>
                  <a:srgbClr val="464D5C"/>
                </a:solidFill>
                <a:latin typeface="Pretendard"/>
                <a:ea typeface="Pretendard"/>
                <a:cs typeface="Pretendard"/>
              </a:defRPr>
              <a:spcBef>
                <a:spcPts val="0"/>
              </a:spcBef>
              <a:spcAft>
                <a:spcPts val="0"/>
              </a:spcAft>
            </a:pPr>
            <a:r>
              <a:rPr sz="1050" b="0">
                <a:solidFill>
                  <a:srgbClr val="464D5C"/>
                </a:solidFill>
                <a:latin typeface="Pretendard"/>
                <a:ea typeface="Pretendard"/>
                <a:cs typeface="Pretendard"/>
              </a:rPr>
              <a:t>다음  독립된 수사 근거를 요구한 합의</a:t>
            </a:r>
          </a:p>
        </p:txBody>
      </p:sp>
      <p:sp>
        <p:nvSpPr>
          <p:cNvPr id="3" name="s24_title_2">
            <a:extLst xmlns:a="http://schemas.openxmlformats.org/drawingml/2006/main">
              <a:ext uri="{FF2B5EF4-FFF2-40B4-BE49-F238E27FC236}">
                <a16:creationId xmlns:a16="http://schemas.microsoft.com/office/drawing/2014/main" id="{33F9F48F-36FF-42D0-BA4D-2C1678FF5D9F}"/>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잘못된 후보가 체포로 이어진 경로</a:t>
            </a:r>
          </a:p>
        </p:txBody>
      </p:sp>
      <p:sp>
        <p:nvSpPr>
          <p:cNvPr id="4" name="">
            <a:extLst xmlns:a="http://schemas.openxmlformats.org/drawingml/2006/main">
              <a:ext uri="{FF2B5EF4-FFF2-40B4-BE49-F238E27FC236}">
                <a16:creationId xmlns:a16="http://schemas.microsoft.com/office/drawing/2014/main" id="{D8F8ADFA-F3AC-490E-BBBA-B363BE4DBEB3}"/>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24_band_4">
            <a:extLst xmlns:a="http://schemas.openxmlformats.org/drawingml/2006/main">
              <a:ext uri="{FF2B5EF4-FFF2-40B4-BE49-F238E27FC236}">
                <a16:creationId xmlns:a16="http://schemas.microsoft.com/office/drawing/2014/main" id="{C4979E06-7145-4054-BA75-2F32F800A347}"/>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2020년 디트로이트 · Robert Williams · 범행 뒤 영상에서 얼굴을 검색한 사건</a:t>
            </a:r>
          </a:p>
        </p:txBody>
      </p:sp>
      <p:sp>
        <p:nvSpPr>
          <p:cNvPr id="6" name="">
            <a:extLst xmlns:a="http://schemas.openxmlformats.org/drawingml/2006/main">
              <a:ext uri="{FF2B5EF4-FFF2-40B4-BE49-F238E27FC236}">
                <a16:creationId xmlns:a16="http://schemas.microsoft.com/office/drawing/2014/main" id="{B82A32EA-AD27-4BD0-9718-7CBDE80EEB3E}"/>
              </a:ext>
            </a:extLst>
          </p:cNvPr>
          <p:cNvSpPr>
            <a:spLocks xmlns:a="http://schemas.openxmlformats.org/drawingml/2006/main" noGrp="1"/>
          </p:cNvSpPr>
          <p:nvPr/>
        </p:nvSpPr>
        <p:spPr>
          <a:xfrm xmlns:a="http://schemas.openxmlformats.org/drawingml/2006/main">
            <a:off x="731520" y="2057400"/>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7" name="s24_rowlabel_6">
            <a:extLst xmlns:a="http://schemas.openxmlformats.org/drawingml/2006/main">
              <a:ext uri="{FF2B5EF4-FFF2-40B4-BE49-F238E27FC236}">
                <a16:creationId xmlns:a16="http://schemas.microsoft.com/office/drawing/2014/main" id="{35E1B352-1957-4517-89CB-469CE5D56AA8}"/>
              </a:ext>
            </a:extLst>
          </p:cNvPr>
          <p:cNvSpPr>
            <a:spLocks xmlns:a="http://schemas.openxmlformats.org/drawingml/2006/main" noGrp="1"/>
          </p:cNvSpPr>
          <p:nvPr/>
        </p:nvSpPr>
        <p:spPr>
          <a:xfrm xmlns:a="http://schemas.openxmlformats.org/drawingml/2006/main">
            <a:off x="822960" y="2593213"/>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후보 제시</a:t>
            </a:r>
          </a:p>
        </p:txBody>
      </p:sp>
      <p:sp>
        <p:nvSpPr>
          <p:cNvPr id="8" name="s24_conclusion_7">
            <a:extLst xmlns:a="http://schemas.openxmlformats.org/drawingml/2006/main">
              <a:ext uri="{FF2B5EF4-FFF2-40B4-BE49-F238E27FC236}">
                <a16:creationId xmlns:a16="http://schemas.microsoft.com/office/drawing/2014/main" id="{32C66A51-1EC1-49D8-AAFA-37564E427C3D}"/>
              </a:ext>
            </a:extLst>
          </p:cNvPr>
          <p:cNvSpPr>
            <a:spLocks xmlns:a="http://schemas.openxmlformats.org/drawingml/2006/main" noGrp="1"/>
          </p:cNvSpPr>
          <p:nvPr/>
        </p:nvSpPr>
        <p:spPr>
          <a:xfrm xmlns:a="http://schemas.openxmlformats.org/drawingml/2006/main">
            <a:off x="3154680" y="2409762"/>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흐린 절도 영상에서 Williams가 후보로 나왔다.</a:t>
            </a:r>
          </a:p>
        </p:txBody>
      </p:sp>
      <p:sp>
        <p:nvSpPr>
          <p:cNvPr id="9" name="s24_supplement_8">
            <a:extLst xmlns:a="http://schemas.openxmlformats.org/drawingml/2006/main">
              <a:ext uri="{FF2B5EF4-FFF2-40B4-BE49-F238E27FC236}">
                <a16:creationId xmlns:a16="http://schemas.microsoft.com/office/drawing/2014/main" id="{B3E24900-654E-434B-BB4E-A96BB70ADDE9}"/>
              </a:ext>
            </a:extLst>
          </p:cNvPr>
          <p:cNvSpPr>
            <a:spLocks xmlns:a="http://schemas.openxmlformats.org/drawingml/2006/main" noGrp="1"/>
          </p:cNvSpPr>
          <p:nvPr/>
        </p:nvSpPr>
        <p:spPr>
          <a:xfrm xmlns:a="http://schemas.openxmlformats.org/drawingml/2006/main">
            <a:off x="3154680" y="2765870"/>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경찰은 얼굴 검색 결과를 후속 신원 확인의 출발점으로 사용했다.</a:t>
            </a:r>
          </a:p>
        </p:txBody>
      </p:sp>
      <p:sp>
        <p:nvSpPr>
          <p:cNvPr id="10" name="">
            <a:extLst xmlns:a="http://schemas.openxmlformats.org/drawingml/2006/main">
              <a:ext uri="{FF2B5EF4-FFF2-40B4-BE49-F238E27FC236}">
                <a16:creationId xmlns:a16="http://schemas.microsoft.com/office/drawing/2014/main" id="{B04F19B8-4512-4612-AAF9-67E80FBB4327}"/>
              </a:ext>
            </a:extLst>
          </p:cNvPr>
          <p:cNvSpPr>
            <a:spLocks xmlns:a="http://schemas.openxmlformats.org/drawingml/2006/main" noGrp="1"/>
          </p:cNvSpPr>
          <p:nvPr/>
        </p:nvSpPr>
        <p:spPr>
          <a:xfrm xmlns:a="http://schemas.openxmlformats.org/drawingml/2006/main">
            <a:off x="731520" y="3419856"/>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1" name="s24_rowlabel_10">
            <a:extLst xmlns:a="http://schemas.openxmlformats.org/drawingml/2006/main">
              <a:ext uri="{FF2B5EF4-FFF2-40B4-BE49-F238E27FC236}">
                <a16:creationId xmlns:a16="http://schemas.microsoft.com/office/drawing/2014/main" id="{3015A16F-4244-4A07-8BE9-F122F283B5A6}"/>
              </a:ext>
            </a:extLst>
          </p:cNvPr>
          <p:cNvSpPr>
            <a:spLocks xmlns:a="http://schemas.openxmlformats.org/drawingml/2006/main" noGrp="1"/>
          </p:cNvSpPr>
          <p:nvPr/>
        </p:nvSpPr>
        <p:spPr>
          <a:xfrm xmlns:a="http://schemas.openxmlformats.org/drawingml/2006/main">
            <a:off x="822960" y="3955669"/>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사진 확인</a:t>
            </a:r>
          </a:p>
        </p:txBody>
      </p:sp>
      <p:sp>
        <p:nvSpPr>
          <p:cNvPr id="12" name="s24_conclusion_11">
            <a:extLst xmlns:a="http://schemas.openxmlformats.org/drawingml/2006/main">
              <a:ext uri="{FF2B5EF4-FFF2-40B4-BE49-F238E27FC236}">
                <a16:creationId xmlns:a16="http://schemas.microsoft.com/office/drawing/2014/main" id="{C769B3ED-39F0-4830-8961-3B8A9C015F04}"/>
              </a:ext>
            </a:extLst>
          </p:cNvPr>
          <p:cNvSpPr>
            <a:spLocks xmlns:a="http://schemas.openxmlformats.org/drawingml/2006/main" noGrp="1"/>
          </p:cNvSpPr>
          <p:nvPr/>
        </p:nvSpPr>
        <p:spPr>
          <a:xfrm xmlns:a="http://schemas.openxmlformats.org/drawingml/2006/main">
            <a:off x="3154680" y="3772218"/>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범행 영상을 본 사람이 사진 배열에서 그를 골랐다.</a:t>
            </a:r>
          </a:p>
        </p:txBody>
      </p:sp>
      <p:sp>
        <p:nvSpPr>
          <p:cNvPr id="13" name="s24_supplement_12">
            <a:extLst xmlns:a="http://schemas.openxmlformats.org/drawingml/2006/main">
              <a:ext uri="{FF2B5EF4-FFF2-40B4-BE49-F238E27FC236}">
                <a16:creationId xmlns:a16="http://schemas.microsoft.com/office/drawing/2014/main" id="{FEE8C6ED-C04F-4C21-9BB9-9F516DB36D25}"/>
              </a:ext>
            </a:extLst>
          </p:cNvPr>
          <p:cNvSpPr>
            <a:spLocks xmlns:a="http://schemas.openxmlformats.org/drawingml/2006/main" noGrp="1"/>
          </p:cNvSpPr>
          <p:nvPr/>
        </p:nvSpPr>
        <p:spPr>
          <a:xfrm xmlns:a="http://schemas.openxmlformats.org/drawingml/2006/main">
            <a:off x="3154680" y="4128326"/>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그 사람은 범행 현장을 직접 본 목격자가 아니었다.</a:t>
            </a:r>
          </a:p>
        </p:txBody>
      </p:sp>
      <p:sp>
        <p:nvSpPr>
          <p:cNvPr id="14" name="">
            <a:extLst xmlns:a="http://schemas.openxmlformats.org/drawingml/2006/main">
              <a:ext uri="{FF2B5EF4-FFF2-40B4-BE49-F238E27FC236}">
                <a16:creationId xmlns:a16="http://schemas.microsoft.com/office/drawing/2014/main" id="{47EB07BF-30AC-4F44-8966-4CED84C999D1}"/>
              </a:ext>
            </a:extLst>
          </p:cNvPr>
          <p:cNvSpPr>
            <a:spLocks xmlns:a="http://schemas.openxmlformats.org/drawingml/2006/main" noGrp="1"/>
          </p:cNvSpPr>
          <p:nvPr/>
        </p:nvSpPr>
        <p:spPr>
          <a:xfrm xmlns:a="http://schemas.openxmlformats.org/drawingml/2006/main">
            <a:off x="731520" y="4782312"/>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5" name="s24_rowlabel_14">
            <a:extLst xmlns:a="http://schemas.openxmlformats.org/drawingml/2006/main">
              <a:ext uri="{FF2B5EF4-FFF2-40B4-BE49-F238E27FC236}">
                <a16:creationId xmlns:a16="http://schemas.microsoft.com/office/drawing/2014/main" id="{6F683B38-6265-40BC-88C7-32E987679600}"/>
              </a:ext>
            </a:extLst>
          </p:cNvPr>
          <p:cNvSpPr>
            <a:spLocks xmlns:a="http://schemas.openxmlformats.org/drawingml/2006/main" noGrp="1"/>
          </p:cNvSpPr>
          <p:nvPr/>
        </p:nvSpPr>
        <p:spPr>
          <a:xfrm xmlns:a="http://schemas.openxmlformats.org/drawingml/2006/main">
            <a:off x="822960" y="5318125"/>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오인체포</a:t>
            </a:r>
          </a:p>
        </p:txBody>
      </p:sp>
      <p:sp>
        <p:nvSpPr>
          <p:cNvPr id="16" name="s24_conclusion_15">
            <a:extLst xmlns:a="http://schemas.openxmlformats.org/drawingml/2006/main">
              <a:ext uri="{FF2B5EF4-FFF2-40B4-BE49-F238E27FC236}">
                <a16:creationId xmlns:a16="http://schemas.microsoft.com/office/drawing/2014/main" id="{24D9B6A5-143B-4798-81A4-25B40FB0BCC2}"/>
              </a:ext>
            </a:extLst>
          </p:cNvPr>
          <p:cNvSpPr>
            <a:spLocks xmlns:a="http://schemas.openxmlformats.org/drawingml/2006/main" noGrp="1"/>
          </p:cNvSpPr>
          <p:nvPr/>
        </p:nvSpPr>
        <p:spPr>
          <a:xfrm xmlns:a="http://schemas.openxmlformats.org/drawingml/2006/main">
            <a:off x="3154680" y="5134674"/>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경찰은 Williams를 체포해 약 30시간 구금했다.</a:t>
            </a:r>
          </a:p>
        </p:txBody>
      </p:sp>
      <p:sp>
        <p:nvSpPr>
          <p:cNvPr id="17" name="s24_supplement_16">
            <a:extLst xmlns:a="http://schemas.openxmlformats.org/drawingml/2006/main">
              <a:ext uri="{FF2B5EF4-FFF2-40B4-BE49-F238E27FC236}">
                <a16:creationId xmlns:a16="http://schemas.microsoft.com/office/drawing/2014/main" id="{C3824CE0-9A6E-4846-9578-BF202453E46E}"/>
              </a:ext>
            </a:extLst>
          </p:cNvPr>
          <p:cNvSpPr>
            <a:spLocks xmlns:a="http://schemas.openxmlformats.org/drawingml/2006/main" noGrp="1"/>
          </p:cNvSpPr>
          <p:nvPr/>
        </p:nvSpPr>
        <p:spPr>
          <a:xfrm xmlns:a="http://schemas.openxmlformats.org/drawingml/2006/main">
            <a:off x="3154680" y="5490782"/>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사건은 이후 잘못된 신원 식별과 수사 절차의 문제로 소송·합의에 이르렀다.</a:t>
            </a:r>
          </a:p>
        </p:txBody>
      </p:sp>
      <p:sp>
        <p:nvSpPr>
          <p:cNvPr id="18" name="">
            <a:extLst xmlns:a="http://schemas.openxmlformats.org/drawingml/2006/main">
              <a:ext uri="{FF2B5EF4-FFF2-40B4-BE49-F238E27FC236}">
                <a16:creationId xmlns:a16="http://schemas.microsoft.com/office/drawing/2014/main" id="{076E37AF-D600-4DAE-AD3A-C2F28D6F81AD}"/>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106101695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25_kicker_0">
            <a:extLst xmlns:a="http://schemas.openxmlformats.org/drawingml/2006/main">
              <a:ext uri="{FF2B5EF4-FFF2-40B4-BE49-F238E27FC236}">
                <a16:creationId xmlns:a16="http://schemas.microsoft.com/office/drawing/2014/main" id="{77ECC3CD-E025-4B54-BC10-9F53EE147467}"/>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오류와 권리</a:t>
            </a:r>
          </a:p>
        </p:txBody>
      </p:sp>
      <p:sp>
        <p:nvSpPr>
          <p:cNvPr id="2" name="s25_next_1">
            <a:extLst xmlns:a="http://schemas.openxmlformats.org/drawingml/2006/main">
              <a:ext uri="{FF2B5EF4-FFF2-40B4-BE49-F238E27FC236}">
                <a16:creationId xmlns:a16="http://schemas.microsoft.com/office/drawing/2014/main" id="{9DDF26A0-27E6-41EE-9512-4D9A23A69A9E}"/>
              </a:ext>
            </a:extLst>
          </p:cNvPr>
          <p:cNvSpPr>
            <a:spLocks xmlns:a="http://schemas.openxmlformats.org/drawingml/2006/main" noGrp="1"/>
          </p:cNvSpPr>
          <p:nvPr/>
        </p:nvSpPr>
        <p:spPr>
          <a:xfrm xmlns:a="http://schemas.openxmlformats.org/drawingml/2006/main">
            <a:off x="6035040" y="384048"/>
            <a:ext cx="5422392"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defRPr sz="1050" b="0">
                <a:solidFill>
                  <a:srgbClr val="464D5C"/>
                </a:solidFill>
                <a:latin typeface="Pretendard"/>
                <a:ea typeface="Pretendard"/>
                <a:cs typeface="Pretendard"/>
              </a:defRPr>
              <a:spcBef>
                <a:spcPts val="0"/>
              </a:spcBef>
              <a:spcAft>
                <a:spcPts val="0"/>
              </a:spcAft>
            </a:pPr>
            <a:r>
              <a:rPr sz="1050" b="0">
                <a:solidFill>
                  <a:srgbClr val="464D5C"/>
                </a:solidFill>
                <a:latin typeface="Pretendard"/>
                <a:ea typeface="Pretendard"/>
                <a:cs typeface="Pretendard"/>
              </a:rPr>
              <a:t>다음  체포 이전에도 생기는 부담</a:t>
            </a:r>
          </a:p>
        </p:txBody>
      </p:sp>
      <p:sp>
        <p:nvSpPr>
          <p:cNvPr id="3" name="s25_title_2">
            <a:extLst xmlns:a="http://schemas.openxmlformats.org/drawingml/2006/main">
              <a:ext uri="{FF2B5EF4-FFF2-40B4-BE49-F238E27FC236}">
                <a16:creationId xmlns:a16="http://schemas.microsoft.com/office/drawing/2014/main" id="{A7B41461-BBB2-49EC-87DD-42890CFA7CC6}"/>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독립된 수사 근거를 요구한 합의</a:t>
            </a:r>
          </a:p>
        </p:txBody>
      </p:sp>
      <p:sp>
        <p:nvSpPr>
          <p:cNvPr id="4" name="">
            <a:extLst xmlns:a="http://schemas.openxmlformats.org/drawingml/2006/main">
              <a:ext uri="{FF2B5EF4-FFF2-40B4-BE49-F238E27FC236}">
                <a16:creationId xmlns:a16="http://schemas.microsoft.com/office/drawing/2014/main" id="{76F07DC4-E606-4454-82FC-C505FFCD5EE2}"/>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25_band_4">
            <a:extLst xmlns:a="http://schemas.openxmlformats.org/drawingml/2006/main">
              <a:ext uri="{FF2B5EF4-FFF2-40B4-BE49-F238E27FC236}">
                <a16:creationId xmlns:a16="http://schemas.microsoft.com/office/drawing/2014/main" id="{06EA16E9-318A-4053-B328-239B77A353E6}"/>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2024년 Williams 사건 합의와 디트로이트 경찰 정책 개정</a:t>
            </a:r>
          </a:p>
        </p:txBody>
      </p:sp>
      <p:sp>
        <p:nvSpPr>
          <p:cNvPr id="6" name="">
            <a:extLst xmlns:a="http://schemas.openxmlformats.org/drawingml/2006/main">
              <a:ext uri="{FF2B5EF4-FFF2-40B4-BE49-F238E27FC236}">
                <a16:creationId xmlns:a16="http://schemas.microsoft.com/office/drawing/2014/main" id="{DBDE3A5B-71BD-4DE9-A741-504F208E72FB}"/>
              </a:ext>
            </a:extLst>
          </p:cNvPr>
          <p:cNvSpPr>
            <a:spLocks xmlns:a="http://schemas.openxmlformats.org/drawingml/2006/main" noGrp="1"/>
          </p:cNvSpPr>
          <p:nvPr/>
        </p:nvSpPr>
        <p:spPr>
          <a:xfrm xmlns:a="http://schemas.openxmlformats.org/drawingml/2006/main">
            <a:off x="731520" y="2057400"/>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7" name="s25_rowlabel_6">
            <a:extLst xmlns:a="http://schemas.openxmlformats.org/drawingml/2006/main">
              <a:ext uri="{FF2B5EF4-FFF2-40B4-BE49-F238E27FC236}">
                <a16:creationId xmlns:a16="http://schemas.microsoft.com/office/drawing/2014/main" id="{3EC8ABC4-D5B1-4748-B600-4FA59D0AE9FD}"/>
              </a:ext>
            </a:extLst>
          </p:cNvPr>
          <p:cNvSpPr>
            <a:spLocks xmlns:a="http://schemas.openxmlformats.org/drawingml/2006/main" noGrp="1"/>
          </p:cNvSpPr>
          <p:nvPr/>
        </p:nvSpPr>
        <p:spPr>
          <a:xfrm xmlns:a="http://schemas.openxmlformats.org/drawingml/2006/main">
            <a:off x="822960" y="2593213"/>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단독 의존 제한</a:t>
            </a:r>
          </a:p>
        </p:txBody>
      </p:sp>
      <p:sp>
        <p:nvSpPr>
          <p:cNvPr id="8" name="s25_conclusion_7">
            <a:extLst xmlns:a="http://schemas.openxmlformats.org/drawingml/2006/main">
              <a:ext uri="{FF2B5EF4-FFF2-40B4-BE49-F238E27FC236}">
                <a16:creationId xmlns:a16="http://schemas.microsoft.com/office/drawing/2014/main" id="{F63C1184-3029-48F0-8904-00413B248F28}"/>
              </a:ext>
            </a:extLst>
          </p:cNvPr>
          <p:cNvSpPr>
            <a:spLocks xmlns:a="http://schemas.openxmlformats.org/drawingml/2006/main" noGrp="1"/>
          </p:cNvSpPr>
          <p:nvPr/>
        </p:nvSpPr>
        <p:spPr>
          <a:xfrm xmlns:a="http://schemas.openxmlformats.org/drawingml/2006/main">
            <a:off x="3154680" y="2409762"/>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얼굴 검색 결과만으로 체포를 뒷받침하지 않는다.</a:t>
            </a:r>
          </a:p>
        </p:txBody>
      </p:sp>
      <p:sp>
        <p:nvSpPr>
          <p:cNvPr id="9" name="s25_supplement_8">
            <a:extLst xmlns:a="http://schemas.openxmlformats.org/drawingml/2006/main">
              <a:ext uri="{FF2B5EF4-FFF2-40B4-BE49-F238E27FC236}">
                <a16:creationId xmlns:a16="http://schemas.microsoft.com/office/drawing/2014/main" id="{64AA3376-5B0C-42D3-A2A6-403D23CC8731}"/>
              </a:ext>
            </a:extLst>
          </p:cNvPr>
          <p:cNvSpPr>
            <a:spLocks xmlns:a="http://schemas.openxmlformats.org/drawingml/2006/main" noGrp="1"/>
          </p:cNvSpPr>
          <p:nvPr/>
        </p:nvSpPr>
        <p:spPr>
          <a:xfrm xmlns:a="http://schemas.openxmlformats.org/drawingml/2006/main">
            <a:off x="3154680" y="2765870"/>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지침 307.5-5.3: “additional independent reliable evidence” · 번역: 독립적이고 신뢰할 수 있는 추가 증거를 요구한다.</a:t>
            </a:r>
          </a:p>
        </p:txBody>
      </p:sp>
      <p:sp>
        <p:nvSpPr>
          <p:cNvPr id="10" name="">
            <a:extLst xmlns:a="http://schemas.openxmlformats.org/drawingml/2006/main">
              <a:ext uri="{FF2B5EF4-FFF2-40B4-BE49-F238E27FC236}">
                <a16:creationId xmlns:a16="http://schemas.microsoft.com/office/drawing/2014/main" id="{9D053747-8E6F-4750-87B4-EE23C5BC6A2D}"/>
              </a:ext>
            </a:extLst>
          </p:cNvPr>
          <p:cNvSpPr>
            <a:spLocks xmlns:a="http://schemas.openxmlformats.org/drawingml/2006/main" noGrp="1"/>
          </p:cNvSpPr>
          <p:nvPr/>
        </p:nvSpPr>
        <p:spPr>
          <a:xfrm xmlns:a="http://schemas.openxmlformats.org/drawingml/2006/main">
            <a:off x="731520" y="3419856"/>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1" name="s25_rowlabel_10">
            <a:extLst xmlns:a="http://schemas.openxmlformats.org/drawingml/2006/main">
              <a:ext uri="{FF2B5EF4-FFF2-40B4-BE49-F238E27FC236}">
                <a16:creationId xmlns:a16="http://schemas.microsoft.com/office/drawing/2014/main" id="{39644308-E592-4DD4-AF07-68D5C7905A95}"/>
              </a:ext>
            </a:extLst>
          </p:cNvPr>
          <p:cNvSpPr>
            <a:spLocks xmlns:a="http://schemas.openxmlformats.org/drawingml/2006/main" noGrp="1"/>
          </p:cNvSpPr>
          <p:nvPr/>
        </p:nvSpPr>
        <p:spPr>
          <a:xfrm xmlns:a="http://schemas.openxmlformats.org/drawingml/2006/main">
            <a:off x="822960" y="3955669"/>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사진 배열</a:t>
            </a:r>
          </a:p>
        </p:txBody>
      </p:sp>
      <p:sp>
        <p:nvSpPr>
          <p:cNvPr id="12" name="s25_conclusion_11">
            <a:extLst xmlns:a="http://schemas.openxmlformats.org/drawingml/2006/main">
              <a:ext uri="{FF2B5EF4-FFF2-40B4-BE49-F238E27FC236}">
                <a16:creationId xmlns:a16="http://schemas.microsoft.com/office/drawing/2014/main" id="{0153A2BB-4FCF-4C74-AF6E-7A096A4DFBC5}"/>
              </a:ext>
            </a:extLst>
          </p:cNvPr>
          <p:cNvSpPr>
            <a:spLocks xmlns:a="http://schemas.openxmlformats.org/drawingml/2006/main" noGrp="1"/>
          </p:cNvSpPr>
          <p:nvPr/>
        </p:nvSpPr>
        <p:spPr>
          <a:xfrm xmlns:a="http://schemas.openxmlformats.org/drawingml/2006/main">
            <a:off x="3154680" y="3772218"/>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신뢰할 수 있는 독립 근거를 먼저 확보한다.</a:t>
            </a:r>
          </a:p>
        </p:txBody>
      </p:sp>
      <p:sp>
        <p:nvSpPr>
          <p:cNvPr id="13" name="s25_supplement_12">
            <a:extLst xmlns:a="http://schemas.openxmlformats.org/drawingml/2006/main">
              <a:ext uri="{FF2B5EF4-FFF2-40B4-BE49-F238E27FC236}">
                <a16:creationId xmlns:a16="http://schemas.microsoft.com/office/drawing/2014/main" id="{8A543FD6-C405-4B4D-B608-DFB604D0F402}"/>
              </a:ext>
            </a:extLst>
          </p:cNvPr>
          <p:cNvSpPr>
            <a:spLocks xmlns:a="http://schemas.openxmlformats.org/drawingml/2006/main" noGrp="1"/>
          </p:cNvSpPr>
          <p:nvPr/>
        </p:nvSpPr>
        <p:spPr>
          <a:xfrm xmlns:a="http://schemas.openxmlformats.org/drawingml/2006/main">
            <a:off x="3154680" y="4128326"/>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얼굴 검색 결과만을 근거로 사진 배열에 사람을 넣는 절차를 제한한다.</a:t>
            </a:r>
          </a:p>
        </p:txBody>
      </p:sp>
      <p:sp>
        <p:nvSpPr>
          <p:cNvPr id="14" name="">
            <a:extLst xmlns:a="http://schemas.openxmlformats.org/drawingml/2006/main">
              <a:ext uri="{FF2B5EF4-FFF2-40B4-BE49-F238E27FC236}">
                <a16:creationId xmlns:a16="http://schemas.microsoft.com/office/drawing/2014/main" id="{64519640-C717-41E9-A7D9-CFFD751CB45F}"/>
              </a:ext>
            </a:extLst>
          </p:cNvPr>
          <p:cNvSpPr>
            <a:spLocks xmlns:a="http://schemas.openxmlformats.org/drawingml/2006/main" noGrp="1"/>
          </p:cNvSpPr>
          <p:nvPr/>
        </p:nvSpPr>
        <p:spPr>
          <a:xfrm xmlns:a="http://schemas.openxmlformats.org/drawingml/2006/main">
            <a:off x="731520" y="4782312"/>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5" name="s25_rowlabel_14">
            <a:extLst xmlns:a="http://schemas.openxmlformats.org/drawingml/2006/main">
              <a:ext uri="{FF2B5EF4-FFF2-40B4-BE49-F238E27FC236}">
                <a16:creationId xmlns:a16="http://schemas.microsoft.com/office/drawing/2014/main" id="{19EEAA27-C4D3-4EE8-9CAA-BBC7AB283A00}"/>
              </a:ext>
            </a:extLst>
          </p:cNvPr>
          <p:cNvSpPr>
            <a:spLocks xmlns:a="http://schemas.openxmlformats.org/drawingml/2006/main" noGrp="1"/>
          </p:cNvSpPr>
          <p:nvPr/>
        </p:nvSpPr>
        <p:spPr>
          <a:xfrm xmlns:a="http://schemas.openxmlformats.org/drawingml/2006/main">
            <a:off x="822960" y="5318125"/>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확인의 내용</a:t>
            </a:r>
          </a:p>
        </p:txBody>
      </p:sp>
      <p:sp>
        <p:nvSpPr>
          <p:cNvPr id="16" name="s25_conclusion_15">
            <a:extLst xmlns:a="http://schemas.openxmlformats.org/drawingml/2006/main">
              <a:ext uri="{FF2B5EF4-FFF2-40B4-BE49-F238E27FC236}">
                <a16:creationId xmlns:a16="http://schemas.microsoft.com/office/drawing/2014/main" id="{78E99DF9-7CAA-42E4-8219-0C75C2E43163}"/>
              </a:ext>
            </a:extLst>
          </p:cNvPr>
          <p:cNvSpPr>
            <a:spLocks xmlns:a="http://schemas.openxmlformats.org/drawingml/2006/main" noGrp="1"/>
          </p:cNvSpPr>
          <p:nvPr/>
        </p:nvSpPr>
        <p:spPr>
          <a:xfrm xmlns:a="http://schemas.openxmlformats.org/drawingml/2006/main">
            <a:off x="3154680" y="5134674"/>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서로 다른 정보로 후보의 동일성을 점검한다.</a:t>
            </a:r>
          </a:p>
        </p:txBody>
      </p:sp>
      <p:sp>
        <p:nvSpPr>
          <p:cNvPr id="17" name="s25_supplement_16">
            <a:extLst xmlns:a="http://schemas.openxmlformats.org/drawingml/2006/main">
              <a:ext uri="{FF2B5EF4-FFF2-40B4-BE49-F238E27FC236}">
                <a16:creationId xmlns:a16="http://schemas.microsoft.com/office/drawing/2014/main" id="{1C02AB22-40B9-4E78-90E4-5D35A1DB48FC}"/>
              </a:ext>
            </a:extLst>
          </p:cNvPr>
          <p:cNvSpPr>
            <a:spLocks xmlns:a="http://schemas.openxmlformats.org/drawingml/2006/main" noGrp="1"/>
          </p:cNvSpPr>
          <p:nvPr/>
        </p:nvSpPr>
        <p:spPr>
          <a:xfrm xmlns:a="http://schemas.openxmlformats.org/drawingml/2006/main">
            <a:off x="3154680" y="5490782"/>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사진을 다시 보는 사람 수와 추가 증거의 독립성은 각각 점검할 사항이다.</a:t>
            </a:r>
          </a:p>
        </p:txBody>
      </p:sp>
      <p:sp>
        <p:nvSpPr>
          <p:cNvPr id="18" name="">
            <a:extLst xmlns:a="http://schemas.openxmlformats.org/drawingml/2006/main">
              <a:ext uri="{FF2B5EF4-FFF2-40B4-BE49-F238E27FC236}">
                <a16:creationId xmlns:a16="http://schemas.microsoft.com/office/drawing/2014/main" id="{B9150A6A-F545-4D88-87A4-5416C5451F65}"/>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36702580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26_kicker_0">
            <a:extLst xmlns:a="http://schemas.openxmlformats.org/drawingml/2006/main">
              <a:ext uri="{FF2B5EF4-FFF2-40B4-BE49-F238E27FC236}">
                <a16:creationId xmlns:a16="http://schemas.microsoft.com/office/drawing/2014/main" id="{F86F26AF-DEE3-4D06-BC65-03F980556DB9}"/>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오류와 권리</a:t>
            </a:r>
          </a:p>
        </p:txBody>
      </p:sp>
      <p:sp>
        <p:nvSpPr>
          <p:cNvPr id="2" name="s26_next_1">
            <a:extLst xmlns:a="http://schemas.openxmlformats.org/drawingml/2006/main">
              <a:ext uri="{FF2B5EF4-FFF2-40B4-BE49-F238E27FC236}">
                <a16:creationId xmlns:a16="http://schemas.microsoft.com/office/drawing/2014/main" id="{91035AF2-2633-4267-9CFA-846E395A20F4}"/>
              </a:ext>
            </a:extLst>
          </p:cNvPr>
          <p:cNvSpPr>
            <a:spLocks xmlns:a="http://schemas.openxmlformats.org/drawingml/2006/main" noGrp="1"/>
          </p:cNvSpPr>
          <p:nvPr/>
        </p:nvSpPr>
        <p:spPr>
          <a:xfrm xmlns:a="http://schemas.openxmlformats.org/drawingml/2006/main">
            <a:off x="6035040" y="384048"/>
            <a:ext cx="5422392"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defRPr sz="1050" b="0">
                <a:solidFill>
                  <a:srgbClr val="464D5C"/>
                </a:solidFill>
                <a:latin typeface="Pretendard"/>
                <a:ea typeface="Pretendard"/>
                <a:cs typeface="Pretendard"/>
              </a:defRPr>
              <a:spcBef>
                <a:spcPts val="0"/>
              </a:spcBef>
              <a:spcAft>
                <a:spcPts val="0"/>
              </a:spcAft>
            </a:pPr>
            <a:r>
              <a:rPr sz="1050" b="0">
                <a:solidFill>
                  <a:srgbClr val="464D5C"/>
                </a:solidFill>
                <a:latin typeface="Pretendard"/>
                <a:ea typeface="Pretendard"/>
                <a:cs typeface="Pretendard"/>
              </a:rPr>
              <a:t>다음  평화적 시위자를 찾아낸 얼굴인식</a:t>
            </a:r>
          </a:p>
        </p:txBody>
      </p:sp>
      <p:sp>
        <p:nvSpPr>
          <p:cNvPr id="3" name="s26_title_2">
            <a:extLst xmlns:a="http://schemas.openxmlformats.org/drawingml/2006/main">
              <a:ext uri="{FF2B5EF4-FFF2-40B4-BE49-F238E27FC236}">
                <a16:creationId xmlns:a16="http://schemas.microsoft.com/office/drawing/2014/main" id="{780CEE02-77D7-4ADA-8091-B11ED34D0573}"/>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체포 이전에도 생기는 부담</a:t>
            </a:r>
          </a:p>
        </p:txBody>
      </p:sp>
      <p:sp>
        <p:nvSpPr>
          <p:cNvPr id="4" name="">
            <a:extLst xmlns:a="http://schemas.openxmlformats.org/drawingml/2006/main">
              <a:ext uri="{FF2B5EF4-FFF2-40B4-BE49-F238E27FC236}">
                <a16:creationId xmlns:a16="http://schemas.microsoft.com/office/drawing/2014/main" id="{70C4A945-9686-4973-BE15-9C89A299E7A8}"/>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26_band_4">
            <a:extLst xmlns:a="http://schemas.openxmlformats.org/drawingml/2006/main">
              <a:ext uri="{FF2B5EF4-FFF2-40B4-BE49-F238E27FC236}">
                <a16:creationId xmlns:a16="http://schemas.microsoft.com/office/drawing/2014/main" id="{59FA3CDA-CDE4-44AB-AB38-86EBF8507AF3}"/>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Thompson 사건의 사실관계 · 2024년 2월 23일 런던의 실시간 얼굴인식 배치</a:t>
            </a:r>
          </a:p>
        </p:txBody>
      </p:sp>
      <p:sp>
        <p:nvSpPr>
          <p:cNvPr id="6" name="">
            <a:extLst xmlns:a="http://schemas.openxmlformats.org/drawingml/2006/main">
              <a:ext uri="{FF2B5EF4-FFF2-40B4-BE49-F238E27FC236}">
                <a16:creationId xmlns:a16="http://schemas.microsoft.com/office/drawing/2014/main" id="{388079CF-8D5F-4C56-87D4-F668EABA8035}"/>
              </a:ext>
            </a:extLst>
          </p:cNvPr>
          <p:cNvSpPr>
            <a:spLocks xmlns:a="http://schemas.openxmlformats.org/drawingml/2006/main" noGrp="1"/>
          </p:cNvSpPr>
          <p:nvPr/>
        </p:nvSpPr>
        <p:spPr>
          <a:xfrm xmlns:a="http://schemas.openxmlformats.org/drawingml/2006/main">
            <a:off x="731520" y="2057400"/>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7" name="s26_rowlabel_6">
            <a:extLst xmlns:a="http://schemas.openxmlformats.org/drawingml/2006/main">
              <a:ext uri="{FF2B5EF4-FFF2-40B4-BE49-F238E27FC236}">
                <a16:creationId xmlns:a16="http://schemas.microsoft.com/office/drawing/2014/main" id="{C7BA72D7-FDD1-4C44-B526-B3AC8CF3CF1B}"/>
              </a:ext>
            </a:extLst>
          </p:cNvPr>
          <p:cNvSpPr>
            <a:spLocks xmlns:a="http://schemas.openxmlformats.org/drawingml/2006/main" noGrp="1"/>
          </p:cNvSpPr>
          <p:nvPr/>
        </p:nvSpPr>
        <p:spPr>
          <a:xfrm xmlns:a="http://schemas.openxmlformats.org/drawingml/2006/main">
            <a:off x="822960" y="2593213"/>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오인 경보</a:t>
            </a:r>
          </a:p>
        </p:txBody>
      </p:sp>
      <p:sp>
        <p:nvSpPr>
          <p:cNvPr id="8" name="s26_conclusion_7">
            <a:extLst xmlns:a="http://schemas.openxmlformats.org/drawingml/2006/main">
              <a:ext uri="{FF2B5EF4-FFF2-40B4-BE49-F238E27FC236}">
                <a16:creationId xmlns:a16="http://schemas.microsoft.com/office/drawing/2014/main" id="{0EBCD7E4-4B56-4C97-A05F-490C599862FD}"/>
              </a:ext>
            </a:extLst>
          </p:cNvPr>
          <p:cNvSpPr>
            <a:spLocks xmlns:a="http://schemas.openxmlformats.org/drawingml/2006/main" noGrp="1"/>
          </p:cNvSpPr>
          <p:nvPr/>
        </p:nvSpPr>
        <p:spPr>
          <a:xfrm xmlns:a="http://schemas.openxmlformats.org/drawingml/2006/main">
            <a:off x="3154680" y="2409762"/>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시스템이 Thompson을 형제로 오인했다.</a:t>
            </a:r>
          </a:p>
        </p:txBody>
      </p:sp>
      <p:sp>
        <p:nvSpPr>
          <p:cNvPr id="9" name="s26_supplement_8">
            <a:extLst xmlns:a="http://schemas.openxmlformats.org/drawingml/2006/main">
              <a:ext uri="{FF2B5EF4-FFF2-40B4-BE49-F238E27FC236}">
                <a16:creationId xmlns:a16="http://schemas.microsoft.com/office/drawing/2014/main" id="{F9803DEF-D510-44C1-857C-F9EEC5A40F94}"/>
              </a:ext>
            </a:extLst>
          </p:cNvPr>
          <p:cNvSpPr>
            <a:spLocks xmlns:a="http://schemas.openxmlformats.org/drawingml/2006/main" noGrp="1"/>
          </p:cNvSpPr>
          <p:nvPr/>
        </p:nvSpPr>
        <p:spPr>
          <a:xfrm xmlns:a="http://schemas.openxmlformats.org/drawingml/2006/main">
            <a:off x="3154680" y="2765870"/>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얼굴인식 경보 뒤 경찰이 통행 중인 그에게 접근했다.</a:t>
            </a:r>
          </a:p>
        </p:txBody>
      </p:sp>
      <p:sp>
        <p:nvSpPr>
          <p:cNvPr id="10" name="">
            <a:extLst xmlns:a="http://schemas.openxmlformats.org/drawingml/2006/main">
              <a:ext uri="{FF2B5EF4-FFF2-40B4-BE49-F238E27FC236}">
                <a16:creationId xmlns:a16="http://schemas.microsoft.com/office/drawing/2014/main" id="{05E3A1DC-86B9-4553-9427-247839C47FFE}"/>
              </a:ext>
            </a:extLst>
          </p:cNvPr>
          <p:cNvSpPr>
            <a:spLocks xmlns:a="http://schemas.openxmlformats.org/drawingml/2006/main" noGrp="1"/>
          </p:cNvSpPr>
          <p:nvPr/>
        </p:nvSpPr>
        <p:spPr>
          <a:xfrm xmlns:a="http://schemas.openxmlformats.org/drawingml/2006/main">
            <a:off x="731520" y="3419856"/>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1" name="s26_rowlabel_10">
            <a:extLst xmlns:a="http://schemas.openxmlformats.org/drawingml/2006/main">
              <a:ext uri="{FF2B5EF4-FFF2-40B4-BE49-F238E27FC236}">
                <a16:creationId xmlns:a16="http://schemas.microsoft.com/office/drawing/2014/main" id="{D0D586E8-C51F-4B16-BF53-3C2479A81E9D}"/>
              </a:ext>
            </a:extLst>
          </p:cNvPr>
          <p:cNvSpPr>
            <a:spLocks xmlns:a="http://schemas.openxmlformats.org/drawingml/2006/main" noGrp="1"/>
          </p:cNvSpPr>
          <p:nvPr/>
        </p:nvSpPr>
        <p:spPr>
          <a:xfrm xmlns:a="http://schemas.openxmlformats.org/drawingml/2006/main">
            <a:off x="822960" y="3955669"/>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경찰 접촉</a:t>
            </a:r>
          </a:p>
        </p:txBody>
      </p:sp>
      <p:sp>
        <p:nvSpPr>
          <p:cNvPr id="12" name="s26_conclusion_11">
            <a:extLst xmlns:a="http://schemas.openxmlformats.org/drawingml/2006/main">
              <a:ext uri="{FF2B5EF4-FFF2-40B4-BE49-F238E27FC236}">
                <a16:creationId xmlns:a16="http://schemas.microsoft.com/office/drawing/2014/main" id="{822B9C85-BE07-47DC-9A09-EACFB9640BD0}"/>
              </a:ext>
            </a:extLst>
          </p:cNvPr>
          <p:cNvSpPr>
            <a:spLocks xmlns:a="http://schemas.openxmlformats.org/drawingml/2006/main" noGrp="1"/>
          </p:cNvSpPr>
          <p:nvPr/>
        </p:nvSpPr>
        <p:spPr>
          <a:xfrm xmlns:a="http://schemas.openxmlformats.org/drawingml/2006/main">
            <a:off x="3154680" y="3772218"/>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정지·질문과 신원 증명 요구를 받았다.</a:t>
            </a:r>
          </a:p>
        </p:txBody>
      </p:sp>
      <p:sp>
        <p:nvSpPr>
          <p:cNvPr id="13" name="s26_supplement_12">
            <a:extLst xmlns:a="http://schemas.openxmlformats.org/drawingml/2006/main">
              <a:ext uri="{FF2B5EF4-FFF2-40B4-BE49-F238E27FC236}">
                <a16:creationId xmlns:a16="http://schemas.microsoft.com/office/drawing/2014/main" id="{05359B78-3C69-4200-ADF5-4DBB1136C769}"/>
              </a:ext>
            </a:extLst>
          </p:cNvPr>
          <p:cNvSpPr>
            <a:spLocks xmlns:a="http://schemas.openxmlformats.org/drawingml/2006/main" noGrp="1"/>
          </p:cNvSpPr>
          <p:nvPr/>
        </p:nvSpPr>
        <p:spPr>
          <a:xfrm xmlns:a="http://schemas.openxmlformats.org/drawingml/2006/main">
            <a:off x="3154680" y="4128326"/>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2026년 영국 고등법원 판결은 이 경험을 사건의 배경으로 기록했다.</a:t>
            </a:r>
          </a:p>
        </p:txBody>
      </p:sp>
      <p:sp>
        <p:nvSpPr>
          <p:cNvPr id="14" name="">
            <a:extLst xmlns:a="http://schemas.openxmlformats.org/drawingml/2006/main">
              <a:ext uri="{FF2B5EF4-FFF2-40B4-BE49-F238E27FC236}">
                <a16:creationId xmlns:a16="http://schemas.microsoft.com/office/drawing/2014/main" id="{C959FA3E-3423-48DF-A066-4236F5CECD18}"/>
              </a:ext>
            </a:extLst>
          </p:cNvPr>
          <p:cNvSpPr>
            <a:spLocks xmlns:a="http://schemas.openxmlformats.org/drawingml/2006/main" noGrp="1"/>
          </p:cNvSpPr>
          <p:nvPr/>
        </p:nvSpPr>
        <p:spPr>
          <a:xfrm xmlns:a="http://schemas.openxmlformats.org/drawingml/2006/main">
            <a:off x="731520" y="4782312"/>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5" name="s26_rowlabel_14">
            <a:extLst xmlns:a="http://schemas.openxmlformats.org/drawingml/2006/main">
              <a:ext uri="{FF2B5EF4-FFF2-40B4-BE49-F238E27FC236}">
                <a16:creationId xmlns:a16="http://schemas.microsoft.com/office/drawing/2014/main" id="{E12931CD-36F7-440C-8EFD-4EBC10E1B166}"/>
              </a:ext>
            </a:extLst>
          </p:cNvPr>
          <p:cNvSpPr>
            <a:spLocks xmlns:a="http://schemas.openxmlformats.org/drawingml/2006/main" noGrp="1"/>
          </p:cNvSpPr>
          <p:nvPr/>
        </p:nvSpPr>
        <p:spPr>
          <a:xfrm xmlns:a="http://schemas.openxmlformats.org/drawingml/2006/main">
            <a:off x="822960" y="5318125"/>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평가 항목</a:t>
            </a:r>
          </a:p>
        </p:txBody>
      </p:sp>
      <p:sp>
        <p:nvSpPr>
          <p:cNvPr id="16" name="s26_conclusion_15">
            <a:extLst xmlns:a="http://schemas.openxmlformats.org/drawingml/2006/main">
              <a:ext uri="{FF2B5EF4-FFF2-40B4-BE49-F238E27FC236}">
                <a16:creationId xmlns:a16="http://schemas.microsoft.com/office/drawing/2014/main" id="{3E87C927-7455-467D-9A04-403EDE5AA182}"/>
              </a:ext>
            </a:extLst>
          </p:cNvPr>
          <p:cNvSpPr>
            <a:spLocks xmlns:a="http://schemas.openxmlformats.org/drawingml/2006/main" noGrp="1"/>
          </p:cNvSpPr>
          <p:nvPr/>
        </p:nvSpPr>
        <p:spPr>
          <a:xfrm xmlns:a="http://schemas.openxmlformats.org/drawingml/2006/main">
            <a:off x="3154680" y="5134674"/>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정지 시간·질문·신원 확인 경험을 기록한다.</a:t>
            </a:r>
          </a:p>
        </p:txBody>
      </p:sp>
      <p:sp>
        <p:nvSpPr>
          <p:cNvPr id="17" name="s26_supplement_16">
            <a:extLst xmlns:a="http://schemas.openxmlformats.org/drawingml/2006/main">
              <a:ext uri="{FF2B5EF4-FFF2-40B4-BE49-F238E27FC236}">
                <a16:creationId xmlns:a16="http://schemas.microsoft.com/office/drawing/2014/main" id="{8EF72D10-6F9B-44EE-8540-46F5C8BCDA9E}"/>
              </a:ext>
            </a:extLst>
          </p:cNvPr>
          <p:cNvSpPr>
            <a:spLocks xmlns:a="http://schemas.openxmlformats.org/drawingml/2006/main" noGrp="1"/>
          </p:cNvSpPr>
          <p:nvPr/>
        </p:nvSpPr>
        <p:spPr>
          <a:xfrm xmlns:a="http://schemas.openxmlformats.org/drawingml/2006/main">
            <a:off x="3154680" y="5490782"/>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오경보로 인한 시민 부담을 평가할 때 현장 접촉의 내용도 포함한다.</a:t>
            </a:r>
          </a:p>
        </p:txBody>
      </p:sp>
      <p:sp>
        <p:nvSpPr>
          <p:cNvPr id="18" name="">
            <a:extLst xmlns:a="http://schemas.openxmlformats.org/drawingml/2006/main">
              <a:ext uri="{FF2B5EF4-FFF2-40B4-BE49-F238E27FC236}">
                <a16:creationId xmlns:a16="http://schemas.microsoft.com/office/drawing/2014/main" id="{F3AD3789-3C4B-42C6-B026-DD037233D7C7}"/>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2028208803"/>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27_kicker_0">
            <a:extLst xmlns:a="http://schemas.openxmlformats.org/drawingml/2006/main">
              <a:ext uri="{FF2B5EF4-FFF2-40B4-BE49-F238E27FC236}">
                <a16:creationId xmlns:a16="http://schemas.microsoft.com/office/drawing/2014/main" id="{52B0AAC3-E74F-4417-8DB5-F2BBC8703F50}"/>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오류와 권리</a:t>
            </a:r>
          </a:p>
        </p:txBody>
      </p:sp>
      <p:sp>
        <p:nvSpPr>
          <p:cNvPr id="2" name="s27_next_1">
            <a:extLst xmlns:a="http://schemas.openxmlformats.org/drawingml/2006/main">
              <a:ext uri="{FF2B5EF4-FFF2-40B4-BE49-F238E27FC236}">
                <a16:creationId xmlns:a16="http://schemas.microsoft.com/office/drawing/2014/main" id="{C87187C8-1A75-431C-840B-D6D577D72D8F}"/>
              </a:ext>
            </a:extLst>
          </p:cNvPr>
          <p:cNvSpPr>
            <a:spLocks xmlns:a="http://schemas.openxmlformats.org/drawingml/2006/main" noGrp="1"/>
          </p:cNvSpPr>
          <p:nvPr/>
        </p:nvSpPr>
        <p:spPr>
          <a:xfrm xmlns:a="http://schemas.openxmlformats.org/drawingml/2006/main">
            <a:off x="6035040" y="384048"/>
            <a:ext cx="5422392"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defRPr sz="1050" b="0">
                <a:solidFill>
                  <a:srgbClr val="464D5C"/>
                </a:solidFill>
                <a:latin typeface="Pretendard"/>
                <a:ea typeface="Pretendard"/>
                <a:cs typeface="Pretendard"/>
              </a:defRPr>
              <a:spcBef>
                <a:spcPts val="0"/>
              </a:spcBef>
              <a:spcAft>
                <a:spcPts val="0"/>
              </a:spcAft>
            </a:pPr>
            <a:r>
              <a:rPr sz="1050" b="0">
                <a:solidFill>
                  <a:srgbClr val="464D5C"/>
                </a:solidFill>
                <a:latin typeface="Pretendard"/>
                <a:ea typeface="Pretendard"/>
                <a:cs typeface="Pretendard"/>
              </a:rPr>
              <a:t>다음  삭제와 권리구제를 함께 설계하기</a:t>
            </a:r>
          </a:p>
        </p:txBody>
      </p:sp>
      <p:sp>
        <p:nvSpPr>
          <p:cNvPr id="3" name="s27_title_2">
            <a:extLst xmlns:a="http://schemas.openxmlformats.org/drawingml/2006/main">
              <a:ext uri="{FF2B5EF4-FFF2-40B4-BE49-F238E27FC236}">
                <a16:creationId xmlns:a16="http://schemas.microsoft.com/office/drawing/2014/main" id="{53E48776-7EDD-4C74-BB8C-16779C2AA1D4}"/>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평화적 시위자를 찾아낸 얼굴인식</a:t>
            </a:r>
          </a:p>
        </p:txBody>
      </p:sp>
      <p:sp>
        <p:nvSpPr>
          <p:cNvPr id="4" name="">
            <a:extLst xmlns:a="http://schemas.openxmlformats.org/drawingml/2006/main">
              <a:ext uri="{FF2B5EF4-FFF2-40B4-BE49-F238E27FC236}">
                <a16:creationId xmlns:a16="http://schemas.microsoft.com/office/drawing/2014/main" id="{D89F5263-CE30-410F-A0EA-C3A69D0A827D}"/>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27_band_4">
            <a:extLst xmlns:a="http://schemas.openxmlformats.org/drawingml/2006/main">
              <a:ext uri="{FF2B5EF4-FFF2-40B4-BE49-F238E27FC236}">
                <a16:creationId xmlns:a16="http://schemas.microsoft.com/office/drawing/2014/main" id="{371EA83A-81BD-450C-B290-827E23D31574}"/>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유럽인권재판소 Glukhin v. Russia · 11519/20 · 2023년 7월 4일</a:t>
            </a:r>
          </a:p>
        </p:txBody>
      </p:sp>
      <p:sp>
        <p:nvSpPr>
          <p:cNvPr id="6" name="">
            <a:extLst xmlns:a="http://schemas.openxmlformats.org/drawingml/2006/main">
              <a:ext uri="{FF2B5EF4-FFF2-40B4-BE49-F238E27FC236}">
                <a16:creationId xmlns:a16="http://schemas.microsoft.com/office/drawing/2014/main" id="{210966C9-BCD0-49E8-BB3A-1D02DD10766E}"/>
              </a:ext>
            </a:extLst>
          </p:cNvPr>
          <p:cNvSpPr>
            <a:spLocks xmlns:a="http://schemas.openxmlformats.org/drawingml/2006/main" noGrp="1"/>
          </p:cNvSpPr>
          <p:nvPr/>
        </p:nvSpPr>
        <p:spPr>
          <a:xfrm xmlns:a="http://schemas.openxmlformats.org/drawingml/2006/main">
            <a:off x="731520" y="2057400"/>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7" name="s27_rowlabel_6">
            <a:extLst xmlns:a="http://schemas.openxmlformats.org/drawingml/2006/main">
              <a:ext uri="{FF2B5EF4-FFF2-40B4-BE49-F238E27FC236}">
                <a16:creationId xmlns:a16="http://schemas.microsoft.com/office/drawing/2014/main" id="{31AB46C3-E5AF-42D4-A06A-4E3DA6D19C86}"/>
              </a:ext>
            </a:extLst>
          </p:cNvPr>
          <p:cNvSpPr>
            <a:spLocks xmlns:a="http://schemas.openxmlformats.org/drawingml/2006/main" noGrp="1"/>
          </p:cNvSpPr>
          <p:nvPr/>
        </p:nvSpPr>
        <p:spPr>
          <a:xfrm xmlns:a="http://schemas.openxmlformats.org/drawingml/2006/main">
            <a:off x="822960" y="2593213"/>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대상 행위</a:t>
            </a:r>
          </a:p>
        </p:txBody>
      </p:sp>
      <p:sp>
        <p:nvSpPr>
          <p:cNvPr id="8" name="s27_conclusion_7">
            <a:extLst xmlns:a="http://schemas.openxmlformats.org/drawingml/2006/main">
              <a:ext uri="{FF2B5EF4-FFF2-40B4-BE49-F238E27FC236}">
                <a16:creationId xmlns:a16="http://schemas.microsoft.com/office/drawing/2014/main" id="{C2548C1C-1F76-428C-A5A1-B3617735EA45}"/>
              </a:ext>
            </a:extLst>
          </p:cNvPr>
          <p:cNvSpPr>
            <a:spLocks xmlns:a="http://schemas.openxmlformats.org/drawingml/2006/main" noGrp="1"/>
          </p:cNvSpPr>
          <p:nvPr/>
        </p:nvSpPr>
        <p:spPr>
          <a:xfrm xmlns:a="http://schemas.openxmlformats.org/drawingml/2006/main">
            <a:off x="3154680" y="2409762"/>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Glukhin은 지하철에서 평화적 1인 시위를 했다.</a:t>
            </a:r>
          </a:p>
        </p:txBody>
      </p:sp>
      <p:sp>
        <p:nvSpPr>
          <p:cNvPr id="9" name="s27_supplement_8">
            <a:extLst xmlns:a="http://schemas.openxmlformats.org/drawingml/2006/main">
              <a:ext uri="{FF2B5EF4-FFF2-40B4-BE49-F238E27FC236}">
                <a16:creationId xmlns:a16="http://schemas.microsoft.com/office/drawing/2014/main" id="{E1801CC9-20C3-4395-8C10-01C29061A14D}"/>
              </a:ext>
            </a:extLst>
          </p:cNvPr>
          <p:cNvSpPr>
            <a:spLocks xmlns:a="http://schemas.openxmlformats.org/drawingml/2006/main" noGrp="1"/>
          </p:cNvSpPr>
          <p:nvPr/>
        </p:nvSpPr>
        <p:spPr>
          <a:xfrm xmlns:a="http://schemas.openxmlformats.org/drawingml/2006/main">
            <a:off x="3154680" y="2765870"/>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경찰은 온라인 사진·영상으로 그를 식별하고 지하철에서 찾아 체포했다.</a:t>
            </a:r>
          </a:p>
        </p:txBody>
      </p:sp>
      <p:sp>
        <p:nvSpPr>
          <p:cNvPr id="10" name="">
            <a:extLst xmlns:a="http://schemas.openxmlformats.org/drawingml/2006/main">
              <a:ext uri="{FF2B5EF4-FFF2-40B4-BE49-F238E27FC236}">
                <a16:creationId xmlns:a16="http://schemas.microsoft.com/office/drawing/2014/main" id="{F3503D6F-9A2F-4A79-8807-F608D649E3D4}"/>
              </a:ext>
            </a:extLst>
          </p:cNvPr>
          <p:cNvSpPr>
            <a:spLocks xmlns:a="http://schemas.openxmlformats.org/drawingml/2006/main" noGrp="1"/>
          </p:cNvSpPr>
          <p:nvPr/>
        </p:nvSpPr>
        <p:spPr>
          <a:xfrm xmlns:a="http://schemas.openxmlformats.org/drawingml/2006/main">
            <a:off x="731520" y="3419856"/>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1" name="s27_rowlabel_10">
            <a:extLst xmlns:a="http://schemas.openxmlformats.org/drawingml/2006/main">
              <a:ext uri="{FF2B5EF4-FFF2-40B4-BE49-F238E27FC236}">
                <a16:creationId xmlns:a16="http://schemas.microsoft.com/office/drawing/2014/main" id="{39B0E33F-3F91-4D99-BEFF-9F464B246842}"/>
              </a:ext>
            </a:extLst>
          </p:cNvPr>
          <p:cNvSpPr>
            <a:spLocks xmlns:a="http://schemas.openxmlformats.org/drawingml/2006/main" noGrp="1"/>
          </p:cNvSpPr>
          <p:nvPr/>
        </p:nvSpPr>
        <p:spPr>
          <a:xfrm xmlns:a="http://schemas.openxmlformats.org/drawingml/2006/main">
            <a:off x="822960" y="3955669"/>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판단 이유</a:t>
            </a:r>
          </a:p>
        </p:txBody>
      </p:sp>
      <p:sp>
        <p:nvSpPr>
          <p:cNvPr id="12" name="s27_conclusion_11">
            <a:extLst xmlns:a="http://schemas.openxmlformats.org/drawingml/2006/main">
              <a:ext uri="{FF2B5EF4-FFF2-40B4-BE49-F238E27FC236}">
                <a16:creationId xmlns:a16="http://schemas.microsoft.com/office/drawing/2014/main" id="{A707F5E1-A2B6-45AD-9DDE-8C1F20E36A2A}"/>
              </a:ext>
            </a:extLst>
          </p:cNvPr>
          <p:cNvSpPr>
            <a:spLocks xmlns:a="http://schemas.openxmlformats.org/drawingml/2006/main" noGrp="1"/>
          </p:cNvSpPr>
          <p:nvPr/>
        </p:nvSpPr>
        <p:spPr>
          <a:xfrm xmlns:a="http://schemas.openxmlformats.org/drawingml/2006/main">
            <a:off x="3154680" y="3772218"/>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법원은 사용 목적과 권리 침해를 심사했다.</a:t>
            </a:r>
          </a:p>
        </p:txBody>
      </p:sp>
      <p:sp>
        <p:nvSpPr>
          <p:cNvPr id="13" name="s27_supplement_12">
            <a:extLst xmlns:a="http://schemas.openxmlformats.org/drawingml/2006/main">
              <a:ext uri="{FF2B5EF4-FFF2-40B4-BE49-F238E27FC236}">
                <a16:creationId xmlns:a16="http://schemas.microsoft.com/office/drawing/2014/main" id="{44D14D40-4851-45E0-BE98-04DCFDF21E88}"/>
              </a:ext>
            </a:extLst>
          </p:cNvPr>
          <p:cNvSpPr>
            <a:spLocks xmlns:a="http://schemas.openxmlformats.org/drawingml/2006/main" noGrp="1"/>
          </p:cNvSpPr>
          <p:nvPr/>
        </p:nvSpPr>
        <p:spPr>
          <a:xfrm xmlns:a="http://schemas.openxmlformats.org/drawingml/2006/main">
            <a:off x="3154680" y="4128326"/>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경미한 행위에 침해적인 식별·추적을 사용한 필요성과 표현·집회의 위축을 문제 삼았다.</a:t>
            </a:r>
          </a:p>
        </p:txBody>
      </p:sp>
      <p:sp>
        <p:nvSpPr>
          <p:cNvPr id="14" name="">
            <a:extLst xmlns:a="http://schemas.openxmlformats.org/drawingml/2006/main">
              <a:ext uri="{FF2B5EF4-FFF2-40B4-BE49-F238E27FC236}">
                <a16:creationId xmlns:a16="http://schemas.microsoft.com/office/drawing/2014/main" id="{B14E4141-14A5-45BA-8D91-0524BC476CA5}"/>
              </a:ext>
            </a:extLst>
          </p:cNvPr>
          <p:cNvSpPr>
            <a:spLocks xmlns:a="http://schemas.openxmlformats.org/drawingml/2006/main" noGrp="1"/>
          </p:cNvSpPr>
          <p:nvPr/>
        </p:nvSpPr>
        <p:spPr>
          <a:xfrm xmlns:a="http://schemas.openxmlformats.org/drawingml/2006/main">
            <a:off x="731520" y="4782312"/>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5" name="s27_rowlabel_14">
            <a:extLst xmlns:a="http://schemas.openxmlformats.org/drawingml/2006/main">
              <a:ext uri="{FF2B5EF4-FFF2-40B4-BE49-F238E27FC236}">
                <a16:creationId xmlns:a16="http://schemas.microsoft.com/office/drawing/2014/main" id="{BA389770-1895-42D4-93BF-BEACA4E9B0CE}"/>
              </a:ext>
            </a:extLst>
          </p:cNvPr>
          <p:cNvSpPr>
            <a:spLocks xmlns:a="http://schemas.openxmlformats.org/drawingml/2006/main" noGrp="1"/>
          </p:cNvSpPr>
          <p:nvPr/>
        </p:nvSpPr>
        <p:spPr>
          <a:xfrm xmlns:a="http://schemas.openxmlformats.org/drawingml/2006/main">
            <a:off x="822960" y="5318125"/>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판결</a:t>
            </a:r>
          </a:p>
        </p:txBody>
      </p:sp>
      <p:sp>
        <p:nvSpPr>
          <p:cNvPr id="16" name="s27_conclusion_15">
            <a:extLst xmlns:a="http://schemas.openxmlformats.org/drawingml/2006/main">
              <a:ext uri="{FF2B5EF4-FFF2-40B4-BE49-F238E27FC236}">
                <a16:creationId xmlns:a16="http://schemas.microsoft.com/office/drawing/2014/main" id="{C4A079F1-0E5E-4BA0-90EB-FF25D8B0018B}"/>
              </a:ext>
            </a:extLst>
          </p:cNvPr>
          <p:cNvSpPr>
            <a:spLocks xmlns:a="http://schemas.openxmlformats.org/drawingml/2006/main" noGrp="1"/>
          </p:cNvSpPr>
          <p:nvPr/>
        </p:nvSpPr>
        <p:spPr>
          <a:xfrm xmlns:a="http://schemas.openxmlformats.org/drawingml/2006/main">
            <a:off x="3154680" y="5029898"/>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사생활과 표현의 자유 침해를 인정했다.</a:t>
            </a:r>
          </a:p>
        </p:txBody>
      </p:sp>
      <p:sp>
        <p:nvSpPr>
          <p:cNvPr id="17" name="s27_supplement_16">
            <a:extLst xmlns:a="http://schemas.openxmlformats.org/drawingml/2006/main">
              <a:ext uri="{FF2B5EF4-FFF2-40B4-BE49-F238E27FC236}">
                <a16:creationId xmlns:a16="http://schemas.microsoft.com/office/drawing/2014/main" id="{92FE0C44-3E89-4839-8EC5-BB5E9BC56410}"/>
              </a:ext>
            </a:extLst>
          </p:cNvPr>
          <p:cNvSpPr>
            <a:spLocks xmlns:a="http://schemas.openxmlformats.org/drawingml/2006/main" noGrp="1"/>
          </p:cNvSpPr>
          <p:nvPr/>
        </p:nvSpPr>
        <p:spPr>
          <a:xfrm xmlns:a="http://schemas.openxmlformats.org/drawingml/2006/main">
            <a:off x="3154680" y="5386007"/>
            <a:ext cx="8302752" cy="447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원문 §91: “There has accordingly been a violation of Article 8 of the Convention.” — 번역: 따라서 협약 제8조</a:t>
            </a:r>
          </a:p>
          <a:p xmlns:a="http://schemas.openxmlformats.org/drawingml/2006/main">
            <a:pPr algn="l">
              <a:lnSpc>
                <a:spcPct val="125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위반이 있었다.</a:t>
            </a:r>
          </a:p>
        </p:txBody>
      </p:sp>
      <p:sp>
        <p:nvSpPr>
          <p:cNvPr id="18" name="">
            <a:extLst xmlns:a="http://schemas.openxmlformats.org/drawingml/2006/main">
              <a:ext uri="{FF2B5EF4-FFF2-40B4-BE49-F238E27FC236}">
                <a16:creationId xmlns:a16="http://schemas.microsoft.com/office/drawing/2014/main" id="{D13608E2-86A3-4733-A63A-D575FABD9383}"/>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125953236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28_kicker_0">
            <a:extLst xmlns:a="http://schemas.openxmlformats.org/drawingml/2006/main">
              <a:ext uri="{FF2B5EF4-FFF2-40B4-BE49-F238E27FC236}">
                <a16:creationId xmlns:a16="http://schemas.microsoft.com/office/drawing/2014/main" id="{0BF2D30E-2459-48F6-9A64-8D936E26A2F7}"/>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오류와 권리</a:t>
            </a:r>
          </a:p>
        </p:txBody>
      </p:sp>
      <p:sp>
        <p:nvSpPr>
          <p:cNvPr id="2" name="s28_next_1">
            <a:extLst xmlns:a="http://schemas.openxmlformats.org/drawingml/2006/main">
              <a:ext uri="{FF2B5EF4-FFF2-40B4-BE49-F238E27FC236}">
                <a16:creationId xmlns:a16="http://schemas.microsoft.com/office/drawing/2014/main" id="{C36AF573-E068-40AE-BBA1-F3B337110278}"/>
              </a:ext>
            </a:extLst>
          </p:cNvPr>
          <p:cNvSpPr>
            <a:spLocks xmlns:a="http://schemas.openxmlformats.org/drawingml/2006/main" noGrp="1"/>
          </p:cNvSpPr>
          <p:nvPr/>
        </p:nvSpPr>
        <p:spPr>
          <a:xfrm xmlns:a="http://schemas.openxmlformats.org/drawingml/2006/main">
            <a:off x="6035040" y="384048"/>
            <a:ext cx="5422392"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defRPr sz="1050" b="0">
                <a:solidFill>
                  <a:srgbClr val="464D5C"/>
                </a:solidFill>
                <a:latin typeface="Pretendard"/>
                <a:ea typeface="Pretendard"/>
                <a:cs typeface="Pretendard"/>
              </a:defRPr>
              <a:spcBef>
                <a:spcPts val="0"/>
              </a:spcBef>
              <a:spcAft>
                <a:spcPts val="0"/>
              </a:spcAft>
            </a:pPr>
            <a:r>
              <a:rPr sz="1050" b="0">
                <a:solidFill>
                  <a:srgbClr val="464D5C"/>
                </a:solidFill>
                <a:latin typeface="Pretendard"/>
                <a:ea typeface="Pretendard"/>
                <a:cs typeface="Pretendard"/>
              </a:rPr>
              <a:t>다음  보호 입법 전 도입 중지 권고</a:t>
            </a:r>
          </a:p>
        </p:txBody>
      </p:sp>
      <p:sp>
        <p:nvSpPr>
          <p:cNvPr id="3" name="s28_title_2">
            <a:extLst xmlns:a="http://schemas.openxmlformats.org/drawingml/2006/main">
              <a:ext uri="{FF2B5EF4-FFF2-40B4-BE49-F238E27FC236}">
                <a16:creationId xmlns:a16="http://schemas.microsoft.com/office/drawing/2014/main" id="{63E42A2C-C5CC-4873-AAF6-D9BDCE3887B1}"/>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삭제와 권리구제를 함께 설계하기</a:t>
            </a:r>
          </a:p>
        </p:txBody>
      </p:sp>
      <p:sp>
        <p:nvSpPr>
          <p:cNvPr id="4" name="">
            <a:extLst xmlns:a="http://schemas.openxmlformats.org/drawingml/2006/main">
              <a:ext uri="{FF2B5EF4-FFF2-40B4-BE49-F238E27FC236}">
                <a16:creationId xmlns:a16="http://schemas.microsoft.com/office/drawing/2014/main" id="{1B145E07-0B4A-49A7-88CB-7E164FC2D941}"/>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28_band_4">
            <a:extLst xmlns:a="http://schemas.openxmlformats.org/drawingml/2006/main">
              <a:ext uri="{FF2B5EF4-FFF2-40B4-BE49-F238E27FC236}">
                <a16:creationId xmlns:a16="http://schemas.microsoft.com/office/drawing/2014/main" id="{72D447A1-E7E1-4DE0-8F9C-F605086B374C}"/>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설계 선택: 원영상·생체 특징·경보 기록의 목적과 보존기간을 따로 정한다.</a:t>
            </a:r>
          </a:p>
        </p:txBody>
      </p:sp>
      <p:graphicFrame>
        <p:nvGraphicFramePr>
          <p:cNvPr id="13" name=""/>
          <p:cNvGraphicFramePr/>
          <p:nvPr/>
        </p:nvGraphicFramePr>
        <p:xfrm>
          <a:off xmlns:a="http://schemas.openxmlformats.org/drawingml/2006/main" x="731520" y="2057400"/>
          <a:ext xmlns:a="http://schemas.openxmlformats.org/drawingml/2006/main" cx="10725912" cy="4087368"/>
        </p:xfrm>
        <a:graphic xmlns:a="http://schemas.openxmlformats.org/drawingml/2006/main">
          <a:graphicData uri="http://schemas.openxmlformats.org/drawingml/2006/table">
            <a:tbl>
              <a:tblPr firstRow="0" firstCol="0" bandRow="0" bandCol="0"/>
              <a:tblGrid>
                <a:gridCol w="2148840"/>
                <a:gridCol w="4087368"/>
                <a:gridCol w="4489704"/>
              </a:tblGrid>
              <a:tr h="512064">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자료 종류</a:t>
                      </a:r>
                    </a:p>
                  </a:txBody>
                  <a:tcPr marL="146304" marR="146304" marT="91440" marB="91440" anchor="ctr">
                    <a:solidFill>
                      <a:srgbClr val="F2F4F8"/>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300" b="1">
                          <a:solidFill>
                            <a:srgbClr val="1E2761"/>
                          </a:solidFill>
                          <a:latin typeface="Pretendard"/>
                          <a:ea typeface="Pretendard"/>
                          <a:cs typeface="Pretendard"/>
                        </a:rPr>
                        <a:t>운영 기준의 선택</a:t>
                      </a:r>
                    </a:p>
                  </a:txBody>
                  <a:tcPr marL="146304" marR="146304" marT="91440" marB="91440" anchor="ctr">
                    <a:solidFill>
                      <a:srgbClr val="F2F4F8"/>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300" b="1">
                          <a:solidFill>
                            <a:srgbClr val="1E2761"/>
                          </a:solidFill>
                          <a:latin typeface="Pretendard"/>
                          <a:ea typeface="Pretendard"/>
                          <a:cs typeface="Pretendard"/>
                        </a:rPr>
                        <a:t>보호하려는 것</a:t>
                      </a:r>
                    </a:p>
                  </a:txBody>
                  <a:tcPr marL="146304" marR="146304" marT="91440" marB="91440" anchor="ctr">
                    <a:solidFill>
                      <a:srgbClr val="F2F4F8"/>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r h="1191768">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통행인 특징정보</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일치 후보가 없으면 신속히 삭제</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불필요한 생체정보 축적을 줄인다.</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r h="1191768">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경보·판단 기록</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법적 근거와 보존기간을 정해 최소 기록 보존</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누가 어떤 근거로 접근·체포했는지 이의를 제기할 수 있게 한다.</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r h="1191768">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접근·변경 기록</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명단 등록·열람·정정·삭제의 이력 관리</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목적 외 사용을 찾아내고 책임 주체를 확인한다.</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bl>
          </a:graphicData>
        </a:graphic>
      </p:graphicFrame>
      <p:sp>
        <p:nvSpPr>
          <p:cNvPr id="7" name="">
            <a:extLst xmlns:a="http://schemas.openxmlformats.org/drawingml/2006/main">
              <a:ext uri="{FF2B5EF4-FFF2-40B4-BE49-F238E27FC236}">
                <a16:creationId xmlns:a16="http://schemas.microsoft.com/office/drawing/2014/main" id="{F5E46180-F75D-4B93-B30E-DD955B393FD4}"/>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181790815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29_kicker_0">
            <a:extLst xmlns:a="http://schemas.openxmlformats.org/drawingml/2006/main">
              <a:ext uri="{FF2B5EF4-FFF2-40B4-BE49-F238E27FC236}">
                <a16:creationId xmlns:a16="http://schemas.microsoft.com/office/drawing/2014/main" id="{998A7B86-D3B9-41BF-BF5F-F151C1108CDC}"/>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허용 조건과 대안</a:t>
            </a:r>
          </a:p>
        </p:txBody>
      </p:sp>
      <p:sp>
        <p:nvSpPr>
          <p:cNvPr id="2" name="s29_next_1">
            <a:extLst xmlns:a="http://schemas.openxmlformats.org/drawingml/2006/main">
              <a:ext uri="{FF2B5EF4-FFF2-40B4-BE49-F238E27FC236}">
                <a16:creationId xmlns:a16="http://schemas.microsoft.com/office/drawing/2014/main" id="{219C1261-3BDE-4AD2-9AFA-A7A469154854}"/>
              </a:ext>
            </a:extLst>
          </p:cNvPr>
          <p:cNvSpPr>
            <a:spLocks xmlns:a="http://schemas.openxmlformats.org/drawingml/2006/main" noGrp="1"/>
          </p:cNvSpPr>
          <p:nvPr/>
        </p:nvSpPr>
        <p:spPr>
          <a:xfrm xmlns:a="http://schemas.openxmlformats.org/drawingml/2006/main">
            <a:off x="6035040" y="384048"/>
            <a:ext cx="5422392"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defRPr sz="1050" b="0">
                <a:solidFill>
                  <a:srgbClr val="464D5C"/>
                </a:solidFill>
                <a:latin typeface="Pretendard"/>
                <a:ea typeface="Pretendard"/>
                <a:cs typeface="Pretendard"/>
              </a:defRPr>
              <a:spcBef>
                <a:spcPts val="0"/>
              </a:spcBef>
              <a:spcAft>
                <a:spcPts val="0"/>
              </a:spcAft>
            </a:pPr>
            <a:r>
              <a:rPr sz="1050" b="0">
                <a:solidFill>
                  <a:srgbClr val="464D5C"/>
                </a:solidFill>
                <a:latin typeface="Pretendard"/>
                <a:ea typeface="Pretendard"/>
                <a:cs typeface="Pretendard"/>
              </a:rPr>
              <a:t>다음  엄격한 조건 아래 중범죄 대응 활용</a:t>
            </a:r>
          </a:p>
        </p:txBody>
      </p:sp>
      <p:sp>
        <p:nvSpPr>
          <p:cNvPr id="3" name="s29_title_2">
            <a:extLst xmlns:a="http://schemas.openxmlformats.org/drawingml/2006/main">
              <a:ext uri="{FF2B5EF4-FFF2-40B4-BE49-F238E27FC236}">
                <a16:creationId xmlns:a16="http://schemas.microsoft.com/office/drawing/2014/main" id="{BEEC8C25-2867-4B6B-95C2-7F7935C3E377}"/>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보호 입법 전 도입 중지 권고</a:t>
            </a:r>
          </a:p>
        </p:txBody>
      </p:sp>
      <p:sp>
        <p:nvSpPr>
          <p:cNvPr id="4" name="">
            <a:extLst xmlns:a="http://schemas.openxmlformats.org/drawingml/2006/main">
              <a:ext uri="{FF2B5EF4-FFF2-40B4-BE49-F238E27FC236}">
                <a16:creationId xmlns:a16="http://schemas.microsoft.com/office/drawing/2014/main" id="{AD560920-0398-4453-9877-289C31285AD1}"/>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29_band_4">
            <a:extLst xmlns:a="http://schemas.openxmlformats.org/drawingml/2006/main">
              <a:ext uri="{FF2B5EF4-FFF2-40B4-BE49-F238E27FC236}">
                <a16:creationId xmlns:a16="http://schemas.microsoft.com/office/drawing/2014/main" id="{4C4D4935-F5B4-4D9C-9418-57B01B16397C}"/>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국가인권위원회 2023년 권고 · 2024년 국무총리 회신 수용 공표</a:t>
            </a:r>
          </a:p>
        </p:txBody>
      </p:sp>
      <p:sp>
        <p:nvSpPr>
          <p:cNvPr id="6" name="">
            <a:extLst xmlns:a="http://schemas.openxmlformats.org/drawingml/2006/main">
              <a:ext uri="{FF2B5EF4-FFF2-40B4-BE49-F238E27FC236}">
                <a16:creationId xmlns:a16="http://schemas.microsoft.com/office/drawing/2014/main" id="{D981B14E-933A-4AA9-A1BA-65069AC60B29}"/>
              </a:ext>
            </a:extLst>
          </p:cNvPr>
          <p:cNvSpPr>
            <a:spLocks xmlns:a="http://schemas.openxmlformats.org/drawingml/2006/main" noGrp="1"/>
          </p:cNvSpPr>
          <p:nvPr/>
        </p:nvSpPr>
        <p:spPr>
          <a:xfrm xmlns:a="http://schemas.openxmlformats.org/drawingml/2006/main">
            <a:off x="731520" y="2057400"/>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7" name="s29_rowlabel_6">
            <a:extLst xmlns:a="http://schemas.openxmlformats.org/drawingml/2006/main">
              <a:ext uri="{FF2B5EF4-FFF2-40B4-BE49-F238E27FC236}">
                <a16:creationId xmlns:a16="http://schemas.microsoft.com/office/drawing/2014/main" id="{47D52831-4E70-486D-B30E-757D94BAB385}"/>
              </a:ext>
            </a:extLst>
          </p:cNvPr>
          <p:cNvSpPr>
            <a:spLocks xmlns:a="http://schemas.openxmlformats.org/drawingml/2006/main" noGrp="1"/>
          </p:cNvSpPr>
          <p:nvPr/>
        </p:nvSpPr>
        <p:spPr>
          <a:xfrm xmlns:a="http://schemas.openxmlformats.org/drawingml/2006/main">
            <a:off x="822960" y="2593213"/>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인권위 권고</a:t>
            </a:r>
          </a:p>
        </p:txBody>
      </p:sp>
      <p:sp>
        <p:nvSpPr>
          <p:cNvPr id="8" name="s29_conclusion_7">
            <a:extLst xmlns:a="http://schemas.openxmlformats.org/drawingml/2006/main">
              <a:ext uri="{FF2B5EF4-FFF2-40B4-BE49-F238E27FC236}">
                <a16:creationId xmlns:a16="http://schemas.microsoft.com/office/drawing/2014/main" id="{E8176C02-30A1-4C8D-B250-41F12FD2189D}"/>
              </a:ext>
            </a:extLst>
          </p:cNvPr>
          <p:cNvSpPr>
            <a:spLocks xmlns:a="http://schemas.openxmlformats.org/drawingml/2006/main" noGrp="1"/>
          </p:cNvSpPr>
          <p:nvPr/>
        </p:nvSpPr>
        <p:spPr>
          <a:xfrm xmlns:a="http://schemas.openxmlformats.org/drawingml/2006/main">
            <a:off x="3154680" y="2409762"/>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공공장소의 실시간 원격 얼굴인식에 통제를 요구했다.</a:t>
            </a:r>
          </a:p>
        </p:txBody>
      </p:sp>
      <p:sp>
        <p:nvSpPr>
          <p:cNvPr id="9" name="s29_supplement_8">
            <a:extLst xmlns:a="http://schemas.openxmlformats.org/drawingml/2006/main">
              <a:ext uri="{FF2B5EF4-FFF2-40B4-BE49-F238E27FC236}">
                <a16:creationId xmlns:a16="http://schemas.microsoft.com/office/drawing/2014/main" id="{D5140038-0BE5-4AC8-9176-D977F2CA3728}"/>
              </a:ext>
            </a:extLst>
          </p:cNvPr>
          <p:cNvSpPr>
            <a:spLocks xmlns:a="http://schemas.openxmlformats.org/drawingml/2006/main" noGrp="1"/>
          </p:cNvSpPr>
          <p:nvPr/>
        </p:nvSpPr>
        <p:spPr>
          <a:xfrm xmlns:a="http://schemas.openxmlformats.org/drawingml/2006/main">
            <a:off x="3154680" y="2765870"/>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보호 입법 전 공공기관의 도입·활용 중지, 원칙적 금지와 엄격한 예외 등 기준 마련을 권고했다.</a:t>
            </a:r>
          </a:p>
        </p:txBody>
      </p:sp>
      <p:sp>
        <p:nvSpPr>
          <p:cNvPr id="10" name="">
            <a:extLst xmlns:a="http://schemas.openxmlformats.org/drawingml/2006/main">
              <a:ext uri="{FF2B5EF4-FFF2-40B4-BE49-F238E27FC236}">
                <a16:creationId xmlns:a16="http://schemas.microsoft.com/office/drawing/2014/main" id="{F1E6CCDE-56E1-4BD7-A60C-91AEC507EABE}"/>
              </a:ext>
            </a:extLst>
          </p:cNvPr>
          <p:cNvSpPr>
            <a:spLocks xmlns:a="http://schemas.openxmlformats.org/drawingml/2006/main" noGrp="1"/>
          </p:cNvSpPr>
          <p:nvPr/>
        </p:nvSpPr>
        <p:spPr>
          <a:xfrm xmlns:a="http://schemas.openxmlformats.org/drawingml/2006/main">
            <a:off x="731520" y="3419856"/>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1" name="s29_rowlabel_10">
            <a:extLst xmlns:a="http://schemas.openxmlformats.org/drawingml/2006/main">
              <a:ext uri="{FF2B5EF4-FFF2-40B4-BE49-F238E27FC236}">
                <a16:creationId xmlns:a16="http://schemas.microsoft.com/office/drawing/2014/main" id="{0E1AB933-F599-43AA-B70A-75C955F987FB}"/>
              </a:ext>
            </a:extLst>
          </p:cNvPr>
          <p:cNvSpPr>
            <a:spLocks xmlns:a="http://schemas.openxmlformats.org/drawingml/2006/main" noGrp="1"/>
          </p:cNvSpPr>
          <p:nvPr/>
        </p:nvSpPr>
        <p:spPr>
          <a:xfrm xmlns:a="http://schemas.openxmlformats.org/drawingml/2006/main">
            <a:off x="822960" y="3955669"/>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정부 회신</a:t>
            </a:r>
          </a:p>
        </p:txBody>
      </p:sp>
      <p:sp>
        <p:nvSpPr>
          <p:cNvPr id="12" name="s29_conclusion_11">
            <a:extLst xmlns:a="http://schemas.openxmlformats.org/drawingml/2006/main">
              <a:ext uri="{FF2B5EF4-FFF2-40B4-BE49-F238E27FC236}">
                <a16:creationId xmlns:a16="http://schemas.microsoft.com/office/drawing/2014/main" id="{03920B96-C5AB-4CBA-A1EA-3E94FF57C309}"/>
              </a:ext>
            </a:extLst>
          </p:cNvPr>
          <p:cNvSpPr>
            <a:spLocks xmlns:a="http://schemas.openxmlformats.org/drawingml/2006/main" noGrp="1"/>
          </p:cNvSpPr>
          <p:nvPr/>
        </p:nvSpPr>
        <p:spPr>
          <a:xfrm xmlns:a="http://schemas.openxmlformats.org/drawingml/2006/main">
            <a:off x="3154680" y="3772218"/>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개별 법적 근거 없는 도입을 하지 않겠다고 밝혔다.</a:t>
            </a:r>
          </a:p>
        </p:txBody>
      </p:sp>
      <p:sp>
        <p:nvSpPr>
          <p:cNvPr id="13" name="s29_supplement_12">
            <a:extLst xmlns:a="http://schemas.openxmlformats.org/drawingml/2006/main">
              <a:ext uri="{FF2B5EF4-FFF2-40B4-BE49-F238E27FC236}">
                <a16:creationId xmlns:a16="http://schemas.microsoft.com/office/drawing/2014/main" id="{EB79E437-BC34-487F-8889-9A0B4CFE9ED1}"/>
              </a:ext>
            </a:extLst>
          </p:cNvPr>
          <p:cNvSpPr>
            <a:spLocks xmlns:a="http://schemas.openxmlformats.org/drawingml/2006/main" noGrp="1"/>
          </p:cNvSpPr>
          <p:nvPr/>
        </p:nvSpPr>
        <p:spPr>
          <a:xfrm xmlns:a="http://schemas.openxmlformats.org/drawingml/2006/main">
            <a:off x="3154680" y="4128326"/>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인권위는 2024년 국무조정실의 회신을 권고 수용으로 판단해 공표했다.</a:t>
            </a:r>
          </a:p>
        </p:txBody>
      </p:sp>
      <p:sp>
        <p:nvSpPr>
          <p:cNvPr id="14" name="">
            <a:extLst xmlns:a="http://schemas.openxmlformats.org/drawingml/2006/main">
              <a:ext uri="{FF2B5EF4-FFF2-40B4-BE49-F238E27FC236}">
                <a16:creationId xmlns:a16="http://schemas.microsoft.com/office/drawing/2014/main" id="{BFFB9416-2BA9-4FB7-8D29-BC276853AFF3}"/>
              </a:ext>
            </a:extLst>
          </p:cNvPr>
          <p:cNvSpPr>
            <a:spLocks xmlns:a="http://schemas.openxmlformats.org/drawingml/2006/main" noGrp="1"/>
          </p:cNvSpPr>
          <p:nvPr/>
        </p:nvSpPr>
        <p:spPr>
          <a:xfrm xmlns:a="http://schemas.openxmlformats.org/drawingml/2006/main">
            <a:off x="731520" y="4782312"/>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5" name="s29_rowlabel_14">
            <a:extLst xmlns:a="http://schemas.openxmlformats.org/drawingml/2006/main">
              <a:ext uri="{FF2B5EF4-FFF2-40B4-BE49-F238E27FC236}">
                <a16:creationId xmlns:a16="http://schemas.microsoft.com/office/drawing/2014/main" id="{675CD68A-4B4E-45A4-9433-29EE8D873688}"/>
              </a:ext>
            </a:extLst>
          </p:cNvPr>
          <p:cNvSpPr>
            <a:spLocks xmlns:a="http://schemas.openxmlformats.org/drawingml/2006/main" noGrp="1"/>
          </p:cNvSpPr>
          <p:nvPr/>
        </p:nvSpPr>
        <p:spPr>
          <a:xfrm xmlns:a="http://schemas.openxmlformats.org/drawingml/2006/main">
            <a:off x="822960" y="5318125"/>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영향평가</a:t>
            </a:r>
          </a:p>
        </p:txBody>
      </p:sp>
      <p:sp>
        <p:nvSpPr>
          <p:cNvPr id="16" name="s29_conclusion_15">
            <a:extLst xmlns:a="http://schemas.openxmlformats.org/drawingml/2006/main">
              <a:ext uri="{FF2B5EF4-FFF2-40B4-BE49-F238E27FC236}">
                <a16:creationId xmlns:a16="http://schemas.microsoft.com/office/drawing/2014/main" id="{F3B53D52-3C5F-4165-912B-165945D07697}"/>
              </a:ext>
            </a:extLst>
          </p:cNvPr>
          <p:cNvSpPr>
            <a:spLocks xmlns:a="http://schemas.openxmlformats.org/drawingml/2006/main" noGrp="1"/>
          </p:cNvSpPr>
          <p:nvPr/>
        </p:nvSpPr>
        <p:spPr>
          <a:xfrm xmlns:a="http://schemas.openxmlformats.org/drawingml/2006/main">
            <a:off x="3154680" y="5134674"/>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도입 전·중대한 변경 때 독립적 평가를 제안했다.</a:t>
            </a:r>
          </a:p>
        </p:txBody>
      </p:sp>
      <p:sp>
        <p:nvSpPr>
          <p:cNvPr id="17" name="s29_supplement_16">
            <a:extLst xmlns:a="http://schemas.openxmlformats.org/drawingml/2006/main">
              <a:ext uri="{FF2B5EF4-FFF2-40B4-BE49-F238E27FC236}">
                <a16:creationId xmlns:a16="http://schemas.microsoft.com/office/drawing/2014/main" id="{ACC57D0D-A046-4F5E-9E57-C0AC4C05759B}"/>
              </a:ext>
            </a:extLst>
          </p:cNvPr>
          <p:cNvSpPr>
            <a:spLocks xmlns:a="http://schemas.openxmlformats.org/drawingml/2006/main" noGrp="1"/>
          </p:cNvSpPr>
          <p:nvPr/>
        </p:nvSpPr>
        <p:spPr>
          <a:xfrm xmlns:a="http://schemas.openxmlformats.org/drawingml/2006/main">
            <a:off x="3154680" y="5490782"/>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명단·규모·용도 변화가 인권에 미치는 영향과 보호조치를 검토하도록 했다.</a:t>
            </a:r>
          </a:p>
        </p:txBody>
      </p:sp>
      <p:sp>
        <p:nvSpPr>
          <p:cNvPr id="18" name="">
            <a:extLst xmlns:a="http://schemas.openxmlformats.org/drawingml/2006/main">
              <a:ext uri="{FF2B5EF4-FFF2-40B4-BE49-F238E27FC236}">
                <a16:creationId xmlns:a16="http://schemas.microsoft.com/office/drawing/2014/main" id="{72DC7708-5978-4204-8174-5FDB250DBC81}"/>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16981282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30_kicker_0">
            <a:extLst xmlns:a="http://schemas.openxmlformats.org/drawingml/2006/main">
              <a:ext uri="{FF2B5EF4-FFF2-40B4-BE49-F238E27FC236}">
                <a16:creationId xmlns:a16="http://schemas.microsoft.com/office/drawing/2014/main" id="{A871B63E-8E32-4863-9F2B-2255FA019E21}"/>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허용 조건과 대안</a:t>
            </a:r>
          </a:p>
        </p:txBody>
      </p:sp>
      <p:sp>
        <p:nvSpPr>
          <p:cNvPr id="2" name="s30_next_1">
            <a:extLst xmlns:a="http://schemas.openxmlformats.org/drawingml/2006/main">
              <a:ext uri="{FF2B5EF4-FFF2-40B4-BE49-F238E27FC236}">
                <a16:creationId xmlns:a16="http://schemas.microsoft.com/office/drawing/2014/main" id="{0ED3C9D4-0D1F-4349-8E67-A433BA8270D0}"/>
              </a:ext>
            </a:extLst>
          </p:cNvPr>
          <p:cNvSpPr>
            <a:spLocks xmlns:a="http://schemas.openxmlformats.org/drawingml/2006/main" noGrp="1"/>
          </p:cNvSpPr>
          <p:nvPr/>
        </p:nvSpPr>
        <p:spPr>
          <a:xfrm xmlns:a="http://schemas.openxmlformats.org/drawingml/2006/main">
            <a:off x="6035040" y="384048"/>
            <a:ext cx="5422392"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defRPr sz="1050" b="0">
                <a:solidFill>
                  <a:srgbClr val="464D5C"/>
                </a:solidFill>
                <a:latin typeface="Pretendard"/>
                <a:ea typeface="Pretendard"/>
                <a:cs typeface="Pretendard"/>
              </a:defRPr>
              <a:spcBef>
                <a:spcPts val="0"/>
              </a:spcBef>
              <a:spcAft>
                <a:spcPts val="0"/>
              </a:spcAft>
            </a:pPr>
            <a:r>
              <a:rPr sz="1050" b="0">
                <a:solidFill>
                  <a:srgbClr val="464D5C"/>
                </a:solidFill>
                <a:latin typeface="Pretendard"/>
                <a:ea typeface="Pretendard"/>
                <a:cs typeface="Pretendard"/>
              </a:rPr>
              <a:t>다음  EU의 원칙적 금지와 세 예외</a:t>
            </a:r>
          </a:p>
        </p:txBody>
      </p:sp>
      <p:sp>
        <p:nvSpPr>
          <p:cNvPr id="3" name="s30_title_2">
            <a:extLst xmlns:a="http://schemas.openxmlformats.org/drawingml/2006/main">
              <a:ext uri="{FF2B5EF4-FFF2-40B4-BE49-F238E27FC236}">
                <a16:creationId xmlns:a16="http://schemas.microsoft.com/office/drawing/2014/main" id="{B7D9F4C1-707B-44BD-974E-C16F3686BECC}"/>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엄격한 조건 아래 중범죄 대응 활용</a:t>
            </a:r>
          </a:p>
        </p:txBody>
      </p:sp>
      <p:sp>
        <p:nvSpPr>
          <p:cNvPr id="4" name="">
            <a:extLst xmlns:a="http://schemas.openxmlformats.org/drawingml/2006/main">
              <a:ext uri="{FF2B5EF4-FFF2-40B4-BE49-F238E27FC236}">
                <a16:creationId xmlns:a16="http://schemas.microsoft.com/office/drawing/2014/main" id="{3D877821-A954-40C1-8F95-E908D21390BF}"/>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30_band_4">
            <a:extLst xmlns:a="http://schemas.openxmlformats.org/drawingml/2006/main">
              <a:ext uri="{FF2B5EF4-FFF2-40B4-BE49-F238E27FC236}">
                <a16:creationId xmlns:a16="http://schemas.microsoft.com/office/drawing/2014/main" id="{5C1EAC4C-3B77-4EFA-964D-A4780976B87C}"/>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경기도 2025년 제3회 도민인권배심회의 · 2025년 8월 27일</a:t>
            </a:r>
          </a:p>
        </p:txBody>
      </p:sp>
      <p:sp>
        <p:nvSpPr>
          <p:cNvPr id="6" name="">
            <a:extLst xmlns:a="http://schemas.openxmlformats.org/drawingml/2006/main">
              <a:ext uri="{FF2B5EF4-FFF2-40B4-BE49-F238E27FC236}">
                <a16:creationId xmlns:a16="http://schemas.microsoft.com/office/drawing/2014/main" id="{1DFC6762-E9C8-49FA-A368-E966E0351E66}"/>
              </a:ext>
            </a:extLst>
          </p:cNvPr>
          <p:cNvSpPr>
            <a:spLocks xmlns:a="http://schemas.openxmlformats.org/drawingml/2006/main" noGrp="1"/>
          </p:cNvSpPr>
          <p:nvPr/>
        </p:nvSpPr>
        <p:spPr>
          <a:xfrm xmlns:a="http://schemas.openxmlformats.org/drawingml/2006/main">
            <a:off x="731520" y="2057400"/>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7" name="s30_rowlabel_6">
            <a:extLst xmlns:a="http://schemas.openxmlformats.org/drawingml/2006/main">
              <a:ext uri="{FF2B5EF4-FFF2-40B4-BE49-F238E27FC236}">
                <a16:creationId xmlns:a16="http://schemas.microsoft.com/office/drawing/2014/main" id="{A85B4244-BB38-4A48-8565-F26360A86DA9}"/>
              </a:ext>
            </a:extLst>
          </p:cNvPr>
          <p:cNvSpPr>
            <a:spLocks xmlns:a="http://schemas.openxmlformats.org/drawingml/2006/main" noGrp="1"/>
          </p:cNvSpPr>
          <p:nvPr/>
        </p:nvSpPr>
        <p:spPr>
          <a:xfrm xmlns:a="http://schemas.openxmlformats.org/drawingml/2006/main">
            <a:off x="822960" y="2593213"/>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숙의 대상</a:t>
            </a:r>
          </a:p>
        </p:txBody>
      </p:sp>
      <p:sp>
        <p:nvSpPr>
          <p:cNvPr id="8" name="s30_conclusion_7">
            <a:extLst xmlns:a="http://schemas.openxmlformats.org/drawingml/2006/main">
              <a:ext uri="{FF2B5EF4-FFF2-40B4-BE49-F238E27FC236}">
                <a16:creationId xmlns:a16="http://schemas.microsoft.com/office/drawing/2014/main" id="{792A30E4-E5D5-4C13-8353-0DD95A70BE5E}"/>
              </a:ext>
            </a:extLst>
          </p:cNvPr>
          <p:cNvSpPr>
            <a:spLocks xmlns:a="http://schemas.openxmlformats.org/drawingml/2006/main" noGrp="1"/>
          </p:cNvSpPr>
          <p:nvPr/>
        </p:nvSpPr>
        <p:spPr>
          <a:xfrm xmlns:a="http://schemas.openxmlformats.org/drawingml/2006/main">
            <a:off x="3154680" y="2409762"/>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실시간 원격 얼굴인식의 인권 침해 여부를 논의했다.</a:t>
            </a:r>
          </a:p>
        </p:txBody>
      </p:sp>
      <p:sp>
        <p:nvSpPr>
          <p:cNvPr id="9" name="s30_supplement_8">
            <a:extLst xmlns:a="http://schemas.openxmlformats.org/drawingml/2006/main">
              <a:ext uri="{FF2B5EF4-FFF2-40B4-BE49-F238E27FC236}">
                <a16:creationId xmlns:a16="http://schemas.microsoft.com/office/drawing/2014/main" id="{1DEB5A15-63DC-4282-A5C4-D3215B72E889}"/>
              </a:ext>
            </a:extLst>
          </p:cNvPr>
          <p:cNvSpPr>
            <a:spLocks xmlns:a="http://schemas.openxmlformats.org/drawingml/2006/main" noGrp="1"/>
          </p:cNvSpPr>
          <p:nvPr/>
        </p:nvSpPr>
        <p:spPr>
          <a:xfrm xmlns:a="http://schemas.openxmlformats.org/drawingml/2006/main">
            <a:off x="3154680" y="2765870"/>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전문가와 도민이 중범죄 대응을 위한 기술 활용과 보호조건을 검토했다.</a:t>
            </a:r>
          </a:p>
        </p:txBody>
      </p:sp>
      <p:sp>
        <p:nvSpPr>
          <p:cNvPr id="10" name="">
            <a:extLst xmlns:a="http://schemas.openxmlformats.org/drawingml/2006/main">
              <a:ext uri="{FF2B5EF4-FFF2-40B4-BE49-F238E27FC236}">
                <a16:creationId xmlns:a16="http://schemas.microsoft.com/office/drawing/2014/main" id="{40C87959-5EC9-4C60-9C1E-38BDAC53378A}"/>
              </a:ext>
            </a:extLst>
          </p:cNvPr>
          <p:cNvSpPr>
            <a:spLocks xmlns:a="http://schemas.openxmlformats.org/drawingml/2006/main" noGrp="1"/>
          </p:cNvSpPr>
          <p:nvPr/>
        </p:nvSpPr>
        <p:spPr>
          <a:xfrm xmlns:a="http://schemas.openxmlformats.org/drawingml/2006/main">
            <a:off x="731520" y="3419856"/>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1" name="s30_rowlabel_10">
            <a:extLst xmlns:a="http://schemas.openxmlformats.org/drawingml/2006/main">
              <a:ext uri="{FF2B5EF4-FFF2-40B4-BE49-F238E27FC236}">
                <a16:creationId xmlns:a16="http://schemas.microsoft.com/office/drawing/2014/main" id="{8A8A3146-DB02-4AEA-BAC4-9E0611B0B9CB}"/>
              </a:ext>
            </a:extLst>
          </p:cNvPr>
          <p:cNvSpPr>
            <a:spLocks xmlns:a="http://schemas.openxmlformats.org/drawingml/2006/main" noGrp="1"/>
          </p:cNvSpPr>
          <p:nvPr/>
        </p:nvSpPr>
        <p:spPr>
          <a:xfrm xmlns:a="http://schemas.openxmlformats.org/drawingml/2006/main">
            <a:off x="822960" y="3955669"/>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공식 결과</a:t>
            </a:r>
          </a:p>
        </p:txBody>
      </p:sp>
      <p:sp>
        <p:nvSpPr>
          <p:cNvPr id="12" name="s30_conclusion_11">
            <a:extLst xmlns:a="http://schemas.openxmlformats.org/drawingml/2006/main">
              <a:ext uri="{FF2B5EF4-FFF2-40B4-BE49-F238E27FC236}">
                <a16:creationId xmlns:a16="http://schemas.microsoft.com/office/drawing/2014/main" id="{C162C655-2F90-47DC-9FAE-E36DD46F34A7}"/>
              </a:ext>
            </a:extLst>
          </p:cNvPr>
          <p:cNvSpPr>
            <a:spLocks xmlns:a="http://schemas.openxmlformats.org/drawingml/2006/main" noGrp="1"/>
          </p:cNvSpPr>
          <p:nvPr/>
        </p:nvSpPr>
        <p:spPr>
          <a:xfrm xmlns:a="http://schemas.openxmlformats.org/drawingml/2006/main">
            <a:off x="3154680" y="3772218"/>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엄격한 조건 아래 활용할 수 있다는 의견을 냈다.</a:t>
            </a:r>
          </a:p>
        </p:txBody>
      </p:sp>
      <p:sp>
        <p:nvSpPr>
          <p:cNvPr id="13" name="s30_supplement_12">
            <a:extLst xmlns:a="http://schemas.openxmlformats.org/drawingml/2006/main">
              <a:ext uri="{FF2B5EF4-FFF2-40B4-BE49-F238E27FC236}">
                <a16:creationId xmlns:a16="http://schemas.microsoft.com/office/drawing/2014/main" id="{B978A56E-1ED4-48A8-B2A2-4C9CCBD4F64E}"/>
              </a:ext>
            </a:extLst>
          </p:cNvPr>
          <p:cNvSpPr>
            <a:spLocks xmlns:a="http://schemas.openxmlformats.org/drawingml/2006/main" noGrp="1"/>
          </p:cNvSpPr>
          <p:nvPr/>
        </p:nvSpPr>
        <p:spPr>
          <a:xfrm xmlns:a="http://schemas.openxmlformats.org/drawingml/2006/main">
            <a:off x="3154680" y="4128326"/>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경기도는 보호장치를 갖춘 중범죄 대응 활용을 인권침해로 볼 수 없다는 배심회의 결과를 발표했다.</a:t>
            </a:r>
          </a:p>
        </p:txBody>
      </p:sp>
      <p:sp>
        <p:nvSpPr>
          <p:cNvPr id="14" name="">
            <a:extLst xmlns:a="http://schemas.openxmlformats.org/drawingml/2006/main">
              <a:ext uri="{FF2B5EF4-FFF2-40B4-BE49-F238E27FC236}">
                <a16:creationId xmlns:a16="http://schemas.microsoft.com/office/drawing/2014/main" id="{5F17F046-68FE-4DE5-A6B1-EF4440016304}"/>
              </a:ext>
            </a:extLst>
          </p:cNvPr>
          <p:cNvSpPr>
            <a:spLocks xmlns:a="http://schemas.openxmlformats.org/drawingml/2006/main" noGrp="1"/>
          </p:cNvSpPr>
          <p:nvPr/>
        </p:nvSpPr>
        <p:spPr>
          <a:xfrm xmlns:a="http://schemas.openxmlformats.org/drawingml/2006/main">
            <a:off x="731520" y="4782312"/>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5" name="s30_rowlabel_14">
            <a:extLst xmlns:a="http://schemas.openxmlformats.org/drawingml/2006/main">
              <a:ext uri="{FF2B5EF4-FFF2-40B4-BE49-F238E27FC236}">
                <a16:creationId xmlns:a16="http://schemas.microsoft.com/office/drawing/2014/main" id="{2A82DF2F-67CA-4FDA-9A6A-36892E1146A9}"/>
              </a:ext>
            </a:extLst>
          </p:cNvPr>
          <p:cNvSpPr>
            <a:spLocks xmlns:a="http://schemas.openxmlformats.org/drawingml/2006/main" noGrp="1"/>
          </p:cNvSpPr>
          <p:nvPr/>
        </p:nvSpPr>
        <p:spPr>
          <a:xfrm xmlns:a="http://schemas.openxmlformats.org/drawingml/2006/main">
            <a:off x="822960" y="5318125"/>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함께 논의</a:t>
            </a:r>
          </a:p>
        </p:txBody>
      </p:sp>
      <p:sp>
        <p:nvSpPr>
          <p:cNvPr id="16" name="s30_conclusion_15">
            <a:extLst xmlns:a="http://schemas.openxmlformats.org/drawingml/2006/main">
              <a:ext uri="{FF2B5EF4-FFF2-40B4-BE49-F238E27FC236}">
                <a16:creationId xmlns:a16="http://schemas.microsoft.com/office/drawing/2014/main" id="{73B88DCF-830E-4E71-A337-FFACBB4D7EB5}"/>
              </a:ext>
            </a:extLst>
          </p:cNvPr>
          <p:cNvSpPr>
            <a:spLocks xmlns:a="http://schemas.openxmlformats.org/drawingml/2006/main" noGrp="1"/>
          </p:cNvSpPr>
          <p:nvPr/>
        </p:nvSpPr>
        <p:spPr>
          <a:xfrm xmlns:a="http://schemas.openxmlformats.org/drawingml/2006/main">
            <a:off x="3154680" y="5134674"/>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오인 수사·체포와 편향·낙인을 검토했다.</a:t>
            </a:r>
          </a:p>
        </p:txBody>
      </p:sp>
      <p:sp>
        <p:nvSpPr>
          <p:cNvPr id="17" name="s30_supplement_16">
            <a:extLst xmlns:a="http://schemas.openxmlformats.org/drawingml/2006/main">
              <a:ext uri="{FF2B5EF4-FFF2-40B4-BE49-F238E27FC236}">
                <a16:creationId xmlns:a16="http://schemas.microsoft.com/office/drawing/2014/main" id="{94EDEE65-9B68-42E1-BD80-71776A5A2DA7}"/>
              </a:ext>
            </a:extLst>
          </p:cNvPr>
          <p:cNvSpPr>
            <a:spLocks xmlns:a="http://schemas.openxmlformats.org/drawingml/2006/main" noGrp="1"/>
          </p:cNvSpPr>
          <p:nvPr/>
        </p:nvSpPr>
        <p:spPr>
          <a:xfrm xmlns:a="http://schemas.openxmlformats.org/drawingml/2006/main">
            <a:off x="3154680" y="5490782"/>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허용 의견은 사용 목적과 조건을 함께 정하는 형태로 제시됐다.</a:t>
            </a:r>
          </a:p>
        </p:txBody>
      </p:sp>
      <p:sp>
        <p:nvSpPr>
          <p:cNvPr id="18" name="">
            <a:extLst xmlns:a="http://schemas.openxmlformats.org/drawingml/2006/main">
              <a:ext uri="{FF2B5EF4-FFF2-40B4-BE49-F238E27FC236}">
                <a16:creationId xmlns:a16="http://schemas.microsoft.com/office/drawing/2014/main" id="{0CEBB953-23C8-4EE6-94A3-16BAB15D5234}"/>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125999445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31_kicker_0">
            <a:extLst xmlns:a="http://schemas.openxmlformats.org/drawingml/2006/main">
              <a:ext uri="{FF2B5EF4-FFF2-40B4-BE49-F238E27FC236}">
                <a16:creationId xmlns:a16="http://schemas.microsoft.com/office/drawing/2014/main" id="{A016CC34-38FB-43DE-A69F-3B35A0D15E8B}"/>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허용 조건과 대안</a:t>
            </a:r>
          </a:p>
        </p:txBody>
      </p:sp>
      <p:sp>
        <p:nvSpPr>
          <p:cNvPr id="2" name="s31_next_1">
            <a:extLst xmlns:a="http://schemas.openxmlformats.org/drawingml/2006/main">
              <a:ext uri="{FF2B5EF4-FFF2-40B4-BE49-F238E27FC236}">
                <a16:creationId xmlns:a16="http://schemas.microsoft.com/office/drawing/2014/main" id="{DC9A4B74-B3F1-4100-AF29-BFCE4B467014}"/>
              </a:ext>
            </a:extLst>
          </p:cNvPr>
          <p:cNvSpPr>
            <a:spLocks xmlns:a="http://schemas.openxmlformats.org/drawingml/2006/main" noGrp="1"/>
          </p:cNvSpPr>
          <p:nvPr/>
        </p:nvSpPr>
        <p:spPr>
          <a:xfrm xmlns:a="http://schemas.openxmlformats.org/drawingml/2006/main">
            <a:off x="6035040" y="384048"/>
            <a:ext cx="5422392"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defRPr sz="1050" b="0">
                <a:solidFill>
                  <a:srgbClr val="464D5C"/>
                </a:solidFill>
                <a:latin typeface="Pretendard"/>
                <a:ea typeface="Pretendard"/>
                <a:cs typeface="Pretendard"/>
              </a:defRPr>
              <a:spcBef>
                <a:spcPts val="0"/>
              </a:spcBef>
              <a:spcAft>
                <a:spcPts val="0"/>
              </a:spcAft>
            </a:pPr>
            <a:r>
              <a:rPr sz="1050" b="0">
                <a:solidFill>
                  <a:srgbClr val="464D5C"/>
                </a:solidFill>
                <a:latin typeface="Pretendard"/>
                <a:ea typeface="Pretendard"/>
                <a:cs typeface="Pretendard"/>
              </a:rPr>
              <a:t>다음  구체적 배치의 사전 허가</a:t>
            </a:r>
          </a:p>
        </p:txBody>
      </p:sp>
      <p:sp>
        <p:nvSpPr>
          <p:cNvPr id="3" name="s31_title_2">
            <a:extLst xmlns:a="http://schemas.openxmlformats.org/drawingml/2006/main">
              <a:ext uri="{FF2B5EF4-FFF2-40B4-BE49-F238E27FC236}">
                <a16:creationId xmlns:a16="http://schemas.microsoft.com/office/drawing/2014/main" id="{A5DB12A9-9EC2-496F-8006-D566B4695F86}"/>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EU의 원칙적 금지와 세 예외</a:t>
            </a:r>
          </a:p>
        </p:txBody>
      </p:sp>
      <p:sp>
        <p:nvSpPr>
          <p:cNvPr id="4" name="">
            <a:extLst xmlns:a="http://schemas.openxmlformats.org/drawingml/2006/main">
              <a:ext uri="{FF2B5EF4-FFF2-40B4-BE49-F238E27FC236}">
                <a16:creationId xmlns:a16="http://schemas.microsoft.com/office/drawing/2014/main" id="{05FBEB82-94C4-4676-9318-F91D81330178}"/>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31_band_4">
            <a:extLst xmlns:a="http://schemas.openxmlformats.org/drawingml/2006/main">
              <a:ext uri="{FF2B5EF4-FFF2-40B4-BE49-F238E27FC236}">
                <a16:creationId xmlns:a16="http://schemas.microsoft.com/office/drawing/2014/main" id="{B3876CBC-9667-4278-B386-1F48EA0636B9}"/>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AI Act 제5조제1항(h): 법집행 목적의 공공장소 실시간 원격 생체식별</a:t>
            </a:r>
          </a:p>
        </p:txBody>
      </p:sp>
      <p:graphicFrame>
        <p:nvGraphicFramePr>
          <p:cNvPr id="14" name=""/>
          <p:cNvGraphicFramePr/>
          <p:nvPr/>
        </p:nvGraphicFramePr>
        <p:xfrm>
          <a:off xmlns:a="http://schemas.openxmlformats.org/drawingml/2006/main" x="731520" y="2057400"/>
          <a:ext xmlns:a="http://schemas.openxmlformats.org/drawingml/2006/main" cx="10725912" cy="3656076"/>
        </p:xfrm>
        <a:graphic xmlns:a="http://schemas.openxmlformats.org/drawingml/2006/main">
          <a:graphicData uri="http://schemas.openxmlformats.org/drawingml/2006/table">
            <a:tbl>
              <a:tblPr firstRow="0" firstCol="0" bandRow="0" bandCol="0"/>
              <a:tblGrid>
                <a:gridCol w="2468880"/>
                <a:gridCol w="8257032"/>
              </a:tblGrid>
              <a:tr h="512064">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예외 목적</a:t>
                      </a:r>
                    </a:p>
                  </a:txBody>
                  <a:tcPr marL="146304" marR="146304" marT="91440" marB="91440" anchor="ctr">
                    <a:solidFill>
                      <a:srgbClr val="F2F4F8"/>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300" b="1">
                          <a:solidFill>
                            <a:srgbClr val="1E2761"/>
                          </a:solidFill>
                          <a:latin typeface="Pretendard"/>
                          <a:ea typeface="Pretendard"/>
                          <a:cs typeface="Pretendard"/>
                        </a:rPr>
                        <a:t>법정 범위</a:t>
                      </a:r>
                    </a:p>
                  </a:txBody>
                  <a:tcPr marL="146304" marR="146304" marT="91440" marB="91440" anchor="ctr">
                    <a:solidFill>
                      <a:srgbClr val="F2F4F8"/>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r h="1048004">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특정 피해자·실종자</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납치·인신매매·성적 착취의 특정 피해자 및 실종자 수색</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r h="1048004">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생명·안전·테러 위협</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구체적·중대하고 임박한 생명·신체 위협 또는 실제의 현재·예견 가능한 테러 위협 방지</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r h="1048004">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일정 중대범죄</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부속서Ⅱ 범죄의 용의자 위치 확인·식별. 해당 회원국의 법정 최고형 4년 이상 요건</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bl>
          </a:graphicData>
        </a:graphic>
      </p:graphicFrame>
      <p:sp>
        <p:nvSpPr>
          <p:cNvPr id="7" name="s31_scope_6">
            <a:extLst xmlns:a="http://schemas.openxmlformats.org/drawingml/2006/main">
              <a:ext uri="{FF2B5EF4-FFF2-40B4-BE49-F238E27FC236}">
                <a16:creationId xmlns:a16="http://schemas.microsoft.com/office/drawing/2014/main" id="{EBA3110F-E743-4618-8D78-FD341A84DC73}"/>
              </a:ext>
            </a:extLst>
          </p:cNvPr>
          <p:cNvSpPr>
            <a:spLocks xmlns:a="http://schemas.openxmlformats.org/drawingml/2006/main" noGrp="1"/>
          </p:cNvSpPr>
          <p:nvPr/>
        </p:nvSpPr>
        <p:spPr>
          <a:xfrm xmlns:a="http://schemas.openxmlformats.org/drawingml/2006/main">
            <a:off x="731520" y="5878068"/>
            <a:ext cx="10725912" cy="2301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00" b="0">
                <a:solidFill>
                  <a:srgbClr val="A8871C"/>
                </a:solidFill>
                <a:latin typeface="Pretendard"/>
                <a:ea typeface="Pretendard"/>
                <a:cs typeface="Pretendard"/>
              </a:defRPr>
              <a:spcBef>
                <a:spcPts val="0"/>
              </a:spcBef>
              <a:spcAft>
                <a:spcPts val="0"/>
              </a:spcAft>
            </a:pPr>
            <a:r>
              <a:rPr sz="1200" b="0">
                <a:solidFill>
                  <a:srgbClr val="A8871C"/>
                </a:solidFill>
                <a:latin typeface="Pretendard"/>
                <a:ea typeface="Pretendard"/>
                <a:cs typeface="Pretendard"/>
              </a:rPr>
              <a:t>원문 발췌: “unless and in so far as such use is strictly necessary” · 번역: 그러한 사용이 엄격히 필요한 경우와 그 범위에 한하여</a:t>
            </a:r>
          </a:p>
        </p:txBody>
      </p:sp>
      <p:sp>
        <p:nvSpPr>
          <p:cNvPr id="8" name="">
            <a:extLst xmlns:a="http://schemas.openxmlformats.org/drawingml/2006/main">
              <a:ext uri="{FF2B5EF4-FFF2-40B4-BE49-F238E27FC236}">
                <a16:creationId xmlns:a16="http://schemas.microsoft.com/office/drawing/2014/main" id="{46D8880F-4AE1-4B7E-95C5-D4A5A822D221}"/>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761817304"/>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32_kicker_0">
            <a:extLst xmlns:a="http://schemas.openxmlformats.org/drawingml/2006/main">
              <a:ext uri="{FF2B5EF4-FFF2-40B4-BE49-F238E27FC236}">
                <a16:creationId xmlns:a16="http://schemas.microsoft.com/office/drawing/2014/main" id="{3ED6AD7A-C8D4-4DE0-B7D7-54FE769EEC73}"/>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허용 조건과 대안</a:t>
            </a:r>
          </a:p>
        </p:txBody>
      </p:sp>
      <p:sp>
        <p:nvSpPr>
          <p:cNvPr id="2" name="s32_next_1">
            <a:extLst xmlns:a="http://schemas.openxmlformats.org/drawingml/2006/main">
              <a:ext uri="{FF2B5EF4-FFF2-40B4-BE49-F238E27FC236}">
                <a16:creationId xmlns:a16="http://schemas.microsoft.com/office/drawing/2014/main" id="{18E8FA8F-BA95-48EB-95DD-A4DC6ED94E78}"/>
              </a:ext>
            </a:extLst>
          </p:cNvPr>
          <p:cNvSpPr>
            <a:spLocks xmlns:a="http://schemas.openxmlformats.org/drawingml/2006/main" noGrp="1"/>
          </p:cNvSpPr>
          <p:nvPr/>
        </p:nvSpPr>
        <p:spPr>
          <a:xfrm xmlns:a="http://schemas.openxmlformats.org/drawingml/2006/main">
            <a:off x="6035040" y="384048"/>
            <a:ext cx="5422392"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defRPr sz="1050" b="0">
                <a:solidFill>
                  <a:srgbClr val="464D5C"/>
                </a:solidFill>
                <a:latin typeface="Pretendard"/>
                <a:ea typeface="Pretendard"/>
                <a:cs typeface="Pretendard"/>
              </a:defRPr>
              <a:spcBef>
                <a:spcPts val="0"/>
              </a:spcBef>
              <a:spcAft>
                <a:spcPts val="0"/>
              </a:spcAft>
            </a:pPr>
            <a:r>
              <a:rPr sz="1050" b="0">
                <a:solidFill>
                  <a:srgbClr val="464D5C"/>
                </a:solidFill>
                <a:latin typeface="Pretendard"/>
                <a:ea typeface="Pretendard"/>
                <a:cs typeface="Pretendard"/>
              </a:rPr>
              <a:t>다음  명단과 장소에 남겨진 재량</a:t>
            </a:r>
          </a:p>
        </p:txBody>
      </p:sp>
      <p:sp>
        <p:nvSpPr>
          <p:cNvPr id="3" name="s32_title_2">
            <a:extLst xmlns:a="http://schemas.openxmlformats.org/drawingml/2006/main">
              <a:ext uri="{FF2B5EF4-FFF2-40B4-BE49-F238E27FC236}">
                <a16:creationId xmlns:a16="http://schemas.microsoft.com/office/drawing/2014/main" id="{9C21BD67-D0ED-4797-B3BF-E8AE5C1F842A}"/>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구체적 배치의 사전 허가</a:t>
            </a:r>
          </a:p>
        </p:txBody>
      </p:sp>
      <p:sp>
        <p:nvSpPr>
          <p:cNvPr id="4" name="">
            <a:extLst xmlns:a="http://schemas.openxmlformats.org/drawingml/2006/main">
              <a:ext uri="{FF2B5EF4-FFF2-40B4-BE49-F238E27FC236}">
                <a16:creationId xmlns:a16="http://schemas.microsoft.com/office/drawing/2014/main" id="{2A6A557D-45AC-41B5-AADA-F7511EDA0A18}"/>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32_band_4">
            <a:extLst xmlns:a="http://schemas.openxmlformats.org/drawingml/2006/main">
              <a:ext uri="{FF2B5EF4-FFF2-40B4-BE49-F238E27FC236}">
                <a16:creationId xmlns:a16="http://schemas.microsoft.com/office/drawing/2014/main" id="{CFE07220-F611-4355-926E-F117CF86C480}"/>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EU AI Act 제5조제2–5항: 회원국 법률과 배치별 허가·감독</a:t>
            </a:r>
          </a:p>
        </p:txBody>
      </p:sp>
      <p:sp>
        <p:nvSpPr>
          <p:cNvPr id="6" name="">
            <a:extLst xmlns:a="http://schemas.openxmlformats.org/drawingml/2006/main">
              <a:ext uri="{FF2B5EF4-FFF2-40B4-BE49-F238E27FC236}">
                <a16:creationId xmlns:a16="http://schemas.microsoft.com/office/drawing/2014/main" id="{919AA1B9-F230-4602-A49C-9B1D48A3A70D}"/>
              </a:ext>
            </a:extLst>
          </p:cNvPr>
          <p:cNvSpPr>
            <a:spLocks xmlns:a="http://schemas.openxmlformats.org/drawingml/2006/main" noGrp="1"/>
          </p:cNvSpPr>
          <p:nvPr/>
        </p:nvSpPr>
        <p:spPr>
          <a:xfrm xmlns:a="http://schemas.openxmlformats.org/drawingml/2006/main">
            <a:off x="731520" y="2057400"/>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7" name="s32_body_6">
            <a:extLst xmlns:a="http://schemas.openxmlformats.org/drawingml/2006/main">
              <a:ext uri="{FF2B5EF4-FFF2-40B4-BE49-F238E27FC236}">
                <a16:creationId xmlns:a16="http://schemas.microsoft.com/office/drawing/2014/main" id="{F5B82563-F38D-4415-8CA7-5C0E9D70C781}"/>
              </a:ext>
            </a:extLst>
          </p:cNvPr>
          <p:cNvSpPr>
            <a:spLocks xmlns:a="http://schemas.openxmlformats.org/drawingml/2006/main" noGrp="1"/>
          </p:cNvSpPr>
          <p:nvPr/>
        </p:nvSpPr>
        <p:spPr>
          <a:xfrm xmlns:a="http://schemas.openxmlformats.org/drawingml/2006/main">
            <a:off x="731520" y="2377440"/>
            <a:ext cx="3355848"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A8871C"/>
                </a:solidFill>
                <a:latin typeface="Pretendard"/>
                <a:ea typeface="Pretendard"/>
                <a:cs typeface="Pretendard"/>
              </a:defRPr>
              <a:spcBef>
                <a:spcPts val="0"/>
              </a:spcBef>
              <a:spcAft>
                <a:spcPts val="0"/>
              </a:spcAft>
            </a:pPr>
            <a:r>
              <a:rPr sz="1300" b="1">
                <a:solidFill>
                  <a:srgbClr val="A8871C"/>
                </a:solidFill>
                <a:latin typeface="Pretendard"/>
                <a:ea typeface="Pretendard"/>
                <a:cs typeface="Pretendard"/>
              </a:rPr>
              <a:t>01</a:t>
            </a:r>
          </a:p>
        </p:txBody>
      </p:sp>
      <p:sp>
        <p:nvSpPr>
          <p:cNvPr id="8" name="s32_body_7">
            <a:extLst xmlns:a="http://schemas.openxmlformats.org/drawingml/2006/main">
              <a:ext uri="{FF2B5EF4-FFF2-40B4-BE49-F238E27FC236}">
                <a16:creationId xmlns:a16="http://schemas.microsoft.com/office/drawing/2014/main" id="{2DC788E8-1423-47B7-AE82-EC1DD9B0BE98}"/>
              </a:ext>
            </a:extLst>
          </p:cNvPr>
          <p:cNvSpPr>
            <a:spLocks xmlns:a="http://schemas.openxmlformats.org/drawingml/2006/main" noGrp="1"/>
          </p:cNvSpPr>
          <p:nvPr/>
        </p:nvSpPr>
        <p:spPr>
          <a:xfrm xmlns:a="http://schemas.openxmlformats.org/drawingml/2006/main">
            <a:off x="731520" y="2926080"/>
            <a:ext cx="3355848" cy="3874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250" b="1">
                <a:solidFill>
                  <a:srgbClr val="1E2761"/>
                </a:solidFill>
                <a:latin typeface="Pretendard"/>
                <a:ea typeface="Pretendard"/>
                <a:cs typeface="Pretendard"/>
              </a:defRPr>
              <a:spcBef>
                <a:spcPts val="0"/>
              </a:spcBef>
              <a:spcAft>
                <a:spcPts val="0"/>
              </a:spcAft>
            </a:pPr>
            <a:r>
              <a:rPr sz="2250" b="1">
                <a:solidFill>
                  <a:srgbClr val="1E2761"/>
                </a:solidFill>
                <a:latin typeface="Pretendard"/>
                <a:ea typeface="Pretendard"/>
                <a:cs typeface="Pretendard"/>
              </a:rPr>
              <a:t>국내법·평가</a:t>
            </a:r>
          </a:p>
        </p:txBody>
      </p:sp>
      <p:sp>
        <p:nvSpPr>
          <p:cNvPr id="9" name="s32_body_8">
            <a:extLst xmlns:a="http://schemas.openxmlformats.org/drawingml/2006/main">
              <a:ext uri="{FF2B5EF4-FFF2-40B4-BE49-F238E27FC236}">
                <a16:creationId xmlns:a16="http://schemas.microsoft.com/office/drawing/2014/main" id="{7BCCBFA5-693B-4E36-996B-62860BC6EE36}"/>
              </a:ext>
            </a:extLst>
          </p:cNvPr>
          <p:cNvSpPr>
            <a:spLocks xmlns:a="http://schemas.openxmlformats.org/drawingml/2006/main" noGrp="1"/>
          </p:cNvSpPr>
          <p:nvPr/>
        </p:nvSpPr>
        <p:spPr>
          <a:xfrm xmlns:a="http://schemas.openxmlformats.org/drawingml/2006/main">
            <a:off x="731520" y="3560445"/>
            <a:ext cx="3355848" cy="494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회원국이 사용을 허용하는 법률을 두고</a:t>
            </a:r>
          </a:p>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기본권 영향평가와 시스템 등록을 한다.</a:t>
            </a:r>
          </a:p>
        </p:txBody>
      </p:sp>
      <p:sp>
        <p:nvSpPr>
          <p:cNvPr id="10" name="s32_body_9">
            <a:extLst xmlns:a="http://schemas.openxmlformats.org/drawingml/2006/main">
              <a:ext uri="{FF2B5EF4-FFF2-40B4-BE49-F238E27FC236}">
                <a16:creationId xmlns:a16="http://schemas.microsoft.com/office/drawing/2014/main" id="{8F763E75-7070-4B95-81E7-6CC19F24CF9B}"/>
              </a:ext>
            </a:extLst>
          </p:cNvPr>
          <p:cNvSpPr>
            <a:spLocks xmlns:a="http://schemas.openxmlformats.org/drawingml/2006/main" noGrp="1"/>
          </p:cNvSpPr>
          <p:nvPr/>
        </p:nvSpPr>
        <p:spPr>
          <a:xfrm xmlns:a="http://schemas.openxmlformats.org/drawingml/2006/main">
            <a:off x="4416552" y="2377440"/>
            <a:ext cx="3355848"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A8871C"/>
                </a:solidFill>
                <a:latin typeface="Pretendard"/>
                <a:ea typeface="Pretendard"/>
                <a:cs typeface="Pretendard"/>
              </a:defRPr>
              <a:spcBef>
                <a:spcPts val="0"/>
              </a:spcBef>
              <a:spcAft>
                <a:spcPts val="0"/>
              </a:spcAft>
            </a:pPr>
            <a:r>
              <a:rPr sz="1300" b="1">
                <a:solidFill>
                  <a:srgbClr val="A8871C"/>
                </a:solidFill>
                <a:latin typeface="Pretendard"/>
                <a:ea typeface="Pretendard"/>
                <a:cs typeface="Pretendard"/>
              </a:rPr>
              <a:t>02</a:t>
            </a:r>
          </a:p>
        </p:txBody>
      </p:sp>
      <p:sp>
        <p:nvSpPr>
          <p:cNvPr id="11" name="s32_body_10">
            <a:extLst xmlns:a="http://schemas.openxmlformats.org/drawingml/2006/main">
              <a:ext uri="{FF2B5EF4-FFF2-40B4-BE49-F238E27FC236}">
                <a16:creationId xmlns:a16="http://schemas.microsoft.com/office/drawing/2014/main" id="{625F9268-BE5A-4681-B8D5-A2119926CC09}"/>
              </a:ext>
            </a:extLst>
          </p:cNvPr>
          <p:cNvSpPr>
            <a:spLocks xmlns:a="http://schemas.openxmlformats.org/drawingml/2006/main" noGrp="1"/>
          </p:cNvSpPr>
          <p:nvPr/>
        </p:nvSpPr>
        <p:spPr>
          <a:xfrm xmlns:a="http://schemas.openxmlformats.org/drawingml/2006/main">
            <a:off x="4416552" y="2926080"/>
            <a:ext cx="3355848" cy="3874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250" b="1">
                <a:solidFill>
                  <a:srgbClr val="1E2761"/>
                </a:solidFill>
                <a:latin typeface="Pretendard"/>
                <a:ea typeface="Pretendard"/>
                <a:cs typeface="Pretendard"/>
              </a:defRPr>
              <a:spcBef>
                <a:spcPts val="0"/>
              </a:spcBef>
              <a:spcAft>
                <a:spcPts val="0"/>
              </a:spcAft>
            </a:pPr>
            <a:r>
              <a:rPr sz="2250" b="1">
                <a:solidFill>
                  <a:srgbClr val="1E2761"/>
                </a:solidFill>
                <a:latin typeface="Pretendard"/>
                <a:ea typeface="Pretendard"/>
                <a:cs typeface="Pretendard"/>
              </a:rPr>
              <a:t>사전 허가</a:t>
            </a:r>
          </a:p>
        </p:txBody>
      </p:sp>
      <p:sp>
        <p:nvSpPr>
          <p:cNvPr id="12" name="s32_body_11">
            <a:extLst xmlns:a="http://schemas.openxmlformats.org/drawingml/2006/main">
              <a:ext uri="{FF2B5EF4-FFF2-40B4-BE49-F238E27FC236}">
                <a16:creationId xmlns:a16="http://schemas.microsoft.com/office/drawing/2014/main" id="{E0DC2C75-3F85-4A8F-8DA6-E671C605F2C9}"/>
              </a:ext>
            </a:extLst>
          </p:cNvPr>
          <p:cNvSpPr>
            <a:spLocks xmlns:a="http://schemas.openxmlformats.org/drawingml/2006/main" noGrp="1"/>
          </p:cNvSpPr>
          <p:nvPr/>
        </p:nvSpPr>
        <p:spPr>
          <a:xfrm xmlns:a="http://schemas.openxmlformats.org/drawingml/2006/main">
            <a:off x="4416552" y="3560445"/>
            <a:ext cx="3355848" cy="494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사법기관 또는 구속력 있는 결정을 내리는</a:t>
            </a:r>
          </a:p>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독립 행정기관이 필요성·비례성을 심사한다.</a:t>
            </a:r>
          </a:p>
        </p:txBody>
      </p:sp>
      <p:sp>
        <p:nvSpPr>
          <p:cNvPr id="13" name="s32_body_12">
            <a:extLst xmlns:a="http://schemas.openxmlformats.org/drawingml/2006/main">
              <a:ext uri="{FF2B5EF4-FFF2-40B4-BE49-F238E27FC236}">
                <a16:creationId xmlns:a16="http://schemas.microsoft.com/office/drawing/2014/main" id="{1ED5F4B6-4199-45F0-844E-2170D398F89D}"/>
              </a:ext>
            </a:extLst>
          </p:cNvPr>
          <p:cNvSpPr>
            <a:spLocks xmlns:a="http://schemas.openxmlformats.org/drawingml/2006/main" noGrp="1"/>
          </p:cNvSpPr>
          <p:nvPr/>
        </p:nvSpPr>
        <p:spPr>
          <a:xfrm xmlns:a="http://schemas.openxmlformats.org/drawingml/2006/main">
            <a:off x="8101584" y="2377440"/>
            <a:ext cx="3355848"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A8871C"/>
                </a:solidFill>
                <a:latin typeface="Pretendard"/>
                <a:ea typeface="Pretendard"/>
                <a:cs typeface="Pretendard"/>
              </a:defRPr>
              <a:spcBef>
                <a:spcPts val="0"/>
              </a:spcBef>
              <a:spcAft>
                <a:spcPts val="0"/>
              </a:spcAft>
            </a:pPr>
            <a:r>
              <a:rPr sz="1300" b="1">
                <a:solidFill>
                  <a:srgbClr val="A8871C"/>
                </a:solidFill>
                <a:latin typeface="Pretendard"/>
                <a:ea typeface="Pretendard"/>
                <a:cs typeface="Pretendard"/>
              </a:rPr>
              <a:t>03</a:t>
            </a:r>
          </a:p>
        </p:txBody>
      </p:sp>
      <p:sp>
        <p:nvSpPr>
          <p:cNvPr id="14" name="s32_body_13">
            <a:extLst xmlns:a="http://schemas.openxmlformats.org/drawingml/2006/main">
              <a:ext uri="{FF2B5EF4-FFF2-40B4-BE49-F238E27FC236}">
                <a16:creationId xmlns:a16="http://schemas.microsoft.com/office/drawing/2014/main" id="{206B5E64-AA18-46FC-8B43-841984EC820A}"/>
              </a:ext>
            </a:extLst>
          </p:cNvPr>
          <p:cNvSpPr>
            <a:spLocks xmlns:a="http://schemas.openxmlformats.org/drawingml/2006/main" noGrp="1"/>
          </p:cNvSpPr>
          <p:nvPr/>
        </p:nvSpPr>
        <p:spPr>
          <a:xfrm xmlns:a="http://schemas.openxmlformats.org/drawingml/2006/main">
            <a:off x="8101584" y="2926080"/>
            <a:ext cx="3355848" cy="3874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250" b="1">
                <a:solidFill>
                  <a:srgbClr val="1E2761"/>
                </a:solidFill>
                <a:latin typeface="Pretendard"/>
                <a:ea typeface="Pretendard"/>
                <a:cs typeface="Pretendard"/>
              </a:defRPr>
              <a:spcBef>
                <a:spcPts val="0"/>
              </a:spcBef>
              <a:spcAft>
                <a:spcPts val="0"/>
              </a:spcAft>
            </a:pPr>
            <a:r>
              <a:rPr sz="2250" b="1">
                <a:solidFill>
                  <a:srgbClr val="1E2761"/>
                </a:solidFill>
                <a:latin typeface="Pretendard"/>
                <a:ea typeface="Pretendard"/>
                <a:cs typeface="Pretendard"/>
              </a:rPr>
              <a:t>제한·통지</a:t>
            </a:r>
          </a:p>
        </p:txBody>
      </p:sp>
      <p:sp>
        <p:nvSpPr>
          <p:cNvPr id="15" name="s32_body_14">
            <a:extLst xmlns:a="http://schemas.openxmlformats.org/drawingml/2006/main">
              <a:ext uri="{FF2B5EF4-FFF2-40B4-BE49-F238E27FC236}">
                <a16:creationId xmlns:a16="http://schemas.microsoft.com/office/drawing/2014/main" id="{45D76667-6C10-41CF-933C-C7DD66F248EA}"/>
              </a:ext>
            </a:extLst>
          </p:cNvPr>
          <p:cNvSpPr>
            <a:spLocks xmlns:a="http://schemas.openxmlformats.org/drawingml/2006/main" noGrp="1"/>
          </p:cNvSpPr>
          <p:nvPr/>
        </p:nvSpPr>
        <p:spPr>
          <a:xfrm xmlns:a="http://schemas.openxmlformats.org/drawingml/2006/main">
            <a:off x="8101584" y="3560445"/>
            <a:ext cx="3355848" cy="494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기간·장소·대상을 엄격히 제한하고 관련</a:t>
            </a:r>
          </a:p>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감독기관에 사용을 통지한다.</a:t>
            </a:r>
          </a:p>
        </p:txBody>
      </p:sp>
      <p:sp>
        <p:nvSpPr>
          <p:cNvPr id="16" name="s32_scope_15">
            <a:extLst xmlns:a="http://schemas.openxmlformats.org/drawingml/2006/main">
              <a:ext uri="{FF2B5EF4-FFF2-40B4-BE49-F238E27FC236}">
                <a16:creationId xmlns:a16="http://schemas.microsoft.com/office/drawing/2014/main" id="{2B627A8F-C8E5-4131-BAC5-40D8A4192605}"/>
              </a:ext>
            </a:extLst>
          </p:cNvPr>
          <p:cNvSpPr>
            <a:spLocks xmlns:a="http://schemas.openxmlformats.org/drawingml/2006/main" noGrp="1"/>
          </p:cNvSpPr>
          <p:nvPr/>
        </p:nvSpPr>
        <p:spPr>
          <a:xfrm xmlns:a="http://schemas.openxmlformats.org/drawingml/2006/main">
            <a:off x="731520" y="5878068"/>
            <a:ext cx="10725912" cy="2301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00" b="0">
                <a:solidFill>
                  <a:srgbClr val="A8871C"/>
                </a:solidFill>
                <a:latin typeface="Pretendard"/>
                <a:ea typeface="Pretendard"/>
                <a:cs typeface="Pretendard"/>
              </a:defRPr>
              <a:spcBef>
                <a:spcPts val="0"/>
              </a:spcBef>
              <a:spcAft>
                <a:spcPts val="0"/>
              </a:spcAft>
            </a:pPr>
            <a:r>
              <a:rPr sz="1200" b="0">
                <a:solidFill>
                  <a:srgbClr val="A8871C"/>
                </a:solidFill>
                <a:latin typeface="Pretendard"/>
                <a:ea typeface="Pretendard"/>
                <a:cs typeface="Pretendard"/>
              </a:rPr>
              <a:t>긴급 사용: 지체 없이, 늦어도 24시간 안에 허가 신청 · 거절 시 즉시 중단·삭제</a:t>
            </a:r>
          </a:p>
        </p:txBody>
      </p:sp>
      <p:sp>
        <p:nvSpPr>
          <p:cNvPr id="17" name="">
            <a:extLst xmlns:a="http://schemas.openxmlformats.org/drawingml/2006/main">
              <a:ext uri="{FF2B5EF4-FFF2-40B4-BE49-F238E27FC236}">
                <a16:creationId xmlns:a16="http://schemas.microsoft.com/office/drawing/2014/main" id="{18D0373E-3C3C-4B33-8557-93A5FE55C6B9}"/>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170532429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33_kicker_0">
            <a:extLst xmlns:a="http://schemas.openxmlformats.org/drawingml/2006/main">
              <a:ext uri="{FF2B5EF4-FFF2-40B4-BE49-F238E27FC236}">
                <a16:creationId xmlns:a16="http://schemas.microsoft.com/office/drawing/2014/main" id="{86D92E25-6034-435B-A208-6678179D4A1A}"/>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허용 조건과 대안</a:t>
            </a:r>
          </a:p>
        </p:txBody>
      </p:sp>
      <p:sp>
        <p:nvSpPr>
          <p:cNvPr id="2" name="s33_next_1">
            <a:extLst xmlns:a="http://schemas.openxmlformats.org/drawingml/2006/main">
              <a:ext uri="{FF2B5EF4-FFF2-40B4-BE49-F238E27FC236}">
                <a16:creationId xmlns:a16="http://schemas.microsoft.com/office/drawing/2014/main" id="{AE9CEDBE-2E0F-4267-AF63-8F9F567AFA96}"/>
              </a:ext>
            </a:extLst>
          </p:cNvPr>
          <p:cNvSpPr>
            <a:spLocks xmlns:a="http://schemas.openxmlformats.org/drawingml/2006/main" noGrp="1"/>
          </p:cNvSpPr>
          <p:nvPr/>
        </p:nvSpPr>
        <p:spPr>
          <a:xfrm xmlns:a="http://schemas.openxmlformats.org/drawingml/2006/main">
            <a:off x="6035040" y="384048"/>
            <a:ext cx="5422392"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defRPr sz="1050" b="0">
                <a:solidFill>
                  <a:srgbClr val="464D5C"/>
                </a:solidFill>
                <a:latin typeface="Pretendard"/>
                <a:ea typeface="Pretendard"/>
                <a:cs typeface="Pretendard"/>
              </a:defRPr>
              <a:spcBef>
                <a:spcPts val="0"/>
              </a:spcBef>
              <a:spcAft>
                <a:spcPts val="0"/>
              </a:spcAft>
            </a:pPr>
            <a:r>
              <a:rPr sz="1050" b="0">
                <a:solidFill>
                  <a:srgbClr val="464D5C"/>
                </a:solidFill>
                <a:latin typeface="Pretendard"/>
                <a:ea typeface="Pretendard"/>
                <a:cs typeface="Pretendard"/>
              </a:rPr>
              <a:t>다음  구체화된 정책을 심사한 2026년 판결</a:t>
            </a:r>
          </a:p>
        </p:txBody>
      </p:sp>
      <p:sp>
        <p:nvSpPr>
          <p:cNvPr id="3" name="s33_title_2">
            <a:extLst xmlns:a="http://schemas.openxmlformats.org/drawingml/2006/main">
              <a:ext uri="{FF2B5EF4-FFF2-40B4-BE49-F238E27FC236}">
                <a16:creationId xmlns:a16="http://schemas.microsoft.com/office/drawing/2014/main" id="{23BED9B0-5BA9-4535-9156-C571271D3205}"/>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명단과 장소에 남겨진 재량</a:t>
            </a:r>
          </a:p>
        </p:txBody>
      </p:sp>
      <p:sp>
        <p:nvSpPr>
          <p:cNvPr id="4" name="">
            <a:extLst xmlns:a="http://schemas.openxmlformats.org/drawingml/2006/main">
              <a:ext uri="{FF2B5EF4-FFF2-40B4-BE49-F238E27FC236}">
                <a16:creationId xmlns:a16="http://schemas.microsoft.com/office/drawing/2014/main" id="{403B4B7E-92CB-4FE9-9A3E-4522ABC5F357}"/>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33_band_4">
            <a:extLst xmlns:a="http://schemas.openxmlformats.org/drawingml/2006/main">
              <a:ext uri="{FF2B5EF4-FFF2-40B4-BE49-F238E27FC236}">
                <a16:creationId xmlns:a16="http://schemas.microsoft.com/office/drawing/2014/main" id="{0B9AC7DC-7298-449F-A990-6E7229E85075}"/>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잉글랜드·웨일스 항소법원 · Bridges · [2020] EWCA Civ 1058</a:t>
            </a:r>
          </a:p>
        </p:txBody>
      </p:sp>
      <p:sp>
        <p:nvSpPr>
          <p:cNvPr id="6" name="">
            <a:extLst xmlns:a="http://schemas.openxmlformats.org/drawingml/2006/main">
              <a:ext uri="{FF2B5EF4-FFF2-40B4-BE49-F238E27FC236}">
                <a16:creationId xmlns:a16="http://schemas.microsoft.com/office/drawing/2014/main" id="{52FDB70F-9B93-4944-B48D-0E0FB159751E}"/>
              </a:ext>
            </a:extLst>
          </p:cNvPr>
          <p:cNvSpPr>
            <a:spLocks xmlns:a="http://schemas.openxmlformats.org/drawingml/2006/main" noGrp="1"/>
          </p:cNvSpPr>
          <p:nvPr/>
        </p:nvSpPr>
        <p:spPr>
          <a:xfrm xmlns:a="http://schemas.openxmlformats.org/drawingml/2006/main">
            <a:off x="731520" y="2057400"/>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7" name="s33_rowlabel_6">
            <a:extLst xmlns:a="http://schemas.openxmlformats.org/drawingml/2006/main">
              <a:ext uri="{FF2B5EF4-FFF2-40B4-BE49-F238E27FC236}">
                <a16:creationId xmlns:a16="http://schemas.microsoft.com/office/drawing/2014/main" id="{78BA5D67-10CA-424D-B3D2-B96AE23426BD}"/>
              </a:ext>
            </a:extLst>
          </p:cNvPr>
          <p:cNvSpPr>
            <a:spLocks xmlns:a="http://schemas.openxmlformats.org/drawingml/2006/main" noGrp="1"/>
          </p:cNvSpPr>
          <p:nvPr/>
        </p:nvSpPr>
        <p:spPr>
          <a:xfrm xmlns:a="http://schemas.openxmlformats.org/drawingml/2006/main">
            <a:off x="822960" y="2593213"/>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심판 대상</a:t>
            </a:r>
          </a:p>
        </p:txBody>
      </p:sp>
      <p:sp>
        <p:nvSpPr>
          <p:cNvPr id="8" name="s33_conclusion_7">
            <a:extLst xmlns:a="http://schemas.openxmlformats.org/drawingml/2006/main">
              <a:ext uri="{FF2B5EF4-FFF2-40B4-BE49-F238E27FC236}">
                <a16:creationId xmlns:a16="http://schemas.microsoft.com/office/drawing/2014/main" id="{915A4B6F-077A-466A-846F-3CA8442AB38D}"/>
              </a:ext>
            </a:extLst>
          </p:cNvPr>
          <p:cNvSpPr>
            <a:spLocks xmlns:a="http://schemas.openxmlformats.org/drawingml/2006/main" noGrp="1"/>
          </p:cNvSpPr>
          <p:nvPr/>
        </p:nvSpPr>
        <p:spPr>
          <a:xfrm xmlns:a="http://schemas.openxmlformats.org/drawingml/2006/main">
            <a:off x="3154680" y="2409762"/>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South Wales 경찰의 AFR Locate 배치를 심사했다.</a:t>
            </a:r>
          </a:p>
        </p:txBody>
      </p:sp>
      <p:sp>
        <p:nvSpPr>
          <p:cNvPr id="9" name="s33_supplement_8">
            <a:extLst xmlns:a="http://schemas.openxmlformats.org/drawingml/2006/main">
              <a:ext uri="{FF2B5EF4-FFF2-40B4-BE49-F238E27FC236}">
                <a16:creationId xmlns:a16="http://schemas.microsoft.com/office/drawing/2014/main" id="{948374E5-FAE6-4D6F-8FC8-B9EF224A70C8}"/>
              </a:ext>
            </a:extLst>
          </p:cNvPr>
          <p:cNvSpPr>
            <a:spLocks xmlns:a="http://schemas.openxmlformats.org/drawingml/2006/main" noGrp="1"/>
          </p:cNvSpPr>
          <p:nvPr/>
        </p:nvSpPr>
        <p:spPr>
          <a:xfrm xmlns:a="http://schemas.openxmlformats.org/drawingml/2006/main">
            <a:off x="3154680" y="2765870"/>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시민의 얼굴을 명단과 대조한 두 배치와 당시 운용 체계가 문제됐다.</a:t>
            </a:r>
          </a:p>
        </p:txBody>
      </p:sp>
      <p:sp>
        <p:nvSpPr>
          <p:cNvPr id="10" name="">
            <a:extLst xmlns:a="http://schemas.openxmlformats.org/drawingml/2006/main">
              <a:ext uri="{FF2B5EF4-FFF2-40B4-BE49-F238E27FC236}">
                <a16:creationId xmlns:a16="http://schemas.microsoft.com/office/drawing/2014/main" id="{064060B3-E85F-4FCC-B0F8-8EF0889C7647}"/>
              </a:ext>
            </a:extLst>
          </p:cNvPr>
          <p:cNvSpPr>
            <a:spLocks xmlns:a="http://schemas.openxmlformats.org/drawingml/2006/main" noGrp="1"/>
          </p:cNvSpPr>
          <p:nvPr/>
        </p:nvSpPr>
        <p:spPr>
          <a:xfrm xmlns:a="http://schemas.openxmlformats.org/drawingml/2006/main">
            <a:off x="731520" y="3419856"/>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1" name="s33_rowlabel_10">
            <a:extLst xmlns:a="http://schemas.openxmlformats.org/drawingml/2006/main">
              <a:ext uri="{FF2B5EF4-FFF2-40B4-BE49-F238E27FC236}">
                <a16:creationId xmlns:a16="http://schemas.microsoft.com/office/drawing/2014/main" id="{A6D6F754-0319-4161-B141-3AF27B1B1007}"/>
              </a:ext>
            </a:extLst>
          </p:cNvPr>
          <p:cNvSpPr>
            <a:spLocks xmlns:a="http://schemas.openxmlformats.org/drawingml/2006/main" noGrp="1"/>
          </p:cNvSpPr>
          <p:nvPr/>
        </p:nvSpPr>
        <p:spPr>
          <a:xfrm xmlns:a="http://schemas.openxmlformats.org/drawingml/2006/main">
            <a:off x="822960" y="3955669"/>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핵심 판단</a:t>
            </a:r>
          </a:p>
        </p:txBody>
      </p:sp>
      <p:sp>
        <p:nvSpPr>
          <p:cNvPr id="12" name="s33_conclusion_11">
            <a:extLst xmlns:a="http://schemas.openxmlformats.org/drawingml/2006/main">
              <a:ext uri="{FF2B5EF4-FFF2-40B4-BE49-F238E27FC236}">
                <a16:creationId xmlns:a16="http://schemas.microsoft.com/office/drawing/2014/main" id="{F7424AA2-347C-40FC-9141-8756C16508FA}"/>
              </a:ext>
            </a:extLst>
          </p:cNvPr>
          <p:cNvSpPr>
            <a:spLocks xmlns:a="http://schemas.openxmlformats.org/drawingml/2006/main" noGrp="1"/>
          </p:cNvSpPr>
          <p:nvPr/>
        </p:nvSpPr>
        <p:spPr>
          <a:xfrm xmlns:a="http://schemas.openxmlformats.org/drawingml/2006/main">
            <a:off x="3154680" y="3667442"/>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누구를 어디서 찾을지 정하는 기준이 부족했다.</a:t>
            </a:r>
          </a:p>
        </p:txBody>
      </p:sp>
      <p:sp>
        <p:nvSpPr>
          <p:cNvPr id="13" name="s33_supplement_12">
            <a:extLst xmlns:a="http://schemas.openxmlformats.org/drawingml/2006/main">
              <a:ext uri="{FF2B5EF4-FFF2-40B4-BE49-F238E27FC236}">
                <a16:creationId xmlns:a16="http://schemas.microsoft.com/office/drawing/2014/main" id="{3EC355BC-80C4-4EEF-BDFB-40E2B0967B1F}"/>
              </a:ext>
            </a:extLst>
          </p:cNvPr>
          <p:cNvSpPr>
            <a:spLocks xmlns:a="http://schemas.openxmlformats.org/drawingml/2006/main" noGrp="1"/>
          </p:cNvSpPr>
          <p:nvPr/>
        </p:nvSpPr>
        <p:spPr>
          <a:xfrm xmlns:a="http://schemas.openxmlformats.org/drawingml/2006/main">
            <a:off x="3154680" y="4023551"/>
            <a:ext cx="8302752" cy="447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§124: “too broad a discretion vested in the individual police officer” · 번역: 개별 경찰관에게 지나치게 넓은</a:t>
            </a:r>
          </a:p>
          <a:p xmlns:a="http://schemas.openxmlformats.org/drawingml/2006/main">
            <a:pPr algn="l">
              <a:lnSpc>
                <a:spcPct val="125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재량이 부여됨</a:t>
            </a:r>
          </a:p>
        </p:txBody>
      </p:sp>
      <p:sp>
        <p:nvSpPr>
          <p:cNvPr id="14" name="">
            <a:extLst xmlns:a="http://schemas.openxmlformats.org/drawingml/2006/main">
              <a:ext uri="{FF2B5EF4-FFF2-40B4-BE49-F238E27FC236}">
                <a16:creationId xmlns:a16="http://schemas.microsoft.com/office/drawing/2014/main" id="{87431299-E268-47C4-BB73-F644EB6C40C6}"/>
              </a:ext>
            </a:extLst>
          </p:cNvPr>
          <p:cNvSpPr>
            <a:spLocks xmlns:a="http://schemas.openxmlformats.org/drawingml/2006/main" noGrp="1"/>
          </p:cNvSpPr>
          <p:nvPr/>
        </p:nvSpPr>
        <p:spPr>
          <a:xfrm xmlns:a="http://schemas.openxmlformats.org/drawingml/2006/main">
            <a:off x="731520" y="4782312"/>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5" name="s33_rowlabel_14">
            <a:extLst xmlns:a="http://schemas.openxmlformats.org/drawingml/2006/main">
              <a:ext uri="{FF2B5EF4-FFF2-40B4-BE49-F238E27FC236}">
                <a16:creationId xmlns:a16="http://schemas.microsoft.com/office/drawing/2014/main" id="{E41E5977-8C6F-4D2B-AE38-4F9E9FF34AEC}"/>
              </a:ext>
            </a:extLst>
          </p:cNvPr>
          <p:cNvSpPr>
            <a:spLocks xmlns:a="http://schemas.openxmlformats.org/drawingml/2006/main" noGrp="1"/>
          </p:cNvSpPr>
          <p:nvPr/>
        </p:nvSpPr>
        <p:spPr>
          <a:xfrm xmlns:a="http://schemas.openxmlformats.org/drawingml/2006/main">
            <a:off x="822960" y="5318125"/>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결과</a:t>
            </a:r>
          </a:p>
        </p:txBody>
      </p:sp>
      <p:sp>
        <p:nvSpPr>
          <p:cNvPr id="16" name="s33_conclusion_15">
            <a:extLst xmlns:a="http://schemas.openxmlformats.org/drawingml/2006/main">
              <a:ext uri="{FF2B5EF4-FFF2-40B4-BE49-F238E27FC236}">
                <a16:creationId xmlns:a16="http://schemas.microsoft.com/office/drawing/2014/main" id="{34AFDDB0-E01E-45F4-A08D-315F402C499B}"/>
              </a:ext>
            </a:extLst>
          </p:cNvPr>
          <p:cNvSpPr>
            <a:spLocks xmlns:a="http://schemas.openxmlformats.org/drawingml/2006/main" noGrp="1"/>
          </p:cNvSpPr>
          <p:nvPr/>
        </p:nvSpPr>
        <p:spPr>
          <a:xfrm xmlns:a="http://schemas.openxmlformats.org/drawingml/2006/main">
            <a:off x="3154680" y="5134674"/>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법원은 항소를 일부 받아들였다.</a:t>
            </a:r>
          </a:p>
        </p:txBody>
      </p:sp>
      <p:sp>
        <p:nvSpPr>
          <p:cNvPr id="17" name="s33_supplement_16">
            <a:extLst xmlns:a="http://schemas.openxmlformats.org/drawingml/2006/main">
              <a:ext uri="{FF2B5EF4-FFF2-40B4-BE49-F238E27FC236}">
                <a16:creationId xmlns:a16="http://schemas.microsoft.com/office/drawing/2014/main" id="{1346C597-85FC-441C-A8E6-C92A0E5B1A99}"/>
              </a:ext>
            </a:extLst>
          </p:cNvPr>
          <p:cNvSpPr>
            <a:spLocks xmlns:a="http://schemas.openxmlformats.org/drawingml/2006/main" noGrp="1"/>
          </p:cNvSpPr>
          <p:nvPr/>
        </p:nvSpPr>
        <p:spPr>
          <a:xfrm xmlns:a="http://schemas.openxmlformats.org/drawingml/2006/main">
            <a:off x="3154680" y="5490782"/>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명단·장소 재량의 통제, 개인정보 영향평가, 평등의무 문제를 인정했다.</a:t>
            </a:r>
          </a:p>
        </p:txBody>
      </p:sp>
      <p:sp>
        <p:nvSpPr>
          <p:cNvPr id="18" name="">
            <a:extLst xmlns:a="http://schemas.openxmlformats.org/drawingml/2006/main">
              <a:ext uri="{FF2B5EF4-FFF2-40B4-BE49-F238E27FC236}">
                <a16:creationId xmlns:a16="http://schemas.microsoft.com/office/drawing/2014/main" id="{36C9006B-6646-436F-A8DF-25C8DB01586C}"/>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49238420"/>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34_kicker_0">
            <a:extLst xmlns:a="http://schemas.openxmlformats.org/drawingml/2006/main">
              <a:ext uri="{FF2B5EF4-FFF2-40B4-BE49-F238E27FC236}">
                <a16:creationId xmlns:a16="http://schemas.microsoft.com/office/drawing/2014/main" id="{2DBB552C-ACD5-445C-AAB3-7086841E9DDF}"/>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허용 조건과 대안</a:t>
            </a:r>
          </a:p>
        </p:txBody>
      </p:sp>
      <p:sp>
        <p:nvSpPr>
          <p:cNvPr id="2" name="s34_next_1">
            <a:extLst xmlns:a="http://schemas.openxmlformats.org/drawingml/2006/main">
              <a:ext uri="{FF2B5EF4-FFF2-40B4-BE49-F238E27FC236}">
                <a16:creationId xmlns:a16="http://schemas.microsoft.com/office/drawing/2014/main" id="{36D6247A-F9FC-4D49-8106-DF7F616585E9}"/>
              </a:ext>
            </a:extLst>
          </p:cNvPr>
          <p:cNvSpPr>
            <a:spLocks xmlns:a="http://schemas.openxmlformats.org/drawingml/2006/main" noGrp="1"/>
          </p:cNvSpPr>
          <p:nvPr/>
        </p:nvSpPr>
        <p:spPr>
          <a:xfrm xmlns:a="http://schemas.openxmlformats.org/drawingml/2006/main">
            <a:off x="6035040" y="384048"/>
            <a:ext cx="5422392"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defRPr sz="1050" b="0">
                <a:solidFill>
                  <a:srgbClr val="464D5C"/>
                </a:solidFill>
                <a:latin typeface="Pretendard"/>
                <a:ea typeface="Pretendard"/>
                <a:cs typeface="Pretendard"/>
              </a:defRPr>
              <a:spcBef>
                <a:spcPts val="0"/>
              </a:spcBef>
              <a:spcAft>
                <a:spcPts val="0"/>
              </a:spcAft>
            </a:pPr>
            <a:r>
              <a:rPr sz="1050" b="0">
                <a:solidFill>
                  <a:srgbClr val="464D5C"/>
                </a:solidFill>
                <a:latin typeface="Pretendard"/>
                <a:ea typeface="Pretendard"/>
                <a:cs typeface="Pretendard"/>
              </a:rPr>
              <a:t>다음  신원을 식별하지 않는 상황 탐지</a:t>
            </a:r>
          </a:p>
        </p:txBody>
      </p:sp>
      <p:sp>
        <p:nvSpPr>
          <p:cNvPr id="3" name="s34_title_2">
            <a:extLst xmlns:a="http://schemas.openxmlformats.org/drawingml/2006/main">
              <a:ext uri="{FF2B5EF4-FFF2-40B4-BE49-F238E27FC236}">
                <a16:creationId xmlns:a16="http://schemas.microsoft.com/office/drawing/2014/main" id="{1547E19E-5722-462A-A7E8-96D316EC996A}"/>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구체화된 정책을 심사한 2026년 판결</a:t>
            </a:r>
          </a:p>
        </p:txBody>
      </p:sp>
      <p:sp>
        <p:nvSpPr>
          <p:cNvPr id="4" name="">
            <a:extLst xmlns:a="http://schemas.openxmlformats.org/drawingml/2006/main">
              <a:ext uri="{FF2B5EF4-FFF2-40B4-BE49-F238E27FC236}">
                <a16:creationId xmlns:a16="http://schemas.microsoft.com/office/drawing/2014/main" id="{5C7ADA6D-D517-4D1E-A66F-47A8E3F71391}"/>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34_band_4">
            <a:extLst xmlns:a="http://schemas.openxmlformats.org/drawingml/2006/main">
              <a:ext uri="{FF2B5EF4-FFF2-40B4-BE49-F238E27FC236}">
                <a16:creationId xmlns:a16="http://schemas.microsoft.com/office/drawing/2014/main" id="{12605650-4BAC-4302-8AF1-381D7A7C3F48}"/>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잉글랜드·웨일스 고등법원 · Thompson and Carlo · [2026] EWHC 915 (Admin)</a:t>
            </a:r>
          </a:p>
        </p:txBody>
      </p:sp>
      <p:sp>
        <p:nvSpPr>
          <p:cNvPr id="6" name="">
            <a:extLst xmlns:a="http://schemas.openxmlformats.org/drawingml/2006/main">
              <a:ext uri="{FF2B5EF4-FFF2-40B4-BE49-F238E27FC236}">
                <a16:creationId xmlns:a16="http://schemas.microsoft.com/office/drawing/2014/main" id="{F1571EE7-B5F3-4E43-8AB3-8F8E696993A5}"/>
              </a:ext>
            </a:extLst>
          </p:cNvPr>
          <p:cNvSpPr>
            <a:spLocks xmlns:a="http://schemas.openxmlformats.org/drawingml/2006/main" noGrp="1"/>
          </p:cNvSpPr>
          <p:nvPr/>
        </p:nvSpPr>
        <p:spPr>
          <a:xfrm xmlns:a="http://schemas.openxmlformats.org/drawingml/2006/main">
            <a:off x="731520" y="2057400"/>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7" name="s34_rowlabel_6">
            <a:extLst xmlns:a="http://schemas.openxmlformats.org/drawingml/2006/main">
              <a:ext uri="{FF2B5EF4-FFF2-40B4-BE49-F238E27FC236}">
                <a16:creationId xmlns:a16="http://schemas.microsoft.com/office/drawing/2014/main" id="{F010336C-DA33-4BD7-8409-F7432D338E23}"/>
              </a:ext>
            </a:extLst>
          </p:cNvPr>
          <p:cNvSpPr>
            <a:spLocks xmlns:a="http://schemas.openxmlformats.org/drawingml/2006/main" noGrp="1"/>
          </p:cNvSpPr>
          <p:nvPr/>
        </p:nvSpPr>
        <p:spPr>
          <a:xfrm xmlns:a="http://schemas.openxmlformats.org/drawingml/2006/main">
            <a:off x="822960" y="2593213"/>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심판 범위</a:t>
            </a:r>
          </a:p>
        </p:txBody>
      </p:sp>
      <p:sp>
        <p:nvSpPr>
          <p:cNvPr id="8" name="s34_conclusion_7">
            <a:extLst xmlns:a="http://schemas.openxmlformats.org/drawingml/2006/main">
              <a:ext uri="{FF2B5EF4-FFF2-40B4-BE49-F238E27FC236}">
                <a16:creationId xmlns:a16="http://schemas.microsoft.com/office/drawing/2014/main" id="{F9531E18-632A-4C57-A977-56AF5E045BDC}"/>
              </a:ext>
            </a:extLst>
          </p:cNvPr>
          <p:cNvSpPr>
            <a:spLocks xmlns:a="http://schemas.openxmlformats.org/drawingml/2006/main" noGrp="1"/>
          </p:cNvSpPr>
          <p:nvPr/>
        </p:nvSpPr>
        <p:spPr>
          <a:xfrm xmlns:a="http://schemas.openxmlformats.org/drawingml/2006/main">
            <a:off x="3154680" y="2409762"/>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런던경찰의 2024년 정책 명확성을 심사했다.</a:t>
            </a:r>
          </a:p>
        </p:txBody>
      </p:sp>
      <p:sp>
        <p:nvSpPr>
          <p:cNvPr id="9" name="s34_supplement_8">
            <a:extLst xmlns:a="http://schemas.openxmlformats.org/drawingml/2006/main">
              <a:ext uri="{FF2B5EF4-FFF2-40B4-BE49-F238E27FC236}">
                <a16:creationId xmlns:a16="http://schemas.microsoft.com/office/drawing/2014/main" id="{A6A028EF-F4F6-4D04-8570-9484181663C0}"/>
              </a:ext>
            </a:extLst>
          </p:cNvPr>
          <p:cNvSpPr>
            <a:spLocks xmlns:a="http://schemas.openxmlformats.org/drawingml/2006/main" noGrp="1"/>
          </p:cNvSpPr>
          <p:nvPr/>
        </p:nvSpPr>
        <p:spPr>
          <a:xfrm xmlns:a="http://schemas.openxmlformats.org/drawingml/2006/main">
            <a:off x="3154680" y="2765870"/>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2026년 4월 21일 판결. 목적·명단·장소와 재량 통제의 예측가능성이 중심이었다.</a:t>
            </a:r>
          </a:p>
        </p:txBody>
      </p:sp>
      <p:sp>
        <p:nvSpPr>
          <p:cNvPr id="10" name="">
            <a:extLst xmlns:a="http://schemas.openxmlformats.org/drawingml/2006/main">
              <a:ext uri="{FF2B5EF4-FFF2-40B4-BE49-F238E27FC236}">
                <a16:creationId xmlns:a16="http://schemas.microsoft.com/office/drawing/2014/main" id="{24F94E52-0B86-4C13-8ED2-64673E0E6B4A}"/>
              </a:ext>
            </a:extLst>
          </p:cNvPr>
          <p:cNvSpPr>
            <a:spLocks xmlns:a="http://schemas.openxmlformats.org/drawingml/2006/main" noGrp="1"/>
          </p:cNvSpPr>
          <p:nvPr/>
        </p:nvSpPr>
        <p:spPr>
          <a:xfrm xmlns:a="http://schemas.openxmlformats.org/drawingml/2006/main">
            <a:off x="731520" y="3419856"/>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1" name="s34_rowlabel_10">
            <a:extLst xmlns:a="http://schemas.openxmlformats.org/drawingml/2006/main">
              <a:ext uri="{FF2B5EF4-FFF2-40B4-BE49-F238E27FC236}">
                <a16:creationId xmlns:a16="http://schemas.microsoft.com/office/drawing/2014/main" id="{5C51B31A-7C1F-408F-9FAE-D9A464C9587F}"/>
              </a:ext>
            </a:extLst>
          </p:cNvPr>
          <p:cNvSpPr>
            <a:spLocks xmlns:a="http://schemas.openxmlformats.org/drawingml/2006/main" noGrp="1"/>
          </p:cNvSpPr>
          <p:nvPr/>
        </p:nvSpPr>
        <p:spPr>
          <a:xfrm xmlns:a="http://schemas.openxmlformats.org/drawingml/2006/main">
            <a:off x="822960" y="3955669"/>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판단 이유</a:t>
            </a:r>
          </a:p>
        </p:txBody>
      </p:sp>
      <p:sp>
        <p:nvSpPr>
          <p:cNvPr id="12" name="s34_conclusion_11">
            <a:extLst xmlns:a="http://schemas.openxmlformats.org/drawingml/2006/main">
              <a:ext uri="{FF2B5EF4-FFF2-40B4-BE49-F238E27FC236}">
                <a16:creationId xmlns:a16="http://schemas.microsoft.com/office/drawing/2014/main" id="{8090F06F-075D-4E77-A743-2286A4492F82}"/>
              </a:ext>
            </a:extLst>
          </p:cNvPr>
          <p:cNvSpPr>
            <a:spLocks xmlns:a="http://schemas.openxmlformats.org/drawingml/2006/main" noGrp="1"/>
          </p:cNvSpPr>
          <p:nvPr/>
        </p:nvSpPr>
        <p:spPr>
          <a:xfrm xmlns:a="http://schemas.openxmlformats.org/drawingml/2006/main">
            <a:off x="3154680" y="3772218"/>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정책 전체가 자의적 결정을 통제한다고 보았다.</a:t>
            </a:r>
          </a:p>
        </p:txBody>
      </p:sp>
      <p:sp>
        <p:nvSpPr>
          <p:cNvPr id="13" name="s34_supplement_12">
            <a:extLst xmlns:a="http://schemas.openxmlformats.org/drawingml/2006/main">
              <a:ext uri="{FF2B5EF4-FFF2-40B4-BE49-F238E27FC236}">
                <a16:creationId xmlns:a16="http://schemas.microsoft.com/office/drawing/2014/main" id="{D568FDA1-F798-4C9B-A691-22E293821EC7}"/>
              </a:ext>
            </a:extLst>
          </p:cNvPr>
          <p:cNvSpPr>
            <a:spLocks xmlns:a="http://schemas.openxmlformats.org/drawingml/2006/main" noGrp="1"/>
          </p:cNvSpPr>
          <p:nvPr/>
        </p:nvSpPr>
        <p:spPr>
          <a:xfrm xmlns:a="http://schemas.openxmlformats.org/drawingml/2006/main">
            <a:off x="3154680" y="4128326"/>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법원은 장소·명단의 기준과 비례성 검토 지침이 구조화되어 있다고 평가했다.</a:t>
            </a:r>
          </a:p>
        </p:txBody>
      </p:sp>
      <p:sp>
        <p:nvSpPr>
          <p:cNvPr id="14" name="">
            <a:extLst xmlns:a="http://schemas.openxmlformats.org/drawingml/2006/main">
              <a:ext uri="{FF2B5EF4-FFF2-40B4-BE49-F238E27FC236}">
                <a16:creationId xmlns:a16="http://schemas.microsoft.com/office/drawing/2014/main" id="{CD3B4295-6F60-46D0-A50A-FCF8CE878EF8}"/>
              </a:ext>
            </a:extLst>
          </p:cNvPr>
          <p:cNvSpPr>
            <a:spLocks xmlns:a="http://schemas.openxmlformats.org/drawingml/2006/main" noGrp="1"/>
          </p:cNvSpPr>
          <p:nvPr/>
        </p:nvSpPr>
        <p:spPr>
          <a:xfrm xmlns:a="http://schemas.openxmlformats.org/drawingml/2006/main">
            <a:off x="731520" y="4782312"/>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5" name="s34_rowlabel_14">
            <a:extLst xmlns:a="http://schemas.openxmlformats.org/drawingml/2006/main">
              <a:ext uri="{FF2B5EF4-FFF2-40B4-BE49-F238E27FC236}">
                <a16:creationId xmlns:a16="http://schemas.microsoft.com/office/drawing/2014/main" id="{E414FDDF-9DF1-4742-9D81-27420A6C3CDB}"/>
              </a:ext>
            </a:extLst>
          </p:cNvPr>
          <p:cNvSpPr>
            <a:spLocks xmlns:a="http://schemas.openxmlformats.org/drawingml/2006/main" noGrp="1"/>
          </p:cNvSpPr>
          <p:nvPr/>
        </p:nvSpPr>
        <p:spPr>
          <a:xfrm xmlns:a="http://schemas.openxmlformats.org/drawingml/2006/main">
            <a:off x="822960" y="5318125"/>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결론</a:t>
            </a:r>
          </a:p>
        </p:txBody>
      </p:sp>
      <p:sp>
        <p:nvSpPr>
          <p:cNvPr id="16" name="s34_conclusion_15">
            <a:extLst xmlns:a="http://schemas.openxmlformats.org/drawingml/2006/main">
              <a:ext uri="{FF2B5EF4-FFF2-40B4-BE49-F238E27FC236}">
                <a16:creationId xmlns:a16="http://schemas.microsoft.com/office/drawing/2014/main" id="{A874DC11-6AAD-4AC5-8DE0-02C4698AD9E5}"/>
              </a:ext>
            </a:extLst>
          </p:cNvPr>
          <p:cNvSpPr>
            <a:spLocks xmlns:a="http://schemas.openxmlformats.org/drawingml/2006/main" noGrp="1"/>
          </p:cNvSpPr>
          <p:nvPr/>
        </p:nvSpPr>
        <p:spPr>
          <a:xfrm xmlns:a="http://schemas.openxmlformats.org/drawingml/2006/main">
            <a:off x="3154680" y="5134674"/>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정책에 대한 이 소송의 청구를 기각했다.</a:t>
            </a:r>
          </a:p>
        </p:txBody>
      </p:sp>
      <p:sp>
        <p:nvSpPr>
          <p:cNvPr id="17" name="s34_supplement_16">
            <a:extLst xmlns:a="http://schemas.openxmlformats.org/drawingml/2006/main">
              <a:ext uri="{FF2B5EF4-FFF2-40B4-BE49-F238E27FC236}">
                <a16:creationId xmlns:a16="http://schemas.microsoft.com/office/drawing/2014/main" id="{C9F4FBF5-B001-407C-8993-7BBAE1767D9A}"/>
              </a:ext>
            </a:extLst>
          </p:cNvPr>
          <p:cNvSpPr>
            <a:spLocks xmlns:a="http://schemas.openxmlformats.org/drawingml/2006/main" noGrp="1"/>
          </p:cNvSpPr>
          <p:nvPr/>
        </p:nvSpPr>
        <p:spPr>
          <a:xfrm xmlns:a="http://schemas.openxmlformats.org/drawingml/2006/main">
            <a:off x="3154680" y="5490782"/>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§231: “Accordingly, the claim is dismissed.” · 번역: 따라서 청구를 기각한다.</a:t>
            </a:r>
          </a:p>
        </p:txBody>
      </p:sp>
      <p:sp>
        <p:nvSpPr>
          <p:cNvPr id="18" name="">
            <a:extLst xmlns:a="http://schemas.openxmlformats.org/drawingml/2006/main">
              <a:ext uri="{FF2B5EF4-FFF2-40B4-BE49-F238E27FC236}">
                <a16:creationId xmlns:a16="http://schemas.microsoft.com/office/drawing/2014/main" id="{6191693B-550D-4663-9268-4FE8CB775047}"/>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1785082137"/>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35_kicker_0">
            <a:extLst xmlns:a="http://schemas.openxmlformats.org/drawingml/2006/main">
              <a:ext uri="{FF2B5EF4-FFF2-40B4-BE49-F238E27FC236}">
                <a16:creationId xmlns:a16="http://schemas.microsoft.com/office/drawing/2014/main" id="{4F916EC5-10CC-4917-AB1F-B10421979E64}"/>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허용 조건과 대안</a:t>
            </a:r>
          </a:p>
        </p:txBody>
      </p:sp>
      <p:sp>
        <p:nvSpPr>
          <p:cNvPr id="2" name="s35_next_1">
            <a:extLst xmlns:a="http://schemas.openxmlformats.org/drawingml/2006/main">
              <a:ext uri="{FF2B5EF4-FFF2-40B4-BE49-F238E27FC236}">
                <a16:creationId xmlns:a16="http://schemas.microsoft.com/office/drawing/2014/main" id="{700C5F9F-CECD-4610-A605-1776CBBB165F}"/>
              </a:ext>
            </a:extLst>
          </p:cNvPr>
          <p:cNvSpPr>
            <a:spLocks xmlns:a="http://schemas.openxmlformats.org/drawingml/2006/main" noGrp="1"/>
          </p:cNvSpPr>
          <p:nvPr/>
        </p:nvSpPr>
        <p:spPr>
          <a:xfrm xmlns:a="http://schemas.openxmlformats.org/drawingml/2006/main">
            <a:off x="6035040" y="384048"/>
            <a:ext cx="5422392"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defRPr sz="1050" b="0">
                <a:solidFill>
                  <a:srgbClr val="464D5C"/>
                </a:solidFill>
                <a:latin typeface="Pretendard"/>
                <a:ea typeface="Pretendard"/>
                <a:cs typeface="Pretendard"/>
              </a:defRPr>
              <a:spcBef>
                <a:spcPts val="0"/>
              </a:spcBef>
              <a:spcAft>
                <a:spcPts val="0"/>
              </a:spcAft>
            </a:pPr>
            <a:r>
              <a:rPr sz="1050" b="0">
                <a:solidFill>
                  <a:srgbClr val="464D5C"/>
                </a:solidFill>
                <a:latin typeface="Pretendard"/>
                <a:ea typeface="Pretendard"/>
                <a:cs typeface="Pretendard"/>
              </a:rPr>
              <a:t>다음  목적에 맞는 수단의 선택</a:t>
            </a:r>
          </a:p>
        </p:txBody>
      </p:sp>
      <p:sp>
        <p:nvSpPr>
          <p:cNvPr id="3" name="s35_title_2">
            <a:extLst xmlns:a="http://schemas.openxmlformats.org/drawingml/2006/main">
              <a:ext uri="{FF2B5EF4-FFF2-40B4-BE49-F238E27FC236}">
                <a16:creationId xmlns:a16="http://schemas.microsoft.com/office/drawing/2014/main" id="{852480A5-0393-4836-884F-21A33611AB31}"/>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신원을 식별하지 않는 상황 탐지</a:t>
            </a:r>
          </a:p>
        </p:txBody>
      </p:sp>
      <p:sp>
        <p:nvSpPr>
          <p:cNvPr id="4" name="">
            <a:extLst xmlns:a="http://schemas.openxmlformats.org/drawingml/2006/main">
              <a:ext uri="{FF2B5EF4-FFF2-40B4-BE49-F238E27FC236}">
                <a16:creationId xmlns:a16="http://schemas.microsoft.com/office/drawing/2014/main" id="{9F9E0825-247A-46D2-BF34-351519C4AD8C}"/>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35_band_4">
            <a:extLst xmlns:a="http://schemas.openxmlformats.org/drawingml/2006/main">
              <a:ext uri="{FF2B5EF4-FFF2-40B4-BE49-F238E27FC236}">
                <a16:creationId xmlns:a16="http://schemas.microsoft.com/office/drawing/2014/main" id="{710F7DEB-4E1E-4116-96C1-3752D1565B13}"/>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파리 2024 올림픽 실험 · 프랑스 CNIL 설명</a:t>
            </a:r>
          </a:p>
        </p:txBody>
      </p:sp>
      <p:sp>
        <p:nvSpPr>
          <p:cNvPr id="6" name="">
            <a:extLst xmlns:a="http://schemas.openxmlformats.org/drawingml/2006/main">
              <a:ext uri="{FF2B5EF4-FFF2-40B4-BE49-F238E27FC236}">
                <a16:creationId xmlns:a16="http://schemas.microsoft.com/office/drawing/2014/main" id="{9CA8979D-133F-4B86-AD00-0AAA71E75B81}"/>
              </a:ext>
            </a:extLst>
          </p:cNvPr>
          <p:cNvSpPr>
            <a:spLocks xmlns:a="http://schemas.openxmlformats.org/drawingml/2006/main" noGrp="1"/>
          </p:cNvSpPr>
          <p:nvPr/>
        </p:nvSpPr>
        <p:spPr>
          <a:xfrm xmlns:a="http://schemas.openxmlformats.org/drawingml/2006/main">
            <a:off x="731520" y="2057400"/>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7" name="s35_body_6">
            <a:extLst xmlns:a="http://schemas.openxmlformats.org/drawingml/2006/main">
              <a:ext uri="{FF2B5EF4-FFF2-40B4-BE49-F238E27FC236}">
                <a16:creationId xmlns:a16="http://schemas.microsoft.com/office/drawing/2014/main" id="{D17D245E-B6F6-4AC0-A354-55830682E837}"/>
              </a:ext>
            </a:extLst>
          </p:cNvPr>
          <p:cNvSpPr>
            <a:spLocks xmlns:a="http://schemas.openxmlformats.org/drawingml/2006/main" noGrp="1"/>
          </p:cNvSpPr>
          <p:nvPr/>
        </p:nvSpPr>
        <p:spPr>
          <a:xfrm xmlns:a="http://schemas.openxmlformats.org/drawingml/2006/main">
            <a:off x="731520" y="2423160"/>
            <a:ext cx="3392424"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찾는 상황</a:t>
            </a:r>
          </a:p>
        </p:txBody>
      </p:sp>
      <p:sp>
        <p:nvSpPr>
          <p:cNvPr id="8" name="s35_body_7">
            <a:extLst xmlns:a="http://schemas.openxmlformats.org/drawingml/2006/main">
              <a:ext uri="{FF2B5EF4-FFF2-40B4-BE49-F238E27FC236}">
                <a16:creationId xmlns:a16="http://schemas.microsoft.com/office/drawing/2014/main" id="{25F78C5C-1D26-40F6-A235-47D8F2A11379}"/>
              </a:ext>
            </a:extLst>
          </p:cNvPr>
          <p:cNvSpPr>
            <a:spLocks xmlns:a="http://schemas.openxmlformats.org/drawingml/2006/main" noGrp="1"/>
          </p:cNvSpPr>
          <p:nvPr/>
        </p:nvSpPr>
        <p:spPr>
          <a:xfrm xmlns:a="http://schemas.openxmlformats.org/drawingml/2006/main">
            <a:off x="731520" y="2971800"/>
            <a:ext cx="3392424" cy="3874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250" b="1">
                <a:solidFill>
                  <a:srgbClr val="1E2761"/>
                </a:solidFill>
                <a:latin typeface="Pretendard"/>
                <a:ea typeface="Pretendard"/>
                <a:cs typeface="Pretendard"/>
              </a:defRPr>
              <a:spcBef>
                <a:spcPts val="0"/>
              </a:spcBef>
              <a:spcAft>
                <a:spcPts val="0"/>
              </a:spcAft>
            </a:pPr>
            <a:r>
              <a:rPr sz="2250" b="1">
                <a:solidFill>
                  <a:srgbClr val="1E2761"/>
                </a:solidFill>
                <a:latin typeface="Pretendard"/>
                <a:ea typeface="Pretendard"/>
                <a:cs typeface="Pretendard"/>
              </a:rPr>
              <a:t>미리 정한 위험 사건</a:t>
            </a:r>
          </a:p>
        </p:txBody>
      </p:sp>
      <p:sp>
        <p:nvSpPr>
          <p:cNvPr id="9" name="s35_body_8">
            <a:extLst xmlns:a="http://schemas.openxmlformats.org/drawingml/2006/main">
              <a:ext uri="{FF2B5EF4-FFF2-40B4-BE49-F238E27FC236}">
                <a16:creationId xmlns:a16="http://schemas.microsoft.com/office/drawing/2014/main" id="{07ACE6A8-C1EC-4FF3-A4D2-4B674574239A}"/>
              </a:ext>
            </a:extLst>
          </p:cNvPr>
          <p:cNvSpPr>
            <a:spLocks xmlns:a="http://schemas.openxmlformats.org/drawingml/2006/main" noGrp="1"/>
          </p:cNvSpPr>
          <p:nvPr/>
        </p:nvSpPr>
        <p:spPr>
          <a:xfrm xmlns:a="http://schemas.openxmlformats.org/drawingml/2006/main">
            <a:off x="731520" y="3706749"/>
            <a:ext cx="3392424" cy="494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버려진 물건·쓰러짐·군중 밀집·화재 등 8종의</a:t>
            </a:r>
          </a:p>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상황을 탐지한다.</a:t>
            </a:r>
          </a:p>
        </p:txBody>
      </p:sp>
      <p:sp>
        <p:nvSpPr>
          <p:cNvPr id="10" name="s35_body_9">
            <a:extLst xmlns:a="http://schemas.openxmlformats.org/drawingml/2006/main">
              <a:ext uri="{FF2B5EF4-FFF2-40B4-BE49-F238E27FC236}">
                <a16:creationId xmlns:a16="http://schemas.microsoft.com/office/drawing/2014/main" id="{83490819-F26E-4504-99B8-99FB17120CB5}"/>
              </a:ext>
            </a:extLst>
          </p:cNvPr>
          <p:cNvSpPr>
            <a:spLocks xmlns:a="http://schemas.openxmlformats.org/drawingml/2006/main" noGrp="1"/>
          </p:cNvSpPr>
          <p:nvPr/>
        </p:nvSpPr>
        <p:spPr>
          <a:xfrm xmlns:a="http://schemas.openxmlformats.org/drawingml/2006/main">
            <a:off x="4398264" y="2423160"/>
            <a:ext cx="3392424"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기술 범위</a:t>
            </a:r>
          </a:p>
        </p:txBody>
      </p:sp>
      <p:sp>
        <p:nvSpPr>
          <p:cNvPr id="11" name="s35_body_10">
            <a:extLst xmlns:a="http://schemas.openxmlformats.org/drawingml/2006/main">
              <a:ext uri="{FF2B5EF4-FFF2-40B4-BE49-F238E27FC236}">
                <a16:creationId xmlns:a16="http://schemas.microsoft.com/office/drawing/2014/main" id="{BD0EB3CD-3C2D-406C-8556-1C6AF6355766}"/>
              </a:ext>
            </a:extLst>
          </p:cNvPr>
          <p:cNvSpPr>
            <a:spLocks xmlns:a="http://schemas.openxmlformats.org/drawingml/2006/main" noGrp="1"/>
          </p:cNvSpPr>
          <p:nvPr/>
        </p:nvSpPr>
        <p:spPr>
          <a:xfrm xmlns:a="http://schemas.openxmlformats.org/drawingml/2006/main">
            <a:off x="4398264" y="2971800"/>
            <a:ext cx="3392424" cy="3874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250" b="1">
                <a:solidFill>
                  <a:srgbClr val="1E2761"/>
                </a:solidFill>
                <a:latin typeface="Pretendard"/>
                <a:ea typeface="Pretendard"/>
                <a:cs typeface="Pretendard"/>
              </a:defRPr>
              <a:spcBef>
                <a:spcPts val="0"/>
              </a:spcBef>
              <a:spcAft>
                <a:spcPts val="0"/>
              </a:spcAft>
            </a:pPr>
            <a:r>
              <a:rPr sz="2250" b="1">
                <a:solidFill>
                  <a:srgbClr val="1E2761"/>
                </a:solidFill>
                <a:latin typeface="Pretendard"/>
                <a:ea typeface="Pretendard"/>
                <a:cs typeface="Pretendard"/>
              </a:rPr>
              <a:t>얼굴·생체 신원식별 제외</a:t>
            </a:r>
          </a:p>
        </p:txBody>
      </p:sp>
      <p:sp>
        <p:nvSpPr>
          <p:cNvPr id="12" name="s35_body_11">
            <a:extLst xmlns:a="http://schemas.openxmlformats.org/drawingml/2006/main">
              <a:ext uri="{FF2B5EF4-FFF2-40B4-BE49-F238E27FC236}">
                <a16:creationId xmlns:a16="http://schemas.microsoft.com/office/drawing/2014/main" id="{07091820-C373-4488-97FF-74D1F8748231}"/>
              </a:ext>
            </a:extLst>
          </p:cNvPr>
          <p:cNvSpPr>
            <a:spLocks xmlns:a="http://schemas.openxmlformats.org/drawingml/2006/main" noGrp="1"/>
          </p:cNvSpPr>
          <p:nvPr/>
        </p:nvSpPr>
        <p:spPr>
          <a:xfrm xmlns:a="http://schemas.openxmlformats.org/drawingml/2006/main">
            <a:off x="4398264" y="3706749"/>
            <a:ext cx="3392424" cy="494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사람의 이름을 찾기 위한 얼굴 대조와 구분해</a:t>
            </a:r>
          </a:p>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법제를 설계했다.</a:t>
            </a:r>
          </a:p>
        </p:txBody>
      </p:sp>
      <p:sp>
        <p:nvSpPr>
          <p:cNvPr id="13" name="s35_body_12">
            <a:extLst xmlns:a="http://schemas.openxmlformats.org/drawingml/2006/main">
              <a:ext uri="{FF2B5EF4-FFF2-40B4-BE49-F238E27FC236}">
                <a16:creationId xmlns:a16="http://schemas.microsoft.com/office/drawing/2014/main" id="{6F326C8A-91CE-43BF-A718-A1524A1FCA0F}"/>
              </a:ext>
            </a:extLst>
          </p:cNvPr>
          <p:cNvSpPr>
            <a:spLocks xmlns:a="http://schemas.openxmlformats.org/drawingml/2006/main" noGrp="1"/>
          </p:cNvSpPr>
          <p:nvPr/>
        </p:nvSpPr>
        <p:spPr>
          <a:xfrm xmlns:a="http://schemas.openxmlformats.org/drawingml/2006/main">
            <a:off x="8065008" y="2423160"/>
            <a:ext cx="3392424"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후속 판단</a:t>
            </a:r>
          </a:p>
        </p:txBody>
      </p:sp>
      <p:sp>
        <p:nvSpPr>
          <p:cNvPr id="14" name="s35_body_13">
            <a:extLst xmlns:a="http://schemas.openxmlformats.org/drawingml/2006/main">
              <a:ext uri="{FF2B5EF4-FFF2-40B4-BE49-F238E27FC236}">
                <a16:creationId xmlns:a16="http://schemas.microsoft.com/office/drawing/2014/main" id="{607D6BA7-1CFA-44D3-A8C8-7EFFFE056849}"/>
              </a:ext>
            </a:extLst>
          </p:cNvPr>
          <p:cNvSpPr>
            <a:spLocks xmlns:a="http://schemas.openxmlformats.org/drawingml/2006/main" noGrp="1"/>
          </p:cNvSpPr>
          <p:nvPr/>
        </p:nvSpPr>
        <p:spPr>
          <a:xfrm xmlns:a="http://schemas.openxmlformats.org/drawingml/2006/main">
            <a:off x="8065008" y="2971800"/>
            <a:ext cx="3392424" cy="3874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250" b="1">
                <a:solidFill>
                  <a:srgbClr val="1E2761"/>
                </a:solidFill>
                <a:latin typeface="Pretendard"/>
                <a:ea typeface="Pretendard"/>
                <a:cs typeface="Pretendard"/>
              </a:defRPr>
              <a:spcBef>
                <a:spcPts val="0"/>
              </a:spcBef>
              <a:spcAft>
                <a:spcPts val="0"/>
              </a:spcAft>
            </a:pPr>
            <a:r>
              <a:rPr sz="2250" b="1">
                <a:solidFill>
                  <a:srgbClr val="1E2761"/>
                </a:solidFill>
                <a:latin typeface="Pretendard"/>
                <a:ea typeface="Pretendard"/>
                <a:cs typeface="Pretendard"/>
              </a:rPr>
              <a:t>요원이 영상을 확인</a:t>
            </a:r>
          </a:p>
        </p:txBody>
      </p:sp>
      <p:sp>
        <p:nvSpPr>
          <p:cNvPr id="15" name="s35_body_14">
            <a:extLst xmlns:a="http://schemas.openxmlformats.org/drawingml/2006/main">
              <a:ext uri="{FF2B5EF4-FFF2-40B4-BE49-F238E27FC236}">
                <a16:creationId xmlns:a16="http://schemas.microsoft.com/office/drawing/2014/main" id="{9499276B-9E43-4D1B-B52B-5775D200E0F7}"/>
              </a:ext>
            </a:extLst>
          </p:cNvPr>
          <p:cNvSpPr>
            <a:spLocks xmlns:a="http://schemas.openxmlformats.org/drawingml/2006/main" noGrp="1"/>
          </p:cNvSpPr>
          <p:nvPr/>
        </p:nvSpPr>
        <p:spPr>
          <a:xfrm xmlns:a="http://schemas.openxmlformats.org/drawingml/2006/main">
            <a:off x="8065008" y="3706749"/>
            <a:ext cx="3392424" cy="494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자동 경보를 받은 사람이 실제 상황과 필요한</a:t>
            </a:r>
          </a:p>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조치를 판단한다.</a:t>
            </a:r>
          </a:p>
        </p:txBody>
      </p:sp>
      <p:sp>
        <p:nvSpPr>
          <p:cNvPr id="16" name="">
            <a:extLst xmlns:a="http://schemas.openxmlformats.org/drawingml/2006/main">
              <a:ext uri="{FF2B5EF4-FFF2-40B4-BE49-F238E27FC236}">
                <a16:creationId xmlns:a16="http://schemas.microsoft.com/office/drawing/2014/main" id="{D8BF6A6B-B55C-4B42-982D-ADF003291E43}"/>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41447651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36_kicker_0">
            <a:extLst xmlns:a="http://schemas.openxmlformats.org/drawingml/2006/main">
              <a:ext uri="{FF2B5EF4-FFF2-40B4-BE49-F238E27FC236}">
                <a16:creationId xmlns:a16="http://schemas.microsoft.com/office/drawing/2014/main" id="{4D5B25DF-05CB-4B49-BDEC-B6D032E95F47}"/>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허용 조건과 대안</a:t>
            </a:r>
          </a:p>
        </p:txBody>
      </p:sp>
      <p:sp>
        <p:nvSpPr>
          <p:cNvPr id="2" name="s36_next_1">
            <a:extLst xmlns:a="http://schemas.openxmlformats.org/drawingml/2006/main">
              <a:ext uri="{FF2B5EF4-FFF2-40B4-BE49-F238E27FC236}">
                <a16:creationId xmlns:a16="http://schemas.microsoft.com/office/drawing/2014/main" id="{0F94B826-AF81-476E-939F-09EA498D41C1}"/>
              </a:ext>
            </a:extLst>
          </p:cNvPr>
          <p:cNvSpPr>
            <a:spLocks xmlns:a="http://schemas.openxmlformats.org/drawingml/2006/main" noGrp="1"/>
          </p:cNvSpPr>
          <p:nvPr/>
        </p:nvSpPr>
        <p:spPr>
          <a:xfrm xmlns:a="http://schemas.openxmlformats.org/drawingml/2006/main">
            <a:off x="6035040" y="384048"/>
            <a:ext cx="5422392"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defRPr sz="1050" b="0">
                <a:solidFill>
                  <a:srgbClr val="464D5C"/>
                </a:solidFill>
                <a:latin typeface="Pretendard"/>
                <a:ea typeface="Pretendard"/>
                <a:cs typeface="Pretendard"/>
              </a:defRPr>
              <a:spcBef>
                <a:spcPts val="0"/>
              </a:spcBef>
              <a:spcAft>
                <a:spcPts val="0"/>
              </a:spcAft>
            </a:pPr>
            <a:r>
              <a:rPr sz="1050" b="0">
                <a:solidFill>
                  <a:srgbClr val="464D5C"/>
                </a:solidFill>
                <a:latin typeface="Pretendard"/>
                <a:ea typeface="Pretendard"/>
                <a:cs typeface="Pretendard"/>
              </a:rPr>
              <a:t>다음  시작·확대·중단의 책임</a:t>
            </a:r>
          </a:p>
        </p:txBody>
      </p:sp>
      <p:sp>
        <p:nvSpPr>
          <p:cNvPr id="3" name="s36_title_2">
            <a:extLst xmlns:a="http://schemas.openxmlformats.org/drawingml/2006/main">
              <a:ext uri="{FF2B5EF4-FFF2-40B4-BE49-F238E27FC236}">
                <a16:creationId xmlns:a16="http://schemas.microsoft.com/office/drawing/2014/main" id="{5DE34211-CF20-43C5-9605-F18363CF1C40}"/>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목적에 맞는 수단의 선택</a:t>
            </a:r>
          </a:p>
        </p:txBody>
      </p:sp>
      <p:sp>
        <p:nvSpPr>
          <p:cNvPr id="4" name="">
            <a:extLst xmlns:a="http://schemas.openxmlformats.org/drawingml/2006/main">
              <a:ext uri="{FF2B5EF4-FFF2-40B4-BE49-F238E27FC236}">
                <a16:creationId xmlns:a16="http://schemas.microsoft.com/office/drawing/2014/main" id="{4DC15E72-7F2B-40FA-AABD-F6F4AFC7D8FF}"/>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36_band_4">
            <a:extLst xmlns:a="http://schemas.openxmlformats.org/drawingml/2006/main">
              <a:ext uri="{FF2B5EF4-FFF2-40B4-BE49-F238E27FC236}">
                <a16:creationId xmlns:a16="http://schemas.microsoft.com/office/drawing/2014/main" id="{80A52493-CFEF-4BC4-9C8D-8B8E6D85FF11}"/>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수단은 함께 사용될 수 있으며, 같은 과업에서 비용·속도·권리 부담을 비교한다.</a:t>
            </a:r>
          </a:p>
        </p:txBody>
      </p:sp>
      <p:graphicFrame>
        <p:nvGraphicFramePr>
          <p:cNvPr id="13" name=""/>
          <p:cNvGraphicFramePr/>
          <p:nvPr/>
        </p:nvGraphicFramePr>
        <p:xfrm>
          <a:off xmlns:a="http://schemas.openxmlformats.org/drawingml/2006/main" x="731520" y="2057400"/>
          <a:ext xmlns:a="http://schemas.openxmlformats.org/drawingml/2006/main" cx="10725912" cy="4087368"/>
        </p:xfrm>
        <a:graphic xmlns:a="http://schemas.openxmlformats.org/drawingml/2006/main">
          <a:graphicData uri="http://schemas.openxmlformats.org/drawingml/2006/table">
            <a:tbl>
              <a:tblPr firstRow="0" firstCol="0" bandRow="0" bandCol="0"/>
              <a:tblGrid>
                <a:gridCol w="2148840"/>
                <a:gridCol w="4087368"/>
                <a:gridCol w="4489704"/>
              </a:tblGrid>
              <a:tr h="512064">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과업</a:t>
                      </a:r>
                    </a:p>
                  </a:txBody>
                  <a:tcPr marL="146304" marR="146304" marT="91440" marB="91440" anchor="ctr">
                    <a:solidFill>
                      <a:srgbClr val="F2F4F8"/>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300" b="1">
                          <a:solidFill>
                            <a:srgbClr val="1E2761"/>
                          </a:solidFill>
                          <a:latin typeface="Pretendard"/>
                          <a:ea typeface="Pretendard"/>
                          <a:cs typeface="Pretendard"/>
                        </a:rPr>
                        <a:t>사용할 수단</a:t>
                      </a:r>
                    </a:p>
                  </a:txBody>
                  <a:tcPr marL="146304" marR="146304" marT="91440" marB="91440" anchor="ctr">
                    <a:solidFill>
                      <a:srgbClr val="F2F4F8"/>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300" b="1">
                          <a:solidFill>
                            <a:srgbClr val="1E2761"/>
                          </a:solidFill>
                          <a:latin typeface="Pretendard"/>
                          <a:ea typeface="Pretendard"/>
                          <a:cs typeface="Pretendard"/>
                        </a:rPr>
                        <a:t>선택 조건</a:t>
                      </a:r>
                    </a:p>
                  </a:txBody>
                  <a:tcPr marL="146304" marR="146304" marT="91440" marB="91440" anchor="ctr">
                    <a:solidFill>
                      <a:srgbClr val="F2F4F8"/>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r h="1191768">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특정인의 소재 파악</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기존 수사 · 사후 영상 검색 · 제한적 실시간 식별</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시급성, 예상 출현 장소, 명단의 구체성</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r h="1191768">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실종자의 이동 경로</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외형·소지품 검색 · 관제요원 확인 · 현장 수색</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가용 사진, 마지막 동선, 즉시 위험</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r h="1191768">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행사장의 사고 대응</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상황 탐지 · 현장 인력 · 안내·동선 관리</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발생 상황, 확인·출동 시간, 혼잡 관리</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bl>
          </a:graphicData>
        </a:graphic>
      </p:graphicFrame>
      <p:sp>
        <p:nvSpPr>
          <p:cNvPr id="7" name="">
            <a:extLst xmlns:a="http://schemas.openxmlformats.org/drawingml/2006/main">
              <a:ext uri="{FF2B5EF4-FFF2-40B4-BE49-F238E27FC236}">
                <a16:creationId xmlns:a16="http://schemas.microsoft.com/office/drawing/2014/main" id="{10B9BF64-76AF-45AC-A905-45FEAEF2582A}"/>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529451226"/>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37_kicker_0">
            <a:extLst xmlns:a="http://schemas.openxmlformats.org/drawingml/2006/main">
              <a:ext uri="{FF2B5EF4-FFF2-40B4-BE49-F238E27FC236}">
                <a16:creationId xmlns:a16="http://schemas.microsoft.com/office/drawing/2014/main" id="{3157D26E-6F72-4D23-8378-F08DB33D8708}"/>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허용 조건과 대안</a:t>
            </a:r>
          </a:p>
        </p:txBody>
      </p:sp>
      <p:sp>
        <p:nvSpPr>
          <p:cNvPr id="2" name="s37_next_1">
            <a:extLst xmlns:a="http://schemas.openxmlformats.org/drawingml/2006/main">
              <a:ext uri="{FF2B5EF4-FFF2-40B4-BE49-F238E27FC236}">
                <a16:creationId xmlns:a16="http://schemas.microsoft.com/office/drawing/2014/main" id="{939F8B9F-4362-4787-8202-89758A628324}"/>
              </a:ext>
            </a:extLst>
          </p:cNvPr>
          <p:cNvSpPr>
            <a:spLocks xmlns:a="http://schemas.openxmlformats.org/drawingml/2006/main" noGrp="1"/>
          </p:cNvSpPr>
          <p:nvPr/>
        </p:nvSpPr>
        <p:spPr>
          <a:xfrm xmlns:a="http://schemas.openxmlformats.org/drawingml/2006/main">
            <a:off x="6035040" y="384048"/>
            <a:ext cx="5422392"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defRPr sz="1050" b="0">
                <a:solidFill>
                  <a:srgbClr val="464D5C"/>
                </a:solidFill>
                <a:latin typeface="Pretendard"/>
                <a:ea typeface="Pretendard"/>
                <a:cs typeface="Pretendard"/>
              </a:defRPr>
              <a:spcBef>
                <a:spcPts val="0"/>
              </a:spcBef>
              <a:spcAft>
                <a:spcPts val="0"/>
              </a:spcAft>
            </a:pPr>
            <a:r>
              <a:rPr sz="1050" b="0">
                <a:solidFill>
                  <a:srgbClr val="464D5C"/>
                </a:solidFill>
                <a:latin typeface="Pretendard"/>
                <a:ea typeface="Pretendard"/>
                <a:cs typeface="Pretendard"/>
              </a:rPr>
              <a:t>다음  허용 범위를 정하는 세 선택</a:t>
            </a:r>
          </a:p>
        </p:txBody>
      </p:sp>
      <p:sp>
        <p:nvSpPr>
          <p:cNvPr id="3" name="s37_title_2">
            <a:extLst xmlns:a="http://schemas.openxmlformats.org/drawingml/2006/main">
              <a:ext uri="{FF2B5EF4-FFF2-40B4-BE49-F238E27FC236}">
                <a16:creationId xmlns:a16="http://schemas.microsoft.com/office/drawing/2014/main" id="{967104D7-95C7-4D60-B1FA-BA3EC08E4732}"/>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시작·확대·중단의 책임</a:t>
            </a:r>
          </a:p>
        </p:txBody>
      </p:sp>
      <p:sp>
        <p:nvSpPr>
          <p:cNvPr id="4" name="">
            <a:extLst xmlns:a="http://schemas.openxmlformats.org/drawingml/2006/main">
              <a:ext uri="{FF2B5EF4-FFF2-40B4-BE49-F238E27FC236}">
                <a16:creationId xmlns:a16="http://schemas.microsoft.com/office/drawing/2014/main" id="{03B4B252-D0D8-4FAA-8C5E-B1B41176AD3F}"/>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37_band_4">
            <a:extLst xmlns:a="http://schemas.openxmlformats.org/drawingml/2006/main">
              <a:ext uri="{FF2B5EF4-FFF2-40B4-BE49-F238E27FC236}">
                <a16:creationId xmlns:a16="http://schemas.microsoft.com/office/drawing/2014/main" id="{203A26AB-0038-48AB-9139-77BA491CE3F4}"/>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정책 설계안: 운영기관·허가기관·독립 평가자의 역할을 구체적으로 정한다.</a:t>
            </a:r>
          </a:p>
        </p:txBody>
      </p:sp>
      <p:graphicFrame>
        <p:nvGraphicFramePr>
          <p:cNvPr id="13" name=""/>
          <p:cNvGraphicFramePr/>
          <p:nvPr/>
        </p:nvGraphicFramePr>
        <p:xfrm>
          <a:off xmlns:a="http://schemas.openxmlformats.org/drawingml/2006/main" x="731520" y="2057400"/>
          <a:ext xmlns:a="http://schemas.openxmlformats.org/drawingml/2006/main" cx="10725912" cy="4087368"/>
        </p:xfrm>
        <a:graphic xmlns:a="http://schemas.openxmlformats.org/drawingml/2006/main">
          <a:graphicData uri="http://schemas.openxmlformats.org/drawingml/2006/table">
            <a:tbl>
              <a:tblPr firstRow="0" firstCol="0" bandRow="0" bandCol="0"/>
              <a:tblGrid>
                <a:gridCol w="2148840"/>
                <a:gridCol w="4087368"/>
                <a:gridCol w="4489704"/>
              </a:tblGrid>
              <a:tr h="512064">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시점</a:t>
                      </a:r>
                    </a:p>
                  </a:txBody>
                  <a:tcPr marL="146304" marR="146304" marT="91440" marB="91440" anchor="ctr">
                    <a:solidFill>
                      <a:srgbClr val="F2F4F8"/>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300" b="1">
                          <a:solidFill>
                            <a:srgbClr val="1E2761"/>
                          </a:solidFill>
                          <a:latin typeface="Pretendard"/>
                          <a:ea typeface="Pretendard"/>
                          <a:cs typeface="Pretendard"/>
                        </a:rPr>
                        <a:t>운영기관의 기록·행동</a:t>
                      </a:r>
                    </a:p>
                  </a:txBody>
                  <a:tcPr marL="146304" marR="146304" marT="91440" marB="91440" anchor="ctr">
                    <a:solidFill>
                      <a:srgbClr val="F2F4F8"/>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300" b="1">
                          <a:solidFill>
                            <a:srgbClr val="1E2761"/>
                          </a:solidFill>
                          <a:latin typeface="Pretendard"/>
                          <a:ea typeface="Pretendard"/>
                          <a:cs typeface="Pretendard"/>
                        </a:rPr>
                        <a:t>심사·감독의 행동</a:t>
                      </a:r>
                    </a:p>
                  </a:txBody>
                  <a:tcPr marL="146304" marR="146304" marT="91440" marB="91440" anchor="ctr">
                    <a:solidFill>
                      <a:srgbClr val="F2F4F8"/>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r h="1124416">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시작</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운영기관이 목적·명단·장소·기간과 대안 검토를 제출</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허가기관이 법적 근거와 필요성·비례성을 심사</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r h="1326473">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운영·확대</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배치·설정·경보·접촉·정정·삭제 기록을 남김</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25000"/>
                        </a:lnSpc>
                        <a:spcBef>
                          <a:spcPts val="0"/>
                        </a:spcBef>
                        <a:spcAft>
                          <a:spcPts val="0"/>
                        </a:spcAft>
                      </a:pPr>
                      <a:r>
                        <a:rPr sz="1250" b="0">
                          <a:solidFill>
                            <a:srgbClr val="222633"/>
                          </a:solidFill>
                          <a:latin typeface="Pretendard"/>
                          <a:ea typeface="Pretendard"/>
                          <a:cs typeface="Pretendard"/>
                        </a:rPr>
                        <a:t>독립 평가자가 성과와 권리 부담을 검토하고 주요 변경을</a:t>
                      </a:r>
                    </a:p>
                    <a:p>
                      <a:pPr algn="l">
                        <a:lnSpc>
                          <a:spcPct val="125000"/>
                        </a:lnSpc>
                        <a:spcBef>
                          <a:spcPts val="0"/>
                        </a:spcBef>
                        <a:spcAft>
                          <a:spcPts val="0"/>
                        </a:spcAft>
                      </a:pPr>
                      <a:r>
                        <a:rPr sz="1250" b="0">
                          <a:solidFill>
                            <a:srgbClr val="222633"/>
                          </a:solidFill>
                          <a:latin typeface="Pretendard"/>
                          <a:ea typeface="Pretendard"/>
                          <a:cs typeface="Pretendard"/>
                        </a:rPr>
                        <a:t>재심사</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r h="1124416">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중단·구제</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중대한 오인조치·목적 외 사용·감사 불이행에 대응</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중단권자, 이의제기 창구, 정정·보상 경로를 사전에 지정</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bl>
          </a:graphicData>
        </a:graphic>
      </p:graphicFrame>
      <p:sp>
        <p:nvSpPr>
          <p:cNvPr id="7" name="">
            <a:extLst xmlns:a="http://schemas.openxmlformats.org/drawingml/2006/main">
              <a:ext uri="{FF2B5EF4-FFF2-40B4-BE49-F238E27FC236}">
                <a16:creationId xmlns:a16="http://schemas.microsoft.com/office/drawing/2014/main" id="{4296B9A0-E115-4927-9D43-D8F20A92529A}"/>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1802045143"/>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38_kicker_0">
            <a:extLst xmlns:a="http://schemas.openxmlformats.org/drawingml/2006/main">
              <a:ext uri="{FF2B5EF4-FFF2-40B4-BE49-F238E27FC236}">
                <a16:creationId xmlns:a16="http://schemas.microsoft.com/office/drawing/2014/main" id="{A1A47C28-B581-49B6-A293-1F9A238448EF}"/>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주요 논거와 최종 판단</a:t>
            </a:r>
          </a:p>
        </p:txBody>
      </p:sp>
      <p:sp>
        <p:nvSpPr>
          <p:cNvPr id="2" name="s38_next_1">
            <a:extLst xmlns:a="http://schemas.openxmlformats.org/drawingml/2006/main">
              <a:ext uri="{FF2B5EF4-FFF2-40B4-BE49-F238E27FC236}">
                <a16:creationId xmlns:a16="http://schemas.microsoft.com/office/drawing/2014/main" id="{DD248899-BBC0-4527-B215-049BD36D8CEB}"/>
              </a:ext>
            </a:extLst>
          </p:cNvPr>
          <p:cNvSpPr>
            <a:spLocks xmlns:a="http://schemas.openxmlformats.org/drawingml/2006/main" noGrp="1"/>
          </p:cNvSpPr>
          <p:nvPr/>
        </p:nvSpPr>
        <p:spPr>
          <a:xfrm xmlns:a="http://schemas.openxmlformats.org/drawingml/2006/main">
            <a:off x="6035040" y="384048"/>
            <a:ext cx="5422392"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defRPr sz="1050" b="0">
                <a:solidFill>
                  <a:srgbClr val="464D5C"/>
                </a:solidFill>
                <a:latin typeface="Pretendard"/>
                <a:ea typeface="Pretendard"/>
                <a:cs typeface="Pretendard"/>
              </a:defRPr>
              <a:spcBef>
                <a:spcPts val="0"/>
              </a:spcBef>
              <a:spcAft>
                <a:spcPts val="0"/>
              </a:spcAft>
            </a:pPr>
            <a:r>
              <a:rPr sz="1050" b="0">
                <a:solidFill>
                  <a:srgbClr val="464D5C"/>
                </a:solidFill>
                <a:latin typeface="Pretendard"/>
                <a:ea typeface="Pretendard"/>
                <a:cs typeface="Pretendard"/>
              </a:rPr>
              <a:t>다음  필요성과 추가 성과의 판단</a:t>
            </a:r>
          </a:p>
        </p:txBody>
      </p:sp>
      <p:sp>
        <p:nvSpPr>
          <p:cNvPr id="3" name="s38_title_2">
            <a:extLst xmlns:a="http://schemas.openxmlformats.org/drawingml/2006/main">
              <a:ext uri="{FF2B5EF4-FFF2-40B4-BE49-F238E27FC236}">
                <a16:creationId xmlns:a16="http://schemas.microsoft.com/office/drawing/2014/main" id="{39BDB969-7583-4328-8D89-08FB1CEA9FB3}"/>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허용 범위를 정하는 세 선택</a:t>
            </a:r>
          </a:p>
        </p:txBody>
      </p:sp>
      <p:sp>
        <p:nvSpPr>
          <p:cNvPr id="4" name="">
            <a:extLst xmlns:a="http://schemas.openxmlformats.org/drawingml/2006/main">
              <a:ext uri="{FF2B5EF4-FFF2-40B4-BE49-F238E27FC236}">
                <a16:creationId xmlns:a16="http://schemas.microsoft.com/office/drawing/2014/main" id="{92D1905C-6256-4F7F-891F-6531FF94227B}"/>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38_band_4">
            <a:extLst xmlns:a="http://schemas.openxmlformats.org/drawingml/2006/main">
              <a:ext uri="{FF2B5EF4-FFF2-40B4-BE49-F238E27FC236}">
                <a16:creationId xmlns:a16="http://schemas.microsoft.com/office/drawing/2014/main" id="{327F1570-5047-4A16-8360-404D53893635}"/>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실시간 용의자 식별의 범위와 도입 시점을 구체적으로 정한다.</a:t>
            </a:r>
          </a:p>
        </p:txBody>
      </p:sp>
      <p:sp>
        <p:nvSpPr>
          <p:cNvPr id="6" name="">
            <a:extLst xmlns:a="http://schemas.openxmlformats.org/drawingml/2006/main">
              <a:ext uri="{FF2B5EF4-FFF2-40B4-BE49-F238E27FC236}">
                <a16:creationId xmlns:a16="http://schemas.microsoft.com/office/drawing/2014/main" id="{0B5B3BF6-6890-43A0-ADD7-0A81F25C0486}"/>
              </a:ext>
            </a:extLst>
          </p:cNvPr>
          <p:cNvSpPr>
            <a:spLocks xmlns:a="http://schemas.openxmlformats.org/drawingml/2006/main" noGrp="1"/>
          </p:cNvSpPr>
          <p:nvPr/>
        </p:nvSpPr>
        <p:spPr>
          <a:xfrm xmlns:a="http://schemas.openxmlformats.org/drawingml/2006/main">
            <a:off x="731520" y="2057400"/>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7" name="s38_body_6">
            <a:extLst xmlns:a="http://schemas.openxmlformats.org/drawingml/2006/main">
              <a:ext uri="{FF2B5EF4-FFF2-40B4-BE49-F238E27FC236}">
                <a16:creationId xmlns:a16="http://schemas.microsoft.com/office/drawing/2014/main" id="{7B2FC930-483C-45DA-BFBB-81F421220229}"/>
              </a:ext>
            </a:extLst>
          </p:cNvPr>
          <p:cNvSpPr>
            <a:spLocks xmlns:a="http://schemas.openxmlformats.org/drawingml/2006/main" noGrp="1"/>
          </p:cNvSpPr>
          <p:nvPr/>
        </p:nvSpPr>
        <p:spPr>
          <a:xfrm xmlns:a="http://schemas.openxmlformats.org/drawingml/2006/main">
            <a:off x="731520" y="2423160"/>
            <a:ext cx="3392424"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도입 유예</a:t>
            </a:r>
          </a:p>
        </p:txBody>
      </p:sp>
      <p:sp>
        <p:nvSpPr>
          <p:cNvPr id="8" name="s38_body_7">
            <a:extLst xmlns:a="http://schemas.openxmlformats.org/drawingml/2006/main">
              <a:ext uri="{FF2B5EF4-FFF2-40B4-BE49-F238E27FC236}">
                <a16:creationId xmlns:a16="http://schemas.microsoft.com/office/drawing/2014/main" id="{8F6E0D05-2154-49CA-94E7-0FB33B2C4B81}"/>
              </a:ext>
            </a:extLst>
          </p:cNvPr>
          <p:cNvSpPr>
            <a:spLocks xmlns:a="http://schemas.openxmlformats.org/drawingml/2006/main" noGrp="1"/>
          </p:cNvSpPr>
          <p:nvPr/>
        </p:nvSpPr>
        <p:spPr>
          <a:xfrm xmlns:a="http://schemas.openxmlformats.org/drawingml/2006/main">
            <a:off x="731520" y="2971800"/>
            <a:ext cx="3392424" cy="3874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250" b="1">
                <a:solidFill>
                  <a:srgbClr val="1E2761"/>
                </a:solidFill>
                <a:latin typeface="Pretendard"/>
                <a:ea typeface="Pretendard"/>
                <a:cs typeface="Pretendard"/>
              </a:defRPr>
              <a:spcBef>
                <a:spcPts val="0"/>
              </a:spcBef>
              <a:spcAft>
                <a:spcPts val="0"/>
              </a:spcAft>
            </a:pPr>
            <a:r>
              <a:rPr sz="2250" b="1">
                <a:solidFill>
                  <a:srgbClr val="1E2761"/>
                </a:solidFill>
                <a:latin typeface="Pretendard"/>
                <a:ea typeface="Pretendard"/>
                <a:cs typeface="Pretendard"/>
              </a:rPr>
              <a:t>보호체계와 검증을 먼저</a:t>
            </a:r>
          </a:p>
        </p:txBody>
      </p:sp>
      <p:sp>
        <p:nvSpPr>
          <p:cNvPr id="9" name="s38_body_8">
            <a:extLst xmlns:a="http://schemas.openxmlformats.org/drawingml/2006/main">
              <a:ext uri="{FF2B5EF4-FFF2-40B4-BE49-F238E27FC236}">
                <a16:creationId xmlns:a16="http://schemas.microsoft.com/office/drawing/2014/main" id="{E5C4DE25-C308-4D85-9B6B-99CD6CE7A2FF}"/>
              </a:ext>
            </a:extLst>
          </p:cNvPr>
          <p:cNvSpPr>
            <a:spLocks xmlns:a="http://schemas.openxmlformats.org/drawingml/2006/main" noGrp="1"/>
          </p:cNvSpPr>
          <p:nvPr/>
        </p:nvSpPr>
        <p:spPr>
          <a:xfrm xmlns:a="http://schemas.openxmlformats.org/drawingml/2006/main">
            <a:off x="731520" y="3706749"/>
            <a:ext cx="3392424" cy="7170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법적 근거·독립 평가·구제가 갖춰질 때까지</a:t>
            </a:r>
          </a:p>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실시간 식별을 유예하고 기존 수사 수단을</a:t>
            </a:r>
          </a:p>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사용한다.</a:t>
            </a:r>
          </a:p>
        </p:txBody>
      </p:sp>
      <p:sp>
        <p:nvSpPr>
          <p:cNvPr id="10" name="s38_body_9">
            <a:extLst xmlns:a="http://schemas.openxmlformats.org/drawingml/2006/main">
              <a:ext uri="{FF2B5EF4-FFF2-40B4-BE49-F238E27FC236}">
                <a16:creationId xmlns:a16="http://schemas.microsoft.com/office/drawing/2014/main" id="{F2EC7E52-20C8-43F8-9FA9-97FE9DA2E427}"/>
              </a:ext>
            </a:extLst>
          </p:cNvPr>
          <p:cNvSpPr>
            <a:spLocks xmlns:a="http://schemas.openxmlformats.org/drawingml/2006/main" noGrp="1"/>
          </p:cNvSpPr>
          <p:nvPr/>
        </p:nvSpPr>
        <p:spPr>
          <a:xfrm xmlns:a="http://schemas.openxmlformats.org/drawingml/2006/main">
            <a:off x="4398264" y="2423160"/>
            <a:ext cx="3392424"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제한적 허용</a:t>
            </a:r>
          </a:p>
        </p:txBody>
      </p:sp>
      <p:sp>
        <p:nvSpPr>
          <p:cNvPr id="11" name="s38_body_10">
            <a:extLst xmlns:a="http://schemas.openxmlformats.org/drawingml/2006/main">
              <a:ext uri="{FF2B5EF4-FFF2-40B4-BE49-F238E27FC236}">
                <a16:creationId xmlns:a16="http://schemas.microsoft.com/office/drawing/2014/main" id="{AFD1CC1B-2421-47BD-BEBB-9901ACFCCD8E}"/>
              </a:ext>
            </a:extLst>
          </p:cNvPr>
          <p:cNvSpPr>
            <a:spLocks xmlns:a="http://schemas.openxmlformats.org/drawingml/2006/main" noGrp="1"/>
          </p:cNvSpPr>
          <p:nvPr/>
        </p:nvSpPr>
        <p:spPr>
          <a:xfrm xmlns:a="http://schemas.openxmlformats.org/drawingml/2006/main">
            <a:off x="4398264" y="2971800"/>
            <a:ext cx="3392424" cy="3874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250" b="1">
                <a:solidFill>
                  <a:srgbClr val="1E2761"/>
                </a:solidFill>
                <a:latin typeface="Pretendard"/>
                <a:ea typeface="Pretendard"/>
                <a:cs typeface="Pretendard"/>
              </a:defRPr>
              <a:spcBef>
                <a:spcPts val="0"/>
              </a:spcBef>
              <a:spcAft>
                <a:spcPts val="0"/>
              </a:spcAft>
            </a:pPr>
            <a:r>
              <a:rPr sz="2250" b="1">
                <a:solidFill>
                  <a:srgbClr val="1E2761"/>
                </a:solidFill>
                <a:latin typeface="Pretendard"/>
                <a:ea typeface="Pretendard"/>
                <a:cs typeface="Pretendard"/>
              </a:rPr>
              <a:t>특정 목적·배치만 허가</a:t>
            </a:r>
          </a:p>
        </p:txBody>
      </p:sp>
      <p:sp>
        <p:nvSpPr>
          <p:cNvPr id="12" name="s38_body_11">
            <a:extLst xmlns:a="http://schemas.openxmlformats.org/drawingml/2006/main">
              <a:ext uri="{FF2B5EF4-FFF2-40B4-BE49-F238E27FC236}">
                <a16:creationId xmlns:a16="http://schemas.microsoft.com/office/drawing/2014/main" id="{CE6373FC-CA21-411C-A76D-7CB05222BE13}"/>
              </a:ext>
            </a:extLst>
          </p:cNvPr>
          <p:cNvSpPr>
            <a:spLocks xmlns:a="http://schemas.openxmlformats.org/drawingml/2006/main" noGrp="1"/>
          </p:cNvSpPr>
          <p:nvPr/>
        </p:nvSpPr>
        <p:spPr>
          <a:xfrm xmlns:a="http://schemas.openxmlformats.org/drawingml/2006/main">
            <a:off x="4398264" y="3706749"/>
            <a:ext cx="3392424" cy="494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중대한 범죄와 구체적 대상을 정하고</a:t>
            </a:r>
          </a:p>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장소·기간·명단을 제한해 개별 심사를 거친다.</a:t>
            </a:r>
          </a:p>
        </p:txBody>
      </p:sp>
      <p:sp>
        <p:nvSpPr>
          <p:cNvPr id="13" name="s38_body_12">
            <a:extLst xmlns:a="http://schemas.openxmlformats.org/drawingml/2006/main">
              <a:ext uri="{FF2B5EF4-FFF2-40B4-BE49-F238E27FC236}">
                <a16:creationId xmlns:a16="http://schemas.microsoft.com/office/drawing/2014/main" id="{9BE745D8-EB25-4408-B302-95ACB8589250}"/>
              </a:ext>
            </a:extLst>
          </p:cNvPr>
          <p:cNvSpPr>
            <a:spLocks xmlns:a="http://schemas.openxmlformats.org/drawingml/2006/main" noGrp="1"/>
          </p:cNvSpPr>
          <p:nvPr/>
        </p:nvSpPr>
        <p:spPr>
          <a:xfrm xmlns:a="http://schemas.openxmlformats.org/drawingml/2006/main">
            <a:off x="8065008" y="2423160"/>
            <a:ext cx="3392424"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단계적 확대</a:t>
            </a:r>
          </a:p>
        </p:txBody>
      </p:sp>
      <p:sp>
        <p:nvSpPr>
          <p:cNvPr id="14" name="s38_body_13">
            <a:extLst xmlns:a="http://schemas.openxmlformats.org/drawingml/2006/main">
              <a:ext uri="{FF2B5EF4-FFF2-40B4-BE49-F238E27FC236}">
                <a16:creationId xmlns:a16="http://schemas.microsoft.com/office/drawing/2014/main" id="{D4F31606-2370-4F81-B9EF-8471D73F0F9B}"/>
              </a:ext>
            </a:extLst>
          </p:cNvPr>
          <p:cNvSpPr>
            <a:spLocks xmlns:a="http://schemas.openxmlformats.org/drawingml/2006/main" noGrp="1"/>
          </p:cNvSpPr>
          <p:nvPr/>
        </p:nvSpPr>
        <p:spPr>
          <a:xfrm xmlns:a="http://schemas.openxmlformats.org/drawingml/2006/main">
            <a:off x="8065008" y="2971800"/>
            <a:ext cx="3392424" cy="3874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250" b="1">
                <a:solidFill>
                  <a:srgbClr val="1E2761"/>
                </a:solidFill>
                <a:latin typeface="Pretendard"/>
                <a:ea typeface="Pretendard"/>
                <a:cs typeface="Pretendard"/>
              </a:defRPr>
              <a:spcBef>
                <a:spcPts val="0"/>
              </a:spcBef>
              <a:spcAft>
                <a:spcPts val="0"/>
              </a:spcAft>
            </a:pPr>
            <a:r>
              <a:rPr sz="2250" b="1">
                <a:solidFill>
                  <a:srgbClr val="1E2761"/>
                </a:solidFill>
                <a:latin typeface="Pretendard"/>
                <a:ea typeface="Pretendard"/>
                <a:cs typeface="Pretendard"/>
              </a:rPr>
              <a:t>운영 결과에 따른 재승인</a:t>
            </a:r>
          </a:p>
        </p:txBody>
      </p:sp>
      <p:sp>
        <p:nvSpPr>
          <p:cNvPr id="15" name="s38_body_14">
            <a:extLst xmlns:a="http://schemas.openxmlformats.org/drawingml/2006/main">
              <a:ext uri="{FF2B5EF4-FFF2-40B4-BE49-F238E27FC236}">
                <a16:creationId xmlns:a16="http://schemas.microsoft.com/office/drawing/2014/main" id="{E54ECA15-7E76-4EC8-96A4-AC338D6DFAB6}"/>
              </a:ext>
            </a:extLst>
          </p:cNvPr>
          <p:cNvSpPr>
            <a:spLocks xmlns:a="http://schemas.openxmlformats.org/drawingml/2006/main" noGrp="1"/>
          </p:cNvSpPr>
          <p:nvPr/>
        </p:nvSpPr>
        <p:spPr>
          <a:xfrm xmlns:a="http://schemas.openxmlformats.org/drawingml/2006/main">
            <a:off x="8065008" y="3706749"/>
            <a:ext cx="3392424" cy="7170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적법한 한정 운영 뒤 성과·오접촉·비용을</a:t>
            </a:r>
          </a:p>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공개하고 기준 충족 여부에 따라</a:t>
            </a:r>
          </a:p>
          <a:p xmlns:a="http://schemas.openxmlformats.org/drawingml/2006/main">
            <a:pPr algn="l">
              <a:lnSpc>
                <a:spcPct val="125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확대·중단한다.</a:t>
            </a:r>
          </a:p>
        </p:txBody>
      </p:sp>
      <p:sp>
        <p:nvSpPr>
          <p:cNvPr id="16" name="">
            <a:extLst xmlns:a="http://schemas.openxmlformats.org/drawingml/2006/main">
              <a:ext uri="{FF2B5EF4-FFF2-40B4-BE49-F238E27FC236}">
                <a16:creationId xmlns:a16="http://schemas.microsoft.com/office/drawing/2014/main" id="{A3373D75-092F-4611-B7FA-C15156967BDF}"/>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1352082248"/>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39_kicker_0">
            <a:extLst xmlns:a="http://schemas.openxmlformats.org/drawingml/2006/main">
              <a:ext uri="{FF2B5EF4-FFF2-40B4-BE49-F238E27FC236}">
                <a16:creationId xmlns:a16="http://schemas.microsoft.com/office/drawing/2014/main" id="{314ADDA4-6C96-4D43-AFBD-64497542AA54}"/>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주요 논거와 최종 판단</a:t>
            </a:r>
          </a:p>
        </p:txBody>
      </p:sp>
      <p:sp>
        <p:nvSpPr>
          <p:cNvPr id="2" name="s39_next_1">
            <a:extLst xmlns:a="http://schemas.openxmlformats.org/drawingml/2006/main">
              <a:ext uri="{FF2B5EF4-FFF2-40B4-BE49-F238E27FC236}">
                <a16:creationId xmlns:a16="http://schemas.microsoft.com/office/drawing/2014/main" id="{9D03E303-B0F6-4A8C-A863-8A3BBD4EDCB5}"/>
              </a:ext>
            </a:extLst>
          </p:cNvPr>
          <p:cNvSpPr>
            <a:spLocks xmlns:a="http://schemas.openxmlformats.org/drawingml/2006/main" noGrp="1"/>
          </p:cNvSpPr>
          <p:nvPr/>
        </p:nvSpPr>
        <p:spPr>
          <a:xfrm xmlns:a="http://schemas.openxmlformats.org/drawingml/2006/main">
            <a:off x="6035040" y="384048"/>
            <a:ext cx="5422392"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defRPr sz="1050" b="0">
                <a:solidFill>
                  <a:srgbClr val="464D5C"/>
                </a:solidFill>
                <a:latin typeface="Pretendard"/>
                <a:ea typeface="Pretendard"/>
                <a:cs typeface="Pretendard"/>
              </a:defRPr>
              <a:spcBef>
                <a:spcPts val="0"/>
              </a:spcBef>
              <a:spcAft>
                <a:spcPts val="0"/>
              </a:spcAft>
            </a:pPr>
            <a:r>
              <a:rPr sz="1050" b="0">
                <a:solidFill>
                  <a:srgbClr val="464D5C"/>
                </a:solidFill>
                <a:latin typeface="Pretendard"/>
                <a:ea typeface="Pretendard"/>
                <a:cs typeface="Pretendard"/>
              </a:rPr>
              <a:t>다음  법적 근거와 현장 판단의 문턱</a:t>
            </a:r>
          </a:p>
        </p:txBody>
      </p:sp>
      <p:sp>
        <p:nvSpPr>
          <p:cNvPr id="3" name="s39_title_2">
            <a:extLst xmlns:a="http://schemas.openxmlformats.org/drawingml/2006/main">
              <a:ext uri="{FF2B5EF4-FFF2-40B4-BE49-F238E27FC236}">
                <a16:creationId xmlns:a16="http://schemas.microsoft.com/office/drawing/2014/main" id="{BB303E7C-69A4-49B8-A6C5-722A0698F355}"/>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필요성과 추가 성과의 판단</a:t>
            </a:r>
          </a:p>
        </p:txBody>
      </p:sp>
      <p:sp>
        <p:nvSpPr>
          <p:cNvPr id="4" name="">
            <a:extLst xmlns:a="http://schemas.openxmlformats.org/drawingml/2006/main">
              <a:ext uri="{FF2B5EF4-FFF2-40B4-BE49-F238E27FC236}">
                <a16:creationId xmlns:a16="http://schemas.microsoft.com/office/drawing/2014/main" id="{3247BA12-BA77-4F05-9D0A-D2850B0A6796}"/>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39_band_4">
            <a:extLst xmlns:a="http://schemas.openxmlformats.org/drawingml/2006/main">
              <a:ext uri="{FF2B5EF4-FFF2-40B4-BE49-F238E27FC236}">
                <a16:creationId xmlns:a16="http://schemas.microsoft.com/office/drawing/2014/main" id="{26D35762-14E1-47CE-93E2-722DE915CF4D}"/>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질문 1·3: 어떤 범죄 대응의 필요가 대규모 실시간 대조를 정당화하는가?</a:t>
            </a:r>
          </a:p>
        </p:txBody>
      </p:sp>
      <p:graphicFrame>
        <p:nvGraphicFramePr>
          <p:cNvPr id="13" name=""/>
          <p:cNvGraphicFramePr/>
          <p:nvPr/>
        </p:nvGraphicFramePr>
        <p:xfrm>
          <a:off xmlns:a="http://schemas.openxmlformats.org/drawingml/2006/main" x="731520" y="2057400"/>
          <a:ext xmlns:a="http://schemas.openxmlformats.org/drawingml/2006/main" cx="10725912" cy="4087368"/>
        </p:xfrm>
        <a:graphic xmlns:a="http://schemas.openxmlformats.org/drawingml/2006/main">
          <a:graphicData uri="http://schemas.openxmlformats.org/drawingml/2006/table">
            <a:tbl>
              <a:tblPr firstRow="0" firstCol="0" bandRow="0" bandCol="0"/>
              <a:tblGrid>
                <a:gridCol w="1417320"/>
                <a:gridCol w="4654296"/>
                <a:gridCol w="4654296"/>
              </a:tblGrid>
              <a:tr h="512064">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항목</a:t>
                      </a:r>
                    </a:p>
                  </a:txBody>
                  <a:tcPr marL="146304" marR="146304" marT="91440" marB="91440" anchor="ctr">
                    <a:solidFill>
                      <a:srgbClr val="F2F4F8"/>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300" b="1">
                          <a:solidFill>
                            <a:srgbClr val="1E2761"/>
                          </a:solidFill>
                          <a:latin typeface="Pretendard"/>
                          <a:ea typeface="Pretendard"/>
                          <a:cs typeface="Pretendard"/>
                        </a:rPr>
                        <a:t>신속한 대응을 중시</a:t>
                      </a:r>
                    </a:p>
                  </a:txBody>
                  <a:tcPr marL="146304" marR="146304" marT="91440" marB="91440" anchor="ctr">
                    <a:solidFill>
                      <a:srgbClr val="F2F4F8"/>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300" b="1">
                          <a:solidFill>
                            <a:srgbClr val="1E2761"/>
                          </a:solidFill>
                          <a:latin typeface="Pretendard"/>
                          <a:ea typeface="Pretendard"/>
                          <a:cs typeface="Pretendard"/>
                        </a:rPr>
                        <a:t>추가 이익의 입증을 중시</a:t>
                      </a:r>
                    </a:p>
                  </a:txBody>
                  <a:tcPr marL="146304" marR="146304" marT="91440" marB="91440" anchor="ctr">
                    <a:solidFill>
                      <a:srgbClr val="F2F4F8"/>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r h="990918">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주장</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구체적 위험의 대응 기회를 중시한다.</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추가 이익의 입증을 먼저 요구한다.</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r h="1391412">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근거·이유</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25000"/>
                        </a:lnSpc>
                        <a:spcBef>
                          <a:spcPts val="0"/>
                        </a:spcBef>
                        <a:spcAft>
                          <a:spcPts val="0"/>
                        </a:spcAft>
                      </a:pPr>
                      <a:r>
                        <a:rPr sz="1250" b="0">
                          <a:solidFill>
                            <a:srgbClr val="222633"/>
                          </a:solidFill>
                          <a:latin typeface="Pretendard"/>
                          <a:ea typeface="Pretendard"/>
                          <a:cs typeface="Pretendard"/>
                        </a:rPr>
                        <a:t>런던의 실제 수배자 체포는 탐지·현장 대응의 가능성을 보여 준다.</a:t>
                      </a:r>
                    </a:p>
                    <a:p>
                      <a:pPr algn="l">
                        <a:lnSpc>
                          <a:spcPct val="125000"/>
                        </a:lnSpc>
                        <a:spcBef>
                          <a:spcPts val="0"/>
                        </a:spcBef>
                        <a:spcAft>
                          <a:spcPts val="0"/>
                        </a:spcAft>
                      </a:pPr>
                      <a:r>
                        <a:rPr sz="1250" b="0">
                          <a:solidFill>
                            <a:srgbClr val="222633"/>
                          </a:solidFill>
                          <a:latin typeface="Pretendard"/>
                          <a:ea typeface="Pretendard"/>
                          <a:cs typeface="Pretendard"/>
                        </a:rPr>
                        <a:t>놓치면 큰 피해가 생기는 상황에서는 신속성을 중시할 수 있다.</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25000"/>
                        </a:lnSpc>
                        <a:spcBef>
                          <a:spcPts val="0"/>
                        </a:spcBef>
                        <a:spcAft>
                          <a:spcPts val="0"/>
                        </a:spcAft>
                      </a:pPr>
                      <a:r>
                        <a:rPr sz="1250" b="0">
                          <a:solidFill>
                            <a:srgbClr val="222633"/>
                          </a:solidFill>
                          <a:latin typeface="Pretendard"/>
                          <a:ea typeface="Pretendard"/>
                          <a:cs typeface="Pretendard"/>
                        </a:rPr>
                        <a:t>통과자 전체의 얼굴을 처리한다. 기존 수사 대비 시간·추가</a:t>
                      </a:r>
                    </a:p>
                    <a:p>
                      <a:pPr algn="l">
                        <a:lnSpc>
                          <a:spcPct val="125000"/>
                        </a:lnSpc>
                        <a:spcBef>
                          <a:spcPts val="0"/>
                        </a:spcBef>
                        <a:spcAft>
                          <a:spcPts val="0"/>
                        </a:spcAft>
                      </a:pPr>
                      <a:r>
                        <a:rPr sz="1250" b="0">
                          <a:solidFill>
                            <a:srgbClr val="222633"/>
                          </a:solidFill>
                          <a:latin typeface="Pretendard"/>
                          <a:ea typeface="Pretendard"/>
                          <a:cs typeface="Pretendard"/>
                        </a:rPr>
                        <a:t>검거·피해 감소·비용을 확인해야 광범위한 처리를 정당화할 수</a:t>
                      </a:r>
                    </a:p>
                    <a:p>
                      <a:pPr algn="l">
                        <a:lnSpc>
                          <a:spcPct val="125000"/>
                        </a:lnSpc>
                        <a:spcBef>
                          <a:spcPts val="0"/>
                        </a:spcBef>
                        <a:spcAft>
                          <a:spcPts val="0"/>
                        </a:spcAft>
                      </a:pPr>
                      <a:r>
                        <a:rPr sz="1250" b="0">
                          <a:solidFill>
                            <a:srgbClr val="222633"/>
                          </a:solidFill>
                          <a:latin typeface="Pretendard"/>
                          <a:ea typeface="Pretendard"/>
                          <a:cs typeface="Pretendard"/>
                        </a:rPr>
                        <a:t>있다.</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r h="1192975">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남는 조건</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위험의 중대성·시급성, 찾을 대상과 출현 장소를 특정한다.</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25000"/>
                        </a:lnSpc>
                        <a:spcBef>
                          <a:spcPts val="0"/>
                        </a:spcBef>
                        <a:spcAft>
                          <a:spcPts val="0"/>
                        </a:spcAft>
                      </a:pPr>
                      <a:r>
                        <a:rPr sz="1250" b="0">
                          <a:solidFill>
                            <a:srgbClr val="222633"/>
                          </a:solidFill>
                          <a:latin typeface="Pretendard"/>
                          <a:ea typeface="Pretendard"/>
                          <a:cs typeface="Pretendard"/>
                        </a:rPr>
                        <a:t>같은 과업에서 다른 수단의 성과와 부담을 비교할 기록을</a:t>
                      </a:r>
                    </a:p>
                    <a:p>
                      <a:pPr algn="l">
                        <a:lnSpc>
                          <a:spcPct val="125000"/>
                        </a:lnSpc>
                        <a:spcBef>
                          <a:spcPts val="0"/>
                        </a:spcBef>
                        <a:spcAft>
                          <a:spcPts val="0"/>
                        </a:spcAft>
                      </a:pPr>
                      <a:r>
                        <a:rPr sz="1250" b="0">
                          <a:solidFill>
                            <a:srgbClr val="222633"/>
                          </a:solidFill>
                          <a:latin typeface="Pretendard"/>
                          <a:ea typeface="Pretendard"/>
                          <a:cs typeface="Pretendard"/>
                        </a:rPr>
                        <a:t>확보한다.</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bl>
          </a:graphicData>
        </a:graphic>
      </p:graphicFrame>
      <p:sp>
        <p:nvSpPr>
          <p:cNvPr id="7" name="">
            <a:extLst xmlns:a="http://schemas.openxmlformats.org/drawingml/2006/main">
              <a:ext uri="{FF2B5EF4-FFF2-40B4-BE49-F238E27FC236}">
                <a16:creationId xmlns:a16="http://schemas.microsoft.com/office/drawing/2014/main" id="{66E05B26-16AA-44A9-8677-8B24A4500B20}"/>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1890152597"/>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40_kicker_0">
            <a:extLst xmlns:a="http://schemas.openxmlformats.org/drawingml/2006/main">
              <a:ext uri="{FF2B5EF4-FFF2-40B4-BE49-F238E27FC236}">
                <a16:creationId xmlns:a16="http://schemas.microsoft.com/office/drawing/2014/main" id="{7A302BCD-C1AE-4F16-9688-53AA36F05E32}"/>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주요 논거와 최종 판단</a:t>
            </a:r>
          </a:p>
        </p:txBody>
      </p:sp>
      <p:sp>
        <p:nvSpPr>
          <p:cNvPr id="2" name="s40_next_1">
            <a:extLst xmlns:a="http://schemas.openxmlformats.org/drawingml/2006/main">
              <a:ext uri="{FF2B5EF4-FFF2-40B4-BE49-F238E27FC236}">
                <a16:creationId xmlns:a16="http://schemas.microsoft.com/office/drawing/2014/main" id="{F8DD9561-2DA9-4EEC-BD25-0C90F33BEAE1}"/>
              </a:ext>
            </a:extLst>
          </p:cNvPr>
          <p:cNvSpPr>
            <a:spLocks xmlns:a="http://schemas.openxmlformats.org/drawingml/2006/main" noGrp="1"/>
          </p:cNvSpPr>
          <p:nvPr/>
        </p:nvSpPr>
        <p:spPr>
          <a:xfrm xmlns:a="http://schemas.openxmlformats.org/drawingml/2006/main">
            <a:off x="6035040" y="384048"/>
            <a:ext cx="5422392"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defRPr sz="1050" b="0">
                <a:solidFill>
                  <a:srgbClr val="464D5C"/>
                </a:solidFill>
                <a:latin typeface="Pretendard"/>
                <a:ea typeface="Pretendard"/>
                <a:cs typeface="Pretendard"/>
              </a:defRPr>
              <a:spcBef>
                <a:spcPts val="0"/>
              </a:spcBef>
              <a:spcAft>
                <a:spcPts val="0"/>
              </a:spcAft>
            </a:pPr>
            <a:r>
              <a:rPr sz="1050" b="0">
                <a:solidFill>
                  <a:srgbClr val="464D5C"/>
                </a:solidFill>
                <a:latin typeface="Pretendard"/>
                <a:ea typeface="Pretendard"/>
                <a:cs typeface="Pretendard"/>
              </a:rPr>
              <a:t>다음  오류 부담과 남길 기록</a:t>
            </a:r>
          </a:p>
        </p:txBody>
      </p:sp>
      <p:sp>
        <p:nvSpPr>
          <p:cNvPr id="3" name="s40_title_2">
            <a:extLst xmlns:a="http://schemas.openxmlformats.org/drawingml/2006/main">
              <a:ext uri="{FF2B5EF4-FFF2-40B4-BE49-F238E27FC236}">
                <a16:creationId xmlns:a16="http://schemas.microsoft.com/office/drawing/2014/main" id="{64B52742-D2AF-416D-87EC-469BEC1DB109}"/>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법적 근거와 현장 판단의 문턱</a:t>
            </a:r>
          </a:p>
        </p:txBody>
      </p:sp>
      <p:sp>
        <p:nvSpPr>
          <p:cNvPr id="4" name="">
            <a:extLst xmlns:a="http://schemas.openxmlformats.org/drawingml/2006/main">
              <a:ext uri="{FF2B5EF4-FFF2-40B4-BE49-F238E27FC236}">
                <a16:creationId xmlns:a16="http://schemas.microsoft.com/office/drawing/2014/main" id="{0A17FB0C-FE33-412D-AC40-4410B19AEBD8}"/>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40_band_4">
            <a:extLst xmlns:a="http://schemas.openxmlformats.org/drawingml/2006/main">
              <a:ext uri="{FF2B5EF4-FFF2-40B4-BE49-F238E27FC236}">
                <a16:creationId xmlns:a16="http://schemas.microsoft.com/office/drawing/2014/main" id="{31655780-4079-419B-92DD-B5CBD28DAF5B}"/>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질문 2·5: 도입 권한과 경보 이후의 강제처분을 어떻게 통제할 것인가?</a:t>
            </a:r>
          </a:p>
        </p:txBody>
      </p:sp>
      <p:graphicFrame>
        <p:nvGraphicFramePr>
          <p:cNvPr id="13" name=""/>
          <p:cNvGraphicFramePr/>
          <p:nvPr/>
        </p:nvGraphicFramePr>
        <p:xfrm>
          <a:off xmlns:a="http://schemas.openxmlformats.org/drawingml/2006/main" x="731520" y="2057400"/>
          <a:ext xmlns:a="http://schemas.openxmlformats.org/drawingml/2006/main" cx="10725912" cy="4087368"/>
        </p:xfrm>
        <a:graphic xmlns:a="http://schemas.openxmlformats.org/drawingml/2006/main">
          <a:graphicData uri="http://schemas.openxmlformats.org/drawingml/2006/table">
            <a:tbl>
              <a:tblPr firstRow="0" firstCol="0" bandRow="0" bandCol="0"/>
              <a:tblGrid>
                <a:gridCol w="1417320"/>
                <a:gridCol w="4654296"/>
                <a:gridCol w="4654296"/>
              </a:tblGrid>
              <a:tr h="512064">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항목</a:t>
                      </a:r>
                    </a:p>
                  </a:txBody>
                  <a:tcPr marL="146304" marR="146304" marT="91440" marB="91440" anchor="ctr">
                    <a:solidFill>
                      <a:srgbClr val="F2F4F8"/>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300" b="1">
                          <a:solidFill>
                            <a:srgbClr val="1E2761"/>
                          </a:solidFill>
                          <a:latin typeface="Pretendard"/>
                          <a:ea typeface="Pretendard"/>
                          <a:cs typeface="Pretendard"/>
                        </a:rPr>
                        <a:t>목적별 규범의 결합</a:t>
                      </a:r>
                    </a:p>
                  </a:txBody>
                  <a:tcPr marL="146304" marR="146304" marT="91440" marB="91440" anchor="ctr">
                    <a:solidFill>
                      <a:srgbClr val="F2F4F8"/>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300" b="1">
                          <a:solidFill>
                            <a:srgbClr val="1E2761"/>
                          </a:solidFill>
                          <a:latin typeface="Pretendard"/>
                          <a:ea typeface="Pretendard"/>
                          <a:cs typeface="Pretendard"/>
                        </a:rPr>
                        <a:t>직접 입법·사전 심사</a:t>
                      </a:r>
                    </a:p>
                  </a:txBody>
                  <a:tcPr marL="146304" marR="146304" marT="91440" marB="91440" anchor="ctr">
                    <a:solidFill>
                      <a:srgbClr val="F2F4F8"/>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r h="990918">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주장</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목적별 권한과 구체적 운용 기준을 결합한다.</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직접적인 입법과 독립적 사전 심사를 요구한다.</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r h="1391412">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근거·이유</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25000"/>
                        </a:lnSpc>
                        <a:spcBef>
                          <a:spcPts val="0"/>
                        </a:spcBef>
                        <a:spcAft>
                          <a:spcPts val="0"/>
                        </a:spcAft>
                      </a:pPr>
                      <a:r>
                        <a:rPr sz="1250" b="0">
                          <a:solidFill>
                            <a:srgbClr val="222633"/>
                          </a:solidFill>
                          <a:latin typeface="Pretendard"/>
                          <a:ea typeface="Pretendard"/>
                          <a:cs typeface="Pretendard"/>
                        </a:rPr>
                        <a:t>영국의 2026년 판결은 목적·명단·장소·비례성 지침이 경찰</a:t>
                      </a:r>
                    </a:p>
                    <a:p>
                      <a:pPr algn="l">
                        <a:lnSpc>
                          <a:spcPct val="125000"/>
                        </a:lnSpc>
                        <a:spcBef>
                          <a:spcPts val="0"/>
                        </a:spcBef>
                        <a:spcAft>
                          <a:spcPts val="0"/>
                        </a:spcAft>
                      </a:pPr>
                      <a:r>
                        <a:rPr sz="1250" b="0">
                          <a:solidFill>
                            <a:srgbClr val="222633"/>
                          </a:solidFill>
                          <a:latin typeface="Pretendard"/>
                          <a:ea typeface="Pretendard"/>
                          <a:cs typeface="Pretendard"/>
                        </a:rPr>
                        <a:t>재량을 통제하는 구조를 인정했다.</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25000"/>
                        </a:lnSpc>
                        <a:spcBef>
                          <a:spcPts val="0"/>
                        </a:spcBef>
                        <a:spcAft>
                          <a:spcPts val="0"/>
                        </a:spcAft>
                      </a:pPr>
                      <a:r>
                        <a:rPr sz="1250" b="0">
                          <a:solidFill>
                            <a:srgbClr val="222633"/>
                          </a:solidFill>
                          <a:latin typeface="Pretendard"/>
                          <a:ea typeface="Pretendard"/>
                          <a:cs typeface="Pretendard"/>
                        </a:rPr>
                        <a:t>인권위 권고와 EU 기준은 명확한 근거·보호장치·독립 심사를</a:t>
                      </a:r>
                    </a:p>
                    <a:p>
                      <a:pPr algn="l">
                        <a:lnSpc>
                          <a:spcPct val="125000"/>
                        </a:lnSpc>
                        <a:spcBef>
                          <a:spcPts val="0"/>
                        </a:spcBef>
                        <a:spcAft>
                          <a:spcPts val="0"/>
                        </a:spcAft>
                      </a:pPr>
                      <a:r>
                        <a:rPr sz="1250" b="0">
                          <a:solidFill>
                            <a:srgbClr val="222633"/>
                          </a:solidFill>
                          <a:latin typeface="Pretendard"/>
                          <a:ea typeface="Pretendard"/>
                          <a:cs typeface="Pretendard"/>
                        </a:rPr>
                        <a:t>강조한다. 통행인의 권리를 폭넓게 처리하는 권한을 사전에</a:t>
                      </a:r>
                    </a:p>
                    <a:p>
                      <a:pPr algn="l">
                        <a:lnSpc>
                          <a:spcPct val="125000"/>
                        </a:lnSpc>
                        <a:spcBef>
                          <a:spcPts val="0"/>
                        </a:spcBef>
                        <a:spcAft>
                          <a:spcPts val="0"/>
                        </a:spcAft>
                      </a:pPr>
                      <a:r>
                        <a:rPr sz="1250" b="0">
                          <a:solidFill>
                            <a:srgbClr val="222633"/>
                          </a:solidFill>
                          <a:latin typeface="Pretendard"/>
                          <a:ea typeface="Pretendard"/>
                          <a:cs typeface="Pretendard"/>
                        </a:rPr>
                        <a:t>구체화할 이유가 있다.</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r h="1192975">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현장 기준</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25000"/>
                        </a:lnSpc>
                        <a:spcBef>
                          <a:spcPts val="0"/>
                        </a:spcBef>
                        <a:spcAft>
                          <a:spcPts val="0"/>
                        </a:spcAft>
                      </a:pPr>
                      <a:r>
                        <a:rPr sz="1250" b="0">
                          <a:solidFill>
                            <a:srgbClr val="222633"/>
                          </a:solidFill>
                          <a:latin typeface="Pretendard"/>
                          <a:ea typeface="Pretendard"/>
                          <a:cs typeface="Pretendard"/>
                        </a:rPr>
                        <a:t>경찰은 경보와 영상·명단을 확인하고 정지·체포의 법정 요건을</a:t>
                      </a:r>
                    </a:p>
                    <a:p>
                      <a:pPr algn="l">
                        <a:lnSpc>
                          <a:spcPct val="125000"/>
                        </a:lnSpc>
                        <a:spcBef>
                          <a:spcPts val="0"/>
                        </a:spcBef>
                        <a:spcAft>
                          <a:spcPts val="0"/>
                        </a:spcAft>
                      </a:pPr>
                      <a:r>
                        <a:rPr sz="1250" b="0">
                          <a:solidFill>
                            <a:srgbClr val="222633"/>
                          </a:solidFill>
                          <a:latin typeface="Pretendard"/>
                          <a:ea typeface="Pretendard"/>
                          <a:cs typeface="Pretendard"/>
                        </a:rPr>
                        <a:t>판단한다.</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25000"/>
                        </a:lnSpc>
                        <a:spcBef>
                          <a:spcPts val="0"/>
                        </a:spcBef>
                        <a:spcAft>
                          <a:spcPts val="0"/>
                        </a:spcAft>
                      </a:pPr>
                      <a:r>
                        <a:rPr sz="1250" b="0">
                          <a:solidFill>
                            <a:srgbClr val="222633"/>
                          </a:solidFill>
                          <a:latin typeface="Pretendard"/>
                          <a:ea typeface="Pretendard"/>
                          <a:cs typeface="Pretendard"/>
                        </a:rPr>
                        <a:t>독립된 추가 정보, 판단 이유의 기록과 이의제기를 통해 개별</a:t>
                      </a:r>
                    </a:p>
                    <a:p>
                      <a:pPr algn="l">
                        <a:lnSpc>
                          <a:spcPct val="125000"/>
                        </a:lnSpc>
                        <a:spcBef>
                          <a:spcPts val="0"/>
                        </a:spcBef>
                        <a:spcAft>
                          <a:spcPts val="0"/>
                        </a:spcAft>
                      </a:pPr>
                      <a:r>
                        <a:rPr sz="1250" b="0">
                          <a:solidFill>
                            <a:srgbClr val="222633"/>
                          </a:solidFill>
                          <a:latin typeface="Pretendard"/>
                          <a:ea typeface="Pretendard"/>
                          <a:cs typeface="Pretendard"/>
                        </a:rPr>
                        <a:t>조치를 검토한다.</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bl>
          </a:graphicData>
        </a:graphic>
      </p:graphicFrame>
      <p:sp>
        <p:nvSpPr>
          <p:cNvPr id="7" name="">
            <a:extLst xmlns:a="http://schemas.openxmlformats.org/drawingml/2006/main">
              <a:ext uri="{FF2B5EF4-FFF2-40B4-BE49-F238E27FC236}">
                <a16:creationId xmlns:a16="http://schemas.microsoft.com/office/drawing/2014/main" id="{AEE35241-A827-4D47-91B6-9B12653CC3E2}"/>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140535120"/>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41_kicker_0">
            <a:extLst xmlns:a="http://schemas.openxmlformats.org/drawingml/2006/main">
              <a:ext uri="{FF2B5EF4-FFF2-40B4-BE49-F238E27FC236}">
                <a16:creationId xmlns:a16="http://schemas.microsoft.com/office/drawing/2014/main" id="{346FC372-8397-459D-9BF4-9F26521DA40B}"/>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주요 논거와 최종 판단</a:t>
            </a:r>
          </a:p>
        </p:txBody>
      </p:sp>
      <p:sp>
        <p:nvSpPr>
          <p:cNvPr id="2" name="s41_next_1">
            <a:extLst xmlns:a="http://schemas.openxmlformats.org/drawingml/2006/main">
              <a:ext uri="{FF2B5EF4-FFF2-40B4-BE49-F238E27FC236}">
                <a16:creationId xmlns:a16="http://schemas.microsoft.com/office/drawing/2014/main" id="{D41A845C-477E-47D3-8B97-80DF9B539CAA}"/>
              </a:ext>
            </a:extLst>
          </p:cNvPr>
          <p:cNvSpPr>
            <a:spLocks xmlns:a="http://schemas.openxmlformats.org/drawingml/2006/main" noGrp="1"/>
          </p:cNvSpPr>
          <p:nvPr/>
        </p:nvSpPr>
        <p:spPr>
          <a:xfrm xmlns:a="http://schemas.openxmlformats.org/drawingml/2006/main">
            <a:off x="6035040" y="384048"/>
            <a:ext cx="5422392"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defRPr sz="1050" b="0">
                <a:solidFill>
                  <a:srgbClr val="464D5C"/>
                </a:solidFill>
                <a:latin typeface="Pretendard"/>
                <a:ea typeface="Pretendard"/>
                <a:cs typeface="Pretendard"/>
              </a:defRPr>
              <a:spcBef>
                <a:spcPts val="0"/>
              </a:spcBef>
              <a:spcAft>
                <a:spcPts val="0"/>
              </a:spcAft>
            </a:pPr>
            <a:r>
              <a:rPr sz="1050" b="0">
                <a:solidFill>
                  <a:srgbClr val="464D5C"/>
                </a:solidFill>
                <a:latin typeface="Pretendard"/>
                <a:ea typeface="Pretendard"/>
                <a:cs typeface="Pretendard"/>
              </a:rPr>
              <a:t>다음  운영하며 평가할 것인가, 먼저 입증할 것인가</a:t>
            </a:r>
          </a:p>
        </p:txBody>
      </p:sp>
      <p:sp>
        <p:nvSpPr>
          <p:cNvPr id="3" name="s41_title_2">
            <a:extLst xmlns:a="http://schemas.openxmlformats.org/drawingml/2006/main">
              <a:ext uri="{FF2B5EF4-FFF2-40B4-BE49-F238E27FC236}">
                <a16:creationId xmlns:a16="http://schemas.microsoft.com/office/drawing/2014/main" id="{663901AF-2BD2-4FC5-94ED-2A1EF007041A}"/>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오류 부담과 남길 기록</a:t>
            </a:r>
          </a:p>
        </p:txBody>
      </p:sp>
      <p:sp>
        <p:nvSpPr>
          <p:cNvPr id="4" name="">
            <a:extLst xmlns:a="http://schemas.openxmlformats.org/drawingml/2006/main">
              <a:ext uri="{FF2B5EF4-FFF2-40B4-BE49-F238E27FC236}">
                <a16:creationId xmlns:a16="http://schemas.microsoft.com/office/drawing/2014/main" id="{188CF7AA-40BC-4067-BA89-B92FDD66D15F}"/>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41_band_4">
            <a:extLst xmlns:a="http://schemas.openxmlformats.org/drawingml/2006/main">
              <a:ext uri="{FF2B5EF4-FFF2-40B4-BE49-F238E27FC236}">
                <a16:creationId xmlns:a16="http://schemas.microsoft.com/office/drawing/2014/main" id="{A7015002-6B79-4036-B278-E671A51FB2CF}"/>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질문 4·6: 오인접촉의 부담과 개인정보 축적·구제를 어떤 기준으로 조정하는가?</a:t>
            </a:r>
          </a:p>
        </p:txBody>
      </p:sp>
      <p:graphicFrame>
        <p:nvGraphicFramePr>
          <p:cNvPr id="13" name=""/>
          <p:cNvGraphicFramePr/>
          <p:nvPr/>
        </p:nvGraphicFramePr>
        <p:xfrm>
          <a:off xmlns:a="http://schemas.openxmlformats.org/drawingml/2006/main" x="731520" y="2057400"/>
          <a:ext xmlns:a="http://schemas.openxmlformats.org/drawingml/2006/main" cx="10725912" cy="4087368"/>
        </p:xfrm>
        <a:graphic xmlns:a="http://schemas.openxmlformats.org/drawingml/2006/main">
          <a:graphicData uri="http://schemas.openxmlformats.org/drawingml/2006/table">
            <a:tbl>
              <a:tblPr firstRow="0" firstCol="0" bandRow="0" bandCol="0"/>
              <a:tblGrid>
                <a:gridCol w="1417320"/>
                <a:gridCol w="4654296"/>
                <a:gridCol w="4654296"/>
              </a:tblGrid>
              <a:tr h="512064">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항목</a:t>
                      </a:r>
                    </a:p>
                  </a:txBody>
                  <a:tcPr marL="146304" marR="146304" marT="91440" marB="91440" anchor="ctr">
                    <a:solidFill>
                      <a:srgbClr val="F2F4F8"/>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300" b="1">
                          <a:solidFill>
                            <a:srgbClr val="1E2761"/>
                          </a:solidFill>
                          <a:latin typeface="Pretendard"/>
                          <a:ea typeface="Pretendard"/>
                          <a:cs typeface="Pretendard"/>
                        </a:rPr>
                        <a:t>절차로 부담을 줄임</a:t>
                      </a:r>
                    </a:p>
                  </a:txBody>
                  <a:tcPr marL="146304" marR="146304" marT="91440" marB="91440" anchor="ctr">
                    <a:solidFill>
                      <a:srgbClr val="F2F4F8"/>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300" b="1">
                          <a:solidFill>
                            <a:srgbClr val="1E2761"/>
                          </a:solidFill>
                          <a:latin typeface="Pretendard"/>
                          <a:ea typeface="Pretendard"/>
                          <a:cs typeface="Pretendard"/>
                        </a:rPr>
                        <a:t>남는 부담의 제한</a:t>
                      </a:r>
                    </a:p>
                  </a:txBody>
                  <a:tcPr marL="146304" marR="146304" marT="91440" marB="91440" anchor="ctr">
                    <a:solidFill>
                      <a:srgbClr val="F2F4F8"/>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r h="990918">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주장</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확인 절차와 최소처리로 부담을 줄인다.</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남는 접촉·추적의 부담을 엄격히 제한한다.</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r h="1391412">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근거·이유</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25000"/>
                        </a:lnSpc>
                        <a:spcBef>
                          <a:spcPts val="0"/>
                        </a:spcBef>
                        <a:spcAft>
                          <a:spcPts val="0"/>
                        </a:spcAft>
                      </a:pPr>
                      <a:r>
                        <a:rPr sz="1250" b="0">
                          <a:solidFill>
                            <a:srgbClr val="222633"/>
                          </a:solidFill>
                          <a:latin typeface="Pretendard"/>
                          <a:ea typeface="Pretendard"/>
                          <a:cs typeface="Pretendard"/>
                        </a:rPr>
                        <a:t>런던 보고의 오경보 10건은 접촉 6건·체포 0건으로 이어졌다.</a:t>
                      </a:r>
                    </a:p>
                    <a:p>
                      <a:pPr algn="l">
                        <a:lnSpc>
                          <a:spcPct val="125000"/>
                        </a:lnSpc>
                        <a:spcBef>
                          <a:spcPts val="0"/>
                        </a:spcBef>
                        <a:spcAft>
                          <a:spcPts val="0"/>
                        </a:spcAft>
                      </a:pPr>
                      <a:r>
                        <a:rPr sz="1250" b="0">
                          <a:solidFill>
                            <a:srgbClr val="222633"/>
                          </a:solidFill>
                          <a:latin typeface="Pretendard"/>
                          <a:ea typeface="Pretendard"/>
                          <a:cs typeface="Pretendard"/>
                        </a:rPr>
                        <a:t>신원 재확인과 조치 제한의 운영 결과를 평가할 수 있다.</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25000"/>
                        </a:lnSpc>
                        <a:spcBef>
                          <a:spcPts val="0"/>
                        </a:spcBef>
                        <a:spcAft>
                          <a:spcPts val="0"/>
                        </a:spcAft>
                      </a:pPr>
                      <a:r>
                        <a:rPr sz="1250" b="0">
                          <a:solidFill>
                            <a:srgbClr val="222633"/>
                          </a:solidFill>
                          <a:latin typeface="Pretendard"/>
                          <a:ea typeface="Pretendard"/>
                          <a:cs typeface="Pretendard"/>
                        </a:rPr>
                        <a:t>Thompson의 정지·질문과 Glukhin의 시위자 추적은 체포 오류</a:t>
                      </a:r>
                    </a:p>
                    <a:p>
                      <a:pPr algn="l">
                        <a:lnSpc>
                          <a:spcPct val="125000"/>
                        </a:lnSpc>
                        <a:spcBef>
                          <a:spcPts val="0"/>
                        </a:spcBef>
                        <a:spcAft>
                          <a:spcPts val="0"/>
                        </a:spcAft>
                      </a:pPr>
                      <a:r>
                        <a:rPr sz="1250" b="0">
                          <a:solidFill>
                            <a:srgbClr val="222633"/>
                          </a:solidFill>
                          <a:latin typeface="Pretendard"/>
                          <a:ea typeface="Pretendard"/>
                          <a:cs typeface="Pretendard"/>
                        </a:rPr>
                        <a:t>외의 부담을 보여 준다. 사용 목적과 실제 노출·접촉을 함께</a:t>
                      </a:r>
                    </a:p>
                    <a:p>
                      <a:pPr algn="l">
                        <a:lnSpc>
                          <a:spcPct val="125000"/>
                        </a:lnSpc>
                        <a:spcBef>
                          <a:spcPts val="0"/>
                        </a:spcBef>
                        <a:spcAft>
                          <a:spcPts val="0"/>
                        </a:spcAft>
                      </a:pPr>
                      <a:r>
                        <a:rPr sz="1250" b="0">
                          <a:solidFill>
                            <a:srgbClr val="222633"/>
                          </a:solidFill>
                          <a:latin typeface="Pretendard"/>
                          <a:ea typeface="Pretendard"/>
                          <a:cs typeface="Pretendard"/>
                        </a:rPr>
                        <a:t>평가할 이유가 있다.</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r h="1192975">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기록의 조건</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25000"/>
                        </a:lnSpc>
                        <a:spcBef>
                          <a:spcPts val="0"/>
                        </a:spcBef>
                        <a:spcAft>
                          <a:spcPts val="0"/>
                        </a:spcAft>
                      </a:pPr>
                      <a:r>
                        <a:rPr sz="1250" b="0">
                          <a:solidFill>
                            <a:srgbClr val="222633"/>
                          </a:solidFill>
                          <a:latin typeface="Pretendard"/>
                          <a:ea typeface="Pretendard"/>
                          <a:cs typeface="Pretendard"/>
                        </a:rPr>
                        <a:t>비일치 특징정보는 빠르게 삭제하고 경보·담당자 판단은 필요한</a:t>
                      </a:r>
                    </a:p>
                    <a:p>
                      <a:pPr algn="l">
                        <a:lnSpc>
                          <a:spcPct val="125000"/>
                        </a:lnSpc>
                        <a:spcBef>
                          <a:spcPts val="0"/>
                        </a:spcBef>
                        <a:spcAft>
                          <a:spcPts val="0"/>
                        </a:spcAft>
                      </a:pPr>
                      <a:r>
                        <a:rPr sz="1250" b="0">
                          <a:solidFill>
                            <a:srgbClr val="222633"/>
                          </a:solidFill>
                          <a:latin typeface="Pretendard"/>
                          <a:ea typeface="Pretendard"/>
                          <a:cs typeface="Pretendard"/>
                        </a:rPr>
                        <a:t>범위로 기록한다.</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25000"/>
                        </a:lnSpc>
                        <a:spcBef>
                          <a:spcPts val="0"/>
                        </a:spcBef>
                        <a:spcAft>
                          <a:spcPts val="0"/>
                        </a:spcAft>
                      </a:pPr>
                      <a:r>
                        <a:rPr sz="1250" b="0">
                          <a:solidFill>
                            <a:srgbClr val="222633"/>
                          </a:solidFill>
                          <a:latin typeface="Pretendard"/>
                          <a:ea typeface="Pretendard"/>
                          <a:cs typeface="Pretendard"/>
                        </a:rPr>
                        <a:t>당사자의 이의제기와 독립 감사를 위해 기록</a:t>
                      </a:r>
                    </a:p>
                    <a:p>
                      <a:pPr algn="l">
                        <a:lnSpc>
                          <a:spcPct val="125000"/>
                        </a:lnSpc>
                        <a:spcBef>
                          <a:spcPts val="0"/>
                        </a:spcBef>
                        <a:spcAft>
                          <a:spcPts val="0"/>
                        </a:spcAft>
                      </a:pPr>
                      <a:r>
                        <a:rPr sz="1250" b="0">
                          <a:solidFill>
                            <a:srgbClr val="222633"/>
                          </a:solidFill>
                          <a:latin typeface="Pretendard"/>
                          <a:ea typeface="Pretendard"/>
                          <a:cs typeface="Pretendard"/>
                        </a:rPr>
                        <a:t>접근·정정·보존기간을 구체화한다.</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bl>
          </a:graphicData>
        </a:graphic>
      </p:graphicFrame>
      <p:sp>
        <p:nvSpPr>
          <p:cNvPr id="7" name="">
            <a:extLst xmlns:a="http://schemas.openxmlformats.org/drawingml/2006/main">
              <a:ext uri="{FF2B5EF4-FFF2-40B4-BE49-F238E27FC236}">
                <a16:creationId xmlns:a16="http://schemas.microsoft.com/office/drawing/2014/main" id="{F260771F-DA10-4506-BBD8-78D7A873C570}"/>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1583080268"/>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42_kicker_0">
            <a:extLst xmlns:a="http://schemas.openxmlformats.org/drawingml/2006/main">
              <a:ext uri="{FF2B5EF4-FFF2-40B4-BE49-F238E27FC236}">
                <a16:creationId xmlns:a16="http://schemas.microsoft.com/office/drawing/2014/main" id="{60AB9641-E212-4A11-8FBA-1B101DB703AC}"/>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주요 논거와 최종 판단</a:t>
            </a:r>
          </a:p>
        </p:txBody>
      </p:sp>
      <p:sp>
        <p:nvSpPr>
          <p:cNvPr id="2" name="s42_next_1">
            <a:extLst xmlns:a="http://schemas.openxmlformats.org/drawingml/2006/main">
              <a:ext uri="{FF2B5EF4-FFF2-40B4-BE49-F238E27FC236}">
                <a16:creationId xmlns:a16="http://schemas.microsoft.com/office/drawing/2014/main" id="{218CD743-B4B6-4E50-B632-64D6177FCA36}"/>
              </a:ext>
            </a:extLst>
          </p:cNvPr>
          <p:cNvSpPr>
            <a:spLocks xmlns:a="http://schemas.openxmlformats.org/drawingml/2006/main" noGrp="1"/>
          </p:cNvSpPr>
          <p:nvPr/>
        </p:nvSpPr>
        <p:spPr>
          <a:xfrm xmlns:a="http://schemas.openxmlformats.org/drawingml/2006/main">
            <a:off x="6035040" y="384048"/>
            <a:ext cx="5422392"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defRPr sz="1050" b="0">
                <a:solidFill>
                  <a:srgbClr val="464D5C"/>
                </a:solidFill>
                <a:latin typeface="Pretendard"/>
                <a:ea typeface="Pretendard"/>
                <a:cs typeface="Pretendard"/>
              </a:defRPr>
              <a:spcBef>
                <a:spcPts val="0"/>
              </a:spcBef>
              <a:spcAft>
                <a:spcPts val="0"/>
              </a:spcAft>
            </a:pPr>
            <a:r>
              <a:rPr sz="1050" b="0">
                <a:solidFill>
                  <a:srgbClr val="464D5C"/>
                </a:solidFill>
                <a:latin typeface="Pretendard"/>
                <a:ea typeface="Pretendard"/>
                <a:cs typeface="Pretendard"/>
              </a:rPr>
              <a:t>다음  판단에 남는 일곱 질문</a:t>
            </a:r>
          </a:p>
        </p:txBody>
      </p:sp>
      <p:sp>
        <p:nvSpPr>
          <p:cNvPr id="3" name="s42_title_2">
            <a:extLst xmlns:a="http://schemas.openxmlformats.org/drawingml/2006/main">
              <a:ext uri="{FF2B5EF4-FFF2-40B4-BE49-F238E27FC236}">
                <a16:creationId xmlns:a16="http://schemas.microsoft.com/office/drawing/2014/main" id="{5D89E65F-8172-4786-8288-5593FDEB15E3}"/>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운영하며 평가할 것인가, 먼저 입증할 것인가</a:t>
            </a:r>
          </a:p>
        </p:txBody>
      </p:sp>
      <p:sp>
        <p:nvSpPr>
          <p:cNvPr id="4" name="">
            <a:extLst xmlns:a="http://schemas.openxmlformats.org/drawingml/2006/main">
              <a:ext uri="{FF2B5EF4-FFF2-40B4-BE49-F238E27FC236}">
                <a16:creationId xmlns:a16="http://schemas.microsoft.com/office/drawing/2014/main" id="{7E76ED74-72A9-4BBA-B080-6100F2C84833}"/>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42_band_4">
            <a:extLst xmlns:a="http://schemas.openxmlformats.org/drawingml/2006/main">
              <a:ext uri="{FF2B5EF4-FFF2-40B4-BE49-F238E27FC236}">
                <a16:creationId xmlns:a16="http://schemas.microsoft.com/office/drawing/2014/main" id="{D8F16766-B87C-413F-91B4-2832B1957DED}"/>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질문 7: 불확실성이 남아 있을 때 시작·확대·중단을 누가 결정하는가?</a:t>
            </a:r>
          </a:p>
        </p:txBody>
      </p:sp>
      <p:graphicFrame>
        <p:nvGraphicFramePr>
          <p:cNvPr id="13" name=""/>
          <p:cNvGraphicFramePr/>
          <p:nvPr/>
        </p:nvGraphicFramePr>
        <p:xfrm>
          <a:off xmlns:a="http://schemas.openxmlformats.org/drawingml/2006/main" x="731520" y="2057400"/>
          <a:ext xmlns:a="http://schemas.openxmlformats.org/drawingml/2006/main" cx="10725912" cy="4087368"/>
        </p:xfrm>
        <a:graphic xmlns:a="http://schemas.openxmlformats.org/drawingml/2006/main">
          <a:graphicData uri="http://schemas.openxmlformats.org/drawingml/2006/table">
            <a:tbl>
              <a:tblPr firstRow="0" firstCol="0" bandRow="0" bandCol="0"/>
              <a:tblGrid>
                <a:gridCol w="1417320"/>
                <a:gridCol w="4654296"/>
                <a:gridCol w="4654296"/>
              </a:tblGrid>
              <a:tr h="512064">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항목</a:t>
                      </a:r>
                    </a:p>
                  </a:txBody>
                  <a:tcPr marL="146304" marR="146304" marT="91440" marB="91440" anchor="ctr">
                    <a:solidFill>
                      <a:srgbClr val="F2F4F8"/>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300" b="1">
                          <a:solidFill>
                            <a:srgbClr val="1E2761"/>
                          </a:solidFill>
                          <a:latin typeface="Pretendard"/>
                          <a:ea typeface="Pretendard"/>
                          <a:cs typeface="Pretendard"/>
                        </a:rPr>
                        <a:t>한정 운영 후 재승인</a:t>
                      </a:r>
                    </a:p>
                  </a:txBody>
                  <a:tcPr marL="146304" marR="146304" marT="91440" marB="91440" anchor="ctr">
                    <a:solidFill>
                      <a:srgbClr val="F2F4F8"/>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300" b="1">
                          <a:solidFill>
                            <a:srgbClr val="1E2761"/>
                          </a:solidFill>
                          <a:latin typeface="Pretendard"/>
                          <a:ea typeface="Pretendard"/>
                          <a:cs typeface="Pretendard"/>
                        </a:rPr>
                        <a:t>기준 충족 후 도입</a:t>
                      </a:r>
                    </a:p>
                  </a:txBody>
                  <a:tcPr marL="146304" marR="146304" marT="91440" marB="91440" anchor="ctr">
                    <a:solidFill>
                      <a:srgbClr val="F2F4F8"/>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r h="990918">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주장</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적법한 한정 운영으로 근거를 축적한다.</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핵심 보호·성능 기준을 충족한 뒤 시작한다.</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r h="1391412">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근거·이유</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25000"/>
                        </a:lnSpc>
                        <a:spcBef>
                          <a:spcPts val="0"/>
                        </a:spcBef>
                        <a:spcAft>
                          <a:spcPts val="0"/>
                        </a:spcAft>
                      </a:pPr>
                      <a:r>
                        <a:rPr sz="1250" b="0">
                          <a:solidFill>
                            <a:srgbClr val="222633"/>
                          </a:solidFill>
                          <a:latin typeface="Pretendard"/>
                          <a:ea typeface="Pretendard"/>
                          <a:cs typeface="Pretendard"/>
                        </a:rPr>
                        <a:t>실제 배치의 영상·인력·접촉 기록이 있어야 현장 성과와 부담을</a:t>
                      </a:r>
                    </a:p>
                    <a:p>
                      <a:pPr algn="l">
                        <a:lnSpc>
                          <a:spcPct val="125000"/>
                        </a:lnSpc>
                        <a:spcBef>
                          <a:spcPts val="0"/>
                        </a:spcBef>
                        <a:spcAft>
                          <a:spcPts val="0"/>
                        </a:spcAft>
                      </a:pPr>
                      <a:r>
                        <a:rPr sz="1250" b="0">
                          <a:solidFill>
                            <a:srgbClr val="222633"/>
                          </a:solidFill>
                          <a:latin typeface="Pretendard"/>
                          <a:ea typeface="Pretendard"/>
                          <a:cs typeface="Pretendard"/>
                        </a:rPr>
                        <a:t>확인할 수 있다. 명단·기간을 제한하고 결과 공개·재승인을</a:t>
                      </a:r>
                    </a:p>
                    <a:p>
                      <a:pPr algn="l">
                        <a:lnSpc>
                          <a:spcPct val="125000"/>
                        </a:lnSpc>
                        <a:spcBef>
                          <a:spcPts val="0"/>
                        </a:spcBef>
                        <a:spcAft>
                          <a:spcPts val="0"/>
                        </a:spcAft>
                      </a:pPr>
                      <a:r>
                        <a:rPr sz="1250" b="0">
                          <a:solidFill>
                            <a:srgbClr val="222633"/>
                          </a:solidFill>
                          <a:latin typeface="Pretendard"/>
                          <a:ea typeface="Pretendard"/>
                          <a:cs typeface="Pretendard"/>
                        </a:rPr>
                        <a:t>조건으로 둔다.</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25000"/>
                        </a:lnSpc>
                        <a:spcBef>
                          <a:spcPts val="0"/>
                        </a:spcBef>
                        <a:spcAft>
                          <a:spcPts val="0"/>
                        </a:spcAft>
                      </a:pPr>
                      <a:r>
                        <a:rPr sz="1250" b="0">
                          <a:solidFill>
                            <a:srgbClr val="222633"/>
                          </a:solidFill>
                          <a:latin typeface="Pretendard"/>
                          <a:ea typeface="Pretendard"/>
                          <a:cs typeface="Pretendard"/>
                        </a:rPr>
                        <a:t>권리 부담은 시험 중에도 발생한다. 인권위·OHCHR의 권고처럼</a:t>
                      </a:r>
                    </a:p>
                    <a:p>
                      <a:pPr algn="l">
                        <a:lnSpc>
                          <a:spcPct val="125000"/>
                        </a:lnSpc>
                        <a:spcBef>
                          <a:spcPts val="0"/>
                        </a:spcBef>
                        <a:spcAft>
                          <a:spcPts val="0"/>
                        </a:spcAft>
                      </a:pPr>
                      <a:r>
                        <a:rPr sz="1250" b="0">
                          <a:solidFill>
                            <a:srgbClr val="222633"/>
                          </a:solidFill>
                          <a:latin typeface="Pretendard"/>
                          <a:ea typeface="Pretendard"/>
                          <a:cs typeface="Pretendard"/>
                        </a:rPr>
                        <a:t>도입 전 영향평가와 안전성·권리 보호의 입증을 요구할 수 있다.</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r h="1192975">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공통 설계</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25000"/>
                        </a:lnSpc>
                        <a:spcBef>
                          <a:spcPts val="0"/>
                        </a:spcBef>
                        <a:spcAft>
                          <a:spcPts val="0"/>
                        </a:spcAft>
                      </a:pPr>
                      <a:r>
                        <a:rPr sz="1250" b="0">
                          <a:solidFill>
                            <a:srgbClr val="222633"/>
                          </a:solidFill>
                          <a:latin typeface="Pretendard"/>
                          <a:ea typeface="Pretendard"/>
                          <a:cs typeface="Pretendard"/>
                        </a:rPr>
                        <a:t>독립 평가자의 자료 접근권과 예산, 확대 시 재심사, 중단권자를</a:t>
                      </a:r>
                    </a:p>
                    <a:p>
                      <a:pPr algn="l">
                        <a:lnSpc>
                          <a:spcPct val="125000"/>
                        </a:lnSpc>
                        <a:spcBef>
                          <a:spcPts val="0"/>
                        </a:spcBef>
                        <a:spcAft>
                          <a:spcPts val="0"/>
                        </a:spcAft>
                      </a:pPr>
                      <a:r>
                        <a:rPr sz="1250" b="0">
                          <a:solidFill>
                            <a:srgbClr val="222633"/>
                          </a:solidFill>
                          <a:latin typeface="Pretendard"/>
                          <a:ea typeface="Pretendard"/>
                          <a:cs typeface="Pretendard"/>
                        </a:rPr>
                        <a:t>정한다.</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25000"/>
                        </a:lnSpc>
                        <a:spcBef>
                          <a:spcPts val="0"/>
                        </a:spcBef>
                        <a:spcAft>
                          <a:spcPts val="0"/>
                        </a:spcAft>
                      </a:pPr>
                      <a:r>
                        <a:rPr sz="1250" b="0">
                          <a:solidFill>
                            <a:srgbClr val="222633"/>
                          </a:solidFill>
                          <a:latin typeface="Pretendard"/>
                          <a:ea typeface="Pretendard"/>
                          <a:cs typeface="Pretendard"/>
                        </a:rPr>
                        <a:t>중대한 오류·목적 외 사용·감사 불이행의 중단 기준과 구제 절차를</a:t>
                      </a:r>
                    </a:p>
                    <a:p>
                      <a:pPr algn="l">
                        <a:lnSpc>
                          <a:spcPct val="125000"/>
                        </a:lnSpc>
                        <a:spcBef>
                          <a:spcPts val="0"/>
                        </a:spcBef>
                        <a:spcAft>
                          <a:spcPts val="0"/>
                        </a:spcAft>
                      </a:pPr>
                      <a:r>
                        <a:rPr sz="1250" b="0">
                          <a:solidFill>
                            <a:srgbClr val="222633"/>
                          </a:solidFill>
                          <a:latin typeface="Pretendard"/>
                          <a:ea typeface="Pretendard"/>
                          <a:cs typeface="Pretendard"/>
                        </a:rPr>
                        <a:t>정한다.</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bl>
          </a:graphicData>
        </a:graphic>
      </p:graphicFrame>
      <p:sp>
        <p:nvSpPr>
          <p:cNvPr id="7" name="">
            <a:extLst xmlns:a="http://schemas.openxmlformats.org/drawingml/2006/main">
              <a:ext uri="{FF2B5EF4-FFF2-40B4-BE49-F238E27FC236}">
                <a16:creationId xmlns:a16="http://schemas.microsoft.com/office/drawing/2014/main" id="{2D42AC1B-F30A-458E-860C-5248711EDA0F}"/>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571603176"/>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s43_kicker_0">
            <a:extLst xmlns:a="http://schemas.openxmlformats.org/drawingml/2006/main">
              <a:ext uri="{FF2B5EF4-FFF2-40B4-BE49-F238E27FC236}">
                <a16:creationId xmlns:a16="http://schemas.microsoft.com/office/drawing/2014/main" id="{096F2BF4-2C9B-4678-A5CA-40F6CCFACA5F}"/>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주요 논거와 최종 판단</a:t>
            </a:r>
          </a:p>
        </p:txBody>
      </p:sp>
      <p:sp>
        <p:nvSpPr>
          <p:cNvPr id="2" name="s43_next_1">
            <a:extLst xmlns:a="http://schemas.openxmlformats.org/drawingml/2006/main">
              <a:ext uri="{FF2B5EF4-FFF2-40B4-BE49-F238E27FC236}">
                <a16:creationId xmlns:a16="http://schemas.microsoft.com/office/drawing/2014/main" id="{B89D9B77-BBF6-45D9-9636-454063712657}"/>
              </a:ext>
            </a:extLst>
          </p:cNvPr>
          <p:cNvSpPr>
            <a:spLocks xmlns:a="http://schemas.openxmlformats.org/drawingml/2006/main" noGrp="1"/>
          </p:cNvSpPr>
          <p:nvPr/>
        </p:nvSpPr>
        <p:spPr>
          <a:xfrm xmlns:a="http://schemas.openxmlformats.org/drawingml/2006/main">
            <a:off x="6035040" y="384048"/>
            <a:ext cx="5422392"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defRPr sz="1050" b="0">
                <a:solidFill>
                  <a:srgbClr val="464D5C"/>
                </a:solidFill>
                <a:latin typeface="Pretendard"/>
                <a:ea typeface="Pretendard"/>
                <a:cs typeface="Pretendard"/>
              </a:defRPr>
              <a:spcBef>
                <a:spcPts val="0"/>
              </a:spcBef>
              <a:spcAft>
                <a:spcPts val="0"/>
              </a:spcAft>
            </a:pPr>
            <a:r>
              <a:rPr sz="1050" b="0">
                <a:solidFill>
                  <a:srgbClr val="464D5C"/>
                </a:solidFill>
                <a:latin typeface="Pretendard"/>
                <a:ea typeface="Pretendard"/>
                <a:cs typeface="Pretendard"/>
              </a:rPr>
              <a:t>다음  나의 결론과 판단을 바꿀 조건</a:t>
            </a:r>
          </a:p>
        </p:txBody>
      </p:sp>
      <p:sp>
        <p:nvSpPr>
          <p:cNvPr id="3" name="s43_title_2">
            <a:extLst xmlns:a="http://schemas.openxmlformats.org/drawingml/2006/main">
              <a:ext uri="{FF2B5EF4-FFF2-40B4-BE49-F238E27FC236}">
                <a16:creationId xmlns:a16="http://schemas.microsoft.com/office/drawing/2014/main" id="{DEAD76E9-F05E-4C5A-8BEB-AC58BFAB900A}"/>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판단에 남는 일곱 질문</a:t>
            </a:r>
          </a:p>
        </p:txBody>
      </p:sp>
      <p:sp>
        <p:nvSpPr>
          <p:cNvPr id="4" name="">
            <a:extLst xmlns:a="http://schemas.openxmlformats.org/drawingml/2006/main">
              <a:ext uri="{FF2B5EF4-FFF2-40B4-BE49-F238E27FC236}">
                <a16:creationId xmlns:a16="http://schemas.microsoft.com/office/drawing/2014/main" id="{F115EFCE-9D8D-433A-9541-638E391EAFCF}"/>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5" name="s43_band_4">
            <a:extLst xmlns:a="http://schemas.openxmlformats.org/drawingml/2006/main">
              <a:ext uri="{FF2B5EF4-FFF2-40B4-BE49-F238E27FC236}">
                <a16:creationId xmlns:a16="http://schemas.microsoft.com/office/drawing/2014/main" id="{B4573A27-830B-4CEA-92AD-94A16F9C4339}"/>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특정인을 찾는 검색에는 명단 밖 통행인의 얼굴도 입력된다. 경보 뒤에는 사람의 확인·현장 조치가 이어진다.</a:t>
            </a:r>
          </a:p>
        </p:txBody>
      </p:sp>
      <p:sp>
        <p:nvSpPr>
          <p:cNvPr id="6" name="">
            <a:extLst xmlns:a="http://schemas.openxmlformats.org/drawingml/2006/main">
              <a:ext uri="{FF2B5EF4-FFF2-40B4-BE49-F238E27FC236}">
                <a16:creationId xmlns:a16="http://schemas.microsoft.com/office/drawing/2014/main" id="{33780FB8-716D-4213-9D79-4C160B656A33}"/>
              </a:ext>
            </a:extLst>
          </p:cNvPr>
          <p:cNvSpPr>
            <a:spLocks xmlns:a="http://schemas.openxmlformats.org/drawingml/2006/main" noGrp="1"/>
          </p:cNvSpPr>
          <p:nvPr/>
        </p:nvSpPr>
        <p:spPr>
          <a:xfrm xmlns:a="http://schemas.openxmlformats.org/drawingml/2006/main">
            <a:off x="731520" y="2057400"/>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7" name="s43_body_6">
            <a:extLst xmlns:a="http://schemas.openxmlformats.org/drawingml/2006/main">
              <a:ext uri="{FF2B5EF4-FFF2-40B4-BE49-F238E27FC236}">
                <a16:creationId xmlns:a16="http://schemas.microsoft.com/office/drawing/2014/main" id="{1C426359-B73C-455D-A779-8F71D133BFCF}"/>
              </a:ext>
            </a:extLst>
          </p:cNvPr>
          <p:cNvSpPr>
            <a:spLocks xmlns:a="http://schemas.openxmlformats.org/drawingml/2006/main" noGrp="1"/>
          </p:cNvSpPr>
          <p:nvPr/>
        </p:nvSpPr>
        <p:spPr>
          <a:xfrm xmlns:a="http://schemas.openxmlformats.org/drawingml/2006/main">
            <a:off x="841248" y="2226800"/>
            <a:ext cx="233172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1 필요성</a:t>
            </a:r>
          </a:p>
        </p:txBody>
      </p:sp>
      <p:sp>
        <p:nvSpPr>
          <p:cNvPr id="8" name="s43_body_7">
            <a:extLst xmlns:a="http://schemas.openxmlformats.org/drawingml/2006/main">
              <a:ext uri="{FF2B5EF4-FFF2-40B4-BE49-F238E27FC236}">
                <a16:creationId xmlns:a16="http://schemas.microsoft.com/office/drawing/2014/main" id="{F42E108A-0B0A-43DD-8441-FE0CDED07F6C}"/>
              </a:ext>
            </a:extLst>
          </p:cNvPr>
          <p:cNvSpPr>
            <a:spLocks xmlns:a="http://schemas.openxmlformats.org/drawingml/2006/main" noGrp="1"/>
          </p:cNvSpPr>
          <p:nvPr/>
        </p:nvSpPr>
        <p:spPr>
          <a:xfrm xmlns:a="http://schemas.openxmlformats.org/drawingml/2006/main">
            <a:off x="3291840" y="2226800"/>
            <a:ext cx="8119872"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0">
                <a:solidFill>
                  <a:srgbClr val="222633"/>
                </a:solidFill>
                <a:latin typeface="Pretendard"/>
                <a:ea typeface="Pretendard"/>
                <a:cs typeface="Pretendard"/>
              </a:defRPr>
              <a:spcBef>
                <a:spcPts val="0"/>
              </a:spcBef>
              <a:spcAft>
                <a:spcPts val="0"/>
              </a:spcAft>
            </a:pPr>
            <a:r>
              <a:rPr sz="1300" b="0">
                <a:solidFill>
                  <a:srgbClr val="222633"/>
                </a:solidFill>
                <a:latin typeface="Pretendard"/>
                <a:ea typeface="Pretendard"/>
                <a:cs typeface="Pretendard"/>
              </a:rPr>
              <a:t>어떤 범죄·위험이면 실시간 대조를 허용할 것인가?</a:t>
            </a:r>
          </a:p>
        </p:txBody>
      </p:sp>
      <p:sp>
        <p:nvSpPr>
          <p:cNvPr id="9" name="">
            <a:extLst xmlns:a="http://schemas.openxmlformats.org/drawingml/2006/main">
              <a:ext uri="{FF2B5EF4-FFF2-40B4-BE49-F238E27FC236}">
                <a16:creationId xmlns:a16="http://schemas.microsoft.com/office/drawing/2014/main" id="{50900CD4-68E0-4DC2-8D14-2005BF0D63FF}"/>
              </a:ext>
            </a:extLst>
          </p:cNvPr>
          <p:cNvSpPr>
            <a:spLocks xmlns:a="http://schemas.openxmlformats.org/drawingml/2006/main" noGrp="1"/>
          </p:cNvSpPr>
          <p:nvPr/>
        </p:nvSpPr>
        <p:spPr>
          <a:xfrm xmlns:a="http://schemas.openxmlformats.org/drawingml/2006/main">
            <a:off x="731520" y="2641310"/>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0" name="s43_body_9">
            <a:extLst xmlns:a="http://schemas.openxmlformats.org/drawingml/2006/main">
              <a:ext uri="{FF2B5EF4-FFF2-40B4-BE49-F238E27FC236}">
                <a16:creationId xmlns:a16="http://schemas.microsoft.com/office/drawing/2014/main" id="{978793B8-6AD9-4FB7-A037-27639FEF7F04}"/>
              </a:ext>
            </a:extLst>
          </p:cNvPr>
          <p:cNvSpPr>
            <a:spLocks xmlns:a="http://schemas.openxmlformats.org/drawingml/2006/main" noGrp="1"/>
          </p:cNvSpPr>
          <p:nvPr/>
        </p:nvSpPr>
        <p:spPr>
          <a:xfrm xmlns:a="http://schemas.openxmlformats.org/drawingml/2006/main">
            <a:off x="841248" y="2810710"/>
            <a:ext cx="233172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2 법적 근거</a:t>
            </a:r>
          </a:p>
        </p:txBody>
      </p:sp>
      <p:sp>
        <p:nvSpPr>
          <p:cNvPr id="11" name="s43_body_10">
            <a:extLst xmlns:a="http://schemas.openxmlformats.org/drawingml/2006/main">
              <a:ext uri="{FF2B5EF4-FFF2-40B4-BE49-F238E27FC236}">
                <a16:creationId xmlns:a16="http://schemas.microsoft.com/office/drawing/2014/main" id="{41BCF841-4245-47A6-A077-D92CACA2981B}"/>
              </a:ext>
            </a:extLst>
          </p:cNvPr>
          <p:cNvSpPr>
            <a:spLocks xmlns:a="http://schemas.openxmlformats.org/drawingml/2006/main" noGrp="1"/>
          </p:cNvSpPr>
          <p:nvPr/>
        </p:nvSpPr>
        <p:spPr>
          <a:xfrm xmlns:a="http://schemas.openxmlformats.org/drawingml/2006/main">
            <a:off x="3291840" y="2810710"/>
            <a:ext cx="8119872"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0">
                <a:solidFill>
                  <a:srgbClr val="222633"/>
                </a:solidFill>
                <a:latin typeface="Pretendard"/>
                <a:ea typeface="Pretendard"/>
                <a:cs typeface="Pretendard"/>
              </a:defRPr>
              <a:spcBef>
                <a:spcPts val="0"/>
              </a:spcBef>
              <a:spcAft>
                <a:spcPts val="0"/>
              </a:spcAft>
            </a:pPr>
            <a:r>
              <a:rPr sz="1300" b="0">
                <a:solidFill>
                  <a:srgbClr val="222633"/>
                </a:solidFill>
                <a:latin typeface="Pretendard"/>
                <a:ea typeface="Pretendard"/>
                <a:cs typeface="Pretendard"/>
              </a:rPr>
              <a:t>사용 권한·사전 허가·명단·장소를 어디까지 정할 것인가?</a:t>
            </a:r>
          </a:p>
        </p:txBody>
      </p:sp>
      <p:sp>
        <p:nvSpPr>
          <p:cNvPr id="12" name="">
            <a:extLst xmlns:a="http://schemas.openxmlformats.org/drawingml/2006/main">
              <a:ext uri="{FF2B5EF4-FFF2-40B4-BE49-F238E27FC236}">
                <a16:creationId xmlns:a16="http://schemas.microsoft.com/office/drawing/2014/main" id="{A75297FB-3BB7-4590-BA7A-82EA65A662E0}"/>
              </a:ext>
            </a:extLst>
          </p:cNvPr>
          <p:cNvSpPr>
            <a:spLocks xmlns:a="http://schemas.openxmlformats.org/drawingml/2006/main" noGrp="1"/>
          </p:cNvSpPr>
          <p:nvPr/>
        </p:nvSpPr>
        <p:spPr>
          <a:xfrm xmlns:a="http://schemas.openxmlformats.org/drawingml/2006/main">
            <a:off x="731520" y="3225219"/>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3" name="s43_body_12">
            <a:extLst xmlns:a="http://schemas.openxmlformats.org/drawingml/2006/main">
              <a:ext uri="{FF2B5EF4-FFF2-40B4-BE49-F238E27FC236}">
                <a16:creationId xmlns:a16="http://schemas.microsoft.com/office/drawing/2014/main" id="{C00CCFD2-8DB6-43C0-AA68-BF68DA9F039C}"/>
              </a:ext>
            </a:extLst>
          </p:cNvPr>
          <p:cNvSpPr>
            <a:spLocks xmlns:a="http://schemas.openxmlformats.org/drawingml/2006/main" noGrp="1"/>
          </p:cNvSpPr>
          <p:nvPr/>
        </p:nvSpPr>
        <p:spPr>
          <a:xfrm xmlns:a="http://schemas.openxmlformats.org/drawingml/2006/main">
            <a:off x="841248" y="3394619"/>
            <a:ext cx="233172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3 추가 성과</a:t>
            </a:r>
          </a:p>
        </p:txBody>
      </p:sp>
      <p:sp>
        <p:nvSpPr>
          <p:cNvPr id="14" name="s43_body_13">
            <a:extLst xmlns:a="http://schemas.openxmlformats.org/drawingml/2006/main">
              <a:ext uri="{FF2B5EF4-FFF2-40B4-BE49-F238E27FC236}">
                <a16:creationId xmlns:a16="http://schemas.microsoft.com/office/drawing/2014/main" id="{68EE28BF-2DC5-4ADE-A0F1-447A09AC3588}"/>
              </a:ext>
            </a:extLst>
          </p:cNvPr>
          <p:cNvSpPr>
            <a:spLocks xmlns:a="http://schemas.openxmlformats.org/drawingml/2006/main" noGrp="1"/>
          </p:cNvSpPr>
          <p:nvPr/>
        </p:nvSpPr>
        <p:spPr>
          <a:xfrm xmlns:a="http://schemas.openxmlformats.org/drawingml/2006/main">
            <a:off x="3291840" y="3394619"/>
            <a:ext cx="8119872"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0">
                <a:solidFill>
                  <a:srgbClr val="222633"/>
                </a:solidFill>
                <a:latin typeface="Pretendard"/>
                <a:ea typeface="Pretendard"/>
                <a:cs typeface="Pretendard"/>
              </a:defRPr>
              <a:spcBef>
                <a:spcPts val="0"/>
              </a:spcBef>
              <a:spcAft>
                <a:spcPts val="0"/>
              </a:spcAft>
            </a:pPr>
            <a:r>
              <a:rPr sz="1300" b="0">
                <a:solidFill>
                  <a:srgbClr val="222633"/>
                </a:solidFill>
                <a:latin typeface="Pretendard"/>
                <a:ea typeface="Pretendard"/>
                <a:cs typeface="Pretendard"/>
              </a:rPr>
              <a:t>기존 수사보다 어떤 이익이 어느 정도 더 있어야 하는가?</a:t>
            </a:r>
          </a:p>
        </p:txBody>
      </p:sp>
      <p:sp>
        <p:nvSpPr>
          <p:cNvPr id="15" name="">
            <a:extLst xmlns:a="http://schemas.openxmlformats.org/drawingml/2006/main">
              <a:ext uri="{FF2B5EF4-FFF2-40B4-BE49-F238E27FC236}">
                <a16:creationId xmlns:a16="http://schemas.microsoft.com/office/drawing/2014/main" id="{2C86707A-A678-49F4-97ED-A0462AD9BACD}"/>
              </a:ext>
            </a:extLst>
          </p:cNvPr>
          <p:cNvSpPr>
            <a:spLocks xmlns:a="http://schemas.openxmlformats.org/drawingml/2006/main" noGrp="1"/>
          </p:cNvSpPr>
          <p:nvPr/>
        </p:nvSpPr>
        <p:spPr>
          <a:xfrm xmlns:a="http://schemas.openxmlformats.org/drawingml/2006/main">
            <a:off x="731520" y="3809129"/>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6" name="s43_body_15">
            <a:extLst xmlns:a="http://schemas.openxmlformats.org/drawingml/2006/main">
              <a:ext uri="{FF2B5EF4-FFF2-40B4-BE49-F238E27FC236}">
                <a16:creationId xmlns:a16="http://schemas.microsoft.com/office/drawing/2014/main" id="{0F265B56-8A73-4063-BC50-EEBE47CEF5E5}"/>
              </a:ext>
            </a:extLst>
          </p:cNvPr>
          <p:cNvSpPr>
            <a:spLocks xmlns:a="http://schemas.openxmlformats.org/drawingml/2006/main" noGrp="1"/>
          </p:cNvSpPr>
          <p:nvPr/>
        </p:nvSpPr>
        <p:spPr>
          <a:xfrm xmlns:a="http://schemas.openxmlformats.org/drawingml/2006/main">
            <a:off x="841248" y="3978529"/>
            <a:ext cx="233172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4 오류·노출</a:t>
            </a:r>
          </a:p>
        </p:txBody>
      </p:sp>
      <p:sp>
        <p:nvSpPr>
          <p:cNvPr id="17" name="s43_body_16">
            <a:extLst xmlns:a="http://schemas.openxmlformats.org/drawingml/2006/main">
              <a:ext uri="{FF2B5EF4-FFF2-40B4-BE49-F238E27FC236}">
                <a16:creationId xmlns:a16="http://schemas.microsoft.com/office/drawing/2014/main" id="{C73B053F-EAFE-4049-B185-9E87FA138043}"/>
              </a:ext>
            </a:extLst>
          </p:cNvPr>
          <p:cNvSpPr>
            <a:spLocks xmlns:a="http://schemas.openxmlformats.org/drawingml/2006/main" noGrp="1"/>
          </p:cNvSpPr>
          <p:nvPr/>
        </p:nvSpPr>
        <p:spPr>
          <a:xfrm xmlns:a="http://schemas.openxmlformats.org/drawingml/2006/main">
            <a:off x="3291840" y="3978529"/>
            <a:ext cx="8119872"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0">
                <a:solidFill>
                  <a:srgbClr val="222633"/>
                </a:solidFill>
                <a:latin typeface="Pretendard"/>
                <a:ea typeface="Pretendard"/>
                <a:cs typeface="Pretendard"/>
              </a:defRPr>
              <a:spcBef>
                <a:spcPts val="0"/>
              </a:spcBef>
              <a:spcAft>
                <a:spcPts val="0"/>
              </a:spcAft>
            </a:pPr>
            <a:r>
              <a:rPr sz="1300" b="0">
                <a:solidFill>
                  <a:srgbClr val="222633"/>
                </a:solidFill>
                <a:latin typeface="Pretendard"/>
                <a:ea typeface="Pretendard"/>
                <a:cs typeface="Pretendard"/>
              </a:rPr>
              <a:t>미탐지·오인접촉과 집단별 부담을 어떻게 평가할 것인가?</a:t>
            </a:r>
          </a:p>
        </p:txBody>
      </p:sp>
      <p:sp>
        <p:nvSpPr>
          <p:cNvPr id="18" name="">
            <a:extLst xmlns:a="http://schemas.openxmlformats.org/drawingml/2006/main">
              <a:ext uri="{FF2B5EF4-FFF2-40B4-BE49-F238E27FC236}">
                <a16:creationId xmlns:a16="http://schemas.microsoft.com/office/drawing/2014/main" id="{E0F59846-35C5-41BB-9246-053AD1386BD4}"/>
              </a:ext>
            </a:extLst>
          </p:cNvPr>
          <p:cNvSpPr>
            <a:spLocks xmlns:a="http://schemas.openxmlformats.org/drawingml/2006/main" noGrp="1"/>
          </p:cNvSpPr>
          <p:nvPr/>
        </p:nvSpPr>
        <p:spPr>
          <a:xfrm xmlns:a="http://schemas.openxmlformats.org/drawingml/2006/main">
            <a:off x="731520" y="4393039"/>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9" name="s43_body_18">
            <a:extLst xmlns:a="http://schemas.openxmlformats.org/drawingml/2006/main">
              <a:ext uri="{FF2B5EF4-FFF2-40B4-BE49-F238E27FC236}">
                <a16:creationId xmlns:a16="http://schemas.microsoft.com/office/drawing/2014/main" id="{295250B5-0548-4B4D-85C8-2B7DC5ABD58B}"/>
              </a:ext>
            </a:extLst>
          </p:cNvPr>
          <p:cNvSpPr>
            <a:spLocks xmlns:a="http://schemas.openxmlformats.org/drawingml/2006/main" noGrp="1"/>
          </p:cNvSpPr>
          <p:nvPr/>
        </p:nvSpPr>
        <p:spPr>
          <a:xfrm xmlns:a="http://schemas.openxmlformats.org/drawingml/2006/main">
            <a:off x="841248" y="4562439"/>
            <a:ext cx="233172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5 현장 조치</a:t>
            </a:r>
          </a:p>
        </p:txBody>
      </p:sp>
      <p:sp>
        <p:nvSpPr>
          <p:cNvPr id="20" name="s43_body_19">
            <a:extLst xmlns:a="http://schemas.openxmlformats.org/drawingml/2006/main">
              <a:ext uri="{FF2B5EF4-FFF2-40B4-BE49-F238E27FC236}">
                <a16:creationId xmlns:a16="http://schemas.microsoft.com/office/drawing/2014/main" id="{ADCE4BCA-1464-4A89-8DB5-2239F6198F43}"/>
              </a:ext>
            </a:extLst>
          </p:cNvPr>
          <p:cNvSpPr>
            <a:spLocks xmlns:a="http://schemas.openxmlformats.org/drawingml/2006/main" noGrp="1"/>
          </p:cNvSpPr>
          <p:nvPr/>
        </p:nvSpPr>
        <p:spPr>
          <a:xfrm xmlns:a="http://schemas.openxmlformats.org/drawingml/2006/main">
            <a:off x="3291840" y="4562439"/>
            <a:ext cx="8119872"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0">
                <a:solidFill>
                  <a:srgbClr val="222633"/>
                </a:solidFill>
                <a:latin typeface="Pretendard"/>
                <a:ea typeface="Pretendard"/>
                <a:cs typeface="Pretendard"/>
              </a:defRPr>
              <a:spcBef>
                <a:spcPts val="0"/>
              </a:spcBef>
              <a:spcAft>
                <a:spcPts val="0"/>
              </a:spcAft>
            </a:pPr>
            <a:r>
              <a:rPr sz="1300" b="0">
                <a:solidFill>
                  <a:srgbClr val="222633"/>
                </a:solidFill>
                <a:latin typeface="Pretendard"/>
                <a:ea typeface="Pretendard"/>
                <a:cs typeface="Pretendard"/>
              </a:rPr>
              <a:t>경보 뒤 정지·수색·체포에는 어떤 확인과 요건이 필요한가?</a:t>
            </a:r>
          </a:p>
        </p:txBody>
      </p:sp>
      <p:sp>
        <p:nvSpPr>
          <p:cNvPr id="21" name="">
            <a:extLst xmlns:a="http://schemas.openxmlformats.org/drawingml/2006/main">
              <a:ext uri="{FF2B5EF4-FFF2-40B4-BE49-F238E27FC236}">
                <a16:creationId xmlns:a16="http://schemas.microsoft.com/office/drawing/2014/main" id="{6547138D-84BF-466C-AF02-FC42828C68FF}"/>
              </a:ext>
            </a:extLst>
          </p:cNvPr>
          <p:cNvSpPr>
            <a:spLocks xmlns:a="http://schemas.openxmlformats.org/drawingml/2006/main" noGrp="1"/>
          </p:cNvSpPr>
          <p:nvPr/>
        </p:nvSpPr>
        <p:spPr>
          <a:xfrm xmlns:a="http://schemas.openxmlformats.org/drawingml/2006/main">
            <a:off x="731520" y="4976949"/>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22" name="s43_body_21">
            <a:extLst xmlns:a="http://schemas.openxmlformats.org/drawingml/2006/main">
              <a:ext uri="{FF2B5EF4-FFF2-40B4-BE49-F238E27FC236}">
                <a16:creationId xmlns:a16="http://schemas.microsoft.com/office/drawing/2014/main" id="{2C86CE80-2C11-4396-B4BB-78355E2C58C1}"/>
              </a:ext>
            </a:extLst>
          </p:cNvPr>
          <p:cNvSpPr>
            <a:spLocks xmlns:a="http://schemas.openxmlformats.org/drawingml/2006/main" noGrp="1"/>
          </p:cNvSpPr>
          <p:nvPr/>
        </p:nvSpPr>
        <p:spPr>
          <a:xfrm xmlns:a="http://schemas.openxmlformats.org/drawingml/2006/main">
            <a:off x="841248" y="5146348"/>
            <a:ext cx="233172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6 기록·구제</a:t>
            </a:r>
          </a:p>
        </p:txBody>
      </p:sp>
      <p:sp>
        <p:nvSpPr>
          <p:cNvPr id="23" name="s43_body_22">
            <a:extLst xmlns:a="http://schemas.openxmlformats.org/drawingml/2006/main">
              <a:ext uri="{FF2B5EF4-FFF2-40B4-BE49-F238E27FC236}">
                <a16:creationId xmlns:a16="http://schemas.microsoft.com/office/drawing/2014/main" id="{34BB4F9A-19E5-4B44-9146-059D58E1C49D}"/>
              </a:ext>
            </a:extLst>
          </p:cNvPr>
          <p:cNvSpPr>
            <a:spLocks xmlns:a="http://schemas.openxmlformats.org/drawingml/2006/main" noGrp="1"/>
          </p:cNvSpPr>
          <p:nvPr/>
        </p:nvSpPr>
        <p:spPr>
          <a:xfrm xmlns:a="http://schemas.openxmlformats.org/drawingml/2006/main">
            <a:off x="3291840" y="5146348"/>
            <a:ext cx="8119872"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0">
                <a:solidFill>
                  <a:srgbClr val="222633"/>
                </a:solidFill>
                <a:latin typeface="Pretendard"/>
                <a:ea typeface="Pretendard"/>
                <a:cs typeface="Pretendard"/>
              </a:defRPr>
              <a:spcBef>
                <a:spcPts val="0"/>
              </a:spcBef>
              <a:spcAft>
                <a:spcPts val="0"/>
              </a:spcAft>
            </a:pPr>
            <a:r>
              <a:rPr sz="1300" b="0">
                <a:solidFill>
                  <a:srgbClr val="222633"/>
                </a:solidFill>
                <a:latin typeface="Pretendard"/>
                <a:ea typeface="Pretendard"/>
                <a:cs typeface="Pretendard"/>
              </a:rPr>
              <a:t>무엇을 삭제하고 무엇을 남겨 이의를 제기하게 할 것인가?</a:t>
            </a:r>
          </a:p>
        </p:txBody>
      </p:sp>
      <p:sp>
        <p:nvSpPr>
          <p:cNvPr id="24" name="">
            <a:extLst xmlns:a="http://schemas.openxmlformats.org/drawingml/2006/main">
              <a:ext uri="{FF2B5EF4-FFF2-40B4-BE49-F238E27FC236}">
                <a16:creationId xmlns:a16="http://schemas.microsoft.com/office/drawing/2014/main" id="{D1E1CCF3-A7C2-4D60-ABEE-78E8795A6A71}"/>
              </a:ext>
            </a:extLst>
          </p:cNvPr>
          <p:cNvSpPr>
            <a:spLocks xmlns:a="http://schemas.openxmlformats.org/drawingml/2006/main" noGrp="1"/>
          </p:cNvSpPr>
          <p:nvPr/>
        </p:nvSpPr>
        <p:spPr>
          <a:xfrm xmlns:a="http://schemas.openxmlformats.org/drawingml/2006/main">
            <a:off x="731520" y="556085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25" name="s43_body_24">
            <a:extLst xmlns:a="http://schemas.openxmlformats.org/drawingml/2006/main">
              <a:ext uri="{FF2B5EF4-FFF2-40B4-BE49-F238E27FC236}">
                <a16:creationId xmlns:a16="http://schemas.microsoft.com/office/drawing/2014/main" id="{0D9023D3-68FA-437A-BEC9-E1C89C6813E7}"/>
              </a:ext>
            </a:extLst>
          </p:cNvPr>
          <p:cNvSpPr>
            <a:spLocks xmlns:a="http://schemas.openxmlformats.org/drawingml/2006/main" noGrp="1"/>
          </p:cNvSpPr>
          <p:nvPr/>
        </p:nvSpPr>
        <p:spPr>
          <a:xfrm xmlns:a="http://schemas.openxmlformats.org/drawingml/2006/main">
            <a:off x="841248" y="5730258"/>
            <a:ext cx="233172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7 감독·중단</a:t>
            </a:r>
          </a:p>
        </p:txBody>
      </p:sp>
      <p:sp>
        <p:nvSpPr>
          <p:cNvPr id="26" name="s43_body_25">
            <a:extLst xmlns:a="http://schemas.openxmlformats.org/drawingml/2006/main">
              <a:ext uri="{FF2B5EF4-FFF2-40B4-BE49-F238E27FC236}">
                <a16:creationId xmlns:a16="http://schemas.microsoft.com/office/drawing/2014/main" id="{831F53F0-B44F-4E58-AA10-806C622D3BB7}"/>
              </a:ext>
            </a:extLst>
          </p:cNvPr>
          <p:cNvSpPr>
            <a:spLocks xmlns:a="http://schemas.openxmlformats.org/drawingml/2006/main" noGrp="1"/>
          </p:cNvSpPr>
          <p:nvPr/>
        </p:nvSpPr>
        <p:spPr>
          <a:xfrm xmlns:a="http://schemas.openxmlformats.org/drawingml/2006/main">
            <a:off x="3291840" y="5730258"/>
            <a:ext cx="8119872"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0">
                <a:solidFill>
                  <a:srgbClr val="222633"/>
                </a:solidFill>
                <a:latin typeface="Pretendard"/>
                <a:ea typeface="Pretendard"/>
                <a:cs typeface="Pretendard"/>
              </a:defRPr>
              <a:spcBef>
                <a:spcPts val="0"/>
              </a:spcBef>
              <a:spcAft>
                <a:spcPts val="0"/>
              </a:spcAft>
            </a:pPr>
            <a:r>
              <a:rPr sz="1300" b="0">
                <a:solidFill>
                  <a:srgbClr val="222633"/>
                </a:solidFill>
                <a:latin typeface="Pretendard"/>
                <a:ea typeface="Pretendard"/>
                <a:cs typeface="Pretendard"/>
              </a:rPr>
              <a:t>누가 시작·확대·중단을 결정하고 책임질 것인가?</a:t>
            </a:r>
          </a:p>
        </p:txBody>
      </p:sp>
      <p:sp>
        <p:nvSpPr>
          <p:cNvPr id="27" name="">
            <a:extLst xmlns:a="http://schemas.openxmlformats.org/drawingml/2006/main">
              <a:ext uri="{FF2B5EF4-FFF2-40B4-BE49-F238E27FC236}">
                <a16:creationId xmlns:a16="http://schemas.microsoft.com/office/drawing/2014/main" id="{5D283726-741C-4CB2-A32B-4881DC5BD45E}"/>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592930749"/>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44_kicker_0">
            <a:extLst xmlns:a="http://schemas.openxmlformats.org/drawingml/2006/main">
              <a:ext uri="{FF2B5EF4-FFF2-40B4-BE49-F238E27FC236}">
                <a16:creationId xmlns:a16="http://schemas.microsoft.com/office/drawing/2014/main" id="{6AEA8CE1-42CC-4CBC-8F97-D02D59858902}"/>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주요 논거와 최종 판단</a:t>
            </a:r>
          </a:p>
        </p:txBody>
      </p:sp>
      <p:sp>
        <p:nvSpPr>
          <p:cNvPr id="2" name="s44_title_1">
            <a:extLst xmlns:a="http://schemas.openxmlformats.org/drawingml/2006/main">
              <a:ext uri="{FF2B5EF4-FFF2-40B4-BE49-F238E27FC236}">
                <a16:creationId xmlns:a16="http://schemas.microsoft.com/office/drawing/2014/main" id="{08B1F1B1-02E4-4497-87F2-CECE1DBDF1BA}"/>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나의 결론과 판단을 바꿀 조건</a:t>
            </a:r>
          </a:p>
        </p:txBody>
      </p:sp>
      <p:sp>
        <p:nvSpPr>
          <p:cNvPr id="3" name="">
            <a:extLst xmlns:a="http://schemas.openxmlformats.org/drawingml/2006/main">
              <a:ext uri="{FF2B5EF4-FFF2-40B4-BE49-F238E27FC236}">
                <a16:creationId xmlns:a16="http://schemas.microsoft.com/office/drawing/2014/main" id="{D2566120-9AB9-4078-8CEC-F995CBD198DD}"/>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4" name="s44_band_3">
            <a:extLst xmlns:a="http://schemas.openxmlformats.org/drawingml/2006/main">
              <a:ext uri="{FF2B5EF4-FFF2-40B4-BE49-F238E27FC236}">
                <a16:creationId xmlns:a16="http://schemas.microsoft.com/office/drawing/2014/main" id="{1CB226D2-E866-4C1F-B178-5B76B5B9A829}"/>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허용 여부를 목적·대상·장소·기간·절차가 있는 문장으로 작성한다.</a:t>
            </a:r>
          </a:p>
        </p:txBody>
      </p:sp>
      <p:sp>
        <p:nvSpPr>
          <p:cNvPr id="5" name="">
            <a:extLst xmlns:a="http://schemas.openxmlformats.org/drawingml/2006/main">
              <a:ext uri="{FF2B5EF4-FFF2-40B4-BE49-F238E27FC236}">
                <a16:creationId xmlns:a16="http://schemas.microsoft.com/office/drawing/2014/main" id="{7DE4C569-A7D6-4C88-8D1F-D7B833020479}"/>
              </a:ext>
            </a:extLst>
          </p:cNvPr>
          <p:cNvSpPr>
            <a:spLocks xmlns:a="http://schemas.openxmlformats.org/drawingml/2006/main" noGrp="1"/>
          </p:cNvSpPr>
          <p:nvPr/>
        </p:nvSpPr>
        <p:spPr>
          <a:xfrm xmlns:a="http://schemas.openxmlformats.org/drawingml/2006/main">
            <a:off x="731520" y="2057400"/>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6" name="s44_rowlabel_5">
            <a:extLst xmlns:a="http://schemas.openxmlformats.org/drawingml/2006/main">
              <a:ext uri="{FF2B5EF4-FFF2-40B4-BE49-F238E27FC236}">
                <a16:creationId xmlns:a16="http://schemas.microsoft.com/office/drawing/2014/main" id="{00C58E1F-93C0-48CA-9496-3270CF66FE42}"/>
              </a:ext>
            </a:extLst>
          </p:cNvPr>
          <p:cNvSpPr>
            <a:spLocks xmlns:a="http://schemas.openxmlformats.org/drawingml/2006/main" noGrp="1"/>
          </p:cNvSpPr>
          <p:nvPr/>
        </p:nvSpPr>
        <p:spPr>
          <a:xfrm xmlns:a="http://schemas.openxmlformats.org/drawingml/2006/main">
            <a:off x="822960" y="2422906"/>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결론</a:t>
            </a:r>
          </a:p>
        </p:txBody>
      </p:sp>
      <p:sp>
        <p:nvSpPr>
          <p:cNvPr id="7" name="s44_conclusion_6">
            <a:extLst xmlns:a="http://schemas.openxmlformats.org/drawingml/2006/main">
              <a:ext uri="{FF2B5EF4-FFF2-40B4-BE49-F238E27FC236}">
                <a16:creationId xmlns:a16="http://schemas.microsoft.com/office/drawing/2014/main" id="{49BE2C0C-5227-4476-8825-17211B5EDB3B}"/>
              </a:ext>
            </a:extLst>
          </p:cNvPr>
          <p:cNvSpPr>
            <a:spLocks xmlns:a="http://schemas.openxmlformats.org/drawingml/2006/main" noGrp="1"/>
          </p:cNvSpPr>
          <p:nvPr/>
        </p:nvSpPr>
        <p:spPr>
          <a:xfrm xmlns:a="http://schemas.openxmlformats.org/drawingml/2006/main">
            <a:off x="3154680" y="2239455"/>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어느 범위에서 허용·유예할 것인가?</a:t>
            </a:r>
          </a:p>
        </p:txBody>
      </p:sp>
      <p:sp>
        <p:nvSpPr>
          <p:cNvPr id="8" name="s44_supplement_7">
            <a:extLst xmlns:a="http://schemas.openxmlformats.org/drawingml/2006/main">
              <a:ext uri="{FF2B5EF4-FFF2-40B4-BE49-F238E27FC236}">
                <a16:creationId xmlns:a16="http://schemas.microsoft.com/office/drawing/2014/main" id="{3C5DED2D-6311-43EB-AEA5-5E822026271E}"/>
              </a:ext>
            </a:extLst>
          </p:cNvPr>
          <p:cNvSpPr>
            <a:spLocks xmlns:a="http://schemas.openxmlformats.org/drawingml/2006/main" noGrp="1"/>
          </p:cNvSpPr>
          <p:nvPr/>
        </p:nvSpPr>
        <p:spPr>
          <a:xfrm xmlns:a="http://schemas.openxmlformats.org/drawingml/2006/main">
            <a:off x="3154680" y="2595563"/>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대상 범죄와 명단, 배치 범위, 시작 조건을 구체적으로 적는다.</a:t>
            </a:r>
          </a:p>
        </p:txBody>
      </p:sp>
      <p:sp>
        <p:nvSpPr>
          <p:cNvPr id="9" name="">
            <a:extLst xmlns:a="http://schemas.openxmlformats.org/drawingml/2006/main">
              <a:ext uri="{FF2B5EF4-FFF2-40B4-BE49-F238E27FC236}">
                <a16:creationId xmlns:a16="http://schemas.microsoft.com/office/drawing/2014/main" id="{E063F30B-8055-4E6F-8A4F-80B61A63E55A}"/>
              </a:ext>
            </a:extLst>
          </p:cNvPr>
          <p:cNvSpPr>
            <a:spLocks xmlns:a="http://schemas.openxmlformats.org/drawingml/2006/main" noGrp="1"/>
          </p:cNvSpPr>
          <p:nvPr/>
        </p:nvSpPr>
        <p:spPr>
          <a:xfrm xmlns:a="http://schemas.openxmlformats.org/drawingml/2006/main">
            <a:off x="731520" y="3079242"/>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0" name="s44_rowlabel_9">
            <a:extLst xmlns:a="http://schemas.openxmlformats.org/drawingml/2006/main">
              <a:ext uri="{FF2B5EF4-FFF2-40B4-BE49-F238E27FC236}">
                <a16:creationId xmlns:a16="http://schemas.microsoft.com/office/drawing/2014/main" id="{86DDE976-6DCD-4E82-95D7-4AA477E84B3F}"/>
              </a:ext>
            </a:extLst>
          </p:cNvPr>
          <p:cNvSpPr>
            <a:spLocks xmlns:a="http://schemas.openxmlformats.org/drawingml/2006/main" noGrp="1"/>
          </p:cNvSpPr>
          <p:nvPr/>
        </p:nvSpPr>
        <p:spPr>
          <a:xfrm xmlns:a="http://schemas.openxmlformats.org/drawingml/2006/main">
            <a:off x="822960" y="3444748"/>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핵심 근거</a:t>
            </a:r>
          </a:p>
        </p:txBody>
      </p:sp>
      <p:sp>
        <p:nvSpPr>
          <p:cNvPr id="11" name="s44_conclusion_10">
            <a:extLst xmlns:a="http://schemas.openxmlformats.org/drawingml/2006/main">
              <a:ext uri="{FF2B5EF4-FFF2-40B4-BE49-F238E27FC236}">
                <a16:creationId xmlns:a16="http://schemas.microsoft.com/office/drawing/2014/main" id="{1CEF1F53-419E-4EAE-8A73-26016529C30B}"/>
              </a:ext>
            </a:extLst>
          </p:cNvPr>
          <p:cNvSpPr>
            <a:spLocks xmlns:a="http://schemas.openxmlformats.org/drawingml/2006/main" noGrp="1"/>
          </p:cNvSpPr>
          <p:nvPr/>
        </p:nvSpPr>
        <p:spPr>
          <a:xfrm xmlns:a="http://schemas.openxmlformats.org/drawingml/2006/main">
            <a:off x="3154680" y="3261297"/>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내 결론을 가장 강하게 지지하는 자료는 무엇인가?</a:t>
            </a:r>
          </a:p>
        </p:txBody>
      </p:sp>
      <p:sp>
        <p:nvSpPr>
          <p:cNvPr id="12" name="s44_supplement_11">
            <a:extLst xmlns:a="http://schemas.openxmlformats.org/drawingml/2006/main">
              <a:ext uri="{FF2B5EF4-FFF2-40B4-BE49-F238E27FC236}">
                <a16:creationId xmlns:a16="http://schemas.microsoft.com/office/drawing/2014/main" id="{9DF65AB2-EC47-4119-8FDF-9EFD1F4CC33F}"/>
              </a:ext>
            </a:extLst>
          </p:cNvPr>
          <p:cNvSpPr>
            <a:spLocks xmlns:a="http://schemas.openxmlformats.org/drawingml/2006/main" noGrp="1"/>
          </p:cNvSpPr>
          <p:nvPr/>
        </p:nvSpPr>
        <p:spPr>
          <a:xfrm xmlns:a="http://schemas.openxmlformats.org/drawingml/2006/main">
            <a:off x="3154680" y="3617404"/>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사례·통계·법리 중 핵심 2개와 그 자료를 결론으로 연결하는 이유를 적는다.</a:t>
            </a:r>
          </a:p>
        </p:txBody>
      </p:sp>
      <p:sp>
        <p:nvSpPr>
          <p:cNvPr id="13" name="">
            <a:extLst xmlns:a="http://schemas.openxmlformats.org/drawingml/2006/main">
              <a:ext uri="{FF2B5EF4-FFF2-40B4-BE49-F238E27FC236}">
                <a16:creationId xmlns:a16="http://schemas.microsoft.com/office/drawing/2014/main" id="{6042D47D-DBE5-4EA7-904A-FF6608B3C4F1}"/>
              </a:ext>
            </a:extLst>
          </p:cNvPr>
          <p:cNvSpPr>
            <a:spLocks xmlns:a="http://schemas.openxmlformats.org/drawingml/2006/main" noGrp="1"/>
          </p:cNvSpPr>
          <p:nvPr/>
        </p:nvSpPr>
        <p:spPr>
          <a:xfrm xmlns:a="http://schemas.openxmlformats.org/drawingml/2006/main">
            <a:off x="731520" y="4101084"/>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4" name="s44_rowlabel_13">
            <a:extLst xmlns:a="http://schemas.openxmlformats.org/drawingml/2006/main">
              <a:ext uri="{FF2B5EF4-FFF2-40B4-BE49-F238E27FC236}">
                <a16:creationId xmlns:a16="http://schemas.microsoft.com/office/drawing/2014/main" id="{6F455BA2-62E6-48B7-9E8F-363011A6D16D}"/>
              </a:ext>
            </a:extLst>
          </p:cNvPr>
          <p:cNvSpPr>
            <a:spLocks xmlns:a="http://schemas.openxmlformats.org/drawingml/2006/main" noGrp="1"/>
          </p:cNvSpPr>
          <p:nvPr/>
        </p:nvSpPr>
        <p:spPr>
          <a:xfrm xmlns:a="http://schemas.openxmlformats.org/drawingml/2006/main">
            <a:off x="822960" y="4466590"/>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놓칠 부담</a:t>
            </a:r>
          </a:p>
        </p:txBody>
      </p:sp>
      <p:sp>
        <p:nvSpPr>
          <p:cNvPr id="15" name="s44_conclusion_14">
            <a:extLst xmlns:a="http://schemas.openxmlformats.org/drawingml/2006/main">
              <a:ext uri="{FF2B5EF4-FFF2-40B4-BE49-F238E27FC236}">
                <a16:creationId xmlns:a16="http://schemas.microsoft.com/office/drawing/2014/main" id="{628FC666-39AC-40DD-B09F-7294E2DDC70A}"/>
              </a:ext>
            </a:extLst>
          </p:cNvPr>
          <p:cNvSpPr>
            <a:spLocks xmlns:a="http://schemas.openxmlformats.org/drawingml/2006/main" noGrp="1"/>
          </p:cNvSpPr>
          <p:nvPr/>
        </p:nvSpPr>
        <p:spPr>
          <a:xfrm xmlns:a="http://schemas.openxmlformats.org/drawingml/2006/main">
            <a:off x="3154680" y="4283139"/>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내 선택이 충분히 해결하지 못하는 문제는 무엇인가?</a:t>
            </a:r>
          </a:p>
        </p:txBody>
      </p:sp>
      <p:sp>
        <p:nvSpPr>
          <p:cNvPr id="16" name="s44_supplement_15">
            <a:extLst xmlns:a="http://schemas.openxmlformats.org/drawingml/2006/main">
              <a:ext uri="{FF2B5EF4-FFF2-40B4-BE49-F238E27FC236}">
                <a16:creationId xmlns:a16="http://schemas.microsoft.com/office/drawing/2014/main" id="{AAA0C5DD-BBF7-49C3-A2FF-A09BBCBAD811}"/>
              </a:ext>
            </a:extLst>
          </p:cNvPr>
          <p:cNvSpPr>
            <a:spLocks xmlns:a="http://schemas.openxmlformats.org/drawingml/2006/main" noGrp="1"/>
          </p:cNvSpPr>
          <p:nvPr/>
        </p:nvSpPr>
        <p:spPr>
          <a:xfrm xmlns:a="http://schemas.openxmlformats.org/drawingml/2006/main">
            <a:off x="3154680" y="4639246"/>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미탐지, 오인접촉, 권리 제한, 비용·감독 중 남는 부담을 적는다.</a:t>
            </a:r>
          </a:p>
        </p:txBody>
      </p:sp>
      <p:sp>
        <p:nvSpPr>
          <p:cNvPr id="17" name="">
            <a:extLst xmlns:a="http://schemas.openxmlformats.org/drawingml/2006/main">
              <a:ext uri="{FF2B5EF4-FFF2-40B4-BE49-F238E27FC236}">
                <a16:creationId xmlns:a16="http://schemas.microsoft.com/office/drawing/2014/main" id="{92D19C54-319A-4EE1-97F2-F3F74A24A8E2}"/>
              </a:ext>
            </a:extLst>
          </p:cNvPr>
          <p:cNvSpPr>
            <a:spLocks xmlns:a="http://schemas.openxmlformats.org/drawingml/2006/main" noGrp="1"/>
          </p:cNvSpPr>
          <p:nvPr/>
        </p:nvSpPr>
        <p:spPr>
          <a:xfrm xmlns:a="http://schemas.openxmlformats.org/drawingml/2006/main">
            <a:off x="731520" y="5122926"/>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8" name="s44_rowlabel_17">
            <a:extLst xmlns:a="http://schemas.openxmlformats.org/drawingml/2006/main">
              <a:ext uri="{FF2B5EF4-FFF2-40B4-BE49-F238E27FC236}">
                <a16:creationId xmlns:a16="http://schemas.microsoft.com/office/drawing/2014/main" id="{32A6F4E5-4DFE-4A3A-968C-A83C88A1397A}"/>
              </a:ext>
            </a:extLst>
          </p:cNvPr>
          <p:cNvSpPr>
            <a:spLocks xmlns:a="http://schemas.openxmlformats.org/drawingml/2006/main" noGrp="1"/>
          </p:cNvSpPr>
          <p:nvPr/>
        </p:nvSpPr>
        <p:spPr>
          <a:xfrm xmlns:a="http://schemas.openxmlformats.org/drawingml/2006/main">
            <a:off x="822960" y="5488432"/>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변경 조건</a:t>
            </a:r>
          </a:p>
        </p:txBody>
      </p:sp>
      <p:sp>
        <p:nvSpPr>
          <p:cNvPr id="19" name="s44_conclusion_18">
            <a:extLst xmlns:a="http://schemas.openxmlformats.org/drawingml/2006/main">
              <a:ext uri="{FF2B5EF4-FFF2-40B4-BE49-F238E27FC236}">
                <a16:creationId xmlns:a16="http://schemas.microsoft.com/office/drawing/2014/main" id="{B999C233-F2CD-4964-ABD0-102D38EA38DE}"/>
              </a:ext>
            </a:extLst>
          </p:cNvPr>
          <p:cNvSpPr>
            <a:spLocks xmlns:a="http://schemas.openxmlformats.org/drawingml/2006/main" noGrp="1"/>
          </p:cNvSpPr>
          <p:nvPr/>
        </p:nvSpPr>
        <p:spPr>
          <a:xfrm xmlns:a="http://schemas.openxmlformats.org/drawingml/2006/main">
            <a:off x="3154680" y="5304981"/>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어떤 새로운 사실이 나오면 판단을 바꿀 것인가?</a:t>
            </a:r>
          </a:p>
        </p:txBody>
      </p:sp>
      <p:sp>
        <p:nvSpPr>
          <p:cNvPr id="20" name="s44_supplement_19">
            <a:extLst xmlns:a="http://schemas.openxmlformats.org/drawingml/2006/main">
              <a:ext uri="{FF2B5EF4-FFF2-40B4-BE49-F238E27FC236}">
                <a16:creationId xmlns:a16="http://schemas.microsoft.com/office/drawing/2014/main" id="{80075723-BB13-4CC2-91EF-B91514A8CEF6}"/>
              </a:ext>
            </a:extLst>
          </p:cNvPr>
          <p:cNvSpPr>
            <a:spLocks xmlns:a="http://schemas.openxmlformats.org/drawingml/2006/main" noGrp="1"/>
          </p:cNvSpPr>
          <p:nvPr/>
        </p:nvSpPr>
        <p:spPr>
          <a:xfrm xmlns:a="http://schemas.openxmlformats.org/drawingml/2006/main">
            <a:off x="3154680" y="5661089"/>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추가 성과·오류·구제·감사 결과 중 판단을 바꿀 지표와 방향을 정한다.</a:t>
            </a:r>
          </a:p>
        </p:txBody>
      </p:sp>
      <p:sp>
        <p:nvSpPr>
          <p:cNvPr id="21" name="">
            <a:extLst xmlns:a="http://schemas.openxmlformats.org/drawingml/2006/main">
              <a:ext uri="{FF2B5EF4-FFF2-40B4-BE49-F238E27FC236}">
                <a16:creationId xmlns:a16="http://schemas.microsoft.com/office/drawing/2014/main" id="{882E3D3C-C750-47D4-94C5-B6BD34744855}"/>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1584806845"/>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45_body_0">
            <a:extLst xmlns:a="http://schemas.openxmlformats.org/drawingml/2006/main">
              <a:ext uri="{FF2B5EF4-FFF2-40B4-BE49-F238E27FC236}">
                <a16:creationId xmlns:a16="http://schemas.microsoft.com/office/drawing/2014/main" id="{3AF622EA-59BB-48EA-99D2-6E647C4BAA72}"/>
              </a:ext>
            </a:extLst>
          </p:cNvPr>
          <p:cNvSpPr>
            <a:spLocks xmlns:a="http://schemas.openxmlformats.org/drawingml/2006/main" noGrp="1"/>
          </p:cNvSpPr>
          <p:nvPr/>
        </p:nvSpPr>
        <p:spPr>
          <a:xfrm xmlns:a="http://schemas.openxmlformats.org/drawingml/2006/main">
            <a:off x="731520" y="502920"/>
            <a:ext cx="91440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464D5C"/>
                </a:solidFill>
                <a:latin typeface="Pretendard"/>
                <a:ea typeface="Pretendard"/>
                <a:cs typeface="Pretendard"/>
              </a:defRPr>
              <a:spcBef>
                <a:spcPts val="0"/>
              </a:spcBef>
              <a:spcAft>
                <a:spcPts val="0"/>
              </a:spcAft>
            </a:pPr>
            <a:r>
              <a:rPr sz="1300" b="1">
                <a:solidFill>
                  <a:srgbClr val="464D5C"/>
                </a:solidFill>
                <a:latin typeface="Pretendard"/>
                <a:ea typeface="Pretendard"/>
                <a:cs typeface="Pretendard"/>
              </a:rPr>
              <a:t>범죄·공공안전세미나Ⅱ</a:t>
            </a:r>
          </a:p>
        </p:txBody>
      </p:sp>
      <p:sp>
        <p:nvSpPr>
          <p:cNvPr id="2" name="s45_body_1">
            <a:extLst xmlns:a="http://schemas.openxmlformats.org/drawingml/2006/main">
              <a:ext uri="{FF2B5EF4-FFF2-40B4-BE49-F238E27FC236}">
                <a16:creationId xmlns:a16="http://schemas.microsoft.com/office/drawing/2014/main" id="{B6255BE8-2976-402E-9F7A-598B55CD4DE5}"/>
              </a:ext>
            </a:extLst>
          </p:cNvPr>
          <p:cNvSpPr>
            <a:spLocks xmlns:a="http://schemas.openxmlformats.org/drawingml/2006/main" noGrp="1"/>
          </p:cNvSpPr>
          <p:nvPr/>
        </p:nvSpPr>
        <p:spPr>
          <a:xfrm xmlns:a="http://schemas.openxmlformats.org/drawingml/2006/main">
            <a:off x="731520" y="1371600"/>
            <a:ext cx="9144000" cy="2900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600" b="1">
                <a:solidFill>
                  <a:srgbClr val="1E2761"/>
                </a:solidFill>
                <a:latin typeface="Pretendard"/>
                <a:ea typeface="Pretendard"/>
                <a:cs typeface="Pretendard"/>
              </a:defRPr>
              <a:spcBef>
                <a:spcPts val="0"/>
              </a:spcBef>
              <a:spcAft>
                <a:spcPts val="0"/>
              </a:spcAft>
            </a:pPr>
            <a:r>
              <a:rPr sz="1600" b="1">
                <a:solidFill>
                  <a:srgbClr val="1E2761"/>
                </a:solidFill>
                <a:latin typeface="Pretendard"/>
                <a:ea typeface="Pretendard"/>
                <a:cs typeface="Pretendard"/>
              </a:rPr>
              <a:t>질문에 따라 선택하는 자료</a:t>
            </a:r>
          </a:p>
        </p:txBody>
      </p:sp>
      <p:sp>
        <p:nvSpPr>
          <p:cNvPr id="3" name="s45_body_2">
            <a:extLst xmlns:a="http://schemas.openxmlformats.org/drawingml/2006/main">
              <a:ext uri="{FF2B5EF4-FFF2-40B4-BE49-F238E27FC236}">
                <a16:creationId xmlns:a16="http://schemas.microsoft.com/office/drawing/2014/main" id="{5695E41C-CBEA-4E34-9867-FEA72502BD2A}"/>
              </a:ext>
            </a:extLst>
          </p:cNvPr>
          <p:cNvSpPr>
            <a:spLocks xmlns:a="http://schemas.openxmlformats.org/drawingml/2006/main" noGrp="1"/>
          </p:cNvSpPr>
          <p:nvPr/>
        </p:nvSpPr>
        <p:spPr>
          <a:xfrm xmlns:a="http://schemas.openxmlformats.org/drawingml/2006/main">
            <a:off x="731520" y="1828800"/>
            <a:ext cx="10725912" cy="5598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3400" b="1">
                <a:solidFill>
                  <a:srgbClr val="1E2761"/>
                </a:solidFill>
                <a:latin typeface="Pretendard"/>
                <a:ea typeface="Pretendard"/>
                <a:cs typeface="Pretendard"/>
              </a:defRPr>
              <a:spcBef>
                <a:spcPts val="0"/>
              </a:spcBef>
              <a:spcAft>
                <a:spcPts val="0"/>
              </a:spcAft>
            </a:pPr>
            <a:r>
              <a:rPr sz="3400" b="1">
                <a:solidFill>
                  <a:srgbClr val="1E2761"/>
                </a:solidFill>
                <a:latin typeface="Pretendard"/>
                <a:ea typeface="Pretendard"/>
                <a:cs typeface="Pretendard"/>
              </a:rPr>
              <a:t>보충 자료</a:t>
            </a:r>
          </a:p>
        </p:txBody>
      </p:sp>
      <p:sp>
        <p:nvSpPr>
          <p:cNvPr id="4" name="">
            <a:extLst xmlns:a="http://schemas.openxmlformats.org/drawingml/2006/main">
              <a:ext uri="{FF2B5EF4-FFF2-40B4-BE49-F238E27FC236}">
                <a16:creationId xmlns:a16="http://schemas.microsoft.com/office/drawing/2014/main" id="{B6C845BF-5DE1-48FB-A25C-158BF8512095}"/>
              </a:ext>
            </a:extLst>
          </p:cNvPr>
          <p:cNvSpPr>
            <a:spLocks xmlns:a="http://schemas.openxmlformats.org/drawingml/2006/main" noGrp="1"/>
          </p:cNvSpPr>
          <p:nvPr/>
        </p:nvSpPr>
        <p:spPr>
          <a:xfrm xmlns:a="http://schemas.openxmlformats.org/drawingml/2006/main">
            <a:off x="731520" y="285292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5" name="s45_body_4">
            <a:extLst xmlns:a="http://schemas.openxmlformats.org/drawingml/2006/main">
              <a:ext uri="{FF2B5EF4-FFF2-40B4-BE49-F238E27FC236}">
                <a16:creationId xmlns:a16="http://schemas.microsoft.com/office/drawing/2014/main" id="{F2559EAF-DD53-4579-949C-D0B9BD491870}"/>
              </a:ext>
            </a:extLst>
          </p:cNvPr>
          <p:cNvSpPr>
            <a:spLocks xmlns:a="http://schemas.openxmlformats.org/drawingml/2006/main" noGrp="1"/>
          </p:cNvSpPr>
          <p:nvPr/>
        </p:nvSpPr>
        <p:spPr>
          <a:xfrm xmlns:a="http://schemas.openxmlformats.org/drawingml/2006/main">
            <a:off x="731520" y="3081528"/>
            <a:ext cx="19202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기술과 일상</a:t>
            </a:r>
          </a:p>
        </p:txBody>
      </p:sp>
      <p:sp>
        <p:nvSpPr>
          <p:cNvPr id="6" name="s45_body_5">
            <a:extLst xmlns:a="http://schemas.openxmlformats.org/drawingml/2006/main">
              <a:ext uri="{FF2B5EF4-FFF2-40B4-BE49-F238E27FC236}">
                <a16:creationId xmlns:a16="http://schemas.microsoft.com/office/drawing/2014/main" id="{52D69241-D1BC-460F-A83D-5A14AEE153BE}"/>
              </a:ext>
            </a:extLst>
          </p:cNvPr>
          <p:cNvSpPr>
            <a:spLocks xmlns:a="http://schemas.openxmlformats.org/drawingml/2006/main" noGrp="1"/>
          </p:cNvSpPr>
          <p:nvPr/>
        </p:nvSpPr>
        <p:spPr>
          <a:xfrm xmlns:a="http://schemas.openxmlformats.org/drawingml/2006/main">
            <a:off x="2880360" y="3063240"/>
            <a:ext cx="857707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Face ID · 버스 광고 · 공연장 명단</a:t>
            </a:r>
          </a:p>
        </p:txBody>
      </p:sp>
      <p:sp>
        <p:nvSpPr>
          <p:cNvPr id="7" name="">
            <a:extLst xmlns:a="http://schemas.openxmlformats.org/drawingml/2006/main">
              <a:ext uri="{FF2B5EF4-FFF2-40B4-BE49-F238E27FC236}">
                <a16:creationId xmlns:a16="http://schemas.microsoft.com/office/drawing/2014/main" id="{C76411D3-EF1C-4C74-913B-8B4F1A5620C0}"/>
              </a:ext>
            </a:extLst>
          </p:cNvPr>
          <p:cNvSpPr>
            <a:spLocks xmlns:a="http://schemas.openxmlformats.org/drawingml/2006/main" noGrp="1"/>
          </p:cNvSpPr>
          <p:nvPr/>
        </p:nvSpPr>
        <p:spPr>
          <a:xfrm xmlns:a="http://schemas.openxmlformats.org/drawingml/2006/main">
            <a:off x="731520" y="381304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8" name="s45_body_7">
            <a:extLst xmlns:a="http://schemas.openxmlformats.org/drawingml/2006/main">
              <a:ext uri="{FF2B5EF4-FFF2-40B4-BE49-F238E27FC236}">
                <a16:creationId xmlns:a16="http://schemas.microsoft.com/office/drawing/2014/main" id="{F8F1FFFD-70CF-41B8-B8DE-AF34F83219CE}"/>
              </a:ext>
            </a:extLst>
          </p:cNvPr>
          <p:cNvSpPr>
            <a:spLocks xmlns:a="http://schemas.openxmlformats.org/drawingml/2006/main" noGrp="1"/>
          </p:cNvSpPr>
          <p:nvPr/>
        </p:nvSpPr>
        <p:spPr>
          <a:xfrm xmlns:a="http://schemas.openxmlformats.org/drawingml/2006/main">
            <a:off x="731520" y="4041648"/>
            <a:ext cx="19202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연구와 국내 제도</a:t>
            </a:r>
          </a:p>
        </p:txBody>
      </p:sp>
      <p:sp>
        <p:nvSpPr>
          <p:cNvPr id="9" name="s45_body_8">
            <a:extLst xmlns:a="http://schemas.openxmlformats.org/drawingml/2006/main">
              <a:ext uri="{FF2B5EF4-FFF2-40B4-BE49-F238E27FC236}">
                <a16:creationId xmlns:a16="http://schemas.microsoft.com/office/drawing/2014/main" id="{11312BD3-99E1-4165-9456-0F89D3AD9C8D}"/>
              </a:ext>
            </a:extLst>
          </p:cNvPr>
          <p:cNvSpPr>
            <a:spLocks xmlns:a="http://schemas.openxmlformats.org/drawingml/2006/main" noGrp="1"/>
          </p:cNvSpPr>
          <p:nvPr/>
        </p:nvSpPr>
        <p:spPr>
          <a:xfrm xmlns:a="http://schemas.openxmlformats.org/drawingml/2006/main">
            <a:off x="2880360" y="4023360"/>
            <a:ext cx="857707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사람·알고리즘 결합 · 출입국 AI · 광역 검색 · 관제요원 평가</a:t>
            </a:r>
          </a:p>
        </p:txBody>
      </p:sp>
      <p:sp>
        <p:nvSpPr>
          <p:cNvPr id="10" name="">
            <a:extLst xmlns:a="http://schemas.openxmlformats.org/drawingml/2006/main">
              <a:ext uri="{FF2B5EF4-FFF2-40B4-BE49-F238E27FC236}">
                <a16:creationId xmlns:a16="http://schemas.microsoft.com/office/drawing/2014/main" id="{3C678B80-5F57-4A8B-8837-160DD2F5898F}"/>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1362682455"/>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46_kicker_0">
            <a:extLst xmlns:a="http://schemas.openxmlformats.org/drawingml/2006/main">
              <a:ext uri="{FF2B5EF4-FFF2-40B4-BE49-F238E27FC236}">
                <a16:creationId xmlns:a16="http://schemas.microsoft.com/office/drawing/2014/main" id="{451C7737-4E7E-4B5B-805D-DBFE63C60BBF}"/>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보충 자료</a:t>
            </a:r>
          </a:p>
        </p:txBody>
      </p:sp>
      <p:sp>
        <p:nvSpPr>
          <p:cNvPr id="2" name="s46_title_1">
            <a:extLst xmlns:a="http://schemas.openxmlformats.org/drawingml/2006/main">
              <a:ext uri="{FF2B5EF4-FFF2-40B4-BE49-F238E27FC236}">
                <a16:creationId xmlns:a16="http://schemas.microsoft.com/office/drawing/2014/main" id="{FEF4B891-2B88-4AFF-8349-9EB30B1D2B2D}"/>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Face ID와 거리의 1:N 검색</a:t>
            </a:r>
          </a:p>
        </p:txBody>
      </p:sp>
      <p:sp>
        <p:nvSpPr>
          <p:cNvPr id="3" name="">
            <a:extLst xmlns:a="http://schemas.openxmlformats.org/drawingml/2006/main">
              <a:ext uri="{FF2B5EF4-FFF2-40B4-BE49-F238E27FC236}">
                <a16:creationId xmlns:a16="http://schemas.microsoft.com/office/drawing/2014/main" id="{E5E4B50B-91BF-4982-AB70-84A61A4818CE}"/>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4" name="s46_band_3">
            <a:extLst xmlns:a="http://schemas.openxmlformats.org/drawingml/2006/main">
              <a:ext uri="{FF2B5EF4-FFF2-40B4-BE49-F238E27FC236}">
                <a16:creationId xmlns:a16="http://schemas.microsoft.com/office/drawing/2014/main" id="{198D43EA-E3C0-432D-B117-7E9102293C64}"/>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Apple은 2017년 iPhone X에 Face ID를 도입했다.</a:t>
            </a:r>
          </a:p>
        </p:txBody>
      </p:sp>
      <p:graphicFrame>
        <p:nvGraphicFramePr>
          <p:cNvPr id="11" name=""/>
          <p:cNvGraphicFramePr/>
          <p:nvPr/>
        </p:nvGraphicFramePr>
        <p:xfrm>
          <a:off xmlns:a="http://schemas.openxmlformats.org/drawingml/2006/main" x="731520" y="2057400"/>
          <a:ext xmlns:a="http://schemas.openxmlformats.org/drawingml/2006/main" cx="10725912" cy="4087368"/>
        </p:xfrm>
        <a:graphic xmlns:a="http://schemas.openxmlformats.org/drawingml/2006/main">
          <a:graphicData uri="http://schemas.openxmlformats.org/drawingml/2006/table">
            <a:tbl>
              <a:tblPr firstRow="0" firstCol="0" bandRow="0" bandCol="0"/>
              <a:tblGrid>
                <a:gridCol w="1417320"/>
                <a:gridCol w="4654296"/>
                <a:gridCol w="4654296"/>
              </a:tblGrid>
              <a:tr h="512064">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항목</a:t>
                      </a:r>
                    </a:p>
                  </a:txBody>
                  <a:tcPr marL="146304" marR="146304" marT="91440" marB="91440" anchor="ctr">
                    <a:solidFill>
                      <a:srgbClr val="F2F4F8"/>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300" b="1">
                          <a:solidFill>
                            <a:srgbClr val="1E2761"/>
                          </a:solidFill>
                          <a:latin typeface="Pretendard"/>
                          <a:ea typeface="Pretendard"/>
                          <a:cs typeface="Pretendard"/>
                        </a:rPr>
                        <a:t>기기 본인 확인</a:t>
                      </a:r>
                    </a:p>
                  </a:txBody>
                  <a:tcPr marL="146304" marR="146304" marT="91440" marB="91440" anchor="ctr">
                    <a:solidFill>
                      <a:srgbClr val="F2F4F8"/>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300" b="1">
                          <a:solidFill>
                            <a:srgbClr val="1E2761"/>
                          </a:solidFill>
                          <a:latin typeface="Pretendard"/>
                          <a:ea typeface="Pretendard"/>
                          <a:cs typeface="Pretendard"/>
                        </a:rPr>
                        <a:t>거리의 명단 검색</a:t>
                      </a:r>
                    </a:p>
                  </a:txBody>
                  <a:tcPr marL="146304" marR="146304" marT="91440" marB="91440" anchor="ctr">
                    <a:solidFill>
                      <a:srgbClr val="F2F4F8"/>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r h="1191768">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질문</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지금 사용자가 등록된 본인인가?</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통행인이 명단 속 누구와 닮았는가?</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r h="1191768">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대조 범위</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기기에 등록한 얼굴과 제시된 얼굴을 확인한다.</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여러 등록 얼굴과 카메라에 들어온 얼굴을 대조한다.</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r h="1191768">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운영 관계</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이용자가 기기를 바라보고 잠금 해제를 시도한다.</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거리의 카메라 앞을 지나는 사람이 분석 대상에 들어온다.</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7F15814C-9BF5-436C-A0ED-37ABDDE5BEA4}"/>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1618449373"/>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47_kicker_0">
            <a:extLst xmlns:a="http://schemas.openxmlformats.org/drawingml/2006/main">
              <a:ext uri="{FF2B5EF4-FFF2-40B4-BE49-F238E27FC236}">
                <a16:creationId xmlns:a16="http://schemas.microsoft.com/office/drawing/2014/main" id="{1C262F32-04A2-4CD6-8C17-0B47261B6B9D}"/>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보충 자료</a:t>
            </a:r>
          </a:p>
        </p:txBody>
      </p:sp>
      <p:sp>
        <p:nvSpPr>
          <p:cNvPr id="2" name="s47_title_1">
            <a:extLst xmlns:a="http://schemas.openxmlformats.org/drawingml/2006/main">
              <a:ext uri="{FF2B5EF4-FFF2-40B4-BE49-F238E27FC236}">
                <a16:creationId xmlns:a16="http://schemas.microsoft.com/office/drawing/2014/main" id="{6D743D74-F44B-4D81-A0E2-83D54D0F8D54}"/>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버스 광고가 보행자로 잡힌 날</a:t>
            </a:r>
          </a:p>
        </p:txBody>
      </p:sp>
      <p:sp>
        <p:nvSpPr>
          <p:cNvPr id="3" name="">
            <a:extLst xmlns:a="http://schemas.openxmlformats.org/drawingml/2006/main">
              <a:ext uri="{FF2B5EF4-FFF2-40B4-BE49-F238E27FC236}">
                <a16:creationId xmlns:a16="http://schemas.microsoft.com/office/drawing/2014/main" id="{0D2F26ED-B752-4BD7-96AE-1ADB9C20B2C2}"/>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4" name="s47_band_3">
            <a:extLst xmlns:a="http://schemas.openxmlformats.org/drawingml/2006/main">
              <a:ext uri="{FF2B5EF4-FFF2-40B4-BE49-F238E27FC236}">
                <a16:creationId xmlns:a16="http://schemas.microsoft.com/office/drawing/2014/main" id="{DDCF4459-EEC4-4624-B746-A74F2F2FC9FE}"/>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2018년 11월 21일 중국 닝보 · 현지 보도와 경찰 설명</a:t>
            </a:r>
          </a:p>
        </p:txBody>
      </p:sp>
      <p:sp>
        <p:nvSpPr>
          <p:cNvPr id="5" name="">
            <a:extLst xmlns:a="http://schemas.openxmlformats.org/drawingml/2006/main">
              <a:ext uri="{FF2B5EF4-FFF2-40B4-BE49-F238E27FC236}">
                <a16:creationId xmlns:a16="http://schemas.microsoft.com/office/drawing/2014/main" id="{771E7A96-1D60-43CA-AEE6-E1A0A33755EA}"/>
              </a:ext>
            </a:extLst>
          </p:cNvPr>
          <p:cNvSpPr>
            <a:spLocks xmlns:a="http://schemas.openxmlformats.org/drawingml/2006/main" noGrp="1"/>
          </p:cNvSpPr>
          <p:nvPr/>
        </p:nvSpPr>
        <p:spPr>
          <a:xfrm xmlns:a="http://schemas.openxmlformats.org/drawingml/2006/main">
            <a:off x="731520" y="2057400"/>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6" name="s47_rowlabel_5">
            <a:extLst xmlns:a="http://schemas.openxmlformats.org/drawingml/2006/main">
              <a:ext uri="{FF2B5EF4-FFF2-40B4-BE49-F238E27FC236}">
                <a16:creationId xmlns:a16="http://schemas.microsoft.com/office/drawing/2014/main" id="{EF109E66-84A7-451E-8369-315A7ED85A9D}"/>
              </a:ext>
            </a:extLst>
          </p:cNvPr>
          <p:cNvSpPr>
            <a:spLocks xmlns:a="http://schemas.openxmlformats.org/drawingml/2006/main" noGrp="1"/>
          </p:cNvSpPr>
          <p:nvPr/>
        </p:nvSpPr>
        <p:spPr>
          <a:xfrm xmlns:a="http://schemas.openxmlformats.org/drawingml/2006/main">
            <a:off x="822960" y="2593213"/>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발생</a:t>
            </a:r>
          </a:p>
        </p:txBody>
      </p:sp>
      <p:sp>
        <p:nvSpPr>
          <p:cNvPr id="7" name="s47_conclusion_6">
            <a:extLst xmlns:a="http://schemas.openxmlformats.org/drawingml/2006/main">
              <a:ext uri="{FF2B5EF4-FFF2-40B4-BE49-F238E27FC236}">
                <a16:creationId xmlns:a16="http://schemas.microsoft.com/office/drawing/2014/main" id="{F21A3270-585E-4A55-836A-C14B906DEACC}"/>
              </a:ext>
            </a:extLst>
          </p:cNvPr>
          <p:cNvSpPr>
            <a:spLocks xmlns:a="http://schemas.openxmlformats.org/drawingml/2006/main" noGrp="1"/>
          </p:cNvSpPr>
          <p:nvPr/>
        </p:nvSpPr>
        <p:spPr>
          <a:xfrm xmlns:a="http://schemas.openxmlformats.org/drawingml/2006/main">
            <a:off x="3154680" y="2409762"/>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버스 광고 속 얼굴이 무단횡단 전광판에 나타났다.</a:t>
            </a:r>
          </a:p>
        </p:txBody>
      </p:sp>
      <p:sp>
        <p:nvSpPr>
          <p:cNvPr id="8" name="s47_supplement_7">
            <a:extLst xmlns:a="http://schemas.openxmlformats.org/drawingml/2006/main">
              <a:ext uri="{FF2B5EF4-FFF2-40B4-BE49-F238E27FC236}">
                <a16:creationId xmlns:a16="http://schemas.microsoft.com/office/drawing/2014/main" id="{BC24CEE7-E066-480A-A328-295C0BCB46EA}"/>
              </a:ext>
            </a:extLst>
          </p:cNvPr>
          <p:cNvSpPr>
            <a:spLocks xmlns:a="http://schemas.openxmlformats.org/drawingml/2006/main" noGrp="1"/>
          </p:cNvSpPr>
          <p:nvPr/>
        </p:nvSpPr>
        <p:spPr>
          <a:xfrm xmlns:a="http://schemas.openxmlformats.org/drawingml/2006/main">
            <a:off x="3154680" y="2765870"/>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광고에 등장한 기업인 둥밍주의 얼굴 이미지를 시스템이 처리했다.</a:t>
            </a:r>
          </a:p>
        </p:txBody>
      </p:sp>
      <p:sp>
        <p:nvSpPr>
          <p:cNvPr id="9" name="">
            <a:extLst xmlns:a="http://schemas.openxmlformats.org/drawingml/2006/main">
              <a:ext uri="{FF2B5EF4-FFF2-40B4-BE49-F238E27FC236}">
                <a16:creationId xmlns:a16="http://schemas.microsoft.com/office/drawing/2014/main" id="{CA76B7FD-071A-4E6F-8BF2-CE34A97905E4}"/>
              </a:ext>
            </a:extLst>
          </p:cNvPr>
          <p:cNvSpPr>
            <a:spLocks xmlns:a="http://schemas.openxmlformats.org/drawingml/2006/main" noGrp="1"/>
          </p:cNvSpPr>
          <p:nvPr/>
        </p:nvSpPr>
        <p:spPr>
          <a:xfrm xmlns:a="http://schemas.openxmlformats.org/drawingml/2006/main">
            <a:off x="731520" y="3419856"/>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0" name="s47_rowlabel_9">
            <a:extLst xmlns:a="http://schemas.openxmlformats.org/drawingml/2006/main">
              <a:ext uri="{FF2B5EF4-FFF2-40B4-BE49-F238E27FC236}">
                <a16:creationId xmlns:a16="http://schemas.microsoft.com/office/drawing/2014/main" id="{9CA8E53A-F38B-4461-88FC-E90C3DDFF2E8}"/>
              </a:ext>
            </a:extLst>
          </p:cNvPr>
          <p:cNvSpPr>
            <a:spLocks xmlns:a="http://schemas.openxmlformats.org/drawingml/2006/main" noGrp="1"/>
          </p:cNvSpPr>
          <p:nvPr/>
        </p:nvSpPr>
        <p:spPr>
          <a:xfrm xmlns:a="http://schemas.openxmlformats.org/drawingml/2006/main">
            <a:off x="822960" y="3955669"/>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조치</a:t>
            </a:r>
          </a:p>
        </p:txBody>
      </p:sp>
      <p:sp>
        <p:nvSpPr>
          <p:cNvPr id="11" name="s47_conclusion_10">
            <a:extLst xmlns:a="http://schemas.openxmlformats.org/drawingml/2006/main">
              <a:ext uri="{FF2B5EF4-FFF2-40B4-BE49-F238E27FC236}">
                <a16:creationId xmlns:a16="http://schemas.microsoft.com/office/drawing/2014/main" id="{E05BF934-F909-4E59-A049-645764518090}"/>
              </a:ext>
            </a:extLst>
          </p:cNvPr>
          <p:cNvSpPr>
            <a:spLocks xmlns:a="http://schemas.openxmlformats.org/drawingml/2006/main" noGrp="1"/>
          </p:cNvSpPr>
          <p:nvPr/>
        </p:nvSpPr>
        <p:spPr>
          <a:xfrm xmlns:a="http://schemas.openxmlformats.org/drawingml/2006/main">
            <a:off x="3154680" y="3772218"/>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경찰은 오류를 확인하고 표시를 삭제했다.</a:t>
            </a:r>
          </a:p>
        </p:txBody>
      </p:sp>
      <p:sp>
        <p:nvSpPr>
          <p:cNvPr id="12" name="s47_supplement_11">
            <a:extLst xmlns:a="http://schemas.openxmlformats.org/drawingml/2006/main">
              <a:ext uri="{FF2B5EF4-FFF2-40B4-BE49-F238E27FC236}">
                <a16:creationId xmlns:a16="http://schemas.microsoft.com/office/drawing/2014/main" id="{9C35552C-8E52-4F46-8317-E8D207435A4B}"/>
              </a:ext>
            </a:extLst>
          </p:cNvPr>
          <p:cNvSpPr>
            <a:spLocks xmlns:a="http://schemas.openxmlformats.org/drawingml/2006/main" noGrp="1"/>
          </p:cNvSpPr>
          <p:nvPr/>
        </p:nvSpPr>
        <p:spPr>
          <a:xfrm xmlns:a="http://schemas.openxmlformats.org/drawingml/2006/main">
            <a:off x="3154680" y="4128326"/>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보도는 버스에 실린 인쇄 이미지가 보행자 행위와 연결된 상황을 전했다.</a:t>
            </a:r>
          </a:p>
        </p:txBody>
      </p:sp>
      <p:sp>
        <p:nvSpPr>
          <p:cNvPr id="13" name="">
            <a:extLst xmlns:a="http://schemas.openxmlformats.org/drawingml/2006/main">
              <a:ext uri="{FF2B5EF4-FFF2-40B4-BE49-F238E27FC236}">
                <a16:creationId xmlns:a16="http://schemas.microsoft.com/office/drawing/2014/main" id="{F59C59E2-F8BD-4EE1-AF5C-5997F5849E38}"/>
              </a:ext>
            </a:extLst>
          </p:cNvPr>
          <p:cNvSpPr>
            <a:spLocks xmlns:a="http://schemas.openxmlformats.org/drawingml/2006/main" noGrp="1"/>
          </p:cNvSpPr>
          <p:nvPr/>
        </p:nvSpPr>
        <p:spPr>
          <a:xfrm xmlns:a="http://schemas.openxmlformats.org/drawingml/2006/main">
            <a:off x="731520" y="4782312"/>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4" name="s47_rowlabel_13">
            <a:extLst xmlns:a="http://schemas.openxmlformats.org/drawingml/2006/main">
              <a:ext uri="{FF2B5EF4-FFF2-40B4-BE49-F238E27FC236}">
                <a16:creationId xmlns:a16="http://schemas.microsoft.com/office/drawing/2014/main" id="{19AF5FB4-2C9C-4D73-85CB-0152EB392641}"/>
              </a:ext>
            </a:extLst>
          </p:cNvPr>
          <p:cNvSpPr>
            <a:spLocks xmlns:a="http://schemas.openxmlformats.org/drawingml/2006/main" noGrp="1"/>
          </p:cNvSpPr>
          <p:nvPr/>
        </p:nvSpPr>
        <p:spPr>
          <a:xfrm xmlns:a="http://schemas.openxmlformats.org/drawingml/2006/main">
            <a:off x="822960" y="5318125"/>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판단 질문</a:t>
            </a:r>
          </a:p>
        </p:txBody>
      </p:sp>
      <p:sp>
        <p:nvSpPr>
          <p:cNvPr id="15" name="s47_conclusion_14">
            <a:extLst xmlns:a="http://schemas.openxmlformats.org/drawingml/2006/main">
              <a:ext uri="{FF2B5EF4-FFF2-40B4-BE49-F238E27FC236}">
                <a16:creationId xmlns:a16="http://schemas.microsoft.com/office/drawing/2014/main" id="{A825E045-D720-42C8-B521-063C659F1C8B}"/>
              </a:ext>
            </a:extLst>
          </p:cNvPr>
          <p:cNvSpPr>
            <a:spLocks xmlns:a="http://schemas.openxmlformats.org/drawingml/2006/main" noGrp="1"/>
          </p:cNvSpPr>
          <p:nvPr/>
        </p:nvSpPr>
        <p:spPr>
          <a:xfrm xmlns:a="http://schemas.openxmlformats.org/drawingml/2006/main">
            <a:off x="3154680" y="5134674"/>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얼굴과 실제 행동의 주체를 연결해야 한다.</a:t>
            </a:r>
          </a:p>
        </p:txBody>
      </p:sp>
      <p:sp>
        <p:nvSpPr>
          <p:cNvPr id="16" name="s47_supplement_15">
            <a:extLst xmlns:a="http://schemas.openxmlformats.org/drawingml/2006/main">
              <a:ext uri="{FF2B5EF4-FFF2-40B4-BE49-F238E27FC236}">
                <a16:creationId xmlns:a16="http://schemas.microsoft.com/office/drawing/2014/main" id="{923B9C11-C6F8-4DB8-AF99-3CCC4DF97695}"/>
              </a:ext>
            </a:extLst>
          </p:cNvPr>
          <p:cNvSpPr>
            <a:spLocks xmlns:a="http://schemas.openxmlformats.org/drawingml/2006/main" noGrp="1"/>
          </p:cNvSpPr>
          <p:nvPr/>
        </p:nvSpPr>
        <p:spPr>
          <a:xfrm xmlns:a="http://schemas.openxmlformats.org/drawingml/2006/main">
            <a:off x="3154680" y="5490782"/>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이미지에 나타난 사람, 현장에 있는 사람, 신호를 위반한 행위자가 같은지 확인한다.</a:t>
            </a:r>
          </a:p>
        </p:txBody>
      </p:sp>
      <p:sp>
        <p:nvSpPr>
          <p:cNvPr id="17" name="">
            <a:extLst xmlns:a="http://schemas.openxmlformats.org/drawingml/2006/main">
              <a:ext uri="{FF2B5EF4-FFF2-40B4-BE49-F238E27FC236}">
                <a16:creationId xmlns:a16="http://schemas.microsoft.com/office/drawing/2014/main" id="{99066B05-DF07-4730-A4CA-4C25EAC919F9}"/>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123902060"/>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48_kicker_0">
            <a:extLst xmlns:a="http://schemas.openxmlformats.org/drawingml/2006/main">
              <a:ext uri="{FF2B5EF4-FFF2-40B4-BE49-F238E27FC236}">
                <a16:creationId xmlns:a16="http://schemas.microsoft.com/office/drawing/2014/main" id="{EE60D18C-60BB-4451-8AD9-678242848A95}"/>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보충 자료</a:t>
            </a:r>
          </a:p>
        </p:txBody>
      </p:sp>
      <p:sp>
        <p:nvSpPr>
          <p:cNvPr id="2" name="s48_title_1">
            <a:extLst xmlns:a="http://schemas.openxmlformats.org/drawingml/2006/main">
              <a:ext uri="{FF2B5EF4-FFF2-40B4-BE49-F238E27FC236}">
                <a16:creationId xmlns:a16="http://schemas.microsoft.com/office/drawing/2014/main" id="{8D922A1B-B0C3-4294-915D-BCC6B8293E53}"/>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공연장 출입을 막은 검색 명단</a:t>
            </a:r>
          </a:p>
        </p:txBody>
      </p:sp>
      <p:sp>
        <p:nvSpPr>
          <p:cNvPr id="3" name="">
            <a:extLst xmlns:a="http://schemas.openxmlformats.org/drawingml/2006/main">
              <a:ext uri="{FF2B5EF4-FFF2-40B4-BE49-F238E27FC236}">
                <a16:creationId xmlns:a16="http://schemas.microsoft.com/office/drawing/2014/main" id="{28C641EF-F7DB-445D-9F26-E34FBF599F94}"/>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4" name="s48_band_3">
            <a:extLst xmlns:a="http://schemas.openxmlformats.org/drawingml/2006/main">
              <a:ext uri="{FF2B5EF4-FFF2-40B4-BE49-F238E27FC236}">
                <a16:creationId xmlns:a16="http://schemas.microsoft.com/office/drawing/2014/main" id="{EE110F92-A38B-4ED0-8827-8043FF813CBE}"/>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미국 Madison Square Garden 계열 공연장 · 뉴욕주 법무장관의 2023년 조사 요청</a:t>
            </a:r>
          </a:p>
        </p:txBody>
      </p:sp>
      <p:sp>
        <p:nvSpPr>
          <p:cNvPr id="5" name="">
            <a:extLst xmlns:a="http://schemas.openxmlformats.org/drawingml/2006/main">
              <a:ext uri="{FF2B5EF4-FFF2-40B4-BE49-F238E27FC236}">
                <a16:creationId xmlns:a16="http://schemas.microsoft.com/office/drawing/2014/main" id="{42E877B0-0112-48A8-86CB-426778B2121A}"/>
              </a:ext>
            </a:extLst>
          </p:cNvPr>
          <p:cNvSpPr>
            <a:spLocks xmlns:a="http://schemas.openxmlformats.org/drawingml/2006/main" noGrp="1"/>
          </p:cNvSpPr>
          <p:nvPr/>
        </p:nvSpPr>
        <p:spPr>
          <a:xfrm xmlns:a="http://schemas.openxmlformats.org/drawingml/2006/main">
            <a:off x="731520" y="2057400"/>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6" name="s48_rowlabel_5">
            <a:extLst xmlns:a="http://schemas.openxmlformats.org/drawingml/2006/main">
              <a:ext uri="{FF2B5EF4-FFF2-40B4-BE49-F238E27FC236}">
                <a16:creationId xmlns:a16="http://schemas.microsoft.com/office/drawing/2014/main" id="{DD98AF38-BBB7-42BC-A7CE-B5DCC2084633}"/>
              </a:ext>
            </a:extLst>
          </p:cNvPr>
          <p:cNvSpPr>
            <a:spLocks xmlns:a="http://schemas.openxmlformats.org/drawingml/2006/main" noGrp="1"/>
          </p:cNvSpPr>
          <p:nvPr/>
        </p:nvSpPr>
        <p:spPr>
          <a:xfrm xmlns:a="http://schemas.openxmlformats.org/drawingml/2006/main">
            <a:off x="822960" y="2593213"/>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운영 목적</a:t>
            </a:r>
          </a:p>
        </p:txBody>
      </p:sp>
      <p:sp>
        <p:nvSpPr>
          <p:cNvPr id="7" name="s48_conclusion_6">
            <a:extLst xmlns:a="http://schemas.openxmlformats.org/drawingml/2006/main">
              <a:ext uri="{FF2B5EF4-FFF2-40B4-BE49-F238E27FC236}">
                <a16:creationId xmlns:a16="http://schemas.microsoft.com/office/drawing/2014/main" id="{77A679F8-0E35-42C6-903D-F7BD4156283C}"/>
              </a:ext>
            </a:extLst>
          </p:cNvPr>
          <p:cNvSpPr>
            <a:spLocks xmlns:a="http://schemas.openxmlformats.org/drawingml/2006/main" noGrp="1"/>
          </p:cNvSpPr>
          <p:nvPr/>
        </p:nvSpPr>
        <p:spPr>
          <a:xfrm xmlns:a="http://schemas.openxmlformats.org/drawingml/2006/main">
            <a:off x="3154680" y="2409762"/>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회사를 상대로 소송 중인 로펌의 변호사를 배제했다.</a:t>
            </a:r>
          </a:p>
        </p:txBody>
      </p:sp>
      <p:sp>
        <p:nvSpPr>
          <p:cNvPr id="8" name="s48_supplement_7">
            <a:extLst xmlns:a="http://schemas.openxmlformats.org/drawingml/2006/main">
              <a:ext uri="{FF2B5EF4-FFF2-40B4-BE49-F238E27FC236}">
                <a16:creationId xmlns:a16="http://schemas.microsoft.com/office/drawing/2014/main" id="{EA7EFF09-3A62-4F32-ADBB-7661023A90E2}"/>
              </a:ext>
            </a:extLst>
          </p:cNvPr>
          <p:cNvSpPr>
            <a:spLocks xmlns:a="http://schemas.openxmlformats.org/drawingml/2006/main" noGrp="1"/>
          </p:cNvSpPr>
          <p:nvPr/>
        </p:nvSpPr>
        <p:spPr>
          <a:xfrm xmlns:a="http://schemas.openxmlformats.org/drawingml/2006/main">
            <a:off x="3154680" y="2765870"/>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공연장은 얼굴인식으로 해당 로펌 소속 변호사를 찾아 입장을 제한했다.</a:t>
            </a:r>
          </a:p>
        </p:txBody>
      </p:sp>
      <p:sp>
        <p:nvSpPr>
          <p:cNvPr id="9" name="">
            <a:extLst xmlns:a="http://schemas.openxmlformats.org/drawingml/2006/main">
              <a:ext uri="{FF2B5EF4-FFF2-40B4-BE49-F238E27FC236}">
                <a16:creationId xmlns:a16="http://schemas.microsoft.com/office/drawing/2014/main" id="{9C4023FD-A9E5-474B-9D89-12D8E3AA03C1}"/>
              </a:ext>
            </a:extLst>
          </p:cNvPr>
          <p:cNvSpPr>
            <a:spLocks xmlns:a="http://schemas.openxmlformats.org/drawingml/2006/main" noGrp="1"/>
          </p:cNvSpPr>
          <p:nvPr/>
        </p:nvSpPr>
        <p:spPr>
          <a:xfrm xmlns:a="http://schemas.openxmlformats.org/drawingml/2006/main">
            <a:off x="731520" y="3419856"/>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0" name="s48_rowlabel_9">
            <a:extLst xmlns:a="http://schemas.openxmlformats.org/drawingml/2006/main">
              <a:ext uri="{FF2B5EF4-FFF2-40B4-BE49-F238E27FC236}">
                <a16:creationId xmlns:a16="http://schemas.microsoft.com/office/drawing/2014/main" id="{F9264433-CFED-42A9-8167-DA3524801CB9}"/>
              </a:ext>
            </a:extLst>
          </p:cNvPr>
          <p:cNvSpPr>
            <a:spLocks xmlns:a="http://schemas.openxmlformats.org/drawingml/2006/main" noGrp="1"/>
          </p:cNvSpPr>
          <p:nvPr/>
        </p:nvSpPr>
        <p:spPr>
          <a:xfrm xmlns:a="http://schemas.openxmlformats.org/drawingml/2006/main">
            <a:off x="822960" y="3955669"/>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기관 대응</a:t>
            </a:r>
          </a:p>
        </p:txBody>
      </p:sp>
      <p:sp>
        <p:nvSpPr>
          <p:cNvPr id="11" name="s48_conclusion_10">
            <a:extLst xmlns:a="http://schemas.openxmlformats.org/drawingml/2006/main">
              <a:ext uri="{FF2B5EF4-FFF2-40B4-BE49-F238E27FC236}">
                <a16:creationId xmlns:a16="http://schemas.microsoft.com/office/drawing/2014/main" id="{9D97F0EC-D3C0-4266-85AC-86D10534D44D}"/>
              </a:ext>
            </a:extLst>
          </p:cNvPr>
          <p:cNvSpPr>
            <a:spLocks xmlns:a="http://schemas.openxmlformats.org/drawingml/2006/main" noGrp="1"/>
          </p:cNvSpPr>
          <p:nvPr/>
        </p:nvSpPr>
        <p:spPr>
          <a:xfrm xmlns:a="http://schemas.openxmlformats.org/drawingml/2006/main">
            <a:off x="3154680" y="3772218"/>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뉴욕주 법무장관이 정보 제출을 요구했다.</a:t>
            </a:r>
          </a:p>
        </p:txBody>
      </p:sp>
      <p:sp>
        <p:nvSpPr>
          <p:cNvPr id="12" name="s48_supplement_11">
            <a:extLst xmlns:a="http://schemas.openxmlformats.org/drawingml/2006/main">
              <a:ext uri="{FF2B5EF4-FFF2-40B4-BE49-F238E27FC236}">
                <a16:creationId xmlns:a16="http://schemas.microsoft.com/office/drawing/2014/main" id="{C3874645-EE90-426F-A570-F85DCAFD7C45}"/>
              </a:ext>
            </a:extLst>
          </p:cNvPr>
          <p:cNvSpPr>
            <a:spLocks xmlns:a="http://schemas.openxmlformats.org/drawingml/2006/main" noGrp="1"/>
          </p:cNvSpPr>
          <p:nvPr/>
        </p:nvSpPr>
        <p:spPr>
          <a:xfrm xmlns:a="http://schemas.openxmlformats.org/drawingml/2006/main">
            <a:off x="3154680" y="4128326"/>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2023년 1월 서한은 이 정책의 범위와 정당성 등에 관한 우려를 제기했다.</a:t>
            </a:r>
          </a:p>
        </p:txBody>
      </p:sp>
      <p:sp>
        <p:nvSpPr>
          <p:cNvPr id="13" name="">
            <a:extLst xmlns:a="http://schemas.openxmlformats.org/drawingml/2006/main">
              <a:ext uri="{FF2B5EF4-FFF2-40B4-BE49-F238E27FC236}">
                <a16:creationId xmlns:a16="http://schemas.microsoft.com/office/drawing/2014/main" id="{D6AA94F2-25F7-4A28-BE4A-B5DBF506A03F}"/>
              </a:ext>
            </a:extLst>
          </p:cNvPr>
          <p:cNvSpPr>
            <a:spLocks xmlns:a="http://schemas.openxmlformats.org/drawingml/2006/main" noGrp="1"/>
          </p:cNvSpPr>
          <p:nvPr/>
        </p:nvSpPr>
        <p:spPr>
          <a:xfrm xmlns:a="http://schemas.openxmlformats.org/drawingml/2006/main">
            <a:off x="731520" y="4782312"/>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4" name="s48_rowlabel_13">
            <a:extLst xmlns:a="http://schemas.openxmlformats.org/drawingml/2006/main">
              <a:ext uri="{FF2B5EF4-FFF2-40B4-BE49-F238E27FC236}">
                <a16:creationId xmlns:a16="http://schemas.microsoft.com/office/drawing/2014/main" id="{E90A83FE-443D-4FBC-9CAF-0D34A8E50BDD}"/>
              </a:ext>
            </a:extLst>
          </p:cNvPr>
          <p:cNvSpPr>
            <a:spLocks xmlns:a="http://schemas.openxmlformats.org/drawingml/2006/main" noGrp="1"/>
          </p:cNvSpPr>
          <p:nvPr/>
        </p:nvSpPr>
        <p:spPr>
          <a:xfrm xmlns:a="http://schemas.openxmlformats.org/drawingml/2006/main">
            <a:off x="822960" y="5318125"/>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판단 질문</a:t>
            </a:r>
          </a:p>
        </p:txBody>
      </p:sp>
      <p:sp>
        <p:nvSpPr>
          <p:cNvPr id="15" name="s48_conclusion_14">
            <a:extLst xmlns:a="http://schemas.openxmlformats.org/drawingml/2006/main">
              <a:ext uri="{FF2B5EF4-FFF2-40B4-BE49-F238E27FC236}">
                <a16:creationId xmlns:a16="http://schemas.microsoft.com/office/drawing/2014/main" id="{9B240BA1-1210-4C8F-ADAE-96EE738277A2}"/>
              </a:ext>
            </a:extLst>
          </p:cNvPr>
          <p:cNvSpPr>
            <a:spLocks xmlns:a="http://schemas.openxmlformats.org/drawingml/2006/main" noGrp="1"/>
          </p:cNvSpPr>
          <p:nvPr/>
        </p:nvSpPr>
        <p:spPr>
          <a:xfrm xmlns:a="http://schemas.openxmlformats.org/drawingml/2006/main">
            <a:off x="3154680" y="5134674"/>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정확히 찾더라도 명단의 목적을 심사한다.</a:t>
            </a:r>
          </a:p>
        </p:txBody>
      </p:sp>
      <p:sp>
        <p:nvSpPr>
          <p:cNvPr id="16" name="s48_supplement_15">
            <a:extLst xmlns:a="http://schemas.openxmlformats.org/drawingml/2006/main">
              <a:ext uri="{FF2B5EF4-FFF2-40B4-BE49-F238E27FC236}">
                <a16:creationId xmlns:a16="http://schemas.microsoft.com/office/drawing/2014/main" id="{03D068E4-6F1A-4024-9605-ABC6A3A46F79}"/>
              </a:ext>
            </a:extLst>
          </p:cNvPr>
          <p:cNvSpPr>
            <a:spLocks xmlns:a="http://schemas.openxmlformats.org/drawingml/2006/main" noGrp="1"/>
          </p:cNvSpPr>
          <p:nvPr/>
        </p:nvSpPr>
        <p:spPr>
          <a:xfrm xmlns:a="http://schemas.openxmlformats.org/drawingml/2006/main">
            <a:off x="3154680" y="5490782"/>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누구를 왜 등록하고 어떤 권리를 제한할 수 있는지 검토한다.</a:t>
            </a:r>
          </a:p>
        </p:txBody>
      </p:sp>
      <p:sp>
        <p:nvSpPr>
          <p:cNvPr id="17" name="">
            <a:extLst xmlns:a="http://schemas.openxmlformats.org/drawingml/2006/main">
              <a:ext uri="{FF2B5EF4-FFF2-40B4-BE49-F238E27FC236}">
                <a16:creationId xmlns:a16="http://schemas.microsoft.com/office/drawing/2014/main" id="{0CDA5B60-06E1-4353-B8B6-3713AF3FD03A}"/>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1065843120"/>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49_kicker_0">
            <a:extLst xmlns:a="http://schemas.openxmlformats.org/drawingml/2006/main">
              <a:ext uri="{FF2B5EF4-FFF2-40B4-BE49-F238E27FC236}">
                <a16:creationId xmlns:a16="http://schemas.microsoft.com/office/drawing/2014/main" id="{59788130-93E6-4EAC-9244-D26E368C5763}"/>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보충 자료</a:t>
            </a:r>
          </a:p>
        </p:txBody>
      </p:sp>
      <p:sp>
        <p:nvSpPr>
          <p:cNvPr id="2" name="s49_title_1">
            <a:extLst xmlns:a="http://schemas.openxmlformats.org/drawingml/2006/main">
              <a:ext uri="{FF2B5EF4-FFF2-40B4-BE49-F238E27FC236}">
                <a16:creationId xmlns:a16="http://schemas.microsoft.com/office/drawing/2014/main" id="{20A43026-4E25-4C07-A5C5-308590FF5577}"/>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독립 판단 점수를 결합한 사진 실험</a:t>
            </a:r>
          </a:p>
        </p:txBody>
      </p:sp>
      <p:sp>
        <p:nvSpPr>
          <p:cNvPr id="3" name="">
            <a:extLst xmlns:a="http://schemas.openxmlformats.org/drawingml/2006/main">
              <a:ext uri="{FF2B5EF4-FFF2-40B4-BE49-F238E27FC236}">
                <a16:creationId xmlns:a16="http://schemas.microsoft.com/office/drawing/2014/main" id="{F70E9521-96BD-4AFE-BC52-BD1D98A46875}"/>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4" name="s49_band_3">
            <a:extLst xmlns:a="http://schemas.openxmlformats.org/drawingml/2006/main">
              <a:ext uri="{FF2B5EF4-FFF2-40B4-BE49-F238E27FC236}">
                <a16:creationId xmlns:a16="http://schemas.microsoft.com/office/drawing/2014/main" id="{60608DC3-09DA-4980-9D22-C7839B232E4E}"/>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Phillips 등, 2018년 · 어려운 얼굴 사진 20쌍: 같은 사람 12쌍·다른 사람 8쌍</a:t>
            </a:r>
          </a:p>
        </p:txBody>
      </p:sp>
      <p:graphicFrame>
        <p:nvGraphicFramePr>
          <p:cNvPr id="11" name=""/>
          <p:cNvGraphicFramePr/>
          <p:nvPr/>
        </p:nvGraphicFramePr>
        <p:xfrm>
          <a:off xmlns:a="http://schemas.openxmlformats.org/drawingml/2006/main" x="731520" y="2057400"/>
          <a:ext xmlns:a="http://schemas.openxmlformats.org/drawingml/2006/main" cx="10725912" cy="4087368"/>
        </p:xfrm>
        <a:graphic xmlns:a="http://schemas.openxmlformats.org/drawingml/2006/main">
          <a:graphicData uri="http://schemas.openxmlformats.org/drawingml/2006/table">
            <a:tbl>
              <a:tblPr firstRow="0" firstCol="0" bandRow="0" bandCol="0"/>
              <a:tblGrid>
                <a:gridCol w="2468880"/>
                <a:gridCol w="8257032"/>
              </a:tblGrid>
              <a:tr h="512064">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구성</a:t>
                      </a:r>
                    </a:p>
                  </a:txBody>
                  <a:tcPr marL="146304" marR="146304" marT="91440" marB="91440" anchor="ctr">
                    <a:solidFill>
                      <a:srgbClr val="F2F4F8"/>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300" b="1">
                          <a:solidFill>
                            <a:srgbClr val="1E2761"/>
                          </a:solidFill>
                          <a:latin typeface="Pretendard"/>
                          <a:ea typeface="Pretendard"/>
                          <a:cs typeface="Pretendard"/>
                        </a:rPr>
                        <a:t>실제 활동·결과</a:t>
                      </a:r>
                    </a:p>
                  </a:txBody>
                  <a:tcPr marL="146304" marR="146304" marT="91440" marB="91440" anchor="ctr">
                    <a:solidFill>
                      <a:srgbClr val="F2F4F8"/>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r h="1191768">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사람의 판단</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법과학 얼굴감정 전문가 등이 사진쌍을 독립적으로 평가했다.</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r h="1191768">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알고리즘 판단</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알고리즘도 같은 사진쌍에 대한 유사도 점수를 산출했다.</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r h="1191768">
                <a:tc>
                  <a:txBody>
                    <a:bodyPr wrap="none" lIns="0" rIns="0" tIns="0" bIns="0">
                      <a:noAutofit/>
                    </a:bodyPr>
                    <a:lstStyle/>
                    <a:p>
                      <a:pPr algn="ctr">
                        <a:lnSpc>
                          <a:spcPct val="118000"/>
                        </a:lnSpc>
                        <a:spcBef>
                          <a:spcPts val="0"/>
                        </a:spcBef>
                        <a:spcAft>
                          <a:spcPts val="0"/>
                        </a:spcAft>
                      </a:pPr>
                      <a:r>
                        <a:rPr sz="1300" b="1">
                          <a:solidFill>
                            <a:srgbClr val="1E2761"/>
                          </a:solidFill>
                          <a:latin typeface="Pretendard"/>
                          <a:ea typeface="Pretendard"/>
                          <a:cs typeface="Pretendard"/>
                        </a:rPr>
                        <a:t>결합·결과</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c>
                  <a:txBody>
                    <a:bodyPr wrap="none" lIns="0" rIns="0" tIns="0" bIns="0">
                      <a:noAutofit/>
                    </a:bodyPr>
                    <a:lstStyle/>
                    <a:p>
                      <a:pPr algn="l">
                        <a:lnSpc>
                          <a:spcPct val="118000"/>
                        </a:lnSpc>
                        <a:spcBef>
                          <a:spcPts val="0"/>
                        </a:spcBef>
                        <a:spcAft>
                          <a:spcPts val="0"/>
                        </a:spcAft>
                      </a:pPr>
                      <a:r>
                        <a:rPr sz="1250" b="0">
                          <a:solidFill>
                            <a:srgbClr val="222633"/>
                          </a:solidFill>
                          <a:latin typeface="Pretendard"/>
                          <a:ea typeface="Pretendard"/>
                          <a:cs typeface="Pretendard"/>
                        </a:rPr>
                        <a:t>연구진이 점수의 척도를 맞춰 평균했다. 전문가와 성능이 높은 알고리즘의 결합에서 좋은 정확도가 나타났다.</a:t>
                      </a:r>
                    </a:p>
                  </a:txBody>
                  <a:tcPr marL="146304" marR="146304" marT="91440" marB="91440" anchor="ctr">
                    <a:solidFill>
                      <a:srgbClr val="FFFFFF"/>
                    </a:solidFill>
                    <a:lnL w="7620">
                      <a:solidFill>
                        <a:srgbClr val="DCE0E8"/>
                      </a:solidFill>
                      <a:prstDash val="solid"/>
                    </a:lnL>
                    <a:lnR w="7620">
                      <a:solidFill>
                        <a:srgbClr val="DCE0E8"/>
                      </a:solidFill>
                      <a:prstDash val="solid"/>
                    </a:lnR>
                    <a:lnT w="7620">
                      <a:solidFill>
                        <a:srgbClr val="DCE0E8"/>
                      </a:solidFill>
                      <a:prstDash val="solid"/>
                    </a:lnT>
                    <a:lnB w="7620">
                      <a:solidFill>
                        <a:srgbClr val="DCE0E8"/>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08C84426-5267-4F46-B1AC-BAF8AA995A63}"/>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288836179"/>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50_kicker_0">
            <a:extLst xmlns:a="http://schemas.openxmlformats.org/drawingml/2006/main">
              <a:ext uri="{FF2B5EF4-FFF2-40B4-BE49-F238E27FC236}">
                <a16:creationId xmlns:a16="http://schemas.microsoft.com/office/drawing/2014/main" id="{01D0659D-AF44-4D06-A521-F6AC4E86C2F2}"/>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보충 자료</a:t>
            </a:r>
          </a:p>
        </p:txBody>
      </p:sp>
      <p:sp>
        <p:nvSpPr>
          <p:cNvPr id="2" name="s50_title_1">
            <a:extLst xmlns:a="http://schemas.openxmlformats.org/drawingml/2006/main">
              <a:ext uri="{FF2B5EF4-FFF2-40B4-BE49-F238E27FC236}">
                <a16:creationId xmlns:a16="http://schemas.microsoft.com/office/drawing/2014/main" id="{95DB759B-FBB9-4880-9A3F-DE61FC07AF3B}"/>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출입국 AI 사업의 처리 목적과 위탁</a:t>
            </a:r>
          </a:p>
        </p:txBody>
      </p:sp>
      <p:sp>
        <p:nvSpPr>
          <p:cNvPr id="3" name="">
            <a:extLst xmlns:a="http://schemas.openxmlformats.org/drawingml/2006/main">
              <a:ext uri="{FF2B5EF4-FFF2-40B4-BE49-F238E27FC236}">
                <a16:creationId xmlns:a16="http://schemas.microsoft.com/office/drawing/2014/main" id="{F48EE279-1822-47C0-BBBC-DE98FC17AD13}"/>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4" name="s50_band_3">
            <a:extLst xmlns:a="http://schemas.openxmlformats.org/drawingml/2006/main">
              <a:ext uri="{FF2B5EF4-FFF2-40B4-BE49-F238E27FC236}">
                <a16:creationId xmlns:a16="http://schemas.microsoft.com/office/drawing/2014/main" id="{D916D02C-E491-45D6-A8DF-120C4386B59D}"/>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개인정보보호위원회 2022년 조사결과 · 공식 브리핑</a:t>
            </a:r>
          </a:p>
        </p:txBody>
      </p:sp>
      <p:sp>
        <p:nvSpPr>
          <p:cNvPr id="5" name="">
            <a:extLst xmlns:a="http://schemas.openxmlformats.org/drawingml/2006/main">
              <a:ext uri="{FF2B5EF4-FFF2-40B4-BE49-F238E27FC236}">
                <a16:creationId xmlns:a16="http://schemas.microsoft.com/office/drawing/2014/main" id="{0914BF5F-95B5-4332-B350-061431496EBA}"/>
              </a:ext>
            </a:extLst>
          </p:cNvPr>
          <p:cNvSpPr>
            <a:spLocks xmlns:a="http://schemas.openxmlformats.org/drawingml/2006/main" noGrp="1"/>
          </p:cNvSpPr>
          <p:nvPr/>
        </p:nvSpPr>
        <p:spPr>
          <a:xfrm xmlns:a="http://schemas.openxmlformats.org/drawingml/2006/main">
            <a:off x="731520" y="2057400"/>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6" name="s50_rowlabel_5">
            <a:extLst xmlns:a="http://schemas.openxmlformats.org/drawingml/2006/main">
              <a:ext uri="{FF2B5EF4-FFF2-40B4-BE49-F238E27FC236}">
                <a16:creationId xmlns:a16="http://schemas.microsoft.com/office/drawing/2014/main" id="{CD219B75-85D6-4351-801E-CE3B5A9A40C1}"/>
              </a:ext>
            </a:extLst>
          </p:cNvPr>
          <p:cNvSpPr>
            <a:spLocks xmlns:a="http://schemas.openxmlformats.org/drawingml/2006/main" noGrp="1"/>
          </p:cNvSpPr>
          <p:nvPr/>
        </p:nvSpPr>
        <p:spPr>
          <a:xfrm xmlns:a="http://schemas.openxmlformats.org/drawingml/2006/main">
            <a:off x="822960" y="2593213"/>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학습·처리</a:t>
            </a:r>
          </a:p>
        </p:txBody>
      </p:sp>
      <p:sp>
        <p:nvSpPr>
          <p:cNvPr id="7" name="s50_conclusion_6">
            <a:extLst xmlns:a="http://schemas.openxmlformats.org/drawingml/2006/main">
              <a:ext uri="{FF2B5EF4-FFF2-40B4-BE49-F238E27FC236}">
                <a16:creationId xmlns:a16="http://schemas.microsoft.com/office/drawing/2014/main" id="{FD49B56D-0919-4151-AA0B-04DF86EF24FB}"/>
              </a:ext>
            </a:extLst>
          </p:cNvPr>
          <p:cNvSpPr>
            <a:spLocks xmlns:a="http://schemas.openxmlformats.org/drawingml/2006/main" noGrp="1"/>
          </p:cNvSpPr>
          <p:nvPr/>
        </p:nvSpPr>
        <p:spPr>
          <a:xfrm xmlns:a="http://schemas.openxmlformats.org/drawingml/2006/main">
            <a:off x="3154680" y="2409762"/>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출입국 심사 목적 내 AI 학습을 인정했다.</a:t>
            </a:r>
          </a:p>
        </p:txBody>
      </p:sp>
      <p:sp>
        <p:nvSpPr>
          <p:cNvPr id="8" name="s50_supplement_7">
            <a:extLst xmlns:a="http://schemas.openxmlformats.org/drawingml/2006/main">
              <a:ext uri="{FF2B5EF4-FFF2-40B4-BE49-F238E27FC236}">
                <a16:creationId xmlns:a16="http://schemas.microsoft.com/office/drawing/2014/main" id="{5F8E0CEE-D6CE-42A0-A4CA-EFB4C43C5223}"/>
              </a:ext>
            </a:extLst>
          </p:cNvPr>
          <p:cNvSpPr>
            <a:spLocks xmlns:a="http://schemas.openxmlformats.org/drawingml/2006/main" noGrp="1"/>
          </p:cNvSpPr>
          <p:nvPr/>
        </p:nvSpPr>
        <p:spPr>
          <a:xfrm xmlns:a="http://schemas.openxmlformats.org/drawingml/2006/main">
            <a:off x="3154680" y="2765870"/>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생체정보 처리의 법적 근거와 심사 고도화 목적, 관리·감독하의 처리위탁을 판단했다.</a:t>
            </a:r>
          </a:p>
        </p:txBody>
      </p:sp>
      <p:sp>
        <p:nvSpPr>
          <p:cNvPr id="9" name="">
            <a:extLst xmlns:a="http://schemas.openxmlformats.org/drawingml/2006/main">
              <a:ext uri="{FF2B5EF4-FFF2-40B4-BE49-F238E27FC236}">
                <a16:creationId xmlns:a16="http://schemas.microsoft.com/office/drawing/2014/main" id="{DDBCF5BF-719D-436F-A94F-655A9D98C97D}"/>
              </a:ext>
            </a:extLst>
          </p:cNvPr>
          <p:cNvSpPr>
            <a:spLocks xmlns:a="http://schemas.openxmlformats.org/drawingml/2006/main" noGrp="1"/>
          </p:cNvSpPr>
          <p:nvPr/>
        </p:nvSpPr>
        <p:spPr>
          <a:xfrm xmlns:a="http://schemas.openxmlformats.org/drawingml/2006/main">
            <a:off x="731520" y="3419856"/>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0" name="s50_rowlabel_9">
            <a:extLst xmlns:a="http://schemas.openxmlformats.org/drawingml/2006/main">
              <a:ext uri="{FF2B5EF4-FFF2-40B4-BE49-F238E27FC236}">
                <a16:creationId xmlns:a16="http://schemas.microsoft.com/office/drawing/2014/main" id="{BC0F7CA2-524B-4E9A-9643-9315267845EA}"/>
              </a:ext>
            </a:extLst>
          </p:cNvPr>
          <p:cNvSpPr>
            <a:spLocks xmlns:a="http://schemas.openxmlformats.org/drawingml/2006/main" noGrp="1"/>
          </p:cNvSpPr>
          <p:nvPr/>
        </p:nvSpPr>
        <p:spPr>
          <a:xfrm xmlns:a="http://schemas.openxmlformats.org/drawingml/2006/main">
            <a:off x="822960" y="3955669"/>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공개 의무</a:t>
            </a:r>
          </a:p>
        </p:txBody>
      </p:sp>
      <p:sp>
        <p:nvSpPr>
          <p:cNvPr id="11" name="s50_conclusion_10">
            <a:extLst xmlns:a="http://schemas.openxmlformats.org/drawingml/2006/main">
              <a:ext uri="{FF2B5EF4-FFF2-40B4-BE49-F238E27FC236}">
                <a16:creationId xmlns:a16="http://schemas.microsoft.com/office/drawing/2014/main" id="{936A7543-19DE-405C-B6E4-5E1BB7EF5122}"/>
              </a:ext>
            </a:extLst>
          </p:cNvPr>
          <p:cNvSpPr>
            <a:spLocks xmlns:a="http://schemas.openxmlformats.org/drawingml/2006/main" noGrp="1"/>
          </p:cNvSpPr>
          <p:nvPr/>
        </p:nvSpPr>
        <p:spPr>
          <a:xfrm xmlns:a="http://schemas.openxmlformats.org/drawingml/2006/main">
            <a:off x="3154680" y="3772218"/>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위탁 사실·수탁자 미공개에 과태료를 부과했다.</a:t>
            </a:r>
          </a:p>
        </p:txBody>
      </p:sp>
      <p:sp>
        <p:nvSpPr>
          <p:cNvPr id="12" name="s50_supplement_11">
            <a:extLst xmlns:a="http://schemas.openxmlformats.org/drawingml/2006/main">
              <a:ext uri="{FF2B5EF4-FFF2-40B4-BE49-F238E27FC236}">
                <a16:creationId xmlns:a16="http://schemas.microsoft.com/office/drawing/2014/main" id="{0A5370C5-82B8-44C5-8984-B6AA8E1B5089}"/>
              </a:ext>
            </a:extLst>
          </p:cNvPr>
          <p:cNvSpPr>
            <a:spLocks xmlns:a="http://schemas.openxmlformats.org/drawingml/2006/main" noGrp="1"/>
          </p:cNvSpPr>
          <p:nvPr/>
        </p:nvSpPr>
        <p:spPr>
          <a:xfrm xmlns:a="http://schemas.openxmlformats.org/drawingml/2006/main">
            <a:off x="3154680" y="4128326"/>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홈페이지 공개 의무 위반에 100만 원의 과태료를 부과했다.</a:t>
            </a:r>
          </a:p>
        </p:txBody>
      </p:sp>
      <p:sp>
        <p:nvSpPr>
          <p:cNvPr id="13" name="">
            <a:extLst xmlns:a="http://schemas.openxmlformats.org/drawingml/2006/main">
              <a:ext uri="{FF2B5EF4-FFF2-40B4-BE49-F238E27FC236}">
                <a16:creationId xmlns:a16="http://schemas.microsoft.com/office/drawing/2014/main" id="{4F0340CA-CB8F-4F2A-BFAA-AAC2C0498A54}"/>
              </a:ext>
            </a:extLst>
          </p:cNvPr>
          <p:cNvSpPr>
            <a:spLocks xmlns:a="http://schemas.openxmlformats.org/drawingml/2006/main" noGrp="1"/>
          </p:cNvSpPr>
          <p:nvPr/>
        </p:nvSpPr>
        <p:spPr>
          <a:xfrm xmlns:a="http://schemas.openxmlformats.org/drawingml/2006/main">
            <a:off x="731520" y="4782312"/>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4" name="s50_rowlabel_13">
            <a:extLst xmlns:a="http://schemas.openxmlformats.org/drawingml/2006/main">
              <a:ext uri="{FF2B5EF4-FFF2-40B4-BE49-F238E27FC236}">
                <a16:creationId xmlns:a16="http://schemas.microsoft.com/office/drawing/2014/main" id="{FF1D391A-7E38-43C5-9373-0233DBA37D0F}"/>
              </a:ext>
            </a:extLst>
          </p:cNvPr>
          <p:cNvSpPr>
            <a:spLocks xmlns:a="http://schemas.openxmlformats.org/drawingml/2006/main" noGrp="1"/>
          </p:cNvSpPr>
          <p:nvPr/>
        </p:nvSpPr>
        <p:spPr>
          <a:xfrm xmlns:a="http://schemas.openxmlformats.org/drawingml/2006/main">
            <a:off x="822960" y="5318125"/>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이상행동 영상</a:t>
            </a:r>
          </a:p>
        </p:txBody>
      </p:sp>
      <p:sp>
        <p:nvSpPr>
          <p:cNvPr id="15" name="s50_conclusion_14">
            <a:extLst xmlns:a="http://schemas.openxmlformats.org/drawingml/2006/main">
              <a:ext uri="{FF2B5EF4-FFF2-40B4-BE49-F238E27FC236}">
                <a16:creationId xmlns:a16="http://schemas.microsoft.com/office/drawing/2014/main" id="{B788329E-C785-46ED-8771-5BB99BE5DA69}"/>
              </a:ext>
            </a:extLst>
          </p:cNvPr>
          <p:cNvSpPr>
            <a:spLocks xmlns:a="http://schemas.openxmlformats.org/drawingml/2006/main" noGrp="1"/>
          </p:cNvSpPr>
          <p:nvPr/>
        </p:nvSpPr>
        <p:spPr>
          <a:xfrm xmlns:a="http://schemas.openxmlformats.org/drawingml/2006/main">
            <a:off x="3154680" y="5134674"/>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실제 미사용 부문은 판단을 유보했다.</a:t>
            </a:r>
          </a:p>
        </p:txBody>
      </p:sp>
      <p:sp>
        <p:nvSpPr>
          <p:cNvPr id="16" name="s50_supplement_15">
            <a:extLst xmlns:a="http://schemas.openxmlformats.org/drawingml/2006/main">
              <a:ext uri="{FF2B5EF4-FFF2-40B4-BE49-F238E27FC236}">
                <a16:creationId xmlns:a16="http://schemas.microsoft.com/office/drawing/2014/main" id="{A2BABDD8-9F0C-4D0C-8871-FB6820AD81FB}"/>
              </a:ext>
            </a:extLst>
          </p:cNvPr>
          <p:cNvSpPr>
            <a:spLocks xmlns:a="http://schemas.openxmlformats.org/drawingml/2006/main" noGrp="1"/>
          </p:cNvSpPr>
          <p:nvPr/>
        </p:nvSpPr>
        <p:spPr>
          <a:xfrm xmlns:a="http://schemas.openxmlformats.org/drawingml/2006/main">
            <a:off x="3154680" y="5490782"/>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재추진 때 동의·명시적 법적 근거·비식별화 등 처리 경로를 검토하도록 제시했다.</a:t>
            </a:r>
          </a:p>
        </p:txBody>
      </p:sp>
      <p:sp>
        <p:nvSpPr>
          <p:cNvPr id="17" name="">
            <a:extLst xmlns:a="http://schemas.openxmlformats.org/drawingml/2006/main">
              <a:ext uri="{FF2B5EF4-FFF2-40B4-BE49-F238E27FC236}">
                <a16:creationId xmlns:a16="http://schemas.microsoft.com/office/drawing/2014/main" id="{D8A4D1CF-CD18-4A1E-BB59-1BC414D5D1C5}"/>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854545464"/>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51_kicker_0">
            <a:extLst xmlns:a="http://schemas.openxmlformats.org/drawingml/2006/main">
              <a:ext uri="{FF2B5EF4-FFF2-40B4-BE49-F238E27FC236}">
                <a16:creationId xmlns:a16="http://schemas.microsoft.com/office/drawing/2014/main" id="{CAA85F18-1DBE-4454-B821-98D6FA63956E}"/>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보충 자료</a:t>
            </a:r>
          </a:p>
        </p:txBody>
      </p:sp>
      <p:sp>
        <p:nvSpPr>
          <p:cNvPr id="2" name="s51_title_1">
            <a:extLst xmlns:a="http://schemas.openxmlformats.org/drawingml/2006/main">
              <a:ext uri="{FF2B5EF4-FFF2-40B4-BE49-F238E27FC236}">
                <a16:creationId xmlns:a16="http://schemas.microsoft.com/office/drawing/2014/main" id="{F3E10E72-7C31-4405-A972-FD8EA374EC46}"/>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사업 종료 뒤의 헌법소원 각하</a:t>
            </a:r>
          </a:p>
        </p:txBody>
      </p:sp>
      <p:sp>
        <p:nvSpPr>
          <p:cNvPr id="3" name="">
            <a:extLst xmlns:a="http://schemas.openxmlformats.org/drawingml/2006/main">
              <a:ext uri="{FF2B5EF4-FFF2-40B4-BE49-F238E27FC236}">
                <a16:creationId xmlns:a16="http://schemas.microsoft.com/office/drawing/2014/main" id="{EA6A29C0-3C5C-4C2A-A014-B85C776F4376}"/>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4" name="s51_band_3">
            <a:extLst xmlns:a="http://schemas.openxmlformats.org/drawingml/2006/main">
              <a:ext uri="{FF2B5EF4-FFF2-40B4-BE49-F238E27FC236}">
                <a16:creationId xmlns:a16="http://schemas.microsoft.com/office/drawing/2014/main" id="{9B93B80E-6A42-4DFD-ABB5-B3A3FFD7DFE9}"/>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헌법재판소 · 2021헌마1575등 · 2026년 2월 26일</a:t>
            </a:r>
          </a:p>
        </p:txBody>
      </p:sp>
      <p:sp>
        <p:nvSpPr>
          <p:cNvPr id="5" name="">
            <a:extLst xmlns:a="http://schemas.openxmlformats.org/drawingml/2006/main">
              <a:ext uri="{FF2B5EF4-FFF2-40B4-BE49-F238E27FC236}">
                <a16:creationId xmlns:a16="http://schemas.microsoft.com/office/drawing/2014/main" id="{A2D02719-D1AC-4581-A57B-7D4A630EF317}"/>
              </a:ext>
            </a:extLst>
          </p:cNvPr>
          <p:cNvSpPr>
            <a:spLocks xmlns:a="http://schemas.openxmlformats.org/drawingml/2006/main" noGrp="1"/>
          </p:cNvSpPr>
          <p:nvPr/>
        </p:nvSpPr>
        <p:spPr>
          <a:xfrm xmlns:a="http://schemas.openxmlformats.org/drawingml/2006/main">
            <a:off x="731520" y="2057400"/>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6" name="s51_rowlabel_5">
            <a:extLst xmlns:a="http://schemas.openxmlformats.org/drawingml/2006/main">
              <a:ext uri="{FF2B5EF4-FFF2-40B4-BE49-F238E27FC236}">
                <a16:creationId xmlns:a16="http://schemas.microsoft.com/office/drawing/2014/main" id="{24236711-0FBD-4BD5-9FF2-8A049D0A3A72}"/>
              </a:ext>
            </a:extLst>
          </p:cNvPr>
          <p:cNvSpPr>
            <a:spLocks xmlns:a="http://schemas.openxmlformats.org/drawingml/2006/main" noGrp="1"/>
          </p:cNvSpPr>
          <p:nvPr/>
        </p:nvSpPr>
        <p:spPr>
          <a:xfrm xmlns:a="http://schemas.openxmlformats.org/drawingml/2006/main">
            <a:off x="822960" y="2593213"/>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심판 대상</a:t>
            </a:r>
          </a:p>
        </p:txBody>
      </p:sp>
      <p:sp>
        <p:nvSpPr>
          <p:cNvPr id="7" name="s51_conclusion_6">
            <a:extLst xmlns:a="http://schemas.openxmlformats.org/drawingml/2006/main">
              <a:ext uri="{FF2B5EF4-FFF2-40B4-BE49-F238E27FC236}">
                <a16:creationId xmlns:a16="http://schemas.microsoft.com/office/drawing/2014/main" id="{EC116F69-7D18-4F64-A34F-B31DE07C5800}"/>
              </a:ext>
            </a:extLst>
          </p:cNvPr>
          <p:cNvSpPr>
            <a:spLocks xmlns:a="http://schemas.openxmlformats.org/drawingml/2006/main" noGrp="1"/>
          </p:cNvSpPr>
          <p:nvPr/>
        </p:nvSpPr>
        <p:spPr>
          <a:xfrm xmlns:a="http://schemas.openxmlformats.org/drawingml/2006/main">
            <a:off x="3154680" y="2409762"/>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출입국 얼굴·이상행동 데이터 수집·보관 등을 다뤘다.</a:t>
            </a:r>
          </a:p>
        </p:txBody>
      </p:sp>
      <p:sp>
        <p:nvSpPr>
          <p:cNvPr id="8" name="s51_supplement_7">
            <a:extLst xmlns:a="http://schemas.openxmlformats.org/drawingml/2006/main">
              <a:ext uri="{FF2B5EF4-FFF2-40B4-BE49-F238E27FC236}">
                <a16:creationId xmlns:a16="http://schemas.microsoft.com/office/drawing/2014/main" id="{C01872BB-ECA8-4FE1-A32D-170AFC1E3FF9}"/>
              </a:ext>
            </a:extLst>
          </p:cNvPr>
          <p:cNvSpPr>
            <a:spLocks xmlns:a="http://schemas.openxmlformats.org/drawingml/2006/main" noGrp="1"/>
          </p:cNvSpPr>
          <p:nvPr/>
        </p:nvSpPr>
        <p:spPr>
          <a:xfrm xmlns:a="http://schemas.openxmlformats.org/drawingml/2006/main">
            <a:off x="3154680" y="2765870"/>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AI 학습용 데이터 이전·처리와 관련 법률조항 등에 대한 청구가 제기됐다.</a:t>
            </a:r>
          </a:p>
        </p:txBody>
      </p:sp>
      <p:sp>
        <p:nvSpPr>
          <p:cNvPr id="9" name="">
            <a:extLst xmlns:a="http://schemas.openxmlformats.org/drawingml/2006/main">
              <a:ext uri="{FF2B5EF4-FFF2-40B4-BE49-F238E27FC236}">
                <a16:creationId xmlns:a16="http://schemas.microsoft.com/office/drawing/2014/main" id="{498369D2-5A4E-44B3-A5BB-BC7D2986A308}"/>
              </a:ext>
            </a:extLst>
          </p:cNvPr>
          <p:cNvSpPr>
            <a:spLocks xmlns:a="http://schemas.openxmlformats.org/drawingml/2006/main" noGrp="1"/>
          </p:cNvSpPr>
          <p:nvPr/>
        </p:nvSpPr>
        <p:spPr>
          <a:xfrm xmlns:a="http://schemas.openxmlformats.org/drawingml/2006/main">
            <a:off x="731520" y="3419856"/>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0" name="s51_rowlabel_9">
            <a:extLst xmlns:a="http://schemas.openxmlformats.org/drawingml/2006/main">
              <a:ext uri="{FF2B5EF4-FFF2-40B4-BE49-F238E27FC236}">
                <a16:creationId xmlns:a16="http://schemas.microsoft.com/office/drawing/2014/main" id="{B33FA3CD-4156-4DFE-A041-2938412BDE4C}"/>
              </a:ext>
            </a:extLst>
          </p:cNvPr>
          <p:cNvSpPr>
            <a:spLocks xmlns:a="http://schemas.openxmlformats.org/drawingml/2006/main" noGrp="1"/>
          </p:cNvSpPr>
          <p:nvPr/>
        </p:nvSpPr>
        <p:spPr>
          <a:xfrm xmlns:a="http://schemas.openxmlformats.org/drawingml/2006/main">
            <a:off x="822960" y="3955669"/>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소송 요건</a:t>
            </a:r>
          </a:p>
        </p:txBody>
      </p:sp>
      <p:sp>
        <p:nvSpPr>
          <p:cNvPr id="11" name="s51_conclusion_10">
            <a:extLst xmlns:a="http://schemas.openxmlformats.org/drawingml/2006/main">
              <a:ext uri="{FF2B5EF4-FFF2-40B4-BE49-F238E27FC236}">
                <a16:creationId xmlns:a16="http://schemas.microsoft.com/office/drawing/2014/main" id="{152498A4-C72B-4EC0-A3E5-2A4090C46C1C}"/>
              </a:ext>
            </a:extLst>
          </p:cNvPr>
          <p:cNvSpPr>
            <a:spLocks xmlns:a="http://schemas.openxmlformats.org/drawingml/2006/main" noGrp="1"/>
          </p:cNvSpPr>
          <p:nvPr/>
        </p:nvSpPr>
        <p:spPr>
          <a:xfrm xmlns:a="http://schemas.openxmlformats.org/drawingml/2006/main">
            <a:off x="3154680" y="3772218"/>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사업 종료·데이터 삭제 등을 검토했다.</a:t>
            </a:r>
          </a:p>
        </p:txBody>
      </p:sp>
      <p:sp>
        <p:nvSpPr>
          <p:cNvPr id="12" name="s51_supplement_11">
            <a:extLst xmlns:a="http://schemas.openxmlformats.org/drawingml/2006/main">
              <a:ext uri="{FF2B5EF4-FFF2-40B4-BE49-F238E27FC236}">
                <a16:creationId xmlns:a16="http://schemas.microsoft.com/office/drawing/2014/main" id="{540A714F-4C1F-4DEE-BCBD-0AEB289E0852}"/>
              </a:ext>
            </a:extLst>
          </p:cNvPr>
          <p:cNvSpPr>
            <a:spLocks xmlns:a="http://schemas.openxmlformats.org/drawingml/2006/main" noGrp="1"/>
          </p:cNvSpPr>
          <p:nvPr/>
        </p:nvSpPr>
        <p:spPr>
          <a:xfrm xmlns:a="http://schemas.openxmlformats.org/drawingml/2006/main">
            <a:off x="3154680" y="4128326"/>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헌재는 권리보호이익, 법률조항의 직접성, 입법의무 등 적법요건을 판단했다.</a:t>
            </a:r>
          </a:p>
        </p:txBody>
      </p:sp>
      <p:sp>
        <p:nvSpPr>
          <p:cNvPr id="13" name="">
            <a:extLst xmlns:a="http://schemas.openxmlformats.org/drawingml/2006/main">
              <a:ext uri="{FF2B5EF4-FFF2-40B4-BE49-F238E27FC236}">
                <a16:creationId xmlns:a16="http://schemas.microsoft.com/office/drawing/2014/main" id="{071EAFF8-529A-4921-991F-83A856231A69}"/>
              </a:ext>
            </a:extLst>
          </p:cNvPr>
          <p:cNvSpPr>
            <a:spLocks xmlns:a="http://schemas.openxmlformats.org/drawingml/2006/main" noGrp="1"/>
          </p:cNvSpPr>
          <p:nvPr/>
        </p:nvSpPr>
        <p:spPr>
          <a:xfrm xmlns:a="http://schemas.openxmlformats.org/drawingml/2006/main">
            <a:off x="731520" y="4782312"/>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4" name="s51_rowlabel_13">
            <a:extLst xmlns:a="http://schemas.openxmlformats.org/drawingml/2006/main">
              <a:ext uri="{FF2B5EF4-FFF2-40B4-BE49-F238E27FC236}">
                <a16:creationId xmlns:a16="http://schemas.microsoft.com/office/drawing/2014/main" id="{ADE81E2F-2BBE-4F38-A8C4-6D80A95D5711}"/>
              </a:ext>
            </a:extLst>
          </p:cNvPr>
          <p:cNvSpPr>
            <a:spLocks xmlns:a="http://schemas.openxmlformats.org/drawingml/2006/main" noGrp="1"/>
          </p:cNvSpPr>
          <p:nvPr/>
        </p:nvSpPr>
        <p:spPr>
          <a:xfrm xmlns:a="http://schemas.openxmlformats.org/drawingml/2006/main">
            <a:off x="822960" y="5318125"/>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결론</a:t>
            </a:r>
          </a:p>
        </p:txBody>
      </p:sp>
      <p:sp>
        <p:nvSpPr>
          <p:cNvPr id="15" name="s51_conclusion_14">
            <a:extLst xmlns:a="http://schemas.openxmlformats.org/drawingml/2006/main">
              <a:ext uri="{FF2B5EF4-FFF2-40B4-BE49-F238E27FC236}">
                <a16:creationId xmlns:a16="http://schemas.microsoft.com/office/drawing/2014/main" id="{173675A9-AD63-40C6-A50D-1C34318350F7}"/>
              </a:ext>
            </a:extLst>
          </p:cNvPr>
          <p:cNvSpPr>
            <a:spLocks xmlns:a="http://schemas.openxmlformats.org/drawingml/2006/main" noGrp="1"/>
          </p:cNvSpPr>
          <p:nvPr/>
        </p:nvSpPr>
        <p:spPr>
          <a:xfrm xmlns:a="http://schemas.openxmlformats.org/drawingml/2006/main">
            <a:off x="3154680" y="5029898"/>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재판관 전원일치로 심판청구를 각하했다.</a:t>
            </a:r>
          </a:p>
        </p:txBody>
      </p:sp>
      <p:sp>
        <p:nvSpPr>
          <p:cNvPr id="16" name="s51_supplement_15">
            <a:extLst xmlns:a="http://schemas.openxmlformats.org/drawingml/2006/main">
              <a:ext uri="{FF2B5EF4-FFF2-40B4-BE49-F238E27FC236}">
                <a16:creationId xmlns:a16="http://schemas.microsoft.com/office/drawing/2014/main" id="{D78BF150-98F1-4154-9955-0EE586B0BEC9}"/>
              </a:ext>
            </a:extLst>
          </p:cNvPr>
          <p:cNvSpPr>
            <a:spLocks xmlns:a="http://schemas.openxmlformats.org/drawingml/2006/main" noGrp="1"/>
          </p:cNvSpPr>
          <p:nvPr/>
        </p:nvSpPr>
        <p:spPr>
          <a:xfrm xmlns:a="http://schemas.openxmlformats.org/drawingml/2006/main">
            <a:off x="3154680" y="5386007"/>
            <a:ext cx="8302752" cy="447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공식 결정 소개의 주문: “청구인들의 심판청구를 모두 각하한다.” 각하는 본안 심사의 소송요건을 갖추지 못해 청구를</a:t>
            </a:r>
          </a:p>
          <a:p xmlns:a="http://schemas.openxmlformats.org/drawingml/2006/main">
            <a:pPr algn="l">
              <a:lnSpc>
                <a:spcPct val="125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종료하는 결정이다.</a:t>
            </a:r>
          </a:p>
        </p:txBody>
      </p:sp>
      <p:sp>
        <p:nvSpPr>
          <p:cNvPr id="17" name="">
            <a:extLst xmlns:a="http://schemas.openxmlformats.org/drawingml/2006/main">
              <a:ext uri="{FF2B5EF4-FFF2-40B4-BE49-F238E27FC236}">
                <a16:creationId xmlns:a16="http://schemas.microsoft.com/office/drawing/2014/main" id="{275A8B15-4DDC-4B2B-BF9E-D191B226CFF2}"/>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1805721744"/>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52_kicker_0">
            <a:extLst xmlns:a="http://schemas.openxmlformats.org/drawingml/2006/main">
              <a:ext uri="{FF2B5EF4-FFF2-40B4-BE49-F238E27FC236}">
                <a16:creationId xmlns:a16="http://schemas.microsoft.com/office/drawing/2014/main" id="{8369D707-95EF-4B4E-8F32-838E4FACF07C}"/>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보충 자료</a:t>
            </a:r>
          </a:p>
        </p:txBody>
      </p:sp>
      <p:sp>
        <p:nvSpPr>
          <p:cNvPr id="2" name="s52_title_1">
            <a:extLst xmlns:a="http://schemas.openxmlformats.org/drawingml/2006/main">
              <a:ext uri="{FF2B5EF4-FFF2-40B4-BE49-F238E27FC236}">
                <a16:creationId xmlns:a16="http://schemas.microsoft.com/office/drawing/2014/main" id="{75587B45-6F05-4908-A2D6-E2F541B50C0E}"/>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자치구 경계를 넘는 영상 검색</a:t>
            </a:r>
          </a:p>
        </p:txBody>
      </p:sp>
      <p:sp>
        <p:nvSpPr>
          <p:cNvPr id="3" name="">
            <a:extLst xmlns:a="http://schemas.openxmlformats.org/drawingml/2006/main">
              <a:ext uri="{FF2B5EF4-FFF2-40B4-BE49-F238E27FC236}">
                <a16:creationId xmlns:a16="http://schemas.microsoft.com/office/drawing/2014/main" id="{AE7A68F2-D57C-4630-8934-B84A6436A5E0}"/>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4" name="s52_band_3">
            <a:extLst xmlns:a="http://schemas.openxmlformats.org/drawingml/2006/main">
              <a:ext uri="{FF2B5EF4-FFF2-40B4-BE49-F238E27FC236}">
                <a16:creationId xmlns:a16="http://schemas.microsoft.com/office/drawing/2014/main" id="{7E079FE5-1364-4D3C-A767-8BDFA730F51A}"/>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서울시 2026년 4월 1일 발표 · 25개 자치구 AI 영상 검색 확대 계획</a:t>
            </a:r>
          </a:p>
        </p:txBody>
      </p:sp>
      <p:sp>
        <p:nvSpPr>
          <p:cNvPr id="5" name="">
            <a:extLst xmlns:a="http://schemas.openxmlformats.org/drawingml/2006/main">
              <a:ext uri="{FF2B5EF4-FFF2-40B4-BE49-F238E27FC236}">
                <a16:creationId xmlns:a16="http://schemas.microsoft.com/office/drawing/2014/main" id="{510F327B-9B32-46E8-8A04-456B7D03E4B3}"/>
              </a:ext>
            </a:extLst>
          </p:cNvPr>
          <p:cNvSpPr>
            <a:spLocks xmlns:a="http://schemas.openxmlformats.org/drawingml/2006/main" noGrp="1"/>
          </p:cNvSpPr>
          <p:nvPr/>
        </p:nvSpPr>
        <p:spPr>
          <a:xfrm xmlns:a="http://schemas.openxmlformats.org/drawingml/2006/main">
            <a:off x="731520" y="2057400"/>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6" name="s52_rowlabel_5">
            <a:extLst xmlns:a="http://schemas.openxmlformats.org/drawingml/2006/main">
              <a:ext uri="{FF2B5EF4-FFF2-40B4-BE49-F238E27FC236}">
                <a16:creationId xmlns:a16="http://schemas.microsoft.com/office/drawing/2014/main" id="{4CDF7B6B-FE1F-493D-949B-B2B75FFC090B}"/>
              </a:ext>
            </a:extLst>
          </p:cNvPr>
          <p:cNvSpPr>
            <a:spLocks xmlns:a="http://schemas.openxmlformats.org/drawingml/2006/main" noGrp="1"/>
          </p:cNvSpPr>
          <p:nvPr/>
        </p:nvSpPr>
        <p:spPr>
          <a:xfrm xmlns:a="http://schemas.openxmlformats.org/drawingml/2006/main">
            <a:off x="822960" y="2593213"/>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검색 기능</a:t>
            </a:r>
          </a:p>
        </p:txBody>
      </p:sp>
      <p:sp>
        <p:nvSpPr>
          <p:cNvPr id="7" name="s52_conclusion_6">
            <a:extLst xmlns:a="http://schemas.openxmlformats.org/drawingml/2006/main">
              <a:ext uri="{FF2B5EF4-FFF2-40B4-BE49-F238E27FC236}">
                <a16:creationId xmlns:a16="http://schemas.microsoft.com/office/drawing/2014/main" id="{66EC70B7-9969-454F-A88D-233180E2B6FE}"/>
              </a:ext>
            </a:extLst>
          </p:cNvPr>
          <p:cNvSpPr>
            <a:spLocks xmlns:a="http://schemas.openxmlformats.org/drawingml/2006/main" noGrp="1"/>
          </p:cNvSpPr>
          <p:nvPr/>
        </p:nvSpPr>
        <p:spPr>
          <a:xfrm xmlns:a="http://schemas.openxmlformats.org/drawingml/2006/main">
            <a:off x="3154680" y="2409762"/>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외형 특징으로 실종자의 이동 경로를 찾는다.</a:t>
            </a:r>
          </a:p>
        </p:txBody>
      </p:sp>
      <p:sp>
        <p:nvSpPr>
          <p:cNvPr id="8" name="s52_supplement_7">
            <a:extLst xmlns:a="http://schemas.openxmlformats.org/drawingml/2006/main">
              <a:ext uri="{FF2B5EF4-FFF2-40B4-BE49-F238E27FC236}">
                <a16:creationId xmlns:a16="http://schemas.microsoft.com/office/drawing/2014/main" id="{CB6645AF-1C0D-4284-A807-CA6DF7CA7D04}"/>
              </a:ext>
            </a:extLst>
          </p:cNvPr>
          <p:cNvSpPr>
            <a:spLocks xmlns:a="http://schemas.openxmlformats.org/drawingml/2006/main" noGrp="1"/>
          </p:cNvSpPr>
          <p:nvPr/>
        </p:nvSpPr>
        <p:spPr>
          <a:xfrm xmlns:a="http://schemas.openxmlformats.org/drawingml/2006/main">
            <a:off x="3154680" y="2765870"/>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옷·모자 등 모습을 활용해 여러 CCTV 영상의 후보를 검색한다.</a:t>
            </a:r>
          </a:p>
        </p:txBody>
      </p:sp>
      <p:sp>
        <p:nvSpPr>
          <p:cNvPr id="9" name="">
            <a:extLst xmlns:a="http://schemas.openxmlformats.org/drawingml/2006/main">
              <a:ext uri="{FF2B5EF4-FFF2-40B4-BE49-F238E27FC236}">
                <a16:creationId xmlns:a16="http://schemas.microsoft.com/office/drawing/2014/main" id="{74432E18-2271-4249-ADB8-BDC0FE4F7497}"/>
              </a:ext>
            </a:extLst>
          </p:cNvPr>
          <p:cNvSpPr>
            <a:spLocks xmlns:a="http://schemas.openxmlformats.org/drawingml/2006/main" noGrp="1"/>
          </p:cNvSpPr>
          <p:nvPr/>
        </p:nvSpPr>
        <p:spPr>
          <a:xfrm xmlns:a="http://schemas.openxmlformats.org/drawingml/2006/main">
            <a:off x="731520" y="3419856"/>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0" name="s52_rowlabel_9">
            <a:extLst xmlns:a="http://schemas.openxmlformats.org/drawingml/2006/main">
              <a:ext uri="{FF2B5EF4-FFF2-40B4-BE49-F238E27FC236}">
                <a16:creationId xmlns:a16="http://schemas.microsoft.com/office/drawing/2014/main" id="{499B469E-289A-4537-B965-CEA927A3D981}"/>
              </a:ext>
            </a:extLst>
          </p:cNvPr>
          <p:cNvSpPr>
            <a:spLocks xmlns:a="http://schemas.openxmlformats.org/drawingml/2006/main" noGrp="1"/>
          </p:cNvSpPr>
          <p:nvPr/>
        </p:nvSpPr>
        <p:spPr>
          <a:xfrm xmlns:a="http://schemas.openxmlformats.org/drawingml/2006/main">
            <a:off x="822960" y="3955669"/>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확대 계획</a:t>
            </a:r>
          </a:p>
        </p:txBody>
      </p:sp>
      <p:sp>
        <p:nvSpPr>
          <p:cNvPr id="11" name="s52_conclusion_10">
            <a:extLst xmlns:a="http://schemas.openxmlformats.org/drawingml/2006/main">
              <a:ext uri="{FF2B5EF4-FFF2-40B4-BE49-F238E27FC236}">
                <a16:creationId xmlns:a16="http://schemas.microsoft.com/office/drawing/2014/main" id="{F696A2D2-5CC3-4F27-AE77-54BEF69943DE}"/>
              </a:ext>
            </a:extLst>
          </p:cNvPr>
          <p:cNvSpPr>
            <a:spLocks xmlns:a="http://schemas.openxmlformats.org/drawingml/2006/main" noGrp="1"/>
          </p:cNvSpPr>
          <p:nvPr/>
        </p:nvSpPr>
        <p:spPr>
          <a:xfrm xmlns:a="http://schemas.openxmlformats.org/drawingml/2006/main">
            <a:off x="3154680" y="3772218"/>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자치구 간 검색을 서울 전역으로 넓힌다.</a:t>
            </a:r>
          </a:p>
        </p:txBody>
      </p:sp>
      <p:sp>
        <p:nvSpPr>
          <p:cNvPr id="12" name="s52_supplement_11">
            <a:extLst xmlns:a="http://schemas.openxmlformats.org/drawingml/2006/main">
              <a:ext uri="{FF2B5EF4-FFF2-40B4-BE49-F238E27FC236}">
                <a16:creationId xmlns:a16="http://schemas.microsoft.com/office/drawing/2014/main" id="{F9CFEE38-FB79-4AEF-80A3-F941666C3E7F}"/>
              </a:ext>
            </a:extLst>
          </p:cNvPr>
          <p:cNvSpPr>
            <a:spLocks xmlns:a="http://schemas.openxmlformats.org/drawingml/2006/main" noGrp="1"/>
          </p:cNvSpPr>
          <p:nvPr/>
        </p:nvSpPr>
        <p:spPr>
          <a:xfrm xmlns:a="http://schemas.openxmlformats.org/drawingml/2006/main">
            <a:off x="3154680" y="4128326"/>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당시 발표는 25개 자치구 전체로 확대하는 계획을 제시했다.</a:t>
            </a:r>
          </a:p>
        </p:txBody>
      </p:sp>
      <p:sp>
        <p:nvSpPr>
          <p:cNvPr id="13" name="">
            <a:extLst xmlns:a="http://schemas.openxmlformats.org/drawingml/2006/main">
              <a:ext uri="{FF2B5EF4-FFF2-40B4-BE49-F238E27FC236}">
                <a16:creationId xmlns:a16="http://schemas.microsoft.com/office/drawing/2014/main" id="{CA875004-AA7D-493A-8B02-6C9F6987D37D}"/>
              </a:ext>
            </a:extLst>
          </p:cNvPr>
          <p:cNvSpPr>
            <a:spLocks xmlns:a="http://schemas.openxmlformats.org/drawingml/2006/main" noGrp="1"/>
          </p:cNvSpPr>
          <p:nvPr/>
        </p:nvSpPr>
        <p:spPr>
          <a:xfrm xmlns:a="http://schemas.openxmlformats.org/drawingml/2006/main">
            <a:off x="731520" y="4782312"/>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14" name="s52_rowlabel_13">
            <a:extLst xmlns:a="http://schemas.openxmlformats.org/drawingml/2006/main">
              <a:ext uri="{FF2B5EF4-FFF2-40B4-BE49-F238E27FC236}">
                <a16:creationId xmlns:a16="http://schemas.microsoft.com/office/drawing/2014/main" id="{93DA19F8-8392-40ED-9D60-0393EA6DE0E7}"/>
              </a:ext>
            </a:extLst>
          </p:cNvPr>
          <p:cNvSpPr>
            <a:spLocks xmlns:a="http://schemas.openxmlformats.org/drawingml/2006/main" noGrp="1"/>
          </p:cNvSpPr>
          <p:nvPr/>
        </p:nvSpPr>
        <p:spPr>
          <a:xfrm xmlns:a="http://schemas.openxmlformats.org/drawingml/2006/main">
            <a:off x="822960" y="5318125"/>
            <a:ext cx="205740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운영 과제</a:t>
            </a:r>
          </a:p>
        </p:txBody>
      </p:sp>
      <p:sp>
        <p:nvSpPr>
          <p:cNvPr id="15" name="s52_conclusion_14">
            <a:extLst xmlns:a="http://schemas.openxmlformats.org/drawingml/2006/main">
              <a:ext uri="{FF2B5EF4-FFF2-40B4-BE49-F238E27FC236}">
                <a16:creationId xmlns:a16="http://schemas.microsoft.com/office/drawing/2014/main" id="{B0003565-2CAE-4066-9FDA-8CA7F1EAE82D}"/>
              </a:ext>
            </a:extLst>
          </p:cNvPr>
          <p:cNvSpPr>
            <a:spLocks xmlns:a="http://schemas.openxmlformats.org/drawingml/2006/main" noGrp="1"/>
          </p:cNvSpPr>
          <p:nvPr/>
        </p:nvSpPr>
        <p:spPr>
          <a:xfrm xmlns:a="http://schemas.openxmlformats.org/drawingml/2006/main">
            <a:off x="3154680" y="5134674"/>
            <a:ext cx="8302752"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1">
                <a:solidFill>
                  <a:srgbClr val="222633"/>
                </a:solidFill>
                <a:latin typeface="Pretendard"/>
                <a:ea typeface="Pretendard"/>
                <a:cs typeface="Pretendard"/>
              </a:defRPr>
              <a:spcBef>
                <a:spcPts val="0"/>
              </a:spcBef>
              <a:spcAft>
                <a:spcPts val="0"/>
              </a:spcAft>
            </a:pPr>
            <a:r>
              <a:rPr sz="1400" b="1">
                <a:solidFill>
                  <a:srgbClr val="222633"/>
                </a:solidFill>
                <a:latin typeface="Pretendard"/>
                <a:ea typeface="Pretendard"/>
                <a:cs typeface="Pretendard"/>
              </a:rPr>
              <a:t>검색 권한·열람 기록·현장 연락을 연결한다.</a:t>
            </a:r>
          </a:p>
        </p:txBody>
      </p:sp>
      <p:sp>
        <p:nvSpPr>
          <p:cNvPr id="16" name="s52_supplement_15">
            <a:extLst xmlns:a="http://schemas.openxmlformats.org/drawingml/2006/main">
              <a:ext uri="{FF2B5EF4-FFF2-40B4-BE49-F238E27FC236}">
                <a16:creationId xmlns:a16="http://schemas.microsoft.com/office/drawing/2014/main" id="{A836AC59-F491-44F5-AE4A-F523DDED4CAB}"/>
              </a:ext>
            </a:extLst>
          </p:cNvPr>
          <p:cNvSpPr>
            <a:spLocks xmlns:a="http://schemas.openxmlformats.org/drawingml/2006/main" noGrp="1"/>
          </p:cNvSpPr>
          <p:nvPr/>
        </p:nvSpPr>
        <p:spPr>
          <a:xfrm xmlns:a="http://schemas.openxmlformats.org/drawingml/2006/main">
            <a:off x="3154680" y="5490782"/>
            <a:ext cx="8302752"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0">
                <a:solidFill>
                  <a:srgbClr val="464D5C"/>
                </a:solidFill>
                <a:latin typeface="Pretendard"/>
                <a:ea typeface="Pretendard"/>
                <a:cs typeface="Pretendard"/>
              </a:defRPr>
              <a:spcBef>
                <a:spcPts val="0"/>
              </a:spcBef>
              <a:spcAft>
                <a:spcPts val="0"/>
              </a:spcAft>
            </a:pPr>
            <a:r>
              <a:rPr sz="1250" b="0">
                <a:solidFill>
                  <a:srgbClr val="464D5C"/>
                </a:solidFill>
                <a:latin typeface="Pretendard"/>
                <a:ea typeface="Pretendard"/>
                <a:cs typeface="Pretendard"/>
              </a:rPr>
              <a:t>관할을 넘는 검색에서 요청 주체와 정보 접근, 수색 정보 전달의 책임을 정한다.</a:t>
            </a:r>
          </a:p>
        </p:txBody>
      </p:sp>
      <p:sp>
        <p:nvSpPr>
          <p:cNvPr id="17" name="">
            <a:extLst xmlns:a="http://schemas.openxmlformats.org/drawingml/2006/main">
              <a:ext uri="{FF2B5EF4-FFF2-40B4-BE49-F238E27FC236}">
                <a16:creationId xmlns:a16="http://schemas.microsoft.com/office/drawing/2014/main" id="{90769E02-6CEC-4ABD-B0C8-2E2A386D438C}"/>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620758776"/>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53_kicker_0">
            <a:extLst xmlns:a="http://schemas.openxmlformats.org/drawingml/2006/main">
              <a:ext uri="{FF2B5EF4-FFF2-40B4-BE49-F238E27FC236}">
                <a16:creationId xmlns:a16="http://schemas.microsoft.com/office/drawing/2014/main" id="{0C9398A0-5598-4B0E-943A-895C2B3BAAF0}"/>
              </a:ext>
            </a:extLst>
          </p:cNvPr>
          <p:cNvSpPr>
            <a:spLocks xmlns:a="http://schemas.openxmlformats.org/drawingml/2006/main" noGrp="1"/>
          </p:cNvSpPr>
          <p:nvPr/>
        </p:nvSpPr>
        <p:spPr>
          <a:xfrm xmlns:a="http://schemas.openxmlformats.org/drawingml/2006/main">
            <a:off x="731520" y="365760"/>
            <a:ext cx="5212080" cy="2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50" b="1">
                <a:solidFill>
                  <a:srgbClr val="464D5C"/>
                </a:solidFill>
                <a:latin typeface="Pretendard"/>
                <a:ea typeface="Pretendard"/>
                <a:cs typeface="Pretendard"/>
              </a:defRPr>
              <a:spcBef>
                <a:spcPts val="0"/>
              </a:spcBef>
              <a:spcAft>
                <a:spcPts val="0"/>
              </a:spcAft>
            </a:pPr>
            <a:r>
              <a:rPr sz="1250" b="1" spc="200">
                <a:solidFill>
                  <a:srgbClr val="464D5C"/>
                </a:solidFill>
                <a:latin typeface="Pretendard"/>
                <a:ea typeface="Pretendard"/>
                <a:cs typeface="Pretendard"/>
              </a:rPr>
              <a:t>보충 자료</a:t>
            </a:r>
          </a:p>
        </p:txBody>
      </p:sp>
      <p:sp>
        <p:nvSpPr>
          <p:cNvPr id="2" name="s53_title_1">
            <a:extLst xmlns:a="http://schemas.openxmlformats.org/drawingml/2006/main">
              <a:ext uri="{FF2B5EF4-FFF2-40B4-BE49-F238E27FC236}">
                <a16:creationId xmlns:a16="http://schemas.microsoft.com/office/drawing/2014/main" id="{2EB34276-8EDC-4C80-B728-E18AA3CA0603}"/>
              </a:ext>
            </a:extLst>
          </p:cNvPr>
          <p:cNvSpPr>
            <a:spLocks xmlns:a="http://schemas.openxmlformats.org/drawingml/2006/main" noGrp="1"/>
          </p:cNvSpPr>
          <p:nvPr/>
        </p:nvSpPr>
        <p:spPr>
          <a:xfrm xmlns:a="http://schemas.openxmlformats.org/drawingml/2006/main">
            <a:off x="731520" y="640080"/>
            <a:ext cx="1072591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750" b="1">
                <a:solidFill>
                  <a:srgbClr val="1E2761"/>
                </a:solidFill>
                <a:latin typeface="Pretendard"/>
                <a:ea typeface="Pretendard"/>
                <a:cs typeface="Pretendard"/>
              </a:defRPr>
              <a:spcBef>
                <a:spcPts val="0"/>
              </a:spcBef>
              <a:spcAft>
                <a:spcPts val="0"/>
              </a:spcAft>
            </a:pPr>
            <a:r>
              <a:rPr sz="2750" b="1">
                <a:solidFill>
                  <a:srgbClr val="1E2761"/>
                </a:solidFill>
                <a:latin typeface="Pretendard"/>
                <a:ea typeface="Pretendard"/>
                <a:cs typeface="Pretendard"/>
              </a:rPr>
              <a:t>관제요원이 평가한 선별관제</a:t>
            </a:r>
          </a:p>
        </p:txBody>
      </p:sp>
      <p:sp>
        <p:nvSpPr>
          <p:cNvPr id="3" name="">
            <a:extLst xmlns:a="http://schemas.openxmlformats.org/drawingml/2006/main">
              <a:ext uri="{FF2B5EF4-FFF2-40B4-BE49-F238E27FC236}">
                <a16:creationId xmlns:a16="http://schemas.microsoft.com/office/drawing/2014/main" id="{3DE3969A-4CA4-4645-81B5-578FB5AEB2F9}"/>
              </a:ext>
            </a:extLst>
          </p:cNvPr>
          <p:cNvSpPr>
            <a:spLocks xmlns:a="http://schemas.openxmlformats.org/drawingml/2006/main" noGrp="1"/>
          </p:cNvSpPr>
          <p:nvPr/>
        </p:nvSpPr>
        <p:spPr>
          <a:xfrm xmlns:a="http://schemas.openxmlformats.org/drawingml/2006/main">
            <a:off x="731520" y="1417320"/>
            <a:ext cx="10725912" cy="548640"/>
          </a:xfrm>
          <a:prstGeom xmlns:a="http://schemas.openxmlformats.org/drawingml/2006/main" prst="rect">
            <a:avLst/>
          </a:prstGeom>
          <a:solidFill xmlns:a="http://schemas.openxmlformats.org/drawingml/2006/main">
            <a:srgbClr val="F2F4F8"/>
          </a:solidFill>
          <a:ln xmlns:a="http://schemas.openxmlformats.org/drawingml/2006/main" w="0">
            <a:noFill/>
          </a:ln>
        </p:spPr>
      </p:sp>
      <p:sp>
        <p:nvSpPr>
          <p:cNvPr id="4" name="s53_band_3">
            <a:extLst xmlns:a="http://schemas.openxmlformats.org/drawingml/2006/main">
              <a:ext uri="{FF2B5EF4-FFF2-40B4-BE49-F238E27FC236}">
                <a16:creationId xmlns:a16="http://schemas.microsoft.com/office/drawing/2014/main" id="{62911967-532A-4129-B7B5-A70B54D3F591}"/>
              </a:ext>
            </a:extLst>
          </p:cNvPr>
          <p:cNvSpPr>
            <a:spLocks xmlns:a="http://schemas.openxmlformats.org/drawingml/2006/main" noGrp="1"/>
          </p:cNvSpPr>
          <p:nvPr/>
        </p:nvSpPr>
        <p:spPr>
          <a:xfrm xmlns:a="http://schemas.openxmlformats.org/drawingml/2006/main">
            <a:off x="1005840" y="1569085"/>
            <a:ext cx="10149840"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제주 연구용역의 2023년 요원 설문 · 지능형 선별관제 체감 정확도</a:t>
            </a:r>
          </a:p>
        </p:txBody>
      </p:sp>
      <p:sp>
        <p:nvSpPr>
          <p:cNvPr id="5" name="">
            <a:extLst xmlns:a="http://schemas.openxmlformats.org/drawingml/2006/main">
              <a:ext uri="{FF2B5EF4-FFF2-40B4-BE49-F238E27FC236}">
                <a16:creationId xmlns:a16="http://schemas.microsoft.com/office/drawing/2014/main" id="{C559E822-BBB7-4F73-B8B0-8C6D544129C7}"/>
              </a:ext>
            </a:extLst>
          </p:cNvPr>
          <p:cNvSpPr>
            <a:spLocks xmlns:a="http://schemas.openxmlformats.org/drawingml/2006/main" noGrp="1"/>
          </p:cNvSpPr>
          <p:nvPr/>
        </p:nvSpPr>
        <p:spPr>
          <a:xfrm xmlns:a="http://schemas.openxmlformats.org/drawingml/2006/main">
            <a:off x="731520" y="2057400"/>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
        <p:nvSpPr>
          <p:cNvPr id="6" name="s53_body_5">
            <a:extLst xmlns:a="http://schemas.openxmlformats.org/drawingml/2006/main">
              <a:ext uri="{FF2B5EF4-FFF2-40B4-BE49-F238E27FC236}">
                <a16:creationId xmlns:a16="http://schemas.microsoft.com/office/drawing/2014/main" id="{C6B53F93-76EB-4E25-BCB7-D21E4730E4AF}"/>
              </a:ext>
            </a:extLst>
          </p:cNvPr>
          <p:cNvSpPr>
            <a:spLocks xmlns:a="http://schemas.openxmlformats.org/drawingml/2006/main" noGrp="1"/>
          </p:cNvSpPr>
          <p:nvPr/>
        </p:nvSpPr>
        <p:spPr>
          <a:xfrm xmlns:a="http://schemas.openxmlformats.org/drawingml/2006/main">
            <a:off x="731520" y="2423160"/>
            <a:ext cx="3392424"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전체 설문</a:t>
            </a:r>
          </a:p>
        </p:txBody>
      </p:sp>
      <p:sp>
        <p:nvSpPr>
          <p:cNvPr id="7" name="s53_body_6">
            <a:extLst xmlns:a="http://schemas.openxmlformats.org/drawingml/2006/main">
              <a:ext uri="{FF2B5EF4-FFF2-40B4-BE49-F238E27FC236}">
                <a16:creationId xmlns:a16="http://schemas.microsoft.com/office/drawing/2014/main" id="{19361E42-FCD5-425E-9D31-0F0513F81D2A}"/>
              </a:ext>
            </a:extLst>
          </p:cNvPr>
          <p:cNvSpPr>
            <a:spLocks xmlns:a="http://schemas.openxmlformats.org/drawingml/2006/main" noGrp="1"/>
          </p:cNvSpPr>
          <p:nvPr/>
        </p:nvSpPr>
        <p:spPr>
          <a:xfrm xmlns:a="http://schemas.openxmlformats.org/drawingml/2006/main">
            <a:off x="731520" y="2971800"/>
            <a:ext cx="3392424" cy="3874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250" b="1">
                <a:solidFill>
                  <a:srgbClr val="1E2761"/>
                </a:solidFill>
                <a:latin typeface="Pretendard"/>
                <a:ea typeface="Pretendard"/>
                <a:cs typeface="Pretendard"/>
              </a:defRPr>
              <a:spcBef>
                <a:spcPts val="0"/>
              </a:spcBef>
              <a:spcAft>
                <a:spcPts val="0"/>
              </a:spcAft>
            </a:pPr>
            <a:r>
              <a:rPr sz="2250" b="1">
                <a:solidFill>
                  <a:srgbClr val="1E2761"/>
                </a:solidFill>
                <a:latin typeface="Pretendard"/>
                <a:ea typeface="Pretendard"/>
                <a:cs typeface="Pretendard"/>
              </a:rPr>
              <a:t>35명</a:t>
            </a:r>
          </a:p>
        </p:txBody>
      </p:sp>
      <p:sp>
        <p:nvSpPr>
          <p:cNvPr id="8" name="s53_body_7">
            <a:extLst xmlns:a="http://schemas.openxmlformats.org/drawingml/2006/main">
              <a:ext uri="{FF2B5EF4-FFF2-40B4-BE49-F238E27FC236}">
                <a16:creationId xmlns:a16="http://schemas.microsoft.com/office/drawing/2014/main" id="{0929D64B-A302-44B1-BEDC-B197C606F829}"/>
              </a:ext>
            </a:extLst>
          </p:cNvPr>
          <p:cNvSpPr>
            <a:spLocks xmlns:a="http://schemas.openxmlformats.org/drawingml/2006/main" noGrp="1"/>
          </p:cNvSpPr>
          <p:nvPr/>
        </p:nvSpPr>
        <p:spPr>
          <a:xfrm xmlns:a="http://schemas.openxmlformats.org/drawingml/2006/main">
            <a:off x="731520" y="3706749"/>
            <a:ext cx="3392424"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관제요원 설문 참여자</a:t>
            </a:r>
          </a:p>
        </p:txBody>
      </p:sp>
      <p:sp>
        <p:nvSpPr>
          <p:cNvPr id="9" name="s53_body_8">
            <a:extLst xmlns:a="http://schemas.openxmlformats.org/drawingml/2006/main">
              <a:ext uri="{FF2B5EF4-FFF2-40B4-BE49-F238E27FC236}">
                <a16:creationId xmlns:a16="http://schemas.microsoft.com/office/drawing/2014/main" id="{6B44821A-3D1C-4C51-AE77-5D946852E7B5}"/>
              </a:ext>
            </a:extLst>
          </p:cNvPr>
          <p:cNvSpPr>
            <a:spLocks xmlns:a="http://schemas.openxmlformats.org/drawingml/2006/main" noGrp="1"/>
          </p:cNvSpPr>
          <p:nvPr/>
        </p:nvSpPr>
        <p:spPr>
          <a:xfrm xmlns:a="http://schemas.openxmlformats.org/drawingml/2006/main">
            <a:off x="4398264" y="2423160"/>
            <a:ext cx="3392424"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정확도 문항</a:t>
            </a:r>
          </a:p>
        </p:txBody>
      </p:sp>
      <p:sp>
        <p:nvSpPr>
          <p:cNvPr id="10" name="s53_body_9">
            <a:extLst xmlns:a="http://schemas.openxmlformats.org/drawingml/2006/main">
              <a:ext uri="{FF2B5EF4-FFF2-40B4-BE49-F238E27FC236}">
                <a16:creationId xmlns:a16="http://schemas.microsoft.com/office/drawing/2014/main" id="{098C5258-F1FC-4917-A698-1744179912C1}"/>
              </a:ext>
            </a:extLst>
          </p:cNvPr>
          <p:cNvSpPr>
            <a:spLocks xmlns:a="http://schemas.openxmlformats.org/drawingml/2006/main" noGrp="1"/>
          </p:cNvSpPr>
          <p:nvPr/>
        </p:nvSpPr>
        <p:spPr>
          <a:xfrm xmlns:a="http://schemas.openxmlformats.org/drawingml/2006/main">
            <a:off x="4398264" y="2971800"/>
            <a:ext cx="3392424" cy="3874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250" b="1">
                <a:solidFill>
                  <a:srgbClr val="1E2761"/>
                </a:solidFill>
                <a:latin typeface="Pretendard"/>
                <a:ea typeface="Pretendard"/>
                <a:cs typeface="Pretendard"/>
              </a:defRPr>
              <a:spcBef>
                <a:spcPts val="0"/>
              </a:spcBef>
              <a:spcAft>
                <a:spcPts val="0"/>
              </a:spcAft>
            </a:pPr>
            <a:r>
              <a:rPr sz="2250" b="1">
                <a:solidFill>
                  <a:srgbClr val="1E2761"/>
                </a:solidFill>
                <a:latin typeface="Pretendard"/>
                <a:ea typeface="Pretendard"/>
                <a:cs typeface="Pretendard"/>
              </a:rPr>
              <a:t>34명</a:t>
            </a:r>
          </a:p>
        </p:txBody>
      </p:sp>
      <p:sp>
        <p:nvSpPr>
          <p:cNvPr id="11" name="s53_body_10">
            <a:extLst xmlns:a="http://schemas.openxmlformats.org/drawingml/2006/main">
              <a:ext uri="{FF2B5EF4-FFF2-40B4-BE49-F238E27FC236}">
                <a16:creationId xmlns:a16="http://schemas.microsoft.com/office/drawing/2014/main" id="{5A18EF2D-901D-48F4-946A-33BED40E1DF7}"/>
              </a:ext>
            </a:extLst>
          </p:cNvPr>
          <p:cNvSpPr>
            <a:spLocks xmlns:a="http://schemas.openxmlformats.org/drawingml/2006/main" noGrp="1"/>
          </p:cNvSpPr>
          <p:nvPr/>
        </p:nvSpPr>
        <p:spPr>
          <a:xfrm xmlns:a="http://schemas.openxmlformats.org/drawingml/2006/main">
            <a:off x="4398264" y="3706749"/>
            <a:ext cx="3392424"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해당 문항에 답한 요원</a:t>
            </a:r>
          </a:p>
        </p:txBody>
      </p:sp>
      <p:sp>
        <p:nvSpPr>
          <p:cNvPr id="12" name="s53_body_11">
            <a:extLst xmlns:a="http://schemas.openxmlformats.org/drawingml/2006/main">
              <a:ext uri="{FF2B5EF4-FFF2-40B4-BE49-F238E27FC236}">
                <a16:creationId xmlns:a16="http://schemas.microsoft.com/office/drawing/2014/main" id="{A0857578-C5A5-466A-9CC9-2B04E97206B4}"/>
              </a:ext>
            </a:extLst>
          </p:cNvPr>
          <p:cNvSpPr>
            <a:spLocks xmlns:a="http://schemas.openxmlformats.org/drawingml/2006/main" noGrp="1"/>
          </p:cNvSpPr>
          <p:nvPr/>
        </p:nvSpPr>
        <p:spPr>
          <a:xfrm xmlns:a="http://schemas.openxmlformats.org/drawingml/2006/main">
            <a:off x="8065008" y="2423160"/>
            <a:ext cx="3392424" cy="245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300" b="1">
                <a:solidFill>
                  <a:srgbClr val="1E2761"/>
                </a:solidFill>
                <a:latin typeface="Pretendard"/>
                <a:ea typeface="Pretendard"/>
                <a:cs typeface="Pretendard"/>
              </a:defRPr>
              <a:spcBef>
                <a:spcPts val="0"/>
              </a:spcBef>
              <a:spcAft>
                <a:spcPts val="0"/>
              </a:spcAft>
            </a:pPr>
            <a:r>
              <a:rPr sz="1300" b="1">
                <a:solidFill>
                  <a:srgbClr val="1E2761"/>
                </a:solidFill>
                <a:latin typeface="Pretendard"/>
                <a:ea typeface="Pretendard"/>
                <a:cs typeface="Pretendard"/>
              </a:rPr>
              <a:t>50% 미만 응답</a:t>
            </a:r>
          </a:p>
        </p:txBody>
      </p:sp>
      <p:sp>
        <p:nvSpPr>
          <p:cNvPr id="13" name="s53_body_12">
            <a:extLst xmlns:a="http://schemas.openxmlformats.org/drawingml/2006/main">
              <a:ext uri="{FF2B5EF4-FFF2-40B4-BE49-F238E27FC236}">
                <a16:creationId xmlns:a16="http://schemas.microsoft.com/office/drawing/2014/main" id="{EE80B37B-20AC-4CC3-949E-23BD818BCA40}"/>
              </a:ext>
            </a:extLst>
          </p:cNvPr>
          <p:cNvSpPr>
            <a:spLocks xmlns:a="http://schemas.openxmlformats.org/drawingml/2006/main" noGrp="1"/>
          </p:cNvSpPr>
          <p:nvPr/>
        </p:nvSpPr>
        <p:spPr>
          <a:xfrm xmlns:a="http://schemas.openxmlformats.org/drawingml/2006/main">
            <a:off x="8065008" y="2971800"/>
            <a:ext cx="3392424" cy="3874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2250" b="1">
                <a:solidFill>
                  <a:srgbClr val="1E2761"/>
                </a:solidFill>
                <a:latin typeface="Pretendard"/>
                <a:ea typeface="Pretendard"/>
                <a:cs typeface="Pretendard"/>
              </a:defRPr>
              <a:spcBef>
                <a:spcPts val="0"/>
              </a:spcBef>
              <a:spcAft>
                <a:spcPts val="0"/>
              </a:spcAft>
            </a:pPr>
            <a:r>
              <a:rPr sz="2250" b="1">
                <a:solidFill>
                  <a:srgbClr val="1E2761"/>
                </a:solidFill>
                <a:latin typeface="Pretendard"/>
                <a:ea typeface="Pretendard"/>
                <a:cs typeface="Pretendard"/>
              </a:rPr>
              <a:t>27명</a:t>
            </a:r>
          </a:p>
        </p:txBody>
      </p:sp>
      <p:sp>
        <p:nvSpPr>
          <p:cNvPr id="14" name="s53_body_13">
            <a:extLst xmlns:a="http://schemas.openxmlformats.org/drawingml/2006/main">
              <a:ext uri="{FF2B5EF4-FFF2-40B4-BE49-F238E27FC236}">
                <a16:creationId xmlns:a16="http://schemas.microsoft.com/office/drawing/2014/main" id="{4450461F-C938-4BAB-9D6B-804C06D94BDD}"/>
              </a:ext>
            </a:extLst>
          </p:cNvPr>
          <p:cNvSpPr>
            <a:spLocks xmlns:a="http://schemas.openxmlformats.org/drawingml/2006/main" noGrp="1"/>
          </p:cNvSpPr>
          <p:nvPr/>
        </p:nvSpPr>
        <p:spPr>
          <a:xfrm xmlns:a="http://schemas.openxmlformats.org/drawingml/2006/main">
            <a:off x="8065008" y="3706749"/>
            <a:ext cx="3392424" cy="260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400" b="0">
                <a:solidFill>
                  <a:srgbClr val="222633"/>
                </a:solidFill>
                <a:latin typeface="Pretendard"/>
                <a:ea typeface="Pretendard"/>
                <a:cs typeface="Pretendard"/>
              </a:defRPr>
              <a:spcBef>
                <a:spcPts val="0"/>
              </a:spcBef>
              <a:spcAft>
                <a:spcPts val="0"/>
              </a:spcAft>
            </a:pPr>
            <a:r>
              <a:rPr sz="1400" b="0">
                <a:solidFill>
                  <a:srgbClr val="222633"/>
                </a:solidFill>
                <a:latin typeface="Pretendard"/>
                <a:ea typeface="Pretendard"/>
                <a:cs typeface="Pretendard"/>
              </a:rPr>
              <a:t>체감 정확도를 50% 미만으로 선택</a:t>
            </a:r>
          </a:p>
        </p:txBody>
      </p:sp>
      <p:sp>
        <p:nvSpPr>
          <p:cNvPr id="15" name="s53_scope_14">
            <a:extLst xmlns:a="http://schemas.openxmlformats.org/drawingml/2006/main">
              <a:ext uri="{FF2B5EF4-FFF2-40B4-BE49-F238E27FC236}">
                <a16:creationId xmlns:a16="http://schemas.microsoft.com/office/drawing/2014/main" id="{B51FB0BC-13B3-4499-8A08-976C56B3D38C}"/>
              </a:ext>
            </a:extLst>
          </p:cNvPr>
          <p:cNvSpPr>
            <a:spLocks xmlns:a="http://schemas.openxmlformats.org/drawingml/2006/main" noGrp="1"/>
          </p:cNvSpPr>
          <p:nvPr/>
        </p:nvSpPr>
        <p:spPr>
          <a:xfrm xmlns:a="http://schemas.openxmlformats.org/drawingml/2006/main">
            <a:off x="731520" y="5878068"/>
            <a:ext cx="10725912" cy="2301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defRPr sz="1200" b="0">
                <a:solidFill>
                  <a:srgbClr val="A8871C"/>
                </a:solidFill>
                <a:latin typeface="Pretendard"/>
                <a:ea typeface="Pretendard"/>
                <a:cs typeface="Pretendard"/>
              </a:defRPr>
              <a:spcBef>
                <a:spcPts val="0"/>
              </a:spcBef>
              <a:spcAft>
                <a:spcPts val="0"/>
              </a:spcAft>
            </a:pPr>
            <a:r>
              <a:rPr sz="1200" b="0">
                <a:solidFill>
                  <a:srgbClr val="A8871C"/>
                </a:solidFill>
                <a:latin typeface="Pretendard"/>
                <a:ea typeface="Pretendard"/>
                <a:cs typeface="Pretendard"/>
              </a:rPr>
              <a:t>측정 대상: 관제요원의 인식 · 일반 지능형 선별관제</a:t>
            </a:r>
          </a:p>
        </p:txBody>
      </p:sp>
      <p:sp>
        <p:nvSpPr>
          <p:cNvPr id="16" name="">
            <a:extLst xmlns:a="http://schemas.openxmlformats.org/drawingml/2006/main">
              <a:ext uri="{FF2B5EF4-FFF2-40B4-BE49-F238E27FC236}">
                <a16:creationId xmlns:a16="http://schemas.microsoft.com/office/drawing/2014/main" id="{9A3505CE-095D-43A2-845F-040B36BDDF89}"/>
              </a:ext>
            </a:extLst>
          </p:cNvPr>
          <p:cNvSpPr>
            <a:spLocks xmlns:a="http://schemas.openxmlformats.org/drawingml/2006/main" noGrp="1"/>
          </p:cNvSpPr>
          <p:nvPr/>
        </p:nvSpPr>
        <p:spPr>
          <a:xfrm xmlns:a="http://schemas.openxmlformats.org/drawingml/2006/main">
            <a:off x="731520" y="6144768"/>
            <a:ext cx="10725912" cy="0"/>
          </a:xfrm>
          <a:prstGeom xmlns:a="http://schemas.openxmlformats.org/drawingml/2006/main" prst="line">
            <a:avLst/>
          </a:prstGeom>
          <a:noFill xmlns:a="http://schemas.openxmlformats.org/drawingml/2006/main"/>
          <a:ln xmlns:a="http://schemas.openxmlformats.org/drawingml/2006/main" w="7620">
            <a:solidFill>
              <a:srgbClr val="DCE0E8"/>
            </a:solidFill>
          </a:ln>
        </p:spPr>
      </p:sp>
    </p:spTree>
    <p:extLst>
      <p:ext uri="{BB962C8B-B14F-4D97-AF65-F5344CB8AC3E}">
        <p14:creationId xmlns:p14="http://schemas.microsoft.com/office/powerpoint/2010/main" val="19975691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Pretendard"/>
        <a:ea typeface="Pretendard"/>
        <a:cs typeface="Pretendard"/>
      </a:majorFont>
      <a:minorFont>
        <a:latin typeface="Pretendard"/>
        <a:ea typeface="Pretendard"/>
        <a:cs typeface="Pretendard"/>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2026-10-08T02:39:22.1760000Z</dcterms:created>
  <dcterms:modified xsi:type="dcterms:W3CDTF">2026-10-08T02:39:22.1760000Z</dcterms:modified>
</coreProperties>
</file>