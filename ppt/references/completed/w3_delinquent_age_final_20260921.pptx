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7"/>
  </p:notesMasterIdLst>
  <p:sldIdLst>
    <p:sldId id="256" r:id="rId2"/>
    <p:sldId id="373" r:id="rId3"/>
    <p:sldId id="258" r:id="rId4"/>
    <p:sldId id="259" r:id="rId5"/>
    <p:sldId id="274" r:id="rId6"/>
    <p:sldId id="260" r:id="rId7"/>
    <p:sldId id="261" r:id="rId8"/>
    <p:sldId id="275" r:id="rId9"/>
    <p:sldId id="264" r:id="rId10"/>
    <p:sldId id="265" r:id="rId11"/>
    <p:sldId id="374" r:id="rId12"/>
    <p:sldId id="375" r:id="rId13"/>
    <p:sldId id="267" r:id="rId14"/>
    <p:sldId id="376" r:id="rId15"/>
    <p:sldId id="377" r:id="rId16"/>
    <p:sldId id="270" r:id="rId17"/>
    <p:sldId id="271" r:id="rId18"/>
    <p:sldId id="380" r:id="rId19"/>
    <p:sldId id="272" r:id="rId20"/>
    <p:sldId id="381" r:id="rId21"/>
    <p:sldId id="383" r:id="rId22"/>
    <p:sldId id="262" r:id="rId23"/>
    <p:sldId id="382" r:id="rId24"/>
    <p:sldId id="263" r:id="rId25"/>
    <p:sldId id="277" r:id="rId26"/>
    <p:sldId id="332" r:id="rId27"/>
    <p:sldId id="366" r:id="rId28"/>
    <p:sldId id="278" r:id="rId29"/>
    <p:sldId id="384" r:id="rId30"/>
    <p:sldId id="385" r:id="rId31"/>
    <p:sldId id="340" r:id="rId32"/>
    <p:sldId id="328" r:id="rId33"/>
    <p:sldId id="342" r:id="rId34"/>
    <p:sldId id="280" r:id="rId35"/>
    <p:sldId id="386" r:id="rId36"/>
    <p:sldId id="387" r:id="rId37"/>
    <p:sldId id="344" r:id="rId38"/>
    <p:sldId id="345" r:id="rId39"/>
    <p:sldId id="346" r:id="rId40"/>
    <p:sldId id="347" r:id="rId41"/>
    <p:sldId id="348" r:id="rId42"/>
    <p:sldId id="388" r:id="rId43"/>
    <p:sldId id="350" r:id="rId44"/>
    <p:sldId id="351" r:id="rId45"/>
    <p:sldId id="352" r:id="rId46"/>
    <p:sldId id="389" r:id="rId47"/>
    <p:sldId id="283" r:id="rId48"/>
    <p:sldId id="390" r:id="rId49"/>
    <p:sldId id="391" r:id="rId50"/>
    <p:sldId id="359" r:id="rId51"/>
    <p:sldId id="361" r:id="rId52"/>
    <p:sldId id="362" r:id="rId53"/>
    <p:sldId id="363" r:id="rId54"/>
    <p:sldId id="290" r:id="rId55"/>
    <p:sldId id="291" r:id="rId56"/>
    <p:sldId id="294" r:id="rId57"/>
    <p:sldId id="295" r:id="rId58"/>
    <p:sldId id="370" r:id="rId59"/>
    <p:sldId id="392" r:id="rId60"/>
    <p:sldId id="395" r:id="rId61"/>
    <p:sldId id="394" r:id="rId62"/>
    <p:sldId id="313" r:id="rId63"/>
    <p:sldId id="314" r:id="rId64"/>
    <p:sldId id="301" r:id="rId65"/>
    <p:sldId id="364" r:id="rId66"/>
    <p:sldId id="292" r:id="rId67"/>
    <p:sldId id="293" r:id="rId68"/>
    <p:sldId id="320" r:id="rId69"/>
    <p:sldId id="321" r:id="rId70"/>
    <p:sldId id="325" r:id="rId71"/>
    <p:sldId id="305" r:id="rId72"/>
    <p:sldId id="306" r:id="rId73"/>
    <p:sldId id="307" r:id="rId74"/>
    <p:sldId id="296" r:id="rId75"/>
    <p:sldId id="298" r:id="rId76"/>
    <p:sldId id="315" r:id="rId77"/>
    <p:sldId id="316" r:id="rId78"/>
    <p:sldId id="317" r:id="rId79"/>
    <p:sldId id="318" r:id="rId80"/>
    <p:sldId id="319" r:id="rId81"/>
    <p:sldId id="322" r:id="rId82"/>
    <p:sldId id="323" r:id="rId83"/>
    <p:sldId id="324" r:id="rId84"/>
    <p:sldId id="326" r:id="rId85"/>
    <p:sldId id="327" r:id="rId8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6699"/>
    <a:srgbClr val="1E2761"/>
    <a:srgbClr val="F2F4F8"/>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2" autoAdjust="0"/>
    <p:restoredTop sz="94660"/>
  </p:normalViewPr>
  <p:slideViewPr>
    <p:cSldViewPr snapToGrid="0" snapToObjects="1">
      <p:cViewPr varScale="1">
        <p:scale>
          <a:sx n="150" d="100"/>
          <a:sy n="150" d="100"/>
        </p:scale>
        <p:origin x="32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584998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v24 표지의 글꼴·색·중앙 정렬을 유지한다. 논제와 과목·주차를 구분하고 쟁점 물음을 추가하지 않는다.</a:t>
            </a:r>
          </a:p>
          <a:p>
            <a:r>
              <a:rPr lang="ko-KR" sz="1100" dirty="0"/>
              <a:t>[제작 메모] 기존 검토반영 대본 P01의 설명을 사용한다. 핵심 설명과 한정은 이 장의 화면 문구에도 포함했다.</a:t>
            </a:r>
          </a:p>
          <a:p>
            <a:r>
              <a:rPr lang="ko-KR" sz="1100" dirty="0"/>
              <a:t>[대본] v27 대본 재작성 대상 — 화면 문구는 이 장에 수록되어 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4개 흐름을 각각 두 단원으로 구성한다. 단원명은 이후 키커와 글자까지 일치시킨다. 초반에는 네 쟁점 물음 목록을 두지 않는다.</a:t>
            </a:r>
          </a:p>
          <a:p>
            <a:r>
              <a:rPr lang="ko-KR" sz="1100" dirty="0"/>
              <a:t>[제작 메모] 기존 검토반영 대본 P02의 설명을 사용한다. 핵심 설명과 한정은 이 장의 화면 문구에도 포함했다.</a:t>
            </a:r>
          </a:p>
          <a:p>
            <a:r>
              <a:rPr lang="ko-KR" sz="1100" dirty="0"/>
              <a:t>[대본] v27 대본 재작성 대상 — 화면 문구는 이 장에 수록되어 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조문 두 열은 대상·효과의 대응행을 맞춘다. 아래에 개념 구별과 오늘의 적용 연령을 둔다. 두 열 위·아래 안쪽 여백을 동일하게 잡는다.</a:t>
            </a:r>
          </a:p>
          <a:p>
            <a:r>
              <a:rPr lang="ko-KR" sz="1100" dirty="0"/>
              <a:t>[제작 메모] 기존 검토반영 대본 P03의 설명을 사용한다. 핵심 설명과 한정은 이 장의 화면 문구에도 포함했다.</a:t>
            </a:r>
          </a:p>
          <a:p>
            <a:r>
              <a:rPr lang="ko-KR" sz="1100" dirty="0"/>
              <a:t>[제작 메모] 형법 원문에는 “14세가 되지 아니한 자”가 아니라 “14세되지 아니한 자”라고 붙여 적혀 있다. 오타가 아니라 현행 조문 표현이며, “14세가 되지 아니한 자”는 질서위반행위규제법 제9조의 표기다.</a:t>
            </a:r>
          </a:p>
          <a:p>
            <a:r>
              <a:rPr lang="ko-KR" sz="1100" dirty="0"/>
              <a:t>[자료] 형법 제9조(1953년 제정) · 소년법 제4조 제1항 제2호(2007년 개정, 2008년 시행으로 촉법소년 하한 12세 → 10세)</a:t>
            </a:r>
          </a:p>
          <a:p>
            <a:r>
              <a:rPr lang="ko-KR" sz="1100" dirty="0"/>
              <a:t>원출처 1 · www.law.go.kr</a:t>
            </a:r>
          </a:p>
          <a:p>
            <a:r>
              <a:rPr lang="ko-KR" sz="1100" dirty="0"/>
              <a:t>원출처 2 · www.law.go.kr</a:t>
            </a:r>
          </a:p>
          <a:p>
            <a:r>
              <a:rPr lang="ko-KR" sz="1100" dirty="0"/>
              <a:t>원출처 3 · www.law.go.kr</a:t>
            </a:r>
          </a:p>
          <a:p>
            <a:r>
              <a:rPr lang="ko-KR" sz="1100" dirty="0"/>
              <a:t>[대본] v27 대본 재작성 대상 — 화면 문구는 이 장에 수록되어 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연령 축 도식. 두 조문을 같은 축 위에 놓아 형사미성년자(나이만)와 촉법소년(나이+행위)이 다른 기준임을 보인다. 13세는 하향안의 새 적용 대상으로만 표시한다.</a:t>
            </a:r>
          </a:p>
          <a:p>
            <a:r>
              <a:rPr lang="ko-KR" sz="1100" dirty="0"/>
              <a:t>[자료] 형법 제9조 · 소년법 제2조·제4조 제1항</a:t>
            </a:r>
          </a:p>
          <a:p>
            <a:r>
              <a:rPr lang="ko-KR" sz="1100" dirty="0"/>
              <a:t>[대본] v27 대본 재작성 대상 — 화면 문구는 이 장에 수록되어 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사건 경위를 위에, 피해·현행 대응·예방효과의 구분을 아래에 둔다. 자극적인 사진 대신 확인된 사건 흐름과 적용 연령을 제시한다.</a:t>
            </a:r>
          </a:p>
          <a:p>
            <a:r>
              <a:rPr lang="ko-KR" sz="1100" dirty="0"/>
              <a:t>[제작 메모] 기존 검토반영 대본 P16의 설명을 사용한다. 핵심 설명과 한정은 이 장의 화면 문구에도 포함했다.</a:t>
            </a:r>
          </a:p>
          <a:p>
            <a:r>
              <a:rPr lang="ko-KR" sz="1100" dirty="0"/>
              <a:t>[제작 메모] [화면에서 내림] 아래 경위는 언론보도 범위이며, 최종 보호처분이나 이후 행동까지 확인한 자료는 아니다.</a:t>
            </a:r>
          </a:p>
          <a:p>
            <a:r>
              <a:rPr lang="ko-KR" sz="1100" dirty="0"/>
              <a:t>[제작 메모] [화면에서 내림] 최종 보호처분과 이후 재범 여부는 이 보도만으로 확인하지 않는다.</a:t>
            </a:r>
          </a:p>
          <a:p>
            <a:r>
              <a:rPr lang="ko-KR" sz="1100" dirty="0"/>
              <a:t>[자료] 연합뉴스 2020.4.3. · MBC 뉴스데스크 보도 기준</a:t>
            </a:r>
          </a:p>
          <a:p>
            <a:r>
              <a:rPr lang="ko-KR" sz="1100" dirty="0"/>
              <a:t>원출처 1 · www.yna.co.kr</a:t>
            </a:r>
          </a:p>
          <a:p>
            <a:r>
              <a:rPr lang="ko-KR" sz="1100" dirty="0"/>
              <a:t>원출처 2 · imnews.imbc.com</a:t>
            </a:r>
          </a:p>
          <a:p>
            <a:r>
              <a:rPr lang="ko-KR" sz="1100" dirty="0"/>
              <a:t>원출처 3 · www.law.go.kr</a:t>
            </a:r>
          </a:p>
          <a:p>
            <a:r>
              <a:rPr lang="ko-KR" sz="1100" dirty="0"/>
              <a:t>[대본] v27 대본 재작성 대상 — 화면 문구는 이 장에 수록되어 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밝은 바탕의 3개 연령 행으로 도식을 다시 그린다. 화살표와 글자는 남색으로 충분한 대비를 확보한다. 검찰 노드는 범죄소년 행에만 둔다. 마지막 단락은 금색 보충문으로 본문 안에 둔다.</a:t>
            </a:r>
          </a:p>
          <a:p>
            <a:r>
              <a:rPr lang="ko-KR" sz="1100" dirty="0"/>
              <a:t>[제작 메모] 기존 검토반영 대본 P05의 설명을 사용한다. 핵심 설명과 한정은 이 장의 화면 문구에도 포함했다.</a:t>
            </a:r>
          </a:p>
          <a:p>
            <a:r>
              <a:rPr lang="ko-KR" sz="1100" dirty="0"/>
              <a:t>[제작 메모] [삭제한 장에서 옮김] 기소 후에도 형사법원은 보호처분이 적절하다고 보아 소년부로 송치할 수 있다. 도식의 소년부 송치 화살표에서 짚는다.</a:t>
            </a:r>
          </a:p>
          <a:p>
            <a:r>
              <a:rPr lang="ko-KR" sz="1100" dirty="0"/>
              <a:t>[자료] 소년법 제4조·제49조·제50조 · 대표 경로이며, 보호자 등의 통고·10세 미만의 아동보호는 별도 요건에 따른다</a:t>
            </a:r>
          </a:p>
          <a:p>
            <a:r>
              <a:rPr lang="ko-KR" sz="1100" dirty="0"/>
              <a:t>원출처 1 · www.law.go.kr</a:t>
            </a:r>
          </a:p>
          <a:p>
            <a:r>
              <a:rPr lang="ko-KR" sz="1100" dirty="0"/>
              <a:t>원출처 2 · www.law.go.kr</a:t>
            </a:r>
          </a:p>
          <a:p>
            <a:r>
              <a:rPr lang="ko-KR" sz="1100" dirty="0"/>
              <a:t>원출처 3 · www.law.go.kr</a:t>
            </a:r>
          </a:p>
          <a:p>
            <a:r>
              <a:rPr lang="ko-KR" sz="1100" dirty="0"/>
              <a:t>[대본] v27 대본 재작성 대상 — 화면 문구는 이 장에 수록되어 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일괄 하향은 해당 연령의 형벌 법령 저촉행위 전반에, 조건부 하향은 법률에서 정한 사건에 형사책임 가능성을 연다는 점은 정책대안 구간에서 다시 본다.</a:t>
            </a:r>
          </a:p>
          <a:p>
            <a:r>
              <a:rPr lang="ko-KR" sz="1100" dirty="0"/>
              <a:t>[자료] 소년법 제4조 · 제49조 · 제50조 · 형사소송법</a:t>
            </a:r>
          </a:p>
          <a:p>
            <a:r>
              <a:rPr lang="ko-KR" sz="1100" dirty="0"/>
              <a:t>[대본] v27 대본 재작성 대상 — 화면 문구는 이 장에 수록되어 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[v51 기준 승인 변경] 소년사법의 목적 — 응보·예방·보호</a:t>
            </a:r>
          </a:p>
          <a:p>
            <a:r>
              <a:t>[화면과 설명]</a:t>
            </a:r>
          </a:p>
          <a:p>
            <a:r>
              <a:t>응보와 책임</a:t>
            </a:r>
          </a:p>
          <a:p>
            <a:r>
              <a:t>형벌은 행위의 잘못과 행위자의 책임에 상응해야 한다.</a:t>
            </a:r>
          </a:p>
          <a:p>
            <a:r>
              <a:t>피해가 중대하더라도 소년에게 인정할 수 있는 책임을 먼저 판단해야 한다.</a:t>
            </a:r>
          </a:p>
          <a:p>
            <a:r>
              <a:t>범행 당시의 이해·통제능력과 행위의 중대성을 함께 고려한다.</a:t>
            </a:r>
          </a:p>
          <a:p>
            <a:r>
              <a:t>범죄예방</a:t>
            </a:r>
          </a:p>
          <a:p>
            <a:r>
              <a:t>장래의 범죄와 재범을 줄이는 효과를 중시한다.</a:t>
            </a:r>
          </a:p>
          <a:p>
            <a:r>
              <a:t>처벌 가능성이 다른 소년의 범행을 억제하는지와, 해당 소년에 대한 개입이 재범을 줄이는지를 구별한다.</a:t>
            </a:r>
          </a:p>
          <a:p>
            <a:r>
              <a:t>보호와 교화</a:t>
            </a:r>
          </a:p>
          <a:p>
            <a:r>
              <a:t>환경 조정과 교육·치료를 통해 건전한 성장을 돕는다.</a:t>
            </a:r>
          </a:p>
          <a:p>
            <a:r>
              <a:t>보호처분뿐 아니라 소년형사사건의 감경·처우 특례에도 소년의 특성과 교정 목적이 반영된다.</a:t>
            </a:r>
          </a:p>
          <a:p>
            <a:r>
              <a:t>이번 논제는 보호절차가 있는 13세에게 형벌로 책임을 물을 가능성까지 추가할 것인가를 묻는다.</a:t>
            </a:r>
          </a:p>
          <a:p>
            <a:r>
              <a:t>[자료] 소년법 제1조·제60조 · 형법 제9조·제10조 · 세 관점은 2주차 형벌목적 논의의 강의용 정리</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5개 처분을 처분명 / 실제 내용 / 기간·시간 / 연령 제한의 표로 배치한다. 설명과 표를 합쳐 한 장으로 읽히게 한다.</a:t>
            </a:r>
          </a:p>
          <a:p>
            <a:r>
              <a:rPr lang="ko-KR" sz="1100" dirty="0"/>
              <a:t>[제작 메모] 기존 대본 P07의 처분 개요와 1~5호·연령 제한 설명을 사용한다.</a:t>
            </a:r>
          </a:p>
          <a:p>
            <a:r>
              <a:rPr lang="ko-KR" sz="1100" dirty="0"/>
              <a:t>[자료] 소년법 제32조 · 제33조</a:t>
            </a:r>
          </a:p>
          <a:p>
            <a:r>
              <a:rPr lang="ko-KR" sz="1100" dirty="0"/>
              <a:t>원출처 1 · www.law.go.kr</a:t>
            </a:r>
          </a:p>
          <a:p>
            <a:r>
              <a:rPr lang="ko-KR" sz="1100" dirty="0"/>
              <a:t>[대본] v27 대본 재작성 대상 — 화면 문구는 이 장에 수록되어 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6~7호 위탁과 8~10호 소년원 송치를 두 묶음으로 배치한다. 마지막 설명은 표 아래 본문에 두고 밴드를 최하단에 둔다.</a:t>
            </a:r>
          </a:p>
          <a:p>
            <a:r>
              <a:rPr lang="ko-KR" sz="1100" dirty="0"/>
              <a:t>[제작 메모] 기존 대본 P07의 시설위탁·소년원 기간·실제 집행 설명을 이어 사용한다.</a:t>
            </a:r>
          </a:p>
          <a:p>
            <a:r>
              <a:rPr lang="ko-KR" sz="1100" dirty="0"/>
              <a:t>[자료] 소년법 제32조 · 제33조</a:t>
            </a:r>
          </a:p>
          <a:p>
            <a:r>
              <a:rPr lang="ko-KR" sz="1100" dirty="0"/>
              <a:t>원출처 1 · www.law.go.kr</a:t>
            </a:r>
          </a:p>
          <a:p>
            <a:r>
              <a:rPr lang="ko-KR" sz="1100" dirty="0"/>
              <a:t>[대본] v27 대본 재작성 대상 — 화면 문구는 이 장에 수록되어 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보호처분과 형 선고를 두 열로 비교한다. 법적 성격·특례·한정의 같은 역할 문구를 같은 크기와 굵기로 맞춘다. 핵심 요지는 14pt 중간 굵기, 부연은 13pt로 통일한다.</a:t>
            </a:r>
          </a:p>
          <a:p>
            <a:r>
              <a:rPr lang="ko-KR" sz="1100" dirty="0"/>
              <a:t>[제작 메모] 기존 검토반영 대본 P08의 설명을 사용한다. 핵심 설명과 한정은 이 장의 화면 문구에도 포함했다.</a:t>
            </a:r>
          </a:p>
          <a:p>
            <a:r>
              <a:rPr lang="ko-KR" sz="1100" dirty="0"/>
              <a:t>[제작 메모] 소년법 제67조 제2항 — 선고유예가 실효되거나 집행유예가 실효·취소된 때에는 그때에 형을 선고받은 것으로 본다.</a:t>
            </a:r>
          </a:p>
          <a:p>
            <a:r>
              <a:rPr lang="ko-KR" sz="1100" dirty="0"/>
              <a:t>[자료] 소년법 제32조 제6항·제67조 · 국가법령정보센터</a:t>
            </a:r>
          </a:p>
          <a:p>
            <a:r>
              <a:rPr lang="ko-KR" sz="1100" dirty="0"/>
              <a:t>원출처 1 · www.law.go.kr</a:t>
            </a:r>
          </a:p>
          <a:p>
            <a:r>
              <a:rPr lang="ko-KR" sz="1100" dirty="0"/>
              <a:t>[대본] v27 대본 재작성 대상 — 화면 문구는 이 장에 수록되어 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b="1"/>
              <a:t>핵심어</a:t>
            </a:r>
            <a:r>
              <a:t> 수사자료표 · 수사경력자료 · 범죄경력자료</a:t>
            </a:r>
          </a:p>
          <a:p>
            <a:endParaRPr/>
          </a:p>
          <a:p>
            <a:r>
              <a:rPr b="1"/>
              <a:t>말할 것</a:t>
            </a:r>
          </a:p>
          <a:p>
            <a:r>
              <a:t>세 가지를 섞지 않는 것이 이 장의 목적이다.</a:t>
            </a:r>
          </a:p>
          <a:p>
            <a:r>
              <a:t>촉법소년 사건은 수사자료표를 작성하지 않는다. 경찰 안내가 그렇게 설명한다. 다만 경찰의 사건처리 기록과 법원의 소년보호사건 기록은 이와 별개로 존재한다. 아무 기록도 남지 않는다는 뜻이 아니다.</a:t>
            </a:r>
          </a:p>
          <a:p>
            <a:r>
              <a:t>수사자료표가 작성된 소년사건에서는 처리결과에 따라 수사경력자료를 정리한다. 소년부의 불처분·심리불개시 결정이 있으면 해당 사항을 결정일부터 3년간 보존한 뒤 삭제한다(형의 실효 등에 관한 법률 제8조의2).</a:t>
            </a:r>
          </a:p>
          <a:p>
            <a:r>
              <a:t>벌금 이상 형 선고는 범죄경력자료로 관리되고, 소년 때 받은 형 선고의 자격법령상 특례는 소년법 제67조가 따로 정한다.</a:t>
            </a:r>
          </a:p>
          <a:p>
            <a:endParaRPr/>
          </a:p>
          <a:p>
            <a:r>
              <a:t>※ 촉법소년의 수사경력자료가 3년간 보존된다고 말하지 않는다. 두 규정은 적용 대상이 다르다.</a:t>
            </a:r>
          </a:p>
          <a:p>
            <a:r>
              <a:t>※ 이전 판에 있던 법원 보호사건 기록 10년, 보호처분 후 3년 회보 제한은 원규정과 기산점을 확인하기 전까지 화면에 올리지 않는다.</a:t>
            </a:r>
          </a:p>
          <a:p>
            <a:endParaRPr/>
          </a:p>
          <a:p>
            <a:r>
              <a:t>→ 다음: 소년사법 통계의 집계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작성·보존 / 조회 / 법적 이용의 구분을 3행으로 표현한다. 동일 위계 본문은 13pt로 통일하고 12.5pt 본문 혼용을 해소한다.</a:t>
            </a:r>
          </a:p>
          <a:p>
            <a:r>
              <a:rPr lang="ko-KR" sz="1100" dirty="0"/>
              <a:t>[제작 메모] 기존 검토반영 대본 P09의 설명을 사용한다. 핵심 설명과 한정은 이 장의 화면 문구에도 포함했다.</a:t>
            </a:r>
          </a:p>
          <a:p>
            <a:r>
              <a:rPr lang="ko-KR" sz="1100" dirty="0"/>
              <a:t>[자료] 소년법 제70조 · 형의 실효 등에 관한 법률 제2조·제8조의2 · 같은 법 시행령 제7조의2</a:t>
            </a:r>
          </a:p>
          <a:p>
            <a:r>
              <a:rPr lang="ko-KR" sz="1100" dirty="0"/>
              <a:t>원출처 1 · www.law.go.kr</a:t>
            </a:r>
          </a:p>
          <a:p>
            <a:r>
              <a:rPr lang="ko-KR" sz="1100" dirty="0"/>
              <a:t>원출처 2 · www.law.go.kr</a:t>
            </a:r>
          </a:p>
          <a:p>
            <a:r>
              <a:rPr lang="ko-KR" sz="1100" dirty="0"/>
              <a:t>원출처 3 · www.law.go.kr</a:t>
            </a:r>
          </a:p>
          <a:p>
            <a:r>
              <a:rPr lang="ko-KR" sz="1100" dirty="0"/>
              <a:t>원출처 4 · easylaw.go.kr</a:t>
            </a:r>
          </a:p>
          <a:p>
            <a:r>
              <a:rPr lang="ko-KR" sz="1100" dirty="0"/>
              <a:t>[대본] v27 대본 재작성 대상 — 화면 문구는 이 장에 수록되어 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경찰·법원·검찰을 대상 / 단계 / 단위의 같은 항목으로 표시한다.</a:t>
            </a:r>
          </a:p>
          <a:p>
            <a:r>
              <a:rPr lang="ko-KR" sz="1100" dirty="0"/>
              <a:t>[제작 메모] 기존 검토반영 대본 P11의 설명을 사용한다. 핵심 설명과 한정은 이 장의 화면 문구에도 포함했다.</a:t>
            </a:r>
          </a:p>
          <a:p>
            <a:r>
              <a:rPr lang="ko-KR" sz="1100" dirty="0"/>
              <a:t>[제작 메모] [화면에서 내림] 기관 간 비교의 조건 — 집계 연도·연령·단위·사건의 연결 여부가 맞아야 같은 집단의 처리과정을 계산할 수 있다는 점은 발화로 짚는다.</a:t>
            </a:r>
          </a:p>
          <a:p>
            <a:r>
              <a:rPr lang="ko-KR" sz="1100" dirty="0"/>
              <a:t>[제작 메모] [화면에서 내림] 촉법소년을 검찰이 처리한 자료로 읽지 않는다.</a:t>
            </a:r>
          </a:p>
          <a:p>
            <a:r>
              <a:rPr lang="ko-KR" sz="1100" dirty="0"/>
              <a:t>[자료] 경찰청·법원행정처 자료를 수록한 성평등가족부 2026.7.14. 공식 발표</a:t>
            </a:r>
          </a:p>
          <a:p>
            <a:r>
              <a:rPr lang="ko-KR" sz="1100" dirty="0"/>
              <a:t>원출처 1 · www.mogef.go.kr</a:t>
            </a:r>
          </a:p>
          <a:p>
            <a:r>
              <a:rPr lang="ko-KR" sz="1100" dirty="0"/>
              <a:t>[대본] v27 대본 재작성 대상 — 화면 문구는 이 장에 수록되어 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대검찰청 범죄분석통계 계열의 2024년 소년범죄자 61,956명과 같은 통계가 아니다. 한 화면에서 섞지 않는다.</a:t>
            </a:r>
          </a:p>
          <a:p>
            <a:r>
              <a:rPr lang="ko-KR" sz="1100" dirty="0"/>
              <a:t>[자료] 2026 청소년정책 포럼 자료집 「촉법소년 나이대별 소년부송치 통계」(경찰청·법무부)</a:t>
            </a:r>
          </a:p>
          <a:p>
            <a:r>
              <a:rPr lang="ko-KR" sz="1100" dirty="0"/>
              <a:t>[자료] 경찰청 계열 통계 — 한국형사·법무정책연구원 「경찰의 죄종별 소년범 현황」</a:t>
            </a:r>
          </a:p>
          <a:p>
            <a:r>
              <a:rPr lang="ko-KR" sz="1100" dirty="0"/>
              <a:t>원출처 1 · www.mogef.go.kr</a:t>
            </a:r>
          </a:p>
          <a:p>
            <a:r>
              <a:rPr lang="ko-KR" sz="1100" dirty="0"/>
              <a:t>[대본] v27 대본 재작성 대상 — 화면 문구는 이 장에 수록되어 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원표는 2019~2025년을 담고 있으며 2025년 총계는 21,095명이다.</a:t>
            </a:r>
          </a:p>
          <a:p>
            <a:r>
              <a:rPr lang="ko-KR" sz="1100" dirty="0"/>
              <a:t>[자료] 2026 청소년정책 포럼 자료집 「촉법소년 나이대별 소년부송치 통계」(경찰청·법무부)</a:t>
            </a:r>
          </a:p>
          <a:p>
            <a:r>
              <a:rPr lang="ko-KR" sz="1100" dirty="0"/>
              <a:t>[대본] v27 대본 재작성 대상 — 화면 문구는 이 장에 수록되어 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전체 처리결과의 두 비율과 보호처분 안의 범죄유형 비율을 별도 구역으로 배치한다. 분모 이름을 각 구역 위에 표시한다.</a:t>
            </a:r>
          </a:p>
          <a:p>
            <a:r>
              <a:rPr lang="ko-KR" sz="1100" dirty="0"/>
              <a:t>[제작 메모] 기존 검토반영 대본 P13의 설명을 사용한다. 핵심 설명과 한정은 이 장의 화면 문구에도 포함했다.</a:t>
            </a:r>
          </a:p>
          <a:p>
            <a:r>
              <a:rPr lang="ko-KR" sz="1100" dirty="0"/>
              <a:t>[자료] 성평등가족부(2026.7.14.) 공론화 결과 보고 · 세부 건수는 연합뉴스 2026.7.14. 보도 기준</a:t>
            </a:r>
          </a:p>
          <a:p>
            <a:r>
              <a:rPr lang="ko-KR" sz="1100" dirty="0"/>
              <a:t>원출처 1 · www.mogef.go.kr</a:t>
            </a:r>
          </a:p>
          <a:p>
            <a:r>
              <a:rPr lang="ko-KR" sz="1100" dirty="0"/>
              <a:t>원출처 2 · www.law.go.kr</a:t>
            </a:r>
          </a:p>
          <a:p>
            <a:r>
              <a:rPr lang="ko-KR" sz="1100" dirty="0"/>
              <a:t>[대본] v27 대본 재작성 대상 — 화면 문구는 이 장에 수록되어 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범죄유형별 소년부송치 · 절도·폭력·강간추행 · 증가율과 규모</a:t>
            </a:r>
          </a:p>
          <a:p>
            <a:endParaRPr/>
          </a:p>
          <a:p>
            <a:r>
              <a:rPr b="1"/>
              <a:t>말할 것</a:t>
            </a:r>
          </a:p>
          <a:p>
            <a:r>
              <a:t>앞 두 장에서 전체 규모와 연령별 변화를 봤다면, 이 장은 어떤 범죄유형에서 늘었는지를 본다. 모두 소년부송치 인원이고 경찰 검거 인원이 아니다.</a:t>
            </a:r>
          </a:p>
          <a:p>
            <a:r>
              <a:t>절도는 5,123명에서 10,110명으로 97.3% 늘었고 2025년에도 가장 큰 규모다. 폭력은 1,972명에서 5,520명으로 179.9% 늘어 증가율이 가장 크다. 강간·추행은 373명에서 739명으로 98.1% 늘었다.</a:t>
            </a:r>
          </a:p>
          <a:p>
            <a:r>
              <a:t>증가율과 규모를 구분해 읽는다. 폭력의 증가율이 가장 컸지만 절대 인원은 절도가 여전히 가장 많다.</a:t>
            </a:r>
          </a:p>
          <a:p>
            <a:r>
              <a:t>금색 줄을 반드시 읽는다. 송치인원이 늘었다는 것과 인구 대비 범죄율이 올랐다는 것은 다른 말이다. 신고와 인지, 경찰의 처리방식 변화가 함께 영향을 줄 수 있다.</a:t>
            </a:r>
          </a:p>
          <a:p>
            <a:r>
              <a:t>아래 보조 문구도 같이 짚는다. 살인은 4명에서 0명, 강도는 14명에서 6명으로 줄었다. 모든 중대범죄 유형이 함께 늘어난 것은 아니다.</a:t>
            </a:r>
          </a:p>
          <a:p>
            <a:endParaRPr/>
          </a:p>
          <a:p>
            <a:r>
              <a:t>※ 이 장은 연령 하향의 직접 근거가 아니라 촉법소년 사건의 유형별 변화를 보여 주는 통계다. 어느 쪽 결론으로도 바로 이어지지 않는다.</a:t>
            </a:r>
          </a:p>
          <a:p>
            <a:r>
              <a:t>※ 2020년 절도 5,132명, 폭력 1,986명이라는 예전 역산값은 쓰지 않는다. 화면 수치는 공개자료 기준이다.</a:t>
            </a:r>
          </a:p>
          <a:p>
            <a:r>
              <a:t>※ 범죄유형 분류는 경찰 통계의 죄종 구분을 따른 것이고, 법원 보호처분사건의 죄명 분포(다음 장)와는 집계 대상이 다르다.</a:t>
            </a:r>
          </a:p>
          <a:p>
            <a:endParaRPr/>
          </a:p>
          <a:p>
            <a:r>
              <a:t>→ 다음: 2025 촉법소년 보호처분 결과</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폭행 13.9%와 폭력행위처벌법 위반 6.9%의 합이 공식 요약의 20.8%와 대응하는지는 화면에서 단정하지 않는다.</a:t>
            </a:r>
          </a:p>
          <a:p>
            <a:r>
              <a:rPr lang="ko-KR" sz="1100" dirty="0"/>
              <a:t>[자료] 성평등가족부(2026.7.14.) 공론화 결과 보고 · 세부 죄명은 연합뉴스 2026.7.14. 보도 기준</a:t>
            </a:r>
          </a:p>
          <a:p>
            <a:r>
              <a:rPr lang="ko-KR" sz="1100" dirty="0"/>
              <a:t>[대본] v27 대본 재작성 대상 — 화면 문구는 이 장에 수록되어 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네 처분을 표 또는 막대그래프로 배치한다. 각 비율 옆에 다음 절차를 적는다. 기타를 처벌·무대응으로 재분류하지 않고, 반올림 수치를 임의 조정하지 않는다.</a:t>
            </a:r>
          </a:p>
          <a:p>
            <a:r>
              <a:rPr lang="ko-KR" sz="1100" dirty="0"/>
              <a:t>[제작 메모] 기존 검토반영 대본 P14의 설명을 사용한다. 핵심 설명과 한정은 이 장의 화면 문구에도 포함했다.</a:t>
            </a:r>
          </a:p>
          <a:p>
            <a:r>
              <a:rPr lang="ko-KR" sz="1100" dirty="0"/>
              <a:t>[제작 메모] 가정보호사건·성매매보호사건에서는 접근 제한·출입금지, 보호관찰, 사회봉사·수강, 상담·치료위탁 등이 가능하다는 점을 발화로 푼다.</a:t>
            </a:r>
          </a:p>
          <a:p>
            <a:r>
              <a:rPr lang="ko-KR" sz="1100" dirty="0"/>
              <a:t>[제작 메모] 가정보호사건은 가정폭력범죄를 가정법원의 보호처분 절차로, 성매매보호사건은 성매매를 한 사람을 법원의 보호처분 절차로 보내는 결정이며 접근 제한·출입금지, 보호관찰, 사회봉사·수강, 상담·치료위탁 등이 가능하다.</a:t>
            </a:r>
          </a:p>
          <a:p>
            <a:r>
              <a:rPr lang="ko-KR" sz="1100" dirty="0"/>
              <a:t>[자료] 2025년 검찰청 기준 14~18세 범죄소년 처리유형 · 성평등가족부(2026.7.14.) 보도참고자료</a:t>
            </a:r>
          </a:p>
          <a:p>
            <a:r>
              <a:rPr lang="ko-KR" sz="1100" dirty="0"/>
              <a:t>원출처 1 · www.mogef.go.kr</a:t>
            </a:r>
          </a:p>
          <a:p>
            <a:r>
              <a:rPr lang="ko-KR" sz="1100" dirty="0"/>
              <a:t>[대본] v27 대본 재작성 대상 — 화면 문구는 이 장에 수록되어 있다.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최대 2년 · 세 층위의 부족 · 하향이 직접 바꾸는 것</a:t>
            </a:r>
          </a:p>
          <a:p>
            <a:endParaRPr/>
          </a:p>
          <a:p>
            <a:r>
              <a:rPr b="1"/>
              <a:t>말할 것</a:t>
            </a:r>
          </a:p>
          <a:p>
            <a:r>
              <a:t>이 장은 현행제도의 한계를 보는 구간을 여는 자리다. 답을 정하지 않고 판단의 틀만 세운다.</a:t>
            </a:r>
          </a:p>
          <a:p>
            <a:r>
              <a:t>먼저 사실을 확인한다. 13세에게 아무 제재도 없는 것이 아니다. 제10호 장기 소년원 송치는 최대 2년이고, 수강명령·보호관찰·시설 및 의료위탁도 가능하다. 소년법 제32조 제4항에 따라 제10호와 수강명령은 12세 이상, 사회봉사명령은 14세 이상에만 할 수 있다.</a:t>
            </a:r>
          </a:p>
          <a:p>
            <a:r>
              <a:t>가운데 표가 이 장의 핵심이다. 현행제도가 부족하다는 말에는 세 층위가 섞여 있다. 책임·제재, 초기 대응·절차, 집행·지원이다. 그리고 연령 하향이 각각에 무엇을 하는지가 다르다.</a:t>
            </a:r>
          </a:p>
          <a:p>
            <a:r>
              <a:t>책임·제재는 하향이 직접 바꾼다. 13세에게 형사책임을 인정하고 형을 선고할 가능성이 열린다. 초기 대응·절차는 일부 바뀐다. 형사 경로가 열리지만 조사근거와 선별기준은 연령을 유지한 채로도 고칠 수 있다. 집행·지원은 직접 해결되지 않는다. 연령을 낮춰도 치료·시설·전문인력 부족은 그대로 남는다.</a:t>
            </a:r>
          </a:p>
          <a:p>
            <a:r>
              <a:t>그래서 왜 하필 연령 하향이 강하게 논의되는지 설명할 수 있다. 보호처분을 아무리 보완해도 형벌로 책임을 인정할 것인가라는 문제는 남기 때문이다. 연령을 낮추면 제재의 강도만 달라지는 것이 아니라 형사수사에서 검찰 처분, 형사재판, 형 선고로 이어지는 경로가 함께 추가된다.</a:t>
            </a:r>
          </a:p>
          <a:p>
            <a:r>
              <a:t>마무리 문장으로 닫는다. 부족한가를 묻는 데서 그치지 않고, 그 부족이 형사책임을 추가해야 해결되는 문제인지를 따진다.</a:t>
            </a:r>
          </a:p>
          <a:p>
            <a:endParaRPr/>
          </a:p>
          <a:p>
            <a:r>
              <a:rPr b="1"/>
              <a:t>이후 장들이 확인하는 것</a:t>
            </a:r>
          </a:p>
          <a:p>
            <a:r>
              <a:t>전건송치의 역설 — 초기 처리경로</a:t>
            </a:r>
          </a:p>
          <a:p>
            <a:r>
              <a:t>촉법소년 조사근거 — 조사권한과 절차</a:t>
            </a:r>
          </a:p>
          <a:p>
            <a:r>
              <a:t>소년분류심사원과 대법원 2025트6 — 자유제한과 권리보장</a:t>
            </a:r>
          </a:p>
          <a:p>
            <a:r>
              <a:t>보호처분 선택기준 — 의사결정 기준</a:t>
            </a:r>
          </a:p>
          <a:p>
            <a:r>
              <a:t>보호환경과 지역자원 — 집행과 인프라</a:t>
            </a:r>
          </a:p>
          <a:p>
            <a:r>
              <a:t>이 자료들을 본 뒤 공론화 장으로 넘어가면서, 일부는 연령을 유지한 채 고칠 수 있는데도 형사책임까지 추가해야 하는가에서 정책대안이 갈린다는 점을 연결한다.</a:t>
            </a:r>
          </a:p>
          <a:p>
            <a:endParaRPr/>
          </a:p>
          <a:p>
            <a:r>
              <a:t>※ 이 장에서 중대·반복사건에 보호처분이 불충분하다고 결론내지 않는다. 보호처분을 개선하면 형사책임이 불필요하다고도 하지 않는다.</a:t>
            </a:r>
          </a:p>
          <a:p>
            <a:r>
              <a:t>※ 표의 '일부 바뀐다'와 '직접 해결되지 않는다'는 강의상의 정리다. 특정 연구나 기관의 평가가 아니다.</a:t>
            </a:r>
          </a:p>
          <a:p>
            <a:r>
              <a:t>※ 화면에서 뺐다: 제32조 제4항의 연령 제한 수치와 제33조의 처분별 기간.</a:t>
            </a:r>
          </a:p>
          <a:p>
            <a:endParaRPr/>
          </a:p>
          <a:p>
            <a:r>
              <a:t>→ 다음: 전건송치의 역설</a:t>
            </a:r>
          </a:p>
          <a:p>
            <a:endParaRPr/>
          </a:p>
          <a:p>
            <a:r>
              <a:t>※ 최대 2년이라는 수치는 앞의 보호처분 종류·기간 장에서 이미 다뤘으므로, 이 장에서는 큰 숫자로 강조하지 않고 회색 보충 줄로만 회수한다. 이 장의 중심은 처분 기간이 아니라 부족하다고 할 때 무엇이 부족한지를 나누는 것이다.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한민경 발표 4:50–10:36. ‘전건’은 촉법행위가 확인된 해당 사건 전부라는 뜻임을 먼저 짚는다.</a:t>
            </a:r>
          </a:p>
          <a:p>
            <a:r>
              <a:rPr lang="ko-KR" sz="1100" dirty="0"/>
              <a:t>[제작 메모] 13세는 형사책임이 없지만 소년부 보호사건 경로에는 반드시 들어가고, 14세는 형사책임이 가능하지만 경미사건에서 경찰 단계 선별처리의 여지가 있다. “13세는 책임을 안 지고 14세부터 갑자기 처벌한다”는 단순 구조가 아니다.</a:t>
            </a:r>
          </a:p>
          <a:p>
            <a:r>
              <a:rPr lang="ko-KR" sz="1100" dirty="0"/>
              <a:t>[제작 메모] 뒤의 심리불개시·불처분 비율, 경찰 다이버전 연구로 회수한다.</a:t>
            </a:r>
          </a:p>
          <a:p>
            <a:r>
              <a:rPr lang="ko-KR" sz="1100" dirty="0"/>
              <a:t>[제작 메모] 선도심사위원회가 훈방·즉결심판 청구·입건송치를 심의한다는 설명은 경찰청 공식 운영 안내상의 흐름이며, 소년업무규칙 제27조가 문자로 정하는 것은 즉결심판 청구 여부와 맞춤형 선도 방안이다.</a:t>
            </a:r>
          </a:p>
          <a:p>
            <a:r>
              <a:rPr lang="ko-KR" sz="1100" dirty="0"/>
              <a:t>[자료] 소년법 제4조 제2항 · 즉결심판에 관한 절차법 제3조 제1항 · (경찰청) 범죄수사규칙 제45조 · 소년업무규칙 제26~27조</a:t>
            </a:r>
          </a:p>
          <a:p>
            <a:r>
              <a:rPr lang="ko-KR" sz="1100" dirty="0"/>
              <a:t>[자료] 한민경(2026) 「형사미성년자(촉법소년) 관련 정책 대안의 이해」 4:50–10:36</a:t>
            </a:r>
          </a:p>
          <a:p>
            <a:r>
              <a:rPr lang="ko-KR" sz="1100" dirty="0"/>
              <a:t>[대본] v27 대본 재작성 대상 — 화면 문구는 이 장에 수록되어 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F71BB-DDD2-BB67-D5E7-E16956ABCB07}"/>
            </a:ext>
          </a:extLst>
        </p:cNvPr>
        <p:cNvGrpSpPr/>
        <p:nvPr/>
      </p:nvGrpSpPr>
      <p:grpSpPr>
        <a:xfrm>
          <a:off x="0" y="0"/>
          <a:ext cx="0" cy="0"/>
          <a:chOff x="0" y="0"/>
          <a:chExt cx="0" cy="0"/>
        </a:xfrm>
      </p:grpSpPr>
      <p:sp>
        <p:nvSpPr>
          <p:cNvPr id="2" name="Notes Placeholder">
            <a:extLst>
              <a:ext uri="{FF2B5EF4-FFF2-40B4-BE49-F238E27FC236}">
                <a16:creationId xmlns:a16="http://schemas.microsoft.com/office/drawing/2014/main" id="{80ECC073-E2B0-1999-A2AA-04DC29996727}"/>
              </a:ext>
            </a:extLst>
          </p:cNvPr>
          <p:cNvSpPr>
            <a:spLocks noGrp="1"/>
          </p:cNvSpPr>
          <p:nvPr>
            <p:ph type="body" idx="1"/>
          </p:nvPr>
        </p:nvSpPr>
        <p:spPr/>
        <p:txBody>
          <a:bodyPr/>
          <a:lstStyle/>
          <a:p>
            <a:r>
              <a:rPr lang="ko-KR" sz="1100" dirty="0"/>
              <a:t>[제작 메모] 밝은 바탕의 3개 연령 행으로 도식을 다시 그린다. 화살표와 글자는 남색으로 충분한 대비를 확보한다. 검찰 노드는 범죄소년 행에만 둔다. 마지막 단락은 금색 보충문으로 본문 안에 둔다.</a:t>
            </a:r>
          </a:p>
          <a:p>
            <a:r>
              <a:rPr lang="ko-KR" sz="1100" dirty="0"/>
              <a:t>[제작 메모] 기존 검토반영 대본 P05의 설명을 사용한다. 핵심 설명과 한정은 이 장의 화면 문구에도 포함했다.</a:t>
            </a:r>
          </a:p>
          <a:p>
            <a:r>
              <a:rPr lang="ko-KR" sz="1100" dirty="0"/>
              <a:t>[제작 메모] [삭제한 장에서 옮김] 기소 후에도 형사법원은 보호처분이 적절하다고 보아 소년부로 송치할 수 있다. 도식의 소년부 송치 화살표에서 짚는다.</a:t>
            </a:r>
          </a:p>
          <a:p>
            <a:r>
              <a:rPr lang="ko-KR" sz="1100" dirty="0"/>
              <a:t>[자료] 소년법 제4조·제49조·제50조 · 대표 경로이며, 보호자 등의 통고·10세 미만의 아동보호는 별도 요건에 따른다</a:t>
            </a:r>
          </a:p>
          <a:p>
            <a:r>
              <a:rPr lang="ko-KR" sz="1100" dirty="0"/>
              <a:t>원출처 1 · www.law.go.kr</a:t>
            </a:r>
          </a:p>
          <a:p>
            <a:r>
              <a:rPr lang="ko-KR" sz="1100" dirty="0"/>
              <a:t>원출처 2 · www.law.go.kr</a:t>
            </a:r>
          </a:p>
          <a:p>
            <a:r>
              <a:rPr lang="ko-KR" sz="1100" dirty="0"/>
              <a:t>원출처 3 · www.law.go.kr</a:t>
            </a:r>
          </a:p>
          <a:p>
            <a:r>
              <a:rPr lang="ko-KR" sz="1100" dirty="0"/>
              <a:t>[대본] v27 대본 재작성 대상 — 화면 문구는 이 장에 수록되어 있다.</a:t>
            </a:r>
          </a:p>
        </p:txBody>
      </p:sp>
    </p:spTree>
    <p:extLst>
      <p:ext uri="{BB962C8B-B14F-4D97-AF65-F5344CB8AC3E}">
        <p14:creationId xmlns:p14="http://schemas.microsoft.com/office/powerpoint/2010/main" val="18720822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한민경 발표 10:40–12:57. 허위영상물·성착취물 유통, 사이버도박에서 「휴대전화 → 링크 → 전달경로 → 다른 관여자 확인」 흐름을 먼저 설명한다.</a:t>
            </a:r>
          </a:p>
          <a:p>
            <a:r>
              <a:rPr lang="ko-KR" sz="1100" dirty="0"/>
              <a:t>[제작 메모] 이 장의 핵심은 “조사가 어렵다 → 연령을 낮춰야 한다”가 유일한 해결책인지 묻는 것이다. 대안은 ① 13세를 범죄소년으로 포함해 형사수사 경로를 열기 ② 연령은 유지하되 소년보호절차 내부의 조사근거·표준절차를 정비하기로 나뉜다.</a:t>
            </a:r>
          </a:p>
          <a:p>
            <a:r>
              <a:rPr lang="ko-KR" sz="1100" dirty="0"/>
              <a:t>[제작 메모] 앞 장(전건송치)과 함께 읽으면 연령 하향이 처리경로와 조사경로를 함께 바꾼다는 점이 드러난다.</a:t>
            </a:r>
          </a:p>
          <a:p>
            <a:r>
              <a:rPr lang="ko-KR" sz="1100" dirty="0"/>
              <a:t>[자료] 한민경(2026) 「형사미성년자(촉법소년) 관련 정책 대안의 이해」 10:40–12:57 — 촉법소년 조사 근거·표준 가이드라인 마련 제안</a:t>
            </a:r>
          </a:p>
          <a:p>
            <a:r>
              <a:rPr lang="ko-KR" sz="1100" dirty="0"/>
              <a:t>[대본] v27 대본 재작성 대상 — 화면 문구는 이 장에 수록되어 있다.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연구의 대상·방법을 상단에 적고 두 전문가 집단의 평가를 대칭으로 비교한다. 키커는 현행 대응과 현실로 유지한다.</a:t>
            </a:r>
          </a:p>
          <a:p>
            <a:r>
              <a:rPr lang="ko-KR" sz="1100" dirty="0"/>
              <a:t>[제작 메모] 기존 대본 P15의 첫째·둘째 문단을 사용한다. 해석임을 밝힌 문장은 발언의 직접 인용처럼 읽지 않는다.</a:t>
            </a:r>
          </a:p>
          <a:p>
            <a:r>
              <a:rPr lang="ko-KR" sz="1100" dirty="0"/>
              <a:t>[제작 메모] [화면에서 내림] 처분 이후 재범효과를 추정한 연구로 소개하지 않는다.</a:t>
            </a:r>
          </a:p>
          <a:p>
            <a:r>
              <a:rPr lang="ko-KR" sz="1100" dirty="0"/>
              <a:t>[제작 메모] 연구자·연도·면접 대상은 각주에 두고 화면에서는 판단기준을 먼저 보인다.</a:t>
            </a:r>
          </a:p>
          <a:p>
            <a:r>
              <a:rPr lang="ko-KR" sz="1100" dirty="0"/>
              <a:t>[제작 메모] 처분 비율은 결정이 얼마나 있었는지 보여 주지만 선택의 이유까지 설명하지 않는다는 점을 발화로 잇는다.</a:t>
            </a:r>
          </a:p>
          <a:p>
            <a:r>
              <a:rPr lang="ko-KR" sz="1100" dirty="0"/>
              <a:t>[제작 메모] 연구자·연도·면접 대상은 각주에 두고 화면에서는 결정 구조와 판단기준을 먼저 보인다.</a:t>
            </a:r>
          </a:p>
          <a:p>
            <a:r>
              <a:rPr lang="ko-KR" sz="1100" dirty="0"/>
              <a:t>[자료] 이승현 외(2024), KICJ 연구총서 24-A-02 · 공식 연구요약 4. 전문가 경험·인식 분석</a:t>
            </a:r>
          </a:p>
          <a:p>
            <a:r>
              <a:rPr lang="ko-KR" sz="1100" dirty="0"/>
              <a:t>원출처 1 · www.kicj.re.kr</a:t>
            </a:r>
          </a:p>
          <a:p>
            <a:r>
              <a:rPr lang="ko-KR" sz="1100" dirty="0"/>
              <a:t>[대본] v27 대본 재작성 대상 — 화면 문구는 이 장에 수록되어 있다.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전문가 면접에 기초한 인식·경험 분석이며, 각 입장의 분포나 빈도를 측정한 조사는 아니라는 점을 발화로 짚는다.</a:t>
            </a:r>
          </a:p>
          <a:p>
            <a:r>
              <a:rPr lang="ko-KR" sz="1100" dirty="0"/>
              <a:t>[제작 메모] 분류심사원 위탁을 둘러싼 두 갈래(적극 활용 / 구금기준 명확화)가 8~10호 소년원 송치 논의와 이어진다.</a:t>
            </a:r>
          </a:p>
          <a:p>
            <a:r>
              <a:rPr lang="ko-KR" sz="1100" dirty="0"/>
              <a:t>[자료] 이승현 외(2024), KICJ 연구총서 24-A-02 · 공식 연구요약 4. 전문가 경험·인식 분석</a:t>
            </a:r>
          </a:p>
          <a:p>
            <a:r>
              <a:rPr lang="ko-KR" sz="1100" dirty="0"/>
              <a:t>[대본] v27 대본 재작성 대상 — 화면 문구는 이 장에 수록되어 있다.</a:t>
            </a:r>
          </a:p>
        </p:txBody>
      </p:sp>
    </p:spTree>
    <p:extLst>
      <p:ext uri="{BB962C8B-B14F-4D97-AF65-F5344CB8AC3E}">
        <p14:creationId xmlns:p14="http://schemas.microsoft.com/office/powerpoint/2010/main" val="5154988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보호처분 제8~10호 소년원 송치와 혼동하지 않도록 「처분 전 임시조치」와 「처분」의 차이를 발화로 짚는다.</a:t>
            </a:r>
          </a:p>
          <a:p>
            <a:r>
              <a:rPr lang="ko-KR" sz="1100" dirty="0"/>
              <a:t>[제작 메모] 다음 장에서 이 위탁을 두고 직역별 평가가 갈린다는 점으로 잇는다.</a:t>
            </a:r>
          </a:p>
          <a:p>
            <a:r>
              <a:rPr lang="ko-KR" sz="1100" dirty="0"/>
              <a:t>[자료] 소년법 제18조 제1항·제3항 · 소년법 제12조</a:t>
            </a:r>
          </a:p>
          <a:p>
            <a:r>
              <a:rPr lang="ko-KR" sz="1100" dirty="0"/>
              <a:t>[대본] v27 대본 재작성 대상 — 화면 문구는 이 장에 수록되어 있다.</a:t>
            </a:r>
          </a:p>
        </p:txBody>
      </p:sp>
    </p:spTree>
    <p:extLst>
      <p:ext uri="{BB962C8B-B14F-4D97-AF65-F5344CB8AC3E}">
        <p14:creationId xmlns:p14="http://schemas.microsoft.com/office/powerpoint/2010/main" val="37060430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보호환경 사례와 지역 자원을 두 단위로 배치한다. 연구 한계는 작은 각주로 숨기지 않고 본문 마지막 단위에 둔다.</a:t>
            </a:r>
          </a:p>
          <a:p>
            <a:r>
              <a:rPr lang="ko-KR" sz="1100" dirty="0"/>
              <a:t>[제작 메모] 기존 대본 P15의 보호환경·지역 자원 문단을 사용한다.</a:t>
            </a:r>
          </a:p>
          <a:p>
            <a:r>
              <a:rPr lang="ko-KR" sz="1100" dirty="0"/>
              <a:t>[제작 메모] 전문가의 경험·인식에 관한 결과이며, 차이의 발생 빈도나 처분별 재범효과를 수치로 추정한 자료는 아니다.</a:t>
            </a:r>
          </a:p>
          <a:p>
            <a:r>
              <a:rPr lang="ko-KR" sz="1100" dirty="0"/>
              <a:t>[자료] 이승현 외(2024), KICJ 연구총서 24-A-02 · 공식 연구요약 4. 전문가 경험·인식 분석</a:t>
            </a:r>
          </a:p>
          <a:p>
            <a:r>
              <a:rPr lang="ko-KR" sz="1100" dirty="0"/>
              <a:t>원출처 1 · www.kicj.re.kr</a:t>
            </a:r>
          </a:p>
          <a:p>
            <a:r>
              <a:rPr lang="ko-KR" sz="1100" dirty="0"/>
              <a:t>[대본] v27 대본 재작성 대상 — 화면 문구는 이 장에 수록되어 있다.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2025트6 · 우범 사건과 보호처분 변경 사건 · 필요적 국선보조인</a:t>
            </a:r>
          </a:p>
          <a:p>
            <a:endParaRPr/>
          </a:p>
          <a:p>
            <a:r>
              <a:rPr b="1"/>
              <a:t>말할 것</a:t>
            </a:r>
          </a:p>
          <a:p>
            <a:r>
              <a:t>사실관계부터 짚는다. 소년은 2023년 10월 감호위탁·수강명령·사회봉사·장기 보호관찰 처분을 받았고, 2024년 11월 재비행과 준수사항 위반으로 장기 보호관찰과 1개월 소년원 송치로 변경됐다.</a:t>
            </a:r>
          </a:p>
          <a:p>
            <a:r>
              <a:t>2025년 1월 새 우범 사건이 접수되자 법원은 1월 20일 소년분류심사원 위탁을 결정했다. 이것이 A사건이고, 여기에는 사선보조인이 있었다.</a:t>
            </a:r>
          </a:p>
          <a:p>
            <a:r>
              <a:t>그런데 소년원장이 2025년 2월 7일, 소년이 우범 사건으로 분류심사원에 위탁 중이어서 소년원 입원을 진행할 수 없다는 이유로 보호처분 변경을 신청했다. 이것이 B사건이고 보조인이 없었다.</a:t>
            </a:r>
          </a:p>
          <a:p>
            <a:r>
              <a:t>제1심법원은 두 사건의 심리기일을 2025년 3월 7일 같은 시각으로 지정했고, 같은 날 우범 사건은 불처분 결정, 변경 사건은 장기 소년원 송치로 변경하는 결정을 했다. 더 무거운 처분이 보조인 없이 결정된 것이다.</a:t>
            </a:r>
          </a:p>
          <a:p>
            <a:r>
              <a:t>쟁점은 소년법 제17조의2 제1항의 적용 범위다. 대법원은 위탁이 조사·보호 목적이라는 점을 인정하면서도, 강제력으로 시설에 수용된 소년은 정신적으로 크게 위축될 수밖에 없고 이는 형사절차상 구속과 다르지 않다고 보았다. 성장 과정에 있는 소년은 그 위축이 성인보다 배가될 수 있다고도 했다.</a:t>
            </a:r>
          </a:p>
          <a:p>
            <a:r>
              <a:t>결론은 취소환송이다. A사건에 사선보조인이 있었더라도, 심리기일에 이의를 제기하지 않았더라도 하자는 치유되지 않는다고 명시했다.</a:t>
            </a:r>
          </a:p>
          <a:p>
            <a:endParaRPr/>
          </a:p>
          <a:p>
            <a:r>
              <a:t>※ 소년심판규칙 제24조 제2항은 제17조의2 제1항에 해당하는 사건에서 보조인이 심리기일에 출석하지 않으면 심리를 할 수 없도록 정한다.</a:t>
            </a:r>
          </a:p>
          <a:p>
            <a:r>
              <a:t>※ 이 장은 판례 자체를 이해시키는 자리다. 이 판례가 우리 논제에 어떤 의미인지는 뒤의 현행 보호체계 회수 장과 최종 쟁점의 절차·보호에서 정리한다.</a:t>
            </a:r>
          </a:p>
          <a:p>
            <a:r>
              <a:t>※ 화면에서 뺐다: 사건번호(2025푸154, 2025푸초33), 2023년과 2024년의 처분 경과, 항고 기각 경위.</a:t>
            </a:r>
          </a:p>
          <a:p>
            <a:r>
              <a:t>※ 이 결정은 보호절차의 조력에 관한 판단이고 형사책임연령의 적정성을 판단한 것이 아니다.</a:t>
            </a:r>
          </a:p>
          <a:p>
            <a:endParaRPr/>
          </a:p>
          <a:p>
            <a:r>
              <a:t>→ 다음: 보호처분 선택기준</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12세 · 공갈 혐의 · 30일 수용 · 제3·5·6조 위반</a:t>
            </a:r>
          </a:p>
          <a:p>
            <a:endParaRPr/>
          </a:p>
          <a:p>
            <a:r>
              <a:rPr b="1"/>
              <a:t>말할 것</a:t>
            </a:r>
          </a:p>
          <a:p>
            <a:r>
              <a:t>이 사건에서 먼저 볼 것은 러시아에도 보호시설이 있었다는 일반론이 아니다. 12세 소년에게 실제로 어떤 일이 있었는지를 본다.</a:t>
            </a:r>
          </a:p>
          <a:p>
            <a:r>
              <a:t>Blokhin은 당시 12세였고 다른 아동의 돈을 빼앗았다는 공갈 혐의를 받았다. 경찰과 당국은 형법상 범죄에 해당하는 행위를 했다고 판단했지만 형사책임연령에 이르지 않아 형사기소는 하지 않았다.</a:t>
            </a:r>
          </a:p>
          <a:p>
            <a:r>
              <a:t>그런데 국가의 개입은 여기서 끝나지 않았다. 러시아 법원은 행동교정과 추가 비행 예방을 이유로 소년 임시구금시설에 30일간 수용하도록 했다. 2005년 1월 3일 경찰서에 인치돼 조사를 받았고, 2월 21일 지방법원이 수용을 결정해 같은 날 수용됐다.</a:t>
            </a:r>
          </a:p>
          <a:p>
            <a:r>
              <a:t>여기서 중요한 물음은 형사책임이 없는데 왜 시설에 갔는가다. 러시아에는 법이 정한 사유가 있으면 책임연령 미만 소년도 법원 결정으로 임시구금시설에 수용할 수 있는 제도가 있었다. 이 사건에서 든 근거는 추가 비행을 방지할 필요였다. 다만 모든 소년에게 자동으로 적용되는 제도는 아니었다.</a:t>
            </a:r>
          </a:p>
          <a:p>
            <a:r>
              <a:t>Blokhin 측이 문제 삼은 것은 시설제도 자체가 아니다. 왜 30일간 자유를 제한했는지, 그 과정에서 변호인의 조력과 불리한 진술을 다툴 기회가 있었는지, 그리고 주의력결핍·과잉행동장애 등 기존 질환에 필요한 치료가 시설에서 제공됐는지가 함께 문제됐다.</a:t>
            </a:r>
          </a:p>
          <a:p>
            <a:r>
              <a:t>대재판부는 제3조 의료처우, 제5조 제1항 신체의 자유, 제6조 제1항·제3항 공정한 재판에서 협약 위반을 인정했다. 특히 러시아법이 이 절차를 비형사조치로 분류했다는 사실만으로 절차보장이 약해도 되는 것은 아니라고 보았다. 실제 자유박탈의 성격과 소년이 처한 상황을 보았다.</a:t>
            </a:r>
          </a:p>
          <a:p>
            <a:r>
              <a:t>마무리한다. 이 판례를 한국 분류심사원과 동일시하지 않는다. 두 제도는 다르다. 다만 보호·교육·교정이라는 목적을 가진 조치라도 실제로 자유를 박탈한다면 그에 맞는 법적 근거와 절차보장이 필요하다는 문제의식을 보여 준다.</a:t>
            </a:r>
          </a:p>
          <a:p>
            <a:r>
              <a:t>이 판례를 형사책임연령 유지나 하향의 직접적인 효과근거로 쓰지 않는다. 한국 논제와의 연결은 뒤의 현행 보호체계 회수 장과 최종 절차·보호 쟁점에서 한다.</a:t>
            </a:r>
          </a:p>
          <a:p>
            <a:endParaRPr/>
          </a:p>
          <a:p>
            <a:r>
              <a:t>※ 화면에서 뺐다: 2005년의 구체적 날짜, 국내 불복절차의 경과(2005년 3월 지역법원의 취소와 2006년 5월 재심리), 정부가 교육적 감독을 위한 수용이라고 주장했으나 재판소가 받아들이지 않은 점.</a:t>
            </a:r>
          </a:p>
          <a:p>
            <a:r>
              <a:t>※ 형사책임이 없다는 것과 국가의 개입이 끝난다는 것은 다른 문제라는 점은 둘째 행이 보여 준다. 화면에 별도 문장으로 두지 않았다.</a:t>
            </a:r>
          </a:p>
          <a:p>
            <a:r>
              <a:t>※ 유죄가 확정됐다거나 형사재판을 받았다고 말하지 않는다. 피해아동의 세부는 전달하지 않는다.</a:t>
            </a:r>
          </a:p>
          <a:p>
            <a:endParaRPr/>
          </a:p>
          <a:p>
            <a:r>
              <a:t>→ 다음: 다른 사건으로 위탁된 소년의 국선보조인</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2026년 2월 국무회의 논의를 계기로 시작됐고, 출범 이후 60일간 전체회의 4회·분과회의 12회 등 16차례 회의와 시민참여단 숙의토론회를 거쳤다.</a:t>
            </a:r>
          </a:p>
          <a:p>
            <a:r>
              <a:rPr lang="ko-KR" sz="1100" dirty="0"/>
              <a:t>[제작 메모] 다음 장에서 그 절차를 단계별로 본다.</a:t>
            </a:r>
          </a:p>
          <a:p>
            <a:r>
              <a:rPr lang="ko-KR" sz="1100" dirty="0"/>
              <a:t>[자료] 2026.3.6. 「형사미성년자(촉법소년) 연령 사회적 대화 협의체」 출범 · 목적: 국민 의견 수렴 및 사회적 합의 도출</a:t>
            </a:r>
          </a:p>
          <a:p>
            <a:r>
              <a:rPr lang="ko-KR" sz="1100" dirty="0"/>
              <a:t>[대본] v27 대본 재작성 대상 — 화면 문구는 이 장에 수록되어 있다.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18000"/>
              </a:lnSpc>
              <a:buNone/>
            </a:pPr>
            <a:r>
              <a:rPr sz="1100" b="0">
                <a:solidFill>
                  <a:srgbClr val="222633"/>
                </a:solidFill>
                <a:latin typeface="Pretendard"/>
                <a:ea typeface="Pretendard"/>
                <a:cs typeface="Pretendard"/>
              </a:rPr>
              <a:t>3주차 · 19/58 · 2026 「촉법소년 연령 기준」 공론화</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[진행 기준] 약 1.1분 · 누적 28.0–29.1분. 실제 설명과 질의 속도에 따라 조정.</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[화면 내용]</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2026 「촉법소년 연령 기준」 공론화</a:t>
            </a:r>
            <a:endParaRPr sz="1100"/>
          </a:p>
          <a:p>
            <a:pPr marL="0" indent="0">
              <a:lnSpc>
                <a:spcPct val="118000"/>
              </a:lnSpc>
              <a:buNone/>
            </a:pPr>
            <a:r>
              <a:rPr sz="1100" b="0">
                <a:solidFill>
                  <a:srgbClr val="222633"/>
                </a:solidFill>
                <a:latin typeface="Pretendard"/>
                <a:ea typeface="Pretendard"/>
                <a:cs typeface="Pretendard"/>
              </a:rPr>
              <a:t>시민참여단의 응답, 협의체의 권고, 부처의 검토안은 각각 다른 내용을 보여 준다</a:t>
            </a:r>
            <a:endParaRPr sz="1100"/>
          </a:p>
          <a:p>
            <a:pPr marL="0" indent="0">
              <a:lnSpc>
                <a:spcPct val="118000"/>
              </a:lnSpc>
              <a:buNone/>
            </a:pPr>
            <a:r>
              <a:rPr sz="1100" b="0">
                <a:solidFill>
                  <a:srgbClr val="222633"/>
                </a:solidFill>
                <a:latin typeface="Pretendard"/>
                <a:ea typeface="Pretendard"/>
                <a:cs typeface="Pretendard"/>
              </a:rPr>
              <a:t>성평등가족부 2026.7.14. 공론화 결과 발표 · 시민참여단 / 협의체 / 부처 보고 구별</a:t>
            </a:r>
            <a:endParaRPr sz="1100"/>
          </a:p>
          <a:p>
            <a:pPr marL="0" indent="0">
              <a:lnSpc>
                <a:spcPct val="118000"/>
              </a:lnSpc>
              <a:buNone/>
            </a:pPr>
            <a:r>
              <a:rPr sz="1100" b="0">
                <a:solidFill>
                  <a:srgbClr val="222633"/>
                </a:solidFill>
                <a:latin typeface="Pretendard"/>
                <a:ea typeface="Pretendard"/>
                <a:cs typeface="Pretendard"/>
              </a:rPr>
              <a:t>공론화의 구성</a:t>
            </a:r>
            <a:endParaRPr sz="1100"/>
          </a:p>
          <a:p>
            <a:pPr marL="0" indent="0">
              <a:lnSpc>
                <a:spcPct val="118000"/>
              </a:lnSpc>
              <a:buNone/>
            </a:pPr>
            <a:r>
              <a:rPr sz="1100" b="0">
                <a:solidFill>
                  <a:srgbClr val="222633"/>
                </a:solidFill>
                <a:latin typeface="Pretendard"/>
                <a:ea typeface="Pretendard"/>
                <a:cs typeface="Pretendard"/>
              </a:rPr>
              <a:t>주체</a:t>
            </a:r>
            <a:endParaRPr sz="1100"/>
          </a:p>
          <a:p>
            <a:pPr marL="0" indent="0">
              <a:lnSpc>
                <a:spcPct val="118000"/>
              </a:lnSpc>
              <a:buNone/>
            </a:pPr>
            <a:r>
              <a:rPr sz="1100" b="0">
                <a:solidFill>
                  <a:srgbClr val="222633"/>
                </a:solidFill>
                <a:latin typeface="Pretendard"/>
                <a:ea typeface="Pretendard"/>
                <a:cs typeface="Pretendard"/>
              </a:rPr>
              <a:t>정부위원 5명·민간위원 10명의 협의체</a:t>
            </a:r>
            <a:endParaRPr sz="1100"/>
          </a:p>
          <a:p>
            <a:pPr marL="0" indent="0">
              <a:lnSpc>
                <a:spcPct val="118000"/>
              </a:lnSpc>
              <a:buNone/>
            </a:pPr>
            <a:r>
              <a:rPr sz="1100" b="0">
                <a:solidFill>
                  <a:srgbClr val="222633"/>
                </a:solidFill>
                <a:latin typeface="Pretendard"/>
                <a:ea typeface="Pretendard"/>
                <a:cs typeface="Pretendard"/>
              </a:rPr>
              <a:t>공론화 논의와 최종 권고</a:t>
            </a:r>
            <a:endParaRPr sz="1100"/>
          </a:p>
          <a:p>
            <a:pPr marL="0" indent="0">
              <a:lnSpc>
                <a:spcPct val="118000"/>
              </a:lnSpc>
              <a:buNone/>
            </a:pPr>
            <a:r>
              <a:rPr sz="1100" b="0">
                <a:solidFill>
                  <a:srgbClr val="222633"/>
                </a:solidFill>
                <a:latin typeface="Pretendard"/>
                <a:ea typeface="Pretendard"/>
                <a:cs typeface="Pretendard"/>
              </a:rPr>
              <a:t>시민 숙의</a:t>
            </a:r>
            <a:endParaRPr sz="1100"/>
          </a:p>
          <a:p>
            <a:pPr marL="0" indent="0">
              <a:lnSpc>
                <a:spcPct val="118000"/>
              </a:lnSpc>
              <a:buNone/>
            </a:pPr>
            <a:r>
              <a:rPr sz="1100" b="0">
                <a:solidFill>
                  <a:srgbClr val="222633"/>
                </a:solidFill>
                <a:latin typeface="Pretendard"/>
                <a:ea typeface="Pretendard"/>
                <a:cs typeface="Pretendard"/>
              </a:rPr>
              <a:t>시민참여단 212명(청소년 31명 포함)</a:t>
            </a:r>
            <a:endParaRPr sz="1100"/>
          </a:p>
          <a:p>
            <a:pPr marL="0" indent="0">
              <a:lnSpc>
                <a:spcPct val="118000"/>
              </a:lnSpc>
              <a:buNone/>
            </a:pPr>
            <a:r>
              <a:rPr sz="1100" b="0">
                <a:solidFill>
                  <a:srgbClr val="222633"/>
                </a:solidFill>
                <a:latin typeface="Pretendard"/>
                <a:ea typeface="Pretendard"/>
                <a:cs typeface="Pretendard"/>
              </a:rPr>
              <a:t>사전학습·숙의토론·사전/사후 조사</a:t>
            </a:r>
            <a:endParaRPr sz="1100"/>
          </a:p>
          <a:p>
            <a:pPr marL="0" indent="0">
              <a:lnSpc>
                <a:spcPct val="118000"/>
              </a:lnSpc>
              <a:buNone/>
            </a:pPr>
            <a:r>
              <a:rPr sz="1100" b="0">
                <a:solidFill>
                  <a:srgbClr val="222633"/>
                </a:solidFill>
                <a:latin typeface="Pretendard"/>
                <a:ea typeface="Pretendard"/>
                <a:cs typeface="Pretendard"/>
              </a:rPr>
              <a:t>의견수렴</a:t>
            </a:r>
            <a:endParaRPr sz="1100"/>
          </a:p>
          <a:p>
            <a:pPr marL="0" indent="0">
              <a:lnSpc>
                <a:spcPct val="118000"/>
              </a:lnSpc>
              <a:buNone/>
            </a:pPr>
            <a:r>
              <a:rPr sz="1100" b="0">
                <a:solidFill>
                  <a:srgbClr val="222633"/>
                </a:solidFill>
                <a:latin typeface="Pretendard"/>
                <a:ea typeface="Pretendard"/>
                <a:cs typeface="Pretendard"/>
              </a:rPr>
              <a:t>온라인 공청회·청소년 의견수렴</a:t>
            </a:r>
            <a:endParaRPr sz="1100"/>
          </a:p>
          <a:p>
            <a:pPr marL="0" indent="0">
              <a:lnSpc>
                <a:spcPct val="118000"/>
              </a:lnSpc>
              <a:buNone/>
            </a:pPr>
            <a:r>
              <a:rPr sz="1100" b="0">
                <a:solidFill>
                  <a:srgbClr val="222633"/>
                </a:solidFill>
                <a:latin typeface="Pretendard"/>
                <a:ea typeface="Pretendard"/>
                <a:cs typeface="Pretendard"/>
              </a:rPr>
              <a:t>전문가 논의</a:t>
            </a:r>
            <a:endParaRPr sz="1100"/>
          </a:p>
          <a:p>
            <a:pPr marL="0" indent="0">
              <a:lnSpc>
                <a:spcPct val="118000"/>
              </a:lnSpc>
              <a:buNone/>
            </a:pPr>
            <a:r>
              <a:rPr sz="1100" b="0">
                <a:solidFill>
                  <a:srgbClr val="222633"/>
                </a:solidFill>
                <a:latin typeface="Pretendard"/>
                <a:ea typeface="Pretendard"/>
                <a:cs typeface="Pretendard"/>
              </a:rPr>
              <a:t>권고와 보고</a:t>
            </a:r>
            <a:endParaRPr sz="1100"/>
          </a:p>
          <a:p>
            <a:pPr marL="0" indent="0">
              <a:lnSpc>
                <a:spcPct val="118000"/>
              </a:lnSpc>
              <a:buNone/>
            </a:pPr>
            <a:r>
              <a:rPr sz="1100" b="0">
                <a:solidFill>
                  <a:srgbClr val="222633"/>
                </a:solidFill>
                <a:latin typeface="Pretendard"/>
                <a:ea typeface="Pretendard"/>
                <a:cs typeface="Pretendard"/>
              </a:rPr>
              <a:t>협의체 권고</a:t>
            </a:r>
            <a:endParaRPr sz="1100"/>
          </a:p>
          <a:p>
            <a:pPr marL="0" indent="0">
              <a:lnSpc>
                <a:spcPct val="118000"/>
              </a:lnSpc>
              <a:buNone/>
            </a:pPr>
            <a:r>
              <a:rPr sz="1100" b="0">
                <a:solidFill>
                  <a:srgbClr val="222633"/>
                </a:solidFill>
                <a:latin typeface="Pretendard"/>
                <a:ea typeface="Pretendard"/>
                <a:cs typeface="Pretendard"/>
              </a:rPr>
              <a:t>연령 하향 여부와 범위의 신중한 검토</a:t>
            </a:r>
            <a:endParaRPr sz="1100"/>
          </a:p>
          <a:p>
            <a:pPr marL="0" indent="0">
              <a:lnSpc>
                <a:spcPct val="118000"/>
              </a:lnSpc>
              <a:buNone/>
            </a:pPr>
            <a:r>
              <a:rPr sz="1100" b="0">
                <a:solidFill>
                  <a:srgbClr val="222633"/>
                </a:solidFill>
                <a:latin typeface="Pretendard"/>
                <a:ea typeface="Pretendard"/>
                <a:cs typeface="Pretendard"/>
              </a:rPr>
              <a:t>소년사법 개선과제도 함께 제시</a:t>
            </a:r>
            <a:endParaRPr sz="1100"/>
          </a:p>
          <a:p>
            <a:pPr marL="0" indent="0">
              <a:lnSpc>
                <a:spcPct val="118000"/>
              </a:lnSpc>
              <a:buNone/>
            </a:pPr>
            <a:r>
              <a:rPr sz="1100" b="0">
                <a:solidFill>
                  <a:srgbClr val="222633"/>
                </a:solidFill>
                <a:latin typeface="Pretendard"/>
                <a:ea typeface="Pretendard"/>
                <a:cs typeface="Pretendard"/>
              </a:rPr>
              <a:t>부처 종합보고</a:t>
            </a:r>
            <a:endParaRPr sz="1100"/>
          </a:p>
          <a:p>
            <a:pPr marL="0" indent="0">
              <a:lnSpc>
                <a:spcPct val="118000"/>
              </a:lnSpc>
              <a:buNone/>
            </a:pPr>
            <a:r>
              <a:rPr sz="1100" b="0">
                <a:solidFill>
                  <a:srgbClr val="222633"/>
                </a:solidFill>
                <a:latin typeface="Pretendard"/>
                <a:ea typeface="Pretendard"/>
                <a:cs typeface="Pretendard"/>
              </a:rPr>
              <a:t>조건부 13세 미만 하향 검토와 소년사법 개선을</a:t>
            </a:r>
            <a:endParaRPr sz="1100"/>
          </a:p>
          <a:p>
            <a:pPr marL="0" indent="0">
              <a:lnSpc>
                <a:spcPct val="118000"/>
              </a:lnSpc>
              <a:buNone/>
            </a:pPr>
            <a:r>
              <a:rPr sz="1100" b="0">
                <a:solidFill>
                  <a:srgbClr val="222633"/>
                </a:solidFill>
                <a:latin typeface="Pretendard"/>
                <a:ea typeface="Pretendard"/>
                <a:cs typeface="Pretendard"/>
              </a:rPr>
              <a:t>국무회의에 보고</a:t>
            </a:r>
            <a:endParaRPr sz="1100"/>
          </a:p>
          <a:p>
            <a:pPr marL="0" indent="0">
              <a:lnSpc>
                <a:spcPct val="118000"/>
              </a:lnSpc>
              <a:buNone/>
            </a:pPr>
            <a:r>
              <a:rPr sz="1100" b="0">
                <a:solidFill>
                  <a:srgbClr val="222633"/>
                </a:solidFill>
                <a:latin typeface="Pretendard"/>
                <a:ea typeface="Pretendard"/>
                <a:cs typeface="Pretendard"/>
              </a:rPr>
              <a:t>2026.7.14. 발표 당시</a:t>
            </a:r>
            <a:endParaRPr sz="1100"/>
          </a:p>
          <a:p>
            <a:pPr marL="0" indent="0">
              <a:lnSpc>
                <a:spcPct val="118000"/>
              </a:lnSpc>
              <a:buNone/>
            </a:pPr>
            <a:r>
              <a:rPr sz="1100" b="0">
                <a:solidFill>
                  <a:srgbClr val="222633"/>
                </a:solidFill>
                <a:latin typeface="Pretendard"/>
                <a:ea typeface="Pretendard"/>
                <a:cs typeface="Pretendard"/>
              </a:rPr>
              <a:t>검토안을 제시하고 하향 범위에 관하여</a:t>
            </a:r>
            <a:endParaRPr sz="1100"/>
          </a:p>
          <a:p>
            <a:pPr marL="0" indent="0">
              <a:lnSpc>
                <a:spcPct val="118000"/>
              </a:lnSpc>
              <a:buNone/>
            </a:pPr>
            <a:r>
              <a:rPr sz="1100" b="0">
                <a:solidFill>
                  <a:srgbClr val="222633"/>
                </a:solidFill>
                <a:latin typeface="Pretendard"/>
                <a:ea typeface="Pretendard"/>
                <a:cs typeface="Pretendard"/>
              </a:rPr>
              <a:t>추가 의견수렴 후 결론을 도출하기로 함</a:t>
            </a:r>
            <a:endParaRPr sz="1100"/>
          </a:p>
          <a:p>
            <a:pPr marL="0" indent="0">
              <a:lnSpc>
                <a:spcPct val="118000"/>
              </a:lnSpc>
              <a:buNone/>
            </a:pPr>
            <a:r>
              <a:rPr sz="1100" b="0">
                <a:solidFill>
                  <a:srgbClr val="222633"/>
                </a:solidFill>
                <a:latin typeface="Pretendard"/>
                <a:ea typeface="Pretendard"/>
                <a:cs typeface="Pretendard"/>
              </a:rPr>
              <a:t>진행 흐름</a:t>
            </a:r>
            <a:endParaRPr sz="1100"/>
          </a:p>
          <a:p>
            <a:pPr marL="0" indent="0">
              <a:lnSpc>
                <a:spcPct val="118000"/>
              </a:lnSpc>
              <a:buNone/>
            </a:pPr>
            <a:r>
              <a:rPr sz="1100" b="0">
                <a:solidFill>
                  <a:srgbClr val="222633"/>
                </a:solidFill>
                <a:latin typeface="Pretendard"/>
                <a:ea typeface="Pretendard"/>
                <a:cs typeface="Pretendard"/>
              </a:rPr>
              <a:t>국무회의 문제 제기 → 협의체 출범 → 시민참여단 숙의</a:t>
            </a:r>
            <a:endParaRPr sz="1100"/>
          </a:p>
          <a:p>
            <a:pPr marL="0" indent="0">
              <a:lnSpc>
                <a:spcPct val="118000"/>
              </a:lnSpc>
              <a:buNone/>
            </a:pPr>
            <a:r>
              <a:rPr sz="1100" b="0">
                <a:solidFill>
                  <a:srgbClr val="222633"/>
                </a:solidFill>
                <a:latin typeface="Pretendard"/>
                <a:ea typeface="Pretendard"/>
                <a:cs typeface="Pretendard"/>
              </a:rPr>
              <a:t>→ 공청회·청소년 의견수렴·전문가 논의 → 결과 발표·국무회의 보고</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[설명과 연결]</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공론화는 시민이 자료를 학습하고 논의하는 과정뿐 아니라 협의체와 전문가의 논의, 공청회 등의 의견수렴을 함께 포함합니다. 시민참여단의 응답, 협의체 권고, 부처가 국무회의에 보고한 검토안은 생산 주체와 성격이 다릅니다.</a:t>
            </a:r>
            <a:endParaRPr sz="1100"/>
          </a:p>
          <a:p>
            <a:pPr marL="0" indent="0">
              <a:lnSpc>
                <a:spcPct val="118000"/>
              </a:lnSpc>
              <a:buNone/>
            </a:pPr>
            <a:r>
              <a:rPr sz="1100" b="0">
                <a:solidFill>
                  <a:srgbClr val="222633"/>
                </a:solidFill>
                <a:latin typeface="Pretendard"/>
                <a:ea typeface="Pretendard"/>
                <a:cs typeface="Pretendard"/>
              </a:rPr>
              <a:t>시민참여단은212명이고 청소년31명이 포함됩니다. 협의체는 연령 하향 여부와 범위를 신중히 검토할 필요와 소년사법 개선을 제시했습니다. 부처는 이를 종합하여 조건부13세 미만 하향 검토와 제도개선을 보고했습니다. 화면의 상태 설명은2026년7월14일 발표 당시로 한정합니다. 그 발표 자체가 법률 개정·시행이라는 뜻은 아닙니다. 별도 법령은 형법 제9조와 소년법에서 확인합니다.</a:t>
            </a:r>
            <a:endParaRPr sz="1100"/>
          </a:p>
          <a:p>
            <a:pPr marL="0" indent="0">
              <a:lnSpc>
                <a:spcPct val="118000"/>
              </a:lnSpc>
              <a:buNone/>
            </a:pPr>
            <a:r>
              <a:rPr sz="1100" b="0">
                <a:solidFill>
                  <a:srgbClr val="222633"/>
                </a:solidFill>
                <a:latin typeface="Pretendard"/>
                <a:ea typeface="Pretendard"/>
                <a:cs typeface="Pretendard"/>
              </a:rPr>
              <a:t>시간 여유 시 보충</a:t>
            </a:r>
            <a:endParaRPr sz="1100"/>
          </a:p>
          <a:p>
            <a:pPr marL="0" indent="0">
              <a:lnSpc>
                <a:spcPct val="118000"/>
              </a:lnSpc>
              <a:buNone/>
            </a:pPr>
            <a:r>
              <a:rPr sz="1100" b="0">
                <a:solidFill>
                  <a:srgbClr val="222633"/>
                </a:solidFill>
                <a:latin typeface="Pretendard"/>
                <a:ea typeface="Pretendard"/>
                <a:cs typeface="Pretendard"/>
              </a:rPr>
              <a:t>공론화는 “정부가 시민에게 세 가지 중 하나를 찍게 한 조사”라고 단순화하지 않는다. 시민참여단 응답, 협의체 권고, 부처 검토안은 각각 응답자료·합의문·정책검토의 층위가 다르다.</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[다음 연결] 이제 「시민참여단의 숙의 전후 응답」에서 이어지는 질문을 살펴봅니다.</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[Sources]</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https://www.mogef.go.kr/nw/enw/nw_enw_s001d.do?bbtSn=714050&amp;mid=mda700</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https://www.korea.kr/news/policyNewsView.do?newsId=148968143</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[/Sources]</a:t>
            </a:r>
            <a:endParaRPr sz="11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다음 장이 실제 결과다. “그렇다면 실제로 시민들은 숙의 전과 후에 어떻게 판단했을까”로 넘긴다.</a:t>
            </a:r>
          </a:p>
          <a:p>
            <a:r>
              <a:rPr lang="ko-KR" sz="1100" dirty="0"/>
              <a:t>[제작 메모] 결과 수치는 이 장에 넣지 않는다. 절차 소개와 결과 제시를 분리한다.</a:t>
            </a:r>
          </a:p>
          <a:p>
            <a:r>
              <a:rPr lang="ko-KR" sz="1100" dirty="0"/>
              <a:t>[자료] 성평등가족부(2026.7.14.) 공론화 결과 보고 · 사회적 대화 협의체 운영 개요</a:t>
            </a:r>
          </a:p>
          <a:p>
            <a:r>
              <a:rPr lang="ko-KR" sz="1100" dirty="0"/>
              <a:t>[대본] v27 대본 재작성 대상 — 화면 문구는 이 장에 수록되어 있다.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같은 문항의 전·후 수치를 두 열로 정렬한다. 전후 화살표는 유지할 수 있다. 개인별 이동의 화살표로 그리지 않는다.</a:t>
            </a:r>
          </a:p>
          <a:p>
            <a:r>
              <a:rPr lang="ko-KR" sz="1100" dirty="0"/>
              <a:t>[제작 메모] 기존 검토반영 대본 P20의 설명을 사용한다. 핵심 설명과 한정은 이 장의 화면 문구에도 포함했다.</a:t>
            </a:r>
          </a:p>
          <a:p>
            <a:r>
              <a:rPr lang="ko-KR" sz="1100" dirty="0"/>
              <a:t>[제작 메모] [화면에서 내림] 전국 국민 지지율이나 개인별 선택 이동을 보여 주는 표는 아니다.</a:t>
            </a:r>
          </a:p>
          <a:p>
            <a:r>
              <a:rPr lang="ko-KR" sz="1100" dirty="0"/>
              <a:t>[제작 메모] 발표된 항목의 합계는 100%와 조금 다르며 원자료 표기값을 그대로 옮겼다.</a:t>
            </a:r>
          </a:p>
          <a:p>
            <a:r>
              <a:rPr lang="ko-KR" sz="1100" dirty="0"/>
              <a:t>[자료] 성평등가족부(2026.7.14.) · 시민참여단 212명 · 발표 표기값 기준(항목 합계는 100%와 다름)</a:t>
            </a:r>
          </a:p>
          <a:p>
            <a:r>
              <a:rPr lang="ko-KR" sz="1100" dirty="0"/>
              <a:t>원출처 1 · www.mogef.go.kr</a:t>
            </a:r>
          </a:p>
          <a:p>
            <a:r>
              <a:rPr lang="ko-KR" sz="1100" dirty="0"/>
              <a:t>[대본] v27 대본 재작성 대상 — 화면 문구는 이 장에 수록되어 있다.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[대본] 숙의 전후 인식 변화 장. 전후 비교가 공개된 지표만 제시한다. 인과효과로 단정하지 않고 숙의 전후의 관찰된 변화로 설명한다.</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EBB11-8E7D-0B71-74DC-B5D743930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81431-80BA-A69F-2953-AC114EDBF9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38067-1B1E-F6EE-94E7-09582FD20561}"/>
              </a:ext>
            </a:extLst>
          </p:cNvPr>
          <p:cNvSpPr>
            <a:spLocks noGrp="1"/>
          </p:cNvSpPr>
          <p:nvPr>
            <p:ph type="body" idx="1"/>
          </p:nvPr>
        </p:nvSpPr>
        <p:spPr/>
        <p:txBody>
          <a:bodyPr/>
          <a:lstStyle/>
          <a:p>
            <a:pPr marL="0" indent="0">
              <a:lnSpc>
                <a:spcPct val="118000"/>
              </a:lnSpc>
              <a:buNone/>
            </a:pPr>
            <a:r>
              <a:rPr sz="1100" b="0">
                <a:solidFill>
                  <a:srgbClr val="222633"/>
                </a:solidFill>
                <a:latin typeface="Pretendard"/>
                <a:ea typeface="Pretendard"/>
                <a:cs typeface="Pretendard"/>
              </a:rPr>
              <a:t>3주차 · 19/58 · 2026 「촉법소년 연령 기준」 공론화</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[진행 기준] 약 1.1분 · 누적 28.0–29.1분. 실제 설명과 질의 속도에 따라 조정.</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[화면 내용]</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2026 「촉법소년 연령 기준」 공론화</a:t>
            </a:r>
            <a:endParaRPr sz="1100"/>
          </a:p>
          <a:p>
            <a:pPr marL="0" indent="0">
              <a:lnSpc>
                <a:spcPct val="118000"/>
              </a:lnSpc>
              <a:buNone/>
            </a:pPr>
            <a:r>
              <a:rPr sz="1100" b="0">
                <a:solidFill>
                  <a:srgbClr val="222633"/>
                </a:solidFill>
                <a:latin typeface="Pretendard"/>
                <a:ea typeface="Pretendard"/>
                <a:cs typeface="Pretendard"/>
              </a:rPr>
              <a:t>시민참여단의 응답, 협의체의 권고, 부처의 검토안은 각각 다른 내용을 보여 준다</a:t>
            </a:r>
            <a:endParaRPr sz="1100"/>
          </a:p>
          <a:p>
            <a:pPr marL="0" indent="0">
              <a:lnSpc>
                <a:spcPct val="118000"/>
              </a:lnSpc>
              <a:buNone/>
            </a:pPr>
            <a:r>
              <a:rPr sz="1100" b="0">
                <a:solidFill>
                  <a:srgbClr val="222633"/>
                </a:solidFill>
                <a:latin typeface="Pretendard"/>
                <a:ea typeface="Pretendard"/>
                <a:cs typeface="Pretendard"/>
              </a:rPr>
              <a:t>성평등가족부 2026.7.14. 공론화 결과 발표 · 시민참여단 / 협의체 / 부처 보고 구별</a:t>
            </a:r>
            <a:endParaRPr sz="1100"/>
          </a:p>
          <a:p>
            <a:pPr marL="0" indent="0">
              <a:lnSpc>
                <a:spcPct val="118000"/>
              </a:lnSpc>
              <a:buNone/>
            </a:pPr>
            <a:r>
              <a:rPr sz="1100" b="0">
                <a:solidFill>
                  <a:srgbClr val="222633"/>
                </a:solidFill>
                <a:latin typeface="Pretendard"/>
                <a:ea typeface="Pretendard"/>
                <a:cs typeface="Pretendard"/>
              </a:rPr>
              <a:t>공론화의 구성</a:t>
            </a:r>
            <a:endParaRPr sz="1100"/>
          </a:p>
          <a:p>
            <a:pPr marL="0" indent="0">
              <a:lnSpc>
                <a:spcPct val="118000"/>
              </a:lnSpc>
              <a:buNone/>
            </a:pPr>
            <a:r>
              <a:rPr sz="1100" b="0">
                <a:solidFill>
                  <a:srgbClr val="222633"/>
                </a:solidFill>
                <a:latin typeface="Pretendard"/>
                <a:ea typeface="Pretendard"/>
                <a:cs typeface="Pretendard"/>
              </a:rPr>
              <a:t>주체</a:t>
            </a:r>
            <a:endParaRPr sz="1100"/>
          </a:p>
          <a:p>
            <a:pPr marL="0" indent="0">
              <a:lnSpc>
                <a:spcPct val="118000"/>
              </a:lnSpc>
              <a:buNone/>
            </a:pPr>
            <a:r>
              <a:rPr sz="1100" b="0">
                <a:solidFill>
                  <a:srgbClr val="222633"/>
                </a:solidFill>
                <a:latin typeface="Pretendard"/>
                <a:ea typeface="Pretendard"/>
                <a:cs typeface="Pretendard"/>
              </a:rPr>
              <a:t>정부위원 5명·민간위원 10명의 협의체</a:t>
            </a:r>
            <a:endParaRPr sz="1100"/>
          </a:p>
          <a:p>
            <a:pPr marL="0" indent="0">
              <a:lnSpc>
                <a:spcPct val="118000"/>
              </a:lnSpc>
              <a:buNone/>
            </a:pPr>
            <a:r>
              <a:rPr sz="1100" b="0">
                <a:solidFill>
                  <a:srgbClr val="222633"/>
                </a:solidFill>
                <a:latin typeface="Pretendard"/>
                <a:ea typeface="Pretendard"/>
                <a:cs typeface="Pretendard"/>
              </a:rPr>
              <a:t>공론화 논의와 최종 권고</a:t>
            </a:r>
            <a:endParaRPr sz="1100"/>
          </a:p>
          <a:p>
            <a:pPr marL="0" indent="0">
              <a:lnSpc>
                <a:spcPct val="118000"/>
              </a:lnSpc>
              <a:buNone/>
            </a:pPr>
            <a:r>
              <a:rPr sz="1100" b="0">
                <a:solidFill>
                  <a:srgbClr val="222633"/>
                </a:solidFill>
                <a:latin typeface="Pretendard"/>
                <a:ea typeface="Pretendard"/>
                <a:cs typeface="Pretendard"/>
              </a:rPr>
              <a:t>시민 숙의</a:t>
            </a:r>
            <a:endParaRPr sz="1100"/>
          </a:p>
          <a:p>
            <a:pPr marL="0" indent="0">
              <a:lnSpc>
                <a:spcPct val="118000"/>
              </a:lnSpc>
              <a:buNone/>
            </a:pPr>
            <a:r>
              <a:rPr sz="1100" b="0">
                <a:solidFill>
                  <a:srgbClr val="222633"/>
                </a:solidFill>
                <a:latin typeface="Pretendard"/>
                <a:ea typeface="Pretendard"/>
                <a:cs typeface="Pretendard"/>
              </a:rPr>
              <a:t>시민참여단 212명(청소년 31명 포함)</a:t>
            </a:r>
            <a:endParaRPr sz="1100"/>
          </a:p>
          <a:p>
            <a:pPr marL="0" indent="0">
              <a:lnSpc>
                <a:spcPct val="118000"/>
              </a:lnSpc>
              <a:buNone/>
            </a:pPr>
            <a:r>
              <a:rPr sz="1100" b="0">
                <a:solidFill>
                  <a:srgbClr val="222633"/>
                </a:solidFill>
                <a:latin typeface="Pretendard"/>
                <a:ea typeface="Pretendard"/>
                <a:cs typeface="Pretendard"/>
              </a:rPr>
              <a:t>사전학습·숙의토론·사전/사후 조사</a:t>
            </a:r>
            <a:endParaRPr sz="1100"/>
          </a:p>
          <a:p>
            <a:pPr marL="0" indent="0">
              <a:lnSpc>
                <a:spcPct val="118000"/>
              </a:lnSpc>
              <a:buNone/>
            </a:pPr>
            <a:r>
              <a:rPr sz="1100" b="0">
                <a:solidFill>
                  <a:srgbClr val="222633"/>
                </a:solidFill>
                <a:latin typeface="Pretendard"/>
                <a:ea typeface="Pretendard"/>
                <a:cs typeface="Pretendard"/>
              </a:rPr>
              <a:t>의견수렴</a:t>
            </a:r>
            <a:endParaRPr sz="1100"/>
          </a:p>
          <a:p>
            <a:pPr marL="0" indent="0">
              <a:lnSpc>
                <a:spcPct val="118000"/>
              </a:lnSpc>
              <a:buNone/>
            </a:pPr>
            <a:r>
              <a:rPr sz="1100" b="0">
                <a:solidFill>
                  <a:srgbClr val="222633"/>
                </a:solidFill>
                <a:latin typeface="Pretendard"/>
                <a:ea typeface="Pretendard"/>
                <a:cs typeface="Pretendard"/>
              </a:rPr>
              <a:t>온라인 공청회·청소년 의견수렴</a:t>
            </a:r>
            <a:endParaRPr sz="1100"/>
          </a:p>
          <a:p>
            <a:pPr marL="0" indent="0">
              <a:lnSpc>
                <a:spcPct val="118000"/>
              </a:lnSpc>
              <a:buNone/>
            </a:pPr>
            <a:r>
              <a:rPr sz="1100" b="0">
                <a:solidFill>
                  <a:srgbClr val="222633"/>
                </a:solidFill>
                <a:latin typeface="Pretendard"/>
                <a:ea typeface="Pretendard"/>
                <a:cs typeface="Pretendard"/>
              </a:rPr>
              <a:t>전문가 논의</a:t>
            </a:r>
            <a:endParaRPr sz="1100"/>
          </a:p>
          <a:p>
            <a:pPr marL="0" indent="0">
              <a:lnSpc>
                <a:spcPct val="118000"/>
              </a:lnSpc>
              <a:buNone/>
            </a:pPr>
            <a:r>
              <a:rPr sz="1100" b="0">
                <a:solidFill>
                  <a:srgbClr val="222633"/>
                </a:solidFill>
                <a:latin typeface="Pretendard"/>
                <a:ea typeface="Pretendard"/>
                <a:cs typeface="Pretendard"/>
              </a:rPr>
              <a:t>권고와 보고</a:t>
            </a:r>
            <a:endParaRPr sz="1100"/>
          </a:p>
          <a:p>
            <a:pPr marL="0" indent="0">
              <a:lnSpc>
                <a:spcPct val="118000"/>
              </a:lnSpc>
              <a:buNone/>
            </a:pPr>
            <a:r>
              <a:rPr sz="1100" b="0">
                <a:solidFill>
                  <a:srgbClr val="222633"/>
                </a:solidFill>
                <a:latin typeface="Pretendard"/>
                <a:ea typeface="Pretendard"/>
                <a:cs typeface="Pretendard"/>
              </a:rPr>
              <a:t>협의체 권고</a:t>
            </a:r>
            <a:endParaRPr sz="1100"/>
          </a:p>
          <a:p>
            <a:pPr marL="0" indent="0">
              <a:lnSpc>
                <a:spcPct val="118000"/>
              </a:lnSpc>
              <a:buNone/>
            </a:pPr>
            <a:r>
              <a:rPr sz="1100" b="0">
                <a:solidFill>
                  <a:srgbClr val="222633"/>
                </a:solidFill>
                <a:latin typeface="Pretendard"/>
                <a:ea typeface="Pretendard"/>
                <a:cs typeface="Pretendard"/>
              </a:rPr>
              <a:t>연령 하향 여부와 범위의 신중한 검토</a:t>
            </a:r>
            <a:endParaRPr sz="1100"/>
          </a:p>
          <a:p>
            <a:pPr marL="0" indent="0">
              <a:lnSpc>
                <a:spcPct val="118000"/>
              </a:lnSpc>
              <a:buNone/>
            </a:pPr>
            <a:r>
              <a:rPr sz="1100" b="0">
                <a:solidFill>
                  <a:srgbClr val="222633"/>
                </a:solidFill>
                <a:latin typeface="Pretendard"/>
                <a:ea typeface="Pretendard"/>
                <a:cs typeface="Pretendard"/>
              </a:rPr>
              <a:t>소년사법 개선과제도 함께 제시</a:t>
            </a:r>
            <a:endParaRPr sz="1100"/>
          </a:p>
          <a:p>
            <a:pPr marL="0" indent="0">
              <a:lnSpc>
                <a:spcPct val="118000"/>
              </a:lnSpc>
              <a:buNone/>
            </a:pPr>
            <a:r>
              <a:rPr sz="1100" b="0">
                <a:solidFill>
                  <a:srgbClr val="222633"/>
                </a:solidFill>
                <a:latin typeface="Pretendard"/>
                <a:ea typeface="Pretendard"/>
                <a:cs typeface="Pretendard"/>
              </a:rPr>
              <a:t>부처 종합보고</a:t>
            </a:r>
            <a:endParaRPr sz="1100"/>
          </a:p>
          <a:p>
            <a:pPr marL="0" indent="0">
              <a:lnSpc>
                <a:spcPct val="118000"/>
              </a:lnSpc>
              <a:buNone/>
            </a:pPr>
            <a:r>
              <a:rPr sz="1100" b="0">
                <a:solidFill>
                  <a:srgbClr val="222633"/>
                </a:solidFill>
                <a:latin typeface="Pretendard"/>
                <a:ea typeface="Pretendard"/>
                <a:cs typeface="Pretendard"/>
              </a:rPr>
              <a:t>조건부 13세 미만 하향 검토와 소년사법 개선을</a:t>
            </a:r>
            <a:endParaRPr sz="1100"/>
          </a:p>
          <a:p>
            <a:pPr marL="0" indent="0">
              <a:lnSpc>
                <a:spcPct val="118000"/>
              </a:lnSpc>
              <a:buNone/>
            </a:pPr>
            <a:r>
              <a:rPr sz="1100" b="0">
                <a:solidFill>
                  <a:srgbClr val="222633"/>
                </a:solidFill>
                <a:latin typeface="Pretendard"/>
                <a:ea typeface="Pretendard"/>
                <a:cs typeface="Pretendard"/>
              </a:rPr>
              <a:t>국무회의에 보고</a:t>
            </a:r>
            <a:endParaRPr sz="1100"/>
          </a:p>
          <a:p>
            <a:pPr marL="0" indent="0">
              <a:lnSpc>
                <a:spcPct val="118000"/>
              </a:lnSpc>
              <a:buNone/>
            </a:pPr>
            <a:r>
              <a:rPr sz="1100" b="0">
                <a:solidFill>
                  <a:srgbClr val="222633"/>
                </a:solidFill>
                <a:latin typeface="Pretendard"/>
                <a:ea typeface="Pretendard"/>
                <a:cs typeface="Pretendard"/>
              </a:rPr>
              <a:t>2026.7.14. 발표 당시</a:t>
            </a:r>
            <a:endParaRPr sz="1100"/>
          </a:p>
          <a:p>
            <a:pPr marL="0" indent="0">
              <a:lnSpc>
                <a:spcPct val="118000"/>
              </a:lnSpc>
              <a:buNone/>
            </a:pPr>
            <a:r>
              <a:rPr sz="1100" b="0">
                <a:solidFill>
                  <a:srgbClr val="222633"/>
                </a:solidFill>
                <a:latin typeface="Pretendard"/>
                <a:ea typeface="Pretendard"/>
                <a:cs typeface="Pretendard"/>
              </a:rPr>
              <a:t>검토안을 제시하고 하향 범위에 관하여</a:t>
            </a:r>
            <a:endParaRPr sz="1100"/>
          </a:p>
          <a:p>
            <a:pPr marL="0" indent="0">
              <a:lnSpc>
                <a:spcPct val="118000"/>
              </a:lnSpc>
              <a:buNone/>
            </a:pPr>
            <a:r>
              <a:rPr sz="1100" b="0">
                <a:solidFill>
                  <a:srgbClr val="222633"/>
                </a:solidFill>
                <a:latin typeface="Pretendard"/>
                <a:ea typeface="Pretendard"/>
                <a:cs typeface="Pretendard"/>
              </a:rPr>
              <a:t>추가 의견수렴 후 결론을 도출하기로 함</a:t>
            </a:r>
            <a:endParaRPr sz="1100"/>
          </a:p>
          <a:p>
            <a:pPr marL="0" indent="0">
              <a:lnSpc>
                <a:spcPct val="118000"/>
              </a:lnSpc>
              <a:buNone/>
            </a:pPr>
            <a:r>
              <a:rPr sz="1100" b="0">
                <a:solidFill>
                  <a:srgbClr val="222633"/>
                </a:solidFill>
                <a:latin typeface="Pretendard"/>
                <a:ea typeface="Pretendard"/>
                <a:cs typeface="Pretendard"/>
              </a:rPr>
              <a:t>진행 흐름</a:t>
            </a:r>
            <a:endParaRPr sz="1100"/>
          </a:p>
          <a:p>
            <a:pPr marL="0" indent="0">
              <a:lnSpc>
                <a:spcPct val="118000"/>
              </a:lnSpc>
              <a:buNone/>
            </a:pPr>
            <a:r>
              <a:rPr sz="1100" b="0">
                <a:solidFill>
                  <a:srgbClr val="222633"/>
                </a:solidFill>
                <a:latin typeface="Pretendard"/>
                <a:ea typeface="Pretendard"/>
                <a:cs typeface="Pretendard"/>
              </a:rPr>
              <a:t>국무회의 문제 제기 → 협의체 출범 → 시민참여단 숙의</a:t>
            </a:r>
            <a:endParaRPr sz="1100"/>
          </a:p>
          <a:p>
            <a:pPr marL="0" indent="0">
              <a:lnSpc>
                <a:spcPct val="118000"/>
              </a:lnSpc>
              <a:buNone/>
            </a:pPr>
            <a:r>
              <a:rPr sz="1100" b="0">
                <a:solidFill>
                  <a:srgbClr val="222633"/>
                </a:solidFill>
                <a:latin typeface="Pretendard"/>
                <a:ea typeface="Pretendard"/>
                <a:cs typeface="Pretendard"/>
              </a:rPr>
              <a:t>→ 공청회·청소년 의견수렴·전문가 논의 → 결과 발표·국무회의 보고</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[설명과 연결]</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공론화는 시민이 자료를 학습하고 논의하는 과정뿐 아니라 협의체와 전문가의 논의, 공청회 등의 의견수렴을 함께 포함합니다. 시민참여단의 응답, 협의체 권고, 부처가 국무회의에 보고한 검토안은 생산 주체와 성격이 다릅니다.</a:t>
            </a:r>
            <a:endParaRPr sz="1100"/>
          </a:p>
          <a:p>
            <a:pPr marL="0" indent="0">
              <a:lnSpc>
                <a:spcPct val="118000"/>
              </a:lnSpc>
              <a:buNone/>
            </a:pPr>
            <a:r>
              <a:rPr sz="1100" b="0">
                <a:solidFill>
                  <a:srgbClr val="222633"/>
                </a:solidFill>
                <a:latin typeface="Pretendard"/>
                <a:ea typeface="Pretendard"/>
                <a:cs typeface="Pretendard"/>
              </a:rPr>
              <a:t>시민참여단은212명이고 청소년31명이 포함됩니다. 협의체는 연령 하향 여부와 범위를 신중히 검토할 필요와 소년사법 개선을 제시했습니다. 부처는 이를 종합하여 조건부13세 미만 하향 검토와 제도개선을 보고했습니다. 화면의 상태 설명은2026년7월14일 발표 당시로 한정합니다. 그 발표 자체가 법률 개정·시행이라는 뜻은 아닙니다. 별도 법령은 형법 제9조와 소년법에서 확인합니다.</a:t>
            </a:r>
            <a:endParaRPr sz="1100"/>
          </a:p>
          <a:p>
            <a:pPr marL="0" indent="0">
              <a:lnSpc>
                <a:spcPct val="118000"/>
              </a:lnSpc>
              <a:buNone/>
            </a:pPr>
            <a:r>
              <a:rPr sz="1100" b="0">
                <a:solidFill>
                  <a:srgbClr val="222633"/>
                </a:solidFill>
                <a:latin typeface="Pretendard"/>
                <a:ea typeface="Pretendard"/>
                <a:cs typeface="Pretendard"/>
              </a:rPr>
              <a:t>시간 여유 시 보충</a:t>
            </a:r>
            <a:endParaRPr sz="1100"/>
          </a:p>
          <a:p>
            <a:pPr marL="0" indent="0">
              <a:lnSpc>
                <a:spcPct val="118000"/>
              </a:lnSpc>
              <a:buNone/>
            </a:pPr>
            <a:r>
              <a:rPr sz="1100" b="0">
                <a:solidFill>
                  <a:srgbClr val="222633"/>
                </a:solidFill>
                <a:latin typeface="Pretendard"/>
                <a:ea typeface="Pretendard"/>
                <a:cs typeface="Pretendard"/>
              </a:rPr>
              <a:t>공론화는 “정부가 시민에게 세 가지 중 하나를 찍게 한 조사”라고 단순화하지 않는다. 시민참여단 응답, 협의체 권고, 부처 검토안은 각각 응답자료·합의문·정책검토의 층위가 다르다.</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[다음 연결] 이제 「시민참여단의 숙의 전후 응답」에서 이어지는 질문을 살펴봅니다.</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[Sources]</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https://www.mogef.go.kr/nw/enw/nw_enw_s001d.do?bbtSn=714050&amp;mid=mda700</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https://www.korea.kr/news/policyNewsView.do?newsId=148968143</a:t>
            </a:r>
            <a:endParaRPr sz="1100"/>
          </a:p>
          <a:p>
            <a:pPr marL="0" indent="0">
              <a:lnSpc>
                <a:spcPct val="118000"/>
              </a:lnSpc>
              <a:buNone/>
            </a:pPr>
            <a:endParaRPr sz="1100"/>
          </a:p>
          <a:p>
            <a:pPr marL="0" indent="0">
              <a:lnSpc>
                <a:spcPct val="118000"/>
              </a:lnSpc>
              <a:buNone/>
            </a:pPr>
            <a:r>
              <a:rPr sz="1100" b="0">
                <a:solidFill>
                  <a:srgbClr val="222633"/>
                </a:solidFill>
                <a:latin typeface="Pretendard"/>
                <a:ea typeface="Pretendard"/>
                <a:cs typeface="Pretendard"/>
              </a:rPr>
              <a:t>[/Sources]</a:t>
            </a:r>
            <a:endParaRPr sz="1100"/>
          </a:p>
        </p:txBody>
      </p:sp>
      <p:sp>
        <p:nvSpPr>
          <p:cNvPr id="4" name="Slide Number Placeholder 3">
            <a:extLst>
              <a:ext uri="{FF2B5EF4-FFF2-40B4-BE49-F238E27FC236}">
                <a16:creationId xmlns:a16="http://schemas.microsoft.com/office/drawing/2014/main" id="{856302A0-5E8A-B7F5-A753-DD571E73EC4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756645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다음 장에서 그 선별기준과 절차를 항목별로 본다.</a:t>
            </a:r>
          </a:p>
          <a:p>
            <a:r>
              <a:rPr lang="ko-KR" sz="1100" dirty="0"/>
              <a:t>[제작 메모] 시민참여단 사후조사에서 하향이 필요하다고 본 응답 가운데 13세 미만으로 한 살 낮추자는 의견이 55.8%로 가장 높았다는 점은 앞 장에서 이미 다뤘다.</a:t>
            </a:r>
          </a:p>
          <a:p>
            <a:r>
              <a:rPr lang="ko-KR" sz="1100" dirty="0"/>
              <a:t>[자료] 성평등가족부(2026.7.14.) 협의체 권고안과 시민참여단 숙의 결과</a:t>
            </a:r>
          </a:p>
          <a:p>
            <a:r>
              <a:rPr lang="ko-KR" sz="1100" dirty="0"/>
              <a:t>[대본] v27 대본 재작성 대상 — 화면 문구는 이 장에 수록되어 있다.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조건부 하향의 핵심은 연령을 1년 낮추는 데 있지 않고, 어떤 사건을 형사책임 경로에 넣을지 새로운 경계선을 만드는 데 있다는 점으로 닫는다.</a:t>
            </a:r>
          </a:p>
          <a:p>
            <a:r>
              <a:rPr lang="ko-KR" sz="1100" dirty="0"/>
              <a:t>[자료] 성평등가족부(2026.7.14.) 협의체 권고안 · 소년법 제4조 · 형법 제9조</a:t>
            </a:r>
          </a:p>
          <a:p>
            <a:r>
              <a:rPr lang="ko-KR" sz="1100" dirty="0"/>
              <a:t>원출처 1 · www.mogef.go.kr</a:t>
            </a:r>
          </a:p>
          <a:p>
            <a:r>
              <a:rPr lang="ko-KR" sz="1100" dirty="0"/>
              <a:t>[대본] v27 대본 재작성 대상 — 화면 문구는 이 장에 수록되어 있다.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소년의 이해·통제능력은 중대범죄의 정의가 아니라 13세에게 형사책임을 인정하는 것이 정당한가라는 뒤 쟁점에서 다룬다.</a:t>
            </a:r>
          </a:p>
          <a:p>
            <a:r>
              <a:rPr lang="ko-KR" sz="1100" dirty="0"/>
              <a:t>[제작 메모] 앞 장의 「중대범죄의 범위」 항목을 이 장에서 펼친다.</a:t>
            </a:r>
          </a:p>
          <a:p>
            <a:r>
              <a:rPr lang="ko-KR" sz="1100" dirty="0"/>
              <a:t>[자료] 형법 각칙 · 특정강력범죄의 처벌에 관한 특례법 제2조 · 성평등가족부(2026.7.14.) 협의체 권고안</a:t>
            </a:r>
          </a:p>
          <a:p>
            <a:r>
              <a:rPr lang="ko-KR" sz="1100" dirty="0"/>
              <a:t>[대본] v27 대본 재작성 대상 — 화면 문구는 이 장에 수록되어 있다.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2002헌마533 · 사건 경위 · 두 심판대상 · 피해자의 권리</a:t>
            </a:r>
          </a:p>
          <a:p>
            <a:endParaRPr/>
          </a:p>
          <a:p>
            <a:r>
              <a:rPr b="1"/>
              <a:t>말할 것</a:t>
            </a:r>
          </a:p>
          <a:p>
            <a:r>
              <a:t>이 장의 목적은 사건 자체와 심판대상을 이해시키는 것이다. 같은 초등학교 6학년 9명이 1학년 아동을 반복 폭행하고 성폭력 행위를 했다는 내용으로 2001년 고소됐다. 형사재판에서 확정된 사실이 아니라 피해아동 측의 고소 내용이라는 점을 반드시 짚는다.</a:t>
            </a:r>
          </a:p>
          <a:p>
            <a:r>
              <a:t>행위 당시 연령 구성(11세 2명, 12세 7명)은 결정문에서 확인된다. 이 구성이 3장의 불기소처분 판단에서 다시 쓰인다.</a:t>
            </a:r>
          </a:p>
          <a:p>
            <a:r>
              <a:t>검사는 2002년 3월 7일 형법 제9조를 이유로 죄가안됨 불기소처분을 했고, 조문은 화면의 원문 그대로다.</a:t>
            </a:r>
          </a:p>
          <a:p>
            <a:r>
              <a:t>경로를 오해하지 않게 짚는다. 제68조 제1항의 권리구제형 헌법소원이고, 법원의 위헌법률심판 제청을 거친 사건이 아니다. 2주차 95헌바1과의 차이는 이 정도만 언급한다.</a:t>
            </a:r>
          </a:p>
          <a:p>
            <a:r>
              <a:t>하단 물음으로 닫는다. 쟁점은 단순히 가해소년을 처벌해야 하는가가 아니라, 연령을 이유로 형사재판 자체가 열리지 않을 때 피해자의 헌법상 권리가 어떻게 되는가였다.</a:t>
            </a:r>
          </a:p>
          <a:p>
            <a:endParaRPr/>
          </a:p>
          <a:p>
            <a:r>
              <a:t>※ 화면에서 뺐다: 사건번호(2002헌마533)는 각주에만 두었다. 죄명(성폭력범죄의처벌및피해자보호등에관한법률 위반)과 검찰 사건번호(서울지방검찰청 의정부지청 2002년 형제16724호)는 질문 대응용.</a:t>
            </a:r>
          </a:p>
          <a:p>
            <a:r>
              <a:t>※ 피해아동을 특정하는 세부와 자극적 세부는 발화에서도 전달하지 않는다.</a:t>
            </a:r>
          </a:p>
          <a:p>
            <a:endParaRPr/>
          </a:p>
          <a:p>
            <a:r>
              <a:t>→ 다음: 일률적인 14세 기준</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청구인 대 헌재 · 일률적 연령선 · 입법정책 · 재판절차진술권</a:t>
            </a:r>
          </a:p>
          <a:p>
            <a:endParaRPr/>
          </a:p>
          <a:p>
            <a:r>
              <a:rPr b="1"/>
              <a:t>말할 것</a:t>
            </a:r>
          </a:p>
          <a:p>
            <a:r>
              <a:t>왼쪽은 청구인의 문제제기, 오른쪽은 헌재의 판단이다. 결정문의 판단 구조 그대로 두 층위를 나눈다.</a:t>
            </a:r>
          </a:p>
          <a:p>
            <a:r>
              <a:t>① 일률적 연령선 자체: 청구인은 성장이 빨라져 실제로 성숙한 14세 미만 소년이 있을 수 있다고 주장했다. 헌재는 개인차를 사건마다 판단·추정하기 곤란하고 부적절하므로 일률적인 연령 기준은 합리적이라고 보았다.</a:t>
            </a:r>
          </a:p>
          <a:p>
            <a:r>
              <a:t>② 왜 14세인가: 책임연령을 몇 세로 정할지는 발달, 교육·사회·문화적 환경, 외국 입법례를 종합할 입법정책의 문제이고, 14세가 현저하게 불합리하거나 불공정하다고 보기 어렵다고 했다.</a:t>
            </a:r>
          </a:p>
          <a:p>
            <a:r>
              <a:t>피해자의 권리가 등장한 이유를 설명한다. 형사재판이 열리지 않으면 피해자는 그 절차에서 진술할 수 없고(제27조 제5항), 가해자의 연령에 따라 그 가능성이 달라지는 것이 정당한 차별인지(제11조 제1항) 문제 됐다. 헌재는 합리적인 책임연령제도에 따른 차이이므로 침해가 아니라고 보았다.</a:t>
            </a:r>
          </a:p>
          <a:p>
            <a:r>
              <a:t>마무리 문장: 합헌이지만, 14세만이 헌법상 가능한 책임연령이라는 판단은 아니다.</a:t>
            </a:r>
          </a:p>
          <a:p>
            <a:endParaRPr/>
          </a:p>
          <a:p>
            <a:r>
              <a:t>※ 공식 판시사항 원문(질문 대응): “14세 미만의 자를 형사미성년자로 규정하고 있는 형법 제9조가 청구인의 재판절차진술권 및 평등권을 침해하여 위헌인지 여부”.</a:t>
            </a:r>
          </a:p>
          <a:p>
            <a:r>
              <a:t>※ 관여 재판관 전원 일치의 기각 결정이다(보충의견 1인).</a:t>
            </a:r>
          </a:p>
          <a:p>
            <a:endParaRPr/>
          </a:p>
          <a:p>
            <a:r>
              <a:t>→ 다음: 합헌 판단과 남은 문제</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2002헌마533 · 전효숙 보충의견 · 14세 기준과 보호공백 · 2007년 개정</a:t>
            </a:r>
          </a:p>
          <a:p>
            <a:endParaRPr/>
          </a:p>
          <a:p>
            <a:r>
              <a:rPr b="1"/>
              <a:t>말할 것</a:t>
            </a:r>
          </a:p>
          <a:p>
            <a:r>
              <a:t>앞 장에서 다수의견의 합헌 판단은 이미 봤다. 일률적인 연령선이 합리적이고, 14세라는 기준도 현저히 불합리하다고 보기 어려우며, 피해자의 재판절차진술권과 평등권을 침해한 것도 아니라는 판단이었다. 여기서는 반복하지 않는다.</a:t>
            </a:r>
          </a:p>
          <a:p>
            <a:r>
              <a:t>사건의 다른 심판대상이었던 검사의 불기소처분 취소 청구도 기각됐다. 행위 당시 11세였던 2명은 당시 촉법소년 하한 12세에도 미달했고, 12세였던 7명은 당시 촉법소년에 해당했지만 소년부 송치 여부는 검사의 판단영역이었다. 헌재는 수사미진이나 자의적 증거판단을 인정하기 어렵다고 보았다. 이 설명은 결론 확인까지만 하고 길게 끌지 않는다.</a:t>
            </a:r>
          </a:p>
          <a:p>
            <a:r>
              <a:t>이 장에서 더 중요한 것은 전효숙 재판관의 보충의견이다. 합헌이라는 결론에 동의하면서 두 가지를 입법문제로 남겼다.</a:t>
            </a:r>
          </a:p>
          <a:p>
            <a:r>
              <a:t>첫째, 사회·교육환경의 변화로 소년의 성장이 빨라진 만큼 14세 기준을 다시 검토할 필요가 있다는 의견이다. 다수의견이 14세를 위헌으로 본 것이 아니라는 점을 반드시 함께 말한다.</a:t>
            </a:r>
          </a:p>
          <a:p>
            <a:r>
              <a:t>둘째, 당시에는 12세 미만이 형사책임뿐 아니라 소년보호사건에서도 빠져 있어서, 중대한 위해가 발생해도 국가의 개입수단이 부족한 보호공백이 생길 수 있다는 문제였다.</a:t>
            </a:r>
          </a:p>
          <a:p>
            <a:r>
              <a:t>그런데 오늘 논제에서는 두 번째 문제가 그대로 남아 있지 않다. 2007년 소년법 개정과 2008년 시행으로 촉법소년 하한이 12세에서 10세로 낮아졌다. 지금은 10세와 11세도 형벌 법령에 저촉되는 행위를 하면 소년부 심리와 보호처분의 대상이 될 수 있고, 오늘 논의하는 13세는 이미 보호처분을 받을 수 있다.</a:t>
            </a:r>
          </a:p>
          <a:p>
            <a:r>
              <a:t>따라서 오늘의 질문은 13세에게 아무 대응도 할 수 없으니 연령을 낮출 것인가가 아니다. 보호절차와 상당한 보호처분이 이미 있는 13세에게 형사책임이라는 경로까지 추가할 필요가 있는지가 질문이다.</a:t>
            </a:r>
          </a:p>
          <a:p>
            <a:r>
              <a:t>이 문제를 들고 다음 장의 중국 사례로 넘어간다. 중국은 책임연령 전체를 일괄 낮추는 대신 12~13세의 극히 중대한 사건에 좁은 예외를 만든 사례다.</a:t>
            </a:r>
          </a:p>
          <a:p>
            <a:endParaRPr/>
          </a:p>
          <a:p>
            <a:r>
              <a:t>※ 보충의견을 다수의견이나 법원의 최종 결론처럼 말하지 않는다. 보호공백은 당시 12세 미만에 관한 표현이라는 점을 항상 함께 밝힌다.</a:t>
            </a:r>
          </a:p>
          <a:p>
            <a:r>
              <a:t>※ 화면에서 뺐다: 불기소 시점(2002년 3월 7일, 의정부지청), 11세 2명과 12세 7명의 구성, 청구인의 주장 내용.</a:t>
            </a:r>
          </a:p>
          <a:p>
            <a:r>
              <a:t>※ 사건번호는 2022헌마533이 아니라 2002헌마533이다. 제목에 칩으로 넣으면 27.5pt 제목이 두 줄로 꺾여 각주에만 두었다.</a:t>
            </a:r>
          </a:p>
          <a:p>
            <a:endParaRPr/>
          </a:p>
          <a:p>
            <a:r>
              <a:t>→ 다음: 중국의 예외적 형사책임</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2020년 형법수정안(11) · 예외적 하향 · 다롄 사건</a:t>
            </a:r>
          </a:p>
          <a:p>
            <a:endParaRPr/>
          </a:p>
          <a:p>
            <a:r>
              <a:rPr b="1"/>
              <a:t>말할 것</a:t>
            </a:r>
          </a:p>
          <a:p>
            <a:r>
              <a:t>중국은 전면 하향을 한 나라가 아니라는 점부터 세운다. 개정 전에는 14세 미만에게 형사책임을 묻지 않았고, 12~13세의 중대한 살인·상해 사건도 형사책임 경로가 닫혀 있었다.</a:t>
            </a:r>
          </a:p>
          <a:p>
            <a:r>
              <a:t>개정 배경으로 2019년 10월 다롄 사건을 든다. 13세 소년이 10세 아동을 살해했으나 형사책임 연령에 이르지 않아 형사책임을 묻지 않고 3년의 수용교양에 처했다. 이 사건 뒤 책임연령 논의가 크게 확대됐다는 것은 언론과 연구가 공통으로 서술하는 바다. 입법기관이 이 사건을 개정 이유로 명시했다고까지는 말하지 않는다.</a:t>
            </a:r>
          </a:p>
          <a:p>
            <a:r>
              <a:t>2020년 12월 26일 전국인민대표대회 상무위원회가 형법수정안(11)을 통과시켰고 2021년 3월 1일 시행됐다.</a:t>
            </a:r>
          </a:p>
          <a:p>
            <a:r>
              <a:t>조문을 읽어 준다. 화면의 제17조 제3항은 중국어 원문을 옮긴 것이고, 다음 장부터 이 조문의 요건을 하나씩 푼다.</a:t>
            </a:r>
          </a:p>
          <a:p>
            <a:r>
              <a:t>마무리: 중국은 최저 책임연령을 일반적으로 12세로 바꾼 것이 아니라 14세 아래에 좁은 예외를 만들었다. 이 구분이 오늘 논의의 핵심이다.</a:t>
            </a:r>
          </a:p>
          <a:p>
            <a:endParaRPr/>
          </a:p>
          <a:p>
            <a:r>
              <a:t>※ 화면에서 뺐다: 다롄 사건의 피해자 관련 세부. 발화에서도 전달하지 않는다.</a:t>
            </a:r>
          </a:p>
          <a:p>
            <a:r>
              <a:t>※ 수용교양은 형법수정안(11)과 예방법 개정으로 전문 교정교육으로 대체됐다. 4장에서 다룬다.</a:t>
            </a:r>
          </a:p>
          <a:p>
            <a:endParaRPr/>
          </a:p>
          <a:p>
            <a:r>
              <a:t>→ 다음: 중국의 단계별 연령구조</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제17조 · 16세 / 14~15세 / 12~13세 / 12세 미만</a:t>
            </a:r>
          </a:p>
          <a:p>
            <a:endParaRPr/>
          </a:p>
          <a:p>
            <a:r>
              <a:rPr b="1"/>
              <a:t>말할 것</a:t>
            </a:r>
          </a:p>
          <a:p>
            <a:r>
              <a:t>중국의 책임연령은 하나의 선이 아니라 네 구간의 단계 구조라는 점이 이 장의 요지다.</a:t>
            </a:r>
          </a:p>
          <a:p>
            <a:r>
              <a:t>16세 이상은 원칙적으로 모든 범죄에 형사책임을 진다. 14~15세는 법률에 열거된 범죄에만 책임을 진다. 열거된 것은 고의살인, 고의상해로 중상해 또는 사망, 강간, 강도, 마약판매, 방화, 폭발, 위험물질 투입이다.</a:t>
            </a:r>
          </a:p>
          <a:p>
            <a:r>
              <a:t>12~13세는 여기서 한 단계 더 좁아진다. 고의살인·고의상해 가운데 사망 또는 특히 잔혹한 수단에 의한 중상해와 중대한 장애라는 결과가 있어야 하고, 정상이 악해야 하며, 최고인민검찰원의 추소 승인까지 필요하다.</a:t>
            </a:r>
          </a:p>
          <a:p>
            <a:r>
              <a:t>12세 미만은 형사책임을 묻지 않는다.</a:t>
            </a:r>
          </a:p>
          <a:p>
            <a:r>
              <a:t>마무리에서 오늘의 논제와 연결한다. 중국의 13세는 승인 절차를 거친 극히 좁은 예외이고, 한국에서 논의되는 13세의 범죄소년화는 13세 전반을 형사책임 경로에 넣는 구조다. 같은 숫자라도 구조가 다르다.</a:t>
            </a:r>
          </a:p>
          <a:p>
            <a:endParaRPr/>
          </a:p>
          <a:p>
            <a:r>
              <a:t>※ 화면에서 뺐다: 14~18세에 대한 감경 규정, 2025년 개정 치안관리처벌법의 연령 규정.</a:t>
            </a:r>
          </a:p>
          <a:p>
            <a:endParaRPr/>
          </a:p>
          <a:p>
            <a:r>
              <a:t>→ 다음: 12~13세 형사책임의 조건</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다섯 요건 · 정상이 악한 경우 · 추소 승인</a:t>
            </a:r>
          </a:p>
          <a:p>
            <a:endParaRPr/>
          </a:p>
          <a:p>
            <a:r>
              <a:rPr b="1"/>
              <a:t>말할 것</a:t>
            </a:r>
          </a:p>
          <a:p>
            <a:r>
              <a:t>12~13세 예외가 실제로 작동하려면 다섯 가지가 모두 충족돼야 한다. 요건을 하나씩 짚는다.</a:t>
            </a:r>
          </a:p>
          <a:p>
            <a:r>
              <a:t>① 연령, ② 고의살인 또는 고의상해 행위, ③ 사망 또는 특히 잔혹한 수단에 의한 중상해와 중대한 장애라는 결과, ④ 정상이 악할 것, ⑤ 최고인민검찰원의 추소 승인.</a:t>
            </a:r>
          </a:p>
          <a:p>
            <a:r>
              <a:t>②에서 2026년 규정의 변화를 언급한다. 최종 죄명이 무엇으로 정해지느냐가 아니라 어떤 행위를 했느냐를 기준으로 판단한다는 점을 명확히 했다.</a:t>
            </a:r>
          </a:p>
          <a:p>
            <a:r>
              <a:t>④의 판단 요소는 결과만이 아니다. 동기·수단·대상·인신위험성·재범가능성·사회적 영향을 종합한다.</a:t>
            </a:r>
          </a:p>
          <a:p>
            <a:r>
              <a:t>⑤는 절차적 관문이다. 승인 없이는 공소를 제기할 수 없고, 사건 발생지 검찰기관이 단계별로 보고해 최고인민검찰원이 결정한다.</a:t>
            </a:r>
          </a:p>
          <a:p>
            <a:r>
              <a:t>마무리: 추소 승인은 유죄판결이 아니라 형사절차로 보낼 수 있게 하는 문이다. 승인과 유죄 인정은 다른 단계다.</a:t>
            </a:r>
          </a:p>
          <a:p>
            <a:endParaRPr/>
          </a:p>
          <a:p>
            <a:r>
              <a:t>※ 2026년 7월 31일 최고인민검찰원과 공안부가 공동으로 발표한 15개조 규정이다. 규정 원문 전문은 확보하지 못했고, 화면 내용은 발표 보도와 해설 기준이다.</a:t>
            </a:r>
          </a:p>
          <a:p>
            <a:r>
              <a:t>※ 화면에서 뺐다: 승인 전 강제조치 가능 여부, 법률원조와 법정대리인 참여 등 절차적 권리 보장 조항.</a:t>
            </a:r>
          </a:p>
          <a:p>
            <a:endParaRPr/>
          </a:p>
          <a:p>
            <a:r>
              <a:t>→ 다음: 예외 밖과 실제 적용</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한단 사건 · 추소 승인 · 피고인별 결과 · 전문 교정교육</a:t>
            </a:r>
          </a:p>
          <a:p>
            <a:endParaRPr/>
          </a:p>
          <a:p>
            <a:r>
              <a:rPr b="1"/>
              <a:t>말할 것</a:t>
            </a:r>
          </a:p>
          <a:p>
            <a:r>
              <a:t>앞 장에서 12~13세 예외의 다섯 관문을 봤다. 이 장은 그 관문을 모두 통과한 사건에서 실제로 무슨 일이 있었는지를 본다.</a:t>
            </a:r>
          </a:p>
          <a:p>
            <a:r>
              <a:t>2024년 3월 하북성 한단에서 일어난 사건이다. 피고인 세 명과 피해자는 모두 범행 당시 13세였다. 최고인민검찰원이 2024년 4월 8일 세 명 모두에 대해 추소를 승인했고, 한단시 중급인민법원이 2024년 12월 30일 1심을 선고했다.</a:t>
            </a:r>
          </a:p>
          <a:p>
            <a:r>
              <a:t>핵심은 여기다. 세 명 모두 같은 관문을 통과했는데 결과는 같지 않았다.</a:t>
            </a:r>
          </a:p>
          <a:p>
            <a:r>
              <a:t>장씨는 살해를 제안하고 장소를 미리 골라 준비했으며 직접 실행했다. 무기징역과 정치권리 종신 박탈이다. 이씨는 여러 차례 공모에 참여하고 실행을 도왔다. 징역 12년이다. 마씨는 사전 공모에 참여하지 않았고 도중에 알게 됐으며 직접 가해행위를 하지 않았다. 법에 따라 형사처벌하지 않았다.</a:t>
            </a:r>
          </a:p>
          <a:p>
            <a:r>
              <a:t>마씨에 대해서는 법원과 검찰이 사법건의·검찰건의를 냈고, 전문교육지도위원회의 평가와 동의를 거쳐 공안기관과 교육부문이 전문 교정교육을 결정했다. 형사처벌을 하지 않는다는 것이 아무 조치도 없다는 뜻이 아니라는 점을 여기서 짚는다.</a:t>
            </a:r>
          </a:p>
          <a:p>
            <a:r>
              <a:t>세 단계로 정리한다. 추소 승인은 문을 여는 단계, 법원의 개별 판단은 행위와 가담 정도를 다시 보는 단계, 그다음이 처벌 또는 교정이다.</a:t>
            </a:r>
          </a:p>
          <a:p>
            <a:r>
              <a:t>마무리 문장으로 닫는다. 요건을 충족하면 자동으로 처벌하는 구조가 아니다. 한국의 조건부 하향안을 볼 때도 요건을 어디에 두는지와 그 뒤의 개별 판단을 함께 봐야 한다는 점으로 연결한다.</a:t>
            </a:r>
          </a:p>
          <a:p>
            <a:endParaRPr/>
          </a:p>
          <a:p>
            <a:r>
              <a:t>※ 화면에서 뺐다: 범행 방법과 사체 관련 세부, 피해자 관련 정보, 마씨가 사건 후 가장 먼저 진술해 수사에 협조한 사정. 피해자와 사건의 자극적 세부는 발화에서도 전달하지 않는다.</a:t>
            </a:r>
          </a:p>
          <a:p>
            <a:r>
              <a:t>※ 1심 선고이고 상소·확정 여부는 확보하지 않았다. 2024년 4월의 추소 승인 발표는 선고 내용의 근거로 쓰지 않는다.</a:t>
            </a:r>
          </a:p>
          <a:p>
            <a:r>
              <a:t>※ 법원의 형사 판단과 관계기관의 전문 교정교육 결정은 서로 다른 절차다. 하나로 묶어 말하지 않는다.</a:t>
            </a:r>
          </a:p>
          <a:p>
            <a:endParaRPr/>
          </a:p>
          <a:p>
            <a:r>
              <a:t>→ 다음: 스코틀랜드의 비형사 대응</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책임연령·안전권한·면담권리 지원·평가 범위의 4개 단위로 배치한다. 안전 장소 이동과 형사체포를 다른 용어로 유지한다.</a:t>
            </a:r>
          </a:p>
          <a:p>
            <a:r>
              <a:rPr lang="ko-KR" sz="1100" dirty="0"/>
              <a:t>[제작 메모] 기존 검토반영 대본 P24의 설명을 사용한다. 핵심 설명과 한정은 이 장의 화면 문구에도 포함했다.</a:t>
            </a:r>
          </a:p>
          <a:p>
            <a:r>
              <a:rPr lang="ko-KR" sz="1100" dirty="0"/>
              <a:t>[자료] Scottish Government, Age of criminal responsibility · 2019년 법 제28조</a:t>
            </a:r>
          </a:p>
          <a:p>
            <a:r>
              <a:rPr lang="ko-KR" sz="1100" dirty="0"/>
              <a:t>원출처 1 · www.gov.scot</a:t>
            </a:r>
          </a:p>
          <a:p>
            <a:r>
              <a:rPr lang="ko-KR" sz="1100" dirty="0"/>
              <a:t>[대본] v27 대본 재작성 대상 — 화면 문구는 이 장에 수록되어 있다.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독일의 두 단계 · 아일랜드의 예외와 DPP 동의</a:t>
            </a:r>
          </a:p>
          <a:p>
            <a:endParaRPr/>
          </a:p>
          <a:p>
            <a:r>
              <a:rPr b="1"/>
              <a:t>말할 것</a:t>
            </a:r>
          </a:p>
          <a:p>
            <a:r>
              <a:t>두 나라는 형사책임의 문을 서로 다른 방식으로 연다.</a:t>
            </a:r>
          </a:p>
          <a:p>
            <a:r>
              <a:t>독일은 연령선 위에서 한 번 더 본다. StGB 제19조가 14세 미만을 형사책임에서 제외하고, JGG 제3조는 14~17세에게도 행위 당시 위법성을 이해하고 그 이해에 따라 행동할 만큼 도덕적·지적 성숙성이 있었는지를 별도로 판단하게 한다. 이것은 독일 소년법 특유의 추가 요건이고, 한국 형법 제10조의 일반 책임능력 판단과 같은 제도가 아니다.</a:t>
            </a:r>
          </a:p>
          <a:p>
            <a:r>
              <a:t>아일랜드는 연령선 아래에 두 겹의 제한을 둔다. 하나는 실체요건이다. 10~11세에는 살인·고살·강간 등 법률이 열거한 중대범죄에만 예외가 있다. 다른 하나는 절차요건이다. 14세 미만이 기소된 사건은 검찰총장(DPP)의 동의가 있어야 다음 절차로 나아간다. 구금·보석에 관한 결정은 이 동의요건의 예외다.</a:t>
            </a:r>
          </a:p>
          <a:p>
            <a:r>
              <a:t>두 규칙이 서로 다르다는 점을 분명히 한다. 10~11세 예외범죄와 14세 미만 DPP 동의는 적용 범위가 다르다. DPP 동의는 유죄판단이 아니라 절차를 진행할지에 관한 관문이다.</a:t>
            </a:r>
          </a:p>
          <a:p>
            <a:r>
              <a:t>마무리 문장으로 회수한다. 연령을 낮출 것인가만이 아니라 연령선 위의 자동 인정 여부와 연령선 아래 예외의 요건도 함께 정해야 한다.</a:t>
            </a:r>
          </a:p>
          <a:p>
            <a:endParaRPr/>
          </a:p>
          <a:p>
            <a:r>
              <a:t>※ 외국 제도를 그대로 도입하자는 권고가 아니다. 어떤 선택지가 있는지를 보여 주는 비교다.</a:t>
            </a:r>
          </a:p>
          <a:p>
            <a:r>
              <a:t>※ 아일랜드 §52는 2006년 형사사법법 제129조로 개정되어 2007년 3월부터 시행됐다. 열거범죄에는 제4조 강간과 중대성폭력도 포함된다.</a:t>
            </a:r>
          </a:p>
          <a:p>
            <a:endParaRPr/>
          </a:p>
          <a:p>
            <a:r>
              <a:t>→ 다음: 국가별 비교 Ⅱ</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일본의 보호처분 · 네덜란드의 두 층 · 스코틀랜드의 비형사 절차</a:t>
            </a:r>
          </a:p>
          <a:p>
            <a:endParaRPr/>
          </a:p>
          <a:p>
            <a:r>
              <a:rPr b="1"/>
              <a:t>말할 것</a:t>
            </a:r>
          </a:p>
          <a:p>
            <a:r>
              <a:t>세 나라 모두 형사책임을 묻지 않는 구간에 무언가를 남긴다. 다만 그 성격이 다르다.</a:t>
            </a:r>
          </a:p>
          <a:p>
            <a:r>
              <a:t>일본은 소년사법 안에 보호처분 경로를 둔다. 14세 미만은 아동상담소장 등의 송치를 거쳐 가정재판소의 소년보호사건으로 다루고, 보호관찰·아동자립지원시설 등 송치·소년원 송치가 가능하다. 한국의 촉법소년 체계와 비교할 수 있는 유형이지만 세부 절차와 시설체계가 같지는 않다.</a:t>
            </a:r>
          </a:p>
          <a:p>
            <a:r>
              <a:t>네덜란드는 선 아래와 선 위를 나눈다. 12세 미만에는 보호자 협의, 청소년보호기관 연계, 민사적 아동보호·감독조치가 있고, 12~17세에는 사회봉사·훈련, 행동개입, 소년구금, 치료 목적의 PIJ처럼 강도가 다른 처분이 있다.</a:t>
            </a:r>
          </a:p>
          <a:p>
            <a:r>
              <a:t>스코틀랜드는 세 번째 유형이다. 12세 미만의 위해행위를 범죄를 저질렀다는 사유로 아동청문에 회부하지 않는다. 대신 복지·보호 필요가 있으면 비범죄적 사유로 아동청문 절차에 들어가고, 강제감독명령 등으로 감독·생활·치료를 정한다.</a:t>
            </a:r>
          </a:p>
          <a:p>
            <a:r>
              <a:t>그리고 중대한 위해에 대한 별도 권한이 있다. 다른 사람에게 중대한 위해를 가할 즉각적 위험이 있으면 경찰이 아동을 안전한 장소로 옮길 수 있고, 최대 24시간이다. 최후수단으로만 쓰도록 지침이 정하고 있다. 심각한 위해행위의 사실확인을 위한 조사면담도 가능하며, 면담에는 아동의 권리를 설명하고 돕는 ChIRP가 참여한다. ChIRP는 아동법률지원제도에 등록된 변호사여야 한다.</a:t>
            </a:r>
          </a:p>
          <a:p>
            <a:r>
              <a:t>스코틀랜드를 단순 복지지원만 있는 나라로 소개하지 않는다. 보호·감독과 공공안전 대응권한이 함께 있다.</a:t>
            </a:r>
          </a:p>
          <a:p>
            <a:r>
              <a:t>마무리와 금색 줄로 닫는다. 한국은 이미 10~13세에 보호처분을 두고 있으므로, 대응수단이 없는가보다 무엇이 해결되지 않는지를 따져야 한다. 스코틀랜드를 근거로 한국도 형사책임 없이 충분히 해결할 수 있다고 결론내지 않는다.</a:t>
            </a:r>
          </a:p>
          <a:p>
            <a:endParaRPr/>
          </a:p>
          <a:p>
            <a:r>
              <a:t>※ 화면에서 뺐다: ChIRP의 역할과 자격, 아동청문 회부 제외의 조문 설명, place of safety의 구체적 장소와 경찰서 사용이 예외라는 점, 최후수단 원칙. 기존 스코틀랜드 독립 장의 세부는 보충자료로 옮긴다.</a:t>
            </a:r>
          </a:p>
          <a:p>
            <a:r>
              <a:t>※ 세 나라의 절차를 한국 소년법 제32조 보호처분과 같은 법적 체계로 말하지 않는다.</a:t>
            </a:r>
          </a:p>
          <a:p>
            <a:endParaRPr/>
          </a:p>
          <a:p>
            <a:r>
              <a:t>→ 다음: 7개국 연령축 비교</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세 층위 · 형사책임 경계 · 별도 연령규칙 · 보호·교정 경로</a:t>
            </a:r>
          </a:p>
          <a:p>
            <a:endParaRPr/>
          </a:p>
          <a:p>
            <a:r>
              <a:rPr b="1"/>
              <a:t>말할 것</a:t>
            </a:r>
          </a:p>
          <a:p>
            <a:r>
              <a:t>이 장은 구조 비교 개관이다. 세 층으로 읽는다. 굵은 막대는 각 나라의 형사책임 기본 경계, 그 아래 중간 남색 띠는 같은 구간 안에서 특정 연령대에만 적용되는 별도 규칙, 연회색은 형사책임과 별개인 보호·복지·교정 경로다.</a:t>
            </a:r>
          </a:p>
          <a:p>
            <a:r>
              <a:t>한국은 14세가 기본 경계이고, 그 아래 10~13세에 촉법소년이라는 별도 규칙이 붙는다. 붉은 점선이 하향안의 13세, 짙은 세로선이 현행 14세다. 오른쪽 회색 표시는 소년보호사건과 보호처분이 형사책임과 별개로 존재한다는 뜻이다.</a:t>
            </a:r>
          </a:p>
          <a:p>
            <a:r>
              <a:t>중국은 세 층으로 나뉜다. 16세부터 일반 형사책임, 14~15세는 열거된 중대범죄에만, 12~13세는 극히 중대한 고의범죄에 특례로만 책임이 열린다. 12~13세 특례에는 최고인민검찰원의 추소 승인이 필요한데, 막대가 좁아 화면에는 넣지 않고 아래 요약에서 회수한다.</a:t>
            </a:r>
          </a:p>
          <a:p>
            <a:r>
              <a:t>독일은 14세가 경계지만 14~17세에 성숙성 판단이라는 별도 요건이 다시 붙는다. 경계와 판단이 두 단계로 나뉘는 사례다.</a:t>
            </a:r>
          </a:p>
          <a:p>
            <a:r>
              <a:t>일본에서는 14세 미만으로 형벌 법령에 저촉되는 행위를 한 소년이 촉법소년에 해당하고, 가정재판소의 보호처분 경로가 따로 있다.</a:t>
            </a:r>
          </a:p>
          <a:p>
            <a:r>
              <a:t>아일랜드는 12세가 경계이고, 10~11세의 중대범죄 예외와 14세 미만 기소 사건의 DPP 동의 요건이 각각 별도 규칙으로 붙는다.</a:t>
            </a:r>
          </a:p>
          <a:p>
            <a:r>
              <a:t>스코틀랜드는 중간적인 형사책임 지위를 두지 않는다. 12세 미만에는 형사절차가 아니라 별도의 비형사 절차로 대응하므로 회색만 쓴다.</a:t>
            </a:r>
          </a:p>
          <a:p>
            <a:r>
              <a:t>네덜란드는 12세가 경계이고 12~17세에 소년형법이 적용되며, 그 아래에는 보호·복지 개입이 남는다.</a:t>
            </a:r>
          </a:p>
          <a:p>
            <a:r>
              <a:t>아래 세 줄로 정리하고 다음 장의 설계 과제로 넘어간다.</a:t>
            </a:r>
          </a:p>
          <a:p>
            <a:endParaRPr/>
          </a:p>
          <a:p>
            <a:r>
              <a:t>※ 이 장에는 각주를 두지 않았다. 근거 조문은 앞선 나라별 장의 각주에 있고, 질문이 나오면 그 장으로 돌아간다.</a:t>
            </a:r>
          </a:p>
          <a:p>
            <a:r>
              <a:t>※ 화면에서 뺐다: 중국의 추소 승인, 아일랜드의 동의 대상 범죄명, 네덜란드의 처분 단계(HALT·사회봉사·소년구금·PIJ), 일본의 소년원 송치 요건.</a:t>
            </a:r>
          </a:p>
          <a:p>
            <a:r>
              <a:t>※ 중국의 12~13세 특례는 고의살인·고의상해에 한정된다. 띠의 '특례 책임'은 그 좁은 예외를 가리킨다.</a:t>
            </a:r>
          </a:p>
          <a:p>
            <a:r>
              <a:t>※ 연령축은 만 나이이고 막대 경계는 해당 연령의 시작점이다.</a:t>
            </a:r>
          </a:p>
          <a:p>
            <a:r>
              <a:t>※ 이 장은 개관이지 권고안이 아니다. 어느 설계가 낫다는 평가는 하지 않는다.</a:t>
            </a:r>
          </a:p>
          <a:p>
            <a:endParaRPr/>
          </a:p>
          <a:p>
            <a:r>
              <a:t>→ 다음: 외국 제도의 설계 과제</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네 가지 설계축 · 한국 현행제도 · 남는 선택</a:t>
            </a:r>
          </a:p>
          <a:p>
            <a:endParaRPr/>
          </a:p>
          <a:p>
            <a:r>
              <a:rPr b="1"/>
              <a:t>말할 것</a:t>
            </a:r>
          </a:p>
          <a:p>
            <a:r>
              <a:t>이 장은 외국 사례를 요약하는 자리가 아니라, 그 사례가 한국에 어떤 선택을 남기는지 정리하는 자리다. 외국 제도의 세부는 앞의 나라별 비교와 연령축 도식에서 이미 봤으므로 여기서는 다시 설명하지 않는다.</a:t>
            </a:r>
          </a:p>
          <a:p>
            <a:r>
              <a:t>① 중대범죄 예외의 범위: 아일랜드와 중국은 연령선 아래의 중대범죄에만 제한적으로 경로를 연다. 한국의 형법 제9조는 범죄의 종류나 중대성과 관계없이 연령만으로 배제한다. 그래서 하향한다면 13세 전체를 포함할지, 일정한 중대범죄에만 예외를 둘지가 첫 번째 선택이다.</a:t>
            </a:r>
          </a:p>
          <a:p>
            <a:r>
              <a:t>② 연령선 위의 책임판단: 이 행이 이번 외국 비교가 한국 논제에 던지는 가장 새로운 물음이다. 독일은 14~17세에게도 행위 당시 위법성을 이해하고 그에 따라 행동할 성숙성이 있었는지를 다시 판단한다. 한국에는 독일식 소년 연령 특유의 추가 성숙성 요건은 없지만 형법 제10조 등 일반 책임능력 규정은 별도로 적용된다. 13세를 포함한다면 연령만으로 책임경로를 열지, 개별 성숙성 판단을 함께 요구할지 정해야 한다.</a:t>
            </a:r>
          </a:p>
          <a:p>
            <a:r>
              <a:t>③ 연령선 아래의 대응수단: 일본·스코틀랜드·네덜란드·중국이 형사책임 밖의 경로를 둔다. 한국도 10~13세를 이미 소년부 심리와 보호처분의 대상으로 둔다. 그래서 질문은 뒤집힌다. 지금 부족한 것이 형사책임 자체인지, 조사·교육·처분의 실제 내용인지 먼저 확인해야 한다.</a:t>
            </a:r>
          </a:p>
          <a:p>
            <a:r>
              <a:t>④ 형사책임 이후의 소년 특례: 네덜란드는 형사책임을 인정한 뒤에도 소년형법에 따른 별도의 제재·치료수단을 둔다. 한국도 범죄소년에게 소년부 송치와 소년형사사건의 특례(부정기형 등)를 둔다. 13세를 새로 포함한다면 기존 14~18세와 같은 절차·처우를 적용할지, 가장 어린 범죄소년에게 추가 장치를 둘지가 남는다.</a:t>
            </a:r>
          </a:p>
          <a:p>
            <a:r>
              <a:t>마무리 문장으로 네 행을 회수한다. 연령 하향은 기준연령 하나를 바꾸는 문제가 아니라, 누구를 형사경로에 넣고 그 전후를 어떻게 다룰지 함께 정하는 문제다.</a:t>
            </a:r>
          </a:p>
          <a:p>
            <a:endParaRPr/>
          </a:p>
          <a:p>
            <a:r>
              <a:t>※ 중국 한단 사건에서 추소 승인 뒤에도 피고인별로 판단과 처분이 갈렸다는 점은 앞의 중국 장에서 다뤘다. 질문이 나오면 ④와 연결해 답한다.</a:t>
            </a:r>
          </a:p>
          <a:p>
            <a:r>
              <a:t>※ 화면에서 뺐다: 중국 형법 제17조의 미성년자 감경 규정. 앞 화면에서 제시하지 않았으므로 이 장에서 새 근거로 쓰지 않는다.</a:t>
            </a:r>
          </a:p>
          <a:p>
            <a:r>
              <a:t>※ 오른쪽 끝의 물음은 강사의 결론이 아니라 학생이 자기 논증에서 답해야 할 선택지다.</a:t>
            </a:r>
          </a:p>
          <a:p>
            <a:endParaRPr/>
          </a:p>
          <a:p>
            <a:r>
              <a:t>→ 다음: 일반논평 제24호 Ⅰ</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dirty="0" err="1"/>
              <a:t>핵심어</a:t>
            </a:r>
            <a:r>
              <a:rPr dirty="0"/>
              <a:t> </a:t>
            </a:r>
            <a:r>
              <a:rPr dirty="0" err="1"/>
              <a:t>일반논평</a:t>
            </a:r>
            <a:r>
              <a:rPr dirty="0"/>
              <a:t> 제24호 · 제22항 </a:t>
            </a:r>
            <a:r>
              <a:rPr dirty="0" err="1"/>
              <a:t>적어도</a:t>
            </a:r>
            <a:r>
              <a:rPr dirty="0"/>
              <a:t> 14세 · 제25항 </a:t>
            </a:r>
            <a:r>
              <a:rPr dirty="0" err="1"/>
              <a:t>예외</a:t>
            </a:r>
            <a:r>
              <a:rPr dirty="0"/>
              <a:t> </a:t>
            </a:r>
            <a:r>
              <a:rPr dirty="0" err="1"/>
              <a:t>폐지</a:t>
            </a:r>
            <a:endParaRPr dirty="0"/>
          </a:p>
          <a:p>
            <a:endParaRPr dirty="0"/>
          </a:p>
          <a:p>
            <a:r>
              <a:rPr b="1" dirty="0" err="1"/>
              <a:t>말할</a:t>
            </a:r>
            <a:r>
              <a:rPr b="1" dirty="0"/>
              <a:t> 것</a:t>
            </a:r>
          </a:p>
          <a:p>
            <a:r>
              <a:rPr dirty="0" err="1"/>
              <a:t>먼저</a:t>
            </a:r>
            <a:r>
              <a:rPr dirty="0"/>
              <a:t> 이 </a:t>
            </a:r>
            <a:r>
              <a:rPr dirty="0" err="1"/>
              <a:t>문서가</a:t>
            </a:r>
            <a:r>
              <a:rPr dirty="0"/>
              <a:t> </a:t>
            </a:r>
            <a:r>
              <a:rPr dirty="0" err="1"/>
              <a:t>무엇인지부터</a:t>
            </a:r>
            <a:r>
              <a:rPr dirty="0"/>
              <a:t> </a:t>
            </a:r>
            <a:r>
              <a:rPr dirty="0" err="1"/>
              <a:t>짚는다</a:t>
            </a:r>
            <a:r>
              <a:rPr dirty="0"/>
              <a:t>. UN </a:t>
            </a:r>
            <a:r>
              <a:rPr dirty="0" err="1"/>
              <a:t>아동권리위원회가</a:t>
            </a:r>
            <a:r>
              <a:rPr dirty="0"/>
              <a:t> </a:t>
            </a:r>
            <a:r>
              <a:rPr dirty="0" err="1"/>
              <a:t>아동권리협약의</a:t>
            </a:r>
            <a:r>
              <a:rPr dirty="0"/>
              <a:t> </a:t>
            </a:r>
            <a:r>
              <a:rPr dirty="0" err="1"/>
              <a:t>소년사법</a:t>
            </a:r>
            <a:r>
              <a:rPr dirty="0"/>
              <a:t> </a:t>
            </a:r>
            <a:r>
              <a:rPr dirty="0" err="1"/>
              <a:t>원칙을</a:t>
            </a:r>
            <a:r>
              <a:rPr dirty="0"/>
              <a:t> </a:t>
            </a:r>
            <a:r>
              <a:rPr dirty="0" err="1"/>
              <a:t>구체화해</a:t>
            </a:r>
            <a:r>
              <a:rPr dirty="0"/>
              <a:t> 2019년에 낸 </a:t>
            </a:r>
            <a:r>
              <a:rPr dirty="0" err="1"/>
              <a:t>일반논평이고</a:t>
            </a:r>
            <a:r>
              <a:rPr dirty="0"/>
              <a:t>, 2007년의 </a:t>
            </a:r>
            <a:r>
              <a:rPr dirty="0" err="1"/>
              <a:t>일반논평</a:t>
            </a:r>
            <a:r>
              <a:rPr dirty="0"/>
              <a:t> 제10호를 </a:t>
            </a:r>
            <a:r>
              <a:rPr dirty="0" err="1"/>
              <a:t>대체했다</a:t>
            </a:r>
            <a:r>
              <a:rPr dirty="0"/>
              <a:t>. </a:t>
            </a:r>
            <a:r>
              <a:rPr dirty="0" err="1"/>
              <a:t>화면의</a:t>
            </a:r>
            <a:r>
              <a:rPr dirty="0"/>
              <a:t> 제22항·제25항은 </a:t>
            </a:r>
            <a:r>
              <a:rPr dirty="0" err="1"/>
              <a:t>협약의</a:t>
            </a:r>
            <a:r>
              <a:rPr dirty="0"/>
              <a:t> </a:t>
            </a:r>
            <a:r>
              <a:rPr dirty="0" err="1"/>
              <a:t>조문이</a:t>
            </a:r>
            <a:r>
              <a:rPr dirty="0"/>
              <a:t> </a:t>
            </a:r>
            <a:r>
              <a:rPr dirty="0" err="1"/>
              <a:t>아니라</a:t>
            </a:r>
            <a:r>
              <a:rPr dirty="0"/>
              <a:t> 이 </a:t>
            </a:r>
            <a:r>
              <a:rPr dirty="0" err="1"/>
              <a:t>문서</a:t>
            </a:r>
            <a:r>
              <a:rPr dirty="0"/>
              <a:t> </a:t>
            </a:r>
            <a:r>
              <a:rPr dirty="0" err="1"/>
              <a:t>본문의</a:t>
            </a:r>
            <a:r>
              <a:rPr dirty="0"/>
              <a:t> </a:t>
            </a:r>
            <a:r>
              <a:rPr dirty="0" err="1"/>
              <a:t>문단번호다</a:t>
            </a:r>
            <a:r>
              <a:rPr dirty="0"/>
              <a:t>. </a:t>
            </a:r>
            <a:r>
              <a:rPr dirty="0" err="1"/>
              <a:t>학생이</a:t>
            </a:r>
            <a:r>
              <a:rPr dirty="0"/>
              <a:t> </a:t>
            </a:r>
            <a:r>
              <a:rPr dirty="0" err="1"/>
              <a:t>여기서</a:t>
            </a:r>
            <a:r>
              <a:rPr dirty="0"/>
              <a:t> </a:t>
            </a:r>
            <a:r>
              <a:rPr dirty="0" err="1"/>
              <a:t>헷갈리지</a:t>
            </a:r>
            <a:r>
              <a:rPr dirty="0"/>
              <a:t> </a:t>
            </a:r>
            <a:r>
              <a:rPr dirty="0" err="1"/>
              <a:t>않도록</a:t>
            </a:r>
            <a:r>
              <a:rPr dirty="0"/>
              <a:t> </a:t>
            </a:r>
            <a:r>
              <a:rPr dirty="0" err="1"/>
              <a:t>반드시</a:t>
            </a:r>
            <a:r>
              <a:rPr dirty="0"/>
              <a:t> </a:t>
            </a:r>
            <a:r>
              <a:rPr dirty="0" err="1"/>
              <a:t>짚는다</a:t>
            </a:r>
            <a:r>
              <a:rPr dirty="0"/>
              <a:t>.</a:t>
            </a:r>
          </a:p>
          <a:p>
            <a:r>
              <a:rPr dirty="0"/>
              <a:t>제22항: </a:t>
            </a:r>
            <a:r>
              <a:rPr dirty="0" err="1"/>
              <a:t>아동</a:t>
            </a:r>
            <a:r>
              <a:rPr dirty="0"/>
              <a:t> </a:t>
            </a:r>
            <a:r>
              <a:rPr dirty="0" err="1"/>
              <a:t>발달과</a:t>
            </a:r>
            <a:r>
              <a:rPr dirty="0"/>
              <a:t> </a:t>
            </a:r>
            <a:r>
              <a:rPr dirty="0" err="1"/>
              <a:t>신경과학의</a:t>
            </a:r>
            <a:r>
              <a:rPr dirty="0"/>
              <a:t> </a:t>
            </a:r>
            <a:r>
              <a:rPr dirty="0" err="1"/>
              <a:t>축적된</a:t>
            </a:r>
            <a:r>
              <a:rPr dirty="0"/>
              <a:t> </a:t>
            </a:r>
            <a:r>
              <a:rPr dirty="0" err="1"/>
              <a:t>증거상</a:t>
            </a:r>
            <a:r>
              <a:rPr dirty="0"/>
              <a:t> 12~13세는 </a:t>
            </a:r>
            <a:r>
              <a:rPr dirty="0" err="1"/>
              <a:t>전두엽이</a:t>
            </a:r>
            <a:r>
              <a:rPr dirty="0"/>
              <a:t> </a:t>
            </a:r>
            <a:r>
              <a:rPr dirty="0" err="1"/>
              <a:t>계속</a:t>
            </a:r>
            <a:r>
              <a:rPr dirty="0"/>
              <a:t> </a:t>
            </a:r>
            <a:r>
              <a:rPr dirty="0" err="1"/>
              <a:t>발달</a:t>
            </a:r>
            <a:r>
              <a:rPr dirty="0"/>
              <a:t> </a:t>
            </a:r>
            <a:r>
              <a:rPr dirty="0" err="1"/>
              <a:t>중이어서</a:t>
            </a:r>
            <a:r>
              <a:rPr dirty="0"/>
              <a:t> </a:t>
            </a:r>
            <a:r>
              <a:rPr dirty="0" err="1"/>
              <a:t>성숙성과</a:t>
            </a:r>
            <a:r>
              <a:rPr dirty="0"/>
              <a:t> </a:t>
            </a:r>
            <a:r>
              <a:rPr dirty="0" err="1"/>
              <a:t>추상적</a:t>
            </a:r>
            <a:r>
              <a:rPr dirty="0"/>
              <a:t> </a:t>
            </a:r>
            <a:r>
              <a:rPr dirty="0" err="1"/>
              <a:t>사고가</a:t>
            </a:r>
            <a:r>
              <a:rPr dirty="0"/>
              <a:t> </a:t>
            </a:r>
            <a:r>
              <a:rPr dirty="0" err="1"/>
              <a:t>형성</a:t>
            </a:r>
            <a:r>
              <a:rPr dirty="0"/>
              <a:t> </a:t>
            </a:r>
            <a:r>
              <a:rPr dirty="0" err="1"/>
              <a:t>과정에</a:t>
            </a:r>
            <a:r>
              <a:rPr dirty="0"/>
              <a:t> </a:t>
            </a:r>
            <a:r>
              <a:rPr dirty="0" err="1"/>
              <a:t>있고</a:t>
            </a:r>
            <a:r>
              <a:rPr dirty="0"/>
              <a:t>, </a:t>
            </a:r>
            <a:r>
              <a:rPr dirty="0" err="1"/>
              <a:t>그래서</a:t>
            </a:r>
            <a:r>
              <a:rPr dirty="0"/>
              <a:t> </a:t>
            </a:r>
            <a:r>
              <a:rPr dirty="0" err="1"/>
              <a:t>행동의</a:t>
            </a:r>
            <a:r>
              <a:rPr dirty="0"/>
              <a:t> </a:t>
            </a:r>
            <a:r>
              <a:rPr dirty="0" err="1"/>
              <a:t>영향이나</a:t>
            </a:r>
            <a:r>
              <a:rPr dirty="0"/>
              <a:t> </a:t>
            </a:r>
            <a:r>
              <a:rPr dirty="0" err="1"/>
              <a:t>형사절차를</a:t>
            </a:r>
            <a:r>
              <a:rPr dirty="0"/>
              <a:t> </a:t>
            </a:r>
            <a:r>
              <a:rPr dirty="0" err="1"/>
              <a:t>이해하기</a:t>
            </a:r>
            <a:r>
              <a:rPr dirty="0"/>
              <a:t> </a:t>
            </a:r>
            <a:r>
              <a:rPr dirty="0" err="1"/>
              <a:t>어려울</a:t>
            </a:r>
            <a:r>
              <a:rPr dirty="0"/>
              <a:t> 수 </a:t>
            </a:r>
            <a:r>
              <a:rPr dirty="0" err="1"/>
              <a:t>있다고</a:t>
            </a:r>
            <a:r>
              <a:rPr dirty="0"/>
              <a:t> </a:t>
            </a:r>
            <a:r>
              <a:rPr dirty="0" err="1"/>
              <a:t>본다</a:t>
            </a:r>
            <a:r>
              <a:rPr dirty="0"/>
              <a:t>. 그 </a:t>
            </a:r>
            <a:r>
              <a:rPr dirty="0" err="1"/>
              <a:t>근거에서</a:t>
            </a:r>
            <a:r>
              <a:rPr dirty="0"/>
              <a:t> </a:t>
            </a:r>
            <a:r>
              <a:rPr dirty="0" err="1"/>
              <a:t>최저연령을</a:t>
            </a:r>
            <a:r>
              <a:rPr dirty="0"/>
              <a:t> </a:t>
            </a:r>
            <a:r>
              <a:rPr dirty="0" err="1"/>
              <a:t>적어도</a:t>
            </a:r>
            <a:r>
              <a:rPr dirty="0"/>
              <a:t> 14세로 </a:t>
            </a:r>
            <a:r>
              <a:rPr dirty="0" err="1"/>
              <a:t>높이도록</a:t>
            </a:r>
            <a:r>
              <a:rPr dirty="0"/>
              <a:t> </a:t>
            </a:r>
            <a:r>
              <a:rPr dirty="0" err="1"/>
              <a:t>권한다</a:t>
            </a:r>
            <a:r>
              <a:rPr dirty="0"/>
              <a:t>. 15·16세처럼 더 </a:t>
            </a:r>
            <a:r>
              <a:rPr dirty="0" err="1"/>
              <a:t>높은</a:t>
            </a:r>
            <a:r>
              <a:rPr dirty="0"/>
              <a:t> </a:t>
            </a:r>
            <a:r>
              <a:rPr dirty="0" err="1"/>
              <a:t>기준을</a:t>
            </a:r>
            <a:r>
              <a:rPr dirty="0"/>
              <a:t> 둔 </a:t>
            </a:r>
            <a:r>
              <a:rPr dirty="0" err="1"/>
              <a:t>국가는</a:t>
            </a:r>
            <a:r>
              <a:rPr dirty="0"/>
              <a:t> </a:t>
            </a:r>
            <a:r>
              <a:rPr dirty="0" err="1"/>
              <a:t>칭찬하면서</a:t>
            </a:r>
            <a:r>
              <a:rPr dirty="0"/>
              <a:t>, </a:t>
            </a:r>
            <a:r>
              <a:rPr dirty="0" err="1"/>
              <a:t>협약</a:t>
            </a:r>
            <a:r>
              <a:rPr dirty="0"/>
              <a:t> 제41조를 </a:t>
            </a:r>
            <a:r>
              <a:rPr dirty="0" err="1"/>
              <a:t>근거로</a:t>
            </a:r>
            <a:r>
              <a:rPr dirty="0"/>
              <a:t> </a:t>
            </a:r>
            <a:r>
              <a:rPr dirty="0" err="1"/>
              <a:t>어떤</a:t>
            </a:r>
            <a:r>
              <a:rPr dirty="0"/>
              <a:t> </a:t>
            </a:r>
            <a:r>
              <a:rPr dirty="0" err="1"/>
              <a:t>경우에도</a:t>
            </a:r>
            <a:r>
              <a:rPr dirty="0"/>
              <a:t> </a:t>
            </a:r>
            <a:r>
              <a:rPr dirty="0" err="1"/>
              <a:t>낮추지</a:t>
            </a:r>
            <a:r>
              <a:rPr dirty="0"/>
              <a:t> </a:t>
            </a:r>
            <a:r>
              <a:rPr dirty="0" err="1"/>
              <a:t>말라고</a:t>
            </a:r>
            <a:r>
              <a:rPr dirty="0"/>
              <a:t> </a:t>
            </a:r>
            <a:r>
              <a:rPr dirty="0" err="1"/>
              <a:t>촉구한다</a:t>
            </a:r>
            <a:r>
              <a:rPr dirty="0"/>
              <a:t>.</a:t>
            </a:r>
          </a:p>
          <a:p>
            <a:r>
              <a:rPr dirty="0"/>
              <a:t>제25항: </a:t>
            </a:r>
            <a:r>
              <a:rPr dirty="0" err="1"/>
              <a:t>중대범죄를</a:t>
            </a:r>
            <a:r>
              <a:rPr dirty="0"/>
              <a:t> </a:t>
            </a:r>
            <a:r>
              <a:rPr dirty="0" err="1"/>
              <a:t>이유로</a:t>
            </a:r>
            <a:r>
              <a:rPr dirty="0"/>
              <a:t> 더 </a:t>
            </a:r>
            <a:r>
              <a:rPr dirty="0" err="1"/>
              <a:t>낮은</a:t>
            </a:r>
            <a:r>
              <a:rPr dirty="0"/>
              <a:t> </a:t>
            </a:r>
            <a:r>
              <a:rPr dirty="0" err="1"/>
              <a:t>연령을</a:t>
            </a:r>
            <a:r>
              <a:rPr dirty="0"/>
              <a:t> </a:t>
            </a:r>
            <a:r>
              <a:rPr dirty="0" err="1"/>
              <a:t>적용하는</a:t>
            </a:r>
            <a:r>
              <a:rPr dirty="0"/>
              <a:t> </a:t>
            </a:r>
            <a:r>
              <a:rPr dirty="0" err="1"/>
              <a:t>관행을</a:t>
            </a:r>
            <a:r>
              <a:rPr dirty="0"/>
              <a:t> </a:t>
            </a:r>
            <a:r>
              <a:rPr dirty="0" err="1"/>
              <a:t>문제</a:t>
            </a:r>
            <a:r>
              <a:rPr dirty="0"/>
              <a:t> </a:t>
            </a:r>
            <a:r>
              <a:rPr dirty="0" err="1"/>
              <a:t>삼는다</a:t>
            </a:r>
            <a:r>
              <a:rPr dirty="0"/>
              <a:t>. </a:t>
            </a:r>
            <a:r>
              <a:rPr dirty="0" err="1"/>
              <a:t>이런</a:t>
            </a:r>
            <a:r>
              <a:rPr dirty="0"/>
              <a:t> </a:t>
            </a:r>
            <a:r>
              <a:rPr dirty="0" err="1"/>
              <a:t>예외가</a:t>
            </a:r>
            <a:r>
              <a:rPr dirty="0"/>
              <a:t> </a:t>
            </a:r>
            <a:r>
              <a:rPr dirty="0" err="1"/>
              <a:t>주로</a:t>
            </a:r>
            <a:r>
              <a:rPr dirty="0"/>
              <a:t> </a:t>
            </a:r>
            <a:r>
              <a:rPr dirty="0" err="1"/>
              <a:t>여론의</a:t>
            </a:r>
            <a:r>
              <a:rPr dirty="0"/>
              <a:t> </a:t>
            </a:r>
            <a:r>
              <a:rPr dirty="0" err="1"/>
              <a:t>압력에</a:t>
            </a:r>
            <a:r>
              <a:rPr dirty="0"/>
              <a:t> </a:t>
            </a:r>
            <a:r>
              <a:rPr dirty="0" err="1"/>
              <a:t>대응해</a:t>
            </a:r>
            <a:r>
              <a:rPr dirty="0"/>
              <a:t> </a:t>
            </a:r>
            <a:r>
              <a:rPr dirty="0" err="1"/>
              <a:t>만들어지고</a:t>
            </a:r>
            <a:r>
              <a:rPr dirty="0"/>
              <a:t> </a:t>
            </a:r>
            <a:r>
              <a:rPr dirty="0" err="1"/>
              <a:t>아동</a:t>
            </a:r>
            <a:r>
              <a:rPr dirty="0"/>
              <a:t> </a:t>
            </a:r>
            <a:r>
              <a:rPr dirty="0" err="1"/>
              <a:t>발달에</a:t>
            </a:r>
            <a:r>
              <a:rPr dirty="0"/>
              <a:t> </a:t>
            </a:r>
            <a:r>
              <a:rPr dirty="0" err="1"/>
              <a:t>대한</a:t>
            </a:r>
            <a:r>
              <a:rPr dirty="0"/>
              <a:t> </a:t>
            </a:r>
            <a:r>
              <a:rPr dirty="0" err="1"/>
              <a:t>합리적</a:t>
            </a:r>
            <a:r>
              <a:rPr dirty="0"/>
              <a:t> </a:t>
            </a:r>
            <a:r>
              <a:rPr dirty="0" err="1"/>
              <a:t>이해에</a:t>
            </a:r>
            <a:r>
              <a:rPr dirty="0"/>
              <a:t> </a:t>
            </a:r>
            <a:r>
              <a:rPr dirty="0" err="1"/>
              <a:t>기초하지</a:t>
            </a:r>
            <a:r>
              <a:rPr dirty="0"/>
              <a:t> </a:t>
            </a:r>
            <a:r>
              <a:rPr dirty="0" err="1"/>
              <a:t>않는다고</a:t>
            </a:r>
            <a:r>
              <a:rPr dirty="0"/>
              <a:t> </a:t>
            </a:r>
            <a:r>
              <a:rPr dirty="0" err="1"/>
              <a:t>보아</a:t>
            </a:r>
            <a:r>
              <a:rPr dirty="0"/>
              <a:t>, </a:t>
            </a:r>
            <a:r>
              <a:rPr dirty="0" err="1"/>
              <a:t>예외</a:t>
            </a:r>
            <a:r>
              <a:rPr dirty="0"/>
              <a:t> </a:t>
            </a:r>
            <a:r>
              <a:rPr dirty="0" err="1"/>
              <a:t>없이</a:t>
            </a:r>
            <a:r>
              <a:rPr dirty="0"/>
              <a:t> </a:t>
            </a:r>
            <a:r>
              <a:rPr dirty="0" err="1"/>
              <a:t>하나의</a:t>
            </a:r>
            <a:r>
              <a:rPr dirty="0"/>
              <a:t> </a:t>
            </a:r>
            <a:r>
              <a:rPr dirty="0" err="1"/>
              <a:t>표준</a:t>
            </a:r>
            <a:r>
              <a:rPr dirty="0"/>
              <a:t> </a:t>
            </a:r>
            <a:r>
              <a:rPr dirty="0" err="1"/>
              <a:t>연령을</a:t>
            </a:r>
            <a:r>
              <a:rPr dirty="0"/>
              <a:t> </a:t>
            </a:r>
            <a:r>
              <a:rPr dirty="0" err="1"/>
              <a:t>두라고</a:t>
            </a:r>
            <a:r>
              <a:rPr dirty="0"/>
              <a:t> </a:t>
            </a:r>
            <a:r>
              <a:rPr dirty="0" err="1"/>
              <a:t>강하게</a:t>
            </a:r>
            <a:r>
              <a:rPr dirty="0"/>
              <a:t> </a:t>
            </a:r>
            <a:r>
              <a:rPr dirty="0" err="1"/>
              <a:t>권고한다</a:t>
            </a:r>
            <a:r>
              <a:rPr dirty="0"/>
              <a:t>. 22항의 </a:t>
            </a:r>
            <a:r>
              <a:rPr dirty="0" err="1"/>
              <a:t>발달</a:t>
            </a:r>
            <a:r>
              <a:rPr dirty="0"/>
              <a:t> </a:t>
            </a:r>
            <a:r>
              <a:rPr dirty="0" err="1"/>
              <a:t>근거와</a:t>
            </a:r>
            <a:r>
              <a:rPr dirty="0"/>
              <a:t> </a:t>
            </a:r>
            <a:r>
              <a:rPr dirty="0" err="1"/>
              <a:t>논리가</a:t>
            </a:r>
            <a:r>
              <a:rPr dirty="0"/>
              <a:t> </a:t>
            </a:r>
            <a:r>
              <a:rPr dirty="0" err="1"/>
              <a:t>이어지는</a:t>
            </a:r>
            <a:r>
              <a:rPr dirty="0"/>
              <a:t> </a:t>
            </a:r>
            <a:r>
              <a:rPr dirty="0" err="1"/>
              <a:t>대목이다</a:t>
            </a:r>
            <a:r>
              <a:rPr dirty="0"/>
              <a:t>.</a:t>
            </a:r>
          </a:p>
          <a:p>
            <a:r>
              <a:rPr dirty="0" err="1"/>
              <a:t>마무리</a:t>
            </a:r>
            <a:r>
              <a:rPr dirty="0"/>
              <a:t> </a:t>
            </a:r>
            <a:r>
              <a:rPr dirty="0" err="1"/>
              <a:t>문장은</a:t>
            </a:r>
            <a:r>
              <a:rPr dirty="0"/>
              <a:t> </a:t>
            </a:r>
            <a:r>
              <a:rPr dirty="0" err="1"/>
              <a:t>한국의</a:t>
            </a:r>
            <a:r>
              <a:rPr dirty="0"/>
              <a:t> 두 </a:t>
            </a:r>
            <a:r>
              <a:rPr dirty="0" err="1"/>
              <a:t>안이</a:t>
            </a:r>
            <a:r>
              <a:rPr dirty="0"/>
              <a:t> </a:t>
            </a:r>
            <a:r>
              <a:rPr dirty="0" err="1"/>
              <a:t>각각</a:t>
            </a:r>
            <a:r>
              <a:rPr dirty="0"/>
              <a:t> </a:t>
            </a:r>
            <a:r>
              <a:rPr dirty="0" err="1"/>
              <a:t>어느</a:t>
            </a:r>
            <a:r>
              <a:rPr dirty="0"/>
              <a:t> </a:t>
            </a:r>
            <a:r>
              <a:rPr dirty="0" err="1"/>
              <a:t>권고와</a:t>
            </a:r>
            <a:r>
              <a:rPr dirty="0"/>
              <a:t> </a:t>
            </a:r>
            <a:r>
              <a:rPr dirty="0" err="1"/>
              <a:t>맞물리는지를</a:t>
            </a:r>
            <a:r>
              <a:rPr dirty="0"/>
              <a:t> </a:t>
            </a:r>
            <a:r>
              <a:rPr dirty="0" err="1"/>
              <a:t>대조한</a:t>
            </a:r>
            <a:r>
              <a:rPr dirty="0"/>
              <a:t> </a:t>
            </a:r>
            <a:r>
              <a:rPr dirty="0" err="1"/>
              <a:t>것이지</a:t>
            </a:r>
            <a:r>
              <a:rPr dirty="0"/>
              <a:t>, </a:t>
            </a:r>
            <a:r>
              <a:rPr dirty="0" err="1"/>
              <a:t>어느</a:t>
            </a:r>
            <a:r>
              <a:rPr dirty="0"/>
              <a:t> </a:t>
            </a:r>
            <a:r>
              <a:rPr dirty="0" err="1"/>
              <a:t>쪽이</a:t>
            </a:r>
            <a:r>
              <a:rPr dirty="0"/>
              <a:t> </a:t>
            </a:r>
            <a:r>
              <a:rPr dirty="0" err="1"/>
              <a:t>옳다는</a:t>
            </a:r>
            <a:r>
              <a:rPr dirty="0"/>
              <a:t> </a:t>
            </a:r>
            <a:r>
              <a:rPr dirty="0" err="1"/>
              <a:t>평가가</a:t>
            </a:r>
            <a:r>
              <a:rPr dirty="0"/>
              <a:t> </a:t>
            </a:r>
            <a:r>
              <a:rPr dirty="0" err="1"/>
              <a:t>아니다</a:t>
            </a:r>
            <a:r>
              <a:rPr dirty="0"/>
              <a:t>. </a:t>
            </a:r>
            <a:r>
              <a:rPr dirty="0" err="1"/>
              <a:t>일괄</a:t>
            </a:r>
            <a:r>
              <a:rPr dirty="0"/>
              <a:t> </a:t>
            </a:r>
            <a:r>
              <a:rPr dirty="0" err="1"/>
              <a:t>하향은</a:t>
            </a:r>
            <a:r>
              <a:rPr dirty="0"/>
              <a:t> 제22항의 </a:t>
            </a:r>
            <a:r>
              <a:rPr dirty="0" err="1"/>
              <a:t>권고와</a:t>
            </a:r>
            <a:r>
              <a:rPr dirty="0"/>
              <a:t> </a:t>
            </a:r>
            <a:r>
              <a:rPr dirty="0" err="1"/>
              <a:t>일치하지</a:t>
            </a:r>
            <a:r>
              <a:rPr dirty="0"/>
              <a:t> </a:t>
            </a:r>
            <a:r>
              <a:rPr dirty="0" err="1"/>
              <a:t>않고</a:t>
            </a:r>
            <a:r>
              <a:rPr dirty="0"/>
              <a:t>, </a:t>
            </a:r>
            <a:r>
              <a:rPr dirty="0" err="1"/>
              <a:t>조건부</a:t>
            </a:r>
            <a:r>
              <a:rPr dirty="0"/>
              <a:t> </a:t>
            </a:r>
            <a:r>
              <a:rPr dirty="0" err="1"/>
              <a:t>예외는</a:t>
            </a:r>
            <a:r>
              <a:rPr dirty="0"/>
              <a:t> 제25항이 </a:t>
            </a:r>
            <a:r>
              <a:rPr dirty="0" err="1"/>
              <a:t>폐지를</a:t>
            </a:r>
            <a:r>
              <a:rPr dirty="0"/>
              <a:t> </a:t>
            </a:r>
            <a:r>
              <a:rPr dirty="0" err="1"/>
              <a:t>권고하는</a:t>
            </a:r>
            <a:r>
              <a:rPr dirty="0"/>
              <a:t> </a:t>
            </a:r>
            <a:r>
              <a:rPr dirty="0" err="1"/>
              <a:t>구조에</a:t>
            </a:r>
            <a:r>
              <a:rPr dirty="0"/>
              <a:t> </a:t>
            </a:r>
            <a:r>
              <a:rPr dirty="0" err="1"/>
              <a:t>해당한다는</a:t>
            </a:r>
            <a:r>
              <a:rPr dirty="0"/>
              <a:t> </a:t>
            </a:r>
            <a:r>
              <a:rPr dirty="0" err="1"/>
              <a:t>대응</a:t>
            </a:r>
            <a:r>
              <a:rPr dirty="0"/>
              <a:t> </a:t>
            </a:r>
            <a:r>
              <a:rPr dirty="0" err="1"/>
              <a:t>관계만</a:t>
            </a:r>
            <a:r>
              <a:rPr dirty="0"/>
              <a:t> </a:t>
            </a:r>
            <a:r>
              <a:rPr dirty="0" err="1"/>
              <a:t>짚는다</a:t>
            </a:r>
            <a:r>
              <a:rPr dirty="0"/>
              <a:t>.</a:t>
            </a:r>
          </a:p>
          <a:p>
            <a:endParaRPr dirty="0"/>
          </a:p>
          <a:p>
            <a:r>
              <a:rPr dirty="0"/>
              <a:t>※ </a:t>
            </a:r>
            <a:r>
              <a:rPr dirty="0" err="1"/>
              <a:t>일반논평은</a:t>
            </a:r>
            <a:r>
              <a:rPr dirty="0"/>
              <a:t> </a:t>
            </a:r>
            <a:r>
              <a:rPr dirty="0" err="1"/>
              <a:t>협약</a:t>
            </a:r>
            <a:r>
              <a:rPr dirty="0"/>
              <a:t> </a:t>
            </a:r>
            <a:r>
              <a:rPr dirty="0" err="1"/>
              <a:t>해석을</a:t>
            </a:r>
            <a:r>
              <a:rPr dirty="0"/>
              <a:t> </a:t>
            </a:r>
            <a:r>
              <a:rPr dirty="0" err="1"/>
              <a:t>제시하는</a:t>
            </a:r>
            <a:r>
              <a:rPr dirty="0"/>
              <a:t> </a:t>
            </a:r>
            <a:r>
              <a:rPr dirty="0" err="1"/>
              <a:t>문서이고</a:t>
            </a:r>
            <a:r>
              <a:rPr dirty="0"/>
              <a:t> </a:t>
            </a:r>
            <a:r>
              <a:rPr dirty="0" err="1"/>
              <a:t>국내법과</a:t>
            </a:r>
            <a:r>
              <a:rPr dirty="0"/>
              <a:t> </a:t>
            </a:r>
            <a:r>
              <a:rPr dirty="0" err="1"/>
              <a:t>같은</a:t>
            </a:r>
            <a:r>
              <a:rPr dirty="0"/>
              <a:t> </a:t>
            </a:r>
            <a:r>
              <a:rPr dirty="0" err="1"/>
              <a:t>구속력을</a:t>
            </a:r>
            <a:r>
              <a:rPr dirty="0"/>
              <a:t> </a:t>
            </a:r>
            <a:r>
              <a:rPr dirty="0" err="1"/>
              <a:t>가지지</a:t>
            </a:r>
            <a:r>
              <a:rPr dirty="0"/>
              <a:t> </a:t>
            </a:r>
            <a:r>
              <a:rPr dirty="0" err="1"/>
              <a:t>않는다</a:t>
            </a:r>
            <a:r>
              <a:rPr dirty="0"/>
              <a:t>. </a:t>
            </a:r>
            <a:r>
              <a:rPr dirty="0" err="1"/>
              <a:t>권고의</a:t>
            </a:r>
            <a:r>
              <a:rPr dirty="0"/>
              <a:t> </a:t>
            </a:r>
            <a:r>
              <a:rPr dirty="0" err="1"/>
              <a:t>존재만으로</a:t>
            </a:r>
            <a:r>
              <a:rPr dirty="0"/>
              <a:t> </a:t>
            </a:r>
            <a:r>
              <a:rPr dirty="0" err="1"/>
              <a:t>범죄</a:t>
            </a:r>
            <a:r>
              <a:rPr dirty="0"/>
              <a:t> </a:t>
            </a:r>
            <a:r>
              <a:rPr dirty="0" err="1"/>
              <a:t>감소</a:t>
            </a:r>
            <a:r>
              <a:rPr dirty="0"/>
              <a:t> </a:t>
            </a:r>
            <a:r>
              <a:rPr dirty="0" err="1"/>
              <a:t>효과가</a:t>
            </a:r>
            <a:r>
              <a:rPr dirty="0"/>
              <a:t> </a:t>
            </a:r>
            <a:r>
              <a:rPr dirty="0" err="1"/>
              <a:t>검증되는</a:t>
            </a:r>
            <a:r>
              <a:rPr dirty="0"/>
              <a:t> </a:t>
            </a:r>
            <a:r>
              <a:rPr dirty="0" err="1"/>
              <a:t>것도</a:t>
            </a:r>
            <a:r>
              <a:rPr dirty="0"/>
              <a:t> </a:t>
            </a:r>
            <a:r>
              <a:rPr dirty="0" err="1"/>
              <a:t>아니다</a:t>
            </a:r>
            <a:r>
              <a:rPr dirty="0"/>
              <a:t>. </a:t>
            </a:r>
            <a:r>
              <a:rPr dirty="0" err="1"/>
              <a:t>효과는</a:t>
            </a:r>
            <a:r>
              <a:rPr dirty="0"/>
              <a:t> </a:t>
            </a:r>
            <a:r>
              <a:rPr dirty="0" err="1"/>
              <a:t>뒤의</a:t>
            </a:r>
            <a:r>
              <a:rPr dirty="0"/>
              <a:t> </a:t>
            </a:r>
            <a:r>
              <a:rPr dirty="0" err="1"/>
              <a:t>덴마크</a:t>
            </a:r>
            <a:r>
              <a:rPr dirty="0"/>
              <a:t> </a:t>
            </a:r>
            <a:r>
              <a:rPr dirty="0" err="1"/>
              <a:t>연구에서</a:t>
            </a:r>
            <a:r>
              <a:rPr dirty="0"/>
              <a:t> </a:t>
            </a:r>
            <a:r>
              <a:rPr dirty="0" err="1"/>
              <a:t>따로</a:t>
            </a:r>
            <a:r>
              <a:rPr dirty="0"/>
              <a:t> </a:t>
            </a:r>
            <a:r>
              <a:rPr dirty="0" err="1"/>
              <a:t>본다</a:t>
            </a:r>
            <a:r>
              <a:rPr dirty="0"/>
              <a:t>.</a:t>
            </a:r>
          </a:p>
          <a:p>
            <a:r>
              <a:rPr dirty="0"/>
              <a:t>※ 제21항은 </a:t>
            </a:r>
            <a:r>
              <a:rPr dirty="0" err="1"/>
              <a:t>협약</a:t>
            </a:r>
            <a:r>
              <a:rPr dirty="0"/>
              <a:t> </a:t>
            </a:r>
            <a:r>
              <a:rPr dirty="0" err="1"/>
              <a:t>비준</a:t>
            </a:r>
            <a:r>
              <a:rPr dirty="0"/>
              <a:t> 후 50개국 </a:t>
            </a:r>
            <a:r>
              <a:rPr dirty="0" err="1"/>
              <a:t>넘게</a:t>
            </a:r>
            <a:r>
              <a:rPr dirty="0"/>
              <a:t> </a:t>
            </a:r>
            <a:r>
              <a:rPr dirty="0" err="1"/>
              <a:t>최저연령을</a:t>
            </a:r>
            <a:r>
              <a:rPr dirty="0"/>
              <a:t> </a:t>
            </a:r>
            <a:r>
              <a:rPr dirty="0" err="1"/>
              <a:t>올렸고</a:t>
            </a:r>
            <a:r>
              <a:rPr dirty="0"/>
              <a:t> </a:t>
            </a:r>
            <a:r>
              <a:rPr dirty="0" err="1"/>
              <a:t>국제적으로</a:t>
            </a:r>
            <a:r>
              <a:rPr dirty="0"/>
              <a:t> </a:t>
            </a:r>
            <a:r>
              <a:rPr dirty="0" err="1"/>
              <a:t>가장</a:t>
            </a:r>
            <a:r>
              <a:rPr dirty="0"/>
              <a:t> </a:t>
            </a:r>
            <a:r>
              <a:rPr dirty="0" err="1"/>
              <a:t>흔한</a:t>
            </a:r>
            <a:r>
              <a:rPr dirty="0"/>
              <a:t> </a:t>
            </a:r>
            <a:r>
              <a:rPr dirty="0" err="1"/>
              <a:t>최저연령이</a:t>
            </a:r>
            <a:r>
              <a:rPr dirty="0"/>
              <a:t> 14세라고 </a:t>
            </a:r>
            <a:r>
              <a:rPr dirty="0" err="1"/>
              <a:t>적는다</a:t>
            </a:r>
            <a:r>
              <a:rPr dirty="0"/>
              <a:t>. </a:t>
            </a:r>
            <a:r>
              <a:rPr dirty="0" err="1"/>
              <a:t>질문이</a:t>
            </a:r>
            <a:r>
              <a:rPr dirty="0"/>
              <a:t> </a:t>
            </a:r>
            <a:r>
              <a:rPr dirty="0" err="1"/>
              <a:t>나오면</a:t>
            </a:r>
            <a:r>
              <a:rPr dirty="0"/>
              <a:t> 이 </a:t>
            </a:r>
            <a:r>
              <a:rPr dirty="0" err="1"/>
              <a:t>수치를</a:t>
            </a:r>
            <a:r>
              <a:rPr dirty="0"/>
              <a:t> </a:t>
            </a:r>
            <a:r>
              <a:rPr dirty="0" err="1"/>
              <a:t>쓴다</a:t>
            </a:r>
            <a:r>
              <a:rPr dirty="0"/>
              <a:t>.</a:t>
            </a:r>
          </a:p>
          <a:p>
            <a:endParaRPr dirty="0"/>
          </a:p>
          <a:p>
            <a:r>
              <a:rPr dirty="0"/>
              <a:t>→ </a:t>
            </a:r>
            <a:r>
              <a:rPr dirty="0" err="1"/>
              <a:t>다음</a:t>
            </a:r>
            <a:r>
              <a:rPr dirty="0"/>
              <a:t>: </a:t>
            </a:r>
            <a:r>
              <a:rPr dirty="0" err="1"/>
              <a:t>일반논평</a:t>
            </a:r>
            <a:r>
              <a:rPr dirty="0"/>
              <a:t> 제24호 Ⅱ</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[v51 기준 승인 변경] UN 일반논평 제24호 Ⅱ — 소년사법과 제재의 원칙</a:t>
            </a:r>
          </a:p>
          <a:p>
            <a:r>
              <a:t>[화면과 설명]</a:t>
            </a:r>
          </a:p>
          <a:p>
            <a:r>
              <a:t>제26~27항 두 최저연령</a:t>
            </a:r>
          </a:p>
          <a:p>
            <a:r>
              <a:t>두 연령 사이에서 성숙성을 따져 책임을 인정하는 방식은 법원의 재량을 크게 하고 차별적 적용으로 이어질 수 있다</a:t>
            </a:r>
          </a:p>
          <a:p>
            <a:r>
              <a:t>예를 들어 7세와 14세를 함께 두고, 7~13세는 원칙적으로 책임이 없지만 충분히 성숙했다고 판단되면 형사책임을 인정하는 방식이다.</a:t>
            </a:r>
          </a:p>
          <a:p>
            <a:r>
              <a:t>하나의 적절한 최저연령을 두되, 통일하는 과정에서 기존 최저연령이 낮아져서는 안 된다고 권고한다.</a:t>
            </a:r>
          </a:p>
          <a:p>
            <a:r>
              <a:t>제29~30항 18세 미만</a:t>
            </a:r>
          </a:p>
          <a:p>
            <a:r>
              <a:t>형사책임 최저연령 이상이더라도 범행 당시 18세 미만이면 소년사법을 적용해야 한다</a:t>
            </a:r>
          </a:p>
          <a:p>
            <a:r>
              <a:t>소년사법 적용을 16세 미만 등으로 제한하거나, 중범죄를 이유로 일부 18세 미만을 성인범죄자처럼 처리하는 예외를 없애라고 권고한다.</a:t>
            </a:r>
          </a:p>
          <a:p>
            <a:r>
              <a:t>제76항 비례와 사회복귀</a:t>
            </a:r>
          </a:p>
          <a:p>
            <a:r>
              <a:t>범죄의 중대성과 소년의 연령·책임·개인적 사정을 함께 고려한 대응을 요구한다.</a:t>
            </a:r>
          </a:p>
          <a:p>
            <a:r>
              <a:t>중대한 범죄에는 공공안전과 제재의 필요성을 고려하되, 아동의 최선의 이익과 사회복귀에 비중을 두도록 권고한다.</a:t>
            </a:r>
          </a:p>
          <a:p>
            <a:r>
              <a:t>형사책임을 시작하는 연령, 그 연령을 넘은 18세 미만에게 적용할 사법체계, 책임을 인정한 뒤 적용할 제재의 원칙은 서로 다른 제도 선택이다.</a:t>
            </a:r>
          </a:p>
          <a:p>
            <a:r>
              <a:t>[자료] UN 아동권리위원회, 일반논평 제24호(2019), CRC/C/GC/24, 제26~27항·제29~30항·제76항 · 한국어 설명</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15→14→15의 연표를 날짜와 함께 표시한다. 아래에는 표본·측정 단위·비교 시기를 적는다.</a:t>
            </a:r>
          </a:p>
          <a:p>
            <a:r>
              <a:rPr lang="ko-KR" sz="1100" dirty="0"/>
              <a:t>[제작 메모] 기존 대본 P33 첫 문단과 측정 범위 설명을 사용한다.</a:t>
            </a:r>
          </a:p>
          <a:p>
            <a:r>
              <a:rPr lang="ko-KR" sz="1100" dirty="0"/>
              <a:t>[제작 메모] [화면에서 내림] 실제 모든 행위를 빠짐없이 관찰한 것은 아니다.</a:t>
            </a:r>
          </a:p>
          <a:p>
            <a:r>
              <a:rPr lang="ko-KR" sz="1100" dirty="0"/>
              <a:t>[자료] Damm et al.(2025), Journal of Quantitative Criminology 41, 495–521</a:t>
            </a:r>
          </a:p>
          <a:p>
            <a:r>
              <a:rPr lang="ko-KR" sz="1100" dirty="0"/>
              <a:t>원출처 1 · link.springer.com</a:t>
            </a:r>
          </a:p>
          <a:p>
            <a:r>
              <a:rPr lang="ko-KR" sz="1100" dirty="0"/>
              <a:t>[대본] v27 대본 재작성 대상 — 화면 문구는 이 장에 수록되어 있다.</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결과 두 단위와 한국 적용 범위를 구분한다. 확정되지 않은 효과 크기를 새 그래프로 만들지 않는다.</a:t>
            </a:r>
          </a:p>
          <a:p>
            <a:r>
              <a:rPr lang="ko-KR" sz="1100" dirty="0"/>
              <a:t>[제작 메모] 기존 대본 P33의 결과와 국내 적용 설명을 사용한다.</a:t>
            </a:r>
          </a:p>
          <a:p>
            <a:r>
              <a:rPr lang="ko-KR" sz="1100" dirty="0"/>
              <a:t>[자료] Damm et al.(2025), Journal of Quantitative Criminology 41, 495–521</a:t>
            </a:r>
          </a:p>
          <a:p>
            <a:r>
              <a:rPr lang="ko-KR" sz="1100" dirty="0"/>
              <a:t>원출처 1 · link.springer.com</a:t>
            </a:r>
          </a:p>
          <a:p>
            <a:r>
              <a:rPr lang="ko-KR" sz="1100" dirty="0"/>
              <a:t>[대본] v27 대본 재작성 대상 — 화면 문구는 이 장에 수록되어 있다.</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연구종합의 성격을 상단에 명시하고 보상·또래 반응과 행동통제를 두 단위로 비교한다. 평균 경향과 개인 판단의 구분을 본문에 둔다.</a:t>
            </a:r>
          </a:p>
          <a:p>
            <a:r>
              <a:rPr lang="ko-KR" sz="1100" dirty="0"/>
              <a:t>[제작 메모] 기존 검토반영 대본 P38의 설명을 사용한다. 핵심 설명과 한정은 이 장의 화면 문구에도 포함했다.</a:t>
            </a:r>
          </a:p>
          <a:p>
            <a:r>
              <a:rPr lang="ko-KR" sz="1100" dirty="0"/>
              <a:t>[자료] Steinberg(2008), Developmental Review 28, 78–106 · 이론적 검토</a:t>
            </a:r>
          </a:p>
          <a:p>
            <a:r>
              <a:rPr lang="ko-KR" sz="1100" dirty="0"/>
              <a:t>원출처 1 · pmc.ncbi.nlm.nih.gov</a:t>
            </a:r>
          </a:p>
          <a:p>
            <a:r>
              <a:rPr lang="ko-KR" sz="1100" dirty="0"/>
              <a:t>[대본] v27 대본 재작성 대상 — 화면 문구는 이 장에 수록되어 있다.</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연령별 4개 막대를 같은 축으로 그린다. 그래프 제목에 연구척도상의 비율임을 적고, 법원 판정률이라는 제목을 쓰지 않는다.</a:t>
            </a:r>
          </a:p>
          <a:p>
            <a:r>
              <a:rPr lang="ko-KR" sz="1100" dirty="0"/>
              <a:t>[제작 메모] 기존 대본 P40의 조사대상·도구·수치·해석 범위를 사용한다.</a:t>
            </a:r>
          </a:p>
          <a:p>
            <a:r>
              <a:rPr lang="ko-KR" sz="1100" dirty="0"/>
              <a:t>[자료] Grisso et al.(2003), Law and Human Behavior 27, 333–363 · 청소년 927명·청년 성인 466명</a:t>
            </a:r>
          </a:p>
          <a:p>
            <a:r>
              <a:rPr lang="ko-KR" sz="1100" dirty="0"/>
              <a:t>원출처 1 · pubmed.ncbi.nlm.nih.gov</a:t>
            </a:r>
          </a:p>
          <a:p>
            <a:r>
              <a:rPr lang="ko-KR" sz="1100" dirty="0"/>
              <a:t>[대본] v27 대본 재작성 대상 — 화면 문구는 이 장에 수록되어 있다.</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Lipsey(2009) 메타분석 · 보정 재범률 · 변화지향 / 위험 / 실행</a:t>
            </a:r>
          </a:p>
          <a:p>
            <a:endParaRPr/>
          </a:p>
          <a:p>
            <a:r>
              <a:rPr b="1"/>
              <a:t>말할 것</a:t>
            </a:r>
          </a:p>
          <a:p>
            <a:r>
              <a:t>앞 장의 협의체 권고가 무엇을 개선할 것인가를 보여 줬다면, 이 장은 그 개입이 어떤 내용과 대상, 실행 조건을 가질 때 더 나은 재범 결과와 연결되는지를 구체화한다. 책임연령을 바꾼 연구가 아니라는 점을 먼저 짚는다.</a:t>
            </a:r>
          </a:p>
          <a:p>
            <a:r>
              <a:t>연구 범위: 1958년부터 2002년까지 영어권에서 나온 연구를 모았고, 361개 연구보고서에서 추출한 548개 독립 연구표본을 분석했다. 대상은 12~21세이고, 무작위 배정 42%, 사전 특성을 맞춘 비교 28%, 나머지 30%는 사전 차이를 통계로 통제했다. 90% 이상이 미국 연구다.</a:t>
            </a:r>
          </a:p>
          <a:p>
            <a:r>
              <a:t>화면의 수치는 표 2의 보정값이다. 연구방법(12개월 내 재체포, 무작위 설계, 초기 차이 없음), 소년의 평균적 특성, 보호관찰 단계를 전제로 두고 통제집단 재범률을 50%로 환산했을 때의 개입집단 재범률이다. 실제 한국의 재범률이나 원자료의 단순 평균이 아니다.</a:t>
            </a:r>
          </a:p>
          <a:p>
            <a:r>
              <a:t>화면에 넣지 않은 나머지 값도 알아 둔다. 상담 43%(−13%), 다중서비스 44%(−12%), 기술훈련 44%(−12%), 회복적 개입 45%(−10%), 감시 47%(−6%), 억제 51%(+2%), 규율 54%(+8%)다. 감시는 화면에서 뺐다.</a:t>
            </a:r>
          </a:p>
          <a:p>
            <a:r>
              <a:t>변화지향적 개입의 뜻을 풀어 준다. 병원 치료만이 아니다. 상담, 인지행동 기술훈련, 사회적 기술훈련, 가족·다중서비스, 회복적 개입이 여기에 들어간다. 표 4를 보면 인지행동치료 −26%, 집단상담 −22%, 행동프로그램 −22%, 멘토링 −21%, 사례관리 −20%처럼 유형 안에서도 차이가 있다.</a:t>
            </a:r>
          </a:p>
          <a:p>
            <a:r>
              <a:t>대상: 가장 강하고 일관된 관계는 비행위험이었다. 과거 비행경력 등으로 본 위험이 높은 소년에게서 재범감소 효과가 더 크게 나타났다. 다만 공격·폭력 전력이 있는 표본에서는 효과가 다소 작았다. 위험이 높다는 것과 현재 사건이 중대범죄라는 것은 다른 개념이다.</a:t>
            </a:r>
          </a:p>
          <a:p>
            <a:r>
              <a:t>실행: 위험 다음으로 일관된 관계는 실행의 질이었다. 실행 문제(높은 중도탈락, 담당자 교체, 훈련이 부족한 인력)가 보고됐는지와 연구자가 실행에 관여했는지를 합쳐 측정했다. 흥미로운 것은 서비스의 기간과 총 시간은 결과와 뚜렷한 관계가 없었다는 점이다. 더 오래, 더 강하게가 아니라 제대로 제공했는가의 문제다.</a:t>
            </a:r>
          </a:p>
          <a:p>
            <a:r>
              <a:t>또 하나 짚을 결과가 있다. 위험과 개입 유형을 통제하면 사법처리 단계(무감독·다이버전·보호관찰·시설수용)는 재범 결과와 유의한 관계가 없었다. 통제의 수준을 높이는 것 자체가 이후 재범을 줄인다는 근거는 이 분석에서 나오지 않는다.</a:t>
            </a:r>
          </a:p>
          <a:p>
            <a:r>
              <a:t>마무리와 금색 줄로 사용 범위를 닫는다. 이 연구는 유지와 하향 어느 쪽의 승리를 입증하지 않는다. 재범방지를 주장하는 정책이라면 실제 개입 내용을 구체화해야 한다는 자료다.</a:t>
            </a:r>
          </a:p>
          <a:p>
            <a:endParaRPr/>
          </a:p>
          <a:p>
            <a:r>
              <a:t>※ 다음 논거 장에서의 회수 범위. 현행 유지 쪽은 보호처분이 존재한다는 사실만으로 충분하지 않고 위험에 맞는 변화지향적 개입과 실행 여건을 갖춰야 한다는 논거로, 연령 하향 쪽은 효과적인 개입이 있다는 사실과 중대·반복사건에서 형벌로 책임을 인정할 필요가 있는지는 별개의 판단이라는 논거로 쓴다.</a:t>
            </a:r>
          </a:p>
          <a:p>
            <a:r>
              <a:t>※ 화면에서 뺐다: 감시 47%, 표 4의 세부 유형별 수치, 실행의 질 측정 방법의 세부, 사법처리 단계와 무관하다는 결과.</a:t>
            </a:r>
          </a:p>
          <a:p>
            <a:r>
              <a:t>※ 표 2·3·4와 128~129쪽의 표본 설명을 원문에서 직접 대조했다.</a:t>
            </a:r>
          </a:p>
          <a:p>
            <a:endParaRPr/>
          </a:p>
          <a:p>
            <a:r>
              <a:t>→ 다음: 주요 논거 Ⅰ</a:t>
            </a:r>
          </a:p>
          <a:p>
            <a:endParaRPr/>
          </a:p>
          <a:p>
            <a:r>
              <a:t>※ 이 장에는 각주를 두지 않았다. 출처는 Lipsey(2009), The Primary Factors that Characterize Effective Interventions with Juvenile Offenders, Victims &amp; Offenders 4(2), 124–147이고 화면 수치는 표 2(139쪽), 표본 설명은 128~129쪽이다. 질문이 나오면 이 서지를 말한다.</a:t>
            </a:r>
          </a:p>
          <a:p>
            <a:r>
              <a:t>※ 금색 한정 줄(책임연령 변경 연구가 아니라는 점)도 화면에서 뺐다. 마무리 문장 뒤에 발화로 덧붙인다.</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책임의 정당성 · 형사책임 확대의 필요성 · 두 입장 대조</a:t>
            </a:r>
          </a:p>
          <a:p>
            <a:endParaRPr/>
          </a:p>
          <a:p>
            <a:r>
              <a:rPr b="1"/>
              <a:t>말할 것</a:t>
            </a:r>
          </a:p>
          <a:p>
            <a:r>
              <a:t>여기서부터 세 장은 새 자료를 더하지 않는다. 지금까지 본 것을 논제 중심으로 회수한다.</a:t>
            </a:r>
          </a:p>
          <a:p>
            <a:r>
              <a:t>첫째 행은 형벌로 책임을 물을 수 있는가다. 유지 쪽은 잘못을 알고 설명할 수 있는 것과 그 지식대로 행동을 조절하는 것이 다르다는 점, 피해가 중대하다는 사실만으로 책임능력이 입증되지 않는다는 점을 든다. 하향 쪽은 책임능력이 인정되는 13세까지 일률적으로 제외할 필요는 없다고 본다.</a:t>
            </a:r>
          </a:p>
          <a:p>
            <a:r>
              <a:t>둘째 행은 그 가능성을 현행 체계에 더할 필요가 있는가다. 유지 쪽은 앞서 본 운영·집행 문제를 들고, Lipsey에서 확인한 대로 처분을 강하게 하는 것보다 누구에게 어떤 개입을 충실히 제공하는지가 중요했다는 점을 든다. 하향 쪽은 지금 13세 사건에서 형벌이라는 수단 자체가 닫혀 있다는 점을 든다.</a:t>
            </a:r>
          </a:p>
          <a:p>
            <a:r>
              <a:t>두 칸의 작은 수치는 서로 반대 방향의 자료다. 유지 쪽은 증가율이 10~12세에서 더 높았다는 점, 하향 쪽은 13세 송치가 66.1% 늘었다는 점이다. 같은 원표에서 나온 값이라는 점을 짚는다.</a:t>
            </a:r>
          </a:p>
          <a:p>
            <a:r>
              <a:t>금색 줄로 두 논거에 공통으로 걸리는 한계를 말한다. 송치 인원 증가는 인구 대비 범죄율 증가와 다르고, 그 증가만으로 형사책임 확대의 필요성이 입증되지 않는다.</a:t>
            </a:r>
          </a:p>
          <a:p>
            <a:endParaRPr/>
          </a:p>
          <a:p>
            <a:r>
              <a:t>※ 이 장에서 절도 34.6%는 쓰지 않는다. 사건 구성을 보여 주는 자료이지 확대 필요성의 근거가 아니다.</a:t>
            </a:r>
          </a:p>
          <a:p>
            <a:r>
              <a:t>※ 최대 2년 소년원 송치가 가능하다는 사실도 현행 수단의 존재를 보여 줄 뿐 충분성을 입증하지 않는다. 유지 쪽 논거를 그렇게 요약하지 않는다.</a:t>
            </a:r>
          </a:p>
          <a:p>
            <a:endParaRPr/>
          </a:p>
          <a:p>
            <a:r>
              <a:t>→ 다음: 주요 논거 Ⅱ</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관찰된 결과와 기대의 구분 · 절차 참여 · 공통자료</a:t>
            </a:r>
          </a:p>
          <a:p>
            <a:endParaRPr/>
          </a:p>
          <a:p>
            <a:r>
              <a:rPr b="1"/>
              <a:t>말할 것</a:t>
            </a:r>
          </a:p>
          <a:p>
            <a:r>
              <a:t>첫째 행의 두 칸은 성격이 다르다. 유지 쪽은 덴마크에서 실제로 관찰된 결과이고, 하향 쪽은 정책이 효과를 낼 것으로 기대하는 작동경로다. 이 차이를 발화에서 분명히 한다. 하향 칸의 마지막 줄이 그 한정이다.</a:t>
            </a:r>
          </a:p>
          <a:p>
            <a:r>
              <a:t>둘째 행에서 Grisso는 범행 당시의 책임능력이 아니라 형사절차 참여능력에 관한 연구다. 어린 집단에서 절차 이해와 추론에 어려움을 보인 비율이 더 높았다는 결과다.</a:t>
            </a:r>
          </a:p>
          <a:p>
            <a:r>
              <a:t>하향 쪽은 형사책임을 인정하는 것과 성인처럼 처리하는 것이 다르다고 본다. 검사와 법원의 소년부 송치, 소년형사사건의 특례가 근거다.</a:t>
            </a:r>
          </a:p>
          <a:p>
            <a:r>
              <a:t>표 아래 공통자료는 어느 한쪽의 논거가 아니다. 2025년 14~18세 검찰 처분에서 소년부 송치 42.7%, 기소 7.2%다. 기소 7.2%를 유죄율이나 형 선고율로, 또 하향 뒤 13세의 예상 기소율로 읽지 않는다.</a:t>
            </a:r>
          </a:p>
          <a:p>
            <a:r>
              <a:t>금색 줄로 두 한계를 함께 읽는다.</a:t>
            </a:r>
          </a:p>
          <a:p>
            <a:endParaRPr/>
          </a:p>
          <a:p>
            <a:r>
              <a:t>※ 두 칸의 실증 수준이 다르다는 점을 학생이 스스로 확인하게 한다. 어느 쪽이 옳다고 정리하지 않는다.</a:t>
            </a:r>
          </a:p>
          <a:p>
            <a:endParaRPr/>
          </a:p>
          <a:p>
            <a:r>
              <a:t>→ 다음: 연령 하향을 판단하는 네 물음</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핵심어</a:t>
            </a:r>
            <a:r>
              <a:t> 공통 기준선 · 네 물음 · 판단과 설계의 구분</a:t>
            </a:r>
          </a:p>
          <a:p>
            <a:endParaRPr/>
          </a:p>
          <a:p>
            <a:r>
              <a:rPr b="1"/>
              <a:t>말할 것</a:t>
            </a:r>
          </a:p>
          <a:p>
            <a:r>
              <a:t>위 회색 영역은 어느 입장에서도 다투지 않는 기준선이다. 13세의 저촉행위는 지금도 소년보호사건으로 다루고 상당한 보호처분이 가능하다는 것, 연령을 낮추면 형사수사에서 형 선고까지의 가능성이 추가된다는 것, 그리고 가능 연령에 포함되는 것과 실제 기소·형 선고가 별도 판단이라는 것이다.</a:t>
            </a:r>
          </a:p>
          <a:p>
            <a:r>
              <a:t>네 물음은 앞의 두 논거 장과 같은 순서다. 책임의 정당성, 형사책임 확대의 필요성, 범죄예방 효과, 절차·보호다. 발표와 토론문에서도 이 이름과 순서를 그대로 쓴다.</a:t>
            </a:r>
          </a:p>
          <a:p>
            <a:r>
              <a:t>마지막 영역은 다섯 번째 쟁점이 아니다. 하향을 선택한 경우에만 따라오는 설계 문제다. 적용범위, 중대·반복 요건, 책임판단과 편입절차, 13세에 적용할 소년특례가 여기에 들어간다. 판단과 설계는 다른 문제라는 점을 마지막에 짚는다.</a:t>
            </a:r>
          </a:p>
          <a:p>
            <a:endParaRPr/>
          </a:p>
          <a:p>
            <a:r>
              <a:t>※ 이 장에서 최대 2년 같은 숫자를 다시 강조하지 않는다. 앞에서 이미 본 기준선이다.</a:t>
            </a:r>
          </a:p>
          <a:p>
            <a:r>
              <a:t>※ 네 물음은 강사의 결론이 아니라 학생이 자기 논증에서 답해야 할 물음이다.</a:t>
            </a:r>
          </a:p>
          <a:p>
            <a:endParaRPr/>
          </a:p>
          <a:p>
            <a:r>
              <a:t>→ 다음: 이번 주 할 일 · 다음 주</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오늘 정리 / 다음 논제 / 제출 준비의 3개 단위로 배열한다. 과제와 제출 안내는 확정된 문구를 유지한다.</a:t>
            </a:r>
          </a:p>
          <a:p>
            <a:r>
              <a:rPr lang="ko-KR" sz="1100" dirty="0"/>
              <a:t>[제작 메모] 기존 검토반영 대본 P58의 설명을 사용한다. 핵심 설명과 한정은 이 장의 화면 문구에도 포함했다.</a:t>
            </a:r>
          </a:p>
          <a:p>
            <a:r>
              <a:rPr lang="ko-KR" sz="1100" dirty="0"/>
              <a:t>[대본] v27 대본 재작성 대상 — 화면 문구는 이 장에 수록되어 있다.</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본편은 앞 장에서 끝난다. 이 구간은 질문이나 시간 여유가 있을 때만 사용한다.</a:t>
            </a:r>
          </a:p>
          <a:p>
            <a:r>
              <a:rPr lang="ko-KR" sz="1100" dirty="0"/>
              <a:t>[대본] v27 대본 재작성 대상 — 화면 문구는 이 장에 수록되어 있다.</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한민경 발표 0:00–25:12. 가해-피해 중첩을 대본에서 푼다 — 학대·가정이탈·성착취 피해가 이후 절도·사기 등 다른 비행과 이어지는 경우가 있어 피해자와 가해자가 완전히 나뉜 두 집단이 아닐 수 있다.</a:t>
            </a:r>
          </a:p>
          <a:p>
            <a:r>
              <a:rPr lang="ko-KR" sz="1100" dirty="0"/>
              <a:t>[제작 메모] 마지막에 "뒤에서 볼 2026 공론화 협의체의 공식 권고와는 출처와 지위를 구분하겠습니다"로 끊는다.</a:t>
            </a:r>
          </a:p>
          <a:p>
            <a:r>
              <a:rPr lang="ko-KR" sz="1100" dirty="0"/>
              <a:t>[자료] 한민경(2026) 「형사미성년자(촉법소년) 관련 정책 대안의 이해」 0:00–25:12</a:t>
            </a:r>
          </a:p>
          <a:p>
            <a:r>
              <a:rPr lang="ko-KR" sz="1100" dirty="0"/>
              <a:t>[대본] v27 대본 재작성 대상 — 화면 문구는 이 장에 수록되어 있다.</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[자료 이동] v51 p.52 국가인권위원장 성명 행을 문장 변경 없이 보충자료로 분리했다.</a:t>
            </a:r>
          </a:p>
          <a:p>
            <a:r>
              <a:t>국가인권위원장은 연령 하향에 신중한 접근이 필요하다고 보았다</a:t>
            </a:r>
          </a:p>
          <a:p>
            <a:r>
              <a:t>10~13세 소년범죄의 장기적 감소·정체 추세와 하향의 예방 효과가 충분히 입증되지 않았다는 점을 지적하고, 조기 형사사법 편입의 낙인·배제 위험을 들었다.</a:t>
            </a:r>
          </a:p>
          <a:p>
            <a:r>
              <a:t>돌봄·교육·복지·정신건강 지원, 소년사법 통계 구축, 회복·교육·재사회화 인프라 강화를 함께 제시했다.</a:t>
            </a:r>
          </a:p>
          <a:p>
            <a:r>
              <a:t>[자료] 국가인권위원장 「촉법소년 연령 하향 논의 관련 성명」(2026.3.31.) · v51 국제기준 Ⅱ의 국내 의견 부분을 분리</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연구 구성·함께 비교한 다른 경로·결과·한국 적용 범위를 4개 단위로 배치한다. 다이버전의 뜻을 화면에 남긴다.</a:t>
            </a:r>
          </a:p>
          <a:p>
            <a:r>
              <a:rPr lang="ko-KR" sz="1100" dirty="0"/>
              <a:t>[제작 메모] 기존 검토반영 대본 P34의 설명을 사용한다. 핵심 설명과 한정은 이 장의 화면 문구에도 포함했다.</a:t>
            </a:r>
          </a:p>
          <a:p>
            <a:r>
              <a:rPr lang="ko-KR" sz="1100" dirty="0"/>
              <a:t>[자료] Petrosino, Turpin-Petrosino &amp; Guckenburg(2010), Campbell Systematic Reviews</a:t>
            </a:r>
          </a:p>
          <a:p>
            <a:r>
              <a:rPr lang="ko-KR" sz="1100" dirty="0"/>
              <a:t>원출처 1 · www.campbellcollaboration.org</a:t>
            </a:r>
          </a:p>
          <a:p>
            <a:r>
              <a:rPr lang="ko-KR" sz="1100" dirty="0"/>
              <a:t>[대본] v27 대본 재작성 대상 — 화면 문구는 이 장에 수록되어 있다.</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비교의 어려움 → 판사배당을 이용한 추정 → 교육·성인기 결과 → 적용범위의 4단위.</a:t>
            </a:r>
          </a:p>
          <a:p>
            <a:r>
              <a:rPr lang="ko-KR" sz="1100" dirty="0"/>
              <a:t>[제작 메모] 기존 검토반영 대본 P36의 설명을 사용한다. 핵심 설명과 한정은 이 장의 화면 문구에도 포함했다.</a:t>
            </a:r>
          </a:p>
          <a:p>
            <a:r>
              <a:rPr lang="ko-KR" sz="1100" dirty="0"/>
              <a:t>[자료] Aizer &amp; Doyle(2015), QJE 130(2), 759–803 · MIT 연구 소개</a:t>
            </a:r>
          </a:p>
          <a:p>
            <a:r>
              <a:rPr lang="ko-KR" sz="1100" dirty="0"/>
              <a:t>원출처 1 · news.mit.edu</a:t>
            </a:r>
          </a:p>
          <a:p>
            <a:r>
              <a:rPr lang="ko-KR" sz="1100" dirty="0"/>
              <a:t>[대본] v27 대본 재작성 대상 — 화면 문구는 이 장에 수록되어 있다.</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앞 연구와 동일한 질문을 쓰되 지역·결과지표의 차이를 보여 준다. 효과의 방향을 하나로 합쳐 표기하지 않는다.</a:t>
            </a:r>
          </a:p>
          <a:p>
            <a:r>
              <a:rPr lang="ko-KR" sz="1100" dirty="0"/>
              <a:t>[제작 메모] 기존 검토반영 대본 P37의 설명을 사용한다. 핵심 설명과 한정은 이 장의 화면 문구에도 포함했다.</a:t>
            </a:r>
          </a:p>
          <a:p>
            <a:r>
              <a:rPr lang="ko-KR" sz="1100" dirty="0"/>
              <a:t>[자료] Eren &amp; Mocan(2021), Review of Economics and Statistics 103(1), 34–47</a:t>
            </a:r>
          </a:p>
          <a:p>
            <a:r>
              <a:rPr lang="ko-KR" sz="1100" dirty="0"/>
              <a:t>원출처 1 · nacimocan.com</a:t>
            </a:r>
          </a:p>
          <a:p>
            <a:r>
              <a:rPr lang="ko-KR" sz="1100" dirty="0"/>
              <a:t>[대본] v27 대본 재작성 대상 — 화면 문구는 이 장에 수록되어 있다.</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[대본] 본편 승격. Steinberg의 발달 논의를 실제 무작위 실험으로 보여 준 뒤 Grisso 재판참여능력으로 연결한다.</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과제→추측 확인→다른 대응의 3단계로 설명한다. 공을 힘으로 빼앗는 체험은 실시하지 않고 말로 선택을 떠올린다.</a:t>
            </a:r>
          </a:p>
          <a:p>
            <a:r>
              <a:rPr lang="ko-KR" sz="1100" dirty="0"/>
              <a:t>[제작 메모] 기존 대본 P52의 첫 두 문단과 활동 범위 설명을 사용한다.</a:t>
            </a:r>
          </a:p>
          <a:p>
            <a:r>
              <a:rPr lang="ko-KR" sz="1100" dirty="0"/>
              <a:t>[자료] Heller 외(2017), QJE 132(1), 1–54 · 활동: pp.3, 9/Table I · 효과: pp.20–22/Table IV</a:t>
            </a:r>
          </a:p>
          <a:p>
            <a:r>
              <a:rPr lang="ko-KR" sz="1100" dirty="0"/>
              <a:t>[자료] 최종 논문(2017). 활동은 Table I, 프로그램별 효과는 Table IV와 대조한다</a:t>
            </a:r>
          </a:p>
          <a:p>
            <a:r>
              <a:rPr lang="ko-KR" sz="1100" dirty="0"/>
              <a:t>원출처 1 · sendhil.org</a:t>
            </a:r>
          </a:p>
          <a:p>
            <a:r>
              <a:rPr lang="ko-KR" sz="1100" dirty="0"/>
              <a:t>[대본] v27 대본 재작성 대상 — 화면 문구는 이 장에 수록되어 있다.</a:t>
            </a:r>
          </a:p>
          <a:p>
            <a:r>
              <a:rPr lang="ko-KR" sz="1100">
                <a:latin typeface="Pretendard"/>
                <a:ea typeface="Pretendard"/>
                <a:cs typeface="Pretendard"/>
              </a:rPr>
              <a:t>[v53_r1 화면 정합] BAM 활동 장 다음에 효과 장이 온다. 앞서 본 결과라는 표현을 사용하지 않는다.</a:t>
            </a:r>
          </a:p>
          <a:p>
            <a:r>
              <a:rPr lang="ko-KR" sz="1100">
                <a:latin typeface="Pretendard"/>
                <a:ea typeface="Pretendard"/>
                <a:cs typeface="Pretendard"/>
              </a:rPr>
              <a:t>이 활동은 BAM의 한 구성요소다. 다음 장의 효과수치는 이 활동 하나가 아니라 프로그램 전체를 평가한 결과다.</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연구 1과 연구 2를 표로 나란히 두고 표본·개입기간·측정 시점을 적는다. 참여효과를 단순 참여자 평균과 동일시하지 않는다.</a:t>
            </a:r>
          </a:p>
          <a:p>
            <a:r>
              <a:rPr lang="ko-KR" sz="1100" dirty="0"/>
              <a:t>[제작 메모] 기존 대본 P52의 효과·지속성 문단을 사용한다. 새 표본·시점 설명은 화면 수치대로 보충한다.</a:t>
            </a:r>
          </a:p>
          <a:p>
            <a:r>
              <a:rPr lang="ko-KR" sz="1100" dirty="0"/>
              <a:t>[자료] Heller 외(2017), QJE 132(1), 1–54 · 활동: pp.3, 9/Table I · 효과: pp.20–22/Table IV</a:t>
            </a:r>
          </a:p>
          <a:p>
            <a:r>
              <a:rPr lang="ko-KR" sz="1100" dirty="0"/>
              <a:t>원출처 1 · sendhil.org</a:t>
            </a:r>
          </a:p>
          <a:p>
            <a:r>
              <a:rPr lang="ko-KR" sz="1100" dirty="0"/>
              <a:t>[대본] v27 대본 재작성 대상 — 화면 문구는 이 장에 수록되어 있다.</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평가연구의 구성 / 저위험 대상의 결과 / 한국에서 필요한 권한·지원의 세 단위로 배치한다. 중대사건 전체로 적용하지 않는 범위를 본문에 둔다.</a:t>
            </a:r>
          </a:p>
          <a:p>
            <a:r>
              <a:rPr lang="ko-KR" sz="1100" dirty="0"/>
              <a:t>[제작 메모] 기존 검토반영 대본 P53의 설명을 사용한다. 핵심 설명과 한정은 이 장의 화면 문구에도 포함했다.</a:t>
            </a:r>
          </a:p>
          <a:p>
            <a:r>
              <a:rPr lang="ko-KR" sz="1100" dirty="0"/>
              <a:t>[자료] Wilson, Brennan &amp; Olaghere(2018), Campbell Systematic Reviews</a:t>
            </a:r>
          </a:p>
          <a:p>
            <a:r>
              <a:rPr lang="ko-KR" sz="1100" dirty="0"/>
              <a:t>원출처 1 · www.campbellcollaboration.org</a:t>
            </a:r>
          </a:p>
          <a:p>
            <a:r>
              <a:rPr lang="ko-KR" sz="1100" dirty="0"/>
              <a:t>[대본] v27 대본 재작성 대상 — 화면 문구는 이 장에 수록되어 있다.</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기대했던 효과·실험 결과를 대응시킨다. 9개 전체 실험과 범죄결과를 종합한 7개 연구를 구분한다.</a:t>
            </a:r>
          </a:p>
          <a:p>
            <a:r>
              <a:rPr lang="ko-KR" sz="1100" dirty="0"/>
              <a:t>[제작 메모] 기존 검토반영 대본 P54의 설명을 사용한다. 핵심 설명과 한정은 이 장의 화면 문구에도 포함했다.</a:t>
            </a:r>
          </a:p>
          <a:p>
            <a:r>
              <a:rPr lang="ko-KR" sz="1100" dirty="0"/>
              <a:t>[자료] Petrosino, Turpin-Petrosino &amp; Buehler (2013), Campbell Systematic Reviews · 9개 미국 실험, 총 946명</a:t>
            </a:r>
          </a:p>
          <a:p>
            <a:r>
              <a:rPr lang="ko-KR" sz="1100" dirty="0"/>
              <a:t>원출처 1 · www.campbellcollaboration.org</a:t>
            </a:r>
          </a:p>
          <a:p>
            <a:r>
              <a:rPr lang="ko-KR" sz="1100" dirty="0"/>
              <a:t>[대본] v27 대본 재작성 대상 — 화면 문구는 이 장에 수록되어 있다.</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소년과 성인의 가능한 제재 상한을 비교한다. 통지·변호인·대질·진술거부의 판단을 별도로 제시하고 최대기간과 실제 수용기간을 구분한다.</a:t>
            </a:r>
          </a:p>
          <a:p>
            <a:r>
              <a:rPr lang="ko-KR" sz="1100" dirty="0"/>
              <a:t>[제작 메모] 기존 검토반영 대본 P42의 설명을 사용한다. 핵심 설명과 한정은 이 장의 화면 문구에도 포함했다.</a:t>
            </a:r>
          </a:p>
          <a:p>
            <a:r>
              <a:rPr lang="ko-KR" sz="1100" dirty="0"/>
              <a:t>[자료] In re Gault, 387 U.S. 1 (1967) · U.S. Courts 공식 해설</a:t>
            </a:r>
          </a:p>
          <a:p>
            <a:r>
              <a:rPr lang="ko-KR" sz="1100" dirty="0"/>
              <a:t>원출처 1 · tile.loc.gov</a:t>
            </a:r>
          </a:p>
          <a:p>
            <a:r>
              <a:rPr lang="ko-KR" sz="1100" dirty="0"/>
              <a:t>원출처 2 · www.uscourts.gov</a:t>
            </a:r>
          </a:p>
          <a:p>
            <a:r>
              <a:rPr lang="ko-KR" sz="1100" dirty="0"/>
              <a:t>[대본] v27 대본 재작성 대상 — 화면 문구는 이 장에 수록되어 있다.</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학교에서 조사실로 이동한 경위와 구금상태 판단을 구분한다. 구체적인 구금 여부는 환송된 점을 본문에 남긴다.</a:t>
            </a:r>
          </a:p>
          <a:p>
            <a:r>
              <a:rPr lang="ko-KR" sz="1100" dirty="0"/>
              <a:t>[제작 메모] 기존 검토반영 대본 P44의 설명을 사용한다. 핵심 설명과 한정은 이 장의 화면 문구에도 포함했다.</a:t>
            </a:r>
          </a:p>
          <a:p>
            <a:r>
              <a:rPr lang="ko-KR" sz="1100" dirty="0"/>
              <a:t>[자료] J.D.B. v. North Carolina, 564 U.S. 261 (2011) · 공식 판례집</a:t>
            </a:r>
          </a:p>
          <a:p>
            <a:r>
              <a:rPr lang="ko-KR" sz="1100" dirty="0"/>
              <a:t>원출처 1 · tile.loc.gov</a:t>
            </a:r>
          </a:p>
          <a:p>
            <a:r>
              <a:rPr lang="ko-KR" sz="1100" dirty="0"/>
              <a:t>[대본] v27 대본 재작성 대상 — 화면 문구는 이 장에 수록되어 있다.</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세 시점의 가로 연표 또는 세 행. 연도·사건·기록 이용을 같은 위계로 배치한다. 「외국 비교사례」를 제목 아래 명시한다.</a:t>
            </a:r>
          </a:p>
          <a:p>
            <a:r>
              <a:rPr lang="ko-KR" sz="1100" dirty="0"/>
              <a:t>[제작 메모] 기존 검토반영 대본 P10의 설명을 사용한다. 핵심 설명과 한정은 이 장의 화면 문구에도 포함했다.</a:t>
            </a:r>
          </a:p>
          <a:p>
            <a:r>
              <a:rPr lang="ko-KR" sz="1100" dirty="0"/>
              <a:t>[자료] 영국 대법원 [2019] UKSC 3 · 공식 판결 요약 및 판결문</a:t>
            </a:r>
          </a:p>
          <a:p>
            <a:r>
              <a:rPr lang="ko-KR" sz="1100" dirty="0"/>
              <a:t>원출처 1 · supremecourt.uk</a:t>
            </a:r>
          </a:p>
          <a:p>
            <a:r>
              <a:rPr lang="ko-KR" sz="1100" dirty="0"/>
              <a:t>원출처 2 · supremecourt.uk</a:t>
            </a:r>
          </a:p>
          <a:p>
            <a:r>
              <a:rPr lang="ko-KR" sz="1100" dirty="0"/>
              <a:t>[대본] v27 대본 재작성 대상 — 화면 문구는 이 장에 수록되어 있다.</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사건·법률상 분류요건·판단·적용 범위를 순서대로 둔다. 최고형과 최저형을 같은 행에 비교하여 보여 준다.</a:t>
            </a:r>
          </a:p>
          <a:p>
            <a:r>
              <a:rPr lang="ko-KR" sz="1100" dirty="0"/>
              <a:t>[제작 메모] 기존 검토반영 대본 P26의 설명을 사용한다. 핵심 설명과 한정은 이 장의 화면 문구에도 포함했다.</a:t>
            </a:r>
          </a:p>
          <a:p>
            <a:r>
              <a:rPr lang="ko-KR" sz="1100" dirty="0"/>
              <a:t>[자료] 인도 대법원 CA 34/2020 (2020.1.9.) · 판결 전문 재수록: Indian Kanoon</a:t>
            </a:r>
          </a:p>
          <a:p>
            <a:r>
              <a:rPr lang="ko-KR" sz="1100" dirty="0"/>
              <a:t>원출처 1 · indiankanoon.org</a:t>
            </a:r>
          </a:p>
          <a:p>
            <a:r>
              <a:rPr lang="ko-KR" sz="1100" dirty="0"/>
              <a:t>[대본] v27 대본 재작성 대상 — 화면 문구는 이 장에 수록되어 있다.</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IQ 수치 / 평가해야 할 능력 / 전문성·자료 확인 / 판결 범위를 분리한다. 숫자 하나를 성인재판 이송의 결론처럼 강조하지 않는다.</a:t>
            </a:r>
          </a:p>
          <a:p>
            <a:r>
              <a:rPr lang="ko-KR" sz="1100" dirty="0"/>
              <a:t>[제작 메모] 기존 검토반영 대본 P27의 설명을 사용한다. 핵심 설명과 한정은 이 장의 화면 문구에도 포함했다.</a:t>
            </a:r>
          </a:p>
          <a:p>
            <a:r>
              <a:rPr lang="ko-KR" sz="1100" dirty="0"/>
              <a:t>[자료] 인도 대법원 CA 950–951/2022 (2022.7.13.) · Patna High Court 게시 판결문</a:t>
            </a:r>
          </a:p>
          <a:p>
            <a:r>
              <a:rPr lang="ko-KR" sz="1100" dirty="0"/>
              <a:t>원출처 1 · patnahighcourt.gov.in</a:t>
            </a:r>
          </a:p>
          <a:p>
            <a:r>
              <a:rPr lang="ko-KR" sz="1100" dirty="0"/>
              <a:t>[대본] v27 대본 재작성 대상 — 화면 문구는 이 장에 수록되어 있다.</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요청한 절차·실제로 한 결정·연방대법원의 판단을 순서대로 배치한다. 이송 결정에 대한 심사라는 범위를 본문에 둔다.</a:t>
            </a:r>
          </a:p>
          <a:p>
            <a:r>
              <a:rPr lang="ko-KR" sz="1100" dirty="0"/>
              <a:t>[제작 메모] 기존 검토반영 대본 P28의 설명을 사용한다. 핵심 설명과 한정은 이 장의 화면 문구에도 포함했다.</a:t>
            </a:r>
          </a:p>
          <a:p>
            <a:r>
              <a:rPr lang="ko-KR" sz="1100" dirty="0"/>
              <a:t>[자료] Kent v. United States, 383 U.S. 541 (1966), pp.557–565</a:t>
            </a:r>
          </a:p>
          <a:p>
            <a:r>
              <a:rPr lang="ko-KR" sz="1100" dirty="0"/>
              <a:t>원출처 1 · tile.loc.gov</a:t>
            </a:r>
          </a:p>
          <a:p>
            <a:r>
              <a:rPr lang="ko-KR" sz="1100" dirty="0"/>
              <a:t>[대본] v27 대본 재작성 대상 — 화면 문구는 이 장에 수록되어 있다.</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절차와 측정지표 / 평균 결과 / 연구 간 차이 / 적용 범위를 구분한다. 유의하지 않은 결과를 0 효과 막대로 그리지 않는다.</a:t>
            </a:r>
          </a:p>
          <a:p>
            <a:r>
              <a:rPr lang="ko-KR" sz="1100" dirty="0"/>
              <a:t>[제작 메모] 기존 검토반영 대본 P35의 설명을 사용한다. 핵심 설명과 한정은 이 장의 화면 문구에도 포함했다.</a:t>
            </a:r>
          </a:p>
          <a:p>
            <a:r>
              <a:rPr lang="ko-KR" sz="1100" dirty="0"/>
              <a:t>[자료] Zane, Welsh &amp; Mears(2016), Criminology &amp; Public Policy 15(3), 901–925</a:t>
            </a:r>
          </a:p>
          <a:p>
            <a:r>
              <a:rPr lang="ko-KR" sz="1100" dirty="0"/>
              <a:t>원출처 1 · onlinelibrary.wiley.com</a:t>
            </a:r>
          </a:p>
          <a:p>
            <a:r>
              <a:rPr lang="ko-KR" sz="1100" dirty="0"/>
              <a:t>[대본] v27 대본 재작성 대상 — 화면 문구는 이 장에 수록되어 있다.</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재판환경 / 권리 판단 / Grisso와의 연결 / 판단 범위를 4개 단위로 배치한다. 출석과 참여를 같은 상태로 표시하지 않는다.</a:t>
            </a:r>
          </a:p>
          <a:p>
            <a:r>
              <a:rPr lang="ko-KR" sz="1100" dirty="0"/>
              <a:t>[제작 메모] 기존 검토반영 대본 P41의 설명을 사용한다. 핵심 설명과 한정은 이 장의 화면 문구에도 포함했다.</a:t>
            </a:r>
          </a:p>
          <a:p>
            <a:r>
              <a:rPr lang="ko-KR" sz="1100" dirty="0"/>
              <a:t>[자료] T.·V. v. UK [GC] (1999.12.16.), 24724/94·24888/94 · 유럽평의회 자료</a:t>
            </a:r>
          </a:p>
          <a:p>
            <a:r>
              <a:rPr lang="ko-KR" sz="1100" dirty="0"/>
              <a:t>원출처 1 · hudoc.echr.coe.int</a:t>
            </a:r>
          </a:p>
          <a:p>
            <a:r>
              <a:rPr lang="ko-KR" sz="1100" dirty="0"/>
              <a:t>원출처 2 · ks.echr.coe.int</a:t>
            </a:r>
          </a:p>
          <a:p>
            <a:r>
              <a:rPr lang="ko-KR" sz="1100" dirty="0"/>
              <a:t>원출처 3 · fra.europa.eu</a:t>
            </a:r>
          </a:p>
          <a:p>
            <a:r>
              <a:rPr lang="ko-KR" sz="1100" dirty="0"/>
              <a:t>[대본] v27 대본 재작성 대상 — 화면 문구는 이 장에 수록되어 있다.</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과제와 허위정보 / 책임 인정 결과 / 기억과의 구분 / 실제 조사에 적용할 한계를 배치한다. 실험실 결과를 실제 허위자백률처럼 그래프로 만들지 않는다.</a:t>
            </a:r>
          </a:p>
          <a:p>
            <a:r>
              <a:rPr lang="ko-KR" sz="1100" dirty="0"/>
              <a:t>[제작 메모] 기존 검토반영 대본 P45의 설명을 사용한다. 핵심 설명과 한정은 이 장의 화면 문구에도 포함했다.</a:t>
            </a:r>
          </a:p>
          <a:p>
            <a:r>
              <a:rPr lang="ko-KR" sz="1100" dirty="0"/>
              <a:t>[자료] Redlich &amp; Goodman (2003), Law and Human Behavior 27, 141–156 · 12~13세, 15~16세, 청년 성인 비교</a:t>
            </a:r>
          </a:p>
          <a:p>
            <a:r>
              <a:rPr lang="ko-KR" sz="1100" dirty="0"/>
              <a:t>원출처 1 · pubmed.ncbi.nlm.nih.gov</a:t>
            </a:r>
          </a:p>
          <a:p>
            <a:r>
              <a:rPr lang="ko-KR" sz="1100" dirty="0"/>
              <a:t>[대본] v27 대본 재작성 대상 — 화면 문구는 이 장에 수록되어 있다.</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좌측 피해자 요구 의역, 우측 계획·후속절차. 인터뷰 영상은 선택 재생이며 화면 없이도 이해되게 쓴다. 피해자 발언을 전체 피해자의 선호로 표현하지 않는다.</a:t>
            </a:r>
          </a:p>
          <a:p>
            <a:r>
              <a:rPr lang="ko-KR" sz="1100" dirty="0"/>
              <a:t>[제작 메모] 기존 검토반영 대본 P50의 설명을 사용한다. 핵심 설명과 한정은 이 장의 화면 문구에도 포함했다.</a:t>
            </a:r>
          </a:p>
          <a:p>
            <a:r>
              <a:rPr lang="ko-KR" sz="1100" dirty="0"/>
              <a:t>[제작 메모] 정부 공개 인터뷰는 의역이며 대표성 있는 조사나 효과평가가 아니다.</a:t>
            </a:r>
          </a:p>
          <a:p>
            <a:r>
              <a:rPr lang="ko-KR" sz="1100" dirty="0"/>
              <a:t>[자료] 뉴질랜드 아동부, Youth justice family group conferences · 절차 안내 및 공식 인터뷰</a:t>
            </a:r>
          </a:p>
          <a:p>
            <a:r>
              <a:rPr lang="ko-KR" sz="1100" dirty="0"/>
              <a:t>원출처 1 · www.orangatamariki.govt.nz</a:t>
            </a:r>
          </a:p>
          <a:p>
            <a:r>
              <a:rPr lang="ko-KR" sz="1100" dirty="0"/>
              <a:t>[대본] v27 대본 재작성 대상 — 화면 문구는 이 장에 수록되어 있다.</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사건의 실제 연령과 하향안의 적용 연령을 대조한다. 9세와 13세가 같은 정책의 적용 대상인 것처럼 연결하지 않는다.</a:t>
            </a:r>
          </a:p>
          <a:p>
            <a:r>
              <a:rPr lang="ko-KR" sz="1100" dirty="0"/>
              <a:t>[제작 메모] 기존 검토반영 대본 P59의 설명을 사용한다. 핵심 설명과 한정은 이 장의 화면 문구에도 포함했다.</a:t>
            </a:r>
          </a:p>
          <a:p>
            <a:r>
              <a:rPr lang="ko-KR" sz="1100" dirty="0"/>
              <a:t>[자료] 연합뉴스 2015.10.16. · 언론보도 기준 / 소년법·아동복지법</a:t>
            </a:r>
          </a:p>
          <a:p>
            <a:r>
              <a:rPr lang="ko-KR" sz="1100" dirty="0"/>
              <a:t>원출처 1 · www.yna.co.kr</a:t>
            </a:r>
          </a:p>
          <a:p>
            <a:r>
              <a:rPr lang="ko-KR" sz="1100" dirty="0"/>
              <a:t>원출처 2 · www.law.go.kr</a:t>
            </a:r>
          </a:p>
          <a:p>
            <a:r>
              <a:rPr lang="ko-KR" sz="1100" dirty="0"/>
              <a:t>원출처 3 · www.law.go.kr</a:t>
            </a:r>
          </a:p>
          <a:p>
            <a:r>
              <a:rPr lang="ko-KR" sz="1100" dirty="0"/>
              <a:t>[대본] v27 대본 재작성 대상 — 화면 문구는 이 장에 수록되어 있다.</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ko-KR" sz="1100" dirty="0"/>
              <a:t>[제작 메모] 사건·입증문제·판단범위의 3행. 행위의 구체적 성적 묘사는 넣지 않는다.</a:t>
            </a:r>
          </a:p>
          <a:p>
            <a:r>
              <a:rPr lang="ko-KR" sz="1100" dirty="0"/>
              <a:t>[제작 메모] 기존 검토반영 대본 P60의 설명을 사용한다. 핵심 설명과 한정은 이 장의 화면 문구에도 포함했다.</a:t>
            </a:r>
          </a:p>
          <a:p>
            <a:r>
              <a:rPr lang="ko-KR" sz="1100" dirty="0"/>
              <a:t>[자료] 호주 연방대법원 [2016] HCA 53 · 주문 및 문단 9, 32–37</a:t>
            </a:r>
          </a:p>
          <a:p>
            <a:r>
              <a:rPr lang="ko-KR" sz="1100" dirty="0"/>
              <a:t>원출처 1 · www.hcourt.gov.au</a:t>
            </a:r>
          </a:p>
          <a:p>
            <a:r>
              <a:rPr lang="ko-KR" sz="1100" dirty="0"/>
              <a:t>[대본] v27 대본 재작성 대상 — 화면 문구는 이 장에 수록되어 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76413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Pretendard"/>
          <a:ea typeface="Pretendard"/>
          <a:cs typeface="Pretendard"/>
        </a:defRPr>
      </a:lvl1pPr>
    </p:titleStyle>
    <p:bodyStyle>
      <a:lvl1pPr marL="342900" indent="-342900" algn="l" defTabSz="914400">
        <a:spcBef>
          <a:spcPct val="20000"/>
        </a:spcBef>
        <a:buFont typeface="Arial"/>
        <a:buChar char="•"/>
        <a:defRPr sz="3200" kern="1200">
          <a:solidFill>
            <a:schemeClr val="tx1"/>
          </a:solidFill>
          <a:latin typeface="Pretendard"/>
          <a:ea typeface="Pretendard"/>
          <a:cs typeface="Pretendard"/>
        </a:defRPr>
      </a:lvl1pPr>
      <a:lvl2pPr marL="742950" indent="-285750" algn="l" defTabSz="914400">
        <a:spcBef>
          <a:spcPct val="20000"/>
        </a:spcBef>
        <a:buFont typeface="Arial"/>
        <a:buChar char="–"/>
        <a:defRPr sz="2800" kern="1200">
          <a:solidFill>
            <a:schemeClr val="tx1"/>
          </a:solidFill>
          <a:latin typeface="Pretendard"/>
          <a:ea typeface="Pretendard"/>
          <a:cs typeface="Pretendard"/>
        </a:defRPr>
      </a:lvl2pPr>
      <a:lvl3pPr marL="1143000" indent="-228600" algn="l" defTabSz="914400">
        <a:spcBef>
          <a:spcPct val="20000"/>
        </a:spcBef>
        <a:buFont typeface="Arial"/>
        <a:buChar char="•"/>
        <a:defRPr sz="2400" kern="1200">
          <a:solidFill>
            <a:schemeClr val="tx1"/>
          </a:solidFill>
          <a:latin typeface="Pretendard"/>
          <a:ea typeface="Pretendard"/>
          <a:cs typeface="Pretendard"/>
        </a:defRPr>
      </a:lvl3pPr>
      <a:lvl4pPr marL="1600200" indent="-228600" algn="l" defTabSz="914400">
        <a:spcBef>
          <a:spcPct val="20000"/>
        </a:spcBef>
        <a:buFont typeface="Arial"/>
        <a:buChar char="–"/>
        <a:defRPr sz="2000" kern="1200">
          <a:solidFill>
            <a:schemeClr val="tx1"/>
          </a:solidFill>
          <a:latin typeface="Pretendard"/>
          <a:ea typeface="Pretendard"/>
          <a:cs typeface="Pretendard"/>
        </a:defRPr>
      </a:lvl4pPr>
      <a:lvl5pPr marL="2057400" indent="-228600" algn="l" defTabSz="914400">
        <a:spcBef>
          <a:spcPct val="20000"/>
        </a:spcBef>
        <a:buFont typeface="Arial"/>
        <a:buChar char="»"/>
        <a:defRPr sz="2000" kern="1200">
          <a:solidFill>
            <a:schemeClr val="tx1"/>
          </a:solidFill>
          <a:latin typeface="Pretendard"/>
          <a:ea typeface="Pretendard"/>
          <a:cs typeface="Pretendard"/>
        </a:defRPr>
      </a:lvl5pPr>
      <a:lvl6pPr marL="2514600" indent="-228600" algn="l" defTabSz="914400">
        <a:spcBef>
          <a:spcPct val="20000"/>
        </a:spcBef>
        <a:buFont typeface="Arial"/>
        <a:buChar char="•"/>
        <a:defRPr sz="2000" kern="1200">
          <a:solidFill>
            <a:schemeClr val="tx1"/>
          </a:solidFill>
          <a:latin typeface="Pretendard"/>
          <a:ea typeface="Pretendard"/>
          <a:cs typeface="Pretendard"/>
        </a:defRPr>
      </a:lvl6pPr>
      <a:lvl7pPr marL="2971800" indent="-228600" algn="l" defTabSz="914400">
        <a:spcBef>
          <a:spcPct val="20000"/>
        </a:spcBef>
        <a:buFont typeface="Arial"/>
        <a:buChar char="•"/>
        <a:defRPr sz="2000" kern="1200">
          <a:solidFill>
            <a:schemeClr val="tx1"/>
          </a:solidFill>
          <a:latin typeface="Pretendard"/>
          <a:ea typeface="Pretendard"/>
          <a:cs typeface="Pretendard"/>
        </a:defRPr>
      </a:lvl7pPr>
      <a:lvl8pPr marL="3429000" indent="-228600" algn="l" defTabSz="914400">
        <a:spcBef>
          <a:spcPct val="20000"/>
        </a:spcBef>
        <a:buFont typeface="Arial"/>
        <a:buChar char="•"/>
        <a:defRPr sz="2000" kern="1200">
          <a:solidFill>
            <a:schemeClr val="tx1"/>
          </a:solidFill>
          <a:latin typeface="Pretendard"/>
          <a:ea typeface="Pretendard"/>
          <a:cs typeface="Pretendard"/>
        </a:defRPr>
      </a:lvl8pPr>
      <a:lvl9pPr marL="3886200" indent="-228600" algn="l" defTabSz="914400">
        <a:spcBef>
          <a:spcPct val="20000"/>
        </a:spcBef>
        <a:buFont typeface="Arial"/>
        <a:buChar char="•"/>
        <a:defRPr sz="2000" kern="1200">
          <a:solidFill>
            <a:schemeClr val="tx1"/>
          </a:solidFill>
          <a:latin typeface="Pretendard"/>
          <a:ea typeface="Pretendard"/>
          <a:cs typeface="Pretendard"/>
        </a:defRPr>
      </a:lvl9pPr>
    </p:bodyStyle>
    <p:otherStyle>
      <a:lvl1pPr marL="0" algn="l" defTabSz="914400">
        <a:buNone/>
        <a:defRPr sz="1800" kern="1200">
          <a:solidFill>
            <a:schemeClr val="tx1"/>
          </a:solidFill>
          <a:latin typeface="Pretendard"/>
          <a:ea typeface="Pretendard"/>
          <a:cs typeface="Pretendard"/>
        </a:defRPr>
      </a:lvl1pPr>
      <a:lvl2pPr marL="457200" algn="l" defTabSz="914400">
        <a:buNone/>
        <a:defRPr sz="1800" kern="1200">
          <a:solidFill>
            <a:schemeClr val="tx1"/>
          </a:solidFill>
          <a:latin typeface="Pretendard"/>
          <a:ea typeface="Pretendard"/>
          <a:cs typeface="Pretendard"/>
        </a:defRPr>
      </a:lvl2pPr>
      <a:lvl3pPr marL="914400" algn="l" defTabSz="914400">
        <a:buNone/>
        <a:defRPr sz="1800" kern="1200">
          <a:solidFill>
            <a:schemeClr val="tx1"/>
          </a:solidFill>
          <a:latin typeface="Pretendard"/>
          <a:ea typeface="Pretendard"/>
          <a:cs typeface="Pretendard"/>
        </a:defRPr>
      </a:lvl3pPr>
      <a:lvl4pPr marL="1371600" algn="l" defTabSz="914400">
        <a:buNone/>
        <a:defRPr sz="1800" kern="1200">
          <a:solidFill>
            <a:schemeClr val="tx1"/>
          </a:solidFill>
          <a:latin typeface="Pretendard"/>
          <a:ea typeface="Pretendard"/>
          <a:cs typeface="Pretendard"/>
        </a:defRPr>
      </a:lvl4pPr>
      <a:lvl5pPr marL="1828800" algn="l" defTabSz="914400">
        <a:buNone/>
        <a:defRPr sz="1800" kern="1200">
          <a:solidFill>
            <a:schemeClr val="tx1"/>
          </a:solidFill>
          <a:latin typeface="Pretendard"/>
          <a:ea typeface="Pretendard"/>
          <a:cs typeface="Pretendard"/>
        </a:defRPr>
      </a:lvl5pPr>
      <a:lvl6pPr marL="2286000" algn="l" defTabSz="914400">
        <a:buNone/>
        <a:defRPr sz="1800" kern="1200">
          <a:solidFill>
            <a:schemeClr val="tx1"/>
          </a:solidFill>
          <a:latin typeface="Pretendard"/>
          <a:ea typeface="Pretendard"/>
          <a:cs typeface="Pretendard"/>
        </a:defRPr>
      </a:lvl6pPr>
      <a:lvl7pPr marL="2743200" algn="l" defTabSz="914400">
        <a:buNone/>
        <a:defRPr sz="1800" kern="1200">
          <a:solidFill>
            <a:schemeClr val="tx1"/>
          </a:solidFill>
          <a:latin typeface="Pretendard"/>
          <a:ea typeface="Pretendard"/>
          <a:cs typeface="Pretendard"/>
        </a:defRPr>
      </a:lvl7pPr>
      <a:lvl8pPr marL="3200400" algn="l" defTabSz="914400">
        <a:buNone/>
        <a:defRPr sz="1800" kern="1200">
          <a:solidFill>
            <a:schemeClr val="tx1"/>
          </a:solidFill>
          <a:latin typeface="Pretendard"/>
          <a:ea typeface="Pretendard"/>
          <a:cs typeface="Pretendard"/>
        </a:defRPr>
      </a:lvl8pPr>
      <a:lvl9pPr marL="3657600" algn="l" defTabSz="914400">
        <a:buNone/>
        <a:defRPr sz="1800" kern="1200">
          <a:solidFill>
            <a:schemeClr val="tx1"/>
          </a:solidFill>
          <a:latin typeface="Pretendard"/>
          <a:ea typeface="Pretendard"/>
          <a:cs typeface="Pretendard"/>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a:extLst>
              <a:ext uri="{FF2B5EF4-FFF2-40B4-BE49-F238E27FC236}">
                <a16:creationId xmlns:a16="http://schemas.microsoft.com/office/drawing/2014/main" id="{AA82C679-B6CC-4624-A60C-34315B560BF8}"/>
              </a:ext>
            </a:extLst>
          </p:cNvPr>
          <p:cNvSpPr>
            <a:spLocks noGrp="1"/>
          </p:cNvSpPr>
          <p:nvPr/>
        </p:nvSpPr>
        <p:spPr>
          <a:xfrm>
            <a:off x="0" y="0"/>
            <a:ext cx="12188952" cy="6858000"/>
          </a:xfrm>
          <a:prstGeom prst="rect">
            <a:avLst/>
          </a:prstGeom>
          <a:solidFill>
            <a:srgbClr val="1E2761"/>
          </a:solidFill>
        </p:spPr>
        <p:txBody>
          <a:bodyPr/>
          <a:lstStyle/>
          <a:p>
            <a:endParaRPr/>
          </a:p>
        </p:txBody>
      </p:sp>
      <p:sp>
        <p:nvSpPr>
          <p:cNvPr id="3" name="Text">
            <a:extLst>
              <a:ext uri="{FF2B5EF4-FFF2-40B4-BE49-F238E27FC236}">
                <a16:creationId xmlns:a16="http://schemas.microsoft.com/office/drawing/2014/main" id="{86A4E82D-BED3-4E65-9E81-343D9B0E572E}"/>
              </a:ext>
            </a:extLst>
          </p:cNvPr>
          <p:cNvSpPr>
            <a:spLocks noGrp="1"/>
          </p:cNvSpPr>
          <p:nvPr/>
        </p:nvSpPr>
        <p:spPr>
          <a:xfrm>
            <a:off x="1097280" y="2103120"/>
            <a:ext cx="10058400" cy="411480"/>
          </a:xfrm>
          <a:prstGeom prst="rect">
            <a:avLst/>
          </a:prstGeom>
          <a:noFill/>
        </p:spPr>
        <p:txBody>
          <a:bodyPr wrap="square" lIns="0" tIns="0" rIns="0" bIns="0" anchor="ctr"/>
          <a:lstStyle/>
          <a:p>
            <a:pPr marL="0" indent="0">
              <a:buNone/>
            </a:pPr>
            <a:r>
              <a:rPr sz="1600" b="0">
                <a:solidFill>
                  <a:srgbClr val="AFBBD9"/>
                </a:solidFill>
                <a:latin typeface="Pretendard"/>
                <a:ea typeface="Pretendard"/>
                <a:cs typeface="Pretendard"/>
              </a:rPr>
              <a:t>범죄 · 공공안전세미나 Ⅱ</a:t>
            </a:r>
          </a:p>
        </p:txBody>
      </p:sp>
      <p:sp>
        <p:nvSpPr>
          <p:cNvPr id="4" name="Text">
            <a:extLst>
              <a:ext uri="{FF2B5EF4-FFF2-40B4-BE49-F238E27FC236}">
                <a16:creationId xmlns:a16="http://schemas.microsoft.com/office/drawing/2014/main" id="{3606B304-1FC1-4C1A-84C4-7293FFB6274B}"/>
              </a:ext>
            </a:extLst>
          </p:cNvPr>
          <p:cNvSpPr>
            <a:spLocks noGrp="1"/>
          </p:cNvSpPr>
          <p:nvPr/>
        </p:nvSpPr>
        <p:spPr>
          <a:xfrm>
            <a:off x="1097280" y="2761488"/>
            <a:ext cx="10058400" cy="603504"/>
          </a:xfrm>
          <a:prstGeom prst="rect">
            <a:avLst/>
          </a:prstGeom>
          <a:noFill/>
        </p:spPr>
        <p:txBody>
          <a:bodyPr wrap="square" lIns="0" tIns="0" rIns="0" bIns="0" anchor="ctr"/>
          <a:lstStyle/>
          <a:p>
            <a:pPr marL="0" indent="0">
              <a:buNone/>
            </a:pPr>
            <a:r>
              <a:rPr sz="4000" b="1">
                <a:solidFill>
                  <a:srgbClr val="FFFFFF"/>
                </a:solidFill>
                <a:latin typeface="Pretendard"/>
                <a:ea typeface="Pretendard"/>
                <a:cs typeface="Pretendard"/>
              </a:rPr>
              <a:t>형사미성년자 기준 내지 촉법소년</a:t>
            </a:r>
            <a:endParaRPr sz="1100">
              <a:latin typeface="Pretendard"/>
              <a:ea typeface="Pretendard"/>
              <a:cs typeface="Pretendard"/>
            </a:endParaRPr>
          </a:p>
        </p:txBody>
      </p:sp>
      <p:sp>
        <p:nvSpPr>
          <p:cNvPr id="5" name="Text">
            <a:extLst>
              <a:ext uri="{FF2B5EF4-FFF2-40B4-BE49-F238E27FC236}">
                <a16:creationId xmlns:a16="http://schemas.microsoft.com/office/drawing/2014/main" id="{F622A40C-AFD9-46EC-AFC6-782071830B83}"/>
              </a:ext>
            </a:extLst>
          </p:cNvPr>
          <p:cNvSpPr>
            <a:spLocks noGrp="1"/>
          </p:cNvSpPr>
          <p:nvPr/>
        </p:nvSpPr>
        <p:spPr>
          <a:xfrm>
            <a:off x="1097280" y="3456432"/>
            <a:ext cx="10058400" cy="603504"/>
          </a:xfrm>
          <a:prstGeom prst="rect">
            <a:avLst/>
          </a:prstGeom>
          <a:noFill/>
        </p:spPr>
        <p:txBody>
          <a:bodyPr wrap="square" lIns="0" tIns="0" rIns="0" bIns="0" anchor="ctr"/>
          <a:lstStyle/>
          <a:p>
            <a:pPr marL="0" indent="0">
              <a:buNone/>
            </a:pPr>
            <a:r>
              <a:rPr sz="4000" b="1">
                <a:solidFill>
                  <a:srgbClr val="FFFFFF"/>
                </a:solidFill>
                <a:latin typeface="Pretendard"/>
                <a:ea typeface="Pretendard"/>
                <a:cs typeface="Pretendard"/>
              </a:rPr>
              <a:t>상한 연령을 하향하여야 하는가?</a:t>
            </a:r>
          </a:p>
        </p:txBody>
      </p:sp>
      <p:sp>
        <p:nvSpPr>
          <p:cNvPr id="6" name="Shape 2">
            <a:extLst>
              <a:ext uri="{FF2B5EF4-FFF2-40B4-BE49-F238E27FC236}">
                <a16:creationId xmlns:a16="http://schemas.microsoft.com/office/drawing/2014/main" id="{6B23B8A7-5B82-416C-B104-2A67B0F62596}"/>
              </a:ext>
            </a:extLst>
          </p:cNvPr>
          <p:cNvSpPr>
            <a:spLocks noGrp="1"/>
          </p:cNvSpPr>
          <p:nvPr/>
        </p:nvSpPr>
        <p:spPr>
          <a:xfrm>
            <a:off x="1097280" y="4315968"/>
            <a:ext cx="1463040" cy="28575"/>
          </a:xfrm>
          <a:prstGeom prst="rect">
            <a:avLst/>
          </a:prstGeom>
          <a:solidFill>
            <a:srgbClr val="C2A648"/>
          </a:solidFill>
          <a:ln w="0">
            <a:noFill/>
          </a:ln>
        </p:spPr>
        <p:style>
          <a:lnRef idx="0">
            <a:scrgbClr r="0" g="0" b="0"/>
          </a:lnRef>
          <a:fillRef idx="0">
            <a:scrgbClr r="0" g="0" b="0"/>
          </a:fillRef>
          <a:effectRef idx="0">
            <a:scrgbClr r="0" g="0" b="0"/>
          </a:effectRef>
          <a:fontRef idx="minor"/>
        </p:style>
        <p:txBody>
          <a:bodyPr lIns="90000" tIns="-8280" rIns="90000" bIns="-8280" anchor="ctr">
            <a:noAutofit/>
          </a:bodyPr>
          <a:lstStyle/>
          <a:p>
            <a:pPr defTabSz="914400">
              <a:lnSpc>
                <a:spcPct val="118000"/>
              </a:lnSpc>
              <a:buNone/>
            </a:pPr>
            <a:endParaRPr sz="1800" b="0" u="none">
              <a:solidFill>
                <a:srgbClr val="000000"/>
              </a:solidFill>
              <a:latin typeface="Pretendard"/>
              <a:ea typeface="Pretendard"/>
              <a:cs typeface="Pretendard"/>
            </a:endParaRPr>
          </a:p>
        </p:txBody>
      </p:sp>
      <p:sp>
        <p:nvSpPr>
          <p:cNvPr id="7" name="Text">
            <a:extLst>
              <a:ext uri="{FF2B5EF4-FFF2-40B4-BE49-F238E27FC236}">
                <a16:creationId xmlns:a16="http://schemas.microsoft.com/office/drawing/2014/main" id="{D3745086-1F0B-4CA0-BD6C-C6E231D41202}"/>
              </a:ext>
            </a:extLst>
          </p:cNvPr>
          <p:cNvSpPr>
            <a:spLocks noGrp="1"/>
          </p:cNvSpPr>
          <p:nvPr/>
        </p:nvSpPr>
        <p:spPr>
          <a:xfrm>
            <a:off x="1097280" y="4590288"/>
            <a:ext cx="10058400" cy="365760"/>
          </a:xfrm>
          <a:prstGeom prst="rect">
            <a:avLst/>
          </a:prstGeom>
          <a:noFill/>
        </p:spPr>
        <p:txBody>
          <a:bodyPr wrap="square" lIns="0" tIns="0" rIns="0" bIns="0" anchor="ctr"/>
          <a:lstStyle/>
          <a:p>
            <a:pPr marL="0" indent="0">
              <a:buNone/>
            </a:pPr>
            <a:r>
              <a:rPr sz="1400" b="0">
                <a:solidFill>
                  <a:srgbClr val="C9D2E6"/>
                </a:solidFill>
                <a:latin typeface="Pretendard"/>
                <a:ea typeface="Pretendard"/>
                <a:cs typeface="Pretendard"/>
              </a:rPr>
              <a:t>워밍업(2)</a:t>
            </a:r>
          </a:p>
        </p:txBody>
      </p:sp>
      <p:sp>
        <p:nvSpPr>
          <p:cNvPr id="8" name="Text">
            <a:extLst>
              <a:ext uri="{FF2B5EF4-FFF2-40B4-BE49-F238E27FC236}">
                <a16:creationId xmlns:a16="http://schemas.microsoft.com/office/drawing/2014/main" id="{02C3E3EC-5CB3-4214-96B0-98D086FE66ED}"/>
              </a:ext>
            </a:extLst>
          </p:cNvPr>
          <p:cNvSpPr>
            <a:spLocks noGrp="1"/>
          </p:cNvSpPr>
          <p:nvPr/>
        </p:nvSpPr>
        <p:spPr>
          <a:xfrm>
            <a:off x="1097280" y="5486400"/>
            <a:ext cx="10058400" cy="365760"/>
          </a:xfrm>
          <a:prstGeom prst="rect">
            <a:avLst/>
          </a:prstGeom>
          <a:noFill/>
        </p:spPr>
        <p:txBody>
          <a:bodyPr wrap="square" lIns="0" tIns="0" rIns="0" bIns="0" anchor="ctr"/>
          <a:lstStyle/>
          <a:p>
            <a:pPr marL="0" indent="0" algn="l">
              <a:lnSpc>
                <a:spcPct val="118000"/>
              </a:lnSpc>
              <a:buNone/>
            </a:pPr>
            <a:r>
              <a:rPr sz="1200" b="0">
                <a:solidFill>
                  <a:srgbClr val="8A97BC"/>
                </a:solidFill>
                <a:latin typeface="Pretendard"/>
                <a:ea typeface="Pretendard"/>
                <a:cs typeface="Pretendard"/>
              </a:rPr>
              <a:t>2026학년도 2학기 · 3주차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sz="1050" b="0">
                <a:solidFill>
                  <a:srgbClr val="6E7686"/>
                </a:solidFill>
                <a:latin typeface="Pretendard"/>
              </a:rPr>
              <a:t>다음 → 조문으로 보는 두 기준</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오늘 볼 것</a:t>
            </a:r>
          </a:p>
        </p:txBody>
      </p:sp>
      <p:sp>
        <p:nvSpPr>
          <p:cNvPr id="13" name="line13"/>
          <p:cNvSpPr/>
          <p:nvPr/>
        </p:nvSpPr>
        <p:spPr>
          <a:xfrm>
            <a:off x="731520" y="1389888"/>
            <a:ext cx="10725912" cy="0"/>
          </a:xfrm>
          <a:prstGeom prst="line">
            <a:avLst/>
          </a:prstGeom>
          <a:ln w="19050">
            <a:solidFill>
              <a:srgbClr val="1E2761"/>
            </a:solidFill>
          </a:ln>
        </p:spPr>
        <p:txBody>
          <a:bodyPr/>
          <a:lstStyle/>
          <a:p>
            <a:endParaRPr/>
          </a:p>
        </p:txBody>
      </p:sp>
      <p:sp>
        <p:nvSpPr>
          <p:cNvPr id="14" name="tu0"/>
          <p:cNvSpPr txBox="1"/>
          <p:nvPr/>
        </p:nvSpPr>
        <p:spPr>
          <a:xfrm>
            <a:off x="731520" y="1572768"/>
            <a:ext cx="3474720" cy="592074"/>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형사책임연령과 현행 대응</a:t>
            </a:r>
          </a:p>
        </p:txBody>
      </p:sp>
      <p:sp>
        <p:nvSpPr>
          <p:cNvPr id="15" name="ti0"/>
          <p:cNvSpPr txBox="1"/>
          <p:nvPr/>
        </p:nvSpPr>
        <p:spPr>
          <a:xfrm>
            <a:off x="4343400" y="1572768"/>
            <a:ext cx="7114032" cy="592074"/>
          </a:xfrm>
          <a:prstGeom prst="rect">
            <a:avLst/>
          </a:prstGeom>
          <a:noFill/>
        </p:spPr>
        <p:txBody>
          <a:bodyPr wrap="square" lIns="0" tIns="27432" rIns="0" bIns="27432" anchor="ctr">
            <a:noAutofit/>
          </a:bodyPr>
          <a:lstStyle/>
          <a:p>
            <a:pPr algn="l">
              <a:lnSpc>
                <a:spcPct val="118000"/>
              </a:lnSpc>
            </a:pPr>
            <a:r>
              <a:rPr sz="1200" b="0" dirty="0" err="1">
                <a:solidFill>
                  <a:srgbClr val="222633"/>
                </a:solidFill>
                <a:latin typeface="Pretendard"/>
              </a:rPr>
              <a:t>조문·연령·처리경로·응보·예방·보호·보호처분·기록·통계</a:t>
            </a:r>
            <a:endParaRPr sz="1200" b="0" dirty="0">
              <a:solidFill>
                <a:srgbClr val="222633"/>
              </a:solidFill>
              <a:latin typeface="Pretendard"/>
            </a:endParaRPr>
          </a:p>
        </p:txBody>
      </p:sp>
      <p:sp>
        <p:nvSpPr>
          <p:cNvPr id="16" name="line16"/>
          <p:cNvSpPr/>
          <p:nvPr/>
        </p:nvSpPr>
        <p:spPr>
          <a:xfrm>
            <a:off x="731520" y="2164842"/>
            <a:ext cx="10725912" cy="0"/>
          </a:xfrm>
          <a:prstGeom prst="line">
            <a:avLst/>
          </a:prstGeom>
          <a:ln w="9525">
            <a:solidFill>
              <a:srgbClr val="DCE0E8"/>
            </a:solidFill>
          </a:ln>
        </p:spPr>
        <p:txBody>
          <a:bodyPr/>
          <a:lstStyle/>
          <a:p>
            <a:endParaRPr/>
          </a:p>
        </p:txBody>
      </p:sp>
      <p:sp>
        <p:nvSpPr>
          <p:cNvPr id="17" name="tu1"/>
          <p:cNvSpPr txBox="1"/>
          <p:nvPr/>
        </p:nvSpPr>
        <p:spPr>
          <a:xfrm>
            <a:off x="731520" y="2164842"/>
            <a:ext cx="3474720" cy="592074"/>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응보·예방·보호와 현행제도의 한계</a:t>
            </a:r>
          </a:p>
        </p:txBody>
      </p:sp>
      <p:sp>
        <p:nvSpPr>
          <p:cNvPr id="18" name="ti1"/>
          <p:cNvSpPr txBox="1"/>
          <p:nvPr/>
        </p:nvSpPr>
        <p:spPr>
          <a:xfrm>
            <a:off x="4343400" y="2164842"/>
            <a:ext cx="7114032" cy="592074"/>
          </a:xfrm>
          <a:prstGeom prst="rect">
            <a:avLst/>
          </a:prstGeom>
          <a:noFill/>
        </p:spPr>
        <p:txBody>
          <a:bodyPr wrap="square" lIns="0" tIns="27432" rIns="0" bIns="27432" anchor="ctr">
            <a:noAutofit/>
          </a:bodyPr>
          <a:lstStyle/>
          <a:p>
            <a:pPr algn="l">
              <a:lnSpc>
                <a:spcPct val="118000"/>
              </a:lnSpc>
            </a:pPr>
            <a:r>
              <a:rPr sz="1200" b="0">
                <a:solidFill>
                  <a:srgbClr val="222633"/>
                </a:solidFill>
                <a:latin typeface="Pretendard"/>
              </a:rPr>
              <a:t>13세의 보호처분·전건송치·조사근거·분류심사원·시설수용과 권리·처분선택·지역자원</a:t>
            </a:r>
          </a:p>
        </p:txBody>
      </p:sp>
      <p:sp>
        <p:nvSpPr>
          <p:cNvPr id="19" name="line19"/>
          <p:cNvSpPr/>
          <p:nvPr/>
        </p:nvSpPr>
        <p:spPr>
          <a:xfrm>
            <a:off x="731520" y="2756916"/>
            <a:ext cx="10725912" cy="0"/>
          </a:xfrm>
          <a:prstGeom prst="line">
            <a:avLst/>
          </a:prstGeom>
          <a:ln w="9525">
            <a:solidFill>
              <a:srgbClr val="DCE0E8"/>
            </a:solidFill>
          </a:ln>
        </p:spPr>
        <p:txBody>
          <a:bodyPr/>
          <a:lstStyle/>
          <a:p>
            <a:endParaRPr/>
          </a:p>
        </p:txBody>
      </p:sp>
      <p:sp>
        <p:nvSpPr>
          <p:cNvPr id="20" name="tu2"/>
          <p:cNvSpPr txBox="1"/>
          <p:nvPr/>
        </p:nvSpPr>
        <p:spPr>
          <a:xfrm>
            <a:off x="731520" y="2756916"/>
            <a:ext cx="3474720" cy="592074"/>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공론화와 세 정책대안</a:t>
            </a:r>
          </a:p>
        </p:txBody>
      </p:sp>
      <p:sp>
        <p:nvSpPr>
          <p:cNvPr id="21" name="ti2"/>
          <p:cNvSpPr txBox="1"/>
          <p:nvPr/>
        </p:nvSpPr>
        <p:spPr>
          <a:xfrm>
            <a:off x="4343400" y="2756916"/>
            <a:ext cx="7114032" cy="592074"/>
          </a:xfrm>
          <a:prstGeom prst="rect">
            <a:avLst/>
          </a:prstGeom>
          <a:noFill/>
        </p:spPr>
        <p:txBody>
          <a:bodyPr wrap="square" lIns="0" tIns="27432" rIns="0" bIns="27432" anchor="ctr">
            <a:noAutofit/>
          </a:bodyPr>
          <a:lstStyle/>
          <a:p>
            <a:pPr algn="l">
              <a:lnSpc>
                <a:spcPct val="118000"/>
              </a:lnSpc>
            </a:pPr>
            <a:r>
              <a:rPr sz="1200" b="0">
                <a:solidFill>
                  <a:srgbClr val="222633"/>
                </a:solidFill>
                <a:latin typeface="Pretendard"/>
              </a:rPr>
              <a:t>시민숙의·협의체 권고·현행 유지·조건부 하향·일괄 하향</a:t>
            </a:r>
          </a:p>
        </p:txBody>
      </p:sp>
      <p:sp>
        <p:nvSpPr>
          <p:cNvPr id="22" name="line22"/>
          <p:cNvSpPr/>
          <p:nvPr/>
        </p:nvSpPr>
        <p:spPr>
          <a:xfrm>
            <a:off x="731520" y="3348990"/>
            <a:ext cx="10725912" cy="0"/>
          </a:xfrm>
          <a:prstGeom prst="line">
            <a:avLst/>
          </a:prstGeom>
          <a:ln w="9525">
            <a:solidFill>
              <a:srgbClr val="DCE0E8"/>
            </a:solidFill>
          </a:ln>
        </p:spPr>
        <p:txBody>
          <a:bodyPr/>
          <a:lstStyle/>
          <a:p>
            <a:endParaRPr/>
          </a:p>
        </p:txBody>
      </p:sp>
      <p:sp>
        <p:nvSpPr>
          <p:cNvPr id="23" name="tu3"/>
          <p:cNvSpPr txBox="1"/>
          <p:nvPr/>
        </p:nvSpPr>
        <p:spPr>
          <a:xfrm>
            <a:off x="731520" y="3348990"/>
            <a:ext cx="3474720" cy="592074"/>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연령 기준의 설계와 법적 한계</a:t>
            </a:r>
          </a:p>
        </p:txBody>
      </p:sp>
      <p:sp>
        <p:nvSpPr>
          <p:cNvPr id="24" name="ti3"/>
          <p:cNvSpPr txBox="1"/>
          <p:nvPr/>
        </p:nvSpPr>
        <p:spPr>
          <a:xfrm>
            <a:off x="4343400" y="3348990"/>
            <a:ext cx="7114032" cy="592074"/>
          </a:xfrm>
          <a:prstGeom prst="rect">
            <a:avLst/>
          </a:prstGeom>
          <a:noFill/>
        </p:spPr>
        <p:txBody>
          <a:bodyPr wrap="square" lIns="0" tIns="27432" rIns="0" bIns="27432" anchor="ctr">
            <a:noAutofit/>
          </a:bodyPr>
          <a:lstStyle/>
          <a:p>
            <a:pPr algn="l">
              <a:lnSpc>
                <a:spcPct val="118000"/>
              </a:lnSpc>
            </a:pPr>
            <a:r>
              <a:rPr sz="1200" b="0">
                <a:solidFill>
                  <a:srgbClr val="222633"/>
                </a:solidFill>
                <a:latin typeface="Pretendard"/>
              </a:rPr>
              <a:t>중대·반복 요건·헌재 판단·국가별 제도·UN 일반논평</a:t>
            </a:r>
          </a:p>
        </p:txBody>
      </p:sp>
      <p:sp>
        <p:nvSpPr>
          <p:cNvPr id="25" name="line25"/>
          <p:cNvSpPr/>
          <p:nvPr/>
        </p:nvSpPr>
        <p:spPr>
          <a:xfrm>
            <a:off x="731520" y="3941064"/>
            <a:ext cx="10725912" cy="0"/>
          </a:xfrm>
          <a:prstGeom prst="line">
            <a:avLst/>
          </a:prstGeom>
          <a:ln w="9525">
            <a:solidFill>
              <a:srgbClr val="DCE0E8"/>
            </a:solidFill>
          </a:ln>
        </p:spPr>
        <p:txBody>
          <a:bodyPr/>
          <a:lstStyle/>
          <a:p>
            <a:endParaRPr/>
          </a:p>
        </p:txBody>
      </p:sp>
      <p:sp>
        <p:nvSpPr>
          <p:cNvPr id="26" name="tu4"/>
          <p:cNvSpPr txBox="1"/>
          <p:nvPr/>
        </p:nvSpPr>
        <p:spPr>
          <a:xfrm>
            <a:off x="731520" y="3941064"/>
            <a:ext cx="3474720" cy="592074"/>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연령 하향의 범죄예방 효과</a:t>
            </a:r>
          </a:p>
        </p:txBody>
      </p:sp>
      <p:sp>
        <p:nvSpPr>
          <p:cNvPr id="27" name="ti4"/>
          <p:cNvSpPr txBox="1"/>
          <p:nvPr/>
        </p:nvSpPr>
        <p:spPr>
          <a:xfrm>
            <a:off x="4343400" y="3941064"/>
            <a:ext cx="7114032" cy="592074"/>
          </a:xfrm>
          <a:prstGeom prst="rect">
            <a:avLst/>
          </a:prstGeom>
          <a:noFill/>
        </p:spPr>
        <p:txBody>
          <a:bodyPr wrap="square" lIns="0" tIns="27432" rIns="0" bIns="27432" anchor="ctr">
            <a:noAutofit/>
          </a:bodyPr>
          <a:lstStyle/>
          <a:p>
            <a:pPr algn="l">
              <a:lnSpc>
                <a:spcPct val="118000"/>
              </a:lnSpc>
            </a:pPr>
            <a:r>
              <a:rPr sz="1200" b="0">
                <a:solidFill>
                  <a:srgbClr val="222633"/>
                </a:solidFill>
                <a:latin typeface="Pretendard"/>
              </a:rPr>
              <a:t>덴마크 책임연령 변경·관찰된 결과·한국과의 제도 차이</a:t>
            </a:r>
          </a:p>
        </p:txBody>
      </p:sp>
      <p:sp>
        <p:nvSpPr>
          <p:cNvPr id="28" name="line28"/>
          <p:cNvSpPr/>
          <p:nvPr/>
        </p:nvSpPr>
        <p:spPr>
          <a:xfrm>
            <a:off x="731520" y="4533138"/>
            <a:ext cx="10725912" cy="0"/>
          </a:xfrm>
          <a:prstGeom prst="line">
            <a:avLst/>
          </a:prstGeom>
          <a:ln w="9525">
            <a:solidFill>
              <a:srgbClr val="DCE0E8"/>
            </a:solidFill>
          </a:ln>
        </p:spPr>
        <p:txBody>
          <a:bodyPr/>
          <a:lstStyle/>
          <a:p>
            <a:endParaRPr/>
          </a:p>
        </p:txBody>
      </p:sp>
      <p:sp>
        <p:nvSpPr>
          <p:cNvPr id="29" name="tu5"/>
          <p:cNvSpPr txBox="1"/>
          <p:nvPr/>
        </p:nvSpPr>
        <p:spPr>
          <a:xfrm>
            <a:off x="731520" y="4533138"/>
            <a:ext cx="3474720" cy="592074"/>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발달과 조사·재판의 권리보장</a:t>
            </a:r>
          </a:p>
        </p:txBody>
      </p:sp>
      <p:sp>
        <p:nvSpPr>
          <p:cNvPr id="30" name="ti5"/>
          <p:cNvSpPr txBox="1"/>
          <p:nvPr/>
        </p:nvSpPr>
        <p:spPr>
          <a:xfrm>
            <a:off x="4343400" y="4533138"/>
            <a:ext cx="7114032" cy="592074"/>
          </a:xfrm>
          <a:prstGeom prst="rect">
            <a:avLst/>
          </a:prstGeom>
          <a:noFill/>
        </p:spPr>
        <p:txBody>
          <a:bodyPr wrap="square" lIns="0" tIns="27432" rIns="0" bIns="27432" anchor="ctr">
            <a:noAutofit/>
          </a:bodyPr>
          <a:lstStyle/>
          <a:p>
            <a:pPr algn="l">
              <a:lnSpc>
                <a:spcPct val="118000"/>
              </a:lnSpc>
            </a:pPr>
            <a:r>
              <a:rPr sz="1200" b="0">
                <a:solidFill>
                  <a:srgbClr val="222633"/>
                </a:solidFill>
                <a:latin typeface="Pretendard"/>
              </a:rPr>
              <a:t>자기통제·재판참여능력·보호절차와 형사절차의 권리보장</a:t>
            </a:r>
          </a:p>
        </p:txBody>
      </p:sp>
      <p:sp>
        <p:nvSpPr>
          <p:cNvPr id="31" name="line31"/>
          <p:cNvSpPr/>
          <p:nvPr/>
        </p:nvSpPr>
        <p:spPr>
          <a:xfrm>
            <a:off x="731520" y="5125212"/>
            <a:ext cx="10725912" cy="0"/>
          </a:xfrm>
          <a:prstGeom prst="line">
            <a:avLst/>
          </a:prstGeom>
          <a:ln w="9525">
            <a:solidFill>
              <a:srgbClr val="DCE0E8"/>
            </a:solidFill>
          </a:ln>
        </p:spPr>
        <p:txBody>
          <a:bodyPr/>
          <a:lstStyle/>
          <a:p>
            <a:endParaRPr/>
          </a:p>
        </p:txBody>
      </p:sp>
      <p:sp>
        <p:nvSpPr>
          <p:cNvPr id="32" name="tu6"/>
          <p:cNvSpPr txBox="1"/>
          <p:nvPr/>
        </p:nvSpPr>
        <p:spPr>
          <a:xfrm>
            <a:off x="731520" y="5125212"/>
            <a:ext cx="3474720" cy="592074"/>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소년사법 개선과 피해자 보호</a:t>
            </a:r>
          </a:p>
        </p:txBody>
      </p:sp>
      <p:sp>
        <p:nvSpPr>
          <p:cNvPr id="33" name="ti6"/>
          <p:cNvSpPr txBox="1"/>
          <p:nvPr/>
        </p:nvSpPr>
        <p:spPr>
          <a:xfrm>
            <a:off x="4343400" y="5125212"/>
            <a:ext cx="7114032" cy="592074"/>
          </a:xfrm>
          <a:prstGeom prst="rect">
            <a:avLst/>
          </a:prstGeom>
          <a:noFill/>
        </p:spPr>
        <p:txBody>
          <a:bodyPr wrap="square" lIns="0" tIns="27432" rIns="0" bIns="27432" anchor="ctr">
            <a:noAutofit/>
          </a:bodyPr>
          <a:lstStyle/>
          <a:p>
            <a:pPr algn="l">
              <a:lnSpc>
                <a:spcPct val="118000"/>
              </a:lnSpc>
            </a:pPr>
            <a:r>
              <a:rPr sz="1200" b="0">
                <a:solidFill>
                  <a:srgbClr val="222633"/>
                </a:solidFill>
                <a:latin typeface="Pretendard"/>
              </a:rPr>
              <a:t>제도개선 권고·피해자 참여와 회복·개입의 실행 조건</a:t>
            </a:r>
          </a:p>
        </p:txBody>
      </p:sp>
      <p:sp>
        <p:nvSpPr>
          <p:cNvPr id="34" name="line34"/>
          <p:cNvSpPr/>
          <p:nvPr/>
        </p:nvSpPr>
        <p:spPr>
          <a:xfrm>
            <a:off x="731520" y="5717286"/>
            <a:ext cx="10725912" cy="0"/>
          </a:xfrm>
          <a:prstGeom prst="line">
            <a:avLst/>
          </a:prstGeom>
          <a:ln w="9525">
            <a:solidFill>
              <a:srgbClr val="DCE0E8"/>
            </a:solidFill>
          </a:ln>
        </p:spPr>
        <p:txBody>
          <a:bodyPr/>
          <a:lstStyle/>
          <a:p>
            <a:endParaRPr/>
          </a:p>
        </p:txBody>
      </p:sp>
      <p:sp>
        <p:nvSpPr>
          <p:cNvPr id="35" name="tu7"/>
          <p:cNvSpPr txBox="1"/>
          <p:nvPr/>
        </p:nvSpPr>
        <p:spPr>
          <a:xfrm>
            <a:off x="731520" y="5717286"/>
            <a:ext cx="3474720" cy="592074"/>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주요 논거와 최종 판단</a:t>
            </a:r>
          </a:p>
        </p:txBody>
      </p:sp>
      <p:sp>
        <p:nvSpPr>
          <p:cNvPr id="36" name="ti7"/>
          <p:cNvSpPr txBox="1"/>
          <p:nvPr/>
        </p:nvSpPr>
        <p:spPr>
          <a:xfrm>
            <a:off x="4343400" y="5717286"/>
            <a:ext cx="7114032" cy="592074"/>
          </a:xfrm>
          <a:prstGeom prst="rect">
            <a:avLst/>
          </a:prstGeom>
          <a:noFill/>
        </p:spPr>
        <p:txBody>
          <a:bodyPr wrap="square" lIns="0" tIns="27432" rIns="0" bIns="27432" anchor="ctr">
            <a:noAutofit/>
          </a:bodyPr>
          <a:lstStyle/>
          <a:p>
            <a:pPr algn="l">
              <a:lnSpc>
                <a:spcPct val="118000"/>
              </a:lnSpc>
            </a:pPr>
            <a:r>
              <a:rPr lang="ko-KR" sz="1200" b="0" dirty="0">
                <a:solidFill>
                  <a:srgbClr val="222633"/>
                </a:solidFill>
                <a:latin typeface="Pretendard"/>
                <a:ea typeface="Pretendard"/>
                <a:cs typeface="Pretendard"/>
              </a:rPr>
              <a:t>책임의 정당성 · 형사책임 확대의 필요성 · 범죄예방 효과 · 절차·보호 · 주요 논거 · 네 물음</a:t>
            </a:r>
          </a:p>
        </p:txBody>
      </p:sp>
      <p:sp>
        <p:nvSpPr>
          <p:cNvPr id="37" name="line37"/>
          <p:cNvSpPr/>
          <p:nvPr/>
        </p:nvSpPr>
        <p:spPr>
          <a:xfrm>
            <a:off x="731520" y="6492240"/>
            <a:ext cx="10725912" cy="0"/>
          </a:xfrm>
          <a:prstGeom prst="line">
            <a:avLst/>
          </a:prstGeom>
          <a:ln w="19050">
            <a:solidFill>
              <a:srgbClr val="1E2761"/>
            </a:solidFill>
          </a:ln>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연령으로 보는 세 개념</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조문으로 보는 두 기준 — 형법 제9조와 소년법 제4조</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형법 제9조는 연령으로 형사책임을 배제하고, 소년법 제4조는 연령과 행위로 보호사건의 대상을 정한다.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731520" y="2468880"/>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형법 제9조</a:t>
            </a:r>
          </a:p>
        </p:txBody>
      </p:sp>
      <p:sp>
        <p:nvSpPr>
          <p:cNvPr id="17" name="b0"/>
          <p:cNvSpPr txBox="1"/>
          <p:nvPr/>
        </p:nvSpPr>
        <p:spPr>
          <a:xfrm>
            <a:off x="3154680" y="2468880"/>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조문 — “14세되지 아니한 자의 행위는 벌하지 아니한다.”</a:t>
            </a:r>
          </a:p>
          <a:p>
            <a:pPr algn="l">
              <a:lnSpc>
                <a:spcPct val="118000"/>
              </a:lnSpc>
              <a:spcAft>
                <a:spcPts val="500"/>
              </a:spcAft>
            </a:pPr>
            <a:r>
              <a:rPr lang="ko-KR" sz="1150" b="0" dirty="0">
                <a:solidFill>
                  <a:srgbClr val="464D5C"/>
                </a:solidFill>
                <a:latin typeface="Pretendard"/>
                <a:ea typeface="Pretendard"/>
                <a:cs typeface="Pretendard"/>
              </a:rPr>
              <a:t>효과 — 14세 미만에게 형사책임을 묻지 않는다.</a:t>
            </a:r>
          </a:p>
          <a:p>
            <a:pPr algn="l">
              <a:lnSpc>
                <a:spcPct val="118000"/>
              </a:lnSpc>
            </a:pPr>
            <a:r>
              <a:rPr lang="ko-KR" altLang="en-US" sz="1150" b="0" dirty="0">
                <a:solidFill>
                  <a:srgbClr val="464D5C"/>
                </a:solidFill>
                <a:latin typeface="Pretendard"/>
                <a:ea typeface="Pretendard"/>
                <a:cs typeface="Pretendard"/>
              </a:rPr>
              <a:t>연령만으로 구분한다</a:t>
            </a:r>
            <a:endParaRPr lang="ko-KR" sz="1150" b="0" dirty="0">
              <a:solidFill>
                <a:srgbClr val="464D5C"/>
              </a:solidFill>
              <a:latin typeface="Pretendard"/>
              <a:ea typeface="Pretendard"/>
              <a:cs typeface="Pretendard"/>
            </a:endParaRPr>
          </a:p>
        </p:txBody>
      </p:sp>
      <p:sp>
        <p:nvSpPr>
          <p:cNvPr id="18" name="line18"/>
          <p:cNvSpPr/>
          <p:nvPr/>
        </p:nvSpPr>
        <p:spPr>
          <a:xfrm>
            <a:off x="731520" y="3377184"/>
            <a:ext cx="10725912" cy="0"/>
          </a:xfrm>
          <a:prstGeom prst="line">
            <a:avLst/>
          </a:prstGeom>
          <a:ln w="9525">
            <a:solidFill>
              <a:srgbClr val="DCE0E8"/>
            </a:solidFill>
          </a:ln>
        </p:spPr>
        <p:txBody>
          <a:bodyPr/>
          <a:lstStyle/>
          <a:p>
            <a:endParaRPr/>
          </a:p>
        </p:txBody>
      </p:sp>
      <p:sp>
        <p:nvSpPr>
          <p:cNvPr id="19" name="h1"/>
          <p:cNvSpPr txBox="1"/>
          <p:nvPr/>
        </p:nvSpPr>
        <p:spPr>
          <a:xfrm>
            <a:off x="731520" y="3503676"/>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소년법 제4조</a:t>
            </a:r>
          </a:p>
        </p:txBody>
      </p:sp>
      <p:sp>
        <p:nvSpPr>
          <p:cNvPr id="20" name="b1"/>
          <p:cNvSpPr txBox="1"/>
          <p:nvPr/>
        </p:nvSpPr>
        <p:spPr>
          <a:xfrm>
            <a:off x="3154680" y="3503676"/>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조문 — “형벌 법령에 저촉되는 행위를 한 10세 이상 14세 미만인 소년”</a:t>
            </a:r>
          </a:p>
          <a:p>
            <a:pPr algn="l">
              <a:lnSpc>
                <a:spcPct val="118000"/>
              </a:lnSpc>
              <a:spcAft>
                <a:spcPts val="500"/>
              </a:spcAft>
            </a:pPr>
            <a:r>
              <a:rPr lang="ko-KR" sz="1150" b="0" dirty="0">
                <a:solidFill>
                  <a:srgbClr val="464D5C"/>
                </a:solidFill>
                <a:latin typeface="Pretendard"/>
                <a:ea typeface="Pretendard"/>
                <a:cs typeface="Pretendard"/>
              </a:rPr>
              <a:t>효과 — 해당 소년은 소년부 보호사건의 대상이 된다.</a:t>
            </a:r>
          </a:p>
          <a:p>
            <a:pPr algn="l">
              <a:lnSpc>
                <a:spcPct val="118000"/>
              </a:lnSpc>
            </a:pPr>
            <a:r>
              <a:rPr lang="ko-KR" sz="1150" b="0" dirty="0">
                <a:solidFill>
                  <a:srgbClr val="464D5C"/>
                </a:solidFill>
                <a:latin typeface="Pretendard"/>
                <a:ea typeface="Pretendard"/>
                <a:cs typeface="Pretendard"/>
              </a:rPr>
              <a:t>연령에 더해 형벌 법령에 저촉되는 행위라는 요건이 필요하다.</a:t>
            </a:r>
          </a:p>
        </p:txBody>
      </p:sp>
      <p:sp>
        <p:nvSpPr>
          <p:cNvPr id="21" name="line21"/>
          <p:cNvSpPr/>
          <p:nvPr/>
        </p:nvSpPr>
        <p:spPr>
          <a:xfrm>
            <a:off x="731520" y="4411979"/>
            <a:ext cx="10725912" cy="0"/>
          </a:xfrm>
          <a:prstGeom prst="line">
            <a:avLst/>
          </a:prstGeom>
          <a:ln w="9525">
            <a:solidFill>
              <a:srgbClr val="DCE0E8"/>
            </a:solidFill>
          </a:ln>
        </p:spPr>
        <p:txBody>
          <a:bodyPr/>
          <a:lstStyle/>
          <a:p>
            <a:endParaRPr/>
          </a:p>
        </p:txBody>
      </p:sp>
      <p:sp>
        <p:nvSpPr>
          <p:cNvPr id="22" name="h2"/>
          <p:cNvSpPr txBox="1"/>
          <p:nvPr/>
        </p:nvSpPr>
        <p:spPr>
          <a:xfrm>
            <a:off x="731520" y="4538472"/>
            <a:ext cx="2240280" cy="576072"/>
          </a:xfrm>
          <a:prstGeom prst="rect">
            <a:avLst/>
          </a:prstGeom>
          <a:noFill/>
        </p:spPr>
        <p:txBody>
          <a:bodyPr wrap="square" lIns="0" tIns="27432" rIns="0" bIns="27432" anchor="ctr">
            <a:noAutofit/>
          </a:bodyPr>
          <a:lstStyle/>
          <a:p>
            <a:pPr algn="ctr">
              <a:lnSpc>
                <a:spcPct val="118000"/>
              </a:lnSpc>
            </a:pPr>
            <a:r>
              <a:rPr sz="1300" b="1">
                <a:solidFill>
                  <a:srgbClr val="1E2761"/>
                </a:solidFill>
                <a:latin typeface="Pretendard"/>
              </a:rPr>
              <a:t>두 기준의 관계</a:t>
            </a:r>
          </a:p>
        </p:txBody>
      </p:sp>
      <p:sp>
        <p:nvSpPr>
          <p:cNvPr id="23" name="b2"/>
          <p:cNvSpPr txBox="1"/>
          <p:nvPr/>
        </p:nvSpPr>
        <p:spPr>
          <a:xfrm>
            <a:off x="3154680" y="4538472"/>
            <a:ext cx="8302752" cy="576072"/>
          </a:xfrm>
          <a:prstGeom prst="rect">
            <a:avLst/>
          </a:prstGeom>
          <a:noFill/>
        </p:spPr>
        <p:txBody>
          <a:bodyPr wrap="square" lIns="0" tIns="27432" rIns="0" bIns="27432" anchor="ctr">
            <a:noAutofit/>
          </a:bodyPr>
          <a:lstStyle/>
          <a:p>
            <a:pPr algn="l">
              <a:lnSpc>
                <a:spcPct val="118000"/>
              </a:lnSpc>
              <a:spcAft>
                <a:spcPts val="500"/>
              </a:spcAft>
            </a:pPr>
            <a:r>
              <a:rPr sz="1250" b="1">
                <a:solidFill>
                  <a:srgbClr val="222633"/>
                </a:solidFill>
                <a:latin typeface="Pretendard"/>
              </a:rPr>
              <a:t>형사미성년자 — 형법 제9조에 따라 14세 미만이면 형사책임이 배제되는 사람</a:t>
            </a:r>
          </a:p>
          <a:p>
            <a:pPr algn="l"/>
            <a:r>
              <a:rPr sz="1250" b="1">
                <a:solidFill>
                  <a:srgbClr val="222633"/>
                </a:solidFill>
                <a:latin typeface="Pretendard"/>
              </a:rPr>
              <a:t>촉법소년 — 그 형사미성년자 중 10세 이상 14세 미만이면서 형벌 법령에 저촉되는 행위를 한 소년</a:t>
            </a:r>
          </a:p>
        </p:txBody>
      </p:sp>
      <p:sp>
        <p:nvSpPr>
          <p:cNvPr id="24" name="line24"/>
          <p:cNvSpPr/>
          <p:nvPr/>
        </p:nvSpPr>
        <p:spPr>
          <a:xfrm>
            <a:off x="731520" y="5241035"/>
            <a:ext cx="10725912" cy="0"/>
          </a:xfrm>
          <a:prstGeom prst="line">
            <a:avLst/>
          </a:prstGeom>
          <a:ln w="9525">
            <a:solidFill>
              <a:srgbClr val="DCE0E8"/>
            </a:solidFill>
          </a:ln>
        </p:spPr>
        <p:txBody>
          <a:bodyPr/>
          <a:lstStyle/>
          <a:p>
            <a:endParaRPr/>
          </a:p>
        </p:txBody>
      </p:sp>
      <p:sp>
        <p:nvSpPr>
          <p:cNvPr id="25" name="h3"/>
          <p:cNvSpPr txBox="1"/>
          <p:nvPr/>
        </p:nvSpPr>
        <p:spPr>
          <a:xfrm>
            <a:off x="731520" y="5367527"/>
            <a:ext cx="2240280" cy="594360"/>
          </a:xfrm>
          <a:prstGeom prst="rect">
            <a:avLst/>
          </a:prstGeom>
          <a:noFill/>
        </p:spPr>
        <p:txBody>
          <a:bodyPr wrap="square" lIns="0" tIns="27432" rIns="0" bIns="27432" anchor="ctr">
            <a:noAutofit/>
          </a:bodyPr>
          <a:lstStyle/>
          <a:p>
            <a:pPr algn="ctr">
              <a:lnSpc>
                <a:spcPct val="118000"/>
              </a:lnSpc>
            </a:pPr>
            <a:r>
              <a:rPr sz="1300" b="1">
                <a:solidFill>
                  <a:srgbClr val="1E2761"/>
                </a:solidFill>
                <a:latin typeface="Pretendard"/>
              </a:rPr>
              <a:t>연령선을 낮추면</a:t>
            </a:r>
            <a:endParaRPr lang="ko-KR" sz="1300" b="1" dirty="0">
              <a:solidFill>
                <a:srgbClr val="1E2761"/>
              </a:solidFill>
              <a:latin typeface="Pretendard"/>
              <a:ea typeface="Pretendard"/>
              <a:cs typeface="Pretendard"/>
            </a:endParaRPr>
          </a:p>
        </p:txBody>
      </p:sp>
      <p:sp>
        <p:nvSpPr>
          <p:cNvPr id="26" name="b3"/>
          <p:cNvSpPr txBox="1"/>
          <p:nvPr/>
        </p:nvSpPr>
        <p:spPr>
          <a:xfrm>
            <a:off x="3154680" y="5367527"/>
            <a:ext cx="8302752" cy="594360"/>
          </a:xfrm>
          <a:prstGeom prst="rect">
            <a:avLst/>
          </a:prstGeom>
          <a:noFill/>
        </p:spPr>
        <p:txBody>
          <a:bodyPr wrap="square" lIns="0" tIns="27432" rIns="0" bIns="27432" anchor="ctr">
            <a:noAutofit/>
          </a:bodyPr>
          <a:lstStyle/>
          <a:p>
            <a:pPr algn="l">
              <a:lnSpc>
                <a:spcPct val="125000"/>
              </a:lnSpc>
            </a:pPr>
            <a:r>
              <a:rPr sz="1250" b="1">
                <a:solidFill>
                  <a:srgbClr val="222633"/>
                </a:solidFill>
                <a:latin typeface="Pretendard"/>
              </a:rPr>
              <a:t>기준을 14세 미만에서 13세 미만으로 낮추면, 13세는 더 이상 형법 제9조의 형사미성년자에 해당하지 않는다.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형법 제9조(1953년 제정) · 소년법 제4조 제1항 제2호(2007년 개정, 2008년 시행으로 촉법소년 하한 12세 → 10세)</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2020년 대전 사건</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연령으로 보는 세 개념 — 형사미성년자·촉법소년·범죄소년</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15274" y="1399031"/>
            <a:ext cx="10149840" cy="5486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형법 기준은 14세 미만 전체에 적용되고, 소년법 기준은 그중 10~13세의 저촉행위를 보호사건으로 다룬다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tick0"/>
          <p:cNvSpPr txBox="1"/>
          <p:nvPr/>
        </p:nvSpPr>
        <p:spPr>
          <a:xfrm>
            <a:off x="2697479" y="2395728"/>
            <a:ext cx="640080" cy="237744"/>
          </a:xfrm>
          <a:prstGeom prst="rect">
            <a:avLst/>
          </a:prstGeom>
          <a:noFill/>
        </p:spPr>
        <p:txBody>
          <a:bodyPr wrap="square" lIns="0" tIns="27432" rIns="0" bIns="27432" anchor="ctr">
            <a:noAutofit/>
          </a:bodyPr>
          <a:lstStyle/>
          <a:p>
            <a:pPr algn="ctr">
              <a:lnSpc>
                <a:spcPct val="118000"/>
              </a:lnSpc>
            </a:pPr>
            <a:r>
              <a:rPr lang="ko-KR" sz="1100" b="0" dirty="0">
                <a:solidFill>
                  <a:srgbClr val="464D5C"/>
                </a:solidFill>
                <a:latin typeface="Pretendard"/>
                <a:ea typeface="Pretendard"/>
                <a:cs typeface="Pretendard"/>
              </a:rPr>
              <a:t>0세</a:t>
            </a:r>
          </a:p>
        </p:txBody>
      </p:sp>
      <p:sp>
        <p:nvSpPr>
          <p:cNvPr id="17" name="tick5"/>
          <p:cNvSpPr txBox="1"/>
          <p:nvPr/>
        </p:nvSpPr>
        <p:spPr>
          <a:xfrm>
            <a:off x="4656908" y="2395728"/>
            <a:ext cx="640080" cy="237744"/>
          </a:xfrm>
          <a:prstGeom prst="rect">
            <a:avLst/>
          </a:prstGeom>
          <a:noFill/>
        </p:spPr>
        <p:txBody>
          <a:bodyPr wrap="square" lIns="0" tIns="27432" rIns="0" bIns="27432" anchor="ctr">
            <a:noAutofit/>
          </a:bodyPr>
          <a:lstStyle/>
          <a:p>
            <a:pPr algn="ctr">
              <a:lnSpc>
                <a:spcPct val="118000"/>
              </a:lnSpc>
            </a:pPr>
            <a:r>
              <a:rPr lang="ko-KR" sz="1100" b="0" dirty="0">
                <a:solidFill>
                  <a:srgbClr val="464D5C"/>
                </a:solidFill>
                <a:latin typeface="Pretendard"/>
                <a:ea typeface="Pretendard"/>
                <a:cs typeface="Pretendard"/>
              </a:rPr>
              <a:t>5세</a:t>
            </a:r>
          </a:p>
        </p:txBody>
      </p:sp>
      <p:sp>
        <p:nvSpPr>
          <p:cNvPr id="18" name="tick10"/>
          <p:cNvSpPr txBox="1"/>
          <p:nvPr/>
        </p:nvSpPr>
        <p:spPr>
          <a:xfrm>
            <a:off x="6616337" y="2395728"/>
            <a:ext cx="640080" cy="237744"/>
          </a:xfrm>
          <a:prstGeom prst="rect">
            <a:avLst/>
          </a:prstGeom>
          <a:noFill/>
        </p:spPr>
        <p:txBody>
          <a:bodyPr wrap="square" lIns="0" tIns="27432" rIns="0" bIns="27432" anchor="ctr">
            <a:noAutofit/>
          </a:bodyPr>
          <a:lstStyle/>
          <a:p>
            <a:pPr algn="ctr">
              <a:lnSpc>
                <a:spcPct val="118000"/>
              </a:lnSpc>
            </a:pPr>
            <a:r>
              <a:rPr lang="ko-KR" sz="1100" b="1" dirty="0">
                <a:solidFill>
                  <a:srgbClr val="464D5C"/>
                </a:solidFill>
                <a:latin typeface="Pretendard"/>
                <a:ea typeface="Pretendard"/>
                <a:cs typeface="Pretendard"/>
              </a:rPr>
              <a:t>10세</a:t>
            </a:r>
          </a:p>
        </p:txBody>
      </p:sp>
      <p:sp>
        <p:nvSpPr>
          <p:cNvPr id="19" name="tick19"/>
          <p:cNvSpPr txBox="1"/>
          <p:nvPr/>
        </p:nvSpPr>
        <p:spPr>
          <a:xfrm>
            <a:off x="10143308" y="2395728"/>
            <a:ext cx="640080" cy="237744"/>
          </a:xfrm>
          <a:prstGeom prst="rect">
            <a:avLst/>
          </a:prstGeom>
          <a:noFill/>
        </p:spPr>
        <p:txBody>
          <a:bodyPr wrap="square" lIns="0" tIns="27432" rIns="0" bIns="27432" anchor="ctr">
            <a:noAutofit/>
          </a:bodyPr>
          <a:lstStyle/>
          <a:p>
            <a:pPr algn="ctr">
              <a:lnSpc>
                <a:spcPct val="118000"/>
              </a:lnSpc>
            </a:pPr>
            <a:r>
              <a:rPr lang="ko-KR" sz="1100" b="0" dirty="0">
                <a:solidFill>
                  <a:srgbClr val="464D5C"/>
                </a:solidFill>
                <a:latin typeface="Pretendard"/>
                <a:ea typeface="Pretendard"/>
                <a:cs typeface="Pretendard"/>
              </a:rPr>
              <a:t>19세</a:t>
            </a:r>
          </a:p>
        </p:txBody>
      </p:sp>
      <p:sp>
        <p:nvSpPr>
          <p:cNvPr id="20" name="tick13"/>
          <p:cNvSpPr txBox="1"/>
          <p:nvPr/>
        </p:nvSpPr>
        <p:spPr>
          <a:xfrm>
            <a:off x="7421010" y="2181350"/>
            <a:ext cx="841248" cy="457200"/>
          </a:xfrm>
          <a:prstGeom prst="rect">
            <a:avLst/>
          </a:prstGeom>
          <a:noFill/>
        </p:spPr>
        <p:txBody>
          <a:bodyPr wrap="square" lIns="0" tIns="27432" rIns="0" bIns="27432" anchor="ctr">
            <a:noAutofit/>
          </a:bodyPr>
          <a:lstStyle/>
          <a:p>
            <a:pPr algn="r">
              <a:lnSpc>
                <a:spcPct val="118000"/>
              </a:lnSpc>
            </a:pPr>
            <a:r>
              <a:rPr lang="ko-KR" sz="1000" b="0" dirty="0">
                <a:solidFill>
                  <a:srgbClr val="C0392B"/>
                </a:solidFill>
                <a:latin typeface="Pretendard"/>
                <a:ea typeface="Pretendard"/>
                <a:cs typeface="Pretendard"/>
              </a:rPr>
              <a:t>(하향안)</a:t>
            </a:r>
          </a:p>
          <a:p>
            <a:pPr algn="r">
              <a:lnSpc>
                <a:spcPct val="118000"/>
              </a:lnSpc>
            </a:pPr>
            <a:r>
              <a:rPr lang="ko-KR" sz="1100" b="1" dirty="0">
                <a:solidFill>
                  <a:srgbClr val="C0392B"/>
                </a:solidFill>
                <a:latin typeface="Pretendard"/>
                <a:ea typeface="Pretendard"/>
                <a:cs typeface="Pretendard"/>
              </a:rPr>
              <a:t>13세</a:t>
            </a:r>
          </a:p>
        </p:txBody>
      </p:sp>
      <p:sp>
        <p:nvSpPr>
          <p:cNvPr id="21" name="tick14"/>
          <p:cNvSpPr txBox="1"/>
          <p:nvPr/>
        </p:nvSpPr>
        <p:spPr>
          <a:xfrm>
            <a:off x="8361535" y="2176272"/>
            <a:ext cx="841248" cy="457200"/>
          </a:xfrm>
          <a:prstGeom prst="rect">
            <a:avLst/>
          </a:prstGeom>
          <a:noFill/>
        </p:spPr>
        <p:txBody>
          <a:bodyPr wrap="square" lIns="0" tIns="27432" rIns="0" bIns="27432" anchor="ctr">
            <a:noAutofit/>
          </a:bodyPr>
          <a:lstStyle/>
          <a:p>
            <a:pPr algn="l">
              <a:lnSpc>
                <a:spcPct val="118000"/>
              </a:lnSpc>
            </a:pPr>
            <a:r>
              <a:rPr lang="ko-KR" sz="1000" b="0" dirty="0">
                <a:solidFill>
                  <a:srgbClr val="1E2761"/>
                </a:solidFill>
                <a:latin typeface="Pretendard"/>
                <a:ea typeface="Pretendard"/>
                <a:cs typeface="Pretendard"/>
              </a:rPr>
              <a:t>(현행)</a:t>
            </a:r>
          </a:p>
          <a:p>
            <a:pPr algn="l">
              <a:lnSpc>
                <a:spcPct val="118000"/>
              </a:lnSpc>
            </a:pPr>
            <a:r>
              <a:rPr lang="ko-KR" sz="1100" b="1" dirty="0">
                <a:solidFill>
                  <a:srgbClr val="1E2761"/>
                </a:solidFill>
                <a:latin typeface="Pretendard"/>
                <a:ea typeface="Pretendard"/>
                <a:cs typeface="Pretendard"/>
              </a:rPr>
              <a:t>14세</a:t>
            </a:r>
          </a:p>
        </p:txBody>
      </p:sp>
      <p:sp>
        <p:nvSpPr>
          <p:cNvPr id="22" name="line22"/>
          <p:cNvSpPr/>
          <p:nvPr/>
        </p:nvSpPr>
        <p:spPr>
          <a:xfrm>
            <a:off x="3017520" y="2670048"/>
            <a:ext cx="8229600" cy="0"/>
          </a:xfrm>
          <a:prstGeom prst="line">
            <a:avLst/>
          </a:prstGeom>
          <a:ln w="9525">
            <a:solidFill>
              <a:srgbClr val="464D5C"/>
            </a:solidFill>
          </a:ln>
        </p:spPr>
        <p:txBody>
          <a:bodyPr/>
          <a:lstStyle/>
          <a:p>
            <a:endParaRPr/>
          </a:p>
        </p:txBody>
      </p:sp>
      <p:sp>
        <p:nvSpPr>
          <p:cNvPr id="24" name="r1"/>
          <p:cNvSpPr txBox="1"/>
          <p:nvPr/>
        </p:nvSpPr>
        <p:spPr>
          <a:xfrm>
            <a:off x="731520" y="2834640"/>
            <a:ext cx="2194560" cy="713232"/>
          </a:xfrm>
          <a:prstGeom prst="rect">
            <a:avLst/>
          </a:prstGeom>
          <a:noFill/>
        </p:spPr>
        <p:txBody>
          <a:bodyPr wrap="square" lIns="0" tIns="27432" rIns="0" bIns="27432" anchor="ctr">
            <a:noAutofit/>
          </a:bodyPr>
          <a:lstStyle/>
          <a:p>
            <a:pPr algn="l">
              <a:lnSpc>
                <a:spcPct val="118000"/>
              </a:lnSpc>
            </a:pPr>
            <a:r>
              <a:rPr lang="ko-KR" sz="1350" b="1" dirty="0">
                <a:solidFill>
                  <a:srgbClr val="1E2761"/>
                </a:solidFill>
                <a:latin typeface="Pretendard"/>
                <a:ea typeface="Pretendard"/>
                <a:cs typeface="Pretendard"/>
              </a:rPr>
              <a:t>형법 제9조</a:t>
            </a:r>
          </a:p>
          <a:p>
            <a:pPr algn="l">
              <a:lnSpc>
                <a:spcPct val="118000"/>
              </a:lnSpc>
            </a:pPr>
            <a:r>
              <a:rPr lang="ko-KR" sz="1100" b="0" dirty="0">
                <a:solidFill>
                  <a:srgbClr val="464D5C"/>
                </a:solidFill>
                <a:latin typeface="Pretendard"/>
                <a:ea typeface="Pretendard"/>
                <a:cs typeface="Pretendard"/>
              </a:rPr>
              <a:t>나이만 묻는다</a:t>
            </a:r>
          </a:p>
        </p:txBody>
      </p:sp>
      <p:sp>
        <p:nvSpPr>
          <p:cNvPr id="25" name="b25"/>
          <p:cNvSpPr/>
          <p:nvPr/>
        </p:nvSpPr>
        <p:spPr>
          <a:xfrm>
            <a:off x="3017520" y="2834640"/>
            <a:ext cx="5486400" cy="713232"/>
          </a:xfrm>
          <a:prstGeom prst="rect">
            <a:avLst/>
          </a:prstGeom>
          <a:solidFill>
            <a:srgbClr val="C2A648"/>
          </a:solidFill>
          <a:ln>
            <a:noFill/>
          </a:ln>
        </p:spPr>
        <p:txBody>
          <a:bodyPr/>
          <a:lstStyle/>
          <a:p>
            <a:endParaRPr/>
          </a:p>
        </p:txBody>
      </p:sp>
      <p:sp>
        <p:nvSpPr>
          <p:cNvPr id="26" name="bt26"/>
          <p:cNvSpPr txBox="1"/>
          <p:nvPr/>
        </p:nvSpPr>
        <p:spPr>
          <a:xfrm>
            <a:off x="3017520" y="2834640"/>
            <a:ext cx="5464455" cy="713232"/>
          </a:xfrm>
          <a:prstGeom prst="rect">
            <a:avLst/>
          </a:prstGeom>
          <a:noFill/>
        </p:spPr>
        <p:txBody>
          <a:bodyPr wrap="square" lIns="0" tIns="27432" rIns="0" bIns="27432" anchor="ctr">
            <a:noAutofit/>
          </a:bodyPr>
          <a:lstStyle/>
          <a:p>
            <a:pPr algn="ctr">
              <a:lnSpc>
                <a:spcPct val="118000"/>
              </a:lnSpc>
            </a:pPr>
            <a:r>
              <a:rPr lang="ko-KR" sz="1300" b="1" dirty="0">
                <a:solidFill>
                  <a:srgbClr val="FFFFFF"/>
                </a:solidFill>
                <a:latin typeface="Pretendard"/>
                <a:ea typeface="Pretendard"/>
                <a:cs typeface="Pretendard"/>
              </a:rPr>
              <a:t>형사미성년자</a:t>
            </a:r>
          </a:p>
          <a:p>
            <a:pPr algn="ctr">
              <a:lnSpc>
                <a:spcPct val="118000"/>
              </a:lnSpc>
            </a:pPr>
            <a:r>
              <a:rPr lang="ko-KR" sz="1050" b="0" dirty="0">
                <a:solidFill>
                  <a:srgbClr val="FFFFFF"/>
                </a:solidFill>
                <a:latin typeface="Pretendard"/>
                <a:ea typeface="Pretendard"/>
                <a:cs typeface="Pretendard"/>
              </a:rPr>
              <a:t>14세 미만 · 형벌을 부과하지 않는다</a:t>
            </a:r>
          </a:p>
        </p:txBody>
      </p:sp>
      <p:sp>
        <p:nvSpPr>
          <p:cNvPr id="27" name="b27"/>
          <p:cNvSpPr/>
          <p:nvPr/>
        </p:nvSpPr>
        <p:spPr>
          <a:xfrm>
            <a:off x="8503920" y="2834640"/>
            <a:ext cx="2743200" cy="713232"/>
          </a:xfrm>
          <a:prstGeom prst="rect">
            <a:avLst/>
          </a:prstGeom>
          <a:solidFill>
            <a:srgbClr val="5A6699"/>
          </a:solidFill>
          <a:ln>
            <a:noFill/>
          </a:ln>
        </p:spPr>
        <p:txBody>
          <a:bodyPr/>
          <a:lstStyle/>
          <a:p>
            <a:endParaRPr/>
          </a:p>
        </p:txBody>
      </p:sp>
      <p:sp>
        <p:nvSpPr>
          <p:cNvPr id="28" name="bt28"/>
          <p:cNvSpPr txBox="1"/>
          <p:nvPr/>
        </p:nvSpPr>
        <p:spPr>
          <a:xfrm>
            <a:off x="8503920" y="2834640"/>
            <a:ext cx="2743200" cy="713232"/>
          </a:xfrm>
          <a:prstGeom prst="rect">
            <a:avLst/>
          </a:prstGeom>
          <a:noFill/>
        </p:spPr>
        <p:txBody>
          <a:bodyPr wrap="square" lIns="0" tIns="27432" rIns="0" bIns="27432" anchor="ctr">
            <a:noAutofit/>
          </a:bodyPr>
          <a:lstStyle/>
          <a:p>
            <a:pPr algn="ctr">
              <a:lnSpc>
                <a:spcPct val="118000"/>
              </a:lnSpc>
            </a:pPr>
            <a:r>
              <a:rPr lang="ko-KR" sz="1300" b="1" dirty="0">
                <a:solidFill>
                  <a:srgbClr val="FFFFFF"/>
                </a:solidFill>
                <a:latin typeface="Pretendard"/>
                <a:ea typeface="Pretendard"/>
                <a:cs typeface="Pretendard"/>
              </a:rPr>
              <a:t>형사책임을 물을 수 있는 나이</a:t>
            </a:r>
          </a:p>
          <a:p>
            <a:pPr algn="ctr">
              <a:lnSpc>
                <a:spcPct val="118000"/>
              </a:lnSpc>
            </a:pPr>
            <a:r>
              <a:rPr lang="ko-KR" sz="1050" b="0" dirty="0">
                <a:solidFill>
                  <a:srgbClr val="FFFFFF"/>
                </a:solidFill>
                <a:latin typeface="Pretendard"/>
                <a:ea typeface="Pretendard"/>
                <a:cs typeface="Pretendard"/>
              </a:rPr>
              <a:t>14세 이상</a:t>
            </a:r>
          </a:p>
        </p:txBody>
      </p:sp>
      <p:sp>
        <p:nvSpPr>
          <p:cNvPr id="29" name="r2"/>
          <p:cNvSpPr txBox="1"/>
          <p:nvPr/>
        </p:nvSpPr>
        <p:spPr>
          <a:xfrm>
            <a:off x="731520" y="3840480"/>
            <a:ext cx="2194560" cy="713232"/>
          </a:xfrm>
          <a:prstGeom prst="rect">
            <a:avLst/>
          </a:prstGeom>
          <a:noFill/>
        </p:spPr>
        <p:txBody>
          <a:bodyPr wrap="square" lIns="0" tIns="27432" rIns="0" bIns="27432" anchor="ctr">
            <a:noAutofit/>
          </a:bodyPr>
          <a:lstStyle/>
          <a:p>
            <a:pPr algn="l">
              <a:lnSpc>
                <a:spcPct val="118000"/>
              </a:lnSpc>
            </a:pPr>
            <a:r>
              <a:rPr lang="ko-KR" sz="1350" b="1" dirty="0">
                <a:solidFill>
                  <a:srgbClr val="1E2761"/>
                </a:solidFill>
                <a:latin typeface="Pretendard"/>
                <a:ea typeface="Pretendard"/>
                <a:cs typeface="Pretendard"/>
              </a:rPr>
              <a:t>소년법 제4조</a:t>
            </a:r>
          </a:p>
          <a:p>
            <a:pPr algn="l">
              <a:lnSpc>
                <a:spcPct val="118000"/>
              </a:lnSpc>
            </a:pPr>
            <a:r>
              <a:rPr lang="ko-KR" sz="1100" b="0" dirty="0">
                <a:solidFill>
                  <a:srgbClr val="464D5C"/>
                </a:solidFill>
                <a:latin typeface="Pretendard"/>
                <a:ea typeface="Pretendard"/>
                <a:cs typeface="Pretendard"/>
              </a:rPr>
              <a:t>나이와 행위를 함께 묻는다</a:t>
            </a:r>
          </a:p>
        </p:txBody>
      </p:sp>
      <p:sp>
        <p:nvSpPr>
          <p:cNvPr id="30" name="b30"/>
          <p:cNvSpPr/>
          <p:nvPr/>
        </p:nvSpPr>
        <p:spPr>
          <a:xfrm>
            <a:off x="3017520" y="3840480"/>
            <a:ext cx="3918857" cy="713232"/>
          </a:xfrm>
          <a:prstGeom prst="rect">
            <a:avLst/>
          </a:prstGeom>
          <a:solidFill>
            <a:srgbClr val="C9CEDA"/>
          </a:solidFill>
          <a:ln>
            <a:noFill/>
          </a:ln>
        </p:spPr>
        <p:txBody>
          <a:bodyPr/>
          <a:lstStyle/>
          <a:p>
            <a:endParaRPr/>
          </a:p>
        </p:txBody>
      </p:sp>
      <p:sp>
        <p:nvSpPr>
          <p:cNvPr id="31" name="bt31"/>
          <p:cNvSpPr txBox="1"/>
          <p:nvPr/>
        </p:nvSpPr>
        <p:spPr>
          <a:xfrm>
            <a:off x="3017520" y="3840480"/>
            <a:ext cx="3918857" cy="713232"/>
          </a:xfrm>
          <a:prstGeom prst="rect">
            <a:avLst/>
          </a:prstGeom>
          <a:noFill/>
        </p:spPr>
        <p:txBody>
          <a:bodyPr wrap="square" lIns="0" tIns="27432" rIns="0" bIns="27432" anchor="ctr">
            <a:noAutofit/>
          </a:bodyPr>
          <a:lstStyle/>
          <a:p>
            <a:pPr algn="ctr">
              <a:lnSpc>
                <a:spcPct val="118000"/>
              </a:lnSpc>
            </a:pPr>
            <a:r>
              <a:rPr lang="ko-KR" sz="1300" b="1" dirty="0">
                <a:solidFill>
                  <a:srgbClr val="222633"/>
                </a:solidFill>
                <a:latin typeface="Pretendard"/>
                <a:ea typeface="Pretendard"/>
                <a:cs typeface="Pretendard"/>
              </a:rPr>
              <a:t>소년보호처분 대상 아님</a:t>
            </a:r>
          </a:p>
          <a:p>
            <a:pPr algn="ctr">
              <a:lnSpc>
                <a:spcPct val="118000"/>
              </a:lnSpc>
            </a:pPr>
            <a:r>
              <a:rPr lang="ko-KR" sz="1050" b="0" dirty="0">
                <a:solidFill>
                  <a:srgbClr val="222633"/>
                </a:solidFill>
                <a:latin typeface="Pretendard"/>
                <a:ea typeface="Pretendard"/>
                <a:cs typeface="Pretendard"/>
              </a:rPr>
              <a:t>10세 미만</a:t>
            </a:r>
          </a:p>
        </p:txBody>
      </p:sp>
      <p:sp>
        <p:nvSpPr>
          <p:cNvPr id="32" name="b32"/>
          <p:cNvSpPr/>
          <p:nvPr/>
        </p:nvSpPr>
        <p:spPr>
          <a:xfrm>
            <a:off x="6936377" y="3840480"/>
            <a:ext cx="1567542" cy="713232"/>
          </a:xfrm>
          <a:prstGeom prst="rect">
            <a:avLst/>
          </a:prstGeom>
          <a:solidFill>
            <a:srgbClr val="C2A648"/>
          </a:solidFill>
          <a:ln>
            <a:noFill/>
          </a:ln>
        </p:spPr>
        <p:txBody>
          <a:bodyPr/>
          <a:lstStyle/>
          <a:p>
            <a:endParaRPr/>
          </a:p>
        </p:txBody>
      </p:sp>
      <p:sp>
        <p:nvSpPr>
          <p:cNvPr id="34" name="b34"/>
          <p:cNvSpPr/>
          <p:nvPr/>
        </p:nvSpPr>
        <p:spPr>
          <a:xfrm>
            <a:off x="8503920" y="3840480"/>
            <a:ext cx="1959428" cy="713232"/>
          </a:xfrm>
          <a:prstGeom prst="rect">
            <a:avLst/>
          </a:prstGeom>
          <a:solidFill>
            <a:srgbClr val="5A6699"/>
          </a:solidFill>
          <a:ln>
            <a:noFill/>
          </a:ln>
        </p:spPr>
        <p:txBody>
          <a:bodyPr/>
          <a:lstStyle/>
          <a:p>
            <a:endParaRPr/>
          </a:p>
        </p:txBody>
      </p:sp>
      <p:sp>
        <p:nvSpPr>
          <p:cNvPr id="35" name="bt35"/>
          <p:cNvSpPr txBox="1"/>
          <p:nvPr/>
        </p:nvSpPr>
        <p:spPr>
          <a:xfrm>
            <a:off x="8503920" y="3840480"/>
            <a:ext cx="1959428" cy="713232"/>
          </a:xfrm>
          <a:prstGeom prst="rect">
            <a:avLst/>
          </a:prstGeom>
          <a:noFill/>
        </p:spPr>
        <p:txBody>
          <a:bodyPr wrap="square" lIns="0" tIns="27432" rIns="0" bIns="27432" anchor="ctr">
            <a:noAutofit/>
          </a:bodyPr>
          <a:lstStyle/>
          <a:p>
            <a:pPr algn="ctr">
              <a:lnSpc>
                <a:spcPct val="118000"/>
              </a:lnSpc>
            </a:pPr>
            <a:r>
              <a:rPr lang="ko-KR" sz="1300" b="1" dirty="0">
                <a:solidFill>
                  <a:srgbClr val="FFFFFF"/>
                </a:solidFill>
                <a:latin typeface="Pretendard"/>
                <a:ea typeface="Pretendard"/>
                <a:cs typeface="Pretendard"/>
              </a:rPr>
              <a:t>범죄소년</a:t>
            </a:r>
          </a:p>
          <a:p>
            <a:pPr algn="ctr">
              <a:lnSpc>
                <a:spcPct val="118000"/>
              </a:lnSpc>
            </a:pPr>
            <a:r>
              <a:rPr lang="ko-KR" sz="1050" b="0" dirty="0">
                <a:solidFill>
                  <a:srgbClr val="FFFFFF"/>
                </a:solidFill>
                <a:latin typeface="Pretendard"/>
                <a:ea typeface="Pretendard"/>
                <a:cs typeface="Pretendard"/>
              </a:rPr>
              <a:t>14~18세 · 죄를 범한 소년</a:t>
            </a:r>
          </a:p>
        </p:txBody>
      </p:sp>
      <p:sp>
        <p:nvSpPr>
          <p:cNvPr id="36" name="b36"/>
          <p:cNvSpPr/>
          <p:nvPr/>
        </p:nvSpPr>
        <p:spPr>
          <a:xfrm>
            <a:off x="10463348" y="3840480"/>
            <a:ext cx="783771" cy="713232"/>
          </a:xfrm>
          <a:prstGeom prst="rect">
            <a:avLst/>
          </a:prstGeom>
          <a:solidFill>
            <a:srgbClr val="C9CEDA"/>
          </a:solidFill>
          <a:ln>
            <a:noFill/>
          </a:ln>
        </p:spPr>
        <p:txBody>
          <a:bodyPr/>
          <a:lstStyle/>
          <a:p>
            <a:endParaRPr/>
          </a:p>
        </p:txBody>
      </p:sp>
      <p:sp>
        <p:nvSpPr>
          <p:cNvPr id="37" name="bt37"/>
          <p:cNvSpPr txBox="1"/>
          <p:nvPr/>
        </p:nvSpPr>
        <p:spPr>
          <a:xfrm>
            <a:off x="10463348" y="3840480"/>
            <a:ext cx="783771" cy="713232"/>
          </a:xfrm>
          <a:prstGeom prst="rect">
            <a:avLst/>
          </a:prstGeom>
          <a:noFill/>
        </p:spPr>
        <p:txBody>
          <a:bodyPr wrap="square" lIns="0" tIns="27432" rIns="0" bIns="27432" anchor="ctr">
            <a:noAutofit/>
          </a:bodyPr>
          <a:lstStyle/>
          <a:p>
            <a:pPr algn="ctr">
              <a:lnSpc>
                <a:spcPct val="118000"/>
              </a:lnSpc>
            </a:pPr>
            <a:r>
              <a:rPr lang="ko-KR" sz="1300" b="1" dirty="0">
                <a:solidFill>
                  <a:srgbClr val="222633"/>
                </a:solidFill>
                <a:latin typeface="Pretendard"/>
                <a:ea typeface="Pretendard"/>
                <a:cs typeface="Pretendard"/>
              </a:rPr>
              <a:t>성인</a:t>
            </a:r>
          </a:p>
          <a:p>
            <a:pPr algn="ctr">
              <a:lnSpc>
                <a:spcPct val="118000"/>
              </a:lnSpc>
            </a:pPr>
            <a:r>
              <a:rPr lang="ko-KR" sz="1050" b="0" dirty="0">
                <a:solidFill>
                  <a:srgbClr val="222633"/>
                </a:solidFill>
                <a:latin typeface="Pretendard"/>
                <a:ea typeface="Pretendard"/>
                <a:cs typeface="Pretendard"/>
              </a:rPr>
              <a:t>19세 이상</a:t>
            </a:r>
          </a:p>
        </p:txBody>
      </p:sp>
      <p:sp>
        <p:nvSpPr>
          <p:cNvPr id="38" name="vd38"/>
          <p:cNvSpPr/>
          <p:nvPr/>
        </p:nvSpPr>
        <p:spPr>
          <a:xfrm>
            <a:off x="8112034" y="2670048"/>
            <a:ext cx="0" cy="1883659"/>
          </a:xfrm>
          <a:prstGeom prst="line">
            <a:avLst/>
          </a:prstGeom>
          <a:ln w="19050">
            <a:solidFill>
              <a:srgbClr val="C0392B"/>
            </a:solidFill>
            <a:prstDash val="dash"/>
          </a:ln>
        </p:spPr>
        <p:txBody>
          <a:bodyPr/>
          <a:lstStyle/>
          <a:p>
            <a:endParaRPr/>
          </a:p>
        </p:txBody>
      </p:sp>
      <p:sp>
        <p:nvSpPr>
          <p:cNvPr id="39" name="v39"/>
          <p:cNvSpPr/>
          <p:nvPr/>
        </p:nvSpPr>
        <p:spPr>
          <a:xfrm>
            <a:off x="8492947" y="2670048"/>
            <a:ext cx="45719" cy="1883660"/>
          </a:xfrm>
          <a:prstGeom prst="rect">
            <a:avLst/>
          </a:prstGeom>
          <a:solidFill>
            <a:srgbClr val="1E2761"/>
          </a:solidFill>
          <a:ln>
            <a:noFill/>
          </a:ln>
        </p:spPr>
        <p:txBody>
          <a:bodyPr/>
          <a:lstStyle/>
          <a:p>
            <a:endParaRPr/>
          </a:p>
        </p:txBody>
      </p:sp>
      <p:sp>
        <p:nvSpPr>
          <p:cNvPr id="40" name="m13t"/>
          <p:cNvSpPr txBox="1"/>
          <p:nvPr/>
        </p:nvSpPr>
        <p:spPr>
          <a:xfrm>
            <a:off x="3017520" y="4754880"/>
            <a:ext cx="8229600" cy="256032"/>
          </a:xfrm>
          <a:prstGeom prst="rect">
            <a:avLst/>
          </a:prstGeom>
          <a:noFill/>
        </p:spPr>
        <p:txBody>
          <a:bodyPr wrap="square" lIns="0" tIns="27432" rIns="0" bIns="27432" anchor="ctr">
            <a:noAutofit/>
          </a:bodyPr>
          <a:lstStyle/>
          <a:p>
            <a:pPr algn="ctr">
              <a:lnSpc>
                <a:spcPct val="118000"/>
              </a:lnSpc>
            </a:pPr>
            <a:r>
              <a:rPr sz="1100" b="1">
                <a:solidFill>
                  <a:srgbClr val="C0392B"/>
                </a:solidFill>
                <a:latin typeface="Pretendard"/>
              </a:rPr>
              <a:t>기준이 14세 미만에서 13세 미만으로 낮아지면, 13세는 형법 제9조의 형사미성년자에서 빠지고 형사책임 가능 연령에 들어간다.</a:t>
            </a:r>
          </a:p>
        </p:txBody>
      </p:sp>
      <p:sp>
        <p:nvSpPr>
          <p:cNvPr id="41" name="line41"/>
          <p:cNvSpPr/>
          <p:nvPr/>
        </p:nvSpPr>
        <p:spPr>
          <a:xfrm>
            <a:off x="731520" y="5175504"/>
            <a:ext cx="10725912" cy="0"/>
          </a:xfrm>
          <a:prstGeom prst="line">
            <a:avLst/>
          </a:prstGeom>
          <a:ln w="9525">
            <a:solidFill>
              <a:srgbClr val="DCE0E8"/>
            </a:solidFill>
          </a:ln>
        </p:spPr>
        <p:txBody>
          <a:bodyPr/>
          <a:lstStyle/>
          <a:p>
            <a:endParaRPr/>
          </a:p>
        </p:txBody>
      </p:sp>
      <p:sp>
        <p:nvSpPr>
          <p:cNvPr id="42" name="dh0"/>
          <p:cNvSpPr txBox="1"/>
          <p:nvPr/>
        </p:nvSpPr>
        <p:spPr>
          <a:xfrm>
            <a:off x="731520" y="5266944"/>
            <a:ext cx="3392424" cy="292608"/>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형사미성년자</a:t>
            </a:r>
          </a:p>
        </p:txBody>
      </p:sp>
      <p:sp>
        <p:nvSpPr>
          <p:cNvPr id="43" name="db0"/>
          <p:cNvSpPr txBox="1"/>
          <p:nvPr/>
        </p:nvSpPr>
        <p:spPr>
          <a:xfrm>
            <a:off x="731520" y="5541264"/>
            <a:ext cx="3392424" cy="786384"/>
          </a:xfrm>
          <a:prstGeom prst="rect">
            <a:avLst/>
          </a:prstGeom>
          <a:noFill/>
        </p:spPr>
        <p:txBody>
          <a:bodyPr wrap="square" lIns="0" tIns="27432" rIns="0" bIns="27432" anchor="t">
            <a:noAutofit/>
          </a:bodyPr>
          <a:lstStyle/>
          <a:p>
            <a:pPr algn="l">
              <a:lnSpc>
                <a:spcPct val="125000"/>
              </a:lnSpc>
            </a:pPr>
            <a:r>
              <a:rPr sz="1150" b="0">
                <a:solidFill>
                  <a:srgbClr val="222633"/>
                </a:solidFill>
                <a:latin typeface="Pretendard"/>
              </a:rPr>
              <a:t>형법 제9조에 따라 14세 미만이면 형사책임이 배제된다. 10세 미만도 여기에 포함된다.</a:t>
            </a:r>
          </a:p>
        </p:txBody>
      </p:sp>
      <p:sp>
        <p:nvSpPr>
          <p:cNvPr id="44" name="dh1"/>
          <p:cNvSpPr txBox="1"/>
          <p:nvPr/>
        </p:nvSpPr>
        <p:spPr>
          <a:xfrm>
            <a:off x="4398264" y="5266944"/>
            <a:ext cx="3392424" cy="292608"/>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촉법소년</a:t>
            </a:r>
          </a:p>
        </p:txBody>
      </p:sp>
      <p:sp>
        <p:nvSpPr>
          <p:cNvPr id="45" name="db1"/>
          <p:cNvSpPr txBox="1"/>
          <p:nvPr/>
        </p:nvSpPr>
        <p:spPr>
          <a:xfrm>
            <a:off x="4398264" y="5541264"/>
            <a:ext cx="3392424" cy="786384"/>
          </a:xfrm>
          <a:prstGeom prst="rect">
            <a:avLst/>
          </a:prstGeom>
          <a:noFill/>
        </p:spPr>
        <p:txBody>
          <a:bodyPr wrap="square" lIns="0" tIns="27432" rIns="0" bIns="27432" anchor="t">
            <a:noAutofit/>
          </a:bodyPr>
          <a:lstStyle/>
          <a:p>
            <a:pPr algn="l">
              <a:lnSpc>
                <a:spcPct val="125000"/>
              </a:lnSpc>
            </a:pPr>
            <a:r>
              <a:rPr sz="1150" b="0">
                <a:solidFill>
                  <a:srgbClr val="222633"/>
                </a:solidFill>
                <a:latin typeface="Pretendard"/>
              </a:rPr>
              <a:t>그 형사미성년자 중 10세 이상 14세 미만이면서 형벌 법령에 저촉되는 행위를 한 소년. 형벌이 아니라 소년보호절차의 대상이다.</a:t>
            </a:r>
          </a:p>
        </p:txBody>
      </p:sp>
      <p:sp>
        <p:nvSpPr>
          <p:cNvPr id="46" name="dh2"/>
          <p:cNvSpPr txBox="1"/>
          <p:nvPr/>
        </p:nvSpPr>
        <p:spPr>
          <a:xfrm>
            <a:off x="8065008" y="5266944"/>
            <a:ext cx="3392424" cy="292608"/>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범죄소년</a:t>
            </a:r>
          </a:p>
        </p:txBody>
      </p:sp>
      <p:sp>
        <p:nvSpPr>
          <p:cNvPr id="47" name="db2"/>
          <p:cNvSpPr txBox="1"/>
          <p:nvPr/>
        </p:nvSpPr>
        <p:spPr>
          <a:xfrm>
            <a:off x="8065008" y="5541264"/>
            <a:ext cx="3392424" cy="786384"/>
          </a:xfrm>
          <a:prstGeom prst="rect">
            <a:avLst/>
          </a:prstGeom>
          <a:noFill/>
        </p:spPr>
        <p:txBody>
          <a:bodyPr wrap="square" lIns="0" tIns="27432" rIns="0" bIns="27432" anchor="t">
            <a:noAutofit/>
          </a:bodyPr>
          <a:lstStyle/>
          <a:p>
            <a:pPr algn="l">
              <a:lnSpc>
                <a:spcPct val="125000"/>
              </a:lnSpc>
            </a:pPr>
            <a:r>
              <a:rPr lang="ko-KR" sz="1150" b="0" dirty="0">
                <a:solidFill>
                  <a:srgbClr val="222633"/>
                </a:solidFill>
                <a:latin typeface="Pretendard"/>
                <a:ea typeface="Pretendard"/>
                <a:cs typeface="Pretendard"/>
              </a:rPr>
              <a:t>14세 이상 19세 미만으로 죄를 범한 소년. 형사책임을 물을 수 있지만 사건에 따라 소년부로 송치되어 보호처분을 받을 수 있다.</a:t>
            </a:r>
          </a:p>
        </p:txBody>
      </p:sp>
      <p:sp>
        <p:nvSpPr>
          <p:cNvPr id="4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sz="1050" b="0">
                <a:solidFill>
                  <a:srgbClr val="6E7686"/>
                </a:solidFill>
                <a:latin typeface="Pretendard"/>
              </a:rPr>
              <a:t>형법 제9조 · 소년법 제2조(소년 = 19세 미만)·제4조 제1항 제1호·제2호 · 우범소년(소년법 제4조 제1항 제3호)은 별도 요건이며 이 도식에서 제외</a:t>
            </a:r>
          </a:p>
        </p:txBody>
      </p:sp>
      <p:sp>
        <p:nvSpPr>
          <p:cNvPr id="33" name="bt33"/>
          <p:cNvSpPr txBox="1"/>
          <p:nvPr/>
        </p:nvSpPr>
        <p:spPr>
          <a:xfrm>
            <a:off x="6936377" y="3840480"/>
            <a:ext cx="1545598" cy="713232"/>
          </a:xfrm>
          <a:prstGeom prst="rect">
            <a:avLst/>
          </a:prstGeom>
          <a:noFill/>
        </p:spPr>
        <p:txBody>
          <a:bodyPr wrap="square" lIns="0" tIns="27432" rIns="0" bIns="27432" anchor="ctr">
            <a:noAutofit/>
          </a:bodyPr>
          <a:lstStyle/>
          <a:p>
            <a:pPr algn="ctr">
              <a:lnSpc>
                <a:spcPct val="118000"/>
              </a:lnSpc>
            </a:pPr>
            <a:r>
              <a:rPr lang="ko-KR" sz="1300" b="1" dirty="0">
                <a:solidFill>
                  <a:sysClr val="windowText" lastClr="000000"/>
                </a:solidFill>
                <a:latin typeface="Pretendard"/>
                <a:ea typeface="Pretendard"/>
                <a:cs typeface="Pretendard"/>
              </a:rPr>
              <a:t>촉법소년</a:t>
            </a:r>
          </a:p>
          <a:p>
            <a:pPr algn="ctr">
              <a:lnSpc>
                <a:spcPct val="118000"/>
              </a:lnSpc>
            </a:pPr>
            <a:r>
              <a:rPr lang="ko-KR" sz="1050" b="0" dirty="0">
                <a:solidFill>
                  <a:sysClr val="windowText" lastClr="000000"/>
                </a:solidFill>
                <a:latin typeface="Pretendard"/>
                <a:ea typeface="Pretendard"/>
                <a:cs typeface="Pretendard"/>
              </a:rPr>
              <a:t>10~13세 · </a:t>
            </a:r>
            <a:r>
              <a:rPr lang="ko-KR" altLang="en-US" sz="1050" b="0" dirty="0">
                <a:solidFill>
                  <a:sysClr val="windowText" lastClr="000000"/>
                </a:solidFill>
                <a:latin typeface="Pretendard"/>
                <a:ea typeface="Pretendard"/>
                <a:cs typeface="Pretendard"/>
              </a:rPr>
              <a:t>보호 처분</a:t>
            </a:r>
            <a:endParaRPr lang="ko-KR" sz="1050" b="0" dirty="0">
              <a:solidFill>
                <a:sysClr val="windowText" lastClr="000000"/>
              </a:solidFill>
              <a:latin typeface="Pretendard"/>
              <a:ea typeface="Pretendard"/>
              <a:cs typeface="Pretendard"/>
            </a:endParaRPr>
          </a:p>
        </p:txBody>
      </p:sp>
      <p:sp>
        <p:nvSpPr>
          <p:cNvPr id="7" name="화살표: 왼쪽 6">
            <a:extLst>
              <a:ext uri="{FF2B5EF4-FFF2-40B4-BE49-F238E27FC236}">
                <a16:creationId xmlns:a16="http://schemas.microsoft.com/office/drawing/2014/main" id="{80AB0D68-5ED5-7174-713B-8017197C3EEC}"/>
              </a:ext>
            </a:extLst>
          </p:cNvPr>
          <p:cNvSpPr/>
          <p:nvPr/>
        </p:nvSpPr>
        <p:spPr>
          <a:xfrm>
            <a:off x="8100111" y="3015742"/>
            <a:ext cx="387350" cy="332739"/>
          </a:xfrm>
          <a:prstGeom prst="leftArrow">
            <a:avLst/>
          </a:prstGeom>
          <a:solidFill>
            <a:srgbClr val="5A6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화살표: 왼쪽 48">
            <a:extLst>
              <a:ext uri="{FF2B5EF4-FFF2-40B4-BE49-F238E27FC236}">
                <a16:creationId xmlns:a16="http://schemas.microsoft.com/office/drawing/2014/main" id="{B780C2C4-5DCC-A862-A1B5-A0C6209E0694}"/>
              </a:ext>
            </a:extLst>
          </p:cNvPr>
          <p:cNvSpPr/>
          <p:nvPr/>
        </p:nvSpPr>
        <p:spPr>
          <a:xfrm>
            <a:off x="8108816" y="4003294"/>
            <a:ext cx="387350" cy="332739"/>
          </a:xfrm>
          <a:prstGeom prst="leftArrow">
            <a:avLst/>
          </a:prstGeom>
          <a:solidFill>
            <a:srgbClr val="5A6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sz="1050" b="0">
                <a:solidFill>
                  <a:srgbClr val="6E7686"/>
                </a:solidFill>
                <a:latin typeface="Pretendard"/>
              </a:rPr>
              <a:t>다음 → 연령대별 처리 경로와 결과</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nSpc>
                <a:spcPct val="118000"/>
              </a:lnSpc>
            </a:pPr>
            <a:r>
              <a:rPr lang="en-US" altLang="ko-KR" sz="275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2020</a:t>
            </a:r>
            <a:r>
              <a:rPr lang="ko-KR" altLang="en-US" sz="275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년 대전 사건 </a:t>
            </a:r>
            <a:r>
              <a:rPr lang="en-US" altLang="ko-KR" sz="275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275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왜 연령 하향 논의를 크게 </a:t>
            </a:r>
            <a:r>
              <a:rPr lang="ko-KR" altLang="en-US" sz="2750" b="1" dirty="0" err="1">
                <a:solidFill>
                  <a:srgbClr val="1E2761"/>
                </a:solidFill>
                <a:latin typeface="Pretendard" panose="02000503000000020004" pitchFamily="50" charset="-127"/>
                <a:ea typeface="Pretendard" panose="02000503000000020004" pitchFamily="50" charset="-127"/>
                <a:cs typeface="Pretendard" panose="02000503000000020004" pitchFamily="50" charset="-127"/>
              </a:rPr>
              <a:t>키웠나</a:t>
            </a:r>
            <a:endParaRPr sz="275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nSpc>
                <a:spcPct val="118000"/>
              </a:lnSpc>
            </a:pPr>
            <a:r>
              <a:rPr lang="ko-KR" altLang="en-US"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사망이라는 중대한 피해와 ‘</a:t>
            </a:r>
            <a:r>
              <a:rPr lang="en-US" altLang="ko-KR"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14</a:t>
            </a:r>
            <a:r>
              <a:rPr lang="ko-KR" altLang="en-US"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세 미만은 형사처벌할 수 </a:t>
            </a:r>
            <a:r>
              <a:rPr lang="ko-KR" altLang="en-US" sz="1300" b="1" dirty="0" err="1">
                <a:solidFill>
                  <a:srgbClr val="1E2761"/>
                </a:solidFill>
                <a:latin typeface="Pretendard" panose="02000503000000020004" pitchFamily="50" charset="-127"/>
                <a:ea typeface="Pretendard" panose="02000503000000020004" pitchFamily="50" charset="-127"/>
                <a:cs typeface="Pretendard" panose="02000503000000020004" pitchFamily="50" charset="-127"/>
              </a:rPr>
              <a:t>없다’는</a:t>
            </a:r>
            <a:r>
              <a:rPr lang="ko-KR" altLang="en-US"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 법적 효과가 강하게 대비되면서</a:t>
            </a:r>
            <a:r>
              <a:rPr lang="en-US" altLang="ko-KR"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대규모 국민청원으로 이어졌다</a:t>
            </a:r>
            <a:r>
              <a:rPr lang="en-US" altLang="ko-KR"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a:t>
            </a:r>
            <a:endParaRPr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line15"/>
          <p:cNvSpPr/>
          <p:nvPr/>
        </p:nvSpPr>
        <p:spPr>
          <a:xfrm>
            <a:off x="731520" y="2057400"/>
            <a:ext cx="10725912" cy="0"/>
          </a:xfrm>
          <a:prstGeom prst="line">
            <a:avLst/>
          </a:prstGeom>
          <a:ln w="19050">
            <a:solidFill>
              <a:srgbClr val="1E2761"/>
            </a:solidFill>
          </a:ln>
        </p:spPr>
        <p:txBody>
          <a:bodyPr/>
          <a:lstStyle/>
          <a:p>
            <a:endParaRPr>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h0"/>
          <p:cNvSpPr txBox="1"/>
          <p:nvPr/>
        </p:nvSpPr>
        <p:spPr>
          <a:xfrm>
            <a:off x="1136342" y="2251933"/>
            <a:ext cx="1235769" cy="338327"/>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중대한 피해</a:t>
            </a:r>
            <a:endParaRPr lang="ko-KR"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b0"/>
          <p:cNvSpPr txBox="1"/>
          <p:nvPr/>
        </p:nvSpPr>
        <p:spPr>
          <a:xfrm>
            <a:off x="3154680" y="2169967"/>
            <a:ext cx="5625336" cy="521207"/>
          </a:xfrm>
          <a:prstGeom prst="rect">
            <a:avLst/>
          </a:prstGeom>
          <a:noFill/>
        </p:spPr>
        <p:txBody>
          <a:bodyPr wrap="square" lIns="0" tIns="27432" rIns="0" bIns="27432" anchor="ctr">
            <a:noAutofit/>
          </a:bodyPr>
          <a:lstStyle/>
          <a:p>
            <a:pPr algn="l">
              <a:lnSpc>
                <a:spcPct val="125000"/>
              </a:lnSpc>
              <a:spcAft>
                <a:spcPts val="500"/>
              </a:spcAft>
            </a:pPr>
            <a:r>
              <a:rPr lang="en-US"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rPr>
              <a:t>18</a:t>
            </a:r>
            <a:r>
              <a:rPr lang="ko-KR" altLang="en-US"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rPr>
              <a:t>세 대학 신입생의 사망</a:t>
            </a:r>
            <a:endParaRPr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endParaRPr>
          </a:p>
          <a:p>
            <a:pPr algn="l"/>
            <a:r>
              <a:rPr lang="en-US" altLang="ko-KR"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rPr>
              <a:t>8</a:t>
            </a:r>
            <a:r>
              <a:rPr lang="ko-KR" altLang="en-US"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rPr>
              <a:t>명의 또래 소년이 훔친 차량을 운전하며 경찰의 추적을 피하던 중 충돌</a:t>
            </a:r>
            <a:r>
              <a:rPr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rPr>
              <a:t>.</a:t>
            </a:r>
          </a:p>
        </p:txBody>
      </p:sp>
      <p:sp>
        <p:nvSpPr>
          <p:cNvPr id="18" name="line18"/>
          <p:cNvSpPr/>
          <p:nvPr/>
        </p:nvSpPr>
        <p:spPr>
          <a:xfrm>
            <a:off x="731520" y="2832019"/>
            <a:ext cx="10725912" cy="0"/>
          </a:xfrm>
          <a:prstGeom prst="line">
            <a:avLst/>
          </a:prstGeom>
          <a:ln w="9525">
            <a:solidFill>
              <a:srgbClr val="DCE0E8"/>
            </a:solidFill>
          </a:ln>
        </p:spPr>
        <p:txBody>
          <a:bodyPr/>
          <a:lstStyle/>
          <a:p>
            <a:endParaRPr>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line21"/>
          <p:cNvSpPr/>
          <p:nvPr/>
        </p:nvSpPr>
        <p:spPr>
          <a:xfrm>
            <a:off x="789269" y="3749883"/>
            <a:ext cx="10725912" cy="0"/>
          </a:xfrm>
          <a:prstGeom prst="line">
            <a:avLst/>
          </a:prstGeom>
          <a:ln w="9525">
            <a:solidFill>
              <a:srgbClr val="DCE0E8"/>
            </a:solidFill>
          </a:ln>
        </p:spPr>
        <p:txBody>
          <a:bodyPr/>
          <a:lstStyle/>
          <a:p>
            <a:endParaRPr>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line24"/>
          <p:cNvSpPr/>
          <p:nvPr/>
        </p:nvSpPr>
        <p:spPr>
          <a:xfrm>
            <a:off x="731520" y="6464365"/>
            <a:ext cx="10725912" cy="0"/>
          </a:xfrm>
          <a:prstGeom prst="line">
            <a:avLst/>
          </a:prstGeom>
          <a:ln w="19050">
            <a:solidFill>
              <a:srgbClr val="1E2761"/>
            </a:solidFill>
          </a:ln>
        </p:spPr>
        <p:txBody>
          <a:bodyPr/>
          <a:lstStyle/>
          <a:p>
            <a:endParaRPr>
              <a:latin typeface="Pretendard" panose="02000503000000020004" pitchFamily="50" charset="-127"/>
              <a:ea typeface="Pretendard" panose="02000503000000020004" pitchFamily="50" charset="-127"/>
              <a:cs typeface="Pretendard" panose="02000503000000020004" pitchFamily="50" charset="-127"/>
            </a:endParaRPr>
          </a:p>
        </p:txBody>
      </p:sp>
      <p:sp>
        <p:nvSpPr>
          <p:cNvPr id="26" name="bar0"/>
          <p:cNvSpPr/>
          <p:nvPr/>
        </p:nvSpPr>
        <p:spPr>
          <a:xfrm>
            <a:off x="966444" y="2298339"/>
            <a:ext cx="68580" cy="256032"/>
          </a:xfrm>
          <a:prstGeom prst="rect">
            <a:avLst/>
          </a:prstGeom>
          <a:solidFill>
            <a:srgbClr val="A8871C"/>
          </a:solidFill>
          <a:ln>
            <a:noFill/>
          </a:ln>
        </p:spPr>
        <p:txBody>
          <a:bodyPr/>
          <a:lstStyle/>
          <a:p>
            <a:endParaRPr>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bar1"/>
          <p:cNvSpPr/>
          <p:nvPr/>
        </p:nvSpPr>
        <p:spPr>
          <a:xfrm>
            <a:off x="966444" y="3172611"/>
            <a:ext cx="68580" cy="256032"/>
          </a:xfrm>
          <a:prstGeom prst="rect">
            <a:avLst/>
          </a:prstGeom>
          <a:solidFill>
            <a:srgbClr val="1E2761"/>
          </a:solidFill>
          <a:ln>
            <a:noFill/>
          </a:ln>
        </p:spPr>
        <p:txBody>
          <a:bodyPr/>
          <a:lstStyle/>
          <a:p>
            <a:endParaRPr>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h0"/>
          <p:cNvSpPr txBox="1"/>
          <p:nvPr/>
        </p:nvSpPr>
        <p:spPr>
          <a:xfrm>
            <a:off x="1136342" y="3125693"/>
            <a:ext cx="1677879" cy="338327"/>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형사책임 연령과의 충돌</a:t>
            </a:r>
            <a:endParaRPr lang="ko-KR"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b0"/>
          <p:cNvSpPr txBox="1"/>
          <p:nvPr/>
        </p:nvSpPr>
        <p:spPr>
          <a:xfrm>
            <a:off x="3154680" y="3043727"/>
            <a:ext cx="3654493" cy="521207"/>
          </a:xfrm>
          <a:prstGeom prst="rect">
            <a:avLst/>
          </a:prstGeom>
          <a:noFill/>
        </p:spPr>
        <p:txBody>
          <a:bodyPr wrap="square" lIns="0" tIns="27432" rIns="0" bIns="27432" anchor="ctr">
            <a:noAutofit/>
          </a:bodyPr>
          <a:lstStyle/>
          <a:p>
            <a:pPr algn="l">
              <a:lnSpc>
                <a:spcPct val="125000"/>
              </a:lnSpc>
              <a:spcAft>
                <a:spcPts val="500"/>
              </a:spcAft>
            </a:pPr>
            <a:r>
              <a:rPr lang="ko-KR" altLang="en-US"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rPr>
              <a:t>만 </a:t>
            </a:r>
            <a:r>
              <a:rPr lang="en-US"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rPr>
              <a:t>13</a:t>
            </a:r>
            <a:r>
              <a:rPr lang="ko-KR" altLang="en-US"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rPr>
              <a:t>세 소년으로 형사처벌 대신 소년보호절차 적용</a:t>
            </a:r>
            <a:endParaRPr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endParaRPr>
          </a:p>
          <a:p>
            <a:pPr algn="l"/>
            <a:r>
              <a:rPr lang="ko-KR" altLang="en-US"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rPr>
              <a:t>형사처벌 연령에 대한 문제의식 점화</a:t>
            </a:r>
            <a:endParaRPr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line21"/>
          <p:cNvSpPr/>
          <p:nvPr/>
        </p:nvSpPr>
        <p:spPr>
          <a:xfrm>
            <a:off x="789269" y="4662365"/>
            <a:ext cx="10725912" cy="0"/>
          </a:xfrm>
          <a:prstGeom prst="line">
            <a:avLst/>
          </a:prstGeom>
          <a:ln w="9525">
            <a:solidFill>
              <a:srgbClr val="DCE0E8"/>
            </a:solidFill>
          </a:ln>
        </p:spPr>
        <p:txBody>
          <a:bodyPr/>
          <a:lstStyle/>
          <a:p>
            <a:endParaRPr>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bar1"/>
          <p:cNvSpPr/>
          <p:nvPr/>
        </p:nvSpPr>
        <p:spPr>
          <a:xfrm>
            <a:off x="966444" y="4076218"/>
            <a:ext cx="68580" cy="256032"/>
          </a:xfrm>
          <a:prstGeom prst="rect">
            <a:avLst/>
          </a:prstGeom>
          <a:solidFill>
            <a:schemeClr val="accent4">
              <a:lumMod val="75000"/>
            </a:schemeClr>
          </a:solidFill>
          <a:ln>
            <a:noFill/>
          </a:ln>
        </p:spPr>
        <p:txBody>
          <a:bodyPr/>
          <a:lstStyle/>
          <a:p>
            <a:endParaRPr>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h0"/>
          <p:cNvSpPr txBox="1"/>
          <p:nvPr/>
        </p:nvSpPr>
        <p:spPr>
          <a:xfrm>
            <a:off x="1136342" y="4029300"/>
            <a:ext cx="1677879" cy="338327"/>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반복 범죄에 대한 불안</a:t>
            </a:r>
            <a:endParaRPr lang="ko-KR"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b0"/>
          <p:cNvSpPr txBox="1"/>
          <p:nvPr/>
        </p:nvSpPr>
        <p:spPr>
          <a:xfrm>
            <a:off x="3154680" y="3947334"/>
            <a:ext cx="5696357" cy="521207"/>
          </a:xfrm>
          <a:prstGeom prst="rect">
            <a:avLst/>
          </a:prstGeom>
          <a:noFill/>
        </p:spPr>
        <p:txBody>
          <a:bodyPr wrap="square" lIns="0" tIns="27432" rIns="0" bIns="27432" anchor="ctr">
            <a:noAutofit/>
          </a:bodyPr>
          <a:lstStyle/>
          <a:p>
            <a:pPr algn="l">
              <a:lnSpc>
                <a:spcPct val="125000"/>
              </a:lnSpc>
              <a:spcAft>
                <a:spcPts val="500"/>
              </a:spcAft>
            </a:pPr>
            <a:r>
              <a:rPr lang="ko-KR" altLang="en-US"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rPr>
              <a:t>소년 일부가 이전에도 차량 절도</a:t>
            </a:r>
            <a:r>
              <a:rPr lang="en-US" altLang="ko-KR"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rPr>
              <a:t>,</a:t>
            </a:r>
            <a:r>
              <a:rPr lang="ko-KR" altLang="en-US"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rPr>
              <a:t> 무면허 운전 및 학교폭력을 반복한 것으로 보도</a:t>
            </a:r>
            <a:endParaRPr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endParaRPr>
          </a:p>
          <a:p>
            <a:pPr algn="l"/>
            <a:r>
              <a:rPr lang="ko-KR" altLang="en-US"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rPr>
              <a:t>사고 뒤 도주한 일부</a:t>
            </a:r>
            <a:r>
              <a:rPr lang="en-US" altLang="ko-KR"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rPr>
              <a:t>(2</a:t>
            </a:r>
            <a:r>
              <a:rPr lang="ko-KR" altLang="en-US"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rPr>
              <a:t>명</a:t>
            </a:r>
            <a:r>
              <a:rPr lang="en-US" altLang="ko-KR"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rPr>
              <a:t>)</a:t>
            </a:r>
            <a:r>
              <a:rPr lang="ko-KR" altLang="en-US"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rPr>
              <a:t>도 다시 다른 차량을 훔쳐 이동한 것으로 파악</a:t>
            </a:r>
            <a:endParaRPr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bar1"/>
          <p:cNvSpPr/>
          <p:nvPr/>
        </p:nvSpPr>
        <p:spPr>
          <a:xfrm>
            <a:off x="966444" y="4965761"/>
            <a:ext cx="68580" cy="256032"/>
          </a:xfrm>
          <a:prstGeom prst="rect">
            <a:avLst/>
          </a:prstGeom>
          <a:solidFill>
            <a:schemeClr val="accent4">
              <a:lumMod val="75000"/>
            </a:schemeClr>
          </a:solidFill>
          <a:ln>
            <a:noFill/>
          </a:ln>
        </p:spPr>
        <p:txBody>
          <a:bodyPr/>
          <a:lstStyle/>
          <a:p>
            <a:endParaRPr>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h0"/>
          <p:cNvSpPr txBox="1"/>
          <p:nvPr/>
        </p:nvSpPr>
        <p:spPr>
          <a:xfrm>
            <a:off x="1136343" y="4918843"/>
            <a:ext cx="852256" cy="338327"/>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여론 폭발</a:t>
            </a:r>
            <a:endParaRPr lang="ko-KR"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b0"/>
          <p:cNvSpPr txBox="1"/>
          <p:nvPr/>
        </p:nvSpPr>
        <p:spPr>
          <a:xfrm>
            <a:off x="3154680" y="4836877"/>
            <a:ext cx="5696357" cy="521207"/>
          </a:xfrm>
          <a:prstGeom prst="rect">
            <a:avLst/>
          </a:prstGeom>
          <a:noFill/>
        </p:spPr>
        <p:txBody>
          <a:bodyPr wrap="square" lIns="0" tIns="27432" rIns="0" bIns="27432" anchor="ctr">
            <a:noAutofit/>
          </a:bodyPr>
          <a:lstStyle/>
          <a:p>
            <a:pPr algn="l">
              <a:lnSpc>
                <a:spcPct val="125000"/>
              </a:lnSpc>
              <a:spcAft>
                <a:spcPts val="500"/>
              </a:spcAft>
            </a:pPr>
            <a:r>
              <a:rPr lang="ko-KR" altLang="en-US"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rPr>
              <a:t>엄벌 요구 국민청원</a:t>
            </a:r>
            <a:endParaRPr sz="1250" b="1" dirty="0">
              <a:solidFill>
                <a:srgbClr val="222633"/>
              </a:solidFill>
              <a:latin typeface="Pretendard" panose="02000503000000020004" pitchFamily="50" charset="-127"/>
              <a:ea typeface="Pretendard" panose="02000503000000020004" pitchFamily="50" charset="-127"/>
              <a:cs typeface="Pretendard" panose="02000503000000020004" pitchFamily="50" charset="-127"/>
            </a:endParaRPr>
          </a:p>
          <a:p>
            <a:pPr algn="l"/>
            <a:r>
              <a:rPr lang="ko-KR" altLang="en-US"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rPr>
              <a:t>최종 </a:t>
            </a:r>
            <a:r>
              <a:rPr lang="en-US" altLang="ko-KR"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rPr>
              <a:t>1,007,040</a:t>
            </a:r>
            <a:r>
              <a:rPr lang="ko-KR" altLang="en-US"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rPr>
              <a:t>명 동의</a:t>
            </a:r>
            <a:endParaRPr sz="1150" b="0" dirty="0">
              <a:solidFill>
                <a:srgbClr val="464D5C"/>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bandbg"/>
          <p:cNvSpPr/>
          <p:nvPr/>
        </p:nvSpPr>
        <p:spPr>
          <a:xfrm>
            <a:off x="1124712" y="5751576"/>
            <a:ext cx="9912096" cy="457200"/>
          </a:xfrm>
          <a:prstGeom prst="rect">
            <a:avLst/>
          </a:prstGeom>
          <a:solidFill>
            <a:srgbClr val="1E2761"/>
          </a:solidFill>
          <a:ln>
            <a:noFill/>
          </a:ln>
        </p:spPr>
        <p:txBody>
          <a:bodyPr/>
          <a:lstStyle/>
          <a:p>
            <a:endParaRPr>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band"/>
          <p:cNvSpPr txBox="1"/>
          <p:nvPr/>
        </p:nvSpPr>
        <p:spPr>
          <a:xfrm>
            <a:off x="1307592" y="5779008"/>
            <a:ext cx="9546336" cy="402336"/>
          </a:xfrm>
          <a:prstGeom prst="rect">
            <a:avLst/>
          </a:prstGeom>
          <a:noFill/>
        </p:spPr>
        <p:txBody>
          <a:bodyPr wrap="square" lIns="0" tIns="27432" rIns="0" bIns="27432" anchor="ctr">
            <a:noAutofit/>
          </a:bodyPr>
          <a:lstStyle/>
          <a:p>
            <a:pPr algn="ctr">
              <a:lnSpc>
                <a:spcPct val="118000"/>
              </a:lnSpc>
            </a:pPr>
            <a:r>
              <a:rPr lang="ko-KR" altLang="en-US" sz="125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사건이 새로 만든 질문은 소년의 중대한</a:t>
            </a:r>
            <a:r>
              <a:rPr lang="en-US" altLang="ko-KR" sz="125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a:t>
            </a:r>
            <a:r>
              <a:rPr lang="ko-KR" altLang="en-US" sz="125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반복적인 사건에도 보호처분만으로 충분한가</a:t>
            </a:r>
            <a:r>
              <a:rPr lang="en-US" altLang="ko-KR" sz="125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5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형사책임의 선택지를 더 열어야 하는가라고 볼 수 있다</a:t>
            </a:r>
            <a:endParaRPr lang="ko-KR" sz="125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newzone">
            <a:extLst>
              <a:ext uri="{FF2B5EF4-FFF2-40B4-BE49-F238E27FC236}">
                <a16:creationId xmlns:a16="http://schemas.microsoft.com/office/drawing/2014/main" id="{3E824FEE-9DE6-4B4F-A48E-2B0E7678C9B1}"/>
              </a:ext>
            </a:extLst>
          </p:cNvPr>
          <p:cNvSpPr>
            <a:spLocks noGrp="1"/>
          </p:cNvSpPr>
          <p:nvPr/>
        </p:nvSpPr>
        <p:spPr>
          <a:xfrm>
            <a:off x="4553712" y="3900561"/>
            <a:ext cx="4462272" cy="1845425"/>
          </a:xfrm>
          <a:custGeom>
            <a:avLst/>
            <a:gdLst/>
            <a:ahLst/>
            <a:cxnLst/>
            <a:rect l="0" t="0" r="r" b="b"/>
            <a:pathLst>
              <a:path w="4462272" h="2194560">
                <a:moveTo>
                  <a:pt x="0" y="0"/>
                </a:moveTo>
                <a:lnTo>
                  <a:pt x="4462272" y="0"/>
                </a:lnTo>
                <a:lnTo>
                  <a:pt x="4462272" y="795528"/>
                </a:lnTo>
                <a:lnTo>
                  <a:pt x="2157984" y="795528"/>
                </a:lnTo>
                <a:lnTo>
                  <a:pt x="2157984" y="2194560"/>
                </a:lnTo>
                <a:lnTo>
                  <a:pt x="0" y="2194560"/>
                </a:lnTo>
                <a:close/>
              </a:path>
            </a:pathLst>
          </a:custGeom>
          <a:noFill/>
          <a:ln w="19050">
            <a:solidFill>
              <a:srgbClr val="A8871C"/>
            </a:solidFill>
            <a:prstDash val="dash"/>
          </a:ln>
        </p:spPr>
        <p:txBody>
          <a:bodyPr/>
          <a:lstStyle/>
          <a:p>
            <a:endParaRPr>
              <a:latin typeface="Pretendard"/>
              <a:ea typeface="Pretendard"/>
              <a:cs typeface="Pretendard"/>
            </a:endParaRPr>
          </a:p>
        </p:txBody>
      </p:sp>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13세의 경찰 이후 절차</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연령대별 처리 경로와 결과</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nSpc>
                <a:spcPct val="118000"/>
              </a:lnSpc>
            </a:pP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3</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세도 현재 경찰의 사실확인</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조사 대상이다</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다만 </a:t>
            </a:r>
            <a:r>
              <a:rPr lang="ko-KR" altLang="en-US" sz="1300" b="1" dirty="0">
                <a:solidFill>
                  <a:srgbClr val="1E2761"/>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범죄소년 사건은 형사사건으로 처리되어 형사재판의 가능성이 새로 열린다</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a:t>
            </a:r>
            <a:endParaRP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200" name="lh">
            <a:extLst>
              <a:ext uri="{FF2B5EF4-FFF2-40B4-BE49-F238E27FC236}">
                <a16:creationId xmlns:a16="http://schemas.microsoft.com/office/drawing/2014/main" id="{FEB34D3A-9675-4D1E-BB8B-63FC81CB8B6D}"/>
              </a:ext>
            </a:extLst>
          </p:cNvPr>
          <p:cNvSpPr>
            <a:spLocks noGrp="1"/>
          </p:cNvSpPr>
          <p:nvPr/>
        </p:nvSpPr>
        <p:spPr>
          <a:xfrm>
            <a:off x="731520" y="2240280"/>
            <a:ext cx="1417320" cy="230678"/>
          </a:xfrm>
          <a:prstGeom prst="rect">
            <a:avLst/>
          </a:prstGeom>
          <a:noFill/>
        </p:spPr>
        <p:txBody>
          <a:bodyPr wrap="square" lIns="0" tIns="0" rIns="0" bIns="0" anchor="ctr"/>
          <a:lstStyle/>
          <a:p>
            <a:pPr marL="0" indent="0" algn="l">
              <a:lnSpc>
                <a:spcPct val="118000"/>
              </a:lnSpc>
              <a:buNone/>
            </a:pPr>
            <a:r>
              <a:rPr sz="1100" dirty="0" err="1">
                <a:solidFill>
                  <a:srgbClr val="464D5C"/>
                </a:solidFill>
                <a:latin typeface="Pretendard"/>
                <a:ea typeface="Pretendard"/>
                <a:cs typeface="Pretendard"/>
              </a:rPr>
              <a:t>연령대</a:t>
            </a:r>
            <a:endParaRPr sz="1100" dirty="0">
              <a:solidFill>
                <a:srgbClr val="464D5C"/>
              </a:solidFill>
              <a:latin typeface="Pretendard"/>
              <a:ea typeface="Pretendard"/>
              <a:cs typeface="Pretendard"/>
            </a:endParaRPr>
          </a:p>
        </p:txBody>
      </p:sp>
      <p:sp>
        <p:nvSpPr>
          <p:cNvPr id="201" name="ch">
            <a:extLst>
              <a:ext uri="{FF2B5EF4-FFF2-40B4-BE49-F238E27FC236}">
                <a16:creationId xmlns:a16="http://schemas.microsoft.com/office/drawing/2014/main" id="{E3744B15-02CA-48E6-BCB5-BAA40C23FC45}"/>
              </a:ext>
            </a:extLst>
          </p:cNvPr>
          <p:cNvSpPr>
            <a:spLocks noGrp="1"/>
          </p:cNvSpPr>
          <p:nvPr/>
        </p:nvSpPr>
        <p:spPr>
          <a:xfrm>
            <a:off x="2240280" y="2240280"/>
            <a:ext cx="2176272" cy="230678"/>
          </a:xfrm>
          <a:prstGeom prst="rect">
            <a:avLst/>
          </a:prstGeom>
          <a:noFill/>
        </p:spPr>
        <p:txBody>
          <a:bodyPr wrap="square" lIns="0" tIns="0" rIns="0" bIns="0" anchor="ctr"/>
          <a:lstStyle/>
          <a:p>
            <a:pPr marL="0" indent="0" algn="ctr">
              <a:lnSpc>
                <a:spcPct val="118000"/>
              </a:lnSpc>
              <a:buNone/>
            </a:pPr>
            <a:r>
              <a:rPr sz="1150" b="1">
                <a:solidFill>
                  <a:srgbClr val="1E2761"/>
                </a:solidFill>
                <a:latin typeface="Pretendard"/>
                <a:ea typeface="Pretendard"/>
                <a:cs typeface="Pretendard"/>
              </a:rPr>
              <a:t>경찰 단계</a:t>
            </a:r>
          </a:p>
        </p:txBody>
      </p:sp>
      <p:sp>
        <p:nvSpPr>
          <p:cNvPr id="202" name="ch">
            <a:extLst>
              <a:ext uri="{FF2B5EF4-FFF2-40B4-BE49-F238E27FC236}">
                <a16:creationId xmlns:a16="http://schemas.microsoft.com/office/drawing/2014/main" id="{733D5FE5-D0A5-448B-A95A-C589FF3DDEE1}"/>
              </a:ext>
            </a:extLst>
          </p:cNvPr>
          <p:cNvSpPr>
            <a:spLocks noGrp="1"/>
          </p:cNvSpPr>
          <p:nvPr/>
        </p:nvSpPr>
        <p:spPr>
          <a:xfrm>
            <a:off x="4544568" y="2240280"/>
            <a:ext cx="2176272" cy="230678"/>
          </a:xfrm>
          <a:prstGeom prst="rect">
            <a:avLst/>
          </a:prstGeom>
          <a:noFill/>
        </p:spPr>
        <p:txBody>
          <a:bodyPr wrap="square" lIns="0" tIns="0" rIns="0" bIns="0" anchor="ctr"/>
          <a:lstStyle/>
          <a:p>
            <a:pPr marL="0" indent="0" algn="ctr">
              <a:lnSpc>
                <a:spcPct val="118000"/>
              </a:lnSpc>
              <a:buNone/>
            </a:pPr>
            <a:r>
              <a:rPr sz="1150" b="1">
                <a:solidFill>
                  <a:srgbClr val="1E2761"/>
                </a:solidFill>
                <a:latin typeface="Pretendard"/>
                <a:ea typeface="Pretendard"/>
                <a:cs typeface="Pretendard"/>
              </a:rPr>
              <a:t>검찰 단계</a:t>
            </a:r>
          </a:p>
        </p:txBody>
      </p:sp>
      <p:sp>
        <p:nvSpPr>
          <p:cNvPr id="203" name="ch">
            <a:extLst>
              <a:ext uri="{FF2B5EF4-FFF2-40B4-BE49-F238E27FC236}">
                <a16:creationId xmlns:a16="http://schemas.microsoft.com/office/drawing/2014/main" id="{8CB7B683-BBE8-47DF-9908-EBDFD5E45F4D}"/>
              </a:ext>
            </a:extLst>
          </p:cNvPr>
          <p:cNvSpPr>
            <a:spLocks noGrp="1"/>
          </p:cNvSpPr>
          <p:nvPr/>
        </p:nvSpPr>
        <p:spPr>
          <a:xfrm>
            <a:off x="6848856" y="2240280"/>
            <a:ext cx="2176272" cy="230678"/>
          </a:xfrm>
          <a:prstGeom prst="rect">
            <a:avLst/>
          </a:prstGeom>
          <a:noFill/>
        </p:spPr>
        <p:txBody>
          <a:bodyPr wrap="square" lIns="0" tIns="0" rIns="0" bIns="0" anchor="ctr"/>
          <a:lstStyle/>
          <a:p>
            <a:pPr marL="0" indent="0" algn="ctr">
              <a:lnSpc>
                <a:spcPct val="118000"/>
              </a:lnSpc>
              <a:buNone/>
            </a:pPr>
            <a:r>
              <a:rPr sz="1150" b="1">
                <a:solidFill>
                  <a:srgbClr val="1E2761"/>
                </a:solidFill>
                <a:latin typeface="Pretendard"/>
                <a:ea typeface="Pretendard"/>
                <a:cs typeface="Pretendard"/>
              </a:rPr>
              <a:t>법원 단계</a:t>
            </a:r>
          </a:p>
        </p:txBody>
      </p:sp>
      <p:sp>
        <p:nvSpPr>
          <p:cNvPr id="204" name="ch">
            <a:extLst>
              <a:ext uri="{FF2B5EF4-FFF2-40B4-BE49-F238E27FC236}">
                <a16:creationId xmlns:a16="http://schemas.microsoft.com/office/drawing/2014/main" id="{7DF9B3FD-192F-4A69-BAD3-47D0FE2CF0AF}"/>
              </a:ext>
            </a:extLst>
          </p:cNvPr>
          <p:cNvSpPr>
            <a:spLocks noGrp="1"/>
          </p:cNvSpPr>
          <p:nvPr/>
        </p:nvSpPr>
        <p:spPr>
          <a:xfrm>
            <a:off x="9153144" y="2240280"/>
            <a:ext cx="2176272" cy="230678"/>
          </a:xfrm>
          <a:prstGeom prst="rect">
            <a:avLst/>
          </a:prstGeom>
          <a:noFill/>
        </p:spPr>
        <p:txBody>
          <a:bodyPr wrap="square" lIns="0" tIns="0" rIns="0" bIns="0" anchor="ctr"/>
          <a:lstStyle/>
          <a:p>
            <a:pPr marL="0" indent="0" algn="ctr">
              <a:lnSpc>
                <a:spcPct val="118000"/>
              </a:lnSpc>
              <a:buNone/>
            </a:pPr>
            <a:r>
              <a:rPr sz="1150" b="1">
                <a:solidFill>
                  <a:srgbClr val="1E2761"/>
                </a:solidFill>
                <a:latin typeface="Pretendard"/>
                <a:ea typeface="Pretendard"/>
                <a:cs typeface="Pretendard"/>
              </a:rPr>
              <a:t>결과</a:t>
            </a:r>
          </a:p>
        </p:txBody>
      </p:sp>
      <p:sp>
        <p:nvSpPr>
          <p:cNvPr id="205" name="hl">
            <a:extLst>
              <a:ext uri="{FF2B5EF4-FFF2-40B4-BE49-F238E27FC236}">
                <a16:creationId xmlns:a16="http://schemas.microsoft.com/office/drawing/2014/main" id="{FF3BBA96-1F04-4ABC-97BC-68CCAB84FEC5}"/>
              </a:ext>
            </a:extLst>
          </p:cNvPr>
          <p:cNvSpPr>
            <a:spLocks noGrp="1"/>
          </p:cNvSpPr>
          <p:nvPr/>
        </p:nvSpPr>
        <p:spPr>
          <a:xfrm>
            <a:off x="731520" y="2517093"/>
            <a:ext cx="10597896" cy="0"/>
          </a:xfrm>
          <a:prstGeom prst="line">
            <a:avLst/>
          </a:prstGeom>
          <a:ln w="19050">
            <a:solidFill>
              <a:srgbClr val="1E2761"/>
            </a:solidFill>
          </a:ln>
        </p:spPr>
        <p:txBody>
          <a:bodyPr/>
          <a:lstStyle/>
          <a:p>
            <a:endParaRPr>
              <a:latin typeface="Pretendard"/>
              <a:ea typeface="Pretendard"/>
              <a:cs typeface="Pretendard"/>
            </a:endParaRPr>
          </a:p>
        </p:txBody>
      </p:sp>
      <p:sp>
        <p:nvSpPr>
          <p:cNvPr id="206" name="rl">
            <a:extLst>
              <a:ext uri="{FF2B5EF4-FFF2-40B4-BE49-F238E27FC236}">
                <a16:creationId xmlns:a16="http://schemas.microsoft.com/office/drawing/2014/main" id="{5E436F14-DB2C-4FD1-8D1B-A7218137F5C2}"/>
              </a:ext>
            </a:extLst>
          </p:cNvPr>
          <p:cNvSpPr>
            <a:spLocks noGrp="1"/>
          </p:cNvSpPr>
          <p:nvPr/>
        </p:nvSpPr>
        <p:spPr>
          <a:xfrm>
            <a:off x="731520" y="2578608"/>
            <a:ext cx="1417320" cy="353706"/>
          </a:xfrm>
          <a:prstGeom prst="rect">
            <a:avLst/>
          </a:prstGeom>
          <a:solidFill>
            <a:srgbClr val="F2F4F8"/>
          </a:solidFill>
          <a:ln>
            <a:noFill/>
          </a:ln>
        </p:spPr>
        <p:txBody>
          <a:bodyPr/>
          <a:lstStyle/>
          <a:p>
            <a:endParaRPr>
              <a:latin typeface="Pretendard"/>
              <a:ea typeface="Pretendard"/>
              <a:cs typeface="Pretendard"/>
            </a:endParaRPr>
          </a:p>
        </p:txBody>
      </p:sp>
      <p:sp>
        <p:nvSpPr>
          <p:cNvPr id="207" name="rlt">
            <a:extLst>
              <a:ext uri="{FF2B5EF4-FFF2-40B4-BE49-F238E27FC236}">
                <a16:creationId xmlns:a16="http://schemas.microsoft.com/office/drawing/2014/main" id="{C8B32A37-03B8-46AC-A7D4-0FBD70EA4880}"/>
              </a:ext>
            </a:extLst>
          </p:cNvPr>
          <p:cNvSpPr>
            <a:spLocks noGrp="1"/>
          </p:cNvSpPr>
          <p:nvPr/>
        </p:nvSpPr>
        <p:spPr>
          <a:xfrm>
            <a:off x="731520" y="2565151"/>
            <a:ext cx="1417320" cy="353706"/>
          </a:xfrm>
          <a:prstGeom prst="rect">
            <a:avLst/>
          </a:prstGeom>
          <a:noFill/>
        </p:spPr>
        <p:txBody>
          <a:bodyPr wrap="square" lIns="0" tIns="0" rIns="0" bIns="0" anchor="ctr"/>
          <a:lstStyle/>
          <a:p>
            <a:pPr marL="0" indent="0" algn="ctr">
              <a:lnSpc>
                <a:spcPct val="118000"/>
              </a:lnSpc>
              <a:buNone/>
            </a:pPr>
            <a:r>
              <a:rPr sz="1200" b="1">
                <a:solidFill>
                  <a:srgbClr val="464D5C"/>
                </a:solidFill>
                <a:latin typeface="Pretendard"/>
                <a:ea typeface="Pretendard"/>
                <a:cs typeface="Pretendard"/>
              </a:rPr>
              <a:t>10세 미만</a:t>
            </a:r>
          </a:p>
          <a:p>
            <a:pPr marL="0" indent="0" algn="ctr">
              <a:lnSpc>
                <a:spcPct val="118000"/>
              </a:lnSpc>
              <a:buNone/>
            </a:pPr>
            <a:r>
              <a:rPr sz="1000">
                <a:solidFill>
                  <a:srgbClr val="6E7686"/>
                </a:solidFill>
                <a:latin typeface="Pretendard"/>
                <a:ea typeface="Pretendard"/>
                <a:cs typeface="Pretendard"/>
              </a:rPr>
              <a:t>소년보호사건 대상 아님</a:t>
            </a:r>
          </a:p>
        </p:txBody>
      </p:sp>
      <p:sp>
        <p:nvSpPr>
          <p:cNvPr id="208" name="na">
            <a:extLst>
              <a:ext uri="{FF2B5EF4-FFF2-40B4-BE49-F238E27FC236}">
                <a16:creationId xmlns:a16="http://schemas.microsoft.com/office/drawing/2014/main" id="{6A8D7708-F984-4EE7-8949-64E70996EF01}"/>
              </a:ext>
            </a:extLst>
          </p:cNvPr>
          <p:cNvSpPr>
            <a:spLocks noGrp="1"/>
          </p:cNvSpPr>
          <p:nvPr/>
        </p:nvSpPr>
        <p:spPr>
          <a:xfrm>
            <a:off x="2240280" y="2578608"/>
            <a:ext cx="2176272" cy="353706"/>
          </a:xfrm>
          <a:prstGeom prst="rect">
            <a:avLst/>
          </a:prstGeom>
          <a:noFill/>
        </p:spPr>
        <p:txBody>
          <a:bodyPr wrap="square" lIns="0" tIns="0" rIns="0" bIns="0" anchor="ctr">
            <a:noAutofit/>
          </a:bodyPr>
          <a:lstStyle/>
          <a:p>
            <a:pPr marL="0" indent="0" algn="ctr">
              <a:lnSpc>
                <a:spcPct val="118000"/>
              </a:lnSpc>
              <a:buNone/>
            </a:pPr>
            <a:r>
              <a:rPr sz="1050">
                <a:solidFill>
                  <a:srgbClr val="464D5C"/>
                </a:solidFill>
                <a:latin typeface="Pretendard"/>
                <a:ea typeface="Pretendard"/>
                <a:cs typeface="Pretendard"/>
              </a:rPr>
              <a:t>안전확인·보호연계</a:t>
            </a:r>
          </a:p>
        </p:txBody>
      </p:sp>
      <p:sp>
        <p:nvSpPr>
          <p:cNvPr id="209" name="na">
            <a:extLst>
              <a:ext uri="{FF2B5EF4-FFF2-40B4-BE49-F238E27FC236}">
                <a16:creationId xmlns:a16="http://schemas.microsoft.com/office/drawing/2014/main" id="{E46C6C78-FE11-431F-AD5B-96BED23D62FC}"/>
              </a:ext>
            </a:extLst>
          </p:cNvPr>
          <p:cNvSpPr>
            <a:spLocks noGrp="1"/>
          </p:cNvSpPr>
          <p:nvPr/>
        </p:nvSpPr>
        <p:spPr>
          <a:xfrm>
            <a:off x="4544568" y="2578608"/>
            <a:ext cx="2176272" cy="353706"/>
          </a:xfrm>
          <a:prstGeom prst="rect">
            <a:avLst/>
          </a:prstGeom>
          <a:noFill/>
        </p:spPr>
        <p:txBody>
          <a:bodyPr wrap="square" lIns="0" tIns="0" rIns="0" bIns="0" anchor="ctr">
            <a:noAutofit/>
          </a:bodyPr>
          <a:lstStyle/>
          <a:p>
            <a:pPr marL="0" indent="0" algn="ctr">
              <a:lnSpc>
                <a:spcPct val="118000"/>
              </a:lnSpc>
              <a:buNone/>
            </a:pPr>
            <a:r>
              <a:rPr sz="1050">
                <a:solidFill>
                  <a:srgbClr val="464D5C"/>
                </a:solidFill>
                <a:latin typeface="Pretendard"/>
                <a:ea typeface="Pretendard"/>
                <a:cs typeface="Pretendard"/>
              </a:rPr>
              <a:t>기소 대상 아님</a:t>
            </a:r>
          </a:p>
        </p:txBody>
      </p:sp>
      <p:sp>
        <p:nvSpPr>
          <p:cNvPr id="210" name="na">
            <a:extLst>
              <a:ext uri="{FF2B5EF4-FFF2-40B4-BE49-F238E27FC236}">
                <a16:creationId xmlns:a16="http://schemas.microsoft.com/office/drawing/2014/main" id="{9719695A-8BF7-4935-BBAD-9C85E7AB6DD0}"/>
              </a:ext>
            </a:extLst>
          </p:cNvPr>
          <p:cNvSpPr>
            <a:spLocks noGrp="1"/>
          </p:cNvSpPr>
          <p:nvPr/>
        </p:nvSpPr>
        <p:spPr>
          <a:xfrm>
            <a:off x="6848856" y="2578608"/>
            <a:ext cx="2176272" cy="353706"/>
          </a:xfrm>
          <a:prstGeom prst="rect">
            <a:avLst/>
          </a:prstGeom>
          <a:noFill/>
        </p:spPr>
        <p:txBody>
          <a:bodyPr wrap="square" lIns="0" tIns="0" rIns="0" bIns="0" anchor="ctr">
            <a:noAutofit/>
          </a:bodyPr>
          <a:lstStyle/>
          <a:p>
            <a:pPr marL="0" indent="0" algn="ctr">
              <a:lnSpc>
                <a:spcPct val="118000"/>
              </a:lnSpc>
              <a:buNone/>
            </a:pPr>
            <a:r>
              <a:rPr sz="1050">
                <a:solidFill>
                  <a:srgbClr val="464D5C"/>
                </a:solidFill>
                <a:latin typeface="Pretendard"/>
                <a:ea typeface="Pretendard"/>
                <a:cs typeface="Pretendard"/>
              </a:rPr>
              <a:t>소년보호심리 대상 아님</a:t>
            </a:r>
          </a:p>
        </p:txBody>
      </p:sp>
      <p:sp>
        <p:nvSpPr>
          <p:cNvPr id="211" name="na">
            <a:extLst>
              <a:ext uri="{FF2B5EF4-FFF2-40B4-BE49-F238E27FC236}">
                <a16:creationId xmlns:a16="http://schemas.microsoft.com/office/drawing/2014/main" id="{C4A01115-50C3-464C-966C-1A733AB6A706}"/>
              </a:ext>
            </a:extLst>
          </p:cNvPr>
          <p:cNvSpPr>
            <a:spLocks noGrp="1"/>
          </p:cNvSpPr>
          <p:nvPr/>
        </p:nvSpPr>
        <p:spPr>
          <a:xfrm>
            <a:off x="9153144" y="2578608"/>
            <a:ext cx="2176272" cy="353706"/>
          </a:xfrm>
          <a:prstGeom prst="rect">
            <a:avLst/>
          </a:prstGeom>
          <a:noFill/>
        </p:spPr>
        <p:txBody>
          <a:bodyPr wrap="square" lIns="0" tIns="0" rIns="0" bIns="0" anchor="ctr">
            <a:noAutofit/>
          </a:bodyPr>
          <a:lstStyle/>
          <a:p>
            <a:pPr marL="0" indent="0" algn="ctr">
              <a:lnSpc>
                <a:spcPct val="118000"/>
              </a:lnSpc>
              <a:buNone/>
            </a:pPr>
            <a:r>
              <a:rPr sz="1050">
                <a:solidFill>
                  <a:srgbClr val="464D5C"/>
                </a:solidFill>
                <a:latin typeface="Pretendard"/>
                <a:ea typeface="Pretendard"/>
                <a:cs typeface="Pretendard"/>
              </a:rPr>
              <a:t>요건 충족 시 아동보호</a:t>
            </a:r>
          </a:p>
        </p:txBody>
      </p:sp>
      <p:sp>
        <p:nvSpPr>
          <p:cNvPr id="212" name="d1">
            <a:extLst>
              <a:ext uri="{FF2B5EF4-FFF2-40B4-BE49-F238E27FC236}">
                <a16:creationId xmlns:a16="http://schemas.microsoft.com/office/drawing/2014/main" id="{60F1F74B-AD1F-4DC0-8687-F72B79EA57E6}"/>
              </a:ext>
            </a:extLst>
          </p:cNvPr>
          <p:cNvSpPr>
            <a:spLocks noGrp="1"/>
          </p:cNvSpPr>
          <p:nvPr/>
        </p:nvSpPr>
        <p:spPr>
          <a:xfrm>
            <a:off x="731520" y="2978450"/>
            <a:ext cx="10597896" cy="0"/>
          </a:xfrm>
          <a:prstGeom prst="line">
            <a:avLst/>
          </a:prstGeom>
          <a:ln w="9525">
            <a:solidFill>
              <a:srgbClr val="DCE0E8"/>
            </a:solidFill>
          </a:ln>
        </p:spPr>
        <p:txBody>
          <a:bodyPr/>
          <a:lstStyle/>
          <a:p>
            <a:endParaRPr>
              <a:latin typeface="Pretendard"/>
              <a:ea typeface="Pretendard"/>
              <a:cs typeface="Pretendard"/>
            </a:endParaRPr>
          </a:p>
        </p:txBody>
      </p:sp>
      <p:sp>
        <p:nvSpPr>
          <p:cNvPr id="213" name="rl">
            <a:extLst>
              <a:ext uri="{FF2B5EF4-FFF2-40B4-BE49-F238E27FC236}">
                <a16:creationId xmlns:a16="http://schemas.microsoft.com/office/drawing/2014/main" id="{FC3A3AC3-B52E-4B7E-8D9A-6DF8CB8A0B80}"/>
              </a:ext>
            </a:extLst>
          </p:cNvPr>
          <p:cNvSpPr>
            <a:spLocks noGrp="1"/>
          </p:cNvSpPr>
          <p:nvPr/>
        </p:nvSpPr>
        <p:spPr>
          <a:xfrm>
            <a:off x="731520" y="3024585"/>
            <a:ext cx="1417320" cy="738170"/>
          </a:xfrm>
          <a:prstGeom prst="rect">
            <a:avLst/>
          </a:prstGeom>
          <a:solidFill>
            <a:srgbClr val="F2F4F8"/>
          </a:solidFill>
          <a:ln>
            <a:noFill/>
          </a:ln>
        </p:spPr>
        <p:txBody>
          <a:bodyPr/>
          <a:lstStyle/>
          <a:p>
            <a:endParaRPr>
              <a:latin typeface="Pretendard"/>
              <a:ea typeface="Pretendard"/>
              <a:cs typeface="Pretendard"/>
            </a:endParaRPr>
          </a:p>
        </p:txBody>
      </p:sp>
      <p:sp>
        <p:nvSpPr>
          <p:cNvPr id="214" name="rlt">
            <a:extLst>
              <a:ext uri="{FF2B5EF4-FFF2-40B4-BE49-F238E27FC236}">
                <a16:creationId xmlns:a16="http://schemas.microsoft.com/office/drawing/2014/main" id="{B76CAEA6-F86B-4E1F-857F-BB0058512720}"/>
              </a:ext>
            </a:extLst>
          </p:cNvPr>
          <p:cNvSpPr>
            <a:spLocks noGrp="1"/>
          </p:cNvSpPr>
          <p:nvPr/>
        </p:nvSpPr>
        <p:spPr>
          <a:xfrm>
            <a:off x="731520" y="3008566"/>
            <a:ext cx="1417320" cy="738170"/>
          </a:xfrm>
          <a:prstGeom prst="rect">
            <a:avLst/>
          </a:prstGeom>
          <a:noFill/>
        </p:spPr>
        <p:txBody>
          <a:bodyPr wrap="square" lIns="0" tIns="0" rIns="0" bIns="0" anchor="ctr"/>
          <a:lstStyle/>
          <a:p>
            <a:pPr marL="0" indent="0" algn="ctr">
              <a:lnSpc>
                <a:spcPct val="118000"/>
              </a:lnSpc>
              <a:buNone/>
            </a:pPr>
            <a:r>
              <a:rPr sz="1200" b="1" dirty="0">
                <a:solidFill>
                  <a:srgbClr val="1E2761"/>
                </a:solidFill>
                <a:latin typeface="Pretendard"/>
                <a:ea typeface="Pretendard"/>
                <a:cs typeface="Pretendard"/>
              </a:rPr>
              <a:t>10 ~ 13세</a:t>
            </a:r>
          </a:p>
          <a:p>
            <a:pPr marL="0" indent="0" algn="ctr">
              <a:lnSpc>
                <a:spcPct val="118000"/>
              </a:lnSpc>
              <a:buNone/>
            </a:pPr>
            <a:r>
              <a:rPr sz="1000" dirty="0" err="1">
                <a:solidFill>
                  <a:srgbClr val="6E7686"/>
                </a:solidFill>
                <a:latin typeface="Pretendard"/>
                <a:ea typeface="Pretendard"/>
                <a:cs typeface="Pretendard"/>
              </a:rPr>
              <a:t>촉법소년</a:t>
            </a:r>
            <a:endParaRPr lang="en-US" sz="1000" dirty="0">
              <a:solidFill>
                <a:srgbClr val="6E7686"/>
              </a:solidFill>
              <a:latin typeface="Pretendard"/>
              <a:ea typeface="Pretendard"/>
              <a:cs typeface="Pretendard"/>
            </a:endParaRPr>
          </a:p>
        </p:txBody>
      </p:sp>
      <p:sp>
        <p:nvSpPr>
          <p:cNvPr id="215" name="sg">
            <a:extLst>
              <a:ext uri="{FF2B5EF4-FFF2-40B4-BE49-F238E27FC236}">
                <a16:creationId xmlns:a16="http://schemas.microsoft.com/office/drawing/2014/main" id="{2D0B1793-9368-4380-84EB-0DC7C2913D9A}"/>
              </a:ext>
            </a:extLst>
          </p:cNvPr>
          <p:cNvSpPr>
            <a:spLocks noGrp="1"/>
          </p:cNvSpPr>
          <p:nvPr/>
        </p:nvSpPr>
        <p:spPr>
          <a:xfrm>
            <a:off x="2322576" y="3089944"/>
            <a:ext cx="2011680" cy="607452"/>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16" name="sgt">
            <a:extLst>
              <a:ext uri="{FF2B5EF4-FFF2-40B4-BE49-F238E27FC236}">
                <a16:creationId xmlns:a16="http://schemas.microsoft.com/office/drawing/2014/main" id="{A0B454B8-104E-4472-B937-C0BD35DD9A41}"/>
              </a:ext>
            </a:extLst>
          </p:cNvPr>
          <p:cNvSpPr>
            <a:spLocks noGrp="1"/>
          </p:cNvSpPr>
          <p:nvPr/>
        </p:nvSpPr>
        <p:spPr>
          <a:xfrm>
            <a:off x="2322576" y="3073925"/>
            <a:ext cx="2011680" cy="607452"/>
          </a:xfrm>
          <a:prstGeom prst="rect">
            <a:avLst/>
          </a:prstGeom>
          <a:noFill/>
        </p:spPr>
        <p:txBody>
          <a:bodyPr wrap="square" lIns="0" tIns="0" rIns="0" bIns="0" anchor="ctr"/>
          <a:lstStyle/>
          <a:p>
            <a:pPr marL="0" indent="0" algn="ctr">
              <a:lnSpc>
                <a:spcPct val="118000"/>
              </a:lnSpc>
              <a:buNone/>
            </a:pPr>
            <a:r>
              <a:rPr sz="1100" dirty="0" err="1">
                <a:solidFill>
                  <a:srgbClr val="222633"/>
                </a:solidFill>
                <a:latin typeface="Pretendard"/>
              </a:rPr>
              <a:t>경찰</a:t>
            </a:r>
            <a:r>
              <a:rPr sz="1100" dirty="0">
                <a:solidFill>
                  <a:srgbClr val="222633"/>
                </a:solidFill>
                <a:latin typeface="Pretendard"/>
              </a:rPr>
              <a:t> </a:t>
            </a:r>
            <a:r>
              <a:rPr sz="1100" dirty="0" err="1">
                <a:solidFill>
                  <a:srgbClr val="222633"/>
                </a:solidFill>
                <a:latin typeface="Pretendard"/>
              </a:rPr>
              <a:t>조사·사실확인</a:t>
            </a:r>
            <a:endParaRPr sz="1100" dirty="0">
              <a:solidFill>
                <a:srgbClr val="222633"/>
              </a:solidFill>
              <a:latin typeface="Pretendard"/>
            </a:endParaRPr>
          </a:p>
          <a:p>
            <a:pPr algn="ctr"/>
            <a:r>
              <a:rPr sz="950" dirty="0" err="1">
                <a:solidFill>
                  <a:srgbClr val="6E7686"/>
                </a:solidFill>
                <a:latin typeface="Pretendard"/>
              </a:rPr>
              <a:t>경찰서장이</a:t>
            </a:r>
            <a:r>
              <a:rPr sz="950" dirty="0">
                <a:solidFill>
                  <a:srgbClr val="6E7686"/>
                </a:solidFill>
                <a:latin typeface="Pretendard"/>
              </a:rPr>
              <a:t> </a:t>
            </a:r>
            <a:r>
              <a:rPr sz="950" dirty="0" err="1">
                <a:solidFill>
                  <a:srgbClr val="6E7686"/>
                </a:solidFill>
                <a:latin typeface="Pretendard"/>
              </a:rPr>
              <a:t>법원</a:t>
            </a:r>
            <a:r>
              <a:rPr sz="950" dirty="0">
                <a:solidFill>
                  <a:srgbClr val="6E7686"/>
                </a:solidFill>
                <a:latin typeface="Pretendard"/>
              </a:rPr>
              <a:t> </a:t>
            </a:r>
            <a:r>
              <a:rPr sz="950" dirty="0" err="1">
                <a:solidFill>
                  <a:srgbClr val="6E7686"/>
                </a:solidFill>
                <a:latin typeface="Pretendard"/>
              </a:rPr>
              <a:t>소년부에</a:t>
            </a:r>
            <a:r>
              <a:rPr sz="950" dirty="0">
                <a:solidFill>
                  <a:srgbClr val="6E7686"/>
                </a:solidFill>
                <a:latin typeface="Pretendard"/>
              </a:rPr>
              <a:t> </a:t>
            </a:r>
            <a:r>
              <a:rPr sz="950" dirty="0" err="1">
                <a:solidFill>
                  <a:srgbClr val="6E7686"/>
                </a:solidFill>
                <a:latin typeface="Pretendard"/>
              </a:rPr>
              <a:t>직접</a:t>
            </a:r>
            <a:r>
              <a:rPr sz="950" dirty="0">
                <a:solidFill>
                  <a:srgbClr val="6E7686"/>
                </a:solidFill>
                <a:latin typeface="Pretendard"/>
              </a:rPr>
              <a:t> </a:t>
            </a:r>
            <a:r>
              <a:rPr sz="950" dirty="0" err="1">
                <a:solidFill>
                  <a:srgbClr val="6E7686"/>
                </a:solidFill>
                <a:latin typeface="Pretendard"/>
              </a:rPr>
              <a:t>송치</a:t>
            </a:r>
            <a:r>
              <a:rPr sz="950" dirty="0">
                <a:solidFill>
                  <a:srgbClr val="6E7686"/>
                </a:solidFill>
                <a:latin typeface="Pretendard"/>
              </a:rPr>
              <a:t> (</a:t>
            </a:r>
            <a:r>
              <a:rPr sz="950" dirty="0" err="1">
                <a:solidFill>
                  <a:srgbClr val="6E7686"/>
                </a:solidFill>
                <a:latin typeface="Pretendard"/>
              </a:rPr>
              <a:t>보호자</a:t>
            </a:r>
            <a:r>
              <a:rPr sz="950" dirty="0">
                <a:solidFill>
                  <a:srgbClr val="6E7686"/>
                </a:solidFill>
                <a:latin typeface="Pretendard"/>
              </a:rPr>
              <a:t> · </a:t>
            </a:r>
            <a:r>
              <a:rPr sz="950" dirty="0" err="1">
                <a:solidFill>
                  <a:srgbClr val="6E7686"/>
                </a:solidFill>
                <a:latin typeface="Pretendard"/>
              </a:rPr>
              <a:t>학교도</a:t>
            </a:r>
            <a:r>
              <a:rPr sz="950" dirty="0">
                <a:solidFill>
                  <a:srgbClr val="6E7686"/>
                </a:solidFill>
                <a:latin typeface="Pretendard"/>
              </a:rPr>
              <a:t> </a:t>
            </a:r>
            <a:r>
              <a:rPr sz="950" dirty="0" err="1">
                <a:solidFill>
                  <a:srgbClr val="6E7686"/>
                </a:solidFill>
                <a:latin typeface="Pretendard"/>
              </a:rPr>
              <a:t>통고</a:t>
            </a:r>
            <a:r>
              <a:rPr sz="950" dirty="0">
                <a:solidFill>
                  <a:srgbClr val="6E7686"/>
                </a:solidFill>
                <a:latin typeface="Pretendard"/>
              </a:rPr>
              <a:t> </a:t>
            </a:r>
            <a:r>
              <a:rPr sz="950" dirty="0" err="1">
                <a:solidFill>
                  <a:srgbClr val="6E7686"/>
                </a:solidFill>
                <a:latin typeface="Pretendard"/>
              </a:rPr>
              <a:t>가능</a:t>
            </a:r>
            <a:r>
              <a:rPr sz="950" dirty="0">
                <a:solidFill>
                  <a:srgbClr val="6E7686"/>
                </a:solidFill>
                <a:latin typeface="Pretendard"/>
              </a:rPr>
              <a:t>)</a:t>
            </a:r>
          </a:p>
        </p:txBody>
      </p:sp>
      <p:sp>
        <p:nvSpPr>
          <p:cNvPr id="217" name="sg">
            <a:extLst>
              <a:ext uri="{FF2B5EF4-FFF2-40B4-BE49-F238E27FC236}">
                <a16:creationId xmlns:a16="http://schemas.microsoft.com/office/drawing/2014/main" id="{FC631002-1F4E-4FD3-8D34-767A981FF6DC}"/>
              </a:ext>
            </a:extLst>
          </p:cNvPr>
          <p:cNvSpPr>
            <a:spLocks noGrp="1"/>
          </p:cNvSpPr>
          <p:nvPr/>
        </p:nvSpPr>
        <p:spPr>
          <a:xfrm>
            <a:off x="4626864" y="3120701"/>
            <a:ext cx="2011680" cy="545938"/>
          </a:xfrm>
          <a:prstGeom prst="rect">
            <a:avLst/>
          </a:prstGeom>
          <a:solidFill>
            <a:srgbClr val="FFFFFF"/>
          </a:solidFill>
          <a:ln w="9525">
            <a:solidFill>
              <a:srgbClr val="DCE0E8"/>
            </a:solidFill>
            <a:prstDash val="dash"/>
          </a:ln>
        </p:spPr>
        <p:txBody>
          <a:bodyPr/>
          <a:lstStyle/>
          <a:p>
            <a:endParaRPr>
              <a:latin typeface="Pretendard"/>
              <a:ea typeface="Pretendard"/>
              <a:cs typeface="Pretendard"/>
            </a:endParaRPr>
          </a:p>
        </p:txBody>
      </p:sp>
      <p:sp>
        <p:nvSpPr>
          <p:cNvPr id="218" name="sgt">
            <a:extLst>
              <a:ext uri="{FF2B5EF4-FFF2-40B4-BE49-F238E27FC236}">
                <a16:creationId xmlns:a16="http://schemas.microsoft.com/office/drawing/2014/main" id="{A2E65825-0FF8-4C79-82A1-6C42E6BBEEA7}"/>
              </a:ext>
            </a:extLst>
          </p:cNvPr>
          <p:cNvSpPr>
            <a:spLocks noGrp="1"/>
          </p:cNvSpPr>
          <p:nvPr/>
        </p:nvSpPr>
        <p:spPr>
          <a:xfrm>
            <a:off x="4626864" y="3112692"/>
            <a:ext cx="2011680" cy="545938"/>
          </a:xfrm>
          <a:prstGeom prst="rect">
            <a:avLst/>
          </a:prstGeom>
          <a:noFill/>
        </p:spPr>
        <p:txBody>
          <a:bodyPr wrap="square" lIns="0" tIns="0" rIns="0" bIns="0" anchor="ctr"/>
          <a:lstStyle/>
          <a:p>
            <a:pPr marL="0" indent="0" algn="ctr">
              <a:lnSpc>
                <a:spcPct val="118000"/>
              </a:lnSpc>
              <a:buNone/>
            </a:pPr>
            <a:r>
              <a:rPr sz="1100">
                <a:solidFill>
                  <a:srgbClr val="464D5C"/>
                </a:solidFill>
                <a:latin typeface="Pretendard"/>
                <a:ea typeface="Pretendard"/>
                <a:cs typeface="Pretendard"/>
              </a:rPr>
              <a:t>해당 단계 없음</a:t>
            </a:r>
          </a:p>
        </p:txBody>
      </p:sp>
      <p:sp>
        <p:nvSpPr>
          <p:cNvPr id="219" name="sg">
            <a:extLst>
              <a:ext uri="{FF2B5EF4-FFF2-40B4-BE49-F238E27FC236}">
                <a16:creationId xmlns:a16="http://schemas.microsoft.com/office/drawing/2014/main" id="{D5E61E6B-70C8-4565-BF07-4B5CA2A27DC3}"/>
              </a:ext>
            </a:extLst>
          </p:cNvPr>
          <p:cNvSpPr>
            <a:spLocks noGrp="1"/>
          </p:cNvSpPr>
          <p:nvPr/>
        </p:nvSpPr>
        <p:spPr>
          <a:xfrm>
            <a:off x="6931152" y="3120701"/>
            <a:ext cx="2011680" cy="545938"/>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20" name="sgt">
            <a:extLst>
              <a:ext uri="{FF2B5EF4-FFF2-40B4-BE49-F238E27FC236}">
                <a16:creationId xmlns:a16="http://schemas.microsoft.com/office/drawing/2014/main" id="{1E40F325-7E6F-404C-B5D5-572EE89CBAD9}"/>
              </a:ext>
            </a:extLst>
          </p:cNvPr>
          <p:cNvSpPr>
            <a:spLocks noGrp="1"/>
          </p:cNvSpPr>
          <p:nvPr/>
        </p:nvSpPr>
        <p:spPr>
          <a:xfrm>
            <a:off x="6931152" y="3112692"/>
            <a:ext cx="2011680" cy="545938"/>
          </a:xfrm>
          <a:prstGeom prst="rect">
            <a:avLst/>
          </a:prstGeom>
          <a:noFill/>
        </p:spPr>
        <p:txBody>
          <a:bodyPr wrap="square" lIns="0" tIns="0" rIns="0" bIns="0" anchor="ctr"/>
          <a:lstStyle/>
          <a:p>
            <a:pPr marL="0" indent="0" algn="ctr">
              <a:lnSpc>
                <a:spcPct val="118000"/>
              </a:lnSpc>
              <a:buNone/>
            </a:pPr>
            <a:r>
              <a:rPr sz="1100">
                <a:solidFill>
                  <a:srgbClr val="222633"/>
                </a:solidFill>
                <a:latin typeface="Pretendard"/>
                <a:ea typeface="Pretendard"/>
                <a:cs typeface="Pretendard"/>
              </a:rPr>
              <a:t>법원 소년부 심리</a:t>
            </a:r>
          </a:p>
        </p:txBody>
      </p:sp>
      <p:sp>
        <p:nvSpPr>
          <p:cNvPr id="221" name="rs">
            <a:extLst>
              <a:ext uri="{FF2B5EF4-FFF2-40B4-BE49-F238E27FC236}">
                <a16:creationId xmlns:a16="http://schemas.microsoft.com/office/drawing/2014/main" id="{5533B528-5290-4A05-813E-6517E1C96094}"/>
              </a:ext>
            </a:extLst>
          </p:cNvPr>
          <p:cNvSpPr>
            <a:spLocks noGrp="1"/>
          </p:cNvSpPr>
          <p:nvPr/>
        </p:nvSpPr>
        <p:spPr>
          <a:xfrm>
            <a:off x="9235440" y="3120701"/>
            <a:ext cx="2011680" cy="246056"/>
          </a:xfrm>
          <a:prstGeom prst="rect">
            <a:avLst/>
          </a:prstGeom>
          <a:solidFill>
            <a:srgbClr val="F2F4F8"/>
          </a:solidFill>
          <a:ln w="9525">
            <a:solidFill>
              <a:srgbClr val="DCE0E8"/>
            </a:solidFill>
          </a:ln>
        </p:spPr>
        <p:txBody>
          <a:bodyPr/>
          <a:lstStyle/>
          <a:p>
            <a:endParaRPr>
              <a:latin typeface="Pretendard"/>
              <a:ea typeface="Pretendard"/>
              <a:cs typeface="Pretendard"/>
            </a:endParaRPr>
          </a:p>
        </p:txBody>
      </p:sp>
      <p:sp>
        <p:nvSpPr>
          <p:cNvPr id="222" name="rst">
            <a:extLst>
              <a:ext uri="{FF2B5EF4-FFF2-40B4-BE49-F238E27FC236}">
                <a16:creationId xmlns:a16="http://schemas.microsoft.com/office/drawing/2014/main" id="{850DFE7E-F061-4ED3-9C74-44F323964AD3}"/>
              </a:ext>
            </a:extLst>
          </p:cNvPr>
          <p:cNvSpPr>
            <a:spLocks noGrp="1"/>
          </p:cNvSpPr>
          <p:nvPr/>
        </p:nvSpPr>
        <p:spPr>
          <a:xfrm>
            <a:off x="9235440" y="3102919"/>
            <a:ext cx="2011680" cy="246056"/>
          </a:xfrm>
          <a:prstGeom prst="rect">
            <a:avLst/>
          </a:prstGeom>
          <a:noFill/>
        </p:spPr>
        <p:txBody>
          <a:bodyPr wrap="square" lIns="0" tIns="0" rIns="0" bIns="0" anchor="ctr"/>
          <a:lstStyle/>
          <a:p>
            <a:pPr marL="0" indent="0" algn="ctr">
              <a:lnSpc>
                <a:spcPct val="118000"/>
              </a:lnSpc>
              <a:buNone/>
            </a:pPr>
            <a:r>
              <a:rPr sz="1200" b="1">
                <a:solidFill>
                  <a:srgbClr val="1E2761"/>
                </a:solidFill>
                <a:latin typeface="Pretendard"/>
                <a:ea typeface="Pretendard"/>
                <a:cs typeface="Pretendard"/>
              </a:rPr>
              <a:t>보호처분</a:t>
            </a:r>
          </a:p>
        </p:txBody>
      </p:sp>
      <p:sp>
        <p:nvSpPr>
          <p:cNvPr id="223" name="rs">
            <a:extLst>
              <a:ext uri="{FF2B5EF4-FFF2-40B4-BE49-F238E27FC236}">
                <a16:creationId xmlns:a16="http://schemas.microsoft.com/office/drawing/2014/main" id="{E9694908-E30F-4BD2-AC55-657F7FF56186}"/>
              </a:ext>
            </a:extLst>
          </p:cNvPr>
          <p:cNvSpPr>
            <a:spLocks noGrp="1"/>
          </p:cNvSpPr>
          <p:nvPr/>
        </p:nvSpPr>
        <p:spPr>
          <a:xfrm>
            <a:off x="9235440" y="3420583"/>
            <a:ext cx="2011680" cy="246056"/>
          </a:xfrm>
          <a:prstGeom prst="rect">
            <a:avLst/>
          </a:prstGeom>
          <a:solidFill>
            <a:srgbClr val="FFFFFF"/>
          </a:solidFill>
          <a:ln w="9525">
            <a:solidFill>
              <a:srgbClr val="DCE0E8"/>
            </a:solidFill>
            <a:prstDash val="dash"/>
          </a:ln>
        </p:spPr>
        <p:txBody>
          <a:bodyPr/>
          <a:lstStyle/>
          <a:p>
            <a:endParaRPr>
              <a:latin typeface="Pretendard"/>
              <a:ea typeface="Pretendard"/>
              <a:cs typeface="Pretendard"/>
            </a:endParaRPr>
          </a:p>
        </p:txBody>
      </p:sp>
      <p:sp>
        <p:nvSpPr>
          <p:cNvPr id="224" name="rst">
            <a:extLst>
              <a:ext uri="{FF2B5EF4-FFF2-40B4-BE49-F238E27FC236}">
                <a16:creationId xmlns:a16="http://schemas.microsoft.com/office/drawing/2014/main" id="{C0BF91F6-71D5-4E75-B810-C08E3EF2C6EC}"/>
              </a:ext>
            </a:extLst>
          </p:cNvPr>
          <p:cNvSpPr>
            <a:spLocks noGrp="1"/>
          </p:cNvSpPr>
          <p:nvPr/>
        </p:nvSpPr>
        <p:spPr>
          <a:xfrm>
            <a:off x="9235440" y="3406326"/>
            <a:ext cx="2011680" cy="246056"/>
          </a:xfrm>
          <a:prstGeom prst="rect">
            <a:avLst/>
          </a:prstGeom>
          <a:noFill/>
        </p:spPr>
        <p:txBody>
          <a:bodyPr wrap="square" lIns="0" tIns="0" rIns="0" bIns="0" anchor="ctr"/>
          <a:lstStyle/>
          <a:p>
            <a:pPr marL="0" indent="0" algn="ctr">
              <a:lnSpc>
                <a:spcPct val="118000"/>
              </a:lnSpc>
              <a:buNone/>
            </a:pPr>
            <a:r>
              <a:rPr sz="1200">
                <a:solidFill>
                  <a:srgbClr val="1E2761"/>
                </a:solidFill>
                <a:latin typeface="Pretendard"/>
                <a:ea typeface="Pretendard"/>
                <a:cs typeface="Pretendard"/>
              </a:rPr>
              <a:t>심리불개시 · 불처분</a:t>
            </a:r>
          </a:p>
        </p:txBody>
      </p:sp>
      <p:sp>
        <p:nvSpPr>
          <p:cNvPr id="225" name="ha">
            <a:extLst>
              <a:ext uri="{FF2B5EF4-FFF2-40B4-BE49-F238E27FC236}">
                <a16:creationId xmlns:a16="http://schemas.microsoft.com/office/drawing/2014/main" id="{1723BCBB-6B47-4012-8C82-52ABA7A46FCC}"/>
              </a:ext>
            </a:extLst>
          </p:cNvPr>
          <p:cNvSpPr>
            <a:spLocks noGrp="1"/>
          </p:cNvSpPr>
          <p:nvPr/>
        </p:nvSpPr>
        <p:spPr>
          <a:xfrm>
            <a:off x="4386326" y="3393670"/>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26" name="ha">
            <a:extLst>
              <a:ext uri="{FF2B5EF4-FFF2-40B4-BE49-F238E27FC236}">
                <a16:creationId xmlns:a16="http://schemas.microsoft.com/office/drawing/2014/main" id="{924F06FB-6EEB-4440-8DEB-40D4EE8DDA73}"/>
              </a:ext>
            </a:extLst>
          </p:cNvPr>
          <p:cNvSpPr>
            <a:spLocks noGrp="1"/>
          </p:cNvSpPr>
          <p:nvPr/>
        </p:nvSpPr>
        <p:spPr>
          <a:xfrm>
            <a:off x="6684264" y="3393670"/>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27" name="ha">
            <a:extLst>
              <a:ext uri="{FF2B5EF4-FFF2-40B4-BE49-F238E27FC236}">
                <a16:creationId xmlns:a16="http://schemas.microsoft.com/office/drawing/2014/main" id="{CFC63E48-E33E-4B92-80AE-B29B06AEEC4D}"/>
              </a:ext>
            </a:extLst>
          </p:cNvPr>
          <p:cNvSpPr>
            <a:spLocks noGrp="1"/>
          </p:cNvSpPr>
          <p:nvPr/>
        </p:nvSpPr>
        <p:spPr>
          <a:xfrm>
            <a:off x="8988552" y="3243730"/>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28" name="ha">
            <a:extLst>
              <a:ext uri="{FF2B5EF4-FFF2-40B4-BE49-F238E27FC236}">
                <a16:creationId xmlns:a16="http://schemas.microsoft.com/office/drawing/2014/main" id="{7760E49B-4B6D-4D83-8D19-B70335C1BBBC}"/>
              </a:ext>
            </a:extLst>
          </p:cNvPr>
          <p:cNvSpPr>
            <a:spLocks noGrp="1"/>
          </p:cNvSpPr>
          <p:nvPr/>
        </p:nvSpPr>
        <p:spPr>
          <a:xfrm>
            <a:off x="8988552" y="3543611"/>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29" name="rl">
            <a:extLst>
              <a:ext uri="{FF2B5EF4-FFF2-40B4-BE49-F238E27FC236}">
                <a16:creationId xmlns:a16="http://schemas.microsoft.com/office/drawing/2014/main" id="{EFBF9335-5F03-4B69-8AC3-BAC9876555E3}"/>
              </a:ext>
            </a:extLst>
          </p:cNvPr>
          <p:cNvSpPr>
            <a:spLocks noGrp="1"/>
          </p:cNvSpPr>
          <p:nvPr/>
        </p:nvSpPr>
        <p:spPr>
          <a:xfrm>
            <a:off x="731520" y="3900561"/>
            <a:ext cx="1417320" cy="2152765"/>
          </a:xfrm>
          <a:prstGeom prst="rect">
            <a:avLst/>
          </a:prstGeom>
          <a:solidFill>
            <a:srgbClr val="F2F4F8"/>
          </a:solidFill>
          <a:ln>
            <a:noFill/>
          </a:ln>
        </p:spPr>
        <p:txBody>
          <a:bodyPr/>
          <a:lstStyle/>
          <a:p>
            <a:endParaRPr>
              <a:latin typeface="Pretendard"/>
              <a:ea typeface="Pretendard"/>
              <a:cs typeface="Pretendard"/>
            </a:endParaRPr>
          </a:p>
        </p:txBody>
      </p:sp>
      <p:sp>
        <p:nvSpPr>
          <p:cNvPr id="230" name="rlt">
            <a:extLst>
              <a:ext uri="{FF2B5EF4-FFF2-40B4-BE49-F238E27FC236}">
                <a16:creationId xmlns:a16="http://schemas.microsoft.com/office/drawing/2014/main" id="{A46518FB-8923-4D8D-BEF4-72F46AE7FBB8}"/>
              </a:ext>
            </a:extLst>
          </p:cNvPr>
          <p:cNvSpPr>
            <a:spLocks noGrp="1"/>
          </p:cNvSpPr>
          <p:nvPr/>
        </p:nvSpPr>
        <p:spPr>
          <a:xfrm>
            <a:off x="731520" y="3884063"/>
            <a:ext cx="1417320" cy="1845425"/>
          </a:xfrm>
          <a:prstGeom prst="rect">
            <a:avLst/>
          </a:prstGeom>
          <a:noFill/>
        </p:spPr>
        <p:txBody>
          <a:bodyPr wrap="square" lIns="0" tIns="0" rIns="0" bIns="0" anchor="ctr"/>
          <a:lstStyle/>
          <a:p>
            <a:pPr marL="0" indent="0" algn="ctr">
              <a:lnSpc>
                <a:spcPct val="118000"/>
              </a:lnSpc>
              <a:buNone/>
            </a:pPr>
            <a:r>
              <a:rPr sz="1200" b="1" dirty="0">
                <a:solidFill>
                  <a:srgbClr val="222633"/>
                </a:solidFill>
                <a:latin typeface="Pretendard"/>
                <a:ea typeface="Pretendard"/>
                <a:cs typeface="Pretendard"/>
              </a:rPr>
              <a:t>14 ~ 18세</a:t>
            </a:r>
          </a:p>
          <a:p>
            <a:pPr marL="0" indent="0" algn="ctr">
              <a:lnSpc>
                <a:spcPct val="118000"/>
              </a:lnSpc>
              <a:buNone/>
            </a:pPr>
            <a:r>
              <a:rPr sz="1000" dirty="0" err="1">
                <a:solidFill>
                  <a:srgbClr val="6E7686"/>
                </a:solidFill>
                <a:latin typeface="Pretendard"/>
                <a:ea typeface="Pretendard"/>
                <a:cs typeface="Pretendard"/>
              </a:rPr>
              <a:t>범죄소년</a:t>
            </a:r>
            <a:endParaRPr lang="en-US" sz="1000" dirty="0">
              <a:solidFill>
                <a:srgbClr val="6E7686"/>
              </a:solidFill>
              <a:latin typeface="Pretendard"/>
              <a:ea typeface="Pretendard"/>
              <a:cs typeface="Pretendard"/>
            </a:endParaRPr>
          </a:p>
        </p:txBody>
      </p:sp>
      <p:sp>
        <p:nvSpPr>
          <p:cNvPr id="231" name="sg">
            <a:extLst>
              <a:ext uri="{FF2B5EF4-FFF2-40B4-BE49-F238E27FC236}">
                <a16:creationId xmlns:a16="http://schemas.microsoft.com/office/drawing/2014/main" id="{6925632D-1E49-4C35-81F7-CCA89D162036}"/>
              </a:ext>
            </a:extLst>
          </p:cNvPr>
          <p:cNvSpPr>
            <a:spLocks noGrp="1"/>
          </p:cNvSpPr>
          <p:nvPr/>
        </p:nvSpPr>
        <p:spPr>
          <a:xfrm>
            <a:off x="2322576" y="3944072"/>
            <a:ext cx="1270000" cy="2109256"/>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32" name="sgt">
            <a:extLst>
              <a:ext uri="{FF2B5EF4-FFF2-40B4-BE49-F238E27FC236}">
                <a16:creationId xmlns:a16="http://schemas.microsoft.com/office/drawing/2014/main" id="{47E99471-69F4-4CD5-B730-2D2BA3F713EA}"/>
              </a:ext>
            </a:extLst>
          </p:cNvPr>
          <p:cNvSpPr>
            <a:spLocks noGrp="1"/>
          </p:cNvSpPr>
          <p:nvPr/>
        </p:nvSpPr>
        <p:spPr>
          <a:xfrm>
            <a:off x="2322576" y="3931469"/>
            <a:ext cx="1270000" cy="2121858"/>
          </a:xfrm>
          <a:prstGeom prst="rect">
            <a:avLst/>
          </a:prstGeom>
          <a:noFill/>
        </p:spPr>
        <p:txBody>
          <a:bodyPr wrap="square" lIns="0" tIns="0" rIns="0" bIns="0" anchor="ctr"/>
          <a:lstStyle/>
          <a:p>
            <a:pPr marL="0" indent="0" algn="ctr">
              <a:lnSpc>
                <a:spcPct val="118000"/>
              </a:lnSpc>
              <a:buNone/>
            </a:pPr>
            <a:r>
              <a:rPr lang="ko-KR" altLang="en-US" sz="11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형사</a:t>
            </a:r>
            <a:r>
              <a:rPr sz="110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사건</a:t>
            </a:r>
            <a:r>
              <a:rPr sz="11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10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수사</a:t>
            </a:r>
            <a:endParaRPr lang="en-US" sz="1100" dirty="0">
              <a:solidFill>
                <a:srgbClr val="222633"/>
              </a:solidFill>
              <a:latin typeface="Pretendard" panose="02000503000000020004" pitchFamily="2" charset="-127"/>
              <a:ea typeface="Pretendard" panose="02000503000000020004" pitchFamily="2" charset="-127"/>
              <a:cs typeface="Pretendard" panose="02000503000000020004" pitchFamily="2" charset="-127"/>
            </a:endParaRPr>
          </a:p>
          <a:p>
            <a:pPr algn="ctr">
              <a:lnSpc>
                <a:spcPct val="118000"/>
              </a:lnSpc>
            </a:pPr>
            <a:r>
              <a:rPr lang="en-US" sz="950" dirty="0">
                <a:solidFill>
                  <a:srgbClr val="6E7686"/>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950" dirty="0">
                <a:solidFill>
                  <a:srgbClr val="6E7686"/>
                </a:solidFill>
                <a:latin typeface="Pretendard" panose="02000503000000020004" pitchFamily="2" charset="-127"/>
                <a:ea typeface="Pretendard" panose="02000503000000020004" pitchFamily="2" charset="-127"/>
                <a:cs typeface="Pretendard" panose="02000503000000020004" pitchFamily="2" charset="-127"/>
              </a:rPr>
              <a:t>일부 경미사건은 </a:t>
            </a:r>
            <a:endParaRPr lang="en-US" altLang="ko-KR" sz="950" dirty="0">
              <a:solidFill>
                <a:srgbClr val="6E7686"/>
              </a:solidFill>
              <a:latin typeface="Pretendard" panose="02000503000000020004" pitchFamily="2" charset="-127"/>
              <a:ea typeface="Pretendard" panose="02000503000000020004" pitchFamily="2" charset="-127"/>
              <a:cs typeface="Pretendard" panose="02000503000000020004" pitchFamily="2" charset="-127"/>
            </a:endParaRPr>
          </a:p>
          <a:p>
            <a:pPr algn="ctr">
              <a:lnSpc>
                <a:spcPct val="118000"/>
              </a:lnSpc>
            </a:pPr>
            <a:r>
              <a:rPr lang="ko-KR" altLang="en-US" sz="950" dirty="0">
                <a:solidFill>
                  <a:srgbClr val="6E7686"/>
                </a:solidFill>
                <a:latin typeface="Pretendard" panose="02000503000000020004" pitchFamily="2" charset="-127"/>
                <a:ea typeface="Pretendard" panose="02000503000000020004" pitchFamily="2" charset="-127"/>
                <a:cs typeface="Pretendard" panose="02000503000000020004" pitchFamily="2" charset="-127"/>
              </a:rPr>
              <a:t>경찰 단계에서 훈방 또는 즉결심판 청구 가능</a:t>
            </a:r>
            <a:r>
              <a:rPr lang="en-US" altLang="ko-KR" sz="950" dirty="0">
                <a:solidFill>
                  <a:srgbClr val="6E7686"/>
                </a:solidFill>
                <a:latin typeface="Pretendard" panose="02000503000000020004" pitchFamily="2" charset="-127"/>
                <a:ea typeface="Pretendard" panose="02000503000000020004" pitchFamily="2" charset="-127"/>
                <a:cs typeface="Pretendard" panose="02000503000000020004" pitchFamily="2" charset="-127"/>
              </a:rPr>
              <a:t>)</a:t>
            </a:r>
          </a:p>
        </p:txBody>
      </p:sp>
      <p:sp>
        <p:nvSpPr>
          <p:cNvPr id="233" name="sg">
            <a:extLst>
              <a:ext uri="{FF2B5EF4-FFF2-40B4-BE49-F238E27FC236}">
                <a16:creationId xmlns:a16="http://schemas.microsoft.com/office/drawing/2014/main" id="{3571A3B2-FB39-48C5-A09D-17EC7BF5797D}"/>
              </a:ext>
            </a:extLst>
          </p:cNvPr>
          <p:cNvSpPr>
            <a:spLocks noGrp="1"/>
          </p:cNvSpPr>
          <p:nvPr/>
        </p:nvSpPr>
        <p:spPr>
          <a:xfrm>
            <a:off x="4626864" y="3962076"/>
            <a:ext cx="2011680" cy="545938"/>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34" name="sgt">
            <a:extLst>
              <a:ext uri="{FF2B5EF4-FFF2-40B4-BE49-F238E27FC236}">
                <a16:creationId xmlns:a16="http://schemas.microsoft.com/office/drawing/2014/main" id="{E18469FE-D355-45EB-948E-B572F3408BAC}"/>
              </a:ext>
            </a:extLst>
          </p:cNvPr>
          <p:cNvSpPr>
            <a:spLocks noGrp="1"/>
          </p:cNvSpPr>
          <p:nvPr/>
        </p:nvSpPr>
        <p:spPr>
          <a:xfrm>
            <a:off x="4626864" y="3954067"/>
            <a:ext cx="2011680" cy="545938"/>
          </a:xfrm>
          <a:prstGeom prst="rect">
            <a:avLst/>
          </a:prstGeom>
          <a:noFill/>
        </p:spPr>
        <p:txBody>
          <a:bodyPr wrap="square" lIns="0" tIns="0" rIns="0" bIns="0" anchor="ctr"/>
          <a:lstStyle/>
          <a:p>
            <a:pPr marL="0" indent="0" algn="ctr">
              <a:lnSpc>
                <a:spcPct val="118000"/>
              </a:lnSpc>
              <a:buNone/>
            </a:pPr>
            <a:r>
              <a:rPr sz="1100" dirty="0" err="1">
                <a:solidFill>
                  <a:srgbClr val="222633"/>
                </a:solidFill>
                <a:latin typeface="Pretendard"/>
                <a:ea typeface="Pretendard"/>
                <a:cs typeface="Pretendard"/>
              </a:rPr>
              <a:t>검사의</a:t>
            </a:r>
            <a:r>
              <a:rPr sz="1100" dirty="0">
                <a:solidFill>
                  <a:srgbClr val="222633"/>
                </a:solidFill>
                <a:latin typeface="Pretendard"/>
                <a:ea typeface="Pretendard"/>
                <a:cs typeface="Pretendard"/>
              </a:rPr>
              <a:t> </a:t>
            </a:r>
            <a:r>
              <a:rPr sz="1100" dirty="0" err="1">
                <a:solidFill>
                  <a:srgbClr val="222633"/>
                </a:solidFill>
                <a:latin typeface="Pretendard"/>
                <a:ea typeface="Pretendard"/>
                <a:cs typeface="Pretendard"/>
              </a:rPr>
              <a:t>기소</a:t>
            </a:r>
            <a:endParaRPr sz="1100" dirty="0">
              <a:solidFill>
                <a:srgbClr val="222633"/>
              </a:solidFill>
              <a:latin typeface="Pretendard"/>
              <a:ea typeface="Pretendard"/>
              <a:cs typeface="Pretendard"/>
            </a:endParaRPr>
          </a:p>
        </p:txBody>
      </p:sp>
      <p:sp>
        <p:nvSpPr>
          <p:cNvPr id="235" name="sg">
            <a:extLst>
              <a:ext uri="{FF2B5EF4-FFF2-40B4-BE49-F238E27FC236}">
                <a16:creationId xmlns:a16="http://schemas.microsoft.com/office/drawing/2014/main" id="{165323CF-E53B-44B4-814F-41F21C6930DE}"/>
              </a:ext>
            </a:extLst>
          </p:cNvPr>
          <p:cNvSpPr>
            <a:spLocks noGrp="1"/>
          </p:cNvSpPr>
          <p:nvPr/>
        </p:nvSpPr>
        <p:spPr>
          <a:xfrm>
            <a:off x="6931152" y="3962076"/>
            <a:ext cx="2011680" cy="545938"/>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36" name="sgt">
            <a:extLst>
              <a:ext uri="{FF2B5EF4-FFF2-40B4-BE49-F238E27FC236}">
                <a16:creationId xmlns:a16="http://schemas.microsoft.com/office/drawing/2014/main" id="{25D52D2F-0D88-4A2E-9991-3046A37FA38F}"/>
              </a:ext>
            </a:extLst>
          </p:cNvPr>
          <p:cNvSpPr>
            <a:spLocks noGrp="1"/>
          </p:cNvSpPr>
          <p:nvPr/>
        </p:nvSpPr>
        <p:spPr>
          <a:xfrm>
            <a:off x="6931152" y="3954067"/>
            <a:ext cx="2011680" cy="545938"/>
          </a:xfrm>
          <a:prstGeom prst="rect">
            <a:avLst/>
          </a:prstGeom>
          <a:noFill/>
        </p:spPr>
        <p:txBody>
          <a:bodyPr wrap="square" lIns="0" tIns="0" rIns="0" bIns="0" anchor="ctr"/>
          <a:lstStyle/>
          <a:p>
            <a:pPr marL="0" indent="0" algn="ctr">
              <a:lnSpc>
                <a:spcPct val="118000"/>
              </a:lnSpc>
              <a:buNone/>
            </a:pPr>
            <a:r>
              <a:rPr sz="1100">
                <a:solidFill>
                  <a:srgbClr val="222633"/>
                </a:solidFill>
                <a:latin typeface="Pretendard"/>
                <a:ea typeface="Pretendard"/>
                <a:cs typeface="Pretendard"/>
              </a:rPr>
              <a:t>형사법원 재판</a:t>
            </a:r>
          </a:p>
        </p:txBody>
      </p:sp>
      <p:sp>
        <p:nvSpPr>
          <p:cNvPr id="237" name="rs">
            <a:extLst>
              <a:ext uri="{FF2B5EF4-FFF2-40B4-BE49-F238E27FC236}">
                <a16:creationId xmlns:a16="http://schemas.microsoft.com/office/drawing/2014/main" id="{9B20B3C0-64C7-43CF-815C-3E63C8D40796}"/>
              </a:ext>
            </a:extLst>
          </p:cNvPr>
          <p:cNvSpPr>
            <a:spLocks noGrp="1"/>
          </p:cNvSpPr>
          <p:nvPr/>
        </p:nvSpPr>
        <p:spPr>
          <a:xfrm>
            <a:off x="9235440" y="3962076"/>
            <a:ext cx="2011680" cy="246056"/>
          </a:xfrm>
          <a:prstGeom prst="rect">
            <a:avLst/>
          </a:prstGeom>
          <a:solidFill>
            <a:srgbClr val="F2F4F8"/>
          </a:solidFill>
          <a:ln w="9525">
            <a:solidFill>
              <a:srgbClr val="DCE0E8"/>
            </a:solidFill>
          </a:ln>
        </p:spPr>
        <p:txBody>
          <a:bodyPr/>
          <a:lstStyle/>
          <a:p>
            <a:endParaRPr>
              <a:latin typeface="Pretendard"/>
              <a:ea typeface="Pretendard"/>
              <a:cs typeface="Pretendard"/>
            </a:endParaRPr>
          </a:p>
        </p:txBody>
      </p:sp>
      <p:sp>
        <p:nvSpPr>
          <p:cNvPr id="238" name="rst">
            <a:extLst>
              <a:ext uri="{FF2B5EF4-FFF2-40B4-BE49-F238E27FC236}">
                <a16:creationId xmlns:a16="http://schemas.microsoft.com/office/drawing/2014/main" id="{08AAD445-016E-4389-84B8-2AC787BE4967}"/>
              </a:ext>
            </a:extLst>
          </p:cNvPr>
          <p:cNvSpPr>
            <a:spLocks noGrp="1"/>
          </p:cNvSpPr>
          <p:nvPr/>
        </p:nvSpPr>
        <p:spPr>
          <a:xfrm>
            <a:off x="9235440" y="3948300"/>
            <a:ext cx="2011680" cy="246056"/>
          </a:xfrm>
          <a:prstGeom prst="rect">
            <a:avLst/>
          </a:prstGeom>
          <a:noFill/>
        </p:spPr>
        <p:txBody>
          <a:bodyPr wrap="square" lIns="0" tIns="0" rIns="0" bIns="0" anchor="ctr"/>
          <a:lstStyle/>
          <a:p>
            <a:pPr marL="0" indent="0" algn="ctr">
              <a:lnSpc>
                <a:spcPct val="118000"/>
              </a:lnSpc>
              <a:buNone/>
            </a:pPr>
            <a:r>
              <a:rPr sz="1200" b="1">
                <a:solidFill>
                  <a:srgbClr val="1E2761"/>
                </a:solidFill>
                <a:latin typeface="Pretendard"/>
                <a:ea typeface="Pretendard"/>
                <a:cs typeface="Pretendard"/>
              </a:rPr>
              <a:t>형 선고</a:t>
            </a:r>
          </a:p>
        </p:txBody>
      </p:sp>
      <p:sp>
        <p:nvSpPr>
          <p:cNvPr id="239" name="rs">
            <a:extLst>
              <a:ext uri="{FF2B5EF4-FFF2-40B4-BE49-F238E27FC236}">
                <a16:creationId xmlns:a16="http://schemas.microsoft.com/office/drawing/2014/main" id="{0E266C17-198F-4665-AEC3-B51F45D17EF6}"/>
              </a:ext>
            </a:extLst>
          </p:cNvPr>
          <p:cNvSpPr>
            <a:spLocks noGrp="1"/>
          </p:cNvSpPr>
          <p:nvPr/>
        </p:nvSpPr>
        <p:spPr>
          <a:xfrm>
            <a:off x="9235440" y="4261958"/>
            <a:ext cx="2011680" cy="246056"/>
          </a:xfrm>
          <a:prstGeom prst="rect">
            <a:avLst/>
          </a:prstGeom>
          <a:solidFill>
            <a:srgbClr val="FFFFFF"/>
          </a:solidFill>
          <a:ln w="9525">
            <a:solidFill>
              <a:srgbClr val="DCE0E8"/>
            </a:solidFill>
            <a:prstDash val="dash"/>
          </a:ln>
        </p:spPr>
        <p:txBody>
          <a:bodyPr/>
          <a:lstStyle/>
          <a:p>
            <a:endParaRPr>
              <a:latin typeface="Pretendard"/>
              <a:ea typeface="Pretendard"/>
              <a:cs typeface="Pretendard"/>
            </a:endParaRPr>
          </a:p>
        </p:txBody>
      </p:sp>
      <p:sp>
        <p:nvSpPr>
          <p:cNvPr id="240" name="rst">
            <a:extLst>
              <a:ext uri="{FF2B5EF4-FFF2-40B4-BE49-F238E27FC236}">
                <a16:creationId xmlns:a16="http://schemas.microsoft.com/office/drawing/2014/main" id="{BF87E515-B091-49D5-A526-513ABD7A976A}"/>
              </a:ext>
            </a:extLst>
          </p:cNvPr>
          <p:cNvSpPr>
            <a:spLocks noGrp="1"/>
          </p:cNvSpPr>
          <p:nvPr/>
        </p:nvSpPr>
        <p:spPr>
          <a:xfrm>
            <a:off x="9235440" y="4247701"/>
            <a:ext cx="2011680" cy="246056"/>
          </a:xfrm>
          <a:prstGeom prst="rect">
            <a:avLst/>
          </a:prstGeom>
          <a:noFill/>
        </p:spPr>
        <p:txBody>
          <a:bodyPr wrap="square" lIns="0" tIns="0" rIns="0" bIns="0" anchor="ctr"/>
          <a:lstStyle/>
          <a:p>
            <a:pPr marL="0" indent="0" algn="ctr">
              <a:lnSpc>
                <a:spcPct val="118000"/>
              </a:lnSpc>
              <a:buNone/>
            </a:pPr>
            <a:r>
              <a:rPr sz="1200">
                <a:solidFill>
                  <a:srgbClr val="1E2761"/>
                </a:solidFill>
                <a:latin typeface="Pretendard"/>
                <a:ea typeface="Pretendard"/>
                <a:cs typeface="Pretendard"/>
              </a:rPr>
              <a:t>무죄 · 공소기각</a:t>
            </a:r>
          </a:p>
        </p:txBody>
      </p:sp>
      <p:sp>
        <p:nvSpPr>
          <p:cNvPr id="241" name="sg">
            <a:extLst>
              <a:ext uri="{FF2B5EF4-FFF2-40B4-BE49-F238E27FC236}">
                <a16:creationId xmlns:a16="http://schemas.microsoft.com/office/drawing/2014/main" id="{3B1E5386-2A9E-4D01-B834-B6AA96E18F77}"/>
              </a:ext>
            </a:extLst>
          </p:cNvPr>
          <p:cNvSpPr>
            <a:spLocks noGrp="1"/>
          </p:cNvSpPr>
          <p:nvPr/>
        </p:nvSpPr>
        <p:spPr>
          <a:xfrm>
            <a:off x="4626864" y="4784828"/>
            <a:ext cx="2011680" cy="545938"/>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42" name="sgt">
            <a:extLst>
              <a:ext uri="{FF2B5EF4-FFF2-40B4-BE49-F238E27FC236}">
                <a16:creationId xmlns:a16="http://schemas.microsoft.com/office/drawing/2014/main" id="{ECDEB3CF-A1D2-4ED8-BBE4-BCE5A33278DD}"/>
              </a:ext>
            </a:extLst>
          </p:cNvPr>
          <p:cNvSpPr>
            <a:spLocks noGrp="1"/>
          </p:cNvSpPr>
          <p:nvPr/>
        </p:nvSpPr>
        <p:spPr>
          <a:xfrm>
            <a:off x="4626864" y="4774576"/>
            <a:ext cx="2011680" cy="545938"/>
          </a:xfrm>
          <a:prstGeom prst="rect">
            <a:avLst/>
          </a:prstGeom>
          <a:noFill/>
        </p:spPr>
        <p:txBody>
          <a:bodyPr wrap="square" lIns="0" tIns="0" rIns="0" bIns="0" anchor="ctr"/>
          <a:lstStyle/>
          <a:p>
            <a:pPr marL="0" indent="0" algn="ctr">
              <a:lnSpc>
                <a:spcPct val="118000"/>
              </a:lnSpc>
              <a:buNone/>
            </a:pPr>
            <a:r>
              <a:rPr sz="1100">
                <a:solidFill>
                  <a:srgbClr val="222633"/>
                </a:solidFill>
                <a:latin typeface="Pretendard"/>
                <a:ea typeface="Pretendard"/>
                <a:cs typeface="Pretendard"/>
              </a:rPr>
              <a:t>검사의 법원 소년부 송치</a:t>
            </a:r>
          </a:p>
        </p:txBody>
      </p:sp>
      <p:sp>
        <p:nvSpPr>
          <p:cNvPr id="243" name="sg">
            <a:extLst>
              <a:ext uri="{FF2B5EF4-FFF2-40B4-BE49-F238E27FC236}">
                <a16:creationId xmlns:a16="http://schemas.microsoft.com/office/drawing/2014/main" id="{CBF1F577-3E26-4D94-8963-D32115C7C821}"/>
              </a:ext>
            </a:extLst>
          </p:cNvPr>
          <p:cNvSpPr>
            <a:spLocks noGrp="1"/>
          </p:cNvSpPr>
          <p:nvPr/>
        </p:nvSpPr>
        <p:spPr>
          <a:xfrm>
            <a:off x="6931152" y="4784828"/>
            <a:ext cx="2011680" cy="545938"/>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44" name="sgt">
            <a:extLst>
              <a:ext uri="{FF2B5EF4-FFF2-40B4-BE49-F238E27FC236}">
                <a16:creationId xmlns:a16="http://schemas.microsoft.com/office/drawing/2014/main" id="{E3FCEDEE-E00F-485B-A2EF-635D35B29A13}"/>
              </a:ext>
            </a:extLst>
          </p:cNvPr>
          <p:cNvSpPr>
            <a:spLocks noGrp="1"/>
          </p:cNvSpPr>
          <p:nvPr/>
        </p:nvSpPr>
        <p:spPr>
          <a:xfrm>
            <a:off x="6931152" y="4774576"/>
            <a:ext cx="2011680" cy="545938"/>
          </a:xfrm>
          <a:prstGeom prst="rect">
            <a:avLst/>
          </a:prstGeom>
          <a:noFill/>
        </p:spPr>
        <p:txBody>
          <a:bodyPr wrap="square" lIns="0" tIns="0" rIns="0" bIns="0" anchor="ctr"/>
          <a:lstStyle/>
          <a:p>
            <a:pPr marL="0" indent="0" algn="ctr">
              <a:lnSpc>
                <a:spcPct val="118000"/>
              </a:lnSpc>
              <a:buNone/>
            </a:pPr>
            <a:r>
              <a:rPr sz="1100">
                <a:solidFill>
                  <a:srgbClr val="222633"/>
                </a:solidFill>
                <a:latin typeface="Pretendard"/>
                <a:ea typeface="Pretendard"/>
                <a:cs typeface="Pretendard"/>
              </a:rPr>
              <a:t>법원 소년부 심리</a:t>
            </a:r>
          </a:p>
        </p:txBody>
      </p:sp>
      <p:sp>
        <p:nvSpPr>
          <p:cNvPr id="245" name="rs">
            <a:extLst>
              <a:ext uri="{FF2B5EF4-FFF2-40B4-BE49-F238E27FC236}">
                <a16:creationId xmlns:a16="http://schemas.microsoft.com/office/drawing/2014/main" id="{FD7A637F-85C9-4ADC-B0FB-7A6DB3C86DC1}"/>
              </a:ext>
            </a:extLst>
          </p:cNvPr>
          <p:cNvSpPr>
            <a:spLocks noGrp="1"/>
          </p:cNvSpPr>
          <p:nvPr/>
        </p:nvSpPr>
        <p:spPr>
          <a:xfrm>
            <a:off x="9235440" y="4784828"/>
            <a:ext cx="2011680" cy="246056"/>
          </a:xfrm>
          <a:prstGeom prst="rect">
            <a:avLst/>
          </a:prstGeom>
          <a:solidFill>
            <a:srgbClr val="F2F4F8"/>
          </a:solidFill>
          <a:ln w="9525">
            <a:solidFill>
              <a:srgbClr val="DCE0E8"/>
            </a:solidFill>
          </a:ln>
        </p:spPr>
        <p:txBody>
          <a:bodyPr/>
          <a:lstStyle/>
          <a:p>
            <a:endParaRPr>
              <a:latin typeface="Pretendard"/>
              <a:ea typeface="Pretendard"/>
              <a:cs typeface="Pretendard"/>
            </a:endParaRPr>
          </a:p>
        </p:txBody>
      </p:sp>
      <p:sp>
        <p:nvSpPr>
          <p:cNvPr id="246" name="rst">
            <a:extLst>
              <a:ext uri="{FF2B5EF4-FFF2-40B4-BE49-F238E27FC236}">
                <a16:creationId xmlns:a16="http://schemas.microsoft.com/office/drawing/2014/main" id="{27FFE0E6-F400-465C-BC14-D5454AC837B0}"/>
              </a:ext>
            </a:extLst>
          </p:cNvPr>
          <p:cNvSpPr>
            <a:spLocks noGrp="1"/>
          </p:cNvSpPr>
          <p:nvPr/>
        </p:nvSpPr>
        <p:spPr>
          <a:xfrm>
            <a:off x="9235440" y="4772814"/>
            <a:ext cx="2011680" cy="246056"/>
          </a:xfrm>
          <a:prstGeom prst="rect">
            <a:avLst/>
          </a:prstGeom>
          <a:noFill/>
        </p:spPr>
        <p:txBody>
          <a:bodyPr wrap="square" lIns="0" tIns="0" rIns="0" bIns="0" anchor="ctr"/>
          <a:lstStyle/>
          <a:p>
            <a:pPr marL="0" indent="0" algn="ctr">
              <a:lnSpc>
                <a:spcPct val="118000"/>
              </a:lnSpc>
              <a:buNone/>
            </a:pPr>
            <a:r>
              <a:rPr sz="1200" b="1">
                <a:solidFill>
                  <a:srgbClr val="1E2761"/>
                </a:solidFill>
                <a:latin typeface="Pretendard"/>
                <a:ea typeface="Pretendard"/>
                <a:cs typeface="Pretendard"/>
              </a:rPr>
              <a:t>보호처분</a:t>
            </a:r>
          </a:p>
        </p:txBody>
      </p:sp>
      <p:sp>
        <p:nvSpPr>
          <p:cNvPr id="247" name="rs">
            <a:extLst>
              <a:ext uri="{FF2B5EF4-FFF2-40B4-BE49-F238E27FC236}">
                <a16:creationId xmlns:a16="http://schemas.microsoft.com/office/drawing/2014/main" id="{DC001973-2608-4220-BB71-E3C91E513BF5}"/>
              </a:ext>
            </a:extLst>
          </p:cNvPr>
          <p:cNvSpPr>
            <a:spLocks noGrp="1"/>
          </p:cNvSpPr>
          <p:nvPr/>
        </p:nvSpPr>
        <p:spPr>
          <a:xfrm>
            <a:off x="9235440" y="5084710"/>
            <a:ext cx="2011680" cy="246056"/>
          </a:xfrm>
          <a:prstGeom prst="rect">
            <a:avLst/>
          </a:prstGeom>
          <a:solidFill>
            <a:srgbClr val="FFFFFF"/>
          </a:solidFill>
          <a:ln w="9525">
            <a:solidFill>
              <a:srgbClr val="DCE0E8"/>
            </a:solidFill>
            <a:prstDash val="dash"/>
          </a:ln>
        </p:spPr>
        <p:txBody>
          <a:bodyPr/>
          <a:lstStyle/>
          <a:p>
            <a:endParaRPr>
              <a:latin typeface="Pretendard"/>
              <a:ea typeface="Pretendard"/>
              <a:cs typeface="Pretendard"/>
            </a:endParaRPr>
          </a:p>
        </p:txBody>
      </p:sp>
      <p:sp>
        <p:nvSpPr>
          <p:cNvPr id="248" name="rst">
            <a:extLst>
              <a:ext uri="{FF2B5EF4-FFF2-40B4-BE49-F238E27FC236}">
                <a16:creationId xmlns:a16="http://schemas.microsoft.com/office/drawing/2014/main" id="{255DF218-39D3-4CB4-89AD-3FA36ABC4696}"/>
              </a:ext>
            </a:extLst>
          </p:cNvPr>
          <p:cNvSpPr>
            <a:spLocks noGrp="1"/>
          </p:cNvSpPr>
          <p:nvPr/>
        </p:nvSpPr>
        <p:spPr>
          <a:xfrm>
            <a:off x="9235440" y="5068211"/>
            <a:ext cx="2011680" cy="246056"/>
          </a:xfrm>
          <a:prstGeom prst="rect">
            <a:avLst/>
          </a:prstGeom>
          <a:noFill/>
        </p:spPr>
        <p:txBody>
          <a:bodyPr wrap="square" lIns="0" tIns="0" rIns="0" bIns="0" anchor="ctr"/>
          <a:lstStyle/>
          <a:p>
            <a:pPr marL="0" indent="0" algn="ctr">
              <a:lnSpc>
                <a:spcPct val="118000"/>
              </a:lnSpc>
              <a:buNone/>
            </a:pPr>
            <a:r>
              <a:rPr sz="1200" dirty="0" err="1">
                <a:solidFill>
                  <a:srgbClr val="1E2761"/>
                </a:solidFill>
                <a:latin typeface="Pretendard"/>
                <a:ea typeface="Pretendard"/>
                <a:cs typeface="Pretendard"/>
              </a:rPr>
              <a:t>심리불개시</a:t>
            </a:r>
            <a:r>
              <a:rPr sz="1200" dirty="0">
                <a:solidFill>
                  <a:srgbClr val="1E2761"/>
                </a:solidFill>
                <a:latin typeface="Pretendard"/>
                <a:ea typeface="Pretendard"/>
                <a:cs typeface="Pretendard"/>
              </a:rPr>
              <a:t> · </a:t>
            </a:r>
            <a:r>
              <a:rPr sz="1200" dirty="0" err="1">
                <a:solidFill>
                  <a:srgbClr val="1E2761"/>
                </a:solidFill>
                <a:latin typeface="Pretendard"/>
                <a:ea typeface="Pretendard"/>
                <a:cs typeface="Pretendard"/>
              </a:rPr>
              <a:t>불처분</a:t>
            </a:r>
            <a:endParaRPr sz="1200" dirty="0">
              <a:solidFill>
                <a:srgbClr val="1E2761"/>
              </a:solidFill>
              <a:latin typeface="Pretendard"/>
              <a:ea typeface="Pretendard"/>
              <a:cs typeface="Pretendard"/>
            </a:endParaRPr>
          </a:p>
        </p:txBody>
      </p:sp>
      <p:sp>
        <p:nvSpPr>
          <p:cNvPr id="249" name="sg">
            <a:extLst>
              <a:ext uri="{FF2B5EF4-FFF2-40B4-BE49-F238E27FC236}">
                <a16:creationId xmlns:a16="http://schemas.microsoft.com/office/drawing/2014/main" id="{6F5CF7CE-A309-4A23-B09C-CC0F9EC25A05}"/>
              </a:ext>
            </a:extLst>
          </p:cNvPr>
          <p:cNvSpPr>
            <a:spLocks noGrp="1"/>
          </p:cNvSpPr>
          <p:nvPr/>
        </p:nvSpPr>
        <p:spPr>
          <a:xfrm>
            <a:off x="4626864" y="5438417"/>
            <a:ext cx="2011680" cy="246056"/>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50" name="sgt">
            <a:extLst>
              <a:ext uri="{FF2B5EF4-FFF2-40B4-BE49-F238E27FC236}">
                <a16:creationId xmlns:a16="http://schemas.microsoft.com/office/drawing/2014/main" id="{DEAE9948-C037-4A88-9424-7AFB72EAE787}"/>
              </a:ext>
            </a:extLst>
          </p:cNvPr>
          <p:cNvSpPr>
            <a:spLocks noGrp="1"/>
          </p:cNvSpPr>
          <p:nvPr/>
        </p:nvSpPr>
        <p:spPr>
          <a:xfrm>
            <a:off x="4626864" y="5427203"/>
            <a:ext cx="2011680" cy="246056"/>
          </a:xfrm>
          <a:prstGeom prst="rect">
            <a:avLst/>
          </a:prstGeom>
          <a:noFill/>
        </p:spPr>
        <p:txBody>
          <a:bodyPr wrap="square" lIns="0" tIns="0" rIns="0" bIns="0" anchor="ctr"/>
          <a:lstStyle/>
          <a:p>
            <a:pPr marL="0" indent="0" algn="ctr">
              <a:lnSpc>
                <a:spcPct val="118000"/>
              </a:lnSpc>
              <a:buNone/>
            </a:pPr>
            <a:r>
              <a:rPr sz="1100">
                <a:solidFill>
                  <a:srgbClr val="222633"/>
                </a:solidFill>
                <a:latin typeface="Pretendard"/>
                <a:ea typeface="Pretendard"/>
                <a:cs typeface="Pretendard"/>
              </a:rPr>
              <a:t>검사의 불기소</a:t>
            </a:r>
          </a:p>
        </p:txBody>
      </p:sp>
      <p:sp>
        <p:nvSpPr>
          <p:cNvPr id="251" name="nd">
            <a:extLst>
              <a:ext uri="{FF2B5EF4-FFF2-40B4-BE49-F238E27FC236}">
                <a16:creationId xmlns:a16="http://schemas.microsoft.com/office/drawing/2014/main" id="{E7807A2D-A6BB-459D-8CD8-29C6309609DB}"/>
              </a:ext>
            </a:extLst>
          </p:cNvPr>
          <p:cNvSpPr>
            <a:spLocks noGrp="1"/>
          </p:cNvSpPr>
          <p:nvPr/>
        </p:nvSpPr>
        <p:spPr>
          <a:xfrm>
            <a:off x="6931152" y="5438417"/>
            <a:ext cx="2011680" cy="246056"/>
          </a:xfrm>
          <a:prstGeom prst="rect">
            <a:avLst/>
          </a:prstGeom>
          <a:noFill/>
        </p:spPr>
        <p:txBody>
          <a:bodyPr wrap="square" lIns="0" tIns="0" rIns="0" bIns="0" anchor="ctr"/>
          <a:lstStyle/>
          <a:p>
            <a:pPr marL="0" indent="0" algn="ctr">
              <a:lnSpc>
                <a:spcPct val="118000"/>
              </a:lnSpc>
              <a:buNone/>
            </a:pPr>
            <a:r>
              <a:rPr sz="1000" dirty="0" err="1">
                <a:solidFill>
                  <a:srgbClr val="464D5C"/>
                </a:solidFill>
                <a:latin typeface="Pretendard"/>
                <a:ea typeface="Pretendard"/>
                <a:cs typeface="Pretendard"/>
              </a:rPr>
              <a:t>법원</a:t>
            </a:r>
            <a:r>
              <a:rPr sz="1000" dirty="0">
                <a:solidFill>
                  <a:srgbClr val="464D5C"/>
                </a:solidFill>
                <a:latin typeface="Pretendard"/>
                <a:ea typeface="Pretendard"/>
                <a:cs typeface="Pretendard"/>
              </a:rPr>
              <a:t> </a:t>
            </a:r>
            <a:r>
              <a:rPr sz="1000" dirty="0" err="1">
                <a:solidFill>
                  <a:srgbClr val="464D5C"/>
                </a:solidFill>
                <a:latin typeface="Pretendard"/>
                <a:ea typeface="Pretendard"/>
                <a:cs typeface="Pretendard"/>
              </a:rPr>
              <a:t>단계</a:t>
            </a:r>
            <a:r>
              <a:rPr sz="1000" dirty="0">
                <a:solidFill>
                  <a:srgbClr val="464D5C"/>
                </a:solidFill>
                <a:latin typeface="Pretendard"/>
                <a:ea typeface="Pretendard"/>
                <a:cs typeface="Pretendard"/>
              </a:rPr>
              <a:t> </a:t>
            </a:r>
            <a:r>
              <a:rPr sz="1000" dirty="0" err="1">
                <a:solidFill>
                  <a:srgbClr val="464D5C"/>
                </a:solidFill>
                <a:latin typeface="Pretendard"/>
                <a:ea typeface="Pretendard"/>
                <a:cs typeface="Pretendard"/>
              </a:rPr>
              <a:t>없음</a:t>
            </a:r>
            <a:endParaRPr sz="1000" dirty="0">
              <a:solidFill>
                <a:srgbClr val="464D5C"/>
              </a:solidFill>
              <a:latin typeface="Pretendard"/>
              <a:ea typeface="Pretendard"/>
              <a:cs typeface="Pretendard"/>
            </a:endParaRPr>
          </a:p>
        </p:txBody>
      </p:sp>
      <p:sp>
        <p:nvSpPr>
          <p:cNvPr id="252" name="rs">
            <a:extLst>
              <a:ext uri="{FF2B5EF4-FFF2-40B4-BE49-F238E27FC236}">
                <a16:creationId xmlns:a16="http://schemas.microsoft.com/office/drawing/2014/main" id="{651CBECE-E546-40F5-999A-9ECA05A8ABE9}"/>
              </a:ext>
            </a:extLst>
          </p:cNvPr>
          <p:cNvSpPr>
            <a:spLocks noGrp="1"/>
          </p:cNvSpPr>
          <p:nvPr/>
        </p:nvSpPr>
        <p:spPr>
          <a:xfrm>
            <a:off x="9235440" y="5438417"/>
            <a:ext cx="2011680" cy="246056"/>
          </a:xfrm>
          <a:prstGeom prst="rect">
            <a:avLst/>
          </a:prstGeom>
          <a:solidFill>
            <a:srgbClr val="FFFFFF"/>
          </a:solidFill>
          <a:ln w="9525">
            <a:solidFill>
              <a:srgbClr val="DCE0E8"/>
            </a:solidFill>
            <a:prstDash val="dash"/>
          </a:ln>
        </p:spPr>
        <p:txBody>
          <a:bodyPr/>
          <a:lstStyle/>
          <a:p>
            <a:endParaRPr>
              <a:latin typeface="Pretendard"/>
              <a:ea typeface="Pretendard"/>
              <a:cs typeface="Pretendard"/>
            </a:endParaRPr>
          </a:p>
        </p:txBody>
      </p:sp>
      <p:sp>
        <p:nvSpPr>
          <p:cNvPr id="253" name="rst">
            <a:extLst>
              <a:ext uri="{FF2B5EF4-FFF2-40B4-BE49-F238E27FC236}">
                <a16:creationId xmlns:a16="http://schemas.microsoft.com/office/drawing/2014/main" id="{146F2442-3DA3-4468-BB3A-D6730B7265D3}"/>
              </a:ext>
            </a:extLst>
          </p:cNvPr>
          <p:cNvSpPr>
            <a:spLocks noGrp="1"/>
          </p:cNvSpPr>
          <p:nvPr/>
        </p:nvSpPr>
        <p:spPr>
          <a:xfrm>
            <a:off x="9235440" y="5423199"/>
            <a:ext cx="2011680" cy="246056"/>
          </a:xfrm>
          <a:prstGeom prst="rect">
            <a:avLst/>
          </a:prstGeom>
          <a:noFill/>
        </p:spPr>
        <p:txBody>
          <a:bodyPr wrap="square" lIns="0" tIns="0" rIns="0" bIns="0" anchor="ctr"/>
          <a:lstStyle/>
          <a:p>
            <a:pPr algn="ctr">
              <a:lnSpc>
                <a:spcPct val="118000"/>
              </a:lnSpc>
            </a:pPr>
            <a:r>
              <a:rPr sz="1200" dirty="0" err="1">
                <a:solidFill>
                  <a:srgbClr val="1E2761"/>
                </a:solidFill>
                <a:latin typeface="Pretendard"/>
                <a:ea typeface="Pretendard"/>
                <a:cs typeface="Pretendard"/>
              </a:rPr>
              <a:t>불기소</a:t>
            </a:r>
            <a:endParaRPr sz="1200" dirty="0">
              <a:solidFill>
                <a:srgbClr val="1E2761"/>
              </a:solidFill>
              <a:latin typeface="Pretendard"/>
              <a:ea typeface="Pretendard"/>
              <a:cs typeface="Pretendard"/>
            </a:endParaRPr>
          </a:p>
        </p:txBody>
      </p:sp>
      <p:sp>
        <p:nvSpPr>
          <p:cNvPr id="254" name="ha">
            <a:extLst>
              <a:ext uri="{FF2B5EF4-FFF2-40B4-BE49-F238E27FC236}">
                <a16:creationId xmlns:a16="http://schemas.microsoft.com/office/drawing/2014/main" id="{062FCBDE-3FDE-4F39-9997-E59B6E63AC1A}"/>
              </a:ext>
            </a:extLst>
          </p:cNvPr>
          <p:cNvSpPr>
            <a:spLocks noGrp="1"/>
          </p:cNvSpPr>
          <p:nvPr/>
        </p:nvSpPr>
        <p:spPr>
          <a:xfrm>
            <a:off x="4341876" y="4235045"/>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55" name="ha">
            <a:extLst>
              <a:ext uri="{FF2B5EF4-FFF2-40B4-BE49-F238E27FC236}">
                <a16:creationId xmlns:a16="http://schemas.microsoft.com/office/drawing/2014/main" id="{C496E960-769F-42F0-8B62-58561E4DE3B3}"/>
              </a:ext>
            </a:extLst>
          </p:cNvPr>
          <p:cNvSpPr>
            <a:spLocks noGrp="1"/>
          </p:cNvSpPr>
          <p:nvPr/>
        </p:nvSpPr>
        <p:spPr>
          <a:xfrm>
            <a:off x="4341876" y="5057798"/>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56" name="ha">
            <a:extLst>
              <a:ext uri="{FF2B5EF4-FFF2-40B4-BE49-F238E27FC236}">
                <a16:creationId xmlns:a16="http://schemas.microsoft.com/office/drawing/2014/main" id="{D204386D-BDF4-48EF-A378-BEDD51BEBCFE}"/>
              </a:ext>
            </a:extLst>
          </p:cNvPr>
          <p:cNvSpPr>
            <a:spLocks noGrp="1"/>
          </p:cNvSpPr>
          <p:nvPr/>
        </p:nvSpPr>
        <p:spPr>
          <a:xfrm>
            <a:off x="4341876" y="5561445"/>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57" name="ha">
            <a:extLst>
              <a:ext uri="{FF2B5EF4-FFF2-40B4-BE49-F238E27FC236}">
                <a16:creationId xmlns:a16="http://schemas.microsoft.com/office/drawing/2014/main" id="{CF7A3C63-A6F6-4F9B-8D04-3D16C72500DE}"/>
              </a:ext>
            </a:extLst>
          </p:cNvPr>
          <p:cNvSpPr>
            <a:spLocks noGrp="1"/>
          </p:cNvSpPr>
          <p:nvPr/>
        </p:nvSpPr>
        <p:spPr>
          <a:xfrm>
            <a:off x="6684264" y="4235045"/>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58" name="ha">
            <a:extLst>
              <a:ext uri="{FF2B5EF4-FFF2-40B4-BE49-F238E27FC236}">
                <a16:creationId xmlns:a16="http://schemas.microsoft.com/office/drawing/2014/main" id="{0D810191-37A8-4DAF-A064-3BBF81FD55FB}"/>
              </a:ext>
            </a:extLst>
          </p:cNvPr>
          <p:cNvSpPr>
            <a:spLocks noGrp="1"/>
          </p:cNvSpPr>
          <p:nvPr/>
        </p:nvSpPr>
        <p:spPr>
          <a:xfrm>
            <a:off x="6684264" y="5057798"/>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59" name="ha">
            <a:extLst>
              <a:ext uri="{FF2B5EF4-FFF2-40B4-BE49-F238E27FC236}">
                <a16:creationId xmlns:a16="http://schemas.microsoft.com/office/drawing/2014/main" id="{404A5DDC-C850-46C7-909C-19649E7A68FC}"/>
              </a:ext>
            </a:extLst>
          </p:cNvPr>
          <p:cNvSpPr>
            <a:spLocks noGrp="1"/>
          </p:cNvSpPr>
          <p:nvPr/>
        </p:nvSpPr>
        <p:spPr>
          <a:xfrm>
            <a:off x="6684264" y="5561445"/>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0" name="ha">
            <a:extLst>
              <a:ext uri="{FF2B5EF4-FFF2-40B4-BE49-F238E27FC236}">
                <a16:creationId xmlns:a16="http://schemas.microsoft.com/office/drawing/2014/main" id="{F42E6749-67B8-4C11-9643-49B40B1E99EE}"/>
              </a:ext>
            </a:extLst>
          </p:cNvPr>
          <p:cNvSpPr>
            <a:spLocks noGrp="1"/>
          </p:cNvSpPr>
          <p:nvPr/>
        </p:nvSpPr>
        <p:spPr>
          <a:xfrm>
            <a:off x="8988552" y="4085105"/>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1" name="ha">
            <a:extLst>
              <a:ext uri="{FF2B5EF4-FFF2-40B4-BE49-F238E27FC236}">
                <a16:creationId xmlns:a16="http://schemas.microsoft.com/office/drawing/2014/main" id="{EAA06AB5-EAAC-4007-A46B-87FED9246073}"/>
              </a:ext>
            </a:extLst>
          </p:cNvPr>
          <p:cNvSpPr>
            <a:spLocks noGrp="1"/>
          </p:cNvSpPr>
          <p:nvPr/>
        </p:nvSpPr>
        <p:spPr>
          <a:xfrm>
            <a:off x="8988552" y="4384986"/>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2" name="ha">
            <a:extLst>
              <a:ext uri="{FF2B5EF4-FFF2-40B4-BE49-F238E27FC236}">
                <a16:creationId xmlns:a16="http://schemas.microsoft.com/office/drawing/2014/main" id="{2394A31C-08BF-45C0-A31F-9F58C74165EF}"/>
              </a:ext>
            </a:extLst>
          </p:cNvPr>
          <p:cNvSpPr>
            <a:spLocks noGrp="1"/>
          </p:cNvSpPr>
          <p:nvPr/>
        </p:nvSpPr>
        <p:spPr>
          <a:xfrm>
            <a:off x="8988552" y="4907857"/>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3" name="ha">
            <a:extLst>
              <a:ext uri="{FF2B5EF4-FFF2-40B4-BE49-F238E27FC236}">
                <a16:creationId xmlns:a16="http://schemas.microsoft.com/office/drawing/2014/main" id="{1D416463-3EAD-4A94-BFE5-1AE314364C91}"/>
              </a:ext>
            </a:extLst>
          </p:cNvPr>
          <p:cNvSpPr>
            <a:spLocks noGrp="1"/>
          </p:cNvSpPr>
          <p:nvPr/>
        </p:nvSpPr>
        <p:spPr>
          <a:xfrm>
            <a:off x="8988552" y="5207738"/>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4" name="ha">
            <a:extLst>
              <a:ext uri="{FF2B5EF4-FFF2-40B4-BE49-F238E27FC236}">
                <a16:creationId xmlns:a16="http://schemas.microsoft.com/office/drawing/2014/main" id="{915119B4-ECD1-416A-AE4B-5374483DB76B}"/>
              </a:ext>
            </a:extLst>
          </p:cNvPr>
          <p:cNvSpPr>
            <a:spLocks noGrp="1"/>
          </p:cNvSpPr>
          <p:nvPr/>
        </p:nvSpPr>
        <p:spPr>
          <a:xfrm>
            <a:off x="8988552" y="5561445"/>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5" name="va">
            <a:extLst>
              <a:ext uri="{FF2B5EF4-FFF2-40B4-BE49-F238E27FC236}">
                <a16:creationId xmlns:a16="http://schemas.microsoft.com/office/drawing/2014/main" id="{72535CB3-699D-41BF-BE70-969CD9F1CDAF}"/>
              </a:ext>
            </a:extLst>
          </p:cNvPr>
          <p:cNvSpPr>
            <a:spLocks noGrp="1"/>
          </p:cNvSpPr>
          <p:nvPr/>
        </p:nvSpPr>
        <p:spPr>
          <a:xfrm>
            <a:off x="7936992" y="4531082"/>
            <a:ext cx="0" cy="230678"/>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6" name="mg">
            <a:extLst>
              <a:ext uri="{FF2B5EF4-FFF2-40B4-BE49-F238E27FC236}">
                <a16:creationId xmlns:a16="http://schemas.microsoft.com/office/drawing/2014/main" id="{B5DE2725-130A-41B0-A81C-C88726DA2FAB}"/>
              </a:ext>
            </a:extLst>
          </p:cNvPr>
          <p:cNvSpPr>
            <a:spLocks noGrp="1"/>
          </p:cNvSpPr>
          <p:nvPr/>
        </p:nvSpPr>
        <p:spPr>
          <a:xfrm>
            <a:off x="8028431" y="4539765"/>
            <a:ext cx="582169" cy="276813"/>
          </a:xfrm>
          <a:prstGeom prst="rect">
            <a:avLst/>
          </a:prstGeom>
          <a:noFill/>
        </p:spPr>
        <p:txBody>
          <a:bodyPr wrap="square" lIns="0" tIns="0" rIns="0" bIns="0" anchor="ctr"/>
          <a:lstStyle/>
          <a:p>
            <a:pPr marL="0" indent="0" algn="l">
              <a:lnSpc>
                <a:spcPct val="118000"/>
              </a:lnSpc>
              <a:buNone/>
            </a:pPr>
            <a:r>
              <a:rPr sz="950" dirty="0" err="1">
                <a:solidFill>
                  <a:srgbClr val="464D5C"/>
                </a:solidFill>
                <a:latin typeface="Pretendard"/>
                <a:ea typeface="Pretendard"/>
                <a:cs typeface="Pretendard"/>
              </a:rPr>
              <a:t>소년부</a:t>
            </a:r>
            <a:r>
              <a:rPr sz="950" dirty="0">
                <a:solidFill>
                  <a:srgbClr val="464D5C"/>
                </a:solidFill>
                <a:latin typeface="Pretendard"/>
                <a:ea typeface="Pretendard"/>
                <a:cs typeface="Pretendard"/>
              </a:rPr>
              <a:t> </a:t>
            </a:r>
            <a:r>
              <a:rPr sz="950" dirty="0" err="1">
                <a:solidFill>
                  <a:srgbClr val="464D5C"/>
                </a:solidFill>
                <a:latin typeface="Pretendard"/>
                <a:ea typeface="Pretendard"/>
                <a:cs typeface="Pretendard"/>
              </a:rPr>
              <a:t>송치</a:t>
            </a:r>
            <a:endParaRPr sz="950" dirty="0">
              <a:solidFill>
                <a:srgbClr val="464D5C"/>
              </a:solidFill>
              <a:latin typeface="Pretendard"/>
              <a:ea typeface="Pretendard"/>
              <a:cs typeface="Pretendard"/>
            </a:endParaRPr>
          </a:p>
        </p:txBody>
      </p:sp>
      <p:sp>
        <p:nvSpPr>
          <p:cNvPr id="16" name="line16"/>
          <p:cNvSpPr/>
          <p:nvPr/>
        </p:nvSpPr>
        <p:spPr>
          <a:xfrm>
            <a:off x="731520" y="6144768"/>
            <a:ext cx="10725912" cy="0"/>
          </a:xfrm>
          <a:prstGeom prst="line">
            <a:avLst/>
          </a:prstGeom>
          <a:ln w="19050">
            <a:solidFill>
              <a:srgbClr val="1E2761"/>
            </a:solidFill>
          </a:ln>
        </p:spPr>
        <p:txBody>
          <a:bodyPr/>
          <a:lstStyle/>
          <a:p>
            <a:endParaRPr/>
          </a:p>
        </p:txBody>
      </p:sp>
      <p:sp>
        <p:nvSpPr>
          <p:cNvPr id="17"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소년법 제4조·제49조·제50조 · 대표 경로이며, 보호자 등의 통고·10세 미만의 아동보호는 별도 요건에 따른다</a:t>
            </a:r>
          </a:p>
        </p:txBody>
      </p:sp>
      <p:sp>
        <p:nvSpPr>
          <p:cNvPr id="2" name="ha">
            <a:extLst>
              <a:ext uri="{FF2B5EF4-FFF2-40B4-BE49-F238E27FC236}">
                <a16:creationId xmlns:a16="http://schemas.microsoft.com/office/drawing/2014/main" id="{16063DBD-A5D4-0D4C-3C42-63F2DFCA799C}"/>
              </a:ext>
            </a:extLst>
          </p:cNvPr>
          <p:cNvSpPr>
            <a:spLocks noGrp="1"/>
          </p:cNvSpPr>
          <p:nvPr/>
        </p:nvSpPr>
        <p:spPr>
          <a:xfrm>
            <a:off x="4334256" y="5910695"/>
            <a:ext cx="4864608"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4" name="rs">
            <a:extLst>
              <a:ext uri="{FF2B5EF4-FFF2-40B4-BE49-F238E27FC236}">
                <a16:creationId xmlns:a16="http://schemas.microsoft.com/office/drawing/2014/main" id="{55AE1A09-13E2-72E9-055E-23E394311FFD}"/>
              </a:ext>
            </a:extLst>
          </p:cNvPr>
          <p:cNvSpPr>
            <a:spLocks noGrp="1"/>
          </p:cNvSpPr>
          <p:nvPr/>
        </p:nvSpPr>
        <p:spPr>
          <a:xfrm>
            <a:off x="9235440" y="5770129"/>
            <a:ext cx="2011680" cy="246056"/>
          </a:xfrm>
          <a:prstGeom prst="rect">
            <a:avLst/>
          </a:prstGeom>
          <a:solidFill>
            <a:srgbClr val="FFFFFF"/>
          </a:solidFill>
          <a:ln w="9525">
            <a:solidFill>
              <a:srgbClr val="DCE0E8"/>
            </a:solidFill>
            <a:prstDash val="dash"/>
          </a:ln>
        </p:spPr>
        <p:txBody>
          <a:bodyPr/>
          <a:lstStyle/>
          <a:p>
            <a:endParaRPr>
              <a:latin typeface="Pretendard"/>
              <a:ea typeface="Pretendard"/>
              <a:cs typeface="Pretendard"/>
            </a:endParaRPr>
          </a:p>
        </p:txBody>
      </p:sp>
      <p:sp>
        <p:nvSpPr>
          <p:cNvPr id="6" name="rst">
            <a:extLst>
              <a:ext uri="{FF2B5EF4-FFF2-40B4-BE49-F238E27FC236}">
                <a16:creationId xmlns:a16="http://schemas.microsoft.com/office/drawing/2014/main" id="{0CED6FC9-CAAB-806B-8C13-54C909D44EBA}"/>
              </a:ext>
            </a:extLst>
          </p:cNvPr>
          <p:cNvSpPr>
            <a:spLocks noGrp="1"/>
          </p:cNvSpPr>
          <p:nvPr/>
        </p:nvSpPr>
        <p:spPr>
          <a:xfrm>
            <a:off x="9236964" y="5752336"/>
            <a:ext cx="2011680" cy="246056"/>
          </a:xfrm>
          <a:prstGeom prst="rect">
            <a:avLst/>
          </a:prstGeom>
          <a:noFill/>
        </p:spPr>
        <p:txBody>
          <a:bodyPr wrap="square" lIns="0" tIns="0" rIns="0" bIns="0" anchor="ctr"/>
          <a:lstStyle/>
          <a:p>
            <a:pPr algn="ctr">
              <a:lnSpc>
                <a:spcPct val="118000"/>
              </a:lnSpc>
            </a:pPr>
            <a:r>
              <a:rPr sz="1200" dirty="0">
                <a:solidFill>
                  <a:srgbClr val="1E2761"/>
                </a:solidFill>
                <a:latin typeface="Pretendard"/>
                <a:ea typeface="Pretendard"/>
                <a:cs typeface="Pretendard"/>
              </a:rPr>
              <a:t>불</a:t>
            </a:r>
            <a:r>
              <a:rPr lang="ko-KR" altLang="en-US" sz="1200" dirty="0">
                <a:solidFill>
                  <a:srgbClr val="1E2761"/>
                </a:solidFill>
                <a:latin typeface="Pretendard"/>
                <a:ea typeface="Pretendard"/>
                <a:cs typeface="Pretendard"/>
              </a:rPr>
              <a:t>송치</a:t>
            </a:r>
            <a:endParaRPr sz="1200" dirty="0">
              <a:solidFill>
                <a:srgbClr val="1E2761"/>
              </a:solidFill>
              <a:latin typeface="Pretendard"/>
              <a:ea typeface="Pretendard"/>
              <a:cs typeface="Pretendard"/>
            </a:endParaRPr>
          </a:p>
        </p:txBody>
      </p:sp>
      <p:sp>
        <p:nvSpPr>
          <p:cNvPr id="8" name="mg">
            <a:extLst>
              <a:ext uri="{FF2B5EF4-FFF2-40B4-BE49-F238E27FC236}">
                <a16:creationId xmlns:a16="http://schemas.microsoft.com/office/drawing/2014/main" id="{AEBE5780-4CBA-5D03-15CA-64FCE2F32A49}"/>
              </a:ext>
            </a:extLst>
          </p:cNvPr>
          <p:cNvSpPr>
            <a:spLocks noGrp="1"/>
          </p:cNvSpPr>
          <p:nvPr/>
        </p:nvSpPr>
        <p:spPr>
          <a:xfrm>
            <a:off x="3592576" y="4899890"/>
            <a:ext cx="713232" cy="276813"/>
          </a:xfrm>
          <a:prstGeom prst="rect">
            <a:avLst/>
          </a:prstGeom>
          <a:noFill/>
        </p:spPr>
        <p:txBody>
          <a:bodyPr wrap="square" lIns="0" tIns="0" rIns="0" bIns="0" anchor="ctr"/>
          <a:lstStyle/>
          <a:p>
            <a:pPr marL="0" indent="0" algn="ctr">
              <a:lnSpc>
                <a:spcPct val="118000"/>
              </a:lnSpc>
              <a:buNone/>
            </a:pPr>
            <a:r>
              <a:rPr lang="ko-KR" altLang="en-US" sz="950" dirty="0">
                <a:solidFill>
                  <a:srgbClr val="464D5C"/>
                </a:solidFill>
                <a:latin typeface="Pretendard"/>
                <a:ea typeface="Pretendard"/>
                <a:cs typeface="Pretendard"/>
              </a:rPr>
              <a:t>검찰</a:t>
            </a:r>
            <a:r>
              <a:rPr sz="950" dirty="0">
                <a:solidFill>
                  <a:srgbClr val="464D5C"/>
                </a:solidFill>
                <a:latin typeface="Pretendard"/>
                <a:ea typeface="Pretendard"/>
                <a:cs typeface="Pretendard"/>
              </a:rPr>
              <a:t> </a:t>
            </a:r>
            <a:r>
              <a:rPr sz="950" dirty="0" err="1">
                <a:solidFill>
                  <a:srgbClr val="464D5C"/>
                </a:solidFill>
                <a:latin typeface="Pretendard"/>
                <a:ea typeface="Pretendard"/>
                <a:cs typeface="Pretendard"/>
              </a:rPr>
              <a:t>송치</a:t>
            </a:r>
            <a:endParaRPr sz="950" dirty="0">
              <a:solidFill>
                <a:srgbClr val="464D5C"/>
              </a:solidFill>
              <a:latin typeface="Pretendard"/>
              <a:ea typeface="Pretendard"/>
              <a:cs typeface="Pretendard"/>
            </a:endParaRPr>
          </a:p>
        </p:txBody>
      </p:sp>
      <p:sp>
        <p:nvSpPr>
          <p:cNvPr id="9" name="mg">
            <a:extLst>
              <a:ext uri="{FF2B5EF4-FFF2-40B4-BE49-F238E27FC236}">
                <a16:creationId xmlns:a16="http://schemas.microsoft.com/office/drawing/2014/main" id="{C8149740-A8A0-31D3-645F-AAB3D64744FB}"/>
              </a:ext>
            </a:extLst>
          </p:cNvPr>
          <p:cNvSpPr>
            <a:spLocks noGrp="1"/>
          </p:cNvSpPr>
          <p:nvPr/>
        </p:nvSpPr>
        <p:spPr>
          <a:xfrm>
            <a:off x="3676141" y="5756462"/>
            <a:ext cx="582169" cy="276813"/>
          </a:xfrm>
          <a:prstGeom prst="rect">
            <a:avLst/>
          </a:prstGeom>
          <a:noFill/>
        </p:spPr>
        <p:txBody>
          <a:bodyPr wrap="square" lIns="0" tIns="0" rIns="0" bIns="0" anchor="ctr"/>
          <a:lstStyle/>
          <a:p>
            <a:pPr marL="0" indent="0" algn="l">
              <a:lnSpc>
                <a:spcPct val="118000"/>
              </a:lnSpc>
              <a:buNone/>
            </a:pPr>
            <a:r>
              <a:rPr lang="ko-KR" altLang="en-US" sz="950" dirty="0" err="1">
                <a:solidFill>
                  <a:srgbClr val="464D5C"/>
                </a:solidFill>
                <a:latin typeface="Pretendard"/>
                <a:ea typeface="Pretendard"/>
                <a:cs typeface="Pretendard"/>
              </a:rPr>
              <a:t>불송치</a:t>
            </a:r>
            <a:r>
              <a:rPr lang="ko-KR" altLang="en-US" sz="950" b="1" dirty="0">
                <a:solidFill>
                  <a:srgbClr val="464D5C"/>
                </a:solidFill>
                <a:latin typeface="Pretendard"/>
                <a:ea typeface="Pretendard"/>
                <a:cs typeface="Pretendard"/>
              </a:rPr>
              <a:t> </a:t>
            </a:r>
            <a:r>
              <a:rPr lang="ko-KR" altLang="en-US" sz="950" dirty="0">
                <a:solidFill>
                  <a:srgbClr val="464D5C"/>
                </a:solidFill>
                <a:latin typeface="Pretendard"/>
                <a:ea typeface="Pretendard"/>
                <a:cs typeface="Pretendard"/>
              </a:rPr>
              <a:t>결정</a:t>
            </a:r>
            <a:endParaRPr sz="950" dirty="0">
              <a:solidFill>
                <a:srgbClr val="464D5C"/>
              </a:solidFill>
              <a:latin typeface="Pretendard"/>
              <a:ea typeface="Pretendard"/>
              <a:cs typeface="Pretendard"/>
            </a:endParaRPr>
          </a:p>
        </p:txBody>
      </p:sp>
      <p:cxnSp>
        <p:nvCxnSpPr>
          <p:cNvPr id="19" name="직선 연결선 18">
            <a:extLst>
              <a:ext uri="{FF2B5EF4-FFF2-40B4-BE49-F238E27FC236}">
                <a16:creationId xmlns:a16="http://schemas.microsoft.com/office/drawing/2014/main" id="{45390B89-597D-F04E-0EE7-16E91AA398B0}"/>
              </a:ext>
            </a:extLst>
          </p:cNvPr>
          <p:cNvCxnSpPr>
            <a:cxnSpLocks/>
            <a:stCxn id="254" idx="0"/>
            <a:endCxn id="256" idx="0"/>
          </p:cNvCxnSpPr>
          <p:nvPr/>
        </p:nvCxnSpPr>
        <p:spPr>
          <a:xfrm>
            <a:off x="4341876" y="4235045"/>
            <a:ext cx="0" cy="1326400"/>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소년사법의 목적</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sz="2750" b="1">
                <a:solidFill>
                  <a:srgbClr val="1E2761"/>
                </a:solidFill>
                <a:latin typeface="Pretendard"/>
              </a:rPr>
              <a:t>13세가 범죄소년이 되면 경찰 이후 절차가 어떻게 달라지는가</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13세도 현재 경찰의 조사·사실확인 대상이다. 하향하면 형사책임을 전제로 한 형사사건 경로가 추가된다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731520" y="2686050"/>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경찰 단계</a:t>
            </a:r>
          </a:p>
        </p:txBody>
      </p:sp>
      <p:sp>
        <p:nvSpPr>
          <p:cNvPr id="17" name="b0"/>
          <p:cNvSpPr txBox="1"/>
          <p:nvPr/>
        </p:nvSpPr>
        <p:spPr>
          <a:xfrm>
            <a:off x="3154680" y="2686050"/>
            <a:ext cx="8302752" cy="370332"/>
          </a:xfrm>
          <a:prstGeom prst="rect">
            <a:avLst/>
          </a:prstGeom>
          <a:noFill/>
        </p:spPr>
        <p:txBody>
          <a:bodyPr wrap="square" lIns="0" tIns="27432" rIns="0" bIns="27432" anchor="ctr">
            <a:noAutofit/>
          </a:bodyPr>
          <a:lstStyle/>
          <a:p>
            <a:pPr algn="l">
              <a:lnSpc>
                <a:spcPct val="118000"/>
              </a:lnSpc>
            </a:pPr>
            <a:r>
              <a:rPr sz="1250" b="1" dirty="0" err="1">
                <a:solidFill>
                  <a:srgbClr val="222633"/>
                </a:solidFill>
                <a:latin typeface="Pretendard"/>
              </a:rPr>
              <a:t>현재도</a:t>
            </a:r>
            <a:r>
              <a:rPr sz="1250" b="1" dirty="0">
                <a:solidFill>
                  <a:srgbClr val="222633"/>
                </a:solidFill>
                <a:latin typeface="Pretendard"/>
              </a:rPr>
              <a:t> </a:t>
            </a:r>
            <a:r>
              <a:rPr sz="1250" b="1" dirty="0" err="1">
                <a:solidFill>
                  <a:srgbClr val="222633"/>
                </a:solidFill>
                <a:latin typeface="Pretendard"/>
              </a:rPr>
              <a:t>경찰은</a:t>
            </a:r>
            <a:r>
              <a:rPr sz="1250" b="1" dirty="0">
                <a:solidFill>
                  <a:srgbClr val="222633"/>
                </a:solidFill>
                <a:latin typeface="Pretendard"/>
              </a:rPr>
              <a:t> 13세 </a:t>
            </a:r>
            <a:r>
              <a:rPr sz="1250" b="1" dirty="0" err="1">
                <a:solidFill>
                  <a:srgbClr val="222633"/>
                </a:solidFill>
                <a:latin typeface="Pretendard"/>
              </a:rPr>
              <a:t>촉법소년의</a:t>
            </a:r>
            <a:r>
              <a:rPr sz="1250" b="1" dirty="0">
                <a:solidFill>
                  <a:srgbClr val="222633"/>
                </a:solidFill>
                <a:latin typeface="Pretendard"/>
              </a:rPr>
              <a:t> </a:t>
            </a:r>
            <a:r>
              <a:rPr sz="1250" b="1" dirty="0" err="1">
                <a:solidFill>
                  <a:srgbClr val="222633"/>
                </a:solidFill>
                <a:latin typeface="Pretendard"/>
              </a:rPr>
              <a:t>사실관계를</a:t>
            </a:r>
            <a:r>
              <a:rPr sz="1250" b="1" dirty="0">
                <a:solidFill>
                  <a:srgbClr val="222633"/>
                </a:solidFill>
                <a:latin typeface="Pretendard"/>
              </a:rPr>
              <a:t> </a:t>
            </a:r>
            <a:r>
              <a:rPr sz="1250" b="1" dirty="0" err="1">
                <a:solidFill>
                  <a:srgbClr val="222633"/>
                </a:solidFill>
                <a:latin typeface="Pretendard"/>
              </a:rPr>
              <a:t>확인한다</a:t>
            </a:r>
            <a:r>
              <a:rPr sz="1250" b="1" dirty="0">
                <a:solidFill>
                  <a:srgbClr val="222633"/>
                </a:solidFill>
                <a:latin typeface="Pretendard"/>
              </a:rPr>
              <a:t>.</a:t>
            </a:r>
          </a:p>
          <a:p>
            <a:pPr algn="l"/>
            <a:r>
              <a:rPr sz="1250" b="1" dirty="0" err="1">
                <a:solidFill>
                  <a:srgbClr val="222633"/>
                </a:solidFill>
                <a:latin typeface="Pretendard"/>
              </a:rPr>
              <a:t>하향</a:t>
            </a:r>
            <a:r>
              <a:rPr sz="1250" b="1" dirty="0">
                <a:solidFill>
                  <a:srgbClr val="222633"/>
                </a:solidFill>
                <a:latin typeface="Pretendard"/>
              </a:rPr>
              <a:t> </a:t>
            </a:r>
            <a:r>
              <a:rPr sz="1250" b="1" dirty="0" err="1">
                <a:solidFill>
                  <a:srgbClr val="222633"/>
                </a:solidFill>
                <a:latin typeface="Pretendard"/>
              </a:rPr>
              <a:t>후에는</a:t>
            </a:r>
            <a:r>
              <a:rPr sz="1250" b="1" dirty="0">
                <a:solidFill>
                  <a:srgbClr val="222633"/>
                </a:solidFill>
                <a:latin typeface="Pretendard"/>
              </a:rPr>
              <a:t> </a:t>
            </a:r>
            <a:r>
              <a:rPr sz="1250" b="1" dirty="0" err="1">
                <a:solidFill>
                  <a:srgbClr val="222633"/>
                </a:solidFill>
                <a:latin typeface="Pretendard"/>
              </a:rPr>
              <a:t>형사책임을</a:t>
            </a:r>
            <a:r>
              <a:rPr sz="1250" b="1" dirty="0">
                <a:solidFill>
                  <a:srgbClr val="222633"/>
                </a:solidFill>
                <a:latin typeface="Pretendard"/>
              </a:rPr>
              <a:t> </a:t>
            </a:r>
            <a:r>
              <a:rPr sz="1250" b="1" dirty="0" err="1">
                <a:solidFill>
                  <a:srgbClr val="222633"/>
                </a:solidFill>
                <a:latin typeface="Pretendard"/>
              </a:rPr>
              <a:t>전제로</a:t>
            </a:r>
            <a:r>
              <a:rPr sz="1250" b="1" dirty="0">
                <a:solidFill>
                  <a:srgbClr val="222633"/>
                </a:solidFill>
                <a:latin typeface="Pretendard"/>
              </a:rPr>
              <a:t> 한 </a:t>
            </a:r>
            <a:r>
              <a:rPr sz="1250" b="1" dirty="0" err="1">
                <a:solidFill>
                  <a:srgbClr val="222633"/>
                </a:solidFill>
                <a:latin typeface="Pretendard"/>
              </a:rPr>
              <a:t>형사사건</a:t>
            </a:r>
            <a:r>
              <a:rPr sz="1250" b="1" dirty="0">
                <a:solidFill>
                  <a:srgbClr val="222633"/>
                </a:solidFill>
                <a:latin typeface="Pretendard"/>
              </a:rPr>
              <a:t> </a:t>
            </a:r>
            <a:r>
              <a:rPr sz="1250" b="1" dirty="0" err="1">
                <a:solidFill>
                  <a:srgbClr val="222633"/>
                </a:solidFill>
                <a:latin typeface="Pretendard"/>
              </a:rPr>
              <a:t>수사</a:t>
            </a:r>
            <a:r>
              <a:rPr sz="1250" b="1" dirty="0">
                <a:solidFill>
                  <a:srgbClr val="222633"/>
                </a:solidFill>
                <a:latin typeface="Pretendard"/>
              </a:rPr>
              <a:t> </a:t>
            </a:r>
            <a:r>
              <a:rPr sz="1250" b="1" dirty="0" err="1">
                <a:solidFill>
                  <a:srgbClr val="222633"/>
                </a:solidFill>
                <a:latin typeface="Pretendard"/>
              </a:rPr>
              <a:t>경로가</a:t>
            </a:r>
            <a:r>
              <a:rPr sz="1250" b="1" dirty="0">
                <a:solidFill>
                  <a:srgbClr val="222633"/>
                </a:solidFill>
                <a:latin typeface="Pretendard"/>
              </a:rPr>
              <a:t> </a:t>
            </a:r>
            <a:r>
              <a:rPr sz="1250" b="1" dirty="0" err="1">
                <a:solidFill>
                  <a:srgbClr val="222633"/>
                </a:solidFill>
                <a:latin typeface="Pretendard"/>
              </a:rPr>
              <a:t>열린다</a:t>
            </a:r>
            <a:r>
              <a:rPr sz="1250" b="1" dirty="0">
                <a:solidFill>
                  <a:srgbClr val="222633"/>
                </a:solidFill>
                <a:latin typeface="Pretendard"/>
              </a:rPr>
              <a:t>.</a:t>
            </a:r>
          </a:p>
        </p:txBody>
      </p:sp>
      <p:sp>
        <p:nvSpPr>
          <p:cNvPr id="18" name="line18"/>
          <p:cNvSpPr/>
          <p:nvPr/>
        </p:nvSpPr>
        <p:spPr>
          <a:xfrm>
            <a:off x="731520" y="3284982"/>
            <a:ext cx="10725912" cy="0"/>
          </a:xfrm>
          <a:prstGeom prst="line">
            <a:avLst/>
          </a:prstGeom>
          <a:ln w="9525">
            <a:solidFill>
              <a:srgbClr val="DCE0E8"/>
            </a:solidFill>
          </a:ln>
        </p:spPr>
        <p:txBody>
          <a:bodyPr/>
          <a:lstStyle/>
          <a:p>
            <a:endParaRPr/>
          </a:p>
        </p:txBody>
      </p:sp>
      <p:sp>
        <p:nvSpPr>
          <p:cNvPr id="19" name="h1"/>
          <p:cNvSpPr txBox="1"/>
          <p:nvPr/>
        </p:nvSpPr>
        <p:spPr>
          <a:xfrm>
            <a:off x="731520" y="3513582"/>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검찰 단계</a:t>
            </a:r>
          </a:p>
        </p:txBody>
      </p:sp>
      <p:sp>
        <p:nvSpPr>
          <p:cNvPr id="20" name="b1"/>
          <p:cNvSpPr txBox="1"/>
          <p:nvPr/>
        </p:nvSpPr>
        <p:spPr>
          <a:xfrm>
            <a:off x="3154680" y="3513582"/>
            <a:ext cx="8302752" cy="370332"/>
          </a:xfrm>
          <a:prstGeom prst="rect">
            <a:avLst/>
          </a:prstGeom>
          <a:noFill/>
        </p:spPr>
        <p:txBody>
          <a:bodyPr wrap="square" lIns="0" tIns="27432" rIns="0" bIns="27432" anchor="ctr">
            <a:noAutofit/>
          </a:bodyPr>
          <a:lstStyle/>
          <a:p>
            <a:pPr algn="l">
              <a:lnSpc>
                <a:spcPct val="118000"/>
              </a:lnSpc>
            </a:pPr>
            <a:r>
              <a:rPr lang="ko-KR" sz="1250" b="1" dirty="0">
                <a:solidFill>
                  <a:srgbClr val="222633"/>
                </a:solidFill>
                <a:latin typeface="Pretendard"/>
                <a:ea typeface="Pretendard"/>
                <a:cs typeface="Pretendard"/>
              </a:rPr>
              <a:t>검사가 기소·불기소·소년부 송치 등을 판단할 수 있다.</a:t>
            </a:r>
          </a:p>
        </p:txBody>
      </p:sp>
      <p:sp>
        <p:nvSpPr>
          <p:cNvPr id="21" name="line21"/>
          <p:cNvSpPr/>
          <p:nvPr/>
        </p:nvSpPr>
        <p:spPr>
          <a:xfrm>
            <a:off x="731520" y="4112514"/>
            <a:ext cx="10725912" cy="0"/>
          </a:xfrm>
          <a:prstGeom prst="line">
            <a:avLst/>
          </a:prstGeom>
          <a:ln w="9525">
            <a:solidFill>
              <a:srgbClr val="DCE0E8"/>
            </a:solidFill>
          </a:ln>
        </p:spPr>
        <p:txBody>
          <a:bodyPr/>
          <a:lstStyle/>
          <a:p>
            <a:endParaRPr/>
          </a:p>
        </p:txBody>
      </p:sp>
      <p:sp>
        <p:nvSpPr>
          <p:cNvPr id="22" name="h2"/>
          <p:cNvSpPr txBox="1"/>
          <p:nvPr/>
        </p:nvSpPr>
        <p:spPr>
          <a:xfrm>
            <a:off x="731520" y="4341114"/>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법원 단계</a:t>
            </a:r>
          </a:p>
        </p:txBody>
      </p:sp>
      <p:sp>
        <p:nvSpPr>
          <p:cNvPr id="23" name="b2"/>
          <p:cNvSpPr txBox="1"/>
          <p:nvPr/>
        </p:nvSpPr>
        <p:spPr>
          <a:xfrm>
            <a:off x="3154680" y="4341114"/>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기소</a:t>
            </a:r>
            <a:r>
              <a:rPr lang="en-US" altLang="ko-KR" sz="1250" b="1" dirty="0">
                <a:solidFill>
                  <a:srgbClr val="222633"/>
                </a:solidFill>
                <a:latin typeface="Pretendard"/>
                <a:ea typeface="Pretendard"/>
                <a:cs typeface="Pretendard"/>
              </a:rPr>
              <a:t> </a:t>
            </a:r>
            <a:r>
              <a:rPr lang="ko-KR" altLang="en-US" sz="1250" b="1" dirty="0">
                <a:solidFill>
                  <a:srgbClr val="222633"/>
                </a:solidFill>
                <a:latin typeface="Pretendard"/>
                <a:ea typeface="Pretendard"/>
                <a:cs typeface="Pretendard"/>
              </a:rPr>
              <a:t>시</a:t>
            </a:r>
            <a:r>
              <a:rPr lang="ko-KR" sz="1250" b="1" dirty="0">
                <a:solidFill>
                  <a:srgbClr val="222633"/>
                </a:solidFill>
                <a:latin typeface="Pretendard"/>
                <a:ea typeface="Pretendard"/>
                <a:cs typeface="Pretendard"/>
              </a:rPr>
              <a:t> 형사법원 재판과 형 선고 가능성이 열린다.</a:t>
            </a:r>
          </a:p>
          <a:p>
            <a:pPr algn="l">
              <a:lnSpc>
                <a:spcPct val="118000"/>
              </a:lnSpc>
            </a:pPr>
            <a:r>
              <a:rPr lang="ko-KR" sz="1150" b="0" dirty="0">
                <a:solidFill>
                  <a:srgbClr val="464D5C"/>
                </a:solidFill>
                <a:latin typeface="Pretendard"/>
                <a:ea typeface="Pretendard"/>
                <a:cs typeface="Pretendard"/>
              </a:rPr>
              <a:t>형사법원이 보호처분이 적절하다고 보아 다시 소년부로 송치할 수도 있다.</a:t>
            </a:r>
          </a:p>
        </p:txBody>
      </p:sp>
      <p:sp>
        <p:nvSpPr>
          <p:cNvPr id="24" name="line24"/>
          <p:cNvSpPr/>
          <p:nvPr/>
        </p:nvSpPr>
        <p:spPr>
          <a:xfrm>
            <a:off x="731520" y="5145786"/>
            <a:ext cx="10725912" cy="0"/>
          </a:xfrm>
          <a:prstGeom prst="line">
            <a:avLst/>
          </a:prstGeom>
          <a:ln w="9525">
            <a:solidFill>
              <a:srgbClr val="DCE0E8"/>
            </a:solidFill>
          </a:ln>
        </p:spPr>
        <p:txBody>
          <a:bodyPr/>
          <a:lstStyle/>
          <a:p>
            <a:endParaRPr/>
          </a:p>
        </p:txBody>
      </p:sp>
      <p:sp>
        <p:nvSpPr>
          <p:cNvPr id="25" name="h3"/>
          <p:cNvSpPr txBox="1"/>
          <p:nvPr/>
        </p:nvSpPr>
        <p:spPr>
          <a:xfrm>
            <a:off x="731520" y="5418836"/>
            <a:ext cx="2240280" cy="370332"/>
          </a:xfrm>
          <a:prstGeom prst="rect">
            <a:avLst/>
          </a:prstGeom>
          <a:noFill/>
        </p:spPr>
        <p:txBody>
          <a:bodyPr wrap="square" lIns="0" tIns="27432" rIns="0" bIns="27432" anchor="ctr">
            <a:noAutofit/>
          </a:bodyPr>
          <a:lstStyle/>
          <a:p>
            <a:pPr algn="ctr">
              <a:lnSpc>
                <a:spcPct val="118000"/>
              </a:lnSpc>
            </a:pPr>
            <a:r>
              <a:rPr sz="1300" b="1">
                <a:solidFill>
                  <a:srgbClr val="1E2761"/>
                </a:solidFill>
                <a:latin typeface="Pretendard"/>
              </a:rPr>
              <a:t>실제 변화</a:t>
            </a:r>
            <a:endParaRPr lang="ko-KR" sz="1300" b="1" dirty="0">
              <a:solidFill>
                <a:srgbClr val="1E2761"/>
              </a:solidFill>
              <a:latin typeface="Pretendard"/>
              <a:ea typeface="Pretendard"/>
              <a:cs typeface="Pretendard"/>
            </a:endParaRPr>
          </a:p>
        </p:txBody>
      </p:sp>
      <p:sp>
        <p:nvSpPr>
          <p:cNvPr id="26" name="b3"/>
          <p:cNvSpPr txBox="1"/>
          <p:nvPr/>
        </p:nvSpPr>
        <p:spPr>
          <a:xfrm>
            <a:off x="3154680" y="5431536"/>
            <a:ext cx="8302752" cy="370332"/>
          </a:xfrm>
          <a:prstGeom prst="rect">
            <a:avLst/>
          </a:prstGeom>
          <a:noFill/>
        </p:spPr>
        <p:txBody>
          <a:bodyPr wrap="square" lIns="0" tIns="27432" rIns="0" bIns="27432" anchor="ctr">
            <a:noAutofit/>
          </a:bodyPr>
          <a:lstStyle/>
          <a:p>
            <a:pPr algn="l">
              <a:lnSpc>
                <a:spcPct val="118000"/>
              </a:lnSpc>
            </a:pPr>
            <a:r>
              <a:rPr sz="1250" b="1">
                <a:solidFill>
                  <a:srgbClr val="222633"/>
                </a:solidFill>
                <a:latin typeface="Pretendard"/>
              </a:rPr>
              <a:t>조사 자체가 새로 생기는 것이 아니라, 조사 결과가 검찰 처분과 형사재판으로 이어질 수 있다는 점이 달라진다.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소년법 제4조 · 제49조 · 제50조 · 형사소송법</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sz="1050" b="0">
                <a:solidFill>
                  <a:srgbClr val="6E7686"/>
                </a:solidFill>
                <a:latin typeface="Pretendard"/>
              </a:rPr>
              <a:t>다음 → 보호처분의 종류와 기간 Ⅰ</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소년사법의 목적 — 응보·예방·보호</a:t>
            </a:r>
          </a:p>
        </p:txBody>
      </p:sp>
      <p:sp>
        <p:nvSpPr>
          <p:cNvPr id="1000" name="APPROVED_BAND_BG"/>
          <p:cNvSpPr/>
          <p:nvPr/>
        </p:nvSpPr>
        <p:spPr>
          <a:xfrm>
            <a:off x="731520" y="1417320"/>
            <a:ext cx="10725912" cy="548640"/>
          </a:xfrm>
          <a:prstGeom prst="rect">
            <a:avLst/>
          </a:prstGeom>
          <a:solidFill>
            <a:srgbClr val="F2F4F8"/>
          </a:solidFill>
          <a:ln/>
        </p:spPr>
        <p:txBody>
          <a:bodyPr/>
          <a:lstStyle/>
          <a:p>
            <a:endParaRPr lang="ko-KR" altLang="en-US"/>
          </a:p>
        </p:txBody>
      </p:sp>
      <p:sp>
        <p:nvSpPr>
          <p:cNvPr id="1001" name="APPROVED_BAND_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소년법은 보호처분과 형사처분의 특례를 통해 소년의 건전한 성장을 지향한다.</a:t>
            </a:r>
          </a:p>
        </p:txBody>
      </p:sp>
      <p:sp>
        <p:nvSpPr>
          <p:cNvPr id="1002" name="APPROVED_MAIN_RULE"/>
          <p:cNvSpPr/>
          <p:nvPr/>
        </p:nvSpPr>
        <p:spPr>
          <a:xfrm>
            <a:off x="731520" y="2057400"/>
            <a:ext cx="10725912" cy="0"/>
          </a:xfrm>
          <a:prstGeom prst="line">
            <a:avLst/>
          </a:prstGeom>
          <a:ln w="19050">
            <a:solidFill>
              <a:srgbClr val="1E2761"/>
            </a:solidFill>
          </a:ln>
        </p:spPr>
        <p:txBody>
          <a:bodyPr/>
          <a:lstStyle/>
          <a:p>
            <a:endParaRPr lang="ko-KR"/>
          </a:p>
        </p:txBody>
      </p:sp>
      <p:sp>
        <p:nvSpPr>
          <p:cNvPr id="1003" name="APPROVED_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소년법 제1조·제60조 · 형법 제9조·제10조 · 세 관점은 2주차 형벌목적 논의의 강의용 정리</a:t>
            </a:r>
          </a:p>
        </p:txBody>
      </p:sp>
      <p:sp>
        <p:nvSpPr>
          <p:cNvPr id="1004" name="BODY1004"/>
          <p:cNvSpPr/>
          <p:nvPr/>
        </p:nvSpPr>
        <p:spPr>
          <a:xfrm>
            <a:off x="3154680" y="2288769"/>
            <a:ext cx="8302752" cy="765404"/>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형벌은 행위의 잘못과 행위자의 책임에 상응해야 한다.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피해가 중대하더라도 소년에게 인정할 수 있는 책임을 먼저 판단해야 한다.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범행 당시의 이해·통제능력과 행위의 중대성을 함께 고려한다.</a:t>
            </a:r>
          </a:p>
        </p:txBody>
      </p:sp>
      <p:sp>
        <p:nvSpPr>
          <p:cNvPr id="1005" name="HEAD1005"/>
          <p:cNvSpPr/>
          <p:nvPr/>
        </p:nvSpPr>
        <p:spPr>
          <a:xfrm>
            <a:off x="731520" y="2034540"/>
            <a:ext cx="2240280" cy="1292149"/>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응보와 책임</a:t>
            </a:r>
          </a:p>
        </p:txBody>
      </p:sp>
      <p:sp>
        <p:nvSpPr>
          <p:cNvPr id="1006" name="RULE1006"/>
          <p:cNvSpPr/>
          <p:nvPr/>
        </p:nvSpPr>
        <p:spPr>
          <a:xfrm>
            <a:off x="731520" y="3349549"/>
            <a:ext cx="10725912" cy="0"/>
          </a:xfrm>
          <a:prstGeom prst="line">
            <a:avLst/>
          </a:prstGeom>
          <a:ln w="9525">
            <a:solidFill>
              <a:srgbClr val="DCE0E8"/>
            </a:solidFill>
          </a:ln>
        </p:spPr>
        <p:txBody>
          <a:bodyPr/>
          <a:lstStyle/>
          <a:p>
            <a:endParaRPr lang="ko-KR"/>
          </a:p>
        </p:txBody>
      </p:sp>
      <p:sp>
        <p:nvSpPr>
          <p:cNvPr id="1007" name="BODY1007"/>
          <p:cNvSpPr/>
          <p:nvPr/>
        </p:nvSpPr>
        <p:spPr>
          <a:xfrm>
            <a:off x="3154680" y="3580917"/>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장래의 범죄와 재범을 줄이는 효과를 중시한다.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처벌 가능성이 다른 소년의 범행을 억제하는지와, 해당 소년에 대한 개입이 재범을 줄이는지를 구별한다.</a:t>
            </a:r>
          </a:p>
        </p:txBody>
      </p:sp>
      <p:sp>
        <p:nvSpPr>
          <p:cNvPr id="1008" name="HEAD1008"/>
          <p:cNvSpPr/>
          <p:nvPr/>
        </p:nvSpPr>
        <p:spPr>
          <a:xfrm>
            <a:off x="731520" y="3326689"/>
            <a:ext cx="2240280" cy="1021842"/>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범죄예방</a:t>
            </a:r>
          </a:p>
        </p:txBody>
      </p:sp>
      <p:sp>
        <p:nvSpPr>
          <p:cNvPr id="1009" name="RULE1009"/>
          <p:cNvSpPr/>
          <p:nvPr/>
        </p:nvSpPr>
        <p:spPr>
          <a:xfrm>
            <a:off x="731520" y="4371391"/>
            <a:ext cx="10725912" cy="0"/>
          </a:xfrm>
          <a:prstGeom prst="line">
            <a:avLst/>
          </a:prstGeom>
          <a:ln w="9525">
            <a:solidFill>
              <a:srgbClr val="DCE0E8"/>
            </a:solidFill>
          </a:ln>
        </p:spPr>
        <p:txBody>
          <a:bodyPr/>
          <a:lstStyle/>
          <a:p>
            <a:endParaRPr lang="ko-KR"/>
          </a:p>
        </p:txBody>
      </p:sp>
      <p:sp>
        <p:nvSpPr>
          <p:cNvPr id="1010" name="BODY1010"/>
          <p:cNvSpPr/>
          <p:nvPr/>
        </p:nvSpPr>
        <p:spPr>
          <a:xfrm>
            <a:off x="3154680" y="4602759"/>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환경 조정과 교육·치료를 통해 건전한 성장을 돕는다.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보호처분뿐 아니라 소년형사사건의 감경·처우 특례에도 소년의 특성과 교정 목적이 반영된다.</a:t>
            </a:r>
          </a:p>
        </p:txBody>
      </p:sp>
      <p:sp>
        <p:nvSpPr>
          <p:cNvPr id="1011" name="HEAD1011"/>
          <p:cNvSpPr/>
          <p:nvPr/>
        </p:nvSpPr>
        <p:spPr>
          <a:xfrm>
            <a:off x="731520" y="4348531"/>
            <a:ext cx="2240280" cy="1021842"/>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보호와 교화</a:t>
            </a:r>
          </a:p>
        </p:txBody>
      </p:sp>
      <p:sp>
        <p:nvSpPr>
          <p:cNvPr id="1012" name="RULE1012"/>
          <p:cNvSpPr/>
          <p:nvPr/>
        </p:nvSpPr>
        <p:spPr>
          <a:xfrm>
            <a:off x="731520" y="5393233"/>
            <a:ext cx="10725912" cy="0"/>
          </a:xfrm>
          <a:prstGeom prst="line">
            <a:avLst/>
          </a:prstGeom>
          <a:ln w="9525">
            <a:solidFill>
              <a:srgbClr val="DCE0E8"/>
            </a:solidFill>
          </a:ln>
        </p:spPr>
        <p:txBody>
          <a:bodyPr/>
          <a:lstStyle/>
          <a:p>
            <a:endParaRPr lang="ko-KR"/>
          </a:p>
        </p:txBody>
      </p:sp>
      <p:sp>
        <p:nvSpPr>
          <p:cNvPr id="1013" name="CLOSE1013"/>
          <p:cNvSpPr/>
          <p:nvPr/>
        </p:nvSpPr>
        <p:spPr>
          <a:xfrm>
            <a:off x="731520" y="5624601"/>
            <a:ext cx="1072591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이번 논제는 보호절차가 있는 13세에게 형벌로 책임을 물을 가능성까지 추가할 것인가를 묻는다.</a:t>
            </a:r>
          </a:p>
        </p:txBody>
      </p:sp>
      <p:sp>
        <p:nvSpPr>
          <p:cNvPr id="1014" name="RULE1014"/>
          <p:cNvSpPr/>
          <p:nvPr/>
        </p:nvSpPr>
        <p:spPr>
          <a:xfrm>
            <a:off x="731520" y="6144768"/>
            <a:ext cx="10725912" cy="0"/>
          </a:xfrm>
          <a:prstGeom prst="line">
            <a:avLst/>
          </a:prstGeom>
          <a:ln w="9525">
            <a:solidFill>
              <a:srgbClr val="DCE0E8"/>
            </a:solidFill>
          </a:ln>
        </p:spPr>
        <p:txBody>
          <a:bodyPr/>
          <a:lstStyle/>
          <a:p>
            <a:endParaRPr lang="ko-K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보호처분의 종류와 기간 Ⅱ</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sz="2750" b="1">
                <a:solidFill>
                  <a:srgbClr val="1E2761"/>
                </a:solidFill>
                <a:latin typeface="Pretendard"/>
              </a:rPr>
              <a:t>보호처분의 종류와 기간 Ⅰ — 제1호부터 제5호까지</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보호처분은 형벌이 아니지만, 수강명령·보호관찰처럼 실제 생활에 개입하는 처분을 포함한다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lth0.8"/>
          <p:cNvSpPr txBox="1"/>
          <p:nvPr/>
        </p:nvSpPr>
        <p:spPr>
          <a:xfrm>
            <a:off x="731520" y="2375154"/>
            <a:ext cx="960120" cy="274320"/>
          </a:xfrm>
          <a:prstGeom prst="rect">
            <a:avLst/>
          </a:prstGeom>
          <a:noFill/>
        </p:spPr>
        <p:txBody>
          <a:bodyPr wrap="square" lIns="0" tIns="27432" rIns="0" bIns="27432" anchor="ctr">
            <a:noAutofit/>
          </a:bodyPr>
          <a:lstStyle/>
          <a:p>
            <a:pPr algn="ctr">
              <a:lnSpc>
                <a:spcPct val="118000"/>
              </a:lnSpc>
            </a:pPr>
            <a:r>
              <a:rPr lang="ko-KR" sz="1200" b="1" dirty="0">
                <a:solidFill>
                  <a:srgbClr val="464D5C"/>
                </a:solidFill>
                <a:latin typeface="Pretendard"/>
                <a:ea typeface="Pretendard"/>
                <a:cs typeface="Pretendard"/>
              </a:rPr>
              <a:t>호</a:t>
            </a:r>
          </a:p>
        </p:txBody>
      </p:sp>
      <p:sp>
        <p:nvSpPr>
          <p:cNvPr id="17" name="lth1.95"/>
          <p:cNvSpPr txBox="1"/>
          <p:nvPr/>
        </p:nvSpPr>
        <p:spPr>
          <a:xfrm>
            <a:off x="1783080" y="2375154"/>
            <a:ext cx="5120640" cy="274320"/>
          </a:xfrm>
          <a:prstGeom prst="rect">
            <a:avLst/>
          </a:prstGeom>
          <a:noFill/>
        </p:spPr>
        <p:txBody>
          <a:bodyPr wrap="square" lIns="0" tIns="27432" rIns="0" bIns="27432" anchor="ctr">
            <a:noAutofit/>
          </a:bodyPr>
          <a:lstStyle/>
          <a:p>
            <a:pPr algn="l">
              <a:lnSpc>
                <a:spcPct val="118000"/>
              </a:lnSpc>
            </a:pPr>
            <a:r>
              <a:rPr lang="ko-KR" sz="1200" b="1" dirty="0">
                <a:solidFill>
                  <a:srgbClr val="464D5C"/>
                </a:solidFill>
                <a:latin typeface="Pretendard"/>
                <a:ea typeface="Pretendard"/>
                <a:cs typeface="Pretendard"/>
              </a:rPr>
              <a:t>처분</a:t>
            </a:r>
          </a:p>
        </p:txBody>
      </p:sp>
      <p:sp>
        <p:nvSpPr>
          <p:cNvPr id="18" name="lth7.65"/>
          <p:cNvSpPr txBox="1"/>
          <p:nvPr/>
        </p:nvSpPr>
        <p:spPr>
          <a:xfrm>
            <a:off x="6995160" y="2375154"/>
            <a:ext cx="2468880" cy="274320"/>
          </a:xfrm>
          <a:prstGeom prst="rect">
            <a:avLst/>
          </a:prstGeom>
          <a:noFill/>
        </p:spPr>
        <p:txBody>
          <a:bodyPr wrap="square" lIns="0" tIns="27432" rIns="0" bIns="27432" anchor="ctr">
            <a:noAutofit/>
          </a:bodyPr>
          <a:lstStyle/>
          <a:p>
            <a:pPr algn="ctr">
              <a:lnSpc>
                <a:spcPct val="118000"/>
              </a:lnSpc>
            </a:pPr>
            <a:r>
              <a:rPr lang="ko-KR" sz="1200" b="1" dirty="0">
                <a:solidFill>
                  <a:srgbClr val="464D5C"/>
                </a:solidFill>
                <a:latin typeface="Pretendard"/>
                <a:ea typeface="Pretendard"/>
                <a:cs typeface="Pretendard"/>
              </a:rPr>
              <a:t>기간</a:t>
            </a:r>
          </a:p>
        </p:txBody>
      </p:sp>
      <p:sp>
        <p:nvSpPr>
          <p:cNvPr id="19" name="lth10.45"/>
          <p:cNvSpPr txBox="1"/>
          <p:nvPr/>
        </p:nvSpPr>
        <p:spPr>
          <a:xfrm>
            <a:off x="9555480" y="2375154"/>
            <a:ext cx="1901952" cy="274320"/>
          </a:xfrm>
          <a:prstGeom prst="rect">
            <a:avLst/>
          </a:prstGeom>
          <a:noFill/>
        </p:spPr>
        <p:txBody>
          <a:bodyPr wrap="square" lIns="0" tIns="27432" rIns="0" bIns="27432" anchor="ctr">
            <a:noAutofit/>
          </a:bodyPr>
          <a:lstStyle/>
          <a:p>
            <a:pPr algn="ctr">
              <a:lnSpc>
                <a:spcPct val="118000"/>
              </a:lnSpc>
            </a:pPr>
            <a:r>
              <a:rPr lang="ko-KR" sz="1200" b="1" dirty="0">
                <a:solidFill>
                  <a:srgbClr val="464D5C"/>
                </a:solidFill>
                <a:latin typeface="Pretendard"/>
                <a:ea typeface="Pretendard"/>
                <a:cs typeface="Pretendard"/>
              </a:rPr>
              <a:t>연령 제한</a:t>
            </a:r>
          </a:p>
        </p:txBody>
      </p:sp>
      <p:sp>
        <p:nvSpPr>
          <p:cNvPr id="20" name="line20"/>
          <p:cNvSpPr/>
          <p:nvPr/>
        </p:nvSpPr>
        <p:spPr>
          <a:xfrm>
            <a:off x="731520" y="2759202"/>
            <a:ext cx="10725912" cy="0"/>
          </a:xfrm>
          <a:prstGeom prst="line">
            <a:avLst/>
          </a:prstGeom>
          <a:ln w="19050">
            <a:solidFill>
              <a:srgbClr val="1E2761"/>
            </a:solidFill>
          </a:ln>
        </p:spPr>
        <p:txBody>
          <a:bodyPr/>
          <a:lstStyle/>
          <a:p>
            <a:endParaRPr/>
          </a:p>
        </p:txBody>
      </p:sp>
      <p:sp>
        <p:nvSpPr>
          <p:cNvPr id="21" name="ltc00.8"/>
          <p:cNvSpPr txBox="1"/>
          <p:nvPr/>
        </p:nvSpPr>
        <p:spPr>
          <a:xfrm>
            <a:off x="731520" y="2887218"/>
            <a:ext cx="960120" cy="370332"/>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제1호</a:t>
            </a:r>
          </a:p>
        </p:txBody>
      </p:sp>
      <p:sp>
        <p:nvSpPr>
          <p:cNvPr id="22" name="ltc01.95"/>
          <p:cNvSpPr txBox="1"/>
          <p:nvPr/>
        </p:nvSpPr>
        <p:spPr>
          <a:xfrm>
            <a:off x="1783080" y="2887218"/>
            <a:ext cx="5120640" cy="370332"/>
          </a:xfrm>
          <a:prstGeom prst="rect">
            <a:avLst/>
          </a:prstGeom>
          <a:noFill/>
        </p:spPr>
        <p:txBody>
          <a:bodyPr wrap="square" lIns="0" tIns="27432" rIns="0" bIns="27432" anchor="ctr">
            <a:noAutofit/>
          </a:bodyPr>
          <a:lstStyle/>
          <a:p>
            <a:pPr algn="l">
              <a:lnSpc>
                <a:spcPct val="118000"/>
              </a:lnSpc>
            </a:pPr>
            <a:r>
              <a:rPr lang="ko-KR" sz="1250" b="1" dirty="0">
                <a:solidFill>
                  <a:srgbClr val="1E2761"/>
                </a:solidFill>
                <a:latin typeface="Pretendard"/>
                <a:ea typeface="Pretendard"/>
                <a:cs typeface="Pretendard"/>
              </a:rPr>
              <a:t>보호자 등에 대한 감호위탁</a:t>
            </a:r>
          </a:p>
        </p:txBody>
      </p:sp>
      <p:sp>
        <p:nvSpPr>
          <p:cNvPr id="23" name="ltc07.65"/>
          <p:cNvSpPr txBox="1"/>
          <p:nvPr/>
        </p:nvSpPr>
        <p:spPr>
          <a:xfrm>
            <a:off x="6995160" y="2887218"/>
            <a:ext cx="2468880"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6개월 · 1회 6개월 연장</a:t>
            </a:r>
          </a:p>
        </p:txBody>
      </p:sp>
      <p:sp>
        <p:nvSpPr>
          <p:cNvPr id="24" name="ltc010.45"/>
          <p:cNvSpPr txBox="1"/>
          <p:nvPr/>
        </p:nvSpPr>
        <p:spPr>
          <a:xfrm>
            <a:off x="9555480" y="2887218"/>
            <a:ext cx="1901952"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a:t>
            </a:r>
          </a:p>
        </p:txBody>
      </p:sp>
      <p:sp>
        <p:nvSpPr>
          <p:cNvPr id="25" name="line25"/>
          <p:cNvSpPr/>
          <p:nvPr/>
        </p:nvSpPr>
        <p:spPr>
          <a:xfrm>
            <a:off x="731520" y="3303270"/>
            <a:ext cx="10725912" cy="0"/>
          </a:xfrm>
          <a:prstGeom prst="line">
            <a:avLst/>
          </a:prstGeom>
          <a:ln w="9525">
            <a:solidFill>
              <a:srgbClr val="DCE0E8"/>
            </a:solidFill>
          </a:ln>
        </p:spPr>
        <p:txBody>
          <a:bodyPr/>
          <a:lstStyle/>
          <a:p>
            <a:endParaRPr/>
          </a:p>
        </p:txBody>
      </p:sp>
      <p:sp>
        <p:nvSpPr>
          <p:cNvPr id="26" name="ltc10.8"/>
          <p:cNvSpPr txBox="1"/>
          <p:nvPr/>
        </p:nvSpPr>
        <p:spPr>
          <a:xfrm>
            <a:off x="731520" y="3348990"/>
            <a:ext cx="960120" cy="370332"/>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제2호</a:t>
            </a:r>
          </a:p>
        </p:txBody>
      </p:sp>
      <p:sp>
        <p:nvSpPr>
          <p:cNvPr id="27" name="ltc11.95"/>
          <p:cNvSpPr txBox="1"/>
          <p:nvPr/>
        </p:nvSpPr>
        <p:spPr>
          <a:xfrm>
            <a:off x="1783080" y="3348990"/>
            <a:ext cx="5120640" cy="370332"/>
          </a:xfrm>
          <a:prstGeom prst="rect">
            <a:avLst/>
          </a:prstGeom>
          <a:noFill/>
        </p:spPr>
        <p:txBody>
          <a:bodyPr wrap="square" lIns="0" tIns="27432" rIns="0" bIns="27432" anchor="ctr">
            <a:noAutofit/>
          </a:bodyPr>
          <a:lstStyle/>
          <a:p>
            <a:pPr algn="l">
              <a:lnSpc>
                <a:spcPct val="118000"/>
              </a:lnSpc>
            </a:pPr>
            <a:r>
              <a:rPr lang="ko-KR" sz="1250" b="1" dirty="0">
                <a:solidFill>
                  <a:srgbClr val="1E2761"/>
                </a:solidFill>
                <a:latin typeface="Pretendard"/>
                <a:ea typeface="Pretendard"/>
                <a:cs typeface="Pretendard"/>
              </a:rPr>
              <a:t>수강명령</a:t>
            </a:r>
          </a:p>
        </p:txBody>
      </p:sp>
      <p:sp>
        <p:nvSpPr>
          <p:cNvPr id="28" name="ltc17.65"/>
          <p:cNvSpPr txBox="1"/>
          <p:nvPr/>
        </p:nvSpPr>
        <p:spPr>
          <a:xfrm>
            <a:off x="6995160" y="3348990"/>
            <a:ext cx="2468880"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100시간 이내</a:t>
            </a:r>
          </a:p>
        </p:txBody>
      </p:sp>
      <p:sp>
        <p:nvSpPr>
          <p:cNvPr id="29" name="ltc110.45"/>
          <p:cNvSpPr txBox="1"/>
          <p:nvPr/>
        </p:nvSpPr>
        <p:spPr>
          <a:xfrm>
            <a:off x="9555480" y="3348990"/>
            <a:ext cx="1901952" cy="370332"/>
          </a:xfrm>
          <a:prstGeom prst="rect">
            <a:avLst/>
          </a:prstGeom>
          <a:noFill/>
        </p:spPr>
        <p:txBody>
          <a:bodyPr wrap="square" lIns="0" tIns="27432" rIns="0" bIns="27432" anchor="ctr">
            <a:noAutofit/>
          </a:bodyPr>
          <a:lstStyle/>
          <a:p>
            <a:pPr algn="ctr">
              <a:lnSpc>
                <a:spcPct val="118000"/>
              </a:lnSpc>
            </a:pPr>
            <a:r>
              <a:rPr lang="ko-KR" sz="1250" b="1" dirty="0">
                <a:solidFill>
                  <a:srgbClr val="A8871C"/>
                </a:solidFill>
                <a:latin typeface="Pretendard"/>
                <a:ea typeface="Pretendard"/>
                <a:cs typeface="Pretendard"/>
              </a:rPr>
              <a:t>12세 이상</a:t>
            </a:r>
          </a:p>
        </p:txBody>
      </p:sp>
      <p:sp>
        <p:nvSpPr>
          <p:cNvPr id="30" name="line30"/>
          <p:cNvSpPr/>
          <p:nvPr/>
        </p:nvSpPr>
        <p:spPr>
          <a:xfrm>
            <a:off x="731520" y="3765042"/>
            <a:ext cx="10725912" cy="0"/>
          </a:xfrm>
          <a:prstGeom prst="line">
            <a:avLst/>
          </a:prstGeom>
          <a:ln w="9525">
            <a:solidFill>
              <a:srgbClr val="DCE0E8"/>
            </a:solidFill>
          </a:ln>
        </p:spPr>
        <p:txBody>
          <a:bodyPr/>
          <a:lstStyle/>
          <a:p>
            <a:endParaRPr/>
          </a:p>
        </p:txBody>
      </p:sp>
      <p:sp>
        <p:nvSpPr>
          <p:cNvPr id="31" name="ltc20.8"/>
          <p:cNvSpPr txBox="1"/>
          <p:nvPr/>
        </p:nvSpPr>
        <p:spPr>
          <a:xfrm>
            <a:off x="731520" y="3810762"/>
            <a:ext cx="960120" cy="370332"/>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제3호</a:t>
            </a:r>
          </a:p>
        </p:txBody>
      </p:sp>
      <p:sp>
        <p:nvSpPr>
          <p:cNvPr id="32" name="ltc21.95"/>
          <p:cNvSpPr txBox="1"/>
          <p:nvPr/>
        </p:nvSpPr>
        <p:spPr>
          <a:xfrm>
            <a:off x="1783080" y="3810762"/>
            <a:ext cx="5120640" cy="370332"/>
          </a:xfrm>
          <a:prstGeom prst="rect">
            <a:avLst/>
          </a:prstGeom>
          <a:noFill/>
        </p:spPr>
        <p:txBody>
          <a:bodyPr wrap="square" lIns="0" tIns="27432" rIns="0" bIns="27432" anchor="ctr">
            <a:noAutofit/>
          </a:bodyPr>
          <a:lstStyle/>
          <a:p>
            <a:pPr algn="l">
              <a:lnSpc>
                <a:spcPct val="118000"/>
              </a:lnSpc>
            </a:pPr>
            <a:r>
              <a:rPr lang="ko-KR" sz="1250" b="1" dirty="0">
                <a:solidFill>
                  <a:srgbClr val="1E2761"/>
                </a:solidFill>
                <a:latin typeface="Pretendard"/>
                <a:ea typeface="Pretendard"/>
                <a:cs typeface="Pretendard"/>
              </a:rPr>
              <a:t>사회봉사명령</a:t>
            </a:r>
          </a:p>
        </p:txBody>
      </p:sp>
      <p:sp>
        <p:nvSpPr>
          <p:cNvPr id="33" name="ltc27.65"/>
          <p:cNvSpPr txBox="1"/>
          <p:nvPr/>
        </p:nvSpPr>
        <p:spPr>
          <a:xfrm>
            <a:off x="6995160" y="3810762"/>
            <a:ext cx="2468880"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200시간 이내</a:t>
            </a:r>
          </a:p>
        </p:txBody>
      </p:sp>
      <p:sp>
        <p:nvSpPr>
          <p:cNvPr id="34" name="ltc210.45"/>
          <p:cNvSpPr txBox="1"/>
          <p:nvPr/>
        </p:nvSpPr>
        <p:spPr>
          <a:xfrm>
            <a:off x="9555480" y="3810762"/>
            <a:ext cx="1901952" cy="370332"/>
          </a:xfrm>
          <a:prstGeom prst="rect">
            <a:avLst/>
          </a:prstGeom>
          <a:noFill/>
        </p:spPr>
        <p:txBody>
          <a:bodyPr wrap="square" lIns="0" tIns="27432" rIns="0" bIns="27432" anchor="ctr">
            <a:noAutofit/>
          </a:bodyPr>
          <a:lstStyle/>
          <a:p>
            <a:pPr algn="ctr">
              <a:lnSpc>
                <a:spcPct val="118000"/>
              </a:lnSpc>
            </a:pPr>
            <a:r>
              <a:rPr lang="ko-KR" sz="1250" b="1" dirty="0">
                <a:solidFill>
                  <a:srgbClr val="A8871C"/>
                </a:solidFill>
                <a:latin typeface="Pretendard"/>
                <a:ea typeface="Pretendard"/>
                <a:cs typeface="Pretendard"/>
              </a:rPr>
              <a:t>14세 이상</a:t>
            </a:r>
          </a:p>
        </p:txBody>
      </p:sp>
      <p:sp>
        <p:nvSpPr>
          <p:cNvPr id="35" name="line35"/>
          <p:cNvSpPr/>
          <p:nvPr/>
        </p:nvSpPr>
        <p:spPr>
          <a:xfrm>
            <a:off x="731520" y="4226814"/>
            <a:ext cx="10725912" cy="0"/>
          </a:xfrm>
          <a:prstGeom prst="line">
            <a:avLst/>
          </a:prstGeom>
          <a:ln w="9525">
            <a:solidFill>
              <a:srgbClr val="DCE0E8"/>
            </a:solidFill>
          </a:ln>
        </p:spPr>
        <p:txBody>
          <a:bodyPr/>
          <a:lstStyle/>
          <a:p>
            <a:endParaRPr/>
          </a:p>
        </p:txBody>
      </p:sp>
      <p:sp>
        <p:nvSpPr>
          <p:cNvPr id="36" name="ltc30.8"/>
          <p:cNvSpPr txBox="1"/>
          <p:nvPr/>
        </p:nvSpPr>
        <p:spPr>
          <a:xfrm>
            <a:off x="731520" y="4272534"/>
            <a:ext cx="960120" cy="370332"/>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제4호</a:t>
            </a:r>
          </a:p>
        </p:txBody>
      </p:sp>
      <p:sp>
        <p:nvSpPr>
          <p:cNvPr id="37" name="ltc31.95"/>
          <p:cNvSpPr txBox="1"/>
          <p:nvPr/>
        </p:nvSpPr>
        <p:spPr>
          <a:xfrm>
            <a:off x="1783080" y="4272534"/>
            <a:ext cx="5120640" cy="370332"/>
          </a:xfrm>
          <a:prstGeom prst="rect">
            <a:avLst/>
          </a:prstGeom>
          <a:noFill/>
        </p:spPr>
        <p:txBody>
          <a:bodyPr wrap="square" lIns="0" tIns="27432" rIns="0" bIns="27432" anchor="ctr">
            <a:noAutofit/>
          </a:bodyPr>
          <a:lstStyle/>
          <a:p>
            <a:pPr algn="l">
              <a:lnSpc>
                <a:spcPct val="118000"/>
              </a:lnSpc>
            </a:pPr>
            <a:r>
              <a:rPr lang="ko-KR" sz="1250" b="1" dirty="0">
                <a:solidFill>
                  <a:srgbClr val="1E2761"/>
                </a:solidFill>
                <a:latin typeface="Pretendard"/>
                <a:ea typeface="Pretendard"/>
                <a:cs typeface="Pretendard"/>
              </a:rPr>
              <a:t>단기 보호관찰</a:t>
            </a:r>
          </a:p>
        </p:txBody>
      </p:sp>
      <p:sp>
        <p:nvSpPr>
          <p:cNvPr id="38" name="ltc37.65"/>
          <p:cNvSpPr txBox="1"/>
          <p:nvPr/>
        </p:nvSpPr>
        <p:spPr>
          <a:xfrm>
            <a:off x="6995160" y="4272534"/>
            <a:ext cx="2468880"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1년</a:t>
            </a:r>
          </a:p>
        </p:txBody>
      </p:sp>
      <p:sp>
        <p:nvSpPr>
          <p:cNvPr id="39" name="ltc310.45"/>
          <p:cNvSpPr txBox="1"/>
          <p:nvPr/>
        </p:nvSpPr>
        <p:spPr>
          <a:xfrm>
            <a:off x="9555480" y="4272534"/>
            <a:ext cx="1901952"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a:t>
            </a:r>
          </a:p>
        </p:txBody>
      </p:sp>
      <p:sp>
        <p:nvSpPr>
          <p:cNvPr id="40" name="line40"/>
          <p:cNvSpPr/>
          <p:nvPr/>
        </p:nvSpPr>
        <p:spPr>
          <a:xfrm>
            <a:off x="731520" y="4688586"/>
            <a:ext cx="10725912" cy="0"/>
          </a:xfrm>
          <a:prstGeom prst="line">
            <a:avLst/>
          </a:prstGeom>
          <a:ln w="9525">
            <a:solidFill>
              <a:srgbClr val="DCE0E8"/>
            </a:solidFill>
          </a:ln>
        </p:spPr>
        <p:txBody>
          <a:bodyPr/>
          <a:lstStyle/>
          <a:p>
            <a:endParaRPr/>
          </a:p>
        </p:txBody>
      </p:sp>
      <p:sp>
        <p:nvSpPr>
          <p:cNvPr id="41" name="ltc40.8"/>
          <p:cNvSpPr txBox="1"/>
          <p:nvPr/>
        </p:nvSpPr>
        <p:spPr>
          <a:xfrm>
            <a:off x="731520" y="4734306"/>
            <a:ext cx="960120" cy="370332"/>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제5호</a:t>
            </a:r>
          </a:p>
        </p:txBody>
      </p:sp>
      <p:sp>
        <p:nvSpPr>
          <p:cNvPr id="42" name="ltc41.95"/>
          <p:cNvSpPr txBox="1"/>
          <p:nvPr/>
        </p:nvSpPr>
        <p:spPr>
          <a:xfrm>
            <a:off x="1783080" y="4734306"/>
            <a:ext cx="5120640" cy="370332"/>
          </a:xfrm>
          <a:prstGeom prst="rect">
            <a:avLst/>
          </a:prstGeom>
          <a:noFill/>
        </p:spPr>
        <p:txBody>
          <a:bodyPr wrap="square" lIns="0" tIns="27432" rIns="0" bIns="27432" anchor="ctr">
            <a:noAutofit/>
          </a:bodyPr>
          <a:lstStyle/>
          <a:p>
            <a:pPr algn="l">
              <a:lnSpc>
                <a:spcPct val="118000"/>
              </a:lnSpc>
            </a:pPr>
            <a:r>
              <a:rPr lang="ko-KR" sz="1250" b="1" dirty="0">
                <a:solidFill>
                  <a:srgbClr val="1E2761"/>
                </a:solidFill>
                <a:latin typeface="Pretendard"/>
                <a:ea typeface="Pretendard"/>
                <a:cs typeface="Pretendard"/>
              </a:rPr>
              <a:t>장기 보호관찰</a:t>
            </a:r>
          </a:p>
        </p:txBody>
      </p:sp>
      <p:sp>
        <p:nvSpPr>
          <p:cNvPr id="43" name="ltc47.65"/>
          <p:cNvSpPr txBox="1"/>
          <p:nvPr/>
        </p:nvSpPr>
        <p:spPr>
          <a:xfrm>
            <a:off x="6995160" y="4734306"/>
            <a:ext cx="2468880"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2년 · 1회 1년 연장</a:t>
            </a:r>
          </a:p>
        </p:txBody>
      </p:sp>
      <p:sp>
        <p:nvSpPr>
          <p:cNvPr id="44" name="ltc410.45"/>
          <p:cNvSpPr txBox="1"/>
          <p:nvPr/>
        </p:nvSpPr>
        <p:spPr>
          <a:xfrm>
            <a:off x="9555480" y="4734306"/>
            <a:ext cx="1901952"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a:t>
            </a:r>
          </a:p>
        </p:txBody>
      </p:sp>
      <p:sp>
        <p:nvSpPr>
          <p:cNvPr id="45" name="line45"/>
          <p:cNvSpPr/>
          <p:nvPr/>
        </p:nvSpPr>
        <p:spPr>
          <a:xfrm>
            <a:off x="731520" y="5318379"/>
            <a:ext cx="10725912" cy="0"/>
          </a:xfrm>
          <a:prstGeom prst="line">
            <a:avLst/>
          </a:prstGeom>
          <a:ln w="9525">
            <a:solidFill>
              <a:srgbClr val="DCE0E8"/>
            </a:solidFill>
          </a:ln>
        </p:spPr>
        <p:txBody>
          <a:bodyPr/>
          <a:lstStyle/>
          <a:p>
            <a:endParaRPr/>
          </a:p>
        </p:txBody>
      </p:sp>
      <p:sp>
        <p:nvSpPr>
          <p:cNvPr id="46" name="lrh0"/>
          <p:cNvSpPr txBox="1"/>
          <p:nvPr/>
        </p:nvSpPr>
        <p:spPr>
          <a:xfrm>
            <a:off x="731520" y="5364099"/>
            <a:ext cx="2240280" cy="576072"/>
          </a:xfrm>
          <a:prstGeom prst="rect">
            <a:avLst/>
          </a:prstGeom>
          <a:noFill/>
        </p:spPr>
        <p:txBody>
          <a:bodyPr wrap="square" lIns="0" tIns="27432" rIns="0" bIns="27432" anchor="ctr">
            <a:noAutofit/>
          </a:bodyPr>
          <a:lstStyle/>
          <a:p>
            <a:pPr algn="ctr">
              <a:lnSpc>
                <a:spcPct val="118000"/>
              </a:lnSpc>
            </a:pPr>
            <a:r>
              <a:rPr sz="1300" b="1">
                <a:solidFill>
                  <a:srgbClr val="1E2761"/>
                </a:solidFill>
                <a:latin typeface="Pretendard"/>
              </a:rPr>
              <a:t>현재 13세에게 가능한 처분</a:t>
            </a:r>
          </a:p>
        </p:txBody>
      </p:sp>
      <p:sp>
        <p:nvSpPr>
          <p:cNvPr id="47" name="lrb0"/>
          <p:cNvSpPr txBox="1"/>
          <p:nvPr/>
        </p:nvSpPr>
        <p:spPr>
          <a:xfrm>
            <a:off x="3154680" y="5364099"/>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기간과 시간은 법이 정한 한도이며, 실제 부과는 사건마다 그 안에서 정해진다.</a:t>
            </a:r>
          </a:p>
          <a:p>
            <a:pPr algn="l">
              <a:lnSpc>
                <a:spcPct val="118000"/>
              </a:lnSpc>
            </a:pPr>
            <a:r>
              <a:rPr lang="ko-KR" sz="1150" b="0" dirty="0">
                <a:solidFill>
                  <a:srgbClr val="464D5C"/>
                </a:solidFill>
                <a:latin typeface="Pretendard"/>
                <a:ea typeface="Pretendard"/>
                <a:cs typeface="Pretendard"/>
              </a:rPr>
              <a:t>현재 13세에게 수강명령과 보호관찰은 가능하고 사회봉사명령은 부과할 수 없다.</a:t>
            </a:r>
          </a:p>
        </p:txBody>
      </p:sp>
      <p:sp>
        <p:nvSpPr>
          <p:cNvPr id="48" name="line48"/>
          <p:cNvSpPr/>
          <p:nvPr/>
        </p:nvSpPr>
        <p:spPr>
          <a:xfrm>
            <a:off x="731520" y="6144768"/>
            <a:ext cx="10725912" cy="0"/>
          </a:xfrm>
          <a:prstGeom prst="line">
            <a:avLst/>
          </a:prstGeom>
          <a:ln w="19050">
            <a:solidFill>
              <a:srgbClr val="1E2761"/>
            </a:solidFill>
          </a:ln>
        </p:spPr>
        <p:txBody>
          <a:bodyPr/>
          <a:lstStyle/>
          <a:p>
            <a:endParaRPr/>
          </a:p>
        </p:txBody>
      </p:sp>
      <p:sp>
        <p:nvSpPr>
          <p:cNvPr id="49"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소년법 제32조 · 제33조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보호처분과 형 선고</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sz="2750" b="1">
                <a:solidFill>
                  <a:srgbClr val="1E2761"/>
                </a:solidFill>
                <a:latin typeface="Pretendard"/>
              </a:rPr>
              <a:t>보호처분의 종류와 기간 Ⅱ — 제6호부터 제10호까지</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시설위탁·의료위탁·소년원 송치는 생활공간과 자유 제한의 정도가 각각 다르다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lth0.8"/>
          <p:cNvSpPr txBox="1"/>
          <p:nvPr/>
        </p:nvSpPr>
        <p:spPr>
          <a:xfrm>
            <a:off x="731520" y="2192021"/>
            <a:ext cx="960120" cy="274320"/>
          </a:xfrm>
          <a:prstGeom prst="rect">
            <a:avLst/>
          </a:prstGeom>
          <a:noFill/>
        </p:spPr>
        <p:txBody>
          <a:bodyPr wrap="square" lIns="0" tIns="27432" rIns="0" bIns="27432" anchor="ctr">
            <a:noAutofit/>
          </a:bodyPr>
          <a:lstStyle/>
          <a:p>
            <a:pPr algn="ctr">
              <a:lnSpc>
                <a:spcPct val="118000"/>
              </a:lnSpc>
            </a:pPr>
            <a:r>
              <a:rPr lang="ko-KR" sz="1200" b="1" dirty="0">
                <a:solidFill>
                  <a:srgbClr val="464D5C"/>
                </a:solidFill>
                <a:latin typeface="Pretendard"/>
                <a:ea typeface="Pretendard"/>
                <a:cs typeface="Pretendard"/>
              </a:rPr>
              <a:t>호</a:t>
            </a:r>
          </a:p>
        </p:txBody>
      </p:sp>
      <p:sp>
        <p:nvSpPr>
          <p:cNvPr id="17" name="lth1.95"/>
          <p:cNvSpPr txBox="1"/>
          <p:nvPr/>
        </p:nvSpPr>
        <p:spPr>
          <a:xfrm>
            <a:off x="1783080" y="2192021"/>
            <a:ext cx="5120640" cy="274320"/>
          </a:xfrm>
          <a:prstGeom prst="rect">
            <a:avLst/>
          </a:prstGeom>
          <a:noFill/>
        </p:spPr>
        <p:txBody>
          <a:bodyPr wrap="square" lIns="0" tIns="27432" rIns="0" bIns="27432" anchor="ctr">
            <a:noAutofit/>
          </a:bodyPr>
          <a:lstStyle/>
          <a:p>
            <a:pPr algn="l">
              <a:lnSpc>
                <a:spcPct val="118000"/>
              </a:lnSpc>
            </a:pPr>
            <a:r>
              <a:rPr lang="ko-KR" sz="1200" b="1" dirty="0">
                <a:solidFill>
                  <a:srgbClr val="464D5C"/>
                </a:solidFill>
                <a:latin typeface="Pretendard"/>
                <a:ea typeface="Pretendard"/>
                <a:cs typeface="Pretendard"/>
              </a:rPr>
              <a:t>처분</a:t>
            </a:r>
          </a:p>
        </p:txBody>
      </p:sp>
      <p:sp>
        <p:nvSpPr>
          <p:cNvPr id="18" name="lth7.65"/>
          <p:cNvSpPr txBox="1"/>
          <p:nvPr/>
        </p:nvSpPr>
        <p:spPr>
          <a:xfrm>
            <a:off x="6995160" y="2192021"/>
            <a:ext cx="2468880" cy="274320"/>
          </a:xfrm>
          <a:prstGeom prst="rect">
            <a:avLst/>
          </a:prstGeom>
          <a:noFill/>
        </p:spPr>
        <p:txBody>
          <a:bodyPr wrap="square" lIns="0" tIns="27432" rIns="0" bIns="27432" anchor="ctr">
            <a:noAutofit/>
          </a:bodyPr>
          <a:lstStyle/>
          <a:p>
            <a:pPr algn="ctr">
              <a:lnSpc>
                <a:spcPct val="118000"/>
              </a:lnSpc>
            </a:pPr>
            <a:r>
              <a:rPr lang="ko-KR" sz="1200" b="1" dirty="0">
                <a:solidFill>
                  <a:srgbClr val="464D5C"/>
                </a:solidFill>
                <a:latin typeface="Pretendard"/>
                <a:ea typeface="Pretendard"/>
                <a:cs typeface="Pretendard"/>
              </a:rPr>
              <a:t>기간</a:t>
            </a:r>
          </a:p>
        </p:txBody>
      </p:sp>
      <p:sp>
        <p:nvSpPr>
          <p:cNvPr id="19" name="lth10.45"/>
          <p:cNvSpPr txBox="1"/>
          <p:nvPr/>
        </p:nvSpPr>
        <p:spPr>
          <a:xfrm>
            <a:off x="9555480" y="2192021"/>
            <a:ext cx="1901952" cy="274320"/>
          </a:xfrm>
          <a:prstGeom prst="rect">
            <a:avLst/>
          </a:prstGeom>
          <a:noFill/>
        </p:spPr>
        <p:txBody>
          <a:bodyPr wrap="square" lIns="0" tIns="27432" rIns="0" bIns="27432" anchor="ctr">
            <a:noAutofit/>
          </a:bodyPr>
          <a:lstStyle/>
          <a:p>
            <a:pPr algn="ctr">
              <a:lnSpc>
                <a:spcPct val="118000"/>
              </a:lnSpc>
            </a:pPr>
            <a:r>
              <a:rPr lang="ko-KR" sz="1200" b="1" dirty="0">
                <a:solidFill>
                  <a:srgbClr val="464D5C"/>
                </a:solidFill>
                <a:latin typeface="Pretendard"/>
                <a:ea typeface="Pretendard"/>
                <a:cs typeface="Pretendard"/>
              </a:rPr>
              <a:t>연령 제한</a:t>
            </a:r>
          </a:p>
        </p:txBody>
      </p:sp>
      <p:sp>
        <p:nvSpPr>
          <p:cNvPr id="20" name="line20"/>
          <p:cNvSpPr/>
          <p:nvPr/>
        </p:nvSpPr>
        <p:spPr>
          <a:xfrm>
            <a:off x="672084" y="2623312"/>
            <a:ext cx="10725912" cy="0"/>
          </a:xfrm>
          <a:prstGeom prst="line">
            <a:avLst/>
          </a:prstGeom>
          <a:ln w="19050">
            <a:solidFill>
              <a:srgbClr val="1E2761"/>
            </a:solidFill>
          </a:ln>
        </p:spPr>
        <p:txBody>
          <a:bodyPr/>
          <a:lstStyle/>
          <a:p>
            <a:endParaRPr/>
          </a:p>
        </p:txBody>
      </p:sp>
      <p:sp>
        <p:nvSpPr>
          <p:cNvPr id="21" name="ltc00.8"/>
          <p:cNvSpPr txBox="1"/>
          <p:nvPr/>
        </p:nvSpPr>
        <p:spPr>
          <a:xfrm>
            <a:off x="737870" y="2808478"/>
            <a:ext cx="960120" cy="370332"/>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제6호</a:t>
            </a:r>
          </a:p>
        </p:txBody>
      </p:sp>
      <p:sp>
        <p:nvSpPr>
          <p:cNvPr id="22" name="ltc01.95"/>
          <p:cNvSpPr txBox="1"/>
          <p:nvPr/>
        </p:nvSpPr>
        <p:spPr>
          <a:xfrm>
            <a:off x="1789430" y="2808478"/>
            <a:ext cx="5120640" cy="370332"/>
          </a:xfrm>
          <a:prstGeom prst="rect">
            <a:avLst/>
          </a:prstGeom>
          <a:noFill/>
        </p:spPr>
        <p:txBody>
          <a:bodyPr wrap="square" lIns="0" tIns="27432" rIns="0" bIns="27432" anchor="ctr">
            <a:noAutofit/>
          </a:bodyPr>
          <a:lstStyle/>
          <a:p>
            <a:pPr algn="l">
              <a:lnSpc>
                <a:spcPct val="118000"/>
              </a:lnSpc>
            </a:pPr>
            <a:r>
              <a:rPr lang="ko-KR" sz="1250" b="1" dirty="0">
                <a:solidFill>
                  <a:srgbClr val="1E2761"/>
                </a:solidFill>
                <a:latin typeface="Pretendard"/>
                <a:ea typeface="Pretendard"/>
                <a:cs typeface="Pretendard"/>
              </a:rPr>
              <a:t>아동복지시설·소년보호시설 감호위탁</a:t>
            </a:r>
          </a:p>
        </p:txBody>
      </p:sp>
      <p:sp>
        <p:nvSpPr>
          <p:cNvPr id="23" name="ltc07.65"/>
          <p:cNvSpPr txBox="1"/>
          <p:nvPr/>
        </p:nvSpPr>
        <p:spPr>
          <a:xfrm>
            <a:off x="7001510" y="2808478"/>
            <a:ext cx="2468880"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6개월 · 1회 6개월 연장</a:t>
            </a:r>
          </a:p>
        </p:txBody>
      </p:sp>
      <p:sp>
        <p:nvSpPr>
          <p:cNvPr id="24" name="ltc010.45"/>
          <p:cNvSpPr txBox="1"/>
          <p:nvPr/>
        </p:nvSpPr>
        <p:spPr>
          <a:xfrm>
            <a:off x="9561830" y="2808478"/>
            <a:ext cx="1901952"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a:t>
            </a:r>
          </a:p>
        </p:txBody>
      </p:sp>
      <p:sp>
        <p:nvSpPr>
          <p:cNvPr id="25" name="line25"/>
          <p:cNvSpPr/>
          <p:nvPr/>
        </p:nvSpPr>
        <p:spPr>
          <a:xfrm>
            <a:off x="731520" y="3288030"/>
            <a:ext cx="10725912" cy="0"/>
          </a:xfrm>
          <a:prstGeom prst="line">
            <a:avLst/>
          </a:prstGeom>
          <a:ln w="9525">
            <a:solidFill>
              <a:srgbClr val="DCE0E8"/>
            </a:solidFill>
          </a:ln>
        </p:spPr>
        <p:txBody>
          <a:bodyPr/>
          <a:lstStyle/>
          <a:p>
            <a:endParaRPr/>
          </a:p>
        </p:txBody>
      </p:sp>
      <p:sp>
        <p:nvSpPr>
          <p:cNvPr id="26" name="ltc10.8"/>
          <p:cNvSpPr txBox="1"/>
          <p:nvPr/>
        </p:nvSpPr>
        <p:spPr>
          <a:xfrm>
            <a:off x="731520" y="3454400"/>
            <a:ext cx="960120" cy="370332"/>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제7호</a:t>
            </a:r>
          </a:p>
        </p:txBody>
      </p:sp>
      <p:sp>
        <p:nvSpPr>
          <p:cNvPr id="27" name="ltc11.95"/>
          <p:cNvSpPr txBox="1"/>
          <p:nvPr/>
        </p:nvSpPr>
        <p:spPr>
          <a:xfrm>
            <a:off x="1783080" y="3454400"/>
            <a:ext cx="5120640" cy="370332"/>
          </a:xfrm>
          <a:prstGeom prst="rect">
            <a:avLst/>
          </a:prstGeom>
          <a:noFill/>
        </p:spPr>
        <p:txBody>
          <a:bodyPr wrap="square" lIns="0" tIns="27432" rIns="0" bIns="27432" anchor="ctr">
            <a:noAutofit/>
          </a:bodyPr>
          <a:lstStyle/>
          <a:p>
            <a:pPr algn="l">
              <a:lnSpc>
                <a:spcPct val="118000"/>
              </a:lnSpc>
            </a:pPr>
            <a:r>
              <a:rPr lang="ko-KR" sz="1250" b="1" dirty="0">
                <a:solidFill>
                  <a:srgbClr val="1E2761"/>
                </a:solidFill>
                <a:latin typeface="Pretendard"/>
                <a:ea typeface="Pretendard"/>
                <a:cs typeface="Pretendard"/>
              </a:rPr>
              <a:t>병원·요양소·의료재활소년원 위탁</a:t>
            </a:r>
          </a:p>
        </p:txBody>
      </p:sp>
      <p:sp>
        <p:nvSpPr>
          <p:cNvPr id="28" name="ltc17.65"/>
          <p:cNvSpPr txBox="1"/>
          <p:nvPr/>
        </p:nvSpPr>
        <p:spPr>
          <a:xfrm>
            <a:off x="6995160" y="3454400"/>
            <a:ext cx="2468880"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6개월 · 1회 6개월 연장</a:t>
            </a:r>
          </a:p>
        </p:txBody>
      </p:sp>
      <p:sp>
        <p:nvSpPr>
          <p:cNvPr id="29" name="ltc110.45"/>
          <p:cNvSpPr txBox="1"/>
          <p:nvPr/>
        </p:nvSpPr>
        <p:spPr>
          <a:xfrm>
            <a:off x="9555480" y="3454400"/>
            <a:ext cx="1901952"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a:t>
            </a:r>
          </a:p>
        </p:txBody>
      </p:sp>
      <p:sp>
        <p:nvSpPr>
          <p:cNvPr id="30" name="line30"/>
          <p:cNvSpPr/>
          <p:nvPr/>
        </p:nvSpPr>
        <p:spPr>
          <a:xfrm>
            <a:off x="731520" y="3927602"/>
            <a:ext cx="10725912" cy="0"/>
          </a:xfrm>
          <a:prstGeom prst="line">
            <a:avLst/>
          </a:prstGeom>
          <a:ln w="9525">
            <a:solidFill>
              <a:srgbClr val="DCE0E8"/>
            </a:solidFill>
          </a:ln>
        </p:spPr>
        <p:txBody>
          <a:bodyPr/>
          <a:lstStyle/>
          <a:p>
            <a:endParaRPr/>
          </a:p>
        </p:txBody>
      </p:sp>
      <p:sp>
        <p:nvSpPr>
          <p:cNvPr id="31" name="ltc20.8"/>
          <p:cNvSpPr txBox="1"/>
          <p:nvPr/>
        </p:nvSpPr>
        <p:spPr>
          <a:xfrm>
            <a:off x="731520" y="4114546"/>
            <a:ext cx="960120" cy="370332"/>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제8호</a:t>
            </a:r>
          </a:p>
        </p:txBody>
      </p:sp>
      <p:sp>
        <p:nvSpPr>
          <p:cNvPr id="32" name="ltc21.95"/>
          <p:cNvSpPr txBox="1"/>
          <p:nvPr/>
        </p:nvSpPr>
        <p:spPr>
          <a:xfrm>
            <a:off x="1783080" y="4114546"/>
            <a:ext cx="5120640" cy="370332"/>
          </a:xfrm>
          <a:prstGeom prst="rect">
            <a:avLst/>
          </a:prstGeom>
          <a:noFill/>
        </p:spPr>
        <p:txBody>
          <a:bodyPr wrap="square" lIns="0" tIns="27432" rIns="0" bIns="27432" anchor="ctr">
            <a:noAutofit/>
          </a:bodyPr>
          <a:lstStyle/>
          <a:p>
            <a:pPr algn="l">
              <a:lnSpc>
                <a:spcPct val="118000"/>
              </a:lnSpc>
            </a:pPr>
            <a:r>
              <a:rPr lang="ko-KR" sz="1250" b="1" dirty="0">
                <a:solidFill>
                  <a:srgbClr val="1E2761"/>
                </a:solidFill>
                <a:latin typeface="Pretendard"/>
                <a:ea typeface="Pretendard"/>
                <a:cs typeface="Pretendard"/>
              </a:rPr>
              <a:t>1개월 이내의 소년원 송치</a:t>
            </a:r>
          </a:p>
        </p:txBody>
      </p:sp>
      <p:sp>
        <p:nvSpPr>
          <p:cNvPr id="33" name="ltc27.65"/>
          <p:cNvSpPr txBox="1"/>
          <p:nvPr/>
        </p:nvSpPr>
        <p:spPr>
          <a:xfrm>
            <a:off x="6995160" y="4125722"/>
            <a:ext cx="2468880"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1개월 이내</a:t>
            </a:r>
          </a:p>
        </p:txBody>
      </p:sp>
      <p:sp>
        <p:nvSpPr>
          <p:cNvPr id="34" name="ltc210.45"/>
          <p:cNvSpPr txBox="1"/>
          <p:nvPr/>
        </p:nvSpPr>
        <p:spPr>
          <a:xfrm>
            <a:off x="9555480" y="4125722"/>
            <a:ext cx="1901952"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a:t>
            </a:r>
          </a:p>
        </p:txBody>
      </p:sp>
      <p:sp>
        <p:nvSpPr>
          <p:cNvPr id="35" name="line35"/>
          <p:cNvSpPr/>
          <p:nvPr/>
        </p:nvSpPr>
        <p:spPr>
          <a:xfrm>
            <a:off x="731520" y="4751324"/>
            <a:ext cx="10725912" cy="0"/>
          </a:xfrm>
          <a:prstGeom prst="line">
            <a:avLst/>
          </a:prstGeom>
          <a:ln w="9525">
            <a:solidFill>
              <a:srgbClr val="DCE0E8"/>
            </a:solidFill>
          </a:ln>
        </p:spPr>
        <p:txBody>
          <a:bodyPr/>
          <a:lstStyle/>
          <a:p>
            <a:endParaRPr/>
          </a:p>
        </p:txBody>
      </p:sp>
      <p:sp>
        <p:nvSpPr>
          <p:cNvPr id="36" name="ltc30.8"/>
          <p:cNvSpPr txBox="1"/>
          <p:nvPr/>
        </p:nvSpPr>
        <p:spPr>
          <a:xfrm>
            <a:off x="731520" y="4879594"/>
            <a:ext cx="960120" cy="370332"/>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제9호</a:t>
            </a:r>
          </a:p>
        </p:txBody>
      </p:sp>
      <p:sp>
        <p:nvSpPr>
          <p:cNvPr id="37" name="ltc31.95"/>
          <p:cNvSpPr txBox="1"/>
          <p:nvPr/>
        </p:nvSpPr>
        <p:spPr>
          <a:xfrm>
            <a:off x="1783080" y="4879594"/>
            <a:ext cx="5120640" cy="370332"/>
          </a:xfrm>
          <a:prstGeom prst="rect">
            <a:avLst/>
          </a:prstGeom>
          <a:noFill/>
        </p:spPr>
        <p:txBody>
          <a:bodyPr wrap="square" lIns="0" tIns="27432" rIns="0" bIns="27432" anchor="ctr">
            <a:noAutofit/>
          </a:bodyPr>
          <a:lstStyle/>
          <a:p>
            <a:pPr algn="l">
              <a:lnSpc>
                <a:spcPct val="118000"/>
              </a:lnSpc>
            </a:pPr>
            <a:r>
              <a:rPr lang="ko-KR" sz="1250" b="1" dirty="0">
                <a:solidFill>
                  <a:srgbClr val="1E2761"/>
                </a:solidFill>
                <a:latin typeface="Pretendard"/>
                <a:ea typeface="Pretendard"/>
                <a:cs typeface="Pretendard"/>
              </a:rPr>
              <a:t>단기 소년원 송치</a:t>
            </a:r>
          </a:p>
        </p:txBody>
      </p:sp>
      <p:sp>
        <p:nvSpPr>
          <p:cNvPr id="38" name="ltc37.65"/>
          <p:cNvSpPr txBox="1"/>
          <p:nvPr/>
        </p:nvSpPr>
        <p:spPr>
          <a:xfrm>
            <a:off x="6995160" y="4879594"/>
            <a:ext cx="2468880"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6개월 이내</a:t>
            </a:r>
          </a:p>
        </p:txBody>
      </p:sp>
      <p:sp>
        <p:nvSpPr>
          <p:cNvPr id="39" name="ltc310.45"/>
          <p:cNvSpPr txBox="1"/>
          <p:nvPr/>
        </p:nvSpPr>
        <p:spPr>
          <a:xfrm>
            <a:off x="9555480" y="4879594"/>
            <a:ext cx="1901952"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a:t>
            </a:r>
          </a:p>
        </p:txBody>
      </p:sp>
      <p:sp>
        <p:nvSpPr>
          <p:cNvPr id="40" name="line40"/>
          <p:cNvSpPr/>
          <p:nvPr/>
        </p:nvSpPr>
        <p:spPr>
          <a:xfrm>
            <a:off x="731520" y="5428996"/>
            <a:ext cx="10725912" cy="0"/>
          </a:xfrm>
          <a:prstGeom prst="line">
            <a:avLst/>
          </a:prstGeom>
          <a:ln w="9525">
            <a:solidFill>
              <a:srgbClr val="DCE0E8"/>
            </a:solidFill>
          </a:ln>
        </p:spPr>
        <p:txBody>
          <a:bodyPr/>
          <a:lstStyle/>
          <a:p>
            <a:endParaRPr/>
          </a:p>
        </p:txBody>
      </p:sp>
      <p:sp>
        <p:nvSpPr>
          <p:cNvPr id="41" name="ltc40.8"/>
          <p:cNvSpPr txBox="1"/>
          <p:nvPr/>
        </p:nvSpPr>
        <p:spPr>
          <a:xfrm>
            <a:off x="731520" y="5627116"/>
            <a:ext cx="960120" cy="370332"/>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제10호</a:t>
            </a:r>
          </a:p>
        </p:txBody>
      </p:sp>
      <p:sp>
        <p:nvSpPr>
          <p:cNvPr id="42" name="ltc41.95"/>
          <p:cNvSpPr txBox="1"/>
          <p:nvPr/>
        </p:nvSpPr>
        <p:spPr>
          <a:xfrm>
            <a:off x="1783080" y="5627116"/>
            <a:ext cx="5120640" cy="370332"/>
          </a:xfrm>
          <a:prstGeom prst="rect">
            <a:avLst/>
          </a:prstGeom>
          <a:noFill/>
        </p:spPr>
        <p:txBody>
          <a:bodyPr wrap="square" lIns="0" tIns="27432" rIns="0" bIns="27432" anchor="ctr">
            <a:noAutofit/>
          </a:bodyPr>
          <a:lstStyle/>
          <a:p>
            <a:pPr algn="l">
              <a:lnSpc>
                <a:spcPct val="118000"/>
              </a:lnSpc>
            </a:pPr>
            <a:r>
              <a:rPr lang="ko-KR" sz="1250" b="1" dirty="0">
                <a:solidFill>
                  <a:srgbClr val="1E2761"/>
                </a:solidFill>
                <a:latin typeface="Pretendard"/>
                <a:ea typeface="Pretendard"/>
                <a:cs typeface="Pretendard"/>
              </a:rPr>
              <a:t>장기 소년원 송치</a:t>
            </a:r>
          </a:p>
        </p:txBody>
      </p:sp>
      <p:sp>
        <p:nvSpPr>
          <p:cNvPr id="43" name="ltc47.65"/>
          <p:cNvSpPr txBox="1"/>
          <p:nvPr/>
        </p:nvSpPr>
        <p:spPr>
          <a:xfrm>
            <a:off x="6995160" y="5627116"/>
            <a:ext cx="2468880" cy="370332"/>
          </a:xfrm>
          <a:prstGeom prst="rect">
            <a:avLst/>
          </a:prstGeom>
          <a:noFill/>
        </p:spPr>
        <p:txBody>
          <a:bodyPr wrap="square" lIns="0" tIns="27432" rIns="0" bIns="27432" anchor="ctr">
            <a:noAutofit/>
          </a:bodyPr>
          <a:lstStyle/>
          <a:p>
            <a:pPr algn="ctr">
              <a:lnSpc>
                <a:spcPct val="118000"/>
              </a:lnSpc>
            </a:pPr>
            <a:r>
              <a:rPr lang="ko-KR" sz="1250" b="0" dirty="0">
                <a:solidFill>
                  <a:srgbClr val="222633"/>
                </a:solidFill>
                <a:latin typeface="Pretendard"/>
                <a:ea typeface="Pretendard"/>
                <a:cs typeface="Pretendard"/>
              </a:rPr>
              <a:t>2년 이내</a:t>
            </a:r>
          </a:p>
        </p:txBody>
      </p:sp>
      <p:sp>
        <p:nvSpPr>
          <p:cNvPr id="44" name="ltc410.45"/>
          <p:cNvSpPr txBox="1"/>
          <p:nvPr/>
        </p:nvSpPr>
        <p:spPr>
          <a:xfrm>
            <a:off x="9555480" y="5627116"/>
            <a:ext cx="1901952" cy="370332"/>
          </a:xfrm>
          <a:prstGeom prst="rect">
            <a:avLst/>
          </a:prstGeom>
          <a:noFill/>
        </p:spPr>
        <p:txBody>
          <a:bodyPr wrap="square" lIns="0" tIns="27432" rIns="0" bIns="27432" anchor="ctr">
            <a:noAutofit/>
          </a:bodyPr>
          <a:lstStyle/>
          <a:p>
            <a:pPr algn="ctr">
              <a:lnSpc>
                <a:spcPct val="118000"/>
              </a:lnSpc>
            </a:pPr>
            <a:r>
              <a:rPr lang="ko-KR" sz="1250" b="1" dirty="0">
                <a:solidFill>
                  <a:srgbClr val="A8871C"/>
                </a:solidFill>
                <a:latin typeface="Pretendard"/>
                <a:ea typeface="Pretendard"/>
                <a:cs typeface="Pretendard"/>
              </a:rPr>
              <a:t>12세 이상</a:t>
            </a:r>
          </a:p>
        </p:txBody>
      </p:sp>
      <p:sp>
        <p:nvSpPr>
          <p:cNvPr id="45" name="line45"/>
          <p:cNvSpPr/>
          <p:nvPr/>
        </p:nvSpPr>
        <p:spPr>
          <a:xfrm>
            <a:off x="731520" y="6144768"/>
            <a:ext cx="10725912" cy="0"/>
          </a:xfrm>
          <a:prstGeom prst="line">
            <a:avLst/>
          </a:prstGeom>
          <a:ln w="19050">
            <a:solidFill>
              <a:srgbClr val="1E2761"/>
            </a:solidFill>
          </a:ln>
        </p:spPr>
        <p:txBody>
          <a:bodyPr/>
          <a:lstStyle/>
          <a:p>
            <a:endParaRPr/>
          </a:p>
        </p:txBody>
      </p:sp>
      <p:sp>
        <p:nvSpPr>
          <p:cNvPr id="46"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소년법 제32조 · 제33조</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처리결과에 따른 기록</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보호처분과 형 선고 — 장래 신상과 자격</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보호처분은 전과기록이 아니고, 소년 때 받은 형 선고에는 자격법령상 완화 규정이 적용될 수 있다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h0"/>
          <p:cNvSpPr txBox="1"/>
          <p:nvPr/>
        </p:nvSpPr>
        <p:spPr>
          <a:xfrm>
            <a:off x="731520" y="2598674"/>
            <a:ext cx="2240280" cy="576072"/>
          </a:xfrm>
          <a:prstGeom prst="rect">
            <a:avLst/>
          </a:prstGeom>
          <a:noFill/>
        </p:spPr>
        <p:txBody>
          <a:bodyPr wrap="square" lIns="0" tIns="27432" rIns="0" bIns="27432" anchor="ctr">
            <a:noAutofit/>
          </a:bodyPr>
          <a:lstStyle/>
          <a:p>
            <a:pPr algn="ctr">
              <a:lnSpc>
                <a:spcPct val="118000"/>
              </a:lnSpc>
            </a:pPr>
            <a:r>
              <a:rPr lang="ko-KR" sz="1400" b="1" dirty="0">
                <a:solidFill>
                  <a:srgbClr val="1E2761"/>
                </a:solidFill>
                <a:latin typeface="Pretendard"/>
                <a:ea typeface="Pretendard"/>
                <a:cs typeface="Pretendard"/>
              </a:rPr>
              <a:t>소년법 제32조 제6항</a:t>
            </a:r>
          </a:p>
        </p:txBody>
      </p:sp>
      <p:sp>
        <p:nvSpPr>
          <p:cNvPr id="17" name="b0"/>
          <p:cNvSpPr txBox="1"/>
          <p:nvPr/>
        </p:nvSpPr>
        <p:spPr>
          <a:xfrm>
            <a:off x="2971800" y="2598674"/>
            <a:ext cx="8485632" cy="576072"/>
          </a:xfrm>
          <a:prstGeom prst="rect">
            <a:avLst/>
          </a:prstGeom>
          <a:noFill/>
        </p:spPr>
        <p:txBody>
          <a:bodyPr wrap="square" lIns="0" tIns="27432" rIns="0" bIns="27432" anchor="ctr">
            <a:noAutofit/>
          </a:bodyPr>
          <a:lstStyle/>
          <a:p>
            <a:pPr algn="l">
              <a:lnSpc>
                <a:spcPct val="118000"/>
              </a:lnSpc>
              <a:spcAft>
                <a:spcPts val="500"/>
              </a:spcAft>
            </a:pPr>
            <a:r>
              <a:rPr sz="1400" b="1" dirty="0" err="1">
                <a:solidFill>
                  <a:srgbClr val="222633"/>
                </a:solidFill>
                <a:latin typeface="Pretendard"/>
              </a:rPr>
              <a:t>소년의</a:t>
            </a:r>
            <a:r>
              <a:rPr sz="1400" b="1" dirty="0">
                <a:solidFill>
                  <a:srgbClr val="222633"/>
                </a:solidFill>
                <a:latin typeface="Pretendard"/>
              </a:rPr>
              <a:t> </a:t>
            </a:r>
            <a:r>
              <a:rPr sz="1400" b="1" dirty="0" err="1">
                <a:solidFill>
                  <a:srgbClr val="222633"/>
                </a:solidFill>
                <a:latin typeface="Pretendard"/>
              </a:rPr>
              <a:t>보호처분은</a:t>
            </a:r>
            <a:r>
              <a:rPr sz="1400" b="1" dirty="0">
                <a:solidFill>
                  <a:srgbClr val="222633"/>
                </a:solidFill>
                <a:latin typeface="Pretendard"/>
              </a:rPr>
              <a:t> 그 </a:t>
            </a:r>
            <a:r>
              <a:rPr sz="1400" b="1" dirty="0" err="1">
                <a:solidFill>
                  <a:srgbClr val="222633"/>
                </a:solidFill>
                <a:latin typeface="Pretendard"/>
              </a:rPr>
              <a:t>소년의</a:t>
            </a:r>
            <a:r>
              <a:rPr sz="1400" b="1" dirty="0">
                <a:solidFill>
                  <a:srgbClr val="222633"/>
                </a:solidFill>
                <a:latin typeface="Pretendard"/>
              </a:rPr>
              <a:t> </a:t>
            </a:r>
            <a:r>
              <a:rPr sz="1400" b="1" dirty="0" err="1">
                <a:solidFill>
                  <a:srgbClr val="222633"/>
                </a:solidFill>
                <a:latin typeface="Pretendard"/>
              </a:rPr>
              <a:t>장래</a:t>
            </a:r>
            <a:r>
              <a:rPr sz="1400" b="1" dirty="0">
                <a:solidFill>
                  <a:srgbClr val="222633"/>
                </a:solidFill>
                <a:latin typeface="Pretendard"/>
              </a:rPr>
              <a:t> </a:t>
            </a:r>
            <a:r>
              <a:rPr sz="1400" b="1" dirty="0" err="1">
                <a:solidFill>
                  <a:srgbClr val="222633"/>
                </a:solidFill>
                <a:latin typeface="Pretendard"/>
              </a:rPr>
              <a:t>신상에</a:t>
            </a:r>
            <a:r>
              <a:rPr sz="1400" b="1" dirty="0">
                <a:solidFill>
                  <a:srgbClr val="222633"/>
                </a:solidFill>
                <a:latin typeface="Pretendard"/>
              </a:rPr>
              <a:t> </a:t>
            </a:r>
            <a:r>
              <a:rPr sz="1400" b="1" dirty="0" err="1">
                <a:solidFill>
                  <a:srgbClr val="222633"/>
                </a:solidFill>
                <a:latin typeface="Pretendard"/>
              </a:rPr>
              <a:t>어떠한</a:t>
            </a:r>
            <a:r>
              <a:rPr sz="1400" b="1" dirty="0">
                <a:solidFill>
                  <a:srgbClr val="222633"/>
                </a:solidFill>
                <a:latin typeface="Pretendard"/>
              </a:rPr>
              <a:t> </a:t>
            </a:r>
            <a:r>
              <a:rPr sz="1400" b="1" dirty="0" err="1">
                <a:solidFill>
                  <a:srgbClr val="222633"/>
                </a:solidFill>
                <a:latin typeface="Pretendard"/>
              </a:rPr>
              <a:t>영향도</a:t>
            </a:r>
            <a:r>
              <a:rPr sz="1400" b="1" dirty="0">
                <a:solidFill>
                  <a:srgbClr val="222633"/>
                </a:solidFill>
                <a:latin typeface="Pretendard"/>
              </a:rPr>
              <a:t> </a:t>
            </a:r>
            <a:r>
              <a:rPr sz="1400" b="1" dirty="0" err="1">
                <a:solidFill>
                  <a:srgbClr val="222633"/>
                </a:solidFill>
                <a:latin typeface="Pretendard"/>
              </a:rPr>
              <a:t>미치지</a:t>
            </a:r>
            <a:r>
              <a:rPr sz="1400" b="1" dirty="0">
                <a:solidFill>
                  <a:srgbClr val="222633"/>
                </a:solidFill>
                <a:latin typeface="Pretendard"/>
              </a:rPr>
              <a:t> </a:t>
            </a:r>
            <a:r>
              <a:rPr sz="1400" b="1" dirty="0" err="1">
                <a:solidFill>
                  <a:srgbClr val="222633"/>
                </a:solidFill>
                <a:latin typeface="Pretendard"/>
              </a:rPr>
              <a:t>아니한다</a:t>
            </a:r>
            <a:r>
              <a:rPr sz="1400" b="1" dirty="0">
                <a:solidFill>
                  <a:srgbClr val="222633"/>
                </a:solidFill>
                <a:latin typeface="Pretendard"/>
              </a:rPr>
              <a:t>.</a:t>
            </a:r>
          </a:p>
          <a:p>
            <a:pPr algn="l"/>
            <a:r>
              <a:rPr sz="1400" b="0" dirty="0" err="1">
                <a:solidFill>
                  <a:srgbClr val="464D5C"/>
                </a:solidFill>
                <a:latin typeface="Pretendard"/>
              </a:rPr>
              <a:t>보호처분은</a:t>
            </a:r>
            <a:r>
              <a:rPr sz="1400" b="0" dirty="0">
                <a:solidFill>
                  <a:srgbClr val="464D5C"/>
                </a:solidFill>
                <a:latin typeface="Pretendard"/>
              </a:rPr>
              <a:t> </a:t>
            </a:r>
            <a:r>
              <a:rPr sz="1400" b="0" dirty="0" err="1">
                <a:solidFill>
                  <a:srgbClr val="464D5C"/>
                </a:solidFill>
                <a:latin typeface="Pretendard"/>
              </a:rPr>
              <a:t>형사</a:t>
            </a:r>
            <a:r>
              <a:rPr sz="1400" b="0" dirty="0">
                <a:solidFill>
                  <a:srgbClr val="464D5C"/>
                </a:solidFill>
                <a:latin typeface="Pretendard"/>
              </a:rPr>
              <a:t> </a:t>
            </a:r>
            <a:r>
              <a:rPr sz="1400" b="0" dirty="0" err="1">
                <a:solidFill>
                  <a:srgbClr val="464D5C"/>
                </a:solidFill>
                <a:latin typeface="Pretendard"/>
              </a:rPr>
              <a:t>유죄판결에</a:t>
            </a:r>
            <a:r>
              <a:rPr sz="1400" b="0" dirty="0">
                <a:solidFill>
                  <a:srgbClr val="464D5C"/>
                </a:solidFill>
                <a:latin typeface="Pretendard"/>
              </a:rPr>
              <a:t> </a:t>
            </a:r>
            <a:r>
              <a:rPr sz="1400" b="0" dirty="0" err="1">
                <a:solidFill>
                  <a:srgbClr val="464D5C"/>
                </a:solidFill>
                <a:latin typeface="Pretendard"/>
              </a:rPr>
              <a:t>따른</a:t>
            </a:r>
            <a:r>
              <a:rPr sz="1400" b="0" dirty="0">
                <a:solidFill>
                  <a:srgbClr val="464D5C"/>
                </a:solidFill>
                <a:latin typeface="Pretendard"/>
              </a:rPr>
              <a:t> 형 </a:t>
            </a:r>
            <a:r>
              <a:rPr sz="1400" b="0" dirty="0" err="1">
                <a:solidFill>
                  <a:srgbClr val="464D5C"/>
                </a:solidFill>
                <a:latin typeface="Pretendard"/>
              </a:rPr>
              <a:t>선고가</a:t>
            </a:r>
            <a:r>
              <a:rPr sz="1400" b="0" dirty="0">
                <a:solidFill>
                  <a:srgbClr val="464D5C"/>
                </a:solidFill>
                <a:latin typeface="Pretendard"/>
              </a:rPr>
              <a:t> </a:t>
            </a:r>
            <a:r>
              <a:rPr sz="1400" b="0" dirty="0" err="1">
                <a:solidFill>
                  <a:srgbClr val="464D5C"/>
                </a:solidFill>
                <a:latin typeface="Pretendard"/>
              </a:rPr>
              <a:t>아니므로</a:t>
            </a:r>
            <a:r>
              <a:rPr sz="1400" b="0" dirty="0">
                <a:solidFill>
                  <a:srgbClr val="464D5C"/>
                </a:solidFill>
                <a:latin typeface="Pretendard"/>
              </a:rPr>
              <a:t> </a:t>
            </a:r>
            <a:r>
              <a:rPr sz="1400" b="0" dirty="0" err="1">
                <a:solidFill>
                  <a:srgbClr val="464D5C"/>
                </a:solidFill>
                <a:latin typeface="Pretendard"/>
              </a:rPr>
              <a:t>범죄경력자료인</a:t>
            </a:r>
            <a:r>
              <a:rPr sz="1400" b="0" dirty="0">
                <a:solidFill>
                  <a:srgbClr val="464D5C"/>
                </a:solidFill>
                <a:latin typeface="Pretendard"/>
              </a:rPr>
              <a:t> </a:t>
            </a:r>
            <a:r>
              <a:rPr sz="1400" b="0" dirty="0" err="1">
                <a:solidFill>
                  <a:srgbClr val="464D5C"/>
                </a:solidFill>
                <a:latin typeface="Pretendard"/>
              </a:rPr>
              <a:t>전과기록으로</a:t>
            </a:r>
            <a:r>
              <a:rPr sz="1400" b="0" dirty="0">
                <a:solidFill>
                  <a:srgbClr val="464D5C"/>
                </a:solidFill>
                <a:latin typeface="Pretendard"/>
              </a:rPr>
              <a:t> </a:t>
            </a:r>
            <a:r>
              <a:rPr sz="1400" b="0" dirty="0" err="1">
                <a:solidFill>
                  <a:srgbClr val="464D5C"/>
                </a:solidFill>
                <a:latin typeface="Pretendard"/>
              </a:rPr>
              <a:t>보지</a:t>
            </a:r>
            <a:r>
              <a:rPr sz="1400" b="0" dirty="0">
                <a:solidFill>
                  <a:srgbClr val="464D5C"/>
                </a:solidFill>
                <a:latin typeface="Pretendard"/>
              </a:rPr>
              <a:t> </a:t>
            </a:r>
            <a:r>
              <a:rPr sz="1400" b="0" dirty="0" err="1">
                <a:solidFill>
                  <a:srgbClr val="464D5C"/>
                </a:solidFill>
                <a:latin typeface="Pretendard"/>
              </a:rPr>
              <a:t>않는다</a:t>
            </a:r>
            <a:r>
              <a:rPr sz="1400" b="0" dirty="0">
                <a:solidFill>
                  <a:srgbClr val="464D5C"/>
                </a:solidFill>
                <a:latin typeface="Pretendard"/>
              </a:rPr>
              <a:t>. </a:t>
            </a:r>
            <a:endParaRPr lang="en-US" sz="1400" b="0" dirty="0">
              <a:solidFill>
                <a:srgbClr val="464D5C"/>
              </a:solidFill>
              <a:latin typeface="Pretendard"/>
            </a:endParaRPr>
          </a:p>
          <a:p>
            <a:pPr algn="l"/>
            <a:r>
              <a:rPr sz="1400" b="0" dirty="0" err="1">
                <a:solidFill>
                  <a:srgbClr val="464D5C"/>
                </a:solidFill>
                <a:latin typeface="Pretendard"/>
              </a:rPr>
              <a:t>다만</a:t>
            </a:r>
            <a:r>
              <a:rPr sz="1400" b="0" dirty="0">
                <a:solidFill>
                  <a:srgbClr val="464D5C"/>
                </a:solidFill>
                <a:latin typeface="Pretendard"/>
              </a:rPr>
              <a:t> </a:t>
            </a:r>
            <a:r>
              <a:rPr sz="1400" b="0" dirty="0" err="1">
                <a:solidFill>
                  <a:srgbClr val="464D5C"/>
                </a:solidFill>
                <a:latin typeface="Pretendard"/>
              </a:rPr>
              <a:t>보호사건</a:t>
            </a:r>
            <a:r>
              <a:rPr sz="1400" b="0" dirty="0">
                <a:solidFill>
                  <a:srgbClr val="464D5C"/>
                </a:solidFill>
                <a:latin typeface="Pretendard"/>
              </a:rPr>
              <a:t> </a:t>
            </a:r>
            <a:r>
              <a:rPr sz="1400" b="0" dirty="0" err="1">
                <a:solidFill>
                  <a:srgbClr val="464D5C"/>
                </a:solidFill>
                <a:latin typeface="Pretendard"/>
              </a:rPr>
              <a:t>기록은</a:t>
            </a:r>
            <a:r>
              <a:rPr sz="1400" b="0" dirty="0">
                <a:solidFill>
                  <a:srgbClr val="464D5C"/>
                </a:solidFill>
                <a:latin typeface="Pretendard"/>
              </a:rPr>
              <a:t> </a:t>
            </a:r>
            <a:r>
              <a:rPr sz="1400" b="0" dirty="0" err="1">
                <a:solidFill>
                  <a:srgbClr val="464D5C"/>
                </a:solidFill>
                <a:latin typeface="Pretendard"/>
              </a:rPr>
              <a:t>법원에</a:t>
            </a:r>
            <a:r>
              <a:rPr sz="1400" b="0" dirty="0">
                <a:solidFill>
                  <a:srgbClr val="464D5C"/>
                </a:solidFill>
                <a:latin typeface="Pretendard"/>
              </a:rPr>
              <a:t> </a:t>
            </a:r>
            <a:r>
              <a:rPr sz="1400" b="0" dirty="0" err="1">
                <a:solidFill>
                  <a:srgbClr val="464D5C"/>
                </a:solidFill>
                <a:latin typeface="Pretendard"/>
              </a:rPr>
              <a:t>작성된다</a:t>
            </a:r>
            <a:r>
              <a:rPr sz="1400" b="0" dirty="0">
                <a:solidFill>
                  <a:srgbClr val="464D5C"/>
                </a:solidFill>
                <a:latin typeface="Pretendard"/>
              </a:rPr>
              <a:t>.</a:t>
            </a:r>
          </a:p>
        </p:txBody>
      </p:sp>
      <p:sp>
        <p:nvSpPr>
          <p:cNvPr id="18" name="line18"/>
          <p:cNvSpPr/>
          <p:nvPr/>
        </p:nvSpPr>
        <p:spPr>
          <a:xfrm>
            <a:off x="731520" y="3631946"/>
            <a:ext cx="10725912" cy="0"/>
          </a:xfrm>
          <a:prstGeom prst="line">
            <a:avLst/>
          </a:prstGeom>
          <a:ln w="9525">
            <a:solidFill>
              <a:srgbClr val="DCE0E8"/>
            </a:solidFill>
          </a:ln>
        </p:spPr>
        <p:txBody>
          <a:bodyPr/>
          <a:lstStyle/>
          <a:p>
            <a:endParaRPr/>
          </a:p>
        </p:txBody>
      </p:sp>
      <p:sp>
        <p:nvSpPr>
          <p:cNvPr id="19" name="h1"/>
          <p:cNvSpPr txBox="1"/>
          <p:nvPr/>
        </p:nvSpPr>
        <p:spPr>
          <a:xfrm>
            <a:off x="731520" y="3974846"/>
            <a:ext cx="2240280" cy="594360"/>
          </a:xfrm>
          <a:prstGeom prst="rect">
            <a:avLst/>
          </a:prstGeom>
          <a:noFill/>
        </p:spPr>
        <p:txBody>
          <a:bodyPr wrap="square" lIns="0" tIns="27432" rIns="0" bIns="27432" anchor="ctr">
            <a:noAutofit/>
          </a:bodyPr>
          <a:lstStyle/>
          <a:p>
            <a:pPr algn="ctr">
              <a:lnSpc>
                <a:spcPct val="118000"/>
              </a:lnSpc>
            </a:pPr>
            <a:r>
              <a:rPr lang="ko-KR" sz="1400" b="1" dirty="0">
                <a:solidFill>
                  <a:srgbClr val="1E2761"/>
                </a:solidFill>
                <a:latin typeface="Pretendard"/>
                <a:ea typeface="Pretendard"/>
                <a:cs typeface="Pretendard"/>
              </a:rPr>
              <a:t>소년법 제67조</a:t>
            </a:r>
          </a:p>
        </p:txBody>
      </p:sp>
      <p:sp>
        <p:nvSpPr>
          <p:cNvPr id="20" name="b1"/>
          <p:cNvSpPr txBox="1"/>
          <p:nvPr/>
        </p:nvSpPr>
        <p:spPr>
          <a:xfrm>
            <a:off x="2971800" y="3681983"/>
            <a:ext cx="8482330" cy="1175257"/>
          </a:xfrm>
          <a:prstGeom prst="rect">
            <a:avLst/>
          </a:prstGeom>
          <a:noFill/>
        </p:spPr>
        <p:txBody>
          <a:bodyPr wrap="square" lIns="0" tIns="27432" rIns="0" bIns="27432" anchor="ctr">
            <a:noAutofit/>
          </a:bodyPr>
          <a:lstStyle/>
          <a:p>
            <a:pPr>
              <a:lnSpc>
                <a:spcPct val="125000"/>
              </a:lnSpc>
            </a:pPr>
            <a:r>
              <a:rPr sz="140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소년</a:t>
            </a:r>
            <a:r>
              <a:rPr sz="14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때 </a:t>
            </a:r>
            <a:r>
              <a:rPr sz="140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받은</a:t>
            </a:r>
            <a:r>
              <a:rPr sz="14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4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벌금 이상 형 선고 등은 범죄경력자료에 들어가 전과기록에 포함될 수 있다</a:t>
            </a:r>
            <a:r>
              <a:rPr sz="14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p>
          <a:p>
            <a:r>
              <a:rPr lang="ko-KR" altLang="en-US" sz="14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다만 </a:t>
            </a:r>
            <a:r>
              <a:rPr lang="ko-KR" altLang="en-US" sz="140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형을 선고받아 집행까지 마친 경우에도</a:t>
            </a:r>
            <a:r>
              <a:rPr lang="en-US" altLang="ko-KR" sz="140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40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소년 때 범한 죄라면 일정한 자격 제한을 적용할 때 그 형 선고의 불이익을 완화한다</a:t>
            </a:r>
            <a:r>
              <a:rPr lang="en-US" altLang="ko-KR" sz="140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sz="14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4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형 선고나 범죄경력 자체를 없애는 규정은 아니다</a:t>
            </a:r>
            <a:r>
              <a:rPr lang="en-US" altLang="ko-KR" sz="14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lang="en-US" sz="14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endParaRPr sz="1400" dirty="0">
              <a:solidFill>
                <a:srgbClr val="222633"/>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21" name="line21"/>
          <p:cNvSpPr/>
          <p:nvPr/>
        </p:nvSpPr>
        <p:spPr>
          <a:xfrm>
            <a:off x="731520" y="4893056"/>
            <a:ext cx="10725912" cy="0"/>
          </a:xfrm>
          <a:prstGeom prst="line">
            <a:avLst/>
          </a:prstGeom>
          <a:ln w="9525">
            <a:solidFill>
              <a:srgbClr val="DCE0E8"/>
            </a:solidFill>
          </a:ln>
        </p:spPr>
        <p:txBody>
          <a:bodyPr/>
          <a:lstStyle/>
          <a:p>
            <a:endParaRPr/>
          </a:p>
        </p:txBody>
      </p:sp>
      <p:sp>
        <p:nvSpPr>
          <p:cNvPr id="23" name="b2"/>
          <p:cNvSpPr txBox="1"/>
          <p:nvPr/>
        </p:nvSpPr>
        <p:spPr>
          <a:xfrm>
            <a:off x="731520" y="5226557"/>
            <a:ext cx="10725912" cy="594360"/>
          </a:xfrm>
          <a:prstGeom prst="rect">
            <a:avLst/>
          </a:prstGeom>
          <a:noFill/>
        </p:spPr>
        <p:txBody>
          <a:bodyPr wrap="square" lIns="0" tIns="27432" rIns="0" bIns="27432" anchor="ctr">
            <a:noAutofit/>
          </a:bodyPr>
          <a:lstStyle/>
          <a:p>
            <a:pPr algn="l">
              <a:lnSpc>
                <a:spcPct val="125000"/>
              </a:lnSpc>
            </a:pPr>
            <a:endParaRPr sz="1250" b="1" dirty="0">
              <a:latin typeface="Pretendard"/>
            </a:endParaRPr>
          </a:p>
        </p:txBody>
      </p:sp>
      <p:sp>
        <p:nvSpPr>
          <p:cNvPr id="24" name="line24"/>
          <p:cNvSpPr/>
          <p:nvPr/>
        </p:nvSpPr>
        <p:spPr>
          <a:xfrm>
            <a:off x="731520" y="5852668"/>
            <a:ext cx="10725912" cy="0"/>
          </a:xfrm>
          <a:prstGeom prst="line">
            <a:avLst/>
          </a:prstGeom>
          <a:ln w="19050">
            <a:solidFill>
              <a:srgbClr val="1E2761"/>
            </a:solidFill>
          </a:ln>
        </p:spPr>
        <p:txBody>
          <a:bodyPr/>
          <a:lstStyle/>
          <a:p>
            <a:endParaRPr/>
          </a:p>
        </p:txBody>
      </p:sp>
      <p:sp>
        <p:nvSpPr>
          <p:cNvPr id="7" name="line27">
            <a:extLst>
              <a:ext uri="{FF2B5EF4-FFF2-40B4-BE49-F238E27FC236}">
                <a16:creationId xmlns:a16="http://schemas.microsoft.com/office/drawing/2014/main" id="{D9C966D3-CA35-BA6B-9701-F01F62F344DF}"/>
              </a:ext>
            </a:extLst>
          </p:cNvPr>
          <p:cNvSpPr/>
          <p:nvPr/>
        </p:nvSpPr>
        <p:spPr>
          <a:xfrm>
            <a:off x="731520" y="6576568"/>
            <a:ext cx="10725912" cy="0"/>
          </a:xfrm>
          <a:prstGeom prst="line">
            <a:avLst/>
          </a:prstGeom>
          <a:ln w="19050">
            <a:solidFill>
              <a:srgbClr val="1E2761"/>
            </a:solidFill>
          </a:ln>
        </p:spPr>
        <p:txBody>
          <a:bodyPr/>
          <a:lstStyle/>
          <a:p>
            <a:endParaRPr/>
          </a:p>
        </p:txBody>
      </p:sp>
      <p:sp>
        <p:nvSpPr>
          <p:cNvPr id="26" name="bandbg">
            <a:extLst>
              <a:ext uri="{FF2B5EF4-FFF2-40B4-BE49-F238E27FC236}">
                <a16:creationId xmlns:a16="http://schemas.microsoft.com/office/drawing/2014/main" id="{11CAA76E-C5D3-781D-0C4F-20F3C9291FFE}"/>
              </a:ext>
            </a:extLst>
          </p:cNvPr>
          <p:cNvSpPr/>
          <p:nvPr/>
        </p:nvSpPr>
        <p:spPr>
          <a:xfrm>
            <a:off x="737870" y="5370576"/>
            <a:ext cx="10719562" cy="734568"/>
          </a:xfrm>
          <a:prstGeom prst="rect">
            <a:avLst/>
          </a:prstGeom>
          <a:solidFill>
            <a:srgbClr val="1E2761"/>
          </a:solidFill>
          <a:ln>
            <a:noFill/>
          </a:ln>
        </p:spPr>
        <p:txBody>
          <a:bodyPr/>
          <a:lstStyle/>
          <a:p>
            <a:endParaRPr/>
          </a:p>
        </p:txBody>
      </p:sp>
      <p:sp>
        <p:nvSpPr>
          <p:cNvPr id="28" name="band">
            <a:extLst>
              <a:ext uri="{FF2B5EF4-FFF2-40B4-BE49-F238E27FC236}">
                <a16:creationId xmlns:a16="http://schemas.microsoft.com/office/drawing/2014/main" id="{31FEE24C-EB03-3246-8C33-DDAB93AF7494}"/>
              </a:ext>
            </a:extLst>
          </p:cNvPr>
          <p:cNvSpPr txBox="1"/>
          <p:nvPr/>
        </p:nvSpPr>
        <p:spPr>
          <a:xfrm>
            <a:off x="737870" y="5398008"/>
            <a:ext cx="10716260" cy="671322"/>
          </a:xfrm>
          <a:prstGeom prst="rect">
            <a:avLst/>
          </a:prstGeom>
          <a:noFill/>
        </p:spPr>
        <p:txBody>
          <a:bodyPr wrap="square" lIns="0" tIns="27432" rIns="0" bIns="27432" anchor="ctr">
            <a:noAutofit/>
          </a:bodyPr>
          <a:lstStyle/>
          <a:p>
            <a:pPr algn="ctr">
              <a:lnSpc>
                <a:spcPct val="125000"/>
              </a:lnSpc>
            </a:pPr>
            <a:r>
              <a:rPr lang="ko-KR" altLang="en-US" sz="160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형 선고 기록의 존재와 자격법령상 불이익의 완화는 서로 다른 문제다.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형사책임연령과 현행 대응</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소년사법 통계의 집계</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a:lnSpc>
                <a:spcPct val="118000"/>
              </a:lnSpc>
            </a:pPr>
            <a:r>
              <a:rPr lang="ko-KR" altLang="en-US" sz="2750" b="1" dirty="0" err="1">
                <a:solidFill>
                  <a:srgbClr val="1E2761"/>
                </a:solidFill>
                <a:latin typeface="Pretendard"/>
                <a:ea typeface="Pretendard"/>
                <a:cs typeface="Pretendard"/>
              </a:rPr>
              <a:t>촉법소년과</a:t>
            </a:r>
            <a:r>
              <a:rPr lang="ko-KR" altLang="en-US" sz="2750" b="1" dirty="0">
                <a:solidFill>
                  <a:srgbClr val="1E2761"/>
                </a:solidFill>
                <a:latin typeface="Pretendard"/>
                <a:ea typeface="Pretendard"/>
                <a:cs typeface="Pretendard"/>
              </a:rPr>
              <a:t> 범죄소년의 기록은 어떻게 </a:t>
            </a:r>
            <a:r>
              <a:rPr lang="ko-KR" altLang="en-US" sz="2750" b="1" dirty="0" err="1">
                <a:solidFill>
                  <a:srgbClr val="1E2761"/>
                </a:solidFill>
                <a:latin typeface="Pretendard"/>
                <a:ea typeface="Pretendard"/>
                <a:cs typeface="Pretendard"/>
              </a:rPr>
              <a:t>다른가</a:t>
            </a:r>
            <a:endParaRPr lang="ko-KR" altLang="ko-KR" sz="2750" b="1" dirty="0">
              <a:solidFill>
                <a:srgbClr val="1E2761"/>
              </a:solidFill>
              <a:latin typeface="Pretendard"/>
              <a:ea typeface="Pretendard"/>
              <a:cs typeface="Pretendard"/>
            </a:endParaRP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err="1">
                <a:solidFill>
                  <a:srgbClr val="1E2761"/>
                </a:solidFill>
                <a:latin typeface="Pretendard" pitchFamily="34" charset="0"/>
                <a:ea typeface="Pretendard" pitchFamily="34" charset="-122"/>
                <a:cs typeface="Pretendard" pitchFamily="34" charset="-120"/>
              </a:rPr>
              <a:t>촉법소년의</a:t>
            </a:r>
            <a:r>
              <a:rPr lang="ko-KR" altLang="en-US" sz="1300" b="1" dirty="0">
                <a:solidFill>
                  <a:srgbClr val="1E2761"/>
                </a:solidFill>
                <a:latin typeface="Pretendard" pitchFamily="34" charset="0"/>
                <a:ea typeface="Pretendard" pitchFamily="34" charset="-122"/>
                <a:cs typeface="Pretendard" pitchFamily="34" charset="-120"/>
              </a:rPr>
              <a:t> 보호사건 기록과 형사사건의 </a:t>
            </a:r>
            <a:r>
              <a:rPr lang="ko-KR" altLang="en-US" sz="1300" b="1" dirty="0" err="1">
                <a:solidFill>
                  <a:srgbClr val="1E2761"/>
                </a:solidFill>
                <a:latin typeface="Pretendard" pitchFamily="34" charset="0"/>
                <a:ea typeface="Pretendard" pitchFamily="34" charset="-122"/>
                <a:cs typeface="Pretendard" pitchFamily="34" charset="-120"/>
              </a:rPr>
              <a:t>수사·범죄경력자료는</a:t>
            </a:r>
            <a:r>
              <a:rPr lang="ko-KR" altLang="en-US" sz="1300" b="1" dirty="0">
                <a:solidFill>
                  <a:srgbClr val="1E2761"/>
                </a:solidFill>
                <a:latin typeface="Pretendard" pitchFamily="34" charset="0"/>
                <a:ea typeface="Pretendard" pitchFamily="34" charset="-122"/>
                <a:cs typeface="Pretendard" pitchFamily="34" charset="-120"/>
              </a:rPr>
              <a:t> 구분된다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ODY8"/>
          <p:cNvSpPr/>
          <p:nvPr/>
        </p:nvSpPr>
        <p:spPr>
          <a:xfrm>
            <a:off x="3154680" y="2295119"/>
            <a:ext cx="8302752" cy="740004"/>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소년보호사건에는 수사자료표를 작성하지 않는다</a:t>
            </a:r>
          </a:p>
          <a:p>
            <a:pPr>
              <a:lnSpc>
                <a:spcPct val="118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경찰의 사건처리 기록과 법원의 소년보호사건 기록은 별도로 존재하지만</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해당 </a:t>
            </a:r>
            <a:r>
              <a:rPr lang="ko-KR" altLang="en-US" sz="1150" dirty="0" err="1">
                <a:solidFill>
                  <a:srgbClr val="464D5C"/>
                </a:solidFill>
                <a:latin typeface="Pretendard" pitchFamily="34" charset="0"/>
                <a:ea typeface="Pretendard" pitchFamily="34" charset="-122"/>
                <a:cs typeface="Pretendard" pitchFamily="34" charset="-120"/>
              </a:rPr>
              <a:t>촉법사건이</a:t>
            </a:r>
            <a:r>
              <a:rPr lang="ko-KR" altLang="en-US" sz="1150" dirty="0">
                <a:solidFill>
                  <a:srgbClr val="464D5C"/>
                </a:solidFill>
                <a:latin typeface="Pretendard" pitchFamily="34" charset="0"/>
                <a:ea typeface="Pretendard" pitchFamily="34" charset="-122"/>
                <a:cs typeface="Pretendard" pitchFamily="34" charset="-120"/>
              </a:rPr>
              <a:t> 형사사건의 수사경력자료로 관리되는 것은 아니다</a:t>
            </a:r>
            <a:r>
              <a:rPr lang="en-US" altLang="ko-KR" sz="1150" dirty="0">
                <a:solidFill>
                  <a:srgbClr val="464D5C"/>
                </a:solidFill>
                <a:latin typeface="Pretendard" pitchFamily="34" charset="0"/>
                <a:ea typeface="Pretendard" pitchFamily="34" charset="-122"/>
                <a:cs typeface="Pretendard" pitchFamily="34" charset="-120"/>
              </a:rPr>
              <a:t>.</a:t>
            </a:r>
          </a:p>
          <a:p>
            <a:pPr>
              <a:lnSpc>
                <a:spcPct val="118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법원 보호사건 기록은 별도로 존재한다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9" name="HEAD9"/>
          <p:cNvSpPr/>
          <p:nvPr/>
        </p:nvSpPr>
        <p:spPr>
          <a:xfrm>
            <a:off x="731520" y="2034540"/>
            <a:ext cx="2240280" cy="1279449"/>
          </a:xfrm>
          <a:prstGeom prst="rect">
            <a:avLst/>
          </a:prstGeom>
          <a:noFill/>
          <a:ln/>
        </p:spPr>
        <p:txBody>
          <a:bodyPr wrap="square" lIns="0" tIns="0" rIns="0" bIns="0" rtlCol="0" anchor="ctr"/>
          <a:lstStyle/>
          <a:p>
            <a:pPr marL="0" indent="0" algn="ctr">
              <a:lnSpc>
                <a:spcPct val="118000"/>
              </a:lnSpc>
              <a:buNone/>
            </a:pPr>
            <a:r>
              <a:rPr lang="ko-KR" altLang="en-US" sz="1300" b="1" dirty="0" err="1">
                <a:solidFill>
                  <a:srgbClr val="1E2761"/>
                </a:solidFill>
                <a:latin typeface="Pretendard" pitchFamily="34" charset="0"/>
                <a:ea typeface="Pretendard" pitchFamily="34" charset="-122"/>
                <a:cs typeface="Pretendard" pitchFamily="34" charset="-120"/>
              </a:rPr>
              <a:t>촉법소년</a:t>
            </a:r>
            <a:endParaRPr lang="ko-KR" altLang="en-US" sz="1300" b="1" dirty="0">
              <a:solidFill>
                <a:srgbClr val="1E2761"/>
              </a:solidFill>
              <a:latin typeface="Pretendard" pitchFamily="34" charset="0"/>
              <a:ea typeface="Pretendard" pitchFamily="34" charset="-122"/>
              <a:cs typeface="Pretendard" pitchFamily="34" charset="-120"/>
            </a:endParaRPr>
          </a:p>
        </p:txBody>
      </p:sp>
      <p:sp>
        <p:nvSpPr>
          <p:cNvPr id="10" name="RULE10"/>
          <p:cNvSpPr/>
          <p:nvPr/>
        </p:nvSpPr>
        <p:spPr>
          <a:xfrm>
            <a:off x="731520" y="3336849"/>
            <a:ext cx="10725912" cy="0"/>
          </a:xfrm>
          <a:prstGeom prst="line">
            <a:avLst/>
          </a:prstGeom>
          <a:ln w="9525">
            <a:solidFill>
              <a:srgbClr val="DCE0E8"/>
            </a:solidFill>
          </a:ln>
        </p:spPr>
        <p:txBody>
          <a:bodyPr/>
          <a:lstStyle/>
          <a:p>
            <a:endParaRPr lang="ko-KR"/>
          </a:p>
        </p:txBody>
      </p:sp>
      <p:sp>
        <p:nvSpPr>
          <p:cNvPr id="11" name="BODY11"/>
          <p:cNvSpPr/>
          <p:nvPr/>
        </p:nvSpPr>
        <p:spPr>
          <a:xfrm>
            <a:off x="3154680" y="3574567"/>
            <a:ext cx="8302752" cy="482397"/>
          </a:xfrm>
          <a:prstGeom prst="rect">
            <a:avLst/>
          </a:prstGeom>
          <a:noFill/>
          <a:ln/>
        </p:spPr>
        <p:txBody>
          <a:bodyPr wrap="square" lIns="0" tIns="0" rIns="0" bIns="0" rtlCol="0" anchor="t"/>
          <a:lstStyle/>
          <a:p>
            <a:pPr>
              <a:lnSpc>
                <a:spcPct val="118000"/>
              </a:lnSpc>
              <a:spcAft>
                <a:spcPts val="400"/>
              </a:spcAft>
            </a:pPr>
            <a:r>
              <a:rPr lang="ko-KR" altLang="en-US" sz="1250" b="1" dirty="0">
                <a:solidFill>
                  <a:srgbClr val="222633"/>
                </a:solidFill>
                <a:latin typeface="Pretendard" pitchFamily="34" charset="0"/>
                <a:ea typeface="Pretendard" pitchFamily="34" charset="-122"/>
                <a:cs typeface="Pretendard" pitchFamily="34" charset="-120"/>
              </a:rPr>
              <a:t>형사사건으로 입건되면 수사자료표가 작성될 수 있고</a:t>
            </a:r>
            <a:r>
              <a:rPr lang="en-US" altLang="ko-KR" sz="1250" b="1" dirty="0">
                <a:solidFill>
                  <a:srgbClr val="222633"/>
                </a:solidFill>
                <a:latin typeface="Pretendard" pitchFamily="34" charset="0"/>
                <a:ea typeface="Pretendard" pitchFamily="34" charset="-122"/>
                <a:cs typeface="Pretendard" pitchFamily="34" charset="-120"/>
              </a:rPr>
              <a:t>, </a:t>
            </a:r>
            <a:r>
              <a:rPr lang="ko-KR" altLang="en-US" sz="1250" b="1" dirty="0">
                <a:solidFill>
                  <a:srgbClr val="222633"/>
                </a:solidFill>
                <a:latin typeface="Pretendard" pitchFamily="34" charset="0"/>
                <a:ea typeface="Pretendard" pitchFamily="34" charset="-122"/>
                <a:cs typeface="Pretendard" pitchFamily="34" charset="-120"/>
              </a:rPr>
              <a:t>처리결과에 따라 수사경력자료가 관리된다</a:t>
            </a:r>
            <a:r>
              <a:rPr lang="en-US" altLang="ko-KR" sz="1250" b="1" dirty="0">
                <a:solidFill>
                  <a:srgbClr val="222633"/>
                </a:solidFill>
                <a:latin typeface="Pretendard" pitchFamily="34" charset="0"/>
                <a:ea typeface="Pretendard" pitchFamily="34" charset="-122"/>
                <a:cs typeface="Pretendard" pitchFamily="34" charset="-120"/>
              </a:rPr>
              <a:t>.</a:t>
            </a:r>
          </a:p>
          <a:p>
            <a:pPr>
              <a:lnSpc>
                <a:spcPct val="118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검사의 불기소</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소년부 송치</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기소 등 어떤 경로로 처리됐는지에 따라 이후 기록의 성격과 정리기준이 달라진다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12" name="HEAD12"/>
          <p:cNvSpPr/>
          <p:nvPr/>
        </p:nvSpPr>
        <p:spPr>
          <a:xfrm>
            <a:off x="731520" y="3313989"/>
            <a:ext cx="2240280" cy="1021842"/>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범죄소년</a:t>
            </a:r>
          </a:p>
        </p:txBody>
      </p:sp>
      <p:sp>
        <p:nvSpPr>
          <p:cNvPr id="13" name="RULE13"/>
          <p:cNvSpPr/>
          <p:nvPr/>
        </p:nvSpPr>
        <p:spPr>
          <a:xfrm>
            <a:off x="731520" y="4358691"/>
            <a:ext cx="10725912" cy="0"/>
          </a:xfrm>
          <a:prstGeom prst="line">
            <a:avLst/>
          </a:prstGeom>
          <a:ln w="9525">
            <a:solidFill>
              <a:srgbClr val="DCE0E8"/>
            </a:solidFill>
          </a:ln>
        </p:spPr>
        <p:txBody>
          <a:bodyPr/>
          <a:lstStyle/>
          <a:p>
            <a:endParaRPr lang="ko-KR"/>
          </a:p>
        </p:txBody>
      </p:sp>
      <p:sp>
        <p:nvSpPr>
          <p:cNvPr id="14" name="BODY14"/>
          <p:cNvSpPr/>
          <p:nvPr/>
        </p:nvSpPr>
        <p:spPr>
          <a:xfrm>
            <a:off x="3154680" y="4596409"/>
            <a:ext cx="8302752" cy="482397"/>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벌금 이상 형 선고 내용은 범죄경력자료로 관리된다</a:t>
            </a:r>
          </a:p>
          <a:p>
            <a:pPr>
              <a:lnSpc>
                <a:spcPct val="118000"/>
              </a:lnSpc>
            </a:pPr>
            <a:r>
              <a:rPr lang="ko-KR" altLang="en-US" sz="1150" dirty="0">
                <a:solidFill>
                  <a:srgbClr val="464D5C"/>
                </a:solidFill>
                <a:latin typeface="Pretendard" pitchFamily="34" charset="0"/>
                <a:ea typeface="Pretendard" pitchFamily="34" charset="-122"/>
                <a:cs typeface="Pretendard" pitchFamily="34" charset="-120"/>
              </a:rPr>
              <a:t>다만 소년 때 범한 죄의 형 선고에는 소년법 제</a:t>
            </a:r>
            <a:r>
              <a:rPr lang="en-US" altLang="ko-KR" sz="1150" dirty="0">
                <a:solidFill>
                  <a:srgbClr val="464D5C"/>
                </a:solidFill>
                <a:latin typeface="Pretendard" pitchFamily="34" charset="0"/>
                <a:ea typeface="Pretendard" pitchFamily="34" charset="-122"/>
                <a:cs typeface="Pretendard" pitchFamily="34" charset="-120"/>
              </a:rPr>
              <a:t>67</a:t>
            </a:r>
            <a:r>
              <a:rPr lang="ko-KR" altLang="en-US" sz="1150" dirty="0">
                <a:solidFill>
                  <a:srgbClr val="464D5C"/>
                </a:solidFill>
                <a:latin typeface="Pretendard" pitchFamily="34" charset="0"/>
                <a:ea typeface="Pretendard" pitchFamily="34" charset="-122"/>
                <a:cs typeface="Pretendard" pitchFamily="34" charset="-120"/>
              </a:rPr>
              <a:t>조의 자격법령상 특례가 적용될 수 있다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15" name="HEAD15"/>
          <p:cNvSpPr/>
          <p:nvPr/>
        </p:nvSpPr>
        <p:spPr>
          <a:xfrm>
            <a:off x="731520" y="4335831"/>
            <a:ext cx="2240280" cy="1021842"/>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형 선고</a:t>
            </a:r>
          </a:p>
        </p:txBody>
      </p:sp>
      <p:sp>
        <p:nvSpPr>
          <p:cNvPr id="16" name="RULE16"/>
          <p:cNvSpPr/>
          <p:nvPr/>
        </p:nvSpPr>
        <p:spPr>
          <a:xfrm>
            <a:off x="731520" y="5380533"/>
            <a:ext cx="10725912" cy="0"/>
          </a:xfrm>
          <a:prstGeom prst="line">
            <a:avLst/>
          </a:prstGeom>
          <a:ln w="9525">
            <a:solidFill>
              <a:srgbClr val="DCE0E8"/>
            </a:solidFill>
          </a:ln>
        </p:spPr>
        <p:txBody>
          <a:bodyPr/>
          <a:lstStyle/>
          <a:p>
            <a:endParaRPr lang="ko-KR"/>
          </a:p>
        </p:txBody>
      </p:sp>
      <p:sp>
        <p:nvSpPr>
          <p:cNvPr id="19"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경찰 민원안내 · 형의 실효 등에 관한 법률 제2조·제8조의2 · 소년법 제67조·제70조</a:t>
            </a:r>
          </a:p>
        </p:txBody>
      </p:sp>
      <p:sp>
        <p:nvSpPr>
          <p:cNvPr id="21" name="b2">
            <a:extLst>
              <a:ext uri="{FF2B5EF4-FFF2-40B4-BE49-F238E27FC236}">
                <a16:creationId xmlns:a16="http://schemas.microsoft.com/office/drawing/2014/main" id="{526ADBCA-27FF-157C-B826-1E9E8A848909}"/>
              </a:ext>
            </a:extLst>
          </p:cNvPr>
          <p:cNvSpPr txBox="1"/>
          <p:nvPr/>
        </p:nvSpPr>
        <p:spPr>
          <a:xfrm>
            <a:off x="731520" y="5226557"/>
            <a:ext cx="10725912" cy="594360"/>
          </a:xfrm>
          <a:prstGeom prst="rect">
            <a:avLst/>
          </a:prstGeom>
          <a:noFill/>
        </p:spPr>
        <p:txBody>
          <a:bodyPr wrap="square" lIns="0" tIns="27432" rIns="0" bIns="27432" anchor="ctr">
            <a:noAutofit/>
          </a:bodyPr>
          <a:lstStyle/>
          <a:p>
            <a:pPr algn="l">
              <a:lnSpc>
                <a:spcPct val="125000"/>
              </a:lnSpc>
            </a:pPr>
            <a:endParaRPr sz="1250" b="1" dirty="0">
              <a:latin typeface="Pretendard"/>
            </a:endParaRPr>
          </a:p>
        </p:txBody>
      </p:sp>
      <p:sp>
        <p:nvSpPr>
          <p:cNvPr id="23" name="line24">
            <a:extLst>
              <a:ext uri="{FF2B5EF4-FFF2-40B4-BE49-F238E27FC236}">
                <a16:creationId xmlns:a16="http://schemas.microsoft.com/office/drawing/2014/main" id="{D7F08AEF-F205-5C15-4AE6-5E2AE3F749E8}"/>
              </a:ext>
            </a:extLst>
          </p:cNvPr>
          <p:cNvSpPr/>
          <p:nvPr/>
        </p:nvSpPr>
        <p:spPr>
          <a:xfrm>
            <a:off x="731520" y="5852668"/>
            <a:ext cx="10725912" cy="0"/>
          </a:xfrm>
          <a:prstGeom prst="line">
            <a:avLst/>
          </a:prstGeom>
          <a:ln w="19050">
            <a:solidFill>
              <a:srgbClr val="1E2761"/>
            </a:solidFill>
          </a:ln>
        </p:spPr>
        <p:txBody>
          <a:bodyPr/>
          <a:lstStyle/>
          <a:p>
            <a:endParaRPr/>
          </a:p>
        </p:txBody>
      </p:sp>
      <p:sp>
        <p:nvSpPr>
          <p:cNvPr id="25" name="bandbg">
            <a:extLst>
              <a:ext uri="{FF2B5EF4-FFF2-40B4-BE49-F238E27FC236}">
                <a16:creationId xmlns:a16="http://schemas.microsoft.com/office/drawing/2014/main" id="{9EFA20C0-5CC3-09A8-6B26-C33EA62CAF71}"/>
              </a:ext>
            </a:extLst>
          </p:cNvPr>
          <p:cNvSpPr/>
          <p:nvPr/>
        </p:nvSpPr>
        <p:spPr>
          <a:xfrm>
            <a:off x="737870" y="5370576"/>
            <a:ext cx="10719562" cy="734568"/>
          </a:xfrm>
          <a:prstGeom prst="rect">
            <a:avLst/>
          </a:prstGeom>
          <a:solidFill>
            <a:srgbClr val="1E2761"/>
          </a:solidFill>
          <a:ln>
            <a:noFill/>
          </a:ln>
        </p:spPr>
        <p:txBody>
          <a:bodyPr/>
          <a:lstStyle/>
          <a:p>
            <a:endParaRPr/>
          </a:p>
        </p:txBody>
      </p:sp>
      <p:sp>
        <p:nvSpPr>
          <p:cNvPr id="27" name="band">
            <a:extLst>
              <a:ext uri="{FF2B5EF4-FFF2-40B4-BE49-F238E27FC236}">
                <a16:creationId xmlns:a16="http://schemas.microsoft.com/office/drawing/2014/main" id="{6502C004-DC79-65CF-78FB-421839A1CF30}"/>
              </a:ext>
            </a:extLst>
          </p:cNvPr>
          <p:cNvSpPr txBox="1"/>
          <p:nvPr/>
        </p:nvSpPr>
        <p:spPr>
          <a:xfrm>
            <a:off x="737870" y="5398008"/>
            <a:ext cx="10716260" cy="671322"/>
          </a:xfrm>
          <a:prstGeom prst="rect">
            <a:avLst/>
          </a:prstGeom>
          <a:noFill/>
        </p:spPr>
        <p:txBody>
          <a:bodyPr wrap="square" lIns="0" tIns="27432" rIns="0" bIns="27432" anchor="ctr">
            <a:noAutofit/>
          </a:bodyPr>
          <a:lstStyle/>
          <a:p>
            <a:pPr algn="ctr">
              <a:lnSpc>
                <a:spcPct val="125000"/>
              </a:lnSpc>
            </a:pPr>
            <a:r>
              <a:rPr lang="en-US" altLang="ko-KR" sz="160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13</a:t>
            </a:r>
            <a:r>
              <a:rPr lang="ko-KR" altLang="en-US" sz="160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세를 범죄소년으로 바꾸는 것은 처벌 가능성만이 아니라</a:t>
            </a:r>
            <a:r>
              <a:rPr lang="en-US" altLang="ko-KR" sz="160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60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형사사건으로 처리되면서 생길 수 있는 기록의 종류도 바꾸는 문제다</a:t>
            </a:r>
            <a:r>
              <a:rPr lang="en-US" altLang="ko-KR" sz="160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a:t>
            </a:r>
            <a:endParaRPr lang="ko-KR" altLang="en-US" sz="1600" b="1" dirty="0">
              <a:solidFill>
                <a:schemeClr val="bg1"/>
              </a:solidFill>
              <a:latin typeface="Pretendard" panose="02000503000000020004" pitchFamily="2" charset="-127"/>
              <a:ea typeface="Pretendard" panose="02000503000000020004" pitchFamily="2" charset="-127"/>
              <a:cs typeface="Pretendard" panose="02000503000000020004" pitchFamily="2" charset="-127"/>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소년사법 통계의 집계</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nSpc>
                <a:spcPct val="118000"/>
              </a:lnSpc>
            </a:pPr>
            <a:r>
              <a:rPr lang="ko-KR" altLang="en-US" sz="2750" b="1" dirty="0">
                <a:solidFill>
                  <a:srgbClr val="1E2761"/>
                </a:solidFill>
                <a:latin typeface="Pretendard"/>
                <a:ea typeface="Pretendard"/>
                <a:cs typeface="Pretendard"/>
              </a:rPr>
              <a:t>범죄소년 사건은 처리결과에 따라 기록이 어떻게 달라지는가</a:t>
            </a:r>
            <a:endParaRPr lang="ko-KR" sz="2750" b="1" dirty="0">
              <a:solidFill>
                <a:srgbClr val="1E2761"/>
              </a:solidFill>
              <a:latin typeface="Pretendard"/>
              <a:ea typeface="Pretendard"/>
              <a:cs typeface="Pretendard"/>
            </a:endParaRP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nSpc>
                <a:spcPct val="118000"/>
              </a:lnSpc>
            </a:pP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형사사건으로 입건되어 수사자료표가 작성된 소년은 처리결과에 따라 수사경력자료의 정리</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회보 기준이 달라지고</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형이 선고되면 범죄경력자료가 생긴다</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a:t>
            </a:r>
            <a:endParaRP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h0"/>
          <p:cNvSpPr txBox="1"/>
          <p:nvPr/>
        </p:nvSpPr>
        <p:spPr>
          <a:xfrm>
            <a:off x="737870" y="2405380"/>
            <a:ext cx="2240280" cy="576072"/>
          </a:xfrm>
          <a:prstGeom prst="rect">
            <a:avLst/>
          </a:prstGeom>
          <a:noFill/>
        </p:spPr>
        <p:txBody>
          <a:bodyPr wrap="square" lIns="0" tIns="27432" rIns="0" bIns="27432" anchor="ctr">
            <a:noAutofit/>
          </a:bodyPr>
          <a:lstStyle/>
          <a:p>
            <a:pPr algn="ctr">
              <a:lnSpc>
                <a:spcPct val="118000"/>
              </a:lnSpc>
            </a:pPr>
            <a:r>
              <a:rPr lang="ko-KR" altLang="en-US" sz="1300" b="1" dirty="0" err="1">
                <a:solidFill>
                  <a:srgbClr val="1E2761"/>
                </a:solidFill>
                <a:latin typeface="Pretendard"/>
                <a:ea typeface="Pretendard"/>
                <a:cs typeface="Pretendard"/>
              </a:rPr>
              <a:t>불송치</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불기소</a:t>
            </a:r>
            <a:endParaRPr lang="ko-KR" sz="1300" b="1" dirty="0">
              <a:solidFill>
                <a:srgbClr val="1E2761"/>
              </a:solidFill>
              <a:latin typeface="Pretendard"/>
              <a:ea typeface="Pretendard"/>
              <a:cs typeface="Pretendard"/>
            </a:endParaRPr>
          </a:p>
        </p:txBody>
      </p:sp>
      <p:sp>
        <p:nvSpPr>
          <p:cNvPr id="17" name="b0"/>
          <p:cNvSpPr txBox="1"/>
          <p:nvPr/>
        </p:nvSpPr>
        <p:spPr>
          <a:xfrm>
            <a:off x="3154680" y="2078481"/>
            <a:ext cx="8302752" cy="1233681"/>
          </a:xfrm>
          <a:prstGeom prst="rect">
            <a:avLst/>
          </a:prstGeom>
          <a:noFill/>
        </p:spPr>
        <p:txBody>
          <a:bodyPr wrap="square" lIns="0" tIns="27432" rIns="0" bIns="27432" anchor="ctr">
            <a:noAutofit/>
          </a:bodyPr>
          <a:lstStyle/>
          <a:p>
            <a:pPr>
              <a:lnSpc>
                <a:spcPct val="118000"/>
              </a:lnSpc>
              <a:spcAft>
                <a:spcPts val="500"/>
              </a:spcAft>
            </a:pPr>
            <a:r>
              <a:rPr lang="ko-KR" altLang="en-US" sz="1250" b="1" dirty="0">
                <a:solidFill>
                  <a:srgbClr val="222633"/>
                </a:solidFill>
                <a:latin typeface="Pretendard"/>
                <a:ea typeface="Pretendard"/>
                <a:cs typeface="Pretendard"/>
              </a:rPr>
              <a:t>형사처벌로 이어지지 않아도 </a:t>
            </a:r>
            <a:r>
              <a:rPr lang="ko-KR" altLang="en-US" sz="1250" b="1" dirty="0">
                <a:solidFill>
                  <a:srgbClr val="222633"/>
                </a:solidFill>
                <a:highlight>
                  <a:srgbClr val="FFFF00"/>
                </a:highlight>
                <a:latin typeface="Pretendard"/>
                <a:ea typeface="Pretendard"/>
                <a:cs typeface="Pretendard"/>
              </a:rPr>
              <a:t>수사경력자료의 정리 기준이 적용된다</a:t>
            </a:r>
            <a:r>
              <a:rPr lang="en-US" altLang="ko-KR" sz="1250" b="1" dirty="0">
                <a:solidFill>
                  <a:srgbClr val="222633"/>
                </a:solidFill>
                <a:highlight>
                  <a:srgbClr val="FFFF00"/>
                </a:highlight>
                <a:latin typeface="Pretendard"/>
                <a:ea typeface="Pretendard"/>
                <a:cs typeface="Pretendard"/>
              </a:rPr>
              <a:t>.</a:t>
            </a:r>
          </a:p>
          <a:p>
            <a:pPr>
              <a:lnSpc>
                <a:spcPct val="118000"/>
              </a:lnSpc>
              <a:spcAft>
                <a:spcPts val="500"/>
              </a:spcAft>
            </a:pPr>
            <a:r>
              <a:rPr lang="ko-KR" altLang="en-US" sz="1250" dirty="0">
                <a:solidFill>
                  <a:srgbClr val="222633"/>
                </a:solidFill>
                <a:latin typeface="Pretendard"/>
                <a:ea typeface="Pretendard"/>
                <a:cs typeface="Pretendard"/>
              </a:rPr>
              <a:t>소년인 피의자에 대해서는 </a:t>
            </a:r>
            <a:r>
              <a:rPr lang="ko-KR" altLang="en-US" sz="1250" dirty="0" err="1">
                <a:solidFill>
                  <a:srgbClr val="222633"/>
                </a:solidFill>
                <a:latin typeface="Pretendard"/>
                <a:ea typeface="Pretendard"/>
                <a:cs typeface="Pretendard"/>
              </a:rPr>
              <a:t>불송치</a:t>
            </a:r>
            <a:r>
              <a:rPr lang="ko-KR" altLang="en-US" sz="1250" dirty="0">
                <a:solidFill>
                  <a:srgbClr val="222633"/>
                </a:solidFill>
                <a:latin typeface="Pretendard"/>
                <a:ea typeface="Pretendard"/>
                <a:cs typeface="Pretendard"/>
              </a:rPr>
              <a:t> 사유와 불기소 사유에 따라 보존기간이 다르다</a:t>
            </a:r>
            <a:r>
              <a:rPr lang="en-US" altLang="ko-KR" sz="1250" dirty="0">
                <a:solidFill>
                  <a:srgbClr val="222633"/>
                </a:solidFill>
                <a:latin typeface="Pretendard"/>
                <a:ea typeface="Pretendard"/>
                <a:cs typeface="Pretendard"/>
              </a:rPr>
              <a:t>.</a:t>
            </a:r>
          </a:p>
          <a:p>
            <a:pPr>
              <a:lnSpc>
                <a:spcPct val="118000"/>
              </a:lnSpc>
              <a:spcAft>
                <a:spcPts val="500"/>
              </a:spcAft>
            </a:pPr>
            <a:r>
              <a:rPr lang="ko-KR" altLang="en-US" sz="1250" dirty="0" err="1">
                <a:solidFill>
                  <a:srgbClr val="222633"/>
                </a:solidFill>
                <a:latin typeface="Pretendard"/>
                <a:ea typeface="Pretendard"/>
                <a:cs typeface="Pretendard"/>
              </a:rPr>
              <a:t>불송치는</a:t>
            </a:r>
            <a:r>
              <a:rPr lang="ko-KR" altLang="en-US" sz="1250" dirty="0">
                <a:solidFill>
                  <a:srgbClr val="222633"/>
                </a:solidFill>
                <a:latin typeface="Pretendard"/>
                <a:ea typeface="Pretendard"/>
                <a:cs typeface="Pretendard"/>
              </a:rPr>
              <a:t> 원칙적으로 결정일부터 </a:t>
            </a:r>
            <a:r>
              <a:rPr lang="en-US" altLang="ko-KR" sz="1250" dirty="0">
                <a:solidFill>
                  <a:srgbClr val="222633"/>
                </a:solidFill>
                <a:latin typeface="Pretendard"/>
                <a:ea typeface="Pretendard"/>
                <a:cs typeface="Pretendard"/>
              </a:rPr>
              <a:t>4</a:t>
            </a:r>
            <a:r>
              <a:rPr lang="ko-KR" altLang="en-US" sz="1250" dirty="0">
                <a:solidFill>
                  <a:srgbClr val="222633"/>
                </a:solidFill>
                <a:latin typeface="Pretendard"/>
                <a:ea typeface="Pretendard"/>
                <a:cs typeface="Pretendard"/>
              </a:rPr>
              <a:t>개월</a:t>
            </a:r>
            <a:r>
              <a:rPr lang="en-US" altLang="ko-KR" sz="1250" dirty="0">
                <a:solidFill>
                  <a:srgbClr val="222633"/>
                </a:solidFill>
                <a:latin typeface="Pretendard"/>
                <a:ea typeface="Pretendard"/>
                <a:cs typeface="Pretendard"/>
              </a:rPr>
              <a:t>, </a:t>
            </a:r>
            <a:r>
              <a:rPr lang="ko-KR" altLang="en-US" sz="1250" dirty="0">
                <a:solidFill>
                  <a:srgbClr val="222633"/>
                </a:solidFill>
                <a:latin typeface="Pretendard"/>
                <a:ea typeface="Pretendard"/>
                <a:cs typeface="Pretendard"/>
              </a:rPr>
              <a:t>기소유예는 처분일부터 </a:t>
            </a:r>
            <a:r>
              <a:rPr lang="en-US" altLang="ko-KR" sz="1250" dirty="0">
                <a:solidFill>
                  <a:srgbClr val="222633"/>
                </a:solidFill>
                <a:latin typeface="Pretendard"/>
                <a:ea typeface="Pretendard"/>
                <a:cs typeface="Pretendard"/>
              </a:rPr>
              <a:t>3</a:t>
            </a:r>
            <a:r>
              <a:rPr lang="ko-KR" altLang="en-US" sz="1250" dirty="0">
                <a:solidFill>
                  <a:srgbClr val="222633"/>
                </a:solidFill>
                <a:latin typeface="Pretendard"/>
                <a:ea typeface="Pretendard"/>
                <a:cs typeface="Pretendard"/>
              </a:rPr>
              <a:t>년 보존한다</a:t>
            </a:r>
            <a:r>
              <a:rPr lang="en-US" altLang="ko-KR" sz="1250" dirty="0">
                <a:solidFill>
                  <a:srgbClr val="222633"/>
                </a:solidFill>
                <a:latin typeface="Pretendard"/>
                <a:ea typeface="Pretendard"/>
                <a:cs typeface="Pretendard"/>
              </a:rPr>
              <a:t>.</a:t>
            </a:r>
          </a:p>
          <a:p>
            <a:pPr>
              <a:lnSpc>
                <a:spcPct val="118000"/>
              </a:lnSpc>
              <a:spcAft>
                <a:spcPts val="500"/>
              </a:spcAft>
            </a:pPr>
            <a:r>
              <a:rPr lang="ko-KR" altLang="en-US" sz="1250" dirty="0" err="1">
                <a:solidFill>
                  <a:srgbClr val="222633"/>
                </a:solidFill>
                <a:latin typeface="Pretendard"/>
                <a:ea typeface="Pretendard"/>
                <a:cs typeface="Pretendard"/>
              </a:rPr>
              <a:t>혐의없음</a:t>
            </a:r>
            <a:r>
              <a:rPr lang="en-US" altLang="ko-KR" sz="1250" dirty="0">
                <a:solidFill>
                  <a:srgbClr val="222633"/>
                </a:solidFill>
                <a:latin typeface="Pretendard"/>
                <a:ea typeface="Pretendard"/>
                <a:cs typeface="Pretendard"/>
              </a:rPr>
              <a:t>·</a:t>
            </a:r>
            <a:r>
              <a:rPr lang="ko-KR" altLang="en-US" sz="1250" dirty="0" err="1">
                <a:solidFill>
                  <a:srgbClr val="222633"/>
                </a:solidFill>
                <a:latin typeface="Pretendard"/>
                <a:ea typeface="Pretendard"/>
                <a:cs typeface="Pretendard"/>
              </a:rPr>
              <a:t>공소권없음</a:t>
            </a:r>
            <a:r>
              <a:rPr lang="en-US" altLang="ko-KR" sz="1250" dirty="0">
                <a:solidFill>
                  <a:srgbClr val="222633"/>
                </a:solidFill>
                <a:latin typeface="Pretendard"/>
                <a:ea typeface="Pretendard"/>
                <a:cs typeface="Pretendard"/>
              </a:rPr>
              <a:t>·</a:t>
            </a:r>
            <a:r>
              <a:rPr lang="ko-KR" altLang="en-US" sz="1250" dirty="0" err="1">
                <a:solidFill>
                  <a:srgbClr val="222633"/>
                </a:solidFill>
                <a:latin typeface="Pretendard"/>
                <a:ea typeface="Pretendard"/>
                <a:cs typeface="Pretendard"/>
              </a:rPr>
              <a:t>죄가안됨의</a:t>
            </a:r>
            <a:r>
              <a:rPr lang="ko-KR" altLang="en-US" sz="1250" dirty="0">
                <a:solidFill>
                  <a:srgbClr val="222633"/>
                </a:solidFill>
                <a:latin typeface="Pretendard"/>
                <a:ea typeface="Pretendard"/>
                <a:cs typeface="Pretendard"/>
              </a:rPr>
              <a:t> 불기소처분은 그 처분 시까지 보존한다</a:t>
            </a:r>
            <a:r>
              <a:rPr lang="en-US" altLang="ko-KR" sz="1250" dirty="0">
                <a:solidFill>
                  <a:srgbClr val="222633"/>
                </a:solidFill>
                <a:latin typeface="Pretendard"/>
                <a:ea typeface="Pretendard"/>
                <a:cs typeface="Pretendard"/>
              </a:rPr>
              <a:t>.</a:t>
            </a:r>
            <a:endParaRPr lang="ko-KR" sz="1250" dirty="0">
              <a:solidFill>
                <a:srgbClr val="222633"/>
              </a:solidFill>
              <a:latin typeface="Pretendard"/>
              <a:ea typeface="Pretendard"/>
              <a:cs typeface="Pretendard"/>
            </a:endParaRPr>
          </a:p>
        </p:txBody>
      </p:sp>
      <p:sp>
        <p:nvSpPr>
          <p:cNvPr id="18" name="line18"/>
          <p:cNvSpPr/>
          <p:nvPr/>
        </p:nvSpPr>
        <p:spPr>
          <a:xfrm>
            <a:off x="737870" y="3310382"/>
            <a:ext cx="10725912" cy="0"/>
          </a:xfrm>
          <a:prstGeom prst="line">
            <a:avLst/>
          </a:prstGeom>
          <a:ln w="9525">
            <a:solidFill>
              <a:srgbClr val="DCE0E8"/>
            </a:solidFill>
          </a:ln>
        </p:spPr>
        <p:txBody>
          <a:bodyPr/>
          <a:lstStyle/>
          <a:p>
            <a:endParaRPr/>
          </a:p>
        </p:txBody>
      </p:sp>
      <p:sp>
        <p:nvSpPr>
          <p:cNvPr id="19" name="h1"/>
          <p:cNvSpPr txBox="1"/>
          <p:nvPr/>
        </p:nvSpPr>
        <p:spPr>
          <a:xfrm>
            <a:off x="737870" y="3358642"/>
            <a:ext cx="2240280" cy="781812"/>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소년부 송치</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보호처분</a:t>
            </a:r>
            <a:endParaRP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20" name="b1"/>
          <p:cNvSpPr txBox="1"/>
          <p:nvPr/>
        </p:nvSpPr>
        <p:spPr>
          <a:xfrm>
            <a:off x="3151378" y="3327148"/>
            <a:ext cx="8302752" cy="832355"/>
          </a:xfrm>
          <a:prstGeom prst="rect">
            <a:avLst/>
          </a:prstGeom>
          <a:noFill/>
        </p:spPr>
        <p:txBody>
          <a:bodyPr wrap="square" lIns="0" tIns="27432" rIns="0" bIns="27432" anchor="ctr">
            <a:noAutofit/>
          </a:bodyPr>
          <a:lstStyle/>
          <a:p>
            <a:pPr>
              <a:spcAft>
                <a:spcPts val="500"/>
              </a:spcAft>
            </a:pP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소년부 송치와 보호처분 관련 사항은 </a:t>
            </a:r>
            <a:r>
              <a:rPr lang="ko-KR" altLang="en-US" sz="1250" b="1" dirty="0">
                <a:solidFill>
                  <a:srgbClr val="222633"/>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수사경력자료로 관리되지만</a:t>
            </a:r>
            <a:r>
              <a:rPr lang="en-US" altLang="ko-KR" sz="1250" b="1" dirty="0">
                <a:solidFill>
                  <a:srgbClr val="222633"/>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 3</a:t>
            </a:r>
            <a:r>
              <a:rPr lang="ko-KR" altLang="en-US" sz="1250" b="1" dirty="0">
                <a:solidFill>
                  <a:srgbClr val="222633"/>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년이 지나면 원칙적으로 회보가 제한</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된다</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p>
          <a:p>
            <a:pPr>
              <a:spcAft>
                <a:spcPts val="500"/>
              </a:spcAft>
            </a:pPr>
            <a:r>
              <a:rPr lang="ko-KR" altLang="en-US"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형사사건으로 수사자료표가 작성된 뒤 소년부로 송치되거나 보호처분을 받은 경우다</a:t>
            </a:r>
            <a:r>
              <a:rPr lang="en-US" altLang="ko-K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p>
          <a:p>
            <a:pPr>
              <a:spcAft>
                <a:spcPts val="500"/>
              </a:spcAft>
            </a:pPr>
            <a:r>
              <a:rPr lang="ko-KR" altLang="en-US"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결정일부터 </a:t>
            </a:r>
            <a:r>
              <a:rPr lang="en-US" altLang="ko-K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3</a:t>
            </a:r>
            <a:r>
              <a:rPr lang="ko-KR" altLang="en-US"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년이 지나면 법령이 정한 예외를 제외하고 이를 회보하지 않는다</a:t>
            </a:r>
            <a:r>
              <a:rPr lang="en-US" altLang="ko-K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endPar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21" name="line21"/>
          <p:cNvSpPr/>
          <p:nvPr/>
        </p:nvSpPr>
        <p:spPr>
          <a:xfrm>
            <a:off x="731520" y="4172204"/>
            <a:ext cx="10725912" cy="0"/>
          </a:xfrm>
          <a:prstGeom prst="line">
            <a:avLst/>
          </a:prstGeom>
          <a:ln w="9525">
            <a:solidFill>
              <a:srgbClr val="DCE0E8"/>
            </a:solidFill>
          </a:ln>
        </p:spPr>
        <p:txBody>
          <a:bodyPr/>
          <a:lstStyle/>
          <a:p>
            <a:endParaRPr/>
          </a:p>
        </p:txBody>
      </p:sp>
      <p:sp>
        <p:nvSpPr>
          <p:cNvPr id="22" name="h2"/>
          <p:cNvSpPr txBox="1"/>
          <p:nvPr/>
        </p:nvSpPr>
        <p:spPr>
          <a:xfrm>
            <a:off x="731520" y="4316984"/>
            <a:ext cx="2240280" cy="576072"/>
          </a:xfrm>
          <a:prstGeom prst="rect">
            <a:avLst/>
          </a:prstGeom>
          <a:noFill/>
        </p:spPr>
        <p:txBody>
          <a:bodyPr wrap="square" lIns="0" tIns="27432" rIns="0" bIns="27432" anchor="ctr">
            <a:noAutofit/>
          </a:bodyPr>
          <a:lstStyle/>
          <a:p>
            <a:pPr algn="ctr">
              <a:lnSpc>
                <a:spcPct val="118000"/>
              </a:lnSpc>
            </a:pPr>
            <a:r>
              <a:rPr lang="ko-KR" altLang="en-US" sz="1300" b="1" dirty="0" err="1">
                <a:solidFill>
                  <a:srgbClr val="1E2761"/>
                </a:solidFill>
                <a:latin typeface="Pretendard"/>
                <a:ea typeface="Pretendard"/>
                <a:cs typeface="Pretendard"/>
              </a:rPr>
              <a:t>심리불개시</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불처분</a:t>
            </a:r>
            <a:endParaRPr lang="ko-KR" sz="1300" b="1" dirty="0">
              <a:solidFill>
                <a:srgbClr val="1E2761"/>
              </a:solidFill>
              <a:latin typeface="Pretendard"/>
              <a:ea typeface="Pretendard"/>
              <a:cs typeface="Pretendard"/>
            </a:endParaRPr>
          </a:p>
        </p:txBody>
      </p:sp>
      <p:sp>
        <p:nvSpPr>
          <p:cNvPr id="23" name="b2"/>
          <p:cNvSpPr txBox="1"/>
          <p:nvPr/>
        </p:nvSpPr>
        <p:spPr>
          <a:xfrm>
            <a:off x="3151378" y="4220718"/>
            <a:ext cx="8302752" cy="672338"/>
          </a:xfrm>
          <a:prstGeom prst="rect">
            <a:avLst/>
          </a:prstGeom>
          <a:noFill/>
        </p:spPr>
        <p:txBody>
          <a:bodyPr wrap="square" lIns="0" tIns="27432" rIns="0" bIns="27432" anchor="ctr">
            <a:noAutofit/>
          </a:bodyPr>
          <a:lstStyle/>
          <a:p>
            <a:pPr>
              <a:lnSpc>
                <a:spcPct val="125000"/>
              </a:lnSpc>
              <a:spcAft>
                <a:spcPts val="500"/>
              </a:spcAft>
            </a:pPr>
            <a:r>
              <a:rPr lang="ko-KR" altLang="en-US" sz="1250" b="1" dirty="0">
                <a:solidFill>
                  <a:srgbClr val="222633"/>
                </a:solidFill>
                <a:highlight>
                  <a:srgbClr val="FFFF00"/>
                </a:highlight>
                <a:latin typeface="Pretendard"/>
                <a:ea typeface="Pretendard"/>
                <a:cs typeface="Pretendard"/>
              </a:rPr>
              <a:t>관련 수사경력자료는 결정일부터 </a:t>
            </a:r>
            <a:r>
              <a:rPr lang="en-US" altLang="ko-KR" sz="1250" b="1" dirty="0">
                <a:solidFill>
                  <a:srgbClr val="222633"/>
                </a:solidFill>
                <a:highlight>
                  <a:srgbClr val="FFFF00"/>
                </a:highlight>
                <a:latin typeface="Pretendard"/>
                <a:ea typeface="Pretendard"/>
                <a:cs typeface="Pretendard"/>
              </a:rPr>
              <a:t>3</a:t>
            </a:r>
            <a:r>
              <a:rPr lang="ko-KR" altLang="en-US" sz="1250" b="1" dirty="0">
                <a:solidFill>
                  <a:srgbClr val="222633"/>
                </a:solidFill>
                <a:highlight>
                  <a:srgbClr val="FFFF00"/>
                </a:highlight>
                <a:latin typeface="Pretendard"/>
                <a:ea typeface="Pretendard"/>
                <a:cs typeface="Pretendard"/>
              </a:rPr>
              <a:t>년간 보존한 뒤 해당 사항을 삭제</a:t>
            </a:r>
            <a:r>
              <a:rPr lang="ko-KR" altLang="en-US" sz="1250" b="1" dirty="0">
                <a:solidFill>
                  <a:srgbClr val="222633"/>
                </a:solidFill>
                <a:latin typeface="Pretendard"/>
                <a:ea typeface="Pretendard"/>
                <a:cs typeface="Pretendard"/>
              </a:rPr>
              <a:t>한다</a:t>
            </a:r>
            <a:r>
              <a:rPr lang="en-US" altLang="ko-KR" sz="1250" b="1" dirty="0">
                <a:solidFill>
                  <a:srgbClr val="222633"/>
                </a:solidFill>
                <a:latin typeface="Pretendard"/>
                <a:ea typeface="Pretendard"/>
                <a:cs typeface="Pretendard"/>
              </a:rPr>
              <a:t>.</a:t>
            </a:r>
            <a:endParaRPr lang="ko-KR" sz="1250" b="1" dirty="0">
              <a:solidFill>
                <a:srgbClr val="222633"/>
              </a:solidFill>
              <a:latin typeface="Pretendard"/>
              <a:ea typeface="Pretendard"/>
              <a:cs typeface="Pretendard"/>
            </a:endParaRPr>
          </a:p>
          <a:p>
            <a:pPr>
              <a:lnSpc>
                <a:spcPct val="118000"/>
              </a:lnSpc>
            </a:pPr>
            <a:r>
              <a:rPr lang="ko-KR" altLang="en-US" sz="1150" dirty="0">
                <a:solidFill>
                  <a:srgbClr val="464D5C"/>
                </a:solidFill>
                <a:latin typeface="Pretendard"/>
                <a:ea typeface="Pretendard"/>
                <a:cs typeface="Pretendard"/>
              </a:rPr>
              <a:t>소년부가 심리를 열지 않거나</a:t>
            </a:r>
            <a:r>
              <a:rPr lang="en-US" altLang="ko-KR" sz="1150" dirty="0">
                <a:solidFill>
                  <a:srgbClr val="464D5C"/>
                </a:solidFill>
                <a:latin typeface="Pretendard"/>
                <a:ea typeface="Pretendard"/>
                <a:cs typeface="Pretendard"/>
              </a:rPr>
              <a:t>, </a:t>
            </a:r>
            <a:r>
              <a:rPr lang="ko-KR" altLang="en-US" sz="1150" dirty="0">
                <a:solidFill>
                  <a:srgbClr val="464D5C"/>
                </a:solidFill>
                <a:latin typeface="Pretendard"/>
                <a:ea typeface="Pretendard"/>
                <a:cs typeface="Pretendard"/>
              </a:rPr>
              <a:t>심리 뒤 보호처분이 필요하지 않다고 결정한 경우다</a:t>
            </a:r>
            <a:r>
              <a:rPr lang="en-US" altLang="ko-KR" sz="1150" dirty="0">
                <a:solidFill>
                  <a:srgbClr val="464D5C"/>
                </a:solidFill>
                <a:latin typeface="Pretendard"/>
                <a:ea typeface="Pretendard"/>
                <a:cs typeface="Pretendard"/>
              </a:rPr>
              <a:t>.</a:t>
            </a:r>
          </a:p>
          <a:p>
            <a:pPr>
              <a:lnSpc>
                <a:spcPct val="118000"/>
              </a:lnSpc>
            </a:pPr>
            <a:r>
              <a:rPr lang="ko-KR" altLang="en-US" sz="1150" dirty="0">
                <a:solidFill>
                  <a:srgbClr val="464D5C"/>
                </a:solidFill>
                <a:latin typeface="Pretendard"/>
                <a:ea typeface="Pretendard"/>
                <a:cs typeface="Pretendard"/>
              </a:rPr>
              <a:t>이 경우 </a:t>
            </a:r>
            <a:r>
              <a:rPr lang="ko-KR" altLang="en-US" sz="1150" dirty="0" err="1">
                <a:solidFill>
                  <a:srgbClr val="464D5C"/>
                </a:solidFill>
                <a:latin typeface="Pretendard"/>
                <a:ea typeface="Pretendard"/>
                <a:cs typeface="Pretendard"/>
              </a:rPr>
              <a:t>형실효법은</a:t>
            </a:r>
            <a:r>
              <a:rPr lang="ko-KR" altLang="en-US" sz="1150" dirty="0">
                <a:solidFill>
                  <a:srgbClr val="464D5C"/>
                </a:solidFill>
                <a:latin typeface="Pretendard"/>
                <a:ea typeface="Pretendard"/>
                <a:cs typeface="Pretendard"/>
              </a:rPr>
              <a:t> 해당 수사경력자료의 보존기간을 </a:t>
            </a:r>
            <a:r>
              <a:rPr lang="en-US" altLang="ko-KR" sz="1150" dirty="0">
                <a:solidFill>
                  <a:srgbClr val="464D5C"/>
                </a:solidFill>
                <a:latin typeface="Pretendard"/>
                <a:ea typeface="Pretendard"/>
                <a:cs typeface="Pretendard"/>
              </a:rPr>
              <a:t>3</a:t>
            </a:r>
            <a:r>
              <a:rPr lang="ko-KR" altLang="en-US" sz="1150" dirty="0">
                <a:solidFill>
                  <a:srgbClr val="464D5C"/>
                </a:solidFill>
                <a:latin typeface="Pretendard"/>
                <a:ea typeface="Pretendard"/>
                <a:cs typeface="Pretendard"/>
              </a:rPr>
              <a:t>년으로 정하고 있다</a:t>
            </a:r>
            <a:r>
              <a:rPr lang="en-US" altLang="ko-KR" sz="1150" dirty="0">
                <a:solidFill>
                  <a:srgbClr val="464D5C"/>
                </a:solidFill>
                <a:latin typeface="Pretendard"/>
                <a:ea typeface="Pretendard"/>
                <a:cs typeface="Pretendard"/>
              </a:rPr>
              <a:t>.</a:t>
            </a:r>
            <a:endParaRPr lang="ko-KR" sz="1150" b="0" dirty="0">
              <a:solidFill>
                <a:srgbClr val="464D5C"/>
              </a:solidFill>
              <a:latin typeface="Pretendard"/>
              <a:ea typeface="Pretendard"/>
              <a:cs typeface="Pretendard"/>
            </a:endParaRPr>
          </a:p>
        </p:txBody>
      </p:sp>
      <p:sp>
        <p:nvSpPr>
          <p:cNvPr id="24" name="line24"/>
          <p:cNvSpPr/>
          <p:nvPr/>
        </p:nvSpPr>
        <p:spPr>
          <a:xfrm>
            <a:off x="731520" y="4999736"/>
            <a:ext cx="10725912" cy="0"/>
          </a:xfrm>
          <a:prstGeom prst="line">
            <a:avLst/>
          </a:prstGeom>
          <a:ln w="9525">
            <a:solidFill>
              <a:srgbClr val="DCE0E8"/>
            </a:solidFill>
          </a:ln>
        </p:spPr>
        <p:txBody>
          <a:bodyPr/>
          <a:lstStyle/>
          <a:p>
            <a:endParaRPr/>
          </a:p>
        </p:txBody>
      </p:sp>
      <p:sp>
        <p:nvSpPr>
          <p:cNvPr id="7" name="line24">
            <a:extLst>
              <a:ext uri="{FF2B5EF4-FFF2-40B4-BE49-F238E27FC236}">
                <a16:creationId xmlns:a16="http://schemas.microsoft.com/office/drawing/2014/main" id="{7D1BE3A8-15FC-5D11-C199-6463CE74A76D}"/>
              </a:ext>
            </a:extLst>
          </p:cNvPr>
          <p:cNvSpPr/>
          <p:nvPr/>
        </p:nvSpPr>
        <p:spPr>
          <a:xfrm>
            <a:off x="731520" y="6151118"/>
            <a:ext cx="10725912" cy="0"/>
          </a:xfrm>
          <a:prstGeom prst="line">
            <a:avLst/>
          </a:prstGeom>
          <a:ln w="19050">
            <a:solidFill>
              <a:srgbClr val="1E2761"/>
            </a:solidFill>
          </a:ln>
        </p:spPr>
        <p:txBody>
          <a:bodyPr/>
          <a:lstStyle/>
          <a:p>
            <a:endParaRPr/>
          </a:p>
        </p:txBody>
      </p:sp>
      <p:sp>
        <p:nvSpPr>
          <p:cNvPr id="9" name="bandbg">
            <a:extLst>
              <a:ext uri="{FF2B5EF4-FFF2-40B4-BE49-F238E27FC236}">
                <a16:creationId xmlns:a16="http://schemas.microsoft.com/office/drawing/2014/main" id="{70422DD2-DFF3-5077-61F6-030FB1A7B098}"/>
              </a:ext>
            </a:extLst>
          </p:cNvPr>
          <p:cNvSpPr/>
          <p:nvPr/>
        </p:nvSpPr>
        <p:spPr>
          <a:xfrm>
            <a:off x="737870" y="5912614"/>
            <a:ext cx="10719562" cy="490980"/>
          </a:xfrm>
          <a:prstGeom prst="rect">
            <a:avLst/>
          </a:prstGeom>
          <a:solidFill>
            <a:srgbClr val="1E2761"/>
          </a:solidFill>
          <a:ln>
            <a:noFill/>
          </a:ln>
        </p:spPr>
        <p:txBody>
          <a:bodyPr/>
          <a:lstStyle/>
          <a:p>
            <a:endParaRPr/>
          </a:p>
        </p:txBody>
      </p:sp>
      <p:sp>
        <p:nvSpPr>
          <p:cNvPr id="30" name="band">
            <a:extLst>
              <a:ext uri="{FF2B5EF4-FFF2-40B4-BE49-F238E27FC236}">
                <a16:creationId xmlns:a16="http://schemas.microsoft.com/office/drawing/2014/main" id="{A52A7F24-4429-A28F-74D8-787152FC9795}"/>
              </a:ext>
            </a:extLst>
          </p:cNvPr>
          <p:cNvSpPr txBox="1"/>
          <p:nvPr/>
        </p:nvSpPr>
        <p:spPr>
          <a:xfrm>
            <a:off x="737870" y="5955284"/>
            <a:ext cx="10716260" cy="412495"/>
          </a:xfrm>
          <a:prstGeom prst="rect">
            <a:avLst/>
          </a:prstGeom>
          <a:noFill/>
        </p:spPr>
        <p:txBody>
          <a:bodyPr wrap="square" lIns="0" tIns="27432" rIns="0" bIns="27432" anchor="ctr">
            <a:noAutofit/>
          </a:bodyPr>
          <a:lstStyle/>
          <a:p>
            <a:pPr algn="ctr">
              <a:lnSpc>
                <a:spcPct val="125000"/>
              </a:lnSpc>
            </a:pPr>
            <a:r>
              <a:rPr lang="en-US" altLang="ko-KR" sz="125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13</a:t>
            </a:r>
            <a:r>
              <a:rPr lang="ko-KR" altLang="en-US" sz="125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세를 범죄소년으로 바꾸면 형사사건의 수사경력 체계에 들어간다</a:t>
            </a:r>
            <a:r>
              <a:rPr lang="en-US" altLang="ko-KR" sz="125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다만</a:t>
            </a:r>
            <a:r>
              <a:rPr lang="en-US" altLang="ko-KR" sz="125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모든 사건이 범죄경력인 ‘</a:t>
            </a:r>
            <a:r>
              <a:rPr lang="ko-KR" altLang="en-US" sz="1250" b="1" dirty="0" err="1">
                <a:solidFill>
                  <a:schemeClr val="bg1"/>
                </a:solidFill>
                <a:latin typeface="Pretendard" panose="02000503000000020004" pitchFamily="2" charset="-127"/>
                <a:ea typeface="Pretendard" panose="02000503000000020004" pitchFamily="2" charset="-127"/>
                <a:cs typeface="Pretendard" panose="02000503000000020004" pitchFamily="2" charset="-127"/>
              </a:rPr>
              <a:t>전과’로</a:t>
            </a:r>
            <a:r>
              <a:rPr lang="ko-KR" altLang="en-US" sz="125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 이어지는 것은 아니다</a:t>
            </a:r>
            <a:r>
              <a:rPr lang="en-US" altLang="ko-KR" sz="1250" b="1" dirty="0">
                <a:solidFill>
                  <a:schemeClr val="bg1"/>
                </a:solidFill>
                <a:latin typeface="Pretendard" panose="02000503000000020004" pitchFamily="2" charset="-127"/>
                <a:ea typeface="Pretendard" panose="02000503000000020004" pitchFamily="2" charset="-127"/>
                <a:cs typeface="Pretendard" panose="02000503000000020004" pitchFamily="2" charset="-127"/>
              </a:rPr>
              <a:t>.</a:t>
            </a:r>
          </a:p>
        </p:txBody>
      </p:sp>
      <p:sp>
        <p:nvSpPr>
          <p:cNvPr id="2" name="h2">
            <a:extLst>
              <a:ext uri="{FF2B5EF4-FFF2-40B4-BE49-F238E27FC236}">
                <a16:creationId xmlns:a16="http://schemas.microsoft.com/office/drawing/2014/main" id="{7DC45208-0C13-4B94-6F06-0459161D737D}"/>
              </a:ext>
            </a:extLst>
          </p:cNvPr>
          <p:cNvSpPr txBox="1"/>
          <p:nvPr/>
        </p:nvSpPr>
        <p:spPr>
          <a:xfrm>
            <a:off x="741172" y="5092700"/>
            <a:ext cx="2240280" cy="576072"/>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벌금 이상 형 선고</a:t>
            </a:r>
            <a:endParaRPr lang="ko-KR" sz="1300" b="1" dirty="0">
              <a:solidFill>
                <a:srgbClr val="1E2761"/>
              </a:solidFill>
              <a:latin typeface="Pretendard"/>
              <a:ea typeface="Pretendard"/>
              <a:cs typeface="Pretendard"/>
            </a:endParaRPr>
          </a:p>
        </p:txBody>
      </p:sp>
      <p:sp>
        <p:nvSpPr>
          <p:cNvPr id="3" name="b2">
            <a:extLst>
              <a:ext uri="{FF2B5EF4-FFF2-40B4-BE49-F238E27FC236}">
                <a16:creationId xmlns:a16="http://schemas.microsoft.com/office/drawing/2014/main" id="{526598BC-2568-0585-D3BE-F19FFE80FC21}"/>
              </a:ext>
            </a:extLst>
          </p:cNvPr>
          <p:cNvSpPr txBox="1"/>
          <p:nvPr/>
        </p:nvSpPr>
        <p:spPr>
          <a:xfrm>
            <a:off x="3154680" y="5082665"/>
            <a:ext cx="8302752" cy="672338"/>
          </a:xfrm>
          <a:prstGeom prst="rect">
            <a:avLst/>
          </a:prstGeom>
          <a:noFill/>
        </p:spPr>
        <p:txBody>
          <a:bodyPr wrap="square" lIns="0" tIns="27432" rIns="0" bIns="27432" anchor="ctr">
            <a:noAutofit/>
          </a:bodyPr>
          <a:lstStyle/>
          <a:p>
            <a:pPr>
              <a:lnSpc>
                <a:spcPct val="125000"/>
              </a:lnSpc>
              <a:spcAft>
                <a:spcPts val="500"/>
              </a:spcAft>
            </a:pPr>
            <a:r>
              <a:rPr lang="ko-KR" altLang="en-US" sz="1250" b="1" dirty="0">
                <a:solidFill>
                  <a:srgbClr val="222633"/>
                </a:solidFill>
                <a:latin typeface="Pretendard"/>
                <a:ea typeface="Pretendard"/>
                <a:cs typeface="Pretendard"/>
              </a:rPr>
              <a:t>벌금 이상 형 선고 내용은 </a:t>
            </a:r>
            <a:r>
              <a:rPr lang="ko-KR" altLang="en-US" sz="1250" b="1" dirty="0">
                <a:solidFill>
                  <a:srgbClr val="222633"/>
                </a:solidFill>
                <a:highlight>
                  <a:srgbClr val="FFFF00"/>
                </a:highlight>
                <a:latin typeface="Pretendard"/>
                <a:ea typeface="Pretendard"/>
                <a:cs typeface="Pretendard"/>
              </a:rPr>
              <a:t>범죄경력자료로 관리되고 전과기록에 포함된다</a:t>
            </a:r>
            <a:r>
              <a:rPr lang="en-US" altLang="ko-KR" sz="1250" b="1" dirty="0">
                <a:solidFill>
                  <a:srgbClr val="222633"/>
                </a:solidFill>
                <a:latin typeface="Pretendard"/>
                <a:ea typeface="Pretendard"/>
                <a:cs typeface="Pretendard"/>
              </a:rPr>
              <a:t>.</a:t>
            </a:r>
            <a:endParaRPr lang="ko-KR" sz="1250" b="1" dirty="0">
              <a:solidFill>
                <a:srgbClr val="222633"/>
              </a:solidFill>
              <a:latin typeface="Pretendard"/>
              <a:ea typeface="Pretendard"/>
              <a:cs typeface="Pretendard"/>
            </a:endParaRPr>
          </a:p>
          <a:p>
            <a:pPr>
              <a:lnSpc>
                <a:spcPct val="118000"/>
              </a:lnSpc>
            </a:pPr>
            <a:r>
              <a:rPr lang="ko-KR" altLang="en-US" sz="1150" dirty="0">
                <a:solidFill>
                  <a:srgbClr val="464D5C"/>
                </a:solidFill>
                <a:latin typeface="Pretendard"/>
                <a:ea typeface="Pretendard"/>
                <a:cs typeface="Pretendard"/>
              </a:rPr>
              <a:t>수사경력자료와 달리 유죄판결에 따른 범죄경력자료가 된다</a:t>
            </a:r>
            <a:r>
              <a:rPr lang="en-US" altLang="ko-KR" sz="1150" dirty="0">
                <a:solidFill>
                  <a:srgbClr val="464D5C"/>
                </a:solidFill>
                <a:latin typeface="Pretendard"/>
                <a:ea typeface="Pretendard"/>
                <a:cs typeface="Pretendard"/>
              </a:rPr>
              <a:t>.</a:t>
            </a:r>
          </a:p>
          <a:p>
            <a:pPr>
              <a:lnSpc>
                <a:spcPct val="118000"/>
              </a:lnSpc>
            </a:pPr>
            <a:r>
              <a:rPr lang="ko-KR" altLang="en-US" sz="1150" dirty="0">
                <a:solidFill>
                  <a:srgbClr val="464D5C"/>
                </a:solidFill>
                <a:latin typeface="Pretendard"/>
                <a:ea typeface="Pretendard"/>
                <a:cs typeface="Pretendard"/>
              </a:rPr>
              <a:t>다만 소년 때 범한 죄의 형 선고에는 소년법 제</a:t>
            </a:r>
            <a:r>
              <a:rPr lang="en-US" altLang="ko-KR" sz="1150" dirty="0">
                <a:solidFill>
                  <a:srgbClr val="464D5C"/>
                </a:solidFill>
                <a:latin typeface="Pretendard"/>
                <a:ea typeface="Pretendard"/>
                <a:cs typeface="Pretendard"/>
              </a:rPr>
              <a:t>67</a:t>
            </a:r>
            <a:r>
              <a:rPr lang="ko-KR" altLang="en-US" sz="1150" dirty="0">
                <a:solidFill>
                  <a:srgbClr val="464D5C"/>
                </a:solidFill>
                <a:latin typeface="Pretendard"/>
                <a:ea typeface="Pretendard"/>
                <a:cs typeface="Pretendard"/>
              </a:rPr>
              <a:t>조에 따라 일정한 경우 자격법령상 특례가 적용된다</a:t>
            </a:r>
            <a:r>
              <a:rPr lang="en-US" altLang="ko-KR" sz="1150" dirty="0">
                <a:solidFill>
                  <a:srgbClr val="464D5C"/>
                </a:solidFill>
                <a:latin typeface="Pretendard"/>
                <a:ea typeface="Pretendard"/>
                <a:cs typeface="Pretendard"/>
              </a:rPr>
              <a:t>.</a:t>
            </a:r>
            <a:endParaRPr lang="ko-KR" sz="1150" b="0" dirty="0">
              <a:solidFill>
                <a:srgbClr val="464D5C"/>
              </a:solidFill>
              <a:latin typeface="Pretendard"/>
              <a:ea typeface="Pretendard"/>
              <a:cs typeface="Pretendar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소년부송치와 검거의 변화</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소년사법 통계 — 누가 무엇을 집계하는가?</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소년부송치 인원·검거인원·법원 처리사건·검찰 처분은 집계 대상과 단계가 다르다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bar0"/>
          <p:cNvSpPr/>
          <p:nvPr/>
        </p:nvSpPr>
        <p:spPr>
          <a:xfrm>
            <a:off x="731520" y="2172208"/>
            <a:ext cx="68580" cy="256032"/>
          </a:xfrm>
          <a:prstGeom prst="rect">
            <a:avLst/>
          </a:prstGeom>
          <a:solidFill>
            <a:srgbClr val="A8871C"/>
          </a:solidFill>
          <a:ln>
            <a:noFill/>
          </a:ln>
        </p:spPr>
        <p:txBody>
          <a:bodyPr/>
          <a:lstStyle/>
          <a:p>
            <a:endParaRPr/>
          </a:p>
        </p:txBody>
      </p:sp>
      <p:sp>
        <p:nvSpPr>
          <p:cNvPr id="17" name="bh0"/>
          <p:cNvSpPr txBox="1"/>
          <p:nvPr/>
        </p:nvSpPr>
        <p:spPr>
          <a:xfrm>
            <a:off x="932688" y="2126488"/>
            <a:ext cx="10524744" cy="310896"/>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경찰청</a:t>
            </a:r>
          </a:p>
        </p:txBody>
      </p:sp>
      <p:sp>
        <p:nvSpPr>
          <p:cNvPr id="18" name="bb0"/>
          <p:cNvSpPr txBox="1"/>
          <p:nvPr/>
        </p:nvSpPr>
        <p:spPr>
          <a:xfrm>
            <a:off x="932688" y="2455671"/>
            <a:ext cx="10524744" cy="890775"/>
          </a:xfrm>
          <a:prstGeom prst="rect">
            <a:avLst/>
          </a:prstGeom>
          <a:noFill/>
        </p:spPr>
        <p:txBody>
          <a:bodyPr wrap="square" lIns="0" tIns="27432" rIns="0" bIns="27432" anchor="t">
            <a:noAutofit/>
          </a:bodyPr>
          <a:lstStyle/>
          <a:p>
            <a:pPr algn="l">
              <a:lnSpc>
                <a:spcPct val="118000"/>
              </a:lnSpc>
              <a:spcAft>
                <a:spcPts val="400"/>
              </a:spcAft>
            </a:pPr>
            <a:r>
              <a:rPr lang="ko-KR" sz="1250" b="1" dirty="0">
                <a:solidFill>
                  <a:srgbClr val="222633"/>
                </a:solidFill>
                <a:latin typeface="Pretendard"/>
                <a:ea typeface="Pretendard"/>
                <a:cs typeface="Pretendard"/>
              </a:rPr>
              <a:t>촉법소년 — 소년부</a:t>
            </a:r>
            <a:r>
              <a:rPr lang="en-US" altLang="ko-KR" sz="1250" b="1" dirty="0">
                <a:solidFill>
                  <a:srgbClr val="222633"/>
                </a:solidFill>
                <a:latin typeface="Pretendard"/>
                <a:ea typeface="Pretendard"/>
                <a:cs typeface="Pretendard"/>
              </a:rPr>
              <a:t> </a:t>
            </a:r>
            <a:r>
              <a:rPr lang="ko-KR" sz="1250" b="1" dirty="0">
                <a:solidFill>
                  <a:srgbClr val="222633"/>
                </a:solidFill>
                <a:latin typeface="Pretendard"/>
                <a:ea typeface="Pretendard"/>
                <a:cs typeface="Pretendard"/>
              </a:rPr>
              <a:t>송치 인원 </a:t>
            </a:r>
            <a:endParaRPr lang="en-US" altLang="ko-KR" sz="1250" b="1" dirty="0">
              <a:solidFill>
                <a:srgbClr val="222633"/>
              </a:solidFill>
              <a:latin typeface="Pretendard"/>
              <a:ea typeface="Pretendard"/>
              <a:cs typeface="Pretendard"/>
            </a:endParaRPr>
          </a:p>
          <a:p>
            <a:pPr algn="l">
              <a:lnSpc>
                <a:spcPct val="118000"/>
              </a:lnSpc>
              <a:spcAft>
                <a:spcPts val="400"/>
              </a:spcAft>
            </a:pPr>
            <a:r>
              <a:rPr lang="ko-KR" sz="1250" b="1" dirty="0">
                <a:solidFill>
                  <a:srgbClr val="222633"/>
                </a:solidFill>
                <a:latin typeface="Pretendard"/>
                <a:ea typeface="Pretendard"/>
                <a:cs typeface="Pretendard"/>
              </a:rPr>
              <a:t>범죄소년 — 경찰청 검거인원</a:t>
            </a:r>
          </a:p>
          <a:p>
            <a:pPr algn="l">
              <a:lnSpc>
                <a:spcPct val="118000"/>
              </a:lnSpc>
              <a:spcAft>
                <a:spcPts val="400"/>
              </a:spcAft>
            </a:pPr>
            <a:r>
              <a:rPr lang="ko-KR" sz="1150" b="0" dirty="0">
                <a:solidFill>
                  <a:srgbClr val="464D5C"/>
                </a:solidFill>
                <a:latin typeface="Pretendard"/>
                <a:ea typeface="Pretendard"/>
                <a:cs typeface="Pretendard"/>
              </a:rPr>
              <a:t>다음 비교에서 촉법소년 수치는 </a:t>
            </a:r>
            <a:r>
              <a:rPr lang="ko-KR" altLang="en-US" sz="1150" b="0" dirty="0">
                <a:solidFill>
                  <a:srgbClr val="464D5C"/>
                </a:solidFill>
                <a:latin typeface="Pretendard"/>
                <a:ea typeface="Pretendard"/>
                <a:cs typeface="Pretendard"/>
              </a:rPr>
              <a:t>경찰청에서 </a:t>
            </a:r>
            <a:r>
              <a:rPr lang="ko-KR" sz="1150" b="0" dirty="0">
                <a:solidFill>
                  <a:srgbClr val="464D5C"/>
                </a:solidFill>
                <a:latin typeface="Pretendard"/>
                <a:ea typeface="Pretendard"/>
                <a:cs typeface="Pretendard"/>
              </a:rPr>
              <a:t>소년부로 보낸 인원이고, 범죄소년 수치는 경찰청 검거인원이다.</a:t>
            </a:r>
          </a:p>
        </p:txBody>
      </p:sp>
      <p:sp>
        <p:nvSpPr>
          <p:cNvPr id="19" name="line19"/>
          <p:cNvSpPr/>
          <p:nvPr/>
        </p:nvSpPr>
        <p:spPr>
          <a:xfrm>
            <a:off x="731520" y="3401568"/>
            <a:ext cx="10725912" cy="0"/>
          </a:xfrm>
          <a:prstGeom prst="line">
            <a:avLst/>
          </a:prstGeom>
          <a:ln w="9525">
            <a:solidFill>
              <a:srgbClr val="DCE0E8"/>
            </a:solidFill>
          </a:ln>
        </p:spPr>
        <p:txBody>
          <a:bodyPr/>
          <a:lstStyle/>
          <a:p>
            <a:endParaRPr/>
          </a:p>
        </p:txBody>
      </p:sp>
      <p:sp>
        <p:nvSpPr>
          <p:cNvPr id="20" name="bar1"/>
          <p:cNvSpPr/>
          <p:nvPr/>
        </p:nvSpPr>
        <p:spPr>
          <a:xfrm>
            <a:off x="731520" y="3749039"/>
            <a:ext cx="68580" cy="256032"/>
          </a:xfrm>
          <a:prstGeom prst="rect">
            <a:avLst/>
          </a:prstGeom>
          <a:solidFill>
            <a:srgbClr val="1E2761"/>
          </a:solidFill>
          <a:ln>
            <a:noFill/>
          </a:ln>
        </p:spPr>
        <p:txBody>
          <a:bodyPr/>
          <a:lstStyle/>
          <a:p>
            <a:endParaRPr/>
          </a:p>
        </p:txBody>
      </p:sp>
      <p:sp>
        <p:nvSpPr>
          <p:cNvPr id="21" name="bh1"/>
          <p:cNvSpPr txBox="1"/>
          <p:nvPr/>
        </p:nvSpPr>
        <p:spPr>
          <a:xfrm>
            <a:off x="932688" y="3703320"/>
            <a:ext cx="10524744" cy="310896"/>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법원</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법원</a:t>
            </a:r>
            <a:r>
              <a:rPr lang="ko-KR" sz="1300" b="1" dirty="0">
                <a:solidFill>
                  <a:srgbClr val="1E2761"/>
                </a:solidFill>
                <a:latin typeface="Pretendard"/>
                <a:ea typeface="Pretendard"/>
                <a:cs typeface="Pretendard"/>
              </a:rPr>
              <a:t>행정처</a:t>
            </a:r>
            <a:r>
              <a:rPr lang="en-US" altLang="ko-KR" sz="1300" b="1" dirty="0">
                <a:solidFill>
                  <a:srgbClr val="1E2761"/>
                </a:solidFill>
                <a:latin typeface="Pretendard"/>
                <a:ea typeface="Pretendard"/>
                <a:cs typeface="Pretendard"/>
              </a:rPr>
              <a:t>)</a:t>
            </a:r>
            <a:endParaRPr lang="ko-KR" sz="1300" b="1" dirty="0">
              <a:solidFill>
                <a:srgbClr val="1E2761"/>
              </a:solidFill>
              <a:latin typeface="Pretendard"/>
              <a:ea typeface="Pretendard"/>
              <a:cs typeface="Pretendard"/>
            </a:endParaRPr>
          </a:p>
        </p:txBody>
      </p:sp>
      <p:sp>
        <p:nvSpPr>
          <p:cNvPr id="22" name="bb1"/>
          <p:cNvSpPr txBox="1"/>
          <p:nvPr/>
        </p:nvSpPr>
        <p:spPr>
          <a:xfrm>
            <a:off x="932688" y="4032504"/>
            <a:ext cx="10524744" cy="411480"/>
          </a:xfrm>
          <a:prstGeom prst="rect">
            <a:avLst/>
          </a:prstGeom>
          <a:noFill/>
        </p:spPr>
        <p:txBody>
          <a:bodyPr wrap="square" lIns="0" tIns="27432" rIns="0" bIns="27432" anchor="t">
            <a:noAutofit/>
          </a:bodyPr>
          <a:lstStyle/>
          <a:p>
            <a:pPr algn="l">
              <a:lnSpc>
                <a:spcPct val="118000"/>
              </a:lnSpc>
              <a:spcAft>
                <a:spcPts val="400"/>
              </a:spcAft>
            </a:pPr>
            <a:r>
              <a:rPr lang="ko-KR" sz="1250" b="1" dirty="0">
                <a:solidFill>
                  <a:srgbClr val="222633"/>
                </a:solidFill>
                <a:latin typeface="Pretendard"/>
                <a:ea typeface="Pretendard"/>
                <a:cs typeface="Pretendard"/>
              </a:rPr>
              <a:t>촉법소년 보호사건의 처리결과</a:t>
            </a:r>
          </a:p>
          <a:p>
            <a:pPr algn="l">
              <a:lnSpc>
                <a:spcPct val="118000"/>
              </a:lnSpc>
              <a:spcAft>
                <a:spcPts val="400"/>
              </a:spcAft>
            </a:pPr>
            <a:r>
              <a:rPr lang="ko-KR" sz="1150" b="0" dirty="0">
                <a:solidFill>
                  <a:srgbClr val="464D5C"/>
                </a:solidFill>
                <a:latin typeface="Pretendard"/>
                <a:ea typeface="Pretendard"/>
                <a:cs typeface="Pretendard"/>
              </a:rPr>
              <a:t>보호처분·심리불개시·불처분 등이다.</a:t>
            </a:r>
          </a:p>
        </p:txBody>
      </p:sp>
      <p:sp>
        <p:nvSpPr>
          <p:cNvPr id="23" name="line23"/>
          <p:cNvSpPr/>
          <p:nvPr/>
        </p:nvSpPr>
        <p:spPr>
          <a:xfrm>
            <a:off x="731520" y="4800600"/>
            <a:ext cx="10725912" cy="0"/>
          </a:xfrm>
          <a:prstGeom prst="line">
            <a:avLst/>
          </a:prstGeom>
          <a:ln w="9525">
            <a:solidFill>
              <a:srgbClr val="DCE0E8"/>
            </a:solidFill>
          </a:ln>
        </p:spPr>
        <p:txBody>
          <a:bodyPr/>
          <a:lstStyle/>
          <a:p>
            <a:endParaRPr/>
          </a:p>
        </p:txBody>
      </p:sp>
      <p:sp>
        <p:nvSpPr>
          <p:cNvPr id="24" name="bar2"/>
          <p:cNvSpPr/>
          <p:nvPr/>
        </p:nvSpPr>
        <p:spPr>
          <a:xfrm>
            <a:off x="731520" y="5148072"/>
            <a:ext cx="68580" cy="256032"/>
          </a:xfrm>
          <a:prstGeom prst="rect">
            <a:avLst/>
          </a:prstGeom>
          <a:solidFill>
            <a:srgbClr val="A8871C"/>
          </a:solidFill>
          <a:ln>
            <a:noFill/>
          </a:ln>
        </p:spPr>
        <p:txBody>
          <a:bodyPr/>
          <a:lstStyle/>
          <a:p>
            <a:endParaRPr/>
          </a:p>
        </p:txBody>
      </p:sp>
      <p:sp>
        <p:nvSpPr>
          <p:cNvPr id="25" name="bh2"/>
          <p:cNvSpPr txBox="1"/>
          <p:nvPr/>
        </p:nvSpPr>
        <p:spPr>
          <a:xfrm>
            <a:off x="932688" y="5102352"/>
            <a:ext cx="10524744" cy="310896"/>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검찰</a:t>
            </a:r>
          </a:p>
        </p:txBody>
      </p:sp>
      <p:sp>
        <p:nvSpPr>
          <p:cNvPr id="26" name="bb2"/>
          <p:cNvSpPr txBox="1"/>
          <p:nvPr/>
        </p:nvSpPr>
        <p:spPr>
          <a:xfrm>
            <a:off x="932688" y="5431536"/>
            <a:ext cx="10524744" cy="411480"/>
          </a:xfrm>
          <a:prstGeom prst="rect">
            <a:avLst/>
          </a:prstGeom>
          <a:noFill/>
        </p:spPr>
        <p:txBody>
          <a:bodyPr wrap="square" lIns="0" tIns="27432" rIns="0" bIns="27432" anchor="t">
            <a:noAutofit/>
          </a:bodyPr>
          <a:lstStyle/>
          <a:p>
            <a:pPr algn="l">
              <a:lnSpc>
                <a:spcPct val="118000"/>
              </a:lnSpc>
              <a:spcAft>
                <a:spcPts val="400"/>
              </a:spcAft>
            </a:pPr>
            <a:r>
              <a:rPr lang="ko-KR" sz="1250" b="1" dirty="0">
                <a:solidFill>
                  <a:srgbClr val="222633"/>
                </a:solidFill>
                <a:latin typeface="Pretendard"/>
                <a:ea typeface="Pretendard"/>
                <a:cs typeface="Pretendard"/>
              </a:rPr>
              <a:t>14~18세 범죄소년 검찰 처분결과</a:t>
            </a:r>
          </a:p>
          <a:p>
            <a:pPr algn="l">
              <a:lnSpc>
                <a:spcPct val="118000"/>
              </a:lnSpc>
              <a:spcAft>
                <a:spcPts val="400"/>
              </a:spcAft>
            </a:pPr>
            <a:r>
              <a:rPr lang="ko-KR" sz="1150" b="0" dirty="0">
                <a:solidFill>
                  <a:srgbClr val="464D5C"/>
                </a:solidFill>
                <a:latin typeface="Pretendard"/>
                <a:ea typeface="Pretendard"/>
                <a:cs typeface="Pretendard"/>
              </a:rPr>
              <a:t>기소·소년부 송치·불기소 등이다.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32383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이 자료들은 동일 집단을 추적한 연속 처리비율이 아니다. 서로 다른 기관의 수치로 전환율을 계산하지 않는다. · 경찰청·법원행정처 자료를 수록한 성평등가족부 2026.7.14. 공식 발표</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연령별 소년부송치의 변화</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촉법소년 소년부송치와 범죄소년 검거의 변화</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2020~2024년 촉법소년 소년부송치 인원은 늘고, 범죄소년 검거인원은 줄었다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tn0"/>
          <p:cNvSpPr txBox="1"/>
          <p:nvPr/>
        </p:nvSpPr>
        <p:spPr>
          <a:xfrm>
            <a:off x="718820" y="2468880"/>
            <a:ext cx="5175504" cy="329184"/>
          </a:xfrm>
          <a:prstGeom prst="rect">
            <a:avLst/>
          </a:prstGeom>
          <a:noFill/>
        </p:spPr>
        <p:txBody>
          <a:bodyPr wrap="square" lIns="0" tIns="27432" rIns="0" bIns="27432" anchor="ctr">
            <a:noAutofit/>
          </a:bodyPr>
          <a:lstStyle/>
          <a:p>
            <a:pPr algn="ctr">
              <a:lnSpc>
                <a:spcPct val="118000"/>
              </a:lnSpc>
            </a:pPr>
            <a:r>
              <a:rPr lang="ko-KR" sz="1350" b="1" dirty="0">
                <a:solidFill>
                  <a:srgbClr val="1E2761"/>
                </a:solidFill>
                <a:latin typeface="Pretendard"/>
                <a:ea typeface="Pretendard"/>
                <a:cs typeface="Pretendard"/>
              </a:rPr>
              <a:t>촉법소년</a:t>
            </a:r>
          </a:p>
        </p:txBody>
      </p:sp>
      <p:sp>
        <p:nvSpPr>
          <p:cNvPr id="17" name="tl0"/>
          <p:cNvSpPr txBox="1"/>
          <p:nvPr/>
        </p:nvSpPr>
        <p:spPr>
          <a:xfrm>
            <a:off x="718820" y="2816352"/>
            <a:ext cx="5175504" cy="256032"/>
          </a:xfrm>
          <a:prstGeom prst="rect">
            <a:avLst/>
          </a:prstGeom>
          <a:noFill/>
        </p:spPr>
        <p:txBody>
          <a:bodyPr wrap="square" lIns="0" tIns="27432" rIns="0" bIns="27432" anchor="ctr">
            <a:noAutofit/>
          </a:bodyPr>
          <a:lstStyle/>
          <a:p>
            <a:pPr algn="ctr">
              <a:lnSpc>
                <a:spcPct val="118000"/>
              </a:lnSpc>
            </a:pPr>
            <a:r>
              <a:rPr lang="ko-KR" sz="1150" b="0" dirty="0">
                <a:solidFill>
                  <a:srgbClr val="464D5C"/>
                </a:solidFill>
                <a:latin typeface="Pretendard"/>
                <a:ea typeface="Pretendard"/>
                <a:cs typeface="Pretendard"/>
              </a:rPr>
              <a:t>집계: 소년부송치 인원(경찰청·법무부) · 2020년 → 2024년</a:t>
            </a:r>
          </a:p>
        </p:txBody>
      </p:sp>
      <p:sp>
        <p:nvSpPr>
          <p:cNvPr id="18" name="tv0"/>
          <p:cNvSpPr txBox="1"/>
          <p:nvPr/>
        </p:nvSpPr>
        <p:spPr>
          <a:xfrm>
            <a:off x="718820" y="3108960"/>
            <a:ext cx="5175504" cy="566928"/>
          </a:xfrm>
          <a:prstGeom prst="rect">
            <a:avLst/>
          </a:prstGeom>
          <a:noFill/>
        </p:spPr>
        <p:txBody>
          <a:bodyPr wrap="square" lIns="0" tIns="27432" rIns="0" bIns="27432" anchor="ctr">
            <a:noAutofit/>
          </a:bodyPr>
          <a:lstStyle/>
          <a:p>
            <a:pPr algn="ctr">
              <a:lnSpc>
                <a:spcPct val="118000"/>
              </a:lnSpc>
            </a:pPr>
            <a:r>
              <a:rPr lang="ko-KR" sz="2250" b="1" dirty="0">
                <a:solidFill>
                  <a:srgbClr val="1E2761"/>
                </a:solidFill>
                <a:latin typeface="Pretendard"/>
                <a:ea typeface="Pretendard"/>
                <a:cs typeface="Pretendard"/>
              </a:rPr>
              <a:t>9,606명 → </a:t>
            </a:r>
            <a:r>
              <a:rPr lang="ko-KR" sz="2250" b="1" dirty="0">
                <a:solidFill>
                  <a:schemeClr val="accent6">
                    <a:lumMod val="75000"/>
                  </a:schemeClr>
                </a:solidFill>
                <a:latin typeface="Pretendard"/>
                <a:ea typeface="Pretendard"/>
                <a:cs typeface="Pretendard"/>
              </a:rPr>
              <a:t>20,814명</a:t>
            </a:r>
          </a:p>
        </p:txBody>
      </p:sp>
      <p:sp>
        <p:nvSpPr>
          <p:cNvPr id="19" name="td0"/>
          <p:cNvSpPr txBox="1"/>
          <p:nvPr/>
        </p:nvSpPr>
        <p:spPr>
          <a:xfrm>
            <a:off x="718820" y="3712464"/>
            <a:ext cx="5175504" cy="292608"/>
          </a:xfrm>
          <a:prstGeom prst="rect">
            <a:avLst/>
          </a:prstGeom>
          <a:noFill/>
        </p:spPr>
        <p:txBody>
          <a:bodyPr wrap="square" lIns="0" tIns="27432" rIns="0" bIns="27432" anchor="ctr">
            <a:noAutofit/>
          </a:bodyPr>
          <a:lstStyle/>
          <a:p>
            <a:pPr algn="ctr">
              <a:lnSpc>
                <a:spcPct val="118000"/>
              </a:lnSpc>
            </a:pPr>
            <a:r>
              <a:rPr lang="ko-KR" sz="1600" b="1" dirty="0">
                <a:solidFill>
                  <a:schemeClr val="accent6">
                    <a:lumMod val="75000"/>
                  </a:schemeClr>
                </a:solidFill>
                <a:latin typeface="Pretendard"/>
                <a:ea typeface="Pretendard"/>
                <a:cs typeface="Pretendard"/>
              </a:rPr>
              <a:t>+11,208명 · +116.7%</a:t>
            </a:r>
          </a:p>
        </p:txBody>
      </p:sp>
      <p:sp>
        <p:nvSpPr>
          <p:cNvPr id="20" name="tn1"/>
          <p:cNvSpPr txBox="1"/>
          <p:nvPr/>
        </p:nvSpPr>
        <p:spPr>
          <a:xfrm>
            <a:off x="6269228" y="2487930"/>
            <a:ext cx="5175504" cy="329184"/>
          </a:xfrm>
          <a:prstGeom prst="rect">
            <a:avLst/>
          </a:prstGeom>
          <a:noFill/>
        </p:spPr>
        <p:txBody>
          <a:bodyPr wrap="square" lIns="0" tIns="27432" rIns="0" bIns="27432" anchor="ctr">
            <a:noAutofit/>
          </a:bodyPr>
          <a:lstStyle/>
          <a:p>
            <a:pPr algn="ctr">
              <a:lnSpc>
                <a:spcPct val="118000"/>
              </a:lnSpc>
            </a:pPr>
            <a:r>
              <a:rPr lang="ko-KR" sz="1350" b="1" dirty="0">
                <a:solidFill>
                  <a:srgbClr val="1E2761"/>
                </a:solidFill>
                <a:latin typeface="Pretendard"/>
                <a:ea typeface="Pretendard"/>
                <a:cs typeface="Pretendard"/>
              </a:rPr>
              <a:t>범죄소년</a:t>
            </a:r>
          </a:p>
        </p:txBody>
      </p:sp>
      <p:sp>
        <p:nvSpPr>
          <p:cNvPr id="21" name="tl1"/>
          <p:cNvSpPr txBox="1"/>
          <p:nvPr/>
        </p:nvSpPr>
        <p:spPr>
          <a:xfrm>
            <a:off x="6269228" y="2835402"/>
            <a:ext cx="5175504" cy="256032"/>
          </a:xfrm>
          <a:prstGeom prst="rect">
            <a:avLst/>
          </a:prstGeom>
          <a:noFill/>
        </p:spPr>
        <p:txBody>
          <a:bodyPr wrap="square" lIns="0" tIns="27432" rIns="0" bIns="27432" anchor="ctr">
            <a:noAutofit/>
          </a:bodyPr>
          <a:lstStyle/>
          <a:p>
            <a:pPr algn="ctr">
              <a:lnSpc>
                <a:spcPct val="118000"/>
              </a:lnSpc>
            </a:pPr>
            <a:r>
              <a:rPr lang="ko-KR" sz="1150" b="0" dirty="0">
                <a:solidFill>
                  <a:srgbClr val="464D5C"/>
                </a:solidFill>
                <a:latin typeface="Pretendard"/>
                <a:ea typeface="Pretendard"/>
                <a:cs typeface="Pretendard"/>
              </a:rPr>
              <a:t>집계: 경찰청 검거인원 · 2020년 → 2024년</a:t>
            </a:r>
          </a:p>
        </p:txBody>
      </p:sp>
      <p:sp>
        <p:nvSpPr>
          <p:cNvPr id="22" name="tv1"/>
          <p:cNvSpPr txBox="1"/>
          <p:nvPr/>
        </p:nvSpPr>
        <p:spPr>
          <a:xfrm>
            <a:off x="6269228" y="3128010"/>
            <a:ext cx="5175504" cy="566928"/>
          </a:xfrm>
          <a:prstGeom prst="rect">
            <a:avLst/>
          </a:prstGeom>
          <a:noFill/>
        </p:spPr>
        <p:txBody>
          <a:bodyPr wrap="square" lIns="0" tIns="27432" rIns="0" bIns="27432" anchor="ctr">
            <a:noAutofit/>
          </a:bodyPr>
          <a:lstStyle/>
          <a:p>
            <a:pPr algn="ctr">
              <a:lnSpc>
                <a:spcPct val="118000"/>
              </a:lnSpc>
            </a:pPr>
            <a:r>
              <a:rPr lang="ko-KR" sz="2250" b="1" dirty="0">
                <a:solidFill>
                  <a:srgbClr val="1E2761"/>
                </a:solidFill>
                <a:latin typeface="Pretendard"/>
                <a:ea typeface="Pretendard"/>
                <a:cs typeface="Pretendard"/>
              </a:rPr>
              <a:t>64,579명 → </a:t>
            </a:r>
            <a:r>
              <a:rPr lang="ko-KR" sz="2250" b="1" dirty="0">
                <a:solidFill>
                  <a:srgbClr val="C00000"/>
                </a:solidFill>
                <a:latin typeface="Pretendard"/>
                <a:ea typeface="Pretendard"/>
                <a:cs typeface="Pretendard"/>
              </a:rPr>
              <a:t>61,729명</a:t>
            </a:r>
          </a:p>
        </p:txBody>
      </p:sp>
      <p:sp>
        <p:nvSpPr>
          <p:cNvPr id="23" name="td1"/>
          <p:cNvSpPr txBox="1"/>
          <p:nvPr/>
        </p:nvSpPr>
        <p:spPr>
          <a:xfrm>
            <a:off x="6269228" y="3731514"/>
            <a:ext cx="5175504" cy="292608"/>
          </a:xfrm>
          <a:prstGeom prst="rect">
            <a:avLst/>
          </a:prstGeom>
          <a:noFill/>
        </p:spPr>
        <p:txBody>
          <a:bodyPr wrap="square" lIns="0" tIns="27432" rIns="0" bIns="27432" anchor="ctr">
            <a:noAutofit/>
          </a:bodyPr>
          <a:lstStyle/>
          <a:p>
            <a:pPr algn="ctr">
              <a:lnSpc>
                <a:spcPct val="118000"/>
              </a:lnSpc>
            </a:pPr>
            <a:r>
              <a:rPr lang="ko-KR" sz="1300" b="1" dirty="0">
                <a:solidFill>
                  <a:srgbClr val="C00000"/>
                </a:solidFill>
                <a:latin typeface="Pretendard"/>
                <a:ea typeface="Pretendard"/>
                <a:cs typeface="Pretendard"/>
              </a:rPr>
              <a:t>−2,850명 · −4.4%</a:t>
            </a:r>
          </a:p>
        </p:txBody>
      </p:sp>
      <p:sp>
        <p:nvSpPr>
          <p:cNvPr id="24" name="line24"/>
          <p:cNvSpPr/>
          <p:nvPr/>
        </p:nvSpPr>
        <p:spPr>
          <a:xfrm>
            <a:off x="731520" y="4565650"/>
            <a:ext cx="10725912" cy="0"/>
          </a:xfrm>
          <a:prstGeom prst="line">
            <a:avLst/>
          </a:prstGeom>
          <a:ln w="9525">
            <a:solidFill>
              <a:srgbClr val="DCE0E8"/>
            </a:solidFill>
          </a:ln>
        </p:spPr>
        <p:txBody>
          <a:bodyPr/>
          <a:lstStyle/>
          <a:p>
            <a:endParaRPr/>
          </a:p>
        </p:txBody>
      </p:sp>
      <p:sp>
        <p:nvSpPr>
          <p:cNvPr id="25" name="tr0"/>
          <p:cNvSpPr txBox="1"/>
          <p:nvPr/>
        </p:nvSpPr>
        <p:spPr>
          <a:xfrm>
            <a:off x="731520" y="4903470"/>
            <a:ext cx="2240280" cy="790956"/>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두 수치를 함께 읽을 때</a:t>
            </a:r>
          </a:p>
        </p:txBody>
      </p:sp>
      <p:sp>
        <p:nvSpPr>
          <p:cNvPr id="26" name="tb0"/>
          <p:cNvSpPr txBox="1"/>
          <p:nvPr/>
        </p:nvSpPr>
        <p:spPr>
          <a:xfrm>
            <a:off x="3154680" y="4903470"/>
            <a:ext cx="8302752" cy="790956"/>
          </a:xfrm>
          <a:prstGeom prst="rect">
            <a:avLst/>
          </a:prstGeom>
          <a:noFill/>
        </p:spPr>
        <p:txBody>
          <a:bodyPr wrap="square" lIns="0" tIns="27432" rIns="0" bIns="27432" anchor="ctr">
            <a:noAutofit/>
          </a:bodyPr>
          <a:lstStyle/>
          <a:p>
            <a:pPr algn="l">
              <a:lnSpc>
                <a:spcPct val="118000"/>
              </a:lnSpc>
              <a:spcAft>
                <a:spcPts val="500"/>
              </a:spcAft>
            </a:pPr>
            <a:r>
              <a:rPr lang="ko-KR" altLang="en-US" sz="1250" b="1" dirty="0">
                <a:solidFill>
                  <a:srgbClr val="222633"/>
                </a:solidFill>
                <a:latin typeface="Pretendard"/>
                <a:ea typeface="Pretendard"/>
                <a:cs typeface="Pretendard"/>
              </a:rPr>
              <a:t>왼쪽은 경찰이</a:t>
            </a:r>
            <a:r>
              <a:rPr lang="ko-KR" sz="1250" b="1" dirty="0">
                <a:solidFill>
                  <a:srgbClr val="222633"/>
                </a:solidFill>
                <a:latin typeface="Pretendard"/>
                <a:ea typeface="Pretendard"/>
                <a:cs typeface="Pretendard"/>
              </a:rPr>
              <a:t> 소년부로 보낸 인원, </a:t>
            </a:r>
            <a:r>
              <a:rPr lang="ko-KR" altLang="en-US" sz="1250" b="1" dirty="0">
                <a:solidFill>
                  <a:srgbClr val="222633"/>
                </a:solidFill>
                <a:latin typeface="Pretendard"/>
                <a:ea typeface="Pretendard"/>
                <a:cs typeface="Pretendard"/>
              </a:rPr>
              <a:t>오른</a:t>
            </a:r>
            <a:r>
              <a:rPr lang="ko-KR" sz="1250" b="1" dirty="0">
                <a:solidFill>
                  <a:srgbClr val="222633"/>
                </a:solidFill>
                <a:latin typeface="Pretendard"/>
                <a:ea typeface="Pretendard"/>
                <a:cs typeface="Pretendard"/>
              </a:rPr>
              <a:t>쪽은 경찰이 검거한 인원이다.</a:t>
            </a:r>
          </a:p>
          <a:p>
            <a:pPr algn="l">
              <a:lnSpc>
                <a:spcPct val="118000"/>
              </a:lnSpc>
              <a:spcAft>
                <a:spcPts val="500"/>
              </a:spcAft>
            </a:pPr>
            <a:r>
              <a:rPr lang="ko-KR" altLang="en-US" sz="1150" b="0" dirty="0">
                <a:solidFill>
                  <a:srgbClr val="464D5C"/>
                </a:solidFill>
                <a:latin typeface="Pretendard"/>
                <a:ea typeface="Pretendard"/>
                <a:cs typeface="Pretendard"/>
              </a:rPr>
              <a:t>둘 간의 비교는 적절치 않으며</a:t>
            </a:r>
            <a:r>
              <a:rPr lang="en-US" altLang="ko-KR" sz="1150" b="0" dirty="0">
                <a:solidFill>
                  <a:srgbClr val="464D5C"/>
                </a:solidFill>
                <a:latin typeface="Pretendard"/>
                <a:ea typeface="Pretendard"/>
                <a:cs typeface="Pretendard"/>
              </a:rPr>
              <a:t>, </a:t>
            </a:r>
            <a:r>
              <a:rPr lang="ko-KR" sz="1150" b="0" dirty="0">
                <a:solidFill>
                  <a:srgbClr val="464D5C"/>
                </a:solidFill>
                <a:latin typeface="Pretendard"/>
                <a:ea typeface="Pretendard"/>
                <a:cs typeface="Pretendard"/>
              </a:rPr>
              <a:t>각 집계 안에서의 변화로 읽는다.</a:t>
            </a:r>
          </a:p>
          <a:p>
            <a:pPr algn="l">
              <a:lnSpc>
                <a:spcPct val="118000"/>
              </a:lnSpc>
            </a:pPr>
            <a:r>
              <a:rPr lang="ko-KR" sz="1150" b="0" dirty="0">
                <a:solidFill>
                  <a:srgbClr val="464D5C"/>
                </a:solidFill>
                <a:latin typeface="Pretendard"/>
                <a:ea typeface="Pretendard"/>
                <a:cs typeface="Pretendard"/>
              </a:rPr>
              <a:t>2020년은 코로나19 시기로 소년사법 유입이 줄었던 해라 기준연도의 영향을 함께 본다.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2026 청소년정책 포럼 자료집 「촉법소년 나이대별 소년부송치 통계」(경찰청·법무부) · 경찰청 계열 통계 — 한국형사·법무정책연구원 「경찰의 죄종별 소년범 현황」</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촉법소년 법원 처리결과</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증가는 어느 연령에서 나타났는가</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절대 인원은 13세가 가장 많지만, 2020년 대비 증가율은 10~12세에서 더 크게 나타났다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ah1"/>
          <p:cNvSpPr txBox="1"/>
          <p:nvPr/>
        </p:nvSpPr>
        <p:spPr>
          <a:xfrm>
            <a:off x="2377440" y="2240280"/>
            <a:ext cx="5669280" cy="237744"/>
          </a:xfrm>
          <a:prstGeom prst="rect">
            <a:avLst/>
          </a:prstGeom>
          <a:noFill/>
        </p:spPr>
        <p:txBody>
          <a:bodyPr wrap="square" lIns="0" tIns="27432" rIns="0" bIns="27432" anchor="ctr">
            <a:noAutofit/>
          </a:bodyPr>
          <a:lstStyle/>
          <a:p>
            <a:pPr algn="l">
              <a:lnSpc>
                <a:spcPct val="118000"/>
              </a:lnSpc>
            </a:pPr>
            <a:r>
              <a:rPr lang="ko-KR" sz="1100" b="0" dirty="0">
                <a:solidFill>
                  <a:srgbClr val="464D5C"/>
                </a:solidFill>
                <a:latin typeface="Pretendard"/>
                <a:ea typeface="Pretendard"/>
                <a:cs typeface="Pretendard"/>
              </a:rPr>
              <a:t>위 2020 · 아래 2024 · 소년부송치 인원</a:t>
            </a:r>
          </a:p>
        </p:txBody>
      </p:sp>
      <p:sp>
        <p:nvSpPr>
          <p:cNvPr id="17" name="ah2"/>
          <p:cNvSpPr txBox="1"/>
          <p:nvPr/>
        </p:nvSpPr>
        <p:spPr>
          <a:xfrm>
            <a:off x="8412480" y="2240280"/>
            <a:ext cx="3044952" cy="237744"/>
          </a:xfrm>
          <a:prstGeom prst="rect">
            <a:avLst/>
          </a:prstGeom>
          <a:noFill/>
        </p:spPr>
        <p:txBody>
          <a:bodyPr wrap="square" lIns="0" tIns="27432" rIns="0" bIns="27432" anchor="ctr">
            <a:noAutofit/>
          </a:bodyPr>
          <a:lstStyle/>
          <a:p>
            <a:pPr algn="r">
              <a:lnSpc>
                <a:spcPct val="118000"/>
              </a:lnSpc>
            </a:pPr>
            <a:r>
              <a:rPr lang="ko-KR" sz="1100" b="0" dirty="0">
                <a:solidFill>
                  <a:srgbClr val="464D5C"/>
                </a:solidFill>
                <a:latin typeface="Pretendard"/>
                <a:ea typeface="Pretendard"/>
                <a:cs typeface="Pretendard"/>
              </a:rPr>
              <a:t>2020 대비 증가율</a:t>
            </a:r>
          </a:p>
        </p:txBody>
      </p:sp>
      <p:sp>
        <p:nvSpPr>
          <p:cNvPr id="18" name="an0"/>
          <p:cNvSpPr txBox="1"/>
          <p:nvPr/>
        </p:nvSpPr>
        <p:spPr>
          <a:xfrm>
            <a:off x="731520" y="2532888"/>
            <a:ext cx="1463040" cy="457200"/>
          </a:xfrm>
          <a:prstGeom prst="rect">
            <a:avLst/>
          </a:prstGeom>
          <a:noFill/>
        </p:spPr>
        <p:txBody>
          <a:bodyPr wrap="square" lIns="0" tIns="27432" rIns="0" bIns="27432" anchor="ctr">
            <a:noAutofit/>
          </a:bodyPr>
          <a:lstStyle/>
          <a:p>
            <a:pPr algn="l">
              <a:lnSpc>
                <a:spcPct val="118000"/>
              </a:lnSpc>
            </a:pPr>
            <a:r>
              <a:rPr lang="ko-KR" sz="1350" b="1" dirty="0">
                <a:solidFill>
                  <a:srgbClr val="1E2761"/>
                </a:solidFill>
                <a:latin typeface="Pretendard"/>
                <a:ea typeface="Pretendard"/>
                <a:cs typeface="Pretendard"/>
              </a:rPr>
              <a:t>10세</a:t>
            </a:r>
          </a:p>
        </p:txBody>
      </p:sp>
      <p:sp>
        <p:nvSpPr>
          <p:cNvPr id="19" name="aa0"/>
          <p:cNvSpPr/>
          <p:nvPr/>
        </p:nvSpPr>
        <p:spPr>
          <a:xfrm>
            <a:off x="2377440" y="2569464"/>
            <a:ext cx="286600" cy="146304"/>
          </a:xfrm>
          <a:prstGeom prst="rect">
            <a:avLst/>
          </a:prstGeom>
          <a:solidFill>
            <a:srgbClr val="C9CEDA"/>
          </a:solidFill>
          <a:ln>
            <a:noFill/>
          </a:ln>
        </p:spPr>
        <p:txBody>
          <a:bodyPr/>
          <a:lstStyle/>
          <a:p>
            <a:endParaRPr/>
          </a:p>
        </p:txBody>
      </p:sp>
      <p:sp>
        <p:nvSpPr>
          <p:cNvPr id="20" name="aat0"/>
          <p:cNvSpPr txBox="1"/>
          <p:nvPr/>
        </p:nvSpPr>
        <p:spPr>
          <a:xfrm>
            <a:off x="2755480" y="2514600"/>
            <a:ext cx="1280160" cy="219456"/>
          </a:xfrm>
          <a:prstGeom prst="rect">
            <a:avLst/>
          </a:prstGeom>
          <a:noFill/>
        </p:spPr>
        <p:txBody>
          <a:bodyPr wrap="square" lIns="0" tIns="27432" rIns="0" bIns="27432" anchor="ctr">
            <a:noAutofit/>
          </a:bodyPr>
          <a:lstStyle/>
          <a:p>
            <a:pPr algn="l">
              <a:lnSpc>
                <a:spcPct val="118000"/>
              </a:lnSpc>
            </a:pPr>
            <a:r>
              <a:rPr lang="ko-KR" sz="1150" b="0" dirty="0">
                <a:solidFill>
                  <a:srgbClr val="464D5C"/>
                </a:solidFill>
                <a:latin typeface="Pretendard"/>
                <a:ea typeface="Pretendard"/>
                <a:cs typeface="Pretendard"/>
              </a:rPr>
              <a:t>530</a:t>
            </a:r>
          </a:p>
        </p:txBody>
      </p:sp>
      <p:sp>
        <p:nvSpPr>
          <p:cNvPr id="21" name="ab0"/>
          <p:cNvSpPr/>
          <p:nvPr/>
        </p:nvSpPr>
        <p:spPr>
          <a:xfrm>
            <a:off x="2377440" y="2770632"/>
            <a:ext cx="1006886" cy="146304"/>
          </a:xfrm>
          <a:prstGeom prst="rect">
            <a:avLst/>
          </a:prstGeom>
          <a:solidFill>
            <a:srgbClr val="5A6699"/>
          </a:solidFill>
          <a:ln>
            <a:noFill/>
          </a:ln>
        </p:spPr>
        <p:txBody>
          <a:bodyPr/>
          <a:lstStyle/>
          <a:p>
            <a:endParaRPr/>
          </a:p>
        </p:txBody>
      </p:sp>
      <p:sp>
        <p:nvSpPr>
          <p:cNvPr id="22" name="abt0"/>
          <p:cNvSpPr txBox="1"/>
          <p:nvPr/>
        </p:nvSpPr>
        <p:spPr>
          <a:xfrm>
            <a:off x="3475766" y="2715768"/>
            <a:ext cx="1280160" cy="219456"/>
          </a:xfrm>
          <a:prstGeom prst="rect">
            <a:avLst/>
          </a:prstGeom>
          <a:noFill/>
        </p:spPr>
        <p:txBody>
          <a:bodyPr wrap="square" lIns="0" tIns="27432" rIns="0" bIns="27432" anchor="ctr">
            <a:noAutofit/>
          </a:bodyPr>
          <a:lstStyle/>
          <a:p>
            <a:pPr algn="l">
              <a:lnSpc>
                <a:spcPct val="118000"/>
              </a:lnSpc>
            </a:pPr>
            <a:r>
              <a:rPr lang="ko-KR" sz="1200" b="1" dirty="0">
                <a:solidFill>
                  <a:srgbClr val="222633"/>
                </a:solidFill>
                <a:latin typeface="Pretendard"/>
                <a:ea typeface="Pretendard"/>
                <a:cs typeface="Pretendard"/>
              </a:rPr>
              <a:t>1,862</a:t>
            </a:r>
          </a:p>
        </p:txBody>
      </p:sp>
      <p:sp>
        <p:nvSpPr>
          <p:cNvPr id="23" name="ap0"/>
          <p:cNvSpPr txBox="1"/>
          <p:nvPr/>
        </p:nvSpPr>
        <p:spPr>
          <a:xfrm>
            <a:off x="8412480" y="2606040"/>
            <a:ext cx="3044952" cy="310896"/>
          </a:xfrm>
          <a:prstGeom prst="rect">
            <a:avLst/>
          </a:prstGeom>
          <a:noFill/>
        </p:spPr>
        <p:txBody>
          <a:bodyPr wrap="square" lIns="0" tIns="27432" rIns="0" bIns="27432" anchor="ctr">
            <a:noAutofit/>
          </a:bodyPr>
          <a:lstStyle/>
          <a:p>
            <a:pPr algn="r">
              <a:lnSpc>
                <a:spcPct val="118000"/>
              </a:lnSpc>
            </a:pPr>
            <a:r>
              <a:rPr lang="ko-KR" sz="1300" b="1" dirty="0">
                <a:solidFill>
                  <a:srgbClr val="A8871C"/>
                </a:solidFill>
                <a:latin typeface="Pretendard"/>
                <a:ea typeface="Pretendard"/>
                <a:cs typeface="Pretendard"/>
              </a:rPr>
              <a:t>+251.3%</a:t>
            </a:r>
          </a:p>
        </p:txBody>
      </p:sp>
      <p:sp>
        <p:nvSpPr>
          <p:cNvPr id="24" name="an1"/>
          <p:cNvSpPr txBox="1"/>
          <p:nvPr/>
        </p:nvSpPr>
        <p:spPr>
          <a:xfrm>
            <a:off x="731520" y="3063240"/>
            <a:ext cx="1463040" cy="457200"/>
          </a:xfrm>
          <a:prstGeom prst="rect">
            <a:avLst/>
          </a:prstGeom>
          <a:noFill/>
        </p:spPr>
        <p:txBody>
          <a:bodyPr wrap="square" lIns="0" tIns="27432" rIns="0" bIns="27432" anchor="ctr">
            <a:noAutofit/>
          </a:bodyPr>
          <a:lstStyle/>
          <a:p>
            <a:pPr algn="l">
              <a:lnSpc>
                <a:spcPct val="118000"/>
              </a:lnSpc>
            </a:pPr>
            <a:r>
              <a:rPr lang="ko-KR" sz="1350" b="1" dirty="0">
                <a:solidFill>
                  <a:srgbClr val="1E2761"/>
                </a:solidFill>
                <a:latin typeface="Pretendard"/>
                <a:ea typeface="Pretendard"/>
                <a:cs typeface="Pretendard"/>
              </a:rPr>
              <a:t>11세</a:t>
            </a:r>
          </a:p>
        </p:txBody>
      </p:sp>
      <p:sp>
        <p:nvSpPr>
          <p:cNvPr id="25" name="aa1"/>
          <p:cNvSpPr/>
          <p:nvPr/>
        </p:nvSpPr>
        <p:spPr>
          <a:xfrm>
            <a:off x="2377440" y="3099816"/>
            <a:ext cx="402862" cy="146304"/>
          </a:xfrm>
          <a:prstGeom prst="rect">
            <a:avLst/>
          </a:prstGeom>
          <a:solidFill>
            <a:srgbClr val="C9CEDA"/>
          </a:solidFill>
          <a:ln>
            <a:noFill/>
          </a:ln>
        </p:spPr>
        <p:txBody>
          <a:bodyPr/>
          <a:lstStyle/>
          <a:p>
            <a:endParaRPr/>
          </a:p>
        </p:txBody>
      </p:sp>
      <p:sp>
        <p:nvSpPr>
          <p:cNvPr id="26" name="aat1"/>
          <p:cNvSpPr txBox="1"/>
          <p:nvPr/>
        </p:nvSpPr>
        <p:spPr>
          <a:xfrm>
            <a:off x="2871742" y="3044952"/>
            <a:ext cx="1280160" cy="219456"/>
          </a:xfrm>
          <a:prstGeom prst="rect">
            <a:avLst/>
          </a:prstGeom>
          <a:noFill/>
        </p:spPr>
        <p:txBody>
          <a:bodyPr wrap="square" lIns="0" tIns="27432" rIns="0" bIns="27432" anchor="ctr">
            <a:noAutofit/>
          </a:bodyPr>
          <a:lstStyle/>
          <a:p>
            <a:pPr algn="l">
              <a:lnSpc>
                <a:spcPct val="118000"/>
              </a:lnSpc>
            </a:pPr>
            <a:r>
              <a:rPr lang="ko-KR" sz="1150" b="0" dirty="0">
                <a:solidFill>
                  <a:srgbClr val="464D5C"/>
                </a:solidFill>
                <a:latin typeface="Pretendard"/>
                <a:ea typeface="Pretendard"/>
                <a:cs typeface="Pretendard"/>
              </a:rPr>
              <a:t>745</a:t>
            </a:r>
          </a:p>
        </p:txBody>
      </p:sp>
      <p:sp>
        <p:nvSpPr>
          <p:cNvPr id="27" name="ab1"/>
          <p:cNvSpPr/>
          <p:nvPr/>
        </p:nvSpPr>
        <p:spPr>
          <a:xfrm>
            <a:off x="2377440" y="3300984"/>
            <a:ext cx="1553049" cy="146304"/>
          </a:xfrm>
          <a:prstGeom prst="rect">
            <a:avLst/>
          </a:prstGeom>
          <a:solidFill>
            <a:srgbClr val="5A6699"/>
          </a:solidFill>
          <a:ln>
            <a:noFill/>
          </a:ln>
        </p:spPr>
        <p:txBody>
          <a:bodyPr/>
          <a:lstStyle/>
          <a:p>
            <a:endParaRPr/>
          </a:p>
        </p:txBody>
      </p:sp>
      <p:sp>
        <p:nvSpPr>
          <p:cNvPr id="28" name="abt1"/>
          <p:cNvSpPr txBox="1"/>
          <p:nvPr/>
        </p:nvSpPr>
        <p:spPr>
          <a:xfrm>
            <a:off x="4021929" y="3246120"/>
            <a:ext cx="1280160" cy="219456"/>
          </a:xfrm>
          <a:prstGeom prst="rect">
            <a:avLst/>
          </a:prstGeom>
          <a:noFill/>
        </p:spPr>
        <p:txBody>
          <a:bodyPr wrap="square" lIns="0" tIns="27432" rIns="0" bIns="27432" anchor="ctr">
            <a:noAutofit/>
          </a:bodyPr>
          <a:lstStyle/>
          <a:p>
            <a:pPr algn="l">
              <a:lnSpc>
                <a:spcPct val="118000"/>
              </a:lnSpc>
            </a:pPr>
            <a:r>
              <a:rPr lang="ko-KR" sz="1200" b="1" dirty="0">
                <a:solidFill>
                  <a:srgbClr val="222633"/>
                </a:solidFill>
                <a:latin typeface="Pretendard"/>
                <a:ea typeface="Pretendard"/>
                <a:cs typeface="Pretendard"/>
              </a:rPr>
              <a:t>2,872</a:t>
            </a:r>
          </a:p>
        </p:txBody>
      </p:sp>
      <p:sp>
        <p:nvSpPr>
          <p:cNvPr id="29" name="ap1"/>
          <p:cNvSpPr txBox="1"/>
          <p:nvPr/>
        </p:nvSpPr>
        <p:spPr>
          <a:xfrm>
            <a:off x="8412480" y="3136392"/>
            <a:ext cx="3044952" cy="310896"/>
          </a:xfrm>
          <a:prstGeom prst="rect">
            <a:avLst/>
          </a:prstGeom>
          <a:noFill/>
        </p:spPr>
        <p:txBody>
          <a:bodyPr wrap="square" lIns="0" tIns="27432" rIns="0" bIns="27432" anchor="ctr">
            <a:noAutofit/>
          </a:bodyPr>
          <a:lstStyle/>
          <a:p>
            <a:pPr algn="r">
              <a:lnSpc>
                <a:spcPct val="118000"/>
              </a:lnSpc>
            </a:pPr>
            <a:r>
              <a:rPr lang="ko-KR" sz="1300" b="1" dirty="0">
                <a:solidFill>
                  <a:srgbClr val="A8871C"/>
                </a:solidFill>
                <a:latin typeface="Pretendard"/>
                <a:ea typeface="Pretendard"/>
                <a:cs typeface="Pretendard"/>
              </a:rPr>
              <a:t>+285.5%</a:t>
            </a:r>
          </a:p>
        </p:txBody>
      </p:sp>
      <p:sp>
        <p:nvSpPr>
          <p:cNvPr id="30" name="an2"/>
          <p:cNvSpPr txBox="1"/>
          <p:nvPr/>
        </p:nvSpPr>
        <p:spPr>
          <a:xfrm>
            <a:off x="731520" y="3593592"/>
            <a:ext cx="1463040" cy="457200"/>
          </a:xfrm>
          <a:prstGeom prst="rect">
            <a:avLst/>
          </a:prstGeom>
          <a:noFill/>
        </p:spPr>
        <p:txBody>
          <a:bodyPr wrap="square" lIns="0" tIns="27432" rIns="0" bIns="27432" anchor="ctr">
            <a:noAutofit/>
          </a:bodyPr>
          <a:lstStyle/>
          <a:p>
            <a:pPr algn="l">
              <a:lnSpc>
                <a:spcPct val="118000"/>
              </a:lnSpc>
            </a:pPr>
            <a:r>
              <a:rPr lang="ko-KR" sz="1350" b="1" dirty="0">
                <a:solidFill>
                  <a:srgbClr val="1E2761"/>
                </a:solidFill>
                <a:latin typeface="Pretendard"/>
                <a:ea typeface="Pretendard"/>
                <a:cs typeface="Pretendard"/>
              </a:rPr>
              <a:t>12세</a:t>
            </a:r>
          </a:p>
        </p:txBody>
      </p:sp>
      <p:sp>
        <p:nvSpPr>
          <p:cNvPr id="31" name="aa2"/>
          <p:cNvSpPr/>
          <p:nvPr/>
        </p:nvSpPr>
        <p:spPr>
          <a:xfrm>
            <a:off x="2377440" y="3630168"/>
            <a:ext cx="1092866" cy="146304"/>
          </a:xfrm>
          <a:prstGeom prst="rect">
            <a:avLst/>
          </a:prstGeom>
          <a:solidFill>
            <a:srgbClr val="C9CEDA"/>
          </a:solidFill>
          <a:ln>
            <a:noFill/>
          </a:ln>
        </p:spPr>
        <p:txBody>
          <a:bodyPr/>
          <a:lstStyle/>
          <a:p>
            <a:endParaRPr/>
          </a:p>
        </p:txBody>
      </p:sp>
      <p:sp>
        <p:nvSpPr>
          <p:cNvPr id="32" name="aat2"/>
          <p:cNvSpPr txBox="1"/>
          <p:nvPr/>
        </p:nvSpPr>
        <p:spPr>
          <a:xfrm>
            <a:off x="3561746" y="3575304"/>
            <a:ext cx="1280160" cy="219456"/>
          </a:xfrm>
          <a:prstGeom prst="rect">
            <a:avLst/>
          </a:prstGeom>
          <a:noFill/>
        </p:spPr>
        <p:txBody>
          <a:bodyPr wrap="square" lIns="0" tIns="27432" rIns="0" bIns="27432" anchor="ctr">
            <a:noAutofit/>
          </a:bodyPr>
          <a:lstStyle/>
          <a:p>
            <a:pPr algn="l">
              <a:lnSpc>
                <a:spcPct val="118000"/>
              </a:lnSpc>
            </a:pPr>
            <a:r>
              <a:rPr lang="ko-KR" sz="1150" b="0" dirty="0">
                <a:solidFill>
                  <a:srgbClr val="464D5C"/>
                </a:solidFill>
                <a:latin typeface="Pretendard"/>
                <a:ea typeface="Pretendard"/>
                <a:cs typeface="Pretendard"/>
              </a:rPr>
              <a:t>2,021</a:t>
            </a:r>
          </a:p>
        </p:txBody>
      </p:sp>
      <p:sp>
        <p:nvSpPr>
          <p:cNvPr id="33" name="ab2"/>
          <p:cNvSpPr/>
          <p:nvPr/>
        </p:nvSpPr>
        <p:spPr>
          <a:xfrm>
            <a:off x="2377440" y="3831336"/>
            <a:ext cx="3026067" cy="146304"/>
          </a:xfrm>
          <a:prstGeom prst="rect">
            <a:avLst/>
          </a:prstGeom>
          <a:solidFill>
            <a:srgbClr val="5A6699"/>
          </a:solidFill>
          <a:ln>
            <a:noFill/>
          </a:ln>
        </p:spPr>
        <p:txBody>
          <a:bodyPr/>
          <a:lstStyle/>
          <a:p>
            <a:endParaRPr/>
          </a:p>
        </p:txBody>
      </p:sp>
      <p:sp>
        <p:nvSpPr>
          <p:cNvPr id="34" name="abt2"/>
          <p:cNvSpPr txBox="1"/>
          <p:nvPr/>
        </p:nvSpPr>
        <p:spPr>
          <a:xfrm>
            <a:off x="5494947" y="3776472"/>
            <a:ext cx="1280160" cy="219456"/>
          </a:xfrm>
          <a:prstGeom prst="rect">
            <a:avLst/>
          </a:prstGeom>
          <a:noFill/>
        </p:spPr>
        <p:txBody>
          <a:bodyPr wrap="square" lIns="0" tIns="27432" rIns="0" bIns="27432" anchor="ctr">
            <a:noAutofit/>
          </a:bodyPr>
          <a:lstStyle/>
          <a:p>
            <a:pPr algn="l">
              <a:lnSpc>
                <a:spcPct val="118000"/>
              </a:lnSpc>
            </a:pPr>
            <a:r>
              <a:rPr lang="ko-KR" sz="1200" b="1" dirty="0">
                <a:solidFill>
                  <a:srgbClr val="222633"/>
                </a:solidFill>
                <a:latin typeface="Pretendard"/>
                <a:ea typeface="Pretendard"/>
                <a:cs typeface="Pretendard"/>
              </a:rPr>
              <a:t>5,596</a:t>
            </a:r>
          </a:p>
        </p:txBody>
      </p:sp>
      <p:sp>
        <p:nvSpPr>
          <p:cNvPr id="35" name="ap2"/>
          <p:cNvSpPr txBox="1"/>
          <p:nvPr/>
        </p:nvSpPr>
        <p:spPr>
          <a:xfrm>
            <a:off x="8412480" y="3666744"/>
            <a:ext cx="3044952" cy="310896"/>
          </a:xfrm>
          <a:prstGeom prst="rect">
            <a:avLst/>
          </a:prstGeom>
          <a:noFill/>
        </p:spPr>
        <p:txBody>
          <a:bodyPr wrap="square" lIns="0" tIns="27432" rIns="0" bIns="27432" anchor="ctr">
            <a:noAutofit/>
          </a:bodyPr>
          <a:lstStyle/>
          <a:p>
            <a:pPr algn="r">
              <a:lnSpc>
                <a:spcPct val="118000"/>
              </a:lnSpc>
            </a:pPr>
            <a:r>
              <a:rPr lang="ko-KR" sz="1300" b="1" dirty="0">
                <a:solidFill>
                  <a:srgbClr val="A8871C"/>
                </a:solidFill>
                <a:latin typeface="Pretendard"/>
                <a:ea typeface="Pretendard"/>
                <a:cs typeface="Pretendard"/>
              </a:rPr>
              <a:t>+176.9%</a:t>
            </a:r>
          </a:p>
        </p:txBody>
      </p:sp>
      <p:sp>
        <p:nvSpPr>
          <p:cNvPr id="36" name="an3"/>
          <p:cNvSpPr txBox="1"/>
          <p:nvPr/>
        </p:nvSpPr>
        <p:spPr>
          <a:xfrm>
            <a:off x="731520" y="4123944"/>
            <a:ext cx="1463040" cy="457200"/>
          </a:xfrm>
          <a:prstGeom prst="rect">
            <a:avLst/>
          </a:prstGeom>
          <a:noFill/>
        </p:spPr>
        <p:txBody>
          <a:bodyPr wrap="square" lIns="0" tIns="27432" rIns="0" bIns="27432" anchor="ctr">
            <a:noAutofit/>
          </a:bodyPr>
          <a:lstStyle/>
          <a:p>
            <a:pPr algn="l">
              <a:lnSpc>
                <a:spcPct val="118000"/>
              </a:lnSpc>
            </a:pPr>
            <a:r>
              <a:rPr lang="ko-KR" sz="1350" b="1" dirty="0">
                <a:solidFill>
                  <a:srgbClr val="1E2761"/>
                </a:solidFill>
                <a:latin typeface="Pretendard"/>
                <a:ea typeface="Pretendard"/>
                <a:cs typeface="Pretendard"/>
              </a:rPr>
              <a:t>13세</a:t>
            </a:r>
          </a:p>
        </p:txBody>
      </p:sp>
      <p:sp>
        <p:nvSpPr>
          <p:cNvPr id="37" name="aa3"/>
          <p:cNvSpPr/>
          <p:nvPr/>
        </p:nvSpPr>
        <p:spPr>
          <a:xfrm>
            <a:off x="2377440" y="4160520"/>
            <a:ext cx="3412166" cy="146304"/>
          </a:xfrm>
          <a:prstGeom prst="rect">
            <a:avLst/>
          </a:prstGeom>
          <a:solidFill>
            <a:srgbClr val="C9CEDA"/>
          </a:solidFill>
          <a:ln>
            <a:noFill/>
          </a:ln>
        </p:spPr>
        <p:txBody>
          <a:bodyPr/>
          <a:lstStyle/>
          <a:p>
            <a:endParaRPr/>
          </a:p>
        </p:txBody>
      </p:sp>
      <p:sp>
        <p:nvSpPr>
          <p:cNvPr id="38" name="aat3"/>
          <p:cNvSpPr txBox="1"/>
          <p:nvPr/>
        </p:nvSpPr>
        <p:spPr>
          <a:xfrm>
            <a:off x="5881046" y="4105656"/>
            <a:ext cx="1280160" cy="219456"/>
          </a:xfrm>
          <a:prstGeom prst="rect">
            <a:avLst/>
          </a:prstGeom>
          <a:noFill/>
        </p:spPr>
        <p:txBody>
          <a:bodyPr wrap="square" lIns="0" tIns="27432" rIns="0" bIns="27432" anchor="ctr">
            <a:noAutofit/>
          </a:bodyPr>
          <a:lstStyle/>
          <a:p>
            <a:pPr algn="l">
              <a:lnSpc>
                <a:spcPct val="118000"/>
              </a:lnSpc>
            </a:pPr>
            <a:r>
              <a:rPr lang="ko-KR" sz="1150" b="0" dirty="0">
                <a:solidFill>
                  <a:srgbClr val="464D5C"/>
                </a:solidFill>
                <a:latin typeface="Pretendard"/>
                <a:ea typeface="Pretendard"/>
                <a:cs typeface="Pretendard"/>
              </a:rPr>
              <a:t>6,310</a:t>
            </a:r>
          </a:p>
        </p:txBody>
      </p:sp>
      <p:sp>
        <p:nvSpPr>
          <p:cNvPr id="39" name="ab3"/>
          <p:cNvSpPr/>
          <p:nvPr/>
        </p:nvSpPr>
        <p:spPr>
          <a:xfrm>
            <a:off x="2377440" y="4361688"/>
            <a:ext cx="5669280" cy="146304"/>
          </a:xfrm>
          <a:prstGeom prst="rect">
            <a:avLst/>
          </a:prstGeom>
          <a:solidFill>
            <a:srgbClr val="5A6699"/>
          </a:solidFill>
          <a:ln>
            <a:noFill/>
          </a:ln>
        </p:spPr>
        <p:txBody>
          <a:bodyPr/>
          <a:lstStyle/>
          <a:p>
            <a:endParaRPr/>
          </a:p>
        </p:txBody>
      </p:sp>
      <p:sp>
        <p:nvSpPr>
          <p:cNvPr id="40" name="abt3"/>
          <p:cNvSpPr txBox="1"/>
          <p:nvPr/>
        </p:nvSpPr>
        <p:spPr>
          <a:xfrm>
            <a:off x="8138160" y="4306824"/>
            <a:ext cx="1280160" cy="219456"/>
          </a:xfrm>
          <a:prstGeom prst="rect">
            <a:avLst/>
          </a:prstGeom>
          <a:noFill/>
        </p:spPr>
        <p:txBody>
          <a:bodyPr wrap="square" lIns="0" tIns="27432" rIns="0" bIns="27432" anchor="ctr">
            <a:noAutofit/>
          </a:bodyPr>
          <a:lstStyle/>
          <a:p>
            <a:pPr algn="l">
              <a:lnSpc>
                <a:spcPct val="118000"/>
              </a:lnSpc>
            </a:pPr>
            <a:r>
              <a:rPr lang="ko-KR" sz="1200" b="1" dirty="0">
                <a:solidFill>
                  <a:srgbClr val="222633"/>
                </a:solidFill>
                <a:latin typeface="Pretendard"/>
                <a:ea typeface="Pretendard"/>
                <a:cs typeface="Pretendard"/>
              </a:rPr>
              <a:t>10,484</a:t>
            </a:r>
          </a:p>
        </p:txBody>
      </p:sp>
      <p:sp>
        <p:nvSpPr>
          <p:cNvPr id="41" name="ap3"/>
          <p:cNvSpPr txBox="1"/>
          <p:nvPr/>
        </p:nvSpPr>
        <p:spPr>
          <a:xfrm>
            <a:off x="8412480" y="4197096"/>
            <a:ext cx="3044952" cy="310896"/>
          </a:xfrm>
          <a:prstGeom prst="rect">
            <a:avLst/>
          </a:prstGeom>
          <a:noFill/>
        </p:spPr>
        <p:txBody>
          <a:bodyPr wrap="square" lIns="0" tIns="27432" rIns="0" bIns="27432" anchor="ctr">
            <a:noAutofit/>
          </a:bodyPr>
          <a:lstStyle/>
          <a:p>
            <a:pPr algn="r">
              <a:lnSpc>
                <a:spcPct val="118000"/>
              </a:lnSpc>
            </a:pPr>
            <a:r>
              <a:rPr lang="ko-KR" sz="1300" b="1" dirty="0">
                <a:solidFill>
                  <a:srgbClr val="A8871C"/>
                </a:solidFill>
                <a:latin typeface="Pretendard"/>
                <a:ea typeface="Pretendard"/>
                <a:cs typeface="Pretendard"/>
              </a:rPr>
              <a:t>+66.1%</a:t>
            </a:r>
          </a:p>
        </p:txBody>
      </p:sp>
      <p:sp>
        <p:nvSpPr>
          <p:cNvPr id="42" name="line42"/>
          <p:cNvSpPr/>
          <p:nvPr/>
        </p:nvSpPr>
        <p:spPr>
          <a:xfrm>
            <a:off x="731520" y="5010912"/>
            <a:ext cx="10725912" cy="0"/>
          </a:xfrm>
          <a:prstGeom prst="line">
            <a:avLst/>
          </a:prstGeom>
          <a:ln w="9525">
            <a:solidFill>
              <a:srgbClr val="DCE0E8"/>
            </a:solidFill>
          </a:ln>
        </p:spPr>
        <p:txBody>
          <a:bodyPr/>
          <a:lstStyle/>
          <a:p>
            <a:endParaRPr/>
          </a:p>
        </p:txBody>
      </p:sp>
      <p:sp>
        <p:nvSpPr>
          <p:cNvPr id="43" name="arh0"/>
          <p:cNvSpPr txBox="1"/>
          <p:nvPr/>
        </p:nvSpPr>
        <p:spPr>
          <a:xfrm>
            <a:off x="731520" y="5301233"/>
            <a:ext cx="2240280" cy="576072"/>
          </a:xfrm>
          <a:prstGeom prst="rect">
            <a:avLst/>
          </a:prstGeom>
          <a:noFill/>
        </p:spPr>
        <p:txBody>
          <a:bodyPr wrap="square" lIns="0" tIns="27432" rIns="0" bIns="27432" anchor="ctr">
            <a:noAutofit/>
          </a:bodyPr>
          <a:lstStyle/>
          <a:p>
            <a:pPr algn="ctr">
              <a:lnSpc>
                <a:spcPct val="118000"/>
              </a:lnSpc>
            </a:pPr>
            <a:r>
              <a:rPr sz="1300" b="1">
                <a:solidFill>
                  <a:srgbClr val="1E2761"/>
                </a:solidFill>
                <a:latin typeface="Pretendard"/>
              </a:rPr>
              <a:t>집계 단위</a:t>
            </a:r>
          </a:p>
        </p:txBody>
      </p:sp>
      <p:sp>
        <p:nvSpPr>
          <p:cNvPr id="44" name="arb0"/>
          <p:cNvSpPr txBox="1"/>
          <p:nvPr/>
        </p:nvSpPr>
        <p:spPr>
          <a:xfrm>
            <a:off x="3154680" y="5301233"/>
            <a:ext cx="8302752" cy="576072"/>
          </a:xfrm>
          <a:prstGeom prst="rect">
            <a:avLst/>
          </a:prstGeom>
          <a:noFill/>
        </p:spPr>
        <p:txBody>
          <a:bodyPr wrap="square" lIns="0" tIns="27432" rIns="0" bIns="27432" anchor="ctr">
            <a:noAutofit/>
          </a:bodyPr>
          <a:lstStyle/>
          <a:p>
            <a:pPr algn="l">
              <a:lnSpc>
                <a:spcPct val="125000"/>
              </a:lnSpc>
              <a:spcAft>
                <a:spcPts val="500"/>
              </a:spcAft>
            </a:pP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하향안의</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직접</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대상인</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13세</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가</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66.1% </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증가했으나</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다른 연령대에 비해 증가율이 높은 편이라고 보기는 어렵다</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p>
          <a:p>
            <a:pPr algn="l"/>
            <a:r>
              <a:rPr lang="ko-KR" altLang="en-US"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이 표는 </a:t>
            </a:r>
            <a:r>
              <a:rPr lang="ko-KR" altLang="en-US" sz="1150" b="0" dirty="0" err="1">
                <a:solidFill>
                  <a:srgbClr val="464D5C"/>
                </a:solidFill>
                <a:latin typeface="Pretendard" panose="02000503000000020004" pitchFamily="2" charset="-127"/>
                <a:ea typeface="Pretendard" panose="02000503000000020004" pitchFamily="2" charset="-127"/>
                <a:cs typeface="Pretendard" panose="02000503000000020004" pitchFamily="2" charset="-127"/>
              </a:rPr>
              <a:t>소년부송치</a:t>
            </a:r>
            <a:r>
              <a:rPr lang="ko-KR" altLang="en-US"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인원을 보여준다</a:t>
            </a:r>
            <a:r>
              <a:rPr lang="en-US" altLang="ko-K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인구 규모를 보정한 범죄율은 인구분모가 있는 통계로 계산한다</a:t>
            </a:r>
            <a:r>
              <a:rPr lang="en-US" altLang="ko-K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p>
        </p:txBody>
      </p:sp>
      <p:sp>
        <p:nvSpPr>
          <p:cNvPr id="45" name="line45"/>
          <p:cNvSpPr/>
          <p:nvPr/>
        </p:nvSpPr>
        <p:spPr>
          <a:xfrm>
            <a:off x="731520" y="6144768"/>
            <a:ext cx="10725912" cy="0"/>
          </a:xfrm>
          <a:prstGeom prst="line">
            <a:avLst/>
          </a:prstGeom>
          <a:ln w="19050">
            <a:solidFill>
              <a:srgbClr val="1E2761"/>
            </a:solidFill>
          </a:ln>
        </p:spPr>
        <p:txBody>
          <a:bodyPr/>
          <a:lstStyle/>
          <a:p>
            <a:endParaRPr/>
          </a:p>
        </p:txBody>
      </p:sp>
      <p:sp>
        <p:nvSpPr>
          <p:cNvPr id="46"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2026 청소년정책 포럼 자료집 「촉법소년 나이대별 소년부송치 통계」(경찰청·법무부)</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보호처분사건의 주요 죄명</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en-US" altLang="ko-KR" sz="2750" b="1" dirty="0">
                <a:solidFill>
                  <a:srgbClr val="1E2761"/>
                </a:solidFill>
                <a:latin typeface="Pretendard"/>
                <a:ea typeface="Pretendard"/>
                <a:cs typeface="Pretendard"/>
              </a:rPr>
              <a:t>2025 </a:t>
            </a:r>
            <a:r>
              <a:rPr lang="ko-KR" sz="2750" b="1" dirty="0" err="1">
                <a:solidFill>
                  <a:srgbClr val="1E2761"/>
                </a:solidFill>
                <a:latin typeface="Pretendard"/>
                <a:ea typeface="Pretendard"/>
                <a:cs typeface="Pretendard"/>
              </a:rPr>
              <a:t>촉법소년</a:t>
            </a:r>
            <a:r>
              <a:rPr lang="ko-KR" sz="2750" b="1" dirty="0">
                <a:solidFill>
                  <a:srgbClr val="1E2761"/>
                </a:solidFill>
                <a:latin typeface="Pretendard"/>
                <a:ea typeface="Pretendard"/>
                <a:cs typeface="Pretendard"/>
              </a:rPr>
              <a:t> 사건의 법원 처리결과</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소년부 처리사건은 보호처분, 심리불개시, 불처분, 기타로 나뉜다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cs0"/>
          <p:cNvSpPr/>
          <p:nvPr/>
        </p:nvSpPr>
        <p:spPr>
          <a:xfrm>
            <a:off x="731520" y="2240280"/>
            <a:ext cx="5084082" cy="530352"/>
          </a:xfrm>
          <a:prstGeom prst="rect">
            <a:avLst/>
          </a:prstGeom>
          <a:solidFill>
            <a:srgbClr val="5A6699"/>
          </a:solidFill>
          <a:ln>
            <a:noFill/>
          </a:ln>
        </p:spPr>
        <p:txBody>
          <a:bodyPr/>
          <a:lstStyle/>
          <a:p>
            <a:endParaRPr/>
          </a:p>
        </p:txBody>
      </p:sp>
      <p:sp>
        <p:nvSpPr>
          <p:cNvPr id="17" name="cst0"/>
          <p:cNvSpPr txBox="1"/>
          <p:nvPr/>
        </p:nvSpPr>
        <p:spPr>
          <a:xfrm>
            <a:off x="731520" y="2240280"/>
            <a:ext cx="5084082" cy="530352"/>
          </a:xfrm>
          <a:prstGeom prst="rect">
            <a:avLst/>
          </a:prstGeom>
          <a:noFill/>
        </p:spPr>
        <p:txBody>
          <a:bodyPr wrap="square" lIns="0" tIns="27432" rIns="0" bIns="27432" anchor="ctr">
            <a:noAutofit/>
          </a:bodyPr>
          <a:lstStyle/>
          <a:p>
            <a:pPr algn="ctr">
              <a:lnSpc>
                <a:spcPct val="118000"/>
              </a:lnSpc>
            </a:pPr>
            <a:r>
              <a:rPr lang="ko-KR" sz="1200" b="1" dirty="0">
                <a:solidFill>
                  <a:srgbClr val="FFFFFF"/>
                </a:solidFill>
                <a:latin typeface="Pretendard"/>
                <a:ea typeface="Pretendard"/>
                <a:cs typeface="Pretendard"/>
              </a:rPr>
              <a:t>보호처분 47.4%</a:t>
            </a:r>
          </a:p>
        </p:txBody>
      </p:sp>
      <p:sp>
        <p:nvSpPr>
          <p:cNvPr id="18" name="cs1"/>
          <p:cNvSpPr/>
          <p:nvPr/>
        </p:nvSpPr>
        <p:spPr>
          <a:xfrm>
            <a:off x="5815602" y="2240280"/>
            <a:ext cx="4440527" cy="530352"/>
          </a:xfrm>
          <a:prstGeom prst="rect">
            <a:avLst/>
          </a:prstGeom>
          <a:solidFill>
            <a:srgbClr val="1E2761"/>
          </a:solidFill>
          <a:ln>
            <a:noFill/>
          </a:ln>
        </p:spPr>
        <p:txBody>
          <a:bodyPr/>
          <a:lstStyle/>
          <a:p>
            <a:endParaRPr/>
          </a:p>
        </p:txBody>
      </p:sp>
      <p:sp>
        <p:nvSpPr>
          <p:cNvPr id="19" name="cst1"/>
          <p:cNvSpPr txBox="1"/>
          <p:nvPr/>
        </p:nvSpPr>
        <p:spPr>
          <a:xfrm>
            <a:off x="5815602" y="2240280"/>
            <a:ext cx="4440527" cy="530352"/>
          </a:xfrm>
          <a:prstGeom prst="rect">
            <a:avLst/>
          </a:prstGeom>
          <a:noFill/>
        </p:spPr>
        <p:txBody>
          <a:bodyPr wrap="square" lIns="0" tIns="27432" rIns="0" bIns="27432" anchor="ctr">
            <a:noAutofit/>
          </a:bodyPr>
          <a:lstStyle/>
          <a:p>
            <a:pPr algn="ctr">
              <a:lnSpc>
                <a:spcPct val="118000"/>
              </a:lnSpc>
            </a:pPr>
            <a:r>
              <a:rPr lang="ko-KR" sz="1200" b="1" dirty="0">
                <a:solidFill>
                  <a:srgbClr val="FFFFFF"/>
                </a:solidFill>
                <a:latin typeface="Pretendard"/>
                <a:ea typeface="Pretendard"/>
                <a:cs typeface="Pretendard"/>
              </a:rPr>
              <a:t>심리불개시 41.4%</a:t>
            </a:r>
          </a:p>
        </p:txBody>
      </p:sp>
      <p:sp>
        <p:nvSpPr>
          <p:cNvPr id="20" name="cs2"/>
          <p:cNvSpPr/>
          <p:nvPr/>
        </p:nvSpPr>
        <p:spPr>
          <a:xfrm>
            <a:off x="10256129" y="2240280"/>
            <a:ext cx="793717" cy="530352"/>
          </a:xfrm>
          <a:prstGeom prst="rect">
            <a:avLst/>
          </a:prstGeom>
          <a:solidFill>
            <a:srgbClr val="8A97BC"/>
          </a:solidFill>
          <a:ln>
            <a:noFill/>
          </a:ln>
        </p:spPr>
        <p:txBody>
          <a:bodyPr/>
          <a:lstStyle/>
          <a:p>
            <a:endParaRPr/>
          </a:p>
        </p:txBody>
      </p:sp>
      <p:sp>
        <p:nvSpPr>
          <p:cNvPr id="21" name="cs3"/>
          <p:cNvSpPr/>
          <p:nvPr/>
        </p:nvSpPr>
        <p:spPr>
          <a:xfrm>
            <a:off x="11049847" y="2240280"/>
            <a:ext cx="407584" cy="530352"/>
          </a:xfrm>
          <a:prstGeom prst="rect">
            <a:avLst/>
          </a:prstGeom>
          <a:solidFill>
            <a:srgbClr val="C9CEDA"/>
          </a:solidFill>
          <a:ln>
            <a:noFill/>
          </a:ln>
        </p:spPr>
        <p:txBody>
          <a:bodyPr/>
          <a:lstStyle/>
          <a:p>
            <a:endParaRPr/>
          </a:p>
        </p:txBody>
      </p:sp>
      <p:sp>
        <p:nvSpPr>
          <p:cNvPr id="22" name="csum"/>
          <p:cNvSpPr txBox="1"/>
          <p:nvPr/>
        </p:nvSpPr>
        <p:spPr>
          <a:xfrm>
            <a:off x="731520" y="2807208"/>
            <a:ext cx="6035040" cy="256032"/>
          </a:xfrm>
          <a:prstGeom prst="rect">
            <a:avLst/>
          </a:prstGeom>
          <a:noFill/>
        </p:spPr>
        <p:txBody>
          <a:bodyPr wrap="square" lIns="0" tIns="27432" rIns="0" bIns="27432" anchor="ctr">
            <a:noAutofit/>
          </a:bodyPr>
          <a:lstStyle/>
          <a:p>
            <a:pPr algn="l">
              <a:lnSpc>
                <a:spcPct val="118000"/>
              </a:lnSpc>
            </a:pPr>
            <a:r>
              <a:rPr lang="ko-KR" sz="1150" b="0" dirty="0">
                <a:solidFill>
                  <a:srgbClr val="464D5C"/>
                </a:solidFill>
                <a:latin typeface="Pretendard"/>
                <a:ea typeface="Pretendard"/>
                <a:cs typeface="Pretendard"/>
              </a:rPr>
              <a:t>심리불개시 + 불처분 합계 48.8%</a:t>
            </a:r>
          </a:p>
        </p:txBody>
      </p:sp>
      <p:sp>
        <p:nvSpPr>
          <p:cNvPr id="23" name="cnar"/>
          <p:cNvSpPr txBox="1"/>
          <p:nvPr/>
        </p:nvSpPr>
        <p:spPr>
          <a:xfrm>
            <a:off x="5971032" y="2807208"/>
            <a:ext cx="5486400" cy="256032"/>
          </a:xfrm>
          <a:prstGeom prst="rect">
            <a:avLst/>
          </a:prstGeom>
          <a:noFill/>
        </p:spPr>
        <p:txBody>
          <a:bodyPr wrap="square" lIns="0" tIns="27432" rIns="0" bIns="27432" anchor="ctr">
            <a:noAutofit/>
          </a:bodyPr>
          <a:lstStyle/>
          <a:p>
            <a:pPr algn="r">
              <a:lnSpc>
                <a:spcPct val="118000"/>
              </a:lnSpc>
            </a:pPr>
            <a:r>
              <a:rPr lang="ko-KR" sz="1150" b="1" dirty="0">
                <a:solidFill>
                  <a:srgbClr val="222633"/>
                </a:solidFill>
                <a:latin typeface="Pretendard"/>
                <a:ea typeface="Pretendard"/>
                <a:cs typeface="Pretendard"/>
              </a:rPr>
              <a:t>불처분 7.4% · 기타 3.8%</a:t>
            </a:r>
          </a:p>
        </p:txBody>
      </p:sp>
      <p:sp>
        <p:nvSpPr>
          <p:cNvPr id="24" name="line24"/>
          <p:cNvSpPr/>
          <p:nvPr/>
        </p:nvSpPr>
        <p:spPr>
          <a:xfrm>
            <a:off x="731520" y="3102102"/>
            <a:ext cx="10725912" cy="0"/>
          </a:xfrm>
          <a:prstGeom prst="line">
            <a:avLst/>
          </a:prstGeom>
          <a:ln w="9525">
            <a:solidFill>
              <a:srgbClr val="DCE0E8"/>
            </a:solidFill>
          </a:ln>
        </p:spPr>
        <p:txBody>
          <a:bodyPr/>
          <a:lstStyle/>
          <a:p>
            <a:endParaRPr/>
          </a:p>
        </p:txBody>
      </p:sp>
      <p:sp>
        <p:nvSpPr>
          <p:cNvPr id="25" name="crh0"/>
          <p:cNvSpPr txBox="1"/>
          <p:nvPr/>
        </p:nvSpPr>
        <p:spPr>
          <a:xfrm>
            <a:off x="731520" y="3597402"/>
            <a:ext cx="2240280" cy="594360"/>
          </a:xfrm>
          <a:prstGeom prst="rect">
            <a:avLst/>
          </a:prstGeom>
          <a:noFill/>
        </p:spPr>
        <p:txBody>
          <a:bodyPr wrap="square" lIns="0" tIns="27432" rIns="0" bIns="27432" anchor="ctr">
            <a:noAutofit/>
          </a:bodyPr>
          <a:lstStyle/>
          <a:p>
            <a:pPr algn="ctr">
              <a:lnSpc>
                <a:spcPct val="118000"/>
              </a:lnSpc>
            </a:pPr>
            <a:r>
              <a:rPr lang="ko-KR" sz="1300" b="1" dirty="0" err="1">
                <a:solidFill>
                  <a:srgbClr val="1E2761"/>
                </a:solidFill>
                <a:latin typeface="Pretendard"/>
                <a:ea typeface="Pretendard"/>
                <a:cs typeface="Pretendard"/>
              </a:rPr>
              <a:t>심리불개시</a:t>
            </a:r>
            <a:endParaRPr lang="en-US" altLang="ko-KR" sz="1300" b="1" dirty="0">
              <a:solidFill>
                <a:srgbClr val="1E2761"/>
              </a:solidFill>
              <a:latin typeface="Pretendard"/>
              <a:ea typeface="Pretendard"/>
              <a:cs typeface="Pretendard"/>
            </a:endParaRPr>
          </a:p>
          <a:p>
            <a:pPr algn="ctr">
              <a:lnSpc>
                <a:spcPct val="118000"/>
              </a:lnSpc>
            </a:pPr>
            <a:r>
              <a:rPr lang="ko-KR" altLang="ko-KR" sz="1200" b="1" dirty="0">
                <a:solidFill>
                  <a:schemeClr val="tx1">
                    <a:lumMod val="50000"/>
                    <a:lumOff val="50000"/>
                  </a:schemeClr>
                </a:solidFill>
                <a:latin typeface="Pretendard"/>
                <a:ea typeface="Pretendard"/>
                <a:cs typeface="Pretendard"/>
              </a:rPr>
              <a:t>소년법 제19조 </a:t>
            </a:r>
            <a:r>
              <a:rPr lang="ko-KR" altLang="en-US" sz="1200" b="1" dirty="0">
                <a:solidFill>
                  <a:schemeClr val="tx1">
                    <a:lumMod val="50000"/>
                    <a:lumOff val="50000"/>
                  </a:schemeClr>
                </a:solidFill>
                <a:latin typeface="Pretendard"/>
                <a:ea typeface="Pretendard"/>
                <a:cs typeface="Pretendard"/>
              </a:rPr>
              <a:t>제</a:t>
            </a:r>
            <a:r>
              <a:rPr lang="en-US" altLang="ko-KR" sz="1200" b="1" dirty="0">
                <a:solidFill>
                  <a:schemeClr val="tx1">
                    <a:lumMod val="50000"/>
                    <a:lumOff val="50000"/>
                  </a:schemeClr>
                </a:solidFill>
                <a:latin typeface="Pretendard"/>
                <a:ea typeface="Pretendard"/>
                <a:cs typeface="Pretendard"/>
              </a:rPr>
              <a:t>1</a:t>
            </a:r>
            <a:r>
              <a:rPr lang="ko-KR" altLang="en-US" sz="1200" b="1" dirty="0">
                <a:solidFill>
                  <a:schemeClr val="tx1">
                    <a:lumMod val="50000"/>
                    <a:lumOff val="50000"/>
                  </a:schemeClr>
                </a:solidFill>
                <a:latin typeface="Pretendard"/>
                <a:ea typeface="Pretendard"/>
                <a:cs typeface="Pretendard"/>
              </a:rPr>
              <a:t>항</a:t>
            </a:r>
          </a:p>
        </p:txBody>
      </p:sp>
      <p:sp>
        <p:nvSpPr>
          <p:cNvPr id="26" name="crb0"/>
          <p:cNvSpPr txBox="1"/>
          <p:nvPr/>
        </p:nvSpPr>
        <p:spPr>
          <a:xfrm>
            <a:off x="3154680" y="3407665"/>
            <a:ext cx="8302752" cy="966977"/>
          </a:xfrm>
          <a:prstGeom prst="rect">
            <a:avLst/>
          </a:prstGeom>
          <a:noFill/>
        </p:spPr>
        <p:txBody>
          <a:bodyPr wrap="square" lIns="0" tIns="27432" rIns="0" bIns="27432" anchor="ctr">
            <a:noAutofit/>
          </a:bodyPr>
          <a:lstStyle/>
          <a:p>
            <a:pPr>
              <a:lnSpc>
                <a:spcPct val="125000"/>
              </a:lnSpc>
            </a:pPr>
            <a:r>
              <a:rPr lang="ko-KR" altLang="en-US" sz="1250" b="1" dirty="0">
                <a:solidFill>
                  <a:srgbClr val="222633"/>
                </a:solidFill>
                <a:latin typeface="Pretendard"/>
                <a:ea typeface="Pretendard"/>
                <a:cs typeface="Pretendard"/>
              </a:rPr>
              <a:t>소년부 판사는 송치서와 조사관의 조사보고에 따라 사건의 </a:t>
            </a:r>
            <a:r>
              <a:rPr lang="ko-KR" altLang="en-US" sz="1250" b="1" dirty="0">
                <a:solidFill>
                  <a:srgbClr val="222633"/>
                </a:solidFill>
                <a:highlight>
                  <a:srgbClr val="FFFF00"/>
                </a:highlight>
                <a:latin typeface="Pretendard"/>
                <a:ea typeface="Pretendard"/>
                <a:cs typeface="Pretendard"/>
              </a:rPr>
              <a:t>심리를 개시</a:t>
            </a:r>
            <a:r>
              <a:rPr lang="en-US" altLang="ko-KR" sz="1250" b="1" dirty="0">
                <a:solidFill>
                  <a:srgbClr val="222633"/>
                </a:solidFill>
                <a:highlight>
                  <a:srgbClr val="FFFF00"/>
                </a:highlight>
                <a:latin typeface="Pretendard"/>
                <a:ea typeface="Pretendard"/>
                <a:cs typeface="Pretendard"/>
              </a:rPr>
              <a:t>(</a:t>
            </a:r>
            <a:r>
              <a:rPr lang="ko-KR" altLang="en-US" sz="1250" b="1" dirty="0">
                <a:solidFill>
                  <a:srgbClr val="222633"/>
                </a:solidFill>
                <a:highlight>
                  <a:srgbClr val="FFFF00"/>
                </a:highlight>
                <a:latin typeface="Pretendard"/>
                <a:ea typeface="Pretendard"/>
                <a:cs typeface="Pretendard"/>
              </a:rPr>
              <a:t>開始</a:t>
            </a:r>
            <a:r>
              <a:rPr lang="en-US" altLang="ko-KR" sz="1250" b="1" dirty="0">
                <a:solidFill>
                  <a:srgbClr val="222633"/>
                </a:solidFill>
                <a:highlight>
                  <a:srgbClr val="FFFF00"/>
                </a:highlight>
                <a:latin typeface="Pretendard"/>
                <a:ea typeface="Pretendard"/>
                <a:cs typeface="Pretendard"/>
              </a:rPr>
              <a:t>)</a:t>
            </a:r>
            <a:r>
              <a:rPr lang="ko-KR" altLang="en-US" sz="1250" b="1" dirty="0">
                <a:solidFill>
                  <a:srgbClr val="222633"/>
                </a:solidFill>
                <a:highlight>
                  <a:srgbClr val="FFFF00"/>
                </a:highlight>
                <a:latin typeface="Pretendard"/>
                <a:ea typeface="Pretendard"/>
                <a:cs typeface="Pretendard"/>
              </a:rPr>
              <a:t>할 수 없거나 개시할 필요가 없다고 인정하면 심리를 개시하지 아니한다</a:t>
            </a:r>
            <a:r>
              <a:rPr lang="ko-KR" altLang="en-US" sz="1250" b="1" dirty="0">
                <a:solidFill>
                  <a:srgbClr val="222633"/>
                </a:solidFill>
                <a:latin typeface="Pretendard"/>
                <a:ea typeface="Pretendard"/>
                <a:cs typeface="Pretendard"/>
              </a:rPr>
              <a:t>는 결정을 하여야 한다</a:t>
            </a:r>
            <a:r>
              <a:rPr lang="en-US" altLang="ko-KR" sz="1250" b="1" dirty="0">
                <a:solidFill>
                  <a:srgbClr val="222633"/>
                </a:solidFill>
                <a:latin typeface="Pretendard"/>
                <a:ea typeface="Pretendard"/>
                <a:cs typeface="Pretendard"/>
              </a:rPr>
              <a:t>. </a:t>
            </a:r>
            <a:r>
              <a:rPr lang="ko-KR" altLang="en-US" sz="1250" b="1" dirty="0">
                <a:solidFill>
                  <a:srgbClr val="222633"/>
                </a:solidFill>
                <a:latin typeface="Pretendard"/>
                <a:ea typeface="Pretendard"/>
                <a:cs typeface="Pretendard"/>
              </a:rPr>
              <a:t>이 결정은 사건 본인과 보호자에게 알려야 한다</a:t>
            </a:r>
            <a:r>
              <a:rPr lang="en-US" altLang="ko-KR" sz="1250" b="1" dirty="0">
                <a:solidFill>
                  <a:srgbClr val="222633"/>
                </a:solidFill>
                <a:latin typeface="Pretendard"/>
                <a:ea typeface="Pretendard"/>
                <a:cs typeface="Pretendard"/>
              </a:rPr>
              <a:t>.</a:t>
            </a:r>
          </a:p>
          <a:p>
            <a:pPr>
              <a:lnSpc>
                <a:spcPct val="125000"/>
              </a:lnSpc>
            </a:pPr>
            <a:r>
              <a:rPr lang="ko-KR" altLang="en-US" sz="1250" b="1" dirty="0" err="1">
                <a:solidFill>
                  <a:schemeClr val="accent4">
                    <a:lumMod val="75000"/>
                  </a:schemeClr>
                </a:solidFill>
                <a:latin typeface="Pretendard"/>
                <a:ea typeface="Pretendard"/>
                <a:cs typeface="Pretendard"/>
              </a:rPr>
              <a:t>ㅡ</a:t>
            </a:r>
            <a:r>
              <a:rPr lang="ko-KR" altLang="en-US" sz="1250" b="1" dirty="0">
                <a:solidFill>
                  <a:schemeClr val="accent4">
                    <a:lumMod val="75000"/>
                  </a:schemeClr>
                </a:solidFill>
                <a:latin typeface="Pretendard"/>
                <a:ea typeface="Pretendard"/>
                <a:cs typeface="Pretendard"/>
              </a:rPr>
              <a:t> 정식 심리를 열기 전에 사건을 종결하는 결정</a:t>
            </a:r>
            <a:r>
              <a:rPr lang="en-US" altLang="ko-KR" sz="1250" b="1" dirty="0">
                <a:solidFill>
                  <a:schemeClr val="accent4">
                    <a:lumMod val="75000"/>
                  </a:schemeClr>
                </a:solidFill>
                <a:latin typeface="Pretendard"/>
                <a:ea typeface="Pretendard"/>
                <a:cs typeface="Pretendard"/>
              </a:rPr>
              <a:t>, </a:t>
            </a:r>
            <a:r>
              <a:rPr lang="ko-KR" altLang="en-US" sz="1250" b="1" dirty="0">
                <a:solidFill>
                  <a:schemeClr val="accent4">
                    <a:lumMod val="75000"/>
                  </a:schemeClr>
                </a:solidFill>
                <a:latin typeface="Pretendard"/>
                <a:ea typeface="Pretendard"/>
                <a:cs typeface="Pretendard"/>
              </a:rPr>
              <a:t>사안이 경미한 경우에도 심리 불개시가 가능하다</a:t>
            </a:r>
            <a:endParaRPr lang="en-US" altLang="ko-KR" sz="1250" b="1" dirty="0">
              <a:solidFill>
                <a:schemeClr val="accent4">
                  <a:lumMod val="75000"/>
                </a:schemeClr>
              </a:solidFill>
              <a:latin typeface="Pretendard"/>
              <a:ea typeface="Pretendard"/>
              <a:cs typeface="Pretendard"/>
            </a:endParaRPr>
          </a:p>
        </p:txBody>
      </p:sp>
      <p:sp>
        <p:nvSpPr>
          <p:cNvPr id="27" name="line27"/>
          <p:cNvSpPr/>
          <p:nvPr/>
        </p:nvSpPr>
        <p:spPr>
          <a:xfrm>
            <a:off x="731520" y="4604512"/>
            <a:ext cx="10725912" cy="0"/>
          </a:xfrm>
          <a:prstGeom prst="line">
            <a:avLst/>
          </a:prstGeom>
          <a:ln w="9525">
            <a:solidFill>
              <a:srgbClr val="DCE0E8"/>
            </a:solidFill>
          </a:ln>
        </p:spPr>
        <p:txBody>
          <a:bodyPr/>
          <a:lstStyle/>
          <a:p>
            <a:endParaRPr/>
          </a:p>
        </p:txBody>
      </p:sp>
      <p:sp>
        <p:nvSpPr>
          <p:cNvPr id="28" name="crh1"/>
          <p:cNvSpPr txBox="1"/>
          <p:nvPr/>
        </p:nvSpPr>
        <p:spPr>
          <a:xfrm>
            <a:off x="680720" y="5099812"/>
            <a:ext cx="2240280" cy="59436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불처분</a:t>
            </a:r>
            <a:endParaRPr lang="en-US" altLang="ko-KR" sz="1300" b="1" dirty="0">
              <a:solidFill>
                <a:srgbClr val="1E2761"/>
              </a:solidFill>
              <a:latin typeface="Pretendard"/>
              <a:ea typeface="Pretendard"/>
              <a:cs typeface="Pretendard"/>
            </a:endParaRPr>
          </a:p>
          <a:p>
            <a:pPr algn="ctr">
              <a:lnSpc>
                <a:spcPct val="118000"/>
              </a:lnSpc>
            </a:pPr>
            <a:r>
              <a:rPr lang="ko-KR" altLang="ko-KR" sz="1200" b="1" dirty="0">
                <a:solidFill>
                  <a:schemeClr val="tx1">
                    <a:lumMod val="50000"/>
                    <a:lumOff val="50000"/>
                  </a:schemeClr>
                </a:solidFill>
                <a:latin typeface="Pretendard"/>
                <a:ea typeface="Pretendard"/>
                <a:cs typeface="Pretendard"/>
              </a:rPr>
              <a:t>소년법 제</a:t>
            </a:r>
            <a:r>
              <a:rPr lang="en-US" altLang="ko-KR" sz="1200" b="1" dirty="0">
                <a:solidFill>
                  <a:schemeClr val="tx1">
                    <a:lumMod val="50000"/>
                    <a:lumOff val="50000"/>
                  </a:schemeClr>
                </a:solidFill>
                <a:latin typeface="Pretendard"/>
                <a:ea typeface="Pretendard"/>
                <a:cs typeface="Pretendard"/>
              </a:rPr>
              <a:t>2</a:t>
            </a:r>
            <a:r>
              <a:rPr lang="ko-KR" altLang="ko-KR" sz="1200" b="1" dirty="0">
                <a:solidFill>
                  <a:schemeClr val="tx1">
                    <a:lumMod val="50000"/>
                    <a:lumOff val="50000"/>
                  </a:schemeClr>
                </a:solidFill>
                <a:latin typeface="Pretendard"/>
                <a:ea typeface="Pretendard"/>
                <a:cs typeface="Pretendard"/>
              </a:rPr>
              <a:t>9조 </a:t>
            </a:r>
            <a:r>
              <a:rPr lang="ko-KR" altLang="en-US" sz="1200" b="1" dirty="0">
                <a:solidFill>
                  <a:schemeClr val="tx1">
                    <a:lumMod val="50000"/>
                    <a:lumOff val="50000"/>
                  </a:schemeClr>
                </a:solidFill>
                <a:latin typeface="Pretendard"/>
                <a:ea typeface="Pretendard"/>
                <a:cs typeface="Pretendard"/>
              </a:rPr>
              <a:t>제</a:t>
            </a:r>
            <a:r>
              <a:rPr lang="en-US" altLang="ko-KR" sz="1200" b="1" dirty="0">
                <a:solidFill>
                  <a:schemeClr val="tx1">
                    <a:lumMod val="50000"/>
                    <a:lumOff val="50000"/>
                  </a:schemeClr>
                </a:solidFill>
                <a:latin typeface="Pretendard"/>
                <a:ea typeface="Pretendard"/>
                <a:cs typeface="Pretendard"/>
              </a:rPr>
              <a:t>1</a:t>
            </a:r>
            <a:r>
              <a:rPr lang="ko-KR" altLang="en-US" sz="1200" b="1" dirty="0">
                <a:solidFill>
                  <a:schemeClr val="tx1">
                    <a:lumMod val="50000"/>
                    <a:lumOff val="50000"/>
                  </a:schemeClr>
                </a:solidFill>
                <a:latin typeface="Pretendard"/>
                <a:ea typeface="Pretendard"/>
                <a:cs typeface="Pretendard"/>
              </a:rPr>
              <a:t>항</a:t>
            </a:r>
          </a:p>
        </p:txBody>
      </p:sp>
      <p:sp>
        <p:nvSpPr>
          <p:cNvPr id="29" name="crb1"/>
          <p:cNvSpPr txBox="1"/>
          <p:nvPr/>
        </p:nvSpPr>
        <p:spPr>
          <a:xfrm>
            <a:off x="3103880" y="4916933"/>
            <a:ext cx="8302752" cy="960117"/>
          </a:xfrm>
          <a:prstGeom prst="rect">
            <a:avLst/>
          </a:prstGeom>
          <a:noFill/>
        </p:spPr>
        <p:txBody>
          <a:bodyPr wrap="square" lIns="0" tIns="27432" rIns="0" bIns="27432" anchor="ctr">
            <a:noAutofit/>
          </a:bodyPr>
          <a:lstStyle/>
          <a:p>
            <a:pPr>
              <a:lnSpc>
                <a:spcPct val="125000"/>
              </a:lnSpc>
            </a:pPr>
            <a:r>
              <a:rPr lang="ko-KR" altLang="en-US" sz="1250" b="1" dirty="0">
                <a:solidFill>
                  <a:srgbClr val="222633"/>
                </a:solidFill>
                <a:latin typeface="Pretendard"/>
                <a:ea typeface="Pretendard"/>
                <a:cs typeface="Pretendard"/>
              </a:rPr>
              <a:t>소년부 판사는 심리 결과 </a:t>
            </a:r>
            <a:r>
              <a:rPr lang="ko-KR" altLang="en-US" sz="1250" b="1" dirty="0">
                <a:solidFill>
                  <a:srgbClr val="222633"/>
                </a:solidFill>
                <a:highlight>
                  <a:srgbClr val="FFFF00"/>
                </a:highlight>
                <a:latin typeface="Pretendard"/>
                <a:ea typeface="Pretendard"/>
                <a:cs typeface="Pretendard"/>
              </a:rPr>
              <a:t>보호처분을 할 수 없거나 할 필요가 없다고 인정</a:t>
            </a:r>
            <a:r>
              <a:rPr lang="ko-KR" altLang="en-US" sz="1250" b="1" dirty="0">
                <a:solidFill>
                  <a:srgbClr val="222633"/>
                </a:solidFill>
                <a:latin typeface="Pretendard"/>
                <a:ea typeface="Pretendard"/>
                <a:cs typeface="Pretendard"/>
              </a:rPr>
              <a:t>하면 그 취지의 결정을 하고</a:t>
            </a:r>
            <a:r>
              <a:rPr lang="en-US" altLang="ko-KR" sz="1250" b="1" dirty="0">
                <a:solidFill>
                  <a:srgbClr val="222633"/>
                </a:solidFill>
                <a:latin typeface="Pretendard"/>
                <a:ea typeface="Pretendard"/>
                <a:cs typeface="Pretendard"/>
              </a:rPr>
              <a:t>, </a:t>
            </a:r>
            <a:r>
              <a:rPr lang="ko-KR" altLang="en-US" sz="1250" b="1" dirty="0">
                <a:solidFill>
                  <a:srgbClr val="222633"/>
                </a:solidFill>
                <a:latin typeface="Pretendard"/>
                <a:ea typeface="Pretendard"/>
                <a:cs typeface="Pretendard"/>
              </a:rPr>
              <a:t>이를 사건 본인과 보호자에게 알려야 한다</a:t>
            </a:r>
            <a:r>
              <a:rPr lang="en-US" altLang="ko-KR" sz="1250" b="1" dirty="0">
                <a:solidFill>
                  <a:srgbClr val="222633"/>
                </a:solidFill>
                <a:latin typeface="Pretendard"/>
                <a:ea typeface="Pretendard"/>
                <a:cs typeface="Pretendard"/>
              </a:rPr>
              <a:t>.</a:t>
            </a:r>
          </a:p>
          <a:p>
            <a:pPr>
              <a:lnSpc>
                <a:spcPct val="125000"/>
              </a:lnSpc>
            </a:pPr>
            <a:r>
              <a:rPr lang="ko-KR" altLang="en-US" sz="1250" b="1" dirty="0" err="1">
                <a:solidFill>
                  <a:schemeClr val="accent4">
                    <a:lumMod val="75000"/>
                  </a:schemeClr>
                </a:solidFill>
                <a:latin typeface="Pretendard"/>
                <a:ea typeface="Pretendard"/>
                <a:cs typeface="Pretendard"/>
              </a:rPr>
              <a:t>ㅡ</a:t>
            </a:r>
            <a:r>
              <a:rPr lang="ko-KR" altLang="en-US" sz="1250" b="1" dirty="0">
                <a:solidFill>
                  <a:schemeClr val="accent4">
                    <a:lumMod val="75000"/>
                  </a:schemeClr>
                </a:solidFill>
                <a:latin typeface="Pretendard"/>
                <a:ea typeface="Pretendard"/>
                <a:cs typeface="Pretendard"/>
              </a:rPr>
              <a:t> 정식 심리를 한 뒤 보호처분 없이 사건을 종결하는 결정</a:t>
            </a:r>
            <a:r>
              <a:rPr lang="en-US" altLang="ko-KR" sz="1250" b="1" dirty="0">
                <a:solidFill>
                  <a:schemeClr val="accent4">
                    <a:lumMod val="75000"/>
                  </a:schemeClr>
                </a:solidFill>
                <a:latin typeface="Pretendard"/>
                <a:ea typeface="Pretendard"/>
                <a:cs typeface="Pretendard"/>
              </a:rPr>
              <a:t>. </a:t>
            </a:r>
            <a:r>
              <a:rPr lang="ko-KR" altLang="en-US" sz="1250" b="1" dirty="0">
                <a:solidFill>
                  <a:schemeClr val="accent4">
                    <a:lumMod val="75000"/>
                  </a:schemeClr>
                </a:solidFill>
                <a:highlight>
                  <a:srgbClr val="F2F4F8"/>
                </a:highlight>
                <a:latin typeface="Pretendard"/>
                <a:ea typeface="Pretendard"/>
                <a:cs typeface="Pretendard"/>
              </a:rPr>
              <a:t>비행행위가 인정되더라도 보호처분이 필요하지 않다고 판단하면 불처분으로 </a:t>
            </a:r>
            <a:endParaRPr lang="en-US" altLang="ko-KR" sz="1250" b="1" dirty="0">
              <a:solidFill>
                <a:schemeClr val="accent4">
                  <a:lumMod val="75000"/>
                </a:schemeClr>
              </a:solidFill>
              <a:highlight>
                <a:srgbClr val="F2F4F8"/>
              </a:highlight>
              <a:latin typeface="Pretendard"/>
              <a:ea typeface="Pretendard"/>
              <a:cs typeface="Pretendard"/>
            </a:endParaRPr>
          </a:p>
          <a:p>
            <a:pPr>
              <a:lnSpc>
                <a:spcPct val="125000"/>
              </a:lnSpc>
            </a:pPr>
            <a:r>
              <a:rPr lang="en-US" altLang="ko-KR" sz="1250" b="1" dirty="0">
                <a:solidFill>
                  <a:schemeClr val="accent4">
                    <a:lumMod val="75000"/>
                  </a:schemeClr>
                </a:solidFill>
                <a:highlight>
                  <a:srgbClr val="F2F4F8"/>
                </a:highlight>
                <a:latin typeface="Pretendard"/>
                <a:ea typeface="Pretendard"/>
                <a:cs typeface="Pretendard"/>
              </a:rPr>
              <a:t>     </a:t>
            </a:r>
            <a:r>
              <a:rPr lang="ko-KR" altLang="en-US" sz="1250" b="1" dirty="0">
                <a:solidFill>
                  <a:schemeClr val="accent4">
                    <a:lumMod val="75000"/>
                  </a:schemeClr>
                </a:solidFill>
                <a:highlight>
                  <a:srgbClr val="F2F4F8"/>
                </a:highlight>
                <a:latin typeface="Pretendard"/>
                <a:ea typeface="Pretendard"/>
                <a:cs typeface="Pretendard"/>
              </a:rPr>
              <a:t>끝날 수 있다</a:t>
            </a:r>
            <a:endParaRPr lang="ko-KR" sz="1250" b="1" dirty="0">
              <a:solidFill>
                <a:srgbClr val="222633"/>
              </a:solidFill>
              <a:highlight>
                <a:srgbClr val="F2F4F8"/>
              </a:highlight>
              <a:latin typeface="Pretendard"/>
              <a:ea typeface="Pretendard"/>
              <a:cs typeface="Pretendard"/>
            </a:endParaRPr>
          </a:p>
        </p:txBody>
      </p:sp>
      <p:sp>
        <p:nvSpPr>
          <p:cNvPr id="33" name="line33"/>
          <p:cNvSpPr/>
          <p:nvPr/>
        </p:nvSpPr>
        <p:spPr>
          <a:xfrm>
            <a:off x="731520" y="6144768"/>
            <a:ext cx="10725912" cy="0"/>
          </a:xfrm>
          <a:prstGeom prst="line">
            <a:avLst/>
          </a:prstGeom>
          <a:ln w="19050">
            <a:solidFill>
              <a:srgbClr val="1E2761"/>
            </a:solidFill>
          </a:ln>
        </p:spPr>
        <p:txBody>
          <a:bodyPr/>
          <a:lstStyle/>
          <a:p>
            <a:endParaRPr/>
          </a:p>
        </p:txBody>
      </p:sp>
      <p:sp>
        <p:nvSpPr>
          <p:cNvPr id="34"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성평등가족부(2026.7.14.) 공론화 결과 보고 · 세부 건수는 연합뉴스 2026.7.14. 보도 기준</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형사책임연령과 현행 대응</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2025 촉법소년 보호처분 결과</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촉법소년 소년부송치 — 범죄유형별 변화</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2020~2025년 촉법소년 소년부송치는 절도·폭력·강간·추행에서 모두 늘었지만, 범죄유형별 증가 폭은 같지 않았다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CHT"/>
          <p:cNvSpPr/>
          <p:nvPr/>
        </p:nvSpPr>
        <p:spPr>
          <a:xfrm>
            <a:off x="731520" y="2144268"/>
            <a:ext cx="5486400" cy="237744"/>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2020 → 2025 촉법소년 소년부송치 인원(명)</a:t>
            </a:r>
          </a:p>
        </p:txBody>
      </p:sp>
      <p:sp>
        <p:nvSpPr>
          <p:cNvPr id="9" name="LG9"/>
          <p:cNvSpPr/>
          <p:nvPr/>
        </p:nvSpPr>
        <p:spPr>
          <a:xfrm>
            <a:off x="9720072" y="2231136"/>
            <a:ext cx="182880" cy="118872"/>
          </a:xfrm>
          <a:prstGeom prst="rect">
            <a:avLst/>
          </a:prstGeom>
          <a:solidFill>
            <a:srgbClr val="C9CEDA"/>
          </a:solidFill>
          <a:ln/>
        </p:spPr>
        <p:txBody>
          <a:bodyPr/>
          <a:lstStyle/>
          <a:p>
            <a:endParaRPr lang="ko-KR" altLang="en-US"/>
          </a:p>
        </p:txBody>
      </p:sp>
      <p:sp>
        <p:nvSpPr>
          <p:cNvPr id="10" name="LGT10"/>
          <p:cNvSpPr/>
          <p:nvPr/>
        </p:nvSpPr>
        <p:spPr>
          <a:xfrm>
            <a:off x="9957816" y="2176272"/>
            <a:ext cx="585216" cy="219456"/>
          </a:xfrm>
          <a:prstGeom prst="rect">
            <a:avLst/>
          </a:prstGeom>
          <a:noFill/>
          <a:ln/>
        </p:spPr>
        <p:txBody>
          <a:bodyPr wrap="square" lIns="0" tIns="0" rIns="0" bIns="0" rtlCol="0" anchor="ctr"/>
          <a:lstStyle/>
          <a:p>
            <a:pPr marL="0" indent="0">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2020</a:t>
            </a:r>
          </a:p>
        </p:txBody>
      </p:sp>
      <p:sp>
        <p:nvSpPr>
          <p:cNvPr id="11" name="LG11"/>
          <p:cNvSpPr/>
          <p:nvPr/>
        </p:nvSpPr>
        <p:spPr>
          <a:xfrm>
            <a:off x="10634472" y="2231136"/>
            <a:ext cx="182880" cy="118872"/>
          </a:xfrm>
          <a:prstGeom prst="rect">
            <a:avLst/>
          </a:prstGeom>
          <a:solidFill>
            <a:srgbClr val="1E2761"/>
          </a:solidFill>
          <a:ln/>
        </p:spPr>
        <p:txBody>
          <a:bodyPr/>
          <a:lstStyle/>
          <a:p>
            <a:endParaRPr lang="ko-KR" altLang="en-US"/>
          </a:p>
        </p:txBody>
      </p:sp>
      <p:sp>
        <p:nvSpPr>
          <p:cNvPr id="12" name="LGT12"/>
          <p:cNvSpPr/>
          <p:nvPr/>
        </p:nvSpPr>
        <p:spPr>
          <a:xfrm>
            <a:off x="10872216" y="2176272"/>
            <a:ext cx="585216" cy="219456"/>
          </a:xfrm>
          <a:prstGeom prst="rect">
            <a:avLst/>
          </a:prstGeom>
          <a:noFill/>
          <a:ln/>
        </p:spPr>
        <p:txBody>
          <a:bodyPr wrap="square" lIns="0" tIns="0" rIns="0" bIns="0" rtlCol="0" anchor="ctr"/>
          <a:lstStyle/>
          <a:p>
            <a:pPr marL="0" indent="0">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2025</a:t>
            </a:r>
          </a:p>
        </p:txBody>
      </p:sp>
      <p:sp>
        <p:nvSpPr>
          <p:cNvPr id="13" name="AXIS"/>
          <p:cNvSpPr/>
          <p:nvPr/>
        </p:nvSpPr>
        <p:spPr>
          <a:xfrm>
            <a:off x="2011680" y="5047488"/>
            <a:ext cx="9418320" cy="0"/>
          </a:xfrm>
          <a:prstGeom prst="line">
            <a:avLst/>
          </a:prstGeom>
          <a:ln w="9525">
            <a:solidFill>
              <a:srgbClr val="DCE0E8"/>
            </a:solidFill>
          </a:ln>
        </p:spPr>
        <p:txBody>
          <a:bodyPr/>
          <a:lstStyle/>
          <a:p>
            <a:endParaRPr lang="ko-KR"/>
          </a:p>
        </p:txBody>
      </p:sp>
      <p:sp>
        <p:nvSpPr>
          <p:cNvPr id="14" name="BAR14"/>
          <p:cNvSpPr/>
          <p:nvPr/>
        </p:nvSpPr>
        <p:spPr>
          <a:xfrm>
            <a:off x="2557272" y="3861311"/>
            <a:ext cx="1051560" cy="1186177"/>
          </a:xfrm>
          <a:prstGeom prst="rect">
            <a:avLst/>
          </a:prstGeom>
          <a:solidFill>
            <a:srgbClr val="C9CEDA"/>
          </a:solidFill>
          <a:ln/>
        </p:spPr>
        <p:txBody>
          <a:bodyPr/>
          <a:lstStyle/>
          <a:p>
            <a:endParaRPr lang="ko-KR" altLang="en-US"/>
          </a:p>
        </p:txBody>
      </p:sp>
      <p:sp>
        <p:nvSpPr>
          <p:cNvPr id="15" name="BV15"/>
          <p:cNvSpPr/>
          <p:nvPr/>
        </p:nvSpPr>
        <p:spPr>
          <a:xfrm>
            <a:off x="2420112" y="3586991"/>
            <a:ext cx="1325880" cy="256032"/>
          </a:xfrm>
          <a:prstGeom prst="rect">
            <a:avLst/>
          </a:prstGeom>
          <a:noFill/>
          <a:ln/>
        </p:spPr>
        <p:txBody>
          <a:bodyPr wrap="square" lIns="0" tIns="0" rIns="0" bIns="0" rtlCol="0" anchor="ctr"/>
          <a:lstStyle/>
          <a:p>
            <a:pPr marL="0" indent="0" algn="ctr">
              <a:lnSpc>
                <a:spcPct val="118000"/>
              </a:lnSpc>
              <a:buNone/>
            </a:pPr>
            <a:r>
              <a:rPr lang="ko-KR" altLang="en-US" sz="1150" b="1" dirty="0">
                <a:solidFill>
                  <a:srgbClr val="222633"/>
                </a:solidFill>
                <a:latin typeface="Pretendard" pitchFamily="34" charset="0"/>
                <a:ea typeface="Pretendard" pitchFamily="34" charset="-122"/>
                <a:cs typeface="Pretendard" pitchFamily="34" charset="-120"/>
              </a:rPr>
              <a:t>5,123</a:t>
            </a:r>
          </a:p>
        </p:txBody>
      </p:sp>
      <p:sp>
        <p:nvSpPr>
          <p:cNvPr id="16" name="BAR16"/>
          <p:cNvSpPr/>
          <p:nvPr/>
        </p:nvSpPr>
        <p:spPr>
          <a:xfrm>
            <a:off x="3736848" y="2706624"/>
            <a:ext cx="1051560" cy="2340864"/>
          </a:xfrm>
          <a:prstGeom prst="rect">
            <a:avLst/>
          </a:prstGeom>
          <a:solidFill>
            <a:srgbClr val="1E2761"/>
          </a:solidFill>
          <a:ln/>
        </p:spPr>
        <p:txBody>
          <a:bodyPr/>
          <a:lstStyle/>
          <a:p>
            <a:endParaRPr lang="ko-KR" altLang="en-US"/>
          </a:p>
        </p:txBody>
      </p:sp>
      <p:sp>
        <p:nvSpPr>
          <p:cNvPr id="17" name="BV17"/>
          <p:cNvSpPr/>
          <p:nvPr/>
        </p:nvSpPr>
        <p:spPr>
          <a:xfrm>
            <a:off x="3599688" y="2432304"/>
            <a:ext cx="1325880" cy="256032"/>
          </a:xfrm>
          <a:prstGeom prst="rect">
            <a:avLst/>
          </a:prstGeom>
          <a:noFill/>
          <a:ln/>
        </p:spPr>
        <p:txBody>
          <a:bodyPr wrap="square" lIns="0" tIns="0" rIns="0" bIns="0" rtlCol="0" anchor="ctr"/>
          <a:lstStyle/>
          <a:p>
            <a:pPr marL="0" indent="0" algn="ctr">
              <a:lnSpc>
                <a:spcPct val="118000"/>
              </a:lnSpc>
              <a:buNone/>
            </a:pPr>
            <a:r>
              <a:rPr lang="ko-KR" altLang="en-US" sz="1150" b="1" dirty="0">
                <a:solidFill>
                  <a:srgbClr val="222633"/>
                </a:solidFill>
                <a:latin typeface="Pretendard" pitchFamily="34" charset="0"/>
                <a:ea typeface="Pretendard" pitchFamily="34" charset="-122"/>
                <a:cs typeface="Pretendard" pitchFamily="34" charset="-120"/>
              </a:rPr>
              <a:t>10,110</a:t>
            </a:r>
          </a:p>
        </p:txBody>
      </p:sp>
      <p:sp>
        <p:nvSpPr>
          <p:cNvPr id="18" name="CAT18"/>
          <p:cNvSpPr/>
          <p:nvPr/>
        </p:nvSpPr>
        <p:spPr>
          <a:xfrm>
            <a:off x="2148840" y="5102352"/>
            <a:ext cx="3048000" cy="274320"/>
          </a:xfrm>
          <a:prstGeom prst="rect">
            <a:avLst/>
          </a:prstGeom>
          <a:noFill/>
          <a:ln/>
        </p:spPr>
        <p:txBody>
          <a:bodyPr wrap="square" lIns="0" tIns="0" rIns="0" bIns="0" rtlCol="0" anchor="ctr"/>
          <a:lstStyle/>
          <a:p>
            <a:pPr marL="0" indent="0" algn="ctr">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절도   </a:t>
            </a:r>
            <a:r>
              <a:rPr lang="ko-KR" altLang="en-US" sz="1300" b="1" dirty="0">
                <a:solidFill>
                  <a:srgbClr val="1E2761"/>
                </a:solidFill>
                <a:latin typeface="Pretendard" pitchFamily="34" charset="0"/>
                <a:ea typeface="Pretendard" pitchFamily="34" charset="-122"/>
                <a:cs typeface="Pretendard" pitchFamily="34" charset="-120"/>
              </a:rPr>
              <a:t>+97.3%</a:t>
            </a:r>
          </a:p>
        </p:txBody>
      </p:sp>
      <p:sp>
        <p:nvSpPr>
          <p:cNvPr id="19" name="BAR19"/>
          <p:cNvSpPr/>
          <p:nvPr/>
        </p:nvSpPr>
        <p:spPr>
          <a:xfrm>
            <a:off x="5605272" y="4590892"/>
            <a:ext cx="1051560" cy="456596"/>
          </a:xfrm>
          <a:prstGeom prst="rect">
            <a:avLst/>
          </a:prstGeom>
          <a:solidFill>
            <a:srgbClr val="C9CEDA"/>
          </a:solidFill>
          <a:ln/>
        </p:spPr>
        <p:txBody>
          <a:bodyPr/>
          <a:lstStyle/>
          <a:p>
            <a:endParaRPr lang="ko-KR" altLang="en-US"/>
          </a:p>
        </p:txBody>
      </p:sp>
      <p:sp>
        <p:nvSpPr>
          <p:cNvPr id="20" name="BV20"/>
          <p:cNvSpPr/>
          <p:nvPr/>
        </p:nvSpPr>
        <p:spPr>
          <a:xfrm>
            <a:off x="5468112" y="4316572"/>
            <a:ext cx="1325880" cy="256032"/>
          </a:xfrm>
          <a:prstGeom prst="rect">
            <a:avLst/>
          </a:prstGeom>
          <a:noFill/>
          <a:ln/>
        </p:spPr>
        <p:txBody>
          <a:bodyPr wrap="square" lIns="0" tIns="0" rIns="0" bIns="0" rtlCol="0" anchor="ctr"/>
          <a:lstStyle/>
          <a:p>
            <a:pPr marL="0" indent="0" algn="ctr">
              <a:lnSpc>
                <a:spcPct val="118000"/>
              </a:lnSpc>
              <a:buNone/>
            </a:pPr>
            <a:r>
              <a:rPr lang="ko-KR" altLang="en-US" sz="1150" b="1" dirty="0">
                <a:solidFill>
                  <a:srgbClr val="222633"/>
                </a:solidFill>
                <a:latin typeface="Pretendard" pitchFamily="34" charset="0"/>
                <a:ea typeface="Pretendard" pitchFamily="34" charset="-122"/>
                <a:cs typeface="Pretendard" pitchFamily="34" charset="-120"/>
              </a:rPr>
              <a:t>1,972</a:t>
            </a:r>
          </a:p>
        </p:txBody>
      </p:sp>
      <p:sp>
        <p:nvSpPr>
          <p:cNvPr id="21" name="BAR21"/>
          <p:cNvSpPr/>
          <p:nvPr/>
        </p:nvSpPr>
        <p:spPr>
          <a:xfrm>
            <a:off x="6784848" y="3769390"/>
            <a:ext cx="1051560" cy="1278098"/>
          </a:xfrm>
          <a:prstGeom prst="rect">
            <a:avLst/>
          </a:prstGeom>
          <a:solidFill>
            <a:srgbClr val="1E2761"/>
          </a:solidFill>
          <a:ln/>
        </p:spPr>
        <p:txBody>
          <a:bodyPr/>
          <a:lstStyle/>
          <a:p>
            <a:endParaRPr lang="ko-KR" altLang="en-US"/>
          </a:p>
        </p:txBody>
      </p:sp>
      <p:sp>
        <p:nvSpPr>
          <p:cNvPr id="22" name="BV22"/>
          <p:cNvSpPr/>
          <p:nvPr/>
        </p:nvSpPr>
        <p:spPr>
          <a:xfrm>
            <a:off x="6647688" y="3495070"/>
            <a:ext cx="1325880" cy="256032"/>
          </a:xfrm>
          <a:prstGeom prst="rect">
            <a:avLst/>
          </a:prstGeom>
          <a:noFill/>
          <a:ln/>
        </p:spPr>
        <p:txBody>
          <a:bodyPr wrap="square" lIns="0" tIns="0" rIns="0" bIns="0" rtlCol="0" anchor="ctr"/>
          <a:lstStyle/>
          <a:p>
            <a:pPr marL="0" indent="0" algn="ctr">
              <a:lnSpc>
                <a:spcPct val="118000"/>
              </a:lnSpc>
              <a:buNone/>
            </a:pPr>
            <a:r>
              <a:rPr lang="ko-KR" altLang="en-US" sz="1150" b="1" dirty="0">
                <a:solidFill>
                  <a:srgbClr val="222633"/>
                </a:solidFill>
                <a:latin typeface="Pretendard" pitchFamily="34" charset="0"/>
                <a:ea typeface="Pretendard" pitchFamily="34" charset="-122"/>
                <a:cs typeface="Pretendard" pitchFamily="34" charset="-120"/>
              </a:rPr>
              <a:t>5,520</a:t>
            </a:r>
          </a:p>
        </p:txBody>
      </p:sp>
      <p:sp>
        <p:nvSpPr>
          <p:cNvPr id="23" name="CAT23"/>
          <p:cNvSpPr/>
          <p:nvPr/>
        </p:nvSpPr>
        <p:spPr>
          <a:xfrm>
            <a:off x="5196840" y="5102352"/>
            <a:ext cx="3048000" cy="274320"/>
          </a:xfrm>
          <a:prstGeom prst="rect">
            <a:avLst/>
          </a:prstGeom>
          <a:noFill/>
          <a:ln/>
        </p:spPr>
        <p:txBody>
          <a:bodyPr wrap="square" lIns="0" tIns="0" rIns="0" bIns="0" rtlCol="0" anchor="ctr"/>
          <a:lstStyle/>
          <a:p>
            <a:pPr marL="0" indent="0" algn="ctr">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폭력   </a:t>
            </a:r>
            <a:r>
              <a:rPr lang="ko-KR" altLang="en-US" sz="1300" b="1" dirty="0">
                <a:solidFill>
                  <a:srgbClr val="1E2761"/>
                </a:solidFill>
                <a:latin typeface="Pretendard" pitchFamily="34" charset="0"/>
                <a:ea typeface="Pretendard" pitchFamily="34" charset="-122"/>
                <a:cs typeface="Pretendard" pitchFamily="34" charset="-120"/>
              </a:rPr>
              <a:t>+179.9%</a:t>
            </a:r>
          </a:p>
        </p:txBody>
      </p:sp>
      <p:sp>
        <p:nvSpPr>
          <p:cNvPr id="24" name="BAR24"/>
          <p:cNvSpPr/>
          <p:nvPr/>
        </p:nvSpPr>
        <p:spPr>
          <a:xfrm>
            <a:off x="8653272" y="4961124"/>
            <a:ext cx="1051560" cy="86364"/>
          </a:xfrm>
          <a:prstGeom prst="rect">
            <a:avLst/>
          </a:prstGeom>
          <a:solidFill>
            <a:srgbClr val="C9CEDA"/>
          </a:solidFill>
          <a:ln/>
        </p:spPr>
        <p:txBody>
          <a:bodyPr/>
          <a:lstStyle/>
          <a:p>
            <a:endParaRPr lang="ko-KR" altLang="en-US"/>
          </a:p>
        </p:txBody>
      </p:sp>
      <p:sp>
        <p:nvSpPr>
          <p:cNvPr id="25" name="BV25"/>
          <p:cNvSpPr/>
          <p:nvPr/>
        </p:nvSpPr>
        <p:spPr>
          <a:xfrm>
            <a:off x="8516112" y="4686804"/>
            <a:ext cx="1325880" cy="256032"/>
          </a:xfrm>
          <a:prstGeom prst="rect">
            <a:avLst/>
          </a:prstGeom>
          <a:noFill/>
          <a:ln/>
        </p:spPr>
        <p:txBody>
          <a:bodyPr wrap="square" lIns="0" tIns="0" rIns="0" bIns="0" rtlCol="0" anchor="ctr"/>
          <a:lstStyle/>
          <a:p>
            <a:pPr marL="0" indent="0" algn="ctr">
              <a:lnSpc>
                <a:spcPct val="118000"/>
              </a:lnSpc>
              <a:buNone/>
            </a:pPr>
            <a:r>
              <a:rPr lang="ko-KR" altLang="en-US" sz="1150" b="1" dirty="0">
                <a:solidFill>
                  <a:srgbClr val="222633"/>
                </a:solidFill>
                <a:latin typeface="Pretendard" pitchFamily="34" charset="0"/>
                <a:ea typeface="Pretendard" pitchFamily="34" charset="-122"/>
                <a:cs typeface="Pretendard" pitchFamily="34" charset="-120"/>
              </a:rPr>
              <a:t>373</a:t>
            </a:r>
          </a:p>
        </p:txBody>
      </p:sp>
      <p:sp>
        <p:nvSpPr>
          <p:cNvPr id="26" name="BAR26"/>
          <p:cNvSpPr/>
          <p:nvPr/>
        </p:nvSpPr>
        <p:spPr>
          <a:xfrm>
            <a:off x="9832848" y="4876380"/>
            <a:ext cx="1051560" cy="171108"/>
          </a:xfrm>
          <a:prstGeom prst="rect">
            <a:avLst/>
          </a:prstGeom>
          <a:solidFill>
            <a:srgbClr val="1E2761"/>
          </a:solidFill>
          <a:ln/>
        </p:spPr>
        <p:txBody>
          <a:bodyPr/>
          <a:lstStyle/>
          <a:p>
            <a:endParaRPr lang="ko-KR" altLang="en-US"/>
          </a:p>
        </p:txBody>
      </p:sp>
      <p:sp>
        <p:nvSpPr>
          <p:cNvPr id="27" name="BV27"/>
          <p:cNvSpPr/>
          <p:nvPr/>
        </p:nvSpPr>
        <p:spPr>
          <a:xfrm>
            <a:off x="9695688" y="4602060"/>
            <a:ext cx="1325880" cy="256032"/>
          </a:xfrm>
          <a:prstGeom prst="rect">
            <a:avLst/>
          </a:prstGeom>
          <a:noFill/>
          <a:ln/>
        </p:spPr>
        <p:txBody>
          <a:bodyPr wrap="square" lIns="0" tIns="0" rIns="0" bIns="0" rtlCol="0" anchor="ctr"/>
          <a:lstStyle/>
          <a:p>
            <a:pPr marL="0" indent="0" algn="ctr">
              <a:lnSpc>
                <a:spcPct val="118000"/>
              </a:lnSpc>
              <a:buNone/>
            </a:pPr>
            <a:r>
              <a:rPr lang="ko-KR" altLang="en-US" sz="1150" b="1" dirty="0">
                <a:solidFill>
                  <a:srgbClr val="222633"/>
                </a:solidFill>
                <a:latin typeface="Pretendard" pitchFamily="34" charset="0"/>
                <a:ea typeface="Pretendard" pitchFamily="34" charset="-122"/>
                <a:cs typeface="Pretendard" pitchFamily="34" charset="-120"/>
              </a:rPr>
              <a:t>739</a:t>
            </a:r>
          </a:p>
        </p:txBody>
      </p:sp>
      <p:sp>
        <p:nvSpPr>
          <p:cNvPr id="28" name="CAT28"/>
          <p:cNvSpPr/>
          <p:nvPr/>
        </p:nvSpPr>
        <p:spPr>
          <a:xfrm>
            <a:off x="8244840" y="5102352"/>
            <a:ext cx="3048000" cy="274320"/>
          </a:xfrm>
          <a:prstGeom prst="rect">
            <a:avLst/>
          </a:prstGeom>
          <a:noFill/>
          <a:ln/>
        </p:spPr>
        <p:txBody>
          <a:bodyPr wrap="square" lIns="0" tIns="0" rIns="0" bIns="0" rtlCol="0" anchor="ctr"/>
          <a:lstStyle/>
          <a:p>
            <a:pPr marL="0" indent="0" algn="ctr">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강간 · 추행   </a:t>
            </a:r>
            <a:r>
              <a:rPr lang="ko-KR" altLang="en-US" sz="1300" b="1" dirty="0">
                <a:solidFill>
                  <a:srgbClr val="1E2761"/>
                </a:solidFill>
                <a:latin typeface="Pretendard" pitchFamily="34" charset="0"/>
                <a:ea typeface="Pretendard" pitchFamily="34" charset="-122"/>
                <a:cs typeface="Pretendard" pitchFamily="34" charset="-120"/>
              </a:rPr>
              <a:t>+98.1%</a:t>
            </a:r>
          </a:p>
        </p:txBody>
      </p:sp>
      <p:sp>
        <p:nvSpPr>
          <p:cNvPr id="29" name="R1"/>
          <p:cNvSpPr/>
          <p:nvPr/>
        </p:nvSpPr>
        <p:spPr>
          <a:xfrm>
            <a:off x="731520" y="5449824"/>
            <a:ext cx="10725912" cy="0"/>
          </a:xfrm>
          <a:prstGeom prst="line">
            <a:avLst/>
          </a:prstGeom>
          <a:ln w="9525">
            <a:solidFill>
              <a:srgbClr val="DCE0E8"/>
            </a:solidFill>
          </a:ln>
        </p:spPr>
        <p:txBody>
          <a:bodyPr/>
          <a:lstStyle/>
          <a:p>
            <a:endParaRPr lang="ko-KR"/>
          </a:p>
        </p:txBody>
      </p:sp>
      <p:sp>
        <p:nvSpPr>
          <p:cNvPr id="30" name="INTP"/>
          <p:cNvSpPr/>
          <p:nvPr/>
        </p:nvSpPr>
        <p:spPr>
          <a:xfrm>
            <a:off x="731520" y="5527548"/>
            <a:ext cx="10725912" cy="237744"/>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폭력의 증가율이 가장 컸지만, 절도는 2025년에도 가장 큰 규모를 차지했다.</a:t>
            </a:r>
          </a:p>
        </p:txBody>
      </p:sp>
      <p:sp>
        <p:nvSpPr>
          <p:cNvPr id="31" name="R2"/>
          <p:cNvSpPr/>
          <p:nvPr/>
        </p:nvSpPr>
        <p:spPr>
          <a:xfrm>
            <a:off x="731520" y="5815584"/>
            <a:ext cx="10725912" cy="0"/>
          </a:xfrm>
          <a:prstGeom prst="line">
            <a:avLst/>
          </a:prstGeom>
          <a:ln w="9525">
            <a:solidFill>
              <a:srgbClr val="DCE0E8"/>
            </a:solidFill>
          </a:ln>
        </p:spPr>
        <p:txBody>
          <a:bodyPr/>
          <a:lstStyle/>
          <a:p>
            <a:endParaRPr lang="ko-KR"/>
          </a:p>
        </p:txBody>
      </p:sp>
      <p:sp>
        <p:nvSpPr>
          <p:cNvPr id="32" name="GDSUB"/>
          <p:cNvSpPr/>
          <p:nvPr/>
        </p:nvSpPr>
        <p:spPr>
          <a:xfrm>
            <a:off x="731520" y="5884164"/>
            <a:ext cx="10725912" cy="457200"/>
          </a:xfrm>
          <a:prstGeom prst="rect">
            <a:avLst/>
          </a:prstGeom>
          <a:noFill/>
          <a:ln/>
        </p:spPr>
        <p:txBody>
          <a:bodyPr wrap="square" lIns="0" tIns="0" rIns="0" bIns="0" rtlCol="0" anchor="t"/>
          <a:lstStyle/>
          <a:p>
            <a:pPr>
              <a:lnSpc>
                <a:spcPct val="118000"/>
              </a:lnSpc>
              <a:spcAft>
                <a:spcPts val="300"/>
              </a:spcAft>
            </a:pPr>
            <a:r>
              <a:rPr lang="ko-KR" altLang="en-US" sz="1200" dirty="0">
                <a:solidFill>
                  <a:srgbClr val="A8871C"/>
                </a:solidFill>
                <a:latin typeface="Pretendard" pitchFamily="34" charset="0"/>
                <a:ea typeface="Pretendard" pitchFamily="34" charset="-122"/>
                <a:cs typeface="Pretendard" pitchFamily="34" charset="-120"/>
              </a:rPr>
              <a:t>송치인원의 증가는 인구 대비 </a:t>
            </a:r>
            <a:r>
              <a:rPr lang="ko-KR" altLang="en-US" sz="1200" dirty="0" err="1">
                <a:solidFill>
                  <a:srgbClr val="A8871C"/>
                </a:solidFill>
                <a:latin typeface="Pretendard" pitchFamily="34" charset="0"/>
                <a:ea typeface="Pretendard" pitchFamily="34" charset="-122"/>
                <a:cs typeface="Pretendard" pitchFamily="34" charset="-120"/>
              </a:rPr>
              <a:t>범죄율</a:t>
            </a:r>
            <a:r>
              <a:rPr lang="ko-KR" altLang="en-US" sz="1200" dirty="0">
                <a:solidFill>
                  <a:srgbClr val="A8871C"/>
                </a:solidFill>
                <a:latin typeface="Pretendard" pitchFamily="34" charset="0"/>
                <a:ea typeface="Pretendard" pitchFamily="34" charset="-122"/>
                <a:cs typeface="Pretendard" pitchFamily="34" charset="-120"/>
              </a:rPr>
              <a:t> 증가와 같지 않으며</a:t>
            </a:r>
            <a:r>
              <a:rPr lang="en-US" altLang="ko-KR" sz="1200" dirty="0">
                <a:solidFill>
                  <a:srgbClr val="A8871C"/>
                </a:solidFill>
                <a:latin typeface="Pretendard" pitchFamily="34" charset="0"/>
                <a:ea typeface="Pretendard" pitchFamily="34" charset="-122"/>
                <a:cs typeface="Pretendard" pitchFamily="34" charset="-120"/>
              </a:rPr>
              <a:t>, </a:t>
            </a:r>
            <a:r>
              <a:rPr lang="ko-KR" altLang="en-US" sz="1200" dirty="0">
                <a:solidFill>
                  <a:srgbClr val="A8871C"/>
                </a:solidFill>
                <a:latin typeface="Pretendard" pitchFamily="34" charset="0"/>
                <a:ea typeface="Pretendard" pitchFamily="34" charset="-122"/>
                <a:cs typeface="Pretendard" pitchFamily="34" charset="-120"/>
              </a:rPr>
              <a:t>인구규모와 신고</a:t>
            </a:r>
            <a:r>
              <a:rPr lang="en-US" altLang="ko-KR" sz="1200" dirty="0">
                <a:solidFill>
                  <a:srgbClr val="A8871C"/>
                </a:solidFill>
                <a:latin typeface="Pretendard" pitchFamily="34" charset="0"/>
                <a:ea typeface="Pretendard" pitchFamily="34" charset="-122"/>
                <a:cs typeface="Pretendard" pitchFamily="34" charset="-120"/>
              </a:rPr>
              <a:t>·</a:t>
            </a:r>
            <a:r>
              <a:rPr lang="ko-KR" altLang="en-US" sz="1200" dirty="0">
                <a:solidFill>
                  <a:srgbClr val="A8871C"/>
                </a:solidFill>
                <a:latin typeface="Pretendard" pitchFamily="34" charset="0"/>
                <a:ea typeface="Pretendard" pitchFamily="34" charset="-122"/>
                <a:cs typeface="Pretendard" pitchFamily="34" charset="-120"/>
              </a:rPr>
              <a:t>인지 등 집계에 영향을 주는 요인을 함께 확인해야 한다</a:t>
            </a:r>
            <a:r>
              <a:rPr lang="en-US" altLang="ko-KR" sz="1200" dirty="0">
                <a:solidFill>
                  <a:srgbClr val="A8871C"/>
                </a:solidFill>
                <a:latin typeface="Pretendard" pitchFamily="34" charset="0"/>
                <a:ea typeface="Pretendard" pitchFamily="34" charset="-122"/>
                <a:cs typeface="Pretendard" pitchFamily="34" charset="-120"/>
              </a:rPr>
              <a:t>.</a:t>
            </a:r>
            <a:endParaRPr lang="ko-KR" altLang="en-US" sz="1200" dirty="0">
              <a:solidFill>
                <a:srgbClr val="A8871C"/>
              </a:solidFill>
              <a:latin typeface="Pretendard" pitchFamily="34" charset="0"/>
              <a:ea typeface="Pretendard" pitchFamily="34" charset="-122"/>
              <a:cs typeface="Pretendard" pitchFamily="34" charset="-120"/>
            </a:endParaRPr>
          </a:p>
          <a:p>
            <a:pPr>
              <a:lnSpc>
                <a:spcPct val="118000"/>
              </a:lnSpc>
            </a:pPr>
            <a:r>
              <a:rPr lang="ko-KR" altLang="en-US" sz="1150" dirty="0">
                <a:solidFill>
                  <a:srgbClr val="464D5C"/>
                </a:solidFill>
                <a:highlight>
                  <a:srgbClr val="FFFF00"/>
                </a:highlight>
                <a:latin typeface="Pretendard" pitchFamily="34" charset="0"/>
                <a:ea typeface="Pretendard" pitchFamily="34" charset="-122"/>
                <a:cs typeface="Pretendard" pitchFamily="34" charset="-120"/>
              </a:rPr>
              <a:t>같은 기간 살인은 </a:t>
            </a:r>
            <a:r>
              <a:rPr lang="en-US" altLang="ko-KR" sz="1150" dirty="0">
                <a:solidFill>
                  <a:srgbClr val="464D5C"/>
                </a:solidFill>
                <a:highlight>
                  <a:srgbClr val="FFFF00"/>
                </a:highlight>
                <a:latin typeface="Pretendard" pitchFamily="34" charset="0"/>
                <a:ea typeface="Pretendard" pitchFamily="34" charset="-122"/>
                <a:cs typeface="Pretendard" pitchFamily="34" charset="-120"/>
              </a:rPr>
              <a:t>4</a:t>
            </a:r>
            <a:r>
              <a:rPr lang="ko-KR" altLang="en-US" sz="1150" dirty="0">
                <a:solidFill>
                  <a:srgbClr val="464D5C"/>
                </a:solidFill>
                <a:highlight>
                  <a:srgbClr val="FFFF00"/>
                </a:highlight>
                <a:latin typeface="Pretendard" pitchFamily="34" charset="0"/>
                <a:ea typeface="Pretendard" pitchFamily="34" charset="-122"/>
                <a:cs typeface="Pretendard" pitchFamily="34" charset="-120"/>
              </a:rPr>
              <a:t>명→</a:t>
            </a:r>
            <a:r>
              <a:rPr lang="en-US" altLang="ko-KR" sz="1150" dirty="0">
                <a:solidFill>
                  <a:srgbClr val="464D5C"/>
                </a:solidFill>
                <a:highlight>
                  <a:srgbClr val="FFFF00"/>
                </a:highlight>
                <a:latin typeface="Pretendard" pitchFamily="34" charset="0"/>
                <a:ea typeface="Pretendard" pitchFamily="34" charset="-122"/>
                <a:cs typeface="Pretendard" pitchFamily="34" charset="-120"/>
              </a:rPr>
              <a:t>0</a:t>
            </a:r>
            <a:r>
              <a:rPr lang="ko-KR" altLang="en-US" sz="1150" dirty="0">
                <a:solidFill>
                  <a:srgbClr val="464D5C"/>
                </a:solidFill>
                <a:highlight>
                  <a:srgbClr val="FFFF00"/>
                </a:highlight>
                <a:latin typeface="Pretendard" pitchFamily="34" charset="0"/>
                <a:ea typeface="Pretendard" pitchFamily="34" charset="-122"/>
                <a:cs typeface="Pretendard" pitchFamily="34" charset="-120"/>
              </a:rPr>
              <a:t>명</a:t>
            </a:r>
            <a:r>
              <a:rPr lang="en-US" altLang="ko-KR" sz="1150" dirty="0">
                <a:solidFill>
                  <a:srgbClr val="464D5C"/>
                </a:solidFill>
                <a:highlight>
                  <a:srgbClr val="FFFF00"/>
                </a:highlight>
                <a:latin typeface="Pretendard" pitchFamily="34" charset="0"/>
                <a:ea typeface="Pretendard" pitchFamily="34" charset="-122"/>
                <a:cs typeface="Pretendard" pitchFamily="34" charset="-120"/>
              </a:rPr>
              <a:t>, </a:t>
            </a:r>
            <a:r>
              <a:rPr lang="ko-KR" altLang="en-US" sz="1150" dirty="0">
                <a:solidFill>
                  <a:srgbClr val="464D5C"/>
                </a:solidFill>
                <a:highlight>
                  <a:srgbClr val="FFFF00"/>
                </a:highlight>
                <a:latin typeface="Pretendard" pitchFamily="34" charset="0"/>
                <a:ea typeface="Pretendard" pitchFamily="34" charset="-122"/>
                <a:cs typeface="Pretendard" pitchFamily="34" charset="-120"/>
              </a:rPr>
              <a:t>강도는 </a:t>
            </a:r>
            <a:r>
              <a:rPr lang="en-US" altLang="ko-KR" sz="1150" dirty="0">
                <a:solidFill>
                  <a:srgbClr val="464D5C"/>
                </a:solidFill>
                <a:highlight>
                  <a:srgbClr val="FFFF00"/>
                </a:highlight>
                <a:latin typeface="Pretendard" pitchFamily="34" charset="0"/>
                <a:ea typeface="Pretendard" pitchFamily="34" charset="-122"/>
                <a:cs typeface="Pretendard" pitchFamily="34" charset="-120"/>
              </a:rPr>
              <a:t>14</a:t>
            </a:r>
            <a:r>
              <a:rPr lang="ko-KR" altLang="en-US" sz="1150" dirty="0">
                <a:solidFill>
                  <a:srgbClr val="464D5C"/>
                </a:solidFill>
                <a:highlight>
                  <a:srgbClr val="FFFF00"/>
                </a:highlight>
                <a:latin typeface="Pretendard" pitchFamily="34" charset="0"/>
                <a:ea typeface="Pretendard" pitchFamily="34" charset="-122"/>
                <a:cs typeface="Pretendard" pitchFamily="34" charset="-120"/>
              </a:rPr>
              <a:t>명→</a:t>
            </a:r>
            <a:r>
              <a:rPr lang="en-US" altLang="ko-KR" sz="1150" dirty="0">
                <a:solidFill>
                  <a:srgbClr val="464D5C"/>
                </a:solidFill>
                <a:highlight>
                  <a:srgbClr val="FFFF00"/>
                </a:highlight>
                <a:latin typeface="Pretendard" pitchFamily="34" charset="0"/>
                <a:ea typeface="Pretendard" pitchFamily="34" charset="-122"/>
                <a:cs typeface="Pretendard" pitchFamily="34" charset="-120"/>
              </a:rPr>
              <a:t>6</a:t>
            </a:r>
            <a:r>
              <a:rPr lang="ko-KR" altLang="en-US" sz="1150" dirty="0">
                <a:solidFill>
                  <a:srgbClr val="464D5C"/>
                </a:solidFill>
                <a:highlight>
                  <a:srgbClr val="FFFF00"/>
                </a:highlight>
                <a:latin typeface="Pretendard" pitchFamily="34" charset="0"/>
                <a:ea typeface="Pretendard" pitchFamily="34" charset="-122"/>
                <a:cs typeface="Pretendard" pitchFamily="34" charset="-120"/>
              </a:rPr>
              <a:t>명으로 줄어 모든 범죄유형이 같은 방향으로 증가한 것은 아니다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33" name="R3"/>
          <p:cNvSpPr/>
          <p:nvPr/>
        </p:nvSpPr>
        <p:spPr>
          <a:xfrm>
            <a:off x="731520" y="6455664"/>
            <a:ext cx="10725912" cy="0"/>
          </a:xfrm>
          <a:prstGeom prst="line">
            <a:avLst/>
          </a:prstGeom>
          <a:ln w="9525">
            <a:solidFill>
              <a:srgbClr val="DCE0E8"/>
            </a:solidFill>
          </a:ln>
        </p:spPr>
        <p:txBody>
          <a:bodyPr/>
          <a:lstStyle/>
          <a:p>
            <a:endParaRPr lang="ko-KR"/>
          </a:p>
        </p:txBody>
      </p:sp>
      <p:sp>
        <p:nvSpPr>
          <p:cNvPr id="34"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경찰청 자료 재구성 · 국회입법조사처(2021) · 2026 공개자료 기준</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범죄소년 검찰 처분결과</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en-US" altLang="ko-KR" sz="2750" b="1" dirty="0">
                <a:solidFill>
                  <a:srgbClr val="1E2761"/>
                </a:solidFill>
                <a:latin typeface="Pretendard"/>
                <a:ea typeface="Pretendard"/>
                <a:cs typeface="Pretendard"/>
              </a:rPr>
              <a:t>2025 </a:t>
            </a:r>
            <a:r>
              <a:rPr lang="ko-KR" altLang="en-US" sz="2750" b="1" dirty="0" err="1">
                <a:solidFill>
                  <a:srgbClr val="1E2761"/>
                </a:solidFill>
                <a:latin typeface="Pretendard"/>
                <a:ea typeface="Pretendard"/>
                <a:cs typeface="Pretendard"/>
              </a:rPr>
              <a:t>촉법소년</a:t>
            </a:r>
            <a:r>
              <a:rPr lang="ko-KR" altLang="en-US" sz="2750" b="1" dirty="0">
                <a:solidFill>
                  <a:srgbClr val="1E2761"/>
                </a:solidFill>
                <a:latin typeface="Pretendard"/>
                <a:ea typeface="Pretendard"/>
                <a:cs typeface="Pretendard"/>
              </a:rPr>
              <a:t> </a:t>
            </a:r>
            <a:r>
              <a:rPr lang="ko-KR" sz="2750" b="1" dirty="0">
                <a:solidFill>
                  <a:srgbClr val="1E2761"/>
                </a:solidFill>
                <a:latin typeface="Pretendard"/>
                <a:ea typeface="Pretendard"/>
                <a:cs typeface="Pretendard"/>
              </a:rPr>
              <a:t>보호처분</a:t>
            </a:r>
            <a:r>
              <a:rPr lang="ko-KR" altLang="en-US" sz="2750" b="1" dirty="0">
                <a:solidFill>
                  <a:srgbClr val="1E2761"/>
                </a:solidFill>
                <a:latin typeface="Pretendard"/>
                <a:ea typeface="Pretendard"/>
                <a:cs typeface="Pretendard"/>
              </a:rPr>
              <a:t>사건의 주요 죄명</a:t>
            </a:r>
            <a:endParaRPr lang="ko-KR" sz="2750" b="1" dirty="0">
              <a:solidFill>
                <a:srgbClr val="1E2761"/>
              </a:solidFill>
              <a:latin typeface="Pretendard"/>
              <a:ea typeface="Pretendard"/>
              <a:cs typeface="Pretendard"/>
            </a:endParaRP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nSpc>
                <a:spcPct val="118000"/>
              </a:lnSpc>
            </a:pPr>
            <a:r>
              <a:rPr lang="ko-KR" altLang="en-US" sz="1300" b="1" dirty="0">
                <a:solidFill>
                  <a:srgbClr val="1E2761"/>
                </a:solidFill>
                <a:latin typeface="Pretendard"/>
                <a:ea typeface="Pretendard"/>
                <a:cs typeface="Pretendard"/>
              </a:rPr>
              <a:t>보호처분을 받은 사건에서는 절도가 </a:t>
            </a:r>
            <a:r>
              <a:rPr lang="en-US" altLang="ko-KR" sz="1300" b="1" dirty="0">
                <a:solidFill>
                  <a:srgbClr val="1E2761"/>
                </a:solidFill>
                <a:latin typeface="Pretendard"/>
                <a:ea typeface="Pretendard"/>
                <a:cs typeface="Pretendard"/>
              </a:rPr>
              <a:t>34.6%</a:t>
            </a:r>
            <a:r>
              <a:rPr lang="ko-KR" altLang="en-US" sz="1300" b="1" dirty="0">
                <a:solidFill>
                  <a:srgbClr val="1E2761"/>
                </a:solidFill>
                <a:latin typeface="Pretendard"/>
                <a:ea typeface="Pretendard"/>
                <a:cs typeface="Pretendard"/>
              </a:rPr>
              <a:t>로 가장 큰 비중을 차지했고</a:t>
            </a:r>
            <a:r>
              <a:rPr lang="en-US" altLang="ko-KR" sz="1300" b="1" dirty="0">
                <a:solidFill>
                  <a:srgbClr val="1E2761"/>
                </a:solidFill>
                <a:latin typeface="Pretendard"/>
                <a:ea typeface="Pretendard"/>
                <a:cs typeface="Pretendard"/>
              </a:rPr>
              <a:t>, </a:t>
            </a:r>
            <a:r>
              <a:rPr lang="ko-KR" altLang="en-US" sz="1300" b="1" dirty="0">
                <a:solidFill>
                  <a:srgbClr val="1E2761"/>
                </a:solidFill>
                <a:latin typeface="Pretendard"/>
                <a:ea typeface="Pretendard"/>
                <a:cs typeface="Pretendard"/>
              </a:rPr>
              <a:t>폭행</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성폭력처벌법 위반</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폭력행위처벌법 위반이 뒤를 이었다</a:t>
            </a:r>
            <a:r>
              <a:rPr lang="en-US" altLang="ko-KR" sz="1300" b="1" dirty="0">
                <a:solidFill>
                  <a:srgbClr val="1E2761"/>
                </a:solidFill>
                <a:latin typeface="Pretendard"/>
                <a:ea typeface="Pretendard"/>
                <a:cs typeface="Pretendard"/>
              </a:rPr>
              <a:t>.</a:t>
            </a:r>
            <a:endParaRPr lang="ko-KR" sz="1300" b="1" dirty="0">
              <a:solidFill>
                <a:srgbClr val="1E2761"/>
              </a:solidFill>
              <a:latin typeface="Pretendard"/>
              <a:ea typeface="Pretendard"/>
              <a:cs typeface="Pretendard"/>
            </a:endParaRP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cl0"/>
          <p:cNvSpPr txBox="1"/>
          <p:nvPr/>
        </p:nvSpPr>
        <p:spPr>
          <a:xfrm>
            <a:off x="998220" y="3218180"/>
            <a:ext cx="2743200" cy="329184"/>
          </a:xfrm>
          <a:prstGeom prst="rect">
            <a:avLst/>
          </a:prstGeom>
          <a:noFill/>
        </p:spPr>
        <p:txBody>
          <a:bodyPr wrap="square" lIns="0" tIns="27432" rIns="0" bIns="27432" anchor="ctr">
            <a:noAutofit/>
          </a:bodyPr>
          <a:lstStyle/>
          <a:p>
            <a:pPr algn="l">
              <a:lnSpc>
                <a:spcPct val="118000"/>
              </a:lnSpc>
            </a:pPr>
            <a:r>
              <a:rPr lang="ko-KR" sz="1300" b="1" dirty="0">
                <a:latin typeface="Pretendard"/>
                <a:ea typeface="Pretendard"/>
                <a:cs typeface="Pretendard"/>
              </a:rPr>
              <a:t>절도</a:t>
            </a:r>
          </a:p>
        </p:txBody>
      </p:sp>
      <p:sp>
        <p:nvSpPr>
          <p:cNvPr id="18" name="cv0"/>
          <p:cNvSpPr txBox="1"/>
          <p:nvPr/>
        </p:nvSpPr>
        <p:spPr>
          <a:xfrm>
            <a:off x="2590800" y="3218180"/>
            <a:ext cx="8801100" cy="329184"/>
          </a:xfrm>
          <a:prstGeom prst="rect">
            <a:avLst/>
          </a:prstGeom>
          <a:solidFill>
            <a:schemeClr val="accent1">
              <a:lumMod val="50000"/>
            </a:schemeClr>
          </a:solidFill>
        </p:spPr>
        <p:txBody>
          <a:bodyPr wrap="square" lIns="0" tIns="27432" rIns="0" bIns="27432" anchor="ctr">
            <a:noAutofit/>
          </a:bodyPr>
          <a:lstStyle/>
          <a:p>
            <a:pPr algn="ctr">
              <a:lnSpc>
                <a:spcPct val="118000"/>
              </a:lnSpc>
            </a:pPr>
            <a:r>
              <a:rPr lang="ko-KR" sz="1300" b="1" dirty="0">
                <a:solidFill>
                  <a:schemeClr val="bg1"/>
                </a:solidFill>
                <a:latin typeface="Pretendard"/>
                <a:ea typeface="Pretendard"/>
                <a:cs typeface="Pretendard"/>
              </a:rPr>
              <a:t>34.6%</a:t>
            </a:r>
          </a:p>
        </p:txBody>
      </p:sp>
      <p:sp>
        <p:nvSpPr>
          <p:cNvPr id="19" name="cl1"/>
          <p:cNvSpPr txBox="1"/>
          <p:nvPr/>
        </p:nvSpPr>
        <p:spPr>
          <a:xfrm>
            <a:off x="998220" y="3810254"/>
            <a:ext cx="2743200" cy="329184"/>
          </a:xfrm>
          <a:prstGeom prst="rect">
            <a:avLst/>
          </a:prstGeom>
          <a:noFill/>
        </p:spPr>
        <p:txBody>
          <a:bodyPr wrap="square" lIns="0" tIns="27432" rIns="0" bIns="27432" anchor="ctr">
            <a:noAutofit/>
          </a:bodyPr>
          <a:lstStyle/>
          <a:p>
            <a:pPr algn="l">
              <a:lnSpc>
                <a:spcPct val="118000"/>
              </a:lnSpc>
            </a:pPr>
            <a:r>
              <a:rPr lang="ko-KR" sz="1300" b="1" dirty="0">
                <a:latin typeface="Pretendard"/>
                <a:ea typeface="Pretendard"/>
                <a:cs typeface="Pretendard"/>
              </a:rPr>
              <a:t>폭행</a:t>
            </a:r>
          </a:p>
        </p:txBody>
      </p:sp>
      <p:sp>
        <p:nvSpPr>
          <p:cNvPr id="21" name="cv1"/>
          <p:cNvSpPr txBox="1"/>
          <p:nvPr/>
        </p:nvSpPr>
        <p:spPr>
          <a:xfrm>
            <a:off x="2591577" y="3804608"/>
            <a:ext cx="3535703" cy="329184"/>
          </a:xfrm>
          <a:prstGeom prst="rect">
            <a:avLst/>
          </a:prstGeom>
          <a:solidFill>
            <a:schemeClr val="accent1">
              <a:lumMod val="50000"/>
            </a:schemeClr>
          </a:solidFill>
        </p:spPr>
        <p:txBody>
          <a:bodyPr wrap="square" lIns="0" tIns="27432" rIns="0" bIns="27432" anchor="ctr">
            <a:noAutofit/>
          </a:bodyPr>
          <a:lstStyle/>
          <a:p>
            <a:pPr algn="ctr">
              <a:lnSpc>
                <a:spcPct val="118000"/>
              </a:lnSpc>
            </a:pPr>
            <a:r>
              <a:rPr lang="ko-KR" sz="1300" b="1" dirty="0">
                <a:solidFill>
                  <a:schemeClr val="bg1"/>
                </a:solidFill>
                <a:latin typeface="Pretendard"/>
                <a:ea typeface="Pretendard"/>
                <a:cs typeface="Pretendard"/>
              </a:rPr>
              <a:t>13.9%</a:t>
            </a:r>
          </a:p>
        </p:txBody>
      </p:sp>
      <p:sp>
        <p:nvSpPr>
          <p:cNvPr id="22" name="cl2"/>
          <p:cNvSpPr txBox="1"/>
          <p:nvPr/>
        </p:nvSpPr>
        <p:spPr>
          <a:xfrm>
            <a:off x="998220" y="4395978"/>
            <a:ext cx="2743200" cy="329184"/>
          </a:xfrm>
          <a:prstGeom prst="rect">
            <a:avLst/>
          </a:prstGeom>
          <a:noFill/>
        </p:spPr>
        <p:txBody>
          <a:bodyPr wrap="square" lIns="0" tIns="27432" rIns="0" bIns="27432" anchor="ctr">
            <a:noAutofit/>
          </a:bodyPr>
          <a:lstStyle/>
          <a:p>
            <a:pPr algn="l">
              <a:lnSpc>
                <a:spcPct val="118000"/>
              </a:lnSpc>
            </a:pPr>
            <a:r>
              <a:rPr lang="ko-KR" sz="1300" b="1" dirty="0">
                <a:latin typeface="Pretendard"/>
                <a:ea typeface="Pretendard"/>
                <a:cs typeface="Pretendard"/>
              </a:rPr>
              <a:t>성폭력처벌법 위반</a:t>
            </a:r>
          </a:p>
        </p:txBody>
      </p:sp>
      <p:sp>
        <p:nvSpPr>
          <p:cNvPr id="23" name="cb2"/>
          <p:cNvSpPr/>
          <p:nvPr/>
        </p:nvSpPr>
        <p:spPr>
          <a:xfrm>
            <a:off x="2590800" y="4370323"/>
            <a:ext cx="1806004" cy="360485"/>
          </a:xfrm>
          <a:prstGeom prst="rect">
            <a:avLst/>
          </a:prstGeom>
          <a:solidFill>
            <a:schemeClr val="accent1">
              <a:lumMod val="50000"/>
            </a:schemeClr>
          </a:solidFill>
          <a:ln>
            <a:noFill/>
          </a:ln>
        </p:spPr>
        <p:txBody>
          <a:bodyPr/>
          <a:lstStyle/>
          <a:p>
            <a:endParaRPr>
              <a:solidFill>
                <a:schemeClr val="bg1"/>
              </a:solidFill>
            </a:endParaRPr>
          </a:p>
        </p:txBody>
      </p:sp>
      <p:sp>
        <p:nvSpPr>
          <p:cNvPr id="24" name="cv2"/>
          <p:cNvSpPr txBox="1"/>
          <p:nvPr/>
        </p:nvSpPr>
        <p:spPr>
          <a:xfrm>
            <a:off x="2670794" y="4366768"/>
            <a:ext cx="1628156" cy="329184"/>
          </a:xfrm>
          <a:prstGeom prst="rect">
            <a:avLst/>
          </a:prstGeom>
          <a:noFill/>
        </p:spPr>
        <p:txBody>
          <a:bodyPr wrap="square" lIns="0" tIns="27432" rIns="0" bIns="27432" anchor="ctr">
            <a:noAutofit/>
          </a:bodyPr>
          <a:lstStyle/>
          <a:p>
            <a:pPr algn="ctr">
              <a:lnSpc>
                <a:spcPct val="118000"/>
              </a:lnSpc>
            </a:pPr>
            <a:r>
              <a:rPr lang="ko-KR" sz="1200" b="1" dirty="0">
                <a:solidFill>
                  <a:schemeClr val="bg1"/>
                </a:solidFill>
                <a:latin typeface="Pretendard"/>
                <a:ea typeface="Pretendard"/>
                <a:cs typeface="Pretendard"/>
              </a:rPr>
              <a:t>7.1%</a:t>
            </a:r>
          </a:p>
        </p:txBody>
      </p:sp>
      <p:sp>
        <p:nvSpPr>
          <p:cNvPr id="25" name="cl3"/>
          <p:cNvSpPr txBox="1"/>
          <p:nvPr/>
        </p:nvSpPr>
        <p:spPr>
          <a:xfrm>
            <a:off x="998220" y="5013452"/>
            <a:ext cx="2743200" cy="329184"/>
          </a:xfrm>
          <a:prstGeom prst="rect">
            <a:avLst/>
          </a:prstGeom>
          <a:noFill/>
        </p:spPr>
        <p:txBody>
          <a:bodyPr wrap="square" lIns="0" tIns="27432" rIns="0" bIns="27432" anchor="ctr">
            <a:noAutofit/>
          </a:bodyPr>
          <a:lstStyle/>
          <a:p>
            <a:pPr algn="l">
              <a:lnSpc>
                <a:spcPct val="118000"/>
              </a:lnSpc>
            </a:pPr>
            <a:r>
              <a:rPr lang="ko-KR" sz="1300" b="1" dirty="0">
                <a:latin typeface="Pretendard"/>
                <a:ea typeface="Pretendard"/>
                <a:cs typeface="Pretendard"/>
              </a:rPr>
              <a:t>폭력행위처벌법 위반</a:t>
            </a:r>
          </a:p>
        </p:txBody>
      </p:sp>
      <p:sp>
        <p:nvSpPr>
          <p:cNvPr id="26" name="cb3"/>
          <p:cNvSpPr/>
          <p:nvPr/>
        </p:nvSpPr>
        <p:spPr>
          <a:xfrm>
            <a:off x="2590800" y="5019547"/>
            <a:ext cx="1755134" cy="360485"/>
          </a:xfrm>
          <a:prstGeom prst="rect">
            <a:avLst/>
          </a:prstGeom>
          <a:solidFill>
            <a:schemeClr val="accent1">
              <a:lumMod val="50000"/>
            </a:schemeClr>
          </a:solidFill>
          <a:ln>
            <a:noFill/>
          </a:ln>
        </p:spPr>
        <p:txBody>
          <a:bodyPr/>
          <a:lstStyle/>
          <a:p>
            <a:endParaRPr>
              <a:solidFill>
                <a:schemeClr val="bg1"/>
              </a:solidFill>
            </a:endParaRPr>
          </a:p>
        </p:txBody>
      </p:sp>
      <p:sp>
        <p:nvSpPr>
          <p:cNvPr id="27" name="cv3"/>
          <p:cNvSpPr txBox="1"/>
          <p:nvPr/>
        </p:nvSpPr>
        <p:spPr>
          <a:xfrm>
            <a:off x="2637138" y="5021737"/>
            <a:ext cx="1628156" cy="329184"/>
          </a:xfrm>
          <a:prstGeom prst="rect">
            <a:avLst/>
          </a:prstGeom>
          <a:noFill/>
        </p:spPr>
        <p:txBody>
          <a:bodyPr wrap="square" lIns="0" tIns="27432" rIns="0" bIns="27432" anchor="ctr">
            <a:noAutofit/>
          </a:bodyPr>
          <a:lstStyle/>
          <a:p>
            <a:pPr algn="ctr">
              <a:lnSpc>
                <a:spcPct val="118000"/>
              </a:lnSpc>
            </a:pPr>
            <a:r>
              <a:rPr lang="ko-KR" sz="1200" b="1" dirty="0">
                <a:solidFill>
                  <a:schemeClr val="bg1"/>
                </a:solidFill>
                <a:latin typeface="Pretendard"/>
                <a:ea typeface="Pretendard"/>
                <a:cs typeface="Pretendard"/>
              </a:rPr>
              <a:t>6.9%</a:t>
            </a:r>
          </a:p>
        </p:txBody>
      </p:sp>
      <p:sp>
        <p:nvSpPr>
          <p:cNvPr id="36" name="line36"/>
          <p:cNvSpPr/>
          <p:nvPr/>
        </p:nvSpPr>
        <p:spPr>
          <a:xfrm>
            <a:off x="717804" y="6419088"/>
            <a:ext cx="10725912" cy="0"/>
          </a:xfrm>
          <a:prstGeom prst="line">
            <a:avLst/>
          </a:prstGeom>
          <a:ln w="19050">
            <a:solidFill>
              <a:srgbClr val="1E2761"/>
            </a:solidFill>
          </a:ln>
        </p:spPr>
        <p:txBody>
          <a:bodyPr/>
          <a:lstStyle/>
          <a:p>
            <a:endParaRPr/>
          </a:p>
        </p:txBody>
      </p:sp>
      <p:sp>
        <p:nvSpPr>
          <p:cNvPr id="37"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성평등가족부(2026.7.14.) 공론화 결과 보고 · 세부 죄명은 연합뉴스 2026.7.14. 보도 기준</a:t>
            </a:r>
          </a:p>
        </p:txBody>
      </p:sp>
      <p:sp>
        <p:nvSpPr>
          <p:cNvPr id="7" name="TextBox 6">
            <a:extLst>
              <a:ext uri="{FF2B5EF4-FFF2-40B4-BE49-F238E27FC236}">
                <a16:creationId xmlns:a16="http://schemas.microsoft.com/office/drawing/2014/main" id="{8D9A1B09-741F-6F86-660F-B7A14AAF6FE3}"/>
              </a:ext>
            </a:extLst>
          </p:cNvPr>
          <p:cNvSpPr txBox="1"/>
          <p:nvPr/>
        </p:nvSpPr>
        <p:spPr>
          <a:xfrm>
            <a:off x="4396804" y="2387680"/>
            <a:ext cx="3566310" cy="338554"/>
          </a:xfrm>
          <a:prstGeom prst="rect">
            <a:avLst/>
          </a:prstGeom>
          <a:noFill/>
        </p:spPr>
        <p:txBody>
          <a:bodyPr wrap="square">
            <a:spAutoFit/>
          </a:bodyPr>
          <a:lstStyle/>
          <a:p>
            <a:r>
              <a:rPr lang="en-US" altLang="ko-KR" sz="1600" b="1" dirty="0">
                <a:solidFill>
                  <a:srgbClr val="1E2761"/>
                </a:solidFill>
                <a:latin typeface="Pretendard"/>
                <a:ea typeface="Pretendard"/>
                <a:cs typeface="Pretendard"/>
              </a:rPr>
              <a:t>2025</a:t>
            </a:r>
            <a:r>
              <a:rPr lang="ko-KR" altLang="en-US" sz="1600" b="1" dirty="0">
                <a:solidFill>
                  <a:srgbClr val="1E2761"/>
                </a:solidFill>
                <a:latin typeface="Pretendard"/>
                <a:ea typeface="Pretendard"/>
                <a:cs typeface="Pretendard"/>
              </a:rPr>
              <a:t>년 </a:t>
            </a:r>
            <a:r>
              <a:rPr lang="ko-KR" altLang="en-US" sz="1600" b="1" dirty="0" err="1">
                <a:solidFill>
                  <a:srgbClr val="1E2761"/>
                </a:solidFill>
                <a:latin typeface="Pretendard"/>
                <a:ea typeface="Pretendard"/>
                <a:cs typeface="Pretendard"/>
              </a:rPr>
              <a:t>촉법소년</a:t>
            </a:r>
            <a:r>
              <a:rPr lang="ko-KR" altLang="en-US" sz="1600" b="1" dirty="0">
                <a:solidFill>
                  <a:srgbClr val="1E2761"/>
                </a:solidFill>
                <a:latin typeface="Pretendard"/>
                <a:ea typeface="Pretendard"/>
                <a:cs typeface="Pretendard"/>
              </a:rPr>
              <a:t> 보호처분사건 유형</a:t>
            </a:r>
            <a:endParaRPr lang="ko-KR" altLang="en-US" sz="1100" dirty="0"/>
          </a:p>
        </p:txBody>
      </p:sp>
      <p:sp>
        <p:nvSpPr>
          <p:cNvPr id="3" name="LIMIT17">
            <a:extLst>
              <a:ext uri="{FF2B5EF4-FFF2-40B4-BE49-F238E27FC236}">
                <a16:creationId xmlns:a16="http://schemas.microsoft.com/office/drawing/2014/main" id="{81EED8FD-9351-EAC3-3118-CE359A93FB90}"/>
              </a:ext>
            </a:extLst>
          </p:cNvPr>
          <p:cNvSpPr/>
          <p:nvPr/>
        </p:nvSpPr>
        <p:spPr>
          <a:xfrm>
            <a:off x="769620" y="6089906"/>
            <a:ext cx="10725912" cy="219456"/>
          </a:xfrm>
          <a:prstGeom prst="rect">
            <a:avLst/>
          </a:prstGeom>
          <a:noFill/>
          <a:ln/>
        </p:spPr>
        <p:txBody>
          <a:bodyPr wrap="square" lIns="0" tIns="0" rIns="0" bIns="0" rtlCol="0" anchor="t"/>
          <a:lstStyle/>
          <a:p>
            <a:pPr marL="0" indent="0">
              <a:lnSpc>
                <a:spcPct val="118000"/>
              </a:lnSpc>
              <a:buNone/>
            </a:pPr>
            <a:r>
              <a:rPr lang="ko-KR" altLang="en-US" sz="1200" b="1" dirty="0">
                <a:solidFill>
                  <a:srgbClr val="A8871C"/>
                </a:solidFill>
                <a:latin typeface="Pretendard" pitchFamily="34" charset="0"/>
                <a:ea typeface="Pretendard" pitchFamily="34" charset="-122"/>
                <a:cs typeface="Pretendard" pitchFamily="34" charset="-120"/>
              </a:rPr>
              <a:t>전체 촉법소년 사건이나 13세만의 분포와 다르며, 죄명만으로 개별 사건의 중대성을 판단할 수 없다.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13세에게 가능한 보호처분</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sz="2750" b="1" dirty="0">
                <a:solidFill>
                  <a:srgbClr val="1E2761"/>
                </a:solidFill>
                <a:latin typeface="Pretendard"/>
              </a:rPr>
              <a:t>2025년 14~18세 </a:t>
            </a:r>
            <a:r>
              <a:rPr sz="2750" b="1" dirty="0" err="1">
                <a:solidFill>
                  <a:srgbClr val="1E2761"/>
                </a:solidFill>
                <a:latin typeface="Pretendard"/>
              </a:rPr>
              <a:t>범죄소년</a:t>
            </a:r>
            <a:r>
              <a:rPr sz="2750" b="1" dirty="0">
                <a:solidFill>
                  <a:srgbClr val="1E2761"/>
                </a:solidFill>
                <a:latin typeface="Pretendard"/>
              </a:rPr>
              <a:t> </a:t>
            </a:r>
            <a:r>
              <a:rPr sz="2750" b="1" dirty="0" err="1">
                <a:solidFill>
                  <a:srgbClr val="1E2761"/>
                </a:solidFill>
                <a:latin typeface="Pretendard"/>
              </a:rPr>
              <a:t>검찰</a:t>
            </a:r>
            <a:r>
              <a:rPr sz="2750" b="1" dirty="0">
                <a:solidFill>
                  <a:srgbClr val="1E2761"/>
                </a:solidFill>
                <a:latin typeface="Pretendard"/>
              </a:rPr>
              <a:t> </a:t>
            </a:r>
            <a:r>
              <a:rPr sz="2750" b="1" dirty="0" err="1">
                <a:solidFill>
                  <a:srgbClr val="1E2761"/>
                </a:solidFill>
                <a:latin typeface="Pretendard"/>
              </a:rPr>
              <a:t>처분결과</a:t>
            </a:r>
            <a:endParaRPr sz="2750" b="1" dirty="0">
              <a:solidFill>
                <a:srgbClr val="1E2761"/>
              </a:solidFill>
              <a:latin typeface="Pretendard"/>
            </a:endParaRP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nSpc>
                <a:spcPct val="118000"/>
              </a:lnSpc>
            </a:pP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범죄소년의 처분 결과 기소 비율은 가장 낮으며</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소년부 송치가 가장 큰 비중을 차지했다</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a:t>
            </a:r>
            <a:endParaRP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ps0"/>
          <p:cNvSpPr/>
          <p:nvPr/>
        </p:nvSpPr>
        <p:spPr>
          <a:xfrm>
            <a:off x="731520" y="2468880"/>
            <a:ext cx="772265" cy="530352"/>
          </a:xfrm>
          <a:prstGeom prst="rect">
            <a:avLst/>
          </a:prstGeom>
          <a:solidFill>
            <a:srgbClr val="1E2761"/>
          </a:solidFill>
          <a:ln>
            <a:noFill/>
          </a:ln>
        </p:spPr>
        <p:txBody>
          <a:bodyPr/>
          <a:lstStyle/>
          <a:p>
            <a:endParaRPr/>
          </a:p>
        </p:txBody>
      </p:sp>
      <p:sp>
        <p:nvSpPr>
          <p:cNvPr id="17" name="ps1"/>
          <p:cNvSpPr/>
          <p:nvPr/>
        </p:nvSpPr>
        <p:spPr>
          <a:xfrm>
            <a:off x="1503785" y="2468880"/>
            <a:ext cx="4579964" cy="530352"/>
          </a:xfrm>
          <a:prstGeom prst="rect">
            <a:avLst/>
          </a:prstGeom>
          <a:solidFill>
            <a:srgbClr val="5A6699"/>
          </a:solidFill>
          <a:ln>
            <a:noFill/>
          </a:ln>
        </p:spPr>
        <p:txBody>
          <a:bodyPr/>
          <a:lstStyle/>
          <a:p>
            <a:endParaRPr/>
          </a:p>
        </p:txBody>
      </p:sp>
      <p:sp>
        <p:nvSpPr>
          <p:cNvPr id="18" name="pst1"/>
          <p:cNvSpPr txBox="1"/>
          <p:nvPr/>
        </p:nvSpPr>
        <p:spPr>
          <a:xfrm>
            <a:off x="1503785" y="2468880"/>
            <a:ext cx="4579964" cy="530352"/>
          </a:xfrm>
          <a:prstGeom prst="rect">
            <a:avLst/>
          </a:prstGeom>
          <a:noFill/>
        </p:spPr>
        <p:txBody>
          <a:bodyPr wrap="square" lIns="0" tIns="27432" rIns="0" bIns="27432" anchor="ctr">
            <a:noAutofit/>
          </a:bodyPr>
          <a:lstStyle/>
          <a:p>
            <a:pPr algn="ctr">
              <a:lnSpc>
                <a:spcPct val="118000"/>
              </a:lnSpc>
            </a:pPr>
            <a:r>
              <a:rPr lang="ko-KR" sz="1200" b="1" dirty="0">
                <a:solidFill>
                  <a:srgbClr val="FFFFFF"/>
                </a:solidFill>
                <a:latin typeface="Pretendard"/>
                <a:ea typeface="Pretendard"/>
                <a:cs typeface="Pretendard"/>
              </a:rPr>
              <a:t>소년부 송치 42.7%</a:t>
            </a:r>
          </a:p>
        </p:txBody>
      </p:sp>
      <p:sp>
        <p:nvSpPr>
          <p:cNvPr id="19" name="ps2"/>
          <p:cNvSpPr/>
          <p:nvPr/>
        </p:nvSpPr>
        <p:spPr>
          <a:xfrm>
            <a:off x="6083750" y="2468880"/>
            <a:ext cx="2853092" cy="530352"/>
          </a:xfrm>
          <a:prstGeom prst="rect">
            <a:avLst/>
          </a:prstGeom>
          <a:solidFill>
            <a:srgbClr val="8A97BC"/>
          </a:solidFill>
          <a:ln>
            <a:noFill/>
          </a:ln>
        </p:spPr>
        <p:txBody>
          <a:bodyPr/>
          <a:lstStyle/>
          <a:p>
            <a:endParaRPr/>
          </a:p>
        </p:txBody>
      </p:sp>
      <p:sp>
        <p:nvSpPr>
          <p:cNvPr id="20" name="pst2"/>
          <p:cNvSpPr txBox="1"/>
          <p:nvPr/>
        </p:nvSpPr>
        <p:spPr>
          <a:xfrm>
            <a:off x="6083750" y="2468880"/>
            <a:ext cx="2853092" cy="530352"/>
          </a:xfrm>
          <a:prstGeom prst="rect">
            <a:avLst/>
          </a:prstGeom>
          <a:noFill/>
        </p:spPr>
        <p:txBody>
          <a:bodyPr wrap="square" lIns="0" tIns="27432" rIns="0" bIns="27432" anchor="ctr">
            <a:noAutofit/>
          </a:bodyPr>
          <a:lstStyle/>
          <a:p>
            <a:pPr algn="ctr">
              <a:lnSpc>
                <a:spcPct val="118000"/>
              </a:lnSpc>
            </a:pPr>
            <a:r>
              <a:rPr lang="ko-KR" sz="1200" b="1" dirty="0">
                <a:solidFill>
                  <a:srgbClr val="222633"/>
                </a:solidFill>
                <a:latin typeface="Pretendard"/>
                <a:ea typeface="Pretendard"/>
                <a:cs typeface="Pretendard"/>
              </a:rPr>
              <a:t>불기소 26.6%</a:t>
            </a:r>
          </a:p>
        </p:txBody>
      </p:sp>
      <p:sp>
        <p:nvSpPr>
          <p:cNvPr id="21" name="ps3"/>
          <p:cNvSpPr/>
          <p:nvPr/>
        </p:nvSpPr>
        <p:spPr>
          <a:xfrm>
            <a:off x="8936842" y="2468880"/>
            <a:ext cx="2509863" cy="530352"/>
          </a:xfrm>
          <a:prstGeom prst="rect">
            <a:avLst/>
          </a:prstGeom>
          <a:solidFill>
            <a:srgbClr val="C9CEDA"/>
          </a:solidFill>
          <a:ln>
            <a:noFill/>
          </a:ln>
        </p:spPr>
        <p:txBody>
          <a:bodyPr/>
          <a:lstStyle/>
          <a:p>
            <a:endParaRPr/>
          </a:p>
        </p:txBody>
      </p:sp>
      <p:sp>
        <p:nvSpPr>
          <p:cNvPr id="22" name="pst3"/>
          <p:cNvSpPr txBox="1"/>
          <p:nvPr/>
        </p:nvSpPr>
        <p:spPr>
          <a:xfrm>
            <a:off x="8936842" y="2468880"/>
            <a:ext cx="2509863" cy="530352"/>
          </a:xfrm>
          <a:prstGeom prst="rect">
            <a:avLst/>
          </a:prstGeom>
          <a:noFill/>
        </p:spPr>
        <p:txBody>
          <a:bodyPr wrap="square" lIns="0" tIns="27432" rIns="0" bIns="27432" anchor="ctr">
            <a:noAutofit/>
          </a:bodyPr>
          <a:lstStyle/>
          <a:p>
            <a:pPr algn="ctr">
              <a:lnSpc>
                <a:spcPct val="118000"/>
              </a:lnSpc>
            </a:pPr>
            <a:r>
              <a:rPr lang="ko-KR" sz="1200" b="1" dirty="0">
                <a:solidFill>
                  <a:srgbClr val="222633"/>
                </a:solidFill>
                <a:latin typeface="Pretendard"/>
                <a:ea typeface="Pretendard"/>
                <a:cs typeface="Pretendard"/>
              </a:rPr>
              <a:t>기타 23.4%</a:t>
            </a:r>
          </a:p>
        </p:txBody>
      </p:sp>
      <p:sp>
        <p:nvSpPr>
          <p:cNvPr id="23" name="pnar"/>
          <p:cNvSpPr txBox="1"/>
          <p:nvPr/>
        </p:nvSpPr>
        <p:spPr>
          <a:xfrm>
            <a:off x="774805" y="2606484"/>
            <a:ext cx="678180" cy="256032"/>
          </a:xfrm>
          <a:prstGeom prst="rect">
            <a:avLst/>
          </a:prstGeom>
          <a:noFill/>
        </p:spPr>
        <p:txBody>
          <a:bodyPr wrap="square" lIns="0" tIns="27432" rIns="0" bIns="27432" anchor="ctr">
            <a:noAutofit/>
          </a:bodyPr>
          <a:lstStyle/>
          <a:p>
            <a:pPr algn="l">
              <a:lnSpc>
                <a:spcPct val="118000"/>
              </a:lnSpc>
            </a:pPr>
            <a:r>
              <a:rPr lang="ko-KR" sz="1150" b="1" dirty="0">
                <a:solidFill>
                  <a:schemeClr val="bg2"/>
                </a:solidFill>
                <a:latin typeface="Pretendard"/>
                <a:ea typeface="Pretendard"/>
                <a:cs typeface="Pretendard"/>
              </a:rPr>
              <a:t>기소 7.2%</a:t>
            </a:r>
          </a:p>
        </p:txBody>
      </p:sp>
      <p:sp>
        <p:nvSpPr>
          <p:cNvPr id="24" name="prh0"/>
          <p:cNvSpPr txBox="1"/>
          <p:nvPr/>
        </p:nvSpPr>
        <p:spPr>
          <a:xfrm>
            <a:off x="731520" y="3067366"/>
            <a:ext cx="2240280" cy="773935"/>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처분 결과</a:t>
            </a:r>
            <a:endParaRPr lang="ko-KR" sz="1300" b="1" dirty="0">
              <a:solidFill>
                <a:srgbClr val="1E2761"/>
              </a:solidFill>
              <a:latin typeface="Pretendard"/>
              <a:ea typeface="Pretendard"/>
              <a:cs typeface="Pretendard"/>
            </a:endParaRPr>
          </a:p>
        </p:txBody>
      </p:sp>
      <p:sp>
        <p:nvSpPr>
          <p:cNvPr id="26" name="line26"/>
          <p:cNvSpPr/>
          <p:nvPr/>
        </p:nvSpPr>
        <p:spPr>
          <a:xfrm>
            <a:off x="731520" y="3974210"/>
            <a:ext cx="10725912" cy="0"/>
          </a:xfrm>
          <a:prstGeom prst="line">
            <a:avLst/>
          </a:prstGeom>
          <a:ln w="9525">
            <a:solidFill>
              <a:srgbClr val="DCE0E8"/>
            </a:solidFill>
          </a:ln>
        </p:spPr>
        <p:txBody>
          <a:bodyPr/>
          <a:lstStyle/>
          <a:p>
            <a:endParaRPr dirty="0"/>
          </a:p>
        </p:txBody>
      </p:sp>
      <p:sp>
        <p:nvSpPr>
          <p:cNvPr id="28" name="prb1"/>
          <p:cNvSpPr txBox="1"/>
          <p:nvPr/>
        </p:nvSpPr>
        <p:spPr>
          <a:xfrm>
            <a:off x="3205480" y="2999232"/>
            <a:ext cx="8302752" cy="974978"/>
          </a:xfrm>
          <a:prstGeom prst="rect">
            <a:avLst/>
          </a:prstGeom>
          <a:noFill/>
        </p:spPr>
        <p:txBody>
          <a:bodyPr wrap="square" lIns="0" tIns="27432" rIns="0" bIns="27432" anchor="ctr">
            <a:noAutofit/>
          </a:bodyPr>
          <a:lstStyle/>
          <a:p>
            <a:pPr>
              <a:lnSpc>
                <a:spcPct val="118000"/>
              </a:lnSpc>
              <a:spcAft>
                <a:spcPts val="500"/>
              </a:spcAft>
            </a:pP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기소는 </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7.2%</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였고</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소년부 송치는 </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42.7%</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로 가장 큰 비중을 차지했다</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기타도 </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23.4%</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로 높은 비중을 보였다</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endPar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endParaRPr>
          </a:p>
          <a:p>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형사책임 연령에 포함되어도 곧바로 형사재판이나 형 선고로 이어지는 것은 아니다</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p>
          <a:p>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범죄소년으로 분류되더라도 소년부로 송치</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불기소</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기타 처분으로 이어질 가능성이 높다</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endParaRP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29" name="line29"/>
          <p:cNvSpPr/>
          <p:nvPr/>
        </p:nvSpPr>
        <p:spPr>
          <a:xfrm>
            <a:off x="731520" y="5101652"/>
            <a:ext cx="10725912" cy="0"/>
          </a:xfrm>
          <a:prstGeom prst="line">
            <a:avLst/>
          </a:prstGeom>
          <a:ln w="9525">
            <a:solidFill>
              <a:srgbClr val="DCE0E8"/>
            </a:solidFill>
          </a:ln>
        </p:spPr>
        <p:txBody>
          <a:bodyPr/>
          <a:lstStyle/>
          <a:p>
            <a:endParaRPr/>
          </a:p>
        </p:txBody>
      </p:sp>
      <p:sp>
        <p:nvSpPr>
          <p:cNvPr id="30" name="prh2"/>
          <p:cNvSpPr txBox="1"/>
          <p:nvPr/>
        </p:nvSpPr>
        <p:spPr>
          <a:xfrm>
            <a:off x="731520" y="5328665"/>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연령 하향에 연결할 때</a:t>
            </a:r>
          </a:p>
        </p:txBody>
      </p:sp>
      <p:sp>
        <p:nvSpPr>
          <p:cNvPr id="31" name="prb2"/>
          <p:cNvSpPr txBox="1"/>
          <p:nvPr/>
        </p:nvSpPr>
        <p:spPr>
          <a:xfrm>
            <a:off x="3154680" y="5252464"/>
            <a:ext cx="8302752" cy="705227"/>
          </a:xfrm>
          <a:prstGeom prst="rect">
            <a:avLst/>
          </a:prstGeom>
          <a:noFill/>
        </p:spPr>
        <p:txBody>
          <a:bodyPr wrap="square" lIns="0" tIns="27432" rIns="0" bIns="27432" anchor="ctr">
            <a:noAutofit/>
          </a:bodyPr>
          <a:lstStyle/>
          <a:p>
            <a:pPr algn="l">
              <a:lnSpc>
                <a:spcPct val="125000"/>
              </a:lnSpc>
              <a:spcAft>
                <a:spcPts val="500"/>
              </a:spcAft>
            </a:pPr>
            <a:r>
              <a:rPr lang="ko-KR" sz="1250" b="1" dirty="0">
                <a:solidFill>
                  <a:srgbClr val="222633"/>
                </a:solidFill>
                <a:latin typeface="Pretendard"/>
                <a:ea typeface="Pretendard"/>
                <a:cs typeface="Pretendard"/>
              </a:rPr>
              <a:t>13세가 형사책임 연령에 포함되면 검사는 기소·소년부 송치·불기소 등을 판단할 수 있다.</a:t>
            </a:r>
          </a:p>
          <a:p>
            <a:pPr algn="l">
              <a:lnSpc>
                <a:spcPct val="118000"/>
              </a:lnSpc>
            </a:pPr>
            <a:r>
              <a:rPr lang="ko-KR" altLang="en-US" sz="1150" b="0" dirty="0">
                <a:solidFill>
                  <a:srgbClr val="464D5C"/>
                </a:solidFill>
                <a:highlight>
                  <a:srgbClr val="FFFF00"/>
                </a:highlight>
                <a:latin typeface="Pretendard"/>
                <a:ea typeface="Pretendard"/>
                <a:cs typeface="Pretendard"/>
              </a:rPr>
              <a:t>다만</a:t>
            </a:r>
            <a:r>
              <a:rPr lang="ko-KR" sz="1150" b="0" dirty="0">
                <a:solidFill>
                  <a:srgbClr val="464D5C"/>
                </a:solidFill>
                <a:highlight>
                  <a:srgbClr val="FFFF00"/>
                </a:highlight>
                <a:latin typeface="Pretendard"/>
                <a:ea typeface="Pretendard"/>
                <a:cs typeface="Pretendard"/>
              </a:rPr>
              <a:t> 현행 14~18세의 처분비율로 하향 뒤 13세의 처분비율을 예측할 수는 없다</a:t>
            </a:r>
            <a:r>
              <a:rPr lang="ko-KR" sz="1150" b="0" dirty="0">
                <a:solidFill>
                  <a:srgbClr val="464D5C"/>
                </a:solidFill>
                <a:latin typeface="Pretendard"/>
                <a:ea typeface="Pretendard"/>
                <a:cs typeface="Pretendard"/>
              </a:rPr>
              <a:t>. </a:t>
            </a:r>
            <a:endParaRPr lang="en-US" altLang="ko-KR" sz="1150" b="0" dirty="0">
              <a:solidFill>
                <a:srgbClr val="464D5C"/>
              </a:solidFill>
              <a:latin typeface="Pretendard"/>
              <a:ea typeface="Pretendard"/>
              <a:cs typeface="Pretendard"/>
            </a:endParaRPr>
          </a:p>
          <a:p>
            <a:pPr algn="l">
              <a:lnSpc>
                <a:spcPct val="118000"/>
              </a:lnSpc>
            </a:pPr>
            <a:r>
              <a:rPr lang="ko-KR" sz="1150" b="0" dirty="0">
                <a:solidFill>
                  <a:srgbClr val="464D5C"/>
                </a:solidFill>
                <a:latin typeface="Pretendard"/>
                <a:ea typeface="Pretendard"/>
                <a:cs typeface="Pretendard"/>
              </a:rPr>
              <a:t>경찰 단계에서 종결되어 검찰에 오지 않은 사건은 이 분포에 포함되지 않는다.</a:t>
            </a:r>
          </a:p>
        </p:txBody>
      </p:sp>
      <p:sp>
        <p:nvSpPr>
          <p:cNvPr id="32" name="line32"/>
          <p:cNvSpPr/>
          <p:nvPr/>
        </p:nvSpPr>
        <p:spPr>
          <a:xfrm>
            <a:off x="731520" y="6144768"/>
            <a:ext cx="10725912" cy="0"/>
          </a:xfrm>
          <a:prstGeom prst="line">
            <a:avLst/>
          </a:prstGeom>
          <a:ln w="19050">
            <a:solidFill>
              <a:srgbClr val="1E2761"/>
            </a:solidFill>
          </a:ln>
        </p:spPr>
        <p:txBody>
          <a:bodyPr/>
          <a:lstStyle/>
          <a:p>
            <a:endParaRPr/>
          </a:p>
        </p:txBody>
      </p:sp>
      <p:sp>
        <p:nvSpPr>
          <p:cNvPr id="33" name="foot"/>
          <p:cNvSpPr txBox="1"/>
          <p:nvPr/>
        </p:nvSpPr>
        <p:spPr>
          <a:xfrm>
            <a:off x="731520" y="636193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2025년 검찰청 기준 14~18세 범죄소년 처리유형 · 성평등가족부(2026.7.14.) 보도참고자료</a:t>
            </a:r>
          </a:p>
        </p:txBody>
      </p:sp>
      <p:sp>
        <p:nvSpPr>
          <p:cNvPr id="2" name="prh0">
            <a:extLst>
              <a:ext uri="{FF2B5EF4-FFF2-40B4-BE49-F238E27FC236}">
                <a16:creationId xmlns:a16="http://schemas.microsoft.com/office/drawing/2014/main" id="{AA502FB5-2EEF-250F-B33E-C73E538FA73E}"/>
              </a:ext>
            </a:extLst>
          </p:cNvPr>
          <p:cNvSpPr txBox="1"/>
          <p:nvPr/>
        </p:nvSpPr>
        <p:spPr>
          <a:xfrm>
            <a:off x="731520" y="4150964"/>
            <a:ext cx="2240280" cy="773935"/>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기타 처분</a:t>
            </a:r>
            <a:endParaRPr lang="ko-KR" sz="1300" b="1" dirty="0">
              <a:solidFill>
                <a:srgbClr val="1E2761"/>
              </a:solidFill>
              <a:latin typeface="Pretendard"/>
              <a:ea typeface="Pretendard"/>
              <a:cs typeface="Pretendard"/>
            </a:endParaRPr>
          </a:p>
        </p:txBody>
      </p:sp>
      <p:sp>
        <p:nvSpPr>
          <p:cNvPr id="3" name="prb1">
            <a:extLst>
              <a:ext uri="{FF2B5EF4-FFF2-40B4-BE49-F238E27FC236}">
                <a16:creationId xmlns:a16="http://schemas.microsoft.com/office/drawing/2014/main" id="{E10180F0-C17A-7DAD-2F0F-6CFE2515CE19}"/>
              </a:ext>
            </a:extLst>
          </p:cNvPr>
          <p:cNvSpPr txBox="1"/>
          <p:nvPr/>
        </p:nvSpPr>
        <p:spPr>
          <a:xfrm>
            <a:off x="3180080" y="4066223"/>
            <a:ext cx="8302752" cy="974978"/>
          </a:xfrm>
          <a:prstGeom prst="rect">
            <a:avLst/>
          </a:prstGeom>
          <a:noFill/>
        </p:spPr>
        <p:txBody>
          <a:bodyPr wrap="square" lIns="0" tIns="27432" rIns="0" bIns="27432" anchor="ctr">
            <a:noAutofit/>
          </a:bodyPr>
          <a:lstStyle/>
          <a:p>
            <a:pPr>
              <a:lnSpc>
                <a:spcPct val="118000"/>
              </a:lnSpc>
              <a:spcAft>
                <a:spcPts val="500"/>
              </a:spcAft>
            </a:pP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기타는 형사기소 외에도 가정보호사건</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성매매보호사건 등 특별법상 보호절차로 보내는 경우가 포함된다</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endPar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endParaRPr>
          </a:p>
          <a:p>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가정폭력사건은 가정법원에서 접근제한</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수강명령</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보호관찰</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상담</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치료 등의 보호처분으로 이어질 수 있다</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p>
          <a:p>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성매매 관련 사건도 법이 정한 경우 형사재판 대신 보호관찰</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수강</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상담</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치료 등의 별도 보호처분이 가능하다</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endParaRP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응보·예방·보호와 현행제도의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전건송치의 역설</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13세에게 가능한 보호처분은 충분하며</a:t>
            </a:r>
            <a:r>
              <a:rPr lang="en-US" altLang="ko-KR" sz="2750" b="1" dirty="0">
                <a:solidFill>
                  <a:srgbClr val="1E2761"/>
                </a:solidFill>
                <a:latin typeface="Pretendard" pitchFamily="34" charset="0"/>
                <a:ea typeface="Pretendard" pitchFamily="34" charset="-122"/>
                <a:cs typeface="Pretendard" pitchFamily="34" charset="-120"/>
              </a:rPr>
              <a:t>, </a:t>
            </a:r>
            <a:r>
              <a:rPr lang="ko-KR" altLang="en-US" sz="2750" b="1" dirty="0">
                <a:solidFill>
                  <a:srgbClr val="1E2761"/>
                </a:solidFill>
                <a:latin typeface="Pretendard" pitchFamily="34" charset="0"/>
                <a:ea typeface="Pretendard" pitchFamily="34" charset="-122"/>
                <a:cs typeface="Pretendard" pitchFamily="34" charset="-120"/>
              </a:rPr>
              <a:t>제대로 운영되고 있는가</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쟁점은 13세 </a:t>
            </a:r>
            <a:r>
              <a:rPr lang="ko-KR" altLang="en-US" sz="1300" b="1" dirty="0" err="1">
                <a:solidFill>
                  <a:srgbClr val="1E2761"/>
                </a:solidFill>
                <a:latin typeface="Pretendard" pitchFamily="34" charset="0"/>
                <a:ea typeface="Pretendard" pitchFamily="34" charset="-122"/>
                <a:cs typeface="Pretendard" pitchFamily="34" charset="-120"/>
              </a:rPr>
              <a:t>촉법소년에게</a:t>
            </a:r>
            <a:r>
              <a:rPr lang="ko-KR" altLang="en-US" sz="1300" b="1" dirty="0">
                <a:solidFill>
                  <a:srgbClr val="1E2761"/>
                </a:solidFill>
                <a:latin typeface="Pretendard" pitchFamily="34" charset="0"/>
                <a:ea typeface="Pretendard" pitchFamily="34" charset="-122"/>
                <a:cs typeface="Pretendard" pitchFamily="34" charset="-120"/>
              </a:rPr>
              <a:t> 적용할 수 있는 제도 중 무엇이 부족하며 연령 하향이 그 문제를 해결하는가이다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1"/>
          <p:cNvSpPr/>
          <p:nvPr/>
        </p:nvSpPr>
        <p:spPr>
          <a:xfrm>
            <a:off x="3154680" y="2209603"/>
            <a:ext cx="8302752" cy="482397"/>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13세에게도 보호관찰·시설위탁·소년원 송치 등 상당한 자유제한을 수반하는 보호처분이 가능하다</a:t>
            </a:r>
          </a:p>
          <a:p>
            <a:pPr>
              <a:lnSpc>
                <a:spcPct val="118000"/>
              </a:lnSpc>
            </a:pPr>
            <a:r>
              <a:rPr lang="ko-KR" altLang="en-US" sz="1150" dirty="0">
                <a:solidFill>
                  <a:srgbClr val="464D5C"/>
                </a:solidFill>
                <a:latin typeface="Pretendard" pitchFamily="34" charset="0"/>
                <a:ea typeface="Pretendard" pitchFamily="34" charset="-122"/>
                <a:cs typeface="Pretendard" pitchFamily="34" charset="-120"/>
              </a:rPr>
              <a:t>일부 처분은 시설수용을 포함해 실제 생활상의 자유를 상당히 제한한다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9" name="H1"/>
          <p:cNvSpPr/>
          <p:nvPr/>
        </p:nvSpPr>
        <p:spPr>
          <a:xfrm>
            <a:off x="731520" y="2098040"/>
            <a:ext cx="2240280" cy="685711"/>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현재 가능한 대응</a:t>
            </a:r>
          </a:p>
        </p:txBody>
      </p:sp>
      <p:sp>
        <p:nvSpPr>
          <p:cNvPr id="10" name="R1"/>
          <p:cNvSpPr/>
          <p:nvPr/>
        </p:nvSpPr>
        <p:spPr>
          <a:xfrm>
            <a:off x="731520" y="2793911"/>
            <a:ext cx="10725912" cy="0"/>
          </a:xfrm>
          <a:prstGeom prst="line">
            <a:avLst/>
          </a:prstGeom>
          <a:ln w="9525">
            <a:solidFill>
              <a:srgbClr val="DCE0E8"/>
            </a:solidFill>
          </a:ln>
        </p:spPr>
        <p:txBody>
          <a:bodyPr/>
          <a:lstStyle/>
          <a:p>
            <a:endParaRPr lang="ko-KR"/>
          </a:p>
        </p:txBody>
      </p:sp>
      <p:sp>
        <p:nvSpPr>
          <p:cNvPr id="11" name="QL"/>
          <p:cNvSpPr/>
          <p:nvPr/>
        </p:nvSpPr>
        <p:spPr>
          <a:xfrm>
            <a:off x="782320" y="2914364"/>
            <a:ext cx="2646680"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왜 소년보호사건만으로 부족하다고 보는가</a:t>
            </a:r>
          </a:p>
        </p:txBody>
      </p:sp>
      <p:sp>
        <p:nvSpPr>
          <p:cNvPr id="12" name="TH12"/>
          <p:cNvSpPr/>
          <p:nvPr/>
        </p:nvSpPr>
        <p:spPr>
          <a:xfrm>
            <a:off x="731520" y="3300444"/>
            <a:ext cx="1417320" cy="197815"/>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buNone/>
            </a:pPr>
            <a:r>
              <a:rPr lang="ko-KR" altLang="en-US" sz="1100" b="1" dirty="0">
                <a:solidFill>
                  <a:srgbClr val="464D5C"/>
                </a:solidFill>
                <a:latin typeface="Pretendard" pitchFamily="34" charset="0"/>
                <a:ea typeface="Pretendard" pitchFamily="34" charset="-122"/>
                <a:cs typeface="Pretendard" pitchFamily="34" charset="-120"/>
              </a:rPr>
              <a:t>구분</a:t>
            </a:r>
          </a:p>
        </p:txBody>
      </p:sp>
      <p:sp>
        <p:nvSpPr>
          <p:cNvPr id="13" name="TH13"/>
          <p:cNvSpPr/>
          <p:nvPr/>
        </p:nvSpPr>
        <p:spPr>
          <a:xfrm>
            <a:off x="2377440" y="3300444"/>
            <a:ext cx="4398264" cy="197815"/>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buNone/>
            </a:pPr>
            <a:r>
              <a:rPr lang="ko-KR" altLang="en-US" sz="1100" b="1" dirty="0">
                <a:solidFill>
                  <a:srgbClr val="464D5C"/>
                </a:solidFill>
                <a:latin typeface="Pretendard" pitchFamily="34" charset="0"/>
                <a:ea typeface="Pretendard" pitchFamily="34" charset="-122"/>
                <a:cs typeface="Pretendard" pitchFamily="34" charset="-120"/>
              </a:rPr>
              <a:t>현행제도에서 제기되는 문제</a:t>
            </a:r>
          </a:p>
        </p:txBody>
      </p:sp>
      <p:sp>
        <p:nvSpPr>
          <p:cNvPr id="14" name="TH14"/>
          <p:cNvSpPr/>
          <p:nvPr/>
        </p:nvSpPr>
        <p:spPr>
          <a:xfrm>
            <a:off x="7059168" y="3306794"/>
            <a:ext cx="4398264" cy="197815"/>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buNone/>
            </a:pPr>
            <a:r>
              <a:rPr lang="ko-KR" altLang="en-US" sz="1100" b="1" dirty="0">
                <a:solidFill>
                  <a:srgbClr val="464D5C"/>
                </a:solidFill>
                <a:latin typeface="Pretendard" pitchFamily="34" charset="0"/>
                <a:ea typeface="Pretendard" pitchFamily="34" charset="-122"/>
                <a:cs typeface="Pretendard" pitchFamily="34" charset="-120"/>
              </a:rPr>
              <a:t>연령 하향이 바꾸는 것</a:t>
            </a:r>
          </a:p>
        </p:txBody>
      </p:sp>
      <p:sp>
        <p:nvSpPr>
          <p:cNvPr id="15" name="TL15"/>
          <p:cNvSpPr/>
          <p:nvPr/>
        </p:nvSpPr>
        <p:spPr>
          <a:xfrm>
            <a:off x="1123315" y="3660494"/>
            <a:ext cx="684530" cy="247283"/>
          </a:xfrm>
          <a:prstGeom prst="rect">
            <a:avLst/>
          </a:prstGeom>
          <a:noFill/>
          <a:ln/>
        </p:spPr>
        <p:txBody>
          <a:bodyPr wrap="square" lIns="0" tIns="0" rIns="0" bIns="0" rtlCol="0" anchor="t"/>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책임·제재</a:t>
            </a:r>
          </a:p>
        </p:txBody>
      </p:sp>
      <p:sp>
        <p:nvSpPr>
          <p:cNvPr id="16" name="TB16"/>
          <p:cNvSpPr/>
          <p:nvPr/>
        </p:nvSpPr>
        <p:spPr>
          <a:xfrm>
            <a:off x="2377440" y="3584111"/>
            <a:ext cx="4398264" cy="438150"/>
          </a:xfrm>
          <a:prstGeom prst="rect">
            <a:avLst/>
          </a:prstGeom>
          <a:noFill/>
          <a:ln/>
        </p:spPr>
        <p:txBody>
          <a:bodyPr wrap="square" lIns="0" tIns="0" rIns="0" bIns="0" rtlCol="0" anchor="t"/>
          <a:lstStyle/>
          <a:p>
            <a:pPr>
              <a:lnSpc>
                <a:spcPct val="125000"/>
              </a:lnSpc>
            </a:pPr>
            <a:r>
              <a:rPr lang="ko-KR" altLang="en-US" sz="1150" dirty="0">
                <a:solidFill>
                  <a:srgbClr val="222633"/>
                </a:solidFill>
                <a:latin typeface="Pretendard" pitchFamily="34" charset="0"/>
                <a:ea typeface="Pretendard" pitchFamily="34" charset="-122"/>
                <a:cs typeface="Pretendard" pitchFamily="34" charset="-120"/>
              </a:rPr>
              <a:t>보호처분으로 상당한 개입은 가능하지만</a:t>
            </a:r>
            <a:r>
              <a:rPr lang="en-US" altLang="ko-KR" sz="1150" dirty="0">
                <a:solidFill>
                  <a:srgbClr val="222633"/>
                </a:solidFill>
                <a:latin typeface="Pretendard" pitchFamily="34" charset="0"/>
                <a:ea typeface="Pretendard" pitchFamily="34" charset="-122"/>
                <a:cs typeface="Pretendard" pitchFamily="34" charset="-120"/>
              </a:rPr>
              <a:t>, </a:t>
            </a:r>
            <a:r>
              <a:rPr lang="ko-KR" altLang="en-US" sz="1150" b="1" dirty="0">
                <a:solidFill>
                  <a:srgbClr val="222633"/>
                </a:solidFill>
                <a:highlight>
                  <a:srgbClr val="FFFF00"/>
                </a:highlight>
                <a:latin typeface="Pretendard" pitchFamily="34" charset="0"/>
                <a:ea typeface="Pretendard" pitchFamily="34" charset="-122"/>
                <a:cs typeface="Pretendard" pitchFamily="34" charset="-120"/>
              </a:rPr>
              <a:t>범죄에 대한 형사책임을 인정하고 형을 선고하는 경로는 없다</a:t>
            </a:r>
            <a:r>
              <a:rPr lang="en-US" altLang="ko-KR" sz="1150" dirty="0">
                <a:solidFill>
                  <a:srgbClr val="222633"/>
                </a:solidFill>
                <a:latin typeface="Pretendard" pitchFamily="34" charset="0"/>
                <a:ea typeface="Pretendard" pitchFamily="34" charset="-122"/>
                <a:cs typeface="Pretendard" pitchFamily="34" charset="-120"/>
              </a:rPr>
              <a:t>.</a:t>
            </a:r>
            <a:endParaRPr lang="ko-KR" altLang="en-US" sz="1150" dirty="0">
              <a:solidFill>
                <a:srgbClr val="222633"/>
              </a:solidFill>
              <a:latin typeface="Pretendard" pitchFamily="34" charset="0"/>
              <a:ea typeface="Pretendard" pitchFamily="34" charset="-122"/>
              <a:cs typeface="Pretendard" pitchFamily="34" charset="-120"/>
            </a:endParaRPr>
          </a:p>
        </p:txBody>
      </p:sp>
      <p:sp>
        <p:nvSpPr>
          <p:cNvPr id="17" name="TB17"/>
          <p:cNvSpPr/>
          <p:nvPr/>
        </p:nvSpPr>
        <p:spPr>
          <a:xfrm>
            <a:off x="7059168" y="3603161"/>
            <a:ext cx="4398264" cy="240335"/>
          </a:xfrm>
          <a:prstGeom prst="rect">
            <a:avLst/>
          </a:prstGeom>
          <a:noFill/>
          <a:ln/>
        </p:spPr>
        <p:txBody>
          <a:bodyPr wrap="square" lIns="0" tIns="0" rIns="0" bIns="0" rtlCol="0" anchor="t"/>
          <a:lstStyle/>
          <a:p>
            <a:pPr>
              <a:lnSpc>
                <a:spcPct val="118000"/>
              </a:lnSpc>
            </a:pPr>
            <a:r>
              <a:rPr lang="ko-KR" altLang="en-US" sz="1150" dirty="0">
                <a:solidFill>
                  <a:srgbClr val="222633"/>
                </a:solidFill>
                <a:latin typeface="Pretendard" pitchFamily="34" charset="0"/>
                <a:ea typeface="Pretendard" pitchFamily="34" charset="-122"/>
                <a:cs typeface="Pretendard" pitchFamily="34" charset="-120"/>
              </a:rPr>
              <a:t>직접 바뀐다</a:t>
            </a:r>
            <a:r>
              <a:rPr lang="en-US" altLang="ko-KR" sz="1150" dirty="0">
                <a:solidFill>
                  <a:srgbClr val="222633"/>
                </a:solidFill>
                <a:latin typeface="Pretendard" pitchFamily="34" charset="0"/>
                <a:ea typeface="Pretendard" pitchFamily="34" charset="-122"/>
                <a:cs typeface="Pretendard" pitchFamily="34" charset="-120"/>
              </a:rPr>
              <a:t>. 13</a:t>
            </a:r>
            <a:r>
              <a:rPr lang="ko-KR" altLang="en-US" sz="1150" dirty="0">
                <a:solidFill>
                  <a:srgbClr val="222633"/>
                </a:solidFill>
                <a:latin typeface="Pretendard" pitchFamily="34" charset="0"/>
                <a:ea typeface="Pretendard" pitchFamily="34" charset="-122"/>
                <a:cs typeface="Pretendard" pitchFamily="34" charset="-120"/>
              </a:rPr>
              <a:t>세에게도 형사책임을 물을 수 있고</a:t>
            </a:r>
            <a:r>
              <a:rPr lang="en-US" altLang="ko-KR" sz="1150" dirty="0">
                <a:solidFill>
                  <a:srgbClr val="222633"/>
                </a:solidFill>
                <a:latin typeface="Pretendard" pitchFamily="34" charset="0"/>
                <a:ea typeface="Pretendard" pitchFamily="34" charset="-122"/>
                <a:cs typeface="Pretendard" pitchFamily="34" charset="-120"/>
              </a:rPr>
              <a:t>, </a:t>
            </a:r>
            <a:r>
              <a:rPr lang="ko-KR" altLang="en-US" sz="1150" dirty="0">
                <a:solidFill>
                  <a:srgbClr val="222633"/>
                </a:solidFill>
                <a:latin typeface="Pretendard" pitchFamily="34" charset="0"/>
                <a:ea typeface="Pretendard" pitchFamily="34" charset="-122"/>
                <a:cs typeface="Pretendard" pitchFamily="34" charset="-120"/>
              </a:rPr>
              <a:t>사건에 따라 형 선고까지 가능해진다</a:t>
            </a:r>
            <a:r>
              <a:rPr lang="en-US" altLang="ko-KR" sz="1150" dirty="0">
                <a:solidFill>
                  <a:srgbClr val="222633"/>
                </a:solidFill>
                <a:latin typeface="Pretendard" pitchFamily="34" charset="0"/>
                <a:ea typeface="Pretendard" pitchFamily="34" charset="-122"/>
                <a:cs typeface="Pretendard" pitchFamily="34" charset="-120"/>
              </a:rPr>
              <a:t>.</a:t>
            </a:r>
            <a:endParaRPr lang="ko-KR" altLang="en-US" sz="1150" dirty="0">
              <a:solidFill>
                <a:srgbClr val="222633"/>
              </a:solidFill>
              <a:latin typeface="Pretendard" pitchFamily="34" charset="0"/>
              <a:ea typeface="Pretendard" pitchFamily="34" charset="-122"/>
              <a:cs typeface="Pretendard" pitchFamily="34" charset="-120"/>
            </a:endParaRPr>
          </a:p>
        </p:txBody>
      </p:sp>
      <p:sp>
        <p:nvSpPr>
          <p:cNvPr id="18" name="TL18"/>
          <p:cNvSpPr/>
          <p:nvPr/>
        </p:nvSpPr>
        <p:spPr>
          <a:xfrm>
            <a:off x="1129665" y="4194502"/>
            <a:ext cx="629285" cy="245444"/>
          </a:xfrm>
          <a:prstGeom prst="rect">
            <a:avLst/>
          </a:prstGeom>
          <a:noFill/>
          <a:ln/>
        </p:spPr>
        <p:txBody>
          <a:bodyPr wrap="square" lIns="0" tIns="0" rIns="0" bIns="0" rtlCol="0" anchor="t"/>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제도 운영</a:t>
            </a:r>
          </a:p>
        </p:txBody>
      </p:sp>
      <p:sp>
        <p:nvSpPr>
          <p:cNvPr id="19" name="TB19"/>
          <p:cNvSpPr/>
          <p:nvPr/>
        </p:nvSpPr>
        <p:spPr>
          <a:xfrm>
            <a:off x="2377440" y="4183551"/>
            <a:ext cx="4398264" cy="245444"/>
          </a:xfrm>
          <a:prstGeom prst="rect">
            <a:avLst/>
          </a:prstGeom>
          <a:noFill/>
          <a:ln/>
        </p:spPr>
        <p:txBody>
          <a:bodyPr wrap="square" lIns="0" tIns="0" rIns="0" bIns="0" rtlCol="0" anchor="t"/>
          <a:lstStyle/>
          <a:p>
            <a:pPr>
              <a:lnSpc>
                <a:spcPct val="118000"/>
              </a:lnSpc>
            </a:pPr>
            <a:r>
              <a:rPr lang="ko-KR" altLang="en-US" sz="1150" dirty="0">
                <a:solidFill>
                  <a:srgbClr val="222633"/>
                </a:solidFill>
                <a:latin typeface="Pretendard" pitchFamily="34" charset="0"/>
                <a:ea typeface="Pretendard" pitchFamily="34" charset="-122"/>
                <a:cs typeface="Pretendard" pitchFamily="34" charset="-120"/>
              </a:rPr>
              <a:t>사건의 경중에 맞는 선별</a:t>
            </a:r>
            <a:r>
              <a:rPr lang="en-US" altLang="ko-KR" sz="1150" dirty="0">
                <a:solidFill>
                  <a:srgbClr val="222633"/>
                </a:solidFill>
                <a:latin typeface="Pretendard" pitchFamily="34" charset="0"/>
                <a:ea typeface="Pretendard" pitchFamily="34" charset="-122"/>
                <a:cs typeface="Pretendard" pitchFamily="34" charset="-120"/>
              </a:rPr>
              <a:t>·</a:t>
            </a:r>
            <a:r>
              <a:rPr lang="ko-KR" altLang="en-US" sz="1150" dirty="0">
                <a:solidFill>
                  <a:srgbClr val="222633"/>
                </a:solidFill>
                <a:latin typeface="Pretendard" pitchFamily="34" charset="0"/>
                <a:ea typeface="Pretendard" pitchFamily="34" charset="-122"/>
                <a:cs typeface="Pretendard" pitchFamily="34" charset="-120"/>
              </a:rPr>
              <a:t>조사와 처분 선택이 이루어지는가</a:t>
            </a:r>
            <a:r>
              <a:rPr lang="en-US" altLang="ko-KR" sz="1100" dirty="0">
                <a:solidFill>
                  <a:srgbClr val="222633"/>
                </a:solidFill>
                <a:latin typeface="Pretendard" pitchFamily="34" charset="0"/>
                <a:ea typeface="Pretendard" pitchFamily="34" charset="-122"/>
                <a:cs typeface="Pretendard" pitchFamily="34" charset="-120"/>
              </a:rPr>
              <a:t>?(</a:t>
            </a:r>
            <a:r>
              <a:rPr lang="ko-KR" altLang="en-US" sz="1100" dirty="0" err="1">
                <a:solidFill>
                  <a:srgbClr val="222633"/>
                </a:solidFill>
                <a:latin typeface="Pretendard" pitchFamily="34" charset="0"/>
                <a:ea typeface="Pretendard" pitchFamily="34" charset="-122"/>
                <a:cs typeface="Pretendard" pitchFamily="34" charset="-120"/>
              </a:rPr>
              <a:t>전건송치</a:t>
            </a:r>
            <a:r>
              <a:rPr lang="en-US" altLang="ko-KR" sz="1100" dirty="0">
                <a:solidFill>
                  <a:srgbClr val="222633"/>
                </a:solidFill>
                <a:latin typeface="Pretendard" pitchFamily="34" charset="0"/>
                <a:ea typeface="Pretendard" pitchFamily="34" charset="-122"/>
                <a:cs typeface="Pretendard" pitchFamily="34" charset="-120"/>
              </a:rPr>
              <a:t>, </a:t>
            </a:r>
            <a:r>
              <a:rPr lang="ko-KR" altLang="en-US" sz="1100" dirty="0">
                <a:solidFill>
                  <a:srgbClr val="222633"/>
                </a:solidFill>
                <a:latin typeface="Pretendard" pitchFamily="34" charset="0"/>
                <a:ea typeface="Pretendard" pitchFamily="34" charset="-122"/>
                <a:cs typeface="Pretendard" pitchFamily="34" charset="-120"/>
              </a:rPr>
              <a:t>조사절차</a:t>
            </a:r>
            <a:r>
              <a:rPr lang="en-US" altLang="ko-KR" sz="1100" dirty="0">
                <a:solidFill>
                  <a:srgbClr val="222633"/>
                </a:solidFill>
                <a:latin typeface="Pretendard" pitchFamily="34" charset="0"/>
                <a:ea typeface="Pretendard" pitchFamily="34" charset="-122"/>
                <a:cs typeface="Pretendard" pitchFamily="34" charset="-120"/>
              </a:rPr>
              <a:t>, </a:t>
            </a:r>
            <a:r>
              <a:rPr lang="ko-KR" altLang="en-US" sz="1100" dirty="0">
                <a:solidFill>
                  <a:srgbClr val="222633"/>
                </a:solidFill>
                <a:latin typeface="Pretendard" pitchFamily="34" charset="0"/>
                <a:ea typeface="Pretendard" pitchFamily="34" charset="-122"/>
                <a:cs typeface="Pretendard" pitchFamily="34" charset="-120"/>
              </a:rPr>
              <a:t>권리보장 등</a:t>
            </a:r>
            <a:r>
              <a:rPr lang="en-US" altLang="ko-KR" sz="1100" dirty="0">
                <a:solidFill>
                  <a:srgbClr val="222633"/>
                </a:solidFill>
                <a:latin typeface="Pretendard" pitchFamily="34" charset="0"/>
                <a:ea typeface="Pretendard" pitchFamily="34" charset="-122"/>
                <a:cs typeface="Pretendard" pitchFamily="34" charset="-120"/>
              </a:rPr>
              <a:t>)</a:t>
            </a:r>
            <a:endParaRPr lang="ko-KR" altLang="en-US" sz="1150" dirty="0">
              <a:solidFill>
                <a:srgbClr val="222633"/>
              </a:solidFill>
              <a:latin typeface="Pretendard" pitchFamily="34" charset="0"/>
              <a:ea typeface="Pretendard" pitchFamily="34" charset="-122"/>
              <a:cs typeface="Pretendard" pitchFamily="34" charset="-120"/>
            </a:endParaRPr>
          </a:p>
        </p:txBody>
      </p:sp>
      <p:sp>
        <p:nvSpPr>
          <p:cNvPr id="20" name="TB20"/>
          <p:cNvSpPr/>
          <p:nvPr/>
        </p:nvSpPr>
        <p:spPr>
          <a:xfrm>
            <a:off x="7059168" y="4151801"/>
            <a:ext cx="4398264" cy="438150"/>
          </a:xfrm>
          <a:prstGeom prst="rect">
            <a:avLst/>
          </a:prstGeom>
          <a:noFill/>
          <a:ln/>
        </p:spPr>
        <p:txBody>
          <a:bodyPr wrap="square" lIns="0" tIns="0" rIns="0" bIns="0" rtlCol="0" anchor="t"/>
          <a:lstStyle/>
          <a:p>
            <a:pPr marL="0" indent="0">
              <a:lnSpc>
                <a:spcPct val="125000"/>
              </a:lnSpc>
              <a:buNone/>
            </a:pPr>
            <a:r>
              <a:rPr lang="ko-KR" altLang="en-US" sz="1150" dirty="0">
                <a:solidFill>
                  <a:srgbClr val="222633"/>
                </a:solidFill>
                <a:latin typeface="Pretendard" pitchFamily="34" charset="0"/>
                <a:ea typeface="Pretendard" pitchFamily="34" charset="-122"/>
                <a:cs typeface="Pretendard" pitchFamily="34" charset="-120"/>
              </a:rPr>
              <a:t>일부 바뀐다. 형사 경로가 열리지만, 조사근거와 선별기준은 연령을 유지한 채 개선할 수도 있다.</a:t>
            </a:r>
          </a:p>
        </p:txBody>
      </p:sp>
      <p:sp>
        <p:nvSpPr>
          <p:cNvPr id="21" name="TL21"/>
          <p:cNvSpPr/>
          <p:nvPr/>
        </p:nvSpPr>
        <p:spPr>
          <a:xfrm>
            <a:off x="1125537" y="4827501"/>
            <a:ext cx="629285" cy="245444"/>
          </a:xfrm>
          <a:prstGeom prst="rect">
            <a:avLst/>
          </a:prstGeom>
          <a:noFill/>
          <a:ln/>
        </p:spPr>
        <p:txBody>
          <a:bodyPr wrap="square" lIns="0" tIns="0" rIns="0" bIns="0" rtlCol="0" anchor="t"/>
          <a:lstStyle/>
          <a:p>
            <a:pPr marL="0" indent="0">
              <a:lnSpc>
                <a:spcPct val="118000"/>
              </a:lnSpc>
              <a:buNone/>
            </a:pPr>
            <a:r>
              <a:rPr lang="ko-KR" altLang="en-US" sz="1250" b="1" dirty="0">
                <a:solidFill>
                  <a:srgbClr val="1E2761"/>
                </a:solidFill>
                <a:latin typeface="Pretendard" pitchFamily="34" charset="0"/>
                <a:ea typeface="Pretendard" pitchFamily="34" charset="-122"/>
                <a:cs typeface="Pretendard" pitchFamily="34" charset="-120"/>
              </a:rPr>
              <a:t>집행·지원</a:t>
            </a:r>
          </a:p>
        </p:txBody>
      </p:sp>
      <p:sp>
        <p:nvSpPr>
          <p:cNvPr id="22" name="TB22"/>
          <p:cNvSpPr/>
          <p:nvPr/>
        </p:nvSpPr>
        <p:spPr>
          <a:xfrm>
            <a:off x="2377440" y="4719491"/>
            <a:ext cx="4398264" cy="438150"/>
          </a:xfrm>
          <a:prstGeom prst="rect">
            <a:avLst/>
          </a:prstGeom>
          <a:noFill/>
          <a:ln/>
        </p:spPr>
        <p:txBody>
          <a:bodyPr wrap="square" lIns="0" tIns="0" rIns="0" bIns="0" rtlCol="0" anchor="t"/>
          <a:lstStyle/>
          <a:p>
            <a:pPr marL="0" indent="0">
              <a:lnSpc>
                <a:spcPct val="125000"/>
              </a:lnSpc>
              <a:buNone/>
            </a:pPr>
            <a:r>
              <a:rPr lang="ko-KR" altLang="en-US" sz="1150" dirty="0">
                <a:solidFill>
                  <a:srgbClr val="222633"/>
                </a:solidFill>
                <a:latin typeface="Pretendard" pitchFamily="34" charset="0"/>
                <a:ea typeface="Pretendard" pitchFamily="34" charset="-122"/>
                <a:cs typeface="Pretendard" pitchFamily="34" charset="-120"/>
              </a:rPr>
              <a:t>상담·치료·시설·전문인력·지역자원의 부족 때문에 법에 있는 보호수단이 제대로 작동하지 않는가?</a:t>
            </a:r>
          </a:p>
        </p:txBody>
      </p:sp>
      <p:sp>
        <p:nvSpPr>
          <p:cNvPr id="23" name="TB23"/>
          <p:cNvSpPr/>
          <p:nvPr/>
        </p:nvSpPr>
        <p:spPr>
          <a:xfrm>
            <a:off x="7059168" y="4719491"/>
            <a:ext cx="4398264" cy="438150"/>
          </a:xfrm>
          <a:prstGeom prst="rect">
            <a:avLst/>
          </a:prstGeom>
          <a:noFill/>
          <a:ln/>
        </p:spPr>
        <p:txBody>
          <a:bodyPr wrap="square" lIns="0" tIns="0" rIns="0" bIns="0" rtlCol="0" anchor="t"/>
          <a:lstStyle/>
          <a:p>
            <a:pPr marL="0" indent="0">
              <a:lnSpc>
                <a:spcPct val="125000"/>
              </a:lnSpc>
              <a:buNone/>
            </a:pPr>
            <a:r>
              <a:rPr lang="ko-KR" altLang="en-US" sz="1150" dirty="0">
                <a:solidFill>
                  <a:srgbClr val="222633"/>
                </a:solidFill>
                <a:latin typeface="Pretendard" pitchFamily="34" charset="0"/>
                <a:ea typeface="Pretendard" pitchFamily="34" charset="-122"/>
                <a:cs typeface="Pretendard" pitchFamily="34" charset="-120"/>
              </a:rPr>
              <a:t>직접 해결되지 않는다. 연령을 낮춰도 치료·시설·전문인력 부족은 따로 개선해야 한다.</a:t>
            </a:r>
          </a:p>
        </p:txBody>
      </p:sp>
      <p:sp>
        <p:nvSpPr>
          <p:cNvPr id="24" name="R2"/>
          <p:cNvSpPr/>
          <p:nvPr/>
        </p:nvSpPr>
        <p:spPr>
          <a:xfrm>
            <a:off x="731520" y="5348453"/>
            <a:ext cx="10725912" cy="0"/>
          </a:xfrm>
          <a:prstGeom prst="line">
            <a:avLst/>
          </a:prstGeom>
          <a:ln w="9525">
            <a:solidFill>
              <a:srgbClr val="DCE0E8"/>
            </a:solidFill>
          </a:ln>
        </p:spPr>
        <p:txBody>
          <a:bodyPr/>
          <a:lstStyle/>
          <a:p>
            <a:endParaRPr lang="ko-KR"/>
          </a:p>
        </p:txBody>
      </p:sp>
      <p:sp>
        <p:nvSpPr>
          <p:cNvPr id="25" name="B3"/>
          <p:cNvSpPr/>
          <p:nvPr/>
        </p:nvSpPr>
        <p:spPr>
          <a:xfrm>
            <a:off x="3154680" y="5443506"/>
            <a:ext cx="8302752" cy="482397"/>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현행제도를 보완해도 남는 형벌로 책임을 인정할 것인가라는 문제는 보호처분 개선만으로 해결할 수 없다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연령을 낮추면 제재의 강도만 달라지는 것이 아니라 형사수사·검찰 처분·형사재판·형 선고 가능성이 함께 추가된다.</a:t>
            </a:r>
          </a:p>
        </p:txBody>
      </p:sp>
      <p:sp>
        <p:nvSpPr>
          <p:cNvPr id="26" name="H3"/>
          <p:cNvSpPr/>
          <p:nvPr/>
        </p:nvSpPr>
        <p:spPr>
          <a:xfrm>
            <a:off x="731520" y="5350993"/>
            <a:ext cx="2240280" cy="685711"/>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왜 연령 하향인가</a:t>
            </a:r>
          </a:p>
        </p:txBody>
      </p:sp>
      <p:sp>
        <p:nvSpPr>
          <p:cNvPr id="27" name="R3"/>
          <p:cNvSpPr/>
          <p:nvPr/>
        </p:nvSpPr>
        <p:spPr>
          <a:xfrm>
            <a:off x="731520" y="6040514"/>
            <a:ext cx="10725912" cy="0"/>
          </a:xfrm>
          <a:prstGeom prst="line">
            <a:avLst/>
          </a:prstGeom>
          <a:ln w="9525">
            <a:solidFill>
              <a:srgbClr val="DCE0E8"/>
            </a:solidFill>
          </a:ln>
        </p:spPr>
        <p:txBody>
          <a:bodyPr/>
          <a:lstStyle/>
          <a:p>
            <a:endParaRPr lang="ko-KR"/>
          </a:p>
        </p:txBody>
      </p:sp>
      <p:sp>
        <p:nvSpPr>
          <p:cNvPr id="28" name="CL"/>
          <p:cNvSpPr/>
          <p:nvPr/>
        </p:nvSpPr>
        <p:spPr>
          <a:xfrm>
            <a:off x="731520" y="6122867"/>
            <a:ext cx="10725912" cy="224790"/>
          </a:xfrm>
          <a:prstGeom prst="rect">
            <a:avLst/>
          </a:prstGeom>
          <a:noFill/>
          <a:ln/>
        </p:spPr>
        <p:txBody>
          <a:bodyPr wrap="square" lIns="0" tIns="0" rIns="0" bIns="0" rtlCol="0" anchor="t"/>
          <a:lstStyle/>
          <a:p>
            <a:pPr>
              <a:lnSpc>
                <a:spcPct val="118000"/>
              </a:lnSpc>
            </a:pPr>
            <a:r>
              <a:rPr lang="ko-KR" altLang="en-US" sz="1250" b="1" dirty="0">
                <a:solidFill>
                  <a:schemeClr val="accent4">
                    <a:lumMod val="75000"/>
                  </a:schemeClr>
                </a:solidFill>
                <a:latin typeface="Pretendard" pitchFamily="34" charset="0"/>
                <a:ea typeface="Pretendard" pitchFamily="34" charset="-122"/>
                <a:cs typeface="Pretendard" pitchFamily="34" charset="-120"/>
              </a:rPr>
              <a:t>연령 하향의 필요성은 현행제도의 한계가 책임</a:t>
            </a:r>
            <a:r>
              <a:rPr lang="en-US" altLang="ko-KR" sz="1250" b="1" dirty="0">
                <a:solidFill>
                  <a:schemeClr val="accent4">
                    <a:lumMod val="75000"/>
                  </a:schemeClr>
                </a:solidFill>
                <a:latin typeface="Pretendard" pitchFamily="34" charset="0"/>
                <a:ea typeface="Pretendard" pitchFamily="34" charset="-122"/>
                <a:cs typeface="Pretendard" pitchFamily="34" charset="-120"/>
              </a:rPr>
              <a:t>·</a:t>
            </a:r>
            <a:r>
              <a:rPr lang="ko-KR" altLang="en-US" sz="1250" b="1" dirty="0">
                <a:solidFill>
                  <a:schemeClr val="accent4">
                    <a:lumMod val="75000"/>
                  </a:schemeClr>
                </a:solidFill>
                <a:latin typeface="Pretendard" pitchFamily="34" charset="0"/>
                <a:ea typeface="Pretendard" pitchFamily="34" charset="-122"/>
                <a:cs typeface="Pretendard" pitchFamily="34" charset="-120"/>
              </a:rPr>
              <a:t>제재</a:t>
            </a:r>
            <a:r>
              <a:rPr lang="en-US" altLang="ko-KR" sz="1250" b="1" dirty="0">
                <a:solidFill>
                  <a:schemeClr val="accent4">
                    <a:lumMod val="75000"/>
                  </a:schemeClr>
                </a:solidFill>
                <a:latin typeface="Pretendard" pitchFamily="34" charset="0"/>
                <a:ea typeface="Pretendard" pitchFamily="34" charset="-122"/>
                <a:cs typeface="Pretendard" pitchFamily="34" charset="-120"/>
              </a:rPr>
              <a:t>, </a:t>
            </a:r>
            <a:r>
              <a:rPr lang="ko-KR" altLang="en-US" sz="1250" b="1" dirty="0">
                <a:solidFill>
                  <a:schemeClr val="accent4">
                    <a:lumMod val="75000"/>
                  </a:schemeClr>
                </a:solidFill>
                <a:latin typeface="Pretendard" pitchFamily="34" charset="0"/>
                <a:ea typeface="Pretendard" pitchFamily="34" charset="-122"/>
                <a:cs typeface="Pretendard" pitchFamily="34" charset="-120"/>
              </a:rPr>
              <a:t>제도 운영</a:t>
            </a:r>
            <a:r>
              <a:rPr lang="en-US" altLang="ko-KR" sz="1250" b="1" dirty="0">
                <a:solidFill>
                  <a:schemeClr val="accent4">
                    <a:lumMod val="75000"/>
                  </a:schemeClr>
                </a:solidFill>
                <a:latin typeface="Pretendard" pitchFamily="34" charset="0"/>
                <a:ea typeface="Pretendard" pitchFamily="34" charset="-122"/>
                <a:cs typeface="Pretendard" pitchFamily="34" charset="-120"/>
              </a:rPr>
              <a:t>, </a:t>
            </a:r>
            <a:r>
              <a:rPr lang="ko-KR" altLang="en-US" sz="1250" b="1" dirty="0">
                <a:solidFill>
                  <a:schemeClr val="accent4">
                    <a:lumMod val="75000"/>
                  </a:schemeClr>
                </a:solidFill>
                <a:latin typeface="Pretendard" pitchFamily="34" charset="0"/>
                <a:ea typeface="Pretendard" pitchFamily="34" charset="-122"/>
                <a:cs typeface="Pretendard" pitchFamily="34" charset="-120"/>
              </a:rPr>
              <a:t>집행</a:t>
            </a:r>
            <a:r>
              <a:rPr lang="en-US" altLang="ko-KR" sz="1250" b="1" dirty="0">
                <a:solidFill>
                  <a:schemeClr val="accent4">
                    <a:lumMod val="75000"/>
                  </a:schemeClr>
                </a:solidFill>
                <a:latin typeface="Pretendard" pitchFamily="34" charset="0"/>
                <a:ea typeface="Pretendard" pitchFamily="34" charset="-122"/>
                <a:cs typeface="Pretendard" pitchFamily="34" charset="-120"/>
              </a:rPr>
              <a:t>·</a:t>
            </a:r>
            <a:r>
              <a:rPr lang="ko-KR" altLang="en-US" sz="1250" b="1" dirty="0">
                <a:solidFill>
                  <a:schemeClr val="accent4">
                    <a:lumMod val="75000"/>
                  </a:schemeClr>
                </a:solidFill>
                <a:latin typeface="Pretendard" pitchFamily="34" charset="0"/>
                <a:ea typeface="Pretendard" pitchFamily="34" charset="-122"/>
                <a:cs typeface="Pretendard" pitchFamily="34" charset="-120"/>
              </a:rPr>
              <a:t>지원 중 어디에 </a:t>
            </a:r>
            <a:r>
              <a:rPr lang="ko-KR" altLang="en-US" sz="1250" b="1" dirty="0" err="1">
                <a:solidFill>
                  <a:schemeClr val="accent4">
                    <a:lumMod val="75000"/>
                  </a:schemeClr>
                </a:solidFill>
                <a:latin typeface="Pretendard" pitchFamily="34" charset="0"/>
                <a:ea typeface="Pretendard" pitchFamily="34" charset="-122"/>
                <a:cs typeface="Pretendard" pitchFamily="34" charset="-120"/>
              </a:rPr>
              <a:t>있는지와</a:t>
            </a:r>
            <a:r>
              <a:rPr lang="ko-KR" altLang="en-US" sz="1250" b="1" dirty="0">
                <a:solidFill>
                  <a:schemeClr val="accent4">
                    <a:lumMod val="75000"/>
                  </a:schemeClr>
                </a:solidFill>
                <a:latin typeface="Pretendard" pitchFamily="34" charset="0"/>
                <a:ea typeface="Pretendard" pitchFamily="34" charset="-122"/>
                <a:cs typeface="Pretendard" pitchFamily="34" charset="-120"/>
              </a:rPr>
              <a:t> 연령 하향이 각각을 얼마나 바꾸는지를 함께 따져 판단해야 한다</a:t>
            </a:r>
            <a:r>
              <a:rPr lang="en-US" altLang="ko-KR" sz="1250" b="1" dirty="0">
                <a:solidFill>
                  <a:schemeClr val="accent4">
                    <a:lumMod val="75000"/>
                  </a:schemeClr>
                </a:solidFill>
                <a:latin typeface="Pretendard" pitchFamily="34" charset="0"/>
                <a:ea typeface="Pretendard" pitchFamily="34" charset="-122"/>
                <a:cs typeface="Pretendard" pitchFamily="34" charset="-120"/>
              </a:rPr>
              <a:t>.</a:t>
            </a:r>
            <a:endParaRPr lang="ko-KR" altLang="en-US" sz="1250" b="1" dirty="0">
              <a:solidFill>
                <a:schemeClr val="accent4">
                  <a:lumMod val="75000"/>
                </a:schemeClr>
              </a:solidFill>
              <a:latin typeface="Pretendard" pitchFamily="34" charset="0"/>
              <a:ea typeface="Pretendard" pitchFamily="34" charset="-122"/>
              <a:cs typeface="Pretendard" pitchFamily="34" charset="-120"/>
            </a:endParaRPr>
          </a:p>
        </p:txBody>
      </p:sp>
      <p:sp>
        <p:nvSpPr>
          <p:cNvPr id="29" name="R4"/>
          <p:cNvSpPr/>
          <p:nvPr/>
        </p:nvSpPr>
        <p:spPr>
          <a:xfrm>
            <a:off x="731520" y="6436868"/>
            <a:ext cx="10725912" cy="0"/>
          </a:xfrm>
          <a:prstGeom prst="line">
            <a:avLst/>
          </a:prstGeom>
          <a:ln w="9525">
            <a:solidFill>
              <a:srgbClr val="DCE0E8"/>
            </a:solidFill>
          </a:ln>
        </p:spPr>
        <p:txBody>
          <a:bodyPr/>
          <a:lstStyle/>
          <a:p>
            <a:endParaRPr lang="ko-KR"/>
          </a:p>
        </p:txBody>
      </p:sp>
      <p:sp>
        <p:nvSpPr>
          <p:cNvPr id="30" name="FOOT"/>
          <p:cNvSpPr/>
          <p:nvPr/>
        </p:nvSpPr>
        <p:spPr>
          <a:xfrm>
            <a:off x="733044" y="6457189"/>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소년법 제32조 제1항·제4항 · 제33조 · 형사책임 추가의 필요성은 이후 장에서 자료로 검토</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응보·예방·보호와 현행제도의 한계</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촉법소년 조사근거</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전건송치의 역설 — </a:t>
            </a:r>
            <a:r>
              <a:rPr lang="ko-KR" altLang="en-US" sz="2750" b="1" dirty="0">
                <a:solidFill>
                  <a:srgbClr val="1E2761"/>
                </a:solidFill>
                <a:latin typeface="Pretendard"/>
                <a:ea typeface="Pretendard"/>
                <a:cs typeface="Pretendard"/>
              </a:rPr>
              <a:t>초기 </a:t>
            </a:r>
            <a:r>
              <a:rPr lang="ko-KR" sz="2750" b="1" dirty="0">
                <a:solidFill>
                  <a:srgbClr val="1E2761"/>
                </a:solidFill>
                <a:latin typeface="Pretendard"/>
                <a:ea typeface="Pretendard"/>
                <a:cs typeface="Pretendard"/>
              </a:rPr>
              <a:t>경미행위</a:t>
            </a:r>
            <a:r>
              <a:rPr lang="ko-KR" altLang="en-US" sz="2750" b="1" dirty="0">
                <a:solidFill>
                  <a:srgbClr val="1E2761"/>
                </a:solidFill>
                <a:latin typeface="Pretendard"/>
                <a:ea typeface="Pretendard"/>
                <a:cs typeface="Pretendard"/>
              </a:rPr>
              <a:t>처리 경로</a:t>
            </a:r>
            <a:endParaRPr lang="ko-KR" sz="2750" b="1" dirty="0">
              <a:solidFill>
                <a:srgbClr val="1E2761"/>
              </a:solidFill>
              <a:latin typeface="Pretendard"/>
              <a:ea typeface="Pretendard"/>
              <a:cs typeface="Pretendard"/>
            </a:endParaRPr>
          </a:p>
        </p:txBody>
      </p:sp>
      <p:sp>
        <p:nvSpPr>
          <p:cNvPr id="13" name="line13"/>
          <p:cNvSpPr/>
          <p:nvPr/>
        </p:nvSpPr>
        <p:spPr>
          <a:xfrm>
            <a:off x="731520" y="1389888"/>
            <a:ext cx="10725912" cy="0"/>
          </a:xfrm>
          <a:prstGeom prst="line">
            <a:avLst/>
          </a:prstGeom>
          <a:ln w="19050">
            <a:solidFill>
              <a:srgbClr val="1E2761"/>
            </a:solidFill>
          </a:ln>
        </p:spPr>
        <p:txBody>
          <a:bodyPr/>
          <a:lstStyle/>
          <a:p>
            <a:endParaRPr/>
          </a:p>
        </p:txBody>
      </p:sp>
      <p:sp>
        <p:nvSpPr>
          <p:cNvPr id="14" name="h0"/>
          <p:cNvSpPr txBox="1"/>
          <p:nvPr/>
        </p:nvSpPr>
        <p:spPr>
          <a:xfrm>
            <a:off x="731520" y="1625345"/>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13세 촉법소년</a:t>
            </a:r>
          </a:p>
        </p:txBody>
      </p:sp>
      <p:sp>
        <p:nvSpPr>
          <p:cNvPr id="15" name="b0"/>
          <p:cNvSpPr txBox="1"/>
          <p:nvPr/>
        </p:nvSpPr>
        <p:spPr>
          <a:xfrm>
            <a:off x="3022600" y="1625345"/>
            <a:ext cx="8434832" cy="576072"/>
          </a:xfrm>
          <a:prstGeom prst="rect">
            <a:avLst/>
          </a:prstGeom>
          <a:noFill/>
        </p:spPr>
        <p:txBody>
          <a:bodyPr wrap="square" lIns="0" tIns="27432" rIns="0" bIns="27432" anchor="ctr">
            <a:noAutofit/>
          </a:bodyPr>
          <a:lstStyle/>
          <a:p>
            <a:pPr algn="l">
              <a:lnSpc>
                <a:spcPct val="118000"/>
              </a:lnSpc>
              <a:spcAft>
                <a:spcPts val="500"/>
              </a:spcAft>
            </a:pPr>
            <a:r>
              <a:rPr sz="1250" b="1" dirty="0" err="1">
                <a:solidFill>
                  <a:srgbClr val="222633"/>
                </a:solidFill>
                <a:latin typeface="Pretendard"/>
              </a:rPr>
              <a:t>촉법행위가</a:t>
            </a:r>
            <a:r>
              <a:rPr sz="1250" b="1" dirty="0">
                <a:solidFill>
                  <a:srgbClr val="222633"/>
                </a:solidFill>
                <a:latin typeface="Pretendard"/>
              </a:rPr>
              <a:t> </a:t>
            </a:r>
            <a:r>
              <a:rPr sz="1250" b="1" dirty="0" err="1">
                <a:solidFill>
                  <a:srgbClr val="222633"/>
                </a:solidFill>
                <a:latin typeface="Pretendard"/>
              </a:rPr>
              <a:t>확인되면</a:t>
            </a:r>
            <a:r>
              <a:rPr sz="1250" b="1" dirty="0">
                <a:solidFill>
                  <a:srgbClr val="222633"/>
                </a:solidFill>
                <a:latin typeface="Pretendard"/>
              </a:rPr>
              <a:t> </a:t>
            </a:r>
            <a:r>
              <a:rPr sz="1250" b="1" dirty="0" err="1">
                <a:solidFill>
                  <a:srgbClr val="222633"/>
                </a:solidFill>
                <a:latin typeface="Pretendard"/>
              </a:rPr>
              <a:t>경찰서장은</a:t>
            </a:r>
            <a:r>
              <a:rPr sz="1250" b="1" dirty="0">
                <a:solidFill>
                  <a:srgbClr val="222633"/>
                </a:solidFill>
                <a:latin typeface="Pretendard"/>
              </a:rPr>
              <a:t> </a:t>
            </a:r>
            <a:r>
              <a:rPr sz="1250" b="1" dirty="0" err="1">
                <a:solidFill>
                  <a:srgbClr val="222633"/>
                </a:solidFill>
                <a:latin typeface="Pretendard"/>
              </a:rPr>
              <a:t>사건을</a:t>
            </a:r>
            <a:r>
              <a:rPr sz="1250" b="1" dirty="0">
                <a:solidFill>
                  <a:srgbClr val="222633"/>
                </a:solidFill>
                <a:latin typeface="Pretendard"/>
              </a:rPr>
              <a:t> </a:t>
            </a:r>
            <a:r>
              <a:rPr sz="1250" b="1" dirty="0" err="1">
                <a:solidFill>
                  <a:srgbClr val="222633"/>
                </a:solidFill>
                <a:latin typeface="Pretendard"/>
              </a:rPr>
              <a:t>소년부로</a:t>
            </a:r>
            <a:r>
              <a:rPr sz="1250" b="1" dirty="0">
                <a:solidFill>
                  <a:srgbClr val="222633"/>
                </a:solidFill>
                <a:latin typeface="Pretendard"/>
              </a:rPr>
              <a:t> </a:t>
            </a:r>
            <a:r>
              <a:rPr sz="1250" b="1" dirty="0" err="1">
                <a:solidFill>
                  <a:srgbClr val="222633"/>
                </a:solidFill>
                <a:latin typeface="Pretendard"/>
              </a:rPr>
              <a:t>송치한다</a:t>
            </a:r>
            <a:r>
              <a:rPr sz="1250" b="1" dirty="0">
                <a:solidFill>
                  <a:srgbClr val="222633"/>
                </a:solidFill>
                <a:latin typeface="Pretendard"/>
              </a:rPr>
              <a:t>.</a:t>
            </a:r>
          </a:p>
          <a:p>
            <a:pPr algn="l"/>
            <a:r>
              <a:rPr sz="1150" b="0" dirty="0" err="1">
                <a:solidFill>
                  <a:srgbClr val="464D5C"/>
                </a:solidFill>
                <a:latin typeface="Pretendard"/>
              </a:rPr>
              <a:t>소년법</a:t>
            </a:r>
            <a:r>
              <a:rPr sz="1150" b="0" dirty="0">
                <a:solidFill>
                  <a:srgbClr val="464D5C"/>
                </a:solidFill>
                <a:latin typeface="Pretendard"/>
              </a:rPr>
              <a:t> 제4조 제2항에 </a:t>
            </a:r>
            <a:r>
              <a:rPr sz="1150" b="0" dirty="0" err="1">
                <a:solidFill>
                  <a:srgbClr val="464D5C"/>
                </a:solidFill>
                <a:latin typeface="Pretendard"/>
              </a:rPr>
              <a:t>따른</a:t>
            </a:r>
            <a:r>
              <a:rPr sz="1150" b="0" dirty="0">
                <a:solidFill>
                  <a:srgbClr val="464D5C"/>
                </a:solidFill>
                <a:latin typeface="Pretendard"/>
              </a:rPr>
              <a:t> </a:t>
            </a:r>
            <a:r>
              <a:rPr sz="1150" b="0" dirty="0" err="1">
                <a:solidFill>
                  <a:srgbClr val="464D5C"/>
                </a:solidFill>
                <a:latin typeface="Pretendard"/>
              </a:rPr>
              <a:t>경로이며</a:t>
            </a:r>
            <a:r>
              <a:rPr sz="1150" b="0" dirty="0">
                <a:solidFill>
                  <a:srgbClr val="464D5C"/>
                </a:solidFill>
                <a:latin typeface="Pretendard"/>
              </a:rPr>
              <a:t>, </a:t>
            </a:r>
            <a:r>
              <a:rPr sz="1150" b="0" dirty="0" err="1">
                <a:solidFill>
                  <a:srgbClr val="464D5C"/>
                </a:solidFill>
                <a:latin typeface="Pretendard"/>
              </a:rPr>
              <a:t>경찰</a:t>
            </a:r>
            <a:r>
              <a:rPr sz="1150" b="0" dirty="0">
                <a:solidFill>
                  <a:srgbClr val="464D5C"/>
                </a:solidFill>
                <a:latin typeface="Pretendard"/>
              </a:rPr>
              <a:t> </a:t>
            </a:r>
            <a:r>
              <a:rPr sz="1150" b="0" dirty="0" err="1">
                <a:solidFill>
                  <a:srgbClr val="464D5C"/>
                </a:solidFill>
                <a:latin typeface="Pretendard"/>
              </a:rPr>
              <a:t>단계에서</a:t>
            </a:r>
            <a:r>
              <a:rPr sz="1150" b="0" dirty="0">
                <a:solidFill>
                  <a:srgbClr val="464D5C"/>
                </a:solidFill>
                <a:latin typeface="Pretendard"/>
              </a:rPr>
              <a:t> </a:t>
            </a:r>
            <a:r>
              <a:rPr sz="1150" b="0" dirty="0" err="1">
                <a:solidFill>
                  <a:srgbClr val="464D5C"/>
                </a:solidFill>
                <a:latin typeface="Pretendard"/>
              </a:rPr>
              <a:t>훈방·즉결심판</a:t>
            </a:r>
            <a:r>
              <a:rPr sz="1150" b="0" dirty="0">
                <a:solidFill>
                  <a:srgbClr val="464D5C"/>
                </a:solidFill>
                <a:latin typeface="Pretendard"/>
              </a:rPr>
              <a:t> </a:t>
            </a:r>
            <a:r>
              <a:rPr sz="1150" b="0" dirty="0" err="1">
                <a:solidFill>
                  <a:srgbClr val="464D5C"/>
                </a:solidFill>
                <a:latin typeface="Pretendard"/>
              </a:rPr>
              <a:t>청구로</a:t>
            </a:r>
            <a:r>
              <a:rPr sz="1150" b="0" dirty="0">
                <a:solidFill>
                  <a:srgbClr val="464D5C"/>
                </a:solidFill>
                <a:latin typeface="Pretendard"/>
              </a:rPr>
              <a:t> </a:t>
            </a:r>
            <a:r>
              <a:rPr sz="1150" b="0" dirty="0" err="1">
                <a:solidFill>
                  <a:srgbClr val="464D5C"/>
                </a:solidFill>
                <a:latin typeface="Pretendard"/>
              </a:rPr>
              <a:t>종결하지</a:t>
            </a:r>
            <a:r>
              <a:rPr sz="1150" b="0" dirty="0">
                <a:solidFill>
                  <a:srgbClr val="464D5C"/>
                </a:solidFill>
                <a:latin typeface="Pretendard"/>
              </a:rPr>
              <a:t> </a:t>
            </a:r>
            <a:r>
              <a:rPr sz="1150" b="0" dirty="0" err="1">
                <a:solidFill>
                  <a:srgbClr val="464D5C"/>
                </a:solidFill>
                <a:latin typeface="Pretendard"/>
              </a:rPr>
              <a:t>않는다</a:t>
            </a:r>
            <a:r>
              <a:rPr sz="1150" b="0" dirty="0">
                <a:solidFill>
                  <a:srgbClr val="464D5C"/>
                </a:solidFill>
                <a:latin typeface="Pretendard"/>
              </a:rPr>
              <a:t>.</a:t>
            </a:r>
          </a:p>
        </p:txBody>
      </p:sp>
      <p:sp>
        <p:nvSpPr>
          <p:cNvPr id="16" name="line16"/>
          <p:cNvSpPr/>
          <p:nvPr/>
        </p:nvSpPr>
        <p:spPr>
          <a:xfrm>
            <a:off x="731520" y="2480818"/>
            <a:ext cx="10725912" cy="0"/>
          </a:xfrm>
          <a:prstGeom prst="line">
            <a:avLst/>
          </a:prstGeom>
          <a:ln w="9525">
            <a:solidFill>
              <a:srgbClr val="DCE0E8"/>
            </a:solidFill>
          </a:ln>
        </p:spPr>
        <p:txBody>
          <a:bodyPr/>
          <a:lstStyle/>
          <a:p>
            <a:endParaRPr/>
          </a:p>
        </p:txBody>
      </p:sp>
      <p:sp>
        <p:nvSpPr>
          <p:cNvPr id="17" name="h1"/>
          <p:cNvSpPr txBox="1"/>
          <p:nvPr/>
        </p:nvSpPr>
        <p:spPr>
          <a:xfrm>
            <a:off x="731520" y="2823718"/>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14세 범죄소년</a:t>
            </a:r>
          </a:p>
        </p:txBody>
      </p:sp>
      <p:sp>
        <p:nvSpPr>
          <p:cNvPr id="18" name="b1"/>
          <p:cNvSpPr txBox="1"/>
          <p:nvPr/>
        </p:nvSpPr>
        <p:spPr>
          <a:xfrm>
            <a:off x="3022600" y="2823718"/>
            <a:ext cx="8434832" cy="576072"/>
          </a:xfrm>
          <a:prstGeom prst="rect">
            <a:avLst/>
          </a:prstGeom>
          <a:noFill/>
        </p:spPr>
        <p:txBody>
          <a:bodyPr wrap="square" lIns="0" tIns="27432" rIns="0" bIns="27432" anchor="ctr">
            <a:noAutofit/>
          </a:bodyPr>
          <a:lstStyle/>
          <a:p>
            <a:pPr>
              <a:lnSpc>
                <a:spcPct val="118000"/>
              </a:lnSpc>
              <a:spcAft>
                <a:spcPts val="500"/>
              </a:spcAft>
            </a:pPr>
            <a:r>
              <a:rPr lang="ko-KR" altLang="en-US" sz="1250" b="1" dirty="0">
                <a:solidFill>
                  <a:srgbClr val="222633"/>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일부 경미사건은 경찰 단계에서 훈방하거나 경찰서장이 즉결심판을 청구</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할 수 있고</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선도심사위원회가 </a:t>
            </a:r>
            <a:r>
              <a:rPr lang="ko-KR" altLang="en-US"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감경처분</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여부를 심의할 수 있다</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p>
          <a:p>
            <a:pPr algn="l"/>
            <a:r>
              <a:rPr sz="1150" b="0" dirty="0" err="1">
                <a:solidFill>
                  <a:srgbClr val="464D5C"/>
                </a:solidFill>
                <a:latin typeface="Pretendard" panose="02000503000000020004" pitchFamily="2" charset="-127"/>
                <a:ea typeface="Pretendard" panose="02000503000000020004" pitchFamily="2" charset="-127"/>
                <a:cs typeface="Pretendard" panose="02000503000000020004" pitchFamily="2" charset="-127"/>
              </a:rPr>
              <a:t>즉결심판</a:t>
            </a:r>
            <a:r>
              <a:rP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a:t>
            </a:r>
            <a:r>
              <a:rPr sz="1150" b="0" dirty="0" err="1">
                <a:solidFill>
                  <a:srgbClr val="464D5C"/>
                </a:solidFill>
                <a:latin typeface="Pretendard" panose="02000503000000020004" pitchFamily="2" charset="-127"/>
                <a:ea typeface="Pretendard" panose="02000503000000020004" pitchFamily="2" charset="-127"/>
                <a:cs typeface="Pretendard" panose="02000503000000020004" pitchFamily="2" charset="-127"/>
              </a:rPr>
              <a:t>청구는</a:t>
            </a:r>
            <a:r>
              <a:rP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a:t>
            </a:r>
            <a:r>
              <a:rPr sz="1150" b="0" dirty="0" err="1">
                <a:solidFill>
                  <a:srgbClr val="464D5C"/>
                </a:solidFill>
                <a:latin typeface="Pretendard" panose="02000503000000020004" pitchFamily="2" charset="-127"/>
                <a:ea typeface="Pretendard" panose="02000503000000020004" pitchFamily="2" charset="-127"/>
                <a:cs typeface="Pretendard" panose="02000503000000020004" pitchFamily="2" charset="-127"/>
              </a:rPr>
              <a:t>즉결심판에</a:t>
            </a:r>
            <a:r>
              <a:rP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a:t>
            </a:r>
            <a:r>
              <a:rPr sz="1150" b="0" dirty="0" err="1">
                <a:solidFill>
                  <a:srgbClr val="464D5C"/>
                </a:solidFill>
                <a:latin typeface="Pretendard" panose="02000503000000020004" pitchFamily="2" charset="-127"/>
                <a:ea typeface="Pretendard" panose="02000503000000020004" pitchFamily="2" charset="-127"/>
                <a:cs typeface="Pretendard" panose="02000503000000020004" pitchFamily="2" charset="-127"/>
              </a:rPr>
              <a:t>관한</a:t>
            </a:r>
            <a:r>
              <a:rP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a:t>
            </a:r>
            <a:r>
              <a:rPr sz="1150" b="0" dirty="0" err="1">
                <a:solidFill>
                  <a:srgbClr val="464D5C"/>
                </a:solidFill>
                <a:latin typeface="Pretendard" panose="02000503000000020004" pitchFamily="2" charset="-127"/>
                <a:ea typeface="Pretendard" panose="02000503000000020004" pitchFamily="2" charset="-127"/>
                <a:cs typeface="Pretendard" panose="02000503000000020004" pitchFamily="2" charset="-127"/>
              </a:rPr>
              <a:t>절차법</a:t>
            </a:r>
            <a:r>
              <a:rP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제3조 제1항, </a:t>
            </a:r>
            <a:r>
              <a:rPr sz="1150" b="0" dirty="0" err="1">
                <a:solidFill>
                  <a:srgbClr val="464D5C"/>
                </a:solidFill>
                <a:latin typeface="Pretendard" panose="02000503000000020004" pitchFamily="2" charset="-127"/>
                <a:ea typeface="Pretendard" panose="02000503000000020004" pitchFamily="2" charset="-127"/>
                <a:cs typeface="Pretendard" panose="02000503000000020004" pitchFamily="2" charset="-127"/>
              </a:rPr>
              <a:t>훈방은</a:t>
            </a:r>
            <a:r>
              <a:rP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a:t>
            </a:r>
            <a:r>
              <a:rPr sz="1150" b="0" dirty="0" err="1">
                <a:solidFill>
                  <a:srgbClr val="464D5C"/>
                </a:solidFill>
                <a:latin typeface="Pretendard" panose="02000503000000020004" pitchFamily="2" charset="-127"/>
                <a:ea typeface="Pretendard" panose="02000503000000020004" pitchFamily="2" charset="-127"/>
                <a:cs typeface="Pretendard" panose="02000503000000020004" pitchFamily="2" charset="-127"/>
              </a:rPr>
              <a:t>경찰청</a:t>
            </a:r>
            <a:r>
              <a:rP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a:t>
            </a:r>
            <a:r>
              <a:rPr sz="1150" b="0" dirty="0" err="1">
                <a:solidFill>
                  <a:srgbClr val="464D5C"/>
                </a:solidFill>
                <a:latin typeface="Pretendard" panose="02000503000000020004" pitchFamily="2" charset="-127"/>
                <a:ea typeface="Pretendard" panose="02000503000000020004" pitchFamily="2" charset="-127"/>
                <a:cs typeface="Pretendard" panose="02000503000000020004" pitchFamily="2" charset="-127"/>
              </a:rPr>
              <a:t>범죄수사규칙</a:t>
            </a:r>
            <a:r>
              <a:rP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제45조에 </a:t>
            </a:r>
            <a:r>
              <a:rPr sz="1150" b="0" dirty="0" err="1">
                <a:solidFill>
                  <a:srgbClr val="464D5C"/>
                </a:solidFill>
                <a:latin typeface="Pretendard" panose="02000503000000020004" pitchFamily="2" charset="-127"/>
                <a:ea typeface="Pretendard" panose="02000503000000020004" pitchFamily="2" charset="-127"/>
                <a:cs typeface="Pretendard" panose="02000503000000020004" pitchFamily="2" charset="-127"/>
              </a:rPr>
              <a:t>근거한다</a:t>
            </a:r>
            <a:r>
              <a:rP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p>
        </p:txBody>
      </p:sp>
      <p:sp>
        <p:nvSpPr>
          <p:cNvPr id="19" name="line19"/>
          <p:cNvSpPr/>
          <p:nvPr/>
        </p:nvSpPr>
        <p:spPr>
          <a:xfrm>
            <a:off x="731520" y="3723639"/>
            <a:ext cx="10725912" cy="0"/>
          </a:xfrm>
          <a:prstGeom prst="line">
            <a:avLst/>
          </a:prstGeom>
          <a:ln w="9525">
            <a:solidFill>
              <a:srgbClr val="DCE0E8"/>
            </a:solidFill>
          </a:ln>
        </p:spPr>
        <p:txBody>
          <a:bodyPr/>
          <a:lstStyle/>
          <a:p>
            <a:endParaRPr/>
          </a:p>
        </p:txBody>
      </p:sp>
      <p:sp>
        <p:nvSpPr>
          <p:cNvPr id="20" name="h2"/>
          <p:cNvSpPr txBox="1"/>
          <p:nvPr/>
        </p:nvSpPr>
        <p:spPr>
          <a:xfrm>
            <a:off x="731520" y="3844289"/>
            <a:ext cx="2240280" cy="80010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가상 비교</a:t>
            </a:r>
          </a:p>
        </p:txBody>
      </p:sp>
      <p:sp>
        <p:nvSpPr>
          <p:cNvPr id="21" name="b2"/>
          <p:cNvSpPr txBox="1"/>
          <p:nvPr/>
        </p:nvSpPr>
        <p:spPr>
          <a:xfrm>
            <a:off x="3022600" y="3844289"/>
            <a:ext cx="8434832" cy="800100"/>
          </a:xfrm>
          <a:prstGeom prst="rect">
            <a:avLst/>
          </a:prstGeom>
          <a:noFill/>
        </p:spPr>
        <p:txBody>
          <a:bodyPr wrap="square" lIns="0" tIns="27432" rIns="0" bIns="27432" anchor="ctr">
            <a:noAutofit/>
          </a:bodyPr>
          <a:lstStyle/>
          <a:p>
            <a:pPr>
              <a:lnSpc>
                <a:spcPct val="125000"/>
              </a:lnSpc>
              <a:spcAft>
                <a:spcPts val="500"/>
              </a:spcAft>
            </a:pPr>
            <a:r>
              <a:rPr lang="ko-KR" altLang="en-US" sz="1250" b="1" dirty="0">
                <a:solidFill>
                  <a:srgbClr val="222633"/>
                </a:solidFill>
                <a:latin typeface="Pretendard"/>
                <a:ea typeface="Pretendard"/>
                <a:cs typeface="Pretendard"/>
              </a:rPr>
              <a:t>같은 정도의 사건이라도</a:t>
            </a:r>
            <a:r>
              <a:rPr lang="en-US" altLang="ko-KR" sz="1250" b="1" dirty="0">
                <a:solidFill>
                  <a:srgbClr val="222633"/>
                </a:solidFill>
                <a:latin typeface="Pretendard"/>
                <a:ea typeface="Pretendard"/>
                <a:cs typeface="Pretendard"/>
              </a:rPr>
              <a:t>, 13</a:t>
            </a:r>
            <a:r>
              <a:rPr lang="ko-KR" altLang="en-US" sz="1250" b="1" dirty="0">
                <a:solidFill>
                  <a:srgbClr val="222633"/>
                </a:solidFill>
                <a:latin typeface="Pretendard"/>
                <a:ea typeface="Pretendard"/>
                <a:cs typeface="Pretendard"/>
              </a:rPr>
              <a:t>세 </a:t>
            </a:r>
            <a:r>
              <a:rPr lang="ko-KR" altLang="en-US" sz="1250" b="1" dirty="0" err="1">
                <a:solidFill>
                  <a:srgbClr val="222633"/>
                </a:solidFill>
                <a:latin typeface="Pretendard"/>
                <a:ea typeface="Pretendard"/>
                <a:cs typeface="Pretendard"/>
              </a:rPr>
              <a:t>촉법소년은</a:t>
            </a:r>
            <a:r>
              <a:rPr lang="ko-KR" altLang="en-US" sz="1250" b="1" dirty="0">
                <a:solidFill>
                  <a:srgbClr val="222633"/>
                </a:solidFill>
                <a:latin typeface="Pretendard"/>
                <a:ea typeface="Pretendard"/>
                <a:cs typeface="Pretendard"/>
              </a:rPr>
              <a:t> 경찰서장이 소년부로 송치하지만 </a:t>
            </a:r>
            <a:r>
              <a:rPr lang="en-US" altLang="ko-KR" sz="1250" b="1" dirty="0">
                <a:solidFill>
                  <a:srgbClr val="222633"/>
                </a:solidFill>
                <a:latin typeface="Pretendard"/>
                <a:ea typeface="Pretendard"/>
                <a:cs typeface="Pretendard"/>
              </a:rPr>
              <a:t>14</a:t>
            </a:r>
            <a:r>
              <a:rPr lang="ko-KR" altLang="en-US" sz="1250" b="1" dirty="0">
                <a:solidFill>
                  <a:srgbClr val="222633"/>
                </a:solidFill>
                <a:latin typeface="Pretendard"/>
                <a:ea typeface="Pretendard"/>
                <a:cs typeface="Pretendard"/>
              </a:rPr>
              <a:t>세 범죄소년은 요건에 따라 훈방되거나 즉결심판 청구 등 별도 경로로 갈 수 있다</a:t>
            </a:r>
            <a:r>
              <a:rPr lang="en-US" altLang="ko-KR" sz="1250" b="1" dirty="0">
                <a:solidFill>
                  <a:srgbClr val="222633"/>
                </a:solidFill>
                <a:latin typeface="Pretendard"/>
                <a:ea typeface="Pretendard"/>
                <a:cs typeface="Pretendard"/>
              </a:rPr>
              <a:t>.</a:t>
            </a:r>
            <a:endParaRPr lang="ko-KR" sz="1250" b="1" dirty="0">
              <a:solidFill>
                <a:srgbClr val="222633"/>
              </a:solidFill>
              <a:latin typeface="Pretendard"/>
              <a:ea typeface="Pretendard"/>
              <a:cs typeface="Pretendard"/>
            </a:endParaRPr>
          </a:p>
        </p:txBody>
      </p:sp>
      <p:sp>
        <p:nvSpPr>
          <p:cNvPr id="22" name="line22"/>
          <p:cNvSpPr/>
          <p:nvPr/>
        </p:nvSpPr>
        <p:spPr>
          <a:xfrm>
            <a:off x="731520" y="4822190"/>
            <a:ext cx="10725912" cy="0"/>
          </a:xfrm>
          <a:prstGeom prst="line">
            <a:avLst/>
          </a:prstGeom>
          <a:ln w="9525">
            <a:solidFill>
              <a:srgbClr val="DCE0E8"/>
            </a:solidFill>
          </a:ln>
        </p:spPr>
        <p:txBody>
          <a:bodyPr/>
          <a:lstStyle/>
          <a:p>
            <a:endParaRPr/>
          </a:p>
        </p:txBody>
      </p:sp>
      <p:sp>
        <p:nvSpPr>
          <p:cNvPr id="23" name="h3"/>
          <p:cNvSpPr txBox="1"/>
          <p:nvPr/>
        </p:nvSpPr>
        <p:spPr>
          <a:xfrm>
            <a:off x="731520" y="4949190"/>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무엇이 역설인가</a:t>
            </a:r>
          </a:p>
        </p:txBody>
      </p:sp>
      <p:sp>
        <p:nvSpPr>
          <p:cNvPr id="24" name="b3"/>
          <p:cNvSpPr txBox="1"/>
          <p:nvPr/>
        </p:nvSpPr>
        <p:spPr>
          <a:xfrm>
            <a:off x="3022600" y="4949190"/>
            <a:ext cx="8434832" cy="576072"/>
          </a:xfrm>
          <a:prstGeom prst="rect">
            <a:avLst/>
          </a:prstGeom>
          <a:noFill/>
        </p:spPr>
        <p:txBody>
          <a:bodyPr wrap="square" lIns="0" tIns="27432" rIns="0" bIns="27432" anchor="ctr">
            <a:noAutofit/>
          </a:bodyPr>
          <a:lstStyle/>
          <a:p>
            <a:pPr algn="l">
              <a:lnSpc>
                <a:spcPct val="125000"/>
              </a:lnSpc>
              <a:spcAft>
                <a:spcPts val="500"/>
              </a:spcAft>
            </a:pPr>
            <a:r>
              <a:rPr lang="ko-KR" sz="1250" b="1" dirty="0">
                <a:solidFill>
                  <a:srgbClr val="222633"/>
                </a:solidFill>
                <a:latin typeface="Pretendard"/>
                <a:ea typeface="Pretendard"/>
                <a:cs typeface="Pretendard"/>
              </a:rPr>
              <a:t>13세의 최종 제재가 더 무겁다는 뜻이 아니라, </a:t>
            </a:r>
            <a:r>
              <a:rPr lang="ko-KR" altLang="en-US" sz="1250" b="1" dirty="0" err="1">
                <a:solidFill>
                  <a:srgbClr val="222633"/>
                </a:solidFill>
                <a:highlight>
                  <a:srgbClr val="FFFF00"/>
                </a:highlight>
                <a:latin typeface="Pretendard"/>
                <a:ea typeface="Pretendard"/>
                <a:cs typeface="Pretendard"/>
              </a:rPr>
              <a:t>촉법소년</a:t>
            </a:r>
            <a:r>
              <a:rPr lang="ko-KR" altLang="en-US" sz="1250" b="1" dirty="0">
                <a:solidFill>
                  <a:srgbClr val="222633"/>
                </a:solidFill>
                <a:highlight>
                  <a:srgbClr val="FFFF00"/>
                </a:highlight>
                <a:latin typeface="Pretendard"/>
                <a:ea typeface="Pretendard"/>
                <a:cs typeface="Pretendard"/>
              </a:rPr>
              <a:t> 사건에서 </a:t>
            </a:r>
            <a:r>
              <a:rPr lang="ko-KR" sz="1250" b="1" dirty="0">
                <a:solidFill>
                  <a:srgbClr val="222633"/>
                </a:solidFill>
                <a:highlight>
                  <a:srgbClr val="FFFF00"/>
                </a:highlight>
                <a:latin typeface="Pretendard"/>
                <a:ea typeface="Pretendard"/>
                <a:cs typeface="Pretendard"/>
              </a:rPr>
              <a:t>경미사건의 초기 처리경로가 더 자동적</a:t>
            </a:r>
            <a:r>
              <a:rPr lang="en-US" altLang="ko-KR" sz="1250" b="1" dirty="0">
                <a:solidFill>
                  <a:srgbClr val="222633"/>
                </a:solidFill>
                <a:highlight>
                  <a:srgbClr val="FFFF00"/>
                </a:highlight>
                <a:latin typeface="Pretendard"/>
                <a:ea typeface="Pretendard"/>
                <a:cs typeface="Pretendard"/>
              </a:rPr>
              <a:t>/</a:t>
            </a:r>
            <a:r>
              <a:rPr lang="ko-KR" altLang="en-US" sz="1250" b="1" dirty="0">
                <a:solidFill>
                  <a:srgbClr val="222633"/>
                </a:solidFill>
                <a:highlight>
                  <a:srgbClr val="FFFF00"/>
                </a:highlight>
                <a:latin typeface="Pretendard"/>
                <a:ea typeface="Pretendard"/>
                <a:cs typeface="Pretendard"/>
              </a:rPr>
              <a:t>강제적</a:t>
            </a:r>
            <a:r>
              <a:rPr lang="ko-KR" altLang="en-US" sz="1250" b="1" dirty="0">
                <a:solidFill>
                  <a:srgbClr val="222633"/>
                </a:solidFill>
                <a:latin typeface="Pretendard"/>
                <a:ea typeface="Pretendard"/>
                <a:cs typeface="Pretendard"/>
              </a:rPr>
              <a:t> </a:t>
            </a:r>
            <a:r>
              <a:rPr lang="ko-KR" sz="1250" b="1" dirty="0">
                <a:solidFill>
                  <a:srgbClr val="222633"/>
                </a:solidFill>
                <a:latin typeface="Pretendard"/>
                <a:ea typeface="Pretendard"/>
                <a:cs typeface="Pretendard"/>
              </a:rPr>
              <a:t>이라는 뜻이다.</a:t>
            </a:r>
          </a:p>
          <a:p>
            <a:pPr>
              <a:lnSpc>
                <a:spcPct val="118000"/>
              </a:lnSpc>
            </a:pPr>
            <a:r>
              <a:rPr lang="ko-KR" altLang="en-US" sz="1150" dirty="0" err="1">
                <a:solidFill>
                  <a:srgbClr val="464D5C"/>
                </a:solidFill>
                <a:latin typeface="Pretendard"/>
                <a:ea typeface="Pretendard"/>
                <a:cs typeface="Pretendard"/>
              </a:rPr>
              <a:t>촉법소년은</a:t>
            </a:r>
            <a:r>
              <a:rPr lang="ko-KR" altLang="en-US" sz="1150" dirty="0">
                <a:solidFill>
                  <a:srgbClr val="464D5C"/>
                </a:solidFill>
                <a:latin typeface="Pretendard"/>
                <a:ea typeface="Pretendard"/>
                <a:cs typeface="Pretendard"/>
              </a:rPr>
              <a:t> 소년부 송치가 법정 경로인 반면</a:t>
            </a:r>
            <a:r>
              <a:rPr lang="en-US" altLang="ko-KR" sz="1150" dirty="0">
                <a:solidFill>
                  <a:srgbClr val="464D5C"/>
                </a:solidFill>
                <a:latin typeface="Pretendard"/>
                <a:ea typeface="Pretendard"/>
                <a:cs typeface="Pretendard"/>
              </a:rPr>
              <a:t>, </a:t>
            </a:r>
            <a:r>
              <a:rPr lang="ko-KR" altLang="en-US" sz="1150" dirty="0">
                <a:solidFill>
                  <a:srgbClr val="464D5C"/>
                </a:solidFill>
                <a:latin typeface="Pretendard"/>
                <a:ea typeface="Pretendard"/>
                <a:cs typeface="Pretendard"/>
              </a:rPr>
              <a:t>범죄소년에게는 일부 경찰 단계의 선별경로</a:t>
            </a:r>
            <a:r>
              <a:rPr lang="en-US" altLang="ko-KR" sz="1150" dirty="0">
                <a:solidFill>
                  <a:srgbClr val="464D5C"/>
                </a:solidFill>
                <a:latin typeface="Pretendard"/>
                <a:ea typeface="Pretendard"/>
                <a:cs typeface="Pretendard"/>
              </a:rPr>
              <a:t>(</a:t>
            </a:r>
            <a:r>
              <a:rPr lang="ko-KR" altLang="en-US" sz="1150" dirty="0">
                <a:solidFill>
                  <a:srgbClr val="464D5C"/>
                </a:solidFill>
                <a:latin typeface="Pretendard"/>
                <a:ea typeface="Pretendard"/>
                <a:cs typeface="Pretendard"/>
              </a:rPr>
              <a:t>훈방</a:t>
            </a:r>
            <a:r>
              <a:rPr lang="en-US" altLang="ko-KR" sz="1150" dirty="0">
                <a:solidFill>
                  <a:srgbClr val="464D5C"/>
                </a:solidFill>
                <a:latin typeface="Pretendard"/>
                <a:ea typeface="Pretendard"/>
                <a:cs typeface="Pretendard"/>
              </a:rPr>
              <a:t>·</a:t>
            </a:r>
            <a:r>
              <a:rPr lang="ko-KR" altLang="en-US" sz="1150" dirty="0">
                <a:solidFill>
                  <a:srgbClr val="464D5C"/>
                </a:solidFill>
                <a:latin typeface="Pretendard"/>
                <a:ea typeface="Pretendard"/>
                <a:cs typeface="Pretendard"/>
              </a:rPr>
              <a:t>즉결심판 같은 경찰 단계의 대체 처리경로</a:t>
            </a:r>
            <a:r>
              <a:rPr lang="en-US" altLang="ko-KR" sz="1150" dirty="0">
                <a:solidFill>
                  <a:srgbClr val="464D5C"/>
                </a:solidFill>
                <a:latin typeface="Pretendard"/>
                <a:ea typeface="Pretendard"/>
                <a:cs typeface="Pretendard"/>
              </a:rPr>
              <a:t>)</a:t>
            </a:r>
            <a:r>
              <a:rPr lang="ko-KR" altLang="en-US" sz="1150" dirty="0">
                <a:solidFill>
                  <a:srgbClr val="464D5C"/>
                </a:solidFill>
                <a:latin typeface="Pretendard"/>
                <a:ea typeface="Pretendard"/>
                <a:cs typeface="Pretendard"/>
              </a:rPr>
              <a:t>가 존재한다</a:t>
            </a:r>
            <a:r>
              <a:rPr lang="en-US" altLang="ko-KR" sz="1150" dirty="0">
                <a:solidFill>
                  <a:srgbClr val="464D5C"/>
                </a:solidFill>
                <a:latin typeface="Pretendard"/>
                <a:ea typeface="Pretendard"/>
                <a:cs typeface="Pretendard"/>
              </a:rPr>
              <a:t>.</a:t>
            </a:r>
            <a:endParaRPr lang="ko-KR" sz="1150" b="0" dirty="0">
              <a:solidFill>
                <a:srgbClr val="464D5C"/>
              </a:solidFill>
              <a:latin typeface="Pretendard"/>
              <a:ea typeface="Pretendard"/>
              <a:cs typeface="Pretendard"/>
            </a:endParaRPr>
          </a:p>
        </p:txBody>
      </p:sp>
      <p:sp>
        <p:nvSpPr>
          <p:cNvPr id="25" name="bandbg"/>
          <p:cNvSpPr/>
          <p:nvPr/>
        </p:nvSpPr>
        <p:spPr>
          <a:xfrm>
            <a:off x="1124712" y="5751576"/>
            <a:ext cx="9912096" cy="457200"/>
          </a:xfrm>
          <a:prstGeom prst="rect">
            <a:avLst/>
          </a:prstGeom>
          <a:solidFill>
            <a:srgbClr val="1E2761"/>
          </a:solidFill>
          <a:ln>
            <a:noFill/>
          </a:ln>
        </p:spPr>
        <p:txBody>
          <a:bodyPr/>
          <a:lstStyle/>
          <a:p>
            <a:endParaRPr/>
          </a:p>
        </p:txBody>
      </p:sp>
      <p:sp>
        <p:nvSpPr>
          <p:cNvPr id="26" name="band"/>
          <p:cNvSpPr txBox="1"/>
          <p:nvPr/>
        </p:nvSpPr>
        <p:spPr>
          <a:xfrm>
            <a:off x="1307592" y="5779008"/>
            <a:ext cx="9546336" cy="402336"/>
          </a:xfrm>
          <a:prstGeom prst="rect">
            <a:avLst/>
          </a:prstGeom>
          <a:noFill/>
        </p:spPr>
        <p:txBody>
          <a:bodyPr wrap="square" lIns="0" tIns="27432" rIns="0" bIns="27432" anchor="ctr">
            <a:noAutofit/>
          </a:bodyPr>
          <a:lstStyle/>
          <a:p>
            <a:pPr algn="ctr">
              <a:lnSpc>
                <a:spcPct val="118000"/>
              </a:lnSpc>
            </a:pPr>
            <a:r>
              <a:rPr sz="1250" b="1" dirty="0" err="1">
                <a:solidFill>
                  <a:srgbClr val="FFFFFF"/>
                </a:solidFill>
                <a:latin typeface="Pretendard"/>
              </a:rPr>
              <a:t>같은</a:t>
            </a:r>
            <a:r>
              <a:rPr sz="1250" b="1" dirty="0">
                <a:solidFill>
                  <a:srgbClr val="FFFFFF"/>
                </a:solidFill>
                <a:latin typeface="Pretendard"/>
              </a:rPr>
              <a:t> </a:t>
            </a:r>
            <a:r>
              <a:rPr sz="1250" b="1" dirty="0" err="1">
                <a:solidFill>
                  <a:srgbClr val="FFFFFF"/>
                </a:solidFill>
                <a:latin typeface="Pretendard"/>
              </a:rPr>
              <a:t>경미행위에서</a:t>
            </a:r>
            <a:r>
              <a:rPr sz="1250" b="1" dirty="0">
                <a:solidFill>
                  <a:srgbClr val="FFFFFF"/>
                </a:solidFill>
                <a:latin typeface="Pretendard"/>
              </a:rPr>
              <a:t> 더 </a:t>
            </a:r>
            <a:r>
              <a:rPr sz="1250" b="1" dirty="0" err="1">
                <a:solidFill>
                  <a:srgbClr val="FFFFFF"/>
                </a:solidFill>
                <a:latin typeface="Pretendard"/>
              </a:rPr>
              <a:t>어린</a:t>
            </a:r>
            <a:r>
              <a:rPr sz="1250" b="1" dirty="0">
                <a:solidFill>
                  <a:srgbClr val="FFFFFF"/>
                </a:solidFill>
                <a:latin typeface="Pretendard"/>
              </a:rPr>
              <a:t> </a:t>
            </a:r>
            <a:r>
              <a:rPr sz="1250" b="1" dirty="0" err="1">
                <a:solidFill>
                  <a:srgbClr val="FFFFFF"/>
                </a:solidFill>
                <a:latin typeface="Pretendard"/>
              </a:rPr>
              <a:t>소년의</a:t>
            </a:r>
            <a:r>
              <a:rPr sz="1250" b="1" dirty="0">
                <a:solidFill>
                  <a:srgbClr val="FFFFFF"/>
                </a:solidFill>
                <a:latin typeface="Pretendard"/>
              </a:rPr>
              <a:t> </a:t>
            </a:r>
            <a:r>
              <a:rPr sz="1250" b="1" dirty="0" err="1">
                <a:solidFill>
                  <a:srgbClr val="FFFFFF"/>
                </a:solidFill>
                <a:latin typeface="Pretendard"/>
              </a:rPr>
              <a:t>초기</a:t>
            </a:r>
            <a:r>
              <a:rPr sz="1250" b="1" dirty="0">
                <a:solidFill>
                  <a:srgbClr val="FFFFFF"/>
                </a:solidFill>
                <a:latin typeface="Pretendard"/>
              </a:rPr>
              <a:t> </a:t>
            </a:r>
            <a:r>
              <a:rPr sz="1250" b="1" dirty="0" err="1">
                <a:solidFill>
                  <a:srgbClr val="FFFFFF"/>
                </a:solidFill>
                <a:latin typeface="Pretendard"/>
              </a:rPr>
              <a:t>경로가</a:t>
            </a:r>
            <a:r>
              <a:rPr sz="1250" b="1" dirty="0">
                <a:solidFill>
                  <a:srgbClr val="FFFFFF"/>
                </a:solidFill>
                <a:latin typeface="Pretendard"/>
              </a:rPr>
              <a:t> 더 </a:t>
            </a:r>
            <a:r>
              <a:rPr sz="1250" b="1" dirty="0" err="1">
                <a:solidFill>
                  <a:srgbClr val="FFFFFF"/>
                </a:solidFill>
                <a:latin typeface="Pretendard"/>
              </a:rPr>
              <a:t>자동적인</a:t>
            </a:r>
            <a:r>
              <a:rPr sz="1250" b="1" dirty="0">
                <a:solidFill>
                  <a:srgbClr val="FFFFFF"/>
                </a:solidFill>
                <a:latin typeface="Pretendard"/>
              </a:rPr>
              <a:t> </a:t>
            </a:r>
            <a:r>
              <a:rPr sz="1250" b="1" dirty="0" err="1">
                <a:solidFill>
                  <a:srgbClr val="FFFFFF"/>
                </a:solidFill>
                <a:latin typeface="Pretendard"/>
              </a:rPr>
              <a:t>구조를</a:t>
            </a:r>
            <a:r>
              <a:rPr sz="1250" b="1" dirty="0">
                <a:solidFill>
                  <a:srgbClr val="FFFFFF"/>
                </a:solidFill>
                <a:latin typeface="Pretendard"/>
              </a:rPr>
              <a:t> </a:t>
            </a:r>
            <a:r>
              <a:rPr sz="1250" b="1" dirty="0" err="1">
                <a:solidFill>
                  <a:srgbClr val="FFFFFF"/>
                </a:solidFill>
                <a:latin typeface="Pretendard"/>
              </a:rPr>
              <a:t>어떻게</a:t>
            </a:r>
            <a:r>
              <a:rPr sz="1250" b="1" dirty="0">
                <a:solidFill>
                  <a:srgbClr val="FFFFFF"/>
                </a:solidFill>
                <a:latin typeface="Pretendard"/>
              </a:rPr>
              <a:t> </a:t>
            </a:r>
            <a:r>
              <a:rPr sz="1250" b="1" dirty="0" err="1">
                <a:solidFill>
                  <a:srgbClr val="FFFFFF"/>
                </a:solidFill>
                <a:latin typeface="Pretendard"/>
              </a:rPr>
              <a:t>평가할</a:t>
            </a:r>
            <a:r>
              <a:rPr sz="1250" b="1" dirty="0">
                <a:solidFill>
                  <a:srgbClr val="FFFFFF"/>
                </a:solidFill>
                <a:latin typeface="Pretendard"/>
              </a:rPr>
              <a:t> </a:t>
            </a:r>
            <a:r>
              <a:rPr sz="1250" b="1" dirty="0" err="1">
                <a:solidFill>
                  <a:srgbClr val="FFFFFF"/>
                </a:solidFill>
                <a:latin typeface="Pretendard"/>
              </a:rPr>
              <a:t>것인가</a:t>
            </a:r>
            <a:r>
              <a:rPr sz="1250" b="1" dirty="0">
                <a:solidFill>
                  <a:srgbClr val="FFFFFF"/>
                </a:solidFill>
                <a:latin typeface="Pretendard"/>
              </a:rPr>
              <a:t>?</a:t>
            </a:r>
          </a:p>
        </p:txBody>
      </p:sp>
      <p:sp>
        <p:nvSpPr>
          <p:cNvPr id="27"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소년법 제4조 제2항 · 즉결심판에 관한 절차법 제3조 제1항 · (경찰청) 범죄수사규칙 제45조 · 소년업무규칙 제26~27조 · 한민경(2026) 「형사미성년자(촉법소년) 관련 정책 대안의 이해」 4:50–10:36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95479-2E14-0D0E-63D1-A7DC3FDA078D}"/>
            </a:ext>
          </a:extLst>
        </p:cNvPr>
        <p:cNvGrpSpPr/>
        <p:nvPr/>
      </p:nvGrpSpPr>
      <p:grpSpPr>
        <a:xfrm>
          <a:off x="0" y="0"/>
          <a:ext cx="0" cy="0"/>
          <a:chOff x="0" y="0"/>
          <a:chExt cx="0" cy="0"/>
        </a:xfrm>
      </p:grpSpPr>
      <p:sp>
        <p:nvSpPr>
          <p:cNvPr id="267" name="newzone">
            <a:extLst>
              <a:ext uri="{FF2B5EF4-FFF2-40B4-BE49-F238E27FC236}">
                <a16:creationId xmlns:a16="http://schemas.microsoft.com/office/drawing/2014/main" id="{1D847F39-74CD-D19E-020E-5B42EDA0DF4B}"/>
              </a:ext>
            </a:extLst>
          </p:cNvPr>
          <p:cNvSpPr>
            <a:spLocks noGrp="1"/>
          </p:cNvSpPr>
          <p:nvPr/>
        </p:nvSpPr>
        <p:spPr>
          <a:xfrm>
            <a:off x="4553712" y="3900561"/>
            <a:ext cx="4462272" cy="1845425"/>
          </a:xfrm>
          <a:custGeom>
            <a:avLst/>
            <a:gdLst/>
            <a:ahLst/>
            <a:cxnLst/>
            <a:rect l="0" t="0" r="r" b="b"/>
            <a:pathLst>
              <a:path w="4462272" h="2194560">
                <a:moveTo>
                  <a:pt x="0" y="0"/>
                </a:moveTo>
                <a:lnTo>
                  <a:pt x="4462272" y="0"/>
                </a:lnTo>
                <a:lnTo>
                  <a:pt x="4462272" y="795528"/>
                </a:lnTo>
                <a:lnTo>
                  <a:pt x="2157984" y="795528"/>
                </a:lnTo>
                <a:lnTo>
                  <a:pt x="2157984" y="2194560"/>
                </a:lnTo>
                <a:lnTo>
                  <a:pt x="0" y="2194560"/>
                </a:lnTo>
                <a:close/>
              </a:path>
            </a:pathLst>
          </a:custGeom>
          <a:noFill/>
          <a:ln w="19050">
            <a:solidFill>
              <a:srgbClr val="A8871C"/>
            </a:solidFill>
            <a:prstDash val="dash"/>
          </a:ln>
        </p:spPr>
        <p:txBody>
          <a:bodyPr/>
          <a:lstStyle/>
          <a:p>
            <a:endParaRPr>
              <a:latin typeface="Pretendard"/>
              <a:ea typeface="Pretendard"/>
              <a:cs typeface="Pretendard"/>
            </a:endParaRPr>
          </a:p>
        </p:txBody>
      </p:sp>
      <p:sp>
        <p:nvSpPr>
          <p:cNvPr id="10" name="kicker">
            <a:extLst>
              <a:ext uri="{FF2B5EF4-FFF2-40B4-BE49-F238E27FC236}">
                <a16:creationId xmlns:a16="http://schemas.microsoft.com/office/drawing/2014/main" id="{5FFD0D28-DAA8-6FB0-E523-BB22A324F5DC}"/>
              </a:ext>
            </a:extLst>
          </p:cNvP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형사책임연령과 현행 대응</a:t>
            </a:r>
          </a:p>
        </p:txBody>
      </p:sp>
      <p:sp>
        <p:nvSpPr>
          <p:cNvPr id="11" name="cue">
            <a:extLst>
              <a:ext uri="{FF2B5EF4-FFF2-40B4-BE49-F238E27FC236}">
                <a16:creationId xmlns:a16="http://schemas.microsoft.com/office/drawing/2014/main" id="{F58EC67D-6FB2-2856-1214-10262FEA3C76}"/>
              </a:ext>
            </a:extLst>
          </p:cNvPr>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13세의 경찰 이후 절차</a:t>
            </a:r>
          </a:p>
        </p:txBody>
      </p:sp>
      <p:sp>
        <p:nvSpPr>
          <p:cNvPr id="12" name="title">
            <a:extLst>
              <a:ext uri="{FF2B5EF4-FFF2-40B4-BE49-F238E27FC236}">
                <a16:creationId xmlns:a16="http://schemas.microsoft.com/office/drawing/2014/main" id="{22B498FA-2309-22C4-E719-BF3AA83AA638}"/>
              </a:ext>
            </a:extLst>
          </p:cNvPr>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연령대별 처리 경로와 결과</a:t>
            </a:r>
          </a:p>
        </p:txBody>
      </p:sp>
      <p:sp>
        <p:nvSpPr>
          <p:cNvPr id="13" name="topband">
            <a:extLst>
              <a:ext uri="{FF2B5EF4-FFF2-40B4-BE49-F238E27FC236}">
                <a16:creationId xmlns:a16="http://schemas.microsoft.com/office/drawing/2014/main" id="{44255086-2480-C436-9E73-514B50B8420D}"/>
              </a:ext>
            </a:extLst>
          </p:cNvPr>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a:extLst>
              <a:ext uri="{FF2B5EF4-FFF2-40B4-BE49-F238E27FC236}">
                <a16:creationId xmlns:a16="http://schemas.microsoft.com/office/drawing/2014/main" id="{E6D86FBF-9449-EC7A-C983-AF6DD7D1F68E}"/>
              </a:ext>
            </a:extLst>
          </p:cNvPr>
          <p:cNvSpPr txBox="1"/>
          <p:nvPr/>
        </p:nvSpPr>
        <p:spPr>
          <a:xfrm>
            <a:off x="1005840" y="1417320"/>
            <a:ext cx="10149840" cy="548640"/>
          </a:xfrm>
          <a:prstGeom prst="rect">
            <a:avLst/>
          </a:prstGeom>
          <a:noFill/>
        </p:spPr>
        <p:txBody>
          <a:bodyPr wrap="square" lIns="0" tIns="27432" rIns="0" bIns="27432" anchor="ctr">
            <a:noAutofit/>
          </a:bodyPr>
          <a:lstStyle/>
          <a:p>
            <a:pPr>
              <a:lnSpc>
                <a:spcPct val="118000"/>
              </a:lnSpc>
            </a:pP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3</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세도 현재 경찰의 사실확인</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조사 대상이다</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다만 범죄소년 사건은 형사사건으로 처리되어 형사재판의 가능성이 새로 열린다</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a:t>
            </a:r>
            <a:endParaRP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15" name="line15">
            <a:extLst>
              <a:ext uri="{FF2B5EF4-FFF2-40B4-BE49-F238E27FC236}">
                <a16:creationId xmlns:a16="http://schemas.microsoft.com/office/drawing/2014/main" id="{40F42A4A-411E-B733-D446-19182635AC0C}"/>
              </a:ext>
            </a:extLst>
          </p:cNvPr>
          <p:cNvSpPr/>
          <p:nvPr/>
        </p:nvSpPr>
        <p:spPr>
          <a:xfrm>
            <a:off x="731520" y="2057400"/>
            <a:ext cx="10725912" cy="0"/>
          </a:xfrm>
          <a:prstGeom prst="line">
            <a:avLst/>
          </a:prstGeom>
          <a:ln w="19050">
            <a:solidFill>
              <a:srgbClr val="1E2761"/>
            </a:solidFill>
          </a:ln>
        </p:spPr>
        <p:txBody>
          <a:bodyPr/>
          <a:lstStyle/>
          <a:p>
            <a:endParaRPr/>
          </a:p>
        </p:txBody>
      </p:sp>
      <p:sp>
        <p:nvSpPr>
          <p:cNvPr id="200" name="lh">
            <a:extLst>
              <a:ext uri="{FF2B5EF4-FFF2-40B4-BE49-F238E27FC236}">
                <a16:creationId xmlns:a16="http://schemas.microsoft.com/office/drawing/2014/main" id="{0125686D-870C-0D8B-2874-89E9ADD695CB}"/>
              </a:ext>
            </a:extLst>
          </p:cNvPr>
          <p:cNvSpPr>
            <a:spLocks noGrp="1"/>
          </p:cNvSpPr>
          <p:nvPr/>
        </p:nvSpPr>
        <p:spPr>
          <a:xfrm>
            <a:off x="731520" y="2240280"/>
            <a:ext cx="1417320" cy="230678"/>
          </a:xfrm>
          <a:prstGeom prst="rect">
            <a:avLst/>
          </a:prstGeom>
          <a:noFill/>
        </p:spPr>
        <p:txBody>
          <a:bodyPr wrap="square" lIns="0" tIns="0" rIns="0" bIns="0" anchor="ctr"/>
          <a:lstStyle/>
          <a:p>
            <a:pPr marL="0" indent="0" algn="l">
              <a:lnSpc>
                <a:spcPct val="118000"/>
              </a:lnSpc>
              <a:buNone/>
            </a:pPr>
            <a:r>
              <a:rPr sz="1100" dirty="0" err="1">
                <a:solidFill>
                  <a:srgbClr val="464D5C"/>
                </a:solidFill>
                <a:latin typeface="Pretendard"/>
                <a:ea typeface="Pretendard"/>
                <a:cs typeface="Pretendard"/>
              </a:rPr>
              <a:t>연령대</a:t>
            </a:r>
            <a:endParaRPr sz="1100" dirty="0">
              <a:solidFill>
                <a:srgbClr val="464D5C"/>
              </a:solidFill>
              <a:latin typeface="Pretendard"/>
              <a:ea typeface="Pretendard"/>
              <a:cs typeface="Pretendard"/>
            </a:endParaRPr>
          </a:p>
        </p:txBody>
      </p:sp>
      <p:sp>
        <p:nvSpPr>
          <p:cNvPr id="201" name="ch">
            <a:extLst>
              <a:ext uri="{FF2B5EF4-FFF2-40B4-BE49-F238E27FC236}">
                <a16:creationId xmlns:a16="http://schemas.microsoft.com/office/drawing/2014/main" id="{157CE67A-6D99-D6A3-2B45-EF6BF8AAFDEE}"/>
              </a:ext>
            </a:extLst>
          </p:cNvPr>
          <p:cNvSpPr>
            <a:spLocks noGrp="1"/>
          </p:cNvSpPr>
          <p:nvPr/>
        </p:nvSpPr>
        <p:spPr>
          <a:xfrm>
            <a:off x="2240280" y="2240280"/>
            <a:ext cx="2176272" cy="230678"/>
          </a:xfrm>
          <a:prstGeom prst="rect">
            <a:avLst/>
          </a:prstGeom>
          <a:noFill/>
        </p:spPr>
        <p:txBody>
          <a:bodyPr wrap="square" lIns="0" tIns="0" rIns="0" bIns="0" anchor="ctr"/>
          <a:lstStyle/>
          <a:p>
            <a:pPr marL="0" indent="0" algn="ctr">
              <a:lnSpc>
                <a:spcPct val="118000"/>
              </a:lnSpc>
              <a:buNone/>
            </a:pPr>
            <a:r>
              <a:rPr sz="1150" b="1">
                <a:solidFill>
                  <a:srgbClr val="1E2761"/>
                </a:solidFill>
                <a:latin typeface="Pretendard"/>
                <a:ea typeface="Pretendard"/>
                <a:cs typeface="Pretendard"/>
              </a:rPr>
              <a:t>경찰 단계</a:t>
            </a:r>
          </a:p>
        </p:txBody>
      </p:sp>
      <p:sp>
        <p:nvSpPr>
          <p:cNvPr id="202" name="ch">
            <a:extLst>
              <a:ext uri="{FF2B5EF4-FFF2-40B4-BE49-F238E27FC236}">
                <a16:creationId xmlns:a16="http://schemas.microsoft.com/office/drawing/2014/main" id="{A21E7AA2-EB92-F940-2D14-2B97CD34645C}"/>
              </a:ext>
            </a:extLst>
          </p:cNvPr>
          <p:cNvSpPr>
            <a:spLocks noGrp="1"/>
          </p:cNvSpPr>
          <p:nvPr/>
        </p:nvSpPr>
        <p:spPr>
          <a:xfrm>
            <a:off x="4544568" y="2240280"/>
            <a:ext cx="2176272" cy="230678"/>
          </a:xfrm>
          <a:prstGeom prst="rect">
            <a:avLst/>
          </a:prstGeom>
          <a:noFill/>
        </p:spPr>
        <p:txBody>
          <a:bodyPr wrap="square" lIns="0" tIns="0" rIns="0" bIns="0" anchor="ctr"/>
          <a:lstStyle/>
          <a:p>
            <a:pPr marL="0" indent="0" algn="ctr">
              <a:lnSpc>
                <a:spcPct val="118000"/>
              </a:lnSpc>
              <a:buNone/>
            </a:pPr>
            <a:r>
              <a:rPr sz="1150" b="1">
                <a:solidFill>
                  <a:srgbClr val="1E2761"/>
                </a:solidFill>
                <a:latin typeface="Pretendard"/>
                <a:ea typeface="Pretendard"/>
                <a:cs typeface="Pretendard"/>
              </a:rPr>
              <a:t>검찰 단계</a:t>
            </a:r>
          </a:p>
        </p:txBody>
      </p:sp>
      <p:sp>
        <p:nvSpPr>
          <p:cNvPr id="203" name="ch">
            <a:extLst>
              <a:ext uri="{FF2B5EF4-FFF2-40B4-BE49-F238E27FC236}">
                <a16:creationId xmlns:a16="http://schemas.microsoft.com/office/drawing/2014/main" id="{12184920-ECD6-7A8D-B10A-E73BF955E0E1}"/>
              </a:ext>
            </a:extLst>
          </p:cNvPr>
          <p:cNvSpPr>
            <a:spLocks noGrp="1"/>
          </p:cNvSpPr>
          <p:nvPr/>
        </p:nvSpPr>
        <p:spPr>
          <a:xfrm>
            <a:off x="6848856" y="2240280"/>
            <a:ext cx="2176272" cy="230678"/>
          </a:xfrm>
          <a:prstGeom prst="rect">
            <a:avLst/>
          </a:prstGeom>
          <a:noFill/>
        </p:spPr>
        <p:txBody>
          <a:bodyPr wrap="square" lIns="0" tIns="0" rIns="0" bIns="0" anchor="ctr"/>
          <a:lstStyle/>
          <a:p>
            <a:pPr marL="0" indent="0" algn="ctr">
              <a:lnSpc>
                <a:spcPct val="118000"/>
              </a:lnSpc>
              <a:buNone/>
            </a:pPr>
            <a:r>
              <a:rPr sz="1150" b="1">
                <a:solidFill>
                  <a:srgbClr val="1E2761"/>
                </a:solidFill>
                <a:latin typeface="Pretendard"/>
                <a:ea typeface="Pretendard"/>
                <a:cs typeface="Pretendard"/>
              </a:rPr>
              <a:t>법원 단계</a:t>
            </a:r>
          </a:p>
        </p:txBody>
      </p:sp>
      <p:sp>
        <p:nvSpPr>
          <p:cNvPr id="204" name="ch">
            <a:extLst>
              <a:ext uri="{FF2B5EF4-FFF2-40B4-BE49-F238E27FC236}">
                <a16:creationId xmlns:a16="http://schemas.microsoft.com/office/drawing/2014/main" id="{05B6CF1A-9A5E-BE3A-5837-8FA309B3D9D2}"/>
              </a:ext>
            </a:extLst>
          </p:cNvPr>
          <p:cNvSpPr>
            <a:spLocks noGrp="1"/>
          </p:cNvSpPr>
          <p:nvPr/>
        </p:nvSpPr>
        <p:spPr>
          <a:xfrm>
            <a:off x="9153144" y="2240280"/>
            <a:ext cx="2176272" cy="230678"/>
          </a:xfrm>
          <a:prstGeom prst="rect">
            <a:avLst/>
          </a:prstGeom>
          <a:noFill/>
        </p:spPr>
        <p:txBody>
          <a:bodyPr wrap="square" lIns="0" tIns="0" rIns="0" bIns="0" anchor="ctr"/>
          <a:lstStyle/>
          <a:p>
            <a:pPr marL="0" indent="0" algn="ctr">
              <a:lnSpc>
                <a:spcPct val="118000"/>
              </a:lnSpc>
              <a:buNone/>
            </a:pPr>
            <a:r>
              <a:rPr sz="1150" b="1">
                <a:solidFill>
                  <a:srgbClr val="1E2761"/>
                </a:solidFill>
                <a:latin typeface="Pretendard"/>
                <a:ea typeface="Pretendard"/>
                <a:cs typeface="Pretendard"/>
              </a:rPr>
              <a:t>결과</a:t>
            </a:r>
          </a:p>
        </p:txBody>
      </p:sp>
      <p:sp>
        <p:nvSpPr>
          <p:cNvPr id="205" name="hl">
            <a:extLst>
              <a:ext uri="{FF2B5EF4-FFF2-40B4-BE49-F238E27FC236}">
                <a16:creationId xmlns:a16="http://schemas.microsoft.com/office/drawing/2014/main" id="{D48246A0-4879-882F-5B29-D4AC9823357C}"/>
              </a:ext>
            </a:extLst>
          </p:cNvPr>
          <p:cNvSpPr>
            <a:spLocks noGrp="1"/>
          </p:cNvSpPr>
          <p:nvPr/>
        </p:nvSpPr>
        <p:spPr>
          <a:xfrm>
            <a:off x="731520" y="2517093"/>
            <a:ext cx="10597896" cy="0"/>
          </a:xfrm>
          <a:prstGeom prst="line">
            <a:avLst/>
          </a:prstGeom>
          <a:ln w="19050">
            <a:solidFill>
              <a:srgbClr val="1E2761"/>
            </a:solidFill>
          </a:ln>
        </p:spPr>
        <p:txBody>
          <a:bodyPr/>
          <a:lstStyle/>
          <a:p>
            <a:endParaRPr>
              <a:latin typeface="Pretendard"/>
              <a:ea typeface="Pretendard"/>
              <a:cs typeface="Pretendard"/>
            </a:endParaRPr>
          </a:p>
        </p:txBody>
      </p:sp>
      <p:sp>
        <p:nvSpPr>
          <p:cNvPr id="206" name="rl">
            <a:extLst>
              <a:ext uri="{FF2B5EF4-FFF2-40B4-BE49-F238E27FC236}">
                <a16:creationId xmlns:a16="http://schemas.microsoft.com/office/drawing/2014/main" id="{D34EC51B-97FB-E3FF-ADEA-F7FF85B1CAF9}"/>
              </a:ext>
            </a:extLst>
          </p:cNvPr>
          <p:cNvSpPr>
            <a:spLocks noGrp="1"/>
          </p:cNvSpPr>
          <p:nvPr/>
        </p:nvSpPr>
        <p:spPr>
          <a:xfrm>
            <a:off x="731520" y="2578608"/>
            <a:ext cx="1417320" cy="353706"/>
          </a:xfrm>
          <a:prstGeom prst="rect">
            <a:avLst/>
          </a:prstGeom>
          <a:solidFill>
            <a:srgbClr val="F2F4F8"/>
          </a:solidFill>
          <a:ln>
            <a:noFill/>
          </a:ln>
        </p:spPr>
        <p:txBody>
          <a:bodyPr/>
          <a:lstStyle/>
          <a:p>
            <a:endParaRPr>
              <a:latin typeface="Pretendard"/>
              <a:ea typeface="Pretendard"/>
              <a:cs typeface="Pretendard"/>
            </a:endParaRPr>
          </a:p>
        </p:txBody>
      </p:sp>
      <p:sp>
        <p:nvSpPr>
          <p:cNvPr id="207" name="rlt">
            <a:extLst>
              <a:ext uri="{FF2B5EF4-FFF2-40B4-BE49-F238E27FC236}">
                <a16:creationId xmlns:a16="http://schemas.microsoft.com/office/drawing/2014/main" id="{D158009A-F0BE-7F6F-183A-3A7BC3928D15}"/>
              </a:ext>
            </a:extLst>
          </p:cNvPr>
          <p:cNvSpPr>
            <a:spLocks noGrp="1"/>
          </p:cNvSpPr>
          <p:nvPr/>
        </p:nvSpPr>
        <p:spPr>
          <a:xfrm>
            <a:off x="731520" y="2565151"/>
            <a:ext cx="1417320" cy="353706"/>
          </a:xfrm>
          <a:prstGeom prst="rect">
            <a:avLst/>
          </a:prstGeom>
          <a:noFill/>
        </p:spPr>
        <p:txBody>
          <a:bodyPr wrap="square" lIns="0" tIns="0" rIns="0" bIns="0" anchor="ctr"/>
          <a:lstStyle/>
          <a:p>
            <a:pPr marL="0" indent="0" algn="ctr">
              <a:lnSpc>
                <a:spcPct val="118000"/>
              </a:lnSpc>
              <a:buNone/>
            </a:pPr>
            <a:r>
              <a:rPr sz="1200" b="1">
                <a:solidFill>
                  <a:srgbClr val="464D5C"/>
                </a:solidFill>
                <a:latin typeface="Pretendard"/>
                <a:ea typeface="Pretendard"/>
                <a:cs typeface="Pretendard"/>
              </a:rPr>
              <a:t>10세 미만</a:t>
            </a:r>
          </a:p>
          <a:p>
            <a:pPr marL="0" indent="0" algn="ctr">
              <a:lnSpc>
                <a:spcPct val="118000"/>
              </a:lnSpc>
              <a:buNone/>
            </a:pPr>
            <a:r>
              <a:rPr sz="1000">
                <a:solidFill>
                  <a:srgbClr val="6E7686"/>
                </a:solidFill>
                <a:latin typeface="Pretendard"/>
                <a:ea typeface="Pretendard"/>
                <a:cs typeface="Pretendard"/>
              </a:rPr>
              <a:t>소년보호사건 대상 아님</a:t>
            </a:r>
          </a:p>
        </p:txBody>
      </p:sp>
      <p:sp>
        <p:nvSpPr>
          <p:cNvPr id="208" name="na">
            <a:extLst>
              <a:ext uri="{FF2B5EF4-FFF2-40B4-BE49-F238E27FC236}">
                <a16:creationId xmlns:a16="http://schemas.microsoft.com/office/drawing/2014/main" id="{E1C72869-8610-6A28-57AF-D1691ABEF57D}"/>
              </a:ext>
            </a:extLst>
          </p:cNvPr>
          <p:cNvSpPr>
            <a:spLocks noGrp="1"/>
          </p:cNvSpPr>
          <p:nvPr/>
        </p:nvSpPr>
        <p:spPr>
          <a:xfrm>
            <a:off x="2240280" y="2578608"/>
            <a:ext cx="2176272" cy="353706"/>
          </a:xfrm>
          <a:prstGeom prst="rect">
            <a:avLst/>
          </a:prstGeom>
          <a:noFill/>
        </p:spPr>
        <p:txBody>
          <a:bodyPr wrap="square" lIns="0" tIns="0" rIns="0" bIns="0" anchor="ctr">
            <a:noAutofit/>
          </a:bodyPr>
          <a:lstStyle/>
          <a:p>
            <a:pPr marL="0" indent="0" algn="ctr">
              <a:lnSpc>
                <a:spcPct val="118000"/>
              </a:lnSpc>
              <a:buNone/>
            </a:pPr>
            <a:r>
              <a:rPr sz="1050">
                <a:solidFill>
                  <a:srgbClr val="464D5C"/>
                </a:solidFill>
                <a:latin typeface="Pretendard"/>
                <a:ea typeface="Pretendard"/>
                <a:cs typeface="Pretendard"/>
              </a:rPr>
              <a:t>안전확인·보호연계</a:t>
            </a:r>
          </a:p>
        </p:txBody>
      </p:sp>
      <p:sp>
        <p:nvSpPr>
          <p:cNvPr id="209" name="na">
            <a:extLst>
              <a:ext uri="{FF2B5EF4-FFF2-40B4-BE49-F238E27FC236}">
                <a16:creationId xmlns:a16="http://schemas.microsoft.com/office/drawing/2014/main" id="{EE687546-2A9B-57B6-B518-F52BB3744BCD}"/>
              </a:ext>
            </a:extLst>
          </p:cNvPr>
          <p:cNvSpPr>
            <a:spLocks noGrp="1"/>
          </p:cNvSpPr>
          <p:nvPr/>
        </p:nvSpPr>
        <p:spPr>
          <a:xfrm>
            <a:off x="4544568" y="2578608"/>
            <a:ext cx="2176272" cy="353706"/>
          </a:xfrm>
          <a:prstGeom prst="rect">
            <a:avLst/>
          </a:prstGeom>
          <a:noFill/>
        </p:spPr>
        <p:txBody>
          <a:bodyPr wrap="square" lIns="0" tIns="0" rIns="0" bIns="0" anchor="ctr">
            <a:noAutofit/>
          </a:bodyPr>
          <a:lstStyle/>
          <a:p>
            <a:pPr marL="0" indent="0" algn="ctr">
              <a:lnSpc>
                <a:spcPct val="118000"/>
              </a:lnSpc>
              <a:buNone/>
            </a:pPr>
            <a:r>
              <a:rPr sz="1050">
                <a:solidFill>
                  <a:srgbClr val="464D5C"/>
                </a:solidFill>
                <a:latin typeface="Pretendard"/>
                <a:ea typeface="Pretendard"/>
                <a:cs typeface="Pretendard"/>
              </a:rPr>
              <a:t>기소 대상 아님</a:t>
            </a:r>
          </a:p>
        </p:txBody>
      </p:sp>
      <p:sp>
        <p:nvSpPr>
          <p:cNvPr id="210" name="na">
            <a:extLst>
              <a:ext uri="{FF2B5EF4-FFF2-40B4-BE49-F238E27FC236}">
                <a16:creationId xmlns:a16="http://schemas.microsoft.com/office/drawing/2014/main" id="{95859FA2-A93F-9ADC-7FD4-AF6B99B134A5}"/>
              </a:ext>
            </a:extLst>
          </p:cNvPr>
          <p:cNvSpPr>
            <a:spLocks noGrp="1"/>
          </p:cNvSpPr>
          <p:nvPr/>
        </p:nvSpPr>
        <p:spPr>
          <a:xfrm>
            <a:off x="6848856" y="2578608"/>
            <a:ext cx="2176272" cy="353706"/>
          </a:xfrm>
          <a:prstGeom prst="rect">
            <a:avLst/>
          </a:prstGeom>
          <a:noFill/>
        </p:spPr>
        <p:txBody>
          <a:bodyPr wrap="square" lIns="0" tIns="0" rIns="0" bIns="0" anchor="ctr">
            <a:noAutofit/>
          </a:bodyPr>
          <a:lstStyle/>
          <a:p>
            <a:pPr marL="0" indent="0" algn="ctr">
              <a:lnSpc>
                <a:spcPct val="118000"/>
              </a:lnSpc>
              <a:buNone/>
            </a:pPr>
            <a:r>
              <a:rPr sz="1050">
                <a:solidFill>
                  <a:srgbClr val="464D5C"/>
                </a:solidFill>
                <a:latin typeface="Pretendard"/>
                <a:ea typeface="Pretendard"/>
                <a:cs typeface="Pretendard"/>
              </a:rPr>
              <a:t>소년보호심리 대상 아님</a:t>
            </a:r>
          </a:p>
        </p:txBody>
      </p:sp>
      <p:sp>
        <p:nvSpPr>
          <p:cNvPr id="211" name="na">
            <a:extLst>
              <a:ext uri="{FF2B5EF4-FFF2-40B4-BE49-F238E27FC236}">
                <a16:creationId xmlns:a16="http://schemas.microsoft.com/office/drawing/2014/main" id="{F1232105-61D3-1730-F384-CA16202DCE6F}"/>
              </a:ext>
            </a:extLst>
          </p:cNvPr>
          <p:cNvSpPr>
            <a:spLocks noGrp="1"/>
          </p:cNvSpPr>
          <p:nvPr/>
        </p:nvSpPr>
        <p:spPr>
          <a:xfrm>
            <a:off x="9153144" y="2578608"/>
            <a:ext cx="2176272" cy="353706"/>
          </a:xfrm>
          <a:prstGeom prst="rect">
            <a:avLst/>
          </a:prstGeom>
          <a:noFill/>
        </p:spPr>
        <p:txBody>
          <a:bodyPr wrap="square" lIns="0" tIns="0" rIns="0" bIns="0" anchor="ctr">
            <a:noAutofit/>
          </a:bodyPr>
          <a:lstStyle/>
          <a:p>
            <a:pPr marL="0" indent="0" algn="ctr">
              <a:lnSpc>
                <a:spcPct val="118000"/>
              </a:lnSpc>
              <a:buNone/>
            </a:pPr>
            <a:r>
              <a:rPr sz="1050">
                <a:solidFill>
                  <a:srgbClr val="464D5C"/>
                </a:solidFill>
                <a:latin typeface="Pretendard"/>
                <a:ea typeface="Pretendard"/>
                <a:cs typeface="Pretendard"/>
              </a:rPr>
              <a:t>요건 충족 시 아동보호</a:t>
            </a:r>
          </a:p>
        </p:txBody>
      </p:sp>
      <p:sp>
        <p:nvSpPr>
          <p:cNvPr id="212" name="d1">
            <a:extLst>
              <a:ext uri="{FF2B5EF4-FFF2-40B4-BE49-F238E27FC236}">
                <a16:creationId xmlns:a16="http://schemas.microsoft.com/office/drawing/2014/main" id="{547B323F-A35C-29FD-46CD-DB4FE1A651DC}"/>
              </a:ext>
            </a:extLst>
          </p:cNvPr>
          <p:cNvSpPr>
            <a:spLocks noGrp="1"/>
          </p:cNvSpPr>
          <p:nvPr/>
        </p:nvSpPr>
        <p:spPr>
          <a:xfrm>
            <a:off x="731520" y="2978450"/>
            <a:ext cx="10597896" cy="0"/>
          </a:xfrm>
          <a:prstGeom prst="line">
            <a:avLst/>
          </a:prstGeom>
          <a:ln w="9525">
            <a:solidFill>
              <a:srgbClr val="DCE0E8"/>
            </a:solidFill>
          </a:ln>
        </p:spPr>
        <p:txBody>
          <a:bodyPr/>
          <a:lstStyle/>
          <a:p>
            <a:endParaRPr>
              <a:latin typeface="Pretendard"/>
              <a:ea typeface="Pretendard"/>
              <a:cs typeface="Pretendard"/>
            </a:endParaRPr>
          </a:p>
        </p:txBody>
      </p:sp>
      <p:sp>
        <p:nvSpPr>
          <p:cNvPr id="213" name="rl">
            <a:extLst>
              <a:ext uri="{FF2B5EF4-FFF2-40B4-BE49-F238E27FC236}">
                <a16:creationId xmlns:a16="http://schemas.microsoft.com/office/drawing/2014/main" id="{6F16EED0-3F2C-8208-CEAC-D1230D5E5EEE}"/>
              </a:ext>
            </a:extLst>
          </p:cNvPr>
          <p:cNvSpPr>
            <a:spLocks noGrp="1"/>
          </p:cNvSpPr>
          <p:nvPr/>
        </p:nvSpPr>
        <p:spPr>
          <a:xfrm>
            <a:off x="731520" y="3024585"/>
            <a:ext cx="1417320" cy="738170"/>
          </a:xfrm>
          <a:prstGeom prst="rect">
            <a:avLst/>
          </a:prstGeom>
          <a:solidFill>
            <a:srgbClr val="F2F4F8"/>
          </a:solidFill>
          <a:ln>
            <a:noFill/>
          </a:ln>
        </p:spPr>
        <p:txBody>
          <a:bodyPr/>
          <a:lstStyle/>
          <a:p>
            <a:endParaRPr>
              <a:latin typeface="Pretendard"/>
              <a:ea typeface="Pretendard"/>
              <a:cs typeface="Pretendard"/>
            </a:endParaRPr>
          </a:p>
        </p:txBody>
      </p:sp>
      <p:sp>
        <p:nvSpPr>
          <p:cNvPr id="214" name="rlt">
            <a:extLst>
              <a:ext uri="{FF2B5EF4-FFF2-40B4-BE49-F238E27FC236}">
                <a16:creationId xmlns:a16="http://schemas.microsoft.com/office/drawing/2014/main" id="{A52C3DA1-DE9B-F048-A200-7CC0A42DE71C}"/>
              </a:ext>
            </a:extLst>
          </p:cNvPr>
          <p:cNvSpPr>
            <a:spLocks noGrp="1"/>
          </p:cNvSpPr>
          <p:nvPr/>
        </p:nvSpPr>
        <p:spPr>
          <a:xfrm>
            <a:off x="731520" y="3008566"/>
            <a:ext cx="1417320" cy="738170"/>
          </a:xfrm>
          <a:prstGeom prst="rect">
            <a:avLst/>
          </a:prstGeom>
          <a:noFill/>
        </p:spPr>
        <p:txBody>
          <a:bodyPr wrap="square" lIns="0" tIns="0" rIns="0" bIns="0" anchor="ctr"/>
          <a:lstStyle/>
          <a:p>
            <a:pPr marL="0" indent="0" algn="ctr">
              <a:lnSpc>
                <a:spcPct val="118000"/>
              </a:lnSpc>
              <a:buNone/>
            </a:pPr>
            <a:r>
              <a:rPr sz="1200" b="1" dirty="0">
                <a:solidFill>
                  <a:srgbClr val="1E2761"/>
                </a:solidFill>
                <a:latin typeface="Pretendard"/>
                <a:ea typeface="Pretendard"/>
                <a:cs typeface="Pretendard"/>
              </a:rPr>
              <a:t>10 ~ 13세</a:t>
            </a:r>
          </a:p>
          <a:p>
            <a:pPr marL="0" indent="0" algn="ctr">
              <a:lnSpc>
                <a:spcPct val="118000"/>
              </a:lnSpc>
              <a:buNone/>
            </a:pPr>
            <a:r>
              <a:rPr sz="1000" dirty="0" err="1">
                <a:solidFill>
                  <a:srgbClr val="6E7686"/>
                </a:solidFill>
                <a:latin typeface="Pretendard"/>
                <a:ea typeface="Pretendard"/>
                <a:cs typeface="Pretendard"/>
              </a:rPr>
              <a:t>촉법소년</a:t>
            </a:r>
            <a:endParaRPr lang="en-US" sz="1000" dirty="0">
              <a:solidFill>
                <a:srgbClr val="6E7686"/>
              </a:solidFill>
              <a:latin typeface="Pretendard"/>
              <a:ea typeface="Pretendard"/>
              <a:cs typeface="Pretendard"/>
            </a:endParaRPr>
          </a:p>
        </p:txBody>
      </p:sp>
      <p:sp>
        <p:nvSpPr>
          <p:cNvPr id="215" name="sg">
            <a:extLst>
              <a:ext uri="{FF2B5EF4-FFF2-40B4-BE49-F238E27FC236}">
                <a16:creationId xmlns:a16="http://schemas.microsoft.com/office/drawing/2014/main" id="{4A71A488-53A2-29F8-14EE-0E7AA28C76AB}"/>
              </a:ext>
            </a:extLst>
          </p:cNvPr>
          <p:cNvSpPr>
            <a:spLocks noGrp="1"/>
          </p:cNvSpPr>
          <p:nvPr/>
        </p:nvSpPr>
        <p:spPr>
          <a:xfrm>
            <a:off x="2322576" y="3089944"/>
            <a:ext cx="2011680" cy="607452"/>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16" name="sgt">
            <a:extLst>
              <a:ext uri="{FF2B5EF4-FFF2-40B4-BE49-F238E27FC236}">
                <a16:creationId xmlns:a16="http://schemas.microsoft.com/office/drawing/2014/main" id="{E094956B-0AD6-A19F-5FD8-B963DB9F0587}"/>
              </a:ext>
            </a:extLst>
          </p:cNvPr>
          <p:cNvSpPr>
            <a:spLocks noGrp="1"/>
          </p:cNvSpPr>
          <p:nvPr/>
        </p:nvSpPr>
        <p:spPr>
          <a:xfrm>
            <a:off x="2322576" y="3073925"/>
            <a:ext cx="2011680" cy="607452"/>
          </a:xfrm>
          <a:prstGeom prst="rect">
            <a:avLst/>
          </a:prstGeom>
          <a:noFill/>
        </p:spPr>
        <p:txBody>
          <a:bodyPr wrap="square" lIns="0" tIns="0" rIns="0" bIns="0" anchor="ctr"/>
          <a:lstStyle/>
          <a:p>
            <a:pPr marL="0" indent="0" algn="ctr">
              <a:lnSpc>
                <a:spcPct val="118000"/>
              </a:lnSpc>
              <a:buNone/>
            </a:pPr>
            <a:r>
              <a:rPr sz="1100" dirty="0" err="1">
                <a:solidFill>
                  <a:srgbClr val="222633"/>
                </a:solidFill>
                <a:latin typeface="Pretendard"/>
              </a:rPr>
              <a:t>경찰</a:t>
            </a:r>
            <a:r>
              <a:rPr sz="1100" dirty="0">
                <a:solidFill>
                  <a:srgbClr val="222633"/>
                </a:solidFill>
                <a:latin typeface="Pretendard"/>
              </a:rPr>
              <a:t> </a:t>
            </a:r>
            <a:r>
              <a:rPr sz="1100" dirty="0" err="1">
                <a:solidFill>
                  <a:srgbClr val="222633"/>
                </a:solidFill>
                <a:latin typeface="Pretendard"/>
              </a:rPr>
              <a:t>조사·사실확인</a:t>
            </a:r>
            <a:endParaRPr sz="1100" dirty="0">
              <a:solidFill>
                <a:srgbClr val="222633"/>
              </a:solidFill>
              <a:latin typeface="Pretendard"/>
            </a:endParaRPr>
          </a:p>
          <a:p>
            <a:pPr algn="ctr"/>
            <a:r>
              <a:rPr sz="950" dirty="0" err="1">
                <a:solidFill>
                  <a:srgbClr val="6E7686"/>
                </a:solidFill>
                <a:latin typeface="Pretendard"/>
              </a:rPr>
              <a:t>경찰서장이</a:t>
            </a:r>
            <a:r>
              <a:rPr sz="950" dirty="0">
                <a:solidFill>
                  <a:srgbClr val="6E7686"/>
                </a:solidFill>
                <a:latin typeface="Pretendard"/>
              </a:rPr>
              <a:t> </a:t>
            </a:r>
            <a:r>
              <a:rPr sz="950" dirty="0" err="1">
                <a:solidFill>
                  <a:srgbClr val="6E7686"/>
                </a:solidFill>
                <a:latin typeface="Pretendard"/>
              </a:rPr>
              <a:t>법원</a:t>
            </a:r>
            <a:r>
              <a:rPr sz="950" dirty="0">
                <a:solidFill>
                  <a:srgbClr val="6E7686"/>
                </a:solidFill>
                <a:latin typeface="Pretendard"/>
              </a:rPr>
              <a:t> </a:t>
            </a:r>
            <a:r>
              <a:rPr sz="950" dirty="0" err="1">
                <a:solidFill>
                  <a:srgbClr val="6E7686"/>
                </a:solidFill>
                <a:latin typeface="Pretendard"/>
              </a:rPr>
              <a:t>소년부에</a:t>
            </a:r>
            <a:r>
              <a:rPr sz="950" dirty="0">
                <a:solidFill>
                  <a:srgbClr val="6E7686"/>
                </a:solidFill>
                <a:latin typeface="Pretendard"/>
              </a:rPr>
              <a:t> </a:t>
            </a:r>
            <a:r>
              <a:rPr sz="950" dirty="0" err="1">
                <a:solidFill>
                  <a:srgbClr val="6E7686"/>
                </a:solidFill>
                <a:latin typeface="Pretendard"/>
              </a:rPr>
              <a:t>직접</a:t>
            </a:r>
            <a:r>
              <a:rPr sz="950" dirty="0">
                <a:solidFill>
                  <a:srgbClr val="6E7686"/>
                </a:solidFill>
                <a:latin typeface="Pretendard"/>
              </a:rPr>
              <a:t> </a:t>
            </a:r>
            <a:r>
              <a:rPr sz="950" dirty="0" err="1">
                <a:solidFill>
                  <a:srgbClr val="6E7686"/>
                </a:solidFill>
                <a:latin typeface="Pretendard"/>
              </a:rPr>
              <a:t>송치</a:t>
            </a:r>
            <a:r>
              <a:rPr sz="950" dirty="0">
                <a:solidFill>
                  <a:srgbClr val="6E7686"/>
                </a:solidFill>
                <a:latin typeface="Pretendard"/>
              </a:rPr>
              <a:t> (</a:t>
            </a:r>
            <a:r>
              <a:rPr sz="950" dirty="0" err="1">
                <a:solidFill>
                  <a:srgbClr val="6E7686"/>
                </a:solidFill>
                <a:latin typeface="Pretendard"/>
              </a:rPr>
              <a:t>보호자</a:t>
            </a:r>
            <a:r>
              <a:rPr sz="950" dirty="0">
                <a:solidFill>
                  <a:srgbClr val="6E7686"/>
                </a:solidFill>
                <a:latin typeface="Pretendard"/>
              </a:rPr>
              <a:t> · </a:t>
            </a:r>
            <a:r>
              <a:rPr sz="950" dirty="0" err="1">
                <a:solidFill>
                  <a:srgbClr val="6E7686"/>
                </a:solidFill>
                <a:latin typeface="Pretendard"/>
              </a:rPr>
              <a:t>학교도</a:t>
            </a:r>
            <a:r>
              <a:rPr sz="950" dirty="0">
                <a:solidFill>
                  <a:srgbClr val="6E7686"/>
                </a:solidFill>
                <a:latin typeface="Pretendard"/>
              </a:rPr>
              <a:t> </a:t>
            </a:r>
            <a:r>
              <a:rPr sz="950" dirty="0" err="1">
                <a:solidFill>
                  <a:srgbClr val="6E7686"/>
                </a:solidFill>
                <a:latin typeface="Pretendard"/>
              </a:rPr>
              <a:t>통고</a:t>
            </a:r>
            <a:r>
              <a:rPr sz="950" dirty="0">
                <a:solidFill>
                  <a:srgbClr val="6E7686"/>
                </a:solidFill>
                <a:latin typeface="Pretendard"/>
              </a:rPr>
              <a:t> </a:t>
            </a:r>
            <a:r>
              <a:rPr sz="950" dirty="0" err="1">
                <a:solidFill>
                  <a:srgbClr val="6E7686"/>
                </a:solidFill>
                <a:latin typeface="Pretendard"/>
              </a:rPr>
              <a:t>가능</a:t>
            </a:r>
            <a:r>
              <a:rPr sz="950" dirty="0">
                <a:solidFill>
                  <a:srgbClr val="6E7686"/>
                </a:solidFill>
                <a:latin typeface="Pretendard"/>
              </a:rPr>
              <a:t>)</a:t>
            </a:r>
          </a:p>
        </p:txBody>
      </p:sp>
      <p:sp>
        <p:nvSpPr>
          <p:cNvPr id="217" name="sg">
            <a:extLst>
              <a:ext uri="{FF2B5EF4-FFF2-40B4-BE49-F238E27FC236}">
                <a16:creationId xmlns:a16="http://schemas.microsoft.com/office/drawing/2014/main" id="{7B149AFE-B928-283C-6052-7F9E38C9216A}"/>
              </a:ext>
            </a:extLst>
          </p:cNvPr>
          <p:cNvSpPr>
            <a:spLocks noGrp="1"/>
          </p:cNvSpPr>
          <p:nvPr/>
        </p:nvSpPr>
        <p:spPr>
          <a:xfrm>
            <a:off x="4626864" y="3120701"/>
            <a:ext cx="2011680" cy="545938"/>
          </a:xfrm>
          <a:prstGeom prst="rect">
            <a:avLst/>
          </a:prstGeom>
          <a:solidFill>
            <a:srgbClr val="FFFFFF"/>
          </a:solidFill>
          <a:ln w="9525">
            <a:solidFill>
              <a:srgbClr val="DCE0E8"/>
            </a:solidFill>
            <a:prstDash val="dash"/>
          </a:ln>
        </p:spPr>
        <p:txBody>
          <a:bodyPr/>
          <a:lstStyle/>
          <a:p>
            <a:endParaRPr>
              <a:latin typeface="Pretendard"/>
              <a:ea typeface="Pretendard"/>
              <a:cs typeface="Pretendard"/>
            </a:endParaRPr>
          </a:p>
        </p:txBody>
      </p:sp>
      <p:sp>
        <p:nvSpPr>
          <p:cNvPr id="218" name="sgt">
            <a:extLst>
              <a:ext uri="{FF2B5EF4-FFF2-40B4-BE49-F238E27FC236}">
                <a16:creationId xmlns:a16="http://schemas.microsoft.com/office/drawing/2014/main" id="{6326C4B0-C55D-F997-B980-E62BBF6A2ADC}"/>
              </a:ext>
            </a:extLst>
          </p:cNvPr>
          <p:cNvSpPr>
            <a:spLocks noGrp="1"/>
          </p:cNvSpPr>
          <p:nvPr/>
        </p:nvSpPr>
        <p:spPr>
          <a:xfrm>
            <a:off x="4626864" y="3112692"/>
            <a:ext cx="2011680" cy="545938"/>
          </a:xfrm>
          <a:prstGeom prst="rect">
            <a:avLst/>
          </a:prstGeom>
          <a:noFill/>
        </p:spPr>
        <p:txBody>
          <a:bodyPr wrap="square" lIns="0" tIns="0" rIns="0" bIns="0" anchor="ctr"/>
          <a:lstStyle/>
          <a:p>
            <a:pPr marL="0" indent="0" algn="ctr">
              <a:lnSpc>
                <a:spcPct val="118000"/>
              </a:lnSpc>
              <a:buNone/>
            </a:pPr>
            <a:r>
              <a:rPr sz="1100">
                <a:solidFill>
                  <a:srgbClr val="464D5C"/>
                </a:solidFill>
                <a:latin typeface="Pretendard"/>
                <a:ea typeface="Pretendard"/>
                <a:cs typeface="Pretendard"/>
              </a:rPr>
              <a:t>해당 단계 없음</a:t>
            </a:r>
          </a:p>
        </p:txBody>
      </p:sp>
      <p:sp>
        <p:nvSpPr>
          <p:cNvPr id="219" name="sg">
            <a:extLst>
              <a:ext uri="{FF2B5EF4-FFF2-40B4-BE49-F238E27FC236}">
                <a16:creationId xmlns:a16="http://schemas.microsoft.com/office/drawing/2014/main" id="{0A945910-868A-9BD6-6194-9F1AA7B54B55}"/>
              </a:ext>
            </a:extLst>
          </p:cNvPr>
          <p:cNvSpPr>
            <a:spLocks noGrp="1"/>
          </p:cNvSpPr>
          <p:nvPr/>
        </p:nvSpPr>
        <p:spPr>
          <a:xfrm>
            <a:off x="6931152" y="3120701"/>
            <a:ext cx="2011680" cy="545938"/>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20" name="sgt">
            <a:extLst>
              <a:ext uri="{FF2B5EF4-FFF2-40B4-BE49-F238E27FC236}">
                <a16:creationId xmlns:a16="http://schemas.microsoft.com/office/drawing/2014/main" id="{AE3ADFDA-A482-D6C3-6F03-8E4596BE1B88}"/>
              </a:ext>
            </a:extLst>
          </p:cNvPr>
          <p:cNvSpPr>
            <a:spLocks noGrp="1"/>
          </p:cNvSpPr>
          <p:nvPr/>
        </p:nvSpPr>
        <p:spPr>
          <a:xfrm>
            <a:off x="6931152" y="3112692"/>
            <a:ext cx="2011680" cy="545938"/>
          </a:xfrm>
          <a:prstGeom prst="rect">
            <a:avLst/>
          </a:prstGeom>
          <a:noFill/>
        </p:spPr>
        <p:txBody>
          <a:bodyPr wrap="square" lIns="0" tIns="0" rIns="0" bIns="0" anchor="ctr"/>
          <a:lstStyle/>
          <a:p>
            <a:pPr marL="0" indent="0" algn="ctr">
              <a:lnSpc>
                <a:spcPct val="118000"/>
              </a:lnSpc>
              <a:buNone/>
            </a:pPr>
            <a:r>
              <a:rPr sz="1100">
                <a:solidFill>
                  <a:srgbClr val="222633"/>
                </a:solidFill>
                <a:latin typeface="Pretendard"/>
                <a:ea typeface="Pretendard"/>
                <a:cs typeface="Pretendard"/>
              </a:rPr>
              <a:t>법원 소년부 심리</a:t>
            </a:r>
          </a:p>
        </p:txBody>
      </p:sp>
      <p:sp>
        <p:nvSpPr>
          <p:cNvPr id="221" name="rs">
            <a:extLst>
              <a:ext uri="{FF2B5EF4-FFF2-40B4-BE49-F238E27FC236}">
                <a16:creationId xmlns:a16="http://schemas.microsoft.com/office/drawing/2014/main" id="{6C828114-19FD-5239-9B8A-8A079502ECA1}"/>
              </a:ext>
            </a:extLst>
          </p:cNvPr>
          <p:cNvSpPr>
            <a:spLocks noGrp="1"/>
          </p:cNvSpPr>
          <p:nvPr/>
        </p:nvSpPr>
        <p:spPr>
          <a:xfrm>
            <a:off x="9235440" y="3120701"/>
            <a:ext cx="2011680" cy="246056"/>
          </a:xfrm>
          <a:prstGeom prst="rect">
            <a:avLst/>
          </a:prstGeom>
          <a:solidFill>
            <a:srgbClr val="F2F4F8"/>
          </a:solidFill>
          <a:ln w="9525">
            <a:solidFill>
              <a:srgbClr val="DCE0E8"/>
            </a:solidFill>
          </a:ln>
        </p:spPr>
        <p:txBody>
          <a:bodyPr/>
          <a:lstStyle/>
          <a:p>
            <a:endParaRPr>
              <a:latin typeface="Pretendard"/>
              <a:ea typeface="Pretendard"/>
              <a:cs typeface="Pretendard"/>
            </a:endParaRPr>
          </a:p>
        </p:txBody>
      </p:sp>
      <p:sp>
        <p:nvSpPr>
          <p:cNvPr id="222" name="rst">
            <a:extLst>
              <a:ext uri="{FF2B5EF4-FFF2-40B4-BE49-F238E27FC236}">
                <a16:creationId xmlns:a16="http://schemas.microsoft.com/office/drawing/2014/main" id="{D6DE93C5-1703-1251-06EF-93D53584CA37}"/>
              </a:ext>
            </a:extLst>
          </p:cNvPr>
          <p:cNvSpPr>
            <a:spLocks noGrp="1"/>
          </p:cNvSpPr>
          <p:nvPr/>
        </p:nvSpPr>
        <p:spPr>
          <a:xfrm>
            <a:off x="9235440" y="3102919"/>
            <a:ext cx="2011680" cy="246056"/>
          </a:xfrm>
          <a:prstGeom prst="rect">
            <a:avLst/>
          </a:prstGeom>
          <a:noFill/>
        </p:spPr>
        <p:txBody>
          <a:bodyPr wrap="square" lIns="0" tIns="0" rIns="0" bIns="0" anchor="ctr"/>
          <a:lstStyle/>
          <a:p>
            <a:pPr marL="0" indent="0" algn="ctr">
              <a:lnSpc>
                <a:spcPct val="118000"/>
              </a:lnSpc>
              <a:buNone/>
            </a:pPr>
            <a:r>
              <a:rPr sz="1200" b="1">
                <a:solidFill>
                  <a:srgbClr val="1E2761"/>
                </a:solidFill>
                <a:latin typeface="Pretendard"/>
                <a:ea typeface="Pretendard"/>
                <a:cs typeface="Pretendard"/>
              </a:rPr>
              <a:t>보호처분</a:t>
            </a:r>
          </a:p>
        </p:txBody>
      </p:sp>
      <p:sp>
        <p:nvSpPr>
          <p:cNvPr id="223" name="rs">
            <a:extLst>
              <a:ext uri="{FF2B5EF4-FFF2-40B4-BE49-F238E27FC236}">
                <a16:creationId xmlns:a16="http://schemas.microsoft.com/office/drawing/2014/main" id="{558E75FC-1166-06B6-5BA4-65D09B0D83DE}"/>
              </a:ext>
            </a:extLst>
          </p:cNvPr>
          <p:cNvSpPr>
            <a:spLocks noGrp="1"/>
          </p:cNvSpPr>
          <p:nvPr/>
        </p:nvSpPr>
        <p:spPr>
          <a:xfrm>
            <a:off x="9235440" y="3420583"/>
            <a:ext cx="2011680" cy="246056"/>
          </a:xfrm>
          <a:prstGeom prst="rect">
            <a:avLst/>
          </a:prstGeom>
          <a:solidFill>
            <a:srgbClr val="FFFFFF"/>
          </a:solidFill>
          <a:ln w="9525">
            <a:solidFill>
              <a:srgbClr val="DCE0E8"/>
            </a:solidFill>
            <a:prstDash val="dash"/>
          </a:ln>
        </p:spPr>
        <p:txBody>
          <a:bodyPr/>
          <a:lstStyle/>
          <a:p>
            <a:endParaRPr>
              <a:latin typeface="Pretendard"/>
              <a:ea typeface="Pretendard"/>
              <a:cs typeface="Pretendard"/>
            </a:endParaRPr>
          </a:p>
        </p:txBody>
      </p:sp>
      <p:sp>
        <p:nvSpPr>
          <p:cNvPr id="224" name="rst">
            <a:extLst>
              <a:ext uri="{FF2B5EF4-FFF2-40B4-BE49-F238E27FC236}">
                <a16:creationId xmlns:a16="http://schemas.microsoft.com/office/drawing/2014/main" id="{95C543C3-8678-4671-D14F-65CA02AFDD1F}"/>
              </a:ext>
            </a:extLst>
          </p:cNvPr>
          <p:cNvSpPr>
            <a:spLocks noGrp="1"/>
          </p:cNvSpPr>
          <p:nvPr/>
        </p:nvSpPr>
        <p:spPr>
          <a:xfrm>
            <a:off x="9235440" y="3406326"/>
            <a:ext cx="2011680" cy="246056"/>
          </a:xfrm>
          <a:prstGeom prst="rect">
            <a:avLst/>
          </a:prstGeom>
          <a:noFill/>
        </p:spPr>
        <p:txBody>
          <a:bodyPr wrap="square" lIns="0" tIns="0" rIns="0" bIns="0" anchor="ctr"/>
          <a:lstStyle/>
          <a:p>
            <a:pPr marL="0" indent="0" algn="ctr">
              <a:lnSpc>
                <a:spcPct val="118000"/>
              </a:lnSpc>
              <a:buNone/>
            </a:pPr>
            <a:r>
              <a:rPr sz="1200">
                <a:solidFill>
                  <a:srgbClr val="1E2761"/>
                </a:solidFill>
                <a:latin typeface="Pretendard"/>
                <a:ea typeface="Pretendard"/>
                <a:cs typeface="Pretendard"/>
              </a:rPr>
              <a:t>심리불개시 · 불처분</a:t>
            </a:r>
          </a:p>
        </p:txBody>
      </p:sp>
      <p:sp>
        <p:nvSpPr>
          <p:cNvPr id="225" name="ha">
            <a:extLst>
              <a:ext uri="{FF2B5EF4-FFF2-40B4-BE49-F238E27FC236}">
                <a16:creationId xmlns:a16="http://schemas.microsoft.com/office/drawing/2014/main" id="{4819EACE-B2D0-8C85-D09F-B15399018955}"/>
              </a:ext>
            </a:extLst>
          </p:cNvPr>
          <p:cNvSpPr>
            <a:spLocks noGrp="1"/>
          </p:cNvSpPr>
          <p:nvPr/>
        </p:nvSpPr>
        <p:spPr>
          <a:xfrm>
            <a:off x="4386326" y="3393670"/>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26" name="ha">
            <a:extLst>
              <a:ext uri="{FF2B5EF4-FFF2-40B4-BE49-F238E27FC236}">
                <a16:creationId xmlns:a16="http://schemas.microsoft.com/office/drawing/2014/main" id="{98B34354-4978-2269-735B-77AAFB33CF2B}"/>
              </a:ext>
            </a:extLst>
          </p:cNvPr>
          <p:cNvSpPr>
            <a:spLocks noGrp="1"/>
          </p:cNvSpPr>
          <p:nvPr/>
        </p:nvSpPr>
        <p:spPr>
          <a:xfrm>
            <a:off x="6684264" y="3393670"/>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27" name="ha">
            <a:extLst>
              <a:ext uri="{FF2B5EF4-FFF2-40B4-BE49-F238E27FC236}">
                <a16:creationId xmlns:a16="http://schemas.microsoft.com/office/drawing/2014/main" id="{BB9F0100-11ED-EB30-EA63-02439E44AFB4}"/>
              </a:ext>
            </a:extLst>
          </p:cNvPr>
          <p:cNvSpPr>
            <a:spLocks noGrp="1"/>
          </p:cNvSpPr>
          <p:nvPr/>
        </p:nvSpPr>
        <p:spPr>
          <a:xfrm>
            <a:off x="8988552" y="3243730"/>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28" name="ha">
            <a:extLst>
              <a:ext uri="{FF2B5EF4-FFF2-40B4-BE49-F238E27FC236}">
                <a16:creationId xmlns:a16="http://schemas.microsoft.com/office/drawing/2014/main" id="{D82BA044-DAAE-9604-74FE-DF71D177AB0F}"/>
              </a:ext>
            </a:extLst>
          </p:cNvPr>
          <p:cNvSpPr>
            <a:spLocks noGrp="1"/>
          </p:cNvSpPr>
          <p:nvPr/>
        </p:nvSpPr>
        <p:spPr>
          <a:xfrm>
            <a:off x="8988552" y="3543611"/>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29" name="rl">
            <a:extLst>
              <a:ext uri="{FF2B5EF4-FFF2-40B4-BE49-F238E27FC236}">
                <a16:creationId xmlns:a16="http://schemas.microsoft.com/office/drawing/2014/main" id="{B975EA83-A722-22A9-D7B0-6634E494D600}"/>
              </a:ext>
            </a:extLst>
          </p:cNvPr>
          <p:cNvSpPr>
            <a:spLocks noGrp="1"/>
          </p:cNvSpPr>
          <p:nvPr/>
        </p:nvSpPr>
        <p:spPr>
          <a:xfrm>
            <a:off x="731520" y="3900561"/>
            <a:ext cx="1417320" cy="2152765"/>
          </a:xfrm>
          <a:prstGeom prst="rect">
            <a:avLst/>
          </a:prstGeom>
          <a:solidFill>
            <a:srgbClr val="F2F4F8"/>
          </a:solidFill>
          <a:ln>
            <a:noFill/>
          </a:ln>
        </p:spPr>
        <p:txBody>
          <a:bodyPr/>
          <a:lstStyle/>
          <a:p>
            <a:endParaRPr>
              <a:latin typeface="Pretendard"/>
              <a:ea typeface="Pretendard"/>
              <a:cs typeface="Pretendard"/>
            </a:endParaRPr>
          </a:p>
        </p:txBody>
      </p:sp>
      <p:sp>
        <p:nvSpPr>
          <p:cNvPr id="230" name="rlt">
            <a:extLst>
              <a:ext uri="{FF2B5EF4-FFF2-40B4-BE49-F238E27FC236}">
                <a16:creationId xmlns:a16="http://schemas.microsoft.com/office/drawing/2014/main" id="{77F07E76-A7FF-8F16-27C1-E7C7AC1C6267}"/>
              </a:ext>
            </a:extLst>
          </p:cNvPr>
          <p:cNvSpPr>
            <a:spLocks noGrp="1"/>
          </p:cNvSpPr>
          <p:nvPr/>
        </p:nvSpPr>
        <p:spPr>
          <a:xfrm>
            <a:off x="731520" y="3884063"/>
            <a:ext cx="1417320" cy="1845425"/>
          </a:xfrm>
          <a:prstGeom prst="rect">
            <a:avLst/>
          </a:prstGeom>
          <a:noFill/>
        </p:spPr>
        <p:txBody>
          <a:bodyPr wrap="square" lIns="0" tIns="0" rIns="0" bIns="0" anchor="ctr"/>
          <a:lstStyle/>
          <a:p>
            <a:pPr marL="0" indent="0" algn="ctr">
              <a:lnSpc>
                <a:spcPct val="118000"/>
              </a:lnSpc>
              <a:buNone/>
            </a:pPr>
            <a:r>
              <a:rPr sz="1200" b="1" dirty="0">
                <a:solidFill>
                  <a:srgbClr val="222633"/>
                </a:solidFill>
                <a:latin typeface="Pretendard"/>
                <a:ea typeface="Pretendard"/>
                <a:cs typeface="Pretendard"/>
              </a:rPr>
              <a:t>14 ~ 18세</a:t>
            </a:r>
          </a:p>
          <a:p>
            <a:pPr marL="0" indent="0" algn="ctr">
              <a:lnSpc>
                <a:spcPct val="118000"/>
              </a:lnSpc>
              <a:buNone/>
            </a:pPr>
            <a:r>
              <a:rPr sz="1000" dirty="0" err="1">
                <a:solidFill>
                  <a:srgbClr val="6E7686"/>
                </a:solidFill>
                <a:latin typeface="Pretendard"/>
                <a:ea typeface="Pretendard"/>
                <a:cs typeface="Pretendard"/>
              </a:rPr>
              <a:t>범죄소년</a:t>
            </a:r>
            <a:endParaRPr lang="en-US" sz="1000" dirty="0">
              <a:solidFill>
                <a:srgbClr val="6E7686"/>
              </a:solidFill>
              <a:latin typeface="Pretendard"/>
              <a:ea typeface="Pretendard"/>
              <a:cs typeface="Pretendard"/>
            </a:endParaRPr>
          </a:p>
        </p:txBody>
      </p:sp>
      <p:sp>
        <p:nvSpPr>
          <p:cNvPr id="231" name="sg">
            <a:extLst>
              <a:ext uri="{FF2B5EF4-FFF2-40B4-BE49-F238E27FC236}">
                <a16:creationId xmlns:a16="http://schemas.microsoft.com/office/drawing/2014/main" id="{8BB7C774-C135-7CED-427F-2A77CF7C230C}"/>
              </a:ext>
            </a:extLst>
          </p:cNvPr>
          <p:cNvSpPr>
            <a:spLocks noGrp="1"/>
          </p:cNvSpPr>
          <p:nvPr/>
        </p:nvSpPr>
        <p:spPr>
          <a:xfrm>
            <a:off x="2322576" y="3944072"/>
            <a:ext cx="1270000" cy="2109256"/>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32" name="sgt">
            <a:extLst>
              <a:ext uri="{FF2B5EF4-FFF2-40B4-BE49-F238E27FC236}">
                <a16:creationId xmlns:a16="http://schemas.microsoft.com/office/drawing/2014/main" id="{3F9D9456-E43E-39DB-3F21-3D92BFD400DC}"/>
              </a:ext>
            </a:extLst>
          </p:cNvPr>
          <p:cNvSpPr>
            <a:spLocks noGrp="1"/>
          </p:cNvSpPr>
          <p:nvPr/>
        </p:nvSpPr>
        <p:spPr>
          <a:xfrm>
            <a:off x="2322576" y="3931469"/>
            <a:ext cx="1270000" cy="2121858"/>
          </a:xfrm>
          <a:prstGeom prst="rect">
            <a:avLst/>
          </a:prstGeom>
          <a:noFill/>
        </p:spPr>
        <p:txBody>
          <a:bodyPr wrap="square" lIns="0" tIns="0" rIns="0" bIns="0" anchor="ctr"/>
          <a:lstStyle/>
          <a:p>
            <a:pPr marL="0" indent="0" algn="ctr">
              <a:lnSpc>
                <a:spcPct val="118000"/>
              </a:lnSpc>
              <a:buNone/>
            </a:pPr>
            <a:r>
              <a:rPr lang="ko-KR" altLang="en-US" sz="11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형사</a:t>
            </a:r>
            <a:r>
              <a:rPr sz="110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사건</a:t>
            </a:r>
            <a:r>
              <a:rPr sz="110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10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수사</a:t>
            </a:r>
            <a:endParaRPr lang="en-US" sz="1100" dirty="0">
              <a:solidFill>
                <a:srgbClr val="222633"/>
              </a:solidFill>
              <a:latin typeface="Pretendard" panose="02000503000000020004" pitchFamily="2" charset="-127"/>
              <a:ea typeface="Pretendard" panose="02000503000000020004" pitchFamily="2" charset="-127"/>
              <a:cs typeface="Pretendard" panose="02000503000000020004" pitchFamily="2" charset="-127"/>
            </a:endParaRPr>
          </a:p>
          <a:p>
            <a:pPr algn="ctr">
              <a:lnSpc>
                <a:spcPct val="118000"/>
              </a:lnSpc>
            </a:pPr>
            <a:r>
              <a:rPr lang="en-US" sz="950" b="1" dirty="0">
                <a:solidFill>
                  <a:srgbClr val="6E7686"/>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a:t>
            </a:r>
            <a:r>
              <a:rPr lang="ko-KR" altLang="en-US" sz="950" b="1" dirty="0">
                <a:solidFill>
                  <a:srgbClr val="6E7686"/>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일부 경미사건은 </a:t>
            </a:r>
            <a:endParaRPr lang="en-US" altLang="ko-KR" sz="950" b="1" dirty="0">
              <a:solidFill>
                <a:srgbClr val="6E7686"/>
              </a:solidFill>
              <a:highlight>
                <a:srgbClr val="FFFF00"/>
              </a:highlight>
              <a:latin typeface="Pretendard" panose="02000503000000020004" pitchFamily="2" charset="-127"/>
              <a:ea typeface="Pretendard" panose="02000503000000020004" pitchFamily="2" charset="-127"/>
              <a:cs typeface="Pretendard" panose="02000503000000020004" pitchFamily="2" charset="-127"/>
            </a:endParaRPr>
          </a:p>
          <a:p>
            <a:pPr algn="ctr">
              <a:lnSpc>
                <a:spcPct val="118000"/>
              </a:lnSpc>
            </a:pPr>
            <a:r>
              <a:rPr lang="ko-KR" altLang="en-US" sz="950" b="1" dirty="0">
                <a:solidFill>
                  <a:srgbClr val="6E7686"/>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경찰 단계에서 훈방 또는 즉결심판 청구 가능</a:t>
            </a:r>
            <a:r>
              <a:rPr lang="en-US" altLang="ko-KR" sz="950" b="1" dirty="0">
                <a:solidFill>
                  <a:srgbClr val="6E7686"/>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a:t>
            </a:r>
          </a:p>
        </p:txBody>
      </p:sp>
      <p:sp>
        <p:nvSpPr>
          <p:cNvPr id="233" name="sg">
            <a:extLst>
              <a:ext uri="{FF2B5EF4-FFF2-40B4-BE49-F238E27FC236}">
                <a16:creationId xmlns:a16="http://schemas.microsoft.com/office/drawing/2014/main" id="{5CFE7AEC-5AED-8843-9A72-52F9460DDDC0}"/>
              </a:ext>
            </a:extLst>
          </p:cNvPr>
          <p:cNvSpPr>
            <a:spLocks noGrp="1"/>
          </p:cNvSpPr>
          <p:nvPr/>
        </p:nvSpPr>
        <p:spPr>
          <a:xfrm>
            <a:off x="4626864" y="3962076"/>
            <a:ext cx="2011680" cy="545938"/>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34" name="sgt">
            <a:extLst>
              <a:ext uri="{FF2B5EF4-FFF2-40B4-BE49-F238E27FC236}">
                <a16:creationId xmlns:a16="http://schemas.microsoft.com/office/drawing/2014/main" id="{F6AC415B-8642-F725-E4C4-7F9E2A510A89}"/>
              </a:ext>
            </a:extLst>
          </p:cNvPr>
          <p:cNvSpPr>
            <a:spLocks noGrp="1"/>
          </p:cNvSpPr>
          <p:nvPr/>
        </p:nvSpPr>
        <p:spPr>
          <a:xfrm>
            <a:off x="4626864" y="3954067"/>
            <a:ext cx="2011680" cy="545938"/>
          </a:xfrm>
          <a:prstGeom prst="rect">
            <a:avLst/>
          </a:prstGeom>
          <a:noFill/>
        </p:spPr>
        <p:txBody>
          <a:bodyPr wrap="square" lIns="0" tIns="0" rIns="0" bIns="0" anchor="ctr"/>
          <a:lstStyle/>
          <a:p>
            <a:pPr marL="0" indent="0" algn="ctr">
              <a:lnSpc>
                <a:spcPct val="118000"/>
              </a:lnSpc>
              <a:buNone/>
            </a:pPr>
            <a:r>
              <a:rPr sz="1100" dirty="0" err="1">
                <a:solidFill>
                  <a:srgbClr val="222633"/>
                </a:solidFill>
                <a:latin typeface="Pretendard"/>
                <a:ea typeface="Pretendard"/>
                <a:cs typeface="Pretendard"/>
              </a:rPr>
              <a:t>검사의</a:t>
            </a:r>
            <a:r>
              <a:rPr sz="1100" dirty="0">
                <a:solidFill>
                  <a:srgbClr val="222633"/>
                </a:solidFill>
                <a:latin typeface="Pretendard"/>
                <a:ea typeface="Pretendard"/>
                <a:cs typeface="Pretendard"/>
              </a:rPr>
              <a:t> </a:t>
            </a:r>
            <a:r>
              <a:rPr sz="1100" dirty="0" err="1">
                <a:solidFill>
                  <a:srgbClr val="222633"/>
                </a:solidFill>
                <a:latin typeface="Pretendard"/>
                <a:ea typeface="Pretendard"/>
                <a:cs typeface="Pretendard"/>
              </a:rPr>
              <a:t>기소</a:t>
            </a:r>
            <a:endParaRPr sz="1100" dirty="0">
              <a:solidFill>
                <a:srgbClr val="222633"/>
              </a:solidFill>
              <a:latin typeface="Pretendard"/>
              <a:ea typeface="Pretendard"/>
              <a:cs typeface="Pretendard"/>
            </a:endParaRPr>
          </a:p>
        </p:txBody>
      </p:sp>
      <p:sp>
        <p:nvSpPr>
          <p:cNvPr id="235" name="sg">
            <a:extLst>
              <a:ext uri="{FF2B5EF4-FFF2-40B4-BE49-F238E27FC236}">
                <a16:creationId xmlns:a16="http://schemas.microsoft.com/office/drawing/2014/main" id="{F0963DF9-0C23-67F5-78E0-237FE6FF545E}"/>
              </a:ext>
            </a:extLst>
          </p:cNvPr>
          <p:cNvSpPr>
            <a:spLocks noGrp="1"/>
          </p:cNvSpPr>
          <p:nvPr/>
        </p:nvSpPr>
        <p:spPr>
          <a:xfrm>
            <a:off x="6931152" y="3962076"/>
            <a:ext cx="2011680" cy="545938"/>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36" name="sgt">
            <a:extLst>
              <a:ext uri="{FF2B5EF4-FFF2-40B4-BE49-F238E27FC236}">
                <a16:creationId xmlns:a16="http://schemas.microsoft.com/office/drawing/2014/main" id="{2F1FF858-61C9-A58F-D056-71BC5B1B3A28}"/>
              </a:ext>
            </a:extLst>
          </p:cNvPr>
          <p:cNvSpPr>
            <a:spLocks noGrp="1"/>
          </p:cNvSpPr>
          <p:nvPr/>
        </p:nvSpPr>
        <p:spPr>
          <a:xfrm>
            <a:off x="6931152" y="3954067"/>
            <a:ext cx="2011680" cy="545938"/>
          </a:xfrm>
          <a:prstGeom prst="rect">
            <a:avLst/>
          </a:prstGeom>
          <a:noFill/>
        </p:spPr>
        <p:txBody>
          <a:bodyPr wrap="square" lIns="0" tIns="0" rIns="0" bIns="0" anchor="ctr"/>
          <a:lstStyle/>
          <a:p>
            <a:pPr marL="0" indent="0" algn="ctr">
              <a:lnSpc>
                <a:spcPct val="118000"/>
              </a:lnSpc>
              <a:buNone/>
            </a:pPr>
            <a:r>
              <a:rPr sz="1100">
                <a:solidFill>
                  <a:srgbClr val="222633"/>
                </a:solidFill>
                <a:latin typeface="Pretendard"/>
                <a:ea typeface="Pretendard"/>
                <a:cs typeface="Pretendard"/>
              </a:rPr>
              <a:t>형사법원 재판</a:t>
            </a:r>
          </a:p>
        </p:txBody>
      </p:sp>
      <p:sp>
        <p:nvSpPr>
          <p:cNvPr id="237" name="rs">
            <a:extLst>
              <a:ext uri="{FF2B5EF4-FFF2-40B4-BE49-F238E27FC236}">
                <a16:creationId xmlns:a16="http://schemas.microsoft.com/office/drawing/2014/main" id="{31D34656-928F-AE9A-7276-8F9633D952D4}"/>
              </a:ext>
            </a:extLst>
          </p:cNvPr>
          <p:cNvSpPr>
            <a:spLocks noGrp="1"/>
          </p:cNvSpPr>
          <p:nvPr/>
        </p:nvSpPr>
        <p:spPr>
          <a:xfrm>
            <a:off x="9235440" y="3962076"/>
            <a:ext cx="2011680" cy="246056"/>
          </a:xfrm>
          <a:prstGeom prst="rect">
            <a:avLst/>
          </a:prstGeom>
          <a:solidFill>
            <a:srgbClr val="F2F4F8"/>
          </a:solidFill>
          <a:ln w="9525">
            <a:solidFill>
              <a:srgbClr val="DCE0E8"/>
            </a:solidFill>
          </a:ln>
        </p:spPr>
        <p:txBody>
          <a:bodyPr/>
          <a:lstStyle/>
          <a:p>
            <a:endParaRPr>
              <a:latin typeface="Pretendard"/>
              <a:ea typeface="Pretendard"/>
              <a:cs typeface="Pretendard"/>
            </a:endParaRPr>
          </a:p>
        </p:txBody>
      </p:sp>
      <p:sp>
        <p:nvSpPr>
          <p:cNvPr id="238" name="rst">
            <a:extLst>
              <a:ext uri="{FF2B5EF4-FFF2-40B4-BE49-F238E27FC236}">
                <a16:creationId xmlns:a16="http://schemas.microsoft.com/office/drawing/2014/main" id="{DB1236B5-701C-6B9A-F8A5-33B9EFE719D9}"/>
              </a:ext>
            </a:extLst>
          </p:cNvPr>
          <p:cNvSpPr>
            <a:spLocks noGrp="1"/>
          </p:cNvSpPr>
          <p:nvPr/>
        </p:nvSpPr>
        <p:spPr>
          <a:xfrm>
            <a:off x="9235440" y="3948300"/>
            <a:ext cx="2011680" cy="246056"/>
          </a:xfrm>
          <a:prstGeom prst="rect">
            <a:avLst/>
          </a:prstGeom>
          <a:noFill/>
        </p:spPr>
        <p:txBody>
          <a:bodyPr wrap="square" lIns="0" tIns="0" rIns="0" bIns="0" anchor="ctr"/>
          <a:lstStyle/>
          <a:p>
            <a:pPr marL="0" indent="0" algn="ctr">
              <a:lnSpc>
                <a:spcPct val="118000"/>
              </a:lnSpc>
              <a:buNone/>
            </a:pPr>
            <a:r>
              <a:rPr sz="1200" b="1">
                <a:solidFill>
                  <a:srgbClr val="1E2761"/>
                </a:solidFill>
                <a:latin typeface="Pretendard"/>
                <a:ea typeface="Pretendard"/>
                <a:cs typeface="Pretendard"/>
              </a:rPr>
              <a:t>형 선고</a:t>
            </a:r>
          </a:p>
        </p:txBody>
      </p:sp>
      <p:sp>
        <p:nvSpPr>
          <p:cNvPr id="239" name="rs">
            <a:extLst>
              <a:ext uri="{FF2B5EF4-FFF2-40B4-BE49-F238E27FC236}">
                <a16:creationId xmlns:a16="http://schemas.microsoft.com/office/drawing/2014/main" id="{CE25A0C3-0506-230E-9C22-0A9332CE4430}"/>
              </a:ext>
            </a:extLst>
          </p:cNvPr>
          <p:cNvSpPr>
            <a:spLocks noGrp="1"/>
          </p:cNvSpPr>
          <p:nvPr/>
        </p:nvSpPr>
        <p:spPr>
          <a:xfrm>
            <a:off x="9235440" y="4261958"/>
            <a:ext cx="2011680" cy="246056"/>
          </a:xfrm>
          <a:prstGeom prst="rect">
            <a:avLst/>
          </a:prstGeom>
          <a:solidFill>
            <a:srgbClr val="FFFFFF"/>
          </a:solidFill>
          <a:ln w="9525">
            <a:solidFill>
              <a:srgbClr val="DCE0E8"/>
            </a:solidFill>
            <a:prstDash val="dash"/>
          </a:ln>
        </p:spPr>
        <p:txBody>
          <a:bodyPr/>
          <a:lstStyle/>
          <a:p>
            <a:endParaRPr>
              <a:latin typeface="Pretendard"/>
              <a:ea typeface="Pretendard"/>
              <a:cs typeface="Pretendard"/>
            </a:endParaRPr>
          </a:p>
        </p:txBody>
      </p:sp>
      <p:sp>
        <p:nvSpPr>
          <p:cNvPr id="240" name="rst">
            <a:extLst>
              <a:ext uri="{FF2B5EF4-FFF2-40B4-BE49-F238E27FC236}">
                <a16:creationId xmlns:a16="http://schemas.microsoft.com/office/drawing/2014/main" id="{80052F5C-E137-6615-6ABF-5E4A03DBFC00}"/>
              </a:ext>
            </a:extLst>
          </p:cNvPr>
          <p:cNvSpPr>
            <a:spLocks noGrp="1"/>
          </p:cNvSpPr>
          <p:nvPr/>
        </p:nvSpPr>
        <p:spPr>
          <a:xfrm>
            <a:off x="9235440" y="4247701"/>
            <a:ext cx="2011680" cy="246056"/>
          </a:xfrm>
          <a:prstGeom prst="rect">
            <a:avLst/>
          </a:prstGeom>
          <a:noFill/>
        </p:spPr>
        <p:txBody>
          <a:bodyPr wrap="square" lIns="0" tIns="0" rIns="0" bIns="0" anchor="ctr"/>
          <a:lstStyle/>
          <a:p>
            <a:pPr marL="0" indent="0" algn="ctr">
              <a:lnSpc>
                <a:spcPct val="118000"/>
              </a:lnSpc>
              <a:buNone/>
            </a:pPr>
            <a:r>
              <a:rPr sz="1200">
                <a:solidFill>
                  <a:srgbClr val="1E2761"/>
                </a:solidFill>
                <a:latin typeface="Pretendard"/>
                <a:ea typeface="Pretendard"/>
                <a:cs typeface="Pretendard"/>
              </a:rPr>
              <a:t>무죄 · 공소기각</a:t>
            </a:r>
          </a:p>
        </p:txBody>
      </p:sp>
      <p:sp>
        <p:nvSpPr>
          <p:cNvPr id="241" name="sg">
            <a:extLst>
              <a:ext uri="{FF2B5EF4-FFF2-40B4-BE49-F238E27FC236}">
                <a16:creationId xmlns:a16="http://schemas.microsoft.com/office/drawing/2014/main" id="{2312EFDA-9586-54B0-853F-C65FAECD7BB2}"/>
              </a:ext>
            </a:extLst>
          </p:cNvPr>
          <p:cNvSpPr>
            <a:spLocks noGrp="1"/>
          </p:cNvSpPr>
          <p:nvPr/>
        </p:nvSpPr>
        <p:spPr>
          <a:xfrm>
            <a:off x="4626864" y="4784828"/>
            <a:ext cx="2011680" cy="545938"/>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42" name="sgt">
            <a:extLst>
              <a:ext uri="{FF2B5EF4-FFF2-40B4-BE49-F238E27FC236}">
                <a16:creationId xmlns:a16="http://schemas.microsoft.com/office/drawing/2014/main" id="{A2850A25-C512-9B85-6D4B-5E3E4B83C8B3}"/>
              </a:ext>
            </a:extLst>
          </p:cNvPr>
          <p:cNvSpPr>
            <a:spLocks noGrp="1"/>
          </p:cNvSpPr>
          <p:nvPr/>
        </p:nvSpPr>
        <p:spPr>
          <a:xfrm>
            <a:off x="4626864" y="4774576"/>
            <a:ext cx="2011680" cy="545938"/>
          </a:xfrm>
          <a:prstGeom prst="rect">
            <a:avLst/>
          </a:prstGeom>
          <a:noFill/>
        </p:spPr>
        <p:txBody>
          <a:bodyPr wrap="square" lIns="0" tIns="0" rIns="0" bIns="0" anchor="ctr"/>
          <a:lstStyle/>
          <a:p>
            <a:pPr marL="0" indent="0" algn="ctr">
              <a:lnSpc>
                <a:spcPct val="118000"/>
              </a:lnSpc>
              <a:buNone/>
            </a:pPr>
            <a:r>
              <a:rPr sz="1100">
                <a:solidFill>
                  <a:srgbClr val="222633"/>
                </a:solidFill>
                <a:latin typeface="Pretendard"/>
                <a:ea typeface="Pretendard"/>
                <a:cs typeface="Pretendard"/>
              </a:rPr>
              <a:t>검사의 법원 소년부 송치</a:t>
            </a:r>
          </a:p>
        </p:txBody>
      </p:sp>
      <p:sp>
        <p:nvSpPr>
          <p:cNvPr id="243" name="sg">
            <a:extLst>
              <a:ext uri="{FF2B5EF4-FFF2-40B4-BE49-F238E27FC236}">
                <a16:creationId xmlns:a16="http://schemas.microsoft.com/office/drawing/2014/main" id="{BD28BB7F-1C2E-2396-4524-3BAD2FB4F078}"/>
              </a:ext>
            </a:extLst>
          </p:cNvPr>
          <p:cNvSpPr>
            <a:spLocks noGrp="1"/>
          </p:cNvSpPr>
          <p:nvPr/>
        </p:nvSpPr>
        <p:spPr>
          <a:xfrm>
            <a:off x="6931152" y="4784828"/>
            <a:ext cx="2011680" cy="545938"/>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44" name="sgt">
            <a:extLst>
              <a:ext uri="{FF2B5EF4-FFF2-40B4-BE49-F238E27FC236}">
                <a16:creationId xmlns:a16="http://schemas.microsoft.com/office/drawing/2014/main" id="{AF6879CC-F2D0-2417-707D-FEBA03D266D5}"/>
              </a:ext>
            </a:extLst>
          </p:cNvPr>
          <p:cNvSpPr>
            <a:spLocks noGrp="1"/>
          </p:cNvSpPr>
          <p:nvPr/>
        </p:nvSpPr>
        <p:spPr>
          <a:xfrm>
            <a:off x="6931152" y="4774576"/>
            <a:ext cx="2011680" cy="545938"/>
          </a:xfrm>
          <a:prstGeom prst="rect">
            <a:avLst/>
          </a:prstGeom>
          <a:noFill/>
        </p:spPr>
        <p:txBody>
          <a:bodyPr wrap="square" lIns="0" tIns="0" rIns="0" bIns="0" anchor="ctr"/>
          <a:lstStyle/>
          <a:p>
            <a:pPr marL="0" indent="0" algn="ctr">
              <a:lnSpc>
                <a:spcPct val="118000"/>
              </a:lnSpc>
              <a:buNone/>
            </a:pPr>
            <a:r>
              <a:rPr sz="1100">
                <a:solidFill>
                  <a:srgbClr val="222633"/>
                </a:solidFill>
                <a:latin typeface="Pretendard"/>
                <a:ea typeface="Pretendard"/>
                <a:cs typeface="Pretendard"/>
              </a:rPr>
              <a:t>법원 소년부 심리</a:t>
            </a:r>
          </a:p>
        </p:txBody>
      </p:sp>
      <p:sp>
        <p:nvSpPr>
          <p:cNvPr id="245" name="rs">
            <a:extLst>
              <a:ext uri="{FF2B5EF4-FFF2-40B4-BE49-F238E27FC236}">
                <a16:creationId xmlns:a16="http://schemas.microsoft.com/office/drawing/2014/main" id="{A58AA387-727B-ACEF-F83D-46C9CE699068}"/>
              </a:ext>
            </a:extLst>
          </p:cNvPr>
          <p:cNvSpPr>
            <a:spLocks noGrp="1"/>
          </p:cNvSpPr>
          <p:nvPr/>
        </p:nvSpPr>
        <p:spPr>
          <a:xfrm>
            <a:off x="9235440" y="4784828"/>
            <a:ext cx="2011680" cy="246056"/>
          </a:xfrm>
          <a:prstGeom prst="rect">
            <a:avLst/>
          </a:prstGeom>
          <a:solidFill>
            <a:srgbClr val="F2F4F8"/>
          </a:solidFill>
          <a:ln w="9525">
            <a:solidFill>
              <a:srgbClr val="DCE0E8"/>
            </a:solidFill>
          </a:ln>
        </p:spPr>
        <p:txBody>
          <a:bodyPr/>
          <a:lstStyle/>
          <a:p>
            <a:endParaRPr>
              <a:latin typeface="Pretendard"/>
              <a:ea typeface="Pretendard"/>
              <a:cs typeface="Pretendard"/>
            </a:endParaRPr>
          </a:p>
        </p:txBody>
      </p:sp>
      <p:sp>
        <p:nvSpPr>
          <p:cNvPr id="246" name="rst">
            <a:extLst>
              <a:ext uri="{FF2B5EF4-FFF2-40B4-BE49-F238E27FC236}">
                <a16:creationId xmlns:a16="http://schemas.microsoft.com/office/drawing/2014/main" id="{04FCE99D-7043-AF31-C407-F56DC3987EAE}"/>
              </a:ext>
            </a:extLst>
          </p:cNvPr>
          <p:cNvSpPr>
            <a:spLocks noGrp="1"/>
          </p:cNvSpPr>
          <p:nvPr/>
        </p:nvSpPr>
        <p:spPr>
          <a:xfrm>
            <a:off x="9235440" y="4772814"/>
            <a:ext cx="2011680" cy="246056"/>
          </a:xfrm>
          <a:prstGeom prst="rect">
            <a:avLst/>
          </a:prstGeom>
          <a:noFill/>
        </p:spPr>
        <p:txBody>
          <a:bodyPr wrap="square" lIns="0" tIns="0" rIns="0" bIns="0" anchor="ctr"/>
          <a:lstStyle/>
          <a:p>
            <a:pPr marL="0" indent="0" algn="ctr">
              <a:lnSpc>
                <a:spcPct val="118000"/>
              </a:lnSpc>
              <a:buNone/>
            </a:pPr>
            <a:r>
              <a:rPr sz="1200" b="1">
                <a:solidFill>
                  <a:srgbClr val="1E2761"/>
                </a:solidFill>
                <a:latin typeface="Pretendard"/>
                <a:ea typeface="Pretendard"/>
                <a:cs typeface="Pretendard"/>
              </a:rPr>
              <a:t>보호처분</a:t>
            </a:r>
          </a:p>
        </p:txBody>
      </p:sp>
      <p:sp>
        <p:nvSpPr>
          <p:cNvPr id="247" name="rs">
            <a:extLst>
              <a:ext uri="{FF2B5EF4-FFF2-40B4-BE49-F238E27FC236}">
                <a16:creationId xmlns:a16="http://schemas.microsoft.com/office/drawing/2014/main" id="{A2EE178C-2463-4691-E504-6F4C3BA1A2E6}"/>
              </a:ext>
            </a:extLst>
          </p:cNvPr>
          <p:cNvSpPr>
            <a:spLocks noGrp="1"/>
          </p:cNvSpPr>
          <p:nvPr/>
        </p:nvSpPr>
        <p:spPr>
          <a:xfrm>
            <a:off x="9235440" y="5084710"/>
            <a:ext cx="2011680" cy="246056"/>
          </a:xfrm>
          <a:prstGeom prst="rect">
            <a:avLst/>
          </a:prstGeom>
          <a:solidFill>
            <a:srgbClr val="FFFFFF"/>
          </a:solidFill>
          <a:ln w="9525">
            <a:solidFill>
              <a:srgbClr val="DCE0E8"/>
            </a:solidFill>
            <a:prstDash val="dash"/>
          </a:ln>
        </p:spPr>
        <p:txBody>
          <a:bodyPr/>
          <a:lstStyle/>
          <a:p>
            <a:endParaRPr>
              <a:latin typeface="Pretendard"/>
              <a:ea typeface="Pretendard"/>
              <a:cs typeface="Pretendard"/>
            </a:endParaRPr>
          </a:p>
        </p:txBody>
      </p:sp>
      <p:sp>
        <p:nvSpPr>
          <p:cNvPr id="248" name="rst">
            <a:extLst>
              <a:ext uri="{FF2B5EF4-FFF2-40B4-BE49-F238E27FC236}">
                <a16:creationId xmlns:a16="http://schemas.microsoft.com/office/drawing/2014/main" id="{CA02580D-9086-13DF-E1D5-EAEEE33C6B7D}"/>
              </a:ext>
            </a:extLst>
          </p:cNvPr>
          <p:cNvSpPr>
            <a:spLocks noGrp="1"/>
          </p:cNvSpPr>
          <p:nvPr/>
        </p:nvSpPr>
        <p:spPr>
          <a:xfrm>
            <a:off x="9235440" y="5068211"/>
            <a:ext cx="2011680" cy="246056"/>
          </a:xfrm>
          <a:prstGeom prst="rect">
            <a:avLst/>
          </a:prstGeom>
          <a:noFill/>
        </p:spPr>
        <p:txBody>
          <a:bodyPr wrap="square" lIns="0" tIns="0" rIns="0" bIns="0" anchor="ctr"/>
          <a:lstStyle/>
          <a:p>
            <a:pPr marL="0" indent="0" algn="ctr">
              <a:lnSpc>
                <a:spcPct val="118000"/>
              </a:lnSpc>
              <a:buNone/>
            </a:pPr>
            <a:r>
              <a:rPr sz="1200" dirty="0" err="1">
                <a:solidFill>
                  <a:srgbClr val="1E2761"/>
                </a:solidFill>
                <a:latin typeface="Pretendard"/>
                <a:ea typeface="Pretendard"/>
                <a:cs typeface="Pretendard"/>
              </a:rPr>
              <a:t>심리불개시</a:t>
            </a:r>
            <a:r>
              <a:rPr sz="1200" dirty="0">
                <a:solidFill>
                  <a:srgbClr val="1E2761"/>
                </a:solidFill>
                <a:latin typeface="Pretendard"/>
                <a:ea typeface="Pretendard"/>
                <a:cs typeface="Pretendard"/>
              </a:rPr>
              <a:t> · </a:t>
            </a:r>
            <a:r>
              <a:rPr sz="1200" dirty="0" err="1">
                <a:solidFill>
                  <a:srgbClr val="1E2761"/>
                </a:solidFill>
                <a:latin typeface="Pretendard"/>
                <a:ea typeface="Pretendard"/>
                <a:cs typeface="Pretendard"/>
              </a:rPr>
              <a:t>불처분</a:t>
            </a:r>
            <a:endParaRPr sz="1200" dirty="0">
              <a:solidFill>
                <a:srgbClr val="1E2761"/>
              </a:solidFill>
              <a:latin typeface="Pretendard"/>
              <a:ea typeface="Pretendard"/>
              <a:cs typeface="Pretendard"/>
            </a:endParaRPr>
          </a:p>
        </p:txBody>
      </p:sp>
      <p:sp>
        <p:nvSpPr>
          <p:cNvPr id="249" name="sg">
            <a:extLst>
              <a:ext uri="{FF2B5EF4-FFF2-40B4-BE49-F238E27FC236}">
                <a16:creationId xmlns:a16="http://schemas.microsoft.com/office/drawing/2014/main" id="{7B307B88-A013-A871-761D-5BAC01F803A2}"/>
              </a:ext>
            </a:extLst>
          </p:cNvPr>
          <p:cNvSpPr>
            <a:spLocks noGrp="1"/>
          </p:cNvSpPr>
          <p:nvPr/>
        </p:nvSpPr>
        <p:spPr>
          <a:xfrm>
            <a:off x="4626864" y="5438417"/>
            <a:ext cx="2011680" cy="246056"/>
          </a:xfrm>
          <a:prstGeom prst="rect">
            <a:avLst/>
          </a:prstGeom>
          <a:solidFill>
            <a:srgbClr val="FFFFFF"/>
          </a:solidFill>
          <a:ln w="9525">
            <a:solidFill>
              <a:srgbClr val="DCE0E8"/>
            </a:solidFill>
          </a:ln>
        </p:spPr>
        <p:txBody>
          <a:bodyPr/>
          <a:lstStyle/>
          <a:p>
            <a:endParaRPr>
              <a:latin typeface="Pretendard"/>
              <a:ea typeface="Pretendard"/>
              <a:cs typeface="Pretendard"/>
            </a:endParaRPr>
          </a:p>
        </p:txBody>
      </p:sp>
      <p:sp>
        <p:nvSpPr>
          <p:cNvPr id="250" name="sgt">
            <a:extLst>
              <a:ext uri="{FF2B5EF4-FFF2-40B4-BE49-F238E27FC236}">
                <a16:creationId xmlns:a16="http://schemas.microsoft.com/office/drawing/2014/main" id="{1398736D-E642-786E-DA04-8ABDDD2ECE93}"/>
              </a:ext>
            </a:extLst>
          </p:cNvPr>
          <p:cNvSpPr>
            <a:spLocks noGrp="1"/>
          </p:cNvSpPr>
          <p:nvPr/>
        </p:nvSpPr>
        <p:spPr>
          <a:xfrm>
            <a:off x="4626864" y="5427203"/>
            <a:ext cx="2011680" cy="246056"/>
          </a:xfrm>
          <a:prstGeom prst="rect">
            <a:avLst/>
          </a:prstGeom>
          <a:noFill/>
        </p:spPr>
        <p:txBody>
          <a:bodyPr wrap="square" lIns="0" tIns="0" rIns="0" bIns="0" anchor="ctr"/>
          <a:lstStyle/>
          <a:p>
            <a:pPr marL="0" indent="0" algn="ctr">
              <a:lnSpc>
                <a:spcPct val="118000"/>
              </a:lnSpc>
              <a:buNone/>
            </a:pPr>
            <a:r>
              <a:rPr sz="1100">
                <a:solidFill>
                  <a:srgbClr val="222633"/>
                </a:solidFill>
                <a:latin typeface="Pretendard"/>
                <a:ea typeface="Pretendard"/>
                <a:cs typeface="Pretendard"/>
              </a:rPr>
              <a:t>검사의 불기소</a:t>
            </a:r>
          </a:p>
        </p:txBody>
      </p:sp>
      <p:sp>
        <p:nvSpPr>
          <p:cNvPr id="251" name="nd">
            <a:extLst>
              <a:ext uri="{FF2B5EF4-FFF2-40B4-BE49-F238E27FC236}">
                <a16:creationId xmlns:a16="http://schemas.microsoft.com/office/drawing/2014/main" id="{831254C3-FD39-721A-232A-892802F24856}"/>
              </a:ext>
            </a:extLst>
          </p:cNvPr>
          <p:cNvSpPr>
            <a:spLocks noGrp="1"/>
          </p:cNvSpPr>
          <p:nvPr/>
        </p:nvSpPr>
        <p:spPr>
          <a:xfrm>
            <a:off x="6931152" y="5438417"/>
            <a:ext cx="2011680" cy="246056"/>
          </a:xfrm>
          <a:prstGeom prst="rect">
            <a:avLst/>
          </a:prstGeom>
          <a:noFill/>
        </p:spPr>
        <p:txBody>
          <a:bodyPr wrap="square" lIns="0" tIns="0" rIns="0" bIns="0" anchor="ctr"/>
          <a:lstStyle/>
          <a:p>
            <a:pPr marL="0" indent="0" algn="ctr">
              <a:lnSpc>
                <a:spcPct val="118000"/>
              </a:lnSpc>
              <a:buNone/>
            </a:pPr>
            <a:r>
              <a:rPr sz="1000" dirty="0" err="1">
                <a:solidFill>
                  <a:srgbClr val="464D5C"/>
                </a:solidFill>
                <a:latin typeface="Pretendard"/>
                <a:ea typeface="Pretendard"/>
                <a:cs typeface="Pretendard"/>
              </a:rPr>
              <a:t>법원</a:t>
            </a:r>
            <a:r>
              <a:rPr sz="1000" dirty="0">
                <a:solidFill>
                  <a:srgbClr val="464D5C"/>
                </a:solidFill>
                <a:latin typeface="Pretendard"/>
                <a:ea typeface="Pretendard"/>
                <a:cs typeface="Pretendard"/>
              </a:rPr>
              <a:t> </a:t>
            </a:r>
            <a:r>
              <a:rPr sz="1000" dirty="0" err="1">
                <a:solidFill>
                  <a:srgbClr val="464D5C"/>
                </a:solidFill>
                <a:latin typeface="Pretendard"/>
                <a:ea typeface="Pretendard"/>
                <a:cs typeface="Pretendard"/>
              </a:rPr>
              <a:t>단계</a:t>
            </a:r>
            <a:r>
              <a:rPr sz="1000" dirty="0">
                <a:solidFill>
                  <a:srgbClr val="464D5C"/>
                </a:solidFill>
                <a:latin typeface="Pretendard"/>
                <a:ea typeface="Pretendard"/>
                <a:cs typeface="Pretendard"/>
              </a:rPr>
              <a:t> </a:t>
            </a:r>
            <a:r>
              <a:rPr sz="1000" dirty="0" err="1">
                <a:solidFill>
                  <a:srgbClr val="464D5C"/>
                </a:solidFill>
                <a:latin typeface="Pretendard"/>
                <a:ea typeface="Pretendard"/>
                <a:cs typeface="Pretendard"/>
              </a:rPr>
              <a:t>없음</a:t>
            </a:r>
            <a:endParaRPr sz="1000" dirty="0">
              <a:solidFill>
                <a:srgbClr val="464D5C"/>
              </a:solidFill>
              <a:latin typeface="Pretendard"/>
              <a:ea typeface="Pretendard"/>
              <a:cs typeface="Pretendard"/>
            </a:endParaRPr>
          </a:p>
        </p:txBody>
      </p:sp>
      <p:sp>
        <p:nvSpPr>
          <p:cNvPr id="252" name="rs">
            <a:extLst>
              <a:ext uri="{FF2B5EF4-FFF2-40B4-BE49-F238E27FC236}">
                <a16:creationId xmlns:a16="http://schemas.microsoft.com/office/drawing/2014/main" id="{1932DC5C-9401-7F99-002F-C55BA84C30A1}"/>
              </a:ext>
            </a:extLst>
          </p:cNvPr>
          <p:cNvSpPr>
            <a:spLocks noGrp="1"/>
          </p:cNvSpPr>
          <p:nvPr/>
        </p:nvSpPr>
        <p:spPr>
          <a:xfrm>
            <a:off x="9235440" y="5438417"/>
            <a:ext cx="2011680" cy="246056"/>
          </a:xfrm>
          <a:prstGeom prst="rect">
            <a:avLst/>
          </a:prstGeom>
          <a:solidFill>
            <a:srgbClr val="FFFFFF"/>
          </a:solidFill>
          <a:ln w="9525">
            <a:solidFill>
              <a:srgbClr val="DCE0E8"/>
            </a:solidFill>
            <a:prstDash val="dash"/>
          </a:ln>
        </p:spPr>
        <p:txBody>
          <a:bodyPr/>
          <a:lstStyle/>
          <a:p>
            <a:endParaRPr>
              <a:latin typeface="Pretendard"/>
              <a:ea typeface="Pretendard"/>
              <a:cs typeface="Pretendard"/>
            </a:endParaRPr>
          </a:p>
        </p:txBody>
      </p:sp>
      <p:sp>
        <p:nvSpPr>
          <p:cNvPr id="253" name="rst">
            <a:extLst>
              <a:ext uri="{FF2B5EF4-FFF2-40B4-BE49-F238E27FC236}">
                <a16:creationId xmlns:a16="http://schemas.microsoft.com/office/drawing/2014/main" id="{F49C8E35-107C-DC8F-6A95-EA2F3C420F91}"/>
              </a:ext>
            </a:extLst>
          </p:cNvPr>
          <p:cNvSpPr>
            <a:spLocks noGrp="1"/>
          </p:cNvSpPr>
          <p:nvPr/>
        </p:nvSpPr>
        <p:spPr>
          <a:xfrm>
            <a:off x="9235440" y="5423199"/>
            <a:ext cx="2011680" cy="246056"/>
          </a:xfrm>
          <a:prstGeom prst="rect">
            <a:avLst/>
          </a:prstGeom>
          <a:noFill/>
        </p:spPr>
        <p:txBody>
          <a:bodyPr wrap="square" lIns="0" tIns="0" rIns="0" bIns="0" anchor="ctr"/>
          <a:lstStyle/>
          <a:p>
            <a:pPr algn="ctr">
              <a:lnSpc>
                <a:spcPct val="118000"/>
              </a:lnSpc>
            </a:pPr>
            <a:r>
              <a:rPr sz="1200" dirty="0" err="1">
                <a:solidFill>
                  <a:srgbClr val="1E2761"/>
                </a:solidFill>
                <a:latin typeface="Pretendard"/>
                <a:ea typeface="Pretendard"/>
                <a:cs typeface="Pretendard"/>
              </a:rPr>
              <a:t>불기소</a:t>
            </a:r>
            <a:endParaRPr sz="1200" dirty="0">
              <a:solidFill>
                <a:srgbClr val="1E2761"/>
              </a:solidFill>
              <a:latin typeface="Pretendard"/>
              <a:ea typeface="Pretendard"/>
              <a:cs typeface="Pretendard"/>
            </a:endParaRPr>
          </a:p>
        </p:txBody>
      </p:sp>
      <p:sp>
        <p:nvSpPr>
          <p:cNvPr id="254" name="ha">
            <a:extLst>
              <a:ext uri="{FF2B5EF4-FFF2-40B4-BE49-F238E27FC236}">
                <a16:creationId xmlns:a16="http://schemas.microsoft.com/office/drawing/2014/main" id="{C9E97143-1493-AA91-1F1C-910C7C3C47CA}"/>
              </a:ext>
            </a:extLst>
          </p:cNvPr>
          <p:cNvSpPr>
            <a:spLocks noGrp="1"/>
          </p:cNvSpPr>
          <p:nvPr/>
        </p:nvSpPr>
        <p:spPr>
          <a:xfrm>
            <a:off x="4341876" y="4235045"/>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55" name="ha">
            <a:extLst>
              <a:ext uri="{FF2B5EF4-FFF2-40B4-BE49-F238E27FC236}">
                <a16:creationId xmlns:a16="http://schemas.microsoft.com/office/drawing/2014/main" id="{3D9DB1FC-C08F-3D5A-2898-1B80FFA8EC19}"/>
              </a:ext>
            </a:extLst>
          </p:cNvPr>
          <p:cNvSpPr>
            <a:spLocks noGrp="1"/>
          </p:cNvSpPr>
          <p:nvPr/>
        </p:nvSpPr>
        <p:spPr>
          <a:xfrm>
            <a:off x="4341876" y="5057798"/>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56" name="ha">
            <a:extLst>
              <a:ext uri="{FF2B5EF4-FFF2-40B4-BE49-F238E27FC236}">
                <a16:creationId xmlns:a16="http://schemas.microsoft.com/office/drawing/2014/main" id="{6F4A48BA-3B7A-8923-77FF-2F8940C4D6E0}"/>
              </a:ext>
            </a:extLst>
          </p:cNvPr>
          <p:cNvSpPr>
            <a:spLocks noGrp="1"/>
          </p:cNvSpPr>
          <p:nvPr/>
        </p:nvSpPr>
        <p:spPr>
          <a:xfrm>
            <a:off x="4341876" y="5561445"/>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57" name="ha">
            <a:extLst>
              <a:ext uri="{FF2B5EF4-FFF2-40B4-BE49-F238E27FC236}">
                <a16:creationId xmlns:a16="http://schemas.microsoft.com/office/drawing/2014/main" id="{2D587007-F809-E018-14E2-87068F606E8A}"/>
              </a:ext>
            </a:extLst>
          </p:cNvPr>
          <p:cNvSpPr>
            <a:spLocks noGrp="1"/>
          </p:cNvSpPr>
          <p:nvPr/>
        </p:nvSpPr>
        <p:spPr>
          <a:xfrm>
            <a:off x="6684264" y="4235045"/>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58" name="ha">
            <a:extLst>
              <a:ext uri="{FF2B5EF4-FFF2-40B4-BE49-F238E27FC236}">
                <a16:creationId xmlns:a16="http://schemas.microsoft.com/office/drawing/2014/main" id="{0F2D62D9-0DD0-8CE6-F60A-FE044FB99165}"/>
              </a:ext>
            </a:extLst>
          </p:cNvPr>
          <p:cNvSpPr>
            <a:spLocks noGrp="1"/>
          </p:cNvSpPr>
          <p:nvPr/>
        </p:nvSpPr>
        <p:spPr>
          <a:xfrm>
            <a:off x="6684264" y="5057798"/>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59" name="ha">
            <a:extLst>
              <a:ext uri="{FF2B5EF4-FFF2-40B4-BE49-F238E27FC236}">
                <a16:creationId xmlns:a16="http://schemas.microsoft.com/office/drawing/2014/main" id="{37B08A5F-0BC6-836E-3CC5-D94EEB5F4CBD}"/>
              </a:ext>
            </a:extLst>
          </p:cNvPr>
          <p:cNvSpPr>
            <a:spLocks noGrp="1"/>
          </p:cNvSpPr>
          <p:nvPr/>
        </p:nvSpPr>
        <p:spPr>
          <a:xfrm>
            <a:off x="6684264" y="5561445"/>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0" name="ha">
            <a:extLst>
              <a:ext uri="{FF2B5EF4-FFF2-40B4-BE49-F238E27FC236}">
                <a16:creationId xmlns:a16="http://schemas.microsoft.com/office/drawing/2014/main" id="{AE97FF98-EDEC-29EB-60E6-E9836C170EF6}"/>
              </a:ext>
            </a:extLst>
          </p:cNvPr>
          <p:cNvSpPr>
            <a:spLocks noGrp="1"/>
          </p:cNvSpPr>
          <p:nvPr/>
        </p:nvSpPr>
        <p:spPr>
          <a:xfrm>
            <a:off x="8988552" y="4085105"/>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1" name="ha">
            <a:extLst>
              <a:ext uri="{FF2B5EF4-FFF2-40B4-BE49-F238E27FC236}">
                <a16:creationId xmlns:a16="http://schemas.microsoft.com/office/drawing/2014/main" id="{599C7DFE-FBC6-A629-FF8C-9B72234B3843}"/>
              </a:ext>
            </a:extLst>
          </p:cNvPr>
          <p:cNvSpPr>
            <a:spLocks noGrp="1"/>
          </p:cNvSpPr>
          <p:nvPr/>
        </p:nvSpPr>
        <p:spPr>
          <a:xfrm>
            <a:off x="8988552" y="4384986"/>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2" name="ha">
            <a:extLst>
              <a:ext uri="{FF2B5EF4-FFF2-40B4-BE49-F238E27FC236}">
                <a16:creationId xmlns:a16="http://schemas.microsoft.com/office/drawing/2014/main" id="{7E4F5D4A-9BD5-C103-970C-91EED148F083}"/>
              </a:ext>
            </a:extLst>
          </p:cNvPr>
          <p:cNvSpPr>
            <a:spLocks noGrp="1"/>
          </p:cNvSpPr>
          <p:nvPr/>
        </p:nvSpPr>
        <p:spPr>
          <a:xfrm>
            <a:off x="8988552" y="4907857"/>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3" name="ha">
            <a:extLst>
              <a:ext uri="{FF2B5EF4-FFF2-40B4-BE49-F238E27FC236}">
                <a16:creationId xmlns:a16="http://schemas.microsoft.com/office/drawing/2014/main" id="{2B6687A8-86A2-2024-B9C1-24824B93AE3D}"/>
              </a:ext>
            </a:extLst>
          </p:cNvPr>
          <p:cNvSpPr>
            <a:spLocks noGrp="1"/>
          </p:cNvSpPr>
          <p:nvPr/>
        </p:nvSpPr>
        <p:spPr>
          <a:xfrm>
            <a:off x="8988552" y="5207738"/>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4" name="ha">
            <a:extLst>
              <a:ext uri="{FF2B5EF4-FFF2-40B4-BE49-F238E27FC236}">
                <a16:creationId xmlns:a16="http://schemas.microsoft.com/office/drawing/2014/main" id="{96B42A46-5442-3F33-1EFD-54F4384D051B}"/>
              </a:ext>
            </a:extLst>
          </p:cNvPr>
          <p:cNvSpPr>
            <a:spLocks noGrp="1"/>
          </p:cNvSpPr>
          <p:nvPr/>
        </p:nvSpPr>
        <p:spPr>
          <a:xfrm>
            <a:off x="8988552" y="5561445"/>
            <a:ext cx="210312"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5" name="va">
            <a:extLst>
              <a:ext uri="{FF2B5EF4-FFF2-40B4-BE49-F238E27FC236}">
                <a16:creationId xmlns:a16="http://schemas.microsoft.com/office/drawing/2014/main" id="{FE3B646E-B105-45FB-DDFF-D272921F1A60}"/>
              </a:ext>
            </a:extLst>
          </p:cNvPr>
          <p:cNvSpPr>
            <a:spLocks noGrp="1"/>
          </p:cNvSpPr>
          <p:nvPr/>
        </p:nvSpPr>
        <p:spPr>
          <a:xfrm>
            <a:off x="7936992" y="4531082"/>
            <a:ext cx="0" cy="230678"/>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266" name="mg">
            <a:extLst>
              <a:ext uri="{FF2B5EF4-FFF2-40B4-BE49-F238E27FC236}">
                <a16:creationId xmlns:a16="http://schemas.microsoft.com/office/drawing/2014/main" id="{7548EC3D-D13C-7190-337E-1B043EC6FD98}"/>
              </a:ext>
            </a:extLst>
          </p:cNvPr>
          <p:cNvSpPr>
            <a:spLocks noGrp="1"/>
          </p:cNvSpPr>
          <p:nvPr/>
        </p:nvSpPr>
        <p:spPr>
          <a:xfrm>
            <a:off x="8028431" y="4539765"/>
            <a:ext cx="582169" cy="276813"/>
          </a:xfrm>
          <a:prstGeom prst="rect">
            <a:avLst/>
          </a:prstGeom>
          <a:noFill/>
        </p:spPr>
        <p:txBody>
          <a:bodyPr wrap="square" lIns="0" tIns="0" rIns="0" bIns="0" anchor="ctr"/>
          <a:lstStyle/>
          <a:p>
            <a:pPr marL="0" indent="0" algn="l">
              <a:lnSpc>
                <a:spcPct val="118000"/>
              </a:lnSpc>
              <a:buNone/>
            </a:pPr>
            <a:r>
              <a:rPr sz="950" dirty="0" err="1">
                <a:solidFill>
                  <a:srgbClr val="464D5C"/>
                </a:solidFill>
                <a:latin typeface="Pretendard"/>
                <a:ea typeface="Pretendard"/>
                <a:cs typeface="Pretendard"/>
              </a:rPr>
              <a:t>소년부</a:t>
            </a:r>
            <a:r>
              <a:rPr sz="950" dirty="0">
                <a:solidFill>
                  <a:srgbClr val="464D5C"/>
                </a:solidFill>
                <a:latin typeface="Pretendard"/>
                <a:ea typeface="Pretendard"/>
                <a:cs typeface="Pretendard"/>
              </a:rPr>
              <a:t> </a:t>
            </a:r>
            <a:r>
              <a:rPr sz="950" dirty="0" err="1">
                <a:solidFill>
                  <a:srgbClr val="464D5C"/>
                </a:solidFill>
                <a:latin typeface="Pretendard"/>
                <a:ea typeface="Pretendard"/>
                <a:cs typeface="Pretendard"/>
              </a:rPr>
              <a:t>송치</a:t>
            </a:r>
            <a:endParaRPr sz="950" dirty="0">
              <a:solidFill>
                <a:srgbClr val="464D5C"/>
              </a:solidFill>
              <a:latin typeface="Pretendard"/>
              <a:ea typeface="Pretendard"/>
              <a:cs typeface="Pretendard"/>
            </a:endParaRPr>
          </a:p>
        </p:txBody>
      </p:sp>
      <p:sp>
        <p:nvSpPr>
          <p:cNvPr id="16" name="line16">
            <a:extLst>
              <a:ext uri="{FF2B5EF4-FFF2-40B4-BE49-F238E27FC236}">
                <a16:creationId xmlns:a16="http://schemas.microsoft.com/office/drawing/2014/main" id="{0CD50EAA-523C-E54A-8DEC-F9C9BDE60FFE}"/>
              </a:ext>
            </a:extLst>
          </p:cNvPr>
          <p:cNvSpPr/>
          <p:nvPr/>
        </p:nvSpPr>
        <p:spPr>
          <a:xfrm>
            <a:off x="731520" y="6144768"/>
            <a:ext cx="10725912" cy="0"/>
          </a:xfrm>
          <a:prstGeom prst="line">
            <a:avLst/>
          </a:prstGeom>
          <a:ln w="19050">
            <a:solidFill>
              <a:srgbClr val="1E2761"/>
            </a:solidFill>
          </a:ln>
        </p:spPr>
        <p:txBody>
          <a:bodyPr/>
          <a:lstStyle/>
          <a:p>
            <a:endParaRPr/>
          </a:p>
        </p:txBody>
      </p:sp>
      <p:sp>
        <p:nvSpPr>
          <p:cNvPr id="17" name="foot">
            <a:extLst>
              <a:ext uri="{FF2B5EF4-FFF2-40B4-BE49-F238E27FC236}">
                <a16:creationId xmlns:a16="http://schemas.microsoft.com/office/drawing/2014/main" id="{B19C5597-B1F1-1D2D-54B2-69E069608F89}"/>
              </a:ext>
            </a:extLst>
          </p:cNvPr>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소년법 제4조·제49조·제50조 · 대표 경로이며, 보호자 등의 통고·10세 미만의 아동보호는 별도 요건에 따른다</a:t>
            </a:r>
          </a:p>
        </p:txBody>
      </p:sp>
      <p:sp>
        <p:nvSpPr>
          <p:cNvPr id="2" name="ha">
            <a:extLst>
              <a:ext uri="{FF2B5EF4-FFF2-40B4-BE49-F238E27FC236}">
                <a16:creationId xmlns:a16="http://schemas.microsoft.com/office/drawing/2014/main" id="{4350C199-BEFD-F151-195F-3B067C9A1403}"/>
              </a:ext>
            </a:extLst>
          </p:cNvPr>
          <p:cNvSpPr>
            <a:spLocks noGrp="1"/>
          </p:cNvSpPr>
          <p:nvPr/>
        </p:nvSpPr>
        <p:spPr>
          <a:xfrm>
            <a:off x="4334256" y="5910695"/>
            <a:ext cx="4864608" cy="0"/>
          </a:xfrm>
          <a:prstGeom prst="line">
            <a:avLst/>
          </a:prstGeom>
          <a:ln w="19050">
            <a:solidFill>
              <a:srgbClr val="464D5C"/>
            </a:solidFill>
            <a:tailEnd type="triangle" w="sm" len="sm"/>
          </a:ln>
        </p:spPr>
        <p:txBody>
          <a:bodyPr/>
          <a:lstStyle/>
          <a:p>
            <a:endParaRPr>
              <a:latin typeface="Pretendard"/>
              <a:ea typeface="Pretendard"/>
              <a:cs typeface="Pretendard"/>
            </a:endParaRPr>
          </a:p>
        </p:txBody>
      </p:sp>
      <p:sp>
        <p:nvSpPr>
          <p:cNvPr id="4" name="rs">
            <a:extLst>
              <a:ext uri="{FF2B5EF4-FFF2-40B4-BE49-F238E27FC236}">
                <a16:creationId xmlns:a16="http://schemas.microsoft.com/office/drawing/2014/main" id="{B2049AFC-3D21-BF60-57E4-7E2EC2D120B5}"/>
              </a:ext>
            </a:extLst>
          </p:cNvPr>
          <p:cNvSpPr>
            <a:spLocks noGrp="1"/>
          </p:cNvSpPr>
          <p:nvPr/>
        </p:nvSpPr>
        <p:spPr>
          <a:xfrm>
            <a:off x="9235440" y="5770129"/>
            <a:ext cx="2011680" cy="246056"/>
          </a:xfrm>
          <a:prstGeom prst="rect">
            <a:avLst/>
          </a:prstGeom>
          <a:solidFill>
            <a:srgbClr val="FFFFFF"/>
          </a:solidFill>
          <a:ln w="9525">
            <a:solidFill>
              <a:srgbClr val="DCE0E8"/>
            </a:solidFill>
            <a:prstDash val="dash"/>
          </a:ln>
        </p:spPr>
        <p:txBody>
          <a:bodyPr/>
          <a:lstStyle/>
          <a:p>
            <a:endParaRPr>
              <a:latin typeface="Pretendard"/>
              <a:ea typeface="Pretendard"/>
              <a:cs typeface="Pretendard"/>
            </a:endParaRPr>
          </a:p>
        </p:txBody>
      </p:sp>
      <p:sp>
        <p:nvSpPr>
          <p:cNvPr id="6" name="rst">
            <a:extLst>
              <a:ext uri="{FF2B5EF4-FFF2-40B4-BE49-F238E27FC236}">
                <a16:creationId xmlns:a16="http://schemas.microsoft.com/office/drawing/2014/main" id="{A173D7C0-B2AD-5E9E-A168-20A74326142E}"/>
              </a:ext>
            </a:extLst>
          </p:cNvPr>
          <p:cNvSpPr>
            <a:spLocks noGrp="1"/>
          </p:cNvSpPr>
          <p:nvPr/>
        </p:nvSpPr>
        <p:spPr>
          <a:xfrm>
            <a:off x="9236964" y="5752336"/>
            <a:ext cx="2011680" cy="246056"/>
          </a:xfrm>
          <a:prstGeom prst="rect">
            <a:avLst/>
          </a:prstGeom>
          <a:noFill/>
        </p:spPr>
        <p:txBody>
          <a:bodyPr wrap="square" lIns="0" tIns="0" rIns="0" bIns="0" anchor="ctr"/>
          <a:lstStyle/>
          <a:p>
            <a:pPr algn="ctr">
              <a:lnSpc>
                <a:spcPct val="118000"/>
              </a:lnSpc>
            </a:pPr>
            <a:r>
              <a:rPr sz="1200" dirty="0">
                <a:solidFill>
                  <a:srgbClr val="1E2761"/>
                </a:solidFill>
                <a:latin typeface="Pretendard"/>
                <a:ea typeface="Pretendard"/>
                <a:cs typeface="Pretendard"/>
              </a:rPr>
              <a:t>불</a:t>
            </a:r>
            <a:r>
              <a:rPr lang="ko-KR" altLang="en-US" sz="1200" dirty="0">
                <a:solidFill>
                  <a:srgbClr val="1E2761"/>
                </a:solidFill>
                <a:latin typeface="Pretendard"/>
                <a:ea typeface="Pretendard"/>
                <a:cs typeface="Pretendard"/>
              </a:rPr>
              <a:t>송치</a:t>
            </a:r>
            <a:endParaRPr sz="1200" dirty="0">
              <a:solidFill>
                <a:srgbClr val="1E2761"/>
              </a:solidFill>
              <a:latin typeface="Pretendard"/>
              <a:ea typeface="Pretendard"/>
              <a:cs typeface="Pretendard"/>
            </a:endParaRPr>
          </a:p>
        </p:txBody>
      </p:sp>
      <p:sp>
        <p:nvSpPr>
          <p:cNvPr id="8" name="mg">
            <a:extLst>
              <a:ext uri="{FF2B5EF4-FFF2-40B4-BE49-F238E27FC236}">
                <a16:creationId xmlns:a16="http://schemas.microsoft.com/office/drawing/2014/main" id="{BCFF141F-F934-67B8-9F32-3D568DCAEFB0}"/>
              </a:ext>
            </a:extLst>
          </p:cNvPr>
          <p:cNvSpPr>
            <a:spLocks noGrp="1"/>
          </p:cNvSpPr>
          <p:nvPr/>
        </p:nvSpPr>
        <p:spPr>
          <a:xfrm>
            <a:off x="3592576" y="4899890"/>
            <a:ext cx="713232" cy="276813"/>
          </a:xfrm>
          <a:prstGeom prst="rect">
            <a:avLst/>
          </a:prstGeom>
          <a:noFill/>
        </p:spPr>
        <p:txBody>
          <a:bodyPr wrap="square" lIns="0" tIns="0" rIns="0" bIns="0" anchor="ctr"/>
          <a:lstStyle/>
          <a:p>
            <a:pPr marL="0" indent="0" algn="ctr">
              <a:lnSpc>
                <a:spcPct val="118000"/>
              </a:lnSpc>
              <a:buNone/>
            </a:pPr>
            <a:r>
              <a:rPr lang="ko-KR" altLang="en-US" sz="950" dirty="0">
                <a:solidFill>
                  <a:srgbClr val="464D5C"/>
                </a:solidFill>
                <a:latin typeface="Pretendard"/>
                <a:ea typeface="Pretendard"/>
                <a:cs typeface="Pretendard"/>
              </a:rPr>
              <a:t>검찰</a:t>
            </a:r>
            <a:r>
              <a:rPr sz="950" dirty="0">
                <a:solidFill>
                  <a:srgbClr val="464D5C"/>
                </a:solidFill>
                <a:latin typeface="Pretendard"/>
                <a:ea typeface="Pretendard"/>
                <a:cs typeface="Pretendard"/>
              </a:rPr>
              <a:t> </a:t>
            </a:r>
            <a:r>
              <a:rPr sz="950" dirty="0" err="1">
                <a:solidFill>
                  <a:srgbClr val="464D5C"/>
                </a:solidFill>
                <a:latin typeface="Pretendard"/>
                <a:ea typeface="Pretendard"/>
                <a:cs typeface="Pretendard"/>
              </a:rPr>
              <a:t>송치</a:t>
            </a:r>
            <a:endParaRPr sz="950" dirty="0">
              <a:solidFill>
                <a:srgbClr val="464D5C"/>
              </a:solidFill>
              <a:latin typeface="Pretendard"/>
              <a:ea typeface="Pretendard"/>
              <a:cs typeface="Pretendard"/>
            </a:endParaRPr>
          </a:p>
        </p:txBody>
      </p:sp>
      <p:sp>
        <p:nvSpPr>
          <p:cNvPr id="9" name="mg">
            <a:extLst>
              <a:ext uri="{FF2B5EF4-FFF2-40B4-BE49-F238E27FC236}">
                <a16:creationId xmlns:a16="http://schemas.microsoft.com/office/drawing/2014/main" id="{04D897E6-F7F8-0A05-88AD-AA0375260622}"/>
              </a:ext>
            </a:extLst>
          </p:cNvPr>
          <p:cNvSpPr>
            <a:spLocks noGrp="1"/>
          </p:cNvSpPr>
          <p:nvPr/>
        </p:nvSpPr>
        <p:spPr>
          <a:xfrm>
            <a:off x="3676141" y="5756462"/>
            <a:ext cx="582169" cy="276813"/>
          </a:xfrm>
          <a:prstGeom prst="rect">
            <a:avLst/>
          </a:prstGeom>
          <a:noFill/>
        </p:spPr>
        <p:txBody>
          <a:bodyPr wrap="square" lIns="0" tIns="0" rIns="0" bIns="0" anchor="ctr"/>
          <a:lstStyle/>
          <a:p>
            <a:pPr marL="0" indent="0" algn="l">
              <a:lnSpc>
                <a:spcPct val="118000"/>
              </a:lnSpc>
              <a:buNone/>
            </a:pPr>
            <a:r>
              <a:rPr lang="ko-KR" altLang="en-US" sz="950" dirty="0" err="1">
                <a:solidFill>
                  <a:srgbClr val="464D5C"/>
                </a:solidFill>
                <a:latin typeface="Pretendard"/>
                <a:ea typeface="Pretendard"/>
                <a:cs typeface="Pretendard"/>
              </a:rPr>
              <a:t>불송치</a:t>
            </a:r>
            <a:r>
              <a:rPr lang="ko-KR" altLang="en-US" sz="950" b="1" dirty="0">
                <a:solidFill>
                  <a:srgbClr val="464D5C"/>
                </a:solidFill>
                <a:latin typeface="Pretendard"/>
                <a:ea typeface="Pretendard"/>
                <a:cs typeface="Pretendard"/>
              </a:rPr>
              <a:t> </a:t>
            </a:r>
            <a:r>
              <a:rPr lang="ko-KR" altLang="en-US" sz="950" dirty="0">
                <a:solidFill>
                  <a:srgbClr val="464D5C"/>
                </a:solidFill>
                <a:latin typeface="Pretendard"/>
                <a:ea typeface="Pretendard"/>
                <a:cs typeface="Pretendard"/>
              </a:rPr>
              <a:t>결정</a:t>
            </a:r>
            <a:endParaRPr sz="950" dirty="0">
              <a:solidFill>
                <a:srgbClr val="464D5C"/>
              </a:solidFill>
              <a:latin typeface="Pretendard"/>
              <a:ea typeface="Pretendard"/>
              <a:cs typeface="Pretendard"/>
            </a:endParaRPr>
          </a:p>
        </p:txBody>
      </p:sp>
      <p:cxnSp>
        <p:nvCxnSpPr>
          <p:cNvPr id="19" name="직선 연결선 18">
            <a:extLst>
              <a:ext uri="{FF2B5EF4-FFF2-40B4-BE49-F238E27FC236}">
                <a16:creationId xmlns:a16="http://schemas.microsoft.com/office/drawing/2014/main" id="{57FD1EA3-8A2B-4C0B-267A-6146ABA08BA8}"/>
              </a:ext>
            </a:extLst>
          </p:cNvPr>
          <p:cNvCxnSpPr>
            <a:cxnSpLocks/>
            <a:stCxn id="254" idx="0"/>
            <a:endCxn id="256" idx="0"/>
          </p:cNvCxnSpPr>
          <p:nvPr/>
        </p:nvCxnSpPr>
        <p:spPr>
          <a:xfrm>
            <a:off x="4341876" y="4235045"/>
            <a:ext cx="0" cy="1326400"/>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3765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dirty="0" err="1">
                <a:solidFill>
                  <a:srgbClr val="464D5C"/>
                </a:solidFill>
                <a:latin typeface="Pretendard"/>
              </a:rPr>
              <a:t>응보·예방·보호와</a:t>
            </a:r>
            <a:r>
              <a:rPr sz="1250" b="1" dirty="0">
                <a:solidFill>
                  <a:srgbClr val="464D5C"/>
                </a:solidFill>
                <a:latin typeface="Pretendard"/>
              </a:rPr>
              <a:t> </a:t>
            </a:r>
            <a:r>
              <a:rPr sz="1250" b="1" dirty="0" err="1">
                <a:solidFill>
                  <a:srgbClr val="464D5C"/>
                </a:solidFill>
                <a:latin typeface="Pretendard"/>
              </a:rPr>
              <a:t>현행제도의</a:t>
            </a:r>
            <a:r>
              <a:rPr sz="1250" b="1" dirty="0">
                <a:solidFill>
                  <a:srgbClr val="464D5C"/>
                </a:solidFill>
                <a:latin typeface="Pretendard"/>
              </a:rPr>
              <a:t> </a:t>
            </a:r>
            <a:r>
              <a:rPr sz="1250" b="1" dirty="0" err="1">
                <a:solidFill>
                  <a:srgbClr val="464D5C"/>
                </a:solidFill>
                <a:latin typeface="Pretendard"/>
              </a:rPr>
              <a:t>한계</a:t>
            </a:r>
            <a:endParaRPr sz="1250" b="1" dirty="0">
              <a:solidFill>
                <a:srgbClr val="464D5C"/>
              </a:solidFill>
              <a:latin typeface="Pretendard"/>
            </a:endParaRP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보호처분 판단에 대한 전문가 의견</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nSpc>
                <a:spcPct val="118000"/>
              </a:lnSpc>
            </a:pPr>
            <a:r>
              <a:rPr lang="ko-KR" altLang="en-US" sz="2500" b="1" dirty="0" err="1">
                <a:solidFill>
                  <a:srgbClr val="1E2761"/>
                </a:solidFill>
                <a:latin typeface="Pretendard"/>
                <a:ea typeface="Pretendard"/>
                <a:cs typeface="Pretendard"/>
              </a:rPr>
              <a:t>촉법소년</a:t>
            </a:r>
            <a:r>
              <a:rPr lang="ko-KR" altLang="en-US" sz="2500" b="1" dirty="0">
                <a:solidFill>
                  <a:srgbClr val="1E2761"/>
                </a:solidFill>
                <a:latin typeface="Pretendard"/>
                <a:ea typeface="Pretendard"/>
                <a:cs typeface="Pretendard"/>
              </a:rPr>
              <a:t> 조사 시</a:t>
            </a:r>
            <a:r>
              <a:rPr lang="en-US" altLang="ko-KR" sz="2500" b="1" dirty="0">
                <a:solidFill>
                  <a:srgbClr val="1E2761"/>
                </a:solidFill>
                <a:latin typeface="Pretendard"/>
                <a:ea typeface="Pretendard"/>
                <a:cs typeface="Pretendard"/>
              </a:rPr>
              <a:t> </a:t>
            </a:r>
            <a:r>
              <a:rPr lang="ko-KR" altLang="en-US" sz="2500" b="1" dirty="0">
                <a:solidFill>
                  <a:srgbClr val="1E2761"/>
                </a:solidFill>
                <a:latin typeface="Pretendard"/>
                <a:ea typeface="Pretendard"/>
                <a:cs typeface="Pretendard"/>
              </a:rPr>
              <a:t>소년부 송치 전의 법적 공백</a:t>
            </a:r>
            <a:endParaRPr lang="ko-KR" sz="2500" b="1" dirty="0">
              <a:solidFill>
                <a:srgbClr val="1E2761"/>
              </a:solidFill>
              <a:latin typeface="Pretendard"/>
              <a:ea typeface="Pretendard"/>
              <a:cs typeface="Pretendard"/>
            </a:endParaRP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nSpc>
                <a:spcPct val="150000"/>
              </a:lnSpc>
            </a:pPr>
            <a:r>
              <a:rPr lang="ko-KR" altLang="en-US" sz="1300" b="1" dirty="0" err="1">
                <a:solidFill>
                  <a:srgbClr val="1E2761"/>
                </a:solidFill>
                <a:latin typeface="Pretendard" panose="02000503000000020004" pitchFamily="2" charset="-127"/>
                <a:ea typeface="Pretendard" panose="02000503000000020004" pitchFamily="2" charset="-127"/>
                <a:cs typeface="Pretendard" panose="02000503000000020004" pitchFamily="2" charset="-127"/>
              </a:rPr>
              <a:t>촉법소년</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 사건도 소년부 송치 전 경찰이 조사하지만</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이 단계에서의 경찰의 조사권한과 절차는 법령에 충분히 규정되어 있지 않다</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a:t>
            </a:r>
          </a:p>
          <a:p>
            <a:pPr>
              <a:lnSpc>
                <a:spcPct val="150000"/>
              </a:lnSpc>
            </a:pPr>
            <a:r>
              <a:rPr lang="ko-KR" altLang="en-US" sz="1200" dirty="0" err="1">
                <a:solidFill>
                  <a:schemeClr val="tx1">
                    <a:lumMod val="65000"/>
                    <a:lumOff val="35000"/>
                  </a:schemeClr>
                </a:solidFill>
                <a:latin typeface="Pretendard" panose="02000503000000020004" pitchFamily="2" charset="-127"/>
                <a:ea typeface="Pretendard" panose="02000503000000020004" pitchFamily="2" charset="-127"/>
                <a:cs typeface="Pretendard" panose="02000503000000020004" pitchFamily="2" charset="-127"/>
              </a:rPr>
              <a:t>ㅡ</a:t>
            </a:r>
            <a:r>
              <a:rPr lang="ko-KR" altLang="en-US" sz="1200" dirty="0">
                <a:solidFill>
                  <a:schemeClr val="tx1">
                    <a:lumMod val="65000"/>
                    <a:lumOff val="35000"/>
                  </a:schemeClr>
                </a:solidFill>
                <a:latin typeface="Pretendard" panose="02000503000000020004" pitchFamily="2" charset="-127"/>
                <a:ea typeface="Pretendard" panose="02000503000000020004" pitchFamily="2" charset="-127"/>
                <a:cs typeface="Pretendard" panose="02000503000000020004" pitchFamily="2" charset="-127"/>
              </a:rPr>
              <a:t> 다만</a:t>
            </a:r>
            <a:r>
              <a:rPr lang="en-US" altLang="ko-KR" sz="1200" dirty="0">
                <a:solidFill>
                  <a:schemeClr val="tx1">
                    <a:lumMod val="65000"/>
                    <a:lumOff val="35000"/>
                  </a:schemeClr>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00" dirty="0">
                <a:solidFill>
                  <a:schemeClr val="tx1">
                    <a:lumMod val="65000"/>
                    <a:lumOff val="35000"/>
                  </a:schemeClr>
                </a:solidFill>
                <a:latin typeface="Pretendard" panose="02000503000000020004" pitchFamily="2" charset="-127"/>
                <a:ea typeface="Pretendard" panose="02000503000000020004" pitchFamily="2" charset="-127"/>
                <a:cs typeface="Pretendard" panose="02000503000000020004" pitchFamily="2" charset="-127"/>
              </a:rPr>
              <a:t>특정 성범죄는 </a:t>
            </a:r>
            <a:r>
              <a:rPr lang="ko-KR" altLang="ko-KR" sz="1200" dirty="0">
                <a:solidFill>
                  <a:schemeClr val="tx1">
                    <a:lumMod val="65000"/>
                    <a:lumOff val="35000"/>
                  </a:schemeClr>
                </a:solidFill>
                <a:latin typeface="Pretendard" panose="02000503000000020004" pitchFamily="2" charset="-127"/>
                <a:ea typeface="Pretendard" panose="02000503000000020004" pitchFamily="2" charset="-127"/>
                <a:cs typeface="Pretendard" panose="02000503000000020004" pitchFamily="2" charset="-127"/>
              </a:rPr>
              <a:t>「</a:t>
            </a:r>
            <a:r>
              <a:rPr lang="ko-KR" altLang="ko-KR" sz="1200" dirty="0" err="1">
                <a:solidFill>
                  <a:schemeClr val="tx1">
                    <a:lumMod val="65000"/>
                    <a:lumOff val="35000"/>
                  </a:schemeClr>
                </a:solidFill>
                <a:latin typeface="Pretendard" panose="02000503000000020004" pitchFamily="2" charset="-127"/>
                <a:ea typeface="Pretendard" panose="02000503000000020004" pitchFamily="2" charset="-127"/>
                <a:cs typeface="Pretendard" panose="02000503000000020004" pitchFamily="2" charset="-127"/>
              </a:rPr>
              <a:t>아동·청소년의</a:t>
            </a:r>
            <a:r>
              <a:rPr lang="ko-KR" altLang="ko-KR" sz="1200" dirty="0">
                <a:solidFill>
                  <a:schemeClr val="tx1">
                    <a:lumMod val="65000"/>
                    <a:lumOff val="35000"/>
                  </a:schemeClr>
                </a:solidFill>
                <a:latin typeface="Pretendard" panose="02000503000000020004" pitchFamily="2" charset="-127"/>
                <a:ea typeface="Pretendard" panose="02000503000000020004" pitchFamily="2" charset="-127"/>
                <a:cs typeface="Pretendard" panose="02000503000000020004" pitchFamily="2" charset="-127"/>
              </a:rPr>
              <a:t> 성보호에 관한 법률」 제44조 제1항</a:t>
            </a:r>
            <a:r>
              <a:rPr lang="ko-KR" altLang="en-US" sz="1200" dirty="0">
                <a:solidFill>
                  <a:schemeClr val="tx1">
                    <a:lumMod val="65000"/>
                    <a:lumOff val="35000"/>
                  </a:schemeClr>
                </a:solidFill>
                <a:latin typeface="Pretendard" panose="02000503000000020004" pitchFamily="2" charset="-127"/>
                <a:ea typeface="Pretendard" panose="02000503000000020004" pitchFamily="2" charset="-127"/>
                <a:cs typeface="Pretendard" panose="02000503000000020004" pitchFamily="2" charset="-127"/>
              </a:rPr>
              <a:t>에서 </a:t>
            </a:r>
            <a:r>
              <a:rPr lang="ko-KR" altLang="ko-KR" sz="1200" dirty="0">
                <a:solidFill>
                  <a:schemeClr val="tx1">
                    <a:lumMod val="65000"/>
                    <a:lumOff val="35000"/>
                  </a:schemeClr>
                </a:solidFill>
                <a:latin typeface="Pretendard" panose="02000503000000020004" pitchFamily="2" charset="-127"/>
                <a:ea typeface="Pretendard" panose="02000503000000020004" pitchFamily="2" charset="-127"/>
                <a:cs typeface="Pretendard" panose="02000503000000020004" pitchFamily="2" charset="-127"/>
              </a:rPr>
              <a:t>10~13세</a:t>
            </a:r>
            <a:r>
              <a:rPr lang="ko-KR" altLang="en-US" sz="1200" dirty="0">
                <a:solidFill>
                  <a:schemeClr val="tx1">
                    <a:lumMod val="65000"/>
                    <a:lumOff val="35000"/>
                  </a:schemeClr>
                </a:solidFill>
                <a:latin typeface="Pretendard" panose="02000503000000020004" pitchFamily="2" charset="-127"/>
                <a:ea typeface="Pretendard" panose="02000503000000020004" pitchFamily="2" charset="-127"/>
                <a:cs typeface="Pretendard" panose="02000503000000020004" pitchFamily="2" charset="-127"/>
              </a:rPr>
              <a:t>의 소년</a:t>
            </a:r>
            <a:r>
              <a:rPr lang="ko-KR" altLang="ko-KR" sz="1200" dirty="0">
                <a:solidFill>
                  <a:schemeClr val="tx1">
                    <a:lumMod val="65000"/>
                    <a:lumOff val="35000"/>
                  </a:schemeClr>
                </a:solidFill>
                <a:latin typeface="Pretendard" panose="02000503000000020004" pitchFamily="2" charset="-127"/>
                <a:ea typeface="Pretendard" panose="02000503000000020004" pitchFamily="2" charset="-127"/>
                <a:cs typeface="Pretendard" panose="02000503000000020004" pitchFamily="2" charset="-127"/>
              </a:rPr>
              <a:t>에 대해 수사기관이 신속히 수사하여 소년부에 송치하도록 명문으로 규정</a:t>
            </a:r>
            <a:endParaRPr lang="ko-KR" sz="1200" dirty="0">
              <a:solidFill>
                <a:schemeClr val="tx1">
                  <a:lumMod val="65000"/>
                  <a:lumOff val="35000"/>
                </a:schemeClr>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731520" y="2359406"/>
            <a:ext cx="2240280" cy="594360"/>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현재 실제로 하는 것</a:t>
            </a:r>
          </a:p>
        </p:txBody>
      </p:sp>
      <p:sp>
        <p:nvSpPr>
          <p:cNvPr id="17" name="b0"/>
          <p:cNvSpPr txBox="1"/>
          <p:nvPr/>
        </p:nvSpPr>
        <p:spPr>
          <a:xfrm>
            <a:off x="3154680" y="2359406"/>
            <a:ext cx="8302752" cy="594360"/>
          </a:xfrm>
          <a:prstGeom prst="rect">
            <a:avLst/>
          </a:prstGeom>
          <a:noFill/>
        </p:spPr>
        <p:txBody>
          <a:bodyPr wrap="square" lIns="0" tIns="27432" rIns="0" bIns="27432" anchor="ctr">
            <a:noAutofit/>
          </a:bodyPr>
          <a:lstStyle/>
          <a:p>
            <a:pPr>
              <a:lnSpc>
                <a:spcPct val="125000"/>
              </a:lnSpc>
            </a:pP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경찰은 </a:t>
            </a:r>
            <a:r>
              <a:rPr lang="ko-KR" altLang="en-US"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촉법행위의</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내용</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피해</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관련자 등을 조사한 뒤 소년부에 송치한다</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endPar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18" name="line18"/>
          <p:cNvSpPr/>
          <p:nvPr/>
        </p:nvSpPr>
        <p:spPr>
          <a:xfrm>
            <a:off x="731520" y="3068065"/>
            <a:ext cx="10725912" cy="0"/>
          </a:xfrm>
          <a:prstGeom prst="line">
            <a:avLst/>
          </a:prstGeom>
          <a:ln w="9525">
            <a:solidFill>
              <a:srgbClr val="DCE0E8"/>
            </a:solidFill>
          </a:ln>
        </p:spPr>
        <p:txBody>
          <a:bodyPr/>
          <a:lstStyle/>
          <a:p>
            <a:endParaRPr/>
          </a:p>
        </p:txBody>
      </p:sp>
      <p:sp>
        <p:nvSpPr>
          <p:cNvPr id="19" name="h1"/>
          <p:cNvSpPr txBox="1"/>
          <p:nvPr/>
        </p:nvSpPr>
        <p:spPr>
          <a:xfrm>
            <a:off x="731520" y="3306572"/>
            <a:ext cx="2240280" cy="370332"/>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왜 문제가 되는가</a:t>
            </a:r>
          </a:p>
        </p:txBody>
      </p:sp>
      <p:sp>
        <p:nvSpPr>
          <p:cNvPr id="20" name="b1"/>
          <p:cNvSpPr txBox="1"/>
          <p:nvPr/>
        </p:nvSpPr>
        <p:spPr>
          <a:xfrm>
            <a:off x="3151378" y="3106165"/>
            <a:ext cx="8302752" cy="764794"/>
          </a:xfrm>
          <a:prstGeom prst="rect">
            <a:avLst/>
          </a:prstGeom>
          <a:noFill/>
        </p:spPr>
        <p:txBody>
          <a:bodyPr wrap="square" lIns="0" tIns="27432" rIns="0" bIns="27432" anchor="ctr">
            <a:noAutofit/>
          </a:bodyPr>
          <a:lstStyle/>
          <a:p>
            <a:pPr>
              <a:lnSpc>
                <a:spcPct val="118000"/>
              </a:lnSpc>
            </a:pP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소년법의 </a:t>
            </a:r>
            <a:r>
              <a:rPr lang="ko-KR" altLang="en-US" sz="1250" b="1" dirty="0">
                <a:solidFill>
                  <a:srgbClr val="222633"/>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동행영장</a:t>
            </a:r>
            <a:r>
              <a:rPr lang="en-US" altLang="ko-KR" sz="1250" b="1" dirty="0">
                <a:solidFill>
                  <a:srgbClr val="222633"/>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222633"/>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압수</a:t>
            </a:r>
            <a:r>
              <a:rPr lang="en-US" altLang="ko-KR" sz="1250" b="1" dirty="0">
                <a:solidFill>
                  <a:srgbClr val="222633"/>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222633"/>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수색 등 명확한 권한은 주로 소년부 송치 후 판사에게 규정</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되어 있다</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p>
          <a:p>
            <a:pPr>
              <a:lnSpc>
                <a:spcPct val="118000"/>
              </a:lnSpc>
            </a:pP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따라서</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rgbClr val="222633"/>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송치 전 소년에 대한 경찰조사는 일반 형사수사와 달리 강제적 증거확보에 제약이 있다</a:t>
            </a:r>
            <a:r>
              <a:rPr lang="en-US" altLang="ko-KR" sz="1250" b="1" dirty="0">
                <a:solidFill>
                  <a:srgbClr val="222633"/>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a:t>
            </a:r>
          </a:p>
        </p:txBody>
      </p:sp>
      <p:sp>
        <p:nvSpPr>
          <p:cNvPr id="21" name="line21"/>
          <p:cNvSpPr/>
          <p:nvPr/>
        </p:nvSpPr>
        <p:spPr>
          <a:xfrm>
            <a:off x="731520" y="3914648"/>
            <a:ext cx="10725912" cy="0"/>
          </a:xfrm>
          <a:prstGeom prst="line">
            <a:avLst/>
          </a:prstGeom>
          <a:ln w="9525">
            <a:solidFill>
              <a:srgbClr val="DCE0E8"/>
            </a:solidFill>
          </a:ln>
        </p:spPr>
        <p:txBody>
          <a:bodyPr/>
          <a:lstStyle/>
          <a:p>
            <a:endParaRPr/>
          </a:p>
        </p:txBody>
      </p:sp>
      <p:sp>
        <p:nvSpPr>
          <p:cNvPr id="22" name="h2"/>
          <p:cNvSpPr txBox="1"/>
          <p:nvPr/>
        </p:nvSpPr>
        <p:spPr>
          <a:xfrm>
            <a:off x="728218" y="4887469"/>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제안</a:t>
            </a:r>
            <a:r>
              <a:rPr lang="ko-KR" altLang="en-US" sz="1300" b="1" dirty="0">
                <a:solidFill>
                  <a:srgbClr val="1E2761"/>
                </a:solidFill>
                <a:latin typeface="Pretendard"/>
                <a:ea typeface="Pretendard"/>
                <a:cs typeface="Pretendard"/>
              </a:rPr>
              <a:t>되는 보완</a:t>
            </a:r>
            <a:endParaRPr lang="ko-KR" sz="1300" b="1" dirty="0">
              <a:solidFill>
                <a:srgbClr val="1E2761"/>
              </a:solidFill>
              <a:latin typeface="Pretendard"/>
              <a:ea typeface="Pretendard"/>
              <a:cs typeface="Pretendard"/>
            </a:endParaRPr>
          </a:p>
        </p:txBody>
      </p:sp>
      <p:sp>
        <p:nvSpPr>
          <p:cNvPr id="23" name="b2"/>
          <p:cNvSpPr txBox="1"/>
          <p:nvPr/>
        </p:nvSpPr>
        <p:spPr>
          <a:xfrm>
            <a:off x="3151378" y="4887469"/>
            <a:ext cx="8302752" cy="370332"/>
          </a:xfrm>
          <a:prstGeom prst="rect">
            <a:avLst/>
          </a:prstGeom>
          <a:noFill/>
        </p:spPr>
        <p:txBody>
          <a:bodyPr wrap="square" lIns="0" tIns="27432" rIns="0" bIns="27432" anchor="ctr">
            <a:noAutofit/>
          </a:bodyPr>
          <a:lstStyle/>
          <a:p>
            <a:pPr>
              <a:lnSpc>
                <a:spcPct val="118000"/>
              </a:lnSpc>
            </a:pP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경찰 단계 조사의 법적 근거</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범위</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방법을 명확히 하고</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그와 함께 어린 소년의 고지</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조력</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진술</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기록에 관한 절차보장도 정한다</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endPar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24" name="line24"/>
          <p:cNvSpPr/>
          <p:nvPr/>
        </p:nvSpPr>
        <p:spPr>
          <a:xfrm>
            <a:off x="731520" y="4672330"/>
            <a:ext cx="10725912" cy="0"/>
          </a:xfrm>
          <a:prstGeom prst="line">
            <a:avLst/>
          </a:prstGeom>
          <a:ln w="9525">
            <a:solidFill>
              <a:srgbClr val="DCE0E8"/>
            </a:solidFill>
          </a:ln>
        </p:spPr>
        <p:txBody>
          <a:bodyPr/>
          <a:lstStyle/>
          <a:p>
            <a:endParaRPr/>
          </a:p>
        </p:txBody>
      </p:sp>
      <p:sp>
        <p:nvSpPr>
          <p:cNvPr id="25" name="h3"/>
          <p:cNvSpPr txBox="1"/>
          <p:nvPr/>
        </p:nvSpPr>
        <p:spPr>
          <a:xfrm>
            <a:off x="728218" y="4086987"/>
            <a:ext cx="2240280" cy="370332"/>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주요 사례 및 대상</a:t>
            </a:r>
            <a:endParaRPr lang="ko-KR" sz="1300" b="1" dirty="0">
              <a:solidFill>
                <a:srgbClr val="1E2761"/>
              </a:solidFill>
              <a:latin typeface="Pretendard"/>
              <a:ea typeface="Pretendard"/>
              <a:cs typeface="Pretendard"/>
            </a:endParaRPr>
          </a:p>
        </p:txBody>
      </p:sp>
      <p:sp>
        <p:nvSpPr>
          <p:cNvPr id="26" name="b3"/>
          <p:cNvSpPr txBox="1"/>
          <p:nvPr/>
        </p:nvSpPr>
        <p:spPr>
          <a:xfrm>
            <a:off x="3151378" y="4086987"/>
            <a:ext cx="8302752" cy="370332"/>
          </a:xfrm>
          <a:prstGeom prst="rect">
            <a:avLst/>
          </a:prstGeom>
          <a:noFill/>
        </p:spPr>
        <p:txBody>
          <a:bodyPr wrap="square" lIns="0" tIns="27432" rIns="0" bIns="27432" anchor="ctr">
            <a:noAutofit/>
          </a:bodyPr>
          <a:lstStyle/>
          <a:p>
            <a:pPr>
              <a:lnSpc>
                <a:spcPct val="118000"/>
              </a:lnSpc>
            </a:pP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복잡한 사실관계가 얽힌 사건이나 휴대전화</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계정</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전달경로 확인이 필요한 디지털 사건에서는 임의제출만으로 증거확보가 어려울 수 있다</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endPar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27" name="line27"/>
          <p:cNvSpPr/>
          <p:nvPr/>
        </p:nvSpPr>
        <p:spPr>
          <a:xfrm>
            <a:off x="731520" y="6576568"/>
            <a:ext cx="10725912" cy="0"/>
          </a:xfrm>
          <a:prstGeom prst="line">
            <a:avLst/>
          </a:prstGeom>
          <a:ln w="19050">
            <a:solidFill>
              <a:srgbClr val="1E2761"/>
            </a:solidFill>
          </a:ln>
        </p:spPr>
        <p:txBody>
          <a:bodyPr/>
          <a:lstStyle/>
          <a:p>
            <a:endParaRPr/>
          </a:p>
        </p:txBody>
      </p:sp>
      <p:sp>
        <p:nvSpPr>
          <p:cNvPr id="4" name="line24">
            <a:extLst>
              <a:ext uri="{FF2B5EF4-FFF2-40B4-BE49-F238E27FC236}">
                <a16:creationId xmlns:a16="http://schemas.microsoft.com/office/drawing/2014/main" id="{7DDAED9E-9845-6874-BCC6-EA1EB80A738C}"/>
              </a:ext>
            </a:extLst>
          </p:cNvPr>
          <p:cNvSpPr/>
          <p:nvPr/>
        </p:nvSpPr>
        <p:spPr>
          <a:xfrm>
            <a:off x="672084" y="5516880"/>
            <a:ext cx="10725912" cy="0"/>
          </a:xfrm>
          <a:prstGeom prst="line">
            <a:avLst/>
          </a:prstGeom>
          <a:ln w="9525">
            <a:solidFill>
              <a:srgbClr val="DCE0E8"/>
            </a:solidFill>
          </a:ln>
        </p:spPr>
        <p:txBody>
          <a:bodyPr/>
          <a:lstStyle/>
          <a:p>
            <a:endParaRPr/>
          </a:p>
        </p:txBody>
      </p:sp>
      <p:sp>
        <p:nvSpPr>
          <p:cNvPr id="6" name="bandbg">
            <a:extLst>
              <a:ext uri="{FF2B5EF4-FFF2-40B4-BE49-F238E27FC236}">
                <a16:creationId xmlns:a16="http://schemas.microsoft.com/office/drawing/2014/main" id="{528BEAC9-49E8-2448-F8EF-9A906FF4D68D}"/>
              </a:ext>
            </a:extLst>
          </p:cNvPr>
          <p:cNvSpPr/>
          <p:nvPr/>
        </p:nvSpPr>
        <p:spPr>
          <a:xfrm>
            <a:off x="737870" y="5662676"/>
            <a:ext cx="10719562" cy="734568"/>
          </a:xfrm>
          <a:prstGeom prst="rect">
            <a:avLst/>
          </a:prstGeom>
          <a:solidFill>
            <a:srgbClr val="1E2761"/>
          </a:solidFill>
          <a:ln>
            <a:noFill/>
          </a:ln>
        </p:spPr>
        <p:txBody>
          <a:bodyPr/>
          <a:lstStyle/>
          <a:p>
            <a:endParaRPr/>
          </a:p>
        </p:txBody>
      </p:sp>
      <p:sp>
        <p:nvSpPr>
          <p:cNvPr id="8" name="band">
            <a:extLst>
              <a:ext uri="{FF2B5EF4-FFF2-40B4-BE49-F238E27FC236}">
                <a16:creationId xmlns:a16="http://schemas.microsoft.com/office/drawing/2014/main" id="{A85A5D6C-8526-9842-1DDE-14478467E727}"/>
              </a:ext>
            </a:extLst>
          </p:cNvPr>
          <p:cNvSpPr txBox="1"/>
          <p:nvPr/>
        </p:nvSpPr>
        <p:spPr>
          <a:xfrm>
            <a:off x="737870" y="5690108"/>
            <a:ext cx="10716260" cy="671322"/>
          </a:xfrm>
          <a:prstGeom prst="rect">
            <a:avLst/>
          </a:prstGeom>
          <a:noFill/>
        </p:spPr>
        <p:txBody>
          <a:bodyPr wrap="square" lIns="0" tIns="27432" rIns="0" bIns="27432" anchor="ctr">
            <a:noAutofit/>
          </a:bodyPr>
          <a:lstStyle/>
          <a:p>
            <a:pPr algn="ctr">
              <a:lnSpc>
                <a:spcPct val="118000"/>
              </a:lnSpc>
            </a:pPr>
            <a:r>
              <a:rPr lang="ko-KR" altLang="en-US" sz="1250" b="1" dirty="0" err="1">
                <a:solidFill>
                  <a:srgbClr val="FFFFFF"/>
                </a:solidFill>
                <a:latin typeface="Pretendard" panose="02000503000000020004" pitchFamily="2" charset="-127"/>
                <a:ea typeface="Pretendard" panose="02000503000000020004" pitchFamily="2" charset="-127"/>
                <a:cs typeface="Pretendard" panose="02000503000000020004" pitchFamily="2" charset="-127"/>
              </a:rPr>
              <a:t>촉법소년</a:t>
            </a:r>
            <a:r>
              <a:rPr lang="ko-KR" altLang="en-US"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 사건에서 일반 형사 사건 같은 강제수사권을 주자는 의미가 아니며</a:t>
            </a:r>
            <a:r>
              <a:rPr lang="en-US" altLang="ko-KR"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소년부 송치 전 경찰조사의 법적 근거</a:t>
            </a:r>
            <a:r>
              <a:rPr lang="en-US" altLang="ko-KR"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범위</a:t>
            </a:r>
            <a:r>
              <a:rPr lang="en-US" altLang="ko-KR"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방법과 절차보장이 필요하다는 의미</a:t>
            </a:r>
            <a:endParaRPr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응보·예방·보호와 현행제도의 한계</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보호환경과 지역 자원</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600" b="1" dirty="0">
                <a:solidFill>
                  <a:srgbClr val="1E2761"/>
                </a:solidFill>
                <a:latin typeface="Pretendard"/>
                <a:ea typeface="Pretendard"/>
                <a:cs typeface="Pretendard"/>
              </a:rPr>
              <a:t>보호처분을 </a:t>
            </a:r>
            <a:r>
              <a:rPr lang="ko-KR" altLang="en-US" sz="2600" b="1" dirty="0">
                <a:solidFill>
                  <a:srgbClr val="1E2761"/>
                </a:solidFill>
                <a:latin typeface="Pretendard"/>
                <a:ea typeface="Pretendard"/>
                <a:cs typeface="Pretendard"/>
              </a:rPr>
              <a:t>선정할</a:t>
            </a:r>
            <a:r>
              <a:rPr lang="ko-KR" sz="2600" b="1" dirty="0">
                <a:solidFill>
                  <a:srgbClr val="1E2761"/>
                </a:solidFill>
                <a:latin typeface="Pretendard"/>
                <a:ea typeface="Pretendard"/>
                <a:cs typeface="Pretendard"/>
              </a:rPr>
              <a:t> 때 무엇을 기준으로 삼는가 — 이승현 외(2024)</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lang="ko-KR" altLang="en-US"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보호처분 선택에서 판사는 재량을 중시했고, 국선보조인·연구자는 세부 기준의 명확화를 요구했다.</a:t>
            </a:r>
            <a:endParaRPr sz="13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h0"/>
          <p:cNvSpPr txBox="1"/>
          <p:nvPr/>
        </p:nvSpPr>
        <p:spPr>
          <a:xfrm>
            <a:off x="731520" y="2323554"/>
            <a:ext cx="2240280" cy="576072"/>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보호처분의 결정</a:t>
            </a:r>
            <a:endParaRPr lang="ko-KR" sz="1300" b="1" dirty="0">
              <a:solidFill>
                <a:srgbClr val="1E2761"/>
              </a:solidFill>
              <a:latin typeface="Pretendard"/>
              <a:ea typeface="Pretendard"/>
              <a:cs typeface="Pretendard"/>
            </a:endParaRPr>
          </a:p>
        </p:txBody>
      </p:sp>
      <p:sp>
        <p:nvSpPr>
          <p:cNvPr id="17" name="b0"/>
          <p:cNvSpPr txBox="1"/>
          <p:nvPr/>
        </p:nvSpPr>
        <p:spPr>
          <a:xfrm>
            <a:off x="3154680" y="2323554"/>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조사관·소년분류심사원·보조인 등의 자료와 의견 → 소년부 판사 → 보호처분 결정</a:t>
            </a:r>
          </a:p>
          <a:p>
            <a:pPr algn="l">
              <a:lnSpc>
                <a:spcPct val="118000"/>
              </a:lnSpc>
            </a:pPr>
            <a:r>
              <a:rPr lang="ko-KR" sz="1150" b="0" dirty="0">
                <a:solidFill>
                  <a:srgbClr val="464D5C"/>
                </a:solidFill>
                <a:latin typeface="Pretendard"/>
                <a:ea typeface="Pretendard"/>
                <a:cs typeface="Pretendard"/>
              </a:rPr>
              <a:t>소년법 제32조는 소년부 판사가 심리 결과 보호처분을 결정하도록 정한다.</a:t>
            </a:r>
          </a:p>
        </p:txBody>
      </p:sp>
      <p:sp>
        <p:nvSpPr>
          <p:cNvPr id="18" name="line18"/>
          <p:cNvSpPr/>
          <p:nvPr/>
        </p:nvSpPr>
        <p:spPr>
          <a:xfrm>
            <a:off x="731520" y="3094119"/>
            <a:ext cx="10725912" cy="0"/>
          </a:xfrm>
          <a:prstGeom prst="line">
            <a:avLst/>
          </a:prstGeom>
          <a:ln w="9525">
            <a:solidFill>
              <a:srgbClr val="DCE0E8"/>
            </a:solidFill>
          </a:ln>
        </p:spPr>
        <p:txBody>
          <a:bodyPr/>
          <a:lstStyle/>
          <a:p>
            <a:endParaRPr/>
          </a:p>
        </p:txBody>
      </p:sp>
      <p:sp>
        <p:nvSpPr>
          <p:cNvPr id="19" name="h1"/>
          <p:cNvSpPr txBox="1"/>
          <p:nvPr/>
        </p:nvSpPr>
        <p:spPr>
          <a:xfrm>
            <a:off x="736218" y="3196993"/>
            <a:ext cx="2939490" cy="576072"/>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처분 결정 기준에 대한 의견</a:t>
            </a:r>
            <a:endParaRPr lang="en-US" altLang="ko-KR" sz="1300" b="1" dirty="0">
              <a:solidFill>
                <a:srgbClr val="1E2761"/>
              </a:solidFill>
              <a:latin typeface="Pretendard"/>
              <a:ea typeface="Pretendard"/>
              <a:cs typeface="Pretendard"/>
            </a:endParaRPr>
          </a:p>
        </p:txBody>
      </p:sp>
      <p:sp>
        <p:nvSpPr>
          <p:cNvPr id="20" name="b1"/>
          <p:cNvSpPr txBox="1"/>
          <p:nvPr/>
        </p:nvSpPr>
        <p:spPr>
          <a:xfrm>
            <a:off x="3154680" y="3946347"/>
            <a:ext cx="3911945"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명확한 기준이 없어도 처분 결정에 큰 어려움이 없다고 보았다.</a:t>
            </a:r>
          </a:p>
          <a:p>
            <a:pPr algn="l">
              <a:lnSpc>
                <a:spcPct val="118000"/>
              </a:lnSpc>
            </a:pPr>
            <a:r>
              <a:rPr lang="ko-KR" sz="1150" b="0" dirty="0">
                <a:solidFill>
                  <a:srgbClr val="464D5C"/>
                </a:solidFill>
                <a:latin typeface="Pretendard"/>
                <a:ea typeface="Pretendard"/>
                <a:cs typeface="Pretendard"/>
              </a:rPr>
              <a:t>개별 사건을 살필 재량과 경험을 중시하는 평가로 읽을 수 있다.</a:t>
            </a:r>
          </a:p>
        </p:txBody>
      </p:sp>
      <p:sp>
        <p:nvSpPr>
          <p:cNvPr id="22" name="h2"/>
          <p:cNvSpPr txBox="1"/>
          <p:nvPr/>
        </p:nvSpPr>
        <p:spPr>
          <a:xfrm>
            <a:off x="1620618" y="5044884"/>
            <a:ext cx="1313008" cy="35251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국선보조인·연구자</a:t>
            </a:r>
          </a:p>
        </p:txBody>
      </p:sp>
      <p:sp>
        <p:nvSpPr>
          <p:cNvPr id="23" name="b2"/>
          <p:cNvSpPr txBox="1"/>
          <p:nvPr/>
        </p:nvSpPr>
        <p:spPr>
          <a:xfrm>
            <a:off x="3154680" y="4949286"/>
            <a:ext cx="5572070"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어떤 소년에게 어떤 보호처분을 선택할지에 대한 세부 기준을 더 구체화해야 한다고 보았다.</a:t>
            </a:r>
          </a:p>
          <a:p>
            <a:pPr algn="l">
              <a:lnSpc>
                <a:spcPct val="118000"/>
              </a:lnSpc>
            </a:pPr>
            <a:r>
              <a:rPr lang="ko-KR" sz="1150" b="0" dirty="0">
                <a:solidFill>
                  <a:srgbClr val="464D5C"/>
                </a:solidFill>
                <a:latin typeface="Pretendard"/>
                <a:ea typeface="Pretendard"/>
                <a:cs typeface="Pretendard"/>
              </a:rPr>
              <a:t>결정의 기준을 설명받고 예측할 수 있는지가 공정성과 신뢰를 좌우한다는 문제 제기다.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이승현 외(2024), KICJ 연구총서 24-A-02 · 공식 연구요약 4. 전문가 경험·인식 분석</a:t>
            </a:r>
          </a:p>
        </p:txBody>
      </p:sp>
      <p:sp>
        <p:nvSpPr>
          <p:cNvPr id="29" name="bar0"/>
          <p:cNvSpPr/>
          <p:nvPr/>
        </p:nvSpPr>
        <p:spPr>
          <a:xfrm>
            <a:off x="1364498" y="4078690"/>
            <a:ext cx="68580" cy="256032"/>
          </a:xfrm>
          <a:prstGeom prst="rect">
            <a:avLst/>
          </a:prstGeom>
          <a:solidFill>
            <a:srgbClr val="A8871C"/>
          </a:solidFill>
          <a:ln>
            <a:noFill/>
          </a:ln>
        </p:spPr>
        <p:txBody>
          <a:bodyPr/>
          <a:lstStyle/>
          <a:p>
            <a:endParaRPr/>
          </a:p>
        </p:txBody>
      </p:sp>
      <p:sp>
        <p:nvSpPr>
          <p:cNvPr id="30" name="h2"/>
          <p:cNvSpPr txBox="1"/>
          <p:nvPr/>
        </p:nvSpPr>
        <p:spPr>
          <a:xfrm>
            <a:off x="1577562" y="4040373"/>
            <a:ext cx="466966" cy="332666"/>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판사</a:t>
            </a:r>
            <a:endParaRPr lang="en-US" altLang="ko-KR" sz="1300" b="1" dirty="0">
              <a:solidFill>
                <a:srgbClr val="1E2761"/>
              </a:solidFill>
              <a:latin typeface="Pretendard"/>
              <a:ea typeface="Pretendard"/>
              <a:cs typeface="Pretendard"/>
            </a:endParaRPr>
          </a:p>
        </p:txBody>
      </p:sp>
      <p:sp>
        <p:nvSpPr>
          <p:cNvPr id="32" name="bar0"/>
          <p:cNvSpPr/>
          <p:nvPr/>
        </p:nvSpPr>
        <p:spPr>
          <a:xfrm>
            <a:off x="1364498" y="5079175"/>
            <a:ext cx="68580" cy="256032"/>
          </a:xfrm>
          <a:prstGeom prst="rect">
            <a:avLst/>
          </a:prstGeom>
          <a:solidFill>
            <a:srgbClr val="A8871C"/>
          </a:solidFill>
          <a:ln>
            <a:noFill/>
          </a:ln>
        </p:spPr>
        <p:txBody>
          <a:bodyPr/>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nSpc>
                <a:spcPct val="118000"/>
              </a:lnSpc>
            </a:pPr>
            <a:r>
              <a:rPr lang="ko-KR" altLang="en-US" sz="2500" b="1" dirty="0">
                <a:solidFill>
                  <a:srgbClr val="1E2761"/>
                </a:solidFill>
                <a:latin typeface="Pretendard"/>
                <a:ea typeface="Pretendard"/>
                <a:cs typeface="Pretendard"/>
              </a:rPr>
              <a:t>보호처분 선택기준은 얼마나 명확한가</a:t>
            </a:r>
            <a:r>
              <a:rPr lang="ko-KR" altLang="ko-KR" sz="250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 — 이승현 외(2024)</a:t>
            </a:r>
          </a:p>
        </p:txBody>
      </p:sp>
      <p:sp>
        <p:nvSpPr>
          <p:cNvPr id="13" name="topband"/>
          <p:cNvSpPr/>
          <p:nvPr/>
        </p:nvSpPr>
        <p:spPr>
          <a:xfrm>
            <a:off x="731520" y="1417320"/>
            <a:ext cx="10725912" cy="437824"/>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437824"/>
          </a:xfrm>
          <a:prstGeom prst="rect">
            <a:avLst/>
          </a:prstGeom>
          <a:noFill/>
        </p:spPr>
        <p:txBody>
          <a:bodyPr wrap="square" lIns="0" tIns="27432" rIns="0" bIns="27432" anchor="ctr">
            <a:noAutofit/>
          </a:bodyPr>
          <a:lstStyle/>
          <a:p>
            <a:pPr>
              <a:lnSpc>
                <a:spcPct val="118000"/>
              </a:lnSpc>
            </a:pPr>
            <a:r>
              <a:rPr lang="ko-KR" altLang="en-US" sz="1300" b="1" dirty="0">
                <a:solidFill>
                  <a:srgbClr val="1E2761"/>
                </a:solidFill>
                <a:latin typeface="Pretendard"/>
                <a:ea typeface="Pretendard"/>
                <a:cs typeface="Pretendard"/>
              </a:rPr>
              <a:t>전문가 면접에서는 분류심사원 활용과 보호처분 선택기준의 명확성을 두고 직역별 평가가 달랐다</a:t>
            </a:r>
            <a:r>
              <a:rPr lang="en-US" altLang="ko-KR" sz="1300" b="1" dirty="0">
                <a:solidFill>
                  <a:srgbClr val="1E2761"/>
                </a:solidFill>
                <a:latin typeface="Pretendard"/>
                <a:ea typeface="Pretendard"/>
                <a:cs typeface="Pretendard"/>
              </a:rPr>
              <a:t>.</a:t>
            </a:r>
            <a:endParaRPr lang="ko-KR" sz="1300" b="1" dirty="0">
              <a:solidFill>
                <a:srgbClr val="1E2761"/>
              </a:solidFill>
              <a:latin typeface="Pretendard"/>
              <a:ea typeface="Pretendard"/>
              <a:cs typeface="Pretendard"/>
            </a:endParaRPr>
          </a:p>
        </p:txBody>
      </p:sp>
      <p:sp>
        <p:nvSpPr>
          <p:cNvPr id="15" name="line15"/>
          <p:cNvSpPr/>
          <p:nvPr/>
        </p:nvSpPr>
        <p:spPr>
          <a:xfrm>
            <a:off x="722884" y="2559050"/>
            <a:ext cx="10725912" cy="0"/>
          </a:xfrm>
          <a:prstGeom prst="line">
            <a:avLst/>
          </a:prstGeom>
          <a:ln w="19050">
            <a:solidFill>
              <a:srgbClr val="1E2761"/>
            </a:solidFill>
          </a:ln>
        </p:spPr>
        <p:txBody>
          <a:bodyPr/>
          <a:lstStyle/>
          <a:p>
            <a:endParaRPr/>
          </a:p>
        </p:txBody>
      </p:sp>
      <p:sp>
        <p:nvSpPr>
          <p:cNvPr id="16" name="mh16"/>
          <p:cNvSpPr/>
          <p:nvPr/>
        </p:nvSpPr>
        <p:spPr>
          <a:xfrm>
            <a:off x="2954020" y="2668270"/>
            <a:ext cx="2048256" cy="310896"/>
          </a:xfrm>
          <a:prstGeom prst="rect">
            <a:avLst/>
          </a:prstGeom>
          <a:solidFill>
            <a:srgbClr val="F2F4F8"/>
          </a:solidFill>
          <a:ln>
            <a:noFill/>
          </a:ln>
        </p:spPr>
        <p:txBody>
          <a:bodyPr/>
          <a:lstStyle/>
          <a:p>
            <a:endParaRPr/>
          </a:p>
        </p:txBody>
      </p:sp>
      <p:sp>
        <p:nvSpPr>
          <p:cNvPr id="17" name="mht17"/>
          <p:cNvSpPr txBox="1"/>
          <p:nvPr/>
        </p:nvSpPr>
        <p:spPr>
          <a:xfrm>
            <a:off x="2954020" y="2668270"/>
            <a:ext cx="2048256" cy="310896"/>
          </a:xfrm>
          <a:prstGeom prst="rect">
            <a:avLst/>
          </a:prstGeom>
          <a:noFill/>
        </p:spPr>
        <p:txBody>
          <a:bodyPr wrap="square" lIns="0" tIns="27432" rIns="0" bIns="27432" anchor="ctr">
            <a:noAutofit/>
          </a:bodyPr>
          <a:lstStyle/>
          <a:p>
            <a:pPr algn="ctr">
              <a:lnSpc>
                <a:spcPct val="118000"/>
              </a:lnSpc>
            </a:pPr>
            <a:r>
              <a:rPr lang="ko-KR" sz="1200" b="1" dirty="0">
                <a:solidFill>
                  <a:srgbClr val="1E2761"/>
                </a:solidFill>
                <a:latin typeface="Pretendard"/>
                <a:ea typeface="Pretendard"/>
                <a:cs typeface="Pretendard"/>
              </a:rPr>
              <a:t>판사</a:t>
            </a:r>
          </a:p>
        </p:txBody>
      </p:sp>
      <p:sp>
        <p:nvSpPr>
          <p:cNvPr id="18" name="mh18"/>
          <p:cNvSpPr/>
          <p:nvPr/>
        </p:nvSpPr>
        <p:spPr>
          <a:xfrm>
            <a:off x="5102860" y="2668270"/>
            <a:ext cx="2048256" cy="310896"/>
          </a:xfrm>
          <a:prstGeom prst="rect">
            <a:avLst/>
          </a:prstGeom>
          <a:solidFill>
            <a:srgbClr val="F2F4F8"/>
          </a:solidFill>
          <a:ln>
            <a:noFill/>
          </a:ln>
        </p:spPr>
        <p:txBody>
          <a:bodyPr/>
          <a:lstStyle/>
          <a:p>
            <a:endParaRPr/>
          </a:p>
        </p:txBody>
      </p:sp>
      <p:sp>
        <p:nvSpPr>
          <p:cNvPr id="19" name="mht19"/>
          <p:cNvSpPr txBox="1"/>
          <p:nvPr/>
        </p:nvSpPr>
        <p:spPr>
          <a:xfrm>
            <a:off x="5102860" y="2668270"/>
            <a:ext cx="2048256" cy="310896"/>
          </a:xfrm>
          <a:prstGeom prst="rect">
            <a:avLst/>
          </a:prstGeom>
          <a:noFill/>
        </p:spPr>
        <p:txBody>
          <a:bodyPr wrap="square" lIns="0" tIns="27432" rIns="0" bIns="27432" anchor="ctr">
            <a:noAutofit/>
          </a:bodyPr>
          <a:lstStyle/>
          <a:p>
            <a:pPr algn="ctr">
              <a:lnSpc>
                <a:spcPct val="118000"/>
              </a:lnSpc>
            </a:pPr>
            <a:r>
              <a:rPr lang="ko-KR" sz="1200" b="1" dirty="0">
                <a:solidFill>
                  <a:srgbClr val="1E2761"/>
                </a:solidFill>
                <a:latin typeface="Pretendard"/>
                <a:ea typeface="Pretendard"/>
                <a:cs typeface="Pretendard"/>
              </a:rPr>
              <a:t>분류심사관</a:t>
            </a:r>
          </a:p>
        </p:txBody>
      </p:sp>
      <p:sp>
        <p:nvSpPr>
          <p:cNvPr id="20" name="mh20"/>
          <p:cNvSpPr/>
          <p:nvPr/>
        </p:nvSpPr>
        <p:spPr>
          <a:xfrm>
            <a:off x="7251700" y="2668270"/>
            <a:ext cx="2048256" cy="310896"/>
          </a:xfrm>
          <a:prstGeom prst="rect">
            <a:avLst/>
          </a:prstGeom>
          <a:solidFill>
            <a:srgbClr val="F2F4F8"/>
          </a:solidFill>
          <a:ln>
            <a:noFill/>
          </a:ln>
        </p:spPr>
        <p:txBody>
          <a:bodyPr/>
          <a:lstStyle/>
          <a:p>
            <a:endParaRPr/>
          </a:p>
        </p:txBody>
      </p:sp>
      <p:sp>
        <p:nvSpPr>
          <p:cNvPr id="21" name="mht21"/>
          <p:cNvSpPr txBox="1"/>
          <p:nvPr/>
        </p:nvSpPr>
        <p:spPr>
          <a:xfrm>
            <a:off x="7251700" y="2668270"/>
            <a:ext cx="2048256" cy="310896"/>
          </a:xfrm>
          <a:prstGeom prst="rect">
            <a:avLst/>
          </a:prstGeom>
          <a:noFill/>
        </p:spPr>
        <p:txBody>
          <a:bodyPr wrap="square" lIns="0" tIns="27432" rIns="0" bIns="27432" anchor="ctr">
            <a:noAutofit/>
          </a:bodyPr>
          <a:lstStyle/>
          <a:p>
            <a:pPr algn="ctr">
              <a:lnSpc>
                <a:spcPct val="118000"/>
              </a:lnSpc>
            </a:pPr>
            <a:r>
              <a:rPr lang="ko-KR" sz="1200" b="1" dirty="0">
                <a:solidFill>
                  <a:srgbClr val="1E2761"/>
                </a:solidFill>
                <a:latin typeface="Pretendard"/>
                <a:ea typeface="Pretendard"/>
                <a:cs typeface="Pretendard"/>
              </a:rPr>
              <a:t>국선보조인</a:t>
            </a:r>
          </a:p>
        </p:txBody>
      </p:sp>
      <p:sp>
        <p:nvSpPr>
          <p:cNvPr id="22" name="mh22"/>
          <p:cNvSpPr/>
          <p:nvPr/>
        </p:nvSpPr>
        <p:spPr>
          <a:xfrm>
            <a:off x="9400540" y="2668270"/>
            <a:ext cx="2048256" cy="310896"/>
          </a:xfrm>
          <a:prstGeom prst="rect">
            <a:avLst/>
          </a:prstGeom>
          <a:solidFill>
            <a:srgbClr val="F2F4F8"/>
          </a:solidFill>
          <a:ln>
            <a:noFill/>
          </a:ln>
        </p:spPr>
        <p:txBody>
          <a:bodyPr/>
          <a:lstStyle/>
          <a:p>
            <a:endParaRPr/>
          </a:p>
        </p:txBody>
      </p:sp>
      <p:sp>
        <p:nvSpPr>
          <p:cNvPr id="23" name="mht23"/>
          <p:cNvSpPr txBox="1"/>
          <p:nvPr/>
        </p:nvSpPr>
        <p:spPr>
          <a:xfrm>
            <a:off x="9400540" y="2668270"/>
            <a:ext cx="2048256" cy="310896"/>
          </a:xfrm>
          <a:prstGeom prst="rect">
            <a:avLst/>
          </a:prstGeom>
          <a:noFill/>
        </p:spPr>
        <p:txBody>
          <a:bodyPr wrap="square" lIns="0" tIns="27432" rIns="0" bIns="27432" anchor="ctr">
            <a:noAutofit/>
          </a:bodyPr>
          <a:lstStyle/>
          <a:p>
            <a:pPr algn="ctr">
              <a:lnSpc>
                <a:spcPct val="118000"/>
              </a:lnSpc>
            </a:pPr>
            <a:r>
              <a:rPr lang="ko-KR" sz="1200" b="1" dirty="0">
                <a:solidFill>
                  <a:srgbClr val="1E2761"/>
                </a:solidFill>
                <a:latin typeface="Pretendard"/>
                <a:ea typeface="Pretendard"/>
                <a:cs typeface="Pretendard"/>
              </a:rPr>
              <a:t>연구자</a:t>
            </a:r>
          </a:p>
        </p:txBody>
      </p:sp>
      <p:sp>
        <p:nvSpPr>
          <p:cNvPr id="25" name="ml25"/>
          <p:cNvSpPr txBox="1"/>
          <p:nvPr/>
        </p:nvSpPr>
        <p:spPr>
          <a:xfrm>
            <a:off x="1202301" y="3197782"/>
            <a:ext cx="1559006" cy="594360"/>
          </a:xfrm>
          <a:prstGeom prst="rect">
            <a:avLst/>
          </a:prstGeom>
          <a:noFill/>
        </p:spPr>
        <p:txBody>
          <a:bodyPr wrap="square" lIns="0" tIns="27432" rIns="0" bIns="27432" anchor="ctr">
            <a:noAutofit/>
          </a:bodyPr>
          <a:lstStyle/>
          <a:p>
            <a:pPr algn="l">
              <a:lnSpc>
                <a:spcPct val="118000"/>
              </a:lnSpc>
            </a:pPr>
            <a:r>
              <a:rPr lang="ko-KR" sz="1250" b="1" dirty="0">
                <a:solidFill>
                  <a:srgbClr val="A8871C"/>
                </a:solidFill>
                <a:latin typeface="Pretendard"/>
                <a:ea typeface="Pretendard"/>
                <a:cs typeface="Pretendard"/>
              </a:rPr>
              <a:t>분류심사원 위탁</a:t>
            </a:r>
          </a:p>
        </p:txBody>
      </p:sp>
      <p:sp>
        <p:nvSpPr>
          <p:cNvPr id="26" name="mc26"/>
          <p:cNvSpPr txBox="1"/>
          <p:nvPr/>
        </p:nvSpPr>
        <p:spPr>
          <a:xfrm>
            <a:off x="3017520" y="3197782"/>
            <a:ext cx="2048256" cy="594360"/>
          </a:xfrm>
          <a:prstGeom prst="rect">
            <a:avLst/>
          </a:prstGeom>
          <a:noFill/>
        </p:spPr>
        <p:txBody>
          <a:bodyPr wrap="square" lIns="0" tIns="27432" rIns="0" bIns="27432" anchor="ctr">
            <a:noAutofit/>
          </a:bodyPr>
          <a:lstStyle/>
          <a:p>
            <a:pPr algn="ctr">
              <a:lnSpc>
                <a:spcPct val="118000"/>
              </a:lnSpc>
            </a:pPr>
            <a:r>
              <a:rPr lang="ko-KR" sz="1200" b="1" dirty="0">
                <a:solidFill>
                  <a:schemeClr val="accent2">
                    <a:lumMod val="75000"/>
                  </a:schemeClr>
                </a:solidFill>
                <a:highlight>
                  <a:srgbClr val="FFFF00"/>
                </a:highlight>
                <a:latin typeface="Pretendard"/>
                <a:ea typeface="Pretendard"/>
                <a:cs typeface="Pretendard"/>
              </a:rPr>
              <a:t>적극 활용 필요</a:t>
            </a:r>
          </a:p>
        </p:txBody>
      </p:sp>
      <p:sp>
        <p:nvSpPr>
          <p:cNvPr id="27" name="mc27"/>
          <p:cNvSpPr txBox="1"/>
          <p:nvPr/>
        </p:nvSpPr>
        <p:spPr>
          <a:xfrm>
            <a:off x="5166360" y="3197782"/>
            <a:ext cx="2048256" cy="594360"/>
          </a:xfrm>
          <a:prstGeom prst="rect">
            <a:avLst/>
          </a:prstGeom>
          <a:noFill/>
        </p:spPr>
        <p:txBody>
          <a:bodyPr wrap="square" lIns="0" tIns="27432" rIns="0" bIns="27432" anchor="ctr">
            <a:noAutofit/>
          </a:bodyPr>
          <a:lstStyle/>
          <a:p>
            <a:pPr algn="ctr">
              <a:lnSpc>
                <a:spcPct val="118000"/>
              </a:lnSpc>
            </a:pPr>
            <a:r>
              <a:rPr lang="ko-KR" sz="1200" b="1" dirty="0">
                <a:solidFill>
                  <a:schemeClr val="accent2">
                    <a:lumMod val="75000"/>
                  </a:schemeClr>
                </a:solidFill>
                <a:highlight>
                  <a:srgbClr val="FFFF00"/>
                </a:highlight>
                <a:latin typeface="Pretendard"/>
                <a:ea typeface="Pretendard"/>
                <a:cs typeface="Pretendard"/>
              </a:rPr>
              <a:t>적극 활용 필요</a:t>
            </a:r>
          </a:p>
        </p:txBody>
      </p:sp>
      <p:sp>
        <p:nvSpPr>
          <p:cNvPr id="28" name="mc28"/>
          <p:cNvSpPr txBox="1"/>
          <p:nvPr/>
        </p:nvSpPr>
        <p:spPr>
          <a:xfrm>
            <a:off x="7315200" y="3197782"/>
            <a:ext cx="2048256" cy="594360"/>
          </a:xfrm>
          <a:prstGeom prst="rect">
            <a:avLst/>
          </a:prstGeom>
          <a:noFill/>
        </p:spPr>
        <p:txBody>
          <a:bodyPr wrap="square" lIns="0" tIns="27432" rIns="0" bIns="27432" anchor="ctr">
            <a:noAutofit/>
          </a:bodyPr>
          <a:lstStyle/>
          <a:p>
            <a:pPr algn="ctr">
              <a:lnSpc>
                <a:spcPct val="118000"/>
              </a:lnSpc>
            </a:pPr>
            <a:r>
              <a:rPr lang="ko-KR" altLang="en-US" sz="1200" b="1" dirty="0">
                <a:solidFill>
                  <a:schemeClr val="accent6">
                    <a:lumMod val="75000"/>
                  </a:schemeClr>
                </a:solidFill>
                <a:highlight>
                  <a:srgbClr val="FFFF00"/>
                </a:highlight>
                <a:latin typeface="Pretendard"/>
                <a:ea typeface="Pretendard"/>
                <a:cs typeface="Pretendard"/>
              </a:rPr>
              <a:t>위탁</a:t>
            </a:r>
            <a:r>
              <a:rPr lang="ko-KR" sz="1200" b="1" dirty="0">
                <a:solidFill>
                  <a:schemeClr val="accent6">
                    <a:lumMod val="75000"/>
                  </a:schemeClr>
                </a:solidFill>
                <a:highlight>
                  <a:srgbClr val="FFFF00"/>
                </a:highlight>
                <a:latin typeface="Pretendard"/>
                <a:ea typeface="Pretendard"/>
                <a:cs typeface="Pretendard"/>
              </a:rPr>
              <a:t>기준 </a:t>
            </a:r>
            <a:r>
              <a:rPr lang="ko-KR" sz="1200" b="1" dirty="0" err="1">
                <a:solidFill>
                  <a:schemeClr val="accent6">
                    <a:lumMod val="75000"/>
                  </a:schemeClr>
                </a:solidFill>
                <a:highlight>
                  <a:srgbClr val="FFFF00"/>
                </a:highlight>
                <a:latin typeface="Pretendard"/>
                <a:ea typeface="Pretendard"/>
                <a:cs typeface="Pretendard"/>
              </a:rPr>
              <a:t>명확화</a:t>
            </a:r>
            <a:r>
              <a:rPr lang="ko-KR" sz="1200" b="0" dirty="0" err="1">
                <a:solidFill>
                  <a:srgbClr val="222633"/>
                </a:solidFill>
                <a:latin typeface="Pretendard"/>
                <a:ea typeface="Pretendard"/>
                <a:cs typeface="Pretendard"/>
              </a:rPr>
              <a:t>·신중</a:t>
            </a:r>
            <a:r>
              <a:rPr lang="ko-KR" sz="1200" b="0" dirty="0">
                <a:solidFill>
                  <a:srgbClr val="222633"/>
                </a:solidFill>
                <a:latin typeface="Pretendard"/>
                <a:ea typeface="Pretendard"/>
                <a:cs typeface="Pretendard"/>
              </a:rPr>
              <a:t> 적용</a:t>
            </a:r>
          </a:p>
        </p:txBody>
      </p:sp>
      <p:sp>
        <p:nvSpPr>
          <p:cNvPr id="29" name="mc29"/>
          <p:cNvSpPr txBox="1"/>
          <p:nvPr/>
        </p:nvSpPr>
        <p:spPr>
          <a:xfrm>
            <a:off x="9464040" y="3197782"/>
            <a:ext cx="2048256" cy="594360"/>
          </a:xfrm>
          <a:prstGeom prst="rect">
            <a:avLst/>
          </a:prstGeom>
          <a:noFill/>
        </p:spPr>
        <p:txBody>
          <a:bodyPr wrap="square" lIns="0" tIns="27432" rIns="0" bIns="27432" anchor="ctr">
            <a:noAutofit/>
          </a:bodyPr>
          <a:lstStyle/>
          <a:p>
            <a:pPr algn="ctr">
              <a:lnSpc>
                <a:spcPct val="118000"/>
              </a:lnSpc>
            </a:pPr>
            <a:r>
              <a:rPr lang="ko-KR" altLang="en-US" sz="1200" b="1" dirty="0">
                <a:solidFill>
                  <a:schemeClr val="accent6">
                    <a:lumMod val="75000"/>
                  </a:schemeClr>
                </a:solidFill>
                <a:highlight>
                  <a:srgbClr val="FFFF00"/>
                </a:highlight>
                <a:latin typeface="Pretendard"/>
                <a:ea typeface="Pretendard"/>
                <a:cs typeface="Pretendard"/>
              </a:rPr>
              <a:t>위탁</a:t>
            </a:r>
            <a:r>
              <a:rPr lang="ko-KR" sz="1200" b="1" dirty="0">
                <a:solidFill>
                  <a:schemeClr val="accent6">
                    <a:lumMod val="75000"/>
                  </a:schemeClr>
                </a:solidFill>
                <a:highlight>
                  <a:srgbClr val="FFFF00"/>
                </a:highlight>
                <a:latin typeface="Pretendard"/>
                <a:ea typeface="Pretendard"/>
                <a:cs typeface="Pretendard"/>
              </a:rPr>
              <a:t>기준 명확화</a:t>
            </a:r>
            <a:r>
              <a:rPr lang="ko-KR" sz="1200" b="0" dirty="0">
                <a:solidFill>
                  <a:srgbClr val="222633"/>
                </a:solidFill>
                <a:latin typeface="Pretendard"/>
                <a:ea typeface="Pretendard"/>
                <a:cs typeface="Pretendard"/>
              </a:rPr>
              <a:t>·신중 적용</a:t>
            </a:r>
          </a:p>
        </p:txBody>
      </p:sp>
      <p:sp>
        <p:nvSpPr>
          <p:cNvPr id="30" name="line30"/>
          <p:cNvSpPr/>
          <p:nvPr/>
        </p:nvSpPr>
        <p:spPr>
          <a:xfrm>
            <a:off x="672084" y="4053430"/>
            <a:ext cx="10725912" cy="0"/>
          </a:xfrm>
          <a:prstGeom prst="line">
            <a:avLst/>
          </a:prstGeom>
          <a:ln w="9525">
            <a:solidFill>
              <a:srgbClr val="DCE0E8"/>
            </a:solidFill>
          </a:ln>
        </p:spPr>
        <p:txBody>
          <a:bodyPr/>
          <a:lstStyle/>
          <a:p>
            <a:endParaRPr/>
          </a:p>
        </p:txBody>
      </p:sp>
      <p:sp>
        <p:nvSpPr>
          <p:cNvPr id="31" name="ml31"/>
          <p:cNvSpPr txBox="1"/>
          <p:nvPr/>
        </p:nvSpPr>
        <p:spPr>
          <a:xfrm>
            <a:off x="1202301" y="4056829"/>
            <a:ext cx="1559006" cy="818388"/>
          </a:xfrm>
          <a:prstGeom prst="rect">
            <a:avLst/>
          </a:prstGeom>
          <a:noFill/>
        </p:spPr>
        <p:txBody>
          <a:bodyPr wrap="square" lIns="0" tIns="27432" rIns="0" bIns="27432" anchor="ctr">
            <a:noAutofit/>
          </a:bodyPr>
          <a:lstStyle/>
          <a:p>
            <a:pPr algn="l">
              <a:lnSpc>
                <a:spcPct val="118000"/>
              </a:lnSpc>
            </a:pPr>
            <a:r>
              <a:rPr lang="ko-KR" sz="1250" b="1" dirty="0">
                <a:solidFill>
                  <a:srgbClr val="A8871C"/>
                </a:solidFill>
                <a:latin typeface="Pretendard"/>
                <a:ea typeface="Pretendard"/>
                <a:cs typeface="Pretendard"/>
              </a:rPr>
              <a:t>판단 차이의 원인</a:t>
            </a:r>
          </a:p>
        </p:txBody>
      </p:sp>
      <p:sp>
        <p:nvSpPr>
          <p:cNvPr id="32" name="mc32"/>
          <p:cNvSpPr txBox="1"/>
          <p:nvPr/>
        </p:nvSpPr>
        <p:spPr>
          <a:xfrm>
            <a:off x="3017520" y="4056829"/>
            <a:ext cx="2048256" cy="818388"/>
          </a:xfrm>
          <a:prstGeom prst="rect">
            <a:avLst/>
          </a:prstGeom>
          <a:noFill/>
        </p:spPr>
        <p:txBody>
          <a:bodyPr wrap="square" lIns="0" tIns="27432" rIns="0" bIns="27432" anchor="ctr">
            <a:noAutofit/>
          </a:bodyPr>
          <a:lstStyle/>
          <a:p>
            <a:pPr algn="ctr">
              <a:lnSpc>
                <a:spcPct val="118000"/>
              </a:lnSpc>
            </a:pPr>
            <a:r>
              <a:rPr lang="ko-KR" sz="1200" b="0" dirty="0">
                <a:solidFill>
                  <a:srgbClr val="222633"/>
                </a:solidFill>
                <a:latin typeface="Pretendard"/>
                <a:ea typeface="Pretendard"/>
                <a:cs typeface="Pretendard"/>
              </a:rPr>
              <a:t>국선보조인의 역량 차이</a:t>
            </a:r>
          </a:p>
        </p:txBody>
      </p:sp>
      <p:sp>
        <p:nvSpPr>
          <p:cNvPr id="33" name="mc33"/>
          <p:cNvSpPr txBox="1"/>
          <p:nvPr/>
        </p:nvSpPr>
        <p:spPr>
          <a:xfrm>
            <a:off x="5166360" y="4056829"/>
            <a:ext cx="2048256" cy="818388"/>
          </a:xfrm>
          <a:prstGeom prst="rect">
            <a:avLst/>
          </a:prstGeom>
          <a:noFill/>
        </p:spPr>
        <p:txBody>
          <a:bodyPr wrap="square" lIns="0" tIns="27432" rIns="0" bIns="27432" anchor="ctr">
            <a:noAutofit/>
          </a:bodyPr>
          <a:lstStyle/>
          <a:p>
            <a:pPr algn="ctr">
              <a:lnSpc>
                <a:spcPct val="118000"/>
              </a:lnSpc>
            </a:pPr>
            <a:r>
              <a:rPr lang="ko-KR" sz="1200" b="0" dirty="0">
                <a:solidFill>
                  <a:srgbClr val="222633"/>
                </a:solidFill>
                <a:latin typeface="Pretendard"/>
                <a:ea typeface="Pretendard"/>
                <a:cs typeface="Pretendard"/>
              </a:rPr>
              <a:t>판사의 재판경험·인식 차이</a:t>
            </a:r>
          </a:p>
        </p:txBody>
      </p:sp>
      <p:sp>
        <p:nvSpPr>
          <p:cNvPr id="34" name="mc34"/>
          <p:cNvSpPr txBox="1"/>
          <p:nvPr/>
        </p:nvSpPr>
        <p:spPr>
          <a:xfrm>
            <a:off x="7315200" y="4056829"/>
            <a:ext cx="2048256" cy="818388"/>
          </a:xfrm>
          <a:prstGeom prst="rect">
            <a:avLst/>
          </a:prstGeom>
          <a:noFill/>
        </p:spPr>
        <p:txBody>
          <a:bodyPr wrap="square" lIns="0" tIns="27432" rIns="0" bIns="27432" anchor="ctr">
            <a:noAutofit/>
          </a:bodyPr>
          <a:lstStyle/>
          <a:p>
            <a:pPr algn="ctr">
              <a:lnSpc>
                <a:spcPct val="118000"/>
              </a:lnSpc>
            </a:pPr>
            <a:r>
              <a:rPr lang="ko-KR" sz="1200" b="0" dirty="0">
                <a:solidFill>
                  <a:srgbClr val="222633"/>
                </a:solidFill>
                <a:latin typeface="Pretendard"/>
                <a:ea typeface="Pretendard"/>
                <a:cs typeface="Pretendard"/>
              </a:rPr>
              <a:t>판사·분류심사관의 성인지감수성과 개인경험 차이</a:t>
            </a:r>
          </a:p>
        </p:txBody>
      </p:sp>
      <p:sp>
        <p:nvSpPr>
          <p:cNvPr id="35" name="mc35"/>
          <p:cNvSpPr txBox="1"/>
          <p:nvPr/>
        </p:nvSpPr>
        <p:spPr>
          <a:xfrm>
            <a:off x="9464040" y="4056829"/>
            <a:ext cx="2048256" cy="818388"/>
          </a:xfrm>
          <a:prstGeom prst="rect">
            <a:avLst/>
          </a:prstGeom>
          <a:noFill/>
        </p:spPr>
        <p:txBody>
          <a:bodyPr wrap="square" lIns="0" tIns="27432" rIns="0" bIns="27432" anchor="ctr">
            <a:noAutofit/>
          </a:bodyPr>
          <a:lstStyle/>
          <a:p>
            <a:pPr algn="ctr">
              <a:lnSpc>
                <a:spcPct val="118000"/>
              </a:lnSpc>
            </a:pPr>
            <a:r>
              <a:rPr lang="ko-KR" sz="1200" b="0" dirty="0">
                <a:solidFill>
                  <a:srgbClr val="222633"/>
                </a:solidFill>
                <a:latin typeface="Pretendard"/>
                <a:ea typeface="Pretendard"/>
                <a:cs typeface="Pretendard"/>
              </a:rPr>
              <a:t>업무담당자의 전문성 부족</a:t>
            </a:r>
          </a:p>
        </p:txBody>
      </p:sp>
      <p:sp>
        <p:nvSpPr>
          <p:cNvPr id="36" name="line36"/>
          <p:cNvSpPr/>
          <p:nvPr/>
        </p:nvSpPr>
        <p:spPr>
          <a:xfrm>
            <a:off x="672084" y="4867017"/>
            <a:ext cx="10725912" cy="0"/>
          </a:xfrm>
          <a:prstGeom prst="line">
            <a:avLst/>
          </a:prstGeom>
          <a:ln w="9525">
            <a:solidFill>
              <a:srgbClr val="DCE0E8"/>
            </a:solidFill>
          </a:ln>
        </p:spPr>
        <p:txBody>
          <a:bodyPr/>
          <a:lstStyle/>
          <a:p>
            <a:endParaRPr/>
          </a:p>
        </p:txBody>
      </p:sp>
      <p:sp>
        <p:nvSpPr>
          <p:cNvPr id="37" name="ml37"/>
          <p:cNvSpPr txBox="1"/>
          <p:nvPr/>
        </p:nvSpPr>
        <p:spPr>
          <a:xfrm>
            <a:off x="1202301" y="5211501"/>
            <a:ext cx="1559006" cy="370332"/>
          </a:xfrm>
          <a:prstGeom prst="rect">
            <a:avLst/>
          </a:prstGeom>
          <a:noFill/>
        </p:spPr>
        <p:txBody>
          <a:bodyPr wrap="square" lIns="0" tIns="27432" rIns="0" bIns="27432" anchor="ctr">
            <a:noAutofit/>
          </a:bodyPr>
          <a:lstStyle/>
          <a:p>
            <a:pPr algn="l">
              <a:lnSpc>
                <a:spcPct val="118000"/>
              </a:lnSpc>
            </a:pPr>
            <a:r>
              <a:rPr lang="ko-KR" sz="1250" b="1" dirty="0">
                <a:solidFill>
                  <a:srgbClr val="A8871C"/>
                </a:solidFill>
                <a:latin typeface="Pretendard"/>
                <a:ea typeface="Pretendard"/>
                <a:cs typeface="Pretendard"/>
              </a:rPr>
              <a:t>보호처분 기준의 명확성</a:t>
            </a:r>
          </a:p>
        </p:txBody>
      </p:sp>
      <p:sp>
        <p:nvSpPr>
          <p:cNvPr id="38" name="mc38"/>
          <p:cNvSpPr txBox="1"/>
          <p:nvPr/>
        </p:nvSpPr>
        <p:spPr>
          <a:xfrm>
            <a:off x="3017520" y="5211501"/>
            <a:ext cx="2048256" cy="370332"/>
          </a:xfrm>
          <a:prstGeom prst="rect">
            <a:avLst/>
          </a:prstGeom>
          <a:noFill/>
        </p:spPr>
        <p:txBody>
          <a:bodyPr wrap="square" lIns="0" tIns="27432" rIns="0" bIns="27432" anchor="ctr">
            <a:noAutofit/>
          </a:bodyPr>
          <a:lstStyle/>
          <a:p>
            <a:pPr algn="ctr">
              <a:lnSpc>
                <a:spcPct val="118000"/>
              </a:lnSpc>
            </a:pPr>
            <a:r>
              <a:rPr lang="ko-KR" sz="1200" b="1" dirty="0">
                <a:solidFill>
                  <a:schemeClr val="accent2">
                    <a:lumMod val="75000"/>
                  </a:schemeClr>
                </a:solidFill>
                <a:highlight>
                  <a:srgbClr val="FFFF00"/>
                </a:highlight>
                <a:latin typeface="Pretendard"/>
                <a:ea typeface="Pretendard"/>
                <a:cs typeface="Pretendard"/>
              </a:rPr>
              <a:t>큰 어려움 없다는 평가</a:t>
            </a:r>
          </a:p>
        </p:txBody>
      </p:sp>
      <p:sp>
        <p:nvSpPr>
          <p:cNvPr id="39" name="mc39"/>
          <p:cNvSpPr txBox="1"/>
          <p:nvPr/>
        </p:nvSpPr>
        <p:spPr>
          <a:xfrm>
            <a:off x="5166360" y="5211501"/>
            <a:ext cx="2048256" cy="370332"/>
          </a:xfrm>
          <a:prstGeom prst="rect">
            <a:avLst/>
          </a:prstGeom>
          <a:noFill/>
        </p:spPr>
        <p:txBody>
          <a:bodyPr wrap="square" lIns="0" tIns="27432" rIns="0" bIns="27432" anchor="ctr">
            <a:noAutofit/>
          </a:bodyPr>
          <a:lstStyle/>
          <a:p>
            <a:pPr algn="ctr">
              <a:lnSpc>
                <a:spcPct val="118000"/>
              </a:lnSpc>
            </a:pPr>
            <a:r>
              <a:rPr lang="ko-KR" sz="1200" b="0" dirty="0">
                <a:solidFill>
                  <a:srgbClr val="464D5C"/>
                </a:solidFill>
                <a:latin typeface="Pretendard"/>
                <a:ea typeface="Pretendard"/>
                <a:cs typeface="Pretendard"/>
              </a:rPr>
              <a:t>—</a:t>
            </a:r>
          </a:p>
        </p:txBody>
      </p:sp>
      <p:sp>
        <p:nvSpPr>
          <p:cNvPr id="40" name="mc40"/>
          <p:cNvSpPr txBox="1"/>
          <p:nvPr/>
        </p:nvSpPr>
        <p:spPr>
          <a:xfrm>
            <a:off x="7315200" y="5211501"/>
            <a:ext cx="2048256" cy="370332"/>
          </a:xfrm>
          <a:prstGeom prst="rect">
            <a:avLst/>
          </a:prstGeom>
          <a:noFill/>
        </p:spPr>
        <p:txBody>
          <a:bodyPr wrap="square" lIns="0" tIns="27432" rIns="0" bIns="27432" anchor="ctr">
            <a:noAutofit/>
          </a:bodyPr>
          <a:lstStyle/>
          <a:p>
            <a:pPr algn="ctr">
              <a:lnSpc>
                <a:spcPct val="118000"/>
              </a:lnSpc>
            </a:pPr>
            <a:r>
              <a:rPr lang="ko-KR" sz="1200" b="1" dirty="0">
                <a:solidFill>
                  <a:schemeClr val="accent6">
                    <a:lumMod val="75000"/>
                  </a:schemeClr>
                </a:solidFill>
                <a:highlight>
                  <a:srgbClr val="FFFF00"/>
                </a:highlight>
                <a:latin typeface="Pretendard"/>
                <a:ea typeface="Pretendard"/>
                <a:cs typeface="Pretendard"/>
              </a:rPr>
              <a:t>기준 명확화 요구</a:t>
            </a:r>
          </a:p>
        </p:txBody>
      </p:sp>
      <p:sp>
        <p:nvSpPr>
          <p:cNvPr id="41" name="mc41"/>
          <p:cNvSpPr txBox="1"/>
          <p:nvPr/>
        </p:nvSpPr>
        <p:spPr>
          <a:xfrm>
            <a:off x="9464040" y="5211501"/>
            <a:ext cx="2048256" cy="370332"/>
          </a:xfrm>
          <a:prstGeom prst="rect">
            <a:avLst/>
          </a:prstGeom>
          <a:noFill/>
        </p:spPr>
        <p:txBody>
          <a:bodyPr wrap="square" lIns="0" tIns="27432" rIns="0" bIns="27432" anchor="ctr">
            <a:noAutofit/>
          </a:bodyPr>
          <a:lstStyle/>
          <a:p>
            <a:pPr algn="ctr">
              <a:lnSpc>
                <a:spcPct val="118000"/>
              </a:lnSpc>
            </a:pPr>
            <a:r>
              <a:rPr lang="ko-KR" sz="1200" b="1" dirty="0">
                <a:solidFill>
                  <a:schemeClr val="accent6">
                    <a:lumMod val="75000"/>
                  </a:schemeClr>
                </a:solidFill>
                <a:highlight>
                  <a:srgbClr val="FFFF00"/>
                </a:highlight>
                <a:latin typeface="Pretendard"/>
                <a:ea typeface="Pretendard"/>
                <a:cs typeface="Pretendard"/>
              </a:rPr>
              <a:t>기준 명확화 요구</a:t>
            </a:r>
          </a:p>
        </p:txBody>
      </p:sp>
      <p:sp>
        <p:nvSpPr>
          <p:cNvPr id="4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이승현 외(2024), KICJ 연구총서 24-A-02 · 공식 연구요약 4. 전문가 경험·인식 분석</a:t>
            </a:r>
          </a:p>
        </p:txBody>
      </p:sp>
      <p:sp>
        <p:nvSpPr>
          <p:cNvPr id="3" name="kicker">
            <a:extLst>
              <a:ext uri="{FF2B5EF4-FFF2-40B4-BE49-F238E27FC236}">
                <a16:creationId xmlns:a16="http://schemas.microsoft.com/office/drawing/2014/main" id="{27B494C5-AE74-9457-364D-D95FEFA66A52}"/>
              </a:ext>
            </a:extLst>
          </p:cNvP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dirty="0" err="1">
                <a:solidFill>
                  <a:srgbClr val="464D5C"/>
                </a:solidFill>
                <a:latin typeface="Pretendard"/>
              </a:rPr>
              <a:t>응보·예방·보호와</a:t>
            </a:r>
            <a:r>
              <a:rPr sz="1250" b="1" dirty="0">
                <a:solidFill>
                  <a:srgbClr val="464D5C"/>
                </a:solidFill>
                <a:latin typeface="Pretendard"/>
              </a:rPr>
              <a:t> </a:t>
            </a:r>
            <a:r>
              <a:rPr sz="1250" b="1" dirty="0" err="1">
                <a:solidFill>
                  <a:srgbClr val="464D5C"/>
                </a:solidFill>
                <a:latin typeface="Pretendard"/>
              </a:rPr>
              <a:t>현행제도의</a:t>
            </a:r>
            <a:r>
              <a:rPr sz="1250" b="1" dirty="0">
                <a:solidFill>
                  <a:srgbClr val="464D5C"/>
                </a:solidFill>
                <a:latin typeface="Pretendard"/>
              </a:rPr>
              <a:t> </a:t>
            </a:r>
            <a:r>
              <a:rPr sz="1250" b="1" dirty="0" err="1">
                <a:solidFill>
                  <a:srgbClr val="464D5C"/>
                </a:solidFill>
                <a:latin typeface="Pretendard"/>
              </a:rPr>
              <a:t>한계</a:t>
            </a:r>
            <a:endParaRPr sz="1250" b="1" dirty="0">
              <a:solidFill>
                <a:srgbClr val="464D5C"/>
              </a:solidFill>
              <a:latin typeface="Pretendard"/>
            </a:endParaRPr>
          </a:p>
        </p:txBody>
      </p:sp>
      <p:sp>
        <p:nvSpPr>
          <p:cNvPr id="6" name="직사각형 5">
            <a:extLst>
              <a:ext uri="{FF2B5EF4-FFF2-40B4-BE49-F238E27FC236}">
                <a16:creationId xmlns:a16="http://schemas.microsoft.com/office/drawing/2014/main" id="{18EBE8DE-2114-E5E0-9823-EF1692CA2499}"/>
              </a:ext>
            </a:extLst>
          </p:cNvPr>
          <p:cNvSpPr/>
          <p:nvPr/>
        </p:nvSpPr>
        <p:spPr>
          <a:xfrm>
            <a:off x="1005840" y="4997450"/>
            <a:ext cx="10392156" cy="717548"/>
          </a:xfrm>
          <a:prstGeom prst="rect">
            <a:avLst/>
          </a:prstGeom>
          <a:noFill/>
          <a:ln w="19050">
            <a:solidFill>
              <a:schemeClr val="accent4">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B9FC8755-39B3-94FD-76DA-887797FB0BFB}"/>
              </a:ext>
            </a:extLst>
          </p:cNvPr>
          <p:cNvSpPr/>
          <p:nvPr/>
        </p:nvSpPr>
        <p:spPr>
          <a:xfrm>
            <a:off x="1005840" y="3117601"/>
            <a:ext cx="10392156" cy="717548"/>
          </a:xfrm>
          <a:prstGeom prst="rect">
            <a:avLst/>
          </a:prstGeom>
          <a:noFill/>
          <a:ln w="19050">
            <a:solidFill>
              <a:schemeClr val="accent4">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mh16">
            <a:extLst>
              <a:ext uri="{FF2B5EF4-FFF2-40B4-BE49-F238E27FC236}">
                <a16:creationId xmlns:a16="http://schemas.microsoft.com/office/drawing/2014/main" id="{6639FBF8-70EA-D8E8-62F4-5C2DEE286463}"/>
              </a:ext>
            </a:extLst>
          </p:cNvPr>
          <p:cNvSpPr/>
          <p:nvPr/>
        </p:nvSpPr>
        <p:spPr>
          <a:xfrm>
            <a:off x="1005840" y="2658886"/>
            <a:ext cx="1755467" cy="310896"/>
          </a:xfrm>
          <a:prstGeom prst="rect">
            <a:avLst/>
          </a:prstGeom>
          <a:solidFill>
            <a:srgbClr val="F2F4F8"/>
          </a:solidFill>
          <a:ln>
            <a:noFill/>
          </a:ln>
        </p:spPr>
        <p:txBody>
          <a:bodyPr/>
          <a:lstStyle/>
          <a:p>
            <a:endParaRPr/>
          </a:p>
        </p:txBody>
      </p:sp>
      <p:sp>
        <p:nvSpPr>
          <p:cNvPr id="43" name="mht17">
            <a:extLst>
              <a:ext uri="{FF2B5EF4-FFF2-40B4-BE49-F238E27FC236}">
                <a16:creationId xmlns:a16="http://schemas.microsoft.com/office/drawing/2014/main" id="{5C79497D-8B7C-7E0F-C211-79E534524F78}"/>
              </a:ext>
            </a:extLst>
          </p:cNvPr>
          <p:cNvSpPr txBox="1"/>
          <p:nvPr/>
        </p:nvSpPr>
        <p:spPr>
          <a:xfrm>
            <a:off x="1005840" y="2658886"/>
            <a:ext cx="1755467" cy="310896"/>
          </a:xfrm>
          <a:prstGeom prst="rect">
            <a:avLst/>
          </a:prstGeom>
          <a:noFill/>
        </p:spPr>
        <p:txBody>
          <a:bodyPr wrap="square" lIns="0" tIns="27432" rIns="0" bIns="27432" anchor="ctr">
            <a:noAutofit/>
          </a:bodyPr>
          <a:lstStyle/>
          <a:p>
            <a:pPr algn="ctr">
              <a:lnSpc>
                <a:spcPct val="118000"/>
              </a:lnSpc>
            </a:pPr>
            <a:r>
              <a:rPr lang="ko-KR" altLang="en-US" sz="1200" b="1" dirty="0">
                <a:solidFill>
                  <a:srgbClr val="1E2761"/>
                </a:solidFill>
                <a:latin typeface="Pretendard"/>
                <a:ea typeface="Pretendard"/>
                <a:cs typeface="Pretendard"/>
              </a:rPr>
              <a:t>범주</a:t>
            </a:r>
            <a:endParaRPr lang="ko-KR" sz="1200" b="1" dirty="0">
              <a:solidFill>
                <a:srgbClr val="1E2761"/>
              </a:solidFill>
              <a:latin typeface="Pretendard"/>
              <a:ea typeface="Pretendard"/>
              <a:cs typeface="Pretendard"/>
            </a:endParaRPr>
          </a:p>
        </p:txBody>
      </p:sp>
      <p:sp>
        <p:nvSpPr>
          <p:cNvPr id="45" name="QL">
            <a:extLst>
              <a:ext uri="{FF2B5EF4-FFF2-40B4-BE49-F238E27FC236}">
                <a16:creationId xmlns:a16="http://schemas.microsoft.com/office/drawing/2014/main" id="{0273BAAC-50AD-4E8E-E80E-D5C9F8CE3E64}"/>
              </a:ext>
            </a:extLst>
          </p:cNvPr>
          <p:cNvSpPr/>
          <p:nvPr/>
        </p:nvSpPr>
        <p:spPr>
          <a:xfrm>
            <a:off x="953770" y="1894601"/>
            <a:ext cx="7371080" cy="561080"/>
          </a:xfrm>
          <a:prstGeom prst="rect">
            <a:avLst/>
          </a:prstGeom>
          <a:noFill/>
          <a:ln/>
        </p:spPr>
        <p:txBody>
          <a:bodyPr wrap="square" lIns="0" tIns="0" rIns="0" bIns="0" rtlCol="0" anchor="t"/>
          <a:lstStyle/>
          <a:p>
            <a:pPr>
              <a:lnSpc>
                <a:spcPct val="150000"/>
              </a:lnSpc>
            </a:pPr>
            <a:r>
              <a:rPr lang="ko-KR" altLang="en-US" sz="1200" b="1" dirty="0">
                <a:solidFill>
                  <a:srgbClr val="1E2761"/>
                </a:solidFill>
                <a:latin typeface="Pretendard"/>
                <a:ea typeface="Pretendard"/>
                <a:cs typeface="Pretendard"/>
              </a:rPr>
              <a:t>대상</a:t>
            </a:r>
            <a:r>
              <a:rPr lang="en-US" altLang="ko-KR" sz="1250" b="1" dirty="0">
                <a:solidFill>
                  <a:srgbClr val="222633"/>
                </a:solidFill>
                <a:latin typeface="Pretendard" pitchFamily="34" charset="0"/>
                <a:ea typeface="Pretendard" pitchFamily="34" charset="-122"/>
                <a:cs typeface="Pretendard" pitchFamily="34" charset="-120"/>
              </a:rPr>
              <a:t>: </a:t>
            </a:r>
            <a:r>
              <a:rPr lang="ko-KR" altLang="en-US" sz="1250" b="1" dirty="0">
                <a:solidFill>
                  <a:srgbClr val="222633"/>
                </a:solidFill>
                <a:latin typeface="Pretendard" pitchFamily="34" charset="0"/>
                <a:ea typeface="Pretendard" pitchFamily="34" charset="-122"/>
                <a:cs typeface="Pretendard" pitchFamily="34" charset="-120"/>
              </a:rPr>
              <a:t>전문가 심층면접 </a:t>
            </a:r>
            <a:r>
              <a:rPr lang="en-US" altLang="ko-KR" sz="1250" b="1" dirty="0">
                <a:solidFill>
                  <a:srgbClr val="222633"/>
                </a:solidFill>
                <a:latin typeface="Pretendard" pitchFamily="34" charset="0"/>
                <a:ea typeface="Pretendard" pitchFamily="34" charset="-122"/>
                <a:cs typeface="Pretendard" pitchFamily="34" charset="-120"/>
              </a:rPr>
              <a:t>37</a:t>
            </a:r>
            <a:r>
              <a:rPr lang="ko-KR" altLang="en-US" sz="1250" b="1" dirty="0">
                <a:solidFill>
                  <a:srgbClr val="222633"/>
                </a:solidFill>
                <a:latin typeface="Pretendard" pitchFamily="34" charset="0"/>
                <a:ea typeface="Pretendard" pitchFamily="34" charset="-122"/>
                <a:cs typeface="Pretendard" pitchFamily="34" charset="-120"/>
              </a:rPr>
              <a:t>명 </a:t>
            </a:r>
            <a:r>
              <a:rPr lang="en-US" altLang="ko-KR" sz="1250" b="1" dirty="0">
                <a:solidFill>
                  <a:srgbClr val="222633"/>
                </a:solidFill>
                <a:latin typeface="Pretendard" pitchFamily="34" charset="0"/>
                <a:ea typeface="Pretendard" pitchFamily="34" charset="-122"/>
                <a:cs typeface="Pretendard" pitchFamily="34" charset="-120"/>
              </a:rPr>
              <a:t>— </a:t>
            </a:r>
            <a:r>
              <a:rPr lang="ko-KR" altLang="en-US" sz="1250" b="1" dirty="0">
                <a:solidFill>
                  <a:srgbClr val="222633"/>
                </a:solidFill>
                <a:latin typeface="Pretendard" pitchFamily="34" charset="0"/>
                <a:ea typeface="Pretendard" pitchFamily="34" charset="-122"/>
                <a:cs typeface="Pretendard" pitchFamily="34" charset="-120"/>
              </a:rPr>
              <a:t>소년부 판사 </a:t>
            </a:r>
            <a:r>
              <a:rPr lang="en-US" altLang="ko-KR" sz="1250" b="1" dirty="0">
                <a:solidFill>
                  <a:srgbClr val="222633"/>
                </a:solidFill>
                <a:latin typeface="Pretendard" pitchFamily="34" charset="0"/>
                <a:ea typeface="Pretendard" pitchFamily="34" charset="-122"/>
                <a:cs typeface="Pretendard" pitchFamily="34" charset="-120"/>
              </a:rPr>
              <a:t>12 · </a:t>
            </a:r>
            <a:r>
              <a:rPr lang="ko-KR" altLang="en-US" sz="1250" b="1" dirty="0">
                <a:solidFill>
                  <a:srgbClr val="222633"/>
                </a:solidFill>
                <a:latin typeface="Pretendard" pitchFamily="34" charset="0"/>
                <a:ea typeface="Pretendard" pitchFamily="34" charset="-122"/>
                <a:cs typeface="Pretendard" pitchFamily="34" charset="-120"/>
              </a:rPr>
              <a:t>국선보조인 </a:t>
            </a:r>
            <a:r>
              <a:rPr lang="en-US" altLang="ko-KR" sz="1250" b="1" dirty="0">
                <a:solidFill>
                  <a:srgbClr val="222633"/>
                </a:solidFill>
                <a:latin typeface="Pretendard" pitchFamily="34" charset="0"/>
                <a:ea typeface="Pretendard" pitchFamily="34" charset="-122"/>
                <a:cs typeface="Pretendard" pitchFamily="34" charset="-120"/>
              </a:rPr>
              <a:t>10 · </a:t>
            </a:r>
            <a:r>
              <a:rPr lang="ko-KR" altLang="en-US" sz="1250" b="1" dirty="0">
                <a:solidFill>
                  <a:srgbClr val="222633"/>
                </a:solidFill>
                <a:latin typeface="Pretendard" pitchFamily="34" charset="0"/>
                <a:ea typeface="Pretendard" pitchFamily="34" charset="-122"/>
                <a:cs typeface="Pretendard" pitchFamily="34" charset="-120"/>
              </a:rPr>
              <a:t>분류심사관 </a:t>
            </a:r>
            <a:r>
              <a:rPr lang="en-US" altLang="ko-KR" sz="1250" b="1" dirty="0">
                <a:solidFill>
                  <a:srgbClr val="222633"/>
                </a:solidFill>
                <a:latin typeface="Pretendard" pitchFamily="34" charset="0"/>
                <a:ea typeface="Pretendard" pitchFamily="34" charset="-122"/>
                <a:cs typeface="Pretendard" pitchFamily="34" charset="-120"/>
              </a:rPr>
              <a:t>10 · </a:t>
            </a:r>
            <a:r>
              <a:rPr lang="ko-KR" altLang="en-US" sz="1250" b="1" dirty="0">
                <a:solidFill>
                  <a:srgbClr val="222633"/>
                </a:solidFill>
                <a:latin typeface="Pretendard" pitchFamily="34" charset="0"/>
                <a:ea typeface="Pretendard" pitchFamily="34" charset="-122"/>
                <a:cs typeface="Pretendard" pitchFamily="34" charset="-120"/>
              </a:rPr>
              <a:t>연구자 </a:t>
            </a:r>
            <a:r>
              <a:rPr lang="en-US" altLang="ko-KR" sz="1250" b="1" dirty="0">
                <a:solidFill>
                  <a:srgbClr val="222633"/>
                </a:solidFill>
                <a:latin typeface="Pretendard" pitchFamily="34" charset="0"/>
                <a:ea typeface="Pretendard" pitchFamily="34" charset="-122"/>
                <a:cs typeface="Pretendard" pitchFamily="34" charset="-120"/>
              </a:rPr>
              <a:t>5</a:t>
            </a:r>
          </a:p>
          <a:p>
            <a:pPr>
              <a:lnSpc>
                <a:spcPct val="150000"/>
              </a:lnSpc>
            </a:pPr>
            <a:r>
              <a:rPr lang="ko-KR" altLang="en-US" sz="1250" b="1" dirty="0">
                <a:solidFill>
                  <a:srgbClr val="1E2761"/>
                </a:solidFill>
                <a:latin typeface="Pretendard" pitchFamily="34" charset="0"/>
                <a:ea typeface="Pretendard" pitchFamily="34" charset="-122"/>
                <a:cs typeface="Pretendard" pitchFamily="34" charset="-120"/>
              </a:rPr>
              <a:t>내용</a:t>
            </a:r>
            <a:r>
              <a:rPr lang="en-US" altLang="ko-KR" sz="1250" b="1" dirty="0">
                <a:solidFill>
                  <a:srgbClr val="1E2761"/>
                </a:solidFill>
                <a:latin typeface="Pretendard" pitchFamily="34" charset="0"/>
                <a:ea typeface="Pretendard" pitchFamily="34" charset="-122"/>
                <a:cs typeface="Pretendard" pitchFamily="34" charset="-120"/>
              </a:rPr>
              <a:t>: </a:t>
            </a:r>
            <a:r>
              <a:rPr lang="ko-KR" altLang="en-US" sz="1250" dirty="0">
                <a:solidFill>
                  <a:schemeClr val="tx1">
                    <a:lumMod val="65000"/>
                    <a:lumOff val="35000"/>
                  </a:schemeClr>
                </a:solidFill>
                <a:latin typeface="Pretendard" pitchFamily="34" charset="0"/>
                <a:ea typeface="Pretendard" pitchFamily="34" charset="-122"/>
                <a:cs typeface="Pretendard" pitchFamily="34" charset="-120"/>
              </a:rPr>
              <a:t>보호처분 필요성</a:t>
            </a:r>
            <a:r>
              <a:rPr lang="en-US" altLang="ko-KR" sz="1250" dirty="0">
                <a:solidFill>
                  <a:schemeClr val="tx1">
                    <a:lumMod val="65000"/>
                    <a:lumOff val="35000"/>
                  </a:schemeClr>
                </a:solidFill>
                <a:latin typeface="Pretendard" pitchFamily="34" charset="0"/>
                <a:ea typeface="Pretendard" pitchFamily="34" charset="-122"/>
                <a:cs typeface="Pretendard" pitchFamily="34" charset="-120"/>
              </a:rPr>
              <a:t>·</a:t>
            </a:r>
            <a:r>
              <a:rPr lang="ko-KR" altLang="en-US" sz="1250" dirty="0">
                <a:solidFill>
                  <a:schemeClr val="tx1">
                    <a:lumMod val="65000"/>
                    <a:lumOff val="35000"/>
                  </a:schemeClr>
                </a:solidFill>
                <a:latin typeface="Pretendard" pitchFamily="34" charset="0"/>
                <a:ea typeface="Pretendard" pitchFamily="34" charset="-122"/>
                <a:cs typeface="Pretendard" pitchFamily="34" charset="-120"/>
              </a:rPr>
              <a:t>유형 선택기준</a:t>
            </a:r>
            <a:r>
              <a:rPr lang="en-US" altLang="ko-KR" sz="1250" dirty="0">
                <a:solidFill>
                  <a:schemeClr val="tx1">
                    <a:lumMod val="65000"/>
                    <a:lumOff val="35000"/>
                  </a:schemeClr>
                </a:solidFill>
                <a:latin typeface="Pretendard" pitchFamily="34" charset="0"/>
                <a:ea typeface="Pretendard" pitchFamily="34" charset="-122"/>
                <a:cs typeface="Pretendard" pitchFamily="34" charset="-120"/>
              </a:rPr>
              <a:t>·</a:t>
            </a:r>
            <a:r>
              <a:rPr lang="ko-KR" altLang="en-US" sz="1250" dirty="0">
                <a:solidFill>
                  <a:schemeClr val="tx1">
                    <a:lumMod val="65000"/>
                    <a:lumOff val="35000"/>
                  </a:schemeClr>
                </a:solidFill>
                <a:latin typeface="Pretendard" pitchFamily="34" charset="0"/>
                <a:ea typeface="Pretendard" pitchFamily="34" charset="-122"/>
                <a:cs typeface="Pretendard" pitchFamily="34" charset="-120"/>
              </a:rPr>
              <a:t>가정환경</a:t>
            </a:r>
            <a:r>
              <a:rPr lang="en-US" altLang="ko-KR" sz="1250" dirty="0">
                <a:solidFill>
                  <a:schemeClr val="tx1">
                    <a:lumMod val="65000"/>
                    <a:lumOff val="35000"/>
                  </a:schemeClr>
                </a:solidFill>
                <a:latin typeface="Pretendard" pitchFamily="34" charset="0"/>
                <a:ea typeface="Pretendard" pitchFamily="34" charset="-122"/>
                <a:cs typeface="Pretendard" pitchFamily="34" charset="-120"/>
              </a:rPr>
              <a:t>·</a:t>
            </a:r>
            <a:r>
              <a:rPr lang="ko-KR" altLang="en-US" sz="1250" dirty="0">
                <a:solidFill>
                  <a:schemeClr val="tx1">
                    <a:lumMod val="65000"/>
                    <a:lumOff val="35000"/>
                  </a:schemeClr>
                </a:solidFill>
                <a:latin typeface="Pretendard" pitchFamily="34" charset="0"/>
                <a:ea typeface="Pretendard" pitchFamily="34" charset="-122"/>
                <a:cs typeface="Pretendard" pitchFamily="34" charset="-120"/>
              </a:rPr>
              <a:t>지역자원</a:t>
            </a:r>
            <a:r>
              <a:rPr lang="en-US" altLang="ko-KR" sz="1250" dirty="0">
                <a:solidFill>
                  <a:schemeClr val="tx1">
                    <a:lumMod val="65000"/>
                    <a:lumOff val="35000"/>
                  </a:schemeClr>
                </a:solidFill>
                <a:latin typeface="Pretendard" pitchFamily="34" charset="0"/>
                <a:ea typeface="Pretendard" pitchFamily="34" charset="-122"/>
                <a:cs typeface="Pretendard" pitchFamily="34" charset="-120"/>
              </a:rPr>
              <a:t>·</a:t>
            </a:r>
            <a:r>
              <a:rPr lang="ko-KR" altLang="en-US" sz="1250" dirty="0">
                <a:solidFill>
                  <a:schemeClr val="tx1">
                    <a:lumMod val="65000"/>
                    <a:lumOff val="35000"/>
                  </a:schemeClr>
                </a:solidFill>
                <a:latin typeface="Pretendard" pitchFamily="34" charset="0"/>
                <a:ea typeface="Pretendard" pitchFamily="34" charset="-122"/>
                <a:cs typeface="Pretendard" pitchFamily="34" charset="-120"/>
              </a:rPr>
              <a:t>개선과제에 관한 심층면접</a:t>
            </a:r>
            <a:endParaRPr lang="en-US" altLang="ko-KR" sz="1250" dirty="0">
              <a:solidFill>
                <a:schemeClr val="tx1">
                  <a:lumMod val="65000"/>
                  <a:lumOff val="35000"/>
                </a:schemeClr>
              </a:solidFill>
              <a:latin typeface="Pretendard" pitchFamily="34" charset="0"/>
              <a:ea typeface="Pretendard" pitchFamily="34" charset="-122"/>
              <a:cs typeface="Pretendard" pitchFamily="34" charset="-120"/>
            </a:endParaRPr>
          </a:p>
          <a:p>
            <a:pPr>
              <a:lnSpc>
                <a:spcPct val="150000"/>
              </a:lnSpc>
            </a:pPr>
            <a:endParaRPr lang="ko-KR" altLang="en-US" sz="1250" b="1" dirty="0">
              <a:solidFill>
                <a:srgbClr val="222633"/>
              </a:solidFill>
              <a:latin typeface="Pretendard" pitchFamily="34" charset="0"/>
              <a:ea typeface="Pretendard" pitchFamily="34" charset="-122"/>
              <a:cs typeface="Pretendard" pitchFamily="34" charset="-120"/>
            </a:endParaRPr>
          </a:p>
        </p:txBody>
      </p:sp>
      <p:sp>
        <p:nvSpPr>
          <p:cNvPr id="47" name="bandbg">
            <a:extLst>
              <a:ext uri="{FF2B5EF4-FFF2-40B4-BE49-F238E27FC236}">
                <a16:creationId xmlns:a16="http://schemas.microsoft.com/office/drawing/2014/main" id="{203A3C27-1D66-6DE1-9941-3B4B23565BC4}"/>
              </a:ext>
            </a:extLst>
          </p:cNvPr>
          <p:cNvSpPr/>
          <p:nvPr/>
        </p:nvSpPr>
        <p:spPr>
          <a:xfrm>
            <a:off x="737870" y="5892630"/>
            <a:ext cx="10719562" cy="504613"/>
          </a:xfrm>
          <a:prstGeom prst="rect">
            <a:avLst/>
          </a:prstGeom>
          <a:solidFill>
            <a:srgbClr val="1E2761"/>
          </a:solidFill>
          <a:ln>
            <a:noFill/>
          </a:ln>
        </p:spPr>
        <p:txBody>
          <a:bodyPr/>
          <a:lstStyle/>
          <a:p>
            <a:endParaRPr/>
          </a:p>
        </p:txBody>
      </p:sp>
      <p:sp>
        <p:nvSpPr>
          <p:cNvPr id="50" name="band">
            <a:extLst>
              <a:ext uri="{FF2B5EF4-FFF2-40B4-BE49-F238E27FC236}">
                <a16:creationId xmlns:a16="http://schemas.microsoft.com/office/drawing/2014/main" id="{5A3F482F-FAD6-88E7-3F81-EAEE58F736A5}"/>
              </a:ext>
            </a:extLst>
          </p:cNvPr>
          <p:cNvSpPr txBox="1"/>
          <p:nvPr/>
        </p:nvSpPr>
        <p:spPr>
          <a:xfrm>
            <a:off x="737870" y="5900264"/>
            <a:ext cx="10716260" cy="461166"/>
          </a:xfrm>
          <a:prstGeom prst="rect">
            <a:avLst/>
          </a:prstGeom>
          <a:noFill/>
        </p:spPr>
        <p:txBody>
          <a:bodyPr wrap="square" lIns="0" tIns="27432" rIns="0" bIns="27432" anchor="ctr">
            <a:noAutofit/>
          </a:bodyPr>
          <a:lstStyle/>
          <a:p>
            <a:pPr algn="ctr">
              <a:lnSpc>
                <a:spcPct val="118000"/>
              </a:lnSpc>
            </a:pPr>
            <a:r>
              <a:rPr lang="ko-KR" altLang="en-US"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현행 보호체계의 문제는 처분수단의 부재뿐 아니라</a:t>
            </a:r>
            <a:r>
              <a:rPr lang="en-US" altLang="ko-KR"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누구에게 어떤 처분을 선택할지에 관한 판단기준과 운영의 문제이기도 하다</a:t>
            </a:r>
            <a:r>
              <a:rPr lang="en-US" altLang="ko-KR"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rPr>
              <a:t>.</a:t>
            </a:r>
            <a:endParaRPr sz="1250" b="1" dirty="0">
              <a:solidFill>
                <a:srgbClr val="FFFFFF"/>
              </a:solidFill>
              <a:latin typeface="Pretendard" panose="02000503000000020004" pitchFamily="2" charset="-127"/>
              <a:ea typeface="Pretendard" panose="02000503000000020004" pitchFamily="2" charset="-127"/>
              <a:cs typeface="Pretendard" panose="02000503000000020004" pitchFamily="2" charset="-127"/>
            </a:endParaRPr>
          </a:p>
        </p:txBody>
      </p:sp>
    </p:spTree>
    <p:extLst>
      <p:ext uri="{BB962C8B-B14F-4D97-AF65-F5344CB8AC3E}">
        <p14:creationId xmlns:p14="http://schemas.microsoft.com/office/powerpoint/2010/main" val="3771014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dirty="0" err="1">
                <a:solidFill>
                  <a:srgbClr val="464D5C"/>
                </a:solidFill>
                <a:latin typeface="Pretendard"/>
              </a:rPr>
              <a:t>응보·예방·보호와</a:t>
            </a:r>
            <a:r>
              <a:rPr sz="1250" b="1" dirty="0">
                <a:solidFill>
                  <a:srgbClr val="464D5C"/>
                </a:solidFill>
                <a:latin typeface="Pretendard"/>
              </a:rPr>
              <a:t> </a:t>
            </a:r>
            <a:r>
              <a:rPr sz="1250" b="1" dirty="0" err="1">
                <a:solidFill>
                  <a:srgbClr val="464D5C"/>
                </a:solidFill>
                <a:latin typeface="Pretendard"/>
              </a:rPr>
              <a:t>현행제도의</a:t>
            </a:r>
            <a:r>
              <a:rPr sz="1250" b="1" dirty="0">
                <a:solidFill>
                  <a:srgbClr val="464D5C"/>
                </a:solidFill>
                <a:latin typeface="Pretendard"/>
              </a:rPr>
              <a:t> </a:t>
            </a:r>
            <a:r>
              <a:rPr sz="1250" b="1" dirty="0" err="1">
                <a:solidFill>
                  <a:srgbClr val="464D5C"/>
                </a:solidFill>
                <a:latin typeface="Pretendard"/>
              </a:rPr>
              <a:t>한계</a:t>
            </a:r>
            <a:endParaRPr sz="1250" b="1" dirty="0">
              <a:solidFill>
                <a:srgbClr val="464D5C"/>
              </a:solidFill>
              <a:latin typeface="Pretendard"/>
            </a:endParaRP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러시아 아동의 시설수용과 권리침해</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nSpc>
                <a:spcPct val="118000"/>
              </a:lnSpc>
            </a:pPr>
            <a:r>
              <a:rPr lang="ko-KR" altLang="en-US" sz="2750" b="1" dirty="0">
                <a:solidFill>
                  <a:srgbClr val="1E2761"/>
                </a:solidFill>
                <a:latin typeface="Pretendard"/>
                <a:ea typeface="Pretendard"/>
                <a:cs typeface="Pretendard"/>
              </a:rPr>
              <a:t>소년분류심사원 위탁 </a:t>
            </a:r>
            <a:r>
              <a:rPr lang="en-US" altLang="ko-KR" sz="2750" b="1" dirty="0">
                <a:solidFill>
                  <a:srgbClr val="1E2761"/>
                </a:solidFill>
                <a:latin typeface="Pretendard"/>
                <a:ea typeface="Pretendard"/>
                <a:cs typeface="Pretendard"/>
              </a:rPr>
              <a:t>— </a:t>
            </a:r>
            <a:r>
              <a:rPr lang="ko-KR" altLang="en-US" sz="2750" b="1" dirty="0">
                <a:solidFill>
                  <a:srgbClr val="1E2761"/>
                </a:solidFill>
                <a:latin typeface="Pretendard"/>
                <a:ea typeface="Pretendard"/>
                <a:cs typeface="Pretendard"/>
              </a:rPr>
              <a:t>최종 처분 전의 임시 진단</a:t>
            </a:r>
            <a:r>
              <a:rPr lang="en-US" altLang="ko-KR" sz="2750" b="1" dirty="0">
                <a:solidFill>
                  <a:srgbClr val="1E2761"/>
                </a:solidFill>
                <a:latin typeface="Pretendard"/>
                <a:ea typeface="Pretendard"/>
                <a:cs typeface="Pretendard"/>
              </a:rPr>
              <a:t>·</a:t>
            </a:r>
            <a:r>
              <a:rPr lang="ko-KR" altLang="en-US" sz="2750" b="1" dirty="0">
                <a:solidFill>
                  <a:srgbClr val="1E2761"/>
                </a:solidFill>
                <a:latin typeface="Pretendard"/>
                <a:ea typeface="Pretendard"/>
                <a:cs typeface="Pretendard"/>
              </a:rPr>
              <a:t>관찰</a:t>
            </a:r>
          </a:p>
        </p:txBody>
      </p:sp>
      <p:sp>
        <p:nvSpPr>
          <p:cNvPr id="13" name="topband"/>
          <p:cNvSpPr/>
          <p:nvPr/>
        </p:nvSpPr>
        <p:spPr>
          <a:xfrm>
            <a:off x="731520" y="1417319"/>
            <a:ext cx="10725912" cy="576071"/>
          </a:xfrm>
          <a:prstGeom prst="rect">
            <a:avLst/>
          </a:prstGeom>
          <a:solidFill>
            <a:srgbClr val="F2F4F8"/>
          </a:solidFill>
          <a:ln>
            <a:noFill/>
          </a:ln>
        </p:spPr>
        <p:txBody>
          <a:bodyPr/>
          <a:lstStyle/>
          <a:p>
            <a:endParaRPr/>
          </a:p>
        </p:txBody>
      </p:sp>
      <p:sp>
        <p:nvSpPr>
          <p:cNvPr id="14" name="topbandtx"/>
          <p:cNvSpPr txBox="1"/>
          <p:nvPr/>
        </p:nvSpPr>
        <p:spPr>
          <a:xfrm>
            <a:off x="1005840" y="1417319"/>
            <a:ext cx="10149840" cy="576071"/>
          </a:xfrm>
          <a:prstGeom prst="rect">
            <a:avLst/>
          </a:prstGeom>
          <a:noFill/>
        </p:spPr>
        <p:txBody>
          <a:bodyPr wrap="square" lIns="0" tIns="27432" rIns="0" bIns="27432" anchor="ctr">
            <a:noAutofit/>
          </a:bodyPr>
          <a:lstStyle/>
          <a:p>
            <a:pPr>
              <a:lnSpc>
                <a:spcPct val="118000"/>
              </a:lnSpc>
            </a:pPr>
            <a:r>
              <a:rPr lang="ko-KR" altLang="en-US" sz="1300" b="1" dirty="0">
                <a:solidFill>
                  <a:srgbClr val="1E2761"/>
                </a:solidFill>
                <a:latin typeface="Pretendard"/>
                <a:ea typeface="Pretendard"/>
                <a:cs typeface="Pretendard"/>
              </a:rPr>
              <a:t>소년분류심사원 위탁은 소년부 판사가 조사</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심리에 필요하다고 보아 소년을 소년분류심사원에 맡기는 임시조치 중 하나이다</a:t>
            </a:r>
            <a:r>
              <a:rPr lang="en-US" altLang="ko-KR" sz="1300" b="1" dirty="0">
                <a:solidFill>
                  <a:srgbClr val="1E2761"/>
                </a:solidFill>
                <a:latin typeface="Pretendard"/>
                <a:ea typeface="Pretendard"/>
                <a:cs typeface="Pretendard"/>
              </a:rPr>
              <a:t>.</a:t>
            </a:r>
          </a:p>
          <a:p>
            <a:pPr>
              <a:lnSpc>
                <a:spcPct val="118000"/>
              </a:lnSpc>
            </a:pPr>
            <a:r>
              <a:rPr lang="ko-KR" altLang="en-US" sz="1300" dirty="0" err="1">
                <a:solidFill>
                  <a:schemeClr val="tx1">
                    <a:lumMod val="65000"/>
                    <a:lumOff val="35000"/>
                  </a:schemeClr>
                </a:solidFill>
                <a:latin typeface="Pretendard"/>
                <a:ea typeface="Pretendard"/>
                <a:cs typeface="Pretendard"/>
              </a:rPr>
              <a:t>ㅡ</a:t>
            </a:r>
            <a:r>
              <a:rPr lang="ko-KR" altLang="en-US" sz="1300" dirty="0">
                <a:solidFill>
                  <a:schemeClr val="tx1">
                    <a:lumMod val="65000"/>
                    <a:lumOff val="35000"/>
                  </a:schemeClr>
                </a:solidFill>
                <a:latin typeface="Pretendard"/>
                <a:ea typeface="Pretendard"/>
                <a:cs typeface="Pretendard"/>
              </a:rPr>
              <a:t> 가족관계 </a:t>
            </a:r>
            <a:r>
              <a:rPr lang="en-US" altLang="ko-KR" sz="1300" dirty="0">
                <a:solidFill>
                  <a:schemeClr val="tx1">
                    <a:lumMod val="65000"/>
                    <a:lumOff val="35000"/>
                  </a:schemeClr>
                </a:solidFill>
                <a:latin typeface="Pretendard"/>
                <a:ea typeface="Pretendard"/>
                <a:cs typeface="Pretendard"/>
              </a:rPr>
              <a:t>· </a:t>
            </a:r>
            <a:r>
              <a:rPr lang="ko-KR" altLang="en-US" sz="1300" dirty="0">
                <a:solidFill>
                  <a:schemeClr val="tx1">
                    <a:lumMod val="65000"/>
                    <a:lumOff val="35000"/>
                  </a:schemeClr>
                </a:solidFill>
                <a:latin typeface="Pretendard"/>
                <a:ea typeface="Pretendard"/>
                <a:cs typeface="Pretendard"/>
              </a:rPr>
              <a:t>학교생활 </a:t>
            </a:r>
            <a:r>
              <a:rPr lang="en-US" altLang="ko-KR" sz="1300" dirty="0">
                <a:solidFill>
                  <a:schemeClr val="tx1">
                    <a:lumMod val="65000"/>
                    <a:lumOff val="35000"/>
                  </a:schemeClr>
                </a:solidFill>
                <a:latin typeface="Pretendard"/>
                <a:ea typeface="Pretendard"/>
                <a:cs typeface="Pretendard"/>
              </a:rPr>
              <a:t>· </a:t>
            </a:r>
            <a:r>
              <a:rPr lang="ko-KR" altLang="en-US" sz="1300" dirty="0">
                <a:solidFill>
                  <a:schemeClr val="tx1">
                    <a:lumMod val="65000"/>
                    <a:lumOff val="35000"/>
                  </a:schemeClr>
                </a:solidFill>
                <a:latin typeface="Pretendard"/>
                <a:ea typeface="Pretendard"/>
                <a:cs typeface="Pretendard"/>
              </a:rPr>
              <a:t>비행경위 </a:t>
            </a:r>
            <a:r>
              <a:rPr lang="en-US" altLang="ko-KR" sz="1300" dirty="0">
                <a:solidFill>
                  <a:schemeClr val="tx1">
                    <a:lumMod val="65000"/>
                    <a:lumOff val="35000"/>
                  </a:schemeClr>
                </a:solidFill>
                <a:latin typeface="Pretendard"/>
                <a:ea typeface="Pretendard"/>
                <a:cs typeface="Pretendard"/>
              </a:rPr>
              <a:t>· </a:t>
            </a:r>
            <a:r>
              <a:rPr lang="ko-KR" altLang="en-US" sz="1300" dirty="0">
                <a:solidFill>
                  <a:schemeClr val="tx1">
                    <a:lumMod val="65000"/>
                    <a:lumOff val="35000"/>
                  </a:schemeClr>
                </a:solidFill>
                <a:latin typeface="Pretendard"/>
                <a:ea typeface="Pretendard"/>
                <a:cs typeface="Pretendard"/>
              </a:rPr>
              <a:t>심리상태 </a:t>
            </a:r>
            <a:r>
              <a:rPr lang="en-US" altLang="ko-KR" sz="1300" dirty="0">
                <a:solidFill>
                  <a:schemeClr val="tx1">
                    <a:lumMod val="65000"/>
                    <a:lumOff val="35000"/>
                  </a:schemeClr>
                </a:solidFill>
                <a:latin typeface="Pretendard"/>
                <a:ea typeface="Pretendard"/>
                <a:cs typeface="Pretendard"/>
              </a:rPr>
              <a:t>· </a:t>
            </a:r>
            <a:r>
              <a:rPr lang="ko-KR" altLang="en-US" sz="1300" dirty="0">
                <a:solidFill>
                  <a:schemeClr val="tx1">
                    <a:lumMod val="65000"/>
                    <a:lumOff val="35000"/>
                  </a:schemeClr>
                </a:solidFill>
                <a:latin typeface="Pretendard"/>
                <a:ea typeface="Pretendard"/>
                <a:cs typeface="Pretendard"/>
              </a:rPr>
              <a:t>보호환경 </a:t>
            </a:r>
            <a:r>
              <a:rPr lang="en-US" altLang="ko-KR" sz="1300" dirty="0">
                <a:solidFill>
                  <a:schemeClr val="tx1">
                    <a:lumMod val="65000"/>
                    <a:lumOff val="35000"/>
                  </a:schemeClr>
                </a:solidFill>
                <a:latin typeface="Pretendard"/>
                <a:ea typeface="Pretendard"/>
                <a:cs typeface="Pretendard"/>
              </a:rPr>
              <a:t>· </a:t>
            </a:r>
            <a:r>
              <a:rPr lang="ko-KR" altLang="en-US" sz="1300" dirty="0">
                <a:solidFill>
                  <a:schemeClr val="tx1">
                    <a:lumMod val="65000"/>
                    <a:lumOff val="35000"/>
                  </a:schemeClr>
                </a:solidFill>
                <a:latin typeface="Pretendard"/>
                <a:ea typeface="Pretendard"/>
                <a:cs typeface="Pretendard"/>
              </a:rPr>
              <a:t>적절한 처우 등을 살핀다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bx16"/>
          <p:cNvSpPr/>
          <p:nvPr/>
        </p:nvSpPr>
        <p:spPr>
          <a:xfrm>
            <a:off x="731520" y="2505456"/>
            <a:ext cx="2743200" cy="457200"/>
          </a:xfrm>
          <a:prstGeom prst="rect">
            <a:avLst/>
          </a:prstGeom>
          <a:noFill/>
          <a:ln w="9525">
            <a:solidFill>
              <a:srgbClr val="DCE0E8"/>
            </a:solidFill>
          </a:ln>
        </p:spPr>
        <p:txBody>
          <a:bodyPr/>
          <a:lstStyle/>
          <a:p>
            <a:endParaRPr/>
          </a:p>
        </p:txBody>
      </p:sp>
      <p:sp>
        <p:nvSpPr>
          <p:cNvPr id="17" name="nt17"/>
          <p:cNvSpPr txBox="1"/>
          <p:nvPr/>
        </p:nvSpPr>
        <p:spPr>
          <a:xfrm>
            <a:off x="731520" y="2505456"/>
            <a:ext cx="2743200" cy="457200"/>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경찰서장의 소년부 송치</a:t>
            </a:r>
          </a:p>
        </p:txBody>
      </p:sp>
      <p:sp>
        <p:nvSpPr>
          <p:cNvPr id="18" name="bx18"/>
          <p:cNvSpPr/>
          <p:nvPr/>
        </p:nvSpPr>
        <p:spPr>
          <a:xfrm>
            <a:off x="4480560" y="2505456"/>
            <a:ext cx="2743200" cy="457200"/>
          </a:xfrm>
          <a:prstGeom prst="rect">
            <a:avLst/>
          </a:prstGeom>
          <a:noFill/>
          <a:ln w="9525">
            <a:solidFill>
              <a:srgbClr val="DCE0E8"/>
            </a:solidFill>
          </a:ln>
        </p:spPr>
        <p:txBody>
          <a:bodyPr/>
          <a:lstStyle/>
          <a:p>
            <a:endParaRPr/>
          </a:p>
        </p:txBody>
      </p:sp>
      <p:sp>
        <p:nvSpPr>
          <p:cNvPr id="19" name="nt19"/>
          <p:cNvSpPr txBox="1"/>
          <p:nvPr/>
        </p:nvSpPr>
        <p:spPr>
          <a:xfrm>
            <a:off x="4480560" y="2505456"/>
            <a:ext cx="2743200" cy="457200"/>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소년부 조사·심리</a:t>
            </a:r>
          </a:p>
        </p:txBody>
      </p:sp>
      <p:sp>
        <p:nvSpPr>
          <p:cNvPr id="20" name="bx20"/>
          <p:cNvSpPr/>
          <p:nvPr/>
        </p:nvSpPr>
        <p:spPr>
          <a:xfrm>
            <a:off x="8229600" y="2505456"/>
            <a:ext cx="2743200" cy="457200"/>
          </a:xfrm>
          <a:prstGeom prst="rect">
            <a:avLst/>
          </a:prstGeom>
          <a:noFill/>
          <a:ln w="9525">
            <a:solidFill>
              <a:srgbClr val="DCE0E8"/>
            </a:solidFill>
          </a:ln>
        </p:spPr>
        <p:txBody>
          <a:bodyPr/>
          <a:lstStyle/>
          <a:p>
            <a:endParaRPr/>
          </a:p>
        </p:txBody>
      </p:sp>
      <p:sp>
        <p:nvSpPr>
          <p:cNvPr id="21" name="nt21"/>
          <p:cNvSpPr txBox="1"/>
          <p:nvPr/>
        </p:nvSpPr>
        <p:spPr>
          <a:xfrm>
            <a:off x="8229600" y="2505456"/>
            <a:ext cx="2743200" cy="457200"/>
          </a:xfrm>
          <a:prstGeom prst="rect">
            <a:avLst/>
          </a:prstGeom>
          <a:noFill/>
        </p:spPr>
        <p:txBody>
          <a:bodyPr wrap="square" lIns="0" tIns="27432" rIns="0" bIns="27432" anchor="ctr">
            <a:noAutofit/>
          </a:bodyPr>
          <a:lstStyle/>
          <a:p>
            <a:pPr algn="ctr">
              <a:lnSpc>
                <a:spcPct val="118000"/>
              </a:lnSpc>
            </a:pPr>
            <a:r>
              <a:rPr lang="ko-KR" sz="1250" b="1" dirty="0">
                <a:solidFill>
                  <a:srgbClr val="1E2761"/>
                </a:solidFill>
                <a:latin typeface="Pretendard"/>
                <a:ea typeface="Pretendard"/>
                <a:cs typeface="Pretendard"/>
              </a:rPr>
              <a:t>보호처분 결정</a:t>
            </a:r>
          </a:p>
        </p:txBody>
      </p:sp>
      <p:sp>
        <p:nvSpPr>
          <p:cNvPr id="22" name="ar22"/>
          <p:cNvSpPr/>
          <p:nvPr/>
        </p:nvSpPr>
        <p:spPr>
          <a:xfrm>
            <a:off x="3657600" y="2734056"/>
            <a:ext cx="237744" cy="0"/>
          </a:xfrm>
          <a:prstGeom prst="line">
            <a:avLst/>
          </a:prstGeom>
          <a:ln w="12700">
            <a:solidFill>
              <a:srgbClr val="464D5C"/>
            </a:solidFill>
            <a:tailEnd type="triangle"/>
          </a:ln>
        </p:spPr>
        <p:txBody>
          <a:bodyPr/>
          <a:lstStyle/>
          <a:p>
            <a:endParaRPr/>
          </a:p>
        </p:txBody>
      </p:sp>
      <p:sp>
        <p:nvSpPr>
          <p:cNvPr id="23" name="ar23"/>
          <p:cNvSpPr/>
          <p:nvPr/>
        </p:nvSpPr>
        <p:spPr>
          <a:xfrm>
            <a:off x="7406640" y="2734056"/>
            <a:ext cx="237744" cy="0"/>
          </a:xfrm>
          <a:prstGeom prst="line">
            <a:avLst/>
          </a:prstGeom>
          <a:ln w="12700">
            <a:solidFill>
              <a:srgbClr val="464D5C"/>
            </a:solidFill>
            <a:tailEnd type="triangle"/>
          </a:ln>
        </p:spPr>
        <p:txBody>
          <a:bodyPr/>
          <a:lstStyle/>
          <a:p>
            <a:endParaRPr/>
          </a:p>
        </p:txBody>
      </p:sp>
      <p:sp>
        <p:nvSpPr>
          <p:cNvPr id="24" name="gold"/>
          <p:cNvSpPr/>
          <p:nvPr/>
        </p:nvSpPr>
        <p:spPr>
          <a:xfrm>
            <a:off x="2926080" y="3291840"/>
            <a:ext cx="7589520" cy="1371600"/>
          </a:xfrm>
          <a:prstGeom prst="rect">
            <a:avLst/>
          </a:prstGeom>
          <a:noFill/>
          <a:ln w="19050">
            <a:solidFill>
              <a:srgbClr val="A8871C"/>
            </a:solidFill>
            <a:prstDash val="dash"/>
          </a:ln>
        </p:spPr>
        <p:txBody>
          <a:bodyPr/>
          <a:lstStyle/>
          <a:p>
            <a:endParaRPr/>
          </a:p>
        </p:txBody>
      </p:sp>
      <p:sp>
        <p:nvSpPr>
          <p:cNvPr id="25" name="ar25"/>
          <p:cNvSpPr/>
          <p:nvPr/>
        </p:nvSpPr>
        <p:spPr>
          <a:xfrm>
            <a:off x="5852160" y="2980944"/>
            <a:ext cx="0" cy="310895"/>
          </a:xfrm>
          <a:prstGeom prst="line">
            <a:avLst/>
          </a:prstGeom>
          <a:ln w="12700">
            <a:solidFill>
              <a:srgbClr val="464D5C"/>
            </a:solidFill>
            <a:tailEnd type="triangle"/>
          </a:ln>
        </p:spPr>
        <p:txBody>
          <a:bodyPr/>
          <a:lstStyle/>
          <a:p>
            <a:endParaRPr/>
          </a:p>
        </p:txBody>
      </p:sp>
      <p:sp>
        <p:nvSpPr>
          <p:cNvPr id="26" name="glab"/>
          <p:cNvSpPr txBox="1"/>
          <p:nvPr/>
        </p:nvSpPr>
        <p:spPr>
          <a:xfrm>
            <a:off x="3154680" y="3346704"/>
            <a:ext cx="7178040" cy="274320"/>
          </a:xfrm>
          <a:prstGeom prst="rect">
            <a:avLst/>
          </a:prstGeom>
          <a:noFill/>
        </p:spPr>
        <p:txBody>
          <a:bodyPr wrap="square" lIns="0" tIns="27432" rIns="0" bIns="27432" anchor="ctr">
            <a:noAutofit/>
          </a:bodyPr>
          <a:lstStyle/>
          <a:p>
            <a:pPr algn="l">
              <a:lnSpc>
                <a:spcPct val="118000"/>
              </a:lnSpc>
            </a:pPr>
            <a:r>
              <a:rPr lang="ko-KR" sz="1200" b="1" dirty="0">
                <a:solidFill>
                  <a:schemeClr val="accent1"/>
                </a:solidFill>
                <a:latin typeface="Pretendard"/>
                <a:ea typeface="Pretendard"/>
                <a:cs typeface="Pretendard"/>
              </a:rPr>
              <a:t>임시조치 — 소년법 제18조 제1항</a:t>
            </a:r>
          </a:p>
        </p:txBody>
      </p:sp>
      <p:sp>
        <p:nvSpPr>
          <p:cNvPr id="27" name="bx27"/>
          <p:cNvSpPr/>
          <p:nvPr/>
        </p:nvSpPr>
        <p:spPr>
          <a:xfrm>
            <a:off x="3154680" y="3639312"/>
            <a:ext cx="2103120" cy="475488"/>
          </a:xfrm>
          <a:prstGeom prst="rect">
            <a:avLst/>
          </a:prstGeom>
          <a:noFill/>
          <a:ln w="9525">
            <a:solidFill>
              <a:srgbClr val="DCE0E8"/>
            </a:solidFill>
          </a:ln>
        </p:spPr>
        <p:txBody>
          <a:bodyPr/>
          <a:lstStyle/>
          <a:p>
            <a:endParaRPr/>
          </a:p>
        </p:txBody>
      </p:sp>
      <p:sp>
        <p:nvSpPr>
          <p:cNvPr id="28" name="nt28"/>
          <p:cNvSpPr txBox="1"/>
          <p:nvPr/>
        </p:nvSpPr>
        <p:spPr>
          <a:xfrm>
            <a:off x="3154680" y="3639312"/>
            <a:ext cx="2103120" cy="475488"/>
          </a:xfrm>
          <a:prstGeom prst="rect">
            <a:avLst/>
          </a:prstGeom>
          <a:noFill/>
        </p:spPr>
        <p:txBody>
          <a:bodyPr wrap="square" lIns="0" tIns="27432" rIns="0" bIns="27432" anchor="ctr">
            <a:noAutofit/>
          </a:bodyPr>
          <a:lstStyle/>
          <a:p>
            <a:pPr algn="ctr">
              <a:lnSpc>
                <a:spcPct val="118000"/>
              </a:lnSpc>
            </a:pPr>
            <a:r>
              <a:rPr lang="ko-KR" sz="1200" b="1" dirty="0">
                <a:solidFill>
                  <a:srgbClr val="222633"/>
                </a:solidFill>
                <a:latin typeface="Pretendard"/>
                <a:ea typeface="Pretendard"/>
                <a:cs typeface="Pretendard"/>
              </a:rPr>
              <a:t>제1호 보호자·시설 위탁</a:t>
            </a:r>
          </a:p>
        </p:txBody>
      </p:sp>
      <p:sp>
        <p:nvSpPr>
          <p:cNvPr id="29" name="pr29"/>
          <p:cNvSpPr txBox="1"/>
          <p:nvPr/>
        </p:nvSpPr>
        <p:spPr>
          <a:xfrm>
            <a:off x="3154680" y="4142232"/>
            <a:ext cx="2103120" cy="237744"/>
          </a:xfrm>
          <a:prstGeom prst="rect">
            <a:avLst/>
          </a:prstGeom>
          <a:noFill/>
        </p:spPr>
        <p:txBody>
          <a:bodyPr wrap="square" lIns="0" tIns="27432" rIns="0" bIns="27432" anchor="ctr">
            <a:noAutofit/>
          </a:bodyPr>
          <a:lstStyle/>
          <a:p>
            <a:pPr algn="ctr">
              <a:lnSpc>
                <a:spcPct val="118000"/>
              </a:lnSpc>
            </a:pPr>
            <a:r>
              <a:rPr lang="ko-KR" sz="1150" b="0" dirty="0">
                <a:solidFill>
                  <a:srgbClr val="464D5C"/>
                </a:solidFill>
                <a:latin typeface="Pretendard"/>
                <a:ea typeface="Pretendard"/>
                <a:cs typeface="Pretendard"/>
              </a:rPr>
              <a:t>3개월 이내</a:t>
            </a:r>
          </a:p>
        </p:txBody>
      </p:sp>
      <p:sp>
        <p:nvSpPr>
          <p:cNvPr id="30" name="bx30"/>
          <p:cNvSpPr/>
          <p:nvPr/>
        </p:nvSpPr>
        <p:spPr>
          <a:xfrm>
            <a:off x="5669280" y="3639312"/>
            <a:ext cx="2103120" cy="475488"/>
          </a:xfrm>
          <a:prstGeom prst="rect">
            <a:avLst/>
          </a:prstGeom>
          <a:noFill/>
          <a:ln w="9525">
            <a:solidFill>
              <a:srgbClr val="DCE0E8"/>
            </a:solidFill>
          </a:ln>
        </p:spPr>
        <p:txBody>
          <a:bodyPr/>
          <a:lstStyle/>
          <a:p>
            <a:endParaRPr/>
          </a:p>
        </p:txBody>
      </p:sp>
      <p:sp>
        <p:nvSpPr>
          <p:cNvPr id="31" name="nt31"/>
          <p:cNvSpPr txBox="1"/>
          <p:nvPr/>
        </p:nvSpPr>
        <p:spPr>
          <a:xfrm>
            <a:off x="5669280" y="3639312"/>
            <a:ext cx="2103120" cy="475488"/>
          </a:xfrm>
          <a:prstGeom prst="rect">
            <a:avLst/>
          </a:prstGeom>
          <a:noFill/>
        </p:spPr>
        <p:txBody>
          <a:bodyPr wrap="square" lIns="0" tIns="27432" rIns="0" bIns="27432" anchor="ctr">
            <a:noAutofit/>
          </a:bodyPr>
          <a:lstStyle/>
          <a:p>
            <a:pPr algn="ctr">
              <a:lnSpc>
                <a:spcPct val="118000"/>
              </a:lnSpc>
            </a:pPr>
            <a:r>
              <a:rPr lang="ko-KR" sz="1200" b="1" dirty="0">
                <a:solidFill>
                  <a:srgbClr val="222633"/>
                </a:solidFill>
                <a:latin typeface="Pretendard"/>
                <a:ea typeface="Pretendard"/>
                <a:cs typeface="Pretendard"/>
              </a:rPr>
              <a:t>제2호 병원·요양소 위탁</a:t>
            </a:r>
          </a:p>
        </p:txBody>
      </p:sp>
      <p:sp>
        <p:nvSpPr>
          <p:cNvPr id="32" name="pr32"/>
          <p:cNvSpPr txBox="1"/>
          <p:nvPr/>
        </p:nvSpPr>
        <p:spPr>
          <a:xfrm>
            <a:off x="5669280" y="4142232"/>
            <a:ext cx="2103120" cy="237744"/>
          </a:xfrm>
          <a:prstGeom prst="rect">
            <a:avLst/>
          </a:prstGeom>
          <a:noFill/>
        </p:spPr>
        <p:txBody>
          <a:bodyPr wrap="square" lIns="0" tIns="27432" rIns="0" bIns="27432" anchor="ctr">
            <a:noAutofit/>
          </a:bodyPr>
          <a:lstStyle/>
          <a:p>
            <a:pPr algn="ctr">
              <a:lnSpc>
                <a:spcPct val="118000"/>
              </a:lnSpc>
            </a:pPr>
            <a:r>
              <a:rPr lang="ko-KR" sz="1150" b="0" dirty="0">
                <a:solidFill>
                  <a:srgbClr val="464D5C"/>
                </a:solidFill>
                <a:latin typeface="Pretendard"/>
                <a:ea typeface="Pretendard"/>
                <a:cs typeface="Pretendard"/>
              </a:rPr>
              <a:t>3개월 이내</a:t>
            </a:r>
          </a:p>
        </p:txBody>
      </p:sp>
      <p:sp>
        <p:nvSpPr>
          <p:cNvPr id="33" name="nf33"/>
          <p:cNvSpPr/>
          <p:nvPr/>
        </p:nvSpPr>
        <p:spPr>
          <a:xfrm>
            <a:off x="8183879" y="3639312"/>
            <a:ext cx="2103120" cy="475488"/>
          </a:xfrm>
          <a:prstGeom prst="rect">
            <a:avLst/>
          </a:prstGeom>
          <a:solidFill>
            <a:srgbClr val="5A6699"/>
          </a:solidFill>
          <a:ln>
            <a:noFill/>
          </a:ln>
        </p:spPr>
        <p:txBody>
          <a:bodyPr/>
          <a:lstStyle/>
          <a:p>
            <a:endParaRPr/>
          </a:p>
        </p:txBody>
      </p:sp>
      <p:sp>
        <p:nvSpPr>
          <p:cNvPr id="34" name="nt34"/>
          <p:cNvSpPr txBox="1"/>
          <p:nvPr/>
        </p:nvSpPr>
        <p:spPr>
          <a:xfrm>
            <a:off x="8183879" y="3639312"/>
            <a:ext cx="2103120" cy="475488"/>
          </a:xfrm>
          <a:prstGeom prst="rect">
            <a:avLst/>
          </a:prstGeom>
          <a:noFill/>
        </p:spPr>
        <p:txBody>
          <a:bodyPr wrap="square" lIns="0" tIns="27432" rIns="0" bIns="27432" anchor="ctr">
            <a:noAutofit/>
          </a:bodyPr>
          <a:lstStyle/>
          <a:p>
            <a:pPr algn="ctr">
              <a:lnSpc>
                <a:spcPct val="118000"/>
              </a:lnSpc>
            </a:pPr>
            <a:r>
              <a:rPr lang="ko-KR" sz="1200" b="1" dirty="0">
                <a:solidFill>
                  <a:srgbClr val="FFFFFF"/>
                </a:solidFill>
                <a:latin typeface="Pretendard"/>
                <a:ea typeface="Pretendard"/>
                <a:cs typeface="Pretendard"/>
              </a:rPr>
              <a:t>제3호 소년분류심사원 위탁</a:t>
            </a:r>
          </a:p>
        </p:txBody>
      </p:sp>
      <p:sp>
        <p:nvSpPr>
          <p:cNvPr id="35" name="pr35"/>
          <p:cNvSpPr txBox="1"/>
          <p:nvPr/>
        </p:nvSpPr>
        <p:spPr>
          <a:xfrm>
            <a:off x="8183879" y="4142232"/>
            <a:ext cx="2103120" cy="237744"/>
          </a:xfrm>
          <a:prstGeom prst="rect">
            <a:avLst/>
          </a:prstGeom>
          <a:noFill/>
        </p:spPr>
        <p:txBody>
          <a:bodyPr wrap="square" lIns="0" tIns="27432" rIns="0" bIns="27432" anchor="ctr">
            <a:noAutofit/>
          </a:bodyPr>
          <a:lstStyle/>
          <a:p>
            <a:pPr algn="ctr">
              <a:lnSpc>
                <a:spcPct val="118000"/>
              </a:lnSpc>
            </a:pPr>
            <a:r>
              <a:rPr lang="ko-KR" sz="1150" b="0" dirty="0">
                <a:solidFill>
                  <a:srgbClr val="464D5C"/>
                </a:solidFill>
                <a:latin typeface="Pretendard"/>
                <a:ea typeface="Pretendard"/>
                <a:cs typeface="Pretendard"/>
              </a:rPr>
              <a:t>1개월 이내</a:t>
            </a:r>
          </a:p>
        </p:txBody>
      </p:sp>
      <p:sp>
        <p:nvSpPr>
          <p:cNvPr id="36" name="ext"/>
          <p:cNvSpPr txBox="1"/>
          <p:nvPr/>
        </p:nvSpPr>
        <p:spPr>
          <a:xfrm>
            <a:off x="3108960" y="4407408"/>
            <a:ext cx="7223760" cy="219456"/>
          </a:xfrm>
          <a:prstGeom prst="rect">
            <a:avLst/>
          </a:prstGeom>
          <a:noFill/>
        </p:spPr>
        <p:txBody>
          <a:bodyPr wrap="square" lIns="0" tIns="27432" rIns="0" bIns="27432" anchor="ctr">
            <a:noAutofit/>
          </a:bodyPr>
          <a:lstStyle/>
          <a:p>
            <a:pPr algn="ctr">
              <a:lnSpc>
                <a:spcPct val="118000"/>
              </a:lnSpc>
            </a:pPr>
            <a:r>
              <a:rPr lang="ko-KR" sz="1150" b="0" dirty="0">
                <a:solidFill>
                  <a:srgbClr val="464D5C"/>
                </a:solidFill>
                <a:latin typeface="Pretendard"/>
                <a:ea typeface="Pretendard"/>
                <a:cs typeface="Pretendard"/>
              </a:rPr>
              <a:t>세 조치 모두 특별히 계속할 필요가 있으면 한 번만 연장할 수 있다 (소년법 제18조 제3항)</a:t>
            </a:r>
          </a:p>
        </p:txBody>
      </p:sp>
      <p:sp>
        <p:nvSpPr>
          <p:cNvPr id="37" name="ar37"/>
          <p:cNvSpPr/>
          <p:nvPr/>
        </p:nvSpPr>
        <p:spPr>
          <a:xfrm>
            <a:off x="9235440" y="3639312"/>
            <a:ext cx="0" cy="0"/>
          </a:xfrm>
          <a:prstGeom prst="line">
            <a:avLst/>
          </a:prstGeom>
          <a:ln w="12700">
            <a:solidFill>
              <a:srgbClr val="464D5C"/>
            </a:solidFill>
            <a:tailEnd type="triangle"/>
          </a:ln>
        </p:spPr>
        <p:txBody>
          <a:bodyPr/>
          <a:lstStyle/>
          <a:p>
            <a:endParaRPr/>
          </a:p>
        </p:txBody>
      </p:sp>
      <p:sp>
        <p:nvSpPr>
          <p:cNvPr id="38" name="rep"/>
          <p:cNvSpPr txBox="1"/>
          <p:nvPr/>
        </p:nvSpPr>
        <p:spPr>
          <a:xfrm>
            <a:off x="9400032" y="2999232"/>
            <a:ext cx="2057400" cy="237744"/>
          </a:xfrm>
          <a:prstGeom prst="rect">
            <a:avLst/>
          </a:prstGeom>
          <a:noFill/>
        </p:spPr>
        <p:txBody>
          <a:bodyPr wrap="square" lIns="0" tIns="27432" rIns="0" bIns="27432" anchor="ctr">
            <a:noAutofit/>
          </a:bodyPr>
          <a:lstStyle/>
          <a:p>
            <a:pPr algn="l">
              <a:lnSpc>
                <a:spcPct val="118000"/>
              </a:lnSpc>
            </a:pPr>
            <a:r>
              <a:rPr lang="ko-KR" sz="1100" b="1" dirty="0">
                <a:solidFill>
                  <a:srgbClr val="464D5C"/>
                </a:solidFill>
                <a:latin typeface="Pretendard"/>
                <a:ea typeface="Pretendard"/>
                <a:cs typeface="Pretendard"/>
              </a:rPr>
              <a:t>분류심사 결과보고</a:t>
            </a:r>
          </a:p>
        </p:txBody>
      </p:sp>
      <p:sp>
        <p:nvSpPr>
          <p:cNvPr id="46" name="ar25"/>
          <p:cNvSpPr/>
          <p:nvPr/>
        </p:nvSpPr>
        <p:spPr>
          <a:xfrm flipV="1">
            <a:off x="9235440" y="2999232"/>
            <a:ext cx="0" cy="292608"/>
          </a:xfrm>
          <a:prstGeom prst="line">
            <a:avLst/>
          </a:prstGeom>
          <a:ln w="12700">
            <a:solidFill>
              <a:srgbClr val="464D5C"/>
            </a:solidFill>
            <a:tailEnd type="triangle"/>
          </a:ln>
        </p:spPr>
        <p:txBody>
          <a:bodyPr/>
          <a:lstStyle/>
          <a:p>
            <a:endParaRPr/>
          </a:p>
        </p:txBody>
      </p:sp>
      <p:sp>
        <p:nvSpPr>
          <p:cNvPr id="3" name="직사각형 2"/>
          <p:cNvSpPr/>
          <p:nvPr/>
        </p:nvSpPr>
        <p:spPr>
          <a:xfrm>
            <a:off x="308612" y="3348739"/>
            <a:ext cx="2434588" cy="1168397"/>
          </a:xfrm>
          <a:prstGeom prst="rect">
            <a:avLst/>
          </a:prstGeom>
          <a:ln>
            <a:solidFill>
              <a:schemeClr val="tx2"/>
            </a:solidFill>
          </a:ln>
        </p:spPr>
        <p:txBody>
          <a:bodyPr wrap="square">
            <a:spAutoFit/>
          </a:bodyPr>
          <a:lstStyle/>
          <a:p>
            <a:pPr algn="ctr">
              <a:lnSpc>
                <a:spcPct val="150000"/>
              </a:lnSpc>
            </a:pPr>
            <a:r>
              <a:rPr lang="en-US" altLang="ko-KR" sz="1200" b="1" dirty="0">
                <a:solidFill>
                  <a:srgbClr val="1E2761"/>
                </a:solidFill>
                <a:latin typeface="Pretendard"/>
                <a:ea typeface="Pretendard"/>
                <a:cs typeface="Pretendard"/>
              </a:rPr>
              <a:t>※ </a:t>
            </a:r>
            <a:r>
              <a:rPr lang="ko-KR" altLang="en-US" sz="1200" b="1" dirty="0">
                <a:solidFill>
                  <a:srgbClr val="1E2761"/>
                </a:solidFill>
                <a:latin typeface="Pretendard"/>
                <a:ea typeface="Pretendard"/>
                <a:cs typeface="Pretendard"/>
              </a:rPr>
              <a:t>소년법 제</a:t>
            </a:r>
            <a:r>
              <a:rPr lang="en-US" altLang="ko-KR" sz="1200" b="1" dirty="0">
                <a:solidFill>
                  <a:srgbClr val="1E2761"/>
                </a:solidFill>
                <a:latin typeface="Pretendard"/>
                <a:ea typeface="Pretendard"/>
                <a:cs typeface="Pretendard"/>
              </a:rPr>
              <a:t>18</a:t>
            </a:r>
            <a:r>
              <a:rPr lang="ko-KR" altLang="en-US" sz="1200" b="1" dirty="0">
                <a:solidFill>
                  <a:srgbClr val="1E2761"/>
                </a:solidFill>
                <a:latin typeface="Pretendard"/>
                <a:ea typeface="Pretendard"/>
                <a:cs typeface="Pretendard"/>
              </a:rPr>
              <a:t>조 ‘임시조치 </a:t>
            </a:r>
            <a:r>
              <a:rPr lang="en-US" altLang="ko-KR" sz="1200" b="1" dirty="0">
                <a:solidFill>
                  <a:srgbClr val="1E2761"/>
                </a:solidFill>
                <a:latin typeface="Pretendard"/>
                <a:ea typeface="Pretendard"/>
                <a:cs typeface="Pretendard"/>
              </a:rPr>
              <a:t>1~3</a:t>
            </a:r>
            <a:r>
              <a:rPr lang="ko-KR" altLang="en-US" sz="1200" b="1" dirty="0">
                <a:solidFill>
                  <a:srgbClr val="1E2761"/>
                </a:solidFill>
                <a:latin typeface="Pretendard"/>
                <a:ea typeface="Pretendard"/>
                <a:cs typeface="Pretendard"/>
              </a:rPr>
              <a:t>호’ </a:t>
            </a:r>
            <a:endParaRPr lang="en-US" altLang="ko-KR" sz="1200" b="1" dirty="0">
              <a:solidFill>
                <a:srgbClr val="1E2761"/>
              </a:solidFill>
              <a:latin typeface="Pretendard"/>
              <a:ea typeface="Pretendard"/>
              <a:cs typeface="Pretendard"/>
            </a:endParaRPr>
          </a:p>
          <a:p>
            <a:pPr algn="ctr">
              <a:lnSpc>
                <a:spcPct val="150000"/>
              </a:lnSpc>
            </a:pPr>
            <a:r>
              <a:rPr lang="en-US" altLang="ko-KR" sz="1200" b="1" dirty="0">
                <a:latin typeface="Pretendard"/>
                <a:ea typeface="Pretendard"/>
                <a:cs typeface="Pretendard"/>
              </a:rPr>
              <a:t>  </a:t>
            </a:r>
            <a:r>
              <a:rPr lang="ko-KR" altLang="en-US" sz="1200" b="1" dirty="0">
                <a:latin typeface="Pretendard"/>
                <a:ea typeface="Pretendard"/>
                <a:cs typeface="Pretendard"/>
              </a:rPr>
              <a:t>소년부가 사건을 조사</a:t>
            </a:r>
            <a:r>
              <a:rPr lang="en-US" altLang="ko-KR" sz="1200" b="1" dirty="0">
                <a:latin typeface="Pretendard"/>
                <a:ea typeface="Pretendard"/>
                <a:cs typeface="Pretendard"/>
              </a:rPr>
              <a:t>·</a:t>
            </a:r>
            <a:r>
              <a:rPr lang="ko-KR" altLang="en-US" sz="1200" b="1" dirty="0">
                <a:latin typeface="Pretendard"/>
                <a:ea typeface="Pretendard"/>
                <a:cs typeface="Pretendard"/>
              </a:rPr>
              <a:t>심리하는 동안</a:t>
            </a:r>
            <a:r>
              <a:rPr lang="en-US" altLang="ko-KR" sz="1200" b="1" dirty="0">
                <a:latin typeface="Pretendard"/>
                <a:ea typeface="Pretendard"/>
                <a:cs typeface="Pretendard"/>
              </a:rPr>
              <a:t>, </a:t>
            </a:r>
          </a:p>
          <a:p>
            <a:pPr algn="ctr">
              <a:lnSpc>
                <a:spcPct val="150000"/>
              </a:lnSpc>
            </a:pPr>
            <a:r>
              <a:rPr lang="en-US" altLang="ko-KR" sz="1200" b="1" dirty="0">
                <a:latin typeface="Pretendard"/>
                <a:ea typeface="Pretendard"/>
                <a:cs typeface="Pretendard"/>
              </a:rPr>
              <a:t>  </a:t>
            </a:r>
            <a:r>
              <a:rPr lang="ko-KR" altLang="en-US" sz="1200" b="1" dirty="0">
                <a:latin typeface="Pretendard"/>
                <a:ea typeface="Pretendard"/>
                <a:cs typeface="Pretendard"/>
              </a:rPr>
              <a:t>소년을 어디에서 보호</a:t>
            </a:r>
            <a:r>
              <a:rPr lang="en-US" altLang="ko-KR" sz="1200" b="1" dirty="0">
                <a:latin typeface="Pretendard"/>
                <a:ea typeface="Pretendard"/>
                <a:cs typeface="Pretendard"/>
              </a:rPr>
              <a:t>·</a:t>
            </a:r>
            <a:r>
              <a:rPr lang="ko-KR" altLang="en-US" sz="1200" b="1" dirty="0">
                <a:latin typeface="Pretendard"/>
                <a:ea typeface="Pretendard"/>
                <a:cs typeface="Pretendard"/>
              </a:rPr>
              <a:t>관찰할지 정하는 최종 결정 전의 조치</a:t>
            </a:r>
            <a:endParaRPr lang="en-US" altLang="ko-KR" sz="1200" b="1" dirty="0">
              <a:solidFill>
                <a:schemeClr val="tx1">
                  <a:lumMod val="50000"/>
                  <a:lumOff val="50000"/>
                </a:schemeClr>
              </a:solidFill>
              <a:latin typeface="Pretendard"/>
              <a:ea typeface="Pretendard"/>
              <a:cs typeface="Pretendard"/>
            </a:endParaRPr>
          </a:p>
        </p:txBody>
      </p:sp>
      <p:cxnSp>
        <p:nvCxnSpPr>
          <p:cNvPr id="5" name="직선 연결선 4"/>
          <p:cNvCxnSpPr>
            <a:cxnSpLocks/>
            <a:stCxn id="3" idx="3"/>
          </p:cNvCxnSpPr>
          <p:nvPr/>
        </p:nvCxnSpPr>
        <p:spPr>
          <a:xfrm flipV="1">
            <a:off x="2743200" y="3789679"/>
            <a:ext cx="133350" cy="143259"/>
          </a:xfrm>
          <a:prstGeom prst="line">
            <a:avLst/>
          </a:prstGeom>
          <a:ln w="19050" cap="flat" cmpd="sng" algn="ctr">
            <a:solidFill>
              <a:schemeClr val="accent4">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8" name="line21">
            <a:extLst>
              <a:ext uri="{FF2B5EF4-FFF2-40B4-BE49-F238E27FC236}">
                <a16:creationId xmlns:a16="http://schemas.microsoft.com/office/drawing/2014/main" id="{6AD2E916-0671-F032-1B24-A2B253AB3623}"/>
              </a:ext>
            </a:extLst>
          </p:cNvPr>
          <p:cNvSpPr/>
          <p:nvPr/>
        </p:nvSpPr>
        <p:spPr>
          <a:xfrm>
            <a:off x="733044" y="4906774"/>
            <a:ext cx="10725912" cy="0"/>
          </a:xfrm>
          <a:prstGeom prst="line">
            <a:avLst/>
          </a:prstGeom>
          <a:ln w="9525">
            <a:solidFill>
              <a:srgbClr val="DCE0E8"/>
            </a:solidFill>
          </a:ln>
        </p:spPr>
        <p:txBody>
          <a:bodyPr/>
          <a:lstStyle/>
          <a:p>
            <a:endParaRPr/>
          </a:p>
        </p:txBody>
      </p:sp>
      <p:sp>
        <p:nvSpPr>
          <p:cNvPr id="50" name="h2">
            <a:extLst>
              <a:ext uri="{FF2B5EF4-FFF2-40B4-BE49-F238E27FC236}">
                <a16:creationId xmlns:a16="http://schemas.microsoft.com/office/drawing/2014/main" id="{7EC93B55-63A7-CE1B-A585-BD3D848FAA2E}"/>
              </a:ext>
            </a:extLst>
          </p:cNvPr>
          <p:cNvSpPr txBox="1"/>
          <p:nvPr/>
        </p:nvSpPr>
        <p:spPr>
          <a:xfrm>
            <a:off x="733044" y="5008374"/>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왜 </a:t>
            </a:r>
            <a:r>
              <a:rPr lang="ko-KR" altLang="en-US" sz="1300" b="1" dirty="0">
                <a:solidFill>
                  <a:srgbClr val="1E2761"/>
                </a:solidFill>
                <a:latin typeface="Pretendard"/>
                <a:ea typeface="Pretendard"/>
                <a:cs typeface="Pretendard"/>
              </a:rPr>
              <a:t>필요</a:t>
            </a:r>
            <a:r>
              <a:rPr lang="ko-KR" sz="1300" b="1" dirty="0">
                <a:solidFill>
                  <a:srgbClr val="1E2761"/>
                </a:solidFill>
                <a:latin typeface="Pretendard"/>
                <a:ea typeface="Pretendard"/>
                <a:cs typeface="Pretendard"/>
              </a:rPr>
              <a:t>하나</a:t>
            </a:r>
          </a:p>
        </p:txBody>
      </p:sp>
      <p:sp>
        <p:nvSpPr>
          <p:cNvPr id="52" name="b2">
            <a:extLst>
              <a:ext uri="{FF2B5EF4-FFF2-40B4-BE49-F238E27FC236}">
                <a16:creationId xmlns:a16="http://schemas.microsoft.com/office/drawing/2014/main" id="{EC07EC08-DE0E-9EE0-53A9-371D2C41D0A1}"/>
              </a:ext>
            </a:extLst>
          </p:cNvPr>
          <p:cNvSpPr txBox="1"/>
          <p:nvPr/>
        </p:nvSpPr>
        <p:spPr>
          <a:xfrm>
            <a:off x="2926080" y="5008373"/>
            <a:ext cx="8532876" cy="734057"/>
          </a:xfrm>
          <a:prstGeom prst="rect">
            <a:avLst/>
          </a:prstGeom>
          <a:noFill/>
        </p:spPr>
        <p:txBody>
          <a:bodyPr wrap="square" lIns="0" tIns="27432" rIns="0" bIns="27432" anchor="ctr">
            <a:noAutofit/>
          </a:bodyPr>
          <a:lstStyle/>
          <a:p>
            <a:pPr>
              <a:lnSpc>
                <a:spcPct val="118000"/>
              </a:lnSpc>
              <a:spcAft>
                <a:spcPts val="500"/>
              </a:spcAft>
            </a:pPr>
            <a:r>
              <a:rPr lang="ko-KR" altLang="en-US" sz="1250" b="1" dirty="0">
                <a:solidFill>
                  <a:srgbClr val="222633"/>
                </a:solidFill>
                <a:latin typeface="Pretendard"/>
                <a:ea typeface="Pretendard"/>
                <a:cs typeface="Pretendard"/>
              </a:rPr>
              <a:t>소년의 성행</a:t>
            </a:r>
            <a:r>
              <a:rPr lang="en-US" altLang="ko-KR" sz="1250" b="1" dirty="0">
                <a:solidFill>
                  <a:srgbClr val="222633"/>
                </a:solidFill>
                <a:latin typeface="Pretendard"/>
                <a:ea typeface="Pretendard"/>
                <a:cs typeface="Pretendard"/>
              </a:rPr>
              <a:t>·</a:t>
            </a:r>
            <a:r>
              <a:rPr lang="ko-KR" altLang="en-US" sz="1250" b="1" dirty="0">
                <a:solidFill>
                  <a:srgbClr val="222633"/>
                </a:solidFill>
                <a:latin typeface="Pretendard"/>
                <a:ea typeface="Pretendard"/>
                <a:cs typeface="Pretendard"/>
              </a:rPr>
              <a:t>비행경력</a:t>
            </a:r>
            <a:r>
              <a:rPr lang="en-US" altLang="ko-KR" sz="1250" b="1" dirty="0">
                <a:solidFill>
                  <a:srgbClr val="222633"/>
                </a:solidFill>
                <a:latin typeface="Pretendard"/>
                <a:ea typeface="Pretendard"/>
                <a:cs typeface="Pretendard"/>
              </a:rPr>
              <a:t>·</a:t>
            </a:r>
            <a:r>
              <a:rPr lang="ko-KR" altLang="en-US" sz="1250" b="1" dirty="0">
                <a:solidFill>
                  <a:srgbClr val="222633"/>
                </a:solidFill>
                <a:latin typeface="Pretendard"/>
                <a:ea typeface="Pretendard"/>
                <a:cs typeface="Pretendard"/>
              </a:rPr>
              <a:t>가정환경</a:t>
            </a:r>
            <a:r>
              <a:rPr lang="en-US" altLang="ko-KR" sz="1250" b="1" dirty="0">
                <a:solidFill>
                  <a:srgbClr val="222633"/>
                </a:solidFill>
                <a:latin typeface="Pretendard"/>
                <a:ea typeface="Pretendard"/>
                <a:cs typeface="Pretendard"/>
              </a:rPr>
              <a:t>·</a:t>
            </a:r>
            <a:r>
              <a:rPr lang="ko-KR" altLang="en-US" sz="1250" b="1" dirty="0">
                <a:solidFill>
                  <a:srgbClr val="222633"/>
                </a:solidFill>
                <a:latin typeface="Pretendard"/>
                <a:ea typeface="Pretendard"/>
                <a:cs typeface="Pretendard"/>
              </a:rPr>
              <a:t>보호자 능력</a:t>
            </a:r>
            <a:r>
              <a:rPr lang="en-US" altLang="ko-KR" sz="1250" b="1" dirty="0">
                <a:solidFill>
                  <a:srgbClr val="222633"/>
                </a:solidFill>
                <a:latin typeface="Pretendard"/>
                <a:ea typeface="Pretendard"/>
                <a:cs typeface="Pretendard"/>
              </a:rPr>
              <a:t>·</a:t>
            </a:r>
            <a:r>
              <a:rPr lang="ko-KR" altLang="en-US" sz="1250" b="1" dirty="0" err="1">
                <a:solidFill>
                  <a:srgbClr val="222633"/>
                </a:solidFill>
                <a:latin typeface="Pretendard"/>
                <a:ea typeface="Pretendard"/>
                <a:cs typeface="Pretendard"/>
              </a:rPr>
              <a:t>재비행</a:t>
            </a:r>
            <a:r>
              <a:rPr lang="ko-KR" altLang="en-US" sz="1250" b="1" dirty="0">
                <a:solidFill>
                  <a:srgbClr val="222633"/>
                </a:solidFill>
                <a:latin typeface="Pretendard"/>
                <a:ea typeface="Pretendard"/>
                <a:cs typeface="Pretendard"/>
              </a:rPr>
              <a:t> 가능성 등을 집중적으로 관찰해 어떤 보호처분이 적절한지 판단하기 위한 자료를 얻는다</a:t>
            </a:r>
            <a:r>
              <a:rPr lang="en-US" altLang="ko-KR" sz="1250" b="1" dirty="0">
                <a:solidFill>
                  <a:srgbClr val="222633"/>
                </a:solidFill>
                <a:latin typeface="Pretendard"/>
                <a:ea typeface="Pretendard"/>
                <a:cs typeface="Pretendard"/>
              </a:rPr>
              <a:t>.</a:t>
            </a:r>
            <a:r>
              <a:rPr lang="ko-KR" sz="1150" b="0" dirty="0">
                <a:solidFill>
                  <a:srgbClr val="464D5C"/>
                </a:solidFill>
                <a:latin typeface="Pretendard"/>
                <a:ea typeface="Pretendard"/>
                <a:cs typeface="Pretendard"/>
              </a:rPr>
              <a:t>소년법 제12조는 소년부가 </a:t>
            </a:r>
            <a:r>
              <a:rPr lang="ko-KR" sz="1150" b="0" dirty="0" err="1">
                <a:solidFill>
                  <a:srgbClr val="464D5C"/>
                </a:solidFill>
                <a:latin typeface="Pretendard"/>
                <a:ea typeface="Pretendard"/>
                <a:cs typeface="Pretendard"/>
              </a:rPr>
              <a:t>조사·심리에서</a:t>
            </a:r>
            <a:r>
              <a:rPr lang="ko-KR" sz="1150" b="0" dirty="0">
                <a:solidFill>
                  <a:srgbClr val="464D5C"/>
                </a:solidFill>
                <a:latin typeface="Pretendard"/>
                <a:ea typeface="Pretendard"/>
                <a:cs typeface="Pretendard"/>
              </a:rPr>
              <a:t> 분류심사 결과와 의견을 고려하도록 정한다.</a:t>
            </a:r>
          </a:p>
        </p:txBody>
      </p:sp>
      <p:sp>
        <p:nvSpPr>
          <p:cNvPr id="55" name="line24">
            <a:extLst>
              <a:ext uri="{FF2B5EF4-FFF2-40B4-BE49-F238E27FC236}">
                <a16:creationId xmlns:a16="http://schemas.microsoft.com/office/drawing/2014/main" id="{426D82A7-B739-794A-D09E-384E7A3F10A2}"/>
              </a:ext>
            </a:extLst>
          </p:cNvPr>
          <p:cNvSpPr/>
          <p:nvPr/>
        </p:nvSpPr>
        <p:spPr>
          <a:xfrm>
            <a:off x="733044" y="5806696"/>
            <a:ext cx="10725912" cy="0"/>
          </a:xfrm>
          <a:prstGeom prst="line">
            <a:avLst/>
          </a:prstGeom>
          <a:ln w="9525">
            <a:solidFill>
              <a:srgbClr val="DCE0E8"/>
            </a:solidFill>
          </a:ln>
        </p:spPr>
        <p:txBody>
          <a:bodyPr/>
          <a:lstStyle/>
          <a:p>
            <a:endParaRPr/>
          </a:p>
        </p:txBody>
      </p:sp>
      <p:sp>
        <p:nvSpPr>
          <p:cNvPr id="57" name="h3">
            <a:extLst>
              <a:ext uri="{FF2B5EF4-FFF2-40B4-BE49-F238E27FC236}">
                <a16:creationId xmlns:a16="http://schemas.microsoft.com/office/drawing/2014/main" id="{DA98BC9E-8C8C-266F-05B4-384B27A12134}"/>
              </a:ext>
            </a:extLst>
          </p:cNvPr>
          <p:cNvSpPr txBox="1"/>
          <p:nvPr/>
        </p:nvSpPr>
        <p:spPr>
          <a:xfrm>
            <a:off x="733044" y="5914646"/>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동시에 문제되는 </a:t>
            </a:r>
            <a:r>
              <a:rPr lang="ko-KR" altLang="en-US" sz="1300" b="1" dirty="0">
                <a:solidFill>
                  <a:srgbClr val="1E2761"/>
                </a:solidFill>
                <a:latin typeface="Pretendard"/>
                <a:ea typeface="Pretendard"/>
                <a:cs typeface="Pretendard"/>
              </a:rPr>
              <a:t>지</a:t>
            </a:r>
            <a:r>
              <a:rPr lang="ko-KR" sz="1300" b="1" dirty="0">
                <a:solidFill>
                  <a:srgbClr val="1E2761"/>
                </a:solidFill>
                <a:latin typeface="Pretendard"/>
                <a:ea typeface="Pretendard"/>
                <a:cs typeface="Pretendard"/>
              </a:rPr>
              <a:t>점</a:t>
            </a:r>
          </a:p>
        </p:txBody>
      </p:sp>
      <p:sp>
        <p:nvSpPr>
          <p:cNvPr id="59" name="b3">
            <a:extLst>
              <a:ext uri="{FF2B5EF4-FFF2-40B4-BE49-F238E27FC236}">
                <a16:creationId xmlns:a16="http://schemas.microsoft.com/office/drawing/2014/main" id="{949EBCE2-D60B-032A-1C60-22604BB61375}"/>
              </a:ext>
            </a:extLst>
          </p:cNvPr>
          <p:cNvSpPr txBox="1"/>
          <p:nvPr/>
        </p:nvSpPr>
        <p:spPr>
          <a:xfrm>
            <a:off x="2926080" y="5806696"/>
            <a:ext cx="8532876" cy="616714"/>
          </a:xfrm>
          <a:prstGeom prst="rect">
            <a:avLst/>
          </a:prstGeom>
          <a:noFill/>
        </p:spPr>
        <p:txBody>
          <a:bodyPr wrap="square" lIns="0" tIns="27432" rIns="0" bIns="27432" anchor="ctr">
            <a:noAutofit/>
          </a:bodyPr>
          <a:lstStyle/>
          <a:p>
            <a:pPr>
              <a:lnSpc>
                <a:spcPct val="118000"/>
              </a:lnSpc>
            </a:pPr>
            <a:r>
              <a:rPr lang="ko-KR" altLang="en-US" sz="1250" b="1" dirty="0">
                <a:solidFill>
                  <a:srgbClr val="222633"/>
                </a:solidFill>
                <a:latin typeface="Pretendard"/>
                <a:ea typeface="Pretendard"/>
                <a:cs typeface="Pretendard"/>
              </a:rPr>
              <a:t>최종 처분 전의 임시조치이지만 </a:t>
            </a:r>
            <a:r>
              <a:rPr lang="ko-KR" altLang="en-US" sz="1250" b="1" dirty="0">
                <a:solidFill>
                  <a:srgbClr val="222633"/>
                </a:solidFill>
                <a:highlight>
                  <a:srgbClr val="FFFF00"/>
                </a:highlight>
                <a:latin typeface="Pretendard"/>
                <a:ea typeface="Pretendard"/>
                <a:cs typeface="Pretendard"/>
              </a:rPr>
              <a:t>실제 시설생활로 자유가 제한된다</a:t>
            </a:r>
            <a:r>
              <a:rPr lang="ko-KR" sz="1250" b="1" dirty="0">
                <a:solidFill>
                  <a:srgbClr val="222633"/>
                </a:solidFill>
                <a:highlight>
                  <a:srgbClr val="FFFF00"/>
                </a:highlight>
                <a:latin typeface="Pretendard"/>
                <a:ea typeface="Pretendard"/>
                <a:cs typeface="Pretendard"/>
              </a:rPr>
              <a:t>.</a:t>
            </a:r>
            <a:r>
              <a:rPr lang="en-US" altLang="ko-KR" sz="1250" b="1" dirty="0">
                <a:solidFill>
                  <a:srgbClr val="222633"/>
                </a:solidFill>
                <a:highlight>
                  <a:srgbClr val="FFFF00"/>
                </a:highlight>
                <a:latin typeface="Pretendard"/>
                <a:ea typeface="Pretendard"/>
                <a:cs typeface="Pretendard"/>
              </a:rPr>
              <a:t> </a:t>
            </a:r>
            <a:r>
              <a:rPr lang="ko-KR" altLang="en-US" sz="1250" b="1" dirty="0">
                <a:solidFill>
                  <a:srgbClr val="222633"/>
                </a:solidFill>
                <a:highlight>
                  <a:srgbClr val="FFFF00"/>
                </a:highlight>
                <a:latin typeface="Pretendard"/>
                <a:ea typeface="Pretendard"/>
                <a:cs typeface="Pretendard"/>
              </a:rPr>
              <a:t>또한 법은 ‘조사</a:t>
            </a:r>
            <a:r>
              <a:rPr lang="en-US" altLang="ko-KR" sz="1250" b="1" dirty="0">
                <a:solidFill>
                  <a:srgbClr val="222633"/>
                </a:solidFill>
                <a:highlight>
                  <a:srgbClr val="FFFF00"/>
                </a:highlight>
                <a:latin typeface="Pretendard"/>
                <a:ea typeface="Pretendard"/>
                <a:cs typeface="Pretendard"/>
              </a:rPr>
              <a:t>·</a:t>
            </a:r>
            <a:r>
              <a:rPr lang="ko-KR" altLang="en-US" sz="1250" b="1" dirty="0">
                <a:solidFill>
                  <a:srgbClr val="222633"/>
                </a:solidFill>
                <a:highlight>
                  <a:srgbClr val="FFFF00"/>
                </a:highlight>
                <a:latin typeface="Pretendard"/>
                <a:ea typeface="Pretendard"/>
                <a:cs typeface="Pretendard"/>
              </a:rPr>
              <a:t>심리에 필요한 </a:t>
            </a:r>
            <a:r>
              <a:rPr lang="ko-KR" altLang="en-US" sz="1250" b="1" dirty="0" err="1">
                <a:solidFill>
                  <a:srgbClr val="222633"/>
                </a:solidFill>
                <a:highlight>
                  <a:srgbClr val="FFFF00"/>
                </a:highlight>
                <a:latin typeface="Pretendard"/>
                <a:ea typeface="Pretendard"/>
                <a:cs typeface="Pretendard"/>
              </a:rPr>
              <a:t>경우’라고만</a:t>
            </a:r>
            <a:r>
              <a:rPr lang="ko-KR" altLang="en-US" sz="1250" b="1" dirty="0">
                <a:solidFill>
                  <a:srgbClr val="222633"/>
                </a:solidFill>
                <a:highlight>
                  <a:srgbClr val="FFFF00"/>
                </a:highlight>
                <a:latin typeface="Pretendard"/>
                <a:ea typeface="Pretendard"/>
                <a:cs typeface="Pretendard"/>
              </a:rPr>
              <a:t> 정하고 있어</a:t>
            </a:r>
            <a:r>
              <a:rPr lang="en-US" altLang="ko-KR" sz="1250" b="1" dirty="0">
                <a:solidFill>
                  <a:srgbClr val="222633"/>
                </a:solidFill>
                <a:highlight>
                  <a:srgbClr val="FFFF00"/>
                </a:highlight>
                <a:latin typeface="Pretendard"/>
                <a:ea typeface="Pretendard"/>
                <a:cs typeface="Pretendard"/>
              </a:rPr>
              <a:t>, 3</a:t>
            </a:r>
            <a:r>
              <a:rPr lang="ko-KR" altLang="en-US" sz="1250" b="1" dirty="0">
                <a:solidFill>
                  <a:srgbClr val="222633"/>
                </a:solidFill>
                <a:highlight>
                  <a:srgbClr val="FFFF00"/>
                </a:highlight>
                <a:latin typeface="Pretendard"/>
                <a:ea typeface="Pretendard"/>
                <a:cs typeface="Pretendard"/>
              </a:rPr>
              <a:t>호 위탁을 언제 선택할지에 관한 세부 기준은 판사의 판단에 상당 부분 맡겨져 있다</a:t>
            </a:r>
            <a:r>
              <a:rPr lang="en-US" altLang="ko-KR" sz="1250" b="1" dirty="0">
                <a:solidFill>
                  <a:srgbClr val="222633"/>
                </a:solidFill>
                <a:latin typeface="Pretendard"/>
                <a:ea typeface="Pretendard"/>
                <a:cs typeface="Pretendard"/>
              </a:rPr>
              <a:t>.</a:t>
            </a:r>
            <a:endParaRPr lang="ko-KR" sz="1250" b="1" dirty="0">
              <a:solidFill>
                <a:srgbClr val="222633"/>
              </a:solidFill>
              <a:latin typeface="Pretendard"/>
              <a:ea typeface="Pretendard"/>
              <a:cs typeface="Pretendard"/>
            </a:endParaRPr>
          </a:p>
        </p:txBody>
      </p:sp>
      <p:sp>
        <p:nvSpPr>
          <p:cNvPr id="61" name="line27">
            <a:extLst>
              <a:ext uri="{FF2B5EF4-FFF2-40B4-BE49-F238E27FC236}">
                <a16:creationId xmlns:a16="http://schemas.microsoft.com/office/drawing/2014/main" id="{24489131-94C4-7D03-15BF-DC39530A16BC}"/>
              </a:ext>
            </a:extLst>
          </p:cNvPr>
          <p:cNvSpPr/>
          <p:nvPr/>
        </p:nvSpPr>
        <p:spPr>
          <a:xfrm>
            <a:off x="733044" y="6423409"/>
            <a:ext cx="10725912" cy="0"/>
          </a:xfrm>
          <a:prstGeom prst="line">
            <a:avLst/>
          </a:prstGeom>
          <a:ln w="19050">
            <a:solidFill>
              <a:srgbClr val="1E2761"/>
            </a:solidFill>
          </a:ln>
        </p:spPr>
        <p:txBody>
          <a:bodyPr/>
          <a:lstStyle/>
          <a:p>
            <a:endParaRPr/>
          </a:p>
        </p:txBody>
      </p:sp>
    </p:spTree>
    <p:extLst>
      <p:ext uri="{BB962C8B-B14F-4D97-AF65-F5344CB8AC3E}">
        <p14:creationId xmlns:p14="http://schemas.microsoft.com/office/powerpoint/2010/main" val="39406380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응보·예방·보호와 현행제도의 한계</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sz="1050" b="0">
                <a:solidFill>
                  <a:srgbClr val="6E7686"/>
                </a:solidFill>
                <a:latin typeface="Pretendard"/>
              </a:rPr>
              <a:t>다음 → 공론화의 배경과 목적</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altLang="en-US" sz="2750" b="1" dirty="0">
                <a:solidFill>
                  <a:srgbClr val="1E2761"/>
                </a:solidFill>
                <a:latin typeface="Pretendard"/>
                <a:ea typeface="Pretendard"/>
                <a:cs typeface="Pretendard"/>
              </a:rPr>
              <a:t>보호처분 선택에서 </a:t>
            </a:r>
            <a:r>
              <a:rPr lang="ko-KR" sz="2750" b="1" dirty="0">
                <a:solidFill>
                  <a:srgbClr val="1E2761"/>
                </a:solidFill>
                <a:latin typeface="Pretendard"/>
                <a:ea typeface="Pretendard"/>
                <a:cs typeface="Pretendard"/>
              </a:rPr>
              <a:t>보호환경과 지역 자원의 영향 — 이승현 외(2024)</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같은 범죄사실이라도 가정환경과 지역에서 이용할 수 있는 기관에 따라 처분 선택이 달라질 수 있다는 지적이 있었다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1263650" y="2329180"/>
            <a:ext cx="1708150" cy="1005839"/>
          </a:xfrm>
          <a:prstGeom prst="rect">
            <a:avLst/>
          </a:prstGeom>
          <a:noFill/>
        </p:spPr>
        <p:txBody>
          <a:bodyPr wrap="square" lIns="0" tIns="27432" rIns="0" bIns="27432" anchor="ctr">
            <a:noAutofit/>
          </a:bodyPr>
          <a:lstStyle/>
          <a:p>
            <a:pPr>
              <a:lnSpc>
                <a:spcPct val="118000"/>
              </a:lnSpc>
            </a:pPr>
            <a:r>
              <a:rPr lang="ko-KR" sz="1300" b="1" dirty="0">
                <a:solidFill>
                  <a:srgbClr val="1E2761"/>
                </a:solidFill>
                <a:latin typeface="Pretendard"/>
                <a:ea typeface="Pretendard"/>
                <a:cs typeface="Pretendard"/>
              </a:rPr>
              <a:t>지원이 필요한 환경</a:t>
            </a:r>
          </a:p>
        </p:txBody>
      </p:sp>
      <p:sp>
        <p:nvSpPr>
          <p:cNvPr id="17" name="b0"/>
          <p:cNvSpPr txBox="1"/>
          <p:nvPr/>
        </p:nvSpPr>
        <p:spPr>
          <a:xfrm>
            <a:off x="3154680" y="2329180"/>
            <a:ext cx="8302752" cy="1005839"/>
          </a:xfrm>
          <a:prstGeom prst="rect">
            <a:avLst/>
          </a:prstGeom>
          <a:noFill/>
        </p:spPr>
        <p:txBody>
          <a:bodyPr wrap="square" lIns="0" tIns="27432" rIns="0" bIns="27432" anchor="ctr">
            <a:noAutofit/>
          </a:bodyPr>
          <a:lstStyle/>
          <a:p>
            <a:pPr algn="l">
              <a:lnSpc>
                <a:spcPct val="125000"/>
              </a:lnSpc>
              <a:spcAft>
                <a:spcPts val="500"/>
              </a:spcAft>
            </a:pPr>
            <a:r>
              <a:rPr lang="ko-KR" sz="1250" b="1" dirty="0">
                <a:solidFill>
                  <a:srgbClr val="222633"/>
                </a:solidFill>
                <a:latin typeface="Pretendard"/>
                <a:ea typeface="Pretendard"/>
                <a:cs typeface="Pretendard"/>
              </a:rPr>
              <a:t>가정의 보호를 받기 어렵다는 사정 자체를 이유로 시설처우를 선택하면, 지원이 더 필요한 소년이 오히려 더 큰 자유 제한을 받을 수 있다는 우려가 제기됐다.</a:t>
            </a:r>
          </a:p>
          <a:p>
            <a:pPr algn="l">
              <a:lnSpc>
                <a:spcPct val="125000"/>
              </a:lnSpc>
            </a:pPr>
            <a:r>
              <a:rPr lang="ko-KR" sz="1150" b="0" dirty="0">
                <a:solidFill>
                  <a:srgbClr val="464D5C"/>
                </a:solidFill>
                <a:latin typeface="Pretendard"/>
                <a:ea typeface="Pretendard"/>
                <a:cs typeface="Pretendard"/>
              </a:rPr>
              <a:t>보육시설 생활이나 성착취 피해처럼 소년이 선택하지 않은 환경을 「보호자 보호력 부족」으로만 평가하지 말아야 한다는 취지다.</a:t>
            </a:r>
          </a:p>
        </p:txBody>
      </p:sp>
      <p:sp>
        <p:nvSpPr>
          <p:cNvPr id="18" name="line18"/>
          <p:cNvSpPr/>
          <p:nvPr/>
        </p:nvSpPr>
        <p:spPr>
          <a:xfrm>
            <a:off x="731520" y="3363976"/>
            <a:ext cx="10725912" cy="0"/>
          </a:xfrm>
          <a:prstGeom prst="line">
            <a:avLst/>
          </a:prstGeom>
          <a:ln w="9525">
            <a:solidFill>
              <a:srgbClr val="DCE0E8"/>
            </a:solidFill>
          </a:ln>
        </p:spPr>
        <p:txBody>
          <a:bodyPr/>
          <a:lstStyle/>
          <a:p>
            <a:endParaRPr/>
          </a:p>
        </p:txBody>
      </p:sp>
      <p:sp>
        <p:nvSpPr>
          <p:cNvPr id="19" name="h1"/>
          <p:cNvSpPr txBox="1"/>
          <p:nvPr/>
        </p:nvSpPr>
        <p:spPr>
          <a:xfrm>
            <a:off x="1263650" y="3392932"/>
            <a:ext cx="1708150" cy="1005839"/>
          </a:xfrm>
          <a:prstGeom prst="rect">
            <a:avLst/>
          </a:prstGeom>
          <a:noFill/>
        </p:spPr>
        <p:txBody>
          <a:bodyPr wrap="square" lIns="0" tIns="27432" rIns="0" bIns="27432" anchor="ctr">
            <a:noAutofit/>
          </a:bodyPr>
          <a:lstStyle/>
          <a:p>
            <a:pPr>
              <a:lnSpc>
                <a:spcPct val="118000"/>
              </a:lnSpc>
            </a:pPr>
            <a:r>
              <a:rPr lang="ko-KR" sz="1300" b="1" dirty="0">
                <a:solidFill>
                  <a:srgbClr val="1E2761"/>
                </a:solidFill>
                <a:latin typeface="Pretendard"/>
                <a:ea typeface="Pretendard"/>
                <a:cs typeface="Pretendard"/>
              </a:rPr>
              <a:t>지역 자원의 문제</a:t>
            </a:r>
          </a:p>
        </p:txBody>
      </p:sp>
      <p:sp>
        <p:nvSpPr>
          <p:cNvPr id="20" name="b1"/>
          <p:cNvSpPr txBox="1"/>
          <p:nvPr/>
        </p:nvSpPr>
        <p:spPr>
          <a:xfrm>
            <a:off x="3154680" y="3392932"/>
            <a:ext cx="8302752" cy="1005839"/>
          </a:xfrm>
          <a:prstGeom prst="rect">
            <a:avLst/>
          </a:prstGeom>
          <a:noFill/>
        </p:spPr>
        <p:txBody>
          <a:bodyPr wrap="square" lIns="0" tIns="27432" rIns="0" bIns="27432" anchor="ctr">
            <a:noAutofit/>
          </a:bodyPr>
          <a:lstStyle/>
          <a:p>
            <a:pPr algn="l">
              <a:lnSpc>
                <a:spcPct val="125000"/>
              </a:lnSpc>
              <a:spcAft>
                <a:spcPts val="500"/>
              </a:spcAft>
            </a:pPr>
            <a:r>
              <a:rPr lang="ko-KR" sz="1250" b="1" dirty="0">
                <a:solidFill>
                  <a:srgbClr val="222633"/>
                </a:solidFill>
                <a:latin typeface="Pretendard"/>
                <a:ea typeface="Pretendard"/>
                <a:cs typeface="Pretendard"/>
              </a:rPr>
              <a:t>필요한 수강·상담·시설·의료기관이 지역에 부족하면, 법에 가능한 처분이라도 실제로 선택하기 어려워 다른 처분이 선택될 수 있다는 지적이 있었다.</a:t>
            </a:r>
          </a:p>
          <a:p>
            <a:pPr algn="l">
              <a:lnSpc>
                <a:spcPct val="125000"/>
              </a:lnSpc>
            </a:pPr>
            <a:r>
              <a:rPr lang="ko-KR" sz="1150" b="0" dirty="0">
                <a:solidFill>
                  <a:srgbClr val="464D5C"/>
                </a:solidFill>
                <a:latin typeface="Pretendard"/>
                <a:ea typeface="Pretendard"/>
                <a:cs typeface="Pretendard"/>
              </a:rPr>
              <a:t>수강명령 집행기관, 상담기관, 제6호 아동복지시설, 정신질환 소년을 맡길 병원·의료·위탁기관이 여기에 해당한다.</a:t>
            </a:r>
          </a:p>
        </p:txBody>
      </p:sp>
      <p:sp>
        <p:nvSpPr>
          <p:cNvPr id="21" name="line21"/>
          <p:cNvSpPr/>
          <p:nvPr/>
        </p:nvSpPr>
        <p:spPr>
          <a:xfrm>
            <a:off x="731520" y="4408678"/>
            <a:ext cx="10725912" cy="0"/>
          </a:xfrm>
          <a:prstGeom prst="line">
            <a:avLst/>
          </a:prstGeom>
          <a:ln w="9525">
            <a:solidFill>
              <a:srgbClr val="DCE0E8"/>
            </a:solidFill>
          </a:ln>
        </p:spPr>
        <p:txBody>
          <a:bodyPr/>
          <a:lstStyle/>
          <a:p>
            <a:endParaRPr/>
          </a:p>
        </p:txBody>
      </p:sp>
      <p:sp>
        <p:nvSpPr>
          <p:cNvPr id="22" name="h2"/>
          <p:cNvSpPr txBox="1"/>
          <p:nvPr/>
        </p:nvSpPr>
        <p:spPr>
          <a:xfrm>
            <a:off x="1263650" y="4545584"/>
            <a:ext cx="1708150" cy="594360"/>
          </a:xfrm>
          <a:prstGeom prst="rect">
            <a:avLst/>
          </a:prstGeom>
          <a:noFill/>
        </p:spPr>
        <p:txBody>
          <a:bodyPr wrap="square" lIns="0" tIns="27432" rIns="0" bIns="27432" anchor="ctr">
            <a:noAutofit/>
          </a:bodyPr>
          <a:lstStyle/>
          <a:p>
            <a:pPr>
              <a:lnSpc>
                <a:spcPct val="118000"/>
              </a:lnSpc>
            </a:pPr>
            <a:r>
              <a:rPr lang="ko-KR" sz="1300" b="1" dirty="0">
                <a:solidFill>
                  <a:srgbClr val="1E2761"/>
                </a:solidFill>
                <a:latin typeface="Pretendard"/>
                <a:ea typeface="Pretendard"/>
                <a:cs typeface="Pretendard"/>
              </a:rPr>
              <a:t>연구가 제시한 개선</a:t>
            </a:r>
          </a:p>
        </p:txBody>
      </p:sp>
      <p:sp>
        <p:nvSpPr>
          <p:cNvPr id="23" name="b2"/>
          <p:cNvSpPr txBox="1"/>
          <p:nvPr/>
        </p:nvSpPr>
        <p:spPr>
          <a:xfrm>
            <a:off x="3154680" y="4545584"/>
            <a:ext cx="8302752" cy="594360"/>
          </a:xfrm>
          <a:prstGeom prst="rect">
            <a:avLst/>
          </a:prstGeom>
          <a:noFill/>
        </p:spPr>
        <p:txBody>
          <a:bodyPr wrap="square" lIns="0" tIns="27432" rIns="0" bIns="27432" anchor="ctr">
            <a:noAutofit/>
          </a:bodyPr>
          <a:lstStyle/>
          <a:p>
            <a:pPr algn="l">
              <a:lnSpc>
                <a:spcPct val="125000"/>
              </a:lnSpc>
            </a:pPr>
            <a:r>
              <a:rPr lang="ko-KR" sz="1250" b="1" dirty="0">
                <a:solidFill>
                  <a:srgbClr val="222633"/>
                </a:solidFill>
                <a:latin typeface="Pretendard"/>
                <a:ea typeface="Pretendard"/>
                <a:cs typeface="Pretendard"/>
              </a:rPr>
              <a:t>수강명령 </a:t>
            </a:r>
            <a:r>
              <a:rPr lang="ko-KR" sz="1250" b="1" dirty="0">
                <a:solidFill>
                  <a:srgbClr val="222633"/>
                </a:solidFill>
                <a:highlight>
                  <a:srgbClr val="FFFF00"/>
                </a:highlight>
                <a:latin typeface="Pretendard"/>
                <a:ea typeface="Pretendard"/>
                <a:cs typeface="Pretendard"/>
              </a:rPr>
              <a:t>집행기관 확충</a:t>
            </a:r>
            <a:r>
              <a:rPr lang="ko-KR" sz="1250" b="1" dirty="0">
                <a:solidFill>
                  <a:srgbClr val="222633"/>
                </a:solidFill>
                <a:latin typeface="Pretendard"/>
                <a:ea typeface="Pretendard"/>
                <a:cs typeface="Pretendard"/>
              </a:rPr>
              <a:t>, 제6호 처분 </a:t>
            </a:r>
            <a:r>
              <a:rPr lang="ko-KR" sz="1250" b="1" dirty="0">
                <a:solidFill>
                  <a:srgbClr val="222633"/>
                </a:solidFill>
                <a:highlight>
                  <a:srgbClr val="FFFF00"/>
                </a:highlight>
                <a:latin typeface="Pretendard"/>
                <a:ea typeface="Pretendard"/>
                <a:cs typeface="Pretendard"/>
              </a:rPr>
              <a:t>시설 확충</a:t>
            </a:r>
            <a:r>
              <a:rPr lang="ko-KR" sz="1250" b="1" dirty="0">
                <a:solidFill>
                  <a:srgbClr val="222633"/>
                </a:solidFill>
                <a:latin typeface="Pretendard"/>
                <a:ea typeface="Pretendard"/>
                <a:cs typeface="Pretendard"/>
              </a:rPr>
              <a:t>, 정신질환 소년을 위한 </a:t>
            </a:r>
            <a:r>
              <a:rPr lang="ko-KR" sz="1250" b="1" dirty="0">
                <a:solidFill>
                  <a:srgbClr val="222633"/>
                </a:solidFill>
                <a:highlight>
                  <a:srgbClr val="FFFF00"/>
                </a:highlight>
                <a:latin typeface="Pretendard"/>
                <a:ea typeface="Pretendard"/>
                <a:cs typeface="Pretendard"/>
              </a:rPr>
              <a:t>보호·위탁기관 발굴</a:t>
            </a:r>
            <a:r>
              <a:rPr lang="ko-KR" sz="1250" b="1" dirty="0">
                <a:solidFill>
                  <a:srgbClr val="222633"/>
                </a:solidFill>
                <a:latin typeface="Pretendard"/>
                <a:ea typeface="Pretendard"/>
                <a:cs typeface="Pretendard"/>
              </a:rPr>
              <a:t>을 개선과제로 제시했다.</a:t>
            </a:r>
          </a:p>
        </p:txBody>
      </p:sp>
      <p:sp>
        <p:nvSpPr>
          <p:cNvPr id="24" name="line24"/>
          <p:cNvSpPr/>
          <p:nvPr/>
        </p:nvSpPr>
        <p:spPr>
          <a:xfrm>
            <a:off x="731520" y="5251450"/>
            <a:ext cx="10725912" cy="0"/>
          </a:xfrm>
          <a:prstGeom prst="line">
            <a:avLst/>
          </a:prstGeom>
          <a:ln w="9525">
            <a:solidFill>
              <a:srgbClr val="DCE0E8"/>
            </a:solidFill>
          </a:ln>
        </p:spPr>
        <p:txBody>
          <a:bodyPr/>
          <a:lstStyle/>
          <a:p>
            <a:endParaRPr/>
          </a:p>
        </p:txBody>
      </p:sp>
      <p:sp>
        <p:nvSpPr>
          <p:cNvPr id="25" name="h3"/>
          <p:cNvSpPr txBox="1"/>
          <p:nvPr/>
        </p:nvSpPr>
        <p:spPr>
          <a:xfrm>
            <a:off x="1263650" y="5477255"/>
            <a:ext cx="1708150" cy="370332"/>
          </a:xfrm>
          <a:prstGeom prst="rect">
            <a:avLst/>
          </a:prstGeom>
          <a:noFill/>
        </p:spPr>
        <p:txBody>
          <a:bodyPr wrap="square" lIns="0" tIns="27432" rIns="0" bIns="27432" anchor="ctr">
            <a:noAutofit/>
          </a:bodyPr>
          <a:lstStyle/>
          <a:p>
            <a:pPr>
              <a:lnSpc>
                <a:spcPct val="118000"/>
              </a:lnSpc>
            </a:pPr>
            <a:r>
              <a:rPr lang="ko-KR" sz="1300" b="1" dirty="0">
                <a:solidFill>
                  <a:srgbClr val="1E2761"/>
                </a:solidFill>
                <a:latin typeface="Pretendard"/>
                <a:ea typeface="Pretendard"/>
                <a:cs typeface="Pretendard"/>
              </a:rPr>
              <a:t>논제와의 연결</a:t>
            </a:r>
          </a:p>
        </p:txBody>
      </p:sp>
      <p:sp>
        <p:nvSpPr>
          <p:cNvPr id="26" name="b3"/>
          <p:cNvSpPr txBox="1"/>
          <p:nvPr/>
        </p:nvSpPr>
        <p:spPr>
          <a:xfrm>
            <a:off x="3154680" y="5477255"/>
            <a:ext cx="8302752" cy="370332"/>
          </a:xfrm>
          <a:prstGeom prst="rect">
            <a:avLst/>
          </a:prstGeom>
          <a:noFill/>
        </p:spPr>
        <p:txBody>
          <a:bodyPr wrap="square" lIns="0" tIns="27432" rIns="0" bIns="27432" anchor="ctr">
            <a:noAutofit/>
          </a:bodyPr>
          <a:lstStyle/>
          <a:p>
            <a:pPr algn="l">
              <a:lnSpc>
                <a:spcPct val="118000"/>
              </a:lnSpc>
            </a:pPr>
            <a:r>
              <a:rPr lang="ko-KR" sz="1250" b="1" dirty="0">
                <a:solidFill>
                  <a:srgbClr val="222633"/>
                </a:solidFill>
                <a:latin typeface="Pretendard"/>
                <a:ea typeface="Pretendard"/>
                <a:cs typeface="Pretendard"/>
              </a:rPr>
              <a:t>연령을 낮추는 것과 현재 보호처분을 실제로 작동하게 만드는 것은 서로 다른 정책과제다.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이승현 외(2024), KICJ 연구총서 24-A-02 · 공식 연구요약 4. 전문가 경험·인식 분석</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응보·예방·보호와 현행제도의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보호처분 선택기준</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2025트6 — 다른 사건으로 위탁된 소년에게도 국선보조인이 필요한가</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a:lnSpc>
                <a:spcPct val="118000"/>
              </a:lnSpc>
            </a:pPr>
            <a:r>
              <a:rPr lang="ko-KR" altLang="en-US" sz="1300" b="1" dirty="0">
                <a:solidFill>
                  <a:srgbClr val="1E2761"/>
                </a:solidFill>
                <a:latin typeface="Pretendard" pitchFamily="34" charset="0"/>
                <a:ea typeface="Pretendard" pitchFamily="34" charset="-122"/>
                <a:cs typeface="Pretendard" pitchFamily="34" charset="-120"/>
              </a:rPr>
              <a:t>보호 목적의 절차라도 실제 자유제한이 크다면</a:t>
            </a:r>
            <a:r>
              <a:rPr lang="en-US" altLang="ko-KR" sz="1300" b="1" dirty="0">
                <a:solidFill>
                  <a:srgbClr val="1E2761"/>
                </a:solidFill>
                <a:latin typeface="Pretendard" pitchFamily="34" charset="0"/>
                <a:ea typeface="Pretendard" pitchFamily="34" charset="-122"/>
                <a:cs typeface="Pretendard" pitchFamily="34" charset="-120"/>
              </a:rPr>
              <a:t>, </a:t>
            </a:r>
            <a:r>
              <a:rPr lang="ko-KR" altLang="en-US" sz="1300" b="1" dirty="0">
                <a:solidFill>
                  <a:srgbClr val="1E2761"/>
                </a:solidFill>
                <a:latin typeface="Pretendard" pitchFamily="34" charset="0"/>
                <a:ea typeface="Pretendard" pitchFamily="34" charset="-122"/>
                <a:cs typeface="Pretendard" pitchFamily="34" charset="-120"/>
              </a:rPr>
              <a:t>그에 상응하는 절차적 권리보장이 필요하다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CA8"/>
          <p:cNvSpPr/>
          <p:nvPr/>
        </p:nvSpPr>
        <p:spPr>
          <a:xfrm>
            <a:off x="3154680" y="2208860"/>
            <a:ext cx="4023360" cy="459029"/>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1E2761"/>
                </a:solidFill>
                <a:latin typeface="Pretendard" pitchFamily="34" charset="0"/>
                <a:ea typeface="Pretendard" pitchFamily="34" charset="-122"/>
                <a:cs typeface="Pretendard" pitchFamily="34" charset="-120"/>
              </a:rPr>
              <a:t>A · 우범 사건</a:t>
            </a:r>
          </a:p>
          <a:p>
            <a:pPr marL="0" indent="0">
              <a:lnSpc>
                <a:spcPct val="118000"/>
              </a:lnSpc>
              <a:buNone/>
            </a:pPr>
            <a:r>
              <a:rPr lang="ko-KR" altLang="en-US" sz="1150" dirty="0">
                <a:solidFill>
                  <a:srgbClr val="222633"/>
                </a:solidFill>
                <a:latin typeface="Pretendard" pitchFamily="34" charset="0"/>
                <a:ea typeface="Pretendard" pitchFamily="34" charset="-122"/>
                <a:cs typeface="Pretendard" pitchFamily="34" charset="-120"/>
              </a:rPr>
              <a:t>이 사건 때문에 소년분류심사원에 위탁됐고, 사선보조인이 있었다.</a:t>
            </a:r>
          </a:p>
        </p:txBody>
      </p:sp>
      <p:sp>
        <p:nvSpPr>
          <p:cNvPr id="9" name="CA9"/>
          <p:cNvSpPr/>
          <p:nvPr/>
        </p:nvSpPr>
        <p:spPr>
          <a:xfrm>
            <a:off x="7016750" y="2208860"/>
            <a:ext cx="4440682" cy="711325"/>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1E2761"/>
                </a:solidFill>
                <a:latin typeface="Pretendard" pitchFamily="34" charset="0"/>
                <a:ea typeface="Pretendard" pitchFamily="34" charset="-122"/>
                <a:cs typeface="Pretendard" pitchFamily="34" charset="-120"/>
              </a:rPr>
              <a:t>B · 보호처분 변경 사건</a:t>
            </a:r>
          </a:p>
          <a:p>
            <a:pPr marL="0" indent="0">
              <a:lnSpc>
                <a:spcPct val="118000"/>
              </a:lnSpc>
              <a:buNone/>
            </a:pPr>
            <a:r>
              <a:rPr lang="ko-KR" altLang="en-US" sz="1150" dirty="0">
                <a:solidFill>
                  <a:srgbClr val="222633"/>
                </a:solidFill>
                <a:latin typeface="Pretendard" pitchFamily="34" charset="0"/>
                <a:ea typeface="Pretendard" pitchFamily="34" charset="-122"/>
                <a:cs typeface="Pretendard" pitchFamily="34" charset="-120"/>
              </a:rPr>
              <a:t>기존 보호처분을 바꿀지 다시 심리했고, </a:t>
            </a:r>
            <a:r>
              <a:rPr lang="ko-KR" altLang="en-US" sz="1150" dirty="0">
                <a:solidFill>
                  <a:srgbClr val="222633"/>
                </a:solidFill>
                <a:highlight>
                  <a:srgbClr val="FFFF00"/>
                </a:highlight>
                <a:latin typeface="Pretendard" pitchFamily="34" charset="0"/>
                <a:ea typeface="Pretendard" pitchFamily="34" charset="-122"/>
                <a:cs typeface="Pretendard" pitchFamily="34" charset="-120"/>
              </a:rPr>
              <a:t>필요적 국선보조인 선정사유가 발생한 사건이 아니었다</a:t>
            </a:r>
          </a:p>
        </p:txBody>
      </p:sp>
      <p:sp>
        <p:nvSpPr>
          <p:cNvPr id="10" name="LINK"/>
          <p:cNvSpPr/>
          <p:nvPr/>
        </p:nvSpPr>
        <p:spPr>
          <a:xfrm>
            <a:off x="3154680" y="2941776"/>
            <a:ext cx="8302752" cy="206807"/>
          </a:xfrm>
          <a:prstGeom prst="rect">
            <a:avLst/>
          </a:prstGeom>
          <a:noFill/>
          <a:ln/>
        </p:spPr>
        <p:txBody>
          <a:bodyPr wrap="square" lIns="0" tIns="0" rIns="0" bIns="0" rtlCol="0" anchor="t"/>
          <a:lstStyle/>
          <a:p>
            <a:pPr>
              <a:lnSpc>
                <a:spcPct val="118000"/>
              </a:lnSpc>
            </a:pPr>
            <a:r>
              <a:rPr lang="ko-KR" altLang="en-US" sz="1150" dirty="0">
                <a:solidFill>
                  <a:srgbClr val="464D5C"/>
                </a:solidFill>
                <a:latin typeface="Pretendard" pitchFamily="34" charset="0"/>
                <a:ea typeface="Pretendard" pitchFamily="34" charset="-122"/>
                <a:cs typeface="Pretendard" pitchFamily="34" charset="-120"/>
              </a:rPr>
              <a:t>소년은 </a:t>
            </a:r>
            <a:r>
              <a:rPr lang="en-US" altLang="ko-KR" sz="1150" dirty="0">
                <a:solidFill>
                  <a:srgbClr val="464D5C"/>
                </a:solidFill>
                <a:latin typeface="Pretendard" pitchFamily="34" charset="0"/>
                <a:ea typeface="Pretendard" pitchFamily="34" charset="-122"/>
                <a:cs typeface="Pretendard" pitchFamily="34" charset="-120"/>
              </a:rPr>
              <a:t>A</a:t>
            </a:r>
            <a:r>
              <a:rPr lang="ko-KR" altLang="en-US" sz="1150" dirty="0">
                <a:solidFill>
                  <a:srgbClr val="464D5C"/>
                </a:solidFill>
                <a:latin typeface="Pretendard" pitchFamily="34" charset="0"/>
                <a:ea typeface="Pretendard" pitchFamily="34" charset="-122"/>
                <a:cs typeface="Pretendard" pitchFamily="34" charset="-120"/>
              </a:rPr>
              <a:t>사건 때문에 분류심사원에 위탁된 상태에서</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같은 심리기일에 </a:t>
            </a:r>
            <a:r>
              <a:rPr lang="en-US" altLang="ko-KR" sz="1150" dirty="0">
                <a:solidFill>
                  <a:srgbClr val="464D5C"/>
                </a:solidFill>
                <a:latin typeface="Pretendard" pitchFamily="34" charset="0"/>
                <a:ea typeface="Pretendard" pitchFamily="34" charset="-122"/>
                <a:cs typeface="Pretendard" pitchFamily="34" charset="-120"/>
              </a:rPr>
              <a:t>B</a:t>
            </a:r>
            <a:r>
              <a:rPr lang="ko-KR" altLang="en-US" sz="1150" dirty="0">
                <a:solidFill>
                  <a:srgbClr val="464D5C"/>
                </a:solidFill>
                <a:latin typeface="Pretendard" pitchFamily="34" charset="0"/>
                <a:ea typeface="Pretendard" pitchFamily="34" charset="-122"/>
                <a:cs typeface="Pretendard" pitchFamily="34" charset="-120"/>
              </a:rPr>
              <a:t>사건의 심리도 받았다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11" name="H0"/>
          <p:cNvSpPr/>
          <p:nvPr/>
        </p:nvSpPr>
        <p:spPr>
          <a:xfrm>
            <a:off x="731520" y="2034540"/>
            <a:ext cx="2240280" cy="1053846"/>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사건 구조</a:t>
            </a:r>
          </a:p>
        </p:txBody>
      </p:sp>
      <p:sp>
        <p:nvSpPr>
          <p:cNvPr id="12" name="R0"/>
          <p:cNvSpPr/>
          <p:nvPr/>
        </p:nvSpPr>
        <p:spPr>
          <a:xfrm>
            <a:off x="731520" y="3282696"/>
            <a:ext cx="10725912" cy="0"/>
          </a:xfrm>
          <a:prstGeom prst="line">
            <a:avLst/>
          </a:prstGeom>
          <a:ln w="9525">
            <a:solidFill>
              <a:srgbClr val="DCE0E8"/>
            </a:solidFill>
          </a:ln>
        </p:spPr>
        <p:txBody>
          <a:bodyPr/>
          <a:lstStyle/>
          <a:p>
            <a:endParaRPr lang="ko-KR"/>
          </a:p>
        </p:txBody>
      </p:sp>
      <p:sp>
        <p:nvSpPr>
          <p:cNvPr id="13" name="RB13"/>
          <p:cNvSpPr/>
          <p:nvPr/>
        </p:nvSpPr>
        <p:spPr>
          <a:xfrm>
            <a:off x="3154680" y="3436368"/>
            <a:ext cx="8409432" cy="752094"/>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222633"/>
                </a:solidFill>
                <a:latin typeface="Pretendard" pitchFamily="34" charset="0"/>
                <a:ea typeface="Pretendard" pitchFamily="34" charset="-122"/>
                <a:cs typeface="Pretendard" pitchFamily="34" charset="-120"/>
              </a:rPr>
              <a:t>B사건에도 국선보조인을 선정해야 하는가</a:t>
            </a:r>
          </a:p>
          <a:p>
            <a:pPr>
              <a:spcAft>
                <a:spcPts val="300"/>
              </a:spcAft>
            </a:pPr>
            <a:r>
              <a:rPr lang="ko-KR" altLang="en-US" sz="1150" b="1" dirty="0">
                <a:solidFill>
                  <a:srgbClr val="002060"/>
                </a:solidFill>
                <a:latin typeface="Pretendard" pitchFamily="34" charset="0"/>
                <a:ea typeface="Pretendard" pitchFamily="34" charset="-122"/>
                <a:cs typeface="Pretendard" pitchFamily="34" charset="-120"/>
              </a:rPr>
              <a:t>소년법 제17조의2 제1항 </a:t>
            </a:r>
            <a:r>
              <a:rPr lang="en-US" altLang="ko-KR" sz="1150" b="1" dirty="0">
                <a:solidFill>
                  <a:srgbClr val="464D5C"/>
                </a:solidFill>
                <a:highlight>
                  <a:srgbClr val="FFFF00"/>
                </a:highlight>
                <a:latin typeface="Pretendard" pitchFamily="34" charset="0"/>
                <a:ea typeface="Pretendard" pitchFamily="34" charset="-122"/>
                <a:cs typeface="Pretendard" pitchFamily="34" charset="-120"/>
              </a:rPr>
              <a:t>“</a:t>
            </a: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소년이 소년분류심사원에 위탁된 경우 보조인이 없을 때에는 법원은 변호사 등 적정한 자를 보조인으로 선정하여야 한다</a:t>
            </a:r>
            <a:r>
              <a:rPr lang="en-US" altLang="ko-KR" sz="1150" b="1" dirty="0">
                <a:solidFill>
                  <a:srgbClr val="464D5C"/>
                </a:solidFill>
                <a:highlight>
                  <a:srgbClr val="FFFF00"/>
                </a:highlight>
                <a:latin typeface="Pretendard" pitchFamily="34" charset="0"/>
                <a:ea typeface="Pretendard" pitchFamily="34" charset="-122"/>
                <a:cs typeface="Pretendard" pitchFamily="34" charset="-120"/>
              </a:rPr>
              <a:t>“</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이 규정이 현재 사건 때문에 위탁된 경우에만 적용되는지, 다른 사건 때문에 이미 위탁된 경우에도 적용되는지가 쟁점이었다.</a:t>
            </a:r>
          </a:p>
        </p:txBody>
      </p:sp>
      <p:sp>
        <p:nvSpPr>
          <p:cNvPr id="14" name="RH14"/>
          <p:cNvSpPr/>
          <p:nvPr/>
        </p:nvSpPr>
        <p:spPr>
          <a:xfrm>
            <a:off x="731520" y="3259836"/>
            <a:ext cx="2240280" cy="101117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무엇이 문제였나</a:t>
            </a:r>
          </a:p>
        </p:txBody>
      </p:sp>
      <p:sp>
        <p:nvSpPr>
          <p:cNvPr id="15" name="RR15"/>
          <p:cNvSpPr/>
          <p:nvPr/>
        </p:nvSpPr>
        <p:spPr>
          <a:xfrm>
            <a:off x="731520" y="4293870"/>
            <a:ext cx="10725912" cy="0"/>
          </a:xfrm>
          <a:prstGeom prst="line">
            <a:avLst/>
          </a:prstGeom>
          <a:ln w="9525">
            <a:solidFill>
              <a:srgbClr val="DCE0E8"/>
            </a:solidFill>
          </a:ln>
        </p:spPr>
        <p:txBody>
          <a:bodyPr/>
          <a:lstStyle/>
          <a:p>
            <a:endParaRPr lang="ko-KR"/>
          </a:p>
        </p:txBody>
      </p:sp>
      <p:sp>
        <p:nvSpPr>
          <p:cNvPr id="16" name="RB16"/>
          <p:cNvSpPr/>
          <p:nvPr/>
        </p:nvSpPr>
        <p:spPr>
          <a:xfrm>
            <a:off x="3154680" y="4453281"/>
            <a:ext cx="8302752" cy="714604"/>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222633"/>
                </a:solidFill>
                <a:latin typeface="Pretendard" pitchFamily="34" charset="0"/>
                <a:ea typeface="Pretendard" pitchFamily="34" charset="-122"/>
                <a:cs typeface="Pretendard" pitchFamily="34" charset="-120"/>
              </a:rPr>
              <a:t>위탁의 목적보다 실제 자유제한을 중시했다</a:t>
            </a:r>
          </a:p>
          <a:p>
            <a:pPr marL="0" indent="0">
              <a:lnSpc>
                <a:spcPct val="118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분류심사원 위탁은 조사·보호 목적이지만, 소년은 강제로 시설에 머물며 신체의 자유를 제한받는다.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따라서 현재 심리 중인 사건에서도 소년의 이익을 옹호할 보조인의 조력이 필요하다고 보았다.</a:t>
            </a:r>
          </a:p>
        </p:txBody>
      </p:sp>
      <p:sp>
        <p:nvSpPr>
          <p:cNvPr id="17" name="RH17"/>
          <p:cNvSpPr/>
          <p:nvPr/>
        </p:nvSpPr>
        <p:spPr>
          <a:xfrm>
            <a:off x="731520" y="4271010"/>
            <a:ext cx="2240280" cy="101117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대법원이 본 것</a:t>
            </a:r>
          </a:p>
        </p:txBody>
      </p:sp>
      <p:sp>
        <p:nvSpPr>
          <p:cNvPr id="18" name="RR18"/>
          <p:cNvSpPr/>
          <p:nvPr/>
        </p:nvSpPr>
        <p:spPr>
          <a:xfrm>
            <a:off x="731520" y="5305044"/>
            <a:ext cx="10725912" cy="0"/>
          </a:xfrm>
          <a:prstGeom prst="line">
            <a:avLst/>
          </a:prstGeom>
          <a:ln w="9525">
            <a:solidFill>
              <a:srgbClr val="DCE0E8"/>
            </a:solidFill>
          </a:ln>
        </p:spPr>
        <p:txBody>
          <a:bodyPr/>
          <a:lstStyle/>
          <a:p>
            <a:endParaRPr lang="ko-KR"/>
          </a:p>
        </p:txBody>
      </p:sp>
      <p:sp>
        <p:nvSpPr>
          <p:cNvPr id="19" name="RB19"/>
          <p:cNvSpPr/>
          <p:nvPr/>
        </p:nvSpPr>
        <p:spPr>
          <a:xfrm>
            <a:off x="3154680" y="5372354"/>
            <a:ext cx="8302752" cy="965451"/>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222633"/>
                </a:solidFill>
                <a:latin typeface="Pretendard" pitchFamily="34" charset="0"/>
                <a:ea typeface="Pretendard" pitchFamily="34" charset="-122"/>
                <a:cs typeface="Pretendard" pitchFamily="34" charset="-120"/>
              </a:rPr>
              <a:t>다른 사건으로 위탁된 경우에도 현재 사건에 보조인이 없다면 국선보조인을 선정해야 한다</a:t>
            </a:r>
          </a:p>
          <a:p>
            <a:pPr marL="0" indent="0">
              <a:lnSpc>
                <a:spcPct val="118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보조인 없이 심리가 이루어진 보호처분 변경결정은 절차상 위법하다고 보아 취소·환송했다.</a:t>
            </a:r>
          </a:p>
          <a:p>
            <a:pPr>
              <a:lnSpc>
                <a:spcPct val="118000"/>
              </a:lnSpc>
            </a:pPr>
            <a:r>
              <a:rPr lang="en-US" altLang="ko-KR" sz="1150" dirty="0">
                <a:solidFill>
                  <a:srgbClr val="464D5C"/>
                </a:solidFill>
                <a:latin typeface="Pretendard" pitchFamily="34" charset="0"/>
                <a:ea typeface="Pretendard" pitchFamily="34" charset="-122"/>
                <a:cs typeface="Pretendard" pitchFamily="34" charset="-120"/>
              </a:rPr>
              <a:t>A</a:t>
            </a:r>
            <a:r>
              <a:rPr lang="ko-KR" altLang="en-US" sz="1150" dirty="0">
                <a:solidFill>
                  <a:srgbClr val="464D5C"/>
                </a:solidFill>
                <a:latin typeface="Pretendard" pitchFamily="34" charset="0"/>
                <a:ea typeface="Pretendard" pitchFamily="34" charset="-122"/>
                <a:cs typeface="Pretendard" pitchFamily="34" charset="-120"/>
              </a:rPr>
              <a:t>사건의 사선보조인이 같은 심리기일에 참여했더라도</a:t>
            </a:r>
            <a:r>
              <a:rPr lang="en-US" altLang="ko-KR" sz="1150" dirty="0">
                <a:solidFill>
                  <a:srgbClr val="464D5C"/>
                </a:solidFill>
                <a:latin typeface="Pretendard" pitchFamily="34" charset="0"/>
                <a:ea typeface="Pretendard" pitchFamily="34" charset="-122"/>
                <a:cs typeface="Pretendard" pitchFamily="34" charset="-120"/>
              </a:rPr>
              <a:t>, B</a:t>
            </a:r>
            <a:r>
              <a:rPr lang="ko-KR" altLang="en-US" sz="1150" dirty="0">
                <a:solidFill>
                  <a:srgbClr val="464D5C"/>
                </a:solidFill>
                <a:latin typeface="Pretendard" pitchFamily="34" charset="0"/>
                <a:ea typeface="Pretendard" pitchFamily="34" charset="-122"/>
                <a:cs typeface="Pretendard" pitchFamily="34" charset="-120"/>
              </a:rPr>
              <a:t>사건의 보조인으로 선임된 것은 아니므로 절차상 하자는 치유되지 않는다</a:t>
            </a:r>
            <a:r>
              <a:rPr lang="en-US" altLang="ko-KR" sz="1150" dirty="0">
                <a:solidFill>
                  <a:srgbClr val="464D5C"/>
                </a:solidFill>
                <a:latin typeface="Pretendard" pitchFamily="34" charset="0"/>
                <a:ea typeface="Pretendard" pitchFamily="34" charset="-122"/>
                <a:cs typeface="Pretendard" pitchFamily="34" charset="-120"/>
              </a:rPr>
              <a:t>.</a:t>
            </a:r>
          </a:p>
          <a:p>
            <a:pPr>
              <a:lnSpc>
                <a:spcPct val="118000"/>
              </a:lnSpc>
            </a:pPr>
            <a:r>
              <a:rPr lang="ko-KR" altLang="en-US" sz="1150" dirty="0">
                <a:solidFill>
                  <a:srgbClr val="464D5C"/>
                </a:solidFill>
                <a:latin typeface="Pretendard" pitchFamily="34" charset="0"/>
                <a:ea typeface="Pretendard" pitchFamily="34" charset="-122"/>
                <a:cs typeface="Pretendard" pitchFamily="34" charset="-120"/>
              </a:rPr>
              <a:t>소년이나 보호자가 당시 이의를 제기하지 않은 것도 마찬가지다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20" name="RH20"/>
          <p:cNvSpPr/>
          <p:nvPr/>
        </p:nvSpPr>
        <p:spPr>
          <a:xfrm>
            <a:off x="731520" y="5326634"/>
            <a:ext cx="2240280" cy="101117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결론</a:t>
            </a:r>
          </a:p>
        </p:txBody>
      </p:sp>
      <p:sp>
        <p:nvSpPr>
          <p:cNvPr id="22"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대법원 2025. 12. 4.자 2025트6 결정(보호처분결정에대한재항고) · 소년법 제17조의2 제1항·제18조 제1항 제3호 · 소년심판규칙 제24조 제2항</a:t>
            </a:r>
          </a:p>
        </p:txBody>
      </p:sp>
      <p:sp>
        <p:nvSpPr>
          <p:cNvPr id="23" name="RULE">
            <a:extLst>
              <a:ext uri="{FF2B5EF4-FFF2-40B4-BE49-F238E27FC236}">
                <a16:creationId xmlns:a16="http://schemas.microsoft.com/office/drawing/2014/main" id="{AF681DDB-5297-3796-16FD-2C0707F532CB}"/>
              </a:ext>
            </a:extLst>
          </p:cNvPr>
          <p:cNvSpPr/>
          <p:nvPr/>
        </p:nvSpPr>
        <p:spPr>
          <a:xfrm>
            <a:off x="731520" y="6382258"/>
            <a:ext cx="10725912" cy="0"/>
          </a:xfrm>
          <a:prstGeom prst="line">
            <a:avLst/>
          </a:prstGeom>
          <a:ln w="19050">
            <a:solidFill>
              <a:srgbClr val="1E2761"/>
            </a:solidFill>
          </a:ln>
        </p:spPr>
        <p:txBody>
          <a:bodyPr/>
          <a:lstStyle/>
          <a:p>
            <a:endParaRPr lang="ko-K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응보·예방·보호와 현행제도의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다른 사건으로 위탁된 소년의 국선보조인</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Blokhin(2016) — 형사책임을 묻지 않은 12세를 왜 30일간 수용했나</a:t>
            </a:r>
          </a:p>
        </p:txBody>
      </p:sp>
      <p:sp>
        <p:nvSpPr>
          <p:cNvPr id="5" name="BANDBG"/>
          <p:cNvSpPr/>
          <p:nvPr/>
        </p:nvSpPr>
        <p:spPr>
          <a:xfrm>
            <a:off x="731520" y="1417320"/>
            <a:ext cx="10725912" cy="7772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7772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12세 Blokhin은 형사책임연령 미만이라 형사절차가 개시되지 않았다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 그러나 러시아 법원은 행동교정과 추가 비행 예방을 이유로 30일간 소년 임시구금시설에 수용했다</a:t>
            </a:r>
          </a:p>
        </p:txBody>
      </p:sp>
      <p:sp>
        <p:nvSpPr>
          <p:cNvPr id="7" name="RULE"/>
          <p:cNvSpPr/>
          <p:nvPr/>
        </p:nvSpPr>
        <p:spPr>
          <a:xfrm>
            <a:off x="731520" y="2286000"/>
            <a:ext cx="10725912" cy="0"/>
          </a:xfrm>
          <a:prstGeom prst="line">
            <a:avLst/>
          </a:prstGeom>
          <a:ln w="19050">
            <a:solidFill>
              <a:srgbClr val="1E2761"/>
            </a:solidFill>
          </a:ln>
        </p:spPr>
        <p:txBody>
          <a:bodyPr/>
          <a:lstStyle/>
          <a:p>
            <a:endParaRPr lang="ko-KR"/>
          </a:p>
        </p:txBody>
      </p:sp>
      <p:sp>
        <p:nvSpPr>
          <p:cNvPr id="8" name="RB8"/>
          <p:cNvSpPr/>
          <p:nvPr/>
        </p:nvSpPr>
        <p:spPr>
          <a:xfrm>
            <a:off x="3154680" y="2356942"/>
            <a:ext cx="8302752" cy="469697"/>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222633"/>
                </a:solidFill>
                <a:latin typeface="Pretendard" pitchFamily="34" charset="0"/>
                <a:ea typeface="Pretendard" pitchFamily="34" charset="-122"/>
                <a:cs typeface="Pretendard" pitchFamily="34" charset="-120"/>
              </a:rPr>
              <a:t>공갈 혐의를 받은 12세 소년이었지만, 책임연령 미만이라 형사기소는 이루어지지 않았다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다른 아동의 돈을 빼앗았다는 혐의였고, 경찰은 형법상 공갈에 해당하는 행위를 했다고 보았다.</a:t>
            </a:r>
          </a:p>
        </p:txBody>
      </p:sp>
      <p:sp>
        <p:nvSpPr>
          <p:cNvPr id="9" name="RH9"/>
          <p:cNvSpPr/>
          <p:nvPr/>
        </p:nvSpPr>
        <p:spPr>
          <a:xfrm>
            <a:off x="731520" y="2263140"/>
            <a:ext cx="2240280" cy="675589"/>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사건의 시작</a:t>
            </a:r>
          </a:p>
        </p:txBody>
      </p:sp>
      <p:sp>
        <p:nvSpPr>
          <p:cNvPr id="10" name="RR10"/>
          <p:cNvSpPr/>
          <p:nvPr/>
        </p:nvSpPr>
        <p:spPr>
          <a:xfrm>
            <a:off x="731520" y="2961589"/>
            <a:ext cx="10725912" cy="0"/>
          </a:xfrm>
          <a:prstGeom prst="line">
            <a:avLst/>
          </a:prstGeom>
          <a:ln w="9525">
            <a:solidFill>
              <a:srgbClr val="DCE0E8"/>
            </a:solidFill>
          </a:ln>
        </p:spPr>
        <p:txBody>
          <a:bodyPr/>
          <a:lstStyle/>
          <a:p>
            <a:endParaRPr lang="ko-KR"/>
          </a:p>
        </p:txBody>
      </p:sp>
      <p:sp>
        <p:nvSpPr>
          <p:cNvPr id="11" name="RB11"/>
          <p:cNvSpPr/>
          <p:nvPr/>
        </p:nvSpPr>
        <p:spPr>
          <a:xfrm>
            <a:off x="3154680" y="3032531"/>
            <a:ext cx="8302752" cy="714604"/>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222633"/>
                </a:solidFill>
                <a:latin typeface="Pretendard" pitchFamily="34" charset="0"/>
                <a:ea typeface="Pretendard" pitchFamily="34" charset="-122"/>
                <a:cs typeface="Pretendard" pitchFamily="34" charset="-120"/>
              </a:rPr>
              <a:t>행동교정과 추가 비행 예방을 이유로 30일간 소년 임시구금시설 수용을 명했다</a:t>
            </a:r>
          </a:p>
          <a:p>
            <a:pPr marL="0" indent="0">
              <a:lnSpc>
                <a:spcPct val="118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당시 러시아 법은 책임연령 미만 소년이라도 법률이 정한 사유가 있으면 법원 결정으로 단기간 수용할 수 있게 했다.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모든 책임연령 미만 소년을 자동으로 시설에 보내는 제도는 아니었다.</a:t>
            </a:r>
          </a:p>
        </p:txBody>
      </p:sp>
      <p:sp>
        <p:nvSpPr>
          <p:cNvPr id="12" name="RH12"/>
          <p:cNvSpPr/>
          <p:nvPr/>
        </p:nvSpPr>
        <p:spPr>
          <a:xfrm>
            <a:off x="731520" y="2938729"/>
            <a:ext cx="2240280" cy="920496"/>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러시아 법원의 조치</a:t>
            </a:r>
          </a:p>
        </p:txBody>
      </p:sp>
      <p:sp>
        <p:nvSpPr>
          <p:cNvPr id="13" name="RR13"/>
          <p:cNvSpPr/>
          <p:nvPr/>
        </p:nvSpPr>
        <p:spPr>
          <a:xfrm>
            <a:off x="731520" y="3882085"/>
            <a:ext cx="10725912" cy="0"/>
          </a:xfrm>
          <a:prstGeom prst="line">
            <a:avLst/>
          </a:prstGeom>
          <a:ln w="9525">
            <a:solidFill>
              <a:srgbClr val="DCE0E8"/>
            </a:solidFill>
          </a:ln>
        </p:spPr>
        <p:txBody>
          <a:bodyPr/>
          <a:lstStyle/>
          <a:p>
            <a:endParaRPr lang="ko-KR"/>
          </a:p>
        </p:txBody>
      </p:sp>
      <p:sp>
        <p:nvSpPr>
          <p:cNvPr id="14" name="RB14"/>
          <p:cNvSpPr/>
          <p:nvPr/>
        </p:nvSpPr>
        <p:spPr>
          <a:xfrm>
            <a:off x="3154680" y="3953027"/>
            <a:ext cx="8302752" cy="959510"/>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222633"/>
                </a:solidFill>
                <a:latin typeface="Pretendard" pitchFamily="34" charset="0"/>
                <a:ea typeface="Pretendard" pitchFamily="34" charset="-122"/>
                <a:cs typeface="Pretendard" pitchFamily="34" charset="-120"/>
              </a:rPr>
              <a:t>쟁점은 수용의 존재만이 아니라 그 근거와 절차, 시설에서의 처우였다</a:t>
            </a:r>
          </a:p>
          <a:p>
            <a:pPr marL="0" indent="0">
              <a:lnSpc>
                <a:spcPct val="118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① 신체의 자유 — 30일 수용을 정당화할 근거와 필요성이 있었는가</a:t>
            </a:r>
          </a:p>
          <a:p>
            <a:pPr marL="0" indent="0">
              <a:lnSpc>
                <a:spcPct val="118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② 공정한 절차 — 변호인의 조력과 불리한 진술을 다툴 기회가 보장됐는가</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③ 의료처우 — 주의력결핍·과잉행동장애 등 기존 질환에 필요한 처우가 제공됐는가</a:t>
            </a:r>
          </a:p>
        </p:txBody>
      </p:sp>
      <p:sp>
        <p:nvSpPr>
          <p:cNvPr id="15" name="RH15"/>
          <p:cNvSpPr/>
          <p:nvPr/>
        </p:nvSpPr>
        <p:spPr>
          <a:xfrm>
            <a:off x="731520" y="3859225"/>
            <a:ext cx="2240280" cy="1165403"/>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무엇이 문제됐나</a:t>
            </a:r>
          </a:p>
        </p:txBody>
      </p:sp>
      <p:sp>
        <p:nvSpPr>
          <p:cNvPr id="16" name="RR16"/>
          <p:cNvSpPr/>
          <p:nvPr/>
        </p:nvSpPr>
        <p:spPr>
          <a:xfrm>
            <a:off x="731520" y="5047488"/>
            <a:ext cx="10725912" cy="0"/>
          </a:xfrm>
          <a:prstGeom prst="line">
            <a:avLst/>
          </a:prstGeom>
          <a:ln w="9525">
            <a:solidFill>
              <a:srgbClr val="DCE0E8"/>
            </a:solidFill>
          </a:ln>
        </p:spPr>
        <p:txBody>
          <a:bodyPr/>
          <a:lstStyle/>
          <a:p>
            <a:endParaRPr lang="ko-KR"/>
          </a:p>
        </p:txBody>
      </p:sp>
      <p:sp>
        <p:nvSpPr>
          <p:cNvPr id="17" name="RB17"/>
          <p:cNvSpPr/>
          <p:nvPr/>
        </p:nvSpPr>
        <p:spPr>
          <a:xfrm>
            <a:off x="3154680" y="5118430"/>
            <a:ext cx="8302752" cy="469697"/>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222633"/>
                </a:solidFill>
                <a:highlight>
                  <a:srgbClr val="FFFF00"/>
                </a:highlight>
                <a:latin typeface="Pretendard" pitchFamily="34" charset="0"/>
                <a:ea typeface="Pretendard" pitchFamily="34" charset="-122"/>
                <a:cs typeface="Pretendard" pitchFamily="34" charset="-120"/>
              </a:rPr>
              <a:t>보호·교정 목적의 조치라도 실제로 자유를 박탈한다면 그에 맞는 근거와 절차보장이 필요하다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대재판부는 세 쟁점 모두에서 협약 위반을 인정했다(제5조 제1항, 제6조 제1항·제3항, 제3조).</a:t>
            </a:r>
          </a:p>
        </p:txBody>
      </p:sp>
      <p:sp>
        <p:nvSpPr>
          <p:cNvPr id="18" name="RH18"/>
          <p:cNvSpPr/>
          <p:nvPr/>
        </p:nvSpPr>
        <p:spPr>
          <a:xfrm>
            <a:off x="731520" y="5024628"/>
            <a:ext cx="2240280" cy="675589"/>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유럽인권재판소의 판단</a:t>
            </a:r>
          </a:p>
        </p:txBody>
      </p:sp>
      <p:sp>
        <p:nvSpPr>
          <p:cNvPr id="19" name="RR19"/>
          <p:cNvSpPr/>
          <p:nvPr/>
        </p:nvSpPr>
        <p:spPr>
          <a:xfrm>
            <a:off x="731520" y="5723077"/>
            <a:ext cx="10725912" cy="0"/>
          </a:xfrm>
          <a:prstGeom prst="line">
            <a:avLst/>
          </a:prstGeom>
          <a:ln w="9525">
            <a:solidFill>
              <a:srgbClr val="DCE0E8"/>
            </a:solidFill>
          </a:ln>
        </p:spPr>
        <p:txBody>
          <a:bodyPr/>
          <a:lstStyle/>
          <a:p>
            <a:endParaRPr lang="ko-KR"/>
          </a:p>
        </p:txBody>
      </p:sp>
      <p:sp>
        <p:nvSpPr>
          <p:cNvPr id="20" name="GD"/>
          <p:cNvSpPr/>
          <p:nvPr/>
        </p:nvSpPr>
        <p:spPr>
          <a:xfrm>
            <a:off x="731520" y="5832119"/>
            <a:ext cx="10725912" cy="215798"/>
          </a:xfrm>
          <a:prstGeom prst="rect">
            <a:avLst/>
          </a:prstGeom>
          <a:noFill/>
          <a:ln/>
        </p:spPr>
        <p:txBody>
          <a:bodyPr wrap="square" lIns="0" tIns="0" rIns="0" bIns="0" rtlCol="0" anchor="t"/>
          <a:lstStyle/>
          <a:p>
            <a:pPr marL="0" indent="0">
              <a:lnSpc>
                <a:spcPct val="118000"/>
              </a:lnSpc>
              <a:buNone/>
            </a:pPr>
            <a:r>
              <a:rPr lang="ko-KR" altLang="en-US" sz="1200" dirty="0">
                <a:solidFill>
                  <a:srgbClr val="A8871C"/>
                </a:solidFill>
                <a:latin typeface="Pretendard" pitchFamily="34" charset="0"/>
                <a:ea typeface="Pretendard" pitchFamily="34" charset="-122"/>
                <a:cs typeface="Pretendard" pitchFamily="34" charset="-120"/>
              </a:rPr>
              <a:t>이 판결은 러시아 제도 자체를 금지한 것이 아니라 이 사건의 근거·절차·의료처우를 판단한 것이며, 한국 소년분류심사원과는 법적 근거와 제도가 다르다.</a:t>
            </a:r>
          </a:p>
        </p:txBody>
      </p:sp>
      <p:sp>
        <p:nvSpPr>
          <p:cNvPr id="21" name="RG"/>
          <p:cNvSpPr/>
          <p:nvPr/>
        </p:nvSpPr>
        <p:spPr>
          <a:xfrm>
            <a:off x="731520" y="6144768"/>
            <a:ext cx="10725912" cy="0"/>
          </a:xfrm>
          <a:prstGeom prst="line">
            <a:avLst/>
          </a:prstGeom>
          <a:ln w="9525">
            <a:solidFill>
              <a:srgbClr val="DCE0E8"/>
            </a:solidFill>
          </a:ln>
        </p:spPr>
        <p:txBody>
          <a:bodyPr/>
          <a:lstStyle/>
          <a:p>
            <a:endParaRPr lang="ko-KR"/>
          </a:p>
        </p:txBody>
      </p:sp>
      <p:sp>
        <p:nvSpPr>
          <p:cNvPr id="22"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Blokhin v. Russia [GC], no. 47152/06, ECHR, 2016.3.23.(ECHR Registrar 공식 판결 설명) · Articles 3, 5 §1, 6 §§1·3</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공론화와 세 정책대안</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sz="1050" b="0">
                <a:solidFill>
                  <a:srgbClr val="6E7686"/>
                </a:solidFill>
                <a:latin typeface="Pretendard"/>
              </a:rPr>
              <a:t>다음 → 공론화의 구성</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nSpc>
                <a:spcPct val="118000"/>
              </a:lnSpc>
            </a:pPr>
            <a:r>
              <a:rPr lang="en-US" altLang="ko-KR" sz="2750" b="1" dirty="0">
                <a:solidFill>
                  <a:srgbClr val="1E2761"/>
                </a:solidFill>
                <a:latin typeface="Pretendard"/>
                <a:ea typeface="Pretendard"/>
                <a:cs typeface="Pretendard"/>
              </a:rPr>
              <a:t>2026 </a:t>
            </a:r>
            <a:r>
              <a:rPr lang="ko-KR" altLang="en-US" sz="2750" b="1" dirty="0">
                <a:solidFill>
                  <a:srgbClr val="1E2761"/>
                </a:solidFill>
                <a:latin typeface="Pretendard"/>
                <a:ea typeface="Pretendard"/>
                <a:cs typeface="Pretendard"/>
              </a:rPr>
              <a:t>「</a:t>
            </a:r>
            <a:r>
              <a:rPr lang="ko-KR" altLang="en-US" sz="2750" b="1" dirty="0" err="1">
                <a:solidFill>
                  <a:srgbClr val="1E2761"/>
                </a:solidFill>
                <a:latin typeface="Pretendard"/>
                <a:ea typeface="Pretendard"/>
                <a:cs typeface="Pretendard"/>
              </a:rPr>
              <a:t>촉법소년</a:t>
            </a:r>
            <a:r>
              <a:rPr lang="ko-KR" altLang="en-US" sz="2750" b="1" dirty="0">
                <a:solidFill>
                  <a:srgbClr val="1E2761"/>
                </a:solidFill>
                <a:latin typeface="Pretendard"/>
                <a:ea typeface="Pretendard"/>
                <a:cs typeface="Pretendard"/>
              </a:rPr>
              <a:t> 연령 기준」 공론화 </a:t>
            </a:r>
            <a:r>
              <a:rPr lang="ko-KR" altLang="en-US" sz="2750" b="1" dirty="0" err="1">
                <a:solidFill>
                  <a:srgbClr val="1E2761"/>
                </a:solidFill>
                <a:latin typeface="Pretendard"/>
                <a:ea typeface="Pretendard"/>
                <a:cs typeface="Pretendard"/>
              </a:rPr>
              <a:t>ㅡ</a:t>
            </a:r>
            <a:r>
              <a:rPr lang="ko-KR" altLang="en-US" sz="2750" b="1" dirty="0">
                <a:solidFill>
                  <a:srgbClr val="1E2761"/>
                </a:solidFill>
                <a:latin typeface="Pretendard"/>
                <a:ea typeface="Pretendard"/>
                <a:cs typeface="Pretendard"/>
              </a:rPr>
              <a:t> </a:t>
            </a:r>
            <a:r>
              <a:rPr lang="ko-KR" sz="2750" b="1" dirty="0">
                <a:solidFill>
                  <a:srgbClr val="1E2761"/>
                </a:solidFill>
                <a:latin typeface="Pretendard"/>
                <a:ea typeface="Pretendard"/>
                <a:cs typeface="Pretendard"/>
              </a:rPr>
              <a:t>왜 촉법소년 연령을 공론화했나</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연령 하향 여부</a:t>
            </a:r>
            <a:r>
              <a:rPr lang="ko-KR" altLang="en-US" sz="1300" b="1" dirty="0">
                <a:solidFill>
                  <a:srgbClr val="1E2761"/>
                </a:solidFill>
                <a:latin typeface="Pretendard"/>
                <a:ea typeface="Pretendard"/>
                <a:cs typeface="Pretendard"/>
              </a:rPr>
              <a:t>와 더불어</a:t>
            </a:r>
            <a:r>
              <a:rPr lang="ko-KR" sz="1300" b="1" dirty="0">
                <a:solidFill>
                  <a:srgbClr val="1E2761"/>
                </a:solidFill>
                <a:latin typeface="Pretendard"/>
                <a:ea typeface="Pretendard"/>
                <a:cs typeface="Pretendard"/>
              </a:rPr>
              <a:t> 범죄예방·책임능력·피해자 보호·교화라는 서로 다른 가치를 함께 검토해 수용 가능한 정책 방향을 찾기 위한 절차였다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731520" y="2468880"/>
            <a:ext cx="2240280" cy="98755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논의 배경</a:t>
            </a:r>
          </a:p>
        </p:txBody>
      </p:sp>
      <p:sp>
        <p:nvSpPr>
          <p:cNvPr id="17" name="b0"/>
          <p:cNvSpPr txBox="1"/>
          <p:nvPr/>
        </p:nvSpPr>
        <p:spPr>
          <a:xfrm>
            <a:off x="3154680" y="2468880"/>
            <a:ext cx="8302752" cy="98755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촉법소년 범죄에 대한 우려가 커지면서 형사미성년자 연령 기준을 낮추자는 요구가 이어졌다.</a:t>
            </a:r>
          </a:p>
          <a:p>
            <a:pPr algn="l">
              <a:lnSpc>
                <a:spcPct val="125000"/>
              </a:lnSpc>
              <a:spcAft>
                <a:spcPts val="500"/>
              </a:spcAft>
            </a:pPr>
            <a:r>
              <a:rPr lang="ko-KR" sz="1150" b="0" dirty="0">
                <a:solidFill>
                  <a:srgbClr val="464D5C"/>
                </a:solidFill>
                <a:latin typeface="Pretendard"/>
                <a:ea typeface="Pretendard"/>
                <a:cs typeface="Pretendard"/>
              </a:rPr>
              <a:t>연령 하향은 처벌 강화만의 문제가 아니라 소년의 발달·책임능력, 재범방지, 피해자 보호, 보호·교화 체계가 함께 얽힌 문제다.</a:t>
            </a:r>
          </a:p>
          <a:p>
            <a:pPr algn="l">
              <a:lnSpc>
                <a:spcPct val="118000"/>
              </a:lnSpc>
            </a:pPr>
            <a:r>
              <a:rPr lang="ko-KR" sz="1150" b="0" dirty="0">
                <a:solidFill>
                  <a:srgbClr val="464D5C"/>
                </a:solidFill>
                <a:latin typeface="Pretendard"/>
                <a:ea typeface="Pretendard"/>
                <a:cs typeface="Pretendard"/>
              </a:rPr>
              <a:t>연령 기준에 대한 사회의 판단</a:t>
            </a:r>
            <a:r>
              <a:rPr lang="en-US" altLang="ko-KR" sz="1150" b="0" dirty="0">
                <a:solidFill>
                  <a:srgbClr val="464D5C"/>
                </a:solidFill>
                <a:latin typeface="Pretendard"/>
                <a:ea typeface="Pretendard"/>
                <a:cs typeface="Pretendard"/>
              </a:rPr>
              <a:t> </a:t>
            </a:r>
            <a:r>
              <a:rPr lang="ko-KR" altLang="en-US" sz="1150" b="0" dirty="0">
                <a:solidFill>
                  <a:srgbClr val="464D5C"/>
                </a:solidFill>
                <a:latin typeface="Pretendard"/>
                <a:ea typeface="Pretendard"/>
                <a:cs typeface="Pretendard"/>
              </a:rPr>
              <a:t>및 국민의 감정</a:t>
            </a:r>
            <a:r>
              <a:rPr lang="ko-KR" sz="1150" b="0" dirty="0">
                <a:solidFill>
                  <a:srgbClr val="464D5C"/>
                </a:solidFill>
                <a:latin typeface="Pretendard"/>
                <a:ea typeface="Pretendard"/>
                <a:cs typeface="Pretendard"/>
              </a:rPr>
              <a:t>도 크게 달라 정부 단독으로 결론 내리기 어려운 쟁점이 됐다.</a:t>
            </a:r>
          </a:p>
        </p:txBody>
      </p:sp>
      <p:sp>
        <p:nvSpPr>
          <p:cNvPr id="18" name="line18"/>
          <p:cNvSpPr/>
          <p:nvPr/>
        </p:nvSpPr>
        <p:spPr>
          <a:xfrm>
            <a:off x="731520" y="3640454"/>
            <a:ext cx="10725912" cy="0"/>
          </a:xfrm>
          <a:prstGeom prst="line">
            <a:avLst/>
          </a:prstGeom>
          <a:ln w="9525">
            <a:solidFill>
              <a:srgbClr val="DCE0E8"/>
            </a:solidFill>
          </a:ln>
        </p:spPr>
        <p:txBody>
          <a:bodyPr/>
          <a:lstStyle/>
          <a:p>
            <a:endParaRPr/>
          </a:p>
        </p:txBody>
      </p:sp>
      <p:sp>
        <p:nvSpPr>
          <p:cNvPr id="19" name="h1"/>
          <p:cNvSpPr txBox="1"/>
          <p:nvPr/>
        </p:nvSpPr>
        <p:spPr>
          <a:xfrm>
            <a:off x="731520" y="3824477"/>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왜 일반 여론조사가 아</a:t>
            </a:r>
            <a:r>
              <a:rPr lang="ko-KR" altLang="en-US" sz="1300" b="1" dirty="0">
                <a:solidFill>
                  <a:srgbClr val="1E2761"/>
                </a:solidFill>
                <a:latin typeface="Pretendard"/>
                <a:ea typeface="Pretendard"/>
                <a:cs typeface="Pretendard"/>
              </a:rPr>
              <a:t>닌</a:t>
            </a:r>
            <a:endParaRPr lang="en-US" altLang="ko-KR" sz="1300" b="1" dirty="0">
              <a:solidFill>
                <a:srgbClr val="1E2761"/>
              </a:solidFill>
              <a:latin typeface="Pretendard"/>
              <a:ea typeface="Pretendard"/>
              <a:cs typeface="Pretendard"/>
            </a:endParaRPr>
          </a:p>
          <a:p>
            <a:pPr algn="ctr">
              <a:lnSpc>
                <a:spcPct val="118000"/>
              </a:lnSpc>
            </a:pPr>
            <a:r>
              <a:rPr lang="ko-KR" altLang="en-US" sz="1300" b="1" dirty="0">
                <a:solidFill>
                  <a:srgbClr val="1E2761"/>
                </a:solidFill>
                <a:latin typeface="Pretendard"/>
                <a:ea typeface="Pretendard"/>
                <a:cs typeface="Pretendard"/>
              </a:rPr>
              <a:t>공론화를 했</a:t>
            </a:r>
            <a:r>
              <a:rPr lang="ko-KR" sz="1300" b="1" dirty="0">
                <a:solidFill>
                  <a:srgbClr val="1E2761"/>
                </a:solidFill>
                <a:latin typeface="Pretendard"/>
                <a:ea typeface="Pretendard"/>
                <a:cs typeface="Pretendard"/>
              </a:rPr>
              <a:t>나</a:t>
            </a:r>
          </a:p>
        </p:txBody>
      </p:sp>
      <p:sp>
        <p:nvSpPr>
          <p:cNvPr id="20" name="b1"/>
          <p:cNvSpPr txBox="1"/>
          <p:nvPr/>
        </p:nvSpPr>
        <p:spPr>
          <a:xfrm>
            <a:off x="3154680" y="3824477"/>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사건의 인상이나 </a:t>
            </a:r>
            <a:r>
              <a:rPr lang="ko-KR" altLang="en-US" sz="1250" b="1" dirty="0">
                <a:solidFill>
                  <a:srgbClr val="222633"/>
                </a:solidFill>
                <a:latin typeface="Pretendard"/>
                <a:ea typeface="Pretendard"/>
                <a:cs typeface="Pretendard"/>
              </a:rPr>
              <a:t>단순한 </a:t>
            </a:r>
            <a:r>
              <a:rPr lang="ko-KR" sz="1250" b="1" dirty="0">
                <a:solidFill>
                  <a:srgbClr val="222633"/>
                </a:solidFill>
                <a:latin typeface="Pretendard"/>
                <a:ea typeface="Pretendard"/>
                <a:cs typeface="Pretendard"/>
              </a:rPr>
              <a:t>입장 선택만으로는 결정하기 어려운 </a:t>
            </a:r>
            <a:r>
              <a:rPr lang="ko-KR" altLang="en-US" sz="1250" b="1" dirty="0">
                <a:solidFill>
                  <a:srgbClr val="222633"/>
                </a:solidFill>
                <a:latin typeface="Pretendard"/>
                <a:ea typeface="Pretendard"/>
                <a:cs typeface="Pretendard"/>
              </a:rPr>
              <a:t>복잡한 </a:t>
            </a:r>
            <a:r>
              <a:rPr lang="ko-KR" sz="1250" b="1" dirty="0">
                <a:solidFill>
                  <a:srgbClr val="222633"/>
                </a:solidFill>
                <a:latin typeface="Pretendard"/>
                <a:ea typeface="Pretendard"/>
                <a:cs typeface="Pretendard"/>
              </a:rPr>
              <a:t>사안이었다.</a:t>
            </a:r>
          </a:p>
          <a:p>
            <a:pPr algn="l">
              <a:lnSpc>
                <a:spcPct val="125000"/>
              </a:lnSpc>
            </a:pPr>
            <a:r>
              <a:rPr lang="ko-KR" sz="1150" b="0" dirty="0">
                <a:solidFill>
                  <a:srgbClr val="464D5C"/>
                </a:solidFill>
                <a:latin typeface="Pretendard"/>
                <a:ea typeface="Pretendard"/>
                <a:cs typeface="Pretendard"/>
              </a:rPr>
              <a:t>소년범죄 현황 · 형사책임 연령의 의미 · 하향 시 절차 변화 · 예방과 교화의 효과 · 피해자 보호 · 국제기준을 함께 검토할 필요가 있었다.</a:t>
            </a:r>
          </a:p>
        </p:txBody>
      </p:sp>
      <p:sp>
        <p:nvSpPr>
          <p:cNvPr id="21" name="line21"/>
          <p:cNvSpPr/>
          <p:nvPr/>
        </p:nvSpPr>
        <p:spPr>
          <a:xfrm>
            <a:off x="731520" y="4790312"/>
            <a:ext cx="10725912" cy="0"/>
          </a:xfrm>
          <a:prstGeom prst="line">
            <a:avLst/>
          </a:prstGeom>
          <a:ln w="9525">
            <a:solidFill>
              <a:srgbClr val="DCE0E8"/>
            </a:solidFill>
          </a:ln>
        </p:spPr>
        <p:txBody>
          <a:bodyPr/>
          <a:lstStyle/>
          <a:p>
            <a:endParaRPr/>
          </a:p>
        </p:txBody>
      </p:sp>
      <p:sp>
        <p:nvSpPr>
          <p:cNvPr id="22" name="h2"/>
          <p:cNvSpPr txBox="1"/>
          <p:nvPr/>
        </p:nvSpPr>
        <p:spPr>
          <a:xfrm>
            <a:off x="731520" y="4974335"/>
            <a:ext cx="2240280" cy="987551"/>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공론화의 목적</a:t>
            </a:r>
          </a:p>
        </p:txBody>
      </p:sp>
      <p:sp>
        <p:nvSpPr>
          <p:cNvPr id="23" name="b2"/>
          <p:cNvSpPr txBox="1"/>
          <p:nvPr/>
        </p:nvSpPr>
        <p:spPr>
          <a:xfrm>
            <a:off x="3154680" y="4974335"/>
            <a:ext cx="8302752" cy="987551"/>
          </a:xfrm>
          <a:prstGeom prst="rect">
            <a:avLst/>
          </a:prstGeom>
          <a:noFill/>
        </p:spPr>
        <p:txBody>
          <a:bodyPr wrap="square" lIns="0" tIns="27432" rIns="0" bIns="27432" anchor="ctr">
            <a:noAutofit/>
          </a:bodyPr>
          <a:lstStyle/>
          <a:p>
            <a:pPr>
              <a:lnSpc>
                <a:spcPct val="118000"/>
              </a:lnSpc>
              <a:spcAft>
                <a:spcPts val="500"/>
              </a:spcAft>
            </a:pPr>
            <a:r>
              <a:rPr lang="ko-KR" sz="1250" b="1" dirty="0">
                <a:solidFill>
                  <a:srgbClr val="222633"/>
                </a:solidFill>
                <a:latin typeface="Pretendard"/>
                <a:ea typeface="Pretendard"/>
                <a:cs typeface="Pretendard"/>
              </a:rPr>
              <a:t>국민 의견 수렴 — 연령 하향에 대한 </a:t>
            </a:r>
            <a:r>
              <a:rPr lang="ko-KR" altLang="ko-KR" sz="1250" b="1" dirty="0">
                <a:solidFill>
                  <a:srgbClr val="222633"/>
                </a:solidFill>
                <a:latin typeface="Pretendard"/>
                <a:ea typeface="Pretendard"/>
                <a:cs typeface="Pretendard"/>
              </a:rPr>
              <a:t>사회의 </a:t>
            </a:r>
            <a:r>
              <a:rPr lang="ko-KR" altLang="en-US" sz="1250" b="1" dirty="0" err="1">
                <a:solidFill>
                  <a:srgbClr val="222633"/>
                </a:solidFill>
                <a:latin typeface="Pretendard"/>
                <a:ea typeface="Pretendard"/>
                <a:cs typeface="Pretendard"/>
              </a:rPr>
              <a:t>숙의된</a:t>
            </a:r>
            <a:r>
              <a:rPr lang="ko-KR" altLang="en-US" sz="1250" b="1" dirty="0">
                <a:solidFill>
                  <a:srgbClr val="222633"/>
                </a:solidFill>
                <a:latin typeface="Pretendard"/>
                <a:ea typeface="Pretendard"/>
                <a:cs typeface="Pretendard"/>
              </a:rPr>
              <a:t> </a:t>
            </a:r>
            <a:r>
              <a:rPr lang="ko-KR" sz="1250" b="1" dirty="0">
                <a:solidFill>
                  <a:srgbClr val="222633"/>
                </a:solidFill>
                <a:latin typeface="Pretendard"/>
                <a:ea typeface="Pretendard"/>
                <a:cs typeface="Pretendard"/>
              </a:rPr>
              <a:t>실제 판단을 확인</a:t>
            </a:r>
            <a:r>
              <a:rPr lang="ko-KR" altLang="en-US" sz="1250" b="1" dirty="0">
                <a:solidFill>
                  <a:srgbClr val="222633"/>
                </a:solidFill>
                <a:latin typeface="Pretendard"/>
                <a:ea typeface="Pretendard"/>
                <a:cs typeface="Pretendard"/>
              </a:rPr>
              <a:t>하고자 했</a:t>
            </a:r>
            <a:r>
              <a:rPr lang="ko-KR" sz="1250" b="1" dirty="0">
                <a:solidFill>
                  <a:srgbClr val="222633"/>
                </a:solidFill>
                <a:latin typeface="Pretendard"/>
                <a:ea typeface="Pretendard"/>
                <a:cs typeface="Pretendard"/>
              </a:rPr>
              <a:t>다.</a:t>
            </a:r>
          </a:p>
          <a:p>
            <a:pPr algn="l">
              <a:lnSpc>
                <a:spcPct val="118000"/>
              </a:lnSpc>
              <a:spcAft>
                <a:spcPts val="500"/>
              </a:spcAft>
            </a:pPr>
            <a:r>
              <a:rPr lang="ko-KR" sz="1150" b="0" dirty="0">
                <a:solidFill>
                  <a:srgbClr val="464D5C"/>
                </a:solidFill>
                <a:latin typeface="Pretendard"/>
                <a:ea typeface="Pretendard"/>
                <a:cs typeface="Pretendard"/>
              </a:rPr>
              <a:t>숙의된 판단 — 관련 정보를 알고 토론한 뒤의 의견까지 확인한다.</a:t>
            </a:r>
          </a:p>
          <a:p>
            <a:pPr algn="l">
              <a:lnSpc>
                <a:spcPct val="125000"/>
              </a:lnSpc>
            </a:pPr>
            <a:r>
              <a:rPr lang="ko-KR" sz="1150" b="0" dirty="0">
                <a:solidFill>
                  <a:srgbClr val="464D5C"/>
                </a:solidFill>
                <a:latin typeface="Pretendard"/>
                <a:ea typeface="Pretendard"/>
                <a:cs typeface="Pretendard"/>
              </a:rPr>
              <a:t>사회적 합의와 정책 대안 — 몇 살로 낮출 것인가를 넘어 예방·보호·교화 등 소년사법 제도개선 방향까지 검토한다.</a:t>
            </a:r>
          </a:p>
        </p:txBody>
      </p:sp>
      <p:sp>
        <p:nvSpPr>
          <p:cNvPr id="24" name="line24"/>
          <p:cNvSpPr/>
          <p:nvPr/>
        </p:nvSpPr>
        <p:spPr>
          <a:xfrm>
            <a:off x="731520" y="6144768"/>
            <a:ext cx="10725912" cy="0"/>
          </a:xfrm>
          <a:prstGeom prst="line">
            <a:avLst/>
          </a:prstGeom>
          <a:ln w="19050">
            <a:solidFill>
              <a:srgbClr val="1E2761"/>
            </a:solidFill>
          </a:ln>
        </p:spPr>
        <p:txBody>
          <a:bodyPr/>
          <a:lstStyle/>
          <a:p>
            <a:endParaRPr/>
          </a:p>
        </p:txBody>
      </p:sp>
      <p:sp>
        <p:nvSpPr>
          <p:cNvPr id="25"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2026.3.6. 「형사미성년자(촉법소년) 연령 사회적 대화 협의체」 출범 · 목적: 국민 의견 수렴 및 사회적 합의 도출</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ext">
            <a:extLst>
              <a:ext uri="{FF2B5EF4-FFF2-40B4-BE49-F238E27FC236}">
                <a16:creationId xmlns:a16="http://schemas.microsoft.com/office/drawing/2014/main" id="{AFF4F981-BDEE-4049-B8F1-AA96F0FFF04E}"/>
              </a:ext>
            </a:extLst>
          </p:cNvPr>
          <p:cNvSpPr>
            <a:spLocks noGrp="1"/>
          </p:cNvSpPr>
          <p:nvPr/>
        </p:nvSpPr>
        <p:spPr>
          <a:xfrm>
            <a:off x="731520" y="365760"/>
            <a:ext cx="6675120" cy="292608"/>
          </a:xfrm>
          <a:prstGeom prst="rect">
            <a:avLst/>
          </a:prstGeom>
          <a:noFill/>
        </p:spPr>
        <p:txBody>
          <a:bodyPr wrap="square" lIns="0" tIns="0" rIns="0" bIns="0" anchor="ctr"/>
          <a:lstStyle/>
          <a:p>
            <a:pPr marL="0" indent="0">
              <a:lnSpc>
                <a:spcPct val="118000"/>
              </a:lnSpc>
              <a:buNone/>
            </a:pPr>
            <a:r>
              <a:rPr sz="1300" b="1">
                <a:solidFill>
                  <a:srgbClr val="464D5C"/>
                </a:solidFill>
                <a:latin typeface="Pretendard"/>
              </a:rPr>
              <a:t>공론화와 세 정책대안</a:t>
            </a:r>
            <a:endParaRPr/>
          </a:p>
        </p:txBody>
      </p:sp>
      <p:sp>
        <p:nvSpPr>
          <p:cNvPr id="126" name="Text">
            <a:extLst>
              <a:ext uri="{FF2B5EF4-FFF2-40B4-BE49-F238E27FC236}">
                <a16:creationId xmlns:a16="http://schemas.microsoft.com/office/drawing/2014/main" id="{296E0E1B-D224-4189-A94A-C520A2166181}"/>
              </a:ext>
            </a:extLst>
          </p:cNvPr>
          <p:cNvSpPr>
            <a:spLocks noGrp="1"/>
          </p:cNvSpPr>
          <p:nvPr/>
        </p:nvSpPr>
        <p:spPr>
          <a:xfrm>
            <a:off x="731520" y="640080"/>
            <a:ext cx="10972800" cy="640080"/>
          </a:xfrm>
          <a:prstGeom prst="rect">
            <a:avLst/>
          </a:prstGeom>
          <a:noFill/>
        </p:spPr>
        <p:txBody>
          <a:bodyPr wrap="square" lIns="0" tIns="0" rIns="0" bIns="0" anchor="ctr"/>
          <a:lstStyle/>
          <a:p>
            <a:r>
              <a:rPr lang="en-US" altLang="ko-KR" sz="2750" b="1" dirty="0">
                <a:solidFill>
                  <a:srgbClr val="1E2761"/>
                </a:solidFill>
                <a:latin typeface="Pretendard"/>
                <a:ea typeface="Pretendard"/>
                <a:cs typeface="Pretendard"/>
              </a:rPr>
              <a:t>2026 </a:t>
            </a:r>
            <a:r>
              <a:rPr lang="ko-KR" altLang="en-US" sz="2750" b="1" dirty="0">
                <a:solidFill>
                  <a:srgbClr val="1E2761"/>
                </a:solidFill>
                <a:latin typeface="Pretendard"/>
                <a:ea typeface="Pretendard"/>
                <a:cs typeface="Pretendard"/>
              </a:rPr>
              <a:t>「</a:t>
            </a:r>
            <a:r>
              <a:rPr lang="ko-KR" altLang="en-US" sz="2750" b="1" dirty="0" err="1">
                <a:solidFill>
                  <a:srgbClr val="1E2761"/>
                </a:solidFill>
                <a:latin typeface="Pretendard"/>
                <a:ea typeface="Pretendard"/>
                <a:cs typeface="Pretendard"/>
              </a:rPr>
              <a:t>촉법소년</a:t>
            </a:r>
            <a:r>
              <a:rPr lang="ko-KR" altLang="en-US" sz="2750" b="1" dirty="0">
                <a:solidFill>
                  <a:srgbClr val="1E2761"/>
                </a:solidFill>
                <a:latin typeface="Pretendard"/>
                <a:ea typeface="Pretendard"/>
                <a:cs typeface="Pretendard"/>
              </a:rPr>
              <a:t> 연령 기준」 공론화 </a:t>
            </a:r>
            <a:r>
              <a:rPr lang="ko-KR" altLang="en-US" sz="2750" b="1" dirty="0" err="1">
                <a:solidFill>
                  <a:srgbClr val="1E2761"/>
                </a:solidFill>
                <a:latin typeface="Pretendard"/>
                <a:ea typeface="Pretendard"/>
                <a:cs typeface="Pretendard"/>
              </a:rPr>
              <a:t>ㅡ</a:t>
            </a:r>
            <a:r>
              <a:rPr lang="ko-KR" altLang="en-US" sz="2750" b="1" dirty="0">
                <a:solidFill>
                  <a:srgbClr val="1E2761"/>
                </a:solidFill>
                <a:latin typeface="Pretendard"/>
                <a:ea typeface="Pretendard"/>
                <a:cs typeface="Pretendard"/>
              </a:rPr>
              <a:t> </a:t>
            </a:r>
            <a:r>
              <a:rPr lang="ko-KR" altLang="en-US" sz="2750" b="1" dirty="0">
                <a:solidFill>
                  <a:srgbClr val="1E2761"/>
                </a:solidFill>
                <a:latin typeface="Pretendard"/>
              </a:rPr>
              <a:t>구성</a:t>
            </a:r>
            <a:endParaRPr sz="2750" b="1" dirty="0">
              <a:solidFill>
                <a:srgbClr val="1E2761"/>
              </a:solidFill>
              <a:latin typeface="Pretendard"/>
              <a:ea typeface="Pretendard"/>
              <a:cs typeface="Pretendard"/>
            </a:endParaRPr>
          </a:p>
        </p:txBody>
      </p:sp>
      <p:sp>
        <p:nvSpPr>
          <p:cNvPr id="127" name="Shape">
            <a:extLst>
              <a:ext uri="{FF2B5EF4-FFF2-40B4-BE49-F238E27FC236}">
                <a16:creationId xmlns:a16="http://schemas.microsoft.com/office/drawing/2014/main" id="{29BB76DB-211E-4DE2-A82E-E85F0ABD13F0}"/>
              </a:ext>
            </a:extLst>
          </p:cNvPr>
          <p:cNvSpPr>
            <a:spLocks noGrp="1"/>
          </p:cNvSpPr>
          <p:nvPr/>
        </p:nvSpPr>
        <p:spPr>
          <a:xfrm>
            <a:off x="731520" y="1417320"/>
            <a:ext cx="10698480" cy="548640"/>
          </a:xfrm>
          <a:prstGeom prst="rect">
            <a:avLst/>
          </a:prstGeom>
          <a:solidFill>
            <a:srgbClr val="F2F4F8"/>
          </a:solidFill>
        </p:spPr>
        <p:txBody>
          <a:bodyPr/>
          <a:lstStyle/>
          <a:p>
            <a:endParaRPr/>
          </a:p>
        </p:txBody>
      </p:sp>
      <p:sp>
        <p:nvSpPr>
          <p:cNvPr id="128" name="Text">
            <a:extLst>
              <a:ext uri="{FF2B5EF4-FFF2-40B4-BE49-F238E27FC236}">
                <a16:creationId xmlns:a16="http://schemas.microsoft.com/office/drawing/2014/main" id="{DC394D3B-07FF-443D-8B10-F04F7DE7D780}"/>
              </a:ext>
            </a:extLst>
          </p:cNvPr>
          <p:cNvSpPr>
            <a:spLocks noGrp="1"/>
          </p:cNvSpPr>
          <p:nvPr/>
        </p:nvSpPr>
        <p:spPr>
          <a:xfrm>
            <a:off x="1005840" y="1389698"/>
            <a:ext cx="10149840" cy="548640"/>
          </a:xfrm>
          <a:prstGeom prst="rect">
            <a:avLst/>
          </a:prstGeom>
          <a:noFill/>
        </p:spPr>
        <p:txBody>
          <a:bodyPr wrap="square" lIns="0" tIns="0" rIns="0" bIns="0" anchor="ctr">
            <a:noAutofit/>
          </a:bodyPr>
          <a:lstStyle/>
          <a:p>
            <a:pPr>
              <a:lnSpc>
                <a:spcPct val="118000"/>
              </a:lnSpc>
            </a:pPr>
            <a:r>
              <a:rPr lang="en-US" altLang="ko-KR" sz="1300" b="1" dirty="0">
                <a:solidFill>
                  <a:srgbClr val="1E2761"/>
                </a:solidFill>
                <a:latin typeface="Pretendard"/>
                <a:ea typeface="Pretendard"/>
                <a:cs typeface="Pretendard"/>
              </a:rPr>
              <a:t>2026</a:t>
            </a:r>
            <a:r>
              <a:rPr lang="ko-KR" altLang="en-US" sz="1300" b="1" dirty="0">
                <a:solidFill>
                  <a:srgbClr val="1E2761"/>
                </a:solidFill>
                <a:latin typeface="Pretendard"/>
                <a:ea typeface="Pretendard"/>
                <a:cs typeface="Pretendard"/>
              </a:rPr>
              <a:t>년 공론화는 시민참여단 숙의만이 아니라 민</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관 협의체의 제도검토</a:t>
            </a:r>
            <a:r>
              <a:rPr lang="en-US" altLang="ko-KR" sz="1300" b="1" dirty="0">
                <a:solidFill>
                  <a:srgbClr val="1E2761"/>
                </a:solidFill>
                <a:latin typeface="Pretendard"/>
                <a:ea typeface="Pretendard"/>
                <a:cs typeface="Pretendard"/>
              </a:rPr>
              <a:t>, </a:t>
            </a:r>
            <a:r>
              <a:rPr lang="ko-KR" altLang="en-US" sz="1300" b="1" dirty="0">
                <a:solidFill>
                  <a:srgbClr val="1E2761"/>
                </a:solidFill>
                <a:latin typeface="Pretendard"/>
                <a:ea typeface="Pretendard"/>
                <a:cs typeface="Pretendard"/>
              </a:rPr>
              <a:t>국민</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청소년 </a:t>
            </a:r>
            <a:r>
              <a:rPr lang="ko-KR" altLang="en-US" sz="1300" b="1" dirty="0" err="1">
                <a:solidFill>
                  <a:srgbClr val="1E2761"/>
                </a:solidFill>
                <a:latin typeface="Pretendard"/>
                <a:ea typeface="Pretendard"/>
                <a:cs typeface="Pretendard"/>
              </a:rPr>
              <a:t>의견수렴</a:t>
            </a:r>
            <a:r>
              <a:rPr lang="en-US" altLang="ko-KR" sz="1300" b="1" dirty="0">
                <a:solidFill>
                  <a:srgbClr val="1E2761"/>
                </a:solidFill>
                <a:latin typeface="Pretendard"/>
                <a:ea typeface="Pretendard"/>
                <a:cs typeface="Pretendard"/>
              </a:rPr>
              <a:t>, </a:t>
            </a:r>
            <a:r>
              <a:rPr lang="ko-KR" altLang="en-US" sz="1300" b="1" dirty="0">
                <a:solidFill>
                  <a:srgbClr val="1E2761"/>
                </a:solidFill>
                <a:latin typeface="Pretendard"/>
                <a:ea typeface="Pretendard"/>
                <a:cs typeface="Pretendard"/>
              </a:rPr>
              <a:t>전문가 논의를 함께 진행한 복합적인 절차였다</a:t>
            </a:r>
            <a:endParaRPr sz="1300" b="1" dirty="0">
              <a:solidFill>
                <a:srgbClr val="1E2761"/>
              </a:solidFill>
              <a:latin typeface="Pretendard"/>
              <a:ea typeface="Pretendard"/>
              <a:cs typeface="Pretendard"/>
            </a:endParaRPr>
          </a:p>
        </p:txBody>
      </p:sp>
      <p:sp>
        <p:nvSpPr>
          <p:cNvPr id="145" name="Text">
            <a:extLst>
              <a:ext uri="{FF2B5EF4-FFF2-40B4-BE49-F238E27FC236}">
                <a16:creationId xmlns:a16="http://schemas.microsoft.com/office/drawing/2014/main" id="{B1F8E0E0-5311-45BA-B73C-914BB5129ADD}"/>
              </a:ext>
            </a:extLst>
          </p:cNvPr>
          <p:cNvSpPr>
            <a:spLocks noGrp="1"/>
          </p:cNvSpPr>
          <p:nvPr/>
        </p:nvSpPr>
        <p:spPr>
          <a:xfrm>
            <a:off x="731520" y="6438900"/>
            <a:ext cx="10698480" cy="304800"/>
          </a:xfrm>
          <a:prstGeom prst="rect">
            <a:avLst/>
          </a:prstGeom>
          <a:noFill/>
        </p:spPr>
        <p:txBody>
          <a:bodyPr wrap="square" lIns="0" tIns="0" rIns="0" bIns="0" anchor="ctr">
            <a:noAutofit/>
          </a:bodyPr>
          <a:lstStyle/>
          <a:p>
            <a:pPr marL="0" indent="0">
              <a:lnSpc>
                <a:spcPct val="118000"/>
              </a:lnSpc>
              <a:buNone/>
            </a:pPr>
            <a:r>
              <a:rPr sz="1050" b="0">
                <a:solidFill>
                  <a:srgbClr val="6E7686"/>
                </a:solidFill>
                <a:latin typeface="Pretendard"/>
                <a:ea typeface="Pretendard"/>
                <a:cs typeface="Pretendard"/>
              </a:rPr>
              <a:t>성평등가족부 2026.7.14. 공론화 결과 발표 · 시민참여단 / 협의체 / 부처 보고 구별</a:t>
            </a:r>
          </a:p>
        </p:txBody>
      </p:sp>
      <p:sp>
        <p:nvSpPr>
          <p:cNvPr id="146" name="NEXT">
            <a:extLst>
              <a:ext uri="{FF2B5EF4-FFF2-40B4-BE49-F238E27FC236}">
                <a16:creationId xmlns:a16="http://schemas.microsoft.com/office/drawing/2014/main" id="{1869B23D-D496-480C-8C41-0FDEA53469A5}"/>
              </a:ext>
            </a:extLst>
          </p:cNvPr>
          <p:cNvSpPr>
            <a:spLocks noGrp="1"/>
          </p:cNvSpPr>
          <p:nvPr/>
        </p:nvSpPr>
        <p:spPr>
          <a:xfrm>
            <a:off x="7616952" y="365760"/>
            <a:ext cx="3840480" cy="292608"/>
          </a:xfrm>
          <a:prstGeom prst="rect">
            <a:avLst/>
          </a:prstGeom>
          <a:noFill/>
        </p:spPr>
        <p:txBody>
          <a:bodyPr wrap="square" lIns="0" tIns="0" rIns="0" bIns="0" anchor="ctr">
            <a:noAutofit/>
          </a:bodyPr>
          <a:lstStyle/>
          <a:p>
            <a:pPr marL="0" indent="0" algn="r">
              <a:lnSpc>
                <a:spcPct val="118000"/>
              </a:lnSpc>
              <a:buNone/>
            </a:pPr>
            <a:r>
              <a:rPr sz="1100" b="0">
                <a:solidFill>
                  <a:srgbClr val="6E7686"/>
                </a:solidFill>
                <a:latin typeface="Pretendard"/>
                <a:ea typeface="Pretendard"/>
                <a:cs typeface="Pretendard"/>
              </a:rPr>
              <a:t>다음 → 공론화의 진행</a:t>
            </a:r>
          </a:p>
        </p:txBody>
      </p:sp>
      <p:sp>
        <p:nvSpPr>
          <p:cNvPr id="753" name="k">
            <a:extLst>
              <a:ext uri="{FF2B5EF4-FFF2-40B4-BE49-F238E27FC236}">
                <a16:creationId xmlns:a16="http://schemas.microsoft.com/office/drawing/2014/main" id="{493F19DC-7C8A-4596-8AE8-026575DFA5FD}"/>
              </a:ext>
            </a:extLst>
          </p:cNvPr>
          <p:cNvSpPr>
            <a:spLocks noGrp="1"/>
          </p:cNvSpPr>
          <p:nvPr/>
        </p:nvSpPr>
        <p:spPr>
          <a:xfrm>
            <a:off x="1499870" y="2465387"/>
            <a:ext cx="335280" cy="647700"/>
          </a:xfrm>
          <a:prstGeom prst="rect">
            <a:avLst/>
          </a:prstGeom>
          <a:noFill/>
        </p:spPr>
        <p:txBody>
          <a:bodyPr wrap="square" lIns="0" tIns="0" rIns="0" bIns="0" anchor="ctr">
            <a:noAutofit/>
          </a:bodyPr>
          <a:lstStyle/>
          <a:p>
            <a:pPr marL="0" indent="0" algn="l">
              <a:lnSpc>
                <a:spcPct val="118000"/>
              </a:lnSpc>
              <a:buNone/>
            </a:pPr>
            <a:r>
              <a:rPr sz="1300" b="1" dirty="0" err="1">
                <a:solidFill>
                  <a:srgbClr val="1E2761"/>
                </a:solidFill>
                <a:latin typeface="Pretendard"/>
                <a:ea typeface="Pretendard"/>
                <a:cs typeface="Pretendard"/>
              </a:rPr>
              <a:t>주체</a:t>
            </a:r>
            <a:endParaRPr sz="1300" b="1" dirty="0">
              <a:solidFill>
                <a:srgbClr val="1E2761"/>
              </a:solidFill>
              <a:latin typeface="Pretendard"/>
              <a:ea typeface="Pretendard"/>
              <a:cs typeface="Pretendard"/>
            </a:endParaRPr>
          </a:p>
        </p:txBody>
      </p:sp>
      <p:sp>
        <p:nvSpPr>
          <p:cNvPr id="754" name="v">
            <a:extLst>
              <a:ext uri="{FF2B5EF4-FFF2-40B4-BE49-F238E27FC236}">
                <a16:creationId xmlns:a16="http://schemas.microsoft.com/office/drawing/2014/main" id="{601998FF-1BD9-4FB2-AFF0-EDF23F4DB016}"/>
              </a:ext>
            </a:extLst>
          </p:cNvPr>
          <p:cNvSpPr>
            <a:spLocks noGrp="1"/>
          </p:cNvSpPr>
          <p:nvPr/>
        </p:nvSpPr>
        <p:spPr>
          <a:xfrm>
            <a:off x="2857500" y="2470149"/>
            <a:ext cx="5241173" cy="647700"/>
          </a:xfrm>
          <a:prstGeom prst="rect">
            <a:avLst/>
          </a:prstGeom>
          <a:noFill/>
        </p:spPr>
        <p:txBody>
          <a:bodyPr wrap="square" lIns="0" tIns="0" rIns="0" bIns="0" anchor="ctr">
            <a:noAutofit/>
          </a:bodyPr>
          <a:lstStyle/>
          <a:p>
            <a:pPr>
              <a:lnSpc>
                <a:spcPct val="118000"/>
              </a:lnSpc>
            </a:pPr>
            <a:r>
              <a:rPr lang="ko-KR" altLang="en-US" sz="1250" b="1" dirty="0" err="1">
                <a:solidFill>
                  <a:sysClr val="windowText" lastClr="000000"/>
                </a:solidFill>
                <a:latin typeface="Pretendard"/>
                <a:ea typeface="Pretendard"/>
                <a:cs typeface="Pretendard"/>
              </a:rPr>
              <a:t>형사미성년자</a:t>
            </a:r>
            <a:r>
              <a:rPr lang="en-US" altLang="ko-KR" sz="1250" b="1" dirty="0">
                <a:solidFill>
                  <a:sysClr val="windowText" lastClr="000000"/>
                </a:solidFill>
                <a:latin typeface="Pretendard"/>
                <a:ea typeface="Pretendard"/>
                <a:cs typeface="Pretendard"/>
              </a:rPr>
              <a:t>(</a:t>
            </a:r>
            <a:r>
              <a:rPr lang="ko-KR" altLang="en-US" sz="1250" b="1" dirty="0" err="1">
                <a:solidFill>
                  <a:sysClr val="windowText" lastClr="000000"/>
                </a:solidFill>
                <a:latin typeface="Pretendard"/>
                <a:ea typeface="Pretendard"/>
                <a:cs typeface="Pretendard"/>
              </a:rPr>
              <a:t>촉법소년</a:t>
            </a:r>
            <a:r>
              <a:rPr lang="en-US" altLang="ko-KR" sz="1250" b="1" dirty="0">
                <a:solidFill>
                  <a:sysClr val="windowText" lastClr="000000"/>
                </a:solidFill>
                <a:latin typeface="Pretendard"/>
                <a:ea typeface="Pretendard"/>
                <a:cs typeface="Pretendard"/>
              </a:rPr>
              <a:t>) </a:t>
            </a:r>
            <a:r>
              <a:rPr lang="ko-KR" altLang="en-US" sz="1250" b="1" dirty="0">
                <a:solidFill>
                  <a:sysClr val="windowText" lastClr="000000"/>
                </a:solidFill>
                <a:latin typeface="Pretendard"/>
                <a:ea typeface="Pretendard"/>
                <a:cs typeface="Pretendard"/>
              </a:rPr>
              <a:t>연령 사회적 대화 협의체</a:t>
            </a:r>
          </a:p>
          <a:p>
            <a:pPr>
              <a:lnSpc>
                <a:spcPct val="118000"/>
              </a:lnSpc>
            </a:pPr>
            <a:r>
              <a:rPr lang="ko-KR" altLang="en-US" sz="1250" dirty="0">
                <a:solidFill>
                  <a:srgbClr val="222633"/>
                </a:solidFill>
                <a:latin typeface="Pretendard"/>
                <a:ea typeface="Pretendard"/>
                <a:cs typeface="Pretendard"/>
              </a:rPr>
              <a:t>성평등가족부 장관과 민간 공동위원장 </a:t>
            </a:r>
            <a:r>
              <a:rPr lang="en-US" altLang="ko-KR" sz="1250" dirty="0">
                <a:solidFill>
                  <a:srgbClr val="222633"/>
                </a:solidFill>
                <a:latin typeface="Pretendard"/>
                <a:ea typeface="Pretendard"/>
                <a:cs typeface="Pretendard"/>
              </a:rPr>
              <a:t>· </a:t>
            </a:r>
            <a:r>
              <a:rPr lang="ko-KR" altLang="en-US" sz="1250" dirty="0">
                <a:solidFill>
                  <a:srgbClr val="222633"/>
                </a:solidFill>
                <a:latin typeface="Pretendard"/>
                <a:ea typeface="Pretendard"/>
                <a:cs typeface="Pretendard"/>
              </a:rPr>
              <a:t>관계부처 </a:t>
            </a:r>
            <a:r>
              <a:rPr lang="en-US" altLang="ko-KR" sz="1250" dirty="0">
                <a:solidFill>
                  <a:srgbClr val="222633"/>
                </a:solidFill>
                <a:latin typeface="Pretendard"/>
                <a:ea typeface="Pretendard"/>
                <a:cs typeface="Pretendard"/>
              </a:rPr>
              <a:t>+ </a:t>
            </a:r>
            <a:r>
              <a:rPr lang="ko-KR" altLang="en-US" sz="1250" dirty="0">
                <a:solidFill>
                  <a:srgbClr val="222633"/>
                </a:solidFill>
                <a:latin typeface="Pretendard"/>
                <a:ea typeface="Pretendard"/>
                <a:cs typeface="Pretendard"/>
              </a:rPr>
              <a:t>전문가 참여</a:t>
            </a:r>
            <a:endParaRPr lang="en-US" altLang="ko-KR" sz="1250" dirty="0">
              <a:solidFill>
                <a:srgbClr val="222633"/>
              </a:solidFill>
              <a:latin typeface="Pretendard"/>
              <a:ea typeface="Pretendard"/>
              <a:cs typeface="Pretendard"/>
            </a:endParaRPr>
          </a:p>
          <a:p>
            <a:pPr>
              <a:lnSpc>
                <a:spcPct val="100000"/>
              </a:lnSpc>
            </a:pPr>
            <a:r>
              <a:rPr lang="ko-KR" altLang="en-US" sz="1250" dirty="0">
                <a:solidFill>
                  <a:srgbClr val="222633"/>
                </a:solidFill>
                <a:latin typeface="Pretendard"/>
                <a:ea typeface="Pretendard"/>
                <a:cs typeface="Pretendard"/>
              </a:rPr>
              <a:t>법</a:t>
            </a:r>
            <a:r>
              <a:rPr lang="en-US" altLang="ko-KR" sz="1250" dirty="0">
                <a:solidFill>
                  <a:srgbClr val="222633"/>
                </a:solidFill>
                <a:latin typeface="Pretendard"/>
                <a:ea typeface="Pretendard"/>
                <a:cs typeface="Pretendard"/>
              </a:rPr>
              <a:t>·</a:t>
            </a:r>
            <a:r>
              <a:rPr lang="ko-KR" altLang="en-US" sz="1250" dirty="0">
                <a:solidFill>
                  <a:srgbClr val="222633"/>
                </a:solidFill>
                <a:latin typeface="Pretendard"/>
                <a:ea typeface="Pretendard"/>
                <a:cs typeface="Pretendard"/>
              </a:rPr>
              <a:t>제도분과 </a:t>
            </a:r>
            <a:r>
              <a:rPr lang="en-US" altLang="ko-KR" sz="1250" dirty="0">
                <a:solidFill>
                  <a:srgbClr val="222633"/>
                </a:solidFill>
                <a:latin typeface="Pretendard"/>
                <a:ea typeface="Pretendard"/>
                <a:cs typeface="Pretendard"/>
              </a:rPr>
              <a:t>/ </a:t>
            </a:r>
            <a:r>
              <a:rPr lang="ko-KR" altLang="en-US" sz="1250" dirty="0">
                <a:solidFill>
                  <a:srgbClr val="222633"/>
                </a:solidFill>
                <a:latin typeface="Pretendard"/>
                <a:ea typeface="Pretendard"/>
                <a:cs typeface="Pretendard"/>
              </a:rPr>
              <a:t>숙의</a:t>
            </a:r>
            <a:r>
              <a:rPr lang="en-US" altLang="ko-KR" sz="1250" dirty="0">
                <a:solidFill>
                  <a:srgbClr val="222633"/>
                </a:solidFill>
                <a:latin typeface="Pretendard"/>
                <a:ea typeface="Pretendard"/>
                <a:cs typeface="Pretendard"/>
              </a:rPr>
              <a:t>·</a:t>
            </a:r>
            <a:r>
              <a:rPr lang="ko-KR" altLang="en-US" sz="1250" dirty="0">
                <a:solidFill>
                  <a:srgbClr val="222633"/>
                </a:solidFill>
                <a:latin typeface="Pretendard"/>
                <a:ea typeface="Pretendard"/>
                <a:cs typeface="Pretendard"/>
              </a:rPr>
              <a:t>소통분과 운영</a:t>
            </a:r>
            <a:endParaRPr lang="ko-KR" altLang="en-US" sz="1250" b="0" dirty="0">
              <a:solidFill>
                <a:srgbClr val="222633"/>
              </a:solidFill>
              <a:latin typeface="Pretendard"/>
              <a:ea typeface="Pretendard"/>
              <a:cs typeface="Pretendard"/>
            </a:endParaRPr>
          </a:p>
        </p:txBody>
      </p:sp>
      <p:sp>
        <p:nvSpPr>
          <p:cNvPr id="755" name="k">
            <a:extLst>
              <a:ext uri="{FF2B5EF4-FFF2-40B4-BE49-F238E27FC236}">
                <a16:creationId xmlns:a16="http://schemas.microsoft.com/office/drawing/2014/main" id="{21547CA0-27DC-41FF-9E7B-E90341C3E3AF}"/>
              </a:ext>
            </a:extLst>
          </p:cNvPr>
          <p:cNvSpPr>
            <a:spLocks noGrp="1"/>
          </p:cNvSpPr>
          <p:nvPr/>
        </p:nvSpPr>
        <p:spPr>
          <a:xfrm>
            <a:off x="1348740" y="3565525"/>
            <a:ext cx="735330" cy="647700"/>
          </a:xfrm>
          <a:prstGeom prst="rect">
            <a:avLst/>
          </a:prstGeom>
          <a:noFill/>
        </p:spPr>
        <p:txBody>
          <a:bodyPr wrap="square" lIns="0" tIns="0" rIns="0" bIns="0" anchor="ctr">
            <a:noAutofit/>
          </a:bodyPr>
          <a:lstStyle/>
          <a:p>
            <a:pPr marL="0" indent="0" algn="l">
              <a:lnSpc>
                <a:spcPct val="118000"/>
              </a:lnSpc>
              <a:buNone/>
            </a:pPr>
            <a:r>
              <a:rPr sz="1300" b="1" dirty="0" err="1">
                <a:solidFill>
                  <a:srgbClr val="1E2761"/>
                </a:solidFill>
                <a:latin typeface="Pretendard"/>
                <a:ea typeface="Pretendard"/>
                <a:cs typeface="Pretendard"/>
              </a:rPr>
              <a:t>시민</a:t>
            </a:r>
            <a:r>
              <a:rPr sz="1300" b="1" dirty="0">
                <a:solidFill>
                  <a:srgbClr val="1E2761"/>
                </a:solidFill>
                <a:latin typeface="Pretendard"/>
                <a:ea typeface="Pretendard"/>
                <a:cs typeface="Pretendard"/>
              </a:rPr>
              <a:t> </a:t>
            </a:r>
            <a:r>
              <a:rPr lang="ko-KR" altLang="en-US" sz="1300" b="1" dirty="0">
                <a:solidFill>
                  <a:srgbClr val="1E2761"/>
                </a:solidFill>
                <a:latin typeface="Pretendard"/>
                <a:ea typeface="Pretendard"/>
                <a:cs typeface="Pretendard"/>
              </a:rPr>
              <a:t>참여</a:t>
            </a:r>
            <a:endParaRPr sz="1300" b="1" dirty="0">
              <a:solidFill>
                <a:srgbClr val="1E2761"/>
              </a:solidFill>
              <a:latin typeface="Pretendard"/>
              <a:ea typeface="Pretendard"/>
              <a:cs typeface="Pretendard"/>
            </a:endParaRPr>
          </a:p>
        </p:txBody>
      </p:sp>
      <p:sp>
        <p:nvSpPr>
          <p:cNvPr id="756" name="v">
            <a:extLst>
              <a:ext uri="{FF2B5EF4-FFF2-40B4-BE49-F238E27FC236}">
                <a16:creationId xmlns:a16="http://schemas.microsoft.com/office/drawing/2014/main" id="{7A4B9F95-5FB9-4128-AF77-E270A202882C}"/>
              </a:ext>
            </a:extLst>
          </p:cNvPr>
          <p:cNvSpPr>
            <a:spLocks noGrp="1"/>
          </p:cNvSpPr>
          <p:nvPr/>
        </p:nvSpPr>
        <p:spPr>
          <a:xfrm>
            <a:off x="2857500" y="3609975"/>
            <a:ext cx="4999873" cy="647700"/>
          </a:xfrm>
          <a:prstGeom prst="rect">
            <a:avLst/>
          </a:prstGeom>
          <a:noFill/>
        </p:spPr>
        <p:txBody>
          <a:bodyPr wrap="square" lIns="0" tIns="0" rIns="0" bIns="0" anchor="ctr">
            <a:noAutofit/>
          </a:bodyPr>
          <a:lstStyle/>
          <a:p>
            <a:pPr marL="0" indent="0" algn="l">
              <a:lnSpc>
                <a:spcPct val="118000"/>
              </a:lnSpc>
              <a:buNone/>
            </a:pPr>
            <a:r>
              <a:rPr sz="1250" b="1" dirty="0" err="1">
                <a:solidFill>
                  <a:srgbClr val="222633"/>
                </a:solidFill>
                <a:latin typeface="Pretendard"/>
                <a:ea typeface="Pretendard"/>
                <a:cs typeface="Pretendard"/>
              </a:rPr>
              <a:t>시민참여단</a:t>
            </a:r>
            <a:r>
              <a:rPr sz="1250" b="1" dirty="0">
                <a:solidFill>
                  <a:srgbClr val="222633"/>
                </a:solidFill>
                <a:latin typeface="Pretendard"/>
                <a:ea typeface="Pretendard"/>
                <a:cs typeface="Pretendard"/>
              </a:rPr>
              <a:t> 212명(</a:t>
            </a:r>
            <a:r>
              <a:rPr sz="1250" b="1" dirty="0" err="1">
                <a:solidFill>
                  <a:srgbClr val="222633"/>
                </a:solidFill>
                <a:latin typeface="Pretendard"/>
                <a:ea typeface="Pretendard"/>
                <a:cs typeface="Pretendard"/>
              </a:rPr>
              <a:t>청소년</a:t>
            </a:r>
            <a:r>
              <a:rPr sz="1250" b="1" dirty="0">
                <a:solidFill>
                  <a:srgbClr val="222633"/>
                </a:solidFill>
                <a:latin typeface="Pretendard"/>
                <a:ea typeface="Pretendard"/>
                <a:cs typeface="Pretendard"/>
              </a:rPr>
              <a:t> 31명 </a:t>
            </a:r>
            <a:r>
              <a:rPr sz="1250" b="1" dirty="0" err="1">
                <a:solidFill>
                  <a:srgbClr val="222633"/>
                </a:solidFill>
                <a:latin typeface="Pretendard"/>
                <a:ea typeface="Pretendard"/>
                <a:cs typeface="Pretendard"/>
              </a:rPr>
              <a:t>포함</a:t>
            </a:r>
            <a:r>
              <a:rPr lang="en-US" sz="1250" b="1" dirty="0">
                <a:solidFill>
                  <a:srgbClr val="222633"/>
                </a:solidFill>
                <a:latin typeface="Pretendard"/>
                <a:ea typeface="Pretendard"/>
                <a:cs typeface="Pretendard"/>
              </a:rPr>
              <a:t>)</a:t>
            </a:r>
            <a:endParaRPr sz="1250" b="1" dirty="0">
              <a:solidFill>
                <a:srgbClr val="222633"/>
              </a:solidFill>
              <a:latin typeface="Pretendard"/>
              <a:ea typeface="Pretendard"/>
              <a:cs typeface="Pretendard"/>
            </a:endParaRPr>
          </a:p>
        </p:txBody>
      </p:sp>
      <p:sp>
        <p:nvSpPr>
          <p:cNvPr id="757" name="k">
            <a:extLst>
              <a:ext uri="{FF2B5EF4-FFF2-40B4-BE49-F238E27FC236}">
                <a16:creationId xmlns:a16="http://schemas.microsoft.com/office/drawing/2014/main" id="{0D9A4D84-4A83-4F77-BDCB-D540FCED832E}"/>
              </a:ext>
            </a:extLst>
          </p:cNvPr>
          <p:cNvSpPr>
            <a:spLocks noGrp="1"/>
          </p:cNvSpPr>
          <p:nvPr/>
        </p:nvSpPr>
        <p:spPr>
          <a:xfrm>
            <a:off x="1218565" y="4638041"/>
            <a:ext cx="995680" cy="647700"/>
          </a:xfrm>
          <a:prstGeom prst="rect">
            <a:avLst/>
          </a:prstGeom>
          <a:noFill/>
        </p:spPr>
        <p:txBody>
          <a:bodyPr wrap="square" lIns="0" tIns="0" rIns="0" bIns="0" anchor="ctr">
            <a:noAutofit/>
          </a:bodyPr>
          <a:lstStyle/>
          <a:p>
            <a:pPr marL="0" indent="0" algn="l">
              <a:lnSpc>
                <a:spcPct val="118000"/>
              </a:lnSpc>
              <a:buNone/>
            </a:pPr>
            <a:r>
              <a:rPr lang="ko-KR" altLang="en-US" sz="1300" b="1" dirty="0">
                <a:solidFill>
                  <a:srgbClr val="1E2761"/>
                </a:solidFill>
                <a:latin typeface="Pretendard"/>
                <a:ea typeface="Pretendard"/>
                <a:cs typeface="Pretendard"/>
              </a:rPr>
              <a:t>기타 </a:t>
            </a:r>
            <a:r>
              <a:rPr sz="1300" b="1" dirty="0" err="1">
                <a:solidFill>
                  <a:srgbClr val="1E2761"/>
                </a:solidFill>
                <a:latin typeface="Pretendard"/>
                <a:ea typeface="Pretendard"/>
                <a:cs typeface="Pretendard"/>
              </a:rPr>
              <a:t>의견수렴</a:t>
            </a:r>
            <a:endParaRPr sz="1300" b="1" dirty="0">
              <a:solidFill>
                <a:srgbClr val="1E2761"/>
              </a:solidFill>
              <a:latin typeface="Pretendard"/>
              <a:ea typeface="Pretendard"/>
              <a:cs typeface="Pretendard"/>
            </a:endParaRPr>
          </a:p>
        </p:txBody>
      </p:sp>
      <p:sp>
        <p:nvSpPr>
          <p:cNvPr id="758" name="v">
            <a:extLst>
              <a:ext uri="{FF2B5EF4-FFF2-40B4-BE49-F238E27FC236}">
                <a16:creationId xmlns:a16="http://schemas.microsoft.com/office/drawing/2014/main" id="{70404EA7-E0D9-4229-8F11-BA0D2C1D8BC6}"/>
              </a:ext>
            </a:extLst>
          </p:cNvPr>
          <p:cNvSpPr>
            <a:spLocks noGrp="1"/>
          </p:cNvSpPr>
          <p:nvPr/>
        </p:nvSpPr>
        <p:spPr>
          <a:xfrm>
            <a:off x="2857500" y="4668838"/>
            <a:ext cx="5634873" cy="647700"/>
          </a:xfrm>
          <a:prstGeom prst="rect">
            <a:avLst/>
          </a:prstGeom>
          <a:noFill/>
        </p:spPr>
        <p:txBody>
          <a:bodyPr wrap="square" lIns="0" tIns="0" rIns="0" bIns="0" anchor="ctr">
            <a:noAutofit/>
          </a:bodyPr>
          <a:lstStyle/>
          <a:p>
            <a:pPr>
              <a:lnSpc>
                <a:spcPct val="118000"/>
              </a:lnSpc>
            </a:pPr>
            <a:r>
              <a:rPr lang="ko-KR" altLang="en-US" sz="1250" dirty="0">
                <a:solidFill>
                  <a:srgbClr val="222633"/>
                </a:solidFill>
                <a:latin typeface="Pretendard"/>
                <a:ea typeface="Pretendard"/>
                <a:cs typeface="Pretendard"/>
              </a:rPr>
              <a:t>온라인 공청회 </a:t>
            </a:r>
            <a:r>
              <a:rPr lang="en-US" altLang="ko-KR" sz="1250" dirty="0">
                <a:solidFill>
                  <a:srgbClr val="222633"/>
                </a:solidFill>
                <a:latin typeface="Pretendard"/>
                <a:ea typeface="Pretendard"/>
                <a:cs typeface="Pretendard"/>
              </a:rPr>
              <a:t>· </a:t>
            </a:r>
            <a:r>
              <a:rPr lang="ko-KR" altLang="en-US" sz="1250" dirty="0">
                <a:solidFill>
                  <a:srgbClr val="222633"/>
                </a:solidFill>
                <a:latin typeface="Pretendard"/>
                <a:ea typeface="Pretendard"/>
                <a:cs typeface="Pretendard"/>
              </a:rPr>
              <a:t>청소년특별회의 </a:t>
            </a:r>
            <a:r>
              <a:rPr lang="en-US" altLang="ko-KR" sz="1250" dirty="0">
                <a:solidFill>
                  <a:srgbClr val="222633"/>
                </a:solidFill>
                <a:latin typeface="Pretendard"/>
                <a:ea typeface="Pretendard"/>
                <a:cs typeface="Pretendard"/>
              </a:rPr>
              <a:t>· </a:t>
            </a:r>
            <a:r>
              <a:rPr lang="ko-KR" altLang="en-US" sz="1250" dirty="0">
                <a:solidFill>
                  <a:srgbClr val="222633"/>
                </a:solidFill>
                <a:latin typeface="Pretendard"/>
                <a:ea typeface="Pretendard"/>
                <a:cs typeface="Pretendard"/>
              </a:rPr>
              <a:t>공개 정책포럼 </a:t>
            </a:r>
            <a:r>
              <a:rPr lang="en-US" altLang="ko-KR" sz="1250" dirty="0">
                <a:solidFill>
                  <a:srgbClr val="222633"/>
                </a:solidFill>
                <a:latin typeface="Pretendard"/>
                <a:ea typeface="Pretendard"/>
                <a:cs typeface="Pretendard"/>
              </a:rPr>
              <a:t>· </a:t>
            </a:r>
            <a:r>
              <a:rPr lang="ko-KR" altLang="en-US" sz="1250" dirty="0">
                <a:solidFill>
                  <a:srgbClr val="222633"/>
                </a:solidFill>
                <a:latin typeface="Pretendard"/>
                <a:ea typeface="Pretendard"/>
                <a:cs typeface="Pretendard"/>
              </a:rPr>
              <a:t>현장</a:t>
            </a:r>
            <a:r>
              <a:rPr lang="en-US" altLang="ko-KR" sz="1250" dirty="0">
                <a:solidFill>
                  <a:srgbClr val="222633"/>
                </a:solidFill>
                <a:latin typeface="Pretendard"/>
                <a:ea typeface="Pretendard"/>
                <a:cs typeface="Pretendard"/>
              </a:rPr>
              <a:t>·</a:t>
            </a:r>
            <a:r>
              <a:rPr lang="ko-KR" altLang="en-US" sz="1250" dirty="0">
                <a:solidFill>
                  <a:srgbClr val="222633"/>
                </a:solidFill>
                <a:latin typeface="Pretendard"/>
                <a:ea typeface="Pretendard"/>
                <a:cs typeface="Pretendard"/>
              </a:rPr>
              <a:t>전문가 </a:t>
            </a:r>
            <a:r>
              <a:rPr lang="ko-KR" altLang="en-US" sz="1250" dirty="0" err="1">
                <a:solidFill>
                  <a:srgbClr val="222633"/>
                </a:solidFill>
                <a:latin typeface="Pretendard"/>
                <a:ea typeface="Pretendard"/>
                <a:cs typeface="Pretendard"/>
              </a:rPr>
              <a:t>의견수렴</a:t>
            </a:r>
            <a:endParaRPr sz="1250" b="0" dirty="0">
              <a:solidFill>
                <a:srgbClr val="222633"/>
              </a:solidFill>
              <a:latin typeface="Pretendard"/>
              <a:ea typeface="Pretendard"/>
              <a:cs typeface="Pretendard"/>
            </a:endParaRPr>
          </a:p>
        </p:txBody>
      </p:sp>
      <p:sp>
        <p:nvSpPr>
          <p:cNvPr id="767" name="h3">
            <a:extLst>
              <a:ext uri="{FF2B5EF4-FFF2-40B4-BE49-F238E27FC236}">
                <a16:creationId xmlns:a16="http://schemas.microsoft.com/office/drawing/2014/main" id="{56F34124-A66A-40DC-AA5A-F2D1846068E3}"/>
              </a:ext>
            </a:extLst>
          </p:cNvPr>
          <p:cNvSpPr>
            <a:spLocks noGrp="1"/>
          </p:cNvSpPr>
          <p:nvPr/>
        </p:nvSpPr>
        <p:spPr>
          <a:xfrm>
            <a:off x="1546860" y="5756276"/>
            <a:ext cx="339090" cy="266700"/>
          </a:xfrm>
          <a:prstGeom prst="rect">
            <a:avLst/>
          </a:prstGeom>
          <a:noFill/>
        </p:spPr>
        <p:txBody>
          <a:bodyPr wrap="square" lIns="0" tIns="0" rIns="0" bIns="0" anchor="ctr">
            <a:noAutofit/>
          </a:bodyPr>
          <a:lstStyle/>
          <a:p>
            <a:pPr marL="0" indent="0" algn="l">
              <a:lnSpc>
                <a:spcPct val="118000"/>
              </a:lnSpc>
              <a:buNone/>
            </a:pPr>
            <a:r>
              <a:rPr lang="ko-KR" altLang="en-US" sz="1300" b="1">
                <a:solidFill>
                  <a:srgbClr val="1E2761"/>
                </a:solidFill>
                <a:latin typeface="Pretendard"/>
                <a:ea typeface="Pretendard"/>
                <a:cs typeface="Pretendard"/>
              </a:rPr>
              <a:t>진행</a:t>
            </a:r>
            <a:endParaRPr sz="1300" b="1" dirty="0">
              <a:solidFill>
                <a:srgbClr val="1E2761"/>
              </a:solidFill>
              <a:latin typeface="Pretendard"/>
              <a:ea typeface="Pretendard"/>
              <a:cs typeface="Pretendard"/>
            </a:endParaRPr>
          </a:p>
        </p:txBody>
      </p:sp>
      <p:sp>
        <p:nvSpPr>
          <p:cNvPr id="768" name="fl">
            <a:extLst>
              <a:ext uri="{FF2B5EF4-FFF2-40B4-BE49-F238E27FC236}">
                <a16:creationId xmlns:a16="http://schemas.microsoft.com/office/drawing/2014/main" id="{A936701F-3475-43D4-81FE-3B680C1AF0A8}"/>
              </a:ext>
            </a:extLst>
          </p:cNvPr>
          <p:cNvSpPr>
            <a:spLocks noGrp="1"/>
          </p:cNvSpPr>
          <p:nvPr/>
        </p:nvSpPr>
        <p:spPr>
          <a:xfrm>
            <a:off x="2857500" y="5702301"/>
            <a:ext cx="8572499" cy="457200"/>
          </a:xfrm>
          <a:prstGeom prst="rect">
            <a:avLst/>
          </a:prstGeom>
          <a:noFill/>
        </p:spPr>
        <p:txBody>
          <a:bodyPr wrap="square" lIns="0" tIns="0" rIns="0" bIns="0" anchor="ctr">
            <a:noAutofit/>
          </a:bodyPr>
          <a:lstStyle/>
          <a:p>
            <a:pPr>
              <a:lnSpc>
                <a:spcPct val="118000"/>
              </a:lnSpc>
            </a:pPr>
            <a:r>
              <a:rPr sz="1250" b="0" dirty="0" err="1">
                <a:solidFill>
                  <a:srgbClr val="222633"/>
                </a:solidFill>
                <a:latin typeface="Pretendard"/>
                <a:ea typeface="Pretendard"/>
                <a:cs typeface="Pretendard"/>
              </a:rPr>
              <a:t>국무회의</a:t>
            </a:r>
            <a:r>
              <a:rPr sz="1250" b="0" dirty="0">
                <a:solidFill>
                  <a:srgbClr val="222633"/>
                </a:solidFill>
                <a:latin typeface="Pretendard"/>
                <a:ea typeface="Pretendard"/>
                <a:cs typeface="Pretendard"/>
              </a:rPr>
              <a:t> </a:t>
            </a:r>
            <a:r>
              <a:rPr sz="1250" b="0" dirty="0" err="1">
                <a:solidFill>
                  <a:srgbClr val="222633"/>
                </a:solidFill>
                <a:latin typeface="Pretendard"/>
                <a:ea typeface="Pretendard"/>
                <a:cs typeface="Pretendard"/>
              </a:rPr>
              <a:t>문제</a:t>
            </a:r>
            <a:r>
              <a:rPr sz="1250" b="0" dirty="0">
                <a:solidFill>
                  <a:srgbClr val="222633"/>
                </a:solidFill>
                <a:latin typeface="Pretendard"/>
                <a:ea typeface="Pretendard"/>
                <a:cs typeface="Pretendard"/>
              </a:rPr>
              <a:t> </a:t>
            </a:r>
            <a:r>
              <a:rPr sz="1250" b="0" dirty="0" err="1">
                <a:solidFill>
                  <a:srgbClr val="222633"/>
                </a:solidFill>
                <a:latin typeface="Pretendard"/>
                <a:ea typeface="Pretendard"/>
                <a:cs typeface="Pretendard"/>
              </a:rPr>
              <a:t>제기</a:t>
            </a:r>
            <a:r>
              <a:rPr sz="1250" b="0" dirty="0">
                <a:solidFill>
                  <a:srgbClr val="222633"/>
                </a:solidFill>
                <a:latin typeface="Pretendard"/>
                <a:ea typeface="Pretendard"/>
                <a:cs typeface="Pretendard"/>
              </a:rPr>
              <a:t> → </a:t>
            </a:r>
            <a:r>
              <a:rPr lang="en-US" altLang="ko-KR" sz="1250" dirty="0">
                <a:solidFill>
                  <a:srgbClr val="222633"/>
                </a:solidFill>
                <a:latin typeface="Pretendard"/>
                <a:ea typeface="Pretendard"/>
                <a:cs typeface="Pretendard"/>
              </a:rPr>
              <a:t>3.6 </a:t>
            </a:r>
            <a:r>
              <a:rPr lang="ko-KR" altLang="en-US" sz="1250" dirty="0">
                <a:solidFill>
                  <a:srgbClr val="222633"/>
                </a:solidFill>
                <a:latin typeface="Pretendard"/>
                <a:ea typeface="Pretendard"/>
                <a:cs typeface="Pretendard"/>
              </a:rPr>
              <a:t>협의체 출범 → </a:t>
            </a:r>
            <a:r>
              <a:rPr lang="en-US" altLang="ko-KR" sz="1250" dirty="0">
                <a:solidFill>
                  <a:srgbClr val="222633"/>
                </a:solidFill>
                <a:latin typeface="Pretendard"/>
                <a:ea typeface="Pretendard"/>
                <a:cs typeface="Pretendard"/>
              </a:rPr>
              <a:t>4</a:t>
            </a:r>
            <a:r>
              <a:rPr lang="ko-KR" altLang="en-US" sz="1250" dirty="0">
                <a:solidFill>
                  <a:srgbClr val="222633"/>
                </a:solidFill>
                <a:latin typeface="Pretendard"/>
                <a:ea typeface="Pretendard"/>
                <a:cs typeface="Pretendard"/>
              </a:rPr>
              <a:t>월 </a:t>
            </a:r>
            <a:r>
              <a:rPr lang="ko-KR" altLang="en-US" sz="1250" dirty="0" err="1">
                <a:solidFill>
                  <a:srgbClr val="222633"/>
                </a:solidFill>
                <a:latin typeface="Pretendard"/>
                <a:ea typeface="Pretendard"/>
                <a:cs typeface="Pretendard"/>
              </a:rPr>
              <a:t>시민숙의</a:t>
            </a:r>
            <a:r>
              <a:rPr lang="ko-KR" altLang="en-US" sz="1250" dirty="0">
                <a:solidFill>
                  <a:srgbClr val="222633"/>
                </a:solidFill>
                <a:latin typeface="Pretendard"/>
                <a:ea typeface="Pretendard"/>
                <a:cs typeface="Pretendard"/>
              </a:rPr>
              <a:t> → 공청회</a:t>
            </a:r>
            <a:r>
              <a:rPr lang="en-US" altLang="ko-KR" sz="1250" dirty="0">
                <a:solidFill>
                  <a:srgbClr val="222633"/>
                </a:solidFill>
                <a:latin typeface="Pretendard"/>
                <a:ea typeface="Pretendard"/>
                <a:cs typeface="Pretendard"/>
              </a:rPr>
              <a:t>·</a:t>
            </a:r>
            <a:r>
              <a:rPr lang="ko-KR" altLang="en-US" sz="1250" dirty="0">
                <a:solidFill>
                  <a:srgbClr val="222633"/>
                </a:solidFill>
                <a:latin typeface="Pretendard"/>
                <a:ea typeface="Pretendard"/>
                <a:cs typeface="Pretendard"/>
              </a:rPr>
              <a:t>청소년</a:t>
            </a:r>
            <a:r>
              <a:rPr lang="en-US" altLang="ko-KR" sz="1250" dirty="0">
                <a:solidFill>
                  <a:srgbClr val="222633"/>
                </a:solidFill>
                <a:latin typeface="Pretendard"/>
                <a:ea typeface="Pretendard"/>
                <a:cs typeface="Pretendard"/>
              </a:rPr>
              <a:t>·</a:t>
            </a:r>
            <a:r>
              <a:rPr lang="ko-KR" altLang="en-US" sz="1250" dirty="0">
                <a:solidFill>
                  <a:srgbClr val="222633"/>
                </a:solidFill>
                <a:latin typeface="Pretendard"/>
                <a:ea typeface="Pretendard"/>
                <a:cs typeface="Pretendard"/>
              </a:rPr>
              <a:t>전문가 </a:t>
            </a:r>
            <a:r>
              <a:rPr lang="ko-KR" altLang="en-US" sz="1250" dirty="0" err="1">
                <a:solidFill>
                  <a:srgbClr val="222633"/>
                </a:solidFill>
                <a:latin typeface="Pretendard"/>
                <a:ea typeface="Pretendard"/>
                <a:cs typeface="Pretendard"/>
              </a:rPr>
              <a:t>의견수렴</a:t>
            </a:r>
            <a:r>
              <a:rPr lang="ko-KR" altLang="en-US" sz="1250" dirty="0">
                <a:solidFill>
                  <a:srgbClr val="222633"/>
                </a:solidFill>
                <a:latin typeface="Pretendard"/>
                <a:ea typeface="Pretendard"/>
                <a:cs typeface="Pretendard"/>
              </a:rPr>
              <a:t> → </a:t>
            </a:r>
            <a:r>
              <a:rPr lang="en-US" altLang="ko-KR" sz="1250" dirty="0">
                <a:solidFill>
                  <a:srgbClr val="222633"/>
                </a:solidFill>
                <a:latin typeface="Pretendard"/>
                <a:ea typeface="Pretendard"/>
                <a:cs typeface="Pretendard"/>
              </a:rPr>
              <a:t>7.14 </a:t>
            </a:r>
            <a:r>
              <a:rPr lang="ko-KR" altLang="en-US" sz="1250" dirty="0">
                <a:solidFill>
                  <a:srgbClr val="222633"/>
                </a:solidFill>
                <a:latin typeface="Pretendard"/>
                <a:ea typeface="Pretendard"/>
                <a:cs typeface="Pretendard"/>
              </a:rPr>
              <a:t>권고안</a:t>
            </a:r>
            <a:r>
              <a:rPr lang="en-US" altLang="ko-KR" sz="1250" dirty="0">
                <a:solidFill>
                  <a:srgbClr val="222633"/>
                </a:solidFill>
                <a:latin typeface="Pretendard"/>
                <a:ea typeface="Pretendard"/>
                <a:cs typeface="Pretendard"/>
              </a:rPr>
              <a:t>·</a:t>
            </a:r>
            <a:r>
              <a:rPr lang="ko-KR" altLang="en-US" sz="1250" dirty="0">
                <a:solidFill>
                  <a:srgbClr val="222633"/>
                </a:solidFill>
                <a:latin typeface="Pretendard"/>
                <a:ea typeface="Pretendard"/>
                <a:cs typeface="Pretendard"/>
              </a:rPr>
              <a:t>숙의결과 발표 및 국무회의 보고</a:t>
            </a:r>
            <a:endParaRPr sz="1250" b="0" dirty="0">
              <a:solidFill>
                <a:srgbClr val="222633"/>
              </a:solidFill>
              <a:latin typeface="Pretendard"/>
              <a:ea typeface="Pretendard"/>
              <a:cs typeface="Pretendard"/>
            </a:endParaRPr>
          </a:p>
        </p:txBody>
      </p:sp>
      <p:sp>
        <p:nvSpPr>
          <p:cNvPr id="30160" name="V17_RULE">
            <a:extLst>
              <a:ext uri="{FF2B5EF4-FFF2-40B4-BE49-F238E27FC236}">
                <a16:creationId xmlns:a16="http://schemas.microsoft.com/office/drawing/2014/main" id="{F0E02871-0D53-4A99-8A7E-0800DD0C0DE2}"/>
              </a:ext>
            </a:extLst>
          </p:cNvPr>
          <p:cNvSpPr>
            <a:spLocks noGrp="1"/>
          </p:cNvSpPr>
          <p:nvPr/>
        </p:nvSpPr>
        <p:spPr>
          <a:xfrm>
            <a:off x="731520" y="3400424"/>
            <a:ext cx="10725912" cy="0"/>
          </a:xfrm>
          <a:prstGeom prst="line">
            <a:avLst/>
          </a:prstGeom>
          <a:ln w="9525">
            <a:solidFill>
              <a:srgbClr val="DCE0E8"/>
            </a:solidFill>
          </a:ln>
        </p:spPr>
        <p:style>
          <a:lnRef idx="0">
            <a:scrgbClr r="0" g="0" b="0"/>
          </a:lnRef>
          <a:fillRef idx="0">
            <a:scrgbClr r="0" g="0" b="0"/>
          </a:fillRef>
          <a:effectRef idx="0">
            <a:scrgbClr r="0" g="0" b="0"/>
          </a:effectRef>
          <a:fontRef idx="minor"/>
        </p:style>
        <p:txBody>
          <a:bodyPr lIns="90000" tIns="-44640" rIns="90000" bIns="-44640" anchor="ctr">
            <a:noAutofit/>
          </a:bodyPr>
          <a:lstStyle/>
          <a:p>
            <a:endParaRPr sz="1800" b="0" u="none">
              <a:solidFill>
                <a:srgbClr val="000000"/>
              </a:solidFill>
              <a:latin typeface="Pretendard"/>
              <a:ea typeface="Pretendard"/>
              <a:cs typeface="Pretendard"/>
            </a:endParaRPr>
          </a:p>
        </p:txBody>
      </p:sp>
      <p:sp>
        <p:nvSpPr>
          <p:cNvPr id="30161" name="V17_RULE">
            <a:extLst>
              <a:ext uri="{FF2B5EF4-FFF2-40B4-BE49-F238E27FC236}">
                <a16:creationId xmlns:a16="http://schemas.microsoft.com/office/drawing/2014/main" id="{47054CF0-6DC6-4CC2-ADDA-56A0432B81FD}"/>
              </a:ext>
            </a:extLst>
          </p:cNvPr>
          <p:cNvSpPr>
            <a:spLocks noGrp="1"/>
          </p:cNvSpPr>
          <p:nvPr/>
        </p:nvSpPr>
        <p:spPr>
          <a:xfrm>
            <a:off x="731519" y="4422775"/>
            <a:ext cx="10778259" cy="0"/>
          </a:xfrm>
          <a:prstGeom prst="line">
            <a:avLst/>
          </a:prstGeom>
          <a:ln w="9525">
            <a:solidFill>
              <a:srgbClr val="DCE0E8"/>
            </a:solidFill>
          </a:ln>
        </p:spPr>
        <p:style>
          <a:lnRef idx="0">
            <a:scrgbClr r="0" g="0" b="0"/>
          </a:lnRef>
          <a:fillRef idx="0">
            <a:scrgbClr r="0" g="0" b="0"/>
          </a:fillRef>
          <a:effectRef idx="0">
            <a:scrgbClr r="0" g="0" b="0"/>
          </a:effectRef>
          <a:fontRef idx="minor"/>
        </p:style>
        <p:txBody>
          <a:bodyPr lIns="90000" tIns="-44640" rIns="90000" bIns="-44640" anchor="ctr">
            <a:noAutofit/>
          </a:bodyPr>
          <a:lstStyle/>
          <a:p>
            <a:endParaRPr sz="1800" b="0" u="none" dirty="0">
              <a:solidFill>
                <a:srgbClr val="000000"/>
              </a:solidFill>
              <a:latin typeface="Pretendard"/>
              <a:ea typeface="Pretendard"/>
              <a:cs typeface="Pretendard"/>
            </a:endParaRPr>
          </a:p>
        </p:txBody>
      </p:sp>
      <p:sp>
        <p:nvSpPr>
          <p:cNvPr id="30162" name="V17_RULE">
            <a:extLst>
              <a:ext uri="{FF2B5EF4-FFF2-40B4-BE49-F238E27FC236}">
                <a16:creationId xmlns:a16="http://schemas.microsoft.com/office/drawing/2014/main" id="{92841FE6-C7EF-4251-85FA-F7FFEE84DCAE}"/>
              </a:ext>
            </a:extLst>
          </p:cNvPr>
          <p:cNvSpPr>
            <a:spLocks noGrp="1"/>
          </p:cNvSpPr>
          <p:nvPr/>
        </p:nvSpPr>
        <p:spPr>
          <a:xfrm>
            <a:off x="731519" y="5505450"/>
            <a:ext cx="10778259" cy="0"/>
          </a:xfrm>
          <a:prstGeom prst="line">
            <a:avLst/>
          </a:prstGeom>
          <a:ln w="9525">
            <a:solidFill>
              <a:srgbClr val="DCE0E8"/>
            </a:solidFill>
          </a:ln>
        </p:spPr>
        <p:style>
          <a:lnRef idx="0">
            <a:scrgbClr r="0" g="0" b="0"/>
          </a:lnRef>
          <a:fillRef idx="0">
            <a:scrgbClr r="0" g="0" b="0"/>
          </a:fillRef>
          <a:effectRef idx="0">
            <a:scrgbClr r="0" g="0" b="0"/>
          </a:effectRef>
          <a:fontRef idx="minor"/>
        </p:style>
        <p:txBody>
          <a:bodyPr lIns="90000" tIns="-44640" rIns="90000" bIns="-44640" anchor="ctr">
            <a:noAutofit/>
          </a:bodyPr>
          <a:lstStyle/>
          <a:p>
            <a:endParaRPr sz="1800" b="0" u="none">
              <a:solidFill>
                <a:srgbClr val="000000"/>
              </a:solidFill>
              <a:latin typeface="Pretendard"/>
              <a:ea typeface="Pretendard"/>
              <a:cs typeface="Pretendard"/>
            </a:endParaRPr>
          </a:p>
        </p:txBody>
      </p:sp>
      <p:sp>
        <p:nvSpPr>
          <p:cNvPr id="40011" name="V19_SECTION_RULE">
            <a:extLst>
              <a:ext uri="{FF2B5EF4-FFF2-40B4-BE49-F238E27FC236}">
                <a16:creationId xmlns:a16="http://schemas.microsoft.com/office/drawing/2014/main" id="{319EFB55-BD9E-4240-930D-FE3FAB8B04D9}"/>
              </a:ext>
            </a:extLst>
          </p:cNvPr>
          <p:cNvSpPr>
            <a:spLocks noGrp="1"/>
          </p:cNvSpPr>
          <p:nvPr/>
        </p:nvSpPr>
        <p:spPr>
          <a:xfrm>
            <a:off x="731520" y="2181225"/>
            <a:ext cx="10698480" cy="0"/>
          </a:xfrm>
          <a:prstGeom prst="line">
            <a:avLst/>
          </a:prstGeom>
          <a:ln w="19050">
            <a:solidFill>
              <a:srgbClr val="1E2761"/>
            </a:solidFill>
          </a:ln>
        </p:spPr>
        <p:style>
          <a:lnRef idx="0">
            <a:scrgbClr r="0" g="0" b="0"/>
          </a:lnRef>
          <a:fillRef idx="0">
            <a:scrgbClr r="0" g="0" b="0"/>
          </a:fillRef>
          <a:effectRef idx="0">
            <a:scrgbClr r="0" g="0" b="0"/>
          </a:effectRef>
          <a:fontRef idx="minor"/>
        </p:style>
        <p:txBody>
          <a:bodyPr lIns="90000" tIns="-44640" rIns="90000" bIns="-44640" anchor="ctr">
            <a:noAutofit/>
          </a:bodyPr>
          <a:lstStyle/>
          <a:p>
            <a:endParaRPr sz="1800" b="0" u="none">
              <a:solidFill>
                <a:srgbClr val="000000"/>
              </a:solidFill>
              <a:latin typeface="Pretendard"/>
              <a:ea typeface="Pretendard"/>
              <a:cs typeface="Pretendard"/>
            </a:endParaRPr>
          </a:p>
        </p:txBody>
      </p:sp>
      <p:sp>
        <p:nvSpPr>
          <p:cNvPr id="7" name="V19_SECTION_RULE">
            <a:extLst>
              <a:ext uri="{FF2B5EF4-FFF2-40B4-BE49-F238E27FC236}">
                <a16:creationId xmlns:a16="http://schemas.microsoft.com/office/drawing/2014/main" id="{15892627-146C-BE82-DCE2-952DD8993A50}"/>
              </a:ext>
            </a:extLst>
          </p:cNvPr>
          <p:cNvSpPr>
            <a:spLocks noGrp="1"/>
          </p:cNvSpPr>
          <p:nvPr/>
        </p:nvSpPr>
        <p:spPr>
          <a:xfrm>
            <a:off x="731519" y="6365875"/>
            <a:ext cx="10698480" cy="0"/>
          </a:xfrm>
          <a:prstGeom prst="line">
            <a:avLst/>
          </a:prstGeom>
          <a:ln w="19050">
            <a:solidFill>
              <a:srgbClr val="1E2761"/>
            </a:solidFill>
          </a:ln>
        </p:spPr>
        <p:style>
          <a:lnRef idx="0">
            <a:scrgbClr r="0" g="0" b="0"/>
          </a:lnRef>
          <a:fillRef idx="0">
            <a:scrgbClr r="0" g="0" b="0"/>
          </a:fillRef>
          <a:effectRef idx="0">
            <a:scrgbClr r="0" g="0" b="0"/>
          </a:effectRef>
          <a:fontRef idx="minor"/>
        </p:style>
        <p:txBody>
          <a:bodyPr lIns="90000" tIns="-44640" rIns="90000" bIns="-44640" anchor="ctr">
            <a:noAutofit/>
          </a:bodyPr>
          <a:lstStyle/>
          <a:p>
            <a:endParaRPr sz="1800" b="0" u="none">
              <a:solidFill>
                <a:srgbClr val="000000"/>
              </a:solidFill>
              <a:latin typeface="Pretendard"/>
              <a:ea typeface="Pretendard"/>
              <a:cs typeface="Pretendar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공론화와 세 정책대안</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sz="1050" b="0">
                <a:solidFill>
                  <a:srgbClr val="6E7686"/>
                </a:solidFill>
                <a:latin typeface="Pretendard"/>
              </a:rPr>
              <a:t>다음 → 시민참여단 숙의 전후 응답</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nSpc>
                <a:spcPct val="118000"/>
              </a:lnSpc>
            </a:pPr>
            <a:r>
              <a:rPr lang="en-US" altLang="ko-KR" sz="2750" b="1" dirty="0">
                <a:solidFill>
                  <a:srgbClr val="1E2761"/>
                </a:solidFill>
                <a:latin typeface="Pretendard"/>
                <a:ea typeface="Pretendard"/>
                <a:cs typeface="Pretendard"/>
              </a:rPr>
              <a:t>2026 </a:t>
            </a:r>
            <a:r>
              <a:rPr lang="ko-KR" altLang="en-US" sz="2750" b="1" dirty="0">
                <a:solidFill>
                  <a:srgbClr val="1E2761"/>
                </a:solidFill>
                <a:latin typeface="Pretendard"/>
                <a:ea typeface="Pretendard"/>
                <a:cs typeface="Pretendard"/>
              </a:rPr>
              <a:t>「</a:t>
            </a:r>
            <a:r>
              <a:rPr lang="ko-KR" altLang="en-US" sz="2750" b="1" dirty="0" err="1">
                <a:solidFill>
                  <a:srgbClr val="1E2761"/>
                </a:solidFill>
                <a:latin typeface="Pretendard"/>
                <a:ea typeface="Pretendard"/>
                <a:cs typeface="Pretendard"/>
              </a:rPr>
              <a:t>촉법소년</a:t>
            </a:r>
            <a:r>
              <a:rPr lang="ko-KR" altLang="en-US" sz="2750" b="1" dirty="0">
                <a:solidFill>
                  <a:srgbClr val="1E2761"/>
                </a:solidFill>
                <a:latin typeface="Pretendard"/>
                <a:ea typeface="Pretendard"/>
                <a:cs typeface="Pretendard"/>
              </a:rPr>
              <a:t> 연령 기준」 공론화 </a:t>
            </a:r>
            <a:r>
              <a:rPr lang="ko-KR" altLang="en-US" sz="2750" b="1" dirty="0" err="1">
                <a:solidFill>
                  <a:srgbClr val="1E2761"/>
                </a:solidFill>
                <a:latin typeface="Pretendard"/>
                <a:ea typeface="Pretendard"/>
                <a:cs typeface="Pretendard"/>
              </a:rPr>
              <a:t>ㅡ</a:t>
            </a:r>
            <a:r>
              <a:rPr lang="ko-KR" altLang="en-US" sz="2750" b="1" dirty="0">
                <a:solidFill>
                  <a:srgbClr val="1E2761"/>
                </a:solidFill>
                <a:latin typeface="Pretendard"/>
                <a:ea typeface="Pretendard"/>
                <a:cs typeface="Pretendard"/>
              </a:rPr>
              <a:t> </a:t>
            </a:r>
            <a:r>
              <a:rPr lang="ko-KR" sz="2750" b="1" dirty="0">
                <a:solidFill>
                  <a:srgbClr val="1E2761"/>
                </a:solidFill>
                <a:latin typeface="Pretendard"/>
                <a:ea typeface="Pretendard"/>
                <a:cs typeface="Pretendard"/>
              </a:rPr>
              <a:t>공론화는 어떻게 진행됐나</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시민이 정보를 학습하고 토론한 뒤 판단하도록 설계한 숙의형 의견수렴 절차다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st16"/>
          <p:cNvSpPr/>
          <p:nvPr/>
        </p:nvSpPr>
        <p:spPr>
          <a:xfrm>
            <a:off x="731520" y="2626106"/>
            <a:ext cx="1901952" cy="420624"/>
          </a:xfrm>
          <a:prstGeom prst="rect">
            <a:avLst/>
          </a:prstGeom>
          <a:solidFill>
            <a:srgbClr val="F2F4F8"/>
          </a:solidFill>
          <a:ln>
            <a:noFill/>
          </a:ln>
        </p:spPr>
        <p:txBody>
          <a:bodyPr/>
          <a:lstStyle/>
          <a:p>
            <a:endParaRPr/>
          </a:p>
        </p:txBody>
      </p:sp>
      <p:sp>
        <p:nvSpPr>
          <p:cNvPr id="17" name="stt17"/>
          <p:cNvSpPr txBox="1"/>
          <p:nvPr/>
        </p:nvSpPr>
        <p:spPr>
          <a:xfrm>
            <a:off x="731520" y="2626106"/>
            <a:ext cx="1901952" cy="420624"/>
          </a:xfrm>
          <a:prstGeom prst="rect">
            <a:avLst/>
          </a:prstGeom>
          <a:solidFill>
            <a:schemeClr val="accent1">
              <a:lumMod val="75000"/>
            </a:schemeClr>
          </a:solidFill>
        </p:spPr>
        <p:txBody>
          <a:bodyPr wrap="square" lIns="0" tIns="27432" rIns="0" bIns="27432" anchor="ctr">
            <a:noAutofit/>
          </a:bodyPr>
          <a:lstStyle/>
          <a:p>
            <a:pPr algn="ctr">
              <a:lnSpc>
                <a:spcPct val="118000"/>
              </a:lnSpc>
            </a:pPr>
            <a:r>
              <a:rPr lang="ko-KR" sz="1200" b="1" dirty="0">
                <a:solidFill>
                  <a:schemeClr val="bg1"/>
                </a:solidFill>
                <a:latin typeface="Pretendard"/>
                <a:ea typeface="Pretendard"/>
                <a:cs typeface="Pretendard"/>
              </a:rPr>
              <a:t>사전 의견 확인</a:t>
            </a:r>
          </a:p>
        </p:txBody>
      </p:sp>
      <p:sp>
        <p:nvSpPr>
          <p:cNvPr id="18" name="sa18"/>
          <p:cNvSpPr/>
          <p:nvPr/>
        </p:nvSpPr>
        <p:spPr>
          <a:xfrm>
            <a:off x="2679191" y="2836418"/>
            <a:ext cx="210312" cy="0"/>
          </a:xfrm>
          <a:prstGeom prst="line">
            <a:avLst/>
          </a:prstGeom>
          <a:ln w="12700">
            <a:solidFill>
              <a:srgbClr val="464D5C"/>
            </a:solidFill>
            <a:tailEnd type="triangle"/>
          </a:ln>
        </p:spPr>
        <p:txBody>
          <a:bodyPr/>
          <a:lstStyle/>
          <a:p>
            <a:endParaRPr/>
          </a:p>
        </p:txBody>
      </p:sp>
      <p:sp>
        <p:nvSpPr>
          <p:cNvPr id="19" name="st19"/>
          <p:cNvSpPr/>
          <p:nvPr/>
        </p:nvSpPr>
        <p:spPr>
          <a:xfrm>
            <a:off x="2935224" y="2626106"/>
            <a:ext cx="1901952" cy="420624"/>
          </a:xfrm>
          <a:prstGeom prst="rect">
            <a:avLst/>
          </a:prstGeom>
          <a:solidFill>
            <a:srgbClr val="F2F4F8"/>
          </a:solidFill>
          <a:ln>
            <a:noFill/>
          </a:ln>
        </p:spPr>
        <p:txBody>
          <a:bodyPr/>
          <a:lstStyle/>
          <a:p>
            <a:endParaRPr/>
          </a:p>
        </p:txBody>
      </p:sp>
      <p:sp>
        <p:nvSpPr>
          <p:cNvPr id="20" name="stt20"/>
          <p:cNvSpPr txBox="1"/>
          <p:nvPr/>
        </p:nvSpPr>
        <p:spPr>
          <a:xfrm>
            <a:off x="2935224" y="2626106"/>
            <a:ext cx="1901952" cy="420624"/>
          </a:xfrm>
          <a:prstGeom prst="rect">
            <a:avLst/>
          </a:prstGeom>
          <a:solidFill>
            <a:srgbClr val="F2F4F8"/>
          </a:solidFill>
        </p:spPr>
        <p:txBody>
          <a:bodyPr wrap="square" lIns="0" tIns="27432" rIns="0" bIns="27432" anchor="ctr">
            <a:noAutofit/>
          </a:bodyPr>
          <a:lstStyle/>
          <a:p>
            <a:pPr algn="ctr">
              <a:lnSpc>
                <a:spcPct val="118000"/>
              </a:lnSpc>
            </a:pPr>
            <a:r>
              <a:rPr lang="ko-KR" sz="1200" b="1" dirty="0">
                <a:solidFill>
                  <a:srgbClr val="1E2761"/>
                </a:solidFill>
                <a:latin typeface="Pretendard"/>
                <a:ea typeface="Pretendard"/>
                <a:cs typeface="Pretendard"/>
              </a:rPr>
              <a:t>정보 학습</a:t>
            </a:r>
          </a:p>
        </p:txBody>
      </p:sp>
      <p:sp>
        <p:nvSpPr>
          <p:cNvPr id="21" name="sa21"/>
          <p:cNvSpPr/>
          <p:nvPr/>
        </p:nvSpPr>
        <p:spPr>
          <a:xfrm>
            <a:off x="4882896" y="2836418"/>
            <a:ext cx="210312" cy="0"/>
          </a:xfrm>
          <a:prstGeom prst="line">
            <a:avLst/>
          </a:prstGeom>
          <a:ln w="12700">
            <a:solidFill>
              <a:srgbClr val="464D5C"/>
            </a:solidFill>
            <a:tailEnd type="triangle"/>
          </a:ln>
        </p:spPr>
        <p:txBody>
          <a:bodyPr/>
          <a:lstStyle/>
          <a:p>
            <a:endParaRPr/>
          </a:p>
        </p:txBody>
      </p:sp>
      <p:sp>
        <p:nvSpPr>
          <p:cNvPr id="22" name="st22"/>
          <p:cNvSpPr/>
          <p:nvPr/>
        </p:nvSpPr>
        <p:spPr>
          <a:xfrm>
            <a:off x="5138928" y="2626106"/>
            <a:ext cx="1901952" cy="420624"/>
          </a:xfrm>
          <a:prstGeom prst="rect">
            <a:avLst/>
          </a:prstGeom>
          <a:solidFill>
            <a:srgbClr val="F2F4F8"/>
          </a:solidFill>
          <a:ln>
            <a:noFill/>
          </a:ln>
        </p:spPr>
        <p:txBody>
          <a:bodyPr/>
          <a:lstStyle/>
          <a:p>
            <a:endParaRPr/>
          </a:p>
        </p:txBody>
      </p:sp>
      <p:sp>
        <p:nvSpPr>
          <p:cNvPr id="23" name="stt23"/>
          <p:cNvSpPr txBox="1"/>
          <p:nvPr/>
        </p:nvSpPr>
        <p:spPr>
          <a:xfrm>
            <a:off x="5138928" y="2626106"/>
            <a:ext cx="1901952" cy="420624"/>
          </a:xfrm>
          <a:prstGeom prst="rect">
            <a:avLst/>
          </a:prstGeom>
          <a:solidFill>
            <a:srgbClr val="F2F4F8"/>
          </a:solidFill>
        </p:spPr>
        <p:txBody>
          <a:bodyPr wrap="square" lIns="0" tIns="27432" rIns="0" bIns="27432" anchor="ctr">
            <a:noAutofit/>
          </a:bodyPr>
          <a:lstStyle/>
          <a:p>
            <a:pPr algn="ctr">
              <a:lnSpc>
                <a:spcPct val="118000"/>
              </a:lnSpc>
            </a:pPr>
            <a:r>
              <a:rPr lang="ko-KR" sz="1200" b="1" dirty="0">
                <a:solidFill>
                  <a:srgbClr val="1E2761"/>
                </a:solidFill>
                <a:latin typeface="Pretendard"/>
                <a:ea typeface="Pretendard"/>
                <a:cs typeface="Pretendard"/>
              </a:rPr>
              <a:t>질문·토론</a:t>
            </a:r>
          </a:p>
        </p:txBody>
      </p:sp>
      <p:sp>
        <p:nvSpPr>
          <p:cNvPr id="24" name="sa24"/>
          <p:cNvSpPr/>
          <p:nvPr/>
        </p:nvSpPr>
        <p:spPr>
          <a:xfrm>
            <a:off x="7086600" y="2836418"/>
            <a:ext cx="210312" cy="0"/>
          </a:xfrm>
          <a:prstGeom prst="line">
            <a:avLst/>
          </a:prstGeom>
          <a:ln w="12700">
            <a:solidFill>
              <a:srgbClr val="464D5C"/>
            </a:solidFill>
            <a:tailEnd type="triangle"/>
          </a:ln>
        </p:spPr>
        <p:txBody>
          <a:bodyPr/>
          <a:lstStyle/>
          <a:p>
            <a:endParaRPr/>
          </a:p>
        </p:txBody>
      </p:sp>
      <p:sp>
        <p:nvSpPr>
          <p:cNvPr id="25" name="st25"/>
          <p:cNvSpPr/>
          <p:nvPr/>
        </p:nvSpPr>
        <p:spPr>
          <a:xfrm>
            <a:off x="7342632" y="2626106"/>
            <a:ext cx="1901952" cy="420624"/>
          </a:xfrm>
          <a:prstGeom prst="rect">
            <a:avLst/>
          </a:prstGeom>
          <a:solidFill>
            <a:srgbClr val="F2F4F8"/>
          </a:solidFill>
          <a:ln>
            <a:noFill/>
          </a:ln>
        </p:spPr>
        <p:txBody>
          <a:bodyPr/>
          <a:lstStyle/>
          <a:p>
            <a:endParaRPr/>
          </a:p>
        </p:txBody>
      </p:sp>
      <p:sp>
        <p:nvSpPr>
          <p:cNvPr id="26" name="stt26"/>
          <p:cNvSpPr txBox="1"/>
          <p:nvPr/>
        </p:nvSpPr>
        <p:spPr>
          <a:xfrm>
            <a:off x="7342632" y="2626106"/>
            <a:ext cx="1901952" cy="420624"/>
          </a:xfrm>
          <a:prstGeom prst="rect">
            <a:avLst/>
          </a:prstGeom>
          <a:solidFill>
            <a:schemeClr val="accent1">
              <a:lumMod val="75000"/>
            </a:schemeClr>
          </a:solidFill>
        </p:spPr>
        <p:txBody>
          <a:bodyPr wrap="square" lIns="0" tIns="27432" rIns="0" bIns="27432" anchor="ctr">
            <a:noAutofit/>
          </a:bodyPr>
          <a:lstStyle/>
          <a:p>
            <a:pPr algn="ctr">
              <a:lnSpc>
                <a:spcPct val="118000"/>
              </a:lnSpc>
            </a:pPr>
            <a:r>
              <a:rPr lang="ko-KR" sz="1200" b="1" dirty="0">
                <a:solidFill>
                  <a:schemeClr val="bg1"/>
                </a:solidFill>
                <a:latin typeface="Pretendard"/>
                <a:ea typeface="Pretendard"/>
                <a:cs typeface="Pretendard"/>
              </a:rPr>
              <a:t>사후 의견 확인</a:t>
            </a:r>
          </a:p>
        </p:txBody>
      </p:sp>
      <p:sp>
        <p:nvSpPr>
          <p:cNvPr id="27" name="sa27"/>
          <p:cNvSpPr/>
          <p:nvPr/>
        </p:nvSpPr>
        <p:spPr>
          <a:xfrm>
            <a:off x="9290304" y="2836418"/>
            <a:ext cx="210312" cy="0"/>
          </a:xfrm>
          <a:prstGeom prst="line">
            <a:avLst/>
          </a:prstGeom>
          <a:ln w="12700">
            <a:solidFill>
              <a:srgbClr val="464D5C"/>
            </a:solidFill>
            <a:tailEnd type="triangle"/>
          </a:ln>
        </p:spPr>
        <p:txBody>
          <a:bodyPr/>
          <a:lstStyle/>
          <a:p>
            <a:endParaRPr/>
          </a:p>
        </p:txBody>
      </p:sp>
      <p:sp>
        <p:nvSpPr>
          <p:cNvPr id="28" name="st28"/>
          <p:cNvSpPr/>
          <p:nvPr/>
        </p:nvSpPr>
        <p:spPr>
          <a:xfrm>
            <a:off x="9546336" y="2626106"/>
            <a:ext cx="1901952" cy="420624"/>
          </a:xfrm>
          <a:prstGeom prst="rect">
            <a:avLst/>
          </a:prstGeom>
          <a:solidFill>
            <a:srgbClr val="5A6699"/>
          </a:solidFill>
          <a:ln>
            <a:noFill/>
          </a:ln>
        </p:spPr>
        <p:txBody>
          <a:bodyPr/>
          <a:lstStyle/>
          <a:p>
            <a:endParaRPr/>
          </a:p>
        </p:txBody>
      </p:sp>
      <p:sp>
        <p:nvSpPr>
          <p:cNvPr id="29" name="stt29"/>
          <p:cNvSpPr txBox="1"/>
          <p:nvPr/>
        </p:nvSpPr>
        <p:spPr>
          <a:xfrm>
            <a:off x="9546336" y="2626106"/>
            <a:ext cx="1901952" cy="420624"/>
          </a:xfrm>
          <a:prstGeom prst="rect">
            <a:avLst/>
          </a:prstGeom>
          <a:solidFill>
            <a:srgbClr val="F2F4F8"/>
          </a:solidFill>
        </p:spPr>
        <p:txBody>
          <a:bodyPr wrap="square" lIns="0" tIns="27432" rIns="0" bIns="27432" anchor="ctr">
            <a:noAutofit/>
          </a:bodyPr>
          <a:lstStyle/>
          <a:p>
            <a:pPr algn="ctr">
              <a:lnSpc>
                <a:spcPct val="118000"/>
              </a:lnSpc>
            </a:pPr>
            <a:r>
              <a:rPr lang="ko-KR" sz="1200" b="1" dirty="0">
                <a:solidFill>
                  <a:srgbClr val="1E2761"/>
                </a:solidFill>
                <a:latin typeface="Pretendard"/>
                <a:ea typeface="Pretendard"/>
                <a:cs typeface="Pretendard"/>
              </a:rPr>
              <a:t>협의체 종합·정책 권고</a:t>
            </a:r>
          </a:p>
        </p:txBody>
      </p:sp>
      <p:sp>
        <p:nvSpPr>
          <p:cNvPr id="30" name="dh0"/>
          <p:cNvSpPr txBox="1"/>
          <p:nvPr/>
        </p:nvSpPr>
        <p:spPr>
          <a:xfrm>
            <a:off x="731520" y="3481324"/>
            <a:ext cx="5225796" cy="36576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시민참여단은</a:t>
            </a:r>
          </a:p>
        </p:txBody>
      </p:sp>
      <p:sp>
        <p:nvSpPr>
          <p:cNvPr id="31" name="line31"/>
          <p:cNvSpPr/>
          <p:nvPr/>
        </p:nvSpPr>
        <p:spPr>
          <a:xfrm>
            <a:off x="731520" y="3883660"/>
            <a:ext cx="5225796" cy="0"/>
          </a:xfrm>
          <a:prstGeom prst="line">
            <a:avLst/>
          </a:prstGeom>
          <a:ln w="19050">
            <a:solidFill>
              <a:srgbClr val="1E2761"/>
            </a:solidFill>
          </a:ln>
        </p:spPr>
        <p:txBody>
          <a:bodyPr/>
          <a:lstStyle/>
          <a:p>
            <a:endParaRPr/>
          </a:p>
        </p:txBody>
      </p:sp>
      <p:sp>
        <p:nvSpPr>
          <p:cNvPr id="32" name="db0"/>
          <p:cNvSpPr txBox="1"/>
          <p:nvPr/>
        </p:nvSpPr>
        <p:spPr>
          <a:xfrm>
            <a:off x="731520" y="4011676"/>
            <a:ext cx="5225796" cy="1243584"/>
          </a:xfrm>
          <a:prstGeom prst="rect">
            <a:avLst/>
          </a:prstGeom>
          <a:noFill/>
        </p:spPr>
        <p:txBody>
          <a:bodyPr wrap="square" lIns="0" tIns="27432" rIns="0" bIns="27432" anchor="t">
            <a:noAutofit/>
          </a:bodyPr>
          <a:lstStyle/>
          <a:p>
            <a:pPr algn="l">
              <a:lnSpc>
                <a:spcPct val="118000"/>
              </a:lnSpc>
              <a:spcAft>
                <a:spcPts val="600"/>
              </a:spcAft>
            </a:pPr>
            <a:r>
              <a:rPr lang="ko-KR" sz="1200" b="0" dirty="0">
                <a:solidFill>
                  <a:srgbClr val="222633"/>
                </a:solidFill>
                <a:latin typeface="Pretendard"/>
                <a:ea typeface="Pretendard"/>
                <a:cs typeface="Pretendard"/>
              </a:rPr>
              <a:t>· 일반 시민으로 구성.</a:t>
            </a:r>
          </a:p>
          <a:p>
            <a:pPr algn="l">
              <a:lnSpc>
                <a:spcPct val="118000"/>
              </a:lnSpc>
              <a:spcAft>
                <a:spcPts val="600"/>
              </a:spcAft>
            </a:pPr>
            <a:r>
              <a:rPr lang="ko-KR" sz="1200" b="0" dirty="0">
                <a:solidFill>
                  <a:srgbClr val="222633"/>
                </a:solidFill>
                <a:latin typeface="Pretendard"/>
                <a:ea typeface="Pretendard"/>
                <a:cs typeface="Pretendard"/>
              </a:rPr>
              <a:t>· 통계·법제도·전문가 설명 등 공통 정보를 학습한다.</a:t>
            </a:r>
          </a:p>
          <a:p>
            <a:pPr algn="l">
              <a:lnSpc>
                <a:spcPct val="118000"/>
              </a:lnSpc>
              <a:spcAft>
                <a:spcPts val="600"/>
              </a:spcAft>
            </a:pPr>
            <a:r>
              <a:rPr lang="ko-KR" sz="1200" b="0" dirty="0">
                <a:solidFill>
                  <a:srgbClr val="222633"/>
                </a:solidFill>
                <a:latin typeface="Pretendard"/>
                <a:ea typeface="Pretendard"/>
                <a:cs typeface="Pretendard"/>
              </a:rPr>
              <a:t>· 질문과 토론으로 쟁점을 숙의한다.</a:t>
            </a:r>
          </a:p>
          <a:p>
            <a:pPr algn="l">
              <a:lnSpc>
                <a:spcPct val="118000"/>
              </a:lnSpc>
              <a:spcAft>
                <a:spcPts val="600"/>
              </a:spcAft>
            </a:pPr>
            <a:r>
              <a:rPr lang="ko-KR" sz="1200" b="0" dirty="0">
                <a:solidFill>
                  <a:srgbClr val="222633"/>
                </a:solidFill>
                <a:latin typeface="Pretendard"/>
                <a:ea typeface="Pretendard"/>
                <a:cs typeface="Pretendard"/>
              </a:rPr>
              <a:t>· 숙의 전·후 설문으로 판단의 변화를 확인한다.</a:t>
            </a:r>
          </a:p>
        </p:txBody>
      </p:sp>
      <p:sp>
        <p:nvSpPr>
          <p:cNvPr id="33" name="dh1"/>
          <p:cNvSpPr txBox="1"/>
          <p:nvPr/>
        </p:nvSpPr>
        <p:spPr>
          <a:xfrm>
            <a:off x="6231636" y="3481324"/>
            <a:ext cx="5225796" cy="36576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그 의견은 어떻게 쓰이나</a:t>
            </a:r>
          </a:p>
        </p:txBody>
      </p:sp>
      <p:sp>
        <p:nvSpPr>
          <p:cNvPr id="34" name="line34"/>
          <p:cNvSpPr/>
          <p:nvPr/>
        </p:nvSpPr>
        <p:spPr>
          <a:xfrm>
            <a:off x="6231636" y="3883660"/>
            <a:ext cx="5225796" cy="0"/>
          </a:xfrm>
          <a:prstGeom prst="line">
            <a:avLst/>
          </a:prstGeom>
          <a:ln w="19050">
            <a:solidFill>
              <a:srgbClr val="1E2761"/>
            </a:solidFill>
          </a:ln>
        </p:spPr>
        <p:txBody>
          <a:bodyPr/>
          <a:lstStyle/>
          <a:p>
            <a:endParaRPr/>
          </a:p>
        </p:txBody>
      </p:sp>
      <p:sp>
        <p:nvSpPr>
          <p:cNvPr id="35" name="db1"/>
          <p:cNvSpPr txBox="1"/>
          <p:nvPr/>
        </p:nvSpPr>
        <p:spPr>
          <a:xfrm>
            <a:off x="6231636" y="4171443"/>
            <a:ext cx="5225796" cy="896874"/>
          </a:xfrm>
          <a:prstGeom prst="rect">
            <a:avLst/>
          </a:prstGeom>
          <a:noFill/>
        </p:spPr>
        <p:txBody>
          <a:bodyPr wrap="square" lIns="0" tIns="27432" rIns="0" bIns="27432" anchor="t">
            <a:noAutofit/>
          </a:bodyPr>
          <a:lstStyle/>
          <a:p>
            <a:pPr algn="l">
              <a:lnSpc>
                <a:spcPct val="118000"/>
              </a:lnSpc>
              <a:spcAft>
                <a:spcPts val="600"/>
              </a:spcAft>
            </a:pPr>
            <a:r>
              <a:rPr lang="ko-KR" sz="1200" b="0" dirty="0">
                <a:solidFill>
                  <a:srgbClr val="222633"/>
                </a:solidFill>
                <a:latin typeface="Pretendard"/>
                <a:ea typeface="Pretendard"/>
                <a:cs typeface="Pretendard"/>
              </a:rPr>
              <a:t>· 참여단이 법 개정 여부를 직접 결정하</a:t>
            </a:r>
            <a:r>
              <a:rPr lang="ko-KR" altLang="en-US" sz="1200" b="0" dirty="0">
                <a:solidFill>
                  <a:srgbClr val="222633"/>
                </a:solidFill>
                <a:latin typeface="Pretendard"/>
                <a:ea typeface="Pretendard"/>
                <a:cs typeface="Pretendard"/>
              </a:rPr>
              <a:t>는 것은 아니다</a:t>
            </a:r>
            <a:endParaRPr lang="en-US" altLang="ko-KR" sz="1200" b="0" dirty="0">
              <a:solidFill>
                <a:srgbClr val="222633"/>
              </a:solidFill>
              <a:latin typeface="Pretendard"/>
              <a:ea typeface="Pretendard"/>
              <a:cs typeface="Pretendard"/>
            </a:endParaRPr>
          </a:p>
          <a:p>
            <a:pPr algn="l">
              <a:lnSpc>
                <a:spcPct val="118000"/>
              </a:lnSpc>
              <a:spcAft>
                <a:spcPts val="600"/>
              </a:spcAft>
            </a:pPr>
            <a:r>
              <a:rPr lang="ko-KR" sz="1200" b="0" dirty="0">
                <a:solidFill>
                  <a:srgbClr val="222633"/>
                </a:solidFill>
                <a:latin typeface="Pretendard"/>
                <a:ea typeface="Pretendard"/>
                <a:cs typeface="Pretendard"/>
              </a:rPr>
              <a:t>· 참여단 결과에 공개포럼·국민 의견, 전문가·관계부처 논의를 더한다.</a:t>
            </a:r>
          </a:p>
          <a:p>
            <a:pPr algn="l">
              <a:lnSpc>
                <a:spcPct val="118000"/>
              </a:lnSpc>
              <a:spcAft>
                <a:spcPts val="600"/>
              </a:spcAft>
            </a:pPr>
            <a:r>
              <a:rPr lang="ko-KR" sz="1200" b="0" dirty="0">
                <a:solidFill>
                  <a:srgbClr val="222633"/>
                </a:solidFill>
                <a:latin typeface="Pretendard"/>
                <a:ea typeface="Pretendard"/>
                <a:cs typeface="Pretendard"/>
              </a:rPr>
              <a:t>· 사회적 대화 협의체가 이를 토대로 정책 권고 방향을 마련한다.</a:t>
            </a:r>
          </a:p>
        </p:txBody>
      </p:sp>
      <p:sp>
        <p:nvSpPr>
          <p:cNvPr id="36" name="line36"/>
          <p:cNvSpPr/>
          <p:nvPr/>
        </p:nvSpPr>
        <p:spPr>
          <a:xfrm>
            <a:off x="731520" y="5282692"/>
            <a:ext cx="10725912" cy="0"/>
          </a:xfrm>
          <a:prstGeom prst="line">
            <a:avLst/>
          </a:prstGeom>
          <a:ln w="9525">
            <a:solidFill>
              <a:srgbClr val="DCE0E8"/>
            </a:solidFill>
          </a:ln>
        </p:spPr>
        <p:txBody>
          <a:bodyPr/>
          <a:lstStyle/>
          <a:p>
            <a:endParaRPr/>
          </a:p>
        </p:txBody>
      </p:sp>
      <p:sp>
        <p:nvSpPr>
          <p:cNvPr id="37" name="dkh"/>
          <p:cNvSpPr txBox="1"/>
          <p:nvPr/>
        </p:nvSpPr>
        <p:spPr>
          <a:xfrm>
            <a:off x="731520" y="5515864"/>
            <a:ext cx="2240280" cy="36576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핵심</a:t>
            </a:r>
          </a:p>
        </p:txBody>
      </p:sp>
      <p:sp>
        <p:nvSpPr>
          <p:cNvPr id="38" name="dkb"/>
          <p:cNvSpPr txBox="1"/>
          <p:nvPr/>
        </p:nvSpPr>
        <p:spPr>
          <a:xfrm>
            <a:off x="3154680" y="5515864"/>
            <a:ext cx="8302752" cy="365760"/>
          </a:xfrm>
          <a:prstGeom prst="rect">
            <a:avLst/>
          </a:prstGeom>
          <a:noFill/>
        </p:spPr>
        <p:txBody>
          <a:bodyPr wrap="square" lIns="0" tIns="27432" rIns="0" bIns="27432" anchor="ctr">
            <a:noAutofit/>
          </a:bodyPr>
          <a:lstStyle/>
          <a:p>
            <a:pPr algn="l">
              <a:lnSpc>
                <a:spcPct val="118000"/>
              </a:lnSpc>
            </a:pPr>
            <a:r>
              <a:rPr lang="ko-KR" sz="1250" b="1" dirty="0">
                <a:solidFill>
                  <a:srgbClr val="A8871C"/>
                </a:solidFill>
                <a:latin typeface="Pretendard"/>
                <a:ea typeface="Pretendard"/>
                <a:cs typeface="Pretendard"/>
              </a:rPr>
              <a:t>충분한 정보를 접한 뒤 시민의 판단이 어떻게 형성되고 변하는지를 살</a:t>
            </a:r>
            <a:r>
              <a:rPr lang="ko-KR" altLang="en-US" sz="1250" b="1" dirty="0">
                <a:solidFill>
                  <a:srgbClr val="A8871C"/>
                </a:solidFill>
                <a:latin typeface="Pretendard"/>
                <a:ea typeface="Pretendard"/>
                <a:cs typeface="Pretendard"/>
              </a:rPr>
              <a:t>펴 본다</a:t>
            </a:r>
            <a:r>
              <a:rPr lang="en-US" altLang="ko-KR" sz="1250" b="1" dirty="0">
                <a:solidFill>
                  <a:srgbClr val="A8871C"/>
                </a:solidFill>
                <a:latin typeface="Pretendard"/>
                <a:ea typeface="Pretendard"/>
                <a:cs typeface="Pretendard"/>
              </a:rPr>
              <a:t>.</a:t>
            </a:r>
            <a:endParaRPr lang="ko-KR" sz="1250" b="1" dirty="0">
              <a:solidFill>
                <a:srgbClr val="A8871C"/>
              </a:solidFill>
              <a:latin typeface="Pretendard"/>
              <a:ea typeface="Pretendard"/>
              <a:cs typeface="Pretendard"/>
            </a:endParaRPr>
          </a:p>
        </p:txBody>
      </p:sp>
      <p:sp>
        <p:nvSpPr>
          <p:cNvPr id="39" name="line39"/>
          <p:cNvSpPr/>
          <p:nvPr/>
        </p:nvSpPr>
        <p:spPr>
          <a:xfrm>
            <a:off x="731520" y="6144768"/>
            <a:ext cx="10725912" cy="0"/>
          </a:xfrm>
          <a:prstGeom prst="line">
            <a:avLst/>
          </a:prstGeom>
          <a:ln w="19050">
            <a:solidFill>
              <a:srgbClr val="1E2761"/>
            </a:solidFill>
          </a:ln>
        </p:spPr>
        <p:txBody>
          <a:bodyPr/>
          <a:lstStyle/>
          <a:p>
            <a:endParaRPr/>
          </a:p>
        </p:txBody>
      </p:sp>
      <p:sp>
        <p:nvSpPr>
          <p:cNvPr id="40"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성평등가족부(2026.7.14.) 공론화 결과 보고 · 사회적 대화 협의체 운영 개요</a:t>
            </a:r>
          </a:p>
        </p:txBody>
      </p:sp>
      <p:sp>
        <p:nvSpPr>
          <p:cNvPr id="3" name="gold">
            <a:extLst>
              <a:ext uri="{FF2B5EF4-FFF2-40B4-BE49-F238E27FC236}">
                <a16:creationId xmlns:a16="http://schemas.microsoft.com/office/drawing/2014/main" id="{5A3B3A2F-9E3C-D21E-FE0D-1ABBFEC76638}"/>
              </a:ext>
            </a:extLst>
          </p:cNvPr>
          <p:cNvSpPr/>
          <p:nvPr/>
        </p:nvSpPr>
        <p:spPr>
          <a:xfrm>
            <a:off x="2679191" y="2480056"/>
            <a:ext cx="4458209" cy="669544"/>
          </a:xfrm>
          <a:prstGeom prst="rect">
            <a:avLst/>
          </a:prstGeom>
          <a:noFill/>
          <a:ln w="19050">
            <a:solidFill>
              <a:srgbClr val="A8871C"/>
            </a:solidFill>
            <a:prstDash val="dash"/>
          </a:ln>
        </p:spPr>
        <p:txBody>
          <a:bodyPr/>
          <a:lstStyle/>
          <a:p>
            <a:endParaRPr/>
          </a:p>
        </p:txBody>
      </p:sp>
      <p:sp>
        <p:nvSpPr>
          <p:cNvPr id="5" name="glab">
            <a:extLst>
              <a:ext uri="{FF2B5EF4-FFF2-40B4-BE49-F238E27FC236}">
                <a16:creationId xmlns:a16="http://schemas.microsoft.com/office/drawing/2014/main" id="{43E668D3-F4D9-6279-7313-653894C282F0}"/>
              </a:ext>
            </a:extLst>
          </p:cNvPr>
          <p:cNvSpPr txBox="1"/>
          <p:nvPr/>
        </p:nvSpPr>
        <p:spPr>
          <a:xfrm>
            <a:off x="4584700" y="2189480"/>
            <a:ext cx="679450" cy="274320"/>
          </a:xfrm>
          <a:prstGeom prst="rect">
            <a:avLst/>
          </a:prstGeom>
          <a:noFill/>
        </p:spPr>
        <p:txBody>
          <a:bodyPr wrap="square" lIns="0" tIns="27432" rIns="0" bIns="27432" anchor="ctr">
            <a:noAutofit/>
          </a:bodyPr>
          <a:lstStyle/>
          <a:p>
            <a:pPr algn="ctr">
              <a:lnSpc>
                <a:spcPct val="118000"/>
              </a:lnSpc>
            </a:pPr>
            <a:r>
              <a:rPr lang="ko-KR" altLang="en-US" sz="1400" b="1" dirty="0">
                <a:solidFill>
                  <a:srgbClr val="2F5597"/>
                </a:solidFill>
                <a:latin typeface="Pretendard"/>
                <a:ea typeface="Pretendard"/>
                <a:cs typeface="Pretendard"/>
              </a:rPr>
              <a:t>숙의 과정</a:t>
            </a:r>
            <a:endParaRPr lang="ko-KR" sz="1400" b="1" dirty="0">
              <a:solidFill>
                <a:srgbClr val="2F5597"/>
              </a:solidFill>
              <a:latin typeface="Pretendard"/>
              <a:ea typeface="Pretendard"/>
              <a:cs typeface="Pretendar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공론화와 세 정책대안</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sz="1050" b="0">
                <a:solidFill>
                  <a:srgbClr val="6E7686"/>
                </a:solidFill>
                <a:latin typeface="Pretendard"/>
              </a:rPr>
              <a:t>다음 → 숙의 전후 인식 변화</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nSpc>
                <a:spcPct val="118000"/>
              </a:lnSpc>
            </a:pPr>
            <a:r>
              <a:rPr lang="en-US" altLang="ko-KR" sz="2750" b="1" dirty="0">
                <a:solidFill>
                  <a:srgbClr val="1E2761"/>
                </a:solidFill>
                <a:latin typeface="Pretendard"/>
                <a:ea typeface="Pretendard"/>
                <a:cs typeface="Pretendard"/>
              </a:rPr>
              <a:t>2026 </a:t>
            </a:r>
            <a:r>
              <a:rPr lang="ko-KR" altLang="en-US" sz="2750" b="1" dirty="0">
                <a:solidFill>
                  <a:srgbClr val="1E2761"/>
                </a:solidFill>
                <a:latin typeface="Pretendard"/>
                <a:ea typeface="Pretendard"/>
                <a:cs typeface="Pretendard"/>
              </a:rPr>
              <a:t>「</a:t>
            </a:r>
            <a:r>
              <a:rPr lang="ko-KR" altLang="en-US" sz="2750" b="1" dirty="0" err="1">
                <a:solidFill>
                  <a:srgbClr val="1E2761"/>
                </a:solidFill>
                <a:latin typeface="Pretendard"/>
                <a:ea typeface="Pretendard"/>
                <a:cs typeface="Pretendard"/>
              </a:rPr>
              <a:t>촉법소년</a:t>
            </a:r>
            <a:r>
              <a:rPr lang="ko-KR" altLang="en-US" sz="2750" b="1" dirty="0">
                <a:solidFill>
                  <a:srgbClr val="1E2761"/>
                </a:solidFill>
                <a:latin typeface="Pretendard"/>
                <a:ea typeface="Pretendard"/>
                <a:cs typeface="Pretendard"/>
              </a:rPr>
              <a:t> 연령 기준」 공론화 </a:t>
            </a:r>
            <a:r>
              <a:rPr lang="ko-KR" altLang="en-US" sz="2750" b="1" dirty="0" err="1">
                <a:solidFill>
                  <a:srgbClr val="1E2761"/>
                </a:solidFill>
                <a:latin typeface="Pretendard"/>
                <a:ea typeface="Pretendard"/>
                <a:cs typeface="Pretendard"/>
              </a:rPr>
              <a:t>ㅡ</a:t>
            </a:r>
            <a:r>
              <a:rPr lang="ko-KR" altLang="en-US" sz="2750" b="1" dirty="0">
                <a:solidFill>
                  <a:srgbClr val="1E2761"/>
                </a:solidFill>
                <a:latin typeface="Pretendard"/>
                <a:ea typeface="Pretendard"/>
                <a:cs typeface="Pretendard"/>
              </a:rPr>
              <a:t> </a:t>
            </a:r>
            <a:r>
              <a:rPr lang="ko-KR" sz="2750" b="1" dirty="0">
                <a:solidFill>
                  <a:srgbClr val="1E2761"/>
                </a:solidFill>
                <a:latin typeface="Pretendard"/>
                <a:ea typeface="Pretendard"/>
                <a:cs typeface="Pretendard"/>
              </a:rPr>
              <a:t>시민참여단의 숙의 전후 응답</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조건부 하향이 가장 높은 응답을 얻었고, 숙의 뒤 현행 유지 응답이 늘고 일괄 하향 응답은 줄었다.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pn0"/>
          <p:cNvSpPr txBox="1"/>
          <p:nvPr/>
        </p:nvSpPr>
        <p:spPr>
          <a:xfrm>
            <a:off x="731520" y="2468880"/>
            <a:ext cx="3392424" cy="365760"/>
          </a:xfrm>
          <a:prstGeom prst="rect">
            <a:avLst/>
          </a:prstGeom>
          <a:noFill/>
        </p:spPr>
        <p:txBody>
          <a:bodyPr wrap="square" lIns="0" tIns="27432" rIns="0" bIns="27432" anchor="ctr">
            <a:noAutofit/>
          </a:bodyPr>
          <a:lstStyle/>
          <a:p>
            <a:pPr algn="ctr">
              <a:lnSpc>
                <a:spcPct val="118000"/>
              </a:lnSpc>
            </a:pPr>
            <a:r>
              <a:rPr lang="ko-KR" sz="1350" b="1" dirty="0">
                <a:solidFill>
                  <a:srgbClr val="1E2761"/>
                </a:solidFill>
                <a:latin typeface="Pretendard"/>
                <a:ea typeface="Pretendard"/>
                <a:cs typeface="Pretendard"/>
              </a:rPr>
              <a:t>조건부 하향</a:t>
            </a:r>
          </a:p>
        </p:txBody>
      </p:sp>
      <p:sp>
        <p:nvSpPr>
          <p:cNvPr id="17" name="pv0"/>
          <p:cNvSpPr txBox="1"/>
          <p:nvPr/>
        </p:nvSpPr>
        <p:spPr>
          <a:xfrm>
            <a:off x="731520" y="2852928"/>
            <a:ext cx="3392424" cy="475488"/>
          </a:xfrm>
          <a:prstGeom prst="rect">
            <a:avLst/>
          </a:prstGeom>
          <a:noFill/>
        </p:spPr>
        <p:txBody>
          <a:bodyPr wrap="square" lIns="0" tIns="27432" rIns="0" bIns="27432" anchor="ctr">
            <a:noAutofit/>
          </a:bodyPr>
          <a:lstStyle/>
          <a:p>
            <a:pPr algn="ctr">
              <a:lnSpc>
                <a:spcPct val="118000"/>
              </a:lnSpc>
            </a:pPr>
            <a:r>
              <a:rPr lang="ko-KR" sz="1800" b="1" dirty="0">
                <a:solidFill>
                  <a:schemeClr val="accent1">
                    <a:lumMod val="50000"/>
                  </a:schemeClr>
                </a:solidFill>
                <a:latin typeface="Pretendard"/>
                <a:ea typeface="Pretendard"/>
                <a:cs typeface="Pretendard"/>
              </a:rPr>
              <a:t>45.8%  </a:t>
            </a:r>
            <a:r>
              <a:rPr lang="ko-KR" sz="1800" b="1" dirty="0">
                <a:solidFill>
                  <a:schemeClr val="accent6">
                    <a:lumMod val="75000"/>
                  </a:schemeClr>
                </a:solidFill>
                <a:latin typeface="Pretendard"/>
                <a:ea typeface="Pretendard"/>
                <a:cs typeface="Pretendard"/>
              </a:rPr>
              <a:t>→  46.7%</a:t>
            </a:r>
          </a:p>
        </p:txBody>
      </p:sp>
      <p:sp>
        <p:nvSpPr>
          <p:cNvPr id="18" name="pd0"/>
          <p:cNvSpPr txBox="1"/>
          <p:nvPr/>
        </p:nvSpPr>
        <p:spPr>
          <a:xfrm>
            <a:off x="731520" y="3364992"/>
            <a:ext cx="3392424" cy="402336"/>
          </a:xfrm>
          <a:prstGeom prst="rect">
            <a:avLst/>
          </a:prstGeom>
          <a:noFill/>
        </p:spPr>
        <p:txBody>
          <a:bodyPr wrap="square" lIns="0" tIns="27432" rIns="0" bIns="27432" anchor="ctr">
            <a:noAutofit/>
          </a:bodyPr>
          <a:lstStyle/>
          <a:p>
            <a:pPr algn="ctr">
              <a:lnSpc>
                <a:spcPct val="118000"/>
              </a:lnSpc>
            </a:pPr>
            <a:r>
              <a:rPr lang="ko-KR" sz="1200" b="0" dirty="0">
                <a:solidFill>
                  <a:srgbClr val="464D5C"/>
                </a:solidFill>
                <a:latin typeface="Pretendard"/>
                <a:ea typeface="Pretendard"/>
                <a:cs typeface="Pretendard"/>
              </a:rPr>
              <a:t>강력하거나 중대·반복되는 범죄에 한한다.</a:t>
            </a:r>
          </a:p>
        </p:txBody>
      </p:sp>
      <p:sp>
        <p:nvSpPr>
          <p:cNvPr id="19" name="pn1"/>
          <p:cNvSpPr txBox="1"/>
          <p:nvPr/>
        </p:nvSpPr>
        <p:spPr>
          <a:xfrm>
            <a:off x="4398264" y="2468880"/>
            <a:ext cx="3392424" cy="365760"/>
          </a:xfrm>
          <a:prstGeom prst="rect">
            <a:avLst/>
          </a:prstGeom>
          <a:noFill/>
        </p:spPr>
        <p:txBody>
          <a:bodyPr wrap="square" lIns="0" tIns="27432" rIns="0" bIns="27432" anchor="ctr">
            <a:noAutofit/>
          </a:bodyPr>
          <a:lstStyle/>
          <a:p>
            <a:pPr algn="ctr">
              <a:lnSpc>
                <a:spcPct val="118000"/>
              </a:lnSpc>
            </a:pPr>
            <a:r>
              <a:rPr lang="ko-KR" sz="1350" b="1" dirty="0">
                <a:solidFill>
                  <a:srgbClr val="1E2761"/>
                </a:solidFill>
                <a:latin typeface="Pretendard"/>
                <a:ea typeface="Pretendard"/>
                <a:cs typeface="Pretendard"/>
              </a:rPr>
              <a:t>일괄 하향</a:t>
            </a:r>
          </a:p>
        </p:txBody>
      </p:sp>
      <p:sp>
        <p:nvSpPr>
          <p:cNvPr id="20" name="pv1"/>
          <p:cNvSpPr txBox="1"/>
          <p:nvPr/>
        </p:nvSpPr>
        <p:spPr>
          <a:xfrm>
            <a:off x="4398264" y="2852928"/>
            <a:ext cx="3392424" cy="475488"/>
          </a:xfrm>
          <a:prstGeom prst="rect">
            <a:avLst/>
          </a:prstGeom>
          <a:noFill/>
        </p:spPr>
        <p:txBody>
          <a:bodyPr wrap="square" lIns="0" tIns="27432" rIns="0" bIns="27432" anchor="ctr">
            <a:noAutofit/>
          </a:bodyPr>
          <a:lstStyle/>
          <a:p>
            <a:pPr algn="ctr">
              <a:lnSpc>
                <a:spcPct val="118000"/>
              </a:lnSpc>
            </a:pPr>
            <a:r>
              <a:rPr lang="ko-KR" sz="1800" b="1" dirty="0">
                <a:solidFill>
                  <a:schemeClr val="accent1">
                    <a:lumMod val="50000"/>
                  </a:schemeClr>
                </a:solidFill>
                <a:latin typeface="Pretendard"/>
                <a:ea typeface="Pretendard"/>
                <a:cs typeface="Pretendard"/>
              </a:rPr>
              <a:t>37.3%  </a:t>
            </a:r>
            <a:r>
              <a:rPr lang="ko-KR" sz="1800" b="1" dirty="0">
                <a:solidFill>
                  <a:schemeClr val="accent2">
                    <a:lumMod val="75000"/>
                  </a:schemeClr>
                </a:solidFill>
                <a:latin typeface="Pretendard"/>
                <a:ea typeface="Pretendard"/>
                <a:cs typeface="Pretendard"/>
              </a:rPr>
              <a:t>→  30.2%</a:t>
            </a:r>
          </a:p>
        </p:txBody>
      </p:sp>
      <p:sp>
        <p:nvSpPr>
          <p:cNvPr id="21" name="pd1"/>
          <p:cNvSpPr txBox="1"/>
          <p:nvPr/>
        </p:nvSpPr>
        <p:spPr>
          <a:xfrm>
            <a:off x="4398264" y="3364992"/>
            <a:ext cx="3392424" cy="402336"/>
          </a:xfrm>
          <a:prstGeom prst="rect">
            <a:avLst/>
          </a:prstGeom>
          <a:noFill/>
        </p:spPr>
        <p:txBody>
          <a:bodyPr wrap="square" lIns="0" tIns="27432" rIns="0" bIns="27432" anchor="ctr">
            <a:noAutofit/>
          </a:bodyPr>
          <a:lstStyle/>
          <a:p>
            <a:pPr algn="ctr">
              <a:lnSpc>
                <a:spcPct val="118000"/>
              </a:lnSpc>
            </a:pPr>
            <a:r>
              <a:rPr lang="ko-KR" sz="1200" b="0" dirty="0">
                <a:solidFill>
                  <a:srgbClr val="464D5C"/>
                </a:solidFill>
                <a:latin typeface="Pretendard"/>
                <a:ea typeface="Pretendard"/>
                <a:cs typeface="Pretendard"/>
              </a:rPr>
              <a:t>모든 범죄에 동일하게 적용한다.</a:t>
            </a:r>
          </a:p>
        </p:txBody>
      </p:sp>
      <p:sp>
        <p:nvSpPr>
          <p:cNvPr id="22" name="pn2"/>
          <p:cNvSpPr txBox="1"/>
          <p:nvPr/>
        </p:nvSpPr>
        <p:spPr>
          <a:xfrm>
            <a:off x="8065008" y="2468880"/>
            <a:ext cx="3392424" cy="365760"/>
          </a:xfrm>
          <a:prstGeom prst="rect">
            <a:avLst/>
          </a:prstGeom>
          <a:noFill/>
        </p:spPr>
        <p:txBody>
          <a:bodyPr wrap="square" lIns="0" tIns="27432" rIns="0" bIns="27432" anchor="ctr">
            <a:noAutofit/>
          </a:bodyPr>
          <a:lstStyle/>
          <a:p>
            <a:pPr algn="ctr">
              <a:lnSpc>
                <a:spcPct val="118000"/>
              </a:lnSpc>
            </a:pPr>
            <a:r>
              <a:rPr lang="ko-KR" sz="1350" b="1" dirty="0">
                <a:solidFill>
                  <a:srgbClr val="1E2761"/>
                </a:solidFill>
                <a:latin typeface="Pretendard"/>
                <a:ea typeface="Pretendard"/>
                <a:cs typeface="Pretendard"/>
              </a:rPr>
              <a:t>현행 유지</a:t>
            </a:r>
          </a:p>
        </p:txBody>
      </p:sp>
      <p:sp>
        <p:nvSpPr>
          <p:cNvPr id="23" name="pv2"/>
          <p:cNvSpPr txBox="1"/>
          <p:nvPr/>
        </p:nvSpPr>
        <p:spPr>
          <a:xfrm>
            <a:off x="8065008" y="2852928"/>
            <a:ext cx="3392424" cy="475488"/>
          </a:xfrm>
          <a:prstGeom prst="rect">
            <a:avLst/>
          </a:prstGeom>
          <a:noFill/>
        </p:spPr>
        <p:txBody>
          <a:bodyPr wrap="square" lIns="0" tIns="27432" rIns="0" bIns="27432" anchor="ctr">
            <a:noAutofit/>
          </a:bodyPr>
          <a:lstStyle/>
          <a:p>
            <a:pPr algn="ctr">
              <a:lnSpc>
                <a:spcPct val="118000"/>
              </a:lnSpc>
            </a:pPr>
            <a:r>
              <a:rPr lang="ko-KR" sz="1800" b="1" dirty="0">
                <a:solidFill>
                  <a:schemeClr val="accent1">
                    <a:lumMod val="50000"/>
                  </a:schemeClr>
                </a:solidFill>
                <a:latin typeface="Pretendard"/>
                <a:ea typeface="Pretendard"/>
                <a:cs typeface="Pretendard"/>
              </a:rPr>
              <a:t>5.7%  </a:t>
            </a:r>
            <a:r>
              <a:rPr lang="ko-KR" sz="1800" b="1" dirty="0">
                <a:solidFill>
                  <a:schemeClr val="accent6">
                    <a:lumMod val="75000"/>
                  </a:schemeClr>
                </a:solidFill>
                <a:latin typeface="Pretendard"/>
                <a:ea typeface="Pretendard"/>
                <a:cs typeface="Pretendard"/>
              </a:rPr>
              <a:t>→  17.0%</a:t>
            </a:r>
          </a:p>
        </p:txBody>
      </p:sp>
      <p:sp>
        <p:nvSpPr>
          <p:cNvPr id="24" name="pd2"/>
          <p:cNvSpPr txBox="1"/>
          <p:nvPr/>
        </p:nvSpPr>
        <p:spPr>
          <a:xfrm>
            <a:off x="8065008" y="3364992"/>
            <a:ext cx="3392424" cy="402336"/>
          </a:xfrm>
          <a:prstGeom prst="rect">
            <a:avLst/>
          </a:prstGeom>
          <a:noFill/>
        </p:spPr>
        <p:txBody>
          <a:bodyPr wrap="square" lIns="0" tIns="27432" rIns="0" bIns="27432" anchor="ctr">
            <a:noAutofit/>
          </a:bodyPr>
          <a:lstStyle/>
          <a:p>
            <a:pPr algn="ctr">
              <a:lnSpc>
                <a:spcPct val="118000"/>
              </a:lnSpc>
            </a:pPr>
            <a:r>
              <a:rPr lang="ko-KR" sz="1200" b="0" dirty="0">
                <a:solidFill>
                  <a:srgbClr val="464D5C"/>
                </a:solidFill>
                <a:latin typeface="Pretendard"/>
                <a:ea typeface="Pretendard"/>
                <a:cs typeface="Pretendard"/>
              </a:rPr>
              <a:t>14세 기준을 유지한다.</a:t>
            </a:r>
          </a:p>
        </p:txBody>
      </p:sp>
      <p:sp>
        <p:nvSpPr>
          <p:cNvPr id="25" name="pex"/>
          <p:cNvSpPr txBox="1"/>
          <p:nvPr/>
        </p:nvSpPr>
        <p:spPr>
          <a:xfrm>
            <a:off x="731520" y="3858768"/>
            <a:ext cx="10725912" cy="310896"/>
          </a:xfrm>
          <a:prstGeom prst="rect">
            <a:avLst/>
          </a:prstGeom>
          <a:noFill/>
        </p:spPr>
        <p:txBody>
          <a:bodyPr wrap="square" lIns="0" tIns="27432" rIns="0" bIns="27432" anchor="ctr">
            <a:noAutofit/>
          </a:bodyPr>
          <a:lstStyle/>
          <a:p>
            <a:pPr algn="ctr">
              <a:lnSpc>
                <a:spcPct val="118000"/>
              </a:lnSpc>
            </a:pPr>
            <a:r>
              <a:rPr lang="ko-KR" sz="1200" b="0" dirty="0">
                <a:solidFill>
                  <a:srgbClr val="464D5C"/>
                </a:solidFill>
                <a:latin typeface="Pretendard"/>
                <a:ea typeface="Pretendard"/>
                <a:cs typeface="Pretendard"/>
              </a:rPr>
              <a:t>판단하기 어려움 1.9% → 1.9% / 무응답 8.5% → 3.3%</a:t>
            </a:r>
          </a:p>
        </p:txBody>
      </p:sp>
      <p:sp>
        <p:nvSpPr>
          <p:cNvPr id="26" name="line26"/>
          <p:cNvSpPr/>
          <p:nvPr/>
        </p:nvSpPr>
        <p:spPr>
          <a:xfrm>
            <a:off x="731520" y="4261104"/>
            <a:ext cx="10725912" cy="0"/>
          </a:xfrm>
          <a:prstGeom prst="line">
            <a:avLst/>
          </a:prstGeom>
          <a:ln w="9525">
            <a:solidFill>
              <a:srgbClr val="DCE0E8"/>
            </a:solidFill>
          </a:ln>
        </p:spPr>
        <p:txBody>
          <a:bodyPr/>
          <a:lstStyle/>
          <a:p>
            <a:endParaRPr/>
          </a:p>
        </p:txBody>
      </p:sp>
      <p:sp>
        <p:nvSpPr>
          <p:cNvPr id="27" name="qh0"/>
          <p:cNvSpPr txBox="1"/>
          <p:nvPr/>
        </p:nvSpPr>
        <p:spPr>
          <a:xfrm>
            <a:off x="1658620" y="4369054"/>
            <a:ext cx="2240280" cy="697256"/>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자료</a:t>
            </a:r>
          </a:p>
        </p:txBody>
      </p:sp>
      <p:sp>
        <p:nvSpPr>
          <p:cNvPr id="28" name="qb0"/>
          <p:cNvSpPr txBox="1"/>
          <p:nvPr/>
        </p:nvSpPr>
        <p:spPr>
          <a:xfrm>
            <a:off x="3154680" y="4369054"/>
            <a:ext cx="8302752" cy="697256"/>
          </a:xfrm>
          <a:prstGeom prst="rect">
            <a:avLst/>
          </a:prstGeom>
          <a:noFill/>
        </p:spPr>
        <p:txBody>
          <a:bodyPr wrap="square" lIns="0" tIns="27432" rIns="0" bIns="27432" anchor="ctr">
            <a:noAutofit/>
          </a:bodyPr>
          <a:lstStyle/>
          <a:p>
            <a:pPr algn="l">
              <a:lnSpc>
                <a:spcPct val="118000"/>
              </a:lnSpc>
            </a:pPr>
            <a:r>
              <a:rPr lang="ko-KR" sz="1250" b="1" dirty="0">
                <a:solidFill>
                  <a:srgbClr val="222633"/>
                </a:solidFill>
                <a:latin typeface="Pretendard"/>
                <a:ea typeface="Pretendard"/>
                <a:cs typeface="Pretendard"/>
              </a:rPr>
              <a:t>시민참여단 212명의 동일 문항에 대한 숙의 전·후 집계다.</a:t>
            </a:r>
          </a:p>
        </p:txBody>
      </p:sp>
      <p:sp>
        <p:nvSpPr>
          <p:cNvPr id="29" name="line29"/>
          <p:cNvSpPr/>
          <p:nvPr/>
        </p:nvSpPr>
        <p:spPr>
          <a:xfrm>
            <a:off x="731520" y="5212360"/>
            <a:ext cx="10725912" cy="0"/>
          </a:xfrm>
          <a:prstGeom prst="line">
            <a:avLst/>
          </a:prstGeom>
          <a:ln w="9525">
            <a:solidFill>
              <a:srgbClr val="DCE0E8"/>
            </a:solidFill>
          </a:ln>
        </p:spPr>
        <p:txBody>
          <a:bodyPr/>
          <a:lstStyle/>
          <a:p>
            <a:endParaRPr/>
          </a:p>
        </p:txBody>
      </p:sp>
      <p:sp>
        <p:nvSpPr>
          <p:cNvPr id="30" name="qh1"/>
          <p:cNvSpPr txBox="1"/>
          <p:nvPr/>
        </p:nvSpPr>
        <p:spPr>
          <a:xfrm>
            <a:off x="1658620" y="5142510"/>
            <a:ext cx="2240280" cy="1003527"/>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결론</a:t>
            </a:r>
          </a:p>
        </p:txBody>
      </p:sp>
      <p:sp>
        <p:nvSpPr>
          <p:cNvPr id="31" name="qb1"/>
          <p:cNvSpPr txBox="1"/>
          <p:nvPr/>
        </p:nvSpPr>
        <p:spPr>
          <a:xfrm>
            <a:off x="3154680" y="5142510"/>
            <a:ext cx="8302752" cy="1003527"/>
          </a:xfrm>
          <a:prstGeom prst="rect">
            <a:avLst/>
          </a:prstGeom>
          <a:noFill/>
        </p:spPr>
        <p:txBody>
          <a:bodyPr wrap="square" lIns="0" tIns="27432" rIns="0" bIns="27432" anchor="ctr">
            <a:noAutofit/>
          </a:bodyPr>
          <a:lstStyle/>
          <a:p>
            <a:pPr algn="l">
              <a:lnSpc>
                <a:spcPct val="125000"/>
              </a:lnSpc>
            </a:pPr>
            <a:r>
              <a:rPr lang="ko-KR" sz="1250" b="1" dirty="0">
                <a:solidFill>
                  <a:srgbClr val="222633"/>
                </a:solidFill>
                <a:latin typeface="Pretendard"/>
                <a:ea typeface="Pretendard"/>
                <a:cs typeface="Pretendard"/>
              </a:rPr>
              <a:t>숙의 뒤에도 조건부 하향이 가장 큰 범주였지만, 현행 유지 응답은 증가하고 일괄 하향 응답은 감소했다.</a:t>
            </a:r>
          </a:p>
        </p:txBody>
      </p:sp>
      <p:sp>
        <p:nvSpPr>
          <p:cNvPr id="32" name="line32"/>
          <p:cNvSpPr/>
          <p:nvPr/>
        </p:nvSpPr>
        <p:spPr>
          <a:xfrm>
            <a:off x="731520" y="6144768"/>
            <a:ext cx="10725912" cy="0"/>
          </a:xfrm>
          <a:prstGeom prst="line">
            <a:avLst/>
          </a:prstGeom>
          <a:ln w="19050">
            <a:solidFill>
              <a:srgbClr val="1E2761"/>
            </a:solidFill>
          </a:ln>
        </p:spPr>
        <p:txBody>
          <a:bodyPr/>
          <a:lstStyle/>
          <a:p>
            <a:endParaRPr/>
          </a:p>
        </p:txBody>
      </p:sp>
      <p:sp>
        <p:nvSpPr>
          <p:cNvPr id="33"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성평등가족부(2026.7.14.) · 시민참여단 212명 · 발표 표기값 기준(항목 합계는 100%와 다름)</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공론화와 세 정책대안</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sz="1050" b="0">
                <a:solidFill>
                  <a:srgbClr val="6E7686"/>
                </a:solidFill>
                <a:latin typeface="Pretendard"/>
              </a:rPr>
              <a:t>다음 → 공론화 논의 결과</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nSpc>
                <a:spcPct val="118000"/>
              </a:lnSpc>
            </a:pPr>
            <a:r>
              <a:rPr lang="en-US" altLang="ko-KR" sz="2750" b="1" dirty="0">
                <a:solidFill>
                  <a:srgbClr val="1E2761"/>
                </a:solidFill>
                <a:latin typeface="Pretendard"/>
                <a:ea typeface="Pretendard"/>
                <a:cs typeface="Pretendard"/>
              </a:rPr>
              <a:t>2026 </a:t>
            </a:r>
            <a:r>
              <a:rPr lang="ko-KR" altLang="en-US" sz="2750" b="1" dirty="0">
                <a:solidFill>
                  <a:srgbClr val="1E2761"/>
                </a:solidFill>
                <a:latin typeface="Pretendard"/>
                <a:ea typeface="Pretendard"/>
                <a:cs typeface="Pretendard"/>
              </a:rPr>
              <a:t>「</a:t>
            </a:r>
            <a:r>
              <a:rPr lang="ko-KR" altLang="en-US" sz="2750" b="1" dirty="0" err="1">
                <a:solidFill>
                  <a:srgbClr val="1E2761"/>
                </a:solidFill>
                <a:latin typeface="Pretendard"/>
                <a:ea typeface="Pretendard"/>
                <a:cs typeface="Pretendard"/>
              </a:rPr>
              <a:t>촉법소년</a:t>
            </a:r>
            <a:r>
              <a:rPr lang="ko-KR" altLang="en-US" sz="2750" b="1" dirty="0">
                <a:solidFill>
                  <a:srgbClr val="1E2761"/>
                </a:solidFill>
                <a:latin typeface="Pretendard"/>
                <a:ea typeface="Pretendard"/>
                <a:cs typeface="Pretendard"/>
              </a:rPr>
              <a:t> 연령 기준」 공론화 </a:t>
            </a:r>
            <a:r>
              <a:rPr lang="ko-KR" altLang="en-US" sz="2750" b="1" dirty="0" err="1">
                <a:solidFill>
                  <a:srgbClr val="1E2761"/>
                </a:solidFill>
                <a:latin typeface="Pretendard"/>
                <a:ea typeface="Pretendard"/>
                <a:cs typeface="Pretendard"/>
              </a:rPr>
              <a:t>ㅡ</a:t>
            </a:r>
            <a:r>
              <a:rPr lang="ko-KR" altLang="en-US" sz="2750" b="1" dirty="0">
                <a:solidFill>
                  <a:srgbClr val="1E2761"/>
                </a:solidFill>
                <a:latin typeface="Pretendard"/>
                <a:ea typeface="Pretendard"/>
                <a:cs typeface="Pretendard"/>
              </a:rPr>
              <a:t> </a:t>
            </a:r>
            <a:r>
              <a:rPr sz="2750" b="1" dirty="0" err="1">
                <a:solidFill>
                  <a:srgbClr val="1E2761"/>
                </a:solidFill>
                <a:latin typeface="Pretendard"/>
              </a:rPr>
              <a:t>숙의</a:t>
            </a:r>
            <a:r>
              <a:rPr sz="2750" b="1" dirty="0">
                <a:solidFill>
                  <a:srgbClr val="1E2761"/>
                </a:solidFill>
                <a:latin typeface="Pretendard"/>
              </a:rPr>
              <a:t> </a:t>
            </a:r>
            <a:r>
              <a:rPr sz="2750" b="1" dirty="0" err="1">
                <a:solidFill>
                  <a:srgbClr val="1E2761"/>
                </a:solidFill>
                <a:latin typeface="Pretendard"/>
              </a:rPr>
              <a:t>전후</a:t>
            </a:r>
            <a:r>
              <a:rPr sz="2750" b="1" dirty="0">
                <a:solidFill>
                  <a:srgbClr val="1E2761"/>
                </a:solidFill>
                <a:latin typeface="Pretendard"/>
              </a:rPr>
              <a:t>, </a:t>
            </a:r>
            <a:r>
              <a:rPr sz="2750" b="1" dirty="0" err="1">
                <a:solidFill>
                  <a:srgbClr val="1E2761"/>
                </a:solidFill>
                <a:latin typeface="Pretendard"/>
              </a:rPr>
              <a:t>무엇이</a:t>
            </a:r>
            <a:r>
              <a:rPr sz="2750" b="1" dirty="0">
                <a:solidFill>
                  <a:srgbClr val="1E2761"/>
                </a:solidFill>
                <a:latin typeface="Pretendard"/>
              </a:rPr>
              <a:t> </a:t>
            </a:r>
            <a:r>
              <a:rPr sz="2750" b="1" dirty="0" err="1">
                <a:solidFill>
                  <a:srgbClr val="1E2761"/>
                </a:solidFill>
                <a:latin typeface="Pretendard"/>
              </a:rPr>
              <a:t>달라졌나</a:t>
            </a:r>
            <a:endParaRPr sz="2750" b="1" dirty="0">
              <a:solidFill>
                <a:srgbClr val="1E2761"/>
              </a:solidFill>
              <a:latin typeface="Pretendard"/>
            </a:endParaRP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숙의 뒤에는 예방지원의 중요성에 대한 인식과 제도 지식은 높아지고, 촉법소년 범죄가 과거보다 중대해졌다는 인식은 낮아졌다.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pn0"/>
          <p:cNvSpPr txBox="1"/>
          <p:nvPr/>
        </p:nvSpPr>
        <p:spPr>
          <a:xfrm>
            <a:off x="731520" y="2665730"/>
            <a:ext cx="3392424" cy="365760"/>
          </a:xfrm>
          <a:prstGeom prst="rect">
            <a:avLst/>
          </a:prstGeom>
          <a:noFill/>
        </p:spPr>
        <p:txBody>
          <a:bodyPr wrap="square" lIns="0" tIns="27432" rIns="0" bIns="27432" anchor="ctr">
            <a:noAutofit/>
          </a:bodyPr>
          <a:lstStyle/>
          <a:p>
            <a:pPr algn="ctr">
              <a:lnSpc>
                <a:spcPct val="118000"/>
              </a:lnSpc>
            </a:pPr>
            <a:r>
              <a:rPr sz="1350" b="1">
                <a:solidFill>
                  <a:srgbClr val="1E2761"/>
                </a:solidFill>
                <a:latin typeface="Pretendard"/>
              </a:rPr>
              <a:t>예방지원 우선</a:t>
            </a:r>
          </a:p>
        </p:txBody>
      </p:sp>
      <p:sp>
        <p:nvSpPr>
          <p:cNvPr id="17" name="pv0"/>
          <p:cNvSpPr txBox="1"/>
          <p:nvPr/>
        </p:nvSpPr>
        <p:spPr>
          <a:xfrm>
            <a:off x="731520" y="3049778"/>
            <a:ext cx="3392424" cy="475488"/>
          </a:xfrm>
          <a:prstGeom prst="rect">
            <a:avLst/>
          </a:prstGeom>
          <a:noFill/>
        </p:spPr>
        <p:txBody>
          <a:bodyPr wrap="square" lIns="0" tIns="27432" rIns="0" bIns="27432" anchor="ctr">
            <a:noAutofit/>
          </a:bodyPr>
          <a:lstStyle/>
          <a:p>
            <a:pPr algn="ctr">
              <a:lnSpc>
                <a:spcPct val="118000"/>
              </a:lnSpc>
            </a:pPr>
            <a:r>
              <a:rPr sz="1800" b="1" dirty="0">
                <a:solidFill>
                  <a:srgbClr val="002060"/>
                </a:solidFill>
                <a:latin typeface="Pretendard"/>
              </a:rPr>
              <a:t>3.7점  →  </a:t>
            </a:r>
            <a:r>
              <a:rPr sz="1800" b="1" dirty="0">
                <a:solidFill>
                  <a:schemeClr val="accent6">
                    <a:lumMod val="75000"/>
                  </a:schemeClr>
                </a:solidFill>
                <a:latin typeface="Pretendard"/>
              </a:rPr>
              <a:t>4.2점</a:t>
            </a:r>
          </a:p>
        </p:txBody>
      </p:sp>
      <p:sp>
        <p:nvSpPr>
          <p:cNvPr id="18" name="pd0"/>
          <p:cNvSpPr txBox="1"/>
          <p:nvPr/>
        </p:nvSpPr>
        <p:spPr>
          <a:xfrm>
            <a:off x="731520" y="3561842"/>
            <a:ext cx="3392424" cy="402336"/>
          </a:xfrm>
          <a:prstGeom prst="rect">
            <a:avLst/>
          </a:prstGeom>
          <a:noFill/>
        </p:spPr>
        <p:txBody>
          <a:bodyPr wrap="square" lIns="0" tIns="27432" rIns="0" bIns="27432" anchor="ctr">
            <a:noAutofit/>
          </a:bodyPr>
          <a:lstStyle/>
          <a:p>
            <a:pPr algn="ctr">
              <a:lnSpc>
                <a:spcPct val="118000"/>
              </a:lnSpc>
            </a:pPr>
            <a:r>
              <a:rPr sz="1200" b="0">
                <a:solidFill>
                  <a:srgbClr val="464D5C"/>
                </a:solidFill>
                <a:latin typeface="Pretendard"/>
              </a:rPr>
              <a:t>처벌보다 범죄예방 지원책이 우선되어야 한다는 인식</a:t>
            </a:r>
          </a:p>
        </p:txBody>
      </p:sp>
      <p:sp>
        <p:nvSpPr>
          <p:cNvPr id="19" name="pn1"/>
          <p:cNvSpPr txBox="1"/>
          <p:nvPr/>
        </p:nvSpPr>
        <p:spPr>
          <a:xfrm>
            <a:off x="4398264" y="2665730"/>
            <a:ext cx="3392424" cy="365760"/>
          </a:xfrm>
          <a:prstGeom prst="rect">
            <a:avLst/>
          </a:prstGeom>
          <a:noFill/>
        </p:spPr>
        <p:txBody>
          <a:bodyPr wrap="square" lIns="0" tIns="27432" rIns="0" bIns="27432" anchor="ctr">
            <a:noAutofit/>
          </a:bodyPr>
          <a:lstStyle/>
          <a:p>
            <a:pPr algn="ctr">
              <a:lnSpc>
                <a:spcPct val="118000"/>
              </a:lnSpc>
            </a:pPr>
            <a:r>
              <a:rPr sz="1350" b="1">
                <a:solidFill>
                  <a:srgbClr val="1E2761"/>
                </a:solidFill>
                <a:latin typeface="Pretendard"/>
              </a:rPr>
              <a:t>중대범죄 증가 인식</a:t>
            </a:r>
          </a:p>
        </p:txBody>
      </p:sp>
      <p:sp>
        <p:nvSpPr>
          <p:cNvPr id="20" name="pv1"/>
          <p:cNvSpPr txBox="1"/>
          <p:nvPr/>
        </p:nvSpPr>
        <p:spPr>
          <a:xfrm>
            <a:off x="4398264" y="3049778"/>
            <a:ext cx="3392424" cy="475488"/>
          </a:xfrm>
          <a:prstGeom prst="rect">
            <a:avLst/>
          </a:prstGeom>
          <a:noFill/>
        </p:spPr>
        <p:txBody>
          <a:bodyPr wrap="square" lIns="0" tIns="27432" rIns="0" bIns="27432" anchor="ctr">
            <a:noAutofit/>
          </a:bodyPr>
          <a:lstStyle/>
          <a:p>
            <a:pPr algn="ctr">
              <a:lnSpc>
                <a:spcPct val="118000"/>
              </a:lnSpc>
            </a:pPr>
            <a:r>
              <a:rPr sz="1800" b="1" dirty="0">
                <a:solidFill>
                  <a:srgbClr val="002060"/>
                </a:solidFill>
                <a:latin typeface="Pretendard"/>
              </a:rPr>
              <a:t>4.2점  →  </a:t>
            </a:r>
            <a:r>
              <a:rPr sz="1800" b="1" dirty="0">
                <a:solidFill>
                  <a:schemeClr val="accent2">
                    <a:lumMod val="75000"/>
                  </a:schemeClr>
                </a:solidFill>
                <a:latin typeface="Pretendard"/>
              </a:rPr>
              <a:t>3.9점</a:t>
            </a:r>
          </a:p>
        </p:txBody>
      </p:sp>
      <p:sp>
        <p:nvSpPr>
          <p:cNvPr id="21" name="pd1"/>
          <p:cNvSpPr txBox="1"/>
          <p:nvPr/>
        </p:nvSpPr>
        <p:spPr>
          <a:xfrm>
            <a:off x="4398264" y="3561842"/>
            <a:ext cx="3392424" cy="402336"/>
          </a:xfrm>
          <a:prstGeom prst="rect">
            <a:avLst/>
          </a:prstGeom>
          <a:noFill/>
        </p:spPr>
        <p:txBody>
          <a:bodyPr wrap="square" lIns="0" tIns="27432" rIns="0" bIns="27432" anchor="ctr">
            <a:noAutofit/>
          </a:bodyPr>
          <a:lstStyle/>
          <a:p>
            <a:pPr algn="ctr">
              <a:lnSpc>
                <a:spcPct val="118000"/>
              </a:lnSpc>
            </a:pPr>
            <a:r>
              <a:rPr sz="1200" b="0">
                <a:solidFill>
                  <a:srgbClr val="464D5C"/>
                </a:solidFill>
                <a:latin typeface="Pretendard"/>
              </a:rPr>
              <a:t>과거보다 촉법소년이 중대한 범죄를 저지른다는 인식</a:t>
            </a:r>
          </a:p>
        </p:txBody>
      </p:sp>
      <p:sp>
        <p:nvSpPr>
          <p:cNvPr id="22" name="pn2"/>
          <p:cNvSpPr txBox="1"/>
          <p:nvPr/>
        </p:nvSpPr>
        <p:spPr>
          <a:xfrm>
            <a:off x="8065008" y="2665730"/>
            <a:ext cx="3392424" cy="365760"/>
          </a:xfrm>
          <a:prstGeom prst="rect">
            <a:avLst/>
          </a:prstGeom>
          <a:noFill/>
        </p:spPr>
        <p:txBody>
          <a:bodyPr wrap="square" lIns="0" tIns="27432" rIns="0" bIns="27432" anchor="ctr">
            <a:noAutofit/>
          </a:bodyPr>
          <a:lstStyle/>
          <a:p>
            <a:pPr algn="ctr">
              <a:lnSpc>
                <a:spcPct val="118000"/>
              </a:lnSpc>
            </a:pPr>
            <a:r>
              <a:rPr sz="1350" b="1">
                <a:solidFill>
                  <a:srgbClr val="1E2761"/>
                </a:solidFill>
                <a:latin typeface="Pretendard"/>
              </a:rPr>
              <a:t>제도 지식</a:t>
            </a:r>
          </a:p>
        </p:txBody>
      </p:sp>
      <p:sp>
        <p:nvSpPr>
          <p:cNvPr id="23" name="pv2"/>
          <p:cNvSpPr txBox="1"/>
          <p:nvPr/>
        </p:nvSpPr>
        <p:spPr>
          <a:xfrm>
            <a:off x="8065008" y="3049778"/>
            <a:ext cx="3392424" cy="475488"/>
          </a:xfrm>
          <a:prstGeom prst="rect">
            <a:avLst/>
          </a:prstGeom>
          <a:noFill/>
        </p:spPr>
        <p:txBody>
          <a:bodyPr wrap="square" lIns="0" tIns="27432" rIns="0" bIns="27432" anchor="ctr">
            <a:noAutofit/>
          </a:bodyPr>
          <a:lstStyle/>
          <a:p>
            <a:pPr algn="ctr">
              <a:lnSpc>
                <a:spcPct val="118000"/>
              </a:lnSpc>
            </a:pPr>
            <a:r>
              <a:rPr sz="1800" b="1" dirty="0">
                <a:solidFill>
                  <a:srgbClr val="002060"/>
                </a:solidFill>
                <a:latin typeface="Pretendard"/>
              </a:rPr>
              <a:t>5.5점  →  </a:t>
            </a:r>
            <a:r>
              <a:rPr sz="1800" b="1" dirty="0">
                <a:solidFill>
                  <a:schemeClr val="accent6">
                    <a:lumMod val="75000"/>
                  </a:schemeClr>
                </a:solidFill>
                <a:latin typeface="Pretendard"/>
              </a:rPr>
              <a:t>6.3점</a:t>
            </a:r>
          </a:p>
        </p:txBody>
      </p:sp>
      <p:sp>
        <p:nvSpPr>
          <p:cNvPr id="24" name="pd2"/>
          <p:cNvSpPr txBox="1"/>
          <p:nvPr/>
        </p:nvSpPr>
        <p:spPr>
          <a:xfrm>
            <a:off x="8065008" y="3561842"/>
            <a:ext cx="3392424" cy="402336"/>
          </a:xfrm>
          <a:prstGeom prst="rect">
            <a:avLst/>
          </a:prstGeom>
          <a:noFill/>
        </p:spPr>
        <p:txBody>
          <a:bodyPr wrap="square" lIns="0" tIns="27432" rIns="0" bIns="27432" anchor="ctr">
            <a:noAutofit/>
          </a:bodyPr>
          <a:lstStyle/>
          <a:p>
            <a:pPr algn="ctr">
              <a:lnSpc>
                <a:spcPct val="118000"/>
              </a:lnSpc>
            </a:pPr>
            <a:r>
              <a:rPr sz="1200" b="0">
                <a:solidFill>
                  <a:srgbClr val="464D5C"/>
                </a:solidFill>
                <a:latin typeface="Pretendard"/>
              </a:rPr>
              <a:t>형사미성년자·소년보호절차 관련 지식 7문항 평균</a:t>
            </a:r>
          </a:p>
        </p:txBody>
      </p:sp>
      <p:sp>
        <p:nvSpPr>
          <p:cNvPr id="26" name="line26"/>
          <p:cNvSpPr/>
          <p:nvPr/>
        </p:nvSpPr>
        <p:spPr>
          <a:xfrm>
            <a:off x="731520" y="4261104"/>
            <a:ext cx="10725912" cy="0"/>
          </a:xfrm>
          <a:prstGeom prst="line">
            <a:avLst/>
          </a:prstGeom>
          <a:ln w="9525">
            <a:solidFill>
              <a:srgbClr val="DCE0E8"/>
            </a:solidFill>
          </a:ln>
        </p:spPr>
        <p:txBody>
          <a:bodyPr/>
          <a:lstStyle/>
          <a:p>
            <a:endParaRPr/>
          </a:p>
        </p:txBody>
      </p:sp>
      <p:sp>
        <p:nvSpPr>
          <p:cNvPr id="27" name="qh0"/>
          <p:cNvSpPr txBox="1"/>
          <p:nvPr/>
        </p:nvSpPr>
        <p:spPr>
          <a:xfrm>
            <a:off x="1658620" y="4369054"/>
            <a:ext cx="2240280" cy="697256"/>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자료</a:t>
            </a:r>
          </a:p>
        </p:txBody>
      </p:sp>
      <p:sp>
        <p:nvSpPr>
          <p:cNvPr id="28" name="qb0"/>
          <p:cNvSpPr txBox="1"/>
          <p:nvPr/>
        </p:nvSpPr>
        <p:spPr>
          <a:xfrm>
            <a:off x="3154680" y="4369054"/>
            <a:ext cx="8302752" cy="697256"/>
          </a:xfrm>
          <a:prstGeom prst="rect">
            <a:avLst/>
          </a:prstGeom>
          <a:noFill/>
        </p:spPr>
        <p:txBody>
          <a:bodyPr wrap="square" lIns="0" tIns="27432" rIns="0" bIns="27432" anchor="ctr">
            <a:noAutofit/>
          </a:bodyPr>
          <a:lstStyle/>
          <a:p>
            <a:pPr algn="l">
              <a:lnSpc>
                <a:spcPct val="118000"/>
              </a:lnSpc>
            </a:pPr>
            <a:r>
              <a:rPr sz="1250" b="1">
                <a:solidFill>
                  <a:srgbClr val="222633"/>
                </a:solidFill>
                <a:latin typeface="Pretendard"/>
              </a:rPr>
              <a:t>시민참여단 212명의 숙의 전·후 조사에서 공개된 인식·지식 변화다.</a:t>
            </a:r>
          </a:p>
        </p:txBody>
      </p:sp>
      <p:sp>
        <p:nvSpPr>
          <p:cNvPr id="29" name="line29"/>
          <p:cNvSpPr/>
          <p:nvPr/>
        </p:nvSpPr>
        <p:spPr>
          <a:xfrm>
            <a:off x="731520" y="5212360"/>
            <a:ext cx="10725912" cy="0"/>
          </a:xfrm>
          <a:prstGeom prst="line">
            <a:avLst/>
          </a:prstGeom>
          <a:ln w="9525">
            <a:solidFill>
              <a:srgbClr val="DCE0E8"/>
            </a:solidFill>
          </a:ln>
        </p:spPr>
        <p:txBody>
          <a:bodyPr/>
          <a:lstStyle/>
          <a:p>
            <a:endParaRPr/>
          </a:p>
        </p:txBody>
      </p:sp>
      <p:sp>
        <p:nvSpPr>
          <p:cNvPr id="30" name="qh1"/>
          <p:cNvSpPr txBox="1"/>
          <p:nvPr/>
        </p:nvSpPr>
        <p:spPr>
          <a:xfrm>
            <a:off x="1658620" y="5142510"/>
            <a:ext cx="2240280" cy="1003527"/>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결론</a:t>
            </a:r>
          </a:p>
        </p:txBody>
      </p:sp>
      <p:sp>
        <p:nvSpPr>
          <p:cNvPr id="31" name="qb1"/>
          <p:cNvSpPr txBox="1"/>
          <p:nvPr/>
        </p:nvSpPr>
        <p:spPr>
          <a:xfrm>
            <a:off x="3154680" y="5142510"/>
            <a:ext cx="8302752" cy="1003527"/>
          </a:xfrm>
          <a:prstGeom prst="rect">
            <a:avLst/>
          </a:prstGeom>
          <a:noFill/>
        </p:spPr>
        <p:txBody>
          <a:bodyPr wrap="square" lIns="0" tIns="27432" rIns="0" bIns="27432" anchor="ctr">
            <a:noAutofit/>
          </a:bodyPr>
          <a:lstStyle/>
          <a:p>
            <a:pPr algn="l">
              <a:lnSpc>
                <a:spcPct val="125000"/>
              </a:lnSpc>
            </a:pP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숙의</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후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예방지원</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점수</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는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높아졌고</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촉법소년</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범죄가</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과거보다</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중대해졌다는</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인식</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점수는</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낮아졌다</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p>
          <a:p>
            <a:pPr algn="l">
              <a:lnSpc>
                <a:spcPct val="125000"/>
              </a:lnSpc>
            </a:pP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공개된</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집단</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평균의</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전후</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변화이며</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개인별</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정책</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선택의</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이동이나</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숙의만의</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인과효과를</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보여주는</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것은</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아니다</a:t>
            </a:r>
            <a:r>
              <a:rPr sz="1250"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p>
        </p:txBody>
      </p:sp>
      <p:sp>
        <p:nvSpPr>
          <p:cNvPr id="32" name="line32"/>
          <p:cNvSpPr/>
          <p:nvPr/>
        </p:nvSpPr>
        <p:spPr>
          <a:xfrm>
            <a:off x="731520" y="6144768"/>
            <a:ext cx="10725912" cy="0"/>
          </a:xfrm>
          <a:prstGeom prst="line">
            <a:avLst/>
          </a:prstGeom>
          <a:ln w="19050">
            <a:solidFill>
              <a:srgbClr val="1E2761"/>
            </a:solidFill>
          </a:ln>
        </p:spPr>
        <p:txBody>
          <a:bodyPr/>
          <a:lstStyle/>
          <a:p>
            <a:endParaRPr/>
          </a:p>
        </p:txBody>
      </p:sp>
      <p:sp>
        <p:nvSpPr>
          <p:cNvPr id="33"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sz="1050" b="0">
                <a:solidFill>
                  <a:srgbClr val="6E7686"/>
                </a:solidFill>
                <a:latin typeface="Pretendard"/>
              </a:rPr>
              <a:t>성평등가족부(2026.7.14.) 공론화 결과 발표 · 시민참여단 숙의 전후 조사</a:t>
            </a:r>
          </a:p>
        </p:txBody>
      </p:sp>
      <p:sp>
        <p:nvSpPr>
          <p:cNvPr id="2" name="직사각형 1">
            <a:extLst>
              <a:ext uri="{FF2B5EF4-FFF2-40B4-BE49-F238E27FC236}">
                <a16:creationId xmlns:a16="http://schemas.microsoft.com/office/drawing/2014/main" id="{4444E11D-5AF3-219D-7AEB-355BB02DBE34}"/>
              </a:ext>
            </a:extLst>
          </p:cNvPr>
          <p:cNvSpPr/>
          <p:nvPr/>
        </p:nvSpPr>
        <p:spPr>
          <a:xfrm>
            <a:off x="731520" y="2665730"/>
            <a:ext cx="7059168" cy="1281939"/>
          </a:xfrm>
          <a:prstGeom prst="rect">
            <a:avLst/>
          </a:prstGeom>
          <a:no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05570-86E3-F3A6-E5AA-A2E31C799EE4}"/>
            </a:ext>
          </a:extLst>
        </p:cNvPr>
        <p:cNvGrpSpPr/>
        <p:nvPr/>
      </p:nvGrpSpPr>
      <p:grpSpPr>
        <a:xfrm>
          <a:off x="0" y="0"/>
          <a:ext cx="0" cy="0"/>
          <a:chOff x="0" y="0"/>
          <a:chExt cx="0" cy="0"/>
        </a:xfrm>
      </p:grpSpPr>
      <p:sp>
        <p:nvSpPr>
          <p:cNvPr id="125" name="Text">
            <a:extLst>
              <a:ext uri="{FF2B5EF4-FFF2-40B4-BE49-F238E27FC236}">
                <a16:creationId xmlns:a16="http://schemas.microsoft.com/office/drawing/2014/main" id="{7146EF6F-2EF1-582A-1881-6BDF1E1CB086}"/>
              </a:ext>
            </a:extLst>
          </p:cNvPr>
          <p:cNvSpPr>
            <a:spLocks noGrp="1"/>
          </p:cNvSpPr>
          <p:nvPr/>
        </p:nvSpPr>
        <p:spPr>
          <a:xfrm>
            <a:off x="731520" y="365760"/>
            <a:ext cx="6675120" cy="292608"/>
          </a:xfrm>
          <a:prstGeom prst="rect">
            <a:avLst/>
          </a:prstGeom>
          <a:noFill/>
        </p:spPr>
        <p:txBody>
          <a:bodyPr wrap="square" lIns="0" tIns="0" rIns="0" bIns="0" anchor="ctr"/>
          <a:lstStyle/>
          <a:p>
            <a:pPr marL="0" indent="0">
              <a:lnSpc>
                <a:spcPct val="118000"/>
              </a:lnSpc>
              <a:buNone/>
            </a:pPr>
            <a:r>
              <a:rPr sz="1300" b="1">
                <a:solidFill>
                  <a:srgbClr val="464D5C"/>
                </a:solidFill>
                <a:latin typeface="Pretendard"/>
              </a:rPr>
              <a:t>공론화와 세 정책대안</a:t>
            </a:r>
            <a:endParaRPr/>
          </a:p>
        </p:txBody>
      </p:sp>
      <p:sp>
        <p:nvSpPr>
          <p:cNvPr id="126" name="Text">
            <a:extLst>
              <a:ext uri="{FF2B5EF4-FFF2-40B4-BE49-F238E27FC236}">
                <a16:creationId xmlns:a16="http://schemas.microsoft.com/office/drawing/2014/main" id="{D93947DA-073C-2D04-C4B8-9F6DD4C02405}"/>
              </a:ext>
            </a:extLst>
          </p:cNvPr>
          <p:cNvSpPr>
            <a:spLocks noGrp="1"/>
          </p:cNvSpPr>
          <p:nvPr/>
        </p:nvSpPr>
        <p:spPr>
          <a:xfrm>
            <a:off x="731520" y="640080"/>
            <a:ext cx="10972800" cy="640080"/>
          </a:xfrm>
          <a:prstGeom prst="rect">
            <a:avLst/>
          </a:prstGeom>
          <a:noFill/>
        </p:spPr>
        <p:txBody>
          <a:bodyPr wrap="square" lIns="0" tIns="0" rIns="0" bIns="0" anchor="ctr"/>
          <a:lstStyle/>
          <a:p>
            <a:r>
              <a:rPr lang="en-US" altLang="ko-KR" sz="2750" b="1" dirty="0">
                <a:solidFill>
                  <a:srgbClr val="1E2761"/>
                </a:solidFill>
                <a:latin typeface="Pretendard"/>
                <a:ea typeface="Pretendard"/>
                <a:cs typeface="Pretendard"/>
              </a:rPr>
              <a:t>2026 </a:t>
            </a:r>
            <a:r>
              <a:rPr lang="ko-KR" altLang="en-US" sz="2750" b="1" dirty="0">
                <a:solidFill>
                  <a:srgbClr val="1E2761"/>
                </a:solidFill>
                <a:latin typeface="Pretendard"/>
                <a:ea typeface="Pretendard"/>
                <a:cs typeface="Pretendard"/>
              </a:rPr>
              <a:t>「</a:t>
            </a:r>
            <a:r>
              <a:rPr lang="ko-KR" altLang="en-US" sz="2750" b="1" dirty="0" err="1">
                <a:solidFill>
                  <a:srgbClr val="1E2761"/>
                </a:solidFill>
                <a:latin typeface="Pretendard"/>
                <a:ea typeface="Pretendard"/>
                <a:cs typeface="Pretendard"/>
              </a:rPr>
              <a:t>촉법소년</a:t>
            </a:r>
            <a:r>
              <a:rPr lang="ko-KR" altLang="en-US" sz="2750" b="1" dirty="0">
                <a:solidFill>
                  <a:srgbClr val="1E2761"/>
                </a:solidFill>
                <a:latin typeface="Pretendard"/>
                <a:ea typeface="Pretendard"/>
                <a:cs typeface="Pretendard"/>
              </a:rPr>
              <a:t> 연령 기준」 공론화 </a:t>
            </a:r>
            <a:r>
              <a:rPr lang="ko-KR" altLang="en-US" sz="2750" b="1" dirty="0" err="1">
                <a:solidFill>
                  <a:srgbClr val="1E2761"/>
                </a:solidFill>
                <a:latin typeface="Pretendard"/>
                <a:ea typeface="Pretendard"/>
                <a:cs typeface="Pretendard"/>
              </a:rPr>
              <a:t>ㅡ</a:t>
            </a:r>
            <a:r>
              <a:rPr lang="ko-KR" altLang="en-US" sz="2750" b="1" dirty="0">
                <a:solidFill>
                  <a:srgbClr val="1E2761"/>
                </a:solidFill>
                <a:latin typeface="Pretendard"/>
                <a:ea typeface="Pretendard"/>
                <a:cs typeface="Pretendard"/>
              </a:rPr>
              <a:t> </a:t>
            </a:r>
            <a:r>
              <a:rPr lang="ko-KR" altLang="en-US" sz="2750" b="1" dirty="0">
                <a:solidFill>
                  <a:srgbClr val="1E2761"/>
                </a:solidFill>
                <a:latin typeface="Pretendard"/>
              </a:rPr>
              <a:t>논의 결과</a:t>
            </a:r>
            <a:endParaRPr sz="2750" b="1" dirty="0">
              <a:solidFill>
                <a:srgbClr val="1E2761"/>
              </a:solidFill>
              <a:latin typeface="Pretendard"/>
              <a:ea typeface="Pretendard"/>
              <a:cs typeface="Pretendard"/>
            </a:endParaRPr>
          </a:p>
        </p:txBody>
      </p:sp>
      <p:sp>
        <p:nvSpPr>
          <p:cNvPr id="127" name="Shape">
            <a:extLst>
              <a:ext uri="{FF2B5EF4-FFF2-40B4-BE49-F238E27FC236}">
                <a16:creationId xmlns:a16="http://schemas.microsoft.com/office/drawing/2014/main" id="{0768692A-7E6E-018D-F3B0-34D6E039B5E6}"/>
              </a:ext>
            </a:extLst>
          </p:cNvPr>
          <p:cNvSpPr>
            <a:spLocks noGrp="1"/>
          </p:cNvSpPr>
          <p:nvPr/>
        </p:nvSpPr>
        <p:spPr>
          <a:xfrm>
            <a:off x="731520" y="1417320"/>
            <a:ext cx="10698480" cy="548640"/>
          </a:xfrm>
          <a:prstGeom prst="rect">
            <a:avLst/>
          </a:prstGeom>
          <a:solidFill>
            <a:srgbClr val="F2F4F8"/>
          </a:solidFill>
        </p:spPr>
        <p:txBody>
          <a:bodyPr/>
          <a:lstStyle/>
          <a:p>
            <a:endParaRPr/>
          </a:p>
        </p:txBody>
      </p:sp>
      <p:sp>
        <p:nvSpPr>
          <p:cNvPr id="128" name="Text">
            <a:extLst>
              <a:ext uri="{FF2B5EF4-FFF2-40B4-BE49-F238E27FC236}">
                <a16:creationId xmlns:a16="http://schemas.microsoft.com/office/drawing/2014/main" id="{B4AD2E57-E239-5136-3D03-F29CF1020B74}"/>
              </a:ext>
            </a:extLst>
          </p:cNvPr>
          <p:cNvSpPr>
            <a:spLocks noGrp="1"/>
          </p:cNvSpPr>
          <p:nvPr/>
        </p:nvSpPr>
        <p:spPr>
          <a:xfrm>
            <a:off x="1005840" y="1408748"/>
            <a:ext cx="10149840" cy="548640"/>
          </a:xfrm>
          <a:prstGeom prst="rect">
            <a:avLst/>
          </a:prstGeom>
          <a:noFill/>
        </p:spPr>
        <p:txBody>
          <a:bodyPr wrap="square" lIns="0" tIns="0" rIns="0" bIns="0" anchor="ctr">
            <a:noAutofit/>
          </a:bodyPr>
          <a:lstStyle/>
          <a:p>
            <a:pPr>
              <a:lnSpc>
                <a:spcPct val="118000"/>
              </a:lnSpc>
            </a:pPr>
            <a:r>
              <a:rPr lang="ko-KR" altLang="en-US" sz="1300" b="1" dirty="0">
                <a:solidFill>
                  <a:srgbClr val="1E2761"/>
                </a:solidFill>
                <a:latin typeface="Pretendard"/>
                <a:ea typeface="Pretendard"/>
                <a:cs typeface="Pretendard"/>
              </a:rPr>
              <a:t>시민참여단은 조건부 하향을 가장 많이 선택했고, 협의체는 연령 하향의 신중 검토와 소년사법 개선을 함께 권고했다</a:t>
            </a:r>
            <a:endParaRPr sz="1300" b="1" dirty="0">
              <a:solidFill>
                <a:srgbClr val="1E2761"/>
              </a:solidFill>
              <a:latin typeface="Pretendard"/>
              <a:ea typeface="Pretendard"/>
              <a:cs typeface="Pretendard"/>
            </a:endParaRPr>
          </a:p>
        </p:txBody>
      </p:sp>
      <p:sp>
        <p:nvSpPr>
          <p:cNvPr id="145" name="Text">
            <a:extLst>
              <a:ext uri="{FF2B5EF4-FFF2-40B4-BE49-F238E27FC236}">
                <a16:creationId xmlns:a16="http://schemas.microsoft.com/office/drawing/2014/main" id="{FADED83C-3DF1-58F0-1D5D-90FE292EBA42}"/>
              </a:ext>
            </a:extLst>
          </p:cNvPr>
          <p:cNvSpPr>
            <a:spLocks noGrp="1"/>
          </p:cNvSpPr>
          <p:nvPr/>
        </p:nvSpPr>
        <p:spPr>
          <a:xfrm>
            <a:off x="731520" y="6438900"/>
            <a:ext cx="10698480" cy="304800"/>
          </a:xfrm>
          <a:prstGeom prst="rect">
            <a:avLst/>
          </a:prstGeom>
          <a:noFill/>
        </p:spPr>
        <p:txBody>
          <a:bodyPr wrap="square" lIns="0" tIns="0" rIns="0" bIns="0" anchor="ctr">
            <a:noAutofit/>
          </a:bodyPr>
          <a:lstStyle/>
          <a:p>
            <a:pPr marL="0" indent="0">
              <a:lnSpc>
                <a:spcPct val="118000"/>
              </a:lnSpc>
              <a:buNone/>
            </a:pPr>
            <a:r>
              <a:rPr sz="1050" b="0">
                <a:solidFill>
                  <a:srgbClr val="6E7686"/>
                </a:solidFill>
                <a:latin typeface="Pretendard"/>
                <a:ea typeface="Pretendard"/>
                <a:cs typeface="Pretendard"/>
              </a:rPr>
              <a:t>성평등가족부 2026.7.14. 공론화 결과 발표 · 시민참여단 / 협의체 / 부처 보고 구별</a:t>
            </a:r>
          </a:p>
        </p:txBody>
      </p:sp>
      <p:sp>
        <p:nvSpPr>
          <p:cNvPr id="146" name="NEXT">
            <a:extLst>
              <a:ext uri="{FF2B5EF4-FFF2-40B4-BE49-F238E27FC236}">
                <a16:creationId xmlns:a16="http://schemas.microsoft.com/office/drawing/2014/main" id="{337755A7-5D16-783D-5CCA-1931CFDDC8B4}"/>
              </a:ext>
            </a:extLst>
          </p:cNvPr>
          <p:cNvSpPr>
            <a:spLocks noGrp="1"/>
          </p:cNvSpPr>
          <p:nvPr/>
        </p:nvSpPr>
        <p:spPr>
          <a:xfrm>
            <a:off x="7616952" y="365760"/>
            <a:ext cx="3840480" cy="292608"/>
          </a:xfrm>
          <a:prstGeom prst="rect">
            <a:avLst/>
          </a:prstGeom>
          <a:noFill/>
        </p:spPr>
        <p:txBody>
          <a:bodyPr wrap="square" lIns="0" tIns="0" rIns="0" bIns="0" anchor="ctr">
            <a:noAutofit/>
          </a:bodyPr>
          <a:lstStyle/>
          <a:p>
            <a:pPr marL="0" indent="0" algn="r">
              <a:lnSpc>
                <a:spcPct val="118000"/>
              </a:lnSpc>
              <a:buNone/>
            </a:pPr>
            <a:r>
              <a:rPr sz="1100" b="0">
                <a:solidFill>
                  <a:srgbClr val="6E7686"/>
                </a:solidFill>
                <a:latin typeface="Pretendard"/>
              </a:rPr>
              <a:t>다음 → 세 정책대안</a:t>
            </a:r>
          </a:p>
        </p:txBody>
      </p:sp>
      <p:sp>
        <p:nvSpPr>
          <p:cNvPr id="753" name="k">
            <a:extLst>
              <a:ext uri="{FF2B5EF4-FFF2-40B4-BE49-F238E27FC236}">
                <a16:creationId xmlns:a16="http://schemas.microsoft.com/office/drawing/2014/main" id="{795D9DFC-1659-94E5-C427-6239D4922366}"/>
              </a:ext>
            </a:extLst>
          </p:cNvPr>
          <p:cNvSpPr>
            <a:spLocks noGrp="1"/>
          </p:cNvSpPr>
          <p:nvPr/>
        </p:nvSpPr>
        <p:spPr>
          <a:xfrm>
            <a:off x="1445260" y="2478088"/>
            <a:ext cx="758190" cy="647700"/>
          </a:xfrm>
          <a:prstGeom prst="rect">
            <a:avLst/>
          </a:prstGeom>
          <a:noFill/>
        </p:spPr>
        <p:txBody>
          <a:bodyPr wrap="square" lIns="0" tIns="0" rIns="0" bIns="0" anchor="ctr">
            <a:noAutofit/>
          </a:bodyPr>
          <a:lstStyle/>
          <a:p>
            <a:pPr marL="0" indent="0" algn="l">
              <a:lnSpc>
                <a:spcPct val="118000"/>
              </a:lnSpc>
              <a:buNone/>
            </a:pPr>
            <a:r>
              <a:rPr lang="ko-KR" altLang="en-US" sz="1300" b="1" dirty="0">
                <a:solidFill>
                  <a:srgbClr val="1E2761"/>
                </a:solidFill>
                <a:latin typeface="Pretendard"/>
                <a:ea typeface="Pretendard"/>
                <a:cs typeface="Pretendard"/>
              </a:rPr>
              <a:t>시민참여단</a:t>
            </a:r>
            <a:endParaRPr sz="1300" b="1" dirty="0">
              <a:solidFill>
                <a:srgbClr val="1E2761"/>
              </a:solidFill>
              <a:latin typeface="Pretendard"/>
              <a:ea typeface="Pretendard"/>
              <a:cs typeface="Pretendard"/>
            </a:endParaRPr>
          </a:p>
        </p:txBody>
      </p:sp>
      <p:sp>
        <p:nvSpPr>
          <p:cNvPr id="755" name="k">
            <a:extLst>
              <a:ext uri="{FF2B5EF4-FFF2-40B4-BE49-F238E27FC236}">
                <a16:creationId xmlns:a16="http://schemas.microsoft.com/office/drawing/2014/main" id="{8797AD3B-54D8-CECE-4CF5-8944B89BA6C8}"/>
              </a:ext>
            </a:extLst>
          </p:cNvPr>
          <p:cNvSpPr>
            <a:spLocks noGrp="1"/>
          </p:cNvSpPr>
          <p:nvPr/>
        </p:nvSpPr>
        <p:spPr>
          <a:xfrm>
            <a:off x="1219200" y="3686176"/>
            <a:ext cx="1276349" cy="647700"/>
          </a:xfrm>
          <a:prstGeom prst="rect">
            <a:avLst/>
          </a:prstGeom>
          <a:noFill/>
        </p:spPr>
        <p:txBody>
          <a:bodyPr wrap="square" lIns="0" tIns="0" rIns="0" bIns="0" anchor="ctr">
            <a:noAutofit/>
          </a:bodyPr>
          <a:lstStyle/>
          <a:p>
            <a:pPr marL="0" indent="0" algn="l">
              <a:lnSpc>
                <a:spcPct val="118000"/>
              </a:lnSpc>
              <a:buNone/>
            </a:pPr>
            <a:r>
              <a:rPr lang="ko-KR" altLang="en-US" sz="1300" b="1" dirty="0">
                <a:solidFill>
                  <a:srgbClr val="1E2761"/>
                </a:solidFill>
                <a:latin typeface="Pretendard"/>
                <a:ea typeface="Pretendard"/>
                <a:cs typeface="Pretendard"/>
              </a:rPr>
              <a:t>사회적 대화협의체</a:t>
            </a:r>
            <a:endParaRPr sz="1300" b="1" dirty="0">
              <a:solidFill>
                <a:srgbClr val="1E2761"/>
              </a:solidFill>
              <a:latin typeface="Pretendard"/>
              <a:ea typeface="Pretendard"/>
              <a:cs typeface="Pretendard"/>
            </a:endParaRPr>
          </a:p>
        </p:txBody>
      </p:sp>
      <p:sp>
        <p:nvSpPr>
          <p:cNvPr id="757" name="k">
            <a:extLst>
              <a:ext uri="{FF2B5EF4-FFF2-40B4-BE49-F238E27FC236}">
                <a16:creationId xmlns:a16="http://schemas.microsoft.com/office/drawing/2014/main" id="{3D3B5DD3-EE92-F293-D684-25443EEF62A2}"/>
              </a:ext>
            </a:extLst>
          </p:cNvPr>
          <p:cNvSpPr>
            <a:spLocks noGrp="1"/>
          </p:cNvSpPr>
          <p:nvPr/>
        </p:nvSpPr>
        <p:spPr>
          <a:xfrm>
            <a:off x="1632902" y="4792213"/>
            <a:ext cx="325755" cy="432945"/>
          </a:xfrm>
          <a:prstGeom prst="rect">
            <a:avLst/>
          </a:prstGeom>
          <a:noFill/>
        </p:spPr>
        <p:txBody>
          <a:bodyPr wrap="square" lIns="0" tIns="0" rIns="0" bIns="0" anchor="ctr">
            <a:noAutofit/>
          </a:bodyPr>
          <a:lstStyle/>
          <a:p>
            <a:pPr marL="0" indent="0" algn="l">
              <a:lnSpc>
                <a:spcPct val="118000"/>
              </a:lnSpc>
              <a:buNone/>
            </a:pPr>
            <a:r>
              <a:rPr lang="ko-KR" altLang="en-US" sz="1300" b="1">
                <a:solidFill>
                  <a:srgbClr val="1E2761"/>
                </a:solidFill>
                <a:latin typeface="Pretendard"/>
                <a:ea typeface="Pretendard"/>
                <a:cs typeface="Pretendard"/>
              </a:rPr>
              <a:t>정부</a:t>
            </a:r>
            <a:endParaRPr sz="1300" b="1" dirty="0">
              <a:solidFill>
                <a:srgbClr val="1E2761"/>
              </a:solidFill>
              <a:latin typeface="Pretendard"/>
              <a:ea typeface="Pretendard"/>
              <a:cs typeface="Pretendard"/>
            </a:endParaRPr>
          </a:p>
        </p:txBody>
      </p:sp>
      <p:sp>
        <p:nvSpPr>
          <p:cNvPr id="30160" name="V17_RULE">
            <a:extLst>
              <a:ext uri="{FF2B5EF4-FFF2-40B4-BE49-F238E27FC236}">
                <a16:creationId xmlns:a16="http://schemas.microsoft.com/office/drawing/2014/main" id="{A5EFFAFC-AE1E-2FE5-2FFF-A507BF2D1553}"/>
              </a:ext>
            </a:extLst>
          </p:cNvPr>
          <p:cNvSpPr>
            <a:spLocks noGrp="1"/>
          </p:cNvSpPr>
          <p:nvPr/>
        </p:nvSpPr>
        <p:spPr>
          <a:xfrm>
            <a:off x="731519" y="3330573"/>
            <a:ext cx="10725912" cy="0"/>
          </a:xfrm>
          <a:prstGeom prst="line">
            <a:avLst/>
          </a:prstGeom>
          <a:ln w="9525">
            <a:solidFill>
              <a:srgbClr val="DCE0E8"/>
            </a:solidFill>
          </a:ln>
        </p:spPr>
        <p:style>
          <a:lnRef idx="0">
            <a:scrgbClr r="0" g="0" b="0"/>
          </a:lnRef>
          <a:fillRef idx="0">
            <a:scrgbClr r="0" g="0" b="0"/>
          </a:fillRef>
          <a:effectRef idx="0">
            <a:scrgbClr r="0" g="0" b="0"/>
          </a:effectRef>
          <a:fontRef idx="minor"/>
        </p:style>
        <p:txBody>
          <a:bodyPr lIns="90000" tIns="-44640" rIns="90000" bIns="-44640" anchor="ctr">
            <a:noAutofit/>
          </a:bodyPr>
          <a:lstStyle/>
          <a:p>
            <a:endParaRPr sz="1800" b="0" u="none">
              <a:solidFill>
                <a:srgbClr val="000000"/>
              </a:solidFill>
              <a:latin typeface="Pretendard"/>
              <a:ea typeface="Pretendard"/>
              <a:cs typeface="Pretendard"/>
            </a:endParaRPr>
          </a:p>
        </p:txBody>
      </p:sp>
      <p:sp>
        <p:nvSpPr>
          <p:cNvPr id="30161" name="V17_RULE">
            <a:extLst>
              <a:ext uri="{FF2B5EF4-FFF2-40B4-BE49-F238E27FC236}">
                <a16:creationId xmlns:a16="http://schemas.microsoft.com/office/drawing/2014/main" id="{B27FD42D-C445-5AA8-447E-A060907069AF}"/>
              </a:ext>
            </a:extLst>
          </p:cNvPr>
          <p:cNvSpPr>
            <a:spLocks noGrp="1"/>
          </p:cNvSpPr>
          <p:nvPr/>
        </p:nvSpPr>
        <p:spPr>
          <a:xfrm>
            <a:off x="731519" y="4524375"/>
            <a:ext cx="10778259" cy="0"/>
          </a:xfrm>
          <a:prstGeom prst="line">
            <a:avLst/>
          </a:prstGeom>
          <a:ln w="9525">
            <a:solidFill>
              <a:srgbClr val="DCE0E8"/>
            </a:solidFill>
          </a:ln>
        </p:spPr>
        <p:style>
          <a:lnRef idx="0">
            <a:scrgbClr r="0" g="0" b="0"/>
          </a:lnRef>
          <a:fillRef idx="0">
            <a:scrgbClr r="0" g="0" b="0"/>
          </a:fillRef>
          <a:effectRef idx="0">
            <a:scrgbClr r="0" g="0" b="0"/>
          </a:effectRef>
          <a:fontRef idx="minor"/>
        </p:style>
        <p:txBody>
          <a:bodyPr lIns="90000" tIns="-44640" rIns="90000" bIns="-44640" anchor="ctr">
            <a:noAutofit/>
          </a:bodyPr>
          <a:lstStyle/>
          <a:p>
            <a:endParaRPr sz="1800" b="0" u="none" dirty="0">
              <a:solidFill>
                <a:srgbClr val="000000"/>
              </a:solidFill>
              <a:latin typeface="Pretendard"/>
              <a:ea typeface="Pretendard"/>
              <a:cs typeface="Pretendard"/>
            </a:endParaRPr>
          </a:p>
        </p:txBody>
      </p:sp>
      <p:sp>
        <p:nvSpPr>
          <p:cNvPr id="30162" name="V17_RULE">
            <a:extLst>
              <a:ext uri="{FF2B5EF4-FFF2-40B4-BE49-F238E27FC236}">
                <a16:creationId xmlns:a16="http://schemas.microsoft.com/office/drawing/2014/main" id="{D3355DEE-CD53-8A99-EC41-7C5D380D2851}"/>
              </a:ext>
            </a:extLst>
          </p:cNvPr>
          <p:cNvSpPr>
            <a:spLocks noGrp="1"/>
          </p:cNvSpPr>
          <p:nvPr/>
        </p:nvSpPr>
        <p:spPr>
          <a:xfrm>
            <a:off x="731519" y="5505450"/>
            <a:ext cx="10778259" cy="0"/>
          </a:xfrm>
          <a:prstGeom prst="line">
            <a:avLst/>
          </a:prstGeom>
          <a:ln w="9525">
            <a:solidFill>
              <a:srgbClr val="DCE0E8"/>
            </a:solidFill>
          </a:ln>
        </p:spPr>
        <p:style>
          <a:lnRef idx="0">
            <a:scrgbClr r="0" g="0" b="0"/>
          </a:lnRef>
          <a:fillRef idx="0">
            <a:scrgbClr r="0" g="0" b="0"/>
          </a:fillRef>
          <a:effectRef idx="0">
            <a:scrgbClr r="0" g="0" b="0"/>
          </a:effectRef>
          <a:fontRef idx="minor"/>
        </p:style>
        <p:txBody>
          <a:bodyPr lIns="90000" tIns="-44640" rIns="90000" bIns="-44640" anchor="ctr">
            <a:noAutofit/>
          </a:bodyPr>
          <a:lstStyle/>
          <a:p>
            <a:endParaRPr sz="1800" b="0" u="none">
              <a:solidFill>
                <a:srgbClr val="000000"/>
              </a:solidFill>
              <a:latin typeface="Pretendard"/>
              <a:ea typeface="Pretendard"/>
              <a:cs typeface="Pretendard"/>
            </a:endParaRPr>
          </a:p>
        </p:txBody>
      </p:sp>
      <p:sp>
        <p:nvSpPr>
          <p:cNvPr id="40011" name="V19_SECTION_RULE">
            <a:extLst>
              <a:ext uri="{FF2B5EF4-FFF2-40B4-BE49-F238E27FC236}">
                <a16:creationId xmlns:a16="http://schemas.microsoft.com/office/drawing/2014/main" id="{53C165DD-6C45-A0E5-7666-2ABC47F956C7}"/>
              </a:ext>
            </a:extLst>
          </p:cNvPr>
          <p:cNvSpPr>
            <a:spLocks noGrp="1"/>
          </p:cNvSpPr>
          <p:nvPr/>
        </p:nvSpPr>
        <p:spPr>
          <a:xfrm>
            <a:off x="731520" y="2181225"/>
            <a:ext cx="10698480" cy="0"/>
          </a:xfrm>
          <a:prstGeom prst="line">
            <a:avLst/>
          </a:prstGeom>
          <a:ln w="19050">
            <a:solidFill>
              <a:srgbClr val="1E2761"/>
            </a:solidFill>
          </a:ln>
        </p:spPr>
        <p:style>
          <a:lnRef idx="0">
            <a:scrgbClr r="0" g="0" b="0"/>
          </a:lnRef>
          <a:fillRef idx="0">
            <a:scrgbClr r="0" g="0" b="0"/>
          </a:fillRef>
          <a:effectRef idx="0">
            <a:scrgbClr r="0" g="0" b="0"/>
          </a:effectRef>
          <a:fontRef idx="minor"/>
        </p:style>
        <p:txBody>
          <a:bodyPr lIns="90000" tIns="-44640" rIns="90000" bIns="-44640" anchor="ctr">
            <a:noAutofit/>
          </a:bodyPr>
          <a:lstStyle/>
          <a:p>
            <a:endParaRPr sz="1800" b="0" u="none">
              <a:solidFill>
                <a:srgbClr val="000000"/>
              </a:solidFill>
              <a:latin typeface="Pretendard"/>
              <a:ea typeface="Pretendard"/>
              <a:cs typeface="Pretendard"/>
            </a:endParaRPr>
          </a:p>
        </p:txBody>
      </p:sp>
      <p:sp>
        <p:nvSpPr>
          <p:cNvPr id="7" name="V19_SECTION_RULE">
            <a:extLst>
              <a:ext uri="{FF2B5EF4-FFF2-40B4-BE49-F238E27FC236}">
                <a16:creationId xmlns:a16="http://schemas.microsoft.com/office/drawing/2014/main" id="{B64AE6A4-6EA9-D683-5171-6713DA2A4A78}"/>
              </a:ext>
            </a:extLst>
          </p:cNvPr>
          <p:cNvSpPr>
            <a:spLocks noGrp="1"/>
          </p:cNvSpPr>
          <p:nvPr/>
        </p:nvSpPr>
        <p:spPr>
          <a:xfrm>
            <a:off x="731519" y="6365875"/>
            <a:ext cx="10698480" cy="0"/>
          </a:xfrm>
          <a:prstGeom prst="line">
            <a:avLst/>
          </a:prstGeom>
          <a:ln w="19050">
            <a:solidFill>
              <a:srgbClr val="1E2761"/>
            </a:solidFill>
          </a:ln>
        </p:spPr>
        <p:style>
          <a:lnRef idx="0">
            <a:scrgbClr r="0" g="0" b="0"/>
          </a:lnRef>
          <a:fillRef idx="0">
            <a:scrgbClr r="0" g="0" b="0"/>
          </a:fillRef>
          <a:effectRef idx="0">
            <a:scrgbClr r="0" g="0" b="0"/>
          </a:effectRef>
          <a:fontRef idx="minor"/>
        </p:style>
        <p:txBody>
          <a:bodyPr lIns="90000" tIns="-44640" rIns="90000" bIns="-44640" anchor="ctr">
            <a:noAutofit/>
          </a:bodyPr>
          <a:lstStyle/>
          <a:p>
            <a:endParaRPr sz="1800" b="0" u="none">
              <a:solidFill>
                <a:srgbClr val="000000"/>
              </a:solidFill>
              <a:latin typeface="Pretendard"/>
              <a:ea typeface="Pretendard"/>
              <a:cs typeface="Pretendard"/>
            </a:endParaRPr>
          </a:p>
        </p:txBody>
      </p:sp>
      <p:sp>
        <p:nvSpPr>
          <p:cNvPr id="3" name="v">
            <a:extLst>
              <a:ext uri="{FF2B5EF4-FFF2-40B4-BE49-F238E27FC236}">
                <a16:creationId xmlns:a16="http://schemas.microsoft.com/office/drawing/2014/main" id="{0D0CE16A-0CF8-E77D-F995-65AA90F1E8DC}"/>
              </a:ext>
            </a:extLst>
          </p:cNvPr>
          <p:cNvSpPr>
            <a:spLocks noGrp="1"/>
          </p:cNvSpPr>
          <p:nvPr/>
        </p:nvSpPr>
        <p:spPr>
          <a:xfrm>
            <a:off x="3003552" y="2238376"/>
            <a:ext cx="8826498" cy="1089023"/>
          </a:xfrm>
          <a:prstGeom prst="rect">
            <a:avLst/>
          </a:prstGeom>
          <a:noFill/>
        </p:spPr>
        <p:txBody>
          <a:bodyPr wrap="square" lIns="0" tIns="0" rIns="0" bIns="0" anchor="ctr">
            <a:noAutofit/>
          </a:bodyPr>
          <a:lstStyle/>
          <a:p>
            <a:pPr>
              <a:lnSpc>
                <a:spcPct val="150000"/>
              </a:lnSpc>
            </a:pPr>
            <a:r>
              <a:rPr lang="ko-KR" altLang="en-US" sz="1250" b="1" dirty="0">
                <a:latin typeface="Pretendard" panose="02000503000000020004" pitchFamily="2" charset="-127"/>
                <a:ea typeface="Pretendard" panose="02000503000000020004" pitchFamily="2" charset="-127"/>
                <a:cs typeface="Pretendard" panose="02000503000000020004" pitchFamily="2" charset="-127"/>
              </a:rPr>
              <a:t>조건부 하향이 가장 큰 범주였다.</a:t>
            </a:r>
            <a:endParaRPr sz="1250" b="1" dirty="0">
              <a:latin typeface="Pretendard" panose="02000503000000020004" pitchFamily="2" charset="-127"/>
              <a:ea typeface="Pretendard" panose="02000503000000020004" pitchFamily="2" charset="-127"/>
              <a:cs typeface="Pretendard" panose="02000503000000020004" pitchFamily="2" charset="-127"/>
            </a:endParaRPr>
          </a:p>
          <a:p>
            <a:pPr>
              <a:lnSpc>
                <a:spcPct val="150000"/>
              </a:lnSpc>
            </a:pPr>
            <a:r>
              <a:rPr lang="ko-KR" altLang="en-US" sz="1250" b="1" dirty="0">
                <a:latin typeface="Pretendard" panose="02000503000000020004" pitchFamily="2" charset="-127"/>
                <a:ea typeface="Pretendard" panose="02000503000000020004" pitchFamily="2" charset="-127"/>
                <a:cs typeface="Pretendard" panose="02000503000000020004" pitchFamily="2" charset="-127"/>
              </a:rPr>
              <a:t>하향을 지지한 응답자 가운데 14세 미만에서 13세 미만으로 한 살 낮추는 안의 선택이 가장 많았다.</a:t>
            </a:r>
            <a:endParaRPr sz="1250" b="1"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4" name="v">
            <a:extLst>
              <a:ext uri="{FF2B5EF4-FFF2-40B4-BE49-F238E27FC236}">
                <a16:creationId xmlns:a16="http://schemas.microsoft.com/office/drawing/2014/main" id="{3FB3BD54-8D13-CF87-6674-0AE21B836FF8}"/>
              </a:ext>
            </a:extLst>
          </p:cNvPr>
          <p:cNvSpPr>
            <a:spLocks noGrp="1"/>
          </p:cNvSpPr>
          <p:nvPr/>
        </p:nvSpPr>
        <p:spPr>
          <a:xfrm>
            <a:off x="3003550" y="3427857"/>
            <a:ext cx="8826499" cy="1068895"/>
          </a:xfrm>
          <a:prstGeom prst="rect">
            <a:avLst/>
          </a:prstGeom>
          <a:noFill/>
        </p:spPr>
        <p:txBody>
          <a:bodyPr wrap="square" lIns="0" tIns="0" rIns="0" bIns="0" anchor="ctr">
            <a:noAutofit/>
          </a:bodyPr>
          <a:lstStyle/>
          <a:p>
            <a:pPr>
              <a:lnSpc>
                <a:spcPct val="150000"/>
              </a:lnSpc>
            </a:pPr>
            <a:r>
              <a:rPr lang="ko-KR" altLang="en-US" sz="1250" b="1" dirty="0">
                <a:solidFill>
                  <a:sysClr val="windowText" lastClr="000000"/>
                </a:solidFill>
                <a:latin typeface="Pretendard"/>
                <a:ea typeface="Pretendard"/>
                <a:cs typeface="Pretendard"/>
              </a:rPr>
              <a:t>연령 하향의 효과·통계·발달·국제기준·보호교화 인프라를 종합해 연령 하향 여부와 범위를 신중히 검토할 필요가 있다고 보았다.</a:t>
            </a:r>
            <a:endParaRPr lang="en-US" altLang="ko-KR" sz="1250" b="1" dirty="0">
              <a:solidFill>
                <a:sysClr val="windowText" lastClr="000000"/>
              </a:solidFill>
              <a:latin typeface="Pretendard"/>
              <a:ea typeface="Pretendard"/>
              <a:cs typeface="Pretendard"/>
            </a:endParaRPr>
          </a:p>
          <a:p>
            <a:pPr>
              <a:lnSpc>
                <a:spcPct val="150000"/>
              </a:lnSpc>
            </a:pPr>
            <a:r>
              <a:rPr lang="ko-KR" altLang="en-US" sz="1250" dirty="0">
                <a:solidFill>
                  <a:srgbClr val="222633"/>
                </a:solidFill>
                <a:latin typeface="Pretendard"/>
                <a:ea typeface="Pretendard"/>
                <a:cs typeface="Pretendard"/>
              </a:rPr>
              <a:t>동시에 소년사법 5대 개선과제를 제시했다. ① 경찰 초기대응 개선 ② 보호처분 내실화 ③ 시설·전문인력 확충 ④ 피해자 권리·회복지원 강화 ⑤ 범정부 예방·지역사회 연계체계 구축</a:t>
            </a:r>
            <a:endParaRPr lang="en-US" altLang="ko-KR" sz="1250" dirty="0">
              <a:solidFill>
                <a:srgbClr val="222633"/>
              </a:solidFill>
              <a:latin typeface="Pretendard"/>
              <a:ea typeface="Pretendard"/>
              <a:cs typeface="Pretendard"/>
            </a:endParaRPr>
          </a:p>
        </p:txBody>
      </p:sp>
      <p:sp>
        <p:nvSpPr>
          <p:cNvPr id="5" name="v">
            <a:extLst>
              <a:ext uri="{FF2B5EF4-FFF2-40B4-BE49-F238E27FC236}">
                <a16:creationId xmlns:a16="http://schemas.microsoft.com/office/drawing/2014/main" id="{F1B567FE-86A2-1B3F-971B-02706F636C3B}"/>
              </a:ext>
            </a:extLst>
          </p:cNvPr>
          <p:cNvSpPr>
            <a:spLocks noGrp="1"/>
          </p:cNvSpPr>
          <p:nvPr/>
        </p:nvSpPr>
        <p:spPr>
          <a:xfrm>
            <a:off x="3003552" y="4568826"/>
            <a:ext cx="8426448" cy="856616"/>
          </a:xfrm>
          <a:prstGeom prst="rect">
            <a:avLst/>
          </a:prstGeom>
          <a:noFill/>
        </p:spPr>
        <p:txBody>
          <a:bodyPr wrap="square" lIns="0" tIns="0" rIns="0" bIns="0" anchor="ctr">
            <a:noAutofit/>
          </a:bodyPr>
          <a:lstStyle/>
          <a:p>
            <a:pPr>
              <a:lnSpc>
                <a:spcPct val="150000"/>
              </a:lnSpc>
            </a:pPr>
            <a:r>
              <a:rPr sz="1250" b="1" dirty="0" err="1">
                <a:latin typeface="Pretendard"/>
              </a:rPr>
              <a:t>강력하거나 중대·반복되는 범죄에 한해 13세를 형사책임 가능 연령에 포함하는 방안을 검토했다.</a:t>
            </a:r>
            <a:endParaRPr lang="en-US" altLang="ko-KR" sz="1250" b="1" dirty="0">
              <a:latin typeface="Pretendard"/>
            </a:endParaRPr>
          </a:p>
          <a:p>
            <a:pPr>
              <a:lnSpc>
                <a:spcPct val="150000"/>
              </a:lnSpc>
            </a:pPr>
            <a:r>
              <a:rPr sz="1250" dirty="0" err="1">
                <a:solidFill>
                  <a:srgbClr val="222633"/>
                </a:solidFill>
                <a:latin typeface="Pretendard"/>
                <a:ea typeface="Pretendard"/>
                <a:cs typeface="Pretendard"/>
              </a:rPr>
              <a:t>하향 범위는 추가 의견수렴 뒤 결론을 내리고, 소년사법 개선을 병행하겠다고 밝혔다.</a:t>
            </a:r>
            <a:endParaRPr lang="en-US" sz="1250" dirty="0">
              <a:solidFill>
                <a:srgbClr val="222633"/>
              </a:solidFill>
              <a:latin typeface="Pretendard"/>
              <a:ea typeface="Pretendard"/>
              <a:cs typeface="Pretendard"/>
            </a:endParaRPr>
          </a:p>
        </p:txBody>
      </p:sp>
      <p:sp>
        <p:nvSpPr>
          <p:cNvPr id="8" name="bandbg">
            <a:extLst>
              <a:ext uri="{FF2B5EF4-FFF2-40B4-BE49-F238E27FC236}">
                <a16:creationId xmlns:a16="http://schemas.microsoft.com/office/drawing/2014/main" id="{D9AED247-D982-5097-82A4-F6B468EED238}"/>
              </a:ext>
            </a:extLst>
          </p:cNvPr>
          <p:cNvSpPr/>
          <p:nvPr/>
        </p:nvSpPr>
        <p:spPr>
          <a:xfrm>
            <a:off x="1124712" y="5637275"/>
            <a:ext cx="9912096" cy="628647"/>
          </a:xfrm>
          <a:prstGeom prst="rect">
            <a:avLst/>
          </a:prstGeom>
          <a:solidFill>
            <a:srgbClr val="1E2761"/>
          </a:solidFill>
          <a:ln>
            <a:noFill/>
          </a:ln>
        </p:spPr>
        <p:txBody>
          <a:bodyPr/>
          <a:lstStyle/>
          <a:p>
            <a:endParaRPr/>
          </a:p>
        </p:txBody>
      </p:sp>
      <p:sp>
        <p:nvSpPr>
          <p:cNvPr id="10" name="band">
            <a:extLst>
              <a:ext uri="{FF2B5EF4-FFF2-40B4-BE49-F238E27FC236}">
                <a16:creationId xmlns:a16="http://schemas.microsoft.com/office/drawing/2014/main" id="{B6929690-3137-268D-BF7E-2387EBBDA3E3}"/>
              </a:ext>
            </a:extLst>
          </p:cNvPr>
          <p:cNvSpPr txBox="1"/>
          <p:nvPr/>
        </p:nvSpPr>
        <p:spPr>
          <a:xfrm>
            <a:off x="1307592" y="5664707"/>
            <a:ext cx="9546336" cy="553209"/>
          </a:xfrm>
          <a:prstGeom prst="rect">
            <a:avLst/>
          </a:prstGeom>
          <a:noFill/>
        </p:spPr>
        <p:txBody>
          <a:bodyPr wrap="square" lIns="0" tIns="27432" rIns="0" bIns="27432" anchor="ctr">
            <a:noAutofit/>
          </a:bodyPr>
          <a:lstStyle/>
          <a:p>
            <a:pPr algn="ctr">
              <a:lnSpc>
                <a:spcPct val="118000"/>
              </a:lnSpc>
            </a:pPr>
            <a:r>
              <a:rPr lang="ko-KR" altLang="en-US" sz="1250" b="1" dirty="0" err="1">
                <a:solidFill>
                  <a:srgbClr val="FFFFFF"/>
                </a:solidFill>
                <a:latin typeface="Pretendard"/>
                <a:ea typeface="Pretendard"/>
                <a:cs typeface="Pretendard"/>
              </a:rPr>
              <a:t>시민숙의와</a:t>
            </a:r>
            <a:r>
              <a:rPr lang="ko-KR" altLang="en-US" sz="1250" b="1" dirty="0">
                <a:solidFill>
                  <a:srgbClr val="FFFFFF"/>
                </a:solidFill>
                <a:latin typeface="Pretendard"/>
                <a:ea typeface="Pretendard"/>
                <a:cs typeface="Pretendard"/>
              </a:rPr>
              <a:t> 협의체 권고를 거쳐 정부는 </a:t>
            </a:r>
            <a:r>
              <a:rPr lang="en-US" altLang="ko-KR" sz="1250" b="1" dirty="0">
                <a:solidFill>
                  <a:srgbClr val="FFFFFF"/>
                </a:solidFill>
                <a:latin typeface="Pretendard"/>
                <a:ea typeface="Pretendard"/>
                <a:cs typeface="Pretendard"/>
              </a:rPr>
              <a:t>‘</a:t>
            </a:r>
            <a:r>
              <a:rPr lang="ko-KR" altLang="en-US" sz="1250" b="1" dirty="0">
                <a:solidFill>
                  <a:srgbClr val="FFFFFF"/>
                </a:solidFill>
                <a:latin typeface="Pretendard"/>
                <a:ea typeface="Pretendard"/>
                <a:cs typeface="Pretendard"/>
              </a:rPr>
              <a:t>중대</a:t>
            </a:r>
            <a:r>
              <a:rPr lang="en-US" altLang="ko-KR" sz="1250" b="1" dirty="0">
                <a:solidFill>
                  <a:srgbClr val="FFFFFF"/>
                </a:solidFill>
                <a:latin typeface="Pretendard"/>
                <a:ea typeface="Pretendard"/>
                <a:cs typeface="Pretendard"/>
              </a:rPr>
              <a:t>·</a:t>
            </a:r>
            <a:r>
              <a:rPr lang="ko-KR" altLang="en-US" sz="1250" b="1" dirty="0">
                <a:solidFill>
                  <a:srgbClr val="FFFFFF"/>
                </a:solidFill>
                <a:latin typeface="Pretendard"/>
                <a:ea typeface="Pretendard"/>
                <a:cs typeface="Pretendard"/>
              </a:rPr>
              <a:t>반복범죄에 한한 </a:t>
            </a:r>
            <a:r>
              <a:rPr lang="en-US" altLang="ko-KR" sz="1250" b="1" dirty="0">
                <a:solidFill>
                  <a:srgbClr val="FFFFFF"/>
                </a:solidFill>
                <a:latin typeface="Pretendard"/>
                <a:ea typeface="Pretendard"/>
                <a:cs typeface="Pretendard"/>
              </a:rPr>
              <a:t>13</a:t>
            </a:r>
            <a:r>
              <a:rPr lang="ko-KR" altLang="en-US" sz="1250" b="1" dirty="0">
                <a:solidFill>
                  <a:srgbClr val="FFFFFF"/>
                </a:solidFill>
                <a:latin typeface="Pretendard"/>
                <a:ea typeface="Pretendard"/>
                <a:cs typeface="Pretendard"/>
              </a:rPr>
              <a:t>세 편입</a:t>
            </a:r>
            <a:r>
              <a:rPr lang="en-US" altLang="ko-KR" sz="1250" b="1" dirty="0">
                <a:solidFill>
                  <a:srgbClr val="FFFFFF"/>
                </a:solidFill>
                <a:latin typeface="Pretendard"/>
                <a:ea typeface="Pretendard"/>
                <a:cs typeface="Pretendard"/>
              </a:rPr>
              <a:t>’</a:t>
            </a:r>
            <a:r>
              <a:rPr lang="ko-KR" altLang="en-US" sz="1250" b="1" dirty="0">
                <a:solidFill>
                  <a:srgbClr val="FFFFFF"/>
                </a:solidFill>
                <a:latin typeface="Pretendard"/>
                <a:ea typeface="Pretendard"/>
                <a:cs typeface="Pretendard"/>
              </a:rPr>
              <a:t>을 공식 검토대안으로 제시했다</a:t>
            </a:r>
            <a:r>
              <a:rPr lang="en-US" altLang="ko-KR" sz="1250" b="1" dirty="0">
                <a:solidFill>
                  <a:srgbClr val="FFFFFF"/>
                </a:solidFill>
                <a:latin typeface="Pretendard"/>
                <a:ea typeface="Pretendard"/>
                <a:cs typeface="Pretendard"/>
              </a:rPr>
              <a:t>. </a:t>
            </a:r>
          </a:p>
          <a:p>
            <a:pPr algn="ctr">
              <a:lnSpc>
                <a:spcPct val="118000"/>
              </a:lnSpc>
            </a:pPr>
            <a:r>
              <a:rPr lang="ko-KR" altLang="en-US" sz="1250" b="1" dirty="0">
                <a:solidFill>
                  <a:srgbClr val="FFFFFF"/>
                </a:solidFill>
                <a:latin typeface="Pretendard"/>
                <a:ea typeface="Pretendard"/>
                <a:cs typeface="Pretendard"/>
              </a:rPr>
              <a:t>다만 추가 의견수렴과 입법절차가 남아 있어 당시 현행법이 변경된 것은 아니었다</a:t>
            </a:r>
            <a:r>
              <a:rPr lang="en-US" altLang="ko-KR" sz="1250" b="1" dirty="0">
                <a:solidFill>
                  <a:srgbClr val="FFFFFF"/>
                </a:solidFill>
                <a:latin typeface="Pretendard"/>
                <a:ea typeface="Pretendard"/>
                <a:cs typeface="Pretendard"/>
              </a:rPr>
              <a:t>.</a:t>
            </a:r>
            <a:endParaRPr lang="ko-KR" sz="1250" b="1" dirty="0">
              <a:solidFill>
                <a:srgbClr val="FFFFFF"/>
              </a:solidFill>
              <a:latin typeface="Pretendard"/>
              <a:ea typeface="Pretendard"/>
              <a:cs typeface="Pretendard"/>
            </a:endParaRPr>
          </a:p>
        </p:txBody>
      </p:sp>
    </p:spTree>
    <p:extLst>
      <p:ext uri="{BB962C8B-B14F-4D97-AF65-F5344CB8AC3E}">
        <p14:creationId xmlns:p14="http://schemas.microsoft.com/office/powerpoint/2010/main" val="22732068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공론화와 세 정책대안</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조건부 하향의 요건과 절차</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공론화가 남긴 핵심 대안 — 조건부 하향은 무엇인가</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숙의 뒤 조건부 하향이 가장 큰 선택으로 남았고, 정부도 중대·반복범죄에 한한 하향을 검토했다. </a:t>
            </a:r>
            <a:endParaRPr lang="en-US" altLang="ko-KR" sz="1300" b="1" dirty="0">
              <a:solidFill>
                <a:srgbClr val="1E2761"/>
              </a:solidFill>
              <a:latin typeface="Pretendard"/>
              <a:ea typeface="Pretendard"/>
              <a:cs typeface="Pretendard"/>
            </a:endParaRPr>
          </a:p>
          <a:p>
            <a:pPr algn="l">
              <a:lnSpc>
                <a:spcPct val="118000"/>
              </a:lnSpc>
            </a:pPr>
            <a:r>
              <a:rPr lang="ko-KR" altLang="en-US" sz="1300" b="1" dirty="0">
                <a:solidFill>
                  <a:srgbClr val="1E2761"/>
                </a:solidFill>
                <a:latin typeface="Pretendard"/>
                <a:ea typeface="Pretendard"/>
                <a:cs typeface="Pretendard"/>
              </a:rPr>
              <a:t>여기서 </a:t>
            </a:r>
            <a:r>
              <a:rPr lang="ko-KR" sz="1300" b="1" dirty="0">
                <a:solidFill>
                  <a:srgbClr val="1E2761"/>
                </a:solidFill>
                <a:latin typeface="Pretendard"/>
                <a:ea typeface="Pretendard"/>
                <a:cs typeface="Pretendard"/>
              </a:rPr>
              <a:t>핵심은 13세 전체가 아니라 어떤 13세 사건에 형사책임 가능성을 열 것인가다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oh0"/>
          <p:cNvSpPr txBox="1"/>
          <p:nvPr/>
        </p:nvSpPr>
        <p:spPr>
          <a:xfrm>
            <a:off x="731520" y="2379980"/>
            <a:ext cx="3392424" cy="402336"/>
          </a:xfrm>
          <a:prstGeom prst="rect">
            <a:avLst/>
          </a:prstGeom>
          <a:noFill/>
        </p:spPr>
        <p:txBody>
          <a:bodyPr wrap="square" lIns="0" tIns="27432" rIns="0" bIns="27432" anchor="ctr">
            <a:noAutofit/>
          </a:bodyPr>
          <a:lstStyle/>
          <a:p>
            <a:pPr algn="ctr">
              <a:lnSpc>
                <a:spcPct val="118000"/>
              </a:lnSpc>
            </a:pPr>
            <a:r>
              <a:rPr lang="ko-KR" sz="1350" b="1" dirty="0">
                <a:solidFill>
                  <a:srgbClr val="1E2761"/>
                </a:solidFill>
                <a:latin typeface="Pretendard"/>
                <a:ea typeface="Pretendard"/>
                <a:cs typeface="Pretendard"/>
              </a:rPr>
              <a:t>현행 유지</a:t>
            </a:r>
          </a:p>
        </p:txBody>
      </p:sp>
      <p:sp>
        <p:nvSpPr>
          <p:cNvPr id="17" name="line17"/>
          <p:cNvSpPr/>
          <p:nvPr/>
        </p:nvSpPr>
        <p:spPr>
          <a:xfrm>
            <a:off x="731520" y="2888742"/>
            <a:ext cx="3392424" cy="0"/>
          </a:xfrm>
          <a:prstGeom prst="line">
            <a:avLst/>
          </a:prstGeom>
          <a:ln w="9525">
            <a:solidFill>
              <a:srgbClr val="1E2761"/>
            </a:solidFill>
          </a:ln>
        </p:spPr>
        <p:txBody>
          <a:bodyPr/>
          <a:lstStyle/>
          <a:p>
            <a:endParaRPr/>
          </a:p>
        </p:txBody>
      </p:sp>
      <p:sp>
        <p:nvSpPr>
          <p:cNvPr id="18" name="ob0"/>
          <p:cNvSpPr txBox="1"/>
          <p:nvPr/>
        </p:nvSpPr>
        <p:spPr>
          <a:xfrm>
            <a:off x="731520" y="3067558"/>
            <a:ext cx="3392424" cy="2093975"/>
          </a:xfrm>
          <a:prstGeom prst="rect">
            <a:avLst/>
          </a:prstGeom>
          <a:noFill/>
        </p:spPr>
        <p:txBody>
          <a:bodyPr wrap="square" lIns="0" tIns="27432" rIns="0" bIns="27432" anchor="t">
            <a:noAutofit/>
          </a:bodyPr>
          <a:lstStyle/>
          <a:p>
            <a:pPr algn="l">
              <a:lnSpc>
                <a:spcPct val="125000"/>
              </a:lnSpc>
              <a:spcAft>
                <a:spcPts val="800"/>
              </a:spcAft>
            </a:pPr>
            <a:r>
              <a:rPr lang="ko-KR" sz="1200" b="1" dirty="0">
                <a:solidFill>
                  <a:srgbClr val="222633"/>
                </a:solidFill>
                <a:latin typeface="Pretendard"/>
                <a:ea typeface="Pretendard"/>
                <a:cs typeface="Pretendard"/>
              </a:rPr>
              <a:t>14세 미만의 형사책임 배제를 유지한다.</a:t>
            </a:r>
          </a:p>
          <a:p>
            <a:pPr algn="l">
              <a:lnSpc>
                <a:spcPct val="125000"/>
              </a:lnSpc>
              <a:spcAft>
                <a:spcPts val="800"/>
              </a:spcAft>
            </a:pPr>
            <a:r>
              <a:rPr lang="ko-KR" sz="1200" b="0" dirty="0">
                <a:solidFill>
                  <a:srgbClr val="464D5C"/>
                </a:solidFill>
                <a:latin typeface="Pretendard"/>
                <a:ea typeface="Pretendard"/>
                <a:cs typeface="Pretendard"/>
              </a:rPr>
              <a:t>13세의 형벌 법령 저촉행위는 현재처럼 </a:t>
            </a:r>
            <a:r>
              <a:rPr lang="ko-KR" altLang="en-US" sz="1200" b="0" dirty="0">
                <a:solidFill>
                  <a:srgbClr val="464D5C"/>
                </a:solidFill>
                <a:latin typeface="Pretendard"/>
                <a:ea typeface="Pretendard"/>
                <a:cs typeface="Pretendard"/>
              </a:rPr>
              <a:t>전부 </a:t>
            </a:r>
            <a:r>
              <a:rPr lang="ko-KR" sz="1200" b="0" dirty="0">
                <a:solidFill>
                  <a:srgbClr val="464D5C"/>
                </a:solidFill>
                <a:latin typeface="Pretendard"/>
                <a:ea typeface="Pretendard"/>
                <a:cs typeface="Pretendard"/>
              </a:rPr>
              <a:t>소년부 보호사건으로 처리한다.</a:t>
            </a:r>
          </a:p>
          <a:p>
            <a:pPr algn="l">
              <a:lnSpc>
                <a:spcPct val="125000"/>
              </a:lnSpc>
              <a:spcAft>
                <a:spcPts val="800"/>
              </a:spcAft>
            </a:pPr>
            <a:endParaRPr lang="en-US" altLang="ko-KR" sz="1200" b="0" dirty="0">
              <a:solidFill>
                <a:srgbClr val="464D5C"/>
              </a:solidFill>
              <a:latin typeface="Pretendard"/>
              <a:ea typeface="Pretendard"/>
              <a:cs typeface="Pretendard"/>
            </a:endParaRPr>
          </a:p>
          <a:p>
            <a:pPr algn="l">
              <a:lnSpc>
                <a:spcPct val="125000"/>
              </a:lnSpc>
              <a:spcAft>
                <a:spcPts val="800"/>
              </a:spcAft>
            </a:pPr>
            <a:r>
              <a:rPr lang="ko-KR" sz="1200" b="1" dirty="0" err="1">
                <a:solidFill>
                  <a:srgbClr val="464D5C"/>
                </a:solidFill>
                <a:latin typeface="Pretendard"/>
                <a:ea typeface="Pretendard"/>
                <a:cs typeface="Pretendard"/>
              </a:rPr>
              <a:t>보호처분·조사절차·피해자</a:t>
            </a:r>
            <a:r>
              <a:rPr lang="ko-KR" sz="1200" b="1" dirty="0">
                <a:solidFill>
                  <a:srgbClr val="464D5C"/>
                </a:solidFill>
                <a:latin typeface="Pretendard"/>
                <a:ea typeface="Pretendard"/>
                <a:cs typeface="Pretendard"/>
              </a:rPr>
              <a:t> 지원·시설과 전문인력의 개선은 별도로 추진할 수 있다</a:t>
            </a:r>
            <a:r>
              <a:rPr lang="ko-KR" sz="1200" b="0" dirty="0">
                <a:solidFill>
                  <a:srgbClr val="464D5C"/>
                </a:solidFill>
                <a:latin typeface="Pretendard"/>
                <a:ea typeface="Pretendard"/>
                <a:cs typeface="Pretendard"/>
              </a:rPr>
              <a:t>.</a:t>
            </a:r>
          </a:p>
        </p:txBody>
      </p:sp>
      <p:sp>
        <p:nvSpPr>
          <p:cNvPr id="19" name="ohb1"/>
          <p:cNvSpPr/>
          <p:nvPr/>
        </p:nvSpPr>
        <p:spPr>
          <a:xfrm>
            <a:off x="4398264" y="2379980"/>
            <a:ext cx="3392424" cy="402336"/>
          </a:xfrm>
          <a:prstGeom prst="rect">
            <a:avLst/>
          </a:prstGeom>
          <a:solidFill>
            <a:srgbClr val="F2F4F8"/>
          </a:solidFill>
          <a:ln>
            <a:noFill/>
          </a:ln>
        </p:spPr>
        <p:txBody>
          <a:bodyPr/>
          <a:lstStyle/>
          <a:p>
            <a:endParaRPr/>
          </a:p>
        </p:txBody>
      </p:sp>
      <p:sp>
        <p:nvSpPr>
          <p:cNvPr id="20" name="oh1"/>
          <p:cNvSpPr txBox="1"/>
          <p:nvPr/>
        </p:nvSpPr>
        <p:spPr>
          <a:xfrm>
            <a:off x="4398264" y="2379980"/>
            <a:ext cx="3392424" cy="402336"/>
          </a:xfrm>
          <a:prstGeom prst="rect">
            <a:avLst/>
          </a:prstGeom>
          <a:noFill/>
        </p:spPr>
        <p:txBody>
          <a:bodyPr wrap="square" lIns="0" tIns="27432" rIns="0" bIns="27432" anchor="ctr">
            <a:noAutofit/>
          </a:bodyPr>
          <a:lstStyle/>
          <a:p>
            <a:pPr algn="ctr">
              <a:lnSpc>
                <a:spcPct val="118000"/>
              </a:lnSpc>
            </a:pPr>
            <a:r>
              <a:rPr lang="ko-KR" sz="1350" b="1" dirty="0">
                <a:solidFill>
                  <a:srgbClr val="1E2761"/>
                </a:solidFill>
                <a:latin typeface="Pretendard"/>
                <a:ea typeface="Pretendard"/>
                <a:cs typeface="Pretendard"/>
              </a:rPr>
              <a:t>조건부 하향</a:t>
            </a:r>
          </a:p>
        </p:txBody>
      </p:sp>
      <p:sp>
        <p:nvSpPr>
          <p:cNvPr id="21" name="line21"/>
          <p:cNvSpPr/>
          <p:nvPr/>
        </p:nvSpPr>
        <p:spPr>
          <a:xfrm>
            <a:off x="4398264" y="2888742"/>
            <a:ext cx="3392424" cy="0"/>
          </a:xfrm>
          <a:prstGeom prst="line">
            <a:avLst/>
          </a:prstGeom>
          <a:ln w="19050">
            <a:solidFill>
              <a:srgbClr val="1E2761"/>
            </a:solidFill>
          </a:ln>
        </p:spPr>
        <p:txBody>
          <a:bodyPr/>
          <a:lstStyle/>
          <a:p>
            <a:endParaRPr/>
          </a:p>
        </p:txBody>
      </p:sp>
      <p:sp>
        <p:nvSpPr>
          <p:cNvPr id="22" name="ob1"/>
          <p:cNvSpPr txBox="1"/>
          <p:nvPr/>
        </p:nvSpPr>
        <p:spPr>
          <a:xfrm>
            <a:off x="4398264" y="3067558"/>
            <a:ext cx="3392424" cy="2093975"/>
          </a:xfrm>
          <a:prstGeom prst="rect">
            <a:avLst/>
          </a:prstGeom>
          <a:noFill/>
        </p:spPr>
        <p:txBody>
          <a:bodyPr wrap="square" lIns="0" tIns="27432" rIns="0" bIns="27432" anchor="t">
            <a:noAutofit/>
          </a:bodyPr>
          <a:lstStyle/>
          <a:p>
            <a:pPr algn="l">
              <a:lnSpc>
                <a:spcPct val="125000"/>
              </a:lnSpc>
              <a:spcAft>
                <a:spcPts val="800"/>
              </a:spcAft>
            </a:pPr>
            <a:r>
              <a:rPr lang="ko-KR" sz="1200" b="1" dirty="0">
                <a:solidFill>
                  <a:srgbClr val="222633"/>
                </a:solidFill>
                <a:latin typeface="Pretendard"/>
                <a:ea typeface="Pretendard"/>
                <a:cs typeface="Pretendard"/>
              </a:rPr>
              <a:t>법률이 정한 일부 13세 사건에 형사책임 가능성을 더한다.</a:t>
            </a:r>
          </a:p>
          <a:p>
            <a:pPr algn="l">
              <a:spcAft>
                <a:spcPts val="800"/>
              </a:spcAft>
            </a:pPr>
            <a:r>
              <a:rPr lang="ko-KR" sz="1200" b="1" dirty="0">
                <a:solidFill>
                  <a:srgbClr val="464D5C"/>
                </a:solidFill>
                <a:highlight>
                  <a:srgbClr val="FFFF00"/>
                </a:highlight>
                <a:latin typeface="Pretendard"/>
                <a:ea typeface="Pretendard"/>
                <a:cs typeface="Pretendard"/>
              </a:rPr>
              <a:t>중대·반복 요건을 충족한 사건 → 형사책임 경로 가능 </a:t>
            </a:r>
            <a:endParaRPr lang="en-US" altLang="ko-KR" sz="1200" b="1" dirty="0">
              <a:solidFill>
                <a:srgbClr val="464D5C"/>
              </a:solidFill>
              <a:highlight>
                <a:srgbClr val="FFFF00"/>
              </a:highlight>
              <a:latin typeface="Pretendard"/>
              <a:ea typeface="Pretendard"/>
              <a:cs typeface="Pretendard"/>
            </a:endParaRPr>
          </a:p>
          <a:p>
            <a:pPr algn="l">
              <a:spcAft>
                <a:spcPts val="800"/>
              </a:spcAft>
            </a:pPr>
            <a:r>
              <a:rPr lang="ko-KR" sz="1200" b="1" dirty="0">
                <a:solidFill>
                  <a:srgbClr val="464D5C"/>
                </a:solidFill>
                <a:highlight>
                  <a:srgbClr val="FFFF00"/>
                </a:highlight>
                <a:latin typeface="Pretendard"/>
                <a:ea typeface="Pretendard"/>
                <a:cs typeface="Pretendard"/>
              </a:rPr>
              <a:t>그 밖의 13세 사건 → 현행 소년보호 경로 유지</a:t>
            </a:r>
          </a:p>
          <a:p>
            <a:pPr algn="l">
              <a:lnSpc>
                <a:spcPct val="125000"/>
              </a:lnSpc>
              <a:spcAft>
                <a:spcPts val="800"/>
              </a:spcAft>
            </a:pPr>
            <a:endParaRPr lang="en-US" altLang="ko-KR" sz="1200" b="0" dirty="0">
              <a:solidFill>
                <a:srgbClr val="464D5C"/>
              </a:solidFill>
              <a:latin typeface="Pretendard"/>
              <a:ea typeface="Pretendard"/>
              <a:cs typeface="Pretendard"/>
            </a:endParaRPr>
          </a:p>
          <a:p>
            <a:pPr algn="l">
              <a:lnSpc>
                <a:spcPct val="125000"/>
              </a:lnSpc>
              <a:spcAft>
                <a:spcPts val="800"/>
              </a:spcAft>
            </a:pPr>
            <a:r>
              <a:rPr lang="ko-KR" sz="1200" b="1" dirty="0">
                <a:solidFill>
                  <a:srgbClr val="1E2761"/>
                </a:solidFill>
                <a:latin typeface="Pretendard"/>
                <a:ea typeface="Pretendard"/>
                <a:cs typeface="Pretendard"/>
              </a:rPr>
              <a:t>어떤 사건을 예외로 할지 새로운 선별기준과 절차가 필요하다.</a:t>
            </a:r>
          </a:p>
        </p:txBody>
      </p:sp>
      <p:sp>
        <p:nvSpPr>
          <p:cNvPr id="23" name="oh2"/>
          <p:cNvSpPr txBox="1"/>
          <p:nvPr/>
        </p:nvSpPr>
        <p:spPr>
          <a:xfrm>
            <a:off x="8065008" y="2379980"/>
            <a:ext cx="3392424" cy="402336"/>
          </a:xfrm>
          <a:prstGeom prst="rect">
            <a:avLst/>
          </a:prstGeom>
          <a:noFill/>
        </p:spPr>
        <p:txBody>
          <a:bodyPr wrap="square" lIns="0" tIns="27432" rIns="0" bIns="27432" anchor="ctr">
            <a:noAutofit/>
          </a:bodyPr>
          <a:lstStyle/>
          <a:p>
            <a:pPr algn="ctr">
              <a:lnSpc>
                <a:spcPct val="118000"/>
              </a:lnSpc>
            </a:pPr>
            <a:r>
              <a:rPr lang="ko-KR" sz="1350" b="1" dirty="0">
                <a:solidFill>
                  <a:srgbClr val="1E2761"/>
                </a:solidFill>
                <a:latin typeface="Pretendard"/>
                <a:ea typeface="Pretendard"/>
                <a:cs typeface="Pretendard"/>
              </a:rPr>
              <a:t>일괄 하향</a:t>
            </a:r>
          </a:p>
        </p:txBody>
      </p:sp>
      <p:sp>
        <p:nvSpPr>
          <p:cNvPr id="24" name="line24"/>
          <p:cNvSpPr/>
          <p:nvPr/>
        </p:nvSpPr>
        <p:spPr>
          <a:xfrm>
            <a:off x="8065008" y="2888742"/>
            <a:ext cx="3392424" cy="0"/>
          </a:xfrm>
          <a:prstGeom prst="line">
            <a:avLst/>
          </a:prstGeom>
          <a:ln w="9525">
            <a:solidFill>
              <a:srgbClr val="1E2761"/>
            </a:solidFill>
          </a:ln>
        </p:spPr>
        <p:txBody>
          <a:bodyPr/>
          <a:lstStyle/>
          <a:p>
            <a:endParaRPr/>
          </a:p>
        </p:txBody>
      </p:sp>
      <p:sp>
        <p:nvSpPr>
          <p:cNvPr id="25" name="ob2"/>
          <p:cNvSpPr txBox="1"/>
          <p:nvPr/>
        </p:nvSpPr>
        <p:spPr>
          <a:xfrm>
            <a:off x="8014208" y="3067558"/>
            <a:ext cx="3587242" cy="2093975"/>
          </a:xfrm>
          <a:prstGeom prst="rect">
            <a:avLst/>
          </a:prstGeom>
          <a:noFill/>
        </p:spPr>
        <p:txBody>
          <a:bodyPr wrap="square" lIns="0" tIns="27432" rIns="0" bIns="27432" anchor="t">
            <a:noAutofit/>
          </a:bodyPr>
          <a:lstStyle/>
          <a:p>
            <a:pPr algn="l">
              <a:lnSpc>
                <a:spcPct val="125000"/>
              </a:lnSpc>
              <a:spcAft>
                <a:spcPts val="800"/>
              </a:spcAft>
            </a:pPr>
            <a:r>
              <a:rPr lang="ko-KR" sz="1200" b="1" dirty="0">
                <a:solidFill>
                  <a:srgbClr val="222633"/>
                </a:solidFill>
                <a:latin typeface="Pretendard"/>
                <a:ea typeface="Pretendard"/>
                <a:cs typeface="Pretendard"/>
              </a:rPr>
              <a:t>13세의 형벌 법령 저촉행위 전반에 형사책임 가능성을 더한다.</a:t>
            </a:r>
          </a:p>
          <a:p>
            <a:pPr algn="l">
              <a:lnSpc>
                <a:spcPct val="125000"/>
              </a:lnSpc>
              <a:spcAft>
                <a:spcPts val="800"/>
              </a:spcAft>
            </a:pPr>
            <a:r>
              <a:rPr lang="ko-KR" sz="1200" b="0" dirty="0">
                <a:solidFill>
                  <a:srgbClr val="464D5C"/>
                </a:solidFill>
                <a:latin typeface="Pretendard"/>
                <a:ea typeface="Pretendard"/>
                <a:cs typeface="Pretendard"/>
              </a:rPr>
              <a:t>형사책임 대상이 되었다고 곧바로 형을 선고받는 것은 아니다.</a:t>
            </a:r>
          </a:p>
          <a:p>
            <a:pPr algn="l">
              <a:lnSpc>
                <a:spcPct val="125000"/>
              </a:lnSpc>
              <a:spcAft>
                <a:spcPts val="800"/>
              </a:spcAft>
            </a:pPr>
            <a:endParaRPr lang="en-US" altLang="ko-KR" sz="2400" b="0" dirty="0">
              <a:solidFill>
                <a:srgbClr val="464D5C"/>
              </a:solidFill>
              <a:latin typeface="Pretendard"/>
              <a:ea typeface="Pretendard"/>
              <a:cs typeface="Pretendard"/>
            </a:endParaRPr>
          </a:p>
          <a:p>
            <a:pPr algn="l">
              <a:lnSpc>
                <a:spcPct val="125000"/>
              </a:lnSpc>
              <a:spcAft>
                <a:spcPts val="800"/>
              </a:spcAft>
            </a:pPr>
            <a:r>
              <a:rPr lang="ko-KR" sz="1200" b="0" dirty="0">
                <a:solidFill>
                  <a:srgbClr val="464D5C"/>
                </a:solidFill>
                <a:latin typeface="Pretendard"/>
                <a:ea typeface="Pretendard"/>
                <a:cs typeface="Pretendard"/>
              </a:rPr>
              <a:t>검사의 기소·불기소·소년부 송치, 법원의 유죄·형 선고 여부는 사건마다 따로 판단한다.</a:t>
            </a:r>
          </a:p>
        </p:txBody>
      </p:sp>
      <p:sp>
        <p:nvSpPr>
          <p:cNvPr id="26" name="line26"/>
          <p:cNvSpPr/>
          <p:nvPr/>
        </p:nvSpPr>
        <p:spPr>
          <a:xfrm>
            <a:off x="731520" y="5248655"/>
            <a:ext cx="10725912" cy="0"/>
          </a:xfrm>
          <a:prstGeom prst="line">
            <a:avLst/>
          </a:prstGeom>
          <a:ln w="9525">
            <a:solidFill>
              <a:srgbClr val="DCE0E8"/>
            </a:solidFill>
          </a:ln>
        </p:spPr>
        <p:txBody>
          <a:bodyPr/>
          <a:lstStyle/>
          <a:p>
            <a:endParaRPr/>
          </a:p>
        </p:txBody>
      </p:sp>
      <p:sp>
        <p:nvSpPr>
          <p:cNvPr id="27" name="ofb"/>
          <p:cNvSpPr txBox="1"/>
          <p:nvPr/>
        </p:nvSpPr>
        <p:spPr>
          <a:xfrm>
            <a:off x="731520" y="5392927"/>
            <a:ext cx="10725912" cy="594360"/>
          </a:xfrm>
          <a:prstGeom prst="rect">
            <a:avLst/>
          </a:prstGeom>
          <a:noFill/>
        </p:spPr>
        <p:txBody>
          <a:bodyPr wrap="square" lIns="0" tIns="27432" rIns="0" bIns="27432" anchor="ctr">
            <a:noAutofit/>
          </a:bodyPr>
          <a:lstStyle/>
          <a:p>
            <a:pPr algn="l">
              <a:lnSpc>
                <a:spcPct val="118000"/>
              </a:lnSpc>
            </a:pPr>
            <a:r>
              <a:rPr lang="ko-KR" sz="1250" b="1" dirty="0">
                <a:solidFill>
                  <a:srgbClr val="A8871C"/>
                </a:solidFill>
                <a:latin typeface="Pretendard"/>
                <a:ea typeface="Pretendard"/>
                <a:cs typeface="Pretendard"/>
              </a:rPr>
              <a:t>조건부 하향은 두 안을 절반씩 섞은 절충안이 아니라, 같은 </a:t>
            </a:r>
            <a:r>
              <a:rPr lang="ko-KR" altLang="en-US" sz="1250" b="1" dirty="0">
                <a:solidFill>
                  <a:srgbClr val="A8871C"/>
                </a:solidFill>
                <a:latin typeface="Pretendard"/>
                <a:ea typeface="Pretendard"/>
                <a:cs typeface="Pretendard"/>
              </a:rPr>
              <a:t>연령인 </a:t>
            </a:r>
            <a:r>
              <a:rPr lang="ko-KR" sz="1250" b="1" dirty="0">
                <a:solidFill>
                  <a:srgbClr val="A8871C"/>
                </a:solidFill>
                <a:latin typeface="Pretendard"/>
                <a:ea typeface="Pretendard"/>
                <a:cs typeface="Pretendard"/>
              </a:rPr>
              <a:t>13세 사건을 형사책임 경로와 보호경로로 나누는 새로운 선별제도다.</a:t>
            </a:r>
          </a:p>
        </p:txBody>
      </p:sp>
      <p:sp>
        <p:nvSpPr>
          <p:cNvPr id="28" name="line28"/>
          <p:cNvSpPr/>
          <p:nvPr/>
        </p:nvSpPr>
        <p:spPr>
          <a:xfrm>
            <a:off x="731520" y="6144768"/>
            <a:ext cx="10725912" cy="0"/>
          </a:xfrm>
          <a:prstGeom prst="line">
            <a:avLst/>
          </a:prstGeom>
          <a:ln w="19050">
            <a:solidFill>
              <a:srgbClr val="1E2761"/>
            </a:solidFill>
          </a:ln>
        </p:spPr>
        <p:txBody>
          <a:bodyPr/>
          <a:lstStyle/>
          <a:p>
            <a:endParaRPr/>
          </a:p>
        </p:txBody>
      </p:sp>
      <p:sp>
        <p:nvSpPr>
          <p:cNvPr id="29"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성평등가족부(2026.7.14.) 협의체 권고안과 시민참여단 숙의 결과</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연령 기준의 설계와 법적 한계</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중대범죄를 정하는 기준</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조건부 하향안에서 무엇을 정해야 하나</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조건부 하향은 일부 사건만 </a:t>
            </a:r>
            <a:r>
              <a:rPr lang="ko-KR" altLang="en-US" sz="1300" b="1" dirty="0">
                <a:solidFill>
                  <a:srgbClr val="1E2761"/>
                </a:solidFill>
                <a:latin typeface="Pretendard"/>
                <a:ea typeface="Pretendard"/>
                <a:cs typeface="Pretendard"/>
              </a:rPr>
              <a:t>연령을 </a:t>
            </a:r>
            <a:r>
              <a:rPr lang="ko-KR" sz="1300" b="1" dirty="0">
                <a:solidFill>
                  <a:srgbClr val="1E2761"/>
                </a:solidFill>
                <a:latin typeface="Pretendard"/>
                <a:ea typeface="Pretendard"/>
                <a:cs typeface="Pretendard"/>
              </a:rPr>
              <a:t>낮춘다는 말로 완성되지 않는다. 적용 </a:t>
            </a:r>
            <a:r>
              <a:rPr lang="ko-KR" sz="1300" b="1" dirty="0" err="1">
                <a:solidFill>
                  <a:srgbClr val="1E2761"/>
                </a:solidFill>
                <a:latin typeface="Pretendard"/>
                <a:ea typeface="Pretendard"/>
                <a:cs typeface="Pretendard"/>
              </a:rPr>
              <a:t>연령·중대범죄·반복요건·선별절차를</a:t>
            </a:r>
            <a:r>
              <a:rPr lang="ko-KR" sz="1300" b="1" dirty="0">
                <a:solidFill>
                  <a:srgbClr val="1E2761"/>
                </a:solidFill>
                <a:latin typeface="Pretendard"/>
                <a:ea typeface="Pretendard"/>
                <a:cs typeface="Pretendard"/>
              </a:rPr>
              <a:t> 법률로 구체적으로 정해야 한다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731520" y="2424430"/>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대상 연령</a:t>
            </a:r>
          </a:p>
        </p:txBody>
      </p:sp>
      <p:sp>
        <p:nvSpPr>
          <p:cNvPr id="17" name="b0"/>
          <p:cNvSpPr txBox="1"/>
          <p:nvPr/>
        </p:nvSpPr>
        <p:spPr>
          <a:xfrm>
            <a:off x="3154680" y="2424430"/>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어느 연령부터 새로운 형사책임 가능성을 열 것인가.</a:t>
            </a:r>
          </a:p>
          <a:p>
            <a:pPr algn="l">
              <a:lnSpc>
                <a:spcPct val="125000"/>
              </a:lnSpc>
            </a:pPr>
            <a:r>
              <a:rPr lang="ko-KR" sz="1150" b="0" dirty="0">
                <a:solidFill>
                  <a:srgbClr val="464D5C"/>
                </a:solidFill>
                <a:latin typeface="Pretendard"/>
                <a:ea typeface="Pretendard"/>
                <a:cs typeface="Pretendard"/>
              </a:rPr>
              <a:t>정부의 2026년 검토안은 13세를 새로 포함하는 방안이지만, 실제 기준은 법률 개정 과정에서 확정된다.</a:t>
            </a:r>
          </a:p>
        </p:txBody>
      </p:sp>
      <p:sp>
        <p:nvSpPr>
          <p:cNvPr id="18" name="line18"/>
          <p:cNvSpPr/>
          <p:nvPr/>
        </p:nvSpPr>
        <p:spPr>
          <a:xfrm>
            <a:off x="731520" y="3105912"/>
            <a:ext cx="10725912" cy="0"/>
          </a:xfrm>
          <a:prstGeom prst="line">
            <a:avLst/>
          </a:prstGeom>
          <a:ln w="9525">
            <a:solidFill>
              <a:srgbClr val="DCE0E8"/>
            </a:solidFill>
          </a:ln>
        </p:spPr>
        <p:txBody>
          <a:bodyPr/>
          <a:lstStyle/>
          <a:p>
            <a:endParaRPr/>
          </a:p>
        </p:txBody>
      </p:sp>
      <p:sp>
        <p:nvSpPr>
          <p:cNvPr id="19" name="h1"/>
          <p:cNvSpPr txBox="1"/>
          <p:nvPr/>
        </p:nvSpPr>
        <p:spPr>
          <a:xfrm>
            <a:off x="731520" y="3166872"/>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중대범죄의 범위</a:t>
            </a:r>
          </a:p>
        </p:txBody>
      </p:sp>
      <p:sp>
        <p:nvSpPr>
          <p:cNvPr id="20" name="b1"/>
          <p:cNvSpPr txBox="1"/>
          <p:nvPr/>
        </p:nvSpPr>
        <p:spPr>
          <a:xfrm>
            <a:off x="3154680" y="3166872"/>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어떤 사건을 중대한 범죄로 볼 것인가.</a:t>
            </a:r>
          </a:p>
          <a:p>
            <a:pPr algn="l">
              <a:lnSpc>
                <a:spcPct val="125000"/>
              </a:lnSpc>
            </a:pPr>
            <a:r>
              <a:rPr lang="ko-KR" sz="1150" b="0" dirty="0">
                <a:solidFill>
                  <a:srgbClr val="464D5C"/>
                </a:solidFill>
                <a:latin typeface="Pretendard"/>
                <a:ea typeface="Pretendard"/>
                <a:cs typeface="Pretendard"/>
              </a:rPr>
              <a:t>살인·강도·강간처럼 </a:t>
            </a:r>
            <a:r>
              <a:rPr lang="ko-KR" sz="1150" b="1" dirty="0">
                <a:solidFill>
                  <a:srgbClr val="464D5C"/>
                </a:solidFill>
                <a:highlight>
                  <a:srgbClr val="FFFF00"/>
                </a:highlight>
                <a:latin typeface="Pretendard"/>
                <a:ea typeface="Pretendard"/>
                <a:cs typeface="Pretendard"/>
              </a:rPr>
              <a:t>죄명을 열거할 것인지, 법정형·고의·사망·중상해 같은 요건으로 정할 것인지</a:t>
            </a:r>
            <a:r>
              <a:rPr lang="ko-KR" sz="1150" b="0" dirty="0">
                <a:solidFill>
                  <a:srgbClr val="464D5C"/>
                </a:solidFill>
                <a:latin typeface="Pretendard"/>
                <a:ea typeface="Pretendard"/>
                <a:cs typeface="Pretendard"/>
              </a:rPr>
              <a:t> 결정해야 한다.</a:t>
            </a:r>
          </a:p>
        </p:txBody>
      </p:sp>
      <p:sp>
        <p:nvSpPr>
          <p:cNvPr id="21" name="line21"/>
          <p:cNvSpPr/>
          <p:nvPr/>
        </p:nvSpPr>
        <p:spPr>
          <a:xfrm>
            <a:off x="731520" y="3977894"/>
            <a:ext cx="10725912" cy="0"/>
          </a:xfrm>
          <a:prstGeom prst="line">
            <a:avLst/>
          </a:prstGeom>
          <a:ln w="9525">
            <a:solidFill>
              <a:srgbClr val="DCE0E8"/>
            </a:solidFill>
          </a:ln>
        </p:spPr>
        <p:txBody>
          <a:bodyPr/>
          <a:lstStyle/>
          <a:p>
            <a:endParaRPr/>
          </a:p>
        </p:txBody>
      </p:sp>
      <p:sp>
        <p:nvSpPr>
          <p:cNvPr id="22" name="h2"/>
          <p:cNvSpPr txBox="1"/>
          <p:nvPr/>
        </p:nvSpPr>
        <p:spPr>
          <a:xfrm>
            <a:off x="731520" y="4070603"/>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반복의 기준</a:t>
            </a:r>
          </a:p>
        </p:txBody>
      </p:sp>
      <p:sp>
        <p:nvSpPr>
          <p:cNvPr id="23" name="b2"/>
          <p:cNvSpPr txBox="1"/>
          <p:nvPr/>
        </p:nvSpPr>
        <p:spPr>
          <a:xfrm>
            <a:off x="3154680" y="4070603"/>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무엇을 반복범죄로 볼 것인가.</a:t>
            </a:r>
          </a:p>
          <a:p>
            <a:pPr algn="l">
              <a:lnSpc>
                <a:spcPct val="118000"/>
              </a:lnSpc>
              <a:spcAft>
                <a:spcPts val="500"/>
              </a:spcAft>
            </a:pPr>
            <a:r>
              <a:rPr lang="ko-KR" sz="1150" b="1" dirty="0">
                <a:solidFill>
                  <a:srgbClr val="464D5C"/>
                </a:solidFill>
                <a:highlight>
                  <a:srgbClr val="FFFF00"/>
                </a:highlight>
                <a:latin typeface="Pretendard"/>
                <a:ea typeface="Pretendard"/>
                <a:cs typeface="Pretendard"/>
              </a:rPr>
              <a:t>몇 회 이상인지, 어느 기간의 행위를 셀지, 같은 유형의 범죄만 볼지</a:t>
            </a:r>
            <a:r>
              <a:rPr lang="ko-KR" sz="1150" b="0" dirty="0">
                <a:solidFill>
                  <a:srgbClr val="464D5C"/>
                </a:solidFill>
                <a:latin typeface="Pretendard"/>
                <a:ea typeface="Pretendard"/>
                <a:cs typeface="Pretendard"/>
              </a:rPr>
              <a:t> 정해야 한다.</a:t>
            </a:r>
          </a:p>
          <a:p>
            <a:pPr algn="l">
              <a:lnSpc>
                <a:spcPct val="118000"/>
              </a:lnSpc>
            </a:pPr>
            <a:r>
              <a:rPr lang="ko-KR" sz="1150" b="0" dirty="0">
                <a:solidFill>
                  <a:srgbClr val="464D5C"/>
                </a:solidFill>
                <a:latin typeface="Pretendard"/>
                <a:ea typeface="Pretendard"/>
                <a:cs typeface="Pretendard"/>
              </a:rPr>
              <a:t>경찰에 적발된 사실, 소년부 처분, 확정된 판단 가운데 무엇을 반복의 근거로 삼을지도 정해야 한다.</a:t>
            </a:r>
          </a:p>
        </p:txBody>
      </p:sp>
      <p:sp>
        <p:nvSpPr>
          <p:cNvPr id="24" name="line24"/>
          <p:cNvSpPr/>
          <p:nvPr/>
        </p:nvSpPr>
        <p:spPr>
          <a:xfrm>
            <a:off x="731520" y="4913376"/>
            <a:ext cx="10725912" cy="0"/>
          </a:xfrm>
          <a:prstGeom prst="line">
            <a:avLst/>
          </a:prstGeom>
          <a:ln w="9525">
            <a:solidFill>
              <a:srgbClr val="DCE0E8"/>
            </a:solidFill>
          </a:ln>
        </p:spPr>
        <p:txBody>
          <a:bodyPr/>
          <a:lstStyle/>
          <a:p>
            <a:endParaRPr/>
          </a:p>
        </p:txBody>
      </p:sp>
      <p:sp>
        <p:nvSpPr>
          <p:cNvPr id="25" name="h3"/>
          <p:cNvSpPr txBox="1"/>
          <p:nvPr/>
        </p:nvSpPr>
        <p:spPr>
          <a:xfrm>
            <a:off x="731520" y="5031486"/>
            <a:ext cx="2240280" cy="98755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판단 절차</a:t>
            </a:r>
          </a:p>
        </p:txBody>
      </p:sp>
      <p:sp>
        <p:nvSpPr>
          <p:cNvPr id="26" name="b3"/>
          <p:cNvSpPr txBox="1"/>
          <p:nvPr/>
        </p:nvSpPr>
        <p:spPr>
          <a:xfrm>
            <a:off x="3154680" y="5031486"/>
            <a:ext cx="8302752" cy="98755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누가 어떤 절차로 </a:t>
            </a:r>
            <a:r>
              <a:rPr lang="ko-KR" altLang="en-US" sz="1250" b="1" dirty="0">
                <a:solidFill>
                  <a:srgbClr val="222633"/>
                </a:solidFill>
                <a:latin typeface="Pretendard"/>
                <a:ea typeface="Pretendard"/>
                <a:cs typeface="Pretendard"/>
              </a:rPr>
              <a:t>이들을 </a:t>
            </a:r>
            <a:r>
              <a:rPr lang="ko-KR" sz="1250" b="1" dirty="0">
                <a:solidFill>
                  <a:srgbClr val="222633"/>
                </a:solidFill>
                <a:latin typeface="Pretendard"/>
                <a:ea typeface="Pretendard"/>
                <a:cs typeface="Pretendard"/>
              </a:rPr>
              <a:t>형사책임 경로에 넣을 것인가.</a:t>
            </a:r>
          </a:p>
          <a:p>
            <a:pPr algn="l">
              <a:lnSpc>
                <a:spcPct val="125000"/>
              </a:lnSpc>
              <a:spcAft>
                <a:spcPts val="500"/>
              </a:spcAft>
            </a:pPr>
            <a:r>
              <a:rPr lang="ko-KR" sz="1150" b="1" dirty="0">
                <a:solidFill>
                  <a:srgbClr val="464D5C"/>
                </a:solidFill>
                <a:highlight>
                  <a:srgbClr val="FFFF00"/>
                </a:highlight>
                <a:latin typeface="Pretendard"/>
                <a:ea typeface="Pretendard"/>
                <a:cs typeface="Pretendard"/>
              </a:rPr>
              <a:t>법률상 요건을 충족하면 자동으로 적용할지, 검찰·법원 등 별도 기관의 승인이나 개별평가를 거칠지</a:t>
            </a:r>
            <a:r>
              <a:rPr lang="ko-KR" sz="1150" b="0" dirty="0">
                <a:solidFill>
                  <a:srgbClr val="464D5C"/>
                </a:solidFill>
                <a:latin typeface="Pretendard"/>
                <a:ea typeface="Pretendard"/>
                <a:cs typeface="Pretendard"/>
              </a:rPr>
              <a:t> 정해야 한다.</a:t>
            </a:r>
          </a:p>
          <a:p>
            <a:pPr algn="l">
              <a:lnSpc>
                <a:spcPct val="118000"/>
              </a:lnSpc>
            </a:pPr>
            <a:r>
              <a:rPr lang="ko-KR" sz="1150" b="0" dirty="0">
                <a:solidFill>
                  <a:srgbClr val="464D5C"/>
                </a:solidFill>
                <a:latin typeface="Pretendard"/>
                <a:ea typeface="Pretendard"/>
                <a:cs typeface="Pretendard"/>
              </a:rPr>
              <a:t>그 판단에 대해 당사자가 이의를 제기할 절차도 필요하다.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성평등가족부(2026.7.14.) 협의체 권고안 · 소년법 제4조 · 형법 제9조</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연령 기준의 설계와 법적 한계</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피해자의 권리와 헌법재판</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nSpc>
                <a:spcPct val="118000"/>
              </a:lnSpc>
            </a:pPr>
            <a:r>
              <a:rPr lang="ko-KR" altLang="en-US" sz="2750" b="1" dirty="0">
                <a:solidFill>
                  <a:srgbClr val="1E2761"/>
                </a:solidFill>
                <a:latin typeface="Pretendard"/>
                <a:ea typeface="Pretendard"/>
                <a:cs typeface="Pretendard"/>
              </a:rPr>
              <a:t>조건부 하향의 적용기준 </a:t>
            </a:r>
            <a:r>
              <a:rPr lang="en-US" altLang="ko-KR" sz="2750" b="1" dirty="0">
                <a:solidFill>
                  <a:srgbClr val="1E2761"/>
                </a:solidFill>
                <a:latin typeface="Pretendard"/>
                <a:ea typeface="Pretendard"/>
                <a:cs typeface="Pretendard"/>
              </a:rPr>
              <a:t>— ‘</a:t>
            </a:r>
            <a:r>
              <a:rPr lang="ko-KR" altLang="en-US" sz="2750" b="1" dirty="0">
                <a:solidFill>
                  <a:srgbClr val="1E2761"/>
                </a:solidFill>
                <a:latin typeface="Pretendard"/>
                <a:ea typeface="Pretendard"/>
                <a:cs typeface="Pretendard"/>
              </a:rPr>
              <a:t>중대</a:t>
            </a:r>
            <a:r>
              <a:rPr lang="en-US" altLang="ko-KR" sz="2750" b="1" dirty="0">
                <a:solidFill>
                  <a:srgbClr val="1E2761"/>
                </a:solidFill>
                <a:latin typeface="Pretendard"/>
                <a:ea typeface="Pretendard"/>
                <a:cs typeface="Pretendard"/>
              </a:rPr>
              <a:t>·</a:t>
            </a:r>
            <a:r>
              <a:rPr lang="ko-KR" altLang="en-US" sz="2750" b="1" dirty="0" err="1">
                <a:solidFill>
                  <a:srgbClr val="1E2761"/>
                </a:solidFill>
                <a:latin typeface="Pretendard"/>
                <a:ea typeface="Pretendard"/>
                <a:cs typeface="Pretendard"/>
              </a:rPr>
              <a:t>반복’을</a:t>
            </a:r>
            <a:r>
              <a:rPr lang="ko-KR" altLang="en-US" sz="2750" b="1" dirty="0">
                <a:solidFill>
                  <a:srgbClr val="1E2761"/>
                </a:solidFill>
                <a:latin typeface="Pretendard"/>
                <a:ea typeface="Pretendard"/>
                <a:cs typeface="Pretendard"/>
              </a:rPr>
              <a:t> 어떻게 구체화할 것인가</a:t>
            </a:r>
            <a:endParaRPr lang="ko-KR" sz="2750" b="1" dirty="0">
              <a:solidFill>
                <a:srgbClr val="1E2761"/>
              </a:solidFill>
              <a:latin typeface="Pretendard"/>
              <a:ea typeface="Pretendard"/>
              <a:cs typeface="Pretendard"/>
            </a:endParaRP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nSpc>
                <a:spcPct val="118000"/>
              </a:lnSpc>
            </a:pPr>
            <a:r>
              <a:rPr lang="ko-KR" altLang="en-US" sz="1300" b="1" dirty="0">
                <a:solidFill>
                  <a:srgbClr val="1E2761"/>
                </a:solidFill>
                <a:latin typeface="Pretendard"/>
                <a:ea typeface="Pretendard"/>
                <a:cs typeface="Pretendard"/>
              </a:rPr>
              <a:t>앞 장의 네 설계요소 중 ‘중대범죄의 </a:t>
            </a:r>
            <a:r>
              <a:rPr lang="ko-KR" altLang="en-US" sz="1300" b="1" dirty="0" err="1">
                <a:solidFill>
                  <a:srgbClr val="1E2761"/>
                </a:solidFill>
                <a:latin typeface="Pretendard"/>
                <a:ea typeface="Pretendard"/>
                <a:cs typeface="Pretendard"/>
              </a:rPr>
              <a:t>범위’와</a:t>
            </a:r>
            <a:r>
              <a:rPr lang="ko-KR" altLang="en-US" sz="1300" b="1" dirty="0">
                <a:solidFill>
                  <a:srgbClr val="1E2761"/>
                </a:solidFill>
                <a:latin typeface="Pretendard"/>
                <a:ea typeface="Pretendard"/>
                <a:cs typeface="Pretendard"/>
              </a:rPr>
              <a:t> ‘반복의 </a:t>
            </a:r>
            <a:r>
              <a:rPr lang="ko-KR" altLang="en-US" sz="1300" b="1" dirty="0" err="1">
                <a:solidFill>
                  <a:srgbClr val="1E2761"/>
                </a:solidFill>
                <a:latin typeface="Pretendard"/>
                <a:ea typeface="Pretendard"/>
                <a:cs typeface="Pretendard"/>
              </a:rPr>
              <a:t>기준’을</a:t>
            </a:r>
            <a:r>
              <a:rPr lang="ko-KR" altLang="en-US" sz="1300" b="1" dirty="0">
                <a:solidFill>
                  <a:srgbClr val="1E2761"/>
                </a:solidFill>
                <a:latin typeface="Pretendard"/>
                <a:ea typeface="Pretendard"/>
                <a:cs typeface="Pretendard"/>
              </a:rPr>
              <a:t> 구체화하려면</a:t>
            </a:r>
            <a:r>
              <a:rPr lang="en-US" altLang="ko-KR" sz="1300" b="1" dirty="0">
                <a:solidFill>
                  <a:srgbClr val="1E2761"/>
                </a:solidFill>
                <a:latin typeface="Pretendard"/>
                <a:ea typeface="Pretendard"/>
                <a:cs typeface="Pretendard"/>
              </a:rPr>
              <a:t>, </a:t>
            </a:r>
            <a:r>
              <a:rPr lang="ko-KR" altLang="en-US" sz="1300" b="1" dirty="0">
                <a:solidFill>
                  <a:srgbClr val="1E2761"/>
                </a:solidFill>
                <a:latin typeface="Pretendard"/>
                <a:ea typeface="Pretendard"/>
                <a:cs typeface="Pretendard"/>
              </a:rPr>
              <a:t>죄명</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법정형</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행위와 결과</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반복의 횟수와 기간 등을 법률로 정해야 한다</a:t>
            </a:r>
            <a:r>
              <a:rPr lang="en-US" altLang="ko-KR" sz="1300" b="1" dirty="0">
                <a:solidFill>
                  <a:srgbClr val="1E2761"/>
                </a:solidFill>
                <a:latin typeface="Pretendard"/>
                <a:ea typeface="Pretendard"/>
                <a:cs typeface="Pretendard"/>
              </a:rPr>
              <a:t>.</a:t>
            </a:r>
            <a:endParaRPr lang="ko-KR" sz="1300" b="1" dirty="0">
              <a:solidFill>
                <a:srgbClr val="1E2761"/>
              </a:solidFill>
              <a:latin typeface="Pretendard"/>
              <a:ea typeface="Pretendard"/>
              <a:cs typeface="Pretendard"/>
            </a:endParaRP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cch0"/>
          <p:cNvSpPr txBox="1"/>
          <p:nvPr/>
        </p:nvSpPr>
        <p:spPr>
          <a:xfrm>
            <a:off x="731520" y="2386330"/>
            <a:ext cx="5175504" cy="329184"/>
          </a:xfrm>
          <a:prstGeom prst="rect">
            <a:avLst/>
          </a:prstGeom>
          <a:noFill/>
        </p:spPr>
        <p:txBody>
          <a:bodyPr wrap="square" lIns="0" tIns="27432" rIns="0" bIns="27432" anchor="ctr">
            <a:noAutofit/>
          </a:bodyPr>
          <a:lstStyle/>
          <a:p>
            <a:pPr algn="l">
              <a:lnSpc>
                <a:spcPct val="118000"/>
              </a:lnSpc>
            </a:pPr>
            <a:r>
              <a:rPr lang="ko-KR" altLang="en-US" sz="1300" b="1" dirty="0">
                <a:solidFill>
                  <a:srgbClr val="1E2761"/>
                </a:solidFill>
                <a:latin typeface="Pretendard"/>
                <a:ea typeface="Pretendard"/>
                <a:cs typeface="Pretendard"/>
              </a:rPr>
              <a:t>죄명</a:t>
            </a:r>
            <a:r>
              <a:rPr lang="ko-KR" sz="1300" b="1" dirty="0">
                <a:solidFill>
                  <a:srgbClr val="1E2761"/>
                </a:solidFill>
                <a:latin typeface="Pretendard"/>
                <a:ea typeface="Pretendard"/>
                <a:cs typeface="Pretendard"/>
              </a:rPr>
              <a:t>으로</a:t>
            </a:r>
          </a:p>
        </p:txBody>
      </p:sp>
      <p:sp>
        <p:nvSpPr>
          <p:cNvPr id="18" name="ccb0"/>
          <p:cNvSpPr txBox="1"/>
          <p:nvPr/>
        </p:nvSpPr>
        <p:spPr>
          <a:xfrm>
            <a:off x="731520" y="2823718"/>
            <a:ext cx="5175504" cy="848105"/>
          </a:xfrm>
          <a:prstGeom prst="rect">
            <a:avLst/>
          </a:prstGeom>
          <a:noFill/>
        </p:spPr>
        <p:txBody>
          <a:bodyPr wrap="square" lIns="0" tIns="27432" rIns="0" bIns="27432" anchor="t">
            <a:noAutofit/>
          </a:bodyPr>
          <a:lstStyle/>
          <a:p>
            <a:pPr algn="l">
              <a:lnSpc>
                <a:spcPct val="125000"/>
              </a:lnSpc>
              <a:spcAft>
                <a:spcPts val="600"/>
              </a:spcAft>
            </a:pPr>
            <a:r>
              <a:rPr lang="ko-KR" sz="1200" b="1" dirty="0">
                <a:solidFill>
                  <a:srgbClr val="222633"/>
                </a:solidFill>
                <a:latin typeface="Pretendard"/>
                <a:ea typeface="Pretendard"/>
                <a:cs typeface="Pretendard"/>
              </a:rPr>
              <a:t>살인·강도·강간 등 특정 죄명을 법률에 직접 열거하는 방식이다.</a:t>
            </a:r>
          </a:p>
          <a:p>
            <a:pPr algn="l">
              <a:lnSpc>
                <a:spcPct val="125000"/>
              </a:lnSpc>
              <a:spcAft>
                <a:spcPts val="600"/>
              </a:spcAft>
            </a:pPr>
            <a:r>
              <a:rPr lang="ko-KR" sz="1200" b="0" dirty="0">
                <a:solidFill>
                  <a:srgbClr val="464D5C"/>
                </a:solidFill>
                <a:latin typeface="Pretendard"/>
                <a:ea typeface="Pretendard"/>
                <a:cs typeface="Pretendard"/>
              </a:rPr>
              <a:t>적용범위가 비교적 분명하다.</a:t>
            </a:r>
          </a:p>
          <a:p>
            <a:pPr algn="l">
              <a:lnSpc>
                <a:spcPct val="125000"/>
              </a:lnSpc>
              <a:spcAft>
                <a:spcPts val="600"/>
              </a:spcAft>
            </a:pPr>
            <a:r>
              <a:rPr lang="ko-KR" sz="1200" b="0" dirty="0">
                <a:solidFill>
                  <a:srgbClr val="464D5C"/>
                </a:solidFill>
                <a:latin typeface="Pretendard"/>
                <a:ea typeface="Pretendard"/>
                <a:cs typeface="Pretendard"/>
              </a:rPr>
              <a:t>목록에 없는 사건은 실제 피해가 매우 크더라도 제외될 수 있다.</a:t>
            </a:r>
          </a:p>
        </p:txBody>
      </p:sp>
      <p:sp>
        <p:nvSpPr>
          <p:cNvPr id="19" name="cch1"/>
          <p:cNvSpPr txBox="1"/>
          <p:nvPr/>
        </p:nvSpPr>
        <p:spPr>
          <a:xfrm>
            <a:off x="6033516" y="2386330"/>
            <a:ext cx="5423916" cy="329184"/>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법정형으로</a:t>
            </a:r>
          </a:p>
        </p:txBody>
      </p:sp>
      <p:sp>
        <p:nvSpPr>
          <p:cNvPr id="21" name="ccb1"/>
          <p:cNvSpPr txBox="1"/>
          <p:nvPr/>
        </p:nvSpPr>
        <p:spPr>
          <a:xfrm>
            <a:off x="6035040" y="2815336"/>
            <a:ext cx="5423916" cy="848105"/>
          </a:xfrm>
          <a:prstGeom prst="rect">
            <a:avLst/>
          </a:prstGeom>
          <a:noFill/>
        </p:spPr>
        <p:txBody>
          <a:bodyPr wrap="square" lIns="0" tIns="27432" rIns="0" bIns="27432" anchor="t">
            <a:noAutofit/>
          </a:bodyPr>
          <a:lstStyle/>
          <a:p>
            <a:pPr algn="l">
              <a:lnSpc>
                <a:spcPct val="125000"/>
              </a:lnSpc>
              <a:spcAft>
                <a:spcPts val="600"/>
              </a:spcAft>
            </a:pPr>
            <a:r>
              <a:rPr lang="ko-KR" sz="1200" b="1" dirty="0">
                <a:solidFill>
                  <a:srgbClr val="222633"/>
                </a:solidFill>
                <a:latin typeface="Pretendard"/>
                <a:ea typeface="Pretendard"/>
                <a:cs typeface="Pretendard"/>
              </a:rPr>
              <a:t>일정한 법정형 이상인 범죄를 중대범죄로 정하는 방식이다.</a:t>
            </a:r>
          </a:p>
          <a:p>
            <a:pPr algn="l">
              <a:lnSpc>
                <a:spcPct val="125000"/>
              </a:lnSpc>
              <a:spcAft>
                <a:spcPts val="600"/>
              </a:spcAft>
            </a:pPr>
            <a:r>
              <a:rPr lang="ko-KR" sz="1200" b="0" dirty="0">
                <a:solidFill>
                  <a:srgbClr val="464D5C"/>
                </a:solidFill>
                <a:latin typeface="Pretendard"/>
                <a:ea typeface="Pretendard"/>
                <a:cs typeface="Pretendard"/>
              </a:rPr>
              <a:t>범죄 사이에 통일된 기준을 적용할 수 있다.</a:t>
            </a:r>
          </a:p>
          <a:p>
            <a:pPr algn="l">
              <a:lnSpc>
                <a:spcPct val="125000"/>
              </a:lnSpc>
              <a:spcAft>
                <a:spcPts val="600"/>
              </a:spcAft>
            </a:pPr>
            <a:r>
              <a:rPr lang="ko-KR" sz="1200" b="0" dirty="0">
                <a:solidFill>
                  <a:srgbClr val="464D5C"/>
                </a:solidFill>
                <a:latin typeface="Pretendard"/>
                <a:ea typeface="Pretendard"/>
                <a:cs typeface="Pretendard"/>
              </a:rPr>
              <a:t>법정형의 높이가 개별 사건의 위험성이나 피해 정도와 늘 일치하지는 않는다.</a:t>
            </a:r>
          </a:p>
        </p:txBody>
      </p:sp>
      <p:sp>
        <p:nvSpPr>
          <p:cNvPr id="22" name="cch2"/>
          <p:cNvSpPr txBox="1"/>
          <p:nvPr/>
        </p:nvSpPr>
        <p:spPr>
          <a:xfrm>
            <a:off x="733044" y="4135882"/>
            <a:ext cx="5175504" cy="329184"/>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행위와 결과로</a:t>
            </a:r>
          </a:p>
        </p:txBody>
      </p:sp>
      <p:sp>
        <p:nvSpPr>
          <p:cNvPr id="24" name="ccb2"/>
          <p:cNvSpPr txBox="1"/>
          <p:nvPr/>
        </p:nvSpPr>
        <p:spPr>
          <a:xfrm>
            <a:off x="731520" y="4556506"/>
            <a:ext cx="5175504" cy="848105"/>
          </a:xfrm>
          <a:prstGeom prst="rect">
            <a:avLst/>
          </a:prstGeom>
          <a:noFill/>
        </p:spPr>
        <p:txBody>
          <a:bodyPr wrap="square" lIns="0" tIns="27432" rIns="0" bIns="27432" anchor="t">
            <a:noAutofit/>
          </a:bodyPr>
          <a:lstStyle/>
          <a:p>
            <a:pPr algn="l">
              <a:lnSpc>
                <a:spcPct val="125000"/>
              </a:lnSpc>
              <a:spcAft>
                <a:spcPts val="600"/>
              </a:spcAft>
            </a:pPr>
            <a:r>
              <a:rPr lang="ko-KR" sz="1200" b="1" dirty="0">
                <a:solidFill>
                  <a:srgbClr val="222633"/>
                </a:solidFill>
                <a:latin typeface="Pretendard"/>
                <a:ea typeface="Pretendard"/>
                <a:cs typeface="Pretendard"/>
              </a:rPr>
              <a:t>고의·사망·중상해·잔혹한 수단 등 구체적 요건을 더하는 방식이다.</a:t>
            </a:r>
          </a:p>
          <a:p>
            <a:pPr algn="l">
              <a:lnSpc>
                <a:spcPct val="125000"/>
              </a:lnSpc>
              <a:spcAft>
                <a:spcPts val="600"/>
              </a:spcAft>
            </a:pPr>
            <a:r>
              <a:rPr lang="ko-KR" sz="1200" b="0" dirty="0">
                <a:solidFill>
                  <a:srgbClr val="464D5C"/>
                </a:solidFill>
                <a:latin typeface="Pretendard"/>
                <a:ea typeface="Pretendard"/>
                <a:cs typeface="Pretendard"/>
              </a:rPr>
              <a:t>같은 죄명 안에서도 실제 행위와 결과가 특히 중대한 사건을 선별할 수 있다.</a:t>
            </a:r>
          </a:p>
          <a:p>
            <a:pPr algn="l">
              <a:lnSpc>
                <a:spcPct val="125000"/>
              </a:lnSpc>
              <a:spcAft>
                <a:spcPts val="600"/>
              </a:spcAft>
            </a:pPr>
            <a:r>
              <a:rPr lang="ko-KR" sz="1200" b="0" dirty="0">
                <a:solidFill>
                  <a:srgbClr val="464D5C"/>
                </a:solidFill>
                <a:latin typeface="Pretendard"/>
                <a:ea typeface="Pretendard"/>
                <a:cs typeface="Pretendard"/>
              </a:rPr>
              <a:t>어느 정도의 결과와 행위를 포함할지</a:t>
            </a:r>
            <a:r>
              <a:rPr lang="en-US" altLang="ko-KR" sz="1200" b="0" dirty="0">
                <a:solidFill>
                  <a:srgbClr val="464D5C"/>
                </a:solidFill>
                <a:latin typeface="Pretendard"/>
                <a:ea typeface="Pretendard"/>
                <a:cs typeface="Pretendard"/>
              </a:rPr>
              <a:t>, </a:t>
            </a:r>
            <a:r>
              <a:rPr lang="ko-KR" altLang="en-US" sz="1200" b="0" dirty="0">
                <a:solidFill>
                  <a:srgbClr val="464D5C"/>
                </a:solidFill>
                <a:latin typeface="Pretendard"/>
                <a:ea typeface="Pretendard"/>
                <a:cs typeface="Pretendard"/>
              </a:rPr>
              <a:t>최종적으로 누가 판단할지</a:t>
            </a:r>
            <a:r>
              <a:rPr lang="ko-KR" sz="1200" b="0" dirty="0">
                <a:solidFill>
                  <a:srgbClr val="464D5C"/>
                </a:solidFill>
                <a:latin typeface="Pretendard"/>
                <a:ea typeface="Pretendard"/>
                <a:cs typeface="Pretendard"/>
              </a:rPr>
              <a:t> 세부 기준이 필요하다.</a:t>
            </a:r>
          </a:p>
        </p:txBody>
      </p:sp>
      <p:sp>
        <p:nvSpPr>
          <p:cNvPr id="25" name="cch3"/>
          <p:cNvSpPr txBox="1"/>
          <p:nvPr/>
        </p:nvSpPr>
        <p:spPr>
          <a:xfrm>
            <a:off x="6035040" y="4132073"/>
            <a:ext cx="5423916" cy="329184"/>
          </a:xfrm>
          <a:prstGeom prst="rect">
            <a:avLst/>
          </a:prstGeom>
          <a:noFill/>
        </p:spPr>
        <p:txBody>
          <a:bodyPr wrap="square" lIns="0" tIns="27432" rIns="0" bIns="27432" anchor="ctr">
            <a:noAutofit/>
          </a:bodyPr>
          <a:lstStyle/>
          <a:p>
            <a:pPr>
              <a:lnSpc>
                <a:spcPct val="118000"/>
              </a:lnSpc>
            </a:pPr>
            <a:r>
              <a:rPr lang="ko-KR" altLang="en-US" sz="1300" b="1" dirty="0">
                <a:solidFill>
                  <a:schemeClr val="accent5">
                    <a:lumMod val="75000"/>
                  </a:schemeClr>
                </a:solidFill>
                <a:latin typeface="Pretendard"/>
                <a:ea typeface="Pretendard"/>
                <a:cs typeface="Pretendard"/>
              </a:rPr>
              <a:t>반복을 정하는 기준</a:t>
            </a:r>
            <a:endParaRPr lang="ko-KR" sz="1300" b="1" dirty="0">
              <a:solidFill>
                <a:schemeClr val="accent5">
                  <a:lumMod val="75000"/>
                </a:schemeClr>
              </a:solidFill>
              <a:latin typeface="Pretendard"/>
              <a:ea typeface="Pretendard"/>
              <a:cs typeface="Pretendard"/>
            </a:endParaRPr>
          </a:p>
        </p:txBody>
      </p:sp>
      <p:sp>
        <p:nvSpPr>
          <p:cNvPr id="27" name="ccb3"/>
          <p:cNvSpPr txBox="1"/>
          <p:nvPr/>
        </p:nvSpPr>
        <p:spPr>
          <a:xfrm>
            <a:off x="6035040" y="4632707"/>
            <a:ext cx="5422392" cy="754884"/>
          </a:xfrm>
          <a:prstGeom prst="rect">
            <a:avLst/>
          </a:prstGeom>
          <a:noFill/>
        </p:spPr>
        <p:txBody>
          <a:bodyPr wrap="square" lIns="0" tIns="27432" rIns="0" bIns="27432" anchor="t">
            <a:noAutofit/>
          </a:bodyPr>
          <a:lstStyle/>
          <a:p>
            <a:pPr>
              <a:lnSpc>
                <a:spcPct val="125000"/>
              </a:lnSpc>
              <a:spcAft>
                <a:spcPts val="600"/>
              </a:spcAft>
            </a:pPr>
            <a:r>
              <a:rPr lang="ko-KR" altLang="en-US" sz="1200" b="1" dirty="0">
                <a:solidFill>
                  <a:srgbClr val="222633"/>
                </a:solidFill>
                <a:latin typeface="Pretendard"/>
                <a:ea typeface="Pretendard"/>
                <a:cs typeface="Pretendard"/>
              </a:rPr>
              <a:t>몇 회부터 반복으로 볼지</a:t>
            </a:r>
            <a:r>
              <a:rPr lang="en-US" altLang="ko-KR" sz="1200" b="1" dirty="0">
                <a:solidFill>
                  <a:srgbClr val="222633"/>
                </a:solidFill>
                <a:latin typeface="Pretendard"/>
                <a:ea typeface="Pretendard"/>
                <a:cs typeface="Pretendard"/>
              </a:rPr>
              <a:t>, </a:t>
            </a:r>
            <a:r>
              <a:rPr lang="ko-KR" altLang="en-US" sz="1200" b="1" dirty="0">
                <a:solidFill>
                  <a:srgbClr val="222633"/>
                </a:solidFill>
                <a:latin typeface="Pretendard"/>
                <a:ea typeface="Pretendard"/>
                <a:cs typeface="Pretendard"/>
              </a:rPr>
              <a:t>어느 기간의 행위를 셀지</a:t>
            </a:r>
            <a:r>
              <a:rPr lang="en-US" altLang="ko-KR" sz="1200" b="1" dirty="0">
                <a:solidFill>
                  <a:srgbClr val="222633"/>
                </a:solidFill>
                <a:latin typeface="Pretendard"/>
                <a:ea typeface="Pretendard"/>
                <a:cs typeface="Pretendard"/>
              </a:rPr>
              <a:t>, </a:t>
            </a:r>
            <a:r>
              <a:rPr lang="ko-KR" altLang="en-US" sz="1200" b="1" dirty="0">
                <a:solidFill>
                  <a:srgbClr val="222633"/>
                </a:solidFill>
                <a:latin typeface="Pretendard"/>
                <a:ea typeface="Pretendard"/>
                <a:cs typeface="Pretendard"/>
              </a:rPr>
              <a:t>같은 유형의 범죄만 포함할지 정해야 한다</a:t>
            </a:r>
            <a:r>
              <a:rPr lang="en-US" altLang="ko-KR" sz="1200" b="1" dirty="0">
                <a:solidFill>
                  <a:srgbClr val="222633"/>
                </a:solidFill>
                <a:latin typeface="Pretendard"/>
                <a:ea typeface="Pretendard"/>
                <a:cs typeface="Pretendard"/>
              </a:rPr>
              <a:t>.</a:t>
            </a:r>
          </a:p>
          <a:p>
            <a:pPr>
              <a:lnSpc>
                <a:spcPct val="125000"/>
              </a:lnSpc>
              <a:spcAft>
                <a:spcPts val="600"/>
              </a:spcAft>
            </a:pPr>
            <a:r>
              <a:rPr lang="ko-KR" altLang="en-US" sz="1200" dirty="0">
                <a:solidFill>
                  <a:schemeClr val="tx1">
                    <a:lumMod val="65000"/>
                    <a:lumOff val="35000"/>
                  </a:schemeClr>
                </a:solidFill>
                <a:latin typeface="Pretendard"/>
                <a:ea typeface="Pretendard"/>
                <a:cs typeface="Pretendard"/>
              </a:rPr>
              <a:t>또한 경찰 적발</a:t>
            </a:r>
            <a:r>
              <a:rPr lang="en-US" altLang="ko-KR" sz="1200" dirty="0">
                <a:solidFill>
                  <a:schemeClr val="tx1">
                    <a:lumMod val="65000"/>
                    <a:lumOff val="35000"/>
                  </a:schemeClr>
                </a:solidFill>
                <a:latin typeface="Pretendard"/>
                <a:ea typeface="Pretendard"/>
                <a:cs typeface="Pretendard"/>
              </a:rPr>
              <a:t>·</a:t>
            </a:r>
            <a:r>
              <a:rPr lang="ko-KR" altLang="en-US" sz="1200" dirty="0">
                <a:solidFill>
                  <a:schemeClr val="tx1">
                    <a:lumMod val="65000"/>
                    <a:lumOff val="35000"/>
                  </a:schemeClr>
                </a:solidFill>
                <a:latin typeface="Pretendard"/>
                <a:ea typeface="Pretendard"/>
                <a:cs typeface="Pretendard"/>
              </a:rPr>
              <a:t>소년부 처분</a:t>
            </a:r>
            <a:r>
              <a:rPr lang="en-US" altLang="ko-KR" sz="1200" dirty="0">
                <a:solidFill>
                  <a:schemeClr val="tx1">
                    <a:lumMod val="65000"/>
                    <a:lumOff val="35000"/>
                  </a:schemeClr>
                </a:solidFill>
                <a:latin typeface="Pretendard"/>
                <a:ea typeface="Pretendard"/>
                <a:cs typeface="Pretendard"/>
              </a:rPr>
              <a:t>·</a:t>
            </a:r>
            <a:r>
              <a:rPr lang="ko-KR" altLang="en-US" sz="1200" dirty="0">
                <a:solidFill>
                  <a:schemeClr val="tx1">
                    <a:lumMod val="65000"/>
                    <a:lumOff val="35000"/>
                  </a:schemeClr>
                </a:solidFill>
                <a:latin typeface="Pretendard"/>
                <a:ea typeface="Pretendard"/>
                <a:cs typeface="Pretendard"/>
              </a:rPr>
              <a:t>확정 판단 중 무엇을 반복의 근거로 삼을지도 정해야 한다</a:t>
            </a:r>
            <a:r>
              <a:rPr lang="en-US" altLang="ko-KR" sz="1200" dirty="0">
                <a:solidFill>
                  <a:schemeClr val="tx1">
                    <a:lumMod val="65000"/>
                    <a:lumOff val="35000"/>
                  </a:schemeClr>
                </a:solidFill>
                <a:latin typeface="Pretendard"/>
                <a:ea typeface="Pretendard"/>
                <a:cs typeface="Pretendard"/>
              </a:rPr>
              <a:t>.</a:t>
            </a:r>
            <a:endParaRPr lang="ko-KR" sz="1200" dirty="0">
              <a:solidFill>
                <a:schemeClr val="tx1">
                  <a:lumMod val="65000"/>
                  <a:lumOff val="35000"/>
                </a:schemeClr>
              </a:solidFill>
              <a:latin typeface="Pretendard"/>
              <a:ea typeface="Pretendard"/>
              <a:cs typeface="Pretendard"/>
            </a:endParaRPr>
          </a:p>
        </p:txBody>
      </p:sp>
      <p:sp>
        <p:nvSpPr>
          <p:cNvPr id="28" name="line28"/>
          <p:cNvSpPr/>
          <p:nvPr/>
        </p:nvSpPr>
        <p:spPr>
          <a:xfrm>
            <a:off x="731520" y="5618733"/>
            <a:ext cx="10725912" cy="0"/>
          </a:xfrm>
          <a:prstGeom prst="line">
            <a:avLst/>
          </a:prstGeom>
          <a:ln w="9525">
            <a:solidFill>
              <a:srgbClr val="DCE0E8"/>
            </a:solidFill>
          </a:ln>
        </p:spPr>
        <p:txBody>
          <a:bodyPr/>
          <a:lstStyle/>
          <a:p>
            <a:endParaRPr/>
          </a:p>
        </p:txBody>
      </p:sp>
      <p:sp>
        <p:nvSpPr>
          <p:cNvPr id="29" name="ccf"/>
          <p:cNvSpPr txBox="1"/>
          <p:nvPr/>
        </p:nvSpPr>
        <p:spPr>
          <a:xfrm>
            <a:off x="731520" y="5750305"/>
            <a:ext cx="10725912" cy="370332"/>
          </a:xfrm>
          <a:prstGeom prst="rect">
            <a:avLst/>
          </a:prstGeom>
          <a:noFill/>
        </p:spPr>
        <p:txBody>
          <a:bodyPr wrap="square" lIns="0" tIns="27432" rIns="0" bIns="27432" anchor="ctr">
            <a:noAutofit/>
          </a:bodyPr>
          <a:lstStyle/>
          <a:p>
            <a:pPr algn="l">
              <a:lnSpc>
                <a:spcPct val="118000"/>
              </a:lnSpc>
            </a:pPr>
            <a:r>
              <a:rPr lang="ko-KR" sz="1250" b="1" dirty="0">
                <a:solidFill>
                  <a:srgbClr val="A8871C"/>
                </a:solidFill>
                <a:latin typeface="Pretendard"/>
                <a:ea typeface="Pretendard"/>
                <a:cs typeface="Pretendard"/>
              </a:rPr>
              <a:t>어떤 기준을 고르느냐에 따라 같은 13세 사건도 형사책임 경로에 들어갈 수도, 현행 소년보호 경로에 남을 수도 있다.</a:t>
            </a:r>
          </a:p>
        </p:txBody>
      </p:sp>
      <p:sp>
        <p:nvSpPr>
          <p:cNvPr id="30" name="line30"/>
          <p:cNvSpPr/>
          <p:nvPr/>
        </p:nvSpPr>
        <p:spPr>
          <a:xfrm>
            <a:off x="731520" y="6290818"/>
            <a:ext cx="10725912" cy="0"/>
          </a:xfrm>
          <a:prstGeom prst="line">
            <a:avLst/>
          </a:prstGeom>
          <a:ln w="19050">
            <a:solidFill>
              <a:srgbClr val="1E2761"/>
            </a:solidFill>
          </a:ln>
        </p:spPr>
        <p:txBody>
          <a:bodyPr/>
          <a:lstStyle/>
          <a:p>
            <a:endParaRPr/>
          </a:p>
        </p:txBody>
      </p:sp>
      <p:sp>
        <p:nvSpPr>
          <p:cNvPr id="31"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형법 각칙 · 특정강력범죄의 처벌에 관한 특례법 제2조 · 성평등가족부(2026.7.14.) 협의체 권고안</a:t>
            </a:r>
          </a:p>
        </p:txBody>
      </p:sp>
      <p:sp>
        <p:nvSpPr>
          <p:cNvPr id="6" name="line28">
            <a:extLst>
              <a:ext uri="{FF2B5EF4-FFF2-40B4-BE49-F238E27FC236}">
                <a16:creationId xmlns:a16="http://schemas.microsoft.com/office/drawing/2014/main" id="{153F37B5-CD05-B891-3B64-E2D9084EBA74}"/>
              </a:ext>
            </a:extLst>
          </p:cNvPr>
          <p:cNvSpPr/>
          <p:nvPr/>
        </p:nvSpPr>
        <p:spPr>
          <a:xfrm>
            <a:off x="733044" y="3959351"/>
            <a:ext cx="10725912" cy="0"/>
          </a:xfrm>
          <a:prstGeom prst="line">
            <a:avLst/>
          </a:prstGeom>
          <a:ln w="9525">
            <a:solidFill>
              <a:srgbClr val="DCE0E8"/>
            </a:solidFill>
          </a:ln>
        </p:spPr>
        <p:txBody>
          <a:bodyPr/>
          <a:lstStyle/>
          <a:p>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일률적인 14세 기준</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en-US" altLang="ko-KR" sz="2500" b="1" dirty="0">
                <a:solidFill>
                  <a:srgbClr val="1E2761"/>
                </a:solidFill>
                <a:latin typeface="Pretendard" pitchFamily="34" charset="0"/>
                <a:ea typeface="Pretendard" pitchFamily="34" charset="-122"/>
                <a:cs typeface="Pretendard" pitchFamily="34" charset="-120"/>
              </a:rPr>
              <a:t>2002</a:t>
            </a:r>
            <a:r>
              <a:rPr lang="ko-KR" altLang="en-US" sz="2500" b="1" dirty="0" err="1">
                <a:solidFill>
                  <a:srgbClr val="1E2761"/>
                </a:solidFill>
                <a:latin typeface="Pretendard" pitchFamily="34" charset="0"/>
                <a:ea typeface="Pretendard" pitchFamily="34" charset="-122"/>
                <a:cs typeface="Pretendard" pitchFamily="34" charset="-120"/>
              </a:rPr>
              <a:t>헌마</a:t>
            </a:r>
            <a:r>
              <a:rPr lang="en-US" altLang="ko-KR" sz="2500" b="1" dirty="0">
                <a:solidFill>
                  <a:srgbClr val="1E2761"/>
                </a:solidFill>
                <a:latin typeface="Pretendard" pitchFamily="34" charset="0"/>
                <a:ea typeface="Pretendard" pitchFamily="34" charset="-122"/>
                <a:cs typeface="Pretendard" pitchFamily="34" charset="-120"/>
              </a:rPr>
              <a:t>533</a:t>
            </a:r>
            <a:r>
              <a:rPr lang="ko-KR" altLang="en-US" sz="2500" b="1" dirty="0">
                <a:solidFill>
                  <a:srgbClr val="1E2761"/>
                </a:solidFill>
                <a:latin typeface="Pretendard" pitchFamily="34" charset="0"/>
                <a:ea typeface="Pretendard" pitchFamily="34" charset="-122"/>
                <a:cs typeface="Pretendard" pitchFamily="34" charset="-120"/>
              </a:rPr>
              <a:t> </a:t>
            </a:r>
            <a:r>
              <a:rPr lang="ko-KR" altLang="en-US" sz="2500" b="1" dirty="0" err="1">
                <a:solidFill>
                  <a:srgbClr val="1E2761"/>
                </a:solidFill>
                <a:latin typeface="Pretendard" pitchFamily="34" charset="0"/>
                <a:ea typeface="Pretendard" pitchFamily="34" charset="-122"/>
                <a:cs typeface="Pretendard" pitchFamily="34" charset="-120"/>
              </a:rPr>
              <a:t>ㅡ</a:t>
            </a:r>
            <a:r>
              <a:rPr lang="ko-KR" altLang="en-US" sz="2500" b="1" dirty="0">
                <a:solidFill>
                  <a:srgbClr val="1E2761"/>
                </a:solidFill>
                <a:latin typeface="Pretendard" pitchFamily="34" charset="0"/>
                <a:ea typeface="Pretendard" pitchFamily="34" charset="-122"/>
                <a:cs typeface="Pretendard" pitchFamily="34" charset="-120"/>
              </a:rPr>
              <a:t> 14세 미만의 형사책임 배제는 피해자의 권리를 침해하는가</a:t>
            </a:r>
          </a:p>
        </p:txBody>
      </p:sp>
      <p:sp>
        <p:nvSpPr>
          <p:cNvPr id="5" name="BANDBG"/>
          <p:cNvSpPr/>
          <p:nvPr/>
        </p:nvSpPr>
        <p:spPr>
          <a:xfrm>
            <a:off x="731520" y="1417320"/>
            <a:ext cx="10725912" cy="7772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7772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피해아동 측은 형법 제9조와 검사의 불기소처분을 헌법재판소에서 다퉜다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 가해 학생들이 14세 미만이라는 이유로 형사책임이 배제되고 사건이 불기소로 끝난 데 따른 것이다</a:t>
            </a:r>
          </a:p>
        </p:txBody>
      </p:sp>
      <p:sp>
        <p:nvSpPr>
          <p:cNvPr id="7" name="RULE"/>
          <p:cNvSpPr/>
          <p:nvPr/>
        </p:nvSpPr>
        <p:spPr>
          <a:xfrm>
            <a:off x="731520" y="2286000"/>
            <a:ext cx="10725912" cy="0"/>
          </a:xfrm>
          <a:prstGeom prst="line">
            <a:avLst/>
          </a:prstGeom>
          <a:ln w="19050">
            <a:solidFill>
              <a:srgbClr val="1E2761"/>
            </a:solidFill>
          </a:ln>
        </p:spPr>
        <p:txBody>
          <a:bodyPr/>
          <a:lstStyle/>
          <a:p>
            <a:endParaRPr lang="ko-KR"/>
          </a:p>
        </p:txBody>
      </p:sp>
      <p:sp>
        <p:nvSpPr>
          <p:cNvPr id="8" name="NAVYBG"/>
          <p:cNvSpPr/>
          <p:nvPr/>
        </p:nvSpPr>
        <p:spPr>
          <a:xfrm>
            <a:off x="1124712" y="5916676"/>
            <a:ext cx="9912096" cy="457200"/>
          </a:xfrm>
          <a:prstGeom prst="rect">
            <a:avLst/>
          </a:prstGeom>
          <a:solidFill>
            <a:srgbClr val="1E2761"/>
          </a:solidFill>
          <a:ln/>
        </p:spPr>
        <p:txBody>
          <a:bodyPr/>
          <a:lstStyle/>
          <a:p>
            <a:endParaRPr lang="ko-KR" altLang="en-US"/>
          </a:p>
        </p:txBody>
      </p:sp>
      <p:sp>
        <p:nvSpPr>
          <p:cNvPr id="9" name="NAVYTX"/>
          <p:cNvSpPr/>
          <p:nvPr/>
        </p:nvSpPr>
        <p:spPr>
          <a:xfrm>
            <a:off x="1307592" y="5944108"/>
            <a:ext cx="9546336" cy="402336"/>
          </a:xfrm>
          <a:prstGeom prst="rect">
            <a:avLst/>
          </a:prstGeom>
          <a:noFill/>
          <a:ln/>
        </p:spPr>
        <p:txBody>
          <a:bodyPr wrap="square" lIns="0" tIns="0" rIns="0" bIns="0" rtlCol="0" anchor="ctr"/>
          <a:lstStyle/>
          <a:p>
            <a:pPr marL="0" indent="0" algn="ctr">
              <a:lnSpc>
                <a:spcPct val="118000"/>
              </a:lnSpc>
              <a:buNone/>
            </a:pPr>
            <a:r>
              <a:rPr lang="ko-KR" altLang="en-US" sz="1250" b="1" dirty="0">
                <a:solidFill>
                  <a:srgbClr val="FFFFFF"/>
                </a:solidFill>
                <a:latin typeface="Pretendard" pitchFamily="34" charset="0"/>
                <a:ea typeface="Pretendard" pitchFamily="34" charset="-122"/>
                <a:cs typeface="Pretendard" pitchFamily="34" charset="-120"/>
              </a:rPr>
              <a:t>연령을 이유로 형사재판이 열리지 않을 때, 피해자의 헌법상 권리는 어떻게 되는가</a:t>
            </a:r>
          </a:p>
        </p:txBody>
      </p:sp>
      <p:sp>
        <p:nvSpPr>
          <p:cNvPr id="10" name="HEAD10"/>
          <p:cNvSpPr/>
          <p:nvPr/>
        </p:nvSpPr>
        <p:spPr>
          <a:xfrm>
            <a:off x="1301242" y="2739262"/>
            <a:ext cx="812800" cy="224029"/>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사건의 시작</a:t>
            </a:r>
          </a:p>
        </p:txBody>
      </p:sp>
      <p:sp>
        <p:nvSpPr>
          <p:cNvPr id="11" name="BODY11"/>
          <p:cNvSpPr/>
          <p:nvPr/>
        </p:nvSpPr>
        <p:spPr>
          <a:xfrm>
            <a:off x="3154680" y="2574544"/>
            <a:ext cx="8302752" cy="571500"/>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6학년 9명이 1학년 아동을 반복 폭행·성폭행했다는 내용으로 2001년 고소됐다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행위 당시 피고소인 9명 가운데 2명은 11세, 7명은 12세였다</a:t>
            </a:r>
          </a:p>
        </p:txBody>
      </p:sp>
      <p:sp>
        <p:nvSpPr>
          <p:cNvPr id="12" name="RULE12"/>
          <p:cNvSpPr/>
          <p:nvPr/>
        </p:nvSpPr>
        <p:spPr>
          <a:xfrm>
            <a:off x="731520" y="3332988"/>
            <a:ext cx="10725912" cy="0"/>
          </a:xfrm>
          <a:prstGeom prst="line">
            <a:avLst/>
          </a:prstGeom>
          <a:ln w="9525">
            <a:solidFill>
              <a:srgbClr val="DCE0E8"/>
            </a:solidFill>
          </a:ln>
        </p:spPr>
        <p:txBody>
          <a:bodyPr/>
          <a:lstStyle/>
          <a:p>
            <a:endParaRPr lang="ko-KR"/>
          </a:p>
        </p:txBody>
      </p:sp>
      <p:sp>
        <p:nvSpPr>
          <p:cNvPr id="13" name="HEAD13"/>
          <p:cNvSpPr/>
          <p:nvPr/>
        </p:nvSpPr>
        <p:spPr>
          <a:xfrm>
            <a:off x="1301242" y="3692270"/>
            <a:ext cx="805180" cy="263398"/>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검사의 처분</a:t>
            </a:r>
          </a:p>
        </p:txBody>
      </p:sp>
      <p:sp>
        <p:nvSpPr>
          <p:cNvPr id="14" name="BODY14"/>
          <p:cNvSpPr/>
          <p:nvPr/>
        </p:nvSpPr>
        <p:spPr>
          <a:xfrm>
            <a:off x="3154680" y="3387852"/>
            <a:ext cx="8302752" cy="763524"/>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검사는 형법 제9조의 형사미성년자라는 이유로 죄가안됨 불기소처분을 했다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2002년 3월 7일의 처분이다.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형법 제9조: “14세되지 아니한 자의 행위는 벌하지 아니한다.”</a:t>
            </a:r>
          </a:p>
        </p:txBody>
      </p:sp>
      <p:sp>
        <p:nvSpPr>
          <p:cNvPr id="15" name="RULE15"/>
          <p:cNvSpPr/>
          <p:nvPr/>
        </p:nvSpPr>
        <p:spPr>
          <a:xfrm>
            <a:off x="731520" y="4197096"/>
            <a:ext cx="10725912" cy="0"/>
          </a:xfrm>
          <a:prstGeom prst="line">
            <a:avLst/>
          </a:prstGeom>
          <a:ln w="9525">
            <a:solidFill>
              <a:srgbClr val="DCE0E8"/>
            </a:solidFill>
          </a:ln>
        </p:spPr>
        <p:txBody>
          <a:bodyPr/>
          <a:lstStyle/>
          <a:p>
            <a:endParaRPr lang="ko-KR"/>
          </a:p>
        </p:txBody>
      </p:sp>
      <p:sp>
        <p:nvSpPr>
          <p:cNvPr id="16" name="HEAD16"/>
          <p:cNvSpPr/>
          <p:nvPr/>
        </p:nvSpPr>
        <p:spPr>
          <a:xfrm>
            <a:off x="1301242" y="4441190"/>
            <a:ext cx="1097280" cy="237490"/>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헌재까지의 경로</a:t>
            </a:r>
          </a:p>
        </p:txBody>
      </p:sp>
      <p:sp>
        <p:nvSpPr>
          <p:cNvPr id="17" name="BODY17"/>
          <p:cNvSpPr/>
          <p:nvPr/>
        </p:nvSpPr>
        <p:spPr>
          <a:xfrm>
            <a:off x="3154680" y="4296410"/>
            <a:ext cx="8302752" cy="539496"/>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불기소처분 → 항고 → 재항고 → 모두 기각 → 헌법소원심판 청구</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헌법재판소법 제68조 제1항의 헌법소원으로, 법원의 위헌법률심판 제청을 거친 사건이 아니다.</a:t>
            </a:r>
          </a:p>
        </p:txBody>
      </p:sp>
      <p:sp>
        <p:nvSpPr>
          <p:cNvPr id="18" name="R18"/>
          <p:cNvSpPr/>
          <p:nvPr/>
        </p:nvSpPr>
        <p:spPr>
          <a:xfrm>
            <a:off x="731520" y="4894326"/>
            <a:ext cx="10725912" cy="0"/>
          </a:xfrm>
          <a:prstGeom prst="line">
            <a:avLst/>
          </a:prstGeom>
          <a:ln w="9525">
            <a:solidFill>
              <a:srgbClr val="DCE0E8"/>
            </a:solidFill>
          </a:ln>
        </p:spPr>
        <p:txBody>
          <a:bodyPr/>
          <a:lstStyle/>
          <a:p>
            <a:endParaRPr lang="ko-KR"/>
          </a:p>
        </p:txBody>
      </p:sp>
      <p:sp>
        <p:nvSpPr>
          <p:cNvPr id="19" name="HEAD19"/>
          <p:cNvSpPr/>
          <p:nvPr/>
        </p:nvSpPr>
        <p:spPr>
          <a:xfrm>
            <a:off x="1294892" y="5249927"/>
            <a:ext cx="640080" cy="245108"/>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심판대상</a:t>
            </a:r>
          </a:p>
        </p:txBody>
      </p:sp>
      <p:sp>
        <p:nvSpPr>
          <p:cNvPr id="20" name="ST1"/>
          <p:cNvSpPr/>
          <p:nvPr/>
        </p:nvSpPr>
        <p:spPr>
          <a:xfrm>
            <a:off x="3141980" y="5113021"/>
            <a:ext cx="3977640" cy="566928"/>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222633"/>
                </a:solidFill>
                <a:latin typeface="Pretendard" pitchFamily="34" charset="0"/>
                <a:ea typeface="Pretendard" pitchFamily="34" charset="-122"/>
                <a:cs typeface="Pretendard" pitchFamily="34" charset="-120"/>
              </a:rPr>
              <a:t>① 형법 제9조</a:t>
            </a:r>
          </a:p>
          <a:p>
            <a:pPr marL="0" indent="0">
              <a:lnSpc>
                <a:spcPct val="125000"/>
              </a:lnSpc>
              <a:buNone/>
            </a:pPr>
            <a:r>
              <a:rPr lang="ko-KR" altLang="en-US" sz="1150" dirty="0">
                <a:solidFill>
                  <a:srgbClr val="464D5C"/>
                </a:solidFill>
                <a:latin typeface="Pretendard" pitchFamily="34" charset="0"/>
                <a:ea typeface="Pretendard" pitchFamily="34" charset="-122"/>
                <a:cs typeface="Pretendard" pitchFamily="34" charset="-120"/>
              </a:rPr>
              <a:t>14세 미만의 형사책임을 일률적으로 배제하는 법률</a:t>
            </a:r>
          </a:p>
        </p:txBody>
      </p:sp>
      <p:sp>
        <p:nvSpPr>
          <p:cNvPr id="21" name="ST2"/>
          <p:cNvSpPr/>
          <p:nvPr/>
        </p:nvSpPr>
        <p:spPr>
          <a:xfrm>
            <a:off x="7460742" y="5101590"/>
            <a:ext cx="3977640" cy="566928"/>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222633"/>
                </a:solidFill>
                <a:latin typeface="Pretendard" pitchFamily="34" charset="0"/>
                <a:ea typeface="Pretendard" pitchFamily="34" charset="-122"/>
                <a:cs typeface="Pretendard" pitchFamily="34" charset="-120"/>
              </a:rPr>
              <a:t>② 검사의 불기소처분</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2002년 3월 7일의 죄가안됨 처분</a:t>
            </a:r>
          </a:p>
        </p:txBody>
      </p:sp>
      <p:sp>
        <p:nvSpPr>
          <p:cNvPr id="22"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헌법재판소 2003. 9. 25. 2002헌마533 「형법 제9조 위헌확인 등」 — 사건 경위·연령·심판대상은 결정문 기준</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합헌 판단과 남은 문제</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a:lnSpc>
                <a:spcPct val="118000"/>
              </a:lnSpc>
            </a:pPr>
            <a:r>
              <a:rPr lang="en-US" altLang="ko-KR" sz="2500" b="1" dirty="0">
                <a:solidFill>
                  <a:srgbClr val="1E2761"/>
                </a:solidFill>
                <a:latin typeface="Pretendard" pitchFamily="34" charset="0"/>
                <a:ea typeface="Pretendard" pitchFamily="34" charset="-122"/>
                <a:cs typeface="Pretendard" pitchFamily="34" charset="-120"/>
              </a:rPr>
              <a:t>2002</a:t>
            </a:r>
            <a:r>
              <a:rPr lang="ko-KR" altLang="en-US" sz="2500" b="1" dirty="0" err="1">
                <a:solidFill>
                  <a:srgbClr val="1E2761"/>
                </a:solidFill>
                <a:latin typeface="Pretendard" pitchFamily="34" charset="0"/>
                <a:ea typeface="Pretendard" pitchFamily="34" charset="-122"/>
                <a:cs typeface="Pretendard" pitchFamily="34" charset="-120"/>
              </a:rPr>
              <a:t>헌마</a:t>
            </a:r>
            <a:r>
              <a:rPr lang="en-US" altLang="ko-KR" sz="2500" b="1" dirty="0">
                <a:solidFill>
                  <a:srgbClr val="1E2761"/>
                </a:solidFill>
                <a:latin typeface="Pretendard" pitchFamily="34" charset="0"/>
                <a:ea typeface="Pretendard" pitchFamily="34" charset="-122"/>
                <a:cs typeface="Pretendard" pitchFamily="34" charset="-120"/>
              </a:rPr>
              <a:t>533</a:t>
            </a:r>
            <a:r>
              <a:rPr lang="ko-KR" altLang="en-US" sz="2500" b="1" dirty="0">
                <a:solidFill>
                  <a:srgbClr val="1E2761"/>
                </a:solidFill>
                <a:latin typeface="Pretendard" pitchFamily="34" charset="0"/>
                <a:ea typeface="Pretendard" pitchFamily="34" charset="-122"/>
                <a:cs typeface="Pretendard" pitchFamily="34" charset="-120"/>
              </a:rPr>
              <a:t> </a:t>
            </a:r>
            <a:r>
              <a:rPr lang="ko-KR" altLang="en-US" sz="2500" b="1" dirty="0" err="1">
                <a:solidFill>
                  <a:srgbClr val="1E2761"/>
                </a:solidFill>
                <a:latin typeface="Pretendard" pitchFamily="34" charset="0"/>
                <a:ea typeface="Pretendard" pitchFamily="34" charset="-122"/>
                <a:cs typeface="Pretendard" pitchFamily="34" charset="-120"/>
              </a:rPr>
              <a:t>ㅡ</a:t>
            </a:r>
            <a:r>
              <a:rPr lang="ko-KR" altLang="en-US" sz="2500" b="1" dirty="0">
                <a:solidFill>
                  <a:srgbClr val="1E2761"/>
                </a:solidFill>
                <a:latin typeface="Pretendard" pitchFamily="34" charset="0"/>
                <a:ea typeface="Pretendard" pitchFamily="34" charset="-122"/>
                <a:cs typeface="Pretendard" pitchFamily="34" charset="-120"/>
              </a:rPr>
              <a:t> 형사책임 배제에 대한 일률적인 14세 연령 기준은 정당한가</a:t>
            </a:r>
          </a:p>
        </p:txBody>
      </p:sp>
      <p:sp>
        <p:nvSpPr>
          <p:cNvPr id="5" name="BANDBG"/>
          <p:cNvSpPr/>
          <p:nvPr/>
        </p:nvSpPr>
        <p:spPr>
          <a:xfrm>
            <a:off x="731520" y="1417320"/>
            <a:ext cx="10725912" cy="7772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7772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헌재는 개별 능력을 사건마다 판단하기보다 객관적인 연령선을 두는 것이 합리적이라고 보았다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 청구인은 실제 책임능력이 있는 14세 미만 소년도 있을 수 있다고 주장했다</a:t>
            </a:r>
          </a:p>
        </p:txBody>
      </p:sp>
      <p:sp>
        <p:nvSpPr>
          <p:cNvPr id="7" name="RULE"/>
          <p:cNvSpPr/>
          <p:nvPr/>
        </p:nvSpPr>
        <p:spPr>
          <a:xfrm>
            <a:off x="731520" y="2286000"/>
            <a:ext cx="10725912" cy="0"/>
          </a:xfrm>
          <a:prstGeom prst="line">
            <a:avLst/>
          </a:prstGeom>
          <a:ln w="19050">
            <a:solidFill>
              <a:srgbClr val="1E2761"/>
            </a:solidFill>
          </a:ln>
        </p:spPr>
        <p:txBody>
          <a:bodyPr/>
          <a:lstStyle/>
          <a:p>
            <a:endParaRPr lang="ko-KR"/>
          </a:p>
        </p:txBody>
      </p:sp>
      <p:sp>
        <p:nvSpPr>
          <p:cNvPr id="8" name="IL8"/>
          <p:cNvSpPr/>
          <p:nvPr/>
        </p:nvSpPr>
        <p:spPr>
          <a:xfrm>
            <a:off x="731520" y="2468880"/>
            <a:ext cx="10725912" cy="256032"/>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① 같은 나이라도 책임능력이 다른데 일률적으로 배제해도 되는가</a:t>
            </a:r>
          </a:p>
        </p:txBody>
      </p:sp>
      <p:sp>
        <p:nvSpPr>
          <p:cNvPr id="9" name="CT9"/>
          <p:cNvSpPr/>
          <p:nvPr/>
        </p:nvSpPr>
        <p:spPr>
          <a:xfrm>
            <a:off x="731520" y="2798826"/>
            <a:ext cx="5175504" cy="201168"/>
          </a:xfrm>
          <a:prstGeom prst="rect">
            <a:avLst/>
          </a:prstGeom>
          <a:noFill/>
          <a:ln/>
        </p:spPr>
        <p:txBody>
          <a:bodyPr wrap="square" lIns="0" tIns="0" rIns="0" bIns="0" rtlCol="0" anchor="t"/>
          <a:lstStyle/>
          <a:p>
            <a:pPr marL="0" indent="0">
              <a:lnSpc>
                <a:spcPct val="118000"/>
              </a:lnSpc>
              <a:buNone/>
            </a:pPr>
            <a:r>
              <a:rPr lang="ko-KR" altLang="en-US" sz="1200" b="1" dirty="0">
                <a:solidFill>
                  <a:srgbClr val="464D5C"/>
                </a:solidFill>
                <a:latin typeface="Pretendard" pitchFamily="34" charset="0"/>
                <a:ea typeface="Pretendard" pitchFamily="34" charset="-122"/>
                <a:cs typeface="Pretendard" pitchFamily="34" charset="-120"/>
              </a:rPr>
              <a:t>청구인</a:t>
            </a:r>
          </a:p>
        </p:txBody>
      </p:sp>
      <p:sp>
        <p:nvSpPr>
          <p:cNvPr id="11" name="CT11"/>
          <p:cNvSpPr/>
          <p:nvPr/>
        </p:nvSpPr>
        <p:spPr>
          <a:xfrm>
            <a:off x="6281928" y="2773426"/>
            <a:ext cx="5175504" cy="201168"/>
          </a:xfrm>
          <a:prstGeom prst="rect">
            <a:avLst/>
          </a:prstGeom>
          <a:noFill/>
          <a:ln/>
        </p:spPr>
        <p:txBody>
          <a:bodyPr wrap="square" lIns="0" tIns="0" rIns="0" bIns="0" rtlCol="0" anchor="t"/>
          <a:lstStyle/>
          <a:p>
            <a:pPr marL="0" indent="0">
              <a:lnSpc>
                <a:spcPct val="118000"/>
              </a:lnSpc>
              <a:buNone/>
            </a:pPr>
            <a:r>
              <a:rPr lang="ko-KR" altLang="en-US" sz="1200" b="1" dirty="0">
                <a:solidFill>
                  <a:srgbClr val="464D5C"/>
                </a:solidFill>
                <a:latin typeface="Pretendard" pitchFamily="34" charset="0"/>
                <a:ea typeface="Pretendard" pitchFamily="34" charset="-122"/>
                <a:cs typeface="Pretendard" pitchFamily="34" charset="-120"/>
              </a:rPr>
              <a:t>헌재</a:t>
            </a:r>
          </a:p>
        </p:txBody>
      </p:sp>
      <p:sp>
        <p:nvSpPr>
          <p:cNvPr id="13" name="CB13"/>
          <p:cNvSpPr/>
          <p:nvPr/>
        </p:nvSpPr>
        <p:spPr>
          <a:xfrm>
            <a:off x="731520" y="3090672"/>
            <a:ext cx="5175504" cy="512064"/>
          </a:xfrm>
          <a:prstGeom prst="rect">
            <a:avLst/>
          </a:prstGeom>
          <a:noFill/>
          <a:ln/>
        </p:spPr>
        <p:txBody>
          <a:bodyPr wrap="square" lIns="0" tIns="0" rIns="0" bIns="0" rtlCol="0" anchor="t"/>
          <a:lstStyle/>
          <a:p>
            <a:pPr marL="0" indent="0">
              <a:lnSpc>
                <a:spcPct val="125000"/>
              </a:lnSpc>
              <a:buNone/>
            </a:pPr>
            <a:r>
              <a:rPr lang="ko-KR" altLang="en-US" sz="1200" dirty="0">
                <a:solidFill>
                  <a:srgbClr val="222633"/>
                </a:solidFill>
                <a:latin typeface="Pretendard" pitchFamily="34" charset="0"/>
                <a:ea typeface="Pretendard" pitchFamily="34" charset="-122"/>
                <a:cs typeface="Pretendard" pitchFamily="34" charset="-120"/>
              </a:rPr>
              <a:t>성장이 빨라져 14세 미만이라도 책임을 질 만큼 성숙한 소년이 있을 수 있는데, </a:t>
            </a:r>
            <a:endParaRPr lang="en-US" altLang="ko-KR" sz="1200" dirty="0">
              <a:solidFill>
                <a:srgbClr val="222633"/>
              </a:solidFill>
              <a:latin typeface="Pretendard" pitchFamily="34" charset="0"/>
              <a:ea typeface="Pretendard" pitchFamily="34" charset="-122"/>
              <a:cs typeface="Pretendard" pitchFamily="34" charset="-120"/>
            </a:endParaRPr>
          </a:p>
          <a:p>
            <a:pPr marL="0" indent="0">
              <a:lnSpc>
                <a:spcPct val="125000"/>
              </a:lnSpc>
              <a:buNone/>
            </a:pPr>
            <a:r>
              <a:rPr lang="ko-KR" altLang="en-US" sz="1200" dirty="0">
                <a:solidFill>
                  <a:srgbClr val="222633"/>
                </a:solidFill>
                <a:latin typeface="Pretendard" pitchFamily="34" charset="0"/>
                <a:ea typeface="Pretendard" pitchFamily="34" charset="-122"/>
                <a:cs typeface="Pretendard" pitchFamily="34" charset="-120"/>
              </a:rPr>
              <a:t>실제 성숙도를 살피지 않고 연령만으로 모두 배제한다.</a:t>
            </a:r>
          </a:p>
        </p:txBody>
      </p:sp>
      <p:sp>
        <p:nvSpPr>
          <p:cNvPr id="14" name="CB14"/>
          <p:cNvSpPr/>
          <p:nvPr/>
        </p:nvSpPr>
        <p:spPr>
          <a:xfrm>
            <a:off x="6281928" y="3090672"/>
            <a:ext cx="5175504" cy="512064"/>
          </a:xfrm>
          <a:prstGeom prst="rect">
            <a:avLst/>
          </a:prstGeom>
          <a:noFill/>
          <a:ln/>
        </p:spPr>
        <p:txBody>
          <a:bodyPr wrap="square" lIns="0" tIns="0" rIns="0" bIns="0" rtlCol="0" anchor="t"/>
          <a:lstStyle/>
          <a:p>
            <a:pPr marL="0" indent="0">
              <a:lnSpc>
                <a:spcPct val="125000"/>
              </a:lnSpc>
              <a:buNone/>
            </a:pPr>
            <a:r>
              <a:rPr lang="ko-KR" altLang="en-US" sz="1200" dirty="0">
                <a:solidFill>
                  <a:srgbClr val="222633"/>
                </a:solidFill>
                <a:latin typeface="Pretendard" pitchFamily="34" charset="0"/>
                <a:ea typeface="Pretendard" pitchFamily="34" charset="-122"/>
                <a:cs typeface="Pretendard" pitchFamily="34" charset="-120"/>
              </a:rPr>
              <a:t>개인차가 큰 성숙도·변별능력·행동통제능력을 사건마다 정확히 판단·추정하기는 곤란하다. 연령 기준의 일률적인 방식은 합리적이다.</a:t>
            </a:r>
          </a:p>
        </p:txBody>
      </p:sp>
      <p:sp>
        <p:nvSpPr>
          <p:cNvPr id="15" name="R15"/>
          <p:cNvSpPr/>
          <p:nvPr/>
        </p:nvSpPr>
        <p:spPr>
          <a:xfrm>
            <a:off x="731520" y="3657600"/>
            <a:ext cx="10725912" cy="0"/>
          </a:xfrm>
          <a:prstGeom prst="line">
            <a:avLst/>
          </a:prstGeom>
          <a:ln w="9525">
            <a:solidFill>
              <a:srgbClr val="DCE0E8"/>
            </a:solidFill>
          </a:ln>
        </p:spPr>
        <p:txBody>
          <a:bodyPr/>
          <a:lstStyle/>
          <a:p>
            <a:endParaRPr lang="ko-KR"/>
          </a:p>
        </p:txBody>
      </p:sp>
      <p:sp>
        <p:nvSpPr>
          <p:cNvPr id="16" name="IL16"/>
          <p:cNvSpPr/>
          <p:nvPr/>
        </p:nvSpPr>
        <p:spPr>
          <a:xfrm>
            <a:off x="731520" y="3850640"/>
            <a:ext cx="10725912" cy="256032"/>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② 연령선을 둘 수 있다면 왜 하필 14세인가</a:t>
            </a:r>
          </a:p>
        </p:txBody>
      </p:sp>
      <p:sp>
        <p:nvSpPr>
          <p:cNvPr id="17" name="CT17"/>
          <p:cNvSpPr/>
          <p:nvPr/>
        </p:nvSpPr>
        <p:spPr>
          <a:xfrm>
            <a:off x="731520" y="4193286"/>
            <a:ext cx="5175504" cy="201168"/>
          </a:xfrm>
          <a:prstGeom prst="rect">
            <a:avLst/>
          </a:prstGeom>
          <a:noFill/>
          <a:ln/>
        </p:spPr>
        <p:txBody>
          <a:bodyPr wrap="square" lIns="0" tIns="0" rIns="0" bIns="0" rtlCol="0" anchor="t"/>
          <a:lstStyle/>
          <a:p>
            <a:pPr marL="0" indent="0">
              <a:lnSpc>
                <a:spcPct val="118000"/>
              </a:lnSpc>
              <a:buNone/>
            </a:pPr>
            <a:r>
              <a:rPr lang="ko-KR" altLang="en-US" sz="1200" b="1" dirty="0">
                <a:solidFill>
                  <a:srgbClr val="464D5C"/>
                </a:solidFill>
                <a:latin typeface="Pretendard" pitchFamily="34" charset="0"/>
                <a:ea typeface="Pretendard" pitchFamily="34" charset="-122"/>
                <a:cs typeface="Pretendard" pitchFamily="34" charset="-120"/>
              </a:rPr>
              <a:t>청구인</a:t>
            </a:r>
          </a:p>
        </p:txBody>
      </p:sp>
      <p:sp>
        <p:nvSpPr>
          <p:cNvPr id="19" name="CT19"/>
          <p:cNvSpPr/>
          <p:nvPr/>
        </p:nvSpPr>
        <p:spPr>
          <a:xfrm>
            <a:off x="6281928" y="4180586"/>
            <a:ext cx="5175504" cy="201168"/>
          </a:xfrm>
          <a:prstGeom prst="rect">
            <a:avLst/>
          </a:prstGeom>
          <a:noFill/>
          <a:ln/>
        </p:spPr>
        <p:txBody>
          <a:bodyPr wrap="square" lIns="0" tIns="0" rIns="0" bIns="0" rtlCol="0" anchor="t"/>
          <a:lstStyle/>
          <a:p>
            <a:pPr marL="0" indent="0">
              <a:lnSpc>
                <a:spcPct val="118000"/>
              </a:lnSpc>
              <a:buNone/>
            </a:pPr>
            <a:r>
              <a:rPr lang="ko-KR" altLang="en-US" sz="1200" b="1" dirty="0">
                <a:solidFill>
                  <a:srgbClr val="464D5C"/>
                </a:solidFill>
                <a:latin typeface="Pretendard" pitchFamily="34" charset="0"/>
                <a:ea typeface="Pretendard" pitchFamily="34" charset="-122"/>
                <a:cs typeface="Pretendard" pitchFamily="34" charset="-120"/>
              </a:rPr>
              <a:t>헌재</a:t>
            </a:r>
          </a:p>
        </p:txBody>
      </p:sp>
      <p:sp>
        <p:nvSpPr>
          <p:cNvPr id="21" name="CB21"/>
          <p:cNvSpPr/>
          <p:nvPr/>
        </p:nvSpPr>
        <p:spPr>
          <a:xfrm>
            <a:off x="731520" y="4472432"/>
            <a:ext cx="5175504" cy="512064"/>
          </a:xfrm>
          <a:prstGeom prst="rect">
            <a:avLst/>
          </a:prstGeom>
          <a:noFill/>
          <a:ln/>
        </p:spPr>
        <p:txBody>
          <a:bodyPr wrap="square" lIns="0" tIns="0" rIns="0" bIns="0" rtlCol="0" anchor="t"/>
          <a:lstStyle/>
          <a:p>
            <a:pPr marL="0" indent="0">
              <a:lnSpc>
                <a:spcPct val="125000"/>
              </a:lnSpc>
              <a:buNone/>
            </a:pPr>
            <a:r>
              <a:rPr lang="ko-KR" altLang="en-US" sz="1200" b="1" dirty="0">
                <a:solidFill>
                  <a:srgbClr val="222633"/>
                </a:solidFill>
                <a:highlight>
                  <a:srgbClr val="FFFF00"/>
                </a:highlight>
                <a:latin typeface="Pretendard" pitchFamily="34" charset="0"/>
                <a:ea typeface="Pretendard" pitchFamily="34" charset="-122"/>
                <a:cs typeface="Pretendard" pitchFamily="34" charset="-120"/>
              </a:rPr>
              <a:t>형법 제정 당시와 비교해 소년의 성장과 생활환경이 달라졌는데도 14세 기준을 그대로 유지하는 것이 합리적인가</a:t>
            </a:r>
            <a:r>
              <a:rPr lang="ko-KR" altLang="en-US" sz="1200" dirty="0">
                <a:solidFill>
                  <a:srgbClr val="222633"/>
                </a:solidFill>
                <a:latin typeface="Pretendard" pitchFamily="34" charset="0"/>
                <a:ea typeface="Pretendard" pitchFamily="34" charset="-122"/>
                <a:cs typeface="Pretendard" pitchFamily="34" charset="-120"/>
              </a:rPr>
              <a:t>.</a:t>
            </a:r>
          </a:p>
        </p:txBody>
      </p:sp>
      <p:sp>
        <p:nvSpPr>
          <p:cNvPr id="22" name="CB22"/>
          <p:cNvSpPr/>
          <p:nvPr/>
        </p:nvSpPr>
        <p:spPr>
          <a:xfrm>
            <a:off x="6281928" y="4466082"/>
            <a:ext cx="5175504" cy="512064"/>
          </a:xfrm>
          <a:prstGeom prst="rect">
            <a:avLst/>
          </a:prstGeom>
          <a:noFill/>
          <a:ln/>
        </p:spPr>
        <p:txBody>
          <a:bodyPr wrap="square" lIns="0" tIns="0" rIns="0" bIns="0" rtlCol="0" anchor="t"/>
          <a:lstStyle/>
          <a:p>
            <a:pPr marL="0" indent="0">
              <a:lnSpc>
                <a:spcPct val="125000"/>
              </a:lnSpc>
              <a:buNone/>
            </a:pPr>
            <a:r>
              <a:rPr lang="ko-KR" altLang="en-US" sz="1200" b="1" dirty="0">
                <a:solidFill>
                  <a:srgbClr val="222633"/>
                </a:solidFill>
                <a:highlight>
                  <a:srgbClr val="FFFF00"/>
                </a:highlight>
                <a:latin typeface="Pretendard" pitchFamily="34" charset="0"/>
                <a:ea typeface="Pretendard" pitchFamily="34" charset="-122"/>
                <a:cs typeface="Pretendard" pitchFamily="34" charset="-120"/>
              </a:rPr>
              <a:t>책임연령은 발달과 교육·사회·문화적 환경, 외국 입법례를 종합할 입법정책의 문제다.</a:t>
            </a:r>
            <a:r>
              <a:rPr lang="ko-KR" altLang="en-US" sz="1200" dirty="0">
                <a:solidFill>
                  <a:srgbClr val="222633"/>
                </a:solidFill>
                <a:latin typeface="Pretendard" pitchFamily="34" charset="0"/>
                <a:ea typeface="Pretendard" pitchFamily="34" charset="-122"/>
                <a:cs typeface="Pretendard" pitchFamily="34" charset="-120"/>
              </a:rPr>
              <a:t> 14세가 현저하게 불합리하다고 보기 어렵다.</a:t>
            </a:r>
          </a:p>
        </p:txBody>
      </p:sp>
      <p:sp>
        <p:nvSpPr>
          <p:cNvPr id="23" name="R23"/>
          <p:cNvSpPr/>
          <p:nvPr/>
        </p:nvSpPr>
        <p:spPr>
          <a:xfrm>
            <a:off x="731520" y="5109210"/>
            <a:ext cx="10725912" cy="0"/>
          </a:xfrm>
          <a:prstGeom prst="line">
            <a:avLst/>
          </a:prstGeom>
          <a:ln w="9525">
            <a:solidFill>
              <a:srgbClr val="DCE0E8"/>
            </a:solidFill>
          </a:ln>
        </p:spPr>
        <p:txBody>
          <a:bodyPr/>
          <a:lstStyle/>
          <a:p>
            <a:endParaRPr lang="ko-KR"/>
          </a:p>
        </p:txBody>
      </p:sp>
      <p:sp>
        <p:nvSpPr>
          <p:cNvPr id="24" name="HEAD24"/>
          <p:cNvSpPr/>
          <p:nvPr/>
        </p:nvSpPr>
        <p:spPr>
          <a:xfrm>
            <a:off x="731520" y="5409436"/>
            <a:ext cx="2240280" cy="251716"/>
          </a:xfrm>
          <a:prstGeom prst="rect">
            <a:avLst/>
          </a:prstGeom>
          <a:noFill/>
          <a:ln/>
        </p:spPr>
        <p:txBody>
          <a:bodyPr wrap="square" lIns="0" tIns="0" rIns="0" bIns="0" rtlCol="0" anchor="t"/>
          <a:lstStyle/>
          <a:p>
            <a:pPr>
              <a:lnSpc>
                <a:spcPct val="118000"/>
              </a:lnSpc>
            </a:pPr>
            <a:r>
              <a:rPr lang="ko-KR" altLang="en-US" sz="1300" b="1" dirty="0">
                <a:solidFill>
                  <a:srgbClr val="1E2761"/>
                </a:solidFill>
                <a:latin typeface="Pretendard" pitchFamily="34" charset="0"/>
                <a:ea typeface="Pretendard" pitchFamily="34" charset="-122"/>
                <a:cs typeface="Pretendard" pitchFamily="34" charset="-120"/>
              </a:rPr>
              <a:t>③ 피해자의 권리</a:t>
            </a:r>
          </a:p>
        </p:txBody>
      </p:sp>
      <p:sp>
        <p:nvSpPr>
          <p:cNvPr id="25" name="BODY25"/>
          <p:cNvSpPr/>
          <p:nvPr/>
        </p:nvSpPr>
        <p:spPr>
          <a:xfrm>
            <a:off x="3154680" y="5254371"/>
            <a:ext cx="8302752" cy="521588"/>
          </a:xfrm>
          <a:prstGeom prst="rect">
            <a:avLst/>
          </a:prstGeom>
          <a:noFill/>
          <a:ln/>
        </p:spPr>
        <p:txBody>
          <a:bodyPr wrap="square" lIns="0" tIns="0" rIns="0" bIns="0" rtlCol="0" anchor="t"/>
          <a:lstStyle/>
          <a:p>
            <a:pPr marL="0" indent="0">
              <a:lnSpc>
                <a:spcPct val="125000"/>
              </a:lnSpc>
              <a:spcAft>
                <a:spcPts val="400"/>
              </a:spcAft>
              <a:buNone/>
            </a:pPr>
            <a:r>
              <a:rPr lang="ko-KR" altLang="en-US" sz="1150" dirty="0">
                <a:solidFill>
                  <a:srgbClr val="464D5C"/>
                </a:solidFill>
                <a:latin typeface="Pretendard" pitchFamily="34" charset="0"/>
                <a:ea typeface="Pretendard" pitchFamily="34" charset="-122"/>
                <a:cs typeface="Pretendard" pitchFamily="34" charset="-120"/>
              </a:rPr>
              <a:t>형사재판이 열리지 않으면 피해자는 그 절차에서 진술할 수 없고, 가해자의 연령에 따라 그 가능성이 달라진다(헌법 제27조 제5항 · 제11조 제1항).</a:t>
            </a:r>
          </a:p>
          <a:p>
            <a:pPr marL="0" indent="0">
              <a:lnSpc>
                <a:spcPct val="125000"/>
              </a:lnSpc>
              <a:buNone/>
            </a:pPr>
            <a:r>
              <a:rPr lang="ko-KR" altLang="en-US" sz="1250" b="1" dirty="0">
                <a:solidFill>
                  <a:srgbClr val="222633"/>
                </a:solidFill>
                <a:latin typeface="Pretendard" pitchFamily="34" charset="0"/>
                <a:ea typeface="Pretendard" pitchFamily="34" charset="-122"/>
                <a:cs typeface="Pretendard" pitchFamily="34" charset="-120"/>
              </a:rPr>
              <a:t>헌재는 그 차이가 합리적인 책임연령제도에 따른 것이므로 재판절차진술권과 평등권의 침해가 아니라고 보았다.</a:t>
            </a:r>
          </a:p>
        </p:txBody>
      </p:sp>
      <p:sp>
        <p:nvSpPr>
          <p:cNvPr id="27" name="CLOSE"/>
          <p:cNvSpPr/>
          <p:nvPr/>
        </p:nvSpPr>
        <p:spPr>
          <a:xfrm>
            <a:off x="731520" y="5907024"/>
            <a:ext cx="10725912" cy="292608"/>
          </a:xfrm>
          <a:prstGeom prst="rect">
            <a:avLst/>
          </a:prstGeom>
          <a:noFill/>
          <a:ln/>
        </p:spPr>
        <p:txBody>
          <a:bodyPr wrap="square" lIns="0" tIns="0" rIns="0" bIns="0" rtlCol="0" anchor="t"/>
          <a:lstStyle/>
          <a:p>
            <a:pPr marL="0" indent="0">
              <a:lnSpc>
                <a:spcPct val="118000"/>
              </a:lnSpc>
              <a:buNone/>
            </a:pPr>
            <a:r>
              <a:rPr lang="ko-KR" altLang="en-US" sz="1250" b="1" dirty="0">
                <a:solidFill>
                  <a:schemeClr val="accent4">
                    <a:lumMod val="75000"/>
                  </a:schemeClr>
                </a:solidFill>
                <a:latin typeface="Pretendard" pitchFamily="34" charset="0"/>
                <a:ea typeface="Pretendard" pitchFamily="34" charset="-122"/>
                <a:cs typeface="Pretendard" pitchFamily="34" charset="-120"/>
              </a:rPr>
              <a:t>결론은 형법 제9조는 합헌이다. 다만 14세만이 헌법상 가능한 책임연령이라는 판단은 아니다.</a:t>
            </a:r>
          </a:p>
        </p:txBody>
      </p:sp>
      <p:sp>
        <p:nvSpPr>
          <p:cNvPr id="28" name="R28"/>
          <p:cNvSpPr/>
          <p:nvPr/>
        </p:nvSpPr>
        <p:spPr>
          <a:xfrm>
            <a:off x="731520" y="6254496"/>
            <a:ext cx="10725912" cy="0"/>
          </a:xfrm>
          <a:prstGeom prst="line">
            <a:avLst/>
          </a:prstGeom>
          <a:ln w="9525">
            <a:solidFill>
              <a:srgbClr val="DCE0E8"/>
            </a:solidFill>
          </a:ln>
        </p:spPr>
        <p:txBody>
          <a:bodyPr/>
          <a:lstStyle/>
          <a:p>
            <a:endParaRPr lang="ko-KR"/>
          </a:p>
        </p:txBody>
      </p:sp>
      <p:sp>
        <p:nvSpPr>
          <p:cNvPr id="29"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헌법재판소 2003. 9. 25. 2002헌마533 — 판시사항과 판단 이유 기준</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중국의 예외적 형사책임</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a:lnSpc>
                <a:spcPct val="118000"/>
              </a:lnSpc>
            </a:pPr>
            <a:r>
              <a:rPr lang="en-US" altLang="ko-KR" sz="2800" b="1" dirty="0">
                <a:solidFill>
                  <a:srgbClr val="1E2761"/>
                </a:solidFill>
                <a:latin typeface="Pretendard" pitchFamily="34" charset="0"/>
                <a:ea typeface="Pretendard" pitchFamily="34" charset="-122"/>
                <a:cs typeface="Pretendard" pitchFamily="34" charset="-120"/>
              </a:rPr>
              <a:t>2002</a:t>
            </a:r>
            <a:r>
              <a:rPr lang="ko-KR" altLang="en-US" sz="2800" b="1" dirty="0" err="1">
                <a:solidFill>
                  <a:srgbClr val="1E2761"/>
                </a:solidFill>
                <a:latin typeface="Pretendard" pitchFamily="34" charset="0"/>
                <a:ea typeface="Pretendard" pitchFamily="34" charset="-122"/>
                <a:cs typeface="Pretendard" pitchFamily="34" charset="-120"/>
              </a:rPr>
              <a:t>헌마</a:t>
            </a:r>
            <a:r>
              <a:rPr lang="en-US" altLang="ko-KR" sz="2800" b="1" dirty="0">
                <a:solidFill>
                  <a:srgbClr val="1E2761"/>
                </a:solidFill>
                <a:latin typeface="Pretendard" pitchFamily="34" charset="0"/>
                <a:ea typeface="Pretendard" pitchFamily="34" charset="-122"/>
                <a:cs typeface="Pretendard" pitchFamily="34" charset="-120"/>
              </a:rPr>
              <a:t>533</a:t>
            </a:r>
            <a:r>
              <a:rPr lang="ko-KR" altLang="en-US" sz="2800" b="1" dirty="0">
                <a:solidFill>
                  <a:srgbClr val="1E2761"/>
                </a:solidFill>
                <a:latin typeface="Pretendard" pitchFamily="34" charset="0"/>
                <a:ea typeface="Pretendard" pitchFamily="34" charset="-122"/>
                <a:cs typeface="Pretendard" pitchFamily="34" charset="-120"/>
              </a:rPr>
              <a:t> </a:t>
            </a:r>
            <a:r>
              <a:rPr lang="ko-KR" altLang="en-US" sz="2800" b="1" dirty="0" err="1">
                <a:solidFill>
                  <a:srgbClr val="1E2761"/>
                </a:solidFill>
                <a:latin typeface="Pretendard" pitchFamily="34" charset="0"/>
                <a:ea typeface="Pretendard" pitchFamily="34" charset="-122"/>
                <a:cs typeface="Pretendard" pitchFamily="34" charset="-120"/>
              </a:rPr>
              <a:t>ㅡ</a:t>
            </a:r>
            <a:r>
              <a:rPr lang="en-US" altLang="ko-KR" sz="2800" b="1" dirty="0">
                <a:solidFill>
                  <a:srgbClr val="1E2761"/>
                </a:solidFill>
                <a:latin typeface="Pretendard" pitchFamily="34" charset="0"/>
                <a:ea typeface="Pretendard" pitchFamily="34" charset="-122"/>
                <a:cs typeface="Pretendard" pitchFamily="34" charset="-120"/>
              </a:rPr>
              <a:t> </a:t>
            </a:r>
            <a:r>
              <a:rPr lang="ko-KR" altLang="en-US" sz="2750" b="1" dirty="0">
                <a:solidFill>
                  <a:srgbClr val="1E2761"/>
                </a:solidFill>
                <a:latin typeface="Pretendard" pitchFamily="34" charset="0"/>
                <a:ea typeface="Pretendard" pitchFamily="34" charset="-122"/>
                <a:cs typeface="Pretendard" pitchFamily="34" charset="-120"/>
              </a:rPr>
              <a:t>합헌 결장 뒤에 남은 두 문제</a:t>
            </a:r>
          </a:p>
        </p:txBody>
      </p:sp>
      <p:sp>
        <p:nvSpPr>
          <p:cNvPr id="5" name="RULE"/>
          <p:cNvSpPr/>
          <p:nvPr/>
        </p:nvSpPr>
        <p:spPr>
          <a:xfrm>
            <a:off x="731520" y="1389888"/>
            <a:ext cx="10725912" cy="0"/>
          </a:xfrm>
          <a:prstGeom prst="line">
            <a:avLst/>
          </a:prstGeom>
          <a:ln w="19050">
            <a:solidFill>
              <a:srgbClr val="1E2761"/>
            </a:solidFill>
          </a:ln>
        </p:spPr>
        <p:txBody>
          <a:bodyPr/>
          <a:lstStyle/>
          <a:p>
            <a:endParaRPr lang="ko-KR"/>
          </a:p>
        </p:txBody>
      </p:sp>
      <p:sp>
        <p:nvSpPr>
          <p:cNvPr id="6" name="NAVYBG"/>
          <p:cNvSpPr/>
          <p:nvPr/>
        </p:nvSpPr>
        <p:spPr>
          <a:xfrm>
            <a:off x="1124712" y="5751576"/>
            <a:ext cx="9912096" cy="457200"/>
          </a:xfrm>
          <a:prstGeom prst="rect">
            <a:avLst/>
          </a:prstGeom>
          <a:solidFill>
            <a:srgbClr val="1E2761"/>
          </a:solidFill>
          <a:ln/>
        </p:spPr>
        <p:txBody>
          <a:bodyPr/>
          <a:lstStyle/>
          <a:p>
            <a:endParaRPr lang="ko-KR" altLang="en-US"/>
          </a:p>
        </p:txBody>
      </p:sp>
      <p:sp>
        <p:nvSpPr>
          <p:cNvPr id="7" name="NAVYTX"/>
          <p:cNvSpPr/>
          <p:nvPr/>
        </p:nvSpPr>
        <p:spPr>
          <a:xfrm>
            <a:off x="1307592" y="5779008"/>
            <a:ext cx="9546336" cy="402336"/>
          </a:xfrm>
          <a:prstGeom prst="rect">
            <a:avLst/>
          </a:prstGeom>
          <a:noFill/>
          <a:ln/>
        </p:spPr>
        <p:txBody>
          <a:bodyPr wrap="square" lIns="0" tIns="0" rIns="0" bIns="0" rtlCol="0" anchor="ctr"/>
          <a:lstStyle/>
          <a:p>
            <a:pPr marL="0" indent="0" algn="ctr">
              <a:lnSpc>
                <a:spcPct val="118000"/>
              </a:lnSpc>
              <a:buNone/>
            </a:pPr>
            <a:r>
              <a:rPr lang="ko-KR" altLang="en-US" sz="1250" b="1" dirty="0">
                <a:solidFill>
                  <a:srgbClr val="FFFFFF"/>
                </a:solidFill>
                <a:latin typeface="Pretendard" pitchFamily="34" charset="0"/>
                <a:ea typeface="Pretendard" pitchFamily="34" charset="-122"/>
                <a:cs typeface="Pretendard" pitchFamily="34" charset="-120"/>
              </a:rPr>
              <a:t>이미 보호처분이 가능한 13세에게 형사책임까지 추가해야 하는 이유는 무엇인가</a:t>
            </a:r>
          </a:p>
        </p:txBody>
      </p:sp>
      <p:sp>
        <p:nvSpPr>
          <p:cNvPr id="8" name="RS8"/>
          <p:cNvSpPr/>
          <p:nvPr/>
        </p:nvSpPr>
        <p:spPr>
          <a:xfrm>
            <a:off x="3154680" y="1470203"/>
            <a:ext cx="1926131" cy="224790"/>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형법 제9조  </a:t>
            </a:r>
            <a:r>
              <a:rPr lang="ko-KR" altLang="en-US" sz="1250" b="1" dirty="0">
                <a:solidFill>
                  <a:srgbClr val="1E2761"/>
                </a:solidFill>
                <a:latin typeface="Pretendard" pitchFamily="34" charset="0"/>
                <a:ea typeface="Pretendard" pitchFamily="34" charset="-122"/>
                <a:cs typeface="Pretendard" pitchFamily="34" charset="-120"/>
              </a:rPr>
              <a:t>합헌</a:t>
            </a:r>
          </a:p>
        </p:txBody>
      </p:sp>
      <p:sp>
        <p:nvSpPr>
          <p:cNvPr id="9" name="RS9"/>
          <p:cNvSpPr/>
          <p:nvPr/>
        </p:nvSpPr>
        <p:spPr>
          <a:xfrm>
            <a:off x="5355131" y="1470203"/>
            <a:ext cx="2501202" cy="224790"/>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불기소처분 취소 청구  </a:t>
            </a:r>
            <a:r>
              <a:rPr lang="ko-KR" altLang="en-US" sz="1250" b="1" dirty="0">
                <a:solidFill>
                  <a:srgbClr val="1E2761"/>
                </a:solidFill>
                <a:latin typeface="Pretendard" pitchFamily="34" charset="0"/>
                <a:ea typeface="Pretendard" pitchFamily="34" charset="-122"/>
                <a:cs typeface="Pretendard" pitchFamily="34" charset="-120"/>
              </a:rPr>
              <a:t>기각</a:t>
            </a:r>
          </a:p>
        </p:txBody>
      </p:sp>
      <p:sp>
        <p:nvSpPr>
          <p:cNvPr id="10" name="RN"/>
          <p:cNvSpPr/>
          <p:nvPr/>
        </p:nvSpPr>
        <p:spPr>
          <a:xfrm>
            <a:off x="3154680" y="1782369"/>
            <a:ext cx="8302752" cy="206807"/>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헌재는 검사의 수사미진이나 자의적 증거판단을 인정하기 어렵다고 보아 불기소처분 취소 청구도 받아들이지 않았다.</a:t>
            </a:r>
          </a:p>
        </p:txBody>
      </p:sp>
      <p:sp>
        <p:nvSpPr>
          <p:cNvPr id="11" name="H1"/>
          <p:cNvSpPr/>
          <p:nvPr/>
        </p:nvSpPr>
        <p:spPr>
          <a:xfrm>
            <a:off x="731520" y="1367028"/>
            <a:ext cx="2240280" cy="69281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사건의 결론</a:t>
            </a:r>
          </a:p>
        </p:txBody>
      </p:sp>
      <p:sp>
        <p:nvSpPr>
          <p:cNvPr id="12" name="R1"/>
          <p:cNvSpPr/>
          <p:nvPr/>
        </p:nvSpPr>
        <p:spPr>
          <a:xfrm>
            <a:off x="731520" y="2082698"/>
            <a:ext cx="10725912" cy="0"/>
          </a:xfrm>
          <a:prstGeom prst="line">
            <a:avLst/>
          </a:prstGeom>
          <a:ln w="9525">
            <a:solidFill>
              <a:srgbClr val="DCE0E8"/>
            </a:solidFill>
          </a:ln>
        </p:spPr>
        <p:txBody>
          <a:bodyPr/>
          <a:lstStyle/>
          <a:p>
            <a:endParaRPr lang="ko-KR"/>
          </a:p>
        </p:txBody>
      </p:sp>
      <p:sp>
        <p:nvSpPr>
          <p:cNvPr id="13" name="LB2"/>
          <p:cNvSpPr/>
          <p:nvPr/>
        </p:nvSpPr>
        <p:spPr>
          <a:xfrm>
            <a:off x="726694" y="2328113"/>
            <a:ext cx="1072591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0070C0"/>
                </a:solidFill>
                <a:latin typeface="Pretendard" pitchFamily="34" charset="0"/>
                <a:ea typeface="Pretendard" pitchFamily="34" charset="-122"/>
                <a:cs typeface="Pretendard" pitchFamily="34" charset="-120"/>
              </a:rPr>
              <a:t>전효숙 재판관은 합헌 결론에 동의하면서도 두 문제를 남겼다</a:t>
            </a:r>
          </a:p>
        </p:txBody>
      </p:sp>
      <p:sp>
        <p:nvSpPr>
          <p:cNvPr id="14" name="TW14"/>
          <p:cNvSpPr/>
          <p:nvPr/>
        </p:nvSpPr>
        <p:spPr>
          <a:xfrm>
            <a:off x="731520" y="2650235"/>
            <a:ext cx="5175504" cy="765963"/>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1E2761"/>
                </a:solidFill>
                <a:latin typeface="Pretendard" pitchFamily="34" charset="0"/>
                <a:ea typeface="Pretendard" pitchFamily="34" charset="-122"/>
                <a:cs typeface="Pretendard" pitchFamily="34" charset="-120"/>
              </a:rPr>
              <a:t>① 14세 기준</a:t>
            </a:r>
          </a:p>
          <a:p>
            <a:pPr marL="0" indent="0">
              <a:lnSpc>
                <a:spcPct val="118000"/>
              </a:lnSpc>
              <a:spcAft>
                <a:spcPts val="300"/>
              </a:spcAft>
              <a:buNone/>
            </a:pPr>
            <a:r>
              <a:rPr lang="ko-KR" altLang="en-US" sz="1250" b="1" dirty="0">
                <a:solidFill>
                  <a:srgbClr val="222633"/>
                </a:solidFill>
                <a:latin typeface="Pretendard" pitchFamily="34" charset="0"/>
                <a:ea typeface="Pretendard" pitchFamily="34" charset="-122"/>
                <a:cs typeface="Pretendard" pitchFamily="34" charset="-120"/>
              </a:rPr>
              <a:t>14세가 현실적으로 높을 수 있다는 문제를 제기했다</a:t>
            </a:r>
          </a:p>
          <a:p>
            <a:pPr marL="0" indent="0">
              <a:lnSpc>
                <a:spcPct val="118000"/>
              </a:lnSpc>
              <a:spcAft>
                <a:spcPts val="400"/>
              </a:spcAft>
              <a:buNone/>
            </a:pPr>
            <a:r>
              <a:rPr lang="ko-KR" altLang="en-US" sz="1150" dirty="0">
                <a:solidFill>
                  <a:srgbClr val="464D5C"/>
                </a:solidFill>
                <a:latin typeface="Pretendard" pitchFamily="34" charset="0"/>
                <a:ea typeface="Pretendard" pitchFamily="34" charset="-122"/>
                <a:cs typeface="Pretendard" pitchFamily="34" charset="-120"/>
              </a:rPr>
              <a:t>조기교육과 생활환경 변화로 소년의 성장이 빨라졌다는 점을 들었다.</a:t>
            </a:r>
          </a:p>
        </p:txBody>
      </p:sp>
      <p:sp>
        <p:nvSpPr>
          <p:cNvPr id="15" name="TW15"/>
          <p:cNvSpPr/>
          <p:nvPr/>
        </p:nvSpPr>
        <p:spPr>
          <a:xfrm>
            <a:off x="6281928" y="2617165"/>
            <a:ext cx="5175504" cy="799033"/>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1E2761"/>
                </a:solidFill>
                <a:latin typeface="Pretendard" pitchFamily="34" charset="0"/>
                <a:ea typeface="Pretendard" pitchFamily="34" charset="-122"/>
                <a:cs typeface="Pretendard" pitchFamily="34" charset="-120"/>
              </a:rPr>
              <a:t>② 당시 12세 미만의 보호공백</a:t>
            </a:r>
          </a:p>
          <a:p>
            <a:pPr marL="0" indent="0">
              <a:lnSpc>
                <a:spcPct val="118000"/>
              </a:lnSpc>
              <a:spcAft>
                <a:spcPts val="300"/>
              </a:spcAft>
              <a:buNone/>
            </a:pPr>
            <a:r>
              <a:rPr lang="en-US" altLang="ko-KR" sz="1250" b="1" dirty="0">
                <a:solidFill>
                  <a:srgbClr val="222633"/>
                </a:solidFill>
                <a:latin typeface="Pretendard" pitchFamily="34" charset="0"/>
                <a:ea typeface="Pretendard" pitchFamily="34" charset="-122"/>
                <a:cs typeface="Pretendard" pitchFamily="34" charset="-120"/>
              </a:rPr>
              <a:t>12</a:t>
            </a:r>
            <a:r>
              <a:rPr lang="ko-KR" altLang="en-US" sz="1250" b="1" dirty="0">
                <a:solidFill>
                  <a:srgbClr val="222633"/>
                </a:solidFill>
                <a:latin typeface="Pretendard" pitchFamily="34" charset="0"/>
                <a:ea typeface="Pretendard" pitchFamily="34" charset="-122"/>
                <a:cs typeface="Pretendard" pitchFamily="34" charset="-120"/>
              </a:rPr>
              <a:t>세 미만은 형사책임과 보호처분 모두에서 빠지는 연령대였다</a:t>
            </a:r>
          </a:p>
          <a:p>
            <a:pPr marL="0" indent="0">
              <a:lnSpc>
                <a:spcPct val="118000"/>
              </a:lnSpc>
              <a:spcAft>
                <a:spcPts val="400"/>
              </a:spcAft>
              <a:buNone/>
            </a:pPr>
            <a:r>
              <a:rPr lang="ko-KR" altLang="en-US" sz="1150" dirty="0">
                <a:solidFill>
                  <a:srgbClr val="464D5C"/>
                </a:solidFill>
                <a:latin typeface="Pretendard" pitchFamily="34" charset="0"/>
                <a:ea typeface="Pretendard" pitchFamily="34" charset="-122"/>
                <a:cs typeface="Pretendard" pitchFamily="34" charset="-120"/>
              </a:rPr>
              <a:t>2003년 당시 12세 미만은 형사책임의 대상도, 보호사건의 대상도 아니었다.</a:t>
            </a:r>
          </a:p>
        </p:txBody>
      </p:sp>
      <p:sp>
        <p:nvSpPr>
          <p:cNvPr id="16" name="R2"/>
          <p:cNvSpPr/>
          <p:nvPr/>
        </p:nvSpPr>
        <p:spPr>
          <a:xfrm>
            <a:off x="731520" y="3653485"/>
            <a:ext cx="10725912" cy="0"/>
          </a:xfrm>
          <a:prstGeom prst="line">
            <a:avLst/>
          </a:prstGeom>
          <a:ln w="9525">
            <a:solidFill>
              <a:srgbClr val="DCE0E8"/>
            </a:solidFill>
          </a:ln>
        </p:spPr>
        <p:txBody>
          <a:bodyPr/>
          <a:lstStyle/>
          <a:p>
            <a:endParaRPr lang="ko-KR"/>
          </a:p>
        </p:txBody>
      </p:sp>
      <p:sp>
        <p:nvSpPr>
          <p:cNvPr id="17" name="LB3"/>
          <p:cNvSpPr/>
          <p:nvPr/>
        </p:nvSpPr>
        <p:spPr>
          <a:xfrm>
            <a:off x="733044" y="3867150"/>
            <a:ext cx="1072591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0070C0"/>
                </a:solidFill>
                <a:latin typeface="Pretendard" pitchFamily="34" charset="0"/>
                <a:ea typeface="Pretendard" pitchFamily="34" charset="-122"/>
                <a:cs typeface="Pretendard" pitchFamily="34" charset="-120"/>
              </a:rPr>
              <a:t>지금은 무엇이 달라졌나</a:t>
            </a:r>
          </a:p>
        </p:txBody>
      </p:sp>
      <p:sp>
        <p:nvSpPr>
          <p:cNvPr id="18" name="CM18"/>
          <p:cNvSpPr/>
          <p:nvPr/>
        </p:nvSpPr>
        <p:spPr>
          <a:xfrm>
            <a:off x="731520" y="4201160"/>
            <a:ext cx="5175504" cy="684124"/>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1E2761"/>
                </a:solidFill>
                <a:latin typeface="Pretendard" pitchFamily="34" charset="0"/>
                <a:ea typeface="Pretendard" pitchFamily="34" charset="-122"/>
                <a:cs typeface="Pretendard" pitchFamily="34" charset="-120"/>
              </a:rPr>
              <a:t>2003년 당시</a:t>
            </a:r>
          </a:p>
          <a:p>
            <a:pPr marL="0" indent="0">
              <a:lnSpc>
                <a:spcPct val="118000"/>
              </a:lnSpc>
              <a:spcAft>
                <a:spcPts val="200"/>
              </a:spcAft>
              <a:buNone/>
            </a:pPr>
            <a:r>
              <a:rPr lang="ko-KR" altLang="en-US" sz="1150" dirty="0">
                <a:solidFill>
                  <a:srgbClr val="222633"/>
                </a:solidFill>
                <a:latin typeface="Pretendard" pitchFamily="34" charset="0"/>
                <a:ea typeface="Pretendard" pitchFamily="34" charset="-122"/>
                <a:cs typeface="Pretendard" pitchFamily="34" charset="-120"/>
              </a:rPr>
              <a:t>촉법소년 하한 12세</a:t>
            </a:r>
          </a:p>
          <a:p>
            <a:pPr marL="0" indent="0">
              <a:lnSpc>
                <a:spcPct val="118000"/>
              </a:lnSpc>
              <a:buNone/>
            </a:pPr>
            <a:r>
              <a:rPr lang="ko-KR" altLang="en-US" sz="1150" dirty="0">
                <a:solidFill>
                  <a:srgbClr val="222633"/>
                </a:solidFill>
                <a:latin typeface="Pretendard" pitchFamily="34" charset="0"/>
                <a:ea typeface="Pretendard" pitchFamily="34" charset="-122"/>
                <a:cs typeface="Pretendard" pitchFamily="34" charset="-120"/>
              </a:rPr>
              <a:t>10·11세는 형사책임도, 보호처분도 대상이 아니었다</a:t>
            </a:r>
          </a:p>
        </p:txBody>
      </p:sp>
      <p:sp>
        <p:nvSpPr>
          <p:cNvPr id="19" name="CM19"/>
          <p:cNvSpPr/>
          <p:nvPr/>
        </p:nvSpPr>
        <p:spPr>
          <a:xfrm>
            <a:off x="6281928" y="4201160"/>
            <a:ext cx="5175504" cy="684124"/>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1E2761"/>
                </a:solidFill>
                <a:latin typeface="Pretendard" pitchFamily="34" charset="0"/>
                <a:ea typeface="Pretendard" pitchFamily="34" charset="-122"/>
                <a:cs typeface="Pretendard" pitchFamily="34" charset="-120"/>
              </a:rPr>
              <a:t>현재</a:t>
            </a:r>
          </a:p>
          <a:p>
            <a:pPr marL="0" indent="0">
              <a:lnSpc>
                <a:spcPct val="118000"/>
              </a:lnSpc>
              <a:spcAft>
                <a:spcPts val="200"/>
              </a:spcAft>
              <a:buNone/>
            </a:pPr>
            <a:r>
              <a:rPr lang="ko-KR" altLang="en-US" sz="1150" dirty="0">
                <a:solidFill>
                  <a:srgbClr val="222633"/>
                </a:solidFill>
                <a:latin typeface="Pretendard" pitchFamily="34" charset="0"/>
                <a:ea typeface="Pretendard" pitchFamily="34" charset="-122"/>
                <a:cs typeface="Pretendard" pitchFamily="34" charset="-120"/>
              </a:rPr>
              <a:t>촉법소년 하한 10세</a:t>
            </a:r>
          </a:p>
          <a:p>
            <a:pPr marL="0" indent="0">
              <a:lnSpc>
                <a:spcPct val="118000"/>
              </a:lnSpc>
              <a:buNone/>
            </a:pPr>
            <a:r>
              <a:rPr lang="ko-KR" altLang="en-US" sz="1150" dirty="0">
                <a:solidFill>
                  <a:srgbClr val="222633"/>
                </a:solidFill>
                <a:latin typeface="Pretendard" pitchFamily="34" charset="0"/>
                <a:ea typeface="Pretendard" pitchFamily="34" charset="-122"/>
                <a:cs typeface="Pretendard" pitchFamily="34" charset="-120"/>
              </a:rPr>
              <a:t>10·11세도 소년부 심리와 보호처분 대상이고 13세도 같다</a:t>
            </a:r>
          </a:p>
        </p:txBody>
      </p:sp>
      <p:sp>
        <p:nvSpPr>
          <p:cNvPr id="20" name="CMPL"/>
          <p:cNvSpPr/>
          <p:nvPr/>
        </p:nvSpPr>
        <p:spPr>
          <a:xfrm>
            <a:off x="731520" y="5085436"/>
            <a:ext cx="10725912" cy="224790"/>
          </a:xfrm>
          <a:prstGeom prst="rect">
            <a:avLst/>
          </a:prstGeom>
          <a:noFill/>
          <a:ln/>
        </p:spPr>
        <p:txBody>
          <a:bodyPr wrap="square" lIns="0" tIns="0" rIns="0" bIns="0" rtlCol="0" anchor="t"/>
          <a:lstStyle/>
          <a:p>
            <a:pPr marL="0" indent="0">
              <a:lnSpc>
                <a:spcPct val="118000"/>
              </a:lnSpc>
              <a:buNone/>
            </a:pPr>
            <a:r>
              <a:rPr lang="ko-KR" altLang="en-US" sz="1250" b="1" dirty="0">
                <a:solidFill>
                  <a:schemeClr val="accent4">
                    <a:lumMod val="75000"/>
                  </a:schemeClr>
                </a:solidFill>
                <a:latin typeface="Pretendard" pitchFamily="34" charset="0"/>
                <a:ea typeface="Pretendard" pitchFamily="34" charset="-122"/>
                <a:cs typeface="Pretendard" pitchFamily="34" charset="-120"/>
              </a:rPr>
              <a:t>2007년 소년법 개정으로 보호사건 하한이 12세에서 10세로 낮아졌고, 2008년부터 시행됐다.</a:t>
            </a:r>
          </a:p>
        </p:txBody>
      </p:sp>
      <p:sp>
        <p:nvSpPr>
          <p:cNvPr id="21" name="R3"/>
          <p:cNvSpPr/>
          <p:nvPr/>
        </p:nvSpPr>
        <p:spPr>
          <a:xfrm>
            <a:off x="731520" y="5445912"/>
            <a:ext cx="10725912" cy="0"/>
          </a:xfrm>
          <a:prstGeom prst="line">
            <a:avLst/>
          </a:prstGeom>
          <a:ln w="9525">
            <a:solidFill>
              <a:srgbClr val="DCE0E8"/>
            </a:solidFill>
          </a:ln>
        </p:spPr>
        <p:txBody>
          <a:bodyPr/>
          <a:lstStyle/>
          <a:p>
            <a:endParaRPr lang="ko-KR"/>
          </a:p>
        </p:txBody>
      </p:sp>
      <p:sp>
        <p:nvSpPr>
          <p:cNvPr id="24"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헌법재판소 2003. 9. 25. 2002헌마533 결정 · 전효숙 재판관 보충의견 · 소년법 2007년 개정(2008년 시행)</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중국의 단계별 연령구조</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중국의 예외적 형사책임연령 도입</a:t>
            </a:r>
          </a:p>
        </p:txBody>
      </p:sp>
      <p:sp>
        <p:nvSpPr>
          <p:cNvPr id="5" name="BANDBG"/>
          <p:cNvSpPr/>
          <p:nvPr/>
        </p:nvSpPr>
        <p:spPr>
          <a:xfrm>
            <a:off x="731520" y="1417320"/>
            <a:ext cx="10725912" cy="7772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7772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중국은 2020년 형법을 개정해 12~13세의 극히 중대한 사건에만 형사책임을 열었다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 저연령 소년의 중대한 폭력사건에 대한 대응 요구가 커진 데 따른 것이다</a:t>
            </a:r>
          </a:p>
        </p:txBody>
      </p:sp>
      <p:sp>
        <p:nvSpPr>
          <p:cNvPr id="7" name="RULE"/>
          <p:cNvSpPr/>
          <p:nvPr/>
        </p:nvSpPr>
        <p:spPr>
          <a:xfrm>
            <a:off x="731520" y="2286000"/>
            <a:ext cx="10725912" cy="0"/>
          </a:xfrm>
          <a:prstGeom prst="line">
            <a:avLst/>
          </a:prstGeom>
          <a:ln w="19050">
            <a:solidFill>
              <a:srgbClr val="1E2761"/>
            </a:solidFill>
          </a:ln>
        </p:spPr>
        <p:txBody>
          <a:bodyPr/>
          <a:lstStyle/>
          <a:p>
            <a:endParaRPr lang="ko-KR"/>
          </a:p>
        </p:txBody>
      </p:sp>
      <p:sp>
        <p:nvSpPr>
          <p:cNvPr id="8" name="HEAD8"/>
          <p:cNvSpPr/>
          <p:nvPr/>
        </p:nvSpPr>
        <p:spPr>
          <a:xfrm>
            <a:off x="1455420" y="2574798"/>
            <a:ext cx="2240280" cy="214884"/>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개정 전</a:t>
            </a:r>
          </a:p>
        </p:txBody>
      </p:sp>
      <p:sp>
        <p:nvSpPr>
          <p:cNvPr id="9" name="BODY9"/>
          <p:cNvSpPr/>
          <p:nvPr/>
        </p:nvSpPr>
        <p:spPr>
          <a:xfrm>
            <a:off x="3154680" y="2447165"/>
            <a:ext cx="8302752" cy="539496"/>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14세 미만에게는 형사책임을 묻지 않았다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12~13세의 중대한 살인·상해 사건도 형사책임 경로가 닫혀 있었다.</a:t>
            </a:r>
          </a:p>
        </p:txBody>
      </p:sp>
      <p:sp>
        <p:nvSpPr>
          <p:cNvPr id="10" name="RULE10"/>
          <p:cNvSpPr/>
          <p:nvPr/>
        </p:nvSpPr>
        <p:spPr>
          <a:xfrm>
            <a:off x="731520" y="3121660"/>
            <a:ext cx="10725912" cy="0"/>
          </a:xfrm>
          <a:prstGeom prst="line">
            <a:avLst/>
          </a:prstGeom>
          <a:ln w="9525">
            <a:solidFill>
              <a:srgbClr val="DCE0E8"/>
            </a:solidFill>
          </a:ln>
        </p:spPr>
        <p:txBody>
          <a:bodyPr/>
          <a:lstStyle/>
          <a:p>
            <a:endParaRPr lang="ko-KR"/>
          </a:p>
        </p:txBody>
      </p:sp>
      <p:sp>
        <p:nvSpPr>
          <p:cNvPr id="11" name="HEAD11"/>
          <p:cNvSpPr/>
          <p:nvPr/>
        </p:nvSpPr>
        <p:spPr>
          <a:xfrm>
            <a:off x="1404620" y="3475229"/>
            <a:ext cx="2240280" cy="210311"/>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개정 배경</a:t>
            </a:r>
          </a:p>
        </p:txBody>
      </p:sp>
      <p:sp>
        <p:nvSpPr>
          <p:cNvPr id="12" name="BODY12"/>
          <p:cNvSpPr/>
          <p:nvPr/>
        </p:nvSpPr>
        <p:spPr>
          <a:xfrm>
            <a:off x="3154680" y="3221483"/>
            <a:ext cx="8302752" cy="82981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14세 미만 소년의 살인·상해 사건이 사회적 논쟁으로 이어졌다</a:t>
            </a:r>
          </a:p>
          <a:p>
            <a:pPr marL="0" indent="0">
              <a:lnSpc>
                <a:spcPct val="125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2019년 10월 랴오닝성 다롄에서 13세 소년이 10세 아동을 살해했으나, 형사책임 연령에 이르지 않아 형사책임을 묻지 않고 정부가 일정 기간 시설에 수용해 교육</a:t>
            </a:r>
            <a:r>
              <a:rPr lang="en-US" altLang="ko-KR" sz="1150" dirty="0">
                <a:solidFill>
                  <a:srgbClr val="464D5C"/>
                </a:solidFill>
                <a:latin typeface="KoPubWorld돋움체_Pro Bold" panose="00000800000000000000" pitchFamily="50" charset="-127"/>
                <a:ea typeface="KoPubWorld돋움체_Pro Bold" panose="00000800000000000000" pitchFamily="50" charset="-127"/>
                <a:cs typeface="KoPubWorld돋움체_Pro Bold" panose="00000800000000000000" pitchFamily="50" charset="-127"/>
              </a:rPr>
              <a:t>·</a:t>
            </a:r>
            <a:r>
              <a:rPr lang="ko-KR" altLang="en-US" sz="1150" dirty="0">
                <a:solidFill>
                  <a:srgbClr val="464D5C"/>
                </a:solidFill>
                <a:latin typeface="Pretendard" pitchFamily="34" charset="0"/>
                <a:ea typeface="Pretendard" pitchFamily="34" charset="-122"/>
                <a:cs typeface="Pretendard" pitchFamily="34" charset="-120"/>
              </a:rPr>
              <a:t>교정하는 3년 수용교양에 처했다. </a:t>
            </a:r>
            <a:r>
              <a:rPr lang="ko-KR" altLang="en-US" sz="1150" dirty="0" err="1">
                <a:solidFill>
                  <a:srgbClr val="464D5C"/>
                </a:solidFill>
                <a:latin typeface="Pretendard" pitchFamily="34" charset="0"/>
                <a:ea typeface="Pretendard" pitchFamily="34" charset="-122"/>
                <a:cs typeface="Pretendard" pitchFamily="34" charset="-120"/>
              </a:rPr>
              <a:t>ㅡ</a:t>
            </a:r>
            <a:r>
              <a:rPr lang="ko-KR" altLang="en-US" sz="1150" dirty="0">
                <a:solidFill>
                  <a:srgbClr val="464D5C"/>
                </a:solidFill>
                <a:latin typeface="Pretendard" pitchFamily="34" charset="0"/>
                <a:ea typeface="Pretendard" pitchFamily="34" charset="-122"/>
                <a:cs typeface="Pretendard" pitchFamily="34" charset="-120"/>
              </a:rPr>
              <a:t> 이 사건 이후 책임연령 논의가 크게 확대됐다는 것이 언론과 연구의 공통된 서술이다.</a:t>
            </a:r>
          </a:p>
        </p:txBody>
      </p:sp>
      <p:sp>
        <p:nvSpPr>
          <p:cNvPr id="13" name="RULE13"/>
          <p:cNvSpPr/>
          <p:nvPr/>
        </p:nvSpPr>
        <p:spPr>
          <a:xfrm>
            <a:off x="731520" y="3993896"/>
            <a:ext cx="10725912" cy="0"/>
          </a:xfrm>
          <a:prstGeom prst="line">
            <a:avLst/>
          </a:prstGeom>
          <a:ln w="9525">
            <a:solidFill>
              <a:srgbClr val="DCE0E8"/>
            </a:solidFill>
          </a:ln>
        </p:spPr>
        <p:txBody>
          <a:bodyPr/>
          <a:lstStyle/>
          <a:p>
            <a:endParaRPr lang="ko-KR"/>
          </a:p>
        </p:txBody>
      </p:sp>
      <p:sp>
        <p:nvSpPr>
          <p:cNvPr id="14" name="HEAD14"/>
          <p:cNvSpPr/>
          <p:nvPr/>
        </p:nvSpPr>
        <p:spPr>
          <a:xfrm>
            <a:off x="1404620" y="4402836"/>
            <a:ext cx="2240280" cy="212090"/>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입법 선택</a:t>
            </a:r>
          </a:p>
        </p:txBody>
      </p:sp>
      <p:sp>
        <p:nvSpPr>
          <p:cNvPr id="15" name="BODY15"/>
          <p:cNvSpPr/>
          <p:nvPr/>
        </p:nvSpPr>
        <p:spPr>
          <a:xfrm>
            <a:off x="3154680" y="4245610"/>
            <a:ext cx="8302752" cy="539496"/>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2020년 12월 26일 「형법수정안(11)」이 통과되어 2021년 3월 1일 시행됐다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전면 하향이 아니라 특정 사건에 한한 예외적 하향이다.</a:t>
            </a:r>
          </a:p>
        </p:txBody>
      </p:sp>
      <p:sp>
        <p:nvSpPr>
          <p:cNvPr id="16" name="RULE16"/>
          <p:cNvSpPr/>
          <p:nvPr/>
        </p:nvSpPr>
        <p:spPr>
          <a:xfrm>
            <a:off x="731520" y="4976876"/>
            <a:ext cx="10725912" cy="0"/>
          </a:xfrm>
          <a:prstGeom prst="line">
            <a:avLst/>
          </a:prstGeom>
          <a:ln w="9525">
            <a:solidFill>
              <a:srgbClr val="DCE0E8"/>
            </a:solidFill>
          </a:ln>
        </p:spPr>
        <p:txBody>
          <a:bodyPr/>
          <a:lstStyle/>
          <a:p>
            <a:endParaRPr lang="ko-KR"/>
          </a:p>
        </p:txBody>
      </p:sp>
      <p:sp>
        <p:nvSpPr>
          <p:cNvPr id="17" name="QH17"/>
          <p:cNvSpPr/>
          <p:nvPr/>
        </p:nvSpPr>
        <p:spPr>
          <a:xfrm>
            <a:off x="1404620" y="5302250"/>
            <a:ext cx="2240280" cy="233172"/>
          </a:xfrm>
          <a:prstGeom prst="rect">
            <a:avLst/>
          </a:prstGeom>
          <a:noFill/>
          <a:ln/>
        </p:spPr>
        <p:txBody>
          <a:bodyPr wrap="square" lIns="0" tIns="0" rIns="0" bIns="0" rtlCol="0" anchor="t"/>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개정 조문</a:t>
            </a:r>
          </a:p>
        </p:txBody>
      </p:sp>
      <p:sp>
        <p:nvSpPr>
          <p:cNvPr id="18" name="QB18"/>
          <p:cNvSpPr/>
          <p:nvPr/>
        </p:nvSpPr>
        <p:spPr>
          <a:xfrm>
            <a:off x="3154680" y="5176775"/>
            <a:ext cx="8302752" cy="521206"/>
          </a:xfrm>
          <a:prstGeom prst="rect">
            <a:avLst/>
          </a:prstGeom>
          <a:noFill/>
          <a:ln/>
        </p:spPr>
        <p:txBody>
          <a:bodyPr wrap="square" lIns="0" tIns="0" rIns="0" bIns="0" rtlCol="0" anchor="t"/>
          <a:lstStyle/>
          <a:p>
            <a:pPr marL="0" indent="0">
              <a:lnSpc>
                <a:spcPct val="125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형법 제17조 제3항 — 12세 이상 14세 미만인 사람이 고의살인·고의상해죄를 범해 사망을 초래하거나, 특히 잔혹한 수단으로 중상해를 입혀 중대한 장애를 초래하고, 정상이 악하며, 최고인민검찰원의 추소 승인을 거친 경우에는 형사책임을 진다</a:t>
            </a:r>
          </a:p>
        </p:txBody>
      </p:sp>
      <p:sp>
        <p:nvSpPr>
          <p:cNvPr id="21" name="RC21"/>
          <p:cNvSpPr/>
          <p:nvPr/>
        </p:nvSpPr>
        <p:spPr>
          <a:xfrm>
            <a:off x="733044" y="5845048"/>
            <a:ext cx="10725912" cy="0"/>
          </a:xfrm>
          <a:prstGeom prst="line">
            <a:avLst/>
          </a:prstGeom>
          <a:ln w="9525">
            <a:solidFill>
              <a:srgbClr val="DCE0E8"/>
            </a:solidFill>
          </a:ln>
        </p:spPr>
        <p:txBody>
          <a:bodyPr/>
          <a:lstStyle/>
          <a:p>
            <a:endParaRPr lang="ko-KR"/>
          </a:p>
        </p:txBody>
      </p:sp>
      <p:sp>
        <p:nvSpPr>
          <p:cNvPr id="22"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중국 형법수정안(11)(2020.12.26. 통과, 2021.3.1. 시행) · 다롄 사건 경과와 입법 배경은 언론 보도 기준</a:t>
            </a:r>
          </a:p>
        </p:txBody>
      </p:sp>
      <p:sp>
        <p:nvSpPr>
          <p:cNvPr id="24" name="CLOSE20">
            <a:extLst>
              <a:ext uri="{FF2B5EF4-FFF2-40B4-BE49-F238E27FC236}">
                <a16:creationId xmlns:a16="http://schemas.microsoft.com/office/drawing/2014/main" id="{2520B44F-427A-C07F-DC7D-8A37B59F6A65}"/>
              </a:ext>
            </a:extLst>
          </p:cNvPr>
          <p:cNvSpPr/>
          <p:nvPr/>
        </p:nvSpPr>
        <p:spPr>
          <a:xfrm>
            <a:off x="1404620" y="6023354"/>
            <a:ext cx="6018530" cy="292608"/>
          </a:xfrm>
          <a:prstGeom prst="rect">
            <a:avLst/>
          </a:prstGeom>
          <a:noFill/>
          <a:ln/>
        </p:spPr>
        <p:txBody>
          <a:bodyPr wrap="square" lIns="0" tIns="0" rIns="0" bIns="0" rtlCol="0" anchor="t"/>
          <a:lstStyle/>
          <a:p>
            <a:pPr marL="0" indent="0">
              <a:lnSpc>
                <a:spcPct val="118000"/>
              </a:lnSpc>
              <a:buNone/>
            </a:pPr>
            <a:r>
              <a:rPr lang="ko-KR" altLang="en-US" sz="1250" b="1" dirty="0">
                <a:solidFill>
                  <a:schemeClr val="accent4">
                    <a:lumMod val="75000"/>
                  </a:schemeClr>
                </a:solidFill>
                <a:latin typeface="Pretendard" pitchFamily="34" charset="0"/>
                <a:ea typeface="Pretendard" pitchFamily="34" charset="-122"/>
                <a:cs typeface="Pretendard" pitchFamily="34" charset="-120"/>
              </a:rPr>
              <a:t>중국은 최저 책임연령을 일반적으로 12세로 바꾼 것이 아니라, 14세 아래에 좁은 예외를 만들었다.</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12~13세 형사책임의 조건</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중국의 형사책임연령 —단계별 구조</a:t>
            </a:r>
          </a:p>
        </p:txBody>
      </p:sp>
      <p:sp>
        <p:nvSpPr>
          <p:cNvPr id="5" name="BANDBG"/>
          <p:cNvSpPr/>
          <p:nvPr/>
        </p:nvSpPr>
        <p:spPr>
          <a:xfrm>
            <a:off x="731520" y="1417320"/>
            <a:ext cx="10725912" cy="7772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7772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연령이 낮아질수록 형사책임을 지는 범위가 좁아진다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 12~13세는 14~15세보다 한 단계 더 엄격한 예외요건을 적용한다</a:t>
            </a:r>
          </a:p>
        </p:txBody>
      </p:sp>
      <p:sp>
        <p:nvSpPr>
          <p:cNvPr id="7" name="RULE"/>
          <p:cNvSpPr/>
          <p:nvPr/>
        </p:nvSpPr>
        <p:spPr>
          <a:xfrm>
            <a:off x="731520" y="2286000"/>
            <a:ext cx="10725912" cy="0"/>
          </a:xfrm>
          <a:prstGeom prst="line">
            <a:avLst/>
          </a:prstGeom>
          <a:ln w="19050">
            <a:solidFill>
              <a:srgbClr val="1E2761"/>
            </a:solidFill>
          </a:ln>
        </p:spPr>
        <p:txBody>
          <a:bodyPr/>
          <a:lstStyle/>
          <a:p>
            <a:endParaRPr lang="ko-KR"/>
          </a:p>
        </p:txBody>
      </p:sp>
      <p:sp>
        <p:nvSpPr>
          <p:cNvPr id="8" name="BODY8"/>
          <p:cNvSpPr/>
          <p:nvPr/>
        </p:nvSpPr>
        <p:spPr>
          <a:xfrm>
            <a:off x="3154680" y="2590637"/>
            <a:ext cx="830275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원칙적으로 모든 범죄에 형사책임을 진다</a:t>
            </a:r>
          </a:p>
        </p:txBody>
      </p:sp>
      <p:sp>
        <p:nvSpPr>
          <p:cNvPr id="9" name="HEAD9"/>
          <p:cNvSpPr/>
          <p:nvPr/>
        </p:nvSpPr>
        <p:spPr>
          <a:xfrm>
            <a:off x="731520" y="2383790"/>
            <a:ext cx="2240280" cy="61496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16세 이상</a:t>
            </a:r>
          </a:p>
        </p:txBody>
      </p:sp>
      <p:sp>
        <p:nvSpPr>
          <p:cNvPr id="10" name="RULE10"/>
          <p:cNvSpPr/>
          <p:nvPr/>
        </p:nvSpPr>
        <p:spPr>
          <a:xfrm>
            <a:off x="731520" y="3066064"/>
            <a:ext cx="10725912" cy="0"/>
          </a:xfrm>
          <a:prstGeom prst="line">
            <a:avLst/>
          </a:prstGeom>
          <a:ln w="9525">
            <a:solidFill>
              <a:srgbClr val="DCE0E8"/>
            </a:solidFill>
          </a:ln>
        </p:spPr>
        <p:txBody>
          <a:bodyPr/>
          <a:lstStyle/>
          <a:p>
            <a:endParaRPr lang="ko-KR"/>
          </a:p>
        </p:txBody>
      </p:sp>
      <p:sp>
        <p:nvSpPr>
          <p:cNvPr id="11" name="BODY11"/>
          <p:cNvSpPr/>
          <p:nvPr/>
        </p:nvSpPr>
        <p:spPr>
          <a:xfrm>
            <a:off x="3154680" y="3250052"/>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법률에 열거된 중대범죄에만 형사책임을 진다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고의살인, 고의상해로 중상해 또는 사망, 강간, 강도, 마약판매, 방화, 폭발, 위험물질 투입이다.</a:t>
            </a:r>
          </a:p>
        </p:txBody>
      </p:sp>
      <p:sp>
        <p:nvSpPr>
          <p:cNvPr id="12" name="HEAD12"/>
          <p:cNvSpPr/>
          <p:nvPr/>
        </p:nvSpPr>
        <p:spPr>
          <a:xfrm>
            <a:off x="731520" y="3078764"/>
            <a:ext cx="2240280" cy="821668"/>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14~15세</a:t>
            </a:r>
          </a:p>
        </p:txBody>
      </p:sp>
      <p:sp>
        <p:nvSpPr>
          <p:cNvPr id="13" name="RULE13"/>
          <p:cNvSpPr/>
          <p:nvPr/>
        </p:nvSpPr>
        <p:spPr>
          <a:xfrm>
            <a:off x="731520" y="3891544"/>
            <a:ext cx="10725912" cy="0"/>
          </a:xfrm>
          <a:prstGeom prst="line">
            <a:avLst/>
          </a:prstGeom>
          <a:ln w="9525">
            <a:solidFill>
              <a:srgbClr val="DCE0E8"/>
            </a:solidFill>
          </a:ln>
        </p:spPr>
        <p:txBody>
          <a:bodyPr/>
          <a:lstStyle/>
          <a:p>
            <a:endParaRPr lang="ko-KR"/>
          </a:p>
        </p:txBody>
      </p:sp>
      <p:sp>
        <p:nvSpPr>
          <p:cNvPr id="14" name="BODY14"/>
          <p:cNvSpPr/>
          <p:nvPr/>
        </p:nvSpPr>
        <p:spPr>
          <a:xfrm>
            <a:off x="3154680" y="3980282"/>
            <a:ext cx="8302752" cy="765404"/>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고의살인·고의상해 가운데 결과가 극히 중대한 경우에만 형사책임이 열린다</a:t>
            </a:r>
          </a:p>
          <a:p>
            <a:pPr marL="0" indent="0">
              <a:lnSpc>
                <a:spcPct val="118000"/>
              </a:lnSpc>
              <a:spcAft>
                <a:spcPts val="500"/>
              </a:spcAft>
              <a:buNone/>
            </a:pPr>
            <a:r>
              <a:rPr lang="ko-KR" altLang="en-US" sz="1150" dirty="0">
                <a:solidFill>
                  <a:srgbClr val="464D5C"/>
                </a:solidFill>
                <a:latin typeface="Pretendard" pitchFamily="34" charset="0"/>
                <a:ea typeface="Pretendard" pitchFamily="34" charset="-122"/>
                <a:cs typeface="Pretendard" pitchFamily="34" charset="-120"/>
              </a:rPr>
              <a:t>사망을 초래했거나, 특히 잔혹한 수단으로 중상해와 중대한 장애를 초래한 경우다.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여기에 더해 정상이 악하고, 최고인민검찰원의 추소 승인을 받아야 한다.</a:t>
            </a:r>
          </a:p>
        </p:txBody>
      </p:sp>
      <p:sp>
        <p:nvSpPr>
          <p:cNvPr id="15" name="HEAD15"/>
          <p:cNvSpPr/>
          <p:nvPr/>
        </p:nvSpPr>
        <p:spPr>
          <a:xfrm>
            <a:off x="731520" y="3779784"/>
            <a:ext cx="2240280" cy="1146586"/>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12~13세</a:t>
            </a:r>
          </a:p>
        </p:txBody>
      </p:sp>
      <p:sp>
        <p:nvSpPr>
          <p:cNvPr id="16" name="RULE16"/>
          <p:cNvSpPr/>
          <p:nvPr/>
        </p:nvSpPr>
        <p:spPr>
          <a:xfrm>
            <a:off x="731520" y="4847631"/>
            <a:ext cx="10725912" cy="0"/>
          </a:xfrm>
          <a:prstGeom prst="line">
            <a:avLst/>
          </a:prstGeom>
          <a:ln w="9525">
            <a:solidFill>
              <a:srgbClr val="DCE0E8"/>
            </a:solidFill>
          </a:ln>
        </p:spPr>
        <p:txBody>
          <a:bodyPr/>
          <a:lstStyle/>
          <a:p>
            <a:endParaRPr lang="ko-KR"/>
          </a:p>
        </p:txBody>
      </p:sp>
      <p:sp>
        <p:nvSpPr>
          <p:cNvPr id="17" name="BODY17"/>
          <p:cNvSpPr/>
          <p:nvPr/>
        </p:nvSpPr>
        <p:spPr>
          <a:xfrm>
            <a:off x="3154680" y="5095118"/>
            <a:ext cx="830275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형사책임을 묻지 않는다</a:t>
            </a:r>
          </a:p>
        </p:txBody>
      </p:sp>
      <p:sp>
        <p:nvSpPr>
          <p:cNvPr id="18" name="HEAD18"/>
          <p:cNvSpPr/>
          <p:nvPr/>
        </p:nvSpPr>
        <p:spPr>
          <a:xfrm>
            <a:off x="731520" y="4913671"/>
            <a:ext cx="2240280" cy="61496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12세 미만</a:t>
            </a:r>
          </a:p>
        </p:txBody>
      </p:sp>
      <p:sp>
        <p:nvSpPr>
          <p:cNvPr id="19" name="RULE19"/>
          <p:cNvSpPr/>
          <p:nvPr/>
        </p:nvSpPr>
        <p:spPr>
          <a:xfrm>
            <a:off x="731520" y="5608645"/>
            <a:ext cx="10725912" cy="0"/>
          </a:xfrm>
          <a:prstGeom prst="line">
            <a:avLst/>
          </a:prstGeom>
          <a:ln w="9525">
            <a:solidFill>
              <a:srgbClr val="DCE0E8"/>
            </a:solidFill>
          </a:ln>
        </p:spPr>
        <p:txBody>
          <a:bodyPr/>
          <a:lstStyle/>
          <a:p>
            <a:endParaRPr lang="ko-KR"/>
          </a:p>
        </p:txBody>
      </p:sp>
      <p:sp>
        <p:nvSpPr>
          <p:cNvPr id="20" name="CLOSE20"/>
          <p:cNvSpPr/>
          <p:nvPr/>
        </p:nvSpPr>
        <p:spPr>
          <a:xfrm>
            <a:off x="736600" y="5956359"/>
            <a:ext cx="10725912" cy="254551"/>
          </a:xfrm>
          <a:prstGeom prst="rect">
            <a:avLst/>
          </a:prstGeom>
          <a:noFill/>
          <a:ln/>
        </p:spPr>
        <p:txBody>
          <a:bodyPr wrap="square" lIns="0" tIns="0" rIns="0" bIns="0" rtlCol="0" anchor="t"/>
          <a:lstStyle/>
          <a:p>
            <a:pPr>
              <a:lnSpc>
                <a:spcPct val="118000"/>
              </a:lnSpc>
            </a:pPr>
            <a:r>
              <a:rPr lang="ko-KR" altLang="en-US" sz="1250" b="1" dirty="0">
                <a:solidFill>
                  <a:schemeClr val="accent4">
                    <a:lumMod val="75000"/>
                  </a:schemeClr>
                </a:solidFill>
                <a:latin typeface="Pretendard" pitchFamily="34" charset="0"/>
                <a:ea typeface="Pretendard" pitchFamily="34" charset="-122"/>
                <a:cs typeface="Pretendard" pitchFamily="34" charset="-120"/>
              </a:rPr>
              <a:t>중국은 연령이 낮아질수록 형사책임의 범위를 좁히고</a:t>
            </a:r>
            <a:r>
              <a:rPr lang="en-US" altLang="ko-KR" sz="1250" b="1" dirty="0">
                <a:solidFill>
                  <a:schemeClr val="accent4">
                    <a:lumMod val="75000"/>
                  </a:schemeClr>
                </a:solidFill>
                <a:latin typeface="Pretendard" pitchFamily="34" charset="0"/>
                <a:ea typeface="Pretendard" pitchFamily="34" charset="-122"/>
                <a:cs typeface="Pretendard" pitchFamily="34" charset="-120"/>
              </a:rPr>
              <a:t>, 12~13</a:t>
            </a:r>
            <a:r>
              <a:rPr lang="ko-KR" altLang="en-US" sz="1250" b="1" dirty="0">
                <a:solidFill>
                  <a:schemeClr val="accent4">
                    <a:lumMod val="75000"/>
                  </a:schemeClr>
                </a:solidFill>
                <a:latin typeface="Pretendard" pitchFamily="34" charset="0"/>
                <a:ea typeface="Pretendard" pitchFamily="34" charset="-122"/>
                <a:cs typeface="Pretendard" pitchFamily="34" charset="-120"/>
              </a:rPr>
              <a:t>세에는 극히 중대한 사건에만 예외적으로 책임을 인정하는 단계적 구조를 두었다</a:t>
            </a:r>
            <a:r>
              <a:rPr lang="en-US" altLang="ko-KR" sz="1250" b="1" dirty="0">
                <a:solidFill>
                  <a:schemeClr val="accent4">
                    <a:lumMod val="75000"/>
                  </a:schemeClr>
                </a:solidFill>
                <a:latin typeface="Pretendard" pitchFamily="34" charset="0"/>
                <a:ea typeface="Pretendard" pitchFamily="34" charset="-122"/>
                <a:cs typeface="Pretendard" pitchFamily="34" charset="-120"/>
              </a:rPr>
              <a:t>.</a:t>
            </a:r>
            <a:endParaRPr lang="ko-KR" altLang="en-US" sz="1250" b="1" dirty="0">
              <a:solidFill>
                <a:schemeClr val="accent4">
                  <a:lumMod val="75000"/>
                </a:schemeClr>
              </a:solidFill>
              <a:latin typeface="Pretendard" pitchFamily="34" charset="0"/>
              <a:ea typeface="Pretendard" pitchFamily="34" charset="-122"/>
              <a:cs typeface="Pretendard" pitchFamily="34" charset="-120"/>
            </a:endParaRPr>
          </a:p>
        </p:txBody>
      </p:sp>
      <p:sp>
        <p:nvSpPr>
          <p:cNvPr id="22"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중국 형법 제17조(형법수정안(11)에 따른 현행 조문)</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예외 밖과 실제 적용</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중국 12~13세의 형사책임 — 극히</a:t>
            </a:r>
            <a:r>
              <a:rPr lang="en-US" altLang="ko-KR" sz="2750" b="1" dirty="0">
                <a:solidFill>
                  <a:srgbClr val="1E2761"/>
                </a:solidFill>
                <a:latin typeface="Pretendard" pitchFamily="34" charset="0"/>
                <a:ea typeface="Pretendard" pitchFamily="34" charset="-122"/>
                <a:cs typeface="Pretendard" pitchFamily="34" charset="-120"/>
              </a:rPr>
              <a:t> </a:t>
            </a:r>
            <a:r>
              <a:rPr lang="ko-KR" altLang="en-US" sz="2750" b="1" dirty="0">
                <a:solidFill>
                  <a:srgbClr val="1E2761"/>
                </a:solidFill>
                <a:latin typeface="Pretendard" pitchFamily="34" charset="0"/>
                <a:ea typeface="Pretendard" pitchFamily="34" charset="-122"/>
                <a:cs typeface="Pretendard" pitchFamily="34" charset="-120"/>
              </a:rPr>
              <a:t>중대한 결과의 기준 </a:t>
            </a:r>
          </a:p>
        </p:txBody>
      </p:sp>
      <p:sp>
        <p:nvSpPr>
          <p:cNvPr id="5" name="BANDBG"/>
          <p:cNvSpPr/>
          <p:nvPr/>
        </p:nvSpPr>
        <p:spPr>
          <a:xfrm>
            <a:off x="731520" y="1417320"/>
            <a:ext cx="10725912" cy="7772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7772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범죄유형·결과·정황을 법률로 제한하고, 마지막에 중앙 검찰기관의 승인까지 요구한다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 중대한 사건이라는 한 문장만으로 요건을 정하지 않았다</a:t>
            </a:r>
          </a:p>
        </p:txBody>
      </p:sp>
      <p:sp>
        <p:nvSpPr>
          <p:cNvPr id="7" name="RULE"/>
          <p:cNvSpPr/>
          <p:nvPr/>
        </p:nvSpPr>
        <p:spPr>
          <a:xfrm>
            <a:off x="731520" y="2286000"/>
            <a:ext cx="10725912" cy="0"/>
          </a:xfrm>
          <a:prstGeom prst="line">
            <a:avLst/>
          </a:prstGeom>
          <a:ln w="19050">
            <a:solidFill>
              <a:srgbClr val="1E2761"/>
            </a:solidFill>
          </a:ln>
        </p:spPr>
        <p:txBody>
          <a:bodyPr/>
          <a:lstStyle/>
          <a:p>
            <a:endParaRPr lang="ko-KR"/>
          </a:p>
        </p:txBody>
      </p:sp>
      <p:sp>
        <p:nvSpPr>
          <p:cNvPr id="8" name="BODY8"/>
          <p:cNvSpPr/>
          <p:nvPr/>
        </p:nvSpPr>
        <p:spPr>
          <a:xfrm>
            <a:off x="3096260" y="2477663"/>
            <a:ext cx="830275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12세 이상 14세 미만이어야 한다</a:t>
            </a:r>
          </a:p>
        </p:txBody>
      </p:sp>
      <p:sp>
        <p:nvSpPr>
          <p:cNvPr id="9" name="HEAD9"/>
          <p:cNvSpPr/>
          <p:nvPr/>
        </p:nvSpPr>
        <p:spPr>
          <a:xfrm>
            <a:off x="656590" y="2348299"/>
            <a:ext cx="2240280" cy="474461"/>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① 연령</a:t>
            </a:r>
          </a:p>
        </p:txBody>
      </p:sp>
      <p:sp>
        <p:nvSpPr>
          <p:cNvPr id="10" name="RULE10"/>
          <p:cNvSpPr/>
          <p:nvPr/>
        </p:nvSpPr>
        <p:spPr>
          <a:xfrm>
            <a:off x="731520" y="2907919"/>
            <a:ext cx="10725912" cy="0"/>
          </a:xfrm>
          <a:prstGeom prst="line">
            <a:avLst/>
          </a:prstGeom>
          <a:ln w="9525">
            <a:solidFill>
              <a:srgbClr val="DCE0E8"/>
            </a:solidFill>
          </a:ln>
        </p:spPr>
        <p:txBody>
          <a:bodyPr/>
          <a:lstStyle/>
          <a:p>
            <a:endParaRPr lang="ko-KR"/>
          </a:p>
        </p:txBody>
      </p:sp>
      <p:sp>
        <p:nvSpPr>
          <p:cNvPr id="11" name="BODY11"/>
          <p:cNvSpPr/>
          <p:nvPr/>
        </p:nvSpPr>
        <p:spPr>
          <a:xfrm>
            <a:off x="3096260" y="3025152"/>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고의살인 또는 고의상해 행위여야 한다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2026년 규정은 죄명이 아니라 행위를 기준으로 판단한다는 점을 명확히 했다.</a:t>
            </a:r>
          </a:p>
        </p:txBody>
      </p:sp>
      <p:sp>
        <p:nvSpPr>
          <p:cNvPr id="12" name="HEAD12"/>
          <p:cNvSpPr/>
          <p:nvPr/>
        </p:nvSpPr>
        <p:spPr>
          <a:xfrm>
            <a:off x="656590" y="2885059"/>
            <a:ext cx="2240280" cy="77528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② 행위</a:t>
            </a:r>
          </a:p>
        </p:txBody>
      </p:sp>
      <p:sp>
        <p:nvSpPr>
          <p:cNvPr id="13" name="RULE13"/>
          <p:cNvSpPr/>
          <p:nvPr/>
        </p:nvSpPr>
        <p:spPr>
          <a:xfrm>
            <a:off x="731520" y="3657803"/>
            <a:ext cx="10725912" cy="0"/>
          </a:xfrm>
          <a:prstGeom prst="line">
            <a:avLst/>
          </a:prstGeom>
          <a:ln w="9525">
            <a:solidFill>
              <a:srgbClr val="DCE0E8"/>
            </a:solidFill>
          </a:ln>
        </p:spPr>
        <p:txBody>
          <a:bodyPr/>
          <a:lstStyle/>
          <a:p>
            <a:endParaRPr lang="ko-KR"/>
          </a:p>
        </p:txBody>
      </p:sp>
      <p:sp>
        <p:nvSpPr>
          <p:cNvPr id="14" name="BODY14"/>
          <p:cNvSpPr/>
          <p:nvPr/>
        </p:nvSpPr>
        <p:spPr>
          <a:xfrm>
            <a:off x="3097530" y="3900589"/>
            <a:ext cx="830275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사망을 초래했거나, 특히 잔혹한 수단으로 중상해와 중대한 장애를 초래해야 한다</a:t>
            </a:r>
          </a:p>
        </p:txBody>
      </p:sp>
      <p:sp>
        <p:nvSpPr>
          <p:cNvPr id="15" name="HEAD15"/>
          <p:cNvSpPr/>
          <p:nvPr/>
        </p:nvSpPr>
        <p:spPr>
          <a:xfrm>
            <a:off x="948690" y="3769639"/>
            <a:ext cx="1965960" cy="513969"/>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③ 결과·수단</a:t>
            </a:r>
          </a:p>
        </p:txBody>
      </p:sp>
      <p:sp>
        <p:nvSpPr>
          <p:cNvPr id="16" name="RULE16"/>
          <p:cNvSpPr/>
          <p:nvPr/>
        </p:nvSpPr>
        <p:spPr>
          <a:xfrm>
            <a:off x="712470" y="4396957"/>
            <a:ext cx="10725912" cy="0"/>
          </a:xfrm>
          <a:prstGeom prst="line">
            <a:avLst/>
          </a:prstGeom>
          <a:ln w="9525">
            <a:solidFill>
              <a:srgbClr val="DCE0E8"/>
            </a:solidFill>
          </a:ln>
        </p:spPr>
        <p:txBody>
          <a:bodyPr/>
          <a:lstStyle/>
          <a:p>
            <a:endParaRPr lang="ko-KR"/>
          </a:p>
        </p:txBody>
      </p:sp>
      <p:sp>
        <p:nvSpPr>
          <p:cNvPr id="17" name="BODY17"/>
          <p:cNvSpPr/>
          <p:nvPr/>
        </p:nvSpPr>
        <p:spPr>
          <a:xfrm>
            <a:off x="3135630" y="4527907"/>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정상이 악한 경우여야 한다</a:t>
            </a:r>
          </a:p>
          <a:p>
            <a:pPr marL="0" indent="0">
              <a:lnSpc>
                <a:spcPct val="118000"/>
              </a:lnSpc>
              <a:buNone/>
            </a:pP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결과만 보지 않고 동기·수단·대상·인신위험성·재범가능성·사회적 영향을 종합해 판단한다</a:t>
            </a:r>
            <a:r>
              <a:rPr lang="ko-KR" altLang="en-US" sz="1150" dirty="0">
                <a:solidFill>
                  <a:srgbClr val="464D5C"/>
                </a:solidFill>
                <a:latin typeface="Pretendard" pitchFamily="34" charset="0"/>
                <a:ea typeface="Pretendard" pitchFamily="34" charset="-122"/>
                <a:cs typeface="Pretendard" pitchFamily="34" charset="-120"/>
              </a:rPr>
              <a:t>.</a:t>
            </a:r>
          </a:p>
        </p:txBody>
      </p:sp>
      <p:sp>
        <p:nvSpPr>
          <p:cNvPr id="18" name="HEAD18"/>
          <p:cNvSpPr/>
          <p:nvPr/>
        </p:nvSpPr>
        <p:spPr>
          <a:xfrm>
            <a:off x="863600" y="4396957"/>
            <a:ext cx="2051050" cy="775284"/>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④ 범행정황</a:t>
            </a:r>
          </a:p>
        </p:txBody>
      </p:sp>
      <p:sp>
        <p:nvSpPr>
          <p:cNvPr id="19" name="RULE19"/>
          <p:cNvSpPr/>
          <p:nvPr/>
        </p:nvSpPr>
        <p:spPr>
          <a:xfrm>
            <a:off x="674370" y="5175656"/>
            <a:ext cx="10725912" cy="0"/>
          </a:xfrm>
          <a:prstGeom prst="line">
            <a:avLst/>
          </a:prstGeom>
          <a:ln w="9525">
            <a:solidFill>
              <a:srgbClr val="DCE0E8"/>
            </a:solidFill>
          </a:ln>
        </p:spPr>
        <p:txBody>
          <a:bodyPr/>
          <a:lstStyle/>
          <a:p>
            <a:endParaRPr lang="ko-KR"/>
          </a:p>
        </p:txBody>
      </p:sp>
      <p:sp>
        <p:nvSpPr>
          <p:cNvPr id="20" name="BODY20"/>
          <p:cNvSpPr/>
          <p:nvPr/>
        </p:nvSpPr>
        <p:spPr>
          <a:xfrm>
            <a:off x="3154680" y="5315877"/>
            <a:ext cx="8302752" cy="495097"/>
          </a:xfrm>
          <a:prstGeom prst="rect">
            <a:avLst/>
          </a:prstGeom>
          <a:noFill/>
          <a:ln/>
        </p:spPr>
        <p:txBody>
          <a:bodyPr wrap="square" lIns="0" tIns="0" rIns="0" bIns="0" rtlCol="0" anchor="t"/>
          <a:lstStyle/>
          <a:p>
            <a:pPr>
              <a:lnSpc>
                <a:spcPct val="118000"/>
              </a:lnSpc>
              <a:spcAft>
                <a:spcPts val="500"/>
              </a:spcAft>
            </a:pPr>
            <a:r>
              <a:rPr lang="ko-KR" altLang="en-US" sz="1250" b="1" dirty="0">
                <a:solidFill>
                  <a:srgbClr val="222633"/>
                </a:solidFill>
                <a:latin typeface="Pretendard" pitchFamily="34" charset="0"/>
                <a:ea typeface="Pretendard" pitchFamily="34" charset="-122"/>
                <a:cs typeface="Pretendard" pitchFamily="34" charset="-120"/>
              </a:rPr>
              <a:t>최고인민검찰원의 </a:t>
            </a:r>
            <a:r>
              <a:rPr lang="ko-KR" altLang="en-US" sz="1250" b="1" dirty="0" err="1">
                <a:solidFill>
                  <a:srgbClr val="222633"/>
                </a:solidFill>
                <a:latin typeface="Pretendard" pitchFamily="34" charset="0"/>
                <a:ea typeface="Pretendard" pitchFamily="34" charset="-122"/>
                <a:cs typeface="Pretendard" pitchFamily="34" charset="-120"/>
              </a:rPr>
              <a:t>추소</a:t>
            </a:r>
            <a:r>
              <a:rPr lang="ko-KR" altLang="en-US" sz="1250" b="1" dirty="0">
                <a:solidFill>
                  <a:srgbClr val="222633"/>
                </a:solidFill>
                <a:latin typeface="Pretendard" pitchFamily="34" charset="0"/>
                <a:ea typeface="Pretendard" pitchFamily="34" charset="-122"/>
                <a:cs typeface="Pretendard" pitchFamily="34" charset="-120"/>
              </a:rPr>
              <a:t> 승인</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최고인민검찰원이 최종적으로 허가하는 절차적 관문</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을 받아야 한다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승인을 받지 않으면 공소를 제기할 수 없다. 사건 발생지 검찰기관이 단계별로 보고해 최고인민검찰원이 결정한다.</a:t>
            </a:r>
          </a:p>
        </p:txBody>
      </p:sp>
      <p:sp>
        <p:nvSpPr>
          <p:cNvPr id="21" name="HEAD21"/>
          <p:cNvSpPr/>
          <p:nvPr/>
        </p:nvSpPr>
        <p:spPr>
          <a:xfrm>
            <a:off x="571500" y="5265547"/>
            <a:ext cx="2355850" cy="599033"/>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⑤ 절차</a:t>
            </a:r>
          </a:p>
        </p:txBody>
      </p:sp>
      <p:sp>
        <p:nvSpPr>
          <p:cNvPr id="22" name="RULE22"/>
          <p:cNvSpPr/>
          <p:nvPr/>
        </p:nvSpPr>
        <p:spPr>
          <a:xfrm>
            <a:off x="731520" y="5944591"/>
            <a:ext cx="10725912" cy="0"/>
          </a:xfrm>
          <a:prstGeom prst="line">
            <a:avLst/>
          </a:prstGeom>
          <a:ln w="9525">
            <a:solidFill>
              <a:srgbClr val="DCE0E8"/>
            </a:solidFill>
          </a:ln>
        </p:spPr>
        <p:txBody>
          <a:bodyPr/>
          <a:lstStyle/>
          <a:p>
            <a:endParaRPr lang="ko-KR"/>
          </a:p>
        </p:txBody>
      </p:sp>
      <p:sp>
        <p:nvSpPr>
          <p:cNvPr id="23" name="CLOSE23"/>
          <p:cNvSpPr/>
          <p:nvPr/>
        </p:nvSpPr>
        <p:spPr>
          <a:xfrm>
            <a:off x="731520" y="6041365"/>
            <a:ext cx="1072591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추소 승인은 유죄판결이 아니라, 이 연령대 사건을 형사절차로 보낼 수 있게 하는 예외적 관문이다.</a:t>
            </a:r>
          </a:p>
        </p:txBody>
      </p:sp>
      <p:sp>
        <p:nvSpPr>
          <p:cNvPr id="25"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중국 형법 제17조 제3항 · 최고인민검찰원·공안부 2026. 7. 31. 「12~14세 미성년자 중대폭력범죄 추소승인 사건 처리규정」(전 15조) 보도 해설 기준</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스코틀랜드의 비형사 대응</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a:lnSpc>
                <a:spcPct val="118000"/>
              </a:lnSpc>
            </a:pPr>
            <a:r>
              <a:rPr lang="ko-KR" altLang="en-US" sz="2750" b="1" dirty="0">
                <a:solidFill>
                  <a:srgbClr val="1E2761"/>
                </a:solidFill>
                <a:latin typeface="Pretendard" pitchFamily="34" charset="0"/>
                <a:ea typeface="Pretendard" pitchFamily="34" charset="-122"/>
                <a:cs typeface="Pretendard" pitchFamily="34" charset="-120"/>
              </a:rPr>
              <a:t>예외적 형사책임의 실제 적용 </a:t>
            </a:r>
            <a:r>
              <a:rPr lang="en-US" altLang="ko-KR" sz="2750" b="1" dirty="0">
                <a:solidFill>
                  <a:srgbClr val="1E2761"/>
                </a:solidFill>
                <a:latin typeface="Pretendard" pitchFamily="34" charset="0"/>
                <a:ea typeface="Pretendard" pitchFamily="34" charset="-122"/>
                <a:cs typeface="Pretendard" pitchFamily="34" charset="-120"/>
              </a:rPr>
              <a:t>— </a:t>
            </a:r>
            <a:r>
              <a:rPr lang="ko-KR" altLang="en-US" sz="2750" b="1" dirty="0">
                <a:solidFill>
                  <a:srgbClr val="1E2761"/>
                </a:solidFill>
                <a:latin typeface="Pretendard" pitchFamily="34" charset="0"/>
                <a:ea typeface="Pretendard" pitchFamily="34" charset="-122"/>
                <a:cs typeface="Pretendard" pitchFamily="34" charset="-120"/>
              </a:rPr>
              <a:t>한단 사건</a:t>
            </a:r>
          </a:p>
        </p:txBody>
      </p:sp>
      <p:sp>
        <p:nvSpPr>
          <p:cNvPr id="5" name="BANDBG"/>
          <p:cNvSpPr/>
          <p:nvPr/>
        </p:nvSpPr>
        <p:spPr>
          <a:xfrm>
            <a:off x="731520" y="1417320"/>
            <a:ext cx="10725912" cy="7772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7772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범행 당시 13세였던 세 명 모두 최고인민검찰원의 추소 승인을 받았다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 그러나 법원은 </a:t>
            </a: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각자의 관여 정도를 따져 2명에게 형사책임을 인정하고 1명에게는 형사처벌을 하지 않았다</a:t>
            </a:r>
          </a:p>
        </p:txBody>
      </p:sp>
      <p:sp>
        <p:nvSpPr>
          <p:cNvPr id="7" name="RULE"/>
          <p:cNvSpPr/>
          <p:nvPr/>
        </p:nvSpPr>
        <p:spPr>
          <a:xfrm>
            <a:off x="731520" y="2286000"/>
            <a:ext cx="10725912" cy="0"/>
          </a:xfrm>
          <a:prstGeom prst="line">
            <a:avLst/>
          </a:prstGeom>
          <a:ln w="19050">
            <a:solidFill>
              <a:srgbClr val="1E2761"/>
            </a:solidFill>
          </a:ln>
        </p:spPr>
        <p:txBody>
          <a:bodyPr/>
          <a:lstStyle/>
          <a:p>
            <a:endParaRPr lang="ko-KR"/>
          </a:p>
        </p:txBody>
      </p:sp>
      <p:sp>
        <p:nvSpPr>
          <p:cNvPr id="8" name="B1"/>
          <p:cNvSpPr/>
          <p:nvPr/>
        </p:nvSpPr>
        <p:spPr>
          <a:xfrm>
            <a:off x="3154680" y="2368867"/>
            <a:ext cx="8302752" cy="714604"/>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222633"/>
                </a:solidFill>
                <a:latin typeface="Pretendard" pitchFamily="34" charset="0"/>
                <a:ea typeface="Pretendard" pitchFamily="34" charset="-122"/>
                <a:cs typeface="Pretendard" pitchFamily="34" charset="-120"/>
              </a:rPr>
              <a:t>2024년 동급생 살해 사건 — 피고인 세 명과 피해자는 모두 범행 당시 13세였다</a:t>
            </a:r>
          </a:p>
          <a:p>
            <a:pPr marL="0" indent="0">
              <a:lnSpc>
                <a:spcPct val="118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세 명 모두 최고인민검찰원의 추소 승인을 거쳐 형사재판에 들어갔다.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추소 승인은 유죄판결이 아니라, 이 연령대 사건을 형사절차로 보낼 수 있게 하는 관문이다.</a:t>
            </a:r>
          </a:p>
        </p:txBody>
      </p:sp>
      <p:sp>
        <p:nvSpPr>
          <p:cNvPr id="9" name="H1"/>
          <p:cNvSpPr/>
          <p:nvPr/>
        </p:nvSpPr>
        <p:spPr>
          <a:xfrm>
            <a:off x="731520" y="2263140"/>
            <a:ext cx="2240280" cy="944347"/>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사건 개요</a:t>
            </a:r>
          </a:p>
        </p:txBody>
      </p:sp>
      <p:sp>
        <p:nvSpPr>
          <p:cNvPr id="10" name="R1"/>
          <p:cNvSpPr/>
          <p:nvPr/>
        </p:nvSpPr>
        <p:spPr>
          <a:xfrm>
            <a:off x="731520" y="3147797"/>
            <a:ext cx="10725912" cy="0"/>
          </a:xfrm>
          <a:prstGeom prst="line">
            <a:avLst/>
          </a:prstGeom>
          <a:ln w="9525">
            <a:solidFill>
              <a:srgbClr val="DCE0E8"/>
            </a:solidFill>
          </a:ln>
        </p:spPr>
        <p:txBody>
          <a:bodyPr/>
          <a:lstStyle/>
          <a:p>
            <a:endParaRPr lang="ko-KR"/>
          </a:p>
        </p:txBody>
      </p:sp>
      <p:sp>
        <p:nvSpPr>
          <p:cNvPr id="11" name="LB2"/>
          <p:cNvSpPr/>
          <p:nvPr/>
        </p:nvSpPr>
        <p:spPr>
          <a:xfrm>
            <a:off x="731520" y="3249714"/>
            <a:ext cx="10725912" cy="224790"/>
          </a:xfrm>
          <a:prstGeom prst="rect">
            <a:avLst/>
          </a:prstGeom>
          <a:noFill/>
          <a:ln/>
        </p:spPr>
        <p:txBody>
          <a:bodyPr wrap="square" lIns="0" tIns="0" rIns="0" bIns="0" rtlCol="0" anchor="t"/>
          <a:lstStyle/>
          <a:p>
            <a:pPr marL="0" indent="0">
              <a:lnSpc>
                <a:spcPct val="118000"/>
              </a:lnSpc>
              <a:buNone/>
            </a:pPr>
            <a:r>
              <a:rPr lang="ko-KR" altLang="en-US" sz="1250" b="1" dirty="0">
                <a:latin typeface="Pretendard" pitchFamily="34" charset="0"/>
                <a:ea typeface="Pretendard" pitchFamily="34" charset="-122"/>
                <a:cs typeface="Pretendard" pitchFamily="34" charset="-120"/>
              </a:rPr>
              <a:t>법원은 세 사람을 똑같이 보지 않았다</a:t>
            </a:r>
          </a:p>
        </p:txBody>
      </p:sp>
      <p:sp>
        <p:nvSpPr>
          <p:cNvPr id="12" name="DF12"/>
          <p:cNvSpPr/>
          <p:nvPr/>
        </p:nvSpPr>
        <p:spPr>
          <a:xfrm>
            <a:off x="731520" y="3551974"/>
            <a:ext cx="3392424" cy="720395"/>
          </a:xfrm>
          <a:prstGeom prst="rect">
            <a:avLst/>
          </a:prstGeom>
          <a:noFill/>
          <a:ln>
            <a:solidFill>
              <a:schemeClr val="bg1">
                <a:lumMod val="65000"/>
              </a:schemeClr>
            </a:solidFill>
          </a:ln>
        </p:spPr>
        <p:txBody>
          <a:bodyPr wrap="square" lIns="0" tIns="0" rIns="0" bIns="0" rtlCol="0" anchor="t"/>
          <a:lstStyle/>
          <a:p>
            <a:pPr marL="0" indent="0" algn="ctr">
              <a:lnSpc>
                <a:spcPct val="118000"/>
              </a:lnSpc>
              <a:spcAft>
                <a:spcPts val="300"/>
              </a:spcAft>
              <a:buNone/>
            </a:pPr>
            <a:r>
              <a:rPr lang="ko-KR" altLang="en-US" sz="1250" b="1" dirty="0">
                <a:solidFill>
                  <a:srgbClr val="1E2761"/>
                </a:solidFill>
                <a:latin typeface="Pretendard" pitchFamily="34" charset="0"/>
                <a:ea typeface="Pretendard" pitchFamily="34" charset="-122"/>
                <a:cs typeface="Pretendard" pitchFamily="34" charset="-120"/>
              </a:rPr>
              <a:t>피고인 A</a:t>
            </a:r>
          </a:p>
          <a:p>
            <a:pPr marL="0" indent="0" algn="ctr">
              <a:lnSpc>
                <a:spcPct val="118000"/>
              </a:lnSpc>
              <a:spcAft>
                <a:spcPts val="400"/>
              </a:spcAft>
              <a:buNone/>
            </a:pPr>
            <a:r>
              <a:rPr lang="ko-KR" altLang="en-US" sz="1150" b="1" dirty="0">
                <a:solidFill>
                  <a:schemeClr val="accent2">
                    <a:lumMod val="75000"/>
                  </a:schemeClr>
                </a:solidFill>
                <a:latin typeface="Pretendard" pitchFamily="34" charset="0"/>
                <a:ea typeface="Pretendard" pitchFamily="34" charset="-122"/>
                <a:cs typeface="Pretendard" pitchFamily="34" charset="-120"/>
              </a:rPr>
              <a:t>살인을 제안하고 장소를 미리 준비했으며 직접 실행했다</a:t>
            </a:r>
          </a:p>
          <a:p>
            <a:pPr marL="0" indent="0" algn="ctr">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 무기징역</a:t>
            </a:r>
          </a:p>
        </p:txBody>
      </p:sp>
      <p:sp>
        <p:nvSpPr>
          <p:cNvPr id="13" name="DF13"/>
          <p:cNvSpPr/>
          <p:nvPr/>
        </p:nvSpPr>
        <p:spPr>
          <a:xfrm>
            <a:off x="4398264" y="3551974"/>
            <a:ext cx="3392424" cy="720395"/>
          </a:xfrm>
          <a:prstGeom prst="rect">
            <a:avLst/>
          </a:prstGeom>
          <a:noFill/>
          <a:ln>
            <a:solidFill>
              <a:schemeClr val="bg1">
                <a:lumMod val="65000"/>
              </a:schemeClr>
            </a:solidFill>
          </a:ln>
        </p:spPr>
        <p:txBody>
          <a:bodyPr wrap="square" lIns="0" tIns="0" rIns="0" bIns="0" rtlCol="0" anchor="t"/>
          <a:lstStyle/>
          <a:p>
            <a:pPr marL="0" indent="0" algn="ctr">
              <a:lnSpc>
                <a:spcPct val="118000"/>
              </a:lnSpc>
              <a:spcAft>
                <a:spcPts val="300"/>
              </a:spcAft>
              <a:buNone/>
            </a:pPr>
            <a:r>
              <a:rPr lang="ko-KR" altLang="en-US" sz="1250" b="1" dirty="0">
                <a:solidFill>
                  <a:srgbClr val="1E2761"/>
                </a:solidFill>
                <a:latin typeface="Pretendard" pitchFamily="34" charset="0"/>
                <a:ea typeface="Pretendard" pitchFamily="34" charset="-122"/>
                <a:cs typeface="Pretendard" pitchFamily="34" charset="-120"/>
              </a:rPr>
              <a:t>피고인 B</a:t>
            </a:r>
          </a:p>
          <a:p>
            <a:pPr marL="0" indent="0" algn="ctr">
              <a:lnSpc>
                <a:spcPct val="118000"/>
              </a:lnSpc>
              <a:spcAft>
                <a:spcPts val="400"/>
              </a:spcAft>
              <a:buNone/>
            </a:pPr>
            <a:r>
              <a:rPr lang="ko-KR" altLang="en-US" sz="1150" b="1" dirty="0">
                <a:solidFill>
                  <a:schemeClr val="accent2">
                    <a:lumMod val="75000"/>
                  </a:schemeClr>
                </a:solidFill>
                <a:latin typeface="Pretendard" pitchFamily="34" charset="0"/>
                <a:ea typeface="Pretendard" pitchFamily="34" charset="-122"/>
                <a:cs typeface="Pretendard" pitchFamily="34" charset="-120"/>
              </a:rPr>
              <a:t>범행 모의와 실행에 적극 가담했다</a:t>
            </a:r>
          </a:p>
          <a:p>
            <a:pPr marL="0" indent="0" algn="ctr">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 징역 12년</a:t>
            </a:r>
          </a:p>
        </p:txBody>
      </p:sp>
      <p:sp>
        <p:nvSpPr>
          <p:cNvPr id="14" name="DF14"/>
          <p:cNvSpPr/>
          <p:nvPr/>
        </p:nvSpPr>
        <p:spPr>
          <a:xfrm>
            <a:off x="8065008" y="3551974"/>
            <a:ext cx="3392424" cy="720395"/>
          </a:xfrm>
          <a:prstGeom prst="rect">
            <a:avLst/>
          </a:prstGeom>
          <a:noFill/>
          <a:ln>
            <a:solidFill>
              <a:schemeClr val="bg1">
                <a:lumMod val="65000"/>
              </a:schemeClr>
            </a:solidFill>
          </a:ln>
        </p:spPr>
        <p:txBody>
          <a:bodyPr wrap="square" lIns="0" tIns="0" rIns="0" bIns="0" rtlCol="0" anchor="t"/>
          <a:lstStyle/>
          <a:p>
            <a:pPr marL="0" indent="0" algn="ctr">
              <a:lnSpc>
                <a:spcPct val="118000"/>
              </a:lnSpc>
              <a:spcAft>
                <a:spcPts val="300"/>
              </a:spcAft>
              <a:buNone/>
            </a:pPr>
            <a:r>
              <a:rPr lang="ko-KR" altLang="en-US" sz="1250" b="1" dirty="0">
                <a:solidFill>
                  <a:srgbClr val="1E2761"/>
                </a:solidFill>
                <a:latin typeface="Pretendard" pitchFamily="34" charset="0"/>
                <a:ea typeface="Pretendard" pitchFamily="34" charset="-122"/>
                <a:cs typeface="Pretendard" pitchFamily="34" charset="-120"/>
              </a:rPr>
              <a:t>피고인 C</a:t>
            </a:r>
          </a:p>
          <a:p>
            <a:pPr marL="0" indent="0" algn="ctr">
              <a:lnSpc>
                <a:spcPct val="118000"/>
              </a:lnSpc>
              <a:spcAft>
                <a:spcPts val="400"/>
              </a:spcAft>
              <a:buNone/>
            </a:pPr>
            <a:r>
              <a:rPr lang="ko-KR" altLang="en-US" sz="1150" b="1" dirty="0">
                <a:solidFill>
                  <a:schemeClr val="accent6">
                    <a:lumMod val="75000"/>
                  </a:schemeClr>
                </a:solidFill>
                <a:latin typeface="Pretendard" pitchFamily="34" charset="0"/>
                <a:ea typeface="Pretendard" pitchFamily="34" charset="-122"/>
                <a:cs typeface="Pretendard" pitchFamily="34" charset="-120"/>
              </a:rPr>
              <a:t>사전 공모에 참여하지 않았고 직접 가해행위도 하지 않았다</a:t>
            </a:r>
          </a:p>
          <a:p>
            <a:pPr marL="0" indent="0" algn="ctr">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 형사처벌하지 않음 · 전문 교정교육</a:t>
            </a:r>
          </a:p>
        </p:txBody>
      </p:sp>
      <p:sp>
        <p:nvSpPr>
          <p:cNvPr id="15" name="NT2"/>
          <p:cNvSpPr/>
          <p:nvPr/>
        </p:nvSpPr>
        <p:spPr>
          <a:xfrm>
            <a:off x="731520" y="4377271"/>
            <a:ext cx="10725912" cy="206807"/>
          </a:xfrm>
          <a:prstGeom prst="rect">
            <a:avLst/>
          </a:prstGeom>
          <a:noFill/>
          <a:ln/>
        </p:spPr>
        <p:txBody>
          <a:bodyPr wrap="square" lIns="0" tIns="0" rIns="0" bIns="0" rtlCol="0" anchor="t"/>
          <a:lstStyle/>
          <a:p>
            <a:pPr marL="0" indent="0">
              <a:lnSpc>
                <a:spcPct val="118000"/>
              </a:lnSpc>
              <a:buNone/>
            </a:pP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법원은 세 번째 소년도 공동범죄에 관여했다고 보았지만, 사전 공모와 직접 가해가 없었던 점 등을 근거로 형사처벌하지 않았다. 이후 관계기관이 전문 교정교육을 결정했다.</a:t>
            </a:r>
          </a:p>
        </p:txBody>
      </p:sp>
      <p:sp>
        <p:nvSpPr>
          <p:cNvPr id="16" name="R2"/>
          <p:cNvSpPr/>
          <p:nvPr/>
        </p:nvSpPr>
        <p:spPr>
          <a:xfrm>
            <a:off x="731520" y="4680153"/>
            <a:ext cx="10725912" cy="0"/>
          </a:xfrm>
          <a:prstGeom prst="line">
            <a:avLst/>
          </a:prstGeom>
          <a:ln w="9525">
            <a:solidFill>
              <a:srgbClr val="DCE0E8"/>
            </a:solidFill>
          </a:ln>
        </p:spPr>
        <p:txBody>
          <a:bodyPr/>
          <a:lstStyle/>
          <a:p>
            <a:endParaRPr lang="ko-KR"/>
          </a:p>
        </p:txBody>
      </p:sp>
      <p:sp>
        <p:nvSpPr>
          <p:cNvPr id="17" name="LB3"/>
          <p:cNvSpPr/>
          <p:nvPr/>
        </p:nvSpPr>
        <p:spPr>
          <a:xfrm>
            <a:off x="731520" y="4763021"/>
            <a:ext cx="10725912" cy="224790"/>
          </a:xfrm>
          <a:prstGeom prst="rect">
            <a:avLst/>
          </a:prstGeom>
          <a:noFill/>
          <a:ln/>
        </p:spPr>
        <p:txBody>
          <a:bodyPr wrap="square" lIns="0" tIns="0" rIns="0" bIns="0" rtlCol="0" anchor="t"/>
          <a:lstStyle/>
          <a:p>
            <a:pPr marL="0" indent="0">
              <a:lnSpc>
                <a:spcPct val="118000"/>
              </a:lnSpc>
              <a:buNone/>
            </a:pPr>
            <a:r>
              <a:rPr lang="ko-KR" altLang="en-US" sz="1250" b="1" dirty="0">
                <a:latin typeface="Pretendard" pitchFamily="34" charset="0"/>
                <a:ea typeface="Pretendard" pitchFamily="34" charset="-122"/>
                <a:cs typeface="Pretendard" pitchFamily="34" charset="-120"/>
              </a:rPr>
              <a:t>이 사건이 보여주는 절차</a:t>
            </a:r>
          </a:p>
        </p:txBody>
      </p:sp>
      <p:sp>
        <p:nvSpPr>
          <p:cNvPr id="18" name="ST18"/>
          <p:cNvSpPr/>
          <p:nvPr/>
        </p:nvSpPr>
        <p:spPr>
          <a:xfrm>
            <a:off x="731520" y="5084331"/>
            <a:ext cx="3392424" cy="459029"/>
          </a:xfrm>
          <a:prstGeom prst="rect">
            <a:avLst/>
          </a:prstGeom>
          <a:noFill/>
          <a:ln>
            <a:solidFill>
              <a:schemeClr val="bg1">
                <a:lumMod val="65000"/>
              </a:schemeClr>
            </a:solidFill>
          </a:ln>
        </p:spPr>
        <p:txBody>
          <a:bodyPr wrap="square" lIns="0" tIns="0" rIns="0" bIns="0" rtlCol="0" anchor="t"/>
          <a:lstStyle/>
          <a:p>
            <a:pPr marL="0" indent="0" algn="ctr">
              <a:lnSpc>
                <a:spcPct val="118000"/>
              </a:lnSpc>
              <a:spcAft>
                <a:spcPts val="300"/>
              </a:spcAft>
              <a:buNone/>
            </a:pPr>
            <a:r>
              <a:rPr lang="ko-KR" altLang="en-US" sz="1250" b="1" dirty="0">
                <a:solidFill>
                  <a:srgbClr val="1E2761"/>
                </a:solidFill>
                <a:latin typeface="Pretendard" pitchFamily="34" charset="0"/>
                <a:ea typeface="Pretendard" pitchFamily="34" charset="-122"/>
                <a:cs typeface="Pretendard" pitchFamily="34" charset="-120"/>
              </a:rPr>
              <a:t>추소 승인</a:t>
            </a:r>
          </a:p>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저연령 사건을 형사절차로 보낼 수 있게 하는 예외적 관문</a:t>
            </a:r>
          </a:p>
        </p:txBody>
      </p:sp>
      <p:sp>
        <p:nvSpPr>
          <p:cNvPr id="19" name="AR19"/>
          <p:cNvSpPr/>
          <p:nvPr/>
        </p:nvSpPr>
        <p:spPr>
          <a:xfrm>
            <a:off x="4228338" y="5224031"/>
            <a:ext cx="274320" cy="224790"/>
          </a:xfrm>
          <a:prstGeom prst="rect">
            <a:avLst/>
          </a:prstGeom>
          <a:noFill/>
          <a:ln/>
        </p:spPr>
        <p:txBody>
          <a:bodyPr wrap="square" lIns="0" tIns="0" rIns="0" bIns="0" rtlCol="0" anchor="t"/>
          <a:lstStyle/>
          <a:p>
            <a:pPr marL="0" indent="0" algn="ctr">
              <a:lnSpc>
                <a:spcPct val="118000"/>
              </a:lnSpc>
              <a:buNone/>
            </a:pPr>
            <a:r>
              <a:rPr lang="ko-KR" altLang="en-US" sz="1250" dirty="0">
                <a:solidFill>
                  <a:srgbClr val="464D5C"/>
                </a:solidFill>
                <a:latin typeface="Pretendard" pitchFamily="34" charset="0"/>
                <a:ea typeface="Pretendard" pitchFamily="34" charset="-122"/>
                <a:cs typeface="Pretendard" pitchFamily="34" charset="-120"/>
              </a:rPr>
              <a:t>→</a:t>
            </a:r>
          </a:p>
        </p:txBody>
      </p:sp>
      <p:sp>
        <p:nvSpPr>
          <p:cNvPr id="20" name="ST20"/>
          <p:cNvSpPr/>
          <p:nvPr/>
        </p:nvSpPr>
        <p:spPr>
          <a:xfrm>
            <a:off x="4607052" y="5084331"/>
            <a:ext cx="3005836" cy="459029"/>
          </a:xfrm>
          <a:prstGeom prst="rect">
            <a:avLst/>
          </a:prstGeom>
          <a:noFill/>
          <a:ln>
            <a:solidFill>
              <a:schemeClr val="bg1">
                <a:lumMod val="65000"/>
              </a:schemeClr>
            </a:solidFill>
          </a:ln>
        </p:spPr>
        <p:txBody>
          <a:bodyPr wrap="square" lIns="0" tIns="0" rIns="0" bIns="0" rtlCol="0" anchor="t"/>
          <a:lstStyle/>
          <a:p>
            <a:pPr marL="0" indent="0" algn="ctr">
              <a:lnSpc>
                <a:spcPct val="118000"/>
              </a:lnSpc>
              <a:spcAft>
                <a:spcPts val="300"/>
              </a:spcAft>
              <a:buNone/>
            </a:pPr>
            <a:r>
              <a:rPr lang="ko-KR" altLang="en-US" sz="1250" b="1" dirty="0">
                <a:solidFill>
                  <a:srgbClr val="1E2761"/>
                </a:solidFill>
                <a:latin typeface="Pretendard" pitchFamily="34" charset="0"/>
                <a:ea typeface="Pretendard" pitchFamily="34" charset="-122"/>
                <a:cs typeface="Pretendard" pitchFamily="34" charset="-120"/>
              </a:rPr>
              <a:t>법원의 개인별 판단</a:t>
            </a:r>
          </a:p>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실제 행위와 가담 정도, 책임을 다시 판단</a:t>
            </a:r>
          </a:p>
        </p:txBody>
      </p:sp>
      <p:sp>
        <p:nvSpPr>
          <p:cNvPr id="21" name="AR21"/>
          <p:cNvSpPr/>
          <p:nvPr/>
        </p:nvSpPr>
        <p:spPr>
          <a:xfrm>
            <a:off x="7701788" y="5211331"/>
            <a:ext cx="274320" cy="224790"/>
          </a:xfrm>
          <a:prstGeom prst="rect">
            <a:avLst/>
          </a:prstGeom>
          <a:noFill/>
          <a:ln/>
        </p:spPr>
        <p:txBody>
          <a:bodyPr wrap="square" lIns="0" tIns="0" rIns="0" bIns="0" rtlCol="0" anchor="t"/>
          <a:lstStyle/>
          <a:p>
            <a:pPr marL="0" indent="0" algn="ctr">
              <a:lnSpc>
                <a:spcPct val="118000"/>
              </a:lnSpc>
              <a:buNone/>
            </a:pPr>
            <a:r>
              <a:rPr lang="ko-KR" altLang="en-US" sz="1250" dirty="0">
                <a:solidFill>
                  <a:srgbClr val="464D5C"/>
                </a:solidFill>
                <a:latin typeface="Pretendard" pitchFamily="34" charset="0"/>
                <a:ea typeface="Pretendard" pitchFamily="34" charset="-122"/>
                <a:cs typeface="Pretendard" pitchFamily="34" charset="-120"/>
              </a:rPr>
              <a:t>→</a:t>
            </a:r>
          </a:p>
        </p:txBody>
      </p:sp>
      <p:sp>
        <p:nvSpPr>
          <p:cNvPr id="22" name="ST22"/>
          <p:cNvSpPr/>
          <p:nvPr/>
        </p:nvSpPr>
        <p:spPr>
          <a:xfrm>
            <a:off x="8065008" y="5084331"/>
            <a:ext cx="3392424" cy="459029"/>
          </a:xfrm>
          <a:prstGeom prst="rect">
            <a:avLst/>
          </a:prstGeom>
          <a:noFill/>
          <a:ln>
            <a:solidFill>
              <a:schemeClr val="bg1">
                <a:lumMod val="65000"/>
              </a:schemeClr>
            </a:solidFill>
          </a:ln>
        </p:spPr>
        <p:txBody>
          <a:bodyPr wrap="square" lIns="0" tIns="0" rIns="0" bIns="0" rtlCol="0" anchor="t"/>
          <a:lstStyle/>
          <a:p>
            <a:pPr marL="0" indent="0" algn="ctr">
              <a:lnSpc>
                <a:spcPct val="118000"/>
              </a:lnSpc>
              <a:spcAft>
                <a:spcPts val="300"/>
              </a:spcAft>
              <a:buNone/>
            </a:pPr>
            <a:r>
              <a:rPr lang="ko-KR" altLang="en-US" sz="1250" b="1" dirty="0">
                <a:solidFill>
                  <a:srgbClr val="1E2761"/>
                </a:solidFill>
                <a:latin typeface="Pretendard" pitchFamily="34" charset="0"/>
                <a:ea typeface="Pretendard" pitchFamily="34" charset="-122"/>
                <a:cs typeface="Pretendard" pitchFamily="34" charset="-120"/>
              </a:rPr>
              <a:t>처벌 또는 교정</a:t>
            </a:r>
          </a:p>
          <a:p>
            <a:pPr marL="0" indent="0" algn="ctr">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책임을 인정하면 형벌, 형사처벌하지 않으면 별도 교정경로</a:t>
            </a:r>
          </a:p>
        </p:txBody>
      </p:sp>
      <p:sp>
        <p:nvSpPr>
          <p:cNvPr id="23" name="R3"/>
          <p:cNvSpPr/>
          <p:nvPr/>
        </p:nvSpPr>
        <p:spPr>
          <a:xfrm>
            <a:off x="731520" y="5690235"/>
            <a:ext cx="10725912" cy="0"/>
          </a:xfrm>
          <a:prstGeom prst="line">
            <a:avLst/>
          </a:prstGeom>
          <a:ln w="9525">
            <a:solidFill>
              <a:srgbClr val="DCE0E8"/>
            </a:solidFill>
          </a:ln>
        </p:spPr>
        <p:txBody>
          <a:bodyPr/>
          <a:lstStyle/>
          <a:p>
            <a:endParaRPr lang="ko-KR"/>
          </a:p>
        </p:txBody>
      </p:sp>
      <p:sp>
        <p:nvSpPr>
          <p:cNvPr id="24" name="CL"/>
          <p:cNvSpPr/>
          <p:nvPr/>
        </p:nvSpPr>
        <p:spPr>
          <a:xfrm>
            <a:off x="747014" y="5913755"/>
            <a:ext cx="10725912" cy="224790"/>
          </a:xfrm>
          <a:prstGeom prst="rect">
            <a:avLst/>
          </a:prstGeom>
          <a:noFill/>
          <a:ln/>
        </p:spPr>
        <p:txBody>
          <a:bodyPr wrap="square" lIns="0" tIns="0" rIns="0" bIns="0" rtlCol="0" anchor="t"/>
          <a:lstStyle/>
          <a:p>
            <a:pPr marL="0" indent="0">
              <a:lnSpc>
                <a:spcPct val="118000"/>
              </a:lnSpc>
              <a:buNone/>
            </a:pPr>
            <a:r>
              <a:rPr lang="ko-KR" altLang="en-US" sz="1250" b="1" dirty="0">
                <a:solidFill>
                  <a:schemeClr val="accent4">
                    <a:lumMod val="75000"/>
                  </a:schemeClr>
                </a:solidFill>
                <a:latin typeface="Pretendard" pitchFamily="34" charset="0"/>
                <a:ea typeface="Pretendard" pitchFamily="34" charset="-122"/>
                <a:cs typeface="Pretendard" pitchFamily="34" charset="-120"/>
              </a:rPr>
              <a:t>중국의 12~13세 예외는 요건을 충족하면 자동으로 처벌하는 구조가 아니다. 추소 승인 뒤에도 법원이 개별 소년의 행위와 책임을 다시 판단한다.</a:t>
            </a:r>
          </a:p>
        </p:txBody>
      </p:sp>
      <p:sp>
        <p:nvSpPr>
          <p:cNvPr id="26"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중국 형법 제17조 제3항·제5항 · 신화통신 2024.12.30. 1심 선고 보도 · 최고인민검찰원 2024.4.8. 추소승인 발표</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연령 기준의 설계와 법적 한계</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sz="1050" b="0">
                <a:solidFill>
                  <a:srgbClr val="6E7686"/>
                </a:solidFill>
                <a:latin typeface="Pretendard"/>
              </a:rPr>
              <a:t>다음 → 국가별 비교 Ⅰ</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스코틀랜드 — 형사책임 밖에서 중대한 위해에 대응하다</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nSpc>
                <a:spcPct val="118000"/>
              </a:lnSpc>
            </a:pPr>
            <a:r>
              <a:rPr lang="ko-KR" altLang="en-US" sz="1300" b="1" dirty="0">
                <a:solidFill>
                  <a:srgbClr val="1E2761"/>
                </a:solidFill>
                <a:latin typeface="Pretendard"/>
                <a:ea typeface="Pretendard"/>
                <a:cs typeface="Pretendard"/>
              </a:rPr>
              <a:t>스코틀랜드는 </a:t>
            </a:r>
            <a:r>
              <a:rPr lang="en-US" altLang="ko-KR" sz="1300" b="1" dirty="0">
                <a:solidFill>
                  <a:srgbClr val="1E2761"/>
                </a:solidFill>
                <a:latin typeface="Pretendard"/>
                <a:ea typeface="Pretendard"/>
                <a:cs typeface="Pretendard"/>
              </a:rPr>
              <a:t>12</a:t>
            </a:r>
            <a:r>
              <a:rPr lang="ko-KR" altLang="en-US" sz="1300" b="1" dirty="0">
                <a:solidFill>
                  <a:srgbClr val="1E2761"/>
                </a:solidFill>
                <a:latin typeface="Pretendard"/>
                <a:ea typeface="Pretendard"/>
                <a:cs typeface="Pretendard"/>
              </a:rPr>
              <a:t>세 미만을 형사책임 밖에 두면서도</a:t>
            </a:r>
            <a:r>
              <a:rPr lang="en-US" altLang="ko-KR" sz="1300" b="1" dirty="0">
                <a:solidFill>
                  <a:srgbClr val="1E2761"/>
                </a:solidFill>
                <a:latin typeface="Pretendard"/>
                <a:ea typeface="Pretendard"/>
                <a:cs typeface="Pretendard"/>
              </a:rPr>
              <a:t>, </a:t>
            </a:r>
            <a:r>
              <a:rPr lang="ko-KR" altLang="en-US" sz="1300" b="1" dirty="0">
                <a:solidFill>
                  <a:srgbClr val="1E2761"/>
                </a:solidFill>
                <a:latin typeface="Pretendard"/>
                <a:ea typeface="Pretendard"/>
                <a:cs typeface="Pretendard"/>
              </a:rPr>
              <a:t>중대한 위해에는 안전한 장소로의 이동</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사실확인</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권리지원</a:t>
            </a:r>
            <a:r>
              <a:rPr lang="en-US" altLang="ko-KR" sz="1300" b="1" dirty="0">
                <a:solidFill>
                  <a:srgbClr val="1E2761"/>
                </a:solidFill>
                <a:latin typeface="Pretendard"/>
                <a:ea typeface="Pretendard"/>
                <a:cs typeface="Pretendard"/>
              </a:rPr>
              <a:t>·</a:t>
            </a:r>
            <a:r>
              <a:rPr lang="ko-KR" altLang="en-US" sz="1300" b="1" dirty="0">
                <a:solidFill>
                  <a:srgbClr val="1E2761"/>
                </a:solidFill>
                <a:latin typeface="Pretendard"/>
                <a:ea typeface="Pretendard"/>
                <a:cs typeface="Pretendard"/>
              </a:rPr>
              <a:t>복지연계를 별도 절차로 운영한다</a:t>
            </a:r>
            <a:r>
              <a:rPr lang="en-US" altLang="ko-KR" sz="1300" b="1" dirty="0">
                <a:solidFill>
                  <a:srgbClr val="1E2761"/>
                </a:solidFill>
                <a:latin typeface="Pretendard"/>
                <a:ea typeface="Pretendard"/>
                <a:cs typeface="Pretendard"/>
              </a:rPr>
              <a:t>.</a:t>
            </a:r>
            <a:endParaRPr lang="ko-KR" sz="1300" b="1" dirty="0">
              <a:solidFill>
                <a:srgbClr val="1E2761"/>
              </a:solidFill>
              <a:latin typeface="Pretendard"/>
              <a:ea typeface="Pretendard"/>
              <a:cs typeface="Pretendard"/>
            </a:endParaRP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731520" y="2468880"/>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형사책임의 경계</a:t>
            </a:r>
          </a:p>
        </p:txBody>
      </p:sp>
      <p:sp>
        <p:nvSpPr>
          <p:cNvPr id="17" name="b0"/>
          <p:cNvSpPr txBox="1"/>
          <p:nvPr/>
        </p:nvSpPr>
        <p:spPr>
          <a:xfrm>
            <a:off x="3154680" y="2468880"/>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12세 미만은 형사범죄로 기소하거나 체포할 수 없다.</a:t>
            </a:r>
          </a:p>
          <a:p>
            <a:pPr algn="l">
              <a:lnSpc>
                <a:spcPct val="118000"/>
              </a:lnSpc>
            </a:pPr>
            <a:r>
              <a:rPr lang="ko-KR" sz="1150" b="0" dirty="0">
                <a:solidFill>
                  <a:srgbClr val="464D5C"/>
                </a:solidFill>
                <a:latin typeface="Pretendard"/>
                <a:ea typeface="Pretendard"/>
                <a:cs typeface="Pretendard"/>
              </a:rPr>
              <a:t>위해행위가 발생하면 아동복지 접근과 사실확인·안전 조치로 대응한다.</a:t>
            </a:r>
          </a:p>
        </p:txBody>
      </p:sp>
      <p:sp>
        <p:nvSpPr>
          <p:cNvPr id="18" name="line18"/>
          <p:cNvSpPr/>
          <p:nvPr/>
        </p:nvSpPr>
        <p:spPr>
          <a:xfrm>
            <a:off x="731520" y="3205734"/>
            <a:ext cx="10725912" cy="0"/>
          </a:xfrm>
          <a:prstGeom prst="line">
            <a:avLst/>
          </a:prstGeom>
          <a:ln w="9525">
            <a:solidFill>
              <a:srgbClr val="DCE0E8"/>
            </a:solidFill>
          </a:ln>
        </p:spPr>
        <p:txBody>
          <a:bodyPr/>
          <a:lstStyle/>
          <a:p>
            <a:endParaRPr/>
          </a:p>
        </p:txBody>
      </p:sp>
      <p:sp>
        <p:nvSpPr>
          <p:cNvPr id="19" name="h1"/>
          <p:cNvSpPr txBox="1"/>
          <p:nvPr/>
        </p:nvSpPr>
        <p:spPr>
          <a:xfrm>
            <a:off x="731520" y="3366516"/>
            <a:ext cx="2240280" cy="576072"/>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중대한 </a:t>
            </a:r>
            <a:r>
              <a:rPr lang="ko-KR" altLang="en-US" sz="1300" b="1" dirty="0" err="1">
                <a:solidFill>
                  <a:srgbClr val="1E2761"/>
                </a:solidFill>
                <a:latin typeface="Pretendard"/>
                <a:ea typeface="Pretendard"/>
                <a:cs typeface="Pretendard"/>
              </a:rPr>
              <a:t>위해를</a:t>
            </a:r>
            <a:r>
              <a:rPr lang="ko-KR" altLang="en-US" sz="1300" b="1" dirty="0">
                <a:solidFill>
                  <a:srgbClr val="1E2761"/>
                </a:solidFill>
                <a:latin typeface="Pretendard"/>
                <a:ea typeface="Pretendard"/>
                <a:cs typeface="Pretendard"/>
              </a:rPr>
              <a:t> 막기 위한 </a:t>
            </a:r>
            <a:endParaRPr lang="en-US" altLang="ko-KR" sz="1300" b="1" dirty="0">
              <a:solidFill>
                <a:srgbClr val="1E2761"/>
              </a:solidFill>
              <a:latin typeface="Pretendard"/>
              <a:ea typeface="Pretendard"/>
              <a:cs typeface="Pretendard"/>
            </a:endParaRPr>
          </a:p>
          <a:p>
            <a:pPr algn="ctr">
              <a:lnSpc>
                <a:spcPct val="118000"/>
              </a:lnSpc>
            </a:pPr>
            <a:r>
              <a:rPr lang="ko-KR" altLang="en-US" sz="1300" b="1" dirty="0">
                <a:solidFill>
                  <a:srgbClr val="1E2761"/>
                </a:solidFill>
                <a:latin typeface="Pretendard"/>
                <a:ea typeface="Pretendard"/>
                <a:cs typeface="Pretendard"/>
              </a:rPr>
              <a:t>일시적 분리</a:t>
            </a:r>
            <a:endParaRPr lang="ko-KR" sz="1300" b="1" dirty="0">
              <a:solidFill>
                <a:srgbClr val="1E2761"/>
              </a:solidFill>
              <a:latin typeface="Pretendard"/>
              <a:ea typeface="Pretendard"/>
              <a:cs typeface="Pretendard"/>
            </a:endParaRPr>
          </a:p>
        </p:txBody>
      </p:sp>
      <p:sp>
        <p:nvSpPr>
          <p:cNvPr id="20" name="b1"/>
          <p:cNvSpPr txBox="1"/>
          <p:nvPr/>
        </p:nvSpPr>
        <p:spPr>
          <a:xfrm>
            <a:off x="3154680" y="3227831"/>
            <a:ext cx="8302752" cy="853441"/>
          </a:xfrm>
          <a:prstGeom prst="rect">
            <a:avLst/>
          </a:prstGeom>
          <a:noFill/>
        </p:spPr>
        <p:txBody>
          <a:bodyPr wrap="square" lIns="0" tIns="27432" rIns="0" bIns="27432" anchor="ctr">
            <a:noAutofit/>
          </a:bodyPr>
          <a:lstStyle/>
          <a:p>
            <a:pPr>
              <a:lnSpc>
                <a:spcPct val="118000"/>
              </a:lnSpc>
              <a:spcAft>
                <a:spcPts val="500"/>
              </a:spcAft>
            </a:pPr>
            <a:r>
              <a:rPr 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12</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세 미만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아동이</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다른</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사람에게</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중대한</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위해를</a:t>
            </a:r>
            <a:r>
              <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가할 위험이 있으면</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경찰은 이를 막기 위해 아동을 현장에서 분리해</a:t>
            </a:r>
            <a:endPar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endParaRPr>
          </a:p>
          <a:p>
            <a:pPr>
              <a:lnSpc>
                <a:spcPct val="118000"/>
              </a:lnSpc>
              <a:spcAft>
                <a:spcPts val="500"/>
              </a:spcAft>
            </a:pP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‘안전한 </a:t>
            </a:r>
            <a:r>
              <a:rPr lang="ko-KR" altLang="en-US" sz="1250" b="1" dirty="0" err="1">
                <a:solidFill>
                  <a:srgbClr val="222633"/>
                </a:solidFill>
                <a:latin typeface="Pretendard" panose="02000503000000020004" pitchFamily="2" charset="-127"/>
                <a:ea typeface="Pretendard" panose="02000503000000020004" pitchFamily="2" charset="-127"/>
                <a:cs typeface="Pretendard" panose="02000503000000020004" pitchFamily="2" charset="-127"/>
              </a:rPr>
              <a:t>장소’로</a:t>
            </a: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 이동시킬 수 있다</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endPar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endParaRPr>
          </a:p>
          <a:p>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형사체포가 아니라 긴급 안전조치이며</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최대 </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24</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시간만 가능하다</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 </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장소는 가정</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친족</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복지시설 등이 우선이고 경찰서는 예외적으로 사용한다</a:t>
            </a:r>
            <a:r>
              <a:rPr lang="en-US" altLang="ko-KR" sz="1150" dirty="0">
                <a:solidFill>
                  <a:srgbClr val="464D5C"/>
                </a:solidFill>
                <a:latin typeface="Pretendard" panose="02000503000000020004" pitchFamily="2" charset="-127"/>
                <a:ea typeface="Pretendard" panose="02000503000000020004" pitchFamily="2" charset="-127"/>
                <a:cs typeface="Pretendard" panose="02000503000000020004" pitchFamily="2" charset="-127"/>
              </a:rPr>
              <a:t>.</a:t>
            </a:r>
            <a:endParaRPr sz="1150" b="0" dirty="0">
              <a:solidFill>
                <a:srgbClr val="464D5C"/>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21" name="line21"/>
          <p:cNvSpPr/>
          <p:nvPr/>
        </p:nvSpPr>
        <p:spPr>
          <a:xfrm>
            <a:off x="731520" y="4103370"/>
            <a:ext cx="10725912" cy="0"/>
          </a:xfrm>
          <a:prstGeom prst="line">
            <a:avLst/>
          </a:prstGeom>
          <a:ln w="9525">
            <a:solidFill>
              <a:srgbClr val="DCE0E8"/>
            </a:solidFill>
          </a:ln>
        </p:spPr>
        <p:txBody>
          <a:bodyPr/>
          <a:lstStyle/>
          <a:p>
            <a:endParaRPr/>
          </a:p>
        </p:txBody>
      </p:sp>
      <p:sp>
        <p:nvSpPr>
          <p:cNvPr id="22" name="h2"/>
          <p:cNvSpPr txBox="1"/>
          <p:nvPr/>
        </p:nvSpPr>
        <p:spPr>
          <a:xfrm>
            <a:off x="731520" y="4264152"/>
            <a:ext cx="2240280" cy="576072"/>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조사면담의 절차보장</a:t>
            </a:r>
            <a:endParaRPr lang="ko-KR" sz="1300" b="1" dirty="0">
              <a:solidFill>
                <a:srgbClr val="1E2761"/>
              </a:solidFill>
              <a:latin typeface="Pretendard"/>
              <a:ea typeface="Pretendard"/>
              <a:cs typeface="Pretendard"/>
            </a:endParaRPr>
          </a:p>
        </p:txBody>
      </p:sp>
      <p:sp>
        <p:nvSpPr>
          <p:cNvPr id="23" name="b2"/>
          <p:cNvSpPr txBox="1"/>
          <p:nvPr/>
        </p:nvSpPr>
        <p:spPr>
          <a:xfrm>
            <a:off x="3154680" y="4264152"/>
            <a:ext cx="8302752" cy="576072"/>
          </a:xfrm>
          <a:prstGeom prst="rect">
            <a:avLst/>
          </a:prstGeom>
          <a:noFill/>
        </p:spPr>
        <p:txBody>
          <a:bodyPr wrap="square" lIns="0" tIns="27432" rIns="0" bIns="27432" anchor="ctr">
            <a:noAutofit/>
          </a:bodyPr>
          <a:lstStyle/>
          <a:p>
            <a:pPr>
              <a:lnSpc>
                <a:spcPct val="118000"/>
              </a:lnSpc>
              <a:spcAft>
                <a:spcPts val="500"/>
              </a:spcAft>
            </a:pPr>
            <a:r>
              <a:rPr lang="ko-KR" altLang="en-US" sz="1250" b="1" dirty="0">
                <a:solidFill>
                  <a:srgbClr val="222633"/>
                </a:solidFill>
                <a:latin typeface="Pretendard"/>
                <a:ea typeface="Pretendard"/>
                <a:cs typeface="Pretendard"/>
              </a:rPr>
              <a:t>중대한 </a:t>
            </a:r>
            <a:r>
              <a:rPr lang="ko-KR" altLang="en-US" sz="1250" b="1" dirty="0" err="1">
                <a:solidFill>
                  <a:srgbClr val="222633"/>
                </a:solidFill>
                <a:latin typeface="Pretendard"/>
                <a:ea typeface="Pretendard"/>
                <a:cs typeface="Pretendard"/>
              </a:rPr>
              <a:t>위해의</a:t>
            </a:r>
            <a:r>
              <a:rPr lang="ko-KR" altLang="en-US" sz="1250" b="1" dirty="0">
                <a:solidFill>
                  <a:srgbClr val="222633"/>
                </a:solidFill>
                <a:latin typeface="Pretendard"/>
                <a:ea typeface="Pretendard"/>
                <a:cs typeface="Pretendard"/>
              </a:rPr>
              <a:t> 경위를 확인하는 조사면담에서는 아동의 권리를 설명하고 조언하는 </a:t>
            </a:r>
            <a:r>
              <a:rPr lang="en-US" altLang="ko-KR" sz="1250" b="1" dirty="0" err="1">
                <a:solidFill>
                  <a:srgbClr val="222633"/>
                </a:solidFill>
                <a:latin typeface="Pretendard"/>
                <a:ea typeface="Pretendard"/>
                <a:cs typeface="Pretendard"/>
              </a:rPr>
              <a:t>ChIRP</a:t>
            </a:r>
            <a:r>
              <a:rPr lang="en-US" altLang="ko-KR" sz="1250" b="1" dirty="0">
                <a:solidFill>
                  <a:srgbClr val="222633"/>
                </a:solidFill>
                <a:latin typeface="Pretendard"/>
                <a:ea typeface="Pretendard"/>
                <a:cs typeface="Pretendard"/>
              </a:rPr>
              <a:t>(</a:t>
            </a:r>
            <a:r>
              <a:rPr lang="ko-KR" altLang="en-US" sz="1250" b="1" dirty="0">
                <a:solidFill>
                  <a:srgbClr val="222633"/>
                </a:solidFill>
                <a:latin typeface="Pretendard"/>
                <a:ea typeface="Pretendard"/>
                <a:cs typeface="Pretendard"/>
              </a:rPr>
              <a:t>면담 지원 전문가</a:t>
            </a:r>
            <a:r>
              <a:rPr lang="en-US" altLang="ko-KR" sz="1250" b="1" dirty="0">
                <a:solidFill>
                  <a:srgbClr val="222633"/>
                </a:solidFill>
                <a:latin typeface="Pretendard"/>
                <a:ea typeface="Pretendard"/>
                <a:cs typeface="Pretendard"/>
              </a:rPr>
              <a:t>)</a:t>
            </a:r>
            <a:r>
              <a:rPr lang="ko-KR" altLang="en-US" sz="1250" b="1" dirty="0">
                <a:solidFill>
                  <a:srgbClr val="222633"/>
                </a:solidFill>
                <a:latin typeface="Pretendard"/>
                <a:ea typeface="Pretendard"/>
                <a:cs typeface="Pretendard"/>
              </a:rPr>
              <a:t>가 참여한다</a:t>
            </a:r>
            <a:r>
              <a:rPr lang="en-US" altLang="ko-KR" sz="1250" b="1" dirty="0">
                <a:solidFill>
                  <a:srgbClr val="222633"/>
                </a:solidFill>
                <a:latin typeface="Pretendard"/>
                <a:ea typeface="Pretendard"/>
                <a:cs typeface="Pretendard"/>
              </a:rPr>
              <a:t>.</a:t>
            </a:r>
            <a:endParaRPr lang="ko-KR" sz="1250" b="1" dirty="0">
              <a:solidFill>
                <a:srgbClr val="222633"/>
              </a:solidFill>
              <a:latin typeface="Pretendard"/>
              <a:ea typeface="Pretendard"/>
              <a:cs typeface="Pretendard"/>
            </a:endParaRPr>
          </a:p>
          <a:p>
            <a:pPr algn="l">
              <a:lnSpc>
                <a:spcPct val="118000"/>
              </a:lnSpc>
            </a:pPr>
            <a:r>
              <a:rPr lang="ko-KR" sz="1150" b="0" dirty="0" err="1">
                <a:solidFill>
                  <a:srgbClr val="464D5C"/>
                </a:solidFill>
                <a:latin typeface="Pretendard"/>
                <a:ea typeface="Pretendard"/>
                <a:cs typeface="Pretendard"/>
              </a:rPr>
              <a:t>위해의</a:t>
            </a:r>
            <a:r>
              <a:rPr lang="ko-KR" sz="1150" b="0" dirty="0">
                <a:solidFill>
                  <a:srgbClr val="464D5C"/>
                </a:solidFill>
                <a:latin typeface="Pretendard"/>
                <a:ea typeface="Pretendard"/>
                <a:cs typeface="Pretendard"/>
              </a:rPr>
              <a:t> 경위를 확인하면서도 어린 아동이 절차를 이해할 수 있도록 지원하는 구조다.</a:t>
            </a:r>
          </a:p>
        </p:txBody>
      </p:sp>
      <p:sp>
        <p:nvSpPr>
          <p:cNvPr id="24" name="line24"/>
          <p:cNvSpPr/>
          <p:nvPr/>
        </p:nvSpPr>
        <p:spPr>
          <a:xfrm>
            <a:off x="731520" y="5001006"/>
            <a:ext cx="10725912" cy="0"/>
          </a:xfrm>
          <a:prstGeom prst="line">
            <a:avLst/>
          </a:prstGeom>
          <a:ln w="9525">
            <a:solidFill>
              <a:srgbClr val="DCE0E8"/>
            </a:solidFill>
          </a:ln>
        </p:spPr>
        <p:txBody>
          <a:bodyPr/>
          <a:lstStyle/>
          <a:p>
            <a:endParaRPr/>
          </a:p>
        </p:txBody>
      </p:sp>
      <p:sp>
        <p:nvSpPr>
          <p:cNvPr id="25" name="h3"/>
          <p:cNvSpPr txBox="1"/>
          <p:nvPr/>
        </p:nvSpPr>
        <p:spPr>
          <a:xfrm>
            <a:off x="731520" y="5161788"/>
            <a:ext cx="2240280" cy="80010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이 사례가 보여 주는 것</a:t>
            </a:r>
          </a:p>
        </p:txBody>
      </p:sp>
      <p:sp>
        <p:nvSpPr>
          <p:cNvPr id="26" name="b3"/>
          <p:cNvSpPr txBox="1"/>
          <p:nvPr/>
        </p:nvSpPr>
        <p:spPr>
          <a:xfrm>
            <a:off x="3154680" y="5161788"/>
            <a:ext cx="8302752" cy="800100"/>
          </a:xfrm>
          <a:prstGeom prst="rect">
            <a:avLst/>
          </a:prstGeom>
          <a:noFill/>
        </p:spPr>
        <p:txBody>
          <a:bodyPr wrap="square" lIns="0" tIns="27432" rIns="0" bIns="27432" anchor="ctr">
            <a:noAutofit/>
          </a:bodyPr>
          <a:lstStyle/>
          <a:p>
            <a:pPr>
              <a:lnSpc>
                <a:spcPct val="125000"/>
              </a:lnSpc>
              <a:spcAft>
                <a:spcPts val="500"/>
              </a:spcAft>
            </a:pPr>
            <a:r>
              <a:rPr lang="ko-KR" altLang="en-US" sz="1250" b="1" dirty="0">
                <a:solidFill>
                  <a:srgbClr val="222633"/>
                </a:solidFill>
                <a:latin typeface="Pretendard"/>
                <a:ea typeface="Pretendard"/>
                <a:cs typeface="Pretendard"/>
              </a:rPr>
              <a:t>한국은 </a:t>
            </a:r>
            <a:r>
              <a:rPr lang="en-US" altLang="ko-KR" sz="1250" b="1" dirty="0">
                <a:solidFill>
                  <a:srgbClr val="222633"/>
                </a:solidFill>
                <a:latin typeface="Pretendard"/>
                <a:ea typeface="Pretendard"/>
                <a:cs typeface="Pretendard"/>
              </a:rPr>
              <a:t>10~13</a:t>
            </a:r>
            <a:r>
              <a:rPr lang="ko-KR" altLang="en-US" sz="1250" b="1" dirty="0">
                <a:solidFill>
                  <a:srgbClr val="222633"/>
                </a:solidFill>
                <a:latin typeface="Pretendard"/>
                <a:ea typeface="Pretendard"/>
                <a:cs typeface="Pretendard"/>
              </a:rPr>
              <a:t>세에는 강한 보호처분 체계가 있지만 </a:t>
            </a:r>
            <a:r>
              <a:rPr lang="en-US" altLang="ko-KR" sz="1250" b="1" dirty="0">
                <a:solidFill>
                  <a:srgbClr val="222633"/>
                </a:solidFill>
                <a:latin typeface="Pretendard"/>
                <a:ea typeface="Pretendard"/>
                <a:cs typeface="Pretendard"/>
              </a:rPr>
              <a:t>10</a:t>
            </a:r>
            <a:r>
              <a:rPr lang="ko-KR" altLang="en-US" sz="1250" b="1" dirty="0">
                <a:solidFill>
                  <a:srgbClr val="222633"/>
                </a:solidFill>
                <a:latin typeface="Pretendard"/>
                <a:ea typeface="Pretendard"/>
                <a:cs typeface="Pretendard"/>
              </a:rPr>
              <a:t>세 미만은 소년법 체계 밖이다</a:t>
            </a:r>
            <a:r>
              <a:rPr lang="en-US" altLang="ko-KR" sz="1250" b="1" dirty="0">
                <a:solidFill>
                  <a:srgbClr val="222633"/>
                </a:solidFill>
                <a:latin typeface="Pretendard"/>
                <a:ea typeface="Pretendard"/>
                <a:cs typeface="Pretendard"/>
              </a:rPr>
              <a:t>. </a:t>
            </a:r>
            <a:r>
              <a:rPr lang="ko-KR" altLang="en-US" sz="1250" b="1" dirty="0">
                <a:solidFill>
                  <a:srgbClr val="222633"/>
                </a:solidFill>
                <a:latin typeface="Pretendard"/>
                <a:ea typeface="Pretendard"/>
                <a:cs typeface="Pretendard"/>
              </a:rPr>
              <a:t>스코틀랜드는 책임연령 미만 전체에 대해 별도의 위해행위 대응권한을 설계했다</a:t>
            </a:r>
            <a:r>
              <a:rPr lang="en-US" altLang="ko-KR" sz="1250" b="1" dirty="0">
                <a:solidFill>
                  <a:srgbClr val="222633"/>
                </a:solidFill>
                <a:latin typeface="Pretendard"/>
                <a:ea typeface="Pretendard"/>
                <a:cs typeface="Pretendard"/>
              </a:rPr>
              <a:t>.</a:t>
            </a:r>
          </a:p>
          <a:p>
            <a:pPr>
              <a:lnSpc>
                <a:spcPct val="125000"/>
              </a:lnSpc>
              <a:spcAft>
                <a:spcPts val="500"/>
              </a:spcAft>
            </a:pPr>
            <a:r>
              <a:rPr lang="ko-KR" sz="1150" b="1" dirty="0">
                <a:solidFill>
                  <a:srgbClr val="464D5C"/>
                </a:solidFill>
                <a:highlight>
                  <a:srgbClr val="FFFF00"/>
                </a:highlight>
                <a:latin typeface="Pretendard"/>
                <a:ea typeface="Pretendard"/>
                <a:cs typeface="Pretendard"/>
              </a:rPr>
              <a:t>책임연령 아래에도 공공안전 대응수단을 설계할 수 있다는 사례다.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sz="1050" b="0">
                <a:solidFill>
                  <a:srgbClr val="6E7686"/>
                </a:solidFill>
                <a:latin typeface="Pretendard"/>
              </a:rPr>
              <a:t>Scottish Government, Age of Criminal Responsibility · 스코틀랜드 Age of Criminal Responsibility (Scotland) Act 2019 제28조</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국가별 비교 Ⅱ</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국가별 비교 Ⅰ — 형사책임의 문을 어떻게 여는가</a:t>
            </a:r>
          </a:p>
        </p:txBody>
      </p:sp>
      <p:sp>
        <p:nvSpPr>
          <p:cNvPr id="5" name="BANDBG"/>
          <p:cNvSpPr/>
          <p:nvPr/>
        </p:nvSpPr>
        <p:spPr>
          <a:xfrm>
            <a:off x="731520" y="1417320"/>
            <a:ext cx="10725912" cy="7772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7772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최저연령 하나만 정한다고 끝나지 않는다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 연령선 위에서 책임능력을 다시 확인할 수도 있고, 연령선 아래의 예외에 범죄요건과 별도의 절차적 관문을 둘 수도 있다</a:t>
            </a:r>
          </a:p>
        </p:txBody>
      </p:sp>
      <p:sp>
        <p:nvSpPr>
          <p:cNvPr id="7" name="RULE"/>
          <p:cNvSpPr/>
          <p:nvPr/>
        </p:nvSpPr>
        <p:spPr>
          <a:xfrm>
            <a:off x="731520" y="2286000"/>
            <a:ext cx="10725912" cy="0"/>
          </a:xfrm>
          <a:prstGeom prst="line">
            <a:avLst/>
          </a:prstGeom>
          <a:ln w="19050">
            <a:solidFill>
              <a:srgbClr val="1E2761"/>
            </a:solidFill>
          </a:ln>
        </p:spPr>
        <p:txBody>
          <a:bodyPr/>
          <a:lstStyle/>
          <a:p>
            <a:endParaRPr lang="ko-KR"/>
          </a:p>
        </p:txBody>
      </p:sp>
      <p:sp>
        <p:nvSpPr>
          <p:cNvPr id="8" name="CN8"/>
          <p:cNvSpPr/>
          <p:nvPr/>
        </p:nvSpPr>
        <p:spPr>
          <a:xfrm>
            <a:off x="731520" y="2357857"/>
            <a:ext cx="5175504" cy="449885"/>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spcAft>
                <a:spcPts val="200"/>
              </a:spcAft>
              <a:buNone/>
            </a:pPr>
            <a:r>
              <a:rPr lang="ko-KR" altLang="en-US" sz="1250" b="1" dirty="0">
                <a:solidFill>
                  <a:srgbClr val="1E2761"/>
                </a:solidFill>
                <a:latin typeface="Pretendard" pitchFamily="34" charset="0"/>
                <a:ea typeface="Pretendard" pitchFamily="34" charset="-122"/>
                <a:cs typeface="Pretendard" pitchFamily="34" charset="-120"/>
              </a:rPr>
              <a:t>독일 </a:t>
            </a:r>
          </a:p>
          <a:p>
            <a:pPr marL="0" indent="0" algn="ctr">
              <a:lnSpc>
                <a:spcPct val="118000"/>
              </a:lnSpc>
              <a:buNone/>
            </a:pPr>
            <a:r>
              <a:rPr lang="ko-KR" altLang="en-US" sz="1150" b="1" dirty="0" err="1">
                <a:solidFill>
                  <a:schemeClr val="accent5">
                    <a:lumMod val="50000"/>
                  </a:schemeClr>
                </a:solidFill>
                <a:latin typeface="Pretendard" pitchFamily="34" charset="0"/>
                <a:ea typeface="Pretendard" pitchFamily="34" charset="-122"/>
                <a:cs typeface="Pretendard" pitchFamily="34" charset="-120"/>
              </a:rPr>
              <a:t>연령선</a:t>
            </a:r>
            <a:r>
              <a:rPr lang="ko-KR" altLang="en-US" sz="1150" b="1" dirty="0">
                <a:solidFill>
                  <a:schemeClr val="accent5">
                    <a:lumMod val="50000"/>
                  </a:schemeClr>
                </a:solidFill>
                <a:latin typeface="Pretendard" pitchFamily="34" charset="0"/>
                <a:ea typeface="Pretendard" pitchFamily="34" charset="-122"/>
                <a:cs typeface="Pretendard" pitchFamily="34" charset="-120"/>
              </a:rPr>
              <a:t> 위에서도 책임능력을 다시 본다</a:t>
            </a:r>
          </a:p>
        </p:txBody>
      </p:sp>
      <p:sp>
        <p:nvSpPr>
          <p:cNvPr id="9" name="CB9"/>
          <p:cNvSpPr/>
          <p:nvPr/>
        </p:nvSpPr>
        <p:spPr>
          <a:xfrm>
            <a:off x="731520" y="2871749"/>
            <a:ext cx="5175504" cy="431902"/>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기본 연령선 · StGB §19</a:t>
            </a:r>
          </a:p>
          <a:p>
            <a:pPr marL="0" indent="0">
              <a:lnSpc>
                <a:spcPct val="118000"/>
              </a:lnSpc>
              <a:buNone/>
            </a:pPr>
            <a:r>
              <a:rPr lang="ko-KR" altLang="en-US" sz="1200" b="1" dirty="0">
                <a:solidFill>
                  <a:srgbClr val="222633"/>
                </a:solidFill>
                <a:latin typeface="Pretendard" pitchFamily="34" charset="0"/>
                <a:ea typeface="Pretendard" pitchFamily="34" charset="-122"/>
                <a:cs typeface="Pretendard" pitchFamily="34" charset="-120"/>
              </a:rPr>
              <a:t>14세 미만은 형사책임을 인정하지 않는다</a:t>
            </a:r>
          </a:p>
        </p:txBody>
      </p:sp>
      <p:sp>
        <p:nvSpPr>
          <p:cNvPr id="10" name="CB10"/>
          <p:cNvSpPr/>
          <p:nvPr/>
        </p:nvSpPr>
        <p:spPr>
          <a:xfrm>
            <a:off x="731520" y="3395091"/>
            <a:ext cx="5175504" cy="1131722"/>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14~17세의 추가 판단 · JGG §3</a:t>
            </a:r>
          </a:p>
          <a:p>
            <a:pPr marL="0" indent="0">
              <a:lnSpc>
                <a:spcPct val="118000"/>
              </a:lnSpc>
              <a:spcAft>
                <a:spcPts val="300"/>
              </a:spcAft>
              <a:buNone/>
            </a:pPr>
            <a:r>
              <a:rPr lang="ko-KR" altLang="en-US" sz="1200" b="1" dirty="0">
                <a:solidFill>
                  <a:srgbClr val="222633"/>
                </a:solidFill>
                <a:latin typeface="Pretendard" pitchFamily="34" charset="0"/>
                <a:ea typeface="Pretendard" pitchFamily="34" charset="-122"/>
                <a:cs typeface="Pretendard" pitchFamily="34" charset="-120"/>
              </a:rPr>
              <a:t>14세가 되었다는 이유만으로 형사책임을 자동 인정하지 않는다</a:t>
            </a:r>
          </a:p>
          <a:p>
            <a:pPr marL="0" indent="0">
              <a:lnSpc>
                <a:spcPct val="125000"/>
              </a:lnSpc>
              <a:spcAft>
                <a:spcPts val="300"/>
              </a:spcAft>
              <a:buNone/>
            </a:pP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행위 당시 위법성을 이해하고 그 이해에 따라 행동할 만큼 도덕적·지적 성숙성이 있었는지를 별도로 판단한다.</a:t>
            </a:r>
          </a:p>
          <a:p>
            <a:pPr marL="0" indent="0">
              <a:lnSpc>
                <a:spcPct val="118000"/>
              </a:lnSpc>
              <a:buNone/>
            </a:pPr>
            <a:r>
              <a:rPr lang="ko-KR" altLang="en-US" sz="1150" b="1" dirty="0">
                <a:solidFill>
                  <a:srgbClr val="A8871C"/>
                </a:solidFill>
                <a:latin typeface="Pretendard" pitchFamily="34" charset="0"/>
                <a:ea typeface="Pretendard" pitchFamily="34" charset="-122"/>
                <a:cs typeface="Pretendard" pitchFamily="34" charset="-120"/>
              </a:rPr>
              <a:t>한국 형법 제10조의 일반 책임능력 판단과 같은 제도가 아니다.</a:t>
            </a:r>
          </a:p>
        </p:txBody>
      </p:sp>
      <p:sp>
        <p:nvSpPr>
          <p:cNvPr id="11" name="CB11"/>
          <p:cNvSpPr/>
          <p:nvPr/>
        </p:nvSpPr>
        <p:spPr>
          <a:xfrm>
            <a:off x="731520" y="4827602"/>
            <a:ext cx="5175504" cy="747495"/>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spcAft>
                <a:spcPts val="200"/>
              </a:spcAft>
              <a:buNone/>
            </a:pPr>
            <a:r>
              <a:rPr lang="ko-KR" altLang="en-US" sz="1100" b="1" dirty="0">
                <a:solidFill>
                  <a:srgbClr val="002060"/>
                </a:solidFill>
                <a:latin typeface="Pretendard" pitchFamily="34" charset="0"/>
                <a:ea typeface="Pretendard" pitchFamily="34" charset="-122"/>
                <a:cs typeface="Pretendard" pitchFamily="34" charset="-120"/>
              </a:rPr>
              <a:t>비교에서 볼 점</a:t>
            </a:r>
          </a:p>
          <a:p>
            <a:pPr marL="0" indent="0" algn="ctr">
              <a:lnSpc>
                <a:spcPct val="118000"/>
              </a:lnSpc>
              <a:spcAft>
                <a:spcPts val="300"/>
              </a:spcAft>
              <a:buNone/>
            </a:pPr>
            <a:r>
              <a:rPr lang="ko-KR" altLang="en-US" sz="1200" b="1" dirty="0">
                <a:solidFill>
                  <a:schemeClr val="accent5">
                    <a:lumMod val="75000"/>
                  </a:schemeClr>
                </a:solidFill>
                <a:highlight>
                  <a:srgbClr val="FFFF00"/>
                </a:highlight>
                <a:latin typeface="Pretendard" pitchFamily="34" charset="0"/>
                <a:ea typeface="Pretendard" pitchFamily="34" charset="-122"/>
                <a:cs typeface="Pretendard" pitchFamily="34" charset="-120"/>
              </a:rPr>
              <a:t>최저연령선과 개별 책임능력 판단을 두 단계로 나눌 수 있다</a:t>
            </a:r>
          </a:p>
          <a:p>
            <a:pPr marL="0" indent="0" algn="ctr">
              <a:lnSpc>
                <a:spcPct val="125000"/>
              </a:lnSpc>
              <a:buNone/>
            </a:pPr>
            <a:r>
              <a:rPr lang="ko-KR" altLang="en-US" sz="1150" b="1" dirty="0">
                <a:solidFill>
                  <a:schemeClr val="accent5">
                    <a:lumMod val="75000"/>
                  </a:schemeClr>
                </a:solidFill>
                <a:latin typeface="Pretendard" pitchFamily="34" charset="0"/>
                <a:ea typeface="Pretendard" pitchFamily="34" charset="-122"/>
                <a:cs typeface="Pretendard" pitchFamily="34" charset="-120"/>
              </a:rPr>
              <a:t>13세를 포함하더라도 연령만으로 책임을 인정할지, 별도 판단을 둘지는 또 다른 설계문제다.</a:t>
            </a:r>
          </a:p>
        </p:txBody>
      </p:sp>
      <p:sp>
        <p:nvSpPr>
          <p:cNvPr id="12" name="CN12"/>
          <p:cNvSpPr/>
          <p:nvPr/>
        </p:nvSpPr>
        <p:spPr>
          <a:xfrm>
            <a:off x="6281928" y="2357857"/>
            <a:ext cx="5175504" cy="449885"/>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spcAft>
                <a:spcPts val="200"/>
              </a:spcAft>
              <a:buNone/>
            </a:pPr>
            <a:r>
              <a:rPr lang="ko-KR" altLang="en-US" sz="1250" b="1" dirty="0">
                <a:solidFill>
                  <a:srgbClr val="1E2761"/>
                </a:solidFill>
                <a:latin typeface="Pretendard" pitchFamily="34" charset="0"/>
                <a:ea typeface="Pretendard" pitchFamily="34" charset="-122"/>
                <a:cs typeface="Pretendard" pitchFamily="34" charset="-120"/>
              </a:rPr>
              <a:t>아일랜드</a:t>
            </a:r>
          </a:p>
          <a:p>
            <a:pPr marL="0" indent="0" algn="ctr">
              <a:lnSpc>
                <a:spcPct val="118000"/>
              </a:lnSpc>
              <a:buNone/>
            </a:pPr>
            <a:r>
              <a:rPr lang="ko-KR" altLang="en-US" sz="1150" b="1" dirty="0">
                <a:solidFill>
                  <a:schemeClr val="accent5">
                    <a:lumMod val="50000"/>
                  </a:schemeClr>
                </a:solidFill>
                <a:latin typeface="Pretendard" pitchFamily="34" charset="0"/>
                <a:ea typeface="Pretendard" pitchFamily="34" charset="-122"/>
                <a:cs typeface="Pretendard" pitchFamily="34" charset="-120"/>
              </a:rPr>
              <a:t>연령선 아래의 예외와 절차적 관문을 함께 둔다</a:t>
            </a:r>
          </a:p>
        </p:txBody>
      </p:sp>
      <p:sp>
        <p:nvSpPr>
          <p:cNvPr id="13" name="CB13"/>
          <p:cNvSpPr/>
          <p:nvPr/>
        </p:nvSpPr>
        <p:spPr>
          <a:xfrm>
            <a:off x="6281928" y="2871749"/>
            <a:ext cx="5175504" cy="431902"/>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기본 연령선 · Children Act 2001 §52</a:t>
            </a:r>
          </a:p>
          <a:p>
            <a:pPr marL="0" indent="0">
              <a:lnSpc>
                <a:spcPct val="118000"/>
              </a:lnSpc>
              <a:buNone/>
            </a:pPr>
            <a:r>
              <a:rPr lang="ko-KR" altLang="en-US" sz="1200" b="1" dirty="0">
                <a:solidFill>
                  <a:srgbClr val="222633"/>
                </a:solidFill>
                <a:latin typeface="Pretendard" pitchFamily="34" charset="0"/>
                <a:ea typeface="Pretendard" pitchFamily="34" charset="-122"/>
                <a:cs typeface="Pretendard" pitchFamily="34" charset="-120"/>
              </a:rPr>
              <a:t>원칙적으로 12세 미만은 기소할 수 없다</a:t>
            </a:r>
          </a:p>
        </p:txBody>
      </p:sp>
      <p:sp>
        <p:nvSpPr>
          <p:cNvPr id="14" name="CB14"/>
          <p:cNvSpPr/>
          <p:nvPr/>
        </p:nvSpPr>
        <p:spPr>
          <a:xfrm>
            <a:off x="6281928" y="3395091"/>
            <a:ext cx="5175504" cy="666140"/>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10~11세의 예외</a:t>
            </a:r>
          </a:p>
          <a:p>
            <a:pPr marL="0" indent="0">
              <a:lnSpc>
                <a:spcPct val="118000"/>
              </a:lnSpc>
              <a:spcAft>
                <a:spcPts val="300"/>
              </a:spcAft>
              <a:buNone/>
            </a:pPr>
            <a:r>
              <a:rPr lang="ko-KR" altLang="en-US" sz="1200" b="1" dirty="0">
                <a:solidFill>
                  <a:srgbClr val="222633"/>
                </a:solidFill>
                <a:latin typeface="Pretendard" pitchFamily="34" charset="0"/>
                <a:ea typeface="Pretendard" pitchFamily="34" charset="-122"/>
                <a:cs typeface="Pretendard" pitchFamily="34" charset="-120"/>
              </a:rPr>
              <a:t>법률에 열거된 일부 중대범죄에 한해 예외가 있다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살인·고살·강간 등에만 예외를 둔다.</a:t>
            </a:r>
          </a:p>
        </p:txBody>
      </p:sp>
      <p:sp>
        <p:nvSpPr>
          <p:cNvPr id="15" name="CB15"/>
          <p:cNvSpPr/>
          <p:nvPr/>
        </p:nvSpPr>
        <p:spPr>
          <a:xfrm>
            <a:off x="6281928" y="4152671"/>
            <a:ext cx="5175504" cy="666140"/>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14세 미만의 추가 절차</a:t>
            </a:r>
          </a:p>
          <a:p>
            <a:pPr marL="0" indent="0">
              <a:lnSpc>
                <a:spcPct val="118000"/>
              </a:lnSpc>
              <a:spcAft>
                <a:spcPts val="300"/>
              </a:spcAft>
              <a:buNone/>
            </a:pPr>
            <a:r>
              <a:rPr lang="ko-KR" altLang="en-US" sz="1200" b="1" dirty="0">
                <a:solidFill>
                  <a:srgbClr val="222633"/>
                </a:solidFill>
                <a:latin typeface="Pretendard" pitchFamily="34" charset="0"/>
                <a:ea typeface="Pretendard" pitchFamily="34" charset="-122"/>
                <a:cs typeface="Pretendard" pitchFamily="34" charset="-120"/>
              </a:rPr>
              <a:t>14세 미만이 기소된 사건은 </a:t>
            </a:r>
            <a:r>
              <a:rPr lang="ko-KR" altLang="en-US" sz="1200" b="1" dirty="0">
                <a:solidFill>
                  <a:srgbClr val="222633"/>
                </a:solidFill>
                <a:highlight>
                  <a:srgbClr val="FFFF00"/>
                </a:highlight>
                <a:latin typeface="Pretendard" pitchFamily="34" charset="0"/>
                <a:ea typeface="Pretendard" pitchFamily="34" charset="-122"/>
                <a:cs typeface="Pretendard" pitchFamily="34" charset="-120"/>
              </a:rPr>
              <a:t>DPP의 동의가 있어야 다음 절차로 간다</a:t>
            </a:r>
          </a:p>
          <a:p>
            <a:pPr marL="0" indent="0">
              <a:lnSpc>
                <a:spcPct val="118000"/>
              </a:lnSpc>
              <a:buNone/>
            </a:pP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DPP는 공소를 지휘·감독하는 책임자다. 구금·보석에 관한 결정은 이 동의요건의 예외다.</a:t>
            </a:r>
          </a:p>
        </p:txBody>
      </p:sp>
      <p:sp>
        <p:nvSpPr>
          <p:cNvPr id="16" name="CB16"/>
          <p:cNvSpPr/>
          <p:nvPr/>
        </p:nvSpPr>
        <p:spPr>
          <a:xfrm>
            <a:off x="6281928" y="4910252"/>
            <a:ext cx="5175504" cy="666140"/>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spcAft>
                <a:spcPts val="200"/>
              </a:spcAft>
              <a:buNone/>
            </a:pPr>
            <a:r>
              <a:rPr lang="ko-KR" altLang="en-US" sz="1100" b="1" dirty="0">
                <a:solidFill>
                  <a:srgbClr val="002060"/>
                </a:solidFill>
                <a:latin typeface="Pretendard" pitchFamily="34" charset="0"/>
                <a:ea typeface="Pretendard" pitchFamily="34" charset="-122"/>
                <a:cs typeface="Pretendard" pitchFamily="34" charset="-120"/>
              </a:rPr>
              <a:t>비교에서 볼 점</a:t>
            </a:r>
          </a:p>
          <a:p>
            <a:pPr marL="0" indent="0" algn="ctr">
              <a:lnSpc>
                <a:spcPct val="118000"/>
              </a:lnSpc>
              <a:spcAft>
                <a:spcPts val="300"/>
              </a:spcAft>
              <a:buNone/>
            </a:pPr>
            <a:r>
              <a:rPr lang="ko-KR" altLang="en-US" sz="1200" b="1" dirty="0">
                <a:solidFill>
                  <a:schemeClr val="accent5">
                    <a:lumMod val="75000"/>
                  </a:schemeClr>
                </a:solidFill>
                <a:latin typeface="Pretendard" pitchFamily="34" charset="0"/>
                <a:ea typeface="Pretendard" pitchFamily="34" charset="-122"/>
                <a:cs typeface="Pretendard" pitchFamily="34" charset="-120"/>
              </a:rPr>
              <a:t>예외를 두더라도 어떤 범죄인가와 </a:t>
            </a:r>
            <a:r>
              <a:rPr lang="ko-KR" altLang="en-US" sz="1200" b="1" dirty="0">
                <a:solidFill>
                  <a:schemeClr val="accent5">
                    <a:lumMod val="75000"/>
                  </a:schemeClr>
                </a:solidFill>
                <a:highlight>
                  <a:srgbClr val="FFFF00"/>
                </a:highlight>
                <a:latin typeface="Pretendard" pitchFamily="34" charset="0"/>
                <a:ea typeface="Pretendard" pitchFamily="34" charset="-122"/>
                <a:cs typeface="Pretendard" pitchFamily="34" charset="-120"/>
              </a:rPr>
              <a:t>누가 승인하는가를 따로 제한할 수 있다</a:t>
            </a:r>
          </a:p>
          <a:p>
            <a:pPr marL="0" indent="0" algn="ctr">
              <a:lnSpc>
                <a:spcPct val="118000"/>
              </a:lnSpc>
              <a:buNone/>
            </a:pPr>
            <a:r>
              <a:rPr lang="ko-KR" altLang="en-US" sz="1150" b="1" dirty="0">
                <a:solidFill>
                  <a:schemeClr val="accent5">
                    <a:lumMod val="75000"/>
                  </a:schemeClr>
                </a:solidFill>
                <a:latin typeface="Pretendard" pitchFamily="34" charset="0"/>
                <a:ea typeface="Pretendard" pitchFamily="34" charset="-122"/>
                <a:cs typeface="Pretendard" pitchFamily="34" charset="-120"/>
              </a:rPr>
              <a:t>예외범죄의 범위와 절차적 관문은 서로 다른 설계요소다.</a:t>
            </a:r>
          </a:p>
        </p:txBody>
      </p:sp>
      <p:sp>
        <p:nvSpPr>
          <p:cNvPr id="17" name="R1"/>
          <p:cNvSpPr/>
          <p:nvPr/>
        </p:nvSpPr>
        <p:spPr>
          <a:xfrm>
            <a:off x="731520" y="5712257"/>
            <a:ext cx="10725912" cy="0"/>
          </a:xfrm>
          <a:prstGeom prst="line">
            <a:avLst/>
          </a:prstGeom>
          <a:ln w="9525">
            <a:solidFill>
              <a:srgbClr val="DCE0E8"/>
            </a:solidFill>
          </a:ln>
        </p:spPr>
        <p:txBody>
          <a:bodyPr/>
          <a:lstStyle/>
          <a:p>
            <a:endParaRPr lang="ko-KR"/>
          </a:p>
        </p:txBody>
      </p:sp>
      <p:sp>
        <p:nvSpPr>
          <p:cNvPr id="18" name="CL1"/>
          <p:cNvSpPr/>
          <p:nvPr/>
        </p:nvSpPr>
        <p:spPr>
          <a:xfrm>
            <a:off x="731520" y="5784113"/>
            <a:ext cx="1072591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책임연령을 낮출 것인가만이 아니라, 연령선을 넘으면 책임을 자동 인정할지, 연령선 아래의 예외에는 어떤 실체·절차요건을 붙일지도 함께 정해야 한다.</a:t>
            </a:r>
          </a:p>
        </p:txBody>
      </p:sp>
      <p:sp>
        <p:nvSpPr>
          <p:cNvPr id="19" name="R2"/>
          <p:cNvSpPr/>
          <p:nvPr/>
        </p:nvSpPr>
        <p:spPr>
          <a:xfrm>
            <a:off x="731520" y="6144768"/>
            <a:ext cx="10725912" cy="0"/>
          </a:xfrm>
          <a:prstGeom prst="line">
            <a:avLst/>
          </a:prstGeom>
          <a:ln w="9525">
            <a:solidFill>
              <a:srgbClr val="DCE0E8"/>
            </a:solidFill>
          </a:ln>
        </p:spPr>
        <p:txBody>
          <a:bodyPr/>
          <a:lstStyle/>
          <a:p>
            <a:endParaRPr lang="ko-KR"/>
          </a:p>
        </p:txBody>
      </p:sp>
      <p:sp>
        <p:nvSpPr>
          <p:cNvPr id="20"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독일 형법(StGB) §19 · 소년법원법(JGG) §3 · 아일랜드 Children Act 2001 §52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7개국 연령축 비교</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국가별 비교 Ⅱ — 형사책임선 아래에는 무엇을 남기는가</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형사책임을 묻지 않는 것과 국가의 개입을 끝내는 것은 같은 의미가 아니다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CN8"/>
          <p:cNvSpPr/>
          <p:nvPr/>
        </p:nvSpPr>
        <p:spPr>
          <a:xfrm>
            <a:off x="731520" y="2120760"/>
            <a:ext cx="3392424" cy="449885"/>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spcAft>
                <a:spcPts val="200"/>
              </a:spcAft>
              <a:buNone/>
            </a:pPr>
            <a:r>
              <a:rPr lang="ko-KR" altLang="en-US" sz="1250" b="1" dirty="0">
                <a:solidFill>
                  <a:srgbClr val="1E2761"/>
                </a:solidFill>
                <a:latin typeface="Pretendard" pitchFamily="34" charset="0"/>
                <a:ea typeface="Pretendard" pitchFamily="34" charset="-122"/>
                <a:cs typeface="Pretendard" pitchFamily="34" charset="-120"/>
              </a:rPr>
              <a:t>일본</a:t>
            </a:r>
          </a:p>
          <a:p>
            <a:pPr algn="ctr">
              <a:lnSpc>
                <a:spcPct val="118000"/>
              </a:lnSpc>
            </a:pPr>
            <a:r>
              <a:rPr lang="en-US" altLang="ko-KR" sz="1150" b="1" dirty="0">
                <a:solidFill>
                  <a:schemeClr val="accent5">
                    <a:lumMod val="50000"/>
                  </a:schemeClr>
                </a:solidFill>
                <a:latin typeface="Pretendard" pitchFamily="34" charset="0"/>
                <a:ea typeface="Pretendard" pitchFamily="34" charset="-122"/>
                <a:cs typeface="Pretendard" pitchFamily="34" charset="-120"/>
              </a:rPr>
              <a:t>14</a:t>
            </a:r>
            <a:r>
              <a:rPr lang="ko-KR" altLang="en-US" sz="1150" b="1" dirty="0">
                <a:solidFill>
                  <a:schemeClr val="accent5">
                    <a:lumMod val="50000"/>
                  </a:schemeClr>
                </a:solidFill>
                <a:latin typeface="Pretendard" pitchFamily="34" charset="0"/>
                <a:ea typeface="Pretendard" pitchFamily="34" charset="-122"/>
                <a:cs typeface="Pretendard" pitchFamily="34" charset="-120"/>
              </a:rPr>
              <a:t>세 미만 저촉소년을 아동복지체계가 판단한다</a:t>
            </a:r>
          </a:p>
        </p:txBody>
      </p:sp>
      <p:sp>
        <p:nvSpPr>
          <p:cNvPr id="9" name="CB9"/>
          <p:cNvSpPr/>
          <p:nvPr/>
        </p:nvSpPr>
        <p:spPr>
          <a:xfrm>
            <a:off x="731520" y="2634653"/>
            <a:ext cx="3392424" cy="431902"/>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책임연령</a:t>
            </a:r>
          </a:p>
          <a:p>
            <a:pPr>
              <a:lnSpc>
                <a:spcPct val="118000"/>
              </a:lnSpc>
            </a:pPr>
            <a:r>
              <a:rPr lang="en-US" altLang="ko-KR" sz="1200" b="1" dirty="0">
                <a:solidFill>
                  <a:srgbClr val="222633"/>
                </a:solidFill>
                <a:highlight>
                  <a:srgbClr val="FFFF00"/>
                </a:highlight>
                <a:latin typeface="Pretendard" pitchFamily="34" charset="0"/>
                <a:ea typeface="Pretendard" pitchFamily="34" charset="-122"/>
                <a:cs typeface="Pretendard" pitchFamily="34" charset="-120"/>
              </a:rPr>
              <a:t>14</a:t>
            </a:r>
            <a:r>
              <a:rPr lang="ko-KR" altLang="en-US" sz="1200" b="1" dirty="0">
                <a:solidFill>
                  <a:srgbClr val="222633"/>
                </a:solidFill>
                <a:highlight>
                  <a:srgbClr val="FFFF00"/>
                </a:highlight>
                <a:latin typeface="Pretendard" pitchFamily="34" charset="0"/>
                <a:ea typeface="Pretendard" pitchFamily="34" charset="-122"/>
                <a:cs typeface="Pretendard" pitchFamily="34" charset="-120"/>
              </a:rPr>
              <a:t>세 미만은 형사책임을 묻지 않는다</a:t>
            </a:r>
            <a:r>
              <a:rPr lang="en-US" altLang="ko-KR" sz="1200" b="1" dirty="0">
                <a:solidFill>
                  <a:srgbClr val="222633"/>
                </a:solidFill>
                <a:highlight>
                  <a:srgbClr val="FFFF00"/>
                </a:highlight>
                <a:latin typeface="Pretendard" pitchFamily="34" charset="0"/>
                <a:ea typeface="Pretendard" pitchFamily="34" charset="-122"/>
                <a:cs typeface="Pretendard" pitchFamily="34" charset="-120"/>
              </a:rPr>
              <a:t>.</a:t>
            </a:r>
            <a:endParaRPr lang="ko-KR" altLang="en-US" sz="1200" b="1" dirty="0">
              <a:solidFill>
                <a:srgbClr val="222633"/>
              </a:solidFill>
              <a:highlight>
                <a:srgbClr val="FFFF00"/>
              </a:highlight>
              <a:latin typeface="Pretendard" pitchFamily="34" charset="0"/>
              <a:ea typeface="Pretendard" pitchFamily="34" charset="-122"/>
              <a:cs typeface="Pretendard" pitchFamily="34" charset="-120"/>
            </a:endParaRPr>
          </a:p>
        </p:txBody>
      </p:sp>
      <p:sp>
        <p:nvSpPr>
          <p:cNvPr id="10" name="CB10"/>
          <p:cNvSpPr/>
          <p:nvPr/>
        </p:nvSpPr>
        <p:spPr>
          <a:xfrm>
            <a:off x="731520" y="3157994"/>
            <a:ext cx="3392424" cy="1551087"/>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선 아래의 대응</a:t>
            </a:r>
          </a:p>
          <a:p>
            <a:pPr>
              <a:lnSpc>
                <a:spcPct val="118000"/>
              </a:lnSpc>
              <a:spcAft>
                <a:spcPts val="300"/>
              </a:spcAft>
            </a:pPr>
            <a:r>
              <a:rPr lang="ko-KR" altLang="en-US" sz="1200" b="1" dirty="0">
                <a:solidFill>
                  <a:srgbClr val="222633"/>
                </a:solidFill>
                <a:latin typeface="Pretendard" pitchFamily="34" charset="0"/>
                <a:ea typeface="Pretendard" pitchFamily="34" charset="-122"/>
                <a:cs typeface="Pretendard" pitchFamily="34" charset="-120"/>
              </a:rPr>
              <a:t>아동상담소 등 아동복지체계가 먼저 대응하고</a:t>
            </a:r>
            <a:r>
              <a:rPr lang="en-US" altLang="ko-KR" sz="1200" b="1" dirty="0">
                <a:solidFill>
                  <a:srgbClr val="222633"/>
                </a:solidFill>
                <a:latin typeface="Pretendard" pitchFamily="34" charset="0"/>
                <a:ea typeface="Pretendard" pitchFamily="34" charset="-122"/>
                <a:cs typeface="Pretendard" pitchFamily="34" charset="-120"/>
              </a:rPr>
              <a:t>, </a:t>
            </a:r>
            <a:r>
              <a:rPr lang="ko-KR" altLang="en-US" sz="1200" b="1" dirty="0">
                <a:solidFill>
                  <a:srgbClr val="222633"/>
                </a:solidFill>
                <a:latin typeface="Pretendard" pitchFamily="34" charset="0"/>
                <a:ea typeface="Pretendard" pitchFamily="34" charset="-122"/>
                <a:cs typeface="Pretendard" pitchFamily="34" charset="-120"/>
              </a:rPr>
              <a:t>필요하면 가정재판소로 송치한다</a:t>
            </a:r>
            <a:r>
              <a:rPr lang="en-US" altLang="ko-KR" sz="1200" b="1" dirty="0">
                <a:solidFill>
                  <a:srgbClr val="222633"/>
                </a:solidFill>
                <a:latin typeface="Pretendard" pitchFamily="34" charset="0"/>
                <a:ea typeface="Pretendard" pitchFamily="34" charset="-122"/>
                <a:cs typeface="Pretendard" pitchFamily="34" charset="-120"/>
              </a:rPr>
              <a:t>.</a:t>
            </a:r>
            <a:endParaRPr lang="ko-KR" altLang="en-US" sz="1200" b="1" dirty="0">
              <a:solidFill>
                <a:srgbClr val="222633"/>
              </a:solidFill>
              <a:latin typeface="Pretendard" pitchFamily="34" charset="0"/>
              <a:ea typeface="Pretendard" pitchFamily="34" charset="-122"/>
              <a:cs typeface="Pretendard" pitchFamily="34" charset="-120"/>
            </a:endParaRPr>
          </a:p>
          <a:p>
            <a:pPr>
              <a:lnSpc>
                <a:spcPct val="125000"/>
              </a:lnSpc>
            </a:pPr>
            <a:r>
              <a:rPr lang="ko-KR" altLang="en-US" sz="1150" dirty="0">
                <a:solidFill>
                  <a:srgbClr val="464D5C"/>
                </a:solidFill>
                <a:latin typeface="Pretendard" pitchFamily="34" charset="0"/>
                <a:ea typeface="Pretendard" pitchFamily="34" charset="-122"/>
                <a:cs typeface="Pretendard" pitchFamily="34" charset="-120"/>
              </a:rPr>
              <a:t>경찰</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아동상담소장</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err="1">
                <a:solidFill>
                  <a:srgbClr val="464D5C"/>
                </a:solidFill>
                <a:latin typeface="Pretendard" pitchFamily="34" charset="0"/>
                <a:ea typeface="Pretendard" pitchFamily="34" charset="-122"/>
                <a:cs typeface="Pretendard" pitchFamily="34" charset="-120"/>
              </a:rPr>
              <a:t>도도부현지사가</a:t>
            </a:r>
            <a:r>
              <a:rPr lang="ko-KR" altLang="en-US" sz="1150" dirty="0">
                <a:solidFill>
                  <a:srgbClr val="464D5C"/>
                </a:solidFill>
                <a:latin typeface="Pretendard" pitchFamily="34" charset="0"/>
                <a:ea typeface="Pretendard" pitchFamily="34" charset="-122"/>
                <a:cs typeface="Pretendard" pitchFamily="34" charset="-120"/>
              </a:rPr>
              <a:t> 필요하다고 판단해 가정재판소에 송치한 경우 소년보호사건으로 심리한다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11" name="CN11"/>
          <p:cNvSpPr/>
          <p:nvPr/>
        </p:nvSpPr>
        <p:spPr>
          <a:xfrm>
            <a:off x="4398264" y="2120760"/>
            <a:ext cx="3392424" cy="449885"/>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spcAft>
                <a:spcPts val="200"/>
              </a:spcAft>
              <a:buNone/>
            </a:pPr>
            <a:r>
              <a:rPr lang="ko-KR" altLang="en-US" sz="1250" b="1" dirty="0">
                <a:solidFill>
                  <a:srgbClr val="1E2761"/>
                </a:solidFill>
                <a:latin typeface="Pretendard" pitchFamily="34" charset="0"/>
                <a:ea typeface="Pretendard" pitchFamily="34" charset="-122"/>
                <a:cs typeface="Pretendard" pitchFamily="34" charset="-120"/>
              </a:rPr>
              <a:t>네덜란드</a:t>
            </a:r>
          </a:p>
          <a:p>
            <a:pPr marL="0" indent="0" algn="ctr">
              <a:lnSpc>
                <a:spcPct val="118000"/>
              </a:lnSpc>
              <a:buNone/>
            </a:pPr>
            <a:r>
              <a:rPr lang="ko-KR" altLang="en-US" sz="1150" b="1" dirty="0">
                <a:solidFill>
                  <a:schemeClr val="accent5">
                    <a:lumMod val="50000"/>
                  </a:schemeClr>
                </a:solidFill>
                <a:latin typeface="Pretendard" pitchFamily="34" charset="0"/>
                <a:ea typeface="Pretendard" pitchFamily="34" charset="-122"/>
                <a:cs typeface="Pretendard" pitchFamily="34" charset="-120"/>
              </a:rPr>
              <a:t>선 아래의 보호와 선 위의 처분을 나눈다</a:t>
            </a:r>
          </a:p>
        </p:txBody>
      </p:sp>
      <p:sp>
        <p:nvSpPr>
          <p:cNvPr id="12" name="CB12"/>
          <p:cNvSpPr/>
          <p:nvPr/>
        </p:nvSpPr>
        <p:spPr>
          <a:xfrm>
            <a:off x="4398264" y="2634653"/>
            <a:ext cx="3392424" cy="431902"/>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책임연령</a:t>
            </a:r>
          </a:p>
          <a:p>
            <a:pPr marL="0" indent="0">
              <a:lnSpc>
                <a:spcPct val="118000"/>
              </a:lnSpc>
              <a:buNone/>
            </a:pPr>
            <a:r>
              <a:rPr lang="ko-KR" altLang="en-US" sz="1200" b="1" dirty="0">
                <a:solidFill>
                  <a:srgbClr val="222633"/>
                </a:solidFill>
                <a:latin typeface="Pretendard" pitchFamily="34" charset="0"/>
                <a:ea typeface="Pretendard" pitchFamily="34" charset="-122"/>
                <a:cs typeface="Pretendard" pitchFamily="34" charset="-120"/>
              </a:rPr>
              <a:t>12세 미만은 기소할 수 없다</a:t>
            </a:r>
          </a:p>
        </p:txBody>
      </p:sp>
      <p:sp>
        <p:nvSpPr>
          <p:cNvPr id="13" name="CB13"/>
          <p:cNvSpPr/>
          <p:nvPr/>
        </p:nvSpPr>
        <p:spPr>
          <a:xfrm>
            <a:off x="4398264" y="3157995"/>
            <a:ext cx="3392424" cy="666140"/>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12세 미만</a:t>
            </a:r>
          </a:p>
          <a:p>
            <a:pPr>
              <a:lnSpc>
                <a:spcPct val="118000"/>
              </a:lnSpc>
              <a:spcAft>
                <a:spcPts val="300"/>
              </a:spcAft>
            </a:pPr>
            <a:r>
              <a:rPr lang="ko-KR" altLang="en-US" sz="1200" b="1" dirty="0">
                <a:solidFill>
                  <a:srgbClr val="222633"/>
                </a:solidFill>
                <a:latin typeface="Pretendard" pitchFamily="34" charset="0"/>
                <a:ea typeface="Pretendard" pitchFamily="34" charset="-122"/>
                <a:cs typeface="Pretendard" pitchFamily="34" charset="-120"/>
              </a:rPr>
              <a:t>형사제재 대신 보호</a:t>
            </a:r>
            <a:r>
              <a:rPr lang="en-US" altLang="ko-KR" sz="1200" b="1" dirty="0">
                <a:solidFill>
                  <a:srgbClr val="222633"/>
                </a:solidFill>
                <a:latin typeface="Pretendard" pitchFamily="34" charset="0"/>
                <a:ea typeface="Pretendard" pitchFamily="34" charset="-122"/>
                <a:cs typeface="Pretendard" pitchFamily="34" charset="-120"/>
              </a:rPr>
              <a:t>·</a:t>
            </a:r>
            <a:r>
              <a:rPr lang="ko-KR" altLang="en-US" sz="1200" b="1" dirty="0">
                <a:solidFill>
                  <a:srgbClr val="222633"/>
                </a:solidFill>
                <a:highlight>
                  <a:srgbClr val="FFFF00"/>
                </a:highlight>
                <a:latin typeface="Pretendard" pitchFamily="34" charset="0"/>
                <a:ea typeface="Pretendard" pitchFamily="34" charset="-122"/>
                <a:cs typeface="Pretendard" pitchFamily="34" charset="-120"/>
              </a:rPr>
              <a:t>민사적 감독 경로를 이용한다</a:t>
            </a:r>
            <a:r>
              <a:rPr lang="en-US" altLang="ko-KR" sz="1200" b="1" dirty="0">
                <a:solidFill>
                  <a:srgbClr val="222633"/>
                </a:solidFill>
                <a:latin typeface="Pretendard" pitchFamily="34" charset="0"/>
                <a:ea typeface="Pretendard" pitchFamily="34" charset="-122"/>
                <a:cs typeface="Pretendard" pitchFamily="34" charset="-120"/>
              </a:rPr>
              <a:t>.</a:t>
            </a:r>
            <a:endParaRPr lang="ko-KR" altLang="en-US" sz="1200" b="1" dirty="0">
              <a:solidFill>
                <a:srgbClr val="222633"/>
              </a:solidFill>
              <a:latin typeface="Pretendard" pitchFamily="34" charset="0"/>
              <a:ea typeface="Pretendard" pitchFamily="34" charset="-122"/>
              <a:cs typeface="Pretendard" pitchFamily="34" charset="-120"/>
            </a:endParaRP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보호자 </a:t>
            </a:r>
            <a:r>
              <a:rPr lang="ko-KR" altLang="en-US" sz="1150" dirty="0" err="1">
                <a:solidFill>
                  <a:srgbClr val="464D5C"/>
                </a:solidFill>
                <a:latin typeface="Pretendard" pitchFamily="34" charset="0"/>
                <a:ea typeface="Pretendard" pitchFamily="34" charset="-122"/>
                <a:cs typeface="Pretendard" pitchFamily="34" charset="-120"/>
              </a:rPr>
              <a:t>협의·기관</a:t>
            </a:r>
            <a:r>
              <a:rPr lang="ko-KR" altLang="en-US" sz="1150" dirty="0">
                <a:solidFill>
                  <a:srgbClr val="464D5C"/>
                </a:solidFill>
                <a:latin typeface="Pretendard" pitchFamily="34" charset="0"/>
                <a:ea typeface="Pretendard" pitchFamily="34" charset="-122"/>
                <a:cs typeface="Pretendard" pitchFamily="34" charset="-120"/>
              </a:rPr>
              <a:t> </a:t>
            </a:r>
            <a:r>
              <a:rPr lang="ko-KR" altLang="en-US" sz="1150" dirty="0" err="1">
                <a:solidFill>
                  <a:srgbClr val="464D5C"/>
                </a:solidFill>
                <a:latin typeface="Pretendard" pitchFamily="34" charset="0"/>
                <a:ea typeface="Pretendard" pitchFamily="34" charset="-122"/>
                <a:cs typeface="Pretendard" pitchFamily="34" charset="-120"/>
              </a:rPr>
              <a:t>연계·민사적</a:t>
            </a:r>
            <a:r>
              <a:rPr lang="ko-KR" altLang="en-US" sz="1150" dirty="0">
                <a:solidFill>
                  <a:srgbClr val="464D5C"/>
                </a:solidFill>
                <a:latin typeface="Pretendard" pitchFamily="34" charset="0"/>
                <a:ea typeface="Pretendard" pitchFamily="34" charset="-122"/>
                <a:cs typeface="Pretendard" pitchFamily="34" charset="-120"/>
              </a:rPr>
              <a:t> 감독조치.</a:t>
            </a:r>
          </a:p>
        </p:txBody>
      </p:sp>
      <p:sp>
        <p:nvSpPr>
          <p:cNvPr id="14" name="CB14"/>
          <p:cNvSpPr/>
          <p:nvPr/>
        </p:nvSpPr>
        <p:spPr>
          <a:xfrm>
            <a:off x="4398264" y="3915575"/>
            <a:ext cx="3392424" cy="666140"/>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12~17세</a:t>
            </a:r>
          </a:p>
          <a:p>
            <a:pPr>
              <a:lnSpc>
                <a:spcPct val="118000"/>
              </a:lnSpc>
              <a:spcAft>
                <a:spcPts val="300"/>
              </a:spcAft>
            </a:pPr>
            <a:r>
              <a:rPr lang="ko-KR" altLang="en-US" sz="1200" b="1" dirty="0">
                <a:solidFill>
                  <a:srgbClr val="222633"/>
                </a:solidFill>
                <a:highlight>
                  <a:srgbClr val="FFFF00"/>
                </a:highlight>
                <a:latin typeface="Pretendard" pitchFamily="34" charset="0"/>
                <a:ea typeface="Pretendard" pitchFamily="34" charset="-122"/>
                <a:cs typeface="Pretendard" pitchFamily="34" charset="-120"/>
              </a:rPr>
              <a:t>형사책임을 인정한 뒤에도 강도가 다른 소년제재를 둔다</a:t>
            </a:r>
            <a:r>
              <a:rPr lang="en-US" altLang="ko-KR" sz="1200" b="1" dirty="0">
                <a:solidFill>
                  <a:srgbClr val="222633"/>
                </a:solidFill>
                <a:latin typeface="Pretendard" pitchFamily="34" charset="0"/>
                <a:ea typeface="Pretendard" pitchFamily="34" charset="-122"/>
                <a:cs typeface="Pretendard" pitchFamily="34" charset="-120"/>
              </a:rPr>
              <a:t>.</a:t>
            </a:r>
            <a:r>
              <a:rPr lang="ko-KR" altLang="en-US" sz="1150" dirty="0" err="1">
                <a:solidFill>
                  <a:srgbClr val="464D5C"/>
                </a:solidFill>
                <a:latin typeface="Pretendard" pitchFamily="34" charset="0"/>
                <a:ea typeface="Pretendard" pitchFamily="34" charset="-122"/>
                <a:cs typeface="Pretendard" pitchFamily="34" charset="-120"/>
              </a:rPr>
              <a:t>사회봉사·훈련</a:t>
            </a:r>
            <a:r>
              <a:rPr lang="ko-KR" altLang="en-US" sz="1150" dirty="0">
                <a:solidFill>
                  <a:srgbClr val="464D5C"/>
                </a:solidFill>
                <a:latin typeface="Pretendard" pitchFamily="34" charset="0"/>
                <a:ea typeface="Pretendard" pitchFamily="34" charset="-122"/>
                <a:cs typeface="Pretendard" pitchFamily="34" charset="-120"/>
              </a:rPr>
              <a:t>, 소년구금, 치료 목적의 PIJ 등.</a:t>
            </a:r>
          </a:p>
        </p:txBody>
      </p:sp>
      <p:sp>
        <p:nvSpPr>
          <p:cNvPr id="15" name="CN15"/>
          <p:cNvSpPr/>
          <p:nvPr/>
        </p:nvSpPr>
        <p:spPr>
          <a:xfrm>
            <a:off x="8065008" y="2120760"/>
            <a:ext cx="3392424" cy="449885"/>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spcAft>
                <a:spcPts val="200"/>
              </a:spcAft>
              <a:buNone/>
            </a:pPr>
            <a:r>
              <a:rPr lang="ko-KR" altLang="en-US" sz="1250" b="1" dirty="0">
                <a:solidFill>
                  <a:srgbClr val="1E2761"/>
                </a:solidFill>
                <a:latin typeface="Pretendard" pitchFamily="34" charset="0"/>
                <a:ea typeface="Pretendard" pitchFamily="34" charset="-122"/>
                <a:cs typeface="Pretendard" pitchFamily="34" charset="-120"/>
              </a:rPr>
              <a:t>스코틀랜드</a:t>
            </a:r>
          </a:p>
          <a:p>
            <a:pPr algn="ctr">
              <a:lnSpc>
                <a:spcPct val="118000"/>
              </a:lnSpc>
            </a:pPr>
            <a:r>
              <a:rPr lang="ko-KR" altLang="en-US" sz="1150" b="1" dirty="0" err="1">
                <a:solidFill>
                  <a:schemeClr val="accent5">
                    <a:lumMod val="50000"/>
                  </a:schemeClr>
                </a:solidFill>
                <a:latin typeface="Pretendard" pitchFamily="34" charset="0"/>
                <a:ea typeface="Pretendard" pitchFamily="34" charset="-122"/>
                <a:cs typeface="Pretendard" pitchFamily="34" charset="-120"/>
              </a:rPr>
              <a:t>범죄사건화하지</a:t>
            </a:r>
            <a:r>
              <a:rPr lang="ko-KR" altLang="en-US" sz="1150" b="1" dirty="0">
                <a:solidFill>
                  <a:schemeClr val="accent5">
                    <a:lumMod val="50000"/>
                  </a:schemeClr>
                </a:solidFill>
                <a:latin typeface="Pretendard" pitchFamily="34" charset="0"/>
                <a:ea typeface="Pretendard" pitchFamily="34" charset="-122"/>
                <a:cs typeface="Pretendard" pitchFamily="34" charset="-120"/>
              </a:rPr>
              <a:t> 않고 보호</a:t>
            </a:r>
            <a:r>
              <a:rPr lang="en-US" altLang="ko-KR" sz="1150" b="1" dirty="0">
                <a:solidFill>
                  <a:schemeClr val="accent5">
                    <a:lumMod val="50000"/>
                  </a:schemeClr>
                </a:solidFill>
                <a:latin typeface="Pretendard" pitchFamily="34" charset="0"/>
                <a:ea typeface="Pretendard" pitchFamily="34" charset="-122"/>
                <a:cs typeface="Pretendard" pitchFamily="34" charset="-120"/>
              </a:rPr>
              <a:t>·</a:t>
            </a:r>
            <a:r>
              <a:rPr lang="ko-KR" altLang="en-US" sz="1150" b="1" dirty="0">
                <a:solidFill>
                  <a:schemeClr val="accent5">
                    <a:lumMod val="50000"/>
                  </a:schemeClr>
                </a:solidFill>
                <a:latin typeface="Pretendard" pitchFamily="34" charset="0"/>
                <a:ea typeface="Pretendard" pitchFamily="34" charset="-122"/>
                <a:cs typeface="Pretendard" pitchFamily="34" charset="-120"/>
              </a:rPr>
              <a:t>공공안전 절차로 대응한다</a:t>
            </a:r>
          </a:p>
        </p:txBody>
      </p:sp>
      <p:sp>
        <p:nvSpPr>
          <p:cNvPr id="16" name="CB16"/>
          <p:cNvSpPr/>
          <p:nvPr/>
        </p:nvSpPr>
        <p:spPr>
          <a:xfrm>
            <a:off x="8065008" y="2634653"/>
            <a:ext cx="3392424" cy="431902"/>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책임연령</a:t>
            </a:r>
          </a:p>
          <a:p>
            <a:pPr marL="0" indent="0">
              <a:lnSpc>
                <a:spcPct val="118000"/>
              </a:lnSpc>
              <a:buNone/>
            </a:pPr>
            <a:r>
              <a:rPr lang="ko-KR" altLang="en-US" sz="1200" b="1" dirty="0">
                <a:solidFill>
                  <a:srgbClr val="222633"/>
                </a:solidFill>
                <a:latin typeface="Pretendard" pitchFamily="34" charset="0"/>
                <a:ea typeface="Pretendard" pitchFamily="34" charset="-122"/>
                <a:cs typeface="Pretendard" pitchFamily="34" charset="-120"/>
              </a:rPr>
              <a:t>12세 미만은 형사책임을 묻지 않는다</a:t>
            </a:r>
          </a:p>
        </p:txBody>
      </p:sp>
      <p:sp>
        <p:nvSpPr>
          <p:cNvPr id="17" name="CB17"/>
          <p:cNvSpPr/>
          <p:nvPr/>
        </p:nvSpPr>
        <p:spPr>
          <a:xfrm>
            <a:off x="8065008" y="3157995"/>
            <a:ext cx="3392424" cy="666140"/>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보호·감독</a:t>
            </a:r>
          </a:p>
          <a:p>
            <a:pPr marL="0" indent="0">
              <a:lnSpc>
                <a:spcPct val="118000"/>
              </a:lnSpc>
              <a:spcAft>
                <a:spcPts val="300"/>
              </a:spcAft>
              <a:buNone/>
            </a:pPr>
            <a:r>
              <a:rPr lang="ko-KR" altLang="en-US" sz="1200" b="1" dirty="0">
                <a:solidFill>
                  <a:srgbClr val="222633"/>
                </a:solidFill>
                <a:latin typeface="Pretendard" pitchFamily="34" charset="0"/>
                <a:ea typeface="Pretendard" pitchFamily="34" charset="-122"/>
                <a:cs typeface="Pretendard" pitchFamily="34" charset="-120"/>
              </a:rPr>
              <a:t>비범죄적 사유로 </a:t>
            </a:r>
            <a:r>
              <a:rPr lang="ko-KR" altLang="en-US" sz="1200" b="1" dirty="0" err="1">
                <a:solidFill>
                  <a:srgbClr val="222633"/>
                </a:solidFill>
                <a:latin typeface="Pretendard" pitchFamily="34" charset="0"/>
                <a:ea typeface="Pretendard" pitchFamily="34" charset="-122"/>
                <a:cs typeface="Pretendard" pitchFamily="34" charset="-120"/>
              </a:rPr>
              <a:t>아동청문</a:t>
            </a:r>
            <a:r>
              <a:rPr lang="ko-KR" altLang="en-US" sz="1200" b="1" dirty="0">
                <a:solidFill>
                  <a:srgbClr val="222633"/>
                </a:solidFill>
                <a:latin typeface="Pretendard" pitchFamily="34" charset="0"/>
                <a:ea typeface="Pretendard" pitchFamily="34" charset="-122"/>
                <a:cs typeface="Pretendard" pitchFamily="34" charset="-120"/>
              </a:rPr>
              <a:t> 절차에 들어간다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필요시 강제감독명령 등으로 감독·생활·치료를 정한다.</a:t>
            </a:r>
          </a:p>
        </p:txBody>
      </p:sp>
      <p:sp>
        <p:nvSpPr>
          <p:cNvPr id="18" name="CB18"/>
          <p:cNvSpPr/>
          <p:nvPr/>
        </p:nvSpPr>
        <p:spPr>
          <a:xfrm>
            <a:off x="8065008" y="3915575"/>
            <a:ext cx="3392424" cy="702068"/>
          </a:xfrm>
          <a:prstGeom prst="rect">
            <a:avLst/>
          </a:prstGeom>
          <a:noFill/>
          <a:ln/>
        </p:spPr>
        <p:txBody>
          <a:bodyPr wrap="square" lIns="0" tIns="0" rIns="0" bIns="0" rtlCol="0" anchor="t"/>
          <a:lstStyle/>
          <a:p>
            <a:pPr marL="0" indent="0">
              <a:lnSpc>
                <a:spcPct val="118000"/>
              </a:lnSpc>
              <a:spcAft>
                <a:spcPts val="200"/>
              </a:spcAft>
              <a:buNone/>
            </a:pPr>
            <a:r>
              <a:rPr lang="ko-KR" altLang="en-US" sz="1100" b="1" dirty="0">
                <a:solidFill>
                  <a:srgbClr val="6E7686"/>
                </a:solidFill>
                <a:latin typeface="Pretendard" pitchFamily="34" charset="0"/>
                <a:ea typeface="Pretendard" pitchFamily="34" charset="-122"/>
                <a:cs typeface="Pretendard" pitchFamily="34" charset="-120"/>
              </a:rPr>
              <a:t>중대한 위해</a:t>
            </a:r>
          </a:p>
          <a:p>
            <a:pPr>
              <a:lnSpc>
                <a:spcPct val="118000"/>
              </a:lnSpc>
            </a:pPr>
            <a:r>
              <a:rPr lang="ko-KR" altLang="en-US" sz="1200" b="1" dirty="0">
                <a:solidFill>
                  <a:srgbClr val="222633"/>
                </a:solidFill>
                <a:highlight>
                  <a:srgbClr val="FFFF00"/>
                </a:highlight>
                <a:latin typeface="Pretendard" pitchFamily="34" charset="0"/>
                <a:ea typeface="Pretendard" pitchFamily="34" charset="-122"/>
                <a:cs typeface="Pretendard" pitchFamily="34" charset="-120"/>
              </a:rPr>
              <a:t>즉각적인 중대한 위해에는 별도의 경찰 안전</a:t>
            </a:r>
            <a:r>
              <a:rPr lang="en-US" altLang="ko-KR" sz="1200" b="1" dirty="0">
                <a:solidFill>
                  <a:srgbClr val="222633"/>
                </a:solidFill>
                <a:highlight>
                  <a:srgbClr val="FFFF00"/>
                </a:highlight>
                <a:latin typeface="Pretendard" pitchFamily="34" charset="0"/>
                <a:ea typeface="Pretendard" pitchFamily="34" charset="-122"/>
                <a:cs typeface="Pretendard" pitchFamily="34" charset="-120"/>
              </a:rPr>
              <a:t>·</a:t>
            </a:r>
            <a:r>
              <a:rPr lang="ko-KR" altLang="en-US" sz="1200" b="1" dirty="0">
                <a:solidFill>
                  <a:srgbClr val="222633"/>
                </a:solidFill>
                <a:highlight>
                  <a:srgbClr val="FFFF00"/>
                </a:highlight>
                <a:latin typeface="Pretendard" pitchFamily="34" charset="0"/>
                <a:ea typeface="Pretendard" pitchFamily="34" charset="-122"/>
                <a:cs typeface="Pretendard" pitchFamily="34" charset="-120"/>
              </a:rPr>
              <a:t>이동</a:t>
            </a:r>
            <a:r>
              <a:rPr lang="en-US" altLang="ko-KR" sz="1200" b="1" dirty="0">
                <a:solidFill>
                  <a:srgbClr val="222633"/>
                </a:solidFill>
                <a:highlight>
                  <a:srgbClr val="FFFF00"/>
                </a:highlight>
                <a:latin typeface="Pretendard" pitchFamily="34" charset="0"/>
                <a:ea typeface="Pretendard" pitchFamily="34" charset="-122"/>
                <a:cs typeface="Pretendard" pitchFamily="34" charset="-120"/>
              </a:rPr>
              <a:t>·</a:t>
            </a:r>
            <a:r>
              <a:rPr lang="ko-KR" altLang="en-US" sz="1200" b="1" dirty="0">
                <a:solidFill>
                  <a:srgbClr val="222633"/>
                </a:solidFill>
                <a:highlight>
                  <a:srgbClr val="FFFF00"/>
                </a:highlight>
                <a:latin typeface="Pretendard" pitchFamily="34" charset="0"/>
                <a:ea typeface="Pretendard" pitchFamily="34" charset="-122"/>
                <a:cs typeface="Pretendard" pitchFamily="34" charset="-120"/>
              </a:rPr>
              <a:t>조사권한을 둔다</a:t>
            </a:r>
            <a:r>
              <a:rPr lang="en-US" altLang="ko-KR" sz="1200" b="1" dirty="0">
                <a:solidFill>
                  <a:srgbClr val="222633"/>
                </a:solidFill>
                <a:latin typeface="Pretendard" pitchFamily="34" charset="0"/>
                <a:ea typeface="Pretendard" pitchFamily="34" charset="-122"/>
                <a:cs typeface="Pretendard" pitchFamily="34" charset="-120"/>
              </a:rPr>
              <a:t>.</a:t>
            </a:r>
            <a:endParaRPr lang="ko-KR" altLang="en-US" sz="1200" b="1" dirty="0">
              <a:solidFill>
                <a:srgbClr val="222633"/>
              </a:solidFill>
              <a:latin typeface="Pretendard" pitchFamily="34" charset="0"/>
              <a:ea typeface="Pretendard" pitchFamily="34" charset="-122"/>
              <a:cs typeface="Pretendard" pitchFamily="34" charset="-120"/>
            </a:endParaRPr>
          </a:p>
        </p:txBody>
      </p:sp>
      <p:sp>
        <p:nvSpPr>
          <p:cNvPr id="19" name="S0"/>
          <p:cNvSpPr/>
          <p:nvPr/>
        </p:nvSpPr>
        <p:spPr>
          <a:xfrm>
            <a:off x="731520" y="4709084"/>
            <a:ext cx="10725912" cy="0"/>
          </a:xfrm>
          <a:prstGeom prst="line">
            <a:avLst/>
          </a:prstGeom>
          <a:ln w="9525">
            <a:solidFill>
              <a:srgbClr val="DCE0E8"/>
            </a:solidFill>
          </a:ln>
        </p:spPr>
        <p:txBody>
          <a:bodyPr/>
          <a:lstStyle/>
          <a:p>
            <a:endParaRPr lang="ko-KR"/>
          </a:p>
        </p:txBody>
      </p:sp>
      <p:sp>
        <p:nvSpPr>
          <p:cNvPr id="20" name="SE20"/>
          <p:cNvSpPr/>
          <p:nvPr/>
        </p:nvSpPr>
        <p:spPr>
          <a:xfrm>
            <a:off x="731520" y="4823243"/>
            <a:ext cx="3392424" cy="668233"/>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spcAft>
                <a:spcPts val="200"/>
              </a:spcAft>
              <a:buNone/>
            </a:pPr>
            <a:r>
              <a:rPr lang="ko-KR" altLang="en-US" sz="1100" b="1" dirty="0">
                <a:solidFill>
                  <a:srgbClr val="002060"/>
                </a:solidFill>
                <a:latin typeface="Pretendard" pitchFamily="34" charset="0"/>
                <a:ea typeface="Pretendard" pitchFamily="34" charset="-122"/>
                <a:cs typeface="Pretendard" pitchFamily="34" charset="-120"/>
              </a:rPr>
              <a:t>비교에서 볼 점 · 일본</a:t>
            </a:r>
          </a:p>
          <a:p>
            <a:pPr algn="ctr">
              <a:lnSpc>
                <a:spcPct val="118000"/>
              </a:lnSpc>
            </a:pPr>
            <a:r>
              <a:rPr lang="en-US" altLang="ko-KR" sz="1150" b="1" dirty="0">
                <a:solidFill>
                  <a:schemeClr val="accent5">
                    <a:lumMod val="50000"/>
                  </a:schemeClr>
                </a:solidFill>
                <a:latin typeface="Pretendard" pitchFamily="34" charset="0"/>
                <a:ea typeface="Pretendard" pitchFamily="34" charset="-122"/>
                <a:cs typeface="Pretendard" pitchFamily="34" charset="-120"/>
              </a:rPr>
              <a:t>14</a:t>
            </a:r>
            <a:r>
              <a:rPr lang="ko-KR" altLang="en-US" sz="1150" b="1" dirty="0">
                <a:solidFill>
                  <a:schemeClr val="accent5">
                    <a:lumMod val="50000"/>
                  </a:schemeClr>
                </a:solidFill>
                <a:latin typeface="Pretendard" pitchFamily="34" charset="0"/>
                <a:ea typeface="Pretendard" pitchFamily="34" charset="-122"/>
                <a:cs typeface="Pretendard" pitchFamily="34" charset="-120"/>
              </a:rPr>
              <a:t>세 미만 저촉소년에 별도 하한을 두지 않고</a:t>
            </a:r>
            <a:r>
              <a:rPr lang="en-US" altLang="ko-KR" sz="1150" b="1" dirty="0">
                <a:solidFill>
                  <a:schemeClr val="accent5">
                    <a:lumMod val="50000"/>
                  </a:schemeClr>
                </a:solidFill>
                <a:latin typeface="Pretendard" pitchFamily="34" charset="0"/>
                <a:ea typeface="Pretendard" pitchFamily="34" charset="-122"/>
                <a:cs typeface="Pretendard" pitchFamily="34" charset="-120"/>
              </a:rPr>
              <a:t>, </a:t>
            </a:r>
          </a:p>
          <a:p>
            <a:pPr algn="ctr">
              <a:lnSpc>
                <a:spcPct val="118000"/>
              </a:lnSpc>
            </a:pPr>
            <a:r>
              <a:rPr lang="ko-KR" altLang="en-US" sz="1150" b="1" dirty="0">
                <a:solidFill>
                  <a:schemeClr val="accent5">
                    <a:lumMod val="50000"/>
                  </a:schemeClr>
                </a:solidFill>
                <a:highlight>
                  <a:srgbClr val="FFFF00"/>
                </a:highlight>
                <a:latin typeface="Pretendard" pitchFamily="34" charset="0"/>
                <a:ea typeface="Pretendard" pitchFamily="34" charset="-122"/>
                <a:cs typeface="Pretendard" pitchFamily="34" charset="-120"/>
              </a:rPr>
              <a:t>아동복지기관이 가정재판소 진입을 선별한다</a:t>
            </a:r>
            <a:r>
              <a:rPr lang="en-US" altLang="ko-KR" sz="1150" b="1" dirty="0">
                <a:solidFill>
                  <a:schemeClr val="accent5">
                    <a:lumMod val="50000"/>
                  </a:schemeClr>
                </a:solidFill>
                <a:latin typeface="Pretendard" pitchFamily="34" charset="0"/>
                <a:ea typeface="Pretendard" pitchFamily="34" charset="-122"/>
                <a:cs typeface="Pretendard" pitchFamily="34" charset="-120"/>
              </a:rPr>
              <a:t>.</a:t>
            </a:r>
            <a:endParaRPr lang="ko-KR" altLang="en-US" sz="1150" b="1" dirty="0">
              <a:solidFill>
                <a:schemeClr val="accent5">
                  <a:lumMod val="50000"/>
                </a:schemeClr>
              </a:solidFill>
              <a:latin typeface="Pretendard" pitchFamily="34" charset="0"/>
              <a:ea typeface="Pretendard" pitchFamily="34" charset="-122"/>
              <a:cs typeface="Pretendard" pitchFamily="34" charset="-120"/>
            </a:endParaRPr>
          </a:p>
        </p:txBody>
      </p:sp>
      <p:sp>
        <p:nvSpPr>
          <p:cNvPr id="21" name="SE21"/>
          <p:cNvSpPr/>
          <p:nvPr/>
        </p:nvSpPr>
        <p:spPr>
          <a:xfrm>
            <a:off x="4398264" y="4823243"/>
            <a:ext cx="3392424" cy="668233"/>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spcAft>
                <a:spcPts val="200"/>
              </a:spcAft>
              <a:buNone/>
            </a:pPr>
            <a:r>
              <a:rPr lang="ko-KR" altLang="en-US" sz="1100" b="1" dirty="0">
                <a:solidFill>
                  <a:srgbClr val="002060"/>
                </a:solidFill>
                <a:latin typeface="Pretendard" pitchFamily="34" charset="0"/>
                <a:ea typeface="Pretendard" pitchFamily="34" charset="-122"/>
                <a:cs typeface="Pretendard" pitchFamily="34" charset="-120"/>
              </a:rPr>
              <a:t>비교에서 볼 점 · 네덜란드</a:t>
            </a:r>
          </a:p>
          <a:p>
            <a:pPr algn="ctr">
              <a:lnSpc>
                <a:spcPct val="118000"/>
              </a:lnSpc>
            </a:pPr>
            <a:r>
              <a:rPr lang="ko-KR" altLang="en-US" sz="1150" b="1" dirty="0" err="1">
                <a:solidFill>
                  <a:schemeClr val="accent5">
                    <a:lumMod val="50000"/>
                  </a:schemeClr>
                </a:solidFill>
                <a:latin typeface="Pretendard" pitchFamily="34" charset="0"/>
                <a:ea typeface="Pretendard" pitchFamily="34" charset="-122"/>
                <a:cs typeface="Pretendard" pitchFamily="34" charset="-120"/>
              </a:rPr>
              <a:t>연령선</a:t>
            </a:r>
            <a:r>
              <a:rPr lang="ko-KR" altLang="en-US" sz="1150" b="1" dirty="0">
                <a:solidFill>
                  <a:schemeClr val="accent5">
                    <a:lumMod val="50000"/>
                  </a:schemeClr>
                </a:solidFill>
                <a:latin typeface="Pretendard" pitchFamily="34" charset="0"/>
                <a:ea typeface="Pretendard" pitchFamily="34" charset="-122"/>
                <a:cs typeface="Pretendard" pitchFamily="34" charset="-120"/>
              </a:rPr>
              <a:t> 아래의 보호</a:t>
            </a:r>
            <a:r>
              <a:rPr lang="en-US" altLang="ko-KR" sz="1150" b="1" dirty="0">
                <a:solidFill>
                  <a:schemeClr val="accent5">
                    <a:lumMod val="50000"/>
                  </a:schemeClr>
                </a:solidFill>
                <a:latin typeface="Pretendard" pitchFamily="34" charset="0"/>
                <a:ea typeface="Pretendard" pitchFamily="34" charset="-122"/>
                <a:cs typeface="Pretendard" pitchFamily="34" charset="-120"/>
              </a:rPr>
              <a:t>·</a:t>
            </a:r>
            <a:r>
              <a:rPr lang="ko-KR" altLang="en-US" sz="1150" b="1" dirty="0">
                <a:solidFill>
                  <a:schemeClr val="accent5">
                    <a:lumMod val="50000"/>
                  </a:schemeClr>
                </a:solidFill>
                <a:latin typeface="Pretendard" pitchFamily="34" charset="0"/>
                <a:ea typeface="Pretendard" pitchFamily="34" charset="-122"/>
                <a:cs typeface="Pretendard" pitchFamily="34" charset="-120"/>
              </a:rPr>
              <a:t>감독과</a:t>
            </a:r>
            <a:r>
              <a:rPr lang="en-US" altLang="ko-KR" sz="1150" b="1" dirty="0">
                <a:solidFill>
                  <a:schemeClr val="accent5">
                    <a:lumMod val="50000"/>
                  </a:schemeClr>
                </a:solidFill>
                <a:latin typeface="Pretendard" pitchFamily="34" charset="0"/>
                <a:ea typeface="Pretendard" pitchFamily="34" charset="-122"/>
                <a:cs typeface="Pretendard" pitchFamily="34" charset="-120"/>
              </a:rPr>
              <a:t>, </a:t>
            </a:r>
          </a:p>
          <a:p>
            <a:pPr algn="ctr">
              <a:lnSpc>
                <a:spcPct val="118000"/>
              </a:lnSpc>
            </a:pPr>
            <a:r>
              <a:rPr lang="ko-KR" altLang="en-US" sz="1150" b="1" dirty="0" err="1">
                <a:solidFill>
                  <a:schemeClr val="accent5">
                    <a:lumMod val="50000"/>
                  </a:schemeClr>
                </a:solidFill>
                <a:highlight>
                  <a:srgbClr val="FFFF00"/>
                </a:highlight>
                <a:latin typeface="Pretendard" pitchFamily="34" charset="0"/>
                <a:ea typeface="Pretendard" pitchFamily="34" charset="-122"/>
                <a:cs typeface="Pretendard" pitchFamily="34" charset="-120"/>
              </a:rPr>
              <a:t>연령선</a:t>
            </a:r>
            <a:r>
              <a:rPr lang="ko-KR" altLang="en-US" sz="1150" b="1" dirty="0">
                <a:solidFill>
                  <a:schemeClr val="accent5">
                    <a:lumMod val="50000"/>
                  </a:schemeClr>
                </a:solidFill>
                <a:highlight>
                  <a:srgbClr val="FFFF00"/>
                </a:highlight>
                <a:latin typeface="Pretendard" pitchFamily="34" charset="0"/>
                <a:ea typeface="Pretendard" pitchFamily="34" charset="-122"/>
                <a:cs typeface="Pretendard" pitchFamily="34" charset="-120"/>
              </a:rPr>
              <a:t> 위의 단계적 소년제재를 별도로 설계한다</a:t>
            </a:r>
            <a:r>
              <a:rPr lang="en-US" altLang="ko-KR" sz="1150" b="1" dirty="0">
                <a:solidFill>
                  <a:schemeClr val="accent5">
                    <a:lumMod val="50000"/>
                  </a:schemeClr>
                </a:solidFill>
                <a:highlight>
                  <a:srgbClr val="FFFF00"/>
                </a:highlight>
                <a:latin typeface="Pretendard" pitchFamily="34" charset="0"/>
                <a:ea typeface="Pretendard" pitchFamily="34" charset="-122"/>
                <a:cs typeface="Pretendard" pitchFamily="34" charset="-120"/>
              </a:rPr>
              <a:t>.</a:t>
            </a:r>
            <a:endParaRPr lang="ko-KR" altLang="en-US" sz="1150" b="1" dirty="0">
              <a:solidFill>
                <a:schemeClr val="accent5">
                  <a:lumMod val="50000"/>
                </a:schemeClr>
              </a:solidFill>
              <a:highlight>
                <a:srgbClr val="FFFF00"/>
              </a:highlight>
              <a:latin typeface="Pretendard" pitchFamily="34" charset="0"/>
              <a:ea typeface="Pretendard" pitchFamily="34" charset="-122"/>
              <a:cs typeface="Pretendard" pitchFamily="34" charset="-120"/>
            </a:endParaRPr>
          </a:p>
        </p:txBody>
      </p:sp>
      <p:sp>
        <p:nvSpPr>
          <p:cNvPr id="22" name="SE22"/>
          <p:cNvSpPr/>
          <p:nvPr/>
        </p:nvSpPr>
        <p:spPr>
          <a:xfrm>
            <a:off x="8065008" y="4823243"/>
            <a:ext cx="3392424" cy="668233"/>
          </a:xfrm>
          <a:prstGeom prst="rect">
            <a:avLst/>
          </a:prstGeom>
          <a:solidFill>
            <a:schemeClr val="accent1">
              <a:lumMod val="20000"/>
              <a:lumOff val="80000"/>
            </a:schemeClr>
          </a:solidFill>
          <a:ln/>
        </p:spPr>
        <p:txBody>
          <a:bodyPr wrap="square" lIns="0" tIns="0" rIns="0" bIns="0" rtlCol="0" anchor="t"/>
          <a:lstStyle/>
          <a:p>
            <a:pPr marL="0" indent="0" algn="ctr">
              <a:lnSpc>
                <a:spcPct val="118000"/>
              </a:lnSpc>
              <a:spcAft>
                <a:spcPts val="200"/>
              </a:spcAft>
              <a:buNone/>
            </a:pPr>
            <a:r>
              <a:rPr lang="ko-KR" altLang="en-US" sz="1100" b="1" dirty="0">
                <a:solidFill>
                  <a:srgbClr val="002060"/>
                </a:solidFill>
                <a:latin typeface="Pretendard" pitchFamily="34" charset="0"/>
                <a:ea typeface="Pretendard" pitchFamily="34" charset="-122"/>
                <a:cs typeface="Pretendard" pitchFamily="34" charset="-120"/>
              </a:rPr>
              <a:t>비교에서 볼 점 · 스코틀랜드</a:t>
            </a:r>
          </a:p>
          <a:p>
            <a:pPr algn="ctr">
              <a:lnSpc>
                <a:spcPct val="118000"/>
              </a:lnSpc>
            </a:pPr>
            <a:r>
              <a:rPr lang="ko-KR" altLang="en-US" sz="1150" b="1" dirty="0">
                <a:solidFill>
                  <a:schemeClr val="accent5">
                    <a:lumMod val="50000"/>
                  </a:schemeClr>
                </a:solidFill>
                <a:latin typeface="Pretendard" pitchFamily="34" charset="0"/>
                <a:ea typeface="Pretendard" pitchFamily="34" charset="-122"/>
                <a:cs typeface="Pretendard" pitchFamily="34" charset="-120"/>
              </a:rPr>
              <a:t>범죄사건으로 처리하지 않으면서도 </a:t>
            </a:r>
            <a:endParaRPr lang="en-US" altLang="ko-KR" sz="1150" b="1" dirty="0">
              <a:solidFill>
                <a:schemeClr val="accent5">
                  <a:lumMod val="50000"/>
                </a:schemeClr>
              </a:solidFill>
              <a:latin typeface="Pretendard" pitchFamily="34" charset="0"/>
              <a:ea typeface="Pretendard" pitchFamily="34" charset="-122"/>
              <a:cs typeface="Pretendard" pitchFamily="34" charset="-120"/>
            </a:endParaRPr>
          </a:p>
          <a:p>
            <a:pPr algn="ctr">
              <a:lnSpc>
                <a:spcPct val="118000"/>
              </a:lnSpc>
            </a:pPr>
            <a:r>
              <a:rPr lang="ko-KR" altLang="en-US" sz="1150" b="1" dirty="0">
                <a:solidFill>
                  <a:schemeClr val="accent5">
                    <a:lumMod val="50000"/>
                  </a:schemeClr>
                </a:solidFill>
                <a:latin typeface="Pretendard" pitchFamily="34" charset="0"/>
                <a:ea typeface="Pretendard" pitchFamily="34" charset="-122"/>
                <a:cs typeface="Pretendard" pitchFamily="34" charset="-120"/>
              </a:rPr>
              <a:t>보호</a:t>
            </a:r>
            <a:r>
              <a:rPr lang="en-US" altLang="ko-KR" sz="1150" b="1" dirty="0">
                <a:solidFill>
                  <a:schemeClr val="accent5">
                    <a:lumMod val="50000"/>
                  </a:schemeClr>
                </a:solidFill>
                <a:latin typeface="Pretendard" pitchFamily="34" charset="0"/>
                <a:ea typeface="Pretendard" pitchFamily="34" charset="-122"/>
                <a:cs typeface="Pretendard" pitchFamily="34" charset="-120"/>
              </a:rPr>
              <a:t>·</a:t>
            </a:r>
            <a:r>
              <a:rPr lang="ko-KR" altLang="en-US" sz="1150" b="1" dirty="0">
                <a:solidFill>
                  <a:schemeClr val="accent5">
                    <a:lumMod val="50000"/>
                  </a:schemeClr>
                </a:solidFill>
                <a:latin typeface="Pretendard" pitchFamily="34" charset="0"/>
                <a:ea typeface="Pretendard" pitchFamily="34" charset="-122"/>
                <a:cs typeface="Pretendard" pitchFamily="34" charset="-120"/>
              </a:rPr>
              <a:t>감독과 공공안전 대응권한을 함께 둘 수 있다</a:t>
            </a:r>
            <a:r>
              <a:rPr lang="en-US" altLang="ko-KR" sz="1150" b="1" dirty="0">
                <a:solidFill>
                  <a:schemeClr val="accent5">
                    <a:lumMod val="50000"/>
                  </a:schemeClr>
                </a:solidFill>
                <a:latin typeface="Pretendard" pitchFamily="34" charset="0"/>
                <a:ea typeface="Pretendard" pitchFamily="34" charset="-122"/>
                <a:cs typeface="Pretendard" pitchFamily="34" charset="-120"/>
              </a:rPr>
              <a:t>.</a:t>
            </a:r>
            <a:endParaRPr lang="ko-KR" altLang="en-US" sz="1150" b="1" dirty="0">
              <a:solidFill>
                <a:schemeClr val="accent5">
                  <a:lumMod val="50000"/>
                </a:schemeClr>
              </a:solidFill>
              <a:latin typeface="Pretendard" pitchFamily="34" charset="0"/>
              <a:ea typeface="Pretendard" pitchFamily="34" charset="-122"/>
              <a:cs typeface="Pretendard" pitchFamily="34" charset="-120"/>
            </a:endParaRPr>
          </a:p>
        </p:txBody>
      </p:sp>
      <p:sp>
        <p:nvSpPr>
          <p:cNvPr id="23" name="S1"/>
          <p:cNvSpPr/>
          <p:nvPr/>
        </p:nvSpPr>
        <p:spPr>
          <a:xfrm>
            <a:off x="731520" y="5589422"/>
            <a:ext cx="10725912" cy="0"/>
          </a:xfrm>
          <a:prstGeom prst="line">
            <a:avLst/>
          </a:prstGeom>
          <a:ln w="9525">
            <a:solidFill>
              <a:srgbClr val="DCE0E8"/>
            </a:solidFill>
          </a:ln>
        </p:spPr>
        <p:txBody>
          <a:bodyPr/>
          <a:lstStyle/>
          <a:p>
            <a:endParaRPr lang="ko-KR"/>
          </a:p>
        </p:txBody>
      </p:sp>
      <p:sp>
        <p:nvSpPr>
          <p:cNvPr id="24" name="CL2"/>
          <p:cNvSpPr/>
          <p:nvPr/>
        </p:nvSpPr>
        <p:spPr>
          <a:xfrm>
            <a:off x="731520" y="5652783"/>
            <a:ext cx="1072591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책임연령 아래에서도 국가는 개입할 수 있다. 다만 그 개입을 소년법상 보호처분으로 할지, 복지·감독·공공안전 절차로 할지는 국가마다 다르게 설계한다.</a:t>
            </a:r>
          </a:p>
        </p:txBody>
      </p:sp>
      <p:sp>
        <p:nvSpPr>
          <p:cNvPr id="25" name="S2"/>
          <p:cNvSpPr/>
          <p:nvPr/>
        </p:nvSpPr>
        <p:spPr>
          <a:xfrm>
            <a:off x="731520" y="6004941"/>
            <a:ext cx="10725912" cy="0"/>
          </a:xfrm>
          <a:prstGeom prst="line">
            <a:avLst/>
          </a:prstGeom>
          <a:ln w="9525">
            <a:solidFill>
              <a:srgbClr val="DCE0E8"/>
            </a:solidFill>
          </a:ln>
        </p:spPr>
        <p:txBody>
          <a:bodyPr/>
          <a:lstStyle/>
          <a:p>
            <a:endParaRPr lang="ko-KR"/>
          </a:p>
        </p:txBody>
      </p:sp>
      <p:sp>
        <p:nvSpPr>
          <p:cNvPr id="26" name="GD2"/>
          <p:cNvSpPr/>
          <p:nvPr/>
        </p:nvSpPr>
        <p:spPr>
          <a:xfrm>
            <a:off x="731520" y="6068301"/>
            <a:ext cx="10725912" cy="215798"/>
          </a:xfrm>
          <a:prstGeom prst="rect">
            <a:avLst/>
          </a:prstGeom>
          <a:noFill/>
          <a:ln/>
        </p:spPr>
        <p:txBody>
          <a:bodyPr wrap="square" lIns="0" tIns="0" rIns="0" bIns="0" rtlCol="0" anchor="t"/>
          <a:lstStyle/>
          <a:p>
            <a:pPr marL="0" indent="0">
              <a:lnSpc>
                <a:spcPct val="118000"/>
              </a:lnSpc>
              <a:buNone/>
            </a:pPr>
            <a:r>
              <a:rPr lang="ko-KR" altLang="en-US" sz="1200" dirty="0">
                <a:solidFill>
                  <a:srgbClr val="A8871C"/>
                </a:solidFill>
                <a:latin typeface="Pretendard" pitchFamily="34" charset="0"/>
                <a:ea typeface="Pretendard" pitchFamily="34" charset="-122"/>
                <a:cs typeface="Pretendard" pitchFamily="34" charset="-120"/>
              </a:rPr>
              <a:t>한국은 이미 10~13세에 보호처분을 두고 있으므로, 대응수단이 없는가보다 무엇이 해결되지 않는지를 따져야 한다.</a:t>
            </a:r>
          </a:p>
        </p:txBody>
      </p:sp>
      <p:sp>
        <p:nvSpPr>
          <p:cNvPr id="27" name="S3"/>
          <p:cNvSpPr/>
          <p:nvPr/>
        </p:nvSpPr>
        <p:spPr>
          <a:xfrm>
            <a:off x="731520" y="6411468"/>
            <a:ext cx="10725912" cy="0"/>
          </a:xfrm>
          <a:prstGeom prst="line">
            <a:avLst/>
          </a:prstGeom>
          <a:ln w="9525">
            <a:solidFill>
              <a:srgbClr val="DCE0E8"/>
            </a:solidFill>
          </a:ln>
        </p:spPr>
        <p:txBody>
          <a:bodyPr/>
          <a:lstStyle/>
          <a:p>
            <a:endParaRPr lang="ko-KR"/>
          </a:p>
        </p:txBody>
      </p:sp>
      <p:sp>
        <p:nvSpPr>
          <p:cNvPr id="28"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일본 형법 제41조·소년법 제3조 제2항·제24조 · Netherlands Government, juvenile offenders guidance · Age of Criminal Responsibility (Scotland) Act 2019 및 스코틀랜드 정부 지침</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외국 제도의 설계 과제</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국가별 비교 — 연령선 아래와 위의 절차</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연령선만으로 제도가 정해지지 않는다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ANDSUB"/>
          <p:cNvSpPr/>
          <p:nvPr/>
        </p:nvSpPr>
        <p:spPr>
          <a:xfrm>
            <a:off x="3647810" y="1417320"/>
            <a:ext cx="6583680" cy="548640"/>
          </a:xfrm>
          <a:prstGeom prst="rect">
            <a:avLst/>
          </a:prstGeom>
          <a:noFill/>
          <a:ln/>
        </p:spPr>
        <p:txBody>
          <a:bodyPr wrap="square" lIns="0" tIns="0" rIns="0" bIns="0" rtlCol="0" anchor="ctr"/>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 그 안에서도 별도 연령규칙과 보호·교정 경로가 다시 나뉜다</a:t>
            </a:r>
          </a:p>
        </p:txBody>
      </p:sp>
      <p:sp>
        <p:nvSpPr>
          <p:cNvPr id="9" name="LG9"/>
          <p:cNvSpPr/>
          <p:nvPr/>
        </p:nvSpPr>
        <p:spPr>
          <a:xfrm>
            <a:off x="731520" y="2148840"/>
            <a:ext cx="182880" cy="100584"/>
          </a:xfrm>
          <a:prstGeom prst="rect">
            <a:avLst/>
          </a:prstGeom>
          <a:solidFill>
            <a:srgbClr val="C2A648"/>
          </a:solidFill>
          <a:ln/>
        </p:spPr>
        <p:txBody>
          <a:bodyPr/>
          <a:lstStyle/>
          <a:p>
            <a:endParaRPr lang="ko-KR" altLang="en-US"/>
          </a:p>
        </p:txBody>
      </p:sp>
      <p:sp>
        <p:nvSpPr>
          <p:cNvPr id="10" name="LGT10"/>
          <p:cNvSpPr/>
          <p:nvPr/>
        </p:nvSpPr>
        <p:spPr>
          <a:xfrm>
            <a:off x="969264" y="2112264"/>
            <a:ext cx="962835" cy="164592"/>
          </a:xfrm>
          <a:prstGeom prst="rect">
            <a:avLst/>
          </a:prstGeom>
          <a:noFill/>
          <a:ln/>
        </p:spPr>
        <p:txBody>
          <a:bodyPr wrap="square" lIns="0" tIns="0" rIns="0" bIns="0" rtlCol="0" anchor="ctr"/>
          <a:lstStyle/>
          <a:p>
            <a:pPr marL="0" indent="0">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형사책임 없음</a:t>
            </a:r>
          </a:p>
        </p:txBody>
      </p:sp>
      <p:sp>
        <p:nvSpPr>
          <p:cNvPr id="11" name="LG11"/>
          <p:cNvSpPr/>
          <p:nvPr/>
        </p:nvSpPr>
        <p:spPr>
          <a:xfrm>
            <a:off x="1932099" y="2148840"/>
            <a:ext cx="182880" cy="100584"/>
          </a:xfrm>
          <a:prstGeom prst="rect">
            <a:avLst/>
          </a:prstGeom>
          <a:solidFill>
            <a:srgbClr val="1E2761"/>
          </a:solidFill>
          <a:ln/>
        </p:spPr>
        <p:txBody>
          <a:bodyPr/>
          <a:lstStyle/>
          <a:p>
            <a:endParaRPr lang="ko-KR" altLang="en-US"/>
          </a:p>
        </p:txBody>
      </p:sp>
      <p:sp>
        <p:nvSpPr>
          <p:cNvPr id="12" name="LGT12"/>
          <p:cNvSpPr/>
          <p:nvPr/>
        </p:nvSpPr>
        <p:spPr>
          <a:xfrm>
            <a:off x="2169843" y="2112264"/>
            <a:ext cx="962835" cy="164592"/>
          </a:xfrm>
          <a:prstGeom prst="rect">
            <a:avLst/>
          </a:prstGeom>
          <a:noFill/>
          <a:ln/>
        </p:spPr>
        <p:txBody>
          <a:bodyPr wrap="square" lIns="0" tIns="0" rIns="0" bIns="0" rtlCol="0" anchor="ctr"/>
          <a:lstStyle/>
          <a:p>
            <a:pPr marL="0" indent="0">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형사책임 가능</a:t>
            </a:r>
          </a:p>
        </p:txBody>
      </p:sp>
      <p:sp>
        <p:nvSpPr>
          <p:cNvPr id="13" name="LG13"/>
          <p:cNvSpPr/>
          <p:nvPr/>
        </p:nvSpPr>
        <p:spPr>
          <a:xfrm>
            <a:off x="3132677" y="2148840"/>
            <a:ext cx="182880" cy="100584"/>
          </a:xfrm>
          <a:prstGeom prst="rect">
            <a:avLst/>
          </a:prstGeom>
          <a:solidFill>
            <a:srgbClr val="5A6699"/>
          </a:solidFill>
          <a:ln/>
        </p:spPr>
        <p:txBody>
          <a:bodyPr/>
          <a:lstStyle/>
          <a:p>
            <a:endParaRPr lang="ko-KR" altLang="en-US"/>
          </a:p>
        </p:txBody>
      </p:sp>
      <p:sp>
        <p:nvSpPr>
          <p:cNvPr id="14" name="LGT14"/>
          <p:cNvSpPr/>
          <p:nvPr/>
        </p:nvSpPr>
        <p:spPr>
          <a:xfrm>
            <a:off x="3370421" y="2112264"/>
            <a:ext cx="962835" cy="164592"/>
          </a:xfrm>
          <a:prstGeom prst="rect">
            <a:avLst/>
          </a:prstGeom>
          <a:noFill/>
          <a:ln/>
        </p:spPr>
        <p:txBody>
          <a:bodyPr wrap="square" lIns="0" tIns="0" rIns="0" bIns="0" rtlCol="0" anchor="ctr"/>
          <a:lstStyle/>
          <a:p>
            <a:pPr marL="0" indent="0">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별도 연령규칙</a:t>
            </a:r>
          </a:p>
        </p:txBody>
      </p:sp>
      <p:sp>
        <p:nvSpPr>
          <p:cNvPr id="15" name="LG15"/>
          <p:cNvSpPr/>
          <p:nvPr/>
        </p:nvSpPr>
        <p:spPr>
          <a:xfrm>
            <a:off x="4333256" y="2148840"/>
            <a:ext cx="182880" cy="100584"/>
          </a:xfrm>
          <a:prstGeom prst="rect">
            <a:avLst/>
          </a:prstGeom>
          <a:solidFill>
            <a:srgbClr val="C9CEDA"/>
          </a:solidFill>
          <a:ln/>
        </p:spPr>
        <p:txBody>
          <a:bodyPr/>
          <a:lstStyle/>
          <a:p>
            <a:endParaRPr lang="ko-KR" altLang="en-US"/>
          </a:p>
        </p:txBody>
      </p:sp>
      <p:sp>
        <p:nvSpPr>
          <p:cNvPr id="16" name="LGT16"/>
          <p:cNvSpPr/>
          <p:nvPr/>
        </p:nvSpPr>
        <p:spPr>
          <a:xfrm>
            <a:off x="4571000" y="2112264"/>
            <a:ext cx="1261086" cy="164592"/>
          </a:xfrm>
          <a:prstGeom prst="rect">
            <a:avLst/>
          </a:prstGeom>
          <a:noFill/>
          <a:ln/>
        </p:spPr>
        <p:txBody>
          <a:bodyPr wrap="square" lIns="0" tIns="0" rIns="0" bIns="0" rtlCol="0" anchor="ctr"/>
          <a:lstStyle/>
          <a:p>
            <a:pPr marL="0" indent="0">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보호·복지·교정 경로</a:t>
            </a:r>
          </a:p>
        </p:txBody>
      </p:sp>
      <p:sp>
        <p:nvSpPr>
          <p:cNvPr id="17" name="LG17"/>
          <p:cNvSpPr/>
          <p:nvPr/>
        </p:nvSpPr>
        <p:spPr>
          <a:xfrm>
            <a:off x="5832086" y="2148840"/>
            <a:ext cx="182880" cy="100584"/>
          </a:xfrm>
          <a:prstGeom prst="rect">
            <a:avLst/>
          </a:prstGeom>
          <a:noFill/>
          <a:ln w="12700">
            <a:solidFill>
              <a:srgbClr val="C0392B"/>
            </a:solidFill>
            <a:prstDash val="dash"/>
          </a:ln>
        </p:spPr>
        <p:txBody>
          <a:bodyPr/>
          <a:lstStyle/>
          <a:p>
            <a:endParaRPr lang="ko-KR"/>
          </a:p>
        </p:txBody>
      </p:sp>
      <p:sp>
        <p:nvSpPr>
          <p:cNvPr id="18" name="LGT18"/>
          <p:cNvSpPr/>
          <p:nvPr/>
        </p:nvSpPr>
        <p:spPr>
          <a:xfrm>
            <a:off x="6069830" y="2112264"/>
            <a:ext cx="996693" cy="164592"/>
          </a:xfrm>
          <a:prstGeom prst="rect">
            <a:avLst/>
          </a:prstGeom>
          <a:noFill/>
          <a:ln/>
        </p:spPr>
        <p:txBody>
          <a:bodyPr wrap="square" lIns="0" tIns="0" rIns="0" bIns="0" rtlCol="0" anchor="ctr"/>
          <a:lstStyle/>
          <a:p>
            <a:pPr marL="0" indent="0">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예외·하향 기준</a:t>
            </a:r>
          </a:p>
        </p:txBody>
      </p:sp>
      <p:sp>
        <p:nvSpPr>
          <p:cNvPr id="19" name="LG19"/>
          <p:cNvSpPr/>
          <p:nvPr/>
        </p:nvSpPr>
        <p:spPr>
          <a:xfrm>
            <a:off x="7157963" y="2130552"/>
            <a:ext cx="0" cy="137160"/>
          </a:xfrm>
          <a:prstGeom prst="line">
            <a:avLst/>
          </a:prstGeom>
          <a:ln w="19050">
            <a:solidFill>
              <a:srgbClr val="1E2761"/>
            </a:solidFill>
          </a:ln>
        </p:spPr>
        <p:txBody>
          <a:bodyPr/>
          <a:lstStyle/>
          <a:p>
            <a:endParaRPr lang="ko-KR"/>
          </a:p>
        </p:txBody>
      </p:sp>
      <p:sp>
        <p:nvSpPr>
          <p:cNvPr id="20" name="LGT20"/>
          <p:cNvSpPr/>
          <p:nvPr/>
        </p:nvSpPr>
        <p:spPr>
          <a:xfrm>
            <a:off x="7304267" y="2112264"/>
            <a:ext cx="732300" cy="164592"/>
          </a:xfrm>
          <a:prstGeom prst="rect">
            <a:avLst/>
          </a:prstGeom>
          <a:noFill/>
          <a:ln/>
        </p:spPr>
        <p:txBody>
          <a:bodyPr wrap="square" lIns="0" tIns="0" rIns="0" bIns="0" rtlCol="0" anchor="ctr"/>
          <a:lstStyle/>
          <a:p>
            <a:pPr marL="0" indent="0">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현행 기준</a:t>
            </a:r>
          </a:p>
        </p:txBody>
      </p:sp>
      <p:sp>
        <p:nvSpPr>
          <p:cNvPr id="21" name="TK21"/>
          <p:cNvSpPr/>
          <p:nvPr/>
        </p:nvSpPr>
        <p:spPr>
          <a:xfrm>
            <a:off x="1865376" y="2295144"/>
            <a:ext cx="548640" cy="182880"/>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464D5C"/>
                </a:solidFill>
                <a:latin typeface="Pretendard" pitchFamily="34" charset="0"/>
                <a:ea typeface="Pretendard" pitchFamily="34" charset="-122"/>
                <a:cs typeface="Pretendard" pitchFamily="34" charset="-120"/>
              </a:rPr>
              <a:t>0세</a:t>
            </a:r>
          </a:p>
        </p:txBody>
      </p:sp>
      <p:sp>
        <p:nvSpPr>
          <p:cNvPr id="22" name="TKL22"/>
          <p:cNvSpPr/>
          <p:nvPr/>
        </p:nvSpPr>
        <p:spPr>
          <a:xfrm>
            <a:off x="2139696" y="2487168"/>
            <a:ext cx="0" cy="54864"/>
          </a:xfrm>
          <a:prstGeom prst="line">
            <a:avLst/>
          </a:prstGeom>
          <a:ln w="12700">
            <a:solidFill>
              <a:srgbClr val="DCE0E8"/>
            </a:solidFill>
          </a:ln>
        </p:spPr>
        <p:txBody>
          <a:bodyPr/>
          <a:lstStyle/>
          <a:p>
            <a:endParaRPr lang="ko-KR"/>
          </a:p>
        </p:txBody>
      </p:sp>
      <p:sp>
        <p:nvSpPr>
          <p:cNvPr id="23" name="TK23"/>
          <p:cNvSpPr/>
          <p:nvPr/>
        </p:nvSpPr>
        <p:spPr>
          <a:xfrm>
            <a:off x="4317412" y="2295144"/>
            <a:ext cx="548640" cy="182880"/>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464D5C"/>
                </a:solidFill>
                <a:latin typeface="Pretendard" pitchFamily="34" charset="0"/>
                <a:ea typeface="Pretendard" pitchFamily="34" charset="-122"/>
                <a:cs typeface="Pretendard" pitchFamily="34" charset="-120"/>
              </a:rPr>
              <a:t>5</a:t>
            </a:r>
          </a:p>
        </p:txBody>
      </p:sp>
      <p:sp>
        <p:nvSpPr>
          <p:cNvPr id="24" name="TKL24"/>
          <p:cNvSpPr/>
          <p:nvPr/>
        </p:nvSpPr>
        <p:spPr>
          <a:xfrm>
            <a:off x="4591732" y="2487168"/>
            <a:ext cx="0" cy="54864"/>
          </a:xfrm>
          <a:prstGeom prst="line">
            <a:avLst/>
          </a:prstGeom>
          <a:ln w="12700">
            <a:solidFill>
              <a:srgbClr val="DCE0E8"/>
            </a:solidFill>
          </a:ln>
        </p:spPr>
        <p:txBody>
          <a:bodyPr/>
          <a:lstStyle/>
          <a:p>
            <a:endParaRPr lang="ko-KR"/>
          </a:p>
        </p:txBody>
      </p:sp>
      <p:sp>
        <p:nvSpPr>
          <p:cNvPr id="25" name="TK25"/>
          <p:cNvSpPr/>
          <p:nvPr/>
        </p:nvSpPr>
        <p:spPr>
          <a:xfrm>
            <a:off x="6769448" y="2295144"/>
            <a:ext cx="548640" cy="182880"/>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464D5C"/>
                </a:solidFill>
                <a:latin typeface="Pretendard" pitchFamily="34" charset="0"/>
                <a:ea typeface="Pretendard" pitchFamily="34" charset="-122"/>
                <a:cs typeface="Pretendard" pitchFamily="34" charset="-120"/>
              </a:rPr>
              <a:t>10</a:t>
            </a:r>
          </a:p>
        </p:txBody>
      </p:sp>
      <p:sp>
        <p:nvSpPr>
          <p:cNvPr id="26" name="TKL26"/>
          <p:cNvSpPr/>
          <p:nvPr/>
        </p:nvSpPr>
        <p:spPr>
          <a:xfrm>
            <a:off x="7043768" y="2487168"/>
            <a:ext cx="0" cy="54864"/>
          </a:xfrm>
          <a:prstGeom prst="line">
            <a:avLst/>
          </a:prstGeom>
          <a:ln w="12700">
            <a:solidFill>
              <a:srgbClr val="DCE0E8"/>
            </a:solidFill>
          </a:ln>
        </p:spPr>
        <p:txBody>
          <a:bodyPr/>
          <a:lstStyle/>
          <a:p>
            <a:endParaRPr lang="ko-KR"/>
          </a:p>
        </p:txBody>
      </p:sp>
      <p:sp>
        <p:nvSpPr>
          <p:cNvPr id="27" name="TK27"/>
          <p:cNvSpPr/>
          <p:nvPr/>
        </p:nvSpPr>
        <p:spPr>
          <a:xfrm>
            <a:off x="7750262" y="2295144"/>
            <a:ext cx="548640" cy="182880"/>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464D5C"/>
                </a:solidFill>
                <a:latin typeface="Pretendard" pitchFamily="34" charset="0"/>
                <a:ea typeface="Pretendard" pitchFamily="34" charset="-122"/>
                <a:cs typeface="Pretendard" pitchFamily="34" charset="-120"/>
              </a:rPr>
              <a:t>12</a:t>
            </a:r>
          </a:p>
        </p:txBody>
      </p:sp>
      <p:sp>
        <p:nvSpPr>
          <p:cNvPr id="28" name="TKL28"/>
          <p:cNvSpPr/>
          <p:nvPr/>
        </p:nvSpPr>
        <p:spPr>
          <a:xfrm>
            <a:off x="8024582" y="2487168"/>
            <a:ext cx="0" cy="54864"/>
          </a:xfrm>
          <a:prstGeom prst="line">
            <a:avLst/>
          </a:prstGeom>
          <a:ln w="12700">
            <a:solidFill>
              <a:srgbClr val="DCE0E8"/>
            </a:solidFill>
          </a:ln>
        </p:spPr>
        <p:txBody>
          <a:bodyPr/>
          <a:lstStyle/>
          <a:p>
            <a:endParaRPr lang="ko-KR"/>
          </a:p>
        </p:txBody>
      </p:sp>
      <p:sp>
        <p:nvSpPr>
          <p:cNvPr id="29" name="TK29"/>
          <p:cNvSpPr/>
          <p:nvPr/>
        </p:nvSpPr>
        <p:spPr>
          <a:xfrm>
            <a:off x="8240669" y="2295144"/>
            <a:ext cx="548640" cy="182880"/>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464D5C"/>
                </a:solidFill>
                <a:latin typeface="Pretendard" pitchFamily="34" charset="0"/>
                <a:ea typeface="Pretendard" pitchFamily="34" charset="-122"/>
                <a:cs typeface="Pretendard" pitchFamily="34" charset="-120"/>
              </a:rPr>
              <a:t>13</a:t>
            </a:r>
          </a:p>
        </p:txBody>
      </p:sp>
      <p:sp>
        <p:nvSpPr>
          <p:cNvPr id="30" name="TKL30"/>
          <p:cNvSpPr/>
          <p:nvPr/>
        </p:nvSpPr>
        <p:spPr>
          <a:xfrm>
            <a:off x="8514989" y="2487168"/>
            <a:ext cx="0" cy="54864"/>
          </a:xfrm>
          <a:prstGeom prst="line">
            <a:avLst/>
          </a:prstGeom>
          <a:ln w="12700">
            <a:solidFill>
              <a:srgbClr val="DCE0E8"/>
            </a:solidFill>
          </a:ln>
        </p:spPr>
        <p:txBody>
          <a:bodyPr/>
          <a:lstStyle/>
          <a:p>
            <a:endParaRPr lang="ko-KR"/>
          </a:p>
        </p:txBody>
      </p:sp>
      <p:sp>
        <p:nvSpPr>
          <p:cNvPr id="31" name="TK31"/>
          <p:cNvSpPr/>
          <p:nvPr/>
        </p:nvSpPr>
        <p:spPr>
          <a:xfrm>
            <a:off x="8731076" y="2295144"/>
            <a:ext cx="548640" cy="182880"/>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464D5C"/>
                </a:solidFill>
                <a:latin typeface="Pretendard" pitchFamily="34" charset="0"/>
                <a:ea typeface="Pretendard" pitchFamily="34" charset="-122"/>
                <a:cs typeface="Pretendard" pitchFamily="34" charset="-120"/>
              </a:rPr>
              <a:t>14</a:t>
            </a:r>
          </a:p>
        </p:txBody>
      </p:sp>
      <p:sp>
        <p:nvSpPr>
          <p:cNvPr id="32" name="TKL32"/>
          <p:cNvSpPr/>
          <p:nvPr/>
        </p:nvSpPr>
        <p:spPr>
          <a:xfrm>
            <a:off x="9005396" y="2487168"/>
            <a:ext cx="0" cy="54864"/>
          </a:xfrm>
          <a:prstGeom prst="line">
            <a:avLst/>
          </a:prstGeom>
          <a:ln w="12700">
            <a:solidFill>
              <a:srgbClr val="DCE0E8"/>
            </a:solidFill>
          </a:ln>
        </p:spPr>
        <p:txBody>
          <a:bodyPr/>
          <a:lstStyle/>
          <a:p>
            <a:endParaRPr lang="ko-KR"/>
          </a:p>
        </p:txBody>
      </p:sp>
      <p:sp>
        <p:nvSpPr>
          <p:cNvPr id="33" name="TK33"/>
          <p:cNvSpPr/>
          <p:nvPr/>
        </p:nvSpPr>
        <p:spPr>
          <a:xfrm>
            <a:off x="10692705" y="2295144"/>
            <a:ext cx="548640" cy="182880"/>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464D5C"/>
                </a:solidFill>
                <a:latin typeface="Pretendard" pitchFamily="34" charset="0"/>
                <a:ea typeface="Pretendard" pitchFamily="34" charset="-122"/>
                <a:cs typeface="Pretendard" pitchFamily="34" charset="-120"/>
              </a:rPr>
              <a:t>18</a:t>
            </a:r>
          </a:p>
        </p:txBody>
      </p:sp>
      <p:sp>
        <p:nvSpPr>
          <p:cNvPr id="34" name="TKL34"/>
          <p:cNvSpPr/>
          <p:nvPr/>
        </p:nvSpPr>
        <p:spPr>
          <a:xfrm>
            <a:off x="10967025" y="2487168"/>
            <a:ext cx="0" cy="54864"/>
          </a:xfrm>
          <a:prstGeom prst="line">
            <a:avLst/>
          </a:prstGeom>
          <a:ln w="12700">
            <a:solidFill>
              <a:srgbClr val="DCE0E8"/>
            </a:solidFill>
          </a:ln>
        </p:spPr>
        <p:txBody>
          <a:bodyPr/>
          <a:lstStyle/>
          <a:p>
            <a:endParaRPr lang="ko-KR"/>
          </a:p>
        </p:txBody>
      </p:sp>
      <p:sp>
        <p:nvSpPr>
          <p:cNvPr id="35" name="TK35"/>
          <p:cNvSpPr/>
          <p:nvPr/>
        </p:nvSpPr>
        <p:spPr>
          <a:xfrm>
            <a:off x="11183112" y="2295144"/>
            <a:ext cx="548640" cy="182880"/>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464D5C"/>
                </a:solidFill>
                <a:latin typeface="Pretendard" pitchFamily="34" charset="0"/>
                <a:ea typeface="Pretendard" pitchFamily="34" charset="-122"/>
                <a:cs typeface="Pretendard" pitchFamily="34" charset="-120"/>
              </a:rPr>
              <a:t>19세</a:t>
            </a:r>
          </a:p>
        </p:txBody>
      </p:sp>
      <p:sp>
        <p:nvSpPr>
          <p:cNvPr id="36" name="TKL36"/>
          <p:cNvSpPr/>
          <p:nvPr/>
        </p:nvSpPr>
        <p:spPr>
          <a:xfrm>
            <a:off x="11457432" y="2487168"/>
            <a:ext cx="0" cy="54864"/>
          </a:xfrm>
          <a:prstGeom prst="line">
            <a:avLst/>
          </a:prstGeom>
          <a:ln w="12700">
            <a:solidFill>
              <a:srgbClr val="DCE0E8"/>
            </a:solidFill>
          </a:ln>
        </p:spPr>
        <p:txBody>
          <a:bodyPr/>
          <a:lstStyle/>
          <a:p>
            <a:endParaRPr lang="ko-KR"/>
          </a:p>
        </p:txBody>
      </p:sp>
      <p:sp>
        <p:nvSpPr>
          <p:cNvPr id="37" name="AXIS"/>
          <p:cNvSpPr/>
          <p:nvPr/>
        </p:nvSpPr>
        <p:spPr>
          <a:xfrm>
            <a:off x="2139696" y="2514600"/>
            <a:ext cx="9317736" cy="0"/>
          </a:xfrm>
          <a:prstGeom prst="line">
            <a:avLst/>
          </a:prstGeom>
          <a:ln w="12700">
            <a:solidFill>
              <a:srgbClr val="DCE0E8"/>
            </a:solidFill>
          </a:ln>
        </p:spPr>
        <p:txBody>
          <a:bodyPr/>
          <a:lstStyle/>
          <a:p>
            <a:endParaRPr lang="ko-KR"/>
          </a:p>
        </p:txBody>
      </p:sp>
      <p:sp>
        <p:nvSpPr>
          <p:cNvPr id="38" name="NM38"/>
          <p:cNvSpPr/>
          <p:nvPr/>
        </p:nvSpPr>
        <p:spPr>
          <a:xfrm>
            <a:off x="731520" y="2587752"/>
            <a:ext cx="1261872" cy="256032"/>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한국</a:t>
            </a:r>
          </a:p>
        </p:txBody>
      </p:sp>
      <p:sp>
        <p:nvSpPr>
          <p:cNvPr id="39" name="BAR39"/>
          <p:cNvSpPr/>
          <p:nvPr/>
        </p:nvSpPr>
        <p:spPr>
          <a:xfrm>
            <a:off x="2139696" y="2606040"/>
            <a:ext cx="6865700" cy="219456"/>
          </a:xfrm>
          <a:prstGeom prst="rect">
            <a:avLst/>
          </a:prstGeom>
          <a:solidFill>
            <a:srgbClr val="C2A648"/>
          </a:solidFill>
          <a:ln/>
        </p:spPr>
        <p:txBody>
          <a:bodyPr/>
          <a:lstStyle/>
          <a:p>
            <a:endParaRPr lang="ko-KR" altLang="en-US"/>
          </a:p>
        </p:txBody>
      </p:sp>
      <p:sp>
        <p:nvSpPr>
          <p:cNvPr id="40" name="BL40"/>
          <p:cNvSpPr/>
          <p:nvPr/>
        </p:nvSpPr>
        <p:spPr>
          <a:xfrm>
            <a:off x="2139696" y="2587752"/>
            <a:ext cx="6865700"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형사미성년자</a:t>
            </a:r>
          </a:p>
        </p:txBody>
      </p:sp>
      <p:sp>
        <p:nvSpPr>
          <p:cNvPr id="41" name="BAR41"/>
          <p:cNvSpPr/>
          <p:nvPr/>
        </p:nvSpPr>
        <p:spPr>
          <a:xfrm>
            <a:off x="9005396" y="2606040"/>
            <a:ext cx="2452036" cy="219456"/>
          </a:xfrm>
          <a:prstGeom prst="rect">
            <a:avLst/>
          </a:prstGeom>
          <a:solidFill>
            <a:srgbClr val="1E2761"/>
          </a:solidFill>
          <a:ln/>
        </p:spPr>
        <p:txBody>
          <a:bodyPr/>
          <a:lstStyle/>
          <a:p>
            <a:endParaRPr lang="ko-KR" altLang="en-US"/>
          </a:p>
        </p:txBody>
      </p:sp>
      <p:sp>
        <p:nvSpPr>
          <p:cNvPr id="42" name="BL42"/>
          <p:cNvSpPr/>
          <p:nvPr/>
        </p:nvSpPr>
        <p:spPr>
          <a:xfrm>
            <a:off x="9005396" y="2587752"/>
            <a:ext cx="2452036"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형사책임 가능</a:t>
            </a:r>
          </a:p>
        </p:txBody>
      </p:sp>
      <p:sp>
        <p:nvSpPr>
          <p:cNvPr id="43" name="BAR43"/>
          <p:cNvSpPr/>
          <p:nvPr/>
        </p:nvSpPr>
        <p:spPr>
          <a:xfrm>
            <a:off x="7043768" y="2852928"/>
            <a:ext cx="1961629" cy="137160"/>
          </a:xfrm>
          <a:prstGeom prst="rect">
            <a:avLst/>
          </a:prstGeom>
          <a:solidFill>
            <a:srgbClr val="5A6699"/>
          </a:solidFill>
          <a:ln/>
        </p:spPr>
        <p:txBody>
          <a:bodyPr/>
          <a:lstStyle/>
          <a:p>
            <a:endParaRPr lang="ko-KR" altLang="en-US"/>
          </a:p>
        </p:txBody>
      </p:sp>
      <p:sp>
        <p:nvSpPr>
          <p:cNvPr id="44" name="BL44"/>
          <p:cNvSpPr/>
          <p:nvPr/>
        </p:nvSpPr>
        <p:spPr>
          <a:xfrm>
            <a:off x="7043768" y="2834640"/>
            <a:ext cx="1961629" cy="173736"/>
          </a:xfrm>
          <a:prstGeom prst="rect">
            <a:avLst/>
          </a:prstGeom>
          <a:noFill/>
          <a:ln/>
        </p:spPr>
        <p:txBody>
          <a:bodyPr wrap="square" lIns="0" tIns="0" rIns="0" bIns="0" rtlCol="0" anchor="ctr"/>
          <a:lstStyle/>
          <a:p>
            <a:pPr algn="ctr">
              <a:lnSpc>
                <a:spcPct val="118000"/>
              </a:lnSpc>
            </a:pPr>
            <a:r>
              <a:rPr lang="ko-KR" altLang="en-US" sz="1050" dirty="0" err="1">
                <a:solidFill>
                  <a:srgbClr val="FFFFFF"/>
                </a:solidFill>
                <a:latin typeface="Pretendard" pitchFamily="34" charset="0"/>
                <a:ea typeface="Pretendard" pitchFamily="34" charset="-122"/>
                <a:cs typeface="Pretendard" pitchFamily="34" charset="-120"/>
              </a:rPr>
              <a:t>촉법소년</a:t>
            </a:r>
            <a:r>
              <a:rPr lang="ko-KR" altLang="en-US" sz="1050" dirty="0">
                <a:solidFill>
                  <a:srgbClr val="FFFFFF"/>
                </a:solidFill>
                <a:latin typeface="Pretendard" pitchFamily="34" charset="0"/>
                <a:ea typeface="Pretendard" pitchFamily="34" charset="-122"/>
                <a:cs typeface="Pretendard" pitchFamily="34" charset="-120"/>
              </a:rPr>
              <a:t> </a:t>
            </a:r>
            <a:r>
              <a:rPr lang="en-US" altLang="ko-KR" sz="1050" dirty="0">
                <a:solidFill>
                  <a:srgbClr val="FFFFFF"/>
                </a:solidFill>
                <a:latin typeface="Pretendard" pitchFamily="34" charset="0"/>
                <a:ea typeface="Pretendard" pitchFamily="34" charset="-122"/>
                <a:cs typeface="Pretendard" pitchFamily="34" charset="-120"/>
              </a:rPr>
              <a:t>/ </a:t>
            </a:r>
            <a:r>
              <a:rPr lang="ko-KR" altLang="en-US" sz="1050" dirty="0" err="1">
                <a:solidFill>
                  <a:srgbClr val="FFFFFF"/>
                </a:solidFill>
                <a:latin typeface="Pretendard" pitchFamily="34" charset="0"/>
                <a:ea typeface="Pretendard" pitchFamily="34" charset="-122"/>
                <a:cs typeface="Pretendard" pitchFamily="34" charset="-120"/>
              </a:rPr>
              <a:t>소년보호사건·보호처분</a:t>
            </a:r>
            <a:endParaRPr lang="ko-KR" altLang="en-US" sz="1050" dirty="0">
              <a:solidFill>
                <a:srgbClr val="FFFFFF"/>
              </a:solidFill>
              <a:latin typeface="Pretendard" pitchFamily="34" charset="0"/>
              <a:ea typeface="Pretendard" pitchFamily="34" charset="-122"/>
              <a:cs typeface="Pretendard" pitchFamily="34" charset="-120"/>
            </a:endParaRPr>
          </a:p>
        </p:txBody>
      </p:sp>
      <p:sp>
        <p:nvSpPr>
          <p:cNvPr id="46" name="NT46"/>
          <p:cNvSpPr/>
          <p:nvPr/>
        </p:nvSpPr>
        <p:spPr>
          <a:xfrm>
            <a:off x="2414016" y="2830068"/>
            <a:ext cx="2159428" cy="182880"/>
          </a:xfrm>
          <a:prstGeom prst="rect">
            <a:avLst/>
          </a:prstGeom>
          <a:noFill/>
          <a:ln/>
        </p:spPr>
        <p:txBody>
          <a:bodyPr wrap="square" lIns="0" tIns="0" rIns="0" bIns="0" rtlCol="0" anchor="ctr"/>
          <a:lstStyle/>
          <a:p>
            <a:pPr marL="0" indent="0">
              <a:lnSpc>
                <a:spcPct val="118000"/>
              </a:lnSpc>
              <a:buNone/>
            </a:pPr>
            <a:endParaRPr lang="ko-KR" altLang="en-US" sz="1050" dirty="0">
              <a:solidFill>
                <a:srgbClr val="464D5C"/>
              </a:solidFill>
              <a:latin typeface="Pretendard" pitchFamily="34" charset="0"/>
              <a:ea typeface="Pretendard" pitchFamily="34" charset="-122"/>
              <a:cs typeface="Pretendard" pitchFamily="34" charset="-120"/>
            </a:endParaRPr>
          </a:p>
        </p:txBody>
      </p:sp>
      <p:sp>
        <p:nvSpPr>
          <p:cNvPr id="47" name="MK47"/>
          <p:cNvSpPr/>
          <p:nvPr/>
        </p:nvSpPr>
        <p:spPr>
          <a:xfrm>
            <a:off x="8514989" y="2560320"/>
            <a:ext cx="0" cy="429768"/>
          </a:xfrm>
          <a:prstGeom prst="line">
            <a:avLst/>
          </a:prstGeom>
          <a:ln w="19050">
            <a:solidFill>
              <a:srgbClr val="C0392B"/>
            </a:solidFill>
            <a:prstDash val="dash"/>
          </a:ln>
        </p:spPr>
        <p:txBody>
          <a:bodyPr/>
          <a:lstStyle/>
          <a:p>
            <a:endParaRPr lang="ko-KR"/>
          </a:p>
        </p:txBody>
      </p:sp>
      <p:sp>
        <p:nvSpPr>
          <p:cNvPr id="48" name="MK48"/>
          <p:cNvSpPr/>
          <p:nvPr/>
        </p:nvSpPr>
        <p:spPr>
          <a:xfrm>
            <a:off x="9005396" y="2560320"/>
            <a:ext cx="0" cy="310896"/>
          </a:xfrm>
          <a:prstGeom prst="line">
            <a:avLst/>
          </a:prstGeom>
          <a:ln w="25400">
            <a:solidFill>
              <a:srgbClr val="1E2761"/>
            </a:solidFill>
          </a:ln>
        </p:spPr>
        <p:txBody>
          <a:bodyPr/>
          <a:lstStyle/>
          <a:p>
            <a:endParaRPr lang="ko-KR"/>
          </a:p>
        </p:txBody>
      </p:sp>
      <p:sp>
        <p:nvSpPr>
          <p:cNvPr id="49" name="RS49"/>
          <p:cNvSpPr/>
          <p:nvPr/>
        </p:nvSpPr>
        <p:spPr>
          <a:xfrm>
            <a:off x="731520" y="3027426"/>
            <a:ext cx="10725912" cy="0"/>
          </a:xfrm>
          <a:prstGeom prst="line">
            <a:avLst/>
          </a:prstGeom>
          <a:ln w="9525">
            <a:solidFill>
              <a:srgbClr val="DCE0E8"/>
            </a:solidFill>
          </a:ln>
        </p:spPr>
        <p:txBody>
          <a:bodyPr/>
          <a:lstStyle/>
          <a:p>
            <a:endParaRPr lang="ko-KR"/>
          </a:p>
        </p:txBody>
      </p:sp>
      <p:sp>
        <p:nvSpPr>
          <p:cNvPr id="50" name="NM50"/>
          <p:cNvSpPr/>
          <p:nvPr/>
        </p:nvSpPr>
        <p:spPr>
          <a:xfrm>
            <a:off x="731520" y="3046476"/>
            <a:ext cx="1261872" cy="256032"/>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중국</a:t>
            </a:r>
          </a:p>
        </p:txBody>
      </p:sp>
      <p:sp>
        <p:nvSpPr>
          <p:cNvPr id="51" name="BAR51"/>
          <p:cNvSpPr/>
          <p:nvPr/>
        </p:nvSpPr>
        <p:spPr>
          <a:xfrm>
            <a:off x="2139696" y="3064764"/>
            <a:ext cx="5884886" cy="219456"/>
          </a:xfrm>
          <a:prstGeom prst="rect">
            <a:avLst/>
          </a:prstGeom>
          <a:solidFill>
            <a:srgbClr val="C2A648"/>
          </a:solidFill>
          <a:ln/>
        </p:spPr>
        <p:txBody>
          <a:bodyPr/>
          <a:lstStyle/>
          <a:p>
            <a:endParaRPr lang="ko-KR" altLang="en-US"/>
          </a:p>
        </p:txBody>
      </p:sp>
      <p:sp>
        <p:nvSpPr>
          <p:cNvPr id="52" name="BL52"/>
          <p:cNvSpPr/>
          <p:nvPr/>
        </p:nvSpPr>
        <p:spPr>
          <a:xfrm>
            <a:off x="2139696" y="3046476"/>
            <a:ext cx="5884886"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형사책임 없음</a:t>
            </a:r>
          </a:p>
        </p:txBody>
      </p:sp>
      <p:sp>
        <p:nvSpPr>
          <p:cNvPr id="53" name="BAR53"/>
          <p:cNvSpPr/>
          <p:nvPr/>
        </p:nvSpPr>
        <p:spPr>
          <a:xfrm>
            <a:off x="9986211" y="3064764"/>
            <a:ext cx="1471221" cy="219456"/>
          </a:xfrm>
          <a:prstGeom prst="rect">
            <a:avLst/>
          </a:prstGeom>
          <a:solidFill>
            <a:srgbClr val="1E2761"/>
          </a:solidFill>
          <a:ln/>
        </p:spPr>
        <p:txBody>
          <a:bodyPr/>
          <a:lstStyle/>
          <a:p>
            <a:endParaRPr lang="ko-KR" altLang="en-US"/>
          </a:p>
        </p:txBody>
      </p:sp>
      <p:sp>
        <p:nvSpPr>
          <p:cNvPr id="54" name="BL54"/>
          <p:cNvSpPr/>
          <p:nvPr/>
        </p:nvSpPr>
        <p:spPr>
          <a:xfrm>
            <a:off x="9986211" y="3046476"/>
            <a:ext cx="1471221"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일반 형사책임</a:t>
            </a:r>
          </a:p>
        </p:txBody>
      </p:sp>
      <p:sp>
        <p:nvSpPr>
          <p:cNvPr id="55" name="BAR55"/>
          <p:cNvSpPr/>
          <p:nvPr/>
        </p:nvSpPr>
        <p:spPr>
          <a:xfrm>
            <a:off x="8024582" y="3064794"/>
            <a:ext cx="980814" cy="219456"/>
          </a:xfrm>
          <a:prstGeom prst="rect">
            <a:avLst/>
          </a:prstGeom>
          <a:solidFill>
            <a:srgbClr val="5A6699"/>
          </a:solidFill>
          <a:ln/>
        </p:spPr>
        <p:txBody>
          <a:bodyPr/>
          <a:lstStyle/>
          <a:p>
            <a:endParaRPr lang="ko-KR" altLang="en-US"/>
          </a:p>
        </p:txBody>
      </p:sp>
      <p:sp>
        <p:nvSpPr>
          <p:cNvPr id="56" name="BL56"/>
          <p:cNvSpPr/>
          <p:nvPr/>
        </p:nvSpPr>
        <p:spPr>
          <a:xfrm>
            <a:off x="8024582" y="3046506"/>
            <a:ext cx="980814" cy="256032"/>
          </a:xfrm>
          <a:prstGeom prst="rect">
            <a:avLst/>
          </a:prstGeom>
          <a:noFill/>
          <a:ln/>
        </p:spPr>
        <p:txBody>
          <a:bodyPr wrap="square" lIns="0" tIns="0" rIns="0" bIns="0" rtlCol="0" anchor="ctr"/>
          <a:lstStyle/>
          <a:p>
            <a:pPr marL="0" indent="0" algn="ctr">
              <a:lnSpc>
                <a:spcPct val="118000"/>
              </a:lnSpc>
              <a:buNone/>
            </a:pPr>
            <a:r>
              <a:rPr lang="ko-KR" altLang="en-US" sz="1050" dirty="0">
                <a:solidFill>
                  <a:srgbClr val="FFFFFF"/>
                </a:solidFill>
                <a:latin typeface="Pretendard" pitchFamily="34" charset="0"/>
                <a:ea typeface="Pretendard" pitchFamily="34" charset="-122"/>
                <a:cs typeface="Pretendard" pitchFamily="34" charset="-120"/>
              </a:rPr>
              <a:t>특례 책임</a:t>
            </a:r>
          </a:p>
        </p:txBody>
      </p:sp>
      <p:sp>
        <p:nvSpPr>
          <p:cNvPr id="57" name="BAR57"/>
          <p:cNvSpPr/>
          <p:nvPr/>
        </p:nvSpPr>
        <p:spPr>
          <a:xfrm>
            <a:off x="9005396" y="3064794"/>
            <a:ext cx="980814" cy="219456"/>
          </a:xfrm>
          <a:prstGeom prst="rect">
            <a:avLst/>
          </a:prstGeom>
          <a:solidFill>
            <a:srgbClr val="5A6699"/>
          </a:solidFill>
          <a:ln/>
        </p:spPr>
        <p:txBody>
          <a:bodyPr/>
          <a:lstStyle/>
          <a:p>
            <a:endParaRPr lang="ko-KR" altLang="en-US"/>
          </a:p>
        </p:txBody>
      </p:sp>
      <p:sp>
        <p:nvSpPr>
          <p:cNvPr id="58" name="BL58"/>
          <p:cNvSpPr/>
          <p:nvPr/>
        </p:nvSpPr>
        <p:spPr>
          <a:xfrm>
            <a:off x="9005396" y="3046506"/>
            <a:ext cx="980814" cy="256032"/>
          </a:xfrm>
          <a:prstGeom prst="rect">
            <a:avLst/>
          </a:prstGeom>
          <a:noFill/>
          <a:ln/>
        </p:spPr>
        <p:txBody>
          <a:bodyPr wrap="square" lIns="0" tIns="0" rIns="0" bIns="0" rtlCol="0" anchor="ctr"/>
          <a:lstStyle/>
          <a:p>
            <a:pPr marL="0" indent="0" algn="ctr">
              <a:lnSpc>
                <a:spcPct val="118000"/>
              </a:lnSpc>
              <a:buNone/>
            </a:pPr>
            <a:r>
              <a:rPr lang="ko-KR" altLang="en-US" sz="1050" dirty="0">
                <a:solidFill>
                  <a:srgbClr val="FFFFFF"/>
                </a:solidFill>
                <a:latin typeface="Pretendard" pitchFamily="34" charset="0"/>
                <a:ea typeface="Pretendard" pitchFamily="34" charset="-122"/>
                <a:cs typeface="Pretendard" pitchFamily="34" charset="-120"/>
              </a:rPr>
              <a:t>열거범죄 책임</a:t>
            </a:r>
          </a:p>
        </p:txBody>
      </p:sp>
      <p:sp>
        <p:nvSpPr>
          <p:cNvPr id="61" name="RS61"/>
          <p:cNvSpPr/>
          <p:nvPr/>
        </p:nvSpPr>
        <p:spPr>
          <a:xfrm>
            <a:off x="731520" y="3486150"/>
            <a:ext cx="10725912" cy="0"/>
          </a:xfrm>
          <a:prstGeom prst="line">
            <a:avLst/>
          </a:prstGeom>
          <a:ln w="9525">
            <a:solidFill>
              <a:srgbClr val="DCE0E8"/>
            </a:solidFill>
          </a:ln>
        </p:spPr>
        <p:txBody>
          <a:bodyPr/>
          <a:lstStyle/>
          <a:p>
            <a:endParaRPr lang="ko-KR"/>
          </a:p>
        </p:txBody>
      </p:sp>
      <p:sp>
        <p:nvSpPr>
          <p:cNvPr id="62" name="NM62"/>
          <p:cNvSpPr/>
          <p:nvPr/>
        </p:nvSpPr>
        <p:spPr>
          <a:xfrm>
            <a:off x="731520" y="3505200"/>
            <a:ext cx="1261872" cy="256032"/>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독일</a:t>
            </a:r>
          </a:p>
        </p:txBody>
      </p:sp>
      <p:sp>
        <p:nvSpPr>
          <p:cNvPr id="63" name="BAR63"/>
          <p:cNvSpPr/>
          <p:nvPr/>
        </p:nvSpPr>
        <p:spPr>
          <a:xfrm>
            <a:off x="2139696" y="3523488"/>
            <a:ext cx="6865700" cy="219456"/>
          </a:xfrm>
          <a:prstGeom prst="rect">
            <a:avLst/>
          </a:prstGeom>
          <a:solidFill>
            <a:srgbClr val="C2A648"/>
          </a:solidFill>
          <a:ln/>
        </p:spPr>
        <p:txBody>
          <a:bodyPr/>
          <a:lstStyle/>
          <a:p>
            <a:endParaRPr lang="ko-KR" altLang="en-US"/>
          </a:p>
        </p:txBody>
      </p:sp>
      <p:sp>
        <p:nvSpPr>
          <p:cNvPr id="64" name="BL64"/>
          <p:cNvSpPr/>
          <p:nvPr/>
        </p:nvSpPr>
        <p:spPr>
          <a:xfrm>
            <a:off x="2139696" y="3505200"/>
            <a:ext cx="6865700"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형사책임 없음</a:t>
            </a:r>
          </a:p>
        </p:txBody>
      </p:sp>
      <p:sp>
        <p:nvSpPr>
          <p:cNvPr id="65" name="BAR65"/>
          <p:cNvSpPr/>
          <p:nvPr/>
        </p:nvSpPr>
        <p:spPr>
          <a:xfrm>
            <a:off x="9005396" y="3523488"/>
            <a:ext cx="2452036" cy="219456"/>
          </a:xfrm>
          <a:prstGeom prst="rect">
            <a:avLst/>
          </a:prstGeom>
          <a:solidFill>
            <a:srgbClr val="1E2761"/>
          </a:solidFill>
          <a:ln/>
        </p:spPr>
        <p:txBody>
          <a:bodyPr/>
          <a:lstStyle/>
          <a:p>
            <a:endParaRPr lang="ko-KR" altLang="en-US"/>
          </a:p>
        </p:txBody>
      </p:sp>
      <p:sp>
        <p:nvSpPr>
          <p:cNvPr id="66" name="BL66"/>
          <p:cNvSpPr/>
          <p:nvPr/>
        </p:nvSpPr>
        <p:spPr>
          <a:xfrm>
            <a:off x="9005396" y="3505200"/>
            <a:ext cx="2452036"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형사책임 가능</a:t>
            </a:r>
          </a:p>
        </p:txBody>
      </p:sp>
      <p:sp>
        <p:nvSpPr>
          <p:cNvPr id="67" name="BAR67"/>
          <p:cNvSpPr/>
          <p:nvPr/>
        </p:nvSpPr>
        <p:spPr>
          <a:xfrm>
            <a:off x="9005396" y="3770376"/>
            <a:ext cx="1961629" cy="137160"/>
          </a:xfrm>
          <a:prstGeom prst="rect">
            <a:avLst/>
          </a:prstGeom>
          <a:solidFill>
            <a:srgbClr val="5A6699"/>
          </a:solidFill>
          <a:ln/>
        </p:spPr>
        <p:txBody>
          <a:bodyPr/>
          <a:lstStyle/>
          <a:p>
            <a:endParaRPr lang="ko-KR" altLang="en-US"/>
          </a:p>
        </p:txBody>
      </p:sp>
      <p:sp>
        <p:nvSpPr>
          <p:cNvPr id="68" name="BL68"/>
          <p:cNvSpPr/>
          <p:nvPr/>
        </p:nvSpPr>
        <p:spPr>
          <a:xfrm>
            <a:off x="9005396" y="3752088"/>
            <a:ext cx="1961629" cy="173736"/>
          </a:xfrm>
          <a:prstGeom prst="rect">
            <a:avLst/>
          </a:prstGeom>
          <a:noFill/>
          <a:ln/>
        </p:spPr>
        <p:txBody>
          <a:bodyPr wrap="square" lIns="0" tIns="0" rIns="0" bIns="0" rtlCol="0" anchor="ctr"/>
          <a:lstStyle/>
          <a:p>
            <a:pPr marL="0" indent="0" algn="ctr">
              <a:lnSpc>
                <a:spcPct val="118000"/>
              </a:lnSpc>
              <a:buNone/>
            </a:pPr>
            <a:r>
              <a:rPr lang="ko-KR" altLang="en-US" sz="1050" dirty="0">
                <a:solidFill>
                  <a:srgbClr val="FFFFFF"/>
                </a:solidFill>
                <a:latin typeface="Pretendard" pitchFamily="34" charset="0"/>
                <a:ea typeface="Pretendard" pitchFamily="34" charset="-122"/>
                <a:cs typeface="Pretendard" pitchFamily="34" charset="-120"/>
              </a:rPr>
              <a:t>성숙성 판단</a:t>
            </a:r>
          </a:p>
        </p:txBody>
      </p:sp>
      <p:sp>
        <p:nvSpPr>
          <p:cNvPr id="69" name="RS69"/>
          <p:cNvSpPr/>
          <p:nvPr/>
        </p:nvSpPr>
        <p:spPr>
          <a:xfrm>
            <a:off x="731520" y="3944874"/>
            <a:ext cx="10725912" cy="0"/>
          </a:xfrm>
          <a:prstGeom prst="line">
            <a:avLst/>
          </a:prstGeom>
          <a:ln w="9525">
            <a:solidFill>
              <a:srgbClr val="DCE0E8"/>
            </a:solidFill>
          </a:ln>
        </p:spPr>
        <p:txBody>
          <a:bodyPr/>
          <a:lstStyle/>
          <a:p>
            <a:endParaRPr lang="ko-KR"/>
          </a:p>
        </p:txBody>
      </p:sp>
      <p:sp>
        <p:nvSpPr>
          <p:cNvPr id="70" name="NM70"/>
          <p:cNvSpPr/>
          <p:nvPr/>
        </p:nvSpPr>
        <p:spPr>
          <a:xfrm>
            <a:off x="731520" y="3963924"/>
            <a:ext cx="1261872" cy="256032"/>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일본</a:t>
            </a:r>
          </a:p>
        </p:txBody>
      </p:sp>
      <p:sp>
        <p:nvSpPr>
          <p:cNvPr id="71" name="BAR71"/>
          <p:cNvSpPr/>
          <p:nvPr/>
        </p:nvSpPr>
        <p:spPr>
          <a:xfrm>
            <a:off x="2139696" y="3982212"/>
            <a:ext cx="6865700" cy="219456"/>
          </a:xfrm>
          <a:prstGeom prst="rect">
            <a:avLst/>
          </a:prstGeom>
          <a:solidFill>
            <a:srgbClr val="C2A648"/>
          </a:solidFill>
          <a:ln/>
        </p:spPr>
        <p:txBody>
          <a:bodyPr/>
          <a:lstStyle/>
          <a:p>
            <a:endParaRPr lang="ko-KR" altLang="en-US"/>
          </a:p>
        </p:txBody>
      </p:sp>
      <p:sp>
        <p:nvSpPr>
          <p:cNvPr id="72" name="BL72"/>
          <p:cNvSpPr/>
          <p:nvPr/>
        </p:nvSpPr>
        <p:spPr>
          <a:xfrm>
            <a:off x="2139696" y="3963924"/>
            <a:ext cx="6865700"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형사처벌 안 함</a:t>
            </a:r>
          </a:p>
        </p:txBody>
      </p:sp>
      <p:sp>
        <p:nvSpPr>
          <p:cNvPr id="73" name="BAR73"/>
          <p:cNvSpPr/>
          <p:nvPr/>
        </p:nvSpPr>
        <p:spPr>
          <a:xfrm>
            <a:off x="9005396" y="3982212"/>
            <a:ext cx="2452036" cy="219456"/>
          </a:xfrm>
          <a:prstGeom prst="rect">
            <a:avLst/>
          </a:prstGeom>
          <a:solidFill>
            <a:srgbClr val="1E2761"/>
          </a:solidFill>
          <a:ln/>
        </p:spPr>
        <p:txBody>
          <a:bodyPr/>
          <a:lstStyle/>
          <a:p>
            <a:endParaRPr lang="ko-KR" altLang="en-US"/>
          </a:p>
        </p:txBody>
      </p:sp>
      <p:sp>
        <p:nvSpPr>
          <p:cNvPr id="74" name="BL74"/>
          <p:cNvSpPr/>
          <p:nvPr/>
        </p:nvSpPr>
        <p:spPr>
          <a:xfrm>
            <a:off x="9005396" y="3963924"/>
            <a:ext cx="2452036"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형사책임 가능</a:t>
            </a:r>
          </a:p>
        </p:txBody>
      </p:sp>
      <p:sp>
        <p:nvSpPr>
          <p:cNvPr id="75" name="BAR75"/>
          <p:cNvSpPr/>
          <p:nvPr/>
        </p:nvSpPr>
        <p:spPr>
          <a:xfrm>
            <a:off x="2139696" y="4229100"/>
            <a:ext cx="6865700" cy="137160"/>
          </a:xfrm>
          <a:prstGeom prst="rect">
            <a:avLst/>
          </a:prstGeom>
          <a:solidFill>
            <a:srgbClr val="5A6699"/>
          </a:solidFill>
          <a:ln/>
        </p:spPr>
        <p:txBody>
          <a:bodyPr/>
          <a:lstStyle/>
          <a:p>
            <a:endParaRPr lang="ko-KR" altLang="en-US"/>
          </a:p>
        </p:txBody>
      </p:sp>
      <p:sp>
        <p:nvSpPr>
          <p:cNvPr id="76" name="BL76"/>
          <p:cNvSpPr/>
          <p:nvPr/>
        </p:nvSpPr>
        <p:spPr>
          <a:xfrm>
            <a:off x="2139696" y="4210812"/>
            <a:ext cx="6865700" cy="173736"/>
          </a:xfrm>
          <a:prstGeom prst="rect">
            <a:avLst/>
          </a:prstGeom>
          <a:noFill/>
          <a:ln/>
        </p:spPr>
        <p:txBody>
          <a:bodyPr wrap="square" lIns="0" tIns="0" rIns="0" bIns="0" rtlCol="0" anchor="ctr"/>
          <a:lstStyle/>
          <a:p>
            <a:pPr marL="0" indent="0" algn="ctr">
              <a:lnSpc>
                <a:spcPct val="118000"/>
              </a:lnSpc>
              <a:buNone/>
            </a:pPr>
            <a:r>
              <a:rPr lang="ko-KR" altLang="en-US" sz="1050" dirty="0">
                <a:solidFill>
                  <a:srgbClr val="FFFFFF"/>
                </a:solidFill>
                <a:latin typeface="Pretendard" pitchFamily="34" charset="0"/>
                <a:ea typeface="Pretendard" pitchFamily="34" charset="-122"/>
                <a:cs typeface="Pretendard" pitchFamily="34" charset="-120"/>
              </a:rPr>
              <a:t>촉법소년 · 형벌 법령 저촉행위</a:t>
            </a:r>
          </a:p>
        </p:txBody>
      </p:sp>
      <p:sp>
        <p:nvSpPr>
          <p:cNvPr id="77" name="NC77"/>
          <p:cNvSpPr/>
          <p:nvPr/>
        </p:nvSpPr>
        <p:spPr>
          <a:xfrm>
            <a:off x="9096836" y="4229100"/>
            <a:ext cx="146304" cy="137160"/>
          </a:xfrm>
          <a:prstGeom prst="rect">
            <a:avLst/>
          </a:prstGeom>
          <a:solidFill>
            <a:srgbClr val="C9CEDA"/>
          </a:solidFill>
          <a:ln/>
        </p:spPr>
        <p:txBody>
          <a:bodyPr/>
          <a:lstStyle/>
          <a:p>
            <a:endParaRPr lang="ko-KR" altLang="en-US"/>
          </a:p>
        </p:txBody>
      </p:sp>
      <p:sp>
        <p:nvSpPr>
          <p:cNvPr id="78" name="NT78"/>
          <p:cNvSpPr/>
          <p:nvPr/>
        </p:nvSpPr>
        <p:spPr>
          <a:xfrm>
            <a:off x="9298004" y="4206240"/>
            <a:ext cx="2159428" cy="182880"/>
          </a:xfrm>
          <a:prstGeom prst="rect">
            <a:avLst/>
          </a:prstGeom>
          <a:noFill/>
          <a:ln/>
        </p:spPr>
        <p:txBody>
          <a:bodyPr wrap="square" lIns="0" tIns="0" rIns="0" bIns="0" rtlCol="0" anchor="ctr"/>
          <a:lstStyle/>
          <a:p>
            <a:pPr marL="0" indent="0">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가정재판소 보호처분</a:t>
            </a:r>
          </a:p>
        </p:txBody>
      </p:sp>
      <p:sp>
        <p:nvSpPr>
          <p:cNvPr id="79" name="RS79"/>
          <p:cNvSpPr/>
          <p:nvPr/>
        </p:nvSpPr>
        <p:spPr>
          <a:xfrm>
            <a:off x="731520" y="4403598"/>
            <a:ext cx="10725912" cy="0"/>
          </a:xfrm>
          <a:prstGeom prst="line">
            <a:avLst/>
          </a:prstGeom>
          <a:ln w="9525">
            <a:solidFill>
              <a:srgbClr val="DCE0E8"/>
            </a:solidFill>
          </a:ln>
        </p:spPr>
        <p:txBody>
          <a:bodyPr/>
          <a:lstStyle/>
          <a:p>
            <a:endParaRPr lang="ko-KR"/>
          </a:p>
        </p:txBody>
      </p:sp>
      <p:sp>
        <p:nvSpPr>
          <p:cNvPr id="80" name="NM80"/>
          <p:cNvSpPr/>
          <p:nvPr/>
        </p:nvSpPr>
        <p:spPr>
          <a:xfrm>
            <a:off x="731520" y="4422648"/>
            <a:ext cx="1261872" cy="256032"/>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아일랜드</a:t>
            </a:r>
          </a:p>
        </p:txBody>
      </p:sp>
      <p:sp>
        <p:nvSpPr>
          <p:cNvPr id="81" name="BAR81"/>
          <p:cNvSpPr/>
          <p:nvPr/>
        </p:nvSpPr>
        <p:spPr>
          <a:xfrm>
            <a:off x="2139696" y="4440936"/>
            <a:ext cx="4904072" cy="219456"/>
          </a:xfrm>
          <a:prstGeom prst="rect">
            <a:avLst/>
          </a:prstGeom>
          <a:solidFill>
            <a:srgbClr val="C2A648"/>
          </a:solidFill>
          <a:ln/>
        </p:spPr>
        <p:txBody>
          <a:bodyPr/>
          <a:lstStyle/>
          <a:p>
            <a:endParaRPr lang="ko-KR" altLang="en-US"/>
          </a:p>
        </p:txBody>
      </p:sp>
      <p:sp>
        <p:nvSpPr>
          <p:cNvPr id="82" name="BL82"/>
          <p:cNvSpPr/>
          <p:nvPr/>
        </p:nvSpPr>
        <p:spPr>
          <a:xfrm>
            <a:off x="2139696" y="4422648"/>
            <a:ext cx="4904072"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기소 불가</a:t>
            </a:r>
          </a:p>
        </p:txBody>
      </p:sp>
      <p:sp>
        <p:nvSpPr>
          <p:cNvPr id="83" name="BAR83"/>
          <p:cNvSpPr/>
          <p:nvPr/>
        </p:nvSpPr>
        <p:spPr>
          <a:xfrm>
            <a:off x="8024582" y="4440936"/>
            <a:ext cx="3432850" cy="219456"/>
          </a:xfrm>
          <a:prstGeom prst="rect">
            <a:avLst/>
          </a:prstGeom>
          <a:solidFill>
            <a:srgbClr val="1E2761"/>
          </a:solidFill>
          <a:ln/>
        </p:spPr>
        <p:txBody>
          <a:bodyPr/>
          <a:lstStyle/>
          <a:p>
            <a:endParaRPr lang="ko-KR" altLang="en-US"/>
          </a:p>
        </p:txBody>
      </p:sp>
      <p:sp>
        <p:nvSpPr>
          <p:cNvPr id="84" name="BL84"/>
          <p:cNvSpPr/>
          <p:nvPr/>
        </p:nvSpPr>
        <p:spPr>
          <a:xfrm>
            <a:off x="8024582" y="4422648"/>
            <a:ext cx="3432850"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기소 가능</a:t>
            </a:r>
          </a:p>
        </p:txBody>
      </p:sp>
      <p:sp>
        <p:nvSpPr>
          <p:cNvPr id="85" name="BAR85"/>
          <p:cNvSpPr/>
          <p:nvPr/>
        </p:nvSpPr>
        <p:spPr>
          <a:xfrm>
            <a:off x="7043768" y="4440966"/>
            <a:ext cx="980814" cy="219456"/>
          </a:xfrm>
          <a:prstGeom prst="rect">
            <a:avLst/>
          </a:prstGeom>
          <a:solidFill>
            <a:srgbClr val="5A6699"/>
          </a:solidFill>
          <a:ln/>
        </p:spPr>
        <p:txBody>
          <a:bodyPr/>
          <a:lstStyle/>
          <a:p>
            <a:endParaRPr lang="ko-KR" altLang="en-US"/>
          </a:p>
        </p:txBody>
      </p:sp>
      <p:sp>
        <p:nvSpPr>
          <p:cNvPr id="86" name="BL86"/>
          <p:cNvSpPr/>
          <p:nvPr/>
        </p:nvSpPr>
        <p:spPr>
          <a:xfrm>
            <a:off x="7043768" y="4422678"/>
            <a:ext cx="980814" cy="256032"/>
          </a:xfrm>
          <a:prstGeom prst="rect">
            <a:avLst/>
          </a:prstGeom>
          <a:noFill/>
          <a:ln/>
        </p:spPr>
        <p:txBody>
          <a:bodyPr wrap="square" lIns="0" tIns="0" rIns="0" bIns="0" rtlCol="0" anchor="ctr"/>
          <a:lstStyle/>
          <a:p>
            <a:pPr marL="0" indent="0" algn="ctr">
              <a:lnSpc>
                <a:spcPct val="118000"/>
              </a:lnSpc>
              <a:buNone/>
            </a:pPr>
            <a:r>
              <a:rPr lang="ko-KR" altLang="en-US" sz="1050" dirty="0">
                <a:solidFill>
                  <a:srgbClr val="FFFFFF"/>
                </a:solidFill>
                <a:latin typeface="Pretendard" pitchFamily="34" charset="0"/>
                <a:ea typeface="Pretendard" pitchFamily="34" charset="-122"/>
                <a:cs typeface="Pretendard" pitchFamily="34" charset="-120"/>
              </a:rPr>
              <a:t>중대범죄 예외</a:t>
            </a:r>
          </a:p>
        </p:txBody>
      </p:sp>
      <p:sp>
        <p:nvSpPr>
          <p:cNvPr id="87" name="BAR87"/>
          <p:cNvSpPr/>
          <p:nvPr/>
        </p:nvSpPr>
        <p:spPr>
          <a:xfrm>
            <a:off x="7043768" y="4687824"/>
            <a:ext cx="1961629" cy="137160"/>
          </a:xfrm>
          <a:prstGeom prst="rect">
            <a:avLst/>
          </a:prstGeom>
          <a:solidFill>
            <a:srgbClr val="5A6699"/>
          </a:solidFill>
          <a:ln/>
        </p:spPr>
        <p:txBody>
          <a:bodyPr/>
          <a:lstStyle/>
          <a:p>
            <a:endParaRPr lang="ko-KR" altLang="en-US"/>
          </a:p>
        </p:txBody>
      </p:sp>
      <p:sp>
        <p:nvSpPr>
          <p:cNvPr id="88" name="BL88"/>
          <p:cNvSpPr/>
          <p:nvPr/>
        </p:nvSpPr>
        <p:spPr>
          <a:xfrm>
            <a:off x="7043768" y="4669536"/>
            <a:ext cx="1961629" cy="173736"/>
          </a:xfrm>
          <a:prstGeom prst="rect">
            <a:avLst/>
          </a:prstGeom>
          <a:noFill/>
          <a:ln/>
        </p:spPr>
        <p:txBody>
          <a:bodyPr wrap="square" lIns="0" tIns="0" rIns="0" bIns="0" rtlCol="0" anchor="ctr"/>
          <a:lstStyle/>
          <a:p>
            <a:pPr marL="0" indent="0" algn="ctr">
              <a:lnSpc>
                <a:spcPct val="118000"/>
              </a:lnSpc>
              <a:buNone/>
            </a:pPr>
            <a:r>
              <a:rPr lang="ko-KR" altLang="en-US" sz="1050" dirty="0">
                <a:solidFill>
                  <a:srgbClr val="FFFFFF"/>
                </a:solidFill>
                <a:latin typeface="Pretendard" pitchFamily="34" charset="0"/>
                <a:ea typeface="Pretendard" pitchFamily="34" charset="-122"/>
                <a:cs typeface="Pretendard" pitchFamily="34" charset="-120"/>
              </a:rPr>
              <a:t>기소 사건: DPP 동의</a:t>
            </a:r>
          </a:p>
        </p:txBody>
      </p:sp>
      <p:sp>
        <p:nvSpPr>
          <p:cNvPr id="89" name="RS89"/>
          <p:cNvSpPr/>
          <p:nvPr/>
        </p:nvSpPr>
        <p:spPr>
          <a:xfrm>
            <a:off x="731520" y="4862322"/>
            <a:ext cx="10725912" cy="0"/>
          </a:xfrm>
          <a:prstGeom prst="line">
            <a:avLst/>
          </a:prstGeom>
          <a:ln w="9525">
            <a:solidFill>
              <a:srgbClr val="DCE0E8"/>
            </a:solidFill>
          </a:ln>
        </p:spPr>
        <p:txBody>
          <a:bodyPr/>
          <a:lstStyle/>
          <a:p>
            <a:endParaRPr lang="ko-KR"/>
          </a:p>
        </p:txBody>
      </p:sp>
      <p:sp>
        <p:nvSpPr>
          <p:cNvPr id="90" name="NM90"/>
          <p:cNvSpPr/>
          <p:nvPr/>
        </p:nvSpPr>
        <p:spPr>
          <a:xfrm>
            <a:off x="731520" y="4881372"/>
            <a:ext cx="1261872" cy="256032"/>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스코틀랜드</a:t>
            </a:r>
          </a:p>
        </p:txBody>
      </p:sp>
      <p:sp>
        <p:nvSpPr>
          <p:cNvPr id="91" name="BAR91"/>
          <p:cNvSpPr/>
          <p:nvPr/>
        </p:nvSpPr>
        <p:spPr>
          <a:xfrm>
            <a:off x="2139696" y="4899660"/>
            <a:ext cx="5884886" cy="219456"/>
          </a:xfrm>
          <a:prstGeom prst="rect">
            <a:avLst/>
          </a:prstGeom>
          <a:solidFill>
            <a:srgbClr val="C2A648"/>
          </a:solidFill>
          <a:ln/>
        </p:spPr>
        <p:txBody>
          <a:bodyPr/>
          <a:lstStyle/>
          <a:p>
            <a:endParaRPr lang="ko-KR" altLang="en-US"/>
          </a:p>
        </p:txBody>
      </p:sp>
      <p:sp>
        <p:nvSpPr>
          <p:cNvPr id="92" name="BL92"/>
          <p:cNvSpPr/>
          <p:nvPr/>
        </p:nvSpPr>
        <p:spPr>
          <a:xfrm>
            <a:off x="2139696" y="4881372"/>
            <a:ext cx="5884886"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형사책임 없음</a:t>
            </a:r>
          </a:p>
        </p:txBody>
      </p:sp>
      <p:sp>
        <p:nvSpPr>
          <p:cNvPr id="93" name="BAR93"/>
          <p:cNvSpPr/>
          <p:nvPr/>
        </p:nvSpPr>
        <p:spPr>
          <a:xfrm>
            <a:off x="8024582" y="4899660"/>
            <a:ext cx="3432850" cy="219456"/>
          </a:xfrm>
          <a:prstGeom prst="rect">
            <a:avLst/>
          </a:prstGeom>
          <a:solidFill>
            <a:srgbClr val="1E2761"/>
          </a:solidFill>
          <a:ln/>
        </p:spPr>
        <p:txBody>
          <a:bodyPr/>
          <a:lstStyle/>
          <a:p>
            <a:endParaRPr lang="ko-KR" altLang="en-US"/>
          </a:p>
        </p:txBody>
      </p:sp>
      <p:sp>
        <p:nvSpPr>
          <p:cNvPr id="94" name="BL94"/>
          <p:cNvSpPr/>
          <p:nvPr/>
        </p:nvSpPr>
        <p:spPr>
          <a:xfrm>
            <a:off x="8024582" y="4881372"/>
            <a:ext cx="3432850"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형사책임 가능</a:t>
            </a:r>
          </a:p>
        </p:txBody>
      </p:sp>
      <p:sp>
        <p:nvSpPr>
          <p:cNvPr id="95" name="BAR95"/>
          <p:cNvSpPr/>
          <p:nvPr/>
        </p:nvSpPr>
        <p:spPr>
          <a:xfrm>
            <a:off x="2139696" y="5146548"/>
            <a:ext cx="5884886" cy="137160"/>
          </a:xfrm>
          <a:prstGeom prst="rect">
            <a:avLst/>
          </a:prstGeom>
          <a:solidFill>
            <a:srgbClr val="C9CEDA"/>
          </a:solidFill>
          <a:ln/>
        </p:spPr>
        <p:txBody>
          <a:bodyPr/>
          <a:lstStyle/>
          <a:p>
            <a:endParaRPr lang="ko-KR" altLang="en-US"/>
          </a:p>
        </p:txBody>
      </p:sp>
      <p:sp>
        <p:nvSpPr>
          <p:cNvPr id="96" name="BL96"/>
          <p:cNvSpPr/>
          <p:nvPr/>
        </p:nvSpPr>
        <p:spPr>
          <a:xfrm>
            <a:off x="2139696" y="5128260"/>
            <a:ext cx="5884886" cy="173736"/>
          </a:xfrm>
          <a:prstGeom prst="rect">
            <a:avLst/>
          </a:prstGeom>
          <a:noFill/>
          <a:ln/>
        </p:spPr>
        <p:txBody>
          <a:bodyPr wrap="square" lIns="0" tIns="0" rIns="0" bIns="0" rtlCol="0" anchor="ctr"/>
          <a:lstStyle/>
          <a:p>
            <a:pPr marL="0" indent="0" algn="ct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비형사 특별절차</a:t>
            </a:r>
          </a:p>
        </p:txBody>
      </p:sp>
      <p:sp>
        <p:nvSpPr>
          <p:cNvPr id="97" name="RS97"/>
          <p:cNvSpPr/>
          <p:nvPr/>
        </p:nvSpPr>
        <p:spPr>
          <a:xfrm>
            <a:off x="731520" y="5321046"/>
            <a:ext cx="10725912" cy="0"/>
          </a:xfrm>
          <a:prstGeom prst="line">
            <a:avLst/>
          </a:prstGeom>
          <a:ln w="9525">
            <a:solidFill>
              <a:srgbClr val="DCE0E8"/>
            </a:solidFill>
          </a:ln>
        </p:spPr>
        <p:txBody>
          <a:bodyPr/>
          <a:lstStyle/>
          <a:p>
            <a:endParaRPr lang="ko-KR"/>
          </a:p>
        </p:txBody>
      </p:sp>
      <p:sp>
        <p:nvSpPr>
          <p:cNvPr id="98" name="NM98"/>
          <p:cNvSpPr/>
          <p:nvPr/>
        </p:nvSpPr>
        <p:spPr>
          <a:xfrm>
            <a:off x="731520" y="5340096"/>
            <a:ext cx="1261872" cy="256032"/>
          </a:xfrm>
          <a:prstGeom prst="rect">
            <a:avLst/>
          </a:prstGeom>
          <a:noFill/>
          <a:ln/>
        </p:spPr>
        <p:txBody>
          <a:bodyPr wrap="square" lIns="0" tIns="0" rIns="0" bIns="0" rtlCol="0" anchor="ctr"/>
          <a:lstStyle/>
          <a:p>
            <a:pPr marL="0" indent="0" algn="ctr">
              <a:lnSpc>
                <a:spcPct val="118000"/>
              </a:lnSpc>
              <a:buNone/>
            </a:pPr>
            <a:r>
              <a:rPr lang="ko-KR" altLang="en-US" sz="1200" b="1" dirty="0">
                <a:solidFill>
                  <a:srgbClr val="1E2761"/>
                </a:solidFill>
                <a:latin typeface="Pretendard" pitchFamily="34" charset="0"/>
                <a:ea typeface="Pretendard" pitchFamily="34" charset="-122"/>
                <a:cs typeface="Pretendard" pitchFamily="34" charset="-120"/>
              </a:rPr>
              <a:t>네덜란드</a:t>
            </a:r>
          </a:p>
        </p:txBody>
      </p:sp>
      <p:sp>
        <p:nvSpPr>
          <p:cNvPr id="99" name="BAR99"/>
          <p:cNvSpPr/>
          <p:nvPr/>
        </p:nvSpPr>
        <p:spPr>
          <a:xfrm>
            <a:off x="2139696" y="5358384"/>
            <a:ext cx="5884886" cy="219456"/>
          </a:xfrm>
          <a:prstGeom prst="rect">
            <a:avLst/>
          </a:prstGeom>
          <a:solidFill>
            <a:srgbClr val="C2A648"/>
          </a:solidFill>
          <a:ln/>
        </p:spPr>
        <p:txBody>
          <a:bodyPr/>
          <a:lstStyle/>
          <a:p>
            <a:endParaRPr lang="ko-KR" altLang="en-US"/>
          </a:p>
        </p:txBody>
      </p:sp>
      <p:sp>
        <p:nvSpPr>
          <p:cNvPr id="100" name="BL100"/>
          <p:cNvSpPr/>
          <p:nvPr/>
        </p:nvSpPr>
        <p:spPr>
          <a:xfrm>
            <a:off x="2139696" y="5340096"/>
            <a:ext cx="5884886"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기소 불가</a:t>
            </a:r>
          </a:p>
        </p:txBody>
      </p:sp>
      <p:sp>
        <p:nvSpPr>
          <p:cNvPr id="101" name="BAR101"/>
          <p:cNvSpPr/>
          <p:nvPr/>
        </p:nvSpPr>
        <p:spPr>
          <a:xfrm>
            <a:off x="8024582" y="5358384"/>
            <a:ext cx="3432850" cy="219456"/>
          </a:xfrm>
          <a:prstGeom prst="rect">
            <a:avLst/>
          </a:prstGeom>
          <a:solidFill>
            <a:srgbClr val="1E2761"/>
          </a:solidFill>
          <a:ln/>
        </p:spPr>
        <p:txBody>
          <a:bodyPr/>
          <a:lstStyle/>
          <a:p>
            <a:endParaRPr lang="ko-KR" altLang="en-US"/>
          </a:p>
        </p:txBody>
      </p:sp>
      <p:sp>
        <p:nvSpPr>
          <p:cNvPr id="102" name="BL102"/>
          <p:cNvSpPr/>
          <p:nvPr/>
        </p:nvSpPr>
        <p:spPr>
          <a:xfrm>
            <a:off x="8024582" y="5340096"/>
            <a:ext cx="3432850" cy="256032"/>
          </a:xfrm>
          <a:prstGeom prst="rect">
            <a:avLst/>
          </a:prstGeom>
          <a:noFill/>
          <a:ln/>
        </p:spPr>
        <p:txBody>
          <a:bodyPr wrap="square" lIns="0" tIns="0" rIns="0" bIns="0" rtlCol="0" anchor="ctr"/>
          <a:lstStyle/>
          <a:p>
            <a:pPr marL="0" indent="0" algn="ctr">
              <a:lnSpc>
                <a:spcPct val="118000"/>
              </a:lnSpc>
              <a:buNone/>
            </a:pPr>
            <a:r>
              <a:rPr lang="ko-KR" altLang="en-US" sz="1050" b="1" dirty="0">
                <a:solidFill>
                  <a:srgbClr val="FFFFFF"/>
                </a:solidFill>
                <a:latin typeface="Pretendard" pitchFamily="34" charset="0"/>
                <a:ea typeface="Pretendard" pitchFamily="34" charset="-122"/>
                <a:cs typeface="Pretendard" pitchFamily="34" charset="-120"/>
              </a:rPr>
              <a:t>형사책임 가능</a:t>
            </a:r>
          </a:p>
        </p:txBody>
      </p:sp>
      <p:sp>
        <p:nvSpPr>
          <p:cNvPr id="103" name="BAR103"/>
          <p:cNvSpPr/>
          <p:nvPr/>
        </p:nvSpPr>
        <p:spPr>
          <a:xfrm>
            <a:off x="8024582" y="5605272"/>
            <a:ext cx="2942443" cy="137160"/>
          </a:xfrm>
          <a:prstGeom prst="rect">
            <a:avLst/>
          </a:prstGeom>
          <a:solidFill>
            <a:srgbClr val="5A6699"/>
          </a:solidFill>
          <a:ln/>
        </p:spPr>
        <p:txBody>
          <a:bodyPr/>
          <a:lstStyle/>
          <a:p>
            <a:endParaRPr lang="ko-KR" altLang="en-US"/>
          </a:p>
        </p:txBody>
      </p:sp>
      <p:sp>
        <p:nvSpPr>
          <p:cNvPr id="104" name="BL104"/>
          <p:cNvSpPr/>
          <p:nvPr/>
        </p:nvSpPr>
        <p:spPr>
          <a:xfrm>
            <a:off x="8024582" y="5586984"/>
            <a:ext cx="2942443" cy="173736"/>
          </a:xfrm>
          <a:prstGeom prst="rect">
            <a:avLst/>
          </a:prstGeom>
          <a:noFill/>
          <a:ln/>
        </p:spPr>
        <p:txBody>
          <a:bodyPr wrap="square" lIns="0" tIns="0" rIns="0" bIns="0" rtlCol="0" anchor="ctr"/>
          <a:lstStyle/>
          <a:p>
            <a:pPr marL="0" indent="0" algn="ctr">
              <a:lnSpc>
                <a:spcPct val="118000"/>
              </a:lnSpc>
              <a:buNone/>
            </a:pPr>
            <a:r>
              <a:rPr lang="ko-KR" altLang="en-US" sz="1050" dirty="0">
                <a:solidFill>
                  <a:srgbClr val="FFFFFF"/>
                </a:solidFill>
                <a:latin typeface="Pretendard" pitchFamily="34" charset="0"/>
                <a:ea typeface="Pretendard" pitchFamily="34" charset="-122"/>
                <a:cs typeface="Pretendard" pitchFamily="34" charset="-120"/>
              </a:rPr>
              <a:t>소년형법</a:t>
            </a:r>
          </a:p>
        </p:txBody>
      </p:sp>
      <p:sp>
        <p:nvSpPr>
          <p:cNvPr id="105" name="BAR105"/>
          <p:cNvSpPr/>
          <p:nvPr/>
        </p:nvSpPr>
        <p:spPr>
          <a:xfrm>
            <a:off x="2139696" y="5605272"/>
            <a:ext cx="5884886" cy="137160"/>
          </a:xfrm>
          <a:prstGeom prst="rect">
            <a:avLst/>
          </a:prstGeom>
          <a:solidFill>
            <a:srgbClr val="C9CEDA"/>
          </a:solidFill>
          <a:ln/>
        </p:spPr>
        <p:txBody>
          <a:bodyPr/>
          <a:lstStyle/>
          <a:p>
            <a:endParaRPr lang="ko-KR" altLang="en-US"/>
          </a:p>
        </p:txBody>
      </p:sp>
      <p:sp>
        <p:nvSpPr>
          <p:cNvPr id="106" name="BL106"/>
          <p:cNvSpPr/>
          <p:nvPr/>
        </p:nvSpPr>
        <p:spPr>
          <a:xfrm>
            <a:off x="2139696" y="5586984"/>
            <a:ext cx="5884886" cy="173736"/>
          </a:xfrm>
          <a:prstGeom prst="rect">
            <a:avLst/>
          </a:prstGeom>
          <a:noFill/>
          <a:ln/>
        </p:spPr>
        <p:txBody>
          <a:bodyPr wrap="square" lIns="0" tIns="0" rIns="0" bIns="0" rtlCol="0" anchor="ctr"/>
          <a:lstStyle/>
          <a:p>
            <a:pPr marL="0" indent="0" algn="ct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보호·복지 개입</a:t>
            </a:r>
          </a:p>
        </p:txBody>
      </p:sp>
      <p:sp>
        <p:nvSpPr>
          <p:cNvPr id="107" name="R2"/>
          <p:cNvSpPr/>
          <p:nvPr/>
        </p:nvSpPr>
        <p:spPr>
          <a:xfrm>
            <a:off x="731520" y="5815584"/>
            <a:ext cx="10725912" cy="0"/>
          </a:xfrm>
          <a:prstGeom prst="line">
            <a:avLst/>
          </a:prstGeom>
          <a:ln w="9525">
            <a:solidFill>
              <a:srgbClr val="DCE0E8"/>
            </a:solidFill>
          </a:ln>
        </p:spPr>
        <p:txBody>
          <a:bodyPr/>
          <a:lstStyle/>
          <a:p>
            <a:endParaRPr lang="ko-KR"/>
          </a:p>
        </p:txBody>
      </p:sp>
      <p:sp>
        <p:nvSpPr>
          <p:cNvPr id="108" name="PT108"/>
          <p:cNvSpPr/>
          <p:nvPr/>
        </p:nvSpPr>
        <p:spPr>
          <a:xfrm>
            <a:off x="731520" y="5902452"/>
            <a:ext cx="10725912" cy="219456"/>
          </a:xfrm>
          <a:prstGeom prst="rect">
            <a:avLst/>
          </a:prstGeom>
          <a:noFill/>
          <a:ln/>
        </p:spPr>
        <p:txBody>
          <a:bodyPr wrap="square" lIns="0" tIns="0" rIns="0" bIns="0" rtlCol="0" anchor="t"/>
          <a:lstStyle/>
          <a:p>
            <a:pPr>
              <a:lnSpc>
                <a:spcPct val="118000"/>
              </a:lnSpc>
            </a:pPr>
            <a:r>
              <a:rPr lang="ko-KR" altLang="en-US" sz="1150" b="1" dirty="0">
                <a:solidFill>
                  <a:srgbClr val="C2A648"/>
                </a:solidFill>
                <a:latin typeface="Pretendard" pitchFamily="34" charset="0"/>
                <a:ea typeface="Pretendard" pitchFamily="34" charset="-122"/>
                <a:cs typeface="Pretendard" pitchFamily="34" charset="-120"/>
              </a:rPr>
              <a:t>연령선 아래 별도 대응  </a:t>
            </a:r>
            <a:r>
              <a:rPr lang="ko-KR" altLang="en-US" sz="1150" dirty="0">
                <a:solidFill>
                  <a:srgbClr val="222633"/>
                </a:solidFill>
                <a:latin typeface="Pretendard" pitchFamily="34" charset="0"/>
                <a:ea typeface="Pretendard" pitchFamily="34" charset="-122"/>
                <a:cs typeface="Pretendard" pitchFamily="34" charset="-120"/>
              </a:rPr>
              <a:t>한국</a:t>
            </a:r>
            <a:r>
              <a:rPr lang="en-US" altLang="ko-KR" sz="1150" dirty="0">
                <a:solidFill>
                  <a:srgbClr val="222633"/>
                </a:solidFill>
                <a:latin typeface="Pretendard" pitchFamily="34" charset="0"/>
                <a:ea typeface="Pretendard" pitchFamily="34" charset="-122"/>
                <a:cs typeface="Pretendard" pitchFamily="34" charset="-120"/>
              </a:rPr>
              <a:t>(10~13</a:t>
            </a:r>
            <a:r>
              <a:rPr lang="ko-KR" altLang="en-US" sz="1150" dirty="0">
                <a:solidFill>
                  <a:srgbClr val="222633"/>
                </a:solidFill>
                <a:latin typeface="Pretendard" pitchFamily="34" charset="0"/>
                <a:ea typeface="Pretendard" pitchFamily="34" charset="-122"/>
                <a:cs typeface="Pretendard" pitchFamily="34" charset="-120"/>
              </a:rPr>
              <a:t>세</a:t>
            </a:r>
            <a:r>
              <a:rPr lang="en-US" altLang="ko-KR" sz="1150" dirty="0">
                <a:solidFill>
                  <a:srgbClr val="222633"/>
                </a:solidFill>
                <a:latin typeface="Pretendard" pitchFamily="34" charset="0"/>
                <a:ea typeface="Pretendard" pitchFamily="34" charset="-122"/>
                <a:cs typeface="Pretendard" pitchFamily="34" charset="-120"/>
              </a:rPr>
              <a:t>) · </a:t>
            </a:r>
            <a:r>
              <a:rPr lang="ko-KR" altLang="en-US" sz="1150" dirty="0">
                <a:solidFill>
                  <a:srgbClr val="222633"/>
                </a:solidFill>
                <a:latin typeface="Pretendard" pitchFamily="34" charset="0"/>
                <a:ea typeface="Pretendard" pitchFamily="34" charset="-122"/>
                <a:cs typeface="Pretendard" pitchFamily="34" charset="-120"/>
              </a:rPr>
              <a:t>일본 </a:t>
            </a:r>
            <a:r>
              <a:rPr lang="en-US" altLang="ko-KR" sz="1150" dirty="0">
                <a:solidFill>
                  <a:srgbClr val="222633"/>
                </a:solidFill>
                <a:latin typeface="Pretendard" pitchFamily="34" charset="0"/>
                <a:ea typeface="Pretendard" pitchFamily="34" charset="-122"/>
                <a:cs typeface="Pretendard" pitchFamily="34" charset="-120"/>
              </a:rPr>
              <a:t>· </a:t>
            </a:r>
            <a:r>
              <a:rPr lang="ko-KR" altLang="en-US" sz="1150" dirty="0">
                <a:solidFill>
                  <a:srgbClr val="222633"/>
                </a:solidFill>
                <a:latin typeface="Pretendard" pitchFamily="34" charset="0"/>
                <a:ea typeface="Pretendard" pitchFamily="34" charset="-122"/>
                <a:cs typeface="Pretendard" pitchFamily="34" charset="-120"/>
              </a:rPr>
              <a:t>스코틀랜드 </a:t>
            </a:r>
            <a:r>
              <a:rPr lang="en-US" altLang="ko-KR" sz="1150" dirty="0">
                <a:solidFill>
                  <a:srgbClr val="222633"/>
                </a:solidFill>
                <a:latin typeface="Pretendard" pitchFamily="34" charset="0"/>
                <a:ea typeface="Pretendard" pitchFamily="34" charset="-122"/>
                <a:cs typeface="Pretendard" pitchFamily="34" charset="-120"/>
              </a:rPr>
              <a:t>· </a:t>
            </a:r>
            <a:r>
              <a:rPr lang="ko-KR" altLang="en-US" sz="1150" dirty="0">
                <a:solidFill>
                  <a:srgbClr val="222633"/>
                </a:solidFill>
                <a:latin typeface="Pretendard" pitchFamily="34" charset="0"/>
                <a:ea typeface="Pretendard" pitchFamily="34" charset="-122"/>
                <a:cs typeface="Pretendard" pitchFamily="34" charset="-120"/>
              </a:rPr>
              <a:t>네덜란드 </a:t>
            </a:r>
            <a:r>
              <a:rPr lang="en-US" altLang="ko-KR" sz="1150" dirty="0">
                <a:solidFill>
                  <a:srgbClr val="222633"/>
                </a:solidFill>
                <a:latin typeface="Pretendard" pitchFamily="34" charset="0"/>
                <a:ea typeface="Pretendard" pitchFamily="34" charset="-122"/>
                <a:cs typeface="Pretendard" pitchFamily="34" charset="-120"/>
              </a:rPr>
              <a:t>· </a:t>
            </a:r>
            <a:r>
              <a:rPr lang="ko-KR" altLang="en-US" sz="1150" dirty="0">
                <a:solidFill>
                  <a:srgbClr val="222633"/>
                </a:solidFill>
                <a:latin typeface="Pretendard" pitchFamily="34" charset="0"/>
                <a:ea typeface="Pretendard" pitchFamily="34" charset="-122"/>
                <a:cs typeface="Pretendard" pitchFamily="34" charset="-120"/>
              </a:rPr>
              <a:t>중국</a:t>
            </a:r>
          </a:p>
        </p:txBody>
      </p:sp>
      <p:sp>
        <p:nvSpPr>
          <p:cNvPr id="109" name="PT109"/>
          <p:cNvSpPr/>
          <p:nvPr/>
        </p:nvSpPr>
        <p:spPr>
          <a:xfrm>
            <a:off x="731520" y="6126480"/>
            <a:ext cx="10725912" cy="219456"/>
          </a:xfrm>
          <a:prstGeom prst="rect">
            <a:avLst/>
          </a:prstGeom>
          <a:noFill/>
          <a:ln/>
        </p:spPr>
        <p:txBody>
          <a:bodyPr wrap="square" lIns="0" tIns="0" rIns="0" bIns="0" rtlCol="0" anchor="t"/>
          <a:lstStyle/>
          <a:p>
            <a:pPr marL="0" indent="0">
              <a:lnSpc>
                <a:spcPct val="118000"/>
              </a:lnSpc>
              <a:buNone/>
            </a:pPr>
            <a:r>
              <a:rPr lang="ko-KR" altLang="en-US" sz="1150" b="1" dirty="0">
                <a:solidFill>
                  <a:srgbClr val="C2A648"/>
                </a:solidFill>
                <a:latin typeface="Pretendard" pitchFamily="34" charset="0"/>
                <a:ea typeface="Pretendard" pitchFamily="34" charset="-122"/>
                <a:cs typeface="Pretendard" pitchFamily="34" charset="-120"/>
              </a:rPr>
              <a:t>중대범죄 예외  </a:t>
            </a:r>
            <a:r>
              <a:rPr lang="ko-KR" altLang="en-US" sz="1150" dirty="0">
                <a:solidFill>
                  <a:srgbClr val="222633"/>
                </a:solidFill>
                <a:latin typeface="Pretendard" pitchFamily="34" charset="0"/>
                <a:ea typeface="Pretendard" pitchFamily="34" charset="-122"/>
                <a:cs typeface="Pretendard" pitchFamily="34" charset="-120"/>
              </a:rPr>
              <a:t>아일랜드 · 중국 (별도 절차적 관문 포함)</a:t>
            </a:r>
          </a:p>
        </p:txBody>
      </p:sp>
      <p:sp>
        <p:nvSpPr>
          <p:cNvPr id="110" name="PT110"/>
          <p:cNvSpPr/>
          <p:nvPr/>
        </p:nvSpPr>
        <p:spPr>
          <a:xfrm>
            <a:off x="731520" y="6350508"/>
            <a:ext cx="10725912" cy="405892"/>
          </a:xfrm>
          <a:prstGeom prst="rect">
            <a:avLst/>
          </a:prstGeom>
          <a:noFill/>
          <a:ln/>
        </p:spPr>
        <p:txBody>
          <a:bodyPr wrap="square" lIns="0" tIns="0" rIns="0" bIns="0" rtlCol="0" anchor="t"/>
          <a:lstStyle/>
          <a:p>
            <a:pPr marL="0" indent="0">
              <a:lnSpc>
                <a:spcPct val="118000"/>
              </a:lnSpc>
              <a:buNone/>
            </a:pPr>
            <a:r>
              <a:rPr lang="ko-KR" altLang="en-US" sz="1150" b="1" dirty="0" err="1">
                <a:solidFill>
                  <a:srgbClr val="C2A648"/>
                </a:solidFill>
                <a:latin typeface="Pretendard" pitchFamily="34" charset="0"/>
                <a:ea typeface="Pretendard" pitchFamily="34" charset="-122"/>
                <a:cs typeface="Pretendard" pitchFamily="34" charset="-120"/>
              </a:rPr>
              <a:t>연령선</a:t>
            </a:r>
            <a:r>
              <a:rPr lang="ko-KR" altLang="en-US" sz="1150" b="1" dirty="0">
                <a:solidFill>
                  <a:srgbClr val="C2A648"/>
                </a:solidFill>
                <a:latin typeface="Pretendard" pitchFamily="34" charset="0"/>
                <a:ea typeface="Pretendard" pitchFamily="34" charset="-122"/>
                <a:cs typeface="Pretendard" pitchFamily="34" charset="-120"/>
              </a:rPr>
              <a:t> 위의 추가 책임판단  </a:t>
            </a:r>
            <a:r>
              <a:rPr lang="ko-KR" altLang="en-US" sz="1150" dirty="0">
                <a:solidFill>
                  <a:srgbClr val="222633"/>
                </a:solidFill>
                <a:latin typeface="Pretendard" pitchFamily="34" charset="0"/>
                <a:ea typeface="Pretendard" pitchFamily="34" charset="-122"/>
                <a:cs typeface="Pretendard" pitchFamily="34" charset="-120"/>
              </a:rPr>
              <a:t>독일의 성숙성 판단 · 한국에는 동일한 소년 연령 </a:t>
            </a:r>
            <a:r>
              <a:rPr lang="ko-KR" altLang="en-US" sz="1150" dirty="0" err="1">
                <a:solidFill>
                  <a:srgbClr val="222633"/>
                </a:solidFill>
                <a:latin typeface="Pretendard" pitchFamily="34" charset="0"/>
                <a:ea typeface="Pretendard" pitchFamily="34" charset="-122"/>
                <a:cs typeface="Pretendard" pitchFamily="34" charset="-120"/>
              </a:rPr>
              <a:t>트유</a:t>
            </a:r>
            <a:r>
              <a:rPr lang="ko-KR" altLang="en-US" sz="1150" dirty="0">
                <a:solidFill>
                  <a:srgbClr val="222633"/>
                </a:solidFill>
                <a:latin typeface="Pretendard" pitchFamily="34" charset="0"/>
                <a:ea typeface="Pretendard" pitchFamily="34" charset="-122"/>
                <a:cs typeface="Pretendard" pitchFamily="34" charset="-120"/>
              </a:rPr>
              <a:t> 요건 없음</a:t>
            </a:r>
            <a:endParaRPr lang="en-US" altLang="ko-KR" sz="1150" dirty="0">
              <a:solidFill>
                <a:srgbClr val="222633"/>
              </a:solidFill>
              <a:latin typeface="Pretendard" pitchFamily="34" charset="0"/>
              <a:ea typeface="Pretendard" pitchFamily="34" charset="-122"/>
              <a:cs typeface="Pretendard" pitchFamily="34" charset="-120"/>
            </a:endParaRPr>
          </a:p>
          <a:p>
            <a:pPr>
              <a:lnSpc>
                <a:spcPct val="118000"/>
              </a:lnSpc>
            </a:pPr>
            <a:r>
              <a:rPr lang="en-US" altLang="ko-KR" sz="1150" b="1" dirty="0">
                <a:solidFill>
                  <a:schemeClr val="accent2">
                    <a:lumMod val="75000"/>
                  </a:schemeClr>
                </a:solidFill>
                <a:latin typeface="Pretendard" pitchFamily="34" charset="0"/>
                <a:ea typeface="Pretendard" pitchFamily="34" charset="-122"/>
                <a:cs typeface="Pretendard" pitchFamily="34" charset="-120"/>
              </a:rPr>
              <a:t>※ </a:t>
            </a:r>
            <a:r>
              <a:rPr lang="ko-KR" altLang="en-US" sz="1150" b="1" dirty="0">
                <a:solidFill>
                  <a:schemeClr val="accent2">
                    <a:lumMod val="75000"/>
                  </a:schemeClr>
                </a:solidFill>
                <a:latin typeface="Pretendard" pitchFamily="34" charset="0"/>
                <a:ea typeface="Pretendard" pitchFamily="34" charset="-122"/>
                <a:cs typeface="Pretendard" pitchFamily="34" charset="-120"/>
              </a:rPr>
              <a:t>각 막대는 기본적인 법적 구조를 단순화한 것으로</a:t>
            </a:r>
            <a:r>
              <a:rPr lang="en-US" altLang="ko-KR" sz="1150" b="1" dirty="0">
                <a:solidFill>
                  <a:schemeClr val="accent2">
                    <a:lumMod val="75000"/>
                  </a:schemeClr>
                </a:solidFill>
                <a:latin typeface="Pretendard" pitchFamily="34" charset="0"/>
                <a:ea typeface="Pretendard" pitchFamily="34" charset="-122"/>
                <a:cs typeface="Pretendard" pitchFamily="34" charset="-120"/>
              </a:rPr>
              <a:t>, </a:t>
            </a:r>
            <a:r>
              <a:rPr lang="ko-KR" altLang="en-US" sz="1150" b="1" dirty="0">
                <a:solidFill>
                  <a:schemeClr val="accent2">
                    <a:lumMod val="75000"/>
                  </a:schemeClr>
                </a:solidFill>
                <a:latin typeface="Pretendard" pitchFamily="34" charset="0"/>
                <a:ea typeface="Pretendard" pitchFamily="34" charset="-122"/>
                <a:cs typeface="Pretendard" pitchFamily="34" charset="-120"/>
              </a:rPr>
              <a:t>모든 사건에 같은 조치가 자동 적용된다는 뜻은 아니다</a:t>
            </a:r>
            <a:r>
              <a:rPr lang="en-US" altLang="ko-KR" sz="1150" b="1" dirty="0">
                <a:solidFill>
                  <a:schemeClr val="accent2">
                    <a:lumMod val="75000"/>
                  </a:schemeClr>
                </a:solidFill>
                <a:latin typeface="Pretendard" pitchFamily="34" charset="0"/>
                <a:ea typeface="Pretendard" pitchFamily="34" charset="-122"/>
                <a:cs typeface="Pretendard" pitchFamily="34" charset="-120"/>
              </a:rPr>
              <a:t>.</a:t>
            </a:r>
          </a:p>
          <a:p>
            <a:pPr marL="0" indent="0">
              <a:lnSpc>
                <a:spcPct val="100000"/>
              </a:lnSpc>
              <a:buNone/>
            </a:pPr>
            <a:endParaRPr lang="ko-KR" altLang="en-US" sz="1150" dirty="0">
              <a:solidFill>
                <a:srgbClr val="222633"/>
              </a:solidFill>
              <a:latin typeface="Pretendard" pitchFamily="34" charset="0"/>
              <a:ea typeface="Pretendard" pitchFamily="34" charset="-122"/>
              <a:cs typeface="Pretendard" pitchFamily="34" charset="-120"/>
            </a:endParaRPr>
          </a:p>
        </p:txBody>
      </p:sp>
      <p:sp>
        <p:nvSpPr>
          <p:cNvPr id="201" name="CHINA14_BORDER"/>
          <p:cNvSpPr/>
          <p:nvPr/>
        </p:nvSpPr>
        <p:spPr>
          <a:xfrm>
            <a:off x="9005396" y="3064794"/>
            <a:ext cx="0" cy="219456"/>
          </a:xfrm>
          <a:prstGeom prst="line">
            <a:avLst/>
          </a:prstGeom>
          <a:ln w="13970">
            <a:solidFill>
              <a:srgbClr val="FFFFFF"/>
            </a:solidFill>
          </a:ln>
        </p:spPr>
        <p:txBody>
          <a:bodyPr/>
          <a:lstStyle/>
          <a:p>
            <a:endParaRPr lang="ko-KR"/>
          </a:p>
        </p:txBody>
      </p:sp>
      <p:sp>
        <p:nvSpPr>
          <p:cNvPr id="202" name="TICK16"/>
          <p:cNvSpPr/>
          <p:nvPr/>
        </p:nvSpPr>
        <p:spPr>
          <a:xfrm>
            <a:off x="9711891" y="2295144"/>
            <a:ext cx="548640" cy="182880"/>
          </a:xfrm>
          <a:prstGeom prst="rect">
            <a:avLst/>
          </a:prstGeom>
          <a:noFill/>
          <a:ln/>
        </p:spPr>
        <p:txBody>
          <a:bodyPr wrap="square" lIns="0" tIns="0" rIns="0" bIns="0" rtlCol="0" anchor="ctr"/>
          <a:lstStyle/>
          <a:p>
            <a:pPr marL="0" indent="0" algn="ctr">
              <a:lnSpc>
                <a:spcPct val="118000"/>
              </a:lnSpc>
              <a:buNone/>
            </a:pPr>
            <a:r>
              <a:rPr lang="ko-KR" altLang="en-US" sz="1050" dirty="0">
                <a:solidFill>
                  <a:srgbClr val="222633"/>
                </a:solidFill>
                <a:latin typeface="Pretendard" pitchFamily="34" charset="0"/>
                <a:ea typeface="Pretendard" pitchFamily="34" charset="-122"/>
                <a:cs typeface="Pretendard" pitchFamily="34" charset="-120"/>
              </a:rPr>
              <a:t>16</a:t>
            </a:r>
          </a:p>
        </p:txBody>
      </p:sp>
      <p:sp>
        <p:nvSpPr>
          <p:cNvPr id="203" name="TICK16_LINE"/>
          <p:cNvSpPr/>
          <p:nvPr/>
        </p:nvSpPr>
        <p:spPr>
          <a:xfrm>
            <a:off x="9986211" y="2487168"/>
            <a:ext cx="0" cy="54864"/>
          </a:xfrm>
          <a:prstGeom prst="line">
            <a:avLst/>
          </a:prstGeom>
          <a:ln w="6350">
            <a:solidFill>
              <a:srgbClr val="6E7686"/>
            </a:solidFill>
          </a:ln>
        </p:spPr>
        <p:txBody>
          <a:bodyPr/>
          <a:lstStyle/>
          <a:p>
            <a:endParaRPr lang="ko-KR"/>
          </a:p>
        </p:txBody>
      </p:sp>
      <p:sp>
        <p:nvSpPr>
          <p:cNvPr id="112" name="NT60">
            <a:extLst>
              <a:ext uri="{FF2B5EF4-FFF2-40B4-BE49-F238E27FC236}">
                <a16:creationId xmlns:a16="http://schemas.microsoft.com/office/drawing/2014/main" id="{2B304402-29B6-70E5-0A2E-D68AA82548BE}"/>
              </a:ext>
            </a:extLst>
          </p:cNvPr>
          <p:cNvSpPr/>
          <p:nvPr/>
        </p:nvSpPr>
        <p:spPr>
          <a:xfrm>
            <a:off x="2139696" y="3302478"/>
            <a:ext cx="7846515" cy="182880"/>
          </a:xfrm>
          <a:prstGeom prst="rect">
            <a:avLst/>
          </a:prstGeom>
          <a:solidFill>
            <a:schemeClr val="accent1">
              <a:lumMod val="20000"/>
              <a:lumOff val="80000"/>
            </a:schemeClr>
          </a:solidFill>
          <a:ln/>
        </p:spPr>
        <p:txBody>
          <a:bodyPr wrap="square" lIns="0" tIns="0" rIns="0" bIns="0" rtlCol="0" anchor="ctr"/>
          <a:lstStyle/>
          <a:p>
            <a:pPr algn="ctr">
              <a:lnSpc>
                <a:spcPct val="118000"/>
              </a:lnSpc>
            </a:pPr>
            <a:r>
              <a:rPr lang="en-US" altLang="ko-KR" sz="1050" dirty="0">
                <a:solidFill>
                  <a:srgbClr val="464D5C"/>
                </a:solidFill>
                <a:latin typeface="Pretendard" pitchFamily="34" charset="0"/>
                <a:ea typeface="Pretendard" pitchFamily="34" charset="-122"/>
                <a:cs typeface="Pretendard" pitchFamily="34" charset="-120"/>
              </a:rPr>
              <a:t>  16</a:t>
            </a:r>
            <a:r>
              <a:rPr lang="ko-KR" altLang="en-US" sz="1050" dirty="0">
                <a:solidFill>
                  <a:srgbClr val="464D5C"/>
                </a:solidFill>
                <a:latin typeface="Pretendard" pitchFamily="34" charset="0"/>
                <a:ea typeface="Pretendard" pitchFamily="34" charset="-122"/>
                <a:cs typeface="Pretendard" pitchFamily="34" charset="-120"/>
              </a:rPr>
              <a:t>세 미만 중 형사처벌하지 않는 경우 </a:t>
            </a:r>
            <a:r>
              <a:rPr lang="en-US" altLang="ko-KR" sz="1050" dirty="0">
                <a:solidFill>
                  <a:srgbClr val="464D5C"/>
                </a:solidFill>
                <a:latin typeface="Pretendard" pitchFamily="34" charset="0"/>
                <a:ea typeface="Pretendard" pitchFamily="34" charset="-122"/>
                <a:cs typeface="Pretendard" pitchFamily="34" charset="-120"/>
              </a:rPr>
              <a:t>· </a:t>
            </a:r>
            <a:r>
              <a:rPr lang="ko-KR" altLang="en-US" sz="1050" dirty="0">
                <a:solidFill>
                  <a:srgbClr val="464D5C"/>
                </a:solidFill>
                <a:latin typeface="Pretendard" pitchFamily="34" charset="0"/>
                <a:ea typeface="Pretendard" pitchFamily="34" charset="-122"/>
                <a:cs typeface="Pretendard" pitchFamily="34" charset="-120"/>
              </a:rPr>
              <a:t>보호자 지도</a:t>
            </a:r>
            <a:r>
              <a:rPr lang="en-US" altLang="ko-KR" sz="1050" dirty="0">
                <a:solidFill>
                  <a:srgbClr val="464D5C"/>
                </a:solidFill>
                <a:latin typeface="Pretendard" pitchFamily="34" charset="0"/>
                <a:ea typeface="Pretendard" pitchFamily="34" charset="-122"/>
                <a:cs typeface="Pretendard" pitchFamily="34" charset="-120"/>
              </a:rPr>
              <a:t>·</a:t>
            </a:r>
            <a:r>
              <a:rPr lang="ko-KR" altLang="en-US" sz="1050" dirty="0">
                <a:solidFill>
                  <a:srgbClr val="464D5C"/>
                </a:solidFill>
                <a:latin typeface="Pretendard" pitchFamily="34" charset="0"/>
                <a:ea typeface="Pretendard" pitchFamily="34" charset="-122"/>
                <a:cs typeface="Pretendard" pitchFamily="34" charset="-120"/>
              </a:rPr>
              <a:t>관리 </a:t>
            </a:r>
            <a:r>
              <a:rPr lang="en-US" altLang="ko-KR" sz="1050" dirty="0">
                <a:solidFill>
                  <a:srgbClr val="464D5C"/>
                </a:solidFill>
                <a:latin typeface="Pretendard" pitchFamily="34" charset="0"/>
                <a:ea typeface="Pretendard" pitchFamily="34" charset="-122"/>
                <a:cs typeface="Pretendard" pitchFamily="34" charset="-120"/>
              </a:rPr>
              <a:t>/ </a:t>
            </a:r>
            <a:r>
              <a:rPr lang="ko-KR" altLang="en-US" sz="1050" dirty="0">
                <a:solidFill>
                  <a:srgbClr val="464D5C"/>
                </a:solidFill>
                <a:latin typeface="Pretendard" pitchFamily="34" charset="0"/>
                <a:ea typeface="Pretendard" pitchFamily="34" charset="-122"/>
                <a:cs typeface="Pretendard" pitchFamily="34" charset="-120"/>
              </a:rPr>
              <a:t>필요 시 전문교정교육</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일반논평 제24호 Ⅰ</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a:lnSpc>
                <a:spcPct val="118000"/>
              </a:lnSpc>
            </a:pPr>
            <a:r>
              <a:rPr lang="ko-KR" altLang="en-US" sz="2750" b="1" dirty="0">
                <a:solidFill>
                  <a:srgbClr val="1E2761"/>
                </a:solidFill>
                <a:latin typeface="Pretendard" pitchFamily="34" charset="0"/>
                <a:ea typeface="Pretendard" pitchFamily="34" charset="-122"/>
                <a:cs typeface="Pretendard" pitchFamily="34" charset="-120"/>
              </a:rPr>
              <a:t>외국 제도가 남기는 네 가지 설계 질문</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a:lnSpc>
                <a:spcPct val="118000"/>
              </a:lnSpc>
            </a:pPr>
            <a:r>
              <a:rPr lang="ko-KR" altLang="en-US" sz="1300" b="1" dirty="0">
                <a:solidFill>
                  <a:srgbClr val="1E2761"/>
                </a:solidFill>
                <a:latin typeface="Pretendard" pitchFamily="34" charset="0"/>
                <a:ea typeface="Pretendard" pitchFamily="34" charset="-122"/>
                <a:cs typeface="Pretendard" pitchFamily="34" charset="-120"/>
              </a:rPr>
              <a:t>책임연령을 바꾸려면 연령선만이 아니라</a:t>
            </a:r>
            <a:r>
              <a:rPr lang="en-US" altLang="ko-KR" sz="1300" b="1" dirty="0">
                <a:solidFill>
                  <a:srgbClr val="1E2761"/>
                </a:solidFill>
                <a:latin typeface="Pretendard" pitchFamily="34" charset="0"/>
                <a:ea typeface="Pretendard" pitchFamily="34" charset="-122"/>
                <a:cs typeface="Pretendard" pitchFamily="34" charset="-120"/>
              </a:rPr>
              <a:t>, </a:t>
            </a:r>
            <a:r>
              <a:rPr lang="ko-KR" altLang="en-US" sz="1300" b="1" dirty="0">
                <a:solidFill>
                  <a:srgbClr val="1E2761"/>
                </a:solidFill>
                <a:latin typeface="Pretendard" pitchFamily="34" charset="0"/>
                <a:ea typeface="Pretendard" pitchFamily="34" charset="-122"/>
                <a:cs typeface="Pretendard" pitchFamily="34" charset="-120"/>
              </a:rPr>
              <a:t>예외범죄</a:t>
            </a:r>
            <a:r>
              <a:rPr lang="en-US" altLang="ko-KR" sz="1300" b="1" dirty="0">
                <a:solidFill>
                  <a:srgbClr val="1E2761"/>
                </a:solidFill>
                <a:latin typeface="Pretendard" pitchFamily="34" charset="0"/>
                <a:ea typeface="Pretendard" pitchFamily="34" charset="-122"/>
                <a:cs typeface="Pretendard" pitchFamily="34" charset="-120"/>
              </a:rPr>
              <a:t>·</a:t>
            </a:r>
            <a:r>
              <a:rPr lang="ko-KR" altLang="en-US" sz="1300" b="1" dirty="0">
                <a:solidFill>
                  <a:srgbClr val="1E2761"/>
                </a:solidFill>
                <a:latin typeface="Pretendard" pitchFamily="34" charset="0"/>
                <a:ea typeface="Pretendard" pitchFamily="34" charset="-122"/>
                <a:cs typeface="Pretendard" pitchFamily="34" charset="-120"/>
              </a:rPr>
              <a:t>책임판단</a:t>
            </a:r>
            <a:r>
              <a:rPr lang="en-US" altLang="ko-KR" sz="1300" b="1" dirty="0">
                <a:solidFill>
                  <a:srgbClr val="1E2761"/>
                </a:solidFill>
                <a:latin typeface="Pretendard" pitchFamily="34" charset="0"/>
                <a:ea typeface="Pretendard" pitchFamily="34" charset="-122"/>
                <a:cs typeface="Pretendard" pitchFamily="34" charset="-120"/>
              </a:rPr>
              <a:t>·</a:t>
            </a:r>
            <a:r>
              <a:rPr lang="ko-KR" altLang="en-US" sz="1300" b="1" dirty="0">
                <a:solidFill>
                  <a:srgbClr val="1E2761"/>
                </a:solidFill>
                <a:latin typeface="Pretendard" pitchFamily="34" charset="0"/>
                <a:ea typeface="Pretendard" pitchFamily="34" charset="-122"/>
                <a:cs typeface="Pretendard" pitchFamily="34" charset="-120"/>
              </a:rPr>
              <a:t>형사책임 밖의 대응</a:t>
            </a:r>
            <a:r>
              <a:rPr lang="en-US" altLang="ko-KR" sz="1300" b="1" dirty="0">
                <a:solidFill>
                  <a:srgbClr val="1E2761"/>
                </a:solidFill>
                <a:latin typeface="Pretendard" pitchFamily="34" charset="0"/>
                <a:ea typeface="Pretendard" pitchFamily="34" charset="-122"/>
                <a:cs typeface="Pretendard" pitchFamily="34" charset="-120"/>
              </a:rPr>
              <a:t>·</a:t>
            </a:r>
            <a:r>
              <a:rPr lang="ko-KR" altLang="en-US" sz="1300" b="1" dirty="0">
                <a:solidFill>
                  <a:srgbClr val="1E2761"/>
                </a:solidFill>
                <a:latin typeface="Pretendard" pitchFamily="34" charset="0"/>
                <a:ea typeface="Pretendard" pitchFamily="34" charset="-122"/>
                <a:cs typeface="Pretendard" pitchFamily="34" charset="-120"/>
              </a:rPr>
              <a:t>책임 인정 이후의 처우를 함께 검토해야 한다</a:t>
            </a:r>
            <a:r>
              <a:rPr lang="en-US" altLang="ko-KR" sz="1300" b="1" dirty="0">
                <a:solidFill>
                  <a:srgbClr val="1E2761"/>
                </a:solidFill>
                <a:latin typeface="Pretendard" pitchFamily="34" charset="0"/>
                <a:ea typeface="Pretendard" pitchFamily="34" charset="-122"/>
                <a:cs typeface="Pretendard" pitchFamily="34" charset="-120"/>
              </a:rPr>
              <a:t>.</a:t>
            </a:r>
            <a:endParaRPr lang="ko-KR" altLang="en-US" sz="1300" b="1" dirty="0">
              <a:solidFill>
                <a:srgbClr val="1E2761"/>
              </a:solidFill>
              <a:latin typeface="Pretendard" pitchFamily="34" charset="0"/>
              <a:ea typeface="Pretendard" pitchFamily="34" charset="-122"/>
              <a:cs typeface="Pretendard" pitchFamily="34" charset="-120"/>
            </a:endParaRP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ODY8"/>
          <p:cNvSpPr/>
          <p:nvPr/>
        </p:nvSpPr>
        <p:spPr>
          <a:xfrm>
            <a:off x="3154680" y="2126158"/>
            <a:ext cx="8302752" cy="713740"/>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연령선 아래에 형사책임 예외를 둘 경우, 어떤 범죄와 어떤 절차에 한정할지 정해야 한다</a:t>
            </a:r>
          </a:p>
          <a:p>
            <a:pPr marL="0" indent="0">
              <a:lnSpc>
                <a:spcPct val="125000"/>
              </a:lnSpc>
              <a:buNone/>
            </a:pPr>
            <a:r>
              <a:rPr lang="ko-KR" altLang="en-US" sz="1150" dirty="0">
                <a:solidFill>
                  <a:srgbClr val="464D5C"/>
                </a:solidFill>
                <a:latin typeface="Pretendard" pitchFamily="34" charset="0"/>
                <a:ea typeface="Pretendard" pitchFamily="34" charset="-122"/>
                <a:cs typeface="Pretendard" pitchFamily="34" charset="-120"/>
              </a:rPr>
              <a:t>아일랜드·중국은 연령선 아래의 중대범죄에 제한적으로 예외를 둔다. 한국은 14세 미만을 범죄의 종류와 관계없이 배제하므로, 하향한다면 13세 전체를 포함할지 중대범죄에만 예외를 둘지 정해야 한다.</a:t>
            </a:r>
          </a:p>
        </p:txBody>
      </p:sp>
      <p:sp>
        <p:nvSpPr>
          <p:cNvPr id="9" name="HEAD9"/>
          <p:cNvSpPr/>
          <p:nvPr/>
        </p:nvSpPr>
        <p:spPr>
          <a:xfrm>
            <a:off x="731520" y="2034540"/>
            <a:ext cx="2240280" cy="915264"/>
          </a:xfrm>
          <a:prstGeom prst="rect">
            <a:avLst/>
          </a:prstGeom>
          <a:noFill/>
          <a:ln/>
        </p:spPr>
        <p:txBody>
          <a:bodyPr wrap="square" lIns="0" tIns="0" rIns="0" bIns="0" rtlCol="0" anchor="ctr"/>
          <a:lstStyle/>
          <a:p>
            <a:pPr algn="ctr">
              <a:lnSpc>
                <a:spcPct val="118000"/>
              </a:lnSpc>
            </a:pPr>
            <a:r>
              <a:rPr lang="ko-KR" altLang="en-US" sz="1300" b="1" dirty="0" err="1">
                <a:solidFill>
                  <a:srgbClr val="1E2761"/>
                </a:solidFill>
                <a:latin typeface="Pretendard" pitchFamily="34" charset="0"/>
                <a:ea typeface="Pretendard" pitchFamily="34" charset="-122"/>
                <a:cs typeface="Pretendard" pitchFamily="34" charset="-120"/>
              </a:rPr>
              <a:t>연령선</a:t>
            </a:r>
            <a:r>
              <a:rPr lang="ko-KR" altLang="en-US" sz="1300" b="1" dirty="0">
                <a:solidFill>
                  <a:srgbClr val="1E2761"/>
                </a:solidFill>
                <a:latin typeface="Pretendard" pitchFamily="34" charset="0"/>
                <a:ea typeface="Pretendard" pitchFamily="34" charset="-122"/>
                <a:cs typeface="Pretendard" pitchFamily="34" charset="-120"/>
              </a:rPr>
              <a:t> 아래의 예외범죄</a:t>
            </a:r>
          </a:p>
        </p:txBody>
      </p:sp>
      <p:sp>
        <p:nvSpPr>
          <p:cNvPr id="10" name="RULE10"/>
          <p:cNvSpPr/>
          <p:nvPr/>
        </p:nvSpPr>
        <p:spPr>
          <a:xfrm>
            <a:off x="731520" y="2972664"/>
            <a:ext cx="10725912" cy="0"/>
          </a:xfrm>
          <a:prstGeom prst="line">
            <a:avLst/>
          </a:prstGeom>
          <a:ln w="9525">
            <a:solidFill>
              <a:srgbClr val="DCE0E8"/>
            </a:solidFill>
          </a:ln>
        </p:spPr>
        <p:txBody>
          <a:bodyPr/>
          <a:lstStyle/>
          <a:p>
            <a:endParaRPr lang="ko-KR"/>
          </a:p>
        </p:txBody>
      </p:sp>
      <p:sp>
        <p:nvSpPr>
          <p:cNvPr id="11" name="BODY11"/>
          <p:cNvSpPr/>
          <p:nvPr/>
        </p:nvSpPr>
        <p:spPr>
          <a:xfrm>
            <a:off x="3154680" y="3041421"/>
            <a:ext cx="8302752" cy="713740"/>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최저연령선과 책임능력 판단은 하나의 기준이 아니라 서로 다른 두 단계가 될 수 있다</a:t>
            </a:r>
          </a:p>
          <a:p>
            <a:pPr marL="0" indent="0">
              <a:lnSpc>
                <a:spcPct val="125000"/>
              </a:lnSpc>
              <a:buNone/>
            </a:pPr>
            <a:r>
              <a:rPr lang="ko-KR" altLang="en-US" sz="1150" dirty="0">
                <a:solidFill>
                  <a:srgbClr val="464D5C"/>
                </a:solidFill>
                <a:latin typeface="Pretendard" pitchFamily="34" charset="0"/>
                <a:ea typeface="Pretendard" pitchFamily="34" charset="-122"/>
                <a:cs typeface="Pretendard" pitchFamily="34" charset="-120"/>
              </a:rPr>
              <a:t>독일은 14~17세에 소년 연령 특유의 성숙성 요건을 둔다. 한국에는 같은 추가 요건은 없고 형법 제10조의 일반 책임능력 규정이 별도로 적용되므로, 13세 편입 시 별도 요건을 둘지 정해야 한다.</a:t>
            </a:r>
          </a:p>
        </p:txBody>
      </p:sp>
      <p:sp>
        <p:nvSpPr>
          <p:cNvPr id="12" name="HEAD12"/>
          <p:cNvSpPr/>
          <p:nvPr/>
        </p:nvSpPr>
        <p:spPr>
          <a:xfrm>
            <a:off x="731520" y="2949804"/>
            <a:ext cx="2240280" cy="915264"/>
          </a:xfrm>
          <a:prstGeom prst="rect">
            <a:avLst/>
          </a:prstGeom>
          <a:noFill/>
          <a:ln/>
        </p:spPr>
        <p:txBody>
          <a:bodyPr wrap="square" lIns="0" tIns="0" rIns="0" bIns="0" rtlCol="0" anchor="ctr"/>
          <a:lstStyle/>
          <a:p>
            <a:pPr algn="ctr">
              <a:lnSpc>
                <a:spcPct val="118000"/>
              </a:lnSpc>
            </a:pPr>
            <a:r>
              <a:rPr lang="ko-KR" altLang="en-US" sz="1300" b="1" dirty="0" err="1">
                <a:solidFill>
                  <a:srgbClr val="1E2761"/>
                </a:solidFill>
                <a:latin typeface="Pretendard" pitchFamily="34" charset="0"/>
                <a:ea typeface="Pretendard" pitchFamily="34" charset="-122"/>
                <a:cs typeface="Pretendard" pitchFamily="34" charset="-120"/>
              </a:rPr>
              <a:t>연령선</a:t>
            </a:r>
            <a:r>
              <a:rPr lang="ko-KR" altLang="en-US" sz="1300" b="1" dirty="0">
                <a:solidFill>
                  <a:srgbClr val="1E2761"/>
                </a:solidFill>
                <a:latin typeface="Pretendard" pitchFamily="34" charset="0"/>
                <a:ea typeface="Pretendard" pitchFamily="34" charset="-122"/>
                <a:cs typeface="Pretendard" pitchFamily="34" charset="-120"/>
              </a:rPr>
              <a:t> 위의 추가 책임판단</a:t>
            </a:r>
          </a:p>
        </p:txBody>
      </p:sp>
      <p:sp>
        <p:nvSpPr>
          <p:cNvPr id="13" name="RULE13"/>
          <p:cNvSpPr/>
          <p:nvPr/>
        </p:nvSpPr>
        <p:spPr>
          <a:xfrm>
            <a:off x="731520" y="3887927"/>
            <a:ext cx="10725912" cy="0"/>
          </a:xfrm>
          <a:prstGeom prst="line">
            <a:avLst/>
          </a:prstGeom>
          <a:ln w="9525">
            <a:solidFill>
              <a:srgbClr val="DCE0E8"/>
            </a:solidFill>
          </a:ln>
        </p:spPr>
        <p:txBody>
          <a:bodyPr/>
          <a:lstStyle/>
          <a:p>
            <a:endParaRPr lang="ko-KR"/>
          </a:p>
        </p:txBody>
      </p:sp>
      <p:sp>
        <p:nvSpPr>
          <p:cNvPr id="14" name="BODY14"/>
          <p:cNvSpPr/>
          <p:nvPr/>
        </p:nvSpPr>
        <p:spPr>
          <a:xfrm>
            <a:off x="3154680" y="4020185"/>
            <a:ext cx="8302752" cy="713740"/>
          </a:xfrm>
          <a:prstGeom prst="rect">
            <a:avLst/>
          </a:prstGeom>
          <a:noFill/>
          <a:ln/>
        </p:spPr>
        <p:txBody>
          <a:bodyPr wrap="square" lIns="0" tIns="0" rIns="0" bIns="0" rtlCol="0" anchor="t"/>
          <a:lstStyle/>
          <a:p>
            <a:pPr>
              <a:spcAft>
                <a:spcPts val="400"/>
              </a:spcAft>
            </a:pPr>
            <a:r>
              <a:rPr lang="ko-KR" altLang="en-US" sz="1250" b="1" dirty="0">
                <a:solidFill>
                  <a:srgbClr val="222633"/>
                </a:solidFill>
                <a:latin typeface="Pretendard" pitchFamily="34" charset="0"/>
                <a:ea typeface="Pretendard" pitchFamily="34" charset="-122"/>
                <a:cs typeface="Pretendard" pitchFamily="34" charset="-120"/>
              </a:rPr>
              <a:t>한국은 이미 </a:t>
            </a:r>
            <a:r>
              <a:rPr lang="en-US" altLang="ko-KR" sz="1250" b="1" dirty="0">
                <a:solidFill>
                  <a:srgbClr val="222633"/>
                </a:solidFill>
                <a:latin typeface="Pretendard" pitchFamily="34" charset="0"/>
                <a:ea typeface="Pretendard" pitchFamily="34" charset="-122"/>
                <a:cs typeface="Pretendard" pitchFamily="34" charset="-120"/>
              </a:rPr>
              <a:t>10~13</a:t>
            </a:r>
            <a:r>
              <a:rPr lang="ko-KR" altLang="en-US" sz="1250" b="1" dirty="0">
                <a:solidFill>
                  <a:srgbClr val="222633"/>
                </a:solidFill>
                <a:latin typeface="Pretendard" pitchFamily="34" charset="0"/>
                <a:ea typeface="Pretendard" pitchFamily="34" charset="-122"/>
                <a:cs typeface="Pretendard" pitchFamily="34" charset="-120"/>
              </a:rPr>
              <a:t>세에 소년부 심리와 보호처분을 두고 있다</a:t>
            </a:r>
            <a:r>
              <a:rPr lang="en-US" altLang="ko-KR" sz="1250" b="1" dirty="0">
                <a:solidFill>
                  <a:srgbClr val="222633"/>
                </a:solidFill>
                <a:latin typeface="Pretendard" pitchFamily="34" charset="0"/>
                <a:ea typeface="Pretendard" pitchFamily="34" charset="-122"/>
                <a:cs typeface="Pretendard" pitchFamily="34" charset="-120"/>
              </a:rPr>
              <a:t>.</a:t>
            </a:r>
          </a:p>
          <a:p>
            <a:pPr>
              <a:spcAft>
                <a:spcPts val="400"/>
              </a:spcAft>
            </a:pPr>
            <a:r>
              <a:rPr lang="ko-KR" altLang="en-US" sz="1150" dirty="0">
                <a:solidFill>
                  <a:srgbClr val="464D5C"/>
                </a:solidFill>
                <a:latin typeface="Pretendard" pitchFamily="34" charset="0"/>
                <a:ea typeface="Pretendard" pitchFamily="34" charset="-122"/>
                <a:cs typeface="Pretendard" pitchFamily="34" charset="-120"/>
              </a:rPr>
              <a:t>따라서 </a:t>
            </a:r>
            <a:r>
              <a:rPr lang="en-US" altLang="ko-KR" sz="1150" dirty="0">
                <a:solidFill>
                  <a:srgbClr val="464D5C"/>
                </a:solidFill>
                <a:latin typeface="Pretendard" pitchFamily="34" charset="0"/>
                <a:ea typeface="Pretendard" pitchFamily="34" charset="-122"/>
                <a:cs typeface="Pretendard" pitchFamily="34" charset="-120"/>
              </a:rPr>
              <a:t>13</a:t>
            </a:r>
            <a:r>
              <a:rPr lang="ko-KR" altLang="en-US" sz="1150" dirty="0">
                <a:solidFill>
                  <a:srgbClr val="464D5C"/>
                </a:solidFill>
                <a:latin typeface="Pretendard" pitchFamily="34" charset="0"/>
                <a:ea typeface="Pretendard" pitchFamily="34" charset="-122"/>
                <a:cs typeface="Pretendard" pitchFamily="34" charset="-120"/>
              </a:rPr>
              <a:t>세 하향에서는 대응수단이 ‘</a:t>
            </a:r>
            <a:r>
              <a:rPr lang="ko-KR" altLang="en-US" sz="1150" dirty="0" err="1">
                <a:solidFill>
                  <a:srgbClr val="464D5C"/>
                </a:solidFill>
                <a:latin typeface="Pretendard" pitchFamily="34" charset="0"/>
                <a:ea typeface="Pretendard" pitchFamily="34" charset="-122"/>
                <a:cs typeface="Pretendard" pitchFamily="34" charset="-120"/>
              </a:rPr>
              <a:t>없는가’보다</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현행 보호체계에서 부족한 것이 처분 자체인지 조사</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선별</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집행여건인지</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아니면 형벌에 의한 책임 인정인지 구분해야 한다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15" name="HEAD15"/>
          <p:cNvSpPr/>
          <p:nvPr/>
        </p:nvSpPr>
        <p:spPr>
          <a:xfrm>
            <a:off x="731520" y="3865067"/>
            <a:ext cx="2240280" cy="915264"/>
          </a:xfrm>
          <a:prstGeom prst="rect">
            <a:avLst/>
          </a:prstGeom>
          <a:noFill/>
          <a:ln/>
        </p:spPr>
        <p:txBody>
          <a:bodyPr wrap="square" lIns="0" tIns="0" rIns="0" bIns="0" rtlCol="0" anchor="ctr"/>
          <a:lstStyle/>
          <a:p>
            <a:pPr algn="ctr">
              <a:lnSpc>
                <a:spcPct val="118000"/>
              </a:lnSpc>
            </a:pPr>
            <a:r>
              <a:rPr lang="ko-KR" altLang="en-US" sz="1300" b="1" dirty="0">
                <a:solidFill>
                  <a:srgbClr val="1E2761"/>
                </a:solidFill>
                <a:latin typeface="Pretendard" pitchFamily="34" charset="0"/>
                <a:ea typeface="Pretendard" pitchFamily="34" charset="-122"/>
                <a:cs typeface="Pretendard" pitchFamily="34" charset="-120"/>
              </a:rPr>
              <a:t>형사책임 밖의 대응수단</a:t>
            </a:r>
          </a:p>
        </p:txBody>
      </p:sp>
      <p:sp>
        <p:nvSpPr>
          <p:cNvPr id="16" name="RULE16"/>
          <p:cNvSpPr/>
          <p:nvPr/>
        </p:nvSpPr>
        <p:spPr>
          <a:xfrm>
            <a:off x="731520" y="4803191"/>
            <a:ext cx="10725912" cy="0"/>
          </a:xfrm>
          <a:prstGeom prst="line">
            <a:avLst/>
          </a:prstGeom>
          <a:ln w="9525">
            <a:solidFill>
              <a:srgbClr val="DCE0E8"/>
            </a:solidFill>
          </a:ln>
        </p:spPr>
        <p:txBody>
          <a:bodyPr/>
          <a:lstStyle/>
          <a:p>
            <a:endParaRPr lang="ko-KR"/>
          </a:p>
        </p:txBody>
      </p:sp>
      <p:sp>
        <p:nvSpPr>
          <p:cNvPr id="17" name="BODY17"/>
          <p:cNvSpPr/>
          <p:nvPr/>
        </p:nvSpPr>
        <p:spPr>
          <a:xfrm>
            <a:off x="3154680" y="4986503"/>
            <a:ext cx="8302752" cy="548640"/>
          </a:xfrm>
          <a:prstGeom prst="rect">
            <a:avLst/>
          </a:prstGeom>
          <a:noFill/>
          <a:ln/>
        </p:spPr>
        <p:txBody>
          <a:bodyPr wrap="square" lIns="0" tIns="0" rIns="0" bIns="0" rtlCol="0" anchor="t"/>
          <a:lstStyle/>
          <a:p>
            <a:pPr>
              <a:lnSpc>
                <a:spcPct val="118000"/>
              </a:lnSpc>
              <a:spcAft>
                <a:spcPts val="400"/>
              </a:spcAft>
            </a:pPr>
            <a:r>
              <a:rPr lang="ko-KR" altLang="en-US" sz="1250" b="1" dirty="0">
                <a:solidFill>
                  <a:srgbClr val="222633"/>
                </a:solidFill>
                <a:latin typeface="Pretendard" pitchFamily="34" charset="0"/>
                <a:ea typeface="Pretendard" pitchFamily="34" charset="-122"/>
                <a:cs typeface="Pretendard" pitchFamily="34" charset="-120"/>
              </a:rPr>
              <a:t>한국도 범죄소년에게 구속 제한</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소년 특성을 고려한 심리</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형의 완화와 부정기형</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분리수용</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가석방</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자격법령상 특례 등을 둔다</a:t>
            </a:r>
            <a:r>
              <a:rPr lang="en-US" altLang="ko-KR" sz="1250" b="1" dirty="0">
                <a:solidFill>
                  <a:srgbClr val="222633"/>
                </a:solidFill>
                <a:latin typeface="Pretendard" pitchFamily="34" charset="0"/>
                <a:ea typeface="Pretendard" pitchFamily="34" charset="-122"/>
                <a:cs typeface="Pretendard" pitchFamily="34" charset="-120"/>
              </a:rPr>
              <a:t>..</a:t>
            </a:r>
            <a:endParaRPr lang="ko-KR" altLang="en-US" sz="1250" b="1" dirty="0">
              <a:solidFill>
                <a:srgbClr val="222633"/>
              </a:solidFill>
              <a:latin typeface="Pretendard" pitchFamily="34" charset="0"/>
              <a:ea typeface="Pretendard" pitchFamily="34" charset="-122"/>
              <a:cs typeface="Pretendard" pitchFamily="34" charset="-120"/>
            </a:endParaRPr>
          </a:p>
          <a:p>
            <a:pPr>
              <a:lnSpc>
                <a:spcPct val="125000"/>
              </a:lnSpc>
            </a:pPr>
            <a:r>
              <a:rPr lang="en-US" altLang="ko-KR" sz="1150" dirty="0">
                <a:solidFill>
                  <a:srgbClr val="464D5C"/>
                </a:solidFill>
                <a:latin typeface="Pretendard" pitchFamily="34" charset="0"/>
                <a:ea typeface="Pretendard" pitchFamily="34" charset="-122"/>
                <a:cs typeface="Pretendard" pitchFamily="34" charset="-120"/>
              </a:rPr>
              <a:t>13</a:t>
            </a:r>
            <a:r>
              <a:rPr lang="ko-KR" altLang="en-US" sz="1150" dirty="0">
                <a:solidFill>
                  <a:srgbClr val="464D5C"/>
                </a:solidFill>
                <a:latin typeface="Pretendard" pitchFamily="34" charset="0"/>
                <a:ea typeface="Pretendard" pitchFamily="34" charset="-122"/>
                <a:cs typeface="Pretendard" pitchFamily="34" charset="-120"/>
              </a:rPr>
              <a:t>세를 새로 포함한다면 기존 </a:t>
            </a:r>
            <a:r>
              <a:rPr lang="en-US" altLang="ko-KR" sz="1150" dirty="0">
                <a:solidFill>
                  <a:srgbClr val="464D5C"/>
                </a:solidFill>
                <a:latin typeface="Pretendard" pitchFamily="34" charset="0"/>
                <a:ea typeface="Pretendard" pitchFamily="34" charset="-122"/>
                <a:cs typeface="Pretendard" pitchFamily="34" charset="-120"/>
              </a:rPr>
              <a:t>14~18</a:t>
            </a:r>
            <a:r>
              <a:rPr lang="ko-KR" altLang="en-US" sz="1150" dirty="0">
                <a:solidFill>
                  <a:srgbClr val="464D5C"/>
                </a:solidFill>
                <a:latin typeface="Pretendard" pitchFamily="34" charset="0"/>
                <a:ea typeface="Pretendard" pitchFamily="34" charset="-122"/>
                <a:cs typeface="Pretendard" pitchFamily="34" charset="-120"/>
              </a:rPr>
              <a:t>세와 같은 특례를 그대로 적용할지</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가장 어린 범죄소년에게 추가적인 절차</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처우 장치를 둘지도 판단해야 한다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18" name="HEAD18"/>
          <p:cNvSpPr/>
          <p:nvPr/>
        </p:nvSpPr>
        <p:spPr>
          <a:xfrm>
            <a:off x="731520" y="4780331"/>
            <a:ext cx="2240280" cy="915264"/>
          </a:xfrm>
          <a:prstGeom prst="rect">
            <a:avLst/>
          </a:prstGeom>
          <a:noFill/>
          <a:ln/>
        </p:spPr>
        <p:txBody>
          <a:bodyPr wrap="square" lIns="0" tIns="0" rIns="0" bIns="0" rtlCol="0" anchor="ctr"/>
          <a:lstStyle/>
          <a:p>
            <a:pPr algn="ctr">
              <a:lnSpc>
                <a:spcPct val="118000"/>
              </a:lnSpc>
            </a:pPr>
            <a:r>
              <a:rPr lang="ko-KR" altLang="en-US" sz="1300" b="1" dirty="0">
                <a:solidFill>
                  <a:srgbClr val="1E2761"/>
                </a:solidFill>
                <a:latin typeface="Pretendard" pitchFamily="34" charset="0"/>
                <a:ea typeface="Pretendard" pitchFamily="34" charset="-122"/>
                <a:cs typeface="Pretendard" pitchFamily="34" charset="-120"/>
              </a:rPr>
              <a:t>형사책임 인정 이후의 소년 특례</a:t>
            </a:r>
          </a:p>
        </p:txBody>
      </p:sp>
      <p:sp>
        <p:nvSpPr>
          <p:cNvPr id="19" name="RULE19"/>
          <p:cNvSpPr/>
          <p:nvPr/>
        </p:nvSpPr>
        <p:spPr>
          <a:xfrm>
            <a:off x="731520" y="5718454"/>
            <a:ext cx="10725912" cy="0"/>
          </a:xfrm>
          <a:prstGeom prst="line">
            <a:avLst/>
          </a:prstGeom>
          <a:ln w="9525">
            <a:solidFill>
              <a:srgbClr val="DCE0E8"/>
            </a:solidFill>
          </a:ln>
        </p:spPr>
        <p:txBody>
          <a:bodyPr/>
          <a:lstStyle/>
          <a:p>
            <a:endParaRPr lang="ko-KR"/>
          </a:p>
        </p:txBody>
      </p:sp>
      <p:sp>
        <p:nvSpPr>
          <p:cNvPr id="20" name="CLOSE20"/>
          <p:cNvSpPr/>
          <p:nvPr/>
        </p:nvSpPr>
        <p:spPr>
          <a:xfrm>
            <a:off x="1005840" y="5843980"/>
            <a:ext cx="10725912" cy="575107"/>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연령 하향은 기준연령 하나를 바꾸는 문제가 아니라, 누구를 형사경로에 넣고 그 전후를 어떻게 다룰지 함께 정하는 문제이다.</a:t>
            </a:r>
          </a:p>
        </p:txBody>
      </p:sp>
      <p:sp>
        <p:nvSpPr>
          <p:cNvPr id="22"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형법 제9조·제10조 · 소년법 제4조·제32조·제60조 · 독일 JGG §3 · 아일랜드 Children Act 2001 §52 · 중국 형법 제17조 · 일본 소년법 · 스코틀랜드·네덜란드 소년사법 제도</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일반논평 제24호 Ⅱ</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en-US" altLang="ko-KR" sz="2750" b="1" dirty="0">
                <a:solidFill>
                  <a:srgbClr val="1E2761"/>
                </a:solidFill>
                <a:latin typeface="Pretendard" pitchFamily="34" charset="0"/>
                <a:ea typeface="Pretendard" pitchFamily="34" charset="-122"/>
                <a:cs typeface="Pretendard" pitchFamily="34" charset="-120"/>
              </a:rPr>
              <a:t>UN </a:t>
            </a:r>
            <a:r>
              <a:rPr lang="ko-KR" altLang="en-US" sz="2750" b="1" dirty="0">
                <a:solidFill>
                  <a:srgbClr val="1E2761"/>
                </a:solidFill>
                <a:latin typeface="Pretendard" pitchFamily="34" charset="0"/>
                <a:ea typeface="Pretendard" pitchFamily="34" charset="-122"/>
                <a:cs typeface="Pretendard" pitchFamily="34" charset="-120"/>
              </a:rPr>
              <a:t>일반논평 제24호 Ⅰ — 최저연령과 중대범죄 예외</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a:lnSpc>
                <a:spcPct val="118000"/>
              </a:lnSpc>
            </a:pPr>
            <a:r>
              <a:rPr lang="en-US" altLang="ko-KR" sz="1300" b="1" dirty="0">
                <a:solidFill>
                  <a:srgbClr val="1E2761"/>
                </a:solidFill>
                <a:latin typeface="Pretendard" pitchFamily="34" charset="0"/>
                <a:ea typeface="Pretendard" pitchFamily="34" charset="-122"/>
                <a:cs typeface="Pretendard" pitchFamily="34" charset="-120"/>
              </a:rPr>
              <a:t>UN </a:t>
            </a:r>
            <a:r>
              <a:rPr lang="ko-KR" altLang="en-US" sz="1300" b="1" dirty="0">
                <a:solidFill>
                  <a:srgbClr val="1E2761"/>
                </a:solidFill>
                <a:latin typeface="Pretendard" pitchFamily="34" charset="0"/>
                <a:ea typeface="Pretendard" pitchFamily="34" charset="-122"/>
                <a:cs typeface="Pretendard" pitchFamily="34" charset="-120"/>
              </a:rPr>
              <a:t>아동권리위원회는 형사책임 최저연령을 적어도 </a:t>
            </a:r>
            <a:r>
              <a:rPr lang="en-US" altLang="ko-KR" sz="1300" b="1" dirty="0">
                <a:solidFill>
                  <a:srgbClr val="1E2761"/>
                </a:solidFill>
                <a:latin typeface="Pretendard" pitchFamily="34" charset="0"/>
                <a:ea typeface="Pretendard" pitchFamily="34" charset="-122"/>
                <a:cs typeface="Pretendard" pitchFamily="34" charset="-120"/>
              </a:rPr>
              <a:t>14</a:t>
            </a:r>
            <a:r>
              <a:rPr lang="ko-KR" altLang="en-US" sz="1300" b="1" dirty="0">
                <a:solidFill>
                  <a:srgbClr val="1E2761"/>
                </a:solidFill>
                <a:latin typeface="Pretendard" pitchFamily="34" charset="0"/>
                <a:ea typeface="Pretendard" pitchFamily="34" charset="-122"/>
                <a:cs typeface="Pretendard" pitchFamily="34" charset="-120"/>
              </a:rPr>
              <a:t>세로 두고</a:t>
            </a:r>
            <a:r>
              <a:rPr lang="en-US" altLang="ko-KR" sz="1300" b="1" dirty="0">
                <a:solidFill>
                  <a:srgbClr val="1E2761"/>
                </a:solidFill>
                <a:latin typeface="Pretendard" pitchFamily="34" charset="0"/>
                <a:ea typeface="Pretendard" pitchFamily="34" charset="-122"/>
                <a:cs typeface="Pretendard" pitchFamily="34" charset="-120"/>
              </a:rPr>
              <a:t>, </a:t>
            </a:r>
            <a:r>
              <a:rPr lang="ko-KR" altLang="en-US" sz="1300" b="1" dirty="0">
                <a:solidFill>
                  <a:srgbClr val="1E2761"/>
                </a:solidFill>
                <a:latin typeface="Pretendard" pitchFamily="34" charset="0"/>
                <a:ea typeface="Pretendard" pitchFamily="34" charset="-122"/>
                <a:cs typeface="Pretendard" pitchFamily="34" charset="-120"/>
              </a:rPr>
              <a:t>중대범죄를 이유로 더 어린 연령에 형사책임을 묻는 예외도 없애라고 권고한다</a:t>
            </a:r>
            <a:r>
              <a:rPr lang="en-US" altLang="ko-KR" sz="1300" b="1" dirty="0">
                <a:solidFill>
                  <a:srgbClr val="1E2761"/>
                </a:solidFill>
                <a:latin typeface="Pretendard" pitchFamily="34" charset="0"/>
                <a:ea typeface="Pretendard" pitchFamily="34" charset="-122"/>
                <a:cs typeface="Pretendard" pitchFamily="34" charset="-120"/>
              </a:rPr>
              <a:t>.</a:t>
            </a:r>
            <a:endParaRPr lang="ko-KR" altLang="en-US" sz="1300" b="1" dirty="0">
              <a:solidFill>
                <a:srgbClr val="1E2761"/>
              </a:solidFill>
              <a:latin typeface="Pretendard" pitchFamily="34" charset="0"/>
              <a:ea typeface="Pretendard" pitchFamily="34" charset="-122"/>
              <a:cs typeface="Pretendard" pitchFamily="34" charset="-120"/>
            </a:endParaRP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ODY8"/>
          <p:cNvSpPr/>
          <p:nvPr/>
        </p:nvSpPr>
        <p:spPr>
          <a:xfrm>
            <a:off x="3154680" y="2362532"/>
            <a:ext cx="8302752" cy="553281"/>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UN 아동권리위원회가 아동권리협약의 소년사법 원칙을 구체화한 2019년 공식 일반논평이다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제22항·제25항은 아동권리협약의 조문이 아니라 일반논평 본문의 문단번호다.</a:t>
            </a:r>
          </a:p>
        </p:txBody>
      </p:sp>
      <p:sp>
        <p:nvSpPr>
          <p:cNvPr id="9" name="HEAD9"/>
          <p:cNvSpPr/>
          <p:nvPr/>
        </p:nvSpPr>
        <p:spPr>
          <a:xfrm>
            <a:off x="731520" y="2034540"/>
            <a:ext cx="2240280" cy="1094448"/>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일반논평 제24호</a:t>
            </a:r>
          </a:p>
        </p:txBody>
      </p:sp>
      <p:sp>
        <p:nvSpPr>
          <p:cNvPr id="10" name="RULE10"/>
          <p:cNvSpPr/>
          <p:nvPr/>
        </p:nvSpPr>
        <p:spPr>
          <a:xfrm>
            <a:off x="731520" y="3151848"/>
            <a:ext cx="10725912" cy="0"/>
          </a:xfrm>
          <a:prstGeom prst="line">
            <a:avLst/>
          </a:prstGeom>
          <a:ln w="9525">
            <a:solidFill>
              <a:srgbClr val="DCE0E8"/>
            </a:solidFill>
          </a:ln>
        </p:spPr>
        <p:txBody>
          <a:bodyPr/>
          <a:lstStyle/>
          <a:p>
            <a:endParaRPr lang="ko-KR"/>
          </a:p>
        </p:txBody>
      </p:sp>
      <p:sp>
        <p:nvSpPr>
          <p:cNvPr id="11" name="BODY11"/>
          <p:cNvSpPr/>
          <p:nvPr/>
        </p:nvSpPr>
        <p:spPr>
          <a:xfrm>
            <a:off x="3154680" y="3297066"/>
            <a:ext cx="8302752" cy="740004"/>
          </a:xfrm>
          <a:prstGeom prst="rect">
            <a:avLst/>
          </a:prstGeom>
          <a:noFill/>
          <a:ln/>
        </p:spPr>
        <p:txBody>
          <a:bodyPr wrap="square" lIns="0" tIns="0" rIns="0" bIns="0" rtlCol="0" anchor="t"/>
          <a:lstStyle/>
          <a:p>
            <a:pPr>
              <a:lnSpc>
                <a:spcPct val="118000"/>
              </a:lnSpc>
              <a:spcAft>
                <a:spcPts val="400"/>
              </a:spcAft>
            </a:pPr>
            <a:r>
              <a:rPr lang="ko-KR" altLang="en-US" sz="1250" b="1" dirty="0">
                <a:solidFill>
                  <a:srgbClr val="222633"/>
                </a:solidFill>
                <a:latin typeface="Pretendard" pitchFamily="34" charset="0"/>
                <a:ea typeface="Pretendard" pitchFamily="34" charset="-122"/>
                <a:cs typeface="Pretendard" pitchFamily="34" charset="-120"/>
              </a:rPr>
              <a:t>형사책임 최저연령을 적어도 </a:t>
            </a:r>
            <a:r>
              <a:rPr lang="en-US" altLang="ko-KR" sz="1250" b="1" dirty="0">
                <a:solidFill>
                  <a:srgbClr val="222633"/>
                </a:solidFill>
                <a:latin typeface="Pretendard" pitchFamily="34" charset="0"/>
                <a:ea typeface="Pretendard" pitchFamily="34" charset="-122"/>
                <a:cs typeface="Pretendard" pitchFamily="34" charset="-120"/>
              </a:rPr>
              <a:t>14</a:t>
            </a:r>
            <a:r>
              <a:rPr lang="ko-KR" altLang="en-US" sz="1250" b="1" dirty="0">
                <a:solidFill>
                  <a:srgbClr val="222633"/>
                </a:solidFill>
                <a:latin typeface="Pretendard" pitchFamily="34" charset="0"/>
                <a:ea typeface="Pretendard" pitchFamily="34" charset="-122"/>
                <a:cs typeface="Pretendard" pitchFamily="34" charset="-120"/>
              </a:rPr>
              <a:t>세로 설정하고</a:t>
            </a:r>
            <a:r>
              <a:rPr lang="en-US" altLang="ko-KR" sz="1250" b="1" dirty="0">
                <a:solidFill>
                  <a:srgbClr val="222633"/>
                </a:solidFill>
                <a:latin typeface="Pretendard" pitchFamily="34" charset="0"/>
                <a:ea typeface="Pretendard" pitchFamily="34" charset="-122"/>
                <a:cs typeface="Pretendard" pitchFamily="34" charset="-120"/>
              </a:rPr>
              <a:t>, </a:t>
            </a:r>
            <a:r>
              <a:rPr lang="ko-KR" altLang="en-US" sz="1250" b="1" dirty="0">
                <a:solidFill>
                  <a:srgbClr val="222633"/>
                </a:solidFill>
                <a:latin typeface="Pretendard" pitchFamily="34" charset="0"/>
                <a:ea typeface="Pretendard" pitchFamily="34" charset="-122"/>
                <a:cs typeface="Pretendard" pitchFamily="34" charset="-120"/>
              </a:rPr>
              <a:t>이미 더 높은 기준을 둔 국가는 낮추지 말라고 권고한다</a:t>
            </a:r>
          </a:p>
          <a:p>
            <a:pPr marL="0" indent="0">
              <a:lnSpc>
                <a:spcPct val="118000"/>
              </a:lnSpc>
              <a:spcAft>
                <a:spcPts val="400"/>
              </a:spcAft>
              <a:buNone/>
            </a:pPr>
            <a:r>
              <a:rPr lang="ko-KR" altLang="en-US" sz="1150" dirty="0">
                <a:solidFill>
                  <a:srgbClr val="464D5C"/>
                </a:solidFill>
                <a:latin typeface="Pretendard" pitchFamily="34" charset="0"/>
                <a:ea typeface="Pretendard" pitchFamily="34" charset="-122"/>
                <a:cs typeface="Pretendard" pitchFamily="34" charset="-120"/>
              </a:rPr>
              <a:t>위원회는 12~13세에도 성숙성과 추상적 사고가 계속 발달하며, 행동의 영향과 형사절차를 충분히 이해하기 어려울 수 있다고 본다.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15세·16세처럼 이미 더 높은 기준을 둔 국가에는 그 연령을 낮추지 말라고 촉구한다.</a:t>
            </a:r>
          </a:p>
        </p:txBody>
      </p:sp>
      <p:sp>
        <p:nvSpPr>
          <p:cNvPr id="12" name="HEAD12"/>
          <p:cNvSpPr/>
          <p:nvPr/>
        </p:nvSpPr>
        <p:spPr>
          <a:xfrm>
            <a:off x="731520" y="3128988"/>
            <a:ext cx="2240280" cy="1094448"/>
          </a:xfrm>
          <a:prstGeom prst="rect">
            <a:avLst/>
          </a:prstGeom>
          <a:noFill/>
          <a:ln/>
        </p:spPr>
        <p:txBody>
          <a:bodyPr wrap="square" lIns="0" tIns="0" rIns="0" bIns="0" rtlCol="0" anchor="ctr"/>
          <a:lstStyle/>
          <a:p>
            <a:pPr marL="0" indent="0" algn="ctr">
              <a:lnSpc>
                <a:spcPct val="118000"/>
              </a:lnSpc>
              <a:buNone/>
            </a:pPr>
            <a:r>
              <a:rPr lang="ko-KR" altLang="en-US" sz="1300" b="1" dirty="0">
                <a:solidFill>
                  <a:schemeClr val="tx1">
                    <a:lumMod val="50000"/>
                    <a:lumOff val="50000"/>
                  </a:schemeClr>
                </a:solidFill>
                <a:latin typeface="Pretendard" pitchFamily="34" charset="0"/>
                <a:ea typeface="Pretendard" pitchFamily="34" charset="-122"/>
                <a:cs typeface="Pretendard" pitchFamily="34" charset="-120"/>
              </a:rPr>
              <a:t>제22항 </a:t>
            </a:r>
            <a:endParaRPr lang="en-US" altLang="ko-KR" sz="1300" b="1" dirty="0">
              <a:solidFill>
                <a:schemeClr val="tx1">
                  <a:lumMod val="50000"/>
                  <a:lumOff val="50000"/>
                </a:schemeClr>
              </a:solidFill>
              <a:latin typeface="Pretendard" pitchFamily="34" charset="0"/>
              <a:ea typeface="Pretendard" pitchFamily="34" charset="-122"/>
              <a:cs typeface="Pretendard" pitchFamily="34" charset="-120"/>
            </a:endParaRPr>
          </a:p>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최저연령</a:t>
            </a:r>
          </a:p>
        </p:txBody>
      </p:sp>
      <p:sp>
        <p:nvSpPr>
          <p:cNvPr id="13" name="RULE13"/>
          <p:cNvSpPr/>
          <p:nvPr/>
        </p:nvSpPr>
        <p:spPr>
          <a:xfrm>
            <a:off x="731520" y="4246296"/>
            <a:ext cx="10725912" cy="0"/>
          </a:xfrm>
          <a:prstGeom prst="line">
            <a:avLst/>
          </a:prstGeom>
          <a:ln w="9525">
            <a:solidFill>
              <a:srgbClr val="DCE0E8"/>
            </a:solidFill>
          </a:ln>
        </p:spPr>
        <p:txBody>
          <a:bodyPr/>
          <a:lstStyle/>
          <a:p>
            <a:endParaRPr lang="ko-KR"/>
          </a:p>
        </p:txBody>
      </p:sp>
      <p:sp>
        <p:nvSpPr>
          <p:cNvPr id="14" name="BODY14"/>
          <p:cNvSpPr/>
          <p:nvPr/>
        </p:nvSpPr>
        <p:spPr>
          <a:xfrm>
            <a:off x="3154680" y="4391514"/>
            <a:ext cx="8302752" cy="740004"/>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중대한 범죄라는 이유로 기본 최저연령보다 어린 아동에게 형사책임을 묻는 예외를 폐지하라고 권고한다</a:t>
            </a:r>
          </a:p>
          <a:p>
            <a:pPr marL="0" indent="0">
              <a:lnSpc>
                <a:spcPct val="118000"/>
              </a:lnSpc>
              <a:spcAft>
                <a:spcPts val="400"/>
              </a:spcAft>
              <a:buNone/>
            </a:pPr>
            <a:r>
              <a:rPr lang="ko-KR" altLang="en-US" sz="1150" dirty="0">
                <a:solidFill>
                  <a:srgbClr val="464D5C"/>
                </a:solidFill>
                <a:latin typeface="Pretendard" pitchFamily="34" charset="0"/>
                <a:ea typeface="Pretendard" pitchFamily="34" charset="-122"/>
                <a:cs typeface="Pretendard" pitchFamily="34" charset="-120"/>
              </a:rPr>
              <a:t>위원회는 이런 예외가 주로 여론의 압력에 대응해 만들어지며, 아동 발달에 대한 합리적 이해에 기초한 방식은 아니라고 본다.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그 연령 아래에서는 범죄의 종류와 관계없이 형사책임을 묻지 않는 하나의 최저연령을 두라고 권고한다.</a:t>
            </a:r>
          </a:p>
        </p:txBody>
      </p:sp>
      <p:sp>
        <p:nvSpPr>
          <p:cNvPr id="15" name="HEAD15"/>
          <p:cNvSpPr/>
          <p:nvPr/>
        </p:nvSpPr>
        <p:spPr>
          <a:xfrm>
            <a:off x="731520" y="4223436"/>
            <a:ext cx="2240280" cy="1094448"/>
          </a:xfrm>
          <a:prstGeom prst="rect">
            <a:avLst/>
          </a:prstGeom>
          <a:noFill/>
          <a:ln/>
        </p:spPr>
        <p:txBody>
          <a:bodyPr wrap="square" lIns="0" tIns="0" rIns="0" bIns="0" rtlCol="0" anchor="ctr"/>
          <a:lstStyle/>
          <a:p>
            <a:pPr marL="0" indent="0" algn="ctr">
              <a:lnSpc>
                <a:spcPct val="118000"/>
              </a:lnSpc>
              <a:buNone/>
            </a:pPr>
            <a:r>
              <a:rPr lang="ko-KR" altLang="en-US" sz="1300" b="1" dirty="0">
                <a:solidFill>
                  <a:schemeClr val="tx1">
                    <a:lumMod val="50000"/>
                    <a:lumOff val="50000"/>
                  </a:schemeClr>
                </a:solidFill>
                <a:latin typeface="Pretendard" pitchFamily="34" charset="0"/>
                <a:ea typeface="Pretendard" pitchFamily="34" charset="-122"/>
                <a:cs typeface="Pretendard" pitchFamily="34" charset="-120"/>
              </a:rPr>
              <a:t>제25항 </a:t>
            </a:r>
            <a:endParaRPr lang="en-US" altLang="ko-KR" sz="1300" b="1" dirty="0">
              <a:solidFill>
                <a:schemeClr val="tx1">
                  <a:lumMod val="50000"/>
                  <a:lumOff val="50000"/>
                </a:schemeClr>
              </a:solidFill>
              <a:latin typeface="Pretendard" pitchFamily="34" charset="0"/>
              <a:ea typeface="Pretendard" pitchFamily="34" charset="-122"/>
              <a:cs typeface="Pretendard" pitchFamily="34" charset="-120"/>
            </a:endParaRPr>
          </a:p>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중대범죄 예외</a:t>
            </a:r>
          </a:p>
        </p:txBody>
      </p:sp>
      <p:sp>
        <p:nvSpPr>
          <p:cNvPr id="16" name="RULE16"/>
          <p:cNvSpPr/>
          <p:nvPr/>
        </p:nvSpPr>
        <p:spPr>
          <a:xfrm>
            <a:off x="731520" y="5340744"/>
            <a:ext cx="10725912" cy="0"/>
          </a:xfrm>
          <a:prstGeom prst="line">
            <a:avLst/>
          </a:prstGeom>
          <a:ln w="9525">
            <a:solidFill>
              <a:srgbClr val="DCE0E8"/>
            </a:solidFill>
          </a:ln>
        </p:spPr>
        <p:txBody>
          <a:bodyPr/>
          <a:lstStyle/>
          <a:p>
            <a:endParaRPr lang="ko-KR"/>
          </a:p>
        </p:txBody>
      </p:sp>
      <p:sp>
        <p:nvSpPr>
          <p:cNvPr id="17" name="CLOSE17"/>
          <p:cNvSpPr/>
          <p:nvPr/>
        </p:nvSpPr>
        <p:spPr>
          <a:xfrm>
            <a:off x="1131570" y="5632406"/>
            <a:ext cx="10725912" cy="449580"/>
          </a:xfrm>
          <a:prstGeom prst="rect">
            <a:avLst/>
          </a:prstGeom>
          <a:noFill/>
          <a:ln/>
        </p:spPr>
        <p:txBody>
          <a:bodyPr wrap="square" lIns="0" tIns="0" rIns="0" bIns="0" rtlCol="0" anchor="t"/>
          <a:lstStyle/>
          <a:p>
            <a:pPr>
              <a:lnSpc>
                <a:spcPct val="118000"/>
              </a:lnSpc>
            </a:pPr>
            <a:r>
              <a:rPr lang="en-US" altLang="ko-KR" sz="1250" b="1" dirty="0">
                <a:solidFill>
                  <a:schemeClr val="accent4">
                    <a:lumMod val="75000"/>
                  </a:schemeClr>
                </a:solidFill>
                <a:latin typeface="Pretendard" pitchFamily="34" charset="0"/>
                <a:ea typeface="Pretendard" pitchFamily="34" charset="-122"/>
                <a:cs typeface="Pretendard" pitchFamily="34" charset="-120"/>
              </a:rPr>
              <a:t>※ </a:t>
            </a:r>
            <a:r>
              <a:rPr lang="ko-KR" altLang="en-US" sz="1250" b="1" dirty="0">
                <a:solidFill>
                  <a:schemeClr val="accent4">
                    <a:lumMod val="75000"/>
                  </a:schemeClr>
                </a:solidFill>
                <a:latin typeface="Pretendard" pitchFamily="34" charset="0"/>
                <a:ea typeface="Pretendard" pitchFamily="34" charset="-122"/>
                <a:cs typeface="Pretendard" pitchFamily="34" charset="-120"/>
              </a:rPr>
              <a:t>일반논평은 아동권리위원회의 협약 해석</a:t>
            </a:r>
            <a:r>
              <a:rPr lang="en-US" altLang="ko-KR" sz="1250" b="1" dirty="0">
                <a:solidFill>
                  <a:schemeClr val="accent4">
                    <a:lumMod val="75000"/>
                  </a:schemeClr>
                </a:solidFill>
                <a:latin typeface="Pretendard" pitchFamily="34" charset="0"/>
                <a:ea typeface="Pretendard" pitchFamily="34" charset="-122"/>
                <a:cs typeface="Pretendard" pitchFamily="34" charset="-120"/>
              </a:rPr>
              <a:t>·</a:t>
            </a:r>
            <a:r>
              <a:rPr lang="ko-KR" altLang="en-US" sz="1250" b="1" dirty="0">
                <a:solidFill>
                  <a:schemeClr val="accent4">
                    <a:lumMod val="75000"/>
                  </a:schemeClr>
                </a:solidFill>
                <a:latin typeface="Pretendard" pitchFamily="34" charset="0"/>
                <a:ea typeface="Pretendard" pitchFamily="34" charset="-122"/>
                <a:cs typeface="Pretendard" pitchFamily="34" charset="-120"/>
              </a:rPr>
              <a:t>권고이며</a:t>
            </a:r>
            <a:r>
              <a:rPr lang="en-US" altLang="ko-KR" sz="1250" b="1" dirty="0">
                <a:solidFill>
                  <a:schemeClr val="accent4">
                    <a:lumMod val="75000"/>
                  </a:schemeClr>
                </a:solidFill>
                <a:latin typeface="Pretendard" pitchFamily="34" charset="0"/>
                <a:ea typeface="Pretendard" pitchFamily="34" charset="-122"/>
                <a:cs typeface="Pretendard" pitchFamily="34" charset="-120"/>
              </a:rPr>
              <a:t>, </a:t>
            </a:r>
            <a:r>
              <a:rPr lang="ko-KR" altLang="en-US" sz="1250" b="1" dirty="0">
                <a:solidFill>
                  <a:schemeClr val="accent4">
                    <a:lumMod val="75000"/>
                  </a:schemeClr>
                </a:solidFill>
                <a:latin typeface="Pretendard" pitchFamily="34" charset="0"/>
                <a:ea typeface="Pretendard" pitchFamily="34" charset="-122"/>
                <a:cs typeface="Pretendard" pitchFamily="34" charset="-120"/>
              </a:rPr>
              <a:t>그 자체가 국내법이나 협약 조문과 동일한 법적 효력을 갖는 것은 아니다</a:t>
            </a:r>
            <a:r>
              <a:rPr lang="en-US" altLang="ko-KR" sz="1250" b="1" dirty="0">
                <a:solidFill>
                  <a:schemeClr val="accent4">
                    <a:lumMod val="75000"/>
                  </a:schemeClr>
                </a:solidFill>
                <a:latin typeface="Pretendard" pitchFamily="34" charset="0"/>
                <a:ea typeface="Pretendard" pitchFamily="34" charset="-122"/>
                <a:cs typeface="Pretendard" pitchFamily="34" charset="-120"/>
              </a:rPr>
              <a:t>.</a:t>
            </a:r>
            <a:endParaRPr lang="ko-KR" altLang="en-US" sz="1250" b="1" dirty="0">
              <a:solidFill>
                <a:schemeClr val="accent4">
                  <a:lumMod val="75000"/>
                </a:schemeClr>
              </a:solidFill>
              <a:latin typeface="Pretendard" pitchFamily="34" charset="0"/>
              <a:ea typeface="Pretendard" pitchFamily="34" charset="-122"/>
              <a:cs typeface="Pretendard" pitchFamily="34" charset="-120"/>
            </a:endParaRPr>
          </a:p>
        </p:txBody>
      </p:sp>
      <p:sp>
        <p:nvSpPr>
          <p:cNvPr id="18" name="RULE18"/>
          <p:cNvSpPr/>
          <p:nvPr/>
        </p:nvSpPr>
        <p:spPr>
          <a:xfrm>
            <a:off x="731520" y="6144768"/>
            <a:ext cx="10725912" cy="0"/>
          </a:xfrm>
          <a:prstGeom prst="line">
            <a:avLst/>
          </a:prstGeom>
          <a:ln w="9525">
            <a:solidFill>
              <a:srgbClr val="DCE0E8"/>
            </a:solidFill>
          </a:ln>
        </p:spPr>
        <p:txBody>
          <a:bodyPr/>
          <a:lstStyle/>
          <a:p>
            <a:endParaRPr lang="ko-KR"/>
          </a:p>
        </p:txBody>
      </p:sp>
      <p:sp>
        <p:nvSpPr>
          <p:cNvPr id="19"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UN Committee on the Rights of the Child, General Comment No. 24 (2019) on children’s rights in the child justice system, CRC/C/GC/24, paras. 22, 25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연령 기준의 설계와 법적 한계</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덴마크 책임연령 변경 연구</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a:lnSpc>
                <a:spcPct val="118000"/>
              </a:lnSpc>
            </a:pPr>
            <a:r>
              <a:rPr lang="en-US" altLang="ko-KR" sz="2750" b="1" dirty="0">
                <a:solidFill>
                  <a:srgbClr val="1E2761"/>
                </a:solidFill>
                <a:latin typeface="Pretendard" pitchFamily="34" charset="0"/>
                <a:ea typeface="Pretendard" pitchFamily="34" charset="-122"/>
                <a:cs typeface="Pretendard" pitchFamily="34" charset="-120"/>
              </a:rPr>
              <a:t>UN 일반논평 제24호 Ⅱ — 소년사법과 제재의 원칙</a:t>
            </a:r>
          </a:p>
        </p:txBody>
      </p:sp>
      <p:sp>
        <p:nvSpPr>
          <p:cNvPr id="1000" name="APPROVED_BAND_BG"/>
          <p:cNvSpPr/>
          <p:nvPr/>
        </p:nvSpPr>
        <p:spPr>
          <a:xfrm>
            <a:off x="731520" y="1417320"/>
            <a:ext cx="10725912" cy="548640"/>
          </a:xfrm>
          <a:prstGeom prst="rect">
            <a:avLst/>
          </a:prstGeom>
          <a:solidFill>
            <a:srgbClr val="F2F4F8"/>
          </a:solidFill>
          <a:ln/>
        </p:spPr>
        <p:txBody>
          <a:bodyPr/>
          <a:lstStyle/>
          <a:p>
            <a:endParaRPr lang="ko-KR" altLang="en-US"/>
          </a:p>
        </p:txBody>
      </p:sp>
      <p:sp>
        <p:nvSpPr>
          <p:cNvPr id="1001" name="APPROVED_BAND_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위원회는 하나의 최저연령과 18세 미만의 소년사법 적용, 연령·책임에 비례한 제재와 사회복귀를 권고한다.</a:t>
            </a:r>
          </a:p>
        </p:txBody>
      </p:sp>
      <p:sp>
        <p:nvSpPr>
          <p:cNvPr id="1002" name="APPROVED_MAIN_RULE"/>
          <p:cNvSpPr/>
          <p:nvPr/>
        </p:nvSpPr>
        <p:spPr>
          <a:xfrm>
            <a:off x="731520" y="2057400"/>
            <a:ext cx="10725912" cy="0"/>
          </a:xfrm>
          <a:prstGeom prst="line">
            <a:avLst/>
          </a:prstGeom>
          <a:ln w="19050">
            <a:solidFill>
              <a:srgbClr val="1E2761"/>
            </a:solidFill>
          </a:ln>
        </p:spPr>
        <p:txBody>
          <a:bodyPr/>
          <a:lstStyle/>
          <a:p>
            <a:endParaRPr lang="ko-KR"/>
          </a:p>
        </p:txBody>
      </p:sp>
      <p:sp>
        <p:nvSpPr>
          <p:cNvPr id="1003" name="APPROVED_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UN 아동권리위원회, 일반논평 제24호(2019), CRC/C/GC/24, 제26~27항·제29~30항·제76항 · 한국어 설명</a:t>
            </a:r>
          </a:p>
        </p:txBody>
      </p:sp>
      <p:sp>
        <p:nvSpPr>
          <p:cNvPr id="1004" name="BODY1004"/>
          <p:cNvSpPr/>
          <p:nvPr/>
        </p:nvSpPr>
        <p:spPr>
          <a:xfrm>
            <a:off x="3154680" y="2344373"/>
            <a:ext cx="8230870" cy="702408"/>
          </a:xfrm>
          <a:prstGeom prst="rect">
            <a:avLst/>
          </a:prstGeom>
          <a:noFill/>
          <a:ln/>
        </p:spPr>
        <p:txBody>
          <a:bodyPr wrap="square" lIns="0" tIns="0" rIns="0" bIns="0" rtlCol="0" anchor="t"/>
          <a:lstStyle/>
          <a:p>
            <a:pPr>
              <a:lnSpc>
                <a:spcPct val="118000"/>
              </a:lnSpc>
              <a:spcAft>
                <a:spcPts val="500"/>
              </a:spcAft>
            </a:pPr>
            <a:r>
              <a:rPr lang="ko-KR" altLang="en-US" sz="1250" b="1" dirty="0">
                <a:solidFill>
                  <a:srgbClr val="222633"/>
                </a:solidFill>
                <a:latin typeface="Pretendard" pitchFamily="34" charset="0"/>
                <a:ea typeface="Pretendard" pitchFamily="34" charset="-122"/>
                <a:cs typeface="Pretendard" pitchFamily="34" charset="-120"/>
              </a:rPr>
              <a:t>일정 연령구간에서 성숙성을 개별 판단해 형사책임 여부를 달리하는 방식은 재량을 넓히고 차별적 적용으로 이어질 수 있다고 본다</a:t>
            </a:r>
            <a:r>
              <a:rPr lang="en-US" altLang="ko-KR" sz="1250" b="1" dirty="0">
                <a:solidFill>
                  <a:srgbClr val="222633"/>
                </a:solidFill>
                <a:latin typeface="Pretendard" pitchFamily="34" charset="0"/>
                <a:ea typeface="Pretendard" pitchFamily="34" charset="-122"/>
                <a:cs typeface="Pretendard" pitchFamily="34" charset="-120"/>
              </a:rPr>
              <a:t>.</a:t>
            </a:r>
            <a:endParaRPr lang="ko-KR" altLang="en-US" sz="1250" b="1" dirty="0">
              <a:solidFill>
                <a:srgbClr val="222633"/>
              </a:solidFill>
              <a:latin typeface="Pretendard" pitchFamily="34" charset="0"/>
              <a:ea typeface="Pretendard" pitchFamily="34" charset="-122"/>
              <a:cs typeface="Pretendard" pitchFamily="34" charset="-120"/>
            </a:endParaRPr>
          </a:p>
          <a:p>
            <a:pPr>
              <a:lnSpc>
                <a:spcPct val="118000"/>
              </a:lnSpc>
              <a:spcAft>
                <a:spcPts val="500"/>
              </a:spcAft>
            </a:pPr>
            <a:r>
              <a:rPr lang="ko-KR" altLang="en-US" sz="1150" dirty="0">
                <a:solidFill>
                  <a:srgbClr val="464D5C"/>
                </a:solidFill>
                <a:latin typeface="Pretendard" pitchFamily="34" charset="0"/>
                <a:ea typeface="Pretendard" pitchFamily="34" charset="-122"/>
                <a:cs typeface="Pretendard" pitchFamily="34" charset="-120"/>
              </a:rPr>
              <a:t>예를 들어 </a:t>
            </a:r>
            <a:r>
              <a:rPr lang="en-US" altLang="ko-KR" sz="1150" dirty="0">
                <a:solidFill>
                  <a:srgbClr val="464D5C"/>
                </a:solidFill>
                <a:latin typeface="Pretendard" pitchFamily="34" charset="0"/>
                <a:ea typeface="Pretendard" pitchFamily="34" charset="-122"/>
                <a:cs typeface="Pretendard" pitchFamily="34" charset="-120"/>
              </a:rPr>
              <a:t>7</a:t>
            </a:r>
            <a:r>
              <a:rPr lang="ko-KR" altLang="en-US" sz="1150" dirty="0">
                <a:solidFill>
                  <a:srgbClr val="464D5C"/>
                </a:solidFill>
                <a:latin typeface="Pretendard" pitchFamily="34" charset="0"/>
                <a:ea typeface="Pretendard" pitchFamily="34" charset="-122"/>
                <a:cs typeface="Pretendard" pitchFamily="34" charset="-120"/>
              </a:rPr>
              <a:t>세 미만은 책임을 묻지 않고</a:t>
            </a:r>
            <a:r>
              <a:rPr lang="en-US" altLang="ko-KR" sz="1150" dirty="0">
                <a:solidFill>
                  <a:srgbClr val="464D5C"/>
                </a:solidFill>
                <a:latin typeface="Pretendard" pitchFamily="34" charset="0"/>
                <a:ea typeface="Pretendard" pitchFamily="34" charset="-122"/>
                <a:cs typeface="Pretendard" pitchFamily="34" charset="-120"/>
              </a:rPr>
              <a:t>, 7~13</a:t>
            </a:r>
            <a:r>
              <a:rPr lang="ko-KR" altLang="en-US" sz="1150" dirty="0">
                <a:solidFill>
                  <a:srgbClr val="464D5C"/>
                </a:solidFill>
                <a:latin typeface="Pretendard" pitchFamily="34" charset="0"/>
                <a:ea typeface="Pretendard" pitchFamily="34" charset="-122"/>
                <a:cs typeface="Pretendard" pitchFamily="34" charset="-120"/>
              </a:rPr>
              <a:t>세는 원칙적으로 책임이 없지만 성숙성이 인정되면 책임을 묻고</a:t>
            </a:r>
            <a:r>
              <a:rPr lang="en-US" altLang="ko-KR" sz="1150" dirty="0">
                <a:solidFill>
                  <a:srgbClr val="464D5C"/>
                </a:solidFill>
                <a:latin typeface="Pretendard" pitchFamily="34" charset="0"/>
                <a:ea typeface="Pretendard" pitchFamily="34" charset="-122"/>
                <a:cs typeface="Pretendard" pitchFamily="34" charset="-120"/>
              </a:rPr>
              <a:t>, 14</a:t>
            </a:r>
            <a:r>
              <a:rPr lang="ko-KR" altLang="en-US" sz="1150" dirty="0">
                <a:solidFill>
                  <a:srgbClr val="464D5C"/>
                </a:solidFill>
                <a:latin typeface="Pretendard" pitchFamily="34" charset="0"/>
                <a:ea typeface="Pretendard" pitchFamily="34" charset="-122"/>
                <a:cs typeface="Pretendard" pitchFamily="34" charset="-120"/>
              </a:rPr>
              <a:t>세부터 일반적으로 책임을 인정하는 방식이다</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위원회는 이런 구조가 법원의 재량을 크게 하고 차별적 적용으로 이어질 수 있다고 본다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1005" name="HEAD1005"/>
          <p:cNvSpPr/>
          <p:nvPr/>
        </p:nvSpPr>
        <p:spPr>
          <a:xfrm>
            <a:off x="731520" y="2034540"/>
            <a:ext cx="2240280" cy="1292149"/>
          </a:xfrm>
          <a:prstGeom prst="rect">
            <a:avLst/>
          </a:prstGeom>
          <a:noFill/>
          <a:ln/>
        </p:spPr>
        <p:txBody>
          <a:bodyPr wrap="square" lIns="0" tIns="0" rIns="0" bIns="0" rtlCol="0" anchor="ctr"/>
          <a:lstStyle/>
          <a:p>
            <a:pPr algn="ctr">
              <a:lnSpc>
                <a:spcPct val="118000"/>
              </a:lnSpc>
            </a:pPr>
            <a:r>
              <a:rPr lang="ko-KR" altLang="en-US" sz="1300" b="1" dirty="0">
                <a:solidFill>
                  <a:schemeClr val="tx1">
                    <a:lumMod val="50000"/>
                    <a:lumOff val="50000"/>
                  </a:schemeClr>
                </a:solidFill>
                <a:latin typeface="Pretendard" pitchFamily="34" charset="0"/>
                <a:ea typeface="Pretendard" pitchFamily="34" charset="-122"/>
                <a:cs typeface="Pretendard" pitchFamily="34" charset="-120"/>
              </a:rPr>
              <a:t>제26~27항 </a:t>
            </a:r>
            <a:endParaRPr lang="en-US" altLang="ko-KR" sz="1300" b="1" dirty="0">
              <a:solidFill>
                <a:schemeClr val="tx1">
                  <a:lumMod val="50000"/>
                  <a:lumOff val="50000"/>
                </a:schemeClr>
              </a:solidFill>
              <a:latin typeface="Pretendard" pitchFamily="34" charset="0"/>
              <a:ea typeface="Pretendard" pitchFamily="34" charset="-122"/>
              <a:cs typeface="Pretendard" pitchFamily="34" charset="-120"/>
            </a:endParaRPr>
          </a:p>
          <a:p>
            <a:pPr algn="ctr">
              <a:lnSpc>
                <a:spcPct val="118000"/>
              </a:lnSpc>
            </a:pPr>
            <a:r>
              <a:rPr lang="ko-KR" altLang="en-US" sz="1300" b="1" dirty="0">
                <a:solidFill>
                  <a:srgbClr val="1E2761"/>
                </a:solidFill>
                <a:latin typeface="Pretendard" pitchFamily="34" charset="0"/>
                <a:ea typeface="Pretendard" pitchFamily="34" charset="-122"/>
                <a:cs typeface="Pretendard" pitchFamily="34" charset="-120"/>
              </a:rPr>
              <a:t>성숙성에 따른 연령 예외</a:t>
            </a:r>
          </a:p>
        </p:txBody>
      </p:sp>
      <p:sp>
        <p:nvSpPr>
          <p:cNvPr id="1006" name="RULE1006"/>
          <p:cNvSpPr/>
          <p:nvPr/>
        </p:nvSpPr>
        <p:spPr>
          <a:xfrm>
            <a:off x="731520" y="3349549"/>
            <a:ext cx="10725912" cy="0"/>
          </a:xfrm>
          <a:prstGeom prst="line">
            <a:avLst/>
          </a:prstGeom>
          <a:ln w="9525">
            <a:solidFill>
              <a:srgbClr val="DCE0E8"/>
            </a:solidFill>
          </a:ln>
        </p:spPr>
        <p:txBody>
          <a:bodyPr/>
          <a:lstStyle/>
          <a:p>
            <a:endParaRPr lang="ko-KR"/>
          </a:p>
        </p:txBody>
      </p:sp>
      <p:sp>
        <p:nvSpPr>
          <p:cNvPr id="1007" name="BODY1007"/>
          <p:cNvSpPr/>
          <p:nvPr/>
        </p:nvSpPr>
        <p:spPr>
          <a:xfrm>
            <a:off x="3154680" y="3580917"/>
            <a:ext cx="8302752" cy="495097"/>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형사책임 최저연령 이상이더라도 범행 당시 18세 미만이면 소년사법을 적용해야 한다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소년사법 적용을 16세 미만 등으로 제한하거나, 중범죄를 이유로 일부 18세 미만을 성인범죄자처럼 처리하는 예외를 없애라고 권고한다.</a:t>
            </a:r>
          </a:p>
        </p:txBody>
      </p:sp>
      <p:sp>
        <p:nvSpPr>
          <p:cNvPr id="1008" name="HEAD1008"/>
          <p:cNvSpPr/>
          <p:nvPr/>
        </p:nvSpPr>
        <p:spPr>
          <a:xfrm>
            <a:off x="731520" y="3326689"/>
            <a:ext cx="2240280" cy="1021842"/>
          </a:xfrm>
          <a:prstGeom prst="rect">
            <a:avLst/>
          </a:prstGeom>
          <a:noFill/>
          <a:ln/>
        </p:spPr>
        <p:txBody>
          <a:bodyPr wrap="square" lIns="0" tIns="0" rIns="0" bIns="0" rtlCol="0" anchor="ctr"/>
          <a:lstStyle/>
          <a:p>
            <a:pPr marL="0" indent="0" algn="ctr">
              <a:lnSpc>
                <a:spcPct val="118000"/>
              </a:lnSpc>
              <a:buNone/>
            </a:pPr>
            <a:r>
              <a:rPr lang="ko-KR" altLang="en-US" sz="1300" b="1" dirty="0">
                <a:solidFill>
                  <a:schemeClr val="tx1">
                    <a:lumMod val="50000"/>
                    <a:lumOff val="50000"/>
                  </a:schemeClr>
                </a:solidFill>
                <a:latin typeface="Pretendard" pitchFamily="34" charset="0"/>
                <a:ea typeface="Pretendard" pitchFamily="34" charset="-122"/>
                <a:cs typeface="Pretendard" pitchFamily="34" charset="-120"/>
              </a:rPr>
              <a:t>제29~30항 </a:t>
            </a:r>
            <a:endParaRPr lang="en-US" altLang="ko-KR" sz="1300" b="1" dirty="0">
              <a:solidFill>
                <a:schemeClr val="tx1">
                  <a:lumMod val="50000"/>
                  <a:lumOff val="50000"/>
                </a:schemeClr>
              </a:solidFill>
              <a:latin typeface="Pretendard" pitchFamily="34" charset="0"/>
              <a:ea typeface="Pretendard" pitchFamily="34" charset="-122"/>
              <a:cs typeface="Pretendard" pitchFamily="34" charset="-120"/>
            </a:endParaRPr>
          </a:p>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18세 미만</a:t>
            </a:r>
          </a:p>
        </p:txBody>
      </p:sp>
      <p:sp>
        <p:nvSpPr>
          <p:cNvPr id="1009" name="RULE1009"/>
          <p:cNvSpPr/>
          <p:nvPr/>
        </p:nvSpPr>
        <p:spPr>
          <a:xfrm>
            <a:off x="731520" y="4371391"/>
            <a:ext cx="10725912" cy="0"/>
          </a:xfrm>
          <a:prstGeom prst="line">
            <a:avLst/>
          </a:prstGeom>
          <a:ln w="9525">
            <a:solidFill>
              <a:srgbClr val="DCE0E8"/>
            </a:solidFill>
          </a:ln>
        </p:spPr>
        <p:txBody>
          <a:bodyPr/>
          <a:lstStyle/>
          <a:p>
            <a:endParaRPr lang="ko-KR"/>
          </a:p>
        </p:txBody>
      </p:sp>
      <p:sp>
        <p:nvSpPr>
          <p:cNvPr id="1010" name="BODY1010"/>
          <p:cNvSpPr/>
          <p:nvPr/>
        </p:nvSpPr>
        <p:spPr>
          <a:xfrm>
            <a:off x="3154680" y="4602759"/>
            <a:ext cx="8302752" cy="495097"/>
          </a:xfrm>
          <a:prstGeom prst="rect">
            <a:avLst/>
          </a:prstGeom>
          <a:noFill/>
          <a:ln/>
        </p:spPr>
        <p:txBody>
          <a:bodyPr wrap="square" lIns="0" tIns="0" rIns="0" bIns="0" rtlCol="0" anchor="t"/>
          <a:lstStyle/>
          <a:p>
            <a:pPr>
              <a:lnSpc>
                <a:spcPct val="118000"/>
              </a:lnSpc>
              <a:spcAft>
                <a:spcPts val="500"/>
              </a:spcAft>
            </a:pPr>
            <a:r>
              <a:rPr lang="ko-KR" altLang="en-US" sz="1250" b="1" dirty="0">
                <a:solidFill>
                  <a:srgbClr val="222633"/>
                </a:solidFill>
                <a:latin typeface="Pretendard" pitchFamily="34" charset="0"/>
                <a:ea typeface="Pretendard" pitchFamily="34" charset="-122"/>
                <a:cs typeface="Pretendard" pitchFamily="34" charset="-120"/>
              </a:rPr>
              <a:t>범죄의 중대성뿐 아니라 소년의 연령</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낮은 책임 정도</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개인적 사정과 필요를 함께 고려한 대응을 요구한다</a:t>
            </a:r>
            <a:r>
              <a:rPr lang="en-US" altLang="ko-KR" sz="1250" b="1" dirty="0">
                <a:solidFill>
                  <a:srgbClr val="222633"/>
                </a:solidFill>
                <a:latin typeface="Pretendard" pitchFamily="34" charset="0"/>
                <a:ea typeface="Pretendard" pitchFamily="34" charset="-122"/>
                <a:cs typeface="Pretendard" pitchFamily="34" charset="-120"/>
              </a:rPr>
              <a:t>.</a:t>
            </a:r>
            <a:endParaRPr lang="ko-KR" altLang="en-US" sz="1250" b="1" dirty="0">
              <a:solidFill>
                <a:srgbClr val="222633"/>
              </a:solidFill>
              <a:latin typeface="Pretendard" pitchFamily="34" charset="0"/>
              <a:ea typeface="Pretendard" pitchFamily="34" charset="-122"/>
              <a:cs typeface="Pretendard" pitchFamily="34" charset="-120"/>
            </a:endParaRPr>
          </a:p>
          <a:p>
            <a:pPr>
              <a:lnSpc>
                <a:spcPct val="118000"/>
              </a:lnSpc>
            </a:pPr>
            <a:r>
              <a:rPr lang="ko-KR" altLang="en-US" sz="1150" dirty="0">
                <a:solidFill>
                  <a:srgbClr val="464D5C"/>
                </a:solidFill>
                <a:latin typeface="Pretendard" pitchFamily="34" charset="0"/>
                <a:ea typeface="Pretendard" pitchFamily="34" charset="-122"/>
                <a:cs typeface="Pretendard" pitchFamily="34" charset="-120"/>
              </a:rPr>
              <a:t>중대한 범죄에서는 공공안전과 제재의 필요도 고려할 수 있지만</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아동의 최선의 이익과 사회복귀에 비중을 두도록 권고한다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1011" name="HEAD1011"/>
          <p:cNvSpPr/>
          <p:nvPr/>
        </p:nvSpPr>
        <p:spPr>
          <a:xfrm>
            <a:off x="731520" y="4348531"/>
            <a:ext cx="2240280" cy="1021842"/>
          </a:xfrm>
          <a:prstGeom prst="rect">
            <a:avLst/>
          </a:prstGeom>
          <a:noFill/>
          <a:ln/>
        </p:spPr>
        <p:txBody>
          <a:bodyPr wrap="square" lIns="0" tIns="0" rIns="0" bIns="0" rtlCol="0" anchor="ctr"/>
          <a:lstStyle/>
          <a:p>
            <a:pPr marL="0" indent="0" algn="ctr">
              <a:lnSpc>
                <a:spcPct val="118000"/>
              </a:lnSpc>
              <a:buNone/>
            </a:pPr>
            <a:r>
              <a:rPr lang="ko-KR" altLang="en-US" sz="1300" b="1" dirty="0">
                <a:solidFill>
                  <a:schemeClr val="tx1">
                    <a:lumMod val="50000"/>
                    <a:lumOff val="50000"/>
                  </a:schemeClr>
                </a:solidFill>
                <a:latin typeface="Pretendard" pitchFamily="34" charset="0"/>
                <a:ea typeface="Pretendard" pitchFamily="34" charset="-122"/>
                <a:cs typeface="Pretendard" pitchFamily="34" charset="-120"/>
              </a:rPr>
              <a:t>제76항 </a:t>
            </a:r>
            <a:endParaRPr lang="en-US" altLang="ko-KR" sz="1300" b="1" dirty="0">
              <a:solidFill>
                <a:schemeClr val="tx1">
                  <a:lumMod val="50000"/>
                  <a:lumOff val="50000"/>
                </a:schemeClr>
              </a:solidFill>
              <a:latin typeface="Pretendard" pitchFamily="34" charset="0"/>
              <a:ea typeface="Pretendard" pitchFamily="34" charset="-122"/>
              <a:cs typeface="Pretendard" pitchFamily="34" charset="-120"/>
            </a:endParaRPr>
          </a:p>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비례와 사회복귀</a:t>
            </a:r>
          </a:p>
        </p:txBody>
      </p:sp>
      <p:sp>
        <p:nvSpPr>
          <p:cNvPr id="1012" name="RULE1012"/>
          <p:cNvSpPr/>
          <p:nvPr/>
        </p:nvSpPr>
        <p:spPr>
          <a:xfrm>
            <a:off x="731520" y="5393233"/>
            <a:ext cx="10725912" cy="0"/>
          </a:xfrm>
          <a:prstGeom prst="line">
            <a:avLst/>
          </a:prstGeom>
          <a:ln w="9525">
            <a:solidFill>
              <a:srgbClr val="DCE0E8"/>
            </a:solidFill>
          </a:ln>
        </p:spPr>
        <p:txBody>
          <a:bodyPr/>
          <a:lstStyle/>
          <a:p>
            <a:endParaRPr lang="ko-KR"/>
          </a:p>
        </p:txBody>
      </p:sp>
      <p:sp>
        <p:nvSpPr>
          <p:cNvPr id="1013" name="CLOSE1013"/>
          <p:cNvSpPr/>
          <p:nvPr/>
        </p:nvSpPr>
        <p:spPr>
          <a:xfrm>
            <a:off x="1005840" y="5696002"/>
            <a:ext cx="10725912" cy="224790"/>
          </a:xfrm>
          <a:prstGeom prst="rect">
            <a:avLst/>
          </a:prstGeom>
          <a:noFill/>
          <a:ln/>
        </p:spPr>
        <p:txBody>
          <a:bodyPr wrap="square" lIns="0" tIns="0" rIns="0" bIns="0" rtlCol="0" anchor="t"/>
          <a:lstStyle/>
          <a:p>
            <a:pPr marL="0" indent="0">
              <a:lnSpc>
                <a:spcPct val="118000"/>
              </a:lnSpc>
              <a:buNone/>
            </a:pPr>
            <a:r>
              <a:rPr lang="ko-KR" altLang="en-US" sz="1250" b="1" dirty="0">
                <a:solidFill>
                  <a:schemeClr val="accent4">
                    <a:lumMod val="75000"/>
                  </a:schemeClr>
                </a:solidFill>
                <a:latin typeface="Pretendard" pitchFamily="34" charset="0"/>
                <a:ea typeface="Pretendard" pitchFamily="34" charset="-122"/>
                <a:cs typeface="Pretendard" pitchFamily="34" charset="-120"/>
              </a:rPr>
              <a:t>형사책임을 시작하는 연령, 그 연령을 넘은 18세 미만에게 적용할 사법체계, 책임을 인정한 뒤 적용할 제재의 원칙은 서로 다른 제도 선택이다.</a:t>
            </a:r>
          </a:p>
        </p:txBody>
      </p:sp>
      <p:sp>
        <p:nvSpPr>
          <p:cNvPr id="1014" name="RULE1014"/>
          <p:cNvSpPr/>
          <p:nvPr/>
        </p:nvSpPr>
        <p:spPr>
          <a:xfrm>
            <a:off x="731520" y="6144768"/>
            <a:ext cx="10725912" cy="0"/>
          </a:xfrm>
          <a:prstGeom prst="line">
            <a:avLst/>
          </a:prstGeom>
          <a:ln w="9525">
            <a:solidFill>
              <a:srgbClr val="DCE0E8"/>
            </a:solidFill>
          </a:ln>
        </p:spPr>
        <p:txBody>
          <a:bodyPr/>
          <a:lstStyle/>
          <a:p>
            <a:endParaRPr lang="ko-K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연령 하향의 범죄예방 효과</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덴마크 연령 하향의 결과</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덴마크 책임연령의 변경과 연구 방법 — Damm 외(2025)</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같은 14세가 시기에 따라 형사책임 연령선 아래와 위를 오가게 된 변화를 이용해, 하향의 억제효과가 나타났는지 살핀 연구다.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h0"/>
          <p:cNvSpPr txBox="1"/>
          <p:nvPr/>
        </p:nvSpPr>
        <p:spPr>
          <a:xfrm>
            <a:off x="731520" y="2503678"/>
            <a:ext cx="2240280" cy="800100"/>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형사책임 연령 변화</a:t>
            </a:r>
            <a:endParaRPr lang="ko-KR" sz="1300" b="1" dirty="0">
              <a:solidFill>
                <a:srgbClr val="1E2761"/>
              </a:solidFill>
              <a:latin typeface="Pretendard"/>
              <a:ea typeface="Pretendard"/>
              <a:cs typeface="Pretendard"/>
            </a:endParaRPr>
          </a:p>
        </p:txBody>
      </p:sp>
      <p:sp>
        <p:nvSpPr>
          <p:cNvPr id="17" name="b0"/>
          <p:cNvSpPr txBox="1"/>
          <p:nvPr/>
        </p:nvSpPr>
        <p:spPr>
          <a:xfrm>
            <a:off x="3154680" y="2376678"/>
            <a:ext cx="8302752" cy="800100"/>
          </a:xfrm>
          <a:prstGeom prst="rect">
            <a:avLst/>
          </a:prstGeom>
          <a:noFill/>
        </p:spPr>
        <p:txBody>
          <a:bodyPr wrap="square" lIns="0" tIns="27432" rIns="0" bIns="27432" anchor="ctr">
            <a:noAutofit/>
          </a:bodyPr>
          <a:lstStyle/>
          <a:p>
            <a:pPr algn="l">
              <a:lnSpc>
                <a:spcPct val="125000"/>
              </a:lnSpc>
              <a:spcAft>
                <a:spcPts val="500"/>
              </a:spcAft>
            </a:pPr>
            <a:r>
              <a:rPr lang="ko-KR" sz="1400" b="1" dirty="0">
                <a:solidFill>
                  <a:srgbClr val="222633"/>
                </a:solidFill>
                <a:latin typeface="Pretendard"/>
                <a:ea typeface="Pretendard"/>
                <a:cs typeface="Pretendard"/>
              </a:rPr>
              <a:t>덴마크는 2010년 7월 형사책임연령을 15세에서 14세로 낮췄다가 2012년 3월 다시 15세로 복원했다.</a:t>
            </a:r>
          </a:p>
          <a:p>
            <a:pPr algn="l">
              <a:lnSpc>
                <a:spcPct val="118000"/>
              </a:lnSpc>
            </a:pPr>
            <a:r>
              <a:rPr lang="ko-KR" sz="1200" b="0" dirty="0">
                <a:solidFill>
                  <a:srgbClr val="464D5C"/>
                </a:solidFill>
                <a:latin typeface="Pretendard"/>
                <a:ea typeface="Pretendard"/>
                <a:cs typeface="Pretendard"/>
              </a:rPr>
              <a:t>이 기간 14세는 </a:t>
            </a:r>
            <a:r>
              <a:rPr lang="ko-KR" altLang="en-US" sz="1200" dirty="0">
                <a:solidFill>
                  <a:srgbClr val="464D5C"/>
                </a:solidFill>
                <a:latin typeface="Pretendard"/>
                <a:ea typeface="Pretendard"/>
                <a:cs typeface="Pretendard"/>
              </a:rPr>
              <a:t>형사책임</a:t>
            </a:r>
            <a:r>
              <a:rPr lang="ko-KR" sz="1200" b="0" dirty="0">
                <a:solidFill>
                  <a:srgbClr val="464D5C"/>
                </a:solidFill>
                <a:latin typeface="Pretendard"/>
                <a:ea typeface="Pretendard"/>
                <a:cs typeface="Pretendard"/>
              </a:rPr>
              <a:t>연령선 아래와 위를 오가게 되었다.</a:t>
            </a:r>
          </a:p>
        </p:txBody>
      </p:sp>
      <p:sp>
        <p:nvSpPr>
          <p:cNvPr id="18" name="line18"/>
          <p:cNvSpPr/>
          <p:nvPr/>
        </p:nvSpPr>
        <p:spPr>
          <a:xfrm>
            <a:off x="731520" y="3481578"/>
            <a:ext cx="10725912" cy="0"/>
          </a:xfrm>
          <a:prstGeom prst="line">
            <a:avLst/>
          </a:prstGeom>
          <a:ln w="9525">
            <a:solidFill>
              <a:srgbClr val="DCE0E8"/>
            </a:solidFill>
          </a:ln>
        </p:spPr>
        <p:txBody>
          <a:bodyPr/>
          <a:lstStyle/>
          <a:p>
            <a:endParaRPr/>
          </a:p>
        </p:txBody>
      </p:sp>
      <p:sp>
        <p:nvSpPr>
          <p:cNvPr id="19" name="h1"/>
          <p:cNvSpPr txBox="1"/>
          <p:nvPr/>
        </p:nvSpPr>
        <p:spPr>
          <a:xfrm>
            <a:off x="731520" y="3710178"/>
            <a:ext cx="2240280" cy="80010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연구에 사용한 자료</a:t>
            </a:r>
          </a:p>
        </p:txBody>
      </p:sp>
      <p:sp>
        <p:nvSpPr>
          <p:cNvPr id="20" name="b1"/>
          <p:cNvSpPr txBox="1"/>
          <p:nvPr/>
        </p:nvSpPr>
        <p:spPr>
          <a:xfrm>
            <a:off x="3154680" y="3691128"/>
            <a:ext cx="8302752" cy="800100"/>
          </a:xfrm>
          <a:prstGeom prst="rect">
            <a:avLst/>
          </a:prstGeom>
          <a:noFill/>
        </p:spPr>
        <p:txBody>
          <a:bodyPr wrap="square" lIns="0" tIns="27432" rIns="0" bIns="27432" anchor="ctr">
            <a:noAutofit/>
          </a:bodyPr>
          <a:lstStyle/>
          <a:p>
            <a:pPr>
              <a:lnSpc>
                <a:spcPct val="125000"/>
              </a:lnSpc>
              <a:spcAft>
                <a:spcPts val="500"/>
              </a:spcAft>
            </a:pPr>
            <a:r>
              <a:rPr lang="ko-KR" altLang="en-US" sz="1400" b="1" dirty="0">
                <a:solidFill>
                  <a:srgbClr val="222633"/>
                </a:solidFill>
                <a:latin typeface="Pretendard"/>
                <a:ea typeface="Pretendard"/>
                <a:cs typeface="Pretendard"/>
              </a:rPr>
              <a:t>주 분석은 행정기록에 연결된 </a:t>
            </a:r>
            <a:r>
              <a:rPr lang="en-US" altLang="ko-KR" sz="1400" b="1" dirty="0">
                <a:solidFill>
                  <a:srgbClr val="222633"/>
                </a:solidFill>
                <a:latin typeface="Pretendard"/>
                <a:ea typeface="Pretendard"/>
                <a:cs typeface="Pretendard"/>
              </a:rPr>
              <a:t>14</a:t>
            </a:r>
            <a:r>
              <a:rPr lang="ko-KR" altLang="en-US" sz="1400" b="1" dirty="0">
                <a:solidFill>
                  <a:srgbClr val="222633"/>
                </a:solidFill>
                <a:latin typeface="Pretendard"/>
                <a:ea typeface="Pretendard"/>
                <a:cs typeface="Pretendard"/>
              </a:rPr>
              <a:t>세 </a:t>
            </a:r>
            <a:r>
              <a:rPr lang="en-US" altLang="ko-KR" sz="1400" b="1" dirty="0">
                <a:solidFill>
                  <a:srgbClr val="222633"/>
                </a:solidFill>
                <a:latin typeface="Pretendard"/>
                <a:ea typeface="Pretendard"/>
                <a:cs typeface="Pretendard"/>
              </a:rPr>
              <a:t>162,959</a:t>
            </a:r>
            <a:r>
              <a:rPr lang="ko-KR" altLang="en-US" sz="1400" b="1" dirty="0">
                <a:solidFill>
                  <a:srgbClr val="222633"/>
                </a:solidFill>
                <a:latin typeface="Pretendard"/>
                <a:ea typeface="Pretendard"/>
                <a:cs typeface="Pretendard"/>
              </a:rPr>
              <a:t>명을 이용해 하향 전과 하향기간의 월별 기록범죄를 비교했다</a:t>
            </a:r>
            <a:r>
              <a:rPr lang="en-US" altLang="ko-KR" sz="1400" b="1" dirty="0">
                <a:solidFill>
                  <a:srgbClr val="222633"/>
                </a:solidFill>
                <a:latin typeface="Pretendard"/>
                <a:ea typeface="Pretendard"/>
                <a:cs typeface="Pretendard"/>
              </a:rPr>
              <a:t>.</a:t>
            </a:r>
            <a:endParaRPr lang="ko-KR" sz="1400" b="1" dirty="0">
              <a:solidFill>
                <a:srgbClr val="222633"/>
              </a:solidFill>
              <a:latin typeface="Pretendard"/>
              <a:ea typeface="Pretendard"/>
              <a:cs typeface="Pretendard"/>
            </a:endParaRPr>
          </a:p>
          <a:p>
            <a:pPr>
              <a:lnSpc>
                <a:spcPct val="118000"/>
              </a:lnSpc>
            </a:pPr>
            <a:r>
              <a:rPr lang="ko-KR" altLang="en-US" sz="1200" dirty="0">
                <a:solidFill>
                  <a:srgbClr val="464D5C"/>
                </a:solidFill>
                <a:latin typeface="Pretendard"/>
                <a:ea typeface="Pretendard"/>
                <a:cs typeface="Pretendard"/>
              </a:rPr>
              <a:t>복원 뒤 </a:t>
            </a:r>
            <a:r>
              <a:rPr lang="en-US" altLang="ko-KR" sz="1200" dirty="0">
                <a:solidFill>
                  <a:srgbClr val="464D5C"/>
                </a:solidFill>
                <a:latin typeface="Pretendard"/>
                <a:ea typeface="Pretendard"/>
                <a:cs typeface="Pretendard"/>
              </a:rPr>
              <a:t>14</a:t>
            </a:r>
            <a:r>
              <a:rPr lang="ko-KR" altLang="en-US" sz="1200" dirty="0">
                <a:solidFill>
                  <a:srgbClr val="464D5C"/>
                </a:solidFill>
                <a:latin typeface="Pretendard"/>
                <a:ea typeface="Pretendard"/>
                <a:cs typeface="Pretendard"/>
              </a:rPr>
              <a:t>세 집단은 추가 분석에서 사용해</a:t>
            </a:r>
            <a:r>
              <a:rPr lang="en-US" altLang="ko-KR" sz="1200" dirty="0">
                <a:solidFill>
                  <a:srgbClr val="464D5C"/>
                </a:solidFill>
                <a:latin typeface="Pretendard"/>
                <a:ea typeface="Pretendard"/>
                <a:cs typeface="Pretendard"/>
              </a:rPr>
              <a:t>, </a:t>
            </a:r>
            <a:r>
              <a:rPr lang="ko-KR" altLang="en-US" sz="1200" dirty="0">
                <a:solidFill>
                  <a:srgbClr val="464D5C"/>
                </a:solidFill>
                <a:latin typeface="Pretendard"/>
                <a:ea typeface="Pretendard"/>
                <a:cs typeface="Pretendard"/>
              </a:rPr>
              <a:t>하향과 복원이 반대 방향의 효과를 보이는지도 확인했다</a:t>
            </a:r>
            <a:r>
              <a:rPr lang="en-US" altLang="ko-KR" sz="1200" dirty="0">
                <a:solidFill>
                  <a:srgbClr val="464D5C"/>
                </a:solidFill>
                <a:latin typeface="Pretendard"/>
                <a:ea typeface="Pretendard"/>
                <a:cs typeface="Pretendard"/>
              </a:rPr>
              <a:t>.</a:t>
            </a:r>
            <a:endParaRPr lang="ko-KR" sz="1200" b="0" dirty="0">
              <a:solidFill>
                <a:srgbClr val="464D5C"/>
              </a:solidFill>
              <a:latin typeface="Pretendard"/>
              <a:ea typeface="Pretendard"/>
              <a:cs typeface="Pretendard"/>
            </a:endParaRPr>
          </a:p>
        </p:txBody>
      </p:sp>
      <p:sp>
        <p:nvSpPr>
          <p:cNvPr id="21" name="line21"/>
          <p:cNvSpPr/>
          <p:nvPr/>
        </p:nvSpPr>
        <p:spPr>
          <a:xfrm>
            <a:off x="731520" y="4738878"/>
            <a:ext cx="10725912" cy="0"/>
          </a:xfrm>
          <a:prstGeom prst="line">
            <a:avLst/>
          </a:prstGeom>
          <a:ln w="9525">
            <a:solidFill>
              <a:srgbClr val="DCE0E8"/>
            </a:solidFill>
          </a:ln>
        </p:spPr>
        <p:txBody>
          <a:bodyPr/>
          <a:lstStyle/>
          <a:p>
            <a:endParaRPr/>
          </a:p>
        </p:txBody>
      </p:sp>
      <p:sp>
        <p:nvSpPr>
          <p:cNvPr id="22" name="h2"/>
          <p:cNvSpPr txBox="1"/>
          <p:nvPr/>
        </p:nvSpPr>
        <p:spPr>
          <a:xfrm>
            <a:off x="731520" y="4967477"/>
            <a:ext cx="2240280" cy="902969"/>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확인하려는 효과</a:t>
            </a:r>
          </a:p>
        </p:txBody>
      </p:sp>
      <p:sp>
        <p:nvSpPr>
          <p:cNvPr id="23" name="b2"/>
          <p:cNvSpPr txBox="1"/>
          <p:nvPr/>
        </p:nvSpPr>
        <p:spPr>
          <a:xfrm>
            <a:off x="3154680" y="5083048"/>
            <a:ext cx="8302752" cy="781812"/>
          </a:xfrm>
          <a:prstGeom prst="rect">
            <a:avLst/>
          </a:prstGeom>
          <a:noFill/>
        </p:spPr>
        <p:txBody>
          <a:bodyPr wrap="square" lIns="0" tIns="27432" rIns="0" bIns="27432" anchor="ctr">
            <a:noAutofit/>
          </a:bodyPr>
          <a:lstStyle/>
          <a:p>
            <a:pPr>
              <a:lnSpc>
                <a:spcPct val="118000"/>
              </a:lnSpc>
              <a:spcAft>
                <a:spcPts val="500"/>
              </a:spcAft>
            </a:pPr>
            <a:r>
              <a:rPr lang="ko-KR" altLang="en-US" sz="1400" b="1" dirty="0">
                <a:solidFill>
                  <a:srgbClr val="222633"/>
                </a:solidFill>
                <a:latin typeface="Pretendard"/>
                <a:ea typeface="Pretendard"/>
                <a:cs typeface="Pretendard"/>
              </a:rPr>
              <a:t>같은 </a:t>
            </a:r>
            <a:r>
              <a:rPr lang="en-US" altLang="ko-KR" sz="1400" b="1" dirty="0">
                <a:solidFill>
                  <a:srgbClr val="222633"/>
                </a:solidFill>
                <a:highlight>
                  <a:srgbClr val="FFFF00"/>
                </a:highlight>
                <a:latin typeface="Pretendard"/>
                <a:ea typeface="Pretendard"/>
                <a:cs typeface="Pretendard"/>
              </a:rPr>
              <a:t>14</a:t>
            </a:r>
            <a:r>
              <a:rPr lang="ko-KR" altLang="en-US" sz="1400" b="1" dirty="0">
                <a:solidFill>
                  <a:srgbClr val="222633"/>
                </a:solidFill>
                <a:highlight>
                  <a:srgbClr val="FFFF00"/>
                </a:highlight>
                <a:latin typeface="Pretendard"/>
                <a:ea typeface="Pretendard"/>
                <a:cs typeface="Pretendard"/>
              </a:rPr>
              <a:t>세가 시기에 따라 책임연령선 아래와 위에 놓인 변화를 이용해</a:t>
            </a:r>
            <a:r>
              <a:rPr lang="en-US" altLang="ko-KR" sz="1400" b="1" dirty="0">
                <a:solidFill>
                  <a:srgbClr val="222633"/>
                </a:solidFill>
                <a:highlight>
                  <a:srgbClr val="FFFF00"/>
                </a:highlight>
                <a:latin typeface="Pretendard"/>
                <a:ea typeface="Pretendard"/>
                <a:cs typeface="Pretendard"/>
              </a:rPr>
              <a:t>, </a:t>
            </a:r>
            <a:r>
              <a:rPr lang="ko-KR" altLang="en-US" sz="1400" b="1" dirty="0">
                <a:solidFill>
                  <a:srgbClr val="222633"/>
                </a:solidFill>
                <a:highlight>
                  <a:srgbClr val="FFFF00"/>
                </a:highlight>
                <a:latin typeface="Pretendard"/>
                <a:ea typeface="Pretendard"/>
                <a:cs typeface="Pretendard"/>
              </a:rPr>
              <a:t>하향기간에 기록범죄가 줄었는지 살폈다</a:t>
            </a:r>
            <a:r>
              <a:rPr lang="en-US" altLang="ko-KR" sz="1400" b="1" dirty="0">
                <a:solidFill>
                  <a:srgbClr val="222633"/>
                </a:solidFill>
                <a:latin typeface="Pretendard"/>
                <a:ea typeface="Pretendard"/>
                <a:cs typeface="Pretendard"/>
              </a:rPr>
              <a:t>.</a:t>
            </a:r>
          </a:p>
          <a:p>
            <a:pPr>
              <a:lnSpc>
                <a:spcPct val="118000"/>
              </a:lnSpc>
              <a:spcAft>
                <a:spcPts val="500"/>
              </a:spcAft>
            </a:pPr>
            <a:r>
              <a:rPr lang="en-US" altLang="ko-KR" sz="1200" dirty="0">
                <a:solidFill>
                  <a:schemeClr val="tx1">
                    <a:lumMod val="65000"/>
                    <a:lumOff val="35000"/>
                  </a:schemeClr>
                </a:solidFill>
                <a:latin typeface="Pretendard"/>
                <a:ea typeface="Pretendard"/>
                <a:cs typeface="Pretendard"/>
              </a:rPr>
              <a:t>13</a:t>
            </a:r>
            <a:r>
              <a:rPr lang="ko-KR" altLang="en-US" sz="1200" dirty="0">
                <a:solidFill>
                  <a:schemeClr val="tx1">
                    <a:lumMod val="65000"/>
                    <a:lumOff val="35000"/>
                  </a:schemeClr>
                </a:solidFill>
                <a:latin typeface="Pretendard"/>
                <a:ea typeface="Pretendard"/>
                <a:cs typeface="Pretendard"/>
              </a:rPr>
              <a:t>세</a:t>
            </a:r>
            <a:r>
              <a:rPr lang="en-US" altLang="ko-KR" sz="1200" dirty="0">
                <a:solidFill>
                  <a:schemeClr val="tx1">
                    <a:lumMod val="65000"/>
                    <a:lumOff val="35000"/>
                  </a:schemeClr>
                </a:solidFill>
                <a:latin typeface="Pretendard"/>
                <a:ea typeface="Pretendard"/>
                <a:cs typeface="Pretendard"/>
              </a:rPr>
              <a:t>·15</a:t>
            </a:r>
            <a:r>
              <a:rPr lang="ko-KR" altLang="en-US" sz="1200" dirty="0">
                <a:solidFill>
                  <a:schemeClr val="tx1">
                    <a:lumMod val="65000"/>
                    <a:lumOff val="35000"/>
                  </a:schemeClr>
                </a:solidFill>
                <a:latin typeface="Pretendard"/>
                <a:ea typeface="Pretendard"/>
                <a:cs typeface="Pretendard"/>
              </a:rPr>
              <a:t>세에는 같은 시기 변화가 있었는지도 별도로 검토했다</a:t>
            </a:r>
            <a:r>
              <a:rPr lang="en-US" altLang="ko-KR" sz="1200" dirty="0">
                <a:solidFill>
                  <a:schemeClr val="tx1">
                    <a:lumMod val="65000"/>
                    <a:lumOff val="35000"/>
                  </a:schemeClr>
                </a:solidFill>
                <a:latin typeface="Pretendard"/>
                <a:ea typeface="Pretendard"/>
                <a:cs typeface="Pretendard"/>
              </a:rPr>
              <a:t>.</a:t>
            </a:r>
          </a:p>
          <a:p>
            <a:pPr>
              <a:lnSpc>
                <a:spcPct val="118000"/>
              </a:lnSpc>
              <a:spcAft>
                <a:spcPts val="500"/>
              </a:spcAft>
            </a:pPr>
            <a:r>
              <a:rPr lang="ko-KR" altLang="en-US" sz="1200" b="1" dirty="0">
                <a:solidFill>
                  <a:schemeClr val="tx1">
                    <a:lumMod val="65000"/>
                    <a:lumOff val="35000"/>
                  </a:schemeClr>
                </a:solidFill>
                <a:highlight>
                  <a:srgbClr val="FFFF00"/>
                </a:highlight>
                <a:latin typeface="Pretendard"/>
                <a:ea typeface="Pretendard"/>
                <a:cs typeface="Pretendard"/>
              </a:rPr>
              <a:t>형사책임연령 미만의 행위도 경찰에 기록되므로</a:t>
            </a:r>
            <a:r>
              <a:rPr lang="en-US" altLang="ko-KR" sz="1200" b="1" dirty="0">
                <a:solidFill>
                  <a:schemeClr val="tx1">
                    <a:lumMod val="65000"/>
                    <a:lumOff val="35000"/>
                  </a:schemeClr>
                </a:solidFill>
                <a:highlight>
                  <a:srgbClr val="FFFF00"/>
                </a:highlight>
                <a:latin typeface="Pretendard"/>
                <a:ea typeface="Pretendard"/>
                <a:cs typeface="Pretendard"/>
              </a:rPr>
              <a:t>, </a:t>
            </a:r>
            <a:r>
              <a:rPr lang="ko-KR" altLang="en-US" sz="1200" b="1" dirty="0">
                <a:solidFill>
                  <a:schemeClr val="tx1">
                    <a:lumMod val="65000"/>
                    <a:lumOff val="35000"/>
                  </a:schemeClr>
                </a:solidFill>
                <a:highlight>
                  <a:srgbClr val="FFFF00"/>
                </a:highlight>
                <a:latin typeface="Pretendard"/>
                <a:ea typeface="Pretendard"/>
                <a:cs typeface="Pretendard"/>
              </a:rPr>
              <a:t>기소 가능한 시기와 불가능한 시기의 같은 연령집단을 비교했다</a:t>
            </a:r>
            <a:r>
              <a:rPr lang="en-US" altLang="ko-KR" sz="1200" b="1" dirty="0">
                <a:solidFill>
                  <a:schemeClr val="tx1">
                    <a:lumMod val="65000"/>
                    <a:lumOff val="35000"/>
                  </a:schemeClr>
                </a:solidFill>
                <a:highlight>
                  <a:srgbClr val="FFFF00"/>
                </a:highlight>
                <a:latin typeface="Pretendard"/>
                <a:ea typeface="Pretendard"/>
                <a:cs typeface="Pretendard"/>
              </a:rPr>
              <a:t>.</a:t>
            </a:r>
            <a:endParaRPr lang="en-US" altLang="ko-KR" sz="1200" b="1" dirty="0">
              <a:solidFill>
                <a:schemeClr val="tx1">
                  <a:lumMod val="65000"/>
                  <a:lumOff val="35000"/>
                </a:schemeClr>
              </a:solidFill>
              <a:highlight>
                <a:srgbClr val="FFFF00"/>
              </a:highlight>
              <a:latin typeface="Pretendard"/>
            </a:endParaRPr>
          </a:p>
        </p:txBody>
      </p:sp>
      <p:sp>
        <p:nvSpPr>
          <p:cNvPr id="24" name="line24"/>
          <p:cNvSpPr/>
          <p:nvPr/>
        </p:nvSpPr>
        <p:spPr>
          <a:xfrm>
            <a:off x="731520" y="6144768"/>
            <a:ext cx="10725912" cy="0"/>
          </a:xfrm>
          <a:prstGeom prst="line">
            <a:avLst/>
          </a:prstGeom>
          <a:ln w="19050">
            <a:solidFill>
              <a:srgbClr val="1E2761"/>
            </a:solidFill>
          </a:ln>
        </p:spPr>
        <p:txBody>
          <a:bodyPr/>
          <a:lstStyle/>
          <a:p>
            <a:endParaRPr/>
          </a:p>
        </p:txBody>
      </p:sp>
      <p:sp>
        <p:nvSpPr>
          <p:cNvPr id="25"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Damm et al.(2025), Journal of Quantitative Criminology 41, 495–521</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연령 하향의 범죄예방 효과</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발달과 자기통제</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덴마크 연령 하향의 결과와 적용 범위 — Damm 외(2025)</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nSpc>
                <a:spcPct val="118000"/>
              </a:lnSpc>
            </a:pPr>
            <a:r>
              <a:rPr lang="ko-KR" altLang="en-US" sz="1300" b="1" dirty="0">
                <a:solidFill>
                  <a:srgbClr val="1E2761"/>
                </a:solidFill>
                <a:latin typeface="Pretendard"/>
                <a:ea typeface="Pretendard"/>
                <a:cs typeface="Pretendard"/>
              </a:rPr>
              <a:t>덴마크에서는 형사책임연령 하향에 따른 </a:t>
            </a:r>
            <a:r>
              <a:rPr lang="en-US" altLang="ko-KR" sz="1300" b="1" dirty="0">
                <a:solidFill>
                  <a:srgbClr val="1E2761"/>
                </a:solidFill>
                <a:latin typeface="Pretendard"/>
                <a:ea typeface="Pretendard"/>
                <a:cs typeface="Pretendard"/>
              </a:rPr>
              <a:t>14</a:t>
            </a:r>
            <a:r>
              <a:rPr lang="ko-KR" altLang="en-US" sz="1300" b="1" dirty="0">
                <a:solidFill>
                  <a:srgbClr val="1E2761"/>
                </a:solidFill>
                <a:latin typeface="Pretendard"/>
                <a:ea typeface="Pretendard"/>
                <a:cs typeface="Pretendard"/>
              </a:rPr>
              <a:t>세의 기록범죄 감소를 확인하지 못했다</a:t>
            </a:r>
            <a:r>
              <a:rPr lang="en-US" altLang="ko-KR" sz="1300" b="1" dirty="0">
                <a:solidFill>
                  <a:srgbClr val="1E2761"/>
                </a:solidFill>
                <a:latin typeface="Pretendard"/>
                <a:ea typeface="Pretendard"/>
                <a:cs typeface="Pretendard"/>
              </a:rPr>
              <a:t>.</a:t>
            </a:r>
            <a:endParaRPr lang="ko-KR" sz="1300" b="1" dirty="0">
              <a:solidFill>
                <a:srgbClr val="1E2761"/>
              </a:solidFill>
              <a:latin typeface="Pretendard"/>
              <a:ea typeface="Pretendard"/>
              <a:cs typeface="Pretendard"/>
            </a:endParaRP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line16"/>
          <p:cNvSpPr/>
          <p:nvPr/>
        </p:nvSpPr>
        <p:spPr>
          <a:xfrm>
            <a:off x="1463040" y="2715768"/>
            <a:ext cx="9235440" cy="0"/>
          </a:xfrm>
          <a:prstGeom prst="line">
            <a:avLst/>
          </a:prstGeom>
          <a:ln w="9525">
            <a:solidFill>
              <a:srgbClr val="464D5C"/>
            </a:solidFill>
          </a:ln>
        </p:spPr>
        <p:txBody>
          <a:bodyPr/>
          <a:lstStyle/>
          <a:p>
            <a:endParaRPr/>
          </a:p>
        </p:txBody>
      </p:sp>
      <p:sp>
        <p:nvSpPr>
          <p:cNvPr id="17" name="dot0"/>
          <p:cNvSpPr/>
          <p:nvPr/>
        </p:nvSpPr>
        <p:spPr>
          <a:xfrm>
            <a:off x="1417320" y="2670048"/>
            <a:ext cx="91440" cy="91440"/>
          </a:xfrm>
          <a:prstGeom prst="rect">
            <a:avLst/>
          </a:prstGeom>
          <a:solidFill>
            <a:srgbClr val="A8871C"/>
          </a:solidFill>
          <a:ln>
            <a:noFill/>
          </a:ln>
        </p:spPr>
        <p:txBody>
          <a:bodyPr/>
          <a:lstStyle/>
          <a:p>
            <a:endParaRPr/>
          </a:p>
        </p:txBody>
      </p:sp>
      <p:sp>
        <p:nvSpPr>
          <p:cNvPr id="18" name="tw0"/>
          <p:cNvSpPr txBox="1"/>
          <p:nvPr/>
        </p:nvSpPr>
        <p:spPr>
          <a:xfrm>
            <a:off x="45720" y="2203704"/>
            <a:ext cx="2834640" cy="292608"/>
          </a:xfrm>
          <a:prstGeom prst="rect">
            <a:avLst/>
          </a:prstGeom>
          <a:noFill/>
        </p:spPr>
        <p:txBody>
          <a:bodyPr wrap="square" lIns="0" tIns="27432" rIns="0" bIns="27432" anchor="ctr">
            <a:noAutofit/>
          </a:bodyPr>
          <a:lstStyle/>
          <a:p>
            <a:pPr algn="ctr">
              <a:lnSpc>
                <a:spcPct val="118000"/>
              </a:lnSpc>
            </a:pPr>
            <a:r>
              <a:rPr lang="ko-KR" sz="1300" b="1" dirty="0">
                <a:solidFill>
                  <a:srgbClr val="A8871C"/>
                </a:solidFill>
                <a:latin typeface="Pretendard"/>
                <a:ea typeface="Pretendard"/>
                <a:cs typeface="Pretendard"/>
              </a:rPr>
              <a:t>2010. 7.</a:t>
            </a:r>
          </a:p>
        </p:txBody>
      </p:sp>
      <p:sp>
        <p:nvSpPr>
          <p:cNvPr id="19" name="tt0"/>
          <p:cNvSpPr txBox="1"/>
          <p:nvPr/>
        </p:nvSpPr>
        <p:spPr>
          <a:xfrm>
            <a:off x="45720" y="2825496"/>
            <a:ext cx="2834640" cy="402336"/>
          </a:xfrm>
          <a:prstGeom prst="rect">
            <a:avLst/>
          </a:prstGeom>
          <a:noFill/>
        </p:spPr>
        <p:txBody>
          <a:bodyPr wrap="square" lIns="0" tIns="27432" rIns="0" bIns="27432" anchor="ctr">
            <a:noAutofit/>
          </a:bodyPr>
          <a:lstStyle/>
          <a:p>
            <a:pPr algn="ctr">
              <a:lnSpc>
                <a:spcPct val="118000"/>
              </a:lnSpc>
            </a:pPr>
            <a:r>
              <a:rPr lang="ko-KR" sz="1200" b="0" dirty="0">
                <a:solidFill>
                  <a:srgbClr val="222633"/>
                </a:solidFill>
                <a:latin typeface="Pretendard"/>
                <a:ea typeface="Pretendard"/>
                <a:cs typeface="Pretendard"/>
              </a:rPr>
              <a:t>책임연령 15세 → 14세</a:t>
            </a:r>
          </a:p>
        </p:txBody>
      </p:sp>
      <p:sp>
        <p:nvSpPr>
          <p:cNvPr id="20" name="dot1"/>
          <p:cNvSpPr/>
          <p:nvPr/>
        </p:nvSpPr>
        <p:spPr>
          <a:xfrm>
            <a:off x="4498848" y="2670048"/>
            <a:ext cx="91440" cy="91440"/>
          </a:xfrm>
          <a:prstGeom prst="rect">
            <a:avLst/>
          </a:prstGeom>
          <a:solidFill>
            <a:srgbClr val="1E2761"/>
          </a:solidFill>
          <a:ln>
            <a:noFill/>
          </a:ln>
        </p:spPr>
        <p:txBody>
          <a:bodyPr/>
          <a:lstStyle/>
          <a:p>
            <a:endParaRPr/>
          </a:p>
        </p:txBody>
      </p:sp>
      <p:sp>
        <p:nvSpPr>
          <p:cNvPr id="21" name="tw1"/>
          <p:cNvSpPr txBox="1"/>
          <p:nvPr/>
        </p:nvSpPr>
        <p:spPr>
          <a:xfrm>
            <a:off x="3127248" y="2203704"/>
            <a:ext cx="2834640" cy="292608"/>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2012. 3.</a:t>
            </a:r>
          </a:p>
        </p:txBody>
      </p:sp>
      <p:sp>
        <p:nvSpPr>
          <p:cNvPr id="22" name="tt1"/>
          <p:cNvSpPr txBox="1"/>
          <p:nvPr/>
        </p:nvSpPr>
        <p:spPr>
          <a:xfrm>
            <a:off x="3127248" y="2825496"/>
            <a:ext cx="2834640" cy="402336"/>
          </a:xfrm>
          <a:prstGeom prst="rect">
            <a:avLst/>
          </a:prstGeom>
          <a:noFill/>
        </p:spPr>
        <p:txBody>
          <a:bodyPr wrap="square" lIns="0" tIns="27432" rIns="0" bIns="27432" anchor="ctr">
            <a:noAutofit/>
          </a:bodyPr>
          <a:lstStyle/>
          <a:p>
            <a:pPr algn="ctr">
              <a:lnSpc>
                <a:spcPct val="118000"/>
              </a:lnSpc>
            </a:pPr>
            <a:r>
              <a:rPr lang="ko-KR" sz="1200" b="0" dirty="0">
                <a:solidFill>
                  <a:srgbClr val="222633"/>
                </a:solidFill>
                <a:latin typeface="Pretendard"/>
                <a:ea typeface="Pretendard"/>
                <a:cs typeface="Pretendard"/>
              </a:rPr>
              <a:t>15세로 복원</a:t>
            </a:r>
          </a:p>
        </p:txBody>
      </p:sp>
      <p:sp>
        <p:nvSpPr>
          <p:cNvPr id="23" name="dot2"/>
          <p:cNvSpPr/>
          <p:nvPr/>
        </p:nvSpPr>
        <p:spPr>
          <a:xfrm>
            <a:off x="7580375" y="2670048"/>
            <a:ext cx="91440" cy="91440"/>
          </a:xfrm>
          <a:prstGeom prst="rect">
            <a:avLst/>
          </a:prstGeom>
          <a:solidFill>
            <a:srgbClr val="464D5C"/>
          </a:solidFill>
          <a:ln>
            <a:noFill/>
          </a:ln>
        </p:spPr>
        <p:txBody>
          <a:bodyPr/>
          <a:lstStyle/>
          <a:p>
            <a:endParaRPr/>
          </a:p>
        </p:txBody>
      </p:sp>
      <p:sp>
        <p:nvSpPr>
          <p:cNvPr id="24" name="tw2"/>
          <p:cNvSpPr txBox="1"/>
          <p:nvPr/>
        </p:nvSpPr>
        <p:spPr>
          <a:xfrm>
            <a:off x="6208776" y="2203704"/>
            <a:ext cx="2834640" cy="292608"/>
          </a:xfrm>
          <a:prstGeom prst="rect">
            <a:avLst/>
          </a:prstGeom>
          <a:noFill/>
        </p:spPr>
        <p:txBody>
          <a:bodyPr wrap="square" lIns="0" tIns="27432" rIns="0" bIns="27432" anchor="ctr">
            <a:noAutofit/>
          </a:bodyPr>
          <a:lstStyle/>
          <a:p>
            <a:pPr algn="ctr">
              <a:lnSpc>
                <a:spcPct val="118000"/>
              </a:lnSpc>
            </a:pPr>
            <a:r>
              <a:rPr lang="ko-KR" sz="1300" b="1" dirty="0">
                <a:solidFill>
                  <a:srgbClr val="464D5C"/>
                </a:solidFill>
                <a:latin typeface="Pretendard"/>
                <a:ea typeface="Pretendard"/>
                <a:cs typeface="Pretendard"/>
              </a:rPr>
              <a:t>연구 기간</a:t>
            </a:r>
          </a:p>
        </p:txBody>
      </p:sp>
      <p:sp>
        <p:nvSpPr>
          <p:cNvPr id="25" name="tt2"/>
          <p:cNvSpPr txBox="1"/>
          <p:nvPr/>
        </p:nvSpPr>
        <p:spPr>
          <a:xfrm>
            <a:off x="6208776" y="2825496"/>
            <a:ext cx="2834640" cy="402336"/>
          </a:xfrm>
          <a:prstGeom prst="rect">
            <a:avLst/>
          </a:prstGeom>
          <a:noFill/>
        </p:spPr>
        <p:txBody>
          <a:bodyPr wrap="square" lIns="0" tIns="27432" rIns="0" bIns="27432" anchor="ctr">
            <a:noAutofit/>
          </a:bodyPr>
          <a:lstStyle/>
          <a:p>
            <a:pPr algn="ctr">
              <a:lnSpc>
                <a:spcPct val="118000"/>
              </a:lnSpc>
            </a:pPr>
            <a:r>
              <a:rPr lang="ko-KR" sz="1200" b="0" dirty="0">
                <a:solidFill>
                  <a:srgbClr val="222633"/>
                </a:solidFill>
                <a:latin typeface="Pretendard"/>
                <a:ea typeface="Pretendard"/>
                <a:cs typeface="Pretendard"/>
              </a:rPr>
              <a:t>하향 전 · 하향 기간 · 복원 후를 비교</a:t>
            </a:r>
          </a:p>
        </p:txBody>
      </p:sp>
      <p:sp>
        <p:nvSpPr>
          <p:cNvPr id="26" name="line26"/>
          <p:cNvSpPr/>
          <p:nvPr/>
        </p:nvSpPr>
        <p:spPr>
          <a:xfrm>
            <a:off x="731520" y="3327400"/>
            <a:ext cx="10725912" cy="0"/>
          </a:xfrm>
          <a:prstGeom prst="line">
            <a:avLst/>
          </a:prstGeom>
          <a:ln w="9525">
            <a:solidFill>
              <a:srgbClr val="DCE0E8"/>
            </a:solidFill>
          </a:ln>
        </p:spPr>
        <p:txBody>
          <a:bodyPr/>
          <a:lstStyle/>
          <a:p>
            <a:endParaRPr/>
          </a:p>
        </p:txBody>
      </p:sp>
      <p:sp>
        <p:nvSpPr>
          <p:cNvPr id="27" name="lh0"/>
          <p:cNvSpPr txBox="1"/>
          <p:nvPr/>
        </p:nvSpPr>
        <p:spPr>
          <a:xfrm>
            <a:off x="1214120" y="3377566"/>
            <a:ext cx="2240280" cy="672536"/>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14세에서 나타난 결과</a:t>
            </a:r>
          </a:p>
        </p:txBody>
      </p:sp>
      <p:sp>
        <p:nvSpPr>
          <p:cNvPr id="28" name="lb0"/>
          <p:cNvSpPr txBox="1"/>
          <p:nvPr/>
        </p:nvSpPr>
        <p:spPr>
          <a:xfrm>
            <a:off x="3154680" y="3359150"/>
            <a:ext cx="8302752" cy="672536"/>
          </a:xfrm>
          <a:prstGeom prst="rect">
            <a:avLst/>
          </a:prstGeom>
          <a:noFill/>
        </p:spPr>
        <p:txBody>
          <a:bodyPr wrap="square" lIns="0" tIns="27432" rIns="0" bIns="27432" anchor="ctr">
            <a:noAutofit/>
          </a:bodyPr>
          <a:lstStyle/>
          <a:p>
            <a:pPr algn="l">
              <a:lnSpc>
                <a:spcPct val="118000"/>
              </a:lnSpc>
              <a:spcAft>
                <a:spcPts val="500"/>
              </a:spcAft>
            </a:pPr>
            <a:r>
              <a:rPr lang="ko-KR" sz="1300" b="1" dirty="0">
                <a:solidFill>
                  <a:srgbClr val="222633"/>
                </a:solidFill>
                <a:latin typeface="Pretendard"/>
                <a:ea typeface="Pretendard"/>
                <a:cs typeface="Pretendard"/>
              </a:rPr>
              <a:t>하향으로 14세의 기록범죄가 감소했다는 증거는 확인되지 않았다.</a:t>
            </a:r>
          </a:p>
          <a:p>
            <a:pPr>
              <a:lnSpc>
                <a:spcPct val="125000"/>
              </a:lnSpc>
            </a:pPr>
            <a:r>
              <a:rPr lang="ko-KR" altLang="en-US" sz="1150" b="1" dirty="0">
                <a:solidFill>
                  <a:srgbClr val="464D5C"/>
                </a:solidFill>
                <a:highlight>
                  <a:srgbClr val="FFFF00"/>
                </a:highlight>
                <a:latin typeface="Pretendard"/>
                <a:ea typeface="Pretendard"/>
                <a:cs typeface="Pretendard"/>
              </a:rPr>
              <a:t>하향기간에는 </a:t>
            </a:r>
            <a:r>
              <a:rPr lang="en-US" altLang="ko-KR" sz="1150" b="1" dirty="0">
                <a:solidFill>
                  <a:srgbClr val="464D5C"/>
                </a:solidFill>
                <a:highlight>
                  <a:srgbClr val="FFFF00"/>
                </a:highlight>
                <a:latin typeface="Pretendard"/>
                <a:ea typeface="Pretendard"/>
                <a:cs typeface="Pretendard"/>
              </a:rPr>
              <a:t>14</a:t>
            </a:r>
            <a:r>
              <a:rPr lang="ko-KR" altLang="en-US" sz="1150" b="1" dirty="0">
                <a:solidFill>
                  <a:srgbClr val="464D5C"/>
                </a:solidFill>
                <a:highlight>
                  <a:srgbClr val="FFFF00"/>
                </a:highlight>
                <a:latin typeface="Pretendard"/>
                <a:ea typeface="Pretendard"/>
                <a:cs typeface="Pretendard"/>
              </a:rPr>
              <a:t>세의 기록범죄가 증가하는 결과도 나타났고</a:t>
            </a:r>
            <a:r>
              <a:rPr lang="en-US" altLang="ko-KR" sz="1150" b="1" dirty="0">
                <a:solidFill>
                  <a:srgbClr val="464D5C"/>
                </a:solidFill>
                <a:highlight>
                  <a:srgbClr val="FFFF00"/>
                </a:highlight>
                <a:latin typeface="Pretendard"/>
                <a:ea typeface="Pretendard"/>
                <a:cs typeface="Pretendard"/>
              </a:rPr>
              <a:t>, </a:t>
            </a:r>
            <a:r>
              <a:rPr lang="ko-KR" altLang="en-US" sz="1150" b="1" dirty="0">
                <a:solidFill>
                  <a:srgbClr val="464D5C"/>
                </a:solidFill>
                <a:highlight>
                  <a:srgbClr val="FFFF00"/>
                </a:highlight>
                <a:latin typeface="Pretendard"/>
                <a:ea typeface="Pretendard"/>
                <a:cs typeface="Pretendard"/>
              </a:rPr>
              <a:t>이전 범죄기록이 있는 </a:t>
            </a:r>
            <a:r>
              <a:rPr lang="en-US" altLang="ko-KR" sz="1150" b="1" dirty="0">
                <a:solidFill>
                  <a:srgbClr val="464D5C"/>
                </a:solidFill>
                <a:highlight>
                  <a:srgbClr val="FFFF00"/>
                </a:highlight>
                <a:latin typeface="Pretendard"/>
                <a:ea typeface="Pretendard"/>
                <a:cs typeface="Pretendard"/>
              </a:rPr>
              <a:t>14</a:t>
            </a:r>
            <a:r>
              <a:rPr lang="ko-KR" altLang="en-US" sz="1150" b="1" dirty="0">
                <a:solidFill>
                  <a:srgbClr val="464D5C"/>
                </a:solidFill>
                <a:highlight>
                  <a:srgbClr val="FFFF00"/>
                </a:highlight>
                <a:latin typeface="Pretendard"/>
                <a:ea typeface="Pretendard"/>
                <a:cs typeface="Pretendard"/>
              </a:rPr>
              <a:t>세에서 특히 두드러졌다</a:t>
            </a:r>
            <a:r>
              <a:rPr lang="en-US" altLang="ko-KR" sz="1150" b="1" dirty="0">
                <a:solidFill>
                  <a:srgbClr val="464D5C"/>
                </a:solidFill>
                <a:highlight>
                  <a:srgbClr val="FFFF00"/>
                </a:highlight>
                <a:latin typeface="Pretendard"/>
                <a:ea typeface="Pretendard"/>
                <a:cs typeface="Pretendard"/>
              </a:rPr>
              <a:t>.</a:t>
            </a:r>
            <a:endParaRPr lang="ko-KR" sz="1150" b="1" dirty="0">
              <a:solidFill>
                <a:srgbClr val="464D5C"/>
              </a:solidFill>
              <a:highlight>
                <a:srgbClr val="FFFF00"/>
              </a:highlight>
              <a:latin typeface="Pretendard"/>
              <a:ea typeface="Pretendard"/>
              <a:cs typeface="Pretendard"/>
            </a:endParaRPr>
          </a:p>
        </p:txBody>
      </p:sp>
      <p:sp>
        <p:nvSpPr>
          <p:cNvPr id="29" name="line29"/>
          <p:cNvSpPr/>
          <p:nvPr/>
        </p:nvSpPr>
        <p:spPr>
          <a:xfrm>
            <a:off x="731520" y="4044386"/>
            <a:ext cx="10725912" cy="0"/>
          </a:xfrm>
          <a:prstGeom prst="line">
            <a:avLst/>
          </a:prstGeom>
          <a:ln w="9525">
            <a:solidFill>
              <a:srgbClr val="DCE0E8"/>
            </a:solidFill>
          </a:ln>
        </p:spPr>
        <p:txBody>
          <a:bodyPr/>
          <a:lstStyle/>
          <a:p>
            <a:endParaRPr/>
          </a:p>
        </p:txBody>
      </p:sp>
      <p:sp>
        <p:nvSpPr>
          <p:cNvPr id="30" name="lh1"/>
          <p:cNvSpPr txBox="1"/>
          <p:nvPr/>
        </p:nvSpPr>
        <p:spPr>
          <a:xfrm>
            <a:off x="1214120" y="4126936"/>
            <a:ext cx="2240280" cy="515277"/>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다른 연령의 결과</a:t>
            </a:r>
          </a:p>
        </p:txBody>
      </p:sp>
      <p:sp>
        <p:nvSpPr>
          <p:cNvPr id="31" name="lb1"/>
          <p:cNvSpPr txBox="1"/>
          <p:nvPr/>
        </p:nvSpPr>
        <p:spPr>
          <a:xfrm>
            <a:off x="3154680" y="4126936"/>
            <a:ext cx="8302752" cy="515277"/>
          </a:xfrm>
          <a:prstGeom prst="rect">
            <a:avLst/>
          </a:prstGeom>
          <a:noFill/>
        </p:spPr>
        <p:txBody>
          <a:bodyPr wrap="square" lIns="0" tIns="27432" rIns="0" bIns="27432" anchor="ctr">
            <a:noAutofit/>
          </a:bodyPr>
          <a:lstStyle/>
          <a:p>
            <a:pPr algn="l">
              <a:lnSpc>
                <a:spcPct val="118000"/>
              </a:lnSpc>
              <a:spcAft>
                <a:spcPts val="500"/>
              </a:spcAft>
            </a:pPr>
            <a:r>
              <a:rPr sz="1300" b="1" dirty="0">
                <a:solidFill>
                  <a:srgbClr val="222633"/>
                </a:solidFill>
                <a:latin typeface="Pretendard"/>
              </a:rPr>
              <a:t>13세와 15세의 </a:t>
            </a:r>
            <a:r>
              <a:rPr sz="1300" b="1" dirty="0" err="1">
                <a:solidFill>
                  <a:srgbClr val="222633"/>
                </a:solidFill>
                <a:latin typeface="Pretendard"/>
              </a:rPr>
              <a:t>범죄율에는</a:t>
            </a:r>
            <a:r>
              <a:rPr sz="1300" b="1" dirty="0">
                <a:solidFill>
                  <a:srgbClr val="222633"/>
                </a:solidFill>
                <a:latin typeface="Pretendard"/>
              </a:rPr>
              <a:t> </a:t>
            </a:r>
            <a:r>
              <a:rPr sz="1300" b="1" dirty="0" err="1">
                <a:solidFill>
                  <a:srgbClr val="222633"/>
                </a:solidFill>
                <a:latin typeface="Pretendard"/>
              </a:rPr>
              <a:t>정책변경</a:t>
            </a:r>
            <a:r>
              <a:rPr sz="1300" b="1" dirty="0">
                <a:solidFill>
                  <a:srgbClr val="222633"/>
                </a:solidFill>
                <a:latin typeface="Pretendard"/>
              </a:rPr>
              <a:t> </a:t>
            </a:r>
            <a:r>
              <a:rPr sz="1300" b="1" dirty="0" err="1">
                <a:solidFill>
                  <a:srgbClr val="222633"/>
                </a:solidFill>
                <a:latin typeface="Pretendard"/>
              </a:rPr>
              <a:t>효과를</a:t>
            </a:r>
            <a:r>
              <a:rPr sz="1300" b="1" dirty="0">
                <a:solidFill>
                  <a:srgbClr val="222633"/>
                </a:solidFill>
                <a:latin typeface="Pretendard"/>
              </a:rPr>
              <a:t> </a:t>
            </a:r>
            <a:r>
              <a:rPr sz="1300" b="1" dirty="0" err="1">
                <a:solidFill>
                  <a:srgbClr val="222633"/>
                </a:solidFill>
                <a:latin typeface="Pretendard"/>
              </a:rPr>
              <a:t>확인하지</a:t>
            </a:r>
            <a:r>
              <a:rPr sz="1300" b="1" dirty="0">
                <a:solidFill>
                  <a:srgbClr val="222633"/>
                </a:solidFill>
                <a:latin typeface="Pretendard"/>
              </a:rPr>
              <a:t> </a:t>
            </a:r>
            <a:r>
              <a:rPr sz="1300" b="1" dirty="0" err="1">
                <a:solidFill>
                  <a:srgbClr val="222633"/>
                </a:solidFill>
                <a:latin typeface="Pretendard"/>
              </a:rPr>
              <a:t>못했다</a:t>
            </a:r>
            <a:r>
              <a:rPr sz="1300" b="1" dirty="0">
                <a:solidFill>
                  <a:srgbClr val="222633"/>
                </a:solidFill>
                <a:latin typeface="Pretendard"/>
              </a:rPr>
              <a:t>.</a:t>
            </a:r>
          </a:p>
          <a:p>
            <a:pPr algn="l"/>
            <a:r>
              <a:rPr sz="1150" b="0" dirty="0" err="1">
                <a:solidFill>
                  <a:srgbClr val="464D5C"/>
                </a:solidFill>
                <a:latin typeface="Pretendard"/>
              </a:rPr>
              <a:t>결과는</a:t>
            </a:r>
            <a:r>
              <a:rPr sz="1150" b="0" dirty="0">
                <a:solidFill>
                  <a:srgbClr val="464D5C"/>
                </a:solidFill>
                <a:latin typeface="Pretendard"/>
              </a:rPr>
              <a:t> </a:t>
            </a:r>
            <a:r>
              <a:rPr sz="1150" b="0" dirty="0" err="1">
                <a:solidFill>
                  <a:srgbClr val="464D5C"/>
                </a:solidFill>
                <a:latin typeface="Pretendard"/>
              </a:rPr>
              <a:t>새로</a:t>
            </a:r>
            <a:r>
              <a:rPr sz="1150" b="0" dirty="0">
                <a:solidFill>
                  <a:srgbClr val="464D5C"/>
                </a:solidFill>
                <a:latin typeface="Pretendard"/>
              </a:rPr>
              <a:t> </a:t>
            </a:r>
            <a:r>
              <a:rPr sz="1150" b="0" dirty="0" err="1">
                <a:solidFill>
                  <a:srgbClr val="464D5C"/>
                </a:solidFill>
                <a:latin typeface="Pretendard"/>
              </a:rPr>
              <a:t>책임대상이</a:t>
            </a:r>
            <a:r>
              <a:rPr sz="1150" b="0" dirty="0">
                <a:solidFill>
                  <a:srgbClr val="464D5C"/>
                </a:solidFill>
                <a:latin typeface="Pretendard"/>
              </a:rPr>
              <a:t> 된 14세의 </a:t>
            </a:r>
            <a:r>
              <a:rPr sz="1150" b="0" dirty="0" err="1">
                <a:solidFill>
                  <a:srgbClr val="464D5C"/>
                </a:solidFill>
                <a:latin typeface="Pretendard"/>
              </a:rPr>
              <a:t>행정기록</a:t>
            </a:r>
            <a:r>
              <a:rPr sz="1150" b="0" dirty="0">
                <a:solidFill>
                  <a:srgbClr val="464D5C"/>
                </a:solidFill>
                <a:latin typeface="Pretendard"/>
              </a:rPr>
              <a:t> </a:t>
            </a:r>
            <a:r>
              <a:rPr sz="1150" b="0" dirty="0" err="1">
                <a:solidFill>
                  <a:srgbClr val="464D5C"/>
                </a:solidFill>
                <a:latin typeface="Pretendard"/>
              </a:rPr>
              <a:t>범죄에서</a:t>
            </a:r>
            <a:r>
              <a:rPr sz="1150" b="0" dirty="0">
                <a:solidFill>
                  <a:srgbClr val="464D5C"/>
                </a:solidFill>
                <a:latin typeface="Pretendard"/>
              </a:rPr>
              <a:t> </a:t>
            </a:r>
            <a:r>
              <a:rPr sz="1150" b="0" dirty="0" err="1">
                <a:solidFill>
                  <a:srgbClr val="464D5C"/>
                </a:solidFill>
                <a:latin typeface="Pretendard"/>
              </a:rPr>
              <a:t>관찰되었다</a:t>
            </a:r>
            <a:r>
              <a:rPr sz="1150" b="0" dirty="0">
                <a:solidFill>
                  <a:srgbClr val="464D5C"/>
                </a:solidFill>
                <a:latin typeface="Pretendard"/>
              </a:rPr>
              <a:t>.</a:t>
            </a:r>
          </a:p>
        </p:txBody>
      </p:sp>
      <p:sp>
        <p:nvSpPr>
          <p:cNvPr id="32" name="line32"/>
          <p:cNvSpPr/>
          <p:nvPr/>
        </p:nvSpPr>
        <p:spPr>
          <a:xfrm>
            <a:off x="731520" y="4724764"/>
            <a:ext cx="10725912" cy="0"/>
          </a:xfrm>
          <a:prstGeom prst="line">
            <a:avLst/>
          </a:prstGeom>
          <a:ln w="9525">
            <a:solidFill>
              <a:srgbClr val="DCE0E8"/>
            </a:solidFill>
          </a:ln>
        </p:spPr>
        <p:txBody>
          <a:bodyPr/>
          <a:lstStyle/>
          <a:p>
            <a:endParaRPr/>
          </a:p>
        </p:txBody>
      </p:sp>
      <p:sp>
        <p:nvSpPr>
          <p:cNvPr id="33" name="lh2"/>
          <p:cNvSpPr txBox="1"/>
          <p:nvPr/>
        </p:nvSpPr>
        <p:spPr>
          <a:xfrm>
            <a:off x="1214120" y="4765406"/>
            <a:ext cx="2240280" cy="672536"/>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한국과의 제도 차이</a:t>
            </a:r>
          </a:p>
        </p:txBody>
      </p:sp>
      <p:sp>
        <p:nvSpPr>
          <p:cNvPr id="34" name="lb2"/>
          <p:cNvSpPr txBox="1"/>
          <p:nvPr/>
        </p:nvSpPr>
        <p:spPr>
          <a:xfrm>
            <a:off x="3154680" y="4756514"/>
            <a:ext cx="8302752" cy="672536"/>
          </a:xfrm>
          <a:prstGeom prst="rect">
            <a:avLst/>
          </a:prstGeom>
          <a:noFill/>
        </p:spPr>
        <p:txBody>
          <a:bodyPr wrap="square" lIns="0" tIns="27432" rIns="0" bIns="27432" anchor="ctr">
            <a:noAutofit/>
          </a:bodyPr>
          <a:lstStyle/>
          <a:p>
            <a:pPr>
              <a:lnSpc>
                <a:spcPct val="118000"/>
              </a:lnSpc>
              <a:spcAft>
                <a:spcPts val="500"/>
              </a:spcAft>
            </a:pPr>
            <a:r>
              <a:rPr lang="ko-KR" altLang="en-US" sz="1250" b="1" dirty="0">
                <a:solidFill>
                  <a:srgbClr val="222633"/>
                </a:solidFill>
                <a:latin typeface="Pretendard"/>
                <a:ea typeface="Pretendard"/>
                <a:cs typeface="Pretendard"/>
              </a:rPr>
              <a:t>덴마크는 당시 책임연령선 아래 사건을 주로 아동복지체계가</a:t>
            </a:r>
            <a:r>
              <a:rPr lang="en-US" altLang="ko-KR" sz="1250" b="1" dirty="0">
                <a:solidFill>
                  <a:srgbClr val="222633"/>
                </a:solidFill>
                <a:latin typeface="Pretendard"/>
                <a:ea typeface="Pretendard"/>
                <a:cs typeface="Pretendard"/>
              </a:rPr>
              <a:t>, </a:t>
            </a:r>
            <a:r>
              <a:rPr lang="ko-KR" altLang="en-US" sz="1250" b="1" dirty="0" err="1">
                <a:solidFill>
                  <a:srgbClr val="222633"/>
                </a:solidFill>
                <a:latin typeface="Pretendard"/>
                <a:ea typeface="Pretendard"/>
                <a:cs typeface="Pretendard"/>
              </a:rPr>
              <a:t>연령선</a:t>
            </a:r>
            <a:r>
              <a:rPr lang="ko-KR" altLang="en-US" sz="1250" b="1" dirty="0">
                <a:solidFill>
                  <a:srgbClr val="222633"/>
                </a:solidFill>
                <a:latin typeface="Pretendard"/>
                <a:ea typeface="Pretendard"/>
                <a:cs typeface="Pretendard"/>
              </a:rPr>
              <a:t> 위 사건을 형사사법체계가 담당했다</a:t>
            </a:r>
            <a:r>
              <a:rPr lang="ko-KR" sz="1250" b="1" dirty="0">
                <a:solidFill>
                  <a:srgbClr val="222633"/>
                </a:solidFill>
                <a:latin typeface="Pretendard"/>
                <a:ea typeface="Pretendard"/>
                <a:cs typeface="Pretendard"/>
              </a:rPr>
              <a:t>.</a:t>
            </a:r>
          </a:p>
          <a:p>
            <a:pPr>
              <a:lnSpc>
                <a:spcPct val="118000"/>
              </a:lnSpc>
            </a:pPr>
            <a:r>
              <a:rPr lang="ko-KR" altLang="en-US" sz="1150" dirty="0">
                <a:solidFill>
                  <a:srgbClr val="464D5C"/>
                </a:solidFill>
                <a:latin typeface="Pretendard"/>
                <a:ea typeface="Pretendard"/>
                <a:cs typeface="Pretendard"/>
              </a:rPr>
              <a:t>한국은 </a:t>
            </a:r>
            <a:r>
              <a:rPr lang="en-US" altLang="ko-KR" sz="1150" dirty="0">
                <a:solidFill>
                  <a:srgbClr val="464D5C"/>
                </a:solidFill>
                <a:latin typeface="Pretendard"/>
                <a:ea typeface="Pretendard"/>
                <a:cs typeface="Pretendard"/>
              </a:rPr>
              <a:t>10~13</a:t>
            </a:r>
            <a:r>
              <a:rPr lang="ko-KR" altLang="en-US" sz="1150" dirty="0">
                <a:solidFill>
                  <a:srgbClr val="464D5C"/>
                </a:solidFill>
                <a:latin typeface="Pretendard"/>
                <a:ea typeface="Pretendard"/>
                <a:cs typeface="Pretendard"/>
              </a:rPr>
              <a:t>세에도 소년부 심리와 보호처분 체계가 이미 있으므로</a:t>
            </a:r>
            <a:r>
              <a:rPr lang="en-US" altLang="ko-KR" sz="1150" dirty="0">
                <a:solidFill>
                  <a:srgbClr val="464D5C"/>
                </a:solidFill>
                <a:latin typeface="Pretendard"/>
                <a:ea typeface="Pretendard"/>
                <a:cs typeface="Pretendard"/>
              </a:rPr>
              <a:t>, 13</a:t>
            </a:r>
            <a:r>
              <a:rPr lang="ko-KR" altLang="en-US" sz="1150" dirty="0">
                <a:solidFill>
                  <a:srgbClr val="464D5C"/>
                </a:solidFill>
                <a:latin typeface="Pretendard"/>
                <a:ea typeface="Pretendard"/>
                <a:cs typeface="Pretendard"/>
              </a:rPr>
              <a:t>세 하향으로 새로 추가되는 절차와 처우가 덴마크와 같지 않다</a:t>
            </a:r>
            <a:r>
              <a:rPr lang="en-US" altLang="ko-KR" sz="1150" dirty="0">
                <a:solidFill>
                  <a:srgbClr val="464D5C"/>
                </a:solidFill>
                <a:latin typeface="Pretendard"/>
                <a:ea typeface="Pretendard"/>
                <a:cs typeface="Pretendard"/>
              </a:rPr>
              <a:t>.</a:t>
            </a:r>
            <a:endParaRPr lang="ko-KR" sz="1150" b="0" dirty="0">
              <a:solidFill>
                <a:srgbClr val="464D5C"/>
              </a:solidFill>
              <a:latin typeface="Pretendard"/>
              <a:ea typeface="Pretendard"/>
              <a:cs typeface="Pretendard"/>
            </a:endParaRPr>
          </a:p>
        </p:txBody>
      </p:sp>
      <p:sp>
        <p:nvSpPr>
          <p:cNvPr id="35" name="line35"/>
          <p:cNvSpPr/>
          <p:nvPr/>
        </p:nvSpPr>
        <p:spPr>
          <a:xfrm>
            <a:off x="731520" y="5460801"/>
            <a:ext cx="10725912" cy="0"/>
          </a:xfrm>
          <a:prstGeom prst="line">
            <a:avLst/>
          </a:prstGeom>
          <a:ln w="9525">
            <a:solidFill>
              <a:srgbClr val="DCE0E8"/>
            </a:solidFill>
          </a:ln>
        </p:spPr>
        <p:txBody>
          <a:bodyPr/>
          <a:lstStyle/>
          <a:p>
            <a:endParaRPr/>
          </a:p>
        </p:txBody>
      </p:sp>
      <p:sp>
        <p:nvSpPr>
          <p:cNvPr id="36" name="lh3"/>
          <p:cNvSpPr txBox="1"/>
          <p:nvPr/>
        </p:nvSpPr>
        <p:spPr>
          <a:xfrm>
            <a:off x="1214120" y="5462073"/>
            <a:ext cx="2240280" cy="672536"/>
          </a:xfrm>
          <a:prstGeom prst="rect">
            <a:avLst/>
          </a:prstGeom>
          <a:noFill/>
        </p:spPr>
        <p:txBody>
          <a:bodyPr wrap="square" lIns="0" tIns="27432" rIns="0" bIns="27432" anchor="ctr">
            <a:noAutofit/>
          </a:bodyPr>
          <a:lstStyle/>
          <a:p>
            <a:pPr algn="l">
              <a:lnSpc>
                <a:spcPct val="118000"/>
              </a:lnSpc>
            </a:pPr>
            <a:r>
              <a:rPr lang="ko-KR" altLang="en-US" sz="1300" b="1" dirty="0">
                <a:solidFill>
                  <a:srgbClr val="1E2761"/>
                </a:solidFill>
                <a:latin typeface="Pretendard"/>
                <a:ea typeface="Pretendard"/>
                <a:cs typeface="Pretendard"/>
              </a:rPr>
              <a:t>논의</a:t>
            </a:r>
            <a:endParaRPr lang="ko-KR" sz="1300" b="1" dirty="0">
              <a:solidFill>
                <a:srgbClr val="1E2761"/>
              </a:solidFill>
              <a:latin typeface="Pretendard"/>
              <a:ea typeface="Pretendard"/>
              <a:cs typeface="Pretendard"/>
            </a:endParaRPr>
          </a:p>
        </p:txBody>
      </p:sp>
      <p:sp>
        <p:nvSpPr>
          <p:cNvPr id="37" name="lb3"/>
          <p:cNvSpPr txBox="1"/>
          <p:nvPr/>
        </p:nvSpPr>
        <p:spPr>
          <a:xfrm>
            <a:off x="3154680" y="5462073"/>
            <a:ext cx="8302752" cy="672536"/>
          </a:xfrm>
          <a:prstGeom prst="rect">
            <a:avLst/>
          </a:prstGeom>
          <a:noFill/>
        </p:spPr>
        <p:txBody>
          <a:bodyPr wrap="square" lIns="0" tIns="27432" rIns="0" bIns="27432" anchor="ctr">
            <a:noAutofit/>
          </a:bodyPr>
          <a:lstStyle/>
          <a:p>
            <a:pPr>
              <a:lnSpc>
                <a:spcPct val="118000"/>
              </a:lnSpc>
              <a:spcAft>
                <a:spcPts val="500"/>
              </a:spcAft>
            </a:pPr>
            <a:r>
              <a:rPr lang="ko-KR" altLang="en-US" sz="1250" b="1" dirty="0">
                <a:solidFill>
                  <a:srgbClr val="222633"/>
                </a:solidFill>
                <a:latin typeface="Pretendard"/>
                <a:ea typeface="Pretendard"/>
                <a:cs typeface="Pretendard"/>
              </a:rPr>
              <a:t>연령 하향이 범죄를 줄인다는 기대는 덴마크 연구에서 확인되지 않았다</a:t>
            </a:r>
            <a:r>
              <a:rPr lang="en-US" altLang="ko-KR" sz="1250" b="1" dirty="0">
                <a:solidFill>
                  <a:srgbClr val="222633"/>
                </a:solidFill>
                <a:latin typeface="Pretendard"/>
                <a:ea typeface="Pretendard"/>
                <a:cs typeface="Pretendard"/>
              </a:rPr>
              <a:t>.</a:t>
            </a:r>
            <a:endParaRPr lang="ko-KR" sz="1250" b="1" dirty="0">
              <a:solidFill>
                <a:srgbClr val="222633"/>
              </a:solidFill>
              <a:latin typeface="Pretendard"/>
              <a:ea typeface="Pretendard"/>
              <a:cs typeface="Pretendard"/>
            </a:endParaRPr>
          </a:p>
        </p:txBody>
      </p:sp>
      <p:sp>
        <p:nvSpPr>
          <p:cNvPr id="38" name="line38"/>
          <p:cNvSpPr/>
          <p:nvPr/>
        </p:nvSpPr>
        <p:spPr>
          <a:xfrm>
            <a:off x="731520" y="6144768"/>
            <a:ext cx="10725912" cy="0"/>
          </a:xfrm>
          <a:prstGeom prst="line">
            <a:avLst/>
          </a:prstGeom>
          <a:ln w="19050">
            <a:solidFill>
              <a:srgbClr val="1E2761"/>
            </a:solidFill>
          </a:ln>
        </p:spPr>
        <p:txBody>
          <a:bodyPr/>
          <a:lstStyle/>
          <a:p>
            <a:endParaRPr/>
          </a:p>
        </p:txBody>
      </p:sp>
      <p:sp>
        <p:nvSpPr>
          <p:cNvPr id="39"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Damm et al.(2025), Journal of Quantitative Criminology 41, 495–521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발달과 조사·재판의 권리보장</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sz="1050" b="0">
                <a:solidFill>
                  <a:srgbClr val="6E7686"/>
                </a:solidFill>
                <a:latin typeface="Pretendard"/>
              </a:rPr>
              <a:t>다음 → 재판참여능력</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발달과 자기통제 — Steinberg(2008)</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863600" y="1417320"/>
            <a:ext cx="10477500" cy="548640"/>
          </a:xfrm>
          <a:prstGeom prst="rect">
            <a:avLst/>
          </a:prstGeom>
          <a:noFill/>
        </p:spPr>
        <p:txBody>
          <a:bodyPr wrap="square" lIns="0" tIns="27432" rIns="0" bIns="27432" anchor="ctr">
            <a:noAutofit/>
          </a:bodyPr>
          <a:lstStyle/>
          <a:p>
            <a:pPr>
              <a:lnSpc>
                <a:spcPct val="118000"/>
              </a:lnSpc>
            </a:pPr>
            <a:r>
              <a:rPr lang="ko-KR" altLang="en-US" sz="1300" b="1" dirty="0">
                <a:solidFill>
                  <a:srgbClr val="1E2761"/>
                </a:solidFill>
                <a:latin typeface="Pretendard"/>
                <a:ea typeface="Pretendard"/>
                <a:cs typeface="Pretendard"/>
              </a:rPr>
              <a:t>사춘기 무렵 보상추구와 또래의 영향은 빠르게 커지는 반면</a:t>
            </a:r>
            <a:r>
              <a:rPr lang="en-US" altLang="ko-KR" sz="1300" b="1" dirty="0">
                <a:solidFill>
                  <a:srgbClr val="1E2761"/>
                </a:solidFill>
                <a:latin typeface="Pretendard"/>
                <a:ea typeface="Pretendard"/>
                <a:cs typeface="Pretendard"/>
              </a:rPr>
              <a:t>, </a:t>
            </a:r>
            <a:r>
              <a:rPr lang="ko-KR" altLang="en-US" sz="1300" b="1" dirty="0">
                <a:solidFill>
                  <a:srgbClr val="1E2761"/>
                </a:solidFill>
                <a:latin typeface="Pretendard"/>
                <a:ea typeface="Pretendard"/>
                <a:cs typeface="Pretendard"/>
              </a:rPr>
              <a:t>충동을 억제하고 장기 결과를 고려하는 인지통제는 청소년기와 초기 성인기에 걸쳐 점진적으로 발달한다</a:t>
            </a:r>
            <a:r>
              <a:rPr lang="en-US" altLang="ko-KR" sz="1300" b="1" dirty="0">
                <a:solidFill>
                  <a:srgbClr val="1E2761"/>
                </a:solidFill>
                <a:latin typeface="Pretendard"/>
                <a:ea typeface="Pretendard"/>
                <a:cs typeface="Pretendard"/>
              </a:rPr>
              <a:t>.</a:t>
            </a:r>
            <a:endParaRPr lang="ko-KR" sz="1300" b="1" dirty="0">
              <a:solidFill>
                <a:srgbClr val="1E2761"/>
              </a:solidFill>
              <a:latin typeface="Pretendard"/>
              <a:ea typeface="Pretendard"/>
              <a:cs typeface="Pretendard"/>
            </a:endParaRP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h0"/>
          <p:cNvSpPr txBox="1"/>
          <p:nvPr/>
        </p:nvSpPr>
        <p:spPr>
          <a:xfrm>
            <a:off x="731520" y="2277110"/>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연구</a:t>
            </a:r>
            <a:r>
              <a:rPr lang="ko-KR" altLang="en-US" sz="1300" b="1" dirty="0">
                <a:solidFill>
                  <a:srgbClr val="1E2761"/>
                </a:solidFill>
                <a:latin typeface="Pretendard"/>
                <a:ea typeface="Pretendard"/>
                <a:cs typeface="Pretendard"/>
              </a:rPr>
              <a:t>의</a:t>
            </a:r>
            <a:r>
              <a:rPr lang="ko-KR" sz="1300" b="1" dirty="0">
                <a:solidFill>
                  <a:srgbClr val="1E2761"/>
                </a:solidFill>
                <a:latin typeface="Pretendard"/>
                <a:ea typeface="Pretendard"/>
                <a:cs typeface="Pretendard"/>
              </a:rPr>
              <a:t> 성격</a:t>
            </a:r>
          </a:p>
        </p:txBody>
      </p:sp>
      <p:sp>
        <p:nvSpPr>
          <p:cNvPr id="17" name="b0"/>
          <p:cNvSpPr txBox="1"/>
          <p:nvPr/>
        </p:nvSpPr>
        <p:spPr>
          <a:xfrm>
            <a:off x="3154680" y="2277110"/>
            <a:ext cx="8302752" cy="370332"/>
          </a:xfrm>
          <a:prstGeom prst="rect">
            <a:avLst/>
          </a:prstGeom>
          <a:noFill/>
        </p:spPr>
        <p:txBody>
          <a:bodyPr wrap="square" lIns="0" tIns="27432" rIns="0" bIns="27432" anchor="ctr">
            <a:noAutofit/>
          </a:bodyPr>
          <a:lstStyle/>
          <a:p>
            <a:pPr>
              <a:lnSpc>
                <a:spcPct val="118000"/>
              </a:lnSpc>
            </a:pPr>
            <a:r>
              <a:rPr lang="ko-KR" altLang="en-US" sz="1250" b="1" dirty="0">
                <a:solidFill>
                  <a:srgbClr val="222633"/>
                </a:solidFill>
                <a:latin typeface="Pretendard"/>
                <a:ea typeface="Pretendard"/>
                <a:cs typeface="Pretendard"/>
              </a:rPr>
              <a:t>청소년의 위험선택이 왜 아동기보다 늘고</a:t>
            </a:r>
            <a:r>
              <a:rPr lang="en-US" altLang="ko-KR" sz="1250" b="1" dirty="0">
                <a:solidFill>
                  <a:srgbClr val="222633"/>
                </a:solidFill>
                <a:latin typeface="Pretendard"/>
                <a:ea typeface="Pretendard"/>
                <a:cs typeface="Pretendard"/>
              </a:rPr>
              <a:t>, </a:t>
            </a:r>
            <a:r>
              <a:rPr lang="ko-KR" altLang="en-US" sz="1250" b="1" dirty="0">
                <a:solidFill>
                  <a:srgbClr val="222633"/>
                </a:solidFill>
                <a:latin typeface="Pretendard"/>
                <a:ea typeface="Pretendard"/>
                <a:cs typeface="Pretendard"/>
              </a:rPr>
              <a:t>성인기로 가면서 다시 줄어드는지를 발달신경과학 연구를 종합해 설명한 이론적 검토다</a:t>
            </a:r>
            <a:r>
              <a:rPr lang="en-US" altLang="ko-KR" sz="1250" b="1" dirty="0">
                <a:solidFill>
                  <a:srgbClr val="222633"/>
                </a:solidFill>
                <a:latin typeface="Pretendard"/>
                <a:ea typeface="Pretendard"/>
                <a:cs typeface="Pretendard"/>
              </a:rPr>
              <a:t>.</a:t>
            </a:r>
            <a:endParaRPr lang="ko-KR" sz="1250" b="1" dirty="0">
              <a:solidFill>
                <a:srgbClr val="222633"/>
              </a:solidFill>
              <a:latin typeface="Pretendard"/>
              <a:ea typeface="Pretendard"/>
              <a:cs typeface="Pretendard"/>
            </a:endParaRPr>
          </a:p>
        </p:txBody>
      </p:sp>
      <p:sp>
        <p:nvSpPr>
          <p:cNvPr id="18" name="line18"/>
          <p:cNvSpPr/>
          <p:nvPr/>
        </p:nvSpPr>
        <p:spPr>
          <a:xfrm>
            <a:off x="731520" y="2837941"/>
            <a:ext cx="10725912" cy="0"/>
          </a:xfrm>
          <a:prstGeom prst="line">
            <a:avLst/>
          </a:prstGeom>
          <a:ln w="9525">
            <a:solidFill>
              <a:srgbClr val="DCE0E8"/>
            </a:solidFill>
          </a:ln>
        </p:spPr>
        <p:txBody>
          <a:bodyPr/>
          <a:lstStyle/>
          <a:p>
            <a:endParaRPr/>
          </a:p>
        </p:txBody>
      </p:sp>
      <p:sp>
        <p:nvSpPr>
          <p:cNvPr id="19" name="h1"/>
          <p:cNvSpPr txBox="1"/>
          <p:nvPr/>
        </p:nvSpPr>
        <p:spPr>
          <a:xfrm>
            <a:off x="731520" y="2958591"/>
            <a:ext cx="2240280" cy="576072"/>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보상추구와 또래영향</a:t>
            </a:r>
            <a:endParaRPr lang="ko-KR" sz="1300" b="1" dirty="0">
              <a:solidFill>
                <a:srgbClr val="1E2761"/>
              </a:solidFill>
              <a:latin typeface="Pretendard"/>
              <a:ea typeface="Pretendard"/>
              <a:cs typeface="Pretendard"/>
            </a:endParaRPr>
          </a:p>
        </p:txBody>
      </p:sp>
      <p:sp>
        <p:nvSpPr>
          <p:cNvPr id="20" name="b1"/>
          <p:cNvSpPr txBox="1"/>
          <p:nvPr/>
        </p:nvSpPr>
        <p:spPr>
          <a:xfrm>
            <a:off x="3154680" y="2958591"/>
            <a:ext cx="8302752" cy="576072"/>
          </a:xfrm>
          <a:prstGeom prst="rect">
            <a:avLst/>
          </a:prstGeom>
          <a:noFill/>
        </p:spPr>
        <p:txBody>
          <a:bodyPr wrap="square" lIns="0" tIns="27432" rIns="0" bIns="27432" anchor="ctr">
            <a:noAutofit/>
          </a:bodyPr>
          <a:lstStyle/>
          <a:p>
            <a:pPr>
              <a:lnSpc>
                <a:spcPct val="118000"/>
              </a:lnSpc>
              <a:spcAft>
                <a:spcPts val="500"/>
              </a:spcAft>
            </a:pPr>
            <a:r>
              <a:rPr lang="ko-KR" altLang="en-US" sz="1250" b="1" dirty="0">
                <a:solidFill>
                  <a:srgbClr val="222633"/>
                </a:solidFill>
                <a:latin typeface="Pretendard"/>
                <a:ea typeface="Pretendard"/>
                <a:cs typeface="Pretendard"/>
              </a:rPr>
              <a:t>사춘기 무렵 보상에 대한 민감성이 높아지고</a:t>
            </a:r>
            <a:r>
              <a:rPr lang="en-US" altLang="ko-KR" sz="1250" b="1" dirty="0">
                <a:solidFill>
                  <a:srgbClr val="222633"/>
                </a:solidFill>
                <a:latin typeface="Pretendard"/>
                <a:ea typeface="Pretendard"/>
                <a:cs typeface="Pretendard"/>
              </a:rPr>
              <a:t>, </a:t>
            </a:r>
            <a:r>
              <a:rPr lang="ko-KR" altLang="en-US" sz="1250" b="1" dirty="0">
                <a:solidFill>
                  <a:srgbClr val="222633"/>
                </a:solidFill>
                <a:latin typeface="Pretendard"/>
                <a:ea typeface="Pretendard"/>
                <a:cs typeface="Pretendard"/>
              </a:rPr>
              <a:t>특히 또래가 있는 상황에서 위험한 선택이 더 매력적으로 느껴질 수 있다</a:t>
            </a:r>
            <a:r>
              <a:rPr lang="en-US" altLang="ko-KR" sz="1250" b="1" dirty="0">
                <a:solidFill>
                  <a:srgbClr val="222633"/>
                </a:solidFill>
                <a:latin typeface="Pretendard"/>
                <a:ea typeface="Pretendard"/>
                <a:cs typeface="Pretendard"/>
              </a:rPr>
              <a:t>.</a:t>
            </a:r>
            <a:endParaRPr lang="ko-KR" sz="1250" b="1" dirty="0">
              <a:solidFill>
                <a:srgbClr val="222633"/>
              </a:solidFill>
              <a:latin typeface="Pretendard"/>
              <a:ea typeface="Pretendard"/>
              <a:cs typeface="Pretendard"/>
            </a:endParaRPr>
          </a:p>
          <a:p>
            <a:pPr>
              <a:lnSpc>
                <a:spcPct val="118000"/>
              </a:lnSpc>
            </a:pPr>
            <a:r>
              <a:rPr lang="ko-KR" altLang="en-US" sz="1150" dirty="0">
                <a:solidFill>
                  <a:srgbClr val="464D5C"/>
                </a:solidFill>
                <a:latin typeface="Pretendard"/>
                <a:ea typeface="Pretendard"/>
                <a:cs typeface="Pretendard"/>
              </a:rPr>
              <a:t>위험을 전혀 모르는 것이 아니라</a:t>
            </a:r>
            <a:r>
              <a:rPr lang="en-US" altLang="ko-KR" sz="1150" dirty="0">
                <a:solidFill>
                  <a:srgbClr val="464D5C"/>
                </a:solidFill>
                <a:latin typeface="Pretendard"/>
                <a:ea typeface="Pretendard"/>
                <a:cs typeface="Pretendard"/>
              </a:rPr>
              <a:t>, </a:t>
            </a:r>
            <a:r>
              <a:rPr lang="ko-KR" altLang="en-US" sz="1150" b="1" dirty="0">
                <a:solidFill>
                  <a:srgbClr val="464D5C"/>
                </a:solidFill>
                <a:highlight>
                  <a:srgbClr val="FFFF00"/>
                </a:highlight>
                <a:latin typeface="Pretendard"/>
                <a:ea typeface="Pretendard"/>
                <a:cs typeface="Pretendard"/>
              </a:rPr>
              <a:t>즉각적인 보상과 사회적 상황의 영향이 선택에서 더 크게 작용할 수 있</a:t>
            </a:r>
            <a:r>
              <a:rPr lang="ko-KR" altLang="en-US" sz="1150" dirty="0">
                <a:solidFill>
                  <a:srgbClr val="464D5C"/>
                </a:solidFill>
                <a:latin typeface="Pretendard"/>
                <a:ea typeface="Pretendard"/>
                <a:cs typeface="Pretendard"/>
              </a:rPr>
              <a:t>다는 설명이다</a:t>
            </a:r>
            <a:r>
              <a:rPr lang="en-US" altLang="ko-KR" sz="1150" dirty="0">
                <a:solidFill>
                  <a:srgbClr val="464D5C"/>
                </a:solidFill>
                <a:latin typeface="Pretendard"/>
                <a:ea typeface="Pretendard"/>
                <a:cs typeface="Pretendard"/>
              </a:rPr>
              <a:t>.</a:t>
            </a:r>
            <a:endParaRPr lang="ko-KR" sz="1150" b="0" dirty="0">
              <a:solidFill>
                <a:srgbClr val="464D5C"/>
              </a:solidFill>
              <a:latin typeface="Pretendard"/>
              <a:ea typeface="Pretendard"/>
              <a:cs typeface="Pretendard"/>
            </a:endParaRPr>
          </a:p>
        </p:txBody>
      </p:sp>
      <p:sp>
        <p:nvSpPr>
          <p:cNvPr id="21" name="line21"/>
          <p:cNvSpPr/>
          <p:nvPr/>
        </p:nvSpPr>
        <p:spPr>
          <a:xfrm>
            <a:off x="731520" y="3629913"/>
            <a:ext cx="10725912" cy="0"/>
          </a:xfrm>
          <a:prstGeom prst="line">
            <a:avLst/>
          </a:prstGeom>
          <a:ln w="9525">
            <a:solidFill>
              <a:srgbClr val="DCE0E8"/>
            </a:solidFill>
          </a:ln>
        </p:spPr>
        <p:txBody>
          <a:bodyPr/>
          <a:lstStyle/>
          <a:p>
            <a:endParaRPr/>
          </a:p>
        </p:txBody>
      </p:sp>
      <p:sp>
        <p:nvSpPr>
          <p:cNvPr id="22" name="h2"/>
          <p:cNvSpPr txBox="1"/>
          <p:nvPr/>
        </p:nvSpPr>
        <p:spPr>
          <a:xfrm>
            <a:off x="731520" y="3744214"/>
            <a:ext cx="2240280" cy="576072"/>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자기통제</a:t>
            </a:r>
            <a:endParaRPr lang="ko-KR" sz="1300" b="1" dirty="0">
              <a:solidFill>
                <a:srgbClr val="1E2761"/>
              </a:solidFill>
              <a:latin typeface="Pretendard"/>
              <a:ea typeface="Pretendard"/>
              <a:cs typeface="Pretendard"/>
            </a:endParaRPr>
          </a:p>
        </p:txBody>
      </p:sp>
      <p:sp>
        <p:nvSpPr>
          <p:cNvPr id="23" name="b2"/>
          <p:cNvSpPr txBox="1"/>
          <p:nvPr/>
        </p:nvSpPr>
        <p:spPr>
          <a:xfrm>
            <a:off x="3154680" y="3744214"/>
            <a:ext cx="8302752" cy="576072"/>
          </a:xfrm>
          <a:prstGeom prst="rect">
            <a:avLst/>
          </a:prstGeom>
          <a:noFill/>
        </p:spPr>
        <p:txBody>
          <a:bodyPr wrap="square" lIns="0" tIns="27432" rIns="0" bIns="27432" anchor="ctr">
            <a:noAutofit/>
          </a:bodyPr>
          <a:lstStyle/>
          <a:p>
            <a:pPr>
              <a:lnSpc>
                <a:spcPct val="118000"/>
              </a:lnSpc>
              <a:spcAft>
                <a:spcPts val="500"/>
              </a:spcAft>
            </a:pPr>
            <a:r>
              <a:rPr lang="ko-KR" altLang="en-US" sz="1250" b="1" dirty="0">
                <a:solidFill>
                  <a:srgbClr val="222633"/>
                </a:solidFill>
                <a:latin typeface="Pretendard"/>
                <a:ea typeface="Pretendard"/>
                <a:cs typeface="Pretendard"/>
              </a:rPr>
              <a:t>충동을 억제하고 장기 결과를 고려하며 계획하는 능력은 청소년기와 초기 성인기에 걸쳐 계속 발달한다</a:t>
            </a:r>
            <a:r>
              <a:rPr lang="en-US" altLang="ko-KR" sz="1250" b="1" dirty="0">
                <a:solidFill>
                  <a:srgbClr val="222633"/>
                </a:solidFill>
                <a:latin typeface="Pretendard"/>
                <a:ea typeface="Pretendard"/>
                <a:cs typeface="Pretendard"/>
              </a:rPr>
              <a:t>.</a:t>
            </a:r>
            <a:endParaRPr lang="ko-KR" sz="1250" b="1" dirty="0">
              <a:solidFill>
                <a:srgbClr val="222633"/>
              </a:solidFill>
              <a:latin typeface="Pretendard"/>
              <a:ea typeface="Pretendard"/>
              <a:cs typeface="Pretendard"/>
            </a:endParaRPr>
          </a:p>
          <a:p>
            <a:pPr>
              <a:lnSpc>
                <a:spcPct val="118000"/>
              </a:lnSpc>
            </a:pPr>
            <a:r>
              <a:rPr lang="ko-KR" altLang="en-US" sz="1150" dirty="0">
                <a:solidFill>
                  <a:srgbClr val="464D5C"/>
                </a:solidFill>
                <a:latin typeface="Pretendard"/>
                <a:ea typeface="Pretendard"/>
                <a:cs typeface="Pretendard"/>
              </a:rPr>
              <a:t>전전두피질과 다른 뇌 영역 사이의 연결이 발달하면서 자기조절 능력이 점차 향상된다고 설명한다</a:t>
            </a:r>
            <a:r>
              <a:rPr lang="en-US" altLang="ko-KR" sz="1150" dirty="0">
                <a:solidFill>
                  <a:srgbClr val="464D5C"/>
                </a:solidFill>
                <a:latin typeface="Pretendard"/>
                <a:ea typeface="Pretendard"/>
                <a:cs typeface="Pretendard"/>
              </a:rPr>
              <a:t>.</a:t>
            </a:r>
            <a:endParaRPr lang="ko-KR" sz="1150" b="0" dirty="0">
              <a:solidFill>
                <a:srgbClr val="464D5C"/>
              </a:solidFill>
              <a:latin typeface="Pretendard"/>
              <a:ea typeface="Pretendard"/>
              <a:cs typeface="Pretendard"/>
            </a:endParaRPr>
          </a:p>
        </p:txBody>
      </p:sp>
      <p:sp>
        <p:nvSpPr>
          <p:cNvPr id="24" name="line24"/>
          <p:cNvSpPr/>
          <p:nvPr/>
        </p:nvSpPr>
        <p:spPr>
          <a:xfrm>
            <a:off x="731520" y="4402836"/>
            <a:ext cx="10725912" cy="0"/>
          </a:xfrm>
          <a:prstGeom prst="line">
            <a:avLst/>
          </a:prstGeom>
          <a:ln w="9525">
            <a:solidFill>
              <a:srgbClr val="DCE0E8"/>
            </a:solidFill>
          </a:ln>
        </p:spPr>
        <p:txBody>
          <a:bodyPr/>
          <a:lstStyle/>
          <a:p>
            <a:endParaRPr/>
          </a:p>
        </p:txBody>
      </p:sp>
      <p:sp>
        <p:nvSpPr>
          <p:cNvPr id="25" name="h3"/>
          <p:cNvSpPr txBox="1"/>
          <p:nvPr/>
        </p:nvSpPr>
        <p:spPr>
          <a:xfrm>
            <a:off x="731520" y="5368036"/>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법적 판단에 연결하면</a:t>
            </a:r>
          </a:p>
        </p:txBody>
      </p:sp>
      <p:sp>
        <p:nvSpPr>
          <p:cNvPr id="26" name="b3"/>
          <p:cNvSpPr txBox="1"/>
          <p:nvPr/>
        </p:nvSpPr>
        <p:spPr>
          <a:xfrm>
            <a:off x="3154680" y="5169663"/>
            <a:ext cx="8302752" cy="975105"/>
          </a:xfrm>
          <a:prstGeom prst="rect">
            <a:avLst/>
          </a:prstGeom>
          <a:noFill/>
        </p:spPr>
        <p:txBody>
          <a:bodyPr wrap="square" lIns="0" tIns="27432" rIns="0" bIns="27432" anchor="ctr">
            <a:noAutofit/>
          </a:bodyPr>
          <a:lstStyle/>
          <a:p>
            <a:pPr>
              <a:lnSpc>
                <a:spcPct val="125000"/>
              </a:lnSpc>
              <a:spcAft>
                <a:spcPts val="500"/>
              </a:spcAft>
            </a:pPr>
            <a:r>
              <a:rPr lang="ko-KR" altLang="en-US" sz="1250" b="1" dirty="0">
                <a:solidFill>
                  <a:srgbClr val="222633"/>
                </a:solidFill>
                <a:latin typeface="Pretendard"/>
                <a:ea typeface="Pretendard"/>
                <a:cs typeface="Pretendard"/>
              </a:rPr>
              <a:t>잘못이라는 것을 알고 설명할 수 있어도</a:t>
            </a:r>
            <a:r>
              <a:rPr lang="en-US" altLang="ko-KR" sz="1250" b="1" dirty="0">
                <a:solidFill>
                  <a:srgbClr val="222633"/>
                </a:solidFill>
                <a:latin typeface="Pretendard"/>
                <a:ea typeface="Pretendard"/>
                <a:cs typeface="Pretendard"/>
              </a:rPr>
              <a:t>, </a:t>
            </a:r>
            <a:r>
              <a:rPr lang="ko-KR" altLang="en-US" sz="1250" b="1" dirty="0">
                <a:solidFill>
                  <a:srgbClr val="222633"/>
                </a:solidFill>
                <a:latin typeface="Pretendard"/>
                <a:ea typeface="Pretendard"/>
                <a:cs typeface="Pretendard"/>
              </a:rPr>
              <a:t>또래</a:t>
            </a:r>
            <a:r>
              <a:rPr lang="en-US" altLang="ko-KR" sz="1250" b="1" dirty="0">
                <a:solidFill>
                  <a:srgbClr val="222633"/>
                </a:solidFill>
                <a:latin typeface="Pretendard"/>
                <a:ea typeface="Pretendard"/>
                <a:cs typeface="Pretendard"/>
              </a:rPr>
              <a:t>·</a:t>
            </a:r>
            <a:r>
              <a:rPr lang="ko-KR" altLang="en-US" sz="1250" b="1" dirty="0">
                <a:solidFill>
                  <a:srgbClr val="222633"/>
                </a:solidFill>
                <a:latin typeface="Pretendard"/>
                <a:ea typeface="Pretendard"/>
                <a:cs typeface="Pretendard"/>
              </a:rPr>
              <a:t>감정</a:t>
            </a:r>
            <a:r>
              <a:rPr lang="en-US" altLang="ko-KR" sz="1250" b="1" dirty="0">
                <a:solidFill>
                  <a:srgbClr val="222633"/>
                </a:solidFill>
                <a:latin typeface="Pretendard"/>
                <a:ea typeface="Pretendard"/>
                <a:cs typeface="Pretendard"/>
              </a:rPr>
              <a:t>·</a:t>
            </a:r>
            <a:r>
              <a:rPr lang="ko-KR" altLang="en-US" sz="1250" b="1" dirty="0">
                <a:solidFill>
                  <a:srgbClr val="222633"/>
                </a:solidFill>
                <a:latin typeface="Pretendard"/>
                <a:ea typeface="Pretendard"/>
                <a:cs typeface="Pretendard"/>
              </a:rPr>
              <a:t>즉각적 보상이 강하게 작용하는 순간에는 그 지식에 따라 행동을 조절하는 능력이 충분히 발휘되지 않을 수 있다</a:t>
            </a:r>
            <a:r>
              <a:rPr lang="en-US" altLang="ko-KR" sz="1250" b="1" dirty="0">
                <a:solidFill>
                  <a:srgbClr val="222633"/>
                </a:solidFill>
                <a:latin typeface="Pretendard"/>
                <a:ea typeface="Pretendard"/>
                <a:cs typeface="Pretendard"/>
              </a:rPr>
              <a:t>.</a:t>
            </a:r>
            <a:endParaRPr lang="ko-KR" sz="1250" b="1" dirty="0">
              <a:solidFill>
                <a:srgbClr val="222633"/>
              </a:solidFill>
              <a:latin typeface="Pretendard"/>
              <a:ea typeface="Pretendard"/>
              <a:cs typeface="Pretendard"/>
            </a:endParaRPr>
          </a:p>
          <a:p>
            <a:pPr>
              <a:lnSpc>
                <a:spcPct val="118000"/>
              </a:lnSpc>
            </a:pPr>
            <a:r>
              <a:rPr lang="ko-KR" altLang="en-US" sz="1150" dirty="0">
                <a:solidFill>
                  <a:srgbClr val="464D5C"/>
                </a:solidFill>
                <a:latin typeface="Pretendard"/>
                <a:ea typeface="Pretendard"/>
                <a:cs typeface="Pretendard"/>
              </a:rPr>
              <a:t>평균적인 발달경향을 보여주는 것이고</a:t>
            </a:r>
            <a:r>
              <a:rPr lang="en-US" altLang="ko-KR" sz="1150" dirty="0">
                <a:solidFill>
                  <a:srgbClr val="464D5C"/>
                </a:solidFill>
                <a:latin typeface="Pretendard"/>
                <a:ea typeface="Pretendard"/>
                <a:cs typeface="Pretendard"/>
              </a:rPr>
              <a:t>, </a:t>
            </a:r>
            <a:r>
              <a:rPr lang="ko-KR" altLang="en-US" sz="1150" dirty="0">
                <a:solidFill>
                  <a:srgbClr val="464D5C"/>
                </a:solidFill>
                <a:latin typeface="Pretendard"/>
                <a:ea typeface="Pretendard"/>
                <a:cs typeface="Pretendard"/>
              </a:rPr>
              <a:t>개별 소년의 책임능력과 법률상 연령선을 어디에 둘지는 별도의 판단이다</a:t>
            </a:r>
            <a:r>
              <a:rPr lang="en-US" altLang="ko-KR" sz="1150" dirty="0">
                <a:solidFill>
                  <a:srgbClr val="464D5C"/>
                </a:solidFill>
                <a:latin typeface="Pretendard"/>
                <a:ea typeface="Pretendard"/>
                <a:cs typeface="Pretendard"/>
              </a:rPr>
              <a:t>.</a:t>
            </a:r>
            <a:endParaRPr lang="ko-KR" sz="1150" b="0" dirty="0">
              <a:solidFill>
                <a:srgbClr val="464D5C"/>
              </a:solidFill>
              <a:latin typeface="Pretendard"/>
              <a:ea typeface="Pretendard"/>
              <a:cs typeface="Pretendard"/>
            </a:endParaRP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Steinberg(2008), Developmental Review 28, 78–106 · 이론적 검토</a:t>
            </a:r>
          </a:p>
        </p:txBody>
      </p:sp>
      <p:sp>
        <p:nvSpPr>
          <p:cNvPr id="2" name="line24">
            <a:extLst>
              <a:ext uri="{FF2B5EF4-FFF2-40B4-BE49-F238E27FC236}">
                <a16:creationId xmlns:a16="http://schemas.microsoft.com/office/drawing/2014/main" id="{F7ADED3D-6910-1B29-70E0-CB85E222DA2F}"/>
              </a:ext>
            </a:extLst>
          </p:cNvPr>
          <p:cNvSpPr/>
          <p:nvPr/>
        </p:nvSpPr>
        <p:spPr>
          <a:xfrm>
            <a:off x="739394" y="5209286"/>
            <a:ext cx="10725912" cy="0"/>
          </a:xfrm>
          <a:prstGeom prst="line">
            <a:avLst/>
          </a:prstGeom>
          <a:ln w="9525">
            <a:solidFill>
              <a:srgbClr val="DCE0E8"/>
            </a:solidFill>
          </a:ln>
        </p:spPr>
        <p:txBody>
          <a:bodyPr/>
          <a:lstStyle/>
          <a:p>
            <a:endParaRPr/>
          </a:p>
        </p:txBody>
      </p:sp>
      <p:sp>
        <p:nvSpPr>
          <p:cNvPr id="4" name="h2">
            <a:extLst>
              <a:ext uri="{FF2B5EF4-FFF2-40B4-BE49-F238E27FC236}">
                <a16:creationId xmlns:a16="http://schemas.microsoft.com/office/drawing/2014/main" id="{E9C8FD7C-5037-B782-8DAC-044E478DE607}"/>
              </a:ext>
            </a:extLst>
          </p:cNvPr>
          <p:cNvSpPr txBox="1"/>
          <p:nvPr/>
        </p:nvSpPr>
        <p:spPr>
          <a:xfrm>
            <a:off x="739394" y="4507739"/>
            <a:ext cx="2240280" cy="576072"/>
          </a:xfrm>
          <a:prstGeom prst="rect">
            <a:avLst/>
          </a:prstGeom>
          <a:noFill/>
        </p:spPr>
        <p:txBody>
          <a:bodyPr wrap="square" lIns="0" tIns="27432" rIns="0" bIns="27432" anchor="ctr">
            <a:noAutofit/>
          </a:bodyPr>
          <a:lstStyle/>
          <a:p>
            <a:pPr algn="ctr">
              <a:lnSpc>
                <a:spcPct val="118000"/>
              </a:lnSpc>
            </a:pPr>
            <a:r>
              <a:rPr lang="ko-KR" altLang="en-US" sz="1300" b="1" dirty="0">
                <a:solidFill>
                  <a:srgbClr val="1E2761"/>
                </a:solidFill>
                <a:latin typeface="Pretendard"/>
                <a:ea typeface="Pretendard"/>
                <a:cs typeface="Pretendard"/>
              </a:rPr>
              <a:t>발달속도의 차이</a:t>
            </a:r>
            <a:endParaRPr lang="ko-KR" sz="1300" b="1" dirty="0">
              <a:solidFill>
                <a:srgbClr val="1E2761"/>
              </a:solidFill>
              <a:latin typeface="Pretendard"/>
              <a:ea typeface="Pretendard"/>
              <a:cs typeface="Pretendard"/>
            </a:endParaRPr>
          </a:p>
        </p:txBody>
      </p:sp>
      <p:sp>
        <p:nvSpPr>
          <p:cNvPr id="6" name="b2">
            <a:extLst>
              <a:ext uri="{FF2B5EF4-FFF2-40B4-BE49-F238E27FC236}">
                <a16:creationId xmlns:a16="http://schemas.microsoft.com/office/drawing/2014/main" id="{F35DD7BA-123A-5A91-1CCB-AE6252014748}"/>
              </a:ext>
            </a:extLst>
          </p:cNvPr>
          <p:cNvSpPr txBox="1"/>
          <p:nvPr/>
        </p:nvSpPr>
        <p:spPr>
          <a:xfrm>
            <a:off x="3162554" y="4507739"/>
            <a:ext cx="8302752" cy="576072"/>
          </a:xfrm>
          <a:prstGeom prst="rect">
            <a:avLst/>
          </a:prstGeom>
          <a:noFill/>
        </p:spPr>
        <p:txBody>
          <a:bodyPr wrap="square" lIns="0" tIns="27432" rIns="0" bIns="27432" anchor="ctr">
            <a:noAutofit/>
          </a:bodyPr>
          <a:lstStyle/>
          <a:p>
            <a:pPr>
              <a:lnSpc>
                <a:spcPct val="118000"/>
              </a:lnSpc>
              <a:spcAft>
                <a:spcPts val="500"/>
              </a:spcAft>
            </a:pPr>
            <a:r>
              <a:rPr lang="ko-KR" altLang="en-US" sz="1250" b="1" dirty="0">
                <a:solidFill>
                  <a:srgbClr val="222633"/>
                </a:solidFill>
                <a:latin typeface="Pretendard"/>
                <a:ea typeface="Pretendard"/>
                <a:cs typeface="Pretendard"/>
              </a:rPr>
              <a:t>보상추구의 증가는 비교적 이른 시기에 나타나지만</a:t>
            </a:r>
            <a:r>
              <a:rPr lang="en-US" altLang="ko-KR" sz="1250" b="1" dirty="0">
                <a:solidFill>
                  <a:srgbClr val="222633"/>
                </a:solidFill>
                <a:latin typeface="Pretendard"/>
                <a:ea typeface="Pretendard"/>
                <a:cs typeface="Pretendard"/>
              </a:rPr>
              <a:t>, </a:t>
            </a:r>
            <a:r>
              <a:rPr lang="ko-KR" altLang="en-US" sz="1250" b="1" dirty="0">
                <a:solidFill>
                  <a:srgbClr val="222633"/>
                </a:solidFill>
                <a:latin typeface="Pretendard"/>
                <a:ea typeface="Pretendard"/>
                <a:cs typeface="Pretendard"/>
              </a:rPr>
              <a:t>자기조절은 더 천천히 발달해 청소년기에 둘 사이의 간격이 커질 수 있다</a:t>
            </a:r>
            <a:r>
              <a:rPr lang="en-US" altLang="ko-KR" sz="1250" b="1" dirty="0">
                <a:solidFill>
                  <a:srgbClr val="222633"/>
                </a:solidFill>
                <a:latin typeface="Pretendard"/>
                <a:ea typeface="Pretendard"/>
                <a:cs typeface="Pretendard"/>
              </a:rPr>
              <a:t>.</a:t>
            </a:r>
            <a:endParaRPr lang="ko-KR" sz="1250" b="1" dirty="0">
              <a:solidFill>
                <a:srgbClr val="222633"/>
              </a:solidFill>
              <a:latin typeface="Pretendard"/>
              <a:ea typeface="Pretendard"/>
              <a:cs typeface="Pretendard"/>
            </a:endParaRPr>
          </a:p>
          <a:p>
            <a:pPr>
              <a:lnSpc>
                <a:spcPct val="118000"/>
              </a:lnSpc>
            </a:pPr>
            <a:r>
              <a:rPr lang="en-US" altLang="ko-KR" sz="1150" dirty="0">
                <a:solidFill>
                  <a:srgbClr val="464D5C"/>
                </a:solidFill>
                <a:latin typeface="Pretendard"/>
                <a:ea typeface="Pretendard"/>
                <a:cs typeface="Pretendard"/>
              </a:rPr>
              <a:t>Steinberg</a:t>
            </a:r>
            <a:r>
              <a:rPr lang="ko-KR" altLang="en-US" sz="1150" dirty="0">
                <a:solidFill>
                  <a:srgbClr val="464D5C"/>
                </a:solidFill>
                <a:latin typeface="Pretendard"/>
                <a:ea typeface="Pretendard"/>
                <a:cs typeface="Pretendard"/>
              </a:rPr>
              <a:t>는 이 시기를 위험하고 </a:t>
            </a:r>
            <a:r>
              <a:rPr lang="ko-KR" altLang="en-US" sz="1150" b="1" dirty="0">
                <a:solidFill>
                  <a:srgbClr val="464D5C"/>
                </a:solidFill>
                <a:highlight>
                  <a:srgbClr val="FFFF00"/>
                </a:highlight>
                <a:latin typeface="Pretendard"/>
                <a:ea typeface="Pretendard"/>
                <a:cs typeface="Pretendard"/>
              </a:rPr>
              <a:t>충동적인 행동에 상대적으로 취약한 시기</a:t>
            </a:r>
            <a:r>
              <a:rPr lang="ko-KR" altLang="en-US" sz="1150" dirty="0">
                <a:solidFill>
                  <a:srgbClr val="464D5C"/>
                </a:solidFill>
                <a:latin typeface="Pretendard"/>
                <a:ea typeface="Pretendard"/>
                <a:cs typeface="Pretendard"/>
              </a:rPr>
              <a:t>로 설명한다</a:t>
            </a:r>
            <a:r>
              <a:rPr lang="en-US" altLang="ko-KR" sz="1150" dirty="0">
                <a:solidFill>
                  <a:srgbClr val="464D5C"/>
                </a:solidFill>
                <a:latin typeface="Pretendard"/>
                <a:ea typeface="Pretendard"/>
                <a:cs typeface="Pretendard"/>
              </a:rPr>
              <a:t>.</a:t>
            </a:r>
            <a:endParaRPr lang="ko-KR" sz="1150" b="0" dirty="0">
              <a:solidFill>
                <a:srgbClr val="464D5C"/>
              </a:solidFill>
              <a:latin typeface="Pretendard"/>
              <a:ea typeface="Pretendard"/>
              <a:cs typeface="Pretendar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발달과 조사·재판의 권리보장</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13세의 보호절차와 형사절차</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재판참여능력의 측정 — Grisso 외(2003)</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nSpc>
                <a:spcPct val="118000"/>
              </a:lnSpc>
            </a:pP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11~13</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세 집단에서 절차 이해</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a:t>
            </a:r>
            <a:r>
              <a:rPr lang="ko-KR" altLang="en-US"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추론에 상당한 어려움을 보인 비율이 더 높았다</a:t>
            </a:r>
            <a:r>
              <a:rPr lang="en-US" altLang="ko-K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rPr>
              <a:t>.</a:t>
            </a:r>
            <a:endParaRPr sz="1300" b="1" dirty="0">
              <a:solidFill>
                <a:srgbClr val="1E2761"/>
              </a:solidFill>
              <a:latin typeface="Pretendard" panose="02000503000000020004" pitchFamily="2" charset="-127"/>
              <a:ea typeface="Pretendard" panose="02000503000000020004" pitchFamily="2" charset="-127"/>
              <a:cs typeface="Pretendard" panose="02000503000000020004" pitchFamily="2" charset="-127"/>
            </a:endParaRP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h0"/>
          <p:cNvSpPr txBox="1"/>
          <p:nvPr/>
        </p:nvSpPr>
        <p:spPr>
          <a:xfrm>
            <a:off x="731520" y="2240280"/>
            <a:ext cx="172593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누구를 조사했나</a:t>
            </a:r>
          </a:p>
        </p:txBody>
      </p:sp>
      <p:sp>
        <p:nvSpPr>
          <p:cNvPr id="17" name="b0"/>
          <p:cNvSpPr txBox="1"/>
          <p:nvPr/>
        </p:nvSpPr>
        <p:spPr>
          <a:xfrm>
            <a:off x="2832100" y="2240280"/>
            <a:ext cx="862533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미국 4개 지역에서 청소년 927명과 청년 성인 466명을 조사했다.</a:t>
            </a:r>
          </a:p>
          <a:p>
            <a:pPr algn="l">
              <a:lnSpc>
                <a:spcPct val="118000"/>
              </a:lnSpc>
            </a:pPr>
            <a:r>
              <a:rPr lang="ko-KR" sz="1150" b="0" dirty="0">
                <a:solidFill>
                  <a:srgbClr val="464D5C"/>
                </a:solidFill>
                <a:latin typeface="Pretendard"/>
                <a:ea typeface="Pretendard"/>
                <a:cs typeface="Pretendard"/>
              </a:rPr>
              <a:t>시설에 수용된 사람과 지역사회에서 생활하는 사람이 모두 포함됐다.</a:t>
            </a:r>
          </a:p>
        </p:txBody>
      </p:sp>
      <p:sp>
        <p:nvSpPr>
          <p:cNvPr id="18" name="line18"/>
          <p:cNvSpPr/>
          <p:nvPr/>
        </p:nvSpPr>
        <p:spPr>
          <a:xfrm>
            <a:off x="731520" y="2888932"/>
            <a:ext cx="10725912" cy="0"/>
          </a:xfrm>
          <a:prstGeom prst="line">
            <a:avLst/>
          </a:prstGeom>
          <a:ln w="9525">
            <a:solidFill>
              <a:srgbClr val="DCE0E8"/>
            </a:solidFill>
          </a:ln>
        </p:spPr>
        <p:txBody>
          <a:bodyPr/>
          <a:lstStyle/>
          <a:p>
            <a:endParaRPr/>
          </a:p>
        </p:txBody>
      </p:sp>
      <p:sp>
        <p:nvSpPr>
          <p:cNvPr id="19" name="h1"/>
          <p:cNvSpPr txBox="1"/>
          <p:nvPr/>
        </p:nvSpPr>
        <p:spPr>
          <a:xfrm>
            <a:off x="731520" y="3031363"/>
            <a:ext cx="172593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무엇을 평가했나</a:t>
            </a:r>
          </a:p>
        </p:txBody>
      </p:sp>
      <p:sp>
        <p:nvSpPr>
          <p:cNvPr id="20" name="b1"/>
          <p:cNvSpPr txBox="1"/>
          <p:nvPr/>
        </p:nvSpPr>
        <p:spPr>
          <a:xfrm>
            <a:off x="2832100" y="3031363"/>
            <a:ext cx="862533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표준화된 도구로 절차의 의미를 이해하고 관련 정보를 추론하는 능력 등을 평가했다.</a:t>
            </a:r>
          </a:p>
          <a:p>
            <a:pPr algn="l">
              <a:lnSpc>
                <a:spcPct val="118000"/>
              </a:lnSpc>
            </a:pPr>
            <a:r>
              <a:rPr lang="ko-KR" sz="1150" b="0" dirty="0">
                <a:solidFill>
                  <a:srgbClr val="464D5C"/>
                </a:solidFill>
                <a:latin typeface="Pretendard"/>
                <a:ea typeface="Pretendard"/>
                <a:cs typeface="Pretendard"/>
              </a:rPr>
              <a:t>재판의 역할·선택지를 이해하고 변호인과 상의하는 데 관계되는 능력이다.</a:t>
            </a:r>
          </a:p>
        </p:txBody>
      </p:sp>
      <p:sp>
        <p:nvSpPr>
          <p:cNvPr id="21" name="line21"/>
          <p:cNvSpPr/>
          <p:nvPr/>
        </p:nvSpPr>
        <p:spPr>
          <a:xfrm>
            <a:off x="733044" y="3680015"/>
            <a:ext cx="10725912" cy="0"/>
          </a:xfrm>
          <a:prstGeom prst="line">
            <a:avLst/>
          </a:prstGeom>
          <a:ln w="9525">
            <a:solidFill>
              <a:srgbClr val="DCE0E8"/>
            </a:solidFill>
          </a:ln>
        </p:spPr>
        <p:txBody>
          <a:bodyPr/>
          <a:lstStyle/>
          <a:p>
            <a:endParaRPr/>
          </a:p>
        </p:txBody>
      </p:sp>
      <p:sp>
        <p:nvSpPr>
          <p:cNvPr id="22" name="h2"/>
          <p:cNvSpPr txBox="1"/>
          <p:nvPr/>
        </p:nvSpPr>
        <p:spPr>
          <a:xfrm>
            <a:off x="731520" y="3727196"/>
            <a:ext cx="1725930" cy="80010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연구척도상 결과</a:t>
            </a:r>
          </a:p>
        </p:txBody>
      </p:sp>
      <p:sp>
        <p:nvSpPr>
          <p:cNvPr id="23" name="b2"/>
          <p:cNvSpPr txBox="1"/>
          <p:nvPr/>
        </p:nvSpPr>
        <p:spPr>
          <a:xfrm>
            <a:off x="2832100" y="3727196"/>
            <a:ext cx="8625332" cy="800100"/>
          </a:xfrm>
          <a:prstGeom prst="rect">
            <a:avLst/>
          </a:prstGeom>
          <a:noFill/>
        </p:spPr>
        <p:txBody>
          <a:bodyPr wrap="square" lIns="0" tIns="27432" rIns="0" bIns="27432" anchor="ctr">
            <a:noAutofit/>
          </a:bodyPr>
          <a:lstStyle/>
          <a:p>
            <a:pPr>
              <a:lnSpc>
                <a:spcPct val="125000"/>
              </a:lnSpc>
              <a:spcAft>
                <a:spcPts val="500"/>
              </a:spcAft>
            </a:pPr>
            <a:r>
              <a:rPr lang="ko-KR" altLang="en-US" sz="1250" b="1" dirty="0">
                <a:solidFill>
                  <a:srgbClr val="222633"/>
                </a:solidFill>
                <a:latin typeface="Pretendard"/>
                <a:ea typeface="Pretendard"/>
                <a:cs typeface="Pretendard"/>
              </a:rPr>
              <a:t>이해</a:t>
            </a:r>
            <a:r>
              <a:rPr lang="en-US" altLang="ko-KR" sz="1250" b="1" dirty="0">
                <a:solidFill>
                  <a:srgbClr val="222633"/>
                </a:solidFill>
                <a:latin typeface="Pretendard"/>
                <a:ea typeface="Pretendard"/>
                <a:cs typeface="Pretendard"/>
              </a:rPr>
              <a:t>·</a:t>
            </a:r>
            <a:r>
              <a:rPr lang="ko-KR" altLang="en-US" sz="1250" b="1" dirty="0">
                <a:solidFill>
                  <a:srgbClr val="222633"/>
                </a:solidFill>
                <a:latin typeface="Pretendard"/>
                <a:ea typeface="Pretendard"/>
                <a:cs typeface="Pretendard"/>
              </a:rPr>
              <a:t>추론 중 하나 이상에서 ‘상당한 어려움’ 기준에 해당한 비율은 </a:t>
            </a:r>
            <a:r>
              <a:rPr lang="en-US" altLang="ko-KR" sz="1250" b="1" dirty="0">
                <a:solidFill>
                  <a:schemeClr val="accent2">
                    <a:lumMod val="75000"/>
                  </a:schemeClr>
                </a:solidFill>
                <a:latin typeface="Pretendard"/>
                <a:ea typeface="Pretendard"/>
                <a:cs typeface="Pretendard"/>
              </a:rPr>
              <a:t>11~13</a:t>
            </a:r>
            <a:r>
              <a:rPr lang="ko-KR" altLang="en-US" sz="1250" b="1" dirty="0">
                <a:solidFill>
                  <a:schemeClr val="accent2">
                    <a:lumMod val="75000"/>
                  </a:schemeClr>
                </a:solidFill>
                <a:latin typeface="Pretendard"/>
                <a:ea typeface="Pretendard"/>
                <a:cs typeface="Pretendard"/>
              </a:rPr>
              <a:t>세 </a:t>
            </a:r>
            <a:r>
              <a:rPr lang="en-US" altLang="ko-KR" sz="1250" b="1" dirty="0">
                <a:solidFill>
                  <a:schemeClr val="accent2">
                    <a:lumMod val="75000"/>
                  </a:schemeClr>
                </a:solidFill>
                <a:latin typeface="Pretendard"/>
                <a:ea typeface="Pretendard"/>
                <a:cs typeface="Pretendard"/>
              </a:rPr>
              <a:t>30%</a:t>
            </a:r>
            <a:r>
              <a:rPr lang="en-US" altLang="ko-KR" sz="1250" b="1" dirty="0">
                <a:solidFill>
                  <a:srgbClr val="222633"/>
                </a:solidFill>
                <a:latin typeface="Pretendard"/>
                <a:ea typeface="Pretendard"/>
                <a:cs typeface="Pretendard"/>
              </a:rPr>
              <a:t>, </a:t>
            </a:r>
            <a:r>
              <a:rPr lang="en-US" altLang="ko-KR" sz="1250" b="1" dirty="0">
                <a:solidFill>
                  <a:schemeClr val="accent4">
                    <a:lumMod val="75000"/>
                  </a:schemeClr>
                </a:solidFill>
                <a:latin typeface="Pretendard"/>
                <a:ea typeface="Pretendard"/>
                <a:cs typeface="Pretendard"/>
              </a:rPr>
              <a:t>14~15</a:t>
            </a:r>
            <a:r>
              <a:rPr lang="ko-KR" altLang="en-US" sz="1250" b="1" dirty="0">
                <a:solidFill>
                  <a:schemeClr val="accent4">
                    <a:lumMod val="75000"/>
                  </a:schemeClr>
                </a:solidFill>
                <a:latin typeface="Pretendard"/>
                <a:ea typeface="Pretendard"/>
                <a:cs typeface="Pretendard"/>
              </a:rPr>
              <a:t>세 </a:t>
            </a:r>
            <a:r>
              <a:rPr lang="en-US" altLang="ko-KR" sz="1250" b="1" dirty="0">
                <a:solidFill>
                  <a:schemeClr val="accent4">
                    <a:lumMod val="75000"/>
                  </a:schemeClr>
                </a:solidFill>
                <a:latin typeface="Pretendard"/>
                <a:ea typeface="Pretendard"/>
                <a:cs typeface="Pretendard"/>
              </a:rPr>
              <a:t>19%</a:t>
            </a:r>
            <a:r>
              <a:rPr lang="en-US" altLang="ko-KR" sz="1250" b="1" dirty="0">
                <a:solidFill>
                  <a:srgbClr val="222633"/>
                </a:solidFill>
                <a:latin typeface="Pretendard"/>
                <a:ea typeface="Pretendard"/>
                <a:cs typeface="Pretendard"/>
              </a:rPr>
              <a:t>, </a:t>
            </a:r>
            <a:r>
              <a:rPr lang="en-US" altLang="ko-KR" sz="1250" b="1" dirty="0">
                <a:solidFill>
                  <a:schemeClr val="accent6">
                    <a:lumMod val="75000"/>
                  </a:schemeClr>
                </a:solidFill>
                <a:latin typeface="Pretendard"/>
                <a:ea typeface="Pretendard"/>
                <a:cs typeface="Pretendard"/>
              </a:rPr>
              <a:t>16~17</a:t>
            </a:r>
            <a:r>
              <a:rPr lang="ko-KR" altLang="en-US" sz="1250" b="1" dirty="0">
                <a:solidFill>
                  <a:schemeClr val="accent6">
                    <a:lumMod val="75000"/>
                  </a:schemeClr>
                </a:solidFill>
                <a:latin typeface="Pretendard"/>
                <a:ea typeface="Pretendard"/>
                <a:cs typeface="Pretendard"/>
              </a:rPr>
              <a:t>세와 청년 성인은 각각 </a:t>
            </a:r>
            <a:r>
              <a:rPr lang="en-US" altLang="ko-KR" sz="1250" b="1" dirty="0">
                <a:solidFill>
                  <a:schemeClr val="accent6">
                    <a:lumMod val="75000"/>
                  </a:schemeClr>
                </a:solidFill>
                <a:latin typeface="Pretendard"/>
                <a:ea typeface="Pretendard"/>
                <a:cs typeface="Pretendard"/>
              </a:rPr>
              <a:t>12%</a:t>
            </a:r>
            <a:r>
              <a:rPr lang="ko-KR" altLang="en-US" sz="1250" b="1" dirty="0">
                <a:solidFill>
                  <a:srgbClr val="222633"/>
                </a:solidFill>
                <a:latin typeface="Pretendard"/>
                <a:ea typeface="Pretendard"/>
                <a:cs typeface="Pretendard"/>
              </a:rPr>
              <a:t>였다</a:t>
            </a:r>
            <a:r>
              <a:rPr lang="en-US" altLang="ko-KR" sz="1250" b="1" dirty="0">
                <a:solidFill>
                  <a:srgbClr val="222633"/>
                </a:solidFill>
                <a:latin typeface="Pretendard"/>
                <a:ea typeface="Pretendard"/>
                <a:cs typeface="Pretendard"/>
              </a:rPr>
              <a:t>.</a:t>
            </a:r>
            <a:endParaRPr lang="ko-KR" sz="1250" b="1" dirty="0">
              <a:solidFill>
                <a:srgbClr val="222633"/>
              </a:solidFill>
              <a:latin typeface="Pretendard"/>
              <a:ea typeface="Pretendard"/>
              <a:cs typeface="Pretendard"/>
            </a:endParaRPr>
          </a:p>
          <a:p>
            <a:pPr>
              <a:lnSpc>
                <a:spcPct val="118000"/>
              </a:lnSpc>
            </a:pPr>
            <a:r>
              <a:rPr lang="ko-KR" altLang="en-US" sz="1150" dirty="0">
                <a:solidFill>
                  <a:srgbClr val="464D5C"/>
                </a:solidFill>
                <a:latin typeface="Pretendard"/>
                <a:ea typeface="Pretendard"/>
                <a:cs typeface="Pretendard"/>
              </a:rPr>
              <a:t>법원이 재판능력을 판정한 비율이 아니라 연구척도로 측정한 결과다</a:t>
            </a:r>
            <a:r>
              <a:rPr lang="en-US" altLang="ko-KR" sz="1150" dirty="0">
                <a:solidFill>
                  <a:srgbClr val="464D5C"/>
                </a:solidFill>
                <a:latin typeface="Pretendard"/>
                <a:ea typeface="Pretendard"/>
                <a:cs typeface="Pretendard"/>
              </a:rPr>
              <a:t>.</a:t>
            </a:r>
            <a:endParaRPr lang="ko-KR" sz="1150" dirty="0">
              <a:solidFill>
                <a:srgbClr val="464D5C"/>
              </a:solidFill>
              <a:highlight>
                <a:srgbClr val="FFFF00"/>
              </a:highlight>
              <a:latin typeface="Pretendard"/>
              <a:ea typeface="Pretendard"/>
              <a:cs typeface="Pretendard"/>
            </a:endParaRPr>
          </a:p>
        </p:txBody>
      </p:sp>
      <p:sp>
        <p:nvSpPr>
          <p:cNvPr id="24" name="line24"/>
          <p:cNvSpPr/>
          <p:nvPr/>
        </p:nvSpPr>
        <p:spPr>
          <a:xfrm>
            <a:off x="731520" y="4555426"/>
            <a:ext cx="10725912" cy="0"/>
          </a:xfrm>
          <a:prstGeom prst="line">
            <a:avLst/>
          </a:prstGeom>
          <a:ln w="9525">
            <a:solidFill>
              <a:srgbClr val="DCE0E8"/>
            </a:solidFill>
          </a:ln>
        </p:spPr>
        <p:txBody>
          <a:bodyPr/>
          <a:lstStyle/>
          <a:p>
            <a:endParaRPr/>
          </a:p>
        </p:txBody>
      </p:sp>
      <p:sp>
        <p:nvSpPr>
          <p:cNvPr id="25" name="h3"/>
          <p:cNvSpPr txBox="1"/>
          <p:nvPr/>
        </p:nvSpPr>
        <p:spPr>
          <a:xfrm>
            <a:off x="731520" y="4666106"/>
            <a:ext cx="1725930" cy="594360"/>
          </a:xfrm>
          <a:prstGeom prst="rect">
            <a:avLst/>
          </a:prstGeom>
          <a:noFill/>
        </p:spPr>
        <p:txBody>
          <a:bodyPr wrap="square" lIns="0" tIns="27432" rIns="0" bIns="27432" anchor="ctr">
            <a:noAutofit/>
          </a:bodyPr>
          <a:lstStyle/>
          <a:p>
            <a:pPr algn="ctr">
              <a:lnSpc>
                <a:spcPct val="118000"/>
              </a:lnSpc>
            </a:pPr>
            <a:r>
              <a:rPr sz="1300" b="1" dirty="0" err="1">
                <a:solidFill>
                  <a:srgbClr val="1E2761"/>
                </a:solidFill>
                <a:latin typeface="Pretendard"/>
              </a:rPr>
              <a:t>수치가</a:t>
            </a:r>
            <a:r>
              <a:rPr sz="1300" b="1" dirty="0">
                <a:solidFill>
                  <a:srgbClr val="1E2761"/>
                </a:solidFill>
                <a:latin typeface="Pretendard"/>
              </a:rPr>
              <a:t> </a:t>
            </a:r>
            <a:r>
              <a:rPr sz="1300" b="1" dirty="0" err="1">
                <a:solidFill>
                  <a:srgbClr val="1E2761"/>
                </a:solidFill>
                <a:latin typeface="Pretendard"/>
              </a:rPr>
              <a:t>말하는</a:t>
            </a:r>
            <a:r>
              <a:rPr sz="1300" b="1" dirty="0">
                <a:solidFill>
                  <a:srgbClr val="1E2761"/>
                </a:solidFill>
                <a:latin typeface="Pretendard"/>
              </a:rPr>
              <a:t> 것</a:t>
            </a:r>
          </a:p>
        </p:txBody>
      </p:sp>
      <p:sp>
        <p:nvSpPr>
          <p:cNvPr id="26" name="b3"/>
          <p:cNvSpPr txBox="1"/>
          <p:nvPr/>
        </p:nvSpPr>
        <p:spPr>
          <a:xfrm>
            <a:off x="2832100" y="4666106"/>
            <a:ext cx="8625332" cy="594360"/>
          </a:xfrm>
          <a:prstGeom prst="rect">
            <a:avLst/>
          </a:prstGeom>
          <a:noFill/>
        </p:spPr>
        <p:txBody>
          <a:bodyPr wrap="square" lIns="0" tIns="27432" rIns="0" bIns="27432" anchor="ctr">
            <a:noAutofit/>
          </a:bodyPr>
          <a:lstStyle/>
          <a:p>
            <a:pPr>
              <a:lnSpc>
                <a:spcPct val="125000"/>
              </a:lnSpc>
            </a:pPr>
            <a:r>
              <a:rPr lang="ko-KR" altLang="en-US"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어린 연령집단일수록 절차의 의미를 이해하고 관련 정보를 추론하는 데 상당한 어려움을 보인 비율이 높았다</a:t>
            </a:r>
            <a:r>
              <a:rPr lang="en-US" altLang="ko-K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rPr>
              <a:t>.</a:t>
            </a:r>
            <a:endParaRPr sz="1250" b="1" dirty="0">
              <a:solidFill>
                <a:srgbClr val="222633"/>
              </a:solidFill>
              <a:latin typeface="Pretendard" panose="02000503000000020004" pitchFamily="2" charset="-127"/>
              <a:ea typeface="Pretendard" panose="02000503000000020004" pitchFamily="2" charset="-127"/>
              <a:cs typeface="Pretendard" panose="02000503000000020004" pitchFamily="2" charset="-127"/>
            </a:endParaRPr>
          </a:p>
          <a:p>
            <a:pPr>
              <a:lnSpc>
                <a:spcPct val="118000"/>
              </a:lnSpc>
            </a:pPr>
            <a:r>
              <a:rPr lang="ko-KR" altLang="en-US" sz="1200" b="1" dirty="0">
                <a:solidFill>
                  <a:srgbClr val="464D5C"/>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연령 하향 논의 시 어린 피의자</a:t>
            </a:r>
            <a:r>
              <a:rPr lang="en-US" altLang="ko-KR" sz="1200" b="1" dirty="0">
                <a:solidFill>
                  <a:srgbClr val="464D5C"/>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a:t>
            </a:r>
            <a:r>
              <a:rPr lang="ko-KR" altLang="en-US" sz="1200" b="1" dirty="0">
                <a:solidFill>
                  <a:srgbClr val="464D5C"/>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피고인이 절차를 실제로 이해하고 참여할 수 있도록 어떤 지원을 둘지도 함께 검토해야 한다</a:t>
            </a:r>
            <a:r>
              <a:rPr lang="en-US" altLang="ko-KR" sz="1200" b="1" dirty="0">
                <a:solidFill>
                  <a:srgbClr val="464D5C"/>
                </a:solidFill>
                <a:highlight>
                  <a:srgbClr val="FFFF00"/>
                </a:highlight>
                <a:latin typeface="Pretendard" panose="02000503000000020004" pitchFamily="2" charset="-127"/>
                <a:ea typeface="Pretendard" panose="02000503000000020004" pitchFamily="2" charset="-127"/>
                <a:cs typeface="Pretendard" panose="02000503000000020004" pitchFamily="2" charset="-127"/>
              </a:rPr>
              <a:t>.</a:t>
            </a:r>
            <a:endParaRPr lang="ko-KR" altLang="ko-KR" sz="1200" b="1" dirty="0">
              <a:solidFill>
                <a:srgbClr val="464D5C"/>
              </a:solidFill>
              <a:highlight>
                <a:srgbClr val="FFFF00"/>
              </a:highlight>
              <a:latin typeface="Pretendard" panose="02000503000000020004" pitchFamily="2" charset="-127"/>
              <a:ea typeface="Pretendard" panose="02000503000000020004" pitchFamily="2" charset="-127"/>
              <a:cs typeface="Pretendard" panose="02000503000000020004" pitchFamily="2" charset="-127"/>
            </a:endParaRPr>
          </a:p>
        </p:txBody>
      </p:sp>
      <p:sp>
        <p:nvSpPr>
          <p:cNvPr id="27" name="line27"/>
          <p:cNvSpPr/>
          <p:nvPr/>
        </p:nvSpPr>
        <p:spPr>
          <a:xfrm>
            <a:off x="731520" y="5371147"/>
            <a:ext cx="10725912" cy="0"/>
          </a:xfrm>
          <a:prstGeom prst="line">
            <a:avLst/>
          </a:prstGeom>
          <a:ln w="9525">
            <a:solidFill>
              <a:srgbClr val="DCE0E8"/>
            </a:solidFill>
          </a:ln>
        </p:spPr>
        <p:txBody>
          <a:bodyPr/>
          <a:lstStyle/>
          <a:p>
            <a:endParaRPr/>
          </a:p>
        </p:txBody>
      </p:sp>
      <p:sp>
        <p:nvSpPr>
          <p:cNvPr id="28" name="h4"/>
          <p:cNvSpPr txBox="1"/>
          <p:nvPr/>
        </p:nvSpPr>
        <p:spPr>
          <a:xfrm>
            <a:off x="731520" y="5450077"/>
            <a:ext cx="1725930" cy="594360"/>
          </a:xfrm>
          <a:prstGeom prst="rect">
            <a:avLst/>
          </a:prstGeom>
          <a:noFill/>
        </p:spPr>
        <p:txBody>
          <a:bodyPr wrap="square" lIns="0" tIns="27432" rIns="0" bIns="27432" anchor="ctr">
            <a:noAutofit/>
          </a:bodyPr>
          <a:lstStyle/>
          <a:p>
            <a:pPr algn="ctr">
              <a:lnSpc>
                <a:spcPct val="118000"/>
              </a:lnSpc>
            </a:pPr>
            <a:r>
              <a:rPr sz="1300" b="1">
                <a:solidFill>
                  <a:srgbClr val="1E2761"/>
                </a:solidFill>
                <a:latin typeface="Pretendard"/>
              </a:rPr>
              <a:t>두 가지 능력</a:t>
            </a:r>
          </a:p>
        </p:txBody>
      </p:sp>
      <p:sp>
        <p:nvSpPr>
          <p:cNvPr id="29" name="b4"/>
          <p:cNvSpPr txBox="1"/>
          <p:nvPr/>
        </p:nvSpPr>
        <p:spPr>
          <a:xfrm>
            <a:off x="2832100" y="5450077"/>
            <a:ext cx="8625332" cy="594360"/>
          </a:xfrm>
          <a:prstGeom prst="rect">
            <a:avLst/>
          </a:prstGeom>
          <a:noFill/>
        </p:spPr>
        <p:txBody>
          <a:bodyPr wrap="square" lIns="0" tIns="27432" rIns="0" bIns="27432" anchor="ctr">
            <a:noAutofit/>
          </a:bodyPr>
          <a:lstStyle/>
          <a:p>
            <a:pPr algn="l">
              <a:lnSpc>
                <a:spcPct val="125000"/>
              </a:lnSpc>
            </a:pPr>
            <a:r>
              <a:rPr lang="ko-KR" sz="1250" b="1" dirty="0">
                <a:solidFill>
                  <a:srgbClr val="222633"/>
                </a:solidFill>
                <a:latin typeface="Pretendard"/>
                <a:ea typeface="Pretendard"/>
                <a:cs typeface="Pretendard"/>
              </a:rPr>
              <a:t>범행 당시 잘못을 이해하고 행동을 통제할 수 있었는지와, 지금 재판에서 자신의 선택을 이해하고 변호인과 소통할 수 있는지는 </a:t>
            </a:r>
            <a:endParaRPr lang="en-US" altLang="ko-KR" sz="1250" b="1" dirty="0">
              <a:solidFill>
                <a:srgbClr val="222633"/>
              </a:solidFill>
              <a:latin typeface="Pretendard"/>
              <a:ea typeface="Pretendard"/>
              <a:cs typeface="Pretendard"/>
            </a:endParaRPr>
          </a:p>
          <a:p>
            <a:pPr algn="l">
              <a:lnSpc>
                <a:spcPct val="125000"/>
              </a:lnSpc>
            </a:pPr>
            <a:r>
              <a:rPr lang="ko-KR" sz="1250" b="1" dirty="0">
                <a:solidFill>
                  <a:srgbClr val="222633"/>
                </a:solidFill>
                <a:latin typeface="Pretendard"/>
                <a:ea typeface="Pretendard"/>
                <a:cs typeface="Pretendard"/>
              </a:rPr>
              <a:t>평가 시점과 필요한 능력이 다르다.</a:t>
            </a:r>
          </a:p>
        </p:txBody>
      </p:sp>
      <p:sp>
        <p:nvSpPr>
          <p:cNvPr id="30" name="line30"/>
          <p:cNvSpPr/>
          <p:nvPr/>
        </p:nvSpPr>
        <p:spPr>
          <a:xfrm>
            <a:off x="731520" y="6144768"/>
            <a:ext cx="10725912" cy="0"/>
          </a:xfrm>
          <a:prstGeom prst="line">
            <a:avLst/>
          </a:prstGeom>
          <a:ln w="19050">
            <a:solidFill>
              <a:srgbClr val="1E2761"/>
            </a:solidFill>
          </a:ln>
        </p:spPr>
        <p:txBody>
          <a:bodyPr/>
          <a:lstStyle/>
          <a:p>
            <a:endParaRPr/>
          </a:p>
        </p:txBody>
      </p:sp>
      <p:sp>
        <p:nvSpPr>
          <p:cNvPr id="31"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Grisso et al.(2003), Law and Human Behavior 27, 333–363 · 청소년 927명·청년 성인 466명</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소년사법 개선과 피해자 보호</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주요 논거 Ⅰ</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소년의 재범을 줄이는 개입은 무엇이 달랐나 — Lipsey(2009)</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상담·기술훈련 등 변화지향적 개입, 재범위험에 맞는 대상 선정, 충실한 실행이 더 나은 재범 결과와 관련됐다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B1"/>
          <p:cNvSpPr/>
          <p:nvPr/>
        </p:nvSpPr>
        <p:spPr>
          <a:xfrm>
            <a:off x="3154680" y="2139982"/>
            <a:ext cx="8302752" cy="714604"/>
          </a:xfrm>
          <a:prstGeom prst="rect">
            <a:avLst/>
          </a:prstGeom>
          <a:noFill/>
          <a:ln/>
        </p:spPr>
        <p:txBody>
          <a:bodyPr wrap="square" lIns="0" tIns="0" rIns="0" bIns="0" rtlCol="0" anchor="t"/>
          <a:lstStyle/>
          <a:p>
            <a:pPr marL="0" indent="0">
              <a:lnSpc>
                <a:spcPct val="118000"/>
              </a:lnSpc>
              <a:spcAft>
                <a:spcPts val="300"/>
              </a:spcAft>
              <a:buNone/>
            </a:pPr>
            <a:r>
              <a:rPr lang="ko-KR" altLang="en-US" sz="1250" b="1" dirty="0">
                <a:solidFill>
                  <a:srgbClr val="222633"/>
                </a:solidFill>
                <a:latin typeface="Pretendard" pitchFamily="34" charset="0"/>
                <a:ea typeface="Pretendard" pitchFamily="34" charset="-122"/>
                <a:cs typeface="Pretendard" pitchFamily="34" charset="-120"/>
              </a:rPr>
              <a:t>소년 개입 프로그램과 비교집단의 이후 비행·재범 결과를 종합했다</a:t>
            </a:r>
          </a:p>
          <a:p>
            <a:pPr marL="0" indent="0">
              <a:lnSpc>
                <a:spcPct val="118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361개 연구보고서에서 나온 548개 독립 연구표본을 분석했다. 대상은 주로 12~21세의 소년사법·비행 대상자였다.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보호관찰·시설수용 등 서로 다른 사법처리 상태가 함께 포함됐다.</a:t>
            </a:r>
          </a:p>
        </p:txBody>
      </p:sp>
      <p:sp>
        <p:nvSpPr>
          <p:cNvPr id="9" name="H1"/>
          <p:cNvSpPr/>
          <p:nvPr/>
        </p:nvSpPr>
        <p:spPr>
          <a:xfrm>
            <a:off x="731520" y="2034540"/>
            <a:ext cx="2240280" cy="943775"/>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무엇을 비교했나</a:t>
            </a:r>
          </a:p>
        </p:txBody>
      </p:sp>
      <p:sp>
        <p:nvSpPr>
          <p:cNvPr id="10" name="R1"/>
          <p:cNvSpPr/>
          <p:nvPr/>
        </p:nvSpPr>
        <p:spPr>
          <a:xfrm>
            <a:off x="731520" y="3001175"/>
            <a:ext cx="10725912" cy="0"/>
          </a:xfrm>
          <a:prstGeom prst="line">
            <a:avLst/>
          </a:prstGeom>
          <a:ln w="9525">
            <a:solidFill>
              <a:srgbClr val="DCE0E8"/>
            </a:solidFill>
          </a:ln>
        </p:spPr>
        <p:txBody>
          <a:bodyPr/>
          <a:lstStyle/>
          <a:p>
            <a:endParaRPr lang="ko-KR"/>
          </a:p>
        </p:txBody>
      </p:sp>
      <p:sp>
        <p:nvSpPr>
          <p:cNvPr id="11" name="CHT"/>
          <p:cNvSpPr/>
          <p:nvPr/>
        </p:nvSpPr>
        <p:spPr>
          <a:xfrm>
            <a:off x="731520" y="3083757"/>
            <a:ext cx="1072591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외부 통제·강압보다 소년의 행동변화를 돕는 접근이 더 나은 재범 결과와 관련됐다</a:t>
            </a:r>
          </a:p>
        </p:txBody>
      </p:sp>
      <p:sp>
        <p:nvSpPr>
          <p:cNvPr id="13" name="CTRL"/>
          <p:cNvSpPr/>
          <p:nvPr/>
        </p:nvSpPr>
        <p:spPr>
          <a:xfrm>
            <a:off x="7994650" y="3079636"/>
            <a:ext cx="1956816" cy="201168"/>
          </a:xfrm>
          <a:prstGeom prst="rect">
            <a:avLst/>
          </a:prstGeom>
          <a:noFill/>
          <a:ln/>
        </p:spPr>
        <p:txBody>
          <a:bodyPr wrap="square" lIns="0" tIns="0" rIns="0" bIns="0" rtlCol="0" anchor="ctr"/>
          <a:lstStyle/>
          <a:p>
            <a:pPr marL="0" indent="0" algn="r">
              <a:lnSpc>
                <a:spcPct val="118000"/>
              </a:lnSpc>
              <a:buNone/>
            </a:pPr>
            <a:r>
              <a:rPr lang="ko-KR" altLang="en-US" sz="1050" dirty="0">
                <a:solidFill>
                  <a:srgbClr val="464D5C"/>
                </a:solidFill>
                <a:latin typeface="Pretendard" pitchFamily="34" charset="0"/>
                <a:ea typeface="Pretendard" pitchFamily="34" charset="-122"/>
                <a:cs typeface="Pretendard" pitchFamily="34" charset="-120"/>
              </a:rPr>
              <a:t>통제집단 50%</a:t>
            </a:r>
          </a:p>
        </p:txBody>
      </p:sp>
      <p:sp>
        <p:nvSpPr>
          <p:cNvPr id="14" name="BL14"/>
          <p:cNvSpPr/>
          <p:nvPr/>
        </p:nvSpPr>
        <p:spPr>
          <a:xfrm>
            <a:off x="731520" y="3345123"/>
            <a:ext cx="1874520" cy="283464"/>
          </a:xfrm>
          <a:prstGeom prst="rect">
            <a:avLst/>
          </a:prstGeom>
          <a:noFill/>
          <a:ln/>
        </p:spPr>
        <p:txBody>
          <a:bodyPr wrap="square" lIns="0" tIns="0" rIns="0" bIns="0" rtlCol="0" anchor="ctr"/>
          <a:lstStyle/>
          <a:p>
            <a:pPr marL="0" indent="0" algn="r">
              <a:lnSpc>
                <a:spcPct val="118000"/>
              </a:lnSpc>
              <a:buNone/>
            </a:pPr>
            <a:r>
              <a:rPr lang="ko-KR" altLang="en-US" sz="1150" b="1" dirty="0">
                <a:solidFill>
                  <a:schemeClr val="accent6">
                    <a:lumMod val="75000"/>
                  </a:schemeClr>
                </a:solidFill>
                <a:latin typeface="Pretendard" pitchFamily="34" charset="0"/>
                <a:ea typeface="Pretendard" pitchFamily="34" charset="-122"/>
                <a:cs typeface="Pretendard" pitchFamily="34" charset="-120"/>
              </a:rPr>
              <a:t>상담 · 기술훈련 · 다중서비스</a:t>
            </a:r>
          </a:p>
        </p:txBody>
      </p:sp>
      <p:sp>
        <p:nvSpPr>
          <p:cNvPr id="15" name="BR15"/>
          <p:cNvSpPr/>
          <p:nvPr/>
        </p:nvSpPr>
        <p:spPr>
          <a:xfrm>
            <a:off x="2697480" y="3386271"/>
            <a:ext cx="5966460" cy="201168"/>
          </a:xfrm>
          <a:prstGeom prst="rect">
            <a:avLst/>
          </a:prstGeom>
          <a:solidFill>
            <a:srgbClr val="5A6699"/>
          </a:solidFill>
          <a:ln/>
        </p:spPr>
        <p:txBody>
          <a:bodyPr/>
          <a:lstStyle/>
          <a:p>
            <a:endParaRPr lang="ko-KR" altLang="en-US"/>
          </a:p>
        </p:txBody>
      </p:sp>
      <p:sp>
        <p:nvSpPr>
          <p:cNvPr id="16" name="BV16"/>
          <p:cNvSpPr/>
          <p:nvPr/>
        </p:nvSpPr>
        <p:spPr>
          <a:xfrm>
            <a:off x="10104120" y="3345123"/>
            <a:ext cx="1353312" cy="283464"/>
          </a:xfrm>
          <a:prstGeom prst="rect">
            <a:avLst/>
          </a:prstGeom>
          <a:noFill/>
          <a:ln/>
        </p:spPr>
        <p:txBody>
          <a:bodyPr wrap="square" lIns="0" tIns="0" rIns="0" bIns="0" rtlCol="0" anchor="ctr"/>
          <a:lstStyle/>
          <a:p>
            <a:pPr marL="0" indent="0">
              <a:lnSpc>
                <a:spcPct val="118000"/>
              </a:lnSpc>
              <a:buNone/>
            </a:pPr>
            <a:r>
              <a:rPr lang="ko-KR" altLang="en-US" sz="1150" b="1" dirty="0">
                <a:solidFill>
                  <a:srgbClr val="222633"/>
                </a:solidFill>
                <a:latin typeface="Pretendard" pitchFamily="34" charset="0"/>
                <a:ea typeface="Pretendard" pitchFamily="34" charset="-122"/>
                <a:cs typeface="Pretendard" pitchFamily="34" charset="-120"/>
              </a:rPr>
              <a:t>43~44%  </a:t>
            </a:r>
            <a:r>
              <a:rPr lang="ko-KR" altLang="en-US" sz="1100" dirty="0">
                <a:solidFill>
                  <a:schemeClr val="accent6">
                    <a:lumMod val="75000"/>
                  </a:schemeClr>
                </a:solidFill>
                <a:latin typeface="Pretendard" pitchFamily="34" charset="0"/>
                <a:ea typeface="Pretendard" pitchFamily="34" charset="-122"/>
                <a:cs typeface="Pretendard" pitchFamily="34" charset="-120"/>
              </a:rPr>
              <a:t>−12~13%</a:t>
            </a:r>
          </a:p>
        </p:txBody>
      </p:sp>
      <p:sp>
        <p:nvSpPr>
          <p:cNvPr id="17" name="BL17"/>
          <p:cNvSpPr/>
          <p:nvPr/>
        </p:nvSpPr>
        <p:spPr>
          <a:xfrm>
            <a:off x="731520" y="3637731"/>
            <a:ext cx="1874520" cy="283464"/>
          </a:xfrm>
          <a:prstGeom prst="rect">
            <a:avLst/>
          </a:prstGeom>
          <a:noFill/>
          <a:ln/>
        </p:spPr>
        <p:txBody>
          <a:bodyPr wrap="square" lIns="0" tIns="0" rIns="0" bIns="0" rtlCol="0" anchor="ctr"/>
          <a:lstStyle/>
          <a:p>
            <a:pPr marL="0" indent="0" algn="r">
              <a:lnSpc>
                <a:spcPct val="118000"/>
              </a:lnSpc>
              <a:buNone/>
            </a:pPr>
            <a:r>
              <a:rPr lang="ko-KR" altLang="en-US" sz="1150" b="1" dirty="0">
                <a:solidFill>
                  <a:schemeClr val="accent6">
                    <a:lumMod val="75000"/>
                  </a:schemeClr>
                </a:solidFill>
                <a:latin typeface="Pretendard" pitchFamily="34" charset="0"/>
                <a:ea typeface="Pretendard" pitchFamily="34" charset="-122"/>
                <a:cs typeface="Pretendard" pitchFamily="34" charset="-120"/>
              </a:rPr>
              <a:t>회복적 개입</a:t>
            </a:r>
          </a:p>
        </p:txBody>
      </p:sp>
      <p:sp>
        <p:nvSpPr>
          <p:cNvPr id="18" name="BR18"/>
          <p:cNvSpPr/>
          <p:nvPr/>
        </p:nvSpPr>
        <p:spPr>
          <a:xfrm>
            <a:off x="2697480" y="3678879"/>
            <a:ext cx="6172200" cy="201168"/>
          </a:xfrm>
          <a:prstGeom prst="rect">
            <a:avLst/>
          </a:prstGeom>
          <a:solidFill>
            <a:srgbClr val="5A6699"/>
          </a:solidFill>
          <a:ln/>
        </p:spPr>
        <p:txBody>
          <a:bodyPr/>
          <a:lstStyle/>
          <a:p>
            <a:endParaRPr lang="ko-KR" altLang="en-US"/>
          </a:p>
        </p:txBody>
      </p:sp>
      <p:sp>
        <p:nvSpPr>
          <p:cNvPr id="19" name="BV19"/>
          <p:cNvSpPr/>
          <p:nvPr/>
        </p:nvSpPr>
        <p:spPr>
          <a:xfrm>
            <a:off x="10104120" y="3637731"/>
            <a:ext cx="1353312" cy="283464"/>
          </a:xfrm>
          <a:prstGeom prst="rect">
            <a:avLst/>
          </a:prstGeom>
          <a:noFill/>
          <a:ln/>
        </p:spPr>
        <p:txBody>
          <a:bodyPr wrap="square" lIns="0" tIns="0" rIns="0" bIns="0" rtlCol="0" anchor="ctr"/>
          <a:lstStyle/>
          <a:p>
            <a:pPr marL="0" indent="0">
              <a:lnSpc>
                <a:spcPct val="118000"/>
              </a:lnSpc>
              <a:buNone/>
            </a:pPr>
            <a:r>
              <a:rPr lang="ko-KR" altLang="en-US" sz="1150" b="1" dirty="0">
                <a:solidFill>
                  <a:srgbClr val="222633"/>
                </a:solidFill>
                <a:latin typeface="Pretendard" pitchFamily="34" charset="0"/>
                <a:ea typeface="Pretendard" pitchFamily="34" charset="-122"/>
                <a:cs typeface="Pretendard" pitchFamily="34" charset="-120"/>
              </a:rPr>
              <a:t>45%  </a:t>
            </a:r>
            <a:r>
              <a:rPr lang="ko-KR" altLang="en-US" sz="1100" dirty="0">
                <a:solidFill>
                  <a:schemeClr val="accent6">
                    <a:lumMod val="75000"/>
                  </a:schemeClr>
                </a:solidFill>
                <a:latin typeface="Pretendard" pitchFamily="34" charset="0"/>
                <a:ea typeface="Pretendard" pitchFamily="34" charset="-122"/>
                <a:cs typeface="Pretendard" pitchFamily="34" charset="-120"/>
              </a:rPr>
              <a:t>−10%</a:t>
            </a:r>
          </a:p>
        </p:txBody>
      </p:sp>
      <p:sp>
        <p:nvSpPr>
          <p:cNvPr id="20" name="BL20"/>
          <p:cNvSpPr/>
          <p:nvPr/>
        </p:nvSpPr>
        <p:spPr>
          <a:xfrm>
            <a:off x="731520" y="3930339"/>
            <a:ext cx="1874520" cy="283464"/>
          </a:xfrm>
          <a:prstGeom prst="rect">
            <a:avLst/>
          </a:prstGeom>
          <a:noFill/>
          <a:ln/>
        </p:spPr>
        <p:txBody>
          <a:bodyPr wrap="square" lIns="0" tIns="0" rIns="0" bIns="0" rtlCol="0" anchor="ctr"/>
          <a:lstStyle/>
          <a:p>
            <a:pPr marL="0" indent="0" algn="r">
              <a:lnSpc>
                <a:spcPct val="118000"/>
              </a:lnSpc>
              <a:buNone/>
            </a:pPr>
            <a:r>
              <a:rPr lang="ko-KR" altLang="en-US" sz="1150" b="1" dirty="0">
                <a:solidFill>
                  <a:schemeClr val="accent6">
                    <a:lumMod val="75000"/>
                  </a:schemeClr>
                </a:solidFill>
                <a:latin typeface="Pretendard" pitchFamily="34" charset="0"/>
                <a:ea typeface="Pretendard" pitchFamily="34" charset="-122"/>
                <a:cs typeface="Pretendard" pitchFamily="34" charset="-120"/>
              </a:rPr>
              <a:t>감시</a:t>
            </a:r>
          </a:p>
        </p:txBody>
      </p:sp>
      <p:sp>
        <p:nvSpPr>
          <p:cNvPr id="21" name="BR21"/>
          <p:cNvSpPr/>
          <p:nvPr/>
        </p:nvSpPr>
        <p:spPr>
          <a:xfrm>
            <a:off x="2697480" y="3971487"/>
            <a:ext cx="6446520" cy="201168"/>
          </a:xfrm>
          <a:prstGeom prst="rect">
            <a:avLst/>
          </a:prstGeom>
          <a:solidFill>
            <a:srgbClr val="5A6699"/>
          </a:solidFill>
          <a:ln/>
        </p:spPr>
        <p:txBody>
          <a:bodyPr/>
          <a:lstStyle/>
          <a:p>
            <a:endParaRPr lang="ko-KR" altLang="en-US"/>
          </a:p>
        </p:txBody>
      </p:sp>
      <p:sp>
        <p:nvSpPr>
          <p:cNvPr id="22" name="BV22"/>
          <p:cNvSpPr/>
          <p:nvPr/>
        </p:nvSpPr>
        <p:spPr>
          <a:xfrm>
            <a:off x="10104120" y="3930339"/>
            <a:ext cx="1353312" cy="283464"/>
          </a:xfrm>
          <a:prstGeom prst="rect">
            <a:avLst/>
          </a:prstGeom>
          <a:noFill/>
          <a:ln/>
        </p:spPr>
        <p:txBody>
          <a:bodyPr wrap="square" lIns="0" tIns="0" rIns="0" bIns="0" rtlCol="0" anchor="ctr"/>
          <a:lstStyle/>
          <a:p>
            <a:pPr marL="0" indent="0">
              <a:lnSpc>
                <a:spcPct val="118000"/>
              </a:lnSpc>
              <a:buNone/>
            </a:pPr>
            <a:r>
              <a:rPr lang="ko-KR" altLang="en-US" sz="1150" b="1" dirty="0">
                <a:solidFill>
                  <a:srgbClr val="222633"/>
                </a:solidFill>
                <a:latin typeface="Pretendard" pitchFamily="34" charset="0"/>
                <a:ea typeface="Pretendard" pitchFamily="34" charset="-122"/>
                <a:cs typeface="Pretendard" pitchFamily="34" charset="-120"/>
              </a:rPr>
              <a:t>47%  </a:t>
            </a:r>
            <a:r>
              <a:rPr lang="ko-KR" altLang="en-US" sz="1100" dirty="0">
                <a:solidFill>
                  <a:schemeClr val="accent6">
                    <a:lumMod val="75000"/>
                  </a:schemeClr>
                </a:solidFill>
                <a:latin typeface="Pretendard" pitchFamily="34" charset="0"/>
                <a:ea typeface="Pretendard" pitchFamily="34" charset="-122"/>
                <a:cs typeface="Pretendard" pitchFamily="34" charset="-120"/>
              </a:rPr>
              <a:t>−6%</a:t>
            </a:r>
          </a:p>
        </p:txBody>
      </p:sp>
      <p:sp>
        <p:nvSpPr>
          <p:cNvPr id="23" name="BL23"/>
          <p:cNvSpPr/>
          <p:nvPr/>
        </p:nvSpPr>
        <p:spPr>
          <a:xfrm>
            <a:off x="731520" y="4222947"/>
            <a:ext cx="1874520" cy="283464"/>
          </a:xfrm>
          <a:prstGeom prst="rect">
            <a:avLst/>
          </a:prstGeom>
          <a:noFill/>
          <a:ln/>
        </p:spPr>
        <p:txBody>
          <a:bodyPr wrap="square" lIns="0" tIns="0" rIns="0" bIns="0" rtlCol="0" anchor="ctr"/>
          <a:lstStyle/>
          <a:p>
            <a:pPr marL="0" indent="0" algn="r">
              <a:lnSpc>
                <a:spcPct val="118000"/>
              </a:lnSpc>
              <a:buNone/>
            </a:pPr>
            <a:r>
              <a:rPr lang="ko-KR" altLang="en-US" sz="1150" b="1" dirty="0">
                <a:solidFill>
                  <a:schemeClr val="accent2">
                    <a:lumMod val="75000"/>
                  </a:schemeClr>
                </a:solidFill>
                <a:latin typeface="Pretendard" pitchFamily="34" charset="0"/>
                <a:ea typeface="Pretendard" pitchFamily="34" charset="-122"/>
                <a:cs typeface="Pretendard" pitchFamily="34" charset="-120"/>
              </a:rPr>
              <a:t>억제</a:t>
            </a:r>
          </a:p>
        </p:txBody>
      </p:sp>
      <p:sp>
        <p:nvSpPr>
          <p:cNvPr id="24" name="BR24"/>
          <p:cNvSpPr/>
          <p:nvPr/>
        </p:nvSpPr>
        <p:spPr>
          <a:xfrm>
            <a:off x="2697480" y="4264095"/>
            <a:ext cx="6995160" cy="201168"/>
          </a:xfrm>
          <a:prstGeom prst="rect">
            <a:avLst/>
          </a:prstGeom>
          <a:solidFill>
            <a:srgbClr val="5A6699"/>
          </a:solidFill>
          <a:ln/>
        </p:spPr>
        <p:txBody>
          <a:bodyPr/>
          <a:lstStyle/>
          <a:p>
            <a:endParaRPr lang="ko-KR" altLang="en-US"/>
          </a:p>
        </p:txBody>
      </p:sp>
      <p:sp>
        <p:nvSpPr>
          <p:cNvPr id="25" name="BV25"/>
          <p:cNvSpPr/>
          <p:nvPr/>
        </p:nvSpPr>
        <p:spPr>
          <a:xfrm>
            <a:off x="10104120" y="4222947"/>
            <a:ext cx="1353312" cy="283464"/>
          </a:xfrm>
          <a:prstGeom prst="rect">
            <a:avLst/>
          </a:prstGeom>
          <a:noFill/>
          <a:ln/>
        </p:spPr>
        <p:txBody>
          <a:bodyPr wrap="square" lIns="0" tIns="0" rIns="0" bIns="0" rtlCol="0" anchor="ctr"/>
          <a:lstStyle/>
          <a:p>
            <a:pPr marL="0" indent="0">
              <a:lnSpc>
                <a:spcPct val="118000"/>
              </a:lnSpc>
              <a:buNone/>
            </a:pPr>
            <a:r>
              <a:rPr lang="ko-KR" altLang="en-US" sz="1150" b="1" dirty="0">
                <a:solidFill>
                  <a:srgbClr val="222633"/>
                </a:solidFill>
                <a:latin typeface="Pretendard" pitchFamily="34" charset="0"/>
                <a:ea typeface="Pretendard" pitchFamily="34" charset="-122"/>
                <a:cs typeface="Pretendard" pitchFamily="34" charset="-120"/>
              </a:rPr>
              <a:t>51%  </a:t>
            </a:r>
            <a:r>
              <a:rPr lang="ko-KR" altLang="en-US" sz="1100" dirty="0">
                <a:solidFill>
                  <a:schemeClr val="accent2">
                    <a:lumMod val="75000"/>
                  </a:schemeClr>
                </a:solidFill>
                <a:latin typeface="Pretendard" pitchFamily="34" charset="0"/>
                <a:ea typeface="Pretendard" pitchFamily="34" charset="-122"/>
                <a:cs typeface="Pretendard" pitchFamily="34" charset="-120"/>
              </a:rPr>
              <a:t>+2%</a:t>
            </a:r>
          </a:p>
        </p:txBody>
      </p:sp>
      <p:sp>
        <p:nvSpPr>
          <p:cNvPr id="26" name="BL26"/>
          <p:cNvSpPr/>
          <p:nvPr/>
        </p:nvSpPr>
        <p:spPr>
          <a:xfrm>
            <a:off x="731520" y="4515555"/>
            <a:ext cx="1874520" cy="283464"/>
          </a:xfrm>
          <a:prstGeom prst="rect">
            <a:avLst/>
          </a:prstGeom>
          <a:noFill/>
          <a:ln/>
        </p:spPr>
        <p:txBody>
          <a:bodyPr wrap="square" lIns="0" tIns="0" rIns="0" bIns="0" rtlCol="0" anchor="ctr"/>
          <a:lstStyle/>
          <a:p>
            <a:pPr marL="0" indent="0" algn="r">
              <a:lnSpc>
                <a:spcPct val="118000"/>
              </a:lnSpc>
              <a:buNone/>
            </a:pPr>
            <a:r>
              <a:rPr lang="ko-KR" altLang="en-US" sz="1150" b="1" dirty="0">
                <a:solidFill>
                  <a:schemeClr val="accent2">
                    <a:lumMod val="75000"/>
                  </a:schemeClr>
                </a:solidFill>
                <a:latin typeface="Pretendard" pitchFamily="34" charset="0"/>
                <a:ea typeface="Pretendard" pitchFamily="34" charset="-122"/>
                <a:cs typeface="Pretendard" pitchFamily="34" charset="-120"/>
              </a:rPr>
              <a:t>규율</a:t>
            </a:r>
          </a:p>
        </p:txBody>
      </p:sp>
      <p:sp>
        <p:nvSpPr>
          <p:cNvPr id="27" name="BR27"/>
          <p:cNvSpPr/>
          <p:nvPr/>
        </p:nvSpPr>
        <p:spPr>
          <a:xfrm>
            <a:off x="2697480" y="4556703"/>
            <a:ext cx="7406640" cy="201168"/>
          </a:xfrm>
          <a:prstGeom prst="rect">
            <a:avLst/>
          </a:prstGeom>
          <a:solidFill>
            <a:srgbClr val="5A6699"/>
          </a:solidFill>
          <a:ln/>
        </p:spPr>
        <p:txBody>
          <a:bodyPr/>
          <a:lstStyle/>
          <a:p>
            <a:endParaRPr lang="ko-KR" altLang="en-US"/>
          </a:p>
        </p:txBody>
      </p:sp>
      <p:sp>
        <p:nvSpPr>
          <p:cNvPr id="28" name="BV28"/>
          <p:cNvSpPr/>
          <p:nvPr/>
        </p:nvSpPr>
        <p:spPr>
          <a:xfrm>
            <a:off x="10104120" y="4515555"/>
            <a:ext cx="1353312" cy="283464"/>
          </a:xfrm>
          <a:prstGeom prst="rect">
            <a:avLst/>
          </a:prstGeom>
          <a:noFill/>
          <a:ln/>
        </p:spPr>
        <p:txBody>
          <a:bodyPr wrap="square" lIns="0" tIns="0" rIns="0" bIns="0" rtlCol="0" anchor="ctr"/>
          <a:lstStyle/>
          <a:p>
            <a:pPr marL="0" indent="0">
              <a:lnSpc>
                <a:spcPct val="118000"/>
              </a:lnSpc>
              <a:buNone/>
            </a:pPr>
            <a:r>
              <a:rPr lang="ko-KR" altLang="en-US" sz="1150" b="1" dirty="0">
                <a:solidFill>
                  <a:srgbClr val="222633"/>
                </a:solidFill>
                <a:latin typeface="Pretendard" pitchFamily="34" charset="0"/>
                <a:ea typeface="Pretendard" pitchFamily="34" charset="-122"/>
                <a:cs typeface="Pretendard" pitchFamily="34" charset="-120"/>
              </a:rPr>
              <a:t>54%  </a:t>
            </a:r>
            <a:r>
              <a:rPr lang="ko-KR" altLang="en-US" sz="1100" dirty="0">
                <a:solidFill>
                  <a:schemeClr val="accent2">
                    <a:lumMod val="75000"/>
                  </a:schemeClr>
                </a:solidFill>
                <a:latin typeface="Pretendard" pitchFamily="34" charset="0"/>
                <a:ea typeface="Pretendard" pitchFamily="34" charset="-122"/>
                <a:cs typeface="Pretendard" pitchFamily="34" charset="-120"/>
              </a:rPr>
              <a:t>+8%</a:t>
            </a:r>
          </a:p>
        </p:txBody>
      </p:sp>
      <p:sp>
        <p:nvSpPr>
          <p:cNvPr id="29" name="CHN"/>
          <p:cNvSpPr/>
          <p:nvPr/>
        </p:nvSpPr>
        <p:spPr>
          <a:xfrm>
            <a:off x="731520" y="4853883"/>
            <a:ext cx="10725912" cy="206807"/>
          </a:xfrm>
          <a:prstGeom prst="rect">
            <a:avLst/>
          </a:prstGeom>
          <a:noFill/>
          <a:ln/>
        </p:spPr>
        <p:txBody>
          <a:bodyPr wrap="square" lIns="0" tIns="0" rIns="0" bIns="0" rtlCol="0" anchor="t"/>
          <a:lstStyle/>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통제집단 재범률 50%를 기준으로 연구방법·소년 특성 등을 보정해 환산한 비교값이며, 각 프로그램의 단순 평균 재범률이 아니다.</a:t>
            </a:r>
          </a:p>
        </p:txBody>
      </p:sp>
      <p:sp>
        <p:nvSpPr>
          <p:cNvPr id="30" name="R2"/>
          <p:cNvSpPr/>
          <p:nvPr/>
        </p:nvSpPr>
        <p:spPr>
          <a:xfrm>
            <a:off x="731520" y="5207279"/>
            <a:ext cx="10725912" cy="0"/>
          </a:xfrm>
          <a:prstGeom prst="line">
            <a:avLst/>
          </a:prstGeom>
          <a:ln w="9525">
            <a:solidFill>
              <a:srgbClr val="DCE0E8"/>
            </a:solidFill>
          </a:ln>
        </p:spPr>
        <p:txBody>
          <a:bodyPr/>
          <a:lstStyle/>
          <a:p>
            <a:endParaRPr lang="ko-KR"/>
          </a:p>
        </p:txBody>
      </p:sp>
      <p:sp>
        <p:nvSpPr>
          <p:cNvPr id="31" name="CC31"/>
          <p:cNvSpPr/>
          <p:nvPr/>
        </p:nvSpPr>
        <p:spPr>
          <a:xfrm>
            <a:off x="731520" y="5289861"/>
            <a:ext cx="5175504" cy="693268"/>
          </a:xfrm>
          <a:prstGeom prst="rect">
            <a:avLst/>
          </a:prstGeom>
          <a:noFill/>
          <a:ln/>
        </p:spPr>
        <p:txBody>
          <a:bodyPr wrap="square" lIns="0" tIns="0" rIns="0" bIns="0" rtlCol="0" anchor="t"/>
          <a:lstStyle/>
          <a:p>
            <a:pPr marL="0" indent="0">
              <a:lnSpc>
                <a:spcPct val="118000"/>
              </a:lnSpc>
              <a:spcAft>
                <a:spcPts val="200"/>
              </a:spcAft>
              <a:buNone/>
            </a:pPr>
            <a:r>
              <a:rPr lang="ko-KR" altLang="en-US" sz="1150" b="1" dirty="0">
                <a:solidFill>
                  <a:srgbClr val="1E2761"/>
                </a:solidFill>
                <a:latin typeface="Pretendard" pitchFamily="34" charset="0"/>
                <a:ea typeface="Pretendard" pitchFamily="34" charset="-122"/>
                <a:cs typeface="Pretendard" pitchFamily="34" charset="-120"/>
              </a:rPr>
              <a:t>변화지향적 개입이란</a:t>
            </a:r>
          </a:p>
          <a:p>
            <a:pPr marL="0" indent="0">
              <a:lnSpc>
                <a:spcPct val="118000"/>
              </a:lnSpc>
              <a:spcAft>
                <a:spcPts val="200"/>
              </a:spcAft>
              <a:buNone/>
            </a:pPr>
            <a:r>
              <a:rPr lang="ko-KR" altLang="en-US" sz="1250" b="1" dirty="0">
                <a:solidFill>
                  <a:srgbClr val="222633"/>
                </a:solidFill>
                <a:latin typeface="Pretendard" pitchFamily="34" charset="0"/>
                <a:ea typeface="Pretendard" pitchFamily="34" charset="-122"/>
                <a:cs typeface="Pretendard" pitchFamily="34" charset="-120"/>
              </a:rPr>
              <a:t>상담·기술훈련·회복적 개입이 여기에 해당한다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감시·억제·규율처럼 외부 통제와 강압에 중심을 둔 접근과 대비된다.</a:t>
            </a:r>
          </a:p>
        </p:txBody>
      </p:sp>
      <p:sp>
        <p:nvSpPr>
          <p:cNvPr id="32" name="CC32"/>
          <p:cNvSpPr/>
          <p:nvPr/>
        </p:nvSpPr>
        <p:spPr>
          <a:xfrm>
            <a:off x="6210300" y="5289861"/>
            <a:ext cx="5247132" cy="693268"/>
          </a:xfrm>
          <a:prstGeom prst="rect">
            <a:avLst/>
          </a:prstGeom>
          <a:noFill/>
          <a:ln/>
        </p:spPr>
        <p:txBody>
          <a:bodyPr wrap="square" lIns="0" tIns="0" rIns="0" bIns="0" rtlCol="0" anchor="t"/>
          <a:lstStyle/>
          <a:p>
            <a:pPr marL="0" indent="0">
              <a:lnSpc>
                <a:spcPct val="118000"/>
              </a:lnSpc>
              <a:spcAft>
                <a:spcPts val="200"/>
              </a:spcAft>
              <a:buNone/>
            </a:pPr>
            <a:r>
              <a:rPr lang="ko-KR" altLang="en-US" sz="1150" b="1" dirty="0">
                <a:solidFill>
                  <a:srgbClr val="1E2761"/>
                </a:solidFill>
                <a:latin typeface="Pretendard" pitchFamily="34" charset="0"/>
                <a:ea typeface="Pretendard" pitchFamily="34" charset="-122"/>
                <a:cs typeface="Pretendard" pitchFamily="34" charset="-120"/>
              </a:rPr>
              <a:t>누구에게 · 어떻게 제공했나</a:t>
            </a:r>
          </a:p>
          <a:p>
            <a:pPr>
              <a:lnSpc>
                <a:spcPct val="118000"/>
              </a:lnSpc>
              <a:spcAft>
                <a:spcPts val="200"/>
              </a:spcAft>
            </a:pPr>
            <a:r>
              <a:rPr lang="ko-KR" altLang="en-US" sz="1250" b="1" dirty="0">
                <a:solidFill>
                  <a:srgbClr val="222633"/>
                </a:solidFill>
                <a:latin typeface="Pretendard" pitchFamily="34" charset="0"/>
                <a:ea typeface="Pretendard" pitchFamily="34" charset="-122"/>
                <a:cs typeface="Pretendard" pitchFamily="34" charset="-120"/>
              </a:rPr>
              <a:t>재범위험에 맞는 대상 선정과 프로그램의 충실한 실행이 더 나은 재범 결과와 관련됐다</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실행의 질에는 인력의 훈련</a:t>
            </a:r>
            <a:r>
              <a:rPr lang="en-US" altLang="ko-KR" sz="1250" b="1" dirty="0">
                <a:solidFill>
                  <a:srgbClr val="222633"/>
                </a:solidFill>
                <a:latin typeface="Pretendard" pitchFamily="34" charset="0"/>
                <a:ea typeface="Pretendard" pitchFamily="34" charset="-122"/>
                <a:cs typeface="Pretendard" pitchFamily="34" charset="-120"/>
              </a:rPr>
              <a:t>, </a:t>
            </a:r>
            <a:r>
              <a:rPr lang="ko-KR" altLang="en-US" sz="1250" b="1" dirty="0">
                <a:solidFill>
                  <a:srgbClr val="222633"/>
                </a:solidFill>
                <a:latin typeface="Pretendard" pitchFamily="34" charset="0"/>
                <a:ea typeface="Pretendard" pitchFamily="34" charset="-122"/>
                <a:cs typeface="Pretendard" pitchFamily="34" charset="-120"/>
              </a:rPr>
              <a:t>직원 교체</a:t>
            </a:r>
            <a:r>
              <a:rPr lang="en-US" altLang="ko-KR" sz="1250" b="1" dirty="0">
                <a:solidFill>
                  <a:srgbClr val="222633"/>
                </a:solidFill>
                <a:latin typeface="Pretendard" pitchFamily="34" charset="0"/>
                <a:ea typeface="Pretendard" pitchFamily="34" charset="-122"/>
                <a:cs typeface="Pretendard" pitchFamily="34" charset="-120"/>
              </a:rPr>
              <a:t>, </a:t>
            </a:r>
            <a:r>
              <a:rPr lang="ko-KR" altLang="en-US" sz="1250" b="1" dirty="0">
                <a:solidFill>
                  <a:srgbClr val="222633"/>
                </a:solidFill>
                <a:latin typeface="Pretendard" pitchFamily="34" charset="0"/>
                <a:ea typeface="Pretendard" pitchFamily="34" charset="-122"/>
                <a:cs typeface="Pretendard" pitchFamily="34" charset="-120"/>
              </a:rPr>
              <a:t>참여자의 중도탈락 등이 포함됐다</a:t>
            </a:r>
            <a:r>
              <a:rPr lang="en-US" altLang="ko-KR" sz="1250" b="1" dirty="0">
                <a:solidFill>
                  <a:srgbClr val="222633"/>
                </a:solidFill>
                <a:latin typeface="Pretendard" pitchFamily="34" charset="0"/>
                <a:ea typeface="Pretendard" pitchFamily="34" charset="-122"/>
                <a:cs typeface="Pretendard" pitchFamily="34" charset="-120"/>
              </a:rPr>
              <a:t>.</a:t>
            </a:r>
            <a:endParaRPr lang="ko-KR" altLang="en-US" sz="1250" b="1" dirty="0">
              <a:solidFill>
                <a:srgbClr val="222633"/>
              </a:solidFill>
              <a:latin typeface="Pretendard" pitchFamily="34" charset="0"/>
              <a:ea typeface="Pretendard" pitchFamily="34" charset="-122"/>
              <a:cs typeface="Pretendard" pitchFamily="34" charset="-120"/>
            </a:endParaRP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재범위험은 죄명이나 피해의 중대성과는 다른 개념이다.</a:t>
            </a:r>
          </a:p>
        </p:txBody>
      </p:sp>
      <p:sp>
        <p:nvSpPr>
          <p:cNvPr id="33" name="R3"/>
          <p:cNvSpPr/>
          <p:nvPr/>
        </p:nvSpPr>
        <p:spPr>
          <a:xfrm>
            <a:off x="717804" y="6263068"/>
            <a:ext cx="10725912" cy="0"/>
          </a:xfrm>
          <a:prstGeom prst="line">
            <a:avLst/>
          </a:prstGeom>
          <a:ln w="9525">
            <a:solidFill>
              <a:srgbClr val="DCE0E8"/>
            </a:solidFill>
          </a:ln>
        </p:spPr>
        <p:txBody>
          <a:bodyPr/>
          <a:lstStyle/>
          <a:p>
            <a:endParaRPr lang="ko-KR"/>
          </a:p>
        </p:txBody>
      </p:sp>
      <p:sp>
        <p:nvSpPr>
          <p:cNvPr id="34" name="CL"/>
          <p:cNvSpPr/>
          <p:nvPr/>
        </p:nvSpPr>
        <p:spPr>
          <a:xfrm>
            <a:off x="731520" y="6397752"/>
            <a:ext cx="10725912" cy="224790"/>
          </a:xfrm>
          <a:prstGeom prst="rect">
            <a:avLst/>
          </a:prstGeom>
          <a:noFill/>
          <a:ln/>
        </p:spPr>
        <p:txBody>
          <a:bodyPr wrap="square" lIns="0" tIns="0" rIns="0" bIns="0" rtlCol="0" anchor="t"/>
          <a:lstStyle/>
          <a:p>
            <a:pPr>
              <a:lnSpc>
                <a:spcPct val="118000"/>
              </a:lnSpc>
            </a:pPr>
            <a:r>
              <a:rPr lang="ko-KR" altLang="en-US" sz="1250" b="1" dirty="0">
                <a:solidFill>
                  <a:schemeClr val="accent4">
                    <a:lumMod val="75000"/>
                  </a:schemeClr>
                </a:solidFill>
                <a:latin typeface="Pretendard" pitchFamily="34" charset="0"/>
                <a:ea typeface="Pretendard" pitchFamily="34" charset="-122"/>
                <a:cs typeface="Pretendard" pitchFamily="34" charset="-120"/>
              </a:rPr>
              <a:t>재범방지를 위해서는 처분의 강도만이 아니라</a:t>
            </a:r>
            <a:r>
              <a:rPr lang="en-US" altLang="ko-KR" sz="1250" b="1" dirty="0">
                <a:solidFill>
                  <a:schemeClr val="accent4">
                    <a:lumMod val="75000"/>
                  </a:schemeClr>
                </a:solidFill>
                <a:latin typeface="Pretendard" pitchFamily="34" charset="0"/>
                <a:ea typeface="Pretendard" pitchFamily="34" charset="-122"/>
                <a:cs typeface="Pretendard" pitchFamily="34" charset="-120"/>
              </a:rPr>
              <a:t>, </a:t>
            </a:r>
            <a:r>
              <a:rPr lang="ko-KR" altLang="en-US" sz="1250" b="1" dirty="0">
                <a:solidFill>
                  <a:schemeClr val="accent4">
                    <a:lumMod val="75000"/>
                  </a:schemeClr>
                </a:solidFill>
                <a:latin typeface="Pretendard" pitchFamily="34" charset="0"/>
                <a:ea typeface="Pretendard" pitchFamily="34" charset="-122"/>
                <a:cs typeface="Pretendard" pitchFamily="34" charset="-120"/>
              </a:rPr>
              <a:t>누구에게 어떤 개입을 얼마나 제대로 제공하는지가 중요하다</a:t>
            </a:r>
            <a:r>
              <a:rPr lang="en-US" altLang="ko-KR" sz="1250" b="1" dirty="0">
                <a:solidFill>
                  <a:schemeClr val="accent4">
                    <a:lumMod val="75000"/>
                  </a:schemeClr>
                </a:solidFill>
                <a:latin typeface="Pretendard" pitchFamily="34" charset="0"/>
                <a:ea typeface="Pretendard" pitchFamily="34" charset="-122"/>
                <a:cs typeface="Pretendard" pitchFamily="34" charset="-120"/>
              </a:rPr>
              <a:t>.</a:t>
            </a:r>
            <a:endParaRPr lang="ko-KR" altLang="en-US" sz="1250" b="1" dirty="0">
              <a:solidFill>
                <a:schemeClr val="accent4">
                  <a:lumMod val="75000"/>
                </a:schemeClr>
              </a:solidFill>
              <a:latin typeface="Pretendard" pitchFamily="34" charset="0"/>
              <a:ea typeface="Pretendard" pitchFamily="34" charset="-122"/>
              <a:cs typeface="Pretendard" pitchFamily="34" charset="-120"/>
            </a:endParaRPr>
          </a:p>
        </p:txBody>
      </p:sp>
      <p:sp>
        <p:nvSpPr>
          <p:cNvPr id="12" name="VL12"/>
          <p:cNvSpPr/>
          <p:nvPr/>
        </p:nvSpPr>
        <p:spPr>
          <a:xfrm>
            <a:off x="9555480" y="3349695"/>
            <a:ext cx="0" cy="1481328"/>
          </a:xfrm>
          <a:prstGeom prst="line">
            <a:avLst/>
          </a:prstGeom>
          <a:ln w="15875">
            <a:solidFill>
              <a:srgbClr val="C00000"/>
            </a:solidFill>
            <a:prstDash val="sysDash"/>
          </a:ln>
        </p:spPr>
        <p:txBody>
          <a:bodyPr/>
          <a:lstStyle/>
          <a:p>
            <a:endParaRPr lang="ko-K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주요 논거와 최종 판단</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주요 논거 Ⅱ</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주요 논거 Ⅰ — 책임의 정당성과 형사책임 확대의 필요성</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13세에게 형벌로 책임을 물을 수 있는지와, 그 가능성을 현행 보호체계에 추가할 필요가 있는지는 서로 다른 판단이다</a:t>
            </a: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CB8"/>
          <p:cNvSpPr/>
          <p:nvPr/>
        </p:nvSpPr>
        <p:spPr>
          <a:xfrm>
            <a:off x="2377440" y="2153869"/>
            <a:ext cx="4398264" cy="274320"/>
          </a:xfrm>
          <a:prstGeom prst="rect">
            <a:avLst/>
          </a:prstGeom>
          <a:solidFill>
            <a:schemeClr val="accent6">
              <a:lumMod val="50000"/>
            </a:schemeClr>
          </a:solidFill>
          <a:ln/>
        </p:spPr>
        <p:txBody>
          <a:bodyPr/>
          <a:lstStyle/>
          <a:p>
            <a:endParaRPr lang="ko-KR" altLang="en-US"/>
          </a:p>
        </p:txBody>
      </p:sp>
      <p:sp>
        <p:nvSpPr>
          <p:cNvPr id="9" name="CT9"/>
          <p:cNvSpPr/>
          <p:nvPr/>
        </p:nvSpPr>
        <p:spPr>
          <a:xfrm>
            <a:off x="2468880" y="2153869"/>
            <a:ext cx="4215384" cy="274320"/>
          </a:xfrm>
          <a:prstGeom prst="rect">
            <a:avLst/>
          </a:prstGeom>
          <a:noFill/>
          <a:ln/>
        </p:spPr>
        <p:txBody>
          <a:bodyPr wrap="square" lIns="0" tIns="0" rIns="0" bIns="0" rtlCol="0" anchor="ctr"/>
          <a:lstStyle/>
          <a:p>
            <a:pPr marL="0" indent="0" algn="ctr">
              <a:lnSpc>
                <a:spcPct val="118000"/>
              </a:lnSpc>
              <a:buNone/>
            </a:pPr>
            <a:r>
              <a:rPr lang="ko-KR" altLang="en-US" sz="1250" b="1" dirty="0">
                <a:solidFill>
                  <a:srgbClr val="FFFFFF"/>
                </a:solidFill>
                <a:latin typeface="Pretendard" pitchFamily="34" charset="0"/>
                <a:ea typeface="Pretendard" pitchFamily="34" charset="-122"/>
                <a:cs typeface="Pretendard" pitchFamily="34" charset="-120"/>
              </a:rPr>
              <a:t>현행 유지</a:t>
            </a:r>
          </a:p>
        </p:txBody>
      </p:sp>
      <p:sp>
        <p:nvSpPr>
          <p:cNvPr id="10" name="CB10"/>
          <p:cNvSpPr/>
          <p:nvPr/>
        </p:nvSpPr>
        <p:spPr>
          <a:xfrm>
            <a:off x="7059168" y="2153869"/>
            <a:ext cx="4398264" cy="274320"/>
          </a:xfrm>
          <a:prstGeom prst="rect">
            <a:avLst/>
          </a:prstGeom>
          <a:solidFill>
            <a:schemeClr val="accent2">
              <a:lumMod val="50000"/>
            </a:schemeClr>
          </a:solidFill>
          <a:ln/>
        </p:spPr>
        <p:txBody>
          <a:bodyPr/>
          <a:lstStyle/>
          <a:p>
            <a:endParaRPr lang="ko-KR" altLang="en-US"/>
          </a:p>
        </p:txBody>
      </p:sp>
      <p:sp>
        <p:nvSpPr>
          <p:cNvPr id="11" name="CT11"/>
          <p:cNvSpPr/>
          <p:nvPr/>
        </p:nvSpPr>
        <p:spPr>
          <a:xfrm>
            <a:off x="7150608" y="2153869"/>
            <a:ext cx="4215384" cy="274320"/>
          </a:xfrm>
          <a:prstGeom prst="rect">
            <a:avLst/>
          </a:prstGeom>
          <a:noFill/>
          <a:ln/>
        </p:spPr>
        <p:txBody>
          <a:bodyPr wrap="square" lIns="0" tIns="0" rIns="0" bIns="0" rtlCol="0" anchor="ctr"/>
          <a:lstStyle/>
          <a:p>
            <a:pPr marL="0" indent="0" algn="ctr">
              <a:lnSpc>
                <a:spcPct val="118000"/>
              </a:lnSpc>
              <a:buNone/>
            </a:pPr>
            <a:r>
              <a:rPr lang="ko-KR" altLang="en-US" sz="1250" b="1" dirty="0">
                <a:solidFill>
                  <a:srgbClr val="FFFFFF"/>
                </a:solidFill>
                <a:latin typeface="Pretendard" pitchFamily="34" charset="0"/>
                <a:ea typeface="Pretendard" pitchFamily="34" charset="-122"/>
                <a:cs typeface="Pretendard" pitchFamily="34" charset="-120"/>
              </a:rPr>
              <a:t>연령 하향</a:t>
            </a:r>
          </a:p>
        </p:txBody>
      </p:sp>
      <p:sp>
        <p:nvSpPr>
          <p:cNvPr id="12" name="RL12"/>
          <p:cNvSpPr/>
          <p:nvPr/>
        </p:nvSpPr>
        <p:spPr>
          <a:xfrm>
            <a:off x="731520" y="2524658"/>
            <a:ext cx="10725912" cy="0"/>
          </a:xfrm>
          <a:prstGeom prst="line">
            <a:avLst/>
          </a:prstGeom>
          <a:ln w="9525">
            <a:solidFill>
              <a:srgbClr val="DCE0E8"/>
            </a:solidFill>
          </a:ln>
        </p:spPr>
        <p:txBody>
          <a:bodyPr/>
          <a:lstStyle/>
          <a:p>
            <a:endParaRPr lang="ko-KR"/>
          </a:p>
        </p:txBody>
      </p:sp>
      <p:sp>
        <p:nvSpPr>
          <p:cNvPr id="13" name="AC13"/>
          <p:cNvSpPr/>
          <p:nvPr/>
        </p:nvSpPr>
        <p:spPr>
          <a:xfrm>
            <a:off x="2377440" y="2671674"/>
            <a:ext cx="4398264" cy="1433116"/>
          </a:xfrm>
          <a:prstGeom prst="rect">
            <a:avLst/>
          </a:prstGeom>
          <a:noFill/>
          <a:ln/>
        </p:spPr>
        <p:txBody>
          <a:bodyPr wrap="square" lIns="0" tIns="0" rIns="0" bIns="0" rtlCol="0" anchor="t"/>
          <a:lstStyle/>
          <a:p>
            <a:pPr>
              <a:lnSpc>
                <a:spcPct val="125000"/>
              </a:lnSpc>
              <a:spcAft>
                <a:spcPts val="400"/>
              </a:spcAft>
            </a:pPr>
            <a:r>
              <a:rPr lang="ko-KR" altLang="en-US" sz="1200" b="1" dirty="0">
                <a:latin typeface="Pretendard" pitchFamily="34" charset="0"/>
                <a:ea typeface="Pretendard" pitchFamily="34" charset="-122"/>
                <a:cs typeface="Pretendard" pitchFamily="34" charset="-120"/>
              </a:rPr>
              <a:t>발달상의 취약성과 개별 책임평가의 불확실성을 고려하면</a:t>
            </a:r>
            <a:r>
              <a:rPr lang="en-US" altLang="ko-KR" sz="1200" b="1" dirty="0">
                <a:latin typeface="Pretendard" pitchFamily="34" charset="0"/>
                <a:ea typeface="Pretendard" pitchFamily="34" charset="-122"/>
                <a:cs typeface="Pretendard" pitchFamily="34" charset="-120"/>
              </a:rPr>
              <a:t>, 14</a:t>
            </a:r>
            <a:r>
              <a:rPr lang="ko-KR" altLang="en-US" sz="1200" b="1" dirty="0">
                <a:latin typeface="Pretendard" pitchFamily="34" charset="0"/>
                <a:ea typeface="Pretendard" pitchFamily="34" charset="-122"/>
                <a:cs typeface="Pretendard" pitchFamily="34" charset="-120"/>
              </a:rPr>
              <a:t>세라는 명확한 보호선을 유지할 이유가 있다</a:t>
            </a:r>
            <a:r>
              <a:rPr lang="en-US" altLang="ko-KR" sz="1200" b="1" dirty="0">
                <a:latin typeface="Pretendard" pitchFamily="34" charset="0"/>
                <a:ea typeface="Pretendard" pitchFamily="34" charset="-122"/>
                <a:cs typeface="Pretendard" pitchFamily="34" charset="-120"/>
              </a:rPr>
              <a:t>.</a:t>
            </a:r>
          </a:p>
          <a:p>
            <a:pPr>
              <a:lnSpc>
                <a:spcPct val="125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잘못이라는 것을 알고 설명할 수 있어도</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또래</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감정</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즉각적 보상이 강하게 작용하는 상황에서는 그 지식에 따라 행동을 조절하는 능력이 충분히 발휘되지 않을 수 있다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a:p>
            <a:pPr>
              <a:lnSpc>
                <a:spcPct val="118000"/>
              </a:lnSpc>
            </a:pP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개별 사건의 중대성만으로 이러한 발달상의 불확실성이 해소되는 것은 아니다</a:t>
            </a:r>
            <a:r>
              <a:rPr lang="en-US" altLang="ko-KR" sz="1150" b="1" dirty="0">
                <a:solidFill>
                  <a:srgbClr val="464D5C"/>
                </a:solidFill>
                <a:highlight>
                  <a:srgbClr val="FFFF00"/>
                </a:highlight>
                <a:latin typeface="Pretendard" pitchFamily="34" charset="0"/>
                <a:ea typeface="Pretendard" pitchFamily="34" charset="-122"/>
                <a:cs typeface="Pretendard" pitchFamily="34" charset="-120"/>
              </a:rPr>
              <a:t>.</a:t>
            </a:r>
            <a:endParaRPr lang="ko-KR" altLang="en-US" sz="1150" b="1" dirty="0">
              <a:solidFill>
                <a:srgbClr val="464D5C"/>
              </a:solidFill>
              <a:highlight>
                <a:srgbClr val="FFFF00"/>
              </a:highlight>
              <a:latin typeface="Pretendard" pitchFamily="34" charset="0"/>
              <a:ea typeface="Pretendard" pitchFamily="34" charset="-122"/>
              <a:cs typeface="Pretendard" pitchFamily="34" charset="-120"/>
            </a:endParaRPr>
          </a:p>
        </p:txBody>
      </p:sp>
      <p:sp>
        <p:nvSpPr>
          <p:cNvPr id="14" name="AC14"/>
          <p:cNvSpPr/>
          <p:nvPr/>
        </p:nvSpPr>
        <p:spPr>
          <a:xfrm>
            <a:off x="7059168" y="2671674"/>
            <a:ext cx="4398264" cy="1433116"/>
          </a:xfrm>
          <a:prstGeom prst="rect">
            <a:avLst/>
          </a:prstGeom>
          <a:noFill/>
          <a:ln/>
        </p:spPr>
        <p:txBody>
          <a:bodyPr wrap="square" lIns="0" tIns="0" rIns="0" bIns="0" rtlCol="0" anchor="t"/>
          <a:lstStyle/>
          <a:p>
            <a:pPr>
              <a:lnSpc>
                <a:spcPct val="125000"/>
              </a:lnSpc>
              <a:spcAft>
                <a:spcPts val="400"/>
              </a:spcAft>
            </a:pPr>
            <a:r>
              <a:rPr lang="en-US" altLang="ko-KR" sz="1200" b="1" dirty="0">
                <a:latin typeface="Pretendard" pitchFamily="34" charset="0"/>
                <a:ea typeface="Pretendard" pitchFamily="34" charset="-122"/>
                <a:cs typeface="Pretendard" pitchFamily="34" charset="-120"/>
              </a:rPr>
              <a:t>13</a:t>
            </a:r>
            <a:r>
              <a:rPr lang="ko-KR" altLang="en-US" sz="1200" b="1" dirty="0">
                <a:latin typeface="Pretendard" pitchFamily="34" charset="0"/>
                <a:ea typeface="Pretendard" pitchFamily="34" charset="-122"/>
                <a:cs typeface="Pretendard" pitchFamily="34" charset="-120"/>
              </a:rPr>
              <a:t>세라는 연령만으로 형벌에 의한 책임 가능성을 일률적으로 배제할 필요는 없다</a:t>
            </a:r>
            <a:r>
              <a:rPr lang="en-US" altLang="ko-KR" sz="1200" b="1" dirty="0">
                <a:latin typeface="Pretendard" pitchFamily="34" charset="0"/>
                <a:ea typeface="Pretendard" pitchFamily="34" charset="-122"/>
                <a:cs typeface="Pretendard" pitchFamily="34" charset="-120"/>
              </a:rPr>
              <a:t>.</a:t>
            </a:r>
          </a:p>
          <a:p>
            <a:pPr>
              <a:lnSpc>
                <a:spcPct val="125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같은 </a:t>
            </a:r>
            <a:r>
              <a:rPr lang="en-US" altLang="ko-KR" sz="1150" dirty="0">
                <a:solidFill>
                  <a:srgbClr val="464D5C"/>
                </a:solidFill>
                <a:latin typeface="Pretendard" pitchFamily="34" charset="0"/>
                <a:ea typeface="Pretendard" pitchFamily="34" charset="-122"/>
                <a:cs typeface="Pretendard" pitchFamily="34" charset="-120"/>
              </a:rPr>
              <a:t>13</a:t>
            </a:r>
            <a:r>
              <a:rPr lang="ko-KR" altLang="en-US" sz="1150" dirty="0">
                <a:solidFill>
                  <a:srgbClr val="464D5C"/>
                </a:solidFill>
                <a:latin typeface="Pretendard" pitchFamily="34" charset="0"/>
                <a:ea typeface="Pretendard" pitchFamily="34" charset="-122"/>
                <a:cs typeface="Pretendard" pitchFamily="34" charset="-120"/>
              </a:rPr>
              <a:t>세라도 위법성에 대한 이해</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행위의 계획성</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결과에 대한 인식과 행동통제 정도에는 차이가 있을 수 있다</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중대한 잘못에 대해 책임능력을 평가할 기회조차 없이 형벌 가능성을 일률적으로 배제하는 것은 행위와 책임에 상응한 대응을 제한한다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15" name="AH15"/>
          <p:cNvSpPr/>
          <p:nvPr/>
        </p:nvSpPr>
        <p:spPr>
          <a:xfrm>
            <a:off x="731520" y="2584348"/>
            <a:ext cx="1417320" cy="1668375"/>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책임의 정당성</a:t>
            </a:r>
          </a:p>
        </p:txBody>
      </p:sp>
      <p:sp>
        <p:nvSpPr>
          <p:cNvPr id="16" name="RL16"/>
          <p:cNvSpPr/>
          <p:nvPr/>
        </p:nvSpPr>
        <p:spPr>
          <a:xfrm>
            <a:off x="672084" y="4280256"/>
            <a:ext cx="10725912" cy="0"/>
          </a:xfrm>
          <a:prstGeom prst="line">
            <a:avLst/>
          </a:prstGeom>
          <a:ln w="9525">
            <a:solidFill>
              <a:srgbClr val="DCE0E8"/>
            </a:solidFill>
          </a:ln>
        </p:spPr>
        <p:txBody>
          <a:bodyPr/>
          <a:lstStyle/>
          <a:p>
            <a:endParaRPr lang="ko-KR"/>
          </a:p>
        </p:txBody>
      </p:sp>
      <p:sp>
        <p:nvSpPr>
          <p:cNvPr id="17" name="AC17"/>
          <p:cNvSpPr/>
          <p:nvPr/>
        </p:nvSpPr>
        <p:spPr>
          <a:xfrm>
            <a:off x="2377440" y="4467150"/>
            <a:ext cx="4398264" cy="1860493"/>
          </a:xfrm>
          <a:prstGeom prst="rect">
            <a:avLst/>
          </a:prstGeom>
          <a:noFill/>
          <a:ln/>
        </p:spPr>
        <p:txBody>
          <a:bodyPr wrap="square" lIns="0" tIns="0" rIns="0" bIns="0" rtlCol="0" anchor="t"/>
          <a:lstStyle/>
          <a:p>
            <a:pPr>
              <a:lnSpc>
                <a:spcPct val="125000"/>
              </a:lnSpc>
              <a:spcAft>
                <a:spcPts val="400"/>
              </a:spcAft>
            </a:pPr>
            <a:r>
              <a:rPr lang="ko-KR" altLang="en-US" sz="1200" b="1" dirty="0">
                <a:solidFill>
                  <a:srgbClr val="222633"/>
                </a:solidFill>
                <a:latin typeface="Pretendard" pitchFamily="34" charset="0"/>
                <a:ea typeface="Pretendard" pitchFamily="34" charset="-122"/>
                <a:cs typeface="Pretendard" pitchFamily="34" charset="-120"/>
              </a:rPr>
              <a:t>확인된 문제들이 </a:t>
            </a:r>
            <a:r>
              <a:rPr lang="ko-KR" altLang="en-US" sz="1200" b="1" dirty="0" err="1">
                <a:solidFill>
                  <a:srgbClr val="222633"/>
                </a:solidFill>
                <a:latin typeface="Pretendard" pitchFamily="34" charset="0"/>
                <a:ea typeface="Pretendard" pitchFamily="34" charset="-122"/>
                <a:cs typeface="Pretendard" pitchFamily="34" charset="-120"/>
              </a:rPr>
              <a:t>연령선</a:t>
            </a:r>
            <a:r>
              <a:rPr lang="ko-KR" altLang="en-US" sz="1200" b="1" dirty="0">
                <a:solidFill>
                  <a:srgbClr val="222633"/>
                </a:solidFill>
                <a:latin typeface="Pretendard" pitchFamily="34" charset="0"/>
                <a:ea typeface="Pretendard" pitchFamily="34" charset="-122"/>
                <a:cs typeface="Pretendard" pitchFamily="34" charset="-120"/>
              </a:rPr>
              <a:t> 자체보다 운영</a:t>
            </a:r>
            <a:r>
              <a:rPr lang="en-US" altLang="ko-KR" sz="1200" b="1" dirty="0">
                <a:solidFill>
                  <a:srgbClr val="222633"/>
                </a:solidFill>
                <a:latin typeface="Pretendard" pitchFamily="34" charset="0"/>
                <a:ea typeface="Pretendard" pitchFamily="34" charset="-122"/>
                <a:cs typeface="Pretendard" pitchFamily="34" charset="-120"/>
              </a:rPr>
              <a:t>·</a:t>
            </a:r>
            <a:r>
              <a:rPr lang="ko-KR" altLang="en-US" sz="1200" b="1" dirty="0">
                <a:solidFill>
                  <a:srgbClr val="222633"/>
                </a:solidFill>
                <a:latin typeface="Pretendard" pitchFamily="34" charset="0"/>
                <a:ea typeface="Pretendard" pitchFamily="34" charset="-122"/>
                <a:cs typeface="Pretendard" pitchFamily="34" charset="-120"/>
              </a:rPr>
              <a:t>집행의 문제라면</a:t>
            </a:r>
            <a:r>
              <a:rPr lang="en-US" altLang="ko-KR" sz="1200" b="1" dirty="0">
                <a:solidFill>
                  <a:srgbClr val="222633"/>
                </a:solidFill>
                <a:latin typeface="Pretendard" pitchFamily="34" charset="0"/>
                <a:ea typeface="Pretendard" pitchFamily="34" charset="-122"/>
                <a:cs typeface="Pretendard" pitchFamily="34" charset="-120"/>
              </a:rPr>
              <a:t>, </a:t>
            </a:r>
            <a:r>
              <a:rPr lang="ko-KR" altLang="en-US" sz="1200" b="1" dirty="0">
                <a:solidFill>
                  <a:srgbClr val="222633"/>
                </a:solidFill>
                <a:latin typeface="Pretendard" pitchFamily="34" charset="0"/>
                <a:ea typeface="Pretendard" pitchFamily="34" charset="-122"/>
                <a:cs typeface="Pretendard" pitchFamily="34" charset="-120"/>
              </a:rPr>
              <a:t>형사책임 추가가 그 문제를 실제로 해결하는지 먼저 따져야 한다</a:t>
            </a:r>
            <a:r>
              <a:rPr lang="en-US" altLang="ko-KR" sz="1200" b="1" dirty="0">
                <a:solidFill>
                  <a:srgbClr val="222633"/>
                </a:solidFill>
                <a:latin typeface="Pretendard" pitchFamily="34" charset="0"/>
                <a:ea typeface="Pretendard" pitchFamily="34" charset="-122"/>
                <a:cs typeface="Pretendard" pitchFamily="34" charset="-120"/>
              </a:rPr>
              <a:t>.</a:t>
            </a:r>
            <a:endParaRPr lang="ko-KR" altLang="en-US" sz="1200" b="1" dirty="0">
              <a:solidFill>
                <a:srgbClr val="222633"/>
              </a:solidFill>
              <a:highlight>
                <a:srgbClr val="FFFF00"/>
              </a:highlight>
              <a:latin typeface="Pretendard" pitchFamily="34" charset="0"/>
              <a:ea typeface="Pretendard" pitchFamily="34" charset="-122"/>
              <a:cs typeface="Pretendard" pitchFamily="34" charset="-120"/>
            </a:endParaRPr>
          </a:p>
          <a:p>
            <a:pPr marL="0" indent="0">
              <a:lnSpc>
                <a:spcPct val="125000"/>
              </a:lnSpc>
              <a:spcAft>
                <a:spcPts val="400"/>
              </a:spcAft>
              <a:buNone/>
            </a:pPr>
            <a:r>
              <a:rPr lang="ko-KR" altLang="en-US" sz="1150" dirty="0" err="1">
                <a:solidFill>
                  <a:srgbClr val="464D5C"/>
                </a:solidFill>
                <a:latin typeface="Pretendard" pitchFamily="34" charset="0"/>
                <a:ea typeface="Pretendard" pitchFamily="34" charset="-122"/>
                <a:cs typeface="Pretendard" pitchFamily="34" charset="-120"/>
              </a:rPr>
              <a:t>전건송치·조사근거·처분</a:t>
            </a:r>
            <a:r>
              <a:rPr lang="ko-KR" altLang="en-US" sz="1150" dirty="0">
                <a:solidFill>
                  <a:srgbClr val="464D5C"/>
                </a:solidFill>
                <a:latin typeface="Pretendard" pitchFamily="34" charset="0"/>
                <a:ea typeface="Pretendard" pitchFamily="34" charset="-122"/>
                <a:cs typeface="Pretendard" pitchFamily="34" charset="-120"/>
              </a:rPr>
              <a:t> 선택기준·시설과 인력 문제 등 </a:t>
            </a: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확인된 문제의 상당수가 운영·집행의 문제다.</a:t>
            </a:r>
          </a:p>
          <a:p>
            <a:pPr>
              <a:lnSpc>
                <a:spcPct val="125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재범감소 연구에서도 재범감소에는 변화지향적 개입의 내용</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재범위험에 맞는 대상선정</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충실한 실행이 중요했다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a:p>
            <a:pPr>
              <a:lnSpc>
                <a:spcPct val="118000"/>
              </a:lnSpc>
            </a:pPr>
            <a:r>
              <a:rPr lang="ko-KR" altLang="en-US" sz="1100" b="1" dirty="0">
                <a:solidFill>
                  <a:srgbClr val="1E2761"/>
                </a:solidFill>
                <a:latin typeface="Pretendard" pitchFamily="34" charset="0"/>
                <a:ea typeface="Pretendard" pitchFamily="34" charset="-122"/>
                <a:cs typeface="Pretendard" pitchFamily="34" charset="-120"/>
              </a:rPr>
              <a:t>또한 </a:t>
            </a:r>
            <a:r>
              <a:rPr lang="en-US" altLang="ko-KR" sz="1100" b="1" dirty="0">
                <a:solidFill>
                  <a:srgbClr val="1E2761"/>
                </a:solidFill>
                <a:latin typeface="Pretendard" pitchFamily="34" charset="0"/>
                <a:ea typeface="Pretendard" pitchFamily="34" charset="-122"/>
                <a:cs typeface="Pretendard" pitchFamily="34" charset="-120"/>
              </a:rPr>
              <a:t>2020~2024</a:t>
            </a:r>
            <a:r>
              <a:rPr lang="ko-KR" altLang="en-US" sz="1100" b="1" dirty="0">
                <a:solidFill>
                  <a:srgbClr val="1E2761"/>
                </a:solidFill>
                <a:latin typeface="Pretendard" pitchFamily="34" charset="0"/>
                <a:ea typeface="Pretendard" pitchFamily="34" charset="-122"/>
                <a:cs typeface="Pretendard" pitchFamily="34" charset="-120"/>
              </a:rPr>
              <a:t>년 송치 증가율은 </a:t>
            </a:r>
            <a:r>
              <a:rPr lang="en-US" altLang="ko-KR" sz="1100" b="1" dirty="0">
                <a:solidFill>
                  <a:srgbClr val="1E2761"/>
                </a:solidFill>
                <a:latin typeface="Pretendard" pitchFamily="34" charset="0"/>
                <a:ea typeface="Pretendard" pitchFamily="34" charset="-122"/>
                <a:cs typeface="Pretendard" pitchFamily="34" charset="-120"/>
              </a:rPr>
              <a:t>13</a:t>
            </a:r>
            <a:r>
              <a:rPr lang="ko-KR" altLang="en-US" sz="1100" b="1" dirty="0">
                <a:solidFill>
                  <a:srgbClr val="1E2761"/>
                </a:solidFill>
                <a:latin typeface="Pretendard" pitchFamily="34" charset="0"/>
                <a:ea typeface="Pretendard" pitchFamily="34" charset="-122"/>
                <a:cs typeface="Pretendard" pitchFamily="34" charset="-120"/>
              </a:rPr>
              <a:t>세보다 </a:t>
            </a:r>
            <a:r>
              <a:rPr lang="en-US" altLang="ko-KR" sz="1100" b="1" dirty="0">
                <a:solidFill>
                  <a:srgbClr val="1E2761"/>
                </a:solidFill>
                <a:latin typeface="Pretendard" pitchFamily="34" charset="0"/>
                <a:ea typeface="Pretendard" pitchFamily="34" charset="-122"/>
                <a:cs typeface="Pretendard" pitchFamily="34" charset="-120"/>
              </a:rPr>
              <a:t>10~12</a:t>
            </a:r>
            <a:r>
              <a:rPr lang="ko-KR" altLang="en-US" sz="1100" b="1" dirty="0">
                <a:solidFill>
                  <a:srgbClr val="1E2761"/>
                </a:solidFill>
                <a:latin typeface="Pretendard" pitchFamily="34" charset="0"/>
                <a:ea typeface="Pretendard" pitchFamily="34" charset="-122"/>
                <a:cs typeface="Pretendard" pitchFamily="34" charset="-120"/>
              </a:rPr>
              <a:t>세에서 더 높아</a:t>
            </a:r>
            <a:r>
              <a:rPr lang="en-US" altLang="ko-KR" sz="1100" b="1" dirty="0">
                <a:solidFill>
                  <a:srgbClr val="1E2761"/>
                </a:solidFill>
                <a:latin typeface="Pretendard" pitchFamily="34" charset="0"/>
                <a:ea typeface="Pretendard" pitchFamily="34" charset="-122"/>
                <a:cs typeface="Pretendard" pitchFamily="34" charset="-120"/>
              </a:rPr>
              <a:t>, </a:t>
            </a:r>
            <a:r>
              <a:rPr lang="ko-KR" altLang="en-US" sz="1100" b="1" dirty="0">
                <a:solidFill>
                  <a:srgbClr val="1E2761"/>
                </a:solidFill>
                <a:latin typeface="Pretendard" pitchFamily="34" charset="0"/>
                <a:ea typeface="Pretendard" pitchFamily="34" charset="-122"/>
                <a:cs typeface="Pretendard" pitchFamily="34" charset="-120"/>
              </a:rPr>
              <a:t>최근 증가가 </a:t>
            </a:r>
            <a:r>
              <a:rPr lang="en-US" altLang="ko-KR" sz="1100" b="1" dirty="0">
                <a:solidFill>
                  <a:srgbClr val="1E2761"/>
                </a:solidFill>
                <a:latin typeface="Pretendard" pitchFamily="34" charset="0"/>
                <a:ea typeface="Pretendard" pitchFamily="34" charset="-122"/>
                <a:cs typeface="Pretendard" pitchFamily="34" charset="-120"/>
              </a:rPr>
              <a:t>13</a:t>
            </a:r>
            <a:r>
              <a:rPr lang="ko-KR" altLang="en-US" sz="1100" b="1" dirty="0">
                <a:solidFill>
                  <a:srgbClr val="1E2761"/>
                </a:solidFill>
                <a:latin typeface="Pretendard" pitchFamily="34" charset="0"/>
                <a:ea typeface="Pretendard" pitchFamily="34" charset="-122"/>
                <a:cs typeface="Pretendard" pitchFamily="34" charset="-120"/>
              </a:rPr>
              <a:t>세에만 집중된 현상은 아니었다</a:t>
            </a:r>
            <a:r>
              <a:rPr lang="en-US" altLang="ko-KR" sz="1100" b="1" dirty="0">
                <a:solidFill>
                  <a:srgbClr val="1E2761"/>
                </a:solidFill>
                <a:latin typeface="Pretendard" pitchFamily="34" charset="0"/>
                <a:ea typeface="Pretendard" pitchFamily="34" charset="-122"/>
                <a:cs typeface="Pretendard" pitchFamily="34" charset="-120"/>
              </a:rPr>
              <a:t>.</a:t>
            </a:r>
            <a:endParaRPr lang="ko-KR" altLang="en-US" sz="1100" b="1" dirty="0">
              <a:solidFill>
                <a:srgbClr val="1E2761"/>
              </a:solidFill>
              <a:latin typeface="Pretendard" pitchFamily="34" charset="0"/>
              <a:ea typeface="Pretendard" pitchFamily="34" charset="-122"/>
              <a:cs typeface="Pretendard" pitchFamily="34" charset="-120"/>
            </a:endParaRPr>
          </a:p>
        </p:txBody>
      </p:sp>
      <p:sp>
        <p:nvSpPr>
          <p:cNvPr id="18" name="AC18"/>
          <p:cNvSpPr/>
          <p:nvPr/>
        </p:nvSpPr>
        <p:spPr>
          <a:xfrm>
            <a:off x="7059168" y="4467150"/>
            <a:ext cx="4398264" cy="1860492"/>
          </a:xfrm>
          <a:prstGeom prst="rect">
            <a:avLst/>
          </a:prstGeom>
          <a:noFill/>
          <a:ln/>
        </p:spPr>
        <p:txBody>
          <a:bodyPr wrap="square" lIns="0" tIns="0" rIns="0" bIns="0" rtlCol="0" anchor="t"/>
          <a:lstStyle/>
          <a:p>
            <a:pPr>
              <a:lnSpc>
                <a:spcPct val="125000"/>
              </a:lnSpc>
              <a:spcAft>
                <a:spcPts val="400"/>
              </a:spcAft>
            </a:pPr>
            <a:r>
              <a:rPr lang="ko-KR" altLang="en-US" sz="1200" b="1" dirty="0">
                <a:solidFill>
                  <a:srgbClr val="222633"/>
                </a:solidFill>
                <a:latin typeface="Pretendard" pitchFamily="34" charset="0"/>
                <a:ea typeface="Pretendard" pitchFamily="34" charset="-122"/>
                <a:cs typeface="Pretendard" pitchFamily="34" charset="-120"/>
              </a:rPr>
              <a:t>보호</a:t>
            </a:r>
            <a:r>
              <a:rPr lang="en-US" altLang="ko-KR" sz="1200" b="1" dirty="0">
                <a:solidFill>
                  <a:srgbClr val="222633"/>
                </a:solidFill>
                <a:latin typeface="Pretendard" pitchFamily="34" charset="0"/>
                <a:ea typeface="Pretendard" pitchFamily="34" charset="-122"/>
                <a:cs typeface="Pretendard" pitchFamily="34" charset="-120"/>
              </a:rPr>
              <a:t>·</a:t>
            </a:r>
            <a:r>
              <a:rPr lang="ko-KR" altLang="en-US" sz="1200" b="1" dirty="0">
                <a:solidFill>
                  <a:srgbClr val="222633"/>
                </a:solidFill>
                <a:latin typeface="Pretendard" pitchFamily="34" charset="0"/>
                <a:ea typeface="Pretendard" pitchFamily="34" charset="-122"/>
                <a:cs typeface="Pretendard" pitchFamily="34" charset="-120"/>
              </a:rPr>
              <a:t>교화와 별도로 </a:t>
            </a:r>
            <a:r>
              <a:rPr lang="ko-KR" altLang="en-US" sz="1200" b="1" dirty="0">
                <a:solidFill>
                  <a:srgbClr val="222633"/>
                </a:solidFill>
                <a:highlight>
                  <a:srgbClr val="FFFF00"/>
                </a:highlight>
                <a:latin typeface="Pretendard" pitchFamily="34" charset="0"/>
                <a:ea typeface="Pretendard" pitchFamily="34" charset="-122"/>
                <a:cs typeface="Pretendard" pitchFamily="34" charset="-120"/>
              </a:rPr>
              <a:t>중대한 잘못에 대해 형벌로 책임을 인정할 필요가 있다</a:t>
            </a:r>
            <a:r>
              <a:rPr lang="en-US" altLang="ko-KR" sz="1200" b="1" dirty="0">
                <a:solidFill>
                  <a:srgbClr val="222633"/>
                </a:solidFill>
                <a:latin typeface="Pretendard" pitchFamily="34" charset="0"/>
                <a:ea typeface="Pretendard" pitchFamily="34" charset="-122"/>
                <a:cs typeface="Pretendard" pitchFamily="34" charset="-120"/>
              </a:rPr>
              <a:t>.</a:t>
            </a:r>
          </a:p>
          <a:p>
            <a:pPr>
              <a:lnSpc>
                <a:spcPct val="125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현재 </a:t>
            </a:r>
            <a:r>
              <a:rPr lang="en-US" altLang="ko-KR" sz="1150" dirty="0">
                <a:solidFill>
                  <a:srgbClr val="464D5C"/>
                </a:solidFill>
                <a:latin typeface="Pretendard" pitchFamily="34" charset="0"/>
                <a:ea typeface="Pretendard" pitchFamily="34" charset="-122"/>
                <a:cs typeface="Pretendard" pitchFamily="34" charset="-120"/>
              </a:rPr>
              <a:t>13</a:t>
            </a:r>
            <a:r>
              <a:rPr lang="ko-KR" altLang="en-US" sz="1150" dirty="0">
                <a:solidFill>
                  <a:srgbClr val="464D5C"/>
                </a:solidFill>
                <a:latin typeface="Pretendard" pitchFamily="34" charset="0"/>
                <a:ea typeface="Pretendard" pitchFamily="34" charset="-122"/>
                <a:cs typeface="Pretendard" pitchFamily="34" charset="-120"/>
              </a:rPr>
              <a:t>세에게도 보호처분과 상당한 자유제한은 가능하지만</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형사 유죄판단과 형 선고라는 방식으로 책임을 묻는 것은 불가능하다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a:p>
            <a:pPr>
              <a:lnSpc>
                <a:spcPct val="125000"/>
              </a:lnSpc>
              <a:spcAft>
                <a:spcPts val="400"/>
              </a:spcAft>
            </a:pP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중대</a:t>
            </a:r>
            <a:r>
              <a:rPr lang="en-US" altLang="ko-KR" sz="1150" b="1" dirty="0">
                <a:solidFill>
                  <a:srgbClr val="464D5C"/>
                </a:solidFill>
                <a:highlight>
                  <a:srgbClr val="FFFF00"/>
                </a:highlight>
                <a:latin typeface="Pretendard" pitchFamily="34" charset="0"/>
                <a:ea typeface="Pretendard" pitchFamily="34" charset="-122"/>
                <a:cs typeface="Pretendard" pitchFamily="34" charset="-120"/>
              </a:rPr>
              <a:t>·</a:t>
            </a: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반복사건에서 이 책임 인정의 가능성까지 열어 둘 필요가 있다</a:t>
            </a:r>
            <a:r>
              <a:rPr lang="ko-KR" altLang="en-US" sz="1150" dirty="0">
                <a:solidFill>
                  <a:srgbClr val="464D5C"/>
                </a:solidFill>
                <a:latin typeface="Pretendard" pitchFamily="34" charset="0"/>
                <a:ea typeface="Pretendard" pitchFamily="34" charset="-122"/>
                <a:cs typeface="Pretendard" pitchFamily="34" charset="-120"/>
              </a:rPr>
              <a:t>.</a:t>
            </a:r>
          </a:p>
          <a:p>
            <a:pPr marL="0" indent="0">
              <a:lnSpc>
                <a:spcPct val="118000"/>
              </a:lnSpc>
              <a:buNone/>
            </a:pPr>
            <a:r>
              <a:rPr lang="ko-KR" altLang="en-US" sz="1100" b="1" dirty="0">
                <a:solidFill>
                  <a:srgbClr val="1E2761"/>
                </a:solidFill>
                <a:latin typeface="Pretendard" pitchFamily="34" charset="0"/>
                <a:ea typeface="Pretendard" pitchFamily="34" charset="-122"/>
                <a:cs typeface="Pretendard" pitchFamily="34" charset="-120"/>
              </a:rPr>
              <a:t>13세 </a:t>
            </a:r>
            <a:r>
              <a:rPr lang="ko-KR" altLang="en-US" sz="1100" b="1" dirty="0" err="1">
                <a:solidFill>
                  <a:srgbClr val="1E2761"/>
                </a:solidFill>
                <a:latin typeface="Pretendard" pitchFamily="34" charset="0"/>
                <a:ea typeface="Pretendard" pitchFamily="34" charset="-122"/>
                <a:cs typeface="Pretendard" pitchFamily="34" charset="-120"/>
              </a:rPr>
              <a:t>소년부송치</a:t>
            </a:r>
            <a:r>
              <a:rPr lang="ko-KR" altLang="en-US" sz="1100" b="1" dirty="0">
                <a:solidFill>
                  <a:srgbClr val="1E2761"/>
                </a:solidFill>
                <a:latin typeface="Pretendard" pitchFamily="34" charset="0"/>
                <a:ea typeface="Pretendard" pitchFamily="34" charset="-122"/>
                <a:cs typeface="Pretendard" pitchFamily="34" charset="-120"/>
              </a:rPr>
              <a:t> 인원은 6,310명(2020)에서 10,484명(2024)로 </a:t>
            </a:r>
            <a:r>
              <a:rPr lang="en-US" altLang="ko-KR" sz="1100" b="1" dirty="0">
                <a:solidFill>
                  <a:srgbClr val="1E2761"/>
                </a:solidFill>
                <a:latin typeface="Pretendard" pitchFamily="34" charset="0"/>
                <a:ea typeface="Pretendard" pitchFamily="34" charset="-122"/>
                <a:cs typeface="Pretendard" pitchFamily="34" charset="-120"/>
              </a:rPr>
              <a:t>4</a:t>
            </a:r>
            <a:r>
              <a:rPr lang="ko-KR" altLang="en-US" sz="1100" b="1" dirty="0">
                <a:solidFill>
                  <a:srgbClr val="1E2761"/>
                </a:solidFill>
                <a:latin typeface="Pretendard" pitchFamily="34" charset="0"/>
                <a:ea typeface="Pretendard" pitchFamily="34" charset="-122"/>
                <a:cs typeface="Pretendard" pitchFamily="34" charset="-120"/>
              </a:rPr>
              <a:t>년간 약66.1% 증가했다</a:t>
            </a:r>
            <a:r>
              <a:rPr lang="en-US" altLang="ko-KR" sz="1100" b="1" dirty="0">
                <a:solidFill>
                  <a:srgbClr val="1E2761"/>
                </a:solidFill>
                <a:latin typeface="Pretendard" pitchFamily="34" charset="0"/>
                <a:ea typeface="Pretendard" pitchFamily="34" charset="-122"/>
                <a:cs typeface="Pretendard" pitchFamily="34" charset="-120"/>
              </a:rPr>
              <a:t>.</a:t>
            </a:r>
          </a:p>
          <a:p>
            <a:pPr>
              <a:lnSpc>
                <a:spcPct val="118000"/>
              </a:lnSpc>
            </a:pPr>
            <a:r>
              <a:rPr lang="ko-KR" altLang="en-US" sz="1100" b="1" dirty="0">
                <a:solidFill>
                  <a:schemeClr val="accent4">
                    <a:lumMod val="75000"/>
                  </a:schemeClr>
                </a:solidFill>
                <a:latin typeface="Pretendard" pitchFamily="34" charset="0"/>
                <a:ea typeface="Pretendard" pitchFamily="34" charset="-122"/>
                <a:cs typeface="Pretendard" pitchFamily="34" charset="-120"/>
              </a:rPr>
              <a:t>다만</a:t>
            </a:r>
            <a:r>
              <a:rPr lang="en-US" altLang="ko-KR" sz="1100" b="1" dirty="0">
                <a:solidFill>
                  <a:schemeClr val="accent4">
                    <a:lumMod val="75000"/>
                  </a:schemeClr>
                </a:solidFill>
                <a:latin typeface="Pretendard" pitchFamily="34" charset="0"/>
                <a:ea typeface="Pretendard" pitchFamily="34" charset="-122"/>
                <a:cs typeface="Pretendard" pitchFamily="34" charset="-120"/>
              </a:rPr>
              <a:t>, </a:t>
            </a:r>
            <a:r>
              <a:rPr lang="ko-KR" altLang="en-US" sz="1100" b="1" dirty="0" err="1">
                <a:solidFill>
                  <a:schemeClr val="accent4">
                    <a:lumMod val="75000"/>
                  </a:schemeClr>
                </a:solidFill>
                <a:latin typeface="Pretendard" pitchFamily="34" charset="0"/>
                <a:ea typeface="Pretendard" pitchFamily="34" charset="-122"/>
                <a:cs typeface="Pretendard" pitchFamily="34" charset="-120"/>
              </a:rPr>
              <a:t>소년부송치</a:t>
            </a:r>
            <a:r>
              <a:rPr lang="ko-KR" altLang="en-US" sz="1100" b="1" dirty="0">
                <a:solidFill>
                  <a:schemeClr val="accent4">
                    <a:lumMod val="75000"/>
                  </a:schemeClr>
                </a:solidFill>
                <a:latin typeface="Pretendard" pitchFamily="34" charset="0"/>
                <a:ea typeface="Pretendard" pitchFamily="34" charset="-122"/>
                <a:cs typeface="Pretendard" pitchFamily="34" charset="-120"/>
              </a:rPr>
              <a:t> 인원의 증가는 </a:t>
            </a:r>
            <a:r>
              <a:rPr lang="ko-KR" altLang="en-US" sz="1100" b="1" dirty="0" err="1">
                <a:solidFill>
                  <a:schemeClr val="accent4">
                    <a:lumMod val="75000"/>
                  </a:schemeClr>
                </a:solidFill>
                <a:latin typeface="Pretendard" pitchFamily="34" charset="0"/>
                <a:ea typeface="Pretendard" pitchFamily="34" charset="-122"/>
                <a:cs typeface="Pretendard" pitchFamily="34" charset="-120"/>
              </a:rPr>
              <a:t>범죄율</a:t>
            </a:r>
            <a:r>
              <a:rPr lang="ko-KR" altLang="en-US" sz="1100" b="1" dirty="0">
                <a:solidFill>
                  <a:schemeClr val="accent4">
                    <a:lumMod val="75000"/>
                  </a:schemeClr>
                </a:solidFill>
                <a:latin typeface="Pretendard" pitchFamily="34" charset="0"/>
                <a:ea typeface="Pretendard" pitchFamily="34" charset="-122"/>
                <a:cs typeface="Pretendard" pitchFamily="34" charset="-120"/>
              </a:rPr>
              <a:t> 증가와 같지 않으며</a:t>
            </a:r>
            <a:r>
              <a:rPr lang="en-US" altLang="ko-KR" sz="1100" b="1" dirty="0">
                <a:solidFill>
                  <a:schemeClr val="accent4">
                    <a:lumMod val="75000"/>
                  </a:schemeClr>
                </a:solidFill>
                <a:latin typeface="Pretendard" pitchFamily="34" charset="0"/>
                <a:ea typeface="Pretendard" pitchFamily="34" charset="-122"/>
                <a:cs typeface="Pretendard" pitchFamily="34" charset="-120"/>
              </a:rPr>
              <a:t>, </a:t>
            </a:r>
            <a:r>
              <a:rPr lang="ko-KR" altLang="en-US" sz="1100" b="1" dirty="0">
                <a:solidFill>
                  <a:schemeClr val="accent4">
                    <a:lumMod val="75000"/>
                  </a:schemeClr>
                </a:solidFill>
                <a:latin typeface="Pretendard" pitchFamily="34" charset="0"/>
                <a:ea typeface="Pretendard" pitchFamily="34" charset="-122"/>
                <a:cs typeface="Pretendard" pitchFamily="34" charset="-120"/>
              </a:rPr>
              <a:t>그 증가 자체가 형사책임 확대의 필요성을 입증하는 것은 아니다</a:t>
            </a:r>
            <a:r>
              <a:rPr lang="en-US" altLang="ko-KR" sz="1100" b="1" dirty="0">
                <a:solidFill>
                  <a:schemeClr val="accent4">
                    <a:lumMod val="75000"/>
                  </a:schemeClr>
                </a:solidFill>
                <a:latin typeface="Pretendard" pitchFamily="34" charset="0"/>
                <a:ea typeface="Pretendard" pitchFamily="34" charset="-122"/>
                <a:cs typeface="Pretendard" pitchFamily="34" charset="-120"/>
              </a:rPr>
              <a:t>.</a:t>
            </a:r>
            <a:endParaRPr lang="ko-KR" altLang="en-US" sz="1100" b="1" dirty="0">
              <a:solidFill>
                <a:schemeClr val="accent4">
                  <a:lumMod val="75000"/>
                </a:schemeClr>
              </a:solidFill>
              <a:latin typeface="Pretendard" pitchFamily="34" charset="0"/>
              <a:ea typeface="Pretendard" pitchFamily="34" charset="-122"/>
              <a:cs typeface="Pretendard" pitchFamily="34" charset="-120"/>
            </a:endParaRPr>
          </a:p>
        </p:txBody>
      </p:sp>
      <p:sp>
        <p:nvSpPr>
          <p:cNvPr id="19" name="AH19"/>
          <p:cNvSpPr/>
          <p:nvPr/>
        </p:nvSpPr>
        <p:spPr>
          <a:xfrm>
            <a:off x="731520" y="4379825"/>
            <a:ext cx="1417320" cy="1843126"/>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형사책임 확대의 </a:t>
            </a:r>
            <a:endParaRPr lang="en-US" altLang="ko-KR" sz="1300" b="1" dirty="0">
              <a:solidFill>
                <a:srgbClr val="1E2761"/>
              </a:solidFill>
              <a:latin typeface="Pretendard" pitchFamily="34" charset="0"/>
              <a:ea typeface="Pretendard" pitchFamily="34" charset="-122"/>
              <a:cs typeface="Pretendard" pitchFamily="34" charset="-120"/>
            </a:endParaRPr>
          </a:p>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필요성</a:t>
            </a:r>
          </a:p>
        </p:txBody>
      </p:sp>
      <p:sp>
        <p:nvSpPr>
          <p:cNvPr id="23"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강의용 논거 재구성 · 형법 제9조 · 소년법 제32조·제33조 · Steinberg(2008) · Lipsey(2009) · 2020·2024년 연령별 소년부송치 자료</a:t>
            </a:r>
          </a:p>
        </p:txBody>
      </p:sp>
      <p:sp>
        <p:nvSpPr>
          <p:cNvPr id="24" name="RULE">
            <a:extLst>
              <a:ext uri="{FF2B5EF4-FFF2-40B4-BE49-F238E27FC236}">
                <a16:creationId xmlns:a16="http://schemas.microsoft.com/office/drawing/2014/main" id="{E5AD7B25-D38A-729A-C87B-15AC25FC7103}"/>
              </a:ext>
            </a:extLst>
          </p:cNvPr>
          <p:cNvSpPr/>
          <p:nvPr/>
        </p:nvSpPr>
        <p:spPr>
          <a:xfrm>
            <a:off x="672084" y="6419088"/>
            <a:ext cx="10725912" cy="0"/>
          </a:xfrm>
          <a:prstGeom prst="line">
            <a:avLst/>
          </a:prstGeom>
          <a:ln w="19050">
            <a:solidFill>
              <a:srgbClr val="1E2761"/>
            </a:solidFill>
          </a:ln>
        </p:spPr>
        <p:txBody>
          <a:bodyPr/>
          <a:lstStyle/>
          <a:p>
            <a:endParaRPr lang="ko-K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주요 논거와 최종 판단</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연령 하향을 판단하는 네 물음</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주요 논거 Ⅱ — 범죄예방 효과와 절차·보호</a:t>
            </a:r>
          </a:p>
        </p:txBody>
      </p:sp>
      <p:sp>
        <p:nvSpPr>
          <p:cNvPr id="5" name="BANDBG"/>
          <p:cNvSpPr/>
          <p:nvPr/>
        </p:nvSpPr>
        <p:spPr>
          <a:xfrm>
            <a:off x="731520" y="1417320"/>
            <a:ext cx="10725912" cy="548640"/>
          </a:xfrm>
          <a:prstGeom prst="rect">
            <a:avLst/>
          </a:prstGeom>
          <a:solidFill>
            <a:srgbClr val="F2F4F8"/>
          </a:solidFill>
          <a:ln/>
        </p:spPr>
        <p:txBody>
          <a:bodyPr/>
          <a:lstStyle/>
          <a:p>
            <a:endParaRPr lang="ko-KR" altLang="en-US"/>
          </a:p>
        </p:txBody>
      </p:sp>
      <p:sp>
        <p:nvSpPr>
          <p:cNvPr id="6" name="BANDTX"/>
          <p:cNvSpPr/>
          <p:nvPr/>
        </p:nvSpPr>
        <p:spPr>
          <a:xfrm>
            <a:off x="1005840" y="1417320"/>
            <a:ext cx="10149840" cy="548640"/>
          </a:xfrm>
          <a:prstGeom prst="rect">
            <a:avLst/>
          </a:prstGeom>
          <a:noFill/>
          <a:ln/>
        </p:spPr>
        <p:txBody>
          <a:bodyPr wrap="square" lIns="0" tIns="0" rIns="0" bIns="0" rtlCol="0" anchor="ctr"/>
          <a:lstStyle/>
          <a:p>
            <a:pPr>
              <a:lnSpc>
                <a:spcPct val="118000"/>
              </a:lnSpc>
            </a:pPr>
            <a:r>
              <a:rPr lang="ko-KR" altLang="en-US" sz="1300" b="1" dirty="0">
                <a:solidFill>
                  <a:srgbClr val="1E2761"/>
                </a:solidFill>
                <a:latin typeface="Pretendard" pitchFamily="34" charset="0"/>
                <a:ea typeface="Pretendard" pitchFamily="34" charset="-122"/>
                <a:cs typeface="Pretendard" pitchFamily="34" charset="-120"/>
              </a:rPr>
              <a:t>범죄예방에서는 연령 하향이 실제 범죄를 줄였는지</a:t>
            </a:r>
            <a:r>
              <a:rPr lang="en-US" altLang="ko-KR" sz="1300" b="1" dirty="0">
                <a:solidFill>
                  <a:srgbClr val="1E2761"/>
                </a:solidFill>
                <a:latin typeface="Pretendard" pitchFamily="34" charset="0"/>
                <a:ea typeface="Pretendard" pitchFamily="34" charset="-122"/>
                <a:cs typeface="Pretendard" pitchFamily="34" charset="-120"/>
              </a:rPr>
              <a:t>, </a:t>
            </a:r>
            <a:r>
              <a:rPr lang="ko-KR" altLang="en-US" sz="1300" b="1" dirty="0">
                <a:solidFill>
                  <a:srgbClr val="1E2761"/>
                </a:solidFill>
                <a:latin typeface="Pretendard" pitchFamily="34" charset="0"/>
                <a:ea typeface="Pretendard" pitchFamily="34" charset="-122"/>
                <a:cs typeface="Pretendard" pitchFamily="34" charset="-120"/>
              </a:rPr>
              <a:t>절차</a:t>
            </a:r>
            <a:r>
              <a:rPr lang="en-US" altLang="ko-KR" sz="1300" b="1" dirty="0">
                <a:solidFill>
                  <a:srgbClr val="1E2761"/>
                </a:solidFill>
                <a:latin typeface="Pretendard" pitchFamily="34" charset="0"/>
                <a:ea typeface="Pretendard" pitchFamily="34" charset="-122"/>
                <a:cs typeface="Pretendard" pitchFamily="34" charset="-120"/>
              </a:rPr>
              <a:t>·</a:t>
            </a:r>
            <a:r>
              <a:rPr lang="ko-KR" altLang="en-US" sz="1300" b="1" dirty="0">
                <a:solidFill>
                  <a:srgbClr val="1E2761"/>
                </a:solidFill>
                <a:latin typeface="Pretendard" pitchFamily="34" charset="0"/>
                <a:ea typeface="Pretendard" pitchFamily="34" charset="-122"/>
                <a:cs typeface="Pretendard" pitchFamily="34" charset="-120"/>
              </a:rPr>
              <a:t>보호에서는 </a:t>
            </a:r>
            <a:r>
              <a:rPr lang="en-US" altLang="ko-KR" sz="1300" b="1" dirty="0">
                <a:solidFill>
                  <a:srgbClr val="1E2761"/>
                </a:solidFill>
                <a:latin typeface="Pretendard" pitchFamily="34" charset="0"/>
                <a:ea typeface="Pretendard" pitchFamily="34" charset="-122"/>
                <a:cs typeface="Pretendard" pitchFamily="34" charset="-120"/>
              </a:rPr>
              <a:t>13</a:t>
            </a:r>
            <a:r>
              <a:rPr lang="ko-KR" altLang="en-US" sz="1300" b="1" dirty="0">
                <a:solidFill>
                  <a:srgbClr val="1E2761"/>
                </a:solidFill>
                <a:latin typeface="Pretendard" pitchFamily="34" charset="0"/>
                <a:ea typeface="Pretendard" pitchFamily="34" charset="-122"/>
                <a:cs typeface="Pretendard" pitchFamily="34" charset="-120"/>
              </a:rPr>
              <a:t>세의 형사절차 편입으로 생기는 추가 부담과 보호장치를 따진다</a:t>
            </a:r>
            <a:r>
              <a:rPr lang="en-US" altLang="ko-KR" sz="1300" b="1" dirty="0">
                <a:solidFill>
                  <a:srgbClr val="1E2761"/>
                </a:solidFill>
                <a:latin typeface="Pretendard" pitchFamily="34" charset="0"/>
                <a:ea typeface="Pretendard" pitchFamily="34" charset="-122"/>
                <a:cs typeface="Pretendard" pitchFamily="34" charset="-120"/>
              </a:rPr>
              <a:t>.</a:t>
            </a:r>
            <a:endParaRPr lang="ko-KR" altLang="en-US" sz="1300" b="1" dirty="0">
              <a:solidFill>
                <a:srgbClr val="1E2761"/>
              </a:solidFill>
              <a:latin typeface="Pretendard" pitchFamily="34" charset="0"/>
              <a:ea typeface="Pretendard" pitchFamily="34" charset="-122"/>
              <a:cs typeface="Pretendard" pitchFamily="34" charset="-120"/>
            </a:endParaRPr>
          </a:p>
        </p:txBody>
      </p:sp>
      <p:sp>
        <p:nvSpPr>
          <p:cNvPr id="7" name="RULE"/>
          <p:cNvSpPr/>
          <p:nvPr/>
        </p:nvSpPr>
        <p:spPr>
          <a:xfrm>
            <a:off x="731520" y="2057400"/>
            <a:ext cx="10725912" cy="0"/>
          </a:xfrm>
          <a:prstGeom prst="line">
            <a:avLst/>
          </a:prstGeom>
          <a:ln w="19050">
            <a:solidFill>
              <a:srgbClr val="1E2761"/>
            </a:solidFill>
          </a:ln>
        </p:spPr>
        <p:txBody>
          <a:bodyPr/>
          <a:lstStyle/>
          <a:p>
            <a:endParaRPr lang="ko-KR"/>
          </a:p>
        </p:txBody>
      </p:sp>
      <p:sp>
        <p:nvSpPr>
          <p:cNvPr id="8" name="CB8"/>
          <p:cNvSpPr/>
          <p:nvPr/>
        </p:nvSpPr>
        <p:spPr>
          <a:xfrm>
            <a:off x="1920240" y="2161291"/>
            <a:ext cx="4626864" cy="274320"/>
          </a:xfrm>
          <a:prstGeom prst="rect">
            <a:avLst/>
          </a:prstGeom>
          <a:solidFill>
            <a:schemeClr val="accent6">
              <a:lumMod val="50000"/>
            </a:schemeClr>
          </a:solidFill>
          <a:ln/>
        </p:spPr>
        <p:txBody>
          <a:bodyPr/>
          <a:lstStyle/>
          <a:p>
            <a:endParaRPr lang="ko-KR" altLang="en-US"/>
          </a:p>
        </p:txBody>
      </p:sp>
      <p:sp>
        <p:nvSpPr>
          <p:cNvPr id="9" name="CT9"/>
          <p:cNvSpPr/>
          <p:nvPr/>
        </p:nvSpPr>
        <p:spPr>
          <a:xfrm>
            <a:off x="2021185" y="2161291"/>
            <a:ext cx="4434479" cy="274320"/>
          </a:xfrm>
          <a:prstGeom prst="rect">
            <a:avLst/>
          </a:prstGeom>
          <a:noFill/>
          <a:ln/>
        </p:spPr>
        <p:txBody>
          <a:bodyPr wrap="square" lIns="0" tIns="0" rIns="0" bIns="0" rtlCol="0" anchor="ctr"/>
          <a:lstStyle/>
          <a:p>
            <a:pPr marL="0" indent="0" algn="ctr">
              <a:lnSpc>
                <a:spcPct val="118000"/>
              </a:lnSpc>
              <a:buNone/>
            </a:pPr>
            <a:r>
              <a:rPr lang="ko-KR" altLang="en-US" sz="1250" b="1" dirty="0">
                <a:solidFill>
                  <a:srgbClr val="FFFFFF"/>
                </a:solidFill>
                <a:latin typeface="Pretendard" pitchFamily="34" charset="0"/>
                <a:ea typeface="Pretendard" pitchFamily="34" charset="-122"/>
                <a:cs typeface="Pretendard" pitchFamily="34" charset="-120"/>
              </a:rPr>
              <a:t>현행 유지</a:t>
            </a:r>
          </a:p>
        </p:txBody>
      </p:sp>
      <p:sp>
        <p:nvSpPr>
          <p:cNvPr id="10" name="CB10"/>
          <p:cNvSpPr/>
          <p:nvPr/>
        </p:nvSpPr>
        <p:spPr>
          <a:xfrm>
            <a:off x="6661150" y="2161291"/>
            <a:ext cx="4796282" cy="274320"/>
          </a:xfrm>
          <a:prstGeom prst="rect">
            <a:avLst/>
          </a:prstGeom>
          <a:solidFill>
            <a:schemeClr val="accent2">
              <a:lumMod val="50000"/>
            </a:schemeClr>
          </a:solidFill>
          <a:ln/>
        </p:spPr>
        <p:txBody>
          <a:bodyPr/>
          <a:lstStyle/>
          <a:p>
            <a:endParaRPr lang="ko-KR" altLang="en-US"/>
          </a:p>
        </p:txBody>
      </p:sp>
      <p:sp>
        <p:nvSpPr>
          <p:cNvPr id="11" name="CT11"/>
          <p:cNvSpPr/>
          <p:nvPr/>
        </p:nvSpPr>
        <p:spPr>
          <a:xfrm>
            <a:off x="7150608" y="2161291"/>
            <a:ext cx="4215384" cy="274320"/>
          </a:xfrm>
          <a:prstGeom prst="rect">
            <a:avLst/>
          </a:prstGeom>
          <a:noFill/>
          <a:ln/>
        </p:spPr>
        <p:txBody>
          <a:bodyPr wrap="square" lIns="0" tIns="0" rIns="0" bIns="0" rtlCol="0" anchor="ctr"/>
          <a:lstStyle/>
          <a:p>
            <a:pPr marL="0" indent="0" algn="ctr">
              <a:lnSpc>
                <a:spcPct val="118000"/>
              </a:lnSpc>
              <a:buNone/>
            </a:pPr>
            <a:r>
              <a:rPr lang="ko-KR" altLang="en-US" sz="1250" b="1" dirty="0">
                <a:solidFill>
                  <a:srgbClr val="FFFFFF"/>
                </a:solidFill>
                <a:latin typeface="Pretendard" pitchFamily="34" charset="0"/>
                <a:ea typeface="Pretendard" pitchFamily="34" charset="-122"/>
                <a:cs typeface="Pretendard" pitchFamily="34" charset="-120"/>
              </a:rPr>
              <a:t>연령 하향</a:t>
            </a:r>
          </a:p>
        </p:txBody>
      </p:sp>
      <p:sp>
        <p:nvSpPr>
          <p:cNvPr id="12" name="RL12"/>
          <p:cNvSpPr/>
          <p:nvPr/>
        </p:nvSpPr>
        <p:spPr>
          <a:xfrm>
            <a:off x="731520" y="2539502"/>
            <a:ext cx="10725912" cy="0"/>
          </a:xfrm>
          <a:prstGeom prst="line">
            <a:avLst/>
          </a:prstGeom>
          <a:ln w="9525">
            <a:solidFill>
              <a:srgbClr val="DCE0E8"/>
            </a:solidFill>
          </a:ln>
        </p:spPr>
        <p:txBody>
          <a:bodyPr/>
          <a:lstStyle/>
          <a:p>
            <a:endParaRPr lang="ko-KR"/>
          </a:p>
        </p:txBody>
      </p:sp>
      <p:sp>
        <p:nvSpPr>
          <p:cNvPr id="13" name="AC13"/>
          <p:cNvSpPr/>
          <p:nvPr/>
        </p:nvSpPr>
        <p:spPr>
          <a:xfrm>
            <a:off x="1920240" y="2611389"/>
            <a:ext cx="4626864" cy="933907"/>
          </a:xfrm>
          <a:prstGeom prst="rect">
            <a:avLst/>
          </a:prstGeom>
          <a:noFill/>
          <a:ln/>
        </p:spPr>
        <p:txBody>
          <a:bodyPr wrap="square" lIns="0" tIns="0" rIns="0" bIns="0" rtlCol="0" anchor="t"/>
          <a:lstStyle/>
          <a:p>
            <a:pPr>
              <a:lnSpc>
                <a:spcPct val="118000"/>
              </a:lnSpc>
              <a:spcAft>
                <a:spcPts val="400"/>
              </a:spcAft>
            </a:pPr>
            <a:r>
              <a:rPr lang="ko-KR" altLang="en-US" sz="1200" b="1" dirty="0">
                <a:solidFill>
                  <a:srgbClr val="222633"/>
                </a:solidFill>
                <a:latin typeface="Pretendard" pitchFamily="34" charset="0"/>
                <a:ea typeface="Pretendard" pitchFamily="34" charset="-122"/>
                <a:cs typeface="Pretendard" pitchFamily="34" charset="-120"/>
              </a:rPr>
              <a:t>연령 하향의 범죄예방 효과를 당연한 것으로 전제하기는 어렵다</a:t>
            </a:r>
          </a:p>
          <a:p>
            <a:pPr>
              <a:lnSpc>
                <a:spcPct val="125000"/>
              </a:lnSpc>
              <a:spcAft>
                <a:spcPts val="400"/>
              </a:spcAft>
            </a:pP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덴마크에서는 새로 형사책임 대상이 된 </a:t>
            </a:r>
            <a:r>
              <a:rPr lang="en-US" altLang="ko-KR" sz="1150" b="1" dirty="0">
                <a:solidFill>
                  <a:srgbClr val="464D5C"/>
                </a:solidFill>
                <a:highlight>
                  <a:srgbClr val="FFFF00"/>
                </a:highlight>
                <a:latin typeface="Pretendard" pitchFamily="34" charset="0"/>
                <a:ea typeface="Pretendard" pitchFamily="34" charset="-122"/>
                <a:cs typeface="Pretendard" pitchFamily="34" charset="-120"/>
              </a:rPr>
              <a:t>14</a:t>
            </a:r>
            <a:r>
              <a:rPr lang="ko-KR" altLang="en-US" sz="1150" b="1" dirty="0">
                <a:solidFill>
                  <a:srgbClr val="464D5C"/>
                </a:solidFill>
                <a:highlight>
                  <a:srgbClr val="FFFF00"/>
                </a:highlight>
                <a:latin typeface="Pretendard" pitchFamily="34" charset="0"/>
                <a:ea typeface="Pretendard" pitchFamily="34" charset="-122"/>
                <a:cs typeface="Pretendard" pitchFamily="34" charset="-120"/>
              </a:rPr>
              <a:t>세의 기록범죄가 하향 뒤 감소했다는 증거를 확인하지 못했다</a:t>
            </a:r>
            <a:r>
              <a:rPr lang="en-US" altLang="ko-KR" sz="1150" dirty="0">
                <a:solidFill>
                  <a:srgbClr val="464D5C"/>
                </a:solidFill>
                <a:latin typeface="Pretendard" pitchFamily="34" charset="0"/>
                <a:ea typeface="Pretendard" pitchFamily="34" charset="-122"/>
                <a:cs typeface="Pretendard" pitchFamily="34" charset="-120"/>
              </a:rPr>
              <a:t>.</a:t>
            </a:r>
          </a:p>
          <a:p>
            <a:pPr>
              <a:lnSpc>
                <a:spcPct val="125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형사처벌 가능성을 추가하는 것과 실제로 범죄가 감소하는 것은 서로 다른 문제다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14" name="AC14"/>
          <p:cNvSpPr/>
          <p:nvPr/>
        </p:nvSpPr>
        <p:spPr>
          <a:xfrm>
            <a:off x="6661150" y="2611389"/>
            <a:ext cx="4796282" cy="1046941"/>
          </a:xfrm>
          <a:prstGeom prst="rect">
            <a:avLst/>
          </a:prstGeom>
          <a:noFill/>
          <a:ln/>
        </p:spPr>
        <p:txBody>
          <a:bodyPr wrap="square" lIns="0" tIns="0" rIns="0" bIns="0" rtlCol="0" anchor="t"/>
          <a:lstStyle/>
          <a:p>
            <a:pPr>
              <a:lnSpc>
                <a:spcPct val="118000"/>
              </a:lnSpc>
              <a:spcAft>
                <a:spcPts val="400"/>
              </a:spcAft>
            </a:pPr>
            <a:r>
              <a:rPr lang="ko-KR" altLang="en-US" sz="1200" b="1" dirty="0">
                <a:solidFill>
                  <a:srgbClr val="222633"/>
                </a:solidFill>
                <a:latin typeface="Pretendard" pitchFamily="34" charset="0"/>
                <a:ea typeface="Pretendard" pitchFamily="34" charset="-122"/>
                <a:cs typeface="Pretendard" pitchFamily="34" charset="-120"/>
              </a:rPr>
              <a:t>처벌 가능성의 고지가 범행 억제에</a:t>
            </a:r>
            <a:r>
              <a:rPr lang="en-US" altLang="ko-KR" sz="1200" b="1" dirty="0">
                <a:solidFill>
                  <a:srgbClr val="222633"/>
                </a:solidFill>
                <a:latin typeface="Pretendard" pitchFamily="34" charset="0"/>
                <a:ea typeface="Pretendard" pitchFamily="34" charset="-122"/>
                <a:cs typeface="Pretendard" pitchFamily="34" charset="-120"/>
              </a:rPr>
              <a:t>, </a:t>
            </a:r>
            <a:r>
              <a:rPr lang="ko-KR" altLang="en-US" sz="1200" b="1" dirty="0">
                <a:solidFill>
                  <a:srgbClr val="222633"/>
                </a:solidFill>
                <a:latin typeface="Pretendard" pitchFamily="34" charset="0"/>
                <a:ea typeface="Pretendard" pitchFamily="34" charset="-122"/>
                <a:cs typeface="Pretendard" pitchFamily="34" charset="-120"/>
              </a:rPr>
              <a:t>사건별 제재</a:t>
            </a:r>
            <a:r>
              <a:rPr lang="en-US" altLang="ko-KR" sz="1200" b="1" dirty="0">
                <a:solidFill>
                  <a:srgbClr val="222633"/>
                </a:solidFill>
                <a:latin typeface="Pretendard" pitchFamily="34" charset="0"/>
                <a:ea typeface="Pretendard" pitchFamily="34" charset="-122"/>
                <a:cs typeface="Pretendard" pitchFamily="34" charset="-120"/>
              </a:rPr>
              <a:t>·</a:t>
            </a:r>
            <a:r>
              <a:rPr lang="ko-KR" altLang="en-US" sz="1200" b="1" dirty="0">
                <a:solidFill>
                  <a:srgbClr val="222633"/>
                </a:solidFill>
                <a:latin typeface="Pretendard" pitchFamily="34" charset="0"/>
                <a:ea typeface="Pretendard" pitchFamily="34" charset="-122"/>
                <a:cs typeface="Pretendard" pitchFamily="34" charset="-120"/>
              </a:rPr>
              <a:t>개입이 재범방지에 기여할 수 있다 </a:t>
            </a:r>
            <a:endParaRPr lang="en-US" altLang="ko-KR" sz="1200" b="1" dirty="0">
              <a:solidFill>
                <a:srgbClr val="222633"/>
              </a:solidFill>
              <a:latin typeface="Pretendard" pitchFamily="34" charset="0"/>
              <a:ea typeface="Pretendard" pitchFamily="34" charset="-122"/>
              <a:cs typeface="Pretendard" pitchFamily="34" charset="-120"/>
            </a:endParaRPr>
          </a:p>
          <a:p>
            <a:pPr>
              <a:lnSpc>
                <a:spcPct val="118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처벌 가능성을 예상한 소년이 범행을 피하는 억제효과와</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반복행위가 있는 소년에게 사건별 제재</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개입을 적용하는 재범방지 효과가 존재한다</a:t>
            </a:r>
            <a:r>
              <a:rPr lang="en-US" altLang="ko-KR" sz="1150" dirty="0">
                <a:solidFill>
                  <a:srgbClr val="464D5C"/>
                </a:solidFill>
                <a:latin typeface="Pretendard" pitchFamily="34" charset="0"/>
                <a:ea typeface="Pretendard" pitchFamily="34" charset="-122"/>
                <a:cs typeface="Pretendard" pitchFamily="34" charset="-120"/>
              </a:rPr>
              <a:t>.</a:t>
            </a:r>
          </a:p>
          <a:p>
            <a:pPr>
              <a:lnSpc>
                <a:spcPct val="118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국가별로 책임연령 아래의 처리체계가 달라</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같은 연구 결과를 단정할 수는 없다</a:t>
            </a:r>
            <a:endParaRPr lang="en-US" altLang="ko-KR" sz="1150" dirty="0">
              <a:solidFill>
                <a:srgbClr val="464D5C"/>
              </a:solidFill>
              <a:latin typeface="Pretendard" pitchFamily="34" charset="0"/>
              <a:ea typeface="Pretendard" pitchFamily="34" charset="-122"/>
              <a:cs typeface="Pretendard" pitchFamily="34" charset="-120"/>
            </a:endParaRPr>
          </a:p>
        </p:txBody>
      </p:sp>
      <p:sp>
        <p:nvSpPr>
          <p:cNvPr id="15" name="AH15"/>
          <p:cNvSpPr/>
          <p:nvPr/>
        </p:nvSpPr>
        <p:spPr>
          <a:xfrm>
            <a:off x="731520" y="2516642"/>
            <a:ext cx="1008380" cy="1141689"/>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범죄예방 효과</a:t>
            </a:r>
          </a:p>
        </p:txBody>
      </p:sp>
      <p:sp>
        <p:nvSpPr>
          <p:cNvPr id="16" name="RL16"/>
          <p:cNvSpPr/>
          <p:nvPr/>
        </p:nvSpPr>
        <p:spPr>
          <a:xfrm>
            <a:off x="731520" y="3681192"/>
            <a:ext cx="10725912" cy="0"/>
          </a:xfrm>
          <a:prstGeom prst="line">
            <a:avLst/>
          </a:prstGeom>
          <a:ln w="9525">
            <a:solidFill>
              <a:srgbClr val="DCE0E8"/>
            </a:solidFill>
          </a:ln>
        </p:spPr>
        <p:txBody>
          <a:bodyPr/>
          <a:lstStyle/>
          <a:p>
            <a:endParaRPr lang="ko-KR"/>
          </a:p>
        </p:txBody>
      </p:sp>
      <p:sp>
        <p:nvSpPr>
          <p:cNvPr id="17" name="AC17"/>
          <p:cNvSpPr/>
          <p:nvPr/>
        </p:nvSpPr>
        <p:spPr>
          <a:xfrm>
            <a:off x="1920240" y="3772129"/>
            <a:ext cx="4626864" cy="1165250"/>
          </a:xfrm>
          <a:prstGeom prst="rect">
            <a:avLst/>
          </a:prstGeom>
          <a:noFill/>
          <a:ln/>
        </p:spPr>
        <p:txBody>
          <a:bodyPr wrap="square" lIns="0" tIns="0" rIns="0" bIns="0" rtlCol="0" anchor="t"/>
          <a:lstStyle/>
          <a:p>
            <a:pPr>
              <a:lnSpc>
                <a:spcPct val="118000"/>
              </a:lnSpc>
              <a:spcAft>
                <a:spcPts val="400"/>
              </a:spcAft>
            </a:pPr>
            <a:r>
              <a:rPr lang="en-US" altLang="ko-KR" sz="1200" b="1" dirty="0">
                <a:solidFill>
                  <a:srgbClr val="222633"/>
                </a:solidFill>
                <a:latin typeface="Pretendard" pitchFamily="34" charset="0"/>
                <a:ea typeface="Pretendard" pitchFamily="34" charset="-122"/>
                <a:cs typeface="Pretendard" pitchFamily="34" charset="-120"/>
              </a:rPr>
              <a:t>13</a:t>
            </a:r>
            <a:r>
              <a:rPr lang="ko-KR" altLang="en-US" sz="1200" b="1" dirty="0">
                <a:solidFill>
                  <a:srgbClr val="222633"/>
                </a:solidFill>
                <a:latin typeface="Pretendard" pitchFamily="34" charset="0"/>
                <a:ea typeface="Pretendard" pitchFamily="34" charset="-122"/>
                <a:cs typeface="Pretendard" pitchFamily="34" charset="-120"/>
              </a:rPr>
              <a:t>세를 형사절차에 편입하면 수사</a:t>
            </a:r>
            <a:r>
              <a:rPr lang="en-US" altLang="ko-KR" sz="1200" b="1" dirty="0">
                <a:solidFill>
                  <a:srgbClr val="222633"/>
                </a:solidFill>
                <a:latin typeface="Pretendard" pitchFamily="34" charset="0"/>
                <a:ea typeface="Pretendard" pitchFamily="34" charset="-122"/>
                <a:cs typeface="Pretendard" pitchFamily="34" charset="-120"/>
              </a:rPr>
              <a:t>·</a:t>
            </a:r>
            <a:r>
              <a:rPr lang="ko-KR" altLang="en-US" sz="1200" b="1" dirty="0">
                <a:solidFill>
                  <a:srgbClr val="222633"/>
                </a:solidFill>
                <a:latin typeface="Pretendard" pitchFamily="34" charset="0"/>
                <a:ea typeface="Pretendard" pitchFamily="34" charset="-122"/>
                <a:cs typeface="Pretendard" pitchFamily="34" charset="-120"/>
              </a:rPr>
              <a:t>재판 참여와 형사처리에 따른 추가 부담이 생긴다</a:t>
            </a:r>
            <a:r>
              <a:rPr lang="en-US" altLang="ko-KR" sz="1200" b="1" dirty="0">
                <a:solidFill>
                  <a:srgbClr val="222633"/>
                </a:solidFill>
                <a:latin typeface="Pretendard" pitchFamily="34" charset="0"/>
                <a:ea typeface="Pretendard" pitchFamily="34" charset="-122"/>
                <a:cs typeface="Pretendard" pitchFamily="34" charset="-120"/>
              </a:rPr>
              <a:t>.</a:t>
            </a:r>
          </a:p>
          <a:p>
            <a:pPr>
              <a:lnSpc>
                <a:spcPct val="118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연령별 재판참여능력을 측정한 연구에서는 어린 연령집단에서 절차 이해</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추론의 어려움이 더 크게 나타났다</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따라서</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절차를 이해하고 참여할 수 있는지, 기록과 사회복귀 부담을 어떻게 다룰지 함께 판단한다.</a:t>
            </a:r>
          </a:p>
        </p:txBody>
      </p:sp>
      <p:sp>
        <p:nvSpPr>
          <p:cNvPr id="18" name="AC18"/>
          <p:cNvSpPr/>
          <p:nvPr/>
        </p:nvSpPr>
        <p:spPr>
          <a:xfrm>
            <a:off x="6661150" y="3753078"/>
            <a:ext cx="4796282" cy="1324005"/>
          </a:xfrm>
          <a:prstGeom prst="rect">
            <a:avLst/>
          </a:prstGeom>
          <a:noFill/>
          <a:ln/>
        </p:spPr>
        <p:txBody>
          <a:bodyPr wrap="square" lIns="0" tIns="0" rIns="0" bIns="0" rtlCol="0" anchor="t"/>
          <a:lstStyle/>
          <a:p>
            <a:pPr>
              <a:lnSpc>
                <a:spcPct val="118000"/>
              </a:lnSpc>
              <a:spcAft>
                <a:spcPts val="400"/>
              </a:spcAft>
            </a:pPr>
            <a:r>
              <a:rPr lang="en-US" altLang="ko-KR" sz="1200" b="1" dirty="0">
                <a:solidFill>
                  <a:srgbClr val="222633"/>
                </a:solidFill>
                <a:latin typeface="Pretendard" pitchFamily="34" charset="0"/>
                <a:ea typeface="Pretendard" pitchFamily="34" charset="-122"/>
                <a:cs typeface="Pretendard" pitchFamily="34" charset="-120"/>
              </a:rPr>
              <a:t>13</a:t>
            </a:r>
            <a:r>
              <a:rPr lang="ko-KR" altLang="en-US" sz="1200" b="1" dirty="0">
                <a:solidFill>
                  <a:srgbClr val="222633"/>
                </a:solidFill>
                <a:latin typeface="Pretendard" pitchFamily="34" charset="0"/>
                <a:ea typeface="Pretendard" pitchFamily="34" charset="-122"/>
                <a:cs typeface="Pretendard" pitchFamily="34" charset="-120"/>
              </a:rPr>
              <a:t>세를 형사책임 연령에 포함해도 모든 사건을 기소하거나 성인과 동일하게 처리할 필요는 없다</a:t>
            </a:r>
            <a:r>
              <a:rPr lang="en-US" altLang="ko-KR" sz="1200" b="1" dirty="0">
                <a:solidFill>
                  <a:srgbClr val="222633"/>
                </a:solidFill>
                <a:latin typeface="Pretendard" pitchFamily="34" charset="0"/>
                <a:ea typeface="Pretendard" pitchFamily="34" charset="-122"/>
                <a:cs typeface="Pretendard" pitchFamily="34" charset="-120"/>
              </a:rPr>
              <a:t>.</a:t>
            </a:r>
          </a:p>
          <a:p>
            <a:pPr>
              <a:lnSpc>
                <a:spcPct val="100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검찰 단계에서는 불기소</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소년부 송치</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기소 등으로 처분이 나뉘고</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형사법원에서도 사건을 소년부로 송치할 수 있다</a:t>
            </a:r>
            <a:r>
              <a:rPr lang="en-US" altLang="ko-KR" sz="1150" dirty="0">
                <a:solidFill>
                  <a:srgbClr val="464D5C"/>
                </a:solidFill>
                <a:latin typeface="Pretendard" pitchFamily="34" charset="0"/>
                <a:ea typeface="Pretendard" pitchFamily="34" charset="-122"/>
                <a:cs typeface="Pretendard" pitchFamily="34" charset="-120"/>
              </a:rPr>
              <a:t>.</a:t>
            </a:r>
          </a:p>
          <a:p>
            <a:pPr>
              <a:lnSpc>
                <a:spcPct val="100000"/>
              </a:lnSpc>
              <a:spcAft>
                <a:spcPts val="400"/>
              </a:spcAft>
            </a:pPr>
            <a:r>
              <a:rPr lang="ko-KR" altLang="en-US" sz="1150" dirty="0">
                <a:solidFill>
                  <a:srgbClr val="464D5C"/>
                </a:solidFill>
                <a:latin typeface="Pretendard" pitchFamily="34" charset="0"/>
                <a:ea typeface="Pretendard" pitchFamily="34" charset="-122"/>
                <a:cs typeface="Pretendard" pitchFamily="34" charset="-120"/>
              </a:rPr>
              <a:t>소년형사사건에는 구속</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재판</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형 선고</a:t>
            </a:r>
            <a:r>
              <a:rPr lang="en-US" altLang="ko-KR" sz="1150" dirty="0">
                <a:solidFill>
                  <a:srgbClr val="464D5C"/>
                </a:solidFill>
                <a:latin typeface="Pretendard" pitchFamily="34" charset="0"/>
                <a:ea typeface="Pretendard" pitchFamily="34" charset="-122"/>
                <a:cs typeface="Pretendard" pitchFamily="34" charset="-120"/>
              </a:rPr>
              <a:t>·</a:t>
            </a:r>
            <a:r>
              <a:rPr lang="ko-KR" altLang="en-US" sz="1150" dirty="0">
                <a:solidFill>
                  <a:srgbClr val="464D5C"/>
                </a:solidFill>
                <a:latin typeface="Pretendard" pitchFamily="34" charset="0"/>
                <a:ea typeface="Pretendard" pitchFamily="34" charset="-122"/>
                <a:cs typeface="Pretendard" pitchFamily="34" charset="-120"/>
              </a:rPr>
              <a:t>형 집행 등에서 소년의 특성을 고려한 별도의 특례가 있다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19" name="AH19"/>
          <p:cNvSpPr/>
          <p:nvPr/>
        </p:nvSpPr>
        <p:spPr>
          <a:xfrm>
            <a:off x="731520" y="3658332"/>
            <a:ext cx="951230" cy="1373033"/>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절차·보호</a:t>
            </a:r>
          </a:p>
        </p:txBody>
      </p:sp>
      <p:sp>
        <p:nvSpPr>
          <p:cNvPr id="21" name="CM"/>
          <p:cNvSpPr/>
          <p:nvPr/>
        </p:nvSpPr>
        <p:spPr>
          <a:xfrm>
            <a:off x="6661150" y="5095057"/>
            <a:ext cx="4577080" cy="755830"/>
          </a:xfrm>
          <a:prstGeom prst="rect">
            <a:avLst/>
          </a:prstGeom>
          <a:noFill/>
          <a:ln/>
        </p:spPr>
        <p:txBody>
          <a:bodyPr wrap="square" lIns="0" tIns="0" rIns="0" bIns="0" rtlCol="0" anchor="t"/>
          <a:lstStyle/>
          <a:p>
            <a:pPr>
              <a:lnSpc>
                <a:spcPct val="118000"/>
              </a:lnSpc>
              <a:spcAft>
                <a:spcPts val="400"/>
              </a:spcAft>
            </a:pPr>
            <a:r>
              <a:rPr lang="en-US" altLang="ko-KR" sz="1200" b="1" dirty="0">
                <a:solidFill>
                  <a:srgbClr val="002060"/>
                </a:solidFill>
                <a:latin typeface="Pretendard" pitchFamily="34" charset="0"/>
                <a:ea typeface="Pretendard" pitchFamily="34" charset="-122"/>
                <a:cs typeface="Pretendard" pitchFamily="34" charset="-120"/>
              </a:rPr>
              <a:t>2025</a:t>
            </a:r>
            <a:r>
              <a:rPr lang="ko-KR" altLang="en-US" sz="1200" b="1" dirty="0">
                <a:solidFill>
                  <a:srgbClr val="002060"/>
                </a:solidFill>
                <a:latin typeface="Pretendard" pitchFamily="34" charset="0"/>
                <a:ea typeface="Pretendard" pitchFamily="34" charset="-122"/>
                <a:cs typeface="Pretendard" pitchFamily="34" charset="-120"/>
              </a:rPr>
              <a:t>년 </a:t>
            </a:r>
            <a:r>
              <a:rPr lang="en-US" altLang="ko-KR" sz="1200" b="1" dirty="0">
                <a:solidFill>
                  <a:srgbClr val="002060"/>
                </a:solidFill>
                <a:latin typeface="Pretendard" pitchFamily="34" charset="0"/>
                <a:ea typeface="Pretendard" pitchFamily="34" charset="-122"/>
                <a:cs typeface="Pretendard" pitchFamily="34" charset="-120"/>
              </a:rPr>
              <a:t>14~18</a:t>
            </a:r>
            <a:r>
              <a:rPr lang="ko-KR" altLang="en-US" sz="1200" b="1" dirty="0">
                <a:solidFill>
                  <a:srgbClr val="002060"/>
                </a:solidFill>
                <a:latin typeface="Pretendard" pitchFamily="34" charset="0"/>
                <a:ea typeface="Pretendard" pitchFamily="34" charset="-122"/>
                <a:cs typeface="Pretendard" pitchFamily="34" charset="-120"/>
              </a:rPr>
              <a:t>세 범죄소년의 검찰 처분결과를 보면</a:t>
            </a:r>
            <a:r>
              <a:rPr lang="en-US" altLang="ko-KR" sz="1200" b="1" dirty="0">
                <a:solidFill>
                  <a:srgbClr val="002060"/>
                </a:solidFill>
                <a:latin typeface="Pretendard" pitchFamily="34" charset="0"/>
                <a:ea typeface="Pretendard" pitchFamily="34" charset="-122"/>
                <a:cs typeface="Pretendard" pitchFamily="34" charset="-120"/>
              </a:rPr>
              <a:t>, </a:t>
            </a:r>
            <a:r>
              <a:rPr lang="ko-KR" altLang="en-US" sz="1200" b="1" dirty="0">
                <a:solidFill>
                  <a:srgbClr val="002060"/>
                </a:solidFill>
                <a:latin typeface="Pretendard" pitchFamily="34" charset="0"/>
                <a:ea typeface="Pretendard" pitchFamily="34" charset="-122"/>
                <a:cs typeface="Pretendard" pitchFamily="34" charset="-120"/>
              </a:rPr>
              <a:t>소년부 송치는 </a:t>
            </a:r>
            <a:r>
              <a:rPr lang="en-US" altLang="ko-KR" sz="1200" b="1" dirty="0">
                <a:solidFill>
                  <a:srgbClr val="002060"/>
                </a:solidFill>
                <a:latin typeface="Pretendard" pitchFamily="34" charset="0"/>
                <a:ea typeface="Pretendard" pitchFamily="34" charset="-122"/>
                <a:cs typeface="Pretendard" pitchFamily="34" charset="-120"/>
              </a:rPr>
              <a:t>42.7%</a:t>
            </a:r>
            <a:r>
              <a:rPr lang="ko-KR" altLang="en-US" sz="1200" b="1" dirty="0">
                <a:solidFill>
                  <a:srgbClr val="002060"/>
                </a:solidFill>
                <a:latin typeface="Pretendard" pitchFamily="34" charset="0"/>
                <a:ea typeface="Pretendard" pitchFamily="34" charset="-122"/>
                <a:cs typeface="Pretendard" pitchFamily="34" charset="-120"/>
              </a:rPr>
              <a:t>였고 기소는 </a:t>
            </a:r>
            <a:r>
              <a:rPr lang="en-US" altLang="ko-KR" sz="1200" b="1" dirty="0">
                <a:solidFill>
                  <a:srgbClr val="002060"/>
                </a:solidFill>
                <a:latin typeface="Pretendard" pitchFamily="34" charset="0"/>
                <a:ea typeface="Pretendard" pitchFamily="34" charset="-122"/>
                <a:cs typeface="Pretendard" pitchFamily="34" charset="-120"/>
              </a:rPr>
              <a:t>7.2%</a:t>
            </a:r>
            <a:r>
              <a:rPr lang="ko-KR" altLang="en-US" sz="1200" b="1" dirty="0">
                <a:solidFill>
                  <a:srgbClr val="002060"/>
                </a:solidFill>
                <a:latin typeface="Pretendard" pitchFamily="34" charset="0"/>
                <a:ea typeface="Pretendard" pitchFamily="34" charset="-122"/>
                <a:cs typeface="Pretendard" pitchFamily="34" charset="-120"/>
              </a:rPr>
              <a:t>에 불과했다</a:t>
            </a:r>
            <a:r>
              <a:rPr lang="en-US" altLang="ko-KR" sz="1200" b="1" dirty="0">
                <a:solidFill>
                  <a:srgbClr val="002060"/>
                </a:solidFill>
                <a:latin typeface="Pretendard" pitchFamily="34" charset="0"/>
                <a:ea typeface="Pretendard" pitchFamily="34" charset="-122"/>
                <a:cs typeface="Pretendard" pitchFamily="34" charset="-120"/>
              </a:rPr>
              <a:t>. </a:t>
            </a:r>
            <a:r>
              <a:rPr lang="ko-KR" altLang="en-US" sz="1200" b="1" dirty="0">
                <a:solidFill>
                  <a:srgbClr val="002060"/>
                </a:solidFill>
                <a:latin typeface="Pretendard" pitchFamily="34" charset="0"/>
                <a:ea typeface="Pretendard" pitchFamily="34" charset="-122"/>
                <a:cs typeface="Pretendard" pitchFamily="34" charset="-120"/>
              </a:rPr>
              <a:t>즉 형사책임연령에 포함된다고 모든 사건이 형사재판으로 이어지는 구조는 아니다</a:t>
            </a:r>
            <a:r>
              <a:rPr lang="en-US" altLang="ko-KR" sz="1200" b="1" dirty="0">
                <a:solidFill>
                  <a:srgbClr val="002060"/>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다만 이는 현행 </a:t>
            </a:r>
            <a:r>
              <a:rPr lang="en-US" altLang="ko-KR" sz="1150" dirty="0">
                <a:solidFill>
                  <a:srgbClr val="464D5C"/>
                </a:solidFill>
                <a:latin typeface="Pretendard" pitchFamily="34" charset="0"/>
                <a:ea typeface="Pretendard" pitchFamily="34" charset="-122"/>
                <a:cs typeface="Pretendard" pitchFamily="34" charset="-120"/>
              </a:rPr>
              <a:t>14~18</a:t>
            </a:r>
            <a:r>
              <a:rPr lang="ko-KR" altLang="en-US" sz="1150" dirty="0">
                <a:solidFill>
                  <a:srgbClr val="464D5C"/>
                </a:solidFill>
                <a:latin typeface="Pretendard" pitchFamily="34" charset="0"/>
                <a:ea typeface="Pretendard" pitchFamily="34" charset="-122"/>
                <a:cs typeface="Pretendard" pitchFamily="34" charset="-120"/>
              </a:rPr>
              <a:t>세의 처분결과로</a:t>
            </a:r>
            <a:r>
              <a:rPr lang="en-US" altLang="ko-KR" sz="1150" dirty="0">
                <a:solidFill>
                  <a:srgbClr val="464D5C"/>
                </a:solidFill>
                <a:latin typeface="Pretendard" pitchFamily="34" charset="0"/>
                <a:ea typeface="Pretendard" pitchFamily="34" charset="-122"/>
                <a:cs typeface="Pretendard" pitchFamily="34" charset="-120"/>
              </a:rPr>
              <a:t>, </a:t>
            </a:r>
            <a:r>
              <a:rPr lang="ko-KR" altLang="en-US" sz="1150" dirty="0">
                <a:solidFill>
                  <a:srgbClr val="464D5C"/>
                </a:solidFill>
                <a:latin typeface="Pretendard" pitchFamily="34" charset="0"/>
                <a:ea typeface="Pretendard" pitchFamily="34" charset="-122"/>
                <a:cs typeface="Pretendard" pitchFamily="34" charset="-120"/>
              </a:rPr>
              <a:t>하향 뒤 </a:t>
            </a:r>
            <a:r>
              <a:rPr lang="en-US" altLang="ko-KR" sz="1150" dirty="0">
                <a:solidFill>
                  <a:srgbClr val="464D5C"/>
                </a:solidFill>
                <a:latin typeface="Pretendard" pitchFamily="34" charset="0"/>
                <a:ea typeface="Pretendard" pitchFamily="34" charset="-122"/>
                <a:cs typeface="Pretendard" pitchFamily="34" charset="-120"/>
              </a:rPr>
              <a:t>13</a:t>
            </a:r>
            <a:r>
              <a:rPr lang="ko-KR" altLang="en-US" sz="1150" dirty="0">
                <a:solidFill>
                  <a:srgbClr val="464D5C"/>
                </a:solidFill>
                <a:latin typeface="Pretendard" pitchFamily="34" charset="0"/>
                <a:ea typeface="Pretendard" pitchFamily="34" charset="-122"/>
                <a:cs typeface="Pretendard" pitchFamily="34" charset="-120"/>
              </a:rPr>
              <a:t>세의 처분비율로 해석해서는 안된다</a:t>
            </a:r>
            <a:r>
              <a:rPr lang="en-US" altLang="ko-KR" sz="1150" dirty="0">
                <a:solidFill>
                  <a:srgbClr val="464D5C"/>
                </a:solidFill>
                <a:latin typeface="Pretendard" pitchFamily="34" charset="0"/>
                <a:ea typeface="Pretendard" pitchFamily="34" charset="-122"/>
                <a:cs typeface="Pretendard" pitchFamily="34" charset="-120"/>
              </a:rPr>
              <a:t>.</a:t>
            </a:r>
            <a:endParaRPr lang="ko-KR" altLang="en-US" sz="1150" dirty="0">
              <a:solidFill>
                <a:srgbClr val="464D5C"/>
              </a:solidFill>
              <a:latin typeface="Pretendard" pitchFamily="34" charset="0"/>
              <a:ea typeface="Pretendard" pitchFamily="34" charset="-122"/>
              <a:cs typeface="Pretendard" pitchFamily="34" charset="-120"/>
            </a:endParaRPr>
          </a:p>
        </p:txBody>
      </p:sp>
      <p:sp>
        <p:nvSpPr>
          <p:cNvPr id="25"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강의용 논거 재구성 · Damm 외(2025) · Grisso 외(2003) · 소년법 제49조·제50조·제55조·제58~67조 · 2025년 14~18세 범죄소년 검찰 처분자료</a:t>
            </a:r>
          </a:p>
        </p:txBody>
      </p:sp>
      <p:sp>
        <p:nvSpPr>
          <p:cNvPr id="27" name="RULE">
            <a:extLst>
              <a:ext uri="{FF2B5EF4-FFF2-40B4-BE49-F238E27FC236}">
                <a16:creationId xmlns:a16="http://schemas.microsoft.com/office/drawing/2014/main" id="{E27A5A1E-4B0A-97E6-B2E7-70CACD9142D7}"/>
              </a:ext>
            </a:extLst>
          </p:cNvPr>
          <p:cNvSpPr/>
          <p:nvPr/>
        </p:nvSpPr>
        <p:spPr>
          <a:xfrm>
            <a:off x="640080" y="6089650"/>
            <a:ext cx="10725912" cy="0"/>
          </a:xfrm>
          <a:prstGeom prst="line">
            <a:avLst/>
          </a:prstGeom>
          <a:ln w="19050">
            <a:solidFill>
              <a:srgbClr val="1E2761"/>
            </a:solidFill>
          </a:ln>
        </p:spPr>
        <p:txBody>
          <a:bodyPr/>
          <a:lstStyle/>
          <a:p>
            <a:endParaRPr lang="ko-K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731520" y="365760"/>
            <a:ext cx="5212080" cy="292608"/>
          </a:xfrm>
          <a:prstGeom prst="rect">
            <a:avLst/>
          </a:prstGeom>
          <a:noFill/>
          <a:ln/>
        </p:spPr>
        <p:txBody>
          <a:bodyPr wrap="square" lIns="0" tIns="0" rIns="0" bIns="0" rtlCol="0" anchor="ctr"/>
          <a:lstStyle/>
          <a:p>
            <a:pPr marL="0" indent="0">
              <a:lnSpc>
                <a:spcPct val="118000"/>
              </a:lnSpc>
              <a:buNone/>
            </a:pPr>
            <a:r>
              <a:rPr lang="ko-KR" altLang="en-US" sz="1250" b="1" spc="200" dirty="0">
                <a:solidFill>
                  <a:srgbClr val="464D5C"/>
                </a:solidFill>
                <a:latin typeface="Pretendard" pitchFamily="34" charset="0"/>
                <a:ea typeface="Pretendard" pitchFamily="34" charset="-122"/>
                <a:cs typeface="Pretendard" pitchFamily="34" charset="-120"/>
              </a:rPr>
              <a:t>주요 논거와 최종 판단</a:t>
            </a:r>
          </a:p>
        </p:txBody>
      </p:sp>
      <p:sp>
        <p:nvSpPr>
          <p:cNvPr id="3" name="NEXT"/>
          <p:cNvSpPr/>
          <p:nvPr/>
        </p:nvSpPr>
        <p:spPr>
          <a:xfrm>
            <a:off x="6035040" y="384048"/>
            <a:ext cx="5422392" cy="256032"/>
          </a:xfrm>
          <a:prstGeom prst="rect">
            <a:avLst/>
          </a:prstGeom>
          <a:noFill/>
          <a:ln/>
        </p:spPr>
        <p:txBody>
          <a:bodyPr wrap="square" lIns="0" tIns="0" rIns="0" bIns="0" rtlCol="0" anchor="ctr"/>
          <a:lstStyle/>
          <a:p>
            <a:pPr marL="0" indent="0" algn="r">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다음 → 이번 주 할 일 · 다음 주</a:t>
            </a:r>
          </a:p>
        </p:txBody>
      </p:sp>
      <p:sp>
        <p:nvSpPr>
          <p:cNvPr id="4" name="TITLE"/>
          <p:cNvSpPr/>
          <p:nvPr/>
        </p:nvSpPr>
        <p:spPr>
          <a:xfrm>
            <a:off x="731520" y="640080"/>
            <a:ext cx="10725912" cy="640080"/>
          </a:xfrm>
          <a:prstGeom prst="rect">
            <a:avLst/>
          </a:prstGeom>
          <a:noFill/>
          <a:ln/>
        </p:spPr>
        <p:txBody>
          <a:bodyPr wrap="square" lIns="0" tIns="0" rIns="0" bIns="0" rtlCol="0" anchor="ctr"/>
          <a:lstStyle/>
          <a:p>
            <a:pPr marL="0" indent="0">
              <a:lnSpc>
                <a:spcPct val="118000"/>
              </a:lnSpc>
              <a:buNone/>
            </a:pPr>
            <a:r>
              <a:rPr lang="ko-KR" altLang="en-US" sz="2750" b="1" dirty="0">
                <a:solidFill>
                  <a:srgbClr val="1E2761"/>
                </a:solidFill>
                <a:latin typeface="Pretendard" pitchFamily="34" charset="0"/>
                <a:ea typeface="Pretendard" pitchFamily="34" charset="-122"/>
                <a:cs typeface="Pretendard" pitchFamily="34" charset="-120"/>
              </a:rPr>
              <a:t>연령 하향을 판단하는 네 물음</a:t>
            </a:r>
          </a:p>
        </p:txBody>
      </p:sp>
      <p:sp>
        <p:nvSpPr>
          <p:cNvPr id="5" name="RULE"/>
          <p:cNvSpPr/>
          <p:nvPr/>
        </p:nvSpPr>
        <p:spPr>
          <a:xfrm>
            <a:off x="731520" y="1389888"/>
            <a:ext cx="10725912" cy="0"/>
          </a:xfrm>
          <a:prstGeom prst="line">
            <a:avLst/>
          </a:prstGeom>
          <a:ln w="19050">
            <a:solidFill>
              <a:srgbClr val="1E2761"/>
            </a:solidFill>
          </a:ln>
        </p:spPr>
        <p:txBody>
          <a:bodyPr/>
          <a:lstStyle/>
          <a:p>
            <a:endParaRPr lang="ko-KR"/>
          </a:p>
        </p:txBody>
      </p:sp>
      <p:sp>
        <p:nvSpPr>
          <p:cNvPr id="6" name="BASEBG"/>
          <p:cNvSpPr/>
          <p:nvPr/>
        </p:nvSpPr>
        <p:spPr>
          <a:xfrm>
            <a:off x="731520" y="1527048"/>
            <a:ext cx="10725912" cy="1073963"/>
          </a:xfrm>
          <a:prstGeom prst="rect">
            <a:avLst/>
          </a:prstGeom>
          <a:solidFill>
            <a:srgbClr val="F2F4F8"/>
          </a:solidFill>
          <a:ln/>
        </p:spPr>
        <p:txBody>
          <a:bodyPr/>
          <a:lstStyle/>
          <a:p>
            <a:endParaRPr lang="ko-KR" altLang="en-US"/>
          </a:p>
        </p:txBody>
      </p:sp>
      <p:sp>
        <p:nvSpPr>
          <p:cNvPr id="7" name="BASETX"/>
          <p:cNvSpPr/>
          <p:nvPr/>
        </p:nvSpPr>
        <p:spPr>
          <a:xfrm>
            <a:off x="969264" y="1568196"/>
            <a:ext cx="10204704" cy="927659"/>
          </a:xfrm>
          <a:prstGeom prst="rect">
            <a:avLst/>
          </a:prstGeom>
          <a:noFill/>
          <a:ln/>
        </p:spPr>
        <p:txBody>
          <a:bodyPr wrap="square" lIns="0" tIns="0" rIns="0" bIns="0" rtlCol="0" anchor="t"/>
          <a:lstStyle/>
          <a:p>
            <a:pPr marL="0" indent="0">
              <a:lnSpc>
                <a:spcPct val="118000"/>
              </a:lnSpc>
              <a:spcAft>
                <a:spcPts val="400"/>
              </a:spcAft>
              <a:buNone/>
            </a:pPr>
            <a:r>
              <a:rPr lang="ko-KR" altLang="en-US" sz="1200" b="1" dirty="0">
                <a:solidFill>
                  <a:srgbClr val="1E2761"/>
                </a:solidFill>
                <a:latin typeface="Pretendard" pitchFamily="34" charset="0"/>
                <a:ea typeface="Pretendard" pitchFamily="34" charset="-122"/>
                <a:cs typeface="Pretendard" pitchFamily="34" charset="-120"/>
              </a:rPr>
              <a:t>공통으로 확인한 기준선</a:t>
            </a:r>
          </a:p>
          <a:p>
            <a:pPr marL="0" indent="0">
              <a:lnSpc>
                <a:spcPct val="118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13세의 저촉행위는 현재도 소년보호사건으로 다루며 상당한 보호처분이 가능하다.</a:t>
            </a:r>
          </a:p>
          <a:p>
            <a:pPr marL="0" indent="0">
              <a:lnSpc>
                <a:spcPct val="118000"/>
              </a:lnSpc>
              <a:spcAft>
                <a:spcPts val="300"/>
              </a:spcAft>
              <a:buNone/>
            </a:pPr>
            <a:r>
              <a:rPr lang="ko-KR" altLang="en-US" sz="1150" dirty="0">
                <a:solidFill>
                  <a:srgbClr val="464D5C"/>
                </a:solidFill>
                <a:latin typeface="Pretendard" pitchFamily="34" charset="0"/>
                <a:ea typeface="Pretendard" pitchFamily="34" charset="-122"/>
                <a:cs typeface="Pretendard" pitchFamily="34" charset="-120"/>
              </a:rPr>
              <a:t>연령을 낮추면 형사수사·검찰 처분·형사재판·형 선고 가능성이 추가된다.</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형사책임 가능 연령에 포함되는 것과 실제 기소·형 선고는 별도 판단이다.</a:t>
            </a:r>
          </a:p>
        </p:txBody>
      </p:sp>
      <p:sp>
        <p:nvSpPr>
          <p:cNvPr id="8" name="QR8"/>
          <p:cNvSpPr/>
          <p:nvPr/>
        </p:nvSpPr>
        <p:spPr>
          <a:xfrm>
            <a:off x="731520" y="2692451"/>
            <a:ext cx="10725912" cy="0"/>
          </a:xfrm>
          <a:prstGeom prst="line">
            <a:avLst/>
          </a:prstGeom>
          <a:ln w="9525">
            <a:solidFill>
              <a:srgbClr val="DCE0E8"/>
            </a:solidFill>
          </a:ln>
        </p:spPr>
        <p:txBody>
          <a:bodyPr/>
          <a:lstStyle/>
          <a:p>
            <a:endParaRPr lang="ko-KR"/>
          </a:p>
        </p:txBody>
      </p:sp>
      <p:sp>
        <p:nvSpPr>
          <p:cNvPr id="9" name="QB9"/>
          <p:cNvSpPr/>
          <p:nvPr/>
        </p:nvSpPr>
        <p:spPr>
          <a:xfrm>
            <a:off x="3154680" y="2744277"/>
            <a:ext cx="8302752" cy="482397"/>
          </a:xfrm>
          <a:prstGeom prst="rect">
            <a:avLst/>
          </a:prstGeom>
          <a:noFill/>
          <a:ln/>
        </p:spPr>
        <p:txBody>
          <a:bodyPr wrap="square" lIns="0" tIns="0" rIns="0" bIns="0" rtlCol="0" anchor="t"/>
          <a:lstStyle/>
          <a:p>
            <a:pPr>
              <a:lnSpc>
                <a:spcPct val="118000"/>
              </a:lnSpc>
              <a:spcAft>
                <a:spcPts val="400"/>
              </a:spcAft>
            </a:pPr>
            <a:r>
              <a:rPr lang="en-US" altLang="ko-KR" sz="1250" b="1" dirty="0">
                <a:solidFill>
                  <a:srgbClr val="222633"/>
                </a:solidFill>
                <a:latin typeface="Pretendard" pitchFamily="34" charset="0"/>
                <a:ea typeface="Pretendard" pitchFamily="34" charset="-122"/>
                <a:cs typeface="Pretendard" pitchFamily="34" charset="-120"/>
              </a:rPr>
              <a:t>13</a:t>
            </a:r>
            <a:r>
              <a:rPr lang="ko-KR" altLang="en-US" sz="1250" b="1" dirty="0">
                <a:solidFill>
                  <a:srgbClr val="222633"/>
                </a:solidFill>
                <a:latin typeface="Pretendard" pitchFamily="34" charset="0"/>
                <a:ea typeface="Pretendard" pitchFamily="34" charset="-122"/>
                <a:cs typeface="Pretendard" pitchFamily="34" charset="-120"/>
              </a:rPr>
              <a:t>세를 형사책임 가능 연령에 포함해 형벌로 책임을 묻는 것이 정당한가</a:t>
            </a:r>
            <a:r>
              <a:rPr lang="en-US" altLang="ko-KR" sz="1250" b="1" dirty="0">
                <a:solidFill>
                  <a:srgbClr val="222633"/>
                </a:solidFill>
                <a:latin typeface="Pretendard" pitchFamily="34" charset="0"/>
                <a:ea typeface="Pretendard" pitchFamily="34" charset="-122"/>
                <a:cs typeface="Pretendard" pitchFamily="34" charset="-120"/>
              </a:rPr>
              <a:t>?</a:t>
            </a:r>
            <a:endParaRPr lang="ko-KR" altLang="en-US" sz="1250" b="1" dirty="0">
              <a:solidFill>
                <a:srgbClr val="222633"/>
              </a:solidFill>
              <a:latin typeface="Pretendard" pitchFamily="34" charset="0"/>
              <a:ea typeface="Pretendard" pitchFamily="34" charset="-122"/>
              <a:cs typeface="Pretendard" pitchFamily="34" charset="-120"/>
            </a:endParaRP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범행 당시의 이해·통제능력과 발달 특성, 행위의 중대성, 연령선과 개별평가의 장단점을 함께 판단한다.</a:t>
            </a:r>
          </a:p>
        </p:txBody>
      </p:sp>
      <p:sp>
        <p:nvSpPr>
          <p:cNvPr id="10" name="QH10"/>
          <p:cNvSpPr/>
          <p:nvPr/>
        </p:nvSpPr>
        <p:spPr>
          <a:xfrm>
            <a:off x="969264" y="2669591"/>
            <a:ext cx="2002536" cy="650057"/>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1  책임의 정당성</a:t>
            </a:r>
          </a:p>
        </p:txBody>
      </p:sp>
      <p:sp>
        <p:nvSpPr>
          <p:cNvPr id="11" name="QR11"/>
          <p:cNvSpPr/>
          <p:nvPr/>
        </p:nvSpPr>
        <p:spPr>
          <a:xfrm>
            <a:off x="731520" y="3342508"/>
            <a:ext cx="10725912" cy="0"/>
          </a:xfrm>
          <a:prstGeom prst="line">
            <a:avLst/>
          </a:prstGeom>
          <a:ln w="9525">
            <a:solidFill>
              <a:srgbClr val="DCE0E8"/>
            </a:solidFill>
          </a:ln>
        </p:spPr>
        <p:txBody>
          <a:bodyPr/>
          <a:lstStyle/>
          <a:p>
            <a:endParaRPr lang="ko-KR"/>
          </a:p>
        </p:txBody>
      </p:sp>
      <p:sp>
        <p:nvSpPr>
          <p:cNvPr id="12" name="QB12"/>
          <p:cNvSpPr/>
          <p:nvPr/>
        </p:nvSpPr>
        <p:spPr>
          <a:xfrm>
            <a:off x="3154680" y="3394334"/>
            <a:ext cx="8302752" cy="482397"/>
          </a:xfrm>
          <a:prstGeom prst="rect">
            <a:avLst/>
          </a:prstGeom>
          <a:noFill/>
          <a:ln/>
        </p:spPr>
        <p:txBody>
          <a:bodyPr wrap="square" lIns="0" tIns="0" rIns="0" bIns="0" rtlCol="0" anchor="t"/>
          <a:lstStyle/>
          <a:p>
            <a:pPr>
              <a:lnSpc>
                <a:spcPct val="118000"/>
              </a:lnSpc>
              <a:spcAft>
                <a:spcPts val="400"/>
              </a:spcAft>
            </a:pPr>
            <a:r>
              <a:rPr lang="ko-KR" altLang="en-US" sz="1250" b="1" dirty="0">
                <a:solidFill>
                  <a:srgbClr val="222633"/>
                </a:solidFill>
                <a:latin typeface="Pretendard" pitchFamily="34" charset="0"/>
                <a:ea typeface="Pretendard" pitchFamily="34" charset="-122"/>
                <a:cs typeface="Pretendard" pitchFamily="34" charset="-120"/>
              </a:rPr>
              <a:t>현행 보호처분</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조사</a:t>
            </a:r>
            <a:r>
              <a:rPr lang="en-US" altLang="ko-KR" sz="1250" b="1" dirty="0">
                <a:solidFill>
                  <a:srgbClr val="222633"/>
                </a:solidFill>
                <a:latin typeface="Pretendard" pitchFamily="34" charset="0"/>
                <a:ea typeface="Pretendard" pitchFamily="34" charset="-122"/>
                <a:cs typeface="Pretendard" pitchFamily="34" charset="-120"/>
              </a:rPr>
              <a:t>·</a:t>
            </a:r>
            <a:r>
              <a:rPr lang="ko-KR" altLang="en-US" sz="1250" b="1" dirty="0">
                <a:solidFill>
                  <a:srgbClr val="222633"/>
                </a:solidFill>
                <a:latin typeface="Pretendard" pitchFamily="34" charset="0"/>
                <a:ea typeface="Pretendard" pitchFamily="34" charset="-122"/>
                <a:cs typeface="Pretendard" pitchFamily="34" charset="-120"/>
              </a:rPr>
              <a:t>집행여건을 보완해도 형사책임까지 추가할 필요가 있는가</a:t>
            </a:r>
            <a:r>
              <a:rPr lang="en-US" altLang="ko-KR" sz="1250" b="1" dirty="0">
                <a:solidFill>
                  <a:srgbClr val="222633"/>
                </a:solidFill>
                <a:latin typeface="Pretendard" pitchFamily="34" charset="0"/>
                <a:ea typeface="Pretendard" pitchFamily="34" charset="-122"/>
                <a:cs typeface="Pretendard" pitchFamily="34" charset="-120"/>
              </a:rPr>
              <a:t>?</a:t>
            </a:r>
            <a:endParaRPr lang="ko-KR" altLang="en-US" sz="1250" b="1" dirty="0">
              <a:solidFill>
                <a:srgbClr val="222633"/>
              </a:solidFill>
              <a:latin typeface="Pretendard" pitchFamily="34" charset="0"/>
              <a:ea typeface="Pretendard" pitchFamily="34" charset="-122"/>
              <a:cs typeface="Pretendard" pitchFamily="34" charset="-120"/>
            </a:endParaRP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해결되지 않는 것이 처분수단 자체인지, 조사·선별·시설·인력 등 운영·집행의 문제인지, 형벌에 의한 책임 인정의 부재인지 구분한다.</a:t>
            </a:r>
          </a:p>
        </p:txBody>
      </p:sp>
      <p:sp>
        <p:nvSpPr>
          <p:cNvPr id="13" name="QH13"/>
          <p:cNvSpPr/>
          <p:nvPr/>
        </p:nvSpPr>
        <p:spPr>
          <a:xfrm>
            <a:off x="969264" y="3319648"/>
            <a:ext cx="2002536" cy="650057"/>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2  형사책임 확대의 필요성</a:t>
            </a:r>
          </a:p>
        </p:txBody>
      </p:sp>
      <p:sp>
        <p:nvSpPr>
          <p:cNvPr id="14" name="QR14"/>
          <p:cNvSpPr/>
          <p:nvPr/>
        </p:nvSpPr>
        <p:spPr>
          <a:xfrm>
            <a:off x="731520" y="3992565"/>
            <a:ext cx="10725912" cy="0"/>
          </a:xfrm>
          <a:prstGeom prst="line">
            <a:avLst/>
          </a:prstGeom>
          <a:ln w="9525">
            <a:solidFill>
              <a:srgbClr val="DCE0E8"/>
            </a:solidFill>
          </a:ln>
        </p:spPr>
        <p:txBody>
          <a:bodyPr/>
          <a:lstStyle/>
          <a:p>
            <a:endParaRPr lang="ko-KR"/>
          </a:p>
        </p:txBody>
      </p:sp>
      <p:sp>
        <p:nvSpPr>
          <p:cNvPr id="15" name="QB15"/>
          <p:cNvSpPr/>
          <p:nvPr/>
        </p:nvSpPr>
        <p:spPr>
          <a:xfrm>
            <a:off x="3154680" y="4044391"/>
            <a:ext cx="8302752" cy="482397"/>
          </a:xfrm>
          <a:prstGeom prst="rect">
            <a:avLst/>
          </a:prstGeom>
          <a:noFill/>
          <a:ln/>
        </p:spPr>
        <p:txBody>
          <a:bodyPr wrap="square" lIns="0" tIns="0" rIns="0" bIns="0" rtlCol="0" anchor="t"/>
          <a:lstStyle/>
          <a:p>
            <a:pPr marL="0" indent="0">
              <a:lnSpc>
                <a:spcPct val="118000"/>
              </a:lnSpc>
              <a:spcAft>
                <a:spcPts val="400"/>
              </a:spcAft>
              <a:buNone/>
            </a:pPr>
            <a:r>
              <a:rPr lang="ko-KR" altLang="en-US" sz="1250" b="1" dirty="0">
                <a:solidFill>
                  <a:srgbClr val="222633"/>
                </a:solidFill>
                <a:latin typeface="Pretendard" pitchFamily="34" charset="0"/>
                <a:ea typeface="Pretendard" pitchFamily="34" charset="-122"/>
                <a:cs typeface="Pretendard" pitchFamily="34" charset="-120"/>
              </a:rPr>
              <a:t>연령 하향이 기존 대응보다 실제 범죄와 재범을 더 줄이는가?</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억제효과에 대한 기대와 관찰된 효과를 구분하고, 연구가 비교한 제도와 처우가 한국과 어떻게 다른지 확인한다.</a:t>
            </a:r>
          </a:p>
        </p:txBody>
      </p:sp>
      <p:sp>
        <p:nvSpPr>
          <p:cNvPr id="16" name="QH16"/>
          <p:cNvSpPr/>
          <p:nvPr/>
        </p:nvSpPr>
        <p:spPr>
          <a:xfrm>
            <a:off x="969264" y="3969705"/>
            <a:ext cx="2002536" cy="650057"/>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3  범죄예방 효과</a:t>
            </a:r>
          </a:p>
        </p:txBody>
      </p:sp>
      <p:sp>
        <p:nvSpPr>
          <p:cNvPr id="17" name="QR17"/>
          <p:cNvSpPr/>
          <p:nvPr/>
        </p:nvSpPr>
        <p:spPr>
          <a:xfrm>
            <a:off x="731520" y="4642622"/>
            <a:ext cx="10725912" cy="0"/>
          </a:xfrm>
          <a:prstGeom prst="line">
            <a:avLst/>
          </a:prstGeom>
          <a:ln w="9525">
            <a:solidFill>
              <a:srgbClr val="DCE0E8"/>
            </a:solidFill>
          </a:ln>
        </p:spPr>
        <p:txBody>
          <a:bodyPr/>
          <a:lstStyle/>
          <a:p>
            <a:endParaRPr lang="ko-KR"/>
          </a:p>
        </p:txBody>
      </p:sp>
      <p:sp>
        <p:nvSpPr>
          <p:cNvPr id="18" name="QB18"/>
          <p:cNvSpPr/>
          <p:nvPr/>
        </p:nvSpPr>
        <p:spPr>
          <a:xfrm>
            <a:off x="3154680" y="4694448"/>
            <a:ext cx="8302752" cy="482397"/>
          </a:xfrm>
          <a:prstGeom prst="rect">
            <a:avLst/>
          </a:prstGeom>
          <a:noFill/>
          <a:ln/>
        </p:spPr>
        <p:txBody>
          <a:bodyPr wrap="square" lIns="0" tIns="0" rIns="0" bIns="0" rtlCol="0" anchor="t"/>
          <a:lstStyle/>
          <a:p>
            <a:pPr>
              <a:lnSpc>
                <a:spcPct val="118000"/>
              </a:lnSpc>
              <a:spcAft>
                <a:spcPts val="400"/>
              </a:spcAft>
            </a:pPr>
            <a:r>
              <a:rPr lang="ko-KR" altLang="en-US" sz="1250" b="1" dirty="0">
                <a:solidFill>
                  <a:srgbClr val="222633"/>
                </a:solidFill>
                <a:latin typeface="Pretendard" pitchFamily="34" charset="0"/>
                <a:ea typeface="Pretendard" pitchFamily="34" charset="-122"/>
                <a:cs typeface="Pretendard" pitchFamily="34" charset="-120"/>
              </a:rPr>
              <a:t>형사절차 확대에 따른 추가 부담이 정당한가</a:t>
            </a:r>
            <a:r>
              <a:rPr lang="en-US" altLang="ko-KR" sz="1250" b="1" dirty="0">
                <a:solidFill>
                  <a:srgbClr val="222633"/>
                </a:solidFill>
                <a:latin typeface="Pretendard" pitchFamily="34" charset="0"/>
                <a:ea typeface="Pretendard" pitchFamily="34" charset="-122"/>
                <a:cs typeface="Pretendard" pitchFamily="34" charset="-120"/>
              </a:rPr>
              <a:t>, </a:t>
            </a:r>
            <a:r>
              <a:rPr lang="ko-KR" altLang="en-US" sz="1250" b="1" dirty="0">
                <a:solidFill>
                  <a:srgbClr val="222633"/>
                </a:solidFill>
                <a:latin typeface="Pretendard" pitchFamily="34" charset="0"/>
                <a:ea typeface="Pretendard" pitchFamily="34" charset="-122"/>
                <a:cs typeface="Pretendard" pitchFamily="34" charset="-120"/>
              </a:rPr>
              <a:t>필요한 권리는 실질적으로 보장할 수 있는가?</a:t>
            </a:r>
          </a:p>
          <a:p>
            <a:pPr marL="0" indent="0">
              <a:lnSpc>
                <a:spcPct val="118000"/>
              </a:lnSpc>
              <a:buNone/>
            </a:pPr>
            <a:r>
              <a:rPr lang="ko-KR" altLang="en-US" sz="1150" dirty="0">
                <a:solidFill>
                  <a:srgbClr val="464D5C"/>
                </a:solidFill>
                <a:latin typeface="Pretendard" pitchFamily="34" charset="0"/>
                <a:ea typeface="Pretendard" pitchFamily="34" charset="-122"/>
                <a:cs typeface="Pretendard" pitchFamily="34" charset="-120"/>
              </a:rPr>
              <a:t>가장 어린 범죄소년의 조사·재판 참여와 조력, 기록과 사회복귀 부담, 소년형사사건 특례와 추가 장치를 함께 판단한다.</a:t>
            </a:r>
          </a:p>
        </p:txBody>
      </p:sp>
      <p:sp>
        <p:nvSpPr>
          <p:cNvPr id="19" name="QH19"/>
          <p:cNvSpPr/>
          <p:nvPr/>
        </p:nvSpPr>
        <p:spPr>
          <a:xfrm>
            <a:off x="969264" y="4619762"/>
            <a:ext cx="2002536" cy="650057"/>
          </a:xfrm>
          <a:prstGeom prst="rect">
            <a:avLst/>
          </a:prstGeom>
          <a:noFill/>
          <a:ln/>
        </p:spPr>
        <p:txBody>
          <a:bodyPr wrap="square" lIns="0" tIns="0" rIns="0" bIns="0" rtlCol="0" anchor="ctr"/>
          <a:lstStyle/>
          <a:p>
            <a:pPr marL="0" indent="0">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4  절차·보호</a:t>
            </a:r>
          </a:p>
        </p:txBody>
      </p:sp>
      <p:sp>
        <p:nvSpPr>
          <p:cNvPr id="20" name="QR20"/>
          <p:cNvSpPr/>
          <p:nvPr/>
        </p:nvSpPr>
        <p:spPr>
          <a:xfrm>
            <a:off x="731520" y="5292679"/>
            <a:ext cx="10725912" cy="0"/>
          </a:xfrm>
          <a:prstGeom prst="line">
            <a:avLst/>
          </a:prstGeom>
          <a:ln w="9525">
            <a:solidFill>
              <a:srgbClr val="DCE0E8"/>
            </a:solidFill>
          </a:ln>
        </p:spPr>
        <p:txBody>
          <a:bodyPr/>
          <a:lstStyle/>
          <a:p>
            <a:endParaRPr lang="ko-KR"/>
          </a:p>
        </p:txBody>
      </p:sp>
      <p:sp>
        <p:nvSpPr>
          <p:cNvPr id="21" name="DES"/>
          <p:cNvSpPr/>
          <p:nvPr/>
        </p:nvSpPr>
        <p:spPr>
          <a:xfrm>
            <a:off x="731520" y="5344505"/>
            <a:ext cx="10725912" cy="684428"/>
          </a:xfrm>
          <a:prstGeom prst="rect">
            <a:avLst/>
          </a:prstGeom>
          <a:noFill/>
          <a:ln/>
        </p:spPr>
        <p:txBody>
          <a:bodyPr wrap="square" lIns="0" tIns="0" rIns="0" bIns="0" rtlCol="0" anchor="t"/>
          <a:lstStyle/>
          <a:p>
            <a:pPr marL="0" indent="0">
              <a:lnSpc>
                <a:spcPct val="118000"/>
              </a:lnSpc>
              <a:spcAft>
                <a:spcPts val="300"/>
              </a:spcAft>
              <a:buNone/>
            </a:pPr>
            <a:r>
              <a:rPr lang="ko-KR" altLang="en-US" sz="1100" b="1" dirty="0">
                <a:solidFill>
                  <a:srgbClr val="6E7686"/>
                </a:solidFill>
                <a:latin typeface="Pretendard" pitchFamily="34" charset="0"/>
                <a:ea typeface="Pretendard" pitchFamily="34" charset="-122"/>
                <a:cs typeface="Pretendard" pitchFamily="34" charset="-120"/>
              </a:rPr>
              <a:t>하향을 선택한다면 별도로 정해야 할 것</a:t>
            </a:r>
          </a:p>
          <a:p>
            <a:pPr>
              <a:lnSpc>
                <a:spcPct val="118000"/>
              </a:lnSpc>
              <a:spcAft>
                <a:spcPts val="400"/>
              </a:spcAft>
            </a:pPr>
            <a:r>
              <a:rPr lang="ko-KR" altLang="en-US" sz="1200" b="1" dirty="0">
                <a:solidFill>
                  <a:srgbClr val="222633"/>
                </a:solidFill>
                <a:latin typeface="Pretendard" pitchFamily="34" charset="0"/>
                <a:ea typeface="Pretendard" pitchFamily="34" charset="-122"/>
                <a:cs typeface="Pretendard" pitchFamily="34" charset="-120"/>
              </a:rPr>
              <a:t>적용범위(일괄·조건부) </a:t>
            </a:r>
            <a:r>
              <a:rPr lang="en-US" altLang="ko-KR" sz="1200" b="1" dirty="0">
                <a:solidFill>
                  <a:srgbClr val="222633"/>
                </a:solidFill>
                <a:latin typeface="Pretendard" pitchFamily="34" charset="0"/>
                <a:ea typeface="Pretendard" pitchFamily="34" charset="-122"/>
                <a:cs typeface="Pretendard" pitchFamily="34" charset="-120"/>
              </a:rPr>
              <a:t>· </a:t>
            </a:r>
            <a:r>
              <a:rPr lang="ko-KR" altLang="en-US" sz="1200" b="1" dirty="0">
                <a:solidFill>
                  <a:srgbClr val="222633"/>
                </a:solidFill>
                <a:latin typeface="Pretendard" pitchFamily="34" charset="0"/>
                <a:ea typeface="Pretendard" pitchFamily="34" charset="-122"/>
                <a:cs typeface="Pretendard" pitchFamily="34" charset="-120"/>
              </a:rPr>
              <a:t>중대</a:t>
            </a:r>
            <a:r>
              <a:rPr lang="en-US" altLang="ko-KR" sz="1200" b="1" dirty="0">
                <a:solidFill>
                  <a:srgbClr val="222633"/>
                </a:solidFill>
                <a:latin typeface="Pretendard" pitchFamily="34" charset="0"/>
                <a:ea typeface="Pretendard" pitchFamily="34" charset="-122"/>
                <a:cs typeface="Pretendard" pitchFamily="34" charset="-120"/>
              </a:rPr>
              <a:t>·</a:t>
            </a:r>
            <a:r>
              <a:rPr lang="ko-KR" altLang="en-US" sz="1200" b="1" dirty="0">
                <a:solidFill>
                  <a:srgbClr val="222633"/>
                </a:solidFill>
                <a:latin typeface="Pretendard" pitchFamily="34" charset="0"/>
                <a:ea typeface="Pretendard" pitchFamily="34" charset="-122"/>
                <a:cs typeface="Pretendard" pitchFamily="34" charset="-120"/>
              </a:rPr>
              <a:t>반복 요건 </a:t>
            </a:r>
            <a:r>
              <a:rPr lang="en-US" altLang="ko-KR" sz="1200" b="1" dirty="0">
                <a:solidFill>
                  <a:srgbClr val="222633"/>
                </a:solidFill>
                <a:latin typeface="Pretendard" pitchFamily="34" charset="0"/>
                <a:ea typeface="Pretendard" pitchFamily="34" charset="-122"/>
                <a:cs typeface="Pretendard" pitchFamily="34" charset="-120"/>
              </a:rPr>
              <a:t>· </a:t>
            </a:r>
            <a:r>
              <a:rPr lang="ko-KR" altLang="en-US" sz="1200" b="1" dirty="0">
                <a:solidFill>
                  <a:srgbClr val="222633"/>
                </a:solidFill>
                <a:latin typeface="Pretendard" pitchFamily="34" charset="0"/>
                <a:ea typeface="Pretendard" pitchFamily="34" charset="-122"/>
                <a:cs typeface="Pretendard" pitchFamily="34" charset="-120"/>
              </a:rPr>
              <a:t>추가 책임능력 판단과 형사경로 편입절차 </a:t>
            </a:r>
            <a:r>
              <a:rPr lang="en-US" altLang="ko-KR" sz="1200" b="1" dirty="0">
                <a:solidFill>
                  <a:srgbClr val="222633"/>
                </a:solidFill>
                <a:latin typeface="Pretendard" pitchFamily="34" charset="0"/>
                <a:ea typeface="Pretendard" pitchFamily="34" charset="-122"/>
                <a:cs typeface="Pretendard" pitchFamily="34" charset="-120"/>
              </a:rPr>
              <a:t>· 13</a:t>
            </a:r>
            <a:r>
              <a:rPr lang="ko-KR" altLang="en-US" sz="1200" b="1" dirty="0">
                <a:solidFill>
                  <a:srgbClr val="222633"/>
                </a:solidFill>
                <a:latin typeface="Pretendard" pitchFamily="34" charset="0"/>
                <a:ea typeface="Pretendard" pitchFamily="34" charset="-122"/>
                <a:cs typeface="Pretendard" pitchFamily="34" charset="-120"/>
              </a:rPr>
              <a:t>세에 필요한 추가 절차</a:t>
            </a:r>
            <a:r>
              <a:rPr lang="en-US" altLang="ko-KR" sz="1200" b="1" dirty="0">
                <a:solidFill>
                  <a:srgbClr val="222633"/>
                </a:solidFill>
                <a:latin typeface="Pretendard" pitchFamily="34" charset="0"/>
                <a:ea typeface="Pretendard" pitchFamily="34" charset="-122"/>
                <a:cs typeface="Pretendard" pitchFamily="34" charset="-120"/>
              </a:rPr>
              <a:t>·</a:t>
            </a:r>
            <a:r>
              <a:rPr lang="ko-KR" altLang="en-US" sz="1200" b="1" dirty="0">
                <a:solidFill>
                  <a:srgbClr val="222633"/>
                </a:solidFill>
                <a:latin typeface="Pretendard" pitchFamily="34" charset="0"/>
                <a:ea typeface="Pretendard" pitchFamily="34" charset="-122"/>
                <a:cs typeface="Pretendard" pitchFamily="34" charset="-120"/>
              </a:rPr>
              <a:t>처우 특례</a:t>
            </a:r>
          </a:p>
          <a:p>
            <a:pPr>
              <a:lnSpc>
                <a:spcPct val="118000"/>
              </a:lnSpc>
            </a:pPr>
            <a:r>
              <a:rPr lang="ko-KR" altLang="en-US" sz="1150" b="1" dirty="0">
                <a:solidFill>
                  <a:schemeClr val="accent4">
                    <a:lumMod val="75000"/>
                  </a:schemeClr>
                </a:solidFill>
                <a:latin typeface="Pretendard" pitchFamily="34" charset="0"/>
                <a:ea typeface="Pretendard" pitchFamily="34" charset="-122"/>
                <a:cs typeface="Pretendard" pitchFamily="34" charset="-120"/>
              </a:rPr>
              <a:t>연령 하향의 정당성과 효과를 판단하는 것과</a:t>
            </a:r>
            <a:r>
              <a:rPr lang="en-US" altLang="ko-KR" sz="1150" b="1" dirty="0">
                <a:solidFill>
                  <a:schemeClr val="accent4">
                    <a:lumMod val="75000"/>
                  </a:schemeClr>
                </a:solidFill>
                <a:latin typeface="Pretendard" pitchFamily="34" charset="0"/>
                <a:ea typeface="Pretendard" pitchFamily="34" charset="-122"/>
                <a:cs typeface="Pretendard" pitchFamily="34" charset="-120"/>
              </a:rPr>
              <a:t>, </a:t>
            </a:r>
            <a:r>
              <a:rPr lang="ko-KR" altLang="en-US" sz="1150" b="1" dirty="0">
                <a:solidFill>
                  <a:schemeClr val="accent4">
                    <a:lumMod val="75000"/>
                  </a:schemeClr>
                </a:solidFill>
                <a:latin typeface="Pretendard" pitchFamily="34" charset="0"/>
                <a:ea typeface="Pretendard" pitchFamily="34" charset="-122"/>
                <a:cs typeface="Pretendard" pitchFamily="34" charset="-120"/>
              </a:rPr>
              <a:t>하향 뒤 제도를 어떻게 설계할지는 서로 다른 문제다</a:t>
            </a:r>
            <a:r>
              <a:rPr lang="en-US" altLang="ko-KR" sz="1150" b="1" dirty="0">
                <a:solidFill>
                  <a:schemeClr val="accent4">
                    <a:lumMod val="75000"/>
                  </a:schemeClr>
                </a:solidFill>
                <a:latin typeface="Pretendard" pitchFamily="34" charset="0"/>
                <a:ea typeface="Pretendard" pitchFamily="34" charset="-122"/>
                <a:cs typeface="Pretendard" pitchFamily="34" charset="-120"/>
              </a:rPr>
              <a:t>.</a:t>
            </a:r>
            <a:endParaRPr lang="ko-KR" altLang="en-US" sz="1150" b="1" dirty="0">
              <a:solidFill>
                <a:schemeClr val="accent4">
                  <a:lumMod val="75000"/>
                </a:schemeClr>
              </a:solidFill>
              <a:latin typeface="Pretendard" pitchFamily="34" charset="0"/>
              <a:ea typeface="Pretendard" pitchFamily="34" charset="-122"/>
              <a:cs typeface="Pretendard" pitchFamily="34" charset="-120"/>
            </a:endParaRPr>
          </a:p>
        </p:txBody>
      </p:sp>
      <p:sp>
        <p:nvSpPr>
          <p:cNvPr id="22" name="QRE"/>
          <p:cNvSpPr/>
          <p:nvPr/>
        </p:nvSpPr>
        <p:spPr>
          <a:xfrm>
            <a:off x="731520" y="6144768"/>
            <a:ext cx="10725912" cy="0"/>
          </a:xfrm>
          <a:prstGeom prst="line">
            <a:avLst/>
          </a:prstGeom>
          <a:ln w="9525">
            <a:solidFill>
              <a:srgbClr val="DCE0E8"/>
            </a:solidFill>
          </a:ln>
        </p:spPr>
        <p:txBody>
          <a:bodyPr/>
          <a:lstStyle/>
          <a:p>
            <a:endParaRPr lang="ko-KR"/>
          </a:p>
        </p:txBody>
      </p:sp>
      <p:sp>
        <p:nvSpPr>
          <p:cNvPr id="23" name="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강의 종합 · 형법 제9조 · 소년법 제4조·제32조·제33조·제49조·제50조 및 소년형사사건 특례 · 정책대안: 현행 유지 / 조건부 하향 / 일괄 하향</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마무리</a:t>
            </a:r>
          </a:p>
        </p:txBody>
      </p:sp>
      <p:sp>
        <p:nvSpPr>
          <p:cNvPr id="11" name="cue"/>
          <p:cNvSpPr txBox="1"/>
          <p:nvPr/>
        </p:nvSpPr>
        <p:spPr>
          <a:xfrm>
            <a:off x="6035040" y="384048"/>
            <a:ext cx="5422392" cy="256032"/>
          </a:xfrm>
          <a:prstGeom prst="rect">
            <a:avLst/>
          </a:prstGeom>
          <a:noFill/>
        </p:spPr>
        <p:txBody>
          <a:bodyPr wrap="square" lIns="0" tIns="27432" rIns="0" bIns="27432" anchor="ctr">
            <a:noAutofit/>
          </a:bodyPr>
          <a:lstStyle/>
          <a:p>
            <a:pPr algn="r">
              <a:lnSpc>
                <a:spcPct val="118000"/>
              </a:lnSpc>
            </a:pPr>
            <a:r>
              <a:rPr lang="ko-KR" sz="1050" b="0" dirty="0">
                <a:solidFill>
                  <a:srgbClr val="6E7686"/>
                </a:solidFill>
                <a:latin typeface="Pretendard"/>
                <a:ea typeface="Pretendard"/>
                <a:cs typeface="Pretendard"/>
              </a:rPr>
              <a:t>다음 → 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이번 주 할 일 · 다음 주</a:t>
            </a:r>
          </a:p>
        </p:txBody>
      </p:sp>
      <p:sp>
        <p:nvSpPr>
          <p:cNvPr id="13" name="line13"/>
          <p:cNvSpPr/>
          <p:nvPr/>
        </p:nvSpPr>
        <p:spPr>
          <a:xfrm>
            <a:off x="731520" y="1389888"/>
            <a:ext cx="10725912" cy="0"/>
          </a:xfrm>
          <a:prstGeom prst="line">
            <a:avLst/>
          </a:prstGeom>
          <a:ln w="19050">
            <a:solidFill>
              <a:srgbClr val="1E2761"/>
            </a:solidFill>
          </a:ln>
        </p:spPr>
        <p:txBody>
          <a:bodyPr/>
          <a:lstStyle/>
          <a:p>
            <a:endParaRPr/>
          </a:p>
        </p:txBody>
      </p:sp>
      <p:sp>
        <p:nvSpPr>
          <p:cNvPr id="17" name="h1"/>
          <p:cNvSpPr txBox="1"/>
          <p:nvPr/>
        </p:nvSpPr>
        <p:spPr>
          <a:xfrm>
            <a:off x="731520" y="1411788"/>
            <a:ext cx="2240280" cy="2442408"/>
          </a:xfrm>
          <a:prstGeom prst="rect">
            <a:avLst/>
          </a:prstGeom>
          <a:noFill/>
        </p:spPr>
        <p:txBody>
          <a:bodyPr wrap="square" lIns="0" tIns="27432" rIns="0" bIns="27432" anchor="ctr">
            <a:noAutofit/>
          </a:bodyPr>
          <a:lstStyle/>
          <a:p>
            <a:pPr algn="ctr">
              <a:lnSpc>
                <a:spcPct val="118000"/>
              </a:lnSpc>
            </a:pPr>
            <a:r>
              <a:rPr lang="ko-KR" sz="1400" b="1" dirty="0">
                <a:solidFill>
                  <a:srgbClr val="1E2761"/>
                </a:solidFill>
                <a:latin typeface="Pretendard"/>
                <a:ea typeface="Pretendard"/>
                <a:cs typeface="Pretendard"/>
              </a:rPr>
              <a:t>다음 주</a:t>
            </a:r>
          </a:p>
        </p:txBody>
      </p:sp>
      <p:sp>
        <p:nvSpPr>
          <p:cNvPr id="18" name="b1"/>
          <p:cNvSpPr txBox="1"/>
          <p:nvPr/>
        </p:nvSpPr>
        <p:spPr>
          <a:xfrm>
            <a:off x="3154680" y="1389888"/>
            <a:ext cx="8302752" cy="2464308"/>
          </a:xfrm>
          <a:prstGeom prst="rect">
            <a:avLst/>
          </a:prstGeom>
          <a:noFill/>
        </p:spPr>
        <p:txBody>
          <a:bodyPr wrap="square" lIns="0" tIns="27432" rIns="0" bIns="27432" anchor="ctr">
            <a:noAutofit/>
          </a:bodyPr>
          <a:lstStyle/>
          <a:p>
            <a:pPr algn="l">
              <a:lnSpc>
                <a:spcPct val="118000"/>
              </a:lnSpc>
              <a:spcAft>
                <a:spcPts val="500"/>
              </a:spcAft>
            </a:pPr>
            <a:r>
              <a:rPr lang="ko-KR" sz="1400" b="1" dirty="0">
                <a:solidFill>
                  <a:srgbClr val="222633"/>
                </a:solidFill>
                <a:latin typeface="Pretendard"/>
                <a:ea typeface="Pretendard"/>
                <a:cs typeface="Pretendard"/>
              </a:rPr>
              <a:t>마약류를 투약·사용한 청소년에게는 형사처벌보다 치료·재활을 우선하여야 하는가</a:t>
            </a:r>
          </a:p>
          <a:p>
            <a:pPr algn="l">
              <a:lnSpc>
                <a:spcPct val="125000"/>
              </a:lnSpc>
            </a:pPr>
            <a:r>
              <a:rPr lang="ko-KR" sz="1200" b="0" dirty="0">
                <a:solidFill>
                  <a:srgbClr val="464D5C"/>
                </a:solidFill>
                <a:latin typeface="Pretendard"/>
                <a:ea typeface="Pretendard"/>
                <a:cs typeface="Pretendard"/>
              </a:rPr>
              <a:t>이 논제도 오늘과 같은 방식으로 읽는다 — “치료·재활을 우선한다”가 형사처벌을 배제한다는 뜻인지, 병행하되 우선순위를 달리한다는 뜻인지부터 밝혀야 한다</a:t>
            </a:r>
          </a:p>
        </p:txBody>
      </p:sp>
      <p:sp>
        <p:nvSpPr>
          <p:cNvPr id="19" name="line19"/>
          <p:cNvSpPr/>
          <p:nvPr/>
        </p:nvSpPr>
        <p:spPr>
          <a:xfrm>
            <a:off x="731520" y="3854196"/>
            <a:ext cx="10725912" cy="0"/>
          </a:xfrm>
          <a:prstGeom prst="line">
            <a:avLst/>
          </a:prstGeom>
          <a:ln w="9525">
            <a:solidFill>
              <a:srgbClr val="DCE0E8"/>
            </a:solidFill>
          </a:ln>
        </p:spPr>
        <p:txBody>
          <a:bodyPr/>
          <a:lstStyle/>
          <a:p>
            <a:endParaRPr/>
          </a:p>
        </p:txBody>
      </p:sp>
      <p:sp>
        <p:nvSpPr>
          <p:cNvPr id="20" name="h2"/>
          <p:cNvSpPr txBox="1"/>
          <p:nvPr/>
        </p:nvSpPr>
        <p:spPr>
          <a:xfrm>
            <a:off x="731520" y="3876096"/>
            <a:ext cx="2240280" cy="2616144"/>
          </a:xfrm>
          <a:prstGeom prst="rect">
            <a:avLst/>
          </a:prstGeom>
          <a:noFill/>
        </p:spPr>
        <p:txBody>
          <a:bodyPr wrap="square" lIns="0" tIns="27432" rIns="0" bIns="27432" anchor="ctr">
            <a:noAutofit/>
          </a:bodyPr>
          <a:lstStyle/>
          <a:p>
            <a:pPr algn="ctr">
              <a:lnSpc>
                <a:spcPct val="118000"/>
              </a:lnSpc>
            </a:pPr>
            <a:r>
              <a:rPr lang="ko-KR" sz="1400" b="1" dirty="0">
                <a:solidFill>
                  <a:srgbClr val="1E2761"/>
                </a:solidFill>
                <a:latin typeface="Pretendard"/>
                <a:ea typeface="Pretendard"/>
                <a:cs typeface="Pretendard"/>
              </a:rPr>
              <a:t>준비</a:t>
            </a:r>
          </a:p>
        </p:txBody>
      </p:sp>
      <p:sp>
        <p:nvSpPr>
          <p:cNvPr id="21" name="b2"/>
          <p:cNvSpPr txBox="1"/>
          <p:nvPr/>
        </p:nvSpPr>
        <p:spPr>
          <a:xfrm>
            <a:off x="3154680" y="3876095"/>
            <a:ext cx="8302752" cy="2616144"/>
          </a:xfrm>
          <a:prstGeom prst="rect">
            <a:avLst/>
          </a:prstGeom>
          <a:noFill/>
        </p:spPr>
        <p:txBody>
          <a:bodyPr wrap="square" lIns="0" tIns="27432" rIns="0" bIns="27432" anchor="ctr">
            <a:noAutofit/>
          </a:bodyPr>
          <a:lstStyle/>
          <a:p>
            <a:pPr algn="l">
              <a:lnSpc>
                <a:spcPct val="125000"/>
              </a:lnSpc>
              <a:spcAft>
                <a:spcPts val="500"/>
              </a:spcAft>
            </a:pPr>
            <a:r>
              <a:rPr sz="1400" b="1" dirty="0" err="1">
                <a:solidFill>
                  <a:srgbClr val="222633"/>
                </a:solidFill>
                <a:latin typeface="Pretendard"/>
              </a:rPr>
              <a:t>지정토론은</a:t>
            </a:r>
            <a:r>
              <a:rPr sz="1400" b="1" dirty="0">
                <a:solidFill>
                  <a:srgbClr val="222633"/>
                </a:solidFill>
                <a:latin typeface="Pretendard"/>
              </a:rPr>
              <a:t> </a:t>
            </a:r>
            <a:r>
              <a:rPr sz="1400" b="1" dirty="0" err="1">
                <a:solidFill>
                  <a:srgbClr val="222633"/>
                </a:solidFill>
                <a:latin typeface="Pretendard"/>
              </a:rPr>
              <a:t>다음</a:t>
            </a:r>
            <a:r>
              <a:rPr sz="1400" b="1" dirty="0">
                <a:solidFill>
                  <a:srgbClr val="222633"/>
                </a:solidFill>
                <a:latin typeface="Pretendard"/>
              </a:rPr>
              <a:t> </a:t>
            </a:r>
            <a:r>
              <a:rPr sz="1400" b="1" dirty="0" err="1">
                <a:solidFill>
                  <a:srgbClr val="222633"/>
                </a:solidFill>
                <a:latin typeface="Pretendard"/>
              </a:rPr>
              <a:t>주부터</a:t>
            </a:r>
            <a:r>
              <a:rPr sz="1400" b="1" dirty="0">
                <a:solidFill>
                  <a:srgbClr val="222633"/>
                </a:solidFill>
                <a:latin typeface="Pretendard"/>
              </a:rPr>
              <a:t> </a:t>
            </a:r>
            <a:r>
              <a:rPr sz="1400" b="1" dirty="0" err="1">
                <a:solidFill>
                  <a:srgbClr val="222633"/>
                </a:solidFill>
                <a:latin typeface="Pretendard"/>
              </a:rPr>
              <a:t>시작</a:t>
            </a:r>
            <a:r>
              <a:rPr sz="1400" b="1" dirty="0">
                <a:solidFill>
                  <a:srgbClr val="222633"/>
                </a:solidFill>
                <a:latin typeface="Pretendard"/>
              </a:rPr>
              <a:t> — </a:t>
            </a:r>
            <a:r>
              <a:rPr sz="1400" b="1" dirty="0" err="1">
                <a:solidFill>
                  <a:srgbClr val="222633"/>
                </a:solidFill>
                <a:latin typeface="Pretendard"/>
              </a:rPr>
              <a:t>발표자료</a:t>
            </a:r>
            <a:r>
              <a:rPr sz="1400" b="1" dirty="0">
                <a:solidFill>
                  <a:srgbClr val="222633"/>
                </a:solidFill>
                <a:latin typeface="Pretendard"/>
              </a:rPr>
              <a:t> </a:t>
            </a:r>
            <a:r>
              <a:rPr sz="1400" b="1" dirty="0" err="1">
                <a:solidFill>
                  <a:srgbClr val="222633"/>
                </a:solidFill>
                <a:latin typeface="Pretendard"/>
              </a:rPr>
              <a:t>제출기한은</a:t>
            </a:r>
            <a:r>
              <a:rPr sz="1400" b="1" dirty="0">
                <a:solidFill>
                  <a:srgbClr val="222633"/>
                </a:solidFill>
                <a:latin typeface="Pretendard"/>
              </a:rPr>
              <a:t> LMS </a:t>
            </a:r>
            <a:r>
              <a:rPr sz="1400" b="1" dirty="0" err="1">
                <a:solidFill>
                  <a:srgbClr val="222633"/>
                </a:solidFill>
                <a:latin typeface="Pretendard"/>
              </a:rPr>
              <a:t>확정</a:t>
            </a:r>
            <a:r>
              <a:rPr sz="1400" b="1" dirty="0">
                <a:solidFill>
                  <a:srgbClr val="222633"/>
                </a:solidFill>
                <a:latin typeface="Pretendard"/>
              </a:rPr>
              <a:t> </a:t>
            </a:r>
            <a:r>
              <a:rPr sz="1400" b="1" dirty="0" err="1">
                <a:solidFill>
                  <a:srgbClr val="222633"/>
                </a:solidFill>
                <a:latin typeface="Pretendard"/>
              </a:rPr>
              <a:t>공지를</a:t>
            </a:r>
            <a:r>
              <a:rPr sz="1400" b="1" dirty="0">
                <a:solidFill>
                  <a:srgbClr val="222633"/>
                </a:solidFill>
                <a:latin typeface="Pretendard"/>
              </a:rPr>
              <a:t> </a:t>
            </a:r>
            <a:r>
              <a:rPr sz="1400" b="1" dirty="0" err="1">
                <a:solidFill>
                  <a:srgbClr val="222633"/>
                </a:solidFill>
                <a:latin typeface="Pretendard"/>
              </a:rPr>
              <a:t>따른다</a:t>
            </a:r>
            <a:r>
              <a:rPr sz="1400" b="1" dirty="0">
                <a:solidFill>
                  <a:srgbClr val="222633"/>
                </a:solidFill>
                <a:latin typeface="Pretendard"/>
              </a:rPr>
              <a:t>.</a:t>
            </a:r>
          </a:p>
        </p:txBody>
      </p:sp>
      <p:sp>
        <p:nvSpPr>
          <p:cNvPr id="22" name="line22"/>
          <p:cNvSpPr/>
          <p:nvPr/>
        </p:nvSpPr>
        <p:spPr>
          <a:xfrm>
            <a:off x="731520" y="6492240"/>
            <a:ext cx="10725912" cy="0"/>
          </a:xfrm>
          <a:prstGeom prst="line">
            <a:avLst/>
          </a:prstGeom>
          <a:ln w="19050">
            <a:solidFill>
              <a:srgbClr val="1E2761"/>
            </a:solidFill>
          </a:ln>
        </p:spPr>
        <p:txBody>
          <a:bodyPr/>
          <a:lstStyle/>
          <a:p>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bg"/>
          <p:cNvSpPr/>
          <p:nvPr/>
        </p:nvSpPr>
        <p:spPr>
          <a:xfrm>
            <a:off x="0" y="0"/>
            <a:ext cx="12188952" cy="6858000"/>
          </a:xfrm>
          <a:prstGeom prst="rect">
            <a:avLst/>
          </a:prstGeom>
          <a:solidFill>
            <a:srgbClr val="1E2761"/>
          </a:solidFill>
          <a:ln>
            <a:noFill/>
          </a:ln>
        </p:spPr>
        <p:txBody>
          <a:bodyPr/>
          <a:lstStyle/>
          <a:p>
            <a:endParaRPr/>
          </a:p>
        </p:txBody>
      </p:sp>
      <p:sp>
        <p:nvSpPr>
          <p:cNvPr id="10" name="title"/>
          <p:cNvSpPr txBox="1"/>
          <p:nvPr/>
        </p:nvSpPr>
        <p:spPr>
          <a:xfrm>
            <a:off x="1463040" y="2468880"/>
            <a:ext cx="9262872" cy="822960"/>
          </a:xfrm>
          <a:prstGeom prst="rect">
            <a:avLst/>
          </a:prstGeom>
          <a:noFill/>
        </p:spPr>
        <p:txBody>
          <a:bodyPr wrap="square" lIns="0" tIns="27432" rIns="0" bIns="27432" anchor="ctr">
            <a:noAutofit/>
          </a:bodyPr>
          <a:lstStyle/>
          <a:p>
            <a:pPr algn="l">
              <a:lnSpc>
                <a:spcPct val="118000"/>
              </a:lnSpc>
            </a:pPr>
            <a:r>
              <a:rPr lang="ko-KR" sz="3400" b="1" dirty="0">
                <a:solidFill>
                  <a:srgbClr val="FFFFFF"/>
                </a:solidFill>
                <a:latin typeface="Pretendard"/>
                <a:ea typeface="Pretendard"/>
                <a:cs typeface="Pretendard"/>
              </a:rPr>
              <a:t>보충 자료</a:t>
            </a:r>
          </a:p>
        </p:txBody>
      </p:sp>
      <p:sp>
        <p:nvSpPr>
          <p:cNvPr id="11" name="line11"/>
          <p:cNvSpPr/>
          <p:nvPr/>
        </p:nvSpPr>
        <p:spPr>
          <a:xfrm>
            <a:off x="1463040" y="3474720"/>
            <a:ext cx="1280160" cy="0"/>
          </a:xfrm>
          <a:prstGeom prst="line">
            <a:avLst/>
          </a:prstGeom>
          <a:ln w="19050">
            <a:solidFill>
              <a:srgbClr val="C2A648"/>
            </a:solidFill>
          </a:ln>
        </p:spPr>
        <p:txBody>
          <a:bodyPr/>
          <a:lstStyle/>
          <a:p>
            <a:endParaRPr/>
          </a:p>
        </p:txBody>
      </p:sp>
      <p:sp>
        <p:nvSpPr>
          <p:cNvPr id="12" name="list"/>
          <p:cNvSpPr txBox="1"/>
          <p:nvPr/>
        </p:nvSpPr>
        <p:spPr>
          <a:xfrm>
            <a:off x="1463040" y="3749039"/>
            <a:ext cx="9262872" cy="1005840"/>
          </a:xfrm>
          <a:prstGeom prst="rect">
            <a:avLst/>
          </a:prstGeom>
          <a:noFill/>
        </p:spPr>
        <p:txBody>
          <a:bodyPr wrap="square" lIns="0" tIns="27432" rIns="0" bIns="27432" anchor="ctr">
            <a:noAutofit/>
          </a:bodyPr>
          <a:lstStyle/>
          <a:p>
            <a:pPr algn="l">
              <a:lnSpc>
                <a:spcPct val="118000"/>
              </a:lnSpc>
              <a:spcAft>
                <a:spcPts val="800"/>
              </a:spcAft>
            </a:pPr>
            <a:r>
              <a:rPr lang="ko-KR" sz="1400" b="0" dirty="0">
                <a:solidFill>
                  <a:srgbClr val="C9D2E6"/>
                </a:solidFill>
                <a:latin typeface="Pretendard"/>
                <a:ea typeface="Pretendard"/>
                <a:cs typeface="Pretendard"/>
              </a:rPr>
              <a:t>본편에서 다루지 못한 사례와 연구를 모았다.</a:t>
            </a:r>
          </a:p>
          <a:p>
            <a:pPr algn="l">
              <a:lnSpc>
                <a:spcPct val="118000"/>
              </a:lnSpc>
              <a:spcAft>
                <a:spcPts val="800"/>
              </a:spcAft>
            </a:pPr>
            <a:r>
              <a:rPr lang="ko-KR" sz="1400" b="0" dirty="0">
                <a:solidFill>
                  <a:srgbClr val="C9D2E6"/>
                </a:solidFill>
                <a:latin typeface="Pretendard"/>
                <a:ea typeface="Pretendard"/>
                <a:cs typeface="Pretendard"/>
              </a:rPr>
              <a:t>외국 판례 · 효과 연구 · 발달 실험 · 절차 사례 · 기록과 회복 프로그램</a:t>
            </a:r>
          </a:p>
          <a:p>
            <a:pPr algn="l">
              <a:lnSpc>
                <a:spcPct val="118000"/>
              </a:lnSpc>
              <a:spcAft>
                <a:spcPts val="800"/>
              </a:spcAft>
            </a:pPr>
            <a:r>
              <a:rPr lang="ko-KR" sz="1400" b="0" dirty="0">
                <a:solidFill>
                  <a:srgbClr val="C9D2E6"/>
                </a:solidFill>
                <a:latin typeface="Pretendard"/>
                <a:ea typeface="Pretendard"/>
                <a:cs typeface="Pretendard"/>
              </a:rPr>
              <a:t>질문이 나오거나 시간이 남을 때 사용한다.</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sz="2750" b="1">
                <a:solidFill>
                  <a:srgbClr val="1E2761"/>
                </a:solidFill>
                <a:latin typeface="Pretendard"/>
              </a:rPr>
              <a:t>소년사법 개선 과제 — 한민경 교수의 세 묶음</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연령 기준을 바꾸는 것과 소년사법의 운영·피해자 보호·예방체계를 개선하는 것은 서로 다른 정책 선택이다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c3h0"/>
          <p:cNvSpPr txBox="1"/>
          <p:nvPr/>
        </p:nvSpPr>
        <p:spPr>
          <a:xfrm>
            <a:off x="731520" y="2468880"/>
            <a:ext cx="3392424" cy="402336"/>
          </a:xfrm>
          <a:prstGeom prst="rect">
            <a:avLst/>
          </a:prstGeom>
          <a:noFill/>
        </p:spPr>
        <p:txBody>
          <a:bodyPr wrap="square" lIns="0" tIns="27432" rIns="0" bIns="27432" anchor="ctr">
            <a:noAutofit/>
          </a:bodyPr>
          <a:lstStyle/>
          <a:p>
            <a:pPr algn="ctr">
              <a:lnSpc>
                <a:spcPct val="118000"/>
              </a:lnSpc>
            </a:pPr>
            <a:r>
              <a:rPr lang="ko-KR" sz="1350" b="1" dirty="0">
                <a:solidFill>
                  <a:srgbClr val="1E2761"/>
                </a:solidFill>
                <a:latin typeface="Pretendard"/>
                <a:ea typeface="Pretendard"/>
                <a:cs typeface="Pretendard"/>
              </a:rPr>
              <a:t>소년사법 운영체계</a:t>
            </a:r>
          </a:p>
        </p:txBody>
      </p:sp>
      <p:sp>
        <p:nvSpPr>
          <p:cNvPr id="17" name="line17"/>
          <p:cNvSpPr/>
          <p:nvPr/>
        </p:nvSpPr>
        <p:spPr>
          <a:xfrm>
            <a:off x="731520" y="2907792"/>
            <a:ext cx="3392424" cy="0"/>
          </a:xfrm>
          <a:prstGeom prst="line">
            <a:avLst/>
          </a:prstGeom>
          <a:ln w="19050">
            <a:solidFill>
              <a:srgbClr val="1E2761"/>
            </a:solidFill>
          </a:ln>
        </p:spPr>
        <p:txBody>
          <a:bodyPr/>
          <a:lstStyle/>
          <a:p>
            <a:endParaRPr/>
          </a:p>
        </p:txBody>
      </p:sp>
      <p:sp>
        <p:nvSpPr>
          <p:cNvPr id="18" name="c3b0"/>
          <p:cNvSpPr txBox="1"/>
          <p:nvPr/>
        </p:nvSpPr>
        <p:spPr>
          <a:xfrm>
            <a:off x="731520" y="3072384"/>
            <a:ext cx="3392424" cy="2281427"/>
          </a:xfrm>
          <a:prstGeom prst="rect">
            <a:avLst/>
          </a:prstGeom>
          <a:noFill/>
        </p:spPr>
        <p:txBody>
          <a:bodyPr wrap="square" lIns="0" tIns="27432" rIns="0" bIns="27432" anchor="t">
            <a:noAutofit/>
          </a:bodyPr>
          <a:lstStyle/>
          <a:p>
            <a:pPr algn="l">
              <a:lnSpc>
                <a:spcPct val="118000"/>
              </a:lnSpc>
              <a:spcAft>
                <a:spcPts val="800"/>
              </a:spcAft>
            </a:pPr>
            <a:r>
              <a:rPr lang="ko-KR" sz="1250" b="0" dirty="0">
                <a:solidFill>
                  <a:srgbClr val="222633"/>
                </a:solidFill>
                <a:latin typeface="Pretendard"/>
                <a:ea typeface="Pretendard"/>
                <a:cs typeface="Pretendard"/>
              </a:rPr>
              <a:t>· 전건송치 개선</a:t>
            </a:r>
          </a:p>
          <a:p>
            <a:pPr algn="l">
              <a:lnSpc>
                <a:spcPct val="118000"/>
              </a:lnSpc>
              <a:spcAft>
                <a:spcPts val="800"/>
              </a:spcAft>
            </a:pPr>
            <a:r>
              <a:rPr lang="ko-KR" sz="1250" b="0" dirty="0">
                <a:solidFill>
                  <a:srgbClr val="222633"/>
                </a:solidFill>
                <a:latin typeface="Pretendard"/>
                <a:ea typeface="Pretendard"/>
                <a:cs typeface="Pretendard"/>
              </a:rPr>
              <a:t>· 조사근거·표준절차</a:t>
            </a:r>
          </a:p>
          <a:p>
            <a:pPr algn="l">
              <a:lnSpc>
                <a:spcPct val="118000"/>
              </a:lnSpc>
              <a:spcAft>
                <a:spcPts val="800"/>
              </a:spcAft>
            </a:pPr>
            <a:r>
              <a:rPr lang="ko-KR" sz="1250" b="0" dirty="0">
                <a:solidFill>
                  <a:srgbClr val="222633"/>
                </a:solidFill>
                <a:latin typeface="Pretendard"/>
                <a:ea typeface="Pretendard"/>
                <a:cs typeface="Pretendard"/>
              </a:rPr>
              <a:t>· 보호처분 연령·내용 재검토</a:t>
            </a:r>
          </a:p>
        </p:txBody>
      </p:sp>
      <p:sp>
        <p:nvSpPr>
          <p:cNvPr id="19" name="c3h1"/>
          <p:cNvSpPr txBox="1"/>
          <p:nvPr/>
        </p:nvSpPr>
        <p:spPr>
          <a:xfrm>
            <a:off x="4398264" y="2468880"/>
            <a:ext cx="3392424" cy="402336"/>
          </a:xfrm>
          <a:prstGeom prst="rect">
            <a:avLst/>
          </a:prstGeom>
          <a:noFill/>
        </p:spPr>
        <p:txBody>
          <a:bodyPr wrap="square" lIns="0" tIns="27432" rIns="0" bIns="27432" anchor="ctr">
            <a:noAutofit/>
          </a:bodyPr>
          <a:lstStyle/>
          <a:p>
            <a:pPr algn="ctr">
              <a:lnSpc>
                <a:spcPct val="118000"/>
              </a:lnSpc>
            </a:pPr>
            <a:r>
              <a:rPr lang="ko-KR" sz="1350" b="1" dirty="0">
                <a:solidFill>
                  <a:srgbClr val="1E2761"/>
                </a:solidFill>
                <a:latin typeface="Pretendard"/>
                <a:ea typeface="Pretendard"/>
                <a:cs typeface="Pretendard"/>
              </a:rPr>
              <a:t>피해자 권리·지원</a:t>
            </a:r>
          </a:p>
        </p:txBody>
      </p:sp>
      <p:sp>
        <p:nvSpPr>
          <p:cNvPr id="20" name="line20"/>
          <p:cNvSpPr/>
          <p:nvPr/>
        </p:nvSpPr>
        <p:spPr>
          <a:xfrm>
            <a:off x="4398264" y="2907792"/>
            <a:ext cx="3392424" cy="0"/>
          </a:xfrm>
          <a:prstGeom prst="line">
            <a:avLst/>
          </a:prstGeom>
          <a:ln w="19050">
            <a:solidFill>
              <a:srgbClr val="1E2761"/>
            </a:solidFill>
          </a:ln>
        </p:spPr>
        <p:txBody>
          <a:bodyPr/>
          <a:lstStyle/>
          <a:p>
            <a:endParaRPr/>
          </a:p>
        </p:txBody>
      </p:sp>
      <p:sp>
        <p:nvSpPr>
          <p:cNvPr id="21" name="c3b1"/>
          <p:cNvSpPr txBox="1"/>
          <p:nvPr/>
        </p:nvSpPr>
        <p:spPr>
          <a:xfrm>
            <a:off x="4398264" y="3072384"/>
            <a:ext cx="3392424" cy="2281427"/>
          </a:xfrm>
          <a:prstGeom prst="rect">
            <a:avLst/>
          </a:prstGeom>
          <a:noFill/>
        </p:spPr>
        <p:txBody>
          <a:bodyPr wrap="square" lIns="0" tIns="27432" rIns="0" bIns="27432" anchor="t">
            <a:noAutofit/>
          </a:bodyPr>
          <a:lstStyle/>
          <a:p>
            <a:pPr algn="l">
              <a:lnSpc>
                <a:spcPct val="118000"/>
              </a:lnSpc>
              <a:spcAft>
                <a:spcPts val="800"/>
              </a:spcAft>
            </a:pPr>
            <a:r>
              <a:rPr lang="ko-KR" sz="1250" b="0" dirty="0">
                <a:solidFill>
                  <a:srgbClr val="222633"/>
                </a:solidFill>
                <a:latin typeface="Pretendard"/>
                <a:ea typeface="Pretendard"/>
                <a:cs typeface="Pretendard"/>
              </a:rPr>
              <a:t>· 피해자 참여·정보 제공</a:t>
            </a:r>
          </a:p>
          <a:p>
            <a:pPr algn="l">
              <a:lnSpc>
                <a:spcPct val="118000"/>
              </a:lnSpc>
              <a:spcAft>
                <a:spcPts val="800"/>
              </a:spcAft>
            </a:pPr>
            <a:r>
              <a:rPr lang="ko-KR" sz="1250" b="0" dirty="0">
                <a:solidFill>
                  <a:srgbClr val="222633"/>
                </a:solidFill>
                <a:latin typeface="Pretendard"/>
                <a:ea typeface="Pretendard"/>
                <a:cs typeface="Pretendard"/>
              </a:rPr>
              <a:t>· 기록 열람·등사</a:t>
            </a:r>
          </a:p>
          <a:p>
            <a:pPr algn="l">
              <a:lnSpc>
                <a:spcPct val="118000"/>
              </a:lnSpc>
              <a:spcAft>
                <a:spcPts val="800"/>
              </a:spcAft>
            </a:pPr>
            <a:r>
              <a:rPr lang="ko-KR" sz="1250" b="0" dirty="0">
                <a:solidFill>
                  <a:srgbClr val="222633"/>
                </a:solidFill>
                <a:latin typeface="Pretendard"/>
                <a:ea typeface="Pretendard"/>
                <a:cs typeface="Pretendard"/>
              </a:rPr>
              <a:t>· 재판결과 불복절차</a:t>
            </a:r>
          </a:p>
        </p:txBody>
      </p:sp>
      <p:sp>
        <p:nvSpPr>
          <p:cNvPr id="22" name="c3h2"/>
          <p:cNvSpPr txBox="1"/>
          <p:nvPr/>
        </p:nvSpPr>
        <p:spPr>
          <a:xfrm>
            <a:off x="8065008" y="2468880"/>
            <a:ext cx="3392424" cy="402336"/>
          </a:xfrm>
          <a:prstGeom prst="rect">
            <a:avLst/>
          </a:prstGeom>
          <a:noFill/>
        </p:spPr>
        <p:txBody>
          <a:bodyPr wrap="square" lIns="0" tIns="27432" rIns="0" bIns="27432" anchor="ctr">
            <a:noAutofit/>
          </a:bodyPr>
          <a:lstStyle/>
          <a:p>
            <a:pPr algn="ctr">
              <a:lnSpc>
                <a:spcPct val="118000"/>
              </a:lnSpc>
            </a:pPr>
            <a:r>
              <a:rPr lang="ko-KR" sz="1350" b="1" dirty="0">
                <a:solidFill>
                  <a:srgbClr val="1E2761"/>
                </a:solidFill>
                <a:latin typeface="Pretendard"/>
                <a:ea typeface="Pretendard"/>
                <a:cs typeface="Pretendard"/>
              </a:rPr>
              <a:t>소년비행 예방체계</a:t>
            </a:r>
          </a:p>
        </p:txBody>
      </p:sp>
      <p:sp>
        <p:nvSpPr>
          <p:cNvPr id="23" name="line23"/>
          <p:cNvSpPr/>
          <p:nvPr/>
        </p:nvSpPr>
        <p:spPr>
          <a:xfrm>
            <a:off x="8065008" y="2907792"/>
            <a:ext cx="3392424" cy="0"/>
          </a:xfrm>
          <a:prstGeom prst="line">
            <a:avLst/>
          </a:prstGeom>
          <a:ln w="19050">
            <a:solidFill>
              <a:srgbClr val="1E2761"/>
            </a:solidFill>
          </a:ln>
        </p:spPr>
        <p:txBody>
          <a:bodyPr/>
          <a:lstStyle/>
          <a:p>
            <a:endParaRPr/>
          </a:p>
        </p:txBody>
      </p:sp>
      <p:sp>
        <p:nvSpPr>
          <p:cNvPr id="24" name="c3b2"/>
          <p:cNvSpPr txBox="1"/>
          <p:nvPr/>
        </p:nvSpPr>
        <p:spPr>
          <a:xfrm>
            <a:off x="8065008" y="3072384"/>
            <a:ext cx="3392424" cy="2281427"/>
          </a:xfrm>
          <a:prstGeom prst="rect">
            <a:avLst/>
          </a:prstGeom>
          <a:noFill/>
        </p:spPr>
        <p:txBody>
          <a:bodyPr wrap="square" lIns="0" tIns="27432" rIns="0" bIns="27432" anchor="t">
            <a:noAutofit/>
          </a:bodyPr>
          <a:lstStyle/>
          <a:p>
            <a:pPr algn="l">
              <a:lnSpc>
                <a:spcPct val="118000"/>
              </a:lnSpc>
              <a:spcAft>
                <a:spcPts val="800"/>
              </a:spcAft>
            </a:pPr>
            <a:r>
              <a:rPr lang="ko-KR" sz="1250" b="0" dirty="0">
                <a:solidFill>
                  <a:srgbClr val="222633"/>
                </a:solidFill>
                <a:latin typeface="Pretendard"/>
                <a:ea typeface="Pretendard"/>
                <a:cs typeface="Pretendard"/>
              </a:rPr>
              <a:t>· 위기소년 조기발굴</a:t>
            </a:r>
          </a:p>
          <a:p>
            <a:pPr algn="l">
              <a:lnSpc>
                <a:spcPct val="118000"/>
              </a:lnSpc>
              <a:spcAft>
                <a:spcPts val="800"/>
              </a:spcAft>
            </a:pPr>
            <a:r>
              <a:rPr lang="ko-KR" sz="1250" b="0" dirty="0">
                <a:solidFill>
                  <a:srgbClr val="222633"/>
                </a:solidFill>
                <a:latin typeface="Pretendard"/>
                <a:ea typeface="Pretendard"/>
                <a:cs typeface="Pretendard"/>
              </a:rPr>
              <a:t>· 디지털 성범죄 예방교육</a:t>
            </a:r>
          </a:p>
          <a:p>
            <a:pPr algn="l">
              <a:lnSpc>
                <a:spcPct val="118000"/>
              </a:lnSpc>
              <a:spcAft>
                <a:spcPts val="800"/>
              </a:spcAft>
            </a:pPr>
            <a:r>
              <a:rPr lang="ko-KR" sz="1250" b="0" dirty="0">
                <a:solidFill>
                  <a:srgbClr val="222633"/>
                </a:solidFill>
                <a:latin typeface="Pretendard"/>
                <a:ea typeface="Pretendard"/>
                <a:cs typeface="Pretendard"/>
              </a:rPr>
              <a:t>· 부모교육</a:t>
            </a:r>
          </a:p>
        </p:txBody>
      </p:sp>
      <p:sp>
        <p:nvSpPr>
          <p:cNvPr id="25" name="line25"/>
          <p:cNvSpPr/>
          <p:nvPr/>
        </p:nvSpPr>
        <p:spPr>
          <a:xfrm>
            <a:off x="731520" y="5472683"/>
            <a:ext cx="10725912" cy="0"/>
          </a:xfrm>
          <a:prstGeom prst="line">
            <a:avLst/>
          </a:prstGeom>
          <a:ln w="9525">
            <a:solidFill>
              <a:srgbClr val="DCE0E8"/>
            </a:solidFill>
          </a:ln>
        </p:spPr>
        <p:txBody>
          <a:bodyPr/>
          <a:lstStyle/>
          <a:p>
            <a:endParaRPr/>
          </a:p>
        </p:txBody>
      </p:sp>
      <p:sp>
        <p:nvSpPr>
          <p:cNvPr id="26" name="c3fh"/>
          <p:cNvSpPr txBox="1"/>
          <p:nvPr/>
        </p:nvSpPr>
        <p:spPr>
          <a:xfrm>
            <a:off x="731520" y="5591555"/>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이 자료의 지위</a:t>
            </a:r>
          </a:p>
        </p:txBody>
      </p:sp>
      <p:sp>
        <p:nvSpPr>
          <p:cNvPr id="27" name="c3fb"/>
          <p:cNvSpPr txBox="1"/>
          <p:nvPr/>
        </p:nvSpPr>
        <p:spPr>
          <a:xfrm>
            <a:off x="3154680" y="5591555"/>
            <a:ext cx="8302752" cy="370332"/>
          </a:xfrm>
          <a:prstGeom prst="rect">
            <a:avLst/>
          </a:prstGeom>
          <a:noFill/>
        </p:spPr>
        <p:txBody>
          <a:bodyPr wrap="square" lIns="0" tIns="27432" rIns="0" bIns="27432" anchor="ctr">
            <a:noAutofit/>
          </a:bodyPr>
          <a:lstStyle/>
          <a:p>
            <a:pPr algn="l">
              <a:lnSpc>
                <a:spcPct val="118000"/>
              </a:lnSpc>
            </a:pPr>
            <a:r>
              <a:rPr lang="ko-KR" sz="1200" b="0" dirty="0">
                <a:solidFill>
                  <a:srgbClr val="A8871C"/>
                </a:solidFill>
                <a:latin typeface="Pretendard"/>
                <a:ea typeface="Pretendard"/>
                <a:cs typeface="Pretendard"/>
              </a:rPr>
              <a:t>학계·소년사법 현장의 의견과 국회 발의안을 정리한 제안이며, 사회적 대화 협의체의 공식 의견이 아니다.</a:t>
            </a:r>
          </a:p>
        </p:txBody>
      </p:sp>
      <p:sp>
        <p:nvSpPr>
          <p:cNvPr id="28" name="line28"/>
          <p:cNvSpPr/>
          <p:nvPr/>
        </p:nvSpPr>
        <p:spPr>
          <a:xfrm>
            <a:off x="731520" y="6144768"/>
            <a:ext cx="10725912" cy="0"/>
          </a:xfrm>
          <a:prstGeom prst="line">
            <a:avLst/>
          </a:prstGeom>
          <a:ln w="19050">
            <a:solidFill>
              <a:srgbClr val="1E2761"/>
            </a:solidFill>
          </a:ln>
        </p:spPr>
        <p:txBody>
          <a:bodyPr/>
          <a:lstStyle/>
          <a:p>
            <a:endParaRPr/>
          </a:p>
        </p:txBody>
      </p:sp>
      <p:sp>
        <p:nvSpPr>
          <p:cNvPr id="29"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한민경(2026) 「형사미성년자(촉법소년) 관련 정책 대안의 이해」 0:00–25:12</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panose="02000503000000020004" pitchFamily="50" charset="-127"/>
                <a:ea typeface="Pretendard" panose="02000503000000020004" pitchFamily="50" charset="-127"/>
                <a:cs typeface="Pretendard" panose="02000503000000020004" pitchFamily="50" charset="-127"/>
              </a:rPr>
              <a:t>촉법소년 연령 하향 논의 — 국가인권위원장 성명</a:t>
            </a:r>
          </a:p>
        </p:txBody>
      </p:sp>
      <p:sp>
        <p:nvSpPr>
          <p:cNvPr id="1000" name="APPROVED_MAIN_RULE"/>
          <p:cNvSpPr/>
          <p:nvPr/>
        </p:nvSpPr>
        <p:spPr>
          <a:xfrm>
            <a:off x="731520" y="1389888"/>
            <a:ext cx="10725912" cy="0"/>
          </a:xfrm>
          <a:prstGeom prst="line">
            <a:avLst/>
          </a:prstGeom>
          <a:ln w="19050">
            <a:solidFill>
              <a:srgbClr val="1E2761"/>
            </a:solidFill>
          </a:ln>
        </p:spPr>
        <p:txBody>
          <a:bodyPr/>
          <a:lstStyle/>
          <a:p>
            <a:endParaRPr lang="ko-KR"/>
          </a:p>
        </p:txBody>
      </p:sp>
      <p:sp>
        <p:nvSpPr>
          <p:cNvPr id="1001" name="APPROVED_FOOT"/>
          <p:cNvSpPr/>
          <p:nvPr/>
        </p:nvSpPr>
        <p:spPr>
          <a:xfrm>
            <a:off x="731520" y="6419088"/>
            <a:ext cx="10725912" cy="301752"/>
          </a:xfrm>
          <a:prstGeom prst="rect">
            <a:avLst/>
          </a:prstGeom>
          <a:noFill/>
          <a:ln/>
        </p:spPr>
        <p:txBody>
          <a:bodyPr wrap="square" lIns="0" tIns="0" rIns="0" bIns="0" rtlCol="0" anchor="ctr"/>
          <a:lstStyle/>
          <a:p>
            <a:pPr marL="0" indent="0">
              <a:lnSpc>
                <a:spcPct val="118000"/>
              </a:lnSpc>
              <a:buNone/>
            </a:pPr>
            <a:r>
              <a:rPr lang="ko-KR" altLang="en-US" sz="1050" dirty="0">
                <a:solidFill>
                  <a:srgbClr val="6E7686"/>
                </a:solidFill>
                <a:latin typeface="Pretendard" pitchFamily="34" charset="0"/>
                <a:ea typeface="Pretendard" pitchFamily="34" charset="-122"/>
                <a:cs typeface="Pretendard" pitchFamily="34" charset="-120"/>
              </a:rPr>
              <a:t>국가인권위원장 「촉법소년 연령 하향 논의 관련 성명」(2026.3.31.) · v51 국제기준 Ⅱ의 국내 의견 부분을 분리</a:t>
            </a:r>
          </a:p>
        </p:txBody>
      </p:sp>
      <p:sp>
        <p:nvSpPr>
          <p:cNvPr id="1002" name="HEAD1002"/>
          <p:cNvSpPr/>
          <p:nvPr/>
        </p:nvSpPr>
        <p:spPr>
          <a:xfrm>
            <a:off x="731520" y="1988820"/>
            <a:ext cx="2240280" cy="192024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신중한 접근</a:t>
            </a:r>
          </a:p>
        </p:txBody>
      </p:sp>
      <p:sp>
        <p:nvSpPr>
          <p:cNvPr id="1003" name="BODY1003"/>
          <p:cNvSpPr/>
          <p:nvPr/>
        </p:nvSpPr>
        <p:spPr>
          <a:xfrm>
            <a:off x="3154680" y="2576576"/>
            <a:ext cx="8302752" cy="726440"/>
          </a:xfrm>
          <a:prstGeom prst="rect">
            <a:avLst/>
          </a:prstGeom>
          <a:noFill/>
          <a:ln/>
        </p:spPr>
        <p:txBody>
          <a:bodyPr wrap="square" lIns="0" tIns="0" rIns="0" bIns="0" rtlCol="0" anchor="t"/>
          <a:lstStyle/>
          <a:p>
            <a:pPr marL="0" indent="0">
              <a:lnSpc>
                <a:spcPct val="118000"/>
              </a:lnSpc>
              <a:spcAft>
                <a:spcPts val="500"/>
              </a:spcAft>
              <a:buNone/>
            </a:pPr>
            <a:r>
              <a:rPr lang="ko-KR" altLang="en-US" sz="1250" b="1" dirty="0">
                <a:solidFill>
                  <a:srgbClr val="222633"/>
                </a:solidFill>
                <a:latin typeface="Pretendard" pitchFamily="34" charset="0"/>
                <a:ea typeface="Pretendard" pitchFamily="34" charset="-122"/>
                <a:cs typeface="Pretendard" pitchFamily="34" charset="-120"/>
              </a:rPr>
              <a:t>국가인권위원장은 연령 하향에 신중한 접근이 필요하다고 보았다</a:t>
            </a:r>
          </a:p>
          <a:p>
            <a:pPr marL="0" indent="0">
              <a:lnSpc>
                <a:spcPct val="125000"/>
              </a:lnSpc>
              <a:buNone/>
            </a:pPr>
            <a:r>
              <a:rPr lang="ko-KR" altLang="en-US" sz="1150" dirty="0">
                <a:solidFill>
                  <a:srgbClr val="464D5C"/>
                </a:solidFill>
                <a:latin typeface="Pretendard" pitchFamily="34" charset="0"/>
                <a:ea typeface="Pretendard" pitchFamily="34" charset="-122"/>
                <a:cs typeface="Pretendard" pitchFamily="34" charset="-120"/>
              </a:rPr>
              <a:t>10~13세 소년범죄의 장기적 감소·정체 추세와 하향의 예방 효과가 충분히 입증되지 않았다는 점을 지적하고, 조기 형사사법 편입의 낙인·배제 위험을 들었다.</a:t>
            </a:r>
          </a:p>
        </p:txBody>
      </p:sp>
      <p:sp>
        <p:nvSpPr>
          <p:cNvPr id="1004" name="RULE1004"/>
          <p:cNvSpPr/>
          <p:nvPr/>
        </p:nvSpPr>
        <p:spPr>
          <a:xfrm>
            <a:off x="731520" y="3931920"/>
            <a:ext cx="10725912" cy="0"/>
          </a:xfrm>
          <a:prstGeom prst="line">
            <a:avLst/>
          </a:prstGeom>
          <a:ln w="9525">
            <a:solidFill>
              <a:srgbClr val="DCE0E8"/>
            </a:solidFill>
          </a:ln>
        </p:spPr>
        <p:txBody>
          <a:bodyPr/>
          <a:lstStyle/>
          <a:p>
            <a:endParaRPr lang="ko-KR"/>
          </a:p>
        </p:txBody>
      </p:sp>
      <p:sp>
        <p:nvSpPr>
          <p:cNvPr id="1005" name="HEAD1005"/>
          <p:cNvSpPr/>
          <p:nvPr/>
        </p:nvSpPr>
        <p:spPr>
          <a:xfrm>
            <a:off x="731520" y="3909060"/>
            <a:ext cx="2240280" cy="1920240"/>
          </a:xfrm>
          <a:prstGeom prst="rect">
            <a:avLst/>
          </a:prstGeom>
          <a:noFill/>
          <a:ln/>
        </p:spPr>
        <p:txBody>
          <a:bodyPr wrap="square" lIns="0" tIns="0" rIns="0" bIns="0" rtlCol="0" anchor="ctr"/>
          <a:lstStyle/>
          <a:p>
            <a:pPr marL="0" indent="0" algn="ctr">
              <a:lnSpc>
                <a:spcPct val="118000"/>
              </a:lnSpc>
              <a:buNone/>
            </a:pPr>
            <a:r>
              <a:rPr lang="ko-KR" altLang="en-US" sz="1300" b="1" dirty="0">
                <a:solidFill>
                  <a:srgbClr val="1E2761"/>
                </a:solidFill>
                <a:latin typeface="Pretendard" pitchFamily="34" charset="0"/>
                <a:ea typeface="Pretendard" pitchFamily="34" charset="-122"/>
                <a:cs typeface="Pretendard" pitchFamily="34" charset="-120"/>
              </a:rPr>
              <a:t>제안한 지원</a:t>
            </a:r>
          </a:p>
        </p:txBody>
      </p:sp>
      <p:sp>
        <p:nvSpPr>
          <p:cNvPr id="1006" name="BODY1006"/>
          <p:cNvSpPr/>
          <p:nvPr/>
        </p:nvSpPr>
        <p:spPr>
          <a:xfrm>
            <a:off x="3154680" y="4747641"/>
            <a:ext cx="8302752" cy="224790"/>
          </a:xfrm>
          <a:prstGeom prst="rect">
            <a:avLst/>
          </a:prstGeom>
          <a:noFill/>
          <a:ln/>
        </p:spPr>
        <p:txBody>
          <a:bodyPr wrap="square" lIns="0" tIns="0" rIns="0" bIns="0" rtlCol="0" anchor="t"/>
          <a:lstStyle/>
          <a:p>
            <a:pPr marL="0" indent="0">
              <a:lnSpc>
                <a:spcPct val="118000"/>
              </a:lnSpc>
              <a:buNone/>
            </a:pPr>
            <a:r>
              <a:rPr lang="ko-KR" altLang="en-US" sz="1250" b="1" dirty="0">
                <a:solidFill>
                  <a:srgbClr val="222633"/>
                </a:solidFill>
                <a:latin typeface="Pretendard" pitchFamily="34" charset="0"/>
                <a:ea typeface="Pretendard" pitchFamily="34" charset="-122"/>
                <a:cs typeface="Pretendard" pitchFamily="34" charset="-120"/>
              </a:rPr>
              <a:t>돌봄·교육·복지·정신건강 지원, 소년사법 통계 구축, 회복·교육·재사회화 인프라 강화를 함께 제시했다.</a:t>
            </a:r>
          </a:p>
        </p:txBody>
      </p:sp>
      <p:sp>
        <p:nvSpPr>
          <p:cNvPr id="1007" name="RULE1007"/>
          <p:cNvSpPr/>
          <p:nvPr/>
        </p:nvSpPr>
        <p:spPr>
          <a:xfrm>
            <a:off x="731520" y="5852160"/>
            <a:ext cx="10725912" cy="0"/>
          </a:xfrm>
          <a:prstGeom prst="line">
            <a:avLst/>
          </a:prstGeom>
          <a:ln w="9525">
            <a:solidFill>
              <a:srgbClr val="DCE0E8"/>
            </a:solidFill>
          </a:ln>
        </p:spPr>
        <p:txBody>
          <a:bodyPr/>
          <a:lstStyle/>
          <a:p>
            <a:endParaRPr lang="ko-K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공식 소년사법처리 — Petrosino 외(2010)</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공식처리의 확대를 평가하려면, 함께 비교한 종결·지원·대안 프로그램의 내용까지 살펴야 한다.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h0"/>
          <p:cNvSpPr txBox="1"/>
          <p:nvPr/>
        </p:nvSpPr>
        <p:spPr>
          <a:xfrm>
            <a:off x="731520" y="2240280"/>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무엇을 종합했나</a:t>
            </a:r>
          </a:p>
        </p:txBody>
      </p:sp>
      <p:sp>
        <p:nvSpPr>
          <p:cNvPr id="17" name="b0"/>
          <p:cNvSpPr txBox="1"/>
          <p:nvPr/>
        </p:nvSpPr>
        <p:spPr>
          <a:xfrm>
            <a:off x="3154680" y="2240280"/>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Petrosino 외(2010)는 29개 통제실험·7,304명의 자료를 종합했다.</a:t>
            </a:r>
          </a:p>
          <a:p>
            <a:pPr algn="l">
              <a:lnSpc>
                <a:spcPct val="118000"/>
              </a:lnSpc>
              <a:spcAft>
                <a:spcPts val="500"/>
              </a:spcAft>
            </a:pPr>
            <a:r>
              <a:rPr lang="ko-KR" sz="1150" b="0" dirty="0">
                <a:solidFill>
                  <a:srgbClr val="464D5C"/>
                </a:solidFill>
                <a:latin typeface="Pretendard"/>
                <a:ea typeface="Pretendard"/>
                <a:cs typeface="Pretendard"/>
              </a:rPr>
              <a:t>이후 비행의 유무·빈도·중대성과 자기보고 결과를 살폈다.</a:t>
            </a:r>
          </a:p>
          <a:p>
            <a:pPr algn="l">
              <a:lnSpc>
                <a:spcPct val="118000"/>
              </a:lnSpc>
            </a:pPr>
            <a:r>
              <a:rPr lang="ko-KR" sz="1150" b="0" dirty="0">
                <a:solidFill>
                  <a:srgbClr val="464D5C"/>
                </a:solidFill>
                <a:latin typeface="Pretendard"/>
                <a:ea typeface="Pretendard"/>
                <a:cs typeface="Pretendard"/>
              </a:rPr>
              <a:t>변경한 것은 처리 경로이며 책임연령은 그대로였다.</a:t>
            </a:r>
          </a:p>
        </p:txBody>
      </p:sp>
      <p:sp>
        <p:nvSpPr>
          <p:cNvPr id="18" name="line18"/>
          <p:cNvSpPr/>
          <p:nvPr/>
        </p:nvSpPr>
        <p:spPr>
          <a:xfrm>
            <a:off x="731520" y="3152394"/>
            <a:ext cx="10725912" cy="0"/>
          </a:xfrm>
          <a:prstGeom prst="line">
            <a:avLst/>
          </a:prstGeom>
          <a:ln w="9525">
            <a:solidFill>
              <a:srgbClr val="DCE0E8"/>
            </a:solidFill>
          </a:ln>
        </p:spPr>
        <p:txBody>
          <a:bodyPr/>
          <a:lstStyle/>
          <a:p>
            <a:endParaRPr/>
          </a:p>
        </p:txBody>
      </p:sp>
      <p:sp>
        <p:nvSpPr>
          <p:cNvPr id="19" name="h1"/>
          <p:cNvSpPr txBox="1"/>
          <p:nvPr/>
        </p:nvSpPr>
        <p:spPr>
          <a:xfrm>
            <a:off x="731520" y="3282696"/>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비교한 경로</a:t>
            </a:r>
          </a:p>
        </p:txBody>
      </p:sp>
      <p:sp>
        <p:nvSpPr>
          <p:cNvPr id="20" name="b1"/>
          <p:cNvSpPr txBox="1"/>
          <p:nvPr/>
        </p:nvSpPr>
        <p:spPr>
          <a:xfrm>
            <a:off x="3154680" y="3282696"/>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공식처리는 소년을 정식 사법처리 과정으로 편입시키는 개입이다.</a:t>
            </a:r>
          </a:p>
          <a:p>
            <a:pPr algn="l">
              <a:lnSpc>
                <a:spcPct val="118000"/>
              </a:lnSpc>
              <a:spcAft>
                <a:spcPts val="500"/>
              </a:spcAft>
            </a:pPr>
            <a:r>
              <a:rPr lang="ko-KR" sz="1150" b="0" dirty="0">
                <a:solidFill>
                  <a:srgbClr val="464D5C"/>
                </a:solidFill>
                <a:latin typeface="Pretendard"/>
                <a:ea typeface="Pretendard"/>
                <a:cs typeface="Pretendard"/>
              </a:rPr>
              <a:t>함께 비교한 경로에는 추가 처리를 하지 않는 경우와 다이버전 프로그램이 포함됐다.</a:t>
            </a:r>
          </a:p>
          <a:p>
            <a:pPr algn="l">
              <a:lnSpc>
                <a:spcPct val="118000"/>
              </a:lnSpc>
            </a:pPr>
            <a:r>
              <a:rPr lang="ko-KR" sz="1150" b="0" dirty="0">
                <a:solidFill>
                  <a:srgbClr val="464D5C"/>
                </a:solidFill>
                <a:latin typeface="Pretendard"/>
                <a:ea typeface="Pretendard"/>
                <a:cs typeface="Pretendard"/>
              </a:rPr>
              <a:t>다이버전은 정식 처리를 대신하는 경로이며 제공 서비스는 연구마다 달랐다.</a:t>
            </a:r>
          </a:p>
        </p:txBody>
      </p:sp>
      <p:sp>
        <p:nvSpPr>
          <p:cNvPr id="21" name="line21"/>
          <p:cNvSpPr/>
          <p:nvPr/>
        </p:nvSpPr>
        <p:spPr>
          <a:xfrm>
            <a:off x="731520" y="4194809"/>
            <a:ext cx="10725912" cy="0"/>
          </a:xfrm>
          <a:prstGeom prst="line">
            <a:avLst/>
          </a:prstGeom>
          <a:ln w="9525">
            <a:solidFill>
              <a:srgbClr val="DCE0E8"/>
            </a:solidFill>
          </a:ln>
        </p:spPr>
        <p:txBody>
          <a:bodyPr/>
          <a:lstStyle/>
          <a:p>
            <a:endParaRPr/>
          </a:p>
        </p:txBody>
      </p:sp>
      <p:sp>
        <p:nvSpPr>
          <p:cNvPr id="22" name="h2"/>
          <p:cNvSpPr txBox="1"/>
          <p:nvPr/>
        </p:nvSpPr>
        <p:spPr>
          <a:xfrm>
            <a:off x="731520" y="4325112"/>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결과와 해석</a:t>
            </a:r>
          </a:p>
        </p:txBody>
      </p:sp>
      <p:sp>
        <p:nvSpPr>
          <p:cNvPr id="23" name="b2"/>
          <p:cNvSpPr txBox="1"/>
          <p:nvPr/>
        </p:nvSpPr>
        <p:spPr>
          <a:xfrm>
            <a:off x="3154680" y="4325112"/>
            <a:ext cx="8302752" cy="781812"/>
          </a:xfrm>
          <a:prstGeom prst="rect">
            <a:avLst/>
          </a:prstGeom>
          <a:noFill/>
        </p:spPr>
        <p:txBody>
          <a:bodyPr wrap="square" lIns="0" tIns="27432" rIns="0" bIns="27432" anchor="ctr">
            <a:noAutofit/>
          </a:bodyPr>
          <a:lstStyle/>
          <a:p>
            <a:pPr algn="l">
              <a:lnSpc>
                <a:spcPct val="125000"/>
              </a:lnSpc>
              <a:spcAft>
                <a:spcPts val="500"/>
              </a:spcAft>
            </a:pPr>
            <a:r>
              <a:rPr lang="ko-KR" sz="1250" b="1" dirty="0">
                <a:solidFill>
                  <a:srgbClr val="222633"/>
                </a:solidFill>
                <a:latin typeface="Pretendard"/>
                <a:ea typeface="Pretendard"/>
                <a:cs typeface="Pretendard"/>
              </a:rPr>
              <a:t>공식처리의 범죄통제상 이득은 확인되지 않았고, 결과는 대체로 이후 비행이 더 많은 방향이었다.</a:t>
            </a:r>
          </a:p>
          <a:p>
            <a:pPr algn="l">
              <a:lnSpc>
                <a:spcPct val="118000"/>
              </a:lnSpc>
              <a:spcAft>
                <a:spcPts val="500"/>
              </a:spcAft>
            </a:pPr>
            <a:r>
              <a:rPr lang="ko-KR" sz="1150" b="0" dirty="0">
                <a:solidFill>
                  <a:srgbClr val="464D5C"/>
                </a:solidFill>
                <a:latin typeface="Pretendard"/>
                <a:ea typeface="Pretendard"/>
                <a:cs typeface="Pretendard"/>
              </a:rPr>
              <a:t>다이버전 프로그램과 비교한 연구에서 차이가 더 컸다.</a:t>
            </a:r>
          </a:p>
          <a:p>
            <a:pPr algn="l">
              <a:lnSpc>
                <a:spcPct val="118000"/>
              </a:lnSpc>
            </a:pPr>
            <a:r>
              <a:rPr lang="ko-KR" sz="1150" b="0" dirty="0">
                <a:solidFill>
                  <a:srgbClr val="464D5C"/>
                </a:solidFill>
                <a:latin typeface="Pretendard"/>
                <a:ea typeface="Pretendard"/>
                <a:cs typeface="Pretendard"/>
              </a:rPr>
              <a:t>사법처리 대신 무엇을 제공했는지가 해석에 중요하다.</a:t>
            </a:r>
          </a:p>
        </p:txBody>
      </p:sp>
      <p:sp>
        <p:nvSpPr>
          <p:cNvPr id="24" name="line24"/>
          <p:cNvSpPr/>
          <p:nvPr/>
        </p:nvSpPr>
        <p:spPr>
          <a:xfrm>
            <a:off x="731520" y="5237225"/>
            <a:ext cx="10725912" cy="0"/>
          </a:xfrm>
          <a:prstGeom prst="line">
            <a:avLst/>
          </a:prstGeom>
          <a:ln w="9525">
            <a:solidFill>
              <a:srgbClr val="DCE0E8"/>
            </a:solidFill>
          </a:ln>
        </p:spPr>
        <p:txBody>
          <a:bodyPr/>
          <a:lstStyle/>
          <a:p>
            <a:endParaRPr/>
          </a:p>
        </p:txBody>
      </p:sp>
      <p:sp>
        <p:nvSpPr>
          <p:cNvPr id="25" name="h3"/>
          <p:cNvSpPr txBox="1"/>
          <p:nvPr/>
        </p:nvSpPr>
        <p:spPr>
          <a:xfrm>
            <a:off x="731520" y="5367527"/>
            <a:ext cx="2240280" cy="59436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한국에 연결할 범위</a:t>
            </a:r>
          </a:p>
        </p:txBody>
      </p:sp>
      <p:sp>
        <p:nvSpPr>
          <p:cNvPr id="26" name="b3"/>
          <p:cNvSpPr txBox="1"/>
          <p:nvPr/>
        </p:nvSpPr>
        <p:spPr>
          <a:xfrm>
            <a:off x="3154680" y="5367527"/>
            <a:ext cx="8302752" cy="594360"/>
          </a:xfrm>
          <a:prstGeom prst="rect">
            <a:avLst/>
          </a:prstGeom>
          <a:noFill/>
        </p:spPr>
        <p:txBody>
          <a:bodyPr wrap="square" lIns="0" tIns="27432" rIns="0" bIns="27432" anchor="ctr">
            <a:noAutofit/>
          </a:bodyPr>
          <a:lstStyle/>
          <a:p>
            <a:pPr algn="l">
              <a:lnSpc>
                <a:spcPct val="125000"/>
              </a:lnSpc>
            </a:pPr>
            <a:r>
              <a:rPr sz="1250" b="1">
                <a:solidFill>
                  <a:srgbClr val="222633"/>
                </a:solidFill>
                <a:latin typeface="Pretendard"/>
              </a:rPr>
              <a:t>한국에 적용하려면 이미 보호절차가 있는 13세의 하향과 이 연구의 공식처리가 어떤 점에서 같은지, 어떤 서비스가 대체경로로 제공되는지 맞춰 보아야 한다.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Petrosino, Turpin-Petrosino &amp; Guckenburg(2010), Campbell Systematic Reviews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소년구금의 장기효과 — Aizer·Doyle(2015)</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구금의 효과는 당장의 제재뿐 아니라, 이후 학업과 성인기 사법체계 접촉까지 포함해 평가해야 한다.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731520" y="2468880"/>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분석 자료</a:t>
            </a:r>
          </a:p>
        </p:txBody>
      </p:sp>
      <p:sp>
        <p:nvSpPr>
          <p:cNvPr id="17" name="b0"/>
          <p:cNvSpPr txBox="1"/>
          <p:nvPr/>
        </p:nvSpPr>
        <p:spPr>
          <a:xfrm>
            <a:off x="3154680" y="2468880"/>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구금된 소년은 처음부터 사건이 더 중대하거나 위험이 높을 수 있다.</a:t>
            </a:r>
          </a:p>
          <a:p>
            <a:pPr algn="l">
              <a:lnSpc>
                <a:spcPct val="118000"/>
              </a:lnSpc>
            </a:pPr>
            <a:r>
              <a:rPr lang="ko-KR" sz="1150" b="0" dirty="0">
                <a:solidFill>
                  <a:srgbClr val="464D5C"/>
                </a:solidFill>
                <a:latin typeface="Pretendard"/>
                <a:ea typeface="Pretendard"/>
                <a:cs typeface="Pretendard"/>
              </a:rPr>
              <a:t>판사 배당의 차이를 이용해 구금 자체의 효과를 분리했다.</a:t>
            </a:r>
          </a:p>
        </p:txBody>
      </p:sp>
      <p:sp>
        <p:nvSpPr>
          <p:cNvPr id="18" name="line18"/>
          <p:cNvSpPr/>
          <p:nvPr/>
        </p:nvSpPr>
        <p:spPr>
          <a:xfrm>
            <a:off x="731520" y="3240024"/>
            <a:ext cx="10725912" cy="0"/>
          </a:xfrm>
          <a:prstGeom prst="line">
            <a:avLst/>
          </a:prstGeom>
          <a:ln w="9525">
            <a:solidFill>
              <a:srgbClr val="DCE0E8"/>
            </a:solidFill>
          </a:ln>
        </p:spPr>
        <p:txBody>
          <a:bodyPr/>
          <a:lstStyle/>
          <a:p>
            <a:endParaRPr/>
          </a:p>
        </p:txBody>
      </p:sp>
      <p:sp>
        <p:nvSpPr>
          <p:cNvPr id="19" name="h1"/>
          <p:cNvSpPr txBox="1"/>
          <p:nvPr/>
        </p:nvSpPr>
        <p:spPr>
          <a:xfrm>
            <a:off x="731520" y="3435096"/>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판사 배당을 이용한 방법</a:t>
            </a:r>
          </a:p>
        </p:txBody>
      </p:sp>
      <p:sp>
        <p:nvSpPr>
          <p:cNvPr id="20" name="b1"/>
          <p:cNvSpPr txBox="1"/>
          <p:nvPr/>
        </p:nvSpPr>
        <p:spPr>
          <a:xfrm>
            <a:off x="3154680" y="3435096"/>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사건의 판사 배당과 판사별 구금 결정 성향의 차이를 활용했다.</a:t>
            </a:r>
          </a:p>
          <a:p>
            <a:pPr algn="l">
              <a:lnSpc>
                <a:spcPct val="118000"/>
              </a:lnSpc>
            </a:pPr>
            <a:r>
              <a:rPr lang="ko-KR" sz="1150" b="0" dirty="0">
                <a:solidFill>
                  <a:srgbClr val="464D5C"/>
                </a:solidFill>
                <a:latin typeface="Pretendard"/>
                <a:ea typeface="Pretendard"/>
                <a:cs typeface="Pretendard"/>
              </a:rPr>
              <a:t>비슷한 사건이라도 배당된 판사에 따라 구금 가능성이 달라지는 부분을 이용해 효과를 추정했다.</a:t>
            </a:r>
          </a:p>
        </p:txBody>
      </p:sp>
      <p:sp>
        <p:nvSpPr>
          <p:cNvPr id="21" name="line21"/>
          <p:cNvSpPr/>
          <p:nvPr/>
        </p:nvSpPr>
        <p:spPr>
          <a:xfrm>
            <a:off x="731520" y="4206240"/>
            <a:ext cx="10725912" cy="0"/>
          </a:xfrm>
          <a:prstGeom prst="line">
            <a:avLst/>
          </a:prstGeom>
          <a:ln w="9525">
            <a:solidFill>
              <a:srgbClr val="DCE0E8"/>
            </a:solidFill>
          </a:ln>
        </p:spPr>
        <p:txBody>
          <a:bodyPr/>
          <a:lstStyle/>
          <a:p>
            <a:endParaRPr/>
          </a:p>
        </p:txBody>
      </p:sp>
      <p:sp>
        <p:nvSpPr>
          <p:cNvPr id="22" name="h2"/>
          <p:cNvSpPr txBox="1"/>
          <p:nvPr/>
        </p:nvSpPr>
        <p:spPr>
          <a:xfrm>
            <a:off x="731520" y="4401312"/>
            <a:ext cx="2240280" cy="80010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추정한 장기 결과</a:t>
            </a:r>
          </a:p>
        </p:txBody>
      </p:sp>
      <p:sp>
        <p:nvSpPr>
          <p:cNvPr id="23" name="b2"/>
          <p:cNvSpPr txBox="1"/>
          <p:nvPr/>
        </p:nvSpPr>
        <p:spPr>
          <a:xfrm>
            <a:off x="3154680" y="4401312"/>
            <a:ext cx="8302752" cy="800100"/>
          </a:xfrm>
          <a:prstGeom prst="rect">
            <a:avLst/>
          </a:prstGeom>
          <a:noFill/>
        </p:spPr>
        <p:txBody>
          <a:bodyPr wrap="square" lIns="0" tIns="27432" rIns="0" bIns="27432" anchor="ctr">
            <a:noAutofit/>
          </a:bodyPr>
          <a:lstStyle/>
          <a:p>
            <a:pPr algn="l">
              <a:lnSpc>
                <a:spcPct val="125000"/>
              </a:lnSpc>
              <a:spcAft>
                <a:spcPts val="500"/>
              </a:spcAft>
            </a:pPr>
            <a:r>
              <a:rPr lang="ko-KR" sz="1250" b="1" dirty="0">
                <a:solidFill>
                  <a:srgbClr val="222633"/>
                </a:solidFill>
                <a:latin typeface="Pretendard"/>
                <a:ea typeface="Pretendard"/>
                <a:cs typeface="Pretendard"/>
              </a:rPr>
              <a:t>소년구금은 고교 졸업 가능성을 약 13%p 낮추고, 성인기 수감 가능성을 약 23%p 높이는 것으로 추정됐다.</a:t>
            </a:r>
          </a:p>
          <a:p>
            <a:pPr algn="l">
              <a:lnSpc>
                <a:spcPct val="118000"/>
              </a:lnSpc>
            </a:pPr>
            <a:r>
              <a:rPr lang="ko-KR" sz="1150" b="0" dirty="0">
                <a:solidFill>
                  <a:srgbClr val="464D5C"/>
                </a:solidFill>
                <a:latin typeface="Pretendard"/>
                <a:ea typeface="Pretendard"/>
                <a:cs typeface="Pretendard"/>
              </a:rPr>
              <a:t>%p는 비율 사이의 차이이며, 같은 숫자의 상대 감소율·증가율과 다르다.</a:t>
            </a:r>
          </a:p>
        </p:txBody>
      </p:sp>
      <p:sp>
        <p:nvSpPr>
          <p:cNvPr id="24" name="line24"/>
          <p:cNvSpPr/>
          <p:nvPr/>
        </p:nvSpPr>
        <p:spPr>
          <a:xfrm>
            <a:off x="731520" y="5396484"/>
            <a:ext cx="10725912" cy="0"/>
          </a:xfrm>
          <a:prstGeom prst="line">
            <a:avLst/>
          </a:prstGeom>
          <a:ln w="9525">
            <a:solidFill>
              <a:srgbClr val="DCE0E8"/>
            </a:solidFill>
          </a:ln>
        </p:spPr>
        <p:txBody>
          <a:bodyPr/>
          <a:lstStyle/>
          <a:p>
            <a:endParaRPr/>
          </a:p>
        </p:txBody>
      </p:sp>
      <p:sp>
        <p:nvSpPr>
          <p:cNvPr id="25" name="h3"/>
          <p:cNvSpPr txBox="1"/>
          <p:nvPr/>
        </p:nvSpPr>
        <p:spPr>
          <a:xfrm>
            <a:off x="731520" y="5591556"/>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해석할 대상</a:t>
            </a:r>
          </a:p>
        </p:txBody>
      </p:sp>
      <p:sp>
        <p:nvSpPr>
          <p:cNvPr id="26" name="b3"/>
          <p:cNvSpPr txBox="1"/>
          <p:nvPr/>
        </p:nvSpPr>
        <p:spPr>
          <a:xfrm>
            <a:off x="3154680" y="5591556"/>
            <a:ext cx="8302752" cy="370332"/>
          </a:xfrm>
          <a:prstGeom prst="rect">
            <a:avLst/>
          </a:prstGeom>
          <a:noFill/>
        </p:spPr>
        <p:txBody>
          <a:bodyPr wrap="square" lIns="0" tIns="27432" rIns="0" bIns="27432" anchor="ctr">
            <a:noAutofit/>
          </a:bodyPr>
          <a:lstStyle/>
          <a:p>
            <a:pPr algn="l">
              <a:lnSpc>
                <a:spcPct val="118000"/>
              </a:lnSpc>
            </a:pPr>
            <a:r>
              <a:rPr sz="1250" b="1">
                <a:solidFill>
                  <a:srgbClr val="222633"/>
                </a:solidFill>
                <a:latin typeface="Pretendard"/>
              </a:rPr>
              <a:t>이 결과는 판사 성향 때문에 구금 여부가 갈릴 수 있었던 사건에서 추정된 것이다.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Aizer &amp; Doyle(2015), QJE 130(2), 759–803 · MIT 연구 소개</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지역과 결과지표의 차이 — Eren·Mocan(2021)</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정책의 효과를 평가할 때는 무엇이 줄고 늘었는지, 누구에게 어떤 처우가 제공됐는지까지 확인한다.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731520" y="2468880"/>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분석 자료</a:t>
            </a:r>
          </a:p>
        </p:txBody>
      </p:sp>
      <p:sp>
        <p:nvSpPr>
          <p:cNvPr id="17" name="b0"/>
          <p:cNvSpPr txBox="1"/>
          <p:nvPr/>
        </p:nvSpPr>
        <p:spPr>
          <a:xfrm>
            <a:off x="3154680" y="2468880"/>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Eren·Mocan(2021)도 사건의 판사 배당과 판사별 구금 성향을 이용했다.</a:t>
            </a:r>
          </a:p>
          <a:p>
            <a:pPr algn="l">
              <a:lnSpc>
                <a:spcPct val="118000"/>
              </a:lnSpc>
            </a:pPr>
            <a:r>
              <a:rPr lang="ko-KR" sz="1150" b="0" dirty="0">
                <a:solidFill>
                  <a:srgbClr val="464D5C"/>
                </a:solidFill>
                <a:latin typeface="Pretendard"/>
                <a:ea typeface="Pretendard"/>
                <a:cs typeface="Pretendard"/>
              </a:rPr>
              <a:t>쿡카운티 연구와 방법은 비슷하지만 지역·처우·교육제도와 결과지표가 다르다.</a:t>
            </a:r>
          </a:p>
        </p:txBody>
      </p:sp>
      <p:sp>
        <p:nvSpPr>
          <p:cNvPr id="18" name="line18"/>
          <p:cNvSpPr/>
          <p:nvPr/>
        </p:nvSpPr>
        <p:spPr>
          <a:xfrm>
            <a:off x="731520" y="3243072"/>
            <a:ext cx="10725912" cy="0"/>
          </a:xfrm>
          <a:prstGeom prst="line">
            <a:avLst/>
          </a:prstGeom>
          <a:ln w="9525">
            <a:solidFill>
              <a:srgbClr val="DCE0E8"/>
            </a:solidFill>
          </a:ln>
        </p:spPr>
        <p:txBody>
          <a:bodyPr/>
          <a:lstStyle/>
          <a:p>
            <a:endParaRPr/>
          </a:p>
        </p:txBody>
      </p:sp>
      <p:sp>
        <p:nvSpPr>
          <p:cNvPr id="19" name="h1"/>
          <p:cNvSpPr txBox="1"/>
          <p:nvPr/>
        </p:nvSpPr>
        <p:spPr>
          <a:xfrm>
            <a:off x="731520" y="3441192"/>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성인기 범죄유형별 결과</a:t>
            </a:r>
          </a:p>
        </p:txBody>
      </p:sp>
      <p:sp>
        <p:nvSpPr>
          <p:cNvPr id="20" name="b1"/>
          <p:cNvSpPr txBox="1"/>
          <p:nvPr/>
        </p:nvSpPr>
        <p:spPr>
          <a:xfrm>
            <a:off x="3154680" y="3441192"/>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약물범죄 유죄 가능성은 증가하고 재산범죄 유죄 가능성은 감소했다.</a:t>
            </a:r>
          </a:p>
          <a:p>
            <a:pPr algn="l">
              <a:lnSpc>
                <a:spcPct val="118000"/>
              </a:lnSpc>
              <a:spcAft>
                <a:spcPts val="500"/>
              </a:spcAft>
            </a:pPr>
            <a:r>
              <a:rPr lang="ko-KR" sz="1150" b="0" dirty="0">
                <a:solidFill>
                  <a:srgbClr val="464D5C"/>
                </a:solidFill>
                <a:latin typeface="Pretendard"/>
                <a:ea typeface="Pretendard"/>
                <a:cs typeface="Pretendard"/>
              </a:rPr>
              <a:t>폭력범죄에는 뚜렷한 영향을 확인하지 못했다.</a:t>
            </a:r>
          </a:p>
          <a:p>
            <a:pPr algn="l">
              <a:lnSpc>
                <a:spcPct val="118000"/>
              </a:lnSpc>
            </a:pPr>
            <a:r>
              <a:rPr lang="ko-KR" sz="1150" b="0" dirty="0">
                <a:solidFill>
                  <a:srgbClr val="464D5C"/>
                </a:solidFill>
                <a:latin typeface="Pretendard"/>
                <a:ea typeface="Pretendard"/>
                <a:cs typeface="Pretendard"/>
              </a:rPr>
              <a:t>성인기 수감 여부와 특정 범죄의 유죄 여부도 서로 다른 지표다.</a:t>
            </a:r>
          </a:p>
        </p:txBody>
      </p:sp>
      <p:sp>
        <p:nvSpPr>
          <p:cNvPr id="21" name="line21"/>
          <p:cNvSpPr/>
          <p:nvPr/>
        </p:nvSpPr>
        <p:spPr>
          <a:xfrm>
            <a:off x="731520" y="4421123"/>
            <a:ext cx="10725912" cy="0"/>
          </a:xfrm>
          <a:prstGeom prst="line">
            <a:avLst/>
          </a:prstGeom>
          <a:ln w="9525">
            <a:solidFill>
              <a:srgbClr val="DCE0E8"/>
            </a:solidFill>
          </a:ln>
        </p:spPr>
        <p:txBody>
          <a:bodyPr/>
          <a:lstStyle/>
          <a:p>
            <a:endParaRPr/>
          </a:p>
        </p:txBody>
      </p:sp>
      <p:sp>
        <p:nvSpPr>
          <p:cNvPr id="22" name="h2"/>
          <p:cNvSpPr txBox="1"/>
          <p:nvPr/>
        </p:nvSpPr>
        <p:spPr>
          <a:xfrm>
            <a:off x="731520" y="4619243"/>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고교 졸업에서의 차이</a:t>
            </a:r>
          </a:p>
        </p:txBody>
      </p:sp>
      <p:sp>
        <p:nvSpPr>
          <p:cNvPr id="23" name="b2"/>
          <p:cNvSpPr txBox="1"/>
          <p:nvPr/>
        </p:nvSpPr>
        <p:spPr>
          <a:xfrm>
            <a:off x="3154680" y="4619243"/>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부정적 영향은 이전 출생집단에서 나타났지만 이후 집단에서는 확인되지 않았다.</a:t>
            </a:r>
          </a:p>
          <a:p>
            <a:pPr algn="l">
              <a:lnSpc>
                <a:spcPct val="118000"/>
              </a:lnSpc>
            </a:pPr>
            <a:r>
              <a:rPr lang="ko-KR" sz="1150" b="0" dirty="0">
                <a:solidFill>
                  <a:srgbClr val="464D5C"/>
                </a:solidFill>
                <a:latin typeface="Pretendard"/>
                <a:ea typeface="Pretendard"/>
                <a:cs typeface="Pretendard"/>
              </a:rPr>
              <a:t>교육제도와 구금 중 처우 등의 맥락을 함께 검토했다.</a:t>
            </a:r>
          </a:p>
        </p:txBody>
      </p:sp>
      <p:sp>
        <p:nvSpPr>
          <p:cNvPr id="24" name="line24"/>
          <p:cNvSpPr/>
          <p:nvPr/>
        </p:nvSpPr>
        <p:spPr>
          <a:xfrm>
            <a:off x="731520" y="5393435"/>
            <a:ext cx="10725912" cy="0"/>
          </a:xfrm>
          <a:prstGeom prst="line">
            <a:avLst/>
          </a:prstGeom>
          <a:ln w="9525">
            <a:solidFill>
              <a:srgbClr val="DCE0E8"/>
            </a:solidFill>
          </a:ln>
        </p:spPr>
        <p:txBody>
          <a:bodyPr/>
          <a:lstStyle/>
          <a:p>
            <a:endParaRPr/>
          </a:p>
        </p:txBody>
      </p:sp>
      <p:sp>
        <p:nvSpPr>
          <p:cNvPr id="25" name="h3"/>
          <p:cNvSpPr txBox="1"/>
          <p:nvPr/>
        </p:nvSpPr>
        <p:spPr>
          <a:xfrm>
            <a:off x="731520" y="5591555"/>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두 연구를 함께 읽으면</a:t>
            </a:r>
          </a:p>
        </p:txBody>
      </p:sp>
      <p:sp>
        <p:nvSpPr>
          <p:cNvPr id="26" name="b3"/>
          <p:cNvSpPr txBox="1"/>
          <p:nvPr/>
        </p:nvSpPr>
        <p:spPr>
          <a:xfrm>
            <a:off x="3154680" y="5591555"/>
            <a:ext cx="8302752" cy="370332"/>
          </a:xfrm>
          <a:prstGeom prst="rect">
            <a:avLst/>
          </a:prstGeom>
          <a:noFill/>
        </p:spPr>
        <p:txBody>
          <a:bodyPr wrap="square" lIns="0" tIns="27432" rIns="0" bIns="27432" anchor="ctr">
            <a:noAutofit/>
          </a:bodyPr>
          <a:lstStyle/>
          <a:p>
            <a:pPr algn="l">
              <a:lnSpc>
                <a:spcPct val="125000"/>
              </a:lnSpc>
            </a:pPr>
            <a:r>
              <a:rPr lang="ko-KR" sz="1250" b="1" dirty="0">
                <a:solidFill>
                  <a:srgbClr val="222633"/>
                </a:solidFill>
                <a:latin typeface="Pretendard"/>
                <a:ea typeface="Pretendard"/>
                <a:cs typeface="Pretendard"/>
              </a:rPr>
              <a:t>어떤 소년에게 어떤 처우가 제공되었고 범죄·교육 중 무엇을 측정했는지에 따라 결과가 달라진다.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Eren &amp; Mocan(2021), Review of Economics and Statistics 103(1), 34–47</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또래가 있을 때의 위험선택 — Gardner·Steinberg(2005)</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위험을 아는지와 실제 상황에서 위험을 피하는지는 다를 수 있으며, 또래 환경도 행동에 영향을 준다.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731520" y="2468880"/>
            <a:ext cx="2240280" cy="59436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참가자와 배정</a:t>
            </a:r>
          </a:p>
        </p:txBody>
      </p:sp>
      <p:sp>
        <p:nvSpPr>
          <p:cNvPr id="17" name="b0"/>
          <p:cNvSpPr txBox="1"/>
          <p:nvPr/>
        </p:nvSpPr>
        <p:spPr>
          <a:xfrm>
            <a:off x="3154680" y="2468880"/>
            <a:ext cx="8302752" cy="594360"/>
          </a:xfrm>
          <a:prstGeom prst="rect">
            <a:avLst/>
          </a:prstGeom>
          <a:noFill/>
        </p:spPr>
        <p:txBody>
          <a:bodyPr wrap="square" lIns="0" tIns="27432" rIns="0" bIns="27432" anchor="ctr">
            <a:noAutofit/>
          </a:bodyPr>
          <a:lstStyle/>
          <a:p>
            <a:pPr algn="l">
              <a:lnSpc>
                <a:spcPct val="125000"/>
              </a:lnSpc>
            </a:pPr>
            <a:r>
              <a:rPr lang="ko-KR" sz="1250" b="1" dirty="0">
                <a:solidFill>
                  <a:srgbClr val="222633"/>
                </a:solidFill>
                <a:latin typeface="Pretendard"/>
                <a:ea typeface="Pretendard"/>
                <a:cs typeface="Pretendard"/>
              </a:rPr>
              <a:t>총 306명을 13~16세, 18~22세, 24세 이상으로 나누고, 혼자 과제를 하는 조건 또는 또래 두 명이 함께 있는 조건에 무작위로 배정했다.</a:t>
            </a:r>
          </a:p>
        </p:txBody>
      </p:sp>
      <p:sp>
        <p:nvSpPr>
          <p:cNvPr id="18" name="line18"/>
          <p:cNvSpPr/>
          <p:nvPr/>
        </p:nvSpPr>
        <p:spPr>
          <a:xfrm>
            <a:off x="731520" y="3224022"/>
            <a:ext cx="10725912" cy="0"/>
          </a:xfrm>
          <a:prstGeom prst="line">
            <a:avLst/>
          </a:prstGeom>
          <a:ln w="9525">
            <a:solidFill>
              <a:srgbClr val="DCE0E8"/>
            </a:solidFill>
          </a:ln>
        </p:spPr>
        <p:txBody>
          <a:bodyPr/>
          <a:lstStyle/>
          <a:p>
            <a:endParaRPr/>
          </a:p>
        </p:txBody>
      </p:sp>
      <p:sp>
        <p:nvSpPr>
          <p:cNvPr id="19" name="h1"/>
          <p:cNvSpPr txBox="1"/>
          <p:nvPr/>
        </p:nvSpPr>
        <p:spPr>
          <a:xfrm>
            <a:off x="731520" y="3384804"/>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위험을 선택하는 운전게임</a:t>
            </a:r>
          </a:p>
        </p:txBody>
      </p:sp>
      <p:sp>
        <p:nvSpPr>
          <p:cNvPr id="20" name="b1"/>
          <p:cNvSpPr txBox="1"/>
          <p:nvPr/>
        </p:nvSpPr>
        <p:spPr>
          <a:xfrm>
            <a:off x="3154680" y="3384804"/>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노란 신호 뒤 계속 달리면 점수가 늘지만, 이후 벽에 충돌하면 점수를 잃는다.</a:t>
            </a:r>
          </a:p>
          <a:p>
            <a:pPr algn="l">
              <a:lnSpc>
                <a:spcPct val="125000"/>
              </a:lnSpc>
            </a:pPr>
            <a:r>
              <a:rPr lang="ko-KR" sz="1150" b="0" dirty="0">
                <a:solidFill>
                  <a:srgbClr val="464D5C"/>
                </a:solidFill>
                <a:latin typeface="Pretendard"/>
                <a:ea typeface="Pretendard"/>
                <a:cs typeface="Pretendard"/>
              </a:rPr>
              <a:t>노란 신호 뒤 움직인 시간과 재출발 횟수 등으로 위험행동을 측정하고, 위험의 이익과 비용을 묻는 설문도 실시했다.</a:t>
            </a:r>
          </a:p>
        </p:txBody>
      </p:sp>
      <p:sp>
        <p:nvSpPr>
          <p:cNvPr id="21" name="line21"/>
          <p:cNvSpPr/>
          <p:nvPr/>
        </p:nvSpPr>
        <p:spPr>
          <a:xfrm>
            <a:off x="731520" y="4327398"/>
            <a:ext cx="10725912" cy="0"/>
          </a:xfrm>
          <a:prstGeom prst="line">
            <a:avLst/>
          </a:prstGeom>
          <a:ln w="9525">
            <a:solidFill>
              <a:srgbClr val="DCE0E8"/>
            </a:solidFill>
          </a:ln>
        </p:spPr>
        <p:txBody>
          <a:bodyPr/>
          <a:lstStyle/>
          <a:p>
            <a:endParaRPr/>
          </a:p>
        </p:txBody>
      </p:sp>
      <p:sp>
        <p:nvSpPr>
          <p:cNvPr id="22" name="h2"/>
          <p:cNvSpPr txBox="1"/>
          <p:nvPr/>
        </p:nvSpPr>
        <p:spPr>
          <a:xfrm>
            <a:off x="731520" y="4488180"/>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관찰된 차이</a:t>
            </a:r>
          </a:p>
        </p:txBody>
      </p:sp>
      <p:sp>
        <p:nvSpPr>
          <p:cNvPr id="23" name="b2"/>
          <p:cNvSpPr txBox="1"/>
          <p:nvPr/>
        </p:nvSpPr>
        <p:spPr>
          <a:xfrm>
            <a:off x="3154680" y="4488180"/>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또래와 함께할 때 위험한 선택을 더 하고 이익에 더 주목하는 경향이 나타났다.</a:t>
            </a:r>
          </a:p>
          <a:p>
            <a:pPr algn="l">
              <a:lnSpc>
                <a:spcPct val="118000"/>
              </a:lnSpc>
            </a:pPr>
            <a:r>
              <a:rPr lang="ko-KR" sz="1150" b="0" dirty="0">
                <a:solidFill>
                  <a:srgbClr val="464D5C"/>
                </a:solidFill>
                <a:latin typeface="Pretendard"/>
                <a:ea typeface="Pretendard"/>
                <a:cs typeface="Pretendard"/>
              </a:rPr>
              <a:t>또래의 영향은 청소년·청년 집단에서 성인보다 컸다.</a:t>
            </a:r>
          </a:p>
        </p:txBody>
      </p:sp>
      <p:sp>
        <p:nvSpPr>
          <p:cNvPr id="24" name="line24"/>
          <p:cNvSpPr/>
          <p:nvPr/>
        </p:nvSpPr>
        <p:spPr>
          <a:xfrm>
            <a:off x="731520" y="5225034"/>
            <a:ext cx="10725912" cy="0"/>
          </a:xfrm>
          <a:prstGeom prst="line">
            <a:avLst/>
          </a:prstGeom>
          <a:ln w="9525">
            <a:solidFill>
              <a:srgbClr val="DCE0E8"/>
            </a:solidFill>
          </a:ln>
        </p:spPr>
        <p:txBody>
          <a:bodyPr/>
          <a:lstStyle/>
          <a:p>
            <a:endParaRPr/>
          </a:p>
        </p:txBody>
      </p:sp>
      <p:sp>
        <p:nvSpPr>
          <p:cNvPr id="25" name="h3"/>
          <p:cNvSpPr txBox="1"/>
          <p:nvPr/>
        </p:nvSpPr>
        <p:spPr>
          <a:xfrm>
            <a:off x="731520" y="5385816"/>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설명하는 범위</a:t>
            </a:r>
          </a:p>
        </p:txBody>
      </p:sp>
      <p:sp>
        <p:nvSpPr>
          <p:cNvPr id="26" name="b3"/>
          <p:cNvSpPr txBox="1"/>
          <p:nvPr/>
        </p:nvSpPr>
        <p:spPr>
          <a:xfrm>
            <a:off x="3154680" y="5385816"/>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같은 연령에서도 선택의 상황이 중요하다는 실험 결과다.</a:t>
            </a:r>
          </a:p>
          <a:p>
            <a:pPr algn="l">
              <a:lnSpc>
                <a:spcPct val="118000"/>
              </a:lnSpc>
            </a:pPr>
            <a:r>
              <a:rPr lang="ko-KR" sz="1150" b="0" dirty="0">
                <a:solidFill>
                  <a:srgbClr val="464D5C"/>
                </a:solidFill>
                <a:latin typeface="Pretendard"/>
                <a:ea typeface="Pretendard"/>
                <a:cs typeface="Pretendard"/>
              </a:rPr>
              <a:t>측정한 것은 실험 상황에서의 위험선택이다.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Gardner &amp; Steinberg(2005), Developmental Psychology 41(4), 625–635</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BAM의 활동 내용 — Heller 외(2017)</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개입의 이름과 함께 참가자가 실제로 무엇을 경험하고 연습하는지 확인한다.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h0"/>
          <p:cNvSpPr txBox="1"/>
          <p:nvPr/>
        </p:nvSpPr>
        <p:spPr>
          <a:xfrm>
            <a:off x="731520" y="2366010"/>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프로그램의 실제 활동</a:t>
            </a:r>
          </a:p>
        </p:txBody>
      </p:sp>
      <p:sp>
        <p:nvSpPr>
          <p:cNvPr id="17" name="b0"/>
          <p:cNvSpPr txBox="1"/>
          <p:nvPr/>
        </p:nvSpPr>
        <p:spPr>
          <a:xfrm>
            <a:off x="3154680" y="2366010"/>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상대가 손에 쥔 공을 얻으라는 과제에서 많은 참가자가 힘을 사용했다.</a:t>
            </a:r>
          </a:p>
          <a:p>
            <a:pPr algn="l">
              <a:lnSpc>
                <a:spcPct val="118000"/>
              </a:lnSpc>
            </a:pPr>
            <a:r>
              <a:rPr lang="ko-KR" sz="1150" b="0" dirty="0">
                <a:solidFill>
                  <a:srgbClr val="464D5C"/>
                </a:solidFill>
                <a:latin typeface="Pretendard"/>
                <a:ea typeface="Pretendard"/>
                <a:cs typeface="Pretendard"/>
              </a:rPr>
              <a:t>진행자는 먼저 달라고 요청하지 않은 이유를 묻고, 상대에게 요청받았다면 어떻게 했을지도 묻는다.</a:t>
            </a:r>
          </a:p>
        </p:txBody>
      </p:sp>
      <p:sp>
        <p:nvSpPr>
          <p:cNvPr id="18" name="line18"/>
          <p:cNvSpPr/>
          <p:nvPr/>
        </p:nvSpPr>
        <p:spPr>
          <a:xfrm>
            <a:off x="731520" y="3170682"/>
            <a:ext cx="10725912" cy="0"/>
          </a:xfrm>
          <a:prstGeom prst="line">
            <a:avLst/>
          </a:prstGeom>
          <a:ln w="9525">
            <a:solidFill>
              <a:srgbClr val="DCE0E8"/>
            </a:solidFill>
          </a:ln>
        </p:spPr>
        <p:txBody>
          <a:bodyPr/>
          <a:lstStyle/>
          <a:p>
            <a:endParaRPr/>
          </a:p>
        </p:txBody>
      </p:sp>
      <p:sp>
        <p:nvSpPr>
          <p:cNvPr id="19" name="h1"/>
          <p:cNvSpPr txBox="1"/>
          <p:nvPr/>
        </p:nvSpPr>
        <p:spPr>
          <a:xfrm>
            <a:off x="731520" y="3399282"/>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활동이 점검하는 과정</a:t>
            </a:r>
          </a:p>
        </p:txBody>
      </p:sp>
      <p:sp>
        <p:nvSpPr>
          <p:cNvPr id="20" name="b1"/>
          <p:cNvSpPr txBox="1"/>
          <p:nvPr/>
        </p:nvSpPr>
        <p:spPr>
          <a:xfrm>
            <a:off x="3154680" y="3399282"/>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상대가 거절하거나 자신을 약하게 볼 것이라는 자동적인 추측이 맞았는지 확인한다.</a:t>
            </a:r>
          </a:p>
          <a:p>
            <a:pPr algn="l">
              <a:lnSpc>
                <a:spcPct val="118000"/>
              </a:lnSpc>
            </a:pPr>
            <a:r>
              <a:rPr lang="ko-KR" sz="1150" b="0" dirty="0">
                <a:solidFill>
                  <a:srgbClr val="464D5C"/>
                </a:solidFill>
                <a:latin typeface="Pretendard"/>
                <a:ea typeface="Pretendard"/>
                <a:cs typeface="Pretendard"/>
              </a:rPr>
              <a:t>상황에 대한 다른 해석과 대응을 생각하도록 하는 활동이다.</a:t>
            </a:r>
          </a:p>
        </p:txBody>
      </p:sp>
      <p:sp>
        <p:nvSpPr>
          <p:cNvPr id="21" name="line21"/>
          <p:cNvSpPr/>
          <p:nvPr/>
        </p:nvSpPr>
        <p:spPr>
          <a:xfrm>
            <a:off x="731520" y="4203954"/>
            <a:ext cx="10725912" cy="0"/>
          </a:xfrm>
          <a:prstGeom prst="line">
            <a:avLst/>
          </a:prstGeom>
          <a:ln w="9525">
            <a:solidFill>
              <a:srgbClr val="DCE0E8"/>
            </a:solidFill>
          </a:ln>
        </p:spPr>
        <p:txBody>
          <a:bodyPr/>
          <a:lstStyle/>
          <a:p>
            <a:endParaRPr/>
          </a:p>
        </p:txBody>
      </p:sp>
      <p:sp>
        <p:nvSpPr>
          <p:cNvPr id="22" name="h2"/>
          <p:cNvSpPr txBox="1"/>
          <p:nvPr/>
        </p:nvSpPr>
        <p:spPr>
          <a:xfrm>
            <a:off x="731520" y="4432554"/>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수업에서 생각할 질문</a:t>
            </a:r>
          </a:p>
        </p:txBody>
      </p:sp>
      <p:sp>
        <p:nvSpPr>
          <p:cNvPr id="23" name="b2"/>
          <p:cNvSpPr txBox="1"/>
          <p:nvPr/>
        </p:nvSpPr>
        <p:spPr>
          <a:xfrm>
            <a:off x="3154680" y="4432554"/>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상대의 반응을 아직 확인하지 않은 상태에서 어떤 행동을 먼저 선택했는가?</a:t>
            </a:r>
          </a:p>
          <a:p>
            <a:pPr algn="l">
              <a:lnSpc>
                <a:spcPct val="118000"/>
              </a:lnSpc>
            </a:pPr>
            <a:r>
              <a:rPr lang="ko-KR" sz="1150" b="0" dirty="0">
                <a:solidFill>
                  <a:srgbClr val="464D5C"/>
                </a:solidFill>
                <a:latin typeface="Pretendard"/>
                <a:ea typeface="Pretendard"/>
                <a:cs typeface="Pretendard"/>
              </a:rPr>
              <a:t>위험한 행동이 잘못이라는 지식 외에 상황을 해석하고 반응을 고르는 연습이 필요한가?</a:t>
            </a:r>
          </a:p>
        </p:txBody>
      </p:sp>
      <p:sp>
        <p:nvSpPr>
          <p:cNvPr id="24" name="line24"/>
          <p:cNvSpPr/>
          <p:nvPr/>
        </p:nvSpPr>
        <p:spPr>
          <a:xfrm>
            <a:off x="731520" y="5237226"/>
            <a:ext cx="10725912" cy="0"/>
          </a:xfrm>
          <a:prstGeom prst="line">
            <a:avLst/>
          </a:prstGeom>
          <a:ln w="9525">
            <a:solidFill>
              <a:srgbClr val="DCE0E8"/>
            </a:solidFill>
          </a:ln>
        </p:spPr>
        <p:txBody>
          <a:bodyPr/>
          <a:lstStyle/>
          <a:p>
            <a:endParaRPr/>
          </a:p>
        </p:txBody>
      </p:sp>
      <p:sp>
        <p:nvSpPr>
          <p:cNvPr id="25" name="h3"/>
          <p:cNvSpPr txBox="1"/>
          <p:nvPr/>
        </p:nvSpPr>
        <p:spPr>
          <a:xfrm>
            <a:off x="731520" y="5465826"/>
            <a:ext cx="2240280" cy="370332"/>
          </a:xfrm>
          <a:prstGeom prst="rect">
            <a:avLst/>
          </a:prstGeom>
          <a:noFill/>
        </p:spPr>
        <p:txBody>
          <a:bodyPr wrap="square" lIns="0" tIns="27432" rIns="0" bIns="27432" anchor="ctr">
            <a:noAutofit/>
          </a:bodyPr>
          <a:lstStyle/>
          <a:p>
            <a:pPr algn="ctr">
              <a:lnSpc>
                <a:spcPct val="118000"/>
              </a:lnSpc>
            </a:pPr>
            <a:r>
              <a:rPr sz="1300" b="1">
                <a:solidFill>
                  <a:srgbClr val="1E2761"/>
                </a:solidFill>
                <a:latin typeface="Pretendard"/>
                <a:ea typeface="Pretendard"/>
                <a:cs typeface="Pretendard"/>
              </a:rPr>
              <a:t>BAM 효과수치와의 관계</a:t>
            </a:r>
          </a:p>
        </p:txBody>
      </p:sp>
      <p:sp>
        <p:nvSpPr>
          <p:cNvPr id="26" name="b3"/>
          <p:cNvSpPr txBox="1"/>
          <p:nvPr/>
        </p:nvSpPr>
        <p:spPr>
          <a:xfrm>
            <a:off x="3154680" y="5465826"/>
            <a:ext cx="8302752" cy="370332"/>
          </a:xfrm>
          <a:prstGeom prst="rect">
            <a:avLst/>
          </a:prstGeom>
          <a:noFill/>
        </p:spPr>
        <p:txBody>
          <a:bodyPr wrap="square" lIns="0" tIns="27432" rIns="0" bIns="27432" anchor="ctr">
            <a:noAutofit/>
          </a:bodyPr>
          <a:lstStyle/>
          <a:p>
            <a:pPr algn="l">
              <a:lnSpc>
                <a:spcPct val="118000"/>
              </a:lnSpc>
              <a:spcAft>
                <a:spcPts val="500"/>
              </a:spcAft>
            </a:pPr>
            <a:r>
              <a:rPr sz="1250" b="1">
                <a:solidFill>
                  <a:srgbClr val="222633"/>
                </a:solidFill>
                <a:latin typeface="Pretendard"/>
                <a:ea typeface="Pretendard"/>
                <a:cs typeface="Pretendard"/>
              </a:rPr>
              <a:t>이 활동은 BAM의 한 구성요소다.</a:t>
            </a:r>
          </a:p>
          <a:p>
            <a:pPr algn="l"/>
            <a:r>
              <a:rPr sz="1150" b="0">
                <a:solidFill>
                  <a:srgbClr val="464D5C"/>
                </a:solidFill>
                <a:latin typeface="Pretendard"/>
                <a:ea typeface="Pretendard"/>
                <a:cs typeface="Pretendard"/>
              </a:rPr>
              <a:t>다음 장의 효과수치는 이 활동 하나가 아니라 프로그램 전체를 평가한 결과다.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Heller 외(2017), QJE 132(1), 1–54 · 활동: pp.3, 9/Table I · 효과: pp.20–22/Table IV · 최종 논문(2017). 활동은 Table I, 프로그램별 효과는 Table IV와 대조한다</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BAM의 무작위실험과 결과 — Heller 외(2017)</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BAM은 실제 활동, 폭력범죄 체포의 감소, 종료 뒤 지속성을 나누어 평가해야 한다.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h0"/>
          <p:cNvSpPr txBox="1"/>
          <p:nvPr/>
        </p:nvSpPr>
        <p:spPr>
          <a:xfrm>
            <a:off x="731520" y="2240280"/>
            <a:ext cx="2240280" cy="98755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두 연구의 대상과 시점</a:t>
            </a:r>
          </a:p>
        </p:txBody>
      </p:sp>
      <p:sp>
        <p:nvSpPr>
          <p:cNvPr id="17" name="b0"/>
          <p:cNvSpPr txBox="1"/>
          <p:nvPr/>
        </p:nvSpPr>
        <p:spPr>
          <a:xfrm>
            <a:off x="3154680" y="2240280"/>
            <a:ext cx="8302752" cy="98755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시카고 청소년을 무작위로 배정한 연구다.</a:t>
            </a:r>
          </a:p>
          <a:p>
            <a:pPr algn="l">
              <a:lnSpc>
                <a:spcPct val="125000"/>
              </a:lnSpc>
              <a:spcAft>
                <a:spcPts val="500"/>
              </a:spcAft>
            </a:pPr>
            <a:r>
              <a:rPr lang="ko-KR" sz="1150" b="0" dirty="0">
                <a:solidFill>
                  <a:srgbClr val="464D5C"/>
                </a:solidFill>
                <a:latin typeface="Pretendard"/>
                <a:ea typeface="Pretendard"/>
                <a:cs typeface="Pretendard"/>
              </a:rPr>
              <a:t>연구 1은 2,740명·2009~2010학년도 1년 프로그램, 연구 2는 2,064명·2013~2015학년도 2년 프로그램을 평가했다.</a:t>
            </a:r>
          </a:p>
          <a:p>
            <a:pPr algn="l">
              <a:lnSpc>
                <a:spcPct val="118000"/>
              </a:lnSpc>
            </a:pPr>
            <a:r>
              <a:rPr lang="ko-KR" sz="1150" b="0" dirty="0">
                <a:solidFill>
                  <a:srgbClr val="464D5C"/>
                </a:solidFill>
                <a:latin typeface="Pretendard"/>
                <a:ea typeface="Pretendard"/>
                <a:cs typeface="Pretendard"/>
              </a:rPr>
              <a:t>결과는 정부 행정자료로 측정했다.</a:t>
            </a:r>
          </a:p>
        </p:txBody>
      </p:sp>
      <p:sp>
        <p:nvSpPr>
          <p:cNvPr id="18" name="line18"/>
          <p:cNvSpPr/>
          <p:nvPr/>
        </p:nvSpPr>
        <p:spPr>
          <a:xfrm>
            <a:off x="731520" y="3361182"/>
            <a:ext cx="10725912" cy="0"/>
          </a:xfrm>
          <a:prstGeom prst="line">
            <a:avLst/>
          </a:prstGeom>
          <a:ln w="9525">
            <a:solidFill>
              <a:srgbClr val="DCE0E8"/>
            </a:solidFill>
          </a:ln>
        </p:spPr>
        <p:txBody>
          <a:bodyPr/>
          <a:lstStyle/>
          <a:p>
            <a:endParaRPr/>
          </a:p>
        </p:txBody>
      </p:sp>
      <p:sp>
        <p:nvSpPr>
          <p:cNvPr id="19" name="h1"/>
          <p:cNvSpPr txBox="1"/>
          <p:nvPr/>
        </p:nvSpPr>
        <p:spPr>
          <a:xfrm>
            <a:off x="731520" y="3494532"/>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참여효과</a:t>
            </a:r>
          </a:p>
        </p:txBody>
      </p:sp>
      <p:sp>
        <p:nvSpPr>
          <p:cNvPr id="20" name="b1"/>
          <p:cNvSpPr txBox="1"/>
          <p:nvPr/>
        </p:nvSpPr>
        <p:spPr>
          <a:xfrm>
            <a:off x="3154680" y="3494532"/>
            <a:ext cx="8302752" cy="781812"/>
          </a:xfrm>
          <a:prstGeom prst="rect">
            <a:avLst/>
          </a:prstGeom>
          <a:noFill/>
        </p:spPr>
        <p:txBody>
          <a:bodyPr wrap="square" lIns="0" tIns="27432" rIns="0" bIns="27432" anchor="ctr">
            <a:noAutofit/>
          </a:bodyPr>
          <a:lstStyle/>
          <a:p>
            <a:pPr algn="l">
              <a:lnSpc>
                <a:spcPct val="118000"/>
              </a:lnSpc>
              <a:spcAft>
                <a:spcPts val="500"/>
              </a:spcAft>
            </a:pPr>
            <a:r>
              <a:rPr sz="1300" b="1">
                <a:solidFill>
                  <a:srgbClr val="222633"/>
                </a:solidFill>
                <a:latin typeface="Pretendard"/>
              </a:rPr>
              <a:t>연구 1의 개입연도에는 폭력범죄 체포가 약 45% 감소했다.</a:t>
            </a:r>
          </a:p>
          <a:p>
            <a:pPr algn="l"/>
            <a:r>
              <a:rPr sz="1300" b="1">
                <a:solidFill>
                  <a:srgbClr val="222633"/>
                </a:solidFill>
                <a:latin typeface="Pretendard"/>
              </a:rPr>
              <a:t>연구 2의 개입 2년차에는 폭력범죄 체포가 약 50% 감소했다.</a:t>
            </a:r>
          </a:p>
          <a:p>
            <a:pPr algn="l"/>
            <a:r>
              <a:rPr sz="1300" b="1">
                <a:solidFill>
                  <a:srgbClr val="222633"/>
                </a:solidFill>
                <a:latin typeface="Pretendard"/>
              </a:rPr>
              <a:t>두 값은 행정자료로 측정한 참여효과 추정치의 상대 감소율이다.</a:t>
            </a:r>
          </a:p>
        </p:txBody>
      </p:sp>
      <p:sp>
        <p:nvSpPr>
          <p:cNvPr id="21" name="line21"/>
          <p:cNvSpPr/>
          <p:nvPr/>
        </p:nvSpPr>
        <p:spPr>
          <a:xfrm>
            <a:off x="731520" y="4409694"/>
            <a:ext cx="10725912" cy="0"/>
          </a:xfrm>
          <a:prstGeom prst="line">
            <a:avLst/>
          </a:prstGeom>
          <a:ln w="9525">
            <a:solidFill>
              <a:srgbClr val="DCE0E8"/>
            </a:solidFill>
          </a:ln>
        </p:spPr>
        <p:txBody>
          <a:bodyPr/>
          <a:lstStyle/>
          <a:p>
            <a:endParaRPr/>
          </a:p>
        </p:txBody>
      </p:sp>
      <p:sp>
        <p:nvSpPr>
          <p:cNvPr id="22" name="h2"/>
          <p:cNvSpPr txBox="1"/>
          <p:nvPr/>
        </p:nvSpPr>
        <p:spPr>
          <a:xfrm>
            <a:off x="731520" y="4543044"/>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지속성과 적용 범위</a:t>
            </a:r>
          </a:p>
        </p:txBody>
      </p:sp>
      <p:sp>
        <p:nvSpPr>
          <p:cNvPr id="23" name="b2"/>
          <p:cNvSpPr txBox="1"/>
          <p:nvPr/>
        </p:nvSpPr>
        <p:spPr>
          <a:xfrm>
            <a:off x="3154680" y="4543044"/>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연구 1에서는 개입이 끝난 뒤 체포 감소가 지속되지 않았다.</a:t>
            </a:r>
          </a:p>
          <a:p>
            <a:pPr algn="l">
              <a:lnSpc>
                <a:spcPct val="118000"/>
              </a:lnSpc>
              <a:spcAft>
                <a:spcPts val="500"/>
              </a:spcAft>
            </a:pPr>
            <a:r>
              <a:rPr lang="ko-KR" sz="1150" b="0" dirty="0">
                <a:solidFill>
                  <a:srgbClr val="464D5C"/>
                </a:solidFill>
                <a:latin typeface="Pretendard"/>
                <a:ea typeface="Pretendard"/>
                <a:cs typeface="Pretendard"/>
              </a:rPr>
              <a:t>연구 2의 개입 종료 후 자료는 논문에서 제시하지 않았다.</a:t>
            </a:r>
          </a:p>
          <a:p>
            <a:pPr algn="l">
              <a:lnSpc>
                <a:spcPct val="118000"/>
              </a:lnSpc>
            </a:pPr>
            <a:r>
              <a:rPr lang="ko-KR" sz="1150" b="0" dirty="0">
                <a:solidFill>
                  <a:srgbClr val="464D5C"/>
                </a:solidFill>
                <a:latin typeface="Pretendard"/>
                <a:ea typeface="Pretendard"/>
                <a:cs typeface="Pretendard"/>
              </a:rPr>
              <a:t>확인된 범위는 각 연구의 개입 기간 중 결과다.</a:t>
            </a:r>
          </a:p>
        </p:txBody>
      </p:sp>
      <p:sp>
        <p:nvSpPr>
          <p:cNvPr id="24" name="line24"/>
          <p:cNvSpPr/>
          <p:nvPr/>
        </p:nvSpPr>
        <p:spPr>
          <a:xfrm>
            <a:off x="731520" y="5458206"/>
            <a:ext cx="10725912" cy="0"/>
          </a:xfrm>
          <a:prstGeom prst="line">
            <a:avLst/>
          </a:prstGeom>
          <a:ln w="9525">
            <a:solidFill>
              <a:srgbClr val="DCE0E8"/>
            </a:solidFill>
          </a:ln>
        </p:spPr>
        <p:txBody>
          <a:bodyPr/>
          <a:lstStyle/>
          <a:p>
            <a:endParaRPr/>
          </a:p>
        </p:txBody>
      </p:sp>
      <p:sp>
        <p:nvSpPr>
          <p:cNvPr id="25" name="h3"/>
          <p:cNvSpPr txBox="1"/>
          <p:nvPr/>
        </p:nvSpPr>
        <p:spPr>
          <a:xfrm>
            <a:off x="731520" y="5591556"/>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한국에 연결할 때</a:t>
            </a:r>
          </a:p>
        </p:txBody>
      </p:sp>
      <p:sp>
        <p:nvSpPr>
          <p:cNvPr id="26" name="b3"/>
          <p:cNvSpPr txBox="1"/>
          <p:nvPr/>
        </p:nvSpPr>
        <p:spPr>
          <a:xfrm>
            <a:off x="3154680" y="5591556"/>
            <a:ext cx="8302752" cy="370332"/>
          </a:xfrm>
          <a:prstGeom prst="rect">
            <a:avLst/>
          </a:prstGeom>
          <a:noFill/>
        </p:spPr>
        <p:txBody>
          <a:bodyPr wrap="square" lIns="0" tIns="27432" rIns="0" bIns="27432" anchor="ctr">
            <a:noAutofit/>
          </a:bodyPr>
          <a:lstStyle/>
          <a:p>
            <a:pPr algn="l">
              <a:lnSpc>
                <a:spcPct val="118000"/>
              </a:lnSpc>
            </a:pPr>
            <a:r>
              <a:rPr lang="ko-KR" sz="1250" b="1" dirty="0">
                <a:solidFill>
                  <a:srgbClr val="222633"/>
                </a:solidFill>
                <a:latin typeface="Pretendard"/>
                <a:ea typeface="Pretendard"/>
                <a:cs typeface="Pretendard"/>
              </a:rPr>
              <a:t>한국 적용은 대상·운영 내용·실행 여건·유지 기간을 맞춘 뒤 판단한다.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Heller 외(2017), QJE 132(1), 1–54 · 활동: pp.3, 9/Table I · 효과: pp.20–22/Table IV</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경찰 다이버전 — Wilson 외(2018)</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경미·초기 사건에는 어떤 대안 경로가 효과적인지 살피고, 중대·반복 사건의 대응과 구분해 설계한다.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731520" y="2480310"/>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무엇과 비교했나</a:t>
            </a:r>
          </a:p>
        </p:txBody>
      </p:sp>
      <p:sp>
        <p:nvSpPr>
          <p:cNvPr id="17" name="b0"/>
          <p:cNvSpPr txBox="1"/>
          <p:nvPr/>
        </p:nvSpPr>
        <p:spPr>
          <a:xfrm>
            <a:off x="3154680" y="2480310"/>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18세 미만 대상의 경찰 다이버전과 전통적인 공식처리를 비교한 19개 평가를 종합했다.</a:t>
            </a:r>
          </a:p>
          <a:p>
            <a:pPr algn="l">
              <a:lnSpc>
                <a:spcPct val="118000"/>
              </a:lnSpc>
            </a:pPr>
            <a:r>
              <a:rPr lang="ko-KR" sz="1150" b="0" dirty="0">
                <a:solidFill>
                  <a:srgbClr val="464D5C"/>
                </a:solidFill>
                <a:latin typeface="Pretendard"/>
                <a:ea typeface="Pretendard"/>
                <a:cs typeface="Pretendard"/>
              </a:rPr>
              <a:t>무작위로 배정한 연구 13개와 그 밖의 비교 연구 6개이며, 대부분 미국·캐나다·호주·영국의 자료다.</a:t>
            </a:r>
          </a:p>
        </p:txBody>
      </p:sp>
      <p:sp>
        <p:nvSpPr>
          <p:cNvPr id="18" name="line18"/>
          <p:cNvSpPr/>
          <p:nvPr/>
        </p:nvSpPr>
        <p:spPr>
          <a:xfrm>
            <a:off x="731520" y="3284982"/>
            <a:ext cx="10725912" cy="0"/>
          </a:xfrm>
          <a:prstGeom prst="line">
            <a:avLst/>
          </a:prstGeom>
          <a:ln w="9525">
            <a:solidFill>
              <a:srgbClr val="DCE0E8"/>
            </a:solidFill>
          </a:ln>
        </p:spPr>
        <p:txBody>
          <a:bodyPr/>
          <a:lstStyle/>
          <a:p>
            <a:endParaRPr/>
          </a:p>
        </p:txBody>
      </p:sp>
      <p:sp>
        <p:nvSpPr>
          <p:cNvPr id="19" name="h1"/>
          <p:cNvSpPr txBox="1"/>
          <p:nvPr/>
        </p:nvSpPr>
        <p:spPr>
          <a:xfrm>
            <a:off x="731520" y="3513582"/>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누구에게 나타난 결과인가</a:t>
            </a:r>
          </a:p>
        </p:txBody>
      </p:sp>
      <p:sp>
        <p:nvSpPr>
          <p:cNvPr id="20" name="b1"/>
          <p:cNvSpPr txBox="1"/>
          <p:nvPr/>
        </p:nvSpPr>
        <p:spPr>
          <a:xfrm>
            <a:off x="3154680" y="3513582"/>
            <a:ext cx="8302752" cy="576072"/>
          </a:xfrm>
          <a:prstGeom prst="rect">
            <a:avLst/>
          </a:prstGeom>
          <a:noFill/>
        </p:spPr>
        <p:txBody>
          <a:bodyPr wrap="square" lIns="0" tIns="27432" rIns="0" bIns="27432" anchor="ctr">
            <a:noAutofit/>
          </a:bodyPr>
          <a:lstStyle/>
          <a:p>
            <a:pPr algn="l">
              <a:lnSpc>
                <a:spcPct val="125000"/>
              </a:lnSpc>
              <a:spcAft>
                <a:spcPts val="500"/>
              </a:spcAft>
            </a:pPr>
            <a:r>
              <a:rPr sz="1250" b="1">
                <a:solidFill>
                  <a:srgbClr val="222633"/>
                </a:solidFill>
                <a:latin typeface="Pretendard"/>
              </a:rPr>
              <a:t>사법체계 접촉이 없거나 적은 저위험 소년에서, 다이버전이 이후 공식 비행을 줄이는 방향이었다.</a:t>
            </a:r>
          </a:p>
          <a:p>
            <a:pPr algn="l"/>
            <a:r>
              <a:rPr sz="1150" b="0">
                <a:solidFill>
                  <a:srgbClr val="464D5C"/>
                </a:solidFill>
                <a:latin typeface="Pretendard"/>
              </a:rPr>
              <a:t>다이버전은 정식 사법처리 대신 경고·서비스·프로그램 등 대체경로로 연결하는 방식이다.</a:t>
            </a:r>
          </a:p>
        </p:txBody>
      </p:sp>
      <p:sp>
        <p:nvSpPr>
          <p:cNvPr id="21" name="line21"/>
          <p:cNvSpPr/>
          <p:nvPr/>
        </p:nvSpPr>
        <p:spPr>
          <a:xfrm>
            <a:off x="731520" y="4318254"/>
            <a:ext cx="10725912" cy="0"/>
          </a:xfrm>
          <a:prstGeom prst="line">
            <a:avLst/>
          </a:prstGeom>
          <a:ln w="9525">
            <a:solidFill>
              <a:srgbClr val="DCE0E8"/>
            </a:solidFill>
          </a:ln>
        </p:spPr>
        <p:txBody>
          <a:bodyPr/>
          <a:lstStyle/>
          <a:p>
            <a:endParaRPr/>
          </a:p>
        </p:txBody>
      </p:sp>
      <p:sp>
        <p:nvSpPr>
          <p:cNvPr id="22" name="h2"/>
          <p:cNvSpPr txBox="1"/>
          <p:nvPr/>
        </p:nvSpPr>
        <p:spPr>
          <a:xfrm>
            <a:off x="731520" y="4546854"/>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한국에서 정해야 할 것</a:t>
            </a:r>
          </a:p>
        </p:txBody>
      </p:sp>
      <p:sp>
        <p:nvSpPr>
          <p:cNvPr id="23" name="b2"/>
          <p:cNvSpPr txBox="1"/>
          <p:nvPr/>
        </p:nvSpPr>
        <p:spPr>
          <a:xfrm>
            <a:off x="3154680" y="4546854"/>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대상 사건을 고르는 기준, 경찰의 권한, 연결할 지원과 책임 이행의 내용을 구체화해야 한다.</a:t>
            </a:r>
          </a:p>
          <a:p>
            <a:pPr algn="l">
              <a:lnSpc>
                <a:spcPct val="118000"/>
              </a:lnSpc>
            </a:pPr>
            <a:r>
              <a:rPr lang="ko-KR" sz="1150" b="0" dirty="0">
                <a:solidFill>
                  <a:srgbClr val="464D5C"/>
                </a:solidFill>
                <a:latin typeface="Pretendard"/>
                <a:ea typeface="Pretendard"/>
                <a:cs typeface="Pretendard"/>
              </a:rPr>
              <a:t>확인된 범위는 저위험 소년의 경미사건이다.</a:t>
            </a:r>
          </a:p>
        </p:txBody>
      </p:sp>
      <p:sp>
        <p:nvSpPr>
          <p:cNvPr id="24" name="line24"/>
          <p:cNvSpPr/>
          <p:nvPr/>
        </p:nvSpPr>
        <p:spPr>
          <a:xfrm>
            <a:off x="731520" y="5351526"/>
            <a:ext cx="10725912" cy="0"/>
          </a:xfrm>
          <a:prstGeom prst="line">
            <a:avLst/>
          </a:prstGeom>
          <a:ln w="9525">
            <a:solidFill>
              <a:srgbClr val="DCE0E8"/>
            </a:solidFill>
          </a:ln>
        </p:spPr>
        <p:txBody>
          <a:bodyPr/>
          <a:lstStyle/>
          <a:p>
            <a:endParaRPr/>
          </a:p>
        </p:txBody>
      </p:sp>
      <p:sp>
        <p:nvSpPr>
          <p:cNvPr id="25" name="h3"/>
          <p:cNvSpPr txBox="1"/>
          <p:nvPr/>
        </p:nvSpPr>
        <p:spPr>
          <a:xfrm>
            <a:off x="731520" y="5580126"/>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권한과 효과의 구분</a:t>
            </a:r>
          </a:p>
        </p:txBody>
      </p:sp>
      <p:sp>
        <p:nvSpPr>
          <p:cNvPr id="26" name="b3"/>
          <p:cNvSpPr txBox="1"/>
          <p:nvPr/>
        </p:nvSpPr>
        <p:spPr>
          <a:xfrm>
            <a:off x="3154680" y="5580126"/>
            <a:ext cx="8302752" cy="370332"/>
          </a:xfrm>
          <a:prstGeom prst="rect">
            <a:avLst/>
          </a:prstGeom>
          <a:noFill/>
        </p:spPr>
        <p:txBody>
          <a:bodyPr wrap="square" lIns="0" tIns="27432" rIns="0" bIns="27432" anchor="ctr">
            <a:noAutofit/>
          </a:bodyPr>
          <a:lstStyle/>
          <a:p>
            <a:pPr algn="l">
              <a:lnSpc>
                <a:spcPct val="118000"/>
              </a:lnSpc>
            </a:pPr>
            <a:r>
              <a:rPr lang="ko-KR" sz="1250" b="1" dirty="0">
                <a:solidFill>
                  <a:srgbClr val="222633"/>
                </a:solidFill>
                <a:latin typeface="Pretendard"/>
                <a:ea typeface="Pretendard"/>
                <a:cs typeface="Pretendard"/>
              </a:rPr>
              <a:t>한국에 적용하려면 전건송치 규정의 법적 변경과 연결할 서비스가 함께 필요하다.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Wilson, Brennan &amp; Olaghere(2018), Campbell Systematic Reviews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교도소 체험의 역효과 — Petrosino 외(2013)</a:t>
            </a:r>
          </a:p>
        </p:txBody>
      </p:sp>
      <p:sp>
        <p:nvSpPr>
          <p:cNvPr id="13" name="topband"/>
          <p:cNvSpPr/>
          <p:nvPr/>
        </p:nvSpPr>
        <p:spPr>
          <a:xfrm>
            <a:off x="731520" y="1417320"/>
            <a:ext cx="10725912" cy="5486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강한 인상을 주는 개입도, 실제 행동 변화와 부작용을 검증해 선택해야 한다.</a:t>
            </a:r>
          </a:p>
        </p:txBody>
      </p:sp>
      <p:sp>
        <p:nvSpPr>
          <p:cNvPr id="15" name="line15"/>
          <p:cNvSpPr/>
          <p:nvPr/>
        </p:nvSpPr>
        <p:spPr>
          <a:xfrm>
            <a:off x="731520" y="2057400"/>
            <a:ext cx="10725912" cy="0"/>
          </a:xfrm>
          <a:prstGeom prst="line">
            <a:avLst/>
          </a:prstGeom>
          <a:ln w="19050">
            <a:solidFill>
              <a:srgbClr val="1E2761"/>
            </a:solidFill>
          </a:ln>
        </p:spPr>
        <p:txBody>
          <a:bodyPr/>
          <a:lstStyle/>
          <a:p>
            <a:endParaRPr/>
          </a:p>
        </p:txBody>
      </p:sp>
      <p:sp>
        <p:nvSpPr>
          <p:cNvPr id="16" name="h0"/>
          <p:cNvSpPr txBox="1"/>
          <p:nvPr/>
        </p:nvSpPr>
        <p:spPr>
          <a:xfrm>
            <a:off x="731520" y="2240280"/>
            <a:ext cx="2240280" cy="1005839"/>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기대했던 효과</a:t>
            </a:r>
          </a:p>
        </p:txBody>
      </p:sp>
      <p:sp>
        <p:nvSpPr>
          <p:cNvPr id="17" name="b0"/>
          <p:cNvSpPr txBox="1"/>
          <p:nvPr/>
        </p:nvSpPr>
        <p:spPr>
          <a:xfrm>
            <a:off x="3154680" y="2240280"/>
            <a:ext cx="8302752" cy="1005839"/>
          </a:xfrm>
          <a:prstGeom prst="rect">
            <a:avLst/>
          </a:prstGeom>
          <a:noFill/>
        </p:spPr>
        <p:txBody>
          <a:bodyPr wrap="square" lIns="0" tIns="27432" rIns="0" bIns="27432" anchor="ctr">
            <a:noAutofit/>
          </a:bodyPr>
          <a:lstStyle/>
          <a:p>
            <a:pPr algn="l">
              <a:lnSpc>
                <a:spcPct val="125000"/>
              </a:lnSpc>
              <a:spcAft>
                <a:spcPts val="500"/>
              </a:spcAft>
            </a:pPr>
            <a:r>
              <a:rPr lang="ko-KR" sz="1250" b="1" dirty="0">
                <a:solidFill>
                  <a:srgbClr val="222633"/>
                </a:solidFill>
                <a:latin typeface="Pretendard"/>
                <a:ea typeface="Pretendard"/>
                <a:cs typeface="Pretendard"/>
              </a:rPr>
              <a:t>Scared Straight는 소년에게 교도소의 생활과 수감자의 모습을 직접 보게 하는 프로그램이다.</a:t>
            </a:r>
          </a:p>
          <a:p>
            <a:pPr algn="l">
              <a:lnSpc>
                <a:spcPct val="118000"/>
              </a:lnSpc>
              <a:spcAft>
                <a:spcPts val="500"/>
              </a:spcAft>
            </a:pPr>
            <a:r>
              <a:rPr lang="ko-KR" sz="1150" b="0" dirty="0">
                <a:solidFill>
                  <a:srgbClr val="464D5C"/>
                </a:solidFill>
                <a:latin typeface="Pretendard"/>
                <a:ea typeface="Pretendard"/>
                <a:cs typeface="Pretendard"/>
              </a:rPr>
              <a:t>두려움을 느껴 범죄를 피할 것이라고 기대했다.</a:t>
            </a:r>
          </a:p>
          <a:p>
            <a:pPr algn="l">
              <a:lnSpc>
                <a:spcPct val="118000"/>
              </a:lnSpc>
            </a:pPr>
            <a:r>
              <a:rPr lang="ko-KR" sz="1150" b="0" dirty="0">
                <a:solidFill>
                  <a:srgbClr val="464D5C"/>
                </a:solidFill>
                <a:latin typeface="Pretendard"/>
                <a:ea typeface="Pretendard"/>
                <a:cs typeface="Pretendard"/>
              </a:rPr>
              <a:t>강한 인상을 받는 것과 이후 행동이 바뀌는 것은 별도로 확인해야 한다.</a:t>
            </a:r>
          </a:p>
        </p:txBody>
      </p:sp>
      <p:sp>
        <p:nvSpPr>
          <p:cNvPr id="18" name="line18"/>
          <p:cNvSpPr/>
          <p:nvPr/>
        </p:nvSpPr>
        <p:spPr>
          <a:xfrm>
            <a:off x="731520" y="3376422"/>
            <a:ext cx="10725912" cy="0"/>
          </a:xfrm>
          <a:prstGeom prst="line">
            <a:avLst/>
          </a:prstGeom>
          <a:ln w="9525">
            <a:solidFill>
              <a:srgbClr val="DCE0E8"/>
            </a:solidFill>
          </a:ln>
        </p:spPr>
        <p:txBody>
          <a:bodyPr/>
          <a:lstStyle/>
          <a:p>
            <a:endParaRPr/>
          </a:p>
        </p:txBody>
      </p:sp>
      <p:sp>
        <p:nvSpPr>
          <p:cNvPr id="19" name="h1"/>
          <p:cNvSpPr txBox="1"/>
          <p:nvPr/>
        </p:nvSpPr>
        <p:spPr>
          <a:xfrm>
            <a:off x="731520" y="3506724"/>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무엇을 종합했나</a:t>
            </a:r>
          </a:p>
        </p:txBody>
      </p:sp>
      <p:sp>
        <p:nvSpPr>
          <p:cNvPr id="20" name="b1"/>
          <p:cNvSpPr txBox="1"/>
          <p:nvPr/>
        </p:nvSpPr>
        <p:spPr>
          <a:xfrm>
            <a:off x="3154680" y="3506724"/>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미국의 9개 실험, 총 946명 자료를 종합했다.</a:t>
            </a:r>
          </a:p>
          <a:p>
            <a:pPr algn="l">
              <a:lnSpc>
                <a:spcPct val="118000"/>
              </a:lnSpc>
            </a:pPr>
            <a:r>
              <a:rPr lang="ko-KR" sz="1150" b="0" dirty="0">
                <a:solidFill>
                  <a:srgbClr val="464D5C"/>
                </a:solidFill>
                <a:latin typeface="Pretendard"/>
                <a:ea typeface="Pretendard"/>
                <a:cs typeface="Pretendard"/>
              </a:rPr>
              <a:t>프로그램에 참여한 집단과 참여하지 않은 집단의 이후 범죄 결과를 살폈다.</a:t>
            </a:r>
          </a:p>
        </p:txBody>
      </p:sp>
      <p:sp>
        <p:nvSpPr>
          <p:cNvPr id="21" name="line21"/>
          <p:cNvSpPr/>
          <p:nvPr/>
        </p:nvSpPr>
        <p:spPr>
          <a:xfrm>
            <a:off x="731520" y="4213098"/>
            <a:ext cx="10725912" cy="0"/>
          </a:xfrm>
          <a:prstGeom prst="line">
            <a:avLst/>
          </a:prstGeom>
          <a:ln w="9525">
            <a:solidFill>
              <a:srgbClr val="DCE0E8"/>
            </a:solidFill>
          </a:ln>
        </p:spPr>
        <p:txBody>
          <a:bodyPr/>
          <a:lstStyle/>
          <a:p>
            <a:endParaRPr/>
          </a:p>
        </p:txBody>
      </p:sp>
      <p:sp>
        <p:nvSpPr>
          <p:cNvPr id="22" name="h2"/>
          <p:cNvSpPr txBox="1"/>
          <p:nvPr/>
        </p:nvSpPr>
        <p:spPr>
          <a:xfrm>
            <a:off x="731520" y="4343400"/>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무엇이 나타났나</a:t>
            </a:r>
          </a:p>
        </p:txBody>
      </p:sp>
      <p:sp>
        <p:nvSpPr>
          <p:cNvPr id="23" name="b2"/>
          <p:cNvSpPr txBox="1"/>
          <p:nvPr/>
        </p:nvSpPr>
        <p:spPr>
          <a:xfrm>
            <a:off x="3154680" y="4343400"/>
            <a:ext cx="8302752" cy="781812"/>
          </a:xfrm>
          <a:prstGeom prst="rect">
            <a:avLst/>
          </a:prstGeom>
          <a:noFill/>
        </p:spPr>
        <p:txBody>
          <a:bodyPr wrap="square" lIns="0" tIns="27432" rIns="0" bIns="27432" anchor="ctr">
            <a:noAutofit/>
          </a:bodyPr>
          <a:lstStyle/>
          <a:p>
            <a:pPr algn="l">
              <a:lnSpc>
                <a:spcPct val="118000"/>
              </a:lnSpc>
              <a:spcAft>
                <a:spcPts val="500"/>
              </a:spcAft>
            </a:pPr>
            <a:r>
              <a:rPr sz="1300" b="1">
                <a:solidFill>
                  <a:srgbClr val="222633"/>
                </a:solidFill>
                <a:latin typeface="Pretendard"/>
              </a:rPr>
              <a:t>범죄통제의 이득을 보이지 않았다.</a:t>
            </a:r>
          </a:p>
          <a:p>
            <a:pPr algn="l"/>
            <a:r>
              <a:rPr sz="1150" b="0">
                <a:solidFill>
                  <a:srgbClr val="464D5C"/>
                </a:solidFill>
                <a:latin typeface="Pretendard"/>
              </a:rPr>
              <a:t>범죄결과를 제시한 7개 연구를 종합하면 오히려 이후 범죄 가능성이 증가했다.</a:t>
            </a:r>
          </a:p>
          <a:p>
            <a:pPr algn="l"/>
            <a:r>
              <a:rPr sz="1150" b="0">
                <a:solidFill>
                  <a:srgbClr val="464D5C"/>
                </a:solidFill>
                <a:latin typeface="Pretendard"/>
              </a:rPr>
              <a:t>결과는 이후 범죄 행동을 기준으로 평가한 것이다.</a:t>
            </a:r>
          </a:p>
        </p:txBody>
      </p:sp>
      <p:sp>
        <p:nvSpPr>
          <p:cNvPr id="24" name="line24"/>
          <p:cNvSpPr/>
          <p:nvPr/>
        </p:nvSpPr>
        <p:spPr>
          <a:xfrm>
            <a:off x="731520" y="5255514"/>
            <a:ext cx="10725912" cy="0"/>
          </a:xfrm>
          <a:prstGeom prst="line">
            <a:avLst/>
          </a:prstGeom>
          <a:ln w="9525">
            <a:solidFill>
              <a:srgbClr val="DCE0E8"/>
            </a:solidFill>
          </a:ln>
        </p:spPr>
        <p:txBody>
          <a:bodyPr/>
          <a:lstStyle/>
          <a:p>
            <a:endParaRPr/>
          </a:p>
        </p:txBody>
      </p:sp>
      <p:sp>
        <p:nvSpPr>
          <p:cNvPr id="25" name="h3"/>
          <p:cNvSpPr txBox="1"/>
          <p:nvPr/>
        </p:nvSpPr>
        <p:spPr>
          <a:xfrm>
            <a:off x="731520" y="5385816"/>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이 사례의 평가 기준</a:t>
            </a:r>
          </a:p>
        </p:txBody>
      </p:sp>
      <p:sp>
        <p:nvSpPr>
          <p:cNvPr id="26" name="b3"/>
          <p:cNvSpPr txBox="1"/>
          <p:nvPr/>
        </p:nvSpPr>
        <p:spPr>
          <a:xfrm>
            <a:off x="3154680" y="5385816"/>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프로그램에서 놀랐다는 반응과 이후 범죄가 감소했다는 성과는 다르다.</a:t>
            </a:r>
          </a:p>
          <a:p>
            <a:pPr algn="l">
              <a:lnSpc>
                <a:spcPct val="118000"/>
              </a:lnSpc>
            </a:pPr>
            <a:r>
              <a:rPr lang="ko-KR" sz="1150" b="0" dirty="0">
                <a:solidFill>
                  <a:srgbClr val="464D5C"/>
                </a:solidFill>
                <a:latin typeface="Pretendard"/>
                <a:ea typeface="Pretendard"/>
                <a:cs typeface="Pretendard"/>
              </a:rPr>
              <a:t>연구대상: 교도소 체험을 통한 억제 프로그램의 이후 범죄 결과</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Petrosino, Turpin-Petrosino &amp; Buehler (2013), Campbell Systematic Reviews · 9개 미국 실험, 총 946명</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Gault(1967) — 보호절차에도 적법절차가 필요한 이유</a:t>
            </a:r>
          </a:p>
        </p:txBody>
      </p:sp>
      <p:sp>
        <p:nvSpPr>
          <p:cNvPr id="13" name="chip"/>
          <p:cNvSpPr txBox="1"/>
          <p:nvPr/>
        </p:nvSpPr>
        <p:spPr>
          <a:xfrm>
            <a:off x="6035040" y="713232"/>
            <a:ext cx="5422392" cy="475488"/>
          </a:xfrm>
          <a:prstGeom prst="rect">
            <a:avLst/>
          </a:prstGeom>
          <a:noFill/>
        </p:spPr>
        <p:txBody>
          <a:bodyPr wrap="square" lIns="0" tIns="27432" rIns="0" bIns="27432" anchor="ctr">
            <a:noAutofit/>
          </a:bodyPr>
          <a:lstStyle/>
          <a:p>
            <a:pPr algn="r">
              <a:lnSpc>
                <a:spcPct val="118000"/>
              </a:lnSpc>
            </a:pPr>
            <a:r>
              <a:rPr lang="ko-KR" sz="1300" b="1" dirty="0">
                <a:solidFill>
                  <a:srgbClr val="A8871C"/>
                </a:solidFill>
                <a:latin typeface="Pretendard"/>
                <a:ea typeface="Pretendard"/>
                <a:cs typeface="Pretendard"/>
              </a:rPr>
              <a:t>387 U.S. 1</a:t>
            </a:r>
          </a:p>
        </p:txBody>
      </p:sp>
      <p:sp>
        <p:nvSpPr>
          <p:cNvPr id="14" name="line14"/>
          <p:cNvSpPr/>
          <p:nvPr/>
        </p:nvSpPr>
        <p:spPr>
          <a:xfrm>
            <a:off x="731520" y="1389888"/>
            <a:ext cx="10725912" cy="0"/>
          </a:xfrm>
          <a:prstGeom prst="line">
            <a:avLst/>
          </a:prstGeom>
          <a:ln w="19050">
            <a:solidFill>
              <a:srgbClr val="1E2761"/>
            </a:solidFill>
          </a:ln>
        </p:spPr>
        <p:txBody>
          <a:bodyPr/>
          <a:lstStyle/>
          <a:p>
            <a:endParaRPr/>
          </a:p>
        </p:txBody>
      </p:sp>
      <p:sp>
        <p:nvSpPr>
          <p:cNvPr id="15" name="cl0"/>
          <p:cNvSpPr txBox="1"/>
          <p:nvPr/>
        </p:nvSpPr>
        <p:spPr>
          <a:xfrm>
            <a:off x="731520" y="1627632"/>
            <a:ext cx="2834640" cy="566928"/>
          </a:xfrm>
          <a:prstGeom prst="rect">
            <a:avLst/>
          </a:prstGeom>
          <a:noFill/>
        </p:spPr>
        <p:txBody>
          <a:bodyPr wrap="square" lIns="0" tIns="27432" rIns="0" bIns="27432" anchor="ctr">
            <a:noAutofit/>
          </a:bodyPr>
          <a:lstStyle/>
          <a:p>
            <a:pPr algn="l">
              <a:lnSpc>
                <a:spcPct val="118000"/>
              </a:lnSpc>
            </a:pPr>
            <a:r>
              <a:rPr lang="ko-KR" sz="1250" b="1" dirty="0">
                <a:solidFill>
                  <a:srgbClr val="1E2761"/>
                </a:solidFill>
                <a:latin typeface="Pretendard"/>
                <a:ea typeface="Pretendard"/>
                <a:cs typeface="Pretendard"/>
              </a:rPr>
              <a:t>소년에 대한 명령</a:t>
            </a:r>
          </a:p>
        </p:txBody>
      </p:sp>
      <p:sp>
        <p:nvSpPr>
          <p:cNvPr id="16" name="cbar0"/>
          <p:cNvSpPr/>
          <p:nvPr/>
        </p:nvSpPr>
        <p:spPr>
          <a:xfrm>
            <a:off x="3657600" y="1719072"/>
            <a:ext cx="7863840" cy="384048"/>
          </a:xfrm>
          <a:prstGeom prst="rect">
            <a:avLst/>
          </a:prstGeom>
          <a:solidFill>
            <a:srgbClr val="1E2761"/>
          </a:solidFill>
          <a:ln>
            <a:noFill/>
          </a:ln>
        </p:spPr>
        <p:txBody>
          <a:bodyPr/>
          <a:lstStyle/>
          <a:p>
            <a:endParaRPr/>
          </a:p>
        </p:txBody>
      </p:sp>
      <p:sp>
        <p:nvSpPr>
          <p:cNvPr id="17" name="cn0"/>
          <p:cNvSpPr txBox="1"/>
          <p:nvPr/>
        </p:nvSpPr>
        <p:spPr>
          <a:xfrm>
            <a:off x="3657600" y="1719072"/>
            <a:ext cx="7863840" cy="384048"/>
          </a:xfrm>
          <a:prstGeom prst="rect">
            <a:avLst/>
          </a:prstGeom>
          <a:noFill/>
        </p:spPr>
        <p:txBody>
          <a:bodyPr wrap="square" lIns="0" tIns="27432" rIns="0" bIns="27432" anchor="ctr">
            <a:noAutofit/>
          </a:bodyPr>
          <a:lstStyle/>
          <a:p>
            <a:pPr algn="ctr">
              <a:lnSpc>
                <a:spcPct val="118000"/>
              </a:lnSpc>
            </a:pPr>
            <a:r>
              <a:rPr lang="ko-KR" sz="1200" b="1" dirty="0">
                <a:solidFill>
                  <a:srgbClr val="FFFFFF"/>
                </a:solidFill>
                <a:latin typeface="Pretendard"/>
                <a:ea typeface="Pretendard"/>
                <a:cs typeface="Pretendard"/>
              </a:rPr>
              <a:t>21세까지 · 당시 나이에서 최대 약 6년</a:t>
            </a:r>
          </a:p>
        </p:txBody>
      </p:sp>
      <p:sp>
        <p:nvSpPr>
          <p:cNvPr id="18" name="cl1"/>
          <p:cNvSpPr txBox="1"/>
          <p:nvPr/>
        </p:nvSpPr>
        <p:spPr>
          <a:xfrm>
            <a:off x="731520" y="2414016"/>
            <a:ext cx="2834640" cy="566928"/>
          </a:xfrm>
          <a:prstGeom prst="rect">
            <a:avLst/>
          </a:prstGeom>
          <a:noFill/>
        </p:spPr>
        <p:txBody>
          <a:bodyPr wrap="square" lIns="0" tIns="27432" rIns="0" bIns="27432" anchor="ctr">
            <a:noAutofit/>
          </a:bodyPr>
          <a:lstStyle/>
          <a:p>
            <a:pPr algn="l">
              <a:lnSpc>
                <a:spcPct val="118000"/>
              </a:lnSpc>
            </a:pPr>
            <a:r>
              <a:rPr lang="ko-KR" sz="1250" b="1" dirty="0">
                <a:solidFill>
                  <a:srgbClr val="1E2761"/>
                </a:solidFill>
                <a:latin typeface="Pretendard"/>
                <a:ea typeface="Pretendard"/>
                <a:cs typeface="Pretendard"/>
              </a:rPr>
              <a:t>같은 행위를 성인이 했을 때</a:t>
            </a:r>
          </a:p>
        </p:txBody>
      </p:sp>
      <p:sp>
        <p:nvSpPr>
          <p:cNvPr id="19" name="cbar1"/>
          <p:cNvSpPr/>
          <p:nvPr/>
        </p:nvSpPr>
        <p:spPr>
          <a:xfrm>
            <a:off x="3657600" y="2505456"/>
            <a:ext cx="218439" cy="384048"/>
          </a:xfrm>
          <a:prstGeom prst="rect">
            <a:avLst/>
          </a:prstGeom>
          <a:solidFill>
            <a:srgbClr val="A8871C"/>
          </a:solidFill>
          <a:ln>
            <a:noFill/>
          </a:ln>
        </p:spPr>
        <p:txBody>
          <a:bodyPr/>
          <a:lstStyle/>
          <a:p>
            <a:endParaRPr/>
          </a:p>
        </p:txBody>
      </p:sp>
      <p:sp>
        <p:nvSpPr>
          <p:cNvPr id="20" name="cn1"/>
          <p:cNvSpPr txBox="1"/>
          <p:nvPr/>
        </p:nvSpPr>
        <p:spPr>
          <a:xfrm>
            <a:off x="4022344" y="2414016"/>
            <a:ext cx="7435087" cy="566928"/>
          </a:xfrm>
          <a:prstGeom prst="rect">
            <a:avLst/>
          </a:prstGeom>
          <a:noFill/>
        </p:spPr>
        <p:txBody>
          <a:bodyPr wrap="square" lIns="0" tIns="27432" rIns="0" bIns="27432" anchor="ctr">
            <a:noAutofit/>
          </a:bodyPr>
          <a:lstStyle/>
          <a:p>
            <a:pPr algn="l">
              <a:lnSpc>
                <a:spcPct val="118000"/>
              </a:lnSpc>
            </a:pPr>
            <a:r>
              <a:rPr lang="ko-KR" sz="1200" b="0" dirty="0">
                <a:solidFill>
                  <a:srgbClr val="222633"/>
                </a:solidFill>
                <a:latin typeface="Pretendard"/>
                <a:ea typeface="Pretendard"/>
                <a:cs typeface="Pretendard"/>
              </a:rPr>
              <a:t>최고 2개월 구금 · 50달러 벌금</a:t>
            </a:r>
          </a:p>
        </p:txBody>
      </p:sp>
      <p:sp>
        <p:nvSpPr>
          <p:cNvPr id="21" name="line21"/>
          <p:cNvSpPr/>
          <p:nvPr/>
        </p:nvSpPr>
        <p:spPr>
          <a:xfrm>
            <a:off x="731520" y="3328416"/>
            <a:ext cx="10725912" cy="0"/>
          </a:xfrm>
          <a:prstGeom prst="line">
            <a:avLst/>
          </a:prstGeom>
          <a:ln w="9525">
            <a:solidFill>
              <a:srgbClr val="DCE0E8"/>
            </a:solidFill>
          </a:ln>
        </p:spPr>
        <p:txBody>
          <a:bodyPr/>
          <a:lstStyle/>
          <a:p>
            <a:endParaRPr/>
          </a:p>
        </p:txBody>
      </p:sp>
      <p:sp>
        <p:nvSpPr>
          <p:cNvPr id="22" name="gh0"/>
          <p:cNvSpPr txBox="1"/>
          <p:nvPr/>
        </p:nvSpPr>
        <p:spPr>
          <a:xfrm>
            <a:off x="731520" y="3328416"/>
            <a:ext cx="2240280" cy="888279"/>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소년절차의 경과</a:t>
            </a:r>
          </a:p>
        </p:txBody>
      </p:sp>
      <p:sp>
        <p:nvSpPr>
          <p:cNvPr id="23" name="gb0"/>
          <p:cNvSpPr txBox="1"/>
          <p:nvPr/>
        </p:nvSpPr>
        <p:spPr>
          <a:xfrm>
            <a:off x="3154680" y="3328416"/>
            <a:ext cx="8302752" cy="888279"/>
          </a:xfrm>
          <a:prstGeom prst="rect">
            <a:avLst/>
          </a:prstGeom>
          <a:noFill/>
        </p:spPr>
        <p:txBody>
          <a:bodyPr wrap="square" lIns="0" tIns="27432" rIns="0" bIns="27432" anchor="ctr">
            <a:noAutofit/>
          </a:bodyPr>
          <a:lstStyle/>
          <a:p>
            <a:pPr algn="l">
              <a:lnSpc>
                <a:spcPct val="118000"/>
              </a:lnSpc>
              <a:spcAft>
                <a:spcPts val="500"/>
              </a:spcAft>
            </a:pPr>
            <a:r>
              <a:rPr sz="1250" b="1">
                <a:solidFill>
                  <a:srgbClr val="222633"/>
                </a:solidFill>
                <a:latin typeface="Pretendard"/>
              </a:rPr>
              <a:t>외설적 전화를 했다는 혐의로 절차가 진행되었다.</a:t>
            </a:r>
          </a:p>
          <a:p>
            <a:pPr algn="l"/>
            <a:r>
              <a:rPr sz="1150" b="0">
                <a:solidFill>
                  <a:srgbClr val="464D5C"/>
                </a:solidFill>
                <a:latin typeface="Pretendard"/>
              </a:rPr>
              <a:t>부모에 대한 적절한 통지, 변호인의 조력, 고소인에게 질문할 기회 등이 문제 되었다.</a:t>
            </a:r>
          </a:p>
          <a:p>
            <a:pPr algn="l"/>
            <a:r>
              <a:rPr sz="1150" b="0">
                <a:solidFill>
                  <a:srgbClr val="464D5C"/>
                </a:solidFill>
                <a:latin typeface="Pretendard"/>
              </a:rPr>
              <a:t>법원은 혐의의 내용뿐 아니라 그 혐의를 확인한 절차까지 보았다.</a:t>
            </a:r>
          </a:p>
        </p:txBody>
      </p:sp>
      <p:sp>
        <p:nvSpPr>
          <p:cNvPr id="24" name="line24"/>
          <p:cNvSpPr/>
          <p:nvPr/>
        </p:nvSpPr>
        <p:spPr>
          <a:xfrm>
            <a:off x="731520" y="4216695"/>
            <a:ext cx="10725912" cy="0"/>
          </a:xfrm>
          <a:prstGeom prst="line">
            <a:avLst/>
          </a:prstGeom>
          <a:ln w="9525">
            <a:solidFill>
              <a:srgbClr val="DCE0E8"/>
            </a:solidFill>
          </a:ln>
        </p:spPr>
        <p:txBody>
          <a:bodyPr/>
          <a:lstStyle/>
          <a:p>
            <a:endParaRPr/>
          </a:p>
        </p:txBody>
      </p:sp>
      <p:sp>
        <p:nvSpPr>
          <p:cNvPr id="25" name="gh1"/>
          <p:cNvSpPr txBox="1"/>
          <p:nvPr/>
        </p:nvSpPr>
        <p:spPr>
          <a:xfrm>
            <a:off x="731520" y="4216695"/>
            <a:ext cx="2240280" cy="888279"/>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연방대법원의 판단</a:t>
            </a:r>
          </a:p>
        </p:txBody>
      </p:sp>
      <p:sp>
        <p:nvSpPr>
          <p:cNvPr id="26" name="gb1"/>
          <p:cNvSpPr txBox="1"/>
          <p:nvPr/>
        </p:nvSpPr>
        <p:spPr>
          <a:xfrm>
            <a:off x="3154680" y="4216695"/>
            <a:ext cx="8302752" cy="888279"/>
          </a:xfrm>
          <a:prstGeom prst="rect">
            <a:avLst/>
          </a:prstGeom>
          <a:noFill/>
        </p:spPr>
        <p:txBody>
          <a:bodyPr wrap="square" lIns="0" tIns="27432" rIns="0" bIns="27432" anchor="ctr">
            <a:noAutofit/>
          </a:bodyPr>
          <a:lstStyle/>
          <a:p>
            <a:pPr algn="l">
              <a:lnSpc>
                <a:spcPct val="125000"/>
              </a:lnSpc>
              <a:spcAft>
                <a:spcPts val="500"/>
              </a:spcAft>
            </a:pPr>
            <a:r>
              <a:rPr lang="ko-KR" sz="1250" b="1" dirty="0">
                <a:solidFill>
                  <a:srgbClr val="222633"/>
                </a:solidFill>
                <a:latin typeface="Pretendard"/>
                <a:ea typeface="Pretendard"/>
                <a:cs typeface="Pretendard"/>
              </a:rPr>
              <a:t>자유를 박탈할 수 있는 소년비행 심리에서도 통지·변호인·대질·진술거부 등 기본 보장이 필요하다고 판단했다.</a:t>
            </a:r>
          </a:p>
          <a:p>
            <a:pPr algn="l">
              <a:lnSpc>
                <a:spcPct val="118000"/>
              </a:lnSpc>
            </a:pPr>
            <a:r>
              <a:rPr lang="ko-KR" sz="1150" b="0" dirty="0">
                <a:solidFill>
                  <a:srgbClr val="464D5C"/>
                </a:solidFill>
                <a:latin typeface="Pretendard"/>
                <a:ea typeface="Pretendard"/>
                <a:cs typeface="Pretendard"/>
              </a:rPr>
              <a:t>소년보호라는 목적과 실제 자유 제한에 필요한 적법절차를 함께 보았다.</a:t>
            </a:r>
          </a:p>
        </p:txBody>
      </p:sp>
      <p:sp>
        <p:nvSpPr>
          <p:cNvPr id="27" name="line27"/>
          <p:cNvSpPr/>
          <p:nvPr/>
        </p:nvSpPr>
        <p:spPr>
          <a:xfrm>
            <a:off x="731520" y="5104974"/>
            <a:ext cx="10725912" cy="0"/>
          </a:xfrm>
          <a:prstGeom prst="line">
            <a:avLst/>
          </a:prstGeom>
          <a:ln w="9525">
            <a:solidFill>
              <a:srgbClr val="DCE0E8"/>
            </a:solidFill>
          </a:ln>
        </p:spPr>
        <p:txBody>
          <a:bodyPr/>
          <a:lstStyle/>
          <a:p>
            <a:endParaRPr/>
          </a:p>
        </p:txBody>
      </p:sp>
      <p:sp>
        <p:nvSpPr>
          <p:cNvPr id="28" name="gh2"/>
          <p:cNvSpPr txBox="1"/>
          <p:nvPr/>
        </p:nvSpPr>
        <p:spPr>
          <a:xfrm>
            <a:off x="731520" y="5104974"/>
            <a:ext cx="2240280" cy="472865"/>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판결의 범위</a:t>
            </a:r>
          </a:p>
        </p:txBody>
      </p:sp>
      <p:sp>
        <p:nvSpPr>
          <p:cNvPr id="29" name="gb2"/>
          <p:cNvSpPr txBox="1"/>
          <p:nvPr/>
        </p:nvSpPr>
        <p:spPr>
          <a:xfrm>
            <a:off x="3154680" y="5104974"/>
            <a:ext cx="8302752" cy="472865"/>
          </a:xfrm>
          <a:prstGeom prst="rect">
            <a:avLst/>
          </a:prstGeom>
          <a:noFill/>
        </p:spPr>
        <p:txBody>
          <a:bodyPr wrap="square" lIns="0" tIns="27432" rIns="0" bIns="27432" anchor="ctr">
            <a:noAutofit/>
          </a:bodyPr>
          <a:lstStyle/>
          <a:p>
            <a:pPr algn="l">
              <a:lnSpc>
                <a:spcPct val="118000"/>
              </a:lnSpc>
            </a:pPr>
            <a:r>
              <a:rPr lang="ko-KR" sz="1250" b="1" dirty="0">
                <a:solidFill>
                  <a:srgbClr val="222633"/>
                </a:solidFill>
                <a:latin typeface="Pretendard"/>
                <a:ea typeface="Pretendard"/>
                <a:cs typeface="Pretendard"/>
              </a:rPr>
              <a:t>판단한 범위는 소년비행 심리에서 필요한 기본 절차보장이다.</a:t>
            </a:r>
          </a:p>
        </p:txBody>
      </p:sp>
      <p:sp>
        <p:nvSpPr>
          <p:cNvPr id="30" name="bandbg"/>
          <p:cNvSpPr/>
          <p:nvPr/>
        </p:nvSpPr>
        <p:spPr>
          <a:xfrm>
            <a:off x="1124712" y="5751576"/>
            <a:ext cx="9912096" cy="457200"/>
          </a:xfrm>
          <a:prstGeom prst="rect">
            <a:avLst/>
          </a:prstGeom>
          <a:solidFill>
            <a:srgbClr val="1E2761"/>
          </a:solidFill>
          <a:ln>
            <a:noFill/>
          </a:ln>
        </p:spPr>
        <p:txBody>
          <a:bodyPr/>
          <a:lstStyle/>
          <a:p>
            <a:endParaRPr/>
          </a:p>
        </p:txBody>
      </p:sp>
      <p:sp>
        <p:nvSpPr>
          <p:cNvPr id="31" name="band"/>
          <p:cNvSpPr txBox="1"/>
          <p:nvPr/>
        </p:nvSpPr>
        <p:spPr>
          <a:xfrm>
            <a:off x="1307592" y="5779008"/>
            <a:ext cx="9546336" cy="402336"/>
          </a:xfrm>
          <a:prstGeom prst="rect">
            <a:avLst/>
          </a:prstGeom>
          <a:noFill/>
        </p:spPr>
        <p:txBody>
          <a:bodyPr wrap="square" lIns="0" tIns="27432" rIns="0" bIns="27432" anchor="ctr">
            <a:noAutofit/>
          </a:bodyPr>
          <a:lstStyle/>
          <a:p>
            <a:pPr algn="ctr">
              <a:lnSpc>
                <a:spcPct val="118000"/>
              </a:lnSpc>
            </a:pPr>
            <a:r>
              <a:rPr lang="ko-KR" sz="1250" b="1" dirty="0">
                <a:solidFill>
                  <a:srgbClr val="FFFFFF"/>
                </a:solidFill>
                <a:latin typeface="Pretendard"/>
                <a:ea typeface="Pretendard"/>
                <a:cs typeface="Pretendard"/>
              </a:rPr>
              <a:t>보호·교정을 목적으로 한다면, 같은 강도의 자유 제한에도 더 적은 절차보장으로 충분한가?</a:t>
            </a:r>
          </a:p>
        </p:txBody>
      </p:sp>
      <p:sp>
        <p:nvSpPr>
          <p:cNvPr id="32"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In re Gault, 387 U.S. 1 (1967) · U.S. Courts 공식 해설</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sz="1250" b="1">
                <a:solidFill>
                  <a:srgbClr val="464D5C"/>
                </a:solidFill>
                <a:latin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400" b="1" dirty="0">
                <a:solidFill>
                  <a:srgbClr val="1E2761"/>
                </a:solidFill>
                <a:latin typeface="Pretendard"/>
                <a:ea typeface="Pretendard"/>
                <a:cs typeface="Pretendard"/>
              </a:rPr>
              <a:t>J.D.B.(2011) — 13세가 학교 조사실에서 느끼는 선택의 자유</a:t>
            </a:r>
          </a:p>
        </p:txBody>
      </p:sp>
      <p:sp>
        <p:nvSpPr>
          <p:cNvPr id="13" name="chip"/>
          <p:cNvSpPr txBox="1"/>
          <p:nvPr/>
        </p:nvSpPr>
        <p:spPr>
          <a:xfrm>
            <a:off x="6035040" y="713232"/>
            <a:ext cx="5422392" cy="475488"/>
          </a:xfrm>
          <a:prstGeom prst="rect">
            <a:avLst/>
          </a:prstGeom>
          <a:noFill/>
        </p:spPr>
        <p:txBody>
          <a:bodyPr wrap="square" lIns="0" tIns="27432" rIns="0" bIns="27432" anchor="ctr">
            <a:noAutofit/>
          </a:bodyPr>
          <a:lstStyle/>
          <a:p>
            <a:pPr algn="r">
              <a:lnSpc>
                <a:spcPct val="118000"/>
              </a:lnSpc>
            </a:pPr>
            <a:r>
              <a:rPr lang="ko-KR" sz="1300" b="1" dirty="0">
                <a:solidFill>
                  <a:srgbClr val="A8871C"/>
                </a:solidFill>
                <a:latin typeface="Pretendard"/>
                <a:ea typeface="Pretendard"/>
                <a:cs typeface="Pretendard"/>
              </a:rPr>
              <a:t>564 U.S. 261</a:t>
            </a:r>
          </a:p>
        </p:txBody>
      </p:sp>
      <p:sp>
        <p:nvSpPr>
          <p:cNvPr id="14" name="line14"/>
          <p:cNvSpPr/>
          <p:nvPr/>
        </p:nvSpPr>
        <p:spPr>
          <a:xfrm>
            <a:off x="731520" y="1389888"/>
            <a:ext cx="10725912" cy="0"/>
          </a:xfrm>
          <a:prstGeom prst="line">
            <a:avLst/>
          </a:prstGeom>
          <a:ln w="19050">
            <a:solidFill>
              <a:srgbClr val="1E2761"/>
            </a:solidFill>
          </a:ln>
        </p:spPr>
        <p:txBody>
          <a:bodyPr/>
          <a:lstStyle/>
          <a:p>
            <a:endParaRPr/>
          </a:p>
        </p:txBody>
      </p:sp>
      <p:sp>
        <p:nvSpPr>
          <p:cNvPr id="15" name="h0"/>
          <p:cNvSpPr txBox="1"/>
          <p:nvPr/>
        </p:nvSpPr>
        <p:spPr>
          <a:xfrm>
            <a:off x="731520" y="1810512"/>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수업 중 시작된 질문</a:t>
            </a:r>
          </a:p>
        </p:txBody>
      </p:sp>
      <p:sp>
        <p:nvSpPr>
          <p:cNvPr id="16" name="b0"/>
          <p:cNvSpPr txBox="1"/>
          <p:nvPr/>
        </p:nvSpPr>
        <p:spPr>
          <a:xfrm>
            <a:off x="3154680" y="1810512"/>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13세 학생이 수업 중 경찰관에게 불려 나갔다.</a:t>
            </a:r>
          </a:p>
          <a:p>
            <a:pPr algn="l">
              <a:lnSpc>
                <a:spcPct val="118000"/>
              </a:lnSpc>
              <a:spcAft>
                <a:spcPts val="500"/>
              </a:spcAft>
            </a:pPr>
            <a:r>
              <a:rPr lang="ko-KR" sz="1150" b="0" dirty="0">
                <a:solidFill>
                  <a:srgbClr val="464D5C"/>
                </a:solidFill>
                <a:latin typeface="Pretendard"/>
                <a:ea typeface="Pretendard"/>
                <a:cs typeface="Pretendard"/>
              </a:rPr>
              <a:t>문이 닫힌 교내 회의실에서 경찰관과 학교 관리자들의 질문을 받았다.</a:t>
            </a:r>
          </a:p>
          <a:p>
            <a:pPr algn="l">
              <a:lnSpc>
                <a:spcPct val="118000"/>
              </a:lnSpc>
            </a:pPr>
            <a:r>
              <a:rPr lang="ko-KR" sz="1150" b="0" dirty="0">
                <a:solidFill>
                  <a:srgbClr val="464D5C"/>
                </a:solidFill>
                <a:latin typeface="Pretendard"/>
                <a:ea typeface="Pretendard"/>
                <a:cs typeface="Pretendard"/>
              </a:rPr>
              <a:t>처음에는 진술거부권 고지나 자유롭게 떠날 수 있다는 안내가 없었다.</a:t>
            </a:r>
          </a:p>
        </p:txBody>
      </p:sp>
      <p:sp>
        <p:nvSpPr>
          <p:cNvPr id="17" name="line17"/>
          <p:cNvSpPr/>
          <p:nvPr/>
        </p:nvSpPr>
        <p:spPr>
          <a:xfrm>
            <a:off x="731520" y="2820924"/>
            <a:ext cx="10725912" cy="0"/>
          </a:xfrm>
          <a:prstGeom prst="line">
            <a:avLst/>
          </a:prstGeom>
          <a:ln w="9525">
            <a:solidFill>
              <a:srgbClr val="DCE0E8"/>
            </a:solidFill>
          </a:ln>
        </p:spPr>
        <p:txBody>
          <a:bodyPr/>
          <a:lstStyle/>
          <a:p>
            <a:endParaRPr/>
          </a:p>
        </p:txBody>
      </p:sp>
      <p:sp>
        <p:nvSpPr>
          <p:cNvPr id="18" name="h1"/>
          <p:cNvSpPr txBox="1"/>
          <p:nvPr/>
        </p:nvSpPr>
        <p:spPr>
          <a:xfrm>
            <a:off x="731520" y="3049524"/>
            <a:ext cx="2240280" cy="987551"/>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연방대법원이 답한 물음</a:t>
            </a:r>
          </a:p>
        </p:txBody>
      </p:sp>
      <p:sp>
        <p:nvSpPr>
          <p:cNvPr id="19" name="b1"/>
          <p:cNvSpPr txBox="1"/>
          <p:nvPr/>
        </p:nvSpPr>
        <p:spPr>
          <a:xfrm>
            <a:off x="3154680" y="3049524"/>
            <a:ext cx="8302752" cy="987551"/>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연령이 알려져 있거나 객관적으로 분명하다면 합리적인 아동의 관점도 고려해야 한다.</a:t>
            </a:r>
          </a:p>
          <a:p>
            <a:pPr algn="l">
              <a:lnSpc>
                <a:spcPct val="118000"/>
              </a:lnSpc>
              <a:spcAft>
                <a:spcPts val="500"/>
              </a:spcAft>
            </a:pPr>
            <a:r>
              <a:rPr lang="ko-KR" sz="1150" b="0" dirty="0">
                <a:solidFill>
                  <a:srgbClr val="464D5C"/>
                </a:solidFill>
                <a:latin typeface="Pretendard"/>
                <a:ea typeface="Pretendard"/>
                <a:cs typeface="Pretendard"/>
              </a:rPr>
              <a:t>진술거부권 고지가 필요한 구금상태인지를 판단할 때 연령을 고려해야 하는가?</a:t>
            </a:r>
          </a:p>
          <a:p>
            <a:pPr algn="l">
              <a:lnSpc>
                <a:spcPct val="118000"/>
              </a:lnSpc>
              <a:spcAft>
                <a:spcPts val="500"/>
              </a:spcAft>
            </a:pPr>
            <a:r>
              <a:rPr lang="ko-KR" sz="1150" b="0" dirty="0">
                <a:solidFill>
                  <a:srgbClr val="464D5C"/>
                </a:solidFill>
                <a:latin typeface="Pretendard"/>
                <a:ea typeface="Pretendard"/>
                <a:cs typeface="Pretendard"/>
              </a:rPr>
              <a:t>구체적인 구금 여부는 다시 판단하도록 환송했다.</a:t>
            </a:r>
          </a:p>
          <a:p>
            <a:pPr algn="l">
              <a:lnSpc>
                <a:spcPct val="118000"/>
              </a:lnSpc>
            </a:pPr>
            <a:r>
              <a:rPr lang="ko-KR" sz="1150" b="0" dirty="0">
                <a:solidFill>
                  <a:srgbClr val="464D5C"/>
                </a:solidFill>
                <a:latin typeface="Pretendard"/>
                <a:ea typeface="Pretendard"/>
                <a:cs typeface="Pretendard"/>
              </a:rPr>
              <a:t>판단한 범위는 연령을 구금 판단에 고려할 수 있는지다.</a:t>
            </a:r>
          </a:p>
        </p:txBody>
      </p:sp>
      <p:sp>
        <p:nvSpPr>
          <p:cNvPr id="20" name="bandbg"/>
          <p:cNvSpPr/>
          <p:nvPr/>
        </p:nvSpPr>
        <p:spPr>
          <a:xfrm>
            <a:off x="1124712" y="5751576"/>
            <a:ext cx="9912096" cy="457200"/>
          </a:xfrm>
          <a:prstGeom prst="rect">
            <a:avLst/>
          </a:prstGeom>
          <a:solidFill>
            <a:srgbClr val="1E2761"/>
          </a:solidFill>
          <a:ln>
            <a:noFill/>
          </a:ln>
        </p:spPr>
        <p:txBody>
          <a:bodyPr/>
          <a:lstStyle/>
          <a:p>
            <a:endParaRPr/>
          </a:p>
        </p:txBody>
      </p:sp>
      <p:sp>
        <p:nvSpPr>
          <p:cNvPr id="21" name="band"/>
          <p:cNvSpPr txBox="1"/>
          <p:nvPr/>
        </p:nvSpPr>
        <p:spPr>
          <a:xfrm>
            <a:off x="1307592" y="5779008"/>
            <a:ext cx="9546336" cy="402336"/>
          </a:xfrm>
          <a:prstGeom prst="rect">
            <a:avLst/>
          </a:prstGeom>
          <a:noFill/>
        </p:spPr>
        <p:txBody>
          <a:bodyPr wrap="square" lIns="0" tIns="27432" rIns="0" bIns="27432" anchor="ctr">
            <a:noAutofit/>
          </a:bodyPr>
          <a:lstStyle/>
          <a:p>
            <a:pPr algn="ctr">
              <a:lnSpc>
                <a:spcPct val="118000"/>
              </a:lnSpc>
            </a:pPr>
            <a:r>
              <a:rPr lang="ko-KR" sz="1250" b="1" dirty="0">
                <a:solidFill>
                  <a:srgbClr val="FFFFFF"/>
                </a:solidFill>
                <a:latin typeface="Pretendard"/>
                <a:ea typeface="Pretendard"/>
                <a:cs typeface="Pretendard"/>
              </a:rPr>
              <a:t>“나가도 된다”는 말을 듣지 못한 13세 학생에게 성인과 같은 선택의 자유가 있었다고 볼 수 있는가?</a:t>
            </a:r>
          </a:p>
        </p:txBody>
      </p:sp>
      <p:sp>
        <p:nvSpPr>
          <p:cNvPr id="22"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J.D.B. v. North Carolina, 564 U.S. 261 (2011) · 공식 판례집</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영국 G 사건(2019) — 소년기 경고 기록의 공개</a:t>
            </a:r>
          </a:p>
        </p:txBody>
      </p:sp>
      <p:sp>
        <p:nvSpPr>
          <p:cNvPr id="13" name="chip"/>
          <p:cNvSpPr txBox="1"/>
          <p:nvPr/>
        </p:nvSpPr>
        <p:spPr>
          <a:xfrm>
            <a:off x="6035040" y="713232"/>
            <a:ext cx="5422392" cy="475488"/>
          </a:xfrm>
          <a:prstGeom prst="rect">
            <a:avLst/>
          </a:prstGeom>
          <a:noFill/>
        </p:spPr>
        <p:txBody>
          <a:bodyPr wrap="square" lIns="0" tIns="27432" rIns="0" bIns="27432" anchor="ctr">
            <a:noAutofit/>
          </a:bodyPr>
          <a:lstStyle/>
          <a:p>
            <a:pPr algn="r">
              <a:lnSpc>
                <a:spcPct val="118000"/>
              </a:lnSpc>
            </a:pPr>
            <a:r>
              <a:rPr lang="ko-KR" sz="1300" b="1" dirty="0">
                <a:solidFill>
                  <a:srgbClr val="A8871C"/>
                </a:solidFill>
                <a:latin typeface="Pretendard"/>
                <a:ea typeface="Pretendard"/>
                <a:cs typeface="Pretendard"/>
              </a:rPr>
              <a:t>[2019] UKSC 3</a:t>
            </a:r>
          </a:p>
        </p:txBody>
      </p:sp>
      <p:sp>
        <p:nvSpPr>
          <p:cNvPr id="14" name="line14"/>
          <p:cNvSpPr/>
          <p:nvPr/>
        </p:nvSpPr>
        <p:spPr>
          <a:xfrm>
            <a:off x="731520" y="1389888"/>
            <a:ext cx="10725912" cy="0"/>
          </a:xfrm>
          <a:prstGeom prst="line">
            <a:avLst/>
          </a:prstGeom>
          <a:ln w="19050">
            <a:solidFill>
              <a:srgbClr val="1E2761"/>
            </a:solidFill>
          </a:ln>
        </p:spPr>
        <p:txBody>
          <a:bodyPr/>
          <a:lstStyle/>
          <a:p>
            <a:endParaRPr/>
          </a:p>
        </p:txBody>
      </p:sp>
      <p:sp>
        <p:nvSpPr>
          <p:cNvPr id="15" name="h0"/>
          <p:cNvSpPr txBox="1"/>
          <p:nvPr/>
        </p:nvSpPr>
        <p:spPr>
          <a:xfrm>
            <a:off x="731520" y="1572768"/>
            <a:ext cx="2240280" cy="1005839"/>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2006년</a:t>
            </a:r>
          </a:p>
        </p:txBody>
      </p:sp>
      <p:sp>
        <p:nvSpPr>
          <p:cNvPr id="16" name="b0"/>
          <p:cNvSpPr txBox="1"/>
          <p:nvPr/>
        </p:nvSpPr>
        <p:spPr>
          <a:xfrm>
            <a:off x="3154680" y="1572768"/>
            <a:ext cx="8302752" cy="1005839"/>
          </a:xfrm>
          <a:prstGeom prst="rect">
            <a:avLst/>
          </a:prstGeom>
          <a:noFill/>
        </p:spPr>
        <p:txBody>
          <a:bodyPr wrap="square" lIns="0" tIns="27432" rIns="0" bIns="27432" anchor="ctr">
            <a:noAutofit/>
          </a:bodyPr>
          <a:lstStyle/>
          <a:p>
            <a:pPr algn="l">
              <a:lnSpc>
                <a:spcPct val="125000"/>
              </a:lnSpc>
              <a:spcAft>
                <a:spcPts val="500"/>
              </a:spcAft>
            </a:pPr>
            <a:r>
              <a:rPr sz="1250" b="1">
                <a:solidFill>
                  <a:srgbClr val="222633"/>
                </a:solidFill>
                <a:latin typeface="Pretendard"/>
              </a:rPr>
              <a:t>13세 때 어린 두 소년과 관련된 성적 행위 사건에서 경찰의 공식 경고(reprimand) 2건을 받았다.</a:t>
            </a:r>
          </a:p>
          <a:p>
            <a:pPr algn="l"/>
            <a:r>
              <a:rPr sz="1150" b="0">
                <a:solidFill>
                  <a:srgbClr val="464D5C"/>
                </a:solidFill>
                <a:latin typeface="Pretendard"/>
              </a:rPr>
              <a:t>검찰은 기소가 공익에 부합하지 않는다고 보았다.</a:t>
            </a:r>
          </a:p>
          <a:p>
            <a:pPr algn="l"/>
            <a:r>
              <a:rPr sz="1150" b="0">
                <a:solidFill>
                  <a:srgbClr val="464D5C"/>
                </a:solidFill>
                <a:latin typeface="Pretendard"/>
              </a:rPr>
              <a:t>당시 영국의 경찰 경고 제도이며 한국의 보호처분과는 별도의 제도다.</a:t>
            </a:r>
          </a:p>
        </p:txBody>
      </p:sp>
      <p:sp>
        <p:nvSpPr>
          <p:cNvPr id="17" name="line17"/>
          <p:cNvSpPr/>
          <p:nvPr/>
        </p:nvSpPr>
        <p:spPr>
          <a:xfrm>
            <a:off x="731520" y="2753105"/>
            <a:ext cx="10725912" cy="0"/>
          </a:xfrm>
          <a:prstGeom prst="line">
            <a:avLst/>
          </a:prstGeom>
          <a:ln w="9525">
            <a:solidFill>
              <a:srgbClr val="DCE0E8"/>
            </a:solidFill>
          </a:ln>
        </p:spPr>
        <p:txBody>
          <a:bodyPr/>
          <a:lstStyle/>
          <a:p>
            <a:endParaRPr/>
          </a:p>
        </p:txBody>
      </p:sp>
      <p:sp>
        <p:nvSpPr>
          <p:cNvPr id="18" name="h1"/>
          <p:cNvSpPr txBox="1"/>
          <p:nvPr/>
        </p:nvSpPr>
        <p:spPr>
          <a:xfrm>
            <a:off x="731520" y="2927603"/>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2011년</a:t>
            </a:r>
          </a:p>
        </p:txBody>
      </p:sp>
      <p:sp>
        <p:nvSpPr>
          <p:cNvPr id="19" name="b1"/>
          <p:cNvSpPr txBox="1"/>
          <p:nvPr/>
        </p:nvSpPr>
        <p:spPr>
          <a:xfrm>
            <a:off x="3154680" y="2927603"/>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지역 칼리지의 도서관 보조업무를 하던 중 강화된 기록조회가 요구되었다.</a:t>
            </a:r>
          </a:p>
          <a:p>
            <a:pPr algn="l">
              <a:lnSpc>
                <a:spcPct val="118000"/>
              </a:lnSpc>
            </a:pPr>
            <a:r>
              <a:rPr lang="ko-KR" sz="1150" b="0" dirty="0">
                <a:solidFill>
                  <a:srgbClr val="464D5C"/>
                </a:solidFill>
                <a:latin typeface="Pretendard"/>
                <a:ea typeface="Pretendard"/>
                <a:cs typeface="Pretendard"/>
              </a:rPr>
              <a:t>경찰이 경고 기록의 공개를 통지하자 G는 조회 신청을 철회했고 일자리를 잃었다.</a:t>
            </a:r>
          </a:p>
        </p:txBody>
      </p:sp>
      <p:sp>
        <p:nvSpPr>
          <p:cNvPr id="20" name="line20"/>
          <p:cNvSpPr/>
          <p:nvPr/>
        </p:nvSpPr>
        <p:spPr>
          <a:xfrm>
            <a:off x="731520" y="3678174"/>
            <a:ext cx="10725912" cy="0"/>
          </a:xfrm>
          <a:prstGeom prst="line">
            <a:avLst/>
          </a:prstGeom>
          <a:ln w="9525">
            <a:solidFill>
              <a:srgbClr val="DCE0E8"/>
            </a:solidFill>
          </a:ln>
        </p:spPr>
        <p:txBody>
          <a:bodyPr/>
          <a:lstStyle/>
          <a:p>
            <a:endParaRPr/>
          </a:p>
        </p:txBody>
      </p:sp>
      <p:sp>
        <p:nvSpPr>
          <p:cNvPr id="21" name="h2"/>
          <p:cNvSpPr txBox="1"/>
          <p:nvPr/>
        </p:nvSpPr>
        <p:spPr>
          <a:xfrm>
            <a:off x="731520" y="3852671"/>
            <a:ext cx="2240280" cy="80010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2019년</a:t>
            </a:r>
          </a:p>
        </p:txBody>
      </p:sp>
      <p:sp>
        <p:nvSpPr>
          <p:cNvPr id="22" name="b2"/>
          <p:cNvSpPr txBox="1"/>
          <p:nvPr/>
        </p:nvSpPr>
        <p:spPr>
          <a:xfrm>
            <a:off x="3154680" y="3852671"/>
            <a:ext cx="8302752" cy="800100"/>
          </a:xfrm>
          <a:prstGeom prst="rect">
            <a:avLst/>
          </a:prstGeom>
          <a:noFill/>
        </p:spPr>
        <p:txBody>
          <a:bodyPr wrap="square" lIns="0" tIns="27432" rIns="0" bIns="27432" anchor="ctr">
            <a:noAutofit/>
          </a:bodyPr>
          <a:lstStyle/>
          <a:p>
            <a:pPr algn="l">
              <a:lnSpc>
                <a:spcPct val="125000"/>
              </a:lnSpc>
              <a:spcAft>
                <a:spcPts val="500"/>
              </a:spcAft>
            </a:pPr>
            <a:r>
              <a:rPr lang="ko-KR" sz="1300" b="1" dirty="0">
                <a:solidFill>
                  <a:srgbClr val="222633"/>
                </a:solidFill>
                <a:latin typeface="Pretendard"/>
                <a:ea typeface="Pretendard"/>
                <a:cs typeface="Pretendard"/>
              </a:rPr>
              <a:t>영국 대법원은 소년 경고의 의무적 공개 요건이 유럽인권협약 제8조와 양립하지 않는다는 판단을 유지했다.</a:t>
            </a:r>
          </a:p>
          <a:p>
            <a:pPr algn="l">
              <a:lnSpc>
                <a:spcPct val="118000"/>
              </a:lnSpc>
            </a:pPr>
            <a:r>
              <a:rPr lang="ko-KR" sz="1150" b="0" dirty="0">
                <a:solidFill>
                  <a:srgbClr val="464D5C"/>
                </a:solidFill>
                <a:latin typeface="Pretendard"/>
                <a:ea typeface="Pretendard"/>
                <a:cs typeface="Pretendard"/>
              </a:rPr>
              <a:t>소년기 경고의 취지와 성인기에 생기는 부담을 함께 살폈다.</a:t>
            </a:r>
          </a:p>
        </p:txBody>
      </p:sp>
      <p:sp>
        <p:nvSpPr>
          <p:cNvPr id="23" name="line23"/>
          <p:cNvSpPr/>
          <p:nvPr/>
        </p:nvSpPr>
        <p:spPr>
          <a:xfrm>
            <a:off x="731520" y="4827270"/>
            <a:ext cx="10725912" cy="0"/>
          </a:xfrm>
          <a:prstGeom prst="line">
            <a:avLst/>
          </a:prstGeom>
          <a:ln w="9525">
            <a:solidFill>
              <a:srgbClr val="DCE0E8"/>
            </a:solidFill>
          </a:ln>
        </p:spPr>
        <p:txBody>
          <a:bodyPr/>
          <a:lstStyle/>
          <a:p>
            <a:endParaRPr/>
          </a:p>
        </p:txBody>
      </p:sp>
      <p:sp>
        <p:nvSpPr>
          <p:cNvPr id="24" name="h3"/>
          <p:cNvSpPr txBox="1"/>
          <p:nvPr/>
        </p:nvSpPr>
        <p:spPr>
          <a:xfrm>
            <a:off x="731520" y="5001768"/>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판결의 범위</a:t>
            </a:r>
          </a:p>
        </p:txBody>
      </p:sp>
      <p:sp>
        <p:nvSpPr>
          <p:cNvPr id="25" name="b3"/>
          <p:cNvSpPr txBox="1"/>
          <p:nvPr/>
        </p:nvSpPr>
        <p:spPr>
          <a:xfrm>
            <a:off x="3154680" y="5001768"/>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판단한 범위는 소년기 경고의 의무적 공개 요건이다.</a:t>
            </a:r>
          </a:p>
          <a:p>
            <a:pPr algn="l">
              <a:lnSpc>
                <a:spcPct val="118000"/>
              </a:lnSpc>
            </a:pPr>
            <a:r>
              <a:rPr lang="ko-KR" sz="1150" b="0" dirty="0">
                <a:solidFill>
                  <a:srgbClr val="464D5C"/>
                </a:solidFill>
                <a:latin typeface="Pretendard"/>
                <a:ea typeface="Pretendard"/>
                <a:cs typeface="Pretendard"/>
              </a:rPr>
              <a:t>기록의 관련성·공개 목적·공개 범위를 검토한 사건이다.</a:t>
            </a:r>
          </a:p>
        </p:txBody>
      </p:sp>
      <p:sp>
        <p:nvSpPr>
          <p:cNvPr id="26" name="bandbg"/>
          <p:cNvSpPr/>
          <p:nvPr/>
        </p:nvSpPr>
        <p:spPr>
          <a:xfrm>
            <a:off x="1124712" y="5751576"/>
            <a:ext cx="9912096" cy="457200"/>
          </a:xfrm>
          <a:prstGeom prst="rect">
            <a:avLst/>
          </a:prstGeom>
          <a:solidFill>
            <a:srgbClr val="1E2761"/>
          </a:solidFill>
          <a:ln>
            <a:noFill/>
          </a:ln>
        </p:spPr>
        <p:txBody>
          <a:bodyPr/>
          <a:lstStyle/>
          <a:p>
            <a:endParaRPr/>
          </a:p>
        </p:txBody>
      </p:sp>
      <p:sp>
        <p:nvSpPr>
          <p:cNvPr id="27" name="band"/>
          <p:cNvSpPr txBox="1"/>
          <p:nvPr/>
        </p:nvSpPr>
        <p:spPr>
          <a:xfrm>
            <a:off x="1307592" y="5779008"/>
            <a:ext cx="9546336" cy="402336"/>
          </a:xfrm>
          <a:prstGeom prst="rect">
            <a:avLst/>
          </a:prstGeom>
          <a:noFill/>
        </p:spPr>
        <p:txBody>
          <a:bodyPr wrap="square" lIns="0" tIns="27432" rIns="0" bIns="27432" anchor="ctr">
            <a:noAutofit/>
          </a:bodyPr>
          <a:lstStyle/>
          <a:p>
            <a:pPr algn="ctr">
              <a:lnSpc>
                <a:spcPct val="118000"/>
              </a:lnSpc>
            </a:pPr>
            <a:r>
              <a:rPr lang="ko-KR" sz="1250" b="1" dirty="0">
                <a:solidFill>
                  <a:srgbClr val="FFFFFF"/>
                </a:solidFill>
                <a:latin typeface="Pretendard"/>
                <a:ea typeface="Pretendard"/>
                <a:cs typeface="Pretendard"/>
              </a:rPr>
              <a:t>아동의 안전을 위한 확인과 소년기의 조치가 남기는 장래 부담을 어떻게 함께 고려할 것인가?</a:t>
            </a: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영국 대법원 [2019] UKSC 3 · 공식 판결 요약 및 판결문</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600" b="1" dirty="0">
                <a:solidFill>
                  <a:srgbClr val="1E2761"/>
                </a:solidFill>
                <a:latin typeface="Pretendard"/>
                <a:ea typeface="Pretendard"/>
                <a:cs typeface="Pretendard"/>
              </a:rPr>
              <a:t>Shilpa Mittal(2020) — 중대범죄를 어떻게 정할 것인가?</a:t>
            </a:r>
          </a:p>
        </p:txBody>
      </p:sp>
      <p:sp>
        <p:nvSpPr>
          <p:cNvPr id="13" name="chip"/>
          <p:cNvSpPr txBox="1"/>
          <p:nvPr/>
        </p:nvSpPr>
        <p:spPr>
          <a:xfrm>
            <a:off x="6035040" y="713232"/>
            <a:ext cx="5422392" cy="475488"/>
          </a:xfrm>
          <a:prstGeom prst="rect">
            <a:avLst/>
          </a:prstGeom>
          <a:noFill/>
        </p:spPr>
        <p:txBody>
          <a:bodyPr wrap="square" lIns="0" tIns="27432" rIns="0" bIns="27432" anchor="ctr">
            <a:noAutofit/>
          </a:bodyPr>
          <a:lstStyle/>
          <a:p>
            <a:pPr algn="r">
              <a:lnSpc>
                <a:spcPct val="118000"/>
              </a:lnSpc>
            </a:pPr>
            <a:r>
              <a:rPr lang="ko-KR" sz="1300" b="1" dirty="0">
                <a:solidFill>
                  <a:srgbClr val="A8871C"/>
                </a:solidFill>
                <a:latin typeface="Pretendard"/>
                <a:ea typeface="Pretendard"/>
                <a:cs typeface="Pretendard"/>
              </a:rPr>
              <a:t>CA 34/2020</a:t>
            </a:r>
          </a:p>
        </p:txBody>
      </p:sp>
      <p:sp>
        <p:nvSpPr>
          <p:cNvPr id="14" name="line14"/>
          <p:cNvSpPr/>
          <p:nvPr/>
        </p:nvSpPr>
        <p:spPr>
          <a:xfrm>
            <a:off x="731520" y="1389888"/>
            <a:ext cx="10725912" cy="0"/>
          </a:xfrm>
          <a:prstGeom prst="line">
            <a:avLst/>
          </a:prstGeom>
          <a:ln w="19050">
            <a:solidFill>
              <a:srgbClr val="1E2761"/>
            </a:solidFill>
          </a:ln>
        </p:spPr>
        <p:txBody>
          <a:bodyPr/>
          <a:lstStyle/>
          <a:p>
            <a:endParaRPr/>
          </a:p>
        </p:txBody>
      </p:sp>
      <p:sp>
        <p:nvSpPr>
          <p:cNvPr id="15" name="th0"/>
          <p:cNvSpPr txBox="1"/>
          <p:nvPr/>
        </p:nvSpPr>
        <p:spPr>
          <a:xfrm>
            <a:off x="731520" y="1810512"/>
            <a:ext cx="5175504" cy="402336"/>
          </a:xfrm>
          <a:prstGeom prst="rect">
            <a:avLst/>
          </a:prstGeom>
          <a:noFill/>
        </p:spPr>
        <p:txBody>
          <a:bodyPr wrap="square" lIns="0" tIns="27432" rIns="0" bIns="27432" anchor="ctr">
            <a:noAutofit/>
          </a:bodyPr>
          <a:lstStyle/>
          <a:p>
            <a:pPr algn="l">
              <a:lnSpc>
                <a:spcPct val="118000"/>
              </a:lnSpc>
            </a:pPr>
            <a:r>
              <a:rPr lang="ko-KR" sz="1350" b="1" dirty="0">
                <a:solidFill>
                  <a:srgbClr val="1E2761"/>
                </a:solidFill>
                <a:latin typeface="Pretendard"/>
                <a:ea typeface="Pretendard"/>
                <a:cs typeface="Pretendard"/>
              </a:rPr>
              <a:t>사건과 분류 기준</a:t>
            </a:r>
          </a:p>
        </p:txBody>
      </p:sp>
      <p:sp>
        <p:nvSpPr>
          <p:cNvPr id="16" name="line16"/>
          <p:cNvSpPr/>
          <p:nvPr/>
        </p:nvSpPr>
        <p:spPr>
          <a:xfrm>
            <a:off x="731520" y="2249424"/>
            <a:ext cx="5175504" cy="0"/>
          </a:xfrm>
          <a:prstGeom prst="line">
            <a:avLst/>
          </a:prstGeom>
          <a:ln w="19050">
            <a:solidFill>
              <a:srgbClr val="1E2761"/>
            </a:solidFill>
          </a:ln>
        </p:spPr>
        <p:txBody>
          <a:bodyPr/>
          <a:lstStyle/>
          <a:p>
            <a:endParaRPr/>
          </a:p>
        </p:txBody>
      </p:sp>
      <p:sp>
        <p:nvSpPr>
          <p:cNvPr id="17" name="tb0"/>
          <p:cNvSpPr txBox="1"/>
          <p:nvPr/>
        </p:nvSpPr>
        <p:spPr>
          <a:xfrm>
            <a:off x="731520" y="2377440"/>
            <a:ext cx="5175504" cy="1961388"/>
          </a:xfrm>
          <a:prstGeom prst="rect">
            <a:avLst/>
          </a:prstGeom>
          <a:noFill/>
        </p:spPr>
        <p:txBody>
          <a:bodyPr wrap="square" lIns="0" tIns="27432" rIns="0" bIns="27432" anchor="t">
            <a:noAutofit/>
          </a:bodyPr>
          <a:lstStyle/>
          <a:p>
            <a:pPr algn="l">
              <a:lnSpc>
                <a:spcPct val="125000"/>
              </a:lnSpc>
              <a:spcAft>
                <a:spcPts val="500"/>
              </a:spcAft>
            </a:pPr>
            <a:r>
              <a:rPr lang="ko-KR" sz="1250" b="1" dirty="0">
                <a:solidFill>
                  <a:srgbClr val="222633"/>
                </a:solidFill>
                <a:latin typeface="Pretendard"/>
                <a:ea typeface="Pretendard"/>
                <a:cs typeface="Pretendard"/>
              </a:rPr>
              <a:t>16~18세 소년이 사망 교통사건으로 인도 형법(IPC) 제304조 위반 혐의를 받았다.</a:t>
            </a:r>
          </a:p>
          <a:p>
            <a:pPr algn="l">
              <a:lnSpc>
                <a:spcPct val="125000"/>
              </a:lnSpc>
              <a:spcAft>
                <a:spcPts val="500"/>
              </a:spcAft>
            </a:pPr>
            <a:r>
              <a:rPr lang="ko-KR" sz="1150" b="0" dirty="0">
                <a:solidFill>
                  <a:srgbClr val="464D5C"/>
                </a:solidFill>
                <a:latin typeface="Pretendard"/>
                <a:ea typeface="Pretendard"/>
                <a:cs typeface="Pretendard"/>
              </a:rPr>
              <a:t>2015년 소년법은 법정 최저형이 7년 이상인 죄를 heinous offence로 분류했다.</a:t>
            </a:r>
          </a:p>
          <a:p>
            <a:pPr algn="l">
              <a:lnSpc>
                <a:spcPct val="125000"/>
              </a:lnSpc>
            </a:pPr>
            <a:r>
              <a:rPr lang="ko-KR" sz="1150" b="0" dirty="0">
                <a:solidFill>
                  <a:srgbClr val="464D5C"/>
                </a:solidFill>
                <a:latin typeface="Pretendard"/>
                <a:ea typeface="Pretendard"/>
                <a:cs typeface="Pretendard"/>
              </a:rPr>
              <a:t>이 사건에 문제 된 죄는 최대형이 무거웠지만 법정 최저형이 정해져 있지 않았다.</a:t>
            </a:r>
          </a:p>
        </p:txBody>
      </p:sp>
      <p:sp>
        <p:nvSpPr>
          <p:cNvPr id="18" name="th1"/>
          <p:cNvSpPr txBox="1"/>
          <p:nvPr/>
        </p:nvSpPr>
        <p:spPr>
          <a:xfrm>
            <a:off x="6281928" y="1810512"/>
            <a:ext cx="5175504" cy="402336"/>
          </a:xfrm>
          <a:prstGeom prst="rect">
            <a:avLst/>
          </a:prstGeom>
          <a:noFill/>
        </p:spPr>
        <p:txBody>
          <a:bodyPr wrap="square" lIns="0" tIns="27432" rIns="0" bIns="27432" anchor="ctr">
            <a:noAutofit/>
          </a:bodyPr>
          <a:lstStyle/>
          <a:p>
            <a:pPr algn="l">
              <a:lnSpc>
                <a:spcPct val="118000"/>
              </a:lnSpc>
            </a:pPr>
            <a:r>
              <a:rPr lang="ko-KR" sz="1350" b="1" dirty="0">
                <a:solidFill>
                  <a:srgbClr val="1E2761"/>
                </a:solidFill>
                <a:latin typeface="Pretendard"/>
                <a:ea typeface="Pretendard"/>
                <a:cs typeface="Pretendard"/>
              </a:rPr>
              <a:t>대법원 판단의 요지</a:t>
            </a:r>
          </a:p>
        </p:txBody>
      </p:sp>
      <p:sp>
        <p:nvSpPr>
          <p:cNvPr id="19" name="line19"/>
          <p:cNvSpPr/>
          <p:nvPr/>
        </p:nvSpPr>
        <p:spPr>
          <a:xfrm>
            <a:off x="6281928" y="2249424"/>
            <a:ext cx="5175504" cy="0"/>
          </a:xfrm>
          <a:prstGeom prst="line">
            <a:avLst/>
          </a:prstGeom>
          <a:ln w="19050">
            <a:solidFill>
              <a:srgbClr val="1E2761"/>
            </a:solidFill>
          </a:ln>
        </p:spPr>
        <p:txBody>
          <a:bodyPr/>
          <a:lstStyle/>
          <a:p>
            <a:endParaRPr/>
          </a:p>
        </p:txBody>
      </p:sp>
      <p:sp>
        <p:nvSpPr>
          <p:cNvPr id="20" name="tb1"/>
          <p:cNvSpPr txBox="1"/>
          <p:nvPr/>
        </p:nvSpPr>
        <p:spPr>
          <a:xfrm>
            <a:off x="6281928" y="2377440"/>
            <a:ext cx="5175504" cy="1961388"/>
          </a:xfrm>
          <a:prstGeom prst="rect">
            <a:avLst/>
          </a:prstGeom>
          <a:noFill/>
        </p:spPr>
        <p:txBody>
          <a:bodyPr wrap="square" lIns="0" tIns="27432" rIns="0" bIns="27432" anchor="t">
            <a:noAutofit/>
          </a:bodyPr>
          <a:lstStyle/>
          <a:p>
            <a:pPr algn="l">
              <a:lnSpc>
                <a:spcPct val="125000"/>
              </a:lnSpc>
              <a:spcAft>
                <a:spcPts val="500"/>
              </a:spcAft>
            </a:pPr>
            <a:r>
              <a:rPr lang="ko-KR" sz="1300" b="1" dirty="0">
                <a:solidFill>
                  <a:srgbClr val="222633"/>
                </a:solidFill>
                <a:latin typeface="Pretendard"/>
                <a:ea typeface="Pretendard"/>
                <a:cs typeface="Pretendard"/>
              </a:rPr>
              <a:t>최대형이 7년을 넘는다는 이유만으로 최저형 7년 기준을 충족한 것으로 볼 수 없다.</a:t>
            </a:r>
          </a:p>
          <a:p>
            <a:pPr algn="l">
              <a:lnSpc>
                <a:spcPct val="125000"/>
              </a:lnSpc>
              <a:spcAft>
                <a:spcPts val="500"/>
              </a:spcAft>
            </a:pPr>
            <a:r>
              <a:rPr lang="ko-KR" sz="1150" b="0" dirty="0">
                <a:solidFill>
                  <a:srgbClr val="464D5C"/>
                </a:solidFill>
                <a:latin typeface="Pretendard"/>
                <a:ea typeface="Pretendard"/>
                <a:cs typeface="Pretendard"/>
              </a:rPr>
              <a:t>그 분류에 따른 성인재판 경로를 그대로 적용할 수 없다고 판단했다.</a:t>
            </a:r>
          </a:p>
          <a:p>
            <a:pPr algn="l">
              <a:lnSpc>
                <a:spcPct val="118000"/>
              </a:lnSpc>
              <a:spcAft>
                <a:spcPts val="500"/>
              </a:spcAft>
            </a:pPr>
            <a:r>
              <a:rPr lang="ko-KR" sz="1150" b="0" dirty="0">
                <a:solidFill>
                  <a:srgbClr val="464D5C"/>
                </a:solidFill>
                <a:latin typeface="Pretendard"/>
                <a:ea typeface="Pretendard"/>
                <a:cs typeface="Pretendard"/>
              </a:rPr>
              <a:t>분류의 공백과 사건의 중대성은 서로 다른 문제다.</a:t>
            </a:r>
          </a:p>
          <a:p>
            <a:pPr algn="l">
              <a:lnSpc>
                <a:spcPct val="125000"/>
              </a:lnSpc>
            </a:pPr>
            <a:r>
              <a:rPr lang="ko-KR" sz="1150" b="0" dirty="0">
                <a:solidFill>
                  <a:srgbClr val="464D5C"/>
                </a:solidFill>
                <a:latin typeface="Pretendard"/>
                <a:ea typeface="Pretendard"/>
                <a:cs typeface="Pretendard"/>
              </a:rPr>
              <a:t>16~18세의 성인재판 이송에 관한 사례이며, 당시 분류 공백은 이후 입법으로 정리됐다.</a:t>
            </a:r>
          </a:p>
        </p:txBody>
      </p:sp>
      <p:sp>
        <p:nvSpPr>
          <p:cNvPr id="21" name="bandbg"/>
          <p:cNvSpPr/>
          <p:nvPr/>
        </p:nvSpPr>
        <p:spPr>
          <a:xfrm>
            <a:off x="1124712" y="5751576"/>
            <a:ext cx="9912096" cy="457200"/>
          </a:xfrm>
          <a:prstGeom prst="rect">
            <a:avLst/>
          </a:prstGeom>
          <a:solidFill>
            <a:srgbClr val="1E2761"/>
          </a:solidFill>
          <a:ln>
            <a:noFill/>
          </a:ln>
        </p:spPr>
        <p:txBody>
          <a:bodyPr/>
          <a:lstStyle/>
          <a:p>
            <a:endParaRPr/>
          </a:p>
        </p:txBody>
      </p:sp>
      <p:sp>
        <p:nvSpPr>
          <p:cNvPr id="22" name="band"/>
          <p:cNvSpPr txBox="1"/>
          <p:nvPr/>
        </p:nvSpPr>
        <p:spPr>
          <a:xfrm>
            <a:off x="1307592" y="5779008"/>
            <a:ext cx="9546336" cy="402336"/>
          </a:xfrm>
          <a:prstGeom prst="rect">
            <a:avLst/>
          </a:prstGeom>
          <a:noFill/>
        </p:spPr>
        <p:txBody>
          <a:bodyPr wrap="square" lIns="0" tIns="27432" rIns="0" bIns="27432" anchor="ctr">
            <a:noAutofit/>
          </a:bodyPr>
          <a:lstStyle/>
          <a:p>
            <a:pPr algn="ctr">
              <a:lnSpc>
                <a:spcPct val="118000"/>
              </a:lnSpc>
            </a:pPr>
            <a:r>
              <a:rPr lang="ko-KR" sz="1250" b="1" dirty="0">
                <a:solidFill>
                  <a:srgbClr val="FFFFFF"/>
                </a:solidFill>
                <a:latin typeface="Pretendard"/>
                <a:ea typeface="Pretendard"/>
                <a:cs typeface="Pretendard"/>
              </a:rPr>
              <a:t>조건부 하향의 대상은 법정 최고형·최저형·실제 결과·고의 가운데 무엇으로 정할 것인가?</a:t>
            </a:r>
          </a:p>
        </p:txBody>
      </p:sp>
      <p:sp>
        <p:nvSpPr>
          <p:cNvPr id="23"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인도 대법원 CA 34/2020 (2020.1.9.) · 판결 전문 재수록: Indian Kanoon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400" b="1" dirty="0">
                <a:solidFill>
                  <a:srgbClr val="1E2761"/>
                </a:solidFill>
                <a:latin typeface="Pretendard"/>
                <a:ea typeface="Pretendard"/>
                <a:cs typeface="Pretendard"/>
              </a:rPr>
              <a:t>인도 Barun(2022) — 개별 능력을 무엇으로 평가할 것인가?</a:t>
            </a:r>
          </a:p>
        </p:txBody>
      </p:sp>
      <p:sp>
        <p:nvSpPr>
          <p:cNvPr id="13" name="chip"/>
          <p:cNvSpPr txBox="1"/>
          <p:nvPr/>
        </p:nvSpPr>
        <p:spPr>
          <a:xfrm>
            <a:off x="6035040" y="713232"/>
            <a:ext cx="5422392" cy="475488"/>
          </a:xfrm>
          <a:prstGeom prst="rect">
            <a:avLst/>
          </a:prstGeom>
          <a:noFill/>
        </p:spPr>
        <p:txBody>
          <a:bodyPr wrap="square" lIns="0" tIns="27432" rIns="0" bIns="27432" anchor="ctr">
            <a:noAutofit/>
          </a:bodyPr>
          <a:lstStyle/>
          <a:p>
            <a:pPr algn="r">
              <a:lnSpc>
                <a:spcPct val="118000"/>
              </a:lnSpc>
            </a:pPr>
            <a:r>
              <a:rPr lang="ko-KR" sz="1300" b="1" dirty="0">
                <a:solidFill>
                  <a:srgbClr val="A8871C"/>
                </a:solidFill>
                <a:latin typeface="Pretendard"/>
                <a:ea typeface="Pretendard"/>
                <a:cs typeface="Pretendard"/>
              </a:rPr>
              <a:t>CA 950–951/2022</a:t>
            </a:r>
          </a:p>
        </p:txBody>
      </p:sp>
      <p:sp>
        <p:nvSpPr>
          <p:cNvPr id="14" name="topband"/>
          <p:cNvSpPr/>
          <p:nvPr/>
        </p:nvSpPr>
        <p:spPr>
          <a:xfrm>
            <a:off x="731520" y="1417320"/>
            <a:ext cx="10725912" cy="548640"/>
          </a:xfrm>
          <a:prstGeom prst="rect">
            <a:avLst/>
          </a:prstGeom>
          <a:solidFill>
            <a:srgbClr val="F2F4F8"/>
          </a:solidFill>
          <a:ln>
            <a:noFill/>
          </a:ln>
        </p:spPr>
        <p:txBody>
          <a:bodyPr/>
          <a:lstStyle/>
          <a:p>
            <a:endParaRPr/>
          </a:p>
        </p:txBody>
      </p:sp>
      <p:sp>
        <p:nvSpPr>
          <p:cNvPr id="15" name="topbandtx"/>
          <p:cNvSpPr txBox="1"/>
          <p:nvPr/>
        </p:nvSpPr>
        <p:spPr>
          <a:xfrm>
            <a:off x="1005840" y="1417320"/>
            <a:ext cx="10149840" cy="5486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개별평가를 채택하려면 평가할 능력·전문인력·자료 확인과 이의절차를 함께 정해야 한다.</a:t>
            </a:r>
          </a:p>
        </p:txBody>
      </p:sp>
      <p:sp>
        <p:nvSpPr>
          <p:cNvPr id="16" name="line16"/>
          <p:cNvSpPr/>
          <p:nvPr/>
        </p:nvSpPr>
        <p:spPr>
          <a:xfrm>
            <a:off x="731520" y="2057400"/>
            <a:ext cx="10725912" cy="0"/>
          </a:xfrm>
          <a:prstGeom prst="line">
            <a:avLst/>
          </a:prstGeom>
          <a:ln w="19050">
            <a:solidFill>
              <a:srgbClr val="1E2761"/>
            </a:solidFill>
          </a:ln>
        </p:spPr>
        <p:txBody>
          <a:bodyPr/>
          <a:lstStyle/>
          <a:p>
            <a:endParaRPr/>
          </a:p>
        </p:txBody>
      </p:sp>
      <p:sp>
        <p:nvSpPr>
          <p:cNvPr id="17" name="th0"/>
          <p:cNvSpPr txBox="1"/>
          <p:nvPr/>
        </p:nvSpPr>
        <p:spPr>
          <a:xfrm>
            <a:off x="731520" y="2478024"/>
            <a:ext cx="5175504" cy="402336"/>
          </a:xfrm>
          <a:prstGeom prst="rect">
            <a:avLst/>
          </a:prstGeom>
          <a:noFill/>
        </p:spPr>
        <p:txBody>
          <a:bodyPr wrap="square" lIns="0" tIns="27432" rIns="0" bIns="27432" anchor="ctr">
            <a:noAutofit/>
          </a:bodyPr>
          <a:lstStyle/>
          <a:p>
            <a:pPr algn="l">
              <a:lnSpc>
                <a:spcPct val="118000"/>
              </a:lnSpc>
            </a:pPr>
            <a:r>
              <a:rPr lang="ko-KR" sz="1350" b="1" dirty="0">
                <a:solidFill>
                  <a:srgbClr val="1E2761"/>
                </a:solidFill>
                <a:latin typeface="Pretendard"/>
                <a:ea typeface="Pretendard"/>
                <a:cs typeface="Pretendard"/>
              </a:rPr>
              <a:t>예비평가에서 문제 된 것</a:t>
            </a:r>
          </a:p>
        </p:txBody>
      </p:sp>
      <p:sp>
        <p:nvSpPr>
          <p:cNvPr id="18" name="line18"/>
          <p:cNvSpPr/>
          <p:nvPr/>
        </p:nvSpPr>
        <p:spPr>
          <a:xfrm>
            <a:off x="731520" y="2916936"/>
            <a:ext cx="5175504" cy="0"/>
          </a:xfrm>
          <a:prstGeom prst="line">
            <a:avLst/>
          </a:prstGeom>
          <a:ln w="19050">
            <a:solidFill>
              <a:srgbClr val="1E2761"/>
            </a:solidFill>
          </a:ln>
        </p:spPr>
        <p:txBody>
          <a:bodyPr/>
          <a:lstStyle/>
          <a:p>
            <a:endParaRPr/>
          </a:p>
        </p:txBody>
      </p:sp>
      <p:sp>
        <p:nvSpPr>
          <p:cNvPr id="19" name="tb0"/>
          <p:cNvSpPr txBox="1"/>
          <p:nvPr/>
        </p:nvSpPr>
        <p:spPr>
          <a:xfrm>
            <a:off x="731520" y="3044952"/>
            <a:ext cx="5175504" cy="1961388"/>
          </a:xfrm>
          <a:prstGeom prst="rect">
            <a:avLst/>
          </a:prstGeom>
          <a:noFill/>
        </p:spPr>
        <p:txBody>
          <a:bodyPr wrap="square" lIns="0" tIns="27432" rIns="0" bIns="27432" anchor="t">
            <a:noAutofit/>
          </a:bodyPr>
          <a:lstStyle/>
          <a:p>
            <a:pPr algn="l">
              <a:lnSpc>
                <a:spcPct val="125000"/>
              </a:lnSpc>
              <a:spcAft>
                <a:spcPts val="500"/>
              </a:spcAft>
            </a:pPr>
            <a:r>
              <a:rPr lang="ko-KR" sz="1250" b="1" dirty="0">
                <a:solidFill>
                  <a:srgbClr val="222633"/>
                </a:solidFill>
                <a:latin typeface="Pretendard"/>
                <a:ea typeface="Pretendard"/>
                <a:cs typeface="Pretendard"/>
              </a:rPr>
              <a:t>학교 내 살인 혐의를 받은 16~18세 소년의 성인재판 이송 여부가 쟁점이었다.</a:t>
            </a:r>
          </a:p>
          <a:p>
            <a:pPr algn="l">
              <a:lnSpc>
                <a:spcPct val="125000"/>
              </a:lnSpc>
              <a:spcAft>
                <a:spcPts val="500"/>
              </a:spcAft>
            </a:pPr>
            <a:r>
              <a:rPr lang="ko-KR" sz="1150" b="0" dirty="0">
                <a:solidFill>
                  <a:srgbClr val="464D5C"/>
                </a:solidFill>
                <a:latin typeface="Pretendard"/>
                <a:ea typeface="Pretendard"/>
                <a:cs typeface="Pretendard"/>
              </a:rPr>
              <a:t>평균 수준의 IQ 95와 제한된 평가자료를 어떻게 해석했는지가 문제되었다.</a:t>
            </a:r>
          </a:p>
          <a:p>
            <a:pPr algn="l">
              <a:lnSpc>
                <a:spcPct val="118000"/>
              </a:lnSpc>
            </a:pPr>
            <a:r>
              <a:rPr lang="ko-KR" sz="1150" b="0" dirty="0">
                <a:solidFill>
                  <a:srgbClr val="464D5C"/>
                </a:solidFill>
                <a:latin typeface="Pretendard"/>
                <a:ea typeface="Pretendard"/>
                <a:cs typeface="Pretendard"/>
              </a:rPr>
              <a:t>평가자료를 충분히 확인하고 의견을 낼 기회도 함께 심사되었다.</a:t>
            </a:r>
          </a:p>
        </p:txBody>
      </p:sp>
      <p:sp>
        <p:nvSpPr>
          <p:cNvPr id="20" name="th1"/>
          <p:cNvSpPr txBox="1"/>
          <p:nvPr/>
        </p:nvSpPr>
        <p:spPr>
          <a:xfrm>
            <a:off x="6281928" y="2478024"/>
            <a:ext cx="5175504" cy="402336"/>
          </a:xfrm>
          <a:prstGeom prst="rect">
            <a:avLst/>
          </a:prstGeom>
          <a:noFill/>
        </p:spPr>
        <p:txBody>
          <a:bodyPr wrap="square" lIns="0" tIns="27432" rIns="0" bIns="27432" anchor="ctr">
            <a:noAutofit/>
          </a:bodyPr>
          <a:lstStyle/>
          <a:p>
            <a:pPr algn="l">
              <a:lnSpc>
                <a:spcPct val="118000"/>
              </a:lnSpc>
            </a:pPr>
            <a:r>
              <a:rPr lang="ko-KR" sz="1350" b="1" dirty="0">
                <a:solidFill>
                  <a:srgbClr val="1E2761"/>
                </a:solidFill>
                <a:latin typeface="Pretendard"/>
                <a:ea typeface="Pretendard"/>
                <a:cs typeface="Pretendard"/>
              </a:rPr>
              <a:t>대법원 판단의 요지</a:t>
            </a:r>
          </a:p>
        </p:txBody>
      </p:sp>
      <p:sp>
        <p:nvSpPr>
          <p:cNvPr id="21" name="line21"/>
          <p:cNvSpPr/>
          <p:nvPr/>
        </p:nvSpPr>
        <p:spPr>
          <a:xfrm>
            <a:off x="6281928" y="2916936"/>
            <a:ext cx="5175504" cy="0"/>
          </a:xfrm>
          <a:prstGeom prst="line">
            <a:avLst/>
          </a:prstGeom>
          <a:ln w="19050">
            <a:solidFill>
              <a:srgbClr val="1E2761"/>
            </a:solidFill>
          </a:ln>
        </p:spPr>
        <p:txBody>
          <a:bodyPr/>
          <a:lstStyle/>
          <a:p>
            <a:endParaRPr/>
          </a:p>
        </p:txBody>
      </p:sp>
      <p:sp>
        <p:nvSpPr>
          <p:cNvPr id="22" name="tb1"/>
          <p:cNvSpPr txBox="1"/>
          <p:nvPr/>
        </p:nvSpPr>
        <p:spPr>
          <a:xfrm>
            <a:off x="6281928" y="3044952"/>
            <a:ext cx="5175504" cy="1961388"/>
          </a:xfrm>
          <a:prstGeom prst="rect">
            <a:avLst/>
          </a:prstGeom>
          <a:noFill/>
        </p:spPr>
        <p:txBody>
          <a:bodyPr wrap="square" lIns="0" tIns="27432" rIns="0" bIns="27432" anchor="t">
            <a:noAutofit/>
          </a:bodyPr>
          <a:lstStyle/>
          <a:p>
            <a:pPr algn="l">
              <a:lnSpc>
                <a:spcPct val="125000"/>
              </a:lnSpc>
              <a:spcAft>
                <a:spcPts val="500"/>
              </a:spcAft>
            </a:pPr>
            <a:r>
              <a:rPr lang="ko-KR" sz="1300" b="1" dirty="0">
                <a:solidFill>
                  <a:srgbClr val="222633"/>
                </a:solidFill>
                <a:latin typeface="Pretendard"/>
                <a:ea typeface="Pretendard"/>
                <a:cs typeface="Pretendard"/>
              </a:rPr>
              <a:t>IQ만으로 행위의 결과를 이해할 능력까지 판단할 수 없다.</a:t>
            </a:r>
          </a:p>
          <a:p>
            <a:pPr algn="l">
              <a:lnSpc>
                <a:spcPct val="125000"/>
              </a:lnSpc>
              <a:spcAft>
                <a:spcPts val="500"/>
              </a:spcAft>
            </a:pPr>
            <a:r>
              <a:rPr lang="ko-KR" sz="1150" b="0" dirty="0">
                <a:solidFill>
                  <a:srgbClr val="464D5C"/>
                </a:solidFill>
                <a:latin typeface="Pretendard"/>
                <a:ea typeface="Pretendard"/>
                <a:cs typeface="Pretendard"/>
              </a:rPr>
              <a:t>평가기관에 적절한 아동심리 전문성이 없다면 전문가의 도움이 필요하다.</a:t>
            </a:r>
          </a:p>
          <a:p>
            <a:pPr algn="l">
              <a:lnSpc>
                <a:spcPct val="125000"/>
              </a:lnSpc>
              <a:spcAft>
                <a:spcPts val="500"/>
              </a:spcAft>
            </a:pPr>
            <a:r>
              <a:rPr lang="ko-KR" sz="1150" b="0" dirty="0">
                <a:solidFill>
                  <a:srgbClr val="464D5C"/>
                </a:solidFill>
                <a:latin typeface="Pretendard"/>
                <a:ea typeface="Pretendard"/>
                <a:cs typeface="Pretendard"/>
              </a:rPr>
              <a:t>개별평가는 형식적인 통과 절차가 아니라 근거와 절차를 갖춘 판단이어야 한다.</a:t>
            </a:r>
          </a:p>
          <a:p>
            <a:pPr algn="l">
              <a:lnSpc>
                <a:spcPct val="118000"/>
              </a:lnSpc>
            </a:pPr>
            <a:r>
              <a:rPr lang="ko-KR" sz="1150" b="0" dirty="0">
                <a:solidFill>
                  <a:srgbClr val="464D5C"/>
                </a:solidFill>
                <a:latin typeface="Pretendard"/>
                <a:ea typeface="Pretendard"/>
                <a:cs typeface="Pretendard"/>
              </a:rPr>
              <a:t>판단한 범위는 개별 능력 평가에 필요한 자료와 절차다.</a:t>
            </a:r>
          </a:p>
        </p:txBody>
      </p:sp>
      <p:sp>
        <p:nvSpPr>
          <p:cNvPr id="23" name="line23"/>
          <p:cNvSpPr/>
          <p:nvPr/>
        </p:nvSpPr>
        <p:spPr>
          <a:xfrm>
            <a:off x="731520" y="6144768"/>
            <a:ext cx="10725912" cy="0"/>
          </a:xfrm>
          <a:prstGeom prst="line">
            <a:avLst/>
          </a:prstGeom>
          <a:ln w="19050">
            <a:solidFill>
              <a:srgbClr val="1E2761"/>
            </a:solidFill>
          </a:ln>
        </p:spPr>
        <p:txBody>
          <a:bodyPr/>
          <a:lstStyle/>
          <a:p>
            <a:endParaRPr/>
          </a:p>
        </p:txBody>
      </p:sp>
      <p:sp>
        <p:nvSpPr>
          <p:cNvPr id="24"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인도 대법원 CA 950–951/2022 (2022.7.13.) · Patna High Court 게시 판결문</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400" b="1" dirty="0">
                <a:solidFill>
                  <a:srgbClr val="1E2761"/>
                </a:solidFill>
                <a:latin typeface="Pretendard"/>
                <a:ea typeface="Pretendard"/>
                <a:cs typeface="Pretendard"/>
              </a:rPr>
              <a:t>Kent(1966) — 다른 절차로 보내는 결정을 어떻게 다툴 것인가?</a:t>
            </a:r>
          </a:p>
        </p:txBody>
      </p:sp>
      <p:sp>
        <p:nvSpPr>
          <p:cNvPr id="13" name="chip"/>
          <p:cNvSpPr txBox="1"/>
          <p:nvPr/>
        </p:nvSpPr>
        <p:spPr>
          <a:xfrm>
            <a:off x="6035040" y="713232"/>
            <a:ext cx="5422392" cy="475488"/>
          </a:xfrm>
          <a:prstGeom prst="rect">
            <a:avLst/>
          </a:prstGeom>
          <a:noFill/>
        </p:spPr>
        <p:txBody>
          <a:bodyPr wrap="square" lIns="0" tIns="27432" rIns="0" bIns="27432" anchor="ctr">
            <a:noAutofit/>
          </a:bodyPr>
          <a:lstStyle/>
          <a:p>
            <a:pPr algn="r">
              <a:lnSpc>
                <a:spcPct val="118000"/>
              </a:lnSpc>
            </a:pPr>
            <a:r>
              <a:rPr lang="ko-KR" sz="1300" b="1" dirty="0">
                <a:solidFill>
                  <a:srgbClr val="A8871C"/>
                </a:solidFill>
                <a:latin typeface="Pretendard"/>
                <a:ea typeface="Pretendard"/>
                <a:cs typeface="Pretendard"/>
              </a:rPr>
              <a:t>383 U.S. 541</a:t>
            </a:r>
          </a:p>
        </p:txBody>
      </p:sp>
      <p:sp>
        <p:nvSpPr>
          <p:cNvPr id="14" name="topband"/>
          <p:cNvSpPr/>
          <p:nvPr/>
        </p:nvSpPr>
        <p:spPr>
          <a:xfrm>
            <a:off x="731520" y="1417320"/>
            <a:ext cx="10725912" cy="777240"/>
          </a:xfrm>
          <a:prstGeom prst="rect">
            <a:avLst/>
          </a:prstGeom>
          <a:solidFill>
            <a:srgbClr val="F2F4F8"/>
          </a:solidFill>
          <a:ln>
            <a:noFill/>
          </a:ln>
        </p:spPr>
        <p:txBody>
          <a:bodyPr/>
          <a:lstStyle/>
          <a:p>
            <a:endParaRPr/>
          </a:p>
        </p:txBody>
      </p:sp>
      <p:sp>
        <p:nvSpPr>
          <p:cNvPr id="15"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더 무거운 제재가 가능한 절차로 넘기는 결정에는, 자료를 알고 의견을 내며 이유를 확인할 기회가 필요하다.</a:t>
            </a:r>
          </a:p>
        </p:txBody>
      </p:sp>
      <p:sp>
        <p:nvSpPr>
          <p:cNvPr id="16" name="line16"/>
          <p:cNvSpPr/>
          <p:nvPr/>
        </p:nvSpPr>
        <p:spPr>
          <a:xfrm>
            <a:off x="731520" y="2286000"/>
            <a:ext cx="10725912" cy="0"/>
          </a:xfrm>
          <a:prstGeom prst="line">
            <a:avLst/>
          </a:prstGeom>
          <a:ln w="19050">
            <a:solidFill>
              <a:srgbClr val="1E2761"/>
            </a:solidFill>
          </a:ln>
        </p:spPr>
        <p:txBody>
          <a:bodyPr/>
          <a:lstStyle/>
          <a:p>
            <a:endParaRPr/>
          </a:p>
        </p:txBody>
      </p:sp>
      <p:sp>
        <p:nvSpPr>
          <p:cNvPr id="17" name="path"/>
          <p:cNvSpPr txBox="1"/>
          <p:nvPr/>
        </p:nvSpPr>
        <p:spPr>
          <a:xfrm>
            <a:off x="731520" y="2468880"/>
            <a:ext cx="10725912" cy="329184"/>
          </a:xfrm>
          <a:prstGeom prst="rect">
            <a:avLst/>
          </a:prstGeom>
          <a:noFill/>
        </p:spPr>
        <p:txBody>
          <a:bodyPr wrap="square" lIns="0" tIns="27432" rIns="0" bIns="27432" anchor="ctr">
            <a:noAutofit/>
          </a:bodyPr>
          <a:lstStyle/>
          <a:p>
            <a:pPr algn="ctr">
              <a:lnSpc>
                <a:spcPct val="118000"/>
              </a:lnSpc>
            </a:pPr>
            <a:r>
              <a:rPr lang="ko-KR" sz="1250" b="1" dirty="0">
                <a:solidFill>
                  <a:srgbClr val="464D5C"/>
                </a:solidFill>
                <a:latin typeface="Pretendard"/>
                <a:ea typeface="Pretendard"/>
                <a:cs typeface="Pretendard"/>
              </a:rPr>
              <a:t>소년법원 관할 포기 → 성인법원 재판 → 연방대법원 파기 → 지방법원 환송</a:t>
            </a:r>
          </a:p>
        </p:txBody>
      </p:sp>
      <p:sp>
        <p:nvSpPr>
          <p:cNvPr id="18" name="line18"/>
          <p:cNvSpPr/>
          <p:nvPr/>
        </p:nvSpPr>
        <p:spPr>
          <a:xfrm>
            <a:off x="731520" y="2834640"/>
            <a:ext cx="10725912" cy="0"/>
          </a:xfrm>
          <a:prstGeom prst="line">
            <a:avLst/>
          </a:prstGeom>
          <a:ln w="9525">
            <a:solidFill>
              <a:srgbClr val="DCE0E8"/>
            </a:solidFill>
          </a:ln>
        </p:spPr>
        <p:txBody>
          <a:bodyPr/>
          <a:lstStyle/>
          <a:p>
            <a:endParaRPr/>
          </a:p>
        </p:txBody>
      </p:sp>
      <p:sp>
        <p:nvSpPr>
          <p:cNvPr id="19" name="h0"/>
          <p:cNvSpPr txBox="1"/>
          <p:nvPr/>
        </p:nvSpPr>
        <p:spPr>
          <a:xfrm>
            <a:off x="731520" y="2944368"/>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사건의 경과</a:t>
            </a:r>
          </a:p>
        </p:txBody>
      </p:sp>
      <p:sp>
        <p:nvSpPr>
          <p:cNvPr id="20" name="b0"/>
          <p:cNvSpPr txBox="1"/>
          <p:nvPr/>
        </p:nvSpPr>
        <p:spPr>
          <a:xfrm>
            <a:off x="3154680" y="2944368"/>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16세 소년의 사건에서 변호인은 이송 여부에 관한 청문과 사회조사기록의 열람을 요청했다.</a:t>
            </a:r>
          </a:p>
          <a:p>
            <a:pPr algn="l">
              <a:lnSpc>
                <a:spcPct val="118000"/>
              </a:lnSpc>
            </a:pPr>
            <a:r>
              <a:rPr lang="ko-KR" sz="1150" b="0" dirty="0">
                <a:solidFill>
                  <a:srgbClr val="464D5C"/>
                </a:solidFill>
                <a:latin typeface="Pretendard"/>
                <a:ea typeface="Pretendard"/>
                <a:cs typeface="Pretendard"/>
              </a:rPr>
              <a:t>소년법원은 요청을 받아들이는 절차 없이 관할 포기 결정을 내리고 사건을 성인법원으로 넘겼다.</a:t>
            </a:r>
          </a:p>
        </p:txBody>
      </p:sp>
      <p:sp>
        <p:nvSpPr>
          <p:cNvPr id="21" name="line21"/>
          <p:cNvSpPr/>
          <p:nvPr/>
        </p:nvSpPr>
        <p:spPr>
          <a:xfrm>
            <a:off x="731520" y="3601974"/>
            <a:ext cx="10725912" cy="0"/>
          </a:xfrm>
          <a:prstGeom prst="line">
            <a:avLst/>
          </a:prstGeom>
          <a:ln w="9525">
            <a:solidFill>
              <a:srgbClr val="DCE0E8"/>
            </a:solidFill>
          </a:ln>
        </p:spPr>
        <p:txBody>
          <a:bodyPr/>
          <a:lstStyle/>
          <a:p>
            <a:endParaRPr/>
          </a:p>
        </p:txBody>
      </p:sp>
      <p:sp>
        <p:nvSpPr>
          <p:cNvPr id="22" name="h1"/>
          <p:cNvSpPr txBox="1"/>
          <p:nvPr/>
        </p:nvSpPr>
        <p:spPr>
          <a:xfrm>
            <a:off x="731520" y="3683508"/>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무엇이 문제였나</a:t>
            </a:r>
          </a:p>
        </p:txBody>
      </p:sp>
      <p:sp>
        <p:nvSpPr>
          <p:cNvPr id="23" name="b1"/>
          <p:cNvSpPr txBox="1"/>
          <p:nvPr/>
        </p:nvSpPr>
        <p:spPr>
          <a:xfrm>
            <a:off x="3154680" y="3683508"/>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결정에 쓰인 자료를 확인하고 이송의 필요성에 의견을 낼 기회가 충분하지 않았다.</a:t>
            </a:r>
          </a:p>
          <a:p>
            <a:pPr algn="l">
              <a:lnSpc>
                <a:spcPct val="118000"/>
              </a:lnSpc>
            </a:pPr>
            <a:r>
              <a:rPr lang="ko-KR" sz="1150" b="0" dirty="0">
                <a:solidFill>
                  <a:srgbClr val="464D5C"/>
                </a:solidFill>
                <a:latin typeface="Pretendard"/>
                <a:ea typeface="Pretendard"/>
                <a:cs typeface="Pretendard"/>
              </a:rPr>
              <a:t>이송 이유도 후속 심사에서 왜 그런 결정을 했는지 확인할 수 있을 만큼 제시돼야 했다.</a:t>
            </a:r>
          </a:p>
        </p:txBody>
      </p:sp>
      <p:sp>
        <p:nvSpPr>
          <p:cNvPr id="24" name="line24"/>
          <p:cNvSpPr/>
          <p:nvPr/>
        </p:nvSpPr>
        <p:spPr>
          <a:xfrm>
            <a:off x="731520" y="4341114"/>
            <a:ext cx="10725912" cy="0"/>
          </a:xfrm>
          <a:prstGeom prst="line">
            <a:avLst/>
          </a:prstGeom>
          <a:ln w="9525">
            <a:solidFill>
              <a:srgbClr val="DCE0E8"/>
            </a:solidFill>
          </a:ln>
        </p:spPr>
        <p:txBody>
          <a:bodyPr/>
          <a:lstStyle/>
          <a:p>
            <a:endParaRPr/>
          </a:p>
        </p:txBody>
      </p:sp>
      <p:sp>
        <p:nvSpPr>
          <p:cNvPr id="25" name="h2"/>
          <p:cNvSpPr txBox="1"/>
          <p:nvPr/>
        </p:nvSpPr>
        <p:spPr>
          <a:xfrm>
            <a:off x="731520" y="4422647"/>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미국 연방대법원의 판단</a:t>
            </a:r>
          </a:p>
        </p:txBody>
      </p:sp>
      <p:sp>
        <p:nvSpPr>
          <p:cNvPr id="26" name="b2"/>
          <p:cNvSpPr txBox="1"/>
          <p:nvPr/>
        </p:nvSpPr>
        <p:spPr>
          <a:xfrm>
            <a:off x="3154680" y="4422647"/>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청문, 변호인의 기록 접근, 이유 있는 결정이 필요하다고 보았다.</a:t>
            </a:r>
          </a:p>
          <a:p>
            <a:pPr algn="l">
              <a:lnSpc>
                <a:spcPct val="118000"/>
              </a:lnSpc>
            </a:pPr>
            <a:r>
              <a:rPr lang="ko-KR" sz="1150" b="0" dirty="0">
                <a:solidFill>
                  <a:srgbClr val="464D5C"/>
                </a:solidFill>
                <a:latin typeface="Pretendard"/>
                <a:ea typeface="Pretendard"/>
                <a:cs typeface="Pretendard"/>
              </a:rPr>
              <a:t>당사자가 이미 21세를 넘었으므로, 지방법원에서 당시 이송의 적절성을 다시 심리하도록 환송했다.</a:t>
            </a:r>
          </a:p>
        </p:txBody>
      </p:sp>
      <p:sp>
        <p:nvSpPr>
          <p:cNvPr id="27" name="line27"/>
          <p:cNvSpPr/>
          <p:nvPr/>
        </p:nvSpPr>
        <p:spPr>
          <a:xfrm>
            <a:off x="731520" y="5080253"/>
            <a:ext cx="10725912" cy="0"/>
          </a:xfrm>
          <a:prstGeom prst="line">
            <a:avLst/>
          </a:prstGeom>
          <a:ln w="9525">
            <a:solidFill>
              <a:srgbClr val="DCE0E8"/>
            </a:solidFill>
          </a:ln>
        </p:spPr>
        <p:txBody>
          <a:bodyPr/>
          <a:lstStyle/>
          <a:p>
            <a:endParaRPr/>
          </a:p>
        </p:txBody>
      </p:sp>
      <p:sp>
        <p:nvSpPr>
          <p:cNvPr id="28" name="h3"/>
          <p:cNvSpPr txBox="1"/>
          <p:nvPr/>
        </p:nvSpPr>
        <p:spPr>
          <a:xfrm>
            <a:off x="731520" y="5161787"/>
            <a:ext cx="2240280" cy="80010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조건을 정하는 부담</a:t>
            </a:r>
          </a:p>
        </p:txBody>
      </p:sp>
      <p:sp>
        <p:nvSpPr>
          <p:cNvPr id="29" name="b3"/>
          <p:cNvSpPr txBox="1"/>
          <p:nvPr/>
        </p:nvSpPr>
        <p:spPr>
          <a:xfrm>
            <a:off x="3154680" y="5161787"/>
            <a:ext cx="8302752" cy="800100"/>
          </a:xfrm>
          <a:prstGeom prst="rect">
            <a:avLst/>
          </a:prstGeom>
          <a:noFill/>
        </p:spPr>
        <p:txBody>
          <a:bodyPr wrap="square" lIns="0" tIns="27432" rIns="0" bIns="27432" anchor="ctr">
            <a:noAutofit/>
          </a:bodyPr>
          <a:lstStyle/>
          <a:p>
            <a:pPr algn="l">
              <a:lnSpc>
                <a:spcPct val="125000"/>
              </a:lnSpc>
              <a:spcAft>
                <a:spcPts val="500"/>
              </a:spcAft>
            </a:pPr>
            <a:r>
              <a:rPr lang="ko-KR" sz="1250" b="1" dirty="0">
                <a:solidFill>
                  <a:srgbClr val="222633"/>
                </a:solidFill>
                <a:latin typeface="Pretendard"/>
                <a:ea typeface="Pretendard"/>
                <a:cs typeface="Pretendard"/>
              </a:rPr>
              <a:t>중대한 사건을 다른 절차로 보내는 기준을 두면, 누가 어떤 자료로 결정하고 어떻게 다툴지도 필요하다.</a:t>
            </a:r>
          </a:p>
          <a:p>
            <a:pPr algn="l">
              <a:lnSpc>
                <a:spcPct val="118000"/>
              </a:lnSpc>
            </a:pPr>
            <a:r>
              <a:rPr lang="ko-KR" sz="1150" b="0" dirty="0">
                <a:solidFill>
                  <a:srgbClr val="464D5C"/>
                </a:solidFill>
                <a:latin typeface="Pretendard"/>
                <a:ea typeface="Pretendard"/>
                <a:cs typeface="Pretendard"/>
              </a:rPr>
              <a:t>한국의 연령 하향과 같은 제도는 아니지만, 절차 전환 결정의 중요성을 보여 준다.</a:t>
            </a:r>
          </a:p>
        </p:txBody>
      </p:sp>
      <p:sp>
        <p:nvSpPr>
          <p:cNvPr id="30" name="line30"/>
          <p:cNvSpPr/>
          <p:nvPr/>
        </p:nvSpPr>
        <p:spPr>
          <a:xfrm>
            <a:off x="731520" y="6144768"/>
            <a:ext cx="10725912" cy="0"/>
          </a:xfrm>
          <a:prstGeom prst="line">
            <a:avLst/>
          </a:prstGeom>
          <a:ln w="19050">
            <a:solidFill>
              <a:srgbClr val="1E2761"/>
            </a:solidFill>
          </a:ln>
        </p:spPr>
        <p:txBody>
          <a:bodyPr/>
          <a:lstStyle/>
          <a:p>
            <a:endParaRPr/>
          </a:p>
        </p:txBody>
      </p:sp>
      <p:sp>
        <p:nvSpPr>
          <p:cNvPr id="31"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Kent v. United States, 383 U.S. 541 (1966), pp.557–565</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성인법원 이송과 재범 — Zane 외(2016)</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sz="1300" b="1">
                <a:solidFill>
                  <a:srgbClr val="1E2761"/>
                </a:solidFill>
                <a:latin typeface="Pretendard"/>
              </a:rPr>
              <a:t>성인법원 이송 연구는 재범감소 효과가 뚜렷하지 않고, 대상·처우·비교조건에 따라 결과가 달라질 수 있음을 보여준다.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731520" y="2468880"/>
            <a:ext cx="2240280" cy="80010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비교한 절차와 결과</a:t>
            </a:r>
          </a:p>
        </p:txBody>
      </p:sp>
      <p:sp>
        <p:nvSpPr>
          <p:cNvPr id="17" name="b0"/>
          <p:cNvSpPr txBox="1"/>
          <p:nvPr/>
        </p:nvSpPr>
        <p:spPr>
          <a:xfrm>
            <a:off x="3154680" y="2468880"/>
            <a:ext cx="8302752" cy="800100"/>
          </a:xfrm>
          <a:prstGeom prst="rect">
            <a:avLst/>
          </a:prstGeom>
          <a:noFill/>
        </p:spPr>
        <p:txBody>
          <a:bodyPr wrap="square" lIns="0" tIns="27432" rIns="0" bIns="27432" anchor="ctr">
            <a:noAutofit/>
          </a:bodyPr>
          <a:lstStyle/>
          <a:p>
            <a:pPr algn="l">
              <a:lnSpc>
                <a:spcPct val="125000"/>
              </a:lnSpc>
              <a:spcAft>
                <a:spcPts val="500"/>
              </a:spcAft>
            </a:pPr>
            <a:r>
              <a:rPr lang="ko-KR" sz="1250" b="1" dirty="0">
                <a:solidFill>
                  <a:srgbClr val="222633"/>
                </a:solidFill>
                <a:latin typeface="Pretendard"/>
                <a:ea typeface="Pretendard"/>
                <a:cs typeface="Pretendard"/>
              </a:rPr>
              <a:t>성인법원으로 이송된 소년과 소년사법 절차에 남은 소년의 이후 재범을 비교한, 서로 독립적인 표본의 연구 9편을 종합했다.</a:t>
            </a:r>
          </a:p>
          <a:p>
            <a:pPr algn="l">
              <a:lnSpc>
                <a:spcPct val="118000"/>
              </a:lnSpc>
            </a:pPr>
            <a:r>
              <a:rPr lang="ko-KR" sz="1150" b="0" dirty="0">
                <a:solidFill>
                  <a:srgbClr val="464D5C"/>
                </a:solidFill>
                <a:latin typeface="Pretendard"/>
                <a:ea typeface="Pretendard"/>
                <a:cs typeface="Pretendard"/>
              </a:rPr>
              <a:t>측정: 이송된 소년과 소년사법에 남은 소년의 이후 재범</a:t>
            </a:r>
          </a:p>
        </p:txBody>
      </p:sp>
      <p:sp>
        <p:nvSpPr>
          <p:cNvPr id="18" name="line18"/>
          <p:cNvSpPr/>
          <p:nvPr/>
        </p:nvSpPr>
        <p:spPr>
          <a:xfrm>
            <a:off x="731520" y="3395472"/>
            <a:ext cx="10725912" cy="0"/>
          </a:xfrm>
          <a:prstGeom prst="line">
            <a:avLst/>
          </a:prstGeom>
          <a:ln w="9525">
            <a:solidFill>
              <a:srgbClr val="DCE0E8"/>
            </a:solidFill>
          </a:ln>
        </p:spPr>
        <p:txBody>
          <a:bodyPr/>
          <a:lstStyle/>
          <a:p>
            <a:endParaRPr/>
          </a:p>
        </p:txBody>
      </p:sp>
      <p:sp>
        <p:nvSpPr>
          <p:cNvPr id="19" name="h1"/>
          <p:cNvSpPr txBox="1"/>
          <p:nvPr/>
        </p:nvSpPr>
        <p:spPr>
          <a:xfrm>
            <a:off x="731520" y="3521964"/>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평균적인 결과</a:t>
            </a:r>
          </a:p>
        </p:txBody>
      </p:sp>
      <p:sp>
        <p:nvSpPr>
          <p:cNvPr id="20" name="b1"/>
          <p:cNvSpPr txBox="1"/>
          <p:nvPr/>
        </p:nvSpPr>
        <p:spPr>
          <a:xfrm>
            <a:off x="3154680" y="3521964"/>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300" b="1" dirty="0">
                <a:solidFill>
                  <a:srgbClr val="222633"/>
                </a:solidFill>
                <a:latin typeface="Pretendard"/>
                <a:ea typeface="Pretendard"/>
                <a:cs typeface="Pretendard"/>
              </a:rPr>
              <a:t>종합한 재범효과는 통계적으로 유의하지 않았다.</a:t>
            </a:r>
          </a:p>
          <a:p>
            <a:pPr algn="l">
              <a:lnSpc>
                <a:spcPct val="118000"/>
              </a:lnSpc>
              <a:spcAft>
                <a:spcPts val="500"/>
              </a:spcAft>
            </a:pPr>
            <a:r>
              <a:rPr lang="ko-KR" sz="1150" b="0" dirty="0">
                <a:solidFill>
                  <a:srgbClr val="464D5C"/>
                </a:solidFill>
                <a:latin typeface="Pretendard"/>
                <a:ea typeface="Pretendard"/>
                <a:cs typeface="Pretendard"/>
              </a:rPr>
              <a:t>자료의 불확실성을 고려하면 평균효과의 방향을 분명히 판별하기 어렵다는 의미다.</a:t>
            </a:r>
          </a:p>
          <a:p>
            <a:pPr algn="l">
              <a:lnSpc>
                <a:spcPct val="118000"/>
              </a:lnSpc>
            </a:pPr>
            <a:r>
              <a:rPr lang="ko-KR" sz="1150" b="0" dirty="0">
                <a:solidFill>
                  <a:srgbClr val="464D5C"/>
                </a:solidFill>
                <a:latin typeface="Pretendard"/>
                <a:ea typeface="Pretendard"/>
                <a:cs typeface="Pretendard"/>
              </a:rPr>
              <a:t>효과가 정확히 0이라고 입증된 것과는 다른 상태다.</a:t>
            </a:r>
          </a:p>
        </p:txBody>
      </p:sp>
      <p:sp>
        <p:nvSpPr>
          <p:cNvPr id="21" name="line21"/>
          <p:cNvSpPr/>
          <p:nvPr/>
        </p:nvSpPr>
        <p:spPr>
          <a:xfrm>
            <a:off x="731520" y="4430267"/>
            <a:ext cx="10725912" cy="0"/>
          </a:xfrm>
          <a:prstGeom prst="line">
            <a:avLst/>
          </a:prstGeom>
          <a:ln w="9525">
            <a:solidFill>
              <a:srgbClr val="DCE0E8"/>
            </a:solidFill>
          </a:ln>
        </p:spPr>
        <p:txBody>
          <a:bodyPr/>
          <a:lstStyle/>
          <a:p>
            <a:endParaRPr/>
          </a:p>
        </p:txBody>
      </p:sp>
      <p:sp>
        <p:nvSpPr>
          <p:cNvPr id="22" name="h2"/>
          <p:cNvSpPr txBox="1"/>
          <p:nvPr/>
        </p:nvSpPr>
        <p:spPr>
          <a:xfrm>
            <a:off x="731520" y="4556759"/>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연구 사이의 차이</a:t>
            </a:r>
          </a:p>
        </p:txBody>
      </p:sp>
      <p:sp>
        <p:nvSpPr>
          <p:cNvPr id="23" name="b2"/>
          <p:cNvSpPr txBox="1"/>
          <p:nvPr/>
        </p:nvSpPr>
        <p:spPr>
          <a:xfrm>
            <a:off x="3154680" y="4556759"/>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300" b="1" dirty="0">
                <a:solidFill>
                  <a:srgbClr val="222633"/>
                </a:solidFill>
                <a:latin typeface="Pretendard"/>
                <a:ea typeface="Pretendard"/>
                <a:cs typeface="Pretendard"/>
              </a:rPr>
              <a:t>효과의 차이가 커서 대상·지역·이송 뒤 처우가 다른 연구를 한 결론으로 묶기 어렵다.</a:t>
            </a:r>
          </a:p>
          <a:p>
            <a:pPr algn="l">
              <a:lnSpc>
                <a:spcPct val="118000"/>
              </a:lnSpc>
            </a:pPr>
            <a:r>
              <a:rPr lang="ko-KR" sz="1150" b="0" dirty="0">
                <a:solidFill>
                  <a:srgbClr val="464D5C"/>
                </a:solidFill>
                <a:latin typeface="Pretendard"/>
                <a:ea typeface="Pretendard"/>
                <a:cs typeface="Pretendard"/>
              </a:rPr>
              <a:t>어떤 조건에서 어떤 결과가 나타나는지 추가 설명이 필요하다.</a:t>
            </a:r>
          </a:p>
        </p:txBody>
      </p:sp>
      <p:sp>
        <p:nvSpPr>
          <p:cNvPr id="24" name="line24"/>
          <p:cNvSpPr/>
          <p:nvPr/>
        </p:nvSpPr>
        <p:spPr>
          <a:xfrm>
            <a:off x="731520" y="5259323"/>
            <a:ext cx="10725912" cy="0"/>
          </a:xfrm>
          <a:prstGeom prst="line">
            <a:avLst/>
          </a:prstGeom>
          <a:ln w="9525">
            <a:solidFill>
              <a:srgbClr val="DCE0E8"/>
            </a:solidFill>
          </a:ln>
        </p:spPr>
        <p:txBody>
          <a:bodyPr/>
          <a:lstStyle/>
          <a:p>
            <a:endParaRPr/>
          </a:p>
        </p:txBody>
      </p:sp>
      <p:sp>
        <p:nvSpPr>
          <p:cNvPr id="25" name="h3"/>
          <p:cNvSpPr txBox="1"/>
          <p:nvPr/>
        </p:nvSpPr>
        <p:spPr>
          <a:xfrm>
            <a:off x="731520" y="5385815"/>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논제에 연결할 범위</a:t>
            </a:r>
          </a:p>
        </p:txBody>
      </p:sp>
      <p:sp>
        <p:nvSpPr>
          <p:cNvPr id="26" name="b3"/>
          <p:cNvSpPr txBox="1"/>
          <p:nvPr/>
        </p:nvSpPr>
        <p:spPr>
          <a:xfrm>
            <a:off x="3154680" y="5385815"/>
            <a:ext cx="8302752" cy="576072"/>
          </a:xfrm>
          <a:prstGeom prst="rect">
            <a:avLst/>
          </a:prstGeom>
          <a:noFill/>
        </p:spPr>
        <p:txBody>
          <a:bodyPr wrap="square" lIns="0" tIns="27432" rIns="0" bIns="27432" anchor="ctr">
            <a:noAutofit/>
          </a:bodyPr>
          <a:lstStyle/>
          <a:p>
            <a:pPr algn="l">
              <a:lnSpc>
                <a:spcPct val="118000"/>
              </a:lnSpc>
              <a:spcAft>
                <a:spcPts val="500"/>
              </a:spcAft>
            </a:pPr>
            <a:r>
              <a:rPr sz="1200" b="1">
                <a:solidFill>
                  <a:srgbClr val="A8871C"/>
                </a:solidFill>
                <a:latin typeface="Pretendard"/>
              </a:rPr>
              <a:t>성인법원 이송과 한국의 13세 형사책임 확대는 다른 정책이다.</a:t>
            </a:r>
          </a:p>
          <a:p>
            <a:pPr algn="l"/>
            <a:r>
              <a:rPr sz="1150" b="0">
                <a:solidFill>
                  <a:srgbClr val="464D5C"/>
                </a:solidFill>
                <a:latin typeface="Pretendard"/>
              </a:rPr>
              <a:t>실제 처리 대상과 처우를 밝힌 뒤 이 연구를 재범효과 근거로 사용할 범위를 정한다.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Zane, Welsh &amp; Mears(2016), Criminology &amp; Public Policy 15(3), 901–925</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T·V(1999) — 법정에 출석하는 것과 참여하는 것</a:t>
            </a:r>
          </a:p>
        </p:txBody>
      </p:sp>
      <p:sp>
        <p:nvSpPr>
          <p:cNvPr id="13" name="chip"/>
          <p:cNvSpPr txBox="1"/>
          <p:nvPr/>
        </p:nvSpPr>
        <p:spPr>
          <a:xfrm>
            <a:off x="6035040" y="713232"/>
            <a:ext cx="5422392" cy="475488"/>
          </a:xfrm>
          <a:prstGeom prst="rect">
            <a:avLst/>
          </a:prstGeom>
          <a:noFill/>
        </p:spPr>
        <p:txBody>
          <a:bodyPr wrap="square" lIns="0" tIns="27432" rIns="0" bIns="27432" anchor="ctr">
            <a:noAutofit/>
          </a:bodyPr>
          <a:lstStyle/>
          <a:p>
            <a:pPr algn="r">
              <a:lnSpc>
                <a:spcPct val="118000"/>
              </a:lnSpc>
            </a:pPr>
            <a:r>
              <a:rPr lang="ko-KR" sz="1300" b="1" dirty="0">
                <a:solidFill>
                  <a:srgbClr val="A8871C"/>
                </a:solidFill>
                <a:latin typeface="Pretendard"/>
                <a:ea typeface="Pretendard"/>
                <a:cs typeface="Pretendard"/>
              </a:rPr>
              <a:t>24724/94 · 24888/94</a:t>
            </a:r>
          </a:p>
        </p:txBody>
      </p:sp>
      <p:sp>
        <p:nvSpPr>
          <p:cNvPr id="14" name="line14"/>
          <p:cNvSpPr/>
          <p:nvPr/>
        </p:nvSpPr>
        <p:spPr>
          <a:xfrm>
            <a:off x="731520" y="1389888"/>
            <a:ext cx="10725912" cy="0"/>
          </a:xfrm>
          <a:prstGeom prst="line">
            <a:avLst/>
          </a:prstGeom>
          <a:ln w="19050">
            <a:solidFill>
              <a:srgbClr val="1E2761"/>
            </a:solidFill>
          </a:ln>
        </p:spPr>
        <p:txBody>
          <a:bodyPr/>
          <a:lstStyle/>
          <a:p>
            <a:endParaRPr/>
          </a:p>
        </p:txBody>
      </p:sp>
      <p:sp>
        <p:nvSpPr>
          <p:cNvPr id="15" name="h0"/>
          <p:cNvSpPr txBox="1"/>
          <p:nvPr/>
        </p:nvSpPr>
        <p:spPr>
          <a:xfrm>
            <a:off x="731520" y="1616201"/>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두 아동의 재판 환경</a:t>
            </a:r>
          </a:p>
        </p:txBody>
      </p:sp>
      <p:sp>
        <p:nvSpPr>
          <p:cNvPr id="16" name="b0"/>
          <p:cNvSpPr txBox="1"/>
          <p:nvPr/>
        </p:nvSpPr>
        <p:spPr>
          <a:xfrm>
            <a:off x="3154680" y="1616201"/>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T와 V는 같은 중대한 사건과 관련된 각각의 청구인이다.</a:t>
            </a:r>
          </a:p>
          <a:p>
            <a:pPr algn="l">
              <a:lnSpc>
                <a:spcPct val="118000"/>
              </a:lnSpc>
              <a:spcAft>
                <a:spcPts val="500"/>
              </a:spcAft>
            </a:pPr>
            <a:r>
              <a:rPr lang="ko-KR" sz="1150" b="0" dirty="0">
                <a:solidFill>
                  <a:srgbClr val="464D5C"/>
                </a:solidFill>
                <a:latin typeface="Pretendard"/>
                <a:ea typeface="Pretendard"/>
                <a:cs typeface="Pretendard"/>
              </a:rPr>
              <a:t>범행 당시 10세, 재판 당시 11세였고 성인 형사법정에서 공개재판을 받았다.</a:t>
            </a:r>
          </a:p>
          <a:p>
            <a:pPr algn="l">
              <a:lnSpc>
                <a:spcPct val="118000"/>
              </a:lnSpc>
            </a:pPr>
            <a:r>
              <a:rPr lang="ko-KR" sz="1150" b="0" dirty="0">
                <a:solidFill>
                  <a:srgbClr val="464D5C"/>
                </a:solidFill>
                <a:latin typeface="Pretendard"/>
                <a:ea typeface="Pretendard"/>
                <a:cs typeface="Pretendard"/>
              </a:rPr>
              <a:t>변호인이 있었지만 법정의 공개성·의례·위압적인 환경이 참여를 어렵게 했는지가 문제였다.</a:t>
            </a:r>
          </a:p>
        </p:txBody>
      </p:sp>
      <p:sp>
        <p:nvSpPr>
          <p:cNvPr id="17" name="line17"/>
          <p:cNvSpPr/>
          <p:nvPr/>
        </p:nvSpPr>
        <p:spPr>
          <a:xfrm>
            <a:off x="731520" y="2626613"/>
            <a:ext cx="10725912" cy="0"/>
          </a:xfrm>
          <a:prstGeom prst="line">
            <a:avLst/>
          </a:prstGeom>
          <a:ln w="9525">
            <a:solidFill>
              <a:srgbClr val="DCE0E8"/>
            </a:solidFill>
          </a:ln>
        </p:spPr>
        <p:txBody>
          <a:bodyPr/>
          <a:lstStyle/>
          <a:p>
            <a:endParaRPr/>
          </a:p>
        </p:txBody>
      </p:sp>
      <p:sp>
        <p:nvSpPr>
          <p:cNvPr id="18" name="h1"/>
          <p:cNvSpPr txBox="1"/>
          <p:nvPr/>
        </p:nvSpPr>
        <p:spPr>
          <a:xfrm>
            <a:off x="731520" y="2855213"/>
            <a:ext cx="2240280" cy="80010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유럽인권재판소의 판단</a:t>
            </a:r>
          </a:p>
        </p:txBody>
      </p:sp>
      <p:sp>
        <p:nvSpPr>
          <p:cNvPr id="19" name="b1"/>
          <p:cNvSpPr txBox="1"/>
          <p:nvPr/>
        </p:nvSpPr>
        <p:spPr>
          <a:xfrm>
            <a:off x="3154680" y="2855213"/>
            <a:ext cx="8302752" cy="800100"/>
          </a:xfrm>
          <a:prstGeom prst="rect">
            <a:avLst/>
          </a:prstGeom>
          <a:noFill/>
        </p:spPr>
        <p:txBody>
          <a:bodyPr wrap="square" lIns="0" tIns="27432" rIns="0" bIns="27432" anchor="ctr">
            <a:noAutofit/>
          </a:bodyPr>
          <a:lstStyle/>
          <a:p>
            <a:pPr algn="l">
              <a:lnSpc>
                <a:spcPct val="125000"/>
              </a:lnSpc>
              <a:spcAft>
                <a:spcPts val="500"/>
              </a:spcAft>
            </a:pPr>
            <a:r>
              <a:rPr lang="ko-KR" sz="1300" b="1" dirty="0">
                <a:solidFill>
                  <a:srgbClr val="222633"/>
                </a:solidFill>
                <a:latin typeface="Pretendard"/>
                <a:ea typeface="Pretendard"/>
                <a:cs typeface="Pretendard"/>
              </a:rPr>
              <a:t>이 사건에서 아동이 재판을 이해하고 변호인과 소통하도록 하는 조정이 충분하지 않아 공정한 재판을 받을 권리가 침해됐다고 보았다.</a:t>
            </a:r>
          </a:p>
          <a:p>
            <a:pPr algn="l">
              <a:lnSpc>
                <a:spcPct val="118000"/>
              </a:lnSpc>
            </a:pPr>
            <a:r>
              <a:rPr lang="ko-KR" sz="1150" b="0" dirty="0">
                <a:solidFill>
                  <a:srgbClr val="464D5C"/>
                </a:solidFill>
                <a:latin typeface="Pretendard"/>
                <a:ea typeface="Pretendard"/>
                <a:cs typeface="Pretendard"/>
              </a:rPr>
              <a:t>출석·대리인의 존재와 실질적인 참여를 구분한 판단이다.</a:t>
            </a:r>
          </a:p>
        </p:txBody>
      </p:sp>
      <p:sp>
        <p:nvSpPr>
          <p:cNvPr id="20" name="line20"/>
          <p:cNvSpPr/>
          <p:nvPr/>
        </p:nvSpPr>
        <p:spPr>
          <a:xfrm>
            <a:off x="731520" y="3883913"/>
            <a:ext cx="10725912" cy="0"/>
          </a:xfrm>
          <a:prstGeom prst="line">
            <a:avLst/>
          </a:prstGeom>
          <a:ln w="9525">
            <a:solidFill>
              <a:srgbClr val="DCE0E8"/>
            </a:solidFill>
          </a:ln>
        </p:spPr>
        <p:txBody>
          <a:bodyPr/>
          <a:lstStyle/>
          <a:p>
            <a:endParaRPr/>
          </a:p>
        </p:txBody>
      </p:sp>
      <p:sp>
        <p:nvSpPr>
          <p:cNvPr id="21" name="h2"/>
          <p:cNvSpPr txBox="1"/>
          <p:nvPr/>
        </p:nvSpPr>
        <p:spPr>
          <a:xfrm>
            <a:off x="731520" y="4112513"/>
            <a:ext cx="2240280" cy="59436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Grisso 연구와의 연결</a:t>
            </a:r>
          </a:p>
        </p:txBody>
      </p:sp>
      <p:sp>
        <p:nvSpPr>
          <p:cNvPr id="22" name="b2"/>
          <p:cNvSpPr txBox="1"/>
          <p:nvPr/>
        </p:nvSpPr>
        <p:spPr>
          <a:xfrm>
            <a:off x="3154680" y="4112513"/>
            <a:ext cx="8302752" cy="594360"/>
          </a:xfrm>
          <a:prstGeom prst="rect">
            <a:avLst/>
          </a:prstGeom>
          <a:noFill/>
        </p:spPr>
        <p:txBody>
          <a:bodyPr wrap="square" lIns="0" tIns="27432" rIns="0" bIns="27432" anchor="ctr">
            <a:noAutofit/>
          </a:bodyPr>
          <a:lstStyle/>
          <a:p>
            <a:pPr algn="l">
              <a:lnSpc>
                <a:spcPct val="125000"/>
              </a:lnSpc>
              <a:spcAft>
                <a:spcPts val="500"/>
              </a:spcAft>
            </a:pPr>
            <a:r>
              <a:rPr lang="ko-KR" sz="1250" b="1" dirty="0">
                <a:solidFill>
                  <a:srgbClr val="222633"/>
                </a:solidFill>
                <a:latin typeface="Pretendard"/>
                <a:ea typeface="Pretendard"/>
                <a:cs typeface="Pretendard"/>
              </a:rPr>
              <a:t>연구는 집단별 이해·추론 능력을 측정했고, 이 사건은 실제 법정에서 참여가 보장되었는지 판단했다.</a:t>
            </a:r>
          </a:p>
          <a:p>
            <a:pPr algn="l">
              <a:lnSpc>
                <a:spcPct val="118000"/>
              </a:lnSpc>
            </a:pPr>
            <a:r>
              <a:rPr lang="ko-KR" sz="1150" b="0" dirty="0">
                <a:solidFill>
                  <a:srgbClr val="464D5C"/>
                </a:solidFill>
                <a:latin typeface="Pretendard"/>
                <a:ea typeface="Pretendard"/>
                <a:cs typeface="Pretendard"/>
              </a:rPr>
              <a:t>용어를 설명하는 것에 더해 진행 방식·환경·소통의 조건을 살펴야 한다.</a:t>
            </a:r>
          </a:p>
        </p:txBody>
      </p:sp>
      <p:sp>
        <p:nvSpPr>
          <p:cNvPr id="23" name="line23"/>
          <p:cNvSpPr/>
          <p:nvPr/>
        </p:nvSpPr>
        <p:spPr>
          <a:xfrm>
            <a:off x="731520" y="4935473"/>
            <a:ext cx="10725912" cy="0"/>
          </a:xfrm>
          <a:prstGeom prst="line">
            <a:avLst/>
          </a:prstGeom>
          <a:ln w="9525">
            <a:solidFill>
              <a:srgbClr val="DCE0E8"/>
            </a:solidFill>
          </a:ln>
        </p:spPr>
        <p:txBody>
          <a:bodyPr/>
          <a:lstStyle/>
          <a:p>
            <a:endParaRPr/>
          </a:p>
        </p:txBody>
      </p:sp>
      <p:sp>
        <p:nvSpPr>
          <p:cNvPr id="24" name="h3"/>
          <p:cNvSpPr txBox="1"/>
          <p:nvPr/>
        </p:nvSpPr>
        <p:spPr>
          <a:xfrm>
            <a:off x="731520" y="5164073"/>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판결의 범위</a:t>
            </a:r>
          </a:p>
        </p:txBody>
      </p:sp>
      <p:sp>
        <p:nvSpPr>
          <p:cNvPr id="25" name="b3"/>
          <p:cNvSpPr txBox="1"/>
          <p:nvPr/>
        </p:nvSpPr>
        <p:spPr>
          <a:xfrm>
            <a:off x="3154680" y="5164073"/>
            <a:ext cx="8302752" cy="370332"/>
          </a:xfrm>
          <a:prstGeom prst="rect">
            <a:avLst/>
          </a:prstGeom>
          <a:noFill/>
        </p:spPr>
        <p:txBody>
          <a:bodyPr wrap="square" lIns="0" tIns="27432" rIns="0" bIns="27432" anchor="ctr">
            <a:noAutofit/>
          </a:bodyPr>
          <a:lstStyle/>
          <a:p>
            <a:pPr algn="l">
              <a:lnSpc>
                <a:spcPct val="118000"/>
              </a:lnSpc>
            </a:pPr>
            <a:r>
              <a:rPr lang="ko-KR" sz="1250" b="1" dirty="0">
                <a:solidFill>
                  <a:srgbClr val="222633"/>
                </a:solidFill>
                <a:latin typeface="Pretendard"/>
                <a:ea typeface="Pretendard"/>
                <a:cs typeface="Pretendard"/>
              </a:rPr>
              <a:t>판단한 범위는 이 사건 법정에서 두 아동의 참여가 보장되었는지다.</a:t>
            </a:r>
          </a:p>
        </p:txBody>
      </p:sp>
      <p:sp>
        <p:nvSpPr>
          <p:cNvPr id="26" name="bandbg"/>
          <p:cNvSpPr/>
          <p:nvPr/>
        </p:nvSpPr>
        <p:spPr>
          <a:xfrm>
            <a:off x="1124712" y="5751576"/>
            <a:ext cx="9912096" cy="457200"/>
          </a:xfrm>
          <a:prstGeom prst="rect">
            <a:avLst/>
          </a:prstGeom>
          <a:solidFill>
            <a:srgbClr val="1E2761"/>
          </a:solidFill>
          <a:ln>
            <a:noFill/>
          </a:ln>
        </p:spPr>
        <p:txBody>
          <a:bodyPr/>
          <a:lstStyle/>
          <a:p>
            <a:endParaRPr/>
          </a:p>
        </p:txBody>
      </p:sp>
      <p:sp>
        <p:nvSpPr>
          <p:cNvPr id="27" name="band"/>
          <p:cNvSpPr txBox="1"/>
          <p:nvPr/>
        </p:nvSpPr>
        <p:spPr>
          <a:xfrm>
            <a:off x="1307592" y="5779008"/>
            <a:ext cx="9546336" cy="402336"/>
          </a:xfrm>
          <a:prstGeom prst="rect">
            <a:avLst/>
          </a:prstGeom>
          <a:noFill/>
        </p:spPr>
        <p:txBody>
          <a:bodyPr wrap="square" lIns="0" tIns="27432" rIns="0" bIns="27432" anchor="ctr">
            <a:noAutofit/>
          </a:bodyPr>
          <a:lstStyle/>
          <a:p>
            <a:pPr algn="ctr">
              <a:lnSpc>
                <a:spcPct val="118000"/>
              </a:lnSpc>
            </a:pPr>
            <a:r>
              <a:rPr lang="ko-KR" sz="1250" b="1" dirty="0">
                <a:solidFill>
                  <a:srgbClr val="FFFFFF"/>
                </a:solidFill>
                <a:latin typeface="Pretendard"/>
                <a:ea typeface="Pretendard"/>
                <a:cs typeface="Pretendard"/>
              </a:rPr>
              <a:t>법정 용어를 설명해 주는 것 외에, 장소·진행 방식·공개 범위·변호인과의 소통을 어떻게 바꿔야 하는가?</a:t>
            </a: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T.·V. v. UK [GC] (1999.12.16.), 24724/94·24888/94 · 유럽평의회 자료</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허위 책임 인정 — Redlich·Goodman(2003)</a:t>
            </a:r>
          </a:p>
        </p:txBody>
      </p:sp>
      <p:sp>
        <p:nvSpPr>
          <p:cNvPr id="13" name="topband"/>
          <p:cNvSpPr/>
          <p:nvPr/>
        </p:nvSpPr>
        <p:spPr>
          <a:xfrm>
            <a:off x="731520" y="1417320"/>
            <a:ext cx="10725912" cy="777240"/>
          </a:xfrm>
          <a:prstGeom prst="rect">
            <a:avLst/>
          </a:prstGeom>
          <a:solidFill>
            <a:srgbClr val="F2F4F8"/>
          </a:solidFill>
          <a:ln>
            <a:noFill/>
          </a:ln>
        </p:spPr>
        <p:txBody>
          <a:bodyPr/>
          <a:lstStyle/>
          <a:p>
            <a:endParaRPr/>
          </a:p>
        </p:txBody>
      </p:sp>
      <p:sp>
        <p:nvSpPr>
          <p:cNvPr id="14" name="topbandtx"/>
          <p:cNvSpPr txBox="1"/>
          <p:nvPr/>
        </p:nvSpPr>
        <p:spPr>
          <a:xfrm>
            <a:off x="1005840" y="1417320"/>
            <a:ext cx="10149840" cy="777240"/>
          </a:xfrm>
          <a:prstGeom prst="rect">
            <a:avLst/>
          </a:prstGeom>
          <a:noFill/>
        </p:spPr>
        <p:txBody>
          <a:bodyPr wrap="square" lIns="0" tIns="27432" rIns="0" bIns="27432" anchor="ctr">
            <a:noAutofit/>
          </a:bodyPr>
          <a:lstStyle/>
          <a:p>
            <a:pPr algn="l">
              <a:lnSpc>
                <a:spcPct val="118000"/>
              </a:lnSpc>
            </a:pPr>
            <a:r>
              <a:rPr lang="ko-KR" sz="1300" b="1" dirty="0">
                <a:solidFill>
                  <a:srgbClr val="1E2761"/>
                </a:solidFill>
                <a:latin typeface="Pretendard"/>
                <a:ea typeface="Pretendard"/>
                <a:cs typeface="Pretendard"/>
              </a:rPr>
              <a:t>소년이 답변에 동의했는지뿐 아니라, 어떤 질문과 정보 속에서 그 답변이 나왔는지도 확인해야 한다.</a:t>
            </a:r>
          </a:p>
        </p:txBody>
      </p:sp>
      <p:sp>
        <p:nvSpPr>
          <p:cNvPr id="15" name="line15"/>
          <p:cNvSpPr/>
          <p:nvPr/>
        </p:nvSpPr>
        <p:spPr>
          <a:xfrm>
            <a:off x="731520" y="2286000"/>
            <a:ext cx="10725912" cy="0"/>
          </a:xfrm>
          <a:prstGeom prst="line">
            <a:avLst/>
          </a:prstGeom>
          <a:ln w="19050">
            <a:solidFill>
              <a:srgbClr val="1E2761"/>
            </a:solidFill>
          </a:ln>
        </p:spPr>
        <p:txBody>
          <a:bodyPr/>
          <a:lstStyle/>
          <a:p>
            <a:endParaRPr/>
          </a:p>
        </p:txBody>
      </p:sp>
      <p:sp>
        <p:nvSpPr>
          <p:cNvPr id="16" name="h0"/>
          <p:cNvSpPr txBox="1"/>
          <p:nvPr/>
        </p:nvSpPr>
        <p:spPr>
          <a:xfrm>
            <a:off x="731520" y="2480310"/>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실험 설계</a:t>
            </a:r>
          </a:p>
        </p:txBody>
      </p:sp>
      <p:sp>
        <p:nvSpPr>
          <p:cNvPr id="17" name="b0"/>
          <p:cNvSpPr txBox="1"/>
          <p:nvPr/>
        </p:nvSpPr>
        <p:spPr>
          <a:xfrm>
            <a:off x="3154680" y="2480310"/>
            <a:ext cx="8302752" cy="370332"/>
          </a:xfrm>
          <a:prstGeom prst="rect">
            <a:avLst/>
          </a:prstGeom>
          <a:noFill/>
        </p:spPr>
        <p:txBody>
          <a:bodyPr wrap="square" lIns="0" tIns="27432" rIns="0" bIns="27432" anchor="ctr">
            <a:noAutofit/>
          </a:bodyPr>
          <a:lstStyle/>
          <a:p>
            <a:pPr algn="l">
              <a:lnSpc>
                <a:spcPct val="118000"/>
              </a:lnSpc>
            </a:pPr>
            <a:r>
              <a:rPr lang="ko-KR" sz="1250" b="1" dirty="0">
                <a:solidFill>
                  <a:srgbClr val="222633"/>
                </a:solidFill>
                <a:latin typeface="Pretendard"/>
                <a:ea typeface="Pretendard"/>
                <a:cs typeface="Pretendard"/>
              </a:rPr>
              <a:t>하지 않은 행동의 책임을 인정하는지를 컴퓨터 과제로 측정했다.</a:t>
            </a:r>
          </a:p>
        </p:txBody>
      </p:sp>
      <p:sp>
        <p:nvSpPr>
          <p:cNvPr id="18" name="line18"/>
          <p:cNvSpPr/>
          <p:nvPr/>
        </p:nvSpPr>
        <p:spPr>
          <a:xfrm>
            <a:off x="731520" y="3079241"/>
            <a:ext cx="10725912" cy="0"/>
          </a:xfrm>
          <a:prstGeom prst="line">
            <a:avLst/>
          </a:prstGeom>
          <a:ln w="9525">
            <a:solidFill>
              <a:srgbClr val="DCE0E8"/>
            </a:solidFill>
          </a:ln>
        </p:spPr>
        <p:txBody>
          <a:bodyPr/>
          <a:lstStyle/>
          <a:p>
            <a:endParaRPr/>
          </a:p>
        </p:txBody>
      </p:sp>
      <p:sp>
        <p:nvSpPr>
          <p:cNvPr id="19" name="h1"/>
          <p:cNvSpPr txBox="1"/>
          <p:nvPr/>
        </p:nvSpPr>
        <p:spPr>
          <a:xfrm>
            <a:off x="731520" y="3307841"/>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어떤 상황을 만들었나</a:t>
            </a:r>
          </a:p>
        </p:txBody>
      </p:sp>
      <p:sp>
        <p:nvSpPr>
          <p:cNvPr id="20" name="b1"/>
          <p:cNvSpPr txBox="1"/>
          <p:nvPr/>
        </p:nvSpPr>
        <p:spPr>
          <a:xfrm>
            <a:off x="3154680" y="3307841"/>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컴퓨터 과제를 하던 참가자에게 자신이 하지 않은 행동 때문에 컴퓨터가 고장 났다고 알렸다.</a:t>
            </a:r>
          </a:p>
          <a:p>
            <a:pPr algn="l">
              <a:lnSpc>
                <a:spcPct val="118000"/>
              </a:lnSpc>
            </a:pPr>
            <a:r>
              <a:rPr lang="ko-KR" sz="1150" b="0" dirty="0">
                <a:solidFill>
                  <a:srgbClr val="464D5C"/>
                </a:solidFill>
                <a:latin typeface="Pretendard"/>
                <a:ea typeface="Pretendard"/>
                <a:cs typeface="Pretendard"/>
              </a:rPr>
              <a:t>일부 참가자에게는 그 행동을 했다는 허위증거를 제시하고, 책임 인정 여부를 확인했다.</a:t>
            </a:r>
          </a:p>
        </p:txBody>
      </p:sp>
      <p:sp>
        <p:nvSpPr>
          <p:cNvPr id="21" name="line21"/>
          <p:cNvSpPr/>
          <p:nvPr/>
        </p:nvSpPr>
        <p:spPr>
          <a:xfrm>
            <a:off x="731520" y="4112513"/>
            <a:ext cx="10725912" cy="0"/>
          </a:xfrm>
          <a:prstGeom prst="line">
            <a:avLst/>
          </a:prstGeom>
          <a:ln w="9525">
            <a:solidFill>
              <a:srgbClr val="DCE0E8"/>
            </a:solidFill>
          </a:ln>
        </p:spPr>
        <p:txBody>
          <a:bodyPr/>
          <a:lstStyle/>
          <a:p>
            <a:endParaRPr/>
          </a:p>
        </p:txBody>
      </p:sp>
      <p:sp>
        <p:nvSpPr>
          <p:cNvPr id="22" name="h2"/>
          <p:cNvSpPr txBox="1"/>
          <p:nvPr/>
        </p:nvSpPr>
        <p:spPr>
          <a:xfrm>
            <a:off x="731520" y="4341114"/>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무엇이 나타났나</a:t>
            </a:r>
          </a:p>
        </p:txBody>
      </p:sp>
      <p:sp>
        <p:nvSpPr>
          <p:cNvPr id="23" name="b2"/>
          <p:cNvSpPr txBox="1"/>
          <p:nvPr/>
        </p:nvSpPr>
        <p:spPr>
          <a:xfrm>
            <a:off x="3154680" y="4341114"/>
            <a:ext cx="8302752" cy="576072"/>
          </a:xfrm>
          <a:prstGeom prst="rect">
            <a:avLst/>
          </a:prstGeom>
          <a:noFill/>
        </p:spPr>
        <p:txBody>
          <a:bodyPr wrap="square" lIns="0" tIns="27432" rIns="0" bIns="27432" anchor="ctr">
            <a:noAutofit/>
          </a:bodyPr>
          <a:lstStyle/>
          <a:p>
            <a:pPr algn="l">
              <a:lnSpc>
                <a:spcPct val="125000"/>
              </a:lnSpc>
              <a:spcAft>
                <a:spcPts val="500"/>
              </a:spcAft>
            </a:pPr>
            <a:r>
              <a:rPr sz="1300" b="1">
                <a:solidFill>
                  <a:srgbClr val="222633"/>
                </a:solidFill>
                <a:latin typeface="Pretendard"/>
              </a:rPr>
              <a:t>어린 참가자와 피암시성이 높은 참가자일수록 하지 않은 행동의 책임을 인정할 가능성이 더 컸다.</a:t>
            </a:r>
          </a:p>
          <a:p>
            <a:pPr algn="l"/>
            <a:r>
              <a:rPr sz="1150" b="0">
                <a:solidFill>
                  <a:srgbClr val="464D5C"/>
                </a:solidFill>
                <a:latin typeface="Pretendard"/>
              </a:rPr>
              <a:t>책임을 인정한 이유와 실제 기억 여부는 별도로 평가해야 한다.</a:t>
            </a:r>
          </a:p>
        </p:txBody>
      </p:sp>
      <p:sp>
        <p:nvSpPr>
          <p:cNvPr id="24" name="line24"/>
          <p:cNvSpPr/>
          <p:nvPr/>
        </p:nvSpPr>
        <p:spPr>
          <a:xfrm>
            <a:off x="731520" y="5145786"/>
            <a:ext cx="10725912" cy="0"/>
          </a:xfrm>
          <a:prstGeom prst="line">
            <a:avLst/>
          </a:prstGeom>
          <a:ln w="9525">
            <a:solidFill>
              <a:srgbClr val="DCE0E8"/>
            </a:solidFill>
          </a:ln>
        </p:spPr>
        <p:txBody>
          <a:bodyPr/>
          <a:lstStyle/>
          <a:p>
            <a:endParaRPr/>
          </a:p>
        </p:txBody>
      </p:sp>
      <p:sp>
        <p:nvSpPr>
          <p:cNvPr id="25" name="h3"/>
          <p:cNvSpPr txBox="1"/>
          <p:nvPr/>
        </p:nvSpPr>
        <p:spPr>
          <a:xfrm>
            <a:off x="731520" y="5374386"/>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어디까지 알 수 있나</a:t>
            </a:r>
          </a:p>
        </p:txBody>
      </p:sp>
      <p:sp>
        <p:nvSpPr>
          <p:cNvPr id="26" name="b3"/>
          <p:cNvSpPr txBox="1"/>
          <p:nvPr/>
        </p:nvSpPr>
        <p:spPr>
          <a:xfrm>
            <a:off x="3154680" y="5374386"/>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측정한 것은 실험 과제에서 하지 않은 행동의 책임을 인정하는지다.</a:t>
            </a:r>
          </a:p>
          <a:p>
            <a:pPr algn="l">
              <a:lnSpc>
                <a:spcPct val="118000"/>
              </a:lnSpc>
            </a:pPr>
            <a:r>
              <a:rPr lang="ko-KR" sz="1150" b="0" dirty="0">
                <a:solidFill>
                  <a:srgbClr val="464D5C"/>
                </a:solidFill>
                <a:latin typeface="Pretendard"/>
                <a:ea typeface="Pretendard"/>
                <a:cs typeface="Pretendard"/>
              </a:rPr>
              <a:t>어린 소년에게 형사절차가 열릴 때 질문 방식과 정보 제시에 어떤 보호가 필요한지 묻게 한다.</a:t>
            </a:r>
          </a:p>
        </p:txBody>
      </p:sp>
      <p:sp>
        <p:nvSpPr>
          <p:cNvPr id="27" name="line27"/>
          <p:cNvSpPr/>
          <p:nvPr/>
        </p:nvSpPr>
        <p:spPr>
          <a:xfrm>
            <a:off x="731520" y="6144768"/>
            <a:ext cx="10725912" cy="0"/>
          </a:xfrm>
          <a:prstGeom prst="line">
            <a:avLst/>
          </a:prstGeom>
          <a:ln w="19050">
            <a:solidFill>
              <a:srgbClr val="1E2761"/>
            </a:solidFill>
          </a:ln>
        </p:spPr>
        <p:txBody>
          <a:bodyPr/>
          <a:lstStyle/>
          <a:p>
            <a:endParaRPr/>
          </a:p>
        </p:txBody>
      </p:sp>
      <p:sp>
        <p:nvSpPr>
          <p:cNvPr id="28"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Redlich &amp; Goodman (2003), Law and Human Behavior 27, 141–156 · 12~13세, 15~16세, 청년 성인 비교</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뉴질랜드 가족집단회의 — 피해자 요구와 이행계획</a:t>
            </a:r>
          </a:p>
        </p:txBody>
      </p:sp>
      <p:sp>
        <p:nvSpPr>
          <p:cNvPr id="13" name="line13"/>
          <p:cNvSpPr/>
          <p:nvPr/>
        </p:nvSpPr>
        <p:spPr>
          <a:xfrm>
            <a:off x="731520" y="1389888"/>
            <a:ext cx="10725912" cy="0"/>
          </a:xfrm>
          <a:prstGeom prst="line">
            <a:avLst/>
          </a:prstGeom>
          <a:ln w="19050">
            <a:solidFill>
              <a:srgbClr val="1E2761"/>
            </a:solidFill>
          </a:ln>
        </p:spPr>
        <p:txBody>
          <a:bodyPr/>
          <a:lstStyle/>
          <a:p>
            <a:endParaRPr/>
          </a:p>
        </p:txBody>
      </p:sp>
      <p:sp>
        <p:nvSpPr>
          <p:cNvPr id="14" name="h0"/>
          <p:cNvSpPr txBox="1"/>
          <p:nvPr/>
        </p:nvSpPr>
        <p:spPr>
          <a:xfrm>
            <a:off x="731520" y="1572768"/>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누가 무엇을 논의하는가</a:t>
            </a:r>
          </a:p>
        </p:txBody>
      </p:sp>
      <p:sp>
        <p:nvSpPr>
          <p:cNvPr id="15" name="b0"/>
          <p:cNvSpPr txBox="1"/>
          <p:nvPr/>
        </p:nvSpPr>
        <p:spPr>
          <a:xfrm>
            <a:off x="3154680" y="1572768"/>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뉴질랜드의 소년과 가족, 피해자, 경찰과 관련 전문가가 사건의 영향과 이후 계획을 논의한다.</a:t>
            </a:r>
          </a:p>
          <a:p>
            <a:pPr algn="l">
              <a:lnSpc>
                <a:spcPct val="118000"/>
              </a:lnSpc>
            </a:pPr>
            <a:r>
              <a:rPr lang="ko-KR" sz="1150" b="0" dirty="0">
                <a:solidFill>
                  <a:srgbClr val="464D5C"/>
                </a:solidFill>
                <a:latin typeface="Pretendard"/>
                <a:ea typeface="Pretendard"/>
                <a:cs typeface="Pretendard"/>
              </a:rPr>
              <a:t>피해 배상·지역사회 활동·교육·상담 등 책임 이행과 지원을 구체적인 계획으로 연결할 수 있다.</a:t>
            </a:r>
          </a:p>
        </p:txBody>
      </p:sp>
      <p:sp>
        <p:nvSpPr>
          <p:cNvPr id="16" name="line16"/>
          <p:cNvSpPr/>
          <p:nvPr/>
        </p:nvSpPr>
        <p:spPr>
          <a:xfrm>
            <a:off x="731520" y="2360676"/>
            <a:ext cx="10725912" cy="0"/>
          </a:xfrm>
          <a:prstGeom prst="line">
            <a:avLst/>
          </a:prstGeom>
          <a:ln w="9525">
            <a:solidFill>
              <a:srgbClr val="DCE0E8"/>
            </a:solidFill>
          </a:ln>
        </p:spPr>
        <p:txBody>
          <a:bodyPr/>
          <a:lstStyle/>
          <a:p>
            <a:endParaRPr/>
          </a:p>
        </p:txBody>
      </p:sp>
      <p:sp>
        <p:nvSpPr>
          <p:cNvPr id="17" name="h1"/>
          <p:cNvSpPr txBox="1"/>
          <p:nvPr/>
        </p:nvSpPr>
        <p:spPr>
          <a:xfrm>
            <a:off x="731520" y="2572512"/>
            <a:ext cx="2240280" cy="800100"/>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피해자의 경험</a:t>
            </a:r>
          </a:p>
        </p:txBody>
      </p:sp>
      <p:sp>
        <p:nvSpPr>
          <p:cNvPr id="18" name="b1"/>
          <p:cNvSpPr txBox="1"/>
          <p:nvPr/>
        </p:nvSpPr>
        <p:spPr>
          <a:xfrm>
            <a:off x="3154680" y="2572512"/>
            <a:ext cx="8302752" cy="800100"/>
          </a:xfrm>
          <a:prstGeom prst="rect">
            <a:avLst/>
          </a:prstGeom>
          <a:noFill/>
        </p:spPr>
        <p:txBody>
          <a:bodyPr wrap="square" lIns="0" tIns="27432" rIns="0" bIns="27432" anchor="ctr">
            <a:noAutofit/>
          </a:bodyPr>
          <a:lstStyle/>
          <a:p>
            <a:pPr algn="l">
              <a:lnSpc>
                <a:spcPct val="125000"/>
              </a:lnSpc>
              <a:spcAft>
                <a:spcPts val="500"/>
              </a:spcAft>
            </a:pPr>
            <a:r>
              <a:rPr lang="ko-KR" sz="1250" b="1" dirty="0">
                <a:solidFill>
                  <a:srgbClr val="222633"/>
                </a:solidFill>
                <a:latin typeface="Pretendard"/>
                <a:ea typeface="Pretendard"/>
                <a:cs typeface="Pretendard"/>
              </a:rPr>
              <a:t>자신의 감정과 질문을 전달할 수 있었고, 사과를 듣는 데서 끝내지 않고 합의한 계획을 실제로 이행해 달라고 요구했다.</a:t>
            </a:r>
          </a:p>
          <a:p>
            <a:pPr algn="l">
              <a:lnSpc>
                <a:spcPct val="118000"/>
              </a:lnSpc>
            </a:pPr>
            <a:r>
              <a:rPr lang="ko-KR" sz="1150" b="0" dirty="0">
                <a:solidFill>
                  <a:srgbClr val="464D5C"/>
                </a:solidFill>
                <a:latin typeface="Pretendard"/>
                <a:ea typeface="Pretendard"/>
                <a:cs typeface="Pretendard"/>
              </a:rPr>
              <a:t>정부가 공개한 인터뷰 한 건을 의역한 것이다.</a:t>
            </a:r>
          </a:p>
        </p:txBody>
      </p:sp>
      <p:sp>
        <p:nvSpPr>
          <p:cNvPr id="19" name="line19"/>
          <p:cNvSpPr/>
          <p:nvPr/>
        </p:nvSpPr>
        <p:spPr>
          <a:xfrm>
            <a:off x="731520" y="3584448"/>
            <a:ext cx="10725912" cy="0"/>
          </a:xfrm>
          <a:prstGeom prst="line">
            <a:avLst/>
          </a:prstGeom>
          <a:ln w="9525">
            <a:solidFill>
              <a:srgbClr val="DCE0E8"/>
            </a:solidFill>
          </a:ln>
        </p:spPr>
        <p:txBody>
          <a:bodyPr/>
          <a:lstStyle/>
          <a:p>
            <a:endParaRPr/>
          </a:p>
        </p:txBody>
      </p:sp>
      <p:sp>
        <p:nvSpPr>
          <p:cNvPr id="20" name="h2"/>
          <p:cNvSpPr txBox="1"/>
          <p:nvPr/>
        </p:nvSpPr>
        <p:spPr>
          <a:xfrm>
            <a:off x="731520" y="3796284"/>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합의 뒤의 과제</a:t>
            </a:r>
          </a:p>
        </p:txBody>
      </p:sp>
      <p:sp>
        <p:nvSpPr>
          <p:cNvPr id="21" name="b2"/>
          <p:cNvSpPr txBox="1"/>
          <p:nvPr/>
        </p:nvSpPr>
        <p:spPr>
          <a:xfrm>
            <a:off x="3154680" y="3796284"/>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사실관계에 동의하지 않거나 계획에 합의하지 못하면 경찰·법원 절차로 돌아갈 수 있다.</a:t>
            </a:r>
          </a:p>
          <a:p>
            <a:pPr algn="l">
              <a:lnSpc>
                <a:spcPct val="118000"/>
              </a:lnSpc>
              <a:spcAft>
                <a:spcPts val="500"/>
              </a:spcAft>
            </a:pPr>
            <a:r>
              <a:rPr lang="ko-KR" sz="1150" b="0" dirty="0">
                <a:solidFill>
                  <a:srgbClr val="464D5C"/>
                </a:solidFill>
                <a:latin typeface="Pretendard"/>
                <a:ea typeface="Pretendard"/>
                <a:cs typeface="Pretendard"/>
              </a:rPr>
              <a:t>가족과 실무자의 지원, 약속한 내용의 이행 확인이 필요하다.</a:t>
            </a:r>
          </a:p>
          <a:p>
            <a:pPr algn="l">
              <a:lnSpc>
                <a:spcPct val="118000"/>
              </a:lnSpc>
            </a:pPr>
            <a:r>
              <a:rPr lang="ko-KR" sz="1150" b="0" dirty="0">
                <a:solidFill>
                  <a:srgbClr val="464D5C"/>
                </a:solidFill>
                <a:latin typeface="Pretendard"/>
                <a:ea typeface="Pretendard"/>
                <a:cs typeface="Pretendard"/>
              </a:rPr>
              <a:t>계획에 적혔다는 것과 완료되었다는 것은 다르다.</a:t>
            </a:r>
          </a:p>
        </p:txBody>
      </p:sp>
      <p:sp>
        <p:nvSpPr>
          <p:cNvPr id="22" name="line22"/>
          <p:cNvSpPr/>
          <p:nvPr/>
        </p:nvSpPr>
        <p:spPr>
          <a:xfrm>
            <a:off x="731520" y="4789932"/>
            <a:ext cx="10725912" cy="0"/>
          </a:xfrm>
          <a:prstGeom prst="line">
            <a:avLst/>
          </a:prstGeom>
          <a:ln w="9525">
            <a:solidFill>
              <a:srgbClr val="DCE0E8"/>
            </a:solidFill>
          </a:ln>
        </p:spPr>
        <p:txBody>
          <a:bodyPr/>
          <a:lstStyle/>
          <a:p>
            <a:endParaRPr/>
          </a:p>
        </p:txBody>
      </p:sp>
      <p:sp>
        <p:nvSpPr>
          <p:cNvPr id="23" name="h3"/>
          <p:cNvSpPr txBox="1"/>
          <p:nvPr/>
        </p:nvSpPr>
        <p:spPr>
          <a:xfrm>
            <a:off x="731520" y="5001768"/>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논제에 연결할 범위</a:t>
            </a:r>
          </a:p>
        </p:txBody>
      </p:sp>
      <p:sp>
        <p:nvSpPr>
          <p:cNvPr id="24" name="b3"/>
          <p:cNvSpPr txBox="1"/>
          <p:nvPr/>
        </p:nvSpPr>
        <p:spPr>
          <a:xfrm>
            <a:off x="3154680" y="5001768"/>
            <a:ext cx="8302752" cy="576072"/>
          </a:xfrm>
          <a:prstGeom prst="rect">
            <a:avLst/>
          </a:prstGeom>
          <a:noFill/>
        </p:spPr>
        <p:txBody>
          <a:bodyPr wrap="square" lIns="0" tIns="27432" rIns="0" bIns="27432" anchor="ctr">
            <a:noAutofit/>
          </a:bodyPr>
          <a:lstStyle/>
          <a:p>
            <a:pPr algn="l">
              <a:lnSpc>
                <a:spcPct val="118000"/>
              </a:lnSpc>
              <a:spcAft>
                <a:spcPts val="500"/>
              </a:spcAft>
            </a:pPr>
            <a:r>
              <a:rPr sz="1250" b="1">
                <a:solidFill>
                  <a:srgbClr val="222633"/>
                </a:solidFill>
                <a:latin typeface="Pretendard"/>
              </a:rPr>
              <a:t>피해자 참여와 회복을 어떤 절차로 구체화하는지 보여 준다.</a:t>
            </a:r>
          </a:p>
          <a:p>
            <a:pPr algn="l"/>
            <a:r>
              <a:rPr sz="1150" b="0">
                <a:solidFill>
                  <a:srgbClr val="464D5C"/>
                </a:solidFill>
                <a:latin typeface="Pretendard"/>
              </a:rPr>
              <a:t>확인되는 것은 정부 공개 인터뷰 한 건에서 피해자가 요구한 내용과 절차다.</a:t>
            </a:r>
          </a:p>
        </p:txBody>
      </p:sp>
      <p:sp>
        <p:nvSpPr>
          <p:cNvPr id="25" name="bandbg"/>
          <p:cNvSpPr/>
          <p:nvPr/>
        </p:nvSpPr>
        <p:spPr>
          <a:xfrm>
            <a:off x="1124712" y="5751576"/>
            <a:ext cx="9912096" cy="457200"/>
          </a:xfrm>
          <a:prstGeom prst="rect">
            <a:avLst/>
          </a:prstGeom>
          <a:solidFill>
            <a:srgbClr val="1E2761"/>
          </a:solidFill>
          <a:ln>
            <a:noFill/>
          </a:ln>
        </p:spPr>
        <p:txBody>
          <a:bodyPr/>
          <a:lstStyle/>
          <a:p>
            <a:endParaRPr/>
          </a:p>
        </p:txBody>
      </p:sp>
      <p:sp>
        <p:nvSpPr>
          <p:cNvPr id="26" name="band"/>
          <p:cNvSpPr txBox="1"/>
          <p:nvPr/>
        </p:nvSpPr>
        <p:spPr>
          <a:xfrm>
            <a:off x="1307592" y="5779008"/>
            <a:ext cx="9546336" cy="402336"/>
          </a:xfrm>
          <a:prstGeom prst="rect">
            <a:avLst/>
          </a:prstGeom>
          <a:noFill/>
        </p:spPr>
        <p:txBody>
          <a:bodyPr wrap="square" lIns="0" tIns="27432" rIns="0" bIns="27432" anchor="ctr">
            <a:noAutofit/>
          </a:bodyPr>
          <a:lstStyle/>
          <a:p>
            <a:pPr algn="ctr">
              <a:lnSpc>
                <a:spcPct val="118000"/>
              </a:lnSpc>
            </a:pPr>
            <a:r>
              <a:rPr lang="ko-KR" sz="1250" b="1" dirty="0">
                <a:solidFill>
                  <a:srgbClr val="FFFFFF"/>
                </a:solidFill>
                <a:latin typeface="Pretendard"/>
                <a:ea typeface="Pretendard"/>
                <a:cs typeface="Pretendard"/>
              </a:rPr>
              <a:t>피해 회복을 위해 무엇을 약속하고, 누가 그 이행을 지원·확인할 것인가?</a:t>
            </a:r>
          </a:p>
        </p:txBody>
      </p:sp>
      <p:sp>
        <p:nvSpPr>
          <p:cNvPr id="27"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뉴질랜드 아동부, Youth justice family group conferences · 절차 안내 및 공식 인터뷰</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보충 자료</a:t>
            </a:r>
          </a:p>
        </p:txBody>
      </p:sp>
      <p:sp>
        <p:nvSpPr>
          <p:cNvPr id="12"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750" b="1" dirty="0">
                <a:solidFill>
                  <a:srgbClr val="1E2761"/>
                </a:solidFill>
                <a:latin typeface="Pretendard"/>
                <a:ea typeface="Pretendard"/>
                <a:cs typeface="Pretendard"/>
              </a:rPr>
              <a:t>10세 미만의 중대한 위해</a:t>
            </a:r>
          </a:p>
        </p:txBody>
      </p:sp>
      <p:sp>
        <p:nvSpPr>
          <p:cNvPr id="13" name="line13"/>
          <p:cNvSpPr/>
          <p:nvPr/>
        </p:nvSpPr>
        <p:spPr>
          <a:xfrm>
            <a:off x="731520" y="1389888"/>
            <a:ext cx="10725912" cy="0"/>
          </a:xfrm>
          <a:prstGeom prst="line">
            <a:avLst/>
          </a:prstGeom>
          <a:ln w="19050">
            <a:solidFill>
              <a:srgbClr val="1E2761"/>
            </a:solidFill>
          </a:ln>
        </p:spPr>
        <p:txBody>
          <a:bodyPr/>
          <a:lstStyle/>
          <a:p>
            <a:endParaRPr/>
          </a:p>
        </p:txBody>
      </p:sp>
      <p:sp>
        <p:nvSpPr>
          <p:cNvPr id="14" name="h0"/>
          <p:cNvSpPr txBox="1"/>
          <p:nvPr/>
        </p:nvSpPr>
        <p:spPr>
          <a:xfrm>
            <a:off x="731520" y="1810512"/>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사건의 개요</a:t>
            </a:r>
          </a:p>
        </p:txBody>
      </p:sp>
      <p:sp>
        <p:nvSpPr>
          <p:cNvPr id="15" name="b0"/>
          <p:cNvSpPr txBox="1"/>
          <p:nvPr/>
        </p:nvSpPr>
        <p:spPr>
          <a:xfrm>
            <a:off x="3154680" y="1810512"/>
            <a:ext cx="8302752" cy="781812"/>
          </a:xfrm>
          <a:prstGeom prst="rect">
            <a:avLst/>
          </a:prstGeom>
          <a:noFill/>
        </p:spPr>
        <p:txBody>
          <a:bodyPr wrap="square" lIns="0" tIns="27432" rIns="0" bIns="27432" anchor="ctr">
            <a:noAutofit/>
          </a:bodyPr>
          <a:lstStyle/>
          <a:p>
            <a:pPr algn="l">
              <a:lnSpc>
                <a:spcPct val="125000"/>
              </a:lnSpc>
              <a:spcAft>
                <a:spcPts val="500"/>
              </a:spcAft>
            </a:pPr>
            <a:r>
              <a:rPr sz="1250" b="1">
                <a:solidFill>
                  <a:srgbClr val="222633"/>
                </a:solidFill>
                <a:latin typeface="Pretendard"/>
              </a:rPr>
              <a:t>2015년 용인에서 있었던 사건이며 관련 아동이 만 9세였다는 사실이 보도됐다.</a:t>
            </a:r>
          </a:p>
          <a:p>
            <a:pPr algn="l"/>
            <a:r>
              <a:rPr sz="1150" b="0">
                <a:solidFill>
                  <a:srgbClr val="464D5C"/>
                </a:solidFill>
                <a:latin typeface="Pretendard"/>
              </a:rPr>
              <a:t>처음 기사에서 표기한 나이와 생일을 기준으로 한 실제 법적 연령이 달랐다.</a:t>
            </a:r>
          </a:p>
          <a:p>
            <a:pPr algn="l"/>
            <a:r>
              <a:rPr sz="1150" b="0">
                <a:solidFill>
                  <a:srgbClr val="464D5C"/>
                </a:solidFill>
                <a:latin typeface="Pretendard"/>
              </a:rPr>
              <a:t>보도로 확인되는 핵심은 아동의 연령과 사건의 경위다.</a:t>
            </a:r>
          </a:p>
        </p:txBody>
      </p:sp>
      <p:sp>
        <p:nvSpPr>
          <p:cNvPr id="16" name="line16"/>
          <p:cNvSpPr/>
          <p:nvPr/>
        </p:nvSpPr>
        <p:spPr>
          <a:xfrm>
            <a:off x="731520" y="2820924"/>
            <a:ext cx="10725912" cy="0"/>
          </a:xfrm>
          <a:prstGeom prst="line">
            <a:avLst/>
          </a:prstGeom>
          <a:ln w="9525">
            <a:solidFill>
              <a:srgbClr val="DCE0E8"/>
            </a:solidFill>
          </a:ln>
        </p:spPr>
        <p:txBody>
          <a:bodyPr/>
          <a:lstStyle/>
          <a:p>
            <a:endParaRPr/>
          </a:p>
        </p:txBody>
      </p:sp>
      <p:sp>
        <p:nvSpPr>
          <p:cNvPr id="17" name="h1"/>
          <p:cNvSpPr txBox="1"/>
          <p:nvPr/>
        </p:nvSpPr>
        <p:spPr>
          <a:xfrm>
            <a:off x="731520" y="3049524"/>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현행법의 대응</a:t>
            </a:r>
          </a:p>
        </p:txBody>
      </p:sp>
      <p:sp>
        <p:nvSpPr>
          <p:cNvPr id="18" name="b1"/>
          <p:cNvSpPr txBox="1"/>
          <p:nvPr/>
        </p:nvSpPr>
        <p:spPr>
          <a:xfrm>
            <a:off x="3154680" y="3049524"/>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10세 미만은 형벌과 소년법상 보호처분의 대상이 아니다.</a:t>
            </a:r>
          </a:p>
          <a:p>
            <a:pPr algn="l">
              <a:lnSpc>
                <a:spcPct val="118000"/>
              </a:lnSpc>
              <a:spcAft>
                <a:spcPts val="500"/>
              </a:spcAft>
            </a:pPr>
            <a:r>
              <a:rPr lang="ko-KR" sz="1150" b="0" dirty="0">
                <a:solidFill>
                  <a:srgbClr val="464D5C"/>
                </a:solidFill>
                <a:latin typeface="Pretendard"/>
                <a:ea typeface="Pretendard"/>
                <a:cs typeface="Pretendard"/>
              </a:rPr>
              <a:t>안전확인·가족과 학교의 대응·아동복지법상 보호는 별도 요건과 절차로 판단한다.</a:t>
            </a:r>
          </a:p>
          <a:p>
            <a:pPr algn="l">
              <a:lnSpc>
                <a:spcPct val="118000"/>
              </a:lnSpc>
            </a:pPr>
            <a:r>
              <a:rPr lang="ko-KR" sz="1150" b="0" dirty="0">
                <a:solidFill>
                  <a:srgbClr val="464D5C"/>
                </a:solidFill>
                <a:latin typeface="Pretendard"/>
                <a:ea typeface="Pretendard"/>
                <a:cs typeface="Pretendard"/>
              </a:rPr>
              <a:t>시설 보호는 아동복지법의 요건과 절차를 따로 갖추어야 한다.</a:t>
            </a:r>
          </a:p>
        </p:txBody>
      </p:sp>
      <p:sp>
        <p:nvSpPr>
          <p:cNvPr id="19" name="line19"/>
          <p:cNvSpPr/>
          <p:nvPr/>
        </p:nvSpPr>
        <p:spPr>
          <a:xfrm>
            <a:off x="731520" y="4059935"/>
            <a:ext cx="10725912" cy="0"/>
          </a:xfrm>
          <a:prstGeom prst="line">
            <a:avLst/>
          </a:prstGeom>
          <a:ln w="9525">
            <a:solidFill>
              <a:srgbClr val="DCE0E8"/>
            </a:solidFill>
          </a:ln>
        </p:spPr>
        <p:txBody>
          <a:bodyPr/>
          <a:lstStyle/>
          <a:p>
            <a:endParaRPr/>
          </a:p>
        </p:txBody>
      </p:sp>
      <p:sp>
        <p:nvSpPr>
          <p:cNvPr id="20" name="h2"/>
          <p:cNvSpPr txBox="1"/>
          <p:nvPr/>
        </p:nvSpPr>
        <p:spPr>
          <a:xfrm>
            <a:off x="731520" y="4288536"/>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적용 범위</a:t>
            </a:r>
          </a:p>
        </p:txBody>
      </p:sp>
      <p:sp>
        <p:nvSpPr>
          <p:cNvPr id="21" name="b2"/>
          <p:cNvSpPr txBox="1"/>
          <p:nvPr/>
        </p:nvSpPr>
        <p:spPr>
          <a:xfrm>
            <a:off x="3154680" y="4288536"/>
            <a:ext cx="8302752" cy="576072"/>
          </a:xfrm>
          <a:prstGeom prst="rect">
            <a:avLst/>
          </a:prstGeom>
          <a:noFill/>
        </p:spPr>
        <p:txBody>
          <a:bodyPr wrap="square" lIns="0" tIns="27432" rIns="0" bIns="27432" anchor="ctr">
            <a:noAutofit/>
          </a:bodyPr>
          <a:lstStyle/>
          <a:p>
            <a:pPr algn="l">
              <a:lnSpc>
                <a:spcPct val="118000"/>
              </a:lnSpc>
              <a:spcAft>
                <a:spcPts val="500"/>
              </a:spcAft>
            </a:pPr>
            <a:r>
              <a:rPr sz="1250" b="1">
                <a:solidFill>
                  <a:srgbClr val="222633"/>
                </a:solidFill>
                <a:latin typeface="Pretendard"/>
              </a:rPr>
              <a:t>14세에서 13세로 낮추는 안은 9세 사건에 형사책임을 새로 부여하지 않는다.</a:t>
            </a:r>
          </a:p>
          <a:p>
            <a:pPr algn="l"/>
            <a:r>
              <a:rPr sz="1150" b="0">
                <a:solidFill>
                  <a:srgbClr val="464D5C"/>
                </a:solidFill>
                <a:latin typeface="Pretendard"/>
              </a:rPr>
              <a:t>9세 사건은 13세 하향안의 적용대상이 아니므로, 충격사례와 법률 변경의 적용범위를 분리해 본다.</a:t>
            </a:r>
          </a:p>
        </p:txBody>
      </p:sp>
      <p:sp>
        <p:nvSpPr>
          <p:cNvPr id="22" name="bandbg"/>
          <p:cNvSpPr/>
          <p:nvPr/>
        </p:nvSpPr>
        <p:spPr>
          <a:xfrm>
            <a:off x="1124712" y="5751576"/>
            <a:ext cx="9912096" cy="457200"/>
          </a:xfrm>
          <a:prstGeom prst="rect">
            <a:avLst/>
          </a:prstGeom>
          <a:solidFill>
            <a:srgbClr val="1E2761"/>
          </a:solidFill>
          <a:ln>
            <a:noFill/>
          </a:ln>
        </p:spPr>
        <p:txBody>
          <a:bodyPr/>
          <a:lstStyle/>
          <a:p>
            <a:endParaRPr/>
          </a:p>
        </p:txBody>
      </p:sp>
      <p:sp>
        <p:nvSpPr>
          <p:cNvPr id="23" name="band"/>
          <p:cNvSpPr txBox="1"/>
          <p:nvPr/>
        </p:nvSpPr>
        <p:spPr>
          <a:xfrm>
            <a:off x="1307592" y="5779008"/>
            <a:ext cx="9546336" cy="402336"/>
          </a:xfrm>
          <a:prstGeom prst="rect">
            <a:avLst/>
          </a:prstGeom>
          <a:noFill/>
        </p:spPr>
        <p:txBody>
          <a:bodyPr wrap="square" lIns="0" tIns="27432" rIns="0" bIns="27432" anchor="ctr">
            <a:noAutofit/>
          </a:bodyPr>
          <a:lstStyle/>
          <a:p>
            <a:pPr algn="ctr">
              <a:lnSpc>
                <a:spcPct val="118000"/>
              </a:lnSpc>
            </a:pPr>
            <a:r>
              <a:rPr lang="ko-KR" sz="1250" b="1" dirty="0">
                <a:solidFill>
                  <a:srgbClr val="FFFFFF"/>
                </a:solidFill>
                <a:latin typeface="Pretendard"/>
                <a:ea typeface="Pretendard"/>
                <a:cs typeface="Pretendard"/>
              </a:rPr>
              <a:t>가장 충격적인 사례가 실제로 내가 제안한 법률 변경의 적용 대상에 들어가는가?</a:t>
            </a:r>
          </a:p>
        </p:txBody>
      </p:sp>
      <p:sp>
        <p:nvSpPr>
          <p:cNvPr id="24"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연합뉴스 2015.10.16. · 언론보도 기준 / 소년법·아동복지법</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kicker"/>
          <p:cNvSpPr txBox="1"/>
          <p:nvPr/>
        </p:nvSpPr>
        <p:spPr>
          <a:xfrm>
            <a:off x="731520" y="365760"/>
            <a:ext cx="5212080" cy="292608"/>
          </a:xfrm>
          <a:prstGeom prst="rect">
            <a:avLst/>
          </a:prstGeom>
          <a:noFill/>
        </p:spPr>
        <p:txBody>
          <a:bodyPr wrap="square" lIns="0" tIns="27432" rIns="0" bIns="27432" anchor="ctr">
            <a:noAutofit/>
          </a:bodyPr>
          <a:lstStyle/>
          <a:p>
            <a:pPr algn="l">
              <a:lnSpc>
                <a:spcPct val="118000"/>
              </a:lnSpc>
            </a:pPr>
            <a:r>
              <a:rPr lang="ko-KR" sz="1250" b="1" dirty="0">
                <a:solidFill>
                  <a:srgbClr val="464D5C"/>
                </a:solidFill>
                <a:latin typeface="Pretendard"/>
                <a:ea typeface="Pretendard"/>
                <a:cs typeface="Pretendard"/>
              </a:rPr>
              <a:t>보충 자료</a:t>
            </a:r>
          </a:p>
        </p:txBody>
      </p:sp>
      <p:sp>
        <p:nvSpPr>
          <p:cNvPr id="11" name="title"/>
          <p:cNvSpPr txBox="1"/>
          <p:nvPr/>
        </p:nvSpPr>
        <p:spPr>
          <a:xfrm>
            <a:off x="731520" y="640080"/>
            <a:ext cx="10725912" cy="640080"/>
          </a:xfrm>
          <a:prstGeom prst="rect">
            <a:avLst/>
          </a:prstGeom>
          <a:noFill/>
        </p:spPr>
        <p:txBody>
          <a:bodyPr wrap="square" lIns="0" tIns="27432" rIns="0" bIns="27432" anchor="ctr">
            <a:noAutofit/>
          </a:bodyPr>
          <a:lstStyle/>
          <a:p>
            <a:pPr algn="l">
              <a:lnSpc>
                <a:spcPct val="118000"/>
              </a:lnSpc>
            </a:pPr>
            <a:r>
              <a:rPr lang="ko-KR" sz="2600" b="1" dirty="0">
                <a:solidFill>
                  <a:srgbClr val="1E2761"/>
                </a:solidFill>
                <a:latin typeface="Pretendard"/>
                <a:ea typeface="Pretendard"/>
                <a:cs typeface="Pretendard"/>
              </a:rPr>
              <a:t>RP v The Queen(2016) — 숨긴 행동과 책임능력의 입증</a:t>
            </a:r>
          </a:p>
        </p:txBody>
      </p:sp>
      <p:sp>
        <p:nvSpPr>
          <p:cNvPr id="12" name="chip"/>
          <p:cNvSpPr txBox="1"/>
          <p:nvPr/>
        </p:nvSpPr>
        <p:spPr>
          <a:xfrm>
            <a:off x="6035040" y="713232"/>
            <a:ext cx="5422392" cy="475488"/>
          </a:xfrm>
          <a:prstGeom prst="rect">
            <a:avLst/>
          </a:prstGeom>
          <a:noFill/>
        </p:spPr>
        <p:txBody>
          <a:bodyPr wrap="square" lIns="0" tIns="27432" rIns="0" bIns="27432" anchor="ctr">
            <a:noAutofit/>
          </a:bodyPr>
          <a:lstStyle/>
          <a:p>
            <a:pPr algn="r">
              <a:lnSpc>
                <a:spcPct val="118000"/>
              </a:lnSpc>
            </a:pPr>
            <a:r>
              <a:rPr lang="ko-KR" sz="1300" b="1" dirty="0">
                <a:solidFill>
                  <a:srgbClr val="A8871C"/>
                </a:solidFill>
                <a:latin typeface="Pretendard"/>
                <a:ea typeface="Pretendard"/>
                <a:cs typeface="Pretendard"/>
              </a:rPr>
              <a:t>[2016] HCA 53</a:t>
            </a:r>
          </a:p>
        </p:txBody>
      </p:sp>
      <p:sp>
        <p:nvSpPr>
          <p:cNvPr id="13" name="line13"/>
          <p:cNvSpPr/>
          <p:nvPr/>
        </p:nvSpPr>
        <p:spPr>
          <a:xfrm>
            <a:off x="731520" y="1389888"/>
            <a:ext cx="10725912" cy="0"/>
          </a:xfrm>
          <a:prstGeom prst="line">
            <a:avLst/>
          </a:prstGeom>
          <a:ln w="19050">
            <a:solidFill>
              <a:srgbClr val="1E2761"/>
            </a:solidFill>
          </a:ln>
        </p:spPr>
        <p:txBody>
          <a:bodyPr/>
          <a:lstStyle/>
          <a:p>
            <a:endParaRPr/>
          </a:p>
        </p:txBody>
      </p:sp>
      <p:sp>
        <p:nvSpPr>
          <p:cNvPr id="14" name="h0"/>
          <p:cNvSpPr txBox="1"/>
          <p:nvPr/>
        </p:nvSpPr>
        <p:spPr>
          <a:xfrm>
            <a:off x="731520" y="1737360"/>
            <a:ext cx="2240280" cy="78181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사건과 입증 기준</a:t>
            </a:r>
          </a:p>
        </p:txBody>
      </p:sp>
      <p:sp>
        <p:nvSpPr>
          <p:cNvPr id="15" name="b0"/>
          <p:cNvSpPr txBox="1"/>
          <p:nvPr/>
        </p:nvSpPr>
        <p:spPr>
          <a:xfrm>
            <a:off x="3154680" y="1737360"/>
            <a:ext cx="8302752" cy="78181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약 11세 6개월 소년의 어린 형제에 대한 성범죄 사건이다.</a:t>
            </a:r>
          </a:p>
          <a:p>
            <a:pPr algn="l">
              <a:lnSpc>
                <a:spcPct val="125000"/>
              </a:lnSpc>
            </a:pPr>
            <a:r>
              <a:rPr lang="ko-KR" sz="1150" b="0" dirty="0">
                <a:solidFill>
                  <a:srgbClr val="464D5C"/>
                </a:solidFill>
                <a:latin typeface="Pretendard"/>
                <a:ea typeface="Pretendard"/>
                <a:cs typeface="Pretendard"/>
              </a:rPr>
              <a:t>당시 적용법상 10세 이상 14세 미만 아동에 대해 검사는 행위의 중대한 도덕적 잘못을 이해했다는 점을 합리적 의심 없이 입증해야 했다.</a:t>
            </a:r>
          </a:p>
        </p:txBody>
      </p:sp>
      <p:sp>
        <p:nvSpPr>
          <p:cNvPr id="16" name="line16"/>
          <p:cNvSpPr/>
          <p:nvPr/>
        </p:nvSpPr>
        <p:spPr>
          <a:xfrm>
            <a:off x="731520" y="2747772"/>
            <a:ext cx="10725912" cy="0"/>
          </a:xfrm>
          <a:prstGeom prst="line">
            <a:avLst/>
          </a:prstGeom>
          <a:ln w="9525">
            <a:solidFill>
              <a:srgbClr val="DCE0E8"/>
            </a:solidFill>
          </a:ln>
        </p:spPr>
        <p:txBody>
          <a:bodyPr/>
          <a:lstStyle/>
          <a:p>
            <a:endParaRPr/>
          </a:p>
        </p:txBody>
      </p:sp>
      <p:sp>
        <p:nvSpPr>
          <p:cNvPr id="17" name="h1"/>
          <p:cNvSpPr txBox="1"/>
          <p:nvPr/>
        </p:nvSpPr>
        <p:spPr>
          <a:xfrm>
            <a:off x="731520" y="2976372"/>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은폐 정황과 다른 증거</a:t>
            </a:r>
          </a:p>
        </p:txBody>
      </p:sp>
      <p:sp>
        <p:nvSpPr>
          <p:cNvPr id="18" name="b1"/>
          <p:cNvSpPr txBox="1"/>
          <p:nvPr/>
        </p:nvSpPr>
        <p:spPr>
          <a:xfrm>
            <a:off x="3154680" y="2976372"/>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행위를 숨기려 한 정황이 있었지만 지적 능력과 성장환경에 관한 증거도 함께 검토해야 했다.</a:t>
            </a:r>
          </a:p>
          <a:p>
            <a:pPr algn="l">
              <a:lnSpc>
                <a:spcPct val="118000"/>
              </a:lnSpc>
            </a:pPr>
            <a:r>
              <a:rPr lang="ko-KR" sz="1150" b="0" dirty="0">
                <a:solidFill>
                  <a:srgbClr val="464D5C"/>
                </a:solidFill>
                <a:latin typeface="Pretendard"/>
                <a:ea typeface="Pretendard"/>
                <a:cs typeface="Pretendard"/>
              </a:rPr>
              <a:t>잘못을 숨기는 행동만으로 당시 필요한 수준의 이해가 충분히 입증되는지가 문제였다.</a:t>
            </a:r>
          </a:p>
        </p:txBody>
      </p:sp>
      <p:sp>
        <p:nvSpPr>
          <p:cNvPr id="19" name="line19"/>
          <p:cNvSpPr/>
          <p:nvPr/>
        </p:nvSpPr>
        <p:spPr>
          <a:xfrm>
            <a:off x="731520" y="3781044"/>
            <a:ext cx="10725912" cy="0"/>
          </a:xfrm>
          <a:prstGeom prst="line">
            <a:avLst/>
          </a:prstGeom>
          <a:ln w="9525">
            <a:solidFill>
              <a:srgbClr val="DCE0E8"/>
            </a:solidFill>
          </a:ln>
        </p:spPr>
        <p:txBody>
          <a:bodyPr/>
          <a:lstStyle/>
          <a:p>
            <a:endParaRPr/>
          </a:p>
        </p:txBody>
      </p:sp>
      <p:sp>
        <p:nvSpPr>
          <p:cNvPr id="20" name="h2"/>
          <p:cNvSpPr txBox="1"/>
          <p:nvPr/>
        </p:nvSpPr>
        <p:spPr>
          <a:xfrm>
            <a:off x="731520" y="4009644"/>
            <a:ext cx="2240280" cy="57607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연방대법원의 판단</a:t>
            </a:r>
          </a:p>
        </p:txBody>
      </p:sp>
      <p:sp>
        <p:nvSpPr>
          <p:cNvPr id="21" name="b2"/>
          <p:cNvSpPr txBox="1"/>
          <p:nvPr/>
        </p:nvSpPr>
        <p:spPr>
          <a:xfrm>
            <a:off x="3154680" y="4009644"/>
            <a:ext cx="8302752" cy="576072"/>
          </a:xfrm>
          <a:prstGeom prst="rect">
            <a:avLst/>
          </a:prstGeom>
          <a:noFill/>
        </p:spPr>
        <p:txBody>
          <a:bodyPr wrap="square" lIns="0" tIns="27432" rIns="0" bIns="27432" anchor="ctr">
            <a:noAutofit/>
          </a:bodyPr>
          <a:lstStyle/>
          <a:p>
            <a:pPr algn="l">
              <a:lnSpc>
                <a:spcPct val="118000"/>
              </a:lnSpc>
              <a:spcAft>
                <a:spcPts val="500"/>
              </a:spcAft>
            </a:pPr>
            <a:r>
              <a:rPr lang="ko-KR" sz="1300" b="1" dirty="0">
                <a:solidFill>
                  <a:srgbClr val="222633"/>
                </a:solidFill>
                <a:latin typeface="Pretendard"/>
                <a:ea typeface="Pretendard"/>
                <a:cs typeface="Pretendard"/>
              </a:rPr>
              <a:t>제2·3 공소사실에 관한 유죄판결을 파기하고 무죄판결을 선고했다.</a:t>
            </a:r>
          </a:p>
          <a:p>
            <a:pPr algn="l">
              <a:lnSpc>
                <a:spcPct val="118000"/>
              </a:lnSpc>
            </a:pPr>
            <a:r>
              <a:rPr lang="ko-KR" sz="1150" b="0" dirty="0">
                <a:solidFill>
                  <a:srgbClr val="464D5C"/>
                </a:solidFill>
                <a:latin typeface="Pretendard"/>
                <a:ea typeface="Pretendard"/>
                <a:cs typeface="Pretendard"/>
              </a:rPr>
              <a:t>판결 주문과 문단 36~37에서 확인되는 결론이다.</a:t>
            </a:r>
          </a:p>
        </p:txBody>
      </p:sp>
      <p:sp>
        <p:nvSpPr>
          <p:cNvPr id="22" name="line22"/>
          <p:cNvSpPr/>
          <p:nvPr/>
        </p:nvSpPr>
        <p:spPr>
          <a:xfrm>
            <a:off x="731520" y="4814316"/>
            <a:ext cx="10725912" cy="0"/>
          </a:xfrm>
          <a:prstGeom prst="line">
            <a:avLst/>
          </a:prstGeom>
          <a:ln w="9525">
            <a:solidFill>
              <a:srgbClr val="DCE0E8"/>
            </a:solidFill>
          </a:ln>
        </p:spPr>
        <p:txBody>
          <a:bodyPr/>
          <a:lstStyle/>
          <a:p>
            <a:endParaRPr/>
          </a:p>
        </p:txBody>
      </p:sp>
      <p:sp>
        <p:nvSpPr>
          <p:cNvPr id="23" name="h3"/>
          <p:cNvSpPr txBox="1"/>
          <p:nvPr/>
        </p:nvSpPr>
        <p:spPr>
          <a:xfrm>
            <a:off x="731520" y="5042916"/>
            <a:ext cx="2240280" cy="370332"/>
          </a:xfrm>
          <a:prstGeom prst="rect">
            <a:avLst/>
          </a:prstGeom>
          <a:noFill/>
        </p:spPr>
        <p:txBody>
          <a:bodyPr wrap="square" lIns="0" tIns="27432" rIns="0" bIns="27432" anchor="ctr">
            <a:noAutofit/>
          </a:bodyPr>
          <a:lstStyle/>
          <a:p>
            <a:pPr algn="ctr">
              <a:lnSpc>
                <a:spcPct val="118000"/>
              </a:lnSpc>
            </a:pPr>
            <a:r>
              <a:rPr lang="ko-KR" sz="1300" b="1" dirty="0">
                <a:solidFill>
                  <a:srgbClr val="1E2761"/>
                </a:solidFill>
                <a:latin typeface="Pretendard"/>
                <a:ea typeface="Pretendard"/>
                <a:cs typeface="Pretendard"/>
              </a:rPr>
              <a:t>판결의 범위</a:t>
            </a:r>
          </a:p>
        </p:txBody>
      </p:sp>
      <p:sp>
        <p:nvSpPr>
          <p:cNvPr id="24" name="b3"/>
          <p:cNvSpPr txBox="1"/>
          <p:nvPr/>
        </p:nvSpPr>
        <p:spPr>
          <a:xfrm>
            <a:off x="3154680" y="5042916"/>
            <a:ext cx="8302752" cy="370332"/>
          </a:xfrm>
          <a:prstGeom prst="rect">
            <a:avLst/>
          </a:prstGeom>
          <a:noFill/>
        </p:spPr>
        <p:txBody>
          <a:bodyPr wrap="square" lIns="0" tIns="27432" rIns="0" bIns="27432" anchor="ctr">
            <a:noAutofit/>
          </a:bodyPr>
          <a:lstStyle/>
          <a:p>
            <a:pPr algn="l">
              <a:lnSpc>
                <a:spcPct val="118000"/>
              </a:lnSpc>
              <a:spcAft>
                <a:spcPts val="500"/>
              </a:spcAft>
            </a:pPr>
            <a:r>
              <a:rPr lang="ko-KR" sz="1250" b="1" dirty="0">
                <a:solidFill>
                  <a:srgbClr val="222633"/>
                </a:solidFill>
                <a:latin typeface="Pretendard"/>
                <a:ea typeface="Pretendard"/>
                <a:cs typeface="Pretendard"/>
              </a:rPr>
              <a:t>당시 적용법의 추정과 입증에 관한 판단이다.</a:t>
            </a:r>
          </a:p>
          <a:p>
            <a:pPr algn="l">
              <a:lnSpc>
                <a:spcPct val="118000"/>
              </a:lnSpc>
            </a:pPr>
            <a:r>
              <a:rPr lang="ko-KR" sz="1150" b="0" dirty="0">
                <a:solidFill>
                  <a:srgbClr val="464D5C"/>
                </a:solidFill>
                <a:latin typeface="Pretendard"/>
                <a:ea typeface="Pretendard"/>
                <a:cs typeface="Pretendard"/>
              </a:rPr>
              <a:t>지능과 은폐 정황은 각각 따로 평가되었다.</a:t>
            </a:r>
          </a:p>
        </p:txBody>
      </p:sp>
      <p:sp>
        <p:nvSpPr>
          <p:cNvPr id="25" name="bandbg"/>
          <p:cNvSpPr/>
          <p:nvPr/>
        </p:nvSpPr>
        <p:spPr>
          <a:xfrm>
            <a:off x="1124712" y="5751576"/>
            <a:ext cx="9912096" cy="457200"/>
          </a:xfrm>
          <a:prstGeom prst="rect">
            <a:avLst/>
          </a:prstGeom>
          <a:solidFill>
            <a:srgbClr val="1E2761"/>
          </a:solidFill>
          <a:ln>
            <a:noFill/>
          </a:ln>
        </p:spPr>
        <p:txBody>
          <a:bodyPr/>
          <a:lstStyle/>
          <a:p>
            <a:endParaRPr/>
          </a:p>
        </p:txBody>
      </p:sp>
      <p:sp>
        <p:nvSpPr>
          <p:cNvPr id="26" name="band"/>
          <p:cNvSpPr txBox="1"/>
          <p:nvPr/>
        </p:nvSpPr>
        <p:spPr>
          <a:xfrm>
            <a:off x="1307592" y="5779008"/>
            <a:ext cx="9546336" cy="402336"/>
          </a:xfrm>
          <a:prstGeom prst="rect">
            <a:avLst/>
          </a:prstGeom>
          <a:noFill/>
        </p:spPr>
        <p:txBody>
          <a:bodyPr wrap="square" lIns="0" tIns="27432" rIns="0" bIns="27432" anchor="ctr">
            <a:noAutofit/>
          </a:bodyPr>
          <a:lstStyle/>
          <a:p>
            <a:pPr algn="ctr">
              <a:lnSpc>
                <a:spcPct val="118000"/>
              </a:lnSpc>
            </a:pPr>
            <a:r>
              <a:rPr sz="1250" b="1">
                <a:solidFill>
                  <a:srgbClr val="FFFFFF"/>
                </a:solidFill>
                <a:latin typeface="Pretendard"/>
              </a:rPr>
              <a:t>들키면 벌을 받는다는 인식과 행위의 중대한 잘못에 대한 이해는 어떤 증거로 구별되는가?</a:t>
            </a:r>
          </a:p>
        </p:txBody>
      </p:sp>
      <p:sp>
        <p:nvSpPr>
          <p:cNvPr id="27" name="foot"/>
          <p:cNvSpPr txBox="1"/>
          <p:nvPr/>
        </p:nvSpPr>
        <p:spPr>
          <a:xfrm>
            <a:off x="731520" y="6419088"/>
            <a:ext cx="10725912" cy="301752"/>
          </a:xfrm>
          <a:prstGeom prst="rect">
            <a:avLst/>
          </a:prstGeom>
          <a:noFill/>
        </p:spPr>
        <p:txBody>
          <a:bodyPr wrap="square" lIns="0" tIns="27432" rIns="0" bIns="27432" anchor="ctr">
            <a:noAutofit/>
          </a:bodyPr>
          <a:lstStyle/>
          <a:p>
            <a:pPr algn="l">
              <a:lnSpc>
                <a:spcPct val="118000"/>
              </a:lnSpc>
            </a:pPr>
            <a:r>
              <a:rPr lang="ko-KR" sz="1050" b="0" dirty="0">
                <a:solidFill>
                  <a:srgbClr val="6E7686"/>
                </a:solidFill>
                <a:latin typeface="Pretendard"/>
                <a:ea typeface="Pretendard"/>
                <a:cs typeface="Pretendard"/>
              </a:rPr>
              <a:t>호주 연방대법원 [2016] HCA 53 · 주문 및 문단 9, 32–37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2007</TotalTime>
  <Words>27608</Words>
  <Application>Microsoft Office PowerPoint</Application>
  <DocSecurity>0</DocSecurity>
  <PresentationFormat>와이드스크린</PresentationFormat>
  <Paragraphs>2452</Paragraphs>
  <Slides>85</Slides>
  <Notes>85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85</vt:i4>
      </vt:variant>
    </vt:vector>
  </HeadingPairs>
  <TitlesOfParts>
    <vt:vector size="89" baseType="lpstr">
      <vt:lpstr>KoPubWorld돋움체_Pro Bold</vt:lpstr>
      <vt:lpstr>Pretendard</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준성 권</cp:lastModifiedBy>
  <cp:revision>48</cp:revision>
  <dcterms:created xsi:type="dcterms:W3CDTF">2026-09-08T07:27:05Z</dcterms:created>
  <dcterms:modified xsi:type="dcterms:W3CDTF">2026-09-13T19:05:56Z</dcterms:modified>
</cp:coreProperties>
</file>