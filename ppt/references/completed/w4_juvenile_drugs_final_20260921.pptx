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rts/chart1.xml" ContentType="application/vnd.openxmlformats-officedocument.drawingml.chart+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6"/>
  </p:notesMasterIdLst>
  <p:sldIdLst>
    <p:sldId id="256" r:id="rId2"/>
    <p:sldId id="340" r:id="rId3"/>
    <p:sldId id="257" r:id="rId4"/>
    <p:sldId id="259" r:id="rId5"/>
    <p:sldId id="261" r:id="rId6"/>
    <p:sldId id="260" r:id="rId7"/>
    <p:sldId id="262" r:id="rId8"/>
    <p:sldId id="267" r:id="rId9"/>
    <p:sldId id="361" r:id="rId10"/>
    <p:sldId id="264" r:id="rId11"/>
    <p:sldId id="265" r:id="rId12"/>
    <p:sldId id="266" r:id="rId13"/>
    <p:sldId id="342" r:id="rId14"/>
    <p:sldId id="343" r:id="rId15"/>
    <p:sldId id="271" r:id="rId16"/>
    <p:sldId id="349" r:id="rId17"/>
    <p:sldId id="362" r:id="rId18"/>
    <p:sldId id="275" r:id="rId19"/>
    <p:sldId id="272" r:id="rId20"/>
    <p:sldId id="278" r:id="rId21"/>
    <p:sldId id="369" r:id="rId22"/>
    <p:sldId id="344" r:id="rId23"/>
    <p:sldId id="277" r:id="rId24"/>
    <p:sldId id="346" r:id="rId25"/>
    <p:sldId id="345" r:id="rId26"/>
    <p:sldId id="289" r:id="rId27"/>
    <p:sldId id="290" r:id="rId28"/>
    <p:sldId id="285" r:id="rId29"/>
    <p:sldId id="286" r:id="rId30"/>
    <p:sldId id="284" r:id="rId31"/>
    <p:sldId id="295" r:id="rId32"/>
    <p:sldId id="296" r:id="rId33"/>
    <p:sldId id="348" r:id="rId34"/>
    <p:sldId id="307" r:id="rId35"/>
    <p:sldId id="303" r:id="rId36"/>
    <p:sldId id="304" r:id="rId37"/>
    <p:sldId id="299" r:id="rId38"/>
    <p:sldId id="301" r:id="rId39"/>
    <p:sldId id="302" r:id="rId40"/>
    <p:sldId id="282" r:id="rId41"/>
    <p:sldId id="351" r:id="rId42"/>
    <p:sldId id="310" r:id="rId43"/>
    <p:sldId id="350" r:id="rId44"/>
    <p:sldId id="306" r:id="rId45"/>
    <p:sldId id="313" r:id="rId46"/>
    <p:sldId id="314" r:id="rId47"/>
    <p:sldId id="315" r:id="rId48"/>
    <p:sldId id="316" r:id="rId49"/>
    <p:sldId id="317" r:id="rId50"/>
    <p:sldId id="352" r:id="rId51"/>
    <p:sldId id="319" r:id="rId52"/>
    <p:sldId id="354" r:id="rId53"/>
    <p:sldId id="326" r:id="rId54"/>
    <p:sldId id="323" r:id="rId55"/>
    <p:sldId id="321" r:id="rId56"/>
    <p:sldId id="322" r:id="rId57"/>
    <p:sldId id="324" r:id="rId58"/>
    <p:sldId id="363" r:id="rId59"/>
    <p:sldId id="364" r:id="rId60"/>
    <p:sldId id="365" r:id="rId61"/>
    <p:sldId id="258" r:id="rId62"/>
    <p:sldId id="367" r:id="rId63"/>
    <p:sldId id="366" r:id="rId64"/>
    <p:sldId id="368" r:id="rId6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99" autoAdjust="0"/>
  </p:normalViewPr>
  <p:slideViewPr>
    <p:cSldViewPr snapToGrid="0" snapToObjects="1">
      <p:cViewPr varScale="1">
        <p:scale>
          <a:sx n="95" d="100"/>
          <a:sy n="95" d="100"/>
        </p:scale>
        <p:origin x="717"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10대 치료보호 인원(명)</c:v>
          </c:tx>
          <c:spPr>
            <a:solidFill>
              <a:srgbClr val="636EA4"/>
            </a:solidFill>
          </c:spPr>
          <c:invertIfNegative val="1"/>
          <c:dPt>
            <c:idx val="0"/>
            <c:invertIfNegative val="0"/>
            <c:bubble3D val="0"/>
            <c:spPr>
              <a:solidFill>
                <a:srgbClr val="636EA4"/>
              </a:solidFill>
              <a:ln w="0">
                <a:noFill/>
              </a:ln>
            </c:spPr>
            <c:extLst>
              <c:ext xmlns:c16="http://schemas.microsoft.com/office/drawing/2014/chart" uri="{C3380CC4-5D6E-409C-BE32-E72D297353CC}">
                <c16:uniqueId val="{00000001-C6D1-4A70-BDDE-EF3C3647A930}"/>
              </c:ext>
            </c:extLst>
          </c:dPt>
          <c:dPt>
            <c:idx val="1"/>
            <c:invertIfNegative val="0"/>
            <c:bubble3D val="0"/>
            <c:spPr>
              <a:solidFill>
                <a:srgbClr val="636EA4"/>
              </a:solidFill>
              <a:ln w="0">
                <a:noFill/>
              </a:ln>
            </c:spPr>
            <c:extLst>
              <c:ext xmlns:c16="http://schemas.microsoft.com/office/drawing/2014/chart" uri="{C3380CC4-5D6E-409C-BE32-E72D297353CC}">
                <c16:uniqueId val="{00000003-C6D1-4A70-BDDE-EF3C3647A930}"/>
              </c:ext>
            </c:extLst>
          </c:dPt>
          <c:dPt>
            <c:idx val="2"/>
            <c:invertIfNegative val="0"/>
            <c:bubble3D val="0"/>
            <c:spPr>
              <a:solidFill>
                <a:srgbClr val="636EA4"/>
              </a:solidFill>
              <a:ln w="0">
                <a:noFill/>
              </a:ln>
            </c:spPr>
            <c:extLst>
              <c:ext xmlns:c16="http://schemas.microsoft.com/office/drawing/2014/chart" uri="{C3380CC4-5D6E-409C-BE32-E72D297353CC}">
                <c16:uniqueId val="{00000005-C6D1-4A70-BDDE-EF3C3647A930}"/>
              </c:ext>
            </c:extLst>
          </c:dPt>
          <c:dPt>
            <c:idx val="3"/>
            <c:invertIfNegative val="0"/>
            <c:bubble3D val="0"/>
            <c:spPr>
              <a:solidFill>
                <a:srgbClr val="636EA4"/>
              </a:solidFill>
              <a:ln w="0">
                <a:noFill/>
              </a:ln>
            </c:spPr>
            <c:extLst>
              <c:ext xmlns:c16="http://schemas.microsoft.com/office/drawing/2014/chart" uri="{C3380CC4-5D6E-409C-BE32-E72D297353CC}">
                <c16:uniqueId val="{00000007-C6D1-4A70-BDDE-EF3C3647A930}"/>
              </c:ext>
            </c:extLst>
          </c:dPt>
          <c:dPt>
            <c:idx val="4"/>
            <c:invertIfNegative val="0"/>
            <c:bubble3D val="0"/>
            <c:spPr>
              <a:solidFill>
                <a:srgbClr val="222761"/>
              </a:solidFill>
              <a:ln w="0">
                <a:noFill/>
              </a:ln>
            </c:spPr>
            <c:extLst>
              <c:ext xmlns:c16="http://schemas.microsoft.com/office/drawing/2014/chart" uri="{C3380CC4-5D6E-409C-BE32-E72D297353CC}">
                <c16:uniqueId val="{00000009-C6D1-4A70-BDDE-EF3C3647A930}"/>
              </c:ext>
            </c:extLst>
          </c:dPt>
          <c:dLbls>
            <c:spPr>
              <a:noFill/>
              <a:ln>
                <a:noFill/>
              </a:ln>
              <a:effectLst/>
            </c:spPr>
            <c:txPr>
              <a:bodyPr anchorCtr="1"/>
              <a:lstStyle/>
              <a:p>
                <a:pPr>
                  <a:defRPr sz="2100" b="1">
                    <a:solidFill>
                      <a:srgbClr val="222761"/>
                    </a:solidFill>
                    <a:latin typeface="Pretendard"/>
                    <a:ea typeface="Pretendard"/>
                    <a:cs typeface="Pretendard"/>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'Chart Data'!$A$2:$A$6</c:f>
              <c:numCache>
                <c:formatCode>General</c:formatCode>
                <c:ptCount val="5"/>
                <c:pt idx="0">
                  <c:v>2019</c:v>
                </c:pt>
                <c:pt idx="1">
                  <c:v>2020</c:v>
                </c:pt>
                <c:pt idx="2">
                  <c:v>2021</c:v>
                </c:pt>
                <c:pt idx="3">
                  <c:v>2022</c:v>
                </c:pt>
                <c:pt idx="4">
                  <c:v>2023</c:v>
                </c:pt>
              </c:numCache>
            </c:numRef>
          </c:cat>
          <c:val>
            <c:numRef>
              <c:f>'Chart Data'!$B$2:$B$6</c:f>
              <c:numCache>
                <c:formatCode>0</c:formatCode>
                <c:ptCount val="5"/>
                <c:pt idx="0">
                  <c:v>1</c:v>
                </c:pt>
                <c:pt idx="1">
                  <c:v>1</c:v>
                </c:pt>
                <c:pt idx="2">
                  <c:v>8</c:v>
                </c:pt>
                <c:pt idx="3">
                  <c:v>11</c:v>
                </c:pt>
                <c:pt idx="4">
                  <c:v>20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C6D1-4A70-BDDE-EF3C3647A930}"/>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6DDE9"/>
            </a:solidFill>
          </a:ln>
        </c:spPr>
        <c:txPr>
          <a:bodyPr anchorCtr="1"/>
          <a:lstStyle/>
          <a:p>
            <a:pPr>
              <a:defRPr sz="1725">
                <a:solidFill>
                  <a:srgbClr val="303747"/>
                </a:solidFill>
                <a:latin typeface="Pretendard"/>
                <a:ea typeface="Pretendard"/>
                <a:cs typeface="Pretendard"/>
              </a:defRPr>
            </a:pPr>
            <a:endParaRPr lang="ko-KR"/>
          </a:p>
        </c:txPr>
        <c:crossAx val="48672768"/>
        <c:crosses val="autoZero"/>
        <c:auto val="1"/>
        <c:lblAlgn val="ctr"/>
        <c:lblOffset val="100"/>
        <c:noMultiLvlLbl val="1"/>
      </c:catAx>
      <c:valAx>
        <c:axId val="48672768"/>
        <c:scaling>
          <c:orientation val="minMax"/>
          <c:max val="25"/>
          <c:min val="0"/>
        </c:scaling>
        <c:delete val="0"/>
        <c:axPos val="l"/>
        <c:majorGridlines>
          <c:spPr>
            <a:ln w="9525">
              <a:solidFill>
                <a:srgbClr val="E9EDF3"/>
              </a:solidFill>
            </a:ln>
          </c:spPr>
        </c:majorGridlines>
        <c:numFmt formatCode="0" sourceLinked="1"/>
        <c:majorTickMark val="none"/>
        <c:minorTickMark val="none"/>
        <c:tickLblPos val="nextTo"/>
        <c:spPr>
          <a:ln w="0">
            <a:noFill/>
          </a:ln>
        </c:spPr>
        <c:txPr>
          <a:bodyPr anchorCtr="1"/>
          <a:lstStyle/>
          <a:p>
            <a:pPr>
              <a:defRPr sz="1425">
                <a:solidFill>
                  <a:srgbClr val="748095"/>
                </a:solidFill>
                <a:latin typeface="Pretendard"/>
                <a:ea typeface="Pretendard"/>
                <a:cs typeface="Pretendard"/>
              </a:defRPr>
            </a:pPr>
            <a:endParaRPr lang="ko-KR"/>
          </a:p>
        </c:txPr>
        <c:crossAx val="48650112"/>
        <c:crosses val="autoZero"/>
        <c:crossBetween val="between"/>
        <c:majorUnit val="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34260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[M02 · V14 원본 2쪽]</a:t>
            </a:r>
          </a:p>
          <a:p>
            <a:endParaRPr lang="ko-KR"/>
          </a:p>
          <a:p>
            <a:r>
              <a:rPr lang="ko-KR" altLang="en-US" dirty="0"/>
              <a:t>이전 논의에서 6장으로 부른 청소년 특성 보강분은 치료 프로그램 설명 전에 놓는다. 따라서 편집 후 목차에서는 4장이고, 효과 검토가 6장이 된다. 원본 페이지 번호와 최종 목차 장 번호를 혼동하지 않는다.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[3 · V14 원본 3쪽]</a:t>
            </a:r>
          </a:p>
          <a:p>
            <a:endParaRPr lang="ko-KR"/>
          </a:p>
          <a:p>
            <a:r>
              <a:rPr lang="ko-KR" altLang="en-US" dirty="0"/>
              <a:t>도입에서는 ‘우선’이라는 말의 최소 의미만 고정한다. 특정 정책방향을 결론으로 제시하거나 쟁점 지도를 앞당기지 않는다. 앞부분의 제도 설명은 현재 선택할 수 있는 경로를 보여주는 배경이고, 그 경로 중 무엇을 기본으로 삼을지는 7장에서 판단한다.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다음은 「의료용 사용과 위법한 사용」을 살펴본다.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다음은 「연령으로 보는 세 개념」을 살펴본다.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연령 축 도식. 두 조문을 같은 축 위에 놓아 형사미성년자(나이만)와 촉법소년(나이+행위)이 다른 기준임을 보인다. 13세는 하향안의 새 적용 대상으로만 표시한다.</a:t>
            </a:r>
          </a:p>
          <a:p>
            <a:r>
              <a:rPr lang="ko-KR" sz="1100" dirty="0"/>
              <a:t>[자료] 형법 제9조 · 소년법 제2조·제4조 제1항</a:t>
            </a:r>
          </a:p>
          <a:p>
            <a:r>
              <a:rPr lang="ko-KR" sz="1100" dirty="0"/>
              <a:t>[대본] v27 대본 재작성 대상 — 화면 문구는 이 장에 수록되어 있다.</a:t>
            </a:r>
          </a:p>
          <a:p>
            <a:r>
              <a:t>→ 다음</a:t>
            </a:r>
          </a:p>
          <a:p>
            <a:r>
              <a:t>다음은 「연령대별 처리 경로」을 살펴본다.</a:t>
            </a:r>
          </a:p>
        </p:txBody>
      </p:sp>
    </p:spTree>
    <p:extLst>
      <p:ext uri="{BB962C8B-B14F-4D97-AF65-F5344CB8AC3E}">
        <p14:creationId xmlns:p14="http://schemas.microsoft.com/office/powerpoint/2010/main" val="40245965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검찰에서 종결하지 않고 소년부로 간 경우에는 지역사회에서 어떤 감독과 치료 참여를 정할 수 있는지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135953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[검찰 단계의 세 갈래 · 재설계]</a:t>
            </a:r>
          </a:p>
          <a:p>
            <a:endParaRPr lang="ko-KR"/>
          </a:p>
          <a:p>
            <a:r>
              <a:rPr lang="ko-KR" altLang="en-US" dirty="0"/>
              <a:t>핵심어: 조건부 기소유예, 소년부 송치, 형사기소.</a:t>
            </a:r>
          </a:p>
          <a:p>
            <a:endParaRPr lang="ko-KR"/>
          </a:p>
          <a:p>
            <a:r>
              <a:rPr lang="ko-KR" altLang="en-US" dirty="0"/>
              <a:t>말할 것: 14~18세 범죄소년의 마약류 투약·사용 사건이 경찰에서 송치되면, 검사는 사안의 중대성과 재범위험, 치료 필요, 소년부 회부 필요성을 검토해 세 경로 가운데 하나를 선택한다. 조건부 기소유예는 치료·재활 참여를 조건으로 공소를 제기하지 않는 경로이고, 소년부 송치는 법원 소년부가 보호처분을 심리하는 경로, 형사기소는 형사법원이 유·무죄와 형벌을 판단하는 경로다.</a:t>
            </a:r>
          </a:p>
          <a:p>
            <a:endParaRPr lang="ko-KR"/>
          </a:p>
          <a:p>
            <a:r>
              <a:rPr lang="ko-KR" altLang="en-US" dirty="0"/>
              <a:t>주의: 조건부 기소유예도 책임 없는 처분이 아니며 약물검사·상담·치료 참여 등의 조건을 수반한다. 소년의 조건부 기소유예에는 소년과 법정대리인의 동의가 필요하다(소년법 제49조의3). 불이행 시 기소될 수 있다. 소년부 보호처분은 형벌이 아니라 보호처분이다.</a:t>
            </a:r>
          </a:p>
          <a:p>
            <a:endParaRPr lang="ko-KR"/>
          </a:p>
          <a:p>
            <a:r>
              <a:rPr lang="ko-KR" altLang="en-US" dirty="0"/>
              <a:t>용어: 형사재판 경로의 병행 처우는 원문 용어대로 수강명령·재활교육 이수명령으로 적었다(마약류관리법 제40조의2). 원안의 “치료명령”은 이 법의 용어가 아니어서 바꿨다.</a:t>
            </a:r>
          </a:p>
          <a:p>
            <a:endParaRPr lang="ko-KR"/>
          </a:p>
          <a:p>
            <a:r>
              <a:rPr lang="ko-KR" altLang="en-US" dirty="0"/>
              <a:t>→ 다음: 소년부와 비교</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다음은 「수강명령과 의료위탁」을 살펴본다.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소년보호절차의 처분을 살펴봤습니다. 형사재판에서 형을 선고하는 경우에도 재활교육을 함께 제공하는지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다음은 「치료보호와 사회재활」을 살펴본다.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[치료보호·사회재활 구성안 1/2 · 재설계]</a:t>
            </a:r>
          </a:p>
          <a:p>
            <a:endParaRPr lang="ko-KR"/>
          </a:p>
          <a:p>
            <a:r>
              <a:rPr lang="ko-KR" altLang="en-US" dirty="0"/>
              <a:t>핵심어: 의료적 치료, 회복 지원, 시작 경로.</a:t>
            </a:r>
          </a:p>
          <a:p>
            <a:endParaRPr lang="ko-KR"/>
          </a:p>
          <a:p>
            <a:r>
              <a:rPr lang="ko-KR" altLang="en-US" dirty="0"/>
              <a:t>말할 것: 위는 두 지원의 개념, 아래는 세 가지 시작 경로다. 자발적 경로는 사법기관의 의뢰 없이 시작할 수 있고, 검찰 경로는 치료·재활 참여가 기소유예의 조건이 되며, 출소·출원 이후에는 본인 동의를 받아 시설장이 의뢰할 수 있다.</a:t>
            </a:r>
          </a:p>
          <a:p>
            <a:endParaRPr lang="ko-KR"/>
          </a:p>
          <a:p>
            <a:r>
              <a:rPr lang="ko-KR" altLang="en-US" dirty="0"/>
              <a:t>주의: 세 경로는 시작점의 구분이며, 어느 경로로 시작해도 필요에 따라 치료보호와 사회재활이 서로 연계될 수 있다.</a:t>
            </a:r>
          </a:p>
          <a:p>
            <a:endParaRPr lang="ko-KR"/>
          </a:p>
          <a:p>
            <a:r>
              <a:rPr lang="ko-KR" altLang="en-US" dirty="0"/>
              <a:t>→ 다음: 치료보호 절차와 사회재활의 구성</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[치료보호·사회재활 구성안 2/2 · 재설계]</a:t>
            </a:r>
          </a:p>
          <a:p>
            <a:endParaRPr lang="ko-KR"/>
          </a:p>
          <a:p>
            <a:r>
              <a:rPr lang="ko-KR" altLang="en-US" dirty="0"/>
              <a:t>핵심어: 네 단계, 다섯 지원.</a:t>
            </a:r>
          </a:p>
          <a:p>
            <a:endParaRPr lang="ko-KR"/>
          </a:p>
          <a:p>
            <a:r>
              <a:rPr lang="ko-KR" altLang="en-US" dirty="0"/>
              <a:t>말할 것: 위 네 단계는 치료보호의 법정 절차이고, 아래 다섯 항목은 사회재활에서 제공하는 지원이다. 판별검사 1개월과 치료보호 12개월은 법이 정한 상한 기간이다.</a:t>
            </a:r>
          </a:p>
          <a:p>
            <a:endParaRPr lang="ko-KR"/>
          </a:p>
          <a:p>
            <a:r>
              <a:rPr lang="ko-KR" altLang="en-US" dirty="0"/>
              <a:t>주의: 네 단계는 치료보호 절차이며 사회재활 이용에 같은 심의·결정이 필요한 것은 아니다. 다섯 지원이 모든 지역에서 같은 수준으로 제공된다고 확장하지 않는다.</a:t>
            </a:r>
          </a:p>
          <a:p>
            <a:endParaRPr lang="ko-KR"/>
          </a:p>
          <a:p>
            <a:r>
              <a:rPr lang="ko-KR" altLang="en-US" dirty="0"/>
              <a:t>→ 다음: 삽입 위치 확정 후 다음 장 제목으로 교체한다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현재의 대응 경로를 보았습니다. 이제 실제 사건에서 사용이 어떻게 시작되고, 어떤 문제가 이어지는지 살펴보겠습니다.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6531956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[피의자 추이(정기 통계) · 수정 02 대체 후보 · V18 18쪽 자리]</a:t>
            </a:r>
          </a:p>
          <a:p>
            <a:endParaRPr lang="ko-KR"/>
          </a:p>
          <a:p>
            <a:r>
              <a:rPr lang="ko-KR" altLang="en-US" dirty="0"/>
              <a:t>말할 것: 이 표는 경찰청 정기 통계 「피의자 범행시 연령」의 마약범죄에서 만 14~18세를 더한 값이다. 앞서 쓰던 의원실 제출자료 기반 수치(2023년 786명 등)를 나중에 확인한 정기 통계로 전체 교체했다. 검거 규모의 변화를 보여줄 뿐 전체 청소년의 실제 사용률 변화와 같지 않다.</a:t>
            </a:r>
          </a:p>
          <a:p>
            <a:endParaRPr lang="ko-KR"/>
          </a:p>
          <a:p>
            <a:r>
              <a:rPr lang="ko-KR" altLang="en-US" dirty="0"/>
              <a:t>주의: 2024년부터 해양경찰 자료가 제외되므로 2023년 이전과의 비교에는 집계 범위 변화가 함께 걸린다. 2023년 급증과 2024년 감소를 단속 강도, 집계 범위, 실제 행동 변화 중 하나로 단정하지 않는다. 60명 증가의 분모는 2024년 254명이며 23.6%다.</a:t>
            </a:r>
          </a:p>
          <a:p>
            <a:endParaRPr lang="ko-KR"/>
          </a:p>
          <a:p>
            <a:r>
              <a:rPr lang="ko-KR" altLang="en-US" dirty="0"/>
              <a:t>연령별 수치와 자료 확인 경위는 보충 자료 장에 있다.</a:t>
            </a:r>
          </a:p>
          <a:p>
            <a:endParaRPr lang="ko-KR"/>
          </a:p>
          <a:p>
            <a:r>
              <a:rPr lang="ko-KR" altLang="en-US" dirty="0"/>
              <a:t>→ 다음: 청소년의 마약류 접촉과 사용 경위</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[연령별 추이 그래프 · 두 시안 병합 · 보충 자료 구간]</a:t>
            </a:r>
          </a:p>
          <a:p>
            <a:endParaRPr lang="ko-KR"/>
          </a:p>
          <a:p>
            <a:r>
              <a:rPr lang="ko-KR" altLang="en-US" dirty="0"/>
              <a:t>말할 것: 다섯 묶음은 연령별로 따로 그린 같은 기간의 추이다. 세로 눈금의 상한을 196명으로 통일해 묶음끼리 높이를 그대로 비교할 수 있다. 각 묶음의 막대는 왼쪽부터 2018년이고, 금색이 2022년, 오른쪽 끝의 남색이 2025년이다. 막대 위 숫자가 그 해의 인원이다.</a:t>
            </a:r>
          </a:p>
          <a:p>
            <a:endParaRPr lang="ko-KR"/>
          </a:p>
          <a:p>
            <a:r>
              <a:rPr lang="ko-KR" altLang="en-US" dirty="0"/>
              <a:t>읽을 점: 모든 연령에서 2023년이 가장 많았다. 14세와 15세는 2023년에 130명·135명까지 늘었다가 2025년에는 19명·30명으로 2022년(24명·26명) 수준에 가까워졌다. 16세와 17세는 2025년에도 72명·109명으로 2022년(35명·42명)보다 높다. 17세는 2024년 68명에서 2025년 109명으로 늘었다.</a:t>
            </a:r>
          </a:p>
          <a:p>
            <a:endParaRPr lang="ko-KR"/>
          </a:p>
          <a:p>
            <a:r>
              <a:rPr lang="ko-KR" altLang="en-US" dirty="0"/>
              <a:t>주의: 연도별 집계이므로 같은 사람을 따라간 자료가 아니다. 한 사람이 해를 넘겨 다시 집계될 수 있고, 연령이 올라간 경로를 보여주지도 않는다. 2024년부터 해양경찰 자료가 제외되는 점은 모든 연령에 함께 걸린다.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이 사례의 문제의식을 두고, 만 14~18세 청소년이 경찰에 검거된 규모를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b="1" dirty="0"/>
              <a:t>말할 것</a:t>
            </a:r>
          </a:p>
          <a:p>
            <a:r>
              <a:rPr lang="ko-KR" altLang="en-US" dirty="0"/>
              <a:t>위쪽은 위기청소년 조사, 아래쪽은 성인 일반조사입니다. 같은 세 물음 — 가장 많이 사용한 마약류, 어떻게 알게 됐나, 어디서 구했나 — 에 대한 응답을 같은 척도의 막대로 놓았습니다.</a:t>
            </a:r>
          </a:p>
          <a:p>
            <a:r>
              <a:rPr lang="ko-KR" altLang="en-US" dirty="0"/>
              <a:t>위기청소년에서는 텔레그램과 친구·또래가, 성인 일반조사에서는 약국·병의원과 지인이 주된 경로로 나타났습니다.</a:t>
            </a:r>
          </a:p>
          <a:p>
            <a:endParaRPr lang="ko-KR"/>
          </a:p>
          <a:p>
            <a:r>
              <a:rPr lang="ko-KR" altLang="en-US" b="1" dirty="0"/>
              <a:t>※ 메모</a:t>
            </a:r>
          </a:p>
          <a:p>
            <a:r>
              <a:rPr lang="ko-KR" altLang="en-US" dirty="0"/>
              <a:t>두 조사는 조사대상·기간·표본이 달라 비율 자체를 직접 비교하지 않는다. 접촉경로의 차이를 환기하는 자료로만 쓴다.</a:t>
            </a:r>
          </a:p>
          <a:p>
            <a:r>
              <a:rPr lang="ko-KR" altLang="en-US" dirty="0"/>
              <a:t>성인 일반조사의 출처 표기는 원 슬라이드에 없어 이 장에 넣지 못했다. 출처 확인 후 하단 각주에 추가한다.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[유입경로와 관계 변화 · 재설계 · V14 원본 20·23쪽 대체 후보]</a:t>
            </a:r>
          </a:p>
          <a:p>
            <a:endParaRPr lang="ko-KR"/>
          </a:p>
          <a:p>
            <a:r>
              <a:rPr lang="ko-KR" altLang="en-US" dirty="0"/>
              <a:t>청소년의 첫 약물 사용과 이후의 교류를 함께 살펴보는 페이지다. 위 두 사례에서 친구는 약물에 대한 정보나 사용 집단을 접하게 하는 역할을 했다. 아래 연구에는 함께 사용하던 관계가 소수로 좁아지거나 혼자 사용하는 변화도 나타난다. 이를 바탕으로 치료·재활에서 권유와 정보 공유가 이어지는 관계, 혼자 사용하는 상황을 함께 살펴볼 필요성을 제시한다. 하단 문장은 사례를 바탕으로 한 논의상의 시사점이며 치료 효과를 검증한 결과는 아니다.</a:t>
            </a:r>
          </a:p>
          <a:p>
            <a:endParaRPr lang="ko-KR"/>
          </a:p>
          <a:p>
            <a:r>
              <a:rPr lang="ko-KR" altLang="en-US" dirty="0"/>
              <a:t>[1] 배상률·김영지·모상현(2025). 청소년 유해약물 사용 실태 및 정책방안 연구. 한국청소년정책연구원. https://www.nypi.re.kr/repository/handle/2022.oak/6599</a:t>
            </a:r>
          </a:p>
          <a:p>
            <a:endParaRPr lang="ko-KR"/>
          </a:p>
          <a:p>
            <a:r>
              <a:rPr lang="ko-KR" altLang="en-US" dirty="0"/>
              <a:t>403쪽: 참여자 연령·성별 및 면담 기간(2025.9.12.~9.20.). 406쪽: C2 사례. 407·411쪽: D1 사례.</a:t>
            </a:r>
          </a:p>
          <a:p>
            <a:endParaRPr lang="ko-KR"/>
          </a:p>
          <a:p>
            <a:r>
              <a:rPr lang="ko-KR" altLang="en-US" dirty="0"/>
              <a:t>전체 면담 8명 가운데 의료용 마약류·약물 경험 사례 3명, 대마 경험 사례 1명이며, 나머지는 술·담배 및 고카페인 경험 사례다. C2는 의료용 약물 오남용을 포함한 사례이며, 언급된 약물 전부가 법정 마약류라는 의미는 아니다. 연령은 처음 사용한 시점이 아닌 면담 당시 기준이다. 제시한 개인별 사용 경험은 면담 진술이다.</a:t>
            </a:r>
          </a:p>
          <a:p>
            <a:endParaRPr lang="ko-KR"/>
          </a:p>
          <a:p>
            <a:r>
              <a:rPr lang="ko-KR" altLang="en-US" dirty="0"/>
              <a:t>[2] 김낭희·이선형·Weisheit, R. A.(2023). 청소년 마약류범죄 실태 및 대응방안 연구. 한국형사·법무정책연구원. https://www.kicj.re.kr/boardDownload.es?bid=0029&amp;list_no=14167&amp;seq=1</a:t>
            </a:r>
          </a:p>
          <a:p>
            <a:endParaRPr lang="ko-KR"/>
          </a:p>
          <a:p>
            <a:r>
              <a:rPr lang="ko-KR" altLang="en-US" dirty="0"/>
              <a:t>37쪽: 현장 전문가 8명 및 22세 이하 청년 마약사범 3명, 총 11명 면담. 39쪽 표 3-13: 함께 사용하다 단속에 대한 두려움으로 소수 지인과 또는 혼자 사용하는 진술의 종합.</a:t>
            </a:r>
          </a:p>
          <a:p>
            <a:endParaRPr lang="ko-KR"/>
          </a:p>
          <a:p>
            <a:r>
              <a:rPr lang="ko-KR" altLang="en-US" dirty="0"/>
              <a:t>아래 내용은 D1·C2의 후속 경과가 아니라 별도 연구의 면담 종합이다. 다음 페이지의 판매·유통 사례 역시 이 두 사람의 경과로 연결하지 않는다.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사용을 계속하기 위한 약물 확보뿐 아니라, 사용이 알려진 뒤 주변 관계가 어떻게 달라지는지도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[공부방 유통 사건 1/2 · 재설계]</a:t>
            </a:r>
          </a:p>
          <a:p>
            <a:endParaRPr lang="ko-KR"/>
          </a:p>
          <a:p>
            <a:r>
              <a:rPr lang="ko-KR" altLang="en-US" dirty="0"/>
              <a:t>발표 도입: 청소년 마약 사건에서 청소년이 맡은 역할은 무엇이었는지를 먼저 살펴본다. 이 사건은 투약과 함께 판매 조직을 운영한 행위가 나타난 사례다.</a:t>
            </a:r>
          </a:p>
          <a:p>
            <a:endParaRPr lang="ko-KR"/>
          </a:p>
          <a:p>
            <a:r>
              <a:rPr lang="ko-KR" altLang="en-US" dirty="0"/>
              <a:t>이 페이지의 설명: 표를 따라 온라인 접촉, 또래 모집, 장소 확보와 운반책 고용을 설명한다. 이러한 연결이 실제로 나타났다는 점과, 무엇이 범행의 최초 동기였는지를 입증하는 것은 다르다. 자료만으로 호기심, 경제적 곤란 또는 중독이 판매의 원인이었다고 단정하지 않는다. 제목과 본문의 고등학생은 범행 당시의 신분이다. 유통 규모의 금액은 보도 제목의 표현이어서 화면에 올리지 않았고, 판매수익에서 비용을 차감한 순이익이 확인된 것도 아니다.</a:t>
            </a:r>
          </a:p>
          <a:p>
            <a:endParaRPr lang="ko-KR"/>
          </a:p>
          <a:p>
            <a:r>
              <a:rPr lang="ko-KR" altLang="en-US" dirty="0"/>
              <a:t>다음 장 연결: 청소년이라는 점과 공급을 주도했다는 점을 법원은 어떻게 함께 판단했을까?</a:t>
            </a:r>
          </a:p>
          <a:p>
            <a:endParaRPr lang="ko-KR"/>
          </a:p>
          <a:p>
            <a:r>
              <a:rPr lang="ko-KR" altLang="en-US" dirty="0"/>
              <a:t>원문과 확인 범위:</a:t>
            </a:r>
          </a:p>
          <a:p>
            <a:endParaRPr lang="ko-KR"/>
          </a:p>
          <a:p>
            <a:r>
              <a:rPr lang="ko-KR" altLang="en-US" dirty="0"/>
              <a:t>1. 연합뉴스, 2023.5.16., 고교생까지 퍼진 마약…여고생도 중독·공부방서 유통까지(종합). 기사 중 인천 사건 부분만 사용. 같은 기사에 실린 대구 여고생 피해·투약 사건은 별개다. https://www.yna.co.kr/view/AKR20230516150000065</a:t>
            </a:r>
          </a:p>
          <a:p>
            <a:endParaRPr lang="ko-KR"/>
          </a:p>
          <a:p>
            <a:r>
              <a:rPr lang="ko-KR" altLang="en-US" dirty="0"/>
              <a:t>2. 연합뉴스, 2023.6.29., 고교생 때 공부방서 2억대 마약 유통한 10대들 반성한다. https://www.yna.co.kr/view/AKR20230629078400065</a:t>
            </a:r>
          </a:p>
          <a:p>
            <a:endParaRPr lang="ko-KR"/>
          </a:p>
          <a:p>
            <a:r>
              <a:rPr lang="ko-KR" altLang="en-US" dirty="0"/>
              <a:t>3. 파이낸셜뉴스, 2023.9.13., 공부방을 마약창고로...한참 엇나간 대학생들의 최후. https://www.fnnews.com/news/202309130852057355</a:t>
            </a:r>
          </a:p>
          <a:p>
            <a:endParaRPr lang="ko-KR"/>
          </a:p>
          <a:p>
            <a:r>
              <a:rPr lang="ko-KR" altLang="en-US" dirty="0"/>
              <a:t>검찰 발표를 인용한 기사 원문을 확인했다. 검찰 보도자료 파일은 직접 확보하지 못했다. 확인한 원문은 판매·소지·투약을 다루며, 직접 제조했다는 사실은 확인되지 않는다.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[M24 · V14 원본 24·25쪽]</a:t>
            </a:r>
          </a:p>
          <a:p>
            <a:endParaRPr lang="ko-KR"/>
          </a:p>
          <a:p>
            <a:r>
              <a:rPr lang="ko-KR" altLang="en-US" dirty="0"/>
              <a:t>296명은 위기청소년 전체 응답자다. 4.4%를 사용자 중 치료받은 비율로 바꾸지 않는다.</a:t>
            </a:r>
          </a:p>
          <a:p>
            <a:endParaRPr lang="ko-KR"/>
          </a:p>
          <a:p>
            <a:r>
              <a:rPr lang="ko-KR" altLang="en-US" dirty="0"/>
              <a:t>화면에서 덜어낸 학교 징계 7.4%와 법적 처벌 3.7%도 분모 296명과 함께 기억해 둔다.</a:t>
            </a:r>
          </a:p>
          <a:p>
            <a:endParaRPr lang="ko-KR"/>
          </a:p>
          <a:p>
            <a:r>
              <a:rPr lang="ko-KR" altLang="en-US" dirty="0"/>
              <a:t>가족 사례, 학교 경험, 기관 경과는 같은 개인의 연속 경과가 아니다.</a:t>
            </a:r>
          </a:p>
          <a:p>
            <a:endParaRPr lang="ko-KR"/>
          </a:p>
          <a:p>
            <a:r>
              <a:rPr lang="ko-KR" altLang="en-US" dirty="0"/>
              <a:t>→ 다음: 국내 마약류 사건의 소년부 송치 추이</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다음은 「19세 미만 형사재판 결과」을 살펴본다.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재판 결과에 부정기형과 집행유예가 나타났습니다. 소년에게 형을 선고할 때 적용하는 특례를 이어서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다음은 「소년의 형 집행과 사회복귀」을 살펴본다.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형사처벌의 특례를 보았습니다. 지역사회에서 집행하는 보호관찰의 실제 규모도 함께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[N6-01 · V14 원본 신설]</a:t>
            </a:r>
          </a:p>
          <a:p>
            <a:endParaRPr lang="ko-KR"/>
          </a:p>
          <a:p>
            <a:r>
              <a:rPr lang="ko-KR" altLang="en-US" dirty="0"/>
              <a:t>핵심어: 상황, 보상, 자기통제, 개별 판단.</a:t>
            </a:r>
          </a:p>
          <a:p>
            <a:endParaRPr lang="ko-KR"/>
          </a:p>
          <a:p>
            <a:r>
              <a:rPr lang="ko-KR" altLang="en-US" dirty="0"/>
              <a:t>말할 것: 앞에서는 어떤 처우에서 결과가 달라졌는지를 보았다. 여기서는 청소년의 행동이 어떤 상황에서 달라질 수 있는지 살핀다. 혼자 상담할 때는 거절하겠다고 말하던 청소년도 친구들이 함께 있는 자리에서는 다른 선택을 할 수 있다. 이 예시는 연구의 마약 사용 결과가 아니라 운전 과제에서 확인한 상황 효과를 설명하기 위한 것이다.</a:t>
            </a:r>
          </a:p>
          <a:p>
            <a:endParaRPr lang="ko-KR"/>
          </a:p>
          <a:p>
            <a:r>
              <a:rPr lang="ko-KR" altLang="en-US" dirty="0"/>
              <a:t>주의: 청소년이 모든 상황에서 판단하지 못한다거나 뇌의 성숙만으로 처벌의 결론이 정해지는 것은 아니다. 발달 연구는 평균적인 경향을 설명하고, 실제 사건에서는 연령과 행위, 사용 양상, 생활조건을 함께 살핀다.</a:t>
            </a:r>
          </a:p>
          <a:p>
            <a:endParaRPr lang="ko-KR"/>
          </a:p>
          <a:p>
            <a:r>
              <a:t>→ 다음</a:t>
            </a:r>
          </a:p>
          <a:p>
            <a:r>
              <a:t>다음은 「또래관계와 가정의 지원」을 살펴본다.</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[N6-02 · 수정05 · V14 원본 신설]</a:t>
            </a:r>
          </a:p>
          <a:p>
            <a:endParaRPr lang="ko-KR"/>
          </a:p>
          <a:p>
            <a:r>
              <a:rPr lang="ko-KR" altLang="en-US" dirty="0"/>
              <a:t>이 페이지의 중심은 연구에서 무엇을 발견했는가이다. 첫 연구에서는 주변 또래의 사용과 본인의 사용이 관련됐고, 부모가 생활을 더 잘 파악할수록 사용은 적었다. 여기서 또래의 사용행동은 물질사용을 뜻하며 알코올 등을 포함하므로 전부 불법 마약류 사용으로 바꾸지 않는다.</a:t>
            </a:r>
          </a:p>
          <a:p>
            <a:endParaRPr lang="ko-KR"/>
          </a:p>
          <a:p>
            <a:r>
              <a:rPr lang="ko-KR" altLang="en-US" dirty="0"/>
              <a:t>두 번째 연구는 친구관계가 좋으면 언제나 사용이 줄어든다고 단순화하기 어렵다는 점을 보완한다. 특히 또래가 평가하는 인기와 물질사용은 정적인 관련성을 보였다. 인기가 높다는 사실을 위험인물이나 나쁜 친구라는 평가로 바꾸지 않는다. 두 연구는 관계를 다루되 동일한 연구나 같은 측정으로 합치지 않는다.</a:t>
            </a:r>
          </a:p>
          <a:p>
            <a:endParaRPr lang="ko-KR"/>
          </a:p>
          <a:p>
            <a:r>
              <a:rPr lang="ko-KR" altLang="en-US" dirty="0"/>
              <a:t>이 결과를 치료·재활에 연결하면 주변 관계를 일괄 단절시키는 지시보다 실제 사용 상황과 지원할 사람을 살피는 과제가 구체화된다. 연락·귀가·위험 상황 대응의 예시는 강의에서 제안하는 적용 방향이며, 연구가 그 지원계획의 효과를 직접 검증한 것처럼 설명하지 않는다.</a:t>
            </a:r>
          </a:p>
          <a:p>
            <a:endParaRPr lang="ko-KR"/>
          </a:p>
          <a:p>
            <a:r>
              <a:t>→ 다음</a:t>
            </a:r>
          </a:p>
          <a:p>
            <a:r>
              <a:t>다음은 「청소년기 증상과 성인기 경과」을 살펴본다.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[수정 06 대체 후보 · 재설계(막대 유형) · V18 42쪽 / N6-03 자리]</a:t>
            </a:r>
          </a:p>
          <a:p>
            <a:endParaRPr lang="ko-KR"/>
          </a:p>
          <a:p>
            <a:r>
              <a:rPr lang="ko-KR" altLang="en-US" dirty="0"/>
              <a:t>핵심어: 증상 심각도, 장기 경과, 재평가.</a:t>
            </a:r>
          </a:p>
          <a:p>
            <a:endParaRPr lang="ko-KR"/>
          </a:p>
          <a:p>
            <a:r>
              <a:rPr lang="ko-KR" altLang="en-US" dirty="0"/>
              <a:t>말할 것: 18세 무렵에 응답한 사람들을 성인기까지 추적한 연구다. 성인기 조사에서 18세 시절을 회상하게 하여 집단을 만든 것이 아니다. 막대의 출발점은 18세 때 보고한 증상 수준이고, 높이는 그 집단에서 성인기 조사(조사 전 5년)에 증상 2개 이상을 보고한 비율이다.</a:t>
            </a:r>
          </a:p>
          <a:p>
            <a:endParaRPr lang="ko-KR"/>
          </a:p>
          <a:p>
            <a:r>
              <a:rPr lang="ko-KR" altLang="en-US" dirty="0"/>
              <a:t>주의: 27.9%를 성인기 증상자 가운데 청소년기 증상이 없었던 사람의 비율로 읽지 않는다. 각 집단 내부의 가중 비율이므로 다섯 값을 합해 100%가 될 필요가 없다. 높은 증상 수준과 이후 문제의 관련성을 보여주는 자료이며, 청소년기부터 성인기까지 매년 같은 증상이 계속되었다는 뜻은 아니다. 자기보고 증상으로 임상 진단을 확정하거나 한국 청소년의 재범률·치료 실패율로 설명하지 않는다.</a:t>
            </a:r>
          </a:p>
          <a:p>
            <a:endParaRPr lang="ko-KR"/>
          </a:p>
          <a:p>
            <a:r>
              <a:rPr lang="ko-KR" altLang="en-US" dirty="0"/>
              <a:t>수치: 전체 추적 표본 5,317명, 화면 결과의 분석 참여자 3,193명. 세로축은 70%까지만 표시했으므로 막대 높이를 100% 기준 비율로 읽지 않게 안내한다.</a:t>
            </a:r>
          </a:p>
          <a:p>
            <a:endParaRPr lang="ko-KR"/>
          </a:p>
          <a:p>
            <a:r>
              <a:rPr lang="ko-KR" altLang="en-US" dirty="0"/>
              <a:t>적용 방향: 심한 문제를 일시적 일탈로만 취급하지 않고 후속 평가와 지원을 검토한다.</a:t>
            </a:r>
          </a:p>
          <a:p>
            <a:endParaRPr lang="ko-KR"/>
          </a:p>
          <a:p>
            <a:r>
              <a:rPr lang="ko-KR" altLang="en-US" dirty="0"/>
              <a:t>→ 다음: 발달·생활조건에 맞춘 치료활동</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다음은 「청소년 상담·재활의 실제 운영」을 살펴본다.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다음은 「RISKIT-CJS의 참여와 추가효과」을 살펴본다.</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내용을 마련해도 참여와 완료가 충분하지 않을 수 있었습니다. 어떤 청소년에게 치료와 집중 감독을 함께 적용할지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다음은 「물질 재사용과 참여의무 불이행」을 살펴본다.</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원심이 어떤 경위로 제재했는지 보았습니다. 항소심이 유지한 판단과 취소한 제재를 나누어 살펴보겠습니다.</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참여 의무와 제재의 법적 범위를 보았습니다. 다음은 치료받을 자리와 시점이 실제로 확보되는가의 문제입니다.</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처분변경에는 요건과 범위가 있습니다. 치료 참여를 확보하려고 내린 제재가 항소심에서 문제된 미국 사건을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[보호관찰 처분변경 사례 · 신설 · 국내 대응 장 뒤]</a:t>
            </a:r>
          </a:p>
          <a:p>
            <a:endParaRPr lang="ko-KR"/>
          </a:p>
          <a:p>
            <a:r>
              <a:rPr lang="ko-KR" altLang="en-US" dirty="0"/>
              <a:t>지역사회에서 보호관찰을 받던 소년에게 법원이 실제로 소년원 송치를 결정한 경과다. 처음에는 보호자 감호위탁·수강명령·단기 보호관찰을 부과했고, 지도·감독과 수강명령 집행에 응하지 않고 재비행과 소환 불응이 나타나자 보호관찰소장이 변경을 신청했다. 대구가정법원은 장기 보호관찰에 1개월 이내 소년원 송치를 병합했고, 외출제한명령 위반과 재비행이 반복되자 단기 소년원 송치로 변경했다.</a:t>
            </a:r>
          </a:p>
          <a:p>
            <a:endParaRPr lang="ko-KR"/>
          </a:p>
          <a:p>
            <a:r>
              <a:rPr lang="ko-KR" altLang="en-US" dirty="0"/>
              <a:t>판결문이 적시한 경과: 2015.10.21. 대구가정법원 2015푸1871(제1·2·4호 및 제32조의2 제3항 부가처분) · 2016.7.19. 서울보호관찰소장 변경 신청 · 2016.8.24. 2016푸초228(제5·8호) · 2017.1.5. 대구보호관찰소 지소장 변경 신청 · 2017.3.29. 2017푸초3(제9호). 각 결정의 부가처분은 화면 표에서 생략했다.</a:t>
            </a:r>
          </a:p>
          <a:p>
            <a:endParaRPr lang="ko-KR"/>
          </a:p>
          <a:p>
            <a:r>
              <a:rPr lang="ko-KR" altLang="en-US" dirty="0"/>
              <a:t>대법원 2019.5.10. 선고 2018도3768(위계공무집행방해). https://www.law.go.kr/LSW/precInfoP.do?precSeq=207491 본 판결의 직접 쟁점은 보호처분 변경의 원인이 된 별도 범죄를 다시 기소할 수 있는지이며, 대법원은 종전 보호처분에서 심리가 결정된 사건이 아닌 사건의 공소제기가 소년법 제53조에 위배되지 않는다고 보아 파기환송했다. 이 화면은 판결 이유에 기재된 처분변경 경과를 활용하는 것이며, 대법원이 소년원 송치를 명령했다는 뜻이 아니다. 외출제한 감독 회피의 구체적 수법은 교육 목적에 불필요해 적지 않았다.</a:t>
            </a:r>
          </a:p>
          <a:p>
            <a:endParaRPr lang="ko-KR"/>
          </a:p>
          <a:p>
            <a:r>
              <a:rPr lang="ko-KR" altLang="en-US" dirty="0"/>
              <a:t>범위: 원사건은 교통사고처리특례법 위반 등이고 공개 판결문에 나이가 표시되지 않는다. 마약 재투약이나 약물검사 불응 사건으로 바꾸어 설명하지 않는다.</a:t>
            </a:r>
          </a:p>
          <a:p>
            <a:endParaRPr lang="ko-KR"/>
          </a:p>
          <a:p>
            <a:r>
              <a:rPr lang="ko-KR" altLang="en-US" dirty="0"/>
              <a:t>의료위탁: 소년법 제32조 제1항 제7호는 병원·요양소·의료재활소년원 위탁이다. 법무부 범죄예방정책국의 의료재활 안내는 약물 오남용·정신장애·지적발달장애·신체질환 등으로 집중치료나 특수교육이 필요한 보호소년을 대상으로 설명하고, 대전소년원의 대상 처분을 제7·9·10호로 안내한다. https://www.cppb.go.kr/cppb/583/subview.do</a:t>
            </a:r>
          </a:p>
          <a:p>
            <a:endParaRPr lang="ko-KR"/>
          </a:p>
          <a:p>
            <a:r>
              <a:rPr lang="ko-KR" altLang="en-US" dirty="0"/>
              <a:t>처분변경 근거: 보호관찰 등에 관한 법률 제49조와 소년법 제37조. 위반이 발생하면 자동으로 특정 처분으로 이동하는 단계표가 아니다.</a:t>
            </a:r>
          </a:p>
          <a:p>
            <a:endParaRPr lang="ko-KR"/>
          </a:p>
          <a:p>
            <a:r>
              <a:rPr lang="ko-KR" altLang="en-US" dirty="0"/>
              <a:t>논제와의 연결: 소년원 송치도 소년법상 보호처분이며 형사재판의 징역형과 구분된다. 하단은 논의상의 시사점이고, 이 사례만으로 처벌 또는 치료의 효과를 비교할 수는 없다. 자료 확인일: 2026.9.20.</a:t>
            </a:r>
          </a:p>
          <a:p>
            <a:endParaRPr lang="ko-KR"/>
          </a:p>
          <a:p>
            <a:r>
              <a:rPr lang="ko-KR" altLang="en-US" dirty="0"/>
              <a:t>→ 다음: 소년약물치료법원 — 치료 변경·제재와 참여 종료</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치료를 시작할 기관을 확보하는 데 더해, 치료가 끝난 뒤의 지원도 이어져야 합니다. 국내 계획의 사례관리를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제안 위치: 기존 「국내 치료보호기관의 치료 실적과 이용 집중」 바로 다음 장. 기존 페이지는 2025년 전체 연령의 기관 분포, 이 페이지는 2019~2023년 10대 치료보호 실적을 보여준다. 서로 다른 기준연도를 표시한다.</a:t>
            </a:r>
          </a:p>
          <a:p>
            <a:endParaRPr/>
          </a:p>
          <a:p>
            <a:r>
              <a:t>자료: 보건복지부가 백종헌 의원실에 제출한 자료를 의원실이 재구성한 표. 한의신문 2024.9.23. 보도에 실린 표 이미지를 직접 확인했다. 원 제출문서 전체를 확보한 것은 아니다.</a:t>
            </a:r>
          </a:p>
          <a:p>
            <a:r>
              <a:t>기사: https://akomnews.com/bbs/board.php?bo_table=news&amp;wr_id=59669</a:t>
            </a:r>
          </a:p>
          <a:p>
            <a:r>
              <a:t>수록표: https://akomnews.com/data/photo/2409/20240923084941_65648f63584f86c0a577d044287b9da5_vqcd.png</a:t>
            </a:r>
          </a:p>
          <a:p>
            <a:r>
              <a:t>동일 수치가 실린 다른 보도표: https://cdn.discoverynews.kr/news/photo/202409/1050337_1077130_4622.jpg</a:t>
            </a:r>
          </a:p>
          <a:p>
            <a:endParaRPr/>
          </a:p>
          <a:p>
            <a:r>
              <a:t>연도별 값(명): 2019년 10대 1, 전체 260, 10대 비중 0.4%; 2020년 10대 1, 전체 143, 10대 비중 0.7%; 2021년 10대 8, 전체 280, 10대 비중 2.9%; 2022년 10대 11, 전체 421, 10대 비중 2.6%; 2023년 10대 20, 전체 641, 10대 비중 3.1%. 2023년 비중은 20/641×100=3.1201%, 소수 첫째 자리로 표시한다.</a:t>
            </a:r>
          </a:p>
          <a:p>
            <a:endParaRPr/>
          </a:p>
          <a:p>
            <a:r>
              <a:t>그래프: 연도별 세로 막대, 세로축 0~25명, 5명 간격, 2023년만 진한 남색. 막대 위에 실제 인원을 표시한다. 1명에서 출발했으므로 증가 배수를 중심 메시지로 쓰지 않는다. 오른쪽은 2023년 전체 치료보호 인원에서 10대가 차지하는 비중이다.</a:t>
            </a:r>
          </a:p>
          <a:p>
            <a:endParaRPr/>
          </a:p>
          <a:p>
            <a:r>
              <a:t>해석: 이 통계에서 10대의 치료보호 실적이 증가했다는 점을 알 수 있다. 청소년 중 치료가 필요한 인원의 총수, 미충족 치료 수요, 치료 효과, 치료 지속률은 이 표로 측정하지 않는다. ‘10대’를 만 14~18세 또는 미성년자와 같은 범위로 바꾸지 않는다. 2024~2025년 10대 자료는 이번 확인 자료에 없어 이 그래프에 포함하지 않았다.</a:t>
            </a:r>
          </a:p>
          <a:p>
            <a:endParaRPr/>
          </a:p>
          <a:p>
            <a:r>
              <a:t>하단 문장은 세미나 논제를 위한 정책적 시사점이다. 이 집계만으로 처벌 대비 치료의 우월성 또는 치료 실패를 입증한다는 의미가 아니다. 발표에서는 이용 실적이 실제 치료 접근과 지속으로 이어지는 조건을 질문한다.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시작 전부터 종료 후까지의 지원을 살펴봤습니다. 의뢰와 실제 이용 사이에서 누가 무엇을 확인할지 연결해 정리하겠습니다.</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다음은 「소년약물치료법원의 결합 경로」을 살펴본다.</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dirty="0"/>
              <a:t>→ </a:t>
            </a:r>
            <a:r>
              <a:rPr dirty="0" err="1"/>
              <a:t>다음</a:t>
            </a:r>
            <a:endParaRPr dirty="0"/>
          </a:p>
          <a:p>
            <a:r>
              <a:rPr dirty="0" err="1"/>
              <a:t>다음은</a:t>
            </a:r>
            <a:r>
              <a:rPr dirty="0"/>
              <a:t> 「</a:t>
            </a:r>
            <a:r>
              <a:rPr dirty="0" err="1"/>
              <a:t>JDTC와</a:t>
            </a:r>
            <a:r>
              <a:rPr dirty="0"/>
              <a:t> </a:t>
            </a:r>
            <a:r>
              <a:rPr dirty="0" err="1"/>
              <a:t>일반법원의</a:t>
            </a:r>
            <a:r>
              <a:rPr dirty="0"/>
              <a:t> </a:t>
            </a:r>
            <a:r>
              <a:rPr dirty="0" err="1"/>
              <a:t>재체포</a:t>
            </a:r>
            <a:r>
              <a:rPr dirty="0"/>
              <a:t> </a:t>
            </a:r>
            <a:r>
              <a:rPr dirty="0" err="1"/>
              <a:t>결과」을</a:t>
            </a:r>
            <a:r>
              <a:rPr dirty="0"/>
              <a:t> </a:t>
            </a:r>
            <a:r>
              <a:rPr dirty="0" err="1"/>
              <a:t>살펴본다</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다음은 「법원감독과 MST·CM의 조합」을 살펴본다.</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다음은 「치료 구성별 대마검사와 재체포」을 살펴본다.</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같은 법원감독 안에서도 치료 구성이 달랐습니다. 가족과 생활환경을 다룬 치료에서 관찰된 결과를 모아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[JDTC 연구 한계와 운영 문제 · 신설 · 평균효과 장 앞]</a:t>
            </a:r>
          </a:p>
          <a:p>
            <a:r>
              <a:rPr lang="ko-KR" altLang="en-US" dirty="0"/>
              <a:t>같은 메타분석의 평균효과를 제시하기 전에 연구 근거와 실제 운영의 한계를 설명한다. 치료·재활의 기대효과를 정책 판단에 쓸 때 계획한 치료를 실제로 제공할 역량도 함께 본다는 뜻이다.</a:t>
            </a:r>
          </a:p>
          <a:p>
            <a:r>
              <a:rPr lang="ko-KR" altLang="en-US" dirty="0"/>
              <a:t>전체 규모는 44개 연구, 55개 연구 표본, 12,310명이다. 연구설계 수치는 표본 단위로 계산했으며 무작위 배정은 55개 중 4개다. 시작 시점의 재범위험과 인구학적 구성이 두 집단에서 달랐다. 평균 연령 16.03세는 보고서가 제시한 평균값이며 개인자료를 다시 합산한 수치가 아니다.</a:t>
            </a:r>
          </a:p>
          <a:p>
            <a:r>
              <a:rPr lang="ko-KR" altLang="en-US" dirty="0"/>
              <a:t>실행 문제는 보고서의 possible implementation problems 항목이다. 집계 단위는 JDTC condition 76개이며 33개(43%)다. 이 단위를 개별 청소년, 연구 편수, 미국 전체 법원의 비율로 바꾸어 해석하지 않는다. 외부기관 운영이나 설계의 복잡성이 실행 문제의 원인이라는 인과관계를 이 메타분석이 입증한 것은 아니다.</a:t>
            </a:r>
          </a:p>
          <a:p>
            <a:r>
              <a:rPr lang="ko-KR" altLang="en-US" dirty="0"/>
              <a:t>비교 대상인 일반적인 소년사건 처리에도 보호관찰과 치료 연계가 포함될 수 있으므로, 이 자료를 치료 대 무치료 또는 치료 대 구금만의 비교로 설명하지 않는다.</a:t>
            </a:r>
          </a:p>
          <a:p>
            <a:r>
              <a:rPr lang="ko-KR" altLang="en-US" dirty="0"/>
              <a:t>Tanner-Smith, Mojekwu &amp;amp; Frankel(2024), Criminal Justice and Behavior 51(1), 148–170. https://journals.sagepub.com/doi/10.1177/00938548231208208 · 공개 최종 평가보고서(2022) 본문 17~19쪽 및 표 1(38쪽). https://www.ojp.gov/pdffiles1/nij/grants/306472.pdf · AIR JDTC 지침 개발사업. https://www.air.org/project/development-and-testing-juvenile-drug-treatment-court-guidelines</a:t>
            </a:r>
          </a:p>
          <a:p>
            <a:r>
              <a:rPr lang="ko-KR" altLang="en-US" dirty="0"/>
              <a:t>자료 확인: 2026.9.20.</a:t>
            </a:r>
          </a:p>
          <a:p>
            <a:r>
              <a:rPr lang="ko-KR" altLang="en-US" dirty="0"/>
              <a:t>→ 다음: JDTC 평균효과와 수료율</a:t>
            </a:r>
          </a:p>
          <a:p>
            <a:endParaRPr lang="ko-KR"/>
          </a:p>
          <a:p>
            <a:r>
              <a:rPr lang="ko-KR" altLang="en-US" dirty="0"/>
              <a:t>76개는 JDTC 프로그램 단위(JDTC condition)이며 청소년 수나 연구 편수가 아니다. 이 단위를 미국 전체 법원의 비율로 바꾸어 해석하지 않는다.</a:t>
            </a:r>
          </a:p>
          <a:p>
            <a:endParaRPr lang="ko-KR"/>
          </a:p>
          <a:p>
            <a:r>
              <a:rPr lang="ko-KR" altLang="en-US" dirty="0"/>
              <a:t>이 페이지를 “외부기관이 치료하므로 운영에 문제가 생긴다”는 뜻으로 쓰지 않는다. 연구에서 확인한 것은 계획한 서비스를 충분히 실행하지 못했을 가능성이며, 기관 간 협력과 치료 제공의 관리는 그 결과에서 생각해 볼 실행 과제다. JDTC는 법원의 감독과 지역사회 치료기관의 치료를 결합하므로, 치료기관에 연계한 뒤에도 청소년이 필요한 치료를 실제로 받고 계속 참여하는지 관리해야 한다.</a:t>
            </a:r>
          </a:p>
          <a:p>
            <a:endParaRPr lang="ko-KR"/>
          </a:p>
          <a:p>
            <a:r>
              <a:rPr lang="ko-KR" altLang="en-US" dirty="0"/>
              <a:t>기존 V14 56쪽의 “통제평가”와 “수료 후”는 각각 “두 처리 방식의 결과를 비교한 연구”와 “프로그램 종료 후”로 바꾼다.</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감독 중 결과와 종료 뒤 결과가 달랐습니다. 치료와 감독이 끝난 뒤 변화가 유지되는 문제를 정리하겠습니다.</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[부모 행동훈련과 단약 보상을 결합한 치료 · 「가족·생활환경 개입 치료에서 약물사용 개선 사례」 교체]</a:t>
            </a:r>
          </a:p>
          <a:p>
            <a:endParaRPr lang="ko-KR"/>
          </a:p>
          <a:p>
            <a:r>
              <a:rPr lang="ko-KR" altLang="en-US" dirty="0"/>
              <a:t>이 화면은 치료를 받았는지 여부가 아니라 실제로 어떤 활동을 제공했는지를 본다. 두 집단 모두 동기강화면담과 인지행동치료, 주 2회 약물검사를 받았다. 달라진 것은 청소년에게 주는 보상의 조건과 보호자에게 제공한 활동이다. 한쪽은 출석에 보상하고 보호자에게 약물 문제와 대응을 교육했고, 다른 쪽은 단약이 확인되면 보상하고 보호자가 가정에서 약물사용을 확인해 보상을 적용하도록 훈련했다.</a:t>
            </a:r>
          </a:p>
          <a:p>
            <a:endParaRPr lang="ko-KR"/>
          </a:p>
          <a:p>
            <a:r>
              <a:rPr lang="ko-KR" altLang="en-US" dirty="0"/>
              <a:t>결과: 치료기간 중 10주 이상 연속으로 대마를 사용하지 않은 비율이 18%와 50%였다. 연속 단약 기간의 평균은 5.1주와 7.6주이며, 각각 p=.006과 p=.04다. 69명은 33명과 36명으로 나뉘었고 14주 외래치료였다.</a:t>
            </a:r>
          </a:p>
          <a:p>
            <a:endParaRPr lang="ko-KR"/>
          </a:p>
          <a:p>
            <a:r>
              <a:rPr lang="ko-KR" altLang="en-US" dirty="0"/>
              <a:t>범위: 치료 중 결과이며 종료 3·6·9개월 시점에서는 통계적으로 유의한 집단 차이가 확인되지 않았다. 보상과 부모 행동훈련을 함께 추가한 조건이므로 각각의 효과를 따로 산출한 것이 아니다. 형사처벌과 치료를 직접 비교한 연구가 아니며, 모든 참여자가 형사사건으로 온 청소년도 아니다.</a:t>
            </a:r>
          </a:p>
          <a:p>
            <a:endParaRPr lang="ko-KR"/>
          </a:p>
          <a:p>
            <a:r>
              <a:rPr lang="ko-KR" altLang="en-US" dirty="0"/>
              <a:t>앞뒤 장에서 JDTC를 따로 다루므로 이 화면에서는 Henggeler 연구를 빼고 치료 내용의 비교에 집중했다. Henggeler 외(2006)의 MST 결과는 필요하면 질문 대응으로 설명한다.</a:t>
            </a:r>
          </a:p>
          <a:p>
            <a:endParaRPr lang="ko-KR"/>
          </a:p>
          <a:p>
            <a:r>
              <a:rPr lang="ko-KR" altLang="en-US" dirty="0"/>
              <a:t>https://pmc.ncbi.nlm.nih.gov/articles/PMC2763939/</a:t>
            </a:r>
          </a:p>
          <a:p>
            <a:endParaRPr lang="ko-KR"/>
          </a:p>
          <a:p>
            <a:r>
              <a:rPr lang="ko-KR" altLang="en-US" dirty="0"/>
              <a:t>→ 다음: 미국 JDTC 메타분석 — 연구 개요와 주요 한계</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치료 경로의 효과와 지속성을 보았습니다. 이번에는 공식 사법처리와 형사제재 자체의 결과를 살펴보겠습니다.</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[N5-02 · V14 원본 신설]</a:t>
            </a:r>
          </a:p>
          <a:p>
            <a:endParaRPr lang="ko-KR"/>
          </a:p>
          <a:p>
            <a:r>
              <a:rPr lang="ko-KR" altLang="en-US" dirty="0"/>
              <a:t>재입소 여부의 최종 모형은 OR=.768, p=.066이고, 시간을 고려한 결과는 HR=.805, p&amp;lt;.05다. 19.5%는 위험비에서 계산한 상대적 차이이며 재입소율의 19.5%p 감소가 아니다.</a:t>
            </a:r>
          </a:p>
          <a:p>
            <a:endParaRPr lang="ko-KR"/>
          </a:p>
          <a:p>
            <a:r>
              <a:rPr lang="ko-KR" altLang="en-US" dirty="0"/>
              <a:t>표본을 무작위로 추출했다는 사실과 교육을 무작위로 배정했다는 것은 다르다.</a:t>
            </a:r>
          </a:p>
          <a:p>
            <a:endParaRPr lang="ko-KR"/>
          </a:p>
          <a:p>
            <a:r>
              <a:rPr lang="ko-KR" altLang="en-US" dirty="0"/>
              <a:t>전체 평균 교육시간 13.315시간은 미교육자의 0시간을 포함하므로 이수자 평균으로 제시하지 않는다.</a:t>
            </a:r>
          </a:p>
          <a:p>
            <a:endParaRPr lang="ko-KR"/>
          </a:p>
          <a:p>
            <a:r>
              <a:rPr lang="ko-KR" altLang="en-US" dirty="0"/>
              <a:t>현재 확대된 교육과정의 효과를 이 과거 출소자 결과로 단정하지 않는다.</a:t>
            </a:r>
          </a:p>
          <a:p>
            <a:endParaRPr lang="ko-KR"/>
          </a:p>
          <a:p>
            <a:r>
              <a:t>→ 다음</a:t>
            </a:r>
          </a:p>
          <a:p>
            <a:r>
              <a:t>지금까지는 주로 처우받은 사람의 이후 결과였습니다. 이제 제재의 변화가 더 넓은 약물사용에 미친 결과를 살펴보겠습니다.</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[N5-01 · V14 원본 신설]</a:t>
            </a:r>
          </a:p>
          <a:p>
            <a:endParaRPr lang="ko-KR"/>
          </a:p>
          <a:p>
            <a:r>
              <a:rPr lang="ko-KR" altLang="en-US" dirty="0"/>
              <a:t>29개는 전체 포함 연구이고, 비행 여부 결과를 제공한 연구는 27개다. 마지막 관찰은 연구별로 4~36개월이었다.</a:t>
            </a:r>
          </a:p>
          <a:p>
            <a:endParaRPr lang="ko-KR"/>
          </a:p>
          <a:p>
            <a:r>
              <a:rPr lang="ko-KR" altLang="en-US" dirty="0"/>
              <a:t>원문의 최초 효과 d=-.109, p=.103, 마지막 d=-.15, p=.01에서 음의 값은 공식 처리의 불리한 방향이다.</a:t>
            </a:r>
          </a:p>
          <a:p>
            <a:endParaRPr lang="ko-KR"/>
          </a:p>
          <a:p>
            <a:r>
              <a:rPr lang="ko-KR" altLang="en-US" dirty="0"/>
              <a:t>모든 처리·모든 대상에서 같은 효과가 보장된다는 뜻이 아니다. 경미한 사건을 공식 절차에 더 넣는 선택을 검토할 때의 근거로 연결한다.</a:t>
            </a:r>
          </a:p>
          <a:p>
            <a:endParaRPr lang="ko-KR"/>
          </a:p>
          <a:p>
            <a:r>
              <a:t>→ 다음</a:t>
            </a:r>
          </a:p>
          <a:p>
            <a:r>
              <a:t>다음은 「구금 이후의 재범·교육 결과」을 살펴본다.</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t>→ 다음</a:t>
            </a:r>
          </a:p>
          <a:p>
            <a:r>
              <a:t>구금의 결과와 함께, 그 집행 과정에 재활교육을 제공했을 때의 국내 연구도 보겠습니다. 이 자료는 성인 연구라는 범위를 두고 읽겠습니다.</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[N5-03 · V14 원본 신설]</a:t>
            </a:r>
          </a:p>
          <a:p>
            <a:endParaRPr lang="ko-KR"/>
          </a:p>
          <a:p>
            <a:r>
              <a:rPr lang="ko-KR" altLang="en-US" dirty="0"/>
              <a:t>핵심어: 제재 완화, 일반예방, 제도 차이.</a:t>
            </a:r>
          </a:p>
          <a:p>
            <a:endParaRPr lang="ko-KR"/>
          </a:p>
          <a:p>
            <a:r>
              <a:rPr lang="ko-KR" altLang="en-US" dirty="0"/>
              <a:t>말할 것: 앞의 연구들이 처우를 받은 개인의 결과를 다뤘다면 이 자료는 사회 전체의 사용 변화를 묻는 간접 근거다. 제재를 완화하면 반드시 사용이 늘어난다는 연결을 검토하는 데 쓰되, 모든 완화정책이 안전하다는 결론으로 넓히지 않는다.</a:t>
            </a:r>
          </a:p>
          <a:p>
            <a:endParaRPr lang="ko-KR"/>
          </a:p>
          <a:p>
            <a:r>
              <a:rPr lang="ko-KR" altLang="en-US" dirty="0"/>
              <a:t>범위: 검토 국가는 호주·체코·덴마크·독일·자메이카·네덜란드·포르투갈·영국·미국이다. 2018년 6월 검색을 시작한 연구이므로 최신 정책까지 분석했다는 뜻으로 읽지 않는다.</a:t>
            </a:r>
          </a:p>
          <a:p>
            <a:endParaRPr lang="ko-KR"/>
          </a:p>
          <a:p>
            <a:r>
              <a:rPr lang="ko-KR" altLang="en-US" dirty="0"/>
              <a:t>주의: 9개국 전체에서 사용이 감소했다고 말하지 않는다.</a:t>
            </a:r>
          </a:p>
          <a:p>
            <a:endParaRPr lang="ko-KR"/>
          </a:p>
          <a:p>
            <a:r>
              <a:t>→ 다음</a:t>
            </a:r>
          </a:p>
          <a:p>
            <a:r>
              <a:t>제도와 연구를 살펴봤습니다. 이제 치료를 우선한다는 선택이 실제로 어느 단계의 무엇을 바꾸는지 정리하겠습니다.</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b="1" dirty="0"/>
              <a:t>말할 것</a:t>
            </a:r>
          </a:p>
          <a:p>
            <a:r>
              <a:rPr lang="ko-KR" altLang="en-US" dirty="0"/>
              <a:t>7장에서는 마약류를 투약·사용한 청소년에게 형사처벌보다 치료·재활을 우선해야 하는지를 여섯 가지 쟁점으로 나누어 봅니다.</a:t>
            </a:r>
          </a:p>
          <a:p>
            <a:r>
              <a:rPr lang="ko-KR" altLang="en-US" dirty="0"/>
              <a:t>앞의 두 쟁점은 책임과 사용 당사자의 재사용·재범, 가운데 두 쟁점은 다른 청소년에 대한 억제와 생활의 불이익, 마지막 두 쟁점은 치료를 실제로 제공하고 위반에 대응할 여건입니다.</a:t>
            </a:r>
          </a:p>
          <a:p>
            <a:r>
              <a:rPr lang="ko-KR" altLang="en-US" dirty="0"/>
              <a:t>각 쟁점마다 두 입장이 어떤 주장과 근거를 내는지 같은 틀로 보겠습니다.</a:t>
            </a:r>
          </a:p>
          <a:p>
            <a:endParaRPr lang="ko-KR"/>
          </a:p>
          <a:p>
            <a:r>
              <a:rPr lang="ko-KR" altLang="en-US" b="1" dirty="0"/>
              <a:t>※ 메모</a:t>
            </a:r>
          </a:p>
          <a:p>
            <a:r>
              <a:rPr lang="ko-KR" altLang="en-US" dirty="0"/>
              <a:t>이 장은 무엇을 따질지만 안내한다. 각 입장의 논거는 뒤 여섯 장과 마지막 정리 장에서 다룬다.</a:t>
            </a:r>
          </a:p>
          <a:p>
            <a:endParaRPr lang="ko-KR"/>
          </a:p>
          <a:p>
            <a:r>
              <a:rPr lang="ko-KR" altLang="en-US" b="1" dirty="0"/>
              <a:t>→ 다음**  쟁점 ① 청소년의 사용행위에 책임을 묻는 방식</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b="1" dirty="0"/>
              <a:t>말할 것</a:t>
            </a:r>
          </a:p>
          <a:p>
            <a:r>
              <a:rPr lang="ko-KR" altLang="en-US" dirty="0"/>
              <a:t>왼쪽 — 또래의 영향을 받기 쉬운 청소년에게는, 형사처벌보다 사용행동을 바꾸는 치료·재활 참여를 먼저 요구해야 한다.</a:t>
            </a:r>
          </a:p>
          <a:p>
            <a:r>
              <a:rPr lang="ko-KR" altLang="en-US" dirty="0"/>
              <a:t>오른쪽 — 치료가 필요하더라도 위법한 사용행위에는 그 책임에 맞는 형사처벌이 필요하므로, 치료를 우선하는 원칙에는 동의하기 어렵다.</a:t>
            </a:r>
          </a:p>
          <a:p>
            <a:r>
              <a:rPr lang="ko-KR" altLang="en-US" dirty="0"/>
              <a:t>정리 — 청소년의 미숙함을 형사처벌을 줄이는 이유로 볼지, 치료·재활을 먼저 요구할 이유로 볼지에서 판단이 갈린다.</a:t>
            </a:r>
          </a:p>
          <a:p>
            <a:endParaRPr lang="ko-KR"/>
          </a:p>
          <a:p>
            <a:r>
              <a:rPr lang="ko-KR" altLang="en-US" b="1" dirty="0"/>
              <a:t>※ 메모 (화면 밖 편집 설명)</a:t>
            </a:r>
          </a:p>
          <a:p>
            <a:r>
              <a:rPr lang="ko-KR" altLang="en-US" dirty="0"/>
              <a:t>운전 실험은 약물사용이나 형사책임 능력을 직접 측정한 연구가 아니다.</a:t>
            </a:r>
          </a:p>
          <a:p>
            <a:r>
              <a:rPr lang="ko-KR" altLang="en-US" dirty="0"/>
              <a:t>두 입장은 책임의 유무보다 책임에 맞는 대응을 다르게 판단한다.</a:t>
            </a:r>
          </a:p>
          <a:p>
            <a:r>
              <a:rPr lang="ko-KR" altLang="en-US" dirty="0"/>
              <a:t>형사처벌을 논하는 범위는 앞부분에서 정한 형사책임 연령과 적용 범위를 따른다.</a:t>
            </a:r>
          </a:p>
          <a:p>
            <a:r>
              <a:rPr lang="ko-KR" altLang="en-US" dirty="0"/>
              <a:t>자료 — Chein 외(2011): 또래 상황과 위험 선택.</a:t>
            </a:r>
          </a:p>
          <a:p>
            <a:endParaRPr lang="ko-KR"/>
          </a:p>
          <a:p>
            <a:r>
              <a:rPr lang="ko-KR" altLang="en-US" b="1" dirty="0"/>
              <a:t>→ 다음**  재사용·재범을 줄이는 방법 — 특별예방</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b="1" dirty="0"/>
              <a:t>말할 것</a:t>
            </a:r>
          </a:p>
          <a:p>
            <a:r>
              <a:rPr lang="ko-KR" altLang="en-US" dirty="0"/>
              <a:t>왼쪽 — 단약 보상과 부모 훈련처럼 사용행동을 바꾸는 구체적인 치료를 형사처벌보다 먼저 제공해야 한다.</a:t>
            </a:r>
          </a:p>
          <a:p>
            <a:r>
              <a:rPr lang="ko-KR" altLang="en-US" dirty="0"/>
              <a:t>오른쪽 — 치료의 효과만으로 치료를 더 우선해야 한다고 판단할 수는 없다. 이후 범죄를 줄이는 형사제재의 역할도 고려해야 한다.</a:t>
            </a:r>
          </a:p>
          <a:p>
            <a:r>
              <a:rPr lang="ko-KR" altLang="en-US" dirty="0"/>
              <a:t>정리 — 치료 중 사용이 줄었는지와 함께, 처우가 끝난 뒤에도 재사용·재범이 줄어드는지를 우선순위 판단에 포함해야 한다.</a:t>
            </a:r>
          </a:p>
          <a:p>
            <a:endParaRPr lang="ko-KR"/>
          </a:p>
          <a:p>
            <a:r>
              <a:rPr lang="ko-KR" altLang="en-US" b="1" dirty="0"/>
              <a:t>※ 메모 (화면 밖 편집 설명)</a:t>
            </a:r>
          </a:p>
          <a:p>
            <a:r>
              <a:rPr lang="ko-KR" altLang="en-US" dirty="0"/>
              <a:t>Stanger 연구는 치료 구성 간 비교다. 부모 훈련 하나의 효과나 치료 대 형사처벌의 우위로 바꾸지 않는다.</a:t>
            </a:r>
          </a:p>
          <a:p>
            <a:r>
              <a:rPr lang="ko-KR" altLang="en-US" dirty="0"/>
              <a:t>Hjalmarsson 연구는 마약사용 청소년만의 연구가 아니다.</a:t>
            </a:r>
          </a:p>
          <a:p>
            <a:r>
              <a:rPr lang="ko-KR" altLang="en-US" dirty="0"/>
              <a:t>JDTC 종합분석의 평균 약물사용 우위 미확인 결과는 앞의 효과 장에 유지하고, 이 쪽 각주에서 Tanner-Smith를 단독 나열하던 부분은 삭제했다.</a:t>
            </a:r>
          </a:p>
          <a:p>
            <a:r>
              <a:rPr lang="ko-KR" altLang="en-US" dirty="0"/>
              <a:t>자료 — Stanger 외(2009): 대마사용 청소년의 치료 구성 비교 · Hjalmarsson(2009): Juvenile Jails.</a:t>
            </a:r>
          </a:p>
          <a:p>
            <a:endParaRPr lang="ko-KR"/>
          </a:p>
          <a:p>
            <a:r>
              <a:rPr lang="ko-KR" altLang="en-US" b="1" dirty="0"/>
              <a:t>→ 다음**  다른 청소년의 사용과 일반예방</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b="1" dirty="0"/>
              <a:t>말할 것</a:t>
            </a:r>
          </a:p>
          <a:p>
            <a:r>
              <a:rPr lang="ko-KR" altLang="en-US" dirty="0"/>
              <a:t>왼쪽 — 처벌을 줄이면 사용이 늘 것이라는 우려만으로, 형사처벌보다 치료·재활을 우선하는 데 반대해서는 안 된다.</a:t>
            </a:r>
          </a:p>
          <a:p>
            <a:r>
              <a:rPr lang="ko-KR" altLang="en-US" dirty="0"/>
              <a:t>오른쪽 — 다른 청소년의 사용을 억제하려면 적발 시 형사처벌을 받을 수 있다는 점을 유지해야 하므로, 치료를 먼저 적용하는 데 신중해야 한다.</a:t>
            </a:r>
          </a:p>
          <a:p>
            <a:r>
              <a:rPr lang="ko-KR" altLang="en-US" dirty="0"/>
              <a:t>정리 — 일반예방에서는 처우받은 당사자의 재범과 별도로, 다른 청소년의 사용 시작이나 사용 빈도가 달라지는지를 살핀다.</a:t>
            </a:r>
          </a:p>
          <a:p>
            <a:endParaRPr lang="ko-KR"/>
          </a:p>
          <a:p>
            <a:r>
              <a:rPr lang="ko-KR" altLang="en-US" b="1" dirty="0"/>
              <a:t>※ 메모 (화면 밖 편집 설명)</a:t>
            </a:r>
          </a:p>
          <a:p>
            <a:r>
              <a:rPr lang="ko-KR" altLang="en-US" dirty="0"/>
              <a:t>“현재 자료로 확인되지 않았다”는 확인 범위의 한정이다. 한국 청소년에 관한 연구가 전혀 없다고 단정하는 표현으로 바꾸지 않는다.</a:t>
            </a:r>
          </a:p>
          <a:p>
            <a:r>
              <a:rPr lang="ko-KR" altLang="en-US" dirty="0"/>
              <a:t>일반예방의 예상 작동과 실제 확인된 결과를 구별하되, 두 입장이 동일한 치료 우선 논제에 답하도록 유지한다.</a:t>
            </a:r>
          </a:p>
          <a:p>
            <a:r>
              <a:rPr lang="ko-KR" altLang="en-US" dirty="0"/>
              <a:t>자료 — Stevens 외(2022): 단순 소지에 대한 형사처벌 대안 검토.</a:t>
            </a:r>
          </a:p>
          <a:p>
            <a:endParaRPr lang="ko-KR"/>
          </a:p>
          <a:p>
            <a:r>
              <a:rPr lang="ko-KR" altLang="en-US" b="1" dirty="0"/>
              <a:t>→ 다음**  학교생활·사회복귀와 자유의 제한</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b="1" dirty="0"/>
              <a:t>말할 것</a:t>
            </a:r>
          </a:p>
          <a:p>
            <a:r>
              <a:rPr lang="ko-KR" altLang="en-US" dirty="0"/>
              <a:t>왼쪽 — 치료 여건의 부족을 이유로 형사처벌을 앞세우기보다, 치료기관과 참여 지원을 늘려 치료·재활을 우선해야 한다.</a:t>
            </a:r>
          </a:p>
          <a:p>
            <a:r>
              <a:rPr lang="ko-KR" altLang="en-US" dirty="0"/>
              <a:t>오른쪽 — 필요한 치료를 실제로 제공하고 지속할 수 없다면 기대한 효과를 얻기 어려우므로, 치료를 형사처벌보다 우선하는 원칙을 채택하기 어렵다.</a:t>
            </a:r>
          </a:p>
          <a:p>
            <a:r>
              <a:rPr lang="ko-KR" altLang="en-US" dirty="0"/>
              <a:t>정리 — 치료 여건의 부족을 지원 확대의 이유로 볼지, 치료 우선 원칙의 실행 가능성을 제한하는 이유로 볼지에서 판단이 갈린다.</a:t>
            </a:r>
          </a:p>
          <a:p>
            <a:endParaRPr lang="ko-KR"/>
          </a:p>
          <a:p>
            <a:r>
              <a:rPr lang="ko-KR" altLang="en-US" b="1" dirty="0"/>
              <a:t>※ 메모 (화면 밖 편집 설명)</a:t>
            </a:r>
          </a:p>
          <a:p>
            <a:r>
              <a:rPr lang="ko-KR" altLang="en-US" dirty="0"/>
              <a:t>McCabe의 물질사용장애에는 알코올 등도 포함되며, 장기 경과는 치료와 처벌의 우열을 직접 보여주지 않는다.</a:t>
            </a:r>
          </a:p>
          <a:p>
            <a:r>
              <a:rPr lang="ko-KR" altLang="en-US" dirty="0"/>
              <a:t>RISKIT-CJS는 영국 청소년 프로그램이다.</a:t>
            </a:r>
          </a:p>
          <a:p>
            <a:r>
              <a:rPr lang="ko-KR" altLang="en-US" dirty="0"/>
              <a:t>국내 기관 집중은 전체 연령의 치료보호 실적이며, 보건복지부 제출자료 인용 보도를 따른다. 원 제출표 미확보 상태를 유지하고 새로운 직접 검증으로 표시하지 않는다.</a:t>
            </a:r>
          </a:p>
          <a:p>
            <a:r>
              <a:rPr lang="ko-KR" altLang="en-US" dirty="0"/>
              <a:t>이 자료들로 국내 청소년 전체의 치료율이나 치료 역량 부족의 규모를 산출하지 않는다.</a:t>
            </a:r>
          </a:p>
          <a:p>
            <a:r>
              <a:rPr lang="ko-KR" altLang="en-US" dirty="0"/>
              <a:t>자료 — McCabe 외(2022): 청소년기 증상과 성인기 물질사용장애 · Coulton 외(2023): RISKIT-CJS 최종보고서.</a:t>
            </a:r>
          </a:p>
          <a:p>
            <a:endParaRPr lang="ko-KR"/>
          </a:p>
          <a:p>
            <a:r>
              <a:rPr lang="ko-KR" altLang="en-US" b="1" dirty="0"/>
              <a:t>→ 다음**  치료 불참·반복 위반과 치료 우선의 한계</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b="1" dirty="0"/>
              <a:t>말할 것</a:t>
            </a:r>
          </a:p>
          <a:p>
            <a:r>
              <a:rPr lang="ko-KR" altLang="en-US" dirty="0"/>
              <a:t>왼쪽 — 학교와 일상생활을 유지하면서 치료받을 수 있는 방법을 우선해, 구금으로 학업과 진학 준비가 끊기는 일을 줄여야 한다.</a:t>
            </a:r>
          </a:p>
          <a:p>
            <a:r>
              <a:rPr lang="ko-KR" altLang="en-US" dirty="0"/>
              <a:t>오른쪽 — 형사처벌 안에서도 구금과 불이익을 줄일 수 있으므로, 학업·사회복귀의 부담만으로 치료를 우선해야 한다고 볼 수는 없다.</a:t>
            </a:r>
          </a:p>
          <a:p>
            <a:r>
              <a:rPr lang="ko-KR" altLang="en-US" dirty="0"/>
              <a:t>정리 — 형사처벌과 치료라는 명칭보다 실제 수용 여부, 의무의 내용·기간, 학업·사회복귀에 미치는 영향을 비교해야 한다.</a:t>
            </a:r>
          </a:p>
          <a:p>
            <a:endParaRPr lang="ko-KR"/>
          </a:p>
          <a:p>
            <a:r>
              <a:rPr lang="ko-KR" altLang="en-US" b="1" dirty="0"/>
              <a:t>※ 메모 (화면 밖 편집 설명)</a:t>
            </a:r>
          </a:p>
          <a:p>
            <a:r>
              <a:rPr lang="ko-KR" altLang="en-US" dirty="0"/>
              <a:t>집행유예에 병과되는 수강명령은 “재범예방교육”으로 표기한다.</a:t>
            </a:r>
          </a:p>
          <a:p>
            <a:r>
              <a:rPr lang="ko-KR" altLang="en-US" dirty="0"/>
              <a:t>소년 특례의 존재가 모든 불이익의 해소를 입증하지는 않는다.</a:t>
            </a:r>
          </a:p>
          <a:p>
            <a:r>
              <a:rPr lang="ko-KR" altLang="en-US" dirty="0"/>
              <a:t>통제망 확대 예시는 한 줄 보조 설명으로 두고, 기존 하단 결론을 대체하는 독립 쟁점으로 늘리지 않는다.</a:t>
            </a:r>
          </a:p>
          <a:p>
            <a:r>
              <a:rPr lang="ko-KR" altLang="en-US" dirty="0"/>
              <a:t>자료 — Aizer와 Doyle(2015): 소년 구금과 교육 및 성인기 수감 · 마약류 관리에 관한 법률 제40조의2 · 소년법 제60조(형의 감경) · 제63조(성인과의 분리 수용) · 제67조(자격 특례).</a:t>
            </a:r>
          </a:p>
          <a:p>
            <a:endParaRPr lang="ko-KR"/>
          </a:p>
          <a:p>
            <a:r>
              <a:rPr lang="ko-KR" altLang="en-US" b="1" dirty="0"/>
              <a:t>→ 다음**  치료를 실제로 제공하고 지속할 여건</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b="1" dirty="0"/>
              <a:t>말할 것</a:t>
            </a:r>
          </a:p>
          <a:p>
            <a:r>
              <a:rPr lang="ko-KR" altLang="en-US" dirty="0"/>
              <a:t>왼쪽 — 불참이나 위반이 생길 수 있다는 이유만으로 치료 우선에 반대해서는 안 된다. 치료를 우선하되 재참여 지원과 중대한 위반에 대한 대응을 마련해야 한다.</a:t>
            </a:r>
          </a:p>
          <a:p>
            <a:r>
              <a:rPr lang="ko-KR" altLang="en-US" dirty="0"/>
              <a:t>오른쪽 — 치료 참여가 계속 거부되거나 중대한 위반이 반복될 때 이를 바로잡을 수단이 부족하다면, 형사처벌보다 치료를 우선하는 원칙을 채택하기 어렵다.</a:t>
            </a:r>
          </a:p>
          <a:p>
            <a:r>
              <a:rPr lang="ko-KR" altLang="en-US" dirty="0"/>
              <a:t>정리 — 치료 우선의 타당성은 재참여를 돕는 지원뿐 아니라, 중대한 반복 위반에 실제로 사용할 수 있는 적법한 대응에도 달려 있다.</a:t>
            </a:r>
          </a:p>
          <a:p>
            <a:endParaRPr lang="ko-KR"/>
          </a:p>
          <a:p>
            <a:r>
              <a:rPr lang="ko-KR" altLang="en-US" b="1" dirty="0"/>
              <a:t>※ 메모 (화면 밖 편집 설명)</a:t>
            </a:r>
          </a:p>
          <a:p>
            <a:r>
              <a:rPr lang="ko-KR" altLang="en-US" dirty="0"/>
              <a:t>국내 제49조의 요건은 준수사항 위반의 중대성과 보호관찰을 계속하기 부적절하다는 판단이다. 반복 횟수만으로 자동 변경되지 않는다.</a:t>
            </a:r>
          </a:p>
          <a:p>
            <a:r>
              <a:rPr lang="ko-KR" altLang="en-US" dirty="0"/>
              <a:t>T.N. 사건은 특정 시설수용 제재가 취소된 사례이며, 모든 제재가 불가능하거나 치료가 재범을 늘렸다는 증거는 아니다.</a:t>
            </a:r>
          </a:p>
          <a:p>
            <a:r>
              <a:rPr lang="ko-KR" altLang="en-US" dirty="0"/>
              <a:t>재사용·새 범죄·참여 의무 위반도 동일한 사건으로 묶지 않는다.</a:t>
            </a:r>
          </a:p>
          <a:p>
            <a:r>
              <a:rPr lang="ko-KR" altLang="en-US" dirty="0"/>
              <a:t>자료 — 보호관찰 등에 관한 법률 제49조 · 소년법 제37조(처분의 변경) · T.N. v. Portesy(2005) 판결문.</a:t>
            </a:r>
          </a:p>
          <a:p>
            <a:endParaRPr lang="ko-KR"/>
          </a:p>
          <a:p>
            <a:r>
              <a:rPr lang="ko-KR" altLang="en-US" b="1" dirty="0"/>
              <a:t>→ 다음**  지정토론</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77612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1097280" y="1874520"/>
            <a:ext cx="10058400" cy="384048"/>
          </a:xfrm>
          <a:prstGeom prst="rect">
            <a:avLst/>
          </a:prstGeom>
          <a:noFill/>
          <a:ln/>
        </p:spPr>
        <p:txBody>
          <a:bodyPr wrap="square" lIns="0" tIns="0" rIns="0" bIns="0" rtlCol="0" anchor="ctr"/>
          <a:lstStyle/>
          <a:p>
            <a:pPr marL="0" indent="0">
              <a:buNone/>
            </a:pPr>
            <a:r>
              <a:rPr lang="en-US" sz="1600" kern="0" spc="200" dirty="0">
                <a:solidFill>
                  <a:srgbClr val="AFBBD9"/>
                </a:solidFill>
                <a:latin typeface="Pretendard" pitchFamily="34" charset="0"/>
                <a:ea typeface="Pretendard" pitchFamily="34" charset="-122"/>
                <a:cs typeface="Pretendard" pitchFamily="34" charset="-120"/>
              </a:rPr>
              <a:t>범죄 · 공공안전세미나 Ⅱ</a:t>
            </a:r>
            <a:endParaRPr lang="en-US" sz="1600" dirty="0"/>
          </a:p>
        </p:txBody>
      </p:sp>
      <p:sp>
        <p:nvSpPr>
          <p:cNvPr id="3" name="Text 1"/>
          <p:cNvSpPr/>
          <p:nvPr/>
        </p:nvSpPr>
        <p:spPr>
          <a:xfrm>
            <a:off x="1097280" y="2377440"/>
            <a:ext cx="10241280" cy="1463040"/>
          </a:xfrm>
          <a:prstGeom prst="rect">
            <a:avLst/>
          </a:prstGeom>
          <a:noFill/>
          <a:ln/>
        </p:spPr>
        <p:txBody>
          <a:bodyPr wrap="square" lIns="0" tIns="0" rIns="0" bIns="0" rtlCol="0" anchor="ctr"/>
          <a:lstStyle/>
          <a:p>
            <a:pPr marL="0" indent="0">
              <a:lnSpc>
                <a:spcPts val="4600"/>
              </a:lnSpc>
              <a:buNone/>
            </a:pPr>
            <a:r>
              <a:rPr lang="en-US" sz="3100" b="1" dirty="0">
                <a:solidFill>
                  <a:srgbClr val="FFFFFF"/>
                </a:solidFill>
                <a:latin typeface="Pretendard" pitchFamily="34" charset="0"/>
                <a:ea typeface="Pretendard" pitchFamily="34" charset="-122"/>
                <a:cs typeface="Pretendard" pitchFamily="34" charset="-120"/>
              </a:rPr>
              <a:t>마약류를 투약·사용한 청소년에게는</a:t>
            </a:r>
            <a:endParaRPr lang="en-US" sz="3100" dirty="0"/>
          </a:p>
          <a:p>
            <a:pPr marL="0" indent="0">
              <a:lnSpc>
                <a:spcPts val="4600"/>
              </a:lnSpc>
              <a:buNone/>
            </a:pPr>
            <a:r>
              <a:rPr lang="en-US" sz="3100" b="1" dirty="0">
                <a:solidFill>
                  <a:srgbClr val="FFFFFF"/>
                </a:solidFill>
                <a:latin typeface="Pretendard" pitchFamily="34" charset="0"/>
                <a:ea typeface="Pretendard" pitchFamily="34" charset="-122"/>
                <a:cs typeface="Pretendard" pitchFamily="34" charset="-120"/>
              </a:rPr>
              <a:t>형사처벌보다 치료·재활을 우선하여야 하는가?</a:t>
            </a:r>
            <a:endParaRPr lang="en-US" sz="3100" dirty="0"/>
          </a:p>
        </p:txBody>
      </p:sp>
      <p:sp>
        <p:nvSpPr>
          <p:cNvPr id="4" name="Shape 2"/>
          <p:cNvSpPr/>
          <p:nvPr/>
        </p:nvSpPr>
        <p:spPr>
          <a:xfrm>
            <a:off x="1097280" y="4096512"/>
            <a:ext cx="1463040" cy="41148"/>
          </a:xfrm>
          <a:prstGeom prst="rect">
            <a:avLst/>
          </a:prstGeom>
          <a:solidFill>
            <a:srgbClr val="C2A648"/>
          </a:solidFill>
          <a:ln w="12700">
            <a:solidFill>
              <a:srgbClr val="C2A648"/>
            </a:solidFill>
            <a:prstDash val="solid"/>
          </a:ln>
        </p:spPr>
        <p:txBody>
          <a:bodyPr/>
          <a:lstStyle/>
          <a:p>
            <a:endParaRPr lang="ko-KR" altLang="en-US"/>
          </a:p>
        </p:txBody>
      </p:sp>
      <p:sp>
        <p:nvSpPr>
          <p:cNvPr id="5" name="Text 3"/>
          <p:cNvSpPr/>
          <p:nvPr/>
        </p:nvSpPr>
        <p:spPr>
          <a:xfrm>
            <a:off x="1097280" y="4389120"/>
            <a:ext cx="10058400" cy="365760"/>
          </a:xfrm>
          <a:prstGeom prst="rect">
            <a:avLst/>
          </a:prstGeom>
          <a:noFill/>
          <a:ln/>
        </p:spPr>
        <p:txBody>
          <a:bodyPr wrap="square" lIns="0" tIns="0" rIns="0" bIns="0" rtlCol="0" anchor="ctr"/>
          <a:lstStyle/>
          <a:p>
            <a:pPr marL="0" indent="0">
              <a:buNone/>
            </a:pPr>
            <a:r>
              <a:rPr lang="en-US" sz="1400" dirty="0" err="1">
                <a:solidFill>
                  <a:srgbClr val="C9D2E6"/>
                </a:solidFill>
                <a:latin typeface="Pretendard" pitchFamily="34" charset="0"/>
                <a:ea typeface="Pretendard" pitchFamily="34" charset="-122"/>
                <a:cs typeface="Pretendard" pitchFamily="34" charset="-120"/>
              </a:rPr>
              <a:t>지정토론</a:t>
            </a:r>
            <a:endParaRPr lang="en-US" sz="1400" dirty="0"/>
          </a:p>
        </p:txBody>
      </p:sp>
      <p:sp>
        <p:nvSpPr>
          <p:cNvPr id="6" name="Text 4"/>
          <p:cNvSpPr/>
          <p:nvPr/>
        </p:nvSpPr>
        <p:spPr>
          <a:xfrm>
            <a:off x="1097280" y="5760720"/>
            <a:ext cx="10058400" cy="320040"/>
          </a:xfrm>
          <a:prstGeom prst="rect">
            <a:avLst/>
          </a:prstGeom>
          <a:noFill/>
          <a:ln/>
        </p:spPr>
        <p:txBody>
          <a:bodyPr wrap="square" lIns="0" tIns="0" rIns="0" bIns="0" rtlCol="0" anchor="ctr"/>
          <a:lstStyle/>
          <a:p>
            <a:pPr marL="0" indent="0">
              <a:buNone/>
            </a:pPr>
            <a:r>
              <a:rPr lang="en-US" sz="1200" dirty="0">
                <a:solidFill>
                  <a:srgbClr val="8A97BC"/>
                </a:solidFill>
                <a:latin typeface="Pretendard" pitchFamily="34" charset="0"/>
                <a:ea typeface="Pretendard" pitchFamily="34" charset="-122"/>
                <a:cs typeface="Pretendard" pitchFamily="34" charset="-120"/>
              </a:rPr>
              <a:t>2026학년도 2학기  ·  4주차</a:t>
            </a:r>
            <a:endParaRPr lang="en-US" sz="1200" dirty="0"/>
          </a:p>
        </p:txBody>
      </p:sp>
      <p:sp>
        <p:nvSpPr>
          <p:cNvPr id="7" name="TextBox 6">
            <a:extLst>
              <a:ext uri="{FF2B5EF4-FFF2-40B4-BE49-F238E27FC236}">
                <a16:creationId xmlns:a16="http://schemas.microsoft.com/office/drawing/2014/main" id="{6D8BE118-53EC-7D80-3CF5-3057B82C47D2}"/>
              </a:ext>
            </a:extLst>
          </p:cNvPr>
          <p:cNvSpPr txBox="1"/>
          <p:nvPr/>
        </p:nvSpPr>
        <p:spPr>
          <a:xfrm>
            <a:off x="2819400" y="2540000"/>
            <a:ext cx="184731" cy="369332"/>
          </a:xfrm>
          <a:prstGeom prst="rect">
            <a:avLst/>
          </a:prstGeom>
          <a:noFill/>
        </p:spPr>
        <p:txBody>
          <a:bodyPr wrap="none" rtlCol="0">
            <a:spAutoFit/>
          </a:bodyPr>
          <a:lstStyle/>
          <a:p>
            <a:endParaRPr lang="ko-KR"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WEEK 4 · 지정토론(1)</a:t>
            </a:r>
            <a:endParaRPr lang="en-US" sz="1250" dirty="0"/>
          </a:p>
        </p:txBody>
      </p:sp>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논제의 범위 — 청소년의 위법한 투약·사용</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pPr marL="0" indent="0">
              <a:buNone/>
            </a:pPr>
            <a:r>
              <a:rPr lang="en-US" sz="2700" b="1" dirty="0">
                <a:solidFill>
                  <a:srgbClr val="1E2761"/>
                </a:solidFill>
                <a:latin typeface="Pretendard" pitchFamily="34" charset="0"/>
                <a:ea typeface="Pretendard" pitchFamily="34" charset="-122"/>
                <a:cs typeface="Pretendard" pitchFamily="34" charset="-120"/>
              </a:rPr>
              <a:t>오늘 볼 것</a:t>
            </a:r>
            <a:endParaRPr lang="en-US" sz="2700" dirty="0"/>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Text 4"/>
          <p:cNvSpPr/>
          <p:nvPr/>
        </p:nvSpPr>
        <p:spPr>
          <a:xfrm>
            <a:off x="731520" y="1393820"/>
            <a:ext cx="4206240" cy="234086"/>
          </a:xfrm>
          <a:prstGeom prst="rect">
            <a:avLst/>
          </a:prstGeom>
          <a:noFill/>
          <a:ln/>
        </p:spPr>
        <p:txBody>
          <a:bodyPr wrap="square" lIns="0" tIns="0" rIns="0" bIns="0" rtlCol="0" anchor="ctr"/>
          <a:lstStyle/>
          <a:p>
            <a:pPr marL="0" indent="0">
              <a:buNone/>
            </a:pPr>
            <a:r>
              <a:rPr lang="en-US" sz="1350" b="1" dirty="0">
                <a:solidFill>
                  <a:srgbClr val="1E2761"/>
                </a:solidFill>
                <a:latin typeface="Pretendard" pitchFamily="34" charset="0"/>
                <a:ea typeface="Pretendard" pitchFamily="34" charset="-122"/>
                <a:cs typeface="Pretendard" pitchFamily="34" charset="-120"/>
              </a:rPr>
              <a:t>1 청소년 마약류 사용과 현행 대응</a:t>
            </a:r>
            <a:endParaRPr lang="en-US" sz="1350" dirty="0"/>
          </a:p>
        </p:txBody>
      </p:sp>
      <p:sp>
        <p:nvSpPr>
          <p:cNvPr id="7" name="Text 5"/>
          <p:cNvSpPr/>
          <p:nvPr/>
        </p:nvSpPr>
        <p:spPr>
          <a:xfrm>
            <a:off x="5257800" y="1393820"/>
            <a:ext cx="6172200" cy="234086"/>
          </a:xfrm>
          <a:prstGeom prst="rect">
            <a:avLst/>
          </a:prstGeom>
          <a:noFill/>
          <a:ln/>
        </p:spPr>
        <p:txBody>
          <a:bodyPr wrap="square" lIns="0" tIns="0" rIns="0" bIns="0" rtlCol="0" anchor="ctr"/>
          <a:lstStyle/>
          <a:p>
            <a:pPr marL="0" indent="0">
              <a:lnSpc>
                <a:spcPts val="2000"/>
              </a:lnSpc>
              <a:buNone/>
            </a:pPr>
            <a:r>
              <a:rPr lang="en-US" sz="1250" dirty="0">
                <a:solidFill>
                  <a:srgbClr val="222633"/>
                </a:solidFill>
                <a:latin typeface="Pretendard" pitchFamily="34" charset="0"/>
                <a:ea typeface="Pretendard" pitchFamily="34" charset="-122"/>
                <a:cs typeface="Pretendard" pitchFamily="34" charset="-120"/>
              </a:rPr>
              <a:t>논제의 범위 · 연령과 처리 경로 · 치료와 재활 제도</a:t>
            </a:r>
            <a:endParaRPr lang="en-US" sz="1250" dirty="0"/>
          </a:p>
        </p:txBody>
      </p:sp>
      <p:sp>
        <p:nvSpPr>
          <p:cNvPr id="8" name="Text 6"/>
          <p:cNvSpPr/>
          <p:nvPr/>
        </p:nvSpPr>
        <p:spPr>
          <a:xfrm>
            <a:off x="731520" y="1897014"/>
            <a:ext cx="10698480" cy="0"/>
          </a:xfrm>
          <a:prstGeom prst="line">
            <a:avLst/>
          </a:prstGeom>
          <a:noFill/>
          <a:ln w="12700">
            <a:solidFill>
              <a:srgbClr val="DCE0E8"/>
            </a:solidFill>
            <a:prstDash val="solid"/>
          </a:ln>
        </p:spPr>
        <p:txBody>
          <a:bodyPr/>
          <a:lstStyle/>
          <a:p>
            <a:endParaRPr lang="ko-KR" altLang="en-US"/>
          </a:p>
        </p:txBody>
      </p:sp>
      <p:sp>
        <p:nvSpPr>
          <p:cNvPr id="9" name="Text 7"/>
          <p:cNvSpPr/>
          <p:nvPr/>
        </p:nvSpPr>
        <p:spPr>
          <a:xfrm>
            <a:off x="731520" y="2102114"/>
            <a:ext cx="4206240" cy="234086"/>
          </a:xfrm>
          <a:prstGeom prst="rect">
            <a:avLst/>
          </a:prstGeom>
          <a:noFill/>
          <a:ln/>
        </p:spPr>
        <p:txBody>
          <a:bodyPr wrap="square" lIns="0" tIns="0" rIns="0" bIns="0" rtlCol="0" anchor="ctr"/>
          <a:lstStyle/>
          <a:p>
            <a:pPr marL="0" indent="0">
              <a:buNone/>
            </a:pPr>
            <a:r>
              <a:rPr lang="en-US" sz="1350" b="1" dirty="0">
                <a:solidFill>
                  <a:srgbClr val="1E2761"/>
                </a:solidFill>
                <a:latin typeface="Pretendard" pitchFamily="34" charset="0"/>
                <a:ea typeface="Pretendard" pitchFamily="34" charset="-122"/>
                <a:cs typeface="Pretendard" pitchFamily="34" charset="-120"/>
              </a:rPr>
              <a:t>2 청소년 마약류의 실태와 사용 맥락</a:t>
            </a:r>
            <a:endParaRPr lang="en-US" sz="1350" dirty="0"/>
          </a:p>
        </p:txBody>
      </p:sp>
      <p:sp>
        <p:nvSpPr>
          <p:cNvPr id="10" name="Text 8"/>
          <p:cNvSpPr/>
          <p:nvPr/>
        </p:nvSpPr>
        <p:spPr>
          <a:xfrm>
            <a:off x="5257800" y="2102114"/>
            <a:ext cx="6172200" cy="234086"/>
          </a:xfrm>
          <a:prstGeom prst="rect">
            <a:avLst/>
          </a:prstGeom>
          <a:noFill/>
          <a:ln/>
        </p:spPr>
        <p:txBody>
          <a:bodyPr wrap="square" lIns="0" tIns="0" rIns="0" bIns="0" rtlCol="0" anchor="ctr"/>
          <a:lstStyle/>
          <a:p>
            <a:pPr marL="0" indent="0">
              <a:lnSpc>
                <a:spcPts val="2000"/>
              </a:lnSpc>
              <a:buNone/>
            </a:pPr>
            <a:r>
              <a:rPr lang="en-US" sz="1250" dirty="0">
                <a:solidFill>
                  <a:srgbClr val="222633"/>
                </a:solidFill>
                <a:latin typeface="Pretendard" pitchFamily="34" charset="0"/>
                <a:ea typeface="Pretendard" pitchFamily="34" charset="-122"/>
                <a:cs typeface="Pretendard" pitchFamily="34" charset="-120"/>
              </a:rPr>
              <a:t>단속 추이 · 주변 관계 · 사용과 판매의 중첩 · 도움 요청</a:t>
            </a:r>
            <a:endParaRPr lang="en-US" sz="1250" dirty="0"/>
          </a:p>
        </p:txBody>
      </p:sp>
      <p:sp>
        <p:nvSpPr>
          <p:cNvPr id="11" name="Text 9"/>
          <p:cNvSpPr/>
          <p:nvPr/>
        </p:nvSpPr>
        <p:spPr>
          <a:xfrm>
            <a:off x="731520" y="2605308"/>
            <a:ext cx="10698480" cy="0"/>
          </a:xfrm>
          <a:prstGeom prst="line">
            <a:avLst/>
          </a:prstGeom>
          <a:noFill/>
          <a:ln w="12700">
            <a:solidFill>
              <a:srgbClr val="DCE0E8"/>
            </a:solidFill>
            <a:prstDash val="solid"/>
          </a:ln>
        </p:spPr>
        <p:txBody>
          <a:bodyPr/>
          <a:lstStyle/>
          <a:p>
            <a:endParaRPr lang="ko-KR" altLang="en-US"/>
          </a:p>
        </p:txBody>
      </p:sp>
      <p:sp>
        <p:nvSpPr>
          <p:cNvPr id="12" name="Text 10"/>
          <p:cNvSpPr/>
          <p:nvPr/>
        </p:nvSpPr>
        <p:spPr>
          <a:xfrm>
            <a:off x="731520" y="2810408"/>
            <a:ext cx="4206240" cy="234086"/>
          </a:xfrm>
          <a:prstGeom prst="rect">
            <a:avLst/>
          </a:prstGeom>
          <a:noFill/>
          <a:ln/>
        </p:spPr>
        <p:txBody>
          <a:bodyPr wrap="square" lIns="0" tIns="0" rIns="0" bIns="0" rtlCol="0" anchor="ctr"/>
          <a:lstStyle/>
          <a:p>
            <a:pPr marL="0" indent="0">
              <a:buNone/>
            </a:pPr>
            <a:r>
              <a:rPr lang="en-US" sz="1350" b="1" dirty="0">
                <a:solidFill>
                  <a:srgbClr val="1E2761"/>
                </a:solidFill>
                <a:latin typeface="Pretendard" pitchFamily="34" charset="0"/>
                <a:ea typeface="Pretendard" pitchFamily="34" charset="-122"/>
                <a:cs typeface="Pretendard" pitchFamily="34" charset="-120"/>
              </a:rPr>
              <a:t>3 형사처벌과 보호처분의 운영</a:t>
            </a:r>
            <a:endParaRPr lang="en-US" sz="1350" dirty="0"/>
          </a:p>
        </p:txBody>
      </p:sp>
      <p:sp>
        <p:nvSpPr>
          <p:cNvPr id="13" name="Text 11"/>
          <p:cNvSpPr/>
          <p:nvPr/>
        </p:nvSpPr>
        <p:spPr>
          <a:xfrm>
            <a:off x="5257800" y="2810408"/>
            <a:ext cx="6172200" cy="234086"/>
          </a:xfrm>
          <a:prstGeom prst="rect">
            <a:avLst/>
          </a:prstGeom>
          <a:noFill/>
          <a:ln/>
        </p:spPr>
        <p:txBody>
          <a:bodyPr wrap="square" lIns="0" tIns="0" rIns="0" bIns="0" rtlCol="0" anchor="ctr"/>
          <a:lstStyle/>
          <a:p>
            <a:pPr marL="0" indent="0">
              <a:lnSpc>
                <a:spcPts val="2000"/>
              </a:lnSpc>
              <a:buNone/>
            </a:pPr>
            <a:r>
              <a:rPr lang="en-US" sz="1250" dirty="0">
                <a:solidFill>
                  <a:srgbClr val="222633"/>
                </a:solidFill>
                <a:latin typeface="Pretendard" pitchFamily="34" charset="0"/>
                <a:ea typeface="Pretendard" pitchFamily="34" charset="-122"/>
                <a:cs typeface="Pretendard" pitchFamily="34" charset="-120"/>
              </a:rPr>
              <a:t>국내외 처리 통계 · 소년의 형 선고와 집행 특례</a:t>
            </a:r>
            <a:endParaRPr lang="en-US" sz="1250" dirty="0"/>
          </a:p>
        </p:txBody>
      </p:sp>
      <p:sp>
        <p:nvSpPr>
          <p:cNvPr id="14" name="Text 12"/>
          <p:cNvSpPr/>
          <p:nvPr/>
        </p:nvSpPr>
        <p:spPr>
          <a:xfrm>
            <a:off x="731520" y="3313603"/>
            <a:ext cx="10698480" cy="0"/>
          </a:xfrm>
          <a:prstGeom prst="line">
            <a:avLst/>
          </a:prstGeom>
          <a:noFill/>
          <a:ln w="12700">
            <a:solidFill>
              <a:srgbClr val="DCE0E8"/>
            </a:solidFill>
            <a:prstDash val="solid"/>
          </a:ln>
        </p:spPr>
        <p:txBody>
          <a:bodyPr/>
          <a:lstStyle/>
          <a:p>
            <a:endParaRPr lang="ko-KR" altLang="en-US"/>
          </a:p>
        </p:txBody>
      </p:sp>
      <p:sp>
        <p:nvSpPr>
          <p:cNvPr id="15" name="Text 13"/>
          <p:cNvSpPr/>
          <p:nvPr/>
        </p:nvSpPr>
        <p:spPr>
          <a:xfrm>
            <a:off x="731520" y="3518703"/>
            <a:ext cx="4206240" cy="234086"/>
          </a:xfrm>
          <a:prstGeom prst="rect">
            <a:avLst/>
          </a:prstGeom>
          <a:noFill/>
          <a:ln/>
        </p:spPr>
        <p:txBody>
          <a:bodyPr wrap="square" lIns="0" tIns="0" rIns="0" bIns="0" rtlCol="0" anchor="ctr"/>
          <a:lstStyle/>
          <a:p>
            <a:pPr marL="0" indent="0">
              <a:buNone/>
            </a:pPr>
            <a:r>
              <a:rPr lang="en-US" sz="1350" b="1" dirty="0">
                <a:solidFill>
                  <a:srgbClr val="1E2761"/>
                </a:solidFill>
                <a:latin typeface="Pretendard" pitchFamily="34" charset="0"/>
                <a:ea typeface="Pretendard" pitchFamily="34" charset="-122"/>
                <a:cs typeface="Pretendard" pitchFamily="34" charset="-120"/>
              </a:rPr>
              <a:t>4 청소년의 특성과 처우</a:t>
            </a:r>
            <a:endParaRPr lang="en-US" sz="1350" dirty="0"/>
          </a:p>
        </p:txBody>
      </p:sp>
      <p:sp>
        <p:nvSpPr>
          <p:cNvPr id="16" name="Text 14"/>
          <p:cNvSpPr/>
          <p:nvPr/>
        </p:nvSpPr>
        <p:spPr>
          <a:xfrm>
            <a:off x="5257800" y="3518703"/>
            <a:ext cx="6172200" cy="234086"/>
          </a:xfrm>
          <a:prstGeom prst="rect">
            <a:avLst/>
          </a:prstGeom>
          <a:noFill/>
          <a:ln/>
        </p:spPr>
        <p:txBody>
          <a:bodyPr wrap="square" lIns="0" tIns="0" rIns="0" bIns="0" rtlCol="0" anchor="ctr"/>
          <a:lstStyle/>
          <a:p>
            <a:pPr marL="0" indent="0">
              <a:lnSpc>
                <a:spcPts val="2000"/>
              </a:lnSpc>
              <a:buNone/>
            </a:pPr>
            <a:r>
              <a:rPr lang="en-US" sz="1250" dirty="0">
                <a:solidFill>
                  <a:srgbClr val="222633"/>
                </a:solidFill>
                <a:latin typeface="Pretendard" pitchFamily="34" charset="0"/>
                <a:ea typeface="Pretendard" pitchFamily="34" charset="-122"/>
                <a:cs typeface="Pretendard" pitchFamily="34" charset="-120"/>
              </a:rPr>
              <a:t>발달 · 또래와 가족 · 장기 경과 · 치료활동</a:t>
            </a:r>
            <a:endParaRPr lang="en-US" sz="1250" dirty="0"/>
          </a:p>
        </p:txBody>
      </p:sp>
      <p:sp>
        <p:nvSpPr>
          <p:cNvPr id="17" name="Text 15"/>
          <p:cNvSpPr/>
          <p:nvPr/>
        </p:nvSpPr>
        <p:spPr>
          <a:xfrm>
            <a:off x="731520" y="4021897"/>
            <a:ext cx="10698480" cy="0"/>
          </a:xfrm>
          <a:prstGeom prst="line">
            <a:avLst/>
          </a:prstGeom>
          <a:noFill/>
          <a:ln w="12700">
            <a:solidFill>
              <a:srgbClr val="DCE0E8"/>
            </a:solidFill>
            <a:prstDash val="solid"/>
          </a:ln>
        </p:spPr>
        <p:txBody>
          <a:bodyPr/>
          <a:lstStyle/>
          <a:p>
            <a:endParaRPr lang="ko-KR" altLang="en-US"/>
          </a:p>
        </p:txBody>
      </p:sp>
      <p:sp>
        <p:nvSpPr>
          <p:cNvPr id="18" name="Text 16"/>
          <p:cNvSpPr/>
          <p:nvPr/>
        </p:nvSpPr>
        <p:spPr>
          <a:xfrm>
            <a:off x="731520" y="4226997"/>
            <a:ext cx="4206240" cy="234086"/>
          </a:xfrm>
          <a:prstGeom prst="rect">
            <a:avLst/>
          </a:prstGeom>
          <a:noFill/>
          <a:ln/>
        </p:spPr>
        <p:txBody>
          <a:bodyPr wrap="square" lIns="0" tIns="0" rIns="0" bIns="0" rtlCol="0" anchor="ctr"/>
          <a:lstStyle/>
          <a:p>
            <a:pPr marL="0" indent="0">
              <a:buNone/>
            </a:pPr>
            <a:r>
              <a:rPr lang="en-US" sz="1350" b="1" dirty="0">
                <a:solidFill>
                  <a:srgbClr val="1E2761"/>
                </a:solidFill>
                <a:latin typeface="Pretendard" pitchFamily="34" charset="0"/>
                <a:ea typeface="Pretendard" pitchFamily="34" charset="-122"/>
                <a:cs typeface="Pretendard" pitchFamily="34" charset="-120"/>
              </a:rPr>
              <a:t>5 치료·재활 우선의 조건과 한계</a:t>
            </a:r>
            <a:endParaRPr lang="en-US" sz="1350" dirty="0"/>
          </a:p>
        </p:txBody>
      </p:sp>
      <p:sp>
        <p:nvSpPr>
          <p:cNvPr id="19" name="Text 17"/>
          <p:cNvSpPr/>
          <p:nvPr/>
        </p:nvSpPr>
        <p:spPr>
          <a:xfrm>
            <a:off x="5257800" y="4226997"/>
            <a:ext cx="6172200" cy="234086"/>
          </a:xfrm>
          <a:prstGeom prst="rect">
            <a:avLst/>
          </a:prstGeom>
          <a:noFill/>
          <a:ln/>
        </p:spPr>
        <p:txBody>
          <a:bodyPr wrap="square" lIns="0" tIns="0" rIns="0" bIns="0" rtlCol="0" anchor="ctr"/>
          <a:lstStyle/>
          <a:p>
            <a:pPr marL="0" indent="0">
              <a:lnSpc>
                <a:spcPts val="2000"/>
              </a:lnSpc>
              <a:buNone/>
            </a:pPr>
            <a:r>
              <a:rPr lang="en-US" sz="1250" dirty="0">
                <a:solidFill>
                  <a:srgbClr val="222633"/>
                </a:solidFill>
                <a:latin typeface="Pretendard" pitchFamily="34" charset="0"/>
                <a:ea typeface="Pretendard" pitchFamily="34" charset="-122"/>
                <a:cs typeface="Pretendard" pitchFamily="34" charset="-120"/>
              </a:rPr>
              <a:t>대상 선정 · 의무 위반 · 프로그램 · 치료 여건과 지속 지원</a:t>
            </a:r>
            <a:endParaRPr lang="en-US" sz="1250" dirty="0"/>
          </a:p>
        </p:txBody>
      </p:sp>
      <p:sp>
        <p:nvSpPr>
          <p:cNvPr id="20" name="Text 18"/>
          <p:cNvSpPr/>
          <p:nvPr/>
        </p:nvSpPr>
        <p:spPr>
          <a:xfrm>
            <a:off x="731520" y="4730191"/>
            <a:ext cx="10698480" cy="0"/>
          </a:xfrm>
          <a:prstGeom prst="line">
            <a:avLst/>
          </a:prstGeom>
          <a:noFill/>
          <a:ln w="12700">
            <a:solidFill>
              <a:srgbClr val="DCE0E8"/>
            </a:solidFill>
            <a:prstDash val="solid"/>
          </a:ln>
        </p:spPr>
        <p:txBody>
          <a:bodyPr/>
          <a:lstStyle/>
          <a:p>
            <a:endParaRPr lang="ko-KR" altLang="en-US"/>
          </a:p>
        </p:txBody>
      </p:sp>
      <p:sp>
        <p:nvSpPr>
          <p:cNvPr id="21" name="Text 19"/>
          <p:cNvSpPr/>
          <p:nvPr/>
        </p:nvSpPr>
        <p:spPr>
          <a:xfrm>
            <a:off x="731520" y="4935291"/>
            <a:ext cx="4206240" cy="234086"/>
          </a:xfrm>
          <a:prstGeom prst="rect">
            <a:avLst/>
          </a:prstGeom>
          <a:noFill/>
          <a:ln/>
        </p:spPr>
        <p:txBody>
          <a:bodyPr wrap="square" lIns="0" tIns="0" rIns="0" bIns="0" rtlCol="0" anchor="ctr"/>
          <a:lstStyle/>
          <a:p>
            <a:pPr marL="0" indent="0">
              <a:buNone/>
            </a:pPr>
            <a:r>
              <a:rPr lang="en-US" sz="1350" b="1" dirty="0">
                <a:solidFill>
                  <a:srgbClr val="1E2761"/>
                </a:solidFill>
                <a:latin typeface="Pretendard" pitchFamily="34" charset="0"/>
                <a:ea typeface="Pretendard" pitchFamily="34" charset="-122"/>
                <a:cs typeface="Pretendard" pitchFamily="34" charset="-120"/>
              </a:rPr>
              <a:t>6 형사처벌과 치료·재활의 효과</a:t>
            </a:r>
            <a:endParaRPr lang="en-US" sz="1350" dirty="0"/>
          </a:p>
        </p:txBody>
      </p:sp>
      <p:sp>
        <p:nvSpPr>
          <p:cNvPr id="22" name="Text 20"/>
          <p:cNvSpPr/>
          <p:nvPr/>
        </p:nvSpPr>
        <p:spPr>
          <a:xfrm>
            <a:off x="5257800" y="4935291"/>
            <a:ext cx="6172200" cy="234086"/>
          </a:xfrm>
          <a:prstGeom prst="rect">
            <a:avLst/>
          </a:prstGeom>
          <a:noFill/>
          <a:ln/>
        </p:spPr>
        <p:txBody>
          <a:bodyPr wrap="square" lIns="0" tIns="0" rIns="0" bIns="0" rtlCol="0" anchor="ctr"/>
          <a:lstStyle/>
          <a:p>
            <a:pPr marL="0" indent="0">
              <a:lnSpc>
                <a:spcPts val="2000"/>
              </a:lnSpc>
              <a:buNone/>
            </a:pPr>
            <a:r>
              <a:rPr lang="en-US" sz="1250" dirty="0">
                <a:solidFill>
                  <a:srgbClr val="222633"/>
                </a:solidFill>
                <a:latin typeface="Pretendard" pitchFamily="34" charset="0"/>
                <a:ea typeface="Pretendard" pitchFamily="34" charset="-122"/>
                <a:cs typeface="Pretendard" pitchFamily="34" charset="-120"/>
              </a:rPr>
              <a:t>물질사용 · 특별예방과 일반예방 · 교육과 성인기 결과</a:t>
            </a:r>
            <a:endParaRPr lang="en-US" sz="1250" dirty="0"/>
          </a:p>
        </p:txBody>
      </p:sp>
      <p:sp>
        <p:nvSpPr>
          <p:cNvPr id="23" name="Text 21"/>
          <p:cNvSpPr/>
          <p:nvPr/>
        </p:nvSpPr>
        <p:spPr>
          <a:xfrm>
            <a:off x="731520" y="5438485"/>
            <a:ext cx="10698480" cy="0"/>
          </a:xfrm>
          <a:prstGeom prst="line">
            <a:avLst/>
          </a:prstGeom>
          <a:noFill/>
          <a:ln w="12700">
            <a:solidFill>
              <a:srgbClr val="DCE0E8"/>
            </a:solidFill>
            <a:prstDash val="solid"/>
          </a:ln>
        </p:spPr>
        <p:txBody>
          <a:bodyPr/>
          <a:lstStyle/>
          <a:p>
            <a:endParaRPr lang="ko-KR" altLang="en-US"/>
          </a:p>
        </p:txBody>
      </p:sp>
      <p:sp>
        <p:nvSpPr>
          <p:cNvPr id="24" name="Text 22"/>
          <p:cNvSpPr/>
          <p:nvPr/>
        </p:nvSpPr>
        <p:spPr>
          <a:xfrm>
            <a:off x="731520" y="5643585"/>
            <a:ext cx="4206240" cy="234086"/>
          </a:xfrm>
          <a:prstGeom prst="rect">
            <a:avLst/>
          </a:prstGeom>
          <a:noFill/>
          <a:ln/>
        </p:spPr>
        <p:txBody>
          <a:bodyPr wrap="square" lIns="0" tIns="0" rIns="0" bIns="0" rtlCol="0" anchor="ctr"/>
          <a:lstStyle/>
          <a:p>
            <a:pPr marL="0" indent="0">
              <a:buNone/>
            </a:pPr>
            <a:r>
              <a:rPr lang="en-US" sz="1350" b="1" dirty="0">
                <a:solidFill>
                  <a:srgbClr val="1E2761"/>
                </a:solidFill>
                <a:latin typeface="Pretendard" pitchFamily="34" charset="0"/>
                <a:ea typeface="Pretendard" pitchFamily="34" charset="-122"/>
                <a:cs typeface="Pretendard" pitchFamily="34" charset="-120"/>
              </a:rPr>
              <a:t>7 주요 논거와 최종 판단</a:t>
            </a:r>
            <a:endParaRPr lang="en-US" sz="1350" dirty="0"/>
          </a:p>
        </p:txBody>
      </p:sp>
      <p:sp>
        <p:nvSpPr>
          <p:cNvPr id="25" name="Text 23"/>
          <p:cNvSpPr/>
          <p:nvPr/>
        </p:nvSpPr>
        <p:spPr>
          <a:xfrm>
            <a:off x="5257800" y="5643585"/>
            <a:ext cx="6172200" cy="234086"/>
          </a:xfrm>
          <a:prstGeom prst="rect">
            <a:avLst/>
          </a:prstGeom>
          <a:noFill/>
          <a:ln/>
        </p:spPr>
        <p:txBody>
          <a:bodyPr wrap="square" lIns="0" tIns="0" rIns="0" bIns="0" rtlCol="0" anchor="ctr"/>
          <a:lstStyle/>
          <a:p>
            <a:pPr marL="0" indent="0">
              <a:lnSpc>
                <a:spcPts val="2000"/>
              </a:lnSpc>
              <a:buNone/>
            </a:pPr>
            <a:r>
              <a:rPr lang="en-US" sz="1250" dirty="0">
                <a:solidFill>
                  <a:srgbClr val="222633"/>
                </a:solidFill>
                <a:latin typeface="Pretendard" pitchFamily="34" charset="0"/>
                <a:ea typeface="Pretendard" pitchFamily="34" charset="-122"/>
                <a:cs typeface="Pretendard" pitchFamily="34" charset="-120"/>
              </a:rPr>
              <a:t>적용 단계 · 정책방향 · 쟁점별 주장과 근거 · 최종 판단</a:t>
            </a:r>
            <a:endParaRPr lang="en-US" sz="1250" dirty="0"/>
          </a:p>
        </p:txBody>
      </p:sp>
      <p:sp>
        <p:nvSpPr>
          <p:cNvPr id="26" name="Text 24"/>
          <p:cNvSpPr/>
          <p:nvPr/>
        </p:nvSpPr>
        <p:spPr>
          <a:xfrm>
            <a:off x="731520" y="6144768"/>
            <a:ext cx="10698480" cy="0"/>
          </a:xfrm>
          <a:prstGeom prst="line">
            <a:avLst/>
          </a:prstGeom>
          <a:noFill/>
          <a:ln w="12700">
            <a:solidFill>
              <a:srgbClr val="DCE0E8"/>
            </a:solidFill>
            <a:prstDash val="solid"/>
          </a:ln>
        </p:spPr>
        <p:txBody>
          <a:bodyPr/>
          <a:lstStyle/>
          <a:p>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청소년 마약류 사용과 현행 대응</a:t>
            </a:r>
            <a:endParaRPr lang="en-US" sz="1250" dirty="0"/>
          </a:p>
        </p:txBody>
      </p:sp>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마약류의 뜻과 의료용 사용의 구분</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pPr marL="0" indent="0">
              <a:buNone/>
            </a:pPr>
            <a:r>
              <a:rPr lang="en-US" sz="2700" b="1" dirty="0" err="1">
                <a:solidFill>
                  <a:srgbClr val="1E2761"/>
                </a:solidFill>
                <a:latin typeface="Pretendard" pitchFamily="34" charset="0"/>
                <a:ea typeface="Pretendard" pitchFamily="34" charset="-122"/>
                <a:cs typeface="Pretendard" pitchFamily="34" charset="-120"/>
              </a:rPr>
              <a:t>청소년의</a:t>
            </a:r>
            <a:r>
              <a:rPr lang="en-US" sz="2700" b="1" dirty="0">
                <a:solidFill>
                  <a:srgbClr val="1E2761"/>
                </a:solidFill>
                <a:latin typeface="Pretendard" pitchFamily="34" charset="0"/>
                <a:ea typeface="Pretendard" pitchFamily="34" charset="-122"/>
                <a:cs typeface="Pretendard" pitchFamily="34" charset="-120"/>
              </a:rPr>
              <a:t> 위법한 투약·사용</a:t>
            </a:r>
            <a:endParaRPr lang="en-US" sz="2700" dirty="0"/>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353312"/>
            <a:ext cx="10698480" cy="438912"/>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987552" y="1353312"/>
            <a:ext cx="10186416" cy="438912"/>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이번 논제는 마약류를 위법하게 투약·사용한 청소년에게 형사처벌보다 치료·재활을 우선할 것인지를 묻는다</a:t>
            </a:r>
            <a:endParaRPr lang="en-US" sz="1250" dirty="0"/>
          </a:p>
        </p:txBody>
      </p:sp>
      <p:sp>
        <p:nvSpPr>
          <p:cNvPr id="8" name="Shape 6"/>
          <p:cNvSpPr/>
          <p:nvPr/>
        </p:nvSpPr>
        <p:spPr>
          <a:xfrm>
            <a:off x="731520" y="1956816"/>
            <a:ext cx="3358896" cy="1554480"/>
          </a:xfrm>
          <a:prstGeom prst="rect">
            <a:avLst/>
          </a:prstGeom>
          <a:solidFill>
            <a:srgbClr val="FFFFFF"/>
          </a:solidFill>
          <a:ln w="12700">
            <a:solidFill>
              <a:srgbClr val="DCE0E8"/>
            </a:solidFill>
            <a:prstDash val="solid"/>
          </a:ln>
        </p:spPr>
        <p:txBody>
          <a:bodyPr/>
          <a:lstStyle/>
          <a:p>
            <a:endParaRPr lang="ko-KR" altLang="en-US"/>
          </a:p>
        </p:txBody>
      </p:sp>
      <p:sp>
        <p:nvSpPr>
          <p:cNvPr id="9" name="Text 7"/>
          <p:cNvSpPr/>
          <p:nvPr/>
        </p:nvSpPr>
        <p:spPr>
          <a:xfrm>
            <a:off x="969264" y="2139696"/>
            <a:ext cx="2883408" cy="329184"/>
          </a:xfrm>
          <a:prstGeom prst="rect">
            <a:avLst/>
          </a:prstGeom>
          <a:noFill/>
          <a:ln/>
        </p:spPr>
        <p:txBody>
          <a:bodyPr wrap="square" lIns="0" tIns="0" rIns="0" bIns="0" rtlCol="0" anchor="ctr"/>
          <a:lstStyle/>
          <a:p>
            <a:pPr marL="0" indent="0" algn="l">
              <a:lnSpc>
                <a:spcPts val="2000"/>
              </a:lnSpc>
              <a:buNone/>
            </a:pPr>
            <a:r>
              <a:rPr lang="en-US" sz="1500" b="1" dirty="0">
                <a:solidFill>
                  <a:srgbClr val="1E2761"/>
                </a:solidFill>
                <a:latin typeface="Pretendard" pitchFamily="34" charset="0"/>
                <a:ea typeface="Pretendard" pitchFamily="34" charset="-122"/>
                <a:cs typeface="Pretendard" pitchFamily="34" charset="-120"/>
              </a:rPr>
              <a:t>대상</a:t>
            </a:r>
            <a:endParaRPr lang="en-US" sz="1500" dirty="0"/>
          </a:p>
        </p:txBody>
      </p:sp>
      <p:sp>
        <p:nvSpPr>
          <p:cNvPr id="10" name="Text 8"/>
          <p:cNvSpPr/>
          <p:nvPr/>
        </p:nvSpPr>
        <p:spPr>
          <a:xfrm>
            <a:off x="969264" y="2542032"/>
            <a:ext cx="2883408" cy="822960"/>
          </a:xfrm>
          <a:prstGeom prst="rect">
            <a:avLst/>
          </a:prstGeom>
          <a:noFill/>
          <a:ln/>
        </p:spPr>
        <p:txBody>
          <a:bodyPr wrap="square" lIns="0" tIns="0" rIns="0" bIns="0" rtlCol="0" anchor="t"/>
          <a:lstStyle/>
          <a:p>
            <a:pPr marL="0" indent="0">
              <a:lnSpc>
                <a:spcPts val="2100"/>
              </a:lnSpc>
              <a:buNone/>
            </a:pPr>
            <a:r>
              <a:rPr lang="en-US" sz="1200" dirty="0">
                <a:solidFill>
                  <a:srgbClr val="464D5C"/>
                </a:solidFill>
                <a:latin typeface="Pretendard" pitchFamily="34" charset="0"/>
                <a:ea typeface="Pretendard" pitchFamily="34" charset="-122"/>
                <a:cs typeface="Pretendard" pitchFamily="34" charset="-120"/>
              </a:rPr>
              <a:t>소년법상 소년은 19세 미만</a:t>
            </a:r>
            <a:endParaRPr lang="en-US" sz="1200" dirty="0"/>
          </a:p>
          <a:p>
            <a:pPr marL="0" indent="0">
              <a:lnSpc>
                <a:spcPts val="2100"/>
              </a:lnSpc>
              <a:buNone/>
            </a:pPr>
            <a:r>
              <a:rPr lang="en-US" sz="1200" dirty="0">
                <a:solidFill>
                  <a:srgbClr val="464D5C"/>
                </a:solidFill>
                <a:latin typeface="Pretendard" pitchFamily="34" charset="0"/>
                <a:ea typeface="Pretendard" pitchFamily="34" charset="-122"/>
                <a:cs typeface="Pretendard" pitchFamily="34" charset="-120"/>
              </a:rPr>
              <a:t>논의의 중심은 형사책임이 가능한</a:t>
            </a:r>
            <a:endParaRPr lang="en-US" sz="1200" dirty="0"/>
          </a:p>
          <a:p>
            <a:pPr marL="0" indent="0">
              <a:lnSpc>
                <a:spcPts val="2100"/>
              </a:lnSpc>
              <a:buNone/>
            </a:pPr>
            <a:r>
              <a:rPr lang="en-US" sz="1200" dirty="0">
                <a:solidFill>
                  <a:srgbClr val="464D5C"/>
                </a:solidFill>
                <a:latin typeface="Pretendard" pitchFamily="34" charset="0"/>
                <a:ea typeface="Pretendard" pitchFamily="34" charset="-122"/>
                <a:cs typeface="Pretendard" pitchFamily="34" charset="-120"/>
              </a:rPr>
              <a:t>14~18세 범죄소년</a:t>
            </a:r>
            <a:endParaRPr lang="en-US" sz="1200" dirty="0"/>
          </a:p>
        </p:txBody>
      </p:sp>
      <p:sp>
        <p:nvSpPr>
          <p:cNvPr id="11" name="Shape 9"/>
          <p:cNvSpPr/>
          <p:nvPr/>
        </p:nvSpPr>
        <p:spPr>
          <a:xfrm>
            <a:off x="4401312" y="1956816"/>
            <a:ext cx="3358896" cy="1554480"/>
          </a:xfrm>
          <a:prstGeom prst="rect">
            <a:avLst/>
          </a:prstGeom>
          <a:solidFill>
            <a:srgbClr val="FFFFFF"/>
          </a:solidFill>
          <a:ln w="12700">
            <a:solidFill>
              <a:srgbClr val="DCE0E8"/>
            </a:solidFill>
            <a:prstDash val="solid"/>
          </a:ln>
        </p:spPr>
        <p:txBody>
          <a:bodyPr/>
          <a:lstStyle/>
          <a:p>
            <a:endParaRPr lang="ko-KR" altLang="en-US"/>
          </a:p>
        </p:txBody>
      </p:sp>
      <p:sp>
        <p:nvSpPr>
          <p:cNvPr id="12" name="Text 10"/>
          <p:cNvSpPr/>
          <p:nvPr/>
        </p:nvSpPr>
        <p:spPr>
          <a:xfrm>
            <a:off x="4639056" y="2139696"/>
            <a:ext cx="2883408" cy="329184"/>
          </a:xfrm>
          <a:prstGeom prst="rect">
            <a:avLst/>
          </a:prstGeom>
          <a:noFill/>
          <a:ln/>
        </p:spPr>
        <p:txBody>
          <a:bodyPr wrap="square" lIns="0" tIns="0" rIns="0" bIns="0" rtlCol="0" anchor="ctr"/>
          <a:lstStyle/>
          <a:p>
            <a:pPr marL="0" indent="0" algn="l">
              <a:lnSpc>
                <a:spcPts val="2000"/>
              </a:lnSpc>
              <a:buNone/>
            </a:pPr>
            <a:r>
              <a:rPr lang="en-US" sz="1500" b="1" dirty="0">
                <a:solidFill>
                  <a:srgbClr val="1E2761"/>
                </a:solidFill>
                <a:latin typeface="Pretendard" pitchFamily="34" charset="0"/>
                <a:ea typeface="Pretendard" pitchFamily="34" charset="-122"/>
                <a:cs typeface="Pretendard" pitchFamily="34" charset="-120"/>
              </a:rPr>
              <a:t>행위</a:t>
            </a:r>
            <a:endParaRPr lang="en-US" sz="1500" dirty="0"/>
          </a:p>
        </p:txBody>
      </p:sp>
      <p:sp>
        <p:nvSpPr>
          <p:cNvPr id="13" name="Text 11"/>
          <p:cNvSpPr/>
          <p:nvPr/>
        </p:nvSpPr>
        <p:spPr>
          <a:xfrm>
            <a:off x="4639056" y="2542032"/>
            <a:ext cx="2883408" cy="822960"/>
          </a:xfrm>
          <a:prstGeom prst="rect">
            <a:avLst/>
          </a:prstGeom>
          <a:noFill/>
          <a:ln/>
        </p:spPr>
        <p:txBody>
          <a:bodyPr wrap="square" lIns="0" tIns="0" rIns="0" bIns="0" rtlCol="0" anchor="t"/>
          <a:lstStyle/>
          <a:p>
            <a:pPr marL="0" indent="0">
              <a:lnSpc>
                <a:spcPts val="2100"/>
              </a:lnSpc>
              <a:buNone/>
            </a:pPr>
            <a:r>
              <a:rPr lang="en-US" sz="1200" dirty="0">
                <a:solidFill>
                  <a:srgbClr val="464D5C"/>
                </a:solidFill>
                <a:latin typeface="Pretendard" pitchFamily="34" charset="0"/>
                <a:ea typeface="Pretendard" pitchFamily="34" charset="-122"/>
                <a:cs typeface="Pretendard" pitchFamily="34" charset="-120"/>
              </a:rPr>
              <a:t>마약류의 위법한 투약·사용</a:t>
            </a:r>
            <a:endParaRPr lang="en-US" sz="1200" dirty="0"/>
          </a:p>
          <a:p>
            <a:pPr marL="0" indent="0">
              <a:lnSpc>
                <a:spcPts val="2100"/>
              </a:lnSpc>
              <a:buNone/>
            </a:pPr>
            <a:r>
              <a:rPr lang="en-US" sz="1200" dirty="0">
                <a:solidFill>
                  <a:srgbClr val="464D5C"/>
                </a:solidFill>
                <a:latin typeface="Pretendard" pitchFamily="34" charset="0"/>
                <a:ea typeface="Pretendard" pitchFamily="34" charset="-122"/>
                <a:cs typeface="Pretendard" pitchFamily="34" charset="-120"/>
              </a:rPr>
              <a:t>적법한 의료적 사용은 구분한다</a:t>
            </a:r>
            <a:endParaRPr lang="en-US" sz="1200" dirty="0"/>
          </a:p>
        </p:txBody>
      </p:sp>
      <p:sp>
        <p:nvSpPr>
          <p:cNvPr id="14" name="Shape 12"/>
          <p:cNvSpPr/>
          <p:nvPr/>
        </p:nvSpPr>
        <p:spPr>
          <a:xfrm>
            <a:off x="8071104" y="1956816"/>
            <a:ext cx="3358896" cy="1554480"/>
          </a:xfrm>
          <a:prstGeom prst="rect">
            <a:avLst/>
          </a:prstGeom>
          <a:solidFill>
            <a:srgbClr val="FFFFFF"/>
          </a:solidFill>
          <a:ln w="12700">
            <a:solidFill>
              <a:srgbClr val="DCE0E8"/>
            </a:solidFill>
            <a:prstDash val="solid"/>
          </a:ln>
        </p:spPr>
        <p:txBody>
          <a:bodyPr/>
          <a:lstStyle/>
          <a:p>
            <a:endParaRPr lang="ko-KR" altLang="en-US"/>
          </a:p>
        </p:txBody>
      </p:sp>
      <p:sp>
        <p:nvSpPr>
          <p:cNvPr id="15" name="Text 13"/>
          <p:cNvSpPr/>
          <p:nvPr/>
        </p:nvSpPr>
        <p:spPr>
          <a:xfrm>
            <a:off x="8308848" y="2139696"/>
            <a:ext cx="2883408" cy="329184"/>
          </a:xfrm>
          <a:prstGeom prst="rect">
            <a:avLst/>
          </a:prstGeom>
          <a:noFill/>
          <a:ln/>
        </p:spPr>
        <p:txBody>
          <a:bodyPr wrap="square" lIns="0" tIns="0" rIns="0" bIns="0" rtlCol="0" anchor="ctr"/>
          <a:lstStyle/>
          <a:p>
            <a:pPr marL="0" indent="0" algn="l">
              <a:lnSpc>
                <a:spcPts val="2000"/>
              </a:lnSpc>
              <a:buNone/>
            </a:pPr>
            <a:r>
              <a:rPr lang="en-US" sz="1500" b="1" dirty="0">
                <a:solidFill>
                  <a:srgbClr val="1E2761"/>
                </a:solidFill>
                <a:latin typeface="Pretendard" pitchFamily="34" charset="0"/>
                <a:ea typeface="Pretendard" pitchFamily="34" charset="-122"/>
                <a:cs typeface="Pretendard" pitchFamily="34" charset="-120"/>
              </a:rPr>
              <a:t>비교</a:t>
            </a:r>
            <a:endParaRPr lang="en-US" sz="1500" dirty="0"/>
          </a:p>
        </p:txBody>
      </p:sp>
      <p:sp>
        <p:nvSpPr>
          <p:cNvPr id="16" name="Text 14"/>
          <p:cNvSpPr/>
          <p:nvPr/>
        </p:nvSpPr>
        <p:spPr>
          <a:xfrm>
            <a:off x="8308848" y="2542032"/>
            <a:ext cx="2883408" cy="822960"/>
          </a:xfrm>
          <a:prstGeom prst="rect">
            <a:avLst/>
          </a:prstGeom>
          <a:noFill/>
          <a:ln/>
        </p:spPr>
        <p:txBody>
          <a:bodyPr wrap="square" lIns="0" tIns="0" rIns="0" bIns="0" rtlCol="0" anchor="t"/>
          <a:lstStyle/>
          <a:p>
            <a:pPr marL="0" indent="0">
              <a:lnSpc>
                <a:spcPts val="2100"/>
              </a:lnSpc>
              <a:buNone/>
            </a:pPr>
            <a:r>
              <a:rPr lang="en-US" sz="1200" dirty="0">
                <a:solidFill>
                  <a:srgbClr val="464D5C"/>
                </a:solidFill>
                <a:latin typeface="Pretendard" pitchFamily="34" charset="0"/>
                <a:ea typeface="Pretendard" pitchFamily="34" charset="-122"/>
                <a:cs typeface="Pretendard" pitchFamily="34" charset="-120"/>
              </a:rPr>
              <a:t>형사처벌과 치료·재활 중</a:t>
            </a:r>
            <a:endParaRPr lang="en-US" sz="1200" dirty="0"/>
          </a:p>
          <a:p>
            <a:pPr marL="0" indent="0">
              <a:lnSpc>
                <a:spcPts val="2100"/>
              </a:lnSpc>
              <a:buNone/>
            </a:pPr>
            <a:r>
              <a:rPr lang="en-US" sz="1200" dirty="0">
                <a:solidFill>
                  <a:srgbClr val="464D5C"/>
                </a:solidFill>
                <a:latin typeface="Pretendard" pitchFamily="34" charset="0"/>
                <a:ea typeface="Pretendard" pitchFamily="34" charset="-122"/>
                <a:cs typeface="Pretendard" pitchFamily="34" charset="-120"/>
              </a:rPr>
              <a:t>무엇을 어느 시점에 우선할 것인가</a:t>
            </a:r>
            <a:endParaRPr lang="en-US" sz="1200" dirty="0"/>
          </a:p>
        </p:txBody>
      </p:sp>
      <p:sp>
        <p:nvSpPr>
          <p:cNvPr id="17" name="Text 15"/>
          <p:cNvSpPr/>
          <p:nvPr/>
        </p:nvSpPr>
        <p:spPr>
          <a:xfrm>
            <a:off x="731520" y="3749040"/>
            <a:ext cx="3291840" cy="438912"/>
          </a:xfrm>
          <a:prstGeom prst="rect">
            <a:avLst/>
          </a:prstGeom>
          <a:noFill/>
          <a:ln/>
        </p:spPr>
        <p:txBody>
          <a:bodyPr wrap="square" lIns="0" tIns="0" rIns="0" bIns="0" rtlCol="0" anchor="ctr"/>
          <a:lstStyle/>
          <a:p>
            <a:pPr marL="0" indent="0">
              <a:buNone/>
            </a:pPr>
            <a:r>
              <a:rPr lang="en-US" sz="1350" b="1" dirty="0">
                <a:solidFill>
                  <a:srgbClr val="1E2761"/>
                </a:solidFill>
                <a:latin typeface="Pretendard" pitchFamily="34" charset="0"/>
                <a:ea typeface="Pretendard" pitchFamily="34" charset="-122"/>
                <a:cs typeface="Pretendard" pitchFamily="34" charset="-120"/>
              </a:rPr>
              <a:t>다른 행위가 함께 있는 경우</a:t>
            </a:r>
            <a:endParaRPr lang="en-US" sz="1350" dirty="0"/>
          </a:p>
        </p:txBody>
      </p:sp>
      <p:sp>
        <p:nvSpPr>
          <p:cNvPr id="18" name="Text 16"/>
          <p:cNvSpPr/>
          <p:nvPr/>
        </p:nvSpPr>
        <p:spPr>
          <a:xfrm>
            <a:off x="4343400" y="3749040"/>
            <a:ext cx="7086600" cy="438912"/>
          </a:xfrm>
          <a:prstGeom prst="rect">
            <a:avLst/>
          </a:prstGeom>
          <a:noFill/>
          <a:ln/>
        </p:spPr>
        <p:txBody>
          <a:bodyPr wrap="square" lIns="0" tIns="0" rIns="0" bIns="0" rtlCol="0" anchor="ctr"/>
          <a:lstStyle/>
          <a:p>
            <a:pPr marL="0" indent="0">
              <a:lnSpc>
                <a:spcPts val="2000"/>
              </a:lnSpc>
              <a:buNone/>
            </a:pPr>
            <a:r>
              <a:rPr lang="en-US" sz="1250" dirty="0">
                <a:solidFill>
                  <a:srgbClr val="222633"/>
                </a:solidFill>
                <a:latin typeface="Pretendard" pitchFamily="34" charset="0"/>
                <a:ea typeface="Pretendard" pitchFamily="34" charset="-122"/>
                <a:cs typeface="Pretendard" pitchFamily="34" charset="-120"/>
              </a:rPr>
              <a:t>판매 · 운반 · 제공 등이 함께 있으면 그 행위에 대한 책임도 별도로 살핀다</a:t>
            </a:r>
            <a:endParaRPr lang="en-US" sz="1250" dirty="0"/>
          </a:p>
        </p:txBody>
      </p:sp>
      <p:sp>
        <p:nvSpPr>
          <p:cNvPr id="19" name="Text 17"/>
          <p:cNvSpPr/>
          <p:nvPr/>
        </p:nvSpPr>
        <p:spPr>
          <a:xfrm>
            <a:off x="731520" y="4378770"/>
            <a:ext cx="10698480" cy="292608"/>
          </a:xfrm>
          <a:prstGeom prst="rect">
            <a:avLst/>
          </a:prstGeom>
          <a:noFill/>
          <a:ln/>
        </p:spPr>
        <p:txBody>
          <a:bodyPr wrap="square" lIns="0" tIns="0" rIns="0" bIns="0" rtlCol="0" anchor="ctr"/>
          <a:lstStyle/>
          <a:p>
            <a:pPr marL="0" indent="0">
              <a:buNone/>
            </a:pPr>
            <a:r>
              <a:rPr lang="en-US" sz="1250" b="1" dirty="0">
                <a:solidFill>
                  <a:srgbClr val="A8871C"/>
                </a:solidFill>
                <a:latin typeface="Pretendard" pitchFamily="34" charset="0"/>
                <a:ea typeface="Pretendard" pitchFamily="34" charset="-122"/>
                <a:cs typeface="Pretendard" pitchFamily="34" charset="-120"/>
              </a:rPr>
              <a:t>치료가 필요한지와 형벌로 책임을 물을 수 있는지는 서로 다른 판단이다</a:t>
            </a:r>
            <a:endParaRPr lang="en-US" sz="1250" dirty="0"/>
          </a:p>
        </p:txBody>
      </p:sp>
      <p:sp>
        <p:nvSpPr>
          <p:cNvPr id="20" name="Text 18"/>
          <p:cNvSpPr/>
          <p:nvPr/>
        </p:nvSpPr>
        <p:spPr>
          <a:xfrm>
            <a:off x="731520" y="4809744"/>
            <a:ext cx="10698480" cy="274320"/>
          </a:xfrm>
          <a:prstGeom prst="rect">
            <a:avLst/>
          </a:prstGeom>
          <a:noFill/>
          <a:ln/>
        </p:spPr>
        <p:txBody>
          <a:bodyPr wrap="square" lIns="0" tIns="0" rIns="0" bIns="0" rtlCol="0" anchor="ctr"/>
          <a:lstStyle/>
          <a:p>
            <a:pPr marL="0" indent="0">
              <a:buNone/>
            </a:pPr>
            <a:r>
              <a:rPr lang="en-US" sz="1100" dirty="0">
                <a:solidFill>
                  <a:srgbClr val="464D5C"/>
                </a:solidFill>
                <a:latin typeface="Pretendard" pitchFamily="34" charset="0"/>
                <a:ea typeface="Pretendard" pitchFamily="34" charset="-122"/>
                <a:cs typeface="Pretendard" pitchFamily="34" charset="-120"/>
              </a:rPr>
              <a:t>치료 필요성은 어떤 도움과 개입이 필요한지를, 형사책임은 위법행위에 대해 형벌로 책임을 물을 수 있는지를 묻는다</a:t>
            </a:r>
            <a:endParaRPr lang="en-US" sz="1100" dirty="0"/>
          </a:p>
        </p:txBody>
      </p:sp>
      <p:sp>
        <p:nvSpPr>
          <p:cNvPr id="21" name="Shape 19"/>
          <p:cNvSpPr/>
          <p:nvPr/>
        </p:nvSpPr>
        <p:spPr>
          <a:xfrm>
            <a:off x="731520" y="5212079"/>
            <a:ext cx="10698480" cy="694945"/>
          </a:xfrm>
          <a:prstGeom prst="rect">
            <a:avLst/>
          </a:prstGeom>
          <a:solidFill>
            <a:srgbClr val="1E2761"/>
          </a:solidFill>
          <a:ln w="12700">
            <a:solidFill>
              <a:srgbClr val="1E2761"/>
            </a:solidFill>
            <a:prstDash val="solid"/>
          </a:ln>
        </p:spPr>
        <p:txBody>
          <a:bodyPr/>
          <a:lstStyle/>
          <a:p>
            <a:endParaRPr lang="ko-KR" altLang="en-US"/>
          </a:p>
        </p:txBody>
      </p:sp>
      <p:sp>
        <p:nvSpPr>
          <p:cNvPr id="22" name="Text 20"/>
          <p:cNvSpPr/>
          <p:nvPr/>
        </p:nvSpPr>
        <p:spPr>
          <a:xfrm>
            <a:off x="1005840" y="5212080"/>
            <a:ext cx="10149840" cy="694944"/>
          </a:xfrm>
          <a:prstGeom prst="rect">
            <a:avLst/>
          </a:prstGeom>
          <a:noFill/>
          <a:ln/>
        </p:spPr>
        <p:txBody>
          <a:bodyPr wrap="square" lIns="0" tIns="0" rIns="0" bIns="0" rtlCol="0" anchor="ctr"/>
          <a:lstStyle/>
          <a:p>
            <a:pPr marL="0" indent="0" algn="ctr">
              <a:buNone/>
            </a:pPr>
            <a:r>
              <a:rPr lang="en-US" sz="1350" b="1" dirty="0">
                <a:solidFill>
                  <a:srgbClr val="FFFFFF"/>
                </a:solidFill>
                <a:latin typeface="Pretendard" pitchFamily="34" charset="0"/>
                <a:ea typeface="Pretendard" pitchFamily="34" charset="-122"/>
                <a:cs typeface="Pretendard" pitchFamily="34" charset="-120"/>
              </a:rPr>
              <a:t>치료가 필요하다고 해서 형사책임이 없어지는 것은 아니며, 형사책임을 물을 수 있다고 해서 치료가 불필요한 것도 아니다</a:t>
            </a:r>
            <a:endParaRPr lang="en-US" sz="1350" dirty="0"/>
          </a:p>
          <a:p>
            <a:pPr marL="0" indent="0" algn="ctr">
              <a:buNone/>
            </a:pPr>
            <a:r>
              <a:rPr lang="en-US" sz="1350" b="1" dirty="0">
                <a:solidFill>
                  <a:srgbClr val="FFFFFF"/>
                </a:solidFill>
                <a:latin typeface="Pretendard" pitchFamily="34" charset="0"/>
                <a:ea typeface="Pretendard" pitchFamily="34" charset="-122"/>
                <a:cs typeface="Pretendard" pitchFamily="34" charset="-120"/>
              </a:rPr>
              <a:t>‘우선’은 어떤 청소년에게 어떤 처리 경로와 처우를 먼저 적용하고, 어떤 경우에 예외를 둘 것인지를 뜻한다</a:t>
            </a:r>
          </a:p>
        </p:txBody>
      </p:sp>
      <p:sp>
        <p:nvSpPr>
          <p:cNvPr id="23" name="Shape 21"/>
          <p:cNvSpPr/>
          <p:nvPr/>
        </p:nvSpPr>
        <p:spPr>
          <a:xfrm>
            <a:off x="731520" y="6153912"/>
            <a:ext cx="10698480" cy="0"/>
          </a:xfrm>
          <a:prstGeom prst="line">
            <a:avLst/>
          </a:prstGeom>
          <a:noFill/>
          <a:ln w="12700">
            <a:solidFill>
              <a:srgbClr val="DCE0E8"/>
            </a:solidFill>
            <a:prstDash val="solid"/>
          </a:ln>
        </p:spPr>
        <p:txBody>
          <a:bodyPr/>
          <a:lstStyle/>
          <a:p>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1. 논제의 범위와 현행 대응</a:t>
            </a:r>
            <a:endParaRPr lang="en-US" sz="1250" dirty="0"/>
          </a:p>
        </p:txBody>
      </p:sp>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의료용 사용과 위법한 사용</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pPr marL="0" indent="0">
              <a:buNone/>
            </a:pPr>
            <a:r>
              <a:rPr lang="en-US" sz="2700" b="1" dirty="0">
                <a:solidFill>
                  <a:srgbClr val="1E2761"/>
                </a:solidFill>
                <a:latin typeface="Pretendard" pitchFamily="34" charset="0"/>
                <a:ea typeface="Pretendard" pitchFamily="34" charset="-122"/>
                <a:cs typeface="Pretendard" pitchFamily="34" charset="-120"/>
              </a:rPr>
              <a:t>마약류의 뜻과 종류</a:t>
            </a:r>
            <a:endParaRPr lang="en-US" sz="2700" dirty="0"/>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353312"/>
            <a:ext cx="10698480" cy="438912"/>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987552" y="1353312"/>
            <a:ext cx="10186416" cy="438912"/>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법률상 마약류는 마약 · 향정신성의약품 · 대마를 함께 부르는 말이다</a:t>
            </a:r>
            <a:endParaRPr lang="en-US" sz="1250" dirty="0"/>
          </a:p>
        </p:txBody>
      </p:sp>
      <p:sp>
        <p:nvSpPr>
          <p:cNvPr id="8" name="Shape 6"/>
          <p:cNvSpPr/>
          <p:nvPr/>
        </p:nvSpPr>
        <p:spPr>
          <a:xfrm>
            <a:off x="731520" y="1938528"/>
            <a:ext cx="10698480" cy="457200"/>
          </a:xfrm>
          <a:prstGeom prst="rect">
            <a:avLst/>
          </a:prstGeom>
          <a:solidFill>
            <a:srgbClr val="FFFFFF"/>
          </a:solidFill>
          <a:ln w="12700">
            <a:solidFill>
              <a:srgbClr val="DCE0E8"/>
            </a:solidFill>
            <a:prstDash val="solid"/>
          </a:ln>
        </p:spPr>
        <p:txBody>
          <a:bodyPr/>
          <a:lstStyle/>
          <a:p>
            <a:endParaRPr lang="ko-KR" altLang="en-US"/>
          </a:p>
        </p:txBody>
      </p:sp>
      <p:sp>
        <p:nvSpPr>
          <p:cNvPr id="9" name="Text 7"/>
          <p:cNvSpPr/>
          <p:nvPr/>
        </p:nvSpPr>
        <p:spPr>
          <a:xfrm>
            <a:off x="1005840" y="1938528"/>
            <a:ext cx="10149840" cy="457200"/>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마약류관리법 제2조 제1호   </a:t>
            </a:r>
            <a:r>
              <a:rPr lang="en-US" sz="1250" dirty="0">
                <a:solidFill>
                  <a:srgbClr val="222633"/>
                </a:solidFill>
                <a:highlight>
                  <a:srgbClr val="FFFF00"/>
                </a:highlight>
                <a:latin typeface="Pretendard" pitchFamily="34" charset="0"/>
                <a:ea typeface="Pretendard" pitchFamily="34" charset="-122"/>
                <a:cs typeface="Pretendard" pitchFamily="34" charset="-120"/>
              </a:rPr>
              <a:t>“마약류”란 마약·향정신성의약품 및 대마를 말한다</a:t>
            </a:r>
            <a:endParaRPr lang="en-US" sz="1150" dirty="0"/>
          </a:p>
        </p:txBody>
      </p:sp>
      <p:sp>
        <p:nvSpPr>
          <p:cNvPr id="10" name="Shape 8"/>
          <p:cNvSpPr/>
          <p:nvPr/>
        </p:nvSpPr>
        <p:spPr>
          <a:xfrm>
            <a:off x="713232" y="2578608"/>
            <a:ext cx="1909652" cy="402336"/>
          </a:xfrm>
          <a:prstGeom prst="rect">
            <a:avLst/>
          </a:prstGeom>
          <a:solidFill>
            <a:srgbClr val="F2F4F8"/>
          </a:solidFill>
          <a:ln w="12700">
            <a:solidFill>
              <a:srgbClr val="DCE0E8"/>
            </a:solidFill>
            <a:prstDash val="solid"/>
          </a:ln>
        </p:spPr>
        <p:txBody>
          <a:bodyPr/>
          <a:lstStyle/>
          <a:p>
            <a:endParaRPr lang="ko-KR" altLang="en-US"/>
          </a:p>
        </p:txBody>
      </p:sp>
      <p:sp>
        <p:nvSpPr>
          <p:cNvPr id="11" name="Shape 9"/>
          <p:cNvSpPr/>
          <p:nvPr/>
        </p:nvSpPr>
        <p:spPr>
          <a:xfrm>
            <a:off x="2636118" y="2578608"/>
            <a:ext cx="2875306" cy="402336"/>
          </a:xfrm>
          <a:prstGeom prst="rect">
            <a:avLst/>
          </a:prstGeom>
          <a:solidFill>
            <a:srgbClr val="F2F4F8"/>
          </a:solidFill>
          <a:ln w="12700">
            <a:solidFill>
              <a:srgbClr val="DCE0E8"/>
            </a:solidFill>
            <a:prstDash val="solid"/>
          </a:ln>
        </p:spPr>
        <p:txBody>
          <a:bodyPr/>
          <a:lstStyle/>
          <a:p>
            <a:endParaRPr lang="ko-KR" altLang="en-US"/>
          </a:p>
        </p:txBody>
      </p:sp>
      <p:sp>
        <p:nvSpPr>
          <p:cNvPr id="12" name="Text 10"/>
          <p:cNvSpPr/>
          <p:nvPr/>
        </p:nvSpPr>
        <p:spPr>
          <a:xfrm>
            <a:off x="2690982" y="2578608"/>
            <a:ext cx="2752344" cy="402336"/>
          </a:xfrm>
          <a:prstGeom prst="rect">
            <a:avLst/>
          </a:prstGeom>
          <a:noFill/>
          <a:ln/>
        </p:spPr>
        <p:txBody>
          <a:bodyPr wrap="square" lIns="0" tIns="0" rIns="0" bIns="0" rtlCol="0" anchor="ctr"/>
          <a:lstStyle/>
          <a:p>
            <a:pPr marL="0" indent="0" algn="ctr">
              <a:buNone/>
            </a:pPr>
            <a:r>
              <a:rPr lang="en-US" sz="1350" b="1" dirty="0" err="1">
                <a:solidFill>
                  <a:srgbClr val="1E2761"/>
                </a:solidFill>
                <a:latin typeface="Pretendard" pitchFamily="34" charset="0"/>
                <a:ea typeface="Pretendard" pitchFamily="34" charset="-122"/>
                <a:cs typeface="Pretendard" pitchFamily="34" charset="-120"/>
              </a:rPr>
              <a:t>마약</a:t>
            </a:r>
            <a:endParaRPr lang="en-US" sz="1350" dirty="0"/>
          </a:p>
        </p:txBody>
      </p:sp>
      <p:sp>
        <p:nvSpPr>
          <p:cNvPr id="13" name="Shape 11"/>
          <p:cNvSpPr/>
          <p:nvPr/>
        </p:nvSpPr>
        <p:spPr>
          <a:xfrm>
            <a:off x="5511424" y="2587752"/>
            <a:ext cx="3102224" cy="402336"/>
          </a:xfrm>
          <a:prstGeom prst="rect">
            <a:avLst/>
          </a:prstGeom>
          <a:solidFill>
            <a:srgbClr val="F2F4F8"/>
          </a:solidFill>
          <a:ln w="12700">
            <a:solidFill>
              <a:srgbClr val="DCE0E8"/>
            </a:solidFill>
            <a:prstDash val="solid"/>
          </a:ln>
        </p:spPr>
        <p:txBody>
          <a:bodyPr/>
          <a:lstStyle/>
          <a:p>
            <a:endParaRPr lang="ko-KR" altLang="en-US"/>
          </a:p>
        </p:txBody>
      </p:sp>
      <p:sp>
        <p:nvSpPr>
          <p:cNvPr id="14" name="Text 12"/>
          <p:cNvSpPr/>
          <p:nvPr/>
        </p:nvSpPr>
        <p:spPr>
          <a:xfrm>
            <a:off x="5559068" y="2578608"/>
            <a:ext cx="2752344" cy="402336"/>
          </a:xfrm>
          <a:prstGeom prst="rect">
            <a:avLst/>
          </a:prstGeom>
          <a:noFill/>
          <a:ln/>
        </p:spPr>
        <p:txBody>
          <a:bodyPr wrap="square" lIns="0" tIns="0" rIns="0" bIns="0" rtlCol="0" anchor="ctr"/>
          <a:lstStyle/>
          <a:p>
            <a:pPr marL="0" indent="0" algn="ctr">
              <a:buNone/>
            </a:pPr>
            <a:r>
              <a:rPr lang="en-US" sz="1350" b="1" dirty="0" err="1">
                <a:solidFill>
                  <a:srgbClr val="1E2761"/>
                </a:solidFill>
                <a:latin typeface="Pretendard" pitchFamily="34" charset="0"/>
                <a:ea typeface="Pretendard" pitchFamily="34" charset="-122"/>
                <a:cs typeface="Pretendard" pitchFamily="34" charset="-120"/>
              </a:rPr>
              <a:t>향정신성의약품</a:t>
            </a:r>
            <a:endParaRPr lang="en-US" sz="1350" dirty="0"/>
          </a:p>
        </p:txBody>
      </p:sp>
      <p:sp>
        <p:nvSpPr>
          <p:cNvPr id="15" name="Shape 13"/>
          <p:cNvSpPr/>
          <p:nvPr/>
        </p:nvSpPr>
        <p:spPr>
          <a:xfrm>
            <a:off x="8558784" y="2578608"/>
            <a:ext cx="2871216" cy="402336"/>
          </a:xfrm>
          <a:prstGeom prst="rect">
            <a:avLst/>
          </a:prstGeom>
          <a:solidFill>
            <a:srgbClr val="F2F4F8"/>
          </a:solidFill>
          <a:ln w="12700">
            <a:solidFill>
              <a:srgbClr val="DCE0E8"/>
            </a:solidFill>
            <a:prstDash val="solid"/>
          </a:ln>
        </p:spPr>
        <p:txBody>
          <a:bodyPr/>
          <a:lstStyle/>
          <a:p>
            <a:endParaRPr lang="ko-KR" altLang="en-US"/>
          </a:p>
        </p:txBody>
      </p:sp>
      <p:sp>
        <p:nvSpPr>
          <p:cNvPr id="16" name="Text 14"/>
          <p:cNvSpPr/>
          <p:nvPr/>
        </p:nvSpPr>
        <p:spPr>
          <a:xfrm>
            <a:off x="8613648" y="2578608"/>
            <a:ext cx="2761488" cy="402336"/>
          </a:xfrm>
          <a:prstGeom prst="rect">
            <a:avLst/>
          </a:prstGeom>
          <a:noFill/>
          <a:ln/>
        </p:spPr>
        <p:txBody>
          <a:bodyPr wrap="square" lIns="0" tIns="0" rIns="0" bIns="0" rtlCol="0" anchor="ctr"/>
          <a:lstStyle/>
          <a:p>
            <a:pPr marL="0" indent="0" algn="ctr">
              <a:buNone/>
            </a:pPr>
            <a:r>
              <a:rPr lang="en-US" sz="1350" b="1" dirty="0">
                <a:solidFill>
                  <a:srgbClr val="1E2761"/>
                </a:solidFill>
                <a:latin typeface="Pretendard" pitchFamily="34" charset="0"/>
                <a:ea typeface="Pretendard" pitchFamily="34" charset="-122"/>
                <a:cs typeface="Pretendard" pitchFamily="34" charset="-120"/>
              </a:rPr>
              <a:t>대마</a:t>
            </a:r>
            <a:endParaRPr lang="en-US" sz="1350" dirty="0"/>
          </a:p>
        </p:txBody>
      </p:sp>
      <p:sp>
        <p:nvSpPr>
          <p:cNvPr id="17" name="Shape 15"/>
          <p:cNvSpPr/>
          <p:nvPr/>
        </p:nvSpPr>
        <p:spPr>
          <a:xfrm>
            <a:off x="713232" y="2980944"/>
            <a:ext cx="1909652" cy="877824"/>
          </a:xfrm>
          <a:prstGeom prst="rect">
            <a:avLst/>
          </a:prstGeom>
          <a:solidFill>
            <a:srgbClr val="FFFFFF"/>
          </a:solidFill>
          <a:ln w="12700">
            <a:solidFill>
              <a:srgbClr val="DCE0E8"/>
            </a:solidFill>
            <a:prstDash val="solid"/>
          </a:ln>
        </p:spPr>
        <p:txBody>
          <a:bodyPr/>
          <a:lstStyle/>
          <a:p>
            <a:endParaRPr lang="ko-KR" altLang="en-US"/>
          </a:p>
        </p:txBody>
      </p:sp>
      <p:sp>
        <p:nvSpPr>
          <p:cNvPr id="18" name="Text 16"/>
          <p:cNvSpPr/>
          <p:nvPr/>
        </p:nvSpPr>
        <p:spPr>
          <a:xfrm>
            <a:off x="859536" y="2980944"/>
            <a:ext cx="1847088" cy="877824"/>
          </a:xfrm>
          <a:prstGeom prst="rect">
            <a:avLst/>
          </a:prstGeom>
          <a:noFill/>
          <a:ln/>
        </p:spPr>
        <p:txBody>
          <a:bodyPr wrap="square" lIns="0" tIns="0" rIns="0" bIns="0" rtlCol="0" anchor="ctr"/>
          <a:lstStyle/>
          <a:p>
            <a:pPr marL="0" indent="0" algn="ctr">
              <a:lnSpc>
                <a:spcPts val="1600"/>
              </a:lnSpc>
              <a:buNone/>
            </a:pPr>
            <a:r>
              <a:rPr lang="en-US" sz="1150" b="1" dirty="0">
                <a:solidFill>
                  <a:srgbClr val="A8871C"/>
                </a:solidFill>
                <a:latin typeface="Pretendard" pitchFamily="34" charset="0"/>
                <a:ea typeface="Pretendard" pitchFamily="34" charset="-122"/>
                <a:cs typeface="Pretendard" pitchFamily="34" charset="-120"/>
              </a:rPr>
              <a:t>법에서 어떻게</a:t>
            </a:r>
            <a:endParaRPr lang="en-US" sz="1150" dirty="0"/>
          </a:p>
          <a:p>
            <a:pPr marL="0" indent="0" algn="ctr">
              <a:lnSpc>
                <a:spcPts val="1600"/>
              </a:lnSpc>
              <a:buNone/>
            </a:pPr>
            <a:r>
              <a:rPr lang="en-US" sz="1150" b="1" dirty="0">
                <a:solidFill>
                  <a:srgbClr val="A8871C"/>
                </a:solidFill>
                <a:latin typeface="Pretendard" pitchFamily="34" charset="0"/>
                <a:ea typeface="Pretendard" pitchFamily="34" charset="-122"/>
                <a:cs typeface="Pretendard" pitchFamily="34" charset="-120"/>
              </a:rPr>
              <a:t>정하나</a:t>
            </a:r>
            <a:endParaRPr lang="en-US" sz="1150" dirty="0"/>
          </a:p>
        </p:txBody>
      </p:sp>
      <p:sp>
        <p:nvSpPr>
          <p:cNvPr id="19" name="Shape 17"/>
          <p:cNvSpPr/>
          <p:nvPr/>
        </p:nvSpPr>
        <p:spPr>
          <a:xfrm>
            <a:off x="2636118" y="2980944"/>
            <a:ext cx="2875306" cy="877824"/>
          </a:xfrm>
          <a:prstGeom prst="rect">
            <a:avLst/>
          </a:prstGeom>
          <a:solidFill>
            <a:srgbClr val="FFFFFF"/>
          </a:solidFill>
          <a:ln w="12700">
            <a:solidFill>
              <a:srgbClr val="DCE0E8"/>
            </a:solidFill>
            <a:prstDash val="solid"/>
          </a:ln>
        </p:spPr>
        <p:txBody>
          <a:bodyPr/>
          <a:lstStyle/>
          <a:p>
            <a:endParaRPr lang="ko-KR" altLang="en-US"/>
          </a:p>
        </p:txBody>
      </p:sp>
      <p:sp>
        <p:nvSpPr>
          <p:cNvPr id="20" name="Text 18"/>
          <p:cNvSpPr/>
          <p:nvPr/>
        </p:nvSpPr>
        <p:spPr>
          <a:xfrm>
            <a:off x="2709270" y="2980944"/>
            <a:ext cx="2660904" cy="877824"/>
          </a:xfrm>
          <a:prstGeom prst="rect">
            <a:avLst/>
          </a:prstGeom>
          <a:noFill/>
          <a:ln/>
        </p:spPr>
        <p:txBody>
          <a:bodyPr wrap="square" lIns="0" tIns="0" rIns="0" bIns="0" rtlCol="0" anchor="ctr"/>
          <a:lstStyle/>
          <a:p>
            <a:pPr marL="0" indent="0" algn="l">
              <a:lnSpc>
                <a:spcPts val="1600"/>
              </a:lnSpc>
              <a:buNone/>
            </a:pPr>
            <a:r>
              <a:rPr lang="ko-KR" altLang="en-US" sz="1100" dirty="0">
                <a:solidFill>
                  <a:srgbClr val="222633"/>
                </a:solidFill>
                <a:latin typeface="Pretendard" pitchFamily="34" charset="0"/>
                <a:ea typeface="Pretendard" pitchFamily="34" charset="-122"/>
                <a:cs typeface="Pretendard" pitchFamily="34" charset="-120"/>
              </a:rPr>
              <a:t>전통적인 마약 계열</a:t>
            </a:r>
            <a:endParaRPr lang="en-US" sz="1100" dirty="0">
              <a:solidFill>
                <a:srgbClr val="222633"/>
              </a:solidFill>
              <a:latin typeface="Pretendard" pitchFamily="34" charset="0"/>
              <a:ea typeface="Pretendard" pitchFamily="34" charset="-122"/>
              <a:cs typeface="Pretendard" pitchFamily="34" charset="-120"/>
            </a:endParaRPr>
          </a:p>
          <a:p>
            <a:pPr marL="0" indent="0" algn="l">
              <a:lnSpc>
                <a:spcPts val="1600"/>
              </a:lnSpc>
              <a:buNone/>
            </a:pPr>
            <a:r>
              <a:rPr lang="en-US" sz="1100" dirty="0" err="1">
                <a:solidFill>
                  <a:srgbClr val="222633"/>
                </a:solidFill>
                <a:latin typeface="Pretendard" pitchFamily="34" charset="0"/>
                <a:ea typeface="Pretendard" pitchFamily="34" charset="-122"/>
                <a:cs typeface="Pretendard" pitchFamily="34" charset="-120"/>
              </a:rPr>
              <a:t>양귀비</a:t>
            </a:r>
            <a:r>
              <a:rPr lang="en-US" sz="1100" dirty="0">
                <a:solidFill>
                  <a:srgbClr val="222633"/>
                </a:solidFill>
                <a:latin typeface="Pretendard" pitchFamily="34" charset="0"/>
                <a:ea typeface="Pretendard" pitchFamily="34" charset="-122"/>
                <a:cs typeface="Pretendard" pitchFamily="34" charset="-120"/>
              </a:rPr>
              <a:t> · 아편 · 코카 잎과</a:t>
            </a:r>
            <a:endParaRPr lang="en-US" sz="1100" dirty="0"/>
          </a:p>
          <a:p>
            <a:pPr marL="0" indent="0" algn="l">
              <a:lnSpc>
                <a:spcPts val="1600"/>
              </a:lnSpc>
              <a:buNone/>
            </a:pPr>
            <a:r>
              <a:rPr lang="en-US" sz="1100" dirty="0">
                <a:solidFill>
                  <a:srgbClr val="222633"/>
                </a:solidFill>
                <a:latin typeface="Pretendard" pitchFamily="34" charset="0"/>
                <a:ea typeface="Pretendard" pitchFamily="34" charset="-122"/>
                <a:cs typeface="Pretendard" pitchFamily="34" charset="-120"/>
              </a:rPr>
              <a:t>그 추출물 · 합성품 등</a:t>
            </a:r>
            <a:endParaRPr lang="en-US" sz="1100" dirty="0"/>
          </a:p>
          <a:p>
            <a:pPr marL="0" indent="0" algn="l">
              <a:lnSpc>
                <a:spcPts val="1600"/>
              </a:lnSpc>
              <a:buNone/>
            </a:pPr>
            <a:r>
              <a:rPr lang="en-US" sz="1100" dirty="0">
                <a:solidFill>
                  <a:srgbClr val="222633"/>
                </a:solidFill>
                <a:latin typeface="Pretendard" pitchFamily="34" charset="0"/>
                <a:ea typeface="Pretendard" pitchFamily="34" charset="-122"/>
                <a:cs typeface="Pretendard" pitchFamily="34" charset="-120"/>
              </a:rPr>
              <a:t>법이 열거한 물질</a:t>
            </a:r>
            <a:endParaRPr lang="en-US" sz="1100" dirty="0"/>
          </a:p>
        </p:txBody>
      </p:sp>
      <p:sp>
        <p:nvSpPr>
          <p:cNvPr id="21" name="Shape 19"/>
          <p:cNvSpPr/>
          <p:nvPr/>
        </p:nvSpPr>
        <p:spPr>
          <a:xfrm>
            <a:off x="5511424" y="2990088"/>
            <a:ext cx="3102224" cy="877824"/>
          </a:xfrm>
          <a:prstGeom prst="rect">
            <a:avLst/>
          </a:prstGeom>
          <a:solidFill>
            <a:srgbClr val="FFFFFF"/>
          </a:solidFill>
          <a:ln w="12700">
            <a:solidFill>
              <a:srgbClr val="DCE0E8"/>
            </a:solidFill>
            <a:prstDash val="solid"/>
          </a:ln>
        </p:spPr>
        <p:txBody>
          <a:bodyPr/>
          <a:lstStyle/>
          <a:p>
            <a:endParaRPr lang="ko-KR" altLang="en-US"/>
          </a:p>
        </p:txBody>
      </p:sp>
      <p:sp>
        <p:nvSpPr>
          <p:cNvPr id="22" name="Text 20"/>
          <p:cNvSpPr/>
          <p:nvPr/>
        </p:nvSpPr>
        <p:spPr>
          <a:xfrm>
            <a:off x="5559068" y="2980944"/>
            <a:ext cx="2981428" cy="877824"/>
          </a:xfrm>
          <a:prstGeom prst="rect">
            <a:avLst/>
          </a:prstGeom>
          <a:noFill/>
          <a:ln/>
        </p:spPr>
        <p:txBody>
          <a:bodyPr wrap="square" lIns="0" tIns="0" rIns="0" bIns="0" rtlCol="0" anchor="ctr"/>
          <a:lstStyle/>
          <a:p>
            <a:pPr marL="0" indent="0" algn="l">
              <a:lnSpc>
                <a:spcPts val="1600"/>
              </a:lnSpc>
              <a:buNone/>
            </a:pPr>
            <a:r>
              <a:rPr lang="ko-KR" altLang="en-US" sz="1100" dirty="0">
                <a:solidFill>
                  <a:srgbClr val="222633"/>
                </a:solidFill>
                <a:latin typeface="Pretendard" pitchFamily="34" charset="0"/>
                <a:ea typeface="Pretendard" pitchFamily="34" charset="-122"/>
                <a:cs typeface="Pretendard" pitchFamily="34" charset="-120"/>
              </a:rPr>
              <a:t>전통적 마약계열에 추가로 통제하는 </a:t>
            </a:r>
            <a:r>
              <a:rPr lang="ko-KR" altLang="en-US" sz="1100">
                <a:solidFill>
                  <a:srgbClr val="222633"/>
                </a:solidFill>
                <a:latin typeface="Pretendard" pitchFamily="34" charset="0"/>
                <a:ea typeface="Pretendard" pitchFamily="34" charset="-122"/>
                <a:cs typeface="Pretendard" pitchFamily="34" charset="-120"/>
              </a:rPr>
              <a:t>정신작용 </a:t>
            </a:r>
            <a:r>
              <a:rPr lang="ko-KR" altLang="en-US" sz="1100" dirty="0" err="1">
                <a:solidFill>
                  <a:srgbClr val="222633"/>
                </a:solidFill>
                <a:latin typeface="Pretendard" pitchFamily="34" charset="0"/>
                <a:ea typeface="Pretendard" pitchFamily="34" charset="-122"/>
                <a:cs typeface="Pretendard" pitchFamily="34" charset="-120"/>
              </a:rPr>
              <a:t>물질군</a:t>
            </a:r>
            <a:endParaRPr lang="en-US" sz="1100" dirty="0">
              <a:solidFill>
                <a:srgbClr val="222633"/>
              </a:solidFill>
              <a:latin typeface="Pretendard" pitchFamily="34" charset="0"/>
              <a:ea typeface="Pretendard" pitchFamily="34" charset="-122"/>
              <a:cs typeface="Pretendard" pitchFamily="34" charset="-120"/>
            </a:endParaRPr>
          </a:p>
          <a:p>
            <a:pPr marL="0" indent="0" algn="l">
              <a:lnSpc>
                <a:spcPts val="1600"/>
              </a:lnSpc>
              <a:buNone/>
            </a:pPr>
            <a:r>
              <a:rPr lang="en-US" sz="1100" dirty="0" err="1">
                <a:solidFill>
                  <a:srgbClr val="222633"/>
                </a:solidFill>
                <a:latin typeface="Pretendard" pitchFamily="34" charset="0"/>
                <a:ea typeface="Pretendard" pitchFamily="34" charset="-122"/>
                <a:cs typeface="Pretendard" pitchFamily="34" charset="-120"/>
              </a:rPr>
              <a:t>중추신경계</a:t>
            </a:r>
            <a:r>
              <a:rPr lang="en-US" sz="1100" dirty="0">
                <a:solidFill>
                  <a:srgbClr val="222633"/>
                </a:solidFill>
                <a:latin typeface="Pretendard" pitchFamily="34" charset="0"/>
                <a:ea typeface="Pretendard" pitchFamily="34" charset="-122"/>
                <a:cs typeface="Pretendard" pitchFamily="34" charset="-120"/>
              </a:rPr>
              <a:t> 작용에 더해</a:t>
            </a:r>
            <a:endParaRPr lang="en-US" sz="1100" dirty="0"/>
          </a:p>
          <a:p>
            <a:pPr marL="0" indent="0" algn="l">
              <a:lnSpc>
                <a:spcPts val="1600"/>
              </a:lnSpc>
              <a:buNone/>
            </a:pPr>
            <a:r>
              <a:rPr lang="en-US" sz="1100" dirty="0">
                <a:solidFill>
                  <a:srgbClr val="222633"/>
                </a:solidFill>
                <a:latin typeface="Pretendard" pitchFamily="34" charset="0"/>
                <a:ea typeface="Pretendard" pitchFamily="34" charset="-122"/>
                <a:cs typeface="Pretendard" pitchFamily="34" charset="-120"/>
              </a:rPr>
              <a:t>오남용 위험 · 의존성 · 의료용 여부</a:t>
            </a:r>
            <a:endParaRPr lang="en-US" sz="1100" dirty="0"/>
          </a:p>
          <a:p>
            <a:pPr marL="0" indent="0" algn="l">
              <a:lnSpc>
                <a:spcPts val="1600"/>
              </a:lnSpc>
              <a:buNone/>
            </a:pPr>
            <a:r>
              <a:rPr lang="en-US" sz="1100" dirty="0">
                <a:solidFill>
                  <a:srgbClr val="222633"/>
                </a:solidFill>
                <a:latin typeface="Pretendard" pitchFamily="34" charset="0"/>
                <a:ea typeface="Pretendard" pitchFamily="34" charset="-122"/>
                <a:cs typeface="Pretendard" pitchFamily="34" charset="-120"/>
              </a:rPr>
              <a:t>등을 기준으로 지정</a:t>
            </a:r>
            <a:endParaRPr lang="en-US" sz="1100" dirty="0"/>
          </a:p>
        </p:txBody>
      </p:sp>
      <p:sp>
        <p:nvSpPr>
          <p:cNvPr id="23" name="Shape 21"/>
          <p:cNvSpPr/>
          <p:nvPr/>
        </p:nvSpPr>
        <p:spPr>
          <a:xfrm>
            <a:off x="8558784" y="2980944"/>
            <a:ext cx="2871216" cy="877824"/>
          </a:xfrm>
          <a:prstGeom prst="rect">
            <a:avLst/>
          </a:prstGeom>
          <a:solidFill>
            <a:srgbClr val="FFFFFF"/>
          </a:solidFill>
          <a:ln w="12700">
            <a:solidFill>
              <a:srgbClr val="DCE0E8"/>
            </a:solidFill>
            <a:prstDash val="solid"/>
          </a:ln>
        </p:spPr>
        <p:txBody>
          <a:bodyPr/>
          <a:lstStyle/>
          <a:p>
            <a:endParaRPr lang="ko-KR" altLang="en-US"/>
          </a:p>
        </p:txBody>
      </p:sp>
      <p:sp>
        <p:nvSpPr>
          <p:cNvPr id="24" name="Text 22"/>
          <p:cNvSpPr/>
          <p:nvPr/>
        </p:nvSpPr>
        <p:spPr>
          <a:xfrm>
            <a:off x="8686800" y="2986960"/>
            <a:ext cx="2615184" cy="877824"/>
          </a:xfrm>
          <a:prstGeom prst="rect">
            <a:avLst/>
          </a:prstGeom>
          <a:noFill/>
          <a:ln/>
        </p:spPr>
        <p:txBody>
          <a:bodyPr wrap="square" lIns="0" tIns="0" rIns="0" bIns="0" rtlCol="0" anchor="ctr"/>
          <a:lstStyle/>
          <a:p>
            <a:pPr marL="0" indent="0" algn="l">
              <a:lnSpc>
                <a:spcPts val="1600"/>
              </a:lnSpc>
              <a:buNone/>
            </a:pPr>
            <a:r>
              <a:rPr lang="ko-KR" altLang="en-US" sz="1100" dirty="0">
                <a:solidFill>
                  <a:srgbClr val="222633"/>
                </a:solidFill>
                <a:latin typeface="Pretendard" pitchFamily="34" charset="0"/>
                <a:ea typeface="Pretendard" pitchFamily="34" charset="-122"/>
                <a:cs typeface="Pretendard" pitchFamily="34" charset="-120"/>
              </a:rPr>
              <a:t>산업용 작물</a:t>
            </a:r>
            <a:r>
              <a:rPr lang="en-US" altLang="ko-KR" sz="1100" dirty="0">
                <a:solidFill>
                  <a:srgbClr val="222633"/>
                </a:solidFill>
                <a:latin typeface="Pretendard" pitchFamily="34" charset="0"/>
                <a:ea typeface="Pretendard" pitchFamily="34" charset="-122"/>
                <a:cs typeface="Pretendard" pitchFamily="34" charset="-120"/>
              </a:rPr>
              <a:t>(</a:t>
            </a:r>
            <a:r>
              <a:rPr lang="ko-KR" altLang="en-US" sz="1100" dirty="0">
                <a:solidFill>
                  <a:srgbClr val="222633"/>
                </a:solidFill>
                <a:latin typeface="Pretendard" pitchFamily="34" charset="0"/>
                <a:ea typeface="Pretendard" pitchFamily="34" charset="-122"/>
                <a:cs typeface="Pretendard" pitchFamily="34" charset="-120"/>
              </a:rPr>
              <a:t>삼베</a:t>
            </a:r>
            <a:r>
              <a:rPr lang="en-US" altLang="ko-KR" sz="1100" dirty="0">
                <a:solidFill>
                  <a:srgbClr val="222633"/>
                </a:solidFill>
                <a:latin typeface="Pretendard" pitchFamily="34" charset="0"/>
                <a:ea typeface="Pretendard" pitchFamily="34" charset="-122"/>
                <a:cs typeface="Pretendard" pitchFamily="34" charset="-120"/>
              </a:rPr>
              <a:t>)</a:t>
            </a:r>
            <a:r>
              <a:rPr lang="ko-KR" altLang="en-US" sz="1100" dirty="0">
                <a:solidFill>
                  <a:srgbClr val="222633"/>
                </a:solidFill>
                <a:latin typeface="Pretendard" pitchFamily="34" charset="0"/>
                <a:ea typeface="Pretendard" pitchFamily="34" charset="-122"/>
                <a:cs typeface="Pretendard" pitchFamily="34" charset="-120"/>
              </a:rPr>
              <a:t>로서 </a:t>
            </a:r>
            <a:r>
              <a:rPr lang="ko-KR" altLang="en-US" sz="1100" dirty="0" err="1">
                <a:solidFill>
                  <a:srgbClr val="222633"/>
                </a:solidFill>
                <a:latin typeface="Pretendard" pitchFamily="34" charset="0"/>
                <a:ea typeface="Pretendard" pitchFamily="34" charset="-122"/>
                <a:cs typeface="Pretendard" pitchFamily="34" charset="-120"/>
              </a:rPr>
              <a:t>이용외</a:t>
            </a:r>
            <a:r>
              <a:rPr lang="ko-KR" altLang="en-US" sz="1100" dirty="0">
                <a:solidFill>
                  <a:srgbClr val="222633"/>
                </a:solidFill>
                <a:latin typeface="Pretendard" pitchFamily="34" charset="0"/>
                <a:ea typeface="Pretendard" pitchFamily="34" charset="-122"/>
                <a:cs typeface="Pretendard" pitchFamily="34" charset="-120"/>
              </a:rPr>
              <a:t> 목적을 통제 </a:t>
            </a:r>
            <a:endParaRPr lang="en-US" sz="1100" dirty="0">
              <a:solidFill>
                <a:srgbClr val="222633"/>
              </a:solidFill>
              <a:latin typeface="Pretendard" pitchFamily="34" charset="0"/>
              <a:ea typeface="Pretendard" pitchFamily="34" charset="-122"/>
              <a:cs typeface="Pretendard" pitchFamily="34" charset="-120"/>
            </a:endParaRPr>
          </a:p>
          <a:p>
            <a:pPr marL="0" indent="0" algn="l">
              <a:lnSpc>
                <a:spcPts val="1600"/>
              </a:lnSpc>
              <a:buNone/>
            </a:pPr>
            <a:r>
              <a:rPr lang="en-US" sz="1100" dirty="0" err="1">
                <a:solidFill>
                  <a:srgbClr val="222633"/>
                </a:solidFill>
                <a:latin typeface="Pretendard" pitchFamily="34" charset="0"/>
                <a:ea typeface="Pretendard" pitchFamily="34" charset="-122"/>
                <a:cs typeface="Pretendard" pitchFamily="34" charset="-120"/>
              </a:rPr>
              <a:t>대마초</a:t>
            </a:r>
            <a:r>
              <a:rPr lang="en-US" sz="1100" dirty="0">
                <a:solidFill>
                  <a:srgbClr val="222633"/>
                </a:solidFill>
                <a:latin typeface="Pretendard" pitchFamily="34" charset="0"/>
                <a:ea typeface="Pretendard" pitchFamily="34" charset="-122"/>
                <a:cs typeface="Pretendard" pitchFamily="34" charset="-120"/>
              </a:rPr>
              <a:t> · </a:t>
            </a:r>
            <a:r>
              <a:rPr lang="en-US" sz="1100" dirty="0" err="1">
                <a:solidFill>
                  <a:srgbClr val="222633"/>
                </a:solidFill>
                <a:latin typeface="Pretendard" pitchFamily="34" charset="0"/>
                <a:ea typeface="Pretendard" pitchFamily="34" charset="-122"/>
                <a:cs typeface="Pretendard" pitchFamily="34" charset="-120"/>
              </a:rPr>
              <a:t>수지와</a:t>
            </a:r>
            <a:r>
              <a:rPr lang="en-US" sz="1100" dirty="0">
                <a:solidFill>
                  <a:srgbClr val="222633"/>
                </a:solidFill>
                <a:latin typeface="Pretendard" pitchFamily="34" charset="0"/>
                <a:ea typeface="Pretendard" pitchFamily="34" charset="-122"/>
                <a:cs typeface="Pretendard" pitchFamily="34" charset="-120"/>
              </a:rPr>
              <a:t> </a:t>
            </a:r>
            <a:r>
              <a:rPr lang="en-US" sz="1100" dirty="0" err="1">
                <a:solidFill>
                  <a:srgbClr val="222633"/>
                </a:solidFill>
                <a:latin typeface="Pretendard" pitchFamily="34" charset="0"/>
                <a:ea typeface="Pretendard" pitchFamily="34" charset="-122"/>
                <a:cs typeface="Pretendard" pitchFamily="34" charset="-120"/>
              </a:rPr>
              <a:t>이를</a:t>
            </a:r>
            <a:r>
              <a:rPr lang="en-US" sz="1100" dirty="0">
                <a:solidFill>
                  <a:srgbClr val="222633"/>
                </a:solidFill>
                <a:latin typeface="Pretendard" pitchFamily="34" charset="0"/>
                <a:ea typeface="Pretendard" pitchFamily="34" charset="-122"/>
                <a:cs typeface="Pretendard" pitchFamily="34" charset="-120"/>
              </a:rPr>
              <a:t> </a:t>
            </a:r>
            <a:r>
              <a:rPr lang="en-US" sz="1100" dirty="0" err="1">
                <a:solidFill>
                  <a:srgbClr val="222633"/>
                </a:solidFill>
                <a:latin typeface="Pretendard" pitchFamily="34" charset="0"/>
                <a:ea typeface="Pretendard" pitchFamily="34" charset="-122"/>
                <a:cs typeface="Pretendard" pitchFamily="34" charset="-120"/>
              </a:rPr>
              <a:t>원료로</a:t>
            </a:r>
            <a:r>
              <a:rPr lang="en-US" sz="1100" dirty="0">
                <a:solidFill>
                  <a:srgbClr val="222633"/>
                </a:solidFill>
                <a:latin typeface="Pretendard" pitchFamily="34" charset="0"/>
                <a:ea typeface="Pretendard" pitchFamily="34" charset="-122"/>
                <a:cs typeface="Pretendard" pitchFamily="34" charset="-120"/>
              </a:rPr>
              <a:t> 한</a:t>
            </a:r>
            <a:endParaRPr lang="en-US" sz="1100" dirty="0"/>
          </a:p>
          <a:p>
            <a:pPr marL="0" indent="0" algn="l">
              <a:lnSpc>
                <a:spcPts val="1600"/>
              </a:lnSpc>
              <a:buNone/>
            </a:pPr>
            <a:r>
              <a:rPr lang="en-US" sz="1100" dirty="0" err="1">
                <a:solidFill>
                  <a:srgbClr val="222633"/>
                </a:solidFill>
                <a:latin typeface="Pretendard" pitchFamily="34" charset="0"/>
                <a:ea typeface="Pretendard" pitchFamily="34" charset="-122"/>
                <a:cs typeface="Pretendard" pitchFamily="34" charset="-120"/>
              </a:rPr>
              <a:t>제품</a:t>
            </a:r>
            <a:r>
              <a:rPr lang="en-US" sz="1100" dirty="0">
                <a:solidFill>
                  <a:srgbClr val="222633"/>
                </a:solidFill>
                <a:latin typeface="Pretendard" pitchFamily="34" charset="0"/>
                <a:ea typeface="Pretendard" pitchFamily="34" charset="-122"/>
                <a:cs typeface="Pretendard" pitchFamily="34" charset="-120"/>
              </a:rPr>
              <a:t> 및 법령이 정한</a:t>
            </a:r>
            <a:endParaRPr lang="en-US" sz="1100" dirty="0"/>
          </a:p>
          <a:p>
            <a:pPr marL="0" indent="0" algn="l">
              <a:lnSpc>
                <a:spcPts val="1600"/>
              </a:lnSpc>
              <a:buNone/>
            </a:pPr>
            <a:r>
              <a:rPr lang="en-US" sz="1100" dirty="0">
                <a:solidFill>
                  <a:srgbClr val="222633"/>
                </a:solidFill>
                <a:latin typeface="Pretendard" pitchFamily="34" charset="0"/>
                <a:ea typeface="Pretendard" pitchFamily="34" charset="-122"/>
                <a:cs typeface="Pretendard" pitchFamily="34" charset="-120"/>
              </a:rPr>
              <a:t>관련 물질</a:t>
            </a:r>
            <a:endParaRPr lang="en-US" sz="1100" dirty="0"/>
          </a:p>
        </p:txBody>
      </p:sp>
      <p:sp>
        <p:nvSpPr>
          <p:cNvPr id="25" name="Shape 23"/>
          <p:cNvSpPr/>
          <p:nvPr/>
        </p:nvSpPr>
        <p:spPr>
          <a:xfrm>
            <a:off x="713232" y="3858768"/>
            <a:ext cx="1909652" cy="603504"/>
          </a:xfrm>
          <a:prstGeom prst="rect">
            <a:avLst/>
          </a:prstGeom>
          <a:solidFill>
            <a:srgbClr val="FFFFFF"/>
          </a:solidFill>
          <a:ln w="12700">
            <a:solidFill>
              <a:srgbClr val="DCE0E8"/>
            </a:solidFill>
            <a:prstDash val="solid"/>
          </a:ln>
        </p:spPr>
        <p:txBody>
          <a:bodyPr/>
          <a:lstStyle/>
          <a:p>
            <a:endParaRPr lang="ko-KR" altLang="en-US"/>
          </a:p>
        </p:txBody>
      </p:sp>
      <p:sp>
        <p:nvSpPr>
          <p:cNvPr id="26" name="Text 24"/>
          <p:cNvSpPr/>
          <p:nvPr/>
        </p:nvSpPr>
        <p:spPr>
          <a:xfrm>
            <a:off x="859536" y="3858768"/>
            <a:ext cx="1847088" cy="603504"/>
          </a:xfrm>
          <a:prstGeom prst="rect">
            <a:avLst/>
          </a:prstGeom>
          <a:noFill/>
          <a:ln/>
        </p:spPr>
        <p:txBody>
          <a:bodyPr wrap="square" lIns="0" tIns="0" rIns="0" bIns="0" rtlCol="0" anchor="ctr"/>
          <a:lstStyle/>
          <a:p>
            <a:pPr marL="0" indent="0" algn="ctr">
              <a:lnSpc>
                <a:spcPts val="1600"/>
              </a:lnSpc>
              <a:buNone/>
            </a:pPr>
            <a:r>
              <a:rPr lang="en-US" sz="1150" b="1" dirty="0">
                <a:solidFill>
                  <a:srgbClr val="A8871C"/>
                </a:solidFill>
                <a:latin typeface="Pretendard" pitchFamily="34" charset="0"/>
                <a:ea typeface="Pretendard" pitchFamily="34" charset="-122"/>
                <a:cs typeface="Pretendard" pitchFamily="34" charset="-120"/>
              </a:rPr>
              <a:t>대표 예</a:t>
            </a:r>
            <a:endParaRPr lang="en-US" sz="1150" dirty="0"/>
          </a:p>
        </p:txBody>
      </p:sp>
      <p:sp>
        <p:nvSpPr>
          <p:cNvPr id="27" name="Shape 25"/>
          <p:cNvSpPr/>
          <p:nvPr/>
        </p:nvSpPr>
        <p:spPr>
          <a:xfrm>
            <a:off x="2636118" y="3858768"/>
            <a:ext cx="2875306" cy="603504"/>
          </a:xfrm>
          <a:prstGeom prst="rect">
            <a:avLst/>
          </a:prstGeom>
          <a:solidFill>
            <a:srgbClr val="FFFFFF"/>
          </a:solidFill>
          <a:ln w="12700">
            <a:solidFill>
              <a:srgbClr val="DCE0E8"/>
            </a:solidFill>
            <a:prstDash val="solid"/>
          </a:ln>
        </p:spPr>
        <p:txBody>
          <a:bodyPr/>
          <a:lstStyle/>
          <a:p>
            <a:endParaRPr lang="ko-KR" altLang="en-US"/>
          </a:p>
        </p:txBody>
      </p:sp>
      <p:sp>
        <p:nvSpPr>
          <p:cNvPr id="28" name="Text 26"/>
          <p:cNvSpPr/>
          <p:nvPr/>
        </p:nvSpPr>
        <p:spPr>
          <a:xfrm>
            <a:off x="2764134" y="3858768"/>
            <a:ext cx="2606040" cy="603504"/>
          </a:xfrm>
          <a:prstGeom prst="rect">
            <a:avLst/>
          </a:prstGeom>
          <a:noFill/>
          <a:ln/>
        </p:spPr>
        <p:txBody>
          <a:bodyPr wrap="square" lIns="0" tIns="0" rIns="0" bIns="0" rtlCol="0" anchor="ctr"/>
          <a:lstStyle/>
          <a:p>
            <a:pPr marL="0" indent="0" algn="l">
              <a:lnSpc>
                <a:spcPts val="1600"/>
              </a:lnSpc>
              <a:buNone/>
            </a:pPr>
            <a:r>
              <a:rPr lang="en-US" sz="1100" b="1" dirty="0">
                <a:solidFill>
                  <a:srgbClr val="222633"/>
                </a:solidFill>
                <a:latin typeface="Pretendard" pitchFamily="34" charset="0"/>
                <a:ea typeface="Pretendard" pitchFamily="34" charset="-122"/>
                <a:cs typeface="Pretendard" pitchFamily="34" charset="-120"/>
              </a:rPr>
              <a:t>모르핀 · 코카인 · 펜타닐</a:t>
            </a:r>
            <a:endParaRPr lang="en-US" sz="1100" b="1" dirty="0"/>
          </a:p>
        </p:txBody>
      </p:sp>
      <p:sp>
        <p:nvSpPr>
          <p:cNvPr id="29" name="Shape 27"/>
          <p:cNvSpPr/>
          <p:nvPr/>
        </p:nvSpPr>
        <p:spPr>
          <a:xfrm>
            <a:off x="5511424" y="3867912"/>
            <a:ext cx="3102224" cy="603504"/>
          </a:xfrm>
          <a:prstGeom prst="rect">
            <a:avLst/>
          </a:prstGeom>
          <a:solidFill>
            <a:srgbClr val="FFFFFF"/>
          </a:solidFill>
          <a:ln w="12700">
            <a:solidFill>
              <a:srgbClr val="DCE0E8"/>
            </a:solidFill>
            <a:prstDash val="solid"/>
          </a:ln>
        </p:spPr>
        <p:txBody>
          <a:bodyPr/>
          <a:lstStyle/>
          <a:p>
            <a:endParaRPr lang="ko-KR" altLang="en-US"/>
          </a:p>
        </p:txBody>
      </p:sp>
      <p:sp>
        <p:nvSpPr>
          <p:cNvPr id="30" name="Text 28"/>
          <p:cNvSpPr/>
          <p:nvPr/>
        </p:nvSpPr>
        <p:spPr>
          <a:xfrm>
            <a:off x="5632220" y="3858768"/>
            <a:ext cx="2606040" cy="603504"/>
          </a:xfrm>
          <a:prstGeom prst="rect">
            <a:avLst/>
          </a:prstGeom>
          <a:noFill/>
          <a:ln/>
        </p:spPr>
        <p:txBody>
          <a:bodyPr wrap="square" lIns="0" tIns="0" rIns="0" bIns="0" rtlCol="0" anchor="ctr"/>
          <a:lstStyle/>
          <a:p>
            <a:pPr marL="0" indent="0" algn="l">
              <a:lnSpc>
                <a:spcPts val="1600"/>
              </a:lnSpc>
              <a:buNone/>
            </a:pPr>
            <a:r>
              <a:rPr lang="en-US" sz="1100" b="1" dirty="0">
                <a:solidFill>
                  <a:srgbClr val="222633"/>
                </a:solidFill>
                <a:latin typeface="Pretendard" pitchFamily="34" charset="0"/>
                <a:ea typeface="Pretendard" pitchFamily="34" charset="-122"/>
                <a:cs typeface="Pretendard" pitchFamily="34" charset="-120"/>
              </a:rPr>
              <a:t>메트암페타민(필로폰)</a:t>
            </a:r>
            <a:endParaRPr lang="en-US" sz="1100" b="1" dirty="0"/>
          </a:p>
          <a:p>
            <a:pPr marL="0" indent="0" algn="l">
              <a:lnSpc>
                <a:spcPts val="1600"/>
              </a:lnSpc>
              <a:buNone/>
            </a:pPr>
            <a:r>
              <a:rPr lang="en-US" sz="1100" b="1" dirty="0">
                <a:solidFill>
                  <a:srgbClr val="222633"/>
                </a:solidFill>
                <a:latin typeface="Pretendard" pitchFamily="34" charset="0"/>
                <a:ea typeface="Pretendard" pitchFamily="34" charset="-122"/>
                <a:cs typeface="Pretendard" pitchFamily="34" charset="-120"/>
              </a:rPr>
              <a:t>졸피뎀 · 프로포폴</a:t>
            </a:r>
            <a:endParaRPr lang="en-US" sz="1100" b="1" dirty="0"/>
          </a:p>
        </p:txBody>
      </p:sp>
      <p:sp>
        <p:nvSpPr>
          <p:cNvPr id="31" name="Shape 29"/>
          <p:cNvSpPr/>
          <p:nvPr/>
        </p:nvSpPr>
        <p:spPr>
          <a:xfrm>
            <a:off x="8558784" y="3858768"/>
            <a:ext cx="2871216" cy="603504"/>
          </a:xfrm>
          <a:prstGeom prst="rect">
            <a:avLst/>
          </a:prstGeom>
          <a:solidFill>
            <a:srgbClr val="FFFFFF"/>
          </a:solidFill>
          <a:ln w="12700">
            <a:solidFill>
              <a:srgbClr val="DCE0E8"/>
            </a:solidFill>
            <a:prstDash val="solid"/>
          </a:ln>
        </p:spPr>
        <p:txBody>
          <a:bodyPr/>
          <a:lstStyle/>
          <a:p>
            <a:endParaRPr lang="ko-KR" altLang="en-US"/>
          </a:p>
        </p:txBody>
      </p:sp>
      <p:sp>
        <p:nvSpPr>
          <p:cNvPr id="32" name="Text 30"/>
          <p:cNvSpPr/>
          <p:nvPr/>
        </p:nvSpPr>
        <p:spPr>
          <a:xfrm>
            <a:off x="8686800" y="3858768"/>
            <a:ext cx="2615184" cy="603504"/>
          </a:xfrm>
          <a:prstGeom prst="rect">
            <a:avLst/>
          </a:prstGeom>
          <a:noFill/>
          <a:ln/>
        </p:spPr>
        <p:txBody>
          <a:bodyPr wrap="square" lIns="0" tIns="0" rIns="0" bIns="0" rtlCol="0" anchor="ctr"/>
          <a:lstStyle/>
          <a:p>
            <a:pPr marL="0" indent="0" algn="l">
              <a:lnSpc>
                <a:spcPts val="1600"/>
              </a:lnSpc>
              <a:buNone/>
            </a:pPr>
            <a:r>
              <a:rPr lang="en-US" sz="1100" b="1" dirty="0">
                <a:solidFill>
                  <a:srgbClr val="222633"/>
                </a:solidFill>
                <a:latin typeface="Pretendard" pitchFamily="34" charset="0"/>
                <a:ea typeface="Pretendard" pitchFamily="34" charset="-122"/>
                <a:cs typeface="Pretendard" pitchFamily="34" charset="-120"/>
              </a:rPr>
              <a:t>대마초 · 대마수지</a:t>
            </a:r>
            <a:endParaRPr lang="en-US" sz="1100" b="1" dirty="0"/>
          </a:p>
        </p:txBody>
      </p:sp>
      <p:sp>
        <p:nvSpPr>
          <p:cNvPr id="33" name="Shape 31"/>
          <p:cNvSpPr/>
          <p:nvPr/>
        </p:nvSpPr>
        <p:spPr>
          <a:xfrm>
            <a:off x="713232" y="4462272"/>
            <a:ext cx="1909652" cy="713232"/>
          </a:xfrm>
          <a:prstGeom prst="rect">
            <a:avLst/>
          </a:prstGeom>
          <a:solidFill>
            <a:srgbClr val="FFFFFF"/>
          </a:solidFill>
          <a:ln w="12700">
            <a:solidFill>
              <a:srgbClr val="DCE0E8"/>
            </a:solidFill>
            <a:prstDash val="solid"/>
          </a:ln>
        </p:spPr>
        <p:txBody>
          <a:bodyPr/>
          <a:lstStyle/>
          <a:p>
            <a:endParaRPr lang="ko-KR" altLang="en-US"/>
          </a:p>
        </p:txBody>
      </p:sp>
      <p:sp>
        <p:nvSpPr>
          <p:cNvPr id="34" name="Text 32"/>
          <p:cNvSpPr/>
          <p:nvPr/>
        </p:nvSpPr>
        <p:spPr>
          <a:xfrm>
            <a:off x="859536" y="4462272"/>
            <a:ext cx="1847088" cy="713232"/>
          </a:xfrm>
          <a:prstGeom prst="rect">
            <a:avLst/>
          </a:prstGeom>
          <a:noFill/>
          <a:ln/>
        </p:spPr>
        <p:txBody>
          <a:bodyPr wrap="square" lIns="0" tIns="0" rIns="0" bIns="0" rtlCol="0" anchor="ctr"/>
          <a:lstStyle/>
          <a:p>
            <a:pPr marL="0" indent="0" algn="ctr">
              <a:lnSpc>
                <a:spcPts val="1600"/>
              </a:lnSpc>
              <a:buNone/>
            </a:pPr>
            <a:r>
              <a:rPr lang="en-US" sz="1150" b="1" dirty="0">
                <a:solidFill>
                  <a:srgbClr val="A8871C"/>
                </a:solidFill>
                <a:latin typeface="Pretendard" pitchFamily="34" charset="0"/>
                <a:ea typeface="Pretendard" pitchFamily="34" charset="-122"/>
                <a:cs typeface="Pretendard" pitchFamily="34" charset="-120"/>
              </a:rPr>
              <a:t>특징</a:t>
            </a:r>
            <a:endParaRPr lang="en-US" sz="1150" dirty="0"/>
          </a:p>
        </p:txBody>
      </p:sp>
      <p:sp>
        <p:nvSpPr>
          <p:cNvPr id="35" name="Shape 33"/>
          <p:cNvSpPr/>
          <p:nvPr/>
        </p:nvSpPr>
        <p:spPr>
          <a:xfrm>
            <a:off x="2636118" y="4462272"/>
            <a:ext cx="2875306" cy="713232"/>
          </a:xfrm>
          <a:prstGeom prst="rect">
            <a:avLst/>
          </a:prstGeom>
          <a:solidFill>
            <a:srgbClr val="FFFFFF"/>
          </a:solidFill>
          <a:ln w="12700">
            <a:solidFill>
              <a:srgbClr val="DCE0E8"/>
            </a:solidFill>
            <a:prstDash val="solid"/>
          </a:ln>
        </p:spPr>
        <p:txBody>
          <a:bodyPr/>
          <a:lstStyle/>
          <a:p>
            <a:endParaRPr lang="ko-KR" altLang="en-US"/>
          </a:p>
        </p:txBody>
      </p:sp>
      <p:sp>
        <p:nvSpPr>
          <p:cNvPr id="36" name="Text 34"/>
          <p:cNvSpPr/>
          <p:nvPr/>
        </p:nvSpPr>
        <p:spPr>
          <a:xfrm>
            <a:off x="2764134" y="4462272"/>
            <a:ext cx="2606040" cy="713232"/>
          </a:xfrm>
          <a:prstGeom prst="rect">
            <a:avLst/>
          </a:prstGeom>
          <a:noFill/>
          <a:ln/>
        </p:spPr>
        <p:txBody>
          <a:bodyPr wrap="square" lIns="0" tIns="0" rIns="0" bIns="0" rtlCol="0" anchor="ctr"/>
          <a:lstStyle/>
          <a:p>
            <a:pPr marL="0" indent="0" algn="l">
              <a:lnSpc>
                <a:spcPts val="1600"/>
              </a:lnSpc>
              <a:buNone/>
            </a:pPr>
            <a:r>
              <a:rPr lang="en-US" sz="1100" dirty="0">
                <a:solidFill>
                  <a:srgbClr val="222633"/>
                </a:solidFill>
                <a:latin typeface="Pretendard" pitchFamily="34" charset="0"/>
                <a:ea typeface="Pretendard" pitchFamily="34" charset="-122"/>
                <a:cs typeface="Pretendard" pitchFamily="34" charset="-120"/>
              </a:rPr>
              <a:t>의료용으로 사용되는</a:t>
            </a:r>
            <a:endParaRPr lang="en-US" sz="1100" dirty="0"/>
          </a:p>
          <a:p>
            <a:pPr marL="0" indent="0" algn="l">
              <a:lnSpc>
                <a:spcPts val="1600"/>
              </a:lnSpc>
              <a:buNone/>
            </a:pPr>
            <a:r>
              <a:rPr lang="en-US" sz="1100" dirty="0">
                <a:solidFill>
                  <a:srgbClr val="222633"/>
                </a:solidFill>
                <a:latin typeface="Pretendard" pitchFamily="34" charset="0"/>
                <a:ea typeface="Pretendard" pitchFamily="34" charset="-122"/>
                <a:cs typeface="Pretendard" pitchFamily="34" charset="-120"/>
              </a:rPr>
              <a:t>물질도 포함된다</a:t>
            </a:r>
            <a:endParaRPr lang="en-US" sz="1100" dirty="0"/>
          </a:p>
        </p:txBody>
      </p:sp>
      <p:sp>
        <p:nvSpPr>
          <p:cNvPr id="37" name="Shape 35"/>
          <p:cNvSpPr/>
          <p:nvPr/>
        </p:nvSpPr>
        <p:spPr>
          <a:xfrm>
            <a:off x="5511424" y="4471416"/>
            <a:ext cx="3102224" cy="713232"/>
          </a:xfrm>
          <a:prstGeom prst="rect">
            <a:avLst/>
          </a:prstGeom>
          <a:solidFill>
            <a:srgbClr val="FFFFFF"/>
          </a:solidFill>
          <a:ln w="12700">
            <a:solidFill>
              <a:srgbClr val="DCE0E8"/>
            </a:solidFill>
            <a:prstDash val="solid"/>
          </a:ln>
        </p:spPr>
        <p:txBody>
          <a:bodyPr/>
          <a:lstStyle/>
          <a:p>
            <a:endParaRPr lang="ko-KR" altLang="en-US"/>
          </a:p>
        </p:txBody>
      </p:sp>
      <p:sp>
        <p:nvSpPr>
          <p:cNvPr id="38" name="Text 36"/>
          <p:cNvSpPr/>
          <p:nvPr/>
        </p:nvSpPr>
        <p:spPr>
          <a:xfrm>
            <a:off x="5632220" y="4462272"/>
            <a:ext cx="2606040" cy="713232"/>
          </a:xfrm>
          <a:prstGeom prst="rect">
            <a:avLst/>
          </a:prstGeom>
          <a:noFill/>
          <a:ln/>
        </p:spPr>
        <p:txBody>
          <a:bodyPr wrap="square" lIns="0" tIns="0" rIns="0" bIns="0" rtlCol="0" anchor="ctr"/>
          <a:lstStyle/>
          <a:p>
            <a:pPr marL="0" indent="0" algn="l">
              <a:lnSpc>
                <a:spcPts val="1600"/>
              </a:lnSpc>
              <a:buNone/>
            </a:pPr>
            <a:r>
              <a:rPr lang="en-US" sz="1100" dirty="0">
                <a:solidFill>
                  <a:srgbClr val="222633"/>
                </a:solidFill>
                <a:latin typeface="Pretendard" pitchFamily="34" charset="0"/>
                <a:ea typeface="Pretendard" pitchFamily="34" charset="-122"/>
                <a:cs typeface="Pretendard" pitchFamily="34" charset="-120"/>
              </a:rPr>
              <a:t>가~라목은 </a:t>
            </a:r>
            <a:r>
              <a:rPr lang="en-US" sz="1100" b="1" dirty="0">
                <a:solidFill>
                  <a:srgbClr val="222633"/>
                </a:solidFill>
                <a:highlight>
                  <a:srgbClr val="FFFF00"/>
                </a:highlight>
                <a:latin typeface="Pretendard" pitchFamily="34" charset="0"/>
                <a:ea typeface="Pretendard" pitchFamily="34" charset="-122"/>
                <a:cs typeface="Pretendard" pitchFamily="34" charset="-120"/>
              </a:rPr>
              <a:t>오남용 위험 · 의료용 사용 ·</a:t>
            </a:r>
            <a:endParaRPr lang="en-US" sz="1100" b="1" dirty="0">
              <a:highlight>
                <a:srgbClr val="FFFF00"/>
              </a:highlight>
            </a:endParaRPr>
          </a:p>
          <a:p>
            <a:pPr marL="0" indent="0" algn="l">
              <a:lnSpc>
                <a:spcPts val="1600"/>
              </a:lnSpc>
              <a:buNone/>
            </a:pPr>
            <a:r>
              <a:rPr lang="en-US" sz="1100" b="1" dirty="0">
                <a:solidFill>
                  <a:srgbClr val="222633"/>
                </a:solidFill>
                <a:highlight>
                  <a:srgbClr val="FFFF00"/>
                </a:highlight>
                <a:latin typeface="Pretendard" pitchFamily="34" charset="0"/>
                <a:ea typeface="Pretendard" pitchFamily="34" charset="-122"/>
                <a:cs typeface="Pretendard" pitchFamily="34" charset="-120"/>
              </a:rPr>
              <a:t>의존성 </a:t>
            </a:r>
            <a:r>
              <a:rPr lang="en-US" sz="1100" dirty="0">
                <a:solidFill>
                  <a:srgbClr val="222633"/>
                </a:solidFill>
                <a:highlight>
                  <a:srgbClr val="FFFF00"/>
                </a:highlight>
                <a:latin typeface="Pretendard" pitchFamily="34" charset="0"/>
                <a:ea typeface="Pretendard" pitchFamily="34" charset="-122"/>
                <a:cs typeface="Pretendard" pitchFamily="34" charset="-120"/>
              </a:rPr>
              <a:t>등으로 구분</a:t>
            </a:r>
            <a:r>
              <a:rPr lang="en-US" sz="1100" dirty="0">
                <a:solidFill>
                  <a:srgbClr val="222633"/>
                </a:solidFill>
                <a:latin typeface="Pretendard" pitchFamily="34" charset="0"/>
                <a:ea typeface="Pretendard" pitchFamily="34" charset="-122"/>
                <a:cs typeface="Pretendard" pitchFamily="34" charset="-120"/>
              </a:rPr>
              <a:t>하고, 마목은 이를</a:t>
            </a:r>
            <a:endParaRPr lang="en-US" sz="1100" dirty="0"/>
          </a:p>
          <a:p>
            <a:pPr marL="0" indent="0" algn="l">
              <a:lnSpc>
                <a:spcPts val="1600"/>
              </a:lnSpc>
              <a:buNone/>
            </a:pPr>
            <a:r>
              <a:rPr lang="en-US" sz="1100" dirty="0">
                <a:solidFill>
                  <a:srgbClr val="222633"/>
                </a:solidFill>
                <a:latin typeface="Pretendard" pitchFamily="34" charset="0"/>
                <a:ea typeface="Pretendard" pitchFamily="34" charset="-122"/>
                <a:cs typeface="Pretendard" pitchFamily="34" charset="-120"/>
              </a:rPr>
              <a:t>함유한 혼합물질 · 혼합제제를 포함한다</a:t>
            </a:r>
            <a:endParaRPr lang="en-US" sz="1100" dirty="0"/>
          </a:p>
        </p:txBody>
      </p:sp>
      <p:sp>
        <p:nvSpPr>
          <p:cNvPr id="39" name="Shape 37"/>
          <p:cNvSpPr/>
          <p:nvPr/>
        </p:nvSpPr>
        <p:spPr>
          <a:xfrm>
            <a:off x="8558784" y="4462272"/>
            <a:ext cx="2871216" cy="713232"/>
          </a:xfrm>
          <a:prstGeom prst="rect">
            <a:avLst/>
          </a:prstGeom>
          <a:solidFill>
            <a:srgbClr val="FFFFFF"/>
          </a:solidFill>
          <a:ln w="12700">
            <a:solidFill>
              <a:srgbClr val="DCE0E8"/>
            </a:solidFill>
            <a:prstDash val="solid"/>
          </a:ln>
        </p:spPr>
        <p:txBody>
          <a:bodyPr/>
          <a:lstStyle/>
          <a:p>
            <a:endParaRPr lang="ko-KR" altLang="en-US"/>
          </a:p>
        </p:txBody>
      </p:sp>
      <p:sp>
        <p:nvSpPr>
          <p:cNvPr id="40" name="Text 38"/>
          <p:cNvSpPr/>
          <p:nvPr/>
        </p:nvSpPr>
        <p:spPr>
          <a:xfrm>
            <a:off x="8686800" y="4462272"/>
            <a:ext cx="2615184" cy="713232"/>
          </a:xfrm>
          <a:prstGeom prst="rect">
            <a:avLst/>
          </a:prstGeom>
          <a:noFill/>
          <a:ln/>
        </p:spPr>
        <p:txBody>
          <a:bodyPr wrap="square" lIns="0" tIns="0" rIns="0" bIns="0" rtlCol="0" anchor="ctr"/>
          <a:lstStyle/>
          <a:p>
            <a:pPr marL="0" indent="0" algn="l">
              <a:lnSpc>
                <a:spcPts val="1600"/>
              </a:lnSpc>
              <a:buNone/>
            </a:pPr>
            <a:r>
              <a:rPr lang="en-US" sz="1100" dirty="0">
                <a:solidFill>
                  <a:srgbClr val="222633"/>
                </a:solidFill>
                <a:latin typeface="Pretendard" pitchFamily="34" charset="0"/>
                <a:ea typeface="Pretendard" pitchFamily="34" charset="-122"/>
                <a:cs typeface="Pretendard" pitchFamily="34" charset="-120"/>
              </a:rPr>
              <a:t>식물 · 수지 및 관련 제품을</a:t>
            </a:r>
            <a:endParaRPr lang="en-US" sz="1100" dirty="0"/>
          </a:p>
          <a:p>
            <a:pPr marL="0" indent="0" algn="l">
              <a:lnSpc>
                <a:spcPts val="1600"/>
              </a:lnSpc>
              <a:buNone/>
            </a:pPr>
            <a:r>
              <a:rPr lang="en-US" sz="1100" dirty="0">
                <a:solidFill>
                  <a:srgbClr val="222633"/>
                </a:solidFill>
                <a:latin typeface="Pretendard" pitchFamily="34" charset="0"/>
                <a:ea typeface="Pretendard" pitchFamily="34" charset="-122"/>
                <a:cs typeface="Pretendard" pitchFamily="34" charset="-120"/>
              </a:rPr>
              <a:t>별도의 법적 범주로 관리한다</a:t>
            </a:r>
            <a:endParaRPr lang="en-US" sz="1100" dirty="0"/>
          </a:p>
        </p:txBody>
      </p:sp>
      <p:sp>
        <p:nvSpPr>
          <p:cNvPr id="41" name="Text 39"/>
          <p:cNvSpPr/>
          <p:nvPr/>
        </p:nvSpPr>
        <p:spPr>
          <a:xfrm>
            <a:off x="731520" y="5303520"/>
            <a:ext cx="10698480" cy="292608"/>
          </a:xfrm>
          <a:prstGeom prst="rect">
            <a:avLst/>
          </a:prstGeom>
          <a:noFill/>
          <a:ln/>
        </p:spPr>
        <p:txBody>
          <a:bodyPr wrap="square" lIns="0" tIns="0" rIns="0" bIns="0" rtlCol="0" anchor="ctr"/>
          <a:lstStyle/>
          <a:p>
            <a:pPr marL="0" indent="0">
              <a:buNone/>
            </a:pPr>
            <a:r>
              <a:rPr lang="en-US" sz="1250" b="1" dirty="0">
                <a:solidFill>
                  <a:srgbClr val="A8871C"/>
                </a:solidFill>
                <a:latin typeface="Pretendard" pitchFamily="34" charset="0"/>
                <a:ea typeface="Pretendard" pitchFamily="34" charset="-122"/>
                <a:cs typeface="Pretendard" pitchFamily="34" charset="-120"/>
              </a:rPr>
              <a:t>마약과 대마도 중추신경계에 작용할 수 있다</a:t>
            </a:r>
            <a:endParaRPr lang="en-US" sz="1250" dirty="0"/>
          </a:p>
        </p:txBody>
      </p:sp>
      <p:sp>
        <p:nvSpPr>
          <p:cNvPr id="42" name="Shape 40"/>
          <p:cNvSpPr/>
          <p:nvPr/>
        </p:nvSpPr>
        <p:spPr>
          <a:xfrm>
            <a:off x="731520" y="5724144"/>
            <a:ext cx="10698480" cy="457200"/>
          </a:xfrm>
          <a:prstGeom prst="rect">
            <a:avLst/>
          </a:prstGeom>
          <a:solidFill>
            <a:srgbClr val="1E2761"/>
          </a:solidFill>
          <a:ln w="12700">
            <a:solidFill>
              <a:srgbClr val="1E2761"/>
            </a:solidFill>
            <a:prstDash val="solid"/>
          </a:ln>
        </p:spPr>
        <p:txBody>
          <a:bodyPr/>
          <a:lstStyle/>
          <a:p>
            <a:endParaRPr lang="ko-KR" altLang="en-US"/>
          </a:p>
        </p:txBody>
      </p:sp>
      <p:sp>
        <p:nvSpPr>
          <p:cNvPr id="43" name="Text 41"/>
          <p:cNvSpPr/>
          <p:nvPr/>
        </p:nvSpPr>
        <p:spPr>
          <a:xfrm>
            <a:off x="1005840" y="5724144"/>
            <a:ext cx="10149840" cy="457200"/>
          </a:xfrm>
          <a:prstGeom prst="rect">
            <a:avLst/>
          </a:prstGeom>
          <a:noFill/>
          <a:ln/>
        </p:spPr>
        <p:txBody>
          <a:bodyPr wrap="square" lIns="0" tIns="0" rIns="0" bIns="0" rtlCol="0" anchor="ctr"/>
          <a:lstStyle/>
          <a:p>
            <a:pPr marL="0" indent="0" algn="ctr">
              <a:buNone/>
            </a:pPr>
            <a:r>
              <a:rPr lang="en-US" sz="1350" b="1" dirty="0">
                <a:solidFill>
                  <a:srgbClr val="FFFFFF"/>
                </a:solidFill>
                <a:latin typeface="Pretendard" pitchFamily="34" charset="0"/>
                <a:ea typeface="Pretendard" pitchFamily="34" charset="-122"/>
                <a:cs typeface="Pretendard" pitchFamily="34" charset="-120"/>
              </a:rPr>
              <a:t>세 범주는 약리작용을 배타적으로 나눈 것이 아니라 「마약류관리법」이 정한 법적 분류입니다</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청소년 마약류 사용과 현행 대응</a:t>
            </a:r>
            <a:endParaRPr lang="en-US" sz="1250" dirty="0"/>
          </a:p>
        </p:txBody>
      </p:sp>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연령으로 보는 세 개념</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r>
              <a:rPr lang="ko-KR" altLang="en-US" sz="2700" b="1" dirty="0">
                <a:solidFill>
                  <a:srgbClr val="1E2761"/>
                </a:solidFill>
                <a:latin typeface="Pretendard" pitchFamily="34" charset="0"/>
                <a:ea typeface="Pretendard" pitchFamily="34" charset="-122"/>
                <a:cs typeface="Pretendard" pitchFamily="34" charset="-120"/>
              </a:rPr>
              <a:t>마약류 투약</a:t>
            </a:r>
            <a:r>
              <a:rPr lang="en-US" altLang="ko-KR" sz="2700" b="1" dirty="0">
                <a:solidFill>
                  <a:srgbClr val="1E2761"/>
                </a:solidFill>
                <a:latin typeface="Pretendard" pitchFamily="34" charset="0"/>
                <a:ea typeface="Pretendard" pitchFamily="34" charset="-122"/>
                <a:cs typeface="Pretendard" pitchFamily="34" charset="-120"/>
              </a:rPr>
              <a:t>·</a:t>
            </a:r>
            <a:r>
              <a:rPr lang="ko-KR" altLang="en-US" sz="2700" b="1" dirty="0">
                <a:solidFill>
                  <a:srgbClr val="1E2761"/>
                </a:solidFill>
                <a:latin typeface="Pretendard" pitchFamily="34" charset="0"/>
                <a:ea typeface="Pretendard" pitchFamily="34" charset="-122"/>
                <a:cs typeface="Pretendard" pitchFamily="34" charset="-120"/>
              </a:rPr>
              <a:t>사용의 법정형 </a:t>
            </a:r>
            <a:r>
              <a:rPr lang="en-US" altLang="ko-KR" sz="2700" b="1" dirty="0">
                <a:solidFill>
                  <a:srgbClr val="1E2761"/>
                </a:solidFill>
                <a:latin typeface="Pretendard" pitchFamily="34" charset="0"/>
                <a:ea typeface="Pretendard" pitchFamily="34" charset="-122"/>
                <a:cs typeface="Pretendard" pitchFamily="34" charset="-120"/>
              </a:rPr>
              <a:t>— </a:t>
            </a:r>
            <a:r>
              <a:rPr lang="ko-KR" altLang="en-US" sz="2700" b="1" dirty="0">
                <a:solidFill>
                  <a:srgbClr val="1E2761"/>
                </a:solidFill>
                <a:latin typeface="Pretendard" pitchFamily="34" charset="0"/>
                <a:ea typeface="Pretendard" pitchFamily="34" charset="-122"/>
                <a:cs typeface="Pretendard" pitchFamily="34" charset="-120"/>
              </a:rPr>
              <a:t>물질과 행위에 따라 달라진다</a:t>
            </a:r>
            <a:endParaRPr lang="en-US" sz="2700" dirty="0"/>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353312"/>
            <a:ext cx="10698480" cy="438912"/>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987552" y="1353312"/>
            <a:ext cx="10186416" cy="438912"/>
          </a:xfrm>
          <a:prstGeom prst="rect">
            <a:avLst/>
          </a:prstGeom>
          <a:noFill/>
          <a:ln/>
        </p:spPr>
        <p:txBody>
          <a:bodyPr wrap="square" lIns="0" tIns="0" rIns="0" bIns="0" rtlCol="0" anchor="ctr"/>
          <a:lstStyle/>
          <a:p>
            <a:r>
              <a:rPr lang="en-US" sz="1250" b="1" dirty="0">
                <a:solidFill>
                  <a:srgbClr val="1E2761"/>
                </a:solidFill>
                <a:latin typeface="Pretendard" pitchFamily="34" charset="0"/>
                <a:ea typeface="Pretendard" pitchFamily="34" charset="-122"/>
                <a:cs typeface="Pretendard" pitchFamily="34" charset="-120"/>
              </a:rPr>
              <a:t>마약류의 </a:t>
            </a:r>
            <a:r>
              <a:rPr lang="en-US" sz="1250" b="1" dirty="0" err="1">
                <a:solidFill>
                  <a:srgbClr val="1E2761"/>
                </a:solidFill>
                <a:latin typeface="Pretendard" pitchFamily="34" charset="0"/>
                <a:ea typeface="Pretendard" pitchFamily="34" charset="-122"/>
                <a:cs typeface="Pretendard" pitchFamily="34" charset="-120"/>
              </a:rPr>
              <a:t>범주와</a:t>
            </a:r>
            <a:r>
              <a:rPr lang="en-US" sz="1250" b="1" dirty="0">
                <a:solidFill>
                  <a:srgbClr val="1E2761"/>
                </a:solidFill>
                <a:latin typeface="Pretendard" pitchFamily="34" charset="0"/>
                <a:ea typeface="Pretendard" pitchFamily="34" charset="-122"/>
                <a:cs typeface="Pretendard" pitchFamily="34" charset="-120"/>
              </a:rPr>
              <a:t> </a:t>
            </a:r>
            <a:r>
              <a:rPr lang="en-US" sz="1250" b="1" dirty="0" err="1">
                <a:solidFill>
                  <a:srgbClr val="1E2761"/>
                </a:solidFill>
                <a:latin typeface="Pretendard" pitchFamily="34" charset="0"/>
                <a:ea typeface="Pretendard" pitchFamily="34" charset="-122"/>
                <a:cs typeface="Pretendard" pitchFamily="34" charset="-120"/>
              </a:rPr>
              <a:t>세부분류</a:t>
            </a:r>
            <a:r>
              <a:rPr lang="en-US" sz="1250" b="1" dirty="0">
                <a:solidFill>
                  <a:srgbClr val="1E2761"/>
                </a:solidFill>
                <a:latin typeface="Pretendard" pitchFamily="34" charset="0"/>
                <a:ea typeface="Pretendard" pitchFamily="34" charset="-122"/>
                <a:cs typeface="Pretendard" pitchFamily="34" charset="-120"/>
              </a:rPr>
              <a:t>(</a:t>
            </a:r>
            <a:r>
              <a:rPr lang="ko-KR" altLang="en-US" sz="1250" b="1" dirty="0">
                <a:solidFill>
                  <a:srgbClr val="1E2761"/>
                </a:solidFill>
                <a:latin typeface="Pretendard" pitchFamily="34" charset="0"/>
                <a:ea typeface="Pretendard" pitchFamily="34" charset="-122"/>
                <a:cs typeface="Pretendard" pitchFamily="34" charset="-120"/>
              </a:rPr>
              <a:t>물질의 위험성과 의료용 사용 정도</a:t>
            </a:r>
            <a:r>
              <a:rPr lang="en-US" altLang="ko-KR" sz="1250" b="1" dirty="0">
                <a:solidFill>
                  <a:srgbClr val="1E2761"/>
                </a:solidFill>
                <a:latin typeface="Pretendard" pitchFamily="34" charset="0"/>
                <a:ea typeface="Pretendard" pitchFamily="34" charset="-122"/>
                <a:cs typeface="Pretendard" pitchFamily="34" charset="-120"/>
              </a:rPr>
              <a:t>)</a:t>
            </a:r>
            <a:r>
              <a:rPr lang="en-US" sz="1250" b="1" dirty="0">
                <a:solidFill>
                  <a:srgbClr val="1E2761"/>
                </a:solidFill>
                <a:latin typeface="Pretendard" pitchFamily="34" charset="0"/>
                <a:ea typeface="Pretendard" pitchFamily="34" charset="-122"/>
                <a:cs typeface="Pretendard" pitchFamily="34" charset="-120"/>
              </a:rPr>
              <a:t>에 따라 적용되는 벌칙조항과 법정형이 달라진다</a:t>
            </a:r>
            <a:endParaRPr lang="en-US" sz="1250" dirty="0">
              <a:solidFill>
                <a:schemeClr val="tx1">
                  <a:lumMod val="50000"/>
                  <a:lumOff val="50000"/>
                </a:schemeClr>
              </a:solidFill>
            </a:endParaRPr>
          </a:p>
        </p:txBody>
      </p:sp>
      <p:sp>
        <p:nvSpPr>
          <p:cNvPr id="8" name="Shape 6"/>
          <p:cNvSpPr/>
          <p:nvPr/>
        </p:nvSpPr>
        <p:spPr>
          <a:xfrm>
            <a:off x="731520" y="1901952"/>
            <a:ext cx="2103120" cy="365760"/>
          </a:xfrm>
          <a:prstGeom prst="rect">
            <a:avLst/>
          </a:prstGeom>
          <a:solidFill>
            <a:srgbClr val="F2F4F8"/>
          </a:solidFill>
          <a:ln w="12700">
            <a:solidFill>
              <a:srgbClr val="DCE0E8"/>
            </a:solidFill>
            <a:prstDash val="solid"/>
          </a:ln>
        </p:spPr>
        <p:txBody>
          <a:bodyPr/>
          <a:lstStyle/>
          <a:p>
            <a:endParaRPr lang="ko-KR" altLang="en-US"/>
          </a:p>
        </p:txBody>
      </p:sp>
      <p:sp>
        <p:nvSpPr>
          <p:cNvPr id="9" name="Text 7"/>
          <p:cNvSpPr/>
          <p:nvPr/>
        </p:nvSpPr>
        <p:spPr>
          <a:xfrm>
            <a:off x="786384" y="1901952"/>
            <a:ext cx="1993392" cy="365760"/>
          </a:xfrm>
          <a:prstGeom prst="rect">
            <a:avLst/>
          </a:prstGeom>
          <a:noFill/>
          <a:ln/>
        </p:spPr>
        <p:txBody>
          <a:bodyPr wrap="square" lIns="0" tIns="0" rIns="0" bIns="0" rtlCol="0" anchor="ctr"/>
          <a:lstStyle/>
          <a:p>
            <a:pPr marL="0" indent="0" algn="ctr">
              <a:buNone/>
            </a:pPr>
            <a:r>
              <a:rPr lang="en-US" sz="1150" b="1" dirty="0">
                <a:solidFill>
                  <a:srgbClr val="1E2761"/>
                </a:solidFill>
                <a:latin typeface="Pretendard" pitchFamily="34" charset="0"/>
                <a:ea typeface="Pretendard" pitchFamily="34" charset="-122"/>
                <a:cs typeface="Pretendard" pitchFamily="34" charset="-120"/>
              </a:rPr>
              <a:t>법적 분류</a:t>
            </a:r>
            <a:endParaRPr lang="en-US" sz="1150" dirty="0"/>
          </a:p>
        </p:txBody>
      </p:sp>
      <p:sp>
        <p:nvSpPr>
          <p:cNvPr id="10" name="Shape 8"/>
          <p:cNvSpPr/>
          <p:nvPr/>
        </p:nvSpPr>
        <p:spPr>
          <a:xfrm>
            <a:off x="2834640" y="1901952"/>
            <a:ext cx="2788920" cy="365760"/>
          </a:xfrm>
          <a:prstGeom prst="rect">
            <a:avLst/>
          </a:prstGeom>
          <a:solidFill>
            <a:srgbClr val="F2F4F8"/>
          </a:solidFill>
          <a:ln w="12700">
            <a:solidFill>
              <a:srgbClr val="DCE0E8"/>
            </a:solidFill>
            <a:prstDash val="solid"/>
          </a:ln>
        </p:spPr>
        <p:txBody>
          <a:bodyPr/>
          <a:lstStyle/>
          <a:p>
            <a:endParaRPr lang="ko-KR" altLang="en-US"/>
          </a:p>
        </p:txBody>
      </p:sp>
      <p:sp>
        <p:nvSpPr>
          <p:cNvPr id="11" name="Text 9"/>
          <p:cNvSpPr/>
          <p:nvPr/>
        </p:nvSpPr>
        <p:spPr>
          <a:xfrm>
            <a:off x="2889504" y="1901952"/>
            <a:ext cx="2679192" cy="365760"/>
          </a:xfrm>
          <a:prstGeom prst="rect">
            <a:avLst/>
          </a:prstGeom>
          <a:noFill/>
          <a:ln/>
        </p:spPr>
        <p:txBody>
          <a:bodyPr wrap="square" lIns="0" tIns="0" rIns="0" bIns="0" rtlCol="0" anchor="ctr"/>
          <a:lstStyle/>
          <a:p>
            <a:pPr marL="0" indent="0" algn="ctr">
              <a:buNone/>
            </a:pPr>
            <a:r>
              <a:rPr lang="en-US" sz="1150" b="1" dirty="0">
                <a:solidFill>
                  <a:srgbClr val="1E2761"/>
                </a:solidFill>
                <a:latin typeface="Pretendard" pitchFamily="34" charset="0"/>
                <a:ea typeface="Pretendard" pitchFamily="34" charset="-122"/>
                <a:cs typeface="Pretendard" pitchFamily="34" charset="-120"/>
              </a:rPr>
              <a:t>적용 구분 · 위반행위</a:t>
            </a:r>
            <a:endParaRPr lang="en-US" sz="1150" dirty="0"/>
          </a:p>
        </p:txBody>
      </p:sp>
      <p:sp>
        <p:nvSpPr>
          <p:cNvPr id="12" name="Shape 10"/>
          <p:cNvSpPr/>
          <p:nvPr/>
        </p:nvSpPr>
        <p:spPr>
          <a:xfrm>
            <a:off x="5623560" y="1901952"/>
            <a:ext cx="3063240" cy="365760"/>
          </a:xfrm>
          <a:prstGeom prst="rect">
            <a:avLst/>
          </a:prstGeom>
          <a:solidFill>
            <a:srgbClr val="F2F4F8"/>
          </a:solidFill>
          <a:ln w="12700">
            <a:solidFill>
              <a:srgbClr val="DCE0E8"/>
            </a:solidFill>
            <a:prstDash val="solid"/>
          </a:ln>
        </p:spPr>
        <p:txBody>
          <a:bodyPr/>
          <a:lstStyle/>
          <a:p>
            <a:endParaRPr lang="ko-KR" altLang="en-US"/>
          </a:p>
        </p:txBody>
      </p:sp>
      <p:sp>
        <p:nvSpPr>
          <p:cNvPr id="13" name="Text 11"/>
          <p:cNvSpPr/>
          <p:nvPr/>
        </p:nvSpPr>
        <p:spPr>
          <a:xfrm>
            <a:off x="5678424" y="1901952"/>
            <a:ext cx="2953512" cy="365760"/>
          </a:xfrm>
          <a:prstGeom prst="rect">
            <a:avLst/>
          </a:prstGeom>
          <a:noFill/>
          <a:ln/>
        </p:spPr>
        <p:txBody>
          <a:bodyPr wrap="square" lIns="0" tIns="0" rIns="0" bIns="0" rtlCol="0" anchor="ctr"/>
          <a:lstStyle/>
          <a:p>
            <a:pPr marL="0" indent="0" algn="ctr">
              <a:buNone/>
            </a:pPr>
            <a:r>
              <a:rPr lang="en-US" sz="1150" b="1" dirty="0">
                <a:solidFill>
                  <a:srgbClr val="1E2761"/>
                </a:solidFill>
                <a:latin typeface="Pretendard" pitchFamily="34" charset="0"/>
                <a:ea typeface="Pretendard" pitchFamily="34" charset="-122"/>
                <a:cs typeface="Pretendard" pitchFamily="34" charset="-120"/>
              </a:rPr>
              <a:t>금지조항 / 벌칙조항</a:t>
            </a:r>
            <a:endParaRPr lang="en-US" sz="1150" dirty="0"/>
          </a:p>
        </p:txBody>
      </p:sp>
      <p:sp>
        <p:nvSpPr>
          <p:cNvPr id="14" name="Shape 12"/>
          <p:cNvSpPr/>
          <p:nvPr/>
        </p:nvSpPr>
        <p:spPr>
          <a:xfrm>
            <a:off x="8686800" y="1901952"/>
            <a:ext cx="2743200" cy="365760"/>
          </a:xfrm>
          <a:prstGeom prst="rect">
            <a:avLst/>
          </a:prstGeom>
          <a:solidFill>
            <a:srgbClr val="F2F4F8"/>
          </a:solidFill>
          <a:ln w="12700">
            <a:solidFill>
              <a:srgbClr val="DCE0E8"/>
            </a:solidFill>
            <a:prstDash val="solid"/>
          </a:ln>
        </p:spPr>
        <p:txBody>
          <a:bodyPr/>
          <a:lstStyle/>
          <a:p>
            <a:endParaRPr lang="ko-KR" altLang="en-US"/>
          </a:p>
        </p:txBody>
      </p:sp>
      <p:sp>
        <p:nvSpPr>
          <p:cNvPr id="15" name="Text 13"/>
          <p:cNvSpPr/>
          <p:nvPr/>
        </p:nvSpPr>
        <p:spPr>
          <a:xfrm>
            <a:off x="8741664" y="1901952"/>
            <a:ext cx="2633472" cy="365760"/>
          </a:xfrm>
          <a:prstGeom prst="rect">
            <a:avLst/>
          </a:prstGeom>
          <a:noFill/>
          <a:ln/>
        </p:spPr>
        <p:txBody>
          <a:bodyPr wrap="square" lIns="0" tIns="0" rIns="0" bIns="0" rtlCol="0" anchor="ctr"/>
          <a:lstStyle/>
          <a:p>
            <a:pPr marL="0" indent="0" algn="ctr">
              <a:buNone/>
            </a:pPr>
            <a:r>
              <a:rPr lang="en-US" sz="1150" b="1" dirty="0">
                <a:solidFill>
                  <a:srgbClr val="1E2761"/>
                </a:solidFill>
                <a:latin typeface="Pretendard" pitchFamily="34" charset="0"/>
                <a:ea typeface="Pretendard" pitchFamily="34" charset="-122"/>
                <a:cs typeface="Pretendard" pitchFamily="34" charset="-120"/>
              </a:rPr>
              <a:t>법정형</a:t>
            </a:r>
            <a:endParaRPr lang="en-US" sz="1150" dirty="0"/>
          </a:p>
        </p:txBody>
      </p:sp>
      <p:sp>
        <p:nvSpPr>
          <p:cNvPr id="16" name="Shape 14"/>
          <p:cNvSpPr/>
          <p:nvPr/>
        </p:nvSpPr>
        <p:spPr>
          <a:xfrm>
            <a:off x="731520" y="2267712"/>
            <a:ext cx="2103120" cy="1005840"/>
          </a:xfrm>
          <a:prstGeom prst="rect">
            <a:avLst/>
          </a:prstGeom>
          <a:solidFill>
            <a:srgbClr val="FFFFFF"/>
          </a:solidFill>
          <a:ln w="12700">
            <a:solidFill>
              <a:srgbClr val="DCE0E8"/>
            </a:solidFill>
            <a:prstDash val="solid"/>
          </a:ln>
        </p:spPr>
        <p:txBody>
          <a:bodyPr/>
          <a:lstStyle/>
          <a:p>
            <a:endParaRPr lang="ko-KR" altLang="en-US" dirty="0"/>
          </a:p>
        </p:txBody>
      </p:sp>
      <p:sp>
        <p:nvSpPr>
          <p:cNvPr id="17" name="Text 15"/>
          <p:cNvSpPr/>
          <p:nvPr/>
        </p:nvSpPr>
        <p:spPr>
          <a:xfrm>
            <a:off x="749808" y="2267712"/>
            <a:ext cx="2084832" cy="1033272"/>
          </a:xfrm>
          <a:prstGeom prst="rect">
            <a:avLst/>
          </a:prstGeom>
          <a:noFill/>
          <a:ln/>
        </p:spPr>
        <p:txBody>
          <a:bodyPr wrap="square" lIns="0" tIns="0" rIns="0" bIns="0" rtlCol="0" anchor="ctr"/>
          <a:lstStyle/>
          <a:p>
            <a:pPr marL="0" indent="0" algn="ctr">
              <a:lnSpc>
                <a:spcPts val="1400"/>
              </a:lnSpc>
              <a:buNone/>
            </a:pPr>
            <a:r>
              <a:rPr lang="en-US" sz="1200" b="1" dirty="0">
                <a:solidFill>
                  <a:srgbClr val="1E2761"/>
                </a:solidFill>
                <a:latin typeface="Pretendard" pitchFamily="34" charset="0"/>
                <a:ea typeface="Pretendard" pitchFamily="34" charset="-122"/>
                <a:cs typeface="Pretendard" pitchFamily="34" charset="-120"/>
              </a:rPr>
              <a:t>마약</a:t>
            </a:r>
            <a:endParaRPr lang="en-US" sz="1200" dirty="0"/>
          </a:p>
          <a:p>
            <a:pPr marL="0" indent="0" algn="ctr">
              <a:lnSpc>
                <a:spcPts val="1400"/>
              </a:lnSpc>
              <a:buNone/>
            </a:pPr>
            <a:r>
              <a:rPr lang="en-US" sz="1200" dirty="0">
                <a:solidFill>
                  <a:schemeClr val="tx1">
                    <a:lumMod val="50000"/>
                    <a:lumOff val="50000"/>
                  </a:schemeClr>
                </a:solidFill>
                <a:latin typeface="Pretendard" pitchFamily="34" charset="0"/>
                <a:ea typeface="Pretendard" pitchFamily="34" charset="-122"/>
                <a:cs typeface="Pretendard" pitchFamily="34" charset="-120"/>
              </a:rPr>
              <a:t>법 제2조 제2호</a:t>
            </a:r>
            <a:endParaRPr lang="en-US" sz="1200" dirty="0">
              <a:solidFill>
                <a:schemeClr val="tx1">
                  <a:lumMod val="50000"/>
                  <a:lumOff val="50000"/>
                </a:schemeClr>
              </a:solidFill>
            </a:endParaRPr>
          </a:p>
        </p:txBody>
      </p:sp>
      <p:sp>
        <p:nvSpPr>
          <p:cNvPr id="18" name="Shape 16"/>
          <p:cNvSpPr/>
          <p:nvPr/>
        </p:nvSpPr>
        <p:spPr>
          <a:xfrm>
            <a:off x="2834640" y="2267712"/>
            <a:ext cx="2788920" cy="502920"/>
          </a:xfrm>
          <a:prstGeom prst="rect">
            <a:avLst/>
          </a:prstGeom>
          <a:solidFill>
            <a:srgbClr val="FFFFFF"/>
          </a:solidFill>
          <a:ln w="12700">
            <a:solidFill>
              <a:srgbClr val="DCE0E8"/>
            </a:solidFill>
            <a:prstDash val="solid"/>
          </a:ln>
        </p:spPr>
        <p:txBody>
          <a:bodyPr/>
          <a:lstStyle/>
          <a:p>
            <a:endParaRPr lang="ko-KR" altLang="en-US"/>
          </a:p>
        </p:txBody>
      </p:sp>
      <p:sp>
        <p:nvSpPr>
          <p:cNvPr id="19" name="Text 17"/>
          <p:cNvSpPr/>
          <p:nvPr/>
        </p:nvSpPr>
        <p:spPr>
          <a:xfrm>
            <a:off x="2926080" y="2267712"/>
            <a:ext cx="2606040" cy="502920"/>
          </a:xfrm>
          <a:prstGeom prst="rect">
            <a:avLst/>
          </a:prstGeom>
          <a:noFill/>
          <a:ln/>
        </p:spPr>
        <p:txBody>
          <a:bodyPr wrap="square" lIns="0" tIns="0" rIns="0" bIns="0" rtlCol="0" anchor="ctr"/>
          <a:lstStyle/>
          <a:p>
            <a:pPr marL="0" indent="0" algn="l">
              <a:lnSpc>
                <a:spcPts val="1400"/>
              </a:lnSpc>
              <a:buNone/>
            </a:pPr>
            <a:r>
              <a:rPr lang="en-US" sz="1050" dirty="0">
                <a:solidFill>
                  <a:srgbClr val="222633"/>
                </a:solidFill>
                <a:latin typeface="Pretendard" pitchFamily="34" charset="0"/>
                <a:ea typeface="Pretendard" pitchFamily="34" charset="-122"/>
                <a:cs typeface="Pretendard" pitchFamily="34" charset="-120"/>
              </a:rPr>
              <a:t>마약의 </a:t>
            </a:r>
            <a:r>
              <a:rPr lang="en-US" sz="1050" dirty="0" err="1">
                <a:solidFill>
                  <a:srgbClr val="222633"/>
                </a:solidFill>
                <a:latin typeface="Pretendard" pitchFamily="34" charset="0"/>
                <a:ea typeface="Pretendard" pitchFamily="34" charset="-122"/>
                <a:cs typeface="Pretendard" pitchFamily="34" charset="-120"/>
              </a:rPr>
              <a:t>위법한</a:t>
            </a:r>
            <a:r>
              <a:rPr lang="en-US" sz="1050" dirty="0">
                <a:solidFill>
                  <a:srgbClr val="222633"/>
                </a:solidFill>
                <a:latin typeface="Pretendard" pitchFamily="34" charset="0"/>
                <a:ea typeface="Pretendard" pitchFamily="34" charset="-122"/>
                <a:cs typeface="Pretendard" pitchFamily="34" charset="-120"/>
              </a:rPr>
              <a:t> </a:t>
            </a:r>
            <a:r>
              <a:rPr lang="en-US" sz="1050" dirty="0" err="1">
                <a:solidFill>
                  <a:srgbClr val="222633"/>
                </a:solidFill>
                <a:latin typeface="Pretendard" pitchFamily="34" charset="0"/>
                <a:ea typeface="Pretendard" pitchFamily="34" charset="-122"/>
                <a:cs typeface="Pretendard" pitchFamily="34" charset="-120"/>
              </a:rPr>
              <a:t>사용</a:t>
            </a:r>
            <a:endParaRPr lang="en-US" sz="1050" dirty="0"/>
          </a:p>
          <a:p>
            <a:pPr marL="0" indent="0" algn="l">
              <a:lnSpc>
                <a:spcPts val="1400"/>
              </a:lnSpc>
              <a:buNone/>
            </a:pPr>
            <a:r>
              <a:rPr lang="en-US" sz="1050" dirty="0">
                <a:solidFill>
                  <a:srgbClr val="222633"/>
                </a:solidFill>
                <a:latin typeface="Pretendard" pitchFamily="34" charset="0"/>
                <a:ea typeface="Pretendard" pitchFamily="34" charset="-122"/>
                <a:cs typeface="Pretendard" pitchFamily="34" charset="-120"/>
              </a:rPr>
              <a:t>일반 사용 금지 규정</a:t>
            </a:r>
            <a:endParaRPr lang="en-US" sz="1050" dirty="0"/>
          </a:p>
        </p:txBody>
      </p:sp>
      <p:sp>
        <p:nvSpPr>
          <p:cNvPr id="20" name="Shape 18"/>
          <p:cNvSpPr/>
          <p:nvPr/>
        </p:nvSpPr>
        <p:spPr>
          <a:xfrm>
            <a:off x="5623560" y="2267712"/>
            <a:ext cx="3063240" cy="502920"/>
          </a:xfrm>
          <a:prstGeom prst="rect">
            <a:avLst/>
          </a:prstGeom>
          <a:solidFill>
            <a:srgbClr val="FFFFFF"/>
          </a:solidFill>
          <a:ln w="12700">
            <a:solidFill>
              <a:srgbClr val="DCE0E8"/>
            </a:solidFill>
            <a:prstDash val="solid"/>
          </a:ln>
        </p:spPr>
        <p:txBody>
          <a:bodyPr/>
          <a:lstStyle/>
          <a:p>
            <a:endParaRPr lang="ko-KR" altLang="en-US"/>
          </a:p>
        </p:txBody>
      </p:sp>
      <p:sp>
        <p:nvSpPr>
          <p:cNvPr id="21" name="Text 19"/>
          <p:cNvSpPr/>
          <p:nvPr/>
        </p:nvSpPr>
        <p:spPr>
          <a:xfrm>
            <a:off x="5715000" y="2267712"/>
            <a:ext cx="2880360" cy="502920"/>
          </a:xfrm>
          <a:prstGeom prst="rect">
            <a:avLst/>
          </a:prstGeom>
          <a:noFill/>
          <a:ln/>
        </p:spPr>
        <p:txBody>
          <a:bodyPr wrap="square" lIns="0" tIns="0" rIns="0" bIns="0" rtlCol="0" anchor="ctr"/>
          <a:lstStyle/>
          <a:p>
            <a:pPr marL="0" indent="0" algn="l">
              <a:lnSpc>
                <a:spcPts val="1400"/>
              </a:lnSpc>
              <a:buNone/>
            </a:pPr>
            <a:r>
              <a:rPr lang="en-US" sz="1050" dirty="0">
                <a:solidFill>
                  <a:srgbClr val="222633"/>
                </a:solidFill>
                <a:latin typeface="Pretendard" pitchFamily="34" charset="0"/>
                <a:ea typeface="Pretendard" pitchFamily="34" charset="-122"/>
                <a:cs typeface="Pretendard" pitchFamily="34" charset="-120"/>
              </a:rPr>
              <a:t>금지  제3조 제1호</a:t>
            </a:r>
            <a:endParaRPr lang="en-US" sz="1050" dirty="0"/>
          </a:p>
          <a:p>
            <a:pPr marL="0" indent="0" algn="l">
              <a:lnSpc>
                <a:spcPts val="1400"/>
              </a:lnSpc>
              <a:buNone/>
            </a:pPr>
            <a:r>
              <a:rPr lang="en-US" sz="1050" dirty="0">
                <a:solidFill>
                  <a:srgbClr val="222633"/>
                </a:solidFill>
                <a:latin typeface="Pretendard" pitchFamily="34" charset="0"/>
                <a:ea typeface="Pretendard" pitchFamily="34" charset="-122"/>
                <a:cs typeface="Pretendard" pitchFamily="34" charset="-120"/>
              </a:rPr>
              <a:t>벌칙  제60조 제1항 제1호</a:t>
            </a:r>
            <a:endParaRPr lang="en-US" sz="1050" dirty="0"/>
          </a:p>
        </p:txBody>
      </p:sp>
      <p:sp>
        <p:nvSpPr>
          <p:cNvPr id="22" name="Shape 20"/>
          <p:cNvSpPr/>
          <p:nvPr/>
        </p:nvSpPr>
        <p:spPr>
          <a:xfrm>
            <a:off x="8686800" y="2267712"/>
            <a:ext cx="2743200" cy="502920"/>
          </a:xfrm>
          <a:prstGeom prst="rect">
            <a:avLst/>
          </a:prstGeom>
          <a:solidFill>
            <a:srgbClr val="FFFFFF"/>
          </a:solidFill>
          <a:ln w="12700">
            <a:solidFill>
              <a:srgbClr val="DCE0E8"/>
            </a:solidFill>
            <a:prstDash val="solid"/>
          </a:ln>
        </p:spPr>
        <p:txBody>
          <a:bodyPr/>
          <a:lstStyle/>
          <a:p>
            <a:endParaRPr lang="ko-KR" altLang="en-US" b="1"/>
          </a:p>
        </p:txBody>
      </p:sp>
      <p:sp>
        <p:nvSpPr>
          <p:cNvPr id="23" name="Text 21"/>
          <p:cNvSpPr/>
          <p:nvPr/>
        </p:nvSpPr>
        <p:spPr>
          <a:xfrm>
            <a:off x="8778240" y="2267712"/>
            <a:ext cx="2560320" cy="502920"/>
          </a:xfrm>
          <a:prstGeom prst="rect">
            <a:avLst/>
          </a:prstGeom>
          <a:noFill/>
          <a:ln/>
        </p:spPr>
        <p:txBody>
          <a:bodyPr wrap="square" lIns="0" tIns="0" rIns="0" bIns="0" rtlCol="0" anchor="ctr"/>
          <a:lstStyle/>
          <a:p>
            <a:pPr marL="0" indent="0" algn="ctr">
              <a:lnSpc>
                <a:spcPts val="1400"/>
              </a:lnSpc>
              <a:buNone/>
            </a:pPr>
            <a:r>
              <a:rPr lang="en-US" sz="1050" b="1" dirty="0">
                <a:solidFill>
                  <a:srgbClr val="222633"/>
                </a:solidFill>
                <a:latin typeface="Pretendard" pitchFamily="34" charset="0"/>
                <a:ea typeface="Pretendard" pitchFamily="34" charset="-122"/>
                <a:cs typeface="Pretendard" pitchFamily="34" charset="-120"/>
              </a:rPr>
              <a:t>10년 이하의 징역 또는</a:t>
            </a:r>
            <a:endParaRPr lang="en-US" sz="1050" b="1" dirty="0"/>
          </a:p>
          <a:p>
            <a:pPr marL="0" indent="0" algn="ctr">
              <a:lnSpc>
                <a:spcPts val="1400"/>
              </a:lnSpc>
              <a:buNone/>
            </a:pPr>
            <a:r>
              <a:rPr lang="en-US" sz="1050" b="1" dirty="0">
                <a:solidFill>
                  <a:srgbClr val="222633"/>
                </a:solidFill>
                <a:latin typeface="Pretendard" pitchFamily="34" charset="0"/>
                <a:ea typeface="Pretendard" pitchFamily="34" charset="-122"/>
                <a:cs typeface="Pretendard" pitchFamily="34" charset="-120"/>
              </a:rPr>
              <a:t>1억원 이하의 벌금</a:t>
            </a:r>
            <a:endParaRPr lang="en-US" sz="1050" b="1" dirty="0"/>
          </a:p>
        </p:txBody>
      </p:sp>
      <p:sp>
        <p:nvSpPr>
          <p:cNvPr id="25" name="Shape 23"/>
          <p:cNvSpPr/>
          <p:nvPr/>
        </p:nvSpPr>
        <p:spPr>
          <a:xfrm>
            <a:off x="2834640" y="2770632"/>
            <a:ext cx="2788920" cy="502920"/>
          </a:xfrm>
          <a:prstGeom prst="rect">
            <a:avLst/>
          </a:prstGeom>
          <a:solidFill>
            <a:srgbClr val="FFFFFF"/>
          </a:solidFill>
          <a:ln w="12700">
            <a:solidFill>
              <a:srgbClr val="DCE0E8"/>
            </a:solidFill>
            <a:prstDash val="solid"/>
          </a:ln>
        </p:spPr>
        <p:txBody>
          <a:bodyPr/>
          <a:lstStyle/>
          <a:p>
            <a:endParaRPr lang="ko-KR" altLang="en-US"/>
          </a:p>
        </p:txBody>
      </p:sp>
      <p:sp>
        <p:nvSpPr>
          <p:cNvPr id="26" name="Text 24"/>
          <p:cNvSpPr/>
          <p:nvPr/>
        </p:nvSpPr>
        <p:spPr>
          <a:xfrm>
            <a:off x="2926080" y="2770632"/>
            <a:ext cx="2606040" cy="502920"/>
          </a:xfrm>
          <a:prstGeom prst="rect">
            <a:avLst/>
          </a:prstGeom>
          <a:noFill/>
          <a:ln/>
        </p:spPr>
        <p:txBody>
          <a:bodyPr wrap="square" lIns="0" tIns="0" rIns="0" bIns="0" rtlCol="0" anchor="ctr"/>
          <a:lstStyle/>
          <a:p>
            <a:pPr marL="0" indent="0" algn="l">
              <a:lnSpc>
                <a:spcPts val="1400"/>
              </a:lnSpc>
              <a:buNone/>
            </a:pPr>
            <a:r>
              <a:rPr lang="en-US" sz="1050" dirty="0">
                <a:solidFill>
                  <a:srgbClr val="222633"/>
                </a:solidFill>
                <a:latin typeface="Pretendard" pitchFamily="34" charset="0"/>
                <a:ea typeface="Pretendard" pitchFamily="34" charset="-122"/>
                <a:cs typeface="Pretendard" pitchFamily="34" charset="-120"/>
              </a:rPr>
              <a:t>헤로인 등의 사용·투약</a:t>
            </a:r>
            <a:endParaRPr lang="en-US" sz="1050" dirty="0"/>
          </a:p>
          <a:p>
            <a:pPr marL="0" indent="0" algn="l">
              <a:lnSpc>
                <a:spcPts val="1400"/>
              </a:lnSpc>
              <a:buNone/>
            </a:pPr>
            <a:r>
              <a:rPr lang="en-US" sz="1050" dirty="0">
                <a:solidFill>
                  <a:srgbClr val="222633"/>
                </a:solidFill>
                <a:latin typeface="Pretendard" pitchFamily="34" charset="0"/>
                <a:ea typeface="Pretendard" pitchFamily="34" charset="-122"/>
                <a:cs typeface="Pretendard" pitchFamily="34" charset="-120"/>
              </a:rPr>
              <a:t>그 염류 또는 함유물 포함</a:t>
            </a:r>
            <a:endParaRPr lang="en-US" sz="1050" dirty="0"/>
          </a:p>
        </p:txBody>
      </p:sp>
      <p:sp>
        <p:nvSpPr>
          <p:cNvPr id="27" name="Shape 25"/>
          <p:cNvSpPr/>
          <p:nvPr/>
        </p:nvSpPr>
        <p:spPr>
          <a:xfrm>
            <a:off x="5623560" y="2770632"/>
            <a:ext cx="3063240" cy="502920"/>
          </a:xfrm>
          <a:prstGeom prst="rect">
            <a:avLst/>
          </a:prstGeom>
          <a:solidFill>
            <a:srgbClr val="FFFFFF"/>
          </a:solidFill>
          <a:ln w="12700">
            <a:solidFill>
              <a:srgbClr val="DCE0E8"/>
            </a:solidFill>
            <a:prstDash val="solid"/>
          </a:ln>
        </p:spPr>
        <p:txBody>
          <a:bodyPr/>
          <a:lstStyle/>
          <a:p>
            <a:endParaRPr lang="ko-KR" altLang="en-US"/>
          </a:p>
        </p:txBody>
      </p:sp>
      <p:sp>
        <p:nvSpPr>
          <p:cNvPr id="28" name="Text 26"/>
          <p:cNvSpPr/>
          <p:nvPr/>
        </p:nvSpPr>
        <p:spPr>
          <a:xfrm>
            <a:off x="5715000" y="2770632"/>
            <a:ext cx="2880360" cy="502920"/>
          </a:xfrm>
          <a:prstGeom prst="rect">
            <a:avLst/>
          </a:prstGeom>
          <a:noFill/>
          <a:ln/>
        </p:spPr>
        <p:txBody>
          <a:bodyPr wrap="square" lIns="0" tIns="0" rIns="0" bIns="0" rtlCol="0" anchor="ctr"/>
          <a:lstStyle/>
          <a:p>
            <a:pPr marL="0" indent="0" algn="l">
              <a:lnSpc>
                <a:spcPts val="1400"/>
              </a:lnSpc>
              <a:buNone/>
            </a:pPr>
            <a:r>
              <a:rPr lang="en-US" sz="1050" dirty="0">
                <a:solidFill>
                  <a:srgbClr val="222633"/>
                </a:solidFill>
                <a:latin typeface="Pretendard" pitchFamily="34" charset="0"/>
                <a:ea typeface="Pretendard" pitchFamily="34" charset="-122"/>
                <a:cs typeface="Pretendard" pitchFamily="34" charset="-120"/>
              </a:rPr>
              <a:t>금지  제3조 제3호</a:t>
            </a:r>
            <a:endParaRPr lang="en-US" sz="1050" dirty="0"/>
          </a:p>
          <a:p>
            <a:pPr marL="0" indent="0" algn="l">
              <a:lnSpc>
                <a:spcPts val="1400"/>
              </a:lnSpc>
              <a:buNone/>
            </a:pPr>
            <a:r>
              <a:rPr lang="en-US" sz="1050" dirty="0">
                <a:solidFill>
                  <a:srgbClr val="222633"/>
                </a:solidFill>
                <a:latin typeface="Pretendard" pitchFamily="34" charset="0"/>
                <a:ea typeface="Pretendard" pitchFamily="34" charset="-122"/>
                <a:cs typeface="Pretendard" pitchFamily="34" charset="-120"/>
              </a:rPr>
              <a:t>벌칙  제59조 제1항 제3호</a:t>
            </a:r>
            <a:endParaRPr lang="en-US" sz="1050" dirty="0"/>
          </a:p>
        </p:txBody>
      </p:sp>
      <p:sp>
        <p:nvSpPr>
          <p:cNvPr id="29" name="Shape 27"/>
          <p:cNvSpPr/>
          <p:nvPr/>
        </p:nvSpPr>
        <p:spPr>
          <a:xfrm>
            <a:off x="8686800" y="2770632"/>
            <a:ext cx="2743200" cy="502920"/>
          </a:xfrm>
          <a:prstGeom prst="rect">
            <a:avLst/>
          </a:prstGeom>
          <a:solidFill>
            <a:srgbClr val="FFFFFF"/>
          </a:solidFill>
          <a:ln w="12700">
            <a:solidFill>
              <a:srgbClr val="DCE0E8"/>
            </a:solidFill>
            <a:prstDash val="solid"/>
          </a:ln>
        </p:spPr>
        <p:txBody>
          <a:bodyPr/>
          <a:lstStyle/>
          <a:p>
            <a:endParaRPr lang="ko-KR" altLang="en-US" b="1"/>
          </a:p>
        </p:txBody>
      </p:sp>
      <p:sp>
        <p:nvSpPr>
          <p:cNvPr id="30" name="Text 28"/>
          <p:cNvSpPr/>
          <p:nvPr/>
        </p:nvSpPr>
        <p:spPr>
          <a:xfrm>
            <a:off x="8778240" y="2770632"/>
            <a:ext cx="2560320" cy="502920"/>
          </a:xfrm>
          <a:prstGeom prst="rect">
            <a:avLst/>
          </a:prstGeom>
          <a:noFill/>
          <a:ln/>
        </p:spPr>
        <p:txBody>
          <a:bodyPr wrap="square" lIns="0" tIns="0" rIns="0" bIns="0" rtlCol="0" anchor="ctr"/>
          <a:lstStyle/>
          <a:p>
            <a:pPr marL="0" indent="0" algn="ctr">
              <a:lnSpc>
                <a:spcPts val="1400"/>
              </a:lnSpc>
              <a:buNone/>
            </a:pPr>
            <a:r>
              <a:rPr lang="en-US" sz="1050" b="1" dirty="0">
                <a:solidFill>
                  <a:srgbClr val="222633"/>
                </a:solidFill>
                <a:latin typeface="Pretendard" pitchFamily="34" charset="0"/>
                <a:ea typeface="Pretendard" pitchFamily="34" charset="-122"/>
                <a:cs typeface="Pretendard" pitchFamily="34" charset="-120"/>
              </a:rPr>
              <a:t>1년 이상의 유기징역</a:t>
            </a:r>
            <a:endParaRPr lang="en-US" sz="1050" b="1" dirty="0"/>
          </a:p>
        </p:txBody>
      </p:sp>
      <p:sp>
        <p:nvSpPr>
          <p:cNvPr id="31" name="Shape 29"/>
          <p:cNvSpPr/>
          <p:nvPr/>
        </p:nvSpPr>
        <p:spPr>
          <a:xfrm>
            <a:off x="731520" y="3273552"/>
            <a:ext cx="2103120" cy="1508760"/>
          </a:xfrm>
          <a:prstGeom prst="rect">
            <a:avLst/>
          </a:prstGeom>
          <a:solidFill>
            <a:srgbClr val="FFFFFF"/>
          </a:solidFill>
          <a:ln w="12700">
            <a:solidFill>
              <a:srgbClr val="DCE0E8"/>
            </a:solidFill>
            <a:prstDash val="solid"/>
          </a:ln>
        </p:spPr>
        <p:txBody>
          <a:bodyPr/>
          <a:lstStyle/>
          <a:p>
            <a:endParaRPr lang="ko-KR" altLang="en-US"/>
          </a:p>
        </p:txBody>
      </p:sp>
      <p:sp>
        <p:nvSpPr>
          <p:cNvPr id="32" name="Text 30"/>
          <p:cNvSpPr/>
          <p:nvPr/>
        </p:nvSpPr>
        <p:spPr>
          <a:xfrm>
            <a:off x="762000" y="3273552"/>
            <a:ext cx="2072640" cy="1508760"/>
          </a:xfrm>
          <a:prstGeom prst="rect">
            <a:avLst/>
          </a:prstGeom>
          <a:noFill/>
          <a:ln/>
        </p:spPr>
        <p:txBody>
          <a:bodyPr wrap="square" lIns="0" tIns="0" rIns="0" bIns="0" rtlCol="0" anchor="ctr"/>
          <a:lstStyle/>
          <a:p>
            <a:pPr marL="0" indent="0" algn="ctr">
              <a:lnSpc>
                <a:spcPts val="1400"/>
              </a:lnSpc>
              <a:buNone/>
            </a:pPr>
            <a:r>
              <a:rPr lang="en-US" sz="1200" b="1" dirty="0" err="1">
                <a:solidFill>
                  <a:srgbClr val="1E2761"/>
                </a:solidFill>
                <a:latin typeface="Pretendard" pitchFamily="34" charset="0"/>
                <a:ea typeface="Pretendard" pitchFamily="34" charset="-122"/>
                <a:cs typeface="Pretendard" pitchFamily="34" charset="-120"/>
              </a:rPr>
              <a:t>향정신성의약품</a:t>
            </a:r>
            <a:endParaRPr lang="en-US" sz="1200" dirty="0"/>
          </a:p>
          <a:p>
            <a:pPr marL="0" indent="0" algn="ctr">
              <a:lnSpc>
                <a:spcPts val="1400"/>
              </a:lnSpc>
              <a:buNone/>
            </a:pPr>
            <a:r>
              <a:rPr lang="en-US" sz="1200" dirty="0">
                <a:solidFill>
                  <a:schemeClr val="tx1">
                    <a:lumMod val="50000"/>
                    <a:lumOff val="50000"/>
                  </a:schemeClr>
                </a:solidFill>
                <a:latin typeface="Pretendard" pitchFamily="34" charset="0"/>
                <a:ea typeface="Pretendard" pitchFamily="34" charset="-122"/>
                <a:cs typeface="Pretendard" pitchFamily="34" charset="-120"/>
              </a:rPr>
              <a:t>법 제2조 제3호</a:t>
            </a:r>
            <a:endParaRPr lang="en-US" sz="1200" dirty="0">
              <a:solidFill>
                <a:schemeClr val="tx1">
                  <a:lumMod val="50000"/>
                  <a:lumOff val="50000"/>
                </a:schemeClr>
              </a:solidFill>
            </a:endParaRPr>
          </a:p>
        </p:txBody>
      </p:sp>
      <p:sp>
        <p:nvSpPr>
          <p:cNvPr id="33" name="Shape 31"/>
          <p:cNvSpPr/>
          <p:nvPr/>
        </p:nvSpPr>
        <p:spPr>
          <a:xfrm>
            <a:off x="2834640" y="3273552"/>
            <a:ext cx="2788920" cy="502920"/>
          </a:xfrm>
          <a:prstGeom prst="rect">
            <a:avLst/>
          </a:prstGeom>
          <a:solidFill>
            <a:srgbClr val="FFFFFF"/>
          </a:solidFill>
          <a:ln w="12700">
            <a:solidFill>
              <a:srgbClr val="DCE0E8"/>
            </a:solidFill>
            <a:prstDash val="solid"/>
          </a:ln>
        </p:spPr>
        <p:txBody>
          <a:bodyPr/>
          <a:lstStyle/>
          <a:p>
            <a:endParaRPr lang="ko-KR" altLang="en-US" dirty="0"/>
          </a:p>
        </p:txBody>
      </p:sp>
      <p:sp>
        <p:nvSpPr>
          <p:cNvPr id="34" name="Text 32"/>
          <p:cNvSpPr/>
          <p:nvPr/>
        </p:nvSpPr>
        <p:spPr>
          <a:xfrm>
            <a:off x="2926080" y="3273552"/>
            <a:ext cx="2606040" cy="502920"/>
          </a:xfrm>
          <a:prstGeom prst="rect">
            <a:avLst/>
          </a:prstGeom>
          <a:noFill/>
          <a:ln/>
        </p:spPr>
        <p:txBody>
          <a:bodyPr wrap="square" lIns="0" tIns="0" rIns="0" bIns="0" rtlCol="0" anchor="ctr"/>
          <a:lstStyle/>
          <a:p>
            <a:pPr marL="0" indent="0" algn="l">
              <a:lnSpc>
                <a:spcPts val="1400"/>
              </a:lnSpc>
              <a:buNone/>
            </a:pPr>
            <a:r>
              <a:rPr lang="en-US" sz="1050" dirty="0" err="1">
                <a:solidFill>
                  <a:srgbClr val="222633"/>
                </a:solidFill>
                <a:latin typeface="Pretendard" pitchFamily="34" charset="0"/>
                <a:ea typeface="Pretendard" pitchFamily="34" charset="-122"/>
                <a:cs typeface="Pretendard" pitchFamily="34" charset="-120"/>
              </a:rPr>
              <a:t>가목의 사용</a:t>
            </a:r>
            <a:endParaRPr lang="en-US" sz="1050" dirty="0">
              <a:solidFill>
                <a:srgbClr val="222633"/>
              </a:solidFill>
              <a:latin typeface="Pretendard" pitchFamily="34" charset="0"/>
              <a:ea typeface="Pretendard" pitchFamily="34" charset="-122"/>
              <a:cs typeface="Pretendard" pitchFamily="34" charset="-120"/>
            </a:endParaRPr>
          </a:p>
          <a:p>
            <a:pPr marL="0" indent="0" algn="l">
              <a:lnSpc>
                <a:spcPts val="1400"/>
              </a:lnSpc>
              <a:buNone/>
            </a:pPr>
            <a:r>
              <a:rPr lang="en-US" sz="1050" dirty="0" err="1">
                <a:solidFill>
                  <a:srgbClr val="222633"/>
                </a:solidFill>
                <a:latin typeface="Pretendard" pitchFamily="34" charset="0"/>
                <a:ea typeface="Pretendard" pitchFamily="34" charset="-122"/>
                <a:cs typeface="Pretendard" pitchFamily="34" charset="-120"/>
              </a:rPr>
              <a:t>— </a:t>
            </a:r>
            <a:r>
              <a:rPr lang="en-US" sz="1050" b="1" dirty="0" err="1">
                <a:solidFill>
                  <a:srgbClr val="222633"/>
                </a:solidFill>
                <a:latin typeface="Pretendard" pitchFamily="34" charset="0"/>
                <a:ea typeface="Pretendard" pitchFamily="34" charset="-122"/>
                <a:cs typeface="Pretendard" pitchFamily="34" charset="-120"/>
              </a:rPr>
              <a:t>의료용 사용 없음 · 오남용 우려 심함</a:t>
            </a:r>
            <a:endParaRPr lang="en-US" sz="1050" b="1" dirty="0">
              <a:solidFill>
                <a:srgbClr val="222633"/>
              </a:solidFill>
              <a:latin typeface="Pretendard" pitchFamily="34" charset="0"/>
              <a:ea typeface="Pretendard" pitchFamily="34" charset="-122"/>
              <a:cs typeface="Pretendard" pitchFamily="34" charset="-120"/>
            </a:endParaRPr>
          </a:p>
        </p:txBody>
      </p:sp>
      <p:sp>
        <p:nvSpPr>
          <p:cNvPr id="35" name="Shape 33"/>
          <p:cNvSpPr/>
          <p:nvPr/>
        </p:nvSpPr>
        <p:spPr>
          <a:xfrm>
            <a:off x="5623560" y="3273552"/>
            <a:ext cx="3063240" cy="502920"/>
          </a:xfrm>
          <a:prstGeom prst="rect">
            <a:avLst/>
          </a:prstGeom>
          <a:solidFill>
            <a:srgbClr val="FFFFFF"/>
          </a:solidFill>
          <a:ln w="12700">
            <a:solidFill>
              <a:srgbClr val="DCE0E8"/>
            </a:solidFill>
            <a:prstDash val="solid"/>
          </a:ln>
        </p:spPr>
        <p:txBody>
          <a:bodyPr/>
          <a:lstStyle/>
          <a:p>
            <a:endParaRPr lang="ko-KR" altLang="en-US"/>
          </a:p>
        </p:txBody>
      </p:sp>
      <p:sp>
        <p:nvSpPr>
          <p:cNvPr id="36" name="Text 34"/>
          <p:cNvSpPr/>
          <p:nvPr/>
        </p:nvSpPr>
        <p:spPr>
          <a:xfrm>
            <a:off x="5715000" y="3273552"/>
            <a:ext cx="2880360" cy="502920"/>
          </a:xfrm>
          <a:prstGeom prst="rect">
            <a:avLst/>
          </a:prstGeom>
          <a:noFill/>
          <a:ln/>
        </p:spPr>
        <p:txBody>
          <a:bodyPr wrap="square" lIns="0" tIns="0" rIns="0" bIns="0" rtlCol="0" anchor="ctr"/>
          <a:lstStyle/>
          <a:p>
            <a:pPr marL="0" indent="0" algn="l">
              <a:lnSpc>
                <a:spcPts val="1400"/>
              </a:lnSpc>
              <a:buNone/>
            </a:pPr>
            <a:r>
              <a:rPr lang="en-US" sz="1050" dirty="0">
                <a:solidFill>
                  <a:srgbClr val="222633"/>
                </a:solidFill>
                <a:latin typeface="Pretendard" pitchFamily="34" charset="0"/>
                <a:ea typeface="Pretendard" pitchFamily="34" charset="-122"/>
                <a:cs typeface="Pretendard" pitchFamily="34" charset="-120"/>
              </a:rPr>
              <a:t>금지  제3조 제5호</a:t>
            </a:r>
            <a:endParaRPr lang="en-US" sz="1050" dirty="0"/>
          </a:p>
          <a:p>
            <a:pPr marL="0" indent="0" algn="l">
              <a:lnSpc>
                <a:spcPts val="1400"/>
              </a:lnSpc>
              <a:buNone/>
            </a:pPr>
            <a:r>
              <a:rPr lang="en-US" sz="1050" dirty="0">
                <a:solidFill>
                  <a:srgbClr val="222633"/>
                </a:solidFill>
                <a:latin typeface="Pretendard" pitchFamily="34" charset="0"/>
                <a:ea typeface="Pretendard" pitchFamily="34" charset="-122"/>
                <a:cs typeface="Pretendard" pitchFamily="34" charset="-120"/>
              </a:rPr>
              <a:t>벌칙  제59조 제1항 제5호</a:t>
            </a:r>
            <a:endParaRPr lang="en-US" sz="1050" dirty="0"/>
          </a:p>
        </p:txBody>
      </p:sp>
      <p:sp>
        <p:nvSpPr>
          <p:cNvPr id="37" name="Shape 35"/>
          <p:cNvSpPr/>
          <p:nvPr/>
        </p:nvSpPr>
        <p:spPr>
          <a:xfrm>
            <a:off x="8686800" y="3273552"/>
            <a:ext cx="2743200" cy="502920"/>
          </a:xfrm>
          <a:prstGeom prst="rect">
            <a:avLst/>
          </a:prstGeom>
          <a:solidFill>
            <a:srgbClr val="FFFFFF"/>
          </a:solidFill>
          <a:ln w="12700">
            <a:solidFill>
              <a:srgbClr val="DCE0E8"/>
            </a:solidFill>
            <a:prstDash val="solid"/>
          </a:ln>
        </p:spPr>
        <p:txBody>
          <a:bodyPr/>
          <a:lstStyle/>
          <a:p>
            <a:endParaRPr lang="ko-KR" altLang="en-US" b="1"/>
          </a:p>
        </p:txBody>
      </p:sp>
      <p:sp>
        <p:nvSpPr>
          <p:cNvPr id="38" name="Text 36"/>
          <p:cNvSpPr/>
          <p:nvPr/>
        </p:nvSpPr>
        <p:spPr>
          <a:xfrm>
            <a:off x="8778240" y="3273552"/>
            <a:ext cx="2560320" cy="502920"/>
          </a:xfrm>
          <a:prstGeom prst="rect">
            <a:avLst/>
          </a:prstGeom>
          <a:noFill/>
          <a:ln/>
        </p:spPr>
        <p:txBody>
          <a:bodyPr wrap="square" lIns="0" tIns="0" rIns="0" bIns="0" rtlCol="0" anchor="ctr"/>
          <a:lstStyle/>
          <a:p>
            <a:pPr marL="0" indent="0" algn="ctr">
              <a:lnSpc>
                <a:spcPts val="1400"/>
              </a:lnSpc>
              <a:buNone/>
            </a:pPr>
            <a:r>
              <a:rPr lang="en-US" sz="1050" b="1" dirty="0">
                <a:solidFill>
                  <a:srgbClr val="222633"/>
                </a:solidFill>
                <a:latin typeface="Pretendard" pitchFamily="34" charset="0"/>
                <a:ea typeface="Pretendard" pitchFamily="34" charset="-122"/>
                <a:cs typeface="Pretendard" pitchFamily="34" charset="-120"/>
              </a:rPr>
              <a:t>1년 이상의 유기징역</a:t>
            </a:r>
            <a:endParaRPr lang="en-US" sz="1050" b="1" dirty="0"/>
          </a:p>
        </p:txBody>
      </p:sp>
      <p:sp>
        <p:nvSpPr>
          <p:cNvPr id="40" name="Shape 38"/>
          <p:cNvSpPr/>
          <p:nvPr/>
        </p:nvSpPr>
        <p:spPr>
          <a:xfrm>
            <a:off x="2834640" y="3776472"/>
            <a:ext cx="2788920" cy="502920"/>
          </a:xfrm>
          <a:prstGeom prst="rect">
            <a:avLst/>
          </a:prstGeom>
          <a:solidFill>
            <a:srgbClr val="FFFFFF"/>
          </a:solidFill>
          <a:ln w="12700">
            <a:solidFill>
              <a:srgbClr val="DCE0E8"/>
            </a:solidFill>
            <a:prstDash val="solid"/>
          </a:ln>
        </p:spPr>
        <p:txBody>
          <a:bodyPr/>
          <a:lstStyle/>
          <a:p>
            <a:endParaRPr lang="ko-KR" altLang="en-US"/>
          </a:p>
        </p:txBody>
      </p:sp>
      <p:sp>
        <p:nvSpPr>
          <p:cNvPr id="41" name="Text 39"/>
          <p:cNvSpPr/>
          <p:nvPr/>
        </p:nvSpPr>
        <p:spPr>
          <a:xfrm>
            <a:off x="2926080" y="3776472"/>
            <a:ext cx="2606040" cy="502920"/>
          </a:xfrm>
          <a:prstGeom prst="rect">
            <a:avLst/>
          </a:prstGeom>
          <a:noFill/>
          <a:ln/>
        </p:spPr>
        <p:txBody>
          <a:bodyPr wrap="square" lIns="0" tIns="0" rIns="0" bIns="0" rtlCol="0" anchor="ctr"/>
          <a:lstStyle/>
          <a:p>
            <a:pPr marL="0" indent="0" algn="l">
              <a:lnSpc>
                <a:spcPts val="1400"/>
              </a:lnSpc>
              <a:buNone/>
            </a:pPr>
            <a:r>
              <a:rPr lang="en-US" sz="1050" dirty="0">
                <a:solidFill>
                  <a:srgbClr val="222633"/>
                </a:solidFill>
                <a:latin typeface="Pretendard" pitchFamily="34" charset="0"/>
                <a:ea typeface="Pretendard" pitchFamily="34" charset="-122"/>
                <a:cs typeface="Pretendard" pitchFamily="34" charset="-120"/>
              </a:rPr>
              <a:t>나·다목의 사용·투약</a:t>
            </a:r>
          </a:p>
          <a:p>
            <a:pPr marL="0" indent="0" algn="l">
              <a:lnSpc>
                <a:spcPts val="1400"/>
              </a:lnSpc>
              <a:buNone/>
            </a:pPr>
            <a:r>
              <a:rPr lang="en-US" sz="1050" dirty="0">
                <a:solidFill>
                  <a:srgbClr val="222633"/>
                </a:solidFill>
                <a:latin typeface="Pretendard" pitchFamily="34" charset="0"/>
                <a:ea typeface="Pretendard" pitchFamily="34" charset="-122"/>
                <a:cs typeface="Pretendard" pitchFamily="34" charset="-120"/>
              </a:rPr>
              <a:t>— </a:t>
            </a:r>
            <a:r>
              <a:rPr lang="en-US" sz="1050" b="1" dirty="0">
                <a:solidFill>
                  <a:srgbClr val="222633"/>
                </a:solidFill>
                <a:latin typeface="Pretendard" pitchFamily="34" charset="0"/>
                <a:ea typeface="Pretendard" pitchFamily="34" charset="-122"/>
                <a:cs typeface="Pretendard" pitchFamily="34" charset="-120"/>
              </a:rPr>
              <a:t>나목 제한적 의료용 · 다목 의료용 가능</a:t>
            </a:r>
          </a:p>
        </p:txBody>
      </p:sp>
      <p:sp>
        <p:nvSpPr>
          <p:cNvPr id="42" name="Shape 40"/>
          <p:cNvSpPr/>
          <p:nvPr/>
        </p:nvSpPr>
        <p:spPr>
          <a:xfrm>
            <a:off x="5623560" y="3776472"/>
            <a:ext cx="3063240" cy="502920"/>
          </a:xfrm>
          <a:prstGeom prst="rect">
            <a:avLst/>
          </a:prstGeom>
          <a:solidFill>
            <a:srgbClr val="FFFFFF"/>
          </a:solidFill>
          <a:ln w="12700">
            <a:solidFill>
              <a:srgbClr val="DCE0E8"/>
            </a:solidFill>
            <a:prstDash val="solid"/>
          </a:ln>
        </p:spPr>
        <p:txBody>
          <a:bodyPr/>
          <a:lstStyle/>
          <a:p>
            <a:endParaRPr lang="ko-KR" altLang="en-US"/>
          </a:p>
        </p:txBody>
      </p:sp>
      <p:sp>
        <p:nvSpPr>
          <p:cNvPr id="43" name="Text 41"/>
          <p:cNvSpPr/>
          <p:nvPr/>
        </p:nvSpPr>
        <p:spPr>
          <a:xfrm>
            <a:off x="5715000" y="3776472"/>
            <a:ext cx="2880360" cy="502920"/>
          </a:xfrm>
          <a:prstGeom prst="rect">
            <a:avLst/>
          </a:prstGeom>
          <a:noFill/>
          <a:ln/>
        </p:spPr>
        <p:txBody>
          <a:bodyPr wrap="square" lIns="0" tIns="0" rIns="0" bIns="0" rtlCol="0" anchor="ctr"/>
          <a:lstStyle/>
          <a:p>
            <a:pPr marL="0" indent="0" algn="l">
              <a:lnSpc>
                <a:spcPts val="1400"/>
              </a:lnSpc>
              <a:buNone/>
            </a:pPr>
            <a:r>
              <a:rPr lang="en-US" sz="1050" dirty="0">
                <a:solidFill>
                  <a:srgbClr val="222633"/>
                </a:solidFill>
                <a:latin typeface="Pretendard" pitchFamily="34" charset="0"/>
                <a:ea typeface="Pretendard" pitchFamily="34" charset="-122"/>
                <a:cs typeface="Pretendard" pitchFamily="34" charset="-120"/>
              </a:rPr>
              <a:t>금지  제4조 제1항 제1호</a:t>
            </a:r>
            <a:endParaRPr lang="en-US" sz="1050" dirty="0"/>
          </a:p>
          <a:p>
            <a:pPr marL="0" indent="0" algn="l">
              <a:lnSpc>
                <a:spcPts val="1400"/>
              </a:lnSpc>
              <a:buNone/>
            </a:pPr>
            <a:r>
              <a:rPr lang="en-US" sz="1050" dirty="0">
                <a:solidFill>
                  <a:srgbClr val="222633"/>
                </a:solidFill>
                <a:latin typeface="Pretendard" pitchFamily="34" charset="0"/>
                <a:ea typeface="Pretendard" pitchFamily="34" charset="-122"/>
                <a:cs typeface="Pretendard" pitchFamily="34" charset="-120"/>
              </a:rPr>
              <a:t>벌칙  제60조 제1항 제2호</a:t>
            </a:r>
            <a:endParaRPr lang="en-US" sz="1050" dirty="0"/>
          </a:p>
        </p:txBody>
      </p:sp>
      <p:sp>
        <p:nvSpPr>
          <p:cNvPr id="44" name="Shape 42"/>
          <p:cNvSpPr/>
          <p:nvPr/>
        </p:nvSpPr>
        <p:spPr>
          <a:xfrm>
            <a:off x="8686800" y="3776472"/>
            <a:ext cx="2743200" cy="502920"/>
          </a:xfrm>
          <a:prstGeom prst="rect">
            <a:avLst/>
          </a:prstGeom>
          <a:solidFill>
            <a:srgbClr val="FFFFFF"/>
          </a:solidFill>
          <a:ln w="12700">
            <a:solidFill>
              <a:srgbClr val="DCE0E8"/>
            </a:solidFill>
            <a:prstDash val="solid"/>
          </a:ln>
        </p:spPr>
        <p:txBody>
          <a:bodyPr/>
          <a:lstStyle/>
          <a:p>
            <a:endParaRPr lang="ko-KR" altLang="en-US" b="1"/>
          </a:p>
        </p:txBody>
      </p:sp>
      <p:sp>
        <p:nvSpPr>
          <p:cNvPr id="45" name="Text 43"/>
          <p:cNvSpPr/>
          <p:nvPr/>
        </p:nvSpPr>
        <p:spPr>
          <a:xfrm>
            <a:off x="8778240" y="3776472"/>
            <a:ext cx="2560320" cy="502920"/>
          </a:xfrm>
          <a:prstGeom prst="rect">
            <a:avLst/>
          </a:prstGeom>
          <a:noFill/>
          <a:ln/>
        </p:spPr>
        <p:txBody>
          <a:bodyPr wrap="square" lIns="0" tIns="0" rIns="0" bIns="0" rtlCol="0" anchor="ctr"/>
          <a:lstStyle/>
          <a:p>
            <a:pPr marL="0" indent="0" algn="ctr">
              <a:lnSpc>
                <a:spcPts val="1400"/>
              </a:lnSpc>
              <a:buNone/>
            </a:pPr>
            <a:r>
              <a:rPr lang="en-US" sz="1050" b="1" dirty="0">
                <a:solidFill>
                  <a:srgbClr val="222633"/>
                </a:solidFill>
                <a:latin typeface="Pretendard" pitchFamily="34" charset="0"/>
                <a:ea typeface="Pretendard" pitchFamily="34" charset="-122"/>
                <a:cs typeface="Pretendard" pitchFamily="34" charset="-120"/>
              </a:rPr>
              <a:t>10년 이하의 징역 또는</a:t>
            </a:r>
            <a:endParaRPr lang="en-US" sz="1050" b="1" dirty="0"/>
          </a:p>
          <a:p>
            <a:pPr marL="0" indent="0" algn="ctr">
              <a:lnSpc>
                <a:spcPts val="1400"/>
              </a:lnSpc>
              <a:buNone/>
            </a:pPr>
            <a:r>
              <a:rPr lang="en-US" sz="1050" b="1" dirty="0">
                <a:solidFill>
                  <a:srgbClr val="222633"/>
                </a:solidFill>
                <a:latin typeface="Pretendard" pitchFamily="34" charset="0"/>
                <a:ea typeface="Pretendard" pitchFamily="34" charset="-122"/>
                <a:cs typeface="Pretendard" pitchFamily="34" charset="-120"/>
              </a:rPr>
              <a:t>1억원 이하의 벌금</a:t>
            </a:r>
            <a:endParaRPr lang="en-US" sz="1050" b="1" dirty="0"/>
          </a:p>
        </p:txBody>
      </p:sp>
      <p:sp>
        <p:nvSpPr>
          <p:cNvPr id="47" name="Shape 45"/>
          <p:cNvSpPr/>
          <p:nvPr/>
        </p:nvSpPr>
        <p:spPr>
          <a:xfrm>
            <a:off x="2834640" y="4279392"/>
            <a:ext cx="2788920" cy="502920"/>
          </a:xfrm>
          <a:prstGeom prst="rect">
            <a:avLst/>
          </a:prstGeom>
          <a:solidFill>
            <a:srgbClr val="FFFFFF"/>
          </a:solidFill>
          <a:ln w="12700">
            <a:solidFill>
              <a:srgbClr val="DCE0E8"/>
            </a:solidFill>
            <a:prstDash val="solid"/>
          </a:ln>
        </p:spPr>
        <p:txBody>
          <a:bodyPr/>
          <a:lstStyle/>
          <a:p>
            <a:endParaRPr lang="ko-KR" altLang="en-US"/>
          </a:p>
        </p:txBody>
      </p:sp>
      <p:sp>
        <p:nvSpPr>
          <p:cNvPr id="48" name="Text 46"/>
          <p:cNvSpPr/>
          <p:nvPr/>
        </p:nvSpPr>
        <p:spPr>
          <a:xfrm>
            <a:off x="2926080" y="4279392"/>
            <a:ext cx="2606040" cy="502920"/>
          </a:xfrm>
          <a:prstGeom prst="rect">
            <a:avLst/>
          </a:prstGeom>
          <a:noFill/>
          <a:ln/>
        </p:spPr>
        <p:txBody>
          <a:bodyPr wrap="square" lIns="0" tIns="0" rIns="0" bIns="0" rtlCol="0" anchor="ctr"/>
          <a:lstStyle/>
          <a:p>
            <a:pPr marL="0" indent="0" algn="l">
              <a:lnSpc>
                <a:spcPts val="1400"/>
              </a:lnSpc>
              <a:buNone/>
            </a:pPr>
            <a:r>
              <a:rPr lang="en-US" sz="1050" dirty="0">
                <a:solidFill>
                  <a:srgbClr val="222633"/>
                </a:solidFill>
                <a:latin typeface="Pretendard" pitchFamily="34" charset="0"/>
                <a:ea typeface="Pretendard" pitchFamily="34" charset="-122"/>
                <a:cs typeface="Pretendard" pitchFamily="34" charset="-120"/>
              </a:rPr>
              <a:t>라목의 사용·투약</a:t>
            </a:r>
          </a:p>
          <a:p>
            <a:pPr marL="0" indent="0" algn="l">
              <a:lnSpc>
                <a:spcPts val="1400"/>
              </a:lnSpc>
              <a:buNone/>
            </a:pPr>
            <a:r>
              <a:rPr lang="en-US" sz="1050" dirty="0">
                <a:solidFill>
                  <a:srgbClr val="222633"/>
                </a:solidFill>
                <a:latin typeface="Pretendard" pitchFamily="34" charset="0"/>
                <a:ea typeface="Pretendard" pitchFamily="34" charset="-122"/>
                <a:cs typeface="Pretendard" pitchFamily="34" charset="-120"/>
              </a:rPr>
              <a:t>— </a:t>
            </a:r>
            <a:r>
              <a:rPr lang="en-US" sz="1050" b="1" dirty="0">
                <a:solidFill>
                  <a:srgbClr val="222633"/>
                </a:solidFill>
                <a:latin typeface="Pretendard" pitchFamily="34" charset="0"/>
                <a:ea typeface="Pretendard" pitchFamily="34" charset="-122"/>
                <a:cs typeface="Pretendard" pitchFamily="34" charset="-120"/>
              </a:rPr>
              <a:t>의료용 사용 · 오남용 우려 낮음</a:t>
            </a:r>
          </a:p>
        </p:txBody>
      </p:sp>
      <p:sp>
        <p:nvSpPr>
          <p:cNvPr id="49" name="Shape 47"/>
          <p:cNvSpPr/>
          <p:nvPr/>
        </p:nvSpPr>
        <p:spPr>
          <a:xfrm>
            <a:off x="5623560" y="4279392"/>
            <a:ext cx="3063240" cy="502920"/>
          </a:xfrm>
          <a:prstGeom prst="rect">
            <a:avLst/>
          </a:prstGeom>
          <a:solidFill>
            <a:srgbClr val="FFFFFF"/>
          </a:solidFill>
          <a:ln w="12700">
            <a:solidFill>
              <a:srgbClr val="DCE0E8"/>
            </a:solidFill>
            <a:prstDash val="solid"/>
          </a:ln>
        </p:spPr>
        <p:txBody>
          <a:bodyPr/>
          <a:lstStyle/>
          <a:p>
            <a:endParaRPr lang="ko-KR" altLang="en-US"/>
          </a:p>
        </p:txBody>
      </p:sp>
      <p:sp>
        <p:nvSpPr>
          <p:cNvPr id="50" name="Text 48"/>
          <p:cNvSpPr/>
          <p:nvPr/>
        </p:nvSpPr>
        <p:spPr>
          <a:xfrm>
            <a:off x="5715000" y="4279392"/>
            <a:ext cx="2880360" cy="502920"/>
          </a:xfrm>
          <a:prstGeom prst="rect">
            <a:avLst/>
          </a:prstGeom>
          <a:noFill/>
          <a:ln/>
        </p:spPr>
        <p:txBody>
          <a:bodyPr wrap="square" lIns="0" tIns="0" rIns="0" bIns="0" rtlCol="0" anchor="ctr"/>
          <a:lstStyle/>
          <a:p>
            <a:pPr marL="0" indent="0" algn="l">
              <a:lnSpc>
                <a:spcPts val="1400"/>
              </a:lnSpc>
              <a:buNone/>
            </a:pPr>
            <a:r>
              <a:rPr lang="en-US" sz="1050" dirty="0">
                <a:solidFill>
                  <a:srgbClr val="222633"/>
                </a:solidFill>
                <a:latin typeface="Pretendard" pitchFamily="34" charset="0"/>
                <a:ea typeface="Pretendard" pitchFamily="34" charset="-122"/>
                <a:cs typeface="Pretendard" pitchFamily="34" charset="-120"/>
              </a:rPr>
              <a:t>금지  제4조 제1항 제1호</a:t>
            </a:r>
            <a:endParaRPr lang="en-US" sz="1050" dirty="0"/>
          </a:p>
          <a:p>
            <a:pPr marL="0" indent="0" algn="l">
              <a:lnSpc>
                <a:spcPts val="1400"/>
              </a:lnSpc>
              <a:buNone/>
            </a:pPr>
            <a:r>
              <a:rPr lang="en-US" sz="1050" dirty="0">
                <a:solidFill>
                  <a:srgbClr val="222633"/>
                </a:solidFill>
                <a:latin typeface="Pretendard" pitchFamily="34" charset="0"/>
                <a:ea typeface="Pretendard" pitchFamily="34" charset="-122"/>
                <a:cs typeface="Pretendard" pitchFamily="34" charset="-120"/>
              </a:rPr>
              <a:t>벌칙  제61조 제1항 제5호</a:t>
            </a:r>
            <a:endParaRPr lang="en-US" sz="1050" dirty="0"/>
          </a:p>
        </p:txBody>
      </p:sp>
      <p:sp>
        <p:nvSpPr>
          <p:cNvPr id="51" name="Shape 49"/>
          <p:cNvSpPr/>
          <p:nvPr/>
        </p:nvSpPr>
        <p:spPr>
          <a:xfrm>
            <a:off x="8686800" y="4279392"/>
            <a:ext cx="2743200" cy="502920"/>
          </a:xfrm>
          <a:prstGeom prst="rect">
            <a:avLst/>
          </a:prstGeom>
          <a:solidFill>
            <a:srgbClr val="FFFFFF"/>
          </a:solidFill>
          <a:ln w="12700">
            <a:solidFill>
              <a:srgbClr val="DCE0E8"/>
            </a:solidFill>
            <a:prstDash val="solid"/>
          </a:ln>
        </p:spPr>
        <p:txBody>
          <a:bodyPr/>
          <a:lstStyle/>
          <a:p>
            <a:endParaRPr lang="ko-KR" altLang="en-US" b="1"/>
          </a:p>
        </p:txBody>
      </p:sp>
      <p:sp>
        <p:nvSpPr>
          <p:cNvPr id="52" name="Text 50"/>
          <p:cNvSpPr/>
          <p:nvPr/>
        </p:nvSpPr>
        <p:spPr>
          <a:xfrm>
            <a:off x="8778240" y="4279392"/>
            <a:ext cx="2560320" cy="502920"/>
          </a:xfrm>
          <a:prstGeom prst="rect">
            <a:avLst/>
          </a:prstGeom>
          <a:noFill/>
          <a:ln/>
        </p:spPr>
        <p:txBody>
          <a:bodyPr wrap="square" lIns="0" tIns="0" rIns="0" bIns="0" rtlCol="0" anchor="ctr"/>
          <a:lstStyle/>
          <a:p>
            <a:pPr marL="0" indent="0" algn="ctr">
              <a:lnSpc>
                <a:spcPts val="1400"/>
              </a:lnSpc>
              <a:buNone/>
            </a:pPr>
            <a:r>
              <a:rPr lang="en-US" sz="1050" b="1" dirty="0">
                <a:solidFill>
                  <a:srgbClr val="222633"/>
                </a:solidFill>
                <a:latin typeface="Pretendard" pitchFamily="34" charset="0"/>
                <a:ea typeface="Pretendard" pitchFamily="34" charset="-122"/>
                <a:cs typeface="Pretendard" pitchFamily="34" charset="-120"/>
              </a:rPr>
              <a:t>5년 이하의 징역 또는</a:t>
            </a:r>
            <a:endParaRPr lang="en-US" sz="1050" b="1" dirty="0"/>
          </a:p>
          <a:p>
            <a:pPr marL="0" indent="0" algn="ctr">
              <a:lnSpc>
                <a:spcPts val="1400"/>
              </a:lnSpc>
              <a:buNone/>
            </a:pPr>
            <a:r>
              <a:rPr lang="en-US" sz="1050" b="1" dirty="0">
                <a:solidFill>
                  <a:srgbClr val="222633"/>
                </a:solidFill>
                <a:latin typeface="Pretendard" pitchFamily="34" charset="0"/>
                <a:ea typeface="Pretendard" pitchFamily="34" charset="-122"/>
                <a:cs typeface="Pretendard" pitchFamily="34" charset="-120"/>
              </a:rPr>
              <a:t>5천만원 이하의 벌금</a:t>
            </a:r>
            <a:endParaRPr lang="en-US" sz="1050" b="1" dirty="0"/>
          </a:p>
        </p:txBody>
      </p:sp>
      <p:sp>
        <p:nvSpPr>
          <p:cNvPr id="53" name="Shape 51"/>
          <p:cNvSpPr/>
          <p:nvPr/>
        </p:nvSpPr>
        <p:spPr>
          <a:xfrm>
            <a:off x="731520" y="4782312"/>
            <a:ext cx="2103120" cy="502920"/>
          </a:xfrm>
          <a:prstGeom prst="rect">
            <a:avLst/>
          </a:prstGeom>
          <a:solidFill>
            <a:srgbClr val="FFFFFF"/>
          </a:solidFill>
          <a:ln w="12700">
            <a:solidFill>
              <a:srgbClr val="DCE0E8"/>
            </a:solidFill>
            <a:prstDash val="solid"/>
          </a:ln>
        </p:spPr>
        <p:txBody>
          <a:bodyPr/>
          <a:lstStyle/>
          <a:p>
            <a:endParaRPr lang="ko-KR" altLang="en-US"/>
          </a:p>
        </p:txBody>
      </p:sp>
      <p:sp>
        <p:nvSpPr>
          <p:cNvPr id="54" name="Text 52"/>
          <p:cNvSpPr/>
          <p:nvPr/>
        </p:nvSpPr>
        <p:spPr>
          <a:xfrm>
            <a:off x="822960" y="4782312"/>
            <a:ext cx="1920240" cy="502920"/>
          </a:xfrm>
          <a:prstGeom prst="rect">
            <a:avLst/>
          </a:prstGeom>
          <a:noFill/>
          <a:ln/>
        </p:spPr>
        <p:txBody>
          <a:bodyPr wrap="square" lIns="0" tIns="0" rIns="0" bIns="0" rtlCol="0" anchor="ctr"/>
          <a:lstStyle/>
          <a:p>
            <a:pPr marL="0" indent="0" algn="ctr">
              <a:lnSpc>
                <a:spcPts val="1400"/>
              </a:lnSpc>
              <a:buNone/>
            </a:pPr>
            <a:r>
              <a:rPr lang="en-US" sz="1200" b="1" dirty="0">
                <a:solidFill>
                  <a:srgbClr val="1E2761"/>
                </a:solidFill>
                <a:latin typeface="Pretendard" pitchFamily="34" charset="0"/>
                <a:ea typeface="Pretendard" pitchFamily="34" charset="-122"/>
                <a:cs typeface="Pretendard" pitchFamily="34" charset="-120"/>
              </a:rPr>
              <a:t>대마</a:t>
            </a:r>
            <a:endParaRPr lang="en-US" sz="1200" dirty="0"/>
          </a:p>
          <a:p>
            <a:pPr marL="0" indent="0" algn="ctr">
              <a:lnSpc>
                <a:spcPts val="1400"/>
              </a:lnSpc>
              <a:buNone/>
            </a:pPr>
            <a:r>
              <a:rPr lang="en-US" sz="1200" dirty="0">
                <a:solidFill>
                  <a:schemeClr val="tx1">
                    <a:lumMod val="50000"/>
                    <a:lumOff val="50000"/>
                  </a:schemeClr>
                </a:solidFill>
                <a:latin typeface="Pretendard" pitchFamily="34" charset="0"/>
                <a:ea typeface="Pretendard" pitchFamily="34" charset="-122"/>
                <a:cs typeface="Pretendard" pitchFamily="34" charset="-120"/>
              </a:rPr>
              <a:t>법 제2조 제4호</a:t>
            </a:r>
            <a:endParaRPr lang="en-US" sz="1200" dirty="0">
              <a:solidFill>
                <a:schemeClr val="tx1">
                  <a:lumMod val="50000"/>
                  <a:lumOff val="50000"/>
                </a:schemeClr>
              </a:solidFill>
            </a:endParaRPr>
          </a:p>
        </p:txBody>
      </p:sp>
      <p:sp>
        <p:nvSpPr>
          <p:cNvPr id="55" name="Shape 53"/>
          <p:cNvSpPr/>
          <p:nvPr/>
        </p:nvSpPr>
        <p:spPr>
          <a:xfrm>
            <a:off x="2834640" y="4782312"/>
            <a:ext cx="2788920" cy="502920"/>
          </a:xfrm>
          <a:prstGeom prst="rect">
            <a:avLst/>
          </a:prstGeom>
          <a:solidFill>
            <a:srgbClr val="FFFFFF"/>
          </a:solidFill>
          <a:ln w="12700">
            <a:solidFill>
              <a:srgbClr val="DCE0E8"/>
            </a:solidFill>
            <a:prstDash val="solid"/>
          </a:ln>
        </p:spPr>
        <p:txBody>
          <a:bodyPr/>
          <a:lstStyle/>
          <a:p>
            <a:endParaRPr lang="ko-KR" altLang="en-US"/>
          </a:p>
        </p:txBody>
      </p:sp>
      <p:sp>
        <p:nvSpPr>
          <p:cNvPr id="56" name="Text 54"/>
          <p:cNvSpPr/>
          <p:nvPr/>
        </p:nvSpPr>
        <p:spPr>
          <a:xfrm>
            <a:off x="2926080" y="4782312"/>
            <a:ext cx="2606040" cy="502920"/>
          </a:xfrm>
          <a:prstGeom prst="rect">
            <a:avLst/>
          </a:prstGeom>
          <a:noFill/>
          <a:ln/>
        </p:spPr>
        <p:txBody>
          <a:bodyPr wrap="square" lIns="0" tIns="0" rIns="0" bIns="0" rtlCol="0" anchor="ctr"/>
          <a:lstStyle/>
          <a:p>
            <a:pPr>
              <a:lnSpc>
                <a:spcPts val="1400"/>
              </a:lnSpc>
            </a:pPr>
            <a:r>
              <a:rPr lang="ko-KR" altLang="en-US" sz="1050" dirty="0">
                <a:solidFill>
                  <a:srgbClr val="222633"/>
                </a:solidFill>
                <a:latin typeface="Pretendard" pitchFamily="34" charset="0"/>
                <a:ea typeface="Pretendard" pitchFamily="34" charset="-122"/>
                <a:cs typeface="Pretendard" pitchFamily="34" charset="-120"/>
              </a:rPr>
              <a:t>대마 또는 대마초 종자의 껍질을 흡연</a:t>
            </a:r>
            <a:r>
              <a:rPr lang="en-US" altLang="ko-KR" sz="1050" dirty="0">
                <a:solidFill>
                  <a:srgbClr val="222633"/>
                </a:solidFill>
                <a:latin typeface="Pretendard" pitchFamily="34" charset="0"/>
                <a:ea typeface="Pretendard" pitchFamily="34" charset="-122"/>
                <a:cs typeface="Pretendard" pitchFamily="34" charset="-120"/>
              </a:rPr>
              <a:t>·</a:t>
            </a:r>
            <a:r>
              <a:rPr lang="ko-KR" altLang="en-US" sz="1050" dirty="0">
                <a:solidFill>
                  <a:srgbClr val="222633"/>
                </a:solidFill>
                <a:latin typeface="Pretendard" pitchFamily="34" charset="0"/>
                <a:ea typeface="Pretendard" pitchFamily="34" charset="-122"/>
                <a:cs typeface="Pretendard" pitchFamily="34" charset="-120"/>
              </a:rPr>
              <a:t>섭취</a:t>
            </a:r>
            <a:endParaRPr lang="en-US" sz="1050" dirty="0"/>
          </a:p>
        </p:txBody>
      </p:sp>
      <p:sp>
        <p:nvSpPr>
          <p:cNvPr id="57" name="Shape 55"/>
          <p:cNvSpPr/>
          <p:nvPr/>
        </p:nvSpPr>
        <p:spPr>
          <a:xfrm>
            <a:off x="5623560" y="4782312"/>
            <a:ext cx="3063240" cy="502920"/>
          </a:xfrm>
          <a:prstGeom prst="rect">
            <a:avLst/>
          </a:prstGeom>
          <a:solidFill>
            <a:srgbClr val="FFFFFF"/>
          </a:solidFill>
          <a:ln w="12700">
            <a:solidFill>
              <a:srgbClr val="DCE0E8"/>
            </a:solidFill>
            <a:prstDash val="solid"/>
          </a:ln>
        </p:spPr>
        <p:txBody>
          <a:bodyPr/>
          <a:lstStyle/>
          <a:p>
            <a:endParaRPr lang="ko-KR" altLang="en-US"/>
          </a:p>
        </p:txBody>
      </p:sp>
      <p:sp>
        <p:nvSpPr>
          <p:cNvPr id="58" name="Text 56"/>
          <p:cNvSpPr/>
          <p:nvPr/>
        </p:nvSpPr>
        <p:spPr>
          <a:xfrm>
            <a:off x="5715000" y="4782312"/>
            <a:ext cx="2880360" cy="502920"/>
          </a:xfrm>
          <a:prstGeom prst="rect">
            <a:avLst/>
          </a:prstGeom>
          <a:noFill/>
          <a:ln/>
        </p:spPr>
        <p:txBody>
          <a:bodyPr wrap="square" lIns="0" tIns="0" rIns="0" bIns="0" rtlCol="0" anchor="ctr"/>
          <a:lstStyle/>
          <a:p>
            <a:pPr marL="0" indent="0" algn="l">
              <a:lnSpc>
                <a:spcPts val="1400"/>
              </a:lnSpc>
              <a:buNone/>
            </a:pPr>
            <a:r>
              <a:rPr lang="en-US" sz="1050" dirty="0">
                <a:solidFill>
                  <a:srgbClr val="222633"/>
                </a:solidFill>
                <a:latin typeface="Pretendard" pitchFamily="34" charset="0"/>
                <a:ea typeface="Pretendard" pitchFamily="34" charset="-122"/>
                <a:cs typeface="Pretendard" pitchFamily="34" charset="-120"/>
              </a:rPr>
              <a:t>금지  제3조 제10호 가목</a:t>
            </a:r>
            <a:endParaRPr lang="en-US" sz="1050" dirty="0"/>
          </a:p>
          <a:p>
            <a:pPr marL="0" indent="0" algn="l">
              <a:lnSpc>
                <a:spcPts val="1400"/>
              </a:lnSpc>
              <a:buNone/>
            </a:pPr>
            <a:r>
              <a:rPr lang="en-US" sz="1050" dirty="0">
                <a:solidFill>
                  <a:srgbClr val="222633"/>
                </a:solidFill>
                <a:latin typeface="Pretendard" pitchFamily="34" charset="0"/>
                <a:ea typeface="Pretendard" pitchFamily="34" charset="-122"/>
                <a:cs typeface="Pretendard" pitchFamily="34" charset="-120"/>
              </a:rPr>
              <a:t>벌칙  제61조 제1항 제4호 가목</a:t>
            </a:r>
            <a:endParaRPr lang="en-US" sz="1050" dirty="0"/>
          </a:p>
        </p:txBody>
      </p:sp>
      <p:sp>
        <p:nvSpPr>
          <p:cNvPr id="59" name="Shape 57"/>
          <p:cNvSpPr/>
          <p:nvPr/>
        </p:nvSpPr>
        <p:spPr>
          <a:xfrm>
            <a:off x="8686800" y="4782312"/>
            <a:ext cx="2743200" cy="502920"/>
          </a:xfrm>
          <a:prstGeom prst="rect">
            <a:avLst/>
          </a:prstGeom>
          <a:solidFill>
            <a:srgbClr val="FFFFFF"/>
          </a:solidFill>
          <a:ln w="12700">
            <a:solidFill>
              <a:srgbClr val="DCE0E8"/>
            </a:solidFill>
            <a:prstDash val="solid"/>
          </a:ln>
        </p:spPr>
        <p:txBody>
          <a:bodyPr/>
          <a:lstStyle/>
          <a:p>
            <a:endParaRPr lang="ko-KR" altLang="en-US" b="1"/>
          </a:p>
        </p:txBody>
      </p:sp>
      <p:sp>
        <p:nvSpPr>
          <p:cNvPr id="60" name="Text 58"/>
          <p:cNvSpPr/>
          <p:nvPr/>
        </p:nvSpPr>
        <p:spPr>
          <a:xfrm>
            <a:off x="8778240" y="4782312"/>
            <a:ext cx="2560320" cy="502920"/>
          </a:xfrm>
          <a:prstGeom prst="rect">
            <a:avLst/>
          </a:prstGeom>
          <a:noFill/>
          <a:ln/>
        </p:spPr>
        <p:txBody>
          <a:bodyPr wrap="square" lIns="0" tIns="0" rIns="0" bIns="0" rtlCol="0" anchor="ctr"/>
          <a:lstStyle/>
          <a:p>
            <a:pPr marL="0" indent="0" algn="ctr">
              <a:lnSpc>
                <a:spcPts val="1400"/>
              </a:lnSpc>
              <a:buNone/>
            </a:pPr>
            <a:r>
              <a:rPr lang="en-US" sz="1050" b="1" dirty="0">
                <a:solidFill>
                  <a:srgbClr val="222633"/>
                </a:solidFill>
                <a:latin typeface="Pretendard" pitchFamily="34" charset="0"/>
                <a:ea typeface="Pretendard" pitchFamily="34" charset="-122"/>
                <a:cs typeface="Pretendard" pitchFamily="34" charset="-120"/>
              </a:rPr>
              <a:t>5년 이하의 징역 또는</a:t>
            </a:r>
            <a:endParaRPr lang="en-US" sz="1050" b="1" dirty="0"/>
          </a:p>
          <a:p>
            <a:pPr marL="0" indent="0" algn="ctr">
              <a:lnSpc>
                <a:spcPts val="1400"/>
              </a:lnSpc>
              <a:buNone/>
            </a:pPr>
            <a:r>
              <a:rPr lang="en-US" sz="1050" b="1" dirty="0">
                <a:solidFill>
                  <a:srgbClr val="222633"/>
                </a:solidFill>
                <a:latin typeface="Pretendard" pitchFamily="34" charset="0"/>
                <a:ea typeface="Pretendard" pitchFamily="34" charset="-122"/>
                <a:cs typeface="Pretendard" pitchFamily="34" charset="-120"/>
              </a:rPr>
              <a:t>5천만원 이하의 벌금</a:t>
            </a:r>
            <a:endParaRPr lang="en-US" sz="1050" b="1" dirty="0"/>
          </a:p>
        </p:txBody>
      </p:sp>
      <p:sp>
        <p:nvSpPr>
          <p:cNvPr id="61" name="Shape 59"/>
          <p:cNvSpPr/>
          <p:nvPr/>
        </p:nvSpPr>
        <p:spPr>
          <a:xfrm>
            <a:off x="731520" y="5504688"/>
            <a:ext cx="10698480" cy="457200"/>
          </a:xfrm>
          <a:prstGeom prst="rect">
            <a:avLst/>
          </a:prstGeom>
          <a:solidFill>
            <a:srgbClr val="1E2761"/>
          </a:solidFill>
          <a:ln w="12700">
            <a:solidFill>
              <a:srgbClr val="1E2761"/>
            </a:solidFill>
            <a:prstDash val="solid"/>
          </a:ln>
        </p:spPr>
        <p:txBody>
          <a:bodyPr/>
          <a:lstStyle/>
          <a:p>
            <a:endParaRPr lang="ko-KR" altLang="en-US"/>
          </a:p>
        </p:txBody>
      </p:sp>
      <p:sp>
        <p:nvSpPr>
          <p:cNvPr id="62" name="Text 60"/>
          <p:cNvSpPr/>
          <p:nvPr/>
        </p:nvSpPr>
        <p:spPr>
          <a:xfrm>
            <a:off x="1005840" y="5504688"/>
            <a:ext cx="10149840" cy="457200"/>
          </a:xfrm>
          <a:prstGeom prst="rect">
            <a:avLst/>
          </a:prstGeom>
          <a:noFill/>
          <a:ln/>
        </p:spPr>
        <p:txBody>
          <a:bodyPr wrap="square" lIns="0" tIns="0" rIns="0" bIns="0" rtlCol="0" anchor="ctr"/>
          <a:lstStyle/>
          <a:p>
            <a:pPr algn="ctr"/>
            <a:r>
              <a:rPr lang="ko-KR" altLang="en-US" sz="1350" b="1" dirty="0">
                <a:solidFill>
                  <a:srgbClr val="FFFFFF"/>
                </a:solidFill>
                <a:latin typeface="Pretendard" pitchFamily="34" charset="0"/>
                <a:ea typeface="Pretendard" pitchFamily="34" charset="-122"/>
                <a:cs typeface="Pretendard" pitchFamily="34" charset="-120"/>
              </a:rPr>
              <a:t>같은 마약류라도 의료적 사용이 인정되느냐 여부와 오남용 위험성 따라 적용 조문과 법정형이 달라집니다</a:t>
            </a:r>
            <a:endParaRPr lang="en-US" sz="1350" dirty="0"/>
          </a:p>
        </p:txBody>
      </p:sp>
      <p:sp>
        <p:nvSpPr>
          <p:cNvPr id="63" name="Shape 61"/>
          <p:cNvSpPr/>
          <p:nvPr/>
        </p:nvSpPr>
        <p:spPr>
          <a:xfrm>
            <a:off x="731520" y="6153912"/>
            <a:ext cx="10698480" cy="0"/>
          </a:xfrm>
          <a:prstGeom prst="line">
            <a:avLst/>
          </a:prstGeom>
          <a:noFill/>
          <a:ln w="12700">
            <a:solidFill>
              <a:srgbClr val="DCE0E8"/>
            </a:solidFill>
            <a:prstDash val="solid"/>
          </a:ln>
        </p:spPr>
        <p:txBody>
          <a:bodyPr/>
          <a:lstStyle/>
          <a:p>
            <a:endParaRPr lang="ko-K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1. 논제의 범위와 현행 대응</a:t>
            </a:r>
            <a:endParaRPr lang="en-US" sz="1250" dirty="0"/>
          </a:p>
        </p:txBody>
      </p:sp>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연령으로 보는 세 개념</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pPr marL="0" indent="0">
              <a:buNone/>
            </a:pPr>
            <a:r>
              <a:rPr lang="en-US" sz="2700" b="1" dirty="0">
                <a:solidFill>
                  <a:srgbClr val="1E2761"/>
                </a:solidFill>
                <a:latin typeface="Pretendard" pitchFamily="34" charset="0"/>
                <a:ea typeface="Pretendard" pitchFamily="34" charset="-122"/>
                <a:cs typeface="Pretendard" pitchFamily="34" charset="-120"/>
              </a:rPr>
              <a:t>의료용 사용과 위법한 투약·사용은 어떻게 구분되는가</a:t>
            </a:r>
            <a:endParaRPr lang="en-US" sz="2700" dirty="0"/>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575736"/>
            <a:ext cx="10698480" cy="438912"/>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987552" y="1575736"/>
            <a:ext cx="10186416" cy="438912"/>
          </a:xfrm>
          <a:prstGeom prst="rect">
            <a:avLst/>
          </a:prstGeom>
          <a:noFill/>
          <a:ln/>
        </p:spPr>
        <p:txBody>
          <a:bodyPr wrap="square" lIns="0" tIns="0" rIns="0" bIns="0" rtlCol="0" anchor="ctr"/>
          <a:lstStyle/>
          <a:p>
            <a:pPr marL="0" indent="0">
              <a:buNone/>
            </a:pPr>
            <a:r>
              <a:rPr lang="en-US" sz="1250" b="1" dirty="0">
                <a:solidFill>
                  <a:srgbClr val="1E2761"/>
                </a:solidFill>
                <a:highlight>
                  <a:srgbClr val="FFFF00"/>
                </a:highlight>
                <a:latin typeface="Pretendard" pitchFamily="34" charset="0"/>
                <a:ea typeface="Pretendard" pitchFamily="34" charset="-122"/>
                <a:cs typeface="Pretendard" pitchFamily="34" charset="-120"/>
              </a:rPr>
              <a:t>위법성은 법이 허용한 목적 · 절차 · 사용범위를 함께 보아 판단</a:t>
            </a:r>
            <a:r>
              <a:rPr lang="en-US" sz="1250" b="1" dirty="0">
                <a:solidFill>
                  <a:srgbClr val="1E2761"/>
                </a:solidFill>
                <a:latin typeface="Pretendard" pitchFamily="34" charset="0"/>
                <a:ea typeface="Pretendard" pitchFamily="34" charset="-122"/>
                <a:cs typeface="Pretendard" pitchFamily="34" charset="-120"/>
              </a:rPr>
              <a:t>한다</a:t>
            </a:r>
            <a:r>
              <a:rPr lang="en-US" sz="1250" dirty="0">
                <a:solidFill>
                  <a:srgbClr val="464D5C"/>
                </a:solidFill>
                <a:latin typeface="Pretendard" pitchFamily="34" charset="0"/>
                <a:ea typeface="Pretendard" pitchFamily="34" charset="-122"/>
                <a:cs typeface="Pretendard" pitchFamily="34" charset="-120"/>
              </a:rPr>
              <a:t>   — 마약류에 해당하는 물질을 사용했다는 사실만으로 곧바로 정해지지 않는다</a:t>
            </a:r>
            <a:endParaRPr lang="en-US" sz="1250" dirty="0"/>
          </a:p>
        </p:txBody>
      </p:sp>
      <p:sp>
        <p:nvSpPr>
          <p:cNvPr id="8" name="Shape 6"/>
          <p:cNvSpPr/>
          <p:nvPr/>
        </p:nvSpPr>
        <p:spPr>
          <a:xfrm>
            <a:off x="731520" y="2179240"/>
            <a:ext cx="5166360" cy="1956816"/>
          </a:xfrm>
          <a:prstGeom prst="rect">
            <a:avLst/>
          </a:prstGeom>
          <a:solidFill>
            <a:srgbClr val="FFFFFF"/>
          </a:solidFill>
          <a:ln w="12700">
            <a:solidFill>
              <a:srgbClr val="DCE0E8"/>
            </a:solidFill>
            <a:prstDash val="solid"/>
          </a:ln>
        </p:spPr>
        <p:txBody>
          <a:bodyPr/>
          <a:lstStyle/>
          <a:p>
            <a:endParaRPr lang="ko-KR" altLang="en-US"/>
          </a:p>
        </p:txBody>
      </p:sp>
      <p:sp>
        <p:nvSpPr>
          <p:cNvPr id="9" name="Text 7"/>
          <p:cNvSpPr/>
          <p:nvPr/>
        </p:nvSpPr>
        <p:spPr>
          <a:xfrm>
            <a:off x="1024128" y="2325544"/>
            <a:ext cx="4581144" cy="310896"/>
          </a:xfrm>
          <a:prstGeom prst="rect">
            <a:avLst/>
          </a:prstGeom>
          <a:noFill/>
          <a:ln/>
        </p:spPr>
        <p:txBody>
          <a:bodyPr wrap="square" lIns="0" tIns="0" rIns="0" bIns="0" rtlCol="0" anchor="ctr"/>
          <a:lstStyle/>
          <a:p>
            <a:pPr marL="0" indent="0">
              <a:buNone/>
            </a:pPr>
            <a:r>
              <a:rPr lang="en-US" sz="1400" b="1" dirty="0">
                <a:solidFill>
                  <a:srgbClr val="1E2761"/>
                </a:solidFill>
                <a:latin typeface="Pretendard" pitchFamily="34" charset="0"/>
                <a:ea typeface="Pretendard" pitchFamily="34" charset="-122"/>
                <a:cs typeface="Pretendard" pitchFamily="34" charset="-120"/>
              </a:rPr>
              <a:t>법이 허용한 사용</a:t>
            </a:r>
            <a:endParaRPr lang="en-US" sz="1400" dirty="0"/>
          </a:p>
        </p:txBody>
      </p:sp>
      <p:sp>
        <p:nvSpPr>
          <p:cNvPr id="10" name="Shape 8"/>
          <p:cNvSpPr/>
          <p:nvPr/>
        </p:nvSpPr>
        <p:spPr>
          <a:xfrm>
            <a:off x="1024128" y="2709592"/>
            <a:ext cx="4581144" cy="0"/>
          </a:xfrm>
          <a:prstGeom prst="line">
            <a:avLst/>
          </a:prstGeom>
          <a:noFill/>
          <a:ln w="12700">
            <a:solidFill>
              <a:srgbClr val="DCE0E8"/>
            </a:solidFill>
            <a:prstDash val="solid"/>
          </a:ln>
        </p:spPr>
        <p:txBody>
          <a:bodyPr/>
          <a:lstStyle/>
          <a:p>
            <a:endParaRPr lang="ko-KR" altLang="en-US"/>
          </a:p>
        </p:txBody>
      </p:sp>
      <p:sp>
        <p:nvSpPr>
          <p:cNvPr id="11" name="Text 9"/>
          <p:cNvSpPr/>
          <p:nvPr/>
        </p:nvSpPr>
        <p:spPr>
          <a:xfrm>
            <a:off x="1024128" y="2819320"/>
            <a:ext cx="4581144" cy="402336"/>
          </a:xfrm>
          <a:prstGeom prst="rect">
            <a:avLst/>
          </a:prstGeom>
          <a:noFill/>
          <a:ln/>
        </p:spPr>
        <p:txBody>
          <a:bodyPr wrap="square" lIns="0" tIns="0" rIns="0" bIns="0" rtlCol="0" anchor="ctr"/>
          <a:lstStyle/>
          <a:p>
            <a:pPr marL="0" indent="0">
              <a:lnSpc>
                <a:spcPts val="1800"/>
              </a:lnSpc>
              <a:buNone/>
            </a:pPr>
            <a:r>
              <a:rPr lang="en-US" sz="1200" dirty="0">
                <a:solidFill>
                  <a:srgbClr val="222633"/>
                </a:solidFill>
                <a:latin typeface="Pretendard" pitchFamily="34" charset="0"/>
                <a:ea typeface="Pretendard" pitchFamily="34" charset="-122"/>
                <a:cs typeface="Pretendard" pitchFamily="34" charset="-120"/>
              </a:rPr>
              <a:t>· </a:t>
            </a:r>
            <a:r>
              <a:rPr lang="en-US" sz="1200" b="1" dirty="0">
                <a:solidFill>
                  <a:srgbClr val="222633"/>
                </a:solidFill>
                <a:latin typeface="Pretendard" pitchFamily="34" charset="0"/>
                <a:ea typeface="Pretendard" pitchFamily="34" charset="-122"/>
                <a:cs typeface="Pretendard" pitchFamily="34" charset="-120"/>
              </a:rPr>
              <a:t>의료인에게 </a:t>
            </a:r>
            <a:r>
              <a:rPr lang="en-US" sz="1200" dirty="0">
                <a:solidFill>
                  <a:srgbClr val="222633"/>
                </a:solidFill>
                <a:latin typeface="Pretendard" pitchFamily="34" charset="0"/>
                <a:ea typeface="Pretendard" pitchFamily="34" charset="-122"/>
                <a:cs typeface="Pretendard" pitchFamily="34" charset="-120"/>
              </a:rPr>
              <a:t>법에 따라 투약받는 경우</a:t>
            </a:r>
            <a:endParaRPr lang="en-US" sz="1200" dirty="0"/>
          </a:p>
        </p:txBody>
      </p:sp>
      <p:sp>
        <p:nvSpPr>
          <p:cNvPr id="12" name="Text 10"/>
          <p:cNvSpPr/>
          <p:nvPr/>
        </p:nvSpPr>
        <p:spPr>
          <a:xfrm>
            <a:off x="1024128" y="3258232"/>
            <a:ext cx="4581144" cy="402336"/>
          </a:xfrm>
          <a:prstGeom prst="rect">
            <a:avLst/>
          </a:prstGeom>
          <a:noFill/>
          <a:ln/>
        </p:spPr>
        <p:txBody>
          <a:bodyPr wrap="square" lIns="0" tIns="0" rIns="0" bIns="0" rtlCol="0" anchor="ctr"/>
          <a:lstStyle/>
          <a:p>
            <a:pPr marL="0" indent="0">
              <a:lnSpc>
                <a:spcPts val="1800"/>
              </a:lnSpc>
              <a:buNone/>
            </a:pPr>
            <a:r>
              <a:rPr lang="en-US" sz="1200" dirty="0">
                <a:solidFill>
                  <a:srgbClr val="222633"/>
                </a:solidFill>
                <a:latin typeface="Pretendard" pitchFamily="34" charset="0"/>
                <a:ea typeface="Pretendard" pitchFamily="34" charset="-122"/>
                <a:cs typeface="Pretendard" pitchFamily="34" charset="-120"/>
              </a:rPr>
              <a:t>· </a:t>
            </a:r>
            <a:r>
              <a:rPr lang="en-US" sz="1200" b="1" dirty="0">
                <a:solidFill>
                  <a:srgbClr val="222633"/>
                </a:solidFill>
                <a:latin typeface="Pretendard" pitchFamily="34" charset="0"/>
                <a:ea typeface="Pretendard" pitchFamily="34" charset="-122"/>
                <a:cs typeface="Pretendard" pitchFamily="34" charset="-120"/>
              </a:rPr>
              <a:t>처방에 따라</a:t>
            </a:r>
            <a:r>
              <a:rPr lang="en-US" sz="1200" dirty="0">
                <a:solidFill>
                  <a:srgbClr val="222633"/>
                </a:solidFill>
                <a:latin typeface="Pretendard" pitchFamily="34" charset="0"/>
                <a:ea typeface="Pretendard" pitchFamily="34" charset="-122"/>
                <a:cs typeface="Pretendard" pitchFamily="34" charset="-120"/>
              </a:rPr>
              <a:t> 의약품을 구입·양수하여 사용하는 경우</a:t>
            </a:r>
            <a:endParaRPr lang="en-US" sz="1200" dirty="0"/>
          </a:p>
        </p:txBody>
      </p:sp>
      <p:sp>
        <p:nvSpPr>
          <p:cNvPr id="13" name="Text 11"/>
          <p:cNvSpPr/>
          <p:nvPr/>
        </p:nvSpPr>
        <p:spPr>
          <a:xfrm>
            <a:off x="1024128" y="3697144"/>
            <a:ext cx="4581144" cy="402336"/>
          </a:xfrm>
          <a:prstGeom prst="rect">
            <a:avLst/>
          </a:prstGeom>
          <a:noFill/>
          <a:ln/>
        </p:spPr>
        <p:txBody>
          <a:bodyPr wrap="square" lIns="0" tIns="0" rIns="0" bIns="0" rtlCol="0" anchor="ctr"/>
          <a:lstStyle/>
          <a:p>
            <a:pPr marL="0" indent="0">
              <a:lnSpc>
                <a:spcPts val="1800"/>
              </a:lnSpc>
              <a:buNone/>
            </a:pPr>
            <a:r>
              <a:rPr lang="en-US" sz="1200" dirty="0">
                <a:solidFill>
                  <a:srgbClr val="222633"/>
                </a:solidFill>
                <a:latin typeface="Pretendard" pitchFamily="34" charset="0"/>
                <a:ea typeface="Pretendard" pitchFamily="34" charset="-122"/>
                <a:cs typeface="Pretendard" pitchFamily="34" charset="-120"/>
              </a:rPr>
              <a:t>· </a:t>
            </a:r>
            <a:r>
              <a:rPr lang="en-US" sz="1200" b="1" dirty="0">
                <a:solidFill>
                  <a:srgbClr val="222633"/>
                </a:solidFill>
                <a:latin typeface="Pretendard" pitchFamily="34" charset="0"/>
                <a:ea typeface="Pretendard" pitchFamily="34" charset="-122"/>
                <a:cs typeface="Pretendard" pitchFamily="34" charset="-120"/>
              </a:rPr>
              <a:t>법률이 허용한 목적·범위에서 </a:t>
            </a:r>
            <a:r>
              <a:rPr lang="en-US" sz="1200" dirty="0">
                <a:solidFill>
                  <a:srgbClr val="222633"/>
                </a:solidFill>
                <a:latin typeface="Pretendard" pitchFamily="34" charset="0"/>
                <a:ea typeface="Pretendard" pitchFamily="34" charset="-122"/>
                <a:cs typeface="Pretendard" pitchFamily="34" charset="-120"/>
              </a:rPr>
              <a:t>소지·관리하는 경우</a:t>
            </a:r>
            <a:endParaRPr lang="en-US" sz="1200" dirty="0"/>
          </a:p>
        </p:txBody>
      </p:sp>
      <p:sp>
        <p:nvSpPr>
          <p:cNvPr id="14" name="Shape 12"/>
          <p:cNvSpPr/>
          <p:nvPr/>
        </p:nvSpPr>
        <p:spPr>
          <a:xfrm>
            <a:off x="6263640" y="2179240"/>
            <a:ext cx="5166360" cy="1956816"/>
          </a:xfrm>
          <a:prstGeom prst="rect">
            <a:avLst/>
          </a:prstGeom>
          <a:solidFill>
            <a:srgbClr val="F2F4F8"/>
          </a:solidFill>
          <a:ln w="12700">
            <a:solidFill>
              <a:srgbClr val="F2F4F8"/>
            </a:solidFill>
            <a:prstDash val="solid"/>
          </a:ln>
        </p:spPr>
        <p:txBody>
          <a:bodyPr/>
          <a:lstStyle/>
          <a:p>
            <a:endParaRPr lang="ko-KR" altLang="en-US"/>
          </a:p>
        </p:txBody>
      </p:sp>
      <p:sp>
        <p:nvSpPr>
          <p:cNvPr id="15" name="Text 13"/>
          <p:cNvSpPr/>
          <p:nvPr/>
        </p:nvSpPr>
        <p:spPr>
          <a:xfrm>
            <a:off x="6556248" y="2325544"/>
            <a:ext cx="4581144" cy="310896"/>
          </a:xfrm>
          <a:prstGeom prst="rect">
            <a:avLst/>
          </a:prstGeom>
          <a:noFill/>
          <a:ln/>
        </p:spPr>
        <p:txBody>
          <a:bodyPr wrap="square" lIns="0" tIns="0" rIns="0" bIns="0" rtlCol="0" anchor="ctr"/>
          <a:lstStyle/>
          <a:p>
            <a:pPr marL="0" indent="0">
              <a:buNone/>
            </a:pPr>
            <a:r>
              <a:rPr lang="en-US" sz="1400" b="1" dirty="0">
                <a:solidFill>
                  <a:srgbClr val="464D5C"/>
                </a:solidFill>
                <a:latin typeface="Pretendard" pitchFamily="34" charset="0"/>
                <a:ea typeface="Pretendard" pitchFamily="34" charset="-122"/>
                <a:cs typeface="Pretendard" pitchFamily="34" charset="-120"/>
              </a:rPr>
              <a:t>위법한 사용</a:t>
            </a:r>
            <a:endParaRPr lang="en-US" sz="1400" dirty="0"/>
          </a:p>
        </p:txBody>
      </p:sp>
      <p:sp>
        <p:nvSpPr>
          <p:cNvPr id="16" name="Shape 14"/>
          <p:cNvSpPr/>
          <p:nvPr/>
        </p:nvSpPr>
        <p:spPr>
          <a:xfrm>
            <a:off x="6556248" y="2709592"/>
            <a:ext cx="4581144" cy="0"/>
          </a:xfrm>
          <a:prstGeom prst="line">
            <a:avLst/>
          </a:prstGeom>
          <a:noFill/>
          <a:ln w="12700">
            <a:solidFill>
              <a:srgbClr val="DCE0E8"/>
            </a:solidFill>
            <a:prstDash val="solid"/>
          </a:ln>
        </p:spPr>
        <p:txBody>
          <a:bodyPr/>
          <a:lstStyle/>
          <a:p>
            <a:endParaRPr lang="ko-KR" altLang="en-US"/>
          </a:p>
        </p:txBody>
      </p:sp>
      <p:sp>
        <p:nvSpPr>
          <p:cNvPr id="17" name="Text 15"/>
          <p:cNvSpPr/>
          <p:nvPr/>
        </p:nvSpPr>
        <p:spPr>
          <a:xfrm>
            <a:off x="6556248" y="2819320"/>
            <a:ext cx="4581144" cy="402336"/>
          </a:xfrm>
          <a:prstGeom prst="rect">
            <a:avLst/>
          </a:prstGeom>
          <a:noFill/>
          <a:ln/>
        </p:spPr>
        <p:txBody>
          <a:bodyPr wrap="square" lIns="0" tIns="0" rIns="0" bIns="0" rtlCol="0" anchor="ctr"/>
          <a:lstStyle/>
          <a:p>
            <a:pPr marL="0" indent="0">
              <a:lnSpc>
                <a:spcPts val="1800"/>
              </a:lnSpc>
              <a:buNone/>
            </a:pPr>
            <a:r>
              <a:rPr lang="en-US" sz="1200" dirty="0">
                <a:solidFill>
                  <a:srgbClr val="222633"/>
                </a:solidFill>
                <a:latin typeface="Pretendard" pitchFamily="34" charset="0"/>
                <a:ea typeface="Pretendard" pitchFamily="34" charset="-122"/>
                <a:cs typeface="Pretendard" pitchFamily="34" charset="-120"/>
              </a:rPr>
              <a:t>· </a:t>
            </a:r>
            <a:r>
              <a:rPr lang="en-US" sz="1200" b="1" dirty="0">
                <a:solidFill>
                  <a:srgbClr val="222633"/>
                </a:solidFill>
                <a:highlight>
                  <a:srgbClr val="FFFF00"/>
                </a:highlight>
                <a:latin typeface="Pretendard" pitchFamily="34" charset="0"/>
                <a:ea typeface="Pretendard" pitchFamily="34" charset="-122"/>
                <a:cs typeface="Pretendard" pitchFamily="34" charset="-120"/>
              </a:rPr>
              <a:t>적법한 근거 없이 취득</a:t>
            </a:r>
            <a:r>
              <a:rPr lang="en-US" sz="1200" dirty="0">
                <a:solidFill>
                  <a:srgbClr val="222633"/>
                </a:solidFill>
                <a:latin typeface="Pretendard" pitchFamily="34" charset="0"/>
                <a:ea typeface="Pretendard" pitchFamily="34" charset="-122"/>
                <a:cs typeface="Pretendard" pitchFamily="34" charset="-120"/>
              </a:rPr>
              <a:t>하여 투약·사용</a:t>
            </a:r>
            <a:endParaRPr lang="en-US" sz="1200" dirty="0"/>
          </a:p>
        </p:txBody>
      </p:sp>
      <p:sp>
        <p:nvSpPr>
          <p:cNvPr id="18" name="Text 16"/>
          <p:cNvSpPr/>
          <p:nvPr/>
        </p:nvSpPr>
        <p:spPr>
          <a:xfrm>
            <a:off x="6556248" y="3258232"/>
            <a:ext cx="4581144" cy="402336"/>
          </a:xfrm>
          <a:prstGeom prst="rect">
            <a:avLst/>
          </a:prstGeom>
          <a:noFill/>
          <a:ln/>
        </p:spPr>
        <p:txBody>
          <a:bodyPr wrap="square" lIns="0" tIns="0" rIns="0" bIns="0" rtlCol="0" anchor="ctr"/>
          <a:lstStyle/>
          <a:p>
            <a:pPr marL="0" indent="0">
              <a:lnSpc>
                <a:spcPts val="1800"/>
              </a:lnSpc>
              <a:buNone/>
            </a:pPr>
            <a:r>
              <a:rPr lang="en-US" sz="1200" dirty="0">
                <a:solidFill>
                  <a:srgbClr val="222633"/>
                </a:solidFill>
                <a:latin typeface="Pretendard" pitchFamily="34" charset="0"/>
                <a:ea typeface="Pretendard" pitchFamily="34" charset="-122"/>
                <a:cs typeface="Pretendard" pitchFamily="34" charset="-120"/>
              </a:rPr>
              <a:t>· </a:t>
            </a:r>
            <a:r>
              <a:rPr lang="en-US" sz="1200" b="1" dirty="0">
                <a:solidFill>
                  <a:srgbClr val="222633"/>
                </a:solidFill>
                <a:highlight>
                  <a:srgbClr val="FFFF00"/>
                </a:highlight>
                <a:latin typeface="Pretendard" pitchFamily="34" charset="0"/>
                <a:ea typeface="Pretendard" pitchFamily="34" charset="-122"/>
                <a:cs typeface="Pretendard" pitchFamily="34" charset="-120"/>
              </a:rPr>
              <a:t>허용된 목적과 다른 목적</a:t>
            </a:r>
            <a:r>
              <a:rPr lang="en-US" sz="1200" dirty="0">
                <a:solidFill>
                  <a:srgbClr val="222633"/>
                </a:solidFill>
                <a:latin typeface="Pretendard" pitchFamily="34" charset="0"/>
                <a:ea typeface="Pretendard" pitchFamily="34" charset="-122"/>
                <a:cs typeface="Pretendard" pitchFamily="34" charset="-120"/>
              </a:rPr>
              <a:t>으로 사용</a:t>
            </a:r>
            <a:endParaRPr lang="en-US" sz="1200" dirty="0"/>
          </a:p>
        </p:txBody>
      </p:sp>
      <p:sp>
        <p:nvSpPr>
          <p:cNvPr id="19" name="Text 17"/>
          <p:cNvSpPr/>
          <p:nvPr/>
        </p:nvSpPr>
        <p:spPr>
          <a:xfrm>
            <a:off x="6556248" y="3697144"/>
            <a:ext cx="4581144" cy="402336"/>
          </a:xfrm>
          <a:prstGeom prst="rect">
            <a:avLst/>
          </a:prstGeom>
          <a:noFill/>
          <a:ln/>
        </p:spPr>
        <p:txBody>
          <a:bodyPr wrap="square" lIns="0" tIns="0" rIns="0" bIns="0" rtlCol="0" anchor="ctr"/>
          <a:lstStyle/>
          <a:p>
            <a:pPr marL="0" indent="0">
              <a:lnSpc>
                <a:spcPts val="1800"/>
              </a:lnSpc>
              <a:buNone/>
            </a:pPr>
            <a:r>
              <a:rPr lang="en-US" sz="1200" dirty="0">
                <a:solidFill>
                  <a:srgbClr val="222633"/>
                </a:solidFill>
                <a:latin typeface="Pretendard" pitchFamily="34" charset="0"/>
                <a:ea typeface="Pretendard" pitchFamily="34" charset="-122"/>
                <a:cs typeface="Pretendard" pitchFamily="34" charset="-120"/>
              </a:rPr>
              <a:t>· 처방·관리 체계를 벗어나 수수·제공·사용</a:t>
            </a:r>
            <a:endParaRPr lang="en-US" sz="1200" dirty="0"/>
          </a:p>
        </p:txBody>
      </p:sp>
      <p:sp>
        <p:nvSpPr>
          <p:cNvPr id="20" name="Shape 18"/>
          <p:cNvSpPr/>
          <p:nvPr/>
        </p:nvSpPr>
        <p:spPr>
          <a:xfrm>
            <a:off x="731520" y="4282360"/>
            <a:ext cx="5166360" cy="786384"/>
          </a:xfrm>
          <a:prstGeom prst="rect">
            <a:avLst/>
          </a:prstGeom>
          <a:solidFill>
            <a:srgbClr val="F2F4F8"/>
          </a:solidFill>
          <a:ln w="12700">
            <a:solidFill>
              <a:srgbClr val="F2F4F8"/>
            </a:solidFill>
            <a:prstDash val="solid"/>
          </a:ln>
        </p:spPr>
        <p:txBody>
          <a:bodyPr/>
          <a:lstStyle/>
          <a:p>
            <a:endParaRPr lang="ko-KR" altLang="en-US"/>
          </a:p>
        </p:txBody>
      </p:sp>
      <p:sp>
        <p:nvSpPr>
          <p:cNvPr id="21" name="Text 19"/>
          <p:cNvSpPr/>
          <p:nvPr/>
        </p:nvSpPr>
        <p:spPr>
          <a:xfrm>
            <a:off x="1005840" y="4373800"/>
            <a:ext cx="4617720" cy="256032"/>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제4조 제2항</a:t>
            </a:r>
            <a:endParaRPr lang="en-US" sz="1150" dirty="0"/>
          </a:p>
        </p:txBody>
      </p:sp>
      <p:sp>
        <p:nvSpPr>
          <p:cNvPr id="22" name="Text 20"/>
          <p:cNvSpPr/>
          <p:nvPr/>
        </p:nvSpPr>
        <p:spPr>
          <a:xfrm>
            <a:off x="1005840" y="4629832"/>
            <a:ext cx="4617720" cy="365760"/>
          </a:xfrm>
          <a:prstGeom prst="rect">
            <a:avLst/>
          </a:prstGeom>
          <a:noFill/>
          <a:ln/>
        </p:spPr>
        <p:txBody>
          <a:bodyPr wrap="square" lIns="0" tIns="0" rIns="0" bIns="0" rtlCol="0" anchor="t"/>
          <a:lstStyle/>
          <a:p>
            <a:pPr marL="0" indent="0">
              <a:lnSpc>
                <a:spcPts val="1700"/>
              </a:lnSpc>
              <a:buNone/>
            </a:pPr>
            <a:r>
              <a:rPr lang="en-US" sz="1150" b="1" dirty="0">
                <a:solidFill>
                  <a:srgbClr val="222633"/>
                </a:solidFill>
                <a:highlight>
                  <a:srgbClr val="FFFF00"/>
                </a:highlight>
                <a:latin typeface="Pretendard" pitchFamily="34" charset="0"/>
                <a:ea typeface="Pretendard" pitchFamily="34" charset="-122"/>
                <a:cs typeface="Pretendard" pitchFamily="34" charset="-120"/>
              </a:rPr>
              <a:t>마약류취급자가 아니더라도 적법하게 투약받거나 구입·양수한 경우 등에는 예외적으로 취급할 수 있다</a:t>
            </a:r>
            <a:endParaRPr lang="en-US" sz="1150" b="1" dirty="0">
              <a:highlight>
                <a:srgbClr val="FFFF00"/>
              </a:highlight>
            </a:endParaRPr>
          </a:p>
        </p:txBody>
      </p:sp>
      <p:sp>
        <p:nvSpPr>
          <p:cNvPr id="23" name="Shape 21"/>
          <p:cNvSpPr/>
          <p:nvPr/>
        </p:nvSpPr>
        <p:spPr>
          <a:xfrm>
            <a:off x="6263640" y="4282360"/>
            <a:ext cx="5166360" cy="786384"/>
          </a:xfrm>
          <a:prstGeom prst="rect">
            <a:avLst/>
          </a:prstGeom>
          <a:solidFill>
            <a:srgbClr val="F2F4F8"/>
          </a:solidFill>
          <a:ln w="12700">
            <a:solidFill>
              <a:srgbClr val="F2F4F8"/>
            </a:solidFill>
            <a:prstDash val="solid"/>
          </a:ln>
        </p:spPr>
        <p:txBody>
          <a:bodyPr/>
          <a:lstStyle/>
          <a:p>
            <a:endParaRPr lang="ko-KR" altLang="en-US"/>
          </a:p>
        </p:txBody>
      </p:sp>
      <p:sp>
        <p:nvSpPr>
          <p:cNvPr id="24" name="Text 22"/>
          <p:cNvSpPr/>
          <p:nvPr/>
        </p:nvSpPr>
        <p:spPr>
          <a:xfrm>
            <a:off x="6537960" y="4373800"/>
            <a:ext cx="4617720" cy="256032"/>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제5조 제2항</a:t>
            </a:r>
            <a:endParaRPr lang="en-US" sz="1150" dirty="0"/>
          </a:p>
        </p:txBody>
      </p:sp>
      <p:sp>
        <p:nvSpPr>
          <p:cNvPr id="25" name="Text 23"/>
          <p:cNvSpPr/>
          <p:nvPr/>
        </p:nvSpPr>
        <p:spPr>
          <a:xfrm>
            <a:off x="6537960" y="4629832"/>
            <a:ext cx="4617720" cy="365760"/>
          </a:xfrm>
          <a:prstGeom prst="rect">
            <a:avLst/>
          </a:prstGeom>
          <a:noFill/>
          <a:ln/>
        </p:spPr>
        <p:txBody>
          <a:bodyPr wrap="square" lIns="0" tIns="0" rIns="0" bIns="0" rtlCol="0" anchor="t"/>
          <a:lstStyle/>
          <a:p>
            <a:pPr marL="0" indent="0">
              <a:lnSpc>
                <a:spcPts val="1700"/>
              </a:lnSpc>
              <a:buNone/>
            </a:pPr>
            <a:r>
              <a:rPr lang="en-US" sz="1150" dirty="0">
                <a:solidFill>
                  <a:srgbClr val="222633"/>
                </a:solidFill>
                <a:latin typeface="Pretendard" pitchFamily="34" charset="0"/>
                <a:ea typeface="Pretendard" pitchFamily="34" charset="-122"/>
                <a:cs typeface="Pretendard" pitchFamily="34" charset="-120"/>
              </a:rPr>
              <a:t>“이 법에 따라 </a:t>
            </a:r>
            <a:r>
              <a:rPr lang="en-US" sz="1150" b="1" dirty="0">
                <a:solidFill>
                  <a:srgbClr val="222633"/>
                </a:solidFill>
                <a:highlight>
                  <a:srgbClr val="FFFF00"/>
                </a:highlight>
                <a:latin typeface="Pretendard" pitchFamily="34" charset="0"/>
                <a:ea typeface="Pretendard" pitchFamily="34" charset="-122"/>
                <a:cs typeface="Pretendard" pitchFamily="34" charset="-120"/>
              </a:rPr>
              <a:t>마약류 … 를 관리하는 자는 다른 목적을 위하여 이를 사용하여서는 아니 된다</a:t>
            </a:r>
            <a:r>
              <a:rPr lang="en-US" sz="1150" dirty="0">
                <a:solidFill>
                  <a:srgbClr val="222633"/>
                </a:solidFill>
                <a:latin typeface="Pretendard" pitchFamily="34" charset="0"/>
                <a:ea typeface="Pretendard" pitchFamily="34" charset="-122"/>
                <a:cs typeface="Pretendard" pitchFamily="34" charset="-120"/>
              </a:rPr>
              <a:t>”</a:t>
            </a:r>
            <a:endParaRPr lang="en-US" sz="1150" dirty="0"/>
          </a:p>
        </p:txBody>
      </p:sp>
      <p:sp>
        <p:nvSpPr>
          <p:cNvPr id="26" name="Shape 24"/>
          <p:cNvSpPr/>
          <p:nvPr/>
        </p:nvSpPr>
        <p:spPr>
          <a:xfrm>
            <a:off x="731520" y="5306488"/>
            <a:ext cx="10698480" cy="457200"/>
          </a:xfrm>
          <a:prstGeom prst="rect">
            <a:avLst/>
          </a:prstGeom>
          <a:solidFill>
            <a:srgbClr val="1E2761"/>
          </a:solidFill>
          <a:ln w="12700">
            <a:solidFill>
              <a:srgbClr val="1E2761"/>
            </a:solidFill>
            <a:prstDash val="solid"/>
          </a:ln>
        </p:spPr>
        <p:txBody>
          <a:bodyPr/>
          <a:lstStyle/>
          <a:p>
            <a:endParaRPr lang="ko-KR" altLang="en-US"/>
          </a:p>
        </p:txBody>
      </p:sp>
      <p:sp>
        <p:nvSpPr>
          <p:cNvPr id="27" name="Text 25"/>
          <p:cNvSpPr/>
          <p:nvPr/>
        </p:nvSpPr>
        <p:spPr>
          <a:xfrm>
            <a:off x="1005840" y="5306488"/>
            <a:ext cx="10149840" cy="457200"/>
          </a:xfrm>
          <a:prstGeom prst="rect">
            <a:avLst/>
          </a:prstGeom>
          <a:noFill/>
          <a:ln/>
        </p:spPr>
        <p:txBody>
          <a:bodyPr wrap="square" lIns="0" tIns="0" rIns="0" bIns="0" rtlCol="0" anchor="ctr"/>
          <a:lstStyle/>
          <a:p>
            <a:pPr marL="0" indent="0" algn="ctr">
              <a:buNone/>
            </a:pPr>
            <a:r>
              <a:rPr lang="ko-KR" altLang="en-US" sz="1350" b="1" dirty="0">
                <a:solidFill>
                  <a:srgbClr val="FFFFFF"/>
                </a:solidFill>
                <a:latin typeface="Pretendard" pitchFamily="34" charset="0"/>
                <a:ea typeface="Pretendard" pitchFamily="34" charset="-122"/>
                <a:cs typeface="Pretendard" pitchFamily="34" charset="-120"/>
              </a:rPr>
              <a:t>죄의 성립은 개별사실에 따라 판단된다</a:t>
            </a:r>
            <a:endParaRPr lang="en-US" sz="1350" dirty="0"/>
          </a:p>
        </p:txBody>
      </p:sp>
      <p:sp>
        <p:nvSpPr>
          <p:cNvPr id="28" name="Shape 26"/>
          <p:cNvSpPr/>
          <p:nvPr/>
        </p:nvSpPr>
        <p:spPr>
          <a:xfrm>
            <a:off x="731520" y="6153912"/>
            <a:ext cx="10698480" cy="0"/>
          </a:xfrm>
          <a:prstGeom prst="line">
            <a:avLst/>
          </a:prstGeom>
          <a:noFill/>
          <a:ln w="12700">
            <a:solidFill>
              <a:srgbClr val="DCE0E8"/>
            </a:solidFill>
            <a:prstDash val="solid"/>
          </a:ln>
        </p:spPr>
        <p:txBody>
          <a:bodyPr/>
          <a:lstStyle/>
          <a:p>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1. 논제의 범위와 현행 대응</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연령대별 처리 경로</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연령으로 보는 세 개념 — 형사미성년자·촉법소년·범죄소년</a:t>
            </a: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1015274" y="1399031"/>
            <a:ext cx="10149840" cy="548640"/>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형법 기준은 14세 미만 전체에 적용되고, 소년법 기준은 그중 10~13세의 저촉행위를 보호사건으로 다룬다</a:t>
            </a: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16" name="tick0"/>
          <p:cNvSpPr txBox="1"/>
          <p:nvPr/>
        </p:nvSpPr>
        <p:spPr>
          <a:xfrm>
            <a:off x="2697479" y="2395728"/>
            <a:ext cx="640080" cy="237744"/>
          </a:xfrm>
          <a:prstGeom prst="rect">
            <a:avLst/>
          </a:prstGeom>
          <a:noFill/>
        </p:spPr>
        <p:txBody>
          <a:bodyPr wrap="square" lIns="0" tIns="27432" rIns="0" bIns="27432" anchor="ctr">
            <a:noAutofit/>
          </a:bodyPr>
          <a:lstStyle/>
          <a:p>
            <a:pPr algn="ctr">
              <a:lnSpc>
                <a:spcPct val="118000"/>
              </a:lnSpc>
            </a:pPr>
            <a:r>
              <a:rPr lang="ko-KR" sz="1100" b="0" dirty="0">
                <a:solidFill>
                  <a:srgbClr val="464D5C"/>
                </a:solidFill>
                <a:latin typeface="Pretendard"/>
                <a:ea typeface="Pretendard"/>
                <a:cs typeface="Pretendard"/>
              </a:rPr>
              <a:t>0세</a:t>
            </a:r>
          </a:p>
        </p:txBody>
      </p:sp>
      <p:sp>
        <p:nvSpPr>
          <p:cNvPr id="17" name="tick5"/>
          <p:cNvSpPr txBox="1"/>
          <p:nvPr/>
        </p:nvSpPr>
        <p:spPr>
          <a:xfrm>
            <a:off x="4656908" y="2395728"/>
            <a:ext cx="640080" cy="237744"/>
          </a:xfrm>
          <a:prstGeom prst="rect">
            <a:avLst/>
          </a:prstGeom>
          <a:noFill/>
        </p:spPr>
        <p:txBody>
          <a:bodyPr wrap="square" lIns="0" tIns="27432" rIns="0" bIns="27432" anchor="ctr">
            <a:noAutofit/>
          </a:bodyPr>
          <a:lstStyle/>
          <a:p>
            <a:pPr algn="ctr">
              <a:lnSpc>
                <a:spcPct val="118000"/>
              </a:lnSpc>
            </a:pPr>
            <a:r>
              <a:rPr lang="ko-KR" sz="1100" b="0" dirty="0">
                <a:solidFill>
                  <a:srgbClr val="464D5C"/>
                </a:solidFill>
                <a:latin typeface="Pretendard"/>
                <a:ea typeface="Pretendard"/>
                <a:cs typeface="Pretendard"/>
              </a:rPr>
              <a:t>5세</a:t>
            </a:r>
          </a:p>
        </p:txBody>
      </p:sp>
      <p:sp>
        <p:nvSpPr>
          <p:cNvPr id="18" name="tick10"/>
          <p:cNvSpPr txBox="1"/>
          <p:nvPr/>
        </p:nvSpPr>
        <p:spPr>
          <a:xfrm>
            <a:off x="6616337" y="2395728"/>
            <a:ext cx="640080" cy="237744"/>
          </a:xfrm>
          <a:prstGeom prst="rect">
            <a:avLst/>
          </a:prstGeom>
          <a:noFill/>
        </p:spPr>
        <p:txBody>
          <a:bodyPr wrap="square" lIns="0" tIns="27432" rIns="0" bIns="27432" anchor="ctr">
            <a:noAutofit/>
          </a:bodyPr>
          <a:lstStyle/>
          <a:p>
            <a:pPr algn="ctr">
              <a:lnSpc>
                <a:spcPct val="118000"/>
              </a:lnSpc>
            </a:pPr>
            <a:r>
              <a:rPr lang="ko-KR" sz="1100" b="1" dirty="0">
                <a:solidFill>
                  <a:srgbClr val="464D5C"/>
                </a:solidFill>
                <a:latin typeface="Pretendard"/>
                <a:ea typeface="Pretendard"/>
                <a:cs typeface="Pretendard"/>
              </a:rPr>
              <a:t>10세</a:t>
            </a:r>
          </a:p>
        </p:txBody>
      </p:sp>
      <p:sp>
        <p:nvSpPr>
          <p:cNvPr id="19" name="tick19"/>
          <p:cNvSpPr txBox="1"/>
          <p:nvPr/>
        </p:nvSpPr>
        <p:spPr>
          <a:xfrm>
            <a:off x="10143308" y="2395728"/>
            <a:ext cx="640080" cy="237744"/>
          </a:xfrm>
          <a:prstGeom prst="rect">
            <a:avLst/>
          </a:prstGeom>
          <a:noFill/>
        </p:spPr>
        <p:txBody>
          <a:bodyPr wrap="square" lIns="0" tIns="27432" rIns="0" bIns="27432" anchor="ctr">
            <a:noAutofit/>
          </a:bodyPr>
          <a:lstStyle/>
          <a:p>
            <a:pPr algn="ctr">
              <a:lnSpc>
                <a:spcPct val="118000"/>
              </a:lnSpc>
            </a:pPr>
            <a:r>
              <a:rPr lang="ko-KR" sz="1100" b="0" dirty="0">
                <a:solidFill>
                  <a:srgbClr val="464D5C"/>
                </a:solidFill>
                <a:latin typeface="Pretendard"/>
                <a:ea typeface="Pretendard"/>
                <a:cs typeface="Pretendard"/>
              </a:rPr>
              <a:t>19세</a:t>
            </a:r>
          </a:p>
        </p:txBody>
      </p:sp>
      <p:sp>
        <p:nvSpPr>
          <p:cNvPr id="21" name="tick14"/>
          <p:cNvSpPr txBox="1"/>
          <p:nvPr/>
        </p:nvSpPr>
        <p:spPr>
          <a:xfrm>
            <a:off x="8361535" y="2176272"/>
            <a:ext cx="841248" cy="457200"/>
          </a:xfrm>
          <a:prstGeom prst="rect">
            <a:avLst/>
          </a:prstGeom>
          <a:noFill/>
        </p:spPr>
        <p:txBody>
          <a:bodyPr wrap="square" lIns="0" tIns="27432" rIns="0" bIns="27432" anchor="ctr">
            <a:noAutofit/>
          </a:bodyPr>
          <a:lstStyle/>
          <a:p>
            <a:pPr algn="l">
              <a:lnSpc>
                <a:spcPct val="118000"/>
              </a:lnSpc>
            </a:pPr>
            <a:r>
              <a:rPr lang="ko-KR" sz="1000" b="0" dirty="0">
                <a:solidFill>
                  <a:srgbClr val="1E2761"/>
                </a:solidFill>
                <a:latin typeface="Pretendard"/>
                <a:ea typeface="Pretendard"/>
                <a:cs typeface="Pretendard"/>
              </a:rPr>
              <a:t>(현행)</a:t>
            </a:r>
          </a:p>
          <a:p>
            <a:pPr algn="l">
              <a:lnSpc>
                <a:spcPct val="118000"/>
              </a:lnSpc>
            </a:pPr>
            <a:r>
              <a:rPr lang="ko-KR" sz="1100" b="1" dirty="0">
                <a:solidFill>
                  <a:srgbClr val="1E2761"/>
                </a:solidFill>
                <a:latin typeface="Pretendard"/>
                <a:ea typeface="Pretendard"/>
                <a:cs typeface="Pretendard"/>
              </a:rPr>
              <a:t>14세</a:t>
            </a:r>
          </a:p>
        </p:txBody>
      </p:sp>
      <p:sp>
        <p:nvSpPr>
          <p:cNvPr id="22" name="line22"/>
          <p:cNvSpPr/>
          <p:nvPr/>
        </p:nvSpPr>
        <p:spPr>
          <a:xfrm>
            <a:off x="3017520" y="2670048"/>
            <a:ext cx="8229600" cy="0"/>
          </a:xfrm>
          <a:prstGeom prst="line">
            <a:avLst/>
          </a:prstGeom>
          <a:ln w="9525">
            <a:solidFill>
              <a:srgbClr val="464D5C"/>
            </a:solidFill>
          </a:ln>
        </p:spPr>
        <p:txBody>
          <a:bodyPr/>
          <a:lstStyle/>
          <a:p>
            <a:endParaRPr/>
          </a:p>
        </p:txBody>
      </p:sp>
      <p:sp>
        <p:nvSpPr>
          <p:cNvPr id="24" name="r1"/>
          <p:cNvSpPr txBox="1"/>
          <p:nvPr/>
        </p:nvSpPr>
        <p:spPr>
          <a:xfrm>
            <a:off x="731520" y="2834640"/>
            <a:ext cx="2194560" cy="713232"/>
          </a:xfrm>
          <a:prstGeom prst="rect">
            <a:avLst/>
          </a:prstGeom>
          <a:noFill/>
        </p:spPr>
        <p:txBody>
          <a:bodyPr wrap="square" lIns="0" tIns="27432" rIns="0" bIns="27432" anchor="ctr">
            <a:noAutofit/>
          </a:bodyPr>
          <a:lstStyle/>
          <a:p>
            <a:pPr algn="l">
              <a:lnSpc>
                <a:spcPct val="118000"/>
              </a:lnSpc>
            </a:pPr>
            <a:r>
              <a:rPr lang="ko-KR" sz="1350" b="1" dirty="0">
                <a:solidFill>
                  <a:srgbClr val="1E2761"/>
                </a:solidFill>
                <a:latin typeface="Pretendard"/>
                <a:ea typeface="Pretendard"/>
                <a:cs typeface="Pretendard"/>
              </a:rPr>
              <a:t>형법 제9조</a:t>
            </a:r>
          </a:p>
          <a:p>
            <a:pPr algn="l">
              <a:lnSpc>
                <a:spcPct val="118000"/>
              </a:lnSpc>
            </a:pPr>
            <a:r>
              <a:rPr lang="ko-KR" sz="1100" b="0" dirty="0">
                <a:solidFill>
                  <a:srgbClr val="464D5C"/>
                </a:solidFill>
                <a:latin typeface="Pretendard"/>
                <a:ea typeface="Pretendard"/>
                <a:cs typeface="Pretendard"/>
              </a:rPr>
              <a:t>나이만 묻는다</a:t>
            </a:r>
          </a:p>
        </p:txBody>
      </p:sp>
      <p:sp>
        <p:nvSpPr>
          <p:cNvPr id="25" name="b25"/>
          <p:cNvSpPr/>
          <p:nvPr/>
        </p:nvSpPr>
        <p:spPr>
          <a:xfrm>
            <a:off x="3017520" y="2834640"/>
            <a:ext cx="5486400" cy="713232"/>
          </a:xfrm>
          <a:prstGeom prst="rect">
            <a:avLst/>
          </a:prstGeom>
          <a:solidFill>
            <a:srgbClr val="C2A648"/>
          </a:solidFill>
          <a:ln>
            <a:noFill/>
          </a:ln>
        </p:spPr>
        <p:txBody>
          <a:bodyPr/>
          <a:lstStyle/>
          <a:p>
            <a:endParaRPr/>
          </a:p>
        </p:txBody>
      </p:sp>
      <p:sp>
        <p:nvSpPr>
          <p:cNvPr id="26" name="bt26"/>
          <p:cNvSpPr txBox="1"/>
          <p:nvPr/>
        </p:nvSpPr>
        <p:spPr>
          <a:xfrm>
            <a:off x="3017520" y="2834640"/>
            <a:ext cx="5464455" cy="713232"/>
          </a:xfrm>
          <a:prstGeom prst="rect">
            <a:avLst/>
          </a:prstGeom>
          <a:noFill/>
        </p:spPr>
        <p:txBody>
          <a:bodyPr wrap="square" lIns="0" tIns="27432" rIns="0" bIns="27432" anchor="ctr">
            <a:noAutofit/>
          </a:bodyPr>
          <a:lstStyle/>
          <a:p>
            <a:pPr algn="ctr">
              <a:lnSpc>
                <a:spcPct val="118000"/>
              </a:lnSpc>
            </a:pPr>
            <a:r>
              <a:rPr lang="ko-KR" sz="1300" b="1" dirty="0">
                <a:solidFill>
                  <a:srgbClr val="FFFFFF"/>
                </a:solidFill>
                <a:latin typeface="Pretendard"/>
                <a:ea typeface="Pretendard"/>
                <a:cs typeface="Pretendard"/>
              </a:rPr>
              <a:t>형사미성년자</a:t>
            </a:r>
          </a:p>
          <a:p>
            <a:pPr algn="ctr">
              <a:lnSpc>
                <a:spcPct val="118000"/>
              </a:lnSpc>
            </a:pPr>
            <a:r>
              <a:rPr lang="ko-KR" sz="1050" b="0" dirty="0">
                <a:solidFill>
                  <a:srgbClr val="FFFFFF"/>
                </a:solidFill>
                <a:latin typeface="Pretendard"/>
                <a:ea typeface="Pretendard"/>
                <a:cs typeface="Pretendard"/>
              </a:rPr>
              <a:t>14세 미만 · 형벌을 부과하지 않는다</a:t>
            </a:r>
          </a:p>
        </p:txBody>
      </p:sp>
      <p:sp>
        <p:nvSpPr>
          <p:cNvPr id="27" name="b27"/>
          <p:cNvSpPr/>
          <p:nvPr/>
        </p:nvSpPr>
        <p:spPr>
          <a:xfrm>
            <a:off x="8503920" y="2834640"/>
            <a:ext cx="2743200" cy="713232"/>
          </a:xfrm>
          <a:prstGeom prst="rect">
            <a:avLst/>
          </a:prstGeom>
          <a:solidFill>
            <a:srgbClr val="5A6699"/>
          </a:solidFill>
          <a:ln>
            <a:noFill/>
          </a:ln>
        </p:spPr>
        <p:txBody>
          <a:bodyPr/>
          <a:lstStyle/>
          <a:p>
            <a:endParaRPr/>
          </a:p>
        </p:txBody>
      </p:sp>
      <p:sp>
        <p:nvSpPr>
          <p:cNvPr id="28" name="bt28"/>
          <p:cNvSpPr txBox="1"/>
          <p:nvPr/>
        </p:nvSpPr>
        <p:spPr>
          <a:xfrm>
            <a:off x="8503920" y="2834640"/>
            <a:ext cx="2743200" cy="713232"/>
          </a:xfrm>
          <a:prstGeom prst="rect">
            <a:avLst/>
          </a:prstGeom>
          <a:noFill/>
        </p:spPr>
        <p:txBody>
          <a:bodyPr wrap="square" lIns="0" tIns="27432" rIns="0" bIns="27432" anchor="ctr">
            <a:noAutofit/>
          </a:bodyPr>
          <a:lstStyle/>
          <a:p>
            <a:pPr algn="ctr">
              <a:lnSpc>
                <a:spcPct val="118000"/>
              </a:lnSpc>
            </a:pPr>
            <a:r>
              <a:rPr lang="ko-KR" sz="1300" b="1" dirty="0">
                <a:solidFill>
                  <a:srgbClr val="FFFFFF"/>
                </a:solidFill>
                <a:latin typeface="Pretendard"/>
                <a:ea typeface="Pretendard"/>
                <a:cs typeface="Pretendard"/>
              </a:rPr>
              <a:t>형사책임을 물을 수 있는 나이</a:t>
            </a:r>
          </a:p>
          <a:p>
            <a:pPr algn="ctr">
              <a:lnSpc>
                <a:spcPct val="118000"/>
              </a:lnSpc>
            </a:pPr>
            <a:r>
              <a:rPr lang="ko-KR" sz="1050" b="0" dirty="0">
                <a:solidFill>
                  <a:srgbClr val="FFFFFF"/>
                </a:solidFill>
                <a:latin typeface="Pretendard"/>
                <a:ea typeface="Pretendard"/>
                <a:cs typeface="Pretendard"/>
              </a:rPr>
              <a:t>14세 이상</a:t>
            </a:r>
          </a:p>
        </p:txBody>
      </p:sp>
      <p:sp>
        <p:nvSpPr>
          <p:cNvPr id="29" name="r2"/>
          <p:cNvSpPr txBox="1"/>
          <p:nvPr/>
        </p:nvSpPr>
        <p:spPr>
          <a:xfrm>
            <a:off x="731520" y="3840480"/>
            <a:ext cx="2194560" cy="713232"/>
          </a:xfrm>
          <a:prstGeom prst="rect">
            <a:avLst/>
          </a:prstGeom>
          <a:noFill/>
        </p:spPr>
        <p:txBody>
          <a:bodyPr wrap="square" lIns="0" tIns="27432" rIns="0" bIns="27432" anchor="ctr">
            <a:noAutofit/>
          </a:bodyPr>
          <a:lstStyle/>
          <a:p>
            <a:pPr algn="l">
              <a:lnSpc>
                <a:spcPct val="118000"/>
              </a:lnSpc>
            </a:pPr>
            <a:r>
              <a:rPr lang="ko-KR" sz="1350" b="1" dirty="0">
                <a:solidFill>
                  <a:srgbClr val="1E2761"/>
                </a:solidFill>
                <a:latin typeface="Pretendard"/>
                <a:ea typeface="Pretendard"/>
                <a:cs typeface="Pretendard"/>
              </a:rPr>
              <a:t>소년법 제4조</a:t>
            </a:r>
          </a:p>
          <a:p>
            <a:pPr algn="l">
              <a:lnSpc>
                <a:spcPct val="118000"/>
              </a:lnSpc>
            </a:pPr>
            <a:r>
              <a:rPr lang="ko-KR" sz="1100" b="0" dirty="0">
                <a:solidFill>
                  <a:srgbClr val="464D5C"/>
                </a:solidFill>
                <a:latin typeface="Pretendard"/>
                <a:ea typeface="Pretendard"/>
                <a:cs typeface="Pretendard"/>
              </a:rPr>
              <a:t>나이와 행위를 함께 묻는다</a:t>
            </a:r>
          </a:p>
        </p:txBody>
      </p:sp>
      <p:sp>
        <p:nvSpPr>
          <p:cNvPr id="30" name="b30"/>
          <p:cNvSpPr/>
          <p:nvPr/>
        </p:nvSpPr>
        <p:spPr>
          <a:xfrm>
            <a:off x="3017520" y="3840480"/>
            <a:ext cx="3918857" cy="713232"/>
          </a:xfrm>
          <a:prstGeom prst="rect">
            <a:avLst/>
          </a:prstGeom>
          <a:solidFill>
            <a:srgbClr val="C9CEDA"/>
          </a:solidFill>
          <a:ln>
            <a:noFill/>
          </a:ln>
        </p:spPr>
        <p:txBody>
          <a:bodyPr/>
          <a:lstStyle/>
          <a:p>
            <a:endParaRPr/>
          </a:p>
        </p:txBody>
      </p:sp>
      <p:sp>
        <p:nvSpPr>
          <p:cNvPr id="31" name="bt31"/>
          <p:cNvSpPr txBox="1"/>
          <p:nvPr/>
        </p:nvSpPr>
        <p:spPr>
          <a:xfrm>
            <a:off x="3017520" y="3840480"/>
            <a:ext cx="3918857" cy="713232"/>
          </a:xfrm>
          <a:prstGeom prst="rect">
            <a:avLst/>
          </a:prstGeom>
          <a:noFill/>
        </p:spPr>
        <p:txBody>
          <a:bodyPr wrap="square" lIns="0" tIns="27432" rIns="0" bIns="27432" anchor="ctr">
            <a:noAutofit/>
          </a:bodyPr>
          <a:lstStyle/>
          <a:p>
            <a:pPr algn="ctr">
              <a:lnSpc>
                <a:spcPct val="118000"/>
              </a:lnSpc>
            </a:pPr>
            <a:r>
              <a:rPr lang="ko-KR" sz="1300" b="1" dirty="0">
                <a:solidFill>
                  <a:srgbClr val="222633"/>
                </a:solidFill>
                <a:latin typeface="Pretendard"/>
                <a:ea typeface="Pretendard"/>
                <a:cs typeface="Pretendard"/>
              </a:rPr>
              <a:t>소년보호처분 대상 아님</a:t>
            </a:r>
          </a:p>
          <a:p>
            <a:pPr algn="ctr">
              <a:lnSpc>
                <a:spcPct val="118000"/>
              </a:lnSpc>
            </a:pPr>
            <a:r>
              <a:rPr lang="ko-KR" sz="1050" b="0" dirty="0">
                <a:solidFill>
                  <a:srgbClr val="222633"/>
                </a:solidFill>
                <a:latin typeface="Pretendard"/>
                <a:ea typeface="Pretendard"/>
                <a:cs typeface="Pretendard"/>
              </a:rPr>
              <a:t>10세 미만</a:t>
            </a:r>
          </a:p>
        </p:txBody>
      </p:sp>
      <p:sp>
        <p:nvSpPr>
          <p:cNvPr id="32" name="b32"/>
          <p:cNvSpPr/>
          <p:nvPr/>
        </p:nvSpPr>
        <p:spPr>
          <a:xfrm>
            <a:off x="6936377" y="3840480"/>
            <a:ext cx="1567542" cy="713232"/>
          </a:xfrm>
          <a:prstGeom prst="rect">
            <a:avLst/>
          </a:prstGeom>
          <a:solidFill>
            <a:srgbClr val="C2A648"/>
          </a:solidFill>
          <a:ln>
            <a:noFill/>
          </a:ln>
        </p:spPr>
        <p:txBody>
          <a:bodyPr/>
          <a:lstStyle/>
          <a:p>
            <a:endParaRPr/>
          </a:p>
        </p:txBody>
      </p:sp>
      <p:sp>
        <p:nvSpPr>
          <p:cNvPr id="34" name="b34"/>
          <p:cNvSpPr/>
          <p:nvPr/>
        </p:nvSpPr>
        <p:spPr>
          <a:xfrm>
            <a:off x="8503920" y="3840480"/>
            <a:ext cx="1959428" cy="713232"/>
          </a:xfrm>
          <a:prstGeom prst="rect">
            <a:avLst/>
          </a:prstGeom>
          <a:solidFill>
            <a:srgbClr val="5A6699"/>
          </a:solidFill>
          <a:ln>
            <a:noFill/>
          </a:ln>
        </p:spPr>
        <p:txBody>
          <a:bodyPr/>
          <a:lstStyle/>
          <a:p>
            <a:endParaRPr/>
          </a:p>
        </p:txBody>
      </p:sp>
      <p:sp>
        <p:nvSpPr>
          <p:cNvPr id="35" name="bt35"/>
          <p:cNvSpPr txBox="1"/>
          <p:nvPr/>
        </p:nvSpPr>
        <p:spPr>
          <a:xfrm>
            <a:off x="8503920" y="3840480"/>
            <a:ext cx="1959428" cy="713232"/>
          </a:xfrm>
          <a:prstGeom prst="rect">
            <a:avLst/>
          </a:prstGeom>
          <a:noFill/>
        </p:spPr>
        <p:txBody>
          <a:bodyPr wrap="square" lIns="0" tIns="27432" rIns="0" bIns="27432" anchor="ctr">
            <a:noAutofit/>
          </a:bodyPr>
          <a:lstStyle/>
          <a:p>
            <a:pPr algn="ctr">
              <a:lnSpc>
                <a:spcPct val="118000"/>
              </a:lnSpc>
            </a:pPr>
            <a:r>
              <a:rPr lang="ko-KR" sz="1300" b="1" dirty="0">
                <a:solidFill>
                  <a:srgbClr val="FFFFFF"/>
                </a:solidFill>
                <a:latin typeface="Pretendard"/>
                <a:ea typeface="Pretendard"/>
                <a:cs typeface="Pretendard"/>
              </a:rPr>
              <a:t>범죄소년</a:t>
            </a:r>
          </a:p>
          <a:p>
            <a:pPr algn="ctr">
              <a:lnSpc>
                <a:spcPct val="118000"/>
              </a:lnSpc>
            </a:pPr>
            <a:r>
              <a:rPr lang="ko-KR" sz="1050" b="0" dirty="0">
                <a:solidFill>
                  <a:srgbClr val="FFFFFF"/>
                </a:solidFill>
                <a:latin typeface="Pretendard"/>
                <a:ea typeface="Pretendard"/>
                <a:cs typeface="Pretendard"/>
              </a:rPr>
              <a:t>14~18세 · 죄를 범한 소년</a:t>
            </a:r>
          </a:p>
        </p:txBody>
      </p:sp>
      <p:sp>
        <p:nvSpPr>
          <p:cNvPr id="36" name="b36"/>
          <p:cNvSpPr/>
          <p:nvPr/>
        </p:nvSpPr>
        <p:spPr>
          <a:xfrm>
            <a:off x="10463348" y="3840480"/>
            <a:ext cx="783771" cy="713232"/>
          </a:xfrm>
          <a:prstGeom prst="rect">
            <a:avLst/>
          </a:prstGeom>
          <a:solidFill>
            <a:srgbClr val="C9CEDA"/>
          </a:solidFill>
          <a:ln>
            <a:noFill/>
          </a:ln>
        </p:spPr>
        <p:txBody>
          <a:bodyPr/>
          <a:lstStyle/>
          <a:p>
            <a:endParaRPr/>
          </a:p>
        </p:txBody>
      </p:sp>
      <p:sp>
        <p:nvSpPr>
          <p:cNvPr id="37" name="bt37"/>
          <p:cNvSpPr txBox="1"/>
          <p:nvPr/>
        </p:nvSpPr>
        <p:spPr>
          <a:xfrm>
            <a:off x="10463348" y="3840480"/>
            <a:ext cx="783771" cy="713232"/>
          </a:xfrm>
          <a:prstGeom prst="rect">
            <a:avLst/>
          </a:prstGeom>
          <a:noFill/>
        </p:spPr>
        <p:txBody>
          <a:bodyPr wrap="square" lIns="0" tIns="27432" rIns="0" bIns="27432" anchor="ctr">
            <a:noAutofit/>
          </a:bodyPr>
          <a:lstStyle/>
          <a:p>
            <a:pPr algn="ctr">
              <a:lnSpc>
                <a:spcPct val="118000"/>
              </a:lnSpc>
            </a:pPr>
            <a:r>
              <a:rPr lang="ko-KR" sz="1300" b="1" dirty="0">
                <a:solidFill>
                  <a:srgbClr val="222633"/>
                </a:solidFill>
                <a:latin typeface="Pretendard"/>
                <a:ea typeface="Pretendard"/>
                <a:cs typeface="Pretendard"/>
              </a:rPr>
              <a:t>성인</a:t>
            </a:r>
          </a:p>
          <a:p>
            <a:pPr algn="ctr">
              <a:lnSpc>
                <a:spcPct val="118000"/>
              </a:lnSpc>
            </a:pPr>
            <a:r>
              <a:rPr lang="ko-KR" sz="1050" b="0" dirty="0">
                <a:solidFill>
                  <a:srgbClr val="222633"/>
                </a:solidFill>
                <a:latin typeface="Pretendard"/>
                <a:ea typeface="Pretendard"/>
                <a:cs typeface="Pretendard"/>
              </a:rPr>
              <a:t>19세 이상</a:t>
            </a:r>
          </a:p>
        </p:txBody>
      </p:sp>
      <p:sp>
        <p:nvSpPr>
          <p:cNvPr id="39" name="v39"/>
          <p:cNvSpPr/>
          <p:nvPr/>
        </p:nvSpPr>
        <p:spPr>
          <a:xfrm>
            <a:off x="8492947" y="2670048"/>
            <a:ext cx="45719" cy="1883660"/>
          </a:xfrm>
          <a:prstGeom prst="rect">
            <a:avLst/>
          </a:prstGeom>
          <a:solidFill>
            <a:srgbClr val="1E2761"/>
          </a:solidFill>
          <a:ln>
            <a:noFill/>
          </a:ln>
        </p:spPr>
        <p:txBody>
          <a:bodyPr/>
          <a:lstStyle/>
          <a:p>
            <a:endParaRPr/>
          </a:p>
        </p:txBody>
      </p:sp>
      <p:sp>
        <p:nvSpPr>
          <p:cNvPr id="41" name="line41"/>
          <p:cNvSpPr/>
          <p:nvPr/>
        </p:nvSpPr>
        <p:spPr>
          <a:xfrm>
            <a:off x="731520" y="5175504"/>
            <a:ext cx="10725912" cy="0"/>
          </a:xfrm>
          <a:prstGeom prst="line">
            <a:avLst/>
          </a:prstGeom>
          <a:ln w="9525">
            <a:solidFill>
              <a:srgbClr val="DCE0E8"/>
            </a:solidFill>
          </a:ln>
        </p:spPr>
        <p:txBody>
          <a:bodyPr/>
          <a:lstStyle/>
          <a:p>
            <a:endParaRPr/>
          </a:p>
        </p:txBody>
      </p:sp>
      <p:sp>
        <p:nvSpPr>
          <p:cNvPr id="42" name="dh0"/>
          <p:cNvSpPr txBox="1"/>
          <p:nvPr/>
        </p:nvSpPr>
        <p:spPr>
          <a:xfrm>
            <a:off x="731520" y="5266944"/>
            <a:ext cx="3392424" cy="292608"/>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형사미성년자</a:t>
            </a:r>
          </a:p>
        </p:txBody>
      </p:sp>
      <p:sp>
        <p:nvSpPr>
          <p:cNvPr id="43" name="db0"/>
          <p:cNvSpPr txBox="1"/>
          <p:nvPr/>
        </p:nvSpPr>
        <p:spPr>
          <a:xfrm>
            <a:off x="731520" y="5541264"/>
            <a:ext cx="3392424" cy="786384"/>
          </a:xfrm>
          <a:prstGeom prst="rect">
            <a:avLst/>
          </a:prstGeom>
          <a:noFill/>
        </p:spPr>
        <p:txBody>
          <a:bodyPr wrap="square" lIns="0" tIns="27432" rIns="0" bIns="27432" anchor="t">
            <a:noAutofit/>
          </a:bodyPr>
          <a:lstStyle/>
          <a:p>
            <a:pPr algn="l">
              <a:lnSpc>
                <a:spcPct val="125000"/>
              </a:lnSpc>
            </a:pPr>
            <a:r>
              <a:rPr sz="1150" b="0">
                <a:solidFill>
                  <a:srgbClr val="222633"/>
                </a:solidFill>
                <a:latin typeface="Pretendard"/>
              </a:rPr>
              <a:t>형법 제9조에 따라 14세 미만이면 형사책임이 배제된다. 10세 미만도 여기에 포함된다.</a:t>
            </a:r>
          </a:p>
        </p:txBody>
      </p:sp>
      <p:sp>
        <p:nvSpPr>
          <p:cNvPr id="44" name="dh1"/>
          <p:cNvSpPr txBox="1"/>
          <p:nvPr/>
        </p:nvSpPr>
        <p:spPr>
          <a:xfrm>
            <a:off x="4398264" y="5266944"/>
            <a:ext cx="3392424" cy="292608"/>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촉법소년</a:t>
            </a:r>
          </a:p>
        </p:txBody>
      </p:sp>
      <p:sp>
        <p:nvSpPr>
          <p:cNvPr id="45" name="db1"/>
          <p:cNvSpPr txBox="1"/>
          <p:nvPr/>
        </p:nvSpPr>
        <p:spPr>
          <a:xfrm>
            <a:off x="4398264" y="5541264"/>
            <a:ext cx="3392424" cy="786384"/>
          </a:xfrm>
          <a:prstGeom prst="rect">
            <a:avLst/>
          </a:prstGeom>
          <a:noFill/>
        </p:spPr>
        <p:txBody>
          <a:bodyPr wrap="square" lIns="0" tIns="27432" rIns="0" bIns="27432" anchor="t">
            <a:noAutofit/>
          </a:bodyPr>
          <a:lstStyle/>
          <a:p>
            <a:pPr algn="l">
              <a:lnSpc>
                <a:spcPct val="125000"/>
              </a:lnSpc>
            </a:pPr>
            <a:r>
              <a:rPr sz="1150" b="0">
                <a:solidFill>
                  <a:srgbClr val="222633"/>
                </a:solidFill>
                <a:latin typeface="Pretendard"/>
              </a:rPr>
              <a:t>그 형사미성년자 중 10세 이상 14세 미만이면서 형벌 법령에 저촉되는 행위를 한 소년. 형벌이 아니라 소년보호절차의 대상이다.</a:t>
            </a:r>
          </a:p>
        </p:txBody>
      </p:sp>
      <p:sp>
        <p:nvSpPr>
          <p:cNvPr id="46" name="dh2"/>
          <p:cNvSpPr txBox="1"/>
          <p:nvPr/>
        </p:nvSpPr>
        <p:spPr>
          <a:xfrm>
            <a:off x="8065008" y="5266944"/>
            <a:ext cx="3392424" cy="292608"/>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범죄소년</a:t>
            </a:r>
          </a:p>
        </p:txBody>
      </p:sp>
      <p:sp>
        <p:nvSpPr>
          <p:cNvPr id="47" name="db2"/>
          <p:cNvSpPr txBox="1"/>
          <p:nvPr/>
        </p:nvSpPr>
        <p:spPr>
          <a:xfrm>
            <a:off x="8065008" y="5541264"/>
            <a:ext cx="3392424" cy="786384"/>
          </a:xfrm>
          <a:prstGeom prst="rect">
            <a:avLst/>
          </a:prstGeom>
          <a:noFill/>
        </p:spPr>
        <p:txBody>
          <a:bodyPr wrap="square" lIns="0" tIns="27432" rIns="0" bIns="27432" anchor="t">
            <a:noAutofit/>
          </a:bodyPr>
          <a:lstStyle/>
          <a:p>
            <a:pPr algn="l">
              <a:lnSpc>
                <a:spcPct val="125000"/>
              </a:lnSpc>
            </a:pPr>
            <a:r>
              <a:rPr lang="ko-KR" sz="1150" b="0" dirty="0">
                <a:solidFill>
                  <a:srgbClr val="222633"/>
                </a:solidFill>
                <a:latin typeface="Pretendard"/>
                <a:ea typeface="Pretendard"/>
                <a:cs typeface="Pretendard"/>
              </a:rPr>
              <a:t>14세 이상 19세 미만으로 죄를 범한 소년. 형사책임을 물을 수 있지만 사건에 따라 소년부로 송치되어 보호처분을 받을 수 있다.</a:t>
            </a:r>
          </a:p>
        </p:txBody>
      </p:sp>
      <p:sp>
        <p:nvSpPr>
          <p:cNvPr id="33" name="bt33"/>
          <p:cNvSpPr txBox="1"/>
          <p:nvPr/>
        </p:nvSpPr>
        <p:spPr>
          <a:xfrm>
            <a:off x="6936377" y="3840480"/>
            <a:ext cx="1545598" cy="713232"/>
          </a:xfrm>
          <a:prstGeom prst="rect">
            <a:avLst/>
          </a:prstGeom>
          <a:noFill/>
        </p:spPr>
        <p:txBody>
          <a:bodyPr wrap="square" lIns="0" tIns="27432" rIns="0" bIns="27432" anchor="ctr">
            <a:noAutofit/>
          </a:bodyPr>
          <a:lstStyle/>
          <a:p>
            <a:pPr algn="ctr">
              <a:lnSpc>
                <a:spcPct val="118000"/>
              </a:lnSpc>
            </a:pPr>
            <a:r>
              <a:rPr lang="ko-KR" sz="1300" b="1" dirty="0">
                <a:solidFill>
                  <a:sysClr val="windowText" lastClr="000000"/>
                </a:solidFill>
                <a:latin typeface="Pretendard"/>
                <a:ea typeface="Pretendard"/>
                <a:cs typeface="Pretendard"/>
              </a:rPr>
              <a:t>촉법소년</a:t>
            </a:r>
          </a:p>
          <a:p>
            <a:pPr algn="ctr">
              <a:lnSpc>
                <a:spcPct val="118000"/>
              </a:lnSpc>
            </a:pPr>
            <a:r>
              <a:rPr lang="ko-KR" sz="1050" b="0" dirty="0">
                <a:solidFill>
                  <a:sysClr val="windowText" lastClr="000000"/>
                </a:solidFill>
                <a:latin typeface="Pretendard"/>
                <a:ea typeface="Pretendard"/>
                <a:cs typeface="Pretendard"/>
              </a:rPr>
              <a:t>10~13세 · </a:t>
            </a:r>
            <a:r>
              <a:rPr lang="ko-KR" altLang="en-US" sz="1050" b="0" dirty="0">
                <a:solidFill>
                  <a:sysClr val="windowText" lastClr="000000"/>
                </a:solidFill>
                <a:latin typeface="Pretendard"/>
                <a:ea typeface="Pretendard"/>
                <a:cs typeface="Pretendard"/>
              </a:rPr>
              <a:t>보호 처분</a:t>
            </a:r>
            <a:endParaRPr lang="ko-KR" sz="1050" b="0" dirty="0">
              <a:solidFill>
                <a:sysClr val="windowText" lastClr="000000"/>
              </a:solidFill>
              <a:latin typeface="Pretendard"/>
              <a:ea typeface="Pretendard"/>
              <a:cs typeface="Pretendard"/>
            </a:endParaRPr>
          </a:p>
        </p:txBody>
      </p:sp>
    </p:spTree>
    <p:extLst>
      <p:ext uri="{BB962C8B-B14F-4D97-AF65-F5344CB8AC3E}">
        <p14:creationId xmlns:p14="http://schemas.microsoft.com/office/powerpoint/2010/main" val="3052632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1. 논제의 범위와 현행 대응</a:t>
            </a:r>
            <a:endParaRPr lang="en-US" sz="1250" dirty="0"/>
          </a:p>
        </p:txBody>
      </p:sp>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보호관찰</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pPr marL="0" indent="0">
              <a:buNone/>
            </a:pPr>
            <a:r>
              <a:rPr lang="en-US" sz="2700" b="1" dirty="0">
                <a:solidFill>
                  <a:schemeClr val="accent1">
                    <a:lumMod val="50000"/>
                  </a:schemeClr>
                </a:solidFill>
                <a:latin typeface="Pretendard" pitchFamily="34" charset="0"/>
                <a:ea typeface="Pretendard" pitchFamily="34" charset="-122"/>
                <a:cs typeface="Pretendard" pitchFamily="34" charset="-120"/>
              </a:rPr>
              <a:t>검찰 단계의 선택적 치료경로 — </a:t>
            </a:r>
            <a:r>
              <a:rPr lang="en-US" sz="2700" b="1" dirty="0" err="1">
                <a:solidFill>
                  <a:schemeClr val="accent1">
                    <a:lumMod val="50000"/>
                  </a:schemeClr>
                </a:solidFill>
                <a:latin typeface="Pretendard" pitchFamily="34" charset="0"/>
                <a:ea typeface="Pretendard" pitchFamily="34" charset="-122"/>
                <a:cs typeface="Pretendard" pitchFamily="34" charset="-120"/>
              </a:rPr>
              <a:t>사법-치료-재활</a:t>
            </a:r>
            <a:r>
              <a:rPr lang="en-US" sz="2700" b="1" dirty="0">
                <a:solidFill>
                  <a:schemeClr val="accent1">
                    <a:lumMod val="50000"/>
                  </a:schemeClr>
                </a:solidFill>
                <a:latin typeface="Pretendard" pitchFamily="34" charset="0"/>
                <a:ea typeface="Pretendard" pitchFamily="34" charset="-122"/>
                <a:cs typeface="Pretendard" pitchFamily="34" charset="-120"/>
              </a:rPr>
              <a:t> 연계모델</a:t>
            </a:r>
            <a:endParaRPr lang="en-US" sz="2700" dirty="0">
              <a:solidFill>
                <a:schemeClr val="accent1">
                  <a:lumMod val="50000"/>
                </a:schemeClr>
              </a:solidFill>
            </a:endParaRPr>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353312"/>
            <a:ext cx="10698480" cy="438912"/>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987552" y="1353312"/>
            <a:ext cx="10186416" cy="438912"/>
          </a:xfrm>
          <a:prstGeom prst="rect">
            <a:avLst/>
          </a:prstGeom>
          <a:noFill/>
          <a:ln/>
        </p:spPr>
        <p:txBody>
          <a:bodyPr wrap="square" lIns="0" tIns="0" rIns="0" bIns="0" rtlCol="0" anchor="ctr"/>
          <a:lstStyle/>
          <a:p>
            <a:pPr marL="0" indent="0">
              <a:buNone/>
            </a:pPr>
            <a:r>
              <a:rPr lang="en-US" sz="1250" b="1" dirty="0">
                <a:solidFill>
                  <a:srgbClr val="1E2761"/>
                </a:solidFill>
                <a:highlight>
                  <a:srgbClr val="FFFF00"/>
                </a:highlight>
                <a:latin typeface="Pretendard" pitchFamily="34" charset="0"/>
                <a:ea typeface="Pretendard" pitchFamily="34" charset="-122"/>
                <a:cs typeface="Pretendard" pitchFamily="34" charset="-120"/>
              </a:rPr>
              <a:t>일부 </a:t>
            </a:r>
            <a:r>
              <a:rPr lang="en-US" sz="1250" b="1" dirty="0" err="1">
                <a:solidFill>
                  <a:srgbClr val="1E2761"/>
                </a:solidFill>
                <a:highlight>
                  <a:srgbClr val="FFFF00"/>
                </a:highlight>
                <a:latin typeface="Pretendard" pitchFamily="34" charset="0"/>
                <a:ea typeface="Pretendard" pitchFamily="34" charset="-122"/>
                <a:cs typeface="Pretendard" pitchFamily="34" charset="-120"/>
              </a:rPr>
              <a:t>단순</a:t>
            </a:r>
            <a:r>
              <a:rPr lang="en-US" sz="1250" b="1" dirty="0">
                <a:solidFill>
                  <a:srgbClr val="1E2761"/>
                </a:solidFill>
                <a:highlight>
                  <a:srgbClr val="FFFF00"/>
                </a:highlight>
                <a:latin typeface="Pretendard" pitchFamily="34" charset="0"/>
                <a:ea typeface="Pretendard" pitchFamily="34" charset="-122"/>
                <a:cs typeface="Pretendard" pitchFamily="34" charset="-120"/>
              </a:rPr>
              <a:t> </a:t>
            </a:r>
            <a:r>
              <a:rPr lang="ko-KR" altLang="en-US" sz="1250" b="1" dirty="0">
                <a:solidFill>
                  <a:srgbClr val="1E2761"/>
                </a:solidFill>
                <a:highlight>
                  <a:srgbClr val="FFFF00"/>
                </a:highlight>
                <a:latin typeface="Pretendard" pitchFamily="34" charset="0"/>
                <a:ea typeface="Pretendard" pitchFamily="34" charset="-122"/>
                <a:cs typeface="Pretendard" pitchFamily="34" charset="-120"/>
              </a:rPr>
              <a:t>약물</a:t>
            </a:r>
            <a:r>
              <a:rPr lang="en-US" sz="1250" b="1" dirty="0" err="1">
                <a:solidFill>
                  <a:srgbClr val="1E2761"/>
                </a:solidFill>
                <a:highlight>
                  <a:srgbClr val="FFFF00"/>
                </a:highlight>
                <a:latin typeface="Pretendard" pitchFamily="34" charset="0"/>
                <a:ea typeface="Pretendard" pitchFamily="34" charset="-122"/>
                <a:cs typeface="Pretendard" pitchFamily="34" charset="-120"/>
              </a:rPr>
              <a:t>투약사범에게</a:t>
            </a:r>
            <a:r>
              <a:rPr lang="en-US" sz="1250" b="1" dirty="0">
                <a:solidFill>
                  <a:srgbClr val="1E2761"/>
                </a:solidFill>
                <a:highlight>
                  <a:srgbClr val="FFFF00"/>
                </a:highlight>
                <a:latin typeface="Pretendard" pitchFamily="34" charset="0"/>
                <a:ea typeface="Pretendard" pitchFamily="34" charset="-122"/>
                <a:cs typeface="Pretendard" pitchFamily="34" charset="-120"/>
              </a:rPr>
              <a:t> 정식 기소 전 치료·재활 참여를 조건으로 기소유예할 수 있는 경로</a:t>
            </a:r>
            <a:r>
              <a:rPr lang="en-US" sz="1250" b="1" dirty="0">
                <a:solidFill>
                  <a:srgbClr val="1E2761"/>
                </a:solidFill>
                <a:latin typeface="Pretendard" pitchFamily="34" charset="0"/>
                <a:ea typeface="Pretendard" pitchFamily="34" charset="-122"/>
                <a:cs typeface="Pretendard" pitchFamily="34" charset="-120"/>
              </a:rPr>
              <a:t>다</a:t>
            </a:r>
            <a:r>
              <a:rPr lang="en-US" sz="1250" dirty="0">
                <a:solidFill>
                  <a:srgbClr val="464D5C"/>
                </a:solidFill>
                <a:latin typeface="Pretendard" pitchFamily="34" charset="0"/>
                <a:ea typeface="Pretendard" pitchFamily="34" charset="-122"/>
                <a:cs typeface="Pretendard" pitchFamily="34" charset="-120"/>
              </a:rPr>
              <a:t>   — 모든 마약류 사건이 거치는 기본절차는 아니다</a:t>
            </a:r>
            <a:endParaRPr lang="en-US" sz="1250" dirty="0"/>
          </a:p>
        </p:txBody>
      </p:sp>
      <p:sp>
        <p:nvSpPr>
          <p:cNvPr id="8" name="Text 6"/>
          <p:cNvSpPr/>
          <p:nvPr/>
        </p:nvSpPr>
        <p:spPr>
          <a:xfrm>
            <a:off x="731520" y="1847088"/>
            <a:ext cx="10698480" cy="237744"/>
          </a:xfrm>
          <a:prstGeom prst="rect">
            <a:avLst/>
          </a:prstGeom>
          <a:noFill/>
          <a:ln/>
        </p:spPr>
        <p:txBody>
          <a:bodyPr wrap="square" lIns="0" tIns="0" rIns="0" bIns="0" rtlCol="0" anchor="ctr"/>
          <a:lstStyle/>
          <a:p>
            <a:pPr marL="0" indent="0">
              <a:buNone/>
            </a:pPr>
            <a:r>
              <a:rPr lang="en-US" sz="1100" b="1" dirty="0">
                <a:solidFill>
                  <a:srgbClr val="A8871C"/>
                </a:solidFill>
                <a:latin typeface="Pretendard" pitchFamily="34" charset="0"/>
                <a:ea typeface="Pretendard" pitchFamily="34" charset="-122"/>
                <a:cs typeface="Pretendard" pitchFamily="34" charset="-120"/>
              </a:rPr>
              <a:t>2023년 시범  →  2024년 4월 전국 확대</a:t>
            </a:r>
            <a:endParaRPr lang="en-US" sz="1100" dirty="0"/>
          </a:p>
        </p:txBody>
      </p:sp>
      <p:sp>
        <p:nvSpPr>
          <p:cNvPr id="9" name="Shape 7"/>
          <p:cNvSpPr/>
          <p:nvPr/>
        </p:nvSpPr>
        <p:spPr>
          <a:xfrm>
            <a:off x="731520" y="2121408"/>
            <a:ext cx="1860678" cy="841248"/>
          </a:xfrm>
          <a:prstGeom prst="rect">
            <a:avLst/>
          </a:prstGeom>
          <a:solidFill>
            <a:srgbClr val="F2F4F8"/>
          </a:solidFill>
          <a:ln w="12700">
            <a:solidFill>
              <a:srgbClr val="F2F4F8"/>
            </a:solidFill>
            <a:prstDash val="solid"/>
          </a:ln>
        </p:spPr>
        <p:txBody>
          <a:bodyPr/>
          <a:lstStyle/>
          <a:p>
            <a:endParaRPr lang="ko-KR" altLang="en-US"/>
          </a:p>
        </p:txBody>
      </p:sp>
      <p:sp>
        <p:nvSpPr>
          <p:cNvPr id="10" name="Text 8"/>
          <p:cNvSpPr/>
          <p:nvPr/>
        </p:nvSpPr>
        <p:spPr>
          <a:xfrm>
            <a:off x="739070" y="2303617"/>
            <a:ext cx="1853128" cy="237744"/>
          </a:xfrm>
          <a:prstGeom prst="rect">
            <a:avLst/>
          </a:prstGeom>
          <a:noFill/>
          <a:ln/>
        </p:spPr>
        <p:txBody>
          <a:bodyPr wrap="square" lIns="0" tIns="0" rIns="0" bIns="0" rtlCol="0" anchor="ctr"/>
          <a:lstStyle/>
          <a:p>
            <a:pPr marL="0" indent="0" algn="ctr">
              <a:buNone/>
            </a:pPr>
            <a:r>
              <a:rPr lang="en-US" sz="1400" b="1" dirty="0">
                <a:solidFill>
                  <a:srgbClr val="1E2761"/>
                </a:solidFill>
                <a:latin typeface="Pretendard" pitchFamily="34" charset="0"/>
                <a:ea typeface="Pretendard" pitchFamily="34" charset="-122"/>
                <a:cs typeface="Pretendard" pitchFamily="34" charset="-120"/>
              </a:rPr>
              <a:t>① 검찰</a:t>
            </a:r>
            <a:endParaRPr lang="en-US" sz="1400" dirty="0"/>
          </a:p>
        </p:txBody>
      </p:sp>
      <p:sp>
        <p:nvSpPr>
          <p:cNvPr id="11" name="Text 9"/>
          <p:cNvSpPr/>
          <p:nvPr/>
        </p:nvSpPr>
        <p:spPr>
          <a:xfrm>
            <a:off x="739070" y="2559649"/>
            <a:ext cx="1853128" cy="192024"/>
          </a:xfrm>
          <a:prstGeom prst="rect">
            <a:avLst/>
          </a:prstGeom>
          <a:noFill/>
          <a:ln/>
        </p:spPr>
        <p:txBody>
          <a:bodyPr wrap="square" lIns="0" tIns="0" rIns="0" bIns="0" rtlCol="0" anchor="t"/>
          <a:lstStyle/>
          <a:p>
            <a:pPr marL="0" indent="0" algn="ctr">
              <a:lnSpc>
                <a:spcPts val="1400"/>
              </a:lnSpc>
              <a:buNone/>
            </a:pPr>
            <a:r>
              <a:rPr lang="en-US" sz="1100" b="1" dirty="0">
                <a:solidFill>
                  <a:srgbClr val="464D5C"/>
                </a:solidFill>
                <a:latin typeface="Pretendard" pitchFamily="34" charset="0"/>
                <a:ea typeface="Pretendard" pitchFamily="34" charset="-122"/>
                <a:cs typeface="Pretendard" pitchFamily="34" charset="-120"/>
              </a:rPr>
              <a:t>연계모델 대상 후보 판단</a:t>
            </a:r>
            <a:endParaRPr lang="en-US" sz="1100" b="1" dirty="0"/>
          </a:p>
        </p:txBody>
      </p:sp>
      <p:sp>
        <p:nvSpPr>
          <p:cNvPr id="12" name="Text 10"/>
          <p:cNvSpPr/>
          <p:nvPr/>
        </p:nvSpPr>
        <p:spPr>
          <a:xfrm>
            <a:off x="2632213" y="2121408"/>
            <a:ext cx="237744" cy="841248"/>
          </a:xfrm>
          <a:prstGeom prst="rect">
            <a:avLst/>
          </a:prstGeom>
          <a:noFill/>
          <a:ln/>
        </p:spPr>
        <p:txBody>
          <a:bodyPr wrap="square" lIns="0" tIns="0" rIns="0" bIns="0" rtlCol="0" anchor="ctr"/>
          <a:lstStyle/>
          <a:p>
            <a:pPr marL="0" indent="0" algn="ctr">
              <a:buNone/>
            </a:pPr>
            <a:r>
              <a:rPr lang="en-US" sz="1200" dirty="0">
                <a:solidFill>
                  <a:srgbClr val="6E7686"/>
                </a:solidFill>
                <a:latin typeface="Pretendard" pitchFamily="34" charset="0"/>
                <a:ea typeface="Pretendard" pitchFamily="34" charset="-122"/>
                <a:cs typeface="Pretendard" pitchFamily="34" charset="-120"/>
              </a:rPr>
              <a:t>→</a:t>
            </a:r>
            <a:endParaRPr lang="en-US" sz="1200" dirty="0"/>
          </a:p>
        </p:txBody>
      </p:sp>
      <p:sp>
        <p:nvSpPr>
          <p:cNvPr id="13" name="Shape 11"/>
          <p:cNvSpPr/>
          <p:nvPr/>
        </p:nvSpPr>
        <p:spPr>
          <a:xfrm>
            <a:off x="2920291" y="2121408"/>
            <a:ext cx="1936132" cy="841248"/>
          </a:xfrm>
          <a:prstGeom prst="rect">
            <a:avLst/>
          </a:prstGeom>
          <a:solidFill>
            <a:srgbClr val="F2F4F8"/>
          </a:solidFill>
          <a:ln w="12700">
            <a:solidFill>
              <a:srgbClr val="F2F4F8"/>
            </a:solidFill>
            <a:prstDash val="solid"/>
          </a:ln>
        </p:spPr>
        <p:txBody>
          <a:bodyPr/>
          <a:lstStyle/>
          <a:p>
            <a:endParaRPr lang="ko-KR" altLang="en-US"/>
          </a:p>
        </p:txBody>
      </p:sp>
      <p:sp>
        <p:nvSpPr>
          <p:cNvPr id="14" name="Text 12"/>
          <p:cNvSpPr/>
          <p:nvPr/>
        </p:nvSpPr>
        <p:spPr>
          <a:xfrm>
            <a:off x="2920290" y="2237441"/>
            <a:ext cx="1942637" cy="237744"/>
          </a:xfrm>
          <a:prstGeom prst="rect">
            <a:avLst/>
          </a:prstGeom>
          <a:noFill/>
          <a:ln/>
        </p:spPr>
        <p:txBody>
          <a:bodyPr wrap="square" lIns="0" tIns="0" rIns="0" bIns="0" rtlCol="0" anchor="ctr"/>
          <a:lstStyle/>
          <a:p>
            <a:pPr marL="0" indent="0" algn="ctr">
              <a:buNone/>
            </a:pPr>
            <a:r>
              <a:rPr lang="en-US" sz="1150" b="1" dirty="0">
                <a:solidFill>
                  <a:srgbClr val="1E2761"/>
                </a:solidFill>
                <a:latin typeface="Pretendard" pitchFamily="34" charset="0"/>
                <a:ea typeface="Pretendard" pitchFamily="34" charset="-122"/>
                <a:cs typeface="Pretendard" pitchFamily="34" charset="-120"/>
              </a:rPr>
              <a:t>② 전문상담사 사전평가</a:t>
            </a:r>
            <a:endParaRPr lang="en-US" sz="1150" dirty="0"/>
          </a:p>
        </p:txBody>
      </p:sp>
      <p:sp>
        <p:nvSpPr>
          <p:cNvPr id="15" name="Text 13"/>
          <p:cNvSpPr/>
          <p:nvPr/>
        </p:nvSpPr>
        <p:spPr>
          <a:xfrm>
            <a:off x="2920290" y="2493472"/>
            <a:ext cx="1942637" cy="403007"/>
          </a:xfrm>
          <a:prstGeom prst="rect">
            <a:avLst/>
          </a:prstGeom>
          <a:noFill/>
          <a:ln/>
        </p:spPr>
        <p:txBody>
          <a:bodyPr wrap="square" lIns="0" tIns="0" rIns="0" bIns="0" rtlCol="0" anchor="t"/>
          <a:lstStyle/>
          <a:p>
            <a:pPr marL="0" indent="0" algn="ctr">
              <a:lnSpc>
                <a:spcPts val="1400"/>
              </a:lnSpc>
              <a:buNone/>
            </a:pPr>
            <a:r>
              <a:rPr lang="ko-KR" altLang="en-US" sz="1000" dirty="0">
                <a:solidFill>
                  <a:srgbClr val="464D5C"/>
                </a:solidFill>
                <a:latin typeface="Pretendard" pitchFamily="34" charset="0"/>
                <a:ea typeface="Pretendard" pitchFamily="34" charset="-122"/>
                <a:cs typeface="Pretendard" pitchFamily="34" charset="-120"/>
              </a:rPr>
              <a:t>대상자와 </a:t>
            </a:r>
            <a:r>
              <a:rPr lang="en-US" altLang="ko-KR" sz="1000" b="1" dirty="0">
                <a:solidFill>
                  <a:srgbClr val="464D5C"/>
                </a:solidFill>
                <a:latin typeface="Pretendard" pitchFamily="34" charset="0"/>
                <a:ea typeface="Pretendard" pitchFamily="34" charset="-122"/>
                <a:cs typeface="Pretendard" pitchFamily="34" charset="-120"/>
              </a:rPr>
              <a:t>1:1 </a:t>
            </a:r>
            <a:r>
              <a:rPr lang="en-US" sz="1000" b="1" dirty="0" err="1">
                <a:solidFill>
                  <a:srgbClr val="464D5C"/>
                </a:solidFill>
                <a:latin typeface="Pretendard" pitchFamily="34" charset="0"/>
                <a:ea typeface="Pretendard" pitchFamily="34" charset="-122"/>
                <a:cs typeface="Pretendard" pitchFamily="34" charset="-120"/>
              </a:rPr>
              <a:t>개별</a:t>
            </a:r>
            <a:r>
              <a:rPr lang="en-US" sz="1000" b="1" dirty="0">
                <a:solidFill>
                  <a:srgbClr val="464D5C"/>
                </a:solidFill>
                <a:latin typeface="Pretendard" pitchFamily="34" charset="0"/>
                <a:ea typeface="Pretendard" pitchFamily="34" charset="-122"/>
                <a:cs typeface="Pretendard" pitchFamily="34" charset="-120"/>
              </a:rPr>
              <a:t> </a:t>
            </a:r>
            <a:r>
              <a:rPr lang="en-US" sz="1000" b="1" dirty="0" err="1">
                <a:solidFill>
                  <a:srgbClr val="464D5C"/>
                </a:solidFill>
                <a:latin typeface="Pretendard" pitchFamily="34" charset="0"/>
                <a:ea typeface="Pretendard" pitchFamily="34" charset="-122"/>
                <a:cs typeface="Pretendard" pitchFamily="34" charset="-120"/>
              </a:rPr>
              <a:t>면담</a:t>
            </a:r>
            <a:r>
              <a:rPr lang="en-US" sz="1000" b="1" dirty="0">
                <a:solidFill>
                  <a:srgbClr val="464D5C"/>
                </a:solidFill>
                <a:latin typeface="Pretendard" pitchFamily="34" charset="0"/>
                <a:ea typeface="Pretendard" pitchFamily="34" charset="-122"/>
                <a:cs typeface="Pretendard" pitchFamily="34" charset="-120"/>
              </a:rPr>
              <a:t> </a:t>
            </a:r>
          </a:p>
          <a:p>
            <a:pPr algn="ctr">
              <a:lnSpc>
                <a:spcPts val="1400"/>
              </a:lnSpc>
            </a:pPr>
            <a:r>
              <a:rPr lang="en-US" sz="1000" b="1" dirty="0" err="1">
                <a:solidFill>
                  <a:srgbClr val="464D5C"/>
                </a:solidFill>
                <a:latin typeface="Pretendard" pitchFamily="34" charset="0"/>
                <a:ea typeface="Pretendard" pitchFamily="34" charset="-122"/>
                <a:cs typeface="Pretendard" pitchFamily="34" charset="-120"/>
              </a:rPr>
              <a:t>중독</a:t>
            </a:r>
            <a:r>
              <a:rPr lang="ko-KR" altLang="en-US" sz="1000" b="1" dirty="0">
                <a:solidFill>
                  <a:srgbClr val="464D5C"/>
                </a:solidFill>
                <a:latin typeface="Pretendard" pitchFamily="34" charset="0"/>
                <a:ea typeface="Pretendard" pitchFamily="34" charset="-122"/>
                <a:cs typeface="Pretendard" pitchFamily="34" charset="-120"/>
              </a:rPr>
              <a:t> </a:t>
            </a:r>
            <a:r>
              <a:rPr lang="en-US" altLang="ko-KR" sz="1000" b="1" dirty="0">
                <a:solidFill>
                  <a:srgbClr val="464D5C"/>
                </a:solidFill>
                <a:latin typeface="Pretendard" pitchFamily="34" charset="0"/>
                <a:ea typeface="Pretendard" pitchFamily="34" charset="-122"/>
                <a:cs typeface="Pretendard" pitchFamily="34" charset="-120"/>
              </a:rPr>
              <a:t>·</a:t>
            </a:r>
            <a:r>
              <a:rPr lang="ko-KR" altLang="en-US" sz="1000" b="1" dirty="0" err="1">
                <a:solidFill>
                  <a:srgbClr val="464D5C"/>
                </a:solidFill>
                <a:latin typeface="Pretendard" pitchFamily="34" charset="0"/>
                <a:ea typeface="Pretendard" pitchFamily="34" charset="-122"/>
                <a:cs typeface="Pretendard" pitchFamily="34" charset="-120"/>
              </a:rPr>
              <a:t>생활상황</a:t>
            </a:r>
            <a:r>
              <a:rPr lang="en-US" altLang="ko-KR" sz="1000" b="1" dirty="0">
                <a:solidFill>
                  <a:srgbClr val="464D5C"/>
                </a:solidFill>
                <a:latin typeface="Pretendard" pitchFamily="34" charset="0"/>
                <a:ea typeface="Pretendard" pitchFamily="34" charset="-122"/>
                <a:cs typeface="Pretendard" pitchFamily="34" charset="-120"/>
              </a:rPr>
              <a:t>·</a:t>
            </a:r>
            <a:r>
              <a:rPr lang="ko-KR" altLang="en-US" sz="1000" b="1" dirty="0">
                <a:solidFill>
                  <a:srgbClr val="464D5C"/>
                </a:solidFill>
                <a:latin typeface="Pretendard" pitchFamily="34" charset="0"/>
                <a:ea typeface="Pretendard" pitchFamily="34" charset="-122"/>
                <a:cs typeface="Pretendard" pitchFamily="34" charset="-120"/>
              </a:rPr>
              <a:t>치료 수준 등</a:t>
            </a:r>
            <a:r>
              <a:rPr lang="en-US" sz="1000" b="1" dirty="0">
                <a:solidFill>
                  <a:srgbClr val="464D5C"/>
                </a:solidFill>
                <a:latin typeface="Pretendard" pitchFamily="34" charset="0"/>
                <a:ea typeface="Pretendard" pitchFamily="34" charset="-122"/>
                <a:cs typeface="Pretendard" pitchFamily="34" charset="-120"/>
              </a:rPr>
              <a:t> 평가</a:t>
            </a:r>
            <a:endParaRPr lang="en-US" sz="1000" b="1" dirty="0"/>
          </a:p>
        </p:txBody>
      </p:sp>
      <p:sp>
        <p:nvSpPr>
          <p:cNvPr id="16" name="Text 14"/>
          <p:cNvSpPr/>
          <p:nvPr/>
        </p:nvSpPr>
        <p:spPr>
          <a:xfrm>
            <a:off x="4862928" y="2121408"/>
            <a:ext cx="288877" cy="841248"/>
          </a:xfrm>
          <a:prstGeom prst="rect">
            <a:avLst/>
          </a:prstGeom>
          <a:noFill/>
          <a:ln/>
        </p:spPr>
        <p:txBody>
          <a:bodyPr wrap="square" lIns="0" tIns="0" rIns="0" bIns="0" rtlCol="0" anchor="ctr"/>
          <a:lstStyle/>
          <a:p>
            <a:pPr marL="0" indent="0" algn="ctr">
              <a:buNone/>
            </a:pPr>
            <a:r>
              <a:rPr lang="en-US" sz="1200" dirty="0">
                <a:solidFill>
                  <a:srgbClr val="6E7686"/>
                </a:solidFill>
                <a:latin typeface="Pretendard" pitchFamily="34" charset="0"/>
                <a:ea typeface="Pretendard" pitchFamily="34" charset="-122"/>
                <a:cs typeface="Pretendard" pitchFamily="34" charset="-120"/>
              </a:rPr>
              <a:t>→</a:t>
            </a:r>
            <a:endParaRPr lang="en-US" sz="1200" dirty="0"/>
          </a:p>
        </p:txBody>
      </p:sp>
      <p:sp>
        <p:nvSpPr>
          <p:cNvPr id="17" name="Shape 15"/>
          <p:cNvSpPr/>
          <p:nvPr/>
        </p:nvSpPr>
        <p:spPr>
          <a:xfrm>
            <a:off x="5171436" y="2121408"/>
            <a:ext cx="3533861" cy="841248"/>
          </a:xfrm>
          <a:prstGeom prst="rect">
            <a:avLst/>
          </a:prstGeom>
          <a:solidFill>
            <a:srgbClr val="F2F4F8"/>
          </a:solidFill>
          <a:ln w="12700">
            <a:solidFill>
              <a:srgbClr val="F2F4F8"/>
            </a:solidFill>
            <a:prstDash val="solid"/>
          </a:ln>
        </p:spPr>
        <p:txBody>
          <a:bodyPr/>
          <a:lstStyle/>
          <a:p>
            <a:endParaRPr lang="ko-KR" altLang="en-US"/>
          </a:p>
        </p:txBody>
      </p:sp>
      <p:sp>
        <p:nvSpPr>
          <p:cNvPr id="18" name="Text 16"/>
          <p:cNvSpPr/>
          <p:nvPr/>
        </p:nvSpPr>
        <p:spPr>
          <a:xfrm>
            <a:off x="5171435" y="2219727"/>
            <a:ext cx="3533861" cy="237744"/>
          </a:xfrm>
          <a:prstGeom prst="rect">
            <a:avLst/>
          </a:prstGeom>
          <a:noFill/>
          <a:ln/>
        </p:spPr>
        <p:txBody>
          <a:bodyPr wrap="square" lIns="0" tIns="0" rIns="0" bIns="0" rtlCol="0" anchor="ctr"/>
          <a:lstStyle/>
          <a:p>
            <a:pPr marL="0" indent="0" algn="ctr">
              <a:buNone/>
            </a:pPr>
            <a:r>
              <a:rPr lang="en-US" sz="1150" b="1" dirty="0">
                <a:solidFill>
                  <a:srgbClr val="1E2761"/>
                </a:solidFill>
                <a:latin typeface="Pretendard" pitchFamily="34" charset="0"/>
                <a:ea typeface="Pretendard" pitchFamily="34" charset="-122"/>
                <a:cs typeface="Pretendard" pitchFamily="34" charset="-120"/>
              </a:rPr>
              <a:t>③ </a:t>
            </a:r>
            <a:r>
              <a:rPr lang="en-US" sz="1150" b="1" dirty="0" err="1">
                <a:solidFill>
                  <a:srgbClr val="1E2761"/>
                </a:solidFill>
                <a:latin typeface="Pretendard" pitchFamily="34" charset="0"/>
                <a:ea typeface="Pretendard" pitchFamily="34" charset="-122"/>
                <a:cs typeface="Pretendard" pitchFamily="34" charset="-120"/>
              </a:rPr>
              <a:t>전문가위원회</a:t>
            </a:r>
            <a:r>
              <a:rPr lang="en-US" sz="1150" b="1" dirty="0">
                <a:solidFill>
                  <a:srgbClr val="1E2761"/>
                </a:solidFill>
                <a:latin typeface="Pretendard" pitchFamily="34" charset="0"/>
                <a:ea typeface="Pretendard" pitchFamily="34" charset="-122"/>
                <a:cs typeface="Pretendard" pitchFamily="34" charset="-120"/>
              </a:rPr>
              <a:t> </a:t>
            </a:r>
            <a:r>
              <a:rPr lang="ko-KR" altLang="en-US" sz="1150" b="1" dirty="0">
                <a:solidFill>
                  <a:srgbClr val="1E2761"/>
                </a:solidFill>
                <a:latin typeface="Pretendard" pitchFamily="34" charset="0"/>
                <a:ea typeface="Pretendard" pitchFamily="34" charset="-122"/>
                <a:cs typeface="Pretendard" pitchFamily="34" charset="-120"/>
              </a:rPr>
              <a:t>심의</a:t>
            </a:r>
            <a:endParaRPr lang="en-US" sz="1150" dirty="0"/>
          </a:p>
        </p:txBody>
      </p:sp>
      <p:sp>
        <p:nvSpPr>
          <p:cNvPr id="19" name="Text 17"/>
          <p:cNvSpPr/>
          <p:nvPr/>
        </p:nvSpPr>
        <p:spPr>
          <a:xfrm>
            <a:off x="5171435" y="2475759"/>
            <a:ext cx="3533861" cy="393192"/>
          </a:xfrm>
          <a:prstGeom prst="rect">
            <a:avLst/>
          </a:prstGeom>
          <a:noFill/>
          <a:ln/>
        </p:spPr>
        <p:txBody>
          <a:bodyPr wrap="square" lIns="0" tIns="0" rIns="0" bIns="0" rtlCol="0" anchor="t"/>
          <a:lstStyle/>
          <a:p>
            <a:pPr algn="ctr">
              <a:lnSpc>
                <a:spcPts val="1400"/>
              </a:lnSpc>
            </a:pPr>
            <a:r>
              <a:rPr lang="ko-KR" altLang="en-US" sz="1000" dirty="0">
                <a:solidFill>
                  <a:srgbClr val="464D5C"/>
                </a:solidFill>
                <a:latin typeface="Pretendard" pitchFamily="34" charset="0"/>
                <a:ea typeface="Pretendard" pitchFamily="34" charset="-122"/>
                <a:cs typeface="Pretendard" pitchFamily="34" charset="-120"/>
              </a:rPr>
              <a:t>정신건강의학과 전문의 등 </a:t>
            </a:r>
            <a:r>
              <a:rPr lang="ko-KR" altLang="en-US" sz="1000" b="1" dirty="0">
                <a:solidFill>
                  <a:srgbClr val="464D5C"/>
                </a:solidFill>
                <a:latin typeface="Pretendard" pitchFamily="34" charset="0"/>
                <a:ea typeface="Pretendard" pitchFamily="34" charset="-122"/>
                <a:cs typeface="Pretendard" pitchFamily="34" charset="-120"/>
              </a:rPr>
              <a:t>여러 전문가가 함께 대상 후보자를 검토 </a:t>
            </a:r>
            <a:endParaRPr lang="en-US" altLang="ko-KR" sz="1000" b="1" dirty="0">
              <a:solidFill>
                <a:srgbClr val="464D5C"/>
              </a:solidFill>
              <a:latin typeface="Pretendard" pitchFamily="34" charset="0"/>
              <a:ea typeface="Pretendard" pitchFamily="34" charset="-122"/>
              <a:cs typeface="Pretendard" pitchFamily="34" charset="-120"/>
            </a:endParaRPr>
          </a:p>
          <a:p>
            <a:pPr algn="ctr">
              <a:lnSpc>
                <a:spcPts val="1400"/>
              </a:lnSpc>
            </a:pPr>
            <a:r>
              <a:rPr lang="ko-KR" altLang="en-US" sz="1000" dirty="0">
                <a:solidFill>
                  <a:srgbClr val="464D5C"/>
                </a:solidFill>
                <a:latin typeface="Pretendard" pitchFamily="34" charset="0"/>
                <a:ea typeface="Pretendard" pitchFamily="34" charset="-122"/>
                <a:cs typeface="Pretendard" pitchFamily="34" charset="-120"/>
              </a:rPr>
              <a:t>사전평가 자료를 토대로 중독 수준과 </a:t>
            </a:r>
            <a:r>
              <a:rPr lang="ko-KR" altLang="en-US" sz="1000" b="1" dirty="0">
                <a:solidFill>
                  <a:srgbClr val="464D5C"/>
                </a:solidFill>
                <a:latin typeface="Pretendard" pitchFamily="34" charset="0"/>
                <a:ea typeface="Pretendard" pitchFamily="34" charset="-122"/>
                <a:cs typeface="Pretendard" pitchFamily="34" charset="-120"/>
              </a:rPr>
              <a:t>적절한 치료</a:t>
            </a:r>
            <a:r>
              <a:rPr lang="en-US" altLang="ko-KR" sz="1000" b="1" dirty="0">
                <a:solidFill>
                  <a:srgbClr val="464D5C"/>
                </a:solidFill>
                <a:latin typeface="Pretendard" pitchFamily="34" charset="0"/>
                <a:ea typeface="Pretendard" pitchFamily="34" charset="-122"/>
                <a:cs typeface="Pretendard" pitchFamily="34" charset="-120"/>
              </a:rPr>
              <a:t>·</a:t>
            </a:r>
            <a:r>
              <a:rPr lang="ko-KR" altLang="en-US" sz="1000" b="1" dirty="0">
                <a:solidFill>
                  <a:srgbClr val="464D5C"/>
                </a:solidFill>
                <a:latin typeface="Pretendard" pitchFamily="34" charset="0"/>
                <a:ea typeface="Pretendard" pitchFamily="34" charset="-122"/>
                <a:cs typeface="Pretendard" pitchFamily="34" charset="-120"/>
              </a:rPr>
              <a:t>재활 프로그램을 제안</a:t>
            </a:r>
            <a:endParaRPr lang="en-US" sz="1000" b="1" dirty="0"/>
          </a:p>
        </p:txBody>
      </p:sp>
      <p:sp>
        <p:nvSpPr>
          <p:cNvPr id="20" name="Text 18"/>
          <p:cNvSpPr/>
          <p:nvPr/>
        </p:nvSpPr>
        <p:spPr>
          <a:xfrm>
            <a:off x="8695944" y="2121408"/>
            <a:ext cx="237744" cy="841248"/>
          </a:xfrm>
          <a:prstGeom prst="rect">
            <a:avLst/>
          </a:prstGeom>
          <a:noFill/>
          <a:ln/>
        </p:spPr>
        <p:txBody>
          <a:bodyPr wrap="square" lIns="0" tIns="0" rIns="0" bIns="0" rtlCol="0" anchor="ctr"/>
          <a:lstStyle/>
          <a:p>
            <a:pPr marL="0" indent="0" algn="ctr">
              <a:buNone/>
            </a:pPr>
            <a:r>
              <a:rPr lang="en-US" sz="1200" dirty="0">
                <a:solidFill>
                  <a:srgbClr val="6E7686"/>
                </a:solidFill>
                <a:latin typeface="Pretendard" pitchFamily="34" charset="0"/>
                <a:ea typeface="Pretendard" pitchFamily="34" charset="-122"/>
                <a:cs typeface="Pretendard" pitchFamily="34" charset="-120"/>
              </a:rPr>
              <a:t>→</a:t>
            </a:r>
            <a:endParaRPr lang="en-US" sz="1200" dirty="0"/>
          </a:p>
        </p:txBody>
      </p:sp>
      <p:sp>
        <p:nvSpPr>
          <p:cNvPr id="21" name="Shape 19"/>
          <p:cNvSpPr/>
          <p:nvPr/>
        </p:nvSpPr>
        <p:spPr>
          <a:xfrm>
            <a:off x="8933688" y="2121408"/>
            <a:ext cx="2496312" cy="841248"/>
          </a:xfrm>
          <a:prstGeom prst="rect">
            <a:avLst/>
          </a:prstGeom>
          <a:solidFill>
            <a:srgbClr val="1E2761"/>
          </a:solidFill>
          <a:ln w="12700">
            <a:solidFill>
              <a:srgbClr val="1E2761"/>
            </a:solidFill>
            <a:prstDash val="solid"/>
          </a:ln>
        </p:spPr>
        <p:txBody>
          <a:bodyPr/>
          <a:lstStyle/>
          <a:p>
            <a:endParaRPr lang="ko-KR" altLang="en-US"/>
          </a:p>
        </p:txBody>
      </p:sp>
      <p:sp>
        <p:nvSpPr>
          <p:cNvPr id="22" name="Text 20"/>
          <p:cNvSpPr/>
          <p:nvPr/>
        </p:nvSpPr>
        <p:spPr>
          <a:xfrm>
            <a:off x="9025128" y="2194560"/>
            <a:ext cx="2313432"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Pretendard" pitchFamily="34" charset="0"/>
                <a:ea typeface="Pretendard" pitchFamily="34" charset="-122"/>
                <a:cs typeface="Pretendard" pitchFamily="34" charset="-120"/>
              </a:rPr>
              <a:t>④ 검사</a:t>
            </a:r>
            <a:endParaRPr lang="en-US" sz="1200" dirty="0"/>
          </a:p>
        </p:txBody>
      </p:sp>
      <p:sp>
        <p:nvSpPr>
          <p:cNvPr id="23" name="Text 21"/>
          <p:cNvSpPr/>
          <p:nvPr/>
        </p:nvSpPr>
        <p:spPr>
          <a:xfrm>
            <a:off x="9025128" y="2450592"/>
            <a:ext cx="2313432" cy="438912"/>
          </a:xfrm>
          <a:prstGeom prst="rect">
            <a:avLst/>
          </a:prstGeom>
          <a:noFill/>
          <a:ln/>
        </p:spPr>
        <p:txBody>
          <a:bodyPr wrap="square" lIns="0" tIns="0" rIns="0" bIns="0" rtlCol="0" anchor="t"/>
          <a:lstStyle/>
          <a:p>
            <a:pPr marL="0" indent="0" algn="ctr">
              <a:lnSpc>
                <a:spcPts val="1400"/>
              </a:lnSpc>
              <a:buNone/>
            </a:pPr>
            <a:r>
              <a:rPr lang="en-US" sz="1100" dirty="0">
                <a:solidFill>
                  <a:srgbClr val="C9D2E6"/>
                </a:solidFill>
                <a:latin typeface="Pretendard" pitchFamily="34" charset="0"/>
                <a:ea typeface="Pretendard" pitchFamily="34" charset="-122"/>
                <a:cs typeface="Pretendard" pitchFamily="34" charset="-120"/>
              </a:rPr>
              <a:t>전문가 의견 + 사건내용 검토</a:t>
            </a:r>
            <a:endParaRPr lang="en-US" sz="1100" dirty="0"/>
          </a:p>
          <a:p>
            <a:pPr marL="0" indent="0" algn="ctr">
              <a:lnSpc>
                <a:spcPts val="1400"/>
              </a:lnSpc>
              <a:buNone/>
            </a:pPr>
            <a:r>
              <a:rPr lang="en-US" sz="1200" b="1" dirty="0">
                <a:solidFill>
                  <a:schemeClr val="accent2">
                    <a:lumMod val="40000"/>
                    <a:lumOff val="60000"/>
                  </a:schemeClr>
                </a:solidFill>
                <a:latin typeface="Pretendard" pitchFamily="34" charset="0"/>
                <a:ea typeface="Pretendard" pitchFamily="34" charset="-122"/>
                <a:cs typeface="Pretendard" pitchFamily="34" charset="-120"/>
              </a:rPr>
              <a:t>→ </a:t>
            </a:r>
            <a:r>
              <a:rPr lang="ko-KR" altLang="en-US" sz="1200" b="1" dirty="0">
                <a:solidFill>
                  <a:schemeClr val="accent2">
                    <a:lumMod val="40000"/>
                    <a:lumOff val="60000"/>
                  </a:schemeClr>
                </a:solidFill>
                <a:latin typeface="Pretendard" pitchFamily="34" charset="0"/>
                <a:ea typeface="Pretendard" pitchFamily="34" charset="-122"/>
                <a:cs typeface="Pretendard" pitchFamily="34" charset="-120"/>
              </a:rPr>
              <a:t>연계모델 </a:t>
            </a:r>
            <a:r>
              <a:rPr lang="en-US" sz="1200" b="1" dirty="0" err="1">
                <a:solidFill>
                  <a:schemeClr val="accent2">
                    <a:lumMod val="40000"/>
                    <a:lumOff val="60000"/>
                  </a:schemeClr>
                </a:solidFill>
                <a:latin typeface="Pretendard" pitchFamily="34" charset="0"/>
                <a:ea typeface="Pretendard" pitchFamily="34" charset="-122"/>
                <a:cs typeface="Pretendard" pitchFamily="34" charset="-120"/>
              </a:rPr>
              <a:t>참여조건부</a:t>
            </a:r>
            <a:r>
              <a:rPr lang="en-US" sz="1200" b="1" dirty="0">
                <a:solidFill>
                  <a:schemeClr val="accent2">
                    <a:lumMod val="40000"/>
                    <a:lumOff val="60000"/>
                  </a:schemeClr>
                </a:solidFill>
                <a:latin typeface="Pretendard" pitchFamily="34" charset="0"/>
                <a:ea typeface="Pretendard" pitchFamily="34" charset="-122"/>
                <a:cs typeface="Pretendard" pitchFamily="34" charset="-120"/>
              </a:rPr>
              <a:t> </a:t>
            </a:r>
            <a:r>
              <a:rPr lang="en-US" sz="1200" b="1" dirty="0" err="1">
                <a:solidFill>
                  <a:schemeClr val="accent2">
                    <a:lumMod val="40000"/>
                    <a:lumOff val="60000"/>
                  </a:schemeClr>
                </a:solidFill>
                <a:latin typeface="Pretendard" pitchFamily="34" charset="0"/>
                <a:ea typeface="Pretendard" pitchFamily="34" charset="-122"/>
                <a:cs typeface="Pretendard" pitchFamily="34" charset="-120"/>
              </a:rPr>
              <a:t>기소유예</a:t>
            </a:r>
            <a:r>
              <a:rPr lang="en-US" sz="1200" b="1" dirty="0">
                <a:solidFill>
                  <a:schemeClr val="accent2">
                    <a:lumMod val="40000"/>
                    <a:lumOff val="60000"/>
                  </a:schemeClr>
                </a:solidFill>
                <a:latin typeface="Pretendard" pitchFamily="34" charset="0"/>
                <a:ea typeface="Pretendard" pitchFamily="34" charset="-122"/>
                <a:cs typeface="Pretendard" pitchFamily="34" charset="-120"/>
              </a:rPr>
              <a:t> </a:t>
            </a:r>
            <a:r>
              <a:rPr lang="ko-KR" altLang="en-US" sz="1200" b="1" dirty="0">
                <a:solidFill>
                  <a:schemeClr val="accent2">
                    <a:lumMod val="40000"/>
                    <a:lumOff val="60000"/>
                  </a:schemeClr>
                </a:solidFill>
                <a:latin typeface="Pretendard" pitchFamily="34" charset="0"/>
                <a:ea typeface="Pretendard" pitchFamily="34" charset="-122"/>
                <a:cs typeface="Pretendard" pitchFamily="34" charset="-120"/>
              </a:rPr>
              <a:t>결정</a:t>
            </a:r>
            <a:endParaRPr lang="en-US" sz="1200" b="1" dirty="0">
              <a:solidFill>
                <a:schemeClr val="accent2">
                  <a:lumMod val="40000"/>
                  <a:lumOff val="60000"/>
                </a:schemeClr>
              </a:solidFill>
            </a:endParaRPr>
          </a:p>
        </p:txBody>
      </p:sp>
      <p:sp>
        <p:nvSpPr>
          <p:cNvPr id="24" name="Text 22"/>
          <p:cNvSpPr/>
          <p:nvPr/>
        </p:nvSpPr>
        <p:spPr>
          <a:xfrm>
            <a:off x="731520" y="3054096"/>
            <a:ext cx="10698480" cy="237744"/>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⑤  6개월간 치료·재활 + 보호관찰</a:t>
            </a:r>
            <a:endParaRPr lang="en-US" sz="1150" dirty="0"/>
          </a:p>
        </p:txBody>
      </p:sp>
      <p:sp>
        <p:nvSpPr>
          <p:cNvPr id="25" name="Shape 23"/>
          <p:cNvSpPr/>
          <p:nvPr/>
        </p:nvSpPr>
        <p:spPr>
          <a:xfrm>
            <a:off x="731520" y="3328416"/>
            <a:ext cx="3383280" cy="731520"/>
          </a:xfrm>
          <a:prstGeom prst="rect">
            <a:avLst/>
          </a:prstGeom>
          <a:solidFill>
            <a:srgbClr val="FFFFFF"/>
          </a:solidFill>
          <a:ln w="12700">
            <a:solidFill>
              <a:srgbClr val="DCE0E8"/>
            </a:solidFill>
            <a:prstDash val="solid"/>
          </a:ln>
        </p:spPr>
        <p:txBody>
          <a:bodyPr/>
          <a:lstStyle/>
          <a:p>
            <a:endParaRPr lang="ko-KR" altLang="en-US"/>
          </a:p>
        </p:txBody>
      </p:sp>
      <p:sp>
        <p:nvSpPr>
          <p:cNvPr id="26" name="Text 24"/>
          <p:cNvSpPr/>
          <p:nvPr/>
        </p:nvSpPr>
        <p:spPr>
          <a:xfrm>
            <a:off x="896112" y="3419856"/>
            <a:ext cx="3054096" cy="256032"/>
          </a:xfrm>
          <a:prstGeom prst="rect">
            <a:avLst/>
          </a:prstGeom>
          <a:noFill/>
          <a:ln/>
        </p:spPr>
        <p:txBody>
          <a:bodyPr wrap="square" lIns="0" tIns="0" rIns="0" bIns="0" rtlCol="0" anchor="ctr"/>
          <a:lstStyle/>
          <a:p>
            <a:pPr marL="0" indent="0" algn="ctr">
              <a:buNone/>
            </a:pPr>
            <a:r>
              <a:rPr lang="en-US" sz="1200" b="1" dirty="0">
                <a:solidFill>
                  <a:srgbClr val="1E2761"/>
                </a:solidFill>
                <a:latin typeface="Pretendard" pitchFamily="34" charset="0"/>
                <a:ea typeface="Pretendard" pitchFamily="34" charset="-122"/>
                <a:cs typeface="Pretendard" pitchFamily="34" charset="-120"/>
              </a:rPr>
              <a:t>보호관찰소</a:t>
            </a:r>
            <a:endParaRPr lang="en-US" sz="1200" dirty="0"/>
          </a:p>
        </p:txBody>
      </p:sp>
      <p:sp>
        <p:nvSpPr>
          <p:cNvPr id="27" name="Text 25"/>
          <p:cNvSpPr/>
          <p:nvPr/>
        </p:nvSpPr>
        <p:spPr>
          <a:xfrm>
            <a:off x="896112" y="3694176"/>
            <a:ext cx="3054096" cy="256032"/>
          </a:xfrm>
          <a:prstGeom prst="rect">
            <a:avLst/>
          </a:prstGeom>
          <a:noFill/>
          <a:ln/>
        </p:spPr>
        <p:txBody>
          <a:bodyPr wrap="square" lIns="0" tIns="0" rIns="0" bIns="0" rtlCol="0" anchor="ctr"/>
          <a:lstStyle/>
          <a:p>
            <a:pPr marL="0" indent="0" algn="ctr">
              <a:buNone/>
            </a:pPr>
            <a:r>
              <a:rPr lang="en-US" sz="1100" b="1" dirty="0">
                <a:solidFill>
                  <a:srgbClr val="464D5C"/>
                </a:solidFill>
                <a:highlight>
                  <a:srgbClr val="FFFF00"/>
                </a:highlight>
                <a:latin typeface="Pretendard" pitchFamily="34" charset="0"/>
                <a:ea typeface="Pretendard" pitchFamily="34" charset="-122"/>
                <a:cs typeface="Pretendard" pitchFamily="34" charset="-120"/>
              </a:rPr>
              <a:t>약물검사 · 참여상황 감독</a:t>
            </a:r>
            <a:endParaRPr lang="en-US" sz="1100" b="1" dirty="0">
              <a:highlight>
                <a:srgbClr val="FFFF00"/>
              </a:highlight>
            </a:endParaRPr>
          </a:p>
        </p:txBody>
      </p:sp>
      <p:sp>
        <p:nvSpPr>
          <p:cNvPr id="28" name="Shape 26"/>
          <p:cNvSpPr/>
          <p:nvPr/>
        </p:nvSpPr>
        <p:spPr>
          <a:xfrm>
            <a:off x="4389120" y="3328416"/>
            <a:ext cx="3383280" cy="731520"/>
          </a:xfrm>
          <a:prstGeom prst="rect">
            <a:avLst/>
          </a:prstGeom>
          <a:solidFill>
            <a:srgbClr val="FFFFFF"/>
          </a:solidFill>
          <a:ln w="12700">
            <a:solidFill>
              <a:srgbClr val="DCE0E8"/>
            </a:solidFill>
            <a:prstDash val="solid"/>
          </a:ln>
        </p:spPr>
        <p:txBody>
          <a:bodyPr/>
          <a:lstStyle/>
          <a:p>
            <a:endParaRPr lang="ko-KR" altLang="en-US"/>
          </a:p>
        </p:txBody>
      </p:sp>
      <p:sp>
        <p:nvSpPr>
          <p:cNvPr id="29" name="Text 27"/>
          <p:cNvSpPr/>
          <p:nvPr/>
        </p:nvSpPr>
        <p:spPr>
          <a:xfrm>
            <a:off x="4553712" y="3419856"/>
            <a:ext cx="3054096" cy="256032"/>
          </a:xfrm>
          <a:prstGeom prst="rect">
            <a:avLst/>
          </a:prstGeom>
          <a:noFill/>
          <a:ln/>
        </p:spPr>
        <p:txBody>
          <a:bodyPr wrap="square" lIns="0" tIns="0" rIns="0" bIns="0" rtlCol="0" anchor="ctr"/>
          <a:lstStyle/>
          <a:p>
            <a:pPr marL="0" indent="0" algn="ctr">
              <a:buNone/>
            </a:pPr>
            <a:r>
              <a:rPr lang="ko-KR" altLang="en-US" sz="1200" b="1" dirty="0">
                <a:solidFill>
                  <a:srgbClr val="1E2761"/>
                </a:solidFill>
                <a:latin typeface="Pretendard" pitchFamily="34" charset="0"/>
                <a:ea typeface="Pretendard" pitchFamily="34" charset="-122"/>
                <a:cs typeface="Pretendard" pitchFamily="34" charset="-120"/>
              </a:rPr>
              <a:t>마약류 중독재활센터</a:t>
            </a:r>
            <a:r>
              <a:rPr lang="en-US" altLang="ko-KR" sz="1200" b="1" dirty="0">
                <a:solidFill>
                  <a:srgbClr val="1E2761"/>
                </a:solidFill>
                <a:latin typeface="Pretendard" pitchFamily="34" charset="0"/>
                <a:ea typeface="Pretendard" pitchFamily="34" charset="-122"/>
                <a:cs typeface="Pretendard" pitchFamily="34" charset="-120"/>
              </a:rPr>
              <a:t>(</a:t>
            </a:r>
            <a:r>
              <a:rPr lang="en-US" sz="1200" b="1" dirty="0" err="1">
                <a:solidFill>
                  <a:srgbClr val="1E2761"/>
                </a:solidFill>
                <a:latin typeface="Pretendard" pitchFamily="34" charset="0"/>
                <a:ea typeface="Pretendard" pitchFamily="34" charset="-122"/>
                <a:cs typeface="Pretendard" pitchFamily="34" charset="-120"/>
              </a:rPr>
              <a:t>함께한걸음센터</a:t>
            </a:r>
            <a:r>
              <a:rPr lang="en-US" sz="1200" b="1" dirty="0">
                <a:solidFill>
                  <a:srgbClr val="1E2761"/>
                </a:solidFill>
                <a:latin typeface="Pretendard" pitchFamily="34" charset="0"/>
                <a:ea typeface="Pretendard" pitchFamily="34" charset="-122"/>
                <a:cs typeface="Pretendard" pitchFamily="34" charset="-120"/>
              </a:rPr>
              <a:t>)</a:t>
            </a:r>
            <a:endParaRPr lang="en-US" sz="1200" dirty="0"/>
          </a:p>
        </p:txBody>
      </p:sp>
      <p:sp>
        <p:nvSpPr>
          <p:cNvPr id="30" name="Text 28"/>
          <p:cNvSpPr/>
          <p:nvPr/>
        </p:nvSpPr>
        <p:spPr>
          <a:xfrm>
            <a:off x="4553712" y="3694176"/>
            <a:ext cx="3054096" cy="256032"/>
          </a:xfrm>
          <a:prstGeom prst="rect">
            <a:avLst/>
          </a:prstGeom>
          <a:noFill/>
          <a:ln/>
        </p:spPr>
        <p:txBody>
          <a:bodyPr wrap="square" lIns="0" tIns="0" rIns="0" bIns="0" rtlCol="0" anchor="ctr"/>
          <a:lstStyle/>
          <a:p>
            <a:pPr marL="0" indent="0" algn="ctr">
              <a:buNone/>
            </a:pPr>
            <a:r>
              <a:rPr lang="en-US" sz="1100" dirty="0">
                <a:solidFill>
                  <a:srgbClr val="464D5C"/>
                </a:solidFill>
                <a:latin typeface="Pretendard" pitchFamily="34" charset="0"/>
                <a:ea typeface="Pretendard" pitchFamily="34" charset="-122"/>
                <a:cs typeface="Pretendard" pitchFamily="34" charset="-120"/>
              </a:rPr>
              <a:t>맞춤형 </a:t>
            </a:r>
            <a:r>
              <a:rPr lang="en-US" sz="1100" b="1" dirty="0">
                <a:solidFill>
                  <a:srgbClr val="464D5C"/>
                </a:solidFill>
                <a:highlight>
                  <a:srgbClr val="FFFF00"/>
                </a:highlight>
                <a:latin typeface="Pretendard" pitchFamily="34" charset="0"/>
                <a:ea typeface="Pretendard" pitchFamily="34" charset="-122"/>
                <a:cs typeface="Pretendard" pitchFamily="34" charset="-120"/>
              </a:rPr>
              <a:t>재활프로그램</a:t>
            </a:r>
            <a:r>
              <a:rPr lang="en-US" sz="1100" dirty="0">
                <a:solidFill>
                  <a:srgbClr val="464D5C"/>
                </a:solidFill>
                <a:latin typeface="Pretendard" pitchFamily="34" charset="0"/>
                <a:ea typeface="Pretendard" pitchFamily="34" charset="-122"/>
                <a:cs typeface="Pretendard" pitchFamily="34" charset="-120"/>
              </a:rPr>
              <a:t> 제공</a:t>
            </a:r>
            <a:endParaRPr lang="en-US" sz="1100" dirty="0"/>
          </a:p>
        </p:txBody>
      </p:sp>
      <p:sp>
        <p:nvSpPr>
          <p:cNvPr id="31" name="Shape 29"/>
          <p:cNvSpPr/>
          <p:nvPr/>
        </p:nvSpPr>
        <p:spPr>
          <a:xfrm>
            <a:off x="8046720" y="3328416"/>
            <a:ext cx="3383280" cy="731520"/>
          </a:xfrm>
          <a:prstGeom prst="rect">
            <a:avLst/>
          </a:prstGeom>
          <a:solidFill>
            <a:srgbClr val="FFFFFF"/>
          </a:solidFill>
          <a:ln w="12700">
            <a:solidFill>
              <a:srgbClr val="DCE0E8"/>
            </a:solidFill>
            <a:prstDash val="solid"/>
          </a:ln>
        </p:spPr>
        <p:txBody>
          <a:bodyPr/>
          <a:lstStyle/>
          <a:p>
            <a:endParaRPr lang="ko-KR" altLang="en-US"/>
          </a:p>
        </p:txBody>
      </p:sp>
      <p:sp>
        <p:nvSpPr>
          <p:cNvPr id="32" name="Text 30"/>
          <p:cNvSpPr/>
          <p:nvPr/>
        </p:nvSpPr>
        <p:spPr>
          <a:xfrm>
            <a:off x="8211312" y="3419856"/>
            <a:ext cx="3054096" cy="256032"/>
          </a:xfrm>
          <a:prstGeom prst="rect">
            <a:avLst/>
          </a:prstGeom>
          <a:noFill/>
          <a:ln/>
        </p:spPr>
        <p:txBody>
          <a:bodyPr wrap="square" lIns="0" tIns="0" rIns="0" bIns="0" rtlCol="0" anchor="ctr"/>
          <a:lstStyle/>
          <a:p>
            <a:pPr algn="ctr"/>
            <a:r>
              <a:rPr lang="en-US" sz="1200" b="1" dirty="0" err="1">
                <a:solidFill>
                  <a:srgbClr val="1E2761"/>
                </a:solidFill>
                <a:latin typeface="Pretendard" pitchFamily="34" charset="0"/>
                <a:ea typeface="Pretendard" pitchFamily="34" charset="-122"/>
                <a:cs typeface="Pretendard" pitchFamily="34" charset="-120"/>
              </a:rPr>
              <a:t>치료보호기관</a:t>
            </a:r>
            <a:r>
              <a:rPr lang="en-US" sz="1200" b="1" dirty="0">
                <a:solidFill>
                  <a:srgbClr val="1E2761"/>
                </a:solidFill>
                <a:latin typeface="Pretendard" pitchFamily="34" charset="0"/>
                <a:ea typeface="Pretendard" pitchFamily="34" charset="-122"/>
                <a:cs typeface="Pretendard" pitchFamily="34" charset="-120"/>
              </a:rPr>
              <a:t>(</a:t>
            </a:r>
            <a:r>
              <a:rPr lang="en-US" altLang="ko-KR" sz="1200" b="1" dirty="0" err="1">
                <a:solidFill>
                  <a:srgbClr val="1E2761"/>
                </a:solidFill>
                <a:latin typeface="Pretendard" pitchFamily="34" charset="0"/>
                <a:ea typeface="Pretendard" pitchFamily="34" charset="-122"/>
                <a:cs typeface="Pretendard" pitchFamily="34" charset="-120"/>
              </a:rPr>
              <a:t>치료</a:t>
            </a:r>
            <a:r>
              <a:rPr lang="en-US" altLang="ko-KR" sz="1200" b="1" dirty="0">
                <a:solidFill>
                  <a:srgbClr val="1E2761"/>
                </a:solidFill>
                <a:latin typeface="Pretendard" pitchFamily="34" charset="0"/>
                <a:ea typeface="Pretendard" pitchFamily="34" charset="-122"/>
                <a:cs typeface="Pretendard" pitchFamily="34" charset="-120"/>
              </a:rPr>
              <a:t> </a:t>
            </a:r>
            <a:r>
              <a:rPr lang="en-US" altLang="ko-KR" sz="1200" b="1" dirty="0" err="1">
                <a:solidFill>
                  <a:srgbClr val="1E2761"/>
                </a:solidFill>
                <a:latin typeface="Pretendard" pitchFamily="34" charset="0"/>
                <a:ea typeface="Pretendard" pitchFamily="34" charset="-122"/>
                <a:cs typeface="Pretendard" pitchFamily="34" charset="-120"/>
              </a:rPr>
              <a:t>필요</a:t>
            </a:r>
            <a:r>
              <a:rPr lang="en-US" altLang="ko-KR" sz="1200" b="1" dirty="0">
                <a:solidFill>
                  <a:srgbClr val="1E2761"/>
                </a:solidFill>
                <a:latin typeface="Pretendard" pitchFamily="34" charset="0"/>
                <a:ea typeface="Pretendard" pitchFamily="34" charset="-122"/>
                <a:cs typeface="Pretendard" pitchFamily="34" charset="-120"/>
              </a:rPr>
              <a:t> 시)</a:t>
            </a:r>
            <a:endParaRPr lang="en-US" sz="1200" dirty="0"/>
          </a:p>
        </p:txBody>
      </p:sp>
      <p:sp>
        <p:nvSpPr>
          <p:cNvPr id="33" name="Text 31"/>
          <p:cNvSpPr/>
          <p:nvPr/>
        </p:nvSpPr>
        <p:spPr>
          <a:xfrm>
            <a:off x="8211312" y="3694176"/>
            <a:ext cx="3054096" cy="256032"/>
          </a:xfrm>
          <a:prstGeom prst="rect">
            <a:avLst/>
          </a:prstGeom>
          <a:noFill/>
          <a:ln/>
        </p:spPr>
        <p:txBody>
          <a:bodyPr wrap="square" lIns="0" tIns="0" rIns="0" bIns="0" rtlCol="0" anchor="ctr"/>
          <a:lstStyle/>
          <a:p>
            <a:pPr marL="0" indent="0" algn="ctr">
              <a:buNone/>
            </a:pPr>
            <a:r>
              <a:rPr lang="en-US" sz="1100" dirty="0">
                <a:solidFill>
                  <a:srgbClr val="464D5C"/>
                </a:solidFill>
                <a:latin typeface="Pretendard" pitchFamily="34" charset="0"/>
                <a:ea typeface="Pretendard" pitchFamily="34" charset="-122"/>
                <a:cs typeface="Pretendard" pitchFamily="34" charset="-120"/>
              </a:rPr>
              <a:t>판별검사 · 입원 / 통원</a:t>
            </a:r>
            <a:r>
              <a:rPr lang="en-US" sz="1100" b="1" dirty="0">
                <a:solidFill>
                  <a:srgbClr val="464D5C"/>
                </a:solidFill>
                <a:highlight>
                  <a:srgbClr val="FFFF00"/>
                </a:highlight>
                <a:latin typeface="Pretendard" pitchFamily="34" charset="0"/>
                <a:ea typeface="Pretendard" pitchFamily="34" charset="-122"/>
                <a:cs typeface="Pretendard" pitchFamily="34" charset="-120"/>
              </a:rPr>
              <a:t>치료</a:t>
            </a:r>
            <a:endParaRPr lang="en-US" sz="1100" b="1" dirty="0">
              <a:highlight>
                <a:srgbClr val="FFFF00"/>
              </a:highlight>
            </a:endParaRPr>
          </a:p>
        </p:txBody>
      </p:sp>
      <p:sp>
        <p:nvSpPr>
          <p:cNvPr id="34" name="Shape 32"/>
          <p:cNvSpPr/>
          <p:nvPr/>
        </p:nvSpPr>
        <p:spPr>
          <a:xfrm>
            <a:off x="731520" y="4224528"/>
            <a:ext cx="2651760" cy="786384"/>
          </a:xfrm>
          <a:prstGeom prst="rect">
            <a:avLst/>
          </a:prstGeom>
          <a:solidFill>
            <a:srgbClr val="1E2761"/>
          </a:solidFill>
          <a:ln w="12700">
            <a:solidFill>
              <a:srgbClr val="1E2761"/>
            </a:solidFill>
            <a:prstDash val="solid"/>
          </a:ln>
        </p:spPr>
        <p:txBody>
          <a:bodyPr/>
          <a:lstStyle/>
          <a:p>
            <a:endParaRPr lang="ko-KR" altLang="en-US"/>
          </a:p>
        </p:txBody>
      </p:sp>
      <p:sp>
        <p:nvSpPr>
          <p:cNvPr id="35" name="Text 33"/>
          <p:cNvSpPr/>
          <p:nvPr/>
        </p:nvSpPr>
        <p:spPr>
          <a:xfrm>
            <a:off x="731520" y="4224528"/>
            <a:ext cx="2651760" cy="786384"/>
          </a:xfrm>
          <a:prstGeom prst="rect">
            <a:avLst/>
          </a:prstGeom>
          <a:noFill/>
          <a:ln/>
        </p:spPr>
        <p:txBody>
          <a:bodyPr wrap="square" lIns="0" tIns="0" rIns="0" bIns="0" rtlCol="0" anchor="ctr"/>
          <a:lstStyle/>
          <a:p>
            <a:pPr marL="0" indent="0" algn="ctr">
              <a:buNone/>
            </a:pPr>
            <a:r>
              <a:rPr lang="en-US" sz="1250" b="1" dirty="0">
                <a:solidFill>
                  <a:srgbClr val="FFFFFF"/>
                </a:solidFill>
                <a:latin typeface="Pretendard" pitchFamily="34" charset="0"/>
                <a:ea typeface="Pretendard" pitchFamily="34" charset="-122"/>
                <a:cs typeface="Pretendard" pitchFamily="34" charset="-120"/>
              </a:rPr>
              <a:t>⑥ 조건 이행 확인</a:t>
            </a:r>
            <a:endParaRPr lang="en-US" sz="1250" dirty="0"/>
          </a:p>
        </p:txBody>
      </p:sp>
      <p:sp>
        <p:nvSpPr>
          <p:cNvPr id="36" name="Text 34"/>
          <p:cNvSpPr/>
          <p:nvPr/>
        </p:nvSpPr>
        <p:spPr>
          <a:xfrm>
            <a:off x="3419856" y="4224528"/>
            <a:ext cx="329184" cy="786384"/>
          </a:xfrm>
          <a:prstGeom prst="rect">
            <a:avLst/>
          </a:prstGeom>
          <a:noFill/>
          <a:ln/>
        </p:spPr>
        <p:txBody>
          <a:bodyPr wrap="square" lIns="0" tIns="0" rIns="0" bIns="0" rtlCol="0" anchor="ctr"/>
          <a:lstStyle/>
          <a:p>
            <a:pPr marL="0" indent="0" algn="ctr">
              <a:buNone/>
            </a:pPr>
            <a:r>
              <a:rPr lang="en-US" sz="1200" dirty="0">
                <a:solidFill>
                  <a:srgbClr val="6E7686"/>
                </a:solidFill>
                <a:latin typeface="Pretendard" pitchFamily="34" charset="0"/>
                <a:ea typeface="Pretendard" pitchFamily="34" charset="-122"/>
                <a:cs typeface="Pretendard" pitchFamily="34" charset="-120"/>
              </a:rPr>
              <a:t>→</a:t>
            </a:r>
            <a:endParaRPr lang="en-US" sz="1200" dirty="0"/>
          </a:p>
        </p:txBody>
      </p:sp>
      <p:sp>
        <p:nvSpPr>
          <p:cNvPr id="37" name="Shape 35"/>
          <p:cNvSpPr/>
          <p:nvPr/>
        </p:nvSpPr>
        <p:spPr>
          <a:xfrm>
            <a:off x="3867912" y="4242816"/>
            <a:ext cx="7589520" cy="384048"/>
          </a:xfrm>
          <a:prstGeom prst="rect">
            <a:avLst/>
          </a:prstGeom>
          <a:solidFill>
            <a:srgbClr val="FFFFFF"/>
          </a:solidFill>
          <a:ln w="12700">
            <a:solidFill>
              <a:srgbClr val="DCE0E8"/>
            </a:solidFill>
            <a:prstDash val="solid"/>
          </a:ln>
        </p:spPr>
        <p:txBody>
          <a:bodyPr/>
          <a:lstStyle/>
          <a:p>
            <a:endParaRPr lang="ko-KR" altLang="en-US"/>
          </a:p>
        </p:txBody>
      </p:sp>
      <p:sp>
        <p:nvSpPr>
          <p:cNvPr id="38" name="Text 36"/>
          <p:cNvSpPr/>
          <p:nvPr/>
        </p:nvSpPr>
        <p:spPr>
          <a:xfrm>
            <a:off x="4059936" y="4224528"/>
            <a:ext cx="7150608" cy="384048"/>
          </a:xfrm>
          <a:prstGeom prst="rect">
            <a:avLst/>
          </a:prstGeom>
          <a:noFill/>
          <a:ln/>
        </p:spPr>
        <p:txBody>
          <a:bodyPr wrap="square" lIns="0" tIns="0" rIns="0" bIns="0" rtlCol="0" anchor="ctr"/>
          <a:lstStyle/>
          <a:p>
            <a:pPr marL="0" indent="0">
              <a:buNone/>
            </a:pPr>
            <a:r>
              <a:rPr lang="en-US" sz="1100" b="1" dirty="0">
                <a:solidFill>
                  <a:srgbClr val="1E2761"/>
                </a:solidFill>
                <a:latin typeface="Pretendard" pitchFamily="34" charset="0"/>
                <a:ea typeface="Pretendard" pitchFamily="34" charset="-122"/>
                <a:cs typeface="Pretendard" pitchFamily="34" charset="-120"/>
              </a:rPr>
              <a:t>조건 이행   →   </a:t>
            </a:r>
            <a:r>
              <a:rPr lang="en-US" sz="1150" b="1" dirty="0">
                <a:solidFill>
                  <a:srgbClr val="222633"/>
                </a:solidFill>
                <a:latin typeface="Pretendard" pitchFamily="34" charset="0"/>
                <a:ea typeface="Pretendard" pitchFamily="34" charset="-122"/>
                <a:cs typeface="Pretendard" pitchFamily="34" charset="-120"/>
              </a:rPr>
              <a:t>처분 종료</a:t>
            </a:r>
            <a:endParaRPr lang="en-US" sz="1100" dirty="0"/>
          </a:p>
        </p:txBody>
      </p:sp>
      <p:sp>
        <p:nvSpPr>
          <p:cNvPr id="39" name="Shape 37"/>
          <p:cNvSpPr/>
          <p:nvPr/>
        </p:nvSpPr>
        <p:spPr>
          <a:xfrm>
            <a:off x="3840480" y="4626864"/>
            <a:ext cx="7589520" cy="384048"/>
          </a:xfrm>
          <a:prstGeom prst="rect">
            <a:avLst/>
          </a:prstGeom>
          <a:solidFill>
            <a:srgbClr val="F2F4F8"/>
          </a:solidFill>
          <a:ln w="12700">
            <a:solidFill>
              <a:srgbClr val="F2F4F8"/>
            </a:solidFill>
            <a:prstDash val="solid"/>
          </a:ln>
        </p:spPr>
        <p:txBody>
          <a:bodyPr/>
          <a:lstStyle/>
          <a:p>
            <a:endParaRPr lang="ko-KR" altLang="en-US"/>
          </a:p>
        </p:txBody>
      </p:sp>
      <p:sp>
        <p:nvSpPr>
          <p:cNvPr id="40" name="Text 38"/>
          <p:cNvSpPr/>
          <p:nvPr/>
        </p:nvSpPr>
        <p:spPr>
          <a:xfrm>
            <a:off x="4059936" y="4626864"/>
            <a:ext cx="7150608" cy="384048"/>
          </a:xfrm>
          <a:prstGeom prst="rect">
            <a:avLst/>
          </a:prstGeom>
          <a:noFill/>
          <a:ln/>
        </p:spPr>
        <p:txBody>
          <a:bodyPr wrap="square" lIns="0" tIns="0" rIns="0" bIns="0" rtlCol="0" anchor="ctr"/>
          <a:lstStyle/>
          <a:p>
            <a:pPr marL="0" indent="0">
              <a:buNone/>
            </a:pPr>
            <a:r>
              <a:rPr lang="en-US" sz="1100" b="1" dirty="0">
                <a:solidFill>
                  <a:srgbClr val="A8871C"/>
                </a:solidFill>
                <a:latin typeface="Pretendard" pitchFamily="34" charset="0"/>
                <a:ea typeface="Pretendard" pitchFamily="34" charset="-122"/>
                <a:cs typeface="Pretendard" pitchFamily="34" charset="-120"/>
              </a:rPr>
              <a:t>중도탈락 · 재범 등 조건 미이행   →   </a:t>
            </a:r>
            <a:r>
              <a:rPr lang="en-US" sz="1150" b="1" dirty="0">
                <a:solidFill>
                  <a:srgbClr val="222633"/>
                </a:solidFill>
                <a:latin typeface="Pretendard" pitchFamily="34" charset="0"/>
                <a:ea typeface="Pretendard" pitchFamily="34" charset="-122"/>
                <a:cs typeface="Pretendard" pitchFamily="34" charset="-120"/>
              </a:rPr>
              <a:t>기소유예 취소 후 기소 가능</a:t>
            </a:r>
            <a:endParaRPr lang="en-US" sz="1100" dirty="0"/>
          </a:p>
        </p:txBody>
      </p:sp>
      <p:sp>
        <p:nvSpPr>
          <p:cNvPr id="41" name="Text 39"/>
          <p:cNvSpPr/>
          <p:nvPr/>
        </p:nvSpPr>
        <p:spPr>
          <a:xfrm>
            <a:off x="731520" y="5138928"/>
            <a:ext cx="10698480" cy="256032"/>
          </a:xfrm>
          <a:prstGeom prst="rect">
            <a:avLst/>
          </a:prstGeom>
          <a:noFill/>
          <a:ln/>
        </p:spPr>
        <p:txBody>
          <a:bodyPr wrap="square" lIns="0" tIns="0" rIns="0" bIns="0" rtlCol="0" anchor="ctr"/>
          <a:lstStyle/>
          <a:p>
            <a:pPr marL="0" indent="0">
              <a:buNone/>
            </a:pPr>
            <a:r>
              <a:rPr lang="en-US" sz="1050" b="1" dirty="0">
                <a:solidFill>
                  <a:srgbClr val="A8871C"/>
                </a:solidFill>
                <a:latin typeface="Pretendard" pitchFamily="34" charset="0"/>
                <a:ea typeface="Pretendard" pitchFamily="34" charset="-122"/>
                <a:cs typeface="Pretendard" pitchFamily="34" charset="-120"/>
              </a:rPr>
              <a:t>소년의 경우   </a:t>
            </a:r>
            <a:r>
              <a:rPr lang="en-US" sz="1050" dirty="0">
                <a:solidFill>
                  <a:srgbClr val="6E7686"/>
                </a:solidFill>
                <a:latin typeface="Pretendard" pitchFamily="34" charset="0"/>
                <a:ea typeface="Pretendard" pitchFamily="34" charset="-122"/>
                <a:cs typeface="Pretendard" pitchFamily="34" charset="-120"/>
              </a:rPr>
              <a:t>소년에게 조건부 기소유예를 하는 경우 「소년법」 제49조의3에 따라 소년과 친권자 · 후견인 등 법정대리인의 동의가 필요하다</a:t>
            </a:r>
            <a:endParaRPr lang="en-US" sz="1050" dirty="0"/>
          </a:p>
        </p:txBody>
      </p:sp>
      <p:sp>
        <p:nvSpPr>
          <p:cNvPr id="42" name="Shape 40"/>
          <p:cNvSpPr/>
          <p:nvPr/>
        </p:nvSpPr>
        <p:spPr>
          <a:xfrm>
            <a:off x="731520" y="5486400"/>
            <a:ext cx="10698480" cy="457200"/>
          </a:xfrm>
          <a:prstGeom prst="rect">
            <a:avLst/>
          </a:prstGeom>
          <a:solidFill>
            <a:srgbClr val="1E2761"/>
          </a:solidFill>
          <a:ln w="12700">
            <a:solidFill>
              <a:srgbClr val="1E2761"/>
            </a:solidFill>
            <a:prstDash val="solid"/>
          </a:ln>
        </p:spPr>
        <p:txBody>
          <a:bodyPr/>
          <a:lstStyle/>
          <a:p>
            <a:endParaRPr lang="ko-KR" altLang="en-US"/>
          </a:p>
        </p:txBody>
      </p:sp>
      <p:sp>
        <p:nvSpPr>
          <p:cNvPr id="43" name="Text 41"/>
          <p:cNvSpPr/>
          <p:nvPr/>
        </p:nvSpPr>
        <p:spPr>
          <a:xfrm>
            <a:off x="1005840" y="5486400"/>
            <a:ext cx="10149840" cy="457200"/>
          </a:xfrm>
          <a:prstGeom prst="rect">
            <a:avLst/>
          </a:prstGeom>
          <a:noFill/>
          <a:ln/>
        </p:spPr>
        <p:txBody>
          <a:bodyPr wrap="square" lIns="0" tIns="0" rIns="0" bIns="0" rtlCol="0" anchor="ctr"/>
          <a:lstStyle/>
          <a:p>
            <a:pPr algn="ctr"/>
            <a:r>
              <a:rPr lang="ko-KR" altLang="en-US" sz="1350" b="1" dirty="0">
                <a:solidFill>
                  <a:srgbClr val="FFFFFF"/>
                </a:solidFill>
                <a:latin typeface="Pretendard" pitchFamily="34" charset="0"/>
                <a:ea typeface="Pretendard" pitchFamily="34" charset="-122"/>
                <a:cs typeface="Pretendard" pitchFamily="34" charset="-120"/>
              </a:rPr>
              <a:t>치료</a:t>
            </a:r>
            <a:r>
              <a:rPr lang="en-US" altLang="ko-KR" sz="1350" b="1" dirty="0">
                <a:solidFill>
                  <a:srgbClr val="FFFFFF"/>
                </a:solidFill>
                <a:latin typeface="Pretendard" pitchFamily="34" charset="0"/>
                <a:ea typeface="Pretendard" pitchFamily="34" charset="-122"/>
                <a:cs typeface="Pretendard" pitchFamily="34" charset="-120"/>
              </a:rPr>
              <a:t>·</a:t>
            </a:r>
            <a:r>
              <a:rPr lang="ko-KR" altLang="en-US" sz="1350" b="1" dirty="0">
                <a:solidFill>
                  <a:srgbClr val="FFFFFF"/>
                </a:solidFill>
                <a:latin typeface="Pretendard" pitchFamily="34" charset="0"/>
                <a:ea typeface="Pretendard" pitchFamily="34" charset="-122"/>
                <a:cs typeface="Pretendard" pitchFamily="34" charset="-120"/>
              </a:rPr>
              <a:t>재활을 우선하는 처분으로</a:t>
            </a:r>
            <a:r>
              <a:rPr lang="en-US" altLang="ko-KR" sz="1350" b="1" dirty="0">
                <a:solidFill>
                  <a:srgbClr val="FFFFFF"/>
                </a:solidFill>
                <a:latin typeface="Pretendard" pitchFamily="34" charset="0"/>
                <a:ea typeface="Pretendard" pitchFamily="34" charset="-122"/>
                <a:cs typeface="Pretendard" pitchFamily="34" charset="-120"/>
              </a:rPr>
              <a:t> </a:t>
            </a:r>
            <a:r>
              <a:rPr lang="ko-KR" altLang="en-US" sz="1350" b="1" dirty="0">
                <a:solidFill>
                  <a:srgbClr val="FFFFFF"/>
                </a:solidFill>
                <a:latin typeface="Pretendard" pitchFamily="34" charset="0"/>
                <a:ea typeface="Pretendard" pitchFamily="34" charset="-122"/>
                <a:cs typeface="Pretendard" pitchFamily="34" charset="-120"/>
              </a:rPr>
              <a:t>그 이행을 기소유예의 조건으로 삼아 회복 지원과 사법적 처벌과 통제를 결합합니다</a:t>
            </a:r>
            <a:r>
              <a:rPr lang="en-US" altLang="ko-KR" sz="1350" b="1" dirty="0">
                <a:solidFill>
                  <a:srgbClr val="FFFFFF"/>
                </a:solidFill>
                <a:latin typeface="Pretendard" pitchFamily="34" charset="0"/>
                <a:ea typeface="Pretendard" pitchFamily="34" charset="-122"/>
                <a:cs typeface="Pretendard" pitchFamily="34" charset="-120"/>
              </a:rPr>
              <a:t>.</a:t>
            </a:r>
            <a:endParaRPr lang="en-US" sz="1350" dirty="0"/>
          </a:p>
        </p:txBody>
      </p:sp>
      <p:sp>
        <p:nvSpPr>
          <p:cNvPr id="44" name="Shape 42"/>
          <p:cNvSpPr/>
          <p:nvPr/>
        </p:nvSpPr>
        <p:spPr>
          <a:xfrm>
            <a:off x="731520" y="6153912"/>
            <a:ext cx="10698480" cy="0"/>
          </a:xfrm>
          <a:prstGeom prst="line">
            <a:avLst/>
          </a:prstGeom>
          <a:noFill/>
          <a:ln w="12700">
            <a:solidFill>
              <a:srgbClr val="DCE0E8"/>
            </a:solidFill>
            <a:prstDash val="solid"/>
          </a:ln>
        </p:spPr>
        <p:txBody>
          <a:bodyPr/>
          <a:lstStyle/>
          <a:p>
            <a:endParaRPr lang="ko-KR" altLang="en-US"/>
          </a:p>
        </p:txBody>
      </p:sp>
    </p:spTree>
    <p:extLst>
      <p:ext uri="{BB962C8B-B14F-4D97-AF65-F5344CB8AC3E}">
        <p14:creationId xmlns:p14="http://schemas.microsoft.com/office/powerpoint/2010/main" val="1410199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논제의 범위와 현행 대응</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소년부와 비교</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마약류 사용 범죄소년의 검찰 송치 이후 과정</a:t>
            </a:r>
          </a:p>
        </p:txBody>
      </p:sp>
      <p:sp>
        <p:nvSpPr>
          <p:cNvPr id="5" name="BANDBG"/>
          <p:cNvSpPr/>
          <p:nvPr/>
        </p:nvSpPr>
        <p:spPr>
          <a:xfrm>
            <a:off x="731520" y="1417320"/>
            <a:ext cx="10725912" cy="548640"/>
          </a:xfrm>
          <a:prstGeom prst="rect">
            <a:avLst/>
          </a:prstGeom>
          <a:solidFill>
            <a:srgbClr val="F2F4F8"/>
          </a:solidFill>
          <a:ln/>
        </p:spPr>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14~18세 범죄소년 사건에서 검찰은 치료·재활 연계형 조건부 기소유예, 소년부 송치, 형사기소 가운데 경로를 선택할 수 있다</a:t>
            </a:r>
          </a:p>
        </p:txBody>
      </p:sp>
      <p:sp>
        <p:nvSpPr>
          <p:cNvPr id="7" name="RULE"/>
          <p:cNvSpPr/>
          <p:nvPr/>
        </p:nvSpPr>
        <p:spPr>
          <a:xfrm>
            <a:off x="731520" y="2231136"/>
            <a:ext cx="10725912" cy="0"/>
          </a:xfrm>
          <a:prstGeom prst="line">
            <a:avLst/>
          </a:prstGeom>
          <a:ln w="19050">
            <a:solidFill>
              <a:srgbClr val="1E2761"/>
            </a:solidFill>
          </a:ln>
        </p:spPr>
        <p:txBody>
          <a:bodyPr/>
          <a:lstStyle/>
          <a:p>
            <a:endParaRPr lang="ko-KR"/>
          </a:p>
        </p:txBody>
      </p:sp>
      <p:sp>
        <p:nvSpPr>
          <p:cNvPr id="8" name="FB8"/>
          <p:cNvSpPr/>
          <p:nvPr/>
        </p:nvSpPr>
        <p:spPr>
          <a:xfrm>
            <a:off x="731520" y="2368296"/>
            <a:ext cx="3108960" cy="566928"/>
          </a:xfrm>
          <a:prstGeom prst="rect">
            <a:avLst/>
          </a:prstGeom>
          <a:solidFill>
            <a:srgbClr val="F2F4F8"/>
          </a:solidFill>
          <a:ln/>
        </p:spPr>
      </p:sp>
      <p:sp>
        <p:nvSpPr>
          <p:cNvPr id="9" name="FT9"/>
          <p:cNvSpPr/>
          <p:nvPr/>
        </p:nvSpPr>
        <p:spPr>
          <a:xfrm>
            <a:off x="822960" y="2423160"/>
            <a:ext cx="2926080" cy="237744"/>
          </a:xfrm>
          <a:prstGeom prst="rect">
            <a:avLst/>
          </a:prstGeom>
          <a:noFill/>
          <a:ln/>
        </p:spPr>
        <p:txBody>
          <a:bodyPr wrap="square" lIns="0" tIns="0" rIns="0" bIns="0" rtlCol="0" anchor="t"/>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경찰 송치</a:t>
            </a:r>
          </a:p>
        </p:txBody>
      </p:sp>
      <p:sp>
        <p:nvSpPr>
          <p:cNvPr id="10" name="FS10"/>
          <p:cNvSpPr/>
          <p:nvPr/>
        </p:nvSpPr>
        <p:spPr>
          <a:xfrm>
            <a:off x="822960" y="2670048"/>
            <a:ext cx="2926080" cy="219456"/>
          </a:xfrm>
          <a:prstGeom prst="rect">
            <a:avLst/>
          </a:prstGeom>
          <a:noFill/>
          <a:ln/>
        </p:spPr>
        <p:txBody>
          <a:bodyPr wrap="square" lIns="0" tIns="0" rIns="0" bIns="0" rtlCol="0" anchor="t"/>
          <a:lstStyle/>
          <a:p>
            <a:pPr marL="0" indent="0" algn="ctr">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14~18세 범죄소년·마약류 투약·사용 사건</a:t>
            </a:r>
          </a:p>
        </p:txBody>
      </p:sp>
      <p:sp>
        <p:nvSpPr>
          <p:cNvPr id="11" name="FB11"/>
          <p:cNvSpPr/>
          <p:nvPr/>
        </p:nvSpPr>
        <p:spPr>
          <a:xfrm>
            <a:off x="4389120" y="2368296"/>
            <a:ext cx="4572000" cy="566928"/>
          </a:xfrm>
          <a:prstGeom prst="rect">
            <a:avLst/>
          </a:prstGeom>
          <a:solidFill>
            <a:srgbClr val="F2F4F8"/>
          </a:solidFill>
          <a:ln/>
        </p:spPr>
      </p:sp>
      <p:sp>
        <p:nvSpPr>
          <p:cNvPr id="12" name="FT12"/>
          <p:cNvSpPr/>
          <p:nvPr/>
        </p:nvSpPr>
        <p:spPr>
          <a:xfrm>
            <a:off x="4480560" y="2423160"/>
            <a:ext cx="4389120" cy="237744"/>
          </a:xfrm>
          <a:prstGeom prst="rect">
            <a:avLst/>
          </a:prstGeom>
          <a:noFill/>
          <a:ln/>
        </p:spPr>
        <p:txBody>
          <a:bodyPr wrap="square" lIns="0" tIns="0" rIns="0" bIns="0" rtlCol="0" anchor="t"/>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검사 판단</a:t>
            </a:r>
          </a:p>
        </p:txBody>
      </p:sp>
      <p:sp>
        <p:nvSpPr>
          <p:cNvPr id="13" name="FS13"/>
          <p:cNvSpPr/>
          <p:nvPr/>
        </p:nvSpPr>
        <p:spPr>
          <a:xfrm>
            <a:off x="4480560" y="2670048"/>
            <a:ext cx="4389120" cy="219456"/>
          </a:xfrm>
          <a:prstGeom prst="rect">
            <a:avLst/>
          </a:prstGeom>
          <a:noFill/>
          <a:ln/>
        </p:spPr>
        <p:txBody>
          <a:bodyPr wrap="square" lIns="0" tIns="0" rIns="0" bIns="0" rtlCol="0" anchor="t"/>
          <a:lstStyle/>
          <a:p>
            <a:pPr marL="0" indent="0" algn="ctr">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사안의 중대성·재범위험·치료 필요·소년부 회부 필요성 검토</a:t>
            </a:r>
          </a:p>
        </p:txBody>
      </p:sp>
      <p:cxnSp>
        <p:nvCxnSpPr>
          <p:cNvPr id="14" name="CX14"/>
          <p:cNvCxnSpPr/>
          <p:nvPr/>
        </p:nvCxnSpPr>
        <p:spPr>
          <a:xfrm>
            <a:off x="3895344" y="2651760"/>
            <a:ext cx="438912" cy="0"/>
          </a:xfrm>
          <a:prstGeom prst="line">
            <a:avLst/>
          </a:prstGeom>
          <a:ln w="12700">
            <a:solidFill>
              <a:srgbClr val="6E7686"/>
            </a:solidFill>
            <a:tailEnd type="triangle" w="med" len="med"/>
          </a:ln>
        </p:spPr>
      </p:cxnSp>
      <p:cxnSp>
        <p:nvCxnSpPr>
          <p:cNvPr id="15" name="CX15"/>
          <p:cNvCxnSpPr/>
          <p:nvPr/>
        </p:nvCxnSpPr>
        <p:spPr>
          <a:xfrm>
            <a:off x="6675120" y="2935224"/>
            <a:ext cx="0" cy="128016"/>
          </a:xfrm>
          <a:prstGeom prst="line">
            <a:avLst/>
          </a:prstGeom>
          <a:ln w="12700">
            <a:solidFill>
              <a:srgbClr val="6E7686"/>
            </a:solidFill>
          </a:ln>
        </p:spPr>
      </p:cxnSp>
      <p:cxnSp>
        <p:nvCxnSpPr>
          <p:cNvPr id="16" name="CX16"/>
          <p:cNvCxnSpPr/>
          <p:nvPr/>
        </p:nvCxnSpPr>
        <p:spPr>
          <a:xfrm>
            <a:off x="2455164" y="3063240"/>
            <a:ext cx="7278624" cy="0"/>
          </a:xfrm>
          <a:prstGeom prst="line">
            <a:avLst/>
          </a:prstGeom>
          <a:ln w="12700">
            <a:solidFill>
              <a:srgbClr val="6E7686"/>
            </a:solidFill>
          </a:ln>
        </p:spPr>
      </p:cxnSp>
      <p:cxnSp>
        <p:nvCxnSpPr>
          <p:cNvPr id="17" name="CX17"/>
          <p:cNvCxnSpPr/>
          <p:nvPr/>
        </p:nvCxnSpPr>
        <p:spPr>
          <a:xfrm>
            <a:off x="2455164" y="3063240"/>
            <a:ext cx="0" cy="182880"/>
          </a:xfrm>
          <a:prstGeom prst="line">
            <a:avLst/>
          </a:prstGeom>
          <a:ln w="12700">
            <a:solidFill>
              <a:srgbClr val="6E7686"/>
            </a:solidFill>
            <a:tailEnd type="triangle" w="med" len="med"/>
          </a:ln>
        </p:spPr>
      </p:cxnSp>
      <p:cxnSp>
        <p:nvCxnSpPr>
          <p:cNvPr id="18" name="CX18"/>
          <p:cNvCxnSpPr/>
          <p:nvPr/>
        </p:nvCxnSpPr>
        <p:spPr>
          <a:xfrm>
            <a:off x="6094476" y="3063240"/>
            <a:ext cx="0" cy="182880"/>
          </a:xfrm>
          <a:prstGeom prst="line">
            <a:avLst/>
          </a:prstGeom>
          <a:ln w="12700">
            <a:solidFill>
              <a:srgbClr val="6E7686"/>
            </a:solidFill>
            <a:tailEnd type="triangle" w="med" len="med"/>
          </a:ln>
        </p:spPr>
      </p:cxnSp>
      <p:cxnSp>
        <p:nvCxnSpPr>
          <p:cNvPr id="19" name="CX19"/>
          <p:cNvCxnSpPr/>
          <p:nvPr/>
        </p:nvCxnSpPr>
        <p:spPr>
          <a:xfrm>
            <a:off x="9733788" y="3063240"/>
            <a:ext cx="0" cy="182880"/>
          </a:xfrm>
          <a:prstGeom prst="line">
            <a:avLst/>
          </a:prstGeom>
          <a:ln w="12700">
            <a:solidFill>
              <a:srgbClr val="6E7686"/>
            </a:solidFill>
            <a:tailEnd type="triangle" w="med" len="med"/>
          </a:ln>
        </p:spPr>
      </p:cxnSp>
      <p:sp>
        <p:nvSpPr>
          <p:cNvPr id="20" name="CH20"/>
          <p:cNvSpPr/>
          <p:nvPr/>
        </p:nvSpPr>
        <p:spPr>
          <a:xfrm>
            <a:off x="731520" y="3264408"/>
            <a:ext cx="3447288" cy="365760"/>
          </a:xfrm>
          <a:prstGeom prst="rect">
            <a:avLst/>
          </a:prstGeom>
          <a:solidFill>
            <a:srgbClr val="5A6699"/>
          </a:solidFill>
          <a:ln/>
        </p:spPr>
      </p:sp>
      <p:sp>
        <p:nvSpPr>
          <p:cNvPr id="21" name="CHT21"/>
          <p:cNvSpPr/>
          <p:nvPr/>
        </p:nvSpPr>
        <p:spPr>
          <a:xfrm>
            <a:off x="731520" y="3264408"/>
            <a:ext cx="3447288" cy="365760"/>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FFFFFF"/>
                </a:solidFill>
                <a:latin typeface="Pretendard" pitchFamily="34" charset="0"/>
                <a:ea typeface="Pretendard" pitchFamily="34" charset="-122"/>
                <a:cs typeface="Pretendard" pitchFamily="34" charset="-120"/>
              </a:rPr>
              <a:t>① 조건부 기소유예</a:t>
            </a:r>
          </a:p>
        </p:txBody>
      </p:sp>
      <p:sp>
        <p:nvSpPr>
          <p:cNvPr id="22" name="CB22"/>
          <p:cNvSpPr/>
          <p:nvPr/>
        </p:nvSpPr>
        <p:spPr>
          <a:xfrm>
            <a:off x="844296" y="4033268"/>
            <a:ext cx="3227832" cy="516635"/>
          </a:xfrm>
          <a:prstGeom prst="rect">
            <a:avLst/>
          </a:prstGeom>
          <a:noFill/>
          <a:ln/>
        </p:spPr>
        <p:txBody>
          <a:bodyPr wrap="square" lIns="0" tIns="0" rIns="0" bIns="0" rtlCol="0" anchor="t"/>
          <a:lstStyle/>
          <a:p>
            <a:pPr marL="0" indent="0">
              <a:lnSpc>
                <a:spcPct val="118000"/>
              </a:lnSpc>
              <a:spcAft>
                <a:spcPts val="500"/>
              </a:spcAft>
              <a:buNone/>
            </a:pPr>
            <a:r>
              <a:rPr lang="ko-KR" altLang="en-US" sz="1150" dirty="0">
                <a:solidFill>
                  <a:srgbClr val="464D5C"/>
                </a:solidFill>
                <a:latin typeface="Pretendard" pitchFamily="34" charset="0"/>
                <a:ea typeface="Pretendard" pitchFamily="34" charset="-122"/>
                <a:cs typeface="Pretendard" pitchFamily="34" charset="-120"/>
              </a:rPr>
              <a:t>연계모델 참여를 조건으로 공소를 제기하지 않는다</a:t>
            </a:r>
          </a:p>
          <a:p>
            <a:pPr marL="0" indent="0">
              <a:lnSpc>
                <a:spcPct val="118000"/>
              </a:lnSpc>
              <a:spcAft>
                <a:spcPts val="500"/>
              </a:spcAft>
              <a:buNone/>
            </a:pPr>
            <a:r>
              <a:rPr lang="ko-KR" altLang="en-US" sz="1150" dirty="0">
                <a:solidFill>
                  <a:srgbClr val="464D5C"/>
                </a:solidFill>
                <a:latin typeface="Pretendard" pitchFamily="34" charset="0"/>
                <a:ea typeface="Pretendard" pitchFamily="34" charset="-122"/>
                <a:cs typeface="Pretendard" pitchFamily="34" charset="-120"/>
              </a:rPr>
              <a:t>조건을 이행하면 사건이 종결된다</a:t>
            </a:r>
          </a:p>
        </p:txBody>
      </p:sp>
      <p:sp>
        <p:nvSpPr>
          <p:cNvPr id="23" name="CR23"/>
          <p:cNvSpPr/>
          <p:nvPr/>
        </p:nvSpPr>
        <p:spPr>
          <a:xfrm>
            <a:off x="731520" y="4911090"/>
            <a:ext cx="3447288" cy="0"/>
          </a:xfrm>
          <a:prstGeom prst="line">
            <a:avLst/>
          </a:prstGeom>
          <a:ln w="9525">
            <a:solidFill>
              <a:srgbClr val="DCE0E8"/>
            </a:solidFill>
          </a:ln>
        </p:spPr>
        <p:txBody>
          <a:bodyPr/>
          <a:lstStyle/>
          <a:p>
            <a:endParaRPr lang="ko-KR"/>
          </a:p>
        </p:txBody>
      </p:sp>
      <p:sp>
        <p:nvSpPr>
          <p:cNvPr id="24" name="CC24"/>
          <p:cNvSpPr/>
          <p:nvPr/>
        </p:nvSpPr>
        <p:spPr>
          <a:xfrm>
            <a:off x="731520" y="5171694"/>
            <a:ext cx="3447288" cy="256032"/>
          </a:xfrm>
          <a:prstGeom prst="rect">
            <a:avLst/>
          </a:prstGeom>
          <a:noFill/>
          <a:ln/>
        </p:spPr>
        <p:txBody>
          <a:bodyPr wrap="square" lIns="0" tIns="0" rIns="0" bIns="0" rtlCol="0" anchor="t"/>
          <a:lstStyle/>
          <a:p>
            <a:pPr marL="0" indent="0" algn="ctr">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검찰 단계에서 끝나는 경로</a:t>
            </a:r>
          </a:p>
        </p:txBody>
      </p:sp>
      <p:sp>
        <p:nvSpPr>
          <p:cNvPr id="25" name="CH25"/>
          <p:cNvSpPr/>
          <p:nvPr/>
        </p:nvSpPr>
        <p:spPr>
          <a:xfrm>
            <a:off x="4370832" y="3264408"/>
            <a:ext cx="3447288" cy="365760"/>
          </a:xfrm>
          <a:prstGeom prst="rect">
            <a:avLst/>
          </a:prstGeom>
          <a:solidFill>
            <a:srgbClr val="5A6699"/>
          </a:solidFill>
          <a:ln/>
        </p:spPr>
      </p:sp>
      <p:sp>
        <p:nvSpPr>
          <p:cNvPr id="26" name="CHT26"/>
          <p:cNvSpPr/>
          <p:nvPr/>
        </p:nvSpPr>
        <p:spPr>
          <a:xfrm>
            <a:off x="4370832" y="3264408"/>
            <a:ext cx="3447288" cy="365760"/>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FFFFFF"/>
                </a:solidFill>
                <a:latin typeface="Pretendard" pitchFamily="34" charset="0"/>
                <a:ea typeface="Pretendard" pitchFamily="34" charset="-122"/>
                <a:cs typeface="Pretendard" pitchFamily="34" charset="-120"/>
              </a:rPr>
              <a:t>② 소년부 송치</a:t>
            </a:r>
          </a:p>
        </p:txBody>
      </p:sp>
      <p:sp>
        <p:nvSpPr>
          <p:cNvPr id="27" name="CB27"/>
          <p:cNvSpPr/>
          <p:nvPr/>
        </p:nvSpPr>
        <p:spPr>
          <a:xfrm>
            <a:off x="4480560" y="4039363"/>
            <a:ext cx="3227832" cy="663700"/>
          </a:xfrm>
          <a:prstGeom prst="rect">
            <a:avLst/>
          </a:prstGeom>
          <a:noFill/>
          <a:ln/>
        </p:spPr>
        <p:txBody>
          <a:bodyPr wrap="square" lIns="0" tIns="0" rIns="0" bIns="0" rtlCol="0" anchor="t"/>
          <a:lstStyle/>
          <a:p>
            <a:pPr marL="0" indent="0">
              <a:lnSpc>
                <a:spcPct val="118000"/>
              </a:lnSpc>
              <a:spcAft>
                <a:spcPts val="500"/>
              </a:spcAft>
              <a:buNone/>
            </a:pPr>
            <a:r>
              <a:rPr lang="ko-KR" altLang="en-US" sz="1150" dirty="0">
                <a:solidFill>
                  <a:srgbClr val="464D5C"/>
                </a:solidFill>
                <a:latin typeface="Pretendard" pitchFamily="34" charset="0"/>
                <a:ea typeface="Pretendard" pitchFamily="34" charset="-122"/>
                <a:cs typeface="Pretendard" pitchFamily="34" charset="-120"/>
              </a:rPr>
              <a:t>검사가 사건을 법원 소년부로 보낸다</a:t>
            </a:r>
          </a:p>
          <a:p>
            <a:pPr marL="0" indent="0">
              <a:lnSpc>
                <a:spcPct val="118000"/>
              </a:lnSpc>
              <a:spcAft>
                <a:spcPts val="500"/>
              </a:spcAft>
              <a:buNone/>
            </a:pPr>
            <a:r>
              <a:rPr lang="ko-KR" altLang="en-US" sz="1150" dirty="0">
                <a:solidFill>
                  <a:srgbClr val="464D5C"/>
                </a:solidFill>
                <a:latin typeface="Pretendard" pitchFamily="34" charset="0"/>
                <a:ea typeface="Pretendard" pitchFamily="34" charset="-122"/>
                <a:cs typeface="Pretendard" pitchFamily="34" charset="-120"/>
              </a:rPr>
              <a:t>판사가 보호처분의 필요성과 종류를 심리하여 처분한다</a:t>
            </a:r>
          </a:p>
        </p:txBody>
      </p:sp>
      <p:sp>
        <p:nvSpPr>
          <p:cNvPr id="28" name="CR28"/>
          <p:cNvSpPr/>
          <p:nvPr/>
        </p:nvSpPr>
        <p:spPr>
          <a:xfrm>
            <a:off x="4370832" y="4911090"/>
            <a:ext cx="3447288" cy="0"/>
          </a:xfrm>
          <a:prstGeom prst="line">
            <a:avLst/>
          </a:prstGeom>
          <a:ln w="9525">
            <a:solidFill>
              <a:srgbClr val="DCE0E8"/>
            </a:solidFill>
          </a:ln>
        </p:spPr>
        <p:txBody>
          <a:bodyPr/>
          <a:lstStyle/>
          <a:p>
            <a:endParaRPr lang="ko-KR"/>
          </a:p>
        </p:txBody>
      </p:sp>
      <p:sp>
        <p:nvSpPr>
          <p:cNvPr id="29" name="CC29"/>
          <p:cNvSpPr/>
          <p:nvPr/>
        </p:nvSpPr>
        <p:spPr>
          <a:xfrm>
            <a:off x="4370832" y="5171694"/>
            <a:ext cx="3447288" cy="256032"/>
          </a:xfrm>
          <a:prstGeom prst="rect">
            <a:avLst/>
          </a:prstGeom>
          <a:noFill/>
          <a:ln/>
        </p:spPr>
        <p:txBody>
          <a:bodyPr wrap="square" lIns="0" tIns="0" rIns="0" bIns="0" rtlCol="0" anchor="t"/>
          <a:lstStyle/>
          <a:p>
            <a:pPr marL="0" indent="0" algn="ctr">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법원이 보호처분을 결정하는 경로</a:t>
            </a:r>
          </a:p>
        </p:txBody>
      </p:sp>
      <p:sp>
        <p:nvSpPr>
          <p:cNvPr id="30" name="CH30"/>
          <p:cNvSpPr/>
          <p:nvPr/>
        </p:nvSpPr>
        <p:spPr>
          <a:xfrm>
            <a:off x="8010144" y="3264408"/>
            <a:ext cx="3447288" cy="365760"/>
          </a:xfrm>
          <a:prstGeom prst="rect">
            <a:avLst/>
          </a:prstGeom>
          <a:solidFill>
            <a:srgbClr val="5A6699"/>
          </a:solidFill>
          <a:ln/>
        </p:spPr>
      </p:sp>
      <p:sp>
        <p:nvSpPr>
          <p:cNvPr id="31" name="CHT31"/>
          <p:cNvSpPr/>
          <p:nvPr/>
        </p:nvSpPr>
        <p:spPr>
          <a:xfrm>
            <a:off x="8010144" y="3264408"/>
            <a:ext cx="3447288" cy="365760"/>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FFFFFF"/>
                </a:solidFill>
                <a:latin typeface="Pretendard" pitchFamily="34" charset="0"/>
                <a:ea typeface="Pretendard" pitchFamily="34" charset="-122"/>
                <a:cs typeface="Pretendard" pitchFamily="34" charset="-120"/>
              </a:rPr>
              <a:t>③ 형사기소</a:t>
            </a:r>
          </a:p>
        </p:txBody>
      </p:sp>
      <p:sp>
        <p:nvSpPr>
          <p:cNvPr id="32" name="CB32"/>
          <p:cNvSpPr/>
          <p:nvPr/>
        </p:nvSpPr>
        <p:spPr>
          <a:xfrm>
            <a:off x="8116824" y="4026029"/>
            <a:ext cx="3227832" cy="553210"/>
          </a:xfrm>
          <a:prstGeom prst="rect">
            <a:avLst/>
          </a:prstGeom>
          <a:noFill/>
          <a:ln/>
        </p:spPr>
        <p:txBody>
          <a:bodyPr wrap="square" lIns="0" tIns="0" rIns="0" bIns="0" rtlCol="0" anchor="t"/>
          <a:lstStyle/>
          <a:p>
            <a:pPr marL="0" indent="0">
              <a:lnSpc>
                <a:spcPct val="118000"/>
              </a:lnSpc>
              <a:spcAft>
                <a:spcPts val="500"/>
              </a:spcAft>
              <a:buNone/>
            </a:pPr>
            <a:r>
              <a:rPr lang="ko-KR" altLang="en-US" sz="1150" dirty="0">
                <a:solidFill>
                  <a:srgbClr val="464D5C"/>
                </a:solidFill>
                <a:latin typeface="Pretendard" pitchFamily="34" charset="0"/>
                <a:ea typeface="Pretendard" pitchFamily="34" charset="-122"/>
                <a:cs typeface="Pretendard" pitchFamily="34" charset="-120"/>
              </a:rPr>
              <a:t>검사가 형사법원에 공소를 제기한다</a:t>
            </a:r>
          </a:p>
          <a:p>
            <a:pPr marL="0" indent="0">
              <a:lnSpc>
                <a:spcPct val="118000"/>
              </a:lnSpc>
              <a:spcAft>
                <a:spcPts val="500"/>
              </a:spcAft>
              <a:buNone/>
            </a:pPr>
            <a:r>
              <a:rPr lang="ko-KR" altLang="en-US" sz="1150" dirty="0" err="1">
                <a:solidFill>
                  <a:srgbClr val="464D5C"/>
                </a:solidFill>
                <a:latin typeface="Pretendard" pitchFamily="34" charset="0"/>
                <a:ea typeface="Pretendard" pitchFamily="34" charset="-122"/>
                <a:cs typeface="Pretendard" pitchFamily="34" charset="-120"/>
              </a:rPr>
              <a:t>유·무죄와</a:t>
            </a:r>
            <a:r>
              <a:rPr lang="ko-KR" altLang="en-US" sz="1150" dirty="0">
                <a:solidFill>
                  <a:srgbClr val="464D5C"/>
                </a:solidFill>
                <a:latin typeface="Pretendard" pitchFamily="34" charset="0"/>
                <a:ea typeface="Pretendard" pitchFamily="34" charset="-122"/>
                <a:cs typeface="Pretendard" pitchFamily="34" charset="-120"/>
              </a:rPr>
              <a:t> 형벌</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교육을 형사법원이 판단한다</a:t>
            </a:r>
          </a:p>
        </p:txBody>
      </p:sp>
      <p:sp>
        <p:nvSpPr>
          <p:cNvPr id="33" name="CR33"/>
          <p:cNvSpPr/>
          <p:nvPr/>
        </p:nvSpPr>
        <p:spPr>
          <a:xfrm>
            <a:off x="8010144" y="4911090"/>
            <a:ext cx="3447288" cy="0"/>
          </a:xfrm>
          <a:prstGeom prst="line">
            <a:avLst/>
          </a:prstGeom>
          <a:ln w="9525">
            <a:solidFill>
              <a:srgbClr val="DCE0E8"/>
            </a:solidFill>
          </a:ln>
        </p:spPr>
        <p:txBody>
          <a:bodyPr/>
          <a:lstStyle/>
          <a:p>
            <a:endParaRPr lang="ko-KR"/>
          </a:p>
        </p:txBody>
      </p:sp>
      <p:sp>
        <p:nvSpPr>
          <p:cNvPr id="34" name="CC34"/>
          <p:cNvSpPr/>
          <p:nvPr/>
        </p:nvSpPr>
        <p:spPr>
          <a:xfrm>
            <a:off x="8010144" y="5171694"/>
            <a:ext cx="3447288" cy="256032"/>
          </a:xfrm>
          <a:prstGeom prst="rect">
            <a:avLst/>
          </a:prstGeom>
          <a:noFill/>
          <a:ln/>
        </p:spPr>
        <p:txBody>
          <a:bodyPr wrap="square" lIns="0" tIns="0" rIns="0" bIns="0" rtlCol="0" anchor="t"/>
          <a:lstStyle/>
          <a:p>
            <a:pPr marL="0" indent="0" algn="ctr">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형사책임을 정식 재판으로 묻는 경로</a:t>
            </a:r>
          </a:p>
        </p:txBody>
      </p:sp>
      <p:sp>
        <p:nvSpPr>
          <p:cNvPr id="36" name="CLBAND"/>
          <p:cNvSpPr/>
          <p:nvPr/>
        </p:nvSpPr>
        <p:spPr>
          <a:xfrm>
            <a:off x="731520" y="5682996"/>
            <a:ext cx="10725912" cy="508406"/>
          </a:xfrm>
          <a:prstGeom prst="rect">
            <a:avLst/>
          </a:prstGeom>
          <a:solidFill>
            <a:srgbClr val="F2F4F8"/>
          </a:solidFill>
          <a:ln/>
        </p:spPr>
      </p:sp>
      <p:sp>
        <p:nvSpPr>
          <p:cNvPr id="37" name="CLOSE"/>
          <p:cNvSpPr/>
          <p:nvPr/>
        </p:nvSpPr>
        <p:spPr>
          <a:xfrm>
            <a:off x="1024128" y="5701284"/>
            <a:ext cx="10140696" cy="471830"/>
          </a:xfrm>
          <a:prstGeom prst="rect">
            <a:avLst/>
          </a:prstGeom>
          <a:noFill/>
          <a:ln/>
        </p:spPr>
        <p:txBody>
          <a:bodyPr wrap="square" lIns="0" tIns="0" rIns="0" bIns="0" rtlCol="0" anchor="ctr"/>
          <a:lstStyle/>
          <a:p>
            <a:pPr marL="0" indent="0" algn="ctr">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조건부 기소유예는 소년부 송치·형사기소보다 앞 단계에서 치료·재활을 먼저 시도하는 경로이고, 뒤의 두 경로는 더 강한 사법개입이다</a:t>
            </a:r>
          </a:p>
        </p:txBody>
      </p:sp>
      <p:sp>
        <p:nvSpPr>
          <p:cNvPr id="39" name="직사각형 38">
            <a:extLst>
              <a:ext uri="{FF2B5EF4-FFF2-40B4-BE49-F238E27FC236}">
                <a16:creationId xmlns:a16="http://schemas.microsoft.com/office/drawing/2014/main" id="{28C94EB0-3823-44EE-AED6-4EA4E48C1EFD}"/>
              </a:ext>
            </a:extLst>
          </p:cNvPr>
          <p:cNvSpPr/>
          <p:nvPr/>
        </p:nvSpPr>
        <p:spPr>
          <a:xfrm>
            <a:off x="603504" y="3200400"/>
            <a:ext cx="3730751" cy="2308855"/>
          </a:xfrm>
          <a:prstGeom prst="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Text 22">
            <a:extLst>
              <a:ext uri="{FF2B5EF4-FFF2-40B4-BE49-F238E27FC236}">
                <a16:creationId xmlns:a16="http://schemas.microsoft.com/office/drawing/2014/main" id="{8A047B3D-5D7B-4860-89C4-65C15427D2DD}"/>
              </a:ext>
            </a:extLst>
          </p:cNvPr>
          <p:cNvSpPr/>
          <p:nvPr/>
        </p:nvSpPr>
        <p:spPr>
          <a:xfrm>
            <a:off x="2915412" y="4556721"/>
            <a:ext cx="1249680" cy="253366"/>
          </a:xfrm>
          <a:prstGeom prst="rect">
            <a:avLst/>
          </a:prstGeom>
          <a:noFill/>
          <a:ln/>
        </p:spPr>
        <p:txBody>
          <a:bodyPr wrap="square" lIns="0" tIns="0" rIns="0" bIns="0" rtlCol="0" anchor="ctr"/>
          <a:lstStyle/>
          <a:p>
            <a:pPr marL="0" indent="0">
              <a:buNone/>
            </a:pPr>
            <a:r>
              <a:rPr lang="ko-KR" altLang="en-US" sz="1150" b="1" dirty="0">
                <a:solidFill>
                  <a:schemeClr val="accent4">
                    <a:lumMod val="75000"/>
                  </a:schemeClr>
                </a:solidFill>
                <a:latin typeface="Pretendard" pitchFamily="34" charset="0"/>
                <a:ea typeface="Pretendard" pitchFamily="34" charset="-122"/>
                <a:cs typeface="Pretendard" pitchFamily="34" charset="-120"/>
              </a:rPr>
              <a:t>치료</a:t>
            </a:r>
            <a:r>
              <a:rPr lang="ko-KR" altLang="en-US" sz="1200" b="1" dirty="0">
                <a:solidFill>
                  <a:schemeClr val="accent4">
                    <a:lumMod val="75000"/>
                  </a:schemeClr>
                </a:solidFill>
                <a:latin typeface="Pretendard" pitchFamily="34" charset="0"/>
                <a:ea typeface="Pretendard" pitchFamily="34" charset="-122"/>
                <a:cs typeface="Pretendard" pitchFamily="34" charset="-120"/>
              </a:rPr>
              <a:t> · </a:t>
            </a:r>
            <a:r>
              <a:rPr lang="ko-KR" altLang="en-US" sz="1150" b="1" dirty="0">
                <a:solidFill>
                  <a:schemeClr val="accent4">
                    <a:lumMod val="75000"/>
                  </a:schemeClr>
                </a:solidFill>
                <a:latin typeface="Pretendard" pitchFamily="34" charset="0"/>
                <a:ea typeface="Pretendard" pitchFamily="34" charset="-122"/>
                <a:cs typeface="Pretendard" pitchFamily="34" charset="-120"/>
              </a:rPr>
              <a:t>재활 우선 과정</a:t>
            </a:r>
            <a:endParaRPr lang="en-US" sz="1150" dirty="0">
              <a:solidFill>
                <a:schemeClr val="accent4">
                  <a:lumMod val="75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1. 논제의 범위와 현행 대응</a:t>
            </a:r>
            <a:endParaRPr lang="en-US" sz="1250" dirty="0"/>
          </a:p>
        </p:txBody>
      </p:sp>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수강명령과 의료위탁</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r>
              <a:rPr lang="en-US" sz="2700" b="1" dirty="0" err="1">
                <a:solidFill>
                  <a:srgbClr val="002060"/>
                </a:solidFill>
                <a:latin typeface="Pretendard" pitchFamily="34" charset="0"/>
                <a:ea typeface="Pretendard" pitchFamily="34" charset="-122"/>
                <a:cs typeface="Pretendard" pitchFamily="34" charset="-120"/>
              </a:rPr>
              <a:t>보호관찰</a:t>
            </a:r>
            <a:r>
              <a:rPr lang="en-US" sz="2700" b="1" dirty="0">
                <a:solidFill>
                  <a:srgbClr val="002060"/>
                </a:solidFill>
                <a:latin typeface="Pretendard" pitchFamily="34" charset="0"/>
                <a:ea typeface="Pretendard" pitchFamily="34" charset="-122"/>
                <a:cs typeface="Pretendard" pitchFamily="34" charset="-120"/>
              </a:rPr>
              <a:t> </a:t>
            </a:r>
            <a:r>
              <a:rPr lang="ko-KR" altLang="en-US" sz="2700" b="1" dirty="0" err="1">
                <a:solidFill>
                  <a:srgbClr val="002060"/>
                </a:solidFill>
                <a:latin typeface="Pretendard" pitchFamily="34" charset="0"/>
                <a:ea typeface="Pretendard" pitchFamily="34" charset="-122"/>
                <a:cs typeface="Pretendard" pitchFamily="34" charset="-120"/>
              </a:rPr>
              <a:t>ㅡ</a:t>
            </a:r>
            <a:r>
              <a:rPr lang="ko-KR" altLang="en-US" sz="2700" b="1" dirty="0">
                <a:solidFill>
                  <a:srgbClr val="002060"/>
                </a:solidFill>
                <a:latin typeface="Pretendard" pitchFamily="34" charset="0"/>
                <a:ea typeface="Pretendard" pitchFamily="34" charset="-122"/>
                <a:cs typeface="Pretendard" pitchFamily="34" charset="-120"/>
              </a:rPr>
              <a:t> 지역사회 내에서의 마약류 치료</a:t>
            </a:r>
            <a:r>
              <a:rPr lang="en-US" altLang="ko-KR" sz="2800" b="1" dirty="0">
                <a:solidFill>
                  <a:srgbClr val="002060"/>
                </a:solidFill>
                <a:latin typeface="Pretendard" pitchFamily="34" charset="0"/>
                <a:ea typeface="Pretendard" pitchFamily="34" charset="-122"/>
                <a:cs typeface="Pretendard" pitchFamily="34" charset="-120"/>
              </a:rPr>
              <a:t> ·</a:t>
            </a:r>
            <a:r>
              <a:rPr lang="ko-KR" altLang="en-US" sz="2800" b="1" dirty="0">
                <a:solidFill>
                  <a:srgbClr val="002060"/>
                </a:solidFill>
                <a:latin typeface="Pretendard" pitchFamily="34" charset="0"/>
                <a:ea typeface="Pretendard" pitchFamily="34" charset="-122"/>
                <a:cs typeface="Pretendard" pitchFamily="34" charset="-120"/>
              </a:rPr>
              <a:t>재활 감독</a:t>
            </a:r>
            <a:endParaRPr lang="en-US" sz="2700" dirty="0">
              <a:solidFill>
                <a:srgbClr val="002060"/>
              </a:solidFill>
            </a:endParaRPr>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353312"/>
            <a:ext cx="10698480" cy="438912"/>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987552" y="1353312"/>
            <a:ext cx="10186416" cy="438912"/>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보호관찰은 소년을 시설에 수용하지 않고 지역사회에서 생활하게 하면서, 준수사항과 프로그램 참여를 지도·감독하는 처분이다</a:t>
            </a:r>
            <a:endParaRPr lang="en-US" sz="1250" dirty="0"/>
          </a:p>
        </p:txBody>
      </p:sp>
      <p:sp>
        <p:nvSpPr>
          <p:cNvPr id="8" name="Shape 6"/>
          <p:cNvSpPr/>
          <p:nvPr/>
        </p:nvSpPr>
        <p:spPr>
          <a:xfrm>
            <a:off x="731520" y="1920240"/>
            <a:ext cx="3322320" cy="694944"/>
          </a:xfrm>
          <a:prstGeom prst="rect">
            <a:avLst/>
          </a:prstGeom>
          <a:solidFill>
            <a:srgbClr val="F2F4F8"/>
          </a:solidFill>
          <a:ln w="12700">
            <a:solidFill>
              <a:srgbClr val="F2F4F8"/>
            </a:solidFill>
            <a:prstDash val="solid"/>
          </a:ln>
        </p:spPr>
        <p:txBody>
          <a:bodyPr/>
          <a:lstStyle/>
          <a:p>
            <a:endParaRPr lang="ko-KR" altLang="en-US"/>
          </a:p>
        </p:txBody>
      </p:sp>
      <p:sp>
        <p:nvSpPr>
          <p:cNvPr id="9" name="Text 7"/>
          <p:cNvSpPr/>
          <p:nvPr/>
        </p:nvSpPr>
        <p:spPr>
          <a:xfrm>
            <a:off x="822960" y="1920240"/>
            <a:ext cx="3139440" cy="694944"/>
          </a:xfrm>
          <a:prstGeom prst="rect">
            <a:avLst/>
          </a:prstGeom>
          <a:noFill/>
          <a:ln/>
        </p:spPr>
        <p:txBody>
          <a:bodyPr wrap="square" lIns="0" tIns="0" rIns="0" bIns="0" rtlCol="0" anchor="ctr"/>
          <a:lstStyle/>
          <a:p>
            <a:pPr marL="0" indent="0" algn="ctr">
              <a:lnSpc>
                <a:spcPts val="1900"/>
              </a:lnSpc>
              <a:buNone/>
            </a:pPr>
            <a:r>
              <a:rPr lang="ko-KR" altLang="en-US" sz="1300" b="1" dirty="0">
                <a:solidFill>
                  <a:srgbClr val="1E2761"/>
                </a:solidFill>
                <a:latin typeface="Pretendard" pitchFamily="34" charset="0"/>
                <a:ea typeface="Pretendard" pitchFamily="34" charset="-122"/>
                <a:cs typeface="Pretendard" pitchFamily="34" charset="-120"/>
              </a:rPr>
              <a:t>보호처분 중 </a:t>
            </a:r>
            <a:r>
              <a:rPr lang="en-US" sz="1300" b="1" dirty="0">
                <a:solidFill>
                  <a:srgbClr val="1E2761"/>
                </a:solidFill>
                <a:latin typeface="Pretendard" pitchFamily="34" charset="0"/>
                <a:ea typeface="Pretendard" pitchFamily="34" charset="-122"/>
                <a:cs typeface="Pretendard" pitchFamily="34" charset="-120"/>
              </a:rPr>
              <a:t>장/</a:t>
            </a:r>
            <a:r>
              <a:rPr lang="ko-KR" altLang="en-US" sz="1300" b="1" dirty="0">
                <a:solidFill>
                  <a:srgbClr val="1E2761"/>
                </a:solidFill>
                <a:latin typeface="Pretendard" pitchFamily="34" charset="0"/>
                <a:ea typeface="Pretendard" pitchFamily="34" charset="-122"/>
                <a:cs typeface="Pretendard" pitchFamily="34" charset="-120"/>
              </a:rPr>
              <a:t>단</a:t>
            </a:r>
            <a:r>
              <a:rPr lang="en-US" sz="1300" b="1" dirty="0">
                <a:solidFill>
                  <a:srgbClr val="1E2761"/>
                </a:solidFill>
                <a:latin typeface="Pretendard" pitchFamily="34" charset="0"/>
                <a:ea typeface="Pretendard" pitchFamily="34" charset="-122"/>
                <a:cs typeface="Pretendard" pitchFamily="34" charset="-120"/>
              </a:rPr>
              <a:t>기 </a:t>
            </a:r>
            <a:r>
              <a:rPr lang="en-US" sz="1300" b="1" dirty="0" err="1">
                <a:solidFill>
                  <a:srgbClr val="1E2761"/>
                </a:solidFill>
                <a:latin typeface="Pretendard" pitchFamily="34" charset="0"/>
                <a:ea typeface="Pretendard" pitchFamily="34" charset="-122"/>
                <a:cs typeface="Pretendard" pitchFamily="34" charset="-120"/>
              </a:rPr>
              <a:t>보호관찰</a:t>
            </a:r>
            <a:r>
              <a:rPr lang="en-US" sz="1300" b="1" dirty="0">
                <a:solidFill>
                  <a:srgbClr val="1E2761"/>
                </a:solidFill>
                <a:latin typeface="Pretendard" pitchFamily="34" charset="0"/>
                <a:ea typeface="Pretendard" pitchFamily="34" charset="-122"/>
                <a:cs typeface="Pretendard" pitchFamily="34" charset="-120"/>
              </a:rPr>
              <a:t> </a:t>
            </a:r>
            <a:r>
              <a:rPr lang="ko-KR" altLang="en-US" sz="1300" b="1" dirty="0">
                <a:solidFill>
                  <a:srgbClr val="1E2761"/>
                </a:solidFill>
                <a:latin typeface="Pretendard" pitchFamily="34" charset="0"/>
                <a:ea typeface="Pretendard" pitchFamily="34" charset="-122"/>
                <a:cs typeface="Pretendard" pitchFamily="34" charset="-120"/>
              </a:rPr>
              <a:t>처분</a:t>
            </a:r>
            <a:r>
              <a:rPr lang="en-US" sz="1300" b="1" dirty="0">
                <a:solidFill>
                  <a:srgbClr val="1E2761"/>
                </a:solidFill>
                <a:latin typeface="Pretendard" pitchFamily="34" charset="0"/>
                <a:ea typeface="Pretendard" pitchFamily="34" charset="-122"/>
                <a:cs typeface="Pretendard" pitchFamily="34" charset="-120"/>
              </a:rPr>
              <a:t> </a:t>
            </a:r>
          </a:p>
          <a:p>
            <a:pPr marL="0" indent="0" algn="ctr">
              <a:lnSpc>
                <a:spcPts val="1900"/>
              </a:lnSpc>
              <a:buNone/>
            </a:pPr>
            <a:r>
              <a:rPr lang="ko-KR" altLang="en-US" sz="1300" b="1" dirty="0">
                <a:solidFill>
                  <a:srgbClr val="1E2761"/>
                </a:solidFill>
                <a:latin typeface="Pretendard" pitchFamily="34" charset="0"/>
                <a:ea typeface="Pretendard" pitchFamily="34" charset="-122"/>
                <a:cs typeface="Pretendard" pitchFamily="34" charset="-120"/>
              </a:rPr>
              <a:t>형의 선고에서의 보호관찰 명령</a:t>
            </a:r>
            <a:endParaRPr lang="en-US" sz="1300" dirty="0"/>
          </a:p>
        </p:txBody>
      </p:sp>
      <p:sp>
        <p:nvSpPr>
          <p:cNvPr id="10" name="Text 8"/>
          <p:cNvSpPr/>
          <p:nvPr/>
        </p:nvSpPr>
        <p:spPr>
          <a:xfrm>
            <a:off x="4053840" y="1920240"/>
            <a:ext cx="365760" cy="694944"/>
          </a:xfrm>
          <a:prstGeom prst="rect">
            <a:avLst/>
          </a:prstGeom>
          <a:noFill/>
          <a:ln/>
        </p:spPr>
        <p:txBody>
          <a:bodyPr wrap="square" lIns="0" tIns="0" rIns="0" bIns="0" rtlCol="0" anchor="ctr"/>
          <a:lstStyle/>
          <a:p>
            <a:pPr marL="0" indent="0" algn="ctr">
              <a:buNone/>
            </a:pPr>
            <a:r>
              <a:rPr lang="en-US" sz="1300" dirty="0">
                <a:solidFill>
                  <a:srgbClr val="6E7686"/>
                </a:solidFill>
                <a:latin typeface="Pretendard" pitchFamily="34" charset="0"/>
                <a:ea typeface="Pretendard" pitchFamily="34" charset="-122"/>
                <a:cs typeface="Pretendard" pitchFamily="34" charset="-120"/>
              </a:rPr>
              <a:t>→</a:t>
            </a:r>
            <a:endParaRPr lang="en-US" sz="1300" dirty="0"/>
          </a:p>
        </p:txBody>
      </p:sp>
      <p:sp>
        <p:nvSpPr>
          <p:cNvPr id="11" name="Shape 9"/>
          <p:cNvSpPr/>
          <p:nvPr/>
        </p:nvSpPr>
        <p:spPr>
          <a:xfrm>
            <a:off x="4419600" y="1920240"/>
            <a:ext cx="3322320" cy="694944"/>
          </a:xfrm>
          <a:prstGeom prst="rect">
            <a:avLst/>
          </a:prstGeom>
          <a:solidFill>
            <a:srgbClr val="F2F4F8"/>
          </a:solidFill>
          <a:ln w="12700">
            <a:solidFill>
              <a:srgbClr val="F2F4F8"/>
            </a:solidFill>
            <a:prstDash val="solid"/>
          </a:ln>
        </p:spPr>
        <p:txBody>
          <a:bodyPr/>
          <a:lstStyle/>
          <a:p>
            <a:endParaRPr lang="ko-KR" altLang="en-US"/>
          </a:p>
        </p:txBody>
      </p:sp>
      <p:sp>
        <p:nvSpPr>
          <p:cNvPr id="12" name="Text 10"/>
          <p:cNvSpPr/>
          <p:nvPr/>
        </p:nvSpPr>
        <p:spPr>
          <a:xfrm>
            <a:off x="4511040" y="1920240"/>
            <a:ext cx="3139440" cy="694944"/>
          </a:xfrm>
          <a:prstGeom prst="rect">
            <a:avLst/>
          </a:prstGeom>
          <a:noFill/>
          <a:ln/>
        </p:spPr>
        <p:txBody>
          <a:bodyPr wrap="square" lIns="0" tIns="0" rIns="0" bIns="0" rtlCol="0" anchor="ctr"/>
          <a:lstStyle/>
          <a:p>
            <a:pPr marL="0" indent="0" algn="ctr">
              <a:lnSpc>
                <a:spcPts val="1900"/>
              </a:lnSpc>
              <a:buNone/>
            </a:pPr>
            <a:r>
              <a:rPr lang="en-US" sz="1300" b="1" dirty="0">
                <a:solidFill>
                  <a:srgbClr val="1E2761"/>
                </a:solidFill>
                <a:latin typeface="Pretendard" pitchFamily="34" charset="0"/>
                <a:ea typeface="Pretendard" pitchFamily="34" charset="-122"/>
                <a:cs typeface="Pretendard" pitchFamily="34" charset="-120"/>
              </a:rPr>
              <a:t>보호관찰관의</a:t>
            </a:r>
            <a:endParaRPr lang="en-US" sz="1300" dirty="0"/>
          </a:p>
          <a:p>
            <a:pPr marL="0" indent="0" algn="ctr">
              <a:lnSpc>
                <a:spcPts val="1900"/>
              </a:lnSpc>
              <a:buNone/>
            </a:pPr>
            <a:r>
              <a:rPr lang="en-US" sz="1300" b="1" dirty="0">
                <a:solidFill>
                  <a:srgbClr val="1E2761"/>
                </a:solidFill>
                <a:latin typeface="Pretendard" pitchFamily="34" charset="0"/>
                <a:ea typeface="Pretendard" pitchFamily="34" charset="-122"/>
                <a:cs typeface="Pretendard" pitchFamily="34" charset="-120"/>
              </a:rPr>
              <a:t>지도 · 감독</a:t>
            </a:r>
            <a:endParaRPr lang="en-US" sz="1300" dirty="0"/>
          </a:p>
        </p:txBody>
      </p:sp>
      <p:sp>
        <p:nvSpPr>
          <p:cNvPr id="13" name="Text 11"/>
          <p:cNvSpPr/>
          <p:nvPr/>
        </p:nvSpPr>
        <p:spPr>
          <a:xfrm>
            <a:off x="7741920" y="1920240"/>
            <a:ext cx="365760" cy="694944"/>
          </a:xfrm>
          <a:prstGeom prst="rect">
            <a:avLst/>
          </a:prstGeom>
          <a:noFill/>
          <a:ln/>
        </p:spPr>
        <p:txBody>
          <a:bodyPr wrap="square" lIns="0" tIns="0" rIns="0" bIns="0" rtlCol="0" anchor="ctr"/>
          <a:lstStyle/>
          <a:p>
            <a:pPr marL="0" indent="0" algn="ctr">
              <a:buNone/>
            </a:pPr>
            <a:r>
              <a:rPr lang="en-US" sz="1300" dirty="0">
                <a:solidFill>
                  <a:srgbClr val="6E7686"/>
                </a:solidFill>
                <a:latin typeface="Pretendard" pitchFamily="34" charset="0"/>
                <a:ea typeface="Pretendard" pitchFamily="34" charset="-122"/>
                <a:cs typeface="Pretendard" pitchFamily="34" charset="-120"/>
              </a:rPr>
              <a:t>→</a:t>
            </a:r>
            <a:endParaRPr lang="en-US" sz="1300" dirty="0"/>
          </a:p>
        </p:txBody>
      </p:sp>
      <p:sp>
        <p:nvSpPr>
          <p:cNvPr id="14" name="Shape 12"/>
          <p:cNvSpPr/>
          <p:nvPr/>
        </p:nvSpPr>
        <p:spPr>
          <a:xfrm>
            <a:off x="8107680" y="1920240"/>
            <a:ext cx="3322320" cy="694944"/>
          </a:xfrm>
          <a:prstGeom prst="rect">
            <a:avLst/>
          </a:prstGeom>
          <a:solidFill>
            <a:srgbClr val="1E2761"/>
          </a:solidFill>
          <a:ln w="12700">
            <a:solidFill>
              <a:srgbClr val="1E2761"/>
            </a:solidFill>
            <a:prstDash val="solid"/>
          </a:ln>
        </p:spPr>
        <p:txBody>
          <a:bodyPr/>
          <a:lstStyle/>
          <a:p>
            <a:endParaRPr lang="ko-KR" altLang="en-US"/>
          </a:p>
        </p:txBody>
      </p:sp>
      <p:sp>
        <p:nvSpPr>
          <p:cNvPr id="15" name="Text 13"/>
          <p:cNvSpPr/>
          <p:nvPr/>
        </p:nvSpPr>
        <p:spPr>
          <a:xfrm>
            <a:off x="8199120" y="1920240"/>
            <a:ext cx="3139440" cy="694944"/>
          </a:xfrm>
          <a:prstGeom prst="rect">
            <a:avLst/>
          </a:prstGeom>
          <a:noFill/>
          <a:ln/>
        </p:spPr>
        <p:txBody>
          <a:bodyPr wrap="square" lIns="0" tIns="0" rIns="0" bIns="0" rtlCol="0" anchor="ctr"/>
          <a:lstStyle/>
          <a:p>
            <a:pPr marL="0" indent="0" algn="ctr">
              <a:lnSpc>
                <a:spcPts val="1900"/>
              </a:lnSpc>
              <a:buNone/>
            </a:pPr>
            <a:r>
              <a:rPr lang="en-US" sz="1300" b="1" dirty="0">
                <a:solidFill>
                  <a:srgbClr val="FFFFFF"/>
                </a:solidFill>
                <a:latin typeface="Pretendard" pitchFamily="34" charset="0"/>
                <a:ea typeface="Pretendard" pitchFamily="34" charset="-122"/>
                <a:cs typeface="Pretendard" pitchFamily="34" charset="-120"/>
              </a:rPr>
              <a:t>특별준수사항을</a:t>
            </a:r>
            <a:endParaRPr lang="en-US" sz="1300" dirty="0"/>
          </a:p>
          <a:p>
            <a:pPr marL="0" indent="0" algn="ctr">
              <a:lnSpc>
                <a:spcPts val="1900"/>
              </a:lnSpc>
              <a:buNone/>
            </a:pPr>
            <a:r>
              <a:rPr lang="en-US" sz="1300" b="1" dirty="0">
                <a:solidFill>
                  <a:srgbClr val="FFFFFF"/>
                </a:solidFill>
                <a:latin typeface="Pretendard" pitchFamily="34" charset="0"/>
                <a:ea typeface="Pretendard" pitchFamily="34" charset="-122"/>
                <a:cs typeface="Pretendard" pitchFamily="34" charset="-120"/>
              </a:rPr>
              <a:t>붙일 수 있음</a:t>
            </a:r>
            <a:endParaRPr lang="en-US" sz="1300" dirty="0"/>
          </a:p>
        </p:txBody>
      </p:sp>
      <p:sp>
        <p:nvSpPr>
          <p:cNvPr id="16" name="Shape 14"/>
          <p:cNvSpPr/>
          <p:nvPr/>
        </p:nvSpPr>
        <p:spPr>
          <a:xfrm>
            <a:off x="731520" y="2724912"/>
            <a:ext cx="3291840" cy="402336"/>
          </a:xfrm>
          <a:prstGeom prst="rect">
            <a:avLst/>
          </a:prstGeom>
          <a:solidFill>
            <a:srgbClr val="F2F4F8"/>
          </a:solidFill>
          <a:ln w="12700">
            <a:solidFill>
              <a:srgbClr val="DCE0E8"/>
            </a:solidFill>
            <a:prstDash val="solid"/>
          </a:ln>
        </p:spPr>
        <p:txBody>
          <a:bodyPr/>
          <a:lstStyle/>
          <a:p>
            <a:endParaRPr lang="ko-KR" altLang="en-US"/>
          </a:p>
        </p:txBody>
      </p:sp>
      <p:sp>
        <p:nvSpPr>
          <p:cNvPr id="17" name="Text 15"/>
          <p:cNvSpPr/>
          <p:nvPr/>
        </p:nvSpPr>
        <p:spPr>
          <a:xfrm>
            <a:off x="804672" y="2724912"/>
            <a:ext cx="3145536" cy="402336"/>
          </a:xfrm>
          <a:prstGeom prst="rect">
            <a:avLst/>
          </a:prstGeom>
          <a:noFill/>
          <a:ln/>
        </p:spPr>
        <p:txBody>
          <a:bodyPr wrap="square" lIns="0" tIns="0" rIns="0" bIns="0" rtlCol="0" anchor="ctr"/>
          <a:lstStyle/>
          <a:p>
            <a:pPr marL="0" indent="0" algn="ctr">
              <a:buNone/>
            </a:pPr>
            <a:r>
              <a:rPr lang="en-US" sz="1250" b="1" dirty="0">
                <a:solidFill>
                  <a:srgbClr val="1E2761"/>
                </a:solidFill>
                <a:latin typeface="Pretendard" pitchFamily="34" charset="0"/>
                <a:ea typeface="Pretendard" pitchFamily="34" charset="-122"/>
                <a:cs typeface="Pretendard" pitchFamily="34" charset="-120"/>
              </a:rPr>
              <a:t>실제로 붙일 수 있는 내용</a:t>
            </a:r>
            <a:endParaRPr lang="en-US" sz="1250" dirty="0"/>
          </a:p>
        </p:txBody>
      </p:sp>
      <p:sp>
        <p:nvSpPr>
          <p:cNvPr id="18" name="Shape 16"/>
          <p:cNvSpPr/>
          <p:nvPr/>
        </p:nvSpPr>
        <p:spPr>
          <a:xfrm>
            <a:off x="4023360" y="2724912"/>
            <a:ext cx="7406640" cy="402336"/>
          </a:xfrm>
          <a:prstGeom prst="rect">
            <a:avLst/>
          </a:prstGeom>
          <a:solidFill>
            <a:srgbClr val="F2F4F8"/>
          </a:solidFill>
          <a:ln w="12700">
            <a:solidFill>
              <a:srgbClr val="DCE0E8"/>
            </a:solidFill>
            <a:prstDash val="solid"/>
          </a:ln>
        </p:spPr>
        <p:txBody>
          <a:bodyPr/>
          <a:lstStyle/>
          <a:p>
            <a:endParaRPr lang="ko-KR" altLang="en-US"/>
          </a:p>
        </p:txBody>
      </p:sp>
      <p:sp>
        <p:nvSpPr>
          <p:cNvPr id="19" name="Text 17"/>
          <p:cNvSpPr/>
          <p:nvPr/>
        </p:nvSpPr>
        <p:spPr>
          <a:xfrm>
            <a:off x="4096512" y="2724912"/>
            <a:ext cx="7260336" cy="402336"/>
          </a:xfrm>
          <a:prstGeom prst="rect">
            <a:avLst/>
          </a:prstGeom>
          <a:noFill/>
          <a:ln/>
        </p:spPr>
        <p:txBody>
          <a:bodyPr wrap="square" lIns="0" tIns="0" rIns="0" bIns="0" rtlCol="0" anchor="ctr"/>
          <a:lstStyle/>
          <a:p>
            <a:pPr marL="0" indent="0" algn="ctr">
              <a:buNone/>
            </a:pPr>
            <a:r>
              <a:rPr lang="en-US" sz="1250" b="1" dirty="0">
                <a:solidFill>
                  <a:srgbClr val="1E2761"/>
                </a:solidFill>
                <a:latin typeface="Pretendard" pitchFamily="34" charset="0"/>
                <a:ea typeface="Pretendard" pitchFamily="34" charset="-122"/>
                <a:cs typeface="Pretendard" pitchFamily="34" charset="-120"/>
              </a:rPr>
              <a:t>어떻게 작동하나</a:t>
            </a:r>
            <a:endParaRPr lang="en-US" sz="1250" dirty="0"/>
          </a:p>
        </p:txBody>
      </p:sp>
      <p:sp>
        <p:nvSpPr>
          <p:cNvPr id="20" name="Shape 18"/>
          <p:cNvSpPr/>
          <p:nvPr/>
        </p:nvSpPr>
        <p:spPr>
          <a:xfrm>
            <a:off x="731520" y="3127248"/>
            <a:ext cx="3291840" cy="493776"/>
          </a:xfrm>
          <a:prstGeom prst="rect">
            <a:avLst/>
          </a:prstGeom>
          <a:solidFill>
            <a:srgbClr val="FFFFFF"/>
          </a:solidFill>
          <a:ln w="12700">
            <a:solidFill>
              <a:srgbClr val="DCE0E8"/>
            </a:solidFill>
            <a:prstDash val="solid"/>
          </a:ln>
        </p:spPr>
        <p:txBody>
          <a:bodyPr/>
          <a:lstStyle/>
          <a:p>
            <a:endParaRPr lang="ko-KR" altLang="en-US"/>
          </a:p>
        </p:txBody>
      </p:sp>
      <p:sp>
        <p:nvSpPr>
          <p:cNvPr id="21" name="Text 19"/>
          <p:cNvSpPr/>
          <p:nvPr/>
        </p:nvSpPr>
        <p:spPr>
          <a:xfrm>
            <a:off x="859536" y="3127248"/>
            <a:ext cx="3035808" cy="493776"/>
          </a:xfrm>
          <a:prstGeom prst="rect">
            <a:avLst/>
          </a:prstGeom>
          <a:noFill/>
          <a:ln/>
        </p:spPr>
        <p:txBody>
          <a:bodyPr wrap="square" lIns="0" tIns="0" rIns="0" bIns="0" rtlCol="0" anchor="ctr"/>
          <a:lstStyle/>
          <a:p>
            <a:pPr marL="0" indent="0" algn="ctr">
              <a:buNone/>
            </a:pPr>
            <a:r>
              <a:rPr lang="en-US" sz="1350" b="1" dirty="0">
                <a:solidFill>
                  <a:srgbClr val="1E2761"/>
                </a:solidFill>
                <a:latin typeface="Pretendard" pitchFamily="34" charset="0"/>
                <a:ea typeface="Pretendard" pitchFamily="34" charset="-122"/>
                <a:cs typeface="Pretendard" pitchFamily="34" charset="-120"/>
              </a:rPr>
              <a:t>마약류 사용 금지</a:t>
            </a:r>
            <a:endParaRPr lang="en-US" sz="1350" dirty="0"/>
          </a:p>
        </p:txBody>
      </p:sp>
      <p:sp>
        <p:nvSpPr>
          <p:cNvPr id="22" name="Shape 20"/>
          <p:cNvSpPr/>
          <p:nvPr/>
        </p:nvSpPr>
        <p:spPr>
          <a:xfrm>
            <a:off x="4023360" y="3127248"/>
            <a:ext cx="7406640" cy="493776"/>
          </a:xfrm>
          <a:prstGeom prst="rect">
            <a:avLst/>
          </a:prstGeom>
          <a:solidFill>
            <a:srgbClr val="FFFFFF"/>
          </a:solidFill>
          <a:ln w="12700">
            <a:solidFill>
              <a:srgbClr val="DCE0E8"/>
            </a:solidFill>
            <a:prstDash val="solid"/>
          </a:ln>
        </p:spPr>
        <p:txBody>
          <a:bodyPr/>
          <a:lstStyle/>
          <a:p>
            <a:endParaRPr lang="ko-KR" altLang="en-US"/>
          </a:p>
        </p:txBody>
      </p:sp>
      <p:sp>
        <p:nvSpPr>
          <p:cNvPr id="23" name="Text 21"/>
          <p:cNvSpPr/>
          <p:nvPr/>
        </p:nvSpPr>
        <p:spPr>
          <a:xfrm>
            <a:off x="4242816" y="3127248"/>
            <a:ext cx="6967728" cy="493776"/>
          </a:xfrm>
          <a:prstGeom prst="rect">
            <a:avLst/>
          </a:prstGeom>
          <a:noFill/>
          <a:ln/>
        </p:spPr>
        <p:txBody>
          <a:bodyPr wrap="square" lIns="0" tIns="0" rIns="0" bIns="0" rtlCol="0" anchor="ctr"/>
          <a:lstStyle/>
          <a:p>
            <a:pPr marL="0" indent="0">
              <a:lnSpc>
                <a:spcPts val="1800"/>
              </a:lnSpc>
              <a:buNone/>
            </a:pPr>
            <a:r>
              <a:rPr lang="en-US" sz="1250" b="1" dirty="0">
                <a:solidFill>
                  <a:srgbClr val="222633"/>
                </a:solidFill>
                <a:highlight>
                  <a:srgbClr val="FFFF00"/>
                </a:highlight>
                <a:latin typeface="Pretendard" pitchFamily="34" charset="0"/>
                <a:ea typeface="Pretendard" pitchFamily="34" charset="-122"/>
                <a:cs typeface="Pretendard" pitchFamily="34" charset="-120"/>
              </a:rPr>
              <a:t>특별준수사항으로 “</a:t>
            </a:r>
            <a:r>
              <a:rPr lang="en-US" sz="1250" b="1" dirty="0" err="1">
                <a:solidFill>
                  <a:srgbClr val="222633"/>
                </a:solidFill>
                <a:highlight>
                  <a:srgbClr val="FFFF00"/>
                </a:highlight>
                <a:latin typeface="Pretendard" pitchFamily="34" charset="0"/>
                <a:ea typeface="Pretendard" pitchFamily="34" charset="-122"/>
                <a:cs typeface="Pretendard" pitchFamily="34" charset="-120"/>
              </a:rPr>
              <a:t>마약</a:t>
            </a:r>
            <a:r>
              <a:rPr lang="en-US" sz="1250" b="1" dirty="0">
                <a:solidFill>
                  <a:srgbClr val="222633"/>
                </a:solidFill>
                <a:highlight>
                  <a:srgbClr val="FFFF00"/>
                </a:highlight>
                <a:latin typeface="Pretendard" pitchFamily="34" charset="0"/>
                <a:ea typeface="Pretendard" pitchFamily="34" charset="-122"/>
                <a:cs typeface="Pretendard" pitchFamily="34" charset="-120"/>
              </a:rPr>
              <a:t> 등 중독성 있는 물질을 사용하지 않을 것”을 부과할 수 있다</a:t>
            </a:r>
            <a:endParaRPr lang="en-US" sz="1250" b="1" dirty="0">
              <a:highlight>
                <a:srgbClr val="FFFF00"/>
              </a:highlight>
            </a:endParaRPr>
          </a:p>
        </p:txBody>
      </p:sp>
      <p:sp>
        <p:nvSpPr>
          <p:cNvPr id="24" name="Shape 22"/>
          <p:cNvSpPr/>
          <p:nvPr/>
        </p:nvSpPr>
        <p:spPr>
          <a:xfrm>
            <a:off x="731520" y="3621024"/>
            <a:ext cx="3291840" cy="493776"/>
          </a:xfrm>
          <a:prstGeom prst="rect">
            <a:avLst/>
          </a:prstGeom>
          <a:solidFill>
            <a:srgbClr val="FFFFFF"/>
          </a:solidFill>
          <a:ln w="12700">
            <a:solidFill>
              <a:srgbClr val="DCE0E8"/>
            </a:solidFill>
            <a:prstDash val="solid"/>
          </a:ln>
        </p:spPr>
        <p:txBody>
          <a:bodyPr/>
          <a:lstStyle/>
          <a:p>
            <a:endParaRPr lang="ko-KR" altLang="en-US"/>
          </a:p>
        </p:txBody>
      </p:sp>
      <p:sp>
        <p:nvSpPr>
          <p:cNvPr id="25" name="Text 23"/>
          <p:cNvSpPr/>
          <p:nvPr/>
        </p:nvSpPr>
        <p:spPr>
          <a:xfrm>
            <a:off x="859536" y="3621024"/>
            <a:ext cx="2503290" cy="493776"/>
          </a:xfrm>
          <a:prstGeom prst="rect">
            <a:avLst/>
          </a:prstGeom>
          <a:noFill/>
          <a:ln/>
        </p:spPr>
        <p:txBody>
          <a:bodyPr wrap="square" lIns="0" tIns="0" rIns="0" bIns="0" rtlCol="0" anchor="ctr"/>
          <a:lstStyle/>
          <a:p>
            <a:pPr marL="0" indent="0" algn="ctr">
              <a:buNone/>
            </a:pPr>
            <a:r>
              <a:rPr lang="en-US" sz="1350" b="1" dirty="0">
                <a:solidFill>
                  <a:srgbClr val="1E2761"/>
                </a:solidFill>
                <a:latin typeface="Pretendard" pitchFamily="34" charset="0"/>
                <a:ea typeface="Pretendard" pitchFamily="34" charset="-122"/>
                <a:cs typeface="Pretendard" pitchFamily="34" charset="-120"/>
              </a:rPr>
              <a:t>약물검사</a:t>
            </a:r>
            <a:endParaRPr lang="en-US" sz="1350" dirty="0"/>
          </a:p>
        </p:txBody>
      </p:sp>
      <p:sp>
        <p:nvSpPr>
          <p:cNvPr id="26" name="Shape 24"/>
          <p:cNvSpPr/>
          <p:nvPr/>
        </p:nvSpPr>
        <p:spPr>
          <a:xfrm>
            <a:off x="4023360" y="3621024"/>
            <a:ext cx="7406640" cy="493776"/>
          </a:xfrm>
          <a:prstGeom prst="rect">
            <a:avLst/>
          </a:prstGeom>
          <a:solidFill>
            <a:srgbClr val="FFFFFF"/>
          </a:solidFill>
          <a:ln w="12700">
            <a:solidFill>
              <a:srgbClr val="DCE0E8"/>
            </a:solidFill>
            <a:prstDash val="solid"/>
          </a:ln>
        </p:spPr>
        <p:txBody>
          <a:bodyPr/>
          <a:lstStyle/>
          <a:p>
            <a:endParaRPr lang="ko-KR" altLang="en-US"/>
          </a:p>
        </p:txBody>
      </p:sp>
      <p:sp>
        <p:nvSpPr>
          <p:cNvPr id="27" name="Text 25"/>
          <p:cNvSpPr/>
          <p:nvPr/>
        </p:nvSpPr>
        <p:spPr>
          <a:xfrm>
            <a:off x="4242816" y="3621024"/>
            <a:ext cx="6967728" cy="493776"/>
          </a:xfrm>
          <a:prstGeom prst="rect">
            <a:avLst/>
          </a:prstGeom>
          <a:noFill/>
          <a:ln/>
        </p:spPr>
        <p:txBody>
          <a:bodyPr wrap="square" lIns="0" tIns="0" rIns="0" bIns="0" rtlCol="0" anchor="ctr"/>
          <a:lstStyle/>
          <a:p>
            <a:pPr marL="0" indent="0">
              <a:lnSpc>
                <a:spcPts val="1800"/>
              </a:lnSpc>
              <a:buNone/>
            </a:pPr>
            <a:r>
              <a:rPr lang="en-US" sz="1250" b="1" dirty="0">
                <a:solidFill>
                  <a:srgbClr val="222633"/>
                </a:solidFill>
                <a:highlight>
                  <a:srgbClr val="FFFF00"/>
                </a:highlight>
                <a:latin typeface="Pretendard" pitchFamily="34" charset="0"/>
                <a:ea typeface="Pretendard" pitchFamily="34" charset="-122"/>
                <a:cs typeface="Pretendard" pitchFamily="34" charset="-120"/>
              </a:rPr>
              <a:t>마약류 투약 · 흡연 · 섭취 여부 검사에 따를 것을 부과할 수 있다</a:t>
            </a:r>
            <a:endParaRPr lang="en-US" sz="1250" b="1" dirty="0">
              <a:highlight>
                <a:srgbClr val="FFFF00"/>
              </a:highlight>
            </a:endParaRPr>
          </a:p>
        </p:txBody>
      </p:sp>
      <p:sp>
        <p:nvSpPr>
          <p:cNvPr id="28" name="Shape 26"/>
          <p:cNvSpPr/>
          <p:nvPr/>
        </p:nvSpPr>
        <p:spPr>
          <a:xfrm>
            <a:off x="731520" y="4114800"/>
            <a:ext cx="3291840" cy="493776"/>
          </a:xfrm>
          <a:prstGeom prst="rect">
            <a:avLst/>
          </a:prstGeom>
          <a:solidFill>
            <a:srgbClr val="FFFFFF"/>
          </a:solidFill>
          <a:ln w="12700">
            <a:solidFill>
              <a:srgbClr val="DCE0E8"/>
            </a:solidFill>
            <a:prstDash val="solid"/>
          </a:ln>
        </p:spPr>
        <p:txBody>
          <a:bodyPr/>
          <a:lstStyle/>
          <a:p>
            <a:endParaRPr lang="ko-KR" altLang="en-US"/>
          </a:p>
        </p:txBody>
      </p:sp>
      <p:sp>
        <p:nvSpPr>
          <p:cNvPr id="29" name="Text 27"/>
          <p:cNvSpPr/>
          <p:nvPr/>
        </p:nvSpPr>
        <p:spPr>
          <a:xfrm>
            <a:off x="1215188" y="4114800"/>
            <a:ext cx="2680155" cy="493776"/>
          </a:xfrm>
          <a:prstGeom prst="rect">
            <a:avLst/>
          </a:prstGeom>
          <a:noFill/>
          <a:ln/>
        </p:spPr>
        <p:txBody>
          <a:bodyPr wrap="square" lIns="0" tIns="0" rIns="0" bIns="0" rtlCol="0" anchor="ctr"/>
          <a:lstStyle/>
          <a:p>
            <a:pPr marL="0" indent="0" algn="ctr">
              <a:buNone/>
            </a:pPr>
            <a:r>
              <a:rPr lang="en-US" sz="1350" b="1" dirty="0">
                <a:solidFill>
                  <a:srgbClr val="1E2761"/>
                </a:solidFill>
                <a:latin typeface="Pretendard" pitchFamily="34" charset="0"/>
                <a:ea typeface="Pretendard" pitchFamily="34" charset="-122"/>
                <a:cs typeface="Pretendard" pitchFamily="34" charset="-120"/>
              </a:rPr>
              <a:t>치료 · 상담 · 프로그램</a:t>
            </a:r>
            <a:endParaRPr lang="en-US" sz="1350" dirty="0"/>
          </a:p>
        </p:txBody>
      </p:sp>
      <p:sp>
        <p:nvSpPr>
          <p:cNvPr id="30" name="Shape 28"/>
          <p:cNvSpPr/>
          <p:nvPr/>
        </p:nvSpPr>
        <p:spPr>
          <a:xfrm>
            <a:off x="4023360" y="4114800"/>
            <a:ext cx="7406640" cy="493776"/>
          </a:xfrm>
          <a:prstGeom prst="rect">
            <a:avLst/>
          </a:prstGeom>
          <a:solidFill>
            <a:srgbClr val="FFFFFF"/>
          </a:solidFill>
          <a:ln w="12700">
            <a:solidFill>
              <a:srgbClr val="DCE0E8"/>
            </a:solidFill>
            <a:prstDash val="solid"/>
          </a:ln>
        </p:spPr>
        <p:txBody>
          <a:bodyPr/>
          <a:lstStyle/>
          <a:p>
            <a:endParaRPr lang="ko-KR" altLang="en-US" dirty="0"/>
          </a:p>
        </p:txBody>
      </p:sp>
      <p:sp>
        <p:nvSpPr>
          <p:cNvPr id="31" name="Text 29"/>
          <p:cNvSpPr/>
          <p:nvPr/>
        </p:nvSpPr>
        <p:spPr>
          <a:xfrm>
            <a:off x="4242816" y="4114800"/>
            <a:ext cx="6967728" cy="493776"/>
          </a:xfrm>
          <a:prstGeom prst="rect">
            <a:avLst/>
          </a:prstGeom>
          <a:noFill/>
          <a:ln/>
        </p:spPr>
        <p:txBody>
          <a:bodyPr wrap="square" lIns="0" tIns="0" rIns="0" bIns="0" rtlCol="0" anchor="ctr"/>
          <a:lstStyle/>
          <a:p>
            <a:pPr marL="0" indent="0">
              <a:lnSpc>
                <a:spcPts val="1800"/>
              </a:lnSpc>
              <a:buNone/>
            </a:pPr>
            <a:r>
              <a:rPr lang="en-US" sz="1250" b="1" dirty="0">
                <a:solidFill>
                  <a:srgbClr val="222633"/>
                </a:solidFill>
                <a:highlight>
                  <a:srgbClr val="FFFF00"/>
                </a:highlight>
                <a:latin typeface="Pretendard" pitchFamily="34" charset="0"/>
                <a:ea typeface="Pretendard" pitchFamily="34" charset="-122"/>
                <a:cs typeface="Pretendard" pitchFamily="34" charset="-120"/>
              </a:rPr>
              <a:t>교육 · 치료 · 처우 프로그램에 관한 보호관찰관의 지시에 따를 것을 부과할 수 있다</a:t>
            </a:r>
            <a:endParaRPr lang="en-US" sz="1250" b="1" dirty="0">
              <a:highlight>
                <a:srgbClr val="FFFF00"/>
              </a:highlight>
            </a:endParaRPr>
          </a:p>
        </p:txBody>
      </p:sp>
      <p:sp>
        <p:nvSpPr>
          <p:cNvPr id="32" name="Shape 30"/>
          <p:cNvSpPr/>
          <p:nvPr/>
        </p:nvSpPr>
        <p:spPr>
          <a:xfrm>
            <a:off x="731520" y="4608576"/>
            <a:ext cx="3291840" cy="493776"/>
          </a:xfrm>
          <a:prstGeom prst="rect">
            <a:avLst/>
          </a:prstGeom>
          <a:solidFill>
            <a:srgbClr val="FFFFFF"/>
          </a:solidFill>
          <a:ln w="12700">
            <a:solidFill>
              <a:srgbClr val="DCE0E8"/>
            </a:solidFill>
            <a:prstDash val="solid"/>
          </a:ln>
        </p:spPr>
        <p:txBody>
          <a:bodyPr/>
          <a:lstStyle/>
          <a:p>
            <a:endParaRPr lang="ko-KR" altLang="en-US"/>
          </a:p>
        </p:txBody>
      </p:sp>
      <p:sp>
        <p:nvSpPr>
          <p:cNvPr id="33" name="Text 31"/>
          <p:cNvSpPr/>
          <p:nvPr/>
        </p:nvSpPr>
        <p:spPr>
          <a:xfrm>
            <a:off x="859536" y="4608576"/>
            <a:ext cx="2599543" cy="493776"/>
          </a:xfrm>
          <a:prstGeom prst="rect">
            <a:avLst/>
          </a:prstGeom>
          <a:noFill/>
          <a:ln/>
        </p:spPr>
        <p:txBody>
          <a:bodyPr wrap="square" lIns="0" tIns="0" rIns="0" bIns="0" rtlCol="0" anchor="ctr"/>
          <a:lstStyle/>
          <a:p>
            <a:pPr marL="0" indent="0" algn="ctr">
              <a:buNone/>
            </a:pPr>
            <a:r>
              <a:rPr lang="en-US" sz="1350" b="1" dirty="0">
                <a:solidFill>
                  <a:srgbClr val="1E2761"/>
                </a:solidFill>
                <a:latin typeface="Pretendard" pitchFamily="34" charset="0"/>
                <a:ea typeface="Pretendard" pitchFamily="34" charset="-122"/>
                <a:cs typeface="Pretendard" pitchFamily="34" charset="-120"/>
              </a:rPr>
              <a:t>이행 확인</a:t>
            </a:r>
            <a:endParaRPr lang="en-US" sz="1350" dirty="0"/>
          </a:p>
        </p:txBody>
      </p:sp>
      <p:sp>
        <p:nvSpPr>
          <p:cNvPr id="34" name="Shape 32"/>
          <p:cNvSpPr/>
          <p:nvPr/>
        </p:nvSpPr>
        <p:spPr>
          <a:xfrm>
            <a:off x="4023360" y="4608576"/>
            <a:ext cx="7406640" cy="493776"/>
          </a:xfrm>
          <a:prstGeom prst="rect">
            <a:avLst/>
          </a:prstGeom>
          <a:solidFill>
            <a:srgbClr val="FFFFFF"/>
          </a:solidFill>
          <a:ln w="12700">
            <a:solidFill>
              <a:srgbClr val="DCE0E8"/>
            </a:solidFill>
            <a:prstDash val="solid"/>
          </a:ln>
        </p:spPr>
        <p:txBody>
          <a:bodyPr/>
          <a:lstStyle/>
          <a:p>
            <a:endParaRPr lang="ko-KR" altLang="en-US"/>
          </a:p>
        </p:txBody>
      </p:sp>
      <p:sp>
        <p:nvSpPr>
          <p:cNvPr id="35" name="Text 33"/>
          <p:cNvSpPr/>
          <p:nvPr/>
        </p:nvSpPr>
        <p:spPr>
          <a:xfrm>
            <a:off x="4242816" y="4608576"/>
            <a:ext cx="6967728" cy="493776"/>
          </a:xfrm>
          <a:prstGeom prst="rect">
            <a:avLst/>
          </a:prstGeom>
          <a:noFill/>
          <a:ln/>
        </p:spPr>
        <p:txBody>
          <a:bodyPr wrap="square" lIns="0" tIns="0" rIns="0" bIns="0" rtlCol="0" anchor="ctr"/>
          <a:lstStyle/>
          <a:p>
            <a:pPr marL="0" indent="0">
              <a:lnSpc>
                <a:spcPts val="1800"/>
              </a:lnSpc>
              <a:buNone/>
            </a:pPr>
            <a:r>
              <a:rPr lang="en-US" sz="1250" dirty="0">
                <a:solidFill>
                  <a:srgbClr val="222633"/>
                </a:solidFill>
                <a:latin typeface="Pretendard" pitchFamily="34" charset="0"/>
                <a:ea typeface="Pretendard" pitchFamily="34" charset="-122"/>
                <a:cs typeface="Pretendard" pitchFamily="34" charset="-120"/>
              </a:rPr>
              <a:t>보호관찰관이 지도 · 감독하면서 준수 여부를 확인한다</a:t>
            </a:r>
            <a:endParaRPr lang="en-US" sz="1250" dirty="0"/>
          </a:p>
        </p:txBody>
      </p:sp>
      <p:sp>
        <p:nvSpPr>
          <p:cNvPr id="36" name="Shape 34"/>
          <p:cNvSpPr/>
          <p:nvPr/>
        </p:nvSpPr>
        <p:spPr>
          <a:xfrm>
            <a:off x="731520" y="5577840"/>
            <a:ext cx="10698480" cy="457200"/>
          </a:xfrm>
          <a:prstGeom prst="rect">
            <a:avLst/>
          </a:prstGeom>
          <a:solidFill>
            <a:srgbClr val="1E2761"/>
          </a:solidFill>
          <a:ln w="12700">
            <a:solidFill>
              <a:srgbClr val="1E2761"/>
            </a:solidFill>
            <a:prstDash val="solid"/>
          </a:ln>
        </p:spPr>
        <p:txBody>
          <a:bodyPr/>
          <a:lstStyle/>
          <a:p>
            <a:endParaRPr lang="ko-KR" altLang="en-US"/>
          </a:p>
        </p:txBody>
      </p:sp>
      <p:sp>
        <p:nvSpPr>
          <p:cNvPr id="37" name="Text 35"/>
          <p:cNvSpPr/>
          <p:nvPr/>
        </p:nvSpPr>
        <p:spPr>
          <a:xfrm>
            <a:off x="1005840" y="5577840"/>
            <a:ext cx="10149840" cy="457200"/>
          </a:xfrm>
          <a:prstGeom prst="rect">
            <a:avLst/>
          </a:prstGeom>
          <a:noFill/>
          <a:ln/>
        </p:spPr>
        <p:txBody>
          <a:bodyPr wrap="square" lIns="0" tIns="0" rIns="0" bIns="0" rtlCol="0" anchor="ctr"/>
          <a:lstStyle/>
          <a:p>
            <a:pPr marL="0" indent="0" algn="ctr">
              <a:buNone/>
            </a:pPr>
            <a:r>
              <a:rPr lang="en-US" sz="1350" b="1" dirty="0">
                <a:solidFill>
                  <a:srgbClr val="FFFFFF"/>
                </a:solidFill>
                <a:latin typeface="Pretendard" pitchFamily="34" charset="0"/>
                <a:ea typeface="Pretendard" pitchFamily="34" charset="-122"/>
                <a:cs typeface="Pretendard" pitchFamily="34" charset="-120"/>
              </a:rPr>
              <a:t>보호관찰은 감독만 하는 처분이 아니라, 지역사회 생활을 </a:t>
            </a:r>
            <a:r>
              <a:rPr lang="en-US" sz="1350" b="1" dirty="0" err="1">
                <a:solidFill>
                  <a:srgbClr val="FFFFFF"/>
                </a:solidFill>
                <a:latin typeface="Pretendard" pitchFamily="34" charset="0"/>
                <a:ea typeface="Pretendard" pitchFamily="34" charset="-122"/>
                <a:cs typeface="Pretendard" pitchFamily="34" charset="-120"/>
              </a:rPr>
              <a:t>유지하면서</a:t>
            </a:r>
            <a:r>
              <a:rPr lang="en-US" sz="1350" b="1" dirty="0">
                <a:solidFill>
                  <a:srgbClr val="FFFFFF"/>
                </a:solidFill>
                <a:latin typeface="Pretendard" pitchFamily="34" charset="0"/>
                <a:ea typeface="Pretendard" pitchFamily="34" charset="-122"/>
                <a:cs typeface="Pretendard" pitchFamily="34" charset="-120"/>
              </a:rPr>
              <a:t> </a:t>
            </a:r>
            <a:r>
              <a:rPr lang="ko-KR" altLang="en-US" sz="1350" b="1" dirty="0">
                <a:solidFill>
                  <a:srgbClr val="FFFFFF"/>
                </a:solidFill>
                <a:latin typeface="Pretendard" pitchFamily="34" charset="0"/>
                <a:ea typeface="Pretendard" pitchFamily="34" charset="-122"/>
                <a:cs typeface="Pretendard" pitchFamily="34" charset="-120"/>
              </a:rPr>
              <a:t>물질 </a:t>
            </a:r>
            <a:r>
              <a:rPr lang="en-US" sz="1350" b="1" dirty="0" err="1">
                <a:solidFill>
                  <a:srgbClr val="FFFFFF"/>
                </a:solidFill>
                <a:latin typeface="Pretendard" pitchFamily="34" charset="0"/>
                <a:ea typeface="Pretendard" pitchFamily="34" charset="-122"/>
                <a:cs typeface="Pretendard" pitchFamily="34" charset="-120"/>
              </a:rPr>
              <a:t>사용</a:t>
            </a:r>
            <a:r>
              <a:rPr lang="en-US" sz="1350" b="1" dirty="0">
                <a:solidFill>
                  <a:srgbClr val="FFFFFF"/>
                </a:solidFill>
                <a:latin typeface="Pretendard" pitchFamily="34" charset="0"/>
                <a:ea typeface="Pretendard" pitchFamily="34" charset="-122"/>
                <a:cs typeface="Pretendard" pitchFamily="34" charset="-120"/>
              </a:rPr>
              <a:t> 중단 · 검사 · 치료 참여를 함께 관리할 수 있는 틀입니다</a:t>
            </a:r>
            <a:endParaRPr lang="en-US" sz="1350" dirty="0"/>
          </a:p>
        </p:txBody>
      </p:sp>
      <p:sp>
        <p:nvSpPr>
          <p:cNvPr id="38" name="Shape 36"/>
          <p:cNvSpPr/>
          <p:nvPr/>
        </p:nvSpPr>
        <p:spPr>
          <a:xfrm>
            <a:off x="731520" y="6153912"/>
            <a:ext cx="10698480" cy="0"/>
          </a:xfrm>
          <a:prstGeom prst="line">
            <a:avLst/>
          </a:prstGeom>
          <a:noFill/>
          <a:ln w="12700">
            <a:solidFill>
              <a:srgbClr val="DCE0E8"/>
            </a:solidFill>
            <a:prstDash val="solid"/>
          </a:ln>
        </p:spPr>
        <p:txBody>
          <a:bodyPr/>
          <a:lstStyle/>
          <a:p>
            <a:endParaRPr lang="ko-KR" altLang="en-US"/>
          </a:p>
        </p:txBody>
      </p:sp>
      <p:sp>
        <p:nvSpPr>
          <p:cNvPr id="40" name="TextBox 39"/>
          <p:cNvSpPr txBox="1"/>
          <p:nvPr/>
        </p:nvSpPr>
        <p:spPr>
          <a:xfrm>
            <a:off x="731520" y="5193792"/>
            <a:ext cx="10698480" cy="274320"/>
          </a:xfrm>
          <a:prstGeom prst="rect">
            <a:avLst/>
          </a:prstGeom>
          <a:noFill/>
        </p:spPr>
        <p:txBody>
          <a:bodyPr wrap="square" lIns="0" tIns="0" rIns="0" bIns="0">
            <a:spAutoFit/>
          </a:bodyPr>
          <a:lstStyle/>
          <a:p>
            <a:r>
              <a:rPr sz="1100" b="1">
                <a:solidFill>
                  <a:srgbClr val="A8871C"/>
                </a:solidFill>
                <a:latin typeface="Pretendard"/>
              </a:rPr>
              <a:t>법적 감독   </a:t>
            </a:r>
            <a:r>
              <a:rPr sz="1150">
                <a:solidFill>
                  <a:srgbClr val="222633"/>
                </a:solidFill>
                <a:latin typeface="Pretendard"/>
              </a:rPr>
              <a:t>치료·재활 참여와 조건 이행을 확인하고, 지키지 않을 때 후속조치를 결정하는 장치</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1. 논제의 범위와 현행 대응</a:t>
            </a:r>
            <a:endParaRPr lang="en-US" sz="1250" dirty="0"/>
          </a:p>
        </p:txBody>
      </p:sp>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형사재판과 재활교육</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pPr marL="0" indent="0">
              <a:buNone/>
            </a:pPr>
            <a:r>
              <a:rPr lang="en-US" sz="2700" b="1" dirty="0" err="1">
                <a:solidFill>
                  <a:srgbClr val="1E2761"/>
                </a:solidFill>
                <a:latin typeface="Pretendard" pitchFamily="34" charset="0"/>
                <a:ea typeface="Pretendard" pitchFamily="34" charset="-122"/>
                <a:cs typeface="Pretendard" pitchFamily="34" charset="-120"/>
              </a:rPr>
              <a:t>소년부의</a:t>
            </a:r>
            <a:r>
              <a:rPr lang="en-US" sz="2700" b="1" dirty="0">
                <a:solidFill>
                  <a:srgbClr val="1E2761"/>
                </a:solidFill>
                <a:latin typeface="Pretendard" pitchFamily="34" charset="0"/>
                <a:ea typeface="Pretendard" pitchFamily="34" charset="-122"/>
                <a:cs typeface="Pretendard" pitchFamily="34" charset="-120"/>
              </a:rPr>
              <a:t> 치료·교육 처분 — 수강명령과 의료위탁</a:t>
            </a:r>
            <a:endParaRPr lang="en-US" sz="2700" dirty="0"/>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353312"/>
            <a:ext cx="10698480" cy="438912"/>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987552" y="1353312"/>
            <a:ext cx="10186416" cy="438912"/>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소년부 보호처분에는 프로그램 참여를 명하는 수강명령과, 의료적 치료·요양이 필요한 소년을 기관에 위탁하는 의료위탁이 별도로 마련되어 있다</a:t>
            </a:r>
            <a:endParaRPr lang="en-US" sz="1250" dirty="0"/>
          </a:p>
        </p:txBody>
      </p:sp>
      <p:sp>
        <p:nvSpPr>
          <p:cNvPr id="8" name="Shape 6"/>
          <p:cNvSpPr/>
          <p:nvPr/>
        </p:nvSpPr>
        <p:spPr>
          <a:xfrm>
            <a:off x="731520" y="1956816"/>
            <a:ext cx="5166360" cy="658368"/>
          </a:xfrm>
          <a:prstGeom prst="rect">
            <a:avLst/>
          </a:prstGeom>
          <a:solidFill>
            <a:srgbClr val="1E2761"/>
          </a:solidFill>
          <a:ln w="12700">
            <a:solidFill>
              <a:srgbClr val="1E2761"/>
            </a:solidFill>
            <a:prstDash val="solid"/>
          </a:ln>
        </p:spPr>
        <p:txBody>
          <a:bodyPr/>
          <a:lstStyle/>
          <a:p>
            <a:endParaRPr lang="ko-KR" altLang="en-US"/>
          </a:p>
        </p:txBody>
      </p:sp>
      <p:sp>
        <p:nvSpPr>
          <p:cNvPr id="9" name="Text 7"/>
          <p:cNvSpPr/>
          <p:nvPr/>
        </p:nvSpPr>
        <p:spPr>
          <a:xfrm>
            <a:off x="969264" y="2029968"/>
            <a:ext cx="4690872" cy="274320"/>
          </a:xfrm>
          <a:prstGeom prst="rect">
            <a:avLst/>
          </a:prstGeom>
          <a:noFill/>
          <a:ln/>
        </p:spPr>
        <p:txBody>
          <a:bodyPr wrap="square" lIns="0" tIns="0" rIns="0" bIns="0" rtlCol="0" anchor="ctr"/>
          <a:lstStyle/>
          <a:p>
            <a:pPr marL="0" indent="0">
              <a:buNone/>
            </a:pPr>
            <a:r>
              <a:rPr lang="en-US" sz="1450" b="1" dirty="0">
                <a:solidFill>
                  <a:srgbClr val="FFFFFF"/>
                </a:solidFill>
                <a:latin typeface="Pretendard" pitchFamily="34" charset="0"/>
                <a:ea typeface="Pretendard" pitchFamily="34" charset="-122"/>
                <a:cs typeface="Pretendard" pitchFamily="34" charset="-120"/>
              </a:rPr>
              <a:t>제2호 수강명령</a:t>
            </a:r>
            <a:endParaRPr lang="en-US" sz="1450" dirty="0"/>
          </a:p>
        </p:txBody>
      </p:sp>
      <p:sp>
        <p:nvSpPr>
          <p:cNvPr id="10" name="Text 8"/>
          <p:cNvSpPr/>
          <p:nvPr/>
        </p:nvSpPr>
        <p:spPr>
          <a:xfrm>
            <a:off x="969264" y="2304288"/>
            <a:ext cx="4690872" cy="256032"/>
          </a:xfrm>
          <a:prstGeom prst="rect">
            <a:avLst/>
          </a:prstGeom>
          <a:noFill/>
          <a:ln/>
        </p:spPr>
        <p:txBody>
          <a:bodyPr wrap="square" lIns="0" tIns="0" rIns="0" bIns="0" rtlCol="0" anchor="ctr"/>
          <a:lstStyle/>
          <a:p>
            <a:r>
              <a:rPr lang="en-US" sz="1100" b="1" dirty="0">
                <a:solidFill>
                  <a:schemeClr val="bg1"/>
                </a:solidFill>
                <a:latin typeface="Pretendard" pitchFamily="34" charset="0"/>
                <a:ea typeface="Pretendard" pitchFamily="34" charset="-122"/>
                <a:cs typeface="Pretendard" pitchFamily="34" charset="-120"/>
              </a:rPr>
              <a:t>교육 · 치료 프로그램에 </a:t>
            </a:r>
            <a:r>
              <a:rPr lang="en-US" sz="1100" b="1" dirty="0" err="1">
                <a:solidFill>
                  <a:schemeClr val="bg1"/>
                </a:solidFill>
                <a:latin typeface="Pretendard" pitchFamily="34" charset="0"/>
                <a:ea typeface="Pretendard" pitchFamily="34" charset="-122"/>
                <a:cs typeface="Pretendard" pitchFamily="34" charset="-120"/>
              </a:rPr>
              <a:t>참여하도록</a:t>
            </a:r>
            <a:r>
              <a:rPr lang="en-US" sz="1100" b="1" dirty="0">
                <a:solidFill>
                  <a:schemeClr val="bg1"/>
                </a:solidFill>
                <a:latin typeface="Pretendard" pitchFamily="34" charset="0"/>
                <a:ea typeface="Pretendard" pitchFamily="34" charset="-122"/>
                <a:cs typeface="Pretendard" pitchFamily="34" charset="-120"/>
              </a:rPr>
              <a:t> </a:t>
            </a:r>
            <a:r>
              <a:rPr lang="en-US" sz="1100" b="1" dirty="0" err="1">
                <a:solidFill>
                  <a:schemeClr val="bg1"/>
                </a:solidFill>
                <a:latin typeface="Pretendard" pitchFamily="34" charset="0"/>
                <a:ea typeface="Pretendard" pitchFamily="34" charset="-122"/>
                <a:cs typeface="Pretendard" pitchFamily="34" charset="-120"/>
              </a:rPr>
              <a:t>명령</a:t>
            </a:r>
            <a:endParaRPr lang="en-US" sz="1100" b="1" dirty="0">
              <a:solidFill>
                <a:schemeClr val="bg1"/>
              </a:solidFill>
            </a:endParaRPr>
          </a:p>
        </p:txBody>
      </p:sp>
      <p:sp>
        <p:nvSpPr>
          <p:cNvPr id="11" name="Shape 9"/>
          <p:cNvSpPr/>
          <p:nvPr/>
        </p:nvSpPr>
        <p:spPr>
          <a:xfrm>
            <a:off x="6263640" y="1956816"/>
            <a:ext cx="5166360" cy="658368"/>
          </a:xfrm>
          <a:prstGeom prst="rect">
            <a:avLst/>
          </a:prstGeom>
          <a:solidFill>
            <a:srgbClr val="F2F4F8"/>
          </a:solidFill>
          <a:ln w="12700">
            <a:solidFill>
              <a:srgbClr val="F2F4F8"/>
            </a:solidFill>
            <a:prstDash val="solid"/>
          </a:ln>
        </p:spPr>
        <p:txBody>
          <a:bodyPr/>
          <a:lstStyle/>
          <a:p>
            <a:endParaRPr lang="ko-KR" altLang="en-US"/>
          </a:p>
        </p:txBody>
      </p:sp>
      <p:sp>
        <p:nvSpPr>
          <p:cNvPr id="12" name="Text 10"/>
          <p:cNvSpPr/>
          <p:nvPr/>
        </p:nvSpPr>
        <p:spPr>
          <a:xfrm>
            <a:off x="6501384" y="2029968"/>
            <a:ext cx="4690872" cy="274320"/>
          </a:xfrm>
          <a:prstGeom prst="rect">
            <a:avLst/>
          </a:prstGeom>
          <a:noFill/>
          <a:ln/>
        </p:spPr>
        <p:txBody>
          <a:bodyPr wrap="square" lIns="0" tIns="0" rIns="0" bIns="0" rtlCol="0" anchor="ctr"/>
          <a:lstStyle/>
          <a:p>
            <a:pPr marL="0" indent="0">
              <a:buNone/>
            </a:pPr>
            <a:r>
              <a:rPr lang="en-US" sz="1450" b="1" dirty="0">
                <a:solidFill>
                  <a:srgbClr val="1E2761"/>
                </a:solidFill>
                <a:latin typeface="Pretendard" pitchFamily="34" charset="0"/>
                <a:ea typeface="Pretendard" pitchFamily="34" charset="-122"/>
                <a:cs typeface="Pretendard" pitchFamily="34" charset="-120"/>
              </a:rPr>
              <a:t>제7호 의료위탁</a:t>
            </a:r>
            <a:endParaRPr lang="en-US" sz="1450" dirty="0"/>
          </a:p>
        </p:txBody>
      </p:sp>
      <p:sp>
        <p:nvSpPr>
          <p:cNvPr id="13" name="Text 11"/>
          <p:cNvSpPr/>
          <p:nvPr/>
        </p:nvSpPr>
        <p:spPr>
          <a:xfrm>
            <a:off x="6501384" y="2304288"/>
            <a:ext cx="4690872" cy="256032"/>
          </a:xfrm>
          <a:prstGeom prst="rect">
            <a:avLst/>
          </a:prstGeom>
          <a:noFill/>
          <a:ln/>
        </p:spPr>
        <p:txBody>
          <a:bodyPr wrap="square" lIns="0" tIns="0" rIns="0" bIns="0" rtlCol="0" anchor="ctr"/>
          <a:lstStyle/>
          <a:p>
            <a:pPr marL="0" indent="0">
              <a:buNone/>
            </a:pPr>
            <a:r>
              <a:rPr lang="en-US" sz="1100" b="1" dirty="0">
                <a:solidFill>
                  <a:srgbClr val="464D5C"/>
                </a:solidFill>
                <a:latin typeface="Pretendard" pitchFamily="34" charset="0"/>
                <a:ea typeface="Pretendard" pitchFamily="34" charset="-122"/>
                <a:cs typeface="Pretendard" pitchFamily="34" charset="-120"/>
              </a:rPr>
              <a:t>의학적 치료 · 요양이 필요한 경우 </a:t>
            </a:r>
            <a:r>
              <a:rPr lang="en-US" sz="1100" b="1" dirty="0" err="1">
                <a:solidFill>
                  <a:srgbClr val="464D5C"/>
                </a:solidFill>
                <a:latin typeface="Pretendard" pitchFamily="34" charset="0"/>
                <a:ea typeface="Pretendard" pitchFamily="34" charset="-122"/>
                <a:cs typeface="Pretendard" pitchFamily="34" charset="-120"/>
              </a:rPr>
              <a:t>기관에</a:t>
            </a:r>
            <a:r>
              <a:rPr lang="en-US" sz="1100" b="1" dirty="0">
                <a:solidFill>
                  <a:srgbClr val="464D5C"/>
                </a:solidFill>
                <a:latin typeface="Pretendard" pitchFamily="34" charset="0"/>
                <a:ea typeface="Pretendard" pitchFamily="34" charset="-122"/>
                <a:cs typeface="Pretendard" pitchFamily="34" charset="-120"/>
              </a:rPr>
              <a:t> </a:t>
            </a:r>
            <a:r>
              <a:rPr lang="en-US" sz="1100" b="1" dirty="0" err="1">
                <a:solidFill>
                  <a:srgbClr val="464D5C"/>
                </a:solidFill>
                <a:latin typeface="Pretendard" pitchFamily="34" charset="0"/>
                <a:ea typeface="Pretendard" pitchFamily="34" charset="-122"/>
                <a:cs typeface="Pretendard" pitchFamily="34" charset="-120"/>
              </a:rPr>
              <a:t>위탁</a:t>
            </a:r>
            <a:endParaRPr lang="en-US" sz="1100" b="1" dirty="0"/>
          </a:p>
        </p:txBody>
      </p:sp>
      <p:sp>
        <p:nvSpPr>
          <p:cNvPr id="14" name="Shape 12"/>
          <p:cNvSpPr/>
          <p:nvPr/>
        </p:nvSpPr>
        <p:spPr>
          <a:xfrm>
            <a:off x="731520" y="2724912"/>
            <a:ext cx="5166360" cy="438912"/>
          </a:xfrm>
          <a:prstGeom prst="rect">
            <a:avLst/>
          </a:prstGeom>
          <a:solidFill>
            <a:srgbClr val="FFFFFF"/>
          </a:solidFill>
          <a:ln w="12700">
            <a:solidFill>
              <a:srgbClr val="DCE0E8"/>
            </a:solidFill>
            <a:prstDash val="solid"/>
          </a:ln>
        </p:spPr>
        <p:txBody>
          <a:bodyPr/>
          <a:lstStyle/>
          <a:p>
            <a:endParaRPr lang="ko-KR" altLang="en-US"/>
          </a:p>
        </p:txBody>
      </p:sp>
      <p:sp>
        <p:nvSpPr>
          <p:cNvPr id="15" name="Text 13"/>
          <p:cNvSpPr/>
          <p:nvPr/>
        </p:nvSpPr>
        <p:spPr>
          <a:xfrm>
            <a:off x="914400" y="2724912"/>
            <a:ext cx="1554480" cy="438912"/>
          </a:xfrm>
          <a:prstGeom prst="rect">
            <a:avLst/>
          </a:prstGeom>
          <a:noFill/>
          <a:ln/>
        </p:spPr>
        <p:txBody>
          <a:bodyPr wrap="square" lIns="0" tIns="0" rIns="0" bIns="0" rtlCol="0" anchor="ctr"/>
          <a:lstStyle/>
          <a:p>
            <a:pPr marL="0" indent="0">
              <a:buNone/>
            </a:pPr>
            <a:r>
              <a:rPr lang="en-US" sz="1100" b="1" dirty="0">
                <a:solidFill>
                  <a:srgbClr val="A8871C"/>
                </a:solidFill>
                <a:latin typeface="Pretendard" pitchFamily="34" charset="0"/>
                <a:ea typeface="Pretendard" pitchFamily="34" charset="-122"/>
                <a:cs typeface="Pretendard" pitchFamily="34" charset="-120"/>
              </a:rPr>
              <a:t>무엇인가</a:t>
            </a:r>
            <a:endParaRPr lang="en-US" sz="1100" dirty="0"/>
          </a:p>
        </p:txBody>
      </p:sp>
      <p:sp>
        <p:nvSpPr>
          <p:cNvPr id="16" name="Text 14"/>
          <p:cNvSpPr/>
          <p:nvPr/>
        </p:nvSpPr>
        <p:spPr>
          <a:xfrm>
            <a:off x="2560320" y="2724912"/>
            <a:ext cx="3136392" cy="438912"/>
          </a:xfrm>
          <a:prstGeom prst="rect">
            <a:avLst/>
          </a:prstGeom>
          <a:noFill/>
          <a:ln/>
        </p:spPr>
        <p:txBody>
          <a:bodyPr wrap="square" lIns="0" tIns="0" rIns="0" bIns="0" rtlCol="0" anchor="ctr"/>
          <a:lstStyle/>
          <a:p>
            <a:pPr marL="0" indent="0">
              <a:lnSpc>
                <a:spcPts val="1600"/>
              </a:lnSpc>
              <a:buNone/>
            </a:pPr>
            <a:r>
              <a:rPr lang="en-US" sz="1100" dirty="0">
                <a:solidFill>
                  <a:srgbClr val="222633"/>
                </a:solidFill>
                <a:latin typeface="Pretendard" pitchFamily="34" charset="0"/>
                <a:ea typeface="Pretendard" pitchFamily="34" charset="-122"/>
                <a:cs typeface="Pretendard" pitchFamily="34" charset="-120"/>
              </a:rPr>
              <a:t>일정 시간 동안 범죄성 개선을 위한 교육과 치료를 받도록 하는 보호처분</a:t>
            </a:r>
            <a:endParaRPr lang="en-US" sz="1100" dirty="0"/>
          </a:p>
        </p:txBody>
      </p:sp>
      <p:sp>
        <p:nvSpPr>
          <p:cNvPr id="17" name="Shape 15"/>
          <p:cNvSpPr/>
          <p:nvPr/>
        </p:nvSpPr>
        <p:spPr>
          <a:xfrm>
            <a:off x="731520" y="3163824"/>
            <a:ext cx="5166360" cy="365760"/>
          </a:xfrm>
          <a:prstGeom prst="rect">
            <a:avLst/>
          </a:prstGeom>
          <a:solidFill>
            <a:srgbClr val="FFFFFF"/>
          </a:solidFill>
          <a:ln w="12700">
            <a:solidFill>
              <a:srgbClr val="DCE0E8"/>
            </a:solidFill>
            <a:prstDash val="solid"/>
          </a:ln>
        </p:spPr>
        <p:txBody>
          <a:bodyPr/>
          <a:lstStyle/>
          <a:p>
            <a:endParaRPr lang="ko-KR" altLang="en-US"/>
          </a:p>
        </p:txBody>
      </p:sp>
      <p:sp>
        <p:nvSpPr>
          <p:cNvPr id="18" name="Text 16"/>
          <p:cNvSpPr/>
          <p:nvPr/>
        </p:nvSpPr>
        <p:spPr>
          <a:xfrm>
            <a:off x="914400" y="3163824"/>
            <a:ext cx="1554480" cy="365760"/>
          </a:xfrm>
          <a:prstGeom prst="rect">
            <a:avLst/>
          </a:prstGeom>
          <a:noFill/>
          <a:ln/>
        </p:spPr>
        <p:txBody>
          <a:bodyPr wrap="square" lIns="0" tIns="0" rIns="0" bIns="0" rtlCol="0" anchor="ctr"/>
          <a:lstStyle/>
          <a:p>
            <a:pPr marL="0" indent="0">
              <a:buNone/>
            </a:pPr>
            <a:r>
              <a:rPr lang="en-US" sz="1100" b="1" dirty="0">
                <a:solidFill>
                  <a:srgbClr val="A8871C"/>
                </a:solidFill>
                <a:latin typeface="Pretendard" pitchFamily="34" charset="0"/>
                <a:ea typeface="Pretendard" pitchFamily="34" charset="-122"/>
                <a:cs typeface="Pretendard" pitchFamily="34" charset="-120"/>
              </a:rPr>
              <a:t>기간 · 연령</a:t>
            </a:r>
            <a:endParaRPr lang="en-US" sz="1100" dirty="0"/>
          </a:p>
        </p:txBody>
      </p:sp>
      <p:sp>
        <p:nvSpPr>
          <p:cNvPr id="19" name="Text 17"/>
          <p:cNvSpPr/>
          <p:nvPr/>
        </p:nvSpPr>
        <p:spPr>
          <a:xfrm>
            <a:off x="2560320" y="3163824"/>
            <a:ext cx="3136392" cy="365760"/>
          </a:xfrm>
          <a:prstGeom prst="rect">
            <a:avLst/>
          </a:prstGeom>
          <a:noFill/>
          <a:ln/>
        </p:spPr>
        <p:txBody>
          <a:bodyPr wrap="square" lIns="0" tIns="0" rIns="0" bIns="0" rtlCol="0" anchor="ctr"/>
          <a:lstStyle/>
          <a:p>
            <a:pPr marL="0" indent="0">
              <a:lnSpc>
                <a:spcPts val="1600"/>
              </a:lnSpc>
              <a:buNone/>
            </a:pPr>
            <a:r>
              <a:rPr lang="en-US" sz="1100" b="1" dirty="0">
                <a:solidFill>
                  <a:srgbClr val="222633"/>
                </a:solidFill>
                <a:latin typeface="Pretendard" pitchFamily="34" charset="0"/>
                <a:ea typeface="Pretendard" pitchFamily="34" charset="-122"/>
                <a:cs typeface="Pretendard" pitchFamily="34" charset="-120"/>
              </a:rPr>
              <a:t>100시간 이내  </a:t>
            </a:r>
            <a:r>
              <a:rPr lang="en-US" sz="1100" dirty="0">
                <a:solidFill>
                  <a:srgbClr val="222633"/>
                </a:solidFill>
                <a:latin typeface="Pretendard" pitchFamily="34" charset="0"/>
                <a:ea typeface="Pretendard" pitchFamily="34" charset="-122"/>
                <a:cs typeface="Pretendard" pitchFamily="34" charset="-120"/>
              </a:rPr>
              <a:t>·  </a:t>
            </a:r>
            <a:r>
              <a:rPr lang="en-US" sz="1100" b="1" dirty="0">
                <a:solidFill>
                  <a:srgbClr val="222633"/>
                </a:solidFill>
                <a:latin typeface="Pretendard" pitchFamily="34" charset="0"/>
                <a:ea typeface="Pretendard" pitchFamily="34" charset="-122"/>
                <a:cs typeface="Pretendard" pitchFamily="34" charset="-120"/>
              </a:rPr>
              <a:t>12세 이상</a:t>
            </a:r>
            <a:endParaRPr lang="en-US" sz="1100" b="1" dirty="0"/>
          </a:p>
        </p:txBody>
      </p:sp>
      <p:sp>
        <p:nvSpPr>
          <p:cNvPr id="20" name="Shape 18"/>
          <p:cNvSpPr/>
          <p:nvPr/>
        </p:nvSpPr>
        <p:spPr>
          <a:xfrm>
            <a:off x="731520" y="3529584"/>
            <a:ext cx="5166360" cy="566928"/>
          </a:xfrm>
          <a:prstGeom prst="rect">
            <a:avLst/>
          </a:prstGeom>
          <a:solidFill>
            <a:srgbClr val="FFFFFF"/>
          </a:solidFill>
          <a:ln w="12700">
            <a:solidFill>
              <a:srgbClr val="DCE0E8"/>
            </a:solidFill>
            <a:prstDash val="solid"/>
          </a:ln>
        </p:spPr>
        <p:txBody>
          <a:bodyPr/>
          <a:lstStyle/>
          <a:p>
            <a:endParaRPr lang="ko-KR" altLang="en-US"/>
          </a:p>
        </p:txBody>
      </p:sp>
      <p:sp>
        <p:nvSpPr>
          <p:cNvPr id="21" name="Text 19"/>
          <p:cNvSpPr/>
          <p:nvPr/>
        </p:nvSpPr>
        <p:spPr>
          <a:xfrm>
            <a:off x="914400" y="3529584"/>
            <a:ext cx="1554480" cy="566928"/>
          </a:xfrm>
          <a:prstGeom prst="rect">
            <a:avLst/>
          </a:prstGeom>
          <a:noFill/>
          <a:ln/>
        </p:spPr>
        <p:txBody>
          <a:bodyPr wrap="square" lIns="0" tIns="0" rIns="0" bIns="0" rtlCol="0" anchor="ctr"/>
          <a:lstStyle/>
          <a:p>
            <a:pPr marL="0" indent="0">
              <a:buNone/>
            </a:pPr>
            <a:r>
              <a:rPr lang="en-US" sz="1100" b="1" dirty="0">
                <a:solidFill>
                  <a:srgbClr val="A8871C"/>
                </a:solidFill>
                <a:latin typeface="Pretendard" pitchFamily="34" charset="0"/>
                <a:ea typeface="Pretendard" pitchFamily="34" charset="-122"/>
                <a:cs typeface="Pretendard" pitchFamily="34" charset="-120"/>
              </a:rPr>
              <a:t>어떻게 집행되나</a:t>
            </a:r>
            <a:endParaRPr lang="en-US" sz="1100" dirty="0"/>
          </a:p>
        </p:txBody>
      </p:sp>
      <p:sp>
        <p:nvSpPr>
          <p:cNvPr id="22" name="Text 20"/>
          <p:cNvSpPr/>
          <p:nvPr/>
        </p:nvSpPr>
        <p:spPr>
          <a:xfrm>
            <a:off x="2560320" y="3529584"/>
            <a:ext cx="3136392" cy="566928"/>
          </a:xfrm>
          <a:prstGeom prst="rect">
            <a:avLst/>
          </a:prstGeom>
          <a:noFill/>
          <a:ln/>
        </p:spPr>
        <p:txBody>
          <a:bodyPr wrap="square" lIns="0" tIns="0" rIns="0" bIns="0" rtlCol="0" anchor="ctr"/>
          <a:lstStyle/>
          <a:p>
            <a:pPr marL="0" indent="0">
              <a:lnSpc>
                <a:spcPts val="1600"/>
              </a:lnSpc>
              <a:buNone/>
            </a:pPr>
            <a:r>
              <a:rPr lang="en-US" sz="1100" dirty="0">
                <a:solidFill>
                  <a:srgbClr val="222633"/>
                </a:solidFill>
                <a:latin typeface="Pretendard" pitchFamily="34" charset="0"/>
                <a:ea typeface="Pretendard" pitchFamily="34" charset="-122"/>
                <a:cs typeface="Pretendard" pitchFamily="34" charset="-120"/>
              </a:rPr>
              <a:t>보호관찰소에서 초기면접·심리검사를 거쳐</a:t>
            </a:r>
            <a:endParaRPr lang="en-US" sz="1100" dirty="0"/>
          </a:p>
          <a:p>
            <a:pPr marL="0" indent="0">
              <a:lnSpc>
                <a:spcPts val="1600"/>
              </a:lnSpc>
              <a:buNone/>
            </a:pPr>
            <a:r>
              <a:rPr lang="en-US" sz="1100" dirty="0">
                <a:solidFill>
                  <a:srgbClr val="222633"/>
                </a:solidFill>
                <a:latin typeface="Pretendard" pitchFamily="34" charset="0"/>
                <a:ea typeface="Pretendard" pitchFamily="34" charset="-122"/>
                <a:cs typeface="Pretendard" pitchFamily="34" charset="-120"/>
              </a:rPr>
              <a:t>사범 · 연령 등 대상자 특성에 맞는 프로그램을 배정</a:t>
            </a:r>
            <a:endParaRPr lang="en-US" sz="1100" dirty="0"/>
          </a:p>
        </p:txBody>
      </p:sp>
      <p:sp>
        <p:nvSpPr>
          <p:cNvPr id="23" name="Shape 21"/>
          <p:cNvSpPr/>
          <p:nvPr/>
        </p:nvSpPr>
        <p:spPr>
          <a:xfrm>
            <a:off x="731520" y="4096512"/>
            <a:ext cx="5166360" cy="676656"/>
          </a:xfrm>
          <a:prstGeom prst="rect">
            <a:avLst/>
          </a:prstGeom>
          <a:solidFill>
            <a:srgbClr val="FFFFFF"/>
          </a:solidFill>
          <a:ln w="12700">
            <a:solidFill>
              <a:srgbClr val="DCE0E8"/>
            </a:solidFill>
            <a:prstDash val="solid"/>
          </a:ln>
        </p:spPr>
        <p:txBody>
          <a:bodyPr/>
          <a:lstStyle/>
          <a:p>
            <a:endParaRPr lang="ko-KR" altLang="en-US"/>
          </a:p>
        </p:txBody>
      </p:sp>
      <p:sp>
        <p:nvSpPr>
          <p:cNvPr id="24" name="Text 22"/>
          <p:cNvSpPr/>
          <p:nvPr/>
        </p:nvSpPr>
        <p:spPr>
          <a:xfrm>
            <a:off x="914400" y="4096512"/>
            <a:ext cx="1554480" cy="676656"/>
          </a:xfrm>
          <a:prstGeom prst="rect">
            <a:avLst/>
          </a:prstGeom>
          <a:noFill/>
          <a:ln/>
        </p:spPr>
        <p:txBody>
          <a:bodyPr wrap="square" lIns="0" tIns="0" rIns="0" bIns="0" rtlCol="0" anchor="ctr"/>
          <a:lstStyle/>
          <a:p>
            <a:pPr marL="0" indent="0">
              <a:buNone/>
            </a:pPr>
            <a:r>
              <a:rPr lang="en-US" sz="1100" b="1" dirty="0">
                <a:solidFill>
                  <a:srgbClr val="A8871C"/>
                </a:solidFill>
                <a:latin typeface="Pretendard" pitchFamily="34" charset="0"/>
                <a:ea typeface="Pretendard" pitchFamily="34" charset="-122"/>
                <a:cs typeface="Pretendard" pitchFamily="34" charset="-120"/>
              </a:rPr>
              <a:t>마약류 사건에서는</a:t>
            </a:r>
            <a:endParaRPr lang="en-US" sz="1100" dirty="0"/>
          </a:p>
        </p:txBody>
      </p:sp>
      <p:sp>
        <p:nvSpPr>
          <p:cNvPr id="25" name="Text 23"/>
          <p:cNvSpPr/>
          <p:nvPr/>
        </p:nvSpPr>
        <p:spPr>
          <a:xfrm>
            <a:off x="2560320" y="4096512"/>
            <a:ext cx="3136392" cy="676656"/>
          </a:xfrm>
          <a:prstGeom prst="rect">
            <a:avLst/>
          </a:prstGeom>
          <a:noFill/>
          <a:ln/>
        </p:spPr>
        <p:txBody>
          <a:bodyPr wrap="square" lIns="0" tIns="0" rIns="0" bIns="0" rtlCol="0" anchor="ctr"/>
          <a:lstStyle/>
          <a:p>
            <a:pPr marL="0" indent="0">
              <a:lnSpc>
                <a:spcPts val="1600"/>
              </a:lnSpc>
              <a:buNone/>
            </a:pPr>
            <a:r>
              <a:rPr lang="ko-KR" altLang="en-US" sz="1100" b="1" dirty="0">
                <a:solidFill>
                  <a:srgbClr val="222633"/>
                </a:solidFill>
                <a:highlight>
                  <a:srgbClr val="FFFF00"/>
                </a:highlight>
                <a:latin typeface="Pretendard" pitchFamily="34" charset="0"/>
                <a:ea typeface="Pretendard" pitchFamily="34" charset="-122"/>
                <a:cs typeface="Pretendard" pitchFamily="34" charset="-120"/>
              </a:rPr>
              <a:t>마약류의</a:t>
            </a:r>
            <a:r>
              <a:rPr lang="en-US" sz="1100" b="1" dirty="0">
                <a:solidFill>
                  <a:srgbClr val="222633"/>
                </a:solidFill>
                <a:highlight>
                  <a:srgbClr val="FFFF00"/>
                </a:highlight>
                <a:latin typeface="Pretendard" pitchFamily="34" charset="0"/>
                <a:ea typeface="Pretendard" pitchFamily="34" charset="-122"/>
                <a:cs typeface="Pretendard" pitchFamily="34" charset="-120"/>
              </a:rPr>
              <a:t> </a:t>
            </a:r>
            <a:r>
              <a:rPr lang="en-US" sz="1100" b="1" dirty="0" err="1">
                <a:solidFill>
                  <a:srgbClr val="222633"/>
                </a:solidFill>
                <a:highlight>
                  <a:srgbClr val="FFFF00"/>
                </a:highlight>
                <a:latin typeface="Pretendard" pitchFamily="34" charset="0"/>
                <a:ea typeface="Pretendard" pitchFamily="34" charset="-122"/>
                <a:cs typeface="Pretendard" pitchFamily="34" charset="-120"/>
              </a:rPr>
              <a:t>폐해</a:t>
            </a:r>
            <a:r>
              <a:rPr lang="ko-KR" altLang="en-US" sz="1100" b="1" dirty="0">
                <a:solidFill>
                  <a:srgbClr val="222633"/>
                </a:solidFill>
                <a:highlight>
                  <a:srgbClr val="FFFF00"/>
                </a:highlight>
                <a:latin typeface="Pretendard" pitchFamily="34" charset="0"/>
                <a:ea typeface="Pretendard" pitchFamily="34" charset="-122"/>
                <a:cs typeface="Pretendard" pitchFamily="34" charset="-120"/>
              </a:rPr>
              <a:t>에 관한 교육</a:t>
            </a:r>
            <a:endParaRPr lang="en-US" sz="1100" b="1" dirty="0">
              <a:highlight>
                <a:srgbClr val="FFFF00"/>
              </a:highlight>
            </a:endParaRPr>
          </a:p>
          <a:p>
            <a:pPr marL="0" indent="0">
              <a:lnSpc>
                <a:spcPts val="1600"/>
              </a:lnSpc>
              <a:buNone/>
            </a:pPr>
            <a:r>
              <a:rPr lang="ko-KR" altLang="en-US" sz="1100" b="1" dirty="0">
                <a:solidFill>
                  <a:srgbClr val="222633"/>
                </a:solidFill>
                <a:highlight>
                  <a:srgbClr val="FFFF00"/>
                </a:highlight>
                <a:latin typeface="Pretendard" pitchFamily="34" charset="0"/>
                <a:ea typeface="Pretendard" pitchFamily="34" charset="-122"/>
                <a:cs typeface="Pretendard" pitchFamily="34" charset="-120"/>
              </a:rPr>
              <a:t>마약류사범 행동의 진단</a:t>
            </a:r>
            <a:r>
              <a:rPr lang="en-US" altLang="ko-KR" sz="1100" b="1" dirty="0">
                <a:solidFill>
                  <a:srgbClr val="222633"/>
                </a:solidFill>
                <a:highlight>
                  <a:srgbClr val="FFFF00"/>
                </a:highlight>
                <a:latin typeface="Pretendard" pitchFamily="34" charset="0"/>
                <a:ea typeface="Pretendard" pitchFamily="34" charset="-122"/>
                <a:cs typeface="Pretendard" pitchFamily="34" charset="-120"/>
              </a:rPr>
              <a:t>, </a:t>
            </a:r>
            <a:r>
              <a:rPr lang="ko-KR" altLang="en-US" sz="1100" b="1" dirty="0">
                <a:solidFill>
                  <a:srgbClr val="222633"/>
                </a:solidFill>
                <a:highlight>
                  <a:srgbClr val="FFFF00"/>
                </a:highlight>
                <a:latin typeface="Pretendard" pitchFamily="34" charset="0"/>
                <a:ea typeface="Pretendard" pitchFamily="34" charset="-122"/>
                <a:cs typeface="Pretendard" pitchFamily="34" charset="-120"/>
              </a:rPr>
              <a:t>상담</a:t>
            </a:r>
            <a:endParaRPr lang="en-US" sz="1100" b="1" dirty="0">
              <a:highlight>
                <a:srgbClr val="FFFF00"/>
              </a:highlight>
            </a:endParaRPr>
          </a:p>
          <a:p>
            <a:pPr>
              <a:lnSpc>
                <a:spcPts val="1600"/>
              </a:lnSpc>
            </a:pPr>
            <a:r>
              <a:rPr lang="en-US" altLang="ko-KR" sz="1100" b="1" dirty="0" err="1">
                <a:solidFill>
                  <a:srgbClr val="222633"/>
                </a:solidFill>
                <a:highlight>
                  <a:srgbClr val="FFFF00"/>
                </a:highlight>
                <a:latin typeface="Pretendard" pitchFamily="34" charset="0"/>
                <a:ea typeface="Pretendard" pitchFamily="34" charset="-122"/>
                <a:cs typeface="Pretendard" pitchFamily="34" charset="-120"/>
              </a:rPr>
              <a:t>대상자</a:t>
            </a:r>
            <a:r>
              <a:rPr lang="en-US" altLang="ko-KR" sz="1100" b="1" dirty="0">
                <a:solidFill>
                  <a:srgbClr val="222633"/>
                </a:solidFill>
                <a:highlight>
                  <a:srgbClr val="FFFF00"/>
                </a:highlight>
                <a:latin typeface="Pretendard" pitchFamily="34" charset="0"/>
                <a:ea typeface="Pretendard" pitchFamily="34" charset="-122"/>
                <a:cs typeface="Pretendard" pitchFamily="34" charset="-120"/>
              </a:rPr>
              <a:t> </a:t>
            </a:r>
            <a:r>
              <a:rPr lang="en-US" altLang="ko-KR" sz="1100" b="1" dirty="0" err="1">
                <a:solidFill>
                  <a:srgbClr val="222633"/>
                </a:solidFill>
                <a:highlight>
                  <a:srgbClr val="FFFF00"/>
                </a:highlight>
                <a:latin typeface="Pretendard" pitchFamily="34" charset="0"/>
                <a:ea typeface="Pretendard" pitchFamily="34" charset="-122"/>
                <a:cs typeface="Pretendard" pitchFamily="34" charset="-120"/>
              </a:rPr>
              <a:t>특성에</a:t>
            </a:r>
            <a:r>
              <a:rPr lang="en-US" altLang="ko-KR" sz="1100" b="1" dirty="0">
                <a:solidFill>
                  <a:srgbClr val="222633"/>
                </a:solidFill>
                <a:highlight>
                  <a:srgbClr val="FFFF00"/>
                </a:highlight>
                <a:latin typeface="Pretendard" pitchFamily="34" charset="0"/>
                <a:ea typeface="Pretendard" pitchFamily="34" charset="-122"/>
                <a:cs typeface="Pretendard" pitchFamily="34" charset="-120"/>
              </a:rPr>
              <a:t> </a:t>
            </a:r>
            <a:r>
              <a:rPr lang="en-US" altLang="ko-KR" sz="1100" b="1" dirty="0" err="1">
                <a:solidFill>
                  <a:srgbClr val="222633"/>
                </a:solidFill>
                <a:highlight>
                  <a:srgbClr val="FFFF00"/>
                </a:highlight>
                <a:latin typeface="Pretendard" pitchFamily="34" charset="0"/>
                <a:ea typeface="Pretendard" pitchFamily="34" charset="-122"/>
                <a:cs typeface="Pretendard" pitchFamily="34" charset="-120"/>
              </a:rPr>
              <a:t>맞는</a:t>
            </a:r>
            <a:r>
              <a:rPr lang="en-US" altLang="ko-KR" sz="1100" b="1" dirty="0">
                <a:solidFill>
                  <a:srgbClr val="222633"/>
                </a:solidFill>
                <a:highlight>
                  <a:srgbClr val="FFFF00"/>
                </a:highlight>
                <a:latin typeface="Pretendard" pitchFamily="34" charset="0"/>
                <a:ea typeface="Pretendard" pitchFamily="34" charset="-122"/>
                <a:cs typeface="Pretendard" pitchFamily="34" charset="-120"/>
              </a:rPr>
              <a:t> </a:t>
            </a:r>
            <a:r>
              <a:rPr lang="en-US" altLang="ko-KR" sz="1100" b="1" dirty="0" err="1">
                <a:solidFill>
                  <a:srgbClr val="222633"/>
                </a:solidFill>
                <a:highlight>
                  <a:srgbClr val="FFFF00"/>
                </a:highlight>
                <a:latin typeface="Pretendard" pitchFamily="34" charset="0"/>
                <a:ea typeface="Pretendard" pitchFamily="34" charset="-122"/>
                <a:cs typeface="Pretendard" pitchFamily="34" charset="-120"/>
              </a:rPr>
              <a:t>교육</a:t>
            </a:r>
            <a:r>
              <a:rPr lang="en-US" altLang="ko-KR" sz="1100" b="1" dirty="0">
                <a:solidFill>
                  <a:srgbClr val="222633"/>
                </a:solidFill>
                <a:highlight>
                  <a:srgbClr val="FFFF00"/>
                </a:highlight>
                <a:latin typeface="Pretendard" pitchFamily="34" charset="0"/>
                <a:ea typeface="Pretendard" pitchFamily="34" charset="-122"/>
                <a:cs typeface="Pretendard" pitchFamily="34" charset="-120"/>
              </a:rPr>
              <a:t> · </a:t>
            </a:r>
            <a:r>
              <a:rPr lang="en-US" altLang="ko-KR" sz="1100" b="1" dirty="0" err="1">
                <a:solidFill>
                  <a:srgbClr val="222633"/>
                </a:solidFill>
                <a:highlight>
                  <a:srgbClr val="FFFF00"/>
                </a:highlight>
                <a:latin typeface="Pretendard" pitchFamily="34" charset="0"/>
                <a:ea typeface="Pretendard" pitchFamily="34" charset="-122"/>
                <a:cs typeface="Pretendard" pitchFamily="34" charset="-120"/>
              </a:rPr>
              <a:t>치료</a:t>
            </a:r>
            <a:r>
              <a:rPr lang="en-US" altLang="ko-KR" sz="1100" b="1" dirty="0">
                <a:solidFill>
                  <a:srgbClr val="222633"/>
                </a:solidFill>
                <a:highlight>
                  <a:srgbClr val="FFFF00"/>
                </a:highlight>
                <a:latin typeface="Pretendard" pitchFamily="34" charset="0"/>
                <a:ea typeface="Pretendard" pitchFamily="34" charset="-122"/>
                <a:cs typeface="Pretendard" pitchFamily="34" charset="-120"/>
              </a:rPr>
              <a:t> </a:t>
            </a:r>
            <a:r>
              <a:rPr lang="en-US" altLang="ko-KR" sz="1100" b="1" dirty="0" err="1">
                <a:solidFill>
                  <a:srgbClr val="222633"/>
                </a:solidFill>
                <a:highlight>
                  <a:srgbClr val="FFFF00"/>
                </a:highlight>
                <a:latin typeface="Pretendard" pitchFamily="34" charset="0"/>
                <a:ea typeface="Pretendard" pitchFamily="34" charset="-122"/>
                <a:cs typeface="Pretendard" pitchFamily="34" charset="-120"/>
              </a:rPr>
              <a:t>프로그램</a:t>
            </a:r>
            <a:r>
              <a:rPr lang="en-US" altLang="ko-KR" sz="1100" b="1" dirty="0">
                <a:solidFill>
                  <a:srgbClr val="222633"/>
                </a:solidFill>
                <a:highlight>
                  <a:srgbClr val="FFFF00"/>
                </a:highlight>
                <a:latin typeface="Pretendard" pitchFamily="34" charset="0"/>
                <a:ea typeface="Pretendard" pitchFamily="34" charset="-122"/>
                <a:cs typeface="Pretendard" pitchFamily="34" charset="-120"/>
              </a:rPr>
              <a:t> </a:t>
            </a:r>
            <a:r>
              <a:rPr lang="ko-KR" altLang="en-US" sz="1100" b="1" dirty="0">
                <a:solidFill>
                  <a:srgbClr val="222633"/>
                </a:solidFill>
                <a:highlight>
                  <a:srgbClr val="FFFF00"/>
                </a:highlight>
                <a:latin typeface="Pretendard" pitchFamily="34" charset="0"/>
                <a:ea typeface="Pretendard" pitchFamily="34" charset="-122"/>
                <a:cs typeface="Pretendard" pitchFamily="34" charset="-120"/>
              </a:rPr>
              <a:t>운영</a:t>
            </a:r>
            <a:endParaRPr lang="en-US" altLang="ko-KR" sz="1100" b="1" dirty="0">
              <a:solidFill>
                <a:srgbClr val="222633"/>
              </a:solidFill>
              <a:highlight>
                <a:srgbClr val="FFFF00"/>
              </a:highlight>
              <a:latin typeface="Pretendard" pitchFamily="34" charset="0"/>
              <a:ea typeface="Pretendard" pitchFamily="34" charset="-122"/>
              <a:cs typeface="Pretendard" pitchFamily="34" charset="-120"/>
            </a:endParaRPr>
          </a:p>
        </p:txBody>
      </p:sp>
      <p:sp>
        <p:nvSpPr>
          <p:cNvPr id="26" name="Shape 24"/>
          <p:cNvSpPr/>
          <p:nvPr/>
        </p:nvSpPr>
        <p:spPr>
          <a:xfrm>
            <a:off x="6263640" y="2724912"/>
            <a:ext cx="5166360" cy="438912"/>
          </a:xfrm>
          <a:prstGeom prst="rect">
            <a:avLst/>
          </a:prstGeom>
          <a:solidFill>
            <a:srgbClr val="FFFFFF"/>
          </a:solidFill>
          <a:ln w="12700">
            <a:solidFill>
              <a:srgbClr val="DCE0E8"/>
            </a:solidFill>
            <a:prstDash val="solid"/>
          </a:ln>
        </p:spPr>
        <p:txBody>
          <a:bodyPr/>
          <a:lstStyle/>
          <a:p>
            <a:endParaRPr lang="ko-KR" altLang="en-US"/>
          </a:p>
        </p:txBody>
      </p:sp>
      <p:sp>
        <p:nvSpPr>
          <p:cNvPr id="27" name="Text 25"/>
          <p:cNvSpPr/>
          <p:nvPr/>
        </p:nvSpPr>
        <p:spPr>
          <a:xfrm>
            <a:off x="6446520" y="2724912"/>
            <a:ext cx="1554480" cy="438912"/>
          </a:xfrm>
          <a:prstGeom prst="rect">
            <a:avLst/>
          </a:prstGeom>
          <a:noFill/>
          <a:ln/>
        </p:spPr>
        <p:txBody>
          <a:bodyPr wrap="square" lIns="0" tIns="0" rIns="0" bIns="0" rtlCol="0" anchor="ctr"/>
          <a:lstStyle/>
          <a:p>
            <a:pPr marL="0" indent="0">
              <a:buNone/>
            </a:pPr>
            <a:r>
              <a:rPr lang="en-US" sz="1100" b="1" dirty="0">
                <a:solidFill>
                  <a:srgbClr val="464D5C"/>
                </a:solidFill>
                <a:latin typeface="Pretendard" pitchFamily="34" charset="0"/>
                <a:ea typeface="Pretendard" pitchFamily="34" charset="-122"/>
                <a:cs typeface="Pretendard" pitchFamily="34" charset="-120"/>
              </a:rPr>
              <a:t>무엇인가</a:t>
            </a:r>
            <a:endParaRPr lang="en-US" sz="1100" dirty="0"/>
          </a:p>
        </p:txBody>
      </p:sp>
      <p:sp>
        <p:nvSpPr>
          <p:cNvPr id="28" name="Text 26"/>
          <p:cNvSpPr/>
          <p:nvPr/>
        </p:nvSpPr>
        <p:spPr>
          <a:xfrm>
            <a:off x="8092440" y="2724912"/>
            <a:ext cx="3136392" cy="438912"/>
          </a:xfrm>
          <a:prstGeom prst="rect">
            <a:avLst/>
          </a:prstGeom>
          <a:noFill/>
          <a:ln/>
        </p:spPr>
        <p:txBody>
          <a:bodyPr wrap="square" lIns="0" tIns="0" rIns="0" bIns="0" rtlCol="0" anchor="ctr"/>
          <a:lstStyle/>
          <a:p>
            <a:pPr marL="0" indent="0">
              <a:lnSpc>
                <a:spcPts val="1600"/>
              </a:lnSpc>
              <a:buNone/>
            </a:pPr>
            <a:r>
              <a:rPr lang="en-US" sz="1100" dirty="0">
                <a:solidFill>
                  <a:srgbClr val="222633"/>
                </a:solidFill>
                <a:latin typeface="Pretendard" pitchFamily="34" charset="0"/>
                <a:ea typeface="Pretendard" pitchFamily="34" charset="-122"/>
                <a:cs typeface="Pretendard" pitchFamily="34" charset="-120"/>
              </a:rPr>
              <a:t>병원 · 요양소 또는 의료재활소년원에 위탁하는 보호처분</a:t>
            </a:r>
            <a:endParaRPr lang="en-US" sz="1100" dirty="0"/>
          </a:p>
        </p:txBody>
      </p:sp>
      <p:sp>
        <p:nvSpPr>
          <p:cNvPr id="29" name="Shape 27"/>
          <p:cNvSpPr/>
          <p:nvPr/>
        </p:nvSpPr>
        <p:spPr>
          <a:xfrm>
            <a:off x="6263640" y="3163824"/>
            <a:ext cx="5166360" cy="365760"/>
          </a:xfrm>
          <a:prstGeom prst="rect">
            <a:avLst/>
          </a:prstGeom>
          <a:solidFill>
            <a:srgbClr val="FFFFFF"/>
          </a:solidFill>
          <a:ln w="12700">
            <a:solidFill>
              <a:srgbClr val="DCE0E8"/>
            </a:solidFill>
            <a:prstDash val="solid"/>
          </a:ln>
        </p:spPr>
        <p:txBody>
          <a:bodyPr/>
          <a:lstStyle/>
          <a:p>
            <a:endParaRPr lang="ko-KR" altLang="en-US"/>
          </a:p>
        </p:txBody>
      </p:sp>
      <p:sp>
        <p:nvSpPr>
          <p:cNvPr id="30" name="Text 28"/>
          <p:cNvSpPr/>
          <p:nvPr/>
        </p:nvSpPr>
        <p:spPr>
          <a:xfrm>
            <a:off x="6446520" y="3163824"/>
            <a:ext cx="1554480" cy="365760"/>
          </a:xfrm>
          <a:prstGeom prst="rect">
            <a:avLst/>
          </a:prstGeom>
          <a:noFill/>
          <a:ln/>
        </p:spPr>
        <p:txBody>
          <a:bodyPr wrap="square" lIns="0" tIns="0" rIns="0" bIns="0" rtlCol="0" anchor="ctr"/>
          <a:lstStyle/>
          <a:p>
            <a:pPr marL="0" indent="0">
              <a:buNone/>
            </a:pPr>
            <a:r>
              <a:rPr lang="en-US" sz="1100" b="1" dirty="0">
                <a:solidFill>
                  <a:srgbClr val="464D5C"/>
                </a:solidFill>
                <a:latin typeface="Pretendard" pitchFamily="34" charset="0"/>
                <a:ea typeface="Pretendard" pitchFamily="34" charset="-122"/>
                <a:cs typeface="Pretendard" pitchFamily="34" charset="-120"/>
              </a:rPr>
              <a:t>언제</a:t>
            </a:r>
            <a:endParaRPr lang="en-US" sz="1100" dirty="0"/>
          </a:p>
        </p:txBody>
      </p:sp>
      <p:sp>
        <p:nvSpPr>
          <p:cNvPr id="31" name="Text 29"/>
          <p:cNvSpPr/>
          <p:nvPr/>
        </p:nvSpPr>
        <p:spPr>
          <a:xfrm>
            <a:off x="8092440" y="3163824"/>
            <a:ext cx="3136392" cy="365760"/>
          </a:xfrm>
          <a:prstGeom prst="rect">
            <a:avLst/>
          </a:prstGeom>
          <a:noFill/>
          <a:ln/>
        </p:spPr>
        <p:txBody>
          <a:bodyPr wrap="square" lIns="0" tIns="0" rIns="0" bIns="0" rtlCol="0" anchor="ctr"/>
          <a:lstStyle/>
          <a:p>
            <a:pPr marL="0" indent="0">
              <a:lnSpc>
                <a:spcPts val="1600"/>
              </a:lnSpc>
              <a:buNone/>
            </a:pPr>
            <a:r>
              <a:rPr lang="en-US" sz="1100" b="1" dirty="0">
                <a:solidFill>
                  <a:srgbClr val="222633"/>
                </a:solidFill>
                <a:highlight>
                  <a:srgbClr val="FFFF00"/>
                </a:highlight>
                <a:latin typeface="Pretendard" pitchFamily="34" charset="0"/>
                <a:ea typeface="Pretendard" pitchFamily="34" charset="-122"/>
                <a:cs typeface="Pretendard" pitchFamily="34" charset="-120"/>
              </a:rPr>
              <a:t>약물남용 · 중독 등으로 의료적 치료나</a:t>
            </a:r>
            <a:endParaRPr lang="en-US" sz="1100" b="1" dirty="0">
              <a:highlight>
                <a:srgbClr val="FFFF00"/>
              </a:highlight>
            </a:endParaRPr>
          </a:p>
          <a:p>
            <a:pPr marL="0" indent="0">
              <a:lnSpc>
                <a:spcPts val="1600"/>
              </a:lnSpc>
              <a:buNone/>
            </a:pPr>
            <a:r>
              <a:rPr lang="en-US" sz="1100" b="1" dirty="0">
                <a:solidFill>
                  <a:srgbClr val="222633"/>
                </a:solidFill>
                <a:highlight>
                  <a:srgbClr val="FFFF00"/>
                </a:highlight>
                <a:latin typeface="Pretendard" pitchFamily="34" charset="0"/>
                <a:ea typeface="Pretendard" pitchFamily="34" charset="-122"/>
                <a:cs typeface="Pretendard" pitchFamily="34" charset="-120"/>
              </a:rPr>
              <a:t>집중적인 재활이 필요하다고 판단되는 경우</a:t>
            </a:r>
            <a:endParaRPr lang="en-US" sz="1100" b="1" dirty="0">
              <a:highlight>
                <a:srgbClr val="FFFF00"/>
              </a:highlight>
            </a:endParaRPr>
          </a:p>
        </p:txBody>
      </p:sp>
      <p:sp>
        <p:nvSpPr>
          <p:cNvPr id="32" name="Shape 30"/>
          <p:cNvSpPr/>
          <p:nvPr/>
        </p:nvSpPr>
        <p:spPr>
          <a:xfrm>
            <a:off x="6263640" y="3529584"/>
            <a:ext cx="5166360" cy="566928"/>
          </a:xfrm>
          <a:prstGeom prst="rect">
            <a:avLst/>
          </a:prstGeom>
          <a:solidFill>
            <a:srgbClr val="FFFFFF"/>
          </a:solidFill>
          <a:ln w="12700">
            <a:solidFill>
              <a:srgbClr val="DCE0E8"/>
            </a:solidFill>
            <a:prstDash val="solid"/>
          </a:ln>
        </p:spPr>
        <p:txBody>
          <a:bodyPr/>
          <a:lstStyle/>
          <a:p>
            <a:endParaRPr lang="ko-KR" altLang="en-US"/>
          </a:p>
        </p:txBody>
      </p:sp>
      <p:sp>
        <p:nvSpPr>
          <p:cNvPr id="33" name="Text 31"/>
          <p:cNvSpPr/>
          <p:nvPr/>
        </p:nvSpPr>
        <p:spPr>
          <a:xfrm>
            <a:off x="6446520" y="3529584"/>
            <a:ext cx="1554480" cy="566928"/>
          </a:xfrm>
          <a:prstGeom prst="rect">
            <a:avLst/>
          </a:prstGeom>
          <a:noFill/>
          <a:ln/>
        </p:spPr>
        <p:txBody>
          <a:bodyPr wrap="square" lIns="0" tIns="0" rIns="0" bIns="0" rtlCol="0" anchor="ctr"/>
          <a:lstStyle/>
          <a:p>
            <a:pPr marL="0" indent="0">
              <a:buNone/>
            </a:pPr>
            <a:r>
              <a:rPr lang="en-US" sz="1100" b="1" dirty="0">
                <a:solidFill>
                  <a:srgbClr val="464D5C"/>
                </a:solidFill>
                <a:latin typeface="Pretendard" pitchFamily="34" charset="0"/>
                <a:ea typeface="Pretendard" pitchFamily="34" charset="-122"/>
                <a:cs typeface="Pretendard" pitchFamily="34" charset="-120"/>
              </a:rPr>
              <a:t>기간</a:t>
            </a:r>
            <a:endParaRPr lang="en-US" sz="1100" dirty="0"/>
          </a:p>
        </p:txBody>
      </p:sp>
      <p:sp>
        <p:nvSpPr>
          <p:cNvPr id="34" name="Text 32"/>
          <p:cNvSpPr/>
          <p:nvPr/>
        </p:nvSpPr>
        <p:spPr>
          <a:xfrm>
            <a:off x="8092440" y="3529584"/>
            <a:ext cx="3136392" cy="566928"/>
          </a:xfrm>
          <a:prstGeom prst="rect">
            <a:avLst/>
          </a:prstGeom>
          <a:noFill/>
          <a:ln/>
        </p:spPr>
        <p:txBody>
          <a:bodyPr wrap="square" lIns="0" tIns="0" rIns="0" bIns="0" rtlCol="0" anchor="ctr"/>
          <a:lstStyle/>
          <a:p>
            <a:pPr marL="0" indent="0">
              <a:lnSpc>
                <a:spcPts val="1600"/>
              </a:lnSpc>
              <a:buNone/>
            </a:pPr>
            <a:r>
              <a:rPr lang="en-US" sz="1100" b="1" dirty="0">
                <a:solidFill>
                  <a:srgbClr val="222633"/>
                </a:solidFill>
                <a:latin typeface="Pretendard" pitchFamily="34" charset="0"/>
                <a:ea typeface="Pretendard" pitchFamily="34" charset="-122"/>
                <a:cs typeface="Pretendard" pitchFamily="34" charset="-120"/>
              </a:rPr>
              <a:t>기본 6개월</a:t>
            </a:r>
            <a:endParaRPr lang="en-US" sz="1100" b="1" dirty="0"/>
          </a:p>
          <a:p>
            <a:pPr marL="0" indent="0">
              <a:lnSpc>
                <a:spcPts val="1600"/>
              </a:lnSpc>
              <a:buNone/>
            </a:pPr>
            <a:r>
              <a:rPr lang="en-US" sz="1100" dirty="0">
                <a:solidFill>
                  <a:srgbClr val="222633"/>
                </a:solidFill>
                <a:latin typeface="Pretendard" pitchFamily="34" charset="0"/>
                <a:ea typeface="Pretendard" pitchFamily="34" charset="-122"/>
                <a:cs typeface="Pretendard" pitchFamily="34" charset="-120"/>
              </a:rPr>
              <a:t>필요하면 한 번에 한해 6개월 범위에서 연장 가능</a:t>
            </a:r>
            <a:endParaRPr lang="en-US" sz="1100" dirty="0"/>
          </a:p>
        </p:txBody>
      </p:sp>
      <p:sp>
        <p:nvSpPr>
          <p:cNvPr id="35" name="Shape 33"/>
          <p:cNvSpPr/>
          <p:nvPr/>
        </p:nvSpPr>
        <p:spPr>
          <a:xfrm>
            <a:off x="6263640" y="4096512"/>
            <a:ext cx="5166360" cy="676656"/>
          </a:xfrm>
          <a:prstGeom prst="rect">
            <a:avLst/>
          </a:prstGeom>
          <a:solidFill>
            <a:srgbClr val="FFFFFF"/>
          </a:solidFill>
          <a:ln w="12700">
            <a:solidFill>
              <a:srgbClr val="DCE0E8"/>
            </a:solidFill>
            <a:prstDash val="solid"/>
          </a:ln>
        </p:spPr>
        <p:txBody>
          <a:bodyPr/>
          <a:lstStyle/>
          <a:p>
            <a:endParaRPr lang="ko-KR" altLang="en-US"/>
          </a:p>
        </p:txBody>
      </p:sp>
      <p:sp>
        <p:nvSpPr>
          <p:cNvPr id="36" name="Text 34"/>
          <p:cNvSpPr/>
          <p:nvPr/>
        </p:nvSpPr>
        <p:spPr>
          <a:xfrm>
            <a:off x="6446520" y="4096512"/>
            <a:ext cx="1554480" cy="676656"/>
          </a:xfrm>
          <a:prstGeom prst="rect">
            <a:avLst/>
          </a:prstGeom>
          <a:noFill/>
          <a:ln/>
        </p:spPr>
        <p:txBody>
          <a:bodyPr wrap="square" lIns="0" tIns="0" rIns="0" bIns="0" rtlCol="0" anchor="ctr"/>
          <a:lstStyle/>
          <a:p>
            <a:pPr marL="0" indent="0">
              <a:buNone/>
            </a:pPr>
            <a:r>
              <a:rPr lang="en-US" sz="1100" b="1" dirty="0">
                <a:solidFill>
                  <a:srgbClr val="464D5C"/>
                </a:solidFill>
                <a:latin typeface="Pretendard" pitchFamily="34" charset="0"/>
                <a:ea typeface="Pretendard" pitchFamily="34" charset="-122"/>
                <a:cs typeface="Pretendard" pitchFamily="34" charset="-120"/>
              </a:rPr>
              <a:t>어떻게 다른가</a:t>
            </a:r>
            <a:endParaRPr lang="en-US" sz="1100" dirty="0"/>
          </a:p>
        </p:txBody>
      </p:sp>
      <p:sp>
        <p:nvSpPr>
          <p:cNvPr id="37" name="Text 35"/>
          <p:cNvSpPr/>
          <p:nvPr/>
        </p:nvSpPr>
        <p:spPr>
          <a:xfrm>
            <a:off x="8092440" y="4096512"/>
            <a:ext cx="3136392" cy="676656"/>
          </a:xfrm>
          <a:prstGeom prst="rect">
            <a:avLst/>
          </a:prstGeom>
          <a:noFill/>
          <a:ln/>
        </p:spPr>
        <p:txBody>
          <a:bodyPr wrap="square" lIns="0" tIns="0" rIns="0" bIns="0" rtlCol="0" anchor="ctr"/>
          <a:lstStyle/>
          <a:p>
            <a:pPr marL="0" indent="0">
              <a:lnSpc>
                <a:spcPts val="1600"/>
              </a:lnSpc>
              <a:buNone/>
            </a:pPr>
            <a:r>
              <a:rPr lang="en-US" sz="1100" dirty="0">
                <a:solidFill>
                  <a:srgbClr val="222633"/>
                </a:solidFill>
                <a:latin typeface="Pretendard" pitchFamily="34" charset="0"/>
                <a:ea typeface="Pretendard" pitchFamily="34" charset="-122"/>
                <a:cs typeface="Pretendard" pitchFamily="34" charset="-120"/>
              </a:rPr>
              <a:t>지역사회에서 프로그램에 참여하는 수강명령과 달리</a:t>
            </a:r>
            <a:endParaRPr lang="en-US" sz="1100" dirty="0"/>
          </a:p>
          <a:p>
            <a:pPr marL="0" indent="0">
              <a:lnSpc>
                <a:spcPts val="1600"/>
              </a:lnSpc>
              <a:buNone/>
            </a:pPr>
            <a:r>
              <a:rPr lang="en-US" sz="1100" dirty="0">
                <a:solidFill>
                  <a:srgbClr val="222633"/>
                </a:solidFill>
                <a:latin typeface="Pretendard" pitchFamily="34" charset="0"/>
                <a:ea typeface="Pretendard" pitchFamily="34" charset="-122"/>
                <a:cs typeface="Pretendard" pitchFamily="34" charset="-120"/>
              </a:rPr>
              <a:t>치료기관 등에 위탁하여 의료적 처우를 받게 한다</a:t>
            </a:r>
            <a:endParaRPr lang="en-US" sz="1100" dirty="0"/>
          </a:p>
        </p:txBody>
      </p:sp>
      <p:sp>
        <p:nvSpPr>
          <p:cNvPr id="38" name="Text 36"/>
          <p:cNvSpPr/>
          <p:nvPr/>
        </p:nvSpPr>
        <p:spPr>
          <a:xfrm>
            <a:off x="731520" y="4846320"/>
            <a:ext cx="5166360" cy="420624"/>
          </a:xfrm>
          <a:prstGeom prst="rect">
            <a:avLst/>
          </a:prstGeom>
          <a:noFill/>
          <a:ln/>
        </p:spPr>
        <p:txBody>
          <a:bodyPr wrap="square" lIns="0" tIns="0" rIns="0" bIns="0" rtlCol="0" anchor="t"/>
          <a:lstStyle/>
          <a:p>
            <a:pPr>
              <a:lnSpc>
                <a:spcPts val="1600"/>
              </a:lnSpc>
            </a:pPr>
            <a:r>
              <a:rPr lang="en-US" sz="1100" b="1" dirty="0">
                <a:solidFill>
                  <a:srgbClr val="A8871C"/>
                </a:solidFill>
                <a:latin typeface="Pretendard" pitchFamily="34" charset="0"/>
                <a:ea typeface="Pretendard" pitchFamily="34" charset="-122"/>
                <a:cs typeface="Pretendard" pitchFamily="34" charset="-120"/>
              </a:rPr>
              <a:t>수강명령은 단순한 강의 듣기가 아니라, 약물 사용의 원인을 다루고 거절 · 대처기술을 연습하는 프로그램까지 포함할 수 있다</a:t>
            </a:r>
            <a:endParaRPr lang="en-US" sz="1100" dirty="0"/>
          </a:p>
        </p:txBody>
      </p:sp>
      <p:sp>
        <p:nvSpPr>
          <p:cNvPr id="39" name="Text 37"/>
          <p:cNvSpPr/>
          <p:nvPr/>
        </p:nvSpPr>
        <p:spPr>
          <a:xfrm>
            <a:off x="6263640" y="4846320"/>
            <a:ext cx="5166360" cy="420624"/>
          </a:xfrm>
          <a:prstGeom prst="rect">
            <a:avLst/>
          </a:prstGeom>
          <a:noFill/>
          <a:ln/>
        </p:spPr>
        <p:txBody>
          <a:bodyPr wrap="square" lIns="0" tIns="0" rIns="0" bIns="0" rtlCol="0" anchor="t"/>
          <a:lstStyle/>
          <a:p>
            <a:pPr>
              <a:lnSpc>
                <a:spcPts val="1600"/>
              </a:lnSpc>
            </a:pPr>
            <a:r>
              <a:rPr lang="ko-KR" altLang="en-US" sz="1100" b="1" dirty="0">
                <a:solidFill>
                  <a:srgbClr val="A8871C"/>
                </a:solidFill>
                <a:latin typeface="Pretendard" pitchFamily="34" charset="0"/>
                <a:ea typeface="Pretendard" pitchFamily="34" charset="-122"/>
                <a:cs typeface="Pretendard" pitchFamily="34" charset="-120"/>
              </a:rPr>
              <a:t>제</a:t>
            </a:r>
            <a:r>
              <a:rPr lang="en-US" altLang="ko-KR" sz="1100" b="1" dirty="0">
                <a:solidFill>
                  <a:srgbClr val="A8871C"/>
                </a:solidFill>
                <a:latin typeface="Pretendard" pitchFamily="34" charset="0"/>
                <a:ea typeface="Pretendard" pitchFamily="34" charset="-122"/>
                <a:cs typeface="Pretendard" pitchFamily="34" charset="-120"/>
              </a:rPr>
              <a:t>7</a:t>
            </a:r>
            <a:r>
              <a:rPr lang="ko-KR" altLang="en-US" sz="1100" b="1" dirty="0">
                <a:solidFill>
                  <a:srgbClr val="A8871C"/>
                </a:solidFill>
                <a:latin typeface="Pretendard" pitchFamily="34" charset="0"/>
                <a:ea typeface="Pretendard" pitchFamily="34" charset="-122"/>
                <a:cs typeface="Pretendard" pitchFamily="34" charset="-120"/>
              </a:rPr>
              <a:t>호 의료위탁은 보호관찰과 병합할 수 없는 별도 처분이다</a:t>
            </a:r>
            <a:r>
              <a:rPr lang="en-US" altLang="ko-KR" sz="1100" b="1" dirty="0">
                <a:solidFill>
                  <a:srgbClr val="A8871C"/>
                </a:solidFill>
                <a:latin typeface="Pretendard" pitchFamily="34" charset="0"/>
                <a:ea typeface="Pretendard" pitchFamily="34" charset="-122"/>
                <a:cs typeface="Pretendard" pitchFamily="34" charset="-120"/>
              </a:rPr>
              <a:t>. </a:t>
            </a:r>
            <a:r>
              <a:rPr lang="ko-KR" altLang="en-US" sz="1100" b="1" dirty="0">
                <a:solidFill>
                  <a:srgbClr val="A8871C"/>
                </a:solidFill>
                <a:latin typeface="Pretendard" pitchFamily="34" charset="0"/>
                <a:ea typeface="Pretendard" pitchFamily="34" charset="-122"/>
                <a:cs typeface="Pretendard" pitchFamily="34" charset="-120"/>
              </a:rPr>
              <a:t>위탁 종료 후 지역사회에서 치료와 관리를 어떻게 </a:t>
            </a:r>
            <a:r>
              <a:rPr lang="ko-KR" altLang="en-US" sz="1100" b="1" dirty="0" err="1">
                <a:solidFill>
                  <a:srgbClr val="A8871C"/>
                </a:solidFill>
                <a:latin typeface="Pretendard" pitchFamily="34" charset="0"/>
                <a:ea typeface="Pretendard" pitchFamily="34" charset="-122"/>
                <a:cs typeface="Pretendard" pitchFamily="34" charset="-120"/>
              </a:rPr>
              <a:t>이어갈지가</a:t>
            </a:r>
            <a:r>
              <a:rPr lang="ko-KR" altLang="en-US" sz="1100" b="1" dirty="0">
                <a:solidFill>
                  <a:srgbClr val="A8871C"/>
                </a:solidFill>
                <a:latin typeface="Pretendard" pitchFamily="34" charset="0"/>
                <a:ea typeface="Pretendard" pitchFamily="34" charset="-122"/>
                <a:cs typeface="Pretendard" pitchFamily="34" charset="-120"/>
              </a:rPr>
              <a:t> 과제로 남는다</a:t>
            </a:r>
            <a:r>
              <a:rPr lang="en-US" altLang="ko-KR" sz="1100" b="1" dirty="0">
                <a:solidFill>
                  <a:srgbClr val="A8871C"/>
                </a:solidFill>
                <a:latin typeface="Pretendard" pitchFamily="34" charset="0"/>
                <a:ea typeface="Pretendard" pitchFamily="34" charset="-122"/>
                <a:cs typeface="Pretendard" pitchFamily="34" charset="-120"/>
              </a:rPr>
              <a:t>.</a:t>
            </a:r>
            <a:endParaRPr lang="en-US" sz="1100" dirty="0"/>
          </a:p>
        </p:txBody>
      </p:sp>
      <p:sp>
        <p:nvSpPr>
          <p:cNvPr id="40" name="Text 38"/>
          <p:cNvSpPr/>
          <p:nvPr/>
        </p:nvSpPr>
        <p:spPr>
          <a:xfrm>
            <a:off x="731520" y="5312665"/>
            <a:ext cx="5166360" cy="256032"/>
          </a:xfrm>
          <a:prstGeom prst="rect">
            <a:avLst/>
          </a:prstGeom>
          <a:noFill/>
          <a:ln/>
        </p:spPr>
        <p:txBody>
          <a:bodyPr wrap="square" lIns="0" tIns="0" rIns="0" bIns="0" rtlCol="0" anchor="ctr"/>
          <a:lstStyle/>
          <a:p>
            <a:pPr marL="0" indent="0">
              <a:buNone/>
            </a:pPr>
            <a:r>
              <a:rPr lang="en-US" sz="1000" b="1" dirty="0">
                <a:solidFill>
                  <a:srgbClr val="6E7686"/>
                </a:solidFill>
                <a:latin typeface="Pretendard" pitchFamily="34" charset="0"/>
                <a:ea typeface="Pretendard" pitchFamily="34" charset="-122"/>
                <a:cs typeface="Pretendard" pitchFamily="34" charset="-120"/>
              </a:rPr>
              <a:t>제2호 수강명령은 제4·5호 보호관찰과 병합 가능</a:t>
            </a:r>
            <a:endParaRPr lang="en-US" sz="1000" b="1" dirty="0"/>
          </a:p>
        </p:txBody>
      </p:sp>
      <p:sp>
        <p:nvSpPr>
          <p:cNvPr id="41" name="Shape 39"/>
          <p:cNvSpPr/>
          <p:nvPr/>
        </p:nvSpPr>
        <p:spPr>
          <a:xfrm>
            <a:off x="731520" y="5669280"/>
            <a:ext cx="10698480" cy="457200"/>
          </a:xfrm>
          <a:prstGeom prst="rect">
            <a:avLst/>
          </a:prstGeom>
          <a:solidFill>
            <a:srgbClr val="1E2761"/>
          </a:solidFill>
          <a:ln w="12700">
            <a:solidFill>
              <a:srgbClr val="1E2761"/>
            </a:solidFill>
            <a:prstDash val="solid"/>
          </a:ln>
        </p:spPr>
        <p:txBody>
          <a:bodyPr/>
          <a:lstStyle/>
          <a:p>
            <a:endParaRPr lang="ko-KR" altLang="en-US"/>
          </a:p>
        </p:txBody>
      </p:sp>
      <p:sp>
        <p:nvSpPr>
          <p:cNvPr id="42" name="Text 40"/>
          <p:cNvSpPr/>
          <p:nvPr/>
        </p:nvSpPr>
        <p:spPr>
          <a:xfrm>
            <a:off x="1005840" y="5669280"/>
            <a:ext cx="10149840" cy="457200"/>
          </a:xfrm>
          <a:prstGeom prst="rect">
            <a:avLst/>
          </a:prstGeom>
          <a:noFill/>
          <a:ln/>
        </p:spPr>
        <p:txBody>
          <a:bodyPr wrap="square" lIns="0" tIns="0" rIns="0" bIns="0" rtlCol="0" anchor="ctr"/>
          <a:lstStyle/>
          <a:p>
            <a:pPr algn="ctr"/>
            <a:r>
              <a:rPr lang="ko-KR" altLang="en-US" sz="1350" b="1" dirty="0">
                <a:solidFill>
                  <a:srgbClr val="FFFFFF"/>
                </a:solidFill>
                <a:latin typeface="Pretendard" pitchFamily="34" charset="0"/>
                <a:ea typeface="Pretendard" pitchFamily="34" charset="-122"/>
                <a:cs typeface="Pretendard" pitchFamily="34" charset="-120"/>
              </a:rPr>
              <a:t>수강명령은 지역사회에서 교육</a:t>
            </a:r>
            <a:r>
              <a:rPr lang="en-US" altLang="ko-KR" sz="1350" b="1" dirty="0">
                <a:solidFill>
                  <a:srgbClr val="FFFFFF"/>
                </a:solidFill>
                <a:latin typeface="Pretendard" pitchFamily="34" charset="0"/>
                <a:ea typeface="Pretendard" pitchFamily="34" charset="-122"/>
                <a:cs typeface="Pretendard" pitchFamily="34" charset="-120"/>
              </a:rPr>
              <a:t>·</a:t>
            </a:r>
            <a:r>
              <a:rPr lang="ko-KR" altLang="en-US" sz="1350" b="1" dirty="0">
                <a:solidFill>
                  <a:srgbClr val="FFFFFF"/>
                </a:solidFill>
                <a:latin typeface="Pretendard" pitchFamily="34" charset="0"/>
                <a:ea typeface="Pretendard" pitchFamily="34" charset="-122"/>
                <a:cs typeface="Pretendard" pitchFamily="34" charset="-120"/>
              </a:rPr>
              <a:t>치료 프로그램에 참여하게 하는 처분이고</a:t>
            </a:r>
            <a:r>
              <a:rPr lang="en-US" altLang="ko-KR" sz="1350" b="1" dirty="0">
                <a:solidFill>
                  <a:srgbClr val="FFFFFF"/>
                </a:solidFill>
                <a:latin typeface="Pretendard" pitchFamily="34" charset="0"/>
                <a:ea typeface="Pretendard" pitchFamily="34" charset="-122"/>
                <a:cs typeface="Pretendard" pitchFamily="34" charset="-120"/>
              </a:rPr>
              <a:t>, </a:t>
            </a:r>
            <a:r>
              <a:rPr lang="ko-KR" altLang="en-US" sz="1350" b="1" dirty="0">
                <a:solidFill>
                  <a:srgbClr val="FFFFFF"/>
                </a:solidFill>
                <a:latin typeface="Pretendard" pitchFamily="34" charset="0"/>
                <a:ea typeface="Pretendard" pitchFamily="34" charset="-122"/>
                <a:cs typeface="Pretendard" pitchFamily="34" charset="-120"/>
              </a:rPr>
              <a:t>의료위탁은 치료 필요가 큰 경우 치료기관 등에 맡기는 처분이다</a:t>
            </a:r>
          </a:p>
        </p:txBody>
      </p:sp>
      <p:sp>
        <p:nvSpPr>
          <p:cNvPr id="43" name="Shape 41"/>
          <p:cNvSpPr/>
          <p:nvPr/>
        </p:nvSpPr>
        <p:spPr>
          <a:xfrm>
            <a:off x="731520" y="6153912"/>
            <a:ext cx="10698480" cy="0"/>
          </a:xfrm>
          <a:prstGeom prst="line">
            <a:avLst/>
          </a:prstGeom>
          <a:noFill/>
          <a:ln w="12700">
            <a:solidFill>
              <a:srgbClr val="DCE0E8"/>
            </a:solidFill>
            <a:prstDash val="solid"/>
          </a:ln>
        </p:spPr>
        <p:txBody>
          <a:bodyPr/>
          <a:lstStyle/>
          <a:p>
            <a:endParaRPr lang="ko-KR"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1. 논제의 범위와 현행 대응</a:t>
            </a:r>
            <a:endParaRPr lang="en-US" sz="1250" dirty="0"/>
          </a:p>
        </p:txBody>
      </p:sp>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치료보호와 사회재활</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pPr marL="0" indent="0">
              <a:buNone/>
            </a:pPr>
            <a:r>
              <a:rPr lang="en-US" sz="2700" b="1" dirty="0">
                <a:solidFill>
                  <a:srgbClr val="1E2761"/>
                </a:solidFill>
                <a:latin typeface="Pretendard" pitchFamily="34" charset="0"/>
                <a:ea typeface="Pretendard" pitchFamily="34" charset="-122"/>
                <a:cs typeface="Pretendard" pitchFamily="34" charset="-120"/>
              </a:rPr>
              <a:t>형사재판 경로 — 형</a:t>
            </a:r>
            <a:r>
              <a:rPr lang="ko-KR" altLang="en-US" sz="2700" b="1" dirty="0">
                <a:solidFill>
                  <a:srgbClr val="1E2761"/>
                </a:solidFill>
                <a:latin typeface="Pretendard" pitchFamily="34" charset="0"/>
                <a:ea typeface="Pretendard" pitchFamily="34" charset="-122"/>
                <a:cs typeface="Pretendard" pitchFamily="34" charset="-120"/>
              </a:rPr>
              <a:t>의 선고와 </a:t>
            </a:r>
            <a:r>
              <a:rPr lang="en-US" sz="2700" b="1" dirty="0" err="1">
                <a:solidFill>
                  <a:srgbClr val="1E2761"/>
                </a:solidFill>
                <a:latin typeface="Pretendard" pitchFamily="34" charset="0"/>
                <a:ea typeface="Pretendard" pitchFamily="34" charset="-122"/>
                <a:cs typeface="Pretendard" pitchFamily="34" charset="-120"/>
              </a:rPr>
              <a:t>재활교육은</a:t>
            </a:r>
            <a:r>
              <a:rPr lang="en-US" sz="2700" b="1" dirty="0">
                <a:solidFill>
                  <a:srgbClr val="1E2761"/>
                </a:solidFill>
                <a:latin typeface="Pretendard" pitchFamily="34" charset="0"/>
                <a:ea typeface="Pretendard" pitchFamily="34" charset="-122"/>
                <a:cs typeface="Pretendard" pitchFamily="34" charset="-120"/>
              </a:rPr>
              <a:t> 함께 이루어진다</a:t>
            </a:r>
            <a:endParaRPr lang="en-US" sz="2700" dirty="0"/>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353312"/>
            <a:ext cx="10698480" cy="438912"/>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987552" y="1353312"/>
            <a:ext cx="10186416" cy="438912"/>
          </a:xfrm>
          <a:prstGeom prst="rect">
            <a:avLst/>
          </a:prstGeom>
          <a:noFill/>
          <a:ln/>
        </p:spPr>
        <p:txBody>
          <a:bodyPr wrap="square" lIns="0" tIns="0" rIns="0" bIns="0" rtlCol="0" anchor="ctr"/>
          <a:lstStyle/>
          <a:p>
            <a:r>
              <a:rPr lang="ko-KR" altLang="en-US" sz="1250" b="1" dirty="0">
                <a:solidFill>
                  <a:srgbClr val="1E2761"/>
                </a:solidFill>
                <a:latin typeface="Pretendard" pitchFamily="34" charset="0"/>
                <a:ea typeface="Pretendard" pitchFamily="34" charset="-122"/>
                <a:cs typeface="Pretendard" pitchFamily="34" charset="-120"/>
              </a:rPr>
              <a:t>마약류를 위법하게 투약</a:t>
            </a:r>
            <a:r>
              <a:rPr lang="en-US" altLang="ko-KR" sz="1250" b="1" dirty="0">
                <a:solidFill>
                  <a:srgbClr val="1E2761"/>
                </a:solidFill>
                <a:latin typeface="Pretendard" pitchFamily="34" charset="0"/>
                <a:ea typeface="Pretendard" pitchFamily="34" charset="-122"/>
                <a:cs typeface="Pretendard" pitchFamily="34" charset="-120"/>
              </a:rPr>
              <a:t>·</a:t>
            </a:r>
            <a:r>
              <a:rPr lang="ko-KR" altLang="en-US" sz="1250" b="1" dirty="0">
                <a:solidFill>
                  <a:srgbClr val="1E2761"/>
                </a:solidFill>
                <a:latin typeface="Pretendard" pitchFamily="34" charset="0"/>
                <a:ea typeface="Pretendard" pitchFamily="34" charset="-122"/>
                <a:cs typeface="Pretendard" pitchFamily="34" charset="-120"/>
              </a:rPr>
              <a:t>흡연</a:t>
            </a:r>
            <a:r>
              <a:rPr lang="en-US" altLang="ko-KR" sz="1250" b="1" dirty="0">
                <a:solidFill>
                  <a:srgbClr val="1E2761"/>
                </a:solidFill>
                <a:latin typeface="Pretendard" pitchFamily="34" charset="0"/>
                <a:ea typeface="Pretendard" pitchFamily="34" charset="-122"/>
                <a:cs typeface="Pretendard" pitchFamily="34" charset="-120"/>
              </a:rPr>
              <a:t>·</a:t>
            </a:r>
            <a:r>
              <a:rPr lang="ko-KR" altLang="en-US" sz="1250" b="1" dirty="0">
                <a:solidFill>
                  <a:srgbClr val="1E2761"/>
                </a:solidFill>
                <a:latin typeface="Pretendard" pitchFamily="34" charset="0"/>
                <a:ea typeface="Pretendard" pitchFamily="34" charset="-122"/>
                <a:cs typeface="Pretendard" pitchFamily="34" charset="-120"/>
              </a:rPr>
              <a:t>섭취한 사람에게는 </a:t>
            </a:r>
            <a:r>
              <a:rPr lang="ko-KR" altLang="en-US" sz="1250" b="1" dirty="0">
                <a:solidFill>
                  <a:srgbClr val="1E2761"/>
                </a:solidFill>
                <a:highlight>
                  <a:srgbClr val="FFFF00"/>
                </a:highlight>
                <a:latin typeface="Pretendard" pitchFamily="34" charset="0"/>
                <a:ea typeface="Pretendard" pitchFamily="34" charset="-122"/>
                <a:cs typeface="Pretendard" pitchFamily="34" charset="-120"/>
              </a:rPr>
              <a:t>선고유예 시 보호관찰을 명할 수 있고</a:t>
            </a:r>
            <a:r>
              <a:rPr lang="en-US" altLang="ko-KR" sz="1250" b="1" dirty="0">
                <a:solidFill>
                  <a:srgbClr val="1E2761"/>
                </a:solidFill>
                <a:highlight>
                  <a:srgbClr val="FFFF00"/>
                </a:highlight>
                <a:latin typeface="Pretendard" pitchFamily="34" charset="0"/>
                <a:ea typeface="Pretendard" pitchFamily="34" charset="-122"/>
                <a:cs typeface="Pretendard" pitchFamily="34" charset="-120"/>
              </a:rPr>
              <a:t>, </a:t>
            </a:r>
            <a:r>
              <a:rPr lang="ko-KR" altLang="en-US" sz="1250" b="1" dirty="0">
                <a:solidFill>
                  <a:srgbClr val="1E2761"/>
                </a:solidFill>
                <a:highlight>
                  <a:srgbClr val="FFFF00"/>
                </a:highlight>
                <a:latin typeface="Pretendard" pitchFamily="34" charset="0"/>
                <a:ea typeface="Pretendard" pitchFamily="34" charset="-122"/>
                <a:cs typeface="Pretendard" pitchFamily="34" charset="-120"/>
              </a:rPr>
              <a:t>집행유예</a:t>
            </a:r>
            <a:r>
              <a:rPr lang="en-US" altLang="ko-KR" sz="1250" b="1" dirty="0">
                <a:solidFill>
                  <a:srgbClr val="1E2761"/>
                </a:solidFill>
                <a:highlight>
                  <a:srgbClr val="FFFF00"/>
                </a:highlight>
                <a:latin typeface="Pretendard" pitchFamily="34" charset="0"/>
                <a:ea typeface="Pretendard" pitchFamily="34" charset="-122"/>
                <a:cs typeface="Pretendard" pitchFamily="34" charset="-120"/>
              </a:rPr>
              <a:t>·</a:t>
            </a:r>
            <a:r>
              <a:rPr lang="ko-KR" altLang="en-US" sz="1250" b="1" dirty="0">
                <a:solidFill>
                  <a:srgbClr val="1E2761"/>
                </a:solidFill>
                <a:highlight>
                  <a:srgbClr val="FFFF00"/>
                </a:highlight>
                <a:latin typeface="Pretendard" pitchFamily="34" charset="0"/>
                <a:ea typeface="Pretendard" pitchFamily="34" charset="-122"/>
                <a:cs typeface="Pretendard" pitchFamily="34" charset="-120"/>
              </a:rPr>
              <a:t>벌금형</a:t>
            </a:r>
            <a:r>
              <a:rPr lang="en-US" altLang="ko-KR" sz="1250" b="1" dirty="0">
                <a:solidFill>
                  <a:srgbClr val="1E2761"/>
                </a:solidFill>
                <a:highlight>
                  <a:srgbClr val="FFFF00"/>
                </a:highlight>
                <a:latin typeface="Pretendard" pitchFamily="34" charset="0"/>
                <a:ea typeface="Pretendard" pitchFamily="34" charset="-122"/>
                <a:cs typeface="Pretendard" pitchFamily="34" charset="-120"/>
              </a:rPr>
              <a:t>·</a:t>
            </a:r>
            <a:r>
              <a:rPr lang="ko-KR" altLang="en-US" sz="1250" b="1" dirty="0">
                <a:solidFill>
                  <a:srgbClr val="1E2761"/>
                </a:solidFill>
                <a:highlight>
                  <a:srgbClr val="FFFF00"/>
                </a:highlight>
                <a:latin typeface="Pretendard" pitchFamily="34" charset="0"/>
                <a:ea typeface="Pretendard" pitchFamily="34" charset="-122"/>
                <a:cs typeface="Pretendard" pitchFamily="34" charset="-120"/>
              </a:rPr>
              <a:t>실형에는 원칙적으로 수강명령 또는 이수명령을 병과한다</a:t>
            </a:r>
            <a:r>
              <a:rPr lang="en-US" altLang="ko-KR" sz="1250" b="1" dirty="0">
                <a:solidFill>
                  <a:srgbClr val="1E2761"/>
                </a:solidFill>
                <a:highlight>
                  <a:srgbClr val="FFFF00"/>
                </a:highlight>
                <a:latin typeface="Pretendard" pitchFamily="34" charset="0"/>
                <a:ea typeface="Pretendard" pitchFamily="34" charset="-122"/>
                <a:cs typeface="Pretendard" pitchFamily="34" charset="-120"/>
              </a:rPr>
              <a:t>.</a:t>
            </a:r>
            <a:endParaRPr lang="en-US" sz="1250" dirty="0">
              <a:highlight>
                <a:srgbClr val="FFFF00"/>
              </a:highlight>
            </a:endParaRPr>
          </a:p>
        </p:txBody>
      </p:sp>
      <p:sp>
        <p:nvSpPr>
          <p:cNvPr id="8" name="Text 6"/>
          <p:cNvSpPr/>
          <p:nvPr/>
        </p:nvSpPr>
        <p:spPr>
          <a:xfrm>
            <a:off x="731520" y="1865376"/>
            <a:ext cx="10698480" cy="256032"/>
          </a:xfrm>
          <a:prstGeom prst="rect">
            <a:avLst/>
          </a:prstGeom>
          <a:noFill/>
          <a:ln/>
        </p:spPr>
        <p:txBody>
          <a:bodyPr wrap="square" lIns="0" tIns="0" rIns="0" bIns="0" rtlCol="0" anchor="ctr"/>
          <a:lstStyle/>
          <a:p>
            <a:pPr marL="0" indent="0">
              <a:buNone/>
            </a:pPr>
            <a:r>
              <a:rPr lang="en-US" sz="1050" b="1" dirty="0">
                <a:solidFill>
                  <a:srgbClr val="A8871C"/>
                </a:solidFill>
                <a:latin typeface="Pretendard" pitchFamily="34" charset="0"/>
                <a:ea typeface="Pretendard" pitchFamily="34" charset="-122"/>
                <a:cs typeface="Pretendard" pitchFamily="34" charset="-120"/>
              </a:rPr>
              <a:t>적용대상 │ </a:t>
            </a:r>
            <a:r>
              <a:rPr lang="en-US" sz="1050" dirty="0">
                <a:solidFill>
                  <a:srgbClr val="6E7686"/>
                </a:solidFill>
                <a:latin typeface="Pretendard" pitchFamily="34" charset="0"/>
                <a:ea typeface="Pretendard" pitchFamily="34" charset="-122"/>
                <a:cs typeface="Pretendard" pitchFamily="34" charset="-120"/>
              </a:rPr>
              <a:t>「마약류관리법」 제3·4·5조를 위반하여 마약류를 투약 · 흡연 · 섭취한 사람</a:t>
            </a:r>
            <a:endParaRPr lang="en-US" sz="1050" dirty="0"/>
          </a:p>
        </p:txBody>
      </p:sp>
      <p:sp>
        <p:nvSpPr>
          <p:cNvPr id="9" name="Shape 7"/>
          <p:cNvSpPr/>
          <p:nvPr/>
        </p:nvSpPr>
        <p:spPr>
          <a:xfrm>
            <a:off x="731520" y="2176272"/>
            <a:ext cx="2834640" cy="402336"/>
          </a:xfrm>
          <a:prstGeom prst="rect">
            <a:avLst/>
          </a:prstGeom>
          <a:solidFill>
            <a:srgbClr val="F2F4F8"/>
          </a:solidFill>
          <a:ln w="12700">
            <a:solidFill>
              <a:srgbClr val="DCE0E8"/>
            </a:solidFill>
            <a:prstDash val="solid"/>
          </a:ln>
        </p:spPr>
        <p:txBody>
          <a:bodyPr/>
          <a:lstStyle/>
          <a:p>
            <a:endParaRPr lang="ko-KR" altLang="en-US"/>
          </a:p>
        </p:txBody>
      </p:sp>
      <p:sp>
        <p:nvSpPr>
          <p:cNvPr id="10" name="Text 8"/>
          <p:cNvSpPr/>
          <p:nvPr/>
        </p:nvSpPr>
        <p:spPr>
          <a:xfrm>
            <a:off x="804672" y="2176272"/>
            <a:ext cx="2688336" cy="402336"/>
          </a:xfrm>
          <a:prstGeom prst="rect">
            <a:avLst/>
          </a:prstGeom>
          <a:noFill/>
          <a:ln/>
        </p:spPr>
        <p:txBody>
          <a:bodyPr wrap="square" lIns="0" tIns="0" rIns="0" bIns="0" rtlCol="0" anchor="ctr"/>
          <a:lstStyle/>
          <a:p>
            <a:pPr marL="0" indent="0" algn="ctr">
              <a:buNone/>
            </a:pPr>
            <a:r>
              <a:rPr lang="en-US" sz="1250" b="1" dirty="0">
                <a:solidFill>
                  <a:srgbClr val="1E2761"/>
                </a:solidFill>
                <a:latin typeface="Pretendard" pitchFamily="34" charset="0"/>
                <a:ea typeface="Pretendard" pitchFamily="34" charset="-122"/>
                <a:cs typeface="Pretendard" pitchFamily="34" charset="-120"/>
              </a:rPr>
              <a:t>재판 결과</a:t>
            </a:r>
            <a:endParaRPr lang="en-US" sz="1250" dirty="0"/>
          </a:p>
        </p:txBody>
      </p:sp>
      <p:sp>
        <p:nvSpPr>
          <p:cNvPr id="11" name="Shape 9"/>
          <p:cNvSpPr/>
          <p:nvPr/>
        </p:nvSpPr>
        <p:spPr>
          <a:xfrm>
            <a:off x="3566160" y="2176272"/>
            <a:ext cx="4480560" cy="402336"/>
          </a:xfrm>
          <a:prstGeom prst="rect">
            <a:avLst/>
          </a:prstGeom>
          <a:solidFill>
            <a:srgbClr val="F2F4F8"/>
          </a:solidFill>
          <a:ln w="12700">
            <a:solidFill>
              <a:srgbClr val="DCE0E8"/>
            </a:solidFill>
            <a:prstDash val="solid"/>
          </a:ln>
        </p:spPr>
        <p:txBody>
          <a:bodyPr/>
          <a:lstStyle/>
          <a:p>
            <a:endParaRPr lang="ko-KR" altLang="en-US"/>
          </a:p>
        </p:txBody>
      </p:sp>
      <p:sp>
        <p:nvSpPr>
          <p:cNvPr id="12" name="Text 10"/>
          <p:cNvSpPr/>
          <p:nvPr/>
        </p:nvSpPr>
        <p:spPr>
          <a:xfrm>
            <a:off x="3639312" y="2176272"/>
            <a:ext cx="4334256" cy="402336"/>
          </a:xfrm>
          <a:prstGeom prst="rect">
            <a:avLst/>
          </a:prstGeom>
          <a:noFill/>
          <a:ln/>
        </p:spPr>
        <p:txBody>
          <a:bodyPr wrap="square" lIns="0" tIns="0" rIns="0" bIns="0" rtlCol="0" anchor="ctr"/>
          <a:lstStyle/>
          <a:p>
            <a:pPr marL="0" indent="0" algn="ctr">
              <a:buNone/>
            </a:pPr>
            <a:r>
              <a:rPr lang="en-US" sz="1250" b="1" dirty="0">
                <a:solidFill>
                  <a:srgbClr val="1E2761"/>
                </a:solidFill>
                <a:latin typeface="Pretendard" pitchFamily="34" charset="0"/>
                <a:ea typeface="Pretendard" pitchFamily="34" charset="-122"/>
                <a:cs typeface="Pretendard" pitchFamily="34" charset="-120"/>
              </a:rPr>
              <a:t>함께 이루어지는 조치</a:t>
            </a:r>
            <a:endParaRPr lang="en-US" sz="1250" dirty="0"/>
          </a:p>
        </p:txBody>
      </p:sp>
      <p:sp>
        <p:nvSpPr>
          <p:cNvPr id="13" name="Shape 11"/>
          <p:cNvSpPr/>
          <p:nvPr/>
        </p:nvSpPr>
        <p:spPr>
          <a:xfrm>
            <a:off x="8046720" y="2176272"/>
            <a:ext cx="3383280" cy="402336"/>
          </a:xfrm>
          <a:prstGeom prst="rect">
            <a:avLst/>
          </a:prstGeom>
          <a:solidFill>
            <a:srgbClr val="F2F4F8"/>
          </a:solidFill>
          <a:ln w="12700">
            <a:solidFill>
              <a:srgbClr val="DCE0E8"/>
            </a:solidFill>
            <a:prstDash val="solid"/>
          </a:ln>
        </p:spPr>
        <p:txBody>
          <a:bodyPr/>
          <a:lstStyle/>
          <a:p>
            <a:endParaRPr lang="ko-KR" altLang="en-US"/>
          </a:p>
        </p:txBody>
      </p:sp>
      <p:sp>
        <p:nvSpPr>
          <p:cNvPr id="14" name="Text 12"/>
          <p:cNvSpPr/>
          <p:nvPr/>
        </p:nvSpPr>
        <p:spPr>
          <a:xfrm>
            <a:off x="8119872" y="2176272"/>
            <a:ext cx="3236976" cy="402336"/>
          </a:xfrm>
          <a:prstGeom prst="rect">
            <a:avLst/>
          </a:prstGeom>
          <a:noFill/>
          <a:ln/>
        </p:spPr>
        <p:txBody>
          <a:bodyPr wrap="square" lIns="0" tIns="0" rIns="0" bIns="0" rtlCol="0" anchor="ctr"/>
          <a:lstStyle/>
          <a:p>
            <a:pPr marL="0" indent="0" algn="ctr">
              <a:buNone/>
            </a:pPr>
            <a:r>
              <a:rPr lang="en-US" sz="1250" b="1" dirty="0">
                <a:solidFill>
                  <a:srgbClr val="1E2761"/>
                </a:solidFill>
                <a:latin typeface="Pretendard" pitchFamily="34" charset="0"/>
                <a:ea typeface="Pretendard" pitchFamily="34" charset="-122"/>
                <a:cs typeface="Pretendard" pitchFamily="34" charset="-120"/>
              </a:rPr>
              <a:t>언제 · 어디서</a:t>
            </a:r>
            <a:endParaRPr lang="en-US" sz="1250" dirty="0"/>
          </a:p>
        </p:txBody>
      </p:sp>
      <p:sp>
        <p:nvSpPr>
          <p:cNvPr id="15" name="Shape 13"/>
          <p:cNvSpPr/>
          <p:nvPr/>
        </p:nvSpPr>
        <p:spPr>
          <a:xfrm>
            <a:off x="731520" y="2578608"/>
            <a:ext cx="2834640" cy="530352"/>
          </a:xfrm>
          <a:prstGeom prst="rect">
            <a:avLst/>
          </a:prstGeom>
          <a:solidFill>
            <a:srgbClr val="FFFFFF"/>
          </a:solidFill>
          <a:ln w="12700">
            <a:solidFill>
              <a:srgbClr val="DCE0E8"/>
            </a:solidFill>
            <a:prstDash val="solid"/>
          </a:ln>
        </p:spPr>
        <p:txBody>
          <a:bodyPr/>
          <a:lstStyle/>
          <a:p>
            <a:endParaRPr lang="ko-KR" altLang="en-US"/>
          </a:p>
        </p:txBody>
      </p:sp>
      <p:sp>
        <p:nvSpPr>
          <p:cNvPr id="16" name="Text 14"/>
          <p:cNvSpPr/>
          <p:nvPr/>
        </p:nvSpPr>
        <p:spPr>
          <a:xfrm>
            <a:off x="841248" y="2578608"/>
            <a:ext cx="2034299" cy="530352"/>
          </a:xfrm>
          <a:prstGeom prst="rect">
            <a:avLst/>
          </a:prstGeom>
          <a:noFill/>
          <a:ln/>
        </p:spPr>
        <p:txBody>
          <a:bodyPr wrap="square" lIns="0" tIns="0" rIns="0" bIns="0" rtlCol="0" anchor="ctr"/>
          <a:lstStyle/>
          <a:p>
            <a:pPr marL="0" indent="0" algn="ctr">
              <a:buNone/>
            </a:pPr>
            <a:r>
              <a:rPr lang="en-US" sz="1300" b="1" dirty="0">
                <a:solidFill>
                  <a:srgbClr val="1E2761"/>
                </a:solidFill>
                <a:latin typeface="Pretendard" pitchFamily="34" charset="0"/>
                <a:ea typeface="Pretendard" pitchFamily="34" charset="-122"/>
                <a:cs typeface="Pretendard" pitchFamily="34" charset="-120"/>
              </a:rPr>
              <a:t>선고유예</a:t>
            </a:r>
            <a:endParaRPr lang="en-US" sz="1300" dirty="0"/>
          </a:p>
        </p:txBody>
      </p:sp>
      <p:sp>
        <p:nvSpPr>
          <p:cNvPr id="17" name="Shape 15"/>
          <p:cNvSpPr/>
          <p:nvPr/>
        </p:nvSpPr>
        <p:spPr>
          <a:xfrm>
            <a:off x="3566160" y="2578608"/>
            <a:ext cx="4480560" cy="530352"/>
          </a:xfrm>
          <a:prstGeom prst="rect">
            <a:avLst/>
          </a:prstGeom>
          <a:solidFill>
            <a:srgbClr val="FFFFFF"/>
          </a:solidFill>
          <a:ln w="12700">
            <a:solidFill>
              <a:srgbClr val="DCE0E8"/>
            </a:solidFill>
            <a:prstDash val="solid"/>
          </a:ln>
        </p:spPr>
        <p:txBody>
          <a:bodyPr/>
          <a:lstStyle/>
          <a:p>
            <a:endParaRPr lang="ko-KR" altLang="en-US"/>
          </a:p>
        </p:txBody>
      </p:sp>
      <p:sp>
        <p:nvSpPr>
          <p:cNvPr id="18" name="Text 16"/>
          <p:cNvSpPr/>
          <p:nvPr/>
        </p:nvSpPr>
        <p:spPr>
          <a:xfrm>
            <a:off x="3785616" y="2578608"/>
            <a:ext cx="4041648" cy="530352"/>
          </a:xfrm>
          <a:prstGeom prst="rect">
            <a:avLst/>
          </a:prstGeom>
          <a:noFill/>
          <a:ln/>
        </p:spPr>
        <p:txBody>
          <a:bodyPr wrap="square" lIns="0" tIns="0" rIns="0" bIns="0" rtlCol="0" anchor="ctr"/>
          <a:lstStyle/>
          <a:p>
            <a:r>
              <a:rPr lang="en-US" sz="1200" dirty="0">
                <a:solidFill>
                  <a:srgbClr val="222633"/>
                </a:solidFill>
                <a:latin typeface="Pretendard" pitchFamily="34" charset="0"/>
                <a:ea typeface="Pretendard" pitchFamily="34" charset="-122"/>
                <a:cs typeface="Pretendard" pitchFamily="34" charset="-120"/>
              </a:rPr>
              <a:t>1년 보호관찰을 명할 수 </a:t>
            </a:r>
            <a:r>
              <a:rPr lang="en-US" sz="1200" dirty="0" err="1">
                <a:solidFill>
                  <a:srgbClr val="222633"/>
                </a:solidFill>
                <a:latin typeface="Pretendard" pitchFamily="34" charset="0"/>
                <a:ea typeface="Pretendard" pitchFamily="34" charset="-122"/>
                <a:cs typeface="Pretendard" pitchFamily="34" charset="-120"/>
              </a:rPr>
              <a:t>있음</a:t>
            </a:r>
            <a:r>
              <a:rPr lang="en-US" sz="1200" dirty="0">
                <a:solidFill>
                  <a:srgbClr val="222633"/>
                </a:solidFill>
                <a:latin typeface="Pretendard" pitchFamily="34" charset="0"/>
                <a:ea typeface="Pretendard" pitchFamily="34" charset="-122"/>
                <a:cs typeface="Pretendard" pitchFamily="34" charset="-120"/>
              </a:rPr>
              <a:t>(</a:t>
            </a:r>
            <a:r>
              <a:rPr lang="ko-KR" altLang="en-US" sz="1200" dirty="0" err="1">
                <a:solidFill>
                  <a:srgbClr val="222633"/>
                </a:solidFill>
                <a:latin typeface="Pretendard" pitchFamily="34" charset="0"/>
                <a:ea typeface="Pretendard" pitchFamily="34" charset="-122"/>
                <a:cs typeface="Pretendard" pitchFamily="34" charset="-120"/>
              </a:rPr>
              <a:t>수강</a:t>
            </a:r>
            <a:r>
              <a:rPr lang="ko-KR" altLang="ko-KR" sz="1200" dirty="0" err="1"/>
              <a:t>·</a:t>
            </a:r>
            <a:r>
              <a:rPr lang="ko-KR" altLang="en-US" sz="1200" dirty="0" err="1">
                <a:solidFill>
                  <a:srgbClr val="222633"/>
                </a:solidFill>
                <a:latin typeface="Pretendard" pitchFamily="34" charset="0"/>
                <a:ea typeface="Pretendard" pitchFamily="34" charset="-122"/>
                <a:cs typeface="Pretendard" pitchFamily="34" charset="-120"/>
              </a:rPr>
              <a:t>이수명령</a:t>
            </a:r>
            <a:r>
              <a:rPr lang="ko-KR" altLang="en-US" sz="1200" dirty="0">
                <a:solidFill>
                  <a:srgbClr val="222633"/>
                </a:solidFill>
                <a:latin typeface="Pretendard" pitchFamily="34" charset="0"/>
                <a:ea typeface="Pretendard" pitchFamily="34" charset="-122"/>
                <a:cs typeface="Pretendard" pitchFamily="34" charset="-120"/>
              </a:rPr>
              <a:t> 부과 불가</a:t>
            </a:r>
            <a:r>
              <a:rPr lang="en-US" altLang="ko-KR" sz="1200" dirty="0">
                <a:solidFill>
                  <a:srgbClr val="222633"/>
                </a:solidFill>
                <a:latin typeface="Pretendard" pitchFamily="34" charset="0"/>
                <a:ea typeface="Pretendard" pitchFamily="34" charset="-122"/>
                <a:cs typeface="Pretendard" pitchFamily="34" charset="-120"/>
              </a:rPr>
              <a:t>, </a:t>
            </a:r>
            <a:r>
              <a:rPr lang="ko-KR" altLang="en-US" sz="1200" dirty="0">
                <a:solidFill>
                  <a:srgbClr val="222633"/>
                </a:solidFill>
                <a:latin typeface="Pretendard" pitchFamily="34" charset="0"/>
                <a:ea typeface="Pretendard" pitchFamily="34" charset="-122"/>
                <a:cs typeface="Pretendard" pitchFamily="34" charset="-120"/>
              </a:rPr>
              <a:t>제</a:t>
            </a:r>
            <a:r>
              <a:rPr lang="en-US" altLang="ko-KR" sz="1200" dirty="0">
                <a:solidFill>
                  <a:srgbClr val="222633"/>
                </a:solidFill>
                <a:latin typeface="Pretendard" pitchFamily="34" charset="0"/>
                <a:ea typeface="Pretendard" pitchFamily="34" charset="-122"/>
                <a:cs typeface="Pretendard" pitchFamily="34" charset="-120"/>
              </a:rPr>
              <a:t>40</a:t>
            </a:r>
            <a:r>
              <a:rPr lang="ko-KR" altLang="en-US" sz="1200" dirty="0">
                <a:solidFill>
                  <a:srgbClr val="222633"/>
                </a:solidFill>
                <a:latin typeface="Pretendard" pitchFamily="34" charset="0"/>
                <a:ea typeface="Pretendard" pitchFamily="34" charset="-122"/>
                <a:cs typeface="Pretendard" pitchFamily="34" charset="-120"/>
              </a:rPr>
              <a:t>조의</a:t>
            </a:r>
            <a:r>
              <a:rPr lang="en-US" altLang="ko-KR" sz="1200" dirty="0">
                <a:solidFill>
                  <a:srgbClr val="222633"/>
                </a:solidFill>
                <a:latin typeface="Pretendard" pitchFamily="34" charset="0"/>
                <a:ea typeface="Pretendard" pitchFamily="34" charset="-122"/>
                <a:cs typeface="Pretendard" pitchFamily="34" charset="-120"/>
              </a:rPr>
              <a:t>2)</a:t>
            </a:r>
            <a:endParaRPr lang="en-US" sz="1200" dirty="0"/>
          </a:p>
        </p:txBody>
      </p:sp>
      <p:sp>
        <p:nvSpPr>
          <p:cNvPr id="19" name="Shape 17"/>
          <p:cNvSpPr/>
          <p:nvPr/>
        </p:nvSpPr>
        <p:spPr>
          <a:xfrm>
            <a:off x="8046720" y="2578608"/>
            <a:ext cx="3383280" cy="530352"/>
          </a:xfrm>
          <a:prstGeom prst="rect">
            <a:avLst/>
          </a:prstGeom>
          <a:solidFill>
            <a:srgbClr val="FFFFFF"/>
          </a:solidFill>
          <a:ln w="12700">
            <a:solidFill>
              <a:srgbClr val="DCE0E8"/>
            </a:solidFill>
            <a:prstDash val="solid"/>
          </a:ln>
        </p:spPr>
        <p:txBody>
          <a:bodyPr/>
          <a:lstStyle/>
          <a:p>
            <a:endParaRPr lang="ko-KR" altLang="en-US"/>
          </a:p>
        </p:txBody>
      </p:sp>
      <p:sp>
        <p:nvSpPr>
          <p:cNvPr id="20" name="Text 18"/>
          <p:cNvSpPr/>
          <p:nvPr/>
        </p:nvSpPr>
        <p:spPr>
          <a:xfrm>
            <a:off x="8266176" y="2578608"/>
            <a:ext cx="2944368" cy="530352"/>
          </a:xfrm>
          <a:prstGeom prst="rect">
            <a:avLst/>
          </a:prstGeom>
          <a:noFill/>
          <a:ln/>
        </p:spPr>
        <p:txBody>
          <a:bodyPr wrap="square" lIns="0" tIns="0" rIns="0" bIns="0" rtlCol="0" anchor="ctr"/>
          <a:lstStyle/>
          <a:p>
            <a:pPr>
              <a:lnSpc>
                <a:spcPts val="1700"/>
              </a:lnSpc>
            </a:pPr>
            <a:r>
              <a:rPr lang="en-US" sz="1200" dirty="0" err="1">
                <a:solidFill>
                  <a:srgbClr val="222633"/>
                </a:solidFill>
                <a:latin typeface="Pretendard" pitchFamily="34" charset="0"/>
                <a:ea typeface="Pretendard" pitchFamily="34" charset="-122"/>
                <a:cs typeface="Pretendard" pitchFamily="34" charset="-120"/>
              </a:rPr>
              <a:t>지역사회</a:t>
            </a:r>
            <a:r>
              <a:rPr lang="en-US" sz="1200" dirty="0">
                <a:solidFill>
                  <a:srgbClr val="222633"/>
                </a:solidFill>
                <a:latin typeface="Pretendard" pitchFamily="34" charset="0"/>
                <a:ea typeface="Pretendard" pitchFamily="34" charset="-122"/>
                <a:cs typeface="Pretendard" pitchFamily="34" charset="-120"/>
              </a:rPr>
              <a:t> </a:t>
            </a:r>
            <a:r>
              <a:rPr lang="ko-KR" altLang="en-US" sz="1200" dirty="0">
                <a:solidFill>
                  <a:srgbClr val="222633"/>
                </a:solidFill>
                <a:latin typeface="Pretendard" pitchFamily="34" charset="0"/>
                <a:ea typeface="Pretendard" pitchFamily="34" charset="-122"/>
                <a:cs typeface="Pretendard" pitchFamily="34" charset="-120"/>
              </a:rPr>
              <a:t>내 </a:t>
            </a:r>
            <a:r>
              <a:rPr lang="en-US" altLang="ko-KR" sz="1200" dirty="0">
                <a:solidFill>
                  <a:srgbClr val="222633"/>
                </a:solidFill>
                <a:latin typeface="Pretendard" pitchFamily="34" charset="0"/>
                <a:ea typeface="Pretendard" pitchFamily="34" charset="-122"/>
                <a:cs typeface="Pretendard" pitchFamily="34" charset="-120"/>
              </a:rPr>
              <a:t>·</a:t>
            </a:r>
            <a:r>
              <a:rPr lang="en-US" sz="1200" dirty="0">
                <a:solidFill>
                  <a:srgbClr val="222633"/>
                </a:solidFill>
                <a:latin typeface="Pretendard" pitchFamily="34" charset="0"/>
                <a:ea typeface="Pretendard" pitchFamily="34" charset="-122"/>
                <a:cs typeface="Pretendard" pitchFamily="34" charset="-120"/>
              </a:rPr>
              <a:t> </a:t>
            </a:r>
            <a:r>
              <a:rPr lang="en-US" sz="1200" b="1" dirty="0" err="1">
                <a:solidFill>
                  <a:srgbClr val="222633"/>
                </a:solidFill>
                <a:latin typeface="Pretendard" pitchFamily="34" charset="0"/>
                <a:ea typeface="Pretendard" pitchFamily="34" charset="-122"/>
                <a:cs typeface="Pretendard" pitchFamily="34" charset="-120"/>
              </a:rPr>
              <a:t>보호관찰</a:t>
            </a:r>
            <a:r>
              <a:rPr lang="ko-KR" altLang="en-US" sz="1200" b="1" dirty="0">
                <a:solidFill>
                  <a:srgbClr val="222633"/>
                </a:solidFill>
                <a:latin typeface="Pretendard" pitchFamily="34" charset="0"/>
                <a:ea typeface="Pretendard" pitchFamily="34" charset="-122"/>
                <a:cs typeface="Pretendard" pitchFamily="34" charset="-120"/>
              </a:rPr>
              <a:t>소</a:t>
            </a:r>
            <a:endParaRPr lang="en-US" sz="1200" b="1" dirty="0"/>
          </a:p>
        </p:txBody>
      </p:sp>
      <p:sp>
        <p:nvSpPr>
          <p:cNvPr id="21" name="Shape 19"/>
          <p:cNvSpPr/>
          <p:nvPr/>
        </p:nvSpPr>
        <p:spPr>
          <a:xfrm>
            <a:off x="731520" y="3108960"/>
            <a:ext cx="2834640" cy="530352"/>
          </a:xfrm>
          <a:prstGeom prst="rect">
            <a:avLst/>
          </a:prstGeom>
          <a:solidFill>
            <a:srgbClr val="FFFFFF"/>
          </a:solidFill>
          <a:ln w="12700">
            <a:solidFill>
              <a:srgbClr val="DCE0E8"/>
            </a:solidFill>
            <a:prstDash val="solid"/>
          </a:ln>
        </p:spPr>
        <p:txBody>
          <a:bodyPr/>
          <a:lstStyle/>
          <a:p>
            <a:endParaRPr lang="ko-KR" altLang="en-US"/>
          </a:p>
        </p:txBody>
      </p:sp>
      <p:sp>
        <p:nvSpPr>
          <p:cNvPr id="22" name="Text 20"/>
          <p:cNvSpPr/>
          <p:nvPr/>
        </p:nvSpPr>
        <p:spPr>
          <a:xfrm>
            <a:off x="841248" y="3108960"/>
            <a:ext cx="2034299" cy="530352"/>
          </a:xfrm>
          <a:prstGeom prst="rect">
            <a:avLst/>
          </a:prstGeom>
          <a:noFill/>
          <a:ln/>
        </p:spPr>
        <p:txBody>
          <a:bodyPr wrap="square" lIns="0" tIns="0" rIns="0" bIns="0" rtlCol="0" anchor="ctr"/>
          <a:lstStyle/>
          <a:p>
            <a:pPr marL="0" indent="0" algn="ctr">
              <a:buNone/>
            </a:pPr>
            <a:r>
              <a:rPr lang="en-US" sz="1300" b="1" dirty="0">
                <a:solidFill>
                  <a:srgbClr val="1E2761"/>
                </a:solidFill>
                <a:latin typeface="Pretendard" pitchFamily="34" charset="0"/>
                <a:ea typeface="Pretendard" pitchFamily="34" charset="-122"/>
                <a:cs typeface="Pretendard" pitchFamily="34" charset="-120"/>
              </a:rPr>
              <a:t>집행유예</a:t>
            </a:r>
            <a:endParaRPr lang="en-US" sz="1300" dirty="0"/>
          </a:p>
        </p:txBody>
      </p:sp>
      <p:sp>
        <p:nvSpPr>
          <p:cNvPr id="23" name="Shape 21"/>
          <p:cNvSpPr/>
          <p:nvPr/>
        </p:nvSpPr>
        <p:spPr>
          <a:xfrm>
            <a:off x="3566160" y="3108960"/>
            <a:ext cx="4480560" cy="530352"/>
          </a:xfrm>
          <a:prstGeom prst="rect">
            <a:avLst/>
          </a:prstGeom>
          <a:solidFill>
            <a:srgbClr val="FFFFFF"/>
          </a:solidFill>
          <a:ln w="12700">
            <a:solidFill>
              <a:srgbClr val="DCE0E8"/>
            </a:solidFill>
            <a:prstDash val="solid"/>
          </a:ln>
        </p:spPr>
        <p:txBody>
          <a:bodyPr/>
          <a:lstStyle/>
          <a:p>
            <a:endParaRPr lang="ko-KR" altLang="en-US"/>
          </a:p>
        </p:txBody>
      </p:sp>
      <p:sp>
        <p:nvSpPr>
          <p:cNvPr id="24" name="Text 22"/>
          <p:cNvSpPr/>
          <p:nvPr/>
        </p:nvSpPr>
        <p:spPr>
          <a:xfrm>
            <a:off x="3785616" y="3108960"/>
            <a:ext cx="4041648" cy="530352"/>
          </a:xfrm>
          <a:prstGeom prst="rect">
            <a:avLst/>
          </a:prstGeom>
          <a:noFill/>
          <a:ln/>
        </p:spPr>
        <p:txBody>
          <a:bodyPr wrap="square" lIns="0" tIns="0" rIns="0" bIns="0" rtlCol="0" anchor="ctr"/>
          <a:lstStyle/>
          <a:p>
            <a:pPr marL="0" indent="0">
              <a:lnSpc>
                <a:spcPts val="1700"/>
              </a:lnSpc>
              <a:buNone/>
            </a:pPr>
            <a:r>
              <a:rPr lang="en-US" sz="1200" dirty="0">
                <a:solidFill>
                  <a:srgbClr val="222633"/>
                </a:solidFill>
                <a:latin typeface="Pretendard" pitchFamily="34" charset="0"/>
                <a:ea typeface="Pretendard" pitchFamily="34" charset="-122"/>
                <a:cs typeface="Pretendard" pitchFamily="34" charset="-120"/>
              </a:rPr>
              <a:t>200시간 범위 </a:t>
            </a:r>
            <a:r>
              <a:rPr lang="en-US" sz="1200" b="1" dirty="0">
                <a:solidFill>
                  <a:srgbClr val="222633"/>
                </a:solidFill>
                <a:highlight>
                  <a:srgbClr val="FFFF00"/>
                </a:highlight>
                <a:latin typeface="Pretendard" pitchFamily="34" charset="0"/>
                <a:ea typeface="Pretendard" pitchFamily="34" charset="-122"/>
                <a:cs typeface="Pretendard" pitchFamily="34" charset="-120"/>
              </a:rPr>
              <a:t>재범예방교육 수강명령</a:t>
            </a:r>
            <a:endParaRPr lang="en-US" sz="1200" b="1" dirty="0">
              <a:highlight>
                <a:srgbClr val="FFFF00"/>
              </a:highlight>
            </a:endParaRPr>
          </a:p>
        </p:txBody>
      </p:sp>
      <p:sp>
        <p:nvSpPr>
          <p:cNvPr id="25" name="Shape 23"/>
          <p:cNvSpPr/>
          <p:nvPr/>
        </p:nvSpPr>
        <p:spPr>
          <a:xfrm>
            <a:off x="8046720" y="3108960"/>
            <a:ext cx="3383280" cy="530352"/>
          </a:xfrm>
          <a:prstGeom prst="rect">
            <a:avLst/>
          </a:prstGeom>
          <a:solidFill>
            <a:srgbClr val="FFFFFF"/>
          </a:solidFill>
          <a:ln w="12700">
            <a:solidFill>
              <a:srgbClr val="DCE0E8"/>
            </a:solidFill>
            <a:prstDash val="solid"/>
          </a:ln>
        </p:spPr>
        <p:txBody>
          <a:bodyPr/>
          <a:lstStyle/>
          <a:p>
            <a:endParaRPr lang="ko-KR" altLang="en-US"/>
          </a:p>
        </p:txBody>
      </p:sp>
      <p:sp>
        <p:nvSpPr>
          <p:cNvPr id="26" name="Text 24"/>
          <p:cNvSpPr/>
          <p:nvPr/>
        </p:nvSpPr>
        <p:spPr>
          <a:xfrm>
            <a:off x="8266176" y="3108960"/>
            <a:ext cx="2944368" cy="530352"/>
          </a:xfrm>
          <a:prstGeom prst="rect">
            <a:avLst/>
          </a:prstGeom>
          <a:noFill/>
          <a:ln/>
        </p:spPr>
        <p:txBody>
          <a:bodyPr wrap="square" lIns="0" tIns="0" rIns="0" bIns="0" rtlCol="0" anchor="ctr"/>
          <a:lstStyle/>
          <a:p>
            <a:pPr marL="0" indent="0">
              <a:lnSpc>
                <a:spcPts val="1700"/>
              </a:lnSpc>
              <a:buNone/>
            </a:pPr>
            <a:r>
              <a:rPr lang="en-US" sz="1200" dirty="0">
                <a:solidFill>
                  <a:srgbClr val="222633"/>
                </a:solidFill>
                <a:latin typeface="Pretendard" pitchFamily="34" charset="0"/>
                <a:ea typeface="Pretendard" pitchFamily="34" charset="-122"/>
                <a:cs typeface="Pretendard" pitchFamily="34" charset="-120"/>
              </a:rPr>
              <a:t>집행유예기간 안에  ·  </a:t>
            </a:r>
            <a:r>
              <a:rPr lang="en-US" sz="1200" b="1" dirty="0">
                <a:solidFill>
                  <a:srgbClr val="222633"/>
                </a:solidFill>
                <a:latin typeface="Pretendard" pitchFamily="34" charset="0"/>
                <a:ea typeface="Pretendard" pitchFamily="34" charset="-122"/>
                <a:cs typeface="Pretendard" pitchFamily="34" charset="-120"/>
              </a:rPr>
              <a:t>보호관찰소</a:t>
            </a:r>
            <a:endParaRPr lang="en-US" sz="1200" b="1" dirty="0"/>
          </a:p>
        </p:txBody>
      </p:sp>
      <p:sp>
        <p:nvSpPr>
          <p:cNvPr id="27" name="Shape 25"/>
          <p:cNvSpPr/>
          <p:nvPr/>
        </p:nvSpPr>
        <p:spPr>
          <a:xfrm>
            <a:off x="731520" y="3639312"/>
            <a:ext cx="2834640" cy="530352"/>
          </a:xfrm>
          <a:prstGeom prst="rect">
            <a:avLst/>
          </a:prstGeom>
          <a:solidFill>
            <a:srgbClr val="FFFFFF"/>
          </a:solidFill>
          <a:ln w="12700">
            <a:solidFill>
              <a:srgbClr val="DCE0E8"/>
            </a:solidFill>
            <a:prstDash val="solid"/>
          </a:ln>
        </p:spPr>
        <p:txBody>
          <a:bodyPr/>
          <a:lstStyle/>
          <a:p>
            <a:endParaRPr lang="ko-KR" altLang="en-US"/>
          </a:p>
        </p:txBody>
      </p:sp>
      <p:sp>
        <p:nvSpPr>
          <p:cNvPr id="28" name="Text 26"/>
          <p:cNvSpPr/>
          <p:nvPr/>
        </p:nvSpPr>
        <p:spPr>
          <a:xfrm>
            <a:off x="841248" y="3639312"/>
            <a:ext cx="2615184" cy="530352"/>
          </a:xfrm>
          <a:prstGeom prst="rect">
            <a:avLst/>
          </a:prstGeom>
          <a:noFill/>
          <a:ln/>
        </p:spPr>
        <p:txBody>
          <a:bodyPr wrap="square" lIns="0" tIns="0" rIns="0" bIns="0" rtlCol="0" anchor="ctr"/>
          <a:lstStyle/>
          <a:p>
            <a:pPr marL="0" indent="0" algn="ctr">
              <a:buNone/>
            </a:pPr>
            <a:r>
              <a:rPr lang="en-US" sz="1300" b="1" dirty="0">
                <a:solidFill>
                  <a:srgbClr val="1E2761"/>
                </a:solidFill>
                <a:latin typeface="Pretendard" pitchFamily="34" charset="0"/>
                <a:ea typeface="Pretendard" pitchFamily="34" charset="-122"/>
                <a:cs typeface="Pretendard" pitchFamily="34" charset="-120"/>
              </a:rPr>
              <a:t>벌금형 · 약식명령</a:t>
            </a:r>
            <a:endParaRPr lang="en-US" sz="1300" dirty="0"/>
          </a:p>
        </p:txBody>
      </p:sp>
      <p:sp>
        <p:nvSpPr>
          <p:cNvPr id="29" name="Shape 27"/>
          <p:cNvSpPr/>
          <p:nvPr/>
        </p:nvSpPr>
        <p:spPr>
          <a:xfrm>
            <a:off x="3566160" y="3639312"/>
            <a:ext cx="4480560" cy="530352"/>
          </a:xfrm>
          <a:prstGeom prst="rect">
            <a:avLst/>
          </a:prstGeom>
          <a:solidFill>
            <a:srgbClr val="FFFFFF"/>
          </a:solidFill>
          <a:ln w="12700">
            <a:solidFill>
              <a:srgbClr val="DCE0E8"/>
            </a:solidFill>
            <a:prstDash val="solid"/>
          </a:ln>
        </p:spPr>
        <p:txBody>
          <a:bodyPr/>
          <a:lstStyle/>
          <a:p>
            <a:endParaRPr lang="ko-KR" altLang="en-US"/>
          </a:p>
        </p:txBody>
      </p:sp>
      <p:sp>
        <p:nvSpPr>
          <p:cNvPr id="30" name="Text 28"/>
          <p:cNvSpPr/>
          <p:nvPr/>
        </p:nvSpPr>
        <p:spPr>
          <a:xfrm>
            <a:off x="3785616" y="3639312"/>
            <a:ext cx="4041648" cy="530352"/>
          </a:xfrm>
          <a:prstGeom prst="rect">
            <a:avLst/>
          </a:prstGeom>
          <a:noFill/>
          <a:ln/>
        </p:spPr>
        <p:txBody>
          <a:bodyPr wrap="square" lIns="0" tIns="0" rIns="0" bIns="0" rtlCol="0" anchor="ctr"/>
          <a:lstStyle/>
          <a:p>
            <a:pPr marL="0" indent="0">
              <a:lnSpc>
                <a:spcPts val="1700"/>
              </a:lnSpc>
              <a:buNone/>
            </a:pPr>
            <a:r>
              <a:rPr lang="en-US" sz="1200" dirty="0">
                <a:solidFill>
                  <a:srgbClr val="222633"/>
                </a:solidFill>
                <a:latin typeface="Pretendard" pitchFamily="34" charset="0"/>
                <a:ea typeface="Pretendard" pitchFamily="34" charset="-122"/>
                <a:cs typeface="Pretendard" pitchFamily="34" charset="-120"/>
              </a:rPr>
              <a:t>200시간 범위 </a:t>
            </a:r>
            <a:r>
              <a:rPr lang="en-US" sz="1200" b="1" dirty="0">
                <a:solidFill>
                  <a:srgbClr val="222633"/>
                </a:solidFill>
                <a:highlight>
                  <a:srgbClr val="FFFF00"/>
                </a:highlight>
                <a:latin typeface="Pretendard" pitchFamily="34" charset="0"/>
                <a:ea typeface="Pretendard" pitchFamily="34" charset="-122"/>
                <a:cs typeface="Pretendard" pitchFamily="34" charset="-120"/>
              </a:rPr>
              <a:t>재활교육 프로그램 이수명령</a:t>
            </a:r>
            <a:endParaRPr lang="en-US" sz="1200" b="1" dirty="0">
              <a:highlight>
                <a:srgbClr val="FFFF00"/>
              </a:highlight>
            </a:endParaRPr>
          </a:p>
        </p:txBody>
      </p:sp>
      <p:sp>
        <p:nvSpPr>
          <p:cNvPr id="31" name="Shape 29"/>
          <p:cNvSpPr/>
          <p:nvPr/>
        </p:nvSpPr>
        <p:spPr>
          <a:xfrm>
            <a:off x="8046720" y="3639312"/>
            <a:ext cx="3383280" cy="530352"/>
          </a:xfrm>
          <a:prstGeom prst="rect">
            <a:avLst/>
          </a:prstGeom>
          <a:solidFill>
            <a:srgbClr val="FFFFFF"/>
          </a:solidFill>
          <a:ln w="12700">
            <a:solidFill>
              <a:srgbClr val="DCE0E8"/>
            </a:solidFill>
            <a:prstDash val="solid"/>
          </a:ln>
        </p:spPr>
        <p:txBody>
          <a:bodyPr/>
          <a:lstStyle/>
          <a:p>
            <a:endParaRPr lang="ko-KR" altLang="en-US"/>
          </a:p>
        </p:txBody>
      </p:sp>
      <p:sp>
        <p:nvSpPr>
          <p:cNvPr id="32" name="Text 30"/>
          <p:cNvSpPr/>
          <p:nvPr/>
        </p:nvSpPr>
        <p:spPr>
          <a:xfrm>
            <a:off x="8266176" y="3639312"/>
            <a:ext cx="2944368" cy="530352"/>
          </a:xfrm>
          <a:prstGeom prst="rect">
            <a:avLst/>
          </a:prstGeom>
          <a:noFill/>
          <a:ln/>
        </p:spPr>
        <p:txBody>
          <a:bodyPr wrap="square" lIns="0" tIns="0" rIns="0" bIns="0" rtlCol="0" anchor="ctr"/>
          <a:lstStyle/>
          <a:p>
            <a:pPr marL="0" indent="0">
              <a:lnSpc>
                <a:spcPts val="1700"/>
              </a:lnSpc>
              <a:buNone/>
            </a:pPr>
            <a:r>
              <a:rPr lang="en-US" sz="1200" dirty="0">
                <a:solidFill>
                  <a:srgbClr val="222633"/>
                </a:solidFill>
                <a:latin typeface="Pretendard" pitchFamily="34" charset="0"/>
                <a:ea typeface="Pretendard" pitchFamily="34" charset="-122"/>
                <a:cs typeface="Pretendard" pitchFamily="34" charset="-120"/>
              </a:rPr>
              <a:t>확정 후 6개월 이내  ·  </a:t>
            </a:r>
            <a:r>
              <a:rPr lang="en-US" sz="1200" b="1" dirty="0">
                <a:solidFill>
                  <a:srgbClr val="222633"/>
                </a:solidFill>
                <a:latin typeface="Pretendard" pitchFamily="34" charset="0"/>
                <a:ea typeface="Pretendard" pitchFamily="34" charset="-122"/>
                <a:cs typeface="Pretendard" pitchFamily="34" charset="-120"/>
              </a:rPr>
              <a:t>보호관찰소</a:t>
            </a:r>
            <a:endParaRPr lang="en-US" sz="1200" b="1" dirty="0"/>
          </a:p>
        </p:txBody>
      </p:sp>
      <p:sp>
        <p:nvSpPr>
          <p:cNvPr id="33" name="Shape 31"/>
          <p:cNvSpPr/>
          <p:nvPr/>
        </p:nvSpPr>
        <p:spPr>
          <a:xfrm>
            <a:off x="731520" y="4169664"/>
            <a:ext cx="2834640" cy="530352"/>
          </a:xfrm>
          <a:prstGeom prst="rect">
            <a:avLst/>
          </a:prstGeom>
          <a:solidFill>
            <a:srgbClr val="FFFFFF"/>
          </a:solidFill>
          <a:ln w="12700">
            <a:solidFill>
              <a:srgbClr val="DCE0E8"/>
            </a:solidFill>
            <a:prstDash val="solid"/>
          </a:ln>
        </p:spPr>
        <p:txBody>
          <a:bodyPr/>
          <a:lstStyle/>
          <a:p>
            <a:endParaRPr lang="ko-KR" altLang="en-US"/>
          </a:p>
        </p:txBody>
      </p:sp>
      <p:sp>
        <p:nvSpPr>
          <p:cNvPr id="34" name="Text 32"/>
          <p:cNvSpPr/>
          <p:nvPr/>
        </p:nvSpPr>
        <p:spPr>
          <a:xfrm>
            <a:off x="841248" y="4169664"/>
            <a:ext cx="1763589" cy="530352"/>
          </a:xfrm>
          <a:prstGeom prst="rect">
            <a:avLst/>
          </a:prstGeom>
          <a:noFill/>
          <a:ln/>
        </p:spPr>
        <p:txBody>
          <a:bodyPr wrap="square" lIns="0" tIns="0" rIns="0" bIns="0" rtlCol="0" anchor="ctr"/>
          <a:lstStyle/>
          <a:p>
            <a:pPr marL="0" indent="0" algn="ctr">
              <a:buNone/>
            </a:pPr>
            <a:r>
              <a:rPr lang="en-US" sz="1300" b="1" dirty="0">
                <a:solidFill>
                  <a:srgbClr val="1E2761"/>
                </a:solidFill>
                <a:latin typeface="Pretendard" pitchFamily="34" charset="0"/>
                <a:ea typeface="Pretendard" pitchFamily="34" charset="-122"/>
                <a:cs typeface="Pretendard" pitchFamily="34" charset="-120"/>
              </a:rPr>
              <a:t>실형</a:t>
            </a:r>
            <a:endParaRPr lang="en-US" sz="1300" dirty="0"/>
          </a:p>
        </p:txBody>
      </p:sp>
      <p:sp>
        <p:nvSpPr>
          <p:cNvPr id="35" name="Shape 33"/>
          <p:cNvSpPr/>
          <p:nvPr/>
        </p:nvSpPr>
        <p:spPr>
          <a:xfrm>
            <a:off x="3566160" y="4169664"/>
            <a:ext cx="4480560" cy="530352"/>
          </a:xfrm>
          <a:prstGeom prst="rect">
            <a:avLst/>
          </a:prstGeom>
          <a:solidFill>
            <a:srgbClr val="FFFFFF"/>
          </a:solidFill>
          <a:ln w="12700">
            <a:solidFill>
              <a:srgbClr val="DCE0E8"/>
            </a:solidFill>
            <a:prstDash val="solid"/>
          </a:ln>
        </p:spPr>
        <p:txBody>
          <a:bodyPr/>
          <a:lstStyle/>
          <a:p>
            <a:endParaRPr lang="ko-KR" altLang="en-US"/>
          </a:p>
        </p:txBody>
      </p:sp>
      <p:sp>
        <p:nvSpPr>
          <p:cNvPr id="36" name="Text 34"/>
          <p:cNvSpPr/>
          <p:nvPr/>
        </p:nvSpPr>
        <p:spPr>
          <a:xfrm>
            <a:off x="3785616" y="4169664"/>
            <a:ext cx="4041648" cy="530352"/>
          </a:xfrm>
          <a:prstGeom prst="rect">
            <a:avLst/>
          </a:prstGeom>
          <a:noFill/>
          <a:ln/>
        </p:spPr>
        <p:txBody>
          <a:bodyPr wrap="square" lIns="0" tIns="0" rIns="0" bIns="0" rtlCol="0" anchor="ctr"/>
          <a:lstStyle/>
          <a:p>
            <a:pPr marL="0" indent="0">
              <a:lnSpc>
                <a:spcPts val="1700"/>
              </a:lnSpc>
              <a:buNone/>
            </a:pPr>
            <a:r>
              <a:rPr lang="en-US" sz="1200" dirty="0">
                <a:solidFill>
                  <a:srgbClr val="222633"/>
                </a:solidFill>
                <a:latin typeface="Pretendard" pitchFamily="34" charset="0"/>
                <a:ea typeface="Pretendard" pitchFamily="34" charset="-122"/>
                <a:cs typeface="Pretendard" pitchFamily="34" charset="-120"/>
              </a:rPr>
              <a:t>200시간 범위 </a:t>
            </a:r>
            <a:r>
              <a:rPr lang="en-US" sz="1200" b="1" dirty="0">
                <a:solidFill>
                  <a:srgbClr val="222633"/>
                </a:solidFill>
                <a:highlight>
                  <a:srgbClr val="FFFF00"/>
                </a:highlight>
                <a:latin typeface="Pretendard" pitchFamily="34" charset="0"/>
                <a:ea typeface="Pretendard" pitchFamily="34" charset="-122"/>
                <a:cs typeface="Pretendard" pitchFamily="34" charset="-120"/>
              </a:rPr>
              <a:t>재활교육 프로그램 이수명령</a:t>
            </a:r>
            <a:endParaRPr lang="en-US" sz="1200" b="1" dirty="0">
              <a:highlight>
                <a:srgbClr val="FFFF00"/>
              </a:highlight>
            </a:endParaRPr>
          </a:p>
        </p:txBody>
      </p:sp>
      <p:sp>
        <p:nvSpPr>
          <p:cNvPr id="37" name="Shape 35"/>
          <p:cNvSpPr/>
          <p:nvPr/>
        </p:nvSpPr>
        <p:spPr>
          <a:xfrm>
            <a:off x="8046720" y="4169664"/>
            <a:ext cx="3383280" cy="530352"/>
          </a:xfrm>
          <a:prstGeom prst="rect">
            <a:avLst/>
          </a:prstGeom>
          <a:solidFill>
            <a:srgbClr val="FFFFFF"/>
          </a:solidFill>
          <a:ln w="12700">
            <a:solidFill>
              <a:srgbClr val="DCE0E8"/>
            </a:solidFill>
            <a:prstDash val="solid"/>
          </a:ln>
        </p:spPr>
        <p:txBody>
          <a:bodyPr/>
          <a:lstStyle/>
          <a:p>
            <a:endParaRPr lang="ko-KR" altLang="en-US"/>
          </a:p>
        </p:txBody>
      </p:sp>
      <p:sp>
        <p:nvSpPr>
          <p:cNvPr id="38" name="Text 36"/>
          <p:cNvSpPr/>
          <p:nvPr/>
        </p:nvSpPr>
        <p:spPr>
          <a:xfrm>
            <a:off x="8266176" y="4169664"/>
            <a:ext cx="2944368" cy="530352"/>
          </a:xfrm>
          <a:prstGeom prst="rect">
            <a:avLst/>
          </a:prstGeom>
          <a:noFill/>
          <a:ln/>
        </p:spPr>
        <p:txBody>
          <a:bodyPr wrap="square" lIns="0" tIns="0" rIns="0" bIns="0" rtlCol="0" anchor="ctr"/>
          <a:lstStyle/>
          <a:p>
            <a:pPr marL="0" indent="0">
              <a:lnSpc>
                <a:spcPts val="1700"/>
              </a:lnSpc>
              <a:buNone/>
            </a:pPr>
            <a:r>
              <a:rPr lang="en-US" sz="1200" dirty="0">
                <a:solidFill>
                  <a:srgbClr val="222633"/>
                </a:solidFill>
                <a:latin typeface="Pretendard" pitchFamily="34" charset="0"/>
                <a:ea typeface="Pretendard" pitchFamily="34" charset="-122"/>
                <a:cs typeface="Pretendard" pitchFamily="34" charset="-120"/>
              </a:rPr>
              <a:t>형기 안에  ·  </a:t>
            </a:r>
            <a:r>
              <a:rPr lang="en-US" sz="1200" b="1" dirty="0">
                <a:solidFill>
                  <a:srgbClr val="222633"/>
                </a:solidFill>
                <a:latin typeface="Pretendard" pitchFamily="34" charset="0"/>
                <a:ea typeface="Pretendard" pitchFamily="34" charset="-122"/>
                <a:cs typeface="Pretendard" pitchFamily="34" charset="-120"/>
              </a:rPr>
              <a:t>교정시설</a:t>
            </a:r>
            <a:endParaRPr lang="en-US" sz="1200" b="1" dirty="0"/>
          </a:p>
        </p:txBody>
      </p:sp>
      <p:sp>
        <p:nvSpPr>
          <p:cNvPr id="39" name="Shape 37"/>
          <p:cNvSpPr/>
          <p:nvPr/>
        </p:nvSpPr>
        <p:spPr>
          <a:xfrm>
            <a:off x="731520" y="4882896"/>
            <a:ext cx="10698480" cy="932688"/>
          </a:xfrm>
          <a:prstGeom prst="rect">
            <a:avLst/>
          </a:prstGeom>
          <a:solidFill>
            <a:srgbClr val="F2F4F8"/>
          </a:solidFill>
          <a:ln w="12700">
            <a:solidFill>
              <a:srgbClr val="F2F4F8"/>
            </a:solidFill>
            <a:prstDash val="solid"/>
          </a:ln>
        </p:spPr>
        <p:txBody>
          <a:bodyPr/>
          <a:lstStyle/>
          <a:p>
            <a:endParaRPr lang="ko-KR" altLang="en-US"/>
          </a:p>
        </p:txBody>
      </p:sp>
      <p:sp>
        <p:nvSpPr>
          <p:cNvPr id="40" name="Text 38"/>
          <p:cNvSpPr/>
          <p:nvPr/>
        </p:nvSpPr>
        <p:spPr>
          <a:xfrm>
            <a:off x="1005840" y="4956048"/>
            <a:ext cx="10149840" cy="237744"/>
          </a:xfrm>
          <a:prstGeom prst="rect">
            <a:avLst/>
          </a:prstGeom>
          <a:noFill/>
          <a:ln/>
        </p:spPr>
        <p:txBody>
          <a:bodyPr wrap="square" lIns="0" tIns="0" rIns="0" bIns="0" rtlCol="0" anchor="ctr"/>
          <a:lstStyle/>
          <a:p>
            <a:r>
              <a:rPr lang="ko-KR" altLang="en-US" sz="1150" b="1" dirty="0">
                <a:solidFill>
                  <a:srgbClr val="A8871C"/>
                </a:solidFill>
                <a:latin typeface="Pretendard" pitchFamily="34" charset="0"/>
                <a:ea typeface="Pretendard" pitchFamily="34" charset="-122"/>
                <a:cs typeface="Pretendard" pitchFamily="34" charset="-120"/>
              </a:rPr>
              <a:t>수강 </a:t>
            </a:r>
            <a:r>
              <a:rPr lang="en-US" altLang="ko-KR" sz="1150" b="1" dirty="0">
                <a:solidFill>
                  <a:srgbClr val="A8871C"/>
                </a:solidFill>
                <a:latin typeface="Pretendard" pitchFamily="34" charset="0"/>
                <a:ea typeface="Pretendard" pitchFamily="34" charset="-122"/>
                <a:cs typeface="Pretendard" pitchFamily="34" charset="-120"/>
              </a:rPr>
              <a:t>· </a:t>
            </a:r>
            <a:r>
              <a:rPr lang="ko-KR" altLang="en-US" sz="1150" b="1" dirty="0">
                <a:solidFill>
                  <a:srgbClr val="A8871C"/>
                </a:solidFill>
                <a:latin typeface="Pretendard" pitchFamily="34" charset="0"/>
                <a:ea typeface="Pretendard" pitchFamily="34" charset="-122"/>
                <a:cs typeface="Pretendard" pitchFamily="34" charset="-120"/>
              </a:rPr>
              <a:t>이수명령의 내용</a:t>
            </a:r>
          </a:p>
        </p:txBody>
      </p:sp>
      <p:sp>
        <p:nvSpPr>
          <p:cNvPr id="41" name="Text 39"/>
          <p:cNvSpPr/>
          <p:nvPr/>
        </p:nvSpPr>
        <p:spPr>
          <a:xfrm>
            <a:off x="1005840" y="5212080"/>
            <a:ext cx="3200400" cy="237744"/>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진단 · 상담</a:t>
            </a:r>
            <a:endParaRPr lang="en-US" sz="1250" dirty="0"/>
          </a:p>
        </p:txBody>
      </p:sp>
      <p:sp>
        <p:nvSpPr>
          <p:cNvPr id="42" name="Text 40"/>
          <p:cNvSpPr/>
          <p:nvPr/>
        </p:nvSpPr>
        <p:spPr>
          <a:xfrm>
            <a:off x="1005840" y="5468112"/>
            <a:ext cx="3200400" cy="256032"/>
          </a:xfrm>
          <a:prstGeom prst="rect">
            <a:avLst/>
          </a:prstGeom>
          <a:noFill/>
          <a:ln/>
        </p:spPr>
        <p:txBody>
          <a:bodyPr wrap="square" lIns="0" tIns="0" rIns="0" bIns="0" rtlCol="0" anchor="ctr"/>
          <a:lstStyle/>
          <a:p>
            <a:pPr marL="0" indent="0">
              <a:lnSpc>
                <a:spcPts val="1600"/>
              </a:lnSpc>
              <a:buNone/>
            </a:pPr>
            <a:r>
              <a:rPr lang="en-US" sz="1100" dirty="0">
                <a:solidFill>
                  <a:srgbClr val="222633"/>
                </a:solidFill>
                <a:latin typeface="Pretendard" pitchFamily="34" charset="0"/>
                <a:ea typeface="Pretendard" pitchFamily="34" charset="-122"/>
                <a:cs typeface="Pretendard" pitchFamily="34" charset="-120"/>
              </a:rPr>
              <a:t>마약류사범의 행동과 사용문제를 파악</a:t>
            </a:r>
            <a:endParaRPr lang="en-US" sz="1100" dirty="0"/>
          </a:p>
        </p:txBody>
      </p:sp>
      <p:sp>
        <p:nvSpPr>
          <p:cNvPr id="43" name="Text 41"/>
          <p:cNvSpPr/>
          <p:nvPr/>
        </p:nvSpPr>
        <p:spPr>
          <a:xfrm>
            <a:off x="4480560" y="5212080"/>
            <a:ext cx="3200400" cy="237744"/>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폐해 교육</a:t>
            </a:r>
            <a:endParaRPr lang="en-US" sz="1250" dirty="0"/>
          </a:p>
        </p:txBody>
      </p:sp>
      <p:sp>
        <p:nvSpPr>
          <p:cNvPr id="44" name="Text 42"/>
          <p:cNvSpPr/>
          <p:nvPr/>
        </p:nvSpPr>
        <p:spPr>
          <a:xfrm>
            <a:off x="4480560" y="5468112"/>
            <a:ext cx="3200400" cy="256032"/>
          </a:xfrm>
          <a:prstGeom prst="rect">
            <a:avLst/>
          </a:prstGeom>
          <a:noFill/>
          <a:ln/>
        </p:spPr>
        <p:txBody>
          <a:bodyPr wrap="square" lIns="0" tIns="0" rIns="0" bIns="0" rtlCol="0" anchor="ctr"/>
          <a:lstStyle/>
          <a:p>
            <a:pPr marL="0" indent="0">
              <a:lnSpc>
                <a:spcPts val="1600"/>
              </a:lnSpc>
              <a:buNone/>
            </a:pPr>
            <a:r>
              <a:rPr lang="en-US" sz="1100" dirty="0">
                <a:solidFill>
                  <a:srgbClr val="222633"/>
                </a:solidFill>
                <a:latin typeface="Pretendard" pitchFamily="34" charset="0"/>
                <a:ea typeface="Pretendard" pitchFamily="34" charset="-122"/>
                <a:cs typeface="Pretendard" pitchFamily="34" charset="-120"/>
              </a:rPr>
              <a:t>마약류 사용이 개인과 생활에 미치는 위해를 이해</a:t>
            </a:r>
            <a:endParaRPr lang="en-US" sz="1100" dirty="0"/>
          </a:p>
        </p:txBody>
      </p:sp>
      <p:sp>
        <p:nvSpPr>
          <p:cNvPr id="45" name="Text 43"/>
          <p:cNvSpPr/>
          <p:nvPr/>
        </p:nvSpPr>
        <p:spPr>
          <a:xfrm>
            <a:off x="7955280" y="5212080"/>
            <a:ext cx="3200400" cy="237744"/>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재범예방</a:t>
            </a:r>
            <a:endParaRPr lang="en-US" sz="1250" dirty="0"/>
          </a:p>
        </p:txBody>
      </p:sp>
      <p:sp>
        <p:nvSpPr>
          <p:cNvPr id="46" name="Text 44"/>
          <p:cNvSpPr/>
          <p:nvPr/>
        </p:nvSpPr>
        <p:spPr>
          <a:xfrm>
            <a:off x="7955280" y="5468112"/>
            <a:ext cx="3200400" cy="256032"/>
          </a:xfrm>
          <a:prstGeom prst="rect">
            <a:avLst/>
          </a:prstGeom>
          <a:noFill/>
          <a:ln/>
        </p:spPr>
        <p:txBody>
          <a:bodyPr wrap="square" lIns="0" tIns="0" rIns="0" bIns="0" rtlCol="0" anchor="ctr"/>
          <a:lstStyle/>
          <a:p>
            <a:pPr marL="0" indent="0">
              <a:lnSpc>
                <a:spcPts val="1600"/>
              </a:lnSpc>
              <a:buNone/>
            </a:pPr>
            <a:r>
              <a:rPr lang="en-US" sz="1100" dirty="0">
                <a:solidFill>
                  <a:srgbClr val="222633"/>
                </a:solidFill>
                <a:latin typeface="Pretendard" pitchFamily="34" charset="0"/>
                <a:ea typeface="Pretendard" pitchFamily="34" charset="-122"/>
                <a:cs typeface="Pretendard" pitchFamily="34" charset="-120"/>
              </a:rPr>
              <a:t>다시 사용하지 않도록 필요한 교육과 개입</a:t>
            </a:r>
            <a:endParaRPr lang="en-US" sz="1100" dirty="0"/>
          </a:p>
        </p:txBody>
      </p:sp>
      <p:sp>
        <p:nvSpPr>
          <p:cNvPr id="47" name="Shape 45"/>
          <p:cNvSpPr/>
          <p:nvPr/>
        </p:nvSpPr>
        <p:spPr>
          <a:xfrm>
            <a:off x="731520" y="5961888"/>
            <a:ext cx="10698480" cy="457200"/>
          </a:xfrm>
          <a:prstGeom prst="rect">
            <a:avLst/>
          </a:prstGeom>
          <a:solidFill>
            <a:srgbClr val="1E2761"/>
          </a:solidFill>
          <a:ln w="12700">
            <a:solidFill>
              <a:srgbClr val="1E2761"/>
            </a:solidFill>
            <a:prstDash val="solid"/>
          </a:ln>
        </p:spPr>
        <p:txBody>
          <a:bodyPr/>
          <a:lstStyle/>
          <a:p>
            <a:endParaRPr lang="ko-KR" altLang="en-US"/>
          </a:p>
        </p:txBody>
      </p:sp>
      <p:sp>
        <p:nvSpPr>
          <p:cNvPr id="48" name="Text 46"/>
          <p:cNvSpPr/>
          <p:nvPr/>
        </p:nvSpPr>
        <p:spPr>
          <a:xfrm>
            <a:off x="1005840" y="5961888"/>
            <a:ext cx="10149840" cy="457200"/>
          </a:xfrm>
          <a:prstGeom prst="rect">
            <a:avLst/>
          </a:prstGeom>
          <a:noFill/>
          <a:ln/>
        </p:spPr>
        <p:txBody>
          <a:bodyPr wrap="square" lIns="0" tIns="0" rIns="0" bIns="0" rtlCol="0" anchor="ctr"/>
          <a:lstStyle/>
          <a:p>
            <a:pPr algn="ctr"/>
            <a:r>
              <a:rPr lang="ko-KR" altLang="en-US" sz="1350" b="1" dirty="0">
                <a:solidFill>
                  <a:srgbClr val="FFFFFF"/>
                </a:solidFill>
                <a:latin typeface="Pretendard" pitchFamily="34" charset="0"/>
                <a:ea typeface="Pretendard" pitchFamily="34" charset="-122"/>
                <a:cs typeface="Pretendard" pitchFamily="34" charset="-120"/>
              </a:rPr>
              <a:t>명령의 주된 차이는 어떤 형과 함께 부과되고</a:t>
            </a:r>
            <a:r>
              <a:rPr lang="en-US" altLang="ko-KR" sz="1350" b="1" dirty="0">
                <a:solidFill>
                  <a:srgbClr val="FFFFFF"/>
                </a:solidFill>
                <a:latin typeface="Pretendard" pitchFamily="34" charset="0"/>
                <a:ea typeface="Pretendard" pitchFamily="34" charset="-122"/>
                <a:cs typeface="Pretendard" pitchFamily="34" charset="-120"/>
              </a:rPr>
              <a:t>, </a:t>
            </a:r>
            <a:r>
              <a:rPr lang="ko-KR" altLang="en-US" sz="1350" b="1" dirty="0">
                <a:solidFill>
                  <a:srgbClr val="FFFFFF"/>
                </a:solidFill>
                <a:latin typeface="Pretendard" pitchFamily="34" charset="0"/>
                <a:ea typeface="Pretendard" pitchFamily="34" charset="-122"/>
                <a:cs typeface="Pretendard" pitchFamily="34" charset="-120"/>
              </a:rPr>
              <a:t>어디서 </a:t>
            </a:r>
            <a:r>
              <a:rPr lang="ko-KR" altLang="en-US" sz="1350" b="1" dirty="0" err="1">
                <a:solidFill>
                  <a:srgbClr val="FFFFFF"/>
                </a:solidFill>
                <a:latin typeface="Pretendard" pitchFamily="34" charset="0"/>
                <a:ea typeface="Pretendard" pitchFamily="34" charset="-122"/>
                <a:cs typeface="Pretendard" pitchFamily="34" charset="-120"/>
              </a:rPr>
              <a:t>집행되느냐이다</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치료보호 절차와 사회재활의 구성</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치료보호와 사회재활 — 개념과 시작 경로</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a:lnSpc>
                <a:spcPct val="118000"/>
              </a:lnSpc>
            </a:pPr>
            <a:r>
              <a:rPr lang="ko-KR" altLang="en-US" sz="1300" b="1" dirty="0">
                <a:solidFill>
                  <a:srgbClr val="1E2761"/>
                </a:solidFill>
                <a:latin typeface="Pretendard" pitchFamily="34" charset="0"/>
                <a:ea typeface="Pretendard" pitchFamily="34" charset="-122"/>
                <a:cs typeface="Pretendard" pitchFamily="34" charset="-120"/>
              </a:rPr>
              <a:t>치료보호와 사회재활은 본인 등의 신청으로 이용할 수 있으며</a:t>
            </a:r>
            <a:r>
              <a:rPr lang="en-US" altLang="ko-KR" sz="1300" b="1" dirty="0">
                <a:solidFill>
                  <a:srgbClr val="1E2761"/>
                </a:solidFill>
                <a:latin typeface="Pretendard" pitchFamily="34" charset="0"/>
                <a:ea typeface="Pretendard" pitchFamily="34" charset="-122"/>
                <a:cs typeface="Pretendard" pitchFamily="34" charset="-120"/>
              </a:rPr>
              <a:t>, </a:t>
            </a:r>
            <a:r>
              <a:rPr lang="ko-KR" altLang="en-US" sz="1300" b="1" dirty="0">
                <a:solidFill>
                  <a:srgbClr val="1E2761"/>
                </a:solidFill>
                <a:latin typeface="Pretendard" pitchFamily="34" charset="0"/>
                <a:ea typeface="Pretendard" pitchFamily="34" charset="-122"/>
                <a:cs typeface="Pretendard" pitchFamily="34" charset="-120"/>
              </a:rPr>
              <a:t>사법처리 과정에서 치료</a:t>
            </a:r>
            <a:r>
              <a:rPr lang="en-US" altLang="ko-KR" sz="1300" b="1" dirty="0">
                <a:solidFill>
                  <a:srgbClr val="1E2761"/>
                </a:solidFill>
                <a:latin typeface="Pretendard" pitchFamily="34" charset="0"/>
                <a:ea typeface="Pretendard" pitchFamily="34" charset="-122"/>
                <a:cs typeface="Pretendard" pitchFamily="34" charset="-120"/>
              </a:rPr>
              <a:t>·</a:t>
            </a:r>
            <a:r>
              <a:rPr lang="ko-KR" altLang="en-US" sz="1300" b="1" dirty="0">
                <a:solidFill>
                  <a:srgbClr val="1E2761"/>
                </a:solidFill>
                <a:latin typeface="Pretendard" pitchFamily="34" charset="0"/>
                <a:ea typeface="Pretendard" pitchFamily="34" charset="-122"/>
                <a:cs typeface="Pretendard" pitchFamily="34" charset="-120"/>
              </a:rPr>
              <a:t>재활이 필요한 사람에게 연계되기도 한다</a:t>
            </a:r>
            <a:r>
              <a:rPr lang="en-US" altLang="ko-KR" sz="1300" b="1" dirty="0">
                <a:solidFill>
                  <a:srgbClr val="1E2761"/>
                </a:solidFill>
                <a:latin typeface="Pretendard" pitchFamily="34" charset="0"/>
                <a:ea typeface="Pretendard" pitchFamily="34" charset="-122"/>
                <a:cs typeface="Pretendard" pitchFamily="34" charset="-120"/>
              </a:rPr>
              <a:t>.</a:t>
            </a:r>
            <a:endParaRPr lang="ko-KR" altLang="en-US" sz="1300" b="1" dirty="0">
              <a:solidFill>
                <a:srgbClr val="1E2761"/>
              </a:solidFill>
              <a:latin typeface="Pretendard" pitchFamily="34" charset="0"/>
              <a:ea typeface="Pretendard" pitchFamily="34" charset="-122"/>
              <a:cs typeface="Pretendard" pitchFamily="34" charset="-120"/>
            </a:endParaRP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CT8"/>
          <p:cNvSpPr/>
          <p:nvPr/>
        </p:nvSpPr>
        <p:spPr>
          <a:xfrm>
            <a:off x="809727" y="2221749"/>
            <a:ext cx="5175504" cy="237744"/>
          </a:xfrm>
          <a:prstGeom prst="rect">
            <a:avLst/>
          </a:prstGeom>
          <a:noFill/>
          <a:ln/>
        </p:spPr>
        <p:txBody>
          <a:bodyPr wrap="square" lIns="0" tIns="0" rIns="0" bIns="0" rtlCol="0" anchor="t"/>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치료보호</a:t>
            </a:r>
          </a:p>
        </p:txBody>
      </p:sp>
      <p:sp>
        <p:nvSpPr>
          <p:cNvPr id="9" name="CM9"/>
          <p:cNvSpPr/>
          <p:nvPr/>
        </p:nvSpPr>
        <p:spPr>
          <a:xfrm>
            <a:off x="809727" y="2518929"/>
            <a:ext cx="5175504" cy="224790"/>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마약류 중독을 치료하기 위한 입원·통원 중심의 의료적 개입</a:t>
            </a:r>
          </a:p>
        </p:txBody>
      </p:sp>
      <p:sp>
        <p:nvSpPr>
          <p:cNvPr id="10" name="CS10"/>
          <p:cNvSpPr/>
          <p:nvPr/>
        </p:nvSpPr>
        <p:spPr>
          <a:xfrm>
            <a:off x="809727" y="2816871"/>
            <a:ext cx="5175504" cy="206807"/>
          </a:xfrm>
          <a:prstGeom prst="rect">
            <a:avLst/>
          </a:prstGeom>
          <a:noFill/>
          <a:ln/>
        </p:spPr>
        <p:txBody>
          <a:bodyPr wrap="square" lIns="0" tIns="0" rIns="0" bIns="0" rtlCol="0" anchor="t"/>
          <a:lstStyle/>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중독 여부 판별검사, 진료·상담 등 지정 치료보호기관에서 제공하는 의료적 치료를 말한다</a:t>
            </a:r>
          </a:p>
        </p:txBody>
      </p:sp>
      <p:sp>
        <p:nvSpPr>
          <p:cNvPr id="11" name="CT11"/>
          <p:cNvSpPr/>
          <p:nvPr/>
        </p:nvSpPr>
        <p:spPr>
          <a:xfrm>
            <a:off x="6096000" y="2203704"/>
            <a:ext cx="5361432" cy="237744"/>
          </a:xfrm>
          <a:prstGeom prst="rect">
            <a:avLst/>
          </a:prstGeom>
          <a:noFill/>
          <a:ln/>
        </p:spPr>
        <p:txBody>
          <a:bodyPr wrap="square" lIns="0" tIns="0" rIns="0" bIns="0" rtlCol="0" anchor="t"/>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사회재활</a:t>
            </a:r>
          </a:p>
        </p:txBody>
      </p:sp>
      <p:sp>
        <p:nvSpPr>
          <p:cNvPr id="12" name="CM12"/>
          <p:cNvSpPr/>
          <p:nvPr/>
        </p:nvSpPr>
        <p:spPr>
          <a:xfrm>
            <a:off x="6096000" y="2500884"/>
            <a:ext cx="5361432" cy="224790"/>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단약을 유지하고 일상으로 돌아가도록 돕는 지역사회 회복 지원</a:t>
            </a:r>
          </a:p>
        </p:txBody>
      </p:sp>
      <p:sp>
        <p:nvSpPr>
          <p:cNvPr id="13" name="CS13"/>
          <p:cNvSpPr/>
          <p:nvPr/>
        </p:nvSpPr>
        <p:spPr>
          <a:xfrm>
            <a:off x="6096000" y="2798826"/>
            <a:ext cx="5361432" cy="438150"/>
          </a:xfrm>
          <a:prstGeom prst="rect">
            <a:avLst/>
          </a:prstGeom>
          <a:noFill/>
          <a:ln/>
        </p:spPr>
        <p:txBody>
          <a:bodyPr wrap="square" lIns="0" tIns="0" rIns="0" bIns="0" rtlCol="0" anchor="t"/>
          <a:lstStyle/>
          <a:p>
            <a:pPr marL="0" indent="0">
              <a:lnSpc>
                <a:spcPct val="125000"/>
              </a:lnSpc>
              <a:buNone/>
            </a:pPr>
            <a:r>
              <a:rPr lang="ko-KR" altLang="en-US" sz="1150" dirty="0">
                <a:solidFill>
                  <a:srgbClr val="464D5C"/>
                </a:solidFill>
                <a:latin typeface="Pretendard" pitchFamily="34" charset="0"/>
                <a:ea typeface="Pretendard" pitchFamily="34" charset="-122"/>
                <a:cs typeface="Pretendard" pitchFamily="34" charset="-120"/>
              </a:rPr>
              <a:t>개별상담, 재활프로그램, 사례관리, 가족지원 등을 함께한걸음센터 등을 통해 지속적으로 지원</a:t>
            </a:r>
          </a:p>
        </p:txBody>
      </p:sp>
      <p:sp>
        <p:nvSpPr>
          <p:cNvPr id="14" name="MID"/>
          <p:cNvSpPr/>
          <p:nvPr/>
        </p:nvSpPr>
        <p:spPr>
          <a:xfrm>
            <a:off x="731520" y="3259351"/>
            <a:ext cx="10725912" cy="0"/>
          </a:xfrm>
          <a:prstGeom prst="line">
            <a:avLst/>
          </a:prstGeom>
          <a:ln w="9525">
            <a:solidFill>
              <a:srgbClr val="DCE0E8"/>
            </a:solidFill>
          </a:ln>
        </p:spPr>
        <p:txBody>
          <a:bodyPr/>
          <a:lstStyle/>
          <a:p>
            <a:endParaRPr lang="ko-KR"/>
          </a:p>
        </p:txBody>
      </p:sp>
      <p:sp>
        <p:nvSpPr>
          <p:cNvPr id="15" name="BODY15"/>
          <p:cNvSpPr/>
          <p:nvPr/>
        </p:nvSpPr>
        <p:spPr>
          <a:xfrm>
            <a:off x="3154680" y="3446454"/>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치료보호 신청이나 </a:t>
            </a:r>
            <a:r>
              <a:rPr lang="ko-KR" altLang="en-US" sz="1250" b="1" dirty="0" err="1">
                <a:solidFill>
                  <a:srgbClr val="222633"/>
                </a:solidFill>
                <a:latin typeface="Pretendard" pitchFamily="34" charset="0"/>
                <a:ea typeface="Pretendard" pitchFamily="34" charset="-122"/>
                <a:cs typeface="Pretendard" pitchFamily="34" charset="-120"/>
              </a:rPr>
              <a:t>함께한걸음센터</a:t>
            </a:r>
            <a:r>
              <a:rPr lang="ko-KR" altLang="en-US" sz="1250" b="1" dirty="0">
                <a:solidFill>
                  <a:srgbClr val="222633"/>
                </a:solidFill>
                <a:latin typeface="Pretendard" pitchFamily="34" charset="0"/>
                <a:ea typeface="Pretendard" pitchFamily="34" charset="-122"/>
                <a:cs typeface="Pretendard" pitchFamily="34" charset="-120"/>
              </a:rPr>
              <a:t> 상담으로 시작한다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필요에 따라 의료적 치료와 재활 서비스로 연계하며, 사법기관의 의뢰 없이도 상담·신청할 수 있다</a:t>
            </a:r>
          </a:p>
        </p:txBody>
      </p:sp>
      <p:sp>
        <p:nvSpPr>
          <p:cNvPr id="16" name="HEAD16"/>
          <p:cNvSpPr/>
          <p:nvPr/>
        </p:nvSpPr>
        <p:spPr>
          <a:xfrm>
            <a:off x="731520" y="3332745"/>
            <a:ext cx="2240280" cy="740804"/>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자발적 </a:t>
            </a:r>
            <a:r>
              <a:rPr lang="ko-KR" altLang="en-US" sz="1300" b="1" dirty="0" err="1">
                <a:solidFill>
                  <a:srgbClr val="1E2761"/>
                </a:solidFill>
                <a:latin typeface="Pretendard" pitchFamily="34" charset="0"/>
                <a:ea typeface="Pretendard" pitchFamily="34" charset="-122"/>
                <a:cs typeface="Pretendard" pitchFamily="34" charset="-120"/>
              </a:rPr>
              <a:t>상담·신청</a:t>
            </a:r>
            <a:endParaRPr lang="en-US" altLang="ko-KR" sz="1300" b="1" dirty="0">
              <a:solidFill>
                <a:srgbClr val="1E2761"/>
              </a:solidFill>
              <a:latin typeface="Pretendard" pitchFamily="34" charset="0"/>
              <a:ea typeface="Pretendard" pitchFamily="34" charset="-122"/>
              <a:cs typeface="Pretendard" pitchFamily="34" charset="-120"/>
            </a:endParaRPr>
          </a:p>
          <a:p>
            <a:pPr algn="ctr">
              <a:lnSpc>
                <a:spcPct val="118000"/>
              </a:lnSpc>
            </a:pPr>
            <a:r>
              <a:rPr lang="ko-KR" altLang="en-US" sz="1300" dirty="0">
                <a:solidFill>
                  <a:schemeClr val="tx1">
                    <a:lumMod val="50000"/>
                    <a:lumOff val="50000"/>
                  </a:schemeClr>
                </a:solidFill>
                <a:latin typeface="Pretendard" pitchFamily="34" charset="0"/>
                <a:ea typeface="Pretendard" pitchFamily="34" charset="-122"/>
                <a:cs typeface="Pretendard" pitchFamily="34" charset="-120"/>
              </a:rPr>
              <a:t>「</a:t>
            </a:r>
            <a:r>
              <a:rPr lang="ko-KR" altLang="en-US" sz="1050" dirty="0">
                <a:solidFill>
                  <a:schemeClr val="tx1">
                    <a:lumMod val="50000"/>
                    <a:lumOff val="50000"/>
                  </a:schemeClr>
                </a:solidFill>
                <a:latin typeface="Pretendard" pitchFamily="34" charset="0"/>
                <a:ea typeface="Pretendard" pitchFamily="34" charset="-122"/>
                <a:cs typeface="Pretendard" pitchFamily="34" charset="-120"/>
              </a:rPr>
              <a:t>마약류중독자 치료보호규정」 제</a:t>
            </a:r>
            <a:r>
              <a:rPr lang="en-US" altLang="ko-KR" sz="1050" dirty="0">
                <a:solidFill>
                  <a:schemeClr val="tx1">
                    <a:lumMod val="50000"/>
                    <a:lumOff val="50000"/>
                  </a:schemeClr>
                </a:solidFill>
                <a:latin typeface="Pretendard" pitchFamily="34" charset="0"/>
                <a:ea typeface="Pretendard" pitchFamily="34" charset="-122"/>
                <a:cs typeface="Pretendard" pitchFamily="34" charset="-120"/>
              </a:rPr>
              <a:t>9</a:t>
            </a:r>
            <a:r>
              <a:rPr lang="ko-KR" altLang="en-US" sz="1050" dirty="0">
                <a:solidFill>
                  <a:schemeClr val="tx1">
                    <a:lumMod val="50000"/>
                    <a:lumOff val="50000"/>
                  </a:schemeClr>
                </a:solidFill>
                <a:latin typeface="Pretendard" pitchFamily="34" charset="0"/>
                <a:ea typeface="Pretendard" pitchFamily="34" charset="-122"/>
                <a:cs typeface="Pretendard" pitchFamily="34" charset="-120"/>
              </a:rPr>
              <a:t>조 제</a:t>
            </a:r>
            <a:r>
              <a:rPr lang="en-US" altLang="ko-KR" sz="1050" dirty="0">
                <a:solidFill>
                  <a:schemeClr val="tx1">
                    <a:lumMod val="50000"/>
                    <a:lumOff val="50000"/>
                  </a:schemeClr>
                </a:solidFill>
                <a:latin typeface="Pretendard" pitchFamily="34" charset="0"/>
                <a:ea typeface="Pretendard" pitchFamily="34" charset="-122"/>
                <a:cs typeface="Pretendard" pitchFamily="34" charset="-120"/>
              </a:rPr>
              <a:t>4</a:t>
            </a:r>
            <a:r>
              <a:rPr lang="ko-KR" altLang="en-US" sz="1050" dirty="0">
                <a:solidFill>
                  <a:schemeClr val="tx1">
                    <a:lumMod val="50000"/>
                    <a:lumOff val="50000"/>
                  </a:schemeClr>
                </a:solidFill>
                <a:latin typeface="Pretendard" pitchFamily="34" charset="0"/>
                <a:ea typeface="Pretendard" pitchFamily="34" charset="-122"/>
                <a:cs typeface="Pretendard" pitchFamily="34" charset="-120"/>
              </a:rPr>
              <a:t>항</a:t>
            </a:r>
            <a:endParaRPr lang="ko-KR" altLang="en-US" sz="1300" dirty="0">
              <a:solidFill>
                <a:schemeClr val="tx1">
                  <a:lumMod val="50000"/>
                  <a:lumOff val="50000"/>
                </a:schemeClr>
              </a:solidFill>
              <a:latin typeface="Pretendard" pitchFamily="34" charset="0"/>
              <a:ea typeface="Pretendard" pitchFamily="34" charset="-122"/>
              <a:cs typeface="Pretendard" pitchFamily="34" charset="-120"/>
            </a:endParaRPr>
          </a:p>
        </p:txBody>
      </p:sp>
      <p:sp>
        <p:nvSpPr>
          <p:cNvPr id="17" name="RULE17"/>
          <p:cNvSpPr/>
          <p:nvPr/>
        </p:nvSpPr>
        <p:spPr>
          <a:xfrm>
            <a:off x="731520" y="4132504"/>
            <a:ext cx="10725912" cy="0"/>
          </a:xfrm>
          <a:prstGeom prst="line">
            <a:avLst/>
          </a:prstGeom>
          <a:ln w="9525">
            <a:solidFill>
              <a:srgbClr val="DCE0E8"/>
            </a:solidFill>
          </a:ln>
        </p:spPr>
        <p:txBody>
          <a:bodyPr/>
          <a:lstStyle/>
          <a:p>
            <a:endParaRPr lang="ko-KR"/>
          </a:p>
        </p:txBody>
      </p:sp>
      <p:sp>
        <p:nvSpPr>
          <p:cNvPr id="18" name="BODY18"/>
          <p:cNvSpPr/>
          <p:nvPr/>
        </p:nvSpPr>
        <p:spPr>
          <a:xfrm>
            <a:off x="3154680" y="4283513"/>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err="1">
                <a:solidFill>
                  <a:srgbClr val="222633"/>
                </a:solidFill>
                <a:latin typeface="Pretendard" pitchFamily="34" charset="0"/>
                <a:ea typeface="Pretendard" pitchFamily="34" charset="-122"/>
                <a:cs typeface="Pretendard" pitchFamily="34" charset="-120"/>
              </a:rPr>
              <a:t>사법·치료·재활</a:t>
            </a:r>
            <a:r>
              <a:rPr lang="ko-KR" altLang="en-US" sz="1250" b="1" dirty="0">
                <a:solidFill>
                  <a:srgbClr val="222633"/>
                </a:solidFill>
                <a:latin typeface="Pretendard" pitchFamily="34" charset="0"/>
                <a:ea typeface="Pretendard" pitchFamily="34" charset="-122"/>
                <a:cs typeface="Pretendard" pitchFamily="34" charset="-120"/>
              </a:rPr>
              <a:t> 연계모델 등에 참여하면서 재활프로그램을 제공받는다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치료가 필요하면 치료보호로 의뢰하며, 치료·재활 참여가 기소유예의 조건이 된다</a:t>
            </a:r>
          </a:p>
        </p:txBody>
      </p:sp>
      <p:sp>
        <p:nvSpPr>
          <p:cNvPr id="19" name="HEAD19"/>
          <p:cNvSpPr/>
          <p:nvPr/>
        </p:nvSpPr>
        <p:spPr>
          <a:xfrm>
            <a:off x="731520" y="4169804"/>
            <a:ext cx="2240280" cy="740804"/>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연계모델 참여</a:t>
            </a:r>
          </a:p>
        </p:txBody>
      </p:sp>
      <p:sp>
        <p:nvSpPr>
          <p:cNvPr id="20" name="RULE20"/>
          <p:cNvSpPr/>
          <p:nvPr/>
        </p:nvSpPr>
        <p:spPr>
          <a:xfrm>
            <a:off x="731520" y="4933467"/>
            <a:ext cx="10725912" cy="0"/>
          </a:xfrm>
          <a:prstGeom prst="line">
            <a:avLst/>
          </a:prstGeom>
          <a:ln w="9525">
            <a:solidFill>
              <a:srgbClr val="DCE0E8"/>
            </a:solidFill>
          </a:ln>
        </p:spPr>
        <p:txBody>
          <a:bodyPr/>
          <a:lstStyle/>
          <a:p>
            <a:endParaRPr lang="ko-KR"/>
          </a:p>
        </p:txBody>
      </p:sp>
      <p:sp>
        <p:nvSpPr>
          <p:cNvPr id="21" name="BODY21"/>
          <p:cNvSpPr/>
          <p:nvPr/>
        </p:nvSpPr>
        <p:spPr>
          <a:xfrm>
            <a:off x="3154680" y="5024317"/>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본인 동의를 받아 시설장이 치료보호를 의뢰할 수 있다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지역사회 재활기관으로도 연계해 회복을 지원하며, 사법절차 이후에도 필요한 지원이 가능하다</a:t>
            </a:r>
          </a:p>
        </p:txBody>
      </p:sp>
      <p:sp>
        <p:nvSpPr>
          <p:cNvPr id="22" name="HEAD22"/>
          <p:cNvSpPr/>
          <p:nvPr/>
        </p:nvSpPr>
        <p:spPr>
          <a:xfrm>
            <a:off x="731520" y="4910607"/>
            <a:ext cx="2240280" cy="740804"/>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출소·출원 이후</a:t>
            </a:r>
          </a:p>
        </p:txBody>
      </p:sp>
      <p:sp>
        <p:nvSpPr>
          <p:cNvPr id="23" name="RULE23"/>
          <p:cNvSpPr/>
          <p:nvPr/>
        </p:nvSpPr>
        <p:spPr>
          <a:xfrm>
            <a:off x="731520" y="5674271"/>
            <a:ext cx="10725912" cy="0"/>
          </a:xfrm>
          <a:prstGeom prst="line">
            <a:avLst/>
          </a:prstGeom>
          <a:ln w="9525">
            <a:solidFill>
              <a:srgbClr val="DCE0E8"/>
            </a:solidFill>
          </a:ln>
        </p:spPr>
        <p:txBody>
          <a:bodyPr/>
          <a:lstStyle/>
          <a:p>
            <a:endParaRPr lang="ko-KR"/>
          </a:p>
        </p:txBody>
      </p:sp>
      <p:sp>
        <p:nvSpPr>
          <p:cNvPr id="24" name="CLOSE24"/>
          <p:cNvSpPr/>
          <p:nvPr/>
        </p:nvSpPr>
        <p:spPr>
          <a:xfrm>
            <a:off x="731520" y="5674270"/>
            <a:ext cx="10725912" cy="470497"/>
          </a:xfrm>
          <a:prstGeom prst="rect">
            <a:avLst/>
          </a:prstGeom>
          <a:solidFill>
            <a:schemeClr val="accent1">
              <a:lumMod val="20000"/>
              <a:lumOff val="80000"/>
            </a:schemeClr>
          </a:solidFill>
          <a:ln/>
        </p:spPr>
        <p:txBody>
          <a:bodyPr wrap="square" lIns="0" tIns="0" rIns="0" bIns="0" rtlCol="0" anchor="ctr"/>
          <a:lstStyle/>
          <a:p>
            <a:pPr marL="0" indent="0" algn="ctr">
              <a:lnSpc>
                <a:spcPct val="118000"/>
              </a:lnSpc>
              <a:buNone/>
            </a:pPr>
            <a:r>
              <a:rPr lang="ko-KR" altLang="en-US" sz="1250" b="1" dirty="0">
                <a:solidFill>
                  <a:schemeClr val="accent1">
                    <a:lumMod val="50000"/>
                  </a:schemeClr>
                </a:solidFill>
                <a:latin typeface="Pretendard" pitchFamily="34" charset="0"/>
                <a:ea typeface="Pretendard" pitchFamily="34" charset="-122"/>
                <a:cs typeface="Pretendard" pitchFamily="34" charset="-120"/>
              </a:rPr>
              <a:t>치료보호와 사회재활은 사법처리 여부와 관계없이 이용할 수 있는 별도의 치료</a:t>
            </a:r>
            <a:r>
              <a:rPr lang="en-US" altLang="ko-KR" sz="1250" b="1" dirty="0">
                <a:solidFill>
                  <a:schemeClr val="accent1">
                    <a:lumMod val="50000"/>
                  </a:schemeClr>
                </a:solidFill>
                <a:latin typeface="Pretendard" pitchFamily="34" charset="0"/>
                <a:ea typeface="Pretendard" pitchFamily="34" charset="-122"/>
                <a:cs typeface="Pretendard" pitchFamily="34" charset="-120"/>
              </a:rPr>
              <a:t>·</a:t>
            </a:r>
            <a:r>
              <a:rPr lang="ko-KR" altLang="en-US" sz="1250" b="1" dirty="0">
                <a:solidFill>
                  <a:schemeClr val="accent1">
                    <a:lumMod val="50000"/>
                  </a:schemeClr>
                </a:solidFill>
                <a:latin typeface="Pretendard" pitchFamily="34" charset="0"/>
                <a:ea typeface="Pretendard" pitchFamily="34" charset="-122"/>
                <a:cs typeface="Pretendard" pitchFamily="34" charset="-120"/>
              </a:rPr>
              <a:t>재활 체계</a:t>
            </a:r>
            <a:r>
              <a:rPr lang="en-US" altLang="ko-KR" sz="1250" b="1" dirty="0">
                <a:solidFill>
                  <a:schemeClr val="accent1">
                    <a:lumMod val="50000"/>
                  </a:schemeClr>
                </a:solidFill>
                <a:latin typeface="Pretendard" pitchFamily="34" charset="0"/>
                <a:ea typeface="Pretendard" pitchFamily="34" charset="-122"/>
                <a:cs typeface="Pretendard" pitchFamily="34" charset="-120"/>
              </a:rPr>
              <a:t>, </a:t>
            </a:r>
            <a:r>
              <a:rPr lang="ko-KR" altLang="en-US" sz="1250" b="1" dirty="0">
                <a:solidFill>
                  <a:schemeClr val="accent1">
                    <a:lumMod val="50000"/>
                  </a:schemeClr>
                </a:solidFill>
                <a:latin typeface="Pretendard" pitchFamily="34" charset="0"/>
                <a:ea typeface="Pretendard" pitchFamily="34" charset="-122"/>
                <a:cs typeface="Pretendard" pitchFamily="34" charset="-120"/>
              </a:rPr>
              <a:t>사법절차에서 필요에 따라 연계할 수 있다</a:t>
            </a:r>
          </a:p>
        </p:txBody>
      </p:sp>
      <p:sp>
        <p:nvSpPr>
          <p:cNvPr id="25" name="RULE25"/>
          <p:cNvSpPr/>
          <p:nvPr/>
        </p:nvSpPr>
        <p:spPr>
          <a:xfrm>
            <a:off x="731520" y="6144768"/>
            <a:ext cx="10725912" cy="0"/>
          </a:xfrm>
          <a:prstGeom prst="line">
            <a:avLst/>
          </a:prstGeom>
          <a:ln w="9525">
            <a:solidFill>
              <a:srgbClr val="DCE0E8"/>
            </a:solidFill>
          </a:ln>
        </p:spPr>
        <p:txBody>
          <a:bodyPr/>
          <a:lstStyle/>
          <a:p>
            <a:endParaRPr lang="ko-KR"/>
          </a:p>
        </p:txBody>
      </p:sp>
      <p:sp>
        <p:nvSpPr>
          <p:cNvPr id="27" name="Text 0">
            <a:extLst>
              <a:ext uri="{FF2B5EF4-FFF2-40B4-BE49-F238E27FC236}">
                <a16:creationId xmlns:a16="http://schemas.microsoft.com/office/drawing/2014/main" id="{FB1B6B31-71DA-4982-BC94-22ED6F0F48F8}"/>
              </a:ext>
            </a:extLst>
          </p:cNvPr>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1. 논제의 범위와 현행 대응</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청소년 마약류의 실태와 사용 맥락</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치료보호 절차와 사회재활의 구성</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치료보호는 마약 사용 경험이 있다고 모두 해당되는 것은 아니며</a:t>
            </a:r>
            <a:r>
              <a:rPr lang="en-US" altLang="ko-KR" sz="1300" b="1" dirty="0">
                <a:solidFill>
                  <a:srgbClr val="1E2761"/>
                </a:solidFill>
                <a:latin typeface="Pretendard" pitchFamily="34" charset="0"/>
                <a:ea typeface="Pretendard" pitchFamily="34" charset="-122"/>
                <a:cs typeface="Pretendard" pitchFamily="34" charset="-120"/>
              </a:rPr>
              <a:t>, </a:t>
            </a:r>
            <a:r>
              <a:rPr lang="ko-KR" altLang="en-US" sz="1300" b="1" dirty="0" err="1">
                <a:solidFill>
                  <a:srgbClr val="1E2761"/>
                </a:solidFill>
                <a:latin typeface="Pretendard" pitchFamily="34" charset="0"/>
                <a:ea typeface="Pretendard" pitchFamily="34" charset="-122"/>
                <a:cs typeface="Pretendard" pitchFamily="34" charset="-120"/>
              </a:rPr>
              <a:t>신청·의뢰</a:t>
            </a:r>
            <a:r>
              <a:rPr lang="ko-KR" altLang="en-US" sz="1300" b="1" dirty="0">
                <a:solidFill>
                  <a:srgbClr val="1E2761"/>
                </a:solidFill>
                <a:latin typeface="Pretendard" pitchFamily="34" charset="0"/>
                <a:ea typeface="Pretendard" pitchFamily="34" charset="-122"/>
                <a:cs typeface="Pretendard" pitchFamily="34" charset="-120"/>
              </a:rPr>
              <a:t>, 판별검사, 심의·결정을 거쳐 의료적 치료로 이어진다</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BK8"/>
          <p:cNvSpPr/>
          <p:nvPr/>
        </p:nvSpPr>
        <p:spPr>
          <a:xfrm>
            <a:off x="731520" y="2221992"/>
            <a:ext cx="10725912" cy="310896"/>
          </a:xfrm>
          <a:prstGeom prst="rect">
            <a:avLst/>
          </a:prstGeom>
          <a:solidFill>
            <a:srgbClr val="F2F4F8"/>
          </a:solidFill>
          <a:ln/>
        </p:spPr>
        <p:txBody>
          <a:bodyPr/>
          <a:lstStyle/>
          <a:p>
            <a:endParaRPr lang="ko-KR" altLang="en-US"/>
          </a:p>
        </p:txBody>
      </p:sp>
      <p:sp>
        <p:nvSpPr>
          <p:cNvPr id="9" name="BL9"/>
          <p:cNvSpPr/>
          <p:nvPr/>
        </p:nvSpPr>
        <p:spPr>
          <a:xfrm>
            <a:off x="896112" y="2221992"/>
            <a:ext cx="3657600" cy="310896"/>
          </a:xfrm>
          <a:prstGeom prst="rect">
            <a:avLst/>
          </a:prstGeom>
          <a:noFill/>
          <a:ln/>
        </p:spPr>
        <p:txBody>
          <a:bodyPr wrap="square" lIns="0" tIns="0" rIns="0" bIns="0" rtlCol="0" anchor="ctr"/>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치료보호의 절차</a:t>
            </a:r>
          </a:p>
        </p:txBody>
      </p:sp>
      <p:sp>
        <p:nvSpPr>
          <p:cNvPr id="10" name="C10"/>
          <p:cNvSpPr/>
          <p:nvPr/>
        </p:nvSpPr>
        <p:spPr>
          <a:xfrm>
            <a:off x="896111" y="2725393"/>
            <a:ext cx="2400299" cy="978408"/>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1E2761"/>
                </a:solidFill>
                <a:latin typeface="Pretendard" pitchFamily="34" charset="0"/>
                <a:ea typeface="Pretendard" pitchFamily="34" charset="-122"/>
                <a:cs typeface="Pretendard" pitchFamily="34" charset="-120"/>
              </a:rPr>
              <a:t>① 신청·의뢰</a:t>
            </a:r>
          </a:p>
          <a:p>
            <a:pPr marL="0" indent="0">
              <a:lnSpc>
                <a:spcPct val="125000"/>
              </a:lnSpc>
              <a:buNone/>
            </a:pPr>
            <a:r>
              <a:rPr lang="ko-KR" altLang="en-US" sz="1150" dirty="0">
                <a:solidFill>
                  <a:srgbClr val="464D5C"/>
                </a:solidFill>
                <a:latin typeface="Pretendard" pitchFamily="34" charset="0"/>
                <a:ea typeface="Pretendard" pitchFamily="34" charset="-122"/>
                <a:cs typeface="Pretendard" pitchFamily="34" charset="-120"/>
              </a:rPr>
              <a:t>본인 등의 신청 또는 검사의 의뢰. 출소·출원자는 동의를 받아 시설장이 의뢰</a:t>
            </a:r>
          </a:p>
        </p:txBody>
      </p:sp>
      <p:sp>
        <p:nvSpPr>
          <p:cNvPr id="11" name="C11"/>
          <p:cNvSpPr/>
          <p:nvPr/>
        </p:nvSpPr>
        <p:spPr>
          <a:xfrm>
            <a:off x="3506724" y="2719378"/>
            <a:ext cx="2400300" cy="726948"/>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1E2761"/>
                </a:solidFill>
                <a:latin typeface="Pretendard" pitchFamily="34" charset="0"/>
                <a:ea typeface="Pretendard" pitchFamily="34" charset="-122"/>
                <a:cs typeface="Pretendard" pitchFamily="34" charset="-120"/>
              </a:rPr>
              <a:t>② 판별검사</a:t>
            </a:r>
          </a:p>
          <a:p>
            <a:pPr marL="0" indent="0">
              <a:lnSpc>
                <a:spcPct val="125000"/>
              </a:lnSpc>
              <a:buNone/>
            </a:pPr>
            <a:r>
              <a:rPr lang="ko-KR" altLang="en-US" sz="1150" dirty="0">
                <a:solidFill>
                  <a:srgbClr val="464D5C"/>
                </a:solidFill>
                <a:latin typeface="Pretendard" pitchFamily="34" charset="0"/>
                <a:ea typeface="Pretendard" pitchFamily="34" charset="-122"/>
                <a:cs typeface="Pretendard" pitchFamily="34" charset="-120"/>
              </a:rPr>
              <a:t>마약류 중독 여부를 판별하는 검사. 기간은 1개월 이내</a:t>
            </a:r>
          </a:p>
        </p:txBody>
      </p:sp>
      <p:sp>
        <p:nvSpPr>
          <p:cNvPr id="12" name="C12"/>
          <p:cNvSpPr/>
          <p:nvPr/>
        </p:nvSpPr>
        <p:spPr>
          <a:xfrm>
            <a:off x="6281928" y="2719377"/>
            <a:ext cx="2400300" cy="984424"/>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1E2761"/>
                </a:solidFill>
                <a:latin typeface="Pretendard" pitchFamily="34" charset="0"/>
                <a:ea typeface="Pretendard" pitchFamily="34" charset="-122"/>
                <a:cs typeface="Pretendard" pitchFamily="34" charset="-120"/>
              </a:rPr>
              <a:t>③ 심의·결정</a:t>
            </a:r>
          </a:p>
          <a:p>
            <a:pPr marL="0" indent="0">
              <a:lnSpc>
                <a:spcPct val="125000"/>
              </a:lnSpc>
              <a:buNone/>
            </a:pPr>
            <a:r>
              <a:rPr lang="ko-KR" altLang="en-US" sz="1150" dirty="0">
                <a:solidFill>
                  <a:srgbClr val="464D5C"/>
                </a:solidFill>
                <a:latin typeface="Pretendard" pitchFamily="34" charset="0"/>
                <a:ea typeface="Pretendard" pitchFamily="34" charset="-122"/>
                <a:cs typeface="Pretendard" pitchFamily="34" charset="-120"/>
              </a:rPr>
              <a:t>치료보호심사위원회 심의를 거쳐 보건복지부장관 또는 </a:t>
            </a:r>
            <a:r>
              <a:rPr lang="ko-KR" altLang="en-US" sz="1150" dirty="0" err="1">
                <a:solidFill>
                  <a:srgbClr val="464D5C"/>
                </a:solidFill>
                <a:latin typeface="Pretendard" pitchFamily="34" charset="0"/>
                <a:ea typeface="Pretendard" pitchFamily="34" charset="-122"/>
                <a:cs typeface="Pretendard" pitchFamily="34" charset="-120"/>
              </a:rPr>
              <a:t>시·도지사가</a:t>
            </a:r>
            <a:r>
              <a:rPr lang="ko-KR" altLang="en-US" sz="1150" dirty="0">
                <a:solidFill>
                  <a:srgbClr val="464D5C"/>
                </a:solidFill>
                <a:latin typeface="Pretendard" pitchFamily="34" charset="0"/>
                <a:ea typeface="Pretendard" pitchFamily="34" charset="-122"/>
                <a:cs typeface="Pretendard" pitchFamily="34" charset="-120"/>
              </a:rPr>
              <a:t> 결정</a:t>
            </a:r>
          </a:p>
        </p:txBody>
      </p:sp>
      <p:sp>
        <p:nvSpPr>
          <p:cNvPr id="13" name="C13"/>
          <p:cNvSpPr/>
          <p:nvPr/>
        </p:nvSpPr>
        <p:spPr>
          <a:xfrm>
            <a:off x="9057132" y="2731648"/>
            <a:ext cx="2400300" cy="97142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1E2761"/>
                </a:solidFill>
                <a:latin typeface="Pretendard" pitchFamily="34" charset="0"/>
                <a:ea typeface="Pretendard" pitchFamily="34" charset="-122"/>
                <a:cs typeface="Pretendard" pitchFamily="34" charset="-120"/>
              </a:rPr>
              <a:t>④ 의료적 치료</a:t>
            </a:r>
          </a:p>
          <a:p>
            <a:pPr marL="0" indent="0">
              <a:lnSpc>
                <a:spcPct val="125000"/>
              </a:lnSpc>
              <a:buNone/>
            </a:pPr>
            <a:r>
              <a:rPr lang="ko-KR" altLang="en-US" sz="1150" dirty="0">
                <a:solidFill>
                  <a:srgbClr val="464D5C"/>
                </a:solidFill>
                <a:latin typeface="Pretendard" pitchFamily="34" charset="0"/>
                <a:ea typeface="Pretendard" pitchFamily="34" charset="-122"/>
                <a:cs typeface="Pretendard" pitchFamily="34" charset="-120"/>
              </a:rPr>
              <a:t>지정 치료보호기관의 입원·통원치료. 치료보호 기간은 12개월 이내</a:t>
            </a:r>
          </a:p>
        </p:txBody>
      </p:sp>
      <p:sp>
        <p:nvSpPr>
          <p:cNvPr id="14" name="MID"/>
          <p:cNvSpPr/>
          <p:nvPr/>
        </p:nvSpPr>
        <p:spPr>
          <a:xfrm>
            <a:off x="731520" y="3824120"/>
            <a:ext cx="10725912" cy="0"/>
          </a:xfrm>
          <a:prstGeom prst="line">
            <a:avLst/>
          </a:prstGeom>
          <a:ln w="9525">
            <a:solidFill>
              <a:srgbClr val="DCE0E8"/>
            </a:solidFill>
          </a:ln>
        </p:spPr>
        <p:txBody>
          <a:bodyPr/>
          <a:lstStyle/>
          <a:p>
            <a:endParaRPr lang="ko-KR"/>
          </a:p>
        </p:txBody>
      </p:sp>
      <p:sp>
        <p:nvSpPr>
          <p:cNvPr id="15" name="BK15"/>
          <p:cNvSpPr/>
          <p:nvPr/>
        </p:nvSpPr>
        <p:spPr>
          <a:xfrm>
            <a:off x="731520" y="4007479"/>
            <a:ext cx="10725912" cy="310896"/>
          </a:xfrm>
          <a:prstGeom prst="rect">
            <a:avLst/>
          </a:prstGeom>
          <a:solidFill>
            <a:srgbClr val="F2F4F8"/>
          </a:solidFill>
          <a:ln/>
        </p:spPr>
        <p:txBody>
          <a:bodyPr/>
          <a:lstStyle/>
          <a:p>
            <a:endParaRPr lang="ko-KR" altLang="en-US"/>
          </a:p>
        </p:txBody>
      </p:sp>
      <p:sp>
        <p:nvSpPr>
          <p:cNvPr id="16" name="BL16"/>
          <p:cNvSpPr/>
          <p:nvPr/>
        </p:nvSpPr>
        <p:spPr>
          <a:xfrm>
            <a:off x="896112" y="4007479"/>
            <a:ext cx="3657600" cy="310896"/>
          </a:xfrm>
          <a:prstGeom prst="rect">
            <a:avLst/>
          </a:prstGeom>
          <a:noFill/>
          <a:ln/>
        </p:spPr>
        <p:txBody>
          <a:bodyPr wrap="square" lIns="0" tIns="0" rIns="0" bIns="0" rtlCol="0" anchor="ctr"/>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사회재활의 구성</a:t>
            </a:r>
          </a:p>
        </p:txBody>
      </p:sp>
      <p:sp>
        <p:nvSpPr>
          <p:cNvPr id="17" name="C17"/>
          <p:cNvSpPr/>
          <p:nvPr/>
        </p:nvSpPr>
        <p:spPr>
          <a:xfrm>
            <a:off x="896112" y="4549889"/>
            <a:ext cx="1333096" cy="757386"/>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1E2761"/>
                </a:solidFill>
                <a:latin typeface="Pretendard" pitchFamily="34" charset="0"/>
                <a:ea typeface="Pretendard" pitchFamily="34" charset="-122"/>
                <a:cs typeface="Pretendard" pitchFamily="34" charset="-120"/>
              </a:rPr>
              <a:t>개별상담</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중독·심리 문제를 상담</a:t>
            </a:r>
          </a:p>
        </p:txBody>
      </p:sp>
      <p:sp>
        <p:nvSpPr>
          <p:cNvPr id="18" name="C18"/>
          <p:cNvSpPr/>
          <p:nvPr/>
        </p:nvSpPr>
        <p:spPr>
          <a:xfrm>
            <a:off x="4267356" y="4544148"/>
            <a:ext cx="2283303" cy="726948"/>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1E2761"/>
                </a:solidFill>
                <a:latin typeface="Pretendard" pitchFamily="34" charset="0"/>
                <a:ea typeface="Pretendard" pitchFamily="34" charset="-122"/>
                <a:cs typeface="Pretendard" pitchFamily="34" charset="-120"/>
              </a:rPr>
              <a:t>사례관리</a:t>
            </a:r>
          </a:p>
          <a:p>
            <a:pPr>
              <a:lnSpc>
                <a:spcPct val="125000"/>
              </a:lnSpc>
            </a:pPr>
            <a:r>
              <a:rPr lang="ko-KR" altLang="en-US" sz="1150" dirty="0">
                <a:solidFill>
                  <a:srgbClr val="464D5C"/>
                </a:solidFill>
                <a:latin typeface="Pretendard" pitchFamily="34" charset="0"/>
                <a:ea typeface="Pretendard" pitchFamily="34" charset="-122"/>
                <a:cs typeface="Pretendard" pitchFamily="34" charset="-120"/>
              </a:rPr>
              <a:t>치료</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a:solidFill>
                  <a:srgbClr val="464D5C"/>
                </a:solidFill>
                <a:latin typeface="Pretendard" pitchFamily="34" charset="0"/>
                <a:ea typeface="Pretendard" pitchFamily="34" charset="-122"/>
                <a:cs typeface="Pretendard" pitchFamily="34" charset="-120"/>
              </a:rPr>
              <a:t>재활 참여 상황과 중단 이유를 확인</a:t>
            </a:r>
            <a:endParaRPr lang="en-US" altLang="ko-KR" sz="1150" dirty="0">
              <a:solidFill>
                <a:srgbClr val="464D5C"/>
              </a:solidFill>
              <a:latin typeface="Pretendard" pitchFamily="34" charset="0"/>
              <a:ea typeface="Pretendard" pitchFamily="34" charset="-122"/>
              <a:cs typeface="Pretendard" pitchFamily="34" charset="-120"/>
            </a:endParaRPr>
          </a:p>
          <a:p>
            <a:pPr>
              <a:lnSpc>
                <a:spcPct val="125000"/>
              </a:lnSpc>
            </a:pPr>
            <a:r>
              <a:rPr lang="ko-KR" altLang="en-US" sz="1150" dirty="0">
                <a:solidFill>
                  <a:srgbClr val="464D5C"/>
                </a:solidFill>
                <a:latin typeface="Pretendard" pitchFamily="34" charset="0"/>
                <a:ea typeface="Pretendard" pitchFamily="34" charset="-122"/>
                <a:cs typeface="Pretendard" pitchFamily="34" charset="-120"/>
              </a:rPr>
              <a:t>필요한 상담</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a:solidFill>
                  <a:srgbClr val="464D5C"/>
                </a:solidFill>
                <a:latin typeface="Pretendard" pitchFamily="34" charset="0"/>
                <a:ea typeface="Pretendard" pitchFamily="34" charset="-122"/>
                <a:cs typeface="Pretendard" pitchFamily="34" charset="-120"/>
              </a:rPr>
              <a:t>의료</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a:solidFill>
                  <a:srgbClr val="464D5C"/>
                </a:solidFill>
                <a:latin typeface="Pretendard" pitchFamily="34" charset="0"/>
                <a:ea typeface="Pretendard" pitchFamily="34" charset="-122"/>
                <a:cs typeface="Pretendard" pitchFamily="34" charset="-120"/>
              </a:rPr>
              <a:t>복지 지원을 연결</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a:solidFill>
                  <a:srgbClr val="464D5C"/>
                </a:solidFill>
                <a:latin typeface="Pretendard" pitchFamily="34" charset="0"/>
                <a:ea typeface="Pretendard" pitchFamily="34" charset="-122"/>
                <a:cs typeface="Pretendard" pitchFamily="34" charset="-120"/>
              </a:rPr>
              <a:t>조정</a:t>
            </a:r>
          </a:p>
        </p:txBody>
      </p:sp>
      <p:sp>
        <p:nvSpPr>
          <p:cNvPr id="19" name="C19"/>
          <p:cNvSpPr/>
          <p:nvPr/>
        </p:nvSpPr>
        <p:spPr>
          <a:xfrm>
            <a:off x="2381600" y="4556865"/>
            <a:ext cx="1721331" cy="726948"/>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1E2761"/>
                </a:solidFill>
                <a:latin typeface="Pretendard" pitchFamily="34" charset="0"/>
                <a:ea typeface="Pretendard" pitchFamily="34" charset="-122"/>
                <a:cs typeface="Pretendard" pitchFamily="34" charset="-120"/>
              </a:rPr>
              <a:t>재활프로그램</a:t>
            </a:r>
          </a:p>
          <a:p>
            <a:pPr marL="0" indent="0">
              <a:lnSpc>
                <a:spcPct val="125000"/>
              </a:lnSpc>
              <a:buNone/>
            </a:pPr>
            <a:r>
              <a:rPr lang="ko-KR" altLang="en-US" sz="1150" dirty="0">
                <a:solidFill>
                  <a:srgbClr val="464D5C"/>
                </a:solidFill>
                <a:latin typeface="Pretendard" pitchFamily="34" charset="0"/>
                <a:ea typeface="Pretendard" pitchFamily="34" charset="-122"/>
                <a:cs typeface="Pretendard" pitchFamily="34" charset="-120"/>
              </a:rPr>
              <a:t>단약 유지와 일상 회복을 위한 프로그램 운영</a:t>
            </a:r>
          </a:p>
        </p:txBody>
      </p:sp>
      <p:sp>
        <p:nvSpPr>
          <p:cNvPr id="20" name="C20"/>
          <p:cNvSpPr/>
          <p:nvPr/>
        </p:nvSpPr>
        <p:spPr>
          <a:xfrm>
            <a:off x="6714434" y="4528929"/>
            <a:ext cx="2369403" cy="726948"/>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err="1">
                <a:solidFill>
                  <a:srgbClr val="1E2761"/>
                </a:solidFill>
                <a:latin typeface="Pretendard" pitchFamily="34" charset="0"/>
                <a:ea typeface="Pretendard" pitchFamily="34" charset="-122"/>
                <a:cs typeface="Pretendard" pitchFamily="34" charset="-120"/>
              </a:rPr>
              <a:t>가족지원·자조모임</a:t>
            </a:r>
            <a:endParaRPr lang="ko-KR" altLang="en-US" sz="1250" b="1" dirty="0">
              <a:solidFill>
                <a:srgbClr val="1E2761"/>
              </a:solidFill>
              <a:latin typeface="Pretendard" pitchFamily="34" charset="0"/>
              <a:ea typeface="Pretendard" pitchFamily="34" charset="-122"/>
              <a:cs typeface="Pretendard" pitchFamily="34" charset="-120"/>
            </a:endParaRPr>
          </a:p>
          <a:p>
            <a:pPr marL="0" indent="0">
              <a:lnSpc>
                <a:spcPct val="125000"/>
              </a:lnSpc>
              <a:buNone/>
            </a:pPr>
            <a:r>
              <a:rPr lang="ko-KR" altLang="en-US" sz="1150" dirty="0">
                <a:solidFill>
                  <a:srgbClr val="464D5C"/>
                </a:solidFill>
                <a:latin typeface="Pretendard" pitchFamily="34" charset="0"/>
                <a:ea typeface="Pretendard" pitchFamily="34" charset="-122"/>
                <a:cs typeface="Pretendard" pitchFamily="34" charset="-120"/>
              </a:rPr>
              <a:t>가족교육·상담과 동료의 회복 지원을 제공</a:t>
            </a:r>
            <a:endParaRPr lang="en-US" altLang="ko-KR" sz="1150" dirty="0">
              <a:solidFill>
                <a:srgbClr val="464D5C"/>
              </a:solidFill>
              <a:latin typeface="Pretendard" pitchFamily="34" charset="0"/>
              <a:ea typeface="Pretendard" pitchFamily="34" charset="-122"/>
              <a:cs typeface="Pretendard" pitchFamily="34" charset="-120"/>
            </a:endParaRPr>
          </a:p>
          <a:p>
            <a:pPr>
              <a:lnSpc>
                <a:spcPct val="125000"/>
              </a:lnSpc>
            </a:pPr>
            <a:r>
              <a:rPr lang="ko-KR" altLang="en-US" sz="1150" dirty="0">
                <a:solidFill>
                  <a:srgbClr val="464D5C"/>
                </a:solidFill>
                <a:latin typeface="Pretendard" pitchFamily="34" charset="0"/>
                <a:ea typeface="Pretendard" pitchFamily="34" charset="-122"/>
                <a:cs typeface="Pretendard" pitchFamily="34" charset="-120"/>
              </a:rPr>
              <a:t>마약류 상담전화</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err="1">
                <a:solidFill>
                  <a:srgbClr val="464D5C"/>
                </a:solidFill>
                <a:latin typeface="Pretendard" pitchFamily="34" charset="0"/>
                <a:ea typeface="Pretendard" pitchFamily="34" charset="-122"/>
                <a:cs typeface="Pretendard" pitchFamily="34" charset="-120"/>
              </a:rPr>
              <a:t>용기한걸음센터</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a:solidFill>
                  <a:srgbClr val="464D5C"/>
                </a:solidFill>
                <a:latin typeface="Pretendard" pitchFamily="34" charset="0"/>
                <a:ea typeface="Pretendard" pitchFamily="34" charset="-122"/>
                <a:cs typeface="Pretendard" pitchFamily="34" charset="-120"/>
              </a:rPr>
              <a:t> </a:t>
            </a:r>
            <a:r>
              <a:rPr lang="en-US" altLang="ko-KR" sz="1150" dirty="0">
                <a:solidFill>
                  <a:srgbClr val="464D5C"/>
                </a:solidFill>
                <a:latin typeface="Pretendard" pitchFamily="34" charset="0"/>
                <a:ea typeface="Pretendard" pitchFamily="34" charset="-122"/>
                <a:cs typeface="Pretendard" pitchFamily="34" charset="-120"/>
              </a:rPr>
              <a:t>1342)</a:t>
            </a:r>
          </a:p>
          <a:p>
            <a:pPr marL="0" indent="0">
              <a:lnSpc>
                <a:spcPct val="125000"/>
              </a:lnSpc>
              <a:buNone/>
            </a:pPr>
            <a:endParaRPr lang="ko-KR" altLang="en-US" sz="1150" dirty="0">
              <a:solidFill>
                <a:srgbClr val="464D5C"/>
              </a:solidFill>
              <a:latin typeface="Pretendard" pitchFamily="34" charset="0"/>
              <a:ea typeface="Pretendard" pitchFamily="34" charset="-122"/>
              <a:cs typeface="Pretendard" pitchFamily="34" charset="-120"/>
            </a:endParaRPr>
          </a:p>
        </p:txBody>
      </p:sp>
      <p:sp>
        <p:nvSpPr>
          <p:cNvPr id="21" name="C21"/>
          <p:cNvSpPr/>
          <p:nvPr/>
        </p:nvSpPr>
        <p:spPr>
          <a:xfrm>
            <a:off x="9260993" y="4528929"/>
            <a:ext cx="1925726" cy="726948"/>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1E2761"/>
                </a:solidFill>
                <a:latin typeface="Pretendard" pitchFamily="34" charset="0"/>
                <a:ea typeface="Pretendard" pitchFamily="34" charset="-122"/>
                <a:cs typeface="Pretendard" pitchFamily="34" charset="-120"/>
              </a:rPr>
              <a:t>사회복귀 지원</a:t>
            </a:r>
          </a:p>
          <a:p>
            <a:pPr marL="0" indent="0">
              <a:lnSpc>
                <a:spcPct val="125000"/>
              </a:lnSpc>
              <a:buNone/>
            </a:pPr>
            <a:r>
              <a:rPr lang="ko-KR" altLang="en-US" sz="1150" dirty="0">
                <a:solidFill>
                  <a:srgbClr val="464D5C"/>
                </a:solidFill>
                <a:latin typeface="Pretendard" pitchFamily="34" charset="0"/>
                <a:ea typeface="Pretendard" pitchFamily="34" charset="-122"/>
                <a:cs typeface="Pretendard" pitchFamily="34" charset="-120"/>
              </a:rPr>
              <a:t>일상 복귀와 필요한 지역 서비스를 연계한다</a:t>
            </a:r>
          </a:p>
        </p:txBody>
      </p:sp>
      <p:sp>
        <p:nvSpPr>
          <p:cNvPr id="22" name="R1"/>
          <p:cNvSpPr/>
          <p:nvPr/>
        </p:nvSpPr>
        <p:spPr>
          <a:xfrm>
            <a:off x="731520" y="5609082"/>
            <a:ext cx="10725912" cy="0"/>
          </a:xfrm>
          <a:prstGeom prst="line">
            <a:avLst/>
          </a:prstGeom>
          <a:ln w="9525">
            <a:solidFill>
              <a:srgbClr val="DCE0E8"/>
            </a:solidFill>
          </a:ln>
        </p:spPr>
        <p:txBody>
          <a:bodyPr/>
          <a:lstStyle/>
          <a:p>
            <a:endParaRPr lang="ko-KR"/>
          </a:p>
        </p:txBody>
      </p:sp>
      <p:sp>
        <p:nvSpPr>
          <p:cNvPr id="23" name="CLOSE"/>
          <p:cNvSpPr/>
          <p:nvPr/>
        </p:nvSpPr>
        <p:spPr>
          <a:xfrm>
            <a:off x="731520" y="5609081"/>
            <a:ext cx="10725912" cy="535685"/>
          </a:xfrm>
          <a:prstGeom prst="rect">
            <a:avLst/>
          </a:prstGeom>
          <a:solidFill>
            <a:schemeClr val="accent1">
              <a:lumMod val="20000"/>
              <a:lumOff val="80000"/>
            </a:schemeClr>
          </a:solidFill>
          <a:ln/>
        </p:spPr>
        <p:txBody>
          <a:bodyPr wrap="square" lIns="0" tIns="0" rIns="0" bIns="0" rtlCol="0" anchor="ctr"/>
          <a:lstStyle/>
          <a:p>
            <a:pPr marL="0" indent="0" algn="ctr">
              <a:lnSpc>
                <a:spcPct val="118000"/>
              </a:lnSpc>
              <a:buNone/>
            </a:pPr>
            <a:r>
              <a:rPr lang="ko-KR" altLang="en-US" sz="1250" b="1" dirty="0">
                <a:solidFill>
                  <a:schemeClr val="accent1">
                    <a:lumMod val="50000"/>
                  </a:schemeClr>
                </a:solidFill>
                <a:latin typeface="Pretendard" pitchFamily="34" charset="0"/>
                <a:ea typeface="Pretendard" pitchFamily="34" charset="-122"/>
                <a:cs typeface="Pretendard" pitchFamily="34" charset="-120"/>
              </a:rPr>
              <a:t>의료적 치료가 진행되는 동안과 끝난 뒤에도 사회재활의 지원은 이어질 수 있다</a:t>
            </a:r>
          </a:p>
        </p:txBody>
      </p:sp>
      <p:sp>
        <p:nvSpPr>
          <p:cNvPr id="24" name="R2"/>
          <p:cNvSpPr/>
          <p:nvPr/>
        </p:nvSpPr>
        <p:spPr>
          <a:xfrm>
            <a:off x="731520" y="6144768"/>
            <a:ext cx="10725912" cy="0"/>
          </a:xfrm>
          <a:prstGeom prst="line">
            <a:avLst/>
          </a:prstGeom>
          <a:ln w="9525">
            <a:solidFill>
              <a:srgbClr val="DCE0E8"/>
            </a:solidFill>
          </a:ln>
        </p:spPr>
        <p:txBody>
          <a:bodyPr/>
          <a:lstStyle/>
          <a:p>
            <a:endParaRPr lang="ko-KR"/>
          </a:p>
        </p:txBody>
      </p:sp>
      <p:sp>
        <p:nvSpPr>
          <p:cNvPr id="26" name="Text 0">
            <a:extLst>
              <a:ext uri="{FF2B5EF4-FFF2-40B4-BE49-F238E27FC236}">
                <a16:creationId xmlns:a16="http://schemas.microsoft.com/office/drawing/2014/main" id="{B40762C8-9B83-4287-AA12-B927E999F6C9}"/>
              </a:ext>
            </a:extLst>
          </p:cNvPr>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1. 논제의 범위와 현행 대응</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1. 논제의 범위와 현행 대응</a:t>
            </a:r>
            <a:endParaRPr lang="en-US" sz="1250" dirty="0"/>
          </a:p>
        </p:txBody>
      </p:sp>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제2장 · 사용 실태와 도움 요청</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pPr marL="0" indent="0">
              <a:buNone/>
            </a:pPr>
            <a:r>
              <a:rPr lang="ko-KR" altLang="en-US" sz="2700" b="1" dirty="0">
                <a:solidFill>
                  <a:srgbClr val="1E2761"/>
                </a:solidFill>
                <a:latin typeface="Pretendard" pitchFamily="34" charset="0"/>
                <a:ea typeface="Pretendard" pitchFamily="34" charset="-122"/>
                <a:cs typeface="Pretendard" pitchFamily="34" charset="-120"/>
              </a:rPr>
              <a:t>청소년 마약사범에 대한 </a:t>
            </a:r>
            <a:r>
              <a:rPr lang="en-US" sz="2700" b="1" dirty="0" err="1">
                <a:solidFill>
                  <a:srgbClr val="1E2761"/>
                </a:solidFill>
                <a:latin typeface="Pretendard" pitchFamily="34" charset="0"/>
                <a:ea typeface="Pretendard" pitchFamily="34" charset="-122"/>
                <a:cs typeface="Pretendard" pitchFamily="34" charset="-120"/>
              </a:rPr>
              <a:t>현행</a:t>
            </a:r>
            <a:r>
              <a:rPr lang="en-US" sz="2700" b="1" dirty="0">
                <a:solidFill>
                  <a:srgbClr val="1E2761"/>
                </a:solidFill>
                <a:latin typeface="Pretendard" pitchFamily="34" charset="0"/>
                <a:ea typeface="Pretendard" pitchFamily="34" charset="-122"/>
                <a:cs typeface="Pretendard" pitchFamily="34" charset="-120"/>
              </a:rPr>
              <a:t> </a:t>
            </a:r>
            <a:r>
              <a:rPr lang="en-US" sz="2700" b="1" dirty="0" err="1">
                <a:solidFill>
                  <a:srgbClr val="1E2761"/>
                </a:solidFill>
                <a:latin typeface="Pretendard" pitchFamily="34" charset="0"/>
                <a:ea typeface="Pretendard" pitchFamily="34" charset="-122"/>
                <a:cs typeface="Pretendard" pitchFamily="34" charset="-120"/>
              </a:rPr>
              <a:t>대응의</a:t>
            </a:r>
            <a:r>
              <a:rPr lang="en-US" sz="2700" b="1" dirty="0">
                <a:solidFill>
                  <a:srgbClr val="1E2761"/>
                </a:solidFill>
                <a:latin typeface="Pretendard" pitchFamily="34" charset="0"/>
                <a:ea typeface="Pretendard" pitchFamily="34" charset="-122"/>
                <a:cs typeface="Pretendard" pitchFamily="34" charset="-120"/>
              </a:rPr>
              <a:t> </a:t>
            </a:r>
            <a:r>
              <a:rPr lang="en-US" sz="2700" b="1" dirty="0" err="1">
                <a:solidFill>
                  <a:srgbClr val="1E2761"/>
                </a:solidFill>
                <a:latin typeface="Pretendard" pitchFamily="34" charset="0"/>
                <a:ea typeface="Pretendard" pitchFamily="34" charset="-122"/>
                <a:cs typeface="Pretendard" pitchFamily="34" charset="-120"/>
              </a:rPr>
              <a:t>기준선</a:t>
            </a:r>
            <a:endParaRPr lang="en-US" sz="2700" dirty="0"/>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353312"/>
            <a:ext cx="10698480" cy="438912"/>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987552" y="1353312"/>
            <a:ext cx="10186416" cy="438912"/>
          </a:xfrm>
          <a:prstGeom prst="rect">
            <a:avLst/>
          </a:prstGeom>
          <a:noFill/>
          <a:ln/>
        </p:spPr>
        <p:txBody>
          <a:bodyPr wrap="square" lIns="0" tIns="0" rIns="0" bIns="0" rtlCol="0" anchor="ctr"/>
          <a:lstStyle/>
          <a:p>
            <a:pPr marL="0" indent="0">
              <a:buNone/>
            </a:pPr>
            <a:r>
              <a:rPr lang="ko-KR" altLang="en-US" sz="1250" b="1" dirty="0">
                <a:solidFill>
                  <a:srgbClr val="1E2761"/>
                </a:solidFill>
                <a:latin typeface="Pretendard" pitchFamily="34" charset="0"/>
                <a:ea typeface="Pretendard" pitchFamily="34" charset="-122"/>
                <a:cs typeface="Pretendard" pitchFamily="34" charset="-120"/>
              </a:rPr>
              <a:t>마약류 위반 청소년에게 </a:t>
            </a:r>
            <a:r>
              <a:rPr lang="en-US" sz="1250" b="1" dirty="0" err="1">
                <a:solidFill>
                  <a:srgbClr val="1E2761"/>
                </a:solidFill>
                <a:latin typeface="Pretendard" pitchFamily="34" charset="0"/>
                <a:ea typeface="Pretendard" pitchFamily="34" charset="-122"/>
                <a:cs typeface="Pretendard" pitchFamily="34" charset="-120"/>
              </a:rPr>
              <a:t>법적</a:t>
            </a:r>
            <a:r>
              <a:rPr lang="en-US" sz="1250" b="1" dirty="0">
                <a:solidFill>
                  <a:srgbClr val="1E2761"/>
                </a:solidFill>
                <a:latin typeface="Pretendard" pitchFamily="34" charset="0"/>
                <a:ea typeface="Pretendard" pitchFamily="34" charset="-122"/>
                <a:cs typeface="Pretendard" pitchFamily="34" charset="-120"/>
              </a:rPr>
              <a:t> </a:t>
            </a:r>
            <a:r>
              <a:rPr lang="en-US" sz="1250" b="1" dirty="0" err="1">
                <a:solidFill>
                  <a:srgbClr val="1E2761"/>
                </a:solidFill>
                <a:latin typeface="Pretendard" pitchFamily="34" charset="0"/>
                <a:ea typeface="Pretendard" pitchFamily="34" charset="-122"/>
                <a:cs typeface="Pretendard" pitchFamily="34" charset="-120"/>
              </a:rPr>
              <a:t>처분</a:t>
            </a:r>
            <a:r>
              <a:rPr lang="ko-KR" altLang="en-US" sz="1250" b="1" dirty="0">
                <a:solidFill>
                  <a:srgbClr val="1E2761"/>
                </a:solidFill>
                <a:latin typeface="Pretendard" pitchFamily="34" charset="0"/>
                <a:ea typeface="Pretendard" pitchFamily="34" charset="-122"/>
                <a:cs typeface="Pretendard" pitchFamily="34" charset="-120"/>
              </a:rPr>
              <a:t>과 </a:t>
            </a:r>
            <a:r>
              <a:rPr lang="en-US" sz="1250" b="1" dirty="0" err="1">
                <a:solidFill>
                  <a:srgbClr val="1E2761"/>
                </a:solidFill>
                <a:latin typeface="Pretendard" pitchFamily="34" charset="0"/>
                <a:ea typeface="Pretendard" pitchFamily="34" charset="-122"/>
                <a:cs typeface="Pretendard" pitchFamily="34" charset="-120"/>
              </a:rPr>
              <a:t>치료</a:t>
            </a:r>
            <a:r>
              <a:rPr lang="en-US" sz="1250" b="1" dirty="0">
                <a:solidFill>
                  <a:srgbClr val="1E2761"/>
                </a:solidFill>
                <a:latin typeface="Pretendard" pitchFamily="34" charset="0"/>
                <a:ea typeface="Pretendard" pitchFamily="34" charset="-122"/>
                <a:cs typeface="Pretendard" pitchFamily="34" charset="-120"/>
              </a:rPr>
              <a:t> · </a:t>
            </a:r>
            <a:r>
              <a:rPr lang="en-US" sz="1250" b="1" dirty="0" err="1">
                <a:solidFill>
                  <a:srgbClr val="1E2761"/>
                </a:solidFill>
                <a:latin typeface="Pretendard" pitchFamily="34" charset="0"/>
                <a:ea typeface="Pretendard" pitchFamily="34" charset="-122"/>
                <a:cs typeface="Pretendard" pitchFamily="34" charset="-120"/>
              </a:rPr>
              <a:t>사회재활</a:t>
            </a:r>
            <a:r>
              <a:rPr lang="ko-KR" altLang="en-US" sz="1250" b="1" dirty="0">
                <a:solidFill>
                  <a:srgbClr val="1E2761"/>
                </a:solidFill>
                <a:latin typeface="Pretendard" pitchFamily="34" charset="0"/>
                <a:ea typeface="Pretendard" pitchFamily="34" charset="-122"/>
                <a:cs typeface="Pretendard" pitchFamily="34" charset="-120"/>
              </a:rPr>
              <a:t> 중 무언가를 배제할 수는 없다</a:t>
            </a:r>
            <a:endParaRPr lang="en-US" sz="1250" dirty="0"/>
          </a:p>
        </p:txBody>
      </p:sp>
      <p:sp>
        <p:nvSpPr>
          <p:cNvPr id="8" name="Text 6"/>
          <p:cNvSpPr/>
          <p:nvPr/>
        </p:nvSpPr>
        <p:spPr>
          <a:xfrm>
            <a:off x="731520" y="1865376"/>
            <a:ext cx="10698480" cy="237744"/>
          </a:xfrm>
          <a:prstGeom prst="rect">
            <a:avLst/>
          </a:prstGeom>
          <a:noFill/>
          <a:ln/>
        </p:spPr>
        <p:txBody>
          <a:bodyPr wrap="square" lIns="0" tIns="0" rIns="0" bIns="0" rtlCol="0" anchor="ctr"/>
          <a:lstStyle/>
          <a:p>
            <a:pPr marL="0" indent="0">
              <a:buNone/>
            </a:pPr>
            <a:r>
              <a:rPr lang="en-US" sz="1200" b="1" dirty="0" err="1">
                <a:solidFill>
                  <a:srgbClr val="A8871C"/>
                </a:solidFill>
                <a:latin typeface="Pretendard" pitchFamily="34" charset="0"/>
                <a:ea typeface="Pretendard" pitchFamily="34" charset="-122"/>
                <a:cs typeface="Pretendard" pitchFamily="34" charset="-120"/>
              </a:rPr>
              <a:t>법적</a:t>
            </a:r>
            <a:r>
              <a:rPr lang="en-US" sz="1200" b="1" dirty="0">
                <a:solidFill>
                  <a:srgbClr val="A8871C"/>
                </a:solidFill>
                <a:latin typeface="Pretendard" pitchFamily="34" charset="0"/>
                <a:ea typeface="Pretendard" pitchFamily="34" charset="-122"/>
                <a:cs typeface="Pretendard" pitchFamily="34" charset="-120"/>
              </a:rPr>
              <a:t> </a:t>
            </a:r>
            <a:r>
              <a:rPr lang="en-US" sz="1200" b="1" dirty="0" err="1">
                <a:solidFill>
                  <a:srgbClr val="A8871C"/>
                </a:solidFill>
                <a:latin typeface="Pretendard" pitchFamily="34" charset="0"/>
                <a:ea typeface="Pretendard" pitchFamily="34" charset="-122"/>
                <a:cs typeface="Pretendard" pitchFamily="34" charset="-120"/>
              </a:rPr>
              <a:t>처리</a:t>
            </a:r>
            <a:endParaRPr lang="en-US" sz="1200" dirty="0"/>
          </a:p>
        </p:txBody>
      </p:sp>
      <p:sp>
        <p:nvSpPr>
          <p:cNvPr id="9" name="Shape 7"/>
          <p:cNvSpPr/>
          <p:nvPr/>
        </p:nvSpPr>
        <p:spPr>
          <a:xfrm>
            <a:off x="731520" y="2258568"/>
            <a:ext cx="3346704" cy="1097280"/>
          </a:xfrm>
          <a:prstGeom prst="rect">
            <a:avLst/>
          </a:prstGeom>
          <a:solidFill>
            <a:srgbClr val="FFFFFF"/>
          </a:solidFill>
          <a:ln w="12700">
            <a:solidFill>
              <a:srgbClr val="DCE0E8"/>
            </a:solidFill>
            <a:prstDash val="solid"/>
          </a:ln>
        </p:spPr>
        <p:txBody>
          <a:bodyPr/>
          <a:lstStyle/>
          <a:p>
            <a:endParaRPr lang="ko-KR" altLang="en-US"/>
          </a:p>
        </p:txBody>
      </p:sp>
      <p:sp>
        <p:nvSpPr>
          <p:cNvPr id="10" name="Text 8"/>
          <p:cNvSpPr/>
          <p:nvPr/>
        </p:nvSpPr>
        <p:spPr>
          <a:xfrm>
            <a:off x="950976" y="2386584"/>
            <a:ext cx="2907792" cy="292608"/>
          </a:xfrm>
          <a:prstGeom prst="rect">
            <a:avLst/>
          </a:prstGeom>
          <a:noFill/>
          <a:ln/>
        </p:spPr>
        <p:txBody>
          <a:bodyPr wrap="square" lIns="0" tIns="0" rIns="0" bIns="0" rtlCol="0" anchor="ctr"/>
          <a:lstStyle/>
          <a:p>
            <a:pPr marL="0" indent="0">
              <a:lnSpc>
                <a:spcPts val="1900"/>
              </a:lnSpc>
              <a:buNone/>
            </a:pPr>
            <a:r>
              <a:rPr lang="en-US" sz="1400" b="1" dirty="0">
                <a:solidFill>
                  <a:srgbClr val="1E2761"/>
                </a:solidFill>
                <a:latin typeface="Pretendard" pitchFamily="34" charset="0"/>
                <a:ea typeface="Pretendard" pitchFamily="34" charset="-122"/>
                <a:cs typeface="Pretendard" pitchFamily="34" charset="-120"/>
              </a:rPr>
              <a:t>검찰</a:t>
            </a:r>
            <a:endParaRPr lang="en-US" sz="1400" dirty="0"/>
          </a:p>
        </p:txBody>
      </p:sp>
      <p:sp>
        <p:nvSpPr>
          <p:cNvPr id="11" name="Shape 9"/>
          <p:cNvSpPr/>
          <p:nvPr/>
        </p:nvSpPr>
        <p:spPr>
          <a:xfrm>
            <a:off x="950976" y="2734056"/>
            <a:ext cx="2907792" cy="0"/>
          </a:xfrm>
          <a:prstGeom prst="line">
            <a:avLst/>
          </a:prstGeom>
          <a:noFill/>
          <a:ln w="12700">
            <a:solidFill>
              <a:srgbClr val="DCE0E8"/>
            </a:solidFill>
            <a:prstDash val="solid"/>
          </a:ln>
        </p:spPr>
        <p:txBody>
          <a:bodyPr/>
          <a:lstStyle/>
          <a:p>
            <a:endParaRPr lang="ko-KR" altLang="en-US"/>
          </a:p>
        </p:txBody>
      </p:sp>
      <p:sp>
        <p:nvSpPr>
          <p:cNvPr id="12" name="Text 10"/>
          <p:cNvSpPr/>
          <p:nvPr/>
        </p:nvSpPr>
        <p:spPr>
          <a:xfrm>
            <a:off x="950976" y="2825496"/>
            <a:ext cx="2907792" cy="420624"/>
          </a:xfrm>
          <a:prstGeom prst="rect">
            <a:avLst/>
          </a:prstGeom>
          <a:noFill/>
          <a:ln/>
        </p:spPr>
        <p:txBody>
          <a:bodyPr wrap="square" lIns="0" tIns="0" rIns="0" bIns="0" rtlCol="0" anchor="t"/>
          <a:lstStyle/>
          <a:p>
            <a:pPr marL="0" indent="0">
              <a:lnSpc>
                <a:spcPts val="1900"/>
              </a:lnSpc>
              <a:buNone/>
            </a:pPr>
            <a:r>
              <a:rPr lang="en-US" sz="1150" dirty="0">
                <a:solidFill>
                  <a:srgbClr val="222633"/>
                </a:solidFill>
                <a:latin typeface="Pretendard" pitchFamily="34" charset="0"/>
                <a:ea typeface="Pretendard" pitchFamily="34" charset="-122"/>
                <a:cs typeface="Pretendard" pitchFamily="34" charset="-120"/>
              </a:rPr>
              <a:t>(</a:t>
            </a:r>
            <a:r>
              <a:rPr lang="ko-KR" altLang="en-US" sz="1150" dirty="0">
                <a:solidFill>
                  <a:srgbClr val="222633"/>
                </a:solidFill>
                <a:latin typeface="Pretendard" pitchFamily="34" charset="0"/>
                <a:ea typeface="Pretendard" pitchFamily="34" charset="-122"/>
                <a:cs typeface="Pretendard" pitchFamily="34" charset="-120"/>
              </a:rPr>
              <a:t>연계모델 참여</a:t>
            </a:r>
            <a:r>
              <a:rPr lang="en-US" altLang="ko-KR" sz="1150" dirty="0">
                <a:solidFill>
                  <a:srgbClr val="222633"/>
                </a:solidFill>
                <a:latin typeface="Pretendard" pitchFamily="34" charset="0"/>
                <a:ea typeface="Pretendard" pitchFamily="34" charset="-122"/>
                <a:cs typeface="Pretendard" pitchFamily="34" charset="-120"/>
              </a:rPr>
              <a:t>) </a:t>
            </a:r>
            <a:r>
              <a:rPr lang="en-US" sz="1150" dirty="0" err="1">
                <a:solidFill>
                  <a:srgbClr val="222633"/>
                </a:solidFill>
                <a:latin typeface="Pretendard" pitchFamily="34" charset="0"/>
                <a:ea typeface="Pretendard" pitchFamily="34" charset="-122"/>
                <a:cs typeface="Pretendard" pitchFamily="34" charset="-120"/>
              </a:rPr>
              <a:t>조건부</a:t>
            </a:r>
            <a:r>
              <a:rPr lang="en-US" sz="1150" dirty="0">
                <a:solidFill>
                  <a:srgbClr val="222633"/>
                </a:solidFill>
                <a:latin typeface="Pretendard" pitchFamily="34" charset="0"/>
                <a:ea typeface="Pretendard" pitchFamily="34" charset="-122"/>
                <a:cs typeface="Pretendard" pitchFamily="34" charset="-120"/>
              </a:rPr>
              <a:t> 기소유예</a:t>
            </a:r>
            <a:endParaRPr lang="en-US" sz="1150" dirty="0"/>
          </a:p>
          <a:p>
            <a:pPr marL="0" indent="0">
              <a:lnSpc>
                <a:spcPts val="1900"/>
              </a:lnSpc>
              <a:buNone/>
            </a:pPr>
            <a:r>
              <a:rPr lang="en-US" sz="1150" dirty="0">
                <a:solidFill>
                  <a:srgbClr val="222633"/>
                </a:solidFill>
                <a:latin typeface="Pretendard" pitchFamily="34" charset="0"/>
                <a:ea typeface="Pretendard" pitchFamily="34" charset="-122"/>
                <a:cs typeface="Pretendard" pitchFamily="34" charset="-120"/>
              </a:rPr>
              <a:t>→ 사법·치료·재활 연계모델</a:t>
            </a:r>
            <a:endParaRPr lang="en-US" sz="1150" dirty="0"/>
          </a:p>
        </p:txBody>
      </p:sp>
      <p:sp>
        <p:nvSpPr>
          <p:cNvPr id="13" name="Text 11"/>
          <p:cNvSpPr/>
          <p:nvPr/>
        </p:nvSpPr>
        <p:spPr>
          <a:xfrm>
            <a:off x="731520" y="3255264"/>
            <a:ext cx="3346704" cy="256032"/>
          </a:xfrm>
          <a:prstGeom prst="rect">
            <a:avLst/>
          </a:prstGeom>
          <a:noFill/>
          <a:ln/>
        </p:spPr>
        <p:txBody>
          <a:bodyPr wrap="square" lIns="0" tIns="0" rIns="0" bIns="0" rtlCol="0" anchor="ctr"/>
          <a:lstStyle/>
          <a:p>
            <a:pPr marL="0" indent="0" algn="ctr">
              <a:buNone/>
            </a:pPr>
            <a:r>
              <a:rPr lang="en-US" sz="1300" dirty="0">
                <a:solidFill>
                  <a:srgbClr val="6E7686"/>
                </a:solidFill>
                <a:latin typeface="Pretendard" pitchFamily="34" charset="0"/>
                <a:ea typeface="Pretendard" pitchFamily="34" charset="-122"/>
                <a:cs typeface="Pretendard" pitchFamily="34" charset="-120"/>
              </a:rPr>
              <a:t>↓</a:t>
            </a:r>
            <a:endParaRPr lang="en-US" sz="1300" dirty="0"/>
          </a:p>
        </p:txBody>
      </p:sp>
      <p:sp>
        <p:nvSpPr>
          <p:cNvPr id="14" name="Shape 12"/>
          <p:cNvSpPr/>
          <p:nvPr/>
        </p:nvSpPr>
        <p:spPr>
          <a:xfrm>
            <a:off x="4407408" y="2258568"/>
            <a:ext cx="3346704" cy="1097280"/>
          </a:xfrm>
          <a:prstGeom prst="rect">
            <a:avLst/>
          </a:prstGeom>
          <a:solidFill>
            <a:srgbClr val="FFFFFF"/>
          </a:solidFill>
          <a:ln w="12700">
            <a:solidFill>
              <a:srgbClr val="DCE0E8"/>
            </a:solidFill>
            <a:prstDash val="solid"/>
          </a:ln>
        </p:spPr>
        <p:txBody>
          <a:bodyPr/>
          <a:lstStyle/>
          <a:p>
            <a:endParaRPr lang="ko-KR" altLang="en-US"/>
          </a:p>
        </p:txBody>
      </p:sp>
      <p:sp>
        <p:nvSpPr>
          <p:cNvPr id="15" name="Text 13"/>
          <p:cNvSpPr/>
          <p:nvPr/>
        </p:nvSpPr>
        <p:spPr>
          <a:xfrm>
            <a:off x="4626864" y="2386584"/>
            <a:ext cx="2907792" cy="292608"/>
          </a:xfrm>
          <a:prstGeom prst="rect">
            <a:avLst/>
          </a:prstGeom>
          <a:noFill/>
          <a:ln/>
        </p:spPr>
        <p:txBody>
          <a:bodyPr wrap="square" lIns="0" tIns="0" rIns="0" bIns="0" rtlCol="0" anchor="ctr"/>
          <a:lstStyle/>
          <a:p>
            <a:pPr marL="0" indent="0">
              <a:lnSpc>
                <a:spcPts val="1900"/>
              </a:lnSpc>
              <a:buNone/>
            </a:pPr>
            <a:r>
              <a:rPr lang="en-US" sz="1400" b="1" dirty="0">
                <a:solidFill>
                  <a:srgbClr val="1E2761"/>
                </a:solidFill>
                <a:latin typeface="Pretendard" pitchFamily="34" charset="0"/>
                <a:ea typeface="Pretendard" pitchFamily="34" charset="-122"/>
                <a:cs typeface="Pretendard" pitchFamily="34" charset="-120"/>
              </a:rPr>
              <a:t>소년부</a:t>
            </a:r>
            <a:endParaRPr lang="en-US" sz="1400" dirty="0"/>
          </a:p>
        </p:txBody>
      </p:sp>
      <p:sp>
        <p:nvSpPr>
          <p:cNvPr id="16" name="Shape 14"/>
          <p:cNvSpPr/>
          <p:nvPr/>
        </p:nvSpPr>
        <p:spPr>
          <a:xfrm>
            <a:off x="4626864" y="2734056"/>
            <a:ext cx="2907792" cy="0"/>
          </a:xfrm>
          <a:prstGeom prst="line">
            <a:avLst/>
          </a:prstGeom>
          <a:noFill/>
          <a:ln w="12700">
            <a:solidFill>
              <a:srgbClr val="DCE0E8"/>
            </a:solidFill>
            <a:prstDash val="solid"/>
          </a:ln>
        </p:spPr>
        <p:txBody>
          <a:bodyPr/>
          <a:lstStyle/>
          <a:p>
            <a:endParaRPr lang="ko-KR" altLang="en-US"/>
          </a:p>
        </p:txBody>
      </p:sp>
      <p:sp>
        <p:nvSpPr>
          <p:cNvPr id="17" name="Text 15"/>
          <p:cNvSpPr/>
          <p:nvPr/>
        </p:nvSpPr>
        <p:spPr>
          <a:xfrm>
            <a:off x="4626864" y="2825496"/>
            <a:ext cx="2907792" cy="420624"/>
          </a:xfrm>
          <a:prstGeom prst="rect">
            <a:avLst/>
          </a:prstGeom>
          <a:noFill/>
          <a:ln/>
        </p:spPr>
        <p:txBody>
          <a:bodyPr wrap="square" lIns="0" tIns="0" rIns="0" bIns="0" rtlCol="0" anchor="t"/>
          <a:lstStyle/>
          <a:p>
            <a:pPr marL="0" indent="0">
              <a:lnSpc>
                <a:spcPts val="1900"/>
              </a:lnSpc>
              <a:buNone/>
            </a:pPr>
            <a:r>
              <a:rPr lang="en-US" sz="1150" dirty="0">
                <a:solidFill>
                  <a:srgbClr val="222633"/>
                </a:solidFill>
                <a:latin typeface="Pretendard" pitchFamily="34" charset="0"/>
                <a:ea typeface="Pretendard" pitchFamily="34" charset="-122"/>
                <a:cs typeface="Pretendard" pitchFamily="34" charset="-120"/>
              </a:rPr>
              <a:t>보호관찰 · 수강명령</a:t>
            </a:r>
            <a:endParaRPr lang="en-US" sz="1150" dirty="0"/>
          </a:p>
          <a:p>
            <a:pPr marL="0" indent="0">
              <a:lnSpc>
                <a:spcPts val="1900"/>
              </a:lnSpc>
              <a:buNone/>
            </a:pPr>
            <a:r>
              <a:rPr lang="en-US" sz="1150" dirty="0">
                <a:solidFill>
                  <a:srgbClr val="222633"/>
                </a:solidFill>
                <a:latin typeface="Pretendard" pitchFamily="34" charset="0"/>
                <a:ea typeface="Pretendard" pitchFamily="34" charset="-122"/>
                <a:cs typeface="Pretendard" pitchFamily="34" charset="-120"/>
              </a:rPr>
              <a:t>제7호 의료위탁 등</a:t>
            </a:r>
            <a:endParaRPr lang="en-US" sz="1150" dirty="0"/>
          </a:p>
        </p:txBody>
      </p:sp>
      <p:sp>
        <p:nvSpPr>
          <p:cNvPr id="18" name="Text 16"/>
          <p:cNvSpPr/>
          <p:nvPr/>
        </p:nvSpPr>
        <p:spPr>
          <a:xfrm>
            <a:off x="4407408" y="3255264"/>
            <a:ext cx="3346704" cy="256032"/>
          </a:xfrm>
          <a:prstGeom prst="rect">
            <a:avLst/>
          </a:prstGeom>
          <a:noFill/>
          <a:ln/>
        </p:spPr>
        <p:txBody>
          <a:bodyPr wrap="square" lIns="0" tIns="0" rIns="0" bIns="0" rtlCol="0" anchor="ctr"/>
          <a:lstStyle/>
          <a:p>
            <a:pPr marL="0" indent="0" algn="ctr">
              <a:buNone/>
            </a:pPr>
            <a:r>
              <a:rPr lang="en-US" sz="1300" dirty="0">
                <a:solidFill>
                  <a:srgbClr val="6E7686"/>
                </a:solidFill>
                <a:latin typeface="Pretendard" pitchFamily="34" charset="0"/>
                <a:ea typeface="Pretendard" pitchFamily="34" charset="-122"/>
                <a:cs typeface="Pretendard" pitchFamily="34" charset="-120"/>
              </a:rPr>
              <a:t>↓</a:t>
            </a:r>
            <a:endParaRPr lang="en-US" sz="1300" dirty="0"/>
          </a:p>
        </p:txBody>
      </p:sp>
      <p:sp>
        <p:nvSpPr>
          <p:cNvPr id="19" name="Shape 17"/>
          <p:cNvSpPr/>
          <p:nvPr/>
        </p:nvSpPr>
        <p:spPr>
          <a:xfrm>
            <a:off x="8083296" y="2258568"/>
            <a:ext cx="3346704" cy="1097280"/>
          </a:xfrm>
          <a:prstGeom prst="rect">
            <a:avLst/>
          </a:prstGeom>
          <a:solidFill>
            <a:srgbClr val="FFFFFF"/>
          </a:solidFill>
          <a:ln w="12700">
            <a:solidFill>
              <a:srgbClr val="DCE0E8"/>
            </a:solidFill>
            <a:prstDash val="solid"/>
          </a:ln>
        </p:spPr>
        <p:txBody>
          <a:bodyPr/>
          <a:lstStyle/>
          <a:p>
            <a:endParaRPr lang="ko-KR" altLang="en-US"/>
          </a:p>
        </p:txBody>
      </p:sp>
      <p:sp>
        <p:nvSpPr>
          <p:cNvPr id="20" name="Text 18"/>
          <p:cNvSpPr/>
          <p:nvPr/>
        </p:nvSpPr>
        <p:spPr>
          <a:xfrm>
            <a:off x="8302752" y="2386584"/>
            <a:ext cx="2907792" cy="292608"/>
          </a:xfrm>
          <a:prstGeom prst="rect">
            <a:avLst/>
          </a:prstGeom>
          <a:noFill/>
          <a:ln/>
        </p:spPr>
        <p:txBody>
          <a:bodyPr wrap="square" lIns="0" tIns="0" rIns="0" bIns="0" rtlCol="0" anchor="ctr"/>
          <a:lstStyle/>
          <a:p>
            <a:pPr marL="0" indent="0">
              <a:lnSpc>
                <a:spcPts val="1900"/>
              </a:lnSpc>
              <a:buNone/>
            </a:pPr>
            <a:r>
              <a:rPr lang="en-US" sz="1400" b="1" dirty="0">
                <a:solidFill>
                  <a:srgbClr val="1E2761"/>
                </a:solidFill>
                <a:latin typeface="Pretendard" pitchFamily="34" charset="0"/>
                <a:ea typeface="Pretendard" pitchFamily="34" charset="-122"/>
                <a:cs typeface="Pretendard" pitchFamily="34" charset="-120"/>
              </a:rPr>
              <a:t>형사법원</a:t>
            </a:r>
            <a:endParaRPr lang="en-US" sz="1400" dirty="0"/>
          </a:p>
        </p:txBody>
      </p:sp>
      <p:sp>
        <p:nvSpPr>
          <p:cNvPr id="21" name="Shape 19"/>
          <p:cNvSpPr/>
          <p:nvPr/>
        </p:nvSpPr>
        <p:spPr>
          <a:xfrm>
            <a:off x="8302752" y="2734056"/>
            <a:ext cx="2907792" cy="0"/>
          </a:xfrm>
          <a:prstGeom prst="line">
            <a:avLst/>
          </a:prstGeom>
          <a:noFill/>
          <a:ln w="12700">
            <a:solidFill>
              <a:srgbClr val="DCE0E8"/>
            </a:solidFill>
            <a:prstDash val="solid"/>
          </a:ln>
        </p:spPr>
        <p:txBody>
          <a:bodyPr/>
          <a:lstStyle/>
          <a:p>
            <a:endParaRPr lang="ko-KR" altLang="en-US"/>
          </a:p>
        </p:txBody>
      </p:sp>
      <p:sp>
        <p:nvSpPr>
          <p:cNvPr id="22" name="Text 20"/>
          <p:cNvSpPr/>
          <p:nvPr/>
        </p:nvSpPr>
        <p:spPr>
          <a:xfrm>
            <a:off x="8302752" y="2825496"/>
            <a:ext cx="3063240" cy="420624"/>
          </a:xfrm>
          <a:prstGeom prst="rect">
            <a:avLst/>
          </a:prstGeom>
          <a:noFill/>
          <a:ln/>
        </p:spPr>
        <p:txBody>
          <a:bodyPr wrap="square" lIns="0" tIns="0" rIns="0" bIns="0" rtlCol="0" anchor="t"/>
          <a:lstStyle/>
          <a:p>
            <a:pPr marL="0" indent="0">
              <a:lnSpc>
                <a:spcPts val="1900"/>
              </a:lnSpc>
              <a:buNone/>
            </a:pPr>
            <a:r>
              <a:rPr lang="en-US" sz="1150" dirty="0">
                <a:solidFill>
                  <a:srgbClr val="222633"/>
                </a:solidFill>
                <a:latin typeface="Pretendard" pitchFamily="34" charset="0"/>
                <a:ea typeface="Pretendard" pitchFamily="34" charset="-122"/>
                <a:cs typeface="Pretendard" pitchFamily="34" charset="-120"/>
              </a:rPr>
              <a:t>형 선고</a:t>
            </a:r>
            <a:endParaRPr lang="en-US" sz="1150" dirty="0"/>
          </a:p>
          <a:p>
            <a:pPr marL="0" indent="0">
              <a:lnSpc>
                <a:spcPts val="1900"/>
              </a:lnSpc>
              <a:buNone/>
            </a:pPr>
            <a:r>
              <a:rPr lang="ko-KR" altLang="en-US" sz="1150" dirty="0">
                <a:solidFill>
                  <a:srgbClr val="222633"/>
                </a:solidFill>
                <a:latin typeface="Pretendard" pitchFamily="34" charset="0"/>
                <a:ea typeface="Pretendard" pitchFamily="34" charset="-122"/>
                <a:cs typeface="Pretendard" pitchFamily="34" charset="-120"/>
              </a:rPr>
              <a:t>재범예방교육 </a:t>
            </a:r>
            <a:r>
              <a:rPr lang="en-US" sz="1150" dirty="0" err="1">
                <a:solidFill>
                  <a:srgbClr val="222633"/>
                </a:solidFill>
                <a:latin typeface="Pretendard" pitchFamily="34" charset="0"/>
                <a:ea typeface="Pretendard" pitchFamily="34" charset="-122"/>
                <a:cs typeface="Pretendard" pitchFamily="34" charset="-120"/>
              </a:rPr>
              <a:t>수강명령</a:t>
            </a:r>
            <a:r>
              <a:rPr lang="en-US" sz="1150" dirty="0">
                <a:solidFill>
                  <a:srgbClr val="222633"/>
                </a:solidFill>
                <a:latin typeface="Pretendard" pitchFamily="34" charset="0"/>
                <a:ea typeface="Pretendard" pitchFamily="34" charset="-122"/>
                <a:cs typeface="Pretendard" pitchFamily="34" charset="-120"/>
              </a:rPr>
              <a:t> · </a:t>
            </a:r>
            <a:r>
              <a:rPr lang="en-US" sz="1150" dirty="0" err="1">
                <a:solidFill>
                  <a:srgbClr val="222633"/>
                </a:solidFill>
                <a:latin typeface="Pretendard" pitchFamily="34" charset="0"/>
                <a:ea typeface="Pretendard" pitchFamily="34" charset="-122"/>
                <a:cs typeface="Pretendard" pitchFamily="34" charset="-120"/>
              </a:rPr>
              <a:t>재활교육</a:t>
            </a:r>
            <a:r>
              <a:rPr lang="en-US" sz="1150" dirty="0">
                <a:solidFill>
                  <a:srgbClr val="222633"/>
                </a:solidFill>
                <a:latin typeface="Pretendard" pitchFamily="34" charset="0"/>
                <a:ea typeface="Pretendard" pitchFamily="34" charset="-122"/>
                <a:cs typeface="Pretendard" pitchFamily="34" charset="-120"/>
              </a:rPr>
              <a:t> </a:t>
            </a:r>
            <a:r>
              <a:rPr lang="ko-KR" altLang="en-US" sz="1150" dirty="0">
                <a:solidFill>
                  <a:srgbClr val="222633"/>
                </a:solidFill>
                <a:latin typeface="Pretendard" pitchFamily="34" charset="0"/>
                <a:ea typeface="Pretendard" pitchFamily="34" charset="-122"/>
                <a:cs typeface="Pretendard" pitchFamily="34" charset="-120"/>
              </a:rPr>
              <a:t>프로그램 </a:t>
            </a:r>
            <a:r>
              <a:rPr lang="en-US" sz="1150" dirty="0" err="1">
                <a:solidFill>
                  <a:srgbClr val="222633"/>
                </a:solidFill>
                <a:latin typeface="Pretendard" pitchFamily="34" charset="0"/>
                <a:ea typeface="Pretendard" pitchFamily="34" charset="-122"/>
                <a:cs typeface="Pretendard" pitchFamily="34" charset="-120"/>
              </a:rPr>
              <a:t>이수명령</a:t>
            </a:r>
            <a:endParaRPr lang="en-US" sz="1150" dirty="0"/>
          </a:p>
        </p:txBody>
      </p:sp>
      <p:sp>
        <p:nvSpPr>
          <p:cNvPr id="23" name="Text 21"/>
          <p:cNvSpPr/>
          <p:nvPr/>
        </p:nvSpPr>
        <p:spPr>
          <a:xfrm>
            <a:off x="8083296" y="3255264"/>
            <a:ext cx="3346704" cy="256032"/>
          </a:xfrm>
          <a:prstGeom prst="rect">
            <a:avLst/>
          </a:prstGeom>
          <a:noFill/>
          <a:ln/>
        </p:spPr>
        <p:txBody>
          <a:bodyPr wrap="square" lIns="0" tIns="0" rIns="0" bIns="0" rtlCol="0" anchor="ctr"/>
          <a:lstStyle/>
          <a:p>
            <a:pPr marL="0" indent="0" algn="ctr">
              <a:buNone/>
            </a:pPr>
            <a:r>
              <a:rPr lang="en-US" sz="1300" dirty="0">
                <a:solidFill>
                  <a:srgbClr val="6E7686"/>
                </a:solidFill>
                <a:latin typeface="Pretendard" pitchFamily="34" charset="0"/>
                <a:ea typeface="Pretendard" pitchFamily="34" charset="-122"/>
                <a:cs typeface="Pretendard" pitchFamily="34" charset="-120"/>
              </a:rPr>
              <a:t>↓</a:t>
            </a:r>
            <a:endParaRPr lang="en-US" sz="1300" dirty="0"/>
          </a:p>
        </p:txBody>
      </p:sp>
      <p:sp>
        <p:nvSpPr>
          <p:cNvPr id="24" name="Text 22"/>
          <p:cNvSpPr/>
          <p:nvPr/>
        </p:nvSpPr>
        <p:spPr>
          <a:xfrm>
            <a:off x="731520" y="3502152"/>
            <a:ext cx="10698480" cy="237744"/>
          </a:xfrm>
          <a:prstGeom prst="rect">
            <a:avLst/>
          </a:prstGeom>
          <a:noFill/>
          <a:ln/>
        </p:spPr>
        <p:txBody>
          <a:bodyPr wrap="square" lIns="0" tIns="0" rIns="0" bIns="0" rtlCol="0" anchor="ctr"/>
          <a:lstStyle/>
          <a:p>
            <a:pPr marL="0" indent="0">
              <a:buNone/>
            </a:pPr>
            <a:r>
              <a:rPr lang="en-US" sz="1200" b="1" dirty="0">
                <a:solidFill>
                  <a:srgbClr val="A8871C"/>
                </a:solidFill>
                <a:latin typeface="Pretendard" pitchFamily="34" charset="0"/>
                <a:ea typeface="Pretendard" pitchFamily="34" charset="-122"/>
                <a:cs typeface="Pretendard" pitchFamily="34" charset="-120"/>
              </a:rPr>
              <a:t>실제 치료 · 재활 — </a:t>
            </a:r>
            <a:r>
              <a:rPr lang="en-US" sz="1200" b="1" dirty="0" err="1">
                <a:solidFill>
                  <a:srgbClr val="A8871C"/>
                </a:solidFill>
                <a:latin typeface="Pretendard" pitchFamily="34" charset="0"/>
                <a:ea typeface="Pretendard" pitchFamily="34" charset="-122"/>
                <a:cs typeface="Pretendard" pitchFamily="34" charset="-120"/>
              </a:rPr>
              <a:t>서비스를</a:t>
            </a:r>
            <a:r>
              <a:rPr lang="en-US" sz="1200" b="1" dirty="0">
                <a:solidFill>
                  <a:srgbClr val="A8871C"/>
                </a:solidFill>
                <a:latin typeface="Pretendard" pitchFamily="34" charset="0"/>
                <a:ea typeface="Pretendard" pitchFamily="34" charset="-122"/>
                <a:cs typeface="Pretendard" pitchFamily="34" charset="-120"/>
              </a:rPr>
              <a:t> </a:t>
            </a:r>
            <a:r>
              <a:rPr lang="en-US" sz="1200" b="1" dirty="0" err="1">
                <a:solidFill>
                  <a:srgbClr val="A8871C"/>
                </a:solidFill>
                <a:latin typeface="Pretendard" pitchFamily="34" charset="0"/>
                <a:ea typeface="Pretendard" pitchFamily="34" charset="-122"/>
                <a:cs typeface="Pretendard" pitchFamily="34" charset="-120"/>
              </a:rPr>
              <a:t>제공</a:t>
            </a:r>
            <a:endParaRPr lang="en-US" sz="1100" dirty="0"/>
          </a:p>
        </p:txBody>
      </p:sp>
      <p:sp>
        <p:nvSpPr>
          <p:cNvPr id="25" name="Shape 23"/>
          <p:cNvSpPr/>
          <p:nvPr/>
        </p:nvSpPr>
        <p:spPr>
          <a:xfrm>
            <a:off x="731520" y="3822192"/>
            <a:ext cx="5166360" cy="1078992"/>
          </a:xfrm>
          <a:prstGeom prst="rect">
            <a:avLst/>
          </a:prstGeom>
          <a:solidFill>
            <a:srgbClr val="F2F4F8"/>
          </a:solidFill>
          <a:ln w="12700">
            <a:solidFill>
              <a:srgbClr val="F2F4F8"/>
            </a:solidFill>
            <a:prstDash val="solid"/>
          </a:ln>
        </p:spPr>
        <p:txBody>
          <a:bodyPr/>
          <a:lstStyle/>
          <a:p>
            <a:endParaRPr lang="ko-KR" altLang="en-US"/>
          </a:p>
        </p:txBody>
      </p:sp>
      <p:sp>
        <p:nvSpPr>
          <p:cNvPr id="26" name="Text 24"/>
          <p:cNvSpPr/>
          <p:nvPr/>
        </p:nvSpPr>
        <p:spPr>
          <a:xfrm>
            <a:off x="950976" y="3950208"/>
            <a:ext cx="4727448" cy="292608"/>
          </a:xfrm>
          <a:prstGeom prst="rect">
            <a:avLst/>
          </a:prstGeom>
          <a:noFill/>
          <a:ln/>
        </p:spPr>
        <p:txBody>
          <a:bodyPr wrap="square" lIns="0" tIns="0" rIns="0" bIns="0" rtlCol="0" anchor="ctr"/>
          <a:lstStyle/>
          <a:p>
            <a:pPr marL="0" indent="0">
              <a:lnSpc>
                <a:spcPts val="1900"/>
              </a:lnSpc>
              <a:buNone/>
            </a:pPr>
            <a:r>
              <a:rPr lang="ko-KR" altLang="en-US" sz="1400" b="1" dirty="0">
                <a:solidFill>
                  <a:srgbClr val="1E2761"/>
                </a:solidFill>
                <a:latin typeface="Pretendard" pitchFamily="34" charset="0"/>
                <a:ea typeface="Pretendard" pitchFamily="34" charset="-122"/>
                <a:cs typeface="Pretendard" pitchFamily="34" charset="-120"/>
              </a:rPr>
              <a:t>치료보호 </a:t>
            </a:r>
            <a:r>
              <a:rPr lang="ko-KR" altLang="en-US" sz="1400" b="1" dirty="0" err="1">
                <a:solidFill>
                  <a:schemeClr val="tx1">
                    <a:lumMod val="65000"/>
                    <a:lumOff val="35000"/>
                  </a:schemeClr>
                </a:solidFill>
                <a:latin typeface="Pretendard" pitchFamily="34" charset="0"/>
                <a:ea typeface="Pretendard" pitchFamily="34" charset="-122"/>
                <a:cs typeface="Pretendard" pitchFamily="34" charset="-120"/>
              </a:rPr>
              <a:t>ㅡ</a:t>
            </a:r>
            <a:r>
              <a:rPr lang="ko-KR" altLang="en-US" sz="1400" b="1" dirty="0">
                <a:solidFill>
                  <a:schemeClr val="tx1">
                    <a:lumMod val="65000"/>
                    <a:lumOff val="35000"/>
                  </a:schemeClr>
                </a:solidFill>
                <a:latin typeface="Pretendard" pitchFamily="34" charset="0"/>
                <a:ea typeface="Pretendard" pitchFamily="34" charset="-122"/>
                <a:cs typeface="Pretendard" pitchFamily="34" charset="-120"/>
              </a:rPr>
              <a:t> 치료재활기관</a:t>
            </a:r>
            <a:endParaRPr lang="en-US" sz="1400" dirty="0">
              <a:solidFill>
                <a:schemeClr val="tx1">
                  <a:lumMod val="65000"/>
                  <a:lumOff val="35000"/>
                </a:schemeClr>
              </a:solidFill>
            </a:endParaRPr>
          </a:p>
        </p:txBody>
      </p:sp>
      <p:sp>
        <p:nvSpPr>
          <p:cNvPr id="27" name="Shape 25"/>
          <p:cNvSpPr/>
          <p:nvPr/>
        </p:nvSpPr>
        <p:spPr>
          <a:xfrm>
            <a:off x="950976" y="4297680"/>
            <a:ext cx="4727448" cy="0"/>
          </a:xfrm>
          <a:prstGeom prst="line">
            <a:avLst/>
          </a:prstGeom>
          <a:noFill/>
          <a:ln w="12700">
            <a:solidFill>
              <a:srgbClr val="DCE0E8"/>
            </a:solidFill>
            <a:prstDash val="solid"/>
          </a:ln>
        </p:spPr>
        <p:txBody>
          <a:bodyPr/>
          <a:lstStyle/>
          <a:p>
            <a:endParaRPr lang="ko-KR" altLang="en-US"/>
          </a:p>
        </p:txBody>
      </p:sp>
      <p:sp>
        <p:nvSpPr>
          <p:cNvPr id="28" name="Text 26"/>
          <p:cNvSpPr/>
          <p:nvPr/>
        </p:nvSpPr>
        <p:spPr>
          <a:xfrm>
            <a:off x="950976" y="4389120"/>
            <a:ext cx="4727448" cy="402336"/>
          </a:xfrm>
          <a:prstGeom prst="rect">
            <a:avLst/>
          </a:prstGeom>
          <a:noFill/>
          <a:ln/>
        </p:spPr>
        <p:txBody>
          <a:bodyPr wrap="square" lIns="0" tIns="0" rIns="0" bIns="0" rtlCol="0" anchor="t"/>
          <a:lstStyle/>
          <a:p>
            <a:pPr marL="0" indent="0">
              <a:lnSpc>
                <a:spcPts val="1900"/>
              </a:lnSpc>
              <a:buNone/>
            </a:pPr>
            <a:r>
              <a:rPr lang="en-US" sz="1150" dirty="0">
                <a:solidFill>
                  <a:srgbClr val="222633"/>
                </a:solidFill>
                <a:latin typeface="Pretendard" pitchFamily="34" charset="0"/>
                <a:ea typeface="Pretendard" pitchFamily="34" charset="-122"/>
                <a:cs typeface="Pretendard" pitchFamily="34" charset="-120"/>
              </a:rPr>
              <a:t>중독 판별검사</a:t>
            </a:r>
            <a:endParaRPr lang="en-US" sz="1150" dirty="0"/>
          </a:p>
          <a:p>
            <a:pPr marL="0" indent="0">
              <a:lnSpc>
                <a:spcPts val="1900"/>
              </a:lnSpc>
              <a:buNone/>
            </a:pPr>
            <a:r>
              <a:rPr lang="en-US" sz="1150" dirty="0">
                <a:solidFill>
                  <a:srgbClr val="222633"/>
                </a:solidFill>
                <a:latin typeface="Pretendard" pitchFamily="34" charset="0"/>
                <a:ea typeface="Pretendard" pitchFamily="34" charset="-122"/>
                <a:cs typeface="Pretendard" pitchFamily="34" charset="-120"/>
              </a:rPr>
              <a:t>입원 · 통원 등 의료적 치료</a:t>
            </a:r>
            <a:endParaRPr lang="en-US" sz="1150" dirty="0"/>
          </a:p>
        </p:txBody>
      </p:sp>
      <p:sp>
        <p:nvSpPr>
          <p:cNvPr id="29" name="Shape 27"/>
          <p:cNvSpPr/>
          <p:nvPr/>
        </p:nvSpPr>
        <p:spPr>
          <a:xfrm>
            <a:off x="6263640" y="3822192"/>
            <a:ext cx="5166360" cy="1078992"/>
          </a:xfrm>
          <a:prstGeom prst="rect">
            <a:avLst/>
          </a:prstGeom>
          <a:solidFill>
            <a:srgbClr val="F2F4F8"/>
          </a:solidFill>
          <a:ln w="12700">
            <a:solidFill>
              <a:srgbClr val="F2F4F8"/>
            </a:solidFill>
            <a:prstDash val="solid"/>
          </a:ln>
        </p:spPr>
        <p:txBody>
          <a:bodyPr/>
          <a:lstStyle/>
          <a:p>
            <a:endParaRPr lang="ko-KR" altLang="en-US"/>
          </a:p>
        </p:txBody>
      </p:sp>
      <p:sp>
        <p:nvSpPr>
          <p:cNvPr id="30" name="Text 28"/>
          <p:cNvSpPr/>
          <p:nvPr/>
        </p:nvSpPr>
        <p:spPr>
          <a:xfrm>
            <a:off x="6483096" y="3950208"/>
            <a:ext cx="4727448" cy="292608"/>
          </a:xfrm>
          <a:prstGeom prst="rect">
            <a:avLst/>
          </a:prstGeom>
          <a:noFill/>
          <a:ln/>
        </p:spPr>
        <p:txBody>
          <a:bodyPr wrap="square" lIns="0" tIns="0" rIns="0" bIns="0" rtlCol="0" anchor="ctr"/>
          <a:lstStyle/>
          <a:p>
            <a:pPr marL="0" indent="0">
              <a:lnSpc>
                <a:spcPts val="1900"/>
              </a:lnSpc>
              <a:buNone/>
            </a:pPr>
            <a:r>
              <a:rPr lang="ko-KR" altLang="en-US" sz="1400" b="1" dirty="0">
                <a:solidFill>
                  <a:srgbClr val="1E2761"/>
                </a:solidFill>
                <a:latin typeface="Pretendard" pitchFamily="34" charset="0"/>
                <a:ea typeface="Pretendard" pitchFamily="34" charset="-122"/>
                <a:cs typeface="Pretendard" pitchFamily="34" charset="-120"/>
              </a:rPr>
              <a:t>지역사회 재활 </a:t>
            </a:r>
            <a:r>
              <a:rPr lang="ko-KR" altLang="en-US" sz="1400" b="1" dirty="0" err="1">
                <a:solidFill>
                  <a:schemeClr val="tx1">
                    <a:lumMod val="65000"/>
                    <a:lumOff val="35000"/>
                  </a:schemeClr>
                </a:solidFill>
                <a:latin typeface="Pretendard" pitchFamily="34" charset="0"/>
                <a:ea typeface="Pretendard" pitchFamily="34" charset="-122"/>
                <a:cs typeface="Pretendard" pitchFamily="34" charset="-120"/>
              </a:rPr>
              <a:t>ㅡ</a:t>
            </a:r>
            <a:r>
              <a:rPr lang="ko-KR" altLang="en-US" sz="1400" b="1" dirty="0">
                <a:solidFill>
                  <a:schemeClr val="tx1">
                    <a:lumMod val="65000"/>
                    <a:lumOff val="35000"/>
                  </a:schemeClr>
                </a:solidFill>
                <a:latin typeface="Pretendard" pitchFamily="34" charset="0"/>
                <a:ea typeface="Pretendard" pitchFamily="34" charset="-122"/>
                <a:cs typeface="Pretendard" pitchFamily="34" charset="-120"/>
              </a:rPr>
              <a:t> </a:t>
            </a:r>
            <a:r>
              <a:rPr lang="ko-KR" altLang="en-US" sz="1400" b="1" dirty="0" err="1">
                <a:solidFill>
                  <a:schemeClr val="tx1">
                    <a:lumMod val="65000"/>
                    <a:lumOff val="35000"/>
                  </a:schemeClr>
                </a:solidFill>
                <a:latin typeface="Pretendard" pitchFamily="34" charset="0"/>
                <a:ea typeface="Pretendard" pitchFamily="34" charset="-122"/>
                <a:cs typeface="Pretendard" pitchFamily="34" charset="-120"/>
              </a:rPr>
              <a:t>함께한걸음센터</a:t>
            </a:r>
            <a:endParaRPr lang="en-US" sz="1400" dirty="0">
              <a:solidFill>
                <a:schemeClr val="tx1">
                  <a:lumMod val="65000"/>
                  <a:lumOff val="35000"/>
                </a:schemeClr>
              </a:solidFill>
            </a:endParaRPr>
          </a:p>
        </p:txBody>
      </p:sp>
      <p:sp>
        <p:nvSpPr>
          <p:cNvPr id="31" name="Shape 29"/>
          <p:cNvSpPr/>
          <p:nvPr/>
        </p:nvSpPr>
        <p:spPr>
          <a:xfrm>
            <a:off x="6483096" y="4297680"/>
            <a:ext cx="4727448" cy="0"/>
          </a:xfrm>
          <a:prstGeom prst="line">
            <a:avLst/>
          </a:prstGeom>
          <a:noFill/>
          <a:ln w="12700">
            <a:solidFill>
              <a:srgbClr val="DCE0E8"/>
            </a:solidFill>
            <a:prstDash val="solid"/>
          </a:ln>
        </p:spPr>
        <p:txBody>
          <a:bodyPr/>
          <a:lstStyle/>
          <a:p>
            <a:endParaRPr lang="ko-KR" altLang="en-US"/>
          </a:p>
        </p:txBody>
      </p:sp>
      <p:sp>
        <p:nvSpPr>
          <p:cNvPr id="32" name="Text 30"/>
          <p:cNvSpPr/>
          <p:nvPr/>
        </p:nvSpPr>
        <p:spPr>
          <a:xfrm>
            <a:off x="6483096" y="4389120"/>
            <a:ext cx="4727448" cy="402336"/>
          </a:xfrm>
          <a:prstGeom prst="rect">
            <a:avLst/>
          </a:prstGeom>
          <a:noFill/>
          <a:ln/>
        </p:spPr>
        <p:txBody>
          <a:bodyPr wrap="square" lIns="0" tIns="0" rIns="0" bIns="0" rtlCol="0" anchor="t"/>
          <a:lstStyle/>
          <a:p>
            <a:pPr marL="0" indent="0">
              <a:lnSpc>
                <a:spcPts val="1900"/>
              </a:lnSpc>
              <a:buNone/>
            </a:pPr>
            <a:r>
              <a:rPr lang="en-US" sz="1150" dirty="0">
                <a:solidFill>
                  <a:srgbClr val="222633"/>
                </a:solidFill>
                <a:latin typeface="Pretendard" pitchFamily="34" charset="0"/>
                <a:ea typeface="Pretendard" pitchFamily="34" charset="-122"/>
                <a:cs typeface="Pretendard" pitchFamily="34" charset="-120"/>
              </a:rPr>
              <a:t>상담 · 사회재활</a:t>
            </a:r>
            <a:endParaRPr lang="en-US" sz="1150" dirty="0"/>
          </a:p>
          <a:p>
            <a:pPr marL="0" indent="0">
              <a:lnSpc>
                <a:spcPts val="1900"/>
              </a:lnSpc>
              <a:buNone/>
            </a:pPr>
            <a:r>
              <a:rPr lang="en-US" sz="1150" dirty="0">
                <a:solidFill>
                  <a:srgbClr val="222633"/>
                </a:solidFill>
                <a:latin typeface="Pretendard" pitchFamily="34" charset="0"/>
                <a:ea typeface="Pretendard" pitchFamily="34" charset="-122"/>
                <a:cs typeface="Pretendard" pitchFamily="34" charset="-120"/>
              </a:rPr>
              <a:t>회복지원 · 사후연계</a:t>
            </a:r>
            <a:endParaRPr lang="en-US" sz="1150" dirty="0"/>
          </a:p>
        </p:txBody>
      </p:sp>
      <p:sp>
        <p:nvSpPr>
          <p:cNvPr id="33" name="Shape 31"/>
          <p:cNvSpPr/>
          <p:nvPr/>
        </p:nvSpPr>
        <p:spPr>
          <a:xfrm>
            <a:off x="731520" y="4992624"/>
            <a:ext cx="10698480" cy="640080"/>
          </a:xfrm>
          <a:prstGeom prst="rect">
            <a:avLst/>
          </a:prstGeom>
          <a:solidFill>
            <a:srgbClr val="FFFFFF"/>
          </a:solidFill>
          <a:ln w="12700">
            <a:solidFill>
              <a:srgbClr val="DCE0E8"/>
            </a:solidFill>
            <a:prstDash val="solid"/>
          </a:ln>
        </p:spPr>
        <p:txBody>
          <a:bodyPr/>
          <a:lstStyle/>
          <a:p>
            <a:endParaRPr lang="ko-KR" altLang="en-US"/>
          </a:p>
        </p:txBody>
      </p:sp>
      <p:sp>
        <p:nvSpPr>
          <p:cNvPr id="34" name="Text 32"/>
          <p:cNvSpPr/>
          <p:nvPr/>
        </p:nvSpPr>
        <p:spPr>
          <a:xfrm>
            <a:off x="950976" y="4992624"/>
            <a:ext cx="10479024" cy="640080"/>
          </a:xfrm>
          <a:prstGeom prst="rect">
            <a:avLst/>
          </a:prstGeom>
          <a:noFill/>
          <a:ln/>
        </p:spPr>
        <p:txBody>
          <a:bodyPr wrap="square" lIns="0" tIns="0" rIns="0" bIns="0" rtlCol="0" anchor="ctr"/>
          <a:lstStyle/>
          <a:p>
            <a:pPr marL="0" indent="0">
              <a:lnSpc>
                <a:spcPts val="1900"/>
              </a:lnSpc>
              <a:buNone/>
            </a:pPr>
            <a:r>
              <a:rPr lang="en-US" sz="1250" b="1" dirty="0" err="1">
                <a:solidFill>
                  <a:srgbClr val="1E2761"/>
                </a:solidFill>
                <a:latin typeface="Pretendard" pitchFamily="34" charset="0"/>
                <a:ea typeface="Pretendard" pitchFamily="34" charset="-122"/>
                <a:cs typeface="Pretendard" pitchFamily="34" charset="-120"/>
              </a:rPr>
              <a:t>위법하게</a:t>
            </a:r>
            <a:r>
              <a:rPr lang="en-US" sz="1250" b="1" dirty="0">
                <a:solidFill>
                  <a:srgbClr val="1E2761"/>
                </a:solidFill>
                <a:latin typeface="Pretendard" pitchFamily="34" charset="0"/>
                <a:ea typeface="Pretendard" pitchFamily="34" charset="-122"/>
                <a:cs typeface="Pretendard" pitchFamily="34" charset="-120"/>
              </a:rPr>
              <a:t> 마약류를 사용한 청소년에게 형사제재와 치료·재활의 우선순위 · 시점 · 결합방식을 어떻게 </a:t>
            </a:r>
            <a:r>
              <a:rPr lang="en-US" sz="1250" b="1" dirty="0" err="1">
                <a:solidFill>
                  <a:srgbClr val="1E2761"/>
                </a:solidFill>
                <a:latin typeface="Pretendard" pitchFamily="34" charset="0"/>
                <a:ea typeface="Pretendard" pitchFamily="34" charset="-122"/>
                <a:cs typeface="Pretendard" pitchFamily="34" charset="-120"/>
              </a:rPr>
              <a:t>정할</a:t>
            </a:r>
            <a:r>
              <a:rPr lang="en-US" sz="1250" b="1" dirty="0">
                <a:solidFill>
                  <a:srgbClr val="1E2761"/>
                </a:solidFill>
                <a:latin typeface="Pretendard" pitchFamily="34" charset="0"/>
                <a:ea typeface="Pretendard" pitchFamily="34" charset="-122"/>
                <a:cs typeface="Pretendard" pitchFamily="34" charset="-120"/>
              </a:rPr>
              <a:t> </a:t>
            </a:r>
            <a:r>
              <a:rPr lang="en-US" sz="1250" b="1" dirty="0" err="1">
                <a:solidFill>
                  <a:srgbClr val="1E2761"/>
                </a:solidFill>
                <a:latin typeface="Pretendard" pitchFamily="34" charset="0"/>
                <a:ea typeface="Pretendard" pitchFamily="34" charset="-122"/>
                <a:cs typeface="Pretendard" pitchFamily="34" charset="-120"/>
              </a:rPr>
              <a:t>것인가</a:t>
            </a:r>
            <a:endParaRPr lang="en-US" sz="1250" dirty="0"/>
          </a:p>
        </p:txBody>
      </p:sp>
      <p:sp>
        <p:nvSpPr>
          <p:cNvPr id="35" name="Shape 33"/>
          <p:cNvSpPr/>
          <p:nvPr/>
        </p:nvSpPr>
        <p:spPr>
          <a:xfrm>
            <a:off x="731520" y="5705856"/>
            <a:ext cx="10698480" cy="457200"/>
          </a:xfrm>
          <a:prstGeom prst="rect">
            <a:avLst/>
          </a:prstGeom>
          <a:solidFill>
            <a:srgbClr val="1E2761"/>
          </a:solidFill>
          <a:ln w="12700">
            <a:solidFill>
              <a:srgbClr val="1E2761"/>
            </a:solidFill>
            <a:prstDash val="solid"/>
          </a:ln>
        </p:spPr>
        <p:txBody>
          <a:bodyPr/>
          <a:lstStyle/>
          <a:p>
            <a:endParaRPr lang="ko-KR" altLang="en-US"/>
          </a:p>
        </p:txBody>
      </p:sp>
      <p:sp>
        <p:nvSpPr>
          <p:cNvPr id="36" name="Text 34"/>
          <p:cNvSpPr/>
          <p:nvPr/>
        </p:nvSpPr>
        <p:spPr>
          <a:xfrm>
            <a:off x="1005840" y="5705856"/>
            <a:ext cx="10149840" cy="457200"/>
          </a:xfrm>
          <a:prstGeom prst="rect">
            <a:avLst/>
          </a:prstGeom>
          <a:noFill/>
          <a:ln/>
        </p:spPr>
        <p:txBody>
          <a:bodyPr wrap="square" lIns="0" tIns="0" rIns="0" bIns="0" rtlCol="0" anchor="ctr"/>
          <a:lstStyle/>
          <a:p>
            <a:pPr marL="0" indent="0" algn="ctr">
              <a:buNone/>
            </a:pPr>
            <a:r>
              <a:rPr lang="ko-KR" altLang="en-US" sz="1350" b="1" dirty="0">
                <a:solidFill>
                  <a:srgbClr val="FFFFFF"/>
                </a:solidFill>
                <a:latin typeface="Pretendard" pitchFamily="34" charset="0"/>
                <a:ea typeface="Pretendard" pitchFamily="34" charset="-122"/>
                <a:cs typeface="Pretendard" pitchFamily="34" charset="-120"/>
              </a:rPr>
              <a:t>현행 제도는 형사처벌과 치료</a:t>
            </a:r>
            <a:r>
              <a:rPr lang="en-US" altLang="ko-KR" sz="1350" b="1" dirty="0">
                <a:solidFill>
                  <a:srgbClr val="FFFFFF"/>
                </a:solidFill>
                <a:latin typeface="Pretendard" pitchFamily="34" charset="0"/>
                <a:ea typeface="Pretendard" pitchFamily="34" charset="-122"/>
                <a:cs typeface="Pretendard" pitchFamily="34" charset="-120"/>
              </a:rPr>
              <a:t>·</a:t>
            </a:r>
            <a:r>
              <a:rPr lang="ko-KR" altLang="en-US" sz="1350" b="1" dirty="0">
                <a:solidFill>
                  <a:srgbClr val="FFFFFF"/>
                </a:solidFill>
                <a:latin typeface="Pretendard" pitchFamily="34" charset="0"/>
                <a:ea typeface="Pretendard" pitchFamily="34" charset="-122"/>
                <a:cs typeface="Pretendard" pitchFamily="34" charset="-120"/>
              </a:rPr>
              <a:t>재활을 완전히 분리하지 않고</a:t>
            </a:r>
            <a:r>
              <a:rPr lang="en-US" altLang="ko-KR" sz="1350" b="1" dirty="0">
                <a:solidFill>
                  <a:srgbClr val="FFFFFF"/>
                </a:solidFill>
                <a:latin typeface="Pretendard" pitchFamily="34" charset="0"/>
                <a:ea typeface="Pretendard" pitchFamily="34" charset="-122"/>
                <a:cs typeface="Pretendard" pitchFamily="34" charset="-120"/>
              </a:rPr>
              <a:t>, </a:t>
            </a:r>
            <a:r>
              <a:rPr lang="ko-KR" altLang="en-US" sz="1350" b="1" dirty="0">
                <a:solidFill>
                  <a:srgbClr val="FFFFFF"/>
                </a:solidFill>
                <a:latin typeface="Pretendard" pitchFamily="34" charset="0"/>
                <a:ea typeface="Pretendard" pitchFamily="34" charset="-122"/>
                <a:cs typeface="Pretendard" pitchFamily="34" charset="-120"/>
              </a:rPr>
              <a:t>사법절차 안팎에서 치료</a:t>
            </a:r>
            <a:r>
              <a:rPr lang="en-US" altLang="ko-KR" sz="1350" b="1" dirty="0">
                <a:solidFill>
                  <a:srgbClr val="FFFFFF"/>
                </a:solidFill>
                <a:latin typeface="Pretendard" pitchFamily="34" charset="0"/>
                <a:ea typeface="Pretendard" pitchFamily="34" charset="-122"/>
                <a:cs typeface="Pretendard" pitchFamily="34" charset="-120"/>
              </a:rPr>
              <a:t>·</a:t>
            </a:r>
            <a:r>
              <a:rPr lang="ko-KR" altLang="en-US" sz="1350" b="1" dirty="0">
                <a:solidFill>
                  <a:srgbClr val="FFFFFF"/>
                </a:solidFill>
                <a:latin typeface="Pretendard" pitchFamily="34" charset="0"/>
                <a:ea typeface="Pretendard" pitchFamily="34" charset="-122"/>
                <a:cs typeface="Pretendard" pitchFamily="34" charset="-120"/>
              </a:rPr>
              <a:t>재활을 연계</a:t>
            </a:r>
            <a:r>
              <a:rPr lang="en-US" altLang="ko-KR" sz="1350" b="1" dirty="0">
                <a:solidFill>
                  <a:srgbClr val="FFFFFF"/>
                </a:solidFill>
                <a:latin typeface="Pretendard" pitchFamily="34" charset="0"/>
                <a:ea typeface="Pretendard" pitchFamily="34" charset="-122"/>
                <a:cs typeface="Pretendard" pitchFamily="34" charset="-120"/>
              </a:rPr>
              <a:t>·</a:t>
            </a:r>
            <a:r>
              <a:rPr lang="ko-KR" altLang="en-US" sz="1350" b="1" dirty="0">
                <a:solidFill>
                  <a:srgbClr val="FFFFFF"/>
                </a:solidFill>
                <a:latin typeface="Pretendard" pitchFamily="34" charset="0"/>
                <a:ea typeface="Pretendard" pitchFamily="34" charset="-122"/>
                <a:cs typeface="Pretendard" pitchFamily="34" charset="-120"/>
              </a:rPr>
              <a:t>병행할 수 있도록 구성되어 있다</a:t>
            </a:r>
            <a:endParaRPr lang="en-US" sz="1350" dirty="0"/>
          </a:p>
        </p:txBody>
      </p:sp>
      <p:sp>
        <p:nvSpPr>
          <p:cNvPr id="37" name="Shape 35"/>
          <p:cNvSpPr/>
          <p:nvPr/>
        </p:nvSpPr>
        <p:spPr>
          <a:xfrm>
            <a:off x="731520" y="6153912"/>
            <a:ext cx="10698480" cy="0"/>
          </a:xfrm>
          <a:prstGeom prst="line">
            <a:avLst/>
          </a:prstGeom>
          <a:noFill/>
          <a:ln w="12700">
            <a:solidFill>
              <a:srgbClr val="DCE0E8"/>
            </a:solidFill>
            <a:prstDash val="solid"/>
          </a:ln>
        </p:spPr>
        <p:txBody>
          <a:bodyPr/>
          <a:lstStyle/>
          <a:p>
            <a:endParaRPr lang="ko-KR" altLang="en-US"/>
          </a:p>
        </p:txBody>
      </p:sp>
    </p:spTree>
    <p:extLst>
      <p:ext uri="{BB962C8B-B14F-4D97-AF65-F5344CB8AC3E}">
        <p14:creationId xmlns:p14="http://schemas.microsoft.com/office/powerpoint/2010/main" val="23440396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청소년 마약류의 실태와 사용 맥락</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청소년의 마약류 접촉과 사용 경위</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만 14~18세 마약범죄 피의자 추이</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정기 통계의 만 14~18세 마약범죄 피의자는 2023년 787명까지 늘었다가 2024년 254명, 2025년 314명으로 집계되었다</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SCOPE"/>
          <p:cNvSpPr/>
          <p:nvPr/>
        </p:nvSpPr>
        <p:spPr>
          <a:xfrm>
            <a:off x="731520" y="2167128"/>
            <a:ext cx="10725912" cy="219456"/>
          </a:xfrm>
          <a:prstGeom prst="rect">
            <a:avLst/>
          </a:prstGeom>
          <a:noFill/>
          <a:ln/>
        </p:spPr>
        <p:txBody>
          <a:bodyPr wrap="square" lIns="0" tIns="0" rIns="0" bIns="0" rtlCol="0" anchor="t"/>
          <a:lstStyle/>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2018~2025년 · 범행 당시 만 14~18세 · 마약범죄 · 전국 · 단위 명</a:t>
            </a:r>
          </a:p>
        </p:txBody>
      </p:sp>
      <p:sp>
        <p:nvSpPr>
          <p:cNvPr id="9" name="B0"/>
          <p:cNvSpPr/>
          <p:nvPr/>
        </p:nvSpPr>
        <p:spPr>
          <a:xfrm>
            <a:off x="935546" y="4371752"/>
            <a:ext cx="932688" cy="138069"/>
          </a:xfrm>
          <a:prstGeom prst="rect">
            <a:avLst/>
          </a:prstGeom>
          <a:solidFill>
            <a:srgbClr val="5A6699"/>
          </a:solidFill>
          <a:ln/>
        </p:spPr>
        <p:txBody>
          <a:bodyPr/>
          <a:lstStyle/>
          <a:p>
            <a:endParaRPr lang="ko-KR" altLang="en-US"/>
          </a:p>
        </p:txBody>
      </p:sp>
      <p:sp>
        <p:nvSpPr>
          <p:cNvPr id="10" name="V0"/>
          <p:cNvSpPr/>
          <p:nvPr/>
        </p:nvSpPr>
        <p:spPr>
          <a:xfrm>
            <a:off x="661226" y="4097432"/>
            <a:ext cx="1481328" cy="256032"/>
          </a:xfrm>
          <a:prstGeom prst="rect">
            <a:avLst/>
          </a:prstGeom>
          <a:noFill/>
          <a:ln/>
        </p:spPr>
        <p:txBody>
          <a:bodyPr wrap="square" lIns="0" tIns="0" rIns="0" bIns="0" rtlCol="0" anchor="b"/>
          <a:lstStyle/>
          <a:p>
            <a:pPr marL="0" indent="0" algn="ctr">
              <a:lnSpc>
                <a:spcPct val="118000"/>
              </a:lnSpc>
              <a:buNone/>
            </a:pPr>
            <a:r>
              <a:rPr lang="ko-KR" altLang="en-US" sz="1250" b="1" dirty="0">
                <a:solidFill>
                  <a:srgbClr val="5A6699"/>
                </a:solidFill>
                <a:latin typeface="Pretendard" pitchFamily="34" charset="0"/>
                <a:ea typeface="Pretendard" pitchFamily="34" charset="-122"/>
                <a:cs typeface="Pretendard" pitchFamily="34" charset="-120"/>
              </a:rPr>
              <a:t>56</a:t>
            </a:r>
          </a:p>
        </p:txBody>
      </p:sp>
      <p:sp>
        <p:nvSpPr>
          <p:cNvPr id="11" name="Y0"/>
          <p:cNvSpPr/>
          <p:nvPr/>
        </p:nvSpPr>
        <p:spPr>
          <a:xfrm>
            <a:off x="661226" y="4546397"/>
            <a:ext cx="1481328" cy="237744"/>
          </a:xfrm>
          <a:prstGeom prst="rect">
            <a:avLst/>
          </a:prstGeom>
          <a:noFill/>
          <a:ln/>
        </p:spPr>
        <p:txBody>
          <a:bodyPr wrap="square" lIns="0" tIns="0" rIns="0" bIns="0" rtlCol="0" anchor="t"/>
          <a:lstStyle/>
          <a:p>
            <a:pPr marL="0" indent="0" algn="ctr">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2018</a:t>
            </a:r>
          </a:p>
        </p:txBody>
      </p:sp>
      <p:sp>
        <p:nvSpPr>
          <p:cNvPr id="12" name="B1"/>
          <p:cNvSpPr/>
          <p:nvPr/>
        </p:nvSpPr>
        <p:spPr>
          <a:xfrm>
            <a:off x="2276285" y="4334770"/>
            <a:ext cx="932688" cy="175051"/>
          </a:xfrm>
          <a:prstGeom prst="rect">
            <a:avLst/>
          </a:prstGeom>
          <a:solidFill>
            <a:srgbClr val="5A6699"/>
          </a:solidFill>
          <a:ln/>
        </p:spPr>
        <p:txBody>
          <a:bodyPr/>
          <a:lstStyle/>
          <a:p>
            <a:endParaRPr lang="ko-KR" altLang="en-US"/>
          </a:p>
        </p:txBody>
      </p:sp>
      <p:sp>
        <p:nvSpPr>
          <p:cNvPr id="13" name="V1"/>
          <p:cNvSpPr/>
          <p:nvPr/>
        </p:nvSpPr>
        <p:spPr>
          <a:xfrm>
            <a:off x="2001965" y="4060450"/>
            <a:ext cx="1481328" cy="256032"/>
          </a:xfrm>
          <a:prstGeom prst="rect">
            <a:avLst/>
          </a:prstGeom>
          <a:noFill/>
          <a:ln/>
        </p:spPr>
        <p:txBody>
          <a:bodyPr wrap="square" lIns="0" tIns="0" rIns="0" bIns="0" rtlCol="0" anchor="b"/>
          <a:lstStyle/>
          <a:p>
            <a:pPr marL="0" indent="0" algn="ctr">
              <a:lnSpc>
                <a:spcPct val="118000"/>
              </a:lnSpc>
              <a:buNone/>
            </a:pPr>
            <a:r>
              <a:rPr lang="ko-KR" altLang="en-US" sz="1250" b="1" dirty="0">
                <a:solidFill>
                  <a:srgbClr val="5A6699"/>
                </a:solidFill>
                <a:latin typeface="Pretendard" pitchFamily="34" charset="0"/>
                <a:ea typeface="Pretendard" pitchFamily="34" charset="-122"/>
                <a:cs typeface="Pretendard" pitchFamily="34" charset="-120"/>
              </a:rPr>
              <a:t>71</a:t>
            </a:r>
          </a:p>
        </p:txBody>
      </p:sp>
      <p:sp>
        <p:nvSpPr>
          <p:cNvPr id="14" name="Y1"/>
          <p:cNvSpPr/>
          <p:nvPr/>
        </p:nvSpPr>
        <p:spPr>
          <a:xfrm>
            <a:off x="2001965" y="4546397"/>
            <a:ext cx="1481328" cy="237744"/>
          </a:xfrm>
          <a:prstGeom prst="rect">
            <a:avLst/>
          </a:prstGeom>
          <a:noFill/>
          <a:ln/>
        </p:spPr>
        <p:txBody>
          <a:bodyPr wrap="square" lIns="0" tIns="0" rIns="0" bIns="0" rtlCol="0" anchor="t"/>
          <a:lstStyle/>
          <a:p>
            <a:pPr marL="0" indent="0" algn="ctr">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2019</a:t>
            </a:r>
          </a:p>
        </p:txBody>
      </p:sp>
      <p:sp>
        <p:nvSpPr>
          <p:cNvPr id="15" name="B2"/>
          <p:cNvSpPr/>
          <p:nvPr/>
        </p:nvSpPr>
        <p:spPr>
          <a:xfrm>
            <a:off x="3617024" y="4184373"/>
            <a:ext cx="932688" cy="325447"/>
          </a:xfrm>
          <a:prstGeom prst="rect">
            <a:avLst/>
          </a:prstGeom>
          <a:solidFill>
            <a:srgbClr val="5A6699"/>
          </a:solidFill>
          <a:ln/>
        </p:spPr>
        <p:txBody>
          <a:bodyPr/>
          <a:lstStyle/>
          <a:p>
            <a:endParaRPr lang="ko-KR" altLang="en-US"/>
          </a:p>
        </p:txBody>
      </p:sp>
      <p:sp>
        <p:nvSpPr>
          <p:cNvPr id="16" name="V2"/>
          <p:cNvSpPr/>
          <p:nvPr/>
        </p:nvSpPr>
        <p:spPr>
          <a:xfrm>
            <a:off x="3342704" y="3910053"/>
            <a:ext cx="1481328" cy="256032"/>
          </a:xfrm>
          <a:prstGeom prst="rect">
            <a:avLst/>
          </a:prstGeom>
          <a:noFill/>
          <a:ln/>
        </p:spPr>
        <p:txBody>
          <a:bodyPr wrap="square" lIns="0" tIns="0" rIns="0" bIns="0" rtlCol="0" anchor="b"/>
          <a:lstStyle/>
          <a:p>
            <a:pPr marL="0" indent="0" algn="ctr">
              <a:lnSpc>
                <a:spcPct val="118000"/>
              </a:lnSpc>
              <a:buNone/>
            </a:pPr>
            <a:r>
              <a:rPr lang="ko-KR" altLang="en-US" sz="1250" b="1" dirty="0">
                <a:solidFill>
                  <a:srgbClr val="5A6699"/>
                </a:solidFill>
                <a:latin typeface="Pretendard" pitchFamily="34" charset="0"/>
                <a:ea typeface="Pretendard" pitchFamily="34" charset="-122"/>
                <a:cs typeface="Pretendard" pitchFamily="34" charset="-120"/>
              </a:rPr>
              <a:t>132</a:t>
            </a:r>
          </a:p>
        </p:txBody>
      </p:sp>
      <p:sp>
        <p:nvSpPr>
          <p:cNvPr id="17" name="Y2"/>
          <p:cNvSpPr/>
          <p:nvPr/>
        </p:nvSpPr>
        <p:spPr>
          <a:xfrm>
            <a:off x="3342704" y="4546397"/>
            <a:ext cx="1481328" cy="237744"/>
          </a:xfrm>
          <a:prstGeom prst="rect">
            <a:avLst/>
          </a:prstGeom>
          <a:noFill/>
          <a:ln/>
        </p:spPr>
        <p:txBody>
          <a:bodyPr wrap="square" lIns="0" tIns="0" rIns="0" bIns="0" rtlCol="0" anchor="t"/>
          <a:lstStyle/>
          <a:p>
            <a:pPr marL="0" indent="0" algn="ctr">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2020</a:t>
            </a:r>
          </a:p>
        </p:txBody>
      </p:sp>
      <p:sp>
        <p:nvSpPr>
          <p:cNvPr id="18" name="B3"/>
          <p:cNvSpPr/>
          <p:nvPr/>
        </p:nvSpPr>
        <p:spPr>
          <a:xfrm>
            <a:off x="4957762" y="4066029"/>
            <a:ext cx="932688" cy="443792"/>
          </a:xfrm>
          <a:prstGeom prst="rect">
            <a:avLst/>
          </a:prstGeom>
          <a:solidFill>
            <a:srgbClr val="5A6699"/>
          </a:solidFill>
          <a:ln/>
        </p:spPr>
        <p:txBody>
          <a:bodyPr/>
          <a:lstStyle/>
          <a:p>
            <a:endParaRPr lang="ko-KR" altLang="en-US"/>
          </a:p>
        </p:txBody>
      </p:sp>
      <p:sp>
        <p:nvSpPr>
          <p:cNvPr id="19" name="V3"/>
          <p:cNvSpPr/>
          <p:nvPr/>
        </p:nvSpPr>
        <p:spPr>
          <a:xfrm>
            <a:off x="4683442" y="3791709"/>
            <a:ext cx="1481328" cy="256032"/>
          </a:xfrm>
          <a:prstGeom prst="rect">
            <a:avLst/>
          </a:prstGeom>
          <a:noFill/>
          <a:ln/>
        </p:spPr>
        <p:txBody>
          <a:bodyPr wrap="square" lIns="0" tIns="0" rIns="0" bIns="0" rtlCol="0" anchor="b"/>
          <a:lstStyle/>
          <a:p>
            <a:pPr marL="0" indent="0" algn="ctr">
              <a:lnSpc>
                <a:spcPct val="118000"/>
              </a:lnSpc>
              <a:buNone/>
            </a:pPr>
            <a:r>
              <a:rPr lang="ko-KR" altLang="en-US" sz="1250" b="1" dirty="0">
                <a:solidFill>
                  <a:srgbClr val="5A6699"/>
                </a:solidFill>
                <a:latin typeface="Pretendard" pitchFamily="34" charset="0"/>
                <a:ea typeface="Pretendard" pitchFamily="34" charset="-122"/>
                <a:cs typeface="Pretendard" pitchFamily="34" charset="-120"/>
              </a:rPr>
              <a:t>180</a:t>
            </a:r>
          </a:p>
        </p:txBody>
      </p:sp>
      <p:sp>
        <p:nvSpPr>
          <p:cNvPr id="20" name="Y3"/>
          <p:cNvSpPr/>
          <p:nvPr/>
        </p:nvSpPr>
        <p:spPr>
          <a:xfrm>
            <a:off x="4683442" y="4546397"/>
            <a:ext cx="1481328" cy="237744"/>
          </a:xfrm>
          <a:prstGeom prst="rect">
            <a:avLst/>
          </a:prstGeom>
          <a:noFill/>
          <a:ln/>
        </p:spPr>
        <p:txBody>
          <a:bodyPr wrap="square" lIns="0" tIns="0" rIns="0" bIns="0" rtlCol="0" anchor="t"/>
          <a:lstStyle/>
          <a:p>
            <a:pPr marL="0" indent="0" algn="ctr">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2021</a:t>
            </a:r>
          </a:p>
        </p:txBody>
      </p:sp>
      <p:sp>
        <p:nvSpPr>
          <p:cNvPr id="21" name="B4"/>
          <p:cNvSpPr/>
          <p:nvPr/>
        </p:nvSpPr>
        <p:spPr>
          <a:xfrm>
            <a:off x="6298502" y="4019184"/>
            <a:ext cx="932688" cy="490637"/>
          </a:xfrm>
          <a:prstGeom prst="rect">
            <a:avLst/>
          </a:prstGeom>
          <a:solidFill>
            <a:srgbClr val="5A6699"/>
          </a:solidFill>
          <a:ln/>
        </p:spPr>
        <p:txBody>
          <a:bodyPr/>
          <a:lstStyle/>
          <a:p>
            <a:endParaRPr lang="ko-KR" altLang="en-US"/>
          </a:p>
        </p:txBody>
      </p:sp>
      <p:sp>
        <p:nvSpPr>
          <p:cNvPr id="22" name="V4"/>
          <p:cNvSpPr/>
          <p:nvPr/>
        </p:nvSpPr>
        <p:spPr>
          <a:xfrm>
            <a:off x="6024182" y="3744864"/>
            <a:ext cx="1481328" cy="256032"/>
          </a:xfrm>
          <a:prstGeom prst="rect">
            <a:avLst/>
          </a:prstGeom>
          <a:noFill/>
          <a:ln/>
        </p:spPr>
        <p:txBody>
          <a:bodyPr wrap="square" lIns="0" tIns="0" rIns="0" bIns="0" rtlCol="0" anchor="b"/>
          <a:lstStyle/>
          <a:p>
            <a:pPr marL="0" indent="0" algn="ctr">
              <a:lnSpc>
                <a:spcPct val="118000"/>
              </a:lnSpc>
              <a:buNone/>
            </a:pPr>
            <a:r>
              <a:rPr lang="ko-KR" altLang="en-US" sz="1250" b="1" dirty="0">
                <a:solidFill>
                  <a:srgbClr val="5A6699"/>
                </a:solidFill>
                <a:latin typeface="Pretendard" pitchFamily="34" charset="0"/>
                <a:ea typeface="Pretendard" pitchFamily="34" charset="-122"/>
                <a:cs typeface="Pretendard" pitchFamily="34" charset="-120"/>
              </a:rPr>
              <a:t>199</a:t>
            </a:r>
          </a:p>
        </p:txBody>
      </p:sp>
      <p:sp>
        <p:nvSpPr>
          <p:cNvPr id="23" name="Y4"/>
          <p:cNvSpPr/>
          <p:nvPr/>
        </p:nvSpPr>
        <p:spPr>
          <a:xfrm>
            <a:off x="6024182" y="4546397"/>
            <a:ext cx="1481328" cy="237744"/>
          </a:xfrm>
          <a:prstGeom prst="rect">
            <a:avLst/>
          </a:prstGeom>
          <a:noFill/>
          <a:ln/>
        </p:spPr>
        <p:txBody>
          <a:bodyPr wrap="square" lIns="0" tIns="0" rIns="0" bIns="0" rtlCol="0" anchor="t"/>
          <a:lstStyle/>
          <a:p>
            <a:pPr marL="0" indent="0" algn="ctr">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2022</a:t>
            </a:r>
          </a:p>
        </p:txBody>
      </p:sp>
      <p:sp>
        <p:nvSpPr>
          <p:cNvPr id="24" name="B5"/>
          <p:cNvSpPr/>
          <p:nvPr/>
        </p:nvSpPr>
        <p:spPr>
          <a:xfrm>
            <a:off x="7639241" y="2569464"/>
            <a:ext cx="932688" cy="1940357"/>
          </a:xfrm>
          <a:prstGeom prst="rect">
            <a:avLst/>
          </a:prstGeom>
          <a:solidFill>
            <a:srgbClr val="5A6699"/>
          </a:solidFill>
          <a:ln/>
        </p:spPr>
        <p:txBody>
          <a:bodyPr/>
          <a:lstStyle/>
          <a:p>
            <a:endParaRPr lang="ko-KR" altLang="en-US"/>
          </a:p>
        </p:txBody>
      </p:sp>
      <p:sp>
        <p:nvSpPr>
          <p:cNvPr id="25" name="V5"/>
          <p:cNvSpPr/>
          <p:nvPr/>
        </p:nvSpPr>
        <p:spPr>
          <a:xfrm>
            <a:off x="7364920" y="2295144"/>
            <a:ext cx="1481328" cy="256032"/>
          </a:xfrm>
          <a:prstGeom prst="rect">
            <a:avLst/>
          </a:prstGeom>
          <a:noFill/>
          <a:ln/>
        </p:spPr>
        <p:txBody>
          <a:bodyPr wrap="square" lIns="0" tIns="0" rIns="0" bIns="0" rtlCol="0" anchor="b"/>
          <a:lstStyle/>
          <a:p>
            <a:pPr marL="0" indent="0" algn="ctr">
              <a:lnSpc>
                <a:spcPct val="118000"/>
              </a:lnSpc>
              <a:buNone/>
            </a:pPr>
            <a:r>
              <a:rPr lang="ko-KR" altLang="en-US" sz="1250" b="1" dirty="0">
                <a:solidFill>
                  <a:srgbClr val="5A6699"/>
                </a:solidFill>
                <a:latin typeface="Pretendard" pitchFamily="34" charset="0"/>
                <a:ea typeface="Pretendard" pitchFamily="34" charset="-122"/>
                <a:cs typeface="Pretendard" pitchFamily="34" charset="-120"/>
              </a:rPr>
              <a:t>787</a:t>
            </a:r>
          </a:p>
        </p:txBody>
      </p:sp>
      <p:sp>
        <p:nvSpPr>
          <p:cNvPr id="26" name="Y5"/>
          <p:cNvSpPr/>
          <p:nvPr/>
        </p:nvSpPr>
        <p:spPr>
          <a:xfrm>
            <a:off x="7364920" y="4546397"/>
            <a:ext cx="1481328" cy="237744"/>
          </a:xfrm>
          <a:prstGeom prst="rect">
            <a:avLst/>
          </a:prstGeom>
          <a:noFill/>
          <a:ln/>
        </p:spPr>
        <p:txBody>
          <a:bodyPr wrap="square" lIns="0" tIns="0" rIns="0" bIns="0" rtlCol="0" anchor="t"/>
          <a:lstStyle/>
          <a:p>
            <a:pPr marL="0" indent="0" algn="ctr">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2023</a:t>
            </a:r>
          </a:p>
        </p:txBody>
      </p:sp>
      <p:sp>
        <p:nvSpPr>
          <p:cNvPr id="27" name="B6"/>
          <p:cNvSpPr/>
          <p:nvPr/>
        </p:nvSpPr>
        <p:spPr>
          <a:xfrm>
            <a:off x="8979980" y="3883581"/>
            <a:ext cx="932688" cy="626240"/>
          </a:xfrm>
          <a:prstGeom prst="rect">
            <a:avLst/>
          </a:prstGeom>
          <a:solidFill>
            <a:srgbClr val="5A6699"/>
          </a:solidFill>
          <a:ln/>
        </p:spPr>
        <p:txBody>
          <a:bodyPr/>
          <a:lstStyle/>
          <a:p>
            <a:endParaRPr lang="ko-KR" altLang="en-US"/>
          </a:p>
        </p:txBody>
      </p:sp>
      <p:sp>
        <p:nvSpPr>
          <p:cNvPr id="28" name="V6"/>
          <p:cNvSpPr/>
          <p:nvPr/>
        </p:nvSpPr>
        <p:spPr>
          <a:xfrm>
            <a:off x="8705660" y="3609261"/>
            <a:ext cx="1481328" cy="256032"/>
          </a:xfrm>
          <a:prstGeom prst="rect">
            <a:avLst/>
          </a:prstGeom>
          <a:noFill/>
          <a:ln/>
        </p:spPr>
        <p:txBody>
          <a:bodyPr wrap="square" lIns="0" tIns="0" rIns="0" bIns="0" rtlCol="0" anchor="b"/>
          <a:lstStyle/>
          <a:p>
            <a:pPr marL="0" indent="0" algn="ctr">
              <a:lnSpc>
                <a:spcPct val="118000"/>
              </a:lnSpc>
              <a:buNone/>
            </a:pPr>
            <a:r>
              <a:rPr lang="ko-KR" altLang="en-US" sz="1250" b="1" dirty="0">
                <a:solidFill>
                  <a:srgbClr val="5A6699"/>
                </a:solidFill>
                <a:latin typeface="Pretendard" pitchFamily="34" charset="0"/>
                <a:ea typeface="Pretendard" pitchFamily="34" charset="-122"/>
                <a:cs typeface="Pretendard" pitchFamily="34" charset="-120"/>
              </a:rPr>
              <a:t>254</a:t>
            </a:r>
          </a:p>
        </p:txBody>
      </p:sp>
      <p:sp>
        <p:nvSpPr>
          <p:cNvPr id="29" name="Y6"/>
          <p:cNvSpPr/>
          <p:nvPr/>
        </p:nvSpPr>
        <p:spPr>
          <a:xfrm>
            <a:off x="8705660" y="4546397"/>
            <a:ext cx="1481328" cy="237744"/>
          </a:xfrm>
          <a:prstGeom prst="rect">
            <a:avLst/>
          </a:prstGeom>
          <a:noFill/>
          <a:ln/>
        </p:spPr>
        <p:txBody>
          <a:bodyPr wrap="square" lIns="0" tIns="0" rIns="0" bIns="0" rtlCol="0" anchor="t"/>
          <a:lstStyle/>
          <a:p>
            <a:pPr marL="0" indent="0" algn="ctr">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2024</a:t>
            </a:r>
          </a:p>
        </p:txBody>
      </p:sp>
      <p:sp>
        <p:nvSpPr>
          <p:cNvPr id="30" name="B7"/>
          <p:cNvSpPr/>
          <p:nvPr/>
        </p:nvSpPr>
        <p:spPr>
          <a:xfrm>
            <a:off x="10320718" y="3735650"/>
            <a:ext cx="932688" cy="774170"/>
          </a:xfrm>
          <a:prstGeom prst="rect">
            <a:avLst/>
          </a:prstGeom>
          <a:solidFill>
            <a:srgbClr val="1E2761"/>
          </a:solidFill>
          <a:ln/>
        </p:spPr>
        <p:txBody>
          <a:bodyPr/>
          <a:lstStyle/>
          <a:p>
            <a:endParaRPr lang="ko-KR" altLang="en-US"/>
          </a:p>
        </p:txBody>
      </p:sp>
      <p:sp>
        <p:nvSpPr>
          <p:cNvPr id="31" name="V7"/>
          <p:cNvSpPr/>
          <p:nvPr/>
        </p:nvSpPr>
        <p:spPr>
          <a:xfrm>
            <a:off x="10046398" y="3461330"/>
            <a:ext cx="1481328" cy="256032"/>
          </a:xfrm>
          <a:prstGeom prst="rect">
            <a:avLst/>
          </a:prstGeom>
          <a:noFill/>
          <a:ln/>
        </p:spPr>
        <p:txBody>
          <a:bodyPr wrap="square" lIns="0" tIns="0" rIns="0" bIns="0" rtlCol="0" anchor="b"/>
          <a:lstStyle/>
          <a:p>
            <a:pPr marL="0" indent="0" algn="ctr">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314</a:t>
            </a:r>
          </a:p>
        </p:txBody>
      </p:sp>
      <p:sp>
        <p:nvSpPr>
          <p:cNvPr id="32" name="Y7"/>
          <p:cNvSpPr/>
          <p:nvPr/>
        </p:nvSpPr>
        <p:spPr>
          <a:xfrm>
            <a:off x="10046398" y="4546397"/>
            <a:ext cx="1481328" cy="237744"/>
          </a:xfrm>
          <a:prstGeom prst="rect">
            <a:avLst/>
          </a:prstGeom>
          <a:noFill/>
          <a:ln/>
        </p:spPr>
        <p:txBody>
          <a:bodyPr wrap="square" lIns="0" tIns="0" rIns="0" bIns="0" rtlCol="0" anchor="t"/>
          <a:lstStyle/>
          <a:p>
            <a:pPr marL="0" indent="0" algn="ctr">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2025</a:t>
            </a:r>
          </a:p>
        </p:txBody>
      </p:sp>
      <p:sp>
        <p:nvSpPr>
          <p:cNvPr id="33" name="AXIS"/>
          <p:cNvSpPr/>
          <p:nvPr/>
        </p:nvSpPr>
        <p:spPr>
          <a:xfrm>
            <a:off x="731520" y="4509821"/>
            <a:ext cx="10725912" cy="0"/>
          </a:xfrm>
          <a:prstGeom prst="line">
            <a:avLst/>
          </a:prstGeom>
          <a:ln w="9525">
            <a:solidFill>
              <a:srgbClr val="DCE0E8"/>
            </a:solidFill>
          </a:ln>
        </p:spPr>
        <p:txBody>
          <a:bodyPr/>
          <a:lstStyle/>
          <a:p>
            <a:endParaRPr lang="ko-KR"/>
          </a:p>
        </p:txBody>
      </p:sp>
      <p:sp>
        <p:nvSpPr>
          <p:cNvPr id="34" name="NOTE"/>
          <p:cNvSpPr/>
          <p:nvPr/>
        </p:nvSpPr>
        <p:spPr>
          <a:xfrm>
            <a:off x="731520" y="4875581"/>
            <a:ext cx="10725912" cy="206807"/>
          </a:xfrm>
          <a:prstGeom prst="rect">
            <a:avLst/>
          </a:prstGeom>
          <a:noFill/>
          <a:ln/>
        </p:spPr>
        <p:txBody>
          <a:bodyPr wrap="square" lIns="0" tIns="0" rIns="0" bIns="0" rtlCol="0" anchor="t"/>
          <a:lstStyle/>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2024년부터 해양경찰 자료가 제외되어, 이전 연도와 비교할 때 집계 범위의 변화를 함께 고려해야 한다</a:t>
            </a:r>
          </a:p>
        </p:txBody>
      </p:sp>
      <p:sp>
        <p:nvSpPr>
          <p:cNvPr id="35" name="GOLD"/>
          <p:cNvSpPr/>
          <p:nvPr/>
        </p:nvSpPr>
        <p:spPr>
          <a:xfrm>
            <a:off x="731520" y="5210404"/>
            <a:ext cx="10725912" cy="215798"/>
          </a:xfrm>
          <a:prstGeom prst="rect">
            <a:avLst/>
          </a:prstGeom>
          <a:noFill/>
          <a:ln/>
        </p:spPr>
        <p:txBody>
          <a:bodyPr wrap="square" lIns="0" tIns="0" rIns="0" bIns="0" rtlCol="0" anchor="t"/>
          <a:lstStyle/>
          <a:p>
            <a:pPr marL="0" indent="0">
              <a:lnSpc>
                <a:spcPct val="118000"/>
              </a:lnSpc>
              <a:buNone/>
            </a:pPr>
            <a:r>
              <a:rPr lang="ko-KR" altLang="en-US" sz="1200" dirty="0">
                <a:solidFill>
                  <a:srgbClr val="A8871C"/>
                </a:solidFill>
                <a:latin typeface="Pretendard" pitchFamily="34" charset="0"/>
                <a:ea typeface="Pretendard" pitchFamily="34" charset="-122"/>
                <a:cs typeface="Pretendard" pitchFamily="34" charset="-120"/>
              </a:rPr>
              <a:t>피의자 통계만으로 실제 사용률이나 치료가 필요한 인원을 알 수는 없다</a:t>
            </a:r>
          </a:p>
        </p:txBody>
      </p:sp>
      <p:sp>
        <p:nvSpPr>
          <p:cNvPr id="36" name="R1"/>
          <p:cNvSpPr/>
          <p:nvPr/>
        </p:nvSpPr>
        <p:spPr>
          <a:xfrm>
            <a:off x="731520" y="5609082"/>
            <a:ext cx="10725912" cy="0"/>
          </a:xfrm>
          <a:prstGeom prst="line">
            <a:avLst/>
          </a:prstGeom>
          <a:ln w="9525">
            <a:solidFill>
              <a:srgbClr val="DCE0E8"/>
            </a:solidFill>
          </a:ln>
        </p:spPr>
        <p:txBody>
          <a:bodyPr/>
          <a:lstStyle/>
          <a:p>
            <a:endParaRPr lang="ko-KR"/>
          </a:p>
        </p:txBody>
      </p:sp>
      <p:sp>
        <p:nvSpPr>
          <p:cNvPr id="37" name="CLOSE"/>
          <p:cNvSpPr/>
          <p:nvPr/>
        </p:nvSpPr>
        <p:spPr>
          <a:xfrm>
            <a:off x="731520" y="5732526"/>
            <a:ext cx="10725912" cy="224790"/>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2025년은 전년보다 60명(23.6%) 늘었으며, 2023년 급증 이후에도 검거 규모는 2022년 이전보다 높은 수준이다</a:t>
            </a:r>
          </a:p>
        </p:txBody>
      </p:sp>
      <p:sp>
        <p:nvSpPr>
          <p:cNvPr id="38" name="R2"/>
          <p:cNvSpPr/>
          <p:nvPr/>
        </p:nvSpPr>
        <p:spPr>
          <a:xfrm>
            <a:off x="731520" y="6144768"/>
            <a:ext cx="10725912" cy="0"/>
          </a:xfrm>
          <a:prstGeom prst="line">
            <a:avLst/>
          </a:prstGeom>
          <a:ln w="9525">
            <a:solidFill>
              <a:srgbClr val="DCE0E8"/>
            </a:solidFill>
          </a:ln>
        </p:spPr>
        <p:txBody>
          <a:bodyPr/>
          <a:lstStyle/>
          <a:p>
            <a:endParaRPr lang="ko-K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보충 자료 · 경찰청 피의자 통계</a:t>
            </a:r>
          </a:p>
        </p:txBody>
      </p:sp>
      <p:sp>
        <p:nvSpPr>
          <p:cNvPr id="3"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연령별 피의자 수의 연도별 변화</a:t>
            </a:r>
          </a:p>
        </p:txBody>
      </p:sp>
      <p:sp>
        <p:nvSpPr>
          <p:cNvPr id="4" name="BANDBG"/>
          <p:cNvSpPr/>
          <p:nvPr/>
        </p:nvSpPr>
        <p:spPr>
          <a:xfrm>
            <a:off x="731520" y="1417320"/>
            <a:ext cx="10725912" cy="548640"/>
          </a:xfrm>
          <a:prstGeom prst="rect">
            <a:avLst/>
          </a:prstGeom>
          <a:solidFill>
            <a:srgbClr val="F2F4F8"/>
          </a:solidFill>
          <a:ln/>
        </p:spPr>
      </p:sp>
      <p:sp>
        <p:nvSpPr>
          <p:cNvPr id="5"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피의자 수는 모든 연령에서 2023년에 가장 많았고, 연령이 높을수록 규모가 컸다</a:t>
            </a:r>
          </a:p>
        </p:txBody>
      </p:sp>
      <p:sp>
        <p:nvSpPr>
          <p:cNvPr id="6" name="RULE"/>
          <p:cNvSpPr/>
          <p:nvPr/>
        </p:nvSpPr>
        <p:spPr>
          <a:xfrm>
            <a:off x="731520" y="2057400"/>
            <a:ext cx="10725912" cy="0"/>
          </a:xfrm>
          <a:prstGeom prst="line">
            <a:avLst/>
          </a:prstGeom>
          <a:ln w="19050">
            <a:solidFill>
              <a:srgbClr val="1E2761"/>
            </a:solidFill>
          </a:ln>
        </p:spPr>
        <p:txBody>
          <a:bodyPr/>
          <a:lstStyle/>
          <a:p>
            <a:endParaRPr lang="ko-KR"/>
          </a:p>
        </p:txBody>
      </p:sp>
      <p:sp>
        <p:nvSpPr>
          <p:cNvPr id="7" name="SCOPE"/>
          <p:cNvSpPr/>
          <p:nvPr/>
        </p:nvSpPr>
        <p:spPr>
          <a:xfrm>
            <a:off x="731520" y="2167128"/>
            <a:ext cx="10725912" cy="219456"/>
          </a:xfrm>
          <a:prstGeom prst="rect">
            <a:avLst/>
          </a:prstGeom>
          <a:noFill/>
          <a:ln/>
        </p:spPr>
        <p:txBody>
          <a:bodyPr wrap="square" lIns="0" tIns="0" rIns="0" bIns="0" rtlCol="0" anchor="t"/>
          <a:lstStyle/>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2018~2025년 · 다섯 묶음의 세로 눈금은 모두 같다 · 각 묶음의 막대는 왼쪽부터 2018년, 오른쪽 끝이 2025년 · 단위 명</a:t>
            </a:r>
          </a:p>
        </p:txBody>
      </p:sp>
      <p:sp>
        <p:nvSpPr>
          <p:cNvPr id="8" name="B00"/>
          <p:cNvSpPr/>
          <p:nvPr/>
        </p:nvSpPr>
        <p:spPr>
          <a:xfrm>
            <a:off x="731520" y="4633265"/>
            <a:ext cx="209055" cy="10973"/>
          </a:xfrm>
          <a:prstGeom prst="rect">
            <a:avLst/>
          </a:prstGeom>
          <a:solidFill>
            <a:srgbClr val="5A6699"/>
          </a:solidFill>
          <a:ln/>
        </p:spPr>
      </p:sp>
      <p:sp>
        <p:nvSpPr>
          <p:cNvPr id="9" name="V00"/>
          <p:cNvSpPr/>
          <p:nvPr/>
        </p:nvSpPr>
        <p:spPr>
          <a:xfrm>
            <a:off x="585216" y="4418381"/>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1</a:t>
            </a:r>
          </a:p>
        </p:txBody>
      </p:sp>
      <p:sp>
        <p:nvSpPr>
          <p:cNvPr id="10" name="B01"/>
          <p:cNvSpPr/>
          <p:nvPr/>
        </p:nvSpPr>
        <p:spPr>
          <a:xfrm>
            <a:off x="972579" y="4616680"/>
            <a:ext cx="209055" cy="27558"/>
          </a:xfrm>
          <a:prstGeom prst="rect">
            <a:avLst/>
          </a:prstGeom>
          <a:solidFill>
            <a:srgbClr val="5A6699"/>
          </a:solidFill>
          <a:ln/>
        </p:spPr>
      </p:sp>
      <p:sp>
        <p:nvSpPr>
          <p:cNvPr id="11" name="V01"/>
          <p:cNvSpPr/>
          <p:nvPr/>
        </p:nvSpPr>
        <p:spPr>
          <a:xfrm>
            <a:off x="826275" y="4401796"/>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3</a:t>
            </a:r>
          </a:p>
        </p:txBody>
      </p:sp>
      <p:sp>
        <p:nvSpPr>
          <p:cNvPr id="12" name="B02"/>
          <p:cNvSpPr/>
          <p:nvPr/>
        </p:nvSpPr>
        <p:spPr>
          <a:xfrm>
            <a:off x="1213637" y="4625866"/>
            <a:ext cx="209055" cy="18372"/>
          </a:xfrm>
          <a:prstGeom prst="rect">
            <a:avLst/>
          </a:prstGeom>
          <a:solidFill>
            <a:srgbClr val="5A6699"/>
          </a:solidFill>
          <a:ln/>
        </p:spPr>
      </p:sp>
      <p:sp>
        <p:nvSpPr>
          <p:cNvPr id="13" name="V02"/>
          <p:cNvSpPr/>
          <p:nvPr/>
        </p:nvSpPr>
        <p:spPr>
          <a:xfrm>
            <a:off x="1067333" y="4410982"/>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2</a:t>
            </a:r>
          </a:p>
        </p:txBody>
      </p:sp>
      <p:sp>
        <p:nvSpPr>
          <p:cNvPr id="14" name="B03"/>
          <p:cNvSpPr/>
          <p:nvPr/>
        </p:nvSpPr>
        <p:spPr>
          <a:xfrm>
            <a:off x="1454696" y="4598308"/>
            <a:ext cx="209055" cy="45930"/>
          </a:xfrm>
          <a:prstGeom prst="rect">
            <a:avLst/>
          </a:prstGeom>
          <a:solidFill>
            <a:srgbClr val="5A6699"/>
          </a:solidFill>
          <a:ln/>
        </p:spPr>
      </p:sp>
      <p:sp>
        <p:nvSpPr>
          <p:cNvPr id="15" name="V03"/>
          <p:cNvSpPr/>
          <p:nvPr/>
        </p:nvSpPr>
        <p:spPr>
          <a:xfrm>
            <a:off x="1308392" y="4383424"/>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5</a:t>
            </a:r>
          </a:p>
        </p:txBody>
      </p:sp>
      <p:sp>
        <p:nvSpPr>
          <p:cNvPr id="16" name="B04"/>
          <p:cNvSpPr/>
          <p:nvPr/>
        </p:nvSpPr>
        <p:spPr>
          <a:xfrm>
            <a:off x="1695755" y="4423774"/>
            <a:ext cx="209055" cy="220464"/>
          </a:xfrm>
          <a:prstGeom prst="rect">
            <a:avLst/>
          </a:prstGeom>
          <a:solidFill>
            <a:srgbClr val="C2A648"/>
          </a:solidFill>
          <a:ln/>
        </p:spPr>
      </p:sp>
      <p:sp>
        <p:nvSpPr>
          <p:cNvPr id="17" name="V04"/>
          <p:cNvSpPr/>
          <p:nvPr/>
        </p:nvSpPr>
        <p:spPr>
          <a:xfrm>
            <a:off x="1549451" y="4208890"/>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24</a:t>
            </a:r>
          </a:p>
        </p:txBody>
      </p:sp>
      <p:sp>
        <p:nvSpPr>
          <p:cNvPr id="18" name="Y04"/>
          <p:cNvSpPr/>
          <p:nvPr/>
        </p:nvSpPr>
        <p:spPr>
          <a:xfrm>
            <a:off x="1494587" y="4680814"/>
            <a:ext cx="611391" cy="182880"/>
          </a:xfrm>
          <a:prstGeom prst="rect">
            <a:avLst/>
          </a:prstGeom>
          <a:noFill/>
          <a:ln/>
        </p:spPr>
        <p:txBody>
          <a:bodyPr wrap="square" lIns="0" tIns="0" rIns="0" bIns="0" rtlCol="0" anchor="t"/>
          <a:lstStyle/>
          <a:p>
            <a:pPr marL="0" indent="0" algn="ctr">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2022</a:t>
            </a:r>
          </a:p>
        </p:txBody>
      </p:sp>
      <p:sp>
        <p:nvSpPr>
          <p:cNvPr id="19" name="B05"/>
          <p:cNvSpPr/>
          <p:nvPr/>
        </p:nvSpPr>
        <p:spPr>
          <a:xfrm>
            <a:off x="1936814" y="3450059"/>
            <a:ext cx="209055" cy="1194178"/>
          </a:xfrm>
          <a:prstGeom prst="rect">
            <a:avLst/>
          </a:prstGeom>
          <a:solidFill>
            <a:srgbClr val="5A6699"/>
          </a:solidFill>
          <a:ln/>
        </p:spPr>
      </p:sp>
      <p:sp>
        <p:nvSpPr>
          <p:cNvPr id="20" name="V05"/>
          <p:cNvSpPr/>
          <p:nvPr/>
        </p:nvSpPr>
        <p:spPr>
          <a:xfrm>
            <a:off x="1790510" y="3235175"/>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130</a:t>
            </a:r>
          </a:p>
        </p:txBody>
      </p:sp>
      <p:sp>
        <p:nvSpPr>
          <p:cNvPr id="21" name="B06"/>
          <p:cNvSpPr/>
          <p:nvPr/>
        </p:nvSpPr>
        <p:spPr>
          <a:xfrm>
            <a:off x="2177872" y="4460518"/>
            <a:ext cx="209055" cy="183720"/>
          </a:xfrm>
          <a:prstGeom prst="rect">
            <a:avLst/>
          </a:prstGeom>
          <a:solidFill>
            <a:srgbClr val="5A6699"/>
          </a:solidFill>
          <a:ln/>
        </p:spPr>
      </p:sp>
      <p:sp>
        <p:nvSpPr>
          <p:cNvPr id="22" name="V06"/>
          <p:cNvSpPr/>
          <p:nvPr/>
        </p:nvSpPr>
        <p:spPr>
          <a:xfrm>
            <a:off x="2031568" y="4245634"/>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20</a:t>
            </a:r>
          </a:p>
        </p:txBody>
      </p:sp>
      <p:sp>
        <p:nvSpPr>
          <p:cNvPr id="23" name="B07"/>
          <p:cNvSpPr/>
          <p:nvPr/>
        </p:nvSpPr>
        <p:spPr>
          <a:xfrm>
            <a:off x="2418931" y="4469704"/>
            <a:ext cx="209055" cy="174534"/>
          </a:xfrm>
          <a:prstGeom prst="rect">
            <a:avLst/>
          </a:prstGeom>
          <a:solidFill>
            <a:schemeClr val="accent2">
              <a:lumMod val="75000"/>
            </a:schemeClr>
          </a:solidFill>
          <a:ln/>
        </p:spPr>
      </p:sp>
      <p:sp>
        <p:nvSpPr>
          <p:cNvPr id="24" name="V07"/>
          <p:cNvSpPr/>
          <p:nvPr/>
        </p:nvSpPr>
        <p:spPr>
          <a:xfrm>
            <a:off x="2272627" y="4254820"/>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19</a:t>
            </a:r>
          </a:p>
        </p:txBody>
      </p:sp>
      <p:sp>
        <p:nvSpPr>
          <p:cNvPr id="25" name="Y07"/>
          <p:cNvSpPr/>
          <p:nvPr/>
        </p:nvSpPr>
        <p:spPr>
          <a:xfrm>
            <a:off x="2217763" y="4680814"/>
            <a:ext cx="611391" cy="182880"/>
          </a:xfrm>
          <a:prstGeom prst="rect">
            <a:avLst/>
          </a:prstGeom>
          <a:noFill/>
          <a:ln/>
        </p:spPr>
        <p:txBody>
          <a:bodyPr wrap="square" lIns="0" tIns="0" rIns="0" bIns="0" rtlCol="0" anchor="t"/>
          <a:lstStyle/>
          <a:p>
            <a:pPr marL="0" indent="0" algn="ctr">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2025</a:t>
            </a:r>
          </a:p>
        </p:txBody>
      </p:sp>
      <p:sp>
        <p:nvSpPr>
          <p:cNvPr id="26" name="AX0"/>
          <p:cNvSpPr/>
          <p:nvPr/>
        </p:nvSpPr>
        <p:spPr>
          <a:xfrm>
            <a:off x="731520" y="4644238"/>
            <a:ext cx="1896466" cy="0"/>
          </a:xfrm>
          <a:prstGeom prst="line">
            <a:avLst/>
          </a:prstGeom>
          <a:ln w="9525">
            <a:solidFill>
              <a:srgbClr val="DCE0E8"/>
            </a:solidFill>
          </a:ln>
        </p:spPr>
        <p:txBody>
          <a:bodyPr/>
          <a:lstStyle/>
          <a:p>
            <a:endParaRPr lang="ko-KR"/>
          </a:p>
        </p:txBody>
      </p:sp>
      <p:sp>
        <p:nvSpPr>
          <p:cNvPr id="27" name="AL0"/>
          <p:cNvSpPr/>
          <p:nvPr/>
        </p:nvSpPr>
        <p:spPr>
          <a:xfrm>
            <a:off x="731520" y="4918558"/>
            <a:ext cx="1896466" cy="274320"/>
          </a:xfrm>
          <a:prstGeom prst="rect">
            <a:avLst/>
          </a:prstGeom>
          <a:noFill/>
          <a:ln/>
        </p:spPr>
        <p:txBody>
          <a:bodyPr wrap="square" lIns="0" tIns="0" rIns="0" bIns="0" rtlCol="0" anchor="t"/>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14세</a:t>
            </a:r>
          </a:p>
        </p:txBody>
      </p:sp>
      <p:sp>
        <p:nvSpPr>
          <p:cNvPr id="28" name="B10"/>
          <p:cNvSpPr/>
          <p:nvPr/>
        </p:nvSpPr>
        <p:spPr>
          <a:xfrm>
            <a:off x="2938882" y="4616680"/>
            <a:ext cx="209055" cy="27558"/>
          </a:xfrm>
          <a:prstGeom prst="rect">
            <a:avLst/>
          </a:prstGeom>
          <a:solidFill>
            <a:srgbClr val="5A6699"/>
          </a:solidFill>
          <a:ln/>
        </p:spPr>
      </p:sp>
      <p:sp>
        <p:nvSpPr>
          <p:cNvPr id="29" name="V10"/>
          <p:cNvSpPr/>
          <p:nvPr/>
        </p:nvSpPr>
        <p:spPr>
          <a:xfrm>
            <a:off x="2792578" y="4401796"/>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3</a:t>
            </a:r>
          </a:p>
        </p:txBody>
      </p:sp>
      <p:sp>
        <p:nvSpPr>
          <p:cNvPr id="30" name="B11"/>
          <p:cNvSpPr/>
          <p:nvPr/>
        </p:nvSpPr>
        <p:spPr>
          <a:xfrm>
            <a:off x="3179940" y="4616680"/>
            <a:ext cx="209055" cy="27558"/>
          </a:xfrm>
          <a:prstGeom prst="rect">
            <a:avLst/>
          </a:prstGeom>
          <a:solidFill>
            <a:srgbClr val="5A6699"/>
          </a:solidFill>
          <a:ln/>
        </p:spPr>
      </p:sp>
      <p:sp>
        <p:nvSpPr>
          <p:cNvPr id="31" name="V11"/>
          <p:cNvSpPr/>
          <p:nvPr/>
        </p:nvSpPr>
        <p:spPr>
          <a:xfrm>
            <a:off x="3033636" y="4401796"/>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3</a:t>
            </a:r>
          </a:p>
        </p:txBody>
      </p:sp>
      <p:sp>
        <p:nvSpPr>
          <p:cNvPr id="32" name="B12"/>
          <p:cNvSpPr/>
          <p:nvPr/>
        </p:nvSpPr>
        <p:spPr>
          <a:xfrm>
            <a:off x="3420999" y="4579936"/>
            <a:ext cx="209055" cy="64302"/>
          </a:xfrm>
          <a:prstGeom prst="rect">
            <a:avLst/>
          </a:prstGeom>
          <a:solidFill>
            <a:srgbClr val="5A6699"/>
          </a:solidFill>
          <a:ln/>
        </p:spPr>
      </p:sp>
      <p:sp>
        <p:nvSpPr>
          <p:cNvPr id="33" name="V12"/>
          <p:cNvSpPr/>
          <p:nvPr/>
        </p:nvSpPr>
        <p:spPr>
          <a:xfrm>
            <a:off x="3274695" y="4365052"/>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7</a:t>
            </a:r>
          </a:p>
        </p:txBody>
      </p:sp>
      <p:sp>
        <p:nvSpPr>
          <p:cNvPr id="34" name="B13"/>
          <p:cNvSpPr/>
          <p:nvPr/>
        </p:nvSpPr>
        <p:spPr>
          <a:xfrm>
            <a:off x="3662058" y="4607494"/>
            <a:ext cx="209055" cy="36744"/>
          </a:xfrm>
          <a:prstGeom prst="rect">
            <a:avLst/>
          </a:prstGeom>
          <a:solidFill>
            <a:srgbClr val="5A6699"/>
          </a:solidFill>
          <a:ln/>
        </p:spPr>
      </p:sp>
      <p:sp>
        <p:nvSpPr>
          <p:cNvPr id="35" name="V13"/>
          <p:cNvSpPr/>
          <p:nvPr/>
        </p:nvSpPr>
        <p:spPr>
          <a:xfrm>
            <a:off x="3515754" y="4392610"/>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4</a:t>
            </a:r>
          </a:p>
        </p:txBody>
      </p:sp>
      <p:sp>
        <p:nvSpPr>
          <p:cNvPr id="36" name="B14"/>
          <p:cNvSpPr/>
          <p:nvPr/>
        </p:nvSpPr>
        <p:spPr>
          <a:xfrm>
            <a:off x="3903116" y="4405402"/>
            <a:ext cx="209055" cy="238836"/>
          </a:xfrm>
          <a:prstGeom prst="rect">
            <a:avLst/>
          </a:prstGeom>
          <a:solidFill>
            <a:srgbClr val="C2A648"/>
          </a:solidFill>
          <a:ln/>
        </p:spPr>
      </p:sp>
      <p:sp>
        <p:nvSpPr>
          <p:cNvPr id="37" name="V14"/>
          <p:cNvSpPr/>
          <p:nvPr/>
        </p:nvSpPr>
        <p:spPr>
          <a:xfrm>
            <a:off x="3756812" y="4190518"/>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26</a:t>
            </a:r>
          </a:p>
        </p:txBody>
      </p:sp>
      <p:sp>
        <p:nvSpPr>
          <p:cNvPr id="38" name="Y14"/>
          <p:cNvSpPr/>
          <p:nvPr/>
        </p:nvSpPr>
        <p:spPr>
          <a:xfrm>
            <a:off x="3701948" y="4680814"/>
            <a:ext cx="611391" cy="182880"/>
          </a:xfrm>
          <a:prstGeom prst="rect">
            <a:avLst/>
          </a:prstGeom>
          <a:noFill/>
          <a:ln/>
        </p:spPr>
        <p:txBody>
          <a:bodyPr wrap="square" lIns="0" tIns="0" rIns="0" bIns="0" rtlCol="0" anchor="t"/>
          <a:lstStyle/>
          <a:p>
            <a:pPr marL="0" indent="0" algn="ctr">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2022</a:t>
            </a:r>
          </a:p>
        </p:txBody>
      </p:sp>
      <p:sp>
        <p:nvSpPr>
          <p:cNvPr id="39" name="B15"/>
          <p:cNvSpPr/>
          <p:nvPr/>
        </p:nvSpPr>
        <p:spPr>
          <a:xfrm>
            <a:off x="4144175" y="3404129"/>
            <a:ext cx="209055" cy="1240108"/>
          </a:xfrm>
          <a:prstGeom prst="rect">
            <a:avLst/>
          </a:prstGeom>
          <a:solidFill>
            <a:srgbClr val="5A6699"/>
          </a:solidFill>
          <a:ln/>
        </p:spPr>
      </p:sp>
      <p:sp>
        <p:nvSpPr>
          <p:cNvPr id="40" name="V15"/>
          <p:cNvSpPr/>
          <p:nvPr/>
        </p:nvSpPr>
        <p:spPr>
          <a:xfrm>
            <a:off x="3997871" y="3189245"/>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135</a:t>
            </a:r>
          </a:p>
        </p:txBody>
      </p:sp>
      <p:sp>
        <p:nvSpPr>
          <p:cNvPr id="41" name="B16"/>
          <p:cNvSpPr/>
          <p:nvPr/>
        </p:nvSpPr>
        <p:spPr>
          <a:xfrm>
            <a:off x="4385234" y="4341100"/>
            <a:ext cx="209055" cy="303138"/>
          </a:xfrm>
          <a:prstGeom prst="rect">
            <a:avLst/>
          </a:prstGeom>
          <a:solidFill>
            <a:srgbClr val="5A6699"/>
          </a:solidFill>
          <a:ln/>
        </p:spPr>
      </p:sp>
      <p:sp>
        <p:nvSpPr>
          <p:cNvPr id="42" name="V16"/>
          <p:cNvSpPr/>
          <p:nvPr/>
        </p:nvSpPr>
        <p:spPr>
          <a:xfrm>
            <a:off x="4238930" y="4126216"/>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33</a:t>
            </a:r>
          </a:p>
        </p:txBody>
      </p:sp>
      <p:sp>
        <p:nvSpPr>
          <p:cNvPr id="43" name="B17"/>
          <p:cNvSpPr/>
          <p:nvPr/>
        </p:nvSpPr>
        <p:spPr>
          <a:xfrm>
            <a:off x="4626292" y="4368658"/>
            <a:ext cx="209055" cy="275580"/>
          </a:xfrm>
          <a:prstGeom prst="rect">
            <a:avLst/>
          </a:prstGeom>
          <a:solidFill>
            <a:schemeClr val="accent2">
              <a:lumMod val="75000"/>
            </a:schemeClr>
          </a:solidFill>
          <a:ln/>
        </p:spPr>
      </p:sp>
      <p:sp>
        <p:nvSpPr>
          <p:cNvPr id="44" name="V17"/>
          <p:cNvSpPr/>
          <p:nvPr/>
        </p:nvSpPr>
        <p:spPr>
          <a:xfrm>
            <a:off x="4479988" y="4153774"/>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30</a:t>
            </a:r>
          </a:p>
        </p:txBody>
      </p:sp>
      <p:sp>
        <p:nvSpPr>
          <p:cNvPr id="45" name="Y17"/>
          <p:cNvSpPr/>
          <p:nvPr/>
        </p:nvSpPr>
        <p:spPr>
          <a:xfrm>
            <a:off x="4425124" y="4680814"/>
            <a:ext cx="611391" cy="182880"/>
          </a:xfrm>
          <a:prstGeom prst="rect">
            <a:avLst/>
          </a:prstGeom>
          <a:noFill/>
          <a:ln/>
        </p:spPr>
        <p:txBody>
          <a:bodyPr wrap="square" lIns="0" tIns="0" rIns="0" bIns="0" rtlCol="0" anchor="t"/>
          <a:lstStyle/>
          <a:p>
            <a:pPr marL="0" indent="0" algn="ctr">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2025</a:t>
            </a:r>
          </a:p>
        </p:txBody>
      </p:sp>
      <p:sp>
        <p:nvSpPr>
          <p:cNvPr id="46" name="AX1"/>
          <p:cNvSpPr/>
          <p:nvPr/>
        </p:nvSpPr>
        <p:spPr>
          <a:xfrm>
            <a:off x="2938882" y="4644238"/>
            <a:ext cx="1896466" cy="0"/>
          </a:xfrm>
          <a:prstGeom prst="line">
            <a:avLst/>
          </a:prstGeom>
          <a:ln w="9525">
            <a:solidFill>
              <a:srgbClr val="DCE0E8"/>
            </a:solidFill>
          </a:ln>
        </p:spPr>
        <p:txBody>
          <a:bodyPr/>
          <a:lstStyle/>
          <a:p>
            <a:endParaRPr lang="ko-KR"/>
          </a:p>
        </p:txBody>
      </p:sp>
      <p:sp>
        <p:nvSpPr>
          <p:cNvPr id="47" name="AL1"/>
          <p:cNvSpPr/>
          <p:nvPr/>
        </p:nvSpPr>
        <p:spPr>
          <a:xfrm>
            <a:off x="2938882" y="4918558"/>
            <a:ext cx="1896466" cy="274320"/>
          </a:xfrm>
          <a:prstGeom prst="rect">
            <a:avLst/>
          </a:prstGeom>
          <a:noFill/>
          <a:ln/>
        </p:spPr>
        <p:txBody>
          <a:bodyPr wrap="square" lIns="0" tIns="0" rIns="0" bIns="0" rtlCol="0" anchor="t"/>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15세</a:t>
            </a:r>
          </a:p>
        </p:txBody>
      </p:sp>
      <p:sp>
        <p:nvSpPr>
          <p:cNvPr id="48" name="B20"/>
          <p:cNvSpPr/>
          <p:nvPr/>
        </p:nvSpPr>
        <p:spPr>
          <a:xfrm>
            <a:off x="5146243" y="4589122"/>
            <a:ext cx="209055" cy="55116"/>
          </a:xfrm>
          <a:prstGeom prst="rect">
            <a:avLst/>
          </a:prstGeom>
          <a:solidFill>
            <a:srgbClr val="5A6699"/>
          </a:solidFill>
          <a:ln/>
        </p:spPr>
      </p:sp>
      <p:sp>
        <p:nvSpPr>
          <p:cNvPr id="49" name="V20"/>
          <p:cNvSpPr/>
          <p:nvPr/>
        </p:nvSpPr>
        <p:spPr>
          <a:xfrm>
            <a:off x="4999939" y="4374238"/>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6</a:t>
            </a:r>
          </a:p>
        </p:txBody>
      </p:sp>
      <p:sp>
        <p:nvSpPr>
          <p:cNvPr id="50" name="B21"/>
          <p:cNvSpPr/>
          <p:nvPr/>
        </p:nvSpPr>
        <p:spPr>
          <a:xfrm>
            <a:off x="5387302" y="4589122"/>
            <a:ext cx="209055" cy="55116"/>
          </a:xfrm>
          <a:prstGeom prst="rect">
            <a:avLst/>
          </a:prstGeom>
          <a:solidFill>
            <a:srgbClr val="5A6699"/>
          </a:solidFill>
          <a:ln/>
        </p:spPr>
      </p:sp>
      <p:sp>
        <p:nvSpPr>
          <p:cNvPr id="51" name="V21"/>
          <p:cNvSpPr/>
          <p:nvPr/>
        </p:nvSpPr>
        <p:spPr>
          <a:xfrm>
            <a:off x="5240998" y="4374238"/>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6</a:t>
            </a:r>
          </a:p>
        </p:txBody>
      </p:sp>
      <p:sp>
        <p:nvSpPr>
          <p:cNvPr id="52" name="B22"/>
          <p:cNvSpPr/>
          <p:nvPr/>
        </p:nvSpPr>
        <p:spPr>
          <a:xfrm>
            <a:off x="5628361" y="4423774"/>
            <a:ext cx="209055" cy="220464"/>
          </a:xfrm>
          <a:prstGeom prst="rect">
            <a:avLst/>
          </a:prstGeom>
          <a:solidFill>
            <a:srgbClr val="5A6699"/>
          </a:solidFill>
          <a:ln/>
        </p:spPr>
      </p:sp>
      <p:sp>
        <p:nvSpPr>
          <p:cNvPr id="53" name="V22"/>
          <p:cNvSpPr/>
          <p:nvPr/>
        </p:nvSpPr>
        <p:spPr>
          <a:xfrm>
            <a:off x="5482057" y="4208890"/>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24</a:t>
            </a:r>
          </a:p>
        </p:txBody>
      </p:sp>
      <p:sp>
        <p:nvSpPr>
          <p:cNvPr id="54" name="B23"/>
          <p:cNvSpPr/>
          <p:nvPr/>
        </p:nvSpPr>
        <p:spPr>
          <a:xfrm>
            <a:off x="5869419" y="4442146"/>
            <a:ext cx="209055" cy="202092"/>
          </a:xfrm>
          <a:prstGeom prst="rect">
            <a:avLst/>
          </a:prstGeom>
          <a:solidFill>
            <a:srgbClr val="5A6699"/>
          </a:solidFill>
          <a:ln/>
        </p:spPr>
      </p:sp>
      <p:sp>
        <p:nvSpPr>
          <p:cNvPr id="55" name="V23"/>
          <p:cNvSpPr/>
          <p:nvPr/>
        </p:nvSpPr>
        <p:spPr>
          <a:xfrm>
            <a:off x="5723115" y="4227262"/>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22</a:t>
            </a:r>
          </a:p>
        </p:txBody>
      </p:sp>
      <p:sp>
        <p:nvSpPr>
          <p:cNvPr id="56" name="B24"/>
          <p:cNvSpPr/>
          <p:nvPr/>
        </p:nvSpPr>
        <p:spPr>
          <a:xfrm>
            <a:off x="6110478" y="4322728"/>
            <a:ext cx="209055" cy="321510"/>
          </a:xfrm>
          <a:prstGeom prst="rect">
            <a:avLst/>
          </a:prstGeom>
          <a:solidFill>
            <a:srgbClr val="C2A648"/>
          </a:solidFill>
          <a:ln/>
        </p:spPr>
      </p:sp>
      <p:sp>
        <p:nvSpPr>
          <p:cNvPr id="57" name="V24"/>
          <p:cNvSpPr/>
          <p:nvPr/>
        </p:nvSpPr>
        <p:spPr>
          <a:xfrm>
            <a:off x="5964174" y="4107844"/>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35</a:t>
            </a:r>
          </a:p>
        </p:txBody>
      </p:sp>
      <p:sp>
        <p:nvSpPr>
          <p:cNvPr id="58" name="Y24"/>
          <p:cNvSpPr/>
          <p:nvPr/>
        </p:nvSpPr>
        <p:spPr>
          <a:xfrm>
            <a:off x="5909310" y="4680814"/>
            <a:ext cx="611391" cy="182880"/>
          </a:xfrm>
          <a:prstGeom prst="rect">
            <a:avLst/>
          </a:prstGeom>
          <a:noFill/>
          <a:ln/>
        </p:spPr>
        <p:txBody>
          <a:bodyPr wrap="square" lIns="0" tIns="0" rIns="0" bIns="0" rtlCol="0" anchor="t"/>
          <a:lstStyle/>
          <a:p>
            <a:pPr marL="0" indent="0" algn="ctr">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2022</a:t>
            </a:r>
          </a:p>
        </p:txBody>
      </p:sp>
      <p:sp>
        <p:nvSpPr>
          <p:cNvPr id="59" name="B25"/>
          <p:cNvSpPr/>
          <p:nvPr/>
        </p:nvSpPr>
        <p:spPr>
          <a:xfrm>
            <a:off x="6351537" y="3128550"/>
            <a:ext cx="209055" cy="1515688"/>
          </a:xfrm>
          <a:prstGeom prst="rect">
            <a:avLst/>
          </a:prstGeom>
          <a:solidFill>
            <a:srgbClr val="5A6699"/>
          </a:solidFill>
          <a:ln/>
        </p:spPr>
      </p:sp>
      <p:sp>
        <p:nvSpPr>
          <p:cNvPr id="60" name="V25"/>
          <p:cNvSpPr/>
          <p:nvPr/>
        </p:nvSpPr>
        <p:spPr>
          <a:xfrm>
            <a:off x="6205233" y="2913666"/>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165</a:t>
            </a:r>
          </a:p>
        </p:txBody>
      </p:sp>
      <p:sp>
        <p:nvSpPr>
          <p:cNvPr id="61" name="B26"/>
          <p:cNvSpPr/>
          <p:nvPr/>
        </p:nvSpPr>
        <p:spPr>
          <a:xfrm>
            <a:off x="6592595" y="4074706"/>
            <a:ext cx="209055" cy="569531"/>
          </a:xfrm>
          <a:prstGeom prst="rect">
            <a:avLst/>
          </a:prstGeom>
          <a:solidFill>
            <a:srgbClr val="5A6699"/>
          </a:solidFill>
          <a:ln/>
        </p:spPr>
      </p:sp>
      <p:sp>
        <p:nvSpPr>
          <p:cNvPr id="62" name="V26"/>
          <p:cNvSpPr/>
          <p:nvPr/>
        </p:nvSpPr>
        <p:spPr>
          <a:xfrm>
            <a:off x="6446291" y="3859822"/>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62</a:t>
            </a:r>
          </a:p>
        </p:txBody>
      </p:sp>
      <p:sp>
        <p:nvSpPr>
          <p:cNvPr id="63" name="B27"/>
          <p:cNvSpPr/>
          <p:nvPr/>
        </p:nvSpPr>
        <p:spPr>
          <a:xfrm>
            <a:off x="6833654" y="3982846"/>
            <a:ext cx="209055" cy="661391"/>
          </a:xfrm>
          <a:prstGeom prst="rect">
            <a:avLst/>
          </a:prstGeom>
          <a:solidFill>
            <a:schemeClr val="accent2">
              <a:lumMod val="75000"/>
            </a:schemeClr>
          </a:solidFill>
          <a:ln/>
        </p:spPr>
      </p:sp>
      <p:sp>
        <p:nvSpPr>
          <p:cNvPr id="64" name="V27"/>
          <p:cNvSpPr/>
          <p:nvPr/>
        </p:nvSpPr>
        <p:spPr>
          <a:xfrm>
            <a:off x="6687350" y="3767962"/>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72</a:t>
            </a:r>
          </a:p>
        </p:txBody>
      </p:sp>
      <p:sp>
        <p:nvSpPr>
          <p:cNvPr id="65" name="Y27"/>
          <p:cNvSpPr/>
          <p:nvPr/>
        </p:nvSpPr>
        <p:spPr>
          <a:xfrm>
            <a:off x="6632486" y="4680814"/>
            <a:ext cx="611391" cy="182880"/>
          </a:xfrm>
          <a:prstGeom prst="rect">
            <a:avLst/>
          </a:prstGeom>
          <a:noFill/>
          <a:ln/>
        </p:spPr>
        <p:txBody>
          <a:bodyPr wrap="square" lIns="0" tIns="0" rIns="0" bIns="0" rtlCol="0" anchor="t"/>
          <a:lstStyle/>
          <a:p>
            <a:pPr marL="0" indent="0" algn="ctr">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2025</a:t>
            </a:r>
          </a:p>
        </p:txBody>
      </p:sp>
      <p:sp>
        <p:nvSpPr>
          <p:cNvPr id="66" name="AX2"/>
          <p:cNvSpPr/>
          <p:nvPr/>
        </p:nvSpPr>
        <p:spPr>
          <a:xfrm>
            <a:off x="5146243" y="4644238"/>
            <a:ext cx="1896466" cy="0"/>
          </a:xfrm>
          <a:prstGeom prst="line">
            <a:avLst/>
          </a:prstGeom>
          <a:ln w="9525">
            <a:solidFill>
              <a:srgbClr val="DCE0E8"/>
            </a:solidFill>
          </a:ln>
        </p:spPr>
        <p:txBody>
          <a:bodyPr/>
          <a:lstStyle/>
          <a:p>
            <a:endParaRPr lang="ko-KR"/>
          </a:p>
        </p:txBody>
      </p:sp>
      <p:sp>
        <p:nvSpPr>
          <p:cNvPr id="67" name="AL2"/>
          <p:cNvSpPr/>
          <p:nvPr/>
        </p:nvSpPr>
        <p:spPr>
          <a:xfrm>
            <a:off x="5146243" y="4918558"/>
            <a:ext cx="1896466" cy="274320"/>
          </a:xfrm>
          <a:prstGeom prst="rect">
            <a:avLst/>
          </a:prstGeom>
          <a:noFill/>
          <a:ln/>
        </p:spPr>
        <p:txBody>
          <a:bodyPr wrap="square" lIns="0" tIns="0" rIns="0" bIns="0" rtlCol="0" anchor="t"/>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16세</a:t>
            </a:r>
          </a:p>
        </p:txBody>
      </p:sp>
      <p:sp>
        <p:nvSpPr>
          <p:cNvPr id="68" name="B30"/>
          <p:cNvSpPr/>
          <p:nvPr/>
        </p:nvSpPr>
        <p:spPr>
          <a:xfrm>
            <a:off x="7353605" y="4469704"/>
            <a:ext cx="209055" cy="174534"/>
          </a:xfrm>
          <a:prstGeom prst="rect">
            <a:avLst/>
          </a:prstGeom>
          <a:solidFill>
            <a:srgbClr val="5A6699"/>
          </a:solidFill>
          <a:ln/>
        </p:spPr>
      </p:sp>
      <p:sp>
        <p:nvSpPr>
          <p:cNvPr id="69" name="V30"/>
          <p:cNvSpPr/>
          <p:nvPr/>
        </p:nvSpPr>
        <p:spPr>
          <a:xfrm>
            <a:off x="7207301" y="4254820"/>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19</a:t>
            </a:r>
          </a:p>
        </p:txBody>
      </p:sp>
      <p:sp>
        <p:nvSpPr>
          <p:cNvPr id="70" name="B31"/>
          <p:cNvSpPr/>
          <p:nvPr/>
        </p:nvSpPr>
        <p:spPr>
          <a:xfrm>
            <a:off x="7594664" y="4488076"/>
            <a:ext cx="209055" cy="156162"/>
          </a:xfrm>
          <a:prstGeom prst="rect">
            <a:avLst/>
          </a:prstGeom>
          <a:solidFill>
            <a:srgbClr val="5A6699"/>
          </a:solidFill>
          <a:ln/>
        </p:spPr>
      </p:sp>
      <p:sp>
        <p:nvSpPr>
          <p:cNvPr id="71" name="V31"/>
          <p:cNvSpPr/>
          <p:nvPr/>
        </p:nvSpPr>
        <p:spPr>
          <a:xfrm>
            <a:off x="7448360" y="4273192"/>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17</a:t>
            </a:r>
          </a:p>
        </p:txBody>
      </p:sp>
      <p:sp>
        <p:nvSpPr>
          <p:cNvPr id="72" name="B32"/>
          <p:cNvSpPr/>
          <p:nvPr/>
        </p:nvSpPr>
        <p:spPr>
          <a:xfrm>
            <a:off x="7835722" y="4341100"/>
            <a:ext cx="209055" cy="303138"/>
          </a:xfrm>
          <a:prstGeom prst="rect">
            <a:avLst/>
          </a:prstGeom>
          <a:solidFill>
            <a:srgbClr val="5A6699"/>
          </a:solidFill>
          <a:ln/>
        </p:spPr>
      </p:sp>
      <p:sp>
        <p:nvSpPr>
          <p:cNvPr id="73" name="V32"/>
          <p:cNvSpPr/>
          <p:nvPr/>
        </p:nvSpPr>
        <p:spPr>
          <a:xfrm>
            <a:off x="7689418" y="4126216"/>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33</a:t>
            </a:r>
          </a:p>
        </p:txBody>
      </p:sp>
      <p:sp>
        <p:nvSpPr>
          <p:cNvPr id="74" name="B33"/>
          <p:cNvSpPr/>
          <p:nvPr/>
        </p:nvSpPr>
        <p:spPr>
          <a:xfrm>
            <a:off x="8076781" y="4083892"/>
            <a:ext cx="209055" cy="560345"/>
          </a:xfrm>
          <a:prstGeom prst="rect">
            <a:avLst/>
          </a:prstGeom>
          <a:solidFill>
            <a:srgbClr val="5A6699"/>
          </a:solidFill>
          <a:ln/>
        </p:spPr>
      </p:sp>
      <p:sp>
        <p:nvSpPr>
          <p:cNvPr id="75" name="V33"/>
          <p:cNvSpPr/>
          <p:nvPr/>
        </p:nvSpPr>
        <p:spPr>
          <a:xfrm>
            <a:off x="7930477" y="3869008"/>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61</a:t>
            </a:r>
          </a:p>
        </p:txBody>
      </p:sp>
      <p:sp>
        <p:nvSpPr>
          <p:cNvPr id="76" name="B34"/>
          <p:cNvSpPr/>
          <p:nvPr/>
        </p:nvSpPr>
        <p:spPr>
          <a:xfrm>
            <a:off x="8317840" y="4258426"/>
            <a:ext cx="209055" cy="385811"/>
          </a:xfrm>
          <a:prstGeom prst="rect">
            <a:avLst/>
          </a:prstGeom>
          <a:solidFill>
            <a:srgbClr val="C2A648"/>
          </a:solidFill>
          <a:ln/>
        </p:spPr>
      </p:sp>
      <p:sp>
        <p:nvSpPr>
          <p:cNvPr id="77" name="V34"/>
          <p:cNvSpPr/>
          <p:nvPr/>
        </p:nvSpPr>
        <p:spPr>
          <a:xfrm>
            <a:off x="8171536" y="4043542"/>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42</a:t>
            </a:r>
          </a:p>
        </p:txBody>
      </p:sp>
      <p:sp>
        <p:nvSpPr>
          <p:cNvPr id="78" name="Y34"/>
          <p:cNvSpPr/>
          <p:nvPr/>
        </p:nvSpPr>
        <p:spPr>
          <a:xfrm>
            <a:off x="8116672" y="4680814"/>
            <a:ext cx="611391" cy="182880"/>
          </a:xfrm>
          <a:prstGeom prst="rect">
            <a:avLst/>
          </a:prstGeom>
          <a:noFill/>
          <a:ln/>
        </p:spPr>
        <p:txBody>
          <a:bodyPr wrap="square" lIns="0" tIns="0" rIns="0" bIns="0" rtlCol="0" anchor="t"/>
          <a:lstStyle/>
          <a:p>
            <a:pPr marL="0" indent="0" algn="ctr">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2022</a:t>
            </a:r>
          </a:p>
        </p:txBody>
      </p:sp>
      <p:sp>
        <p:nvSpPr>
          <p:cNvPr id="79" name="B35"/>
          <p:cNvSpPr/>
          <p:nvPr/>
        </p:nvSpPr>
        <p:spPr>
          <a:xfrm>
            <a:off x="8558898" y="3165294"/>
            <a:ext cx="209055" cy="1478944"/>
          </a:xfrm>
          <a:prstGeom prst="rect">
            <a:avLst/>
          </a:prstGeom>
          <a:solidFill>
            <a:srgbClr val="5A6699"/>
          </a:solidFill>
          <a:ln/>
        </p:spPr>
      </p:sp>
      <p:sp>
        <p:nvSpPr>
          <p:cNvPr id="80" name="V35"/>
          <p:cNvSpPr/>
          <p:nvPr/>
        </p:nvSpPr>
        <p:spPr>
          <a:xfrm>
            <a:off x="8412594" y="2950410"/>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161</a:t>
            </a:r>
          </a:p>
        </p:txBody>
      </p:sp>
      <p:sp>
        <p:nvSpPr>
          <p:cNvPr id="81" name="B36"/>
          <p:cNvSpPr/>
          <p:nvPr/>
        </p:nvSpPr>
        <p:spPr>
          <a:xfrm>
            <a:off x="8799957" y="4019590"/>
            <a:ext cx="209055" cy="624647"/>
          </a:xfrm>
          <a:prstGeom prst="rect">
            <a:avLst/>
          </a:prstGeom>
          <a:solidFill>
            <a:srgbClr val="5A6699"/>
          </a:solidFill>
          <a:ln/>
        </p:spPr>
      </p:sp>
      <p:sp>
        <p:nvSpPr>
          <p:cNvPr id="82" name="V36"/>
          <p:cNvSpPr/>
          <p:nvPr/>
        </p:nvSpPr>
        <p:spPr>
          <a:xfrm>
            <a:off x="8653653" y="3804706"/>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68</a:t>
            </a:r>
          </a:p>
        </p:txBody>
      </p:sp>
      <p:sp>
        <p:nvSpPr>
          <p:cNvPr id="83" name="B37"/>
          <p:cNvSpPr/>
          <p:nvPr/>
        </p:nvSpPr>
        <p:spPr>
          <a:xfrm>
            <a:off x="9041016" y="3642965"/>
            <a:ext cx="209055" cy="1001273"/>
          </a:xfrm>
          <a:prstGeom prst="rect">
            <a:avLst/>
          </a:prstGeom>
          <a:solidFill>
            <a:schemeClr val="accent2">
              <a:lumMod val="75000"/>
            </a:schemeClr>
          </a:solidFill>
          <a:ln/>
        </p:spPr>
      </p:sp>
      <p:sp>
        <p:nvSpPr>
          <p:cNvPr id="84" name="V37"/>
          <p:cNvSpPr/>
          <p:nvPr/>
        </p:nvSpPr>
        <p:spPr>
          <a:xfrm>
            <a:off x="8894712" y="3428081"/>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109</a:t>
            </a:r>
          </a:p>
        </p:txBody>
      </p:sp>
      <p:sp>
        <p:nvSpPr>
          <p:cNvPr id="85" name="Y37"/>
          <p:cNvSpPr/>
          <p:nvPr/>
        </p:nvSpPr>
        <p:spPr>
          <a:xfrm>
            <a:off x="8839848" y="4680814"/>
            <a:ext cx="611391" cy="182880"/>
          </a:xfrm>
          <a:prstGeom prst="rect">
            <a:avLst/>
          </a:prstGeom>
          <a:noFill/>
          <a:ln/>
        </p:spPr>
        <p:txBody>
          <a:bodyPr wrap="square" lIns="0" tIns="0" rIns="0" bIns="0" rtlCol="0" anchor="t"/>
          <a:lstStyle/>
          <a:p>
            <a:pPr marL="0" indent="0" algn="ctr">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2025</a:t>
            </a:r>
          </a:p>
        </p:txBody>
      </p:sp>
      <p:sp>
        <p:nvSpPr>
          <p:cNvPr id="86" name="AX3"/>
          <p:cNvSpPr/>
          <p:nvPr/>
        </p:nvSpPr>
        <p:spPr>
          <a:xfrm>
            <a:off x="7353605" y="4644238"/>
            <a:ext cx="1896466" cy="0"/>
          </a:xfrm>
          <a:prstGeom prst="line">
            <a:avLst/>
          </a:prstGeom>
          <a:ln w="9525">
            <a:solidFill>
              <a:srgbClr val="DCE0E8"/>
            </a:solidFill>
          </a:ln>
        </p:spPr>
        <p:txBody>
          <a:bodyPr/>
          <a:lstStyle/>
          <a:p>
            <a:endParaRPr lang="ko-KR"/>
          </a:p>
        </p:txBody>
      </p:sp>
      <p:sp>
        <p:nvSpPr>
          <p:cNvPr id="87" name="AL3"/>
          <p:cNvSpPr/>
          <p:nvPr/>
        </p:nvSpPr>
        <p:spPr>
          <a:xfrm>
            <a:off x="7353605" y="4918558"/>
            <a:ext cx="1896466" cy="274320"/>
          </a:xfrm>
          <a:prstGeom prst="rect">
            <a:avLst/>
          </a:prstGeom>
          <a:noFill/>
          <a:ln/>
        </p:spPr>
        <p:txBody>
          <a:bodyPr wrap="square" lIns="0" tIns="0" rIns="0" bIns="0" rtlCol="0" anchor="t"/>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17세</a:t>
            </a:r>
          </a:p>
        </p:txBody>
      </p:sp>
      <p:sp>
        <p:nvSpPr>
          <p:cNvPr id="88" name="B40"/>
          <p:cNvSpPr/>
          <p:nvPr/>
        </p:nvSpPr>
        <p:spPr>
          <a:xfrm>
            <a:off x="9560966" y="4396216"/>
            <a:ext cx="209055" cy="248022"/>
          </a:xfrm>
          <a:prstGeom prst="rect">
            <a:avLst/>
          </a:prstGeom>
          <a:solidFill>
            <a:srgbClr val="5A6699"/>
          </a:solidFill>
          <a:ln/>
        </p:spPr>
      </p:sp>
      <p:sp>
        <p:nvSpPr>
          <p:cNvPr id="89" name="V40"/>
          <p:cNvSpPr/>
          <p:nvPr/>
        </p:nvSpPr>
        <p:spPr>
          <a:xfrm>
            <a:off x="9414662" y="4181332"/>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27</a:t>
            </a:r>
          </a:p>
        </p:txBody>
      </p:sp>
      <p:sp>
        <p:nvSpPr>
          <p:cNvPr id="90" name="B41"/>
          <p:cNvSpPr/>
          <p:nvPr/>
        </p:nvSpPr>
        <p:spPr>
          <a:xfrm>
            <a:off x="9802025" y="4258426"/>
            <a:ext cx="209055" cy="385811"/>
          </a:xfrm>
          <a:prstGeom prst="rect">
            <a:avLst/>
          </a:prstGeom>
          <a:solidFill>
            <a:srgbClr val="5A6699"/>
          </a:solidFill>
          <a:ln/>
        </p:spPr>
      </p:sp>
      <p:sp>
        <p:nvSpPr>
          <p:cNvPr id="91" name="V41"/>
          <p:cNvSpPr/>
          <p:nvPr/>
        </p:nvSpPr>
        <p:spPr>
          <a:xfrm>
            <a:off x="9655721" y="4043542"/>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42</a:t>
            </a:r>
          </a:p>
        </p:txBody>
      </p:sp>
      <p:sp>
        <p:nvSpPr>
          <p:cNvPr id="92" name="B42"/>
          <p:cNvSpPr/>
          <p:nvPr/>
        </p:nvSpPr>
        <p:spPr>
          <a:xfrm>
            <a:off x="10043084" y="4037962"/>
            <a:ext cx="209055" cy="606275"/>
          </a:xfrm>
          <a:prstGeom prst="rect">
            <a:avLst/>
          </a:prstGeom>
          <a:solidFill>
            <a:srgbClr val="5A6699"/>
          </a:solidFill>
          <a:ln/>
        </p:spPr>
      </p:sp>
      <p:sp>
        <p:nvSpPr>
          <p:cNvPr id="93" name="V42"/>
          <p:cNvSpPr/>
          <p:nvPr/>
        </p:nvSpPr>
        <p:spPr>
          <a:xfrm>
            <a:off x="9896780" y="3823078"/>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66</a:t>
            </a:r>
          </a:p>
        </p:txBody>
      </p:sp>
      <p:sp>
        <p:nvSpPr>
          <p:cNvPr id="94" name="B43"/>
          <p:cNvSpPr/>
          <p:nvPr/>
        </p:nvSpPr>
        <p:spPr>
          <a:xfrm>
            <a:off x="10284143" y="3835871"/>
            <a:ext cx="209055" cy="808367"/>
          </a:xfrm>
          <a:prstGeom prst="rect">
            <a:avLst/>
          </a:prstGeom>
          <a:solidFill>
            <a:srgbClr val="5A6699"/>
          </a:solidFill>
          <a:ln/>
        </p:spPr>
      </p:sp>
      <p:sp>
        <p:nvSpPr>
          <p:cNvPr id="95" name="V43"/>
          <p:cNvSpPr/>
          <p:nvPr/>
        </p:nvSpPr>
        <p:spPr>
          <a:xfrm>
            <a:off x="10137838" y="3620987"/>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88</a:t>
            </a:r>
          </a:p>
        </p:txBody>
      </p:sp>
      <p:sp>
        <p:nvSpPr>
          <p:cNvPr id="96" name="B44"/>
          <p:cNvSpPr/>
          <p:nvPr/>
        </p:nvSpPr>
        <p:spPr>
          <a:xfrm>
            <a:off x="10525201" y="3982846"/>
            <a:ext cx="209055" cy="661391"/>
          </a:xfrm>
          <a:prstGeom prst="rect">
            <a:avLst/>
          </a:prstGeom>
          <a:solidFill>
            <a:srgbClr val="C2A648"/>
          </a:solidFill>
          <a:ln/>
        </p:spPr>
      </p:sp>
      <p:sp>
        <p:nvSpPr>
          <p:cNvPr id="97" name="V44"/>
          <p:cNvSpPr/>
          <p:nvPr/>
        </p:nvSpPr>
        <p:spPr>
          <a:xfrm>
            <a:off x="10378897" y="3767962"/>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72</a:t>
            </a:r>
          </a:p>
        </p:txBody>
      </p:sp>
      <p:sp>
        <p:nvSpPr>
          <p:cNvPr id="98" name="Y44"/>
          <p:cNvSpPr/>
          <p:nvPr/>
        </p:nvSpPr>
        <p:spPr>
          <a:xfrm>
            <a:off x="10324033" y="4680814"/>
            <a:ext cx="611391" cy="182880"/>
          </a:xfrm>
          <a:prstGeom prst="rect">
            <a:avLst/>
          </a:prstGeom>
          <a:noFill/>
          <a:ln/>
        </p:spPr>
        <p:txBody>
          <a:bodyPr wrap="square" lIns="0" tIns="0" rIns="0" bIns="0" rtlCol="0" anchor="t"/>
          <a:lstStyle/>
          <a:p>
            <a:pPr marL="0" indent="0" algn="ctr">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2022</a:t>
            </a:r>
          </a:p>
        </p:txBody>
      </p:sp>
      <p:sp>
        <p:nvSpPr>
          <p:cNvPr id="99" name="B45"/>
          <p:cNvSpPr/>
          <p:nvPr/>
        </p:nvSpPr>
        <p:spPr>
          <a:xfrm>
            <a:off x="10766260" y="2843784"/>
            <a:ext cx="209055" cy="1800454"/>
          </a:xfrm>
          <a:prstGeom prst="rect">
            <a:avLst/>
          </a:prstGeom>
          <a:solidFill>
            <a:srgbClr val="5A6699"/>
          </a:solidFill>
          <a:ln/>
        </p:spPr>
      </p:sp>
      <p:sp>
        <p:nvSpPr>
          <p:cNvPr id="100" name="V45"/>
          <p:cNvSpPr/>
          <p:nvPr/>
        </p:nvSpPr>
        <p:spPr>
          <a:xfrm>
            <a:off x="10619956" y="2628900"/>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196</a:t>
            </a:r>
          </a:p>
        </p:txBody>
      </p:sp>
      <p:sp>
        <p:nvSpPr>
          <p:cNvPr id="101" name="B46"/>
          <p:cNvSpPr/>
          <p:nvPr/>
        </p:nvSpPr>
        <p:spPr>
          <a:xfrm>
            <a:off x="11007319" y="3992032"/>
            <a:ext cx="209055" cy="652205"/>
          </a:xfrm>
          <a:prstGeom prst="rect">
            <a:avLst/>
          </a:prstGeom>
          <a:solidFill>
            <a:srgbClr val="5A6699"/>
          </a:solidFill>
          <a:ln/>
        </p:spPr>
      </p:sp>
      <p:sp>
        <p:nvSpPr>
          <p:cNvPr id="102" name="V46"/>
          <p:cNvSpPr/>
          <p:nvPr/>
        </p:nvSpPr>
        <p:spPr>
          <a:xfrm>
            <a:off x="10861015" y="3777148"/>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71</a:t>
            </a:r>
          </a:p>
        </p:txBody>
      </p:sp>
      <p:sp>
        <p:nvSpPr>
          <p:cNvPr id="103" name="B47"/>
          <p:cNvSpPr/>
          <p:nvPr/>
        </p:nvSpPr>
        <p:spPr>
          <a:xfrm>
            <a:off x="11248377" y="3872615"/>
            <a:ext cx="209055" cy="771623"/>
          </a:xfrm>
          <a:prstGeom prst="rect">
            <a:avLst/>
          </a:prstGeom>
          <a:solidFill>
            <a:schemeClr val="accent2">
              <a:lumMod val="75000"/>
            </a:schemeClr>
          </a:solidFill>
          <a:ln/>
        </p:spPr>
      </p:sp>
      <p:sp>
        <p:nvSpPr>
          <p:cNvPr id="104" name="V47"/>
          <p:cNvSpPr/>
          <p:nvPr/>
        </p:nvSpPr>
        <p:spPr>
          <a:xfrm>
            <a:off x="11102073" y="3657731"/>
            <a:ext cx="501663" cy="201168"/>
          </a:xfrm>
          <a:prstGeom prst="rect">
            <a:avLst/>
          </a:prstGeom>
          <a:noFill/>
          <a:ln/>
        </p:spPr>
        <p:txBody>
          <a:bodyPr wrap="square" lIns="0" tIns="0" rIns="0" bIns="0" rtlCol="0" anchor="b"/>
          <a:lstStyle/>
          <a:p>
            <a:pPr marL="0" indent="0" algn="ct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84</a:t>
            </a:r>
          </a:p>
        </p:txBody>
      </p:sp>
      <p:sp>
        <p:nvSpPr>
          <p:cNvPr id="105" name="Y47"/>
          <p:cNvSpPr/>
          <p:nvPr/>
        </p:nvSpPr>
        <p:spPr>
          <a:xfrm>
            <a:off x="11047209" y="4680814"/>
            <a:ext cx="611391" cy="182880"/>
          </a:xfrm>
          <a:prstGeom prst="rect">
            <a:avLst/>
          </a:prstGeom>
          <a:noFill/>
          <a:ln/>
        </p:spPr>
        <p:txBody>
          <a:bodyPr wrap="square" lIns="0" tIns="0" rIns="0" bIns="0" rtlCol="0" anchor="t"/>
          <a:lstStyle/>
          <a:p>
            <a:pPr marL="0" indent="0" algn="ctr">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2025</a:t>
            </a:r>
          </a:p>
        </p:txBody>
      </p:sp>
      <p:sp>
        <p:nvSpPr>
          <p:cNvPr id="106" name="AX4"/>
          <p:cNvSpPr/>
          <p:nvPr/>
        </p:nvSpPr>
        <p:spPr>
          <a:xfrm>
            <a:off x="9560966" y="4644238"/>
            <a:ext cx="1896466" cy="0"/>
          </a:xfrm>
          <a:prstGeom prst="line">
            <a:avLst/>
          </a:prstGeom>
          <a:ln w="9525">
            <a:solidFill>
              <a:srgbClr val="DCE0E8"/>
            </a:solidFill>
          </a:ln>
        </p:spPr>
        <p:txBody>
          <a:bodyPr/>
          <a:lstStyle/>
          <a:p>
            <a:endParaRPr lang="ko-KR"/>
          </a:p>
        </p:txBody>
      </p:sp>
      <p:sp>
        <p:nvSpPr>
          <p:cNvPr id="107" name="AL4"/>
          <p:cNvSpPr/>
          <p:nvPr/>
        </p:nvSpPr>
        <p:spPr>
          <a:xfrm>
            <a:off x="9560966" y="4918558"/>
            <a:ext cx="1896466" cy="274320"/>
          </a:xfrm>
          <a:prstGeom prst="rect">
            <a:avLst/>
          </a:prstGeom>
          <a:noFill/>
          <a:ln/>
        </p:spPr>
        <p:txBody>
          <a:bodyPr wrap="square" lIns="0" tIns="0" rIns="0" bIns="0" rtlCol="0" anchor="t"/>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18세</a:t>
            </a:r>
          </a:p>
        </p:txBody>
      </p:sp>
      <p:sp>
        <p:nvSpPr>
          <p:cNvPr id="109" name="CLBAND"/>
          <p:cNvSpPr/>
          <p:nvPr/>
        </p:nvSpPr>
        <p:spPr>
          <a:xfrm>
            <a:off x="731520" y="5682996"/>
            <a:ext cx="10725912" cy="508406"/>
          </a:xfrm>
          <a:prstGeom prst="rect">
            <a:avLst/>
          </a:prstGeom>
          <a:solidFill>
            <a:srgbClr val="F2F4F8"/>
          </a:solidFill>
          <a:ln/>
        </p:spPr>
      </p:sp>
      <p:sp>
        <p:nvSpPr>
          <p:cNvPr id="110" name="CLOSE"/>
          <p:cNvSpPr/>
          <p:nvPr/>
        </p:nvSpPr>
        <p:spPr>
          <a:xfrm>
            <a:off x="1024128" y="5701284"/>
            <a:ext cx="10140696" cy="471830"/>
          </a:xfrm>
          <a:prstGeom prst="rect">
            <a:avLst/>
          </a:prstGeom>
          <a:noFill/>
          <a:ln/>
        </p:spPr>
        <p:txBody>
          <a:bodyPr wrap="square" lIns="0" tIns="0" rIns="0" bIns="0" rtlCol="0" anchor="ctr"/>
          <a:lstStyle/>
          <a:p>
            <a:pPr marL="0" indent="0" algn="ctr">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14~15세의 수는 2023년에 크게 늘었다가 이후 2022년 이전 수준에 가까워졌고, 16~17세는 2024·2025년에도 그보다 높은 수준을 유지했다</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청소년 마약류의 실태와 사용 맥락</a:t>
            </a:r>
            <a:endParaRPr lang="en-US" sz="1250" dirty="0"/>
          </a:p>
        </p:txBody>
      </p:sp>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치료 목적 외 의약품 사용 경험</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r>
              <a:rPr lang="ko-KR" altLang="en-US" sz="2700" b="1" dirty="0">
                <a:solidFill>
                  <a:srgbClr val="1E2761"/>
                </a:solidFill>
                <a:latin typeface="Pretendard" pitchFamily="34" charset="0"/>
                <a:ea typeface="Pretendard" pitchFamily="34" charset="-122"/>
                <a:cs typeface="Pretendard" pitchFamily="34" charset="-120"/>
              </a:rPr>
              <a:t>최근 감정자료에서 본 마약류와 </a:t>
            </a:r>
            <a:r>
              <a:rPr lang="en-US" altLang="ko-KR" sz="2700" b="1" dirty="0">
                <a:solidFill>
                  <a:srgbClr val="1E2761"/>
                </a:solidFill>
                <a:latin typeface="Pretendard" pitchFamily="34" charset="0"/>
                <a:ea typeface="Pretendard" pitchFamily="34" charset="-122"/>
                <a:cs typeface="Pretendard" pitchFamily="34" charset="-120"/>
              </a:rPr>
              <a:t>10</a:t>
            </a:r>
            <a:r>
              <a:rPr lang="ko-KR" altLang="en-US" sz="2700" b="1" dirty="0">
                <a:solidFill>
                  <a:srgbClr val="1E2761"/>
                </a:solidFill>
                <a:latin typeface="Pretendard" pitchFamily="34" charset="0"/>
                <a:ea typeface="Pretendard" pitchFamily="34" charset="-122"/>
                <a:cs typeface="Pretendard" pitchFamily="34" charset="-120"/>
              </a:rPr>
              <a:t>대 관련 합성대마</a:t>
            </a:r>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353312"/>
            <a:ext cx="10698480" cy="438912"/>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987552" y="1353312"/>
            <a:ext cx="10186416" cy="438912"/>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2025년 감정자료에서는 합성대마류 등 신종 마약류와 전자담배와 유사한 제품 형태가 확인된다</a:t>
            </a:r>
            <a:endParaRPr lang="en-US" sz="1250" dirty="0"/>
          </a:p>
        </p:txBody>
      </p:sp>
      <p:sp>
        <p:nvSpPr>
          <p:cNvPr id="8" name="Text 6"/>
          <p:cNvSpPr/>
          <p:nvPr/>
        </p:nvSpPr>
        <p:spPr>
          <a:xfrm>
            <a:off x="731520" y="2048256"/>
            <a:ext cx="5166360" cy="292608"/>
          </a:xfrm>
          <a:prstGeom prst="rect">
            <a:avLst/>
          </a:prstGeom>
          <a:noFill/>
          <a:ln/>
        </p:spPr>
        <p:txBody>
          <a:bodyPr wrap="square" lIns="0" tIns="0" rIns="0" bIns="0" rtlCol="0" anchor="ctr"/>
          <a:lstStyle/>
          <a:p>
            <a:pPr marL="0" indent="0">
              <a:buNone/>
            </a:pPr>
            <a:r>
              <a:rPr lang="en-US" sz="1350" b="1" dirty="0">
                <a:solidFill>
                  <a:srgbClr val="1E2761"/>
                </a:solidFill>
                <a:latin typeface="Pretendard" pitchFamily="34" charset="0"/>
                <a:ea typeface="Pretendard" pitchFamily="34" charset="-122"/>
                <a:cs typeface="Pretendard" pitchFamily="34" charset="-120"/>
              </a:rPr>
              <a:t>2025년 압수품에서 확인된 물질 구성</a:t>
            </a:r>
            <a:endParaRPr lang="en-US" sz="1350" dirty="0"/>
          </a:p>
        </p:txBody>
      </p:sp>
      <p:sp>
        <p:nvSpPr>
          <p:cNvPr id="9" name="Text 7"/>
          <p:cNvSpPr/>
          <p:nvPr/>
        </p:nvSpPr>
        <p:spPr>
          <a:xfrm>
            <a:off x="731520" y="2340864"/>
            <a:ext cx="5166360" cy="237744"/>
          </a:xfrm>
          <a:prstGeom prst="rect">
            <a:avLst/>
          </a:prstGeom>
          <a:noFill/>
          <a:ln/>
        </p:spPr>
        <p:txBody>
          <a:bodyPr wrap="square" lIns="0" tIns="0" rIns="0" bIns="0" rtlCol="0" anchor="ctr"/>
          <a:lstStyle/>
          <a:p>
            <a:pPr marL="0" indent="0">
              <a:buNone/>
            </a:pPr>
            <a:r>
              <a:rPr lang="en-US" sz="1050" dirty="0">
                <a:solidFill>
                  <a:srgbClr val="6E7686"/>
                </a:solidFill>
                <a:latin typeface="Pretendard" pitchFamily="34" charset="0"/>
                <a:ea typeface="Pretendard" pitchFamily="34" charset="-122"/>
                <a:cs typeface="Pretendard" pitchFamily="34" charset="-120"/>
              </a:rPr>
              <a:t>전체 연령 압수품 성분 기준</a:t>
            </a:r>
            <a:endParaRPr lang="en-US" sz="1050" dirty="0"/>
          </a:p>
        </p:txBody>
      </p:sp>
      <p:sp>
        <p:nvSpPr>
          <p:cNvPr id="24" name="Text 22"/>
          <p:cNvSpPr/>
          <p:nvPr/>
        </p:nvSpPr>
        <p:spPr>
          <a:xfrm>
            <a:off x="6263640" y="2048256"/>
            <a:ext cx="5166360" cy="292608"/>
          </a:xfrm>
          <a:prstGeom prst="rect">
            <a:avLst/>
          </a:prstGeom>
          <a:noFill/>
          <a:ln/>
        </p:spPr>
        <p:txBody>
          <a:bodyPr wrap="square" lIns="0" tIns="0" rIns="0" bIns="0" rtlCol="0" anchor="ctr"/>
          <a:lstStyle/>
          <a:p>
            <a:pPr marL="0" indent="0">
              <a:buNone/>
            </a:pPr>
            <a:r>
              <a:rPr lang="en-US" sz="1350" b="1" dirty="0">
                <a:solidFill>
                  <a:srgbClr val="1E2761"/>
                </a:solidFill>
                <a:latin typeface="Pretendard" pitchFamily="34" charset="0"/>
                <a:ea typeface="Pretendard" pitchFamily="34" charset="-122"/>
                <a:cs typeface="Pretendard" pitchFamily="34" charset="-120"/>
              </a:rPr>
              <a:t>10대 관련 감정에서 확인된 합성대마</a:t>
            </a:r>
            <a:endParaRPr lang="en-US" sz="1350" dirty="0"/>
          </a:p>
        </p:txBody>
      </p:sp>
      <p:sp>
        <p:nvSpPr>
          <p:cNvPr id="25" name="Text 23"/>
          <p:cNvSpPr/>
          <p:nvPr/>
        </p:nvSpPr>
        <p:spPr>
          <a:xfrm>
            <a:off x="6263640" y="2340864"/>
            <a:ext cx="5166360" cy="237744"/>
          </a:xfrm>
          <a:prstGeom prst="rect">
            <a:avLst/>
          </a:prstGeom>
          <a:noFill/>
          <a:ln/>
        </p:spPr>
        <p:txBody>
          <a:bodyPr wrap="square" lIns="0" tIns="0" rIns="0" bIns="0" rtlCol="0" anchor="ctr"/>
          <a:lstStyle/>
          <a:p>
            <a:pPr marL="0" indent="0">
              <a:buNone/>
            </a:pPr>
            <a:r>
              <a:rPr lang="en-US" sz="1050" dirty="0">
                <a:solidFill>
                  <a:srgbClr val="6E7686"/>
                </a:solidFill>
                <a:latin typeface="Pretendard" pitchFamily="34" charset="0"/>
                <a:ea typeface="Pretendard" pitchFamily="34" charset="-122"/>
                <a:cs typeface="Pretendard" pitchFamily="34" charset="-120"/>
              </a:rPr>
              <a:t>2025년 국과수 감정자료</a:t>
            </a:r>
            <a:endParaRPr lang="en-US" sz="1050" dirty="0"/>
          </a:p>
        </p:txBody>
      </p:sp>
      <p:sp>
        <p:nvSpPr>
          <p:cNvPr id="26" name="Shape 24"/>
          <p:cNvSpPr/>
          <p:nvPr/>
        </p:nvSpPr>
        <p:spPr>
          <a:xfrm>
            <a:off x="6263640" y="2706624"/>
            <a:ext cx="5166360" cy="969264"/>
          </a:xfrm>
          <a:prstGeom prst="rect">
            <a:avLst/>
          </a:prstGeom>
          <a:solidFill>
            <a:srgbClr val="F2F4F8"/>
          </a:solidFill>
          <a:ln w="12700">
            <a:solidFill>
              <a:srgbClr val="F2F4F8"/>
            </a:solidFill>
            <a:prstDash val="solid"/>
          </a:ln>
        </p:spPr>
        <p:txBody>
          <a:bodyPr/>
          <a:lstStyle/>
          <a:p>
            <a:endParaRPr lang="ko-KR" altLang="en-US"/>
          </a:p>
        </p:txBody>
      </p:sp>
      <p:sp>
        <p:nvSpPr>
          <p:cNvPr id="27" name="Text 25"/>
          <p:cNvSpPr/>
          <p:nvPr/>
        </p:nvSpPr>
        <p:spPr>
          <a:xfrm>
            <a:off x="6519672" y="2798064"/>
            <a:ext cx="4654296" cy="402336"/>
          </a:xfrm>
          <a:prstGeom prst="rect">
            <a:avLst/>
          </a:prstGeom>
          <a:noFill/>
          <a:ln/>
        </p:spPr>
        <p:txBody>
          <a:bodyPr wrap="square" lIns="0" tIns="0" rIns="0" bIns="0" rtlCol="0" anchor="ctr"/>
          <a:lstStyle/>
          <a:p>
            <a:pPr marL="0" indent="0">
              <a:buNone/>
            </a:pPr>
            <a:r>
              <a:rPr lang="en-US" sz="1250" dirty="0">
                <a:solidFill>
                  <a:srgbClr val="464D5C"/>
                </a:solidFill>
                <a:latin typeface="Pretendard" pitchFamily="34" charset="0"/>
                <a:ea typeface="Pretendard" pitchFamily="34" charset="-122"/>
                <a:cs typeface="Pretendard" pitchFamily="34" charset="-120"/>
              </a:rPr>
              <a:t>합성대마 </a:t>
            </a:r>
            <a:r>
              <a:rPr lang="en-US" sz="1250" dirty="0" err="1">
                <a:solidFill>
                  <a:srgbClr val="464D5C"/>
                </a:solidFill>
                <a:latin typeface="Pretendard" pitchFamily="34" charset="0"/>
                <a:ea typeface="Pretendard" pitchFamily="34" charset="-122"/>
                <a:cs typeface="Pretendard" pitchFamily="34" charset="-120"/>
              </a:rPr>
              <a:t>관련</a:t>
            </a:r>
            <a:r>
              <a:rPr lang="en-US" sz="1250" dirty="0">
                <a:solidFill>
                  <a:srgbClr val="464D5C"/>
                </a:solidFill>
                <a:latin typeface="Pretendard" pitchFamily="34" charset="0"/>
                <a:ea typeface="Pretendard" pitchFamily="34" charset="-122"/>
                <a:cs typeface="Pretendard" pitchFamily="34" charset="-120"/>
              </a:rPr>
              <a:t> </a:t>
            </a:r>
            <a:r>
              <a:rPr lang="en-US" sz="1250" dirty="0" err="1">
                <a:solidFill>
                  <a:srgbClr val="464D5C"/>
                </a:solidFill>
                <a:latin typeface="Pretendard" pitchFamily="34" charset="0"/>
                <a:ea typeface="Pretendard" pitchFamily="34" charset="-122"/>
                <a:cs typeface="Pretendard" pitchFamily="34" charset="-120"/>
              </a:rPr>
              <a:t>감정</a:t>
            </a:r>
            <a:r>
              <a:rPr lang="en-US" sz="1250" dirty="0">
                <a:solidFill>
                  <a:srgbClr val="464D5C"/>
                </a:solidFill>
                <a:latin typeface="Pretendard" pitchFamily="34" charset="0"/>
                <a:ea typeface="Pretendard" pitchFamily="34" charset="-122"/>
                <a:cs typeface="Pretendard" pitchFamily="34" charset="-120"/>
              </a:rPr>
              <a:t> </a:t>
            </a:r>
            <a:r>
              <a:rPr lang="ko-KR" altLang="en-US" sz="1250" dirty="0">
                <a:solidFill>
                  <a:srgbClr val="464D5C"/>
                </a:solidFill>
                <a:latin typeface="Pretendard" pitchFamily="34" charset="0"/>
                <a:ea typeface="Pretendard" pitchFamily="34" charset="-122"/>
                <a:cs typeface="Pretendard" pitchFamily="34" charset="-120"/>
              </a:rPr>
              <a:t>건수</a:t>
            </a:r>
            <a:r>
              <a:rPr lang="en-US" sz="1250" dirty="0">
                <a:solidFill>
                  <a:srgbClr val="464D5C"/>
                </a:solidFill>
                <a:latin typeface="Pretendard" pitchFamily="34" charset="0"/>
                <a:ea typeface="Pretendard" pitchFamily="34" charset="-122"/>
                <a:cs typeface="Pretendard" pitchFamily="34" charset="-120"/>
              </a:rPr>
              <a:t>   </a:t>
            </a:r>
            <a:r>
              <a:rPr lang="en-US" sz="2200" b="1" dirty="0">
                <a:solidFill>
                  <a:srgbClr val="1E2761"/>
                </a:solidFill>
                <a:latin typeface="Pretendard" pitchFamily="34" charset="0"/>
                <a:ea typeface="Pretendard" pitchFamily="34" charset="-122"/>
                <a:cs typeface="Pretendard" pitchFamily="34" charset="-120"/>
              </a:rPr>
              <a:t>364건</a:t>
            </a:r>
            <a:endParaRPr lang="en-US" sz="1250" dirty="0"/>
          </a:p>
        </p:txBody>
      </p:sp>
      <p:sp>
        <p:nvSpPr>
          <p:cNvPr id="28" name="Text 26"/>
          <p:cNvSpPr/>
          <p:nvPr/>
        </p:nvSpPr>
        <p:spPr>
          <a:xfrm>
            <a:off x="6519672" y="3236976"/>
            <a:ext cx="4654296" cy="274320"/>
          </a:xfrm>
          <a:prstGeom prst="rect">
            <a:avLst/>
          </a:prstGeom>
          <a:noFill/>
          <a:ln/>
        </p:spPr>
        <p:txBody>
          <a:bodyPr wrap="square" lIns="0" tIns="0" rIns="0" bIns="0" rtlCol="0" anchor="ctr"/>
          <a:lstStyle/>
          <a:p>
            <a:pPr marL="0" indent="0">
              <a:buNone/>
            </a:pPr>
            <a:r>
              <a:rPr lang="en-US" sz="1100" dirty="0">
                <a:solidFill>
                  <a:srgbClr val="6E7686"/>
                </a:solidFill>
                <a:latin typeface="Pretendard" pitchFamily="34" charset="0"/>
                <a:ea typeface="Pretendard" pitchFamily="34" charset="-122"/>
                <a:cs typeface="Pretendard" pitchFamily="34" charset="-120"/>
              </a:rPr>
              <a:t>사람 </a:t>
            </a:r>
            <a:r>
              <a:rPr lang="en-US" sz="1100" dirty="0" err="1">
                <a:solidFill>
                  <a:srgbClr val="6E7686"/>
                </a:solidFill>
                <a:latin typeface="Pretendard" pitchFamily="34" charset="0"/>
                <a:ea typeface="Pretendard" pitchFamily="34" charset="-122"/>
                <a:cs typeface="Pretendard" pitchFamily="34" charset="-120"/>
              </a:rPr>
              <a:t>수가</a:t>
            </a:r>
            <a:r>
              <a:rPr lang="en-US" sz="1100" dirty="0">
                <a:solidFill>
                  <a:srgbClr val="6E7686"/>
                </a:solidFill>
                <a:latin typeface="Pretendard" pitchFamily="34" charset="0"/>
                <a:ea typeface="Pretendard" pitchFamily="34" charset="-122"/>
                <a:cs typeface="Pretendard" pitchFamily="34" charset="-120"/>
              </a:rPr>
              <a:t> </a:t>
            </a:r>
            <a:r>
              <a:rPr lang="ko-KR" altLang="en-US" sz="1100" dirty="0">
                <a:solidFill>
                  <a:srgbClr val="6E7686"/>
                </a:solidFill>
                <a:latin typeface="Pretendard" pitchFamily="34" charset="0"/>
                <a:ea typeface="Pretendard" pitchFamily="34" charset="-122"/>
                <a:cs typeface="Pretendard" pitchFamily="34" charset="-120"/>
              </a:rPr>
              <a:t>아닌 </a:t>
            </a:r>
            <a:r>
              <a:rPr lang="en-US" sz="1100" dirty="0" err="1">
                <a:solidFill>
                  <a:srgbClr val="6E7686"/>
                </a:solidFill>
                <a:latin typeface="Pretendard" pitchFamily="34" charset="0"/>
                <a:ea typeface="Pretendard" pitchFamily="34" charset="-122"/>
                <a:cs typeface="Pretendard" pitchFamily="34" charset="-120"/>
              </a:rPr>
              <a:t>감정</a:t>
            </a:r>
            <a:r>
              <a:rPr lang="en-US" sz="1100" dirty="0">
                <a:solidFill>
                  <a:srgbClr val="6E7686"/>
                </a:solidFill>
                <a:latin typeface="Pretendard" pitchFamily="34" charset="0"/>
                <a:ea typeface="Pretendard" pitchFamily="34" charset="-122"/>
                <a:cs typeface="Pretendard" pitchFamily="34" charset="-120"/>
              </a:rPr>
              <a:t> 관련 건수</a:t>
            </a:r>
            <a:endParaRPr lang="en-US" sz="1100" dirty="0"/>
          </a:p>
        </p:txBody>
      </p:sp>
      <p:sp>
        <p:nvSpPr>
          <p:cNvPr id="29" name="Shape 27"/>
          <p:cNvSpPr/>
          <p:nvPr/>
        </p:nvSpPr>
        <p:spPr>
          <a:xfrm>
            <a:off x="6263640" y="3822191"/>
            <a:ext cx="5166360" cy="1549909"/>
          </a:xfrm>
          <a:prstGeom prst="rect">
            <a:avLst/>
          </a:prstGeom>
          <a:solidFill>
            <a:srgbClr val="FFFFFF"/>
          </a:solidFill>
          <a:ln w="12700">
            <a:solidFill>
              <a:srgbClr val="DCE0E8"/>
            </a:solidFill>
            <a:prstDash val="solid"/>
          </a:ln>
        </p:spPr>
        <p:txBody>
          <a:bodyPr/>
          <a:lstStyle/>
          <a:p>
            <a:endParaRPr lang="ko-KR" altLang="en-US" sz="2000"/>
          </a:p>
        </p:txBody>
      </p:sp>
      <p:sp>
        <p:nvSpPr>
          <p:cNvPr id="30" name="Text 28"/>
          <p:cNvSpPr/>
          <p:nvPr/>
        </p:nvSpPr>
        <p:spPr>
          <a:xfrm>
            <a:off x="6519672" y="3950208"/>
            <a:ext cx="4654296" cy="292608"/>
          </a:xfrm>
          <a:prstGeom prst="rect">
            <a:avLst/>
          </a:prstGeom>
          <a:noFill/>
          <a:ln/>
        </p:spPr>
        <p:txBody>
          <a:bodyPr wrap="square" lIns="0" tIns="0" rIns="0" bIns="0" rtlCol="0" anchor="ctr"/>
          <a:lstStyle/>
          <a:p>
            <a:r>
              <a:rPr lang="en-US" sz="1400" b="1" dirty="0" err="1">
                <a:solidFill>
                  <a:srgbClr val="1E2761"/>
                </a:solidFill>
                <a:highlight>
                  <a:srgbClr val="FFFF00"/>
                </a:highlight>
                <a:latin typeface="Pretendard" pitchFamily="34" charset="0"/>
                <a:ea typeface="Pretendard" pitchFamily="34" charset="-122"/>
                <a:cs typeface="Pretendard" pitchFamily="34" charset="-120"/>
              </a:rPr>
              <a:t>전자담배</a:t>
            </a:r>
            <a:r>
              <a:rPr lang="en-US" sz="1400" b="1" dirty="0">
                <a:solidFill>
                  <a:srgbClr val="1E2761"/>
                </a:solidFill>
                <a:highlight>
                  <a:srgbClr val="FFFF00"/>
                </a:highlight>
                <a:latin typeface="Pretendard" pitchFamily="34" charset="0"/>
                <a:ea typeface="Pretendard" pitchFamily="34" charset="-122"/>
                <a:cs typeface="Pretendard" pitchFamily="34" charset="-120"/>
              </a:rPr>
              <a:t>(</a:t>
            </a:r>
            <a:r>
              <a:rPr lang="ko-KR" altLang="en-US" sz="1400" b="1" dirty="0">
                <a:solidFill>
                  <a:srgbClr val="1E2761"/>
                </a:solidFill>
                <a:highlight>
                  <a:srgbClr val="FFFF00"/>
                </a:highlight>
                <a:latin typeface="Pretendard" pitchFamily="34" charset="0"/>
                <a:ea typeface="Pretendard" pitchFamily="34" charset="-122"/>
                <a:cs typeface="Pretendard" pitchFamily="34" charset="-120"/>
              </a:rPr>
              <a:t>액상</a:t>
            </a:r>
            <a:r>
              <a:rPr lang="en-US" altLang="ko-KR" sz="1400" b="1" dirty="0">
                <a:solidFill>
                  <a:srgbClr val="1E2761"/>
                </a:solidFill>
                <a:highlight>
                  <a:srgbClr val="FFFF00"/>
                </a:highlight>
                <a:latin typeface="Pretendard" pitchFamily="34" charset="0"/>
                <a:ea typeface="Pretendard" pitchFamily="34" charset="-122"/>
                <a:cs typeface="Pretendard" pitchFamily="34" charset="-120"/>
              </a:rPr>
              <a:t>·</a:t>
            </a:r>
            <a:r>
              <a:rPr lang="ko-KR" altLang="en-US" sz="1400" b="1" dirty="0">
                <a:solidFill>
                  <a:srgbClr val="1E2761"/>
                </a:solidFill>
                <a:highlight>
                  <a:srgbClr val="FFFF00"/>
                </a:highlight>
                <a:latin typeface="Pretendard" pitchFamily="34" charset="0"/>
                <a:ea typeface="Pretendard" pitchFamily="34" charset="-122"/>
                <a:cs typeface="Pretendard" pitchFamily="34" charset="-120"/>
              </a:rPr>
              <a:t>카트리지</a:t>
            </a:r>
            <a:r>
              <a:rPr lang="en-US" altLang="ko-KR" sz="1400" b="1" dirty="0">
                <a:solidFill>
                  <a:srgbClr val="1E2761"/>
                </a:solidFill>
                <a:highlight>
                  <a:srgbClr val="FFFF00"/>
                </a:highlight>
                <a:latin typeface="Pretendard" pitchFamily="34" charset="0"/>
                <a:ea typeface="Pretendard" pitchFamily="34" charset="-122"/>
                <a:cs typeface="Pretendard" pitchFamily="34" charset="-120"/>
              </a:rPr>
              <a:t>)</a:t>
            </a:r>
            <a:r>
              <a:rPr lang="en-US" sz="1400" b="1" dirty="0">
                <a:solidFill>
                  <a:srgbClr val="1E2761"/>
                </a:solidFill>
                <a:highlight>
                  <a:srgbClr val="FFFF00"/>
                </a:highlight>
                <a:latin typeface="Pretendard" pitchFamily="34" charset="0"/>
                <a:ea typeface="Pretendard" pitchFamily="34" charset="-122"/>
                <a:cs typeface="Pretendard" pitchFamily="34" charset="-120"/>
              </a:rPr>
              <a:t>와 외형이 유사한 제품 형태가 확인됨</a:t>
            </a:r>
            <a:endParaRPr lang="en-US" sz="1400" dirty="0">
              <a:highlight>
                <a:srgbClr val="FFFF00"/>
              </a:highlight>
            </a:endParaRPr>
          </a:p>
        </p:txBody>
      </p:sp>
      <p:sp>
        <p:nvSpPr>
          <p:cNvPr id="31" name="Text 29"/>
          <p:cNvSpPr/>
          <p:nvPr/>
        </p:nvSpPr>
        <p:spPr>
          <a:xfrm>
            <a:off x="6525688" y="4255087"/>
            <a:ext cx="4654296" cy="713233"/>
          </a:xfrm>
          <a:prstGeom prst="rect">
            <a:avLst/>
          </a:prstGeom>
          <a:noFill/>
          <a:ln/>
        </p:spPr>
        <p:txBody>
          <a:bodyPr wrap="square" lIns="0" tIns="0" rIns="0" bIns="0" rtlCol="0" anchor="t"/>
          <a:lstStyle/>
          <a:p>
            <a:pPr>
              <a:lnSpc>
                <a:spcPts val="1900"/>
              </a:lnSpc>
            </a:pPr>
            <a:r>
              <a:rPr lang="en-US" altLang="ko-KR" sz="1200" dirty="0">
                <a:solidFill>
                  <a:srgbClr val="222633"/>
                </a:solidFill>
                <a:latin typeface="Pretendard" pitchFamily="34" charset="0"/>
                <a:ea typeface="Pretendard" pitchFamily="34" charset="-122"/>
                <a:cs typeface="Pretendard" pitchFamily="34" charset="-120"/>
              </a:rPr>
              <a:t>- </a:t>
            </a:r>
            <a:r>
              <a:rPr lang="ko-KR" altLang="en-US" sz="1200" dirty="0">
                <a:solidFill>
                  <a:srgbClr val="222633"/>
                </a:solidFill>
                <a:latin typeface="Pretendard" pitchFamily="34" charset="0"/>
                <a:ea typeface="Pretendard" pitchFamily="34" charset="-122"/>
                <a:cs typeface="Pretendard" pitchFamily="34" charset="-120"/>
              </a:rPr>
              <a:t>일부 청소년에게 이미 익숙한 형태로 사용이 쉽고</a:t>
            </a:r>
            <a:endParaRPr lang="en-US" altLang="ko-KR" sz="1200" dirty="0">
              <a:solidFill>
                <a:srgbClr val="222633"/>
              </a:solidFill>
              <a:latin typeface="Pretendard" pitchFamily="34" charset="0"/>
              <a:ea typeface="Pretendard" pitchFamily="34" charset="-122"/>
              <a:cs typeface="Pretendard" pitchFamily="34" charset="-120"/>
            </a:endParaRPr>
          </a:p>
          <a:p>
            <a:pPr>
              <a:lnSpc>
                <a:spcPts val="1900"/>
              </a:lnSpc>
            </a:pPr>
            <a:r>
              <a:rPr lang="en-US" altLang="ko-KR" sz="1200" dirty="0">
                <a:solidFill>
                  <a:srgbClr val="222633"/>
                </a:solidFill>
                <a:latin typeface="Pretendard" pitchFamily="34" charset="0"/>
                <a:ea typeface="Pretendard" pitchFamily="34" charset="-122"/>
                <a:cs typeface="Pretendard" pitchFamily="34" charset="-120"/>
              </a:rPr>
              <a:t>- </a:t>
            </a:r>
            <a:r>
              <a:rPr lang="ko-KR" altLang="en-US" sz="1200" dirty="0">
                <a:solidFill>
                  <a:srgbClr val="222633"/>
                </a:solidFill>
                <a:latin typeface="Pretendard" pitchFamily="34" charset="0"/>
                <a:ea typeface="Pretendard" pitchFamily="34" charset="-122"/>
                <a:cs typeface="Pretendard" pitchFamily="34" charset="-120"/>
              </a:rPr>
              <a:t>익숙한 방식으로 마약에 대한 심리적 접근장벽을 낮출 수 있고</a:t>
            </a:r>
            <a:endParaRPr lang="en-US" altLang="ko-KR" sz="1200" dirty="0">
              <a:solidFill>
                <a:srgbClr val="222633"/>
              </a:solidFill>
              <a:latin typeface="Pretendard" pitchFamily="34" charset="0"/>
              <a:ea typeface="Pretendard" pitchFamily="34" charset="-122"/>
              <a:cs typeface="Pretendard" pitchFamily="34" charset="-120"/>
            </a:endParaRPr>
          </a:p>
          <a:p>
            <a:pPr>
              <a:lnSpc>
                <a:spcPts val="1900"/>
              </a:lnSpc>
            </a:pPr>
            <a:r>
              <a:rPr lang="en-US" altLang="ko-KR" sz="1200" dirty="0">
                <a:solidFill>
                  <a:srgbClr val="222633"/>
                </a:solidFill>
                <a:latin typeface="Pretendard" pitchFamily="34" charset="0"/>
                <a:ea typeface="Pretendard" pitchFamily="34" charset="-122"/>
                <a:cs typeface="Pretendard" pitchFamily="34" charset="-120"/>
              </a:rPr>
              <a:t>- </a:t>
            </a:r>
            <a:r>
              <a:rPr lang="ko-KR" altLang="en-US" sz="1200" dirty="0">
                <a:solidFill>
                  <a:srgbClr val="222633"/>
                </a:solidFill>
                <a:latin typeface="Pretendard" pitchFamily="34" charset="0"/>
                <a:ea typeface="Pretendard" pitchFamily="34" charset="-122"/>
                <a:cs typeface="Pretendard" pitchFamily="34" charset="-120"/>
              </a:rPr>
              <a:t>작고 냄새가 적어 학교와 가정에서 발각될 위험이 적다</a:t>
            </a:r>
            <a:endParaRPr lang="en-US" altLang="ko-KR" sz="1200" dirty="0">
              <a:solidFill>
                <a:srgbClr val="222633"/>
              </a:solidFill>
              <a:latin typeface="Pretendard" pitchFamily="34" charset="0"/>
              <a:ea typeface="Pretendard" pitchFamily="34" charset="-122"/>
              <a:cs typeface="Pretendard" pitchFamily="34" charset="-120"/>
            </a:endParaRPr>
          </a:p>
          <a:p>
            <a:pPr>
              <a:lnSpc>
                <a:spcPts val="1900"/>
              </a:lnSpc>
            </a:pPr>
            <a:r>
              <a:rPr lang="ko-KR" altLang="en-US" sz="1400" b="1" dirty="0">
                <a:highlight>
                  <a:srgbClr val="FFFF00"/>
                </a:highlight>
                <a:latin typeface="Pretendard" pitchFamily="34" charset="0"/>
                <a:ea typeface="Pretendard" pitchFamily="34" charset="-122"/>
                <a:cs typeface="Pretendard" pitchFamily="34" charset="-120"/>
              </a:rPr>
              <a:t>→ </a:t>
            </a:r>
            <a:r>
              <a:rPr lang="ko-KR" altLang="en-US" sz="1400" b="1" dirty="0" err="1">
                <a:highlight>
                  <a:srgbClr val="FFFF00"/>
                </a:highlight>
                <a:latin typeface="Pretendard" pitchFamily="34" charset="0"/>
                <a:ea typeface="Pretendard" pitchFamily="34" charset="-122"/>
                <a:cs typeface="Pretendard" pitchFamily="34" charset="-120"/>
              </a:rPr>
              <a:t>국과수는</a:t>
            </a:r>
            <a:r>
              <a:rPr lang="ko-KR" altLang="en-US" sz="1400" b="1" dirty="0">
                <a:highlight>
                  <a:srgbClr val="FFFF00"/>
                </a:highlight>
                <a:latin typeface="Pretendard" pitchFamily="34" charset="0"/>
                <a:ea typeface="Pretendard" pitchFamily="34" charset="-122"/>
                <a:cs typeface="Pretendard" pitchFamily="34" charset="-120"/>
              </a:rPr>
              <a:t> 청소년의 초기 유입과 연결해 분석</a:t>
            </a:r>
            <a:endParaRPr lang="en-US" altLang="ko-KR" sz="1400" b="1" dirty="0">
              <a:highlight>
                <a:srgbClr val="FFFF00"/>
              </a:highlight>
            </a:endParaRPr>
          </a:p>
          <a:p>
            <a:pPr>
              <a:lnSpc>
                <a:spcPts val="1900"/>
              </a:lnSpc>
            </a:pPr>
            <a:endParaRPr lang="en-US" altLang="ko-KR" sz="1200" b="1" dirty="0">
              <a:solidFill>
                <a:srgbClr val="222633"/>
              </a:solidFill>
              <a:highlight>
                <a:srgbClr val="FFFF00"/>
              </a:highlight>
              <a:latin typeface="Pretendard" pitchFamily="34" charset="0"/>
              <a:ea typeface="Pretendard" pitchFamily="34" charset="-122"/>
              <a:cs typeface="Pretendard" pitchFamily="34" charset="-120"/>
            </a:endParaRPr>
          </a:p>
        </p:txBody>
      </p:sp>
      <p:sp>
        <p:nvSpPr>
          <p:cNvPr id="32" name="Text 30"/>
          <p:cNvSpPr/>
          <p:nvPr/>
        </p:nvSpPr>
        <p:spPr>
          <a:xfrm>
            <a:off x="731520" y="5449824"/>
            <a:ext cx="10698480" cy="310896"/>
          </a:xfrm>
          <a:prstGeom prst="rect">
            <a:avLst/>
          </a:prstGeom>
          <a:noFill/>
          <a:ln/>
        </p:spPr>
        <p:txBody>
          <a:bodyPr wrap="square" lIns="0" tIns="0" rIns="0" bIns="0" rtlCol="0" anchor="ctr"/>
          <a:lstStyle/>
          <a:p>
            <a:pPr marL="0" indent="0">
              <a:buNone/>
            </a:pPr>
            <a:r>
              <a:rPr lang="en-US" sz="1250" b="1" dirty="0">
                <a:solidFill>
                  <a:srgbClr val="A8871C"/>
                </a:solidFill>
                <a:latin typeface="Pretendard" pitchFamily="34" charset="0"/>
                <a:ea typeface="Pretendard" pitchFamily="34" charset="-122"/>
                <a:cs typeface="Pretendard" pitchFamily="34" charset="-120"/>
              </a:rPr>
              <a:t>약물의 종류뿐 아니라 어떤 형태로 접하고 그것을 무엇이라고 인식했는지도 확인할 필요가 있다</a:t>
            </a:r>
            <a:endParaRPr lang="en-US" sz="1250" dirty="0"/>
          </a:p>
        </p:txBody>
      </p:sp>
      <p:sp>
        <p:nvSpPr>
          <p:cNvPr id="33" name="Text 31"/>
          <p:cNvSpPr/>
          <p:nvPr/>
        </p:nvSpPr>
        <p:spPr>
          <a:xfrm>
            <a:off x="731520" y="5760720"/>
            <a:ext cx="10698480" cy="274320"/>
          </a:xfrm>
          <a:prstGeom prst="rect">
            <a:avLst/>
          </a:prstGeom>
          <a:noFill/>
          <a:ln/>
        </p:spPr>
        <p:txBody>
          <a:bodyPr wrap="square" lIns="0" tIns="0" rIns="0" bIns="0" rtlCol="0" anchor="ctr"/>
          <a:lstStyle/>
          <a:p>
            <a:pPr marL="0" indent="0">
              <a:buNone/>
            </a:pPr>
            <a:r>
              <a:rPr lang="en-US" sz="1150" dirty="0">
                <a:solidFill>
                  <a:srgbClr val="222633"/>
                </a:solidFill>
                <a:latin typeface="Pretendard" pitchFamily="34" charset="0"/>
                <a:ea typeface="Pretendard" pitchFamily="34" charset="-122"/>
                <a:cs typeface="Pretendard" pitchFamily="34" charset="-120"/>
              </a:rPr>
              <a:t>청소년의 약물 접근과 인식도 이 변화와 함께 살펴야 하며, 예방 · 발견 · 치료 과정에서 같은 물음이 이어진다</a:t>
            </a:r>
            <a:endParaRPr lang="en-US" sz="1150" dirty="0"/>
          </a:p>
        </p:txBody>
      </p:sp>
      <p:sp>
        <p:nvSpPr>
          <p:cNvPr id="34" name="Shape 32"/>
          <p:cNvSpPr/>
          <p:nvPr/>
        </p:nvSpPr>
        <p:spPr>
          <a:xfrm>
            <a:off x="731520" y="6153912"/>
            <a:ext cx="10698480" cy="0"/>
          </a:xfrm>
          <a:prstGeom prst="line">
            <a:avLst/>
          </a:prstGeom>
          <a:noFill/>
          <a:ln w="12700">
            <a:solidFill>
              <a:srgbClr val="DCE0E8"/>
            </a:solidFill>
            <a:prstDash val="solid"/>
          </a:ln>
        </p:spPr>
        <p:txBody>
          <a:bodyPr/>
          <a:lstStyle/>
          <a:p>
            <a:endParaRPr lang="ko-KR" altLang="en-US"/>
          </a:p>
        </p:txBody>
      </p:sp>
      <p:sp>
        <p:nvSpPr>
          <p:cNvPr id="36" name="TXT_11">
            <a:extLst>
              <a:ext uri="{FF2B5EF4-FFF2-40B4-BE49-F238E27FC236}">
                <a16:creationId xmlns:a16="http://schemas.microsoft.com/office/drawing/2014/main" id="{E270A4A3-7F45-4126-A5D5-071C06188A63}"/>
              </a:ext>
            </a:extLst>
          </p:cNvPr>
          <p:cNvSpPr txBox="1"/>
          <p:nvPr/>
        </p:nvSpPr>
        <p:spPr>
          <a:xfrm>
            <a:off x="841248" y="2907792"/>
            <a:ext cx="3108960" cy="283464"/>
          </a:xfrm>
          <a:prstGeom prst="rect">
            <a:avLst/>
          </a:prstGeom>
          <a:noFill/>
        </p:spPr>
        <p:txBody>
          <a:bodyPr wrap="none" lIns="0" tIns="0" rIns="0" bIns="0" anchor="t">
            <a:noAutofit/>
          </a:bodyPr>
          <a:lstStyle/>
          <a:p>
            <a:pPr algn="l">
              <a:lnSpc>
                <a:spcPct val="118000"/>
              </a:lnSpc>
              <a:spcBef>
                <a:spcPts val="0"/>
              </a:spcBef>
              <a:spcAft>
                <a:spcPts val="0"/>
              </a:spcAft>
            </a:pPr>
            <a:r>
              <a:rPr sz="1250" b="1" dirty="0" err="1">
                <a:solidFill>
                  <a:srgbClr val="222633"/>
                </a:solidFill>
                <a:latin typeface="Pretendard"/>
                <a:ea typeface="Pretendard"/>
                <a:cs typeface="Pretendard"/>
              </a:rPr>
              <a:t>메트암페타민</a:t>
            </a:r>
            <a:r>
              <a:rPr lang="en-US" sz="1250" b="1" dirty="0">
                <a:solidFill>
                  <a:srgbClr val="222633"/>
                </a:solidFill>
                <a:latin typeface="Pretendard"/>
                <a:ea typeface="Pretendard"/>
                <a:cs typeface="Pretendard"/>
              </a:rPr>
              <a:t>(</a:t>
            </a:r>
            <a:r>
              <a:rPr lang="ko-KR" altLang="en-US" sz="1250" b="1" dirty="0" err="1">
                <a:solidFill>
                  <a:srgbClr val="222633"/>
                </a:solidFill>
                <a:latin typeface="Pretendard"/>
                <a:ea typeface="Pretendard"/>
                <a:cs typeface="Pretendard"/>
              </a:rPr>
              <a:t>필로폰</a:t>
            </a:r>
            <a:r>
              <a:rPr lang="en-US" altLang="ko-KR" sz="1250" b="1" dirty="0">
                <a:solidFill>
                  <a:srgbClr val="222633"/>
                </a:solidFill>
                <a:latin typeface="Pretendard"/>
                <a:ea typeface="Pretendard"/>
                <a:cs typeface="Pretendard"/>
              </a:rPr>
              <a:t>)</a:t>
            </a:r>
            <a:endParaRPr sz="1250" b="1" dirty="0">
              <a:solidFill>
                <a:srgbClr val="222633"/>
              </a:solidFill>
              <a:latin typeface="Pretendard"/>
              <a:ea typeface="Pretendard"/>
              <a:cs typeface="Pretendard"/>
            </a:endParaRPr>
          </a:p>
        </p:txBody>
      </p:sp>
      <p:sp>
        <p:nvSpPr>
          <p:cNvPr id="37" name="TXT_12">
            <a:extLst>
              <a:ext uri="{FF2B5EF4-FFF2-40B4-BE49-F238E27FC236}">
                <a16:creationId xmlns:a16="http://schemas.microsoft.com/office/drawing/2014/main" id="{A0D2FAAF-A8FD-46C6-8A67-90CA87663E67}"/>
              </a:ext>
            </a:extLst>
          </p:cNvPr>
          <p:cNvSpPr txBox="1"/>
          <p:nvPr/>
        </p:nvSpPr>
        <p:spPr>
          <a:xfrm>
            <a:off x="4334256" y="2889504"/>
            <a:ext cx="1417320" cy="402336"/>
          </a:xfrm>
          <a:prstGeom prst="rect">
            <a:avLst/>
          </a:prstGeom>
          <a:noFill/>
        </p:spPr>
        <p:txBody>
          <a:bodyPr wrap="none" lIns="0" tIns="0" rIns="0" bIns="0" anchor="t">
            <a:noAutofit/>
          </a:bodyPr>
          <a:lstStyle/>
          <a:p>
            <a:pPr algn="r">
              <a:lnSpc>
                <a:spcPct val="118000"/>
              </a:lnSpc>
              <a:spcBef>
                <a:spcPts val="0"/>
              </a:spcBef>
              <a:spcAft>
                <a:spcPts val="0"/>
              </a:spcAft>
            </a:pPr>
            <a:r>
              <a:rPr sz="2250" b="1">
                <a:solidFill>
                  <a:srgbClr val="1E2761"/>
                </a:solidFill>
                <a:latin typeface="Pretendard"/>
                <a:ea typeface="Pretendard"/>
                <a:cs typeface="Pretendard"/>
              </a:rPr>
              <a:t>52.7%</a:t>
            </a:r>
          </a:p>
        </p:txBody>
      </p:sp>
      <p:sp>
        <p:nvSpPr>
          <p:cNvPr id="38" name="AREA_13">
            <a:extLst>
              <a:ext uri="{FF2B5EF4-FFF2-40B4-BE49-F238E27FC236}">
                <a16:creationId xmlns:a16="http://schemas.microsoft.com/office/drawing/2014/main" id="{97DBD214-0D72-4EC3-86F0-609F7CC169E3}"/>
              </a:ext>
            </a:extLst>
          </p:cNvPr>
          <p:cNvSpPr/>
          <p:nvPr/>
        </p:nvSpPr>
        <p:spPr>
          <a:xfrm>
            <a:off x="841248" y="3291840"/>
            <a:ext cx="4791456" cy="91440"/>
          </a:xfrm>
          <a:prstGeom prst="rect">
            <a:avLst/>
          </a:prstGeom>
          <a:solidFill>
            <a:srgbClr val="F2F4F8"/>
          </a:solidFill>
          <a:ln>
            <a:noFill/>
          </a:ln>
          <a:effectLst/>
        </p:spPr>
        <p:txBody>
          <a:bodyPr rtlCol="0" anchor="ctr"/>
          <a:lstStyle/>
          <a:p>
            <a:pPr algn="ctr"/>
            <a:endParaRPr/>
          </a:p>
        </p:txBody>
      </p:sp>
      <p:sp>
        <p:nvSpPr>
          <p:cNvPr id="39" name="AREA_14">
            <a:extLst>
              <a:ext uri="{FF2B5EF4-FFF2-40B4-BE49-F238E27FC236}">
                <a16:creationId xmlns:a16="http://schemas.microsoft.com/office/drawing/2014/main" id="{227C209B-7D8B-4EC2-896B-7EB31AEFE834}"/>
              </a:ext>
            </a:extLst>
          </p:cNvPr>
          <p:cNvSpPr/>
          <p:nvPr/>
        </p:nvSpPr>
        <p:spPr>
          <a:xfrm>
            <a:off x="841248" y="3291840"/>
            <a:ext cx="2525097" cy="91440"/>
          </a:xfrm>
          <a:prstGeom prst="rect">
            <a:avLst/>
          </a:prstGeom>
          <a:solidFill>
            <a:srgbClr val="5A6699"/>
          </a:solidFill>
          <a:ln>
            <a:noFill/>
          </a:ln>
          <a:effectLst/>
        </p:spPr>
        <p:txBody>
          <a:bodyPr rtlCol="0" anchor="ctr"/>
          <a:lstStyle/>
          <a:p>
            <a:pPr algn="ctr"/>
            <a:endParaRPr/>
          </a:p>
        </p:txBody>
      </p:sp>
      <p:sp>
        <p:nvSpPr>
          <p:cNvPr id="40" name="TXT_15">
            <a:extLst>
              <a:ext uri="{FF2B5EF4-FFF2-40B4-BE49-F238E27FC236}">
                <a16:creationId xmlns:a16="http://schemas.microsoft.com/office/drawing/2014/main" id="{59D3B207-BAA4-42B0-BF21-8EF261DAAF0A}"/>
              </a:ext>
            </a:extLst>
          </p:cNvPr>
          <p:cNvSpPr txBox="1"/>
          <p:nvPr/>
        </p:nvSpPr>
        <p:spPr>
          <a:xfrm>
            <a:off x="841248" y="3675887"/>
            <a:ext cx="3108960" cy="283464"/>
          </a:xfrm>
          <a:prstGeom prst="rect">
            <a:avLst/>
          </a:prstGeom>
          <a:noFill/>
        </p:spPr>
        <p:txBody>
          <a:bodyPr wrap="none" lIns="0" tIns="0" rIns="0" bIns="0" anchor="t">
            <a:noAutofit/>
          </a:bodyPr>
          <a:lstStyle/>
          <a:p>
            <a:pPr algn="l">
              <a:lnSpc>
                <a:spcPct val="118000"/>
              </a:lnSpc>
              <a:spcBef>
                <a:spcPts val="0"/>
              </a:spcBef>
              <a:spcAft>
                <a:spcPts val="0"/>
              </a:spcAft>
            </a:pPr>
            <a:r>
              <a:rPr sz="1250" b="1">
                <a:solidFill>
                  <a:srgbClr val="222633"/>
                </a:solidFill>
                <a:latin typeface="Pretendard"/>
                <a:ea typeface="Pretendard"/>
                <a:cs typeface="Pretendard"/>
              </a:rPr>
              <a:t>신종 마약류</a:t>
            </a:r>
          </a:p>
        </p:txBody>
      </p:sp>
      <p:sp>
        <p:nvSpPr>
          <p:cNvPr id="41" name="TXT_16">
            <a:extLst>
              <a:ext uri="{FF2B5EF4-FFF2-40B4-BE49-F238E27FC236}">
                <a16:creationId xmlns:a16="http://schemas.microsoft.com/office/drawing/2014/main" id="{33435BBB-E29F-44BB-A57B-9FD10E89305B}"/>
              </a:ext>
            </a:extLst>
          </p:cNvPr>
          <p:cNvSpPr txBox="1"/>
          <p:nvPr/>
        </p:nvSpPr>
        <p:spPr>
          <a:xfrm>
            <a:off x="4334256" y="3657599"/>
            <a:ext cx="1417320" cy="402336"/>
          </a:xfrm>
          <a:prstGeom prst="rect">
            <a:avLst/>
          </a:prstGeom>
          <a:noFill/>
        </p:spPr>
        <p:txBody>
          <a:bodyPr wrap="none" lIns="0" tIns="0" rIns="0" bIns="0" anchor="t">
            <a:noAutofit/>
          </a:bodyPr>
          <a:lstStyle/>
          <a:p>
            <a:pPr algn="r">
              <a:lnSpc>
                <a:spcPct val="118000"/>
              </a:lnSpc>
              <a:spcBef>
                <a:spcPts val="0"/>
              </a:spcBef>
              <a:spcAft>
                <a:spcPts val="0"/>
              </a:spcAft>
            </a:pPr>
            <a:r>
              <a:rPr sz="2250" b="1">
                <a:solidFill>
                  <a:srgbClr val="1E2761"/>
                </a:solidFill>
                <a:latin typeface="Pretendard"/>
                <a:ea typeface="Pretendard"/>
                <a:cs typeface="Pretendard"/>
              </a:rPr>
              <a:t>31.5%</a:t>
            </a:r>
          </a:p>
        </p:txBody>
      </p:sp>
      <p:sp>
        <p:nvSpPr>
          <p:cNvPr id="42" name="AREA_17">
            <a:extLst>
              <a:ext uri="{FF2B5EF4-FFF2-40B4-BE49-F238E27FC236}">
                <a16:creationId xmlns:a16="http://schemas.microsoft.com/office/drawing/2014/main" id="{317CC240-282A-490B-A223-543FF03427C9}"/>
              </a:ext>
            </a:extLst>
          </p:cNvPr>
          <p:cNvSpPr/>
          <p:nvPr/>
        </p:nvSpPr>
        <p:spPr>
          <a:xfrm>
            <a:off x="841248" y="4059935"/>
            <a:ext cx="4791456" cy="91440"/>
          </a:xfrm>
          <a:prstGeom prst="rect">
            <a:avLst/>
          </a:prstGeom>
          <a:solidFill>
            <a:srgbClr val="F2F4F8"/>
          </a:solidFill>
          <a:ln>
            <a:noFill/>
          </a:ln>
          <a:effectLst/>
        </p:spPr>
        <p:txBody>
          <a:bodyPr rtlCol="0" anchor="ctr"/>
          <a:lstStyle/>
          <a:p>
            <a:pPr algn="ctr"/>
            <a:endParaRPr/>
          </a:p>
        </p:txBody>
      </p:sp>
      <p:sp>
        <p:nvSpPr>
          <p:cNvPr id="43" name="AREA_18">
            <a:extLst>
              <a:ext uri="{FF2B5EF4-FFF2-40B4-BE49-F238E27FC236}">
                <a16:creationId xmlns:a16="http://schemas.microsoft.com/office/drawing/2014/main" id="{6F8A95CF-0643-4EA8-8A50-9774347183AE}"/>
              </a:ext>
            </a:extLst>
          </p:cNvPr>
          <p:cNvSpPr/>
          <p:nvPr/>
        </p:nvSpPr>
        <p:spPr>
          <a:xfrm>
            <a:off x="841248" y="4059935"/>
            <a:ext cx="1509308" cy="91440"/>
          </a:xfrm>
          <a:prstGeom prst="rect">
            <a:avLst/>
          </a:prstGeom>
          <a:solidFill>
            <a:srgbClr val="5A6699"/>
          </a:solidFill>
          <a:ln>
            <a:noFill/>
          </a:ln>
          <a:effectLst/>
        </p:spPr>
        <p:txBody>
          <a:bodyPr rtlCol="0" anchor="ctr"/>
          <a:lstStyle/>
          <a:p>
            <a:pPr algn="ctr"/>
            <a:endParaRPr/>
          </a:p>
        </p:txBody>
      </p:sp>
      <p:sp>
        <p:nvSpPr>
          <p:cNvPr id="44" name="TXT_19">
            <a:extLst>
              <a:ext uri="{FF2B5EF4-FFF2-40B4-BE49-F238E27FC236}">
                <a16:creationId xmlns:a16="http://schemas.microsoft.com/office/drawing/2014/main" id="{69FC87D2-C5BD-4942-A245-334E1A0EAEB2}"/>
              </a:ext>
            </a:extLst>
          </p:cNvPr>
          <p:cNvSpPr txBox="1"/>
          <p:nvPr/>
        </p:nvSpPr>
        <p:spPr>
          <a:xfrm>
            <a:off x="859536" y="4357116"/>
            <a:ext cx="4846320" cy="278893"/>
          </a:xfrm>
          <a:prstGeom prst="rect">
            <a:avLst/>
          </a:prstGeom>
          <a:noFill/>
        </p:spPr>
        <p:txBody>
          <a:bodyPr wrap="none" lIns="0" tIns="0" rIns="0" bIns="0" anchor="t">
            <a:noAutofit/>
          </a:bodyPr>
          <a:lstStyle/>
          <a:p>
            <a:pPr algn="l">
              <a:lnSpc>
                <a:spcPct val="125000"/>
              </a:lnSpc>
              <a:spcBef>
                <a:spcPts val="0"/>
              </a:spcBef>
              <a:spcAft>
                <a:spcPts val="0"/>
              </a:spcAft>
            </a:pPr>
            <a:r>
              <a:rPr sz="1300" b="0" dirty="0" err="1">
                <a:solidFill>
                  <a:srgbClr val="222633"/>
                </a:solidFill>
                <a:latin typeface="Pretendard"/>
                <a:ea typeface="Pretendard"/>
                <a:cs typeface="Pretendard"/>
              </a:rPr>
              <a:t>합성대마류</a:t>
            </a:r>
            <a:r>
              <a:rPr sz="1300" b="0" dirty="0">
                <a:solidFill>
                  <a:srgbClr val="222633"/>
                </a:solidFill>
                <a:latin typeface="Pretendard"/>
                <a:ea typeface="Pretendard"/>
                <a:cs typeface="Pretendard"/>
              </a:rPr>
              <a:t> 15.1%와</a:t>
            </a:r>
            <a:r>
              <a:rPr lang="en-US" sz="1300" b="0" dirty="0">
                <a:solidFill>
                  <a:srgbClr val="222633"/>
                </a:solidFill>
                <a:latin typeface="Pretendard"/>
                <a:ea typeface="Pretendard"/>
                <a:cs typeface="Pretendard"/>
              </a:rPr>
              <a:t> </a:t>
            </a:r>
            <a:r>
              <a:rPr sz="1300" b="0" dirty="0" err="1">
                <a:solidFill>
                  <a:srgbClr val="222633"/>
                </a:solidFill>
                <a:latin typeface="Pretendard"/>
                <a:ea typeface="Pretendard"/>
                <a:cs typeface="Pretendard"/>
              </a:rPr>
              <a:t>케타민</a:t>
            </a:r>
            <a:r>
              <a:rPr sz="1300" b="0" dirty="0">
                <a:solidFill>
                  <a:srgbClr val="222633"/>
                </a:solidFill>
                <a:latin typeface="Pretendard"/>
                <a:ea typeface="Pretendard"/>
                <a:cs typeface="Pretendard"/>
              </a:rPr>
              <a:t> 10.6%가 </a:t>
            </a:r>
            <a:r>
              <a:rPr sz="1300" b="0" dirty="0" err="1">
                <a:solidFill>
                  <a:srgbClr val="222633"/>
                </a:solidFill>
                <a:latin typeface="Pretendard"/>
                <a:ea typeface="Pretendard"/>
                <a:cs typeface="Pretendard"/>
              </a:rPr>
              <a:t>포함</a:t>
            </a:r>
            <a:endParaRPr sz="1300" b="0" dirty="0">
              <a:solidFill>
                <a:srgbClr val="222633"/>
              </a:solidFill>
              <a:latin typeface="Pretendard"/>
              <a:ea typeface="Pretendard"/>
              <a:cs typeface="Pretendar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2. 사용 실태와 도움 요청</a:t>
            </a:r>
            <a:endParaRPr lang="en-US" sz="1250" dirty="0"/>
          </a:p>
        </p:txBody>
      </p:sp>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만 14~18세 경찰 검거 추이</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pPr marL="0" indent="0">
              <a:buNone/>
            </a:pPr>
            <a:r>
              <a:rPr lang="en-US" sz="2700" b="1" dirty="0">
                <a:solidFill>
                  <a:srgbClr val="1E2761"/>
                </a:solidFill>
                <a:latin typeface="Pretendard" pitchFamily="34" charset="0"/>
                <a:ea typeface="Pretendard" pitchFamily="34" charset="-122"/>
                <a:cs typeface="Pretendard" pitchFamily="34" charset="-120"/>
              </a:rPr>
              <a:t>2021년 펜타닐 사건 — 의료용 약물이 위법한 사용·유통으로 이어지다</a:t>
            </a:r>
            <a:endParaRPr lang="en-US" sz="2700" dirty="0"/>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353312"/>
            <a:ext cx="10698480" cy="438912"/>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987552" y="1353312"/>
            <a:ext cx="10186416" cy="438912"/>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2021년 경남경찰청은 병·의원에서 처방된 펜타닐 패치를 판매·투약한 혐의로 10대 42명을 검거했다</a:t>
            </a:r>
            <a:endParaRPr lang="en-US" sz="1250" dirty="0"/>
          </a:p>
        </p:txBody>
      </p:sp>
      <p:sp>
        <p:nvSpPr>
          <p:cNvPr id="8" name="Shape 6"/>
          <p:cNvSpPr/>
          <p:nvPr/>
        </p:nvSpPr>
        <p:spPr>
          <a:xfrm>
            <a:off x="731520" y="1901952"/>
            <a:ext cx="10698480" cy="475488"/>
          </a:xfrm>
          <a:prstGeom prst="rect">
            <a:avLst/>
          </a:prstGeom>
          <a:solidFill>
            <a:srgbClr val="F2F4F8"/>
          </a:solidFill>
          <a:ln w="12700">
            <a:solidFill>
              <a:srgbClr val="F2F4F8"/>
            </a:solidFill>
            <a:prstDash val="solid"/>
          </a:ln>
        </p:spPr>
        <p:txBody>
          <a:bodyPr/>
          <a:lstStyle/>
          <a:p>
            <a:endParaRPr lang="ko-KR" altLang="en-US"/>
          </a:p>
        </p:txBody>
      </p:sp>
      <p:sp>
        <p:nvSpPr>
          <p:cNvPr id="9" name="Text 7"/>
          <p:cNvSpPr/>
          <p:nvPr/>
        </p:nvSpPr>
        <p:spPr>
          <a:xfrm>
            <a:off x="1005840" y="1901952"/>
            <a:ext cx="10149840" cy="475488"/>
          </a:xfrm>
          <a:prstGeom prst="rect">
            <a:avLst/>
          </a:prstGeom>
          <a:noFill/>
          <a:ln/>
        </p:spPr>
        <p:txBody>
          <a:bodyPr wrap="square" lIns="0" tIns="0" rIns="0" bIns="0" rtlCol="0" anchor="ctr"/>
          <a:lstStyle/>
          <a:p>
            <a:r>
              <a:rPr lang="en-US" altLang="ko-KR" sz="1150" dirty="0" err="1">
                <a:solidFill>
                  <a:srgbClr val="464D5C"/>
                </a:solidFill>
                <a:latin typeface="Pretendard" pitchFamily="34" charset="0"/>
                <a:ea typeface="Pretendard" pitchFamily="34" charset="-122"/>
                <a:cs typeface="Pretendard" pitchFamily="34" charset="-120"/>
              </a:rPr>
              <a:t>행위</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기간 </a:t>
            </a:r>
            <a:r>
              <a:rPr lang="en-US" sz="1250" b="1" dirty="0">
                <a:solidFill>
                  <a:srgbClr val="A8871C"/>
                </a:solidFill>
                <a:latin typeface="Pretendard" pitchFamily="34" charset="0"/>
                <a:ea typeface="Pretendard" pitchFamily="34" charset="-122"/>
                <a:cs typeface="Pretendard" pitchFamily="34" charset="-120"/>
              </a:rPr>
              <a:t>2020. 6 ~ 2021. 4</a:t>
            </a:r>
            <a:r>
              <a:rPr lang="en-US" sz="1150" dirty="0">
                <a:solidFill>
                  <a:srgbClr val="464D5C"/>
                </a:solidFill>
                <a:latin typeface="Pretendard" pitchFamily="34" charset="0"/>
                <a:ea typeface="Pretendard" pitchFamily="34" charset="-122"/>
                <a:cs typeface="Pretendard" pitchFamily="34" charset="-120"/>
              </a:rPr>
              <a:t> → </a:t>
            </a:r>
            <a:r>
              <a:rPr lang="en-US" altLang="ko-KR" sz="1150" dirty="0" err="1">
                <a:solidFill>
                  <a:srgbClr val="464D5C"/>
                </a:solidFill>
                <a:latin typeface="Pretendard" pitchFamily="34" charset="0"/>
                <a:ea typeface="Pretendard" pitchFamily="34" charset="-122"/>
                <a:cs typeface="Pretendard" pitchFamily="34" charset="-120"/>
              </a:rPr>
              <a:t>검거</a:t>
            </a:r>
            <a:r>
              <a:rPr lang="en-US" altLang="ko-KR" sz="1150" dirty="0">
                <a:solidFill>
                  <a:srgbClr val="464D5C"/>
                </a:solidFill>
                <a:latin typeface="Pretendard" pitchFamily="34" charset="0"/>
                <a:ea typeface="Pretendard" pitchFamily="34" charset="-122"/>
                <a:cs typeface="Pretendard" pitchFamily="34" charset="-120"/>
              </a:rPr>
              <a:t> </a:t>
            </a:r>
            <a:r>
              <a:rPr lang="en-US" altLang="ko-KR" sz="1150" dirty="0" err="1">
                <a:solidFill>
                  <a:srgbClr val="464D5C"/>
                </a:solidFill>
                <a:latin typeface="Pretendard" pitchFamily="34" charset="0"/>
                <a:ea typeface="Pretendard" pitchFamily="34" charset="-122"/>
                <a:cs typeface="Pretendard" pitchFamily="34" charset="-120"/>
              </a:rPr>
              <a:t>발표</a:t>
            </a:r>
            <a:r>
              <a:rPr lang="en-US" altLang="ko-KR" sz="1150" dirty="0">
                <a:solidFill>
                  <a:srgbClr val="464D5C"/>
                </a:solidFill>
                <a:latin typeface="Pretendard" pitchFamily="34" charset="0"/>
                <a:ea typeface="Pretendard" pitchFamily="34" charset="-122"/>
                <a:cs typeface="Pretendard" pitchFamily="34" charset="-120"/>
              </a:rPr>
              <a:t> </a:t>
            </a:r>
            <a:r>
              <a:rPr lang="en-US" sz="1250" b="1" dirty="0">
                <a:solidFill>
                  <a:srgbClr val="A8871C"/>
                </a:solidFill>
                <a:latin typeface="Pretendard" pitchFamily="34" charset="0"/>
                <a:ea typeface="Pretendard" pitchFamily="34" charset="-122"/>
                <a:cs typeface="Pretendard" pitchFamily="34" charset="-120"/>
              </a:rPr>
              <a:t>2021. 5</a:t>
            </a:r>
            <a:r>
              <a:rPr lang="en-US" sz="1150" dirty="0">
                <a:solidFill>
                  <a:srgbClr val="464D5C"/>
                </a:solidFill>
                <a:latin typeface="Pretendard" pitchFamily="34" charset="0"/>
                <a:ea typeface="Pretendard" pitchFamily="34" charset="-122"/>
                <a:cs typeface="Pretendard" pitchFamily="34" charset="-120"/>
              </a:rPr>
              <a:t>                </a:t>
            </a:r>
            <a:r>
              <a:rPr lang="en-US" sz="1250" b="1" dirty="0">
                <a:solidFill>
                  <a:srgbClr val="1E2761"/>
                </a:solidFill>
                <a:latin typeface="Pretendard" pitchFamily="34" charset="0"/>
                <a:ea typeface="Pretendard" pitchFamily="34" charset="-122"/>
                <a:cs typeface="Pretendard" pitchFamily="34" charset="-120"/>
              </a:rPr>
              <a:t>10대 42명</a:t>
            </a:r>
            <a:r>
              <a:rPr lang="en-US" sz="1100" dirty="0">
                <a:solidFill>
                  <a:srgbClr val="464D5C"/>
                </a:solidFill>
                <a:latin typeface="Pretendard" pitchFamily="34" charset="0"/>
                <a:ea typeface="Pretendard" pitchFamily="34" charset="-122"/>
                <a:cs typeface="Pretendard" pitchFamily="34" charset="-120"/>
              </a:rPr>
              <a:t>  ·  보도에 확인된 연령은 만 17~19세</a:t>
            </a:r>
            <a:endParaRPr lang="en-US" sz="1250" dirty="0"/>
          </a:p>
        </p:txBody>
      </p:sp>
      <p:sp>
        <p:nvSpPr>
          <p:cNvPr id="10" name="Shape 8"/>
          <p:cNvSpPr/>
          <p:nvPr/>
        </p:nvSpPr>
        <p:spPr>
          <a:xfrm>
            <a:off x="731520" y="2505456"/>
            <a:ext cx="3310128" cy="1444752"/>
          </a:xfrm>
          <a:prstGeom prst="rect">
            <a:avLst/>
          </a:prstGeom>
          <a:solidFill>
            <a:srgbClr val="FFFFFF"/>
          </a:solidFill>
          <a:ln w="12700">
            <a:solidFill>
              <a:srgbClr val="DCE0E8"/>
            </a:solidFill>
            <a:prstDash val="solid"/>
          </a:ln>
        </p:spPr>
        <p:txBody>
          <a:bodyPr/>
          <a:lstStyle/>
          <a:p>
            <a:endParaRPr lang="ko-KR" altLang="en-US"/>
          </a:p>
        </p:txBody>
      </p:sp>
      <p:sp>
        <p:nvSpPr>
          <p:cNvPr id="11" name="Text 9"/>
          <p:cNvSpPr/>
          <p:nvPr/>
        </p:nvSpPr>
        <p:spPr>
          <a:xfrm>
            <a:off x="950976" y="2633472"/>
            <a:ext cx="2871216" cy="292608"/>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① 처방 경로를 우회한 확보</a:t>
            </a:r>
            <a:endParaRPr lang="en-US" sz="1250" dirty="0"/>
          </a:p>
        </p:txBody>
      </p:sp>
      <p:sp>
        <p:nvSpPr>
          <p:cNvPr id="12" name="Shape 10"/>
          <p:cNvSpPr/>
          <p:nvPr/>
        </p:nvSpPr>
        <p:spPr>
          <a:xfrm>
            <a:off x="950976" y="2980944"/>
            <a:ext cx="2871216" cy="0"/>
          </a:xfrm>
          <a:prstGeom prst="line">
            <a:avLst/>
          </a:prstGeom>
          <a:noFill/>
          <a:ln w="12700">
            <a:solidFill>
              <a:srgbClr val="DCE0E8"/>
            </a:solidFill>
            <a:prstDash val="solid"/>
          </a:ln>
        </p:spPr>
        <p:txBody>
          <a:bodyPr/>
          <a:lstStyle/>
          <a:p>
            <a:endParaRPr lang="ko-KR" altLang="en-US"/>
          </a:p>
        </p:txBody>
      </p:sp>
      <p:sp>
        <p:nvSpPr>
          <p:cNvPr id="13" name="Text 11"/>
          <p:cNvSpPr/>
          <p:nvPr/>
        </p:nvSpPr>
        <p:spPr>
          <a:xfrm>
            <a:off x="950976" y="3090672"/>
            <a:ext cx="2871216" cy="749808"/>
          </a:xfrm>
          <a:prstGeom prst="rect">
            <a:avLst/>
          </a:prstGeom>
          <a:noFill/>
          <a:ln/>
        </p:spPr>
        <p:txBody>
          <a:bodyPr wrap="square" lIns="0" tIns="0" rIns="0" bIns="0" rtlCol="0" anchor="t"/>
          <a:lstStyle/>
          <a:p>
            <a:pPr marL="0" indent="0">
              <a:lnSpc>
                <a:spcPts val="1900"/>
              </a:lnSpc>
              <a:buNone/>
            </a:pPr>
            <a:r>
              <a:rPr lang="en-US" sz="1150" dirty="0">
                <a:solidFill>
                  <a:srgbClr val="222633"/>
                </a:solidFill>
                <a:latin typeface="Pretendard" pitchFamily="34" charset="0"/>
                <a:ea typeface="Pretendard" pitchFamily="34" charset="-122"/>
                <a:cs typeface="Pretendard" pitchFamily="34" charset="-120"/>
              </a:rPr>
              <a:t>정상적인 진료 절차를 </a:t>
            </a:r>
            <a:r>
              <a:rPr lang="en-US" sz="1150" dirty="0" err="1">
                <a:solidFill>
                  <a:srgbClr val="222633"/>
                </a:solidFill>
                <a:latin typeface="Pretendard" pitchFamily="34" charset="0"/>
                <a:ea typeface="Pretendard" pitchFamily="34" charset="-122"/>
                <a:cs typeface="Pretendard" pitchFamily="34" charset="-120"/>
              </a:rPr>
              <a:t>거치지</a:t>
            </a:r>
            <a:r>
              <a:rPr lang="en-US" sz="1150" dirty="0">
                <a:solidFill>
                  <a:srgbClr val="222633"/>
                </a:solidFill>
                <a:latin typeface="Pretendard" pitchFamily="34" charset="0"/>
                <a:ea typeface="Pretendard" pitchFamily="34" charset="-122"/>
                <a:cs typeface="Pretendard" pitchFamily="34" charset="-120"/>
              </a:rPr>
              <a:t> </a:t>
            </a:r>
            <a:r>
              <a:rPr lang="en-US" sz="1150" dirty="0" err="1">
                <a:solidFill>
                  <a:srgbClr val="222633"/>
                </a:solidFill>
                <a:latin typeface="Pretendard" pitchFamily="34" charset="0"/>
                <a:ea typeface="Pretendard" pitchFamily="34" charset="-122"/>
                <a:cs typeface="Pretendard" pitchFamily="34" charset="-120"/>
              </a:rPr>
              <a:t>않고</a:t>
            </a:r>
            <a:r>
              <a:rPr lang="en-US" sz="1150" dirty="0">
                <a:solidFill>
                  <a:srgbClr val="222633"/>
                </a:solidFill>
                <a:latin typeface="Pretendard" pitchFamily="34" charset="0"/>
                <a:ea typeface="Pretendard" pitchFamily="34" charset="-122"/>
                <a:cs typeface="Pretendard" pitchFamily="34" charset="-120"/>
              </a:rPr>
              <a:t> </a:t>
            </a:r>
            <a:r>
              <a:rPr lang="en-US" sz="1150" b="1" dirty="0" err="1">
                <a:solidFill>
                  <a:srgbClr val="222633"/>
                </a:solidFill>
                <a:highlight>
                  <a:srgbClr val="FFFF00"/>
                </a:highlight>
                <a:latin typeface="Pretendard" pitchFamily="34" charset="0"/>
                <a:ea typeface="Pretendard" pitchFamily="34" charset="-122"/>
                <a:cs typeface="Pretendard" pitchFamily="34" charset="-120"/>
              </a:rPr>
              <a:t>병·의원</a:t>
            </a:r>
            <a:r>
              <a:rPr lang="en-US" sz="1150" b="1" dirty="0">
                <a:solidFill>
                  <a:srgbClr val="222633"/>
                </a:solidFill>
                <a:highlight>
                  <a:srgbClr val="FFFF00"/>
                </a:highlight>
                <a:latin typeface="Pretendard" pitchFamily="34" charset="0"/>
                <a:ea typeface="Pretendard" pitchFamily="34" charset="-122"/>
                <a:cs typeface="Pretendard" pitchFamily="34" charset="-120"/>
              </a:rPr>
              <a:t> 처방과 약국 </a:t>
            </a:r>
            <a:r>
              <a:rPr lang="en-US" sz="1150" b="1" dirty="0" err="1">
                <a:solidFill>
                  <a:srgbClr val="222633"/>
                </a:solidFill>
                <a:highlight>
                  <a:srgbClr val="FFFF00"/>
                </a:highlight>
                <a:latin typeface="Pretendard" pitchFamily="34" charset="0"/>
                <a:ea typeface="Pretendard" pitchFamily="34" charset="-122"/>
                <a:cs typeface="Pretendard" pitchFamily="34" charset="-120"/>
              </a:rPr>
              <a:t>구입을</a:t>
            </a:r>
            <a:r>
              <a:rPr lang="en-US" sz="1150" b="1" dirty="0">
                <a:solidFill>
                  <a:srgbClr val="222633"/>
                </a:solidFill>
                <a:highlight>
                  <a:srgbClr val="FFFF00"/>
                </a:highlight>
                <a:latin typeface="Pretendard" pitchFamily="34" charset="0"/>
                <a:ea typeface="Pretendard" pitchFamily="34" charset="-122"/>
                <a:cs typeface="Pretendard" pitchFamily="34" charset="-120"/>
              </a:rPr>
              <a:t> </a:t>
            </a:r>
            <a:r>
              <a:rPr lang="en-US" sz="1150" b="1" dirty="0" err="1">
                <a:solidFill>
                  <a:srgbClr val="222633"/>
                </a:solidFill>
                <a:highlight>
                  <a:srgbClr val="FFFF00"/>
                </a:highlight>
                <a:latin typeface="Pretendard" pitchFamily="34" charset="0"/>
                <a:ea typeface="Pretendard" pitchFamily="34" charset="-122"/>
                <a:cs typeface="Pretendard" pitchFamily="34" charset="-120"/>
              </a:rPr>
              <a:t>통해</a:t>
            </a:r>
            <a:r>
              <a:rPr lang="en-US" sz="1150" b="1" dirty="0">
                <a:solidFill>
                  <a:srgbClr val="222633"/>
                </a:solidFill>
                <a:highlight>
                  <a:srgbClr val="FFFF00"/>
                </a:highlight>
                <a:latin typeface="Pretendard" pitchFamily="34" charset="0"/>
                <a:ea typeface="Pretendard" pitchFamily="34" charset="-122"/>
                <a:cs typeface="Pretendard" pitchFamily="34" charset="-120"/>
              </a:rPr>
              <a:t> </a:t>
            </a:r>
            <a:r>
              <a:rPr lang="ko-KR" altLang="en-US" sz="1150" b="1" dirty="0" err="1">
                <a:solidFill>
                  <a:srgbClr val="222633"/>
                </a:solidFill>
                <a:highlight>
                  <a:srgbClr val="FFFF00"/>
                </a:highlight>
                <a:latin typeface="Pretendard" pitchFamily="34" charset="0"/>
                <a:ea typeface="Pretendard" pitchFamily="34" charset="-122"/>
                <a:cs typeface="Pretendard" pitchFamily="34" charset="-120"/>
              </a:rPr>
              <a:t>펜타닐</a:t>
            </a:r>
            <a:r>
              <a:rPr lang="ko-KR" altLang="en-US" sz="1150" b="1" dirty="0">
                <a:solidFill>
                  <a:srgbClr val="222633"/>
                </a:solidFill>
                <a:highlight>
                  <a:srgbClr val="FFFF00"/>
                </a:highlight>
                <a:latin typeface="Pretendard" pitchFamily="34" charset="0"/>
                <a:ea typeface="Pretendard" pitchFamily="34" charset="-122"/>
                <a:cs typeface="Pretendard" pitchFamily="34" charset="-120"/>
              </a:rPr>
              <a:t> </a:t>
            </a:r>
            <a:r>
              <a:rPr lang="en-US" sz="1150" b="1" dirty="0" err="1">
                <a:solidFill>
                  <a:srgbClr val="222633"/>
                </a:solidFill>
                <a:highlight>
                  <a:srgbClr val="FFFF00"/>
                </a:highlight>
                <a:latin typeface="Pretendard" pitchFamily="34" charset="0"/>
                <a:ea typeface="Pretendard" pitchFamily="34" charset="-122"/>
                <a:cs typeface="Pretendard" pitchFamily="34" charset="-120"/>
              </a:rPr>
              <a:t>패치</a:t>
            </a:r>
            <a:r>
              <a:rPr lang="en-US" sz="1150" b="1" dirty="0">
                <a:solidFill>
                  <a:srgbClr val="222633"/>
                </a:solidFill>
                <a:highlight>
                  <a:srgbClr val="FFFF00"/>
                </a:highlight>
                <a:latin typeface="Pretendard" pitchFamily="34" charset="0"/>
                <a:ea typeface="Pretendard" pitchFamily="34" charset="-122"/>
                <a:cs typeface="Pretendard" pitchFamily="34" charset="-120"/>
              </a:rPr>
              <a:t>(</a:t>
            </a:r>
            <a:r>
              <a:rPr lang="ko-KR" altLang="en-US" sz="1150" b="1" dirty="0">
                <a:solidFill>
                  <a:srgbClr val="222633"/>
                </a:solidFill>
                <a:highlight>
                  <a:srgbClr val="FFFF00"/>
                </a:highlight>
                <a:latin typeface="Pretendard" pitchFamily="34" charset="0"/>
                <a:ea typeface="Pretendard" pitchFamily="34" charset="-122"/>
                <a:cs typeface="Pretendard" pitchFamily="34" charset="-120"/>
              </a:rPr>
              <a:t>피부에 붙이는 </a:t>
            </a:r>
            <a:r>
              <a:rPr lang="ko-KR" altLang="en-US" sz="1150" b="1" dirty="0" err="1">
                <a:solidFill>
                  <a:srgbClr val="222633"/>
                </a:solidFill>
                <a:highlight>
                  <a:srgbClr val="FFFF00"/>
                </a:highlight>
                <a:latin typeface="Pretendard" pitchFamily="34" charset="0"/>
                <a:ea typeface="Pretendard" pitchFamily="34" charset="-122"/>
                <a:cs typeface="Pretendard" pitchFamily="34" charset="-120"/>
              </a:rPr>
              <a:t>마약성</a:t>
            </a:r>
            <a:r>
              <a:rPr lang="ko-KR" altLang="en-US" sz="1150" b="1" dirty="0">
                <a:solidFill>
                  <a:srgbClr val="222633"/>
                </a:solidFill>
                <a:highlight>
                  <a:srgbClr val="FFFF00"/>
                </a:highlight>
                <a:latin typeface="Pretendard" pitchFamily="34" charset="0"/>
                <a:ea typeface="Pretendard" pitchFamily="34" charset="-122"/>
                <a:cs typeface="Pretendard" pitchFamily="34" charset="-120"/>
              </a:rPr>
              <a:t> 진통제</a:t>
            </a:r>
            <a:r>
              <a:rPr lang="en-US" altLang="ko-KR" sz="1150" b="1" dirty="0">
                <a:solidFill>
                  <a:srgbClr val="222633"/>
                </a:solidFill>
                <a:highlight>
                  <a:srgbClr val="FFFF00"/>
                </a:highlight>
                <a:latin typeface="Pretendard" pitchFamily="34" charset="0"/>
                <a:ea typeface="Pretendard" pitchFamily="34" charset="-122"/>
                <a:cs typeface="Pretendard" pitchFamily="34" charset="-120"/>
              </a:rPr>
              <a:t>)</a:t>
            </a:r>
            <a:r>
              <a:rPr lang="en-US" sz="1150" b="1" dirty="0">
                <a:solidFill>
                  <a:srgbClr val="222633"/>
                </a:solidFill>
                <a:highlight>
                  <a:srgbClr val="FFFF00"/>
                </a:highlight>
                <a:latin typeface="Pretendard" pitchFamily="34" charset="0"/>
                <a:ea typeface="Pretendard" pitchFamily="34" charset="-122"/>
                <a:cs typeface="Pretendard" pitchFamily="34" charset="-120"/>
              </a:rPr>
              <a:t>를 확보</a:t>
            </a:r>
            <a:r>
              <a:rPr lang="en-US" sz="1150" dirty="0">
                <a:solidFill>
                  <a:srgbClr val="222633"/>
                </a:solidFill>
                <a:latin typeface="Pretendard" pitchFamily="34" charset="0"/>
                <a:ea typeface="Pretendard" pitchFamily="34" charset="-122"/>
                <a:cs typeface="Pretendard" pitchFamily="34" charset="-120"/>
              </a:rPr>
              <a:t>한 사례가 확인됐다</a:t>
            </a:r>
            <a:endParaRPr lang="en-US" sz="1150" dirty="0"/>
          </a:p>
        </p:txBody>
      </p:sp>
      <p:sp>
        <p:nvSpPr>
          <p:cNvPr id="14" name="Text 12"/>
          <p:cNvSpPr/>
          <p:nvPr/>
        </p:nvSpPr>
        <p:spPr>
          <a:xfrm>
            <a:off x="4041648" y="2505456"/>
            <a:ext cx="384048" cy="1444752"/>
          </a:xfrm>
          <a:prstGeom prst="rect">
            <a:avLst/>
          </a:prstGeom>
          <a:noFill/>
          <a:ln/>
        </p:spPr>
        <p:txBody>
          <a:bodyPr wrap="square" lIns="0" tIns="0" rIns="0" bIns="0" rtlCol="0" anchor="ctr"/>
          <a:lstStyle/>
          <a:p>
            <a:pPr marL="0" indent="0" algn="ctr">
              <a:buNone/>
            </a:pPr>
            <a:r>
              <a:rPr lang="en-US" sz="1400" dirty="0">
                <a:solidFill>
                  <a:srgbClr val="6E7686"/>
                </a:solidFill>
                <a:latin typeface="Pretendard" pitchFamily="34" charset="0"/>
                <a:ea typeface="Pretendard" pitchFamily="34" charset="-122"/>
                <a:cs typeface="Pretendard" pitchFamily="34" charset="-120"/>
              </a:rPr>
              <a:t>→</a:t>
            </a:r>
            <a:endParaRPr lang="en-US" sz="1400" dirty="0"/>
          </a:p>
        </p:txBody>
      </p:sp>
      <p:sp>
        <p:nvSpPr>
          <p:cNvPr id="15" name="Shape 13"/>
          <p:cNvSpPr/>
          <p:nvPr/>
        </p:nvSpPr>
        <p:spPr>
          <a:xfrm>
            <a:off x="4425696" y="2505456"/>
            <a:ext cx="3310128" cy="1444752"/>
          </a:xfrm>
          <a:prstGeom prst="rect">
            <a:avLst/>
          </a:prstGeom>
          <a:solidFill>
            <a:srgbClr val="FFFFFF"/>
          </a:solidFill>
          <a:ln w="12700">
            <a:solidFill>
              <a:srgbClr val="DCE0E8"/>
            </a:solidFill>
            <a:prstDash val="solid"/>
          </a:ln>
        </p:spPr>
        <p:txBody>
          <a:bodyPr/>
          <a:lstStyle/>
          <a:p>
            <a:endParaRPr lang="ko-KR" altLang="en-US"/>
          </a:p>
        </p:txBody>
      </p:sp>
      <p:sp>
        <p:nvSpPr>
          <p:cNvPr id="16" name="Text 14"/>
          <p:cNvSpPr/>
          <p:nvPr/>
        </p:nvSpPr>
        <p:spPr>
          <a:xfrm>
            <a:off x="4645152" y="2633472"/>
            <a:ext cx="2871216" cy="292608"/>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② 또래 사이의 유통과 오남용</a:t>
            </a:r>
            <a:endParaRPr lang="en-US" sz="1250" dirty="0"/>
          </a:p>
        </p:txBody>
      </p:sp>
      <p:sp>
        <p:nvSpPr>
          <p:cNvPr id="17" name="Shape 15"/>
          <p:cNvSpPr/>
          <p:nvPr/>
        </p:nvSpPr>
        <p:spPr>
          <a:xfrm>
            <a:off x="4645152" y="2980944"/>
            <a:ext cx="2871216" cy="0"/>
          </a:xfrm>
          <a:prstGeom prst="line">
            <a:avLst/>
          </a:prstGeom>
          <a:noFill/>
          <a:ln w="12700">
            <a:solidFill>
              <a:srgbClr val="DCE0E8"/>
            </a:solidFill>
            <a:prstDash val="solid"/>
          </a:ln>
        </p:spPr>
        <p:txBody>
          <a:bodyPr/>
          <a:lstStyle/>
          <a:p>
            <a:endParaRPr lang="ko-KR" altLang="en-US"/>
          </a:p>
        </p:txBody>
      </p:sp>
      <p:sp>
        <p:nvSpPr>
          <p:cNvPr id="18" name="Text 16"/>
          <p:cNvSpPr/>
          <p:nvPr/>
        </p:nvSpPr>
        <p:spPr>
          <a:xfrm>
            <a:off x="4645152" y="3090672"/>
            <a:ext cx="2871216" cy="749808"/>
          </a:xfrm>
          <a:prstGeom prst="rect">
            <a:avLst/>
          </a:prstGeom>
          <a:noFill/>
          <a:ln/>
        </p:spPr>
        <p:txBody>
          <a:bodyPr wrap="square" lIns="0" tIns="0" rIns="0" bIns="0" rtlCol="0" anchor="t"/>
          <a:lstStyle/>
          <a:p>
            <a:pPr marL="0" indent="0">
              <a:lnSpc>
                <a:spcPts val="1900"/>
              </a:lnSpc>
              <a:buNone/>
            </a:pPr>
            <a:r>
              <a:rPr lang="en-US" sz="1150" dirty="0">
                <a:solidFill>
                  <a:srgbClr val="222633"/>
                </a:solidFill>
                <a:latin typeface="Pretendard" pitchFamily="34" charset="0"/>
                <a:ea typeface="Pretendard" pitchFamily="34" charset="-122"/>
                <a:cs typeface="Pretendard" pitchFamily="34" charset="-120"/>
              </a:rPr>
              <a:t>확보한 패치가 다른 10대에게 판매됐고</a:t>
            </a:r>
            <a:endParaRPr lang="en-US" sz="1150" dirty="0"/>
          </a:p>
          <a:p>
            <a:pPr marL="0" indent="0">
              <a:lnSpc>
                <a:spcPts val="1900"/>
              </a:lnSpc>
              <a:buNone/>
            </a:pPr>
            <a:r>
              <a:rPr lang="en-US" sz="1150" b="1" dirty="0">
                <a:solidFill>
                  <a:srgbClr val="222633"/>
                </a:solidFill>
                <a:highlight>
                  <a:srgbClr val="FFFF00"/>
                </a:highlight>
                <a:latin typeface="Pretendard" pitchFamily="34" charset="0"/>
                <a:ea typeface="Pretendard" pitchFamily="34" charset="-122"/>
                <a:cs typeface="Pretendard" pitchFamily="34" charset="-120"/>
              </a:rPr>
              <a:t>치료 목적이 </a:t>
            </a:r>
            <a:r>
              <a:rPr lang="en-US" sz="1150" b="1" dirty="0" err="1">
                <a:solidFill>
                  <a:srgbClr val="222633"/>
                </a:solidFill>
                <a:highlight>
                  <a:srgbClr val="FFFF00"/>
                </a:highlight>
                <a:latin typeface="Pretendard" pitchFamily="34" charset="0"/>
                <a:ea typeface="Pretendard" pitchFamily="34" charset="-122"/>
                <a:cs typeface="Pretendard" pitchFamily="34" charset="-120"/>
              </a:rPr>
              <a:t>아닌</a:t>
            </a:r>
            <a:r>
              <a:rPr lang="en-US" sz="1150" b="1" dirty="0">
                <a:solidFill>
                  <a:srgbClr val="222633"/>
                </a:solidFill>
                <a:highlight>
                  <a:srgbClr val="FFFF00"/>
                </a:highlight>
                <a:latin typeface="Pretendard" pitchFamily="34" charset="0"/>
                <a:ea typeface="Pretendard" pitchFamily="34" charset="-122"/>
                <a:cs typeface="Pretendard" pitchFamily="34" charset="-120"/>
              </a:rPr>
              <a:t> </a:t>
            </a:r>
            <a:r>
              <a:rPr lang="en-US" sz="1150" b="1" dirty="0" err="1">
                <a:solidFill>
                  <a:srgbClr val="222633"/>
                </a:solidFill>
                <a:highlight>
                  <a:srgbClr val="FFFF00"/>
                </a:highlight>
                <a:latin typeface="Pretendard" pitchFamily="34" charset="0"/>
                <a:ea typeface="Pretendard" pitchFamily="34" charset="-122"/>
                <a:cs typeface="Pretendard" pitchFamily="34" charset="-120"/>
              </a:rPr>
              <a:t>방식</a:t>
            </a:r>
            <a:r>
              <a:rPr lang="en-US" sz="1150" b="1" dirty="0">
                <a:solidFill>
                  <a:srgbClr val="222633"/>
                </a:solidFill>
                <a:highlight>
                  <a:srgbClr val="FFFF00"/>
                </a:highlight>
                <a:latin typeface="Pretendard" pitchFamily="34" charset="0"/>
                <a:ea typeface="Pretendard" pitchFamily="34" charset="-122"/>
                <a:cs typeface="Pretendard" pitchFamily="34" charset="-120"/>
              </a:rPr>
              <a:t>(</a:t>
            </a:r>
            <a:r>
              <a:rPr lang="ko-KR" altLang="en-US" sz="1150" b="1" dirty="0">
                <a:solidFill>
                  <a:srgbClr val="222633"/>
                </a:solidFill>
                <a:highlight>
                  <a:srgbClr val="FFFF00"/>
                </a:highlight>
                <a:latin typeface="Pretendard" pitchFamily="34" charset="0"/>
                <a:ea typeface="Pretendard" pitchFamily="34" charset="-122"/>
                <a:cs typeface="Pretendard" pitchFamily="34" charset="-120"/>
              </a:rPr>
              <a:t>흡입 등</a:t>
            </a:r>
            <a:r>
              <a:rPr lang="en-US" altLang="ko-KR" sz="1150" b="1" dirty="0">
                <a:solidFill>
                  <a:srgbClr val="222633"/>
                </a:solidFill>
                <a:highlight>
                  <a:srgbClr val="FFFF00"/>
                </a:highlight>
                <a:latin typeface="Pretendard" pitchFamily="34" charset="0"/>
                <a:ea typeface="Pretendard" pitchFamily="34" charset="-122"/>
                <a:cs typeface="Pretendard" pitchFamily="34" charset="-120"/>
              </a:rPr>
              <a:t>)</a:t>
            </a:r>
            <a:r>
              <a:rPr lang="en-US" sz="1150" b="1" dirty="0" err="1">
                <a:solidFill>
                  <a:srgbClr val="222633"/>
                </a:solidFill>
                <a:highlight>
                  <a:srgbClr val="FFFF00"/>
                </a:highlight>
                <a:latin typeface="Pretendard" pitchFamily="34" charset="0"/>
                <a:ea typeface="Pretendard" pitchFamily="34" charset="-122"/>
                <a:cs typeface="Pretendard" pitchFamily="34" charset="-120"/>
              </a:rPr>
              <a:t>으로</a:t>
            </a:r>
            <a:endParaRPr lang="en-US" sz="1150" b="1" dirty="0">
              <a:highlight>
                <a:srgbClr val="FFFF00"/>
              </a:highlight>
            </a:endParaRPr>
          </a:p>
          <a:p>
            <a:pPr marL="0" indent="0">
              <a:lnSpc>
                <a:spcPts val="1900"/>
              </a:lnSpc>
              <a:buNone/>
            </a:pPr>
            <a:r>
              <a:rPr lang="en-US" sz="1150" b="1" dirty="0">
                <a:solidFill>
                  <a:srgbClr val="222633"/>
                </a:solidFill>
                <a:highlight>
                  <a:srgbClr val="FFFF00"/>
                </a:highlight>
                <a:latin typeface="Pretendard" pitchFamily="34" charset="0"/>
                <a:ea typeface="Pretendard" pitchFamily="34" charset="-122"/>
                <a:cs typeface="Pretendard" pitchFamily="34" charset="-120"/>
              </a:rPr>
              <a:t>오남용</a:t>
            </a:r>
            <a:r>
              <a:rPr lang="en-US" sz="1150" dirty="0">
                <a:solidFill>
                  <a:srgbClr val="222633"/>
                </a:solidFill>
                <a:latin typeface="Pretendard" pitchFamily="34" charset="0"/>
                <a:ea typeface="Pretendard" pitchFamily="34" charset="-122"/>
                <a:cs typeface="Pretendard" pitchFamily="34" charset="-120"/>
              </a:rPr>
              <a:t>됐다</a:t>
            </a:r>
            <a:endParaRPr lang="en-US" sz="1150" dirty="0"/>
          </a:p>
        </p:txBody>
      </p:sp>
      <p:sp>
        <p:nvSpPr>
          <p:cNvPr id="19" name="Text 17"/>
          <p:cNvSpPr/>
          <p:nvPr/>
        </p:nvSpPr>
        <p:spPr>
          <a:xfrm>
            <a:off x="7735824" y="2505456"/>
            <a:ext cx="384048" cy="1444752"/>
          </a:xfrm>
          <a:prstGeom prst="rect">
            <a:avLst/>
          </a:prstGeom>
          <a:noFill/>
          <a:ln/>
        </p:spPr>
        <p:txBody>
          <a:bodyPr wrap="square" lIns="0" tIns="0" rIns="0" bIns="0" rtlCol="0" anchor="ctr"/>
          <a:lstStyle/>
          <a:p>
            <a:pPr marL="0" indent="0" algn="ctr">
              <a:buNone/>
            </a:pPr>
            <a:r>
              <a:rPr lang="en-US" sz="1400" dirty="0">
                <a:solidFill>
                  <a:srgbClr val="6E7686"/>
                </a:solidFill>
                <a:latin typeface="Pretendard" pitchFamily="34" charset="0"/>
                <a:ea typeface="Pretendard" pitchFamily="34" charset="-122"/>
                <a:cs typeface="Pretendard" pitchFamily="34" charset="-120"/>
              </a:rPr>
              <a:t>→</a:t>
            </a:r>
            <a:endParaRPr lang="en-US" sz="1400" dirty="0"/>
          </a:p>
        </p:txBody>
      </p:sp>
      <p:sp>
        <p:nvSpPr>
          <p:cNvPr id="20" name="Shape 18"/>
          <p:cNvSpPr/>
          <p:nvPr/>
        </p:nvSpPr>
        <p:spPr>
          <a:xfrm>
            <a:off x="8119872" y="2505456"/>
            <a:ext cx="3310128" cy="1444752"/>
          </a:xfrm>
          <a:prstGeom prst="rect">
            <a:avLst/>
          </a:prstGeom>
          <a:solidFill>
            <a:srgbClr val="FFFFFF"/>
          </a:solidFill>
          <a:ln w="12700">
            <a:solidFill>
              <a:srgbClr val="DCE0E8"/>
            </a:solidFill>
            <a:prstDash val="solid"/>
          </a:ln>
        </p:spPr>
        <p:txBody>
          <a:bodyPr/>
          <a:lstStyle/>
          <a:p>
            <a:endParaRPr lang="ko-KR" altLang="en-US"/>
          </a:p>
        </p:txBody>
      </p:sp>
      <p:sp>
        <p:nvSpPr>
          <p:cNvPr id="21" name="Text 19"/>
          <p:cNvSpPr/>
          <p:nvPr/>
        </p:nvSpPr>
        <p:spPr>
          <a:xfrm>
            <a:off x="8339328" y="2633472"/>
            <a:ext cx="2871216" cy="292608"/>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③ 판매와 사용의 중첩</a:t>
            </a:r>
            <a:endParaRPr lang="en-US" sz="1250" dirty="0"/>
          </a:p>
        </p:txBody>
      </p:sp>
      <p:sp>
        <p:nvSpPr>
          <p:cNvPr id="22" name="Shape 20"/>
          <p:cNvSpPr/>
          <p:nvPr/>
        </p:nvSpPr>
        <p:spPr>
          <a:xfrm>
            <a:off x="8339328" y="2980944"/>
            <a:ext cx="2871216" cy="0"/>
          </a:xfrm>
          <a:prstGeom prst="line">
            <a:avLst/>
          </a:prstGeom>
          <a:noFill/>
          <a:ln w="12700">
            <a:solidFill>
              <a:srgbClr val="DCE0E8"/>
            </a:solidFill>
            <a:prstDash val="solid"/>
          </a:ln>
        </p:spPr>
        <p:txBody>
          <a:bodyPr/>
          <a:lstStyle/>
          <a:p>
            <a:endParaRPr lang="ko-KR" altLang="en-US"/>
          </a:p>
        </p:txBody>
      </p:sp>
      <p:sp>
        <p:nvSpPr>
          <p:cNvPr id="23" name="Text 21"/>
          <p:cNvSpPr/>
          <p:nvPr/>
        </p:nvSpPr>
        <p:spPr>
          <a:xfrm>
            <a:off x="8339328" y="3090672"/>
            <a:ext cx="2871216" cy="749808"/>
          </a:xfrm>
          <a:prstGeom prst="rect">
            <a:avLst/>
          </a:prstGeom>
          <a:noFill/>
          <a:ln/>
        </p:spPr>
        <p:txBody>
          <a:bodyPr wrap="square" lIns="0" tIns="0" rIns="0" bIns="0" rtlCol="0" anchor="t"/>
          <a:lstStyle/>
          <a:p>
            <a:pPr marL="0" indent="0">
              <a:lnSpc>
                <a:spcPts val="1900"/>
              </a:lnSpc>
              <a:buNone/>
            </a:pPr>
            <a:r>
              <a:rPr lang="en-US" sz="1150" dirty="0">
                <a:solidFill>
                  <a:srgbClr val="222633"/>
                </a:solidFill>
                <a:latin typeface="Pretendard" pitchFamily="34" charset="0"/>
                <a:ea typeface="Pretendard" pitchFamily="34" charset="-122"/>
                <a:cs typeface="Pretendard" pitchFamily="34" charset="-120"/>
              </a:rPr>
              <a:t>검거된 사건 중 일부에서는</a:t>
            </a:r>
            <a:endParaRPr lang="en-US" sz="1150" dirty="0"/>
          </a:p>
          <a:p>
            <a:pPr marL="0" indent="0">
              <a:lnSpc>
                <a:spcPts val="1900"/>
              </a:lnSpc>
              <a:buNone/>
            </a:pPr>
            <a:r>
              <a:rPr lang="en-US" sz="1150" b="1" dirty="0">
                <a:solidFill>
                  <a:srgbClr val="222633"/>
                </a:solidFill>
                <a:highlight>
                  <a:srgbClr val="FFFF00"/>
                </a:highlight>
                <a:latin typeface="Pretendard" pitchFamily="34" charset="0"/>
                <a:ea typeface="Pretendard" pitchFamily="34" charset="-122"/>
                <a:cs typeface="Pretendard" pitchFamily="34" charset="-120"/>
              </a:rPr>
              <a:t>본인의 투약과 타인에 대한 판매가</a:t>
            </a:r>
            <a:endParaRPr lang="en-US" sz="1150" b="1" dirty="0">
              <a:highlight>
                <a:srgbClr val="FFFF00"/>
              </a:highlight>
            </a:endParaRPr>
          </a:p>
          <a:p>
            <a:pPr marL="0" indent="0">
              <a:lnSpc>
                <a:spcPts val="1900"/>
              </a:lnSpc>
              <a:buNone/>
            </a:pPr>
            <a:r>
              <a:rPr lang="en-US" sz="1150" b="1" dirty="0">
                <a:solidFill>
                  <a:srgbClr val="222633"/>
                </a:solidFill>
                <a:highlight>
                  <a:srgbClr val="FFFF00"/>
                </a:highlight>
                <a:latin typeface="Pretendard" pitchFamily="34" charset="0"/>
                <a:ea typeface="Pretendard" pitchFamily="34" charset="-122"/>
                <a:cs typeface="Pretendard" pitchFamily="34" charset="-120"/>
              </a:rPr>
              <a:t>함께 포함</a:t>
            </a:r>
            <a:r>
              <a:rPr lang="en-US" sz="1150" dirty="0">
                <a:solidFill>
                  <a:srgbClr val="222633"/>
                </a:solidFill>
                <a:latin typeface="Pretendard" pitchFamily="34" charset="0"/>
                <a:ea typeface="Pretendard" pitchFamily="34" charset="-122"/>
                <a:cs typeface="Pretendard" pitchFamily="34" charset="-120"/>
              </a:rPr>
              <a:t>되었다</a:t>
            </a:r>
            <a:endParaRPr lang="en-US" sz="1150" dirty="0"/>
          </a:p>
        </p:txBody>
      </p:sp>
      <p:sp>
        <p:nvSpPr>
          <p:cNvPr id="24" name="Shape 22"/>
          <p:cNvSpPr/>
          <p:nvPr/>
        </p:nvSpPr>
        <p:spPr>
          <a:xfrm>
            <a:off x="731520" y="4078224"/>
            <a:ext cx="10698480" cy="841248"/>
          </a:xfrm>
          <a:prstGeom prst="rect">
            <a:avLst/>
          </a:prstGeom>
          <a:solidFill>
            <a:srgbClr val="F2F4F8"/>
          </a:solidFill>
          <a:ln w="12700">
            <a:solidFill>
              <a:srgbClr val="F2F4F8"/>
            </a:solidFill>
            <a:prstDash val="solid"/>
          </a:ln>
        </p:spPr>
        <p:txBody>
          <a:bodyPr/>
          <a:lstStyle/>
          <a:p>
            <a:endParaRPr lang="ko-KR" altLang="en-US"/>
          </a:p>
        </p:txBody>
      </p:sp>
      <p:sp>
        <p:nvSpPr>
          <p:cNvPr id="25" name="Text 23"/>
          <p:cNvSpPr/>
          <p:nvPr/>
        </p:nvSpPr>
        <p:spPr>
          <a:xfrm>
            <a:off x="1005840" y="4151376"/>
            <a:ext cx="2011680" cy="329184"/>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사용에 대한 인식</a:t>
            </a:r>
            <a:endParaRPr lang="en-US" sz="1150" dirty="0"/>
          </a:p>
        </p:txBody>
      </p:sp>
      <p:sp>
        <p:nvSpPr>
          <p:cNvPr id="26" name="Text 24"/>
          <p:cNvSpPr/>
          <p:nvPr/>
        </p:nvSpPr>
        <p:spPr>
          <a:xfrm>
            <a:off x="3200400" y="4151376"/>
            <a:ext cx="7955280" cy="329184"/>
          </a:xfrm>
          <a:prstGeom prst="rect">
            <a:avLst/>
          </a:prstGeom>
          <a:noFill/>
          <a:ln/>
        </p:spPr>
        <p:txBody>
          <a:bodyPr wrap="square" lIns="0" tIns="0" rIns="0" bIns="0" rtlCol="0" anchor="ctr"/>
          <a:lstStyle/>
          <a:p>
            <a:pPr marL="0" indent="0">
              <a:buNone/>
            </a:pPr>
            <a:r>
              <a:rPr lang="en-US" sz="1150" dirty="0">
                <a:solidFill>
                  <a:srgbClr val="222633"/>
                </a:solidFill>
                <a:latin typeface="Pretendard" pitchFamily="34" charset="0"/>
                <a:ea typeface="Pretendard" pitchFamily="34" charset="-122"/>
                <a:cs typeface="Pretendard" pitchFamily="34" charset="-120"/>
              </a:rPr>
              <a:t>담당 수사관은 일부가 </a:t>
            </a:r>
            <a:r>
              <a:rPr lang="en-US" sz="1150" b="1" dirty="0">
                <a:solidFill>
                  <a:srgbClr val="222633"/>
                </a:solidFill>
                <a:highlight>
                  <a:srgbClr val="FFFF00"/>
                </a:highlight>
                <a:latin typeface="Pretendard" pitchFamily="34" charset="0"/>
                <a:ea typeface="Pretendard" pitchFamily="34" charset="-122"/>
                <a:cs typeface="Pretendard" pitchFamily="34" charset="-120"/>
              </a:rPr>
              <a:t>“의사가 처방한 약”이라는 이유로 문제를 가볍게 받아들였다</a:t>
            </a:r>
            <a:r>
              <a:rPr lang="en-US" sz="1150" dirty="0">
                <a:solidFill>
                  <a:srgbClr val="222633"/>
                </a:solidFill>
                <a:latin typeface="Pretendard" pitchFamily="34" charset="0"/>
                <a:ea typeface="Pretendard" pitchFamily="34" charset="-122"/>
                <a:cs typeface="Pretendard" pitchFamily="34" charset="-120"/>
              </a:rPr>
              <a:t>고 설명했다</a:t>
            </a:r>
            <a:endParaRPr lang="en-US" sz="1150" dirty="0"/>
          </a:p>
        </p:txBody>
      </p:sp>
      <p:sp>
        <p:nvSpPr>
          <p:cNvPr id="27" name="Text 25"/>
          <p:cNvSpPr/>
          <p:nvPr/>
        </p:nvSpPr>
        <p:spPr>
          <a:xfrm>
            <a:off x="1005840" y="4517136"/>
            <a:ext cx="2011680" cy="329184"/>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반복된 사용</a:t>
            </a:r>
            <a:endParaRPr lang="en-US" sz="1150" dirty="0"/>
          </a:p>
        </p:txBody>
      </p:sp>
      <p:sp>
        <p:nvSpPr>
          <p:cNvPr id="28" name="Text 26"/>
          <p:cNvSpPr/>
          <p:nvPr/>
        </p:nvSpPr>
        <p:spPr>
          <a:xfrm>
            <a:off x="3200400" y="4517136"/>
            <a:ext cx="7955280" cy="329184"/>
          </a:xfrm>
          <a:prstGeom prst="rect">
            <a:avLst/>
          </a:prstGeom>
          <a:noFill/>
          <a:ln/>
        </p:spPr>
        <p:txBody>
          <a:bodyPr wrap="square" lIns="0" tIns="0" rIns="0" bIns="0" rtlCol="0" anchor="ctr"/>
          <a:lstStyle/>
          <a:p>
            <a:pPr marL="0" indent="0">
              <a:buNone/>
            </a:pPr>
            <a:r>
              <a:rPr lang="en-US" sz="1150" b="1" dirty="0">
                <a:solidFill>
                  <a:srgbClr val="222633"/>
                </a:solidFill>
                <a:highlight>
                  <a:srgbClr val="FFFF00"/>
                </a:highlight>
                <a:latin typeface="Pretendard" pitchFamily="34" charset="0"/>
                <a:ea typeface="Pretendard" pitchFamily="34" charset="-122"/>
                <a:cs typeface="Pretendard" pitchFamily="34" charset="-120"/>
              </a:rPr>
              <a:t>수사가 진행되는 동안에도 투약하다 적발된 사례가 있었다</a:t>
            </a:r>
            <a:r>
              <a:rPr lang="en-US" sz="1150" dirty="0">
                <a:solidFill>
                  <a:srgbClr val="222633"/>
                </a:solidFill>
                <a:latin typeface="Pretendard" pitchFamily="34" charset="0"/>
                <a:ea typeface="Pretendard" pitchFamily="34" charset="-122"/>
                <a:cs typeface="Pretendard" pitchFamily="34" charset="-120"/>
              </a:rPr>
              <a:t>고 담당 수사관이 설명했다</a:t>
            </a:r>
            <a:endParaRPr lang="en-US" sz="1150" dirty="0"/>
          </a:p>
        </p:txBody>
      </p:sp>
      <p:sp>
        <p:nvSpPr>
          <p:cNvPr id="29" name="Shape 27"/>
          <p:cNvSpPr/>
          <p:nvPr/>
        </p:nvSpPr>
        <p:spPr>
          <a:xfrm>
            <a:off x="731520" y="5102112"/>
            <a:ext cx="10698480" cy="384048"/>
          </a:xfrm>
          <a:prstGeom prst="rect">
            <a:avLst/>
          </a:prstGeom>
          <a:solidFill>
            <a:srgbClr val="FFFFFF"/>
          </a:solidFill>
          <a:ln w="12700">
            <a:solidFill>
              <a:srgbClr val="DCE0E8"/>
            </a:solidFill>
            <a:prstDash val="solid"/>
          </a:ln>
        </p:spPr>
        <p:txBody>
          <a:bodyPr/>
          <a:lstStyle/>
          <a:p>
            <a:endParaRPr lang="ko-KR" altLang="en-US"/>
          </a:p>
        </p:txBody>
      </p:sp>
      <p:sp>
        <p:nvSpPr>
          <p:cNvPr id="30" name="Text 28"/>
          <p:cNvSpPr/>
          <p:nvPr/>
        </p:nvSpPr>
        <p:spPr>
          <a:xfrm>
            <a:off x="969264" y="5102112"/>
            <a:ext cx="1920240" cy="384048"/>
          </a:xfrm>
          <a:prstGeom prst="rect">
            <a:avLst/>
          </a:prstGeom>
          <a:noFill/>
          <a:ln/>
        </p:spPr>
        <p:txBody>
          <a:bodyPr wrap="square" lIns="0" tIns="0" rIns="0" bIns="0" rtlCol="0" anchor="ctr"/>
          <a:lstStyle/>
          <a:p>
            <a:pPr marL="0" indent="0">
              <a:buNone/>
            </a:pPr>
            <a:r>
              <a:rPr lang="ko-KR" altLang="en-US" sz="1150" b="1" dirty="0">
                <a:solidFill>
                  <a:srgbClr val="1E2761"/>
                </a:solidFill>
                <a:latin typeface="Pretendard" pitchFamily="34" charset="0"/>
                <a:ea typeface="Pretendard" pitchFamily="34" charset="-122"/>
                <a:cs typeface="Pretendard" pitchFamily="34" charset="-120"/>
              </a:rPr>
              <a:t>치료 우선의 적용 범위</a:t>
            </a:r>
            <a:endParaRPr lang="en-US" sz="1150" dirty="0"/>
          </a:p>
        </p:txBody>
      </p:sp>
      <p:sp>
        <p:nvSpPr>
          <p:cNvPr id="31" name="Text 29"/>
          <p:cNvSpPr/>
          <p:nvPr/>
        </p:nvSpPr>
        <p:spPr>
          <a:xfrm>
            <a:off x="3108960" y="5102112"/>
            <a:ext cx="8083296" cy="384048"/>
          </a:xfrm>
          <a:prstGeom prst="rect">
            <a:avLst/>
          </a:prstGeom>
          <a:noFill/>
          <a:ln/>
        </p:spPr>
        <p:txBody>
          <a:bodyPr wrap="square" lIns="0" tIns="0" rIns="0" bIns="0" rtlCol="0" anchor="ctr"/>
          <a:lstStyle/>
          <a:p>
            <a:r>
              <a:rPr lang="ko-KR" altLang="en-US" sz="1200" dirty="0">
                <a:solidFill>
                  <a:srgbClr val="222633"/>
                </a:solidFill>
                <a:latin typeface="Pretendard" pitchFamily="34" charset="0"/>
                <a:ea typeface="Pretendard" pitchFamily="34" charset="-122"/>
                <a:cs typeface="Pretendard" pitchFamily="34" charset="-120"/>
              </a:rPr>
              <a:t>본인이 사용하면서 판매에도 관여했다면</a:t>
            </a:r>
            <a:r>
              <a:rPr lang="en-US" altLang="ko-KR" sz="1200" dirty="0">
                <a:solidFill>
                  <a:srgbClr val="222633"/>
                </a:solidFill>
                <a:latin typeface="Pretendard" pitchFamily="34" charset="0"/>
                <a:ea typeface="Pretendard" pitchFamily="34" charset="-122"/>
                <a:cs typeface="Pretendard" pitchFamily="34" charset="-120"/>
              </a:rPr>
              <a:t>, </a:t>
            </a:r>
            <a:r>
              <a:rPr lang="ko-KR" altLang="en-US" sz="1200" dirty="0">
                <a:solidFill>
                  <a:srgbClr val="222633"/>
                </a:solidFill>
                <a:latin typeface="Pretendard" pitchFamily="34" charset="0"/>
                <a:ea typeface="Pretendard" pitchFamily="34" charset="-122"/>
                <a:cs typeface="Pretendard" pitchFamily="34" charset="-120"/>
              </a:rPr>
              <a:t>사용 문제에 대한 치료</a:t>
            </a:r>
            <a:r>
              <a:rPr lang="en-US" altLang="ko-KR" sz="1200" dirty="0">
                <a:solidFill>
                  <a:srgbClr val="222633"/>
                </a:solidFill>
                <a:latin typeface="Pretendard" pitchFamily="34" charset="0"/>
                <a:ea typeface="Pretendard" pitchFamily="34" charset="-122"/>
                <a:cs typeface="Pretendard" pitchFamily="34" charset="-120"/>
              </a:rPr>
              <a:t>·</a:t>
            </a:r>
            <a:r>
              <a:rPr lang="ko-KR" altLang="en-US" sz="1200" dirty="0">
                <a:solidFill>
                  <a:srgbClr val="222633"/>
                </a:solidFill>
                <a:latin typeface="Pretendard" pitchFamily="34" charset="0"/>
                <a:ea typeface="Pretendard" pitchFamily="34" charset="-122"/>
                <a:cs typeface="Pretendard" pitchFamily="34" charset="-120"/>
              </a:rPr>
              <a:t>재활 우선 원칙을 동일하게 적용할 것인가</a:t>
            </a:r>
            <a:r>
              <a:rPr lang="en-US" altLang="ko-KR" sz="1200" dirty="0">
                <a:solidFill>
                  <a:srgbClr val="222633"/>
                </a:solidFill>
                <a:latin typeface="Pretendard" pitchFamily="34" charset="0"/>
                <a:ea typeface="Pretendard" pitchFamily="34" charset="-122"/>
                <a:cs typeface="Pretendard" pitchFamily="34" charset="-120"/>
              </a:rPr>
              <a:t>?</a:t>
            </a:r>
            <a:endParaRPr lang="en-US" sz="1200" dirty="0"/>
          </a:p>
        </p:txBody>
      </p:sp>
      <p:sp>
        <p:nvSpPr>
          <p:cNvPr id="32" name="Shape 30"/>
          <p:cNvSpPr/>
          <p:nvPr/>
        </p:nvSpPr>
        <p:spPr>
          <a:xfrm>
            <a:off x="731520" y="5541024"/>
            <a:ext cx="10698480" cy="384048"/>
          </a:xfrm>
          <a:prstGeom prst="rect">
            <a:avLst/>
          </a:prstGeom>
          <a:solidFill>
            <a:srgbClr val="FFFFFF"/>
          </a:solidFill>
          <a:ln w="12700">
            <a:solidFill>
              <a:srgbClr val="DCE0E8"/>
            </a:solidFill>
            <a:prstDash val="solid"/>
          </a:ln>
        </p:spPr>
        <p:txBody>
          <a:bodyPr/>
          <a:lstStyle/>
          <a:p>
            <a:endParaRPr lang="ko-KR" altLang="en-US"/>
          </a:p>
        </p:txBody>
      </p:sp>
      <p:sp>
        <p:nvSpPr>
          <p:cNvPr id="33" name="Text 31"/>
          <p:cNvSpPr/>
          <p:nvPr/>
        </p:nvSpPr>
        <p:spPr>
          <a:xfrm>
            <a:off x="969264" y="5541024"/>
            <a:ext cx="1920240" cy="384048"/>
          </a:xfrm>
          <a:prstGeom prst="rect">
            <a:avLst/>
          </a:prstGeom>
          <a:noFill/>
          <a:ln/>
        </p:spPr>
        <p:txBody>
          <a:bodyPr wrap="square" lIns="0" tIns="0" rIns="0" bIns="0" rtlCol="0" anchor="ctr"/>
          <a:lstStyle/>
          <a:p>
            <a:pPr marL="0" indent="0">
              <a:buNone/>
            </a:pPr>
            <a:r>
              <a:rPr lang="en-US" sz="1150" b="1" dirty="0">
                <a:solidFill>
                  <a:srgbClr val="1E2761"/>
                </a:solidFill>
                <a:latin typeface="Pretendard" pitchFamily="34" charset="0"/>
                <a:ea typeface="Pretendard" pitchFamily="34" charset="-122"/>
                <a:cs typeface="Pretendard" pitchFamily="34" charset="-120"/>
              </a:rPr>
              <a:t>반복 투약 대응</a:t>
            </a:r>
            <a:endParaRPr lang="en-US" sz="1150" dirty="0"/>
          </a:p>
        </p:txBody>
      </p:sp>
      <p:sp>
        <p:nvSpPr>
          <p:cNvPr id="34" name="Text 32"/>
          <p:cNvSpPr/>
          <p:nvPr/>
        </p:nvSpPr>
        <p:spPr>
          <a:xfrm>
            <a:off x="3108960" y="5541024"/>
            <a:ext cx="8083296" cy="384048"/>
          </a:xfrm>
          <a:prstGeom prst="rect">
            <a:avLst/>
          </a:prstGeom>
          <a:noFill/>
          <a:ln/>
        </p:spPr>
        <p:txBody>
          <a:bodyPr wrap="square" lIns="0" tIns="0" rIns="0" bIns="0" rtlCol="0" anchor="ctr"/>
          <a:lstStyle/>
          <a:p>
            <a:r>
              <a:rPr lang="ko-KR" altLang="en-US" sz="1200" dirty="0">
                <a:solidFill>
                  <a:srgbClr val="222633"/>
                </a:solidFill>
                <a:latin typeface="Pretendard" pitchFamily="34" charset="0"/>
                <a:ea typeface="Pretendard" pitchFamily="34" charset="-122"/>
                <a:cs typeface="Pretendard" pitchFamily="34" charset="-120"/>
              </a:rPr>
              <a:t>수사 중에도 사용이 반복된다면</a:t>
            </a:r>
            <a:r>
              <a:rPr lang="en-US" altLang="ko-KR" sz="1200" dirty="0">
                <a:solidFill>
                  <a:srgbClr val="222633"/>
                </a:solidFill>
                <a:latin typeface="Pretendard" pitchFamily="34" charset="0"/>
                <a:ea typeface="Pretendard" pitchFamily="34" charset="-122"/>
                <a:cs typeface="Pretendard" pitchFamily="34" charset="-120"/>
              </a:rPr>
              <a:t>, </a:t>
            </a:r>
            <a:r>
              <a:rPr lang="ko-KR" altLang="en-US" sz="1200" dirty="0">
                <a:solidFill>
                  <a:srgbClr val="222633"/>
                </a:solidFill>
                <a:latin typeface="Pretendard" pitchFamily="34" charset="0"/>
                <a:ea typeface="Pretendard" pitchFamily="34" charset="-122"/>
                <a:cs typeface="Pretendard" pitchFamily="34" charset="-120"/>
              </a:rPr>
              <a:t>치료를 우선해야 할 이유가 커지는가</a:t>
            </a:r>
            <a:r>
              <a:rPr lang="en-US" altLang="ko-KR" sz="1200" dirty="0">
                <a:solidFill>
                  <a:srgbClr val="222633"/>
                </a:solidFill>
                <a:latin typeface="Pretendard" pitchFamily="34" charset="0"/>
                <a:ea typeface="Pretendard" pitchFamily="34" charset="-122"/>
                <a:cs typeface="Pretendard" pitchFamily="34" charset="-120"/>
              </a:rPr>
              <a:t>, </a:t>
            </a:r>
            <a:r>
              <a:rPr lang="ko-KR" altLang="en-US" sz="1200" dirty="0">
                <a:solidFill>
                  <a:srgbClr val="222633"/>
                </a:solidFill>
                <a:latin typeface="Pretendard" pitchFamily="34" charset="0"/>
                <a:ea typeface="Pretendard" pitchFamily="34" charset="-122"/>
                <a:cs typeface="Pretendard" pitchFamily="34" charset="-120"/>
              </a:rPr>
              <a:t>처벌</a:t>
            </a:r>
            <a:r>
              <a:rPr lang="en-US" altLang="ko-KR" sz="1200" dirty="0">
                <a:solidFill>
                  <a:srgbClr val="222633"/>
                </a:solidFill>
                <a:latin typeface="Pretendard" pitchFamily="34" charset="0"/>
                <a:ea typeface="Pretendard" pitchFamily="34" charset="-122"/>
                <a:cs typeface="Pretendard" pitchFamily="34" charset="-120"/>
              </a:rPr>
              <a:t>·</a:t>
            </a:r>
            <a:r>
              <a:rPr lang="ko-KR" altLang="en-US" sz="1200" dirty="0">
                <a:solidFill>
                  <a:srgbClr val="222633"/>
                </a:solidFill>
                <a:latin typeface="Pretendard" pitchFamily="34" charset="0"/>
                <a:ea typeface="Pretendard" pitchFamily="34" charset="-122"/>
                <a:cs typeface="Pretendard" pitchFamily="34" charset="-120"/>
              </a:rPr>
              <a:t>감독을 강화해야 할 이유가 커지는가</a:t>
            </a:r>
            <a:r>
              <a:rPr lang="en-US" altLang="ko-KR" sz="1200" dirty="0">
                <a:solidFill>
                  <a:srgbClr val="222633"/>
                </a:solidFill>
                <a:latin typeface="Pretendard" pitchFamily="34" charset="0"/>
                <a:ea typeface="Pretendard" pitchFamily="34" charset="-122"/>
                <a:cs typeface="Pretendard" pitchFamily="34" charset="-120"/>
              </a:rPr>
              <a:t>?</a:t>
            </a:r>
            <a:endParaRPr lang="en-US" sz="1200" dirty="0"/>
          </a:p>
        </p:txBody>
      </p:sp>
      <p:sp>
        <p:nvSpPr>
          <p:cNvPr id="35" name="Shape 33"/>
          <p:cNvSpPr/>
          <p:nvPr/>
        </p:nvSpPr>
        <p:spPr>
          <a:xfrm>
            <a:off x="731520" y="6153912"/>
            <a:ext cx="10698480" cy="0"/>
          </a:xfrm>
          <a:prstGeom prst="line">
            <a:avLst/>
          </a:prstGeom>
          <a:noFill/>
          <a:ln w="12700">
            <a:solidFill>
              <a:srgbClr val="DCE0E8"/>
            </a:solidFill>
            <a:prstDash val="solid"/>
          </a:ln>
        </p:spPr>
        <p:txBody>
          <a:bodyPr/>
          <a:lstStyle/>
          <a:p>
            <a:endParaRPr lang="ko-KR"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첫 사용 뒤 무엇이 달라졌나</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pPr marL="0" indent="0">
              <a:buNone/>
            </a:pPr>
            <a:r>
              <a:rPr lang="en-US" sz="2700" b="1" dirty="0">
                <a:solidFill>
                  <a:srgbClr val="1E2761"/>
                </a:solidFill>
                <a:latin typeface="Pretendard" pitchFamily="34" charset="0"/>
                <a:ea typeface="Pretendard" pitchFamily="34" charset="-122"/>
                <a:cs typeface="Pretendard" pitchFamily="34" charset="-120"/>
              </a:rPr>
              <a:t>위기청소년의 마약류 사용 — 어떤 약물을 어떻게 접했나</a:t>
            </a:r>
            <a:endParaRPr lang="en-US" sz="2700" dirty="0"/>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353312"/>
            <a:ext cx="10698480" cy="438912"/>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987552" y="1353312"/>
            <a:ext cx="10186416" cy="438912"/>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설문에서는 합성대마와 필로폰이 함께 나타났고 텔레그램이 주된 인지·구입 경로였으며, 심층면접에서는 관계를 통한 첫 접촉이 확인됐다</a:t>
            </a:r>
            <a:endParaRPr lang="en-US" sz="1250" dirty="0"/>
          </a:p>
        </p:txBody>
      </p:sp>
      <p:sp>
        <p:nvSpPr>
          <p:cNvPr id="8" name="Text 6"/>
          <p:cNvSpPr/>
          <p:nvPr/>
        </p:nvSpPr>
        <p:spPr>
          <a:xfrm>
            <a:off x="731520" y="1975104"/>
            <a:ext cx="3310128" cy="274320"/>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가장 많이 사용한 마약류</a:t>
            </a:r>
            <a:endParaRPr lang="en-US" sz="1250" dirty="0"/>
          </a:p>
        </p:txBody>
      </p:sp>
      <p:sp>
        <p:nvSpPr>
          <p:cNvPr id="9" name="Shape 7"/>
          <p:cNvSpPr/>
          <p:nvPr/>
        </p:nvSpPr>
        <p:spPr>
          <a:xfrm>
            <a:off x="731520" y="2286000"/>
            <a:ext cx="3310128" cy="0"/>
          </a:xfrm>
          <a:prstGeom prst="line">
            <a:avLst/>
          </a:prstGeom>
          <a:noFill/>
          <a:ln w="12700">
            <a:solidFill>
              <a:srgbClr val="DCE0E8"/>
            </a:solidFill>
            <a:prstDash val="solid"/>
          </a:ln>
        </p:spPr>
        <p:txBody>
          <a:bodyPr/>
          <a:lstStyle/>
          <a:p>
            <a:endParaRPr lang="ko-KR" altLang="en-US"/>
          </a:p>
        </p:txBody>
      </p:sp>
      <p:sp>
        <p:nvSpPr>
          <p:cNvPr id="10" name="Text 8"/>
          <p:cNvSpPr/>
          <p:nvPr/>
        </p:nvSpPr>
        <p:spPr>
          <a:xfrm>
            <a:off x="731520" y="2395728"/>
            <a:ext cx="1755648" cy="310896"/>
          </a:xfrm>
          <a:prstGeom prst="rect">
            <a:avLst/>
          </a:prstGeom>
          <a:noFill/>
          <a:ln/>
        </p:spPr>
        <p:txBody>
          <a:bodyPr wrap="square" lIns="0" tIns="0" rIns="0" bIns="0" rtlCol="0" anchor="ctr"/>
          <a:lstStyle/>
          <a:p>
            <a:pPr marL="0" indent="0">
              <a:buNone/>
            </a:pPr>
            <a:r>
              <a:rPr lang="en-US" sz="1150" dirty="0">
                <a:solidFill>
                  <a:srgbClr val="222633"/>
                </a:solidFill>
                <a:latin typeface="Pretendard" pitchFamily="34" charset="0"/>
                <a:ea typeface="Pretendard" pitchFamily="34" charset="-122"/>
                <a:cs typeface="Pretendard" pitchFamily="34" charset="-120"/>
              </a:rPr>
              <a:t>합성대마</a:t>
            </a:r>
            <a:endParaRPr lang="en-US" sz="1150" dirty="0"/>
          </a:p>
        </p:txBody>
      </p:sp>
      <p:sp>
        <p:nvSpPr>
          <p:cNvPr id="11" name="Shape 9"/>
          <p:cNvSpPr/>
          <p:nvPr/>
        </p:nvSpPr>
        <p:spPr>
          <a:xfrm>
            <a:off x="2532888" y="2468880"/>
            <a:ext cx="517642" cy="164592"/>
          </a:xfrm>
          <a:prstGeom prst="rect">
            <a:avLst/>
          </a:prstGeom>
          <a:solidFill>
            <a:srgbClr val="1E2761"/>
          </a:solidFill>
          <a:ln w="12700">
            <a:solidFill>
              <a:srgbClr val="1E2761"/>
            </a:solidFill>
            <a:prstDash val="solid"/>
          </a:ln>
        </p:spPr>
        <p:txBody>
          <a:bodyPr/>
          <a:lstStyle/>
          <a:p>
            <a:endParaRPr lang="ko-KR" altLang="en-US"/>
          </a:p>
        </p:txBody>
      </p:sp>
      <p:sp>
        <p:nvSpPr>
          <p:cNvPr id="12" name="Text 10"/>
          <p:cNvSpPr/>
          <p:nvPr/>
        </p:nvSpPr>
        <p:spPr>
          <a:xfrm>
            <a:off x="3355848" y="2395728"/>
            <a:ext cx="685800" cy="310896"/>
          </a:xfrm>
          <a:prstGeom prst="rect">
            <a:avLst/>
          </a:prstGeom>
          <a:noFill/>
          <a:ln/>
        </p:spPr>
        <p:txBody>
          <a:bodyPr wrap="square" lIns="0" tIns="0" rIns="0" bIns="0" rtlCol="0" anchor="ctr"/>
          <a:lstStyle/>
          <a:p>
            <a:pPr marL="0" indent="0" algn="r">
              <a:buNone/>
            </a:pPr>
            <a:r>
              <a:rPr lang="en-US" sz="1150" b="1" dirty="0">
                <a:solidFill>
                  <a:srgbClr val="1E2761"/>
                </a:solidFill>
                <a:latin typeface="Pretendard" pitchFamily="34" charset="0"/>
                <a:ea typeface="Pretendard" pitchFamily="34" charset="-122"/>
                <a:cs typeface="Pretendard" pitchFamily="34" charset="-120"/>
              </a:rPr>
              <a:t>33.3%</a:t>
            </a:r>
            <a:endParaRPr lang="en-US" sz="1150" dirty="0"/>
          </a:p>
        </p:txBody>
      </p:sp>
      <p:sp>
        <p:nvSpPr>
          <p:cNvPr id="13" name="Text 11"/>
          <p:cNvSpPr/>
          <p:nvPr/>
        </p:nvSpPr>
        <p:spPr>
          <a:xfrm>
            <a:off x="731520" y="2798064"/>
            <a:ext cx="1755648" cy="310896"/>
          </a:xfrm>
          <a:prstGeom prst="rect">
            <a:avLst/>
          </a:prstGeom>
          <a:noFill/>
          <a:ln/>
        </p:spPr>
        <p:txBody>
          <a:bodyPr wrap="square" lIns="0" tIns="0" rIns="0" bIns="0" rtlCol="0" anchor="ctr"/>
          <a:lstStyle/>
          <a:p>
            <a:pPr marL="0" indent="0">
              <a:buNone/>
            </a:pPr>
            <a:r>
              <a:rPr lang="en-US" sz="1150" dirty="0">
                <a:solidFill>
                  <a:srgbClr val="222633"/>
                </a:solidFill>
                <a:latin typeface="Pretendard" pitchFamily="34" charset="0"/>
                <a:ea typeface="Pretendard" pitchFamily="34" charset="-122"/>
                <a:cs typeface="Pretendard" pitchFamily="34" charset="-120"/>
              </a:rPr>
              <a:t>필로폰 · 메스암페타민</a:t>
            </a:r>
            <a:endParaRPr lang="en-US" sz="1150" dirty="0"/>
          </a:p>
        </p:txBody>
      </p:sp>
      <p:sp>
        <p:nvSpPr>
          <p:cNvPr id="14" name="Shape 12"/>
          <p:cNvSpPr/>
          <p:nvPr/>
        </p:nvSpPr>
        <p:spPr>
          <a:xfrm>
            <a:off x="2532888" y="2871216"/>
            <a:ext cx="517642" cy="164592"/>
          </a:xfrm>
          <a:prstGeom prst="rect">
            <a:avLst/>
          </a:prstGeom>
          <a:solidFill>
            <a:srgbClr val="1E2761"/>
          </a:solidFill>
          <a:ln w="12700">
            <a:solidFill>
              <a:srgbClr val="1E2761"/>
            </a:solidFill>
            <a:prstDash val="solid"/>
          </a:ln>
        </p:spPr>
        <p:txBody>
          <a:bodyPr/>
          <a:lstStyle/>
          <a:p>
            <a:endParaRPr lang="ko-KR" altLang="en-US"/>
          </a:p>
        </p:txBody>
      </p:sp>
      <p:sp>
        <p:nvSpPr>
          <p:cNvPr id="15" name="Text 13"/>
          <p:cNvSpPr/>
          <p:nvPr/>
        </p:nvSpPr>
        <p:spPr>
          <a:xfrm>
            <a:off x="3355848" y="2798064"/>
            <a:ext cx="685800" cy="310896"/>
          </a:xfrm>
          <a:prstGeom prst="rect">
            <a:avLst/>
          </a:prstGeom>
          <a:noFill/>
          <a:ln/>
        </p:spPr>
        <p:txBody>
          <a:bodyPr wrap="square" lIns="0" tIns="0" rIns="0" bIns="0" rtlCol="0" anchor="ctr"/>
          <a:lstStyle/>
          <a:p>
            <a:pPr marL="0" indent="0" algn="r">
              <a:buNone/>
            </a:pPr>
            <a:r>
              <a:rPr lang="en-US" sz="1150" b="1" dirty="0">
                <a:solidFill>
                  <a:srgbClr val="1E2761"/>
                </a:solidFill>
                <a:latin typeface="Pretendard" pitchFamily="34" charset="0"/>
                <a:ea typeface="Pretendard" pitchFamily="34" charset="-122"/>
                <a:cs typeface="Pretendard" pitchFamily="34" charset="-120"/>
              </a:rPr>
              <a:t>33.3%</a:t>
            </a:r>
            <a:endParaRPr lang="en-US" sz="1150" dirty="0"/>
          </a:p>
        </p:txBody>
      </p:sp>
      <p:sp>
        <p:nvSpPr>
          <p:cNvPr id="16" name="Text 14"/>
          <p:cNvSpPr/>
          <p:nvPr/>
        </p:nvSpPr>
        <p:spPr>
          <a:xfrm>
            <a:off x="731520" y="3200400"/>
            <a:ext cx="1755648" cy="310896"/>
          </a:xfrm>
          <a:prstGeom prst="rect">
            <a:avLst/>
          </a:prstGeom>
          <a:noFill/>
          <a:ln/>
        </p:spPr>
        <p:txBody>
          <a:bodyPr wrap="square" lIns="0" tIns="0" rIns="0" bIns="0" rtlCol="0" anchor="ctr"/>
          <a:lstStyle/>
          <a:p>
            <a:pPr marL="0" indent="0">
              <a:buNone/>
            </a:pPr>
            <a:r>
              <a:rPr lang="en-US" sz="1150" dirty="0">
                <a:solidFill>
                  <a:srgbClr val="222633"/>
                </a:solidFill>
                <a:latin typeface="Pretendard" pitchFamily="34" charset="0"/>
                <a:ea typeface="Pretendard" pitchFamily="34" charset="-122"/>
                <a:cs typeface="Pretendard" pitchFamily="34" charset="-120"/>
              </a:rPr>
              <a:t>대마초</a:t>
            </a:r>
            <a:endParaRPr lang="en-US" sz="1150" dirty="0"/>
          </a:p>
        </p:txBody>
      </p:sp>
      <p:sp>
        <p:nvSpPr>
          <p:cNvPr id="17" name="Shape 15"/>
          <p:cNvSpPr/>
          <p:nvPr/>
        </p:nvSpPr>
        <p:spPr>
          <a:xfrm>
            <a:off x="2532888" y="3273552"/>
            <a:ext cx="259598" cy="164592"/>
          </a:xfrm>
          <a:prstGeom prst="rect">
            <a:avLst/>
          </a:prstGeom>
          <a:solidFill>
            <a:srgbClr val="1E2761"/>
          </a:solidFill>
          <a:ln w="12700">
            <a:solidFill>
              <a:srgbClr val="1E2761"/>
            </a:solidFill>
            <a:prstDash val="solid"/>
          </a:ln>
        </p:spPr>
        <p:txBody>
          <a:bodyPr/>
          <a:lstStyle/>
          <a:p>
            <a:endParaRPr lang="ko-KR" altLang="en-US"/>
          </a:p>
        </p:txBody>
      </p:sp>
      <p:sp>
        <p:nvSpPr>
          <p:cNvPr id="18" name="Text 16"/>
          <p:cNvSpPr/>
          <p:nvPr/>
        </p:nvSpPr>
        <p:spPr>
          <a:xfrm>
            <a:off x="3355848" y="3200400"/>
            <a:ext cx="685800" cy="310896"/>
          </a:xfrm>
          <a:prstGeom prst="rect">
            <a:avLst/>
          </a:prstGeom>
          <a:noFill/>
          <a:ln/>
        </p:spPr>
        <p:txBody>
          <a:bodyPr wrap="square" lIns="0" tIns="0" rIns="0" bIns="0" rtlCol="0" anchor="ctr"/>
          <a:lstStyle/>
          <a:p>
            <a:pPr marL="0" indent="0" algn="r">
              <a:buNone/>
            </a:pPr>
            <a:r>
              <a:rPr lang="en-US" sz="1150" b="1" dirty="0">
                <a:solidFill>
                  <a:srgbClr val="1E2761"/>
                </a:solidFill>
                <a:latin typeface="Pretendard" pitchFamily="34" charset="0"/>
                <a:ea typeface="Pretendard" pitchFamily="34" charset="-122"/>
                <a:cs typeface="Pretendard" pitchFamily="34" charset="-120"/>
              </a:rPr>
              <a:t>16.7%</a:t>
            </a:r>
            <a:endParaRPr lang="en-US" sz="1150" dirty="0"/>
          </a:p>
        </p:txBody>
      </p:sp>
      <p:sp>
        <p:nvSpPr>
          <p:cNvPr id="19" name="Text 17"/>
          <p:cNvSpPr/>
          <p:nvPr/>
        </p:nvSpPr>
        <p:spPr>
          <a:xfrm>
            <a:off x="731520" y="3602736"/>
            <a:ext cx="1755648" cy="310896"/>
          </a:xfrm>
          <a:prstGeom prst="rect">
            <a:avLst/>
          </a:prstGeom>
          <a:noFill/>
          <a:ln/>
        </p:spPr>
        <p:txBody>
          <a:bodyPr wrap="square" lIns="0" tIns="0" rIns="0" bIns="0" rtlCol="0" anchor="ctr"/>
          <a:lstStyle/>
          <a:p>
            <a:pPr marL="0" indent="0">
              <a:buNone/>
            </a:pPr>
            <a:r>
              <a:rPr lang="en-US" sz="1150" dirty="0">
                <a:solidFill>
                  <a:srgbClr val="222633"/>
                </a:solidFill>
                <a:latin typeface="Pretendard" pitchFamily="34" charset="0"/>
                <a:ea typeface="Pretendard" pitchFamily="34" charset="-122"/>
                <a:cs typeface="Pretendard" pitchFamily="34" charset="-120"/>
              </a:rPr>
              <a:t>MDMA</a:t>
            </a:r>
            <a:endParaRPr lang="en-US" sz="1150" dirty="0"/>
          </a:p>
        </p:txBody>
      </p:sp>
      <p:sp>
        <p:nvSpPr>
          <p:cNvPr id="20" name="Shape 18"/>
          <p:cNvSpPr/>
          <p:nvPr/>
        </p:nvSpPr>
        <p:spPr>
          <a:xfrm>
            <a:off x="2532888" y="3675888"/>
            <a:ext cx="259598" cy="164592"/>
          </a:xfrm>
          <a:prstGeom prst="rect">
            <a:avLst/>
          </a:prstGeom>
          <a:solidFill>
            <a:srgbClr val="1E2761"/>
          </a:solidFill>
          <a:ln w="12700">
            <a:solidFill>
              <a:srgbClr val="1E2761"/>
            </a:solidFill>
            <a:prstDash val="solid"/>
          </a:ln>
        </p:spPr>
        <p:txBody>
          <a:bodyPr/>
          <a:lstStyle/>
          <a:p>
            <a:endParaRPr lang="ko-KR" altLang="en-US"/>
          </a:p>
        </p:txBody>
      </p:sp>
      <p:sp>
        <p:nvSpPr>
          <p:cNvPr id="21" name="Text 19"/>
          <p:cNvSpPr/>
          <p:nvPr/>
        </p:nvSpPr>
        <p:spPr>
          <a:xfrm>
            <a:off x="3355848" y="3602736"/>
            <a:ext cx="685800" cy="310896"/>
          </a:xfrm>
          <a:prstGeom prst="rect">
            <a:avLst/>
          </a:prstGeom>
          <a:noFill/>
          <a:ln/>
        </p:spPr>
        <p:txBody>
          <a:bodyPr wrap="square" lIns="0" tIns="0" rIns="0" bIns="0" rtlCol="0" anchor="ctr"/>
          <a:lstStyle/>
          <a:p>
            <a:pPr marL="0" indent="0" algn="r">
              <a:buNone/>
            </a:pPr>
            <a:r>
              <a:rPr lang="en-US" sz="1150" b="1" dirty="0">
                <a:solidFill>
                  <a:srgbClr val="1E2761"/>
                </a:solidFill>
                <a:latin typeface="Pretendard" pitchFamily="34" charset="0"/>
                <a:ea typeface="Pretendard" pitchFamily="34" charset="-122"/>
                <a:cs typeface="Pretendard" pitchFamily="34" charset="-120"/>
              </a:rPr>
              <a:t>16.7%</a:t>
            </a:r>
            <a:endParaRPr lang="en-US" sz="1150" dirty="0"/>
          </a:p>
        </p:txBody>
      </p:sp>
      <p:sp>
        <p:nvSpPr>
          <p:cNvPr id="22" name="Text 20"/>
          <p:cNvSpPr/>
          <p:nvPr/>
        </p:nvSpPr>
        <p:spPr>
          <a:xfrm>
            <a:off x="4425696" y="1975104"/>
            <a:ext cx="3310128" cy="274320"/>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어떻게 알게 됐나</a:t>
            </a:r>
            <a:endParaRPr lang="en-US" sz="1250" dirty="0"/>
          </a:p>
        </p:txBody>
      </p:sp>
      <p:sp>
        <p:nvSpPr>
          <p:cNvPr id="23" name="Shape 21"/>
          <p:cNvSpPr/>
          <p:nvPr/>
        </p:nvSpPr>
        <p:spPr>
          <a:xfrm>
            <a:off x="4425696" y="2286000"/>
            <a:ext cx="3310128" cy="0"/>
          </a:xfrm>
          <a:prstGeom prst="line">
            <a:avLst/>
          </a:prstGeom>
          <a:noFill/>
          <a:ln w="12700">
            <a:solidFill>
              <a:srgbClr val="DCE0E8"/>
            </a:solidFill>
            <a:prstDash val="solid"/>
          </a:ln>
        </p:spPr>
        <p:txBody>
          <a:bodyPr/>
          <a:lstStyle/>
          <a:p>
            <a:endParaRPr lang="ko-KR" altLang="en-US"/>
          </a:p>
        </p:txBody>
      </p:sp>
      <p:sp>
        <p:nvSpPr>
          <p:cNvPr id="24" name="Text 22"/>
          <p:cNvSpPr/>
          <p:nvPr/>
        </p:nvSpPr>
        <p:spPr>
          <a:xfrm>
            <a:off x="4425696" y="2395728"/>
            <a:ext cx="1755648" cy="310896"/>
          </a:xfrm>
          <a:prstGeom prst="rect">
            <a:avLst/>
          </a:prstGeom>
          <a:noFill/>
          <a:ln/>
        </p:spPr>
        <p:txBody>
          <a:bodyPr wrap="square" lIns="0" tIns="0" rIns="0" bIns="0" rtlCol="0" anchor="ctr"/>
          <a:lstStyle/>
          <a:p>
            <a:pPr marL="0" indent="0">
              <a:buNone/>
            </a:pPr>
            <a:r>
              <a:rPr lang="en-US" sz="1150" dirty="0">
                <a:solidFill>
                  <a:srgbClr val="222633"/>
                </a:solidFill>
                <a:latin typeface="Pretendard" pitchFamily="34" charset="0"/>
                <a:ea typeface="Pretendard" pitchFamily="34" charset="-122"/>
                <a:cs typeface="Pretendard" pitchFamily="34" charset="-120"/>
              </a:rPr>
              <a:t>텔레그램</a:t>
            </a:r>
            <a:endParaRPr lang="en-US" sz="1150" dirty="0"/>
          </a:p>
        </p:txBody>
      </p:sp>
      <p:sp>
        <p:nvSpPr>
          <p:cNvPr id="25" name="Shape 23"/>
          <p:cNvSpPr/>
          <p:nvPr/>
        </p:nvSpPr>
        <p:spPr>
          <a:xfrm>
            <a:off x="6227064" y="2468880"/>
            <a:ext cx="777240" cy="164592"/>
          </a:xfrm>
          <a:prstGeom prst="rect">
            <a:avLst/>
          </a:prstGeom>
          <a:solidFill>
            <a:srgbClr val="1E2761"/>
          </a:solidFill>
          <a:ln w="12700">
            <a:solidFill>
              <a:srgbClr val="1E2761"/>
            </a:solidFill>
            <a:prstDash val="solid"/>
          </a:ln>
        </p:spPr>
        <p:txBody>
          <a:bodyPr/>
          <a:lstStyle/>
          <a:p>
            <a:endParaRPr lang="ko-KR" altLang="en-US"/>
          </a:p>
        </p:txBody>
      </p:sp>
      <p:sp>
        <p:nvSpPr>
          <p:cNvPr id="26" name="Text 24"/>
          <p:cNvSpPr/>
          <p:nvPr/>
        </p:nvSpPr>
        <p:spPr>
          <a:xfrm>
            <a:off x="7050024" y="2395728"/>
            <a:ext cx="685800" cy="310896"/>
          </a:xfrm>
          <a:prstGeom prst="rect">
            <a:avLst/>
          </a:prstGeom>
          <a:noFill/>
          <a:ln/>
        </p:spPr>
        <p:txBody>
          <a:bodyPr wrap="square" lIns="0" tIns="0" rIns="0" bIns="0" rtlCol="0" anchor="ctr"/>
          <a:lstStyle/>
          <a:p>
            <a:pPr marL="0" indent="0" algn="r">
              <a:buNone/>
            </a:pPr>
            <a:r>
              <a:rPr lang="en-US" sz="1150" b="1" dirty="0">
                <a:solidFill>
                  <a:srgbClr val="1E2761"/>
                </a:solidFill>
                <a:latin typeface="Pretendard" pitchFamily="34" charset="0"/>
                <a:ea typeface="Pretendard" pitchFamily="34" charset="-122"/>
                <a:cs typeface="Pretendard" pitchFamily="34" charset="-120"/>
              </a:rPr>
              <a:t>50.0%</a:t>
            </a:r>
            <a:endParaRPr lang="en-US" sz="1150" dirty="0"/>
          </a:p>
        </p:txBody>
      </p:sp>
      <p:sp>
        <p:nvSpPr>
          <p:cNvPr id="27" name="Text 25"/>
          <p:cNvSpPr/>
          <p:nvPr/>
        </p:nvSpPr>
        <p:spPr>
          <a:xfrm>
            <a:off x="4425696" y="2798064"/>
            <a:ext cx="1755648" cy="310896"/>
          </a:xfrm>
          <a:prstGeom prst="rect">
            <a:avLst/>
          </a:prstGeom>
          <a:noFill/>
          <a:ln/>
        </p:spPr>
        <p:txBody>
          <a:bodyPr wrap="square" lIns="0" tIns="0" rIns="0" bIns="0" rtlCol="0" anchor="ctr"/>
          <a:lstStyle/>
          <a:p>
            <a:pPr marL="0" indent="0">
              <a:buNone/>
            </a:pPr>
            <a:r>
              <a:rPr lang="en-US" sz="1150" dirty="0">
                <a:solidFill>
                  <a:srgbClr val="222633"/>
                </a:solidFill>
                <a:latin typeface="Pretendard" pitchFamily="34" charset="0"/>
                <a:ea typeface="Pretendard" pitchFamily="34" charset="-122"/>
                <a:cs typeface="Pretendard" pitchFamily="34" charset="-120"/>
              </a:rPr>
              <a:t>친구 · 또래</a:t>
            </a:r>
            <a:endParaRPr lang="en-US" sz="1150" dirty="0"/>
          </a:p>
        </p:txBody>
      </p:sp>
      <p:sp>
        <p:nvSpPr>
          <p:cNvPr id="28" name="Shape 26"/>
          <p:cNvSpPr/>
          <p:nvPr/>
        </p:nvSpPr>
        <p:spPr>
          <a:xfrm>
            <a:off x="6227064" y="2871216"/>
            <a:ext cx="517642" cy="164592"/>
          </a:xfrm>
          <a:prstGeom prst="rect">
            <a:avLst/>
          </a:prstGeom>
          <a:solidFill>
            <a:srgbClr val="1E2761"/>
          </a:solidFill>
          <a:ln w="12700">
            <a:solidFill>
              <a:srgbClr val="1E2761"/>
            </a:solidFill>
            <a:prstDash val="solid"/>
          </a:ln>
        </p:spPr>
        <p:txBody>
          <a:bodyPr/>
          <a:lstStyle/>
          <a:p>
            <a:endParaRPr lang="ko-KR" altLang="en-US"/>
          </a:p>
        </p:txBody>
      </p:sp>
      <p:sp>
        <p:nvSpPr>
          <p:cNvPr id="29" name="Text 27"/>
          <p:cNvSpPr/>
          <p:nvPr/>
        </p:nvSpPr>
        <p:spPr>
          <a:xfrm>
            <a:off x="7050024" y="2798064"/>
            <a:ext cx="685800" cy="310896"/>
          </a:xfrm>
          <a:prstGeom prst="rect">
            <a:avLst/>
          </a:prstGeom>
          <a:noFill/>
          <a:ln/>
        </p:spPr>
        <p:txBody>
          <a:bodyPr wrap="square" lIns="0" tIns="0" rIns="0" bIns="0" rtlCol="0" anchor="ctr"/>
          <a:lstStyle/>
          <a:p>
            <a:pPr marL="0" indent="0" algn="r">
              <a:buNone/>
            </a:pPr>
            <a:r>
              <a:rPr lang="en-US" sz="1150" b="1" dirty="0">
                <a:solidFill>
                  <a:srgbClr val="1E2761"/>
                </a:solidFill>
                <a:latin typeface="Pretendard" pitchFamily="34" charset="0"/>
                <a:ea typeface="Pretendard" pitchFamily="34" charset="-122"/>
                <a:cs typeface="Pretendard" pitchFamily="34" charset="-120"/>
              </a:rPr>
              <a:t>33.3%</a:t>
            </a:r>
            <a:endParaRPr lang="en-US" sz="1150" dirty="0"/>
          </a:p>
        </p:txBody>
      </p:sp>
      <p:sp>
        <p:nvSpPr>
          <p:cNvPr id="30" name="Text 28"/>
          <p:cNvSpPr/>
          <p:nvPr/>
        </p:nvSpPr>
        <p:spPr>
          <a:xfrm>
            <a:off x="4425696" y="3200400"/>
            <a:ext cx="1755648" cy="310896"/>
          </a:xfrm>
          <a:prstGeom prst="rect">
            <a:avLst/>
          </a:prstGeom>
          <a:noFill/>
          <a:ln/>
        </p:spPr>
        <p:txBody>
          <a:bodyPr wrap="square" lIns="0" tIns="0" rIns="0" bIns="0" rtlCol="0" anchor="ctr"/>
          <a:lstStyle/>
          <a:p>
            <a:pPr marL="0" indent="0">
              <a:buNone/>
            </a:pPr>
            <a:r>
              <a:rPr lang="en-US" sz="1150" dirty="0">
                <a:solidFill>
                  <a:srgbClr val="222633"/>
                </a:solidFill>
                <a:latin typeface="Pretendard" pitchFamily="34" charset="0"/>
                <a:ea typeface="Pretendard" pitchFamily="34" charset="-122"/>
                <a:cs typeface="Pretendard" pitchFamily="34" charset="-120"/>
              </a:rPr>
              <a:t>유튜브 · 블로그 등 </a:t>
            </a:r>
          </a:p>
          <a:p>
            <a:pPr marL="0" indent="0">
              <a:buNone/>
            </a:pPr>
            <a:r>
              <a:rPr lang="en-US" sz="1150" dirty="0" err="1">
                <a:solidFill>
                  <a:srgbClr val="222633"/>
                </a:solidFill>
                <a:latin typeface="Pretendard" pitchFamily="34" charset="0"/>
                <a:ea typeface="Pretendard" pitchFamily="34" charset="-122"/>
                <a:cs typeface="Pretendard" pitchFamily="34" charset="-120"/>
              </a:rPr>
              <a:t>온라인</a:t>
            </a:r>
            <a:r>
              <a:rPr lang="en-US" sz="1150" dirty="0">
                <a:solidFill>
                  <a:srgbClr val="222633"/>
                </a:solidFill>
                <a:latin typeface="Pretendard" pitchFamily="34" charset="0"/>
                <a:ea typeface="Pretendard" pitchFamily="34" charset="-122"/>
                <a:cs typeface="Pretendard" pitchFamily="34" charset="-120"/>
              </a:rPr>
              <a:t> 콘텐츠</a:t>
            </a:r>
            <a:endParaRPr lang="en-US" sz="1150" dirty="0"/>
          </a:p>
        </p:txBody>
      </p:sp>
      <p:sp>
        <p:nvSpPr>
          <p:cNvPr id="31" name="Shape 29"/>
          <p:cNvSpPr/>
          <p:nvPr/>
        </p:nvSpPr>
        <p:spPr>
          <a:xfrm>
            <a:off x="6227064" y="3273552"/>
            <a:ext cx="259598" cy="164592"/>
          </a:xfrm>
          <a:prstGeom prst="rect">
            <a:avLst/>
          </a:prstGeom>
          <a:solidFill>
            <a:srgbClr val="1E2761"/>
          </a:solidFill>
          <a:ln w="12700">
            <a:solidFill>
              <a:srgbClr val="1E2761"/>
            </a:solidFill>
            <a:prstDash val="solid"/>
          </a:ln>
        </p:spPr>
        <p:txBody>
          <a:bodyPr/>
          <a:lstStyle/>
          <a:p>
            <a:endParaRPr lang="ko-KR" altLang="en-US"/>
          </a:p>
        </p:txBody>
      </p:sp>
      <p:sp>
        <p:nvSpPr>
          <p:cNvPr id="32" name="Text 30"/>
          <p:cNvSpPr/>
          <p:nvPr/>
        </p:nvSpPr>
        <p:spPr>
          <a:xfrm>
            <a:off x="7050024" y="3200400"/>
            <a:ext cx="685800" cy="310896"/>
          </a:xfrm>
          <a:prstGeom prst="rect">
            <a:avLst/>
          </a:prstGeom>
          <a:noFill/>
          <a:ln/>
        </p:spPr>
        <p:txBody>
          <a:bodyPr wrap="square" lIns="0" tIns="0" rIns="0" bIns="0" rtlCol="0" anchor="ctr"/>
          <a:lstStyle/>
          <a:p>
            <a:pPr marL="0" indent="0" algn="r">
              <a:buNone/>
            </a:pPr>
            <a:r>
              <a:rPr lang="en-US" sz="1150" b="1" dirty="0">
                <a:solidFill>
                  <a:srgbClr val="1E2761"/>
                </a:solidFill>
                <a:latin typeface="Pretendard" pitchFamily="34" charset="0"/>
                <a:ea typeface="Pretendard" pitchFamily="34" charset="-122"/>
                <a:cs typeface="Pretendard" pitchFamily="34" charset="-120"/>
              </a:rPr>
              <a:t>16.7%</a:t>
            </a:r>
            <a:endParaRPr lang="en-US" sz="1150" dirty="0"/>
          </a:p>
        </p:txBody>
      </p:sp>
      <p:sp>
        <p:nvSpPr>
          <p:cNvPr id="33" name="Text 31"/>
          <p:cNvSpPr/>
          <p:nvPr/>
        </p:nvSpPr>
        <p:spPr>
          <a:xfrm>
            <a:off x="8119872" y="1975104"/>
            <a:ext cx="3310128" cy="274320"/>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어디서 구했나</a:t>
            </a:r>
            <a:endParaRPr lang="en-US" sz="1250" dirty="0"/>
          </a:p>
        </p:txBody>
      </p:sp>
      <p:sp>
        <p:nvSpPr>
          <p:cNvPr id="34" name="Shape 32"/>
          <p:cNvSpPr/>
          <p:nvPr/>
        </p:nvSpPr>
        <p:spPr>
          <a:xfrm>
            <a:off x="8119872" y="2286000"/>
            <a:ext cx="3310128" cy="0"/>
          </a:xfrm>
          <a:prstGeom prst="line">
            <a:avLst/>
          </a:prstGeom>
          <a:noFill/>
          <a:ln w="12700">
            <a:solidFill>
              <a:srgbClr val="DCE0E8"/>
            </a:solidFill>
            <a:prstDash val="solid"/>
          </a:ln>
        </p:spPr>
        <p:txBody>
          <a:bodyPr/>
          <a:lstStyle/>
          <a:p>
            <a:endParaRPr lang="ko-KR" altLang="en-US"/>
          </a:p>
        </p:txBody>
      </p:sp>
      <p:sp>
        <p:nvSpPr>
          <p:cNvPr id="35" name="Text 33"/>
          <p:cNvSpPr/>
          <p:nvPr/>
        </p:nvSpPr>
        <p:spPr>
          <a:xfrm>
            <a:off x="8119872" y="2395728"/>
            <a:ext cx="1755648" cy="310896"/>
          </a:xfrm>
          <a:prstGeom prst="rect">
            <a:avLst/>
          </a:prstGeom>
          <a:noFill/>
          <a:ln/>
        </p:spPr>
        <p:txBody>
          <a:bodyPr wrap="square" lIns="0" tIns="0" rIns="0" bIns="0" rtlCol="0" anchor="ctr"/>
          <a:lstStyle/>
          <a:p>
            <a:pPr marL="0" indent="0">
              <a:buNone/>
            </a:pPr>
            <a:r>
              <a:rPr lang="en-US" sz="1150" dirty="0">
                <a:solidFill>
                  <a:srgbClr val="222633"/>
                </a:solidFill>
                <a:latin typeface="Pretendard" pitchFamily="34" charset="0"/>
                <a:ea typeface="Pretendard" pitchFamily="34" charset="-122"/>
                <a:cs typeface="Pretendard" pitchFamily="34" charset="-120"/>
              </a:rPr>
              <a:t>텔레그램</a:t>
            </a:r>
            <a:endParaRPr lang="en-US" sz="1150" dirty="0"/>
          </a:p>
        </p:txBody>
      </p:sp>
      <p:sp>
        <p:nvSpPr>
          <p:cNvPr id="36" name="Shape 34"/>
          <p:cNvSpPr/>
          <p:nvPr/>
        </p:nvSpPr>
        <p:spPr>
          <a:xfrm>
            <a:off x="9921240" y="2468880"/>
            <a:ext cx="777240" cy="164592"/>
          </a:xfrm>
          <a:prstGeom prst="rect">
            <a:avLst/>
          </a:prstGeom>
          <a:solidFill>
            <a:srgbClr val="1E2761"/>
          </a:solidFill>
          <a:ln w="12700">
            <a:solidFill>
              <a:srgbClr val="1E2761"/>
            </a:solidFill>
            <a:prstDash val="solid"/>
          </a:ln>
        </p:spPr>
        <p:txBody>
          <a:bodyPr/>
          <a:lstStyle/>
          <a:p>
            <a:endParaRPr lang="ko-KR" altLang="en-US"/>
          </a:p>
        </p:txBody>
      </p:sp>
      <p:sp>
        <p:nvSpPr>
          <p:cNvPr id="37" name="Text 35"/>
          <p:cNvSpPr/>
          <p:nvPr/>
        </p:nvSpPr>
        <p:spPr>
          <a:xfrm>
            <a:off x="10744200" y="2395728"/>
            <a:ext cx="685800" cy="310896"/>
          </a:xfrm>
          <a:prstGeom prst="rect">
            <a:avLst/>
          </a:prstGeom>
          <a:noFill/>
          <a:ln/>
        </p:spPr>
        <p:txBody>
          <a:bodyPr wrap="square" lIns="0" tIns="0" rIns="0" bIns="0" rtlCol="0" anchor="ctr"/>
          <a:lstStyle/>
          <a:p>
            <a:pPr marL="0" indent="0" algn="r">
              <a:buNone/>
            </a:pPr>
            <a:r>
              <a:rPr lang="en-US" sz="1150" b="1" dirty="0">
                <a:solidFill>
                  <a:srgbClr val="1E2761"/>
                </a:solidFill>
                <a:latin typeface="Pretendard" pitchFamily="34" charset="0"/>
                <a:ea typeface="Pretendard" pitchFamily="34" charset="-122"/>
                <a:cs typeface="Pretendard" pitchFamily="34" charset="-120"/>
              </a:rPr>
              <a:t>50.0%</a:t>
            </a:r>
            <a:endParaRPr lang="en-US" sz="1150" dirty="0"/>
          </a:p>
        </p:txBody>
      </p:sp>
      <p:sp>
        <p:nvSpPr>
          <p:cNvPr id="38" name="Text 36"/>
          <p:cNvSpPr/>
          <p:nvPr/>
        </p:nvSpPr>
        <p:spPr>
          <a:xfrm>
            <a:off x="8119872" y="2798064"/>
            <a:ext cx="1755648" cy="310896"/>
          </a:xfrm>
          <a:prstGeom prst="rect">
            <a:avLst/>
          </a:prstGeom>
          <a:noFill/>
          <a:ln/>
        </p:spPr>
        <p:txBody>
          <a:bodyPr wrap="square" lIns="0" tIns="0" rIns="0" bIns="0" rtlCol="0" anchor="ctr"/>
          <a:lstStyle/>
          <a:p>
            <a:pPr marL="0" indent="0">
              <a:buNone/>
            </a:pPr>
            <a:r>
              <a:rPr lang="en-US" sz="1150" dirty="0">
                <a:solidFill>
                  <a:srgbClr val="222633"/>
                </a:solidFill>
                <a:latin typeface="Pretendard" pitchFamily="34" charset="0"/>
                <a:ea typeface="Pretendard" pitchFamily="34" charset="-122"/>
                <a:cs typeface="Pretendard" pitchFamily="34" charset="-120"/>
              </a:rPr>
              <a:t>친구 · 또래</a:t>
            </a:r>
            <a:endParaRPr lang="en-US" sz="1150" dirty="0"/>
          </a:p>
        </p:txBody>
      </p:sp>
      <p:sp>
        <p:nvSpPr>
          <p:cNvPr id="39" name="Shape 37"/>
          <p:cNvSpPr/>
          <p:nvPr/>
        </p:nvSpPr>
        <p:spPr>
          <a:xfrm>
            <a:off x="9921240" y="2871216"/>
            <a:ext cx="259598" cy="164592"/>
          </a:xfrm>
          <a:prstGeom prst="rect">
            <a:avLst/>
          </a:prstGeom>
          <a:solidFill>
            <a:srgbClr val="1E2761"/>
          </a:solidFill>
          <a:ln w="12700">
            <a:solidFill>
              <a:srgbClr val="1E2761"/>
            </a:solidFill>
            <a:prstDash val="solid"/>
          </a:ln>
        </p:spPr>
        <p:txBody>
          <a:bodyPr/>
          <a:lstStyle/>
          <a:p>
            <a:endParaRPr lang="ko-KR" altLang="en-US"/>
          </a:p>
        </p:txBody>
      </p:sp>
      <p:sp>
        <p:nvSpPr>
          <p:cNvPr id="40" name="Text 38"/>
          <p:cNvSpPr/>
          <p:nvPr/>
        </p:nvSpPr>
        <p:spPr>
          <a:xfrm>
            <a:off x="10744200" y="2798064"/>
            <a:ext cx="685800" cy="310896"/>
          </a:xfrm>
          <a:prstGeom prst="rect">
            <a:avLst/>
          </a:prstGeom>
          <a:noFill/>
          <a:ln/>
        </p:spPr>
        <p:txBody>
          <a:bodyPr wrap="square" lIns="0" tIns="0" rIns="0" bIns="0" rtlCol="0" anchor="ctr"/>
          <a:lstStyle/>
          <a:p>
            <a:pPr marL="0" indent="0" algn="r">
              <a:buNone/>
            </a:pPr>
            <a:r>
              <a:rPr lang="en-US" sz="1150" b="1" dirty="0">
                <a:solidFill>
                  <a:srgbClr val="1E2761"/>
                </a:solidFill>
                <a:latin typeface="Pretendard" pitchFamily="34" charset="0"/>
                <a:ea typeface="Pretendard" pitchFamily="34" charset="-122"/>
                <a:cs typeface="Pretendard" pitchFamily="34" charset="-120"/>
              </a:rPr>
              <a:t>16.7%</a:t>
            </a:r>
            <a:endParaRPr lang="en-US" sz="1150" dirty="0"/>
          </a:p>
        </p:txBody>
      </p:sp>
      <p:sp>
        <p:nvSpPr>
          <p:cNvPr id="41" name="Text 39"/>
          <p:cNvSpPr/>
          <p:nvPr/>
        </p:nvSpPr>
        <p:spPr>
          <a:xfrm>
            <a:off x="8119872" y="3200400"/>
            <a:ext cx="1755648" cy="310896"/>
          </a:xfrm>
          <a:prstGeom prst="rect">
            <a:avLst/>
          </a:prstGeom>
          <a:noFill/>
          <a:ln/>
        </p:spPr>
        <p:txBody>
          <a:bodyPr wrap="square" lIns="0" tIns="0" rIns="0" bIns="0" rtlCol="0" anchor="ctr"/>
          <a:lstStyle/>
          <a:p>
            <a:pPr marL="0" indent="0">
              <a:buNone/>
            </a:pPr>
            <a:r>
              <a:rPr lang="en-US" sz="1150" dirty="0">
                <a:solidFill>
                  <a:srgbClr val="222633"/>
                </a:solidFill>
                <a:latin typeface="Pretendard" pitchFamily="34" charset="0"/>
                <a:ea typeface="Pretendard" pitchFamily="34" charset="-122"/>
                <a:cs typeface="Pretendard" pitchFamily="34" charset="-120"/>
              </a:rPr>
              <a:t>텔레그램 외 SNS</a:t>
            </a:r>
            <a:endParaRPr lang="en-US" sz="1150" dirty="0"/>
          </a:p>
        </p:txBody>
      </p:sp>
      <p:sp>
        <p:nvSpPr>
          <p:cNvPr id="42" name="Shape 40"/>
          <p:cNvSpPr/>
          <p:nvPr/>
        </p:nvSpPr>
        <p:spPr>
          <a:xfrm>
            <a:off x="9921240" y="3273552"/>
            <a:ext cx="259598" cy="164592"/>
          </a:xfrm>
          <a:prstGeom prst="rect">
            <a:avLst/>
          </a:prstGeom>
          <a:solidFill>
            <a:srgbClr val="1E2761"/>
          </a:solidFill>
          <a:ln w="12700">
            <a:solidFill>
              <a:srgbClr val="1E2761"/>
            </a:solidFill>
            <a:prstDash val="solid"/>
          </a:ln>
        </p:spPr>
        <p:txBody>
          <a:bodyPr/>
          <a:lstStyle/>
          <a:p>
            <a:endParaRPr lang="ko-KR" altLang="en-US"/>
          </a:p>
        </p:txBody>
      </p:sp>
      <p:sp>
        <p:nvSpPr>
          <p:cNvPr id="43" name="Text 41"/>
          <p:cNvSpPr/>
          <p:nvPr/>
        </p:nvSpPr>
        <p:spPr>
          <a:xfrm>
            <a:off x="10744200" y="3200400"/>
            <a:ext cx="685800" cy="310896"/>
          </a:xfrm>
          <a:prstGeom prst="rect">
            <a:avLst/>
          </a:prstGeom>
          <a:noFill/>
          <a:ln/>
        </p:spPr>
        <p:txBody>
          <a:bodyPr wrap="square" lIns="0" tIns="0" rIns="0" bIns="0" rtlCol="0" anchor="ctr"/>
          <a:lstStyle/>
          <a:p>
            <a:pPr marL="0" indent="0" algn="r">
              <a:buNone/>
            </a:pPr>
            <a:r>
              <a:rPr lang="en-US" sz="1150" b="1" dirty="0">
                <a:solidFill>
                  <a:srgbClr val="1E2761"/>
                </a:solidFill>
                <a:latin typeface="Pretendard" pitchFamily="34" charset="0"/>
                <a:ea typeface="Pretendard" pitchFamily="34" charset="-122"/>
                <a:cs typeface="Pretendard" pitchFamily="34" charset="-120"/>
              </a:rPr>
              <a:t>16.7%</a:t>
            </a:r>
            <a:endParaRPr lang="en-US" sz="1150" dirty="0"/>
          </a:p>
        </p:txBody>
      </p:sp>
      <p:sp>
        <p:nvSpPr>
          <p:cNvPr id="44" name="Text 42"/>
          <p:cNvSpPr/>
          <p:nvPr/>
        </p:nvSpPr>
        <p:spPr>
          <a:xfrm>
            <a:off x="731520" y="4059936"/>
            <a:ext cx="10698480" cy="256032"/>
          </a:xfrm>
          <a:prstGeom prst="rect">
            <a:avLst/>
          </a:prstGeom>
          <a:noFill/>
          <a:ln/>
        </p:spPr>
        <p:txBody>
          <a:bodyPr wrap="square" lIns="0" tIns="0" rIns="0" bIns="0" rtlCol="0" anchor="ctr"/>
          <a:lstStyle/>
          <a:p>
            <a:pPr marL="0" indent="0">
              <a:buNone/>
            </a:pPr>
            <a:r>
              <a:rPr lang="en-US" sz="1050" dirty="0">
                <a:solidFill>
                  <a:srgbClr val="6E7686"/>
                </a:solidFill>
                <a:latin typeface="Pretendard" pitchFamily="34" charset="0"/>
                <a:ea typeface="Pretendard" pitchFamily="34" charset="-122"/>
                <a:cs typeface="Pretendard" pitchFamily="34" charset="-120"/>
              </a:rPr>
              <a:t>설문 │ 위기청소년 297명 가운데 최근 6개월 마약류 사용 경험자 6명의 응답  ·  합계가 100%가 되지 않는 항목이 있다</a:t>
            </a:r>
            <a:endParaRPr lang="en-US" sz="1050" dirty="0"/>
          </a:p>
        </p:txBody>
      </p:sp>
      <p:sp>
        <p:nvSpPr>
          <p:cNvPr id="59" name="Text 57"/>
          <p:cNvSpPr/>
          <p:nvPr/>
        </p:nvSpPr>
        <p:spPr>
          <a:xfrm>
            <a:off x="731520" y="5852160"/>
            <a:ext cx="10698480" cy="292608"/>
          </a:xfrm>
          <a:prstGeom prst="rect">
            <a:avLst/>
          </a:prstGeom>
          <a:noFill/>
          <a:ln/>
        </p:spPr>
        <p:txBody>
          <a:bodyPr wrap="square" lIns="0" tIns="0" rIns="0" bIns="0" rtlCol="0" anchor="ctr"/>
          <a:lstStyle/>
          <a:p>
            <a:pPr marL="0" indent="0">
              <a:buNone/>
            </a:pPr>
            <a:r>
              <a:rPr lang="en-US" sz="1250" b="1" dirty="0">
                <a:solidFill>
                  <a:srgbClr val="A8871C"/>
                </a:solidFill>
                <a:latin typeface="Pretendard" pitchFamily="34" charset="0"/>
                <a:ea typeface="Pretendard" pitchFamily="34" charset="-122"/>
                <a:cs typeface="Pretendard" pitchFamily="34" charset="-120"/>
              </a:rPr>
              <a:t>첫 마약 경험은 마약을 찾아 나선 한 순간보다, 이미 알고 있던 관계 속에서 시작된 경우가 많았다</a:t>
            </a:r>
            <a:endParaRPr lang="en-US" sz="1250" dirty="0"/>
          </a:p>
        </p:txBody>
      </p:sp>
      <p:sp>
        <p:nvSpPr>
          <p:cNvPr id="60" name="Shape 58"/>
          <p:cNvSpPr/>
          <p:nvPr/>
        </p:nvSpPr>
        <p:spPr>
          <a:xfrm>
            <a:off x="731520" y="6153912"/>
            <a:ext cx="10698480" cy="0"/>
          </a:xfrm>
          <a:prstGeom prst="line">
            <a:avLst/>
          </a:prstGeom>
          <a:noFill/>
          <a:ln w="12700">
            <a:solidFill>
              <a:srgbClr val="DCE0E8"/>
            </a:solidFill>
            <a:prstDash val="solid"/>
          </a:ln>
        </p:spPr>
        <p:txBody>
          <a:bodyPr/>
          <a:lstStyle/>
          <a:p>
            <a:endParaRPr lang="ko-KR" altLang="en-US"/>
          </a:p>
        </p:txBody>
      </p:sp>
      <p:sp>
        <p:nvSpPr>
          <p:cNvPr id="62" name="직사각형 61">
            <a:extLst>
              <a:ext uri="{FF2B5EF4-FFF2-40B4-BE49-F238E27FC236}">
                <a16:creationId xmlns:a16="http://schemas.microsoft.com/office/drawing/2014/main" id="{8F60048A-E597-7D55-7CC8-422A886766D2}"/>
              </a:ext>
            </a:extLst>
          </p:cNvPr>
          <p:cNvSpPr/>
          <p:nvPr/>
        </p:nvSpPr>
        <p:spPr>
          <a:xfrm>
            <a:off x="4319337" y="2377440"/>
            <a:ext cx="7218947" cy="731520"/>
          </a:xfrm>
          <a:prstGeom prst="rect">
            <a:avLst/>
          </a:prstGeom>
          <a:noFill/>
          <a:ln w="28575">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Text 0">
            <a:extLst>
              <a:ext uri="{FF2B5EF4-FFF2-40B4-BE49-F238E27FC236}">
                <a16:creationId xmlns:a16="http://schemas.microsoft.com/office/drawing/2014/main" id="{BDC9EC50-4005-0815-1925-8175AFB70A7C}"/>
              </a:ext>
            </a:extLst>
          </p:cNvPr>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2. 사용 실태와 도움 요청</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48640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5A6273"/>
                </a:solidFill>
                <a:latin typeface="Pretendard" pitchFamily="34" charset="0"/>
                <a:ea typeface="Pretendard" pitchFamily="34" charset="-122"/>
                <a:cs typeface="Pretendard" pitchFamily="34" charset="-120"/>
              </a:rPr>
              <a:t>2. 사용 실태와 도움 요청</a:t>
            </a:r>
          </a:p>
        </p:txBody>
      </p:sp>
      <p:sp>
        <p:nvSpPr>
          <p:cNvPr id="3" name="NEXT"/>
          <p:cNvSpPr/>
          <p:nvPr/>
        </p:nvSpPr>
        <p:spPr>
          <a:xfrm>
            <a:off x="6245352" y="365760"/>
            <a:ext cx="5212080" cy="292608"/>
          </a:xfrm>
          <a:prstGeom prst="rect">
            <a:avLst/>
          </a:prstGeom>
          <a:noFill/>
          <a:ln/>
        </p:spPr>
        <p:txBody>
          <a:bodyPr wrap="square" lIns="0" tIns="0" rIns="0" bIns="0" rtlCol="0" anchor="ctr"/>
          <a:lstStyle/>
          <a:p>
            <a:pPr marL="0" indent="0" algn="r">
              <a:lnSpc>
                <a:spcPct val="118000"/>
              </a:lnSpc>
              <a:buNone/>
            </a:pPr>
            <a:r>
              <a:rPr lang="ko-KR" altLang="en-US" sz="1050" dirty="0">
                <a:solidFill>
                  <a:srgbClr val="8A91A0"/>
                </a:solidFill>
                <a:latin typeface="Pretendard" pitchFamily="34" charset="0"/>
                <a:ea typeface="Pretendard" pitchFamily="34" charset="-122"/>
                <a:cs typeface="Pretendard" pitchFamily="34" charset="-120"/>
              </a:rPr>
              <a:t>다음 → 첫 사용 뒤 무엇이 달라졌나</a:t>
            </a:r>
          </a:p>
        </p:txBody>
      </p:sp>
      <p:sp>
        <p:nvSpPr>
          <p:cNvPr id="4" name="TITLE"/>
          <p:cNvSpPr/>
          <p:nvPr/>
        </p:nvSpPr>
        <p:spPr>
          <a:xfrm>
            <a:off x="731520" y="640080"/>
            <a:ext cx="10972800" cy="548640"/>
          </a:xfrm>
          <a:prstGeom prst="rect">
            <a:avLst/>
          </a:prstGeom>
          <a:noFill/>
          <a:ln/>
        </p:spPr>
        <p:txBody>
          <a:bodyPr wrap="square" lIns="0" tIns="0" rIns="0" bIns="0" rtlCol="0" anchor="ctr"/>
          <a:lstStyle/>
          <a:p>
            <a:pPr marL="0" indent="0">
              <a:buNone/>
            </a:pPr>
            <a:r>
              <a:rPr lang="ko-KR" altLang="en-US" sz="2700" b="1" dirty="0">
                <a:solidFill>
                  <a:srgbClr val="1E2761"/>
                </a:solidFill>
                <a:latin typeface="Pretendard" pitchFamily="34" charset="0"/>
                <a:ea typeface="Pretendard" pitchFamily="34" charset="-122"/>
                <a:cs typeface="Pretendard" pitchFamily="34" charset="-120"/>
              </a:rPr>
              <a:t>위기청소년의 마약류 사용 — 어떤 약물을 어떻게 접했나</a:t>
            </a:r>
          </a:p>
        </p:txBody>
      </p:sp>
      <p:sp>
        <p:nvSpPr>
          <p:cNvPr id="5" name="L"/>
          <p:cNvSpPr/>
          <p:nvPr/>
        </p:nvSpPr>
        <p:spPr>
          <a:xfrm>
            <a:off x="731520" y="1207008"/>
            <a:ext cx="10725912" cy="0"/>
          </a:xfrm>
          <a:prstGeom prst="line">
            <a:avLst/>
          </a:prstGeom>
          <a:ln w="9525">
            <a:solidFill>
              <a:srgbClr val="DCE0E8"/>
            </a:solidFill>
          </a:ln>
        </p:spPr>
        <p:txBody>
          <a:bodyPr/>
          <a:lstStyle/>
          <a:p>
            <a:endParaRPr lang="ko-KR"/>
          </a:p>
        </p:txBody>
      </p:sp>
      <p:sp>
        <p:nvSpPr>
          <p:cNvPr id="6" name="BAND"/>
          <p:cNvSpPr/>
          <p:nvPr/>
        </p:nvSpPr>
        <p:spPr>
          <a:xfrm>
            <a:off x="731520" y="1371600"/>
            <a:ext cx="10725912" cy="457200"/>
          </a:xfrm>
          <a:prstGeom prst="rect">
            <a:avLst/>
          </a:prstGeom>
          <a:solidFill>
            <a:srgbClr val="F2F4F8"/>
          </a:solidFill>
          <a:ln/>
        </p:spPr>
      </p:sp>
      <p:sp>
        <p:nvSpPr>
          <p:cNvPr id="7" name="BANDT"/>
          <p:cNvSpPr/>
          <p:nvPr/>
        </p:nvSpPr>
        <p:spPr>
          <a:xfrm>
            <a:off x="1005840" y="1371600"/>
            <a:ext cx="10177272" cy="457200"/>
          </a:xfrm>
          <a:prstGeom prst="rect">
            <a:avLst/>
          </a:prstGeom>
          <a:noFill/>
          <a:ln/>
        </p:spPr>
        <p:txBody>
          <a:bodyPr wrap="square" lIns="0" tIns="0" rIns="0" bIns="0" rtlCol="0" anchor="ctr"/>
          <a:lstStyle/>
          <a:p>
            <a:pPr marL="0" indent="0">
              <a:lnSpc>
                <a:spcPct val="118000"/>
              </a:lnSpc>
              <a:buNone/>
            </a:pPr>
            <a:r>
              <a:rPr lang="ko-KR" altLang="en-US" sz="1200" b="1" dirty="0">
                <a:solidFill>
                  <a:srgbClr val="1E2761"/>
                </a:solidFill>
                <a:latin typeface="Pretendard" pitchFamily="34" charset="0"/>
                <a:ea typeface="Pretendard" pitchFamily="34" charset="-122"/>
                <a:cs typeface="Pretendard" pitchFamily="34" charset="-120"/>
              </a:rPr>
              <a:t>설문에서는 합성대마와 필로폰이 함께 나타났고 텔레그램이 주된 인지·구입 경로였으며, 심층면접에서는 관계를 통한 첫 접촉이 확인됐다</a:t>
            </a:r>
          </a:p>
        </p:txBody>
      </p:sp>
      <p:sp>
        <p:nvSpPr>
          <p:cNvPr id="8" name="CH"/>
          <p:cNvSpPr/>
          <p:nvPr/>
        </p:nvSpPr>
        <p:spPr>
          <a:xfrm>
            <a:off x="731520" y="2029968"/>
            <a:ext cx="3337560" cy="274320"/>
          </a:xfrm>
          <a:prstGeom prst="rect">
            <a:avLst/>
          </a:prstGeom>
          <a:noFill/>
          <a:ln/>
        </p:spPr>
        <p:txBody>
          <a:bodyPr wrap="square" lIns="0" tIns="0" rIns="0" bIns="0" rtlCol="0" anchor="ctr"/>
          <a:lstStyle/>
          <a:p>
            <a:pPr marL="0" indent="0">
              <a:lnSpc>
                <a:spcPct val="118000"/>
              </a:lnSpc>
              <a:buNone/>
            </a:pPr>
            <a:r>
              <a:rPr lang="ko-KR" altLang="en-US" sz="1150" b="1" dirty="0">
                <a:solidFill>
                  <a:srgbClr val="1E2761"/>
                </a:solidFill>
                <a:latin typeface="Pretendard" pitchFamily="34" charset="0"/>
                <a:ea typeface="Pretendard" pitchFamily="34" charset="-122"/>
                <a:cs typeface="Pretendard" pitchFamily="34" charset="-120"/>
              </a:rPr>
              <a:t>가장 많이 사용한 마약류</a:t>
            </a:r>
          </a:p>
        </p:txBody>
      </p:sp>
      <p:sp>
        <p:nvSpPr>
          <p:cNvPr id="9" name="L"/>
          <p:cNvSpPr/>
          <p:nvPr/>
        </p:nvSpPr>
        <p:spPr>
          <a:xfrm>
            <a:off x="731520" y="2340864"/>
            <a:ext cx="3337560" cy="0"/>
          </a:xfrm>
          <a:prstGeom prst="line">
            <a:avLst/>
          </a:prstGeom>
          <a:ln w="9525">
            <a:solidFill>
              <a:srgbClr val="DCE0E8"/>
            </a:solidFill>
          </a:ln>
        </p:spPr>
        <p:txBody>
          <a:bodyPr/>
          <a:lstStyle/>
          <a:p>
            <a:endParaRPr lang="ko-KR"/>
          </a:p>
        </p:txBody>
      </p:sp>
      <p:sp>
        <p:nvSpPr>
          <p:cNvPr id="10" name="RL"/>
          <p:cNvSpPr/>
          <p:nvPr/>
        </p:nvSpPr>
        <p:spPr>
          <a:xfrm>
            <a:off x="731520" y="2450592"/>
            <a:ext cx="1737360" cy="329184"/>
          </a:xfrm>
          <a:prstGeom prst="rect">
            <a:avLst/>
          </a:prstGeom>
          <a:noFill/>
          <a:ln/>
        </p:spPr>
        <p:txBody>
          <a:bodyPr wrap="square" lIns="0" tIns="0" rIns="0" bIns="0" rtlCol="0" anchor="ctr"/>
          <a:lstStyle/>
          <a:p>
            <a:pPr marL="0" indent="0">
              <a:lnSpc>
                <a:spcPct val="118000"/>
              </a:lnSpc>
              <a:buNone/>
            </a:pPr>
            <a:r>
              <a:rPr lang="ko-KR" altLang="en-US" sz="1000" dirty="0">
                <a:solidFill>
                  <a:srgbClr val="222633"/>
                </a:solidFill>
                <a:latin typeface="Pretendard" pitchFamily="34" charset="0"/>
                <a:ea typeface="Pretendard" pitchFamily="34" charset="-122"/>
                <a:cs typeface="Pretendard" pitchFamily="34" charset="-120"/>
              </a:rPr>
              <a:t>합성대마</a:t>
            </a:r>
          </a:p>
        </p:txBody>
      </p:sp>
      <p:sp>
        <p:nvSpPr>
          <p:cNvPr id="11" name="BAR"/>
          <p:cNvSpPr/>
          <p:nvPr/>
        </p:nvSpPr>
        <p:spPr>
          <a:xfrm>
            <a:off x="2514600" y="2532888"/>
            <a:ext cx="471968" cy="164592"/>
          </a:xfrm>
          <a:prstGeom prst="rect">
            <a:avLst/>
          </a:prstGeom>
          <a:solidFill>
            <a:srgbClr val="1E2761"/>
          </a:solidFill>
          <a:ln/>
        </p:spPr>
      </p:sp>
      <p:sp>
        <p:nvSpPr>
          <p:cNvPr id="12" name="RV"/>
          <p:cNvSpPr/>
          <p:nvPr/>
        </p:nvSpPr>
        <p:spPr>
          <a:xfrm>
            <a:off x="3383280" y="2450592"/>
            <a:ext cx="685800" cy="329184"/>
          </a:xfrm>
          <a:prstGeom prst="rect">
            <a:avLst/>
          </a:prstGeom>
          <a:noFill/>
          <a:ln/>
        </p:spPr>
        <p:txBody>
          <a:bodyPr wrap="square" lIns="0" tIns="0" rIns="0" bIns="0" rtlCol="0" anchor="ctr"/>
          <a:lstStyle/>
          <a:p>
            <a:pPr marL="0" indent="0" algn="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33.3%</a:t>
            </a:r>
          </a:p>
        </p:txBody>
      </p:sp>
      <p:sp>
        <p:nvSpPr>
          <p:cNvPr id="13" name="RL"/>
          <p:cNvSpPr/>
          <p:nvPr/>
        </p:nvSpPr>
        <p:spPr>
          <a:xfrm>
            <a:off x="731520" y="2816352"/>
            <a:ext cx="1737360" cy="329184"/>
          </a:xfrm>
          <a:prstGeom prst="rect">
            <a:avLst/>
          </a:prstGeom>
          <a:noFill/>
          <a:ln/>
        </p:spPr>
        <p:txBody>
          <a:bodyPr wrap="square" lIns="0" tIns="0" rIns="0" bIns="0" rtlCol="0" anchor="ctr"/>
          <a:lstStyle/>
          <a:p>
            <a:pPr marL="0" indent="0">
              <a:lnSpc>
                <a:spcPct val="118000"/>
              </a:lnSpc>
              <a:buNone/>
            </a:pPr>
            <a:r>
              <a:rPr lang="ko-KR" altLang="en-US" sz="1000" dirty="0">
                <a:solidFill>
                  <a:srgbClr val="222633"/>
                </a:solidFill>
                <a:latin typeface="Pretendard" pitchFamily="34" charset="0"/>
                <a:ea typeface="Pretendard" pitchFamily="34" charset="-122"/>
                <a:cs typeface="Pretendard" pitchFamily="34" charset="-120"/>
              </a:rPr>
              <a:t>필로폰 · 메스암페타민</a:t>
            </a:r>
          </a:p>
        </p:txBody>
      </p:sp>
      <p:sp>
        <p:nvSpPr>
          <p:cNvPr id="14" name="BAR"/>
          <p:cNvSpPr/>
          <p:nvPr/>
        </p:nvSpPr>
        <p:spPr>
          <a:xfrm>
            <a:off x="2514600" y="2898648"/>
            <a:ext cx="471968" cy="164592"/>
          </a:xfrm>
          <a:prstGeom prst="rect">
            <a:avLst/>
          </a:prstGeom>
          <a:solidFill>
            <a:srgbClr val="1E2761"/>
          </a:solidFill>
          <a:ln/>
        </p:spPr>
      </p:sp>
      <p:sp>
        <p:nvSpPr>
          <p:cNvPr id="15" name="RV"/>
          <p:cNvSpPr/>
          <p:nvPr/>
        </p:nvSpPr>
        <p:spPr>
          <a:xfrm>
            <a:off x="3383280" y="2816352"/>
            <a:ext cx="685800" cy="329184"/>
          </a:xfrm>
          <a:prstGeom prst="rect">
            <a:avLst/>
          </a:prstGeom>
          <a:noFill/>
          <a:ln/>
        </p:spPr>
        <p:txBody>
          <a:bodyPr wrap="square" lIns="0" tIns="0" rIns="0" bIns="0" rtlCol="0" anchor="ctr"/>
          <a:lstStyle/>
          <a:p>
            <a:pPr marL="0" indent="0" algn="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33.3%</a:t>
            </a:r>
          </a:p>
        </p:txBody>
      </p:sp>
      <p:sp>
        <p:nvSpPr>
          <p:cNvPr id="16" name="RL"/>
          <p:cNvSpPr/>
          <p:nvPr/>
        </p:nvSpPr>
        <p:spPr>
          <a:xfrm>
            <a:off x="731520" y="3182112"/>
            <a:ext cx="1737360" cy="329184"/>
          </a:xfrm>
          <a:prstGeom prst="rect">
            <a:avLst/>
          </a:prstGeom>
          <a:noFill/>
          <a:ln/>
        </p:spPr>
        <p:txBody>
          <a:bodyPr wrap="square" lIns="0" tIns="0" rIns="0" bIns="0" rtlCol="0" anchor="ctr"/>
          <a:lstStyle/>
          <a:p>
            <a:pPr marL="0" indent="0">
              <a:lnSpc>
                <a:spcPct val="118000"/>
              </a:lnSpc>
              <a:buNone/>
            </a:pPr>
            <a:r>
              <a:rPr lang="ko-KR" altLang="en-US" sz="1000" dirty="0">
                <a:solidFill>
                  <a:srgbClr val="222633"/>
                </a:solidFill>
                <a:latin typeface="Pretendard" pitchFamily="34" charset="0"/>
                <a:ea typeface="Pretendard" pitchFamily="34" charset="-122"/>
                <a:cs typeface="Pretendard" pitchFamily="34" charset="-120"/>
              </a:rPr>
              <a:t>대마초</a:t>
            </a:r>
          </a:p>
        </p:txBody>
      </p:sp>
      <p:sp>
        <p:nvSpPr>
          <p:cNvPr id="17" name="BAR"/>
          <p:cNvSpPr/>
          <p:nvPr/>
        </p:nvSpPr>
        <p:spPr>
          <a:xfrm>
            <a:off x="2514600" y="3264408"/>
            <a:ext cx="236692" cy="164592"/>
          </a:xfrm>
          <a:prstGeom prst="rect">
            <a:avLst/>
          </a:prstGeom>
          <a:solidFill>
            <a:srgbClr val="1E2761"/>
          </a:solidFill>
          <a:ln/>
        </p:spPr>
      </p:sp>
      <p:sp>
        <p:nvSpPr>
          <p:cNvPr id="18" name="RV"/>
          <p:cNvSpPr/>
          <p:nvPr/>
        </p:nvSpPr>
        <p:spPr>
          <a:xfrm>
            <a:off x="3383280" y="3182112"/>
            <a:ext cx="685800" cy="329184"/>
          </a:xfrm>
          <a:prstGeom prst="rect">
            <a:avLst/>
          </a:prstGeom>
          <a:noFill/>
          <a:ln/>
        </p:spPr>
        <p:txBody>
          <a:bodyPr wrap="square" lIns="0" tIns="0" rIns="0" bIns="0" rtlCol="0" anchor="ctr"/>
          <a:lstStyle/>
          <a:p>
            <a:pPr marL="0" indent="0" algn="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16.7%</a:t>
            </a:r>
          </a:p>
        </p:txBody>
      </p:sp>
      <p:sp>
        <p:nvSpPr>
          <p:cNvPr id="19" name="RL"/>
          <p:cNvSpPr/>
          <p:nvPr/>
        </p:nvSpPr>
        <p:spPr>
          <a:xfrm>
            <a:off x="731520" y="3547872"/>
            <a:ext cx="1737360" cy="329184"/>
          </a:xfrm>
          <a:prstGeom prst="rect">
            <a:avLst/>
          </a:prstGeom>
          <a:noFill/>
          <a:ln/>
        </p:spPr>
        <p:txBody>
          <a:bodyPr wrap="square" lIns="0" tIns="0" rIns="0" bIns="0" rtlCol="0" anchor="ctr"/>
          <a:lstStyle/>
          <a:p>
            <a:pPr marL="0" indent="0">
              <a:lnSpc>
                <a:spcPct val="118000"/>
              </a:lnSpc>
              <a:buNone/>
            </a:pPr>
            <a:r>
              <a:rPr lang="ko-KR" altLang="en-US" sz="1000" dirty="0">
                <a:solidFill>
                  <a:srgbClr val="222633"/>
                </a:solidFill>
                <a:latin typeface="Pretendard" pitchFamily="34" charset="0"/>
                <a:ea typeface="Pretendard" pitchFamily="34" charset="-122"/>
                <a:cs typeface="Pretendard" pitchFamily="34" charset="-120"/>
              </a:rPr>
              <a:t>MDMA</a:t>
            </a:r>
          </a:p>
        </p:txBody>
      </p:sp>
      <p:sp>
        <p:nvSpPr>
          <p:cNvPr id="20" name="BAR"/>
          <p:cNvSpPr/>
          <p:nvPr/>
        </p:nvSpPr>
        <p:spPr>
          <a:xfrm>
            <a:off x="2514600" y="3630168"/>
            <a:ext cx="236692" cy="164592"/>
          </a:xfrm>
          <a:prstGeom prst="rect">
            <a:avLst/>
          </a:prstGeom>
          <a:solidFill>
            <a:srgbClr val="1E2761"/>
          </a:solidFill>
          <a:ln/>
        </p:spPr>
      </p:sp>
      <p:sp>
        <p:nvSpPr>
          <p:cNvPr id="21" name="RV"/>
          <p:cNvSpPr/>
          <p:nvPr/>
        </p:nvSpPr>
        <p:spPr>
          <a:xfrm>
            <a:off x="3383280" y="3547872"/>
            <a:ext cx="685800" cy="329184"/>
          </a:xfrm>
          <a:prstGeom prst="rect">
            <a:avLst/>
          </a:prstGeom>
          <a:noFill/>
          <a:ln/>
        </p:spPr>
        <p:txBody>
          <a:bodyPr wrap="square" lIns="0" tIns="0" rIns="0" bIns="0" rtlCol="0" anchor="ctr"/>
          <a:lstStyle/>
          <a:p>
            <a:pPr marL="0" indent="0" algn="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16.7%</a:t>
            </a:r>
          </a:p>
        </p:txBody>
      </p:sp>
      <p:sp>
        <p:nvSpPr>
          <p:cNvPr id="22" name="CH"/>
          <p:cNvSpPr/>
          <p:nvPr/>
        </p:nvSpPr>
        <p:spPr>
          <a:xfrm>
            <a:off x="4416552" y="2029968"/>
            <a:ext cx="3337560" cy="274320"/>
          </a:xfrm>
          <a:prstGeom prst="rect">
            <a:avLst/>
          </a:prstGeom>
          <a:noFill/>
          <a:ln/>
        </p:spPr>
        <p:txBody>
          <a:bodyPr wrap="square" lIns="0" tIns="0" rIns="0" bIns="0" rtlCol="0" anchor="ctr"/>
          <a:lstStyle/>
          <a:p>
            <a:pPr marL="0" indent="0">
              <a:lnSpc>
                <a:spcPct val="118000"/>
              </a:lnSpc>
              <a:buNone/>
            </a:pPr>
            <a:r>
              <a:rPr lang="ko-KR" altLang="en-US" sz="1150" b="1" dirty="0">
                <a:solidFill>
                  <a:srgbClr val="1E2761"/>
                </a:solidFill>
                <a:latin typeface="Pretendard" pitchFamily="34" charset="0"/>
                <a:ea typeface="Pretendard" pitchFamily="34" charset="-122"/>
                <a:cs typeface="Pretendard" pitchFamily="34" charset="-120"/>
              </a:rPr>
              <a:t>어떻게 알게 됐나</a:t>
            </a:r>
          </a:p>
        </p:txBody>
      </p:sp>
      <p:sp>
        <p:nvSpPr>
          <p:cNvPr id="23" name="L"/>
          <p:cNvSpPr/>
          <p:nvPr/>
        </p:nvSpPr>
        <p:spPr>
          <a:xfrm>
            <a:off x="4416552" y="2340864"/>
            <a:ext cx="3337560" cy="0"/>
          </a:xfrm>
          <a:prstGeom prst="line">
            <a:avLst/>
          </a:prstGeom>
          <a:ln w="9525">
            <a:solidFill>
              <a:srgbClr val="DCE0E8"/>
            </a:solidFill>
          </a:ln>
        </p:spPr>
        <p:txBody>
          <a:bodyPr/>
          <a:lstStyle/>
          <a:p>
            <a:endParaRPr lang="ko-KR"/>
          </a:p>
        </p:txBody>
      </p:sp>
      <p:sp>
        <p:nvSpPr>
          <p:cNvPr id="24" name="RL"/>
          <p:cNvSpPr/>
          <p:nvPr/>
        </p:nvSpPr>
        <p:spPr>
          <a:xfrm>
            <a:off x="4416552" y="2450592"/>
            <a:ext cx="1737360" cy="329184"/>
          </a:xfrm>
          <a:prstGeom prst="rect">
            <a:avLst/>
          </a:prstGeom>
          <a:noFill/>
          <a:ln/>
        </p:spPr>
        <p:txBody>
          <a:bodyPr wrap="square" lIns="0" tIns="0" rIns="0" bIns="0" rtlCol="0" anchor="ctr"/>
          <a:lstStyle/>
          <a:p>
            <a:pPr marL="0" indent="0">
              <a:lnSpc>
                <a:spcPct val="118000"/>
              </a:lnSpc>
              <a:buNone/>
            </a:pPr>
            <a:r>
              <a:rPr lang="ko-KR" altLang="en-US" sz="1000" dirty="0">
                <a:solidFill>
                  <a:srgbClr val="222633"/>
                </a:solidFill>
                <a:latin typeface="Pretendard" pitchFamily="34" charset="0"/>
                <a:ea typeface="Pretendard" pitchFamily="34" charset="-122"/>
                <a:cs typeface="Pretendard" pitchFamily="34" charset="-120"/>
              </a:rPr>
              <a:t>텔레그램</a:t>
            </a:r>
          </a:p>
        </p:txBody>
      </p:sp>
      <p:sp>
        <p:nvSpPr>
          <p:cNvPr id="25" name="BAR"/>
          <p:cNvSpPr/>
          <p:nvPr/>
        </p:nvSpPr>
        <p:spPr>
          <a:xfrm>
            <a:off x="6199632" y="2532888"/>
            <a:ext cx="708660" cy="164592"/>
          </a:xfrm>
          <a:prstGeom prst="rect">
            <a:avLst/>
          </a:prstGeom>
          <a:solidFill>
            <a:srgbClr val="1E2761"/>
          </a:solidFill>
          <a:ln/>
        </p:spPr>
      </p:sp>
      <p:sp>
        <p:nvSpPr>
          <p:cNvPr id="26" name="RV"/>
          <p:cNvSpPr/>
          <p:nvPr/>
        </p:nvSpPr>
        <p:spPr>
          <a:xfrm>
            <a:off x="7068312" y="2450592"/>
            <a:ext cx="685800" cy="329184"/>
          </a:xfrm>
          <a:prstGeom prst="rect">
            <a:avLst/>
          </a:prstGeom>
          <a:noFill/>
          <a:ln/>
        </p:spPr>
        <p:txBody>
          <a:bodyPr wrap="square" lIns="0" tIns="0" rIns="0" bIns="0" rtlCol="0" anchor="ctr"/>
          <a:lstStyle/>
          <a:p>
            <a:pPr marL="0" indent="0" algn="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50.0%</a:t>
            </a:r>
          </a:p>
        </p:txBody>
      </p:sp>
      <p:sp>
        <p:nvSpPr>
          <p:cNvPr id="27" name="RL"/>
          <p:cNvSpPr/>
          <p:nvPr/>
        </p:nvSpPr>
        <p:spPr>
          <a:xfrm>
            <a:off x="4416552" y="2816352"/>
            <a:ext cx="1737360" cy="329184"/>
          </a:xfrm>
          <a:prstGeom prst="rect">
            <a:avLst/>
          </a:prstGeom>
          <a:noFill/>
          <a:ln/>
        </p:spPr>
        <p:txBody>
          <a:bodyPr wrap="square" lIns="0" tIns="0" rIns="0" bIns="0" rtlCol="0" anchor="ctr"/>
          <a:lstStyle/>
          <a:p>
            <a:pPr marL="0" indent="0">
              <a:lnSpc>
                <a:spcPct val="118000"/>
              </a:lnSpc>
              <a:buNone/>
            </a:pPr>
            <a:r>
              <a:rPr lang="ko-KR" altLang="en-US" sz="1000" dirty="0">
                <a:solidFill>
                  <a:srgbClr val="222633"/>
                </a:solidFill>
                <a:latin typeface="Pretendard" pitchFamily="34" charset="0"/>
                <a:ea typeface="Pretendard" pitchFamily="34" charset="-122"/>
                <a:cs typeface="Pretendard" pitchFamily="34" charset="-120"/>
              </a:rPr>
              <a:t>친구 · 또래</a:t>
            </a:r>
          </a:p>
        </p:txBody>
      </p:sp>
      <p:sp>
        <p:nvSpPr>
          <p:cNvPr id="28" name="BAR"/>
          <p:cNvSpPr/>
          <p:nvPr/>
        </p:nvSpPr>
        <p:spPr>
          <a:xfrm>
            <a:off x="6199632" y="2898648"/>
            <a:ext cx="471968" cy="164592"/>
          </a:xfrm>
          <a:prstGeom prst="rect">
            <a:avLst/>
          </a:prstGeom>
          <a:solidFill>
            <a:srgbClr val="1E2761"/>
          </a:solidFill>
          <a:ln/>
        </p:spPr>
      </p:sp>
      <p:sp>
        <p:nvSpPr>
          <p:cNvPr id="29" name="RV"/>
          <p:cNvSpPr/>
          <p:nvPr/>
        </p:nvSpPr>
        <p:spPr>
          <a:xfrm>
            <a:off x="7068312" y="2816352"/>
            <a:ext cx="685800" cy="329184"/>
          </a:xfrm>
          <a:prstGeom prst="rect">
            <a:avLst/>
          </a:prstGeom>
          <a:noFill/>
          <a:ln/>
        </p:spPr>
        <p:txBody>
          <a:bodyPr wrap="square" lIns="0" tIns="0" rIns="0" bIns="0" rtlCol="0" anchor="ctr"/>
          <a:lstStyle/>
          <a:p>
            <a:pPr marL="0" indent="0" algn="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33.3%</a:t>
            </a:r>
          </a:p>
        </p:txBody>
      </p:sp>
      <p:sp>
        <p:nvSpPr>
          <p:cNvPr id="30" name="RL"/>
          <p:cNvSpPr/>
          <p:nvPr/>
        </p:nvSpPr>
        <p:spPr>
          <a:xfrm>
            <a:off x="4416552" y="3182112"/>
            <a:ext cx="1737360" cy="329184"/>
          </a:xfrm>
          <a:prstGeom prst="rect">
            <a:avLst/>
          </a:prstGeom>
          <a:noFill/>
          <a:ln/>
        </p:spPr>
        <p:txBody>
          <a:bodyPr wrap="square" lIns="0" tIns="0" rIns="0" bIns="0" rtlCol="0" anchor="ctr"/>
          <a:lstStyle/>
          <a:p>
            <a:pPr marL="0" indent="0">
              <a:lnSpc>
                <a:spcPct val="118000"/>
              </a:lnSpc>
              <a:buNone/>
            </a:pPr>
            <a:r>
              <a:rPr lang="ko-KR" altLang="en-US" sz="1000" dirty="0">
                <a:solidFill>
                  <a:srgbClr val="222633"/>
                </a:solidFill>
                <a:latin typeface="Pretendard" pitchFamily="34" charset="0"/>
                <a:ea typeface="Pretendard" pitchFamily="34" charset="-122"/>
                <a:cs typeface="Pretendard" pitchFamily="34" charset="-120"/>
              </a:rPr>
              <a:t>유튜브 · 블로그 등</a:t>
            </a:r>
          </a:p>
          <a:p>
            <a:pPr marL="0" indent="0">
              <a:lnSpc>
                <a:spcPct val="118000"/>
              </a:lnSpc>
              <a:buNone/>
            </a:pPr>
            <a:r>
              <a:rPr lang="ko-KR" altLang="en-US" sz="1000" dirty="0">
                <a:solidFill>
                  <a:srgbClr val="222633"/>
                </a:solidFill>
                <a:latin typeface="Pretendard" pitchFamily="34" charset="0"/>
                <a:ea typeface="Pretendard" pitchFamily="34" charset="-122"/>
                <a:cs typeface="Pretendard" pitchFamily="34" charset="-120"/>
              </a:rPr>
              <a:t>온라인 콘텐츠</a:t>
            </a:r>
          </a:p>
        </p:txBody>
      </p:sp>
      <p:sp>
        <p:nvSpPr>
          <p:cNvPr id="31" name="BAR"/>
          <p:cNvSpPr/>
          <p:nvPr/>
        </p:nvSpPr>
        <p:spPr>
          <a:xfrm>
            <a:off x="6199632" y="3264408"/>
            <a:ext cx="236692" cy="164592"/>
          </a:xfrm>
          <a:prstGeom prst="rect">
            <a:avLst/>
          </a:prstGeom>
          <a:solidFill>
            <a:srgbClr val="1E2761"/>
          </a:solidFill>
          <a:ln/>
        </p:spPr>
      </p:sp>
      <p:sp>
        <p:nvSpPr>
          <p:cNvPr id="32" name="RV"/>
          <p:cNvSpPr/>
          <p:nvPr/>
        </p:nvSpPr>
        <p:spPr>
          <a:xfrm>
            <a:off x="7068312" y="3182112"/>
            <a:ext cx="685800" cy="329184"/>
          </a:xfrm>
          <a:prstGeom prst="rect">
            <a:avLst/>
          </a:prstGeom>
          <a:noFill/>
          <a:ln/>
        </p:spPr>
        <p:txBody>
          <a:bodyPr wrap="square" lIns="0" tIns="0" rIns="0" bIns="0" rtlCol="0" anchor="ctr"/>
          <a:lstStyle/>
          <a:p>
            <a:pPr marL="0" indent="0" algn="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16.7%</a:t>
            </a:r>
          </a:p>
        </p:txBody>
      </p:sp>
      <p:sp>
        <p:nvSpPr>
          <p:cNvPr id="33" name="CH"/>
          <p:cNvSpPr/>
          <p:nvPr/>
        </p:nvSpPr>
        <p:spPr>
          <a:xfrm>
            <a:off x="8119872" y="2029968"/>
            <a:ext cx="3337560" cy="274320"/>
          </a:xfrm>
          <a:prstGeom prst="rect">
            <a:avLst/>
          </a:prstGeom>
          <a:noFill/>
          <a:ln/>
        </p:spPr>
        <p:txBody>
          <a:bodyPr wrap="square" lIns="0" tIns="0" rIns="0" bIns="0" rtlCol="0" anchor="ctr"/>
          <a:lstStyle/>
          <a:p>
            <a:pPr marL="0" indent="0">
              <a:lnSpc>
                <a:spcPct val="118000"/>
              </a:lnSpc>
              <a:buNone/>
            </a:pPr>
            <a:r>
              <a:rPr lang="ko-KR" altLang="en-US" sz="1150" b="1" dirty="0">
                <a:solidFill>
                  <a:srgbClr val="1E2761"/>
                </a:solidFill>
                <a:latin typeface="Pretendard" pitchFamily="34" charset="0"/>
                <a:ea typeface="Pretendard" pitchFamily="34" charset="-122"/>
                <a:cs typeface="Pretendard" pitchFamily="34" charset="-120"/>
              </a:rPr>
              <a:t>어디서 구했나</a:t>
            </a:r>
          </a:p>
        </p:txBody>
      </p:sp>
      <p:sp>
        <p:nvSpPr>
          <p:cNvPr id="34" name="L"/>
          <p:cNvSpPr/>
          <p:nvPr/>
        </p:nvSpPr>
        <p:spPr>
          <a:xfrm>
            <a:off x="8119872" y="2340864"/>
            <a:ext cx="3337560" cy="0"/>
          </a:xfrm>
          <a:prstGeom prst="line">
            <a:avLst/>
          </a:prstGeom>
          <a:ln w="9525">
            <a:solidFill>
              <a:srgbClr val="DCE0E8"/>
            </a:solidFill>
          </a:ln>
        </p:spPr>
        <p:txBody>
          <a:bodyPr/>
          <a:lstStyle/>
          <a:p>
            <a:endParaRPr lang="ko-KR"/>
          </a:p>
        </p:txBody>
      </p:sp>
      <p:sp>
        <p:nvSpPr>
          <p:cNvPr id="35" name="RL"/>
          <p:cNvSpPr/>
          <p:nvPr/>
        </p:nvSpPr>
        <p:spPr>
          <a:xfrm>
            <a:off x="8119872" y="2450592"/>
            <a:ext cx="1737360" cy="329184"/>
          </a:xfrm>
          <a:prstGeom prst="rect">
            <a:avLst/>
          </a:prstGeom>
          <a:noFill/>
          <a:ln/>
        </p:spPr>
        <p:txBody>
          <a:bodyPr wrap="square" lIns="0" tIns="0" rIns="0" bIns="0" rtlCol="0" anchor="ctr"/>
          <a:lstStyle/>
          <a:p>
            <a:pPr marL="0" indent="0">
              <a:lnSpc>
                <a:spcPct val="118000"/>
              </a:lnSpc>
              <a:buNone/>
            </a:pPr>
            <a:r>
              <a:rPr lang="ko-KR" altLang="en-US" sz="1000" dirty="0">
                <a:solidFill>
                  <a:srgbClr val="222633"/>
                </a:solidFill>
                <a:latin typeface="Pretendard" pitchFamily="34" charset="0"/>
                <a:ea typeface="Pretendard" pitchFamily="34" charset="-122"/>
                <a:cs typeface="Pretendard" pitchFamily="34" charset="-120"/>
              </a:rPr>
              <a:t>텔레그램</a:t>
            </a:r>
          </a:p>
        </p:txBody>
      </p:sp>
      <p:sp>
        <p:nvSpPr>
          <p:cNvPr id="36" name="BAR"/>
          <p:cNvSpPr/>
          <p:nvPr/>
        </p:nvSpPr>
        <p:spPr>
          <a:xfrm>
            <a:off x="9902952" y="2532888"/>
            <a:ext cx="708660" cy="164592"/>
          </a:xfrm>
          <a:prstGeom prst="rect">
            <a:avLst/>
          </a:prstGeom>
          <a:solidFill>
            <a:srgbClr val="1E2761"/>
          </a:solidFill>
          <a:ln/>
        </p:spPr>
      </p:sp>
      <p:sp>
        <p:nvSpPr>
          <p:cNvPr id="37" name="RV"/>
          <p:cNvSpPr/>
          <p:nvPr/>
        </p:nvSpPr>
        <p:spPr>
          <a:xfrm>
            <a:off x="10771632" y="2450592"/>
            <a:ext cx="685800" cy="329184"/>
          </a:xfrm>
          <a:prstGeom prst="rect">
            <a:avLst/>
          </a:prstGeom>
          <a:noFill/>
          <a:ln/>
        </p:spPr>
        <p:txBody>
          <a:bodyPr wrap="square" lIns="0" tIns="0" rIns="0" bIns="0" rtlCol="0" anchor="ctr"/>
          <a:lstStyle/>
          <a:p>
            <a:pPr marL="0" indent="0" algn="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50.0%</a:t>
            </a:r>
          </a:p>
        </p:txBody>
      </p:sp>
      <p:sp>
        <p:nvSpPr>
          <p:cNvPr id="38" name="RL"/>
          <p:cNvSpPr/>
          <p:nvPr/>
        </p:nvSpPr>
        <p:spPr>
          <a:xfrm>
            <a:off x="8119872" y="2816352"/>
            <a:ext cx="1737360" cy="329184"/>
          </a:xfrm>
          <a:prstGeom prst="rect">
            <a:avLst/>
          </a:prstGeom>
          <a:noFill/>
          <a:ln/>
        </p:spPr>
        <p:txBody>
          <a:bodyPr wrap="square" lIns="0" tIns="0" rIns="0" bIns="0" rtlCol="0" anchor="ctr"/>
          <a:lstStyle/>
          <a:p>
            <a:pPr marL="0" indent="0">
              <a:lnSpc>
                <a:spcPct val="118000"/>
              </a:lnSpc>
              <a:buNone/>
            </a:pPr>
            <a:r>
              <a:rPr lang="ko-KR" altLang="en-US" sz="1000" dirty="0">
                <a:solidFill>
                  <a:srgbClr val="222633"/>
                </a:solidFill>
                <a:latin typeface="Pretendard" pitchFamily="34" charset="0"/>
                <a:ea typeface="Pretendard" pitchFamily="34" charset="-122"/>
                <a:cs typeface="Pretendard" pitchFamily="34" charset="-120"/>
              </a:rPr>
              <a:t>친구 · 또래</a:t>
            </a:r>
          </a:p>
        </p:txBody>
      </p:sp>
      <p:sp>
        <p:nvSpPr>
          <p:cNvPr id="39" name="BAR"/>
          <p:cNvSpPr/>
          <p:nvPr/>
        </p:nvSpPr>
        <p:spPr>
          <a:xfrm>
            <a:off x="9902952" y="2898648"/>
            <a:ext cx="236692" cy="164592"/>
          </a:xfrm>
          <a:prstGeom prst="rect">
            <a:avLst/>
          </a:prstGeom>
          <a:solidFill>
            <a:srgbClr val="1E2761"/>
          </a:solidFill>
          <a:ln/>
        </p:spPr>
      </p:sp>
      <p:sp>
        <p:nvSpPr>
          <p:cNvPr id="40" name="RV"/>
          <p:cNvSpPr/>
          <p:nvPr/>
        </p:nvSpPr>
        <p:spPr>
          <a:xfrm>
            <a:off x="10771632" y="2816352"/>
            <a:ext cx="685800" cy="329184"/>
          </a:xfrm>
          <a:prstGeom prst="rect">
            <a:avLst/>
          </a:prstGeom>
          <a:noFill/>
          <a:ln/>
        </p:spPr>
        <p:txBody>
          <a:bodyPr wrap="square" lIns="0" tIns="0" rIns="0" bIns="0" rtlCol="0" anchor="ctr"/>
          <a:lstStyle/>
          <a:p>
            <a:pPr marL="0" indent="0" algn="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16.7%</a:t>
            </a:r>
          </a:p>
        </p:txBody>
      </p:sp>
      <p:sp>
        <p:nvSpPr>
          <p:cNvPr id="41" name="RL"/>
          <p:cNvSpPr/>
          <p:nvPr/>
        </p:nvSpPr>
        <p:spPr>
          <a:xfrm>
            <a:off x="8119872" y="3182112"/>
            <a:ext cx="1737360" cy="329184"/>
          </a:xfrm>
          <a:prstGeom prst="rect">
            <a:avLst/>
          </a:prstGeom>
          <a:noFill/>
          <a:ln/>
        </p:spPr>
        <p:txBody>
          <a:bodyPr wrap="square" lIns="0" tIns="0" rIns="0" bIns="0" rtlCol="0" anchor="ctr"/>
          <a:lstStyle/>
          <a:p>
            <a:pPr marL="0" indent="0">
              <a:lnSpc>
                <a:spcPct val="118000"/>
              </a:lnSpc>
              <a:buNone/>
            </a:pPr>
            <a:r>
              <a:rPr lang="ko-KR" altLang="en-US" sz="1000" dirty="0">
                <a:solidFill>
                  <a:srgbClr val="222633"/>
                </a:solidFill>
                <a:latin typeface="Pretendard" pitchFamily="34" charset="0"/>
                <a:ea typeface="Pretendard" pitchFamily="34" charset="-122"/>
                <a:cs typeface="Pretendard" pitchFamily="34" charset="-120"/>
              </a:rPr>
              <a:t>텔레그램 외 SNS</a:t>
            </a:r>
          </a:p>
        </p:txBody>
      </p:sp>
      <p:sp>
        <p:nvSpPr>
          <p:cNvPr id="42" name="BAR"/>
          <p:cNvSpPr/>
          <p:nvPr/>
        </p:nvSpPr>
        <p:spPr>
          <a:xfrm>
            <a:off x="9902952" y="3264408"/>
            <a:ext cx="236692" cy="164592"/>
          </a:xfrm>
          <a:prstGeom prst="rect">
            <a:avLst/>
          </a:prstGeom>
          <a:solidFill>
            <a:srgbClr val="1E2761"/>
          </a:solidFill>
          <a:ln/>
        </p:spPr>
      </p:sp>
      <p:sp>
        <p:nvSpPr>
          <p:cNvPr id="43" name="RV"/>
          <p:cNvSpPr/>
          <p:nvPr/>
        </p:nvSpPr>
        <p:spPr>
          <a:xfrm>
            <a:off x="10771632" y="3182112"/>
            <a:ext cx="685800" cy="329184"/>
          </a:xfrm>
          <a:prstGeom prst="rect">
            <a:avLst/>
          </a:prstGeom>
          <a:noFill/>
          <a:ln/>
        </p:spPr>
        <p:txBody>
          <a:bodyPr wrap="square" lIns="0" tIns="0" rIns="0" bIns="0" rtlCol="0" anchor="ctr"/>
          <a:lstStyle/>
          <a:p>
            <a:pPr marL="0" indent="0" algn="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16.7%</a:t>
            </a:r>
          </a:p>
        </p:txBody>
      </p:sp>
      <p:sp>
        <p:nvSpPr>
          <p:cNvPr id="44" name="NOTE"/>
          <p:cNvSpPr/>
          <p:nvPr/>
        </p:nvSpPr>
        <p:spPr>
          <a:xfrm>
            <a:off x="731520" y="3913632"/>
            <a:ext cx="10725912" cy="237744"/>
          </a:xfrm>
          <a:prstGeom prst="rect">
            <a:avLst/>
          </a:prstGeom>
          <a:noFill/>
          <a:ln/>
        </p:spPr>
        <p:txBody>
          <a:bodyPr wrap="square" lIns="0" tIns="0" rIns="0" bIns="0" rtlCol="0" anchor="ctr"/>
          <a:lstStyle/>
          <a:p>
            <a:pPr marL="0" indent="0">
              <a:lnSpc>
                <a:spcPct val="118000"/>
              </a:lnSpc>
              <a:buNone/>
            </a:pPr>
            <a:r>
              <a:rPr lang="ko-KR" altLang="en-US" sz="1000" dirty="0">
                <a:solidFill>
                  <a:srgbClr val="8A91A0"/>
                </a:solidFill>
                <a:latin typeface="Pretendard" pitchFamily="34" charset="0"/>
                <a:ea typeface="Pretendard" pitchFamily="34" charset="-122"/>
                <a:cs typeface="Pretendard" pitchFamily="34" charset="-120"/>
              </a:rPr>
              <a:t>설문  |  위기청소년 297명 가운데 최근 6개월 마약류 사용 경험자 6명의 응답 · 합계가 100%가 되지 않는 항목이 있다</a:t>
            </a:r>
          </a:p>
        </p:txBody>
      </p:sp>
      <p:sp>
        <p:nvSpPr>
          <p:cNvPr id="45" name="L"/>
          <p:cNvSpPr/>
          <p:nvPr/>
        </p:nvSpPr>
        <p:spPr>
          <a:xfrm>
            <a:off x="731520" y="4242816"/>
            <a:ext cx="10725912" cy="0"/>
          </a:xfrm>
          <a:prstGeom prst="line">
            <a:avLst/>
          </a:prstGeom>
          <a:ln w="9525">
            <a:solidFill>
              <a:srgbClr val="DCE0E8"/>
            </a:solidFill>
          </a:ln>
        </p:spPr>
        <p:txBody>
          <a:bodyPr/>
          <a:lstStyle/>
          <a:p>
            <a:endParaRPr lang="ko-KR"/>
          </a:p>
        </p:txBody>
      </p:sp>
      <p:sp>
        <p:nvSpPr>
          <p:cNvPr id="46" name="SW"/>
          <p:cNvSpPr/>
          <p:nvPr/>
        </p:nvSpPr>
        <p:spPr>
          <a:xfrm>
            <a:off x="731520" y="4402836"/>
            <a:ext cx="118872" cy="118872"/>
          </a:xfrm>
          <a:prstGeom prst="rect">
            <a:avLst/>
          </a:prstGeom>
          <a:solidFill>
            <a:schemeClr val="accent2"/>
          </a:solidFill>
          <a:ln/>
        </p:spPr>
      </p:sp>
      <p:sp>
        <p:nvSpPr>
          <p:cNvPr id="47" name="AL"/>
          <p:cNvSpPr/>
          <p:nvPr/>
        </p:nvSpPr>
        <p:spPr>
          <a:xfrm>
            <a:off x="932688" y="4315968"/>
            <a:ext cx="7315200" cy="292608"/>
          </a:xfrm>
          <a:prstGeom prst="rect">
            <a:avLst/>
          </a:prstGeom>
          <a:noFill/>
          <a:ln/>
        </p:spPr>
        <p:txBody>
          <a:bodyPr wrap="square" lIns="0" tIns="0" rIns="0" bIns="0" rtlCol="0" anchor="ctr"/>
          <a:lstStyle/>
          <a:p>
            <a:pPr marL="0" indent="0">
              <a:lnSpc>
                <a:spcPct val="118000"/>
              </a:lnSpc>
              <a:buNone/>
            </a:pPr>
            <a:r>
              <a:rPr lang="ko-KR" altLang="en-US" sz="1150" b="1" dirty="0">
                <a:solidFill>
                  <a:srgbClr val="1E2761"/>
                </a:solidFill>
                <a:latin typeface="Pretendard" pitchFamily="34" charset="0"/>
                <a:ea typeface="Pretendard" pitchFamily="34" charset="-122"/>
                <a:cs typeface="Pretendard" pitchFamily="34" charset="-120"/>
              </a:rPr>
              <a:t>성인 일반조사</a:t>
            </a:r>
            <a:r>
              <a:rPr lang="ko-KR" altLang="en-US" sz="1000" b="1" dirty="0">
                <a:solidFill>
                  <a:srgbClr val="A8871C"/>
                </a:solidFill>
                <a:latin typeface="Pretendard" pitchFamily="34" charset="0"/>
                <a:ea typeface="Pretendard" pitchFamily="34" charset="-122"/>
                <a:cs typeface="Pretendard" pitchFamily="34" charset="-120"/>
              </a:rPr>
              <a:t>   19~69세 사용경험자 n=115</a:t>
            </a:r>
          </a:p>
        </p:txBody>
      </p:sp>
      <p:sp>
        <p:nvSpPr>
          <p:cNvPr id="48" name="RL"/>
          <p:cNvSpPr/>
          <p:nvPr/>
        </p:nvSpPr>
        <p:spPr>
          <a:xfrm>
            <a:off x="731520" y="4663440"/>
            <a:ext cx="1737360" cy="310896"/>
          </a:xfrm>
          <a:prstGeom prst="rect">
            <a:avLst/>
          </a:prstGeom>
          <a:noFill/>
          <a:ln/>
        </p:spPr>
        <p:txBody>
          <a:bodyPr wrap="square" lIns="0" tIns="0" rIns="0" bIns="0" rtlCol="0" anchor="ctr"/>
          <a:lstStyle/>
          <a:p>
            <a:pPr marL="0" indent="0">
              <a:lnSpc>
                <a:spcPct val="118000"/>
              </a:lnSpc>
              <a:buNone/>
            </a:pPr>
            <a:r>
              <a:rPr lang="ko-KR" altLang="en-US" sz="1000" dirty="0">
                <a:solidFill>
                  <a:srgbClr val="222633"/>
                </a:solidFill>
                <a:latin typeface="Pretendard" pitchFamily="34" charset="0"/>
                <a:ea typeface="Pretendard" pitchFamily="34" charset="-122"/>
                <a:cs typeface="Pretendard" pitchFamily="34" charset="-120"/>
              </a:rPr>
              <a:t>프로포폴</a:t>
            </a:r>
          </a:p>
        </p:txBody>
      </p:sp>
      <p:sp>
        <p:nvSpPr>
          <p:cNvPr id="49" name="BAR"/>
          <p:cNvSpPr/>
          <p:nvPr/>
        </p:nvSpPr>
        <p:spPr>
          <a:xfrm>
            <a:off x="2514600" y="4736592"/>
            <a:ext cx="215433" cy="164592"/>
          </a:xfrm>
          <a:prstGeom prst="rect">
            <a:avLst/>
          </a:prstGeom>
          <a:solidFill>
            <a:schemeClr val="accent2"/>
          </a:solidFill>
          <a:ln/>
        </p:spPr>
      </p:sp>
      <p:sp>
        <p:nvSpPr>
          <p:cNvPr id="50" name="RV"/>
          <p:cNvSpPr/>
          <p:nvPr/>
        </p:nvSpPr>
        <p:spPr>
          <a:xfrm>
            <a:off x="3383280" y="4663440"/>
            <a:ext cx="685800" cy="310896"/>
          </a:xfrm>
          <a:prstGeom prst="rect">
            <a:avLst/>
          </a:prstGeom>
          <a:noFill/>
          <a:ln/>
        </p:spPr>
        <p:txBody>
          <a:bodyPr wrap="square" lIns="0" tIns="0" rIns="0" bIns="0" rtlCol="0" anchor="ctr"/>
          <a:lstStyle/>
          <a:p>
            <a:pPr marL="0" indent="0" algn="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15.2%</a:t>
            </a:r>
          </a:p>
        </p:txBody>
      </p:sp>
      <p:sp>
        <p:nvSpPr>
          <p:cNvPr id="51" name="RL"/>
          <p:cNvSpPr/>
          <p:nvPr/>
        </p:nvSpPr>
        <p:spPr>
          <a:xfrm>
            <a:off x="731520" y="4992624"/>
            <a:ext cx="1737360" cy="310896"/>
          </a:xfrm>
          <a:prstGeom prst="rect">
            <a:avLst/>
          </a:prstGeom>
          <a:noFill/>
          <a:ln/>
        </p:spPr>
        <p:txBody>
          <a:bodyPr wrap="square" lIns="0" tIns="0" rIns="0" bIns="0" rtlCol="0" anchor="ctr"/>
          <a:lstStyle/>
          <a:p>
            <a:pPr marL="0" indent="0">
              <a:lnSpc>
                <a:spcPct val="118000"/>
              </a:lnSpc>
              <a:buNone/>
            </a:pPr>
            <a:r>
              <a:rPr lang="ko-KR" altLang="en-US" sz="1000" dirty="0">
                <a:solidFill>
                  <a:srgbClr val="222633"/>
                </a:solidFill>
                <a:latin typeface="Pretendard" pitchFamily="34" charset="0"/>
                <a:ea typeface="Pretendard" pitchFamily="34" charset="-122"/>
                <a:cs typeface="Pretendard" pitchFamily="34" charset="-120"/>
              </a:rPr>
              <a:t>모르핀</a:t>
            </a:r>
          </a:p>
        </p:txBody>
      </p:sp>
      <p:sp>
        <p:nvSpPr>
          <p:cNvPr id="52" name="BAR"/>
          <p:cNvSpPr/>
          <p:nvPr/>
        </p:nvSpPr>
        <p:spPr>
          <a:xfrm>
            <a:off x="2514600" y="5065776"/>
            <a:ext cx="188504" cy="164592"/>
          </a:xfrm>
          <a:prstGeom prst="rect">
            <a:avLst/>
          </a:prstGeom>
          <a:solidFill>
            <a:schemeClr val="accent2"/>
          </a:solidFill>
          <a:ln/>
        </p:spPr>
      </p:sp>
      <p:sp>
        <p:nvSpPr>
          <p:cNvPr id="53" name="RV"/>
          <p:cNvSpPr/>
          <p:nvPr/>
        </p:nvSpPr>
        <p:spPr>
          <a:xfrm>
            <a:off x="3383280" y="4992624"/>
            <a:ext cx="685800" cy="310896"/>
          </a:xfrm>
          <a:prstGeom prst="rect">
            <a:avLst/>
          </a:prstGeom>
          <a:noFill/>
          <a:ln/>
        </p:spPr>
        <p:txBody>
          <a:bodyPr wrap="square" lIns="0" tIns="0" rIns="0" bIns="0" rtlCol="0" anchor="ctr"/>
          <a:lstStyle/>
          <a:p>
            <a:pPr marL="0" indent="0" algn="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13.3%</a:t>
            </a:r>
          </a:p>
        </p:txBody>
      </p:sp>
      <p:sp>
        <p:nvSpPr>
          <p:cNvPr id="54" name="RL"/>
          <p:cNvSpPr/>
          <p:nvPr/>
        </p:nvSpPr>
        <p:spPr>
          <a:xfrm>
            <a:off x="731520" y="5321808"/>
            <a:ext cx="1737360" cy="310896"/>
          </a:xfrm>
          <a:prstGeom prst="rect">
            <a:avLst/>
          </a:prstGeom>
          <a:noFill/>
          <a:ln/>
        </p:spPr>
        <p:txBody>
          <a:bodyPr wrap="square" lIns="0" tIns="0" rIns="0" bIns="0" rtlCol="0" anchor="ctr"/>
          <a:lstStyle/>
          <a:p>
            <a:pPr marL="0" indent="0">
              <a:lnSpc>
                <a:spcPct val="118000"/>
              </a:lnSpc>
              <a:buNone/>
            </a:pPr>
            <a:r>
              <a:rPr lang="ko-KR" altLang="en-US" sz="1000" dirty="0">
                <a:solidFill>
                  <a:srgbClr val="222633"/>
                </a:solidFill>
                <a:latin typeface="Pretendard" pitchFamily="34" charset="0"/>
                <a:ea typeface="Pretendard" pitchFamily="34" charset="-122"/>
                <a:cs typeface="Pretendard" pitchFamily="34" charset="-120"/>
              </a:rPr>
              <a:t>펜타닐</a:t>
            </a:r>
          </a:p>
        </p:txBody>
      </p:sp>
      <p:sp>
        <p:nvSpPr>
          <p:cNvPr id="55" name="BAR"/>
          <p:cNvSpPr/>
          <p:nvPr/>
        </p:nvSpPr>
        <p:spPr>
          <a:xfrm>
            <a:off x="2514600" y="5394960"/>
            <a:ext cx="124724" cy="164592"/>
          </a:xfrm>
          <a:prstGeom prst="rect">
            <a:avLst/>
          </a:prstGeom>
          <a:solidFill>
            <a:schemeClr val="accent2"/>
          </a:solidFill>
          <a:ln/>
        </p:spPr>
      </p:sp>
      <p:sp>
        <p:nvSpPr>
          <p:cNvPr id="56" name="RV"/>
          <p:cNvSpPr/>
          <p:nvPr/>
        </p:nvSpPr>
        <p:spPr>
          <a:xfrm>
            <a:off x="3383280" y="5321808"/>
            <a:ext cx="685800" cy="310896"/>
          </a:xfrm>
          <a:prstGeom prst="rect">
            <a:avLst/>
          </a:prstGeom>
          <a:noFill/>
          <a:ln/>
        </p:spPr>
        <p:txBody>
          <a:bodyPr wrap="square" lIns="0" tIns="0" rIns="0" bIns="0" rtlCol="0" anchor="ctr"/>
          <a:lstStyle/>
          <a:p>
            <a:pPr marL="0" indent="0" algn="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8.8%</a:t>
            </a:r>
          </a:p>
        </p:txBody>
      </p:sp>
      <p:sp>
        <p:nvSpPr>
          <p:cNvPr id="57" name="RL"/>
          <p:cNvSpPr/>
          <p:nvPr/>
        </p:nvSpPr>
        <p:spPr>
          <a:xfrm>
            <a:off x="4416552" y="4663440"/>
            <a:ext cx="1737360" cy="310896"/>
          </a:xfrm>
          <a:prstGeom prst="rect">
            <a:avLst/>
          </a:prstGeom>
          <a:noFill/>
          <a:ln/>
        </p:spPr>
        <p:txBody>
          <a:bodyPr wrap="square" lIns="0" tIns="0" rIns="0" bIns="0" rtlCol="0" anchor="ctr"/>
          <a:lstStyle/>
          <a:p>
            <a:pPr marL="0" indent="0">
              <a:lnSpc>
                <a:spcPct val="118000"/>
              </a:lnSpc>
              <a:buNone/>
            </a:pPr>
            <a:r>
              <a:rPr lang="ko-KR" altLang="en-US" sz="1000" dirty="0">
                <a:solidFill>
                  <a:srgbClr val="222633"/>
                </a:solidFill>
                <a:latin typeface="Pretendard" pitchFamily="34" charset="0"/>
                <a:ea typeface="Pretendard" pitchFamily="34" charset="-122"/>
                <a:cs typeface="Pretendard" pitchFamily="34" charset="-120"/>
              </a:rPr>
              <a:t>약국 · 병의원</a:t>
            </a:r>
          </a:p>
        </p:txBody>
      </p:sp>
      <p:sp>
        <p:nvSpPr>
          <p:cNvPr id="58" name="BAR"/>
          <p:cNvSpPr/>
          <p:nvPr/>
        </p:nvSpPr>
        <p:spPr>
          <a:xfrm>
            <a:off x="6199632" y="4736592"/>
            <a:ext cx="914171" cy="164592"/>
          </a:xfrm>
          <a:prstGeom prst="rect">
            <a:avLst/>
          </a:prstGeom>
          <a:solidFill>
            <a:schemeClr val="accent2"/>
          </a:solidFill>
          <a:ln/>
        </p:spPr>
      </p:sp>
      <p:sp>
        <p:nvSpPr>
          <p:cNvPr id="59" name="RV"/>
          <p:cNvSpPr/>
          <p:nvPr/>
        </p:nvSpPr>
        <p:spPr>
          <a:xfrm>
            <a:off x="7068312" y="4663440"/>
            <a:ext cx="685800" cy="310896"/>
          </a:xfrm>
          <a:prstGeom prst="rect">
            <a:avLst/>
          </a:prstGeom>
          <a:noFill/>
          <a:ln/>
        </p:spPr>
        <p:txBody>
          <a:bodyPr wrap="square" lIns="0" tIns="0" rIns="0" bIns="0" rtlCol="0" anchor="ctr"/>
          <a:lstStyle/>
          <a:p>
            <a:pPr marL="0" indent="0" algn="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64.5%</a:t>
            </a:r>
          </a:p>
        </p:txBody>
      </p:sp>
      <p:sp>
        <p:nvSpPr>
          <p:cNvPr id="60" name="RL"/>
          <p:cNvSpPr/>
          <p:nvPr/>
        </p:nvSpPr>
        <p:spPr>
          <a:xfrm>
            <a:off x="4416552" y="4992624"/>
            <a:ext cx="1737360" cy="310896"/>
          </a:xfrm>
          <a:prstGeom prst="rect">
            <a:avLst/>
          </a:prstGeom>
          <a:noFill/>
          <a:ln/>
        </p:spPr>
        <p:txBody>
          <a:bodyPr wrap="square" lIns="0" tIns="0" rIns="0" bIns="0" rtlCol="0" anchor="ctr"/>
          <a:lstStyle/>
          <a:p>
            <a:pPr marL="0" indent="0">
              <a:lnSpc>
                <a:spcPct val="118000"/>
              </a:lnSpc>
              <a:buNone/>
            </a:pPr>
            <a:r>
              <a:rPr lang="ko-KR" altLang="en-US" sz="1000" dirty="0">
                <a:solidFill>
                  <a:srgbClr val="222633"/>
                </a:solidFill>
                <a:latin typeface="Pretendard" pitchFamily="34" charset="0"/>
                <a:ea typeface="Pretendard" pitchFamily="34" charset="-122"/>
                <a:cs typeface="Pretendard" pitchFamily="34" charset="-120"/>
              </a:rPr>
              <a:t>친구 · 선후배 · 직장동료</a:t>
            </a:r>
          </a:p>
        </p:txBody>
      </p:sp>
      <p:sp>
        <p:nvSpPr>
          <p:cNvPr id="61" name="BAR"/>
          <p:cNvSpPr/>
          <p:nvPr/>
        </p:nvSpPr>
        <p:spPr>
          <a:xfrm>
            <a:off x="6199632" y="5065776"/>
            <a:ext cx="413857" cy="164592"/>
          </a:xfrm>
          <a:prstGeom prst="rect">
            <a:avLst/>
          </a:prstGeom>
          <a:solidFill>
            <a:schemeClr val="accent2"/>
          </a:solidFill>
          <a:ln/>
        </p:spPr>
      </p:sp>
      <p:sp>
        <p:nvSpPr>
          <p:cNvPr id="62" name="RV"/>
          <p:cNvSpPr/>
          <p:nvPr/>
        </p:nvSpPr>
        <p:spPr>
          <a:xfrm>
            <a:off x="7068312" y="4992624"/>
            <a:ext cx="685800" cy="310896"/>
          </a:xfrm>
          <a:prstGeom prst="rect">
            <a:avLst/>
          </a:prstGeom>
          <a:noFill/>
          <a:ln/>
        </p:spPr>
        <p:txBody>
          <a:bodyPr wrap="square" lIns="0" tIns="0" rIns="0" bIns="0" rtlCol="0" anchor="ctr"/>
          <a:lstStyle/>
          <a:p>
            <a:pPr marL="0" indent="0" algn="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29.2%</a:t>
            </a:r>
          </a:p>
        </p:txBody>
      </p:sp>
      <p:sp>
        <p:nvSpPr>
          <p:cNvPr id="63" name="RL"/>
          <p:cNvSpPr/>
          <p:nvPr/>
        </p:nvSpPr>
        <p:spPr>
          <a:xfrm>
            <a:off x="4416552" y="5321808"/>
            <a:ext cx="1737360" cy="310896"/>
          </a:xfrm>
          <a:prstGeom prst="rect">
            <a:avLst/>
          </a:prstGeom>
          <a:noFill/>
          <a:ln/>
        </p:spPr>
        <p:txBody>
          <a:bodyPr wrap="square" lIns="0" tIns="0" rIns="0" bIns="0" rtlCol="0" anchor="ctr"/>
          <a:lstStyle/>
          <a:p>
            <a:pPr marL="0" indent="0">
              <a:lnSpc>
                <a:spcPct val="118000"/>
              </a:lnSpc>
              <a:buNone/>
            </a:pPr>
            <a:r>
              <a:rPr lang="ko-KR" altLang="en-US" sz="1000" dirty="0">
                <a:solidFill>
                  <a:srgbClr val="222633"/>
                </a:solidFill>
                <a:latin typeface="Pretendard" pitchFamily="34" charset="0"/>
                <a:ea typeface="Pretendard" pitchFamily="34" charset="-122"/>
                <a:cs typeface="Pretendard" pitchFamily="34" charset="-120"/>
              </a:rPr>
              <a:t>온라인 플랫폼</a:t>
            </a:r>
          </a:p>
        </p:txBody>
      </p:sp>
      <p:sp>
        <p:nvSpPr>
          <p:cNvPr id="64" name="BAR"/>
          <p:cNvSpPr/>
          <p:nvPr/>
        </p:nvSpPr>
        <p:spPr>
          <a:xfrm>
            <a:off x="6199632" y="5394960"/>
            <a:ext cx="150236" cy="164592"/>
          </a:xfrm>
          <a:prstGeom prst="rect">
            <a:avLst/>
          </a:prstGeom>
          <a:solidFill>
            <a:schemeClr val="accent2"/>
          </a:solidFill>
          <a:ln/>
        </p:spPr>
      </p:sp>
      <p:sp>
        <p:nvSpPr>
          <p:cNvPr id="65" name="RV"/>
          <p:cNvSpPr/>
          <p:nvPr/>
        </p:nvSpPr>
        <p:spPr>
          <a:xfrm>
            <a:off x="7068312" y="5321808"/>
            <a:ext cx="685800" cy="310896"/>
          </a:xfrm>
          <a:prstGeom prst="rect">
            <a:avLst/>
          </a:prstGeom>
          <a:noFill/>
          <a:ln/>
        </p:spPr>
        <p:txBody>
          <a:bodyPr wrap="square" lIns="0" tIns="0" rIns="0" bIns="0" rtlCol="0" anchor="ctr"/>
          <a:lstStyle/>
          <a:p>
            <a:pPr marL="0" indent="0" algn="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10.6%</a:t>
            </a:r>
          </a:p>
        </p:txBody>
      </p:sp>
      <p:sp>
        <p:nvSpPr>
          <p:cNvPr id="66" name="RL"/>
          <p:cNvSpPr/>
          <p:nvPr/>
        </p:nvSpPr>
        <p:spPr>
          <a:xfrm>
            <a:off x="8119872" y="4663440"/>
            <a:ext cx="1737360" cy="310896"/>
          </a:xfrm>
          <a:prstGeom prst="rect">
            <a:avLst/>
          </a:prstGeom>
          <a:noFill/>
          <a:ln/>
        </p:spPr>
        <p:txBody>
          <a:bodyPr wrap="square" lIns="0" tIns="0" rIns="0" bIns="0" rtlCol="0" anchor="ctr"/>
          <a:lstStyle/>
          <a:p>
            <a:pPr marL="0" indent="0">
              <a:lnSpc>
                <a:spcPct val="118000"/>
              </a:lnSpc>
              <a:buNone/>
            </a:pPr>
            <a:r>
              <a:rPr lang="ko-KR" altLang="en-US" sz="1000" dirty="0">
                <a:solidFill>
                  <a:srgbClr val="222633"/>
                </a:solidFill>
                <a:latin typeface="Pretendard" pitchFamily="34" charset="0"/>
                <a:ea typeface="Pretendard" pitchFamily="34" charset="-122"/>
                <a:cs typeface="Pretendard" pitchFamily="34" charset="-120"/>
              </a:rPr>
              <a:t>약국 · 병의원</a:t>
            </a:r>
          </a:p>
        </p:txBody>
      </p:sp>
      <p:sp>
        <p:nvSpPr>
          <p:cNvPr id="67" name="BAR"/>
          <p:cNvSpPr/>
          <p:nvPr/>
        </p:nvSpPr>
        <p:spPr>
          <a:xfrm>
            <a:off x="9902952" y="4736592"/>
            <a:ext cx="898581" cy="164592"/>
          </a:xfrm>
          <a:prstGeom prst="rect">
            <a:avLst/>
          </a:prstGeom>
          <a:solidFill>
            <a:schemeClr val="accent2"/>
          </a:solidFill>
          <a:ln/>
        </p:spPr>
      </p:sp>
      <p:sp>
        <p:nvSpPr>
          <p:cNvPr id="68" name="RV"/>
          <p:cNvSpPr/>
          <p:nvPr/>
        </p:nvSpPr>
        <p:spPr>
          <a:xfrm>
            <a:off x="10771632" y="4663440"/>
            <a:ext cx="685800" cy="310896"/>
          </a:xfrm>
          <a:prstGeom prst="rect">
            <a:avLst/>
          </a:prstGeom>
          <a:noFill/>
          <a:ln/>
        </p:spPr>
        <p:txBody>
          <a:bodyPr wrap="square" lIns="0" tIns="0" rIns="0" bIns="0" rtlCol="0" anchor="ctr"/>
          <a:lstStyle/>
          <a:p>
            <a:pPr marL="0" indent="0" algn="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63.4%</a:t>
            </a:r>
          </a:p>
        </p:txBody>
      </p:sp>
      <p:sp>
        <p:nvSpPr>
          <p:cNvPr id="69" name="RL"/>
          <p:cNvSpPr/>
          <p:nvPr/>
        </p:nvSpPr>
        <p:spPr>
          <a:xfrm>
            <a:off x="8119872" y="4992624"/>
            <a:ext cx="1737360" cy="310896"/>
          </a:xfrm>
          <a:prstGeom prst="rect">
            <a:avLst/>
          </a:prstGeom>
          <a:noFill/>
          <a:ln/>
        </p:spPr>
        <p:txBody>
          <a:bodyPr wrap="square" lIns="0" tIns="0" rIns="0" bIns="0" rtlCol="0" anchor="ctr"/>
          <a:lstStyle/>
          <a:p>
            <a:pPr marL="0" indent="0">
              <a:lnSpc>
                <a:spcPct val="118000"/>
              </a:lnSpc>
              <a:buNone/>
            </a:pPr>
            <a:r>
              <a:rPr lang="ko-KR" altLang="en-US" sz="1000" dirty="0">
                <a:solidFill>
                  <a:srgbClr val="222633"/>
                </a:solidFill>
                <a:latin typeface="Pretendard" pitchFamily="34" charset="0"/>
                <a:ea typeface="Pretendard" pitchFamily="34" charset="-122"/>
                <a:cs typeface="Pretendard" pitchFamily="34" charset="-120"/>
              </a:rPr>
              <a:t>친구 · 선후배 · 직장동료</a:t>
            </a:r>
          </a:p>
        </p:txBody>
      </p:sp>
      <p:sp>
        <p:nvSpPr>
          <p:cNvPr id="70" name="BAR"/>
          <p:cNvSpPr/>
          <p:nvPr/>
        </p:nvSpPr>
        <p:spPr>
          <a:xfrm>
            <a:off x="9902952" y="5065776"/>
            <a:ext cx="436535" cy="164592"/>
          </a:xfrm>
          <a:prstGeom prst="rect">
            <a:avLst/>
          </a:prstGeom>
          <a:solidFill>
            <a:schemeClr val="accent2"/>
          </a:solidFill>
          <a:ln/>
        </p:spPr>
      </p:sp>
      <p:sp>
        <p:nvSpPr>
          <p:cNvPr id="71" name="RV"/>
          <p:cNvSpPr/>
          <p:nvPr/>
        </p:nvSpPr>
        <p:spPr>
          <a:xfrm>
            <a:off x="10771632" y="4992624"/>
            <a:ext cx="685800" cy="310896"/>
          </a:xfrm>
          <a:prstGeom prst="rect">
            <a:avLst/>
          </a:prstGeom>
          <a:noFill/>
          <a:ln/>
        </p:spPr>
        <p:txBody>
          <a:bodyPr wrap="square" lIns="0" tIns="0" rIns="0" bIns="0" rtlCol="0" anchor="ctr"/>
          <a:lstStyle/>
          <a:p>
            <a:pPr marL="0" indent="0" algn="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30.8%</a:t>
            </a:r>
          </a:p>
        </p:txBody>
      </p:sp>
      <p:sp>
        <p:nvSpPr>
          <p:cNvPr id="72" name="RL"/>
          <p:cNvSpPr/>
          <p:nvPr/>
        </p:nvSpPr>
        <p:spPr>
          <a:xfrm>
            <a:off x="8119872" y="5321808"/>
            <a:ext cx="1737360" cy="310896"/>
          </a:xfrm>
          <a:prstGeom prst="rect">
            <a:avLst/>
          </a:prstGeom>
          <a:noFill/>
          <a:ln/>
        </p:spPr>
        <p:txBody>
          <a:bodyPr wrap="square" lIns="0" tIns="0" rIns="0" bIns="0" rtlCol="0" anchor="ctr"/>
          <a:lstStyle/>
          <a:p>
            <a:pPr marL="0" indent="0">
              <a:lnSpc>
                <a:spcPct val="118000"/>
              </a:lnSpc>
              <a:buNone/>
            </a:pPr>
            <a:r>
              <a:rPr lang="ko-KR" altLang="en-US" sz="1000" dirty="0">
                <a:solidFill>
                  <a:srgbClr val="222633"/>
                </a:solidFill>
                <a:latin typeface="Pretendard" pitchFamily="34" charset="0"/>
                <a:ea typeface="Pretendard" pitchFamily="34" charset="-122"/>
                <a:cs typeface="Pretendard" pitchFamily="34" charset="-120"/>
              </a:rPr>
              <a:t>온라인 플랫폼</a:t>
            </a:r>
          </a:p>
        </p:txBody>
      </p:sp>
      <p:sp>
        <p:nvSpPr>
          <p:cNvPr id="73" name="BAR"/>
          <p:cNvSpPr/>
          <p:nvPr/>
        </p:nvSpPr>
        <p:spPr>
          <a:xfrm>
            <a:off x="9902952" y="5394960"/>
            <a:ext cx="181417" cy="164592"/>
          </a:xfrm>
          <a:prstGeom prst="rect">
            <a:avLst/>
          </a:prstGeom>
          <a:solidFill>
            <a:schemeClr val="accent2"/>
          </a:solidFill>
          <a:ln/>
        </p:spPr>
      </p:sp>
      <p:sp>
        <p:nvSpPr>
          <p:cNvPr id="74" name="RV"/>
          <p:cNvSpPr/>
          <p:nvPr/>
        </p:nvSpPr>
        <p:spPr>
          <a:xfrm>
            <a:off x="10771632" y="5321808"/>
            <a:ext cx="685800" cy="310896"/>
          </a:xfrm>
          <a:prstGeom prst="rect">
            <a:avLst/>
          </a:prstGeom>
          <a:noFill/>
          <a:ln/>
        </p:spPr>
        <p:txBody>
          <a:bodyPr wrap="square" lIns="0" tIns="0" rIns="0" bIns="0" rtlCol="0" anchor="ctr"/>
          <a:lstStyle/>
          <a:p>
            <a:pPr marL="0" indent="0" algn="r">
              <a:lnSpc>
                <a:spcPct val="118000"/>
              </a:lnSpc>
              <a:buNone/>
            </a:pPr>
            <a:r>
              <a:rPr lang="ko-KR" altLang="en-US" sz="1050" b="1" dirty="0">
                <a:solidFill>
                  <a:srgbClr val="1E2761"/>
                </a:solidFill>
                <a:latin typeface="Pretendard" pitchFamily="34" charset="0"/>
                <a:ea typeface="Pretendard" pitchFamily="34" charset="-122"/>
                <a:cs typeface="Pretendard" pitchFamily="34" charset="-120"/>
              </a:rPr>
              <a:t>12.8%</a:t>
            </a:r>
          </a:p>
        </p:txBody>
      </p:sp>
      <p:sp>
        <p:nvSpPr>
          <p:cNvPr id="75" name="GBAND"/>
          <p:cNvSpPr/>
          <p:nvPr/>
        </p:nvSpPr>
        <p:spPr>
          <a:xfrm>
            <a:off x="731520" y="5742432"/>
            <a:ext cx="10725912" cy="310896"/>
          </a:xfrm>
          <a:prstGeom prst="rect">
            <a:avLst/>
          </a:prstGeom>
          <a:noFill/>
          <a:ln/>
        </p:spPr>
        <p:txBody>
          <a:bodyPr wrap="square" lIns="0" tIns="0" rIns="0" bIns="0" rtlCol="0" anchor="ctr"/>
          <a:lstStyle/>
          <a:p>
            <a:pPr marL="0" indent="0">
              <a:lnSpc>
                <a:spcPct val="118000"/>
              </a:lnSpc>
              <a:buNone/>
            </a:pPr>
            <a:r>
              <a:rPr lang="ko-KR" altLang="en-US" sz="1200" b="1" dirty="0">
                <a:solidFill>
                  <a:srgbClr val="A8871C"/>
                </a:solidFill>
                <a:latin typeface="Pretendard" pitchFamily="34" charset="0"/>
                <a:ea typeface="Pretendard" pitchFamily="34" charset="-122"/>
                <a:cs typeface="Pretendard" pitchFamily="34" charset="-120"/>
              </a:rPr>
              <a:t>첫 마약 경험은 마약을 찾아 나선 한 순간보다, 이미 알고 있던 관계 속에서 시작된 경우가 많았다</a:t>
            </a:r>
          </a:p>
        </p:txBody>
      </p:sp>
      <p:sp>
        <p:nvSpPr>
          <p:cNvPr id="76" name="L"/>
          <p:cNvSpPr/>
          <p:nvPr/>
        </p:nvSpPr>
        <p:spPr>
          <a:xfrm>
            <a:off x="731520" y="6144768"/>
            <a:ext cx="10725912" cy="0"/>
          </a:xfrm>
          <a:prstGeom prst="line">
            <a:avLst/>
          </a:prstGeom>
          <a:ln w="9525">
            <a:solidFill>
              <a:srgbClr val="DCE0E8"/>
            </a:solidFill>
          </a:ln>
        </p:spPr>
        <p:txBody>
          <a:bodyPr/>
          <a:lstStyle/>
          <a:p>
            <a:endParaRPr lang="ko-KR"/>
          </a:p>
        </p:txBody>
      </p:sp>
      <p:sp>
        <p:nvSpPr>
          <p:cNvPr id="78" name="직사각형 77">
            <a:extLst>
              <a:ext uri="{FF2B5EF4-FFF2-40B4-BE49-F238E27FC236}">
                <a16:creationId xmlns:a16="http://schemas.microsoft.com/office/drawing/2014/main" id="{F8B625D5-7B54-47C9-A82C-1C50B4BEC223}"/>
              </a:ext>
            </a:extLst>
          </p:cNvPr>
          <p:cNvSpPr/>
          <p:nvPr/>
        </p:nvSpPr>
        <p:spPr>
          <a:xfrm>
            <a:off x="4319337" y="2377440"/>
            <a:ext cx="7218947" cy="731520"/>
          </a:xfrm>
          <a:prstGeom prst="rect">
            <a:avLst/>
          </a:prstGeom>
          <a:noFill/>
          <a:ln w="28575">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9" name="직사각형 78">
            <a:extLst>
              <a:ext uri="{FF2B5EF4-FFF2-40B4-BE49-F238E27FC236}">
                <a16:creationId xmlns:a16="http://schemas.microsoft.com/office/drawing/2014/main" id="{E3BB7DC4-B45B-4F26-A414-BACEE87EFCF8}"/>
              </a:ext>
            </a:extLst>
          </p:cNvPr>
          <p:cNvSpPr/>
          <p:nvPr/>
        </p:nvSpPr>
        <p:spPr>
          <a:xfrm>
            <a:off x="4319337" y="4608576"/>
            <a:ext cx="7218947" cy="731520"/>
          </a:xfrm>
          <a:prstGeom prst="rect">
            <a:avLst/>
          </a:prstGeom>
          <a:noFill/>
          <a:ln w="28575">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투약과 판매·유통이 겹친 사례</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주변 관계를 통한 유입과 사용 이후의 관계 변화</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청소년의 약물 사용을 이해하려면, 처음 약물을 접한 관계와 사용 이후의 교류를 함께 살펴볼 필요가 있다</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T8"/>
          <p:cNvSpPr/>
          <p:nvPr/>
        </p:nvSpPr>
        <p:spPr>
          <a:xfrm>
            <a:off x="731520" y="2167607"/>
            <a:ext cx="5175504" cy="237744"/>
          </a:xfrm>
          <a:prstGeom prst="rect">
            <a:avLst/>
          </a:prstGeom>
          <a:noFill/>
          <a:ln/>
        </p:spPr>
        <p:txBody>
          <a:bodyPr wrap="square" lIns="0" tIns="0" rIns="0" bIns="0" rtlCol="0" anchor="t"/>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친구의 권유로 대마를 처음 사용</a:t>
            </a:r>
          </a:p>
        </p:txBody>
      </p:sp>
      <p:sp>
        <p:nvSpPr>
          <p:cNvPr id="10" name="C10"/>
          <p:cNvSpPr/>
          <p:nvPr/>
        </p:nvSpPr>
        <p:spPr>
          <a:xfrm>
            <a:off x="731520" y="2479810"/>
            <a:ext cx="5175504" cy="233933"/>
          </a:xfrm>
          <a:prstGeom prst="rect">
            <a:avLst/>
          </a:prstGeom>
          <a:noFill/>
          <a:ln/>
        </p:spPr>
        <p:txBody>
          <a:bodyPr wrap="square" lIns="0" tIns="0" rIns="0" bIns="0" rtlCol="0" anchor="t"/>
          <a:lstStyle/>
          <a:p>
            <a:pPr marL="0" indent="0">
              <a:lnSpc>
                <a:spcPct val="125000"/>
              </a:lnSpc>
              <a:buNone/>
            </a:pPr>
            <a:r>
              <a:rPr lang="ko-KR" altLang="en-US" sz="1250" b="1" dirty="0">
                <a:solidFill>
                  <a:srgbClr val="222633"/>
                </a:solidFill>
                <a:latin typeface="Pretendard" pitchFamily="34" charset="0"/>
                <a:ea typeface="Pretendard" pitchFamily="34" charset="-122"/>
                <a:cs typeface="Pretendard" pitchFamily="34" charset="-120"/>
              </a:rPr>
              <a:t>친구가 SNS에서 대마의 중독성이 낮다는 정보를 접한 뒤 함께 사용하자고 제안했다</a:t>
            </a:r>
          </a:p>
        </p:txBody>
      </p:sp>
      <p:sp>
        <p:nvSpPr>
          <p:cNvPr id="11" name="S11"/>
          <p:cNvSpPr/>
          <p:nvPr/>
        </p:nvSpPr>
        <p:spPr>
          <a:xfrm>
            <a:off x="731520" y="2821545"/>
            <a:ext cx="5175504" cy="206807"/>
          </a:xfrm>
          <a:prstGeom prst="rect">
            <a:avLst/>
          </a:prstGeom>
          <a:noFill/>
          <a:ln/>
        </p:spPr>
        <p:txBody>
          <a:bodyPr wrap="square" lIns="0" tIns="0" rIns="0" bIns="0" rtlCol="0" anchor="t"/>
          <a:lstStyle/>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친구를 통해 대마를 처음 접했다고 진술했다</a:t>
            </a:r>
          </a:p>
        </p:txBody>
      </p:sp>
      <p:sp>
        <p:nvSpPr>
          <p:cNvPr id="12" name="S12"/>
          <p:cNvSpPr/>
          <p:nvPr/>
        </p:nvSpPr>
        <p:spPr>
          <a:xfrm>
            <a:off x="731520" y="3083216"/>
            <a:ext cx="5175504" cy="206807"/>
          </a:xfrm>
          <a:prstGeom prst="rect">
            <a:avLst/>
          </a:prstGeom>
          <a:noFill/>
          <a:ln/>
        </p:spPr>
        <p:txBody>
          <a:bodyPr wrap="square" lIns="0" tIns="0" rIns="0" bIns="0" rtlCol="0" anchor="t"/>
          <a:lstStyle/>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친구의 권유와 위험성을 낮게 보는 정보가 함께 전달된 과정이다</a:t>
            </a:r>
          </a:p>
        </p:txBody>
      </p:sp>
      <p:sp>
        <p:nvSpPr>
          <p:cNvPr id="13" name="T13"/>
          <p:cNvSpPr/>
          <p:nvPr/>
        </p:nvSpPr>
        <p:spPr>
          <a:xfrm>
            <a:off x="6281928" y="2153601"/>
            <a:ext cx="5175504" cy="237744"/>
          </a:xfrm>
          <a:prstGeom prst="rect">
            <a:avLst/>
          </a:prstGeom>
          <a:noFill/>
          <a:ln/>
        </p:spPr>
        <p:txBody>
          <a:bodyPr wrap="square" lIns="0" tIns="0" rIns="0" bIns="0" rtlCol="0" anchor="t"/>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온라인 친분이 약물 모임으로 이어짐</a:t>
            </a:r>
          </a:p>
        </p:txBody>
      </p:sp>
      <p:sp>
        <p:nvSpPr>
          <p:cNvPr id="15" name="C15"/>
          <p:cNvSpPr/>
          <p:nvPr/>
        </p:nvSpPr>
        <p:spPr>
          <a:xfrm>
            <a:off x="6281928" y="2463050"/>
            <a:ext cx="5175504" cy="476250"/>
          </a:xfrm>
          <a:prstGeom prst="rect">
            <a:avLst/>
          </a:prstGeom>
          <a:noFill/>
          <a:ln/>
        </p:spPr>
        <p:txBody>
          <a:bodyPr wrap="square" lIns="0" tIns="0" rIns="0" bIns="0" rtlCol="0" anchor="t"/>
          <a:lstStyle/>
          <a:p>
            <a:pPr marL="0" indent="0">
              <a:lnSpc>
                <a:spcPct val="125000"/>
              </a:lnSpc>
              <a:buNone/>
            </a:pPr>
            <a:r>
              <a:rPr lang="ko-KR" altLang="en-US" sz="1250" b="1" dirty="0">
                <a:solidFill>
                  <a:srgbClr val="222633"/>
                </a:solidFill>
                <a:latin typeface="Pretendard" pitchFamily="34" charset="0"/>
                <a:ea typeface="Pretendard" pitchFamily="34" charset="-122"/>
                <a:cs typeface="Pretendard" pitchFamily="34" charset="-120"/>
              </a:rPr>
              <a:t>패션에 관심을 가지고 트위터를 이용하다가, 트위터에서 친해진 친구의 권유로 약물 과다복용 모임에 참여했다</a:t>
            </a:r>
          </a:p>
        </p:txBody>
      </p:sp>
      <p:sp>
        <p:nvSpPr>
          <p:cNvPr id="16" name="S16"/>
          <p:cNvSpPr/>
          <p:nvPr/>
        </p:nvSpPr>
        <p:spPr>
          <a:xfrm>
            <a:off x="6281928" y="3014051"/>
            <a:ext cx="5175504" cy="206807"/>
          </a:xfrm>
          <a:prstGeom prst="rect">
            <a:avLst/>
          </a:prstGeom>
          <a:noFill/>
          <a:ln/>
        </p:spPr>
        <p:txBody>
          <a:bodyPr wrap="square" lIns="0" tIns="0" rIns="0" bIns="0" rtlCol="0" anchor="t"/>
          <a:lstStyle/>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이후에도 온라인에서 약물 사용 정보를 배웠다</a:t>
            </a:r>
          </a:p>
        </p:txBody>
      </p:sp>
      <p:sp>
        <p:nvSpPr>
          <p:cNvPr id="17" name="S17"/>
          <p:cNvSpPr/>
          <p:nvPr/>
        </p:nvSpPr>
        <p:spPr>
          <a:xfrm>
            <a:off x="6281928" y="3275722"/>
            <a:ext cx="5175504" cy="206807"/>
          </a:xfrm>
          <a:prstGeom prst="rect">
            <a:avLst/>
          </a:prstGeom>
          <a:noFill/>
          <a:ln/>
        </p:spPr>
        <p:txBody>
          <a:bodyPr wrap="square" lIns="0" tIns="0" rIns="0" bIns="0" rtlCol="0" anchor="t"/>
          <a:lstStyle/>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공통 관심사를 나누던 관계가 약물 사용 집단과의 접촉으로 이어진 과정이다</a:t>
            </a:r>
          </a:p>
        </p:txBody>
      </p:sp>
      <p:sp>
        <p:nvSpPr>
          <p:cNvPr id="18" name="MID"/>
          <p:cNvSpPr/>
          <p:nvPr/>
        </p:nvSpPr>
        <p:spPr>
          <a:xfrm>
            <a:off x="672084" y="3606941"/>
            <a:ext cx="10725912" cy="0"/>
          </a:xfrm>
          <a:prstGeom prst="line">
            <a:avLst/>
          </a:prstGeom>
          <a:ln w="9525">
            <a:solidFill>
              <a:srgbClr val="DCE0E8"/>
            </a:solidFill>
          </a:ln>
        </p:spPr>
        <p:txBody>
          <a:bodyPr/>
          <a:lstStyle/>
          <a:p>
            <a:endParaRPr lang="ko-KR"/>
          </a:p>
        </p:txBody>
      </p:sp>
      <p:sp>
        <p:nvSpPr>
          <p:cNvPr id="20" name="HEAD20"/>
          <p:cNvSpPr/>
          <p:nvPr/>
        </p:nvSpPr>
        <p:spPr>
          <a:xfrm>
            <a:off x="623236" y="3649659"/>
            <a:ext cx="2427732" cy="1634364"/>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첫 사용 이후 달라지는 양상</a:t>
            </a:r>
          </a:p>
        </p:txBody>
      </p:sp>
      <p:sp>
        <p:nvSpPr>
          <p:cNvPr id="14" name="BODY11">
            <a:extLst>
              <a:ext uri="{FF2B5EF4-FFF2-40B4-BE49-F238E27FC236}">
                <a16:creationId xmlns:a16="http://schemas.microsoft.com/office/drawing/2014/main" id="{C8C20806-8391-0EBB-D130-05B2127A70A0}"/>
              </a:ext>
            </a:extLst>
          </p:cNvPr>
          <p:cNvSpPr/>
          <p:nvPr/>
        </p:nvSpPr>
        <p:spPr>
          <a:xfrm>
            <a:off x="3339084" y="4638756"/>
            <a:ext cx="8302752" cy="601784"/>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약물 사용 사실이 알려진 뒤 친분이 없던 다른 사용자가 먼저 접근해</a:t>
            </a:r>
            <a:r>
              <a:rPr lang="en-US" altLang="ko-KR" sz="1250" b="1" dirty="0">
                <a:solidFill>
                  <a:srgbClr val="222633"/>
                </a:solidFill>
                <a:highlight>
                  <a:srgbClr val="FFFF00"/>
                </a:highlight>
                <a:latin typeface="Pretendard" pitchFamily="34" charset="0"/>
                <a:ea typeface="Pretendard" pitchFamily="34" charset="-122"/>
                <a:cs typeface="Pretendard" pitchFamily="34" charset="-120"/>
              </a:rPr>
              <a:t>, </a:t>
            </a: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새로운 약물을 소개</a:t>
            </a:r>
            <a:r>
              <a:rPr lang="ko-KR" altLang="en-US" sz="1250" b="1" dirty="0">
                <a:solidFill>
                  <a:srgbClr val="222633"/>
                </a:solidFill>
                <a:latin typeface="Pretendard" pitchFamily="34" charset="0"/>
                <a:ea typeface="Pretendard" pitchFamily="34" charset="-122"/>
                <a:cs typeface="Pretendard" pitchFamily="34" charset="-120"/>
              </a:rPr>
              <a:t>한 사례가 있음</a:t>
            </a:r>
          </a:p>
          <a:p>
            <a:pPr marL="0" indent="0">
              <a:lnSpc>
                <a:spcPct val="118000"/>
              </a:lnSpc>
              <a:spcAft>
                <a:spcPts val="500"/>
              </a:spcAft>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약물을 사용하는 성인 사용자와의 관계가 넓어지면서 약물을 구하는 경로도 함께 넓어진다</a:t>
            </a:r>
          </a:p>
        </p:txBody>
      </p:sp>
      <p:sp>
        <p:nvSpPr>
          <p:cNvPr id="26" name="CLOSE17">
            <a:extLst>
              <a:ext uri="{FF2B5EF4-FFF2-40B4-BE49-F238E27FC236}">
                <a16:creationId xmlns:a16="http://schemas.microsoft.com/office/drawing/2014/main" id="{61D8DCF1-1023-0545-EC45-EF7F5A2EDDE4}"/>
              </a:ext>
            </a:extLst>
          </p:cNvPr>
          <p:cNvSpPr/>
          <p:nvPr/>
        </p:nvSpPr>
        <p:spPr>
          <a:xfrm>
            <a:off x="717804" y="5817401"/>
            <a:ext cx="10725912" cy="467014"/>
          </a:xfrm>
          <a:prstGeom prst="rect">
            <a:avLst/>
          </a:prstGeom>
          <a:solidFill>
            <a:schemeClr val="accent1">
              <a:lumMod val="20000"/>
              <a:lumOff val="80000"/>
            </a:schemeClr>
          </a:solidFill>
          <a:ln/>
        </p:spPr>
        <p:txBody>
          <a:bodyPr wrap="square" lIns="0" tIns="0" rIns="0" bIns="0" rtlCol="0" anchor="ctr"/>
          <a:lstStyle/>
          <a:p>
            <a:pPr marL="0" indent="0" algn="ctr">
              <a:lnSpc>
                <a:spcPct val="118000"/>
              </a:lnSpc>
              <a:buNone/>
            </a:pPr>
            <a:r>
              <a:rPr lang="ko-KR" altLang="en-US" sz="1250" b="1" dirty="0">
                <a:solidFill>
                  <a:srgbClr val="002060"/>
                </a:solidFill>
                <a:latin typeface="Pretendard" pitchFamily="34" charset="0"/>
                <a:ea typeface="Pretendard" pitchFamily="34" charset="-122"/>
                <a:cs typeface="Pretendard" pitchFamily="34" charset="-120"/>
              </a:rPr>
              <a:t>친분이 있던 관계를 통해 약물에 대한 경계가 낮아지는 경우가 많고, 사용 사실이 알려진 뒤에는 이에 기반한 새로운 사용 관계가 생기는 양상이 나타났다</a:t>
            </a:r>
          </a:p>
        </p:txBody>
      </p:sp>
      <p:sp>
        <p:nvSpPr>
          <p:cNvPr id="28" name="Text 29">
            <a:extLst>
              <a:ext uri="{FF2B5EF4-FFF2-40B4-BE49-F238E27FC236}">
                <a16:creationId xmlns:a16="http://schemas.microsoft.com/office/drawing/2014/main" id="{C52939B1-88E7-49E4-5FD4-237D5A5F83AC}"/>
              </a:ext>
            </a:extLst>
          </p:cNvPr>
          <p:cNvSpPr/>
          <p:nvPr/>
        </p:nvSpPr>
        <p:spPr>
          <a:xfrm>
            <a:off x="731520" y="5423336"/>
            <a:ext cx="10698480" cy="292608"/>
          </a:xfrm>
          <a:prstGeom prst="rect">
            <a:avLst/>
          </a:prstGeom>
          <a:noFill/>
          <a:ln/>
        </p:spPr>
        <p:txBody>
          <a:bodyPr wrap="square" lIns="0" tIns="0" rIns="0" bIns="0" rtlCol="0" anchor="ctr"/>
          <a:lstStyle/>
          <a:p>
            <a:r>
              <a:rPr lang="ko-KR" altLang="en-US" sz="1250" b="1" dirty="0">
                <a:solidFill>
                  <a:srgbClr val="A8871C"/>
                </a:solidFill>
                <a:latin typeface="Pretendard" pitchFamily="34" charset="0"/>
                <a:ea typeface="Pretendard" pitchFamily="34" charset="-122"/>
                <a:cs typeface="Pretendard" pitchFamily="34" charset="-120"/>
              </a:rPr>
              <a:t>약물 </a:t>
            </a:r>
            <a:r>
              <a:rPr lang="en-US" sz="1250" b="1" dirty="0" err="1">
                <a:solidFill>
                  <a:srgbClr val="A8871C"/>
                </a:solidFill>
                <a:latin typeface="Pretendard" pitchFamily="34" charset="0"/>
                <a:ea typeface="Pretendard" pitchFamily="34" charset="-122"/>
                <a:cs typeface="Pretendard" pitchFamily="34" charset="-120"/>
              </a:rPr>
              <a:t>사용이</a:t>
            </a:r>
            <a:r>
              <a:rPr lang="en-US" sz="1250" b="1" dirty="0">
                <a:solidFill>
                  <a:srgbClr val="A8871C"/>
                </a:solidFill>
                <a:latin typeface="Pretendard" pitchFamily="34" charset="0"/>
                <a:ea typeface="Pretendard" pitchFamily="34" charset="-122"/>
                <a:cs typeface="Pretendard" pitchFamily="34" charset="-120"/>
              </a:rPr>
              <a:t> </a:t>
            </a:r>
            <a:r>
              <a:rPr lang="en-US" sz="1250" b="1" dirty="0" err="1">
                <a:solidFill>
                  <a:srgbClr val="A8871C"/>
                </a:solidFill>
                <a:latin typeface="Pretendard" pitchFamily="34" charset="0"/>
                <a:ea typeface="Pretendard" pitchFamily="34" charset="-122"/>
                <a:cs typeface="Pretendard" pitchFamily="34" charset="-120"/>
              </a:rPr>
              <a:t>지속되면</a:t>
            </a:r>
            <a:r>
              <a:rPr lang="en-US" sz="1250" b="1" dirty="0">
                <a:solidFill>
                  <a:srgbClr val="A8871C"/>
                </a:solidFill>
                <a:latin typeface="Pretendard" pitchFamily="34" charset="0"/>
                <a:ea typeface="Pretendard" pitchFamily="34" charset="-122"/>
                <a:cs typeface="Pretendard" pitchFamily="34" charset="-120"/>
              </a:rPr>
              <a:t> </a:t>
            </a:r>
            <a:r>
              <a:rPr lang="ko-KR" altLang="en-US" sz="1250" b="1" dirty="0">
                <a:solidFill>
                  <a:srgbClr val="A8871C"/>
                </a:solidFill>
                <a:latin typeface="Pretendard" pitchFamily="34" charset="0"/>
                <a:ea typeface="Pretendard" pitchFamily="34" charset="-122"/>
                <a:cs typeface="Pretendard" pitchFamily="34" charset="-120"/>
              </a:rPr>
              <a:t>중독뿐 아니라 </a:t>
            </a:r>
            <a:r>
              <a:rPr lang="en-US" sz="1250" b="1" dirty="0" err="1">
                <a:solidFill>
                  <a:srgbClr val="A8871C"/>
                </a:solidFill>
                <a:latin typeface="Pretendard" pitchFamily="34" charset="0"/>
                <a:ea typeface="Pretendard" pitchFamily="34" charset="-122"/>
                <a:cs typeface="Pretendard" pitchFamily="34" charset="-120"/>
              </a:rPr>
              <a:t>관계</a:t>
            </a:r>
            <a:r>
              <a:rPr lang="en-US" sz="1250" b="1" dirty="0">
                <a:solidFill>
                  <a:srgbClr val="A8871C"/>
                </a:solidFill>
                <a:latin typeface="Pretendard" pitchFamily="34" charset="0"/>
                <a:ea typeface="Pretendard" pitchFamily="34" charset="-122"/>
                <a:cs typeface="Pretendard" pitchFamily="34" charset="-120"/>
              </a:rPr>
              <a:t> </a:t>
            </a:r>
            <a:r>
              <a:rPr lang="ko-KR" altLang="en-US" sz="1250" b="1" dirty="0">
                <a:solidFill>
                  <a:srgbClr val="A8871C"/>
                </a:solidFill>
                <a:latin typeface="Pretendard" pitchFamily="34" charset="0"/>
                <a:ea typeface="Pretendard" pitchFamily="34" charset="-122"/>
                <a:cs typeface="Pretendard" pitchFamily="34" charset="-120"/>
              </a:rPr>
              <a:t>효과로 인해</a:t>
            </a:r>
            <a:r>
              <a:rPr lang="en-US" sz="1250" b="1" dirty="0">
                <a:solidFill>
                  <a:srgbClr val="A8871C"/>
                </a:solidFill>
                <a:latin typeface="Pretendard" pitchFamily="34" charset="0"/>
                <a:ea typeface="Pretendard" pitchFamily="34" charset="-122"/>
                <a:cs typeface="Pretendard" pitchFamily="34" charset="-120"/>
              </a:rPr>
              <a:t> 마약을 </a:t>
            </a:r>
            <a:r>
              <a:rPr lang="en-US" sz="1250" b="1" dirty="0" err="1">
                <a:solidFill>
                  <a:srgbClr val="A8871C"/>
                </a:solidFill>
                <a:latin typeface="Pretendard" pitchFamily="34" charset="0"/>
                <a:ea typeface="Pretendard" pitchFamily="34" charset="-122"/>
                <a:cs typeface="Pretendard" pitchFamily="34" charset="-120"/>
              </a:rPr>
              <a:t>떼어내기</a:t>
            </a:r>
            <a:r>
              <a:rPr lang="en-US" sz="1250" b="1" dirty="0">
                <a:solidFill>
                  <a:srgbClr val="A8871C"/>
                </a:solidFill>
                <a:latin typeface="Pretendard" pitchFamily="34" charset="0"/>
                <a:ea typeface="Pretendard" pitchFamily="34" charset="-122"/>
                <a:cs typeface="Pretendard" pitchFamily="34" charset="-120"/>
              </a:rPr>
              <a:t> </a:t>
            </a:r>
            <a:r>
              <a:rPr lang="ko-KR" altLang="en-US" sz="1250" b="1" dirty="0">
                <a:solidFill>
                  <a:srgbClr val="A8871C"/>
                </a:solidFill>
                <a:latin typeface="Pretendard" pitchFamily="34" charset="0"/>
                <a:ea typeface="Pretendard" pitchFamily="34" charset="-122"/>
                <a:cs typeface="Pretendard" pitchFamily="34" charset="-120"/>
              </a:rPr>
              <a:t>더 </a:t>
            </a:r>
            <a:r>
              <a:rPr lang="en-US" sz="1250" b="1" dirty="0" err="1">
                <a:solidFill>
                  <a:srgbClr val="A8871C"/>
                </a:solidFill>
                <a:latin typeface="Pretendard" pitchFamily="34" charset="0"/>
                <a:ea typeface="Pretendard" pitchFamily="34" charset="-122"/>
                <a:cs typeface="Pretendard" pitchFamily="34" charset="-120"/>
              </a:rPr>
              <a:t>어려워질</a:t>
            </a:r>
            <a:r>
              <a:rPr lang="en-US" sz="1250" b="1" dirty="0">
                <a:solidFill>
                  <a:srgbClr val="A8871C"/>
                </a:solidFill>
                <a:latin typeface="Pretendard" pitchFamily="34" charset="0"/>
                <a:ea typeface="Pretendard" pitchFamily="34" charset="-122"/>
                <a:cs typeface="Pretendard" pitchFamily="34" charset="-120"/>
              </a:rPr>
              <a:t> 수 </a:t>
            </a:r>
            <a:r>
              <a:rPr lang="en-US" sz="1250" b="1" dirty="0" err="1">
                <a:solidFill>
                  <a:srgbClr val="A8871C"/>
                </a:solidFill>
                <a:latin typeface="Pretendard" pitchFamily="34" charset="0"/>
                <a:ea typeface="Pretendard" pitchFamily="34" charset="-122"/>
                <a:cs typeface="Pretendard" pitchFamily="34" charset="-120"/>
              </a:rPr>
              <a:t>있다</a:t>
            </a:r>
            <a:r>
              <a:rPr lang="en-US" sz="1250" b="1" dirty="0">
                <a:solidFill>
                  <a:srgbClr val="A8871C"/>
                </a:solidFill>
                <a:latin typeface="Pretendard" pitchFamily="34" charset="0"/>
                <a:ea typeface="Pretendard" pitchFamily="34" charset="-122"/>
                <a:cs typeface="Pretendard" pitchFamily="34" charset="-120"/>
              </a:rPr>
              <a:t> </a:t>
            </a:r>
            <a:r>
              <a:rPr lang="ko-KR" altLang="en-US" sz="1250" b="1" dirty="0" err="1">
                <a:solidFill>
                  <a:srgbClr val="A8871C"/>
                </a:solidFill>
                <a:latin typeface="Pretendard" pitchFamily="34" charset="0"/>
                <a:ea typeface="Pretendard" pitchFamily="34" charset="-122"/>
                <a:cs typeface="Pretendard" pitchFamily="34" charset="-120"/>
              </a:rPr>
              <a:t>ㅡ</a:t>
            </a:r>
            <a:r>
              <a:rPr lang="ko-KR" altLang="en-US" sz="1250" b="1" dirty="0">
                <a:solidFill>
                  <a:srgbClr val="A8871C"/>
                </a:solidFill>
                <a:latin typeface="Pretendard" pitchFamily="34" charset="0"/>
                <a:ea typeface="Pretendard" pitchFamily="34" charset="-122"/>
                <a:cs typeface="Pretendard" pitchFamily="34" charset="-120"/>
              </a:rPr>
              <a:t> </a:t>
            </a:r>
            <a:r>
              <a:rPr lang="en-US" altLang="ko-KR" sz="1200" dirty="0" err="1">
                <a:solidFill>
                  <a:srgbClr val="222633"/>
                </a:solidFill>
                <a:latin typeface="Pretendard" pitchFamily="34" charset="0"/>
                <a:ea typeface="Pretendard" pitchFamily="34" charset="-122"/>
                <a:cs typeface="Pretendard" pitchFamily="34" charset="-120"/>
              </a:rPr>
              <a:t>어떤</a:t>
            </a:r>
            <a:r>
              <a:rPr lang="en-US" altLang="ko-KR" sz="1200" dirty="0">
                <a:solidFill>
                  <a:srgbClr val="222633"/>
                </a:solidFill>
                <a:latin typeface="Pretendard" pitchFamily="34" charset="0"/>
                <a:ea typeface="Pretendard" pitchFamily="34" charset="-122"/>
                <a:cs typeface="Pretendard" pitchFamily="34" charset="-120"/>
              </a:rPr>
              <a:t> </a:t>
            </a:r>
            <a:r>
              <a:rPr lang="en-US" altLang="ko-KR" sz="1200" dirty="0" err="1">
                <a:solidFill>
                  <a:srgbClr val="222633"/>
                </a:solidFill>
                <a:latin typeface="Pretendard" pitchFamily="34" charset="0"/>
                <a:ea typeface="Pretendard" pitchFamily="34" charset="-122"/>
                <a:cs typeface="Pretendard" pitchFamily="34" charset="-120"/>
              </a:rPr>
              <a:t>경우에는</a:t>
            </a:r>
            <a:r>
              <a:rPr lang="en-US" altLang="ko-KR" sz="1200" dirty="0">
                <a:solidFill>
                  <a:srgbClr val="222633"/>
                </a:solidFill>
                <a:latin typeface="Pretendard" pitchFamily="34" charset="0"/>
                <a:ea typeface="Pretendard" pitchFamily="34" charset="-122"/>
                <a:cs typeface="Pretendard" pitchFamily="34" charset="-120"/>
              </a:rPr>
              <a:t> </a:t>
            </a:r>
            <a:r>
              <a:rPr lang="en-US" altLang="ko-KR" sz="1200" b="1" dirty="0" err="1">
                <a:solidFill>
                  <a:srgbClr val="222633"/>
                </a:solidFill>
                <a:latin typeface="Pretendard" pitchFamily="34" charset="0"/>
                <a:ea typeface="Pretendard" pitchFamily="34" charset="-122"/>
                <a:cs typeface="Pretendard" pitchFamily="34" charset="-120"/>
              </a:rPr>
              <a:t>마약을</a:t>
            </a:r>
            <a:r>
              <a:rPr lang="en-US" altLang="ko-KR" sz="1200" b="1" dirty="0">
                <a:solidFill>
                  <a:srgbClr val="222633"/>
                </a:solidFill>
                <a:latin typeface="Pretendard" pitchFamily="34" charset="0"/>
                <a:ea typeface="Pretendard" pitchFamily="34" charset="-122"/>
                <a:cs typeface="Pretendard" pitchFamily="34" charset="-120"/>
              </a:rPr>
              <a:t> </a:t>
            </a:r>
            <a:r>
              <a:rPr lang="en-US" altLang="ko-KR" sz="1200" b="1" dirty="0" err="1">
                <a:solidFill>
                  <a:srgbClr val="222633"/>
                </a:solidFill>
                <a:latin typeface="Pretendard" pitchFamily="34" charset="0"/>
                <a:ea typeface="Pretendard" pitchFamily="34" charset="-122"/>
                <a:cs typeface="Pretendard" pitchFamily="34" charset="-120"/>
              </a:rPr>
              <a:t>사용하는</a:t>
            </a:r>
            <a:r>
              <a:rPr lang="en-US" altLang="ko-KR" sz="1200" b="1" dirty="0">
                <a:solidFill>
                  <a:srgbClr val="222633"/>
                </a:solidFill>
                <a:latin typeface="Pretendard" pitchFamily="34" charset="0"/>
                <a:ea typeface="Pretendard" pitchFamily="34" charset="-122"/>
                <a:cs typeface="Pretendard" pitchFamily="34" charset="-120"/>
              </a:rPr>
              <a:t> </a:t>
            </a:r>
            <a:r>
              <a:rPr lang="en-US" altLang="ko-KR" sz="1200" b="1" dirty="0" err="1">
                <a:solidFill>
                  <a:srgbClr val="222633"/>
                </a:solidFill>
                <a:latin typeface="Pretendard" pitchFamily="34" charset="0"/>
                <a:ea typeface="Pretendard" pitchFamily="34" charset="-122"/>
                <a:cs typeface="Pretendard" pitchFamily="34" charset="-120"/>
              </a:rPr>
              <a:t>사람들과의</a:t>
            </a:r>
            <a:r>
              <a:rPr lang="en-US" altLang="ko-KR" sz="1200" b="1" dirty="0">
                <a:solidFill>
                  <a:srgbClr val="222633"/>
                </a:solidFill>
                <a:latin typeface="Pretendard" pitchFamily="34" charset="0"/>
                <a:ea typeface="Pretendard" pitchFamily="34" charset="-122"/>
                <a:cs typeface="Pretendard" pitchFamily="34" charset="-120"/>
              </a:rPr>
              <a:t> </a:t>
            </a:r>
            <a:r>
              <a:rPr lang="en-US" altLang="ko-KR" sz="1200" b="1" dirty="0" err="1">
                <a:solidFill>
                  <a:srgbClr val="222633"/>
                </a:solidFill>
                <a:latin typeface="Pretendard" pitchFamily="34" charset="0"/>
                <a:ea typeface="Pretendard" pitchFamily="34" charset="-122"/>
                <a:cs typeface="Pretendard" pitchFamily="34" charset="-120"/>
              </a:rPr>
              <a:t>관계</a:t>
            </a:r>
            <a:r>
              <a:rPr lang="en-US" altLang="ko-KR" sz="1200" b="1" dirty="0">
                <a:solidFill>
                  <a:srgbClr val="222633"/>
                </a:solidFill>
                <a:latin typeface="Pretendard" pitchFamily="34" charset="0"/>
                <a:ea typeface="Pretendard" pitchFamily="34" charset="-122"/>
                <a:cs typeface="Pretendard" pitchFamily="34" charset="-120"/>
              </a:rPr>
              <a:t> </a:t>
            </a:r>
            <a:r>
              <a:rPr lang="en-US" altLang="ko-KR" sz="1200" b="1" dirty="0" err="1">
                <a:solidFill>
                  <a:srgbClr val="222633"/>
                </a:solidFill>
                <a:latin typeface="Pretendard" pitchFamily="34" charset="0"/>
                <a:ea typeface="Pretendard" pitchFamily="34" charset="-122"/>
                <a:cs typeface="Pretendard" pitchFamily="34" charset="-120"/>
              </a:rPr>
              <a:t>자체가</a:t>
            </a:r>
            <a:r>
              <a:rPr lang="en-US" altLang="ko-KR" sz="1200" b="1" dirty="0">
                <a:solidFill>
                  <a:srgbClr val="222633"/>
                </a:solidFill>
                <a:latin typeface="Pretendard" pitchFamily="34" charset="0"/>
                <a:ea typeface="Pretendard" pitchFamily="34" charset="-122"/>
                <a:cs typeface="Pretendard" pitchFamily="34" charset="-120"/>
              </a:rPr>
              <a:t> </a:t>
            </a:r>
            <a:r>
              <a:rPr lang="en-US" altLang="ko-KR" sz="1200" b="1" dirty="0" err="1">
                <a:solidFill>
                  <a:srgbClr val="222633"/>
                </a:solidFill>
                <a:latin typeface="Pretendard" pitchFamily="34" charset="0"/>
                <a:ea typeface="Pretendard" pitchFamily="34" charset="-122"/>
                <a:cs typeface="Pretendard" pitchFamily="34" charset="-120"/>
              </a:rPr>
              <a:t>생활환경이</a:t>
            </a:r>
            <a:r>
              <a:rPr lang="en-US" altLang="ko-KR" sz="1200" b="1" dirty="0">
                <a:solidFill>
                  <a:srgbClr val="222633"/>
                </a:solidFill>
                <a:latin typeface="Pretendard" pitchFamily="34" charset="0"/>
                <a:ea typeface="Pretendard" pitchFamily="34" charset="-122"/>
                <a:cs typeface="Pretendard" pitchFamily="34" charset="-120"/>
              </a:rPr>
              <a:t> </a:t>
            </a:r>
            <a:r>
              <a:rPr lang="en-US" altLang="ko-KR" sz="1200" b="1" dirty="0" err="1">
                <a:solidFill>
                  <a:srgbClr val="222633"/>
                </a:solidFill>
                <a:latin typeface="Pretendard" pitchFamily="34" charset="0"/>
                <a:ea typeface="Pretendard" pitchFamily="34" charset="-122"/>
                <a:cs typeface="Pretendard" pitchFamily="34" charset="-120"/>
              </a:rPr>
              <a:t>되었다</a:t>
            </a:r>
            <a:endParaRPr lang="en-US" sz="1200" b="1" dirty="0"/>
          </a:p>
        </p:txBody>
      </p:sp>
      <p:sp>
        <p:nvSpPr>
          <p:cNvPr id="30" name="Text 30">
            <a:extLst>
              <a:ext uri="{FF2B5EF4-FFF2-40B4-BE49-F238E27FC236}">
                <a16:creationId xmlns:a16="http://schemas.microsoft.com/office/drawing/2014/main" id="{18D55CE2-9489-DBBE-A585-0AF8AD2BA1A1}"/>
              </a:ext>
            </a:extLst>
          </p:cNvPr>
          <p:cNvSpPr/>
          <p:nvPr/>
        </p:nvSpPr>
        <p:spPr>
          <a:xfrm>
            <a:off x="731520" y="5376054"/>
            <a:ext cx="10698480" cy="256032"/>
          </a:xfrm>
          <a:prstGeom prst="rect">
            <a:avLst/>
          </a:prstGeom>
          <a:noFill/>
          <a:ln/>
        </p:spPr>
        <p:txBody>
          <a:bodyPr wrap="square" lIns="0" tIns="0" rIns="0" bIns="0" rtlCol="0" anchor="ctr"/>
          <a:lstStyle/>
          <a:p>
            <a:pPr marL="0" indent="0">
              <a:buNone/>
            </a:pPr>
            <a:endParaRPr lang="en-US" sz="1100" dirty="0"/>
          </a:p>
        </p:txBody>
      </p:sp>
      <p:sp>
        <p:nvSpPr>
          <p:cNvPr id="47" name="MID">
            <a:extLst>
              <a:ext uri="{FF2B5EF4-FFF2-40B4-BE49-F238E27FC236}">
                <a16:creationId xmlns:a16="http://schemas.microsoft.com/office/drawing/2014/main" id="{65E457F2-1ACC-86BD-5B81-39D80AB2FFE5}"/>
              </a:ext>
            </a:extLst>
          </p:cNvPr>
          <p:cNvSpPr/>
          <p:nvPr/>
        </p:nvSpPr>
        <p:spPr>
          <a:xfrm>
            <a:off x="704088" y="5299501"/>
            <a:ext cx="10725912" cy="0"/>
          </a:xfrm>
          <a:prstGeom prst="line">
            <a:avLst/>
          </a:prstGeom>
          <a:ln w="9525">
            <a:solidFill>
              <a:srgbClr val="DCE0E8"/>
            </a:solidFill>
          </a:ln>
        </p:spPr>
        <p:txBody>
          <a:bodyPr/>
          <a:lstStyle/>
          <a:p>
            <a:endParaRPr lang="ko-KR"/>
          </a:p>
        </p:txBody>
      </p:sp>
      <p:sp>
        <p:nvSpPr>
          <p:cNvPr id="49" name="Shape 9">
            <a:extLst>
              <a:ext uri="{FF2B5EF4-FFF2-40B4-BE49-F238E27FC236}">
                <a16:creationId xmlns:a16="http://schemas.microsoft.com/office/drawing/2014/main" id="{BFDBBAF4-592A-658B-B392-BA4E6456E89E}"/>
              </a:ext>
            </a:extLst>
          </p:cNvPr>
          <p:cNvSpPr/>
          <p:nvPr/>
        </p:nvSpPr>
        <p:spPr>
          <a:xfrm>
            <a:off x="3339084" y="3814408"/>
            <a:ext cx="2427732" cy="621792"/>
          </a:xfrm>
          <a:prstGeom prst="rect">
            <a:avLst/>
          </a:prstGeom>
          <a:solidFill>
            <a:srgbClr val="F2F4F8"/>
          </a:solidFill>
          <a:ln w="12700">
            <a:solidFill>
              <a:srgbClr val="F2F4F8"/>
            </a:solidFill>
            <a:prstDash val="solid"/>
          </a:ln>
        </p:spPr>
        <p:txBody>
          <a:bodyPr/>
          <a:lstStyle/>
          <a:p>
            <a:endParaRPr lang="ko-KR" altLang="en-US"/>
          </a:p>
        </p:txBody>
      </p:sp>
      <p:sp>
        <p:nvSpPr>
          <p:cNvPr id="51" name="Text 10">
            <a:extLst>
              <a:ext uri="{FF2B5EF4-FFF2-40B4-BE49-F238E27FC236}">
                <a16:creationId xmlns:a16="http://schemas.microsoft.com/office/drawing/2014/main" id="{7EB2EEC2-82A8-833D-A750-98D1CECEB3A2}"/>
              </a:ext>
            </a:extLst>
          </p:cNvPr>
          <p:cNvSpPr/>
          <p:nvPr/>
        </p:nvSpPr>
        <p:spPr>
          <a:xfrm>
            <a:off x="3430524" y="3814408"/>
            <a:ext cx="2244852" cy="621792"/>
          </a:xfrm>
          <a:prstGeom prst="rect">
            <a:avLst/>
          </a:prstGeom>
          <a:noFill/>
          <a:ln/>
        </p:spPr>
        <p:txBody>
          <a:bodyPr wrap="square" lIns="0" tIns="0" rIns="0" bIns="0" rtlCol="0" anchor="ctr"/>
          <a:lstStyle/>
          <a:p>
            <a:pPr marL="0" indent="0" algn="ctr">
              <a:buNone/>
            </a:pPr>
            <a:r>
              <a:rPr lang="en-US" sz="1200" b="1" dirty="0">
                <a:solidFill>
                  <a:srgbClr val="1E2761"/>
                </a:solidFill>
                <a:latin typeface="Pretendard" pitchFamily="34" charset="0"/>
                <a:ea typeface="Pretendard" pitchFamily="34" charset="-122"/>
                <a:cs typeface="Pretendard" pitchFamily="34" charset="-120"/>
              </a:rPr>
              <a:t>사용 사실이 알려짐</a:t>
            </a:r>
            <a:endParaRPr lang="en-US" sz="1200" dirty="0"/>
          </a:p>
        </p:txBody>
      </p:sp>
      <p:sp>
        <p:nvSpPr>
          <p:cNvPr id="53" name="Text 11">
            <a:extLst>
              <a:ext uri="{FF2B5EF4-FFF2-40B4-BE49-F238E27FC236}">
                <a16:creationId xmlns:a16="http://schemas.microsoft.com/office/drawing/2014/main" id="{94299682-C931-CCD5-D051-6AA6C4665C64}"/>
              </a:ext>
            </a:extLst>
          </p:cNvPr>
          <p:cNvSpPr/>
          <p:nvPr/>
        </p:nvSpPr>
        <p:spPr>
          <a:xfrm>
            <a:off x="5766816" y="3814408"/>
            <a:ext cx="329184" cy="621792"/>
          </a:xfrm>
          <a:prstGeom prst="rect">
            <a:avLst/>
          </a:prstGeom>
          <a:noFill/>
          <a:ln/>
        </p:spPr>
        <p:txBody>
          <a:bodyPr wrap="square" lIns="0" tIns="0" rIns="0" bIns="0" rtlCol="0" anchor="ctr"/>
          <a:lstStyle/>
          <a:p>
            <a:pPr marL="0" indent="0" algn="ctr">
              <a:buNone/>
            </a:pPr>
            <a:r>
              <a:rPr lang="en-US" sz="1300" dirty="0">
                <a:solidFill>
                  <a:srgbClr val="6E7686"/>
                </a:solidFill>
                <a:latin typeface="Pretendard" pitchFamily="34" charset="0"/>
                <a:ea typeface="Pretendard" pitchFamily="34" charset="-122"/>
                <a:cs typeface="Pretendard" pitchFamily="34" charset="-120"/>
              </a:rPr>
              <a:t>→</a:t>
            </a:r>
            <a:endParaRPr lang="en-US" sz="1300" dirty="0"/>
          </a:p>
        </p:txBody>
      </p:sp>
      <p:sp>
        <p:nvSpPr>
          <p:cNvPr id="55" name="Shape 12">
            <a:extLst>
              <a:ext uri="{FF2B5EF4-FFF2-40B4-BE49-F238E27FC236}">
                <a16:creationId xmlns:a16="http://schemas.microsoft.com/office/drawing/2014/main" id="{8767E39D-357C-E6D8-4C05-F415DB80385B}"/>
              </a:ext>
            </a:extLst>
          </p:cNvPr>
          <p:cNvSpPr/>
          <p:nvPr/>
        </p:nvSpPr>
        <p:spPr>
          <a:xfrm>
            <a:off x="6096000" y="3814408"/>
            <a:ext cx="2427732" cy="621792"/>
          </a:xfrm>
          <a:prstGeom prst="rect">
            <a:avLst/>
          </a:prstGeom>
          <a:solidFill>
            <a:srgbClr val="F2F4F8"/>
          </a:solidFill>
          <a:ln w="12700">
            <a:solidFill>
              <a:srgbClr val="F2F4F8"/>
            </a:solidFill>
            <a:prstDash val="solid"/>
          </a:ln>
        </p:spPr>
        <p:txBody>
          <a:bodyPr/>
          <a:lstStyle/>
          <a:p>
            <a:endParaRPr lang="ko-KR" altLang="en-US"/>
          </a:p>
        </p:txBody>
      </p:sp>
      <p:sp>
        <p:nvSpPr>
          <p:cNvPr id="57" name="Text 13">
            <a:extLst>
              <a:ext uri="{FF2B5EF4-FFF2-40B4-BE49-F238E27FC236}">
                <a16:creationId xmlns:a16="http://schemas.microsoft.com/office/drawing/2014/main" id="{F9276B28-6A1C-95A3-3878-0A935268A06C}"/>
              </a:ext>
            </a:extLst>
          </p:cNvPr>
          <p:cNvSpPr/>
          <p:nvPr/>
        </p:nvSpPr>
        <p:spPr>
          <a:xfrm>
            <a:off x="6187440" y="3814408"/>
            <a:ext cx="2244852" cy="621792"/>
          </a:xfrm>
          <a:prstGeom prst="rect">
            <a:avLst/>
          </a:prstGeom>
          <a:noFill/>
          <a:ln/>
        </p:spPr>
        <p:txBody>
          <a:bodyPr wrap="square" lIns="0" tIns="0" rIns="0" bIns="0" rtlCol="0" anchor="ctr"/>
          <a:lstStyle/>
          <a:p>
            <a:pPr marL="0" indent="0" algn="ctr">
              <a:buNone/>
            </a:pPr>
            <a:r>
              <a:rPr lang="en-US" sz="1200" b="1" dirty="0">
                <a:solidFill>
                  <a:srgbClr val="1E2761"/>
                </a:solidFill>
                <a:latin typeface="Pretendard" pitchFamily="34" charset="0"/>
                <a:ea typeface="Pretendard" pitchFamily="34" charset="-122"/>
                <a:cs typeface="Pretendard" pitchFamily="34" charset="-120"/>
              </a:rPr>
              <a:t>다른 사용자가 접근</a:t>
            </a:r>
            <a:endParaRPr lang="en-US" sz="1200" dirty="0"/>
          </a:p>
        </p:txBody>
      </p:sp>
      <p:sp>
        <p:nvSpPr>
          <p:cNvPr id="59" name="Text 14">
            <a:extLst>
              <a:ext uri="{FF2B5EF4-FFF2-40B4-BE49-F238E27FC236}">
                <a16:creationId xmlns:a16="http://schemas.microsoft.com/office/drawing/2014/main" id="{C9909592-2F21-26D1-5563-FC179FE8ED86}"/>
              </a:ext>
            </a:extLst>
          </p:cNvPr>
          <p:cNvSpPr/>
          <p:nvPr/>
        </p:nvSpPr>
        <p:spPr>
          <a:xfrm>
            <a:off x="8523732" y="3814408"/>
            <a:ext cx="329184" cy="621792"/>
          </a:xfrm>
          <a:prstGeom prst="rect">
            <a:avLst/>
          </a:prstGeom>
          <a:noFill/>
          <a:ln/>
        </p:spPr>
        <p:txBody>
          <a:bodyPr wrap="square" lIns="0" tIns="0" rIns="0" bIns="0" rtlCol="0" anchor="ctr"/>
          <a:lstStyle/>
          <a:p>
            <a:pPr marL="0" indent="0" algn="ctr">
              <a:buNone/>
            </a:pPr>
            <a:r>
              <a:rPr lang="en-US" sz="1300" dirty="0">
                <a:solidFill>
                  <a:srgbClr val="6E7686"/>
                </a:solidFill>
                <a:latin typeface="Pretendard" pitchFamily="34" charset="0"/>
                <a:ea typeface="Pretendard" pitchFamily="34" charset="-122"/>
                <a:cs typeface="Pretendard" pitchFamily="34" charset="-120"/>
              </a:rPr>
              <a:t>→</a:t>
            </a:r>
            <a:endParaRPr lang="en-US" sz="1300" dirty="0"/>
          </a:p>
        </p:txBody>
      </p:sp>
      <p:sp>
        <p:nvSpPr>
          <p:cNvPr id="61" name="Shape 15">
            <a:extLst>
              <a:ext uri="{FF2B5EF4-FFF2-40B4-BE49-F238E27FC236}">
                <a16:creationId xmlns:a16="http://schemas.microsoft.com/office/drawing/2014/main" id="{FC7874BA-D9AB-7825-7CD7-6BE0579F5121}"/>
              </a:ext>
            </a:extLst>
          </p:cNvPr>
          <p:cNvSpPr/>
          <p:nvPr/>
        </p:nvSpPr>
        <p:spPr>
          <a:xfrm>
            <a:off x="8852916" y="3814408"/>
            <a:ext cx="2427732" cy="621792"/>
          </a:xfrm>
          <a:prstGeom prst="rect">
            <a:avLst/>
          </a:prstGeom>
          <a:solidFill>
            <a:srgbClr val="1E2761"/>
          </a:solidFill>
          <a:ln w="12700">
            <a:solidFill>
              <a:srgbClr val="1E2761"/>
            </a:solidFill>
            <a:prstDash val="solid"/>
          </a:ln>
        </p:spPr>
        <p:txBody>
          <a:bodyPr/>
          <a:lstStyle/>
          <a:p>
            <a:endParaRPr lang="ko-KR" altLang="en-US"/>
          </a:p>
        </p:txBody>
      </p:sp>
      <p:sp>
        <p:nvSpPr>
          <p:cNvPr id="63" name="Text 16">
            <a:extLst>
              <a:ext uri="{FF2B5EF4-FFF2-40B4-BE49-F238E27FC236}">
                <a16:creationId xmlns:a16="http://schemas.microsoft.com/office/drawing/2014/main" id="{7F3FCD5D-D8B8-2855-527A-639A0C36F369}"/>
              </a:ext>
            </a:extLst>
          </p:cNvPr>
          <p:cNvSpPr/>
          <p:nvPr/>
        </p:nvSpPr>
        <p:spPr>
          <a:xfrm>
            <a:off x="8944356" y="3814408"/>
            <a:ext cx="2244852" cy="621792"/>
          </a:xfrm>
          <a:prstGeom prst="rect">
            <a:avLst/>
          </a:prstGeom>
          <a:noFill/>
          <a:ln/>
        </p:spPr>
        <p:txBody>
          <a:bodyPr wrap="square" lIns="0" tIns="0" rIns="0" bIns="0" rtlCol="0" anchor="ctr"/>
          <a:lstStyle/>
          <a:p>
            <a:pPr marL="0" indent="0" algn="ctr">
              <a:buNone/>
            </a:pPr>
            <a:r>
              <a:rPr lang="en-US" sz="1200" b="1" dirty="0">
                <a:solidFill>
                  <a:srgbClr val="FFFFFF"/>
                </a:solidFill>
                <a:latin typeface="Pretendard" pitchFamily="34" charset="0"/>
                <a:ea typeface="Pretendard" pitchFamily="34" charset="-122"/>
                <a:cs typeface="Pretendard" pitchFamily="34" charset="-120"/>
              </a:rPr>
              <a:t>성인 관계망까지 확대</a:t>
            </a:r>
            <a:endParaRPr lang="en-US" sz="1200" dirty="0"/>
          </a:p>
        </p:txBody>
      </p:sp>
      <p:sp>
        <p:nvSpPr>
          <p:cNvPr id="65" name="Text 0">
            <a:extLst>
              <a:ext uri="{FF2B5EF4-FFF2-40B4-BE49-F238E27FC236}">
                <a16:creationId xmlns:a16="http://schemas.microsoft.com/office/drawing/2014/main" id="{D04990A8-0CFD-34A6-58E2-250C6B9920D6}"/>
              </a:ext>
            </a:extLst>
          </p:cNvPr>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2. 사용 실태와 도움 요청</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2. 사용 실태와 도움 요청</a:t>
            </a:r>
            <a:endParaRPr lang="en-US" sz="1250" dirty="0"/>
          </a:p>
        </p:txBody>
      </p:sp>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사용 이후 관계망의 변화</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pPr marL="0" indent="0">
              <a:buNone/>
            </a:pPr>
            <a:r>
              <a:rPr lang="en-US" sz="2700" b="1" dirty="0">
                <a:solidFill>
                  <a:srgbClr val="1E2761"/>
                </a:solidFill>
                <a:latin typeface="Pretendard" pitchFamily="34" charset="0"/>
                <a:ea typeface="Pretendard" pitchFamily="34" charset="-122"/>
                <a:cs typeface="Pretendard" pitchFamily="34" charset="-120"/>
              </a:rPr>
              <a:t>투약에서 판매·유통으로 — 사용이 </a:t>
            </a:r>
            <a:r>
              <a:rPr lang="en-US" sz="2700" b="1" dirty="0" err="1">
                <a:solidFill>
                  <a:srgbClr val="1E2761"/>
                </a:solidFill>
                <a:latin typeface="Pretendard" pitchFamily="34" charset="0"/>
                <a:ea typeface="Pretendard" pitchFamily="34" charset="-122"/>
                <a:cs typeface="Pretendard" pitchFamily="34" charset="-120"/>
              </a:rPr>
              <a:t>계속되며</a:t>
            </a:r>
            <a:r>
              <a:rPr lang="en-US" sz="2700" b="1" dirty="0">
                <a:solidFill>
                  <a:srgbClr val="1E2761"/>
                </a:solidFill>
                <a:latin typeface="Pretendard" pitchFamily="34" charset="0"/>
                <a:ea typeface="Pretendard" pitchFamily="34" charset="-122"/>
                <a:cs typeface="Pretendard" pitchFamily="34" charset="-120"/>
              </a:rPr>
              <a:t> </a:t>
            </a:r>
            <a:r>
              <a:rPr lang="en-US" sz="2700" b="1" dirty="0" err="1">
                <a:solidFill>
                  <a:srgbClr val="1E2761"/>
                </a:solidFill>
                <a:latin typeface="Pretendard" pitchFamily="34" charset="0"/>
                <a:ea typeface="Pretendard" pitchFamily="34" charset="-122"/>
                <a:cs typeface="Pretendard" pitchFamily="34" charset="-120"/>
              </a:rPr>
              <a:t>역할</a:t>
            </a:r>
            <a:r>
              <a:rPr lang="ko-KR" altLang="en-US" sz="2700" b="1" dirty="0">
                <a:solidFill>
                  <a:srgbClr val="1E2761"/>
                </a:solidFill>
                <a:latin typeface="Pretendard" pitchFamily="34" charset="0"/>
                <a:ea typeface="Pretendard" pitchFamily="34" charset="-122"/>
                <a:cs typeface="Pretendard" pitchFamily="34" charset="-120"/>
              </a:rPr>
              <a:t>과 범죄가</a:t>
            </a:r>
            <a:r>
              <a:rPr lang="en-US" sz="2700" b="1" dirty="0">
                <a:solidFill>
                  <a:srgbClr val="1E2761"/>
                </a:solidFill>
                <a:latin typeface="Pretendard" pitchFamily="34" charset="0"/>
                <a:ea typeface="Pretendard" pitchFamily="34" charset="-122"/>
                <a:cs typeface="Pretendard" pitchFamily="34" charset="-120"/>
              </a:rPr>
              <a:t> </a:t>
            </a:r>
            <a:r>
              <a:rPr lang="ko-KR" altLang="en-US" sz="2700" b="1" dirty="0">
                <a:solidFill>
                  <a:srgbClr val="1E2761"/>
                </a:solidFill>
                <a:latin typeface="Pretendard" pitchFamily="34" charset="0"/>
                <a:ea typeface="Pretendard" pitchFamily="34" charset="-122"/>
                <a:cs typeface="Pretendard" pitchFamily="34" charset="-120"/>
              </a:rPr>
              <a:t>확대된 사례</a:t>
            </a:r>
            <a:endParaRPr lang="en-US" sz="2700" dirty="0"/>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46760" y="1353312"/>
            <a:ext cx="10698480" cy="438912"/>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987552" y="1353312"/>
            <a:ext cx="10186416" cy="438912"/>
          </a:xfrm>
          <a:prstGeom prst="rect">
            <a:avLst/>
          </a:prstGeom>
          <a:noFill/>
          <a:ln/>
        </p:spPr>
        <p:txBody>
          <a:bodyPr wrap="square" lIns="0" tIns="0" rIns="0" bIns="0" rtlCol="0" anchor="ctr"/>
          <a:lstStyle/>
          <a:p>
            <a:r>
              <a:rPr lang="ko-KR" altLang="en-US" sz="1250" b="1" dirty="0">
                <a:solidFill>
                  <a:srgbClr val="1E2761"/>
                </a:solidFill>
                <a:latin typeface="Pretendard" pitchFamily="34" charset="0"/>
                <a:ea typeface="Pretendard" pitchFamily="34" charset="-122"/>
                <a:cs typeface="Pretendard" pitchFamily="34" charset="-120"/>
              </a:rPr>
              <a:t>사용을 지속하는 과정에서 약물</a:t>
            </a:r>
            <a:r>
              <a:rPr lang="en-US" altLang="ko-KR" sz="1250" b="1" dirty="0">
                <a:solidFill>
                  <a:srgbClr val="1E2761"/>
                </a:solidFill>
                <a:latin typeface="Pretendard" pitchFamily="34" charset="0"/>
                <a:ea typeface="Pretendard" pitchFamily="34" charset="-122"/>
                <a:cs typeface="Pretendard" pitchFamily="34" charset="-120"/>
              </a:rPr>
              <a:t>, </a:t>
            </a:r>
            <a:r>
              <a:rPr lang="ko-KR" altLang="en-US" sz="1250" b="1" dirty="0">
                <a:solidFill>
                  <a:srgbClr val="1E2761"/>
                </a:solidFill>
                <a:latin typeface="Pretendard" pitchFamily="34" charset="0"/>
                <a:ea typeface="Pretendard" pitchFamily="34" charset="-122"/>
                <a:cs typeface="Pretendard" pitchFamily="34" charset="-120"/>
              </a:rPr>
              <a:t>비용</a:t>
            </a:r>
            <a:r>
              <a:rPr lang="en-US" altLang="ko-KR" sz="1250" b="1" dirty="0">
                <a:solidFill>
                  <a:srgbClr val="1E2761"/>
                </a:solidFill>
                <a:latin typeface="Pretendard" pitchFamily="34" charset="0"/>
                <a:ea typeface="Pretendard" pitchFamily="34" charset="-122"/>
                <a:cs typeface="Pretendard" pitchFamily="34" charset="-120"/>
              </a:rPr>
              <a:t>, </a:t>
            </a:r>
            <a:r>
              <a:rPr lang="ko-KR" altLang="en-US" sz="1250" b="1" dirty="0">
                <a:solidFill>
                  <a:srgbClr val="1E2761"/>
                </a:solidFill>
                <a:latin typeface="Pretendard" pitchFamily="34" charset="0"/>
                <a:ea typeface="Pretendard" pitchFamily="34" charset="-122"/>
                <a:cs typeface="Pretendard" pitchFamily="34" charset="-120"/>
              </a:rPr>
              <a:t>공급경로를 확보하려는 행동이 추가 범죄 가담으로 이어질 수 있다</a:t>
            </a:r>
          </a:p>
        </p:txBody>
      </p:sp>
      <p:sp>
        <p:nvSpPr>
          <p:cNvPr id="8" name="Text 6"/>
          <p:cNvSpPr/>
          <p:nvPr/>
        </p:nvSpPr>
        <p:spPr>
          <a:xfrm>
            <a:off x="731520" y="1956816"/>
            <a:ext cx="6126480" cy="256032"/>
          </a:xfrm>
          <a:prstGeom prst="rect">
            <a:avLst/>
          </a:prstGeom>
          <a:noFill/>
          <a:ln/>
        </p:spPr>
        <p:txBody>
          <a:bodyPr wrap="square" lIns="0" tIns="0" rIns="0" bIns="0" rtlCol="0" anchor="ctr"/>
          <a:lstStyle/>
          <a:p>
            <a:pPr marL="0" indent="0">
              <a:buNone/>
            </a:pPr>
            <a:r>
              <a:rPr lang="en-US" sz="1200" b="1" dirty="0">
                <a:solidFill>
                  <a:srgbClr val="A8871C"/>
                </a:solidFill>
                <a:latin typeface="Pretendard" pitchFamily="34" charset="0"/>
                <a:ea typeface="Pretendard" pitchFamily="34" charset="-122"/>
                <a:cs typeface="Pretendard" pitchFamily="34" charset="-120"/>
              </a:rPr>
              <a:t>실제 상담사례</a:t>
            </a:r>
            <a:endParaRPr lang="en-US" sz="1200" dirty="0"/>
          </a:p>
        </p:txBody>
      </p:sp>
      <p:sp>
        <p:nvSpPr>
          <p:cNvPr id="9" name="Text 7"/>
          <p:cNvSpPr/>
          <p:nvPr/>
        </p:nvSpPr>
        <p:spPr>
          <a:xfrm>
            <a:off x="731520" y="2212848"/>
            <a:ext cx="6126480" cy="256032"/>
          </a:xfrm>
          <a:prstGeom prst="rect">
            <a:avLst/>
          </a:prstGeom>
          <a:noFill/>
          <a:ln/>
        </p:spPr>
        <p:txBody>
          <a:bodyPr wrap="square" lIns="0" tIns="0" rIns="0" bIns="0" rtlCol="0" anchor="ctr"/>
          <a:lstStyle/>
          <a:p>
            <a:pPr marL="0" indent="0">
              <a:buNone/>
            </a:pPr>
            <a:r>
              <a:rPr lang="en-US" sz="1100" dirty="0">
                <a:solidFill>
                  <a:srgbClr val="6E7686"/>
                </a:solidFill>
                <a:latin typeface="Pretendard" pitchFamily="34" charset="0"/>
                <a:ea typeface="Pretendard" pitchFamily="34" charset="-122"/>
                <a:cs typeface="Pretendard" pitchFamily="34" charset="-120"/>
              </a:rPr>
              <a:t>중학교 2학년 여학생</a:t>
            </a:r>
            <a:endParaRPr lang="en-US" sz="1100" dirty="0"/>
          </a:p>
        </p:txBody>
      </p:sp>
      <p:sp>
        <p:nvSpPr>
          <p:cNvPr id="10" name="Shape 8"/>
          <p:cNvSpPr/>
          <p:nvPr/>
        </p:nvSpPr>
        <p:spPr>
          <a:xfrm>
            <a:off x="731520" y="2523744"/>
            <a:ext cx="6126480" cy="457200"/>
          </a:xfrm>
          <a:prstGeom prst="rect">
            <a:avLst/>
          </a:prstGeom>
          <a:solidFill>
            <a:srgbClr val="F2F4F8"/>
          </a:solidFill>
          <a:ln w="12700">
            <a:solidFill>
              <a:srgbClr val="F2F4F8"/>
            </a:solidFill>
            <a:prstDash val="solid"/>
          </a:ln>
        </p:spPr>
        <p:txBody>
          <a:bodyPr/>
          <a:lstStyle/>
          <a:p>
            <a:endParaRPr lang="ko-KR" altLang="en-US"/>
          </a:p>
        </p:txBody>
      </p:sp>
      <p:sp>
        <p:nvSpPr>
          <p:cNvPr id="11" name="Text 9"/>
          <p:cNvSpPr/>
          <p:nvPr/>
        </p:nvSpPr>
        <p:spPr>
          <a:xfrm>
            <a:off x="914400" y="2523744"/>
            <a:ext cx="5760720" cy="457200"/>
          </a:xfrm>
          <a:prstGeom prst="rect">
            <a:avLst/>
          </a:prstGeom>
          <a:noFill/>
          <a:ln/>
        </p:spPr>
        <p:txBody>
          <a:bodyPr wrap="square" lIns="0" tIns="0" rIns="0" bIns="0" rtlCol="0" anchor="ctr"/>
          <a:lstStyle/>
          <a:p>
            <a:pPr marL="0" indent="0" algn="ctr">
              <a:buNone/>
            </a:pPr>
            <a:r>
              <a:rPr lang="en-US" sz="1300" b="1" dirty="0">
                <a:solidFill>
                  <a:srgbClr val="1E2761"/>
                </a:solidFill>
                <a:latin typeface="Pretendard" pitchFamily="34" charset="0"/>
                <a:ea typeface="Pretendard" pitchFamily="34" charset="-122"/>
                <a:cs typeface="Pretendard" pitchFamily="34" charset="-120"/>
              </a:rPr>
              <a:t>이미 마약을 사용하고 있었다</a:t>
            </a:r>
            <a:endParaRPr lang="en-US" sz="1300" dirty="0"/>
          </a:p>
        </p:txBody>
      </p:sp>
      <p:sp>
        <p:nvSpPr>
          <p:cNvPr id="12" name="Text 10"/>
          <p:cNvSpPr/>
          <p:nvPr/>
        </p:nvSpPr>
        <p:spPr>
          <a:xfrm>
            <a:off x="731520" y="2980944"/>
            <a:ext cx="6126480" cy="146304"/>
          </a:xfrm>
          <a:prstGeom prst="rect">
            <a:avLst/>
          </a:prstGeom>
          <a:noFill/>
          <a:ln/>
        </p:spPr>
        <p:txBody>
          <a:bodyPr wrap="square" lIns="0" tIns="0" rIns="0" bIns="0" rtlCol="0" anchor="ctr"/>
          <a:lstStyle/>
          <a:p>
            <a:pPr marL="0" indent="0" algn="ctr">
              <a:buNone/>
            </a:pPr>
            <a:r>
              <a:rPr lang="en-US" sz="1200" dirty="0">
                <a:solidFill>
                  <a:srgbClr val="6E7686"/>
                </a:solidFill>
                <a:latin typeface="Pretendard" pitchFamily="34" charset="0"/>
                <a:ea typeface="Pretendard" pitchFamily="34" charset="-122"/>
                <a:cs typeface="Pretendard" pitchFamily="34" charset="-120"/>
              </a:rPr>
              <a:t>↓</a:t>
            </a:r>
            <a:endParaRPr lang="en-US" sz="1200" dirty="0"/>
          </a:p>
        </p:txBody>
      </p:sp>
      <p:sp>
        <p:nvSpPr>
          <p:cNvPr id="13" name="Shape 11"/>
          <p:cNvSpPr/>
          <p:nvPr/>
        </p:nvSpPr>
        <p:spPr>
          <a:xfrm>
            <a:off x="731520" y="3127248"/>
            <a:ext cx="6126480" cy="457200"/>
          </a:xfrm>
          <a:prstGeom prst="rect">
            <a:avLst/>
          </a:prstGeom>
          <a:solidFill>
            <a:srgbClr val="F2F4F8"/>
          </a:solidFill>
          <a:ln w="12700">
            <a:solidFill>
              <a:srgbClr val="F2F4F8"/>
            </a:solidFill>
            <a:prstDash val="solid"/>
          </a:ln>
        </p:spPr>
        <p:txBody>
          <a:bodyPr/>
          <a:lstStyle/>
          <a:p>
            <a:endParaRPr lang="ko-KR" altLang="en-US"/>
          </a:p>
        </p:txBody>
      </p:sp>
      <p:sp>
        <p:nvSpPr>
          <p:cNvPr id="14" name="Text 12"/>
          <p:cNvSpPr/>
          <p:nvPr/>
        </p:nvSpPr>
        <p:spPr>
          <a:xfrm>
            <a:off x="914400" y="3127248"/>
            <a:ext cx="5760720" cy="457200"/>
          </a:xfrm>
          <a:prstGeom prst="rect">
            <a:avLst/>
          </a:prstGeom>
          <a:noFill/>
          <a:ln/>
        </p:spPr>
        <p:txBody>
          <a:bodyPr wrap="square" lIns="0" tIns="0" rIns="0" bIns="0" rtlCol="0" anchor="ctr"/>
          <a:lstStyle/>
          <a:p>
            <a:pPr marL="0" indent="0" algn="ctr">
              <a:buNone/>
            </a:pPr>
            <a:r>
              <a:rPr lang="en-US" sz="1300" b="1" dirty="0">
                <a:solidFill>
                  <a:srgbClr val="1E2761"/>
                </a:solidFill>
                <a:latin typeface="Pretendard" pitchFamily="34" charset="0"/>
                <a:ea typeface="Pretendard" pitchFamily="34" charset="-122"/>
                <a:cs typeface="Pretendard" pitchFamily="34" charset="-120"/>
              </a:rPr>
              <a:t>마약을 계속 구해야 하는 상황</a:t>
            </a:r>
            <a:endParaRPr lang="en-US" sz="1300" dirty="0"/>
          </a:p>
        </p:txBody>
      </p:sp>
      <p:sp>
        <p:nvSpPr>
          <p:cNvPr id="15" name="Text 13"/>
          <p:cNvSpPr/>
          <p:nvPr/>
        </p:nvSpPr>
        <p:spPr>
          <a:xfrm>
            <a:off x="731520" y="3584448"/>
            <a:ext cx="6126480" cy="146304"/>
          </a:xfrm>
          <a:prstGeom prst="rect">
            <a:avLst/>
          </a:prstGeom>
          <a:noFill/>
          <a:ln/>
        </p:spPr>
        <p:txBody>
          <a:bodyPr wrap="square" lIns="0" tIns="0" rIns="0" bIns="0" rtlCol="0" anchor="ctr"/>
          <a:lstStyle/>
          <a:p>
            <a:pPr marL="0" indent="0" algn="ctr">
              <a:buNone/>
            </a:pPr>
            <a:r>
              <a:rPr lang="en-US" sz="1200" dirty="0">
                <a:solidFill>
                  <a:srgbClr val="6E7686"/>
                </a:solidFill>
                <a:latin typeface="Pretendard" pitchFamily="34" charset="0"/>
                <a:ea typeface="Pretendard" pitchFamily="34" charset="-122"/>
                <a:cs typeface="Pretendard" pitchFamily="34" charset="-120"/>
              </a:rPr>
              <a:t>↓</a:t>
            </a:r>
            <a:endParaRPr lang="en-US" sz="1200" dirty="0"/>
          </a:p>
        </p:txBody>
      </p:sp>
      <p:sp>
        <p:nvSpPr>
          <p:cNvPr id="16" name="Shape 14"/>
          <p:cNvSpPr/>
          <p:nvPr/>
        </p:nvSpPr>
        <p:spPr>
          <a:xfrm>
            <a:off x="731520" y="3730752"/>
            <a:ext cx="6126480" cy="457200"/>
          </a:xfrm>
          <a:prstGeom prst="rect">
            <a:avLst/>
          </a:prstGeom>
          <a:solidFill>
            <a:srgbClr val="1E2761"/>
          </a:solidFill>
          <a:ln w="12700">
            <a:solidFill>
              <a:srgbClr val="1E2761"/>
            </a:solidFill>
            <a:prstDash val="solid"/>
          </a:ln>
        </p:spPr>
        <p:txBody>
          <a:bodyPr/>
          <a:lstStyle/>
          <a:p>
            <a:endParaRPr lang="ko-KR" altLang="en-US"/>
          </a:p>
        </p:txBody>
      </p:sp>
      <p:sp>
        <p:nvSpPr>
          <p:cNvPr id="17" name="Text 15"/>
          <p:cNvSpPr/>
          <p:nvPr/>
        </p:nvSpPr>
        <p:spPr>
          <a:xfrm>
            <a:off x="914400" y="3730752"/>
            <a:ext cx="57607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Pretendard" pitchFamily="34" charset="0"/>
                <a:ea typeface="Pretendard" pitchFamily="34" charset="-122"/>
                <a:cs typeface="Pretendard" pitchFamily="34" charset="-120"/>
              </a:rPr>
              <a:t>판매 · 유통에도 가담</a:t>
            </a:r>
            <a:endParaRPr lang="en-US" sz="1300" dirty="0"/>
          </a:p>
        </p:txBody>
      </p:sp>
      <p:sp>
        <p:nvSpPr>
          <p:cNvPr id="18" name="Text 16"/>
          <p:cNvSpPr/>
          <p:nvPr/>
        </p:nvSpPr>
        <p:spPr>
          <a:xfrm>
            <a:off x="731520" y="4187952"/>
            <a:ext cx="6126480" cy="146304"/>
          </a:xfrm>
          <a:prstGeom prst="rect">
            <a:avLst/>
          </a:prstGeom>
          <a:noFill/>
          <a:ln/>
        </p:spPr>
        <p:txBody>
          <a:bodyPr wrap="square" lIns="0" tIns="0" rIns="0" bIns="0" rtlCol="0" anchor="ctr"/>
          <a:lstStyle/>
          <a:p>
            <a:pPr marL="0" indent="0" algn="ctr">
              <a:buNone/>
            </a:pPr>
            <a:r>
              <a:rPr lang="en-US" sz="1200" dirty="0">
                <a:solidFill>
                  <a:srgbClr val="6E7686"/>
                </a:solidFill>
                <a:latin typeface="Pretendard" pitchFamily="34" charset="0"/>
                <a:ea typeface="Pretendard" pitchFamily="34" charset="-122"/>
                <a:cs typeface="Pretendard" pitchFamily="34" charset="-120"/>
              </a:rPr>
              <a:t>↓</a:t>
            </a:r>
            <a:endParaRPr lang="en-US" sz="1200" dirty="0"/>
          </a:p>
        </p:txBody>
      </p:sp>
      <p:sp>
        <p:nvSpPr>
          <p:cNvPr id="19" name="Shape 17"/>
          <p:cNvSpPr/>
          <p:nvPr/>
        </p:nvSpPr>
        <p:spPr>
          <a:xfrm>
            <a:off x="731520" y="4334256"/>
            <a:ext cx="6126480" cy="457200"/>
          </a:xfrm>
          <a:prstGeom prst="rect">
            <a:avLst/>
          </a:prstGeom>
          <a:solidFill>
            <a:srgbClr val="F2F4F8"/>
          </a:solidFill>
          <a:ln w="12700">
            <a:solidFill>
              <a:srgbClr val="F2F4F8"/>
            </a:solidFill>
            <a:prstDash val="solid"/>
          </a:ln>
        </p:spPr>
        <p:txBody>
          <a:bodyPr/>
          <a:lstStyle/>
          <a:p>
            <a:endParaRPr lang="ko-KR" altLang="en-US"/>
          </a:p>
        </p:txBody>
      </p:sp>
      <p:sp>
        <p:nvSpPr>
          <p:cNvPr id="20" name="Text 18"/>
          <p:cNvSpPr/>
          <p:nvPr/>
        </p:nvSpPr>
        <p:spPr>
          <a:xfrm>
            <a:off x="914400" y="4334256"/>
            <a:ext cx="5760720" cy="457200"/>
          </a:xfrm>
          <a:prstGeom prst="rect">
            <a:avLst/>
          </a:prstGeom>
          <a:noFill/>
          <a:ln/>
        </p:spPr>
        <p:txBody>
          <a:bodyPr wrap="square" lIns="0" tIns="0" rIns="0" bIns="0" rtlCol="0" anchor="ctr"/>
          <a:lstStyle/>
          <a:p>
            <a:pPr marL="0" indent="0" algn="ctr">
              <a:buNone/>
            </a:pPr>
            <a:r>
              <a:rPr lang="en-US" sz="1300" b="1" dirty="0" err="1">
                <a:solidFill>
                  <a:srgbClr val="1E2761"/>
                </a:solidFill>
                <a:latin typeface="Pretendard" pitchFamily="34" charset="0"/>
                <a:ea typeface="Pretendard" pitchFamily="34" charset="-122"/>
                <a:cs typeface="Pretendard" pitchFamily="34" charset="-120"/>
              </a:rPr>
              <a:t>기관</a:t>
            </a:r>
            <a:r>
              <a:rPr lang="ko-KR" altLang="en-US" sz="1300" b="1" dirty="0">
                <a:solidFill>
                  <a:srgbClr val="1E2761"/>
                </a:solidFill>
                <a:latin typeface="Pretendard" pitchFamily="34" charset="0"/>
                <a:ea typeface="Pretendard" pitchFamily="34" charset="-122"/>
                <a:cs typeface="Pretendard" pitchFamily="34" charset="-120"/>
              </a:rPr>
              <a:t>에 상담신청</a:t>
            </a:r>
            <a:endParaRPr lang="en-US" sz="1300" dirty="0"/>
          </a:p>
        </p:txBody>
      </p:sp>
      <p:sp>
        <p:nvSpPr>
          <p:cNvPr id="21" name="Text 19"/>
          <p:cNvSpPr/>
          <p:nvPr/>
        </p:nvSpPr>
        <p:spPr>
          <a:xfrm>
            <a:off x="731520" y="4974336"/>
            <a:ext cx="6126480" cy="219456"/>
          </a:xfrm>
          <a:prstGeom prst="rect">
            <a:avLst/>
          </a:prstGeom>
          <a:noFill/>
          <a:ln/>
        </p:spPr>
        <p:txBody>
          <a:bodyPr wrap="square" lIns="0" tIns="0" rIns="0" bIns="0" rtlCol="0" anchor="t"/>
          <a:lstStyle/>
          <a:p>
            <a:pPr marL="0" indent="0">
              <a:lnSpc>
                <a:spcPts val="1500"/>
              </a:lnSpc>
              <a:buNone/>
            </a:pPr>
            <a:r>
              <a:rPr lang="en-US" sz="1050" dirty="0">
                <a:solidFill>
                  <a:srgbClr val="6E7686"/>
                </a:solidFill>
                <a:latin typeface="Pretendard" pitchFamily="34" charset="0"/>
                <a:ea typeface="Pretendard" pitchFamily="34" charset="-122"/>
                <a:cs typeface="Pretendard" pitchFamily="34" charset="-120"/>
              </a:rPr>
              <a:t>대학을위한마약중독예방재활센터(DAPCOC)</a:t>
            </a:r>
            <a:r>
              <a:rPr lang="ko-KR" altLang="en-US" sz="1050" dirty="0">
                <a:solidFill>
                  <a:srgbClr val="6E7686"/>
                </a:solidFill>
                <a:latin typeface="Pretendard" pitchFamily="34" charset="0"/>
                <a:ea typeface="Pretendard" pitchFamily="34" charset="-122"/>
                <a:cs typeface="Pretendard" pitchFamily="34" charset="-120"/>
              </a:rPr>
              <a:t>에서</a:t>
            </a:r>
            <a:r>
              <a:rPr lang="en-US" sz="1050" dirty="0">
                <a:solidFill>
                  <a:srgbClr val="6E7686"/>
                </a:solidFill>
                <a:latin typeface="Pretendard" pitchFamily="34" charset="0"/>
                <a:ea typeface="Pretendard" pitchFamily="34" charset="-122"/>
                <a:cs typeface="Pretendard" pitchFamily="34" charset="-120"/>
              </a:rPr>
              <a:t> 마약을 사용하다 판매·유통에 가담한 중2 </a:t>
            </a:r>
            <a:r>
              <a:rPr lang="en-US" sz="1050" dirty="0" err="1">
                <a:solidFill>
                  <a:srgbClr val="6E7686"/>
                </a:solidFill>
                <a:latin typeface="Pretendard" pitchFamily="34" charset="0"/>
                <a:ea typeface="Pretendard" pitchFamily="34" charset="-122"/>
                <a:cs typeface="Pretendard" pitchFamily="34" charset="-120"/>
              </a:rPr>
              <a:t>여학생</a:t>
            </a:r>
            <a:r>
              <a:rPr lang="ko-KR" altLang="en-US" sz="1050" dirty="0">
                <a:solidFill>
                  <a:srgbClr val="6E7686"/>
                </a:solidFill>
                <a:latin typeface="Pretendard" pitchFamily="34" charset="0"/>
                <a:ea typeface="Pretendard" pitchFamily="34" charset="-122"/>
                <a:cs typeface="Pretendard" pitchFamily="34" charset="-120"/>
              </a:rPr>
              <a:t>을</a:t>
            </a:r>
            <a:r>
              <a:rPr lang="en-US" sz="1050" dirty="0">
                <a:solidFill>
                  <a:srgbClr val="6E7686"/>
                </a:solidFill>
                <a:latin typeface="Pretendard" pitchFamily="34" charset="0"/>
                <a:ea typeface="Pretendard" pitchFamily="34" charset="-122"/>
                <a:cs typeface="Pretendard" pitchFamily="34" charset="-120"/>
              </a:rPr>
              <a:t> </a:t>
            </a:r>
            <a:r>
              <a:rPr lang="en-US" sz="1050" dirty="0" err="1">
                <a:solidFill>
                  <a:srgbClr val="6E7686"/>
                </a:solidFill>
                <a:latin typeface="Pretendard" pitchFamily="34" charset="0"/>
                <a:ea typeface="Pretendard" pitchFamily="34" charset="-122"/>
                <a:cs typeface="Pretendard" pitchFamily="34" charset="-120"/>
              </a:rPr>
              <a:t>상담</a:t>
            </a:r>
            <a:r>
              <a:rPr lang="ko-KR" altLang="en-US" sz="1050" dirty="0">
                <a:solidFill>
                  <a:srgbClr val="6E7686"/>
                </a:solidFill>
                <a:latin typeface="Pretendard" pitchFamily="34" charset="0"/>
                <a:ea typeface="Pretendard" pitchFamily="34" charset="-122"/>
                <a:cs typeface="Pretendard" pitchFamily="34" charset="-120"/>
              </a:rPr>
              <a:t>한 </a:t>
            </a:r>
            <a:r>
              <a:rPr lang="en-US" sz="1050" dirty="0" err="1">
                <a:solidFill>
                  <a:srgbClr val="6E7686"/>
                </a:solidFill>
                <a:latin typeface="Pretendard" pitchFamily="34" charset="0"/>
                <a:ea typeface="Pretendard" pitchFamily="34" charset="-122"/>
                <a:cs typeface="Pretendard" pitchFamily="34" charset="-120"/>
              </a:rPr>
              <a:t>사례</a:t>
            </a:r>
            <a:endParaRPr lang="en-US" sz="1050" dirty="0"/>
          </a:p>
        </p:txBody>
      </p:sp>
      <p:sp>
        <p:nvSpPr>
          <p:cNvPr id="22" name="Text 20"/>
          <p:cNvSpPr/>
          <p:nvPr/>
        </p:nvSpPr>
        <p:spPr>
          <a:xfrm>
            <a:off x="7223760" y="1956816"/>
            <a:ext cx="4206240" cy="274320"/>
          </a:xfrm>
          <a:prstGeom prst="rect">
            <a:avLst/>
          </a:prstGeom>
          <a:noFill/>
          <a:ln/>
        </p:spPr>
        <p:txBody>
          <a:bodyPr wrap="square" lIns="0" tIns="0" rIns="0" bIns="0" rtlCol="0" anchor="ctr"/>
          <a:lstStyle/>
          <a:p>
            <a:r>
              <a:rPr lang="ko-KR" altLang="en-US" sz="1300" b="1" dirty="0">
                <a:solidFill>
                  <a:srgbClr val="1E2761"/>
                </a:solidFill>
                <a:latin typeface="Pretendard" pitchFamily="34" charset="0"/>
                <a:ea typeface="Pretendard" pitchFamily="34" charset="-122"/>
                <a:cs typeface="Pretendard" pitchFamily="34" charset="-120"/>
              </a:rPr>
              <a:t>약물 확보를 위한 추가 범죄 가담</a:t>
            </a:r>
            <a:endParaRPr lang="en-US" sz="1300" dirty="0"/>
          </a:p>
        </p:txBody>
      </p:sp>
      <p:sp>
        <p:nvSpPr>
          <p:cNvPr id="23" name="Shape 21"/>
          <p:cNvSpPr/>
          <p:nvPr/>
        </p:nvSpPr>
        <p:spPr>
          <a:xfrm>
            <a:off x="7223760" y="2322576"/>
            <a:ext cx="4206240" cy="640080"/>
          </a:xfrm>
          <a:prstGeom prst="rect">
            <a:avLst/>
          </a:prstGeom>
          <a:solidFill>
            <a:srgbClr val="FFFFFF"/>
          </a:solidFill>
          <a:ln w="12700">
            <a:solidFill>
              <a:srgbClr val="DCE0E8"/>
            </a:solidFill>
            <a:prstDash val="solid"/>
          </a:ln>
        </p:spPr>
        <p:txBody>
          <a:bodyPr/>
          <a:lstStyle/>
          <a:p>
            <a:endParaRPr lang="ko-KR" altLang="en-US"/>
          </a:p>
        </p:txBody>
      </p:sp>
      <p:sp>
        <p:nvSpPr>
          <p:cNvPr id="24" name="Text 22"/>
          <p:cNvSpPr/>
          <p:nvPr/>
        </p:nvSpPr>
        <p:spPr>
          <a:xfrm>
            <a:off x="7424928" y="2377440"/>
            <a:ext cx="3803904" cy="237744"/>
          </a:xfrm>
          <a:prstGeom prst="rect">
            <a:avLst/>
          </a:prstGeom>
          <a:noFill/>
          <a:ln/>
        </p:spPr>
        <p:txBody>
          <a:bodyPr wrap="square" lIns="0" tIns="0" rIns="0" bIns="0" rtlCol="0" anchor="ctr"/>
          <a:lstStyle/>
          <a:p>
            <a:pPr marL="0" indent="0">
              <a:buNone/>
            </a:pPr>
            <a:r>
              <a:rPr lang="en-US" sz="1150" b="1" dirty="0">
                <a:solidFill>
                  <a:srgbClr val="1E2761"/>
                </a:solidFill>
                <a:latin typeface="Pretendard" pitchFamily="34" charset="0"/>
                <a:ea typeface="Pretendard" pitchFamily="34" charset="-122"/>
                <a:cs typeface="Pretendard" pitchFamily="34" charset="-120"/>
              </a:rPr>
              <a:t>① 약물 확보</a:t>
            </a:r>
            <a:endParaRPr lang="en-US" sz="1150" dirty="0"/>
          </a:p>
        </p:txBody>
      </p:sp>
      <p:sp>
        <p:nvSpPr>
          <p:cNvPr id="25" name="Text 23"/>
          <p:cNvSpPr/>
          <p:nvPr/>
        </p:nvSpPr>
        <p:spPr>
          <a:xfrm>
            <a:off x="7424928" y="2660904"/>
            <a:ext cx="3803904" cy="219455"/>
          </a:xfrm>
          <a:prstGeom prst="rect">
            <a:avLst/>
          </a:prstGeom>
          <a:noFill/>
          <a:ln/>
        </p:spPr>
        <p:txBody>
          <a:bodyPr wrap="square" lIns="0" tIns="0" rIns="0" bIns="0" rtlCol="0" anchor="t"/>
          <a:lstStyle/>
          <a:p>
            <a:pPr marL="0" indent="0">
              <a:lnSpc>
                <a:spcPts val="1600"/>
              </a:lnSpc>
              <a:buNone/>
            </a:pPr>
            <a:r>
              <a:rPr lang="ko-KR" altLang="en-US" sz="1100" dirty="0">
                <a:solidFill>
                  <a:srgbClr val="222633"/>
                </a:solidFill>
                <a:latin typeface="Pretendard" pitchFamily="34" charset="0"/>
                <a:ea typeface="Pretendard" pitchFamily="34" charset="-122"/>
                <a:cs typeface="Pretendard" pitchFamily="34" charset="-120"/>
              </a:rPr>
              <a:t>약물 중독 </a:t>
            </a:r>
            <a:r>
              <a:rPr lang="en-US" altLang="ko-KR" sz="1100" dirty="0">
                <a:solidFill>
                  <a:srgbClr val="222633"/>
                </a:solidFill>
                <a:latin typeface="Pretendard" pitchFamily="34" charset="0"/>
                <a:ea typeface="Pretendard" pitchFamily="34" charset="-122"/>
                <a:cs typeface="Pretendard" pitchFamily="34" charset="-120"/>
              </a:rPr>
              <a:t>/ </a:t>
            </a:r>
            <a:r>
              <a:rPr lang="en-US" sz="1100" dirty="0" err="1">
                <a:solidFill>
                  <a:srgbClr val="222633"/>
                </a:solidFill>
                <a:latin typeface="Pretendard" pitchFamily="34" charset="0"/>
                <a:ea typeface="Pretendard" pitchFamily="34" charset="-122"/>
                <a:cs typeface="Pretendard" pitchFamily="34" charset="-120"/>
              </a:rPr>
              <a:t>반복</a:t>
            </a:r>
            <a:r>
              <a:rPr lang="en-US" sz="1100" dirty="0">
                <a:solidFill>
                  <a:srgbClr val="222633"/>
                </a:solidFill>
                <a:latin typeface="Pretendard" pitchFamily="34" charset="0"/>
                <a:ea typeface="Pretendard" pitchFamily="34" charset="-122"/>
                <a:cs typeface="Pretendard" pitchFamily="34" charset="-120"/>
              </a:rPr>
              <a:t> 사용이 이어지면 </a:t>
            </a:r>
            <a:r>
              <a:rPr lang="en-US" sz="1100" b="1" dirty="0">
                <a:solidFill>
                  <a:srgbClr val="222633"/>
                </a:solidFill>
                <a:latin typeface="Pretendard" pitchFamily="34" charset="0"/>
                <a:ea typeface="Pretendard" pitchFamily="34" charset="-122"/>
                <a:cs typeface="Pretendard" pitchFamily="34" charset="-120"/>
              </a:rPr>
              <a:t>약물을 계속 구해야 한다</a:t>
            </a:r>
            <a:endParaRPr lang="en-US" sz="1100" b="1" dirty="0"/>
          </a:p>
        </p:txBody>
      </p:sp>
      <p:sp>
        <p:nvSpPr>
          <p:cNvPr id="26" name="Text 24"/>
          <p:cNvSpPr/>
          <p:nvPr/>
        </p:nvSpPr>
        <p:spPr>
          <a:xfrm>
            <a:off x="7223760" y="2962656"/>
            <a:ext cx="4206240" cy="146304"/>
          </a:xfrm>
          <a:prstGeom prst="rect">
            <a:avLst/>
          </a:prstGeom>
          <a:noFill/>
          <a:ln/>
        </p:spPr>
        <p:txBody>
          <a:bodyPr wrap="square" lIns="0" tIns="0" rIns="0" bIns="0" rtlCol="0" anchor="ctr"/>
          <a:lstStyle/>
          <a:p>
            <a:pPr marL="0" indent="0" algn="ctr">
              <a:buNone/>
            </a:pPr>
            <a:r>
              <a:rPr lang="en-US" sz="1100" dirty="0">
                <a:solidFill>
                  <a:srgbClr val="6E7686"/>
                </a:solidFill>
                <a:latin typeface="Pretendard" pitchFamily="34" charset="0"/>
                <a:ea typeface="Pretendard" pitchFamily="34" charset="-122"/>
                <a:cs typeface="Pretendard" pitchFamily="34" charset="-120"/>
              </a:rPr>
              <a:t>↓</a:t>
            </a:r>
            <a:endParaRPr lang="en-US" sz="1100" dirty="0"/>
          </a:p>
        </p:txBody>
      </p:sp>
      <p:sp>
        <p:nvSpPr>
          <p:cNvPr id="27" name="Shape 25"/>
          <p:cNvSpPr/>
          <p:nvPr/>
        </p:nvSpPr>
        <p:spPr>
          <a:xfrm>
            <a:off x="7223760" y="3136392"/>
            <a:ext cx="4206240" cy="640080"/>
          </a:xfrm>
          <a:prstGeom prst="rect">
            <a:avLst/>
          </a:prstGeom>
          <a:solidFill>
            <a:srgbClr val="FFFFFF"/>
          </a:solidFill>
          <a:ln w="12700">
            <a:solidFill>
              <a:srgbClr val="DCE0E8"/>
            </a:solidFill>
            <a:prstDash val="solid"/>
          </a:ln>
        </p:spPr>
        <p:txBody>
          <a:bodyPr/>
          <a:lstStyle/>
          <a:p>
            <a:endParaRPr lang="ko-KR" altLang="en-US"/>
          </a:p>
        </p:txBody>
      </p:sp>
      <p:sp>
        <p:nvSpPr>
          <p:cNvPr id="28" name="Text 26"/>
          <p:cNvSpPr/>
          <p:nvPr/>
        </p:nvSpPr>
        <p:spPr>
          <a:xfrm>
            <a:off x="7424928" y="3163824"/>
            <a:ext cx="3803904" cy="237744"/>
          </a:xfrm>
          <a:prstGeom prst="rect">
            <a:avLst/>
          </a:prstGeom>
          <a:noFill/>
          <a:ln/>
        </p:spPr>
        <p:txBody>
          <a:bodyPr wrap="square" lIns="0" tIns="0" rIns="0" bIns="0" rtlCol="0" anchor="ctr"/>
          <a:lstStyle/>
          <a:p>
            <a:pPr marL="0" indent="0">
              <a:buNone/>
            </a:pPr>
            <a:r>
              <a:rPr lang="en-US" sz="1150" b="1" dirty="0">
                <a:solidFill>
                  <a:srgbClr val="1E2761"/>
                </a:solidFill>
                <a:latin typeface="Pretendard" pitchFamily="34" charset="0"/>
                <a:ea typeface="Pretendard" pitchFamily="34" charset="-122"/>
                <a:cs typeface="Pretendard" pitchFamily="34" charset="-120"/>
              </a:rPr>
              <a:t>② 돈 · 접근의 문제</a:t>
            </a:r>
            <a:endParaRPr lang="en-US" sz="1150" dirty="0"/>
          </a:p>
        </p:txBody>
      </p:sp>
      <p:sp>
        <p:nvSpPr>
          <p:cNvPr id="29" name="Text 27"/>
          <p:cNvSpPr/>
          <p:nvPr/>
        </p:nvSpPr>
        <p:spPr>
          <a:xfrm>
            <a:off x="7424928" y="3447288"/>
            <a:ext cx="3803904" cy="237744"/>
          </a:xfrm>
          <a:prstGeom prst="rect">
            <a:avLst/>
          </a:prstGeom>
          <a:noFill/>
          <a:ln/>
        </p:spPr>
        <p:txBody>
          <a:bodyPr wrap="square" lIns="0" tIns="0" rIns="0" bIns="0" rtlCol="0" anchor="t"/>
          <a:lstStyle/>
          <a:p>
            <a:pPr marL="0" indent="0">
              <a:lnSpc>
                <a:spcPts val="1600"/>
              </a:lnSpc>
              <a:buNone/>
            </a:pPr>
            <a:r>
              <a:rPr lang="en-US" sz="1100" b="1" dirty="0" err="1">
                <a:solidFill>
                  <a:srgbClr val="222633"/>
                </a:solidFill>
                <a:latin typeface="Pretendard" pitchFamily="34" charset="0"/>
                <a:ea typeface="Pretendard" pitchFamily="34" charset="-122"/>
                <a:cs typeface="Pretendard" pitchFamily="34" charset="-120"/>
              </a:rPr>
              <a:t>약값을</a:t>
            </a:r>
            <a:r>
              <a:rPr lang="en-US" sz="1100" b="1" dirty="0">
                <a:solidFill>
                  <a:srgbClr val="222633"/>
                </a:solidFill>
                <a:latin typeface="Pretendard" pitchFamily="34" charset="0"/>
                <a:ea typeface="Pretendard" pitchFamily="34" charset="-122"/>
                <a:cs typeface="Pretendard" pitchFamily="34" charset="-120"/>
              </a:rPr>
              <a:t> </a:t>
            </a:r>
            <a:r>
              <a:rPr lang="en-US" sz="1100" b="1" dirty="0" err="1">
                <a:solidFill>
                  <a:srgbClr val="222633"/>
                </a:solidFill>
                <a:latin typeface="Pretendard" pitchFamily="34" charset="0"/>
                <a:ea typeface="Pretendard" pitchFamily="34" charset="-122"/>
                <a:cs typeface="Pretendard" pitchFamily="34" charset="-120"/>
              </a:rPr>
              <a:t>마련하</a:t>
            </a:r>
            <a:r>
              <a:rPr lang="ko-KR" altLang="en-US" sz="1100" b="1" dirty="0">
                <a:solidFill>
                  <a:srgbClr val="222633"/>
                </a:solidFill>
                <a:latin typeface="Pretendard" pitchFamily="34" charset="0"/>
                <a:ea typeface="Pretendard" pitchFamily="34" charset="-122"/>
                <a:cs typeface="Pretendard" pitchFamily="34" charset="-120"/>
              </a:rPr>
              <a:t>고</a:t>
            </a:r>
            <a:r>
              <a:rPr lang="en-US" sz="1100" b="1" dirty="0">
                <a:solidFill>
                  <a:srgbClr val="222633"/>
                </a:solidFill>
                <a:latin typeface="Pretendard" pitchFamily="34" charset="0"/>
                <a:ea typeface="Pretendard" pitchFamily="34" charset="-122"/>
                <a:cs typeface="Pretendard" pitchFamily="34" charset="-120"/>
              </a:rPr>
              <a:t> 공급자를 계속 찾아야 한다</a:t>
            </a:r>
            <a:endParaRPr lang="en-US" sz="1100" b="1" dirty="0"/>
          </a:p>
        </p:txBody>
      </p:sp>
      <p:sp>
        <p:nvSpPr>
          <p:cNvPr id="30" name="Text 28"/>
          <p:cNvSpPr/>
          <p:nvPr/>
        </p:nvSpPr>
        <p:spPr>
          <a:xfrm>
            <a:off x="7223760" y="3749040"/>
            <a:ext cx="4206240" cy="146304"/>
          </a:xfrm>
          <a:prstGeom prst="rect">
            <a:avLst/>
          </a:prstGeom>
          <a:noFill/>
          <a:ln/>
        </p:spPr>
        <p:txBody>
          <a:bodyPr wrap="square" lIns="0" tIns="0" rIns="0" bIns="0" rtlCol="0" anchor="ctr"/>
          <a:lstStyle/>
          <a:p>
            <a:pPr marL="0" indent="0" algn="ctr">
              <a:buNone/>
            </a:pPr>
            <a:r>
              <a:rPr lang="en-US" sz="1100" dirty="0">
                <a:solidFill>
                  <a:srgbClr val="6E7686"/>
                </a:solidFill>
                <a:latin typeface="Pretendard" pitchFamily="34" charset="0"/>
                <a:ea typeface="Pretendard" pitchFamily="34" charset="-122"/>
                <a:cs typeface="Pretendard" pitchFamily="34" charset="-120"/>
              </a:rPr>
              <a:t>↓</a:t>
            </a:r>
            <a:endParaRPr lang="en-US" sz="1100" dirty="0"/>
          </a:p>
        </p:txBody>
      </p:sp>
      <p:sp>
        <p:nvSpPr>
          <p:cNvPr id="31" name="Shape 29"/>
          <p:cNvSpPr/>
          <p:nvPr/>
        </p:nvSpPr>
        <p:spPr>
          <a:xfrm>
            <a:off x="7223760" y="3895344"/>
            <a:ext cx="4206240" cy="640080"/>
          </a:xfrm>
          <a:prstGeom prst="rect">
            <a:avLst/>
          </a:prstGeom>
          <a:solidFill>
            <a:srgbClr val="FFFFFF"/>
          </a:solidFill>
          <a:ln w="12700">
            <a:solidFill>
              <a:srgbClr val="DCE0E8"/>
            </a:solidFill>
            <a:prstDash val="solid"/>
          </a:ln>
        </p:spPr>
        <p:txBody>
          <a:bodyPr/>
          <a:lstStyle/>
          <a:p>
            <a:endParaRPr lang="ko-KR" altLang="en-US"/>
          </a:p>
        </p:txBody>
      </p:sp>
      <p:sp>
        <p:nvSpPr>
          <p:cNvPr id="32" name="Text 30"/>
          <p:cNvSpPr/>
          <p:nvPr/>
        </p:nvSpPr>
        <p:spPr>
          <a:xfrm>
            <a:off x="7424928" y="3950208"/>
            <a:ext cx="3803904" cy="237744"/>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③ 범죄 역할의 확대</a:t>
            </a:r>
            <a:endParaRPr lang="en-US" sz="1150" dirty="0"/>
          </a:p>
        </p:txBody>
      </p:sp>
      <p:sp>
        <p:nvSpPr>
          <p:cNvPr id="33" name="Text 31"/>
          <p:cNvSpPr/>
          <p:nvPr/>
        </p:nvSpPr>
        <p:spPr>
          <a:xfrm>
            <a:off x="7424928" y="4224528"/>
            <a:ext cx="3803904" cy="237744"/>
          </a:xfrm>
          <a:prstGeom prst="rect">
            <a:avLst/>
          </a:prstGeom>
          <a:noFill/>
          <a:ln/>
        </p:spPr>
        <p:txBody>
          <a:bodyPr wrap="square" lIns="0" tIns="0" rIns="0" bIns="0" rtlCol="0" anchor="t"/>
          <a:lstStyle/>
          <a:p>
            <a:pPr marL="0" indent="0">
              <a:lnSpc>
                <a:spcPts val="1600"/>
              </a:lnSpc>
              <a:buNone/>
            </a:pPr>
            <a:r>
              <a:rPr lang="en-US" sz="1100" dirty="0">
                <a:solidFill>
                  <a:srgbClr val="222633"/>
                </a:solidFill>
                <a:latin typeface="Pretendard" pitchFamily="34" charset="0"/>
                <a:ea typeface="Pretendard" pitchFamily="34" charset="-122"/>
                <a:cs typeface="Pretendard" pitchFamily="34" charset="-120"/>
              </a:rPr>
              <a:t>판매 · 운반에 가담하거나 다른 범죄에 연루될 수 있다</a:t>
            </a:r>
            <a:endParaRPr lang="en-US" sz="1100" dirty="0"/>
          </a:p>
        </p:txBody>
      </p:sp>
      <p:sp>
        <p:nvSpPr>
          <p:cNvPr id="34" name="Text 32"/>
          <p:cNvSpPr/>
          <p:nvPr/>
        </p:nvSpPr>
        <p:spPr>
          <a:xfrm>
            <a:off x="7223760" y="4700016"/>
            <a:ext cx="4206240" cy="219456"/>
          </a:xfrm>
          <a:prstGeom prst="rect">
            <a:avLst/>
          </a:prstGeom>
          <a:noFill/>
          <a:ln/>
        </p:spPr>
        <p:txBody>
          <a:bodyPr wrap="square" lIns="0" tIns="0" rIns="0" bIns="0" rtlCol="0" anchor="ctr"/>
          <a:lstStyle/>
          <a:p>
            <a:pPr marL="0" indent="0">
              <a:buNone/>
            </a:pPr>
            <a:r>
              <a:rPr lang="en-US" sz="1200" b="1" dirty="0">
                <a:solidFill>
                  <a:srgbClr val="464D5C"/>
                </a:solidFill>
                <a:latin typeface="Pretendard" pitchFamily="34" charset="0"/>
                <a:ea typeface="Pretendard" pitchFamily="34" charset="-122"/>
                <a:cs typeface="Pretendard" pitchFamily="34" charset="-120"/>
              </a:rPr>
              <a:t>다른 인터뷰에서도</a:t>
            </a:r>
            <a:endParaRPr lang="en-US" sz="1200" dirty="0"/>
          </a:p>
        </p:txBody>
      </p:sp>
      <p:sp>
        <p:nvSpPr>
          <p:cNvPr id="35" name="Text 33"/>
          <p:cNvSpPr/>
          <p:nvPr/>
        </p:nvSpPr>
        <p:spPr>
          <a:xfrm>
            <a:off x="7223760" y="5093208"/>
            <a:ext cx="4206240" cy="310896"/>
          </a:xfrm>
          <a:prstGeom prst="rect">
            <a:avLst/>
          </a:prstGeom>
          <a:noFill/>
          <a:ln/>
        </p:spPr>
        <p:txBody>
          <a:bodyPr wrap="square" lIns="0" tIns="0" rIns="0" bIns="0" rtlCol="0" anchor="t"/>
          <a:lstStyle/>
          <a:p>
            <a:pPr marL="0" indent="0">
              <a:lnSpc>
                <a:spcPts val="1500"/>
              </a:lnSpc>
              <a:buNone/>
            </a:pPr>
            <a:r>
              <a:rPr lang="en-US" sz="1200" dirty="0">
                <a:solidFill>
                  <a:srgbClr val="6E7686"/>
                </a:solidFill>
                <a:latin typeface="Pretendard" pitchFamily="34" charset="0"/>
                <a:ea typeface="Pretendard" pitchFamily="34" charset="-122"/>
                <a:cs typeface="Pretendard" pitchFamily="34" charset="-120"/>
              </a:rPr>
              <a:t>· 중2 때 투약을 시작한 A씨 — 약값 마련 과정에서 </a:t>
            </a:r>
            <a:r>
              <a:rPr lang="en-US" sz="1200" b="1" dirty="0">
                <a:solidFill>
                  <a:srgbClr val="6E7686"/>
                </a:solidFill>
                <a:latin typeface="Pretendard" pitchFamily="34" charset="0"/>
                <a:ea typeface="Pretendard" pitchFamily="34" charset="-122"/>
                <a:cs typeface="Pretendard" pitchFamily="34" charset="-120"/>
              </a:rPr>
              <a:t>보이스피싱에 연루</a:t>
            </a:r>
            <a:endParaRPr lang="en-US" sz="1200" b="1" dirty="0"/>
          </a:p>
        </p:txBody>
      </p:sp>
      <p:sp>
        <p:nvSpPr>
          <p:cNvPr id="36" name="Text 34"/>
          <p:cNvSpPr/>
          <p:nvPr/>
        </p:nvSpPr>
        <p:spPr>
          <a:xfrm>
            <a:off x="7223760" y="5428408"/>
            <a:ext cx="4206240" cy="420624"/>
          </a:xfrm>
          <a:prstGeom prst="rect">
            <a:avLst/>
          </a:prstGeom>
          <a:noFill/>
          <a:ln/>
        </p:spPr>
        <p:txBody>
          <a:bodyPr wrap="square" lIns="0" tIns="0" rIns="0" bIns="0" rtlCol="0" anchor="t"/>
          <a:lstStyle/>
          <a:p>
            <a:pPr marL="0" indent="0">
              <a:lnSpc>
                <a:spcPts val="1500"/>
              </a:lnSpc>
              <a:buNone/>
            </a:pPr>
            <a:r>
              <a:rPr lang="en-US" sz="1200" dirty="0">
                <a:solidFill>
                  <a:srgbClr val="6E7686"/>
                </a:solidFill>
                <a:latin typeface="Pretendard" pitchFamily="34" charset="0"/>
                <a:ea typeface="Pretendard" pitchFamily="34" charset="-122"/>
                <a:cs typeface="Pretendard" pitchFamily="34" charset="-120"/>
              </a:rPr>
              <a:t>· 고3 때 </a:t>
            </a:r>
            <a:r>
              <a:rPr lang="ko-KR" altLang="en-US" sz="1200" dirty="0">
                <a:solidFill>
                  <a:srgbClr val="6E7686"/>
                </a:solidFill>
                <a:latin typeface="Pretendard" pitchFamily="34" charset="0"/>
                <a:ea typeface="Pretendard" pitchFamily="34" charset="-122"/>
                <a:cs typeface="Pretendard" pitchFamily="34" charset="-120"/>
              </a:rPr>
              <a:t>투약한 </a:t>
            </a:r>
            <a:r>
              <a:rPr lang="en-US" sz="1200" dirty="0" err="1">
                <a:solidFill>
                  <a:srgbClr val="6E7686"/>
                </a:solidFill>
                <a:latin typeface="Pretendard" pitchFamily="34" charset="0"/>
                <a:ea typeface="Pretendard" pitchFamily="34" charset="-122"/>
                <a:cs typeface="Pretendard" pitchFamily="34" charset="-120"/>
              </a:rPr>
              <a:t>B씨</a:t>
            </a:r>
            <a:endParaRPr lang="en-US" sz="1200" dirty="0">
              <a:solidFill>
                <a:srgbClr val="6E7686"/>
              </a:solidFill>
              <a:latin typeface="Pretendard" pitchFamily="34" charset="0"/>
              <a:ea typeface="Pretendard" pitchFamily="34" charset="-122"/>
              <a:cs typeface="Pretendard" pitchFamily="34" charset="-120"/>
            </a:endParaRPr>
          </a:p>
          <a:p>
            <a:pPr marL="0" indent="0">
              <a:lnSpc>
                <a:spcPts val="1500"/>
              </a:lnSpc>
              <a:buNone/>
            </a:pPr>
            <a:r>
              <a:rPr lang="en-US" sz="1200" b="1" dirty="0">
                <a:solidFill>
                  <a:srgbClr val="6E7686"/>
                </a:solidFill>
                <a:latin typeface="Pretendard" pitchFamily="34" charset="0"/>
                <a:ea typeface="Pretendard" pitchFamily="34" charset="-122"/>
                <a:cs typeface="Pretendard" pitchFamily="34" charset="-120"/>
              </a:rPr>
              <a:t>   — </a:t>
            </a:r>
            <a:r>
              <a:rPr lang="en-US" sz="1200" b="1" dirty="0" err="1">
                <a:solidFill>
                  <a:srgbClr val="6E7686"/>
                </a:solidFill>
                <a:latin typeface="Pretendard" pitchFamily="34" charset="0"/>
                <a:ea typeface="Pretendard" pitchFamily="34" charset="-122"/>
                <a:cs typeface="Pretendard" pitchFamily="34" charset="-120"/>
              </a:rPr>
              <a:t>사용자이면서</a:t>
            </a:r>
            <a:r>
              <a:rPr lang="en-US" sz="1200" b="1" dirty="0">
                <a:solidFill>
                  <a:srgbClr val="6E7686"/>
                </a:solidFill>
                <a:latin typeface="Pretendard" pitchFamily="34" charset="0"/>
                <a:ea typeface="Pretendard" pitchFamily="34" charset="-122"/>
                <a:cs typeface="Pretendard" pitchFamily="34" charset="-120"/>
              </a:rPr>
              <a:t> </a:t>
            </a:r>
            <a:r>
              <a:rPr lang="en-US" sz="1200" b="1" dirty="0" err="1">
                <a:solidFill>
                  <a:srgbClr val="6E7686"/>
                </a:solidFill>
                <a:latin typeface="Pretendard" pitchFamily="34" charset="0"/>
                <a:ea typeface="Pretendard" pitchFamily="34" charset="-122"/>
                <a:cs typeface="Pretendard" pitchFamily="34" charset="-120"/>
              </a:rPr>
              <a:t>판매자</a:t>
            </a:r>
            <a:r>
              <a:rPr lang="ko-KR" altLang="en-US" sz="1200" b="1" dirty="0">
                <a:solidFill>
                  <a:srgbClr val="6E7686"/>
                </a:solidFill>
                <a:latin typeface="Pretendard" pitchFamily="34" charset="0"/>
                <a:ea typeface="Pretendard" pitchFamily="34" charset="-122"/>
                <a:cs typeface="Pretendard" pitchFamily="34" charset="-120"/>
              </a:rPr>
              <a:t>와</a:t>
            </a:r>
            <a:r>
              <a:rPr lang="en-US" sz="1200" b="1" dirty="0">
                <a:solidFill>
                  <a:srgbClr val="6E7686"/>
                </a:solidFill>
                <a:latin typeface="Pretendard" pitchFamily="34" charset="0"/>
                <a:ea typeface="Pretendard" pitchFamily="34" charset="-122"/>
                <a:cs typeface="Pretendard" pitchFamily="34" charset="-120"/>
              </a:rPr>
              <a:t> </a:t>
            </a:r>
            <a:r>
              <a:rPr lang="ko-KR" altLang="en-US" sz="1200" b="1" dirty="0">
                <a:solidFill>
                  <a:srgbClr val="6E7686"/>
                </a:solidFill>
                <a:latin typeface="Pretendard" pitchFamily="34" charset="0"/>
                <a:ea typeface="Pretendard" pitchFamily="34" charset="-122"/>
                <a:cs typeface="Pretendard" pitchFamily="34" charset="-120"/>
              </a:rPr>
              <a:t>사귀어</a:t>
            </a:r>
            <a:r>
              <a:rPr lang="en-US" sz="1200" b="1" dirty="0">
                <a:solidFill>
                  <a:srgbClr val="6E7686"/>
                </a:solidFill>
                <a:latin typeface="Pretendard" pitchFamily="34" charset="0"/>
                <a:ea typeface="Pretendard" pitchFamily="34" charset="-122"/>
                <a:cs typeface="Pretendard" pitchFamily="34" charset="-120"/>
              </a:rPr>
              <a:t> 함께 유통에 가담</a:t>
            </a:r>
            <a:endParaRPr lang="en-US" sz="1200" b="1" dirty="0"/>
          </a:p>
        </p:txBody>
      </p:sp>
      <p:sp>
        <p:nvSpPr>
          <p:cNvPr id="37" name="Text 35"/>
          <p:cNvSpPr/>
          <p:nvPr/>
        </p:nvSpPr>
        <p:spPr>
          <a:xfrm>
            <a:off x="731520" y="5230368"/>
            <a:ext cx="10671048" cy="612648"/>
          </a:xfrm>
          <a:prstGeom prst="rect">
            <a:avLst/>
          </a:prstGeom>
          <a:noFill/>
          <a:ln/>
        </p:spPr>
        <p:txBody>
          <a:bodyPr wrap="square" lIns="0" tIns="0" rIns="0" bIns="0" rtlCol="0" anchor="ctr"/>
          <a:lstStyle/>
          <a:p>
            <a:pPr marL="0" indent="0">
              <a:buNone/>
            </a:pPr>
            <a:r>
              <a:rPr lang="en-US" sz="1250" b="1" dirty="0">
                <a:solidFill>
                  <a:srgbClr val="A8871C"/>
                </a:solidFill>
                <a:latin typeface="Pretendard" pitchFamily="34" charset="0"/>
                <a:ea typeface="Pretendard" pitchFamily="34" charset="-122"/>
                <a:cs typeface="Pretendard" pitchFamily="34" charset="-120"/>
              </a:rPr>
              <a:t>반복 사용은 약물을 확보하는 문제를 만들고, </a:t>
            </a:r>
          </a:p>
          <a:p>
            <a:pPr marL="0" indent="0">
              <a:buNone/>
            </a:pPr>
            <a:r>
              <a:rPr lang="en-US" sz="1250" b="1" dirty="0" err="1">
                <a:solidFill>
                  <a:srgbClr val="A8871C"/>
                </a:solidFill>
                <a:latin typeface="Pretendard" pitchFamily="34" charset="0"/>
                <a:ea typeface="Pretendard" pitchFamily="34" charset="-122"/>
                <a:cs typeface="Pretendard" pitchFamily="34" charset="-120"/>
              </a:rPr>
              <a:t>일부</a:t>
            </a:r>
            <a:r>
              <a:rPr lang="en-US" sz="1250" b="1" dirty="0">
                <a:solidFill>
                  <a:srgbClr val="A8871C"/>
                </a:solidFill>
                <a:latin typeface="Pretendard" pitchFamily="34" charset="0"/>
                <a:ea typeface="Pretendard" pitchFamily="34" charset="-122"/>
                <a:cs typeface="Pretendard" pitchFamily="34" charset="-120"/>
              </a:rPr>
              <a:t> 청소년에게서는 그 과정이 새로운 범죄 가담으로 이어졌다</a:t>
            </a:r>
            <a:endParaRPr lang="en-US" sz="1250" dirty="0"/>
          </a:p>
        </p:txBody>
      </p:sp>
      <p:sp>
        <p:nvSpPr>
          <p:cNvPr id="38" name="Text 36"/>
          <p:cNvSpPr/>
          <p:nvPr/>
        </p:nvSpPr>
        <p:spPr>
          <a:xfrm>
            <a:off x="731520" y="5888736"/>
            <a:ext cx="10698480" cy="256032"/>
          </a:xfrm>
          <a:prstGeom prst="rect">
            <a:avLst/>
          </a:prstGeom>
          <a:noFill/>
          <a:ln/>
        </p:spPr>
        <p:txBody>
          <a:bodyPr wrap="square" lIns="0" tIns="0" rIns="0" bIns="0" rtlCol="0" anchor="ctr"/>
          <a:lstStyle/>
          <a:p>
            <a:r>
              <a:rPr lang="ko-KR" altLang="en-US" sz="1150" dirty="0">
                <a:solidFill>
                  <a:srgbClr val="222633"/>
                </a:solidFill>
                <a:latin typeface="Pretendard" pitchFamily="34" charset="0"/>
                <a:ea typeface="Pretendard" pitchFamily="34" charset="-122"/>
                <a:cs typeface="Pretendard" pitchFamily="34" charset="-120"/>
              </a:rPr>
              <a:t>사용과 판매</a:t>
            </a:r>
            <a:r>
              <a:rPr lang="en-US" altLang="ko-KR" sz="1150" dirty="0">
                <a:solidFill>
                  <a:srgbClr val="222633"/>
                </a:solidFill>
                <a:latin typeface="Pretendard" pitchFamily="34" charset="0"/>
                <a:ea typeface="Pretendard" pitchFamily="34" charset="-122"/>
                <a:cs typeface="Pretendard" pitchFamily="34" charset="-120"/>
              </a:rPr>
              <a:t>·</a:t>
            </a:r>
            <a:r>
              <a:rPr lang="ko-KR" altLang="en-US" sz="1150" dirty="0">
                <a:solidFill>
                  <a:srgbClr val="222633"/>
                </a:solidFill>
                <a:latin typeface="Pretendard" pitchFamily="34" charset="0"/>
                <a:ea typeface="Pretendard" pitchFamily="34" charset="-122"/>
                <a:cs typeface="Pretendard" pitchFamily="34" charset="-120"/>
              </a:rPr>
              <a:t>유통이 겹친 사건에서는 사용 문제와 다른 행위에 대한 책임을 함께 살펴야 한다</a:t>
            </a:r>
          </a:p>
        </p:txBody>
      </p:sp>
      <p:sp>
        <p:nvSpPr>
          <p:cNvPr id="39" name="Shape 37"/>
          <p:cNvSpPr/>
          <p:nvPr/>
        </p:nvSpPr>
        <p:spPr>
          <a:xfrm>
            <a:off x="731520" y="6153912"/>
            <a:ext cx="10698480" cy="0"/>
          </a:xfrm>
          <a:prstGeom prst="line">
            <a:avLst/>
          </a:prstGeom>
          <a:noFill/>
          <a:ln w="12700">
            <a:solidFill>
              <a:srgbClr val="DCE0E8"/>
            </a:solidFill>
            <a:prstDash val="solid"/>
          </a:ln>
        </p:spPr>
        <p:txBody>
          <a:bodyPr/>
          <a:lstStyle/>
          <a:p>
            <a:endParaRPr lang="ko-KR"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청소년 마약류의 실태와 사용 맥락</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법원의 판단과 선고</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공부방 마약 유통 사건(2023)</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범행 당시 고등학생이던 3명이 투약과 함께 마약류 판매를 운영하다 구속기소되었다</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BODY8"/>
          <p:cNvSpPr/>
          <p:nvPr/>
        </p:nvSpPr>
        <p:spPr>
          <a:xfrm>
            <a:off x="3154680" y="2444337"/>
            <a:ext cx="8302752" cy="224790"/>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텔레그램에서 알게 된 판매상에게 범행 수법을 배웠고, 또래들을 공범으로 끌어들였다</a:t>
            </a:r>
          </a:p>
        </p:txBody>
      </p:sp>
      <p:sp>
        <p:nvSpPr>
          <p:cNvPr id="9" name="HEAD9"/>
          <p:cNvSpPr/>
          <p:nvPr/>
        </p:nvSpPr>
        <p:spPr>
          <a:xfrm>
            <a:off x="731520" y="2214797"/>
            <a:ext cx="2240280" cy="711149"/>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범행 진입</a:t>
            </a:r>
          </a:p>
        </p:txBody>
      </p:sp>
      <p:sp>
        <p:nvSpPr>
          <p:cNvPr id="10" name="RULE10"/>
          <p:cNvSpPr/>
          <p:nvPr/>
        </p:nvSpPr>
        <p:spPr>
          <a:xfrm>
            <a:off x="685800" y="2979101"/>
            <a:ext cx="10725912" cy="0"/>
          </a:xfrm>
          <a:prstGeom prst="line">
            <a:avLst/>
          </a:prstGeom>
          <a:ln w="9525">
            <a:solidFill>
              <a:srgbClr val="DCE0E8"/>
            </a:solidFill>
          </a:ln>
        </p:spPr>
        <p:txBody>
          <a:bodyPr/>
          <a:lstStyle/>
          <a:p>
            <a:endParaRPr lang="ko-KR"/>
          </a:p>
        </p:txBody>
      </p:sp>
      <p:sp>
        <p:nvSpPr>
          <p:cNvPr id="11" name="BODY11"/>
          <p:cNvSpPr/>
          <p:nvPr/>
        </p:nvSpPr>
        <p:spPr>
          <a:xfrm>
            <a:off x="3154680" y="3270963"/>
            <a:ext cx="8302752" cy="224790"/>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부모가 공부방 명목으로 빌려준 오피스텔을 마약 유통 사무실로 사용했다</a:t>
            </a:r>
          </a:p>
        </p:txBody>
      </p:sp>
      <p:sp>
        <p:nvSpPr>
          <p:cNvPr id="12" name="HEAD12"/>
          <p:cNvSpPr/>
          <p:nvPr/>
        </p:nvSpPr>
        <p:spPr>
          <a:xfrm>
            <a:off x="731520" y="3029371"/>
            <a:ext cx="2240280" cy="711149"/>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판매 공간</a:t>
            </a:r>
          </a:p>
        </p:txBody>
      </p:sp>
      <p:sp>
        <p:nvSpPr>
          <p:cNvPr id="13" name="RULE13"/>
          <p:cNvSpPr/>
          <p:nvPr/>
        </p:nvSpPr>
        <p:spPr>
          <a:xfrm>
            <a:off x="731520" y="3822598"/>
            <a:ext cx="10725912" cy="0"/>
          </a:xfrm>
          <a:prstGeom prst="line">
            <a:avLst/>
          </a:prstGeom>
          <a:ln w="9525">
            <a:solidFill>
              <a:srgbClr val="DCE0E8"/>
            </a:solidFill>
          </a:ln>
        </p:spPr>
        <p:txBody>
          <a:bodyPr/>
          <a:lstStyle/>
          <a:p>
            <a:endParaRPr lang="ko-KR"/>
          </a:p>
        </p:txBody>
      </p:sp>
      <p:sp>
        <p:nvSpPr>
          <p:cNvPr id="14" name="BODY14"/>
          <p:cNvSpPr/>
          <p:nvPr/>
        </p:nvSpPr>
        <p:spPr>
          <a:xfrm>
            <a:off x="3154680" y="4141625"/>
            <a:ext cx="8302752" cy="224790"/>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성인 6명을 운반책으로 고용하고, 텔레그램에서 마약류 판매 광고와 거래를 진행했다</a:t>
            </a:r>
          </a:p>
        </p:txBody>
      </p:sp>
      <p:sp>
        <p:nvSpPr>
          <p:cNvPr id="15" name="HEAD15"/>
          <p:cNvSpPr/>
          <p:nvPr/>
        </p:nvSpPr>
        <p:spPr>
          <a:xfrm>
            <a:off x="731520" y="3912085"/>
            <a:ext cx="2240280" cy="711149"/>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유통 운영</a:t>
            </a:r>
          </a:p>
        </p:txBody>
      </p:sp>
      <p:sp>
        <p:nvSpPr>
          <p:cNvPr id="16" name="RULE16"/>
          <p:cNvSpPr/>
          <p:nvPr/>
        </p:nvSpPr>
        <p:spPr>
          <a:xfrm>
            <a:off x="685800" y="4660080"/>
            <a:ext cx="10725912" cy="0"/>
          </a:xfrm>
          <a:prstGeom prst="line">
            <a:avLst/>
          </a:prstGeom>
          <a:ln w="9525">
            <a:solidFill>
              <a:srgbClr val="DCE0E8"/>
            </a:solidFill>
          </a:ln>
        </p:spPr>
        <p:txBody>
          <a:bodyPr/>
          <a:lstStyle/>
          <a:p>
            <a:endParaRPr lang="ko-KR"/>
          </a:p>
        </p:txBody>
      </p:sp>
      <p:sp>
        <p:nvSpPr>
          <p:cNvPr id="17" name="BODY17"/>
          <p:cNvSpPr/>
          <p:nvPr/>
        </p:nvSpPr>
        <p:spPr>
          <a:xfrm>
            <a:off x="3154680" y="4948886"/>
            <a:ext cx="8302752" cy="306820"/>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검찰은 수사 중 2명의 추가 투약 등을 확인</a:t>
            </a:r>
            <a:r>
              <a:rPr lang="ko-KR" altLang="en-US" sz="1250" b="1" dirty="0">
                <a:solidFill>
                  <a:srgbClr val="222633"/>
                </a:solidFill>
                <a:latin typeface="Pretendard" pitchFamily="34" charset="0"/>
                <a:ea typeface="Pretendard" pitchFamily="34" charset="-122"/>
                <a:cs typeface="Pretendard" pitchFamily="34" charset="-120"/>
              </a:rPr>
              <a:t>했고, 2023년 5월 16일 3명 모두 구속기소했다고 발표했다</a:t>
            </a:r>
          </a:p>
        </p:txBody>
      </p:sp>
      <p:sp>
        <p:nvSpPr>
          <p:cNvPr id="18" name="HEAD18"/>
          <p:cNvSpPr/>
          <p:nvPr/>
        </p:nvSpPr>
        <p:spPr>
          <a:xfrm>
            <a:off x="731520" y="4733772"/>
            <a:ext cx="2240280" cy="685979"/>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투약과 수사</a:t>
            </a:r>
          </a:p>
        </p:txBody>
      </p:sp>
      <p:sp>
        <p:nvSpPr>
          <p:cNvPr id="20" name="CLOSE20"/>
          <p:cNvSpPr/>
          <p:nvPr/>
        </p:nvSpPr>
        <p:spPr>
          <a:xfrm>
            <a:off x="731520" y="5535387"/>
            <a:ext cx="10725912" cy="586519"/>
          </a:xfrm>
          <a:prstGeom prst="rect">
            <a:avLst/>
          </a:prstGeom>
          <a:solidFill>
            <a:schemeClr val="accent1">
              <a:lumMod val="20000"/>
              <a:lumOff val="80000"/>
            </a:schemeClr>
          </a:solidFill>
          <a:ln/>
        </p:spPr>
        <p:txBody>
          <a:bodyPr wrap="square" lIns="0" tIns="0" rIns="0" bIns="0" rtlCol="0" anchor="ctr"/>
          <a:lstStyle/>
          <a:p>
            <a:pPr marL="0" indent="0" algn="ctr">
              <a:lnSpc>
                <a:spcPct val="118000"/>
              </a:lnSpc>
              <a:buNone/>
            </a:pPr>
            <a:r>
              <a:rPr lang="ko-KR" altLang="en-US" sz="1600" b="1" dirty="0">
                <a:solidFill>
                  <a:schemeClr val="accent1">
                    <a:lumMod val="50000"/>
                  </a:schemeClr>
                </a:solidFill>
                <a:latin typeface="Pretendard" pitchFamily="34" charset="0"/>
                <a:ea typeface="Pretendard" pitchFamily="34" charset="-122"/>
                <a:cs typeface="Pretendard" pitchFamily="34" charset="-120"/>
              </a:rPr>
              <a:t>이 사건에서도 투약 문제와 판매·유통의 역할이 한 사람에게 겹쳐 나타났다</a:t>
            </a:r>
          </a:p>
        </p:txBody>
      </p:sp>
      <p:sp>
        <p:nvSpPr>
          <p:cNvPr id="23" name="RULE">
            <a:extLst>
              <a:ext uri="{FF2B5EF4-FFF2-40B4-BE49-F238E27FC236}">
                <a16:creationId xmlns:a16="http://schemas.microsoft.com/office/drawing/2014/main" id="{39955338-2D02-7FDB-74D0-692890D41B14}"/>
              </a:ext>
            </a:extLst>
          </p:cNvPr>
          <p:cNvSpPr/>
          <p:nvPr/>
        </p:nvSpPr>
        <p:spPr>
          <a:xfrm>
            <a:off x="731520" y="6302828"/>
            <a:ext cx="10725912" cy="0"/>
          </a:xfrm>
          <a:prstGeom prst="line">
            <a:avLst/>
          </a:prstGeom>
          <a:ln w="19050">
            <a:solidFill>
              <a:srgbClr val="1E2761"/>
            </a:solidFill>
          </a:ln>
        </p:spPr>
        <p:txBody>
          <a:bodyPr/>
          <a:lstStyle/>
          <a:p>
            <a:endParaRPr lang="ko-K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국내 마약류 사건의 소년부 송치 추이</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마약류 사용 문제를 겪는 청소년의 도움 요청</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사용 문제가 커졌어도 가족이나 학교에 곧바로 도움을 요청하지 못한 사례가 있었다</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BODY8"/>
          <p:cNvSpPr/>
          <p:nvPr/>
        </p:nvSpPr>
        <p:spPr>
          <a:xfrm>
            <a:off x="2818397" y="2212716"/>
            <a:ext cx="8639035"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비난과 실망에 대한 두려움, 관계의 갈등</a:t>
            </a:r>
            <a:r>
              <a:rPr lang="ko-KR" altLang="en-US" sz="1250" b="1" dirty="0">
                <a:solidFill>
                  <a:srgbClr val="222633"/>
                </a:solidFill>
                <a:latin typeface="Pretendard" pitchFamily="34" charset="0"/>
                <a:ea typeface="Pretendard" pitchFamily="34" charset="-122"/>
                <a:cs typeface="Pretendard" pitchFamily="34" charset="-120"/>
              </a:rPr>
              <a:t> 등 서로 다른 사정으로 알리지 못함</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경찰과 접촉한 뒤에도 부모 연락처를 말하지 않고 혼자 처리하려 한 사례</a:t>
            </a:r>
          </a:p>
        </p:txBody>
      </p:sp>
      <p:sp>
        <p:nvSpPr>
          <p:cNvPr id="9" name="HEAD9"/>
          <p:cNvSpPr/>
          <p:nvPr/>
        </p:nvSpPr>
        <p:spPr>
          <a:xfrm>
            <a:off x="731520" y="2034540"/>
            <a:ext cx="2240280" cy="869737"/>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가족에게 알리기</a:t>
            </a:r>
          </a:p>
        </p:txBody>
      </p:sp>
      <p:sp>
        <p:nvSpPr>
          <p:cNvPr id="10" name="RULE10"/>
          <p:cNvSpPr/>
          <p:nvPr/>
        </p:nvSpPr>
        <p:spPr>
          <a:xfrm>
            <a:off x="731520" y="2927137"/>
            <a:ext cx="10725912" cy="0"/>
          </a:xfrm>
          <a:prstGeom prst="line">
            <a:avLst/>
          </a:prstGeom>
          <a:ln w="9525">
            <a:solidFill>
              <a:srgbClr val="DCE0E8"/>
            </a:solidFill>
          </a:ln>
        </p:spPr>
        <p:txBody>
          <a:bodyPr/>
          <a:lstStyle/>
          <a:p>
            <a:endParaRPr lang="ko-KR"/>
          </a:p>
        </p:txBody>
      </p:sp>
      <p:sp>
        <p:nvSpPr>
          <p:cNvPr id="11" name="BODY11"/>
          <p:cNvSpPr/>
          <p:nvPr/>
        </p:nvSpPr>
        <p:spPr>
          <a:xfrm>
            <a:off x="2818397" y="3057473"/>
            <a:ext cx="10377598" cy="1453821"/>
          </a:xfrm>
          <a:prstGeom prst="rect">
            <a:avLst/>
          </a:prstGeom>
          <a:noFill/>
          <a:ln/>
        </p:spPr>
        <p:txBody>
          <a:bodyPr wrap="square" lIns="0" tIns="0" rIns="0" bIns="0" rtlCol="0" anchor="ctr"/>
          <a:lstStyle/>
          <a:p>
            <a:pPr>
              <a:lnSpc>
                <a:spcPct val="118000"/>
              </a:lnSpc>
              <a:spcAft>
                <a:spcPts val="500"/>
              </a:spcAft>
            </a:pPr>
            <a:r>
              <a:rPr lang="ko-KR" altLang="en-US" sz="1200" b="1" dirty="0">
                <a:latin typeface="Pretendard" pitchFamily="34" charset="0"/>
                <a:ea typeface="Pretendard" pitchFamily="34" charset="-122"/>
                <a:cs typeface="Pretendard" pitchFamily="34" charset="-120"/>
              </a:rPr>
              <a:t>교사 </a:t>
            </a:r>
            <a:r>
              <a:rPr lang="en-US" altLang="ko-KR" sz="1200" b="1" dirty="0">
                <a:latin typeface="Pretendard" pitchFamily="34" charset="0"/>
                <a:ea typeface="Pretendard" pitchFamily="34" charset="-122"/>
                <a:cs typeface="Pretendard" pitchFamily="34" charset="-120"/>
              </a:rPr>
              <a:t>· </a:t>
            </a:r>
            <a:r>
              <a:rPr lang="ko-KR" altLang="en-US" sz="1200" b="1" dirty="0">
                <a:latin typeface="Pretendard" pitchFamily="34" charset="0"/>
                <a:ea typeface="Pretendard" pitchFamily="34" charset="-122"/>
                <a:cs typeface="Pretendard" pitchFamily="34" charset="-120"/>
              </a:rPr>
              <a:t>학교 상담실</a:t>
            </a:r>
            <a:r>
              <a:rPr lang="en-US" altLang="ko-KR" sz="1200" b="1" dirty="0">
                <a:latin typeface="Pretendard" pitchFamily="34" charset="0"/>
                <a:ea typeface="Pretendard" pitchFamily="34" charset="-122"/>
                <a:cs typeface="Pretendard" pitchFamily="34" charset="-120"/>
              </a:rPr>
              <a:t>(Wee</a:t>
            </a:r>
            <a:r>
              <a:rPr lang="ko-KR" altLang="en-US" sz="1200" b="1" dirty="0">
                <a:latin typeface="Pretendard" pitchFamily="34" charset="0"/>
                <a:ea typeface="Pretendard" pitchFamily="34" charset="-122"/>
                <a:cs typeface="Pretendard" pitchFamily="34" charset="-120"/>
              </a:rPr>
              <a:t>클래스</a:t>
            </a:r>
            <a:r>
              <a:rPr lang="en-US" altLang="ko-KR" sz="1200" b="1" dirty="0">
                <a:latin typeface="Pretendard" pitchFamily="34" charset="0"/>
                <a:ea typeface="Pretendard" pitchFamily="34" charset="-122"/>
                <a:cs typeface="Pretendard" pitchFamily="34" charset="-120"/>
              </a:rPr>
              <a:t>)</a:t>
            </a:r>
            <a:r>
              <a:rPr lang="ko-KR" altLang="en-US" sz="1200" b="1" dirty="0">
                <a:latin typeface="Pretendard" pitchFamily="34" charset="0"/>
                <a:ea typeface="Pretendard" pitchFamily="34" charset="-122"/>
                <a:cs typeface="Pretendard" pitchFamily="34" charset="-120"/>
              </a:rPr>
              <a:t>에 알리면 </a:t>
            </a:r>
            <a:r>
              <a:rPr lang="ko-KR" altLang="en-US" sz="1200" b="1" dirty="0">
                <a:highlight>
                  <a:srgbClr val="FFFF00"/>
                </a:highlight>
                <a:latin typeface="Pretendard" pitchFamily="34" charset="0"/>
                <a:ea typeface="Pretendard" pitchFamily="34" charset="-122"/>
                <a:cs typeface="Pretendard" pitchFamily="34" charset="-120"/>
              </a:rPr>
              <a:t>마약 사용 사실이 주변에 알려질 것 같아 도움을 요청하지 않음</a:t>
            </a:r>
            <a:endParaRPr lang="ko-KR" altLang="en-US" sz="1250" b="1" dirty="0">
              <a:highlight>
                <a:srgbClr val="FFFF00"/>
              </a:highlight>
              <a:latin typeface="Pretendard" pitchFamily="34" charset="0"/>
              <a:ea typeface="Pretendard" pitchFamily="34" charset="-122"/>
              <a:cs typeface="Pretendard" pitchFamily="34" charset="-120"/>
            </a:endParaRPr>
          </a:p>
          <a:p>
            <a:pPr marL="0" indent="0">
              <a:lnSpc>
                <a:spcPct val="118000"/>
              </a:lnSpc>
              <a:spcAft>
                <a:spcPts val="500"/>
              </a:spcAft>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전문기관에 도움을 요청한다는 생각을 떠올리지 못함</a:t>
            </a:r>
            <a:r>
              <a:rPr lang="en-US" altLang="ko-KR" sz="1250" b="1" dirty="0">
                <a:solidFill>
                  <a:srgbClr val="222633"/>
                </a:solidFill>
                <a:highlight>
                  <a:srgbClr val="FFFF00"/>
                </a:highlight>
                <a:latin typeface="Pretendard" pitchFamily="34" charset="0"/>
                <a:ea typeface="Pretendard" pitchFamily="34" charset="-122"/>
                <a:cs typeface="Pretendard" pitchFamily="34" charset="-120"/>
              </a:rPr>
              <a:t>, </a:t>
            </a: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도움을 받고자 하더라도 어떤 기관에 요청할지 알지 못함</a:t>
            </a:r>
            <a:endParaRPr lang="en-US" altLang="ko-KR" sz="1250" b="1" dirty="0">
              <a:solidFill>
                <a:srgbClr val="222633"/>
              </a:solidFill>
              <a:highlight>
                <a:srgbClr val="FFFF00"/>
              </a:highlight>
              <a:latin typeface="Pretendard" pitchFamily="34" charset="0"/>
              <a:ea typeface="Pretendard" pitchFamily="34" charset="-122"/>
              <a:cs typeface="Pretendard" pitchFamily="34" charset="-120"/>
            </a:endParaRPr>
          </a:p>
          <a:p>
            <a:pPr marL="0" indent="0">
              <a:lnSpc>
                <a:spcPct val="118000"/>
              </a:lnSpc>
              <a:spcAft>
                <a:spcPts val="500"/>
              </a:spcAft>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관련 상담 기관을 찾았지만 실질적인 도움이 이어지지 않은 사례</a:t>
            </a:r>
            <a:r>
              <a:rPr lang="ko-KR" altLang="en-US" sz="1250" b="1" dirty="0">
                <a:solidFill>
                  <a:srgbClr val="222633"/>
                </a:solidFill>
                <a:latin typeface="Pretendard" pitchFamily="34" charset="0"/>
                <a:ea typeface="Pretendard" pitchFamily="34" charset="-122"/>
                <a:cs typeface="Pretendard" pitchFamily="34" charset="-120"/>
              </a:rPr>
              <a:t>도 존재</a:t>
            </a:r>
            <a:endParaRPr lang="en-US" altLang="ko-KR" sz="1250" b="1" dirty="0">
              <a:solidFill>
                <a:srgbClr val="222633"/>
              </a:solidFill>
              <a:latin typeface="Pretendard" pitchFamily="34" charset="0"/>
              <a:ea typeface="Pretendard" pitchFamily="34" charset="-122"/>
              <a:cs typeface="Pretendard" pitchFamily="34" charset="-120"/>
            </a:endParaRPr>
          </a:p>
          <a:p>
            <a:pPr marL="0" indent="0">
              <a:lnSpc>
                <a:spcPct val="118000"/>
              </a:lnSpc>
              <a:spcAft>
                <a:spcPts val="500"/>
              </a:spcAft>
              <a:buNone/>
            </a:pPr>
            <a:r>
              <a:rPr lang="ko-KR" altLang="en-US" sz="1150" dirty="0">
                <a:solidFill>
                  <a:srgbClr val="464D5C"/>
                </a:solidFill>
                <a:latin typeface="Pretendard" pitchFamily="34" charset="0"/>
                <a:ea typeface="Pretendard" pitchFamily="34" charset="-122"/>
                <a:cs typeface="Pretendard" pitchFamily="34" charset="-120"/>
              </a:rPr>
              <a:t>인터넷으로 도움을 찾아 기관에 방문했는데 별다른 조치가 없고</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도움이 이어지지 않아 성인이 된 뒤 스스로 경찰에 신고한 경우</a:t>
            </a:r>
          </a:p>
        </p:txBody>
      </p:sp>
      <p:sp>
        <p:nvSpPr>
          <p:cNvPr id="12" name="HEAD12"/>
          <p:cNvSpPr/>
          <p:nvPr/>
        </p:nvSpPr>
        <p:spPr>
          <a:xfrm>
            <a:off x="884922" y="3441777"/>
            <a:ext cx="1933475" cy="869737"/>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학교와 기관</a:t>
            </a:r>
          </a:p>
        </p:txBody>
      </p:sp>
      <p:sp>
        <p:nvSpPr>
          <p:cNvPr id="16" name="RULE16"/>
          <p:cNvSpPr/>
          <p:nvPr/>
        </p:nvSpPr>
        <p:spPr>
          <a:xfrm>
            <a:off x="731520" y="4666610"/>
            <a:ext cx="10725912" cy="0"/>
          </a:xfrm>
          <a:prstGeom prst="line">
            <a:avLst/>
          </a:prstGeom>
          <a:ln w="9525">
            <a:solidFill>
              <a:srgbClr val="DCE0E8"/>
            </a:solidFill>
          </a:ln>
        </p:spPr>
        <p:txBody>
          <a:bodyPr/>
          <a:lstStyle/>
          <a:p>
            <a:endParaRPr lang="ko-KR"/>
          </a:p>
        </p:txBody>
      </p:sp>
      <p:sp>
        <p:nvSpPr>
          <p:cNvPr id="17" name="BODY17"/>
          <p:cNvSpPr/>
          <p:nvPr/>
        </p:nvSpPr>
        <p:spPr>
          <a:xfrm>
            <a:off x="2818396" y="4866221"/>
            <a:ext cx="8639035" cy="504088"/>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전체 응답자 296명 중 전문기관 상담·치료 경험을 보고한 비율은 4.4%였다</a:t>
            </a:r>
          </a:p>
          <a:p>
            <a:pPr>
              <a:lnSpc>
                <a:spcPct val="118000"/>
              </a:lnSpc>
            </a:pPr>
            <a:r>
              <a:rPr lang="ko-KR" altLang="en-US" sz="1150" dirty="0">
                <a:solidFill>
                  <a:srgbClr val="464D5C"/>
                </a:solidFill>
                <a:latin typeface="Pretendard" pitchFamily="34" charset="0"/>
                <a:ea typeface="Pretendard" pitchFamily="34" charset="-122"/>
                <a:cs typeface="Pretendard" pitchFamily="34" charset="-120"/>
              </a:rPr>
              <a:t>치료가 필요한 시점은 즉각적일 수 있으므로</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치료가 필요한 시점과 실제 전문적 도움을 받는 시점 사이에 공백이 생길 수 있었다</a:t>
            </a:r>
          </a:p>
        </p:txBody>
      </p:sp>
      <p:sp>
        <p:nvSpPr>
          <p:cNvPr id="18" name="HEAD18"/>
          <p:cNvSpPr/>
          <p:nvPr/>
        </p:nvSpPr>
        <p:spPr>
          <a:xfrm>
            <a:off x="731520" y="4643750"/>
            <a:ext cx="2240280" cy="878728"/>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위기청소년 조사</a:t>
            </a:r>
          </a:p>
        </p:txBody>
      </p:sp>
      <p:sp>
        <p:nvSpPr>
          <p:cNvPr id="20" name="CLOSE20"/>
          <p:cNvSpPr/>
          <p:nvPr/>
        </p:nvSpPr>
        <p:spPr>
          <a:xfrm>
            <a:off x="731520" y="5602807"/>
            <a:ext cx="10725912" cy="615112"/>
          </a:xfrm>
          <a:prstGeom prst="rect">
            <a:avLst/>
          </a:prstGeom>
          <a:solidFill>
            <a:schemeClr val="accent1">
              <a:lumMod val="20000"/>
              <a:lumOff val="80000"/>
            </a:schemeClr>
          </a:solidFill>
          <a:ln/>
        </p:spPr>
        <p:txBody>
          <a:bodyPr wrap="square" lIns="0" tIns="0" rIns="0" bIns="0" rtlCol="0" anchor="ctr"/>
          <a:lstStyle/>
          <a:p>
            <a:pPr marL="0" indent="0" algn="ctr">
              <a:lnSpc>
                <a:spcPct val="118000"/>
              </a:lnSpc>
              <a:buNone/>
            </a:pPr>
            <a:r>
              <a:rPr lang="ko-KR" altLang="en-US" sz="1400" b="1" dirty="0">
                <a:solidFill>
                  <a:schemeClr val="accent1">
                    <a:lumMod val="50000"/>
                  </a:schemeClr>
                </a:solidFill>
                <a:latin typeface="Pretendard" pitchFamily="34" charset="0"/>
                <a:ea typeface="Pretendard" pitchFamily="34" charset="-122"/>
                <a:cs typeface="Pretendard" pitchFamily="34" charset="-120"/>
              </a:rPr>
              <a:t>주변에 알리는 단계와 실제 상담·치료가 시작되는 단계 사이에도 지원의 공백이 생길 수 있다</a:t>
            </a:r>
          </a:p>
        </p:txBody>
      </p:sp>
      <p:sp>
        <p:nvSpPr>
          <p:cNvPr id="24" name="Text 0">
            <a:extLst>
              <a:ext uri="{FF2B5EF4-FFF2-40B4-BE49-F238E27FC236}">
                <a16:creationId xmlns:a16="http://schemas.microsoft.com/office/drawing/2014/main" id="{E761CBC9-CD2F-B576-6CF4-4A49832CA75A}"/>
              </a:ext>
            </a:extLst>
          </p:cNvPr>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2. 사용 실태와 도움 요청</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521208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3. 사건 처리 결과와 소년 특례</a:t>
            </a:r>
            <a:endParaRPr lang="en-US" sz="1250" dirty="0"/>
          </a:p>
        </p:txBody>
      </p:sp>
      <p:sp>
        <p:nvSpPr>
          <p:cNvPr id="3" name="Text 1"/>
          <p:cNvSpPr/>
          <p:nvPr/>
        </p:nvSpPr>
        <p:spPr>
          <a:xfrm>
            <a:off x="6035040" y="384048"/>
            <a:ext cx="5422392" cy="256032"/>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19세 미만 형사재판 결과</a:t>
            </a:r>
            <a:endParaRPr lang="en-US" sz="1050" dirty="0"/>
          </a:p>
        </p:txBody>
      </p:sp>
      <p:sp>
        <p:nvSpPr>
          <p:cNvPr id="4" name="Text 2"/>
          <p:cNvSpPr/>
          <p:nvPr/>
        </p:nvSpPr>
        <p:spPr>
          <a:xfrm>
            <a:off x="731520" y="640080"/>
            <a:ext cx="10725912" cy="640080"/>
          </a:xfrm>
          <a:prstGeom prst="rect">
            <a:avLst/>
          </a:prstGeom>
          <a:noFill/>
          <a:ln/>
        </p:spPr>
        <p:txBody>
          <a:bodyPr wrap="square" lIns="0" tIns="0" rIns="0" bIns="0" rtlCol="0" anchor="ctr"/>
          <a:lstStyle/>
          <a:p>
            <a:pPr marL="0" indent="0">
              <a:buNone/>
            </a:pPr>
            <a:r>
              <a:rPr lang="en-US" sz="2750" b="1" dirty="0">
                <a:solidFill>
                  <a:srgbClr val="1E2761"/>
                </a:solidFill>
                <a:latin typeface="Pretendard" pitchFamily="34" charset="0"/>
                <a:ea typeface="Pretendard" pitchFamily="34" charset="-122"/>
                <a:cs typeface="Pretendard" pitchFamily="34" charset="-120"/>
              </a:rPr>
              <a:t>국내 마약류 사건의 소년부 송치 추이</a:t>
            </a:r>
            <a:endParaRPr lang="en-US" sz="2750" dirty="0"/>
          </a:p>
        </p:txBody>
      </p:sp>
      <p:sp>
        <p:nvSpPr>
          <p:cNvPr id="5" name="Shape 3"/>
          <p:cNvSpPr/>
          <p:nvPr/>
        </p:nvSpPr>
        <p:spPr>
          <a:xfrm>
            <a:off x="731520" y="1316736"/>
            <a:ext cx="10725912"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417320"/>
            <a:ext cx="10725912" cy="548640"/>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1005840" y="1417320"/>
            <a:ext cx="10149840" cy="548640"/>
          </a:xfrm>
          <a:prstGeom prst="rect">
            <a:avLst/>
          </a:prstGeom>
          <a:noFill/>
          <a:ln/>
        </p:spPr>
        <p:txBody>
          <a:bodyPr wrap="square" lIns="0" tIns="0" rIns="0" bIns="0" rtlCol="0" anchor="ctr"/>
          <a:lstStyle/>
          <a:p>
            <a:r>
              <a:rPr lang="ko-KR" altLang="en-US" sz="1300" b="1" dirty="0">
                <a:solidFill>
                  <a:srgbClr val="1E2761"/>
                </a:solidFill>
                <a:latin typeface="Pretendard" pitchFamily="34" charset="0"/>
                <a:ea typeface="Pretendard" pitchFamily="34" charset="-122"/>
                <a:cs typeface="Pretendard" pitchFamily="34" charset="-120"/>
              </a:rPr>
              <a:t>검찰의 소년부 송치는 </a:t>
            </a:r>
            <a:r>
              <a:rPr lang="en-US" altLang="ko-KR" sz="1300" b="1" dirty="0">
                <a:solidFill>
                  <a:srgbClr val="1E2761"/>
                </a:solidFill>
                <a:latin typeface="Pretendard" pitchFamily="34" charset="0"/>
                <a:ea typeface="Pretendard" pitchFamily="34" charset="-122"/>
                <a:cs typeface="Pretendard" pitchFamily="34" charset="-120"/>
              </a:rPr>
              <a:t>2023</a:t>
            </a:r>
            <a:r>
              <a:rPr lang="ko-KR" altLang="en-US" sz="1300" b="1" dirty="0">
                <a:solidFill>
                  <a:srgbClr val="1E2761"/>
                </a:solidFill>
                <a:latin typeface="Pretendard" pitchFamily="34" charset="0"/>
                <a:ea typeface="Pretendard" pitchFamily="34" charset="-122"/>
                <a:cs typeface="Pretendard" pitchFamily="34" charset="-120"/>
              </a:rPr>
              <a:t>년 </a:t>
            </a:r>
            <a:r>
              <a:rPr lang="en-US" altLang="ko-KR" sz="1300" b="1" dirty="0">
                <a:solidFill>
                  <a:srgbClr val="1E2761"/>
                </a:solidFill>
                <a:latin typeface="Pretendard" pitchFamily="34" charset="0"/>
                <a:ea typeface="Pretendard" pitchFamily="34" charset="-122"/>
                <a:cs typeface="Pretendard" pitchFamily="34" charset="-120"/>
              </a:rPr>
              <a:t>78</a:t>
            </a:r>
            <a:r>
              <a:rPr lang="ko-KR" altLang="en-US" sz="1300" b="1" dirty="0">
                <a:solidFill>
                  <a:srgbClr val="1E2761"/>
                </a:solidFill>
                <a:latin typeface="Pretendard" pitchFamily="34" charset="0"/>
                <a:ea typeface="Pretendard" pitchFamily="34" charset="-122"/>
                <a:cs typeface="Pretendard" pitchFamily="34" charset="-120"/>
              </a:rPr>
              <a:t>명에서 </a:t>
            </a:r>
            <a:r>
              <a:rPr lang="en-US" altLang="ko-KR" sz="1300" b="1" dirty="0">
                <a:solidFill>
                  <a:srgbClr val="1E2761"/>
                </a:solidFill>
                <a:latin typeface="Pretendard" pitchFamily="34" charset="0"/>
                <a:ea typeface="Pretendard" pitchFamily="34" charset="-122"/>
                <a:cs typeface="Pretendard" pitchFamily="34" charset="-120"/>
              </a:rPr>
              <a:t>2024</a:t>
            </a:r>
            <a:r>
              <a:rPr lang="ko-KR" altLang="en-US" sz="1300" b="1" dirty="0">
                <a:solidFill>
                  <a:srgbClr val="1E2761"/>
                </a:solidFill>
                <a:latin typeface="Pretendard" pitchFamily="34" charset="0"/>
                <a:ea typeface="Pretendard" pitchFamily="34" charset="-122"/>
                <a:cs typeface="Pretendard" pitchFamily="34" charset="-120"/>
              </a:rPr>
              <a:t>년 </a:t>
            </a:r>
            <a:r>
              <a:rPr lang="en-US" altLang="ko-KR" sz="1300" b="1" dirty="0">
                <a:solidFill>
                  <a:srgbClr val="1E2761"/>
                </a:solidFill>
                <a:latin typeface="Pretendard" pitchFamily="34" charset="0"/>
                <a:ea typeface="Pretendard" pitchFamily="34" charset="-122"/>
                <a:cs typeface="Pretendard" pitchFamily="34" charset="-120"/>
              </a:rPr>
              <a:t>54</a:t>
            </a:r>
            <a:r>
              <a:rPr lang="ko-KR" altLang="en-US" sz="1300" b="1" dirty="0">
                <a:solidFill>
                  <a:srgbClr val="1E2761"/>
                </a:solidFill>
                <a:latin typeface="Pretendard" pitchFamily="34" charset="0"/>
                <a:ea typeface="Pretendard" pitchFamily="34" charset="-122"/>
                <a:cs typeface="Pretendard" pitchFamily="34" charset="-120"/>
              </a:rPr>
              <a:t>명으로 줄었다가 </a:t>
            </a:r>
            <a:r>
              <a:rPr lang="en-US" altLang="ko-KR" sz="1300" b="1" dirty="0">
                <a:solidFill>
                  <a:srgbClr val="1E2761"/>
                </a:solidFill>
                <a:latin typeface="Pretendard" pitchFamily="34" charset="0"/>
                <a:ea typeface="Pretendard" pitchFamily="34" charset="-122"/>
                <a:cs typeface="Pretendard" pitchFamily="34" charset="-120"/>
              </a:rPr>
              <a:t>2025</a:t>
            </a:r>
            <a:r>
              <a:rPr lang="ko-KR" altLang="en-US" sz="1300" b="1" dirty="0">
                <a:solidFill>
                  <a:srgbClr val="1E2761"/>
                </a:solidFill>
                <a:latin typeface="Pretendard" pitchFamily="34" charset="0"/>
                <a:ea typeface="Pretendard" pitchFamily="34" charset="-122"/>
                <a:cs typeface="Pretendard" pitchFamily="34" charset="-120"/>
              </a:rPr>
              <a:t>년 </a:t>
            </a:r>
            <a:r>
              <a:rPr lang="en-US" altLang="ko-KR" sz="1300" b="1" dirty="0">
                <a:solidFill>
                  <a:srgbClr val="1E2761"/>
                </a:solidFill>
                <a:latin typeface="Pretendard" pitchFamily="34" charset="0"/>
                <a:ea typeface="Pretendard" pitchFamily="34" charset="-122"/>
                <a:cs typeface="Pretendard" pitchFamily="34" charset="-120"/>
              </a:rPr>
              <a:t>76</a:t>
            </a:r>
            <a:r>
              <a:rPr lang="ko-KR" altLang="en-US" sz="1300" b="1" dirty="0">
                <a:solidFill>
                  <a:srgbClr val="1E2761"/>
                </a:solidFill>
                <a:latin typeface="Pretendard" pitchFamily="34" charset="0"/>
                <a:ea typeface="Pretendard" pitchFamily="34" charset="-122"/>
                <a:cs typeface="Pretendard" pitchFamily="34" charset="-120"/>
              </a:rPr>
              <a:t>명으로 늘었다</a:t>
            </a:r>
          </a:p>
        </p:txBody>
      </p:sp>
      <p:sp>
        <p:nvSpPr>
          <p:cNvPr id="8" name="Text 6"/>
          <p:cNvSpPr/>
          <p:nvPr/>
        </p:nvSpPr>
        <p:spPr>
          <a:xfrm>
            <a:off x="731520" y="2084832"/>
            <a:ext cx="5120640" cy="274320"/>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검찰 단계에서 소년부 송치</a:t>
            </a:r>
            <a:endParaRPr lang="en-US" sz="1300" dirty="0"/>
          </a:p>
        </p:txBody>
      </p:sp>
      <p:sp>
        <p:nvSpPr>
          <p:cNvPr id="9" name="Text 7"/>
          <p:cNvSpPr/>
          <p:nvPr/>
        </p:nvSpPr>
        <p:spPr>
          <a:xfrm>
            <a:off x="731520" y="2359152"/>
            <a:ext cx="5120640" cy="237744"/>
          </a:xfrm>
          <a:prstGeom prst="rect">
            <a:avLst/>
          </a:prstGeom>
          <a:noFill/>
          <a:ln/>
        </p:spPr>
        <p:txBody>
          <a:bodyPr wrap="square" lIns="0" tIns="0" rIns="0" bIns="0" rtlCol="0" anchor="ctr"/>
          <a:lstStyle/>
          <a:p>
            <a:pPr marL="0" indent="0">
              <a:buNone/>
            </a:pPr>
            <a:r>
              <a:rPr lang="en-US" sz="1050" dirty="0">
                <a:solidFill>
                  <a:srgbClr val="6E7686"/>
                </a:solidFill>
                <a:latin typeface="Pretendard" pitchFamily="34" charset="0"/>
                <a:ea typeface="Pretendard" pitchFamily="34" charset="-122"/>
                <a:cs typeface="Pretendard" pitchFamily="34" charset="-120"/>
              </a:rPr>
              <a:t>검찰 → 법원 소년부   |   2009~2025년   |   단위 명</a:t>
            </a:r>
            <a:endParaRPr lang="en-US" sz="1050" dirty="0"/>
          </a:p>
        </p:txBody>
      </p:sp>
      <p:sp>
        <p:nvSpPr>
          <p:cNvPr id="10" name="Shape 8"/>
          <p:cNvSpPr/>
          <p:nvPr/>
        </p:nvSpPr>
        <p:spPr>
          <a:xfrm>
            <a:off x="1371600" y="4590288"/>
            <a:ext cx="4480560" cy="0"/>
          </a:xfrm>
          <a:prstGeom prst="line">
            <a:avLst/>
          </a:prstGeom>
          <a:noFill/>
          <a:ln w="15875">
            <a:solidFill>
              <a:srgbClr val="DCE0E8"/>
            </a:solidFill>
            <a:prstDash val="solid"/>
          </a:ln>
        </p:spPr>
        <p:txBody>
          <a:bodyPr/>
          <a:lstStyle/>
          <a:p>
            <a:endParaRPr lang="ko-KR" altLang="en-US"/>
          </a:p>
        </p:txBody>
      </p:sp>
      <p:sp>
        <p:nvSpPr>
          <p:cNvPr id="11" name="Text 9"/>
          <p:cNvSpPr/>
          <p:nvPr/>
        </p:nvSpPr>
        <p:spPr>
          <a:xfrm>
            <a:off x="804672" y="4489704"/>
            <a:ext cx="493776" cy="201168"/>
          </a:xfrm>
          <a:prstGeom prst="rect">
            <a:avLst/>
          </a:prstGeom>
          <a:noFill/>
          <a:ln/>
        </p:spPr>
        <p:txBody>
          <a:bodyPr wrap="square" lIns="0" tIns="0" rIns="0" bIns="0" rtlCol="0" anchor="ctr"/>
          <a:lstStyle/>
          <a:p>
            <a:pPr marL="0" indent="0" algn="r">
              <a:buNone/>
            </a:pPr>
            <a:r>
              <a:rPr lang="en-US" sz="1000" dirty="0">
                <a:solidFill>
                  <a:srgbClr val="6E7686"/>
                </a:solidFill>
                <a:latin typeface="Pretendard" pitchFamily="34" charset="0"/>
                <a:ea typeface="Pretendard" pitchFamily="34" charset="-122"/>
                <a:cs typeface="Pretendard" pitchFamily="34" charset="-120"/>
              </a:rPr>
              <a:t>0</a:t>
            </a:r>
            <a:endParaRPr lang="en-US" sz="1000" dirty="0"/>
          </a:p>
        </p:txBody>
      </p:sp>
      <p:sp>
        <p:nvSpPr>
          <p:cNvPr id="12" name="Shape 10"/>
          <p:cNvSpPr/>
          <p:nvPr/>
        </p:nvSpPr>
        <p:spPr>
          <a:xfrm>
            <a:off x="1371600" y="4165092"/>
            <a:ext cx="4480560" cy="0"/>
          </a:xfrm>
          <a:prstGeom prst="line">
            <a:avLst/>
          </a:prstGeom>
          <a:noFill/>
          <a:ln w="9525">
            <a:solidFill>
              <a:srgbClr val="DCE0E8"/>
            </a:solidFill>
            <a:prstDash val="solid"/>
          </a:ln>
        </p:spPr>
        <p:txBody>
          <a:bodyPr/>
          <a:lstStyle/>
          <a:p>
            <a:endParaRPr lang="ko-KR" altLang="en-US"/>
          </a:p>
        </p:txBody>
      </p:sp>
      <p:sp>
        <p:nvSpPr>
          <p:cNvPr id="13" name="Text 11"/>
          <p:cNvSpPr/>
          <p:nvPr/>
        </p:nvSpPr>
        <p:spPr>
          <a:xfrm>
            <a:off x="804672" y="4064508"/>
            <a:ext cx="493776" cy="201168"/>
          </a:xfrm>
          <a:prstGeom prst="rect">
            <a:avLst/>
          </a:prstGeom>
          <a:noFill/>
          <a:ln/>
        </p:spPr>
        <p:txBody>
          <a:bodyPr wrap="square" lIns="0" tIns="0" rIns="0" bIns="0" rtlCol="0" anchor="ctr"/>
          <a:lstStyle/>
          <a:p>
            <a:pPr marL="0" indent="0" algn="r">
              <a:buNone/>
            </a:pPr>
            <a:r>
              <a:rPr lang="en-US" sz="1000" dirty="0">
                <a:solidFill>
                  <a:srgbClr val="6E7686"/>
                </a:solidFill>
                <a:latin typeface="Pretendard" pitchFamily="34" charset="0"/>
                <a:ea typeface="Pretendard" pitchFamily="34" charset="-122"/>
                <a:cs typeface="Pretendard" pitchFamily="34" charset="-120"/>
              </a:rPr>
              <a:t>20</a:t>
            </a:r>
            <a:endParaRPr lang="en-US" sz="1000" dirty="0"/>
          </a:p>
        </p:txBody>
      </p:sp>
      <p:sp>
        <p:nvSpPr>
          <p:cNvPr id="14" name="Shape 12"/>
          <p:cNvSpPr/>
          <p:nvPr/>
        </p:nvSpPr>
        <p:spPr>
          <a:xfrm>
            <a:off x="1371600" y="3739896"/>
            <a:ext cx="4480560" cy="0"/>
          </a:xfrm>
          <a:prstGeom prst="line">
            <a:avLst/>
          </a:prstGeom>
          <a:noFill/>
          <a:ln w="9525">
            <a:solidFill>
              <a:srgbClr val="DCE0E8"/>
            </a:solidFill>
            <a:prstDash val="solid"/>
          </a:ln>
        </p:spPr>
        <p:txBody>
          <a:bodyPr/>
          <a:lstStyle/>
          <a:p>
            <a:endParaRPr lang="ko-KR" altLang="en-US"/>
          </a:p>
        </p:txBody>
      </p:sp>
      <p:sp>
        <p:nvSpPr>
          <p:cNvPr id="15" name="Text 13"/>
          <p:cNvSpPr/>
          <p:nvPr/>
        </p:nvSpPr>
        <p:spPr>
          <a:xfrm>
            <a:off x="804672" y="3639312"/>
            <a:ext cx="493776" cy="201168"/>
          </a:xfrm>
          <a:prstGeom prst="rect">
            <a:avLst/>
          </a:prstGeom>
          <a:noFill/>
          <a:ln/>
        </p:spPr>
        <p:txBody>
          <a:bodyPr wrap="square" lIns="0" tIns="0" rIns="0" bIns="0" rtlCol="0" anchor="ctr"/>
          <a:lstStyle/>
          <a:p>
            <a:pPr marL="0" indent="0" algn="r">
              <a:buNone/>
            </a:pPr>
            <a:r>
              <a:rPr lang="en-US" sz="1000" dirty="0">
                <a:solidFill>
                  <a:srgbClr val="6E7686"/>
                </a:solidFill>
                <a:latin typeface="Pretendard" pitchFamily="34" charset="0"/>
                <a:ea typeface="Pretendard" pitchFamily="34" charset="-122"/>
                <a:cs typeface="Pretendard" pitchFamily="34" charset="-120"/>
              </a:rPr>
              <a:t>40</a:t>
            </a:r>
            <a:endParaRPr lang="en-US" sz="1000" dirty="0"/>
          </a:p>
        </p:txBody>
      </p:sp>
      <p:sp>
        <p:nvSpPr>
          <p:cNvPr id="16" name="Shape 14"/>
          <p:cNvSpPr/>
          <p:nvPr/>
        </p:nvSpPr>
        <p:spPr>
          <a:xfrm>
            <a:off x="1371600" y="3314700"/>
            <a:ext cx="4480560" cy="0"/>
          </a:xfrm>
          <a:prstGeom prst="line">
            <a:avLst/>
          </a:prstGeom>
          <a:noFill/>
          <a:ln w="9525">
            <a:solidFill>
              <a:srgbClr val="DCE0E8"/>
            </a:solidFill>
            <a:prstDash val="solid"/>
          </a:ln>
        </p:spPr>
        <p:txBody>
          <a:bodyPr/>
          <a:lstStyle/>
          <a:p>
            <a:endParaRPr lang="ko-KR" altLang="en-US"/>
          </a:p>
        </p:txBody>
      </p:sp>
      <p:sp>
        <p:nvSpPr>
          <p:cNvPr id="17" name="Text 15"/>
          <p:cNvSpPr/>
          <p:nvPr/>
        </p:nvSpPr>
        <p:spPr>
          <a:xfrm>
            <a:off x="804672" y="3214116"/>
            <a:ext cx="493776" cy="201168"/>
          </a:xfrm>
          <a:prstGeom prst="rect">
            <a:avLst/>
          </a:prstGeom>
          <a:noFill/>
          <a:ln/>
        </p:spPr>
        <p:txBody>
          <a:bodyPr wrap="square" lIns="0" tIns="0" rIns="0" bIns="0" rtlCol="0" anchor="ctr"/>
          <a:lstStyle/>
          <a:p>
            <a:pPr marL="0" indent="0" algn="r">
              <a:buNone/>
            </a:pPr>
            <a:r>
              <a:rPr lang="en-US" sz="1000" dirty="0">
                <a:solidFill>
                  <a:srgbClr val="6E7686"/>
                </a:solidFill>
                <a:latin typeface="Pretendard" pitchFamily="34" charset="0"/>
                <a:ea typeface="Pretendard" pitchFamily="34" charset="-122"/>
                <a:cs typeface="Pretendard" pitchFamily="34" charset="-120"/>
              </a:rPr>
              <a:t>60</a:t>
            </a:r>
            <a:endParaRPr lang="en-US" sz="1000" dirty="0"/>
          </a:p>
        </p:txBody>
      </p:sp>
      <p:sp>
        <p:nvSpPr>
          <p:cNvPr id="18" name="Shape 16"/>
          <p:cNvSpPr/>
          <p:nvPr/>
        </p:nvSpPr>
        <p:spPr>
          <a:xfrm>
            <a:off x="1371600" y="2889504"/>
            <a:ext cx="4480560" cy="0"/>
          </a:xfrm>
          <a:prstGeom prst="line">
            <a:avLst/>
          </a:prstGeom>
          <a:noFill/>
          <a:ln w="9525">
            <a:solidFill>
              <a:srgbClr val="DCE0E8"/>
            </a:solidFill>
            <a:prstDash val="solid"/>
          </a:ln>
        </p:spPr>
        <p:txBody>
          <a:bodyPr/>
          <a:lstStyle/>
          <a:p>
            <a:endParaRPr lang="ko-KR" altLang="en-US"/>
          </a:p>
        </p:txBody>
      </p:sp>
      <p:sp>
        <p:nvSpPr>
          <p:cNvPr id="19" name="Text 17"/>
          <p:cNvSpPr/>
          <p:nvPr/>
        </p:nvSpPr>
        <p:spPr>
          <a:xfrm>
            <a:off x="804672" y="2788920"/>
            <a:ext cx="493776" cy="201168"/>
          </a:xfrm>
          <a:prstGeom prst="rect">
            <a:avLst/>
          </a:prstGeom>
          <a:noFill/>
          <a:ln/>
        </p:spPr>
        <p:txBody>
          <a:bodyPr wrap="square" lIns="0" tIns="0" rIns="0" bIns="0" rtlCol="0" anchor="ctr"/>
          <a:lstStyle/>
          <a:p>
            <a:pPr marL="0" indent="0" algn="r">
              <a:buNone/>
            </a:pPr>
            <a:r>
              <a:rPr lang="en-US" sz="1000" dirty="0">
                <a:solidFill>
                  <a:srgbClr val="6E7686"/>
                </a:solidFill>
                <a:latin typeface="Pretendard" pitchFamily="34" charset="0"/>
                <a:ea typeface="Pretendard" pitchFamily="34" charset="-122"/>
                <a:cs typeface="Pretendard" pitchFamily="34" charset="-120"/>
              </a:rPr>
              <a:t>80</a:t>
            </a:r>
            <a:endParaRPr lang="en-US" sz="1000" dirty="0"/>
          </a:p>
        </p:txBody>
      </p:sp>
      <p:sp>
        <p:nvSpPr>
          <p:cNvPr id="20" name="Shape 18"/>
          <p:cNvSpPr/>
          <p:nvPr/>
        </p:nvSpPr>
        <p:spPr>
          <a:xfrm>
            <a:off x="1371600" y="4569028"/>
            <a:ext cx="280035" cy="0"/>
          </a:xfrm>
          <a:prstGeom prst="line">
            <a:avLst/>
          </a:prstGeom>
          <a:noFill/>
          <a:ln w="25400">
            <a:solidFill>
              <a:srgbClr val="1E2761"/>
            </a:solidFill>
            <a:prstDash val="solid"/>
          </a:ln>
        </p:spPr>
        <p:txBody>
          <a:bodyPr/>
          <a:lstStyle/>
          <a:p>
            <a:endParaRPr lang="ko-KR" altLang="en-US"/>
          </a:p>
        </p:txBody>
      </p:sp>
      <p:sp>
        <p:nvSpPr>
          <p:cNvPr id="21" name="Shape 19"/>
          <p:cNvSpPr/>
          <p:nvPr/>
        </p:nvSpPr>
        <p:spPr>
          <a:xfrm>
            <a:off x="1651635" y="4569028"/>
            <a:ext cx="280035" cy="21260"/>
          </a:xfrm>
          <a:prstGeom prst="line">
            <a:avLst/>
          </a:prstGeom>
          <a:noFill/>
          <a:ln w="25400">
            <a:solidFill>
              <a:srgbClr val="1E2761"/>
            </a:solidFill>
            <a:prstDash val="solid"/>
          </a:ln>
        </p:spPr>
        <p:txBody>
          <a:bodyPr/>
          <a:lstStyle/>
          <a:p>
            <a:endParaRPr lang="ko-KR" altLang="en-US"/>
          </a:p>
        </p:txBody>
      </p:sp>
      <p:sp>
        <p:nvSpPr>
          <p:cNvPr id="22" name="Shape 20"/>
          <p:cNvSpPr/>
          <p:nvPr/>
        </p:nvSpPr>
        <p:spPr>
          <a:xfrm>
            <a:off x="1931670" y="4590288"/>
            <a:ext cx="280035" cy="0"/>
          </a:xfrm>
          <a:prstGeom prst="line">
            <a:avLst/>
          </a:prstGeom>
          <a:noFill/>
          <a:ln w="25400">
            <a:solidFill>
              <a:srgbClr val="1E2761"/>
            </a:solidFill>
            <a:prstDash val="solid"/>
          </a:ln>
        </p:spPr>
        <p:txBody>
          <a:bodyPr/>
          <a:lstStyle/>
          <a:p>
            <a:endParaRPr lang="ko-KR" altLang="en-US"/>
          </a:p>
        </p:txBody>
      </p:sp>
      <p:sp>
        <p:nvSpPr>
          <p:cNvPr id="23" name="Shape 21"/>
          <p:cNvSpPr/>
          <p:nvPr/>
        </p:nvSpPr>
        <p:spPr>
          <a:xfrm flipV="1">
            <a:off x="2211705" y="4526509"/>
            <a:ext cx="280035" cy="63779"/>
          </a:xfrm>
          <a:prstGeom prst="line">
            <a:avLst/>
          </a:prstGeom>
          <a:noFill/>
          <a:ln w="25400">
            <a:solidFill>
              <a:srgbClr val="1E2761"/>
            </a:solidFill>
            <a:prstDash val="solid"/>
          </a:ln>
        </p:spPr>
        <p:txBody>
          <a:bodyPr/>
          <a:lstStyle/>
          <a:p>
            <a:endParaRPr lang="ko-KR" altLang="en-US"/>
          </a:p>
        </p:txBody>
      </p:sp>
      <p:sp>
        <p:nvSpPr>
          <p:cNvPr id="24" name="Shape 22"/>
          <p:cNvSpPr/>
          <p:nvPr/>
        </p:nvSpPr>
        <p:spPr>
          <a:xfrm flipV="1">
            <a:off x="2491740" y="4313911"/>
            <a:ext cx="280035" cy="212598"/>
          </a:xfrm>
          <a:prstGeom prst="line">
            <a:avLst/>
          </a:prstGeom>
          <a:noFill/>
          <a:ln w="25400">
            <a:solidFill>
              <a:srgbClr val="1E2761"/>
            </a:solidFill>
            <a:prstDash val="solid"/>
          </a:ln>
        </p:spPr>
        <p:txBody>
          <a:bodyPr/>
          <a:lstStyle/>
          <a:p>
            <a:endParaRPr lang="ko-KR" altLang="en-US"/>
          </a:p>
        </p:txBody>
      </p:sp>
      <p:sp>
        <p:nvSpPr>
          <p:cNvPr id="25" name="Shape 23"/>
          <p:cNvSpPr/>
          <p:nvPr/>
        </p:nvSpPr>
        <p:spPr>
          <a:xfrm>
            <a:off x="2771775" y="4313911"/>
            <a:ext cx="280035" cy="233858"/>
          </a:xfrm>
          <a:prstGeom prst="line">
            <a:avLst/>
          </a:prstGeom>
          <a:noFill/>
          <a:ln w="25400">
            <a:solidFill>
              <a:srgbClr val="1E2761"/>
            </a:solidFill>
            <a:prstDash val="solid"/>
          </a:ln>
        </p:spPr>
        <p:txBody>
          <a:bodyPr/>
          <a:lstStyle/>
          <a:p>
            <a:endParaRPr lang="ko-KR" altLang="en-US"/>
          </a:p>
        </p:txBody>
      </p:sp>
      <p:sp>
        <p:nvSpPr>
          <p:cNvPr id="26" name="Shape 24"/>
          <p:cNvSpPr/>
          <p:nvPr/>
        </p:nvSpPr>
        <p:spPr>
          <a:xfrm>
            <a:off x="3051810" y="4547768"/>
            <a:ext cx="280035" cy="21260"/>
          </a:xfrm>
          <a:prstGeom prst="line">
            <a:avLst/>
          </a:prstGeom>
          <a:noFill/>
          <a:ln w="25400">
            <a:solidFill>
              <a:srgbClr val="1E2761"/>
            </a:solidFill>
            <a:prstDash val="solid"/>
          </a:ln>
        </p:spPr>
        <p:txBody>
          <a:bodyPr/>
          <a:lstStyle/>
          <a:p>
            <a:endParaRPr lang="ko-KR" altLang="en-US"/>
          </a:p>
        </p:txBody>
      </p:sp>
      <p:sp>
        <p:nvSpPr>
          <p:cNvPr id="27" name="Shape 25"/>
          <p:cNvSpPr/>
          <p:nvPr/>
        </p:nvSpPr>
        <p:spPr>
          <a:xfrm flipV="1">
            <a:off x="3331845" y="4462729"/>
            <a:ext cx="280035" cy="106299"/>
          </a:xfrm>
          <a:prstGeom prst="line">
            <a:avLst/>
          </a:prstGeom>
          <a:noFill/>
          <a:ln w="25400">
            <a:solidFill>
              <a:srgbClr val="1E2761"/>
            </a:solidFill>
            <a:prstDash val="solid"/>
          </a:ln>
        </p:spPr>
        <p:txBody>
          <a:bodyPr/>
          <a:lstStyle/>
          <a:p>
            <a:endParaRPr lang="ko-KR" altLang="en-US"/>
          </a:p>
        </p:txBody>
      </p:sp>
      <p:sp>
        <p:nvSpPr>
          <p:cNvPr id="28" name="Shape 26"/>
          <p:cNvSpPr/>
          <p:nvPr/>
        </p:nvSpPr>
        <p:spPr>
          <a:xfrm flipV="1">
            <a:off x="3611880" y="4356430"/>
            <a:ext cx="280035" cy="106299"/>
          </a:xfrm>
          <a:prstGeom prst="line">
            <a:avLst/>
          </a:prstGeom>
          <a:noFill/>
          <a:ln w="25400">
            <a:solidFill>
              <a:srgbClr val="1E2761"/>
            </a:solidFill>
            <a:prstDash val="solid"/>
          </a:ln>
        </p:spPr>
        <p:txBody>
          <a:bodyPr/>
          <a:lstStyle/>
          <a:p>
            <a:endParaRPr lang="ko-KR" altLang="en-US"/>
          </a:p>
        </p:txBody>
      </p:sp>
      <p:sp>
        <p:nvSpPr>
          <p:cNvPr id="29" name="Shape 27"/>
          <p:cNvSpPr/>
          <p:nvPr/>
        </p:nvSpPr>
        <p:spPr>
          <a:xfrm>
            <a:off x="3891915" y="4356430"/>
            <a:ext cx="280035" cy="21260"/>
          </a:xfrm>
          <a:prstGeom prst="line">
            <a:avLst/>
          </a:prstGeom>
          <a:noFill/>
          <a:ln w="25400">
            <a:solidFill>
              <a:srgbClr val="1E2761"/>
            </a:solidFill>
            <a:prstDash val="solid"/>
          </a:ln>
        </p:spPr>
        <p:txBody>
          <a:bodyPr/>
          <a:lstStyle/>
          <a:p>
            <a:endParaRPr lang="ko-KR" altLang="en-US"/>
          </a:p>
        </p:txBody>
      </p:sp>
      <p:sp>
        <p:nvSpPr>
          <p:cNvPr id="30" name="Shape 28"/>
          <p:cNvSpPr/>
          <p:nvPr/>
        </p:nvSpPr>
        <p:spPr>
          <a:xfrm flipV="1">
            <a:off x="4171950" y="4313911"/>
            <a:ext cx="280035" cy="63779"/>
          </a:xfrm>
          <a:prstGeom prst="line">
            <a:avLst/>
          </a:prstGeom>
          <a:noFill/>
          <a:ln w="25400">
            <a:solidFill>
              <a:srgbClr val="1E2761"/>
            </a:solidFill>
            <a:prstDash val="solid"/>
          </a:ln>
        </p:spPr>
        <p:txBody>
          <a:bodyPr/>
          <a:lstStyle/>
          <a:p>
            <a:endParaRPr lang="ko-KR" altLang="en-US"/>
          </a:p>
        </p:txBody>
      </p:sp>
      <p:sp>
        <p:nvSpPr>
          <p:cNvPr id="31" name="Shape 29"/>
          <p:cNvSpPr/>
          <p:nvPr/>
        </p:nvSpPr>
        <p:spPr>
          <a:xfrm flipV="1">
            <a:off x="4451985" y="4037533"/>
            <a:ext cx="280035" cy="276377"/>
          </a:xfrm>
          <a:prstGeom prst="line">
            <a:avLst/>
          </a:prstGeom>
          <a:noFill/>
          <a:ln w="25400">
            <a:solidFill>
              <a:srgbClr val="1E2761"/>
            </a:solidFill>
            <a:prstDash val="solid"/>
          </a:ln>
        </p:spPr>
        <p:txBody>
          <a:bodyPr/>
          <a:lstStyle/>
          <a:p>
            <a:endParaRPr lang="ko-KR" altLang="en-US"/>
          </a:p>
        </p:txBody>
      </p:sp>
      <p:sp>
        <p:nvSpPr>
          <p:cNvPr id="32" name="Shape 30"/>
          <p:cNvSpPr/>
          <p:nvPr/>
        </p:nvSpPr>
        <p:spPr>
          <a:xfrm>
            <a:off x="4732020" y="4037533"/>
            <a:ext cx="280035" cy="85039"/>
          </a:xfrm>
          <a:prstGeom prst="line">
            <a:avLst/>
          </a:prstGeom>
          <a:noFill/>
          <a:ln w="25400">
            <a:solidFill>
              <a:srgbClr val="1E2761"/>
            </a:solidFill>
            <a:prstDash val="solid"/>
          </a:ln>
        </p:spPr>
        <p:txBody>
          <a:bodyPr/>
          <a:lstStyle/>
          <a:p>
            <a:endParaRPr lang="ko-KR" altLang="en-US"/>
          </a:p>
        </p:txBody>
      </p:sp>
      <p:sp>
        <p:nvSpPr>
          <p:cNvPr id="33" name="Shape 31"/>
          <p:cNvSpPr/>
          <p:nvPr/>
        </p:nvSpPr>
        <p:spPr>
          <a:xfrm flipV="1">
            <a:off x="5012055" y="2932024"/>
            <a:ext cx="280035" cy="1190549"/>
          </a:xfrm>
          <a:prstGeom prst="line">
            <a:avLst/>
          </a:prstGeom>
          <a:noFill/>
          <a:ln w="25400">
            <a:solidFill>
              <a:srgbClr val="1E2761"/>
            </a:solidFill>
            <a:prstDash val="solid"/>
          </a:ln>
        </p:spPr>
        <p:txBody>
          <a:bodyPr/>
          <a:lstStyle/>
          <a:p>
            <a:endParaRPr lang="ko-KR" altLang="en-US"/>
          </a:p>
        </p:txBody>
      </p:sp>
      <p:sp>
        <p:nvSpPr>
          <p:cNvPr id="34" name="Shape 32"/>
          <p:cNvSpPr/>
          <p:nvPr/>
        </p:nvSpPr>
        <p:spPr>
          <a:xfrm>
            <a:off x="5292090" y="2932024"/>
            <a:ext cx="280035" cy="510235"/>
          </a:xfrm>
          <a:prstGeom prst="line">
            <a:avLst/>
          </a:prstGeom>
          <a:noFill/>
          <a:ln w="25400">
            <a:solidFill>
              <a:srgbClr val="1E2761"/>
            </a:solidFill>
            <a:prstDash val="solid"/>
          </a:ln>
        </p:spPr>
        <p:txBody>
          <a:bodyPr/>
          <a:lstStyle/>
          <a:p>
            <a:endParaRPr lang="ko-KR" altLang="en-US"/>
          </a:p>
        </p:txBody>
      </p:sp>
      <p:sp>
        <p:nvSpPr>
          <p:cNvPr id="35" name="Shape 33"/>
          <p:cNvSpPr/>
          <p:nvPr/>
        </p:nvSpPr>
        <p:spPr>
          <a:xfrm flipV="1">
            <a:off x="5572125" y="2974543"/>
            <a:ext cx="280035" cy="467716"/>
          </a:xfrm>
          <a:prstGeom prst="line">
            <a:avLst/>
          </a:prstGeom>
          <a:noFill/>
          <a:ln w="25400">
            <a:solidFill>
              <a:srgbClr val="1E2761"/>
            </a:solidFill>
            <a:prstDash val="solid"/>
          </a:ln>
        </p:spPr>
        <p:txBody>
          <a:bodyPr/>
          <a:lstStyle/>
          <a:p>
            <a:endParaRPr lang="ko-KR" altLang="en-US"/>
          </a:p>
        </p:txBody>
      </p:sp>
      <p:sp>
        <p:nvSpPr>
          <p:cNvPr id="36" name="Shape 34"/>
          <p:cNvSpPr/>
          <p:nvPr/>
        </p:nvSpPr>
        <p:spPr>
          <a:xfrm>
            <a:off x="1321308" y="4518736"/>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37" name="Shape 35"/>
          <p:cNvSpPr/>
          <p:nvPr/>
        </p:nvSpPr>
        <p:spPr>
          <a:xfrm>
            <a:off x="1601343" y="4518736"/>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38" name="Shape 36"/>
          <p:cNvSpPr/>
          <p:nvPr/>
        </p:nvSpPr>
        <p:spPr>
          <a:xfrm>
            <a:off x="1881378" y="4539996"/>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39" name="Shape 37"/>
          <p:cNvSpPr/>
          <p:nvPr/>
        </p:nvSpPr>
        <p:spPr>
          <a:xfrm>
            <a:off x="2161413" y="4539996"/>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40" name="Shape 38"/>
          <p:cNvSpPr/>
          <p:nvPr/>
        </p:nvSpPr>
        <p:spPr>
          <a:xfrm>
            <a:off x="2441448" y="4476217"/>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41" name="Shape 39"/>
          <p:cNvSpPr/>
          <p:nvPr/>
        </p:nvSpPr>
        <p:spPr>
          <a:xfrm>
            <a:off x="2721483" y="4263619"/>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42" name="Shape 40"/>
          <p:cNvSpPr/>
          <p:nvPr/>
        </p:nvSpPr>
        <p:spPr>
          <a:xfrm>
            <a:off x="3001518" y="4497476"/>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43" name="Shape 41"/>
          <p:cNvSpPr/>
          <p:nvPr/>
        </p:nvSpPr>
        <p:spPr>
          <a:xfrm>
            <a:off x="3281553" y="4518736"/>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44" name="Shape 42"/>
          <p:cNvSpPr/>
          <p:nvPr/>
        </p:nvSpPr>
        <p:spPr>
          <a:xfrm>
            <a:off x="3561588" y="4412437"/>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45" name="Shape 43"/>
          <p:cNvSpPr/>
          <p:nvPr/>
        </p:nvSpPr>
        <p:spPr>
          <a:xfrm>
            <a:off x="3841623" y="4306138"/>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46" name="Shape 44"/>
          <p:cNvSpPr/>
          <p:nvPr/>
        </p:nvSpPr>
        <p:spPr>
          <a:xfrm>
            <a:off x="4121658" y="4327398"/>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47" name="Shape 45"/>
          <p:cNvSpPr/>
          <p:nvPr/>
        </p:nvSpPr>
        <p:spPr>
          <a:xfrm>
            <a:off x="4401693" y="4263619"/>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48" name="Shape 46"/>
          <p:cNvSpPr/>
          <p:nvPr/>
        </p:nvSpPr>
        <p:spPr>
          <a:xfrm>
            <a:off x="4681728" y="3987241"/>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49" name="Shape 47"/>
          <p:cNvSpPr/>
          <p:nvPr/>
        </p:nvSpPr>
        <p:spPr>
          <a:xfrm>
            <a:off x="4961763" y="4072280"/>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50" name="Shape 48"/>
          <p:cNvSpPr/>
          <p:nvPr/>
        </p:nvSpPr>
        <p:spPr>
          <a:xfrm>
            <a:off x="5241798" y="2881732"/>
            <a:ext cx="100584" cy="100584"/>
          </a:xfrm>
          <a:prstGeom prst="ellipse">
            <a:avLst/>
          </a:prstGeom>
          <a:solidFill>
            <a:srgbClr val="C2A648"/>
          </a:solidFill>
          <a:ln w="12700">
            <a:solidFill>
              <a:srgbClr val="C2A648"/>
            </a:solidFill>
            <a:prstDash val="solid"/>
          </a:ln>
        </p:spPr>
        <p:txBody>
          <a:bodyPr/>
          <a:lstStyle/>
          <a:p>
            <a:endParaRPr lang="ko-KR" altLang="en-US"/>
          </a:p>
        </p:txBody>
      </p:sp>
      <p:sp>
        <p:nvSpPr>
          <p:cNvPr id="51" name="Text 49"/>
          <p:cNvSpPr/>
          <p:nvPr/>
        </p:nvSpPr>
        <p:spPr>
          <a:xfrm>
            <a:off x="4880610" y="2566264"/>
            <a:ext cx="822960" cy="237744"/>
          </a:xfrm>
          <a:prstGeom prst="rect">
            <a:avLst/>
          </a:prstGeom>
          <a:noFill/>
          <a:ln/>
        </p:spPr>
        <p:txBody>
          <a:bodyPr wrap="square" lIns="0" tIns="0" rIns="0" bIns="0" rtlCol="0" anchor="ctr"/>
          <a:lstStyle/>
          <a:p>
            <a:pPr marL="0" indent="0" algn="ctr">
              <a:buNone/>
            </a:pPr>
            <a:r>
              <a:rPr lang="en-US" sz="1100" b="1" dirty="0">
                <a:solidFill>
                  <a:srgbClr val="1E2761"/>
                </a:solidFill>
                <a:latin typeface="Pretendard" pitchFamily="34" charset="0"/>
                <a:ea typeface="Pretendard" pitchFamily="34" charset="-122"/>
                <a:cs typeface="Pretendard" pitchFamily="34" charset="-120"/>
              </a:rPr>
              <a:t>78</a:t>
            </a:r>
            <a:endParaRPr lang="en-US" sz="1100" dirty="0"/>
          </a:p>
        </p:txBody>
      </p:sp>
      <p:sp>
        <p:nvSpPr>
          <p:cNvPr id="52" name="Shape 50"/>
          <p:cNvSpPr/>
          <p:nvPr/>
        </p:nvSpPr>
        <p:spPr>
          <a:xfrm>
            <a:off x="5521833" y="3391967"/>
            <a:ext cx="100584" cy="100584"/>
          </a:xfrm>
          <a:prstGeom prst="ellipse">
            <a:avLst/>
          </a:prstGeom>
          <a:solidFill>
            <a:srgbClr val="C2A648"/>
          </a:solidFill>
          <a:ln w="12700">
            <a:solidFill>
              <a:srgbClr val="C2A648"/>
            </a:solidFill>
            <a:prstDash val="solid"/>
          </a:ln>
        </p:spPr>
        <p:txBody>
          <a:bodyPr/>
          <a:lstStyle/>
          <a:p>
            <a:endParaRPr lang="ko-KR" altLang="en-US"/>
          </a:p>
        </p:txBody>
      </p:sp>
      <p:sp>
        <p:nvSpPr>
          <p:cNvPr id="53" name="Text 51"/>
          <p:cNvSpPr/>
          <p:nvPr/>
        </p:nvSpPr>
        <p:spPr>
          <a:xfrm>
            <a:off x="5160645" y="3076499"/>
            <a:ext cx="822960" cy="237744"/>
          </a:xfrm>
          <a:prstGeom prst="rect">
            <a:avLst/>
          </a:prstGeom>
          <a:noFill/>
          <a:ln/>
        </p:spPr>
        <p:txBody>
          <a:bodyPr wrap="square" lIns="0" tIns="0" rIns="0" bIns="0" rtlCol="0" anchor="ctr"/>
          <a:lstStyle/>
          <a:p>
            <a:pPr marL="0" indent="0" algn="ctr">
              <a:buNone/>
            </a:pPr>
            <a:r>
              <a:rPr lang="en-US" sz="1100" b="1" dirty="0">
                <a:solidFill>
                  <a:srgbClr val="1E2761"/>
                </a:solidFill>
                <a:latin typeface="Pretendard" pitchFamily="34" charset="0"/>
                <a:ea typeface="Pretendard" pitchFamily="34" charset="-122"/>
                <a:cs typeface="Pretendard" pitchFamily="34" charset="-120"/>
              </a:rPr>
              <a:t>54</a:t>
            </a:r>
            <a:endParaRPr lang="en-US" sz="1100" dirty="0"/>
          </a:p>
        </p:txBody>
      </p:sp>
      <p:sp>
        <p:nvSpPr>
          <p:cNvPr id="54" name="Shape 52"/>
          <p:cNvSpPr/>
          <p:nvPr/>
        </p:nvSpPr>
        <p:spPr>
          <a:xfrm>
            <a:off x="5801868" y="2924251"/>
            <a:ext cx="100584" cy="100584"/>
          </a:xfrm>
          <a:prstGeom prst="ellipse">
            <a:avLst/>
          </a:prstGeom>
          <a:solidFill>
            <a:srgbClr val="C2A648"/>
          </a:solidFill>
          <a:ln w="12700">
            <a:solidFill>
              <a:srgbClr val="C2A648"/>
            </a:solidFill>
            <a:prstDash val="solid"/>
          </a:ln>
        </p:spPr>
        <p:txBody>
          <a:bodyPr/>
          <a:lstStyle/>
          <a:p>
            <a:endParaRPr lang="ko-KR" altLang="en-US"/>
          </a:p>
        </p:txBody>
      </p:sp>
      <p:sp>
        <p:nvSpPr>
          <p:cNvPr id="55" name="Text 53"/>
          <p:cNvSpPr/>
          <p:nvPr/>
        </p:nvSpPr>
        <p:spPr>
          <a:xfrm>
            <a:off x="5440680" y="2608783"/>
            <a:ext cx="822960" cy="237744"/>
          </a:xfrm>
          <a:prstGeom prst="rect">
            <a:avLst/>
          </a:prstGeom>
          <a:noFill/>
          <a:ln/>
        </p:spPr>
        <p:txBody>
          <a:bodyPr wrap="square" lIns="0" tIns="0" rIns="0" bIns="0" rtlCol="0" anchor="ctr"/>
          <a:lstStyle/>
          <a:p>
            <a:pPr marL="0" indent="0" algn="ctr">
              <a:buNone/>
            </a:pPr>
            <a:r>
              <a:rPr lang="en-US" sz="1100" b="1" dirty="0">
                <a:solidFill>
                  <a:srgbClr val="1E2761"/>
                </a:solidFill>
                <a:latin typeface="Pretendard" pitchFamily="34" charset="0"/>
                <a:ea typeface="Pretendard" pitchFamily="34" charset="-122"/>
                <a:cs typeface="Pretendard" pitchFamily="34" charset="-120"/>
              </a:rPr>
              <a:t>76</a:t>
            </a:r>
            <a:endParaRPr lang="en-US" sz="1100" dirty="0"/>
          </a:p>
        </p:txBody>
      </p:sp>
      <p:sp>
        <p:nvSpPr>
          <p:cNvPr id="56" name="Text 54"/>
          <p:cNvSpPr/>
          <p:nvPr/>
        </p:nvSpPr>
        <p:spPr>
          <a:xfrm>
            <a:off x="960120" y="4645152"/>
            <a:ext cx="822960" cy="219456"/>
          </a:xfrm>
          <a:prstGeom prst="rect">
            <a:avLst/>
          </a:prstGeom>
          <a:noFill/>
          <a:ln/>
        </p:spPr>
        <p:txBody>
          <a:bodyPr wrap="square" lIns="0" tIns="0" rIns="0" bIns="0" rtlCol="0" anchor="ctr"/>
          <a:lstStyle/>
          <a:p>
            <a:pPr marL="0" indent="0" algn="ctr">
              <a:buNone/>
            </a:pPr>
            <a:r>
              <a:rPr lang="en-US" sz="1000" dirty="0">
                <a:solidFill>
                  <a:srgbClr val="6E7686"/>
                </a:solidFill>
                <a:latin typeface="Pretendard" pitchFamily="34" charset="0"/>
                <a:ea typeface="Pretendard" pitchFamily="34" charset="-122"/>
                <a:cs typeface="Pretendard" pitchFamily="34" charset="-120"/>
              </a:rPr>
              <a:t>2009</a:t>
            </a:r>
            <a:endParaRPr lang="en-US" sz="1000" dirty="0"/>
          </a:p>
        </p:txBody>
      </p:sp>
      <p:sp>
        <p:nvSpPr>
          <p:cNvPr id="57" name="Text 55"/>
          <p:cNvSpPr/>
          <p:nvPr/>
        </p:nvSpPr>
        <p:spPr>
          <a:xfrm>
            <a:off x="5824074" y="4654068"/>
            <a:ext cx="320040" cy="219456"/>
          </a:xfrm>
          <a:prstGeom prst="rect">
            <a:avLst/>
          </a:prstGeom>
          <a:noFill/>
          <a:ln/>
        </p:spPr>
        <p:txBody>
          <a:bodyPr wrap="square" lIns="0" tIns="0" rIns="0" bIns="0" rtlCol="0" anchor="ctr"/>
          <a:lstStyle/>
          <a:p>
            <a:pPr marL="0" indent="0" algn="ctr">
              <a:buNone/>
            </a:pPr>
            <a:r>
              <a:rPr lang="en-US" sz="1000" dirty="0">
                <a:solidFill>
                  <a:srgbClr val="6E7686"/>
                </a:solidFill>
                <a:latin typeface="Pretendard" pitchFamily="34" charset="0"/>
                <a:ea typeface="Pretendard" pitchFamily="34" charset="-122"/>
                <a:cs typeface="Pretendard" pitchFamily="34" charset="-120"/>
              </a:rPr>
              <a:t>2025</a:t>
            </a:r>
            <a:endParaRPr lang="en-US" sz="1000" dirty="0"/>
          </a:p>
        </p:txBody>
      </p:sp>
      <p:sp>
        <p:nvSpPr>
          <p:cNvPr id="58" name="Text 56"/>
          <p:cNvSpPr/>
          <p:nvPr/>
        </p:nvSpPr>
        <p:spPr>
          <a:xfrm>
            <a:off x="6245352" y="2084832"/>
            <a:ext cx="5120640" cy="274320"/>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형사재판 중 소년부 송치</a:t>
            </a:r>
            <a:endParaRPr lang="en-US" sz="1300" dirty="0"/>
          </a:p>
        </p:txBody>
      </p:sp>
      <p:sp>
        <p:nvSpPr>
          <p:cNvPr id="59" name="Text 57"/>
          <p:cNvSpPr/>
          <p:nvPr/>
        </p:nvSpPr>
        <p:spPr>
          <a:xfrm>
            <a:off x="6245352" y="2359152"/>
            <a:ext cx="5120640" cy="237744"/>
          </a:xfrm>
          <a:prstGeom prst="rect">
            <a:avLst/>
          </a:prstGeom>
          <a:noFill/>
          <a:ln/>
        </p:spPr>
        <p:txBody>
          <a:bodyPr wrap="square" lIns="0" tIns="0" rIns="0" bIns="0" rtlCol="0" anchor="ctr"/>
          <a:lstStyle/>
          <a:p>
            <a:pPr marL="0" indent="0">
              <a:buNone/>
            </a:pPr>
            <a:r>
              <a:rPr lang="en-US" sz="1050" dirty="0">
                <a:solidFill>
                  <a:srgbClr val="6E7686"/>
                </a:solidFill>
                <a:latin typeface="Pretendard" pitchFamily="34" charset="0"/>
                <a:ea typeface="Pretendard" pitchFamily="34" charset="-122"/>
                <a:cs typeface="Pretendard" pitchFamily="34" charset="-120"/>
              </a:rPr>
              <a:t>기소 → 형사법원 → 소년부   |   2009~2024년   |   단위 명</a:t>
            </a:r>
            <a:endParaRPr lang="en-US" sz="1050" dirty="0"/>
          </a:p>
        </p:txBody>
      </p:sp>
      <p:sp>
        <p:nvSpPr>
          <p:cNvPr id="60" name="Shape 58"/>
          <p:cNvSpPr/>
          <p:nvPr/>
        </p:nvSpPr>
        <p:spPr>
          <a:xfrm>
            <a:off x="6885432" y="4590288"/>
            <a:ext cx="4480560" cy="0"/>
          </a:xfrm>
          <a:prstGeom prst="line">
            <a:avLst/>
          </a:prstGeom>
          <a:noFill/>
          <a:ln w="15875">
            <a:solidFill>
              <a:srgbClr val="DCE0E8"/>
            </a:solidFill>
            <a:prstDash val="solid"/>
          </a:ln>
        </p:spPr>
        <p:txBody>
          <a:bodyPr/>
          <a:lstStyle/>
          <a:p>
            <a:endParaRPr lang="ko-KR" altLang="en-US"/>
          </a:p>
        </p:txBody>
      </p:sp>
      <p:sp>
        <p:nvSpPr>
          <p:cNvPr id="61" name="Text 59"/>
          <p:cNvSpPr/>
          <p:nvPr/>
        </p:nvSpPr>
        <p:spPr>
          <a:xfrm>
            <a:off x="6318504" y="4489704"/>
            <a:ext cx="493776" cy="201168"/>
          </a:xfrm>
          <a:prstGeom prst="rect">
            <a:avLst/>
          </a:prstGeom>
          <a:noFill/>
          <a:ln/>
        </p:spPr>
        <p:txBody>
          <a:bodyPr wrap="square" lIns="0" tIns="0" rIns="0" bIns="0" rtlCol="0" anchor="ctr"/>
          <a:lstStyle/>
          <a:p>
            <a:pPr marL="0" indent="0" algn="r">
              <a:buNone/>
            </a:pPr>
            <a:r>
              <a:rPr lang="en-US" sz="1000" dirty="0">
                <a:solidFill>
                  <a:srgbClr val="6E7686"/>
                </a:solidFill>
                <a:latin typeface="Pretendard" pitchFamily="34" charset="0"/>
                <a:ea typeface="Pretendard" pitchFamily="34" charset="-122"/>
                <a:cs typeface="Pretendard" pitchFamily="34" charset="-120"/>
              </a:rPr>
              <a:t>0</a:t>
            </a:r>
            <a:endParaRPr lang="en-US" sz="1000" dirty="0"/>
          </a:p>
        </p:txBody>
      </p:sp>
      <p:sp>
        <p:nvSpPr>
          <p:cNvPr id="62" name="Shape 60"/>
          <p:cNvSpPr/>
          <p:nvPr/>
        </p:nvSpPr>
        <p:spPr>
          <a:xfrm>
            <a:off x="6885432" y="4165092"/>
            <a:ext cx="4480560" cy="0"/>
          </a:xfrm>
          <a:prstGeom prst="line">
            <a:avLst/>
          </a:prstGeom>
          <a:noFill/>
          <a:ln w="9525">
            <a:solidFill>
              <a:srgbClr val="DCE0E8"/>
            </a:solidFill>
            <a:prstDash val="solid"/>
          </a:ln>
        </p:spPr>
        <p:txBody>
          <a:bodyPr/>
          <a:lstStyle/>
          <a:p>
            <a:endParaRPr lang="ko-KR" altLang="en-US"/>
          </a:p>
        </p:txBody>
      </p:sp>
      <p:sp>
        <p:nvSpPr>
          <p:cNvPr id="63" name="Text 61"/>
          <p:cNvSpPr/>
          <p:nvPr/>
        </p:nvSpPr>
        <p:spPr>
          <a:xfrm>
            <a:off x="6318504" y="4064508"/>
            <a:ext cx="493776" cy="201168"/>
          </a:xfrm>
          <a:prstGeom prst="rect">
            <a:avLst/>
          </a:prstGeom>
          <a:noFill/>
          <a:ln/>
        </p:spPr>
        <p:txBody>
          <a:bodyPr wrap="square" lIns="0" tIns="0" rIns="0" bIns="0" rtlCol="0" anchor="ctr"/>
          <a:lstStyle/>
          <a:p>
            <a:pPr marL="0" indent="0" algn="r">
              <a:buNone/>
            </a:pPr>
            <a:r>
              <a:rPr lang="en-US" sz="1000" dirty="0">
                <a:solidFill>
                  <a:srgbClr val="6E7686"/>
                </a:solidFill>
                <a:latin typeface="Pretendard" pitchFamily="34" charset="0"/>
                <a:ea typeface="Pretendard" pitchFamily="34" charset="-122"/>
                <a:cs typeface="Pretendard" pitchFamily="34" charset="-120"/>
              </a:rPr>
              <a:t>1</a:t>
            </a:r>
            <a:endParaRPr lang="en-US" sz="1000" dirty="0"/>
          </a:p>
        </p:txBody>
      </p:sp>
      <p:sp>
        <p:nvSpPr>
          <p:cNvPr id="64" name="Shape 62"/>
          <p:cNvSpPr/>
          <p:nvPr/>
        </p:nvSpPr>
        <p:spPr>
          <a:xfrm>
            <a:off x="6885432" y="3739896"/>
            <a:ext cx="4480560" cy="0"/>
          </a:xfrm>
          <a:prstGeom prst="line">
            <a:avLst/>
          </a:prstGeom>
          <a:noFill/>
          <a:ln w="9525">
            <a:solidFill>
              <a:srgbClr val="DCE0E8"/>
            </a:solidFill>
            <a:prstDash val="solid"/>
          </a:ln>
        </p:spPr>
        <p:txBody>
          <a:bodyPr/>
          <a:lstStyle/>
          <a:p>
            <a:endParaRPr lang="ko-KR" altLang="en-US"/>
          </a:p>
        </p:txBody>
      </p:sp>
      <p:sp>
        <p:nvSpPr>
          <p:cNvPr id="65" name="Text 63"/>
          <p:cNvSpPr/>
          <p:nvPr/>
        </p:nvSpPr>
        <p:spPr>
          <a:xfrm>
            <a:off x="6318504" y="3639312"/>
            <a:ext cx="493776" cy="201168"/>
          </a:xfrm>
          <a:prstGeom prst="rect">
            <a:avLst/>
          </a:prstGeom>
          <a:noFill/>
          <a:ln/>
        </p:spPr>
        <p:txBody>
          <a:bodyPr wrap="square" lIns="0" tIns="0" rIns="0" bIns="0" rtlCol="0" anchor="ctr"/>
          <a:lstStyle/>
          <a:p>
            <a:pPr marL="0" indent="0" algn="r">
              <a:buNone/>
            </a:pPr>
            <a:r>
              <a:rPr lang="en-US" sz="1000" dirty="0">
                <a:solidFill>
                  <a:srgbClr val="6E7686"/>
                </a:solidFill>
                <a:latin typeface="Pretendard" pitchFamily="34" charset="0"/>
                <a:ea typeface="Pretendard" pitchFamily="34" charset="-122"/>
                <a:cs typeface="Pretendard" pitchFamily="34" charset="-120"/>
              </a:rPr>
              <a:t>2</a:t>
            </a:r>
            <a:endParaRPr lang="en-US" sz="1000" dirty="0"/>
          </a:p>
        </p:txBody>
      </p:sp>
      <p:sp>
        <p:nvSpPr>
          <p:cNvPr id="66" name="Shape 64"/>
          <p:cNvSpPr/>
          <p:nvPr/>
        </p:nvSpPr>
        <p:spPr>
          <a:xfrm>
            <a:off x="6885432" y="3314700"/>
            <a:ext cx="4480560" cy="0"/>
          </a:xfrm>
          <a:prstGeom prst="line">
            <a:avLst/>
          </a:prstGeom>
          <a:noFill/>
          <a:ln w="9525">
            <a:solidFill>
              <a:srgbClr val="DCE0E8"/>
            </a:solidFill>
            <a:prstDash val="solid"/>
          </a:ln>
        </p:spPr>
        <p:txBody>
          <a:bodyPr/>
          <a:lstStyle/>
          <a:p>
            <a:endParaRPr lang="ko-KR" altLang="en-US"/>
          </a:p>
        </p:txBody>
      </p:sp>
      <p:sp>
        <p:nvSpPr>
          <p:cNvPr id="67" name="Text 65"/>
          <p:cNvSpPr/>
          <p:nvPr/>
        </p:nvSpPr>
        <p:spPr>
          <a:xfrm>
            <a:off x="6318504" y="3214116"/>
            <a:ext cx="493776" cy="201168"/>
          </a:xfrm>
          <a:prstGeom prst="rect">
            <a:avLst/>
          </a:prstGeom>
          <a:noFill/>
          <a:ln/>
        </p:spPr>
        <p:txBody>
          <a:bodyPr wrap="square" lIns="0" tIns="0" rIns="0" bIns="0" rtlCol="0" anchor="ctr"/>
          <a:lstStyle/>
          <a:p>
            <a:pPr marL="0" indent="0" algn="r">
              <a:buNone/>
            </a:pPr>
            <a:r>
              <a:rPr lang="en-US" sz="1000" dirty="0">
                <a:solidFill>
                  <a:srgbClr val="6E7686"/>
                </a:solidFill>
                <a:latin typeface="Pretendard" pitchFamily="34" charset="0"/>
                <a:ea typeface="Pretendard" pitchFamily="34" charset="-122"/>
                <a:cs typeface="Pretendard" pitchFamily="34" charset="-120"/>
              </a:rPr>
              <a:t>3</a:t>
            </a:r>
            <a:endParaRPr lang="en-US" sz="1000" dirty="0"/>
          </a:p>
        </p:txBody>
      </p:sp>
      <p:sp>
        <p:nvSpPr>
          <p:cNvPr id="68" name="Shape 66"/>
          <p:cNvSpPr/>
          <p:nvPr/>
        </p:nvSpPr>
        <p:spPr>
          <a:xfrm>
            <a:off x="6885432" y="2889504"/>
            <a:ext cx="4480560" cy="0"/>
          </a:xfrm>
          <a:prstGeom prst="line">
            <a:avLst/>
          </a:prstGeom>
          <a:noFill/>
          <a:ln w="9525">
            <a:solidFill>
              <a:srgbClr val="DCE0E8"/>
            </a:solidFill>
            <a:prstDash val="solid"/>
          </a:ln>
        </p:spPr>
        <p:txBody>
          <a:bodyPr/>
          <a:lstStyle/>
          <a:p>
            <a:endParaRPr lang="ko-KR" altLang="en-US"/>
          </a:p>
        </p:txBody>
      </p:sp>
      <p:sp>
        <p:nvSpPr>
          <p:cNvPr id="69" name="Text 67"/>
          <p:cNvSpPr/>
          <p:nvPr/>
        </p:nvSpPr>
        <p:spPr>
          <a:xfrm>
            <a:off x="6318504" y="2788920"/>
            <a:ext cx="493776" cy="201168"/>
          </a:xfrm>
          <a:prstGeom prst="rect">
            <a:avLst/>
          </a:prstGeom>
          <a:noFill/>
          <a:ln/>
        </p:spPr>
        <p:txBody>
          <a:bodyPr wrap="square" lIns="0" tIns="0" rIns="0" bIns="0" rtlCol="0" anchor="ctr"/>
          <a:lstStyle/>
          <a:p>
            <a:pPr marL="0" indent="0" algn="r">
              <a:buNone/>
            </a:pPr>
            <a:r>
              <a:rPr lang="en-US" sz="1000" dirty="0">
                <a:solidFill>
                  <a:srgbClr val="6E7686"/>
                </a:solidFill>
                <a:latin typeface="Pretendard" pitchFamily="34" charset="0"/>
                <a:ea typeface="Pretendard" pitchFamily="34" charset="-122"/>
                <a:cs typeface="Pretendard" pitchFamily="34" charset="-120"/>
              </a:rPr>
              <a:t>4</a:t>
            </a:r>
            <a:endParaRPr lang="en-US" sz="1000" dirty="0"/>
          </a:p>
        </p:txBody>
      </p:sp>
      <p:sp>
        <p:nvSpPr>
          <p:cNvPr id="70" name="Shape 68"/>
          <p:cNvSpPr/>
          <p:nvPr/>
        </p:nvSpPr>
        <p:spPr>
          <a:xfrm>
            <a:off x="6885432" y="4590288"/>
            <a:ext cx="298704" cy="0"/>
          </a:xfrm>
          <a:prstGeom prst="line">
            <a:avLst/>
          </a:prstGeom>
          <a:noFill/>
          <a:ln w="25400">
            <a:solidFill>
              <a:srgbClr val="1E2761"/>
            </a:solidFill>
            <a:prstDash val="solid"/>
          </a:ln>
        </p:spPr>
        <p:txBody>
          <a:bodyPr/>
          <a:lstStyle/>
          <a:p>
            <a:endParaRPr lang="ko-KR" altLang="en-US"/>
          </a:p>
        </p:txBody>
      </p:sp>
      <p:sp>
        <p:nvSpPr>
          <p:cNvPr id="71" name="Shape 69"/>
          <p:cNvSpPr/>
          <p:nvPr/>
        </p:nvSpPr>
        <p:spPr>
          <a:xfrm flipV="1">
            <a:off x="7184136" y="4165092"/>
            <a:ext cx="298704" cy="425196"/>
          </a:xfrm>
          <a:prstGeom prst="line">
            <a:avLst/>
          </a:prstGeom>
          <a:noFill/>
          <a:ln w="25400">
            <a:solidFill>
              <a:srgbClr val="1E2761"/>
            </a:solidFill>
            <a:prstDash val="solid"/>
          </a:ln>
        </p:spPr>
        <p:txBody>
          <a:bodyPr/>
          <a:lstStyle/>
          <a:p>
            <a:endParaRPr lang="ko-KR" altLang="en-US"/>
          </a:p>
        </p:txBody>
      </p:sp>
      <p:sp>
        <p:nvSpPr>
          <p:cNvPr id="72" name="Shape 70"/>
          <p:cNvSpPr/>
          <p:nvPr/>
        </p:nvSpPr>
        <p:spPr>
          <a:xfrm>
            <a:off x="7482840" y="4165092"/>
            <a:ext cx="298704" cy="425196"/>
          </a:xfrm>
          <a:prstGeom prst="line">
            <a:avLst/>
          </a:prstGeom>
          <a:noFill/>
          <a:ln w="25400">
            <a:solidFill>
              <a:srgbClr val="1E2761"/>
            </a:solidFill>
            <a:prstDash val="solid"/>
          </a:ln>
        </p:spPr>
        <p:txBody>
          <a:bodyPr/>
          <a:lstStyle/>
          <a:p>
            <a:endParaRPr lang="ko-KR" altLang="en-US"/>
          </a:p>
        </p:txBody>
      </p:sp>
      <p:sp>
        <p:nvSpPr>
          <p:cNvPr id="73" name="Shape 71"/>
          <p:cNvSpPr/>
          <p:nvPr/>
        </p:nvSpPr>
        <p:spPr>
          <a:xfrm flipV="1">
            <a:off x="7781544" y="4165092"/>
            <a:ext cx="298704" cy="425196"/>
          </a:xfrm>
          <a:prstGeom prst="line">
            <a:avLst/>
          </a:prstGeom>
          <a:noFill/>
          <a:ln w="25400">
            <a:solidFill>
              <a:srgbClr val="1E2761"/>
            </a:solidFill>
            <a:prstDash val="solid"/>
          </a:ln>
        </p:spPr>
        <p:txBody>
          <a:bodyPr/>
          <a:lstStyle/>
          <a:p>
            <a:endParaRPr lang="ko-KR" altLang="en-US"/>
          </a:p>
        </p:txBody>
      </p:sp>
      <p:sp>
        <p:nvSpPr>
          <p:cNvPr id="74" name="Shape 72"/>
          <p:cNvSpPr/>
          <p:nvPr/>
        </p:nvSpPr>
        <p:spPr>
          <a:xfrm flipV="1">
            <a:off x="8080248" y="3314700"/>
            <a:ext cx="298704" cy="850392"/>
          </a:xfrm>
          <a:prstGeom prst="line">
            <a:avLst/>
          </a:prstGeom>
          <a:noFill/>
          <a:ln w="25400">
            <a:solidFill>
              <a:srgbClr val="1E2761"/>
            </a:solidFill>
            <a:prstDash val="solid"/>
          </a:ln>
        </p:spPr>
        <p:txBody>
          <a:bodyPr/>
          <a:lstStyle/>
          <a:p>
            <a:endParaRPr lang="ko-KR" altLang="en-US"/>
          </a:p>
        </p:txBody>
      </p:sp>
      <p:sp>
        <p:nvSpPr>
          <p:cNvPr id="75" name="Shape 73"/>
          <p:cNvSpPr/>
          <p:nvPr/>
        </p:nvSpPr>
        <p:spPr>
          <a:xfrm>
            <a:off x="8378952" y="3314700"/>
            <a:ext cx="298704" cy="850392"/>
          </a:xfrm>
          <a:prstGeom prst="line">
            <a:avLst/>
          </a:prstGeom>
          <a:noFill/>
          <a:ln w="25400">
            <a:solidFill>
              <a:srgbClr val="1E2761"/>
            </a:solidFill>
            <a:prstDash val="solid"/>
          </a:ln>
        </p:spPr>
        <p:txBody>
          <a:bodyPr/>
          <a:lstStyle/>
          <a:p>
            <a:endParaRPr lang="ko-KR" altLang="en-US"/>
          </a:p>
        </p:txBody>
      </p:sp>
      <p:sp>
        <p:nvSpPr>
          <p:cNvPr id="76" name="Shape 74"/>
          <p:cNvSpPr/>
          <p:nvPr/>
        </p:nvSpPr>
        <p:spPr>
          <a:xfrm>
            <a:off x="8677656" y="4165092"/>
            <a:ext cx="298704" cy="425196"/>
          </a:xfrm>
          <a:prstGeom prst="line">
            <a:avLst/>
          </a:prstGeom>
          <a:noFill/>
          <a:ln w="25400">
            <a:solidFill>
              <a:srgbClr val="1E2761"/>
            </a:solidFill>
            <a:prstDash val="solid"/>
          </a:ln>
        </p:spPr>
        <p:txBody>
          <a:bodyPr/>
          <a:lstStyle/>
          <a:p>
            <a:endParaRPr lang="ko-KR" altLang="en-US"/>
          </a:p>
        </p:txBody>
      </p:sp>
      <p:sp>
        <p:nvSpPr>
          <p:cNvPr id="77" name="Shape 75"/>
          <p:cNvSpPr/>
          <p:nvPr/>
        </p:nvSpPr>
        <p:spPr>
          <a:xfrm>
            <a:off x="8976360" y="4590288"/>
            <a:ext cx="298704" cy="0"/>
          </a:xfrm>
          <a:prstGeom prst="line">
            <a:avLst/>
          </a:prstGeom>
          <a:noFill/>
          <a:ln w="25400">
            <a:solidFill>
              <a:srgbClr val="1E2761"/>
            </a:solidFill>
            <a:prstDash val="solid"/>
          </a:ln>
        </p:spPr>
        <p:txBody>
          <a:bodyPr/>
          <a:lstStyle/>
          <a:p>
            <a:endParaRPr lang="ko-KR" altLang="en-US"/>
          </a:p>
        </p:txBody>
      </p:sp>
      <p:sp>
        <p:nvSpPr>
          <p:cNvPr id="78" name="Shape 76"/>
          <p:cNvSpPr/>
          <p:nvPr/>
        </p:nvSpPr>
        <p:spPr>
          <a:xfrm>
            <a:off x="9275064" y="4590288"/>
            <a:ext cx="298704" cy="0"/>
          </a:xfrm>
          <a:prstGeom prst="line">
            <a:avLst/>
          </a:prstGeom>
          <a:noFill/>
          <a:ln w="25400">
            <a:solidFill>
              <a:srgbClr val="1E2761"/>
            </a:solidFill>
            <a:prstDash val="solid"/>
          </a:ln>
        </p:spPr>
        <p:txBody>
          <a:bodyPr/>
          <a:lstStyle/>
          <a:p>
            <a:endParaRPr lang="ko-KR" altLang="en-US"/>
          </a:p>
        </p:txBody>
      </p:sp>
      <p:sp>
        <p:nvSpPr>
          <p:cNvPr id="79" name="Shape 77"/>
          <p:cNvSpPr/>
          <p:nvPr/>
        </p:nvSpPr>
        <p:spPr>
          <a:xfrm>
            <a:off x="9573768" y="4590288"/>
            <a:ext cx="298704" cy="0"/>
          </a:xfrm>
          <a:prstGeom prst="line">
            <a:avLst/>
          </a:prstGeom>
          <a:noFill/>
          <a:ln w="25400">
            <a:solidFill>
              <a:srgbClr val="1E2761"/>
            </a:solidFill>
            <a:prstDash val="solid"/>
          </a:ln>
        </p:spPr>
        <p:txBody>
          <a:bodyPr/>
          <a:lstStyle/>
          <a:p>
            <a:endParaRPr lang="ko-KR" altLang="en-US"/>
          </a:p>
        </p:txBody>
      </p:sp>
      <p:sp>
        <p:nvSpPr>
          <p:cNvPr id="80" name="Shape 78"/>
          <p:cNvSpPr/>
          <p:nvPr/>
        </p:nvSpPr>
        <p:spPr>
          <a:xfrm>
            <a:off x="9872472" y="4590288"/>
            <a:ext cx="298704" cy="0"/>
          </a:xfrm>
          <a:prstGeom prst="line">
            <a:avLst/>
          </a:prstGeom>
          <a:noFill/>
          <a:ln w="25400">
            <a:solidFill>
              <a:srgbClr val="1E2761"/>
            </a:solidFill>
            <a:prstDash val="solid"/>
          </a:ln>
        </p:spPr>
        <p:txBody>
          <a:bodyPr/>
          <a:lstStyle/>
          <a:p>
            <a:endParaRPr lang="ko-KR" altLang="en-US"/>
          </a:p>
        </p:txBody>
      </p:sp>
      <p:sp>
        <p:nvSpPr>
          <p:cNvPr id="81" name="Shape 79"/>
          <p:cNvSpPr/>
          <p:nvPr/>
        </p:nvSpPr>
        <p:spPr>
          <a:xfrm flipV="1">
            <a:off x="10171176" y="4165092"/>
            <a:ext cx="298704" cy="425196"/>
          </a:xfrm>
          <a:prstGeom prst="line">
            <a:avLst/>
          </a:prstGeom>
          <a:noFill/>
          <a:ln w="25400">
            <a:solidFill>
              <a:srgbClr val="1E2761"/>
            </a:solidFill>
            <a:prstDash val="solid"/>
          </a:ln>
        </p:spPr>
        <p:txBody>
          <a:bodyPr/>
          <a:lstStyle/>
          <a:p>
            <a:endParaRPr lang="ko-KR" altLang="en-US"/>
          </a:p>
        </p:txBody>
      </p:sp>
      <p:sp>
        <p:nvSpPr>
          <p:cNvPr id="82" name="Shape 80"/>
          <p:cNvSpPr/>
          <p:nvPr/>
        </p:nvSpPr>
        <p:spPr>
          <a:xfrm flipV="1">
            <a:off x="10469880" y="3314700"/>
            <a:ext cx="298704" cy="850392"/>
          </a:xfrm>
          <a:prstGeom prst="line">
            <a:avLst/>
          </a:prstGeom>
          <a:noFill/>
          <a:ln w="25400">
            <a:solidFill>
              <a:srgbClr val="1E2761"/>
            </a:solidFill>
            <a:prstDash val="solid"/>
          </a:ln>
        </p:spPr>
        <p:txBody>
          <a:bodyPr/>
          <a:lstStyle/>
          <a:p>
            <a:endParaRPr lang="ko-KR" altLang="en-US"/>
          </a:p>
        </p:txBody>
      </p:sp>
      <p:sp>
        <p:nvSpPr>
          <p:cNvPr id="83" name="Shape 81"/>
          <p:cNvSpPr/>
          <p:nvPr/>
        </p:nvSpPr>
        <p:spPr>
          <a:xfrm>
            <a:off x="10768584" y="3314700"/>
            <a:ext cx="298704" cy="0"/>
          </a:xfrm>
          <a:prstGeom prst="line">
            <a:avLst/>
          </a:prstGeom>
          <a:noFill/>
          <a:ln w="25400">
            <a:solidFill>
              <a:srgbClr val="1E2761"/>
            </a:solidFill>
            <a:prstDash val="solid"/>
          </a:ln>
        </p:spPr>
        <p:txBody>
          <a:bodyPr/>
          <a:lstStyle/>
          <a:p>
            <a:endParaRPr lang="ko-KR" altLang="en-US"/>
          </a:p>
        </p:txBody>
      </p:sp>
      <p:sp>
        <p:nvSpPr>
          <p:cNvPr id="84" name="Shape 82"/>
          <p:cNvSpPr/>
          <p:nvPr/>
        </p:nvSpPr>
        <p:spPr>
          <a:xfrm>
            <a:off x="11067288" y="3314700"/>
            <a:ext cx="298704" cy="0"/>
          </a:xfrm>
          <a:prstGeom prst="line">
            <a:avLst/>
          </a:prstGeom>
          <a:noFill/>
          <a:ln w="25400">
            <a:solidFill>
              <a:srgbClr val="1E2761"/>
            </a:solidFill>
            <a:prstDash val="solid"/>
          </a:ln>
        </p:spPr>
        <p:txBody>
          <a:bodyPr/>
          <a:lstStyle/>
          <a:p>
            <a:endParaRPr lang="ko-KR" altLang="en-US"/>
          </a:p>
        </p:txBody>
      </p:sp>
      <p:sp>
        <p:nvSpPr>
          <p:cNvPr id="85" name="Shape 83"/>
          <p:cNvSpPr/>
          <p:nvPr/>
        </p:nvSpPr>
        <p:spPr>
          <a:xfrm>
            <a:off x="6835140" y="4539996"/>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86" name="Shape 84"/>
          <p:cNvSpPr/>
          <p:nvPr/>
        </p:nvSpPr>
        <p:spPr>
          <a:xfrm>
            <a:off x="7133844" y="4539996"/>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87" name="Shape 85"/>
          <p:cNvSpPr/>
          <p:nvPr/>
        </p:nvSpPr>
        <p:spPr>
          <a:xfrm>
            <a:off x="7432548" y="4114800"/>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88" name="Shape 86"/>
          <p:cNvSpPr/>
          <p:nvPr/>
        </p:nvSpPr>
        <p:spPr>
          <a:xfrm>
            <a:off x="7731252" y="4539996"/>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89" name="Shape 87"/>
          <p:cNvSpPr/>
          <p:nvPr/>
        </p:nvSpPr>
        <p:spPr>
          <a:xfrm>
            <a:off x="8029956" y="4114800"/>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90" name="Shape 88"/>
          <p:cNvSpPr/>
          <p:nvPr/>
        </p:nvSpPr>
        <p:spPr>
          <a:xfrm>
            <a:off x="8328660" y="3264408"/>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91" name="Shape 89"/>
          <p:cNvSpPr/>
          <p:nvPr/>
        </p:nvSpPr>
        <p:spPr>
          <a:xfrm>
            <a:off x="8627364" y="4114800"/>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92" name="Shape 90"/>
          <p:cNvSpPr/>
          <p:nvPr/>
        </p:nvSpPr>
        <p:spPr>
          <a:xfrm>
            <a:off x="8926068" y="4539996"/>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93" name="Shape 91"/>
          <p:cNvSpPr/>
          <p:nvPr/>
        </p:nvSpPr>
        <p:spPr>
          <a:xfrm>
            <a:off x="9224772" y="4539996"/>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94" name="Shape 92"/>
          <p:cNvSpPr/>
          <p:nvPr/>
        </p:nvSpPr>
        <p:spPr>
          <a:xfrm>
            <a:off x="9523476" y="4539996"/>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95" name="Shape 93"/>
          <p:cNvSpPr/>
          <p:nvPr/>
        </p:nvSpPr>
        <p:spPr>
          <a:xfrm>
            <a:off x="9822180" y="4539996"/>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96" name="Shape 94"/>
          <p:cNvSpPr/>
          <p:nvPr/>
        </p:nvSpPr>
        <p:spPr>
          <a:xfrm>
            <a:off x="10120884" y="4539996"/>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97" name="Shape 95"/>
          <p:cNvSpPr/>
          <p:nvPr/>
        </p:nvSpPr>
        <p:spPr>
          <a:xfrm>
            <a:off x="10419588" y="4114800"/>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98" name="Shape 96"/>
          <p:cNvSpPr/>
          <p:nvPr/>
        </p:nvSpPr>
        <p:spPr>
          <a:xfrm>
            <a:off x="10718292" y="3264408"/>
            <a:ext cx="100584" cy="100584"/>
          </a:xfrm>
          <a:prstGeom prst="ellipse">
            <a:avLst/>
          </a:prstGeom>
          <a:solidFill>
            <a:srgbClr val="1E2761"/>
          </a:solidFill>
          <a:ln w="12700">
            <a:solidFill>
              <a:srgbClr val="1E2761"/>
            </a:solidFill>
            <a:prstDash val="solid"/>
          </a:ln>
        </p:spPr>
        <p:txBody>
          <a:bodyPr/>
          <a:lstStyle/>
          <a:p>
            <a:endParaRPr lang="ko-KR" altLang="en-US"/>
          </a:p>
        </p:txBody>
      </p:sp>
      <p:sp>
        <p:nvSpPr>
          <p:cNvPr id="99" name="Shape 97"/>
          <p:cNvSpPr/>
          <p:nvPr/>
        </p:nvSpPr>
        <p:spPr>
          <a:xfrm>
            <a:off x="11016996" y="3264408"/>
            <a:ext cx="100584" cy="100584"/>
          </a:xfrm>
          <a:prstGeom prst="ellipse">
            <a:avLst/>
          </a:prstGeom>
          <a:solidFill>
            <a:srgbClr val="C2A648"/>
          </a:solidFill>
          <a:ln w="12700">
            <a:solidFill>
              <a:srgbClr val="C2A648"/>
            </a:solidFill>
            <a:prstDash val="solid"/>
          </a:ln>
        </p:spPr>
        <p:txBody>
          <a:bodyPr/>
          <a:lstStyle/>
          <a:p>
            <a:endParaRPr lang="ko-KR" altLang="en-US"/>
          </a:p>
        </p:txBody>
      </p:sp>
      <p:sp>
        <p:nvSpPr>
          <p:cNvPr id="100" name="Text 98"/>
          <p:cNvSpPr/>
          <p:nvPr/>
        </p:nvSpPr>
        <p:spPr>
          <a:xfrm>
            <a:off x="10655808" y="2948940"/>
            <a:ext cx="822960" cy="237744"/>
          </a:xfrm>
          <a:prstGeom prst="rect">
            <a:avLst/>
          </a:prstGeom>
          <a:noFill/>
          <a:ln/>
        </p:spPr>
        <p:txBody>
          <a:bodyPr wrap="square" lIns="0" tIns="0" rIns="0" bIns="0" rtlCol="0" anchor="ctr"/>
          <a:lstStyle/>
          <a:p>
            <a:pPr marL="0" indent="0" algn="ctr">
              <a:buNone/>
            </a:pPr>
            <a:r>
              <a:rPr lang="en-US" sz="1100" b="1" dirty="0">
                <a:solidFill>
                  <a:srgbClr val="1E2761"/>
                </a:solidFill>
                <a:latin typeface="Pretendard" pitchFamily="34" charset="0"/>
                <a:ea typeface="Pretendard" pitchFamily="34" charset="-122"/>
                <a:cs typeface="Pretendard" pitchFamily="34" charset="-120"/>
              </a:rPr>
              <a:t>3</a:t>
            </a:r>
            <a:endParaRPr lang="en-US" sz="1100" dirty="0"/>
          </a:p>
        </p:txBody>
      </p:sp>
      <p:sp>
        <p:nvSpPr>
          <p:cNvPr id="101" name="Shape 99"/>
          <p:cNvSpPr/>
          <p:nvPr/>
        </p:nvSpPr>
        <p:spPr>
          <a:xfrm>
            <a:off x="11315700" y="3264408"/>
            <a:ext cx="100584" cy="100584"/>
          </a:xfrm>
          <a:prstGeom prst="ellipse">
            <a:avLst/>
          </a:prstGeom>
          <a:solidFill>
            <a:srgbClr val="C2A648"/>
          </a:solidFill>
          <a:ln w="12700">
            <a:solidFill>
              <a:srgbClr val="C2A648"/>
            </a:solidFill>
            <a:prstDash val="solid"/>
          </a:ln>
        </p:spPr>
        <p:txBody>
          <a:bodyPr/>
          <a:lstStyle/>
          <a:p>
            <a:endParaRPr lang="ko-KR" altLang="en-US"/>
          </a:p>
        </p:txBody>
      </p:sp>
      <p:sp>
        <p:nvSpPr>
          <p:cNvPr id="102" name="Text 100"/>
          <p:cNvSpPr/>
          <p:nvPr/>
        </p:nvSpPr>
        <p:spPr>
          <a:xfrm>
            <a:off x="10954512" y="2948940"/>
            <a:ext cx="822960" cy="237744"/>
          </a:xfrm>
          <a:prstGeom prst="rect">
            <a:avLst/>
          </a:prstGeom>
          <a:noFill/>
          <a:ln/>
        </p:spPr>
        <p:txBody>
          <a:bodyPr wrap="square" lIns="0" tIns="0" rIns="0" bIns="0" rtlCol="0" anchor="ctr"/>
          <a:lstStyle/>
          <a:p>
            <a:pPr marL="0" indent="0" algn="ctr">
              <a:buNone/>
            </a:pPr>
            <a:r>
              <a:rPr lang="en-US" sz="1100" b="1" dirty="0">
                <a:solidFill>
                  <a:srgbClr val="1E2761"/>
                </a:solidFill>
                <a:latin typeface="Pretendard" pitchFamily="34" charset="0"/>
                <a:ea typeface="Pretendard" pitchFamily="34" charset="-122"/>
                <a:cs typeface="Pretendard" pitchFamily="34" charset="-120"/>
              </a:rPr>
              <a:t>3</a:t>
            </a:r>
            <a:endParaRPr lang="en-US" sz="1100" dirty="0"/>
          </a:p>
        </p:txBody>
      </p:sp>
      <p:sp>
        <p:nvSpPr>
          <p:cNvPr id="103" name="Text 101"/>
          <p:cNvSpPr/>
          <p:nvPr/>
        </p:nvSpPr>
        <p:spPr>
          <a:xfrm>
            <a:off x="6473952" y="4645152"/>
            <a:ext cx="822960" cy="219456"/>
          </a:xfrm>
          <a:prstGeom prst="rect">
            <a:avLst/>
          </a:prstGeom>
          <a:noFill/>
          <a:ln/>
        </p:spPr>
        <p:txBody>
          <a:bodyPr wrap="square" lIns="0" tIns="0" rIns="0" bIns="0" rtlCol="0" anchor="ctr"/>
          <a:lstStyle/>
          <a:p>
            <a:pPr marL="0" indent="0" algn="ctr">
              <a:buNone/>
            </a:pPr>
            <a:r>
              <a:rPr lang="en-US" sz="1000" dirty="0">
                <a:solidFill>
                  <a:srgbClr val="6E7686"/>
                </a:solidFill>
                <a:latin typeface="Pretendard" pitchFamily="34" charset="0"/>
                <a:ea typeface="Pretendard" pitchFamily="34" charset="-122"/>
                <a:cs typeface="Pretendard" pitchFamily="34" charset="-120"/>
              </a:rPr>
              <a:t>2009</a:t>
            </a:r>
            <a:endParaRPr lang="en-US" sz="1000" dirty="0"/>
          </a:p>
        </p:txBody>
      </p:sp>
      <p:sp>
        <p:nvSpPr>
          <p:cNvPr id="104" name="Text 102"/>
          <p:cNvSpPr/>
          <p:nvPr/>
        </p:nvSpPr>
        <p:spPr>
          <a:xfrm>
            <a:off x="10954512" y="4645152"/>
            <a:ext cx="822960" cy="219456"/>
          </a:xfrm>
          <a:prstGeom prst="rect">
            <a:avLst/>
          </a:prstGeom>
          <a:noFill/>
          <a:ln/>
        </p:spPr>
        <p:txBody>
          <a:bodyPr wrap="square" lIns="0" tIns="0" rIns="0" bIns="0" rtlCol="0" anchor="ctr"/>
          <a:lstStyle/>
          <a:p>
            <a:pPr marL="0" indent="0" algn="ctr">
              <a:buNone/>
            </a:pPr>
            <a:r>
              <a:rPr lang="en-US" sz="1000" dirty="0">
                <a:solidFill>
                  <a:srgbClr val="6E7686"/>
                </a:solidFill>
                <a:latin typeface="Pretendard" pitchFamily="34" charset="0"/>
                <a:ea typeface="Pretendard" pitchFamily="34" charset="-122"/>
                <a:cs typeface="Pretendard" pitchFamily="34" charset="-120"/>
              </a:rPr>
              <a:t>2024</a:t>
            </a:r>
            <a:endParaRPr lang="en-US" sz="1000" dirty="0"/>
          </a:p>
        </p:txBody>
      </p:sp>
      <p:sp>
        <p:nvSpPr>
          <p:cNvPr id="106" name="Text 104"/>
          <p:cNvSpPr/>
          <p:nvPr/>
        </p:nvSpPr>
        <p:spPr>
          <a:xfrm>
            <a:off x="731520" y="5208162"/>
            <a:ext cx="10725912" cy="237744"/>
          </a:xfrm>
          <a:prstGeom prst="rect">
            <a:avLst/>
          </a:prstGeom>
          <a:noFill/>
          <a:ln/>
        </p:spPr>
        <p:txBody>
          <a:bodyPr wrap="square" lIns="0" tIns="0" rIns="0" bIns="0" rtlCol="0" anchor="ctr"/>
          <a:lstStyle/>
          <a:p>
            <a:pPr marL="0" indent="0">
              <a:buNone/>
            </a:pPr>
            <a:r>
              <a:rPr lang="en-US" sz="1200" b="1" dirty="0">
                <a:latin typeface="Pretendard" pitchFamily="34" charset="0"/>
                <a:ea typeface="Pretendard" pitchFamily="34" charset="-122"/>
                <a:cs typeface="Pretendard" pitchFamily="34" charset="-120"/>
              </a:rPr>
              <a:t>왼쪽은 마약 · 향정 · 대마 합계, 오른쪽은 마약류관리법 죄명 항목이다  ·  각 기관의 연간 처리 결과이며 동일한 사람을 추적한 통계가 아니다</a:t>
            </a:r>
            <a:endParaRPr lang="en-US" sz="1200" b="1" dirty="0"/>
          </a:p>
        </p:txBody>
      </p:sp>
      <p:sp>
        <p:nvSpPr>
          <p:cNvPr id="108" name="Text 106"/>
          <p:cNvSpPr/>
          <p:nvPr/>
        </p:nvSpPr>
        <p:spPr>
          <a:xfrm>
            <a:off x="731520" y="5664706"/>
            <a:ext cx="10725912" cy="464058"/>
          </a:xfrm>
          <a:prstGeom prst="rect">
            <a:avLst/>
          </a:prstGeom>
          <a:solidFill>
            <a:schemeClr val="accent1">
              <a:lumMod val="20000"/>
              <a:lumOff val="80000"/>
            </a:schemeClr>
          </a:solidFill>
          <a:ln/>
        </p:spPr>
        <p:txBody>
          <a:bodyPr wrap="square" lIns="0" tIns="0" rIns="0" bIns="0" rtlCol="0" anchor="ctr"/>
          <a:lstStyle/>
          <a:p>
            <a:pPr algn="ctr"/>
            <a:r>
              <a:rPr lang="en-US" altLang="ko-KR" sz="1250" b="1" dirty="0">
                <a:solidFill>
                  <a:srgbClr val="1E2761"/>
                </a:solidFill>
                <a:latin typeface="Pretendard" pitchFamily="34" charset="0"/>
                <a:ea typeface="Pretendard" pitchFamily="34" charset="-122"/>
                <a:cs typeface="Pretendard" pitchFamily="34" charset="-120"/>
              </a:rPr>
              <a:t>2024</a:t>
            </a:r>
            <a:r>
              <a:rPr lang="ko-KR" altLang="en-US" sz="1250" b="1" dirty="0">
                <a:solidFill>
                  <a:srgbClr val="1E2761"/>
                </a:solidFill>
                <a:latin typeface="Pretendard" pitchFamily="34" charset="0"/>
                <a:ea typeface="Pretendard" pitchFamily="34" charset="-122"/>
                <a:cs typeface="Pretendard" pitchFamily="34" charset="-120"/>
              </a:rPr>
              <a:t>년 검찰 → 소년부 </a:t>
            </a:r>
            <a:r>
              <a:rPr lang="en-US" altLang="ko-KR" sz="1250" b="1" dirty="0">
                <a:solidFill>
                  <a:srgbClr val="1E2761"/>
                </a:solidFill>
                <a:latin typeface="Pretendard" pitchFamily="34" charset="0"/>
                <a:ea typeface="Pretendard" pitchFamily="34" charset="-122"/>
                <a:cs typeface="Pretendard" pitchFamily="34" charset="-120"/>
              </a:rPr>
              <a:t>54</a:t>
            </a:r>
            <a:r>
              <a:rPr lang="ko-KR" altLang="en-US" sz="1250" b="1" dirty="0">
                <a:solidFill>
                  <a:srgbClr val="1E2761"/>
                </a:solidFill>
                <a:latin typeface="Pretendard" pitchFamily="34" charset="0"/>
                <a:ea typeface="Pretendard" pitchFamily="34" charset="-122"/>
                <a:cs typeface="Pretendard" pitchFamily="34" charset="-120"/>
              </a:rPr>
              <a:t>명</a:t>
            </a:r>
            <a:r>
              <a:rPr lang="en-US" altLang="ko-KR" sz="1250" b="1" dirty="0">
                <a:solidFill>
                  <a:srgbClr val="1E2761"/>
                </a:solidFill>
                <a:latin typeface="Pretendard" pitchFamily="34" charset="0"/>
                <a:ea typeface="Pretendard" pitchFamily="34" charset="-122"/>
                <a:cs typeface="Pretendard" pitchFamily="34" charset="-120"/>
              </a:rPr>
              <a:t>(</a:t>
            </a:r>
            <a:r>
              <a:rPr lang="ko-KR" altLang="en-US" sz="1250" b="1" dirty="0">
                <a:solidFill>
                  <a:srgbClr val="1E2761"/>
                </a:solidFill>
                <a:latin typeface="Pretendard" pitchFamily="34" charset="0"/>
                <a:ea typeface="Pretendard" pitchFamily="34" charset="-122"/>
                <a:cs typeface="Pretendard" pitchFamily="34" charset="-120"/>
              </a:rPr>
              <a:t>마약 </a:t>
            </a:r>
            <a:r>
              <a:rPr lang="en-US" altLang="ko-KR" sz="1250" b="1" dirty="0">
                <a:solidFill>
                  <a:srgbClr val="1E2761"/>
                </a:solidFill>
                <a:latin typeface="Pretendard" pitchFamily="34" charset="0"/>
                <a:ea typeface="Pretendard" pitchFamily="34" charset="-122"/>
                <a:cs typeface="Pretendard" pitchFamily="34" charset="-120"/>
              </a:rPr>
              <a:t>2</a:t>
            </a:r>
            <a:r>
              <a:rPr lang="ko-KR" altLang="en-US" sz="1250" b="1" dirty="0">
                <a:solidFill>
                  <a:srgbClr val="1E2761"/>
                </a:solidFill>
                <a:latin typeface="Pretendard" pitchFamily="34" charset="0"/>
                <a:ea typeface="Pretendard" pitchFamily="34" charset="-122"/>
                <a:cs typeface="Pretendard" pitchFamily="34" charset="-120"/>
              </a:rPr>
              <a:t>명 </a:t>
            </a:r>
            <a:r>
              <a:rPr lang="en-US" altLang="ko-KR" sz="1250" b="1" dirty="0">
                <a:solidFill>
                  <a:srgbClr val="1E2761"/>
                </a:solidFill>
                <a:latin typeface="Pretendard" pitchFamily="34" charset="0"/>
                <a:ea typeface="Pretendard" pitchFamily="34" charset="-122"/>
                <a:cs typeface="Pretendard" pitchFamily="34" charset="-120"/>
              </a:rPr>
              <a:t>· </a:t>
            </a:r>
            <a:r>
              <a:rPr lang="ko-KR" altLang="en-US" sz="1250" b="1" dirty="0">
                <a:solidFill>
                  <a:srgbClr val="1E2761"/>
                </a:solidFill>
                <a:latin typeface="Pretendard" pitchFamily="34" charset="0"/>
                <a:ea typeface="Pretendard" pitchFamily="34" charset="-122"/>
                <a:cs typeface="Pretendard" pitchFamily="34" charset="-120"/>
              </a:rPr>
              <a:t>향정신성의약품 </a:t>
            </a:r>
            <a:r>
              <a:rPr lang="en-US" altLang="ko-KR" sz="1250" b="1" dirty="0">
                <a:solidFill>
                  <a:srgbClr val="1E2761"/>
                </a:solidFill>
                <a:latin typeface="Pretendard" pitchFamily="34" charset="0"/>
                <a:ea typeface="Pretendard" pitchFamily="34" charset="-122"/>
                <a:cs typeface="Pretendard" pitchFamily="34" charset="-120"/>
              </a:rPr>
              <a:t>49</a:t>
            </a:r>
            <a:r>
              <a:rPr lang="ko-KR" altLang="en-US" sz="1250" b="1" dirty="0">
                <a:solidFill>
                  <a:srgbClr val="1E2761"/>
                </a:solidFill>
                <a:latin typeface="Pretendard" pitchFamily="34" charset="0"/>
                <a:ea typeface="Pretendard" pitchFamily="34" charset="-122"/>
                <a:cs typeface="Pretendard" pitchFamily="34" charset="-120"/>
              </a:rPr>
              <a:t>명 </a:t>
            </a:r>
            <a:r>
              <a:rPr lang="en-US" altLang="ko-KR" sz="1250" b="1" dirty="0">
                <a:solidFill>
                  <a:srgbClr val="1E2761"/>
                </a:solidFill>
                <a:latin typeface="Pretendard" pitchFamily="34" charset="0"/>
                <a:ea typeface="Pretendard" pitchFamily="34" charset="-122"/>
                <a:cs typeface="Pretendard" pitchFamily="34" charset="-120"/>
              </a:rPr>
              <a:t>· </a:t>
            </a:r>
            <a:r>
              <a:rPr lang="ko-KR" altLang="en-US" sz="1250" b="1" dirty="0">
                <a:solidFill>
                  <a:srgbClr val="1E2761"/>
                </a:solidFill>
                <a:latin typeface="Pretendard" pitchFamily="34" charset="0"/>
                <a:ea typeface="Pretendard" pitchFamily="34" charset="-122"/>
                <a:cs typeface="Pretendard" pitchFamily="34" charset="-120"/>
              </a:rPr>
              <a:t>대마 </a:t>
            </a:r>
            <a:r>
              <a:rPr lang="en-US" altLang="ko-KR" sz="1250" b="1" dirty="0">
                <a:solidFill>
                  <a:srgbClr val="1E2761"/>
                </a:solidFill>
                <a:latin typeface="Pretendard" pitchFamily="34" charset="0"/>
                <a:ea typeface="Pretendard" pitchFamily="34" charset="-122"/>
                <a:cs typeface="Pretendard" pitchFamily="34" charset="-120"/>
              </a:rPr>
              <a:t>3</a:t>
            </a:r>
            <a:r>
              <a:rPr lang="ko-KR" altLang="en-US" sz="1250" b="1" dirty="0">
                <a:solidFill>
                  <a:srgbClr val="1E2761"/>
                </a:solidFill>
                <a:latin typeface="Pretendard" pitchFamily="34" charset="0"/>
                <a:ea typeface="Pretendard" pitchFamily="34" charset="-122"/>
                <a:cs typeface="Pretendard" pitchFamily="34" charset="-120"/>
              </a:rPr>
              <a:t>명</a:t>
            </a:r>
            <a:r>
              <a:rPr lang="en-US" altLang="ko-KR" sz="1250" b="1" dirty="0">
                <a:solidFill>
                  <a:srgbClr val="1E2761"/>
                </a:solidFill>
                <a:latin typeface="Pretendard" pitchFamily="34" charset="0"/>
                <a:ea typeface="Pretendard" pitchFamily="34" charset="-122"/>
                <a:cs typeface="Pretendard" pitchFamily="34" charset="-120"/>
              </a:rPr>
              <a:t>), </a:t>
            </a:r>
            <a:r>
              <a:rPr lang="ko-KR" altLang="en-US" sz="1250" b="1" dirty="0">
                <a:solidFill>
                  <a:srgbClr val="1E2761"/>
                </a:solidFill>
                <a:latin typeface="Pretendard" pitchFamily="34" charset="0"/>
                <a:ea typeface="Pretendard" pitchFamily="34" charset="-122"/>
                <a:cs typeface="Pretendard" pitchFamily="34" charset="-120"/>
              </a:rPr>
              <a:t>형사법원 → 소년부 </a:t>
            </a:r>
            <a:r>
              <a:rPr lang="en-US" altLang="ko-KR" sz="1250" b="1" dirty="0">
                <a:solidFill>
                  <a:srgbClr val="1E2761"/>
                </a:solidFill>
                <a:latin typeface="Pretendard" pitchFamily="34" charset="0"/>
                <a:ea typeface="Pretendard" pitchFamily="34" charset="-122"/>
                <a:cs typeface="Pretendard" pitchFamily="34" charset="-120"/>
              </a:rPr>
              <a:t>3</a:t>
            </a:r>
            <a:r>
              <a:rPr lang="ko-KR" altLang="en-US" sz="1250" b="1" dirty="0">
                <a:solidFill>
                  <a:srgbClr val="1E2761"/>
                </a:solidFill>
                <a:latin typeface="Pretendard" pitchFamily="34" charset="0"/>
                <a:ea typeface="Pretendard" pitchFamily="34" charset="-122"/>
                <a:cs typeface="Pretendard" pitchFamily="34" charset="-120"/>
              </a:rPr>
              <a:t>명</a:t>
            </a:r>
          </a:p>
        </p:txBody>
      </p:sp>
      <p:sp>
        <p:nvSpPr>
          <p:cNvPr id="109" name="Shape 107"/>
          <p:cNvSpPr/>
          <p:nvPr/>
        </p:nvSpPr>
        <p:spPr>
          <a:xfrm>
            <a:off x="731520" y="6144768"/>
            <a:ext cx="10725912" cy="0"/>
          </a:xfrm>
          <a:prstGeom prst="line">
            <a:avLst/>
          </a:prstGeom>
          <a:noFill/>
          <a:ln w="12700">
            <a:solidFill>
              <a:srgbClr val="DCE0E8"/>
            </a:solidFill>
            <a:prstDash val="solid"/>
          </a:ln>
        </p:spPr>
        <p:txBody>
          <a:bodyPr/>
          <a:lstStyle/>
          <a:p>
            <a:endParaRPr lang="ko-KR" altLang="en-US"/>
          </a:p>
        </p:txBody>
      </p:sp>
      <p:sp>
        <p:nvSpPr>
          <p:cNvPr id="111" name="Text 55">
            <a:extLst>
              <a:ext uri="{FF2B5EF4-FFF2-40B4-BE49-F238E27FC236}">
                <a16:creationId xmlns:a16="http://schemas.microsoft.com/office/drawing/2014/main" id="{2FB1BF0C-D059-FB53-41DB-9BAFAD298A55}"/>
              </a:ext>
            </a:extLst>
          </p:cNvPr>
          <p:cNvSpPr/>
          <p:nvPr/>
        </p:nvSpPr>
        <p:spPr>
          <a:xfrm>
            <a:off x="5163094" y="4682757"/>
            <a:ext cx="320040" cy="219456"/>
          </a:xfrm>
          <a:prstGeom prst="rect">
            <a:avLst/>
          </a:prstGeom>
          <a:noFill/>
          <a:ln/>
        </p:spPr>
        <p:txBody>
          <a:bodyPr wrap="square" lIns="0" tIns="0" rIns="0" bIns="0" rtlCol="0" anchor="ctr"/>
          <a:lstStyle/>
          <a:p>
            <a:pPr marL="0" indent="0" algn="ctr">
              <a:buNone/>
            </a:pPr>
            <a:r>
              <a:rPr lang="en-US" sz="1000" dirty="0">
                <a:solidFill>
                  <a:srgbClr val="6E7686"/>
                </a:solidFill>
                <a:latin typeface="Pretendard" pitchFamily="34" charset="0"/>
                <a:ea typeface="Pretendard" pitchFamily="34" charset="-122"/>
                <a:cs typeface="Pretendard" pitchFamily="34" charset="-120"/>
              </a:rPr>
              <a:t>2023</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521208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3. 사건 처리 결과와 소년 특례</a:t>
            </a:r>
            <a:endParaRPr lang="en-US" sz="1250" dirty="0"/>
          </a:p>
        </p:txBody>
      </p:sp>
      <p:sp>
        <p:nvSpPr>
          <p:cNvPr id="3" name="Text 1"/>
          <p:cNvSpPr/>
          <p:nvPr/>
        </p:nvSpPr>
        <p:spPr>
          <a:xfrm>
            <a:off x="6035040" y="384048"/>
            <a:ext cx="5422392" cy="256032"/>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소년의 형 선고 특례</a:t>
            </a:r>
            <a:endParaRPr lang="en-US" sz="1050" dirty="0"/>
          </a:p>
        </p:txBody>
      </p:sp>
      <p:sp>
        <p:nvSpPr>
          <p:cNvPr id="4" name="Text 2"/>
          <p:cNvSpPr/>
          <p:nvPr/>
        </p:nvSpPr>
        <p:spPr>
          <a:xfrm>
            <a:off x="731520" y="640080"/>
            <a:ext cx="10725912" cy="640080"/>
          </a:xfrm>
          <a:prstGeom prst="rect">
            <a:avLst/>
          </a:prstGeom>
          <a:noFill/>
          <a:ln/>
        </p:spPr>
        <p:txBody>
          <a:bodyPr wrap="square" lIns="0" tIns="0" rIns="0" bIns="0" rtlCol="0" anchor="ctr"/>
          <a:lstStyle/>
          <a:p>
            <a:pPr marL="0" indent="0">
              <a:buNone/>
            </a:pPr>
            <a:r>
              <a:rPr lang="en-US" sz="2750" b="1" dirty="0">
                <a:solidFill>
                  <a:srgbClr val="1E2761"/>
                </a:solidFill>
                <a:latin typeface="Pretendard" pitchFamily="34" charset="0"/>
                <a:ea typeface="Pretendard" pitchFamily="34" charset="-122"/>
                <a:cs typeface="Pretendard" pitchFamily="34" charset="-120"/>
              </a:rPr>
              <a:t>19세 미만 마약 관련 형사재판의 결과</a:t>
            </a:r>
            <a:endParaRPr lang="en-US" sz="2750" dirty="0"/>
          </a:p>
        </p:txBody>
      </p:sp>
      <p:sp>
        <p:nvSpPr>
          <p:cNvPr id="5" name="Shape 3"/>
          <p:cNvSpPr/>
          <p:nvPr/>
        </p:nvSpPr>
        <p:spPr>
          <a:xfrm>
            <a:off x="731520" y="1316736"/>
            <a:ext cx="10725912"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417320"/>
            <a:ext cx="10725912" cy="548640"/>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1005840" y="1417320"/>
            <a:ext cx="10149840" cy="548640"/>
          </a:xfrm>
          <a:prstGeom prst="rect">
            <a:avLst/>
          </a:prstGeom>
          <a:noFill/>
          <a:ln/>
        </p:spPr>
        <p:txBody>
          <a:bodyPr wrap="square" lIns="0" tIns="0" rIns="0" bIns="0" rtlCol="0" anchor="ctr"/>
          <a:lstStyle/>
          <a:p>
            <a:r>
              <a:rPr lang="en-US" altLang="ko-KR" sz="1300" b="1" dirty="0">
                <a:solidFill>
                  <a:srgbClr val="1E2761"/>
                </a:solidFill>
                <a:latin typeface="Pretendard" pitchFamily="34" charset="0"/>
                <a:ea typeface="Pretendard" pitchFamily="34" charset="-122"/>
                <a:cs typeface="Pretendard" pitchFamily="34" charset="-120"/>
              </a:rPr>
              <a:t>19세 </a:t>
            </a:r>
            <a:r>
              <a:rPr lang="en-US" altLang="ko-KR" sz="1300" b="1" dirty="0" err="1">
                <a:solidFill>
                  <a:srgbClr val="1E2761"/>
                </a:solidFill>
                <a:latin typeface="Pretendard" pitchFamily="34" charset="0"/>
                <a:ea typeface="Pretendard" pitchFamily="34" charset="-122"/>
                <a:cs typeface="Pretendard" pitchFamily="34" charset="-120"/>
              </a:rPr>
              <a:t>미만</a:t>
            </a:r>
            <a:r>
              <a:rPr lang="en-US" altLang="ko-KR" sz="1300" b="1" dirty="0">
                <a:solidFill>
                  <a:srgbClr val="1E2761"/>
                </a:solidFill>
                <a:latin typeface="Pretendard" pitchFamily="34" charset="0"/>
                <a:ea typeface="Pretendard" pitchFamily="34" charset="-122"/>
                <a:cs typeface="Pretendard" pitchFamily="34" charset="-120"/>
              </a:rPr>
              <a:t> </a:t>
            </a:r>
            <a:r>
              <a:rPr lang="en-US" altLang="ko-KR" sz="1300" b="1" dirty="0" err="1">
                <a:solidFill>
                  <a:srgbClr val="1E2761"/>
                </a:solidFill>
                <a:latin typeface="Pretendard" pitchFamily="34" charset="0"/>
                <a:ea typeface="Pretendard" pitchFamily="34" charset="-122"/>
                <a:cs typeface="Pretendard" pitchFamily="34" charset="-120"/>
              </a:rPr>
              <a:t>마약</a:t>
            </a:r>
            <a:r>
              <a:rPr lang="en-US" altLang="ko-KR" sz="1300" b="1" dirty="0">
                <a:solidFill>
                  <a:srgbClr val="1E2761"/>
                </a:solidFill>
                <a:latin typeface="Pretendard" pitchFamily="34" charset="0"/>
                <a:ea typeface="Pretendard" pitchFamily="34" charset="-122"/>
                <a:cs typeface="Pretendard" pitchFamily="34" charset="-120"/>
              </a:rPr>
              <a:t> </a:t>
            </a:r>
            <a:r>
              <a:rPr lang="en-US" altLang="ko-KR" sz="1300" b="1" dirty="0" err="1">
                <a:solidFill>
                  <a:srgbClr val="1E2761"/>
                </a:solidFill>
                <a:latin typeface="Pretendard" pitchFamily="34" charset="0"/>
                <a:ea typeface="Pretendard" pitchFamily="34" charset="-122"/>
                <a:cs typeface="Pretendard" pitchFamily="34" charset="-120"/>
              </a:rPr>
              <a:t>관련</a:t>
            </a:r>
            <a:r>
              <a:rPr lang="en-US" altLang="ko-KR" sz="1300" b="1" dirty="0">
                <a:solidFill>
                  <a:srgbClr val="1E2761"/>
                </a:solidFill>
                <a:latin typeface="Pretendard" pitchFamily="34" charset="0"/>
                <a:ea typeface="Pretendard" pitchFamily="34" charset="-122"/>
                <a:cs typeface="Pretendard" pitchFamily="34" charset="-120"/>
              </a:rPr>
              <a:t> 두 </a:t>
            </a:r>
            <a:r>
              <a:rPr lang="en-US" altLang="ko-KR" sz="1300" b="1" dirty="0" err="1">
                <a:solidFill>
                  <a:srgbClr val="1E2761"/>
                </a:solidFill>
                <a:latin typeface="Pretendard" pitchFamily="34" charset="0"/>
                <a:ea typeface="Pretendard" pitchFamily="34" charset="-122"/>
                <a:cs typeface="Pretendard" pitchFamily="34" charset="-120"/>
              </a:rPr>
              <a:t>죄명</a:t>
            </a:r>
            <a:r>
              <a:rPr lang="en-US" altLang="ko-KR" sz="1300" b="1" dirty="0">
                <a:solidFill>
                  <a:srgbClr val="1E2761"/>
                </a:solidFill>
                <a:latin typeface="Pretendard" pitchFamily="34" charset="0"/>
                <a:ea typeface="Pretendard" pitchFamily="34" charset="-122"/>
                <a:cs typeface="Pretendard" pitchFamily="34" charset="-120"/>
              </a:rPr>
              <a:t> </a:t>
            </a:r>
            <a:r>
              <a:rPr lang="en-US" altLang="ko-KR" sz="1300" b="1" dirty="0" err="1">
                <a:solidFill>
                  <a:srgbClr val="1E2761"/>
                </a:solidFill>
                <a:latin typeface="Pretendard" pitchFamily="34" charset="0"/>
                <a:ea typeface="Pretendard" pitchFamily="34" charset="-122"/>
                <a:cs typeface="Pretendard" pitchFamily="34" charset="-120"/>
              </a:rPr>
              <a:t>항목의</a:t>
            </a:r>
            <a:r>
              <a:rPr lang="en-US" altLang="ko-KR" sz="1300" b="1" dirty="0">
                <a:solidFill>
                  <a:srgbClr val="1E2761"/>
                </a:solidFill>
                <a:latin typeface="Pretendard" pitchFamily="34" charset="0"/>
                <a:ea typeface="Pretendard" pitchFamily="34" charset="-122"/>
                <a:cs typeface="Pretendard" pitchFamily="34" charset="-120"/>
              </a:rPr>
              <a:t> 제1심 </a:t>
            </a:r>
            <a:r>
              <a:rPr lang="en-US" altLang="ko-KR" sz="1300" b="1" dirty="0" err="1">
                <a:solidFill>
                  <a:srgbClr val="1E2761"/>
                </a:solidFill>
                <a:latin typeface="Pretendard" pitchFamily="34" charset="0"/>
                <a:ea typeface="Pretendard" pitchFamily="34" charset="-122"/>
                <a:cs typeface="Pretendard" pitchFamily="34" charset="-120"/>
              </a:rPr>
              <a:t>재판</a:t>
            </a:r>
            <a:r>
              <a:rPr lang="en-US" altLang="ko-KR" sz="1300" b="1" dirty="0">
                <a:solidFill>
                  <a:srgbClr val="1E2761"/>
                </a:solidFill>
                <a:latin typeface="Pretendard" pitchFamily="34" charset="0"/>
                <a:ea typeface="Pretendard" pitchFamily="34" charset="-122"/>
                <a:cs typeface="Pretendard" pitchFamily="34" charset="-120"/>
              </a:rPr>
              <a:t> </a:t>
            </a:r>
            <a:r>
              <a:rPr lang="en-US" altLang="ko-KR" sz="1300" b="1" dirty="0" err="1">
                <a:solidFill>
                  <a:srgbClr val="1E2761"/>
                </a:solidFill>
                <a:latin typeface="Pretendard" pitchFamily="34" charset="0"/>
                <a:ea typeface="Pretendard" pitchFamily="34" charset="-122"/>
                <a:cs typeface="Pretendard" pitchFamily="34" charset="-120"/>
              </a:rPr>
              <a:t>인원은</a:t>
            </a:r>
            <a:r>
              <a:rPr lang="en-US" altLang="ko-KR" sz="1300" b="1" dirty="0">
                <a:solidFill>
                  <a:srgbClr val="1E2761"/>
                </a:solidFill>
                <a:latin typeface="Pretendard" pitchFamily="34" charset="0"/>
                <a:ea typeface="Pretendard" pitchFamily="34" charset="-122"/>
                <a:cs typeface="Pretendard" pitchFamily="34" charset="-120"/>
              </a:rPr>
              <a:t> 2023년 23명, 2024년 14명이었다</a:t>
            </a:r>
          </a:p>
        </p:txBody>
      </p:sp>
      <p:sp>
        <p:nvSpPr>
          <p:cNvPr id="8" name="Text 6"/>
          <p:cNvSpPr/>
          <p:nvPr/>
        </p:nvSpPr>
        <p:spPr>
          <a:xfrm>
            <a:off x="731520" y="2084832"/>
            <a:ext cx="10725912" cy="237744"/>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자료 범위   </a:t>
            </a:r>
            <a:r>
              <a:rPr lang="en-US" sz="1150" dirty="0">
                <a:solidFill>
                  <a:srgbClr val="222633"/>
                </a:solidFill>
                <a:latin typeface="Pretendard" pitchFamily="34" charset="0"/>
                <a:ea typeface="Pretendard" pitchFamily="34" charset="-122"/>
                <a:cs typeface="Pretendard" pitchFamily="34" charset="-120"/>
              </a:rPr>
              <a:t>2023 · 2024년 제1심 형사공판  ·  19세 미만  ·  </a:t>
            </a:r>
            <a:r>
              <a:rPr lang="en-US" sz="1150" b="1" dirty="0">
                <a:solidFill>
                  <a:srgbClr val="222633"/>
                </a:solidFill>
                <a:highlight>
                  <a:srgbClr val="FFFF00"/>
                </a:highlight>
                <a:latin typeface="Pretendard" pitchFamily="34" charset="0"/>
                <a:ea typeface="Pretendard" pitchFamily="34" charset="-122"/>
                <a:cs typeface="Pretendard" pitchFamily="34" charset="-120"/>
              </a:rPr>
              <a:t>마약류관리법과 특가법 마약사범 두 항목</a:t>
            </a:r>
            <a:r>
              <a:rPr lang="en-US" sz="1150" dirty="0">
                <a:solidFill>
                  <a:srgbClr val="222633"/>
                </a:solidFill>
                <a:latin typeface="Pretendard" pitchFamily="34" charset="0"/>
                <a:ea typeface="Pretendard" pitchFamily="34" charset="-122"/>
                <a:cs typeface="Pretendard" pitchFamily="34" charset="-120"/>
              </a:rPr>
              <a:t>  ·  단위 명</a:t>
            </a:r>
            <a:endParaRPr lang="en-US" sz="1150" dirty="0"/>
          </a:p>
        </p:txBody>
      </p:sp>
      <p:sp>
        <p:nvSpPr>
          <p:cNvPr id="9" name="Text 7"/>
          <p:cNvSpPr/>
          <p:nvPr/>
        </p:nvSpPr>
        <p:spPr>
          <a:xfrm>
            <a:off x="731520" y="2450592"/>
            <a:ext cx="1280160" cy="329184"/>
          </a:xfrm>
          <a:prstGeom prst="rect">
            <a:avLst/>
          </a:prstGeom>
          <a:noFill/>
          <a:ln/>
        </p:spPr>
        <p:txBody>
          <a:bodyPr wrap="square" lIns="0" tIns="0" rIns="0" bIns="0" rtlCol="0" anchor="ctr"/>
          <a:lstStyle/>
          <a:p>
            <a:pPr marL="0" indent="0">
              <a:buNone/>
            </a:pPr>
            <a:r>
              <a:rPr lang="en-US" sz="1200" b="1" dirty="0">
                <a:solidFill>
                  <a:srgbClr val="1E2761"/>
                </a:solidFill>
                <a:latin typeface="Pretendard" pitchFamily="34" charset="0"/>
                <a:ea typeface="Pretendard" pitchFamily="34" charset="-122"/>
                <a:cs typeface="Pretendard" pitchFamily="34" charset="-120"/>
              </a:rPr>
              <a:t>연도</a:t>
            </a:r>
            <a:endParaRPr lang="en-US" sz="1200" dirty="0"/>
          </a:p>
        </p:txBody>
      </p:sp>
      <p:sp>
        <p:nvSpPr>
          <p:cNvPr id="10" name="Text 8"/>
          <p:cNvSpPr/>
          <p:nvPr/>
        </p:nvSpPr>
        <p:spPr>
          <a:xfrm>
            <a:off x="2011680" y="2450592"/>
            <a:ext cx="1517904" cy="329184"/>
          </a:xfrm>
          <a:prstGeom prst="rect">
            <a:avLst/>
          </a:prstGeom>
          <a:noFill/>
          <a:ln/>
        </p:spPr>
        <p:txBody>
          <a:bodyPr wrap="square" lIns="0" tIns="0" rIns="0" bIns="0" rtlCol="0" anchor="ctr"/>
          <a:lstStyle/>
          <a:p>
            <a:pPr marL="0" indent="0" algn="ctr">
              <a:buNone/>
            </a:pPr>
            <a:r>
              <a:rPr lang="en-US" sz="1200" b="1" dirty="0">
                <a:solidFill>
                  <a:srgbClr val="1E2761"/>
                </a:solidFill>
                <a:latin typeface="Pretendard" pitchFamily="34" charset="0"/>
                <a:ea typeface="Pretendard" pitchFamily="34" charset="-122"/>
                <a:cs typeface="Pretendard" pitchFamily="34" charset="-120"/>
              </a:rPr>
              <a:t>부정기형</a:t>
            </a:r>
            <a:endParaRPr lang="en-US" sz="1200" dirty="0"/>
          </a:p>
        </p:txBody>
      </p:sp>
      <p:sp>
        <p:nvSpPr>
          <p:cNvPr id="11" name="Text 9"/>
          <p:cNvSpPr/>
          <p:nvPr/>
        </p:nvSpPr>
        <p:spPr>
          <a:xfrm>
            <a:off x="3529584" y="2450592"/>
            <a:ext cx="1517904" cy="329184"/>
          </a:xfrm>
          <a:prstGeom prst="rect">
            <a:avLst/>
          </a:prstGeom>
          <a:noFill/>
          <a:ln/>
        </p:spPr>
        <p:txBody>
          <a:bodyPr wrap="square" lIns="0" tIns="0" rIns="0" bIns="0" rtlCol="0" anchor="ctr"/>
          <a:lstStyle/>
          <a:p>
            <a:pPr marL="0" indent="0" algn="ctr">
              <a:buNone/>
            </a:pPr>
            <a:r>
              <a:rPr lang="en-US" sz="1200" b="1" dirty="0">
                <a:solidFill>
                  <a:srgbClr val="1E2761"/>
                </a:solidFill>
                <a:latin typeface="Pretendard" pitchFamily="34" charset="0"/>
                <a:ea typeface="Pretendard" pitchFamily="34" charset="-122"/>
                <a:cs typeface="Pretendard" pitchFamily="34" charset="-120"/>
              </a:rPr>
              <a:t>집행유예</a:t>
            </a:r>
            <a:endParaRPr lang="en-US" sz="1200" dirty="0"/>
          </a:p>
        </p:txBody>
      </p:sp>
      <p:sp>
        <p:nvSpPr>
          <p:cNvPr id="12" name="Text 10"/>
          <p:cNvSpPr/>
          <p:nvPr/>
        </p:nvSpPr>
        <p:spPr>
          <a:xfrm>
            <a:off x="5047488" y="2450592"/>
            <a:ext cx="1600200" cy="329184"/>
          </a:xfrm>
          <a:prstGeom prst="rect">
            <a:avLst/>
          </a:prstGeom>
          <a:noFill/>
          <a:ln/>
        </p:spPr>
        <p:txBody>
          <a:bodyPr wrap="square" lIns="0" tIns="0" rIns="0" bIns="0" rtlCol="0" anchor="ctr"/>
          <a:lstStyle/>
          <a:p>
            <a:pPr marL="0" indent="0" algn="ctr">
              <a:buNone/>
            </a:pPr>
            <a:r>
              <a:rPr lang="en-US" sz="1200" b="1" dirty="0">
                <a:solidFill>
                  <a:srgbClr val="A8871C"/>
                </a:solidFill>
                <a:latin typeface="Pretendard" pitchFamily="34" charset="0"/>
                <a:ea typeface="Pretendard" pitchFamily="34" charset="-122"/>
                <a:cs typeface="Pretendard" pitchFamily="34" charset="-120"/>
              </a:rPr>
              <a:t>소년부 송치</a:t>
            </a:r>
            <a:endParaRPr lang="en-US" sz="1200" dirty="0"/>
          </a:p>
        </p:txBody>
      </p:sp>
      <p:sp>
        <p:nvSpPr>
          <p:cNvPr id="13" name="Text 11"/>
          <p:cNvSpPr/>
          <p:nvPr/>
        </p:nvSpPr>
        <p:spPr>
          <a:xfrm>
            <a:off x="6647688" y="2450592"/>
            <a:ext cx="1517904" cy="329184"/>
          </a:xfrm>
          <a:prstGeom prst="rect">
            <a:avLst/>
          </a:prstGeom>
          <a:noFill/>
          <a:ln/>
        </p:spPr>
        <p:txBody>
          <a:bodyPr wrap="square" lIns="0" tIns="0" rIns="0" bIns="0" rtlCol="0" anchor="ctr"/>
          <a:lstStyle/>
          <a:p>
            <a:pPr marL="0" indent="0" algn="ctr">
              <a:buNone/>
            </a:pPr>
            <a:r>
              <a:rPr lang="en-US" sz="1200" b="1" dirty="0">
                <a:solidFill>
                  <a:srgbClr val="1E2761"/>
                </a:solidFill>
                <a:latin typeface="Pretendard" pitchFamily="34" charset="0"/>
                <a:ea typeface="Pretendard" pitchFamily="34" charset="-122"/>
                <a:cs typeface="Pretendard" pitchFamily="34" charset="-120"/>
              </a:rPr>
              <a:t>무죄</a:t>
            </a:r>
            <a:endParaRPr lang="en-US" sz="1200" dirty="0"/>
          </a:p>
        </p:txBody>
      </p:sp>
      <p:sp>
        <p:nvSpPr>
          <p:cNvPr id="14" name="Text 12"/>
          <p:cNvSpPr/>
          <p:nvPr/>
        </p:nvSpPr>
        <p:spPr>
          <a:xfrm>
            <a:off x="8165592" y="2450592"/>
            <a:ext cx="1517904" cy="329184"/>
          </a:xfrm>
          <a:prstGeom prst="rect">
            <a:avLst/>
          </a:prstGeom>
          <a:noFill/>
          <a:ln/>
        </p:spPr>
        <p:txBody>
          <a:bodyPr wrap="square" lIns="0" tIns="0" rIns="0" bIns="0" rtlCol="0" anchor="ctr"/>
          <a:lstStyle/>
          <a:p>
            <a:pPr marL="0" indent="0" algn="ctr">
              <a:buNone/>
            </a:pPr>
            <a:r>
              <a:rPr lang="en-US" sz="1200" b="1" dirty="0">
                <a:solidFill>
                  <a:srgbClr val="1E2761"/>
                </a:solidFill>
                <a:latin typeface="Pretendard" pitchFamily="34" charset="0"/>
                <a:ea typeface="Pretendard" pitchFamily="34" charset="-122"/>
                <a:cs typeface="Pretendard" pitchFamily="34" charset="-120"/>
              </a:rPr>
              <a:t>기타</a:t>
            </a:r>
            <a:endParaRPr lang="en-US" sz="1200" dirty="0"/>
          </a:p>
        </p:txBody>
      </p:sp>
      <p:sp>
        <p:nvSpPr>
          <p:cNvPr id="15" name="Text 13"/>
          <p:cNvSpPr/>
          <p:nvPr/>
        </p:nvSpPr>
        <p:spPr>
          <a:xfrm>
            <a:off x="9683496" y="2450592"/>
            <a:ext cx="1517904" cy="329184"/>
          </a:xfrm>
          <a:prstGeom prst="rect">
            <a:avLst/>
          </a:prstGeom>
          <a:noFill/>
          <a:ln/>
        </p:spPr>
        <p:txBody>
          <a:bodyPr wrap="square" lIns="0" tIns="0" rIns="0" bIns="0" rtlCol="0" anchor="ctr"/>
          <a:lstStyle/>
          <a:p>
            <a:pPr marL="0" indent="0" algn="ctr">
              <a:buNone/>
            </a:pPr>
            <a:r>
              <a:rPr lang="en-US" sz="1200" b="1" dirty="0">
                <a:solidFill>
                  <a:srgbClr val="1E2761"/>
                </a:solidFill>
                <a:latin typeface="Pretendard" pitchFamily="34" charset="0"/>
                <a:ea typeface="Pretendard" pitchFamily="34" charset="-122"/>
                <a:cs typeface="Pretendard" pitchFamily="34" charset="-120"/>
              </a:rPr>
              <a:t>합계</a:t>
            </a:r>
            <a:endParaRPr lang="en-US" sz="1200" dirty="0"/>
          </a:p>
        </p:txBody>
      </p:sp>
      <p:sp>
        <p:nvSpPr>
          <p:cNvPr id="16" name="Shape 14"/>
          <p:cNvSpPr/>
          <p:nvPr/>
        </p:nvSpPr>
        <p:spPr>
          <a:xfrm>
            <a:off x="731520" y="2798064"/>
            <a:ext cx="10725912" cy="0"/>
          </a:xfrm>
          <a:prstGeom prst="line">
            <a:avLst/>
          </a:prstGeom>
          <a:noFill/>
          <a:ln w="19050">
            <a:solidFill>
              <a:srgbClr val="1E2761"/>
            </a:solidFill>
            <a:prstDash val="solid"/>
          </a:ln>
        </p:spPr>
        <p:txBody>
          <a:bodyPr/>
          <a:lstStyle/>
          <a:p>
            <a:endParaRPr lang="ko-KR" altLang="en-US"/>
          </a:p>
        </p:txBody>
      </p:sp>
      <p:sp>
        <p:nvSpPr>
          <p:cNvPr id="17" name="Text 15"/>
          <p:cNvSpPr/>
          <p:nvPr/>
        </p:nvSpPr>
        <p:spPr>
          <a:xfrm>
            <a:off x="731520" y="2871216"/>
            <a:ext cx="1280160" cy="530352"/>
          </a:xfrm>
          <a:prstGeom prst="rect">
            <a:avLst/>
          </a:prstGeom>
          <a:noFill/>
          <a:ln/>
        </p:spPr>
        <p:txBody>
          <a:bodyPr wrap="square" lIns="0" tIns="0" rIns="0" bIns="0" rtlCol="0" anchor="ctr"/>
          <a:lstStyle/>
          <a:p>
            <a:pPr marL="0" indent="0">
              <a:buNone/>
            </a:pPr>
            <a:r>
              <a:rPr lang="en-US" sz="1400" b="1" dirty="0">
                <a:solidFill>
                  <a:srgbClr val="1E2761"/>
                </a:solidFill>
                <a:latin typeface="Pretendard" pitchFamily="34" charset="0"/>
                <a:ea typeface="Pretendard" pitchFamily="34" charset="-122"/>
                <a:cs typeface="Pretendard" pitchFamily="34" charset="-120"/>
              </a:rPr>
              <a:t>2023</a:t>
            </a:r>
            <a:endParaRPr lang="en-US" sz="1400" dirty="0"/>
          </a:p>
        </p:txBody>
      </p:sp>
      <p:sp>
        <p:nvSpPr>
          <p:cNvPr id="18" name="Text 16"/>
          <p:cNvSpPr/>
          <p:nvPr/>
        </p:nvSpPr>
        <p:spPr>
          <a:xfrm>
            <a:off x="2011680" y="2871216"/>
            <a:ext cx="1517904" cy="530352"/>
          </a:xfrm>
          <a:prstGeom prst="rect">
            <a:avLst/>
          </a:prstGeom>
          <a:noFill/>
          <a:ln/>
        </p:spPr>
        <p:txBody>
          <a:bodyPr wrap="square" lIns="0" tIns="0" rIns="0" bIns="0" rtlCol="0" anchor="ctr"/>
          <a:lstStyle/>
          <a:p>
            <a:pPr marL="0" indent="0" algn="ctr">
              <a:buNone/>
            </a:pPr>
            <a:r>
              <a:rPr lang="en-US" sz="1600" b="1" dirty="0">
                <a:solidFill>
                  <a:srgbClr val="1E2761"/>
                </a:solidFill>
                <a:latin typeface="Pretendard" pitchFamily="34" charset="0"/>
                <a:ea typeface="Pretendard" pitchFamily="34" charset="-122"/>
                <a:cs typeface="Pretendard" pitchFamily="34" charset="-120"/>
              </a:rPr>
              <a:t>10</a:t>
            </a:r>
            <a:endParaRPr lang="en-US" sz="1600" dirty="0"/>
          </a:p>
        </p:txBody>
      </p:sp>
      <p:sp>
        <p:nvSpPr>
          <p:cNvPr id="19" name="Text 17"/>
          <p:cNvSpPr/>
          <p:nvPr/>
        </p:nvSpPr>
        <p:spPr>
          <a:xfrm>
            <a:off x="3529584" y="2871216"/>
            <a:ext cx="1517904" cy="530352"/>
          </a:xfrm>
          <a:prstGeom prst="rect">
            <a:avLst/>
          </a:prstGeom>
          <a:noFill/>
          <a:ln/>
        </p:spPr>
        <p:txBody>
          <a:bodyPr wrap="square" lIns="0" tIns="0" rIns="0" bIns="0" rtlCol="0" anchor="ctr"/>
          <a:lstStyle/>
          <a:p>
            <a:pPr marL="0" indent="0" algn="ctr">
              <a:buNone/>
            </a:pPr>
            <a:r>
              <a:rPr lang="en-US" sz="1600" b="1" dirty="0">
                <a:solidFill>
                  <a:srgbClr val="1E2761"/>
                </a:solidFill>
                <a:latin typeface="Pretendard" pitchFamily="34" charset="0"/>
                <a:ea typeface="Pretendard" pitchFamily="34" charset="-122"/>
                <a:cs typeface="Pretendard" pitchFamily="34" charset="-120"/>
              </a:rPr>
              <a:t>5</a:t>
            </a:r>
            <a:endParaRPr lang="en-US" sz="1600" dirty="0"/>
          </a:p>
        </p:txBody>
      </p:sp>
      <p:sp>
        <p:nvSpPr>
          <p:cNvPr id="20" name="Text 18"/>
          <p:cNvSpPr/>
          <p:nvPr/>
        </p:nvSpPr>
        <p:spPr>
          <a:xfrm>
            <a:off x="5047488" y="2871216"/>
            <a:ext cx="1600200" cy="530352"/>
          </a:xfrm>
          <a:prstGeom prst="rect">
            <a:avLst/>
          </a:prstGeom>
          <a:noFill/>
          <a:ln/>
        </p:spPr>
        <p:txBody>
          <a:bodyPr wrap="square" lIns="0" tIns="0" rIns="0" bIns="0" rtlCol="0" anchor="ctr"/>
          <a:lstStyle/>
          <a:p>
            <a:pPr marL="0" indent="0" algn="ctr">
              <a:buNone/>
            </a:pPr>
            <a:r>
              <a:rPr lang="en-US" sz="1600" b="1" dirty="0">
                <a:solidFill>
                  <a:srgbClr val="A8871C"/>
                </a:solidFill>
                <a:latin typeface="Pretendard" pitchFamily="34" charset="0"/>
                <a:ea typeface="Pretendard" pitchFamily="34" charset="-122"/>
                <a:cs typeface="Pretendard" pitchFamily="34" charset="-120"/>
              </a:rPr>
              <a:t>3</a:t>
            </a:r>
            <a:endParaRPr lang="en-US" sz="1600" dirty="0"/>
          </a:p>
        </p:txBody>
      </p:sp>
      <p:sp>
        <p:nvSpPr>
          <p:cNvPr id="21" name="Text 19"/>
          <p:cNvSpPr/>
          <p:nvPr/>
        </p:nvSpPr>
        <p:spPr>
          <a:xfrm>
            <a:off x="6647688" y="2871216"/>
            <a:ext cx="1517904" cy="530352"/>
          </a:xfrm>
          <a:prstGeom prst="rect">
            <a:avLst/>
          </a:prstGeom>
          <a:noFill/>
          <a:ln/>
        </p:spPr>
        <p:txBody>
          <a:bodyPr wrap="square" lIns="0" tIns="0" rIns="0" bIns="0" rtlCol="0" anchor="ctr"/>
          <a:lstStyle/>
          <a:p>
            <a:pPr marL="0" indent="0" algn="ctr">
              <a:buNone/>
            </a:pPr>
            <a:r>
              <a:rPr lang="en-US" sz="1400" b="1" dirty="0">
                <a:solidFill>
                  <a:srgbClr val="464D5C"/>
                </a:solidFill>
                <a:latin typeface="Pretendard" pitchFamily="34" charset="0"/>
                <a:ea typeface="Pretendard" pitchFamily="34" charset="-122"/>
                <a:cs typeface="Pretendard" pitchFamily="34" charset="-120"/>
              </a:rPr>
              <a:t>1</a:t>
            </a:r>
            <a:endParaRPr lang="en-US" sz="1400" dirty="0"/>
          </a:p>
        </p:txBody>
      </p:sp>
      <p:sp>
        <p:nvSpPr>
          <p:cNvPr id="22" name="Text 20"/>
          <p:cNvSpPr/>
          <p:nvPr/>
        </p:nvSpPr>
        <p:spPr>
          <a:xfrm>
            <a:off x="8165592" y="2871216"/>
            <a:ext cx="1517904" cy="530352"/>
          </a:xfrm>
          <a:prstGeom prst="rect">
            <a:avLst/>
          </a:prstGeom>
          <a:noFill/>
          <a:ln/>
        </p:spPr>
        <p:txBody>
          <a:bodyPr wrap="square" lIns="0" tIns="0" rIns="0" bIns="0" rtlCol="0" anchor="ctr"/>
          <a:lstStyle/>
          <a:p>
            <a:pPr marL="0" indent="0" algn="ctr">
              <a:buNone/>
            </a:pPr>
            <a:r>
              <a:rPr lang="en-US" sz="1400" b="1" dirty="0">
                <a:solidFill>
                  <a:srgbClr val="464D5C"/>
                </a:solidFill>
                <a:latin typeface="Pretendard" pitchFamily="34" charset="0"/>
                <a:ea typeface="Pretendard" pitchFamily="34" charset="-122"/>
                <a:cs typeface="Pretendard" pitchFamily="34" charset="-120"/>
              </a:rPr>
              <a:t>4</a:t>
            </a:r>
            <a:endParaRPr lang="en-US" sz="1400" dirty="0"/>
          </a:p>
        </p:txBody>
      </p:sp>
      <p:sp>
        <p:nvSpPr>
          <p:cNvPr id="23" name="Text 21"/>
          <p:cNvSpPr/>
          <p:nvPr/>
        </p:nvSpPr>
        <p:spPr>
          <a:xfrm>
            <a:off x="9683496" y="2871216"/>
            <a:ext cx="1517904" cy="530352"/>
          </a:xfrm>
          <a:prstGeom prst="rect">
            <a:avLst/>
          </a:prstGeom>
          <a:noFill/>
          <a:ln/>
        </p:spPr>
        <p:txBody>
          <a:bodyPr wrap="square" lIns="0" tIns="0" rIns="0" bIns="0" rtlCol="0" anchor="ctr"/>
          <a:lstStyle/>
          <a:p>
            <a:pPr marL="0" indent="0" algn="ctr">
              <a:buNone/>
            </a:pPr>
            <a:r>
              <a:rPr lang="en-US" sz="1800" b="1" dirty="0">
                <a:solidFill>
                  <a:srgbClr val="1E2761"/>
                </a:solidFill>
                <a:latin typeface="Pretendard" pitchFamily="34" charset="0"/>
                <a:ea typeface="Pretendard" pitchFamily="34" charset="-122"/>
                <a:cs typeface="Pretendard" pitchFamily="34" charset="-120"/>
              </a:rPr>
              <a:t>23</a:t>
            </a:r>
            <a:endParaRPr lang="en-US" sz="1800" dirty="0"/>
          </a:p>
        </p:txBody>
      </p:sp>
      <p:sp>
        <p:nvSpPr>
          <p:cNvPr id="24" name="Shape 22"/>
          <p:cNvSpPr/>
          <p:nvPr/>
        </p:nvSpPr>
        <p:spPr>
          <a:xfrm>
            <a:off x="731520" y="3419856"/>
            <a:ext cx="10725912" cy="0"/>
          </a:xfrm>
          <a:prstGeom prst="line">
            <a:avLst/>
          </a:prstGeom>
          <a:noFill/>
          <a:ln w="12700">
            <a:solidFill>
              <a:srgbClr val="DCE0E8"/>
            </a:solidFill>
            <a:prstDash val="solid"/>
          </a:ln>
        </p:spPr>
        <p:txBody>
          <a:bodyPr/>
          <a:lstStyle/>
          <a:p>
            <a:endParaRPr lang="ko-KR" altLang="en-US"/>
          </a:p>
        </p:txBody>
      </p:sp>
      <p:sp>
        <p:nvSpPr>
          <p:cNvPr id="25" name="Text 23"/>
          <p:cNvSpPr/>
          <p:nvPr/>
        </p:nvSpPr>
        <p:spPr>
          <a:xfrm>
            <a:off x="731520" y="3474720"/>
            <a:ext cx="1280160" cy="530352"/>
          </a:xfrm>
          <a:prstGeom prst="rect">
            <a:avLst/>
          </a:prstGeom>
          <a:noFill/>
          <a:ln/>
        </p:spPr>
        <p:txBody>
          <a:bodyPr wrap="square" lIns="0" tIns="0" rIns="0" bIns="0" rtlCol="0" anchor="ctr"/>
          <a:lstStyle/>
          <a:p>
            <a:pPr marL="0" indent="0">
              <a:buNone/>
            </a:pPr>
            <a:r>
              <a:rPr lang="en-US" sz="1400" b="1" dirty="0">
                <a:solidFill>
                  <a:srgbClr val="1E2761"/>
                </a:solidFill>
                <a:latin typeface="Pretendard" pitchFamily="34" charset="0"/>
                <a:ea typeface="Pretendard" pitchFamily="34" charset="-122"/>
                <a:cs typeface="Pretendard" pitchFamily="34" charset="-120"/>
              </a:rPr>
              <a:t>2024</a:t>
            </a:r>
            <a:endParaRPr lang="en-US" sz="1400" dirty="0"/>
          </a:p>
        </p:txBody>
      </p:sp>
      <p:sp>
        <p:nvSpPr>
          <p:cNvPr id="26" name="Text 24"/>
          <p:cNvSpPr/>
          <p:nvPr/>
        </p:nvSpPr>
        <p:spPr>
          <a:xfrm>
            <a:off x="2011680" y="3474720"/>
            <a:ext cx="1517904" cy="530352"/>
          </a:xfrm>
          <a:prstGeom prst="rect">
            <a:avLst/>
          </a:prstGeom>
          <a:noFill/>
          <a:ln/>
        </p:spPr>
        <p:txBody>
          <a:bodyPr wrap="square" lIns="0" tIns="0" rIns="0" bIns="0" rtlCol="0" anchor="ctr"/>
          <a:lstStyle/>
          <a:p>
            <a:pPr marL="0" indent="0" algn="ctr">
              <a:buNone/>
            </a:pPr>
            <a:r>
              <a:rPr lang="en-US" sz="1600" b="1" dirty="0">
                <a:solidFill>
                  <a:srgbClr val="1E2761"/>
                </a:solidFill>
                <a:latin typeface="Pretendard" pitchFamily="34" charset="0"/>
                <a:ea typeface="Pretendard" pitchFamily="34" charset="-122"/>
                <a:cs typeface="Pretendard" pitchFamily="34" charset="-120"/>
              </a:rPr>
              <a:t>4</a:t>
            </a:r>
            <a:endParaRPr lang="en-US" sz="1600" dirty="0"/>
          </a:p>
        </p:txBody>
      </p:sp>
      <p:sp>
        <p:nvSpPr>
          <p:cNvPr id="27" name="Text 25"/>
          <p:cNvSpPr/>
          <p:nvPr/>
        </p:nvSpPr>
        <p:spPr>
          <a:xfrm>
            <a:off x="3529584" y="3474720"/>
            <a:ext cx="1517904" cy="530352"/>
          </a:xfrm>
          <a:prstGeom prst="rect">
            <a:avLst/>
          </a:prstGeom>
          <a:noFill/>
          <a:ln/>
        </p:spPr>
        <p:txBody>
          <a:bodyPr wrap="square" lIns="0" tIns="0" rIns="0" bIns="0" rtlCol="0" anchor="ctr"/>
          <a:lstStyle/>
          <a:p>
            <a:pPr marL="0" indent="0" algn="ctr">
              <a:buNone/>
            </a:pPr>
            <a:r>
              <a:rPr lang="en-US" sz="1600" b="1" dirty="0">
                <a:solidFill>
                  <a:srgbClr val="1E2761"/>
                </a:solidFill>
                <a:latin typeface="Pretendard" pitchFamily="34" charset="0"/>
                <a:ea typeface="Pretendard" pitchFamily="34" charset="-122"/>
                <a:cs typeface="Pretendard" pitchFamily="34" charset="-120"/>
              </a:rPr>
              <a:t>6</a:t>
            </a:r>
            <a:endParaRPr lang="en-US" sz="1600" dirty="0"/>
          </a:p>
        </p:txBody>
      </p:sp>
      <p:sp>
        <p:nvSpPr>
          <p:cNvPr id="28" name="Text 26"/>
          <p:cNvSpPr/>
          <p:nvPr/>
        </p:nvSpPr>
        <p:spPr>
          <a:xfrm>
            <a:off x="5047488" y="3474720"/>
            <a:ext cx="1600200" cy="530352"/>
          </a:xfrm>
          <a:prstGeom prst="rect">
            <a:avLst/>
          </a:prstGeom>
          <a:noFill/>
          <a:ln/>
        </p:spPr>
        <p:txBody>
          <a:bodyPr wrap="square" lIns="0" tIns="0" rIns="0" bIns="0" rtlCol="0" anchor="ctr"/>
          <a:lstStyle/>
          <a:p>
            <a:pPr marL="0" indent="0" algn="ctr">
              <a:buNone/>
            </a:pPr>
            <a:r>
              <a:rPr lang="en-US" sz="1600" b="1" dirty="0">
                <a:solidFill>
                  <a:srgbClr val="A8871C"/>
                </a:solidFill>
                <a:latin typeface="Pretendard" pitchFamily="34" charset="0"/>
                <a:ea typeface="Pretendard" pitchFamily="34" charset="-122"/>
                <a:cs typeface="Pretendard" pitchFamily="34" charset="-120"/>
              </a:rPr>
              <a:t>3</a:t>
            </a:r>
            <a:endParaRPr lang="en-US" sz="1600" dirty="0"/>
          </a:p>
        </p:txBody>
      </p:sp>
      <p:sp>
        <p:nvSpPr>
          <p:cNvPr id="29" name="Text 27"/>
          <p:cNvSpPr/>
          <p:nvPr/>
        </p:nvSpPr>
        <p:spPr>
          <a:xfrm>
            <a:off x="6647688" y="3474720"/>
            <a:ext cx="1517904" cy="530352"/>
          </a:xfrm>
          <a:prstGeom prst="rect">
            <a:avLst/>
          </a:prstGeom>
          <a:noFill/>
          <a:ln/>
        </p:spPr>
        <p:txBody>
          <a:bodyPr wrap="square" lIns="0" tIns="0" rIns="0" bIns="0" rtlCol="0" anchor="ctr"/>
          <a:lstStyle/>
          <a:p>
            <a:pPr marL="0" indent="0" algn="ctr">
              <a:buNone/>
            </a:pPr>
            <a:r>
              <a:rPr lang="en-US" sz="1400" b="1" dirty="0">
                <a:solidFill>
                  <a:srgbClr val="464D5C"/>
                </a:solidFill>
                <a:latin typeface="Pretendard" pitchFamily="34" charset="0"/>
                <a:ea typeface="Pretendard" pitchFamily="34" charset="-122"/>
                <a:cs typeface="Pretendard" pitchFamily="34" charset="-120"/>
              </a:rPr>
              <a:t>0</a:t>
            </a:r>
            <a:endParaRPr lang="en-US" sz="1400" dirty="0"/>
          </a:p>
        </p:txBody>
      </p:sp>
      <p:sp>
        <p:nvSpPr>
          <p:cNvPr id="30" name="Text 28"/>
          <p:cNvSpPr/>
          <p:nvPr/>
        </p:nvSpPr>
        <p:spPr>
          <a:xfrm>
            <a:off x="8165592" y="3474720"/>
            <a:ext cx="1517904" cy="530352"/>
          </a:xfrm>
          <a:prstGeom prst="rect">
            <a:avLst/>
          </a:prstGeom>
          <a:noFill/>
          <a:ln/>
        </p:spPr>
        <p:txBody>
          <a:bodyPr wrap="square" lIns="0" tIns="0" rIns="0" bIns="0" rtlCol="0" anchor="ctr"/>
          <a:lstStyle/>
          <a:p>
            <a:pPr marL="0" indent="0" algn="ctr">
              <a:buNone/>
            </a:pPr>
            <a:r>
              <a:rPr lang="en-US" sz="1400" b="1" dirty="0">
                <a:solidFill>
                  <a:srgbClr val="464D5C"/>
                </a:solidFill>
                <a:latin typeface="Pretendard" pitchFamily="34" charset="0"/>
                <a:ea typeface="Pretendard" pitchFamily="34" charset="-122"/>
                <a:cs typeface="Pretendard" pitchFamily="34" charset="-120"/>
              </a:rPr>
              <a:t>1</a:t>
            </a:r>
            <a:endParaRPr lang="en-US" sz="1400" dirty="0"/>
          </a:p>
        </p:txBody>
      </p:sp>
      <p:sp>
        <p:nvSpPr>
          <p:cNvPr id="31" name="Text 29"/>
          <p:cNvSpPr/>
          <p:nvPr/>
        </p:nvSpPr>
        <p:spPr>
          <a:xfrm>
            <a:off x="9683496" y="3474720"/>
            <a:ext cx="1517904" cy="530352"/>
          </a:xfrm>
          <a:prstGeom prst="rect">
            <a:avLst/>
          </a:prstGeom>
          <a:noFill/>
          <a:ln/>
        </p:spPr>
        <p:txBody>
          <a:bodyPr wrap="square" lIns="0" tIns="0" rIns="0" bIns="0" rtlCol="0" anchor="ctr"/>
          <a:lstStyle/>
          <a:p>
            <a:pPr marL="0" indent="0" algn="ctr">
              <a:buNone/>
            </a:pPr>
            <a:r>
              <a:rPr lang="en-US" sz="1800" b="1" dirty="0">
                <a:solidFill>
                  <a:srgbClr val="1E2761"/>
                </a:solidFill>
                <a:latin typeface="Pretendard" pitchFamily="34" charset="0"/>
                <a:ea typeface="Pretendard" pitchFamily="34" charset="-122"/>
                <a:cs typeface="Pretendard" pitchFamily="34" charset="-120"/>
              </a:rPr>
              <a:t>14</a:t>
            </a:r>
            <a:endParaRPr lang="en-US" sz="1800" dirty="0"/>
          </a:p>
        </p:txBody>
      </p:sp>
      <p:sp>
        <p:nvSpPr>
          <p:cNvPr id="32" name="Shape 30"/>
          <p:cNvSpPr/>
          <p:nvPr/>
        </p:nvSpPr>
        <p:spPr>
          <a:xfrm>
            <a:off x="731520" y="4023360"/>
            <a:ext cx="10725912" cy="0"/>
          </a:xfrm>
          <a:prstGeom prst="line">
            <a:avLst/>
          </a:prstGeom>
          <a:noFill/>
          <a:ln w="19050">
            <a:solidFill>
              <a:srgbClr val="1E2761"/>
            </a:solidFill>
            <a:prstDash val="solid"/>
          </a:ln>
        </p:spPr>
        <p:txBody>
          <a:bodyPr/>
          <a:lstStyle/>
          <a:p>
            <a:endParaRPr lang="ko-KR" altLang="en-US"/>
          </a:p>
        </p:txBody>
      </p:sp>
      <p:sp>
        <p:nvSpPr>
          <p:cNvPr id="33" name="Text 31"/>
          <p:cNvSpPr/>
          <p:nvPr/>
        </p:nvSpPr>
        <p:spPr>
          <a:xfrm>
            <a:off x="731520" y="4035768"/>
            <a:ext cx="10725912" cy="237744"/>
          </a:xfrm>
          <a:prstGeom prst="rect">
            <a:avLst/>
          </a:prstGeom>
          <a:noFill/>
          <a:ln/>
        </p:spPr>
        <p:txBody>
          <a:bodyPr wrap="square" lIns="0" tIns="0" rIns="0" bIns="0" rtlCol="0" anchor="ctr"/>
          <a:lstStyle/>
          <a:p>
            <a:pPr marL="0" indent="0">
              <a:buNone/>
            </a:pPr>
            <a:r>
              <a:rPr lang="en-US" sz="1100" b="1" dirty="0" err="1">
                <a:solidFill>
                  <a:srgbClr val="1E2761"/>
                </a:solidFill>
                <a:latin typeface="Pretendard" pitchFamily="34" charset="0"/>
                <a:ea typeface="Pretendard" pitchFamily="34" charset="-122"/>
                <a:cs typeface="Pretendard" pitchFamily="34" charset="-120"/>
              </a:rPr>
              <a:t>부정기형</a:t>
            </a:r>
            <a:r>
              <a:rPr lang="en-US" sz="1100" b="1" dirty="0">
                <a:solidFill>
                  <a:srgbClr val="1E2761"/>
                </a:solidFill>
                <a:latin typeface="Pretendard" pitchFamily="34" charset="0"/>
                <a:ea typeface="Pretendard" pitchFamily="34" charset="-122"/>
                <a:cs typeface="Pretendard" pitchFamily="34" charset="-120"/>
              </a:rPr>
              <a:t>   </a:t>
            </a:r>
            <a:r>
              <a:rPr lang="en-US" sz="1100" dirty="0" err="1">
                <a:solidFill>
                  <a:srgbClr val="222633"/>
                </a:solidFill>
                <a:latin typeface="Pretendard" pitchFamily="34" charset="0"/>
                <a:ea typeface="Pretendard" pitchFamily="34" charset="-122"/>
                <a:cs typeface="Pretendard" pitchFamily="34" charset="-120"/>
              </a:rPr>
              <a:t>장기와</a:t>
            </a:r>
            <a:r>
              <a:rPr lang="en-US" sz="1100" dirty="0">
                <a:solidFill>
                  <a:srgbClr val="222633"/>
                </a:solidFill>
                <a:latin typeface="Pretendard" pitchFamily="34" charset="0"/>
                <a:ea typeface="Pretendard" pitchFamily="34" charset="-122"/>
                <a:cs typeface="Pretendard" pitchFamily="34" charset="-120"/>
              </a:rPr>
              <a:t> </a:t>
            </a:r>
            <a:r>
              <a:rPr lang="en-US" sz="1100" dirty="0" err="1">
                <a:solidFill>
                  <a:srgbClr val="222633"/>
                </a:solidFill>
                <a:latin typeface="Pretendard" pitchFamily="34" charset="0"/>
                <a:ea typeface="Pretendard" pitchFamily="34" charset="-122"/>
                <a:cs typeface="Pretendard" pitchFamily="34" charset="-120"/>
              </a:rPr>
              <a:t>단기를</a:t>
            </a:r>
            <a:r>
              <a:rPr lang="en-US" sz="1100" dirty="0">
                <a:solidFill>
                  <a:srgbClr val="222633"/>
                </a:solidFill>
                <a:latin typeface="Pretendard" pitchFamily="34" charset="0"/>
                <a:ea typeface="Pretendard" pitchFamily="34" charset="-122"/>
                <a:cs typeface="Pretendard" pitchFamily="34" charset="-120"/>
              </a:rPr>
              <a:t> </a:t>
            </a:r>
            <a:r>
              <a:rPr lang="en-US" sz="1100" dirty="0" err="1">
                <a:solidFill>
                  <a:srgbClr val="222633"/>
                </a:solidFill>
                <a:latin typeface="Pretendard" pitchFamily="34" charset="0"/>
                <a:ea typeface="Pretendard" pitchFamily="34" charset="-122"/>
                <a:cs typeface="Pretendard" pitchFamily="34" charset="-120"/>
              </a:rPr>
              <a:t>정하여</a:t>
            </a:r>
            <a:r>
              <a:rPr lang="en-US" sz="1100" dirty="0">
                <a:solidFill>
                  <a:srgbClr val="222633"/>
                </a:solidFill>
                <a:latin typeface="Pretendard" pitchFamily="34" charset="0"/>
                <a:ea typeface="Pretendard" pitchFamily="34" charset="-122"/>
                <a:cs typeface="Pretendard" pitchFamily="34" charset="-120"/>
              </a:rPr>
              <a:t> </a:t>
            </a:r>
            <a:r>
              <a:rPr lang="en-US" sz="1100" dirty="0" err="1">
                <a:solidFill>
                  <a:srgbClr val="222633"/>
                </a:solidFill>
                <a:latin typeface="Pretendard" pitchFamily="34" charset="0"/>
                <a:ea typeface="Pretendard" pitchFamily="34" charset="-122"/>
                <a:cs typeface="Pretendard" pitchFamily="34" charset="-120"/>
              </a:rPr>
              <a:t>선고하는</a:t>
            </a:r>
            <a:r>
              <a:rPr lang="en-US" sz="1100" dirty="0">
                <a:solidFill>
                  <a:srgbClr val="222633"/>
                </a:solidFill>
                <a:latin typeface="Pretendard" pitchFamily="34" charset="0"/>
                <a:ea typeface="Pretendard" pitchFamily="34" charset="-122"/>
                <a:cs typeface="Pretendard" pitchFamily="34" charset="-120"/>
              </a:rPr>
              <a:t> </a:t>
            </a:r>
            <a:r>
              <a:rPr lang="en-US" sz="1100" dirty="0" err="1">
                <a:solidFill>
                  <a:srgbClr val="222633"/>
                </a:solidFill>
                <a:latin typeface="Pretendard" pitchFamily="34" charset="0"/>
                <a:ea typeface="Pretendard" pitchFamily="34" charset="-122"/>
                <a:cs typeface="Pretendard" pitchFamily="34" charset="-120"/>
              </a:rPr>
              <a:t>소년의</a:t>
            </a:r>
            <a:r>
              <a:rPr lang="en-US" sz="1100" dirty="0">
                <a:solidFill>
                  <a:srgbClr val="222633"/>
                </a:solidFill>
                <a:latin typeface="Pretendard" pitchFamily="34" charset="0"/>
                <a:ea typeface="Pretendard" pitchFamily="34" charset="-122"/>
                <a:cs typeface="Pretendard" pitchFamily="34" charset="-120"/>
              </a:rPr>
              <a:t> </a:t>
            </a:r>
            <a:r>
              <a:rPr lang="en-US" sz="1100" dirty="0" err="1">
                <a:solidFill>
                  <a:srgbClr val="222633"/>
                </a:solidFill>
                <a:latin typeface="Pretendard" pitchFamily="34" charset="0"/>
                <a:ea typeface="Pretendard" pitchFamily="34" charset="-122"/>
                <a:cs typeface="Pretendard" pitchFamily="34" charset="-120"/>
              </a:rPr>
              <a:t>자유형</a:t>
            </a:r>
            <a:r>
              <a:rPr lang="en-US" sz="1100" dirty="0">
                <a:solidFill>
                  <a:srgbClr val="222633"/>
                </a:solidFill>
                <a:latin typeface="Pretendard" pitchFamily="34" charset="0"/>
                <a:ea typeface="Pretendard" pitchFamily="34" charset="-122"/>
                <a:cs typeface="Pretendard" pitchFamily="34" charset="-120"/>
              </a:rPr>
              <a:t>      </a:t>
            </a:r>
            <a:r>
              <a:rPr lang="en-US" sz="1100" b="1" dirty="0" err="1">
                <a:solidFill>
                  <a:srgbClr val="1E2761"/>
                </a:solidFill>
                <a:latin typeface="Pretendard" pitchFamily="34" charset="0"/>
                <a:ea typeface="Pretendard" pitchFamily="34" charset="-122"/>
                <a:cs typeface="Pretendard" pitchFamily="34" charset="-120"/>
              </a:rPr>
              <a:t>집행유예</a:t>
            </a:r>
            <a:r>
              <a:rPr lang="en-US" sz="1100" b="1" dirty="0">
                <a:solidFill>
                  <a:srgbClr val="1E2761"/>
                </a:solidFill>
                <a:latin typeface="Pretendard" pitchFamily="34" charset="0"/>
                <a:ea typeface="Pretendard" pitchFamily="34" charset="-122"/>
                <a:cs typeface="Pretendard" pitchFamily="34" charset="-120"/>
              </a:rPr>
              <a:t>   </a:t>
            </a:r>
            <a:r>
              <a:rPr lang="en-US" sz="1100" dirty="0" err="1">
                <a:solidFill>
                  <a:srgbClr val="222633"/>
                </a:solidFill>
                <a:latin typeface="Pretendard" pitchFamily="34" charset="0"/>
                <a:ea typeface="Pretendard" pitchFamily="34" charset="-122"/>
                <a:cs typeface="Pretendard" pitchFamily="34" charset="-120"/>
              </a:rPr>
              <a:t>선고한</a:t>
            </a:r>
            <a:r>
              <a:rPr lang="en-US" sz="1100" dirty="0">
                <a:solidFill>
                  <a:srgbClr val="222633"/>
                </a:solidFill>
                <a:latin typeface="Pretendard" pitchFamily="34" charset="0"/>
                <a:ea typeface="Pretendard" pitchFamily="34" charset="-122"/>
                <a:cs typeface="Pretendard" pitchFamily="34" charset="-120"/>
              </a:rPr>
              <a:t> </a:t>
            </a:r>
            <a:r>
              <a:rPr lang="en-US" sz="1100" dirty="0" err="1">
                <a:solidFill>
                  <a:srgbClr val="222633"/>
                </a:solidFill>
                <a:latin typeface="Pretendard" pitchFamily="34" charset="0"/>
                <a:ea typeface="Pretendard" pitchFamily="34" charset="-122"/>
                <a:cs typeface="Pretendard" pitchFamily="34" charset="-120"/>
              </a:rPr>
              <a:t>형의</a:t>
            </a:r>
            <a:r>
              <a:rPr lang="en-US" sz="1100" dirty="0">
                <a:solidFill>
                  <a:srgbClr val="222633"/>
                </a:solidFill>
                <a:latin typeface="Pretendard" pitchFamily="34" charset="0"/>
                <a:ea typeface="Pretendard" pitchFamily="34" charset="-122"/>
                <a:cs typeface="Pretendard" pitchFamily="34" charset="-120"/>
              </a:rPr>
              <a:t> </a:t>
            </a:r>
            <a:r>
              <a:rPr lang="en-US" sz="1100" dirty="0" err="1">
                <a:solidFill>
                  <a:srgbClr val="222633"/>
                </a:solidFill>
                <a:latin typeface="Pretendard" pitchFamily="34" charset="0"/>
                <a:ea typeface="Pretendard" pitchFamily="34" charset="-122"/>
                <a:cs typeface="Pretendard" pitchFamily="34" charset="-120"/>
              </a:rPr>
              <a:t>집행을</a:t>
            </a:r>
            <a:r>
              <a:rPr lang="en-US" sz="1100" dirty="0">
                <a:solidFill>
                  <a:srgbClr val="222633"/>
                </a:solidFill>
                <a:latin typeface="Pretendard" pitchFamily="34" charset="0"/>
                <a:ea typeface="Pretendard" pitchFamily="34" charset="-122"/>
                <a:cs typeface="Pretendard" pitchFamily="34" charset="-120"/>
              </a:rPr>
              <a:t> </a:t>
            </a:r>
            <a:r>
              <a:rPr lang="en-US" sz="1100" dirty="0" err="1">
                <a:solidFill>
                  <a:srgbClr val="222633"/>
                </a:solidFill>
                <a:latin typeface="Pretendard" pitchFamily="34" charset="0"/>
                <a:ea typeface="Pretendard" pitchFamily="34" charset="-122"/>
                <a:cs typeface="Pretendard" pitchFamily="34" charset="-120"/>
              </a:rPr>
              <a:t>일정</a:t>
            </a:r>
            <a:r>
              <a:rPr lang="en-US" sz="1100" dirty="0">
                <a:solidFill>
                  <a:srgbClr val="222633"/>
                </a:solidFill>
                <a:latin typeface="Pretendard" pitchFamily="34" charset="0"/>
                <a:ea typeface="Pretendard" pitchFamily="34" charset="-122"/>
                <a:cs typeface="Pretendard" pitchFamily="34" charset="-120"/>
              </a:rPr>
              <a:t> </a:t>
            </a:r>
            <a:r>
              <a:rPr lang="en-US" sz="1100" dirty="0" err="1">
                <a:solidFill>
                  <a:srgbClr val="222633"/>
                </a:solidFill>
                <a:latin typeface="Pretendard" pitchFamily="34" charset="0"/>
                <a:ea typeface="Pretendard" pitchFamily="34" charset="-122"/>
                <a:cs typeface="Pretendard" pitchFamily="34" charset="-120"/>
              </a:rPr>
              <a:t>기간</a:t>
            </a:r>
            <a:r>
              <a:rPr lang="en-US" sz="1100" dirty="0">
                <a:solidFill>
                  <a:srgbClr val="222633"/>
                </a:solidFill>
                <a:latin typeface="Pretendard" pitchFamily="34" charset="0"/>
                <a:ea typeface="Pretendard" pitchFamily="34" charset="-122"/>
                <a:cs typeface="Pretendard" pitchFamily="34" charset="-120"/>
              </a:rPr>
              <a:t> </a:t>
            </a:r>
            <a:r>
              <a:rPr lang="en-US" sz="1100" dirty="0" err="1">
                <a:solidFill>
                  <a:srgbClr val="222633"/>
                </a:solidFill>
                <a:latin typeface="Pretendard" pitchFamily="34" charset="0"/>
                <a:ea typeface="Pretendard" pitchFamily="34" charset="-122"/>
                <a:cs typeface="Pretendard" pitchFamily="34" charset="-120"/>
              </a:rPr>
              <a:t>유예하는</a:t>
            </a:r>
            <a:r>
              <a:rPr lang="en-US" sz="1100" dirty="0">
                <a:solidFill>
                  <a:srgbClr val="222633"/>
                </a:solidFill>
                <a:latin typeface="Pretendard" pitchFamily="34" charset="0"/>
                <a:ea typeface="Pretendard" pitchFamily="34" charset="-122"/>
                <a:cs typeface="Pretendard" pitchFamily="34" charset="-120"/>
              </a:rPr>
              <a:t> </a:t>
            </a:r>
            <a:r>
              <a:rPr lang="en-US" sz="1100" dirty="0" err="1">
                <a:solidFill>
                  <a:srgbClr val="222633"/>
                </a:solidFill>
                <a:latin typeface="Pretendard" pitchFamily="34" charset="0"/>
                <a:ea typeface="Pretendard" pitchFamily="34" charset="-122"/>
                <a:cs typeface="Pretendard" pitchFamily="34" charset="-120"/>
              </a:rPr>
              <a:t>결과</a:t>
            </a:r>
            <a:endParaRPr lang="en-US" sz="1100" dirty="0"/>
          </a:p>
        </p:txBody>
      </p:sp>
      <p:sp>
        <p:nvSpPr>
          <p:cNvPr id="34" name="Text 32"/>
          <p:cNvSpPr/>
          <p:nvPr/>
        </p:nvSpPr>
        <p:spPr>
          <a:xfrm>
            <a:off x="731520" y="4273512"/>
            <a:ext cx="10725912" cy="237744"/>
          </a:xfrm>
          <a:prstGeom prst="rect">
            <a:avLst/>
          </a:prstGeom>
          <a:noFill/>
          <a:ln/>
        </p:spPr>
        <p:txBody>
          <a:bodyPr wrap="square" lIns="0" tIns="0" rIns="0" bIns="0" rtlCol="0" anchor="ctr"/>
          <a:lstStyle/>
          <a:p>
            <a:pPr marL="0" indent="0">
              <a:buNone/>
            </a:pPr>
            <a:r>
              <a:rPr lang="en-US" sz="1100" b="1" dirty="0">
                <a:solidFill>
                  <a:srgbClr val="A8871C"/>
                </a:solidFill>
                <a:latin typeface="Pretendard" pitchFamily="34" charset="0"/>
                <a:ea typeface="Pretendard" pitchFamily="34" charset="-122"/>
                <a:cs typeface="Pretendard" pitchFamily="34" charset="-120"/>
              </a:rPr>
              <a:t>소년부 송치   </a:t>
            </a:r>
            <a:r>
              <a:rPr lang="en-US" sz="1100" dirty="0">
                <a:solidFill>
                  <a:srgbClr val="222633"/>
                </a:solidFill>
                <a:latin typeface="Pretendard" pitchFamily="34" charset="0"/>
                <a:ea typeface="Pretendard" pitchFamily="34" charset="-122"/>
                <a:cs typeface="Pretendard" pitchFamily="34" charset="-120"/>
              </a:rPr>
              <a:t>소년부가 보호처분 필요성과 내용을 판단하도록 사건을 보내는 결과</a:t>
            </a:r>
            <a:endParaRPr lang="en-US" sz="1100" dirty="0"/>
          </a:p>
        </p:txBody>
      </p:sp>
      <p:sp>
        <p:nvSpPr>
          <p:cNvPr id="36" name="Text 34"/>
          <p:cNvSpPr/>
          <p:nvPr/>
        </p:nvSpPr>
        <p:spPr>
          <a:xfrm>
            <a:off x="731520" y="5455703"/>
            <a:ext cx="10725912" cy="237744"/>
          </a:xfrm>
          <a:prstGeom prst="rect">
            <a:avLst/>
          </a:prstGeom>
          <a:noFill/>
          <a:ln/>
        </p:spPr>
        <p:txBody>
          <a:bodyPr wrap="square" lIns="0" tIns="0" rIns="0" bIns="0" rtlCol="0" anchor="ctr"/>
          <a:lstStyle/>
          <a:p>
            <a:pPr marL="0" indent="0">
              <a:buNone/>
            </a:pPr>
            <a:r>
              <a:rPr lang="ko-KR" altLang="en-US" sz="1100" dirty="0">
                <a:solidFill>
                  <a:srgbClr val="6E7686"/>
                </a:solidFill>
                <a:latin typeface="Pretendard" pitchFamily="34" charset="0"/>
                <a:ea typeface="Pretendard" pitchFamily="34" charset="-122"/>
                <a:cs typeface="Pretendard" pitchFamily="34" charset="-120"/>
              </a:rPr>
              <a:t>소년범죄에서도 특가법에 </a:t>
            </a:r>
            <a:r>
              <a:rPr lang="ko-KR" altLang="en-US" sz="1100" dirty="0" err="1">
                <a:solidFill>
                  <a:srgbClr val="6E7686"/>
                </a:solidFill>
                <a:latin typeface="Pretendard" pitchFamily="34" charset="0"/>
                <a:ea typeface="Pretendard" pitchFamily="34" charset="-122"/>
                <a:cs typeface="Pretendard" pitchFamily="34" charset="-120"/>
              </a:rPr>
              <a:t>저촉될만큼</a:t>
            </a:r>
            <a:r>
              <a:rPr lang="ko-KR" altLang="en-US" sz="1100" dirty="0">
                <a:solidFill>
                  <a:srgbClr val="6E7686"/>
                </a:solidFill>
                <a:latin typeface="Pretendard" pitchFamily="34" charset="0"/>
                <a:ea typeface="Pretendard" pitchFamily="34" charset="-122"/>
                <a:cs typeface="Pretendard" pitchFamily="34" charset="-120"/>
              </a:rPr>
              <a:t> 큰 규모의 사건이 발생했다</a:t>
            </a:r>
            <a:endParaRPr lang="en-US" sz="1100" dirty="0"/>
          </a:p>
        </p:txBody>
      </p:sp>
      <p:sp>
        <p:nvSpPr>
          <p:cNvPr id="38" name="Text 36"/>
          <p:cNvSpPr/>
          <p:nvPr/>
        </p:nvSpPr>
        <p:spPr>
          <a:xfrm>
            <a:off x="731520" y="5878254"/>
            <a:ext cx="10725912" cy="430126"/>
          </a:xfrm>
          <a:prstGeom prst="rect">
            <a:avLst/>
          </a:prstGeom>
          <a:solidFill>
            <a:schemeClr val="accent1">
              <a:lumMod val="20000"/>
              <a:lumOff val="80000"/>
            </a:schemeClr>
          </a:solidFill>
          <a:ln/>
        </p:spPr>
        <p:txBody>
          <a:bodyPr wrap="square" lIns="0" tIns="0" rIns="0" bIns="0" rtlCol="0" anchor="ctr"/>
          <a:lstStyle/>
          <a:p>
            <a:pPr algn="ctr"/>
            <a:r>
              <a:rPr lang="ko-KR" altLang="en-US" sz="1250" b="1" dirty="0">
                <a:solidFill>
                  <a:srgbClr val="1E2761"/>
                </a:solidFill>
                <a:latin typeface="Pretendard" pitchFamily="34" charset="0"/>
                <a:ea typeface="Pretendard" pitchFamily="34" charset="-122"/>
                <a:cs typeface="Pretendard" pitchFamily="34" charset="-120"/>
              </a:rPr>
              <a:t>두 연도 모두 형 선고와 소년부 송치가 함께 나타나며</a:t>
            </a:r>
            <a:r>
              <a:rPr lang="en-US" altLang="ko-KR" sz="1250" b="1" dirty="0">
                <a:solidFill>
                  <a:srgbClr val="1E2761"/>
                </a:solidFill>
                <a:latin typeface="Pretendard" pitchFamily="34" charset="0"/>
                <a:ea typeface="Pretendard" pitchFamily="34" charset="-122"/>
                <a:cs typeface="Pretendard" pitchFamily="34" charset="-120"/>
              </a:rPr>
              <a:t>, </a:t>
            </a:r>
            <a:r>
              <a:rPr lang="ko-KR" altLang="en-US" sz="1250" b="1" dirty="0">
                <a:solidFill>
                  <a:srgbClr val="1E2761"/>
                </a:solidFill>
                <a:latin typeface="Pretendard" pitchFamily="34" charset="0"/>
                <a:ea typeface="Pretendard" pitchFamily="34" charset="-122"/>
                <a:cs typeface="Pretendard" pitchFamily="34" charset="-120"/>
              </a:rPr>
              <a:t>재판 인원의 감소가 장기 추세인지는 이 표만으로 판단할 수 없다</a:t>
            </a:r>
          </a:p>
        </p:txBody>
      </p:sp>
      <p:sp>
        <p:nvSpPr>
          <p:cNvPr id="44" name="Text 37">
            <a:extLst>
              <a:ext uri="{FF2B5EF4-FFF2-40B4-BE49-F238E27FC236}">
                <a16:creationId xmlns:a16="http://schemas.microsoft.com/office/drawing/2014/main" id="{E9B6FF1A-5BE1-3F1A-69C4-996341FFD1A8}"/>
              </a:ext>
            </a:extLst>
          </p:cNvPr>
          <p:cNvSpPr/>
          <p:nvPr/>
        </p:nvSpPr>
        <p:spPr>
          <a:xfrm>
            <a:off x="731520" y="4552374"/>
            <a:ext cx="10921064" cy="888305"/>
          </a:xfrm>
          <a:prstGeom prst="rect">
            <a:avLst/>
          </a:prstGeom>
          <a:noFill/>
          <a:ln/>
        </p:spPr>
        <p:txBody>
          <a:bodyPr wrap="square" lIns="0" tIns="0" rIns="0" bIns="0" rtlCol="0" anchor="ctr"/>
          <a:lstStyle/>
          <a:p>
            <a:pPr>
              <a:lnSpc>
                <a:spcPct val="150000"/>
              </a:lnSpc>
            </a:pPr>
            <a:r>
              <a:rPr lang="ko-KR" altLang="en-US" sz="1150" b="1" dirty="0">
                <a:solidFill>
                  <a:srgbClr val="A8871C"/>
                </a:solidFill>
                <a:latin typeface="Pretendard" pitchFamily="34" charset="0"/>
                <a:ea typeface="Pretendard" pitchFamily="34" charset="-122"/>
                <a:cs typeface="Pretendard" pitchFamily="34" charset="-120"/>
              </a:rPr>
              <a:t>① 특가법</a:t>
            </a:r>
            <a:r>
              <a:rPr lang="en-US" sz="1150" b="1" dirty="0">
                <a:solidFill>
                  <a:srgbClr val="A8871C"/>
                </a:solidFill>
                <a:latin typeface="Pretendard" pitchFamily="34" charset="0"/>
                <a:ea typeface="Pretendard" pitchFamily="34" charset="-122"/>
                <a:cs typeface="Pretendard" pitchFamily="34" charset="-120"/>
              </a:rPr>
              <a:t>   </a:t>
            </a:r>
            <a:r>
              <a:rPr lang="en-US" sz="1150" dirty="0">
                <a:solidFill>
                  <a:srgbClr val="222633"/>
                </a:solidFill>
                <a:latin typeface="Pretendard" pitchFamily="34" charset="0"/>
                <a:ea typeface="Pretendard" pitchFamily="34" charset="-122"/>
                <a:cs typeface="Pretendard" pitchFamily="34" charset="-120"/>
              </a:rPr>
              <a:t>「특정범죄 가중처벌 등에 관한 법률」  ·  </a:t>
            </a:r>
            <a:r>
              <a:rPr lang="ko-KR" altLang="en-US" sz="1150" b="1" dirty="0">
                <a:solidFill>
                  <a:srgbClr val="222633"/>
                </a:solidFill>
                <a:latin typeface="Pretendard" pitchFamily="34" charset="0"/>
                <a:ea typeface="Pretendard" pitchFamily="34" charset="-122"/>
                <a:cs typeface="Pretendard" pitchFamily="34" charset="-120"/>
              </a:rPr>
              <a:t>특정 범죄가 법에서 정한 추가 요건을 충족하면</a:t>
            </a:r>
            <a:r>
              <a:rPr lang="en-US" altLang="ko-KR" sz="1150" b="1" dirty="0">
                <a:solidFill>
                  <a:srgbClr val="222633"/>
                </a:solidFill>
                <a:latin typeface="Pretendard" pitchFamily="34" charset="0"/>
                <a:ea typeface="Pretendard" pitchFamily="34" charset="-122"/>
                <a:cs typeface="Pretendard" pitchFamily="34" charset="-120"/>
              </a:rPr>
              <a:t>, </a:t>
            </a:r>
            <a:r>
              <a:rPr lang="ko-KR" altLang="en-US" sz="1150" b="1" dirty="0">
                <a:solidFill>
                  <a:srgbClr val="222633"/>
                </a:solidFill>
                <a:latin typeface="Pretendard" pitchFamily="34" charset="0"/>
                <a:ea typeface="Pretendard" pitchFamily="34" charset="-122"/>
                <a:cs typeface="Pretendard" pitchFamily="34" charset="-120"/>
              </a:rPr>
              <a:t>기본 처벌 규정보다 법정형을 무겁게 정하는 법률</a:t>
            </a:r>
            <a:endParaRPr lang="en-US" altLang="ko-KR" sz="1150" b="1" dirty="0">
              <a:solidFill>
                <a:srgbClr val="222633"/>
              </a:solidFill>
              <a:latin typeface="Pretendard" pitchFamily="34" charset="0"/>
              <a:ea typeface="Pretendard" pitchFamily="34" charset="-122"/>
              <a:cs typeface="Pretendard" pitchFamily="34" charset="-120"/>
            </a:endParaRPr>
          </a:p>
          <a:p>
            <a:pPr>
              <a:lnSpc>
                <a:spcPct val="150000"/>
              </a:lnSpc>
            </a:pPr>
            <a:r>
              <a:rPr lang="ko-KR" altLang="en-US" sz="1150" b="1" dirty="0">
                <a:solidFill>
                  <a:srgbClr val="A8871C"/>
                </a:solidFill>
                <a:latin typeface="Pretendard" pitchFamily="34" charset="0"/>
                <a:ea typeface="Pretendard" pitchFamily="34" charset="-122"/>
                <a:cs typeface="Pretendard" pitchFamily="34" charset="-120"/>
              </a:rPr>
              <a:t>② 마약사범의 가중처벌 제</a:t>
            </a:r>
            <a:r>
              <a:rPr lang="en-US" altLang="ko-KR" sz="1150" b="1" dirty="0">
                <a:solidFill>
                  <a:srgbClr val="A8871C"/>
                </a:solidFill>
                <a:latin typeface="Pretendard" pitchFamily="34" charset="0"/>
                <a:ea typeface="Pretendard" pitchFamily="34" charset="-122"/>
                <a:cs typeface="Pretendard" pitchFamily="34" charset="-120"/>
              </a:rPr>
              <a:t>11</a:t>
            </a:r>
            <a:r>
              <a:rPr lang="ko-KR" altLang="en-US" sz="1150" b="1" dirty="0">
                <a:solidFill>
                  <a:srgbClr val="A8871C"/>
                </a:solidFill>
                <a:latin typeface="Pretendard" pitchFamily="34" charset="0"/>
                <a:ea typeface="Pretendard" pitchFamily="34" charset="-122"/>
                <a:cs typeface="Pretendard" pitchFamily="34" charset="-120"/>
              </a:rPr>
              <a:t>조    </a:t>
            </a:r>
            <a:r>
              <a:rPr lang="ko-KR" altLang="en-US" sz="1150" dirty="0">
                <a:solidFill>
                  <a:srgbClr val="222633"/>
                </a:solidFill>
                <a:latin typeface="Pretendard" pitchFamily="34" charset="0"/>
                <a:ea typeface="Pretendard" pitchFamily="34" charset="-122"/>
                <a:cs typeface="Pretendard" pitchFamily="34" charset="-120"/>
              </a:rPr>
              <a:t>법이 정한 수출입</a:t>
            </a:r>
            <a:r>
              <a:rPr lang="en-US" altLang="ko-KR" sz="1150" dirty="0">
                <a:solidFill>
                  <a:srgbClr val="222633"/>
                </a:solidFill>
                <a:latin typeface="Pretendard" pitchFamily="34" charset="0"/>
                <a:ea typeface="Pretendard" pitchFamily="34" charset="-122"/>
                <a:cs typeface="Pretendard" pitchFamily="34" charset="-120"/>
              </a:rPr>
              <a:t>·</a:t>
            </a:r>
            <a:r>
              <a:rPr lang="ko-KR" altLang="en-US" sz="1150" dirty="0">
                <a:solidFill>
                  <a:srgbClr val="222633"/>
                </a:solidFill>
                <a:latin typeface="Pretendard" pitchFamily="34" charset="0"/>
                <a:ea typeface="Pretendard" pitchFamily="34" charset="-122"/>
                <a:cs typeface="Pretendard" pitchFamily="34" charset="-120"/>
              </a:rPr>
              <a:t>제조</a:t>
            </a:r>
            <a:r>
              <a:rPr lang="en-US" altLang="ko-KR" sz="1150" dirty="0">
                <a:solidFill>
                  <a:srgbClr val="222633"/>
                </a:solidFill>
                <a:latin typeface="Pretendard" pitchFamily="34" charset="0"/>
                <a:ea typeface="Pretendard" pitchFamily="34" charset="-122"/>
                <a:cs typeface="Pretendard" pitchFamily="34" charset="-120"/>
              </a:rPr>
              <a:t>·</a:t>
            </a:r>
            <a:r>
              <a:rPr lang="ko-KR" altLang="en-US" sz="1150" dirty="0">
                <a:solidFill>
                  <a:srgbClr val="222633"/>
                </a:solidFill>
                <a:latin typeface="Pretendard" pitchFamily="34" charset="0"/>
                <a:ea typeface="Pretendard" pitchFamily="34" charset="-122"/>
                <a:cs typeface="Pretendard" pitchFamily="34" charset="-120"/>
              </a:rPr>
              <a:t>소지</a:t>
            </a:r>
            <a:r>
              <a:rPr lang="en-US" altLang="ko-KR" sz="1150" dirty="0">
                <a:solidFill>
                  <a:srgbClr val="222633"/>
                </a:solidFill>
                <a:latin typeface="Pretendard" pitchFamily="34" charset="0"/>
                <a:ea typeface="Pretendard" pitchFamily="34" charset="-122"/>
                <a:cs typeface="Pretendard" pitchFamily="34" charset="-120"/>
              </a:rPr>
              <a:t>·</a:t>
            </a:r>
            <a:r>
              <a:rPr lang="ko-KR" altLang="en-US" sz="1150" dirty="0">
                <a:solidFill>
                  <a:srgbClr val="222633"/>
                </a:solidFill>
                <a:latin typeface="Pretendard" pitchFamily="34" charset="0"/>
                <a:ea typeface="Pretendard" pitchFamily="34" charset="-122"/>
                <a:cs typeface="Pretendard" pitchFamily="34" charset="-120"/>
              </a:rPr>
              <a:t>사용 등의 범죄에 대해</a:t>
            </a:r>
            <a:r>
              <a:rPr lang="en-US" altLang="ko-KR" sz="1150" dirty="0">
                <a:solidFill>
                  <a:srgbClr val="222633"/>
                </a:solidFill>
                <a:latin typeface="Pretendard" pitchFamily="34" charset="0"/>
                <a:ea typeface="Pretendard" pitchFamily="34" charset="-122"/>
                <a:cs typeface="Pretendard" pitchFamily="34" charset="-120"/>
              </a:rPr>
              <a:t>, </a:t>
            </a:r>
            <a:r>
              <a:rPr lang="ko-KR" altLang="en-US" sz="1150" b="1" dirty="0">
                <a:solidFill>
                  <a:srgbClr val="222633"/>
                </a:solidFill>
                <a:latin typeface="Pretendard" pitchFamily="34" charset="0"/>
                <a:ea typeface="Pretendard" pitchFamily="34" charset="-122"/>
                <a:cs typeface="Pretendard" pitchFamily="34" charset="-120"/>
              </a:rPr>
              <a:t>물질의 가액이 </a:t>
            </a:r>
            <a:r>
              <a:rPr lang="en-US" altLang="ko-KR" sz="1150" b="1" dirty="0">
                <a:solidFill>
                  <a:srgbClr val="222633"/>
                </a:solidFill>
                <a:latin typeface="Pretendard" pitchFamily="34" charset="0"/>
                <a:ea typeface="Pretendard" pitchFamily="34" charset="-122"/>
                <a:cs typeface="Pretendard" pitchFamily="34" charset="-120"/>
              </a:rPr>
              <a:t>500</a:t>
            </a:r>
            <a:r>
              <a:rPr lang="ko-KR" altLang="en-US" sz="1150" b="1" dirty="0">
                <a:solidFill>
                  <a:srgbClr val="222633"/>
                </a:solidFill>
                <a:latin typeface="Pretendard" pitchFamily="34" charset="0"/>
                <a:ea typeface="Pretendard" pitchFamily="34" charset="-122"/>
                <a:cs typeface="Pretendard" pitchFamily="34" charset="-120"/>
              </a:rPr>
              <a:t>만 원 이상이면 행위 유형과 가액 구간에 따라 가중처벌한다</a:t>
            </a:r>
            <a:r>
              <a:rPr lang="en-US" altLang="ko-KR" sz="1150" b="1" dirty="0">
                <a:solidFill>
                  <a:srgbClr val="222633"/>
                </a:solidFill>
                <a:latin typeface="Pretendard" pitchFamily="34" charset="0"/>
                <a:ea typeface="Pretendard" pitchFamily="34" charset="-122"/>
                <a:cs typeface="Pretendard" pitchFamily="34" charset="-120"/>
              </a:rPr>
              <a:t>.</a:t>
            </a:r>
          </a:p>
          <a:p>
            <a:pPr>
              <a:lnSpc>
                <a:spcPct val="150000"/>
              </a:lnSpc>
            </a:pPr>
            <a:r>
              <a:rPr lang="ko-KR" altLang="en-US" sz="1150" dirty="0">
                <a:solidFill>
                  <a:srgbClr val="222633"/>
                </a:solidFill>
                <a:latin typeface="Pretendard" pitchFamily="34" charset="0"/>
                <a:ea typeface="Pretendard" pitchFamily="34" charset="-122"/>
                <a:cs typeface="Pretendard" pitchFamily="34" charset="-120"/>
              </a:rPr>
              <a:t>                                                    가액은 </a:t>
            </a:r>
            <a:r>
              <a:rPr lang="en-US" altLang="ko-KR" sz="1150" dirty="0">
                <a:solidFill>
                  <a:srgbClr val="222633"/>
                </a:solidFill>
                <a:latin typeface="Pretendard" pitchFamily="34" charset="0"/>
                <a:ea typeface="Pretendard" pitchFamily="34" charset="-122"/>
                <a:cs typeface="Pretendard" pitchFamily="34" charset="-120"/>
              </a:rPr>
              <a:t>500</a:t>
            </a:r>
            <a:r>
              <a:rPr lang="ko-KR" altLang="en-US" sz="1150" dirty="0">
                <a:solidFill>
                  <a:srgbClr val="222633"/>
                </a:solidFill>
                <a:latin typeface="Pretendard" pitchFamily="34" charset="0"/>
                <a:ea typeface="Pretendard" pitchFamily="34" charset="-122"/>
                <a:cs typeface="Pretendard" pitchFamily="34" charset="-120"/>
              </a:rPr>
              <a:t>만 원 이상</a:t>
            </a:r>
            <a:r>
              <a:rPr lang="en-US" altLang="ko-KR" sz="1150" dirty="0">
                <a:solidFill>
                  <a:srgbClr val="222633"/>
                </a:solidFill>
                <a:latin typeface="Pretendard" pitchFamily="34" charset="0"/>
                <a:ea typeface="Pretendard" pitchFamily="34" charset="-122"/>
                <a:cs typeface="Pretendard" pitchFamily="34" charset="-120"/>
              </a:rPr>
              <a:t>~5</a:t>
            </a:r>
            <a:r>
              <a:rPr lang="ko-KR" altLang="en-US" sz="1150" dirty="0">
                <a:solidFill>
                  <a:srgbClr val="222633"/>
                </a:solidFill>
                <a:latin typeface="Pretendard" pitchFamily="34" charset="0"/>
                <a:ea typeface="Pretendard" pitchFamily="34" charset="-122"/>
                <a:cs typeface="Pretendard" pitchFamily="34" charset="-120"/>
              </a:rPr>
              <a:t>천만 원 미만 </a:t>
            </a:r>
            <a:r>
              <a:rPr lang="en-US" altLang="ko-KR" sz="1150" dirty="0">
                <a:solidFill>
                  <a:srgbClr val="222633"/>
                </a:solidFill>
                <a:latin typeface="Pretendard" pitchFamily="34" charset="0"/>
                <a:ea typeface="Pretendard" pitchFamily="34" charset="-122"/>
                <a:cs typeface="Pretendard" pitchFamily="34" charset="-120"/>
              </a:rPr>
              <a:t>/ 5</a:t>
            </a:r>
            <a:r>
              <a:rPr lang="ko-KR" altLang="en-US" sz="1150" dirty="0">
                <a:solidFill>
                  <a:srgbClr val="222633"/>
                </a:solidFill>
                <a:latin typeface="Pretendard" pitchFamily="34" charset="0"/>
                <a:ea typeface="Pretendard" pitchFamily="34" charset="-122"/>
                <a:cs typeface="Pretendard" pitchFamily="34" charset="-120"/>
              </a:rPr>
              <a:t>천만 원 이상으로 구분한다</a:t>
            </a:r>
            <a:r>
              <a:rPr lang="en-US" altLang="ko-KR" sz="1150" dirty="0">
                <a:solidFill>
                  <a:srgbClr val="222633"/>
                </a:solidFill>
                <a:latin typeface="Pretendard" pitchFamily="34" charset="0"/>
                <a:ea typeface="Pretendard" pitchFamily="34" charset="-122"/>
                <a:cs typeface="Pretendard" pitchFamily="34" charset="-120"/>
              </a:rPr>
              <a:t>.</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521208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3. 사건 처리 결과와 소년 특례</a:t>
            </a:r>
            <a:endParaRPr lang="en-US" sz="1250" dirty="0"/>
          </a:p>
        </p:txBody>
      </p:sp>
      <p:sp>
        <p:nvSpPr>
          <p:cNvPr id="3" name="Text 1"/>
          <p:cNvSpPr/>
          <p:nvPr/>
        </p:nvSpPr>
        <p:spPr>
          <a:xfrm>
            <a:off x="6035040" y="384048"/>
            <a:ext cx="5422392" cy="256032"/>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소년의 형 집행과 사회복귀</a:t>
            </a:r>
            <a:endParaRPr lang="en-US" sz="1050" dirty="0"/>
          </a:p>
        </p:txBody>
      </p:sp>
      <p:sp>
        <p:nvSpPr>
          <p:cNvPr id="4" name="Text 2"/>
          <p:cNvSpPr/>
          <p:nvPr/>
        </p:nvSpPr>
        <p:spPr>
          <a:xfrm>
            <a:off x="731520" y="640080"/>
            <a:ext cx="10725912" cy="640080"/>
          </a:xfrm>
          <a:prstGeom prst="rect">
            <a:avLst/>
          </a:prstGeom>
          <a:noFill/>
          <a:ln/>
        </p:spPr>
        <p:txBody>
          <a:bodyPr wrap="square" lIns="0" tIns="0" rIns="0" bIns="0" rtlCol="0" anchor="ctr"/>
          <a:lstStyle/>
          <a:p>
            <a:pPr marL="0" indent="0">
              <a:buNone/>
            </a:pPr>
            <a:r>
              <a:rPr lang="en-US" sz="2750" b="1" dirty="0">
                <a:solidFill>
                  <a:srgbClr val="1E2761"/>
                </a:solidFill>
                <a:latin typeface="Pretendard" pitchFamily="34" charset="0"/>
                <a:ea typeface="Pretendard" pitchFamily="34" charset="-122"/>
                <a:cs typeface="Pretendard" pitchFamily="34" charset="-120"/>
              </a:rPr>
              <a:t>소년의 형 선고 특례 — 형의 완화와 감경</a:t>
            </a:r>
            <a:endParaRPr lang="en-US" sz="2750" dirty="0"/>
          </a:p>
        </p:txBody>
      </p:sp>
      <p:sp>
        <p:nvSpPr>
          <p:cNvPr id="5" name="Shape 3"/>
          <p:cNvSpPr/>
          <p:nvPr/>
        </p:nvSpPr>
        <p:spPr>
          <a:xfrm>
            <a:off x="731520" y="1316736"/>
            <a:ext cx="10725912"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417320"/>
            <a:ext cx="10725912" cy="548640"/>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1005840" y="1417320"/>
            <a:ext cx="10149840" cy="548640"/>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소년의 형사책임을 인정하더라도 연령과 소년의 특성에 따라 형의 선고에 특례를 적용한다</a:t>
            </a:r>
            <a:endParaRPr lang="en-US" sz="1300" dirty="0"/>
          </a:p>
        </p:txBody>
      </p:sp>
      <p:sp>
        <p:nvSpPr>
          <p:cNvPr id="8" name="Shape 6"/>
          <p:cNvSpPr/>
          <p:nvPr/>
        </p:nvSpPr>
        <p:spPr>
          <a:xfrm>
            <a:off x="731520" y="2084832"/>
            <a:ext cx="10725912" cy="0"/>
          </a:xfrm>
          <a:prstGeom prst="line">
            <a:avLst/>
          </a:prstGeom>
          <a:noFill/>
          <a:ln w="12700">
            <a:solidFill>
              <a:srgbClr val="DCE0E8"/>
            </a:solidFill>
            <a:prstDash val="solid"/>
          </a:ln>
        </p:spPr>
        <p:txBody>
          <a:bodyPr/>
          <a:lstStyle/>
          <a:p>
            <a:endParaRPr lang="ko-KR" altLang="en-US"/>
          </a:p>
        </p:txBody>
      </p:sp>
      <p:sp>
        <p:nvSpPr>
          <p:cNvPr id="9" name="Text 7"/>
          <p:cNvSpPr/>
          <p:nvPr/>
        </p:nvSpPr>
        <p:spPr>
          <a:xfrm>
            <a:off x="731520" y="2152208"/>
            <a:ext cx="2926080" cy="292608"/>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사형 · 무기형의 완화</a:t>
            </a:r>
            <a:endParaRPr lang="en-US" sz="1300" dirty="0"/>
          </a:p>
        </p:txBody>
      </p:sp>
      <p:sp>
        <p:nvSpPr>
          <p:cNvPr id="10" name="Text 8"/>
          <p:cNvSpPr/>
          <p:nvPr/>
        </p:nvSpPr>
        <p:spPr>
          <a:xfrm>
            <a:off x="731520" y="2444816"/>
            <a:ext cx="2926080" cy="256032"/>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범행 당시 18세 미만</a:t>
            </a:r>
            <a:endParaRPr lang="en-US" sz="1150" dirty="0"/>
          </a:p>
        </p:txBody>
      </p:sp>
      <p:sp>
        <p:nvSpPr>
          <p:cNvPr id="11" name="Text 9"/>
          <p:cNvSpPr/>
          <p:nvPr/>
        </p:nvSpPr>
        <p:spPr>
          <a:xfrm>
            <a:off x="3931920" y="2152208"/>
            <a:ext cx="7525512" cy="310896"/>
          </a:xfrm>
          <a:prstGeom prst="rect">
            <a:avLst/>
          </a:prstGeom>
          <a:noFill/>
          <a:ln/>
        </p:spPr>
        <p:txBody>
          <a:bodyPr wrap="square" lIns="0" tIns="0" rIns="0" bIns="0" rtlCol="0" anchor="ctr"/>
          <a:lstStyle/>
          <a:p>
            <a:pPr marL="0" indent="0">
              <a:lnSpc>
                <a:spcPts val="1700"/>
              </a:lnSpc>
              <a:buNone/>
            </a:pPr>
            <a:r>
              <a:rPr lang="en-US" sz="1200" b="1" dirty="0">
                <a:solidFill>
                  <a:srgbClr val="222633"/>
                </a:solidFill>
                <a:latin typeface="Pretendard" pitchFamily="34" charset="0"/>
                <a:ea typeface="Pretendard" pitchFamily="34" charset="-122"/>
                <a:cs typeface="Pretendard" pitchFamily="34" charset="-120"/>
              </a:rPr>
              <a:t>“죄를 범할 당시 18세 미만인 </a:t>
            </a:r>
            <a:r>
              <a:rPr lang="en-US" sz="1200" b="1" dirty="0">
                <a:solidFill>
                  <a:srgbClr val="222633"/>
                </a:solidFill>
                <a:highlight>
                  <a:srgbClr val="FFFF00"/>
                </a:highlight>
                <a:latin typeface="Pretendard" pitchFamily="34" charset="0"/>
                <a:ea typeface="Pretendard" pitchFamily="34" charset="-122"/>
                <a:cs typeface="Pretendard" pitchFamily="34" charset="-120"/>
              </a:rPr>
              <a:t>소년에 대하여 사형 또는 무기형으로 처할 경우에는 15년의 유기징역으로 한다</a:t>
            </a:r>
            <a:r>
              <a:rPr lang="en-US" sz="1200" b="1" dirty="0">
                <a:solidFill>
                  <a:srgbClr val="222633"/>
                </a:solidFill>
                <a:latin typeface="Pretendard" pitchFamily="34" charset="0"/>
                <a:ea typeface="Pretendard" pitchFamily="34" charset="-122"/>
                <a:cs typeface="Pretendard" pitchFamily="34" charset="-120"/>
              </a:rPr>
              <a:t>”</a:t>
            </a:r>
            <a:endParaRPr lang="en-US" sz="1200" dirty="0"/>
          </a:p>
        </p:txBody>
      </p:sp>
      <p:sp>
        <p:nvSpPr>
          <p:cNvPr id="12" name="Text 10"/>
          <p:cNvSpPr/>
          <p:nvPr/>
        </p:nvSpPr>
        <p:spPr>
          <a:xfrm>
            <a:off x="3931920" y="2463104"/>
            <a:ext cx="7525512" cy="731520"/>
          </a:xfrm>
          <a:prstGeom prst="rect">
            <a:avLst/>
          </a:prstGeom>
          <a:noFill/>
          <a:ln/>
        </p:spPr>
        <p:txBody>
          <a:bodyPr wrap="square" lIns="0" tIns="0" rIns="0" bIns="0" rtlCol="0" anchor="t"/>
          <a:lstStyle/>
          <a:p>
            <a:pPr marL="0" indent="0">
              <a:lnSpc>
                <a:spcPts val="1700"/>
              </a:lnSpc>
              <a:buNone/>
            </a:pPr>
            <a:r>
              <a:rPr lang="en-US" sz="1150" dirty="0">
                <a:solidFill>
                  <a:srgbClr val="464D5C"/>
                </a:solidFill>
                <a:latin typeface="Pretendard" pitchFamily="34" charset="0"/>
                <a:ea typeface="Pretendard" pitchFamily="34" charset="-122"/>
                <a:cs typeface="Pretendard" pitchFamily="34" charset="-120"/>
              </a:rPr>
              <a:t>소년법 제59조</a:t>
            </a:r>
            <a:endParaRPr lang="en-US" sz="1150" dirty="0"/>
          </a:p>
          <a:p>
            <a:pPr marL="0" indent="0">
              <a:lnSpc>
                <a:spcPts val="1700"/>
              </a:lnSpc>
              <a:buNone/>
            </a:pPr>
            <a:r>
              <a:rPr lang="en-US" sz="1150" dirty="0">
                <a:solidFill>
                  <a:srgbClr val="464D5C"/>
                </a:solidFill>
                <a:latin typeface="Pretendard" pitchFamily="34" charset="0"/>
                <a:ea typeface="Pretendard" pitchFamily="34" charset="-122"/>
                <a:cs typeface="Pretendard" pitchFamily="34" charset="-120"/>
              </a:rPr>
              <a:t>특정강력범죄에 해당하면 20년 유기징역으로 한다  〔특정강력범죄의 처벌에 관한 특례법 제4조 제1항〕</a:t>
            </a:r>
            <a:endParaRPr lang="en-US" sz="1150" dirty="0"/>
          </a:p>
        </p:txBody>
      </p:sp>
      <p:sp>
        <p:nvSpPr>
          <p:cNvPr id="13" name="Shape 11"/>
          <p:cNvSpPr/>
          <p:nvPr/>
        </p:nvSpPr>
        <p:spPr>
          <a:xfrm>
            <a:off x="731520" y="2996584"/>
            <a:ext cx="10725912" cy="0"/>
          </a:xfrm>
          <a:prstGeom prst="line">
            <a:avLst/>
          </a:prstGeom>
          <a:noFill/>
          <a:ln w="12700">
            <a:solidFill>
              <a:srgbClr val="DCE0E8"/>
            </a:solidFill>
            <a:prstDash val="solid"/>
          </a:ln>
        </p:spPr>
        <p:txBody>
          <a:bodyPr/>
          <a:lstStyle/>
          <a:p>
            <a:endParaRPr lang="ko-KR" altLang="en-US"/>
          </a:p>
        </p:txBody>
      </p:sp>
      <p:sp>
        <p:nvSpPr>
          <p:cNvPr id="14" name="Text 12"/>
          <p:cNvSpPr/>
          <p:nvPr/>
        </p:nvSpPr>
        <p:spPr>
          <a:xfrm>
            <a:off x="731520" y="3111605"/>
            <a:ext cx="2926080" cy="292608"/>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소년의 특성에 따른 감경</a:t>
            </a:r>
            <a:endParaRPr lang="en-US" sz="1300" dirty="0"/>
          </a:p>
        </p:txBody>
      </p:sp>
      <p:sp>
        <p:nvSpPr>
          <p:cNvPr id="15" name="Text 13"/>
          <p:cNvSpPr/>
          <p:nvPr/>
        </p:nvSpPr>
        <p:spPr>
          <a:xfrm>
            <a:off x="3931920" y="3111605"/>
            <a:ext cx="7525512" cy="292608"/>
          </a:xfrm>
          <a:prstGeom prst="rect">
            <a:avLst/>
          </a:prstGeom>
          <a:noFill/>
          <a:ln/>
        </p:spPr>
        <p:txBody>
          <a:bodyPr wrap="square" lIns="0" tIns="0" rIns="0" bIns="0" rtlCol="0" anchor="ctr"/>
          <a:lstStyle/>
          <a:p>
            <a:pPr marL="0" indent="0">
              <a:lnSpc>
                <a:spcPts val="1700"/>
              </a:lnSpc>
              <a:buNone/>
            </a:pPr>
            <a:r>
              <a:rPr lang="en-US" sz="1200" b="1" dirty="0">
                <a:solidFill>
                  <a:srgbClr val="222633"/>
                </a:solidFill>
                <a:latin typeface="Pretendard" pitchFamily="34" charset="0"/>
                <a:ea typeface="Pretendard" pitchFamily="34" charset="-122"/>
                <a:cs typeface="Pretendard" pitchFamily="34" charset="-120"/>
              </a:rPr>
              <a:t>“</a:t>
            </a:r>
            <a:r>
              <a:rPr lang="en-US" sz="1200" b="1" dirty="0">
                <a:solidFill>
                  <a:srgbClr val="222633"/>
                </a:solidFill>
                <a:highlight>
                  <a:srgbClr val="FFFF00"/>
                </a:highlight>
                <a:latin typeface="Pretendard" pitchFamily="34" charset="0"/>
                <a:ea typeface="Pretendard" pitchFamily="34" charset="-122"/>
                <a:cs typeface="Pretendard" pitchFamily="34" charset="-120"/>
              </a:rPr>
              <a:t>소년의 특성에 비추어 상당하다고 인정되는 때에는 그 형을 감경할 수 있다</a:t>
            </a:r>
            <a:r>
              <a:rPr lang="en-US" sz="1200" b="1" dirty="0">
                <a:solidFill>
                  <a:srgbClr val="222633"/>
                </a:solidFill>
                <a:latin typeface="Pretendard" pitchFamily="34" charset="0"/>
                <a:ea typeface="Pretendard" pitchFamily="34" charset="-122"/>
                <a:cs typeface="Pretendard" pitchFamily="34" charset="-120"/>
              </a:rPr>
              <a:t>”</a:t>
            </a:r>
            <a:endParaRPr lang="en-US" sz="1200" dirty="0"/>
          </a:p>
        </p:txBody>
      </p:sp>
      <p:sp>
        <p:nvSpPr>
          <p:cNvPr id="16" name="Text 14"/>
          <p:cNvSpPr/>
          <p:nvPr/>
        </p:nvSpPr>
        <p:spPr>
          <a:xfrm>
            <a:off x="3931920" y="3404213"/>
            <a:ext cx="7525512" cy="292608"/>
          </a:xfrm>
          <a:prstGeom prst="rect">
            <a:avLst/>
          </a:prstGeom>
          <a:noFill/>
          <a:ln/>
        </p:spPr>
        <p:txBody>
          <a:bodyPr wrap="square" lIns="0" tIns="0" rIns="0" bIns="0" rtlCol="0" anchor="t"/>
          <a:lstStyle/>
          <a:p>
            <a:pPr marL="0" indent="0">
              <a:lnSpc>
                <a:spcPts val="1700"/>
              </a:lnSpc>
              <a:buNone/>
            </a:pPr>
            <a:r>
              <a:rPr lang="en-US" sz="1150" dirty="0">
                <a:solidFill>
                  <a:srgbClr val="464D5C"/>
                </a:solidFill>
                <a:latin typeface="Pretendard" pitchFamily="34" charset="0"/>
                <a:ea typeface="Pretendard" pitchFamily="34" charset="-122"/>
                <a:cs typeface="Pretendard" pitchFamily="34" charset="-120"/>
              </a:rPr>
              <a:t>소년법 제60조 제2항</a:t>
            </a:r>
            <a:endParaRPr lang="en-US" sz="1150" dirty="0"/>
          </a:p>
          <a:p>
            <a:pPr marL="0" indent="0">
              <a:lnSpc>
                <a:spcPts val="1700"/>
              </a:lnSpc>
              <a:buNone/>
            </a:pPr>
            <a:r>
              <a:rPr lang="en-US" sz="1150" dirty="0">
                <a:solidFill>
                  <a:srgbClr val="464D5C"/>
                </a:solidFill>
                <a:latin typeface="Pretendard" pitchFamily="34" charset="0"/>
                <a:ea typeface="Pretendard" pitchFamily="34" charset="-122"/>
                <a:cs typeface="Pretendard" pitchFamily="34" charset="-120"/>
              </a:rPr>
              <a:t>법원이 소년의 특성을 판단하여 형을 감경할 수 있도록 한 규정이다</a:t>
            </a:r>
            <a:endParaRPr lang="en-US" sz="1150" dirty="0"/>
          </a:p>
        </p:txBody>
      </p:sp>
      <p:sp>
        <p:nvSpPr>
          <p:cNvPr id="17" name="Shape 15"/>
          <p:cNvSpPr/>
          <p:nvPr/>
        </p:nvSpPr>
        <p:spPr>
          <a:xfrm>
            <a:off x="731520" y="3965367"/>
            <a:ext cx="10725912" cy="0"/>
          </a:xfrm>
          <a:prstGeom prst="line">
            <a:avLst/>
          </a:prstGeom>
          <a:noFill/>
          <a:ln w="12700">
            <a:solidFill>
              <a:srgbClr val="DCE0E8"/>
            </a:solidFill>
            <a:prstDash val="solid"/>
          </a:ln>
        </p:spPr>
        <p:txBody>
          <a:bodyPr/>
          <a:lstStyle/>
          <a:p>
            <a:endParaRPr lang="ko-KR" altLang="en-US"/>
          </a:p>
        </p:txBody>
      </p:sp>
      <p:sp>
        <p:nvSpPr>
          <p:cNvPr id="18" name="Text 16"/>
          <p:cNvSpPr/>
          <p:nvPr/>
        </p:nvSpPr>
        <p:spPr>
          <a:xfrm>
            <a:off x="731520" y="4056326"/>
            <a:ext cx="2926080" cy="292608"/>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환형처분의 금지</a:t>
            </a:r>
            <a:endParaRPr lang="en-US" sz="1300" dirty="0"/>
          </a:p>
        </p:txBody>
      </p:sp>
      <p:sp>
        <p:nvSpPr>
          <p:cNvPr id="19" name="Text 17"/>
          <p:cNvSpPr/>
          <p:nvPr/>
        </p:nvSpPr>
        <p:spPr>
          <a:xfrm>
            <a:off x="731520" y="4348934"/>
            <a:ext cx="2926080" cy="256032"/>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18세 미만</a:t>
            </a:r>
            <a:endParaRPr lang="en-US" sz="1150" dirty="0"/>
          </a:p>
        </p:txBody>
      </p:sp>
      <p:sp>
        <p:nvSpPr>
          <p:cNvPr id="20" name="Text 18"/>
          <p:cNvSpPr/>
          <p:nvPr/>
        </p:nvSpPr>
        <p:spPr>
          <a:xfrm>
            <a:off x="3931920" y="4056326"/>
            <a:ext cx="7525512" cy="292608"/>
          </a:xfrm>
          <a:prstGeom prst="rect">
            <a:avLst/>
          </a:prstGeom>
          <a:noFill/>
          <a:ln/>
        </p:spPr>
        <p:txBody>
          <a:bodyPr wrap="square" lIns="0" tIns="0" rIns="0" bIns="0" rtlCol="0" anchor="ctr"/>
          <a:lstStyle/>
          <a:p>
            <a:pPr marL="0" indent="0">
              <a:lnSpc>
                <a:spcPts val="1700"/>
              </a:lnSpc>
              <a:buNone/>
            </a:pPr>
            <a:r>
              <a:rPr lang="en-US" sz="1200" b="1" dirty="0">
                <a:solidFill>
                  <a:srgbClr val="222633"/>
                </a:solidFill>
                <a:latin typeface="Pretendard" pitchFamily="34" charset="0"/>
                <a:ea typeface="Pretendard" pitchFamily="34" charset="-122"/>
                <a:cs typeface="Pretendard" pitchFamily="34" charset="-120"/>
              </a:rPr>
              <a:t>“18세 미만인 소년에게는 「형법」 제70조에 따른 유치선고를 하지 못한다”</a:t>
            </a:r>
            <a:endParaRPr lang="en-US" sz="1200" dirty="0"/>
          </a:p>
        </p:txBody>
      </p:sp>
      <p:sp>
        <p:nvSpPr>
          <p:cNvPr id="21" name="Text 19"/>
          <p:cNvSpPr/>
          <p:nvPr/>
        </p:nvSpPr>
        <p:spPr>
          <a:xfrm>
            <a:off x="3931920" y="4348933"/>
            <a:ext cx="7525512" cy="935577"/>
          </a:xfrm>
          <a:prstGeom prst="rect">
            <a:avLst/>
          </a:prstGeom>
          <a:noFill/>
          <a:ln/>
        </p:spPr>
        <p:txBody>
          <a:bodyPr wrap="square" lIns="0" tIns="0" rIns="0" bIns="0" rtlCol="0" anchor="t"/>
          <a:lstStyle/>
          <a:p>
            <a:pPr marL="0" indent="0">
              <a:lnSpc>
                <a:spcPts val="1700"/>
              </a:lnSpc>
              <a:buNone/>
            </a:pPr>
            <a:r>
              <a:rPr lang="en-US" sz="1150" dirty="0">
                <a:solidFill>
                  <a:srgbClr val="464D5C"/>
                </a:solidFill>
                <a:latin typeface="Pretendard" pitchFamily="34" charset="0"/>
                <a:ea typeface="Pretendard" pitchFamily="34" charset="-122"/>
                <a:cs typeface="Pretendard" pitchFamily="34" charset="-120"/>
              </a:rPr>
              <a:t>소년법 제62조 본문</a:t>
            </a:r>
            <a:endParaRPr lang="en-US" sz="1150" dirty="0"/>
          </a:p>
          <a:p>
            <a:pPr>
              <a:lnSpc>
                <a:spcPts val="1700"/>
              </a:lnSpc>
            </a:pPr>
            <a:r>
              <a:rPr lang="ko-KR" altLang="en-US" sz="1150" dirty="0">
                <a:latin typeface="Pretendard" pitchFamily="34" charset="0"/>
                <a:ea typeface="Pretendard" pitchFamily="34" charset="-122"/>
                <a:cs typeface="Pretendard" pitchFamily="34" charset="-120"/>
              </a:rPr>
              <a:t>환형처분 </a:t>
            </a:r>
            <a:r>
              <a:rPr lang="ko-KR" altLang="en-US" sz="1150" dirty="0" err="1">
                <a:latin typeface="Pretendard" pitchFamily="34" charset="0"/>
                <a:ea typeface="Pretendard" pitchFamily="34" charset="-122"/>
                <a:cs typeface="Pretendard" pitchFamily="34" charset="-120"/>
              </a:rPr>
              <a:t>ㅡ</a:t>
            </a:r>
            <a:r>
              <a:rPr lang="ko-KR" altLang="en-US" sz="1150" dirty="0">
                <a:latin typeface="Pretendard" pitchFamily="34" charset="0"/>
                <a:ea typeface="Pretendard" pitchFamily="34" charset="-122"/>
                <a:cs typeface="Pretendard" pitchFamily="34" charset="-120"/>
              </a:rPr>
              <a:t> 벌금</a:t>
            </a:r>
            <a:r>
              <a:rPr lang="en-US" altLang="ko-KR" sz="1150" dirty="0">
                <a:latin typeface="Pretendard" pitchFamily="34" charset="0"/>
                <a:ea typeface="Pretendard" pitchFamily="34" charset="-122"/>
                <a:cs typeface="Pretendard" pitchFamily="34" charset="-120"/>
              </a:rPr>
              <a:t>·</a:t>
            </a:r>
            <a:r>
              <a:rPr lang="ko-KR" altLang="en-US" sz="1150" dirty="0">
                <a:latin typeface="Pretendard" pitchFamily="34" charset="0"/>
                <a:ea typeface="Pretendard" pitchFamily="34" charset="-122"/>
                <a:cs typeface="Pretendard" pitchFamily="34" charset="-120"/>
              </a:rPr>
              <a:t>과료를 내지 않은 경우</a:t>
            </a:r>
            <a:r>
              <a:rPr lang="en-US" altLang="ko-KR" sz="1150" dirty="0">
                <a:latin typeface="Pretendard" pitchFamily="34" charset="0"/>
                <a:ea typeface="Pretendard" pitchFamily="34" charset="-122"/>
                <a:cs typeface="Pretendard" pitchFamily="34" charset="-120"/>
              </a:rPr>
              <a:t>, </a:t>
            </a:r>
            <a:r>
              <a:rPr lang="ko-KR" altLang="en-US" sz="1150" dirty="0">
                <a:latin typeface="Pretendard" pitchFamily="34" charset="0"/>
                <a:ea typeface="Pretendard" pitchFamily="34" charset="-122"/>
                <a:cs typeface="Pretendard" pitchFamily="34" charset="-120"/>
              </a:rPr>
              <a:t>노역장에 수용하여 일을 하게 하는 방식으로 집행을 대신하는 것</a:t>
            </a:r>
            <a:endParaRPr lang="en-US" sz="1150" dirty="0">
              <a:latin typeface="Pretendard" pitchFamily="34" charset="0"/>
              <a:ea typeface="Pretendard" pitchFamily="34" charset="-122"/>
              <a:cs typeface="Pretendard" pitchFamily="34" charset="-120"/>
            </a:endParaRPr>
          </a:p>
          <a:p>
            <a:pPr marL="0" indent="0">
              <a:lnSpc>
                <a:spcPts val="1700"/>
              </a:lnSpc>
              <a:buNone/>
            </a:pPr>
            <a:r>
              <a:rPr lang="ko-KR" altLang="en-US" sz="1150" dirty="0">
                <a:latin typeface="Pretendard" pitchFamily="34" charset="0"/>
                <a:ea typeface="Pretendard" pitchFamily="34" charset="-122"/>
                <a:cs typeface="Pretendard" pitchFamily="34" charset="-120"/>
              </a:rPr>
              <a:t>유치선고 </a:t>
            </a:r>
            <a:r>
              <a:rPr lang="ko-KR" altLang="en-US" sz="1150" dirty="0" err="1">
                <a:latin typeface="Pretendard" pitchFamily="34" charset="0"/>
                <a:ea typeface="Pretendard" pitchFamily="34" charset="-122"/>
                <a:cs typeface="Pretendard" pitchFamily="34" charset="-120"/>
              </a:rPr>
              <a:t>ㅡ</a:t>
            </a:r>
            <a:r>
              <a:rPr lang="ko-KR" altLang="en-US" sz="1150" dirty="0">
                <a:latin typeface="Pretendard" pitchFamily="34" charset="0"/>
                <a:ea typeface="Pretendard" pitchFamily="34" charset="-122"/>
                <a:cs typeface="Pretendard" pitchFamily="34" charset="-120"/>
              </a:rPr>
              <a:t> 노역장에 수용하는 기간에 관한 내용을 선고하는 것</a:t>
            </a:r>
            <a:endParaRPr lang="en-US" altLang="ko-KR" sz="1150" dirty="0">
              <a:latin typeface="Pretendard" pitchFamily="34" charset="0"/>
              <a:ea typeface="Pretendard" pitchFamily="34" charset="-122"/>
              <a:cs typeface="Pretendard" pitchFamily="34" charset="-120"/>
            </a:endParaRPr>
          </a:p>
          <a:p>
            <a:pPr marL="0" indent="0">
              <a:lnSpc>
                <a:spcPts val="1700"/>
              </a:lnSpc>
              <a:buNone/>
            </a:pPr>
            <a:r>
              <a:rPr lang="ko-KR" altLang="en-US" sz="1150" b="1" dirty="0">
                <a:solidFill>
                  <a:schemeClr val="accent4">
                    <a:lumMod val="75000"/>
                  </a:schemeClr>
                </a:solidFill>
                <a:latin typeface="Pretendard" panose="02000503000000020004" pitchFamily="50" charset="-127"/>
                <a:ea typeface="Pretendard" panose="02000503000000020004" pitchFamily="50" charset="-127"/>
                <a:cs typeface="Pretendard" panose="02000503000000020004" pitchFamily="50" charset="-127"/>
              </a:rPr>
              <a:t>벌금형 선고 자체는 가능하다</a:t>
            </a:r>
            <a:endParaRPr lang="en-US" sz="1150" b="1" dirty="0">
              <a:solidFill>
                <a:schemeClr val="accent4">
                  <a:lumMod val="7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22" name="Shape 20"/>
          <p:cNvSpPr/>
          <p:nvPr/>
        </p:nvSpPr>
        <p:spPr>
          <a:xfrm>
            <a:off x="731520" y="5284512"/>
            <a:ext cx="10725912" cy="0"/>
          </a:xfrm>
          <a:prstGeom prst="line">
            <a:avLst/>
          </a:prstGeom>
          <a:noFill/>
          <a:ln w="12700">
            <a:solidFill>
              <a:srgbClr val="DCE0E8"/>
            </a:solidFill>
            <a:prstDash val="solid"/>
          </a:ln>
        </p:spPr>
        <p:txBody>
          <a:bodyPr/>
          <a:lstStyle/>
          <a:p>
            <a:endParaRPr lang="ko-KR" altLang="en-US"/>
          </a:p>
        </p:txBody>
      </p:sp>
      <p:sp>
        <p:nvSpPr>
          <p:cNvPr id="23" name="Text 21"/>
          <p:cNvSpPr/>
          <p:nvPr/>
        </p:nvSpPr>
        <p:spPr>
          <a:xfrm>
            <a:off x="731520" y="5375952"/>
            <a:ext cx="10725912" cy="237744"/>
          </a:xfrm>
          <a:prstGeom prst="rect">
            <a:avLst/>
          </a:prstGeom>
          <a:noFill/>
          <a:ln/>
        </p:spPr>
        <p:txBody>
          <a:bodyPr wrap="square" lIns="0" tIns="0" rIns="0" bIns="0" rtlCol="0" anchor="ctr"/>
          <a:lstStyle/>
          <a:p>
            <a:pPr marL="0" indent="0">
              <a:buNone/>
            </a:pPr>
            <a:r>
              <a:rPr lang="en-US" sz="1100" dirty="0">
                <a:solidFill>
                  <a:srgbClr val="6E7686"/>
                </a:solidFill>
                <a:latin typeface="Pretendard" pitchFamily="34" charset="0"/>
                <a:ea typeface="Pretendard" pitchFamily="34" charset="-122"/>
                <a:cs typeface="Pretendard" pitchFamily="34" charset="-120"/>
              </a:rPr>
              <a:t>‘범행 당시 18세 미만’은 첫째 행의 조건이며, 부정기형의 ‘판결 선고 당시 19세 미만’과 기준이 다르다</a:t>
            </a:r>
            <a:endParaRPr lang="en-US" sz="1100" dirty="0"/>
          </a:p>
        </p:txBody>
      </p:sp>
      <p:sp>
        <p:nvSpPr>
          <p:cNvPr id="24" name="Shape 22"/>
          <p:cNvSpPr/>
          <p:nvPr/>
        </p:nvSpPr>
        <p:spPr>
          <a:xfrm>
            <a:off x="731520" y="5705136"/>
            <a:ext cx="10725912" cy="0"/>
          </a:xfrm>
          <a:prstGeom prst="line">
            <a:avLst/>
          </a:prstGeom>
          <a:noFill/>
          <a:ln w="12700">
            <a:solidFill>
              <a:srgbClr val="DCE0E8"/>
            </a:solidFill>
            <a:prstDash val="solid"/>
          </a:ln>
        </p:spPr>
        <p:txBody>
          <a:bodyPr/>
          <a:lstStyle/>
          <a:p>
            <a:endParaRPr lang="ko-KR" altLang="en-US"/>
          </a:p>
        </p:txBody>
      </p:sp>
      <p:sp>
        <p:nvSpPr>
          <p:cNvPr id="25" name="Text 23"/>
          <p:cNvSpPr/>
          <p:nvPr/>
        </p:nvSpPr>
        <p:spPr>
          <a:xfrm>
            <a:off x="733044" y="5849272"/>
            <a:ext cx="10725912" cy="478369"/>
          </a:xfrm>
          <a:prstGeom prst="rect">
            <a:avLst/>
          </a:prstGeom>
          <a:solidFill>
            <a:schemeClr val="accent1">
              <a:lumMod val="20000"/>
              <a:lumOff val="80000"/>
            </a:schemeClr>
          </a:solidFill>
          <a:ln/>
        </p:spPr>
        <p:txBody>
          <a:bodyPr wrap="square" lIns="0" tIns="0" rIns="0" bIns="0" rtlCol="0" anchor="ctr"/>
          <a:lstStyle/>
          <a:p>
            <a:pPr marL="0" indent="0" algn="ctr">
              <a:buNone/>
            </a:pPr>
            <a:r>
              <a:rPr lang="ko-KR" altLang="en-US" sz="1400" b="1" dirty="0">
                <a:solidFill>
                  <a:srgbClr val="002060"/>
                </a:solidFill>
                <a:latin typeface="Pretendard" pitchFamily="34" charset="0"/>
                <a:ea typeface="Pretendard" pitchFamily="34" charset="-122"/>
                <a:cs typeface="Pretendard" pitchFamily="34" charset="-120"/>
              </a:rPr>
              <a:t>소년에 대한 형사처벌은 연령과 소년의 특성을 고려하여 형을 완화하거나 감경할 수 있도록 설계되어 있다</a:t>
            </a:r>
            <a:r>
              <a:rPr lang="en-US" altLang="ko-KR" sz="1400" b="1" dirty="0">
                <a:solidFill>
                  <a:srgbClr val="002060"/>
                </a:solidFill>
                <a:latin typeface="Pretendard" pitchFamily="34" charset="0"/>
                <a:ea typeface="Pretendard" pitchFamily="34" charset="-122"/>
                <a:cs typeface="Pretendard" pitchFamily="34" charset="-120"/>
              </a:rPr>
              <a:t>.</a:t>
            </a:r>
            <a:endParaRPr lang="en-US" sz="1400" dirty="0">
              <a:solidFill>
                <a:srgbClr val="00206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521208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3. 사건 처리 결과와 소년 특례</a:t>
            </a:r>
            <a:endParaRPr lang="en-US" sz="1250" dirty="0"/>
          </a:p>
        </p:txBody>
      </p:sp>
      <p:sp>
        <p:nvSpPr>
          <p:cNvPr id="3" name="Text 1"/>
          <p:cNvSpPr/>
          <p:nvPr/>
        </p:nvSpPr>
        <p:spPr>
          <a:xfrm>
            <a:off x="6035040" y="384048"/>
            <a:ext cx="5422392" cy="256032"/>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소년 마약사범의 보호관찰</a:t>
            </a:r>
            <a:endParaRPr lang="en-US" sz="1050" dirty="0"/>
          </a:p>
        </p:txBody>
      </p:sp>
      <p:sp>
        <p:nvSpPr>
          <p:cNvPr id="4" name="Text 2"/>
          <p:cNvSpPr/>
          <p:nvPr/>
        </p:nvSpPr>
        <p:spPr>
          <a:xfrm>
            <a:off x="731520" y="640080"/>
            <a:ext cx="10725912" cy="640080"/>
          </a:xfrm>
          <a:prstGeom prst="rect">
            <a:avLst/>
          </a:prstGeom>
          <a:noFill/>
          <a:ln/>
        </p:spPr>
        <p:txBody>
          <a:bodyPr wrap="square" lIns="0" tIns="0" rIns="0" bIns="0" rtlCol="0" anchor="ctr"/>
          <a:lstStyle/>
          <a:p>
            <a:pPr marL="0" indent="0">
              <a:buNone/>
            </a:pPr>
            <a:r>
              <a:rPr lang="en-US" sz="2750" b="1" dirty="0">
                <a:solidFill>
                  <a:srgbClr val="1E2761"/>
                </a:solidFill>
                <a:latin typeface="Pretendard" pitchFamily="34" charset="0"/>
                <a:ea typeface="Pretendard" pitchFamily="34" charset="-122"/>
                <a:cs typeface="Pretendard" pitchFamily="34" charset="-120"/>
              </a:rPr>
              <a:t>소년의 형 집행과 사회복귀 — 수용 · 석방 · 자격</a:t>
            </a:r>
            <a:endParaRPr lang="en-US" sz="2750" dirty="0"/>
          </a:p>
        </p:txBody>
      </p:sp>
      <p:sp>
        <p:nvSpPr>
          <p:cNvPr id="5" name="Shape 3"/>
          <p:cNvSpPr/>
          <p:nvPr/>
        </p:nvSpPr>
        <p:spPr>
          <a:xfrm>
            <a:off x="731520" y="1316736"/>
            <a:ext cx="10725912"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417320"/>
            <a:ext cx="10725912" cy="548640"/>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1005840" y="1417320"/>
            <a:ext cx="10149840" cy="548640"/>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소년에게 형을 선고한 뒤에도 분리 수용, 교정 경과에 따른 석방, 자격 제한에 관한 특례를 적용한다</a:t>
            </a:r>
            <a:endParaRPr lang="en-US" sz="1300" dirty="0"/>
          </a:p>
        </p:txBody>
      </p:sp>
      <p:sp>
        <p:nvSpPr>
          <p:cNvPr id="8" name="Shape 6"/>
          <p:cNvSpPr/>
          <p:nvPr/>
        </p:nvSpPr>
        <p:spPr>
          <a:xfrm>
            <a:off x="731520" y="2084832"/>
            <a:ext cx="10725912" cy="0"/>
          </a:xfrm>
          <a:prstGeom prst="line">
            <a:avLst/>
          </a:prstGeom>
          <a:noFill/>
          <a:ln w="12700">
            <a:solidFill>
              <a:srgbClr val="DCE0E8"/>
            </a:solidFill>
            <a:prstDash val="solid"/>
          </a:ln>
        </p:spPr>
        <p:txBody>
          <a:bodyPr/>
          <a:lstStyle/>
          <a:p>
            <a:endParaRPr lang="ko-KR" altLang="en-US"/>
          </a:p>
        </p:txBody>
      </p:sp>
      <p:sp>
        <p:nvSpPr>
          <p:cNvPr id="9" name="Text 7"/>
          <p:cNvSpPr/>
          <p:nvPr/>
        </p:nvSpPr>
        <p:spPr>
          <a:xfrm>
            <a:off x="731520" y="2176272"/>
            <a:ext cx="2926080" cy="292608"/>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형의 집행 장소</a:t>
            </a:r>
            <a:endParaRPr lang="en-US" sz="1300" dirty="0"/>
          </a:p>
        </p:txBody>
      </p:sp>
      <p:sp>
        <p:nvSpPr>
          <p:cNvPr id="10" name="Text 8"/>
          <p:cNvSpPr/>
          <p:nvPr/>
        </p:nvSpPr>
        <p:spPr>
          <a:xfrm>
            <a:off x="3931920" y="2176272"/>
            <a:ext cx="7525512" cy="292608"/>
          </a:xfrm>
          <a:prstGeom prst="rect">
            <a:avLst/>
          </a:prstGeom>
          <a:noFill/>
          <a:ln/>
        </p:spPr>
        <p:txBody>
          <a:bodyPr wrap="square" lIns="0" tIns="0" rIns="0" bIns="0" rtlCol="0" anchor="ctr"/>
          <a:lstStyle/>
          <a:p>
            <a:pPr marL="0" indent="0">
              <a:lnSpc>
                <a:spcPts val="1700"/>
              </a:lnSpc>
              <a:buNone/>
            </a:pPr>
            <a:r>
              <a:rPr lang="en-US" sz="1200" b="1" dirty="0">
                <a:solidFill>
                  <a:srgbClr val="222633"/>
                </a:solidFill>
                <a:latin typeface="Pretendard" pitchFamily="34" charset="0"/>
                <a:ea typeface="Pretendard" pitchFamily="34" charset="-122"/>
                <a:cs typeface="Pretendard" pitchFamily="34" charset="-120"/>
              </a:rPr>
              <a:t>“특별히 설치된 교도소 또는 일반 교도소 안에 특별히 </a:t>
            </a:r>
            <a:r>
              <a:rPr lang="en-US" sz="1200" b="1" dirty="0">
                <a:solidFill>
                  <a:srgbClr val="222633"/>
                </a:solidFill>
                <a:highlight>
                  <a:srgbClr val="FFFF00"/>
                </a:highlight>
                <a:latin typeface="Pretendard" pitchFamily="34" charset="0"/>
                <a:ea typeface="Pretendard" pitchFamily="34" charset="-122"/>
                <a:cs typeface="Pretendard" pitchFamily="34" charset="-120"/>
              </a:rPr>
              <a:t>분리된 장소에서 그 형을 집행한다</a:t>
            </a:r>
            <a:r>
              <a:rPr lang="en-US" sz="1200" b="1" dirty="0">
                <a:solidFill>
                  <a:srgbClr val="222633"/>
                </a:solidFill>
                <a:latin typeface="Pretendard" pitchFamily="34" charset="0"/>
                <a:ea typeface="Pretendard" pitchFamily="34" charset="-122"/>
                <a:cs typeface="Pretendard" pitchFamily="34" charset="-120"/>
              </a:rPr>
              <a:t>”</a:t>
            </a:r>
            <a:endParaRPr lang="en-US" sz="1200" dirty="0"/>
          </a:p>
        </p:txBody>
      </p:sp>
      <p:sp>
        <p:nvSpPr>
          <p:cNvPr id="11" name="Text 9"/>
          <p:cNvSpPr/>
          <p:nvPr/>
        </p:nvSpPr>
        <p:spPr>
          <a:xfrm>
            <a:off x="3931920" y="2468880"/>
            <a:ext cx="7525512" cy="292608"/>
          </a:xfrm>
          <a:prstGeom prst="rect">
            <a:avLst/>
          </a:prstGeom>
          <a:noFill/>
          <a:ln/>
        </p:spPr>
        <p:txBody>
          <a:bodyPr wrap="square" lIns="0" tIns="0" rIns="0" bIns="0" rtlCol="0" anchor="t"/>
          <a:lstStyle/>
          <a:p>
            <a:pPr marL="0" indent="0">
              <a:lnSpc>
                <a:spcPts val="1700"/>
              </a:lnSpc>
              <a:buNone/>
            </a:pPr>
            <a:r>
              <a:rPr lang="en-US" sz="1150" dirty="0">
                <a:solidFill>
                  <a:srgbClr val="464D5C"/>
                </a:solidFill>
                <a:latin typeface="Pretendard" pitchFamily="34" charset="0"/>
                <a:ea typeface="Pretendard" pitchFamily="34" charset="-122"/>
                <a:cs typeface="Pretendard" pitchFamily="34" charset="-120"/>
              </a:rPr>
              <a:t>소년법 제63조</a:t>
            </a:r>
            <a:endParaRPr lang="en-US" sz="1150" dirty="0"/>
          </a:p>
          <a:p>
            <a:pPr marL="0" indent="0">
              <a:lnSpc>
                <a:spcPts val="1700"/>
              </a:lnSpc>
              <a:buNone/>
            </a:pPr>
            <a:r>
              <a:rPr lang="en-US" sz="1150" dirty="0">
                <a:solidFill>
                  <a:srgbClr val="464D5C"/>
                </a:solidFill>
                <a:latin typeface="Pretendard" pitchFamily="34" charset="0"/>
                <a:ea typeface="Pretendard" pitchFamily="34" charset="-122"/>
                <a:cs typeface="Pretendard" pitchFamily="34" charset="-120"/>
              </a:rPr>
              <a:t>소년의 징역 · 금고는 분리된 장소에서 집행한다  ·  집행 중 23세가 되면 일반 교도소에서 집행할 수 있다</a:t>
            </a:r>
            <a:endParaRPr lang="en-US" sz="1150" dirty="0"/>
          </a:p>
        </p:txBody>
      </p:sp>
      <p:sp>
        <p:nvSpPr>
          <p:cNvPr id="12" name="Shape 10"/>
          <p:cNvSpPr/>
          <p:nvPr/>
        </p:nvSpPr>
        <p:spPr>
          <a:xfrm>
            <a:off x="731520" y="3108960"/>
            <a:ext cx="10725912" cy="0"/>
          </a:xfrm>
          <a:prstGeom prst="line">
            <a:avLst/>
          </a:prstGeom>
          <a:noFill/>
          <a:ln w="12700">
            <a:solidFill>
              <a:srgbClr val="DCE0E8"/>
            </a:solidFill>
            <a:prstDash val="solid"/>
          </a:ln>
        </p:spPr>
        <p:txBody>
          <a:bodyPr/>
          <a:lstStyle/>
          <a:p>
            <a:endParaRPr lang="ko-KR" altLang="en-US"/>
          </a:p>
        </p:txBody>
      </p:sp>
      <p:sp>
        <p:nvSpPr>
          <p:cNvPr id="13" name="Text 11"/>
          <p:cNvSpPr/>
          <p:nvPr/>
        </p:nvSpPr>
        <p:spPr>
          <a:xfrm>
            <a:off x="731520" y="3261795"/>
            <a:ext cx="2926080" cy="292608"/>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부정기형의 집행 종료와 가석방</a:t>
            </a:r>
            <a:endParaRPr lang="en-US" sz="1300" dirty="0"/>
          </a:p>
        </p:txBody>
      </p:sp>
      <p:sp>
        <p:nvSpPr>
          <p:cNvPr id="14" name="Text 12"/>
          <p:cNvSpPr/>
          <p:nvPr/>
        </p:nvSpPr>
        <p:spPr>
          <a:xfrm>
            <a:off x="3931920" y="3245467"/>
            <a:ext cx="3561588" cy="256032"/>
          </a:xfrm>
          <a:prstGeom prst="rect">
            <a:avLst/>
          </a:prstGeom>
          <a:noFill/>
          <a:ln/>
        </p:spPr>
        <p:txBody>
          <a:bodyPr wrap="square" lIns="0" tIns="0" rIns="0" bIns="0" rtlCol="0" anchor="ctr"/>
          <a:lstStyle/>
          <a:p>
            <a:pPr marL="0" indent="0">
              <a:buNone/>
            </a:pPr>
            <a:r>
              <a:rPr lang="en-US" sz="1200" b="1" dirty="0">
                <a:solidFill>
                  <a:srgbClr val="A8871C"/>
                </a:solidFill>
                <a:latin typeface="Pretendard" pitchFamily="34" charset="0"/>
                <a:ea typeface="Pretendard" pitchFamily="34" charset="-122"/>
                <a:cs typeface="Pretendard" pitchFamily="34" charset="-120"/>
              </a:rPr>
              <a:t>집행 종료</a:t>
            </a:r>
            <a:endParaRPr lang="en-US" sz="1200" dirty="0"/>
          </a:p>
        </p:txBody>
      </p:sp>
      <p:sp>
        <p:nvSpPr>
          <p:cNvPr id="15" name="Text 13"/>
          <p:cNvSpPr/>
          <p:nvPr/>
        </p:nvSpPr>
        <p:spPr>
          <a:xfrm>
            <a:off x="3931920" y="3519787"/>
            <a:ext cx="3561588" cy="493777"/>
          </a:xfrm>
          <a:prstGeom prst="rect">
            <a:avLst/>
          </a:prstGeom>
          <a:noFill/>
          <a:ln/>
        </p:spPr>
        <p:txBody>
          <a:bodyPr wrap="square" lIns="0" tIns="0" rIns="0" bIns="0" rtlCol="0" anchor="t"/>
          <a:lstStyle/>
          <a:p>
            <a:pPr marL="0" indent="0">
              <a:lnSpc>
                <a:spcPts val="1700"/>
              </a:lnSpc>
              <a:buNone/>
            </a:pPr>
            <a:r>
              <a:rPr lang="en-US" sz="1150" b="1" dirty="0">
                <a:solidFill>
                  <a:srgbClr val="222633"/>
                </a:solidFill>
                <a:latin typeface="Pretendard" pitchFamily="34" charset="0"/>
                <a:ea typeface="Pretendard" pitchFamily="34" charset="-122"/>
                <a:cs typeface="Pretendard" pitchFamily="34" charset="-120"/>
              </a:rPr>
              <a:t>단기 경과 후 행형 성적과 교정 목적 달성을 판단하여, 집행기관의 장이 관할 검사의 지휘에 따라 집행을 종료할 수 있다</a:t>
            </a:r>
            <a:endParaRPr lang="en-US" sz="1150" b="1" dirty="0"/>
          </a:p>
        </p:txBody>
      </p:sp>
      <p:sp>
        <p:nvSpPr>
          <p:cNvPr id="16" name="Text 14"/>
          <p:cNvSpPr/>
          <p:nvPr/>
        </p:nvSpPr>
        <p:spPr>
          <a:xfrm>
            <a:off x="3931920" y="4114800"/>
            <a:ext cx="3561588" cy="219456"/>
          </a:xfrm>
          <a:prstGeom prst="rect">
            <a:avLst/>
          </a:prstGeom>
          <a:noFill/>
          <a:ln/>
        </p:spPr>
        <p:txBody>
          <a:bodyPr wrap="square" lIns="0" tIns="0" rIns="0" bIns="0" rtlCol="0" anchor="ctr"/>
          <a:lstStyle/>
          <a:p>
            <a:pPr marL="0" indent="0">
              <a:buNone/>
            </a:pPr>
            <a:r>
              <a:rPr lang="en-US" sz="1050" dirty="0">
                <a:solidFill>
                  <a:srgbClr val="6E7686"/>
                </a:solidFill>
                <a:latin typeface="Pretendard" pitchFamily="34" charset="0"/>
                <a:ea typeface="Pretendard" pitchFamily="34" charset="-122"/>
                <a:cs typeface="Pretendard" pitchFamily="34" charset="-120"/>
              </a:rPr>
              <a:t>소년법 제60조 제4항</a:t>
            </a:r>
            <a:endParaRPr lang="en-US" sz="1050" dirty="0"/>
          </a:p>
        </p:txBody>
      </p:sp>
      <p:sp>
        <p:nvSpPr>
          <p:cNvPr id="17" name="Text 15"/>
          <p:cNvSpPr/>
          <p:nvPr/>
        </p:nvSpPr>
        <p:spPr>
          <a:xfrm>
            <a:off x="7895844" y="3245467"/>
            <a:ext cx="3561588" cy="256032"/>
          </a:xfrm>
          <a:prstGeom prst="rect">
            <a:avLst/>
          </a:prstGeom>
          <a:noFill/>
          <a:ln/>
        </p:spPr>
        <p:txBody>
          <a:bodyPr wrap="square" lIns="0" tIns="0" rIns="0" bIns="0" rtlCol="0" anchor="ctr"/>
          <a:lstStyle/>
          <a:p>
            <a:pPr marL="0" indent="0">
              <a:buNone/>
            </a:pPr>
            <a:r>
              <a:rPr lang="en-US" sz="1200" b="1" dirty="0">
                <a:solidFill>
                  <a:srgbClr val="A8871C"/>
                </a:solidFill>
                <a:latin typeface="Pretendard" pitchFamily="34" charset="0"/>
                <a:ea typeface="Pretendard" pitchFamily="34" charset="-122"/>
                <a:cs typeface="Pretendard" pitchFamily="34" charset="-120"/>
              </a:rPr>
              <a:t>가석방</a:t>
            </a:r>
            <a:endParaRPr lang="en-US" sz="1200" dirty="0"/>
          </a:p>
        </p:txBody>
      </p:sp>
      <p:sp>
        <p:nvSpPr>
          <p:cNvPr id="18" name="Text 16"/>
          <p:cNvSpPr/>
          <p:nvPr/>
        </p:nvSpPr>
        <p:spPr>
          <a:xfrm>
            <a:off x="7895844" y="3519787"/>
            <a:ext cx="3561588" cy="493777"/>
          </a:xfrm>
          <a:prstGeom prst="rect">
            <a:avLst/>
          </a:prstGeom>
          <a:noFill/>
          <a:ln/>
        </p:spPr>
        <p:txBody>
          <a:bodyPr wrap="square" lIns="0" tIns="0" rIns="0" bIns="0" rtlCol="0" anchor="t"/>
          <a:lstStyle/>
          <a:p>
            <a:pPr marL="0" indent="0">
              <a:lnSpc>
                <a:spcPts val="1700"/>
              </a:lnSpc>
              <a:buNone/>
            </a:pPr>
            <a:r>
              <a:rPr lang="en-US" sz="1150" dirty="0">
                <a:solidFill>
                  <a:srgbClr val="222633"/>
                </a:solidFill>
                <a:latin typeface="Pretendard" pitchFamily="34" charset="0"/>
                <a:ea typeface="Pretendard" pitchFamily="34" charset="-122"/>
                <a:cs typeface="Pretendard" pitchFamily="34" charset="-120"/>
              </a:rPr>
              <a:t>부정기형의 경우 ‘단기의 </a:t>
            </a:r>
            <a:r>
              <a:rPr lang="en-US" sz="1150" b="1" dirty="0">
                <a:solidFill>
                  <a:srgbClr val="222633"/>
                </a:solidFill>
                <a:latin typeface="Pretendard" pitchFamily="34" charset="0"/>
                <a:ea typeface="Pretendard" pitchFamily="34" charset="-122"/>
                <a:cs typeface="Pretendard" pitchFamily="34" charset="-120"/>
              </a:rPr>
              <a:t>3분의 1’이 지난 뒤 가석방을 허가할 수 있다</a:t>
            </a:r>
            <a:r>
              <a:rPr lang="en-US" sz="1150" dirty="0">
                <a:solidFill>
                  <a:srgbClr val="222633"/>
                </a:solidFill>
                <a:latin typeface="Pretendard" pitchFamily="34" charset="0"/>
                <a:ea typeface="Pretendard" pitchFamily="34" charset="-122"/>
                <a:cs typeface="Pretendard" pitchFamily="34" charset="-120"/>
              </a:rPr>
              <a:t>  ·  기간이 지나면 자동으로 석방되는 것은 아니다</a:t>
            </a:r>
            <a:endParaRPr lang="en-US" sz="1150" dirty="0"/>
          </a:p>
        </p:txBody>
      </p:sp>
      <p:sp>
        <p:nvSpPr>
          <p:cNvPr id="19" name="Text 17"/>
          <p:cNvSpPr/>
          <p:nvPr/>
        </p:nvSpPr>
        <p:spPr>
          <a:xfrm>
            <a:off x="7895844" y="4114800"/>
            <a:ext cx="3561588" cy="219456"/>
          </a:xfrm>
          <a:prstGeom prst="rect">
            <a:avLst/>
          </a:prstGeom>
          <a:noFill/>
          <a:ln/>
        </p:spPr>
        <p:txBody>
          <a:bodyPr wrap="square" lIns="0" tIns="0" rIns="0" bIns="0" rtlCol="0" anchor="ctr"/>
          <a:lstStyle/>
          <a:p>
            <a:pPr marL="0" indent="0">
              <a:buNone/>
            </a:pPr>
            <a:r>
              <a:rPr lang="en-US" sz="1050" dirty="0">
                <a:solidFill>
                  <a:srgbClr val="6E7686"/>
                </a:solidFill>
                <a:latin typeface="Pretendard" pitchFamily="34" charset="0"/>
                <a:ea typeface="Pretendard" pitchFamily="34" charset="-122"/>
                <a:cs typeface="Pretendard" pitchFamily="34" charset="-120"/>
              </a:rPr>
              <a:t>소년법 제65조</a:t>
            </a:r>
            <a:endParaRPr lang="en-US" sz="1050" dirty="0"/>
          </a:p>
        </p:txBody>
      </p:sp>
      <p:sp>
        <p:nvSpPr>
          <p:cNvPr id="20" name="Shape 18"/>
          <p:cNvSpPr/>
          <p:nvPr/>
        </p:nvSpPr>
        <p:spPr>
          <a:xfrm>
            <a:off x="731520" y="4407408"/>
            <a:ext cx="10725912" cy="0"/>
          </a:xfrm>
          <a:prstGeom prst="line">
            <a:avLst/>
          </a:prstGeom>
          <a:noFill/>
          <a:ln w="12700">
            <a:solidFill>
              <a:srgbClr val="DCE0E8"/>
            </a:solidFill>
            <a:prstDash val="solid"/>
          </a:ln>
        </p:spPr>
        <p:txBody>
          <a:bodyPr/>
          <a:lstStyle/>
          <a:p>
            <a:endParaRPr lang="ko-KR" altLang="en-US"/>
          </a:p>
        </p:txBody>
      </p:sp>
      <p:sp>
        <p:nvSpPr>
          <p:cNvPr id="21" name="Text 19"/>
          <p:cNvSpPr/>
          <p:nvPr/>
        </p:nvSpPr>
        <p:spPr>
          <a:xfrm>
            <a:off x="731520" y="4531504"/>
            <a:ext cx="2926080" cy="292608"/>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자격에 관한 법령의 적용</a:t>
            </a:r>
            <a:endParaRPr lang="en-US" sz="1300" dirty="0"/>
          </a:p>
        </p:txBody>
      </p:sp>
      <p:sp>
        <p:nvSpPr>
          <p:cNvPr id="22" name="Text 20"/>
          <p:cNvSpPr/>
          <p:nvPr/>
        </p:nvSpPr>
        <p:spPr>
          <a:xfrm>
            <a:off x="3931920" y="4531504"/>
            <a:ext cx="7525512" cy="292608"/>
          </a:xfrm>
          <a:prstGeom prst="rect">
            <a:avLst/>
          </a:prstGeom>
          <a:noFill/>
          <a:ln/>
        </p:spPr>
        <p:txBody>
          <a:bodyPr wrap="square" lIns="0" tIns="0" rIns="0" bIns="0" rtlCol="0" anchor="ctr"/>
          <a:lstStyle/>
          <a:p>
            <a:pPr marL="0" indent="0">
              <a:lnSpc>
                <a:spcPts val="1700"/>
              </a:lnSpc>
              <a:buNone/>
            </a:pPr>
            <a:r>
              <a:rPr lang="en-US" sz="1200" b="1" dirty="0">
                <a:solidFill>
                  <a:srgbClr val="222633"/>
                </a:solidFill>
                <a:latin typeface="Pretendard" pitchFamily="34" charset="0"/>
                <a:ea typeface="Pretendard" pitchFamily="34" charset="-122"/>
                <a:cs typeface="Pretendard" pitchFamily="34" charset="-120"/>
              </a:rPr>
              <a:t>“자격에 관한 법령을 적용할 때 장래에 향하여 형의 선고를 받지 아니한 것으로 본다”</a:t>
            </a:r>
            <a:endParaRPr lang="en-US" sz="1200" dirty="0"/>
          </a:p>
        </p:txBody>
      </p:sp>
      <p:sp>
        <p:nvSpPr>
          <p:cNvPr id="23" name="Text 21"/>
          <p:cNvSpPr/>
          <p:nvPr/>
        </p:nvSpPr>
        <p:spPr>
          <a:xfrm>
            <a:off x="3931920" y="4824111"/>
            <a:ext cx="7525512" cy="649223"/>
          </a:xfrm>
          <a:prstGeom prst="rect">
            <a:avLst/>
          </a:prstGeom>
          <a:noFill/>
          <a:ln/>
        </p:spPr>
        <p:txBody>
          <a:bodyPr wrap="square" lIns="0" tIns="0" rIns="0" bIns="0" rtlCol="0" anchor="t"/>
          <a:lstStyle/>
          <a:p>
            <a:pPr marL="0" indent="0">
              <a:lnSpc>
                <a:spcPts val="1700"/>
              </a:lnSpc>
              <a:buNone/>
            </a:pPr>
            <a:r>
              <a:rPr lang="en-US" sz="1150" dirty="0">
                <a:solidFill>
                  <a:srgbClr val="464D5C"/>
                </a:solidFill>
                <a:latin typeface="Pretendard" pitchFamily="34" charset="0"/>
                <a:ea typeface="Pretendard" pitchFamily="34" charset="-122"/>
                <a:cs typeface="Pretendard" pitchFamily="34" charset="-120"/>
              </a:rPr>
              <a:t>소년법 제67조 제1항</a:t>
            </a:r>
            <a:endParaRPr lang="en-US" sz="1150" dirty="0"/>
          </a:p>
          <a:p>
            <a:pPr marL="0" indent="0">
              <a:lnSpc>
                <a:spcPts val="1700"/>
              </a:lnSpc>
              <a:buNone/>
            </a:pPr>
            <a:r>
              <a:rPr lang="en-US" sz="1150" dirty="0">
                <a:solidFill>
                  <a:srgbClr val="464D5C"/>
                </a:solidFill>
                <a:latin typeface="Pretendard" pitchFamily="34" charset="0"/>
                <a:ea typeface="Pretendard" pitchFamily="34" charset="-122"/>
                <a:cs typeface="Pretendard" pitchFamily="34" charset="-120"/>
              </a:rPr>
              <a:t>소년 때 범한 죄로 형 집행을 마치거나 면제받은 경우, 또는 선고유예 · 집행유예를 받은 경우에 적용한다</a:t>
            </a:r>
            <a:endParaRPr lang="en-US" sz="1150" dirty="0"/>
          </a:p>
        </p:txBody>
      </p:sp>
      <p:sp>
        <p:nvSpPr>
          <p:cNvPr id="26" name="Text 24"/>
          <p:cNvSpPr/>
          <p:nvPr/>
        </p:nvSpPr>
        <p:spPr>
          <a:xfrm>
            <a:off x="733153" y="5541264"/>
            <a:ext cx="10725912" cy="548641"/>
          </a:xfrm>
          <a:prstGeom prst="rect">
            <a:avLst/>
          </a:prstGeom>
          <a:solidFill>
            <a:schemeClr val="accent1">
              <a:lumMod val="20000"/>
              <a:lumOff val="80000"/>
            </a:schemeClr>
          </a:solidFill>
          <a:ln/>
        </p:spPr>
        <p:txBody>
          <a:bodyPr wrap="square" lIns="0" tIns="0" rIns="0" bIns="0" rtlCol="0" anchor="ctr"/>
          <a:lstStyle/>
          <a:p>
            <a:pPr marL="0" indent="0" algn="ctr">
              <a:buNone/>
            </a:pPr>
            <a:r>
              <a:rPr lang="ko-KR" altLang="en-US" sz="1400" b="1" dirty="0">
                <a:solidFill>
                  <a:srgbClr val="002060"/>
                </a:solidFill>
                <a:latin typeface="Pretendard" pitchFamily="34" charset="0"/>
                <a:ea typeface="Pretendard" pitchFamily="34" charset="-122"/>
                <a:cs typeface="Pretendard" pitchFamily="34" charset="-120"/>
              </a:rPr>
              <a:t>소년의 부정기형은 장기와 단기를 함께 정하고</a:t>
            </a:r>
            <a:r>
              <a:rPr lang="en-US" altLang="ko-KR" sz="1400" b="1" dirty="0">
                <a:solidFill>
                  <a:srgbClr val="002060"/>
                </a:solidFill>
                <a:latin typeface="Pretendard" pitchFamily="34" charset="0"/>
                <a:ea typeface="Pretendard" pitchFamily="34" charset="-122"/>
                <a:cs typeface="Pretendard" pitchFamily="34" charset="-120"/>
              </a:rPr>
              <a:t>, </a:t>
            </a:r>
            <a:r>
              <a:rPr lang="ko-KR" altLang="en-US" sz="1400" b="1" dirty="0">
                <a:solidFill>
                  <a:srgbClr val="002060"/>
                </a:solidFill>
                <a:latin typeface="Pretendard" pitchFamily="34" charset="0"/>
                <a:ea typeface="Pretendard" pitchFamily="34" charset="-122"/>
                <a:cs typeface="Pretendard" pitchFamily="34" charset="-120"/>
              </a:rPr>
              <a:t>복역 중 교정 경과에 따라 형 집행의 종료와 석방 여부를 판단하도록 한다</a:t>
            </a:r>
            <a:r>
              <a:rPr lang="en-US" altLang="ko-KR" sz="1400" b="1" dirty="0">
                <a:solidFill>
                  <a:srgbClr val="002060"/>
                </a:solidFill>
                <a:latin typeface="Pretendard" pitchFamily="34" charset="0"/>
                <a:ea typeface="Pretendard" pitchFamily="34" charset="-122"/>
                <a:cs typeface="Pretendard" pitchFamily="34" charset="-120"/>
              </a:rPr>
              <a:t>.</a:t>
            </a:r>
            <a:endParaRPr lang="en-US" sz="1400" dirty="0">
              <a:solidFill>
                <a:srgbClr val="00206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35040" y="384048"/>
            <a:ext cx="5422392" cy="256032"/>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소년에게 적용되는 형 선고 특례</a:t>
            </a:r>
            <a:endParaRPr lang="en-US" sz="1050" dirty="0"/>
          </a:p>
        </p:txBody>
      </p:sp>
      <p:sp>
        <p:nvSpPr>
          <p:cNvPr id="4" name="Text 2"/>
          <p:cNvSpPr/>
          <p:nvPr/>
        </p:nvSpPr>
        <p:spPr>
          <a:xfrm>
            <a:off x="731520" y="640080"/>
            <a:ext cx="10725912" cy="640080"/>
          </a:xfrm>
          <a:prstGeom prst="rect">
            <a:avLst/>
          </a:prstGeom>
          <a:noFill/>
          <a:ln/>
        </p:spPr>
        <p:txBody>
          <a:bodyPr wrap="square" lIns="0" tIns="0" rIns="0" bIns="0" rtlCol="0" anchor="ctr"/>
          <a:lstStyle/>
          <a:p>
            <a:pPr marL="0" indent="0">
              <a:buNone/>
            </a:pPr>
            <a:r>
              <a:rPr lang="en-US" sz="2750" b="1" dirty="0">
                <a:solidFill>
                  <a:srgbClr val="1E2761"/>
                </a:solidFill>
                <a:latin typeface="Pretendard" pitchFamily="34" charset="0"/>
                <a:ea typeface="Pretendard" pitchFamily="34" charset="-122"/>
                <a:cs typeface="Pretendard" pitchFamily="34" charset="-120"/>
              </a:rPr>
              <a:t>소년의 부정기형 — 장기·단기와 실제 석방</a:t>
            </a:r>
            <a:endParaRPr lang="en-US" sz="2750" dirty="0"/>
          </a:p>
        </p:txBody>
      </p:sp>
      <p:sp>
        <p:nvSpPr>
          <p:cNvPr id="5" name="Shape 3"/>
          <p:cNvSpPr/>
          <p:nvPr/>
        </p:nvSpPr>
        <p:spPr>
          <a:xfrm>
            <a:off x="731520" y="1316736"/>
            <a:ext cx="10725912"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417320"/>
            <a:ext cx="10725912" cy="548640"/>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1005840" y="1417320"/>
            <a:ext cx="10149840" cy="548640"/>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소년의 부정기형은 복역 중 교정 상태에 따라 장기 만료 전에 형 집행을 종료할 수 있도록 한다</a:t>
            </a:r>
            <a:endParaRPr lang="en-US" sz="1300" dirty="0"/>
          </a:p>
        </p:txBody>
      </p:sp>
      <p:sp>
        <p:nvSpPr>
          <p:cNvPr id="8" name="Text 6"/>
          <p:cNvSpPr/>
          <p:nvPr/>
        </p:nvSpPr>
        <p:spPr>
          <a:xfrm>
            <a:off x="731520" y="2084832"/>
            <a:ext cx="10725912" cy="274320"/>
          </a:xfrm>
          <a:prstGeom prst="rect">
            <a:avLst/>
          </a:prstGeom>
          <a:noFill/>
          <a:ln/>
        </p:spPr>
        <p:txBody>
          <a:bodyPr wrap="square" lIns="0" tIns="0" rIns="0" bIns="0" rtlCol="0" anchor="ctr"/>
          <a:lstStyle/>
          <a:p>
            <a:pPr marL="0" indent="0">
              <a:buNone/>
            </a:pPr>
            <a:r>
              <a:rPr lang="en-US" sz="1250" b="1" dirty="0">
                <a:solidFill>
                  <a:srgbClr val="222633"/>
                </a:solidFill>
                <a:latin typeface="Pretendard" pitchFamily="34" charset="0"/>
                <a:ea typeface="Pretendard" pitchFamily="34" charset="-122"/>
                <a:cs typeface="Pretendard" pitchFamily="34" charset="-120"/>
              </a:rPr>
              <a:t>정기형은 형기를 하나로 정하고, 부정기형은 장기와 단기를 함께 정한다</a:t>
            </a:r>
            <a:endParaRPr lang="en-US" sz="1250" dirty="0"/>
          </a:p>
        </p:txBody>
      </p:sp>
      <p:sp>
        <p:nvSpPr>
          <p:cNvPr id="9" name="Text 7"/>
          <p:cNvSpPr/>
          <p:nvPr/>
        </p:nvSpPr>
        <p:spPr>
          <a:xfrm>
            <a:off x="731520" y="2419792"/>
            <a:ext cx="10725912" cy="402336"/>
          </a:xfrm>
          <a:prstGeom prst="rect">
            <a:avLst/>
          </a:prstGeom>
          <a:noFill/>
          <a:ln/>
        </p:spPr>
        <p:txBody>
          <a:bodyPr wrap="square" lIns="0" tIns="0" rIns="0" bIns="0" rtlCol="0" anchor="ctr"/>
          <a:lstStyle/>
          <a:p>
            <a:pPr marL="0" indent="0">
              <a:buNone/>
            </a:pPr>
            <a:r>
              <a:rPr lang="en-US" sz="1150" b="1" dirty="0" err="1">
                <a:solidFill>
                  <a:srgbClr val="A8871C"/>
                </a:solidFill>
                <a:latin typeface="Pretendard" pitchFamily="34" charset="0"/>
                <a:ea typeface="Pretendard" pitchFamily="34" charset="-122"/>
                <a:cs typeface="Pretendard" pitchFamily="34" charset="-120"/>
              </a:rPr>
              <a:t>예시</a:t>
            </a:r>
            <a:r>
              <a:rPr lang="en-US" sz="1150" b="1" dirty="0">
                <a:solidFill>
                  <a:srgbClr val="A8871C"/>
                </a:solidFill>
                <a:latin typeface="Pretendard" pitchFamily="34" charset="0"/>
                <a:ea typeface="Pretendard" pitchFamily="34" charset="-122"/>
                <a:cs typeface="Pretendard" pitchFamily="34" charset="-120"/>
              </a:rPr>
              <a:t>   </a:t>
            </a:r>
            <a:r>
              <a:rPr lang="en-US" sz="1700" b="1" dirty="0">
                <a:solidFill>
                  <a:srgbClr val="1E2761"/>
                </a:solidFill>
                <a:latin typeface="Pretendard" pitchFamily="34" charset="0"/>
                <a:ea typeface="Pretendard" pitchFamily="34" charset="-122"/>
                <a:cs typeface="Pretendard" pitchFamily="34" charset="-120"/>
              </a:rPr>
              <a:t>징역 장기 3년 · 단기 2년</a:t>
            </a:r>
            <a:endParaRPr lang="en-US" sz="1150" dirty="0"/>
          </a:p>
        </p:txBody>
      </p:sp>
      <p:sp>
        <p:nvSpPr>
          <p:cNvPr id="10" name="Text 8"/>
          <p:cNvSpPr/>
          <p:nvPr/>
        </p:nvSpPr>
        <p:spPr>
          <a:xfrm>
            <a:off x="731520" y="2907792"/>
            <a:ext cx="2926080" cy="292608"/>
          </a:xfrm>
          <a:prstGeom prst="rect">
            <a:avLst/>
          </a:prstGeom>
          <a:noFill/>
          <a:ln/>
        </p:spPr>
        <p:txBody>
          <a:bodyPr wrap="square" lIns="0" tIns="0" rIns="0" bIns="0" rtlCol="0" anchor="ctr"/>
          <a:lstStyle/>
          <a:p>
            <a:pPr marL="0" indent="0">
              <a:buNone/>
            </a:pPr>
            <a:r>
              <a:rPr lang="en-US" sz="1200" b="1" dirty="0">
                <a:solidFill>
                  <a:srgbClr val="1E2761"/>
                </a:solidFill>
                <a:latin typeface="Pretendard" pitchFamily="34" charset="0"/>
                <a:ea typeface="Pretendard" pitchFamily="34" charset="-122"/>
                <a:cs typeface="Pretendard" pitchFamily="34" charset="-120"/>
              </a:rPr>
              <a:t>기준 시점</a:t>
            </a:r>
            <a:endParaRPr lang="en-US" sz="1200" dirty="0"/>
          </a:p>
        </p:txBody>
      </p:sp>
      <p:sp>
        <p:nvSpPr>
          <p:cNvPr id="11" name="Text 9"/>
          <p:cNvSpPr/>
          <p:nvPr/>
        </p:nvSpPr>
        <p:spPr>
          <a:xfrm>
            <a:off x="3931920" y="2907792"/>
            <a:ext cx="7525512" cy="292608"/>
          </a:xfrm>
          <a:prstGeom prst="rect">
            <a:avLst/>
          </a:prstGeom>
          <a:noFill/>
          <a:ln/>
        </p:spPr>
        <p:txBody>
          <a:bodyPr wrap="square" lIns="0" tIns="0" rIns="0" bIns="0" rtlCol="0" anchor="ctr"/>
          <a:lstStyle/>
          <a:p>
            <a:pPr marL="0" indent="0">
              <a:buNone/>
            </a:pPr>
            <a:r>
              <a:rPr lang="en-US" sz="1200" b="1" dirty="0">
                <a:solidFill>
                  <a:srgbClr val="1E2761"/>
                </a:solidFill>
                <a:latin typeface="Pretendard" pitchFamily="34" charset="0"/>
                <a:ea typeface="Pretendard" pitchFamily="34" charset="-122"/>
                <a:cs typeface="Pretendard" pitchFamily="34" charset="-120"/>
              </a:rPr>
              <a:t>집행과 석방</a:t>
            </a:r>
            <a:endParaRPr lang="en-US" sz="1200" dirty="0"/>
          </a:p>
        </p:txBody>
      </p:sp>
      <p:sp>
        <p:nvSpPr>
          <p:cNvPr id="12" name="Shape 10"/>
          <p:cNvSpPr/>
          <p:nvPr/>
        </p:nvSpPr>
        <p:spPr>
          <a:xfrm>
            <a:off x="731520" y="3218688"/>
            <a:ext cx="10725912" cy="0"/>
          </a:xfrm>
          <a:prstGeom prst="line">
            <a:avLst/>
          </a:prstGeom>
          <a:noFill/>
          <a:ln w="19050">
            <a:solidFill>
              <a:srgbClr val="1E2761"/>
            </a:solidFill>
            <a:prstDash val="solid"/>
          </a:ln>
        </p:spPr>
        <p:txBody>
          <a:bodyPr/>
          <a:lstStyle/>
          <a:p>
            <a:endParaRPr lang="ko-KR" altLang="en-US"/>
          </a:p>
        </p:txBody>
      </p:sp>
      <p:sp>
        <p:nvSpPr>
          <p:cNvPr id="13" name="Text 11"/>
          <p:cNvSpPr/>
          <p:nvPr/>
        </p:nvSpPr>
        <p:spPr>
          <a:xfrm>
            <a:off x="731520" y="3273552"/>
            <a:ext cx="2926080" cy="658368"/>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단기 2년 경과</a:t>
            </a:r>
            <a:endParaRPr lang="en-US" sz="1300" dirty="0"/>
          </a:p>
        </p:txBody>
      </p:sp>
      <p:sp>
        <p:nvSpPr>
          <p:cNvPr id="14" name="Text 12"/>
          <p:cNvSpPr/>
          <p:nvPr/>
        </p:nvSpPr>
        <p:spPr>
          <a:xfrm>
            <a:off x="3931920" y="3273552"/>
            <a:ext cx="7525512" cy="658368"/>
          </a:xfrm>
          <a:prstGeom prst="rect">
            <a:avLst/>
          </a:prstGeom>
          <a:noFill/>
          <a:ln/>
        </p:spPr>
        <p:txBody>
          <a:bodyPr wrap="square" lIns="0" tIns="0" rIns="0" bIns="0" rtlCol="0" anchor="ctr"/>
          <a:lstStyle/>
          <a:p>
            <a:pPr marL="0" indent="0">
              <a:lnSpc>
                <a:spcPts val="1800"/>
              </a:lnSpc>
              <a:buNone/>
            </a:pPr>
            <a:r>
              <a:rPr lang="en-US" sz="1200" b="1" dirty="0">
                <a:solidFill>
                  <a:srgbClr val="222633"/>
                </a:solidFill>
                <a:highlight>
                  <a:srgbClr val="FFFF00"/>
                </a:highlight>
                <a:latin typeface="Pretendard" pitchFamily="34" charset="0"/>
                <a:ea typeface="Pretendard" pitchFamily="34" charset="-122"/>
                <a:cs typeface="Pretendard" pitchFamily="34" charset="-120"/>
              </a:rPr>
              <a:t>수형 성적이 좋고 교정 목적을 달성했다고 인정되면, 집행기관의 장이 관할 검사의 지휘에 따라 형 집행을 종료할 수 있다</a:t>
            </a:r>
            <a:endParaRPr lang="en-US" sz="1200" b="1" dirty="0">
              <a:highlight>
                <a:srgbClr val="FFFF00"/>
              </a:highlight>
            </a:endParaRPr>
          </a:p>
        </p:txBody>
      </p:sp>
      <p:sp>
        <p:nvSpPr>
          <p:cNvPr id="15" name="Shape 13"/>
          <p:cNvSpPr/>
          <p:nvPr/>
        </p:nvSpPr>
        <p:spPr>
          <a:xfrm>
            <a:off x="731520" y="3931920"/>
            <a:ext cx="10725912" cy="0"/>
          </a:xfrm>
          <a:prstGeom prst="line">
            <a:avLst/>
          </a:prstGeom>
          <a:noFill/>
          <a:ln w="12700">
            <a:solidFill>
              <a:srgbClr val="DCE0E8"/>
            </a:solidFill>
            <a:prstDash val="solid"/>
          </a:ln>
        </p:spPr>
        <p:txBody>
          <a:bodyPr/>
          <a:lstStyle/>
          <a:p>
            <a:endParaRPr lang="ko-KR" altLang="en-US"/>
          </a:p>
        </p:txBody>
      </p:sp>
      <p:sp>
        <p:nvSpPr>
          <p:cNvPr id="16" name="Text 14"/>
          <p:cNvSpPr/>
          <p:nvPr/>
        </p:nvSpPr>
        <p:spPr>
          <a:xfrm>
            <a:off x="731520" y="3986784"/>
            <a:ext cx="2926080" cy="566928"/>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장기 3년 복역</a:t>
            </a:r>
            <a:endParaRPr lang="en-US" sz="1300" dirty="0"/>
          </a:p>
        </p:txBody>
      </p:sp>
      <p:sp>
        <p:nvSpPr>
          <p:cNvPr id="17" name="Text 15"/>
          <p:cNvSpPr/>
          <p:nvPr/>
        </p:nvSpPr>
        <p:spPr>
          <a:xfrm>
            <a:off x="3931920" y="3986784"/>
            <a:ext cx="7525512" cy="566928"/>
          </a:xfrm>
          <a:prstGeom prst="rect">
            <a:avLst/>
          </a:prstGeom>
          <a:noFill/>
          <a:ln/>
        </p:spPr>
        <p:txBody>
          <a:bodyPr wrap="square" lIns="0" tIns="0" rIns="0" bIns="0" rtlCol="0" anchor="ctr"/>
          <a:lstStyle/>
          <a:p>
            <a:pPr marL="0" indent="0">
              <a:lnSpc>
                <a:spcPts val="1800"/>
              </a:lnSpc>
              <a:buNone/>
            </a:pPr>
            <a:r>
              <a:rPr lang="en-US" sz="1200" dirty="0">
                <a:solidFill>
                  <a:srgbClr val="222633"/>
                </a:solidFill>
                <a:latin typeface="Pretendard" pitchFamily="34" charset="0"/>
                <a:ea typeface="Pretendard" pitchFamily="34" charset="-122"/>
                <a:cs typeface="Pretendard" pitchFamily="34" charset="-120"/>
              </a:rPr>
              <a:t>그 </a:t>
            </a:r>
            <a:r>
              <a:rPr lang="en-US" sz="1200" dirty="0" err="1">
                <a:solidFill>
                  <a:srgbClr val="222633"/>
                </a:solidFill>
                <a:latin typeface="Pretendard" pitchFamily="34" charset="0"/>
                <a:ea typeface="Pretendard" pitchFamily="34" charset="-122"/>
                <a:cs typeface="Pretendard" pitchFamily="34" charset="-120"/>
              </a:rPr>
              <a:t>전에</a:t>
            </a:r>
            <a:r>
              <a:rPr lang="en-US" sz="1200" dirty="0">
                <a:solidFill>
                  <a:srgbClr val="222633"/>
                </a:solidFill>
                <a:latin typeface="Pretendard" pitchFamily="34" charset="0"/>
                <a:ea typeface="Pretendard" pitchFamily="34" charset="-122"/>
                <a:cs typeface="Pretendard" pitchFamily="34" charset="-120"/>
              </a:rPr>
              <a:t> </a:t>
            </a:r>
            <a:r>
              <a:rPr lang="ko-KR" altLang="en-US" sz="1200" dirty="0">
                <a:solidFill>
                  <a:srgbClr val="222633"/>
                </a:solidFill>
                <a:latin typeface="Pretendard" pitchFamily="34" charset="0"/>
                <a:ea typeface="Pretendard" pitchFamily="34" charset="-122"/>
                <a:cs typeface="Pretendard" pitchFamily="34" charset="-120"/>
              </a:rPr>
              <a:t>단기의 </a:t>
            </a:r>
            <a:r>
              <a:rPr lang="en-US" sz="1200" dirty="0" err="1">
                <a:solidFill>
                  <a:srgbClr val="222633"/>
                </a:solidFill>
                <a:latin typeface="Pretendard" pitchFamily="34" charset="0"/>
                <a:ea typeface="Pretendard" pitchFamily="34" charset="-122"/>
                <a:cs typeface="Pretendard" pitchFamily="34" charset="-120"/>
              </a:rPr>
              <a:t>집행</a:t>
            </a:r>
            <a:r>
              <a:rPr lang="en-US" sz="1200" dirty="0">
                <a:solidFill>
                  <a:srgbClr val="222633"/>
                </a:solidFill>
                <a:latin typeface="Pretendard" pitchFamily="34" charset="0"/>
                <a:ea typeface="Pretendard" pitchFamily="34" charset="-122"/>
                <a:cs typeface="Pretendard" pitchFamily="34" charset="-120"/>
              </a:rPr>
              <a:t> 종료나 가석방 없이 계속 복역했다면, 선고받은 형기가 만료된다</a:t>
            </a:r>
            <a:endParaRPr lang="en-US" sz="1200" dirty="0"/>
          </a:p>
        </p:txBody>
      </p:sp>
      <p:sp>
        <p:nvSpPr>
          <p:cNvPr id="19" name="Text 17"/>
          <p:cNvSpPr/>
          <p:nvPr/>
        </p:nvSpPr>
        <p:spPr>
          <a:xfrm>
            <a:off x="731520" y="4488016"/>
            <a:ext cx="10725912" cy="219456"/>
          </a:xfrm>
          <a:prstGeom prst="rect">
            <a:avLst/>
          </a:prstGeom>
          <a:noFill/>
          <a:ln/>
        </p:spPr>
        <p:txBody>
          <a:bodyPr wrap="square" lIns="0" tIns="0" rIns="0" bIns="0" rtlCol="0" anchor="ctr"/>
          <a:lstStyle/>
          <a:p>
            <a:pPr marL="0" indent="0">
              <a:buNone/>
            </a:pPr>
            <a:r>
              <a:rPr lang="en-US" sz="1050" dirty="0">
                <a:solidFill>
                  <a:srgbClr val="6E7686"/>
                </a:solidFill>
                <a:latin typeface="Pretendard" pitchFamily="34" charset="0"/>
                <a:ea typeface="Pretendard" pitchFamily="34" charset="-122"/>
                <a:cs typeface="Pretendard" pitchFamily="34" charset="-120"/>
              </a:rPr>
              <a:t>근거: 소년법 제60조</a:t>
            </a:r>
            <a:endParaRPr lang="en-US" sz="1050" dirty="0"/>
          </a:p>
        </p:txBody>
      </p:sp>
      <p:sp>
        <p:nvSpPr>
          <p:cNvPr id="20" name="Shape 18"/>
          <p:cNvSpPr/>
          <p:nvPr/>
        </p:nvSpPr>
        <p:spPr>
          <a:xfrm>
            <a:off x="731520" y="4864608"/>
            <a:ext cx="10725912" cy="713232"/>
          </a:xfrm>
          <a:prstGeom prst="rect">
            <a:avLst/>
          </a:prstGeom>
          <a:solidFill>
            <a:srgbClr val="F2F4F8"/>
          </a:solidFill>
          <a:ln w="12700">
            <a:solidFill>
              <a:srgbClr val="F2F4F8"/>
            </a:solidFill>
            <a:prstDash val="solid"/>
          </a:ln>
        </p:spPr>
        <p:txBody>
          <a:bodyPr/>
          <a:lstStyle/>
          <a:p>
            <a:endParaRPr lang="ko-KR" altLang="en-US"/>
          </a:p>
        </p:txBody>
      </p:sp>
      <p:sp>
        <p:nvSpPr>
          <p:cNvPr id="21" name="Text 19"/>
          <p:cNvSpPr/>
          <p:nvPr/>
        </p:nvSpPr>
        <p:spPr>
          <a:xfrm>
            <a:off x="1005840" y="5124249"/>
            <a:ext cx="2377440" cy="237744"/>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별도의 가석방 경로</a:t>
            </a:r>
            <a:endParaRPr lang="en-US" sz="1150" dirty="0"/>
          </a:p>
        </p:txBody>
      </p:sp>
      <p:sp>
        <p:nvSpPr>
          <p:cNvPr id="22" name="Text 20"/>
          <p:cNvSpPr/>
          <p:nvPr/>
        </p:nvSpPr>
        <p:spPr>
          <a:xfrm>
            <a:off x="3566160" y="5021741"/>
            <a:ext cx="7616952" cy="457201"/>
          </a:xfrm>
          <a:prstGeom prst="rect">
            <a:avLst/>
          </a:prstGeom>
          <a:noFill/>
          <a:ln/>
        </p:spPr>
        <p:txBody>
          <a:bodyPr wrap="square" lIns="0" tIns="0" rIns="0" bIns="0" rtlCol="0" anchor="t"/>
          <a:lstStyle/>
          <a:p>
            <a:pPr marL="0" indent="0">
              <a:lnSpc>
                <a:spcPts val="1700"/>
              </a:lnSpc>
              <a:buNone/>
            </a:pPr>
            <a:r>
              <a:rPr lang="en-US" sz="1150" b="1" dirty="0">
                <a:solidFill>
                  <a:srgbClr val="222633"/>
                </a:solidFill>
                <a:latin typeface="Pretendard" pitchFamily="34" charset="0"/>
                <a:ea typeface="Pretendard" pitchFamily="34" charset="-122"/>
                <a:cs typeface="Pretendard" pitchFamily="34" charset="-120"/>
              </a:rPr>
              <a:t>단기의 3분의 1이 지나면 심사를 거쳐 가석방을 허가할 수 있다</a:t>
            </a:r>
            <a:endParaRPr lang="en-US" sz="1150" b="1" dirty="0"/>
          </a:p>
          <a:p>
            <a:pPr marL="0" indent="0">
              <a:lnSpc>
                <a:spcPts val="1700"/>
              </a:lnSpc>
              <a:buNone/>
            </a:pPr>
            <a:r>
              <a:rPr lang="en-US" sz="1150" dirty="0">
                <a:solidFill>
                  <a:srgbClr val="222633"/>
                </a:solidFill>
                <a:latin typeface="Pretendard" pitchFamily="34" charset="0"/>
                <a:ea typeface="Pretendard" pitchFamily="34" charset="-122"/>
                <a:cs typeface="Pretendard" pitchFamily="34" charset="-120"/>
              </a:rPr>
              <a:t>이 예시에서는 2년 ÷ 3 = 8개월 경과 후 가석방이 가능하다      근거: 소년법 제65조</a:t>
            </a:r>
            <a:endParaRPr lang="en-US" sz="1150" dirty="0"/>
          </a:p>
        </p:txBody>
      </p:sp>
      <p:sp>
        <p:nvSpPr>
          <p:cNvPr id="23" name="Shape 21"/>
          <p:cNvSpPr/>
          <p:nvPr/>
        </p:nvSpPr>
        <p:spPr>
          <a:xfrm>
            <a:off x="731520" y="5650992"/>
            <a:ext cx="10725912" cy="0"/>
          </a:xfrm>
          <a:prstGeom prst="line">
            <a:avLst/>
          </a:prstGeom>
          <a:noFill/>
          <a:ln w="12700">
            <a:solidFill>
              <a:srgbClr val="DCE0E8"/>
            </a:solidFill>
            <a:prstDash val="solid"/>
          </a:ln>
        </p:spPr>
        <p:txBody>
          <a:bodyPr/>
          <a:lstStyle/>
          <a:p>
            <a:endParaRPr lang="ko-KR" altLang="en-US"/>
          </a:p>
        </p:txBody>
      </p:sp>
      <p:sp>
        <p:nvSpPr>
          <p:cNvPr id="24" name="Text 22"/>
          <p:cNvSpPr/>
          <p:nvPr/>
        </p:nvSpPr>
        <p:spPr>
          <a:xfrm>
            <a:off x="731520" y="5650992"/>
            <a:ext cx="10725912" cy="493776"/>
          </a:xfrm>
          <a:prstGeom prst="rect">
            <a:avLst/>
          </a:prstGeom>
          <a:solidFill>
            <a:schemeClr val="accent1">
              <a:lumMod val="20000"/>
              <a:lumOff val="80000"/>
            </a:schemeClr>
          </a:solidFill>
          <a:ln/>
        </p:spPr>
        <p:txBody>
          <a:bodyPr wrap="square" lIns="0" tIns="0" rIns="0" bIns="0" rtlCol="0" anchor="ctr"/>
          <a:lstStyle/>
          <a:p>
            <a:pPr marL="0" indent="0" algn="ctr">
              <a:buNone/>
            </a:pPr>
            <a:r>
              <a:rPr lang="ko-KR" altLang="en-US" sz="1400" b="1" dirty="0">
                <a:solidFill>
                  <a:srgbClr val="002060"/>
                </a:solidFill>
                <a:latin typeface="Pretendard" pitchFamily="34" charset="0"/>
                <a:ea typeface="Pretendard" pitchFamily="34" charset="-122"/>
                <a:cs typeface="Pretendard" pitchFamily="34" charset="-120"/>
              </a:rPr>
              <a:t>형의 완화와 사회복귀 특례를 둔 현행 대응으로 충분한가</a:t>
            </a:r>
            <a:r>
              <a:rPr lang="en-US" altLang="ko-KR" sz="1400" b="1" dirty="0">
                <a:solidFill>
                  <a:srgbClr val="002060"/>
                </a:solidFill>
                <a:latin typeface="Pretendard" pitchFamily="34" charset="0"/>
                <a:ea typeface="Pretendard" pitchFamily="34" charset="-122"/>
                <a:cs typeface="Pretendard" pitchFamily="34" charset="-120"/>
              </a:rPr>
              <a:t>, </a:t>
            </a:r>
            <a:r>
              <a:rPr lang="ko-KR" altLang="en-US" sz="1400" b="1" dirty="0">
                <a:solidFill>
                  <a:srgbClr val="002060"/>
                </a:solidFill>
                <a:latin typeface="Pretendard" pitchFamily="34" charset="0"/>
                <a:ea typeface="Pretendard" pitchFamily="34" charset="-122"/>
                <a:cs typeface="Pretendard" pitchFamily="34" charset="-120"/>
              </a:rPr>
              <a:t>아니면 마약류 투약</a:t>
            </a:r>
            <a:r>
              <a:rPr lang="en-US" altLang="ko-KR" sz="1400" b="1" dirty="0">
                <a:solidFill>
                  <a:srgbClr val="002060"/>
                </a:solidFill>
                <a:latin typeface="Pretendard" pitchFamily="34" charset="0"/>
                <a:ea typeface="Pretendard" pitchFamily="34" charset="-122"/>
                <a:cs typeface="Pretendard" pitchFamily="34" charset="-120"/>
              </a:rPr>
              <a:t>·</a:t>
            </a:r>
            <a:r>
              <a:rPr lang="ko-KR" altLang="en-US" sz="1400" b="1" dirty="0">
                <a:solidFill>
                  <a:srgbClr val="002060"/>
                </a:solidFill>
                <a:latin typeface="Pretendard" pitchFamily="34" charset="0"/>
                <a:ea typeface="Pretendard" pitchFamily="34" charset="-122"/>
                <a:cs typeface="Pretendard" pitchFamily="34" charset="-120"/>
              </a:rPr>
              <a:t>사용 청소년에게 치료</a:t>
            </a:r>
            <a:r>
              <a:rPr lang="en-US" altLang="ko-KR" sz="1400" b="1" dirty="0">
                <a:solidFill>
                  <a:srgbClr val="002060"/>
                </a:solidFill>
                <a:latin typeface="Pretendard" pitchFamily="34" charset="0"/>
                <a:ea typeface="Pretendard" pitchFamily="34" charset="-122"/>
                <a:cs typeface="Pretendard" pitchFamily="34" charset="-120"/>
              </a:rPr>
              <a:t>·</a:t>
            </a:r>
            <a:r>
              <a:rPr lang="ko-KR" altLang="en-US" sz="1400" b="1" dirty="0">
                <a:solidFill>
                  <a:srgbClr val="002060"/>
                </a:solidFill>
                <a:latin typeface="Pretendard" pitchFamily="34" charset="0"/>
                <a:ea typeface="Pretendard" pitchFamily="34" charset="-122"/>
                <a:cs typeface="Pretendard" pitchFamily="34" charset="-120"/>
              </a:rPr>
              <a:t>재활을 우선 적용하는 범위를 더 넓혀야 하는가</a:t>
            </a:r>
            <a:r>
              <a:rPr lang="en-US" altLang="ko-KR" sz="1400" b="1" dirty="0">
                <a:solidFill>
                  <a:srgbClr val="002060"/>
                </a:solidFill>
                <a:latin typeface="Pretendard" pitchFamily="34" charset="0"/>
                <a:ea typeface="Pretendard" pitchFamily="34" charset="-122"/>
                <a:cs typeface="Pretendard" pitchFamily="34" charset="-120"/>
              </a:rPr>
              <a:t>?</a:t>
            </a:r>
            <a:endParaRPr lang="en-US" sz="1400" dirty="0">
              <a:solidFill>
                <a:srgbClr val="002060"/>
              </a:solidFill>
            </a:endParaRPr>
          </a:p>
        </p:txBody>
      </p:sp>
      <p:sp>
        <p:nvSpPr>
          <p:cNvPr id="25" name="Shape 23"/>
          <p:cNvSpPr/>
          <p:nvPr/>
        </p:nvSpPr>
        <p:spPr>
          <a:xfrm>
            <a:off x="731520" y="6144768"/>
            <a:ext cx="10725912" cy="0"/>
          </a:xfrm>
          <a:prstGeom prst="line">
            <a:avLst/>
          </a:prstGeom>
          <a:noFill/>
          <a:ln w="12700">
            <a:solidFill>
              <a:srgbClr val="DCE0E8"/>
            </a:solidFill>
            <a:prstDash val="solid"/>
          </a:ln>
        </p:spPr>
        <p:txBody>
          <a:bodyPr/>
          <a:lstStyle/>
          <a:p>
            <a:endParaRPr lang="ko-KR" altLang="en-US"/>
          </a:p>
        </p:txBody>
      </p:sp>
      <p:sp>
        <p:nvSpPr>
          <p:cNvPr id="27" name="Text 0">
            <a:extLst>
              <a:ext uri="{FF2B5EF4-FFF2-40B4-BE49-F238E27FC236}">
                <a16:creationId xmlns:a16="http://schemas.microsoft.com/office/drawing/2014/main" id="{733ACD88-89E1-6DD4-8811-8FE77E966422}"/>
              </a:ext>
            </a:extLst>
          </p:cNvPr>
          <p:cNvSpPr/>
          <p:nvPr/>
        </p:nvSpPr>
        <p:spPr>
          <a:xfrm>
            <a:off x="731520" y="365760"/>
            <a:ext cx="521208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3. 사건 처리 결과와 소년 특례</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4. 청소년의 특성과 치료활동</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또래관계와 가정의 지원</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발달과 상황에 따른 위험 선택</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청소년의 위험 선택은 또래가 지켜보는 상황과 보상에 대한 반응에 따라 달라질 수 있다</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BODY8"/>
          <p:cNvSpPr/>
          <p:nvPr/>
        </p:nvSpPr>
        <p:spPr>
          <a:xfrm>
            <a:off x="3154680" y="2287645"/>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청소년·청년·성인이 혼자 수행한 조건과 친구들이 지켜보는 조건에서 같은 운전 모의과제를 수행했다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친구들이 다른 방에서 보고 있다는 점만 달랐고 과제의 내용은 같았다</a:t>
            </a:r>
          </a:p>
        </p:txBody>
      </p:sp>
      <p:sp>
        <p:nvSpPr>
          <p:cNvPr id="9" name="HEAD9"/>
          <p:cNvSpPr/>
          <p:nvPr/>
        </p:nvSpPr>
        <p:spPr>
          <a:xfrm>
            <a:off x="731520" y="2034540"/>
            <a:ext cx="2240280" cy="1019594"/>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비교 구도</a:t>
            </a:r>
          </a:p>
        </p:txBody>
      </p:sp>
      <p:sp>
        <p:nvSpPr>
          <p:cNvPr id="10" name="RULE10"/>
          <p:cNvSpPr/>
          <p:nvPr/>
        </p:nvSpPr>
        <p:spPr>
          <a:xfrm>
            <a:off x="731520" y="3076994"/>
            <a:ext cx="10725912" cy="0"/>
          </a:xfrm>
          <a:prstGeom prst="line">
            <a:avLst/>
          </a:prstGeom>
          <a:ln w="9525">
            <a:solidFill>
              <a:srgbClr val="DCE0E8"/>
            </a:solidFill>
          </a:ln>
        </p:spPr>
        <p:txBody>
          <a:bodyPr/>
          <a:lstStyle/>
          <a:p>
            <a:endParaRPr lang="ko-KR"/>
          </a:p>
        </p:txBody>
      </p:sp>
      <p:sp>
        <p:nvSpPr>
          <p:cNvPr id="11" name="BODY11"/>
          <p:cNvSpPr/>
          <p:nvPr/>
        </p:nvSpPr>
        <p:spPr>
          <a:xfrm>
            <a:off x="3154680" y="3307239"/>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신호등 앞에서 신호에 따라 멈출 수 있고, 통과를 선택하면 빠르게 도착하거나 튀어나오는 물체에 충돌해 더 오래 지연될 수 있었다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위험을 감수할 이유와 감수하지 않을 이유가 함께 있는 상황을 만든 설계다</a:t>
            </a:r>
          </a:p>
        </p:txBody>
      </p:sp>
      <p:sp>
        <p:nvSpPr>
          <p:cNvPr id="12" name="HEAD12"/>
          <p:cNvSpPr/>
          <p:nvPr/>
        </p:nvSpPr>
        <p:spPr>
          <a:xfrm>
            <a:off x="731520" y="3054134"/>
            <a:ext cx="2240280" cy="1019594"/>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과제 설계</a:t>
            </a:r>
          </a:p>
        </p:txBody>
      </p:sp>
      <p:sp>
        <p:nvSpPr>
          <p:cNvPr id="13" name="RULE13"/>
          <p:cNvSpPr/>
          <p:nvPr/>
        </p:nvSpPr>
        <p:spPr>
          <a:xfrm>
            <a:off x="731520" y="4096588"/>
            <a:ext cx="10725912" cy="0"/>
          </a:xfrm>
          <a:prstGeom prst="line">
            <a:avLst/>
          </a:prstGeom>
          <a:ln w="9525">
            <a:solidFill>
              <a:srgbClr val="DCE0E8"/>
            </a:solidFill>
          </a:ln>
        </p:spPr>
        <p:txBody>
          <a:bodyPr/>
          <a:lstStyle/>
          <a:p>
            <a:endParaRPr lang="ko-KR"/>
          </a:p>
        </p:txBody>
      </p:sp>
      <p:sp>
        <p:nvSpPr>
          <p:cNvPr id="14" name="BODY14"/>
          <p:cNvSpPr/>
          <p:nvPr/>
        </p:nvSpPr>
        <p:spPr>
          <a:xfrm>
            <a:off x="3154680" y="4448993"/>
            <a:ext cx="8302752" cy="594083"/>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청소년은 친구들이 지켜볼 때 위험한 선택이 늘었고 보상과 관련된 뇌 영역의 반응도 커졌다</a:t>
            </a:r>
          </a:p>
          <a:p>
            <a:pPr marL="0" indent="0">
              <a:lnSpc>
                <a:spcPct val="118000"/>
              </a:lnSpc>
              <a:spcAft>
                <a:spcPts val="500"/>
              </a:spcAft>
              <a:buNone/>
            </a:pPr>
            <a:r>
              <a:rPr lang="ko-KR" altLang="en-US" sz="1150" dirty="0">
                <a:solidFill>
                  <a:srgbClr val="464D5C"/>
                </a:solidFill>
                <a:latin typeface="Pretendard" pitchFamily="34" charset="0"/>
                <a:ea typeface="Pretendard" pitchFamily="34" charset="-122"/>
                <a:cs typeface="Pretendard" pitchFamily="34" charset="-120"/>
              </a:rPr>
              <a:t>성인에서는 같은 양상의 또래 효과가 나타나지 않았다</a:t>
            </a:r>
          </a:p>
        </p:txBody>
      </p:sp>
      <p:sp>
        <p:nvSpPr>
          <p:cNvPr id="15" name="HEAD15"/>
          <p:cNvSpPr/>
          <p:nvPr/>
        </p:nvSpPr>
        <p:spPr>
          <a:xfrm>
            <a:off x="731520" y="4073728"/>
            <a:ext cx="2240280" cy="1298892"/>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결과</a:t>
            </a:r>
          </a:p>
        </p:txBody>
      </p:sp>
      <p:sp>
        <p:nvSpPr>
          <p:cNvPr id="16" name="RULE16"/>
          <p:cNvSpPr/>
          <p:nvPr/>
        </p:nvSpPr>
        <p:spPr>
          <a:xfrm>
            <a:off x="731520" y="5395481"/>
            <a:ext cx="10725912" cy="0"/>
          </a:xfrm>
          <a:prstGeom prst="line">
            <a:avLst/>
          </a:prstGeom>
          <a:ln w="9525">
            <a:solidFill>
              <a:srgbClr val="DCE0E8"/>
            </a:solidFill>
          </a:ln>
        </p:spPr>
        <p:txBody>
          <a:bodyPr/>
          <a:lstStyle/>
          <a:p>
            <a:endParaRPr lang="ko-KR"/>
          </a:p>
        </p:txBody>
      </p:sp>
      <p:sp>
        <p:nvSpPr>
          <p:cNvPr id="17" name="CLOSE17"/>
          <p:cNvSpPr/>
          <p:nvPr/>
        </p:nvSpPr>
        <p:spPr>
          <a:xfrm>
            <a:off x="731520" y="5606716"/>
            <a:ext cx="10725912" cy="559467"/>
          </a:xfrm>
          <a:prstGeom prst="rect">
            <a:avLst/>
          </a:prstGeom>
          <a:solidFill>
            <a:schemeClr val="accent1">
              <a:lumMod val="20000"/>
              <a:lumOff val="80000"/>
            </a:schemeClr>
          </a:solidFill>
          <a:ln/>
        </p:spPr>
        <p:txBody>
          <a:bodyPr wrap="square" lIns="0" tIns="0" rIns="0" bIns="0" rtlCol="0" anchor="ctr"/>
          <a:lstStyle/>
          <a:p>
            <a:pPr marL="0" indent="0" algn="ctr">
              <a:lnSpc>
                <a:spcPct val="118000"/>
              </a:lnSpc>
              <a:buNone/>
            </a:pPr>
            <a:r>
              <a:rPr lang="ko-KR" altLang="en-US" sz="1400" b="1" dirty="0">
                <a:solidFill>
                  <a:schemeClr val="accent1">
                    <a:lumMod val="50000"/>
                  </a:schemeClr>
                </a:solidFill>
                <a:latin typeface="Pretendard" pitchFamily="34" charset="0"/>
                <a:ea typeface="Pretendard" pitchFamily="34" charset="-122"/>
                <a:cs typeface="Pretendard" pitchFamily="34" charset="-120"/>
              </a:rPr>
              <a:t>청소년의 위험 선택은 또래가 개입되는 상황에 영향을 받는다는 일관된 연구결과가 확인된다</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4. 청소년의 특성과 치료활동</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청소년기 증상과 성인기 경과</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또래관계와 가정에서의 지원</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청소년의 물질사용은 주변 </a:t>
            </a:r>
            <a:r>
              <a:rPr lang="ko-KR" altLang="en-US" sz="1300" b="1" dirty="0">
                <a:solidFill>
                  <a:srgbClr val="1E2761"/>
                </a:solidFill>
                <a:highlight>
                  <a:srgbClr val="FFFF00"/>
                </a:highlight>
                <a:latin typeface="Pretendard" pitchFamily="34" charset="0"/>
                <a:ea typeface="Pretendard" pitchFamily="34" charset="-122"/>
                <a:cs typeface="Pretendard" pitchFamily="34" charset="-120"/>
              </a:rPr>
              <a:t>또래의 사용과 부모가 자녀의 생활을 파악하는 정도에 관련되어 있었다</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BODY8"/>
          <p:cNvSpPr/>
          <p:nvPr/>
        </p:nvSpPr>
        <p:spPr>
          <a:xfrm>
            <a:off x="3154680" y="2287594"/>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또래의 물질사용이 많을수록 본인도 사용하는 경향이 컸고, 부모가 자녀의 생활을 더 잘 파악할수록 사용은 적었다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Steinberg 외(1994) · 미국 6개 고교 청소년 6,500명</a:t>
            </a:r>
          </a:p>
        </p:txBody>
      </p:sp>
      <p:sp>
        <p:nvSpPr>
          <p:cNvPr id="9" name="HEAD9"/>
          <p:cNvSpPr/>
          <p:nvPr/>
        </p:nvSpPr>
        <p:spPr>
          <a:xfrm>
            <a:off x="731520" y="2034540"/>
            <a:ext cx="2240280" cy="1019696"/>
          </a:xfrm>
          <a:prstGeom prst="rect">
            <a:avLst/>
          </a:prstGeom>
          <a:noFill/>
          <a:ln/>
        </p:spPr>
        <p:txBody>
          <a:bodyPr wrap="square" lIns="0" tIns="0" rIns="0" bIns="0" rtlCol="0" anchor="ctr"/>
          <a:lstStyle/>
          <a:p>
            <a:pPr marL="0" indent="0" algn="ctr">
              <a:lnSpc>
                <a:spcPct val="125000"/>
              </a:lnSpc>
              <a:buNone/>
            </a:pPr>
            <a:r>
              <a:rPr lang="ko-KR" altLang="en-US" sz="1300" b="1" dirty="0">
                <a:solidFill>
                  <a:srgbClr val="1E2761"/>
                </a:solidFill>
                <a:latin typeface="Pretendard" pitchFamily="34" charset="0"/>
                <a:ea typeface="Pretendard" pitchFamily="34" charset="-122"/>
                <a:cs typeface="Pretendard" pitchFamily="34" charset="-120"/>
              </a:rPr>
              <a:t>또래의 물질사용과 </a:t>
            </a:r>
            <a:endParaRPr lang="en-US" altLang="ko-KR" sz="1300" b="1" dirty="0">
              <a:solidFill>
                <a:srgbClr val="1E2761"/>
              </a:solidFill>
              <a:latin typeface="Pretendard" pitchFamily="34" charset="0"/>
              <a:ea typeface="Pretendard" pitchFamily="34" charset="-122"/>
              <a:cs typeface="Pretendard" pitchFamily="34" charset="-120"/>
            </a:endParaRPr>
          </a:p>
          <a:p>
            <a:pPr marL="0" indent="0" algn="ctr">
              <a:lnSpc>
                <a:spcPct val="125000"/>
              </a:lnSpc>
              <a:buNone/>
            </a:pPr>
            <a:r>
              <a:rPr lang="ko-KR" altLang="en-US" sz="1300" b="1" dirty="0">
                <a:solidFill>
                  <a:srgbClr val="1E2761"/>
                </a:solidFill>
                <a:latin typeface="Pretendard" pitchFamily="34" charset="0"/>
                <a:ea typeface="Pretendard" pitchFamily="34" charset="-122"/>
                <a:cs typeface="Pretendard" pitchFamily="34" charset="-120"/>
              </a:rPr>
              <a:t>부모의 생활 파악</a:t>
            </a:r>
          </a:p>
        </p:txBody>
      </p:sp>
      <p:sp>
        <p:nvSpPr>
          <p:cNvPr id="10" name="RULE10"/>
          <p:cNvSpPr/>
          <p:nvPr/>
        </p:nvSpPr>
        <p:spPr>
          <a:xfrm>
            <a:off x="731520" y="3077096"/>
            <a:ext cx="10725912" cy="0"/>
          </a:xfrm>
          <a:prstGeom prst="line">
            <a:avLst/>
          </a:prstGeom>
          <a:ln w="9525">
            <a:solidFill>
              <a:srgbClr val="DCE0E8"/>
            </a:solidFill>
          </a:ln>
        </p:spPr>
        <p:txBody>
          <a:bodyPr/>
          <a:lstStyle/>
          <a:p>
            <a:endParaRPr lang="ko-KR"/>
          </a:p>
        </p:txBody>
      </p:sp>
      <p:sp>
        <p:nvSpPr>
          <p:cNvPr id="11" name="BODY11"/>
          <p:cNvSpPr/>
          <p:nvPr/>
        </p:nvSpPr>
        <p:spPr>
          <a:xfrm>
            <a:off x="3154680" y="3307290"/>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또래에게 인기 있다고 평가받는 정도는 물질사용과 비교적 일관된 정적 관련성이 있었고, 친구관계와 친밀감의 관련성은 덜 일관됐다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Cole 외(2024) · 147개 연구 검토 · 128개 종합 분석</a:t>
            </a:r>
          </a:p>
        </p:txBody>
      </p:sp>
      <p:sp>
        <p:nvSpPr>
          <p:cNvPr id="12" name="HEAD12"/>
          <p:cNvSpPr/>
          <p:nvPr/>
        </p:nvSpPr>
        <p:spPr>
          <a:xfrm>
            <a:off x="731520" y="3054236"/>
            <a:ext cx="2240280" cy="1019696"/>
          </a:xfrm>
          <a:prstGeom prst="rect">
            <a:avLst/>
          </a:prstGeom>
          <a:noFill/>
          <a:ln/>
        </p:spPr>
        <p:txBody>
          <a:bodyPr wrap="square" lIns="0" tIns="0" rIns="0" bIns="0" rtlCol="0" anchor="ctr"/>
          <a:lstStyle/>
          <a:p>
            <a:pPr marL="0" indent="0" algn="ctr">
              <a:lnSpc>
                <a:spcPct val="125000"/>
              </a:lnSpc>
              <a:buNone/>
            </a:pPr>
            <a:r>
              <a:rPr lang="ko-KR" altLang="en-US" sz="1300" b="1" dirty="0">
                <a:solidFill>
                  <a:srgbClr val="1E2761"/>
                </a:solidFill>
                <a:latin typeface="Pretendard" pitchFamily="34" charset="0"/>
                <a:ea typeface="Pretendard" pitchFamily="34" charset="-122"/>
                <a:cs typeface="Pretendard" pitchFamily="34" charset="-120"/>
              </a:rPr>
              <a:t>또래에게 받는 인기와 </a:t>
            </a:r>
            <a:endParaRPr lang="en-US" altLang="ko-KR" sz="1300" b="1" dirty="0">
              <a:solidFill>
                <a:srgbClr val="1E2761"/>
              </a:solidFill>
              <a:latin typeface="Pretendard" pitchFamily="34" charset="0"/>
              <a:ea typeface="Pretendard" pitchFamily="34" charset="-122"/>
              <a:cs typeface="Pretendard" pitchFamily="34" charset="-120"/>
            </a:endParaRPr>
          </a:p>
          <a:p>
            <a:pPr marL="0" indent="0" algn="ctr">
              <a:lnSpc>
                <a:spcPct val="125000"/>
              </a:lnSpc>
              <a:buNone/>
            </a:pPr>
            <a:r>
              <a:rPr lang="ko-KR" altLang="en-US" sz="1300" b="1" dirty="0">
                <a:solidFill>
                  <a:srgbClr val="1E2761"/>
                </a:solidFill>
                <a:latin typeface="Pretendard" pitchFamily="34" charset="0"/>
                <a:ea typeface="Pretendard" pitchFamily="34" charset="-122"/>
                <a:cs typeface="Pretendard" pitchFamily="34" charset="-120"/>
              </a:rPr>
              <a:t>관계의 친밀감</a:t>
            </a:r>
          </a:p>
        </p:txBody>
      </p:sp>
      <p:sp>
        <p:nvSpPr>
          <p:cNvPr id="13" name="RULE13"/>
          <p:cNvSpPr/>
          <p:nvPr/>
        </p:nvSpPr>
        <p:spPr>
          <a:xfrm>
            <a:off x="731520" y="4096791"/>
            <a:ext cx="10725912" cy="0"/>
          </a:xfrm>
          <a:prstGeom prst="line">
            <a:avLst/>
          </a:prstGeom>
          <a:ln w="9525">
            <a:solidFill>
              <a:srgbClr val="DCE0E8"/>
            </a:solidFill>
          </a:ln>
        </p:spPr>
        <p:txBody>
          <a:bodyPr/>
          <a:lstStyle/>
          <a:p>
            <a:endParaRPr lang="ko-KR"/>
          </a:p>
        </p:txBody>
      </p:sp>
      <p:sp>
        <p:nvSpPr>
          <p:cNvPr id="14" name="BODY14"/>
          <p:cNvSpPr/>
          <p:nvPr/>
        </p:nvSpPr>
        <p:spPr>
          <a:xfrm>
            <a:off x="3154680" y="4326985"/>
            <a:ext cx="8302752" cy="774395"/>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누구와 어떤 상황에서 약물을 사용하는지 살피고, 사용하지 않는 활동 방식과 도움을 요청할 사람을 함께 정한다</a:t>
            </a:r>
          </a:p>
          <a:p>
            <a:pPr marL="0" indent="0">
              <a:lnSpc>
                <a:spcPct val="118000"/>
              </a:lnSpc>
              <a:spcAft>
                <a:spcPts val="500"/>
              </a:spcAft>
              <a:buNone/>
            </a:pPr>
            <a:r>
              <a:rPr lang="ko-KR" altLang="en-US" sz="1150" b="1" dirty="0">
                <a:solidFill>
                  <a:srgbClr val="464D5C"/>
                </a:solidFill>
                <a:latin typeface="Pretendard" pitchFamily="34" charset="0"/>
                <a:ea typeface="Pretendard" pitchFamily="34" charset="-122"/>
                <a:cs typeface="Pretendard" pitchFamily="34" charset="-120"/>
              </a:rPr>
              <a:t>보호자와는 연락·귀가·위험 상황 대응 방법을 구체화한다</a:t>
            </a:r>
          </a:p>
          <a:p>
            <a:pPr marL="0" indent="0">
              <a:lnSpc>
                <a:spcPct val="118000"/>
              </a:lnSpc>
              <a:buNone/>
            </a:pPr>
            <a:r>
              <a:rPr lang="ko-KR" altLang="en-US" sz="1200" dirty="0">
                <a:solidFill>
                  <a:srgbClr val="A8871C"/>
                </a:solidFill>
                <a:latin typeface="Pretendard" pitchFamily="34" charset="0"/>
                <a:ea typeface="Pretendard" pitchFamily="34" charset="-122"/>
                <a:cs typeface="Pretendard" pitchFamily="34" charset="-120"/>
              </a:rPr>
              <a:t>알코올 등도 포함한 물질사용 연구이며, 위 지원 내용은 연구 결과를 바탕으로 검토할 적용 방향이다</a:t>
            </a:r>
          </a:p>
        </p:txBody>
      </p:sp>
      <p:sp>
        <p:nvSpPr>
          <p:cNvPr id="15" name="HEAD15"/>
          <p:cNvSpPr/>
          <p:nvPr/>
        </p:nvSpPr>
        <p:spPr>
          <a:xfrm>
            <a:off x="731520" y="4073931"/>
            <a:ext cx="2240280" cy="1298791"/>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치료·재활에서 검토할 지원</a:t>
            </a:r>
          </a:p>
        </p:txBody>
      </p:sp>
      <p:sp>
        <p:nvSpPr>
          <p:cNvPr id="17" name="CLOSE17"/>
          <p:cNvSpPr/>
          <p:nvPr/>
        </p:nvSpPr>
        <p:spPr>
          <a:xfrm>
            <a:off x="733044" y="5454539"/>
            <a:ext cx="10725912" cy="681223"/>
          </a:xfrm>
          <a:prstGeom prst="rect">
            <a:avLst/>
          </a:prstGeom>
          <a:solidFill>
            <a:schemeClr val="accent1">
              <a:lumMod val="20000"/>
              <a:lumOff val="80000"/>
            </a:schemeClr>
          </a:solidFill>
          <a:ln/>
        </p:spPr>
        <p:txBody>
          <a:bodyPr wrap="square" lIns="0" tIns="0" rIns="0" bIns="0" rtlCol="0" anchor="ctr"/>
          <a:lstStyle/>
          <a:p>
            <a:pPr marL="0" indent="0" algn="ctr">
              <a:lnSpc>
                <a:spcPct val="118000"/>
              </a:lnSpc>
              <a:buNone/>
            </a:pPr>
            <a:r>
              <a:rPr lang="ko-KR" altLang="en-US" sz="1250" b="1" dirty="0">
                <a:solidFill>
                  <a:schemeClr val="accent1">
                    <a:lumMod val="50000"/>
                  </a:schemeClr>
                </a:solidFill>
                <a:latin typeface="Pretendard" pitchFamily="34" charset="0"/>
                <a:ea typeface="Pretendard" pitchFamily="34" charset="-122"/>
                <a:cs typeface="Pretendard" pitchFamily="34" charset="-120"/>
              </a:rPr>
              <a:t>치료·재활에서는 개인의 사용 문제와 함께, 사용이 이루어지는 또래관계와 가정의 지원을 다룰 필요가 있다</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발달·생활조건에 맞춘 치료활동</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청소년기 물질사용 문제의 심각도와 성인기 경과</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18세 때 물질사용장애 증상이 심했던 집단일수록 성인기에도 증상 2개 이상을 보고한 비율이 높았다</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SCOPE"/>
          <p:cNvSpPr/>
          <p:nvPr/>
        </p:nvSpPr>
        <p:spPr>
          <a:xfrm>
            <a:off x="731520" y="2167128"/>
            <a:ext cx="10725912" cy="219456"/>
          </a:xfrm>
          <a:prstGeom prst="rect">
            <a:avLst/>
          </a:prstGeom>
          <a:noFill/>
          <a:ln/>
        </p:spPr>
        <p:txBody>
          <a:bodyPr wrap="square" lIns="0" tIns="0" rIns="0" bIns="0" rtlCol="0" anchor="t"/>
          <a:lstStyle/>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미국 Monitoring the Future · 18세 무렵 조사한 사람들을 35·40·45·50세까지 추적 · 전체 표본 5,317명, 아래 분석 참여자 3,193명</a:t>
            </a:r>
          </a:p>
        </p:txBody>
      </p:sp>
      <p:sp>
        <p:nvSpPr>
          <p:cNvPr id="9" name="CAP"/>
          <p:cNvSpPr/>
          <p:nvPr/>
        </p:nvSpPr>
        <p:spPr>
          <a:xfrm>
            <a:off x="731520" y="2441448"/>
            <a:ext cx="10725912" cy="219456"/>
          </a:xfrm>
          <a:prstGeom prst="rect">
            <a:avLst/>
          </a:prstGeom>
          <a:noFill/>
          <a:ln/>
        </p:spPr>
        <p:txBody>
          <a:bodyPr wrap="square" lIns="0" tIns="0" rIns="0" bIns="0" rtlCol="0" anchor="t"/>
          <a:lstStyle/>
          <a:p>
            <a:pPr marL="0" indent="0">
              <a:lnSpc>
                <a:spcPct val="118000"/>
              </a:lnSpc>
              <a:buNone/>
            </a:pPr>
            <a:r>
              <a:rPr lang="ko-KR" altLang="en-US" sz="1150" b="1" dirty="0">
                <a:solidFill>
                  <a:srgbClr val="464D5C"/>
                </a:solidFill>
                <a:latin typeface="Pretendard" pitchFamily="34" charset="0"/>
                <a:ea typeface="Pretendard" pitchFamily="34" charset="-122"/>
                <a:cs typeface="Pretendard" pitchFamily="34" charset="-120"/>
              </a:rPr>
              <a:t>막대의 높이 = 각 집단에서 성인기 조사(조사 전 5년 기준)에 증상 2개 이상을 보고한 비율</a:t>
            </a:r>
          </a:p>
        </p:txBody>
      </p:sp>
      <p:sp>
        <p:nvSpPr>
          <p:cNvPr id="10" name="B0"/>
          <p:cNvSpPr/>
          <p:nvPr/>
        </p:nvSpPr>
        <p:spPr>
          <a:xfrm>
            <a:off x="1209751" y="3724798"/>
            <a:ext cx="1188720" cy="583855"/>
          </a:xfrm>
          <a:prstGeom prst="rect">
            <a:avLst/>
          </a:prstGeom>
          <a:solidFill>
            <a:srgbClr val="5A6699"/>
          </a:solidFill>
          <a:ln/>
        </p:spPr>
        <p:txBody>
          <a:bodyPr/>
          <a:lstStyle/>
          <a:p>
            <a:endParaRPr lang="ko-KR" altLang="en-US"/>
          </a:p>
        </p:txBody>
      </p:sp>
      <p:sp>
        <p:nvSpPr>
          <p:cNvPr id="11" name="V0"/>
          <p:cNvSpPr/>
          <p:nvPr/>
        </p:nvSpPr>
        <p:spPr>
          <a:xfrm>
            <a:off x="843991" y="3450478"/>
            <a:ext cx="1920240" cy="256032"/>
          </a:xfrm>
          <a:prstGeom prst="rect">
            <a:avLst/>
          </a:prstGeom>
          <a:noFill/>
          <a:ln/>
        </p:spPr>
        <p:txBody>
          <a:bodyPr wrap="square" lIns="0" tIns="0" rIns="0" bIns="0" rtlCol="0" anchor="b"/>
          <a:lstStyle/>
          <a:p>
            <a:pPr marL="0" indent="0" algn="ctr">
              <a:lnSpc>
                <a:spcPct val="118000"/>
              </a:lnSpc>
              <a:buNone/>
            </a:pPr>
            <a:r>
              <a:rPr lang="ko-KR" altLang="en-US" sz="1250" b="1" dirty="0">
                <a:solidFill>
                  <a:srgbClr val="5A6699"/>
                </a:solidFill>
                <a:latin typeface="Pretendard" pitchFamily="34" charset="0"/>
                <a:ea typeface="Pretendard" pitchFamily="34" charset="-122"/>
                <a:cs typeface="Pretendard" pitchFamily="34" charset="-120"/>
              </a:rPr>
              <a:t>27.9%</a:t>
            </a:r>
          </a:p>
        </p:txBody>
      </p:sp>
      <p:sp>
        <p:nvSpPr>
          <p:cNvPr id="12" name="L0"/>
          <p:cNvSpPr/>
          <p:nvPr/>
        </p:nvSpPr>
        <p:spPr>
          <a:xfrm>
            <a:off x="843991" y="4354373"/>
            <a:ext cx="1920240" cy="475488"/>
          </a:xfrm>
          <a:prstGeom prst="rect">
            <a:avLst/>
          </a:prstGeom>
          <a:noFill/>
          <a:ln/>
        </p:spPr>
        <p:txBody>
          <a:bodyPr wrap="square" lIns="0" tIns="0" rIns="0" bIns="0" rtlCol="0" anchor="t"/>
          <a:lstStyle/>
          <a:p>
            <a:pPr marL="0" indent="0" algn="ctr">
              <a:lnSpc>
                <a:spcPct val="118000"/>
              </a:lnSpc>
              <a:buNone/>
            </a:pPr>
            <a:r>
              <a:rPr lang="ko-KR" altLang="en-US" sz="1150" dirty="0">
                <a:solidFill>
                  <a:srgbClr val="222633"/>
                </a:solidFill>
                <a:latin typeface="Pretendard" pitchFamily="34" charset="0"/>
                <a:ea typeface="Pretendard" pitchFamily="34" charset="-122"/>
                <a:cs typeface="Pretendard" pitchFamily="34" charset="-120"/>
              </a:rPr>
              <a:t>증상 없음</a:t>
            </a:r>
          </a:p>
          <a:p>
            <a:pPr marL="0" indent="0" algn="ctr">
              <a:lnSpc>
                <a:spcPct val="118000"/>
              </a:lnSpc>
              <a:buNone/>
            </a:pPr>
            <a:r>
              <a:rPr lang="en-US" altLang="ko-KR" sz="1050" dirty="0">
                <a:solidFill>
                  <a:srgbClr val="464D5C"/>
                </a:solidFill>
                <a:latin typeface="Pretendard" pitchFamily="34" charset="0"/>
                <a:ea typeface="Pretendard" pitchFamily="34" charset="-122"/>
                <a:cs typeface="Pretendard" pitchFamily="34" charset="-120"/>
              </a:rPr>
              <a:t>(</a:t>
            </a:r>
            <a:r>
              <a:rPr lang="ko-KR" altLang="en-US" sz="1050" dirty="0">
                <a:solidFill>
                  <a:srgbClr val="464D5C"/>
                </a:solidFill>
                <a:latin typeface="Pretendard" pitchFamily="34" charset="0"/>
                <a:ea typeface="Pretendard" pitchFamily="34" charset="-122"/>
                <a:cs typeface="Pretendard" pitchFamily="34" charset="-120"/>
              </a:rPr>
              <a:t>18세 때</a:t>
            </a:r>
            <a:r>
              <a:rPr lang="en-US" altLang="ko-KR" sz="1050" dirty="0">
                <a:solidFill>
                  <a:srgbClr val="464D5C"/>
                </a:solidFill>
                <a:latin typeface="Pretendard" pitchFamily="34" charset="0"/>
                <a:ea typeface="Pretendard" pitchFamily="34" charset="-122"/>
                <a:cs typeface="Pretendard" pitchFamily="34" charset="-120"/>
              </a:rPr>
              <a:t>)</a:t>
            </a:r>
            <a:endParaRPr lang="ko-KR" altLang="en-US" sz="1050" dirty="0">
              <a:solidFill>
                <a:srgbClr val="464D5C"/>
              </a:solidFill>
              <a:latin typeface="Pretendard" pitchFamily="34" charset="0"/>
              <a:ea typeface="Pretendard" pitchFamily="34" charset="-122"/>
              <a:cs typeface="Pretendard" pitchFamily="34" charset="-120"/>
            </a:endParaRPr>
          </a:p>
        </p:txBody>
      </p:sp>
      <p:sp>
        <p:nvSpPr>
          <p:cNvPr id="13" name="B1"/>
          <p:cNvSpPr/>
          <p:nvPr/>
        </p:nvSpPr>
        <p:spPr>
          <a:xfrm>
            <a:off x="3354934" y="3496697"/>
            <a:ext cx="1188720" cy="811956"/>
          </a:xfrm>
          <a:prstGeom prst="rect">
            <a:avLst/>
          </a:prstGeom>
          <a:solidFill>
            <a:srgbClr val="5A6699"/>
          </a:solidFill>
          <a:ln/>
        </p:spPr>
        <p:txBody>
          <a:bodyPr/>
          <a:lstStyle/>
          <a:p>
            <a:endParaRPr lang="ko-KR" altLang="en-US"/>
          </a:p>
        </p:txBody>
      </p:sp>
      <p:sp>
        <p:nvSpPr>
          <p:cNvPr id="14" name="V1"/>
          <p:cNvSpPr/>
          <p:nvPr/>
        </p:nvSpPr>
        <p:spPr>
          <a:xfrm>
            <a:off x="2989174" y="3222377"/>
            <a:ext cx="1920240" cy="256032"/>
          </a:xfrm>
          <a:prstGeom prst="rect">
            <a:avLst/>
          </a:prstGeom>
          <a:noFill/>
          <a:ln/>
        </p:spPr>
        <p:txBody>
          <a:bodyPr wrap="square" lIns="0" tIns="0" rIns="0" bIns="0" rtlCol="0" anchor="b"/>
          <a:lstStyle/>
          <a:p>
            <a:pPr marL="0" indent="0" algn="ctr">
              <a:lnSpc>
                <a:spcPct val="118000"/>
              </a:lnSpc>
              <a:buNone/>
            </a:pPr>
            <a:r>
              <a:rPr lang="ko-KR" altLang="en-US" sz="1250" b="1" dirty="0">
                <a:solidFill>
                  <a:srgbClr val="5A6699"/>
                </a:solidFill>
                <a:latin typeface="Pretendard" pitchFamily="34" charset="0"/>
                <a:ea typeface="Pretendard" pitchFamily="34" charset="-122"/>
                <a:cs typeface="Pretendard" pitchFamily="34" charset="-120"/>
              </a:rPr>
              <a:t>38.8%</a:t>
            </a:r>
          </a:p>
        </p:txBody>
      </p:sp>
      <p:sp>
        <p:nvSpPr>
          <p:cNvPr id="15" name="L1"/>
          <p:cNvSpPr/>
          <p:nvPr/>
        </p:nvSpPr>
        <p:spPr>
          <a:xfrm>
            <a:off x="2989174" y="4354373"/>
            <a:ext cx="1920240" cy="475488"/>
          </a:xfrm>
          <a:prstGeom prst="rect">
            <a:avLst/>
          </a:prstGeom>
          <a:noFill/>
          <a:ln/>
        </p:spPr>
        <p:txBody>
          <a:bodyPr wrap="square" lIns="0" tIns="0" rIns="0" bIns="0" rtlCol="0" anchor="t"/>
          <a:lstStyle/>
          <a:p>
            <a:pPr marL="0" indent="0" algn="ctr">
              <a:lnSpc>
                <a:spcPct val="118000"/>
              </a:lnSpc>
              <a:buNone/>
            </a:pPr>
            <a:r>
              <a:rPr lang="ko-KR" altLang="en-US" sz="1150" dirty="0">
                <a:solidFill>
                  <a:srgbClr val="222633"/>
                </a:solidFill>
                <a:latin typeface="Pretendard" pitchFamily="34" charset="0"/>
                <a:ea typeface="Pretendard" pitchFamily="34" charset="-122"/>
                <a:cs typeface="Pretendard" pitchFamily="34" charset="-120"/>
              </a:rPr>
              <a:t>증상 1개</a:t>
            </a:r>
          </a:p>
          <a:p>
            <a:pPr algn="ctr">
              <a:lnSpc>
                <a:spcPct val="118000"/>
              </a:lnSpc>
            </a:pPr>
            <a:r>
              <a:rPr lang="en-US" altLang="ko-KR" sz="1050" dirty="0">
                <a:solidFill>
                  <a:srgbClr val="464D5C"/>
                </a:solidFill>
                <a:latin typeface="Pretendard" pitchFamily="34" charset="0"/>
                <a:ea typeface="Pretendard" pitchFamily="34" charset="-122"/>
                <a:cs typeface="Pretendard" pitchFamily="34" charset="-120"/>
              </a:rPr>
              <a:t>(</a:t>
            </a:r>
            <a:r>
              <a:rPr lang="ko-KR" altLang="en-US" sz="1050" dirty="0">
                <a:solidFill>
                  <a:srgbClr val="464D5C"/>
                </a:solidFill>
                <a:latin typeface="Pretendard" pitchFamily="34" charset="0"/>
                <a:ea typeface="Pretendard" pitchFamily="34" charset="-122"/>
                <a:cs typeface="Pretendard" pitchFamily="34" charset="-120"/>
              </a:rPr>
              <a:t>18세 때</a:t>
            </a:r>
            <a:r>
              <a:rPr lang="en-US" altLang="ko-KR" sz="1050" dirty="0">
                <a:solidFill>
                  <a:srgbClr val="464D5C"/>
                </a:solidFill>
                <a:latin typeface="Pretendard" pitchFamily="34" charset="0"/>
                <a:ea typeface="Pretendard" pitchFamily="34" charset="-122"/>
                <a:cs typeface="Pretendard" pitchFamily="34" charset="-120"/>
              </a:rPr>
              <a:t>)</a:t>
            </a:r>
            <a:endParaRPr lang="ko-KR" altLang="en-US" sz="1050" dirty="0">
              <a:solidFill>
                <a:srgbClr val="464D5C"/>
              </a:solidFill>
              <a:latin typeface="Pretendard" pitchFamily="34" charset="0"/>
              <a:ea typeface="Pretendard" pitchFamily="34" charset="-122"/>
              <a:cs typeface="Pretendard" pitchFamily="34" charset="-120"/>
            </a:endParaRPr>
          </a:p>
        </p:txBody>
      </p:sp>
      <p:sp>
        <p:nvSpPr>
          <p:cNvPr id="16" name="B2"/>
          <p:cNvSpPr/>
          <p:nvPr/>
        </p:nvSpPr>
        <p:spPr>
          <a:xfrm>
            <a:off x="5500116" y="3178611"/>
            <a:ext cx="1188720" cy="1130042"/>
          </a:xfrm>
          <a:prstGeom prst="rect">
            <a:avLst/>
          </a:prstGeom>
          <a:solidFill>
            <a:srgbClr val="5A6699"/>
          </a:solidFill>
          <a:ln/>
        </p:spPr>
        <p:txBody>
          <a:bodyPr/>
          <a:lstStyle/>
          <a:p>
            <a:endParaRPr lang="ko-KR" altLang="en-US"/>
          </a:p>
        </p:txBody>
      </p:sp>
      <p:sp>
        <p:nvSpPr>
          <p:cNvPr id="17" name="V2"/>
          <p:cNvSpPr/>
          <p:nvPr/>
        </p:nvSpPr>
        <p:spPr>
          <a:xfrm>
            <a:off x="5134356" y="2904291"/>
            <a:ext cx="1920240" cy="256032"/>
          </a:xfrm>
          <a:prstGeom prst="rect">
            <a:avLst/>
          </a:prstGeom>
          <a:noFill/>
          <a:ln/>
        </p:spPr>
        <p:txBody>
          <a:bodyPr wrap="square" lIns="0" tIns="0" rIns="0" bIns="0" rtlCol="0" anchor="b"/>
          <a:lstStyle/>
          <a:p>
            <a:pPr marL="0" indent="0" algn="ctr">
              <a:lnSpc>
                <a:spcPct val="118000"/>
              </a:lnSpc>
              <a:buNone/>
            </a:pPr>
            <a:r>
              <a:rPr lang="ko-KR" altLang="en-US" sz="1250" b="1" dirty="0">
                <a:solidFill>
                  <a:srgbClr val="5A6699"/>
                </a:solidFill>
                <a:latin typeface="Pretendard" pitchFamily="34" charset="0"/>
                <a:ea typeface="Pretendard" pitchFamily="34" charset="-122"/>
                <a:cs typeface="Pretendard" pitchFamily="34" charset="-120"/>
              </a:rPr>
              <a:t>54.0%</a:t>
            </a:r>
          </a:p>
        </p:txBody>
      </p:sp>
      <p:sp>
        <p:nvSpPr>
          <p:cNvPr id="18" name="L2"/>
          <p:cNvSpPr/>
          <p:nvPr/>
        </p:nvSpPr>
        <p:spPr>
          <a:xfrm>
            <a:off x="5134356" y="4354373"/>
            <a:ext cx="1920240" cy="475488"/>
          </a:xfrm>
          <a:prstGeom prst="rect">
            <a:avLst/>
          </a:prstGeom>
          <a:noFill/>
          <a:ln/>
        </p:spPr>
        <p:txBody>
          <a:bodyPr wrap="square" lIns="0" tIns="0" rIns="0" bIns="0" rtlCol="0" anchor="t"/>
          <a:lstStyle/>
          <a:p>
            <a:pPr marL="0" indent="0" algn="ctr">
              <a:lnSpc>
                <a:spcPct val="118000"/>
              </a:lnSpc>
              <a:buNone/>
            </a:pPr>
            <a:r>
              <a:rPr lang="ko-KR" altLang="en-US" sz="1150" dirty="0">
                <a:solidFill>
                  <a:srgbClr val="222633"/>
                </a:solidFill>
                <a:latin typeface="Pretendard" pitchFamily="34" charset="0"/>
                <a:ea typeface="Pretendard" pitchFamily="34" charset="-122"/>
                <a:cs typeface="Pretendard" pitchFamily="34" charset="-120"/>
              </a:rPr>
              <a:t>증상 2~3개</a:t>
            </a:r>
          </a:p>
          <a:p>
            <a:pPr algn="ctr">
              <a:lnSpc>
                <a:spcPct val="118000"/>
              </a:lnSpc>
            </a:pPr>
            <a:r>
              <a:rPr lang="en-US" altLang="ko-KR" sz="1050" dirty="0">
                <a:solidFill>
                  <a:srgbClr val="464D5C"/>
                </a:solidFill>
                <a:latin typeface="Pretendard" pitchFamily="34" charset="0"/>
                <a:ea typeface="Pretendard" pitchFamily="34" charset="-122"/>
                <a:cs typeface="Pretendard" pitchFamily="34" charset="-120"/>
              </a:rPr>
              <a:t>(</a:t>
            </a:r>
            <a:r>
              <a:rPr lang="ko-KR" altLang="en-US" sz="1050" dirty="0">
                <a:solidFill>
                  <a:srgbClr val="464D5C"/>
                </a:solidFill>
                <a:latin typeface="Pretendard" pitchFamily="34" charset="0"/>
                <a:ea typeface="Pretendard" pitchFamily="34" charset="-122"/>
                <a:cs typeface="Pretendard" pitchFamily="34" charset="-120"/>
              </a:rPr>
              <a:t>18세 때</a:t>
            </a:r>
            <a:r>
              <a:rPr lang="en-US" altLang="ko-KR" sz="1050" dirty="0">
                <a:solidFill>
                  <a:srgbClr val="464D5C"/>
                </a:solidFill>
                <a:latin typeface="Pretendard" pitchFamily="34" charset="0"/>
                <a:ea typeface="Pretendard" pitchFamily="34" charset="-122"/>
                <a:cs typeface="Pretendard" pitchFamily="34" charset="-120"/>
              </a:rPr>
              <a:t>)</a:t>
            </a:r>
            <a:endParaRPr lang="ko-KR" altLang="en-US" sz="1050" dirty="0">
              <a:solidFill>
                <a:srgbClr val="464D5C"/>
              </a:solidFill>
              <a:latin typeface="Pretendard" pitchFamily="34" charset="0"/>
              <a:ea typeface="Pretendard" pitchFamily="34" charset="-122"/>
              <a:cs typeface="Pretendard" pitchFamily="34" charset="-120"/>
            </a:endParaRPr>
          </a:p>
        </p:txBody>
      </p:sp>
      <p:sp>
        <p:nvSpPr>
          <p:cNvPr id="19" name="B3"/>
          <p:cNvSpPr/>
          <p:nvPr/>
        </p:nvSpPr>
        <p:spPr>
          <a:xfrm>
            <a:off x="7645298" y="3053051"/>
            <a:ext cx="1188720" cy="1255602"/>
          </a:xfrm>
          <a:prstGeom prst="rect">
            <a:avLst/>
          </a:prstGeom>
          <a:solidFill>
            <a:srgbClr val="5A6699"/>
          </a:solidFill>
          <a:ln/>
        </p:spPr>
        <p:txBody>
          <a:bodyPr/>
          <a:lstStyle/>
          <a:p>
            <a:endParaRPr lang="ko-KR" altLang="en-US"/>
          </a:p>
        </p:txBody>
      </p:sp>
      <p:sp>
        <p:nvSpPr>
          <p:cNvPr id="20" name="V3"/>
          <p:cNvSpPr/>
          <p:nvPr/>
        </p:nvSpPr>
        <p:spPr>
          <a:xfrm>
            <a:off x="7279538" y="2778731"/>
            <a:ext cx="1920240" cy="256032"/>
          </a:xfrm>
          <a:prstGeom prst="rect">
            <a:avLst/>
          </a:prstGeom>
          <a:noFill/>
          <a:ln/>
        </p:spPr>
        <p:txBody>
          <a:bodyPr wrap="square" lIns="0" tIns="0" rIns="0" bIns="0" rtlCol="0" anchor="b"/>
          <a:lstStyle/>
          <a:p>
            <a:pPr marL="0" indent="0" algn="ctr">
              <a:lnSpc>
                <a:spcPct val="118000"/>
              </a:lnSpc>
              <a:buNone/>
            </a:pPr>
            <a:r>
              <a:rPr lang="ko-KR" altLang="en-US" sz="1250" b="1" dirty="0">
                <a:solidFill>
                  <a:srgbClr val="5A6699"/>
                </a:solidFill>
                <a:latin typeface="Pretendard" pitchFamily="34" charset="0"/>
                <a:ea typeface="Pretendard" pitchFamily="34" charset="-122"/>
                <a:cs typeface="Pretendard" pitchFamily="34" charset="-120"/>
              </a:rPr>
              <a:t>60.0%</a:t>
            </a:r>
          </a:p>
        </p:txBody>
      </p:sp>
      <p:sp>
        <p:nvSpPr>
          <p:cNvPr id="21" name="L3"/>
          <p:cNvSpPr/>
          <p:nvPr/>
        </p:nvSpPr>
        <p:spPr>
          <a:xfrm>
            <a:off x="7279538" y="4354373"/>
            <a:ext cx="1920240" cy="475488"/>
          </a:xfrm>
          <a:prstGeom prst="rect">
            <a:avLst/>
          </a:prstGeom>
          <a:noFill/>
          <a:ln/>
        </p:spPr>
        <p:txBody>
          <a:bodyPr wrap="square" lIns="0" tIns="0" rIns="0" bIns="0" rtlCol="0" anchor="t"/>
          <a:lstStyle/>
          <a:p>
            <a:pPr marL="0" indent="0" algn="ctr">
              <a:lnSpc>
                <a:spcPct val="118000"/>
              </a:lnSpc>
              <a:buNone/>
            </a:pPr>
            <a:r>
              <a:rPr lang="ko-KR" altLang="en-US" sz="1150" dirty="0">
                <a:solidFill>
                  <a:srgbClr val="222633"/>
                </a:solidFill>
                <a:latin typeface="Pretendard" pitchFamily="34" charset="0"/>
                <a:ea typeface="Pretendard" pitchFamily="34" charset="-122"/>
                <a:cs typeface="Pretendard" pitchFamily="34" charset="-120"/>
              </a:rPr>
              <a:t>증상 4~5개</a:t>
            </a:r>
          </a:p>
          <a:p>
            <a:pPr algn="ctr">
              <a:lnSpc>
                <a:spcPct val="118000"/>
              </a:lnSpc>
            </a:pPr>
            <a:r>
              <a:rPr lang="en-US" altLang="ko-KR" sz="1050" dirty="0">
                <a:solidFill>
                  <a:srgbClr val="464D5C"/>
                </a:solidFill>
                <a:latin typeface="Pretendard" pitchFamily="34" charset="0"/>
                <a:ea typeface="Pretendard" pitchFamily="34" charset="-122"/>
                <a:cs typeface="Pretendard" pitchFamily="34" charset="-120"/>
              </a:rPr>
              <a:t>(</a:t>
            </a:r>
            <a:r>
              <a:rPr lang="ko-KR" altLang="en-US" sz="1050" dirty="0">
                <a:solidFill>
                  <a:srgbClr val="464D5C"/>
                </a:solidFill>
                <a:latin typeface="Pretendard" pitchFamily="34" charset="0"/>
                <a:ea typeface="Pretendard" pitchFamily="34" charset="-122"/>
                <a:cs typeface="Pretendard" pitchFamily="34" charset="-120"/>
              </a:rPr>
              <a:t>18세 때</a:t>
            </a:r>
            <a:r>
              <a:rPr lang="en-US" altLang="ko-KR" sz="1050" dirty="0">
                <a:solidFill>
                  <a:srgbClr val="464D5C"/>
                </a:solidFill>
                <a:latin typeface="Pretendard" pitchFamily="34" charset="0"/>
                <a:ea typeface="Pretendard" pitchFamily="34" charset="-122"/>
                <a:cs typeface="Pretendard" pitchFamily="34" charset="-120"/>
              </a:rPr>
              <a:t>)</a:t>
            </a:r>
            <a:endParaRPr lang="ko-KR" altLang="en-US" sz="1050" dirty="0">
              <a:solidFill>
                <a:srgbClr val="464D5C"/>
              </a:solidFill>
              <a:latin typeface="Pretendard" pitchFamily="34" charset="0"/>
              <a:ea typeface="Pretendard" pitchFamily="34" charset="-122"/>
              <a:cs typeface="Pretendard" pitchFamily="34" charset="-120"/>
            </a:endParaRPr>
          </a:p>
        </p:txBody>
      </p:sp>
      <p:sp>
        <p:nvSpPr>
          <p:cNvPr id="22" name="B4"/>
          <p:cNvSpPr/>
          <p:nvPr/>
        </p:nvSpPr>
        <p:spPr>
          <a:xfrm>
            <a:off x="9790481" y="3019568"/>
            <a:ext cx="1188720" cy="1289085"/>
          </a:xfrm>
          <a:prstGeom prst="rect">
            <a:avLst/>
          </a:prstGeom>
          <a:solidFill>
            <a:srgbClr val="1E2761"/>
          </a:solidFill>
          <a:ln/>
        </p:spPr>
        <p:txBody>
          <a:bodyPr/>
          <a:lstStyle/>
          <a:p>
            <a:endParaRPr lang="ko-KR" altLang="en-US"/>
          </a:p>
        </p:txBody>
      </p:sp>
      <p:sp>
        <p:nvSpPr>
          <p:cNvPr id="23" name="V4"/>
          <p:cNvSpPr/>
          <p:nvPr/>
        </p:nvSpPr>
        <p:spPr>
          <a:xfrm>
            <a:off x="9424721" y="2745248"/>
            <a:ext cx="1920240" cy="256032"/>
          </a:xfrm>
          <a:prstGeom prst="rect">
            <a:avLst/>
          </a:prstGeom>
          <a:noFill/>
          <a:ln/>
        </p:spPr>
        <p:txBody>
          <a:bodyPr wrap="square" lIns="0" tIns="0" rIns="0" bIns="0" rtlCol="0" anchor="b"/>
          <a:lstStyle/>
          <a:p>
            <a:pPr marL="0" indent="0" algn="ctr">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61.6%</a:t>
            </a:r>
          </a:p>
        </p:txBody>
      </p:sp>
      <p:sp>
        <p:nvSpPr>
          <p:cNvPr id="24" name="L4"/>
          <p:cNvSpPr/>
          <p:nvPr/>
        </p:nvSpPr>
        <p:spPr>
          <a:xfrm>
            <a:off x="9424721" y="4354373"/>
            <a:ext cx="1920240" cy="475488"/>
          </a:xfrm>
          <a:prstGeom prst="rect">
            <a:avLst/>
          </a:prstGeom>
          <a:noFill/>
          <a:ln/>
        </p:spPr>
        <p:txBody>
          <a:bodyPr wrap="square" lIns="0" tIns="0" rIns="0" bIns="0" rtlCol="0" anchor="t"/>
          <a:lstStyle/>
          <a:p>
            <a:pPr marL="0" indent="0" algn="ctr">
              <a:lnSpc>
                <a:spcPct val="118000"/>
              </a:lnSpc>
              <a:buNone/>
            </a:pPr>
            <a:r>
              <a:rPr lang="ko-KR" altLang="en-US" sz="1150" b="1" dirty="0">
                <a:solidFill>
                  <a:srgbClr val="222633"/>
                </a:solidFill>
                <a:latin typeface="Pretendard" pitchFamily="34" charset="0"/>
                <a:ea typeface="Pretendard" pitchFamily="34" charset="-122"/>
                <a:cs typeface="Pretendard" pitchFamily="34" charset="-120"/>
              </a:rPr>
              <a:t>증상 6개 이상</a:t>
            </a:r>
          </a:p>
          <a:p>
            <a:pPr algn="ctr">
              <a:lnSpc>
                <a:spcPct val="118000"/>
              </a:lnSpc>
            </a:pPr>
            <a:r>
              <a:rPr lang="en-US" altLang="ko-KR" sz="1050" dirty="0">
                <a:solidFill>
                  <a:srgbClr val="464D5C"/>
                </a:solidFill>
                <a:latin typeface="Pretendard" pitchFamily="34" charset="0"/>
                <a:ea typeface="Pretendard" pitchFamily="34" charset="-122"/>
                <a:cs typeface="Pretendard" pitchFamily="34" charset="-120"/>
              </a:rPr>
              <a:t>(</a:t>
            </a:r>
            <a:r>
              <a:rPr lang="ko-KR" altLang="en-US" sz="1050" dirty="0">
                <a:solidFill>
                  <a:srgbClr val="464D5C"/>
                </a:solidFill>
                <a:latin typeface="Pretendard" pitchFamily="34" charset="0"/>
                <a:ea typeface="Pretendard" pitchFamily="34" charset="-122"/>
                <a:cs typeface="Pretendard" pitchFamily="34" charset="-120"/>
              </a:rPr>
              <a:t>18세 때</a:t>
            </a:r>
            <a:r>
              <a:rPr lang="en-US" altLang="ko-KR" sz="1050" dirty="0">
                <a:solidFill>
                  <a:srgbClr val="464D5C"/>
                </a:solidFill>
                <a:latin typeface="Pretendard" pitchFamily="34" charset="0"/>
                <a:ea typeface="Pretendard" pitchFamily="34" charset="-122"/>
                <a:cs typeface="Pretendard" pitchFamily="34" charset="-120"/>
              </a:rPr>
              <a:t>)</a:t>
            </a:r>
            <a:endParaRPr lang="ko-KR" altLang="en-US" sz="1050" dirty="0">
              <a:solidFill>
                <a:srgbClr val="464D5C"/>
              </a:solidFill>
              <a:latin typeface="Pretendard" pitchFamily="34" charset="0"/>
              <a:ea typeface="Pretendard" pitchFamily="34" charset="-122"/>
              <a:cs typeface="Pretendard" pitchFamily="34" charset="-120"/>
            </a:endParaRPr>
          </a:p>
        </p:txBody>
      </p:sp>
      <p:sp>
        <p:nvSpPr>
          <p:cNvPr id="25" name="AXIS"/>
          <p:cNvSpPr/>
          <p:nvPr/>
        </p:nvSpPr>
        <p:spPr>
          <a:xfrm>
            <a:off x="731520" y="4308653"/>
            <a:ext cx="10725912" cy="0"/>
          </a:xfrm>
          <a:prstGeom prst="line">
            <a:avLst/>
          </a:prstGeom>
          <a:ln w="9525">
            <a:solidFill>
              <a:srgbClr val="DCE0E8"/>
            </a:solidFill>
          </a:ln>
        </p:spPr>
        <p:txBody>
          <a:bodyPr/>
          <a:lstStyle/>
          <a:p>
            <a:endParaRPr lang="ko-KR"/>
          </a:p>
        </p:txBody>
      </p:sp>
      <p:sp>
        <p:nvSpPr>
          <p:cNvPr id="26" name="NOTE"/>
          <p:cNvSpPr/>
          <p:nvPr/>
        </p:nvSpPr>
        <p:spPr>
          <a:xfrm>
            <a:off x="731520" y="4936085"/>
            <a:ext cx="10725912" cy="206807"/>
          </a:xfrm>
          <a:prstGeom prst="rect">
            <a:avLst/>
          </a:prstGeom>
          <a:noFill/>
          <a:ln/>
        </p:spPr>
        <p:txBody>
          <a:bodyPr wrap="square" lIns="0" tIns="0" rIns="0" bIns="0" rtlCol="0" anchor="t"/>
          <a:lstStyle/>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막대 아래 라벨은 18세 때의 증상 수준이다. 각 집단 내부의 가중 비율이므로 다섯 값을 더해 100%가 되지 않는다</a:t>
            </a:r>
          </a:p>
        </p:txBody>
      </p:sp>
      <p:sp>
        <p:nvSpPr>
          <p:cNvPr id="29" name="CLOSE"/>
          <p:cNvSpPr/>
          <p:nvPr/>
        </p:nvSpPr>
        <p:spPr>
          <a:xfrm>
            <a:off x="731520" y="5582543"/>
            <a:ext cx="10725912" cy="571610"/>
          </a:xfrm>
          <a:prstGeom prst="rect">
            <a:avLst/>
          </a:prstGeom>
          <a:solidFill>
            <a:schemeClr val="accent1">
              <a:lumMod val="20000"/>
              <a:lumOff val="80000"/>
            </a:schemeClr>
          </a:solidFill>
          <a:ln/>
        </p:spPr>
        <p:txBody>
          <a:bodyPr wrap="square" lIns="0" tIns="0" rIns="0" bIns="0" rtlCol="0" anchor="ctr"/>
          <a:lstStyle/>
          <a:p>
            <a:pPr marL="0" indent="0" algn="ctr">
              <a:lnSpc>
                <a:spcPct val="118000"/>
              </a:lnSpc>
              <a:buNone/>
            </a:pPr>
            <a:r>
              <a:rPr lang="ko-KR" altLang="en-US" sz="1250" b="1" dirty="0">
                <a:solidFill>
                  <a:schemeClr val="accent1">
                    <a:lumMod val="50000"/>
                  </a:schemeClr>
                </a:solidFill>
                <a:latin typeface="Pretendard" pitchFamily="34" charset="0"/>
                <a:ea typeface="Pretendard" pitchFamily="34" charset="-122"/>
                <a:cs typeface="Pretendard" pitchFamily="34" charset="-120"/>
              </a:rPr>
              <a:t>청소년기의 심한 사용 문제는 일시적인 행동으로만 보기 어려우며, 이후에도 상태를 확인하고 필요한 지원을 이어갈 근거가 된다</a:t>
            </a:r>
          </a:p>
        </p:txBody>
      </p:sp>
      <p:sp>
        <p:nvSpPr>
          <p:cNvPr id="33" name="KICKER">
            <a:extLst>
              <a:ext uri="{FF2B5EF4-FFF2-40B4-BE49-F238E27FC236}">
                <a16:creationId xmlns:a16="http://schemas.microsoft.com/office/drawing/2014/main" id="{0BA5BC0F-67AD-546A-D530-A00E36AEDF80}"/>
              </a:ext>
            </a:extLst>
          </p:cNvP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4. 청소년의 특성과 치료활동</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521208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5. 치료·재활의 실행 조건</a:t>
            </a:r>
            <a:endParaRPr lang="en-US" sz="1250" dirty="0"/>
          </a:p>
        </p:txBody>
      </p:sp>
      <p:sp>
        <p:nvSpPr>
          <p:cNvPr id="3" name="Text 1"/>
          <p:cNvSpPr/>
          <p:nvPr/>
        </p:nvSpPr>
        <p:spPr>
          <a:xfrm>
            <a:off x="6035040" y="384048"/>
            <a:ext cx="5422392" cy="256032"/>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청소년 상담·재활의 실제 운영</a:t>
            </a:r>
            <a:endParaRPr lang="en-US" sz="1050" dirty="0"/>
          </a:p>
        </p:txBody>
      </p:sp>
      <p:sp>
        <p:nvSpPr>
          <p:cNvPr id="4" name="Text 2"/>
          <p:cNvSpPr/>
          <p:nvPr/>
        </p:nvSpPr>
        <p:spPr>
          <a:xfrm>
            <a:off x="731520" y="640080"/>
            <a:ext cx="10725912" cy="640080"/>
          </a:xfrm>
          <a:prstGeom prst="rect">
            <a:avLst/>
          </a:prstGeom>
          <a:noFill/>
          <a:ln/>
        </p:spPr>
        <p:txBody>
          <a:bodyPr wrap="square" lIns="0" tIns="0" rIns="0" bIns="0" rtlCol="0" anchor="ctr"/>
          <a:lstStyle/>
          <a:p>
            <a:pPr marL="0" indent="0">
              <a:buNone/>
            </a:pPr>
            <a:r>
              <a:rPr lang="en-US" sz="2750" b="1" dirty="0">
                <a:solidFill>
                  <a:srgbClr val="1E2761"/>
                </a:solidFill>
                <a:latin typeface="Pretendard" pitchFamily="34" charset="0"/>
                <a:ea typeface="Pretendard" pitchFamily="34" charset="-122"/>
                <a:cs typeface="Pretendard" pitchFamily="34" charset="-120"/>
              </a:rPr>
              <a:t>국내 소년 수강명령의 약물 교육과 대처훈련</a:t>
            </a:r>
            <a:endParaRPr lang="en-US" sz="2750" dirty="0"/>
          </a:p>
        </p:txBody>
      </p:sp>
      <p:sp>
        <p:nvSpPr>
          <p:cNvPr id="5" name="Shape 3"/>
          <p:cNvSpPr/>
          <p:nvPr/>
        </p:nvSpPr>
        <p:spPr>
          <a:xfrm>
            <a:off x="731520" y="1316736"/>
            <a:ext cx="10725912"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417320"/>
            <a:ext cx="10725912" cy="548640"/>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1005840" y="1417320"/>
            <a:ext cx="10149840" cy="548640"/>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소년 수강명령의 약물 프로그램은 약물의 폐해를 이해하고, 사용 권유를 거절하며, 투약을 유발하는 상황에 대처하도록 구성된다</a:t>
            </a:r>
            <a:endParaRPr lang="en-US" sz="1300" dirty="0"/>
          </a:p>
        </p:txBody>
      </p:sp>
      <p:sp>
        <p:nvSpPr>
          <p:cNvPr id="8" name="Shape 6"/>
          <p:cNvSpPr/>
          <p:nvPr/>
        </p:nvSpPr>
        <p:spPr>
          <a:xfrm>
            <a:off x="731520" y="2157984"/>
            <a:ext cx="3392424" cy="1097280"/>
          </a:xfrm>
          <a:prstGeom prst="rect">
            <a:avLst/>
          </a:prstGeom>
          <a:solidFill>
            <a:srgbClr val="FFFFFF"/>
          </a:solidFill>
          <a:ln w="12700">
            <a:solidFill>
              <a:srgbClr val="DCE0E8"/>
            </a:solidFill>
            <a:prstDash val="solid"/>
          </a:ln>
        </p:spPr>
        <p:txBody>
          <a:bodyPr/>
          <a:lstStyle/>
          <a:p>
            <a:endParaRPr lang="ko-KR" altLang="en-US"/>
          </a:p>
        </p:txBody>
      </p:sp>
      <p:sp>
        <p:nvSpPr>
          <p:cNvPr id="9" name="Text 7"/>
          <p:cNvSpPr/>
          <p:nvPr/>
        </p:nvSpPr>
        <p:spPr>
          <a:xfrm>
            <a:off x="914400" y="2267712"/>
            <a:ext cx="3026664" cy="274320"/>
          </a:xfrm>
          <a:prstGeom prst="rect">
            <a:avLst/>
          </a:prstGeom>
          <a:noFill/>
          <a:ln/>
        </p:spPr>
        <p:txBody>
          <a:bodyPr wrap="square" lIns="0" tIns="0" rIns="0" bIns="0" rtlCol="0" anchor="ctr"/>
          <a:lstStyle/>
          <a:p>
            <a:pPr marL="0" indent="0" algn="ctr">
              <a:buNone/>
            </a:pPr>
            <a:r>
              <a:rPr lang="en-US" sz="1300" b="1" dirty="0">
                <a:solidFill>
                  <a:srgbClr val="1E2761"/>
                </a:solidFill>
                <a:latin typeface="Pretendard" pitchFamily="34" charset="0"/>
                <a:ea typeface="Pretendard" pitchFamily="34" charset="-122"/>
                <a:cs typeface="Pretendard" pitchFamily="34" charset="-120"/>
              </a:rPr>
              <a:t>약물의 영향 이해</a:t>
            </a:r>
            <a:endParaRPr lang="en-US" sz="1300" dirty="0"/>
          </a:p>
        </p:txBody>
      </p:sp>
      <p:sp>
        <p:nvSpPr>
          <p:cNvPr id="10" name="Shape 8"/>
          <p:cNvSpPr/>
          <p:nvPr/>
        </p:nvSpPr>
        <p:spPr>
          <a:xfrm>
            <a:off x="914400" y="2596896"/>
            <a:ext cx="3026664" cy="0"/>
          </a:xfrm>
          <a:prstGeom prst="line">
            <a:avLst/>
          </a:prstGeom>
          <a:noFill/>
          <a:ln w="12700">
            <a:solidFill>
              <a:srgbClr val="DCE0E8"/>
            </a:solidFill>
            <a:prstDash val="solid"/>
          </a:ln>
        </p:spPr>
        <p:txBody>
          <a:bodyPr/>
          <a:lstStyle/>
          <a:p>
            <a:endParaRPr lang="ko-KR" altLang="en-US"/>
          </a:p>
        </p:txBody>
      </p:sp>
      <p:sp>
        <p:nvSpPr>
          <p:cNvPr id="11" name="Text 9"/>
          <p:cNvSpPr/>
          <p:nvPr/>
        </p:nvSpPr>
        <p:spPr>
          <a:xfrm>
            <a:off x="914400" y="2688336"/>
            <a:ext cx="3026664" cy="493776"/>
          </a:xfrm>
          <a:prstGeom prst="rect">
            <a:avLst/>
          </a:prstGeom>
          <a:noFill/>
          <a:ln/>
        </p:spPr>
        <p:txBody>
          <a:bodyPr wrap="square" lIns="0" tIns="0" rIns="0" bIns="0" rtlCol="0" anchor="t"/>
          <a:lstStyle/>
          <a:p>
            <a:pPr marL="0" indent="0">
              <a:lnSpc>
                <a:spcPts val="1700"/>
              </a:lnSpc>
              <a:buNone/>
            </a:pPr>
            <a:r>
              <a:rPr lang="en-US" sz="1150" dirty="0">
                <a:solidFill>
                  <a:srgbClr val="222633"/>
                </a:solidFill>
                <a:latin typeface="Pretendard" pitchFamily="34" charset="0"/>
                <a:ea typeface="Pretendard" pitchFamily="34" charset="-122"/>
                <a:cs typeface="Pretendard" pitchFamily="34" charset="-120"/>
              </a:rPr>
              <a:t>약물 사용이 신체 · 정신건강과 사회생활에 미치는 영향을 살펴본다</a:t>
            </a:r>
            <a:endParaRPr lang="en-US" sz="1150" dirty="0"/>
          </a:p>
        </p:txBody>
      </p:sp>
      <p:sp>
        <p:nvSpPr>
          <p:cNvPr id="12" name="Shape 10"/>
          <p:cNvSpPr/>
          <p:nvPr/>
        </p:nvSpPr>
        <p:spPr>
          <a:xfrm>
            <a:off x="4398264" y="2157984"/>
            <a:ext cx="3392424" cy="1097280"/>
          </a:xfrm>
          <a:prstGeom prst="rect">
            <a:avLst/>
          </a:prstGeom>
          <a:solidFill>
            <a:srgbClr val="FFFFFF"/>
          </a:solidFill>
          <a:ln w="12700">
            <a:solidFill>
              <a:srgbClr val="DCE0E8"/>
            </a:solidFill>
            <a:prstDash val="solid"/>
          </a:ln>
        </p:spPr>
        <p:txBody>
          <a:bodyPr/>
          <a:lstStyle/>
          <a:p>
            <a:endParaRPr lang="ko-KR" altLang="en-US"/>
          </a:p>
        </p:txBody>
      </p:sp>
      <p:sp>
        <p:nvSpPr>
          <p:cNvPr id="13" name="Text 11"/>
          <p:cNvSpPr/>
          <p:nvPr/>
        </p:nvSpPr>
        <p:spPr>
          <a:xfrm>
            <a:off x="4581144" y="2267712"/>
            <a:ext cx="3026664" cy="274320"/>
          </a:xfrm>
          <a:prstGeom prst="rect">
            <a:avLst/>
          </a:prstGeom>
          <a:noFill/>
          <a:ln/>
        </p:spPr>
        <p:txBody>
          <a:bodyPr wrap="square" lIns="0" tIns="0" rIns="0" bIns="0" rtlCol="0" anchor="ctr"/>
          <a:lstStyle/>
          <a:p>
            <a:pPr marL="0" indent="0" algn="ctr">
              <a:buNone/>
            </a:pPr>
            <a:r>
              <a:rPr lang="en-US" sz="1300" b="1" dirty="0">
                <a:solidFill>
                  <a:srgbClr val="1E2761"/>
                </a:solidFill>
                <a:latin typeface="Pretendard" pitchFamily="34" charset="0"/>
                <a:ea typeface="Pretendard" pitchFamily="34" charset="-122"/>
                <a:cs typeface="Pretendard" pitchFamily="34" charset="-120"/>
              </a:rPr>
              <a:t>사용 권유 거절</a:t>
            </a:r>
            <a:endParaRPr lang="en-US" sz="1300" dirty="0"/>
          </a:p>
        </p:txBody>
      </p:sp>
      <p:sp>
        <p:nvSpPr>
          <p:cNvPr id="14" name="Shape 12"/>
          <p:cNvSpPr/>
          <p:nvPr/>
        </p:nvSpPr>
        <p:spPr>
          <a:xfrm>
            <a:off x="4581144" y="2596896"/>
            <a:ext cx="3026664" cy="0"/>
          </a:xfrm>
          <a:prstGeom prst="line">
            <a:avLst/>
          </a:prstGeom>
          <a:noFill/>
          <a:ln w="12700">
            <a:solidFill>
              <a:srgbClr val="DCE0E8"/>
            </a:solidFill>
            <a:prstDash val="solid"/>
          </a:ln>
        </p:spPr>
        <p:txBody>
          <a:bodyPr/>
          <a:lstStyle/>
          <a:p>
            <a:endParaRPr lang="ko-KR" altLang="en-US"/>
          </a:p>
        </p:txBody>
      </p:sp>
      <p:sp>
        <p:nvSpPr>
          <p:cNvPr id="15" name="Text 13"/>
          <p:cNvSpPr/>
          <p:nvPr/>
        </p:nvSpPr>
        <p:spPr>
          <a:xfrm>
            <a:off x="4581144" y="2688336"/>
            <a:ext cx="3026664" cy="493776"/>
          </a:xfrm>
          <a:prstGeom prst="rect">
            <a:avLst/>
          </a:prstGeom>
          <a:noFill/>
          <a:ln/>
        </p:spPr>
        <p:txBody>
          <a:bodyPr wrap="square" lIns="0" tIns="0" rIns="0" bIns="0" rtlCol="0" anchor="t"/>
          <a:lstStyle/>
          <a:p>
            <a:pPr marL="0" indent="0">
              <a:lnSpc>
                <a:spcPts val="1700"/>
              </a:lnSpc>
              <a:buNone/>
            </a:pPr>
            <a:r>
              <a:rPr lang="en-US" sz="1150" dirty="0">
                <a:solidFill>
                  <a:srgbClr val="222633"/>
                </a:solidFill>
                <a:latin typeface="Pretendard" pitchFamily="34" charset="0"/>
                <a:ea typeface="Pretendard" pitchFamily="34" charset="-122"/>
                <a:cs typeface="Pretendard" pitchFamily="34" charset="-120"/>
              </a:rPr>
              <a:t>약물 사용을 권유받았을 때 거절하는 방법을 훈련한다</a:t>
            </a:r>
            <a:endParaRPr lang="en-US" sz="1150" dirty="0"/>
          </a:p>
        </p:txBody>
      </p:sp>
      <p:sp>
        <p:nvSpPr>
          <p:cNvPr id="16" name="Shape 14"/>
          <p:cNvSpPr/>
          <p:nvPr/>
        </p:nvSpPr>
        <p:spPr>
          <a:xfrm>
            <a:off x="8065008" y="2157984"/>
            <a:ext cx="3392424" cy="1097280"/>
          </a:xfrm>
          <a:prstGeom prst="rect">
            <a:avLst/>
          </a:prstGeom>
          <a:solidFill>
            <a:srgbClr val="FFFFFF"/>
          </a:solidFill>
          <a:ln w="12700">
            <a:solidFill>
              <a:srgbClr val="DCE0E8"/>
            </a:solidFill>
            <a:prstDash val="solid"/>
          </a:ln>
        </p:spPr>
        <p:txBody>
          <a:bodyPr/>
          <a:lstStyle/>
          <a:p>
            <a:endParaRPr lang="ko-KR" altLang="en-US"/>
          </a:p>
        </p:txBody>
      </p:sp>
      <p:sp>
        <p:nvSpPr>
          <p:cNvPr id="17" name="Text 15"/>
          <p:cNvSpPr/>
          <p:nvPr/>
        </p:nvSpPr>
        <p:spPr>
          <a:xfrm>
            <a:off x="8247888" y="2267712"/>
            <a:ext cx="3026664" cy="274320"/>
          </a:xfrm>
          <a:prstGeom prst="rect">
            <a:avLst/>
          </a:prstGeom>
          <a:noFill/>
          <a:ln/>
        </p:spPr>
        <p:txBody>
          <a:bodyPr wrap="square" lIns="0" tIns="0" rIns="0" bIns="0" rtlCol="0" anchor="ctr"/>
          <a:lstStyle/>
          <a:p>
            <a:pPr marL="0" indent="0" algn="ctr">
              <a:buNone/>
            </a:pPr>
            <a:r>
              <a:rPr lang="en-US" sz="1300" b="1" dirty="0">
                <a:solidFill>
                  <a:srgbClr val="1E2761"/>
                </a:solidFill>
                <a:latin typeface="Pretendard" pitchFamily="34" charset="0"/>
                <a:ea typeface="Pretendard" pitchFamily="34" charset="-122"/>
                <a:cs typeface="Pretendard" pitchFamily="34" charset="-120"/>
              </a:rPr>
              <a:t>사용 유발요인 대처</a:t>
            </a:r>
            <a:endParaRPr lang="en-US" sz="1300" dirty="0"/>
          </a:p>
        </p:txBody>
      </p:sp>
      <p:sp>
        <p:nvSpPr>
          <p:cNvPr id="18" name="Shape 16"/>
          <p:cNvSpPr/>
          <p:nvPr/>
        </p:nvSpPr>
        <p:spPr>
          <a:xfrm>
            <a:off x="8247888" y="2596896"/>
            <a:ext cx="3026664" cy="0"/>
          </a:xfrm>
          <a:prstGeom prst="line">
            <a:avLst/>
          </a:prstGeom>
          <a:noFill/>
          <a:ln w="12700">
            <a:solidFill>
              <a:srgbClr val="DCE0E8"/>
            </a:solidFill>
            <a:prstDash val="solid"/>
          </a:ln>
        </p:spPr>
        <p:txBody>
          <a:bodyPr/>
          <a:lstStyle/>
          <a:p>
            <a:endParaRPr lang="ko-KR" altLang="en-US"/>
          </a:p>
        </p:txBody>
      </p:sp>
      <p:sp>
        <p:nvSpPr>
          <p:cNvPr id="19" name="Text 17"/>
          <p:cNvSpPr/>
          <p:nvPr/>
        </p:nvSpPr>
        <p:spPr>
          <a:xfrm>
            <a:off x="8247888" y="2688336"/>
            <a:ext cx="3026664" cy="493776"/>
          </a:xfrm>
          <a:prstGeom prst="rect">
            <a:avLst/>
          </a:prstGeom>
          <a:noFill/>
          <a:ln/>
        </p:spPr>
        <p:txBody>
          <a:bodyPr wrap="square" lIns="0" tIns="0" rIns="0" bIns="0" rtlCol="0" anchor="t"/>
          <a:lstStyle/>
          <a:p>
            <a:pPr marL="0" indent="0">
              <a:lnSpc>
                <a:spcPts val="1700"/>
              </a:lnSpc>
              <a:buNone/>
            </a:pPr>
            <a:r>
              <a:rPr lang="en-US" sz="1150" dirty="0">
                <a:solidFill>
                  <a:srgbClr val="222633"/>
                </a:solidFill>
                <a:latin typeface="Pretendard" pitchFamily="34" charset="0"/>
                <a:ea typeface="Pretendard" pitchFamily="34" charset="-122"/>
                <a:cs typeface="Pretendard" pitchFamily="34" charset="-120"/>
              </a:rPr>
              <a:t>약물 투약을 유발하는 요인을 파악하고 대처기술을 배운다</a:t>
            </a:r>
            <a:endParaRPr lang="en-US" sz="1150" dirty="0"/>
          </a:p>
        </p:txBody>
      </p:sp>
      <p:sp>
        <p:nvSpPr>
          <p:cNvPr id="20" name="Text 18"/>
          <p:cNvSpPr/>
          <p:nvPr/>
        </p:nvSpPr>
        <p:spPr>
          <a:xfrm>
            <a:off x="731520" y="3383280"/>
            <a:ext cx="10725912" cy="237744"/>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운영 과정</a:t>
            </a:r>
            <a:endParaRPr lang="en-US" sz="1150" dirty="0"/>
          </a:p>
        </p:txBody>
      </p:sp>
      <p:sp>
        <p:nvSpPr>
          <p:cNvPr id="21" name="Shape 19"/>
          <p:cNvSpPr/>
          <p:nvPr/>
        </p:nvSpPr>
        <p:spPr>
          <a:xfrm>
            <a:off x="731520" y="3639312"/>
            <a:ext cx="3307080" cy="969264"/>
          </a:xfrm>
          <a:prstGeom prst="rect">
            <a:avLst/>
          </a:prstGeom>
          <a:solidFill>
            <a:srgbClr val="FFFFFF"/>
          </a:solidFill>
          <a:ln w="12700">
            <a:solidFill>
              <a:srgbClr val="DCE0E8"/>
            </a:solidFill>
            <a:prstDash val="solid"/>
          </a:ln>
        </p:spPr>
        <p:txBody>
          <a:bodyPr/>
          <a:lstStyle/>
          <a:p>
            <a:endParaRPr lang="ko-KR" altLang="en-US"/>
          </a:p>
        </p:txBody>
      </p:sp>
      <p:sp>
        <p:nvSpPr>
          <p:cNvPr id="22" name="Text 20"/>
          <p:cNvSpPr/>
          <p:nvPr/>
        </p:nvSpPr>
        <p:spPr>
          <a:xfrm>
            <a:off x="841248" y="3730752"/>
            <a:ext cx="3087624" cy="256032"/>
          </a:xfrm>
          <a:prstGeom prst="rect">
            <a:avLst/>
          </a:prstGeom>
          <a:noFill/>
          <a:ln/>
        </p:spPr>
        <p:txBody>
          <a:bodyPr wrap="square" lIns="0" tIns="0" rIns="0" bIns="0" rtlCol="0" anchor="ctr"/>
          <a:lstStyle/>
          <a:p>
            <a:pPr marL="0" indent="0" algn="ctr">
              <a:buNone/>
            </a:pPr>
            <a:r>
              <a:rPr lang="en-US" sz="1250" b="1" dirty="0">
                <a:solidFill>
                  <a:srgbClr val="1E2761"/>
                </a:solidFill>
                <a:latin typeface="Pretendard" pitchFamily="34" charset="0"/>
                <a:ea typeface="Pretendard" pitchFamily="34" charset="-122"/>
                <a:cs typeface="Pretendard" pitchFamily="34" charset="-120"/>
              </a:rPr>
              <a:t>초기면담 · 검사</a:t>
            </a:r>
            <a:endParaRPr lang="en-US" sz="1250" dirty="0"/>
          </a:p>
        </p:txBody>
      </p:sp>
      <p:sp>
        <p:nvSpPr>
          <p:cNvPr id="23" name="Text 21"/>
          <p:cNvSpPr/>
          <p:nvPr/>
        </p:nvSpPr>
        <p:spPr>
          <a:xfrm>
            <a:off x="841248" y="3986784"/>
            <a:ext cx="3087624" cy="256032"/>
          </a:xfrm>
          <a:prstGeom prst="rect">
            <a:avLst/>
          </a:prstGeom>
          <a:noFill/>
          <a:ln/>
        </p:spPr>
        <p:txBody>
          <a:bodyPr wrap="square" lIns="0" tIns="0" rIns="0" bIns="0" rtlCol="0" anchor="t"/>
          <a:lstStyle/>
          <a:p>
            <a:pPr marL="0" indent="0" algn="ctr">
              <a:lnSpc>
                <a:spcPts val="1600"/>
              </a:lnSpc>
              <a:buNone/>
            </a:pPr>
            <a:r>
              <a:rPr lang="en-US" sz="1150" dirty="0">
                <a:solidFill>
                  <a:srgbClr val="464D5C"/>
                </a:solidFill>
                <a:latin typeface="Pretendard" pitchFamily="34" charset="0"/>
                <a:ea typeface="Pretendard" pitchFamily="34" charset="-122"/>
                <a:cs typeface="Pretendard" pitchFamily="34" charset="-120"/>
              </a:rPr>
              <a:t>사전 심리검사와 초기면담을 실시한다</a:t>
            </a:r>
            <a:endParaRPr lang="en-US" sz="1150" dirty="0"/>
          </a:p>
        </p:txBody>
      </p:sp>
      <p:sp>
        <p:nvSpPr>
          <p:cNvPr id="24" name="Text 22"/>
          <p:cNvSpPr/>
          <p:nvPr/>
        </p:nvSpPr>
        <p:spPr>
          <a:xfrm>
            <a:off x="4038600" y="3639312"/>
            <a:ext cx="402336" cy="969264"/>
          </a:xfrm>
          <a:prstGeom prst="rect">
            <a:avLst/>
          </a:prstGeom>
          <a:noFill/>
          <a:ln/>
        </p:spPr>
        <p:txBody>
          <a:bodyPr wrap="square" lIns="0" tIns="0" rIns="0" bIns="0" rtlCol="0" anchor="ctr"/>
          <a:lstStyle/>
          <a:p>
            <a:pPr marL="0" indent="0" algn="ctr">
              <a:buNone/>
            </a:pPr>
            <a:r>
              <a:rPr lang="en-US" sz="1400" dirty="0">
                <a:solidFill>
                  <a:srgbClr val="6E7686"/>
                </a:solidFill>
                <a:latin typeface="Pretendard" pitchFamily="34" charset="0"/>
                <a:ea typeface="Pretendard" pitchFamily="34" charset="-122"/>
                <a:cs typeface="Pretendard" pitchFamily="34" charset="-120"/>
              </a:rPr>
              <a:t>→</a:t>
            </a:r>
            <a:endParaRPr lang="en-US" sz="1400" dirty="0"/>
          </a:p>
        </p:txBody>
      </p:sp>
      <p:sp>
        <p:nvSpPr>
          <p:cNvPr id="25" name="Shape 23"/>
          <p:cNvSpPr/>
          <p:nvPr/>
        </p:nvSpPr>
        <p:spPr>
          <a:xfrm>
            <a:off x="4440936" y="3639312"/>
            <a:ext cx="3307080" cy="969264"/>
          </a:xfrm>
          <a:prstGeom prst="rect">
            <a:avLst/>
          </a:prstGeom>
          <a:solidFill>
            <a:srgbClr val="FFFFFF"/>
          </a:solidFill>
          <a:ln w="12700">
            <a:solidFill>
              <a:srgbClr val="DCE0E8"/>
            </a:solidFill>
            <a:prstDash val="solid"/>
          </a:ln>
        </p:spPr>
        <p:txBody>
          <a:bodyPr/>
          <a:lstStyle/>
          <a:p>
            <a:endParaRPr lang="ko-KR" altLang="en-US"/>
          </a:p>
        </p:txBody>
      </p:sp>
      <p:sp>
        <p:nvSpPr>
          <p:cNvPr id="26" name="Text 24"/>
          <p:cNvSpPr/>
          <p:nvPr/>
        </p:nvSpPr>
        <p:spPr>
          <a:xfrm>
            <a:off x="4550664" y="3730752"/>
            <a:ext cx="3087624" cy="256032"/>
          </a:xfrm>
          <a:prstGeom prst="rect">
            <a:avLst/>
          </a:prstGeom>
          <a:noFill/>
          <a:ln/>
        </p:spPr>
        <p:txBody>
          <a:bodyPr wrap="square" lIns="0" tIns="0" rIns="0" bIns="0" rtlCol="0" anchor="ctr"/>
          <a:lstStyle/>
          <a:p>
            <a:pPr marL="0" indent="0" algn="ctr">
              <a:buNone/>
            </a:pPr>
            <a:r>
              <a:rPr lang="en-US" sz="1250" b="1" dirty="0">
                <a:solidFill>
                  <a:srgbClr val="1E2761"/>
                </a:solidFill>
                <a:latin typeface="Pretendard" pitchFamily="34" charset="0"/>
                <a:ea typeface="Pretendard" pitchFamily="34" charset="-122"/>
                <a:cs typeface="Pretendard" pitchFamily="34" charset="-120"/>
              </a:rPr>
              <a:t>집단 · 개별 프로그램</a:t>
            </a:r>
            <a:endParaRPr lang="en-US" sz="1250" dirty="0"/>
          </a:p>
        </p:txBody>
      </p:sp>
      <p:sp>
        <p:nvSpPr>
          <p:cNvPr id="27" name="Text 25"/>
          <p:cNvSpPr/>
          <p:nvPr/>
        </p:nvSpPr>
        <p:spPr>
          <a:xfrm>
            <a:off x="4550664" y="3986784"/>
            <a:ext cx="3087624" cy="548640"/>
          </a:xfrm>
          <a:prstGeom prst="rect">
            <a:avLst/>
          </a:prstGeom>
          <a:noFill/>
          <a:ln/>
        </p:spPr>
        <p:txBody>
          <a:bodyPr wrap="square" lIns="0" tIns="0" rIns="0" bIns="0" rtlCol="0" anchor="t"/>
          <a:lstStyle/>
          <a:p>
            <a:pPr marL="0" indent="0" algn="ctr">
              <a:lnSpc>
                <a:spcPts val="1600"/>
              </a:lnSpc>
              <a:buNone/>
            </a:pPr>
            <a:r>
              <a:rPr lang="en-US" sz="1150" dirty="0">
                <a:solidFill>
                  <a:srgbClr val="464D5C"/>
                </a:solidFill>
                <a:latin typeface="Pretendard" pitchFamily="34" charset="0"/>
                <a:ea typeface="Pretendard" pitchFamily="34" charset="-122"/>
                <a:cs typeface="Pretendard" pitchFamily="34" charset="-120"/>
              </a:rPr>
              <a:t>범죄 유형 · 성별 · 연령 등을 고려해 집단을 구성하고, 필요하면 개별 프로그램을 병행한다</a:t>
            </a:r>
            <a:endParaRPr lang="en-US" sz="1150" dirty="0"/>
          </a:p>
        </p:txBody>
      </p:sp>
      <p:sp>
        <p:nvSpPr>
          <p:cNvPr id="28" name="Text 26"/>
          <p:cNvSpPr/>
          <p:nvPr/>
        </p:nvSpPr>
        <p:spPr>
          <a:xfrm>
            <a:off x="7748016" y="3639312"/>
            <a:ext cx="402336" cy="969264"/>
          </a:xfrm>
          <a:prstGeom prst="rect">
            <a:avLst/>
          </a:prstGeom>
          <a:noFill/>
          <a:ln/>
        </p:spPr>
        <p:txBody>
          <a:bodyPr wrap="square" lIns="0" tIns="0" rIns="0" bIns="0" rtlCol="0" anchor="ctr"/>
          <a:lstStyle/>
          <a:p>
            <a:pPr marL="0" indent="0" algn="ctr">
              <a:buNone/>
            </a:pPr>
            <a:r>
              <a:rPr lang="en-US" sz="1400" dirty="0">
                <a:solidFill>
                  <a:srgbClr val="6E7686"/>
                </a:solidFill>
                <a:latin typeface="Pretendard" pitchFamily="34" charset="0"/>
                <a:ea typeface="Pretendard" pitchFamily="34" charset="-122"/>
                <a:cs typeface="Pretendard" pitchFamily="34" charset="-120"/>
              </a:rPr>
              <a:t>→</a:t>
            </a:r>
            <a:endParaRPr lang="en-US" sz="1400" dirty="0"/>
          </a:p>
        </p:txBody>
      </p:sp>
      <p:sp>
        <p:nvSpPr>
          <p:cNvPr id="29" name="Shape 27"/>
          <p:cNvSpPr/>
          <p:nvPr/>
        </p:nvSpPr>
        <p:spPr>
          <a:xfrm>
            <a:off x="8150352" y="3639312"/>
            <a:ext cx="3307080" cy="969264"/>
          </a:xfrm>
          <a:prstGeom prst="rect">
            <a:avLst/>
          </a:prstGeom>
          <a:solidFill>
            <a:srgbClr val="FFFFFF"/>
          </a:solidFill>
          <a:ln w="12700">
            <a:solidFill>
              <a:srgbClr val="DCE0E8"/>
            </a:solidFill>
            <a:prstDash val="solid"/>
          </a:ln>
        </p:spPr>
        <p:txBody>
          <a:bodyPr/>
          <a:lstStyle/>
          <a:p>
            <a:endParaRPr lang="ko-KR" altLang="en-US"/>
          </a:p>
        </p:txBody>
      </p:sp>
      <p:sp>
        <p:nvSpPr>
          <p:cNvPr id="30" name="Text 28"/>
          <p:cNvSpPr/>
          <p:nvPr/>
        </p:nvSpPr>
        <p:spPr>
          <a:xfrm>
            <a:off x="8260080" y="3730752"/>
            <a:ext cx="3087624" cy="256032"/>
          </a:xfrm>
          <a:prstGeom prst="rect">
            <a:avLst/>
          </a:prstGeom>
          <a:noFill/>
          <a:ln/>
        </p:spPr>
        <p:txBody>
          <a:bodyPr wrap="square" lIns="0" tIns="0" rIns="0" bIns="0" rtlCol="0" anchor="ctr"/>
          <a:lstStyle/>
          <a:p>
            <a:pPr marL="0" indent="0" algn="ctr">
              <a:buNone/>
            </a:pPr>
            <a:r>
              <a:rPr lang="en-US" sz="1250" b="1" dirty="0">
                <a:solidFill>
                  <a:srgbClr val="1E2761"/>
                </a:solidFill>
                <a:latin typeface="Pretendard" pitchFamily="34" charset="0"/>
                <a:ea typeface="Pretendard" pitchFamily="34" charset="-122"/>
                <a:cs typeface="Pretendard" pitchFamily="34" charset="-120"/>
              </a:rPr>
              <a:t>평가 · 종결</a:t>
            </a:r>
            <a:endParaRPr lang="en-US" sz="1250" dirty="0"/>
          </a:p>
        </p:txBody>
      </p:sp>
      <p:sp>
        <p:nvSpPr>
          <p:cNvPr id="31" name="Text 29"/>
          <p:cNvSpPr/>
          <p:nvPr/>
        </p:nvSpPr>
        <p:spPr>
          <a:xfrm>
            <a:off x="8260080" y="3986784"/>
            <a:ext cx="3087624" cy="548640"/>
          </a:xfrm>
          <a:prstGeom prst="rect">
            <a:avLst/>
          </a:prstGeom>
          <a:noFill/>
          <a:ln/>
        </p:spPr>
        <p:txBody>
          <a:bodyPr wrap="square" lIns="0" tIns="0" rIns="0" bIns="0" rtlCol="0" anchor="t"/>
          <a:lstStyle/>
          <a:p>
            <a:pPr marL="0" indent="0" algn="ctr">
              <a:lnSpc>
                <a:spcPts val="1600"/>
              </a:lnSpc>
              <a:buNone/>
            </a:pPr>
            <a:r>
              <a:rPr lang="en-US" sz="1150" dirty="0">
                <a:solidFill>
                  <a:srgbClr val="464D5C"/>
                </a:solidFill>
                <a:latin typeface="Pretendard" pitchFamily="34" charset="0"/>
                <a:ea typeface="Pretendard" pitchFamily="34" charset="-122"/>
                <a:cs typeface="Pretendard" pitchFamily="34" charset="-120"/>
              </a:rPr>
              <a:t>대상자 만족도와 교육 참여도를 평가하고 보고서를 작성한다</a:t>
            </a:r>
            <a:endParaRPr lang="en-US" sz="1150" dirty="0"/>
          </a:p>
        </p:txBody>
      </p:sp>
      <p:sp>
        <p:nvSpPr>
          <p:cNvPr id="33" name="Text 31"/>
          <p:cNvSpPr/>
          <p:nvPr/>
        </p:nvSpPr>
        <p:spPr>
          <a:xfrm>
            <a:off x="731520" y="4773168"/>
            <a:ext cx="8659127" cy="530352"/>
          </a:xfrm>
          <a:prstGeom prst="rect">
            <a:avLst/>
          </a:prstGeom>
          <a:noFill/>
          <a:ln>
            <a:noFill/>
          </a:ln>
        </p:spPr>
        <p:txBody>
          <a:bodyPr wrap="square" lIns="0" tIns="0" rIns="0" bIns="0" rtlCol="0" anchor="ctr"/>
          <a:lstStyle/>
          <a:p>
            <a:pPr marL="0" indent="0" algn="ctr">
              <a:buNone/>
            </a:pPr>
            <a:r>
              <a:rPr lang="en-US" sz="1100" b="1" dirty="0">
                <a:solidFill>
                  <a:schemeClr val="accent4">
                    <a:lumMod val="75000"/>
                  </a:schemeClr>
                </a:solidFill>
                <a:latin typeface="Pretendard" pitchFamily="34" charset="0"/>
                <a:ea typeface="Pretendard" pitchFamily="34" charset="-122"/>
                <a:cs typeface="Pretendard" pitchFamily="34" charset="-120"/>
              </a:rPr>
              <a:t>법무부 일반 운영 안내: 집단당 10~15명, 주 1~2회 · 회당 4~8시간 · 4~10주 진행을 원칙으로 제시한다. 실제 일정은 부과된 시간과 프로그램에 따라 구성된다</a:t>
            </a:r>
            <a:endParaRPr lang="en-US" sz="1100" b="1" dirty="0">
              <a:solidFill>
                <a:schemeClr val="accent4">
                  <a:lumMod val="75000"/>
                </a:schemeClr>
              </a:solidFill>
            </a:endParaRPr>
          </a:p>
        </p:txBody>
      </p:sp>
      <p:sp>
        <p:nvSpPr>
          <p:cNvPr id="35" name="Text 33"/>
          <p:cNvSpPr/>
          <p:nvPr/>
        </p:nvSpPr>
        <p:spPr>
          <a:xfrm>
            <a:off x="731520" y="5541264"/>
            <a:ext cx="10725912" cy="530352"/>
          </a:xfrm>
          <a:prstGeom prst="rect">
            <a:avLst/>
          </a:prstGeom>
          <a:solidFill>
            <a:schemeClr val="accent1">
              <a:lumMod val="20000"/>
              <a:lumOff val="80000"/>
            </a:schemeClr>
          </a:solidFill>
          <a:ln/>
        </p:spPr>
        <p:txBody>
          <a:bodyPr wrap="square" lIns="0" tIns="0" rIns="0" bIns="0" rtlCol="0" anchor="ctr"/>
          <a:lstStyle/>
          <a:p>
            <a:pPr algn="ctr"/>
            <a:r>
              <a:rPr lang="ko-KR" altLang="en-US" sz="1250" b="1" dirty="0">
                <a:solidFill>
                  <a:srgbClr val="1E2761"/>
                </a:solidFill>
                <a:latin typeface="Pretendard" pitchFamily="34" charset="0"/>
                <a:ea typeface="Pretendard" pitchFamily="34" charset="-122"/>
                <a:cs typeface="Pretendard" pitchFamily="34" charset="-120"/>
              </a:rPr>
              <a:t>청소년이 약물을 사용하게 되는 상황을 파악하고</a:t>
            </a:r>
            <a:r>
              <a:rPr lang="en-US" altLang="ko-KR" sz="1250" b="1" dirty="0">
                <a:solidFill>
                  <a:srgbClr val="1E2761"/>
                </a:solidFill>
                <a:latin typeface="Pretendard" pitchFamily="34" charset="0"/>
                <a:ea typeface="Pretendard" pitchFamily="34" charset="-122"/>
                <a:cs typeface="Pretendard" pitchFamily="34" charset="-120"/>
              </a:rPr>
              <a:t>, </a:t>
            </a:r>
            <a:r>
              <a:rPr lang="ko-KR" altLang="en-US" sz="1250" b="1" dirty="0">
                <a:solidFill>
                  <a:srgbClr val="1E2761"/>
                </a:solidFill>
                <a:latin typeface="Pretendard" pitchFamily="34" charset="0"/>
                <a:ea typeface="Pretendard" pitchFamily="34" charset="-122"/>
                <a:cs typeface="Pretendard" pitchFamily="34" charset="-120"/>
              </a:rPr>
              <a:t>실제 생활에서 권유를 거절하거나 사용 욕구에 대처하는 방법을 연습하도록 지원해야 한다</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521208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5. 치료·재활의 실행 조건</a:t>
            </a:r>
            <a:endParaRPr lang="en-US" sz="1250" dirty="0"/>
          </a:p>
        </p:txBody>
      </p:sp>
      <p:sp>
        <p:nvSpPr>
          <p:cNvPr id="3" name="Text 1"/>
          <p:cNvSpPr/>
          <p:nvPr/>
        </p:nvSpPr>
        <p:spPr>
          <a:xfrm>
            <a:off x="6035040" y="384048"/>
            <a:ext cx="5422392" cy="256032"/>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RISKIT-CJS의 참여와 추가효과</a:t>
            </a:r>
            <a:endParaRPr lang="en-US" sz="1050" dirty="0"/>
          </a:p>
        </p:txBody>
      </p:sp>
      <p:sp>
        <p:nvSpPr>
          <p:cNvPr id="4" name="Text 2"/>
          <p:cNvSpPr/>
          <p:nvPr/>
        </p:nvSpPr>
        <p:spPr>
          <a:xfrm>
            <a:off x="731520" y="640080"/>
            <a:ext cx="10725912" cy="640080"/>
          </a:xfrm>
          <a:prstGeom prst="rect">
            <a:avLst/>
          </a:prstGeom>
          <a:noFill/>
          <a:ln/>
        </p:spPr>
        <p:txBody>
          <a:bodyPr wrap="square" lIns="0" tIns="0" rIns="0" bIns="0" rtlCol="0" anchor="ctr"/>
          <a:lstStyle/>
          <a:p>
            <a:pPr marL="0" indent="0">
              <a:buNone/>
            </a:pPr>
            <a:r>
              <a:rPr lang="en-US" sz="2750" b="1" dirty="0">
                <a:solidFill>
                  <a:srgbClr val="1E2761"/>
                </a:solidFill>
                <a:latin typeface="Pretendard" pitchFamily="34" charset="0"/>
                <a:ea typeface="Pretendard" pitchFamily="34" charset="-122"/>
                <a:cs typeface="Pretendard" pitchFamily="34" charset="-120"/>
              </a:rPr>
              <a:t>RISKIT-CJS — 물질사용을 줄이기 위한 면담과 집단훈련</a:t>
            </a:r>
            <a:endParaRPr lang="en-US" sz="2750" dirty="0"/>
          </a:p>
        </p:txBody>
      </p:sp>
      <p:sp>
        <p:nvSpPr>
          <p:cNvPr id="5" name="Shape 3"/>
          <p:cNvSpPr/>
          <p:nvPr/>
        </p:nvSpPr>
        <p:spPr>
          <a:xfrm>
            <a:off x="731520" y="1316736"/>
            <a:ext cx="10725912"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417320"/>
            <a:ext cx="10725912" cy="548640"/>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1005840" y="1417320"/>
            <a:ext cx="10149840" cy="548640"/>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치료·재활을 우선하려면, 청소년에게 어떤 활동을 제공하여 물질사용의 변화를 도울 것인지 구체화해야 한다</a:t>
            </a:r>
            <a:endParaRPr lang="en-US" sz="1300" dirty="0"/>
          </a:p>
        </p:txBody>
      </p:sp>
      <p:sp>
        <p:nvSpPr>
          <p:cNvPr id="8" name="Text 6"/>
          <p:cNvSpPr/>
          <p:nvPr/>
        </p:nvSpPr>
        <p:spPr>
          <a:xfrm>
            <a:off x="731520" y="2103120"/>
            <a:ext cx="10725912" cy="256032"/>
          </a:xfrm>
          <a:prstGeom prst="rect">
            <a:avLst/>
          </a:prstGeom>
          <a:noFill/>
          <a:ln/>
        </p:spPr>
        <p:txBody>
          <a:bodyPr wrap="square" lIns="0" tIns="0" rIns="0" bIns="0" rtlCol="0" anchor="ctr"/>
          <a:lstStyle/>
          <a:p>
            <a:pPr marL="0" indent="0">
              <a:buNone/>
            </a:pPr>
            <a:r>
              <a:rPr lang="en-US" sz="1250" b="1" dirty="0">
                <a:solidFill>
                  <a:srgbClr val="222633"/>
                </a:solidFill>
                <a:highlight>
                  <a:srgbClr val="FFFF00"/>
                </a:highlight>
                <a:latin typeface="Pretendard" pitchFamily="34" charset="0"/>
                <a:ea typeface="Pretendard" pitchFamily="34" charset="-122"/>
                <a:cs typeface="Pretendard" pitchFamily="34" charset="-120"/>
              </a:rPr>
              <a:t>RISKIT-CJS</a:t>
            </a:r>
            <a:r>
              <a:rPr lang="en-US" sz="1250" b="1" dirty="0">
                <a:solidFill>
                  <a:srgbClr val="222633"/>
                </a:solidFill>
                <a:latin typeface="Pretendard" pitchFamily="34" charset="0"/>
                <a:ea typeface="Pretendard" pitchFamily="34" charset="-122"/>
                <a:cs typeface="Pretendard" pitchFamily="34" charset="-120"/>
              </a:rPr>
              <a:t>는 청소년의 물질사용과 위험행동을 </a:t>
            </a:r>
            <a:r>
              <a:rPr lang="en-US" sz="1250" b="1" dirty="0" err="1">
                <a:solidFill>
                  <a:srgbClr val="222633"/>
                </a:solidFill>
                <a:latin typeface="Pretendard" pitchFamily="34" charset="0"/>
                <a:ea typeface="Pretendard" pitchFamily="34" charset="-122"/>
                <a:cs typeface="Pretendard" pitchFamily="34" charset="-120"/>
              </a:rPr>
              <a:t>줄이기</a:t>
            </a:r>
            <a:r>
              <a:rPr lang="en-US" sz="1250" b="1" dirty="0">
                <a:solidFill>
                  <a:srgbClr val="222633"/>
                </a:solidFill>
                <a:latin typeface="Pretendard" pitchFamily="34" charset="0"/>
                <a:ea typeface="Pretendard" pitchFamily="34" charset="-122"/>
                <a:cs typeface="Pretendard" pitchFamily="34" charset="-120"/>
              </a:rPr>
              <a:t> 위</a:t>
            </a:r>
            <a:r>
              <a:rPr lang="ko-KR" altLang="en-US" sz="1250" b="1" dirty="0">
                <a:solidFill>
                  <a:srgbClr val="222633"/>
                </a:solidFill>
                <a:latin typeface="Pretendard" pitchFamily="34" charset="0"/>
                <a:ea typeface="Pretendard" pitchFamily="34" charset="-122"/>
                <a:cs typeface="Pretendard" pitchFamily="34" charset="-120"/>
              </a:rPr>
              <a:t>한</a:t>
            </a:r>
            <a:r>
              <a:rPr lang="en-US" sz="1250" b="1" dirty="0">
                <a:solidFill>
                  <a:srgbClr val="222633"/>
                </a:solidFill>
                <a:latin typeface="Pretendard" pitchFamily="34" charset="0"/>
                <a:ea typeface="Pretendard" pitchFamily="34" charset="-122"/>
                <a:cs typeface="Pretendard" pitchFamily="34" charset="-120"/>
              </a:rPr>
              <a:t> </a:t>
            </a:r>
            <a:r>
              <a:rPr lang="en-US" sz="1250" b="1" dirty="0">
                <a:solidFill>
                  <a:srgbClr val="222633"/>
                </a:solidFill>
                <a:highlight>
                  <a:srgbClr val="FFFF00"/>
                </a:highlight>
                <a:latin typeface="Pretendard" pitchFamily="34" charset="0"/>
                <a:ea typeface="Pretendard" pitchFamily="34" charset="-122"/>
                <a:cs typeface="Pretendard" pitchFamily="34" charset="-120"/>
              </a:rPr>
              <a:t>개별 동기강화면담과 집단훈련을 결합한 심리사회적 개입 프로그램이다</a:t>
            </a:r>
            <a:endParaRPr lang="en-US" sz="1250" dirty="0">
              <a:highlight>
                <a:srgbClr val="FFFF00"/>
              </a:highlight>
            </a:endParaRPr>
          </a:p>
        </p:txBody>
      </p:sp>
      <p:sp>
        <p:nvSpPr>
          <p:cNvPr id="9" name="Text 7"/>
          <p:cNvSpPr/>
          <p:nvPr/>
        </p:nvSpPr>
        <p:spPr>
          <a:xfrm>
            <a:off x="731520" y="2426425"/>
            <a:ext cx="10725912" cy="256032"/>
          </a:xfrm>
          <a:prstGeom prst="rect">
            <a:avLst/>
          </a:prstGeom>
          <a:noFill/>
          <a:ln/>
        </p:spPr>
        <p:txBody>
          <a:bodyPr wrap="square" lIns="0" tIns="0" rIns="0" bIns="0" rtlCol="0" anchor="ctr"/>
          <a:lstStyle/>
          <a:p>
            <a:pPr marL="0" indent="0">
              <a:buNone/>
            </a:pPr>
            <a:r>
              <a:rPr lang="en-US" sz="1150" dirty="0">
                <a:solidFill>
                  <a:srgbClr val="464D5C"/>
                </a:solidFill>
                <a:latin typeface="Pretendard" pitchFamily="34" charset="0"/>
                <a:ea typeface="Pretendard" pitchFamily="34" charset="-122"/>
                <a:cs typeface="Pretendard" pitchFamily="34" charset="-120"/>
              </a:rPr>
              <a:t>CJS는 Criminal Justice System, 즉 형사사법체계를 뜻한다  ·  동기강화면담은 대화를 통해 청소년 스스로 변화의 이유와 의지를 찾도록 돕는 상담 방식이다</a:t>
            </a:r>
            <a:endParaRPr lang="en-US" sz="1150" dirty="0"/>
          </a:p>
        </p:txBody>
      </p:sp>
      <p:sp>
        <p:nvSpPr>
          <p:cNvPr id="10" name="Text 8"/>
          <p:cNvSpPr/>
          <p:nvPr/>
        </p:nvSpPr>
        <p:spPr>
          <a:xfrm>
            <a:off x="731520" y="2743200"/>
            <a:ext cx="10725912" cy="237744"/>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네 활동의 순서</a:t>
            </a:r>
            <a:endParaRPr lang="en-US" sz="1150" dirty="0"/>
          </a:p>
        </p:txBody>
      </p:sp>
      <p:sp>
        <p:nvSpPr>
          <p:cNvPr id="11" name="Shape 9"/>
          <p:cNvSpPr/>
          <p:nvPr/>
        </p:nvSpPr>
        <p:spPr>
          <a:xfrm>
            <a:off x="731520" y="3017520"/>
            <a:ext cx="2475738" cy="786384"/>
          </a:xfrm>
          <a:prstGeom prst="rect">
            <a:avLst/>
          </a:prstGeom>
          <a:solidFill>
            <a:srgbClr val="FFFFFF"/>
          </a:solidFill>
          <a:ln w="12700">
            <a:solidFill>
              <a:srgbClr val="DCE0E8"/>
            </a:solidFill>
            <a:prstDash val="solid"/>
          </a:ln>
        </p:spPr>
        <p:txBody>
          <a:bodyPr/>
          <a:lstStyle/>
          <a:p>
            <a:endParaRPr lang="ko-KR" altLang="en-US"/>
          </a:p>
        </p:txBody>
      </p:sp>
      <p:sp>
        <p:nvSpPr>
          <p:cNvPr id="12" name="Text 10"/>
          <p:cNvSpPr/>
          <p:nvPr/>
        </p:nvSpPr>
        <p:spPr>
          <a:xfrm>
            <a:off x="822960" y="3182439"/>
            <a:ext cx="2292858" cy="256032"/>
          </a:xfrm>
          <a:prstGeom prst="rect">
            <a:avLst/>
          </a:prstGeom>
          <a:noFill/>
          <a:ln/>
        </p:spPr>
        <p:txBody>
          <a:bodyPr wrap="square" lIns="0" tIns="0" rIns="0" bIns="0" rtlCol="0" anchor="ctr"/>
          <a:lstStyle/>
          <a:p>
            <a:pPr marL="0" indent="0" algn="ctr">
              <a:buNone/>
            </a:pPr>
            <a:r>
              <a:rPr lang="en-US" sz="1250" b="1" dirty="0">
                <a:solidFill>
                  <a:srgbClr val="1E2761"/>
                </a:solidFill>
                <a:latin typeface="Pretendard" pitchFamily="34" charset="0"/>
                <a:ea typeface="Pretendard" pitchFamily="34" charset="-122"/>
                <a:cs typeface="Pretendard" pitchFamily="34" charset="-120"/>
              </a:rPr>
              <a:t>① 첫 개별면담</a:t>
            </a:r>
            <a:endParaRPr lang="en-US" sz="1250" dirty="0"/>
          </a:p>
        </p:txBody>
      </p:sp>
      <p:sp>
        <p:nvSpPr>
          <p:cNvPr id="13" name="Text 11"/>
          <p:cNvSpPr/>
          <p:nvPr/>
        </p:nvSpPr>
        <p:spPr>
          <a:xfrm>
            <a:off x="822960" y="3438471"/>
            <a:ext cx="2292858" cy="365760"/>
          </a:xfrm>
          <a:prstGeom prst="rect">
            <a:avLst/>
          </a:prstGeom>
          <a:noFill/>
          <a:ln/>
        </p:spPr>
        <p:txBody>
          <a:bodyPr wrap="square" lIns="0" tIns="0" rIns="0" bIns="0" rtlCol="0" anchor="t"/>
          <a:lstStyle/>
          <a:p>
            <a:pPr marL="0" indent="0" algn="ctr">
              <a:lnSpc>
                <a:spcPts val="1600"/>
              </a:lnSpc>
              <a:buNone/>
            </a:pPr>
            <a:r>
              <a:rPr lang="en-US" sz="1150" dirty="0">
                <a:solidFill>
                  <a:srgbClr val="464D5C"/>
                </a:solidFill>
                <a:latin typeface="Pretendard" pitchFamily="34" charset="0"/>
                <a:ea typeface="Pretendard" pitchFamily="34" charset="-122"/>
                <a:cs typeface="Pretendard" pitchFamily="34" charset="-120"/>
              </a:rPr>
              <a:t>사용행동과 변화 목표를 확인</a:t>
            </a:r>
            <a:endParaRPr lang="en-US" sz="1150" dirty="0"/>
          </a:p>
        </p:txBody>
      </p:sp>
      <p:sp>
        <p:nvSpPr>
          <p:cNvPr id="14" name="Text 12"/>
          <p:cNvSpPr/>
          <p:nvPr/>
        </p:nvSpPr>
        <p:spPr>
          <a:xfrm>
            <a:off x="3207258" y="3017520"/>
            <a:ext cx="274320" cy="786384"/>
          </a:xfrm>
          <a:prstGeom prst="rect">
            <a:avLst/>
          </a:prstGeom>
          <a:noFill/>
          <a:ln/>
        </p:spPr>
        <p:txBody>
          <a:bodyPr wrap="square" lIns="0" tIns="0" rIns="0" bIns="0" rtlCol="0" anchor="ctr"/>
          <a:lstStyle/>
          <a:p>
            <a:pPr marL="0" indent="0" algn="ctr">
              <a:buNone/>
            </a:pPr>
            <a:r>
              <a:rPr lang="en-US" sz="1300" dirty="0">
                <a:solidFill>
                  <a:srgbClr val="6E7686"/>
                </a:solidFill>
                <a:latin typeface="Pretendard" pitchFamily="34" charset="0"/>
                <a:ea typeface="Pretendard" pitchFamily="34" charset="-122"/>
                <a:cs typeface="Pretendard" pitchFamily="34" charset="-120"/>
              </a:rPr>
              <a:t>→</a:t>
            </a:r>
            <a:endParaRPr lang="en-US" sz="1300" dirty="0"/>
          </a:p>
        </p:txBody>
      </p:sp>
      <p:sp>
        <p:nvSpPr>
          <p:cNvPr id="15" name="Shape 13"/>
          <p:cNvSpPr/>
          <p:nvPr/>
        </p:nvSpPr>
        <p:spPr>
          <a:xfrm>
            <a:off x="3481578" y="3017520"/>
            <a:ext cx="2475738" cy="786384"/>
          </a:xfrm>
          <a:prstGeom prst="rect">
            <a:avLst/>
          </a:prstGeom>
          <a:solidFill>
            <a:srgbClr val="FFFFFF"/>
          </a:solidFill>
          <a:ln w="12700">
            <a:solidFill>
              <a:srgbClr val="DCE0E8"/>
            </a:solidFill>
            <a:prstDash val="solid"/>
          </a:ln>
        </p:spPr>
        <p:txBody>
          <a:bodyPr/>
          <a:lstStyle/>
          <a:p>
            <a:endParaRPr lang="ko-KR" altLang="en-US"/>
          </a:p>
        </p:txBody>
      </p:sp>
      <p:sp>
        <p:nvSpPr>
          <p:cNvPr id="16" name="Text 14"/>
          <p:cNvSpPr/>
          <p:nvPr/>
        </p:nvSpPr>
        <p:spPr>
          <a:xfrm>
            <a:off x="3573018" y="3182439"/>
            <a:ext cx="2292858" cy="256032"/>
          </a:xfrm>
          <a:prstGeom prst="rect">
            <a:avLst/>
          </a:prstGeom>
          <a:noFill/>
          <a:ln/>
        </p:spPr>
        <p:txBody>
          <a:bodyPr wrap="square" lIns="0" tIns="0" rIns="0" bIns="0" rtlCol="0" anchor="ctr"/>
          <a:lstStyle/>
          <a:p>
            <a:pPr marL="0" indent="0" algn="ctr">
              <a:buNone/>
            </a:pPr>
            <a:r>
              <a:rPr lang="en-US" sz="1250" b="1" dirty="0">
                <a:solidFill>
                  <a:srgbClr val="1E2761"/>
                </a:solidFill>
                <a:latin typeface="Pretendard" pitchFamily="34" charset="0"/>
                <a:ea typeface="Pretendard" pitchFamily="34" charset="-122"/>
                <a:cs typeface="Pretendard" pitchFamily="34" charset="-120"/>
              </a:rPr>
              <a:t>② 집단훈련 1</a:t>
            </a:r>
            <a:endParaRPr lang="en-US" sz="1250" dirty="0"/>
          </a:p>
        </p:txBody>
      </p:sp>
      <p:sp>
        <p:nvSpPr>
          <p:cNvPr id="17" name="Text 15"/>
          <p:cNvSpPr/>
          <p:nvPr/>
        </p:nvSpPr>
        <p:spPr>
          <a:xfrm>
            <a:off x="3573018" y="3438471"/>
            <a:ext cx="2292858" cy="365760"/>
          </a:xfrm>
          <a:prstGeom prst="rect">
            <a:avLst/>
          </a:prstGeom>
          <a:noFill/>
          <a:ln/>
        </p:spPr>
        <p:txBody>
          <a:bodyPr wrap="square" lIns="0" tIns="0" rIns="0" bIns="0" rtlCol="0" anchor="t"/>
          <a:lstStyle/>
          <a:p>
            <a:pPr marL="0" indent="0" algn="ctr">
              <a:lnSpc>
                <a:spcPts val="1600"/>
              </a:lnSpc>
              <a:buNone/>
            </a:pPr>
            <a:r>
              <a:rPr lang="en-US" sz="1150" dirty="0">
                <a:solidFill>
                  <a:srgbClr val="464D5C"/>
                </a:solidFill>
                <a:latin typeface="Pretendard" pitchFamily="34" charset="0"/>
                <a:ea typeface="Pretendard" pitchFamily="34" charset="-122"/>
                <a:cs typeface="Pretendard" pitchFamily="34" charset="-120"/>
              </a:rPr>
              <a:t>사용을 유발하는 상황과 대처</a:t>
            </a:r>
            <a:endParaRPr lang="en-US" sz="1150" dirty="0"/>
          </a:p>
        </p:txBody>
      </p:sp>
      <p:sp>
        <p:nvSpPr>
          <p:cNvPr id="18" name="Text 16"/>
          <p:cNvSpPr/>
          <p:nvPr/>
        </p:nvSpPr>
        <p:spPr>
          <a:xfrm>
            <a:off x="5957316" y="3017520"/>
            <a:ext cx="274320" cy="786384"/>
          </a:xfrm>
          <a:prstGeom prst="rect">
            <a:avLst/>
          </a:prstGeom>
          <a:noFill/>
          <a:ln/>
        </p:spPr>
        <p:txBody>
          <a:bodyPr wrap="square" lIns="0" tIns="0" rIns="0" bIns="0" rtlCol="0" anchor="ctr"/>
          <a:lstStyle/>
          <a:p>
            <a:pPr marL="0" indent="0" algn="ctr">
              <a:buNone/>
            </a:pPr>
            <a:r>
              <a:rPr lang="en-US" sz="1300" dirty="0">
                <a:solidFill>
                  <a:srgbClr val="6E7686"/>
                </a:solidFill>
                <a:latin typeface="Pretendard" pitchFamily="34" charset="0"/>
                <a:ea typeface="Pretendard" pitchFamily="34" charset="-122"/>
                <a:cs typeface="Pretendard" pitchFamily="34" charset="-120"/>
              </a:rPr>
              <a:t>→</a:t>
            </a:r>
            <a:endParaRPr lang="en-US" sz="1300" dirty="0"/>
          </a:p>
        </p:txBody>
      </p:sp>
      <p:sp>
        <p:nvSpPr>
          <p:cNvPr id="19" name="Shape 17"/>
          <p:cNvSpPr/>
          <p:nvPr/>
        </p:nvSpPr>
        <p:spPr>
          <a:xfrm>
            <a:off x="6231636" y="3017520"/>
            <a:ext cx="2475738" cy="786384"/>
          </a:xfrm>
          <a:prstGeom prst="rect">
            <a:avLst/>
          </a:prstGeom>
          <a:solidFill>
            <a:srgbClr val="FFFFFF"/>
          </a:solidFill>
          <a:ln w="12700">
            <a:solidFill>
              <a:srgbClr val="DCE0E8"/>
            </a:solidFill>
            <a:prstDash val="solid"/>
          </a:ln>
        </p:spPr>
        <p:txBody>
          <a:bodyPr/>
          <a:lstStyle/>
          <a:p>
            <a:endParaRPr lang="ko-KR" altLang="en-US"/>
          </a:p>
        </p:txBody>
      </p:sp>
      <p:sp>
        <p:nvSpPr>
          <p:cNvPr id="20" name="Text 18"/>
          <p:cNvSpPr/>
          <p:nvPr/>
        </p:nvSpPr>
        <p:spPr>
          <a:xfrm>
            <a:off x="6323076" y="3182439"/>
            <a:ext cx="2292858" cy="256032"/>
          </a:xfrm>
          <a:prstGeom prst="rect">
            <a:avLst/>
          </a:prstGeom>
          <a:noFill/>
          <a:ln/>
        </p:spPr>
        <p:txBody>
          <a:bodyPr wrap="square" lIns="0" tIns="0" rIns="0" bIns="0" rtlCol="0" anchor="ctr"/>
          <a:lstStyle/>
          <a:p>
            <a:pPr marL="0" indent="0" algn="ctr">
              <a:buNone/>
            </a:pPr>
            <a:r>
              <a:rPr lang="en-US" sz="1250" b="1" dirty="0">
                <a:solidFill>
                  <a:srgbClr val="1E2761"/>
                </a:solidFill>
                <a:latin typeface="Pretendard" pitchFamily="34" charset="0"/>
                <a:ea typeface="Pretendard" pitchFamily="34" charset="-122"/>
                <a:cs typeface="Pretendard" pitchFamily="34" charset="-120"/>
              </a:rPr>
              <a:t>③ 집단훈련 2</a:t>
            </a:r>
            <a:endParaRPr lang="en-US" sz="1250" dirty="0"/>
          </a:p>
        </p:txBody>
      </p:sp>
      <p:sp>
        <p:nvSpPr>
          <p:cNvPr id="21" name="Text 19"/>
          <p:cNvSpPr/>
          <p:nvPr/>
        </p:nvSpPr>
        <p:spPr>
          <a:xfrm>
            <a:off x="6323076" y="3438471"/>
            <a:ext cx="2292858" cy="365760"/>
          </a:xfrm>
          <a:prstGeom prst="rect">
            <a:avLst/>
          </a:prstGeom>
          <a:noFill/>
          <a:ln/>
        </p:spPr>
        <p:txBody>
          <a:bodyPr wrap="square" lIns="0" tIns="0" rIns="0" bIns="0" rtlCol="0" anchor="t"/>
          <a:lstStyle/>
          <a:p>
            <a:pPr marL="0" indent="0" algn="ctr">
              <a:lnSpc>
                <a:spcPts val="1600"/>
              </a:lnSpc>
              <a:buNone/>
            </a:pPr>
            <a:r>
              <a:rPr lang="en-US" sz="1150" dirty="0">
                <a:solidFill>
                  <a:srgbClr val="464D5C"/>
                </a:solidFill>
                <a:latin typeface="Pretendard" pitchFamily="34" charset="0"/>
                <a:ea typeface="Pretendard" pitchFamily="34" charset="-122"/>
                <a:cs typeface="Pretendard" pitchFamily="34" charset="-120"/>
              </a:rPr>
              <a:t>의사소통과 감정조절 연습</a:t>
            </a:r>
            <a:endParaRPr lang="en-US" sz="1150" dirty="0"/>
          </a:p>
        </p:txBody>
      </p:sp>
      <p:sp>
        <p:nvSpPr>
          <p:cNvPr id="22" name="Text 20"/>
          <p:cNvSpPr/>
          <p:nvPr/>
        </p:nvSpPr>
        <p:spPr>
          <a:xfrm>
            <a:off x="8707374" y="3017520"/>
            <a:ext cx="274320" cy="786384"/>
          </a:xfrm>
          <a:prstGeom prst="rect">
            <a:avLst/>
          </a:prstGeom>
          <a:noFill/>
          <a:ln/>
        </p:spPr>
        <p:txBody>
          <a:bodyPr wrap="square" lIns="0" tIns="0" rIns="0" bIns="0" rtlCol="0" anchor="ctr"/>
          <a:lstStyle/>
          <a:p>
            <a:pPr marL="0" indent="0" algn="ctr">
              <a:buNone/>
            </a:pPr>
            <a:r>
              <a:rPr lang="en-US" sz="1300" dirty="0">
                <a:solidFill>
                  <a:srgbClr val="6E7686"/>
                </a:solidFill>
                <a:latin typeface="Pretendard" pitchFamily="34" charset="0"/>
                <a:ea typeface="Pretendard" pitchFamily="34" charset="-122"/>
                <a:cs typeface="Pretendard" pitchFamily="34" charset="-120"/>
              </a:rPr>
              <a:t>→</a:t>
            </a:r>
            <a:endParaRPr lang="en-US" sz="1300" dirty="0"/>
          </a:p>
        </p:txBody>
      </p:sp>
      <p:sp>
        <p:nvSpPr>
          <p:cNvPr id="23" name="Shape 21"/>
          <p:cNvSpPr/>
          <p:nvPr/>
        </p:nvSpPr>
        <p:spPr>
          <a:xfrm>
            <a:off x="8981694" y="3017520"/>
            <a:ext cx="2475738" cy="786384"/>
          </a:xfrm>
          <a:prstGeom prst="rect">
            <a:avLst/>
          </a:prstGeom>
          <a:solidFill>
            <a:srgbClr val="FFFFFF"/>
          </a:solidFill>
          <a:ln w="12700">
            <a:solidFill>
              <a:srgbClr val="DCE0E8"/>
            </a:solidFill>
            <a:prstDash val="solid"/>
          </a:ln>
        </p:spPr>
        <p:txBody>
          <a:bodyPr/>
          <a:lstStyle/>
          <a:p>
            <a:endParaRPr lang="ko-KR" altLang="en-US"/>
          </a:p>
        </p:txBody>
      </p:sp>
      <p:sp>
        <p:nvSpPr>
          <p:cNvPr id="24" name="Text 22"/>
          <p:cNvSpPr/>
          <p:nvPr/>
        </p:nvSpPr>
        <p:spPr>
          <a:xfrm>
            <a:off x="9073134" y="3182439"/>
            <a:ext cx="2292858" cy="256032"/>
          </a:xfrm>
          <a:prstGeom prst="rect">
            <a:avLst/>
          </a:prstGeom>
          <a:noFill/>
          <a:ln/>
        </p:spPr>
        <p:txBody>
          <a:bodyPr wrap="square" lIns="0" tIns="0" rIns="0" bIns="0" rtlCol="0" anchor="ctr"/>
          <a:lstStyle/>
          <a:p>
            <a:pPr marL="0" indent="0" algn="ctr">
              <a:buNone/>
            </a:pPr>
            <a:r>
              <a:rPr lang="en-US" sz="1250" b="1" dirty="0">
                <a:solidFill>
                  <a:srgbClr val="1E2761"/>
                </a:solidFill>
                <a:latin typeface="Pretendard" pitchFamily="34" charset="0"/>
                <a:ea typeface="Pretendard" pitchFamily="34" charset="-122"/>
                <a:cs typeface="Pretendard" pitchFamily="34" charset="-120"/>
              </a:rPr>
              <a:t>④ 마무리 개별면담</a:t>
            </a:r>
            <a:endParaRPr lang="en-US" sz="1250" dirty="0"/>
          </a:p>
        </p:txBody>
      </p:sp>
      <p:sp>
        <p:nvSpPr>
          <p:cNvPr id="25" name="Text 23"/>
          <p:cNvSpPr/>
          <p:nvPr/>
        </p:nvSpPr>
        <p:spPr>
          <a:xfrm>
            <a:off x="9073134" y="3438471"/>
            <a:ext cx="2292858" cy="365760"/>
          </a:xfrm>
          <a:prstGeom prst="rect">
            <a:avLst/>
          </a:prstGeom>
          <a:noFill/>
          <a:ln/>
        </p:spPr>
        <p:txBody>
          <a:bodyPr wrap="square" lIns="0" tIns="0" rIns="0" bIns="0" rtlCol="0" anchor="t"/>
          <a:lstStyle/>
          <a:p>
            <a:pPr marL="0" indent="0" algn="ctr">
              <a:lnSpc>
                <a:spcPts val="1600"/>
              </a:lnSpc>
              <a:buNone/>
            </a:pPr>
            <a:r>
              <a:rPr lang="en-US" sz="1150" dirty="0">
                <a:solidFill>
                  <a:srgbClr val="464D5C"/>
                </a:solidFill>
                <a:latin typeface="Pretendard" pitchFamily="34" charset="0"/>
                <a:ea typeface="Pretendard" pitchFamily="34" charset="-122"/>
                <a:cs typeface="Pretendard" pitchFamily="34" charset="-120"/>
              </a:rPr>
              <a:t>변화의 장애와 후속 지원</a:t>
            </a:r>
            <a:endParaRPr lang="en-US" sz="1150" dirty="0"/>
          </a:p>
        </p:txBody>
      </p:sp>
      <p:sp>
        <p:nvSpPr>
          <p:cNvPr id="26" name="Text 24"/>
          <p:cNvSpPr/>
          <p:nvPr/>
        </p:nvSpPr>
        <p:spPr>
          <a:xfrm>
            <a:off x="731520" y="3968496"/>
            <a:ext cx="10725912" cy="237744"/>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연구 설계</a:t>
            </a:r>
            <a:endParaRPr lang="en-US" sz="1150" dirty="0"/>
          </a:p>
        </p:txBody>
      </p:sp>
      <p:sp>
        <p:nvSpPr>
          <p:cNvPr id="27" name="Text 25"/>
          <p:cNvSpPr/>
          <p:nvPr/>
        </p:nvSpPr>
        <p:spPr>
          <a:xfrm>
            <a:off x="731520" y="4206240"/>
            <a:ext cx="10725912" cy="274320"/>
          </a:xfrm>
          <a:prstGeom prst="rect">
            <a:avLst/>
          </a:prstGeom>
          <a:noFill/>
          <a:ln/>
        </p:spPr>
        <p:txBody>
          <a:bodyPr wrap="square" lIns="0" tIns="0" rIns="0" bIns="0" rtlCol="0" anchor="ctr"/>
          <a:lstStyle/>
          <a:p>
            <a:pPr marL="0" indent="0">
              <a:buNone/>
            </a:pPr>
            <a:r>
              <a:rPr lang="en-US" sz="1200" b="1" dirty="0">
                <a:solidFill>
                  <a:srgbClr val="222633"/>
                </a:solidFill>
                <a:latin typeface="Pretendard" pitchFamily="34" charset="0"/>
                <a:ea typeface="Pretendard" pitchFamily="34" charset="-122"/>
                <a:cs typeface="Pretendard" pitchFamily="34" charset="-120"/>
              </a:rPr>
              <a:t>잉글랜드 4개 지역</a:t>
            </a:r>
            <a:r>
              <a:rPr lang="en-US" sz="1200" dirty="0">
                <a:solidFill>
                  <a:srgbClr val="222633"/>
                </a:solidFill>
                <a:latin typeface="Pretendard" pitchFamily="34" charset="0"/>
                <a:ea typeface="Pretendard" pitchFamily="34" charset="-122"/>
                <a:cs typeface="Pretendard" pitchFamily="34" charset="-120"/>
              </a:rPr>
              <a:t>의 13~17세 505명을 기존 서비스만 받는 집단 259명과 기존 서비스에 RISKIT-CJS를 추가하는 집단 246명으로 무작위 배정했다</a:t>
            </a:r>
            <a:endParaRPr lang="en-US" sz="1200" dirty="0"/>
          </a:p>
        </p:txBody>
      </p:sp>
      <p:sp>
        <p:nvSpPr>
          <p:cNvPr id="31" name="Shape 29"/>
          <p:cNvSpPr/>
          <p:nvPr/>
        </p:nvSpPr>
        <p:spPr>
          <a:xfrm>
            <a:off x="731520" y="5650992"/>
            <a:ext cx="10725912" cy="0"/>
          </a:xfrm>
          <a:prstGeom prst="line">
            <a:avLst/>
          </a:prstGeom>
          <a:noFill/>
          <a:ln w="12700">
            <a:solidFill>
              <a:srgbClr val="DCE0E8"/>
            </a:solidFill>
            <a:prstDash val="solid"/>
          </a:ln>
        </p:spPr>
        <p:txBody>
          <a:bodyPr/>
          <a:lstStyle/>
          <a:p>
            <a:endParaRPr lang="ko-KR" altLang="en-US"/>
          </a:p>
        </p:txBody>
      </p:sp>
      <p:sp>
        <p:nvSpPr>
          <p:cNvPr id="32" name="Text 30"/>
          <p:cNvSpPr/>
          <p:nvPr/>
        </p:nvSpPr>
        <p:spPr>
          <a:xfrm>
            <a:off x="731520" y="5742432"/>
            <a:ext cx="10725912" cy="329184"/>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치료·재활의 효과를 판단하려면 실제로 제공할 프로그램의 내용과 분량을 구체화해야 한다</a:t>
            </a:r>
            <a:endParaRPr lang="en-US" sz="1250" dirty="0"/>
          </a:p>
        </p:txBody>
      </p:sp>
      <p:sp>
        <p:nvSpPr>
          <p:cNvPr id="33" name="Shape 31"/>
          <p:cNvSpPr/>
          <p:nvPr/>
        </p:nvSpPr>
        <p:spPr>
          <a:xfrm>
            <a:off x="731520" y="6144768"/>
            <a:ext cx="10725912" cy="0"/>
          </a:xfrm>
          <a:prstGeom prst="line">
            <a:avLst/>
          </a:prstGeom>
          <a:noFill/>
          <a:ln w="12700">
            <a:solidFill>
              <a:srgbClr val="DCE0E8"/>
            </a:solidFill>
            <a:prstDash val="solid"/>
          </a:ln>
        </p:spPr>
        <p:txBody>
          <a:bodyPr/>
          <a:lstStyle/>
          <a:p>
            <a:endParaRPr lang="ko-KR" altLang="en-US"/>
          </a:p>
        </p:txBody>
      </p:sp>
      <p:sp>
        <p:nvSpPr>
          <p:cNvPr id="50" name="Shape 24">
            <a:extLst>
              <a:ext uri="{FF2B5EF4-FFF2-40B4-BE49-F238E27FC236}">
                <a16:creationId xmlns:a16="http://schemas.microsoft.com/office/drawing/2014/main" id="{69CFB816-620A-F7AA-8E7B-806F08D0B7B1}"/>
              </a:ext>
            </a:extLst>
          </p:cNvPr>
          <p:cNvSpPr/>
          <p:nvPr/>
        </p:nvSpPr>
        <p:spPr>
          <a:xfrm>
            <a:off x="731520" y="4672584"/>
            <a:ext cx="5175504" cy="786384"/>
          </a:xfrm>
          <a:prstGeom prst="rect">
            <a:avLst/>
          </a:prstGeom>
          <a:solidFill>
            <a:srgbClr val="F2F4F8"/>
          </a:solidFill>
          <a:ln w="12700">
            <a:solidFill>
              <a:srgbClr val="F2F4F8"/>
            </a:solidFill>
            <a:prstDash val="solid"/>
          </a:ln>
        </p:spPr>
        <p:txBody>
          <a:bodyPr/>
          <a:lstStyle/>
          <a:p>
            <a:endParaRPr lang="ko-KR" altLang="en-US"/>
          </a:p>
        </p:txBody>
      </p:sp>
      <p:sp>
        <p:nvSpPr>
          <p:cNvPr id="52" name="Text 25">
            <a:extLst>
              <a:ext uri="{FF2B5EF4-FFF2-40B4-BE49-F238E27FC236}">
                <a16:creationId xmlns:a16="http://schemas.microsoft.com/office/drawing/2014/main" id="{5175EE07-DE12-0A5F-F4F9-5CF57EC270E9}"/>
              </a:ext>
            </a:extLst>
          </p:cNvPr>
          <p:cNvSpPr/>
          <p:nvPr/>
        </p:nvSpPr>
        <p:spPr>
          <a:xfrm>
            <a:off x="969264" y="4764024"/>
            <a:ext cx="4700016" cy="274320"/>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기존 서비스  259명</a:t>
            </a:r>
            <a:endParaRPr lang="en-US" sz="1300" dirty="0"/>
          </a:p>
        </p:txBody>
      </p:sp>
      <p:sp>
        <p:nvSpPr>
          <p:cNvPr id="54" name="Text 26">
            <a:extLst>
              <a:ext uri="{FF2B5EF4-FFF2-40B4-BE49-F238E27FC236}">
                <a16:creationId xmlns:a16="http://schemas.microsoft.com/office/drawing/2014/main" id="{896A4404-E5A9-95E4-5DDE-633E765673E8}"/>
              </a:ext>
            </a:extLst>
          </p:cNvPr>
          <p:cNvSpPr/>
          <p:nvPr/>
        </p:nvSpPr>
        <p:spPr>
          <a:xfrm>
            <a:off x="969264" y="5038344"/>
            <a:ext cx="4700016" cy="347472"/>
          </a:xfrm>
          <a:prstGeom prst="rect">
            <a:avLst/>
          </a:prstGeom>
          <a:noFill/>
          <a:ln/>
        </p:spPr>
        <p:txBody>
          <a:bodyPr wrap="square" lIns="0" tIns="0" rIns="0" bIns="0" rtlCol="0" anchor="t"/>
          <a:lstStyle/>
          <a:p>
            <a:pPr marL="0" indent="0">
              <a:lnSpc>
                <a:spcPts val="1700"/>
              </a:lnSpc>
              <a:buNone/>
            </a:pPr>
            <a:r>
              <a:rPr lang="en-US" sz="1150" dirty="0">
                <a:solidFill>
                  <a:srgbClr val="222633"/>
                </a:solidFill>
                <a:latin typeface="Pretendard" pitchFamily="34" charset="0"/>
                <a:ea typeface="Pretendard" pitchFamily="34" charset="-122"/>
                <a:cs typeface="Pretendard" pitchFamily="34" charset="-120"/>
              </a:rPr>
              <a:t>기관이 평소 제공하던 교육 · 상담 · 물질사용 지원을 받았다</a:t>
            </a:r>
            <a:endParaRPr lang="en-US" sz="1150" dirty="0"/>
          </a:p>
        </p:txBody>
      </p:sp>
      <p:sp>
        <p:nvSpPr>
          <p:cNvPr id="56" name="Shape 27">
            <a:extLst>
              <a:ext uri="{FF2B5EF4-FFF2-40B4-BE49-F238E27FC236}">
                <a16:creationId xmlns:a16="http://schemas.microsoft.com/office/drawing/2014/main" id="{B50E6FC9-8BD9-16CE-8E63-D99DAF3850E1}"/>
              </a:ext>
            </a:extLst>
          </p:cNvPr>
          <p:cNvSpPr/>
          <p:nvPr/>
        </p:nvSpPr>
        <p:spPr>
          <a:xfrm>
            <a:off x="6281928" y="4672584"/>
            <a:ext cx="5175504" cy="786384"/>
          </a:xfrm>
          <a:prstGeom prst="rect">
            <a:avLst/>
          </a:prstGeom>
          <a:solidFill>
            <a:srgbClr val="1E2761"/>
          </a:solidFill>
          <a:ln w="12700">
            <a:solidFill>
              <a:srgbClr val="1E2761"/>
            </a:solidFill>
            <a:prstDash val="solid"/>
          </a:ln>
        </p:spPr>
        <p:txBody>
          <a:bodyPr/>
          <a:lstStyle/>
          <a:p>
            <a:endParaRPr lang="ko-KR" altLang="en-US"/>
          </a:p>
        </p:txBody>
      </p:sp>
      <p:sp>
        <p:nvSpPr>
          <p:cNvPr id="58" name="Text 28">
            <a:extLst>
              <a:ext uri="{FF2B5EF4-FFF2-40B4-BE49-F238E27FC236}">
                <a16:creationId xmlns:a16="http://schemas.microsoft.com/office/drawing/2014/main" id="{3339097D-1FB7-B7DC-358B-29719F870E40}"/>
              </a:ext>
            </a:extLst>
          </p:cNvPr>
          <p:cNvSpPr/>
          <p:nvPr/>
        </p:nvSpPr>
        <p:spPr>
          <a:xfrm>
            <a:off x="6519672" y="4764024"/>
            <a:ext cx="4700016" cy="274320"/>
          </a:xfrm>
          <a:prstGeom prst="rect">
            <a:avLst/>
          </a:prstGeom>
          <a:noFill/>
          <a:ln/>
        </p:spPr>
        <p:txBody>
          <a:bodyPr wrap="square" lIns="0" tIns="0" rIns="0" bIns="0" rtlCol="0" anchor="ctr"/>
          <a:lstStyle/>
          <a:p>
            <a:pPr marL="0" indent="0">
              <a:buNone/>
            </a:pPr>
            <a:r>
              <a:rPr lang="en-US" sz="1300" b="1" dirty="0">
                <a:solidFill>
                  <a:srgbClr val="FFFFFF"/>
                </a:solidFill>
                <a:latin typeface="Pretendard" pitchFamily="34" charset="0"/>
                <a:ea typeface="Pretendard" pitchFamily="34" charset="-122"/>
                <a:cs typeface="Pretendard" pitchFamily="34" charset="-120"/>
              </a:rPr>
              <a:t>기존 </a:t>
            </a:r>
            <a:r>
              <a:rPr lang="en-US" sz="1300" b="1" dirty="0" err="1">
                <a:solidFill>
                  <a:srgbClr val="FFFFFF"/>
                </a:solidFill>
                <a:latin typeface="Pretendard" pitchFamily="34" charset="0"/>
                <a:ea typeface="Pretendard" pitchFamily="34" charset="-122"/>
                <a:cs typeface="Pretendard" pitchFamily="34" charset="-120"/>
              </a:rPr>
              <a:t>서비스</a:t>
            </a:r>
            <a:r>
              <a:rPr lang="en-US" sz="1300" b="1" dirty="0">
                <a:solidFill>
                  <a:srgbClr val="FFFFFF"/>
                </a:solidFill>
                <a:latin typeface="Pretendard" pitchFamily="34" charset="0"/>
                <a:ea typeface="Pretendard" pitchFamily="34" charset="-122"/>
                <a:cs typeface="Pretendard" pitchFamily="34" charset="-120"/>
              </a:rPr>
              <a:t> +(</a:t>
            </a:r>
            <a:r>
              <a:rPr lang="ko-KR" altLang="en-US" sz="1300" b="1" dirty="0">
                <a:solidFill>
                  <a:srgbClr val="FFFFFF"/>
                </a:solidFill>
                <a:latin typeface="Pretendard" pitchFamily="34" charset="0"/>
                <a:ea typeface="Pretendard" pitchFamily="34" charset="-122"/>
                <a:cs typeface="Pretendard" pitchFamily="34" charset="-120"/>
              </a:rPr>
              <a:t>추가</a:t>
            </a:r>
            <a:r>
              <a:rPr lang="en-US" altLang="ko-KR" sz="1300" b="1">
                <a:solidFill>
                  <a:srgbClr val="FFFFFF"/>
                </a:solidFill>
                <a:latin typeface="Pretendard" pitchFamily="34" charset="0"/>
                <a:ea typeface="Pretendard" pitchFamily="34" charset="-122"/>
                <a:cs typeface="Pretendard" pitchFamily="34" charset="-120"/>
              </a:rPr>
              <a:t>)</a:t>
            </a:r>
            <a:r>
              <a:rPr lang="en-US" sz="1300" b="1">
                <a:solidFill>
                  <a:srgbClr val="FFFFFF"/>
                </a:solidFill>
                <a:latin typeface="Pretendard" pitchFamily="34" charset="0"/>
                <a:ea typeface="Pretendard" pitchFamily="34" charset="-122"/>
                <a:cs typeface="Pretendard" pitchFamily="34" charset="-120"/>
              </a:rPr>
              <a:t> </a:t>
            </a:r>
            <a:r>
              <a:rPr lang="en-US" sz="1300" b="1" dirty="0">
                <a:solidFill>
                  <a:srgbClr val="FFFFFF"/>
                </a:solidFill>
                <a:latin typeface="Pretendard" pitchFamily="34" charset="0"/>
                <a:ea typeface="Pretendard" pitchFamily="34" charset="-122"/>
                <a:cs typeface="Pretendard" pitchFamily="34" charset="-120"/>
              </a:rPr>
              <a:t>RISKIT-CJS  246명</a:t>
            </a:r>
            <a:endParaRPr lang="en-US" sz="1300" dirty="0"/>
          </a:p>
        </p:txBody>
      </p:sp>
      <p:sp>
        <p:nvSpPr>
          <p:cNvPr id="60" name="Text 29">
            <a:extLst>
              <a:ext uri="{FF2B5EF4-FFF2-40B4-BE49-F238E27FC236}">
                <a16:creationId xmlns:a16="http://schemas.microsoft.com/office/drawing/2014/main" id="{EED363F9-C873-DCEB-CA78-E72C9A199644}"/>
              </a:ext>
            </a:extLst>
          </p:cNvPr>
          <p:cNvSpPr/>
          <p:nvPr/>
        </p:nvSpPr>
        <p:spPr>
          <a:xfrm>
            <a:off x="6519672" y="5038344"/>
            <a:ext cx="4700016" cy="347472"/>
          </a:xfrm>
          <a:prstGeom prst="rect">
            <a:avLst/>
          </a:prstGeom>
          <a:noFill/>
          <a:ln/>
        </p:spPr>
        <p:txBody>
          <a:bodyPr wrap="square" lIns="0" tIns="0" rIns="0" bIns="0" rtlCol="0" anchor="t"/>
          <a:lstStyle/>
          <a:p>
            <a:pPr marL="0" indent="0">
              <a:lnSpc>
                <a:spcPts val="1700"/>
              </a:lnSpc>
              <a:buNone/>
            </a:pPr>
            <a:r>
              <a:rPr lang="en-US" sz="1150" dirty="0">
                <a:solidFill>
                  <a:srgbClr val="C9D2E6"/>
                </a:solidFill>
                <a:latin typeface="Pretendard" pitchFamily="34" charset="0"/>
                <a:ea typeface="Pretendard" pitchFamily="34" charset="-122"/>
                <a:cs typeface="Pretendard" pitchFamily="34" charset="-120"/>
              </a:rPr>
              <a:t>같은 기존 서비스에 네 요소의 면담 · 집단훈련을 추가했다</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521208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5. 치료·재활의 실행 조건</a:t>
            </a:r>
            <a:endParaRPr lang="en-US" sz="1250" dirty="0"/>
          </a:p>
        </p:txBody>
      </p:sp>
      <p:sp>
        <p:nvSpPr>
          <p:cNvPr id="3" name="Text 1"/>
          <p:cNvSpPr/>
          <p:nvPr/>
        </p:nvSpPr>
        <p:spPr>
          <a:xfrm>
            <a:off x="6035040" y="384048"/>
            <a:ext cx="5422392" cy="256032"/>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치료 필요와 감독 필요에 따른 선정</a:t>
            </a:r>
            <a:endParaRPr lang="en-US" sz="1050" dirty="0"/>
          </a:p>
        </p:txBody>
      </p:sp>
      <p:sp>
        <p:nvSpPr>
          <p:cNvPr id="4" name="Text 2"/>
          <p:cNvSpPr/>
          <p:nvPr/>
        </p:nvSpPr>
        <p:spPr>
          <a:xfrm>
            <a:off x="731520" y="640080"/>
            <a:ext cx="10725912" cy="640080"/>
          </a:xfrm>
          <a:prstGeom prst="rect">
            <a:avLst/>
          </a:prstGeom>
          <a:noFill/>
          <a:ln/>
        </p:spPr>
        <p:txBody>
          <a:bodyPr wrap="square" lIns="0" tIns="0" rIns="0" bIns="0" rtlCol="0" anchor="ctr"/>
          <a:lstStyle/>
          <a:p>
            <a:pPr marL="0" indent="0">
              <a:buNone/>
            </a:pPr>
            <a:r>
              <a:rPr lang="en-US" sz="2750" b="1" dirty="0">
                <a:solidFill>
                  <a:srgbClr val="1E2761"/>
                </a:solidFill>
                <a:latin typeface="Pretendard" pitchFamily="34" charset="0"/>
                <a:ea typeface="Pretendard" pitchFamily="34" charset="-122"/>
                <a:cs typeface="Pretendard" pitchFamily="34" charset="-120"/>
              </a:rPr>
              <a:t>RISKIT-CJS — 전체 완수는 19.1%, 추가효과는 확인되지 않았다</a:t>
            </a:r>
            <a:endParaRPr lang="en-US" sz="2750" dirty="0"/>
          </a:p>
        </p:txBody>
      </p:sp>
      <p:sp>
        <p:nvSpPr>
          <p:cNvPr id="5" name="Shape 3"/>
          <p:cNvSpPr/>
          <p:nvPr/>
        </p:nvSpPr>
        <p:spPr>
          <a:xfrm>
            <a:off x="731520" y="1316736"/>
            <a:ext cx="10725912"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417320"/>
            <a:ext cx="10725912" cy="548640"/>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1005840" y="1417320"/>
            <a:ext cx="10149840" cy="548640"/>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프로그램의 내용을 정한 뒤에는 실제 참여 · 완수와 기존 서비스보다 나은 결과가 나타나는지를 함께 확인해야 한다</a:t>
            </a:r>
            <a:endParaRPr lang="en-US" sz="1300" dirty="0"/>
          </a:p>
        </p:txBody>
      </p:sp>
      <p:sp>
        <p:nvSpPr>
          <p:cNvPr id="8" name="Text 6"/>
          <p:cNvSpPr/>
          <p:nvPr/>
        </p:nvSpPr>
        <p:spPr>
          <a:xfrm>
            <a:off x="731520" y="2103120"/>
            <a:ext cx="10725912" cy="256032"/>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집계 </a:t>
            </a:r>
            <a:r>
              <a:rPr lang="en-US" sz="1150" b="1" dirty="0" err="1">
                <a:solidFill>
                  <a:srgbClr val="A8871C"/>
                </a:solidFill>
                <a:latin typeface="Pretendard" pitchFamily="34" charset="0"/>
                <a:ea typeface="Pretendard" pitchFamily="34" charset="-122"/>
                <a:cs typeface="Pretendard" pitchFamily="34" charset="-120"/>
              </a:rPr>
              <a:t>기준</a:t>
            </a:r>
            <a:r>
              <a:rPr lang="en-US" sz="1150" b="1" dirty="0">
                <a:solidFill>
                  <a:srgbClr val="A8871C"/>
                </a:solidFill>
                <a:latin typeface="Pretendard" pitchFamily="34" charset="0"/>
                <a:ea typeface="Pretendard" pitchFamily="34" charset="-122"/>
                <a:cs typeface="Pretendard" pitchFamily="34" charset="-120"/>
              </a:rPr>
              <a:t>   </a:t>
            </a:r>
            <a:r>
              <a:rPr lang="en-US" sz="1150" dirty="0" err="1">
                <a:solidFill>
                  <a:srgbClr val="222633"/>
                </a:solidFill>
                <a:latin typeface="Pretendard" pitchFamily="34" charset="0"/>
                <a:ea typeface="Pretendard" pitchFamily="34" charset="-122"/>
                <a:cs typeface="Pretendard" pitchFamily="34" charset="-120"/>
              </a:rPr>
              <a:t>참여</a:t>
            </a:r>
            <a:r>
              <a:rPr lang="en-US" sz="1150" dirty="0">
                <a:solidFill>
                  <a:srgbClr val="222633"/>
                </a:solidFill>
                <a:latin typeface="Pretendard" pitchFamily="34" charset="0"/>
                <a:ea typeface="Pretendard" pitchFamily="34" charset="-122"/>
                <a:cs typeface="Pretendard" pitchFamily="34" charset="-120"/>
              </a:rPr>
              <a:t>: 해당 요소에 실제 참석  ·  전체 완수: 네 요소를 모두 마침  ·  분모는 모두 246명</a:t>
            </a:r>
            <a:endParaRPr lang="en-US" sz="1150" dirty="0"/>
          </a:p>
        </p:txBody>
      </p:sp>
      <p:sp>
        <p:nvSpPr>
          <p:cNvPr id="9" name="Text 7"/>
          <p:cNvSpPr/>
          <p:nvPr/>
        </p:nvSpPr>
        <p:spPr>
          <a:xfrm>
            <a:off x="731520" y="2505456"/>
            <a:ext cx="2926080" cy="384048"/>
          </a:xfrm>
          <a:prstGeom prst="rect">
            <a:avLst/>
          </a:prstGeom>
          <a:noFill/>
          <a:ln/>
        </p:spPr>
        <p:txBody>
          <a:bodyPr wrap="square" lIns="0" tIns="0" rIns="0" bIns="0" rtlCol="0" anchor="ctr"/>
          <a:lstStyle/>
          <a:p>
            <a:pPr marL="0" indent="0">
              <a:buNone/>
            </a:pPr>
            <a:r>
              <a:rPr lang="en-US" sz="1250" dirty="0">
                <a:solidFill>
                  <a:srgbClr val="222633"/>
                </a:solidFill>
                <a:latin typeface="Pretendard" pitchFamily="34" charset="0"/>
                <a:ea typeface="Pretendard" pitchFamily="34" charset="-122"/>
                <a:cs typeface="Pretendard" pitchFamily="34" charset="-120"/>
              </a:rPr>
              <a:t>첫 개별면담 참여</a:t>
            </a:r>
            <a:endParaRPr lang="en-US" sz="1250" dirty="0"/>
          </a:p>
        </p:txBody>
      </p:sp>
      <p:sp>
        <p:nvSpPr>
          <p:cNvPr id="10" name="Shape 8"/>
          <p:cNvSpPr/>
          <p:nvPr/>
        </p:nvSpPr>
        <p:spPr>
          <a:xfrm>
            <a:off x="3749040" y="2578608"/>
            <a:ext cx="5239512" cy="237744"/>
          </a:xfrm>
          <a:prstGeom prst="rect">
            <a:avLst/>
          </a:prstGeom>
          <a:solidFill>
            <a:srgbClr val="DCE0E8"/>
          </a:solidFill>
          <a:ln w="12700">
            <a:solidFill>
              <a:srgbClr val="DCE0E8"/>
            </a:solidFill>
            <a:prstDash val="solid"/>
          </a:ln>
        </p:spPr>
        <p:txBody>
          <a:bodyPr/>
          <a:lstStyle/>
          <a:p>
            <a:endParaRPr lang="ko-KR" altLang="en-US"/>
          </a:p>
        </p:txBody>
      </p:sp>
      <p:sp>
        <p:nvSpPr>
          <p:cNvPr id="11" name="Shape 9"/>
          <p:cNvSpPr/>
          <p:nvPr/>
        </p:nvSpPr>
        <p:spPr>
          <a:xfrm>
            <a:off x="3749040" y="2578608"/>
            <a:ext cx="4558375" cy="237744"/>
          </a:xfrm>
          <a:prstGeom prst="rect">
            <a:avLst/>
          </a:prstGeom>
          <a:solidFill>
            <a:srgbClr val="1E2761"/>
          </a:solidFill>
          <a:ln w="12700">
            <a:solidFill>
              <a:srgbClr val="1E2761"/>
            </a:solidFill>
            <a:prstDash val="solid"/>
          </a:ln>
        </p:spPr>
        <p:txBody>
          <a:bodyPr/>
          <a:lstStyle/>
          <a:p>
            <a:endParaRPr lang="ko-KR" altLang="en-US"/>
          </a:p>
        </p:txBody>
      </p:sp>
      <p:sp>
        <p:nvSpPr>
          <p:cNvPr id="12" name="Text 10"/>
          <p:cNvSpPr/>
          <p:nvPr/>
        </p:nvSpPr>
        <p:spPr>
          <a:xfrm>
            <a:off x="9134856" y="2505456"/>
            <a:ext cx="2286000" cy="384048"/>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214/246명  ·  87.0%</a:t>
            </a:r>
            <a:endParaRPr lang="en-US" sz="1250" dirty="0"/>
          </a:p>
        </p:txBody>
      </p:sp>
      <p:sp>
        <p:nvSpPr>
          <p:cNvPr id="13" name="Text 11"/>
          <p:cNvSpPr/>
          <p:nvPr/>
        </p:nvSpPr>
        <p:spPr>
          <a:xfrm>
            <a:off x="731520" y="3035808"/>
            <a:ext cx="2926080" cy="384048"/>
          </a:xfrm>
          <a:prstGeom prst="rect">
            <a:avLst/>
          </a:prstGeom>
          <a:noFill/>
          <a:ln/>
        </p:spPr>
        <p:txBody>
          <a:bodyPr wrap="square" lIns="0" tIns="0" rIns="0" bIns="0" rtlCol="0" anchor="ctr"/>
          <a:lstStyle/>
          <a:p>
            <a:pPr marL="0" indent="0">
              <a:buNone/>
            </a:pPr>
            <a:r>
              <a:rPr lang="en-US" sz="1250" dirty="0">
                <a:solidFill>
                  <a:srgbClr val="222633"/>
                </a:solidFill>
                <a:latin typeface="Pretendard" pitchFamily="34" charset="0"/>
                <a:ea typeface="Pretendard" pitchFamily="34" charset="-122"/>
                <a:cs typeface="Pretendard" pitchFamily="34" charset="-120"/>
              </a:rPr>
              <a:t>첫 집단훈련 참여</a:t>
            </a:r>
            <a:endParaRPr lang="en-US" sz="1250" dirty="0"/>
          </a:p>
        </p:txBody>
      </p:sp>
      <p:sp>
        <p:nvSpPr>
          <p:cNvPr id="14" name="Shape 12"/>
          <p:cNvSpPr/>
          <p:nvPr/>
        </p:nvSpPr>
        <p:spPr>
          <a:xfrm>
            <a:off x="3749040" y="3108960"/>
            <a:ext cx="5239512" cy="237744"/>
          </a:xfrm>
          <a:prstGeom prst="rect">
            <a:avLst/>
          </a:prstGeom>
          <a:solidFill>
            <a:srgbClr val="DCE0E8"/>
          </a:solidFill>
          <a:ln w="12700">
            <a:solidFill>
              <a:srgbClr val="DCE0E8"/>
            </a:solidFill>
            <a:prstDash val="solid"/>
          </a:ln>
        </p:spPr>
        <p:txBody>
          <a:bodyPr/>
          <a:lstStyle/>
          <a:p>
            <a:endParaRPr lang="ko-KR" altLang="en-US"/>
          </a:p>
        </p:txBody>
      </p:sp>
      <p:sp>
        <p:nvSpPr>
          <p:cNvPr id="15" name="Shape 13"/>
          <p:cNvSpPr/>
          <p:nvPr/>
        </p:nvSpPr>
        <p:spPr>
          <a:xfrm>
            <a:off x="3749040" y="3108960"/>
            <a:ext cx="2085326" cy="237744"/>
          </a:xfrm>
          <a:prstGeom prst="rect">
            <a:avLst/>
          </a:prstGeom>
          <a:solidFill>
            <a:srgbClr val="1E2761"/>
          </a:solidFill>
          <a:ln w="12700">
            <a:solidFill>
              <a:srgbClr val="1E2761"/>
            </a:solidFill>
            <a:prstDash val="solid"/>
          </a:ln>
        </p:spPr>
        <p:txBody>
          <a:bodyPr/>
          <a:lstStyle/>
          <a:p>
            <a:endParaRPr lang="ko-KR" altLang="en-US"/>
          </a:p>
        </p:txBody>
      </p:sp>
      <p:sp>
        <p:nvSpPr>
          <p:cNvPr id="16" name="Text 14"/>
          <p:cNvSpPr/>
          <p:nvPr/>
        </p:nvSpPr>
        <p:spPr>
          <a:xfrm>
            <a:off x="9134856" y="3035808"/>
            <a:ext cx="2286000" cy="384048"/>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98/246명  ·  39.8%</a:t>
            </a:r>
            <a:endParaRPr lang="en-US" sz="1250" dirty="0"/>
          </a:p>
        </p:txBody>
      </p:sp>
      <p:sp>
        <p:nvSpPr>
          <p:cNvPr id="17" name="Text 15"/>
          <p:cNvSpPr/>
          <p:nvPr/>
        </p:nvSpPr>
        <p:spPr>
          <a:xfrm>
            <a:off x="731520" y="3566160"/>
            <a:ext cx="2926080" cy="384048"/>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네 요소 전체 완수</a:t>
            </a:r>
            <a:endParaRPr lang="en-US" sz="1250" dirty="0"/>
          </a:p>
        </p:txBody>
      </p:sp>
      <p:sp>
        <p:nvSpPr>
          <p:cNvPr id="18" name="Shape 16"/>
          <p:cNvSpPr/>
          <p:nvPr/>
        </p:nvSpPr>
        <p:spPr>
          <a:xfrm>
            <a:off x="3749040" y="3639312"/>
            <a:ext cx="5239512" cy="237744"/>
          </a:xfrm>
          <a:prstGeom prst="rect">
            <a:avLst/>
          </a:prstGeom>
          <a:solidFill>
            <a:srgbClr val="DCE0E8"/>
          </a:solidFill>
          <a:ln w="12700">
            <a:solidFill>
              <a:srgbClr val="DCE0E8"/>
            </a:solidFill>
            <a:prstDash val="solid"/>
          </a:ln>
        </p:spPr>
        <p:txBody>
          <a:bodyPr/>
          <a:lstStyle/>
          <a:p>
            <a:endParaRPr lang="ko-KR" altLang="en-US"/>
          </a:p>
        </p:txBody>
      </p:sp>
      <p:sp>
        <p:nvSpPr>
          <p:cNvPr id="19" name="Shape 17"/>
          <p:cNvSpPr/>
          <p:nvPr/>
        </p:nvSpPr>
        <p:spPr>
          <a:xfrm>
            <a:off x="3749040" y="3639312"/>
            <a:ext cx="1000747" cy="237744"/>
          </a:xfrm>
          <a:prstGeom prst="rect">
            <a:avLst/>
          </a:prstGeom>
          <a:solidFill>
            <a:srgbClr val="C2A648"/>
          </a:solidFill>
          <a:ln w="12700">
            <a:solidFill>
              <a:srgbClr val="C2A648"/>
            </a:solidFill>
            <a:prstDash val="solid"/>
          </a:ln>
        </p:spPr>
        <p:txBody>
          <a:bodyPr/>
          <a:lstStyle/>
          <a:p>
            <a:endParaRPr lang="ko-KR" altLang="en-US"/>
          </a:p>
        </p:txBody>
      </p:sp>
      <p:sp>
        <p:nvSpPr>
          <p:cNvPr id="20" name="Text 18"/>
          <p:cNvSpPr/>
          <p:nvPr/>
        </p:nvSpPr>
        <p:spPr>
          <a:xfrm>
            <a:off x="9134856" y="3566160"/>
            <a:ext cx="2286000" cy="384048"/>
          </a:xfrm>
          <a:prstGeom prst="rect">
            <a:avLst/>
          </a:prstGeom>
          <a:noFill/>
          <a:ln/>
        </p:spPr>
        <p:txBody>
          <a:bodyPr wrap="square" lIns="0" tIns="0" rIns="0" bIns="0" rtlCol="0" anchor="ctr"/>
          <a:lstStyle/>
          <a:p>
            <a:pPr marL="0" indent="0">
              <a:buNone/>
            </a:pPr>
            <a:r>
              <a:rPr lang="en-US" sz="1600" b="1" dirty="0">
                <a:solidFill>
                  <a:srgbClr val="FF0000"/>
                </a:solidFill>
                <a:latin typeface="Pretendard" pitchFamily="34" charset="0"/>
                <a:ea typeface="Pretendard" pitchFamily="34" charset="-122"/>
                <a:cs typeface="Pretendard" pitchFamily="34" charset="-120"/>
              </a:rPr>
              <a:t>47/246명  ·  19.1%</a:t>
            </a:r>
            <a:endParaRPr lang="en-US" sz="1600" dirty="0">
              <a:solidFill>
                <a:srgbClr val="FF0000"/>
              </a:solidFill>
            </a:endParaRPr>
          </a:p>
        </p:txBody>
      </p:sp>
      <p:sp>
        <p:nvSpPr>
          <p:cNvPr id="29" name="Text 27"/>
          <p:cNvSpPr/>
          <p:nvPr/>
        </p:nvSpPr>
        <p:spPr>
          <a:xfrm>
            <a:off x="731520" y="5650992"/>
            <a:ext cx="10725912" cy="493776"/>
          </a:xfrm>
          <a:prstGeom prst="rect">
            <a:avLst/>
          </a:prstGeom>
          <a:solidFill>
            <a:schemeClr val="accent1">
              <a:lumMod val="20000"/>
              <a:lumOff val="80000"/>
            </a:schemeClr>
          </a:solidFill>
          <a:ln/>
        </p:spPr>
        <p:txBody>
          <a:bodyPr wrap="square" lIns="0" tIns="0" rIns="0" bIns="0" rtlCol="0" anchor="ctr"/>
          <a:lstStyle/>
          <a:p>
            <a:pPr algn="ctr"/>
            <a:r>
              <a:rPr lang="ko-KR" altLang="en-US" sz="1250" b="1" dirty="0">
                <a:solidFill>
                  <a:srgbClr val="1E2761"/>
                </a:solidFill>
                <a:latin typeface="Pretendard" pitchFamily="34" charset="0"/>
                <a:ea typeface="Pretendard" pitchFamily="34" charset="-122"/>
                <a:cs typeface="Pretendard" pitchFamily="34" charset="-120"/>
              </a:rPr>
              <a:t>국내에서도 참여율 </a:t>
            </a:r>
            <a:r>
              <a:rPr lang="en-US" altLang="ko-KR" sz="1250" b="1" dirty="0">
                <a:solidFill>
                  <a:srgbClr val="1E2761"/>
                </a:solidFill>
                <a:latin typeface="Pretendard" pitchFamily="34" charset="0"/>
                <a:ea typeface="Pretendard" pitchFamily="34" charset="-122"/>
                <a:cs typeface="Pretendard" pitchFamily="34" charset="-120"/>
              </a:rPr>
              <a:t>· </a:t>
            </a:r>
            <a:r>
              <a:rPr lang="ko-KR" altLang="en-US" sz="1250" b="1" dirty="0">
                <a:solidFill>
                  <a:srgbClr val="1E2761"/>
                </a:solidFill>
                <a:latin typeface="Pretendard" pitchFamily="34" charset="0"/>
                <a:ea typeface="Pretendard" pitchFamily="34" charset="-122"/>
                <a:cs typeface="Pretendard" pitchFamily="34" charset="-120"/>
              </a:rPr>
              <a:t>완료율과 물질사용의 변화를 각각 확인해야 프로그램의 실행과 효과를 함께 판단할 수 있다</a:t>
            </a:r>
          </a:p>
        </p:txBody>
      </p:sp>
      <p:sp>
        <p:nvSpPr>
          <p:cNvPr id="30" name="Shape 28"/>
          <p:cNvSpPr/>
          <p:nvPr/>
        </p:nvSpPr>
        <p:spPr>
          <a:xfrm>
            <a:off x="731520" y="6144768"/>
            <a:ext cx="10725912" cy="0"/>
          </a:xfrm>
          <a:prstGeom prst="line">
            <a:avLst/>
          </a:prstGeom>
          <a:noFill/>
          <a:ln w="12700">
            <a:solidFill>
              <a:srgbClr val="DCE0E8"/>
            </a:solidFill>
            <a:prstDash val="solid"/>
          </a:ln>
        </p:spPr>
        <p:txBody>
          <a:bodyPr/>
          <a:lstStyle/>
          <a:p>
            <a:endParaRPr lang="ko-KR" altLang="en-US"/>
          </a:p>
        </p:txBody>
      </p:sp>
      <p:sp>
        <p:nvSpPr>
          <p:cNvPr id="33" name="Shape 19">
            <a:extLst>
              <a:ext uri="{FF2B5EF4-FFF2-40B4-BE49-F238E27FC236}">
                <a16:creationId xmlns:a16="http://schemas.microsoft.com/office/drawing/2014/main" id="{F437A36E-4103-9906-C387-FB91A19F1F0F}"/>
              </a:ext>
            </a:extLst>
          </p:cNvPr>
          <p:cNvSpPr/>
          <p:nvPr/>
        </p:nvSpPr>
        <p:spPr>
          <a:xfrm>
            <a:off x="731520" y="4041648"/>
            <a:ext cx="10725912" cy="0"/>
          </a:xfrm>
          <a:prstGeom prst="line">
            <a:avLst/>
          </a:prstGeom>
          <a:noFill/>
          <a:ln w="12700">
            <a:solidFill>
              <a:srgbClr val="DCE0E8"/>
            </a:solidFill>
            <a:prstDash val="solid"/>
          </a:ln>
        </p:spPr>
        <p:txBody>
          <a:bodyPr/>
          <a:lstStyle/>
          <a:p>
            <a:endParaRPr lang="ko-KR" altLang="en-US"/>
          </a:p>
        </p:txBody>
      </p:sp>
      <p:sp>
        <p:nvSpPr>
          <p:cNvPr id="35" name="Text 20">
            <a:extLst>
              <a:ext uri="{FF2B5EF4-FFF2-40B4-BE49-F238E27FC236}">
                <a16:creationId xmlns:a16="http://schemas.microsoft.com/office/drawing/2014/main" id="{5B140570-2963-F9BF-EA79-B6D8EAB5CDDC}"/>
              </a:ext>
            </a:extLst>
          </p:cNvPr>
          <p:cNvSpPr/>
          <p:nvPr/>
        </p:nvSpPr>
        <p:spPr>
          <a:xfrm>
            <a:off x="731520" y="4133088"/>
            <a:ext cx="10725912" cy="237744"/>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12개월 결과   </a:t>
            </a:r>
            <a:r>
              <a:rPr lang="en-US" sz="1150" dirty="0">
                <a:solidFill>
                  <a:srgbClr val="222633"/>
                </a:solidFill>
                <a:latin typeface="Pretendard" pitchFamily="34" charset="0"/>
                <a:ea typeface="Pretendard" pitchFamily="34" charset="-122"/>
                <a:cs typeface="Pretendard" pitchFamily="34" charset="-120"/>
              </a:rPr>
              <a:t>지난 28일 중 알코올 · 기타 물질을 사용하지 않은 날의 비율, 집단별 중앙값</a:t>
            </a:r>
            <a:endParaRPr lang="en-US" sz="1150" dirty="0"/>
          </a:p>
        </p:txBody>
      </p:sp>
      <p:sp>
        <p:nvSpPr>
          <p:cNvPr id="37" name="Shape 21">
            <a:extLst>
              <a:ext uri="{FF2B5EF4-FFF2-40B4-BE49-F238E27FC236}">
                <a16:creationId xmlns:a16="http://schemas.microsoft.com/office/drawing/2014/main" id="{FFFC94A5-0AF1-AF34-A38E-FC3BB9F24920}"/>
              </a:ext>
            </a:extLst>
          </p:cNvPr>
          <p:cNvSpPr/>
          <p:nvPr/>
        </p:nvSpPr>
        <p:spPr>
          <a:xfrm>
            <a:off x="731520" y="4425696"/>
            <a:ext cx="5175504" cy="566928"/>
          </a:xfrm>
          <a:prstGeom prst="rect">
            <a:avLst/>
          </a:prstGeom>
          <a:solidFill>
            <a:srgbClr val="F2F4F8"/>
          </a:solidFill>
          <a:ln w="12700">
            <a:solidFill>
              <a:srgbClr val="F2F4F8"/>
            </a:solidFill>
            <a:prstDash val="solid"/>
          </a:ln>
        </p:spPr>
        <p:txBody>
          <a:bodyPr/>
          <a:lstStyle/>
          <a:p>
            <a:endParaRPr lang="ko-KR" altLang="en-US"/>
          </a:p>
        </p:txBody>
      </p:sp>
      <p:sp>
        <p:nvSpPr>
          <p:cNvPr id="39" name="Text 22">
            <a:extLst>
              <a:ext uri="{FF2B5EF4-FFF2-40B4-BE49-F238E27FC236}">
                <a16:creationId xmlns:a16="http://schemas.microsoft.com/office/drawing/2014/main" id="{1DAAA51E-EEFA-5907-B0FF-4FBAF95963B3}"/>
              </a:ext>
            </a:extLst>
          </p:cNvPr>
          <p:cNvSpPr/>
          <p:nvPr/>
        </p:nvSpPr>
        <p:spPr>
          <a:xfrm>
            <a:off x="969264" y="4425696"/>
            <a:ext cx="3529584" cy="566928"/>
          </a:xfrm>
          <a:prstGeom prst="rect">
            <a:avLst/>
          </a:prstGeom>
          <a:noFill/>
          <a:ln/>
        </p:spPr>
        <p:txBody>
          <a:bodyPr wrap="square" lIns="0" tIns="0" rIns="0" bIns="0" rtlCol="0" anchor="ctr"/>
          <a:lstStyle/>
          <a:p>
            <a:pPr marL="0" indent="0">
              <a:buNone/>
            </a:pPr>
            <a:r>
              <a:rPr lang="en-US" sz="1200" b="1" dirty="0">
                <a:solidFill>
                  <a:srgbClr val="222633"/>
                </a:solidFill>
                <a:latin typeface="Pretendard" pitchFamily="34" charset="0"/>
                <a:ea typeface="Pretendard" pitchFamily="34" charset="-122"/>
                <a:cs typeface="Pretendard" pitchFamily="34" charset="-120"/>
              </a:rPr>
              <a:t>기존 서비스 + 추가개입</a:t>
            </a:r>
            <a:endParaRPr lang="en-US" sz="1200" b="1" dirty="0"/>
          </a:p>
        </p:txBody>
      </p:sp>
      <p:sp>
        <p:nvSpPr>
          <p:cNvPr id="41" name="Text 23">
            <a:extLst>
              <a:ext uri="{FF2B5EF4-FFF2-40B4-BE49-F238E27FC236}">
                <a16:creationId xmlns:a16="http://schemas.microsoft.com/office/drawing/2014/main" id="{C4D0E566-C1BA-9DE1-B106-6651010ED4E8}"/>
              </a:ext>
            </a:extLst>
          </p:cNvPr>
          <p:cNvSpPr/>
          <p:nvPr/>
        </p:nvSpPr>
        <p:spPr>
          <a:xfrm>
            <a:off x="4443984" y="4425696"/>
            <a:ext cx="1225296" cy="566928"/>
          </a:xfrm>
          <a:prstGeom prst="rect">
            <a:avLst/>
          </a:prstGeom>
          <a:noFill/>
          <a:ln/>
        </p:spPr>
        <p:txBody>
          <a:bodyPr wrap="square" lIns="0" tIns="0" rIns="0" bIns="0" rtlCol="0" anchor="ctr"/>
          <a:lstStyle/>
          <a:p>
            <a:pPr marL="0" indent="0" algn="r">
              <a:buNone/>
            </a:pPr>
            <a:r>
              <a:rPr lang="en-US" b="1" dirty="0">
                <a:solidFill>
                  <a:srgbClr val="1E2761"/>
                </a:solidFill>
                <a:latin typeface="Pretendard" pitchFamily="34" charset="0"/>
                <a:ea typeface="Pretendard" pitchFamily="34" charset="-122"/>
                <a:cs typeface="Pretendard" pitchFamily="34" charset="-120"/>
              </a:rPr>
              <a:t>85.7%</a:t>
            </a:r>
            <a:endParaRPr lang="en-US" dirty="0"/>
          </a:p>
        </p:txBody>
      </p:sp>
      <p:sp>
        <p:nvSpPr>
          <p:cNvPr id="43" name="Shape 24">
            <a:extLst>
              <a:ext uri="{FF2B5EF4-FFF2-40B4-BE49-F238E27FC236}">
                <a16:creationId xmlns:a16="http://schemas.microsoft.com/office/drawing/2014/main" id="{15AC4C4B-B5C4-9EA1-35D7-B5E62CFE1940}"/>
              </a:ext>
            </a:extLst>
          </p:cNvPr>
          <p:cNvSpPr/>
          <p:nvPr/>
        </p:nvSpPr>
        <p:spPr>
          <a:xfrm>
            <a:off x="6281928" y="4425696"/>
            <a:ext cx="5175504" cy="566928"/>
          </a:xfrm>
          <a:prstGeom prst="rect">
            <a:avLst/>
          </a:prstGeom>
          <a:solidFill>
            <a:srgbClr val="FFFFFF"/>
          </a:solidFill>
          <a:ln w="12700">
            <a:solidFill>
              <a:srgbClr val="DCE0E8"/>
            </a:solidFill>
            <a:prstDash val="solid"/>
          </a:ln>
        </p:spPr>
        <p:txBody>
          <a:bodyPr/>
          <a:lstStyle/>
          <a:p>
            <a:endParaRPr lang="ko-KR" altLang="en-US"/>
          </a:p>
        </p:txBody>
      </p:sp>
      <p:sp>
        <p:nvSpPr>
          <p:cNvPr id="45" name="Text 25">
            <a:extLst>
              <a:ext uri="{FF2B5EF4-FFF2-40B4-BE49-F238E27FC236}">
                <a16:creationId xmlns:a16="http://schemas.microsoft.com/office/drawing/2014/main" id="{C7FEA633-98B8-8F56-C94A-BF48D0A525E0}"/>
              </a:ext>
            </a:extLst>
          </p:cNvPr>
          <p:cNvSpPr/>
          <p:nvPr/>
        </p:nvSpPr>
        <p:spPr>
          <a:xfrm>
            <a:off x="6519672" y="4425696"/>
            <a:ext cx="3529584" cy="566928"/>
          </a:xfrm>
          <a:prstGeom prst="rect">
            <a:avLst/>
          </a:prstGeom>
          <a:noFill/>
          <a:ln/>
        </p:spPr>
        <p:txBody>
          <a:bodyPr wrap="square" lIns="0" tIns="0" rIns="0" bIns="0" rtlCol="0" anchor="ctr"/>
          <a:lstStyle/>
          <a:p>
            <a:pPr marL="0" indent="0">
              <a:buNone/>
            </a:pPr>
            <a:r>
              <a:rPr lang="en-US" sz="1200" dirty="0">
                <a:solidFill>
                  <a:srgbClr val="222633"/>
                </a:solidFill>
                <a:latin typeface="Pretendard" pitchFamily="34" charset="0"/>
                <a:ea typeface="Pretendard" pitchFamily="34" charset="-122"/>
                <a:cs typeface="Pretendard" pitchFamily="34" charset="-120"/>
              </a:rPr>
              <a:t>기존 서비스</a:t>
            </a:r>
            <a:endParaRPr lang="en-US" sz="1200" dirty="0"/>
          </a:p>
        </p:txBody>
      </p:sp>
      <p:sp>
        <p:nvSpPr>
          <p:cNvPr id="47" name="Text 26">
            <a:extLst>
              <a:ext uri="{FF2B5EF4-FFF2-40B4-BE49-F238E27FC236}">
                <a16:creationId xmlns:a16="http://schemas.microsoft.com/office/drawing/2014/main" id="{2FA0D57D-B720-BA9C-2F4B-57EAFF5C3B32}"/>
              </a:ext>
            </a:extLst>
          </p:cNvPr>
          <p:cNvSpPr/>
          <p:nvPr/>
        </p:nvSpPr>
        <p:spPr>
          <a:xfrm>
            <a:off x="9994392" y="4425696"/>
            <a:ext cx="1225296" cy="566928"/>
          </a:xfrm>
          <a:prstGeom prst="rect">
            <a:avLst/>
          </a:prstGeom>
          <a:noFill/>
          <a:ln/>
        </p:spPr>
        <p:txBody>
          <a:bodyPr wrap="square" lIns="0" tIns="0" rIns="0" bIns="0" rtlCol="0" anchor="ctr"/>
          <a:lstStyle/>
          <a:p>
            <a:pPr marL="0" indent="0" algn="r">
              <a:buNone/>
            </a:pPr>
            <a:r>
              <a:rPr lang="en-US" b="1" dirty="0">
                <a:solidFill>
                  <a:srgbClr val="1E2761"/>
                </a:solidFill>
                <a:latin typeface="Pretendard" pitchFamily="34" charset="0"/>
                <a:ea typeface="Pretendard" pitchFamily="34" charset="-122"/>
                <a:cs typeface="Pretendard" pitchFamily="34" charset="-120"/>
              </a:rPr>
              <a:t>83.9</a:t>
            </a:r>
            <a:r>
              <a:rPr lang="en-US" sz="1500" b="1" dirty="0">
                <a:solidFill>
                  <a:srgbClr val="1E2761"/>
                </a:solidFill>
                <a:latin typeface="Pretendard" pitchFamily="34" charset="0"/>
                <a:ea typeface="Pretendard" pitchFamily="34" charset="-122"/>
                <a:cs typeface="Pretendard" pitchFamily="34" charset="-120"/>
              </a:rPr>
              <a:t>%</a:t>
            </a:r>
            <a:endParaRPr lang="en-US" sz="1500" dirty="0"/>
          </a:p>
        </p:txBody>
      </p:sp>
      <p:sp>
        <p:nvSpPr>
          <p:cNvPr id="49" name="Text 27">
            <a:extLst>
              <a:ext uri="{FF2B5EF4-FFF2-40B4-BE49-F238E27FC236}">
                <a16:creationId xmlns:a16="http://schemas.microsoft.com/office/drawing/2014/main" id="{B012EE73-51D3-8DC4-E5BB-24384AB42F3C}"/>
              </a:ext>
            </a:extLst>
          </p:cNvPr>
          <p:cNvSpPr/>
          <p:nvPr/>
        </p:nvSpPr>
        <p:spPr>
          <a:xfrm>
            <a:off x="731520" y="5065776"/>
            <a:ext cx="10725912" cy="237744"/>
          </a:xfrm>
          <a:prstGeom prst="rect">
            <a:avLst/>
          </a:prstGeom>
          <a:noFill/>
          <a:ln/>
        </p:spPr>
        <p:txBody>
          <a:bodyPr wrap="square" lIns="0" tIns="0" rIns="0" bIns="0" rtlCol="0" anchor="ctr"/>
          <a:lstStyle/>
          <a:p>
            <a:pPr marL="0" indent="0">
              <a:buNone/>
            </a:pPr>
            <a:r>
              <a:rPr lang="en-US" sz="1200" b="1" dirty="0">
                <a:solidFill>
                  <a:srgbClr val="1E2761"/>
                </a:solidFill>
                <a:latin typeface="Pretendard" pitchFamily="34" charset="0"/>
                <a:ea typeface="Pretendard" pitchFamily="34" charset="-122"/>
                <a:cs typeface="Pretendard" pitchFamily="34" charset="-120"/>
              </a:rPr>
              <a:t>두 집단 사이에 통계적으로 유의한 차이는 확인되지 않았다</a:t>
            </a:r>
            <a:endParaRPr lang="en-US" sz="1200" dirty="0"/>
          </a:p>
        </p:txBody>
      </p:sp>
      <p:sp>
        <p:nvSpPr>
          <p:cNvPr id="51" name="Text 28">
            <a:extLst>
              <a:ext uri="{FF2B5EF4-FFF2-40B4-BE49-F238E27FC236}">
                <a16:creationId xmlns:a16="http://schemas.microsoft.com/office/drawing/2014/main" id="{44423799-D84A-6D03-048C-D7B12D2E035D}"/>
              </a:ext>
            </a:extLst>
          </p:cNvPr>
          <p:cNvSpPr/>
          <p:nvPr/>
        </p:nvSpPr>
        <p:spPr>
          <a:xfrm>
            <a:off x="731520" y="5321808"/>
            <a:ext cx="10725912" cy="237744"/>
          </a:xfrm>
          <a:prstGeom prst="rect">
            <a:avLst/>
          </a:prstGeom>
          <a:noFill/>
          <a:ln/>
        </p:spPr>
        <p:txBody>
          <a:bodyPr wrap="square" lIns="0" tIns="0" rIns="0" bIns="0" rtlCol="0" anchor="ctr"/>
          <a:lstStyle/>
          <a:p>
            <a:pPr marL="0" indent="0">
              <a:buNone/>
            </a:pPr>
            <a:r>
              <a:rPr lang="en-US" sz="1100" dirty="0">
                <a:solidFill>
                  <a:srgbClr val="6E7686"/>
                </a:solidFill>
                <a:latin typeface="Pretendard" pitchFamily="34" charset="0"/>
                <a:ea typeface="Pretendard" pitchFamily="34" charset="-122"/>
                <a:cs typeface="Pretendard" pitchFamily="34" charset="-120"/>
              </a:rPr>
              <a:t>낮은 완수율이 추가효과 미확인의 원인인지는 이 수치만으로 확정할 수 없다</a:t>
            </a:r>
            <a:endParaRPr lang="en-US" sz="1100" dirty="0"/>
          </a:p>
        </p:txBody>
      </p:sp>
      <p:sp>
        <p:nvSpPr>
          <p:cNvPr id="53" name="Shape 29">
            <a:extLst>
              <a:ext uri="{FF2B5EF4-FFF2-40B4-BE49-F238E27FC236}">
                <a16:creationId xmlns:a16="http://schemas.microsoft.com/office/drawing/2014/main" id="{AC794F66-55D6-FC2E-020E-400E04B3FE2C}"/>
              </a:ext>
            </a:extLst>
          </p:cNvPr>
          <p:cNvSpPr/>
          <p:nvPr/>
        </p:nvSpPr>
        <p:spPr>
          <a:xfrm>
            <a:off x="731520" y="5650992"/>
            <a:ext cx="10725912" cy="0"/>
          </a:xfrm>
          <a:prstGeom prst="line">
            <a:avLst/>
          </a:prstGeom>
          <a:noFill/>
          <a:ln w="12700">
            <a:solidFill>
              <a:srgbClr val="DCE0E8"/>
            </a:solidFill>
            <a:prstDash val="solid"/>
          </a:ln>
        </p:spPr>
        <p:txBody>
          <a:bodyPr/>
          <a:lstStyle/>
          <a:p>
            <a:endParaRPr lang="ko-KR"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521208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5. 치료·재활의 실행 조건</a:t>
            </a:r>
            <a:endParaRPr lang="en-US" sz="1250" dirty="0"/>
          </a:p>
        </p:txBody>
      </p:sp>
      <p:sp>
        <p:nvSpPr>
          <p:cNvPr id="3" name="Text 1"/>
          <p:cNvSpPr/>
          <p:nvPr/>
        </p:nvSpPr>
        <p:spPr>
          <a:xfrm>
            <a:off x="6035040" y="384048"/>
            <a:ext cx="5422392" cy="256032"/>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물질 재사용과 참여의무 불이행</a:t>
            </a:r>
            <a:endParaRPr lang="en-US" sz="1050" dirty="0"/>
          </a:p>
        </p:txBody>
      </p:sp>
      <p:sp>
        <p:nvSpPr>
          <p:cNvPr id="4" name="Text 2"/>
          <p:cNvSpPr/>
          <p:nvPr/>
        </p:nvSpPr>
        <p:spPr>
          <a:xfrm>
            <a:off x="731520" y="640080"/>
            <a:ext cx="10725912" cy="640080"/>
          </a:xfrm>
          <a:prstGeom prst="rect">
            <a:avLst/>
          </a:prstGeom>
          <a:noFill/>
          <a:ln/>
        </p:spPr>
        <p:txBody>
          <a:bodyPr wrap="square" lIns="0" tIns="0" rIns="0" bIns="0" rtlCol="0" anchor="ctr"/>
          <a:lstStyle/>
          <a:p>
            <a:pPr marL="0" indent="0">
              <a:buNone/>
            </a:pPr>
            <a:r>
              <a:rPr lang="en-US" sz="2750" b="1" dirty="0">
                <a:solidFill>
                  <a:srgbClr val="1E2761"/>
                </a:solidFill>
                <a:latin typeface="Pretendard" pitchFamily="34" charset="0"/>
                <a:ea typeface="Pretendard" pitchFamily="34" charset="-122"/>
                <a:cs typeface="Pretendard" pitchFamily="34" charset="-120"/>
              </a:rPr>
              <a:t>미국 소년약물치료법원 — 치료 필요와 감독 필요에 따른 선정</a:t>
            </a:r>
            <a:endParaRPr lang="en-US" sz="2750" dirty="0"/>
          </a:p>
        </p:txBody>
      </p:sp>
      <p:sp>
        <p:nvSpPr>
          <p:cNvPr id="5" name="Shape 3"/>
          <p:cNvSpPr/>
          <p:nvPr/>
        </p:nvSpPr>
        <p:spPr>
          <a:xfrm>
            <a:off x="731520" y="1316736"/>
            <a:ext cx="10725912"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417320"/>
            <a:ext cx="10725912" cy="548640"/>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1005840" y="1417320"/>
            <a:ext cx="10149840" cy="548640"/>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국내 수강명령 · 의료위탁 · 보호관찰의 대상 판단과 연결하여, 치료 필요성과 집중적인 감독 필요성을 각각 살펴본다</a:t>
            </a:r>
            <a:endParaRPr lang="en-US" sz="1300" dirty="0"/>
          </a:p>
        </p:txBody>
      </p:sp>
      <p:sp>
        <p:nvSpPr>
          <p:cNvPr id="8" name="Text 6"/>
          <p:cNvSpPr/>
          <p:nvPr/>
        </p:nvSpPr>
        <p:spPr>
          <a:xfrm>
            <a:off x="731520" y="2103120"/>
            <a:ext cx="10725912" cy="256032"/>
          </a:xfrm>
          <a:prstGeom prst="rect">
            <a:avLst/>
          </a:prstGeom>
          <a:noFill/>
          <a:ln/>
        </p:spPr>
        <p:txBody>
          <a:bodyPr wrap="square" lIns="0" tIns="0" rIns="0" bIns="0" rtlCol="0" anchor="ctr"/>
          <a:lstStyle/>
          <a:p>
            <a:r>
              <a:rPr lang="en-US" sz="1250" b="1" dirty="0" err="1">
                <a:solidFill>
                  <a:srgbClr val="222633"/>
                </a:solidFill>
                <a:highlight>
                  <a:srgbClr val="FFFF00"/>
                </a:highlight>
                <a:latin typeface="Pretendard" pitchFamily="34" charset="0"/>
                <a:ea typeface="Pretendard" pitchFamily="34" charset="-122"/>
                <a:cs typeface="Pretendard" pitchFamily="34" charset="-120"/>
              </a:rPr>
              <a:t>소년약물치료법원</a:t>
            </a:r>
            <a:r>
              <a:rPr lang="en-US" sz="1250" b="1" dirty="0">
                <a:solidFill>
                  <a:srgbClr val="222633"/>
                </a:solidFill>
                <a:highlight>
                  <a:srgbClr val="FFFF00"/>
                </a:highlight>
                <a:latin typeface="Pretendard" pitchFamily="34" charset="0"/>
                <a:ea typeface="Pretendard" pitchFamily="34" charset="-122"/>
                <a:cs typeface="Pretendard" pitchFamily="34" charset="-120"/>
              </a:rPr>
              <a:t>(JDTC)은 </a:t>
            </a: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약물 문제로 소년법원에 들어온 청소년에게 전문적인 치료와 서비스를 제공하는 전담 사건처리 절차</a:t>
            </a:r>
            <a:endParaRPr lang="en-US" sz="1250" dirty="0">
              <a:highlight>
                <a:srgbClr val="FFFF00"/>
              </a:highlight>
            </a:endParaRPr>
          </a:p>
        </p:txBody>
      </p:sp>
      <p:sp>
        <p:nvSpPr>
          <p:cNvPr id="9" name="Text 7"/>
          <p:cNvSpPr/>
          <p:nvPr/>
        </p:nvSpPr>
        <p:spPr>
          <a:xfrm>
            <a:off x="731520" y="2377440"/>
            <a:ext cx="10725912" cy="274320"/>
          </a:xfrm>
          <a:prstGeom prst="rect">
            <a:avLst/>
          </a:prstGeom>
          <a:noFill/>
          <a:ln/>
        </p:spPr>
        <p:txBody>
          <a:bodyPr wrap="square" lIns="0" tIns="0" rIns="0" bIns="0" rtlCol="0" anchor="ctr"/>
          <a:lstStyle/>
          <a:p>
            <a:pPr marL="0" indent="0">
              <a:buNone/>
            </a:pPr>
            <a:r>
              <a:rPr lang="en-US" sz="1150" b="1" dirty="0">
                <a:solidFill>
                  <a:srgbClr val="464D5C"/>
                </a:solidFill>
                <a:highlight>
                  <a:srgbClr val="FFFF00"/>
                </a:highlight>
                <a:latin typeface="Pretendard" pitchFamily="34" charset="0"/>
                <a:ea typeface="Pretendard" pitchFamily="34" charset="-122"/>
                <a:cs typeface="Pretendard" pitchFamily="34" charset="-120"/>
              </a:rPr>
              <a:t>물질사용장애(SUD)는 해로운 결과에도 물질사용을 조절하기 어렵고, 일상생활에 지장이 나타나는 상태</a:t>
            </a:r>
            <a:r>
              <a:rPr lang="en-US" sz="1150" b="1" dirty="0">
                <a:solidFill>
                  <a:srgbClr val="464D5C"/>
                </a:solidFill>
                <a:latin typeface="Pretendard" pitchFamily="34" charset="0"/>
                <a:ea typeface="Pretendard" pitchFamily="34" charset="-122"/>
                <a:cs typeface="Pretendard" pitchFamily="34" charset="-120"/>
              </a:rPr>
              <a:t>다.  </a:t>
            </a:r>
            <a:r>
              <a:rPr lang="en-US" sz="1150" b="1" dirty="0" err="1">
                <a:solidFill>
                  <a:srgbClr val="464D5C"/>
                </a:solidFill>
                <a:latin typeface="Pretendard" pitchFamily="34" charset="0"/>
                <a:ea typeface="Pretendard" pitchFamily="34" charset="-122"/>
                <a:cs typeface="Pretendard" pitchFamily="34" charset="-120"/>
              </a:rPr>
              <a:t>사용</a:t>
            </a:r>
            <a:r>
              <a:rPr lang="en-US" sz="1150" b="1" dirty="0">
                <a:solidFill>
                  <a:srgbClr val="464D5C"/>
                </a:solidFill>
                <a:latin typeface="Pretendard" pitchFamily="34" charset="0"/>
                <a:ea typeface="Pretendard" pitchFamily="34" charset="-122"/>
                <a:cs typeface="Pretendard" pitchFamily="34" charset="-120"/>
              </a:rPr>
              <a:t> </a:t>
            </a:r>
            <a:r>
              <a:rPr lang="ko-KR" altLang="en-US" sz="1150" b="1" dirty="0">
                <a:solidFill>
                  <a:srgbClr val="464D5C"/>
                </a:solidFill>
                <a:latin typeface="Pretendard" pitchFamily="34" charset="0"/>
                <a:ea typeface="Pretendard" pitchFamily="34" charset="-122"/>
                <a:cs typeface="Pretendard" pitchFamily="34" charset="-120"/>
              </a:rPr>
              <a:t>여부</a:t>
            </a:r>
            <a:r>
              <a:rPr lang="en-US" sz="1150" b="1" dirty="0">
                <a:solidFill>
                  <a:srgbClr val="464D5C"/>
                </a:solidFill>
                <a:latin typeface="Pretendard" pitchFamily="34" charset="0"/>
                <a:ea typeface="Pretendard" pitchFamily="34" charset="-122"/>
                <a:cs typeface="Pretendard" pitchFamily="34" charset="-120"/>
              </a:rPr>
              <a:t>만</a:t>
            </a:r>
            <a:r>
              <a:rPr lang="ko-KR" altLang="en-US" sz="1150" b="1" dirty="0">
                <a:solidFill>
                  <a:srgbClr val="464D5C"/>
                </a:solidFill>
                <a:latin typeface="Pretendard" pitchFamily="34" charset="0"/>
                <a:ea typeface="Pretendard" pitchFamily="34" charset="-122"/>
                <a:cs typeface="Pretendard" pitchFamily="34" charset="-120"/>
              </a:rPr>
              <a:t>이 아닌 </a:t>
            </a:r>
            <a:r>
              <a:rPr lang="en-US" sz="1150" b="1" dirty="0" err="1">
                <a:solidFill>
                  <a:srgbClr val="464D5C"/>
                </a:solidFill>
                <a:latin typeface="Pretendard" pitchFamily="34" charset="0"/>
                <a:ea typeface="Pretendard" pitchFamily="34" charset="-122"/>
                <a:cs typeface="Pretendard" pitchFamily="34" charset="-120"/>
              </a:rPr>
              <a:t>의료전문가가</a:t>
            </a:r>
            <a:r>
              <a:rPr lang="en-US" sz="1150" b="1" dirty="0">
                <a:solidFill>
                  <a:srgbClr val="464D5C"/>
                </a:solidFill>
                <a:latin typeface="Pretendard" pitchFamily="34" charset="0"/>
                <a:ea typeface="Pretendard" pitchFamily="34" charset="-122"/>
                <a:cs typeface="Pretendard" pitchFamily="34" charset="-120"/>
              </a:rPr>
              <a:t> 증상과 생활에 미치는 영향을 평가한다</a:t>
            </a:r>
            <a:endParaRPr lang="en-US" sz="1150" b="1" dirty="0"/>
          </a:p>
        </p:txBody>
      </p:sp>
      <p:sp>
        <p:nvSpPr>
          <p:cNvPr id="10" name="Shape 8"/>
          <p:cNvSpPr/>
          <p:nvPr/>
        </p:nvSpPr>
        <p:spPr>
          <a:xfrm>
            <a:off x="731520" y="2869774"/>
            <a:ext cx="3392424" cy="1481328"/>
          </a:xfrm>
          <a:prstGeom prst="rect">
            <a:avLst/>
          </a:prstGeom>
          <a:solidFill>
            <a:srgbClr val="FFFFFF"/>
          </a:solidFill>
          <a:ln w="12700">
            <a:solidFill>
              <a:srgbClr val="DCE0E8"/>
            </a:solidFill>
            <a:prstDash val="solid"/>
          </a:ln>
        </p:spPr>
        <p:txBody>
          <a:bodyPr/>
          <a:lstStyle/>
          <a:p>
            <a:endParaRPr lang="ko-KR" altLang="en-US"/>
          </a:p>
        </p:txBody>
      </p:sp>
      <p:sp>
        <p:nvSpPr>
          <p:cNvPr id="11" name="Text 9"/>
          <p:cNvSpPr/>
          <p:nvPr/>
        </p:nvSpPr>
        <p:spPr>
          <a:xfrm>
            <a:off x="914400" y="2961214"/>
            <a:ext cx="3026664" cy="274320"/>
          </a:xfrm>
          <a:prstGeom prst="rect">
            <a:avLst/>
          </a:prstGeom>
          <a:noFill/>
          <a:ln/>
        </p:spPr>
        <p:txBody>
          <a:bodyPr wrap="square" lIns="0" tIns="0" rIns="0" bIns="0" rtlCol="0" anchor="ctr"/>
          <a:lstStyle/>
          <a:p>
            <a:pPr marL="0" indent="0" algn="ctr">
              <a:buNone/>
            </a:pPr>
            <a:r>
              <a:rPr lang="en-US" sz="1300" b="1" dirty="0">
                <a:solidFill>
                  <a:srgbClr val="1E2761"/>
                </a:solidFill>
                <a:latin typeface="Pretendard" pitchFamily="34" charset="0"/>
                <a:ea typeface="Pretendard" pitchFamily="34" charset="-122"/>
                <a:cs typeface="Pretendard" pitchFamily="34" charset="-120"/>
              </a:rPr>
              <a:t>연령</a:t>
            </a:r>
            <a:endParaRPr lang="en-US" sz="1300" dirty="0"/>
          </a:p>
        </p:txBody>
      </p:sp>
      <p:sp>
        <p:nvSpPr>
          <p:cNvPr id="12" name="Shape 10"/>
          <p:cNvSpPr/>
          <p:nvPr/>
        </p:nvSpPr>
        <p:spPr>
          <a:xfrm>
            <a:off x="914400" y="3290398"/>
            <a:ext cx="3026664" cy="0"/>
          </a:xfrm>
          <a:prstGeom prst="line">
            <a:avLst/>
          </a:prstGeom>
          <a:noFill/>
          <a:ln w="12700">
            <a:solidFill>
              <a:srgbClr val="DCE0E8"/>
            </a:solidFill>
            <a:prstDash val="solid"/>
          </a:ln>
        </p:spPr>
        <p:txBody>
          <a:bodyPr/>
          <a:lstStyle/>
          <a:p>
            <a:endParaRPr lang="ko-KR" altLang="en-US"/>
          </a:p>
        </p:txBody>
      </p:sp>
      <p:sp>
        <p:nvSpPr>
          <p:cNvPr id="13" name="Text 11"/>
          <p:cNvSpPr/>
          <p:nvPr/>
        </p:nvSpPr>
        <p:spPr>
          <a:xfrm>
            <a:off x="914400" y="3381838"/>
            <a:ext cx="3026664" cy="310896"/>
          </a:xfrm>
          <a:prstGeom prst="rect">
            <a:avLst/>
          </a:prstGeom>
          <a:noFill/>
          <a:ln/>
        </p:spPr>
        <p:txBody>
          <a:bodyPr wrap="square" lIns="0" tIns="0" rIns="0" bIns="0" rtlCol="0" anchor="ctr"/>
          <a:lstStyle/>
          <a:p>
            <a:pPr marL="0" indent="0">
              <a:buNone/>
            </a:pPr>
            <a:r>
              <a:rPr lang="en-US" sz="1250" b="1" dirty="0">
                <a:solidFill>
                  <a:srgbClr val="222633"/>
                </a:solidFill>
                <a:latin typeface="Pretendard" pitchFamily="34" charset="0"/>
                <a:ea typeface="Pretendard" pitchFamily="34" charset="-122"/>
                <a:cs typeface="Pretendard" pitchFamily="34" charset="-120"/>
              </a:rPr>
              <a:t>원칙적으로 14세 이상</a:t>
            </a:r>
            <a:endParaRPr lang="en-US" sz="1250" dirty="0"/>
          </a:p>
        </p:txBody>
      </p:sp>
      <p:sp>
        <p:nvSpPr>
          <p:cNvPr id="14" name="Text 12"/>
          <p:cNvSpPr/>
          <p:nvPr/>
        </p:nvSpPr>
        <p:spPr>
          <a:xfrm>
            <a:off x="914400" y="3711022"/>
            <a:ext cx="3026664" cy="548640"/>
          </a:xfrm>
          <a:prstGeom prst="rect">
            <a:avLst/>
          </a:prstGeom>
          <a:noFill/>
          <a:ln/>
        </p:spPr>
        <p:txBody>
          <a:bodyPr wrap="square" lIns="0" tIns="0" rIns="0" bIns="0" rtlCol="0" anchor="t"/>
          <a:lstStyle/>
          <a:p>
            <a:pPr marL="0" indent="0">
              <a:lnSpc>
                <a:spcPts val="1700"/>
              </a:lnSpc>
              <a:buNone/>
            </a:pPr>
            <a:r>
              <a:rPr lang="en-US" sz="1150" dirty="0">
                <a:solidFill>
                  <a:srgbClr val="464D5C"/>
                </a:solidFill>
                <a:latin typeface="Pretendard" pitchFamily="34" charset="0"/>
                <a:ea typeface="Pretendard" pitchFamily="34" charset="-122"/>
                <a:cs typeface="Pretendard" pitchFamily="34" charset="-120"/>
              </a:rPr>
              <a:t>14세 미만은 발달수준 · 위험 · 프로그램 적합성을 개별 검토한다</a:t>
            </a:r>
            <a:endParaRPr lang="en-US" sz="1150" dirty="0"/>
          </a:p>
        </p:txBody>
      </p:sp>
      <p:sp>
        <p:nvSpPr>
          <p:cNvPr id="15" name="Shape 13"/>
          <p:cNvSpPr/>
          <p:nvPr/>
        </p:nvSpPr>
        <p:spPr>
          <a:xfrm>
            <a:off x="4398264" y="2869774"/>
            <a:ext cx="3392424" cy="1481328"/>
          </a:xfrm>
          <a:prstGeom prst="rect">
            <a:avLst/>
          </a:prstGeom>
          <a:solidFill>
            <a:srgbClr val="FFFFFF"/>
          </a:solidFill>
          <a:ln w="12700">
            <a:solidFill>
              <a:srgbClr val="DCE0E8"/>
            </a:solidFill>
            <a:prstDash val="solid"/>
          </a:ln>
        </p:spPr>
        <p:txBody>
          <a:bodyPr/>
          <a:lstStyle/>
          <a:p>
            <a:endParaRPr lang="ko-KR" altLang="en-US"/>
          </a:p>
        </p:txBody>
      </p:sp>
      <p:sp>
        <p:nvSpPr>
          <p:cNvPr id="16" name="Text 14"/>
          <p:cNvSpPr/>
          <p:nvPr/>
        </p:nvSpPr>
        <p:spPr>
          <a:xfrm>
            <a:off x="4581144" y="2961214"/>
            <a:ext cx="3026664" cy="274320"/>
          </a:xfrm>
          <a:prstGeom prst="rect">
            <a:avLst/>
          </a:prstGeom>
          <a:noFill/>
          <a:ln/>
        </p:spPr>
        <p:txBody>
          <a:bodyPr wrap="square" lIns="0" tIns="0" rIns="0" bIns="0" rtlCol="0" anchor="ctr"/>
          <a:lstStyle/>
          <a:p>
            <a:pPr marL="0" indent="0" algn="ctr">
              <a:buNone/>
            </a:pPr>
            <a:r>
              <a:rPr lang="en-US" sz="1300" b="1" dirty="0">
                <a:solidFill>
                  <a:srgbClr val="1E2761"/>
                </a:solidFill>
                <a:latin typeface="Pretendard" pitchFamily="34" charset="0"/>
                <a:ea typeface="Pretendard" pitchFamily="34" charset="-122"/>
                <a:cs typeface="Pretendard" pitchFamily="34" charset="-120"/>
              </a:rPr>
              <a:t>치료 필요</a:t>
            </a:r>
            <a:endParaRPr lang="en-US" sz="1300" dirty="0"/>
          </a:p>
        </p:txBody>
      </p:sp>
      <p:sp>
        <p:nvSpPr>
          <p:cNvPr id="17" name="Shape 15"/>
          <p:cNvSpPr/>
          <p:nvPr/>
        </p:nvSpPr>
        <p:spPr>
          <a:xfrm>
            <a:off x="4581144" y="3290398"/>
            <a:ext cx="3026664" cy="0"/>
          </a:xfrm>
          <a:prstGeom prst="line">
            <a:avLst/>
          </a:prstGeom>
          <a:noFill/>
          <a:ln w="12700">
            <a:solidFill>
              <a:srgbClr val="DCE0E8"/>
            </a:solidFill>
            <a:prstDash val="solid"/>
          </a:ln>
        </p:spPr>
        <p:txBody>
          <a:bodyPr/>
          <a:lstStyle/>
          <a:p>
            <a:endParaRPr lang="ko-KR" altLang="en-US"/>
          </a:p>
        </p:txBody>
      </p:sp>
      <p:sp>
        <p:nvSpPr>
          <p:cNvPr id="18" name="Text 16"/>
          <p:cNvSpPr/>
          <p:nvPr/>
        </p:nvSpPr>
        <p:spPr>
          <a:xfrm>
            <a:off x="4581144" y="3381838"/>
            <a:ext cx="3026664" cy="310896"/>
          </a:xfrm>
          <a:prstGeom prst="rect">
            <a:avLst/>
          </a:prstGeom>
          <a:noFill/>
          <a:ln/>
        </p:spPr>
        <p:txBody>
          <a:bodyPr wrap="square" lIns="0" tIns="0" rIns="0" bIns="0" rtlCol="0" anchor="ctr"/>
          <a:lstStyle/>
          <a:p>
            <a:pPr marL="0" indent="0">
              <a:buNone/>
            </a:pPr>
            <a:r>
              <a:rPr lang="en-US" sz="1250" b="1" dirty="0">
                <a:solidFill>
                  <a:srgbClr val="222633"/>
                </a:solidFill>
                <a:latin typeface="Pretendard" pitchFamily="34" charset="0"/>
                <a:ea typeface="Pretendard" pitchFamily="34" charset="-122"/>
                <a:cs typeface="Pretendard" pitchFamily="34" charset="-120"/>
              </a:rPr>
              <a:t>물질사용장애가 있는 청소년</a:t>
            </a:r>
            <a:endParaRPr lang="en-US" sz="1250" dirty="0"/>
          </a:p>
        </p:txBody>
      </p:sp>
      <p:sp>
        <p:nvSpPr>
          <p:cNvPr id="19" name="Text 17"/>
          <p:cNvSpPr/>
          <p:nvPr/>
        </p:nvSpPr>
        <p:spPr>
          <a:xfrm>
            <a:off x="4581144" y="3711022"/>
            <a:ext cx="3026664" cy="548640"/>
          </a:xfrm>
          <a:prstGeom prst="rect">
            <a:avLst/>
          </a:prstGeom>
          <a:noFill/>
          <a:ln/>
        </p:spPr>
        <p:txBody>
          <a:bodyPr wrap="square" lIns="0" tIns="0" rIns="0" bIns="0" rtlCol="0" anchor="t"/>
          <a:lstStyle/>
          <a:p>
            <a:pPr marL="0" indent="0">
              <a:lnSpc>
                <a:spcPts val="1700"/>
              </a:lnSpc>
              <a:buNone/>
            </a:pPr>
            <a:r>
              <a:rPr lang="en-US" sz="1150" dirty="0">
                <a:solidFill>
                  <a:srgbClr val="464D5C"/>
                </a:solidFill>
                <a:latin typeface="Pretendard" pitchFamily="34" charset="0"/>
                <a:ea typeface="Pretendard" pitchFamily="34" charset="-122"/>
                <a:cs typeface="Pretendard" pitchFamily="34" charset="-120"/>
              </a:rPr>
              <a:t>검증된 선별도구와 전문가 평가로 진단 여부를 확인한다</a:t>
            </a:r>
            <a:endParaRPr lang="en-US" sz="1150" dirty="0"/>
          </a:p>
        </p:txBody>
      </p:sp>
      <p:sp>
        <p:nvSpPr>
          <p:cNvPr id="20" name="Shape 18"/>
          <p:cNvSpPr/>
          <p:nvPr/>
        </p:nvSpPr>
        <p:spPr>
          <a:xfrm>
            <a:off x="8065008" y="2869774"/>
            <a:ext cx="3392424" cy="1481328"/>
          </a:xfrm>
          <a:prstGeom prst="rect">
            <a:avLst/>
          </a:prstGeom>
          <a:solidFill>
            <a:srgbClr val="FFFFFF"/>
          </a:solidFill>
          <a:ln w="12700">
            <a:solidFill>
              <a:srgbClr val="DCE0E8"/>
            </a:solidFill>
            <a:prstDash val="solid"/>
          </a:ln>
        </p:spPr>
        <p:txBody>
          <a:bodyPr/>
          <a:lstStyle/>
          <a:p>
            <a:endParaRPr lang="ko-KR" altLang="en-US"/>
          </a:p>
        </p:txBody>
      </p:sp>
      <p:sp>
        <p:nvSpPr>
          <p:cNvPr id="21" name="Text 19"/>
          <p:cNvSpPr/>
          <p:nvPr/>
        </p:nvSpPr>
        <p:spPr>
          <a:xfrm>
            <a:off x="8247888" y="2961214"/>
            <a:ext cx="3026664" cy="274320"/>
          </a:xfrm>
          <a:prstGeom prst="rect">
            <a:avLst/>
          </a:prstGeom>
          <a:noFill/>
          <a:ln/>
        </p:spPr>
        <p:txBody>
          <a:bodyPr wrap="square" lIns="0" tIns="0" rIns="0" bIns="0" rtlCol="0" anchor="ctr"/>
          <a:lstStyle/>
          <a:p>
            <a:pPr marL="0" indent="0" algn="ctr">
              <a:buNone/>
            </a:pPr>
            <a:r>
              <a:rPr lang="en-US" sz="1300" b="1" dirty="0">
                <a:solidFill>
                  <a:srgbClr val="1E2761"/>
                </a:solidFill>
                <a:latin typeface="Pretendard" pitchFamily="34" charset="0"/>
                <a:ea typeface="Pretendard" pitchFamily="34" charset="-122"/>
                <a:cs typeface="Pretendard" pitchFamily="34" charset="-120"/>
              </a:rPr>
              <a:t>감독 필요</a:t>
            </a:r>
            <a:endParaRPr lang="en-US" sz="1300" dirty="0"/>
          </a:p>
        </p:txBody>
      </p:sp>
      <p:sp>
        <p:nvSpPr>
          <p:cNvPr id="22" name="Shape 20"/>
          <p:cNvSpPr/>
          <p:nvPr/>
        </p:nvSpPr>
        <p:spPr>
          <a:xfrm>
            <a:off x="8247888" y="3290398"/>
            <a:ext cx="3026664" cy="0"/>
          </a:xfrm>
          <a:prstGeom prst="line">
            <a:avLst/>
          </a:prstGeom>
          <a:noFill/>
          <a:ln w="12700">
            <a:solidFill>
              <a:srgbClr val="DCE0E8"/>
            </a:solidFill>
            <a:prstDash val="solid"/>
          </a:ln>
        </p:spPr>
        <p:txBody>
          <a:bodyPr/>
          <a:lstStyle/>
          <a:p>
            <a:endParaRPr lang="ko-KR" altLang="en-US"/>
          </a:p>
        </p:txBody>
      </p:sp>
      <p:sp>
        <p:nvSpPr>
          <p:cNvPr id="23" name="Text 21"/>
          <p:cNvSpPr/>
          <p:nvPr/>
        </p:nvSpPr>
        <p:spPr>
          <a:xfrm>
            <a:off x="8247888" y="3381838"/>
            <a:ext cx="3026664" cy="310896"/>
          </a:xfrm>
          <a:prstGeom prst="rect">
            <a:avLst/>
          </a:prstGeom>
          <a:noFill/>
          <a:ln/>
        </p:spPr>
        <p:txBody>
          <a:bodyPr wrap="square" lIns="0" tIns="0" rIns="0" bIns="0" rtlCol="0" anchor="ctr"/>
          <a:lstStyle/>
          <a:p>
            <a:pPr marL="0" indent="0">
              <a:buNone/>
            </a:pPr>
            <a:r>
              <a:rPr lang="en-US" sz="1250" b="1" dirty="0">
                <a:solidFill>
                  <a:srgbClr val="222633"/>
                </a:solidFill>
                <a:latin typeface="Pretendard" pitchFamily="34" charset="0"/>
                <a:ea typeface="Pretendard" pitchFamily="34" charset="-122"/>
                <a:cs typeface="Pretendard" pitchFamily="34" charset="-120"/>
              </a:rPr>
              <a:t>재범위험이 중간~높은 청소년</a:t>
            </a:r>
            <a:endParaRPr lang="en-US" sz="1250" dirty="0"/>
          </a:p>
        </p:txBody>
      </p:sp>
      <p:sp>
        <p:nvSpPr>
          <p:cNvPr id="24" name="Text 22"/>
          <p:cNvSpPr/>
          <p:nvPr/>
        </p:nvSpPr>
        <p:spPr>
          <a:xfrm>
            <a:off x="8247888" y="3711022"/>
            <a:ext cx="3026664" cy="548640"/>
          </a:xfrm>
          <a:prstGeom prst="rect">
            <a:avLst/>
          </a:prstGeom>
          <a:noFill/>
          <a:ln/>
        </p:spPr>
        <p:txBody>
          <a:bodyPr wrap="square" lIns="0" tIns="0" rIns="0" bIns="0" rtlCol="0" anchor="t"/>
          <a:lstStyle/>
          <a:p>
            <a:pPr marL="0" indent="0">
              <a:lnSpc>
                <a:spcPts val="1700"/>
              </a:lnSpc>
              <a:buNone/>
            </a:pPr>
            <a:r>
              <a:rPr lang="en-US" sz="1150" dirty="0">
                <a:solidFill>
                  <a:srgbClr val="464D5C"/>
                </a:solidFill>
                <a:latin typeface="Pretendard" pitchFamily="34" charset="0"/>
                <a:ea typeface="Pretendard" pitchFamily="34" charset="-122"/>
                <a:cs typeface="Pretendard" pitchFamily="34" charset="-120"/>
              </a:rPr>
              <a:t>검증된 도구로 다시 범죄할 가능성을 평가한다</a:t>
            </a:r>
            <a:endParaRPr lang="en-US" sz="1150" dirty="0"/>
          </a:p>
          <a:p>
            <a:pPr marL="0" indent="0">
              <a:lnSpc>
                <a:spcPts val="1700"/>
              </a:lnSpc>
              <a:buNone/>
            </a:pPr>
            <a:r>
              <a:rPr lang="en-US" sz="1150" dirty="0">
                <a:solidFill>
                  <a:srgbClr val="464D5C"/>
                </a:solidFill>
                <a:latin typeface="Pretendard" pitchFamily="34" charset="0"/>
                <a:ea typeface="Pretendard" pitchFamily="34" charset="-122"/>
                <a:cs typeface="Pretendard" pitchFamily="34" charset="-120"/>
              </a:rPr>
              <a:t>약물 재사용 가능성만을 뜻하지 않는다</a:t>
            </a:r>
            <a:endParaRPr lang="en-US" sz="1150" dirty="0"/>
          </a:p>
        </p:txBody>
      </p:sp>
      <p:sp>
        <p:nvSpPr>
          <p:cNvPr id="25" name="Shape 23"/>
          <p:cNvSpPr/>
          <p:nvPr/>
        </p:nvSpPr>
        <p:spPr>
          <a:xfrm>
            <a:off x="731520" y="4709486"/>
            <a:ext cx="10725912" cy="566928"/>
          </a:xfrm>
          <a:prstGeom prst="rect">
            <a:avLst/>
          </a:prstGeom>
          <a:solidFill>
            <a:srgbClr val="F2F4F8"/>
          </a:solidFill>
          <a:ln w="12700">
            <a:solidFill>
              <a:srgbClr val="F2F4F8"/>
            </a:solidFill>
            <a:prstDash val="solid"/>
          </a:ln>
        </p:spPr>
        <p:txBody>
          <a:bodyPr/>
          <a:lstStyle/>
          <a:p>
            <a:endParaRPr lang="ko-KR" altLang="en-US"/>
          </a:p>
        </p:txBody>
      </p:sp>
      <p:sp>
        <p:nvSpPr>
          <p:cNvPr id="26" name="Text 24"/>
          <p:cNvSpPr/>
          <p:nvPr/>
        </p:nvSpPr>
        <p:spPr>
          <a:xfrm>
            <a:off x="1005840" y="4709486"/>
            <a:ext cx="1463040" cy="566928"/>
          </a:xfrm>
          <a:prstGeom prst="rect">
            <a:avLst/>
          </a:prstGeom>
          <a:noFill/>
          <a:ln/>
        </p:spPr>
        <p:txBody>
          <a:bodyPr wrap="square" lIns="0" tIns="0" rIns="0" bIns="0" rtlCol="0" anchor="ctr"/>
          <a:lstStyle/>
          <a:p>
            <a:pPr marL="0" indent="0">
              <a:buNone/>
            </a:pPr>
            <a:r>
              <a:rPr lang="en-US" sz="1150" b="1" dirty="0" err="1">
                <a:solidFill>
                  <a:srgbClr val="A8871C"/>
                </a:solidFill>
                <a:latin typeface="Pretendard" pitchFamily="34" charset="0"/>
                <a:ea typeface="Pretendard" pitchFamily="34" charset="-122"/>
                <a:cs typeface="Pretendard" pitchFamily="34" charset="-120"/>
              </a:rPr>
              <a:t>경로</a:t>
            </a:r>
            <a:endParaRPr lang="en-US" sz="1150" dirty="0"/>
          </a:p>
        </p:txBody>
      </p:sp>
      <p:sp>
        <p:nvSpPr>
          <p:cNvPr id="27" name="Text 25"/>
          <p:cNvSpPr/>
          <p:nvPr/>
        </p:nvSpPr>
        <p:spPr>
          <a:xfrm>
            <a:off x="2651760" y="4709486"/>
            <a:ext cx="8531352" cy="566928"/>
          </a:xfrm>
          <a:prstGeom prst="rect">
            <a:avLst/>
          </a:prstGeom>
          <a:noFill/>
          <a:ln/>
        </p:spPr>
        <p:txBody>
          <a:bodyPr wrap="square" lIns="0" tIns="0" rIns="0" bIns="0" rtlCol="0" anchor="ctr"/>
          <a:lstStyle/>
          <a:p>
            <a:pPr marL="0" indent="0">
              <a:buNone/>
            </a:pPr>
            <a:r>
              <a:rPr lang="en-US" sz="1150" dirty="0">
                <a:solidFill>
                  <a:srgbClr val="222633"/>
                </a:solidFill>
                <a:latin typeface="Pretendard" pitchFamily="34" charset="0"/>
                <a:ea typeface="Pretendard" pitchFamily="34" charset="-122"/>
                <a:cs typeface="Pretendard" pitchFamily="34" charset="-120"/>
              </a:rPr>
              <a:t>물질사용장애가 없거나 재범위험이 낮은 청소년은 지역사회 서비스 등 다른 경로를 검토한다</a:t>
            </a:r>
            <a:endParaRPr lang="en-US" sz="1150" dirty="0"/>
          </a:p>
        </p:txBody>
      </p:sp>
      <p:sp>
        <p:nvSpPr>
          <p:cNvPr id="28" name="Shape 26"/>
          <p:cNvSpPr/>
          <p:nvPr/>
        </p:nvSpPr>
        <p:spPr>
          <a:xfrm>
            <a:off x="731520" y="5650992"/>
            <a:ext cx="10725912" cy="0"/>
          </a:xfrm>
          <a:prstGeom prst="line">
            <a:avLst/>
          </a:prstGeom>
          <a:noFill/>
          <a:ln w="12700">
            <a:solidFill>
              <a:srgbClr val="DCE0E8"/>
            </a:solidFill>
            <a:prstDash val="solid"/>
          </a:ln>
        </p:spPr>
        <p:txBody>
          <a:bodyPr/>
          <a:lstStyle/>
          <a:p>
            <a:endParaRPr lang="ko-KR" altLang="en-US"/>
          </a:p>
        </p:txBody>
      </p:sp>
      <p:sp>
        <p:nvSpPr>
          <p:cNvPr id="29" name="Text 27"/>
          <p:cNvSpPr/>
          <p:nvPr/>
        </p:nvSpPr>
        <p:spPr>
          <a:xfrm>
            <a:off x="731520" y="5742432"/>
            <a:ext cx="10725912" cy="329184"/>
          </a:xfrm>
          <a:prstGeom prst="rect">
            <a:avLst/>
          </a:prstGeom>
          <a:noFill/>
          <a:ln/>
        </p:spPr>
        <p:txBody>
          <a:bodyPr wrap="square" lIns="0" tIns="0" rIns="0" bIns="0" rtlCol="0" anchor="ctr"/>
          <a:lstStyle/>
          <a:p>
            <a:pPr algn="ctr"/>
            <a:r>
              <a:rPr lang="ko-KR" altLang="en-US" sz="1250" b="1" dirty="0">
                <a:solidFill>
                  <a:srgbClr val="1E2761"/>
                </a:solidFill>
                <a:latin typeface="Pretendard" pitchFamily="34" charset="0"/>
                <a:ea typeface="Pretendard" pitchFamily="34" charset="-122"/>
                <a:cs typeface="Pretendard" pitchFamily="34" charset="-120"/>
              </a:rPr>
              <a:t>소년약물치료법원은 재범위험이 중간 이상인 청소년에게 치료와 감독을 결합한다</a:t>
            </a:r>
            <a:endParaRPr lang="en-US" sz="1250" dirty="0"/>
          </a:p>
        </p:txBody>
      </p:sp>
      <p:sp>
        <p:nvSpPr>
          <p:cNvPr id="30" name="Shape 28"/>
          <p:cNvSpPr/>
          <p:nvPr/>
        </p:nvSpPr>
        <p:spPr>
          <a:xfrm>
            <a:off x="731520" y="6144768"/>
            <a:ext cx="10725912" cy="0"/>
          </a:xfrm>
          <a:prstGeom prst="line">
            <a:avLst/>
          </a:prstGeom>
          <a:noFill/>
          <a:ln w="12700">
            <a:solidFill>
              <a:srgbClr val="DCE0E8"/>
            </a:solidFill>
            <a:prstDash val="solid"/>
          </a:ln>
        </p:spPr>
        <p:txBody>
          <a:bodyPr/>
          <a:lstStyle/>
          <a:p>
            <a:endParaRPr lang="ko-KR"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521208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5. 치료·재활의 실행 조건</a:t>
            </a:r>
            <a:endParaRPr lang="en-US" sz="1250" dirty="0"/>
          </a:p>
        </p:txBody>
      </p:sp>
      <p:sp>
        <p:nvSpPr>
          <p:cNvPr id="3" name="Text 1"/>
          <p:cNvSpPr/>
          <p:nvPr/>
        </p:nvSpPr>
        <p:spPr>
          <a:xfrm>
            <a:off x="6035040" y="384048"/>
            <a:ext cx="5422392" cy="256032"/>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항소심 판단과 시설수용 제재의 한계</a:t>
            </a:r>
            <a:endParaRPr lang="en-US" sz="1050" dirty="0"/>
          </a:p>
        </p:txBody>
      </p:sp>
      <p:sp>
        <p:nvSpPr>
          <p:cNvPr id="4" name="Text 2"/>
          <p:cNvSpPr/>
          <p:nvPr/>
        </p:nvSpPr>
        <p:spPr>
          <a:xfrm>
            <a:off x="731520" y="640080"/>
            <a:ext cx="10725912" cy="640080"/>
          </a:xfrm>
          <a:prstGeom prst="rect">
            <a:avLst/>
          </a:prstGeom>
          <a:noFill/>
          <a:ln/>
        </p:spPr>
        <p:txBody>
          <a:bodyPr wrap="square" lIns="0" tIns="0" rIns="0" bIns="0" rtlCol="0" anchor="ctr"/>
          <a:lstStyle/>
          <a:p>
            <a:pPr marL="0" indent="0">
              <a:buNone/>
            </a:pPr>
            <a:r>
              <a:rPr lang="en-US" sz="2750" b="1" dirty="0">
                <a:solidFill>
                  <a:srgbClr val="1E2761"/>
                </a:solidFill>
                <a:latin typeface="Pretendard" pitchFamily="34" charset="0"/>
                <a:ea typeface="Pretendard" pitchFamily="34" charset="-122"/>
                <a:cs typeface="Pretendard" pitchFamily="34" charset="-120"/>
              </a:rPr>
              <a:t>약물법원 참여 동의와 치료 중단 — T.N. 사건의 제재 명령</a:t>
            </a:r>
            <a:endParaRPr lang="en-US" sz="2750" dirty="0"/>
          </a:p>
        </p:txBody>
      </p:sp>
      <p:sp>
        <p:nvSpPr>
          <p:cNvPr id="5" name="Shape 3"/>
          <p:cNvSpPr/>
          <p:nvPr/>
        </p:nvSpPr>
        <p:spPr>
          <a:xfrm>
            <a:off x="731520" y="1316736"/>
            <a:ext cx="10725912"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417320"/>
            <a:ext cx="10725912" cy="548640"/>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1005840" y="1417320"/>
            <a:ext cx="10149840" cy="548640"/>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치료 참여에 동의한 소년이 의무를 이행하지 않았을 때, 참여를 확보하기 위한 제재와 시설수용의 범위가 문제되었다</a:t>
            </a:r>
            <a:endParaRPr lang="en-US" sz="1300" dirty="0"/>
          </a:p>
        </p:txBody>
      </p:sp>
      <p:sp>
        <p:nvSpPr>
          <p:cNvPr id="8" name="Text 6"/>
          <p:cNvSpPr/>
          <p:nvPr/>
        </p:nvSpPr>
        <p:spPr>
          <a:xfrm>
            <a:off x="731520" y="2084832"/>
            <a:ext cx="10725912" cy="237744"/>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사건   </a:t>
            </a:r>
            <a:r>
              <a:rPr lang="en-US" sz="1150" dirty="0">
                <a:solidFill>
                  <a:srgbClr val="222633"/>
                </a:solidFill>
                <a:latin typeface="Pretendard" pitchFamily="34" charset="0"/>
                <a:ea typeface="Pretendard" pitchFamily="34" charset="-122"/>
                <a:cs typeface="Pretendard" pitchFamily="34" charset="-120"/>
              </a:rPr>
              <a:t>T.N. v. Portesy · 미국 플로리다 제2지구 항소법원 · 2005 · 2D05-01</a:t>
            </a:r>
            <a:endParaRPr lang="en-US" sz="1150" dirty="0"/>
          </a:p>
        </p:txBody>
      </p:sp>
      <p:sp>
        <p:nvSpPr>
          <p:cNvPr id="9" name="Shape 7"/>
          <p:cNvSpPr/>
          <p:nvPr/>
        </p:nvSpPr>
        <p:spPr>
          <a:xfrm>
            <a:off x="731520" y="2377440"/>
            <a:ext cx="2103120" cy="713232"/>
          </a:xfrm>
          <a:prstGeom prst="rect">
            <a:avLst/>
          </a:prstGeom>
          <a:solidFill>
            <a:srgbClr val="F2F4F8"/>
          </a:solidFill>
          <a:ln w="12700">
            <a:solidFill>
              <a:srgbClr val="F2F4F8"/>
            </a:solidFill>
            <a:prstDash val="solid"/>
          </a:ln>
        </p:spPr>
        <p:txBody>
          <a:bodyPr/>
          <a:lstStyle/>
          <a:p>
            <a:endParaRPr lang="ko-KR" altLang="en-US"/>
          </a:p>
        </p:txBody>
      </p:sp>
      <p:sp>
        <p:nvSpPr>
          <p:cNvPr id="10" name="Text 8"/>
          <p:cNvSpPr/>
          <p:nvPr/>
        </p:nvSpPr>
        <p:spPr>
          <a:xfrm>
            <a:off x="859536" y="2377440"/>
            <a:ext cx="1847088" cy="713232"/>
          </a:xfrm>
          <a:prstGeom prst="rect">
            <a:avLst/>
          </a:prstGeom>
          <a:noFill/>
          <a:ln/>
        </p:spPr>
        <p:txBody>
          <a:bodyPr wrap="square" lIns="0" tIns="0" rIns="0" bIns="0" rtlCol="0" anchor="ctr"/>
          <a:lstStyle/>
          <a:p>
            <a:pPr marL="0" indent="0" algn="ctr">
              <a:lnSpc>
                <a:spcPts val="1900"/>
              </a:lnSpc>
              <a:buNone/>
            </a:pPr>
            <a:r>
              <a:rPr lang="en-US" sz="1300" b="1" dirty="0">
                <a:solidFill>
                  <a:srgbClr val="1E2761"/>
                </a:solidFill>
                <a:latin typeface="Pretendard" pitchFamily="34" charset="0"/>
                <a:ea typeface="Pretendard" pitchFamily="34" charset="-122"/>
                <a:cs typeface="Pretendard" pitchFamily="34" charset="-120"/>
              </a:rPr>
              <a:t>2004년 6월</a:t>
            </a:r>
            <a:endParaRPr lang="en-US" sz="1300" dirty="0"/>
          </a:p>
        </p:txBody>
      </p:sp>
      <p:sp>
        <p:nvSpPr>
          <p:cNvPr id="11" name="Shape 9"/>
          <p:cNvSpPr/>
          <p:nvPr/>
        </p:nvSpPr>
        <p:spPr>
          <a:xfrm>
            <a:off x="3090672" y="2377440"/>
            <a:ext cx="8366760" cy="713232"/>
          </a:xfrm>
          <a:prstGeom prst="rect">
            <a:avLst/>
          </a:prstGeom>
          <a:solidFill>
            <a:srgbClr val="FFFFFF"/>
          </a:solidFill>
          <a:ln w="12700">
            <a:solidFill>
              <a:srgbClr val="DCE0E8"/>
            </a:solidFill>
            <a:prstDash val="solid"/>
          </a:ln>
        </p:spPr>
        <p:txBody>
          <a:bodyPr/>
          <a:lstStyle/>
          <a:p>
            <a:endParaRPr lang="ko-KR" altLang="en-US"/>
          </a:p>
        </p:txBody>
      </p:sp>
      <p:sp>
        <p:nvSpPr>
          <p:cNvPr id="12" name="Text 10"/>
          <p:cNvSpPr/>
          <p:nvPr/>
        </p:nvSpPr>
        <p:spPr>
          <a:xfrm>
            <a:off x="3328416" y="2450592"/>
            <a:ext cx="7891272" cy="274320"/>
          </a:xfrm>
          <a:prstGeom prst="rect">
            <a:avLst/>
          </a:prstGeom>
          <a:noFill/>
          <a:ln/>
        </p:spPr>
        <p:txBody>
          <a:bodyPr wrap="square" lIns="0" tIns="0" rIns="0" bIns="0" rtlCol="0" anchor="ctr"/>
          <a:lstStyle/>
          <a:p>
            <a:pPr marL="0" indent="0">
              <a:buNone/>
            </a:pPr>
            <a:r>
              <a:rPr lang="en-US" sz="1250" b="1" dirty="0">
                <a:solidFill>
                  <a:srgbClr val="222633"/>
                </a:solidFill>
                <a:latin typeface="Pretendard" pitchFamily="34" charset="0"/>
                <a:ea typeface="Pretendard" pitchFamily="34" charset="-122"/>
                <a:cs typeface="Pretendard" pitchFamily="34" charset="-120"/>
              </a:rPr>
              <a:t>소년과 어머니가 약물법원 참여에 동의했다</a:t>
            </a:r>
            <a:endParaRPr lang="en-US" sz="1250" dirty="0"/>
          </a:p>
        </p:txBody>
      </p:sp>
      <p:sp>
        <p:nvSpPr>
          <p:cNvPr id="13" name="Text 11"/>
          <p:cNvSpPr/>
          <p:nvPr/>
        </p:nvSpPr>
        <p:spPr>
          <a:xfrm>
            <a:off x="3328416" y="2724912"/>
            <a:ext cx="7891272" cy="292608"/>
          </a:xfrm>
          <a:prstGeom prst="rect">
            <a:avLst/>
          </a:prstGeom>
          <a:noFill/>
          <a:ln/>
        </p:spPr>
        <p:txBody>
          <a:bodyPr wrap="square" lIns="0" tIns="0" rIns="0" bIns="0" rtlCol="0" anchor="t"/>
          <a:lstStyle/>
          <a:p>
            <a:pPr marL="0" indent="0">
              <a:lnSpc>
                <a:spcPts val="1700"/>
              </a:lnSpc>
              <a:buNone/>
            </a:pPr>
            <a:r>
              <a:rPr lang="en-US" sz="1150" dirty="0">
                <a:solidFill>
                  <a:srgbClr val="464D5C"/>
                </a:solidFill>
                <a:latin typeface="Pretendard" pitchFamily="34" charset="0"/>
                <a:ea typeface="Pretendard" pitchFamily="34" charset="-122"/>
                <a:cs typeface="Pretendard" pitchFamily="34" charset="-120"/>
              </a:rPr>
              <a:t>대마소지 혐의를 받은 소년에 대해, 법원은 치료 · 검사 의무와 불이행 시 제재를 적은 합의를 승인했다</a:t>
            </a:r>
            <a:endParaRPr lang="en-US" sz="1150" dirty="0"/>
          </a:p>
        </p:txBody>
      </p:sp>
      <p:sp>
        <p:nvSpPr>
          <p:cNvPr id="14" name="Shape 12"/>
          <p:cNvSpPr/>
          <p:nvPr/>
        </p:nvSpPr>
        <p:spPr>
          <a:xfrm>
            <a:off x="731520" y="3163824"/>
            <a:ext cx="2103120" cy="621792"/>
          </a:xfrm>
          <a:prstGeom prst="rect">
            <a:avLst/>
          </a:prstGeom>
          <a:solidFill>
            <a:srgbClr val="F2F4F8"/>
          </a:solidFill>
          <a:ln w="12700">
            <a:solidFill>
              <a:srgbClr val="F2F4F8"/>
            </a:solidFill>
            <a:prstDash val="solid"/>
          </a:ln>
        </p:spPr>
        <p:txBody>
          <a:bodyPr/>
          <a:lstStyle/>
          <a:p>
            <a:endParaRPr lang="ko-KR" altLang="en-US"/>
          </a:p>
        </p:txBody>
      </p:sp>
      <p:sp>
        <p:nvSpPr>
          <p:cNvPr id="15" name="Text 13"/>
          <p:cNvSpPr/>
          <p:nvPr/>
        </p:nvSpPr>
        <p:spPr>
          <a:xfrm>
            <a:off x="859536" y="3163824"/>
            <a:ext cx="1847088" cy="621792"/>
          </a:xfrm>
          <a:prstGeom prst="rect">
            <a:avLst/>
          </a:prstGeom>
          <a:noFill/>
          <a:ln/>
        </p:spPr>
        <p:txBody>
          <a:bodyPr wrap="square" lIns="0" tIns="0" rIns="0" bIns="0" rtlCol="0" anchor="ctr"/>
          <a:lstStyle/>
          <a:p>
            <a:pPr marL="0" indent="0" algn="ctr">
              <a:lnSpc>
                <a:spcPts val="1900"/>
              </a:lnSpc>
              <a:buNone/>
            </a:pPr>
            <a:r>
              <a:rPr lang="en-US" sz="1300" b="1" dirty="0">
                <a:solidFill>
                  <a:srgbClr val="1E2761"/>
                </a:solidFill>
                <a:latin typeface="Pretendard" pitchFamily="34" charset="0"/>
                <a:ea typeface="Pretendard" pitchFamily="34" charset="-122"/>
                <a:cs typeface="Pretendard" pitchFamily="34" charset="-120"/>
              </a:rPr>
              <a:t>이후</a:t>
            </a:r>
            <a:endParaRPr lang="en-US" sz="1300" dirty="0"/>
          </a:p>
        </p:txBody>
      </p:sp>
      <p:sp>
        <p:nvSpPr>
          <p:cNvPr id="16" name="Shape 14"/>
          <p:cNvSpPr/>
          <p:nvPr/>
        </p:nvSpPr>
        <p:spPr>
          <a:xfrm>
            <a:off x="3090672" y="3163824"/>
            <a:ext cx="8366760" cy="621792"/>
          </a:xfrm>
          <a:prstGeom prst="rect">
            <a:avLst/>
          </a:prstGeom>
          <a:solidFill>
            <a:srgbClr val="FFFFFF"/>
          </a:solidFill>
          <a:ln w="12700">
            <a:solidFill>
              <a:srgbClr val="DCE0E8"/>
            </a:solidFill>
            <a:prstDash val="solid"/>
          </a:ln>
        </p:spPr>
        <p:txBody>
          <a:bodyPr/>
          <a:lstStyle/>
          <a:p>
            <a:endParaRPr lang="ko-KR" altLang="en-US"/>
          </a:p>
        </p:txBody>
      </p:sp>
      <p:sp>
        <p:nvSpPr>
          <p:cNvPr id="17" name="Text 15"/>
          <p:cNvSpPr/>
          <p:nvPr/>
        </p:nvSpPr>
        <p:spPr>
          <a:xfrm>
            <a:off x="3328416" y="3236976"/>
            <a:ext cx="7891272" cy="274320"/>
          </a:xfrm>
          <a:prstGeom prst="rect">
            <a:avLst/>
          </a:prstGeom>
          <a:noFill/>
          <a:ln/>
        </p:spPr>
        <p:txBody>
          <a:bodyPr wrap="square" lIns="0" tIns="0" rIns="0" bIns="0" rtlCol="0" anchor="ctr"/>
          <a:lstStyle/>
          <a:p>
            <a:pPr marL="0" indent="0">
              <a:buNone/>
            </a:pPr>
            <a:r>
              <a:rPr lang="en-US" sz="1250" b="1" dirty="0">
                <a:solidFill>
                  <a:srgbClr val="222633"/>
                </a:solidFill>
                <a:latin typeface="Pretendard" pitchFamily="34" charset="0"/>
                <a:ea typeface="Pretendard" pitchFamily="34" charset="-122"/>
                <a:cs typeface="Pretendard" pitchFamily="34" charset="-120"/>
              </a:rPr>
              <a:t>대마검사에서 여러 차례 양성반응이 나왔다</a:t>
            </a:r>
            <a:endParaRPr lang="en-US" sz="1250" dirty="0"/>
          </a:p>
        </p:txBody>
      </p:sp>
      <p:sp>
        <p:nvSpPr>
          <p:cNvPr id="18" name="Text 16"/>
          <p:cNvSpPr/>
          <p:nvPr/>
        </p:nvSpPr>
        <p:spPr>
          <a:xfrm>
            <a:off x="3328416" y="3511296"/>
            <a:ext cx="7891272" cy="201168"/>
          </a:xfrm>
          <a:prstGeom prst="rect">
            <a:avLst/>
          </a:prstGeom>
          <a:noFill/>
          <a:ln/>
        </p:spPr>
        <p:txBody>
          <a:bodyPr wrap="square" lIns="0" tIns="0" rIns="0" bIns="0" rtlCol="0" anchor="t"/>
          <a:lstStyle/>
          <a:p>
            <a:pPr marL="0" indent="0">
              <a:lnSpc>
                <a:spcPts val="1700"/>
              </a:lnSpc>
              <a:buNone/>
            </a:pPr>
            <a:r>
              <a:rPr lang="en-US" sz="1150" dirty="0">
                <a:solidFill>
                  <a:srgbClr val="464D5C"/>
                </a:solidFill>
                <a:latin typeface="Pretendard" pitchFamily="34" charset="0"/>
                <a:ea typeface="Pretendard" pitchFamily="34" charset="-122"/>
                <a:cs typeface="Pretendard" pitchFamily="34" charset="-120"/>
              </a:rPr>
              <a:t>8월 중순 이후 치료프로그램 참여를 중단한 것으로 나타났다</a:t>
            </a:r>
            <a:endParaRPr lang="en-US" sz="1150" dirty="0"/>
          </a:p>
        </p:txBody>
      </p:sp>
      <p:sp>
        <p:nvSpPr>
          <p:cNvPr id="19" name="Shape 17"/>
          <p:cNvSpPr/>
          <p:nvPr/>
        </p:nvSpPr>
        <p:spPr>
          <a:xfrm>
            <a:off x="731520" y="3877056"/>
            <a:ext cx="2103120" cy="621792"/>
          </a:xfrm>
          <a:prstGeom prst="rect">
            <a:avLst/>
          </a:prstGeom>
          <a:solidFill>
            <a:srgbClr val="1E2761"/>
          </a:solidFill>
          <a:ln w="12700">
            <a:solidFill>
              <a:srgbClr val="1E2761"/>
            </a:solidFill>
            <a:prstDash val="solid"/>
          </a:ln>
        </p:spPr>
        <p:txBody>
          <a:bodyPr/>
          <a:lstStyle/>
          <a:p>
            <a:endParaRPr lang="ko-KR" altLang="en-US"/>
          </a:p>
        </p:txBody>
      </p:sp>
      <p:sp>
        <p:nvSpPr>
          <p:cNvPr id="20" name="Text 18"/>
          <p:cNvSpPr/>
          <p:nvPr/>
        </p:nvSpPr>
        <p:spPr>
          <a:xfrm>
            <a:off x="859536" y="3877056"/>
            <a:ext cx="1847088" cy="621792"/>
          </a:xfrm>
          <a:prstGeom prst="rect">
            <a:avLst/>
          </a:prstGeom>
          <a:noFill/>
          <a:ln/>
        </p:spPr>
        <p:txBody>
          <a:bodyPr wrap="square" lIns="0" tIns="0" rIns="0" bIns="0" rtlCol="0" anchor="ctr"/>
          <a:lstStyle/>
          <a:p>
            <a:pPr marL="0" indent="0" algn="ctr">
              <a:lnSpc>
                <a:spcPts val="1900"/>
              </a:lnSpc>
              <a:buNone/>
            </a:pPr>
            <a:r>
              <a:rPr lang="en-US" sz="1300" b="1" dirty="0">
                <a:solidFill>
                  <a:srgbClr val="FFFFFF"/>
                </a:solidFill>
                <a:latin typeface="Pretendard" pitchFamily="34" charset="0"/>
                <a:ea typeface="Pretendard" pitchFamily="34" charset="-122"/>
                <a:cs typeface="Pretendard" pitchFamily="34" charset="-120"/>
              </a:rPr>
              <a:t>2004년 12월</a:t>
            </a:r>
            <a:endParaRPr lang="en-US" sz="1300" dirty="0"/>
          </a:p>
        </p:txBody>
      </p:sp>
      <p:sp>
        <p:nvSpPr>
          <p:cNvPr id="21" name="Shape 19"/>
          <p:cNvSpPr/>
          <p:nvPr/>
        </p:nvSpPr>
        <p:spPr>
          <a:xfrm>
            <a:off x="3090672" y="3877056"/>
            <a:ext cx="8366760" cy="621792"/>
          </a:xfrm>
          <a:prstGeom prst="rect">
            <a:avLst/>
          </a:prstGeom>
          <a:solidFill>
            <a:srgbClr val="FFFFFF"/>
          </a:solidFill>
          <a:ln w="12700">
            <a:solidFill>
              <a:srgbClr val="DCE0E8"/>
            </a:solidFill>
            <a:prstDash val="solid"/>
          </a:ln>
        </p:spPr>
        <p:txBody>
          <a:bodyPr/>
          <a:lstStyle/>
          <a:p>
            <a:endParaRPr lang="ko-KR" altLang="en-US"/>
          </a:p>
        </p:txBody>
      </p:sp>
      <p:sp>
        <p:nvSpPr>
          <p:cNvPr id="22" name="Text 20"/>
          <p:cNvSpPr/>
          <p:nvPr/>
        </p:nvSpPr>
        <p:spPr>
          <a:xfrm>
            <a:off x="3328416" y="3950208"/>
            <a:ext cx="7891272" cy="274320"/>
          </a:xfrm>
          <a:prstGeom prst="rect">
            <a:avLst/>
          </a:prstGeom>
          <a:noFill/>
          <a:ln/>
        </p:spPr>
        <p:txBody>
          <a:bodyPr wrap="square" lIns="0" tIns="0" rIns="0" bIns="0" rtlCol="0" anchor="ctr"/>
          <a:lstStyle/>
          <a:p>
            <a:pPr marL="0" indent="0">
              <a:buNone/>
            </a:pPr>
            <a:r>
              <a:rPr lang="en-US" sz="1250" b="1" dirty="0">
                <a:solidFill>
                  <a:srgbClr val="222633"/>
                </a:solidFill>
                <a:highlight>
                  <a:srgbClr val="FFFF00"/>
                </a:highlight>
                <a:latin typeface="Pretendard" pitchFamily="34" charset="0"/>
                <a:ea typeface="Pretendard" pitchFamily="34" charset="-122"/>
                <a:cs typeface="Pretendard" pitchFamily="34" charset="-120"/>
              </a:rPr>
              <a:t>원심은 명령 불이행에 대한 간접 형사적 법정모욕을 인정했다</a:t>
            </a:r>
            <a:endParaRPr lang="en-US" sz="1250" dirty="0">
              <a:highlight>
                <a:srgbClr val="FFFF00"/>
              </a:highlight>
            </a:endParaRPr>
          </a:p>
        </p:txBody>
      </p:sp>
      <p:sp>
        <p:nvSpPr>
          <p:cNvPr id="23" name="Text 21"/>
          <p:cNvSpPr/>
          <p:nvPr/>
        </p:nvSpPr>
        <p:spPr>
          <a:xfrm>
            <a:off x="3328416" y="4224528"/>
            <a:ext cx="7891272" cy="201168"/>
          </a:xfrm>
          <a:prstGeom prst="rect">
            <a:avLst/>
          </a:prstGeom>
          <a:noFill/>
          <a:ln/>
        </p:spPr>
        <p:txBody>
          <a:bodyPr wrap="square" lIns="0" tIns="0" rIns="0" bIns="0" rtlCol="0" anchor="t"/>
          <a:lstStyle/>
          <a:p>
            <a:pPr marL="0" indent="0">
              <a:lnSpc>
                <a:spcPts val="1700"/>
              </a:lnSpc>
              <a:buNone/>
            </a:pPr>
            <a:r>
              <a:rPr lang="en-US" sz="1150" dirty="0">
                <a:solidFill>
                  <a:srgbClr val="464D5C"/>
                </a:solidFill>
                <a:latin typeface="Pretendard" pitchFamily="34" charset="0"/>
                <a:ea typeface="Pretendard" pitchFamily="34" charset="-122"/>
                <a:cs typeface="Pretendard" pitchFamily="34" charset="-120"/>
              </a:rPr>
              <a:t>법원이 승인한 치료 참여 의무를 따르지 않았다는 이유다</a:t>
            </a:r>
            <a:endParaRPr lang="en-US" sz="1150" dirty="0"/>
          </a:p>
        </p:txBody>
      </p:sp>
      <p:sp>
        <p:nvSpPr>
          <p:cNvPr id="24" name="Text 22"/>
          <p:cNvSpPr/>
          <p:nvPr/>
        </p:nvSpPr>
        <p:spPr>
          <a:xfrm>
            <a:off x="731520" y="4626864"/>
            <a:ext cx="10725912" cy="237744"/>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법원이 명령한 순서</a:t>
            </a:r>
            <a:endParaRPr lang="en-US" sz="1150" dirty="0"/>
          </a:p>
        </p:txBody>
      </p:sp>
      <p:sp>
        <p:nvSpPr>
          <p:cNvPr id="25" name="Shape 23"/>
          <p:cNvSpPr/>
          <p:nvPr/>
        </p:nvSpPr>
        <p:spPr>
          <a:xfrm>
            <a:off x="731520" y="4901184"/>
            <a:ext cx="3307080" cy="658368"/>
          </a:xfrm>
          <a:prstGeom prst="rect">
            <a:avLst/>
          </a:prstGeom>
          <a:solidFill>
            <a:srgbClr val="FFFFFF"/>
          </a:solidFill>
          <a:ln w="12700">
            <a:solidFill>
              <a:srgbClr val="DCE0E8"/>
            </a:solidFill>
            <a:prstDash val="solid"/>
          </a:ln>
        </p:spPr>
        <p:txBody>
          <a:bodyPr/>
          <a:lstStyle/>
          <a:p>
            <a:endParaRPr lang="ko-KR" altLang="en-US"/>
          </a:p>
        </p:txBody>
      </p:sp>
      <p:sp>
        <p:nvSpPr>
          <p:cNvPr id="26" name="Text 24"/>
          <p:cNvSpPr/>
          <p:nvPr/>
        </p:nvSpPr>
        <p:spPr>
          <a:xfrm>
            <a:off x="841248" y="4992624"/>
            <a:ext cx="3087624" cy="256032"/>
          </a:xfrm>
          <a:prstGeom prst="rect">
            <a:avLst/>
          </a:prstGeom>
          <a:noFill/>
          <a:ln/>
        </p:spPr>
        <p:txBody>
          <a:bodyPr wrap="square" lIns="0" tIns="0" rIns="0" bIns="0" rtlCol="0" anchor="ctr"/>
          <a:lstStyle/>
          <a:p>
            <a:pPr marL="0" indent="0" algn="ctr">
              <a:buNone/>
            </a:pPr>
            <a:r>
              <a:rPr lang="en-US" sz="1250" b="1" dirty="0">
                <a:solidFill>
                  <a:srgbClr val="1E2761"/>
                </a:solidFill>
                <a:highlight>
                  <a:srgbClr val="FFFF00"/>
                </a:highlight>
                <a:latin typeface="Pretendard" pitchFamily="34" charset="0"/>
                <a:ea typeface="Pretendard" pitchFamily="34" charset="-122"/>
                <a:cs typeface="Pretendard" pitchFamily="34" charset="-120"/>
              </a:rPr>
              <a:t>소년구금시설</a:t>
            </a:r>
            <a:endParaRPr lang="en-US" sz="1250" dirty="0">
              <a:highlight>
                <a:srgbClr val="FFFF00"/>
              </a:highlight>
            </a:endParaRPr>
          </a:p>
        </p:txBody>
      </p:sp>
      <p:sp>
        <p:nvSpPr>
          <p:cNvPr id="27" name="Text 25"/>
          <p:cNvSpPr/>
          <p:nvPr/>
        </p:nvSpPr>
        <p:spPr>
          <a:xfrm>
            <a:off x="841248" y="5248656"/>
            <a:ext cx="3087624" cy="237744"/>
          </a:xfrm>
          <a:prstGeom prst="rect">
            <a:avLst/>
          </a:prstGeom>
          <a:noFill/>
          <a:ln/>
        </p:spPr>
        <p:txBody>
          <a:bodyPr wrap="square" lIns="0" tIns="0" rIns="0" bIns="0" rtlCol="0" anchor="t"/>
          <a:lstStyle/>
          <a:p>
            <a:pPr marL="0" indent="0" algn="ctr">
              <a:lnSpc>
                <a:spcPts val="1600"/>
              </a:lnSpc>
              <a:buNone/>
            </a:pPr>
            <a:r>
              <a:rPr lang="en-US" sz="1150" dirty="0">
                <a:solidFill>
                  <a:srgbClr val="464D5C"/>
                </a:solidFill>
                <a:latin typeface="Pretendard" pitchFamily="34" charset="0"/>
                <a:ea typeface="Pretendard" pitchFamily="34" charset="-122"/>
                <a:cs typeface="Pretendard" pitchFamily="34" charset="-120"/>
              </a:rPr>
              <a:t>10일 수용</a:t>
            </a:r>
            <a:endParaRPr lang="en-US" sz="1150" dirty="0"/>
          </a:p>
        </p:txBody>
      </p:sp>
      <p:sp>
        <p:nvSpPr>
          <p:cNvPr id="28" name="Text 26"/>
          <p:cNvSpPr/>
          <p:nvPr/>
        </p:nvSpPr>
        <p:spPr>
          <a:xfrm>
            <a:off x="4038600" y="4901184"/>
            <a:ext cx="402336" cy="658368"/>
          </a:xfrm>
          <a:prstGeom prst="rect">
            <a:avLst/>
          </a:prstGeom>
          <a:noFill/>
          <a:ln/>
        </p:spPr>
        <p:txBody>
          <a:bodyPr wrap="square" lIns="0" tIns="0" rIns="0" bIns="0" rtlCol="0" anchor="ctr"/>
          <a:lstStyle/>
          <a:p>
            <a:pPr marL="0" indent="0" algn="ctr">
              <a:buNone/>
            </a:pPr>
            <a:r>
              <a:rPr lang="en-US" sz="1400" dirty="0">
                <a:solidFill>
                  <a:srgbClr val="6E7686"/>
                </a:solidFill>
                <a:latin typeface="Pretendard" pitchFamily="34" charset="0"/>
                <a:ea typeface="Pretendard" pitchFamily="34" charset="-122"/>
                <a:cs typeface="Pretendard" pitchFamily="34" charset="-120"/>
              </a:rPr>
              <a:t>→</a:t>
            </a:r>
            <a:endParaRPr lang="en-US" sz="1400" dirty="0"/>
          </a:p>
        </p:txBody>
      </p:sp>
      <p:sp>
        <p:nvSpPr>
          <p:cNvPr id="29" name="Shape 27"/>
          <p:cNvSpPr/>
          <p:nvPr/>
        </p:nvSpPr>
        <p:spPr>
          <a:xfrm>
            <a:off x="4440936" y="4901184"/>
            <a:ext cx="3307080" cy="658368"/>
          </a:xfrm>
          <a:prstGeom prst="rect">
            <a:avLst/>
          </a:prstGeom>
          <a:solidFill>
            <a:srgbClr val="FFFFFF"/>
          </a:solidFill>
          <a:ln w="12700">
            <a:solidFill>
              <a:srgbClr val="DCE0E8"/>
            </a:solidFill>
            <a:prstDash val="solid"/>
          </a:ln>
        </p:spPr>
        <p:txBody>
          <a:bodyPr/>
          <a:lstStyle/>
          <a:p>
            <a:endParaRPr lang="ko-KR" altLang="en-US"/>
          </a:p>
        </p:txBody>
      </p:sp>
      <p:sp>
        <p:nvSpPr>
          <p:cNvPr id="30" name="Text 28"/>
          <p:cNvSpPr/>
          <p:nvPr/>
        </p:nvSpPr>
        <p:spPr>
          <a:xfrm>
            <a:off x="4550664" y="4992624"/>
            <a:ext cx="3087624" cy="256032"/>
          </a:xfrm>
          <a:prstGeom prst="rect">
            <a:avLst/>
          </a:prstGeom>
          <a:noFill/>
          <a:ln/>
        </p:spPr>
        <p:txBody>
          <a:bodyPr wrap="square" lIns="0" tIns="0" rIns="0" bIns="0" rtlCol="0" anchor="ctr"/>
          <a:lstStyle/>
          <a:p>
            <a:pPr marL="0" indent="0" algn="ctr">
              <a:buNone/>
            </a:pPr>
            <a:r>
              <a:rPr lang="ko-KR" altLang="en-US" sz="1250" b="1" dirty="0">
                <a:solidFill>
                  <a:srgbClr val="1E2761"/>
                </a:solidFill>
                <a:latin typeface="Pretendard" pitchFamily="34" charset="0"/>
                <a:ea typeface="Pretendard" pitchFamily="34" charset="-122"/>
                <a:cs typeface="Pretendard" pitchFamily="34" charset="-120"/>
              </a:rPr>
              <a:t>지역사회 치료서비스</a:t>
            </a:r>
            <a:r>
              <a:rPr lang="en-US" sz="1250" b="1" dirty="0">
                <a:solidFill>
                  <a:srgbClr val="1E2761"/>
                </a:solidFill>
                <a:latin typeface="Pretendard" pitchFamily="34" charset="0"/>
                <a:ea typeface="Pretendard" pitchFamily="34" charset="-122"/>
                <a:cs typeface="Pretendard" pitchFamily="34" charset="-120"/>
              </a:rPr>
              <a:t> 운영 </a:t>
            </a:r>
            <a:r>
              <a:rPr lang="en-US" sz="1250" b="1" dirty="0">
                <a:solidFill>
                  <a:srgbClr val="1E2761"/>
                </a:solidFill>
                <a:highlight>
                  <a:srgbClr val="FFFF00"/>
                </a:highlight>
                <a:latin typeface="Pretendard" pitchFamily="34" charset="0"/>
                <a:ea typeface="Pretendard" pitchFamily="34" charset="-122"/>
                <a:cs typeface="Pretendard" pitchFamily="34" charset="-120"/>
              </a:rPr>
              <a:t>중독 관련 입소시설</a:t>
            </a:r>
            <a:endParaRPr lang="en-US" sz="1250" dirty="0">
              <a:highlight>
                <a:srgbClr val="FFFF00"/>
              </a:highlight>
            </a:endParaRPr>
          </a:p>
        </p:txBody>
      </p:sp>
      <p:sp>
        <p:nvSpPr>
          <p:cNvPr id="31" name="Text 29"/>
          <p:cNvSpPr/>
          <p:nvPr/>
        </p:nvSpPr>
        <p:spPr>
          <a:xfrm>
            <a:off x="4550664" y="5248656"/>
            <a:ext cx="3087624" cy="237744"/>
          </a:xfrm>
          <a:prstGeom prst="rect">
            <a:avLst/>
          </a:prstGeom>
          <a:noFill/>
          <a:ln/>
        </p:spPr>
        <p:txBody>
          <a:bodyPr wrap="square" lIns="0" tIns="0" rIns="0" bIns="0" rtlCol="0" anchor="t"/>
          <a:lstStyle/>
          <a:p>
            <a:pPr marL="0" indent="0" algn="ctr">
              <a:lnSpc>
                <a:spcPts val="1600"/>
              </a:lnSpc>
              <a:buNone/>
            </a:pPr>
            <a:r>
              <a:rPr lang="en-US" sz="1150" dirty="0">
                <a:solidFill>
                  <a:srgbClr val="464D5C"/>
                </a:solidFill>
                <a:latin typeface="Pretendard" pitchFamily="34" charset="0"/>
                <a:ea typeface="Pretendard" pitchFamily="34" charset="-122"/>
                <a:cs typeface="Pretendard" pitchFamily="34" charset="-120"/>
              </a:rPr>
              <a:t>주거형 치료 배치까지 수용</a:t>
            </a:r>
            <a:endParaRPr lang="en-US" sz="1150" dirty="0"/>
          </a:p>
        </p:txBody>
      </p:sp>
      <p:sp>
        <p:nvSpPr>
          <p:cNvPr id="32" name="Text 30"/>
          <p:cNvSpPr/>
          <p:nvPr/>
        </p:nvSpPr>
        <p:spPr>
          <a:xfrm>
            <a:off x="7748016" y="4901184"/>
            <a:ext cx="402336" cy="658368"/>
          </a:xfrm>
          <a:prstGeom prst="rect">
            <a:avLst/>
          </a:prstGeom>
          <a:noFill/>
          <a:ln/>
        </p:spPr>
        <p:txBody>
          <a:bodyPr wrap="square" lIns="0" tIns="0" rIns="0" bIns="0" rtlCol="0" anchor="ctr"/>
          <a:lstStyle/>
          <a:p>
            <a:pPr marL="0" indent="0" algn="ctr">
              <a:buNone/>
            </a:pPr>
            <a:r>
              <a:rPr lang="en-US" sz="1400" dirty="0">
                <a:solidFill>
                  <a:srgbClr val="6E7686"/>
                </a:solidFill>
                <a:latin typeface="Pretendard" pitchFamily="34" charset="0"/>
                <a:ea typeface="Pretendard" pitchFamily="34" charset="-122"/>
                <a:cs typeface="Pretendard" pitchFamily="34" charset="-120"/>
              </a:rPr>
              <a:t>→</a:t>
            </a:r>
            <a:endParaRPr lang="en-US" sz="1400" dirty="0"/>
          </a:p>
        </p:txBody>
      </p:sp>
      <p:sp>
        <p:nvSpPr>
          <p:cNvPr id="33" name="Shape 31"/>
          <p:cNvSpPr/>
          <p:nvPr/>
        </p:nvSpPr>
        <p:spPr>
          <a:xfrm>
            <a:off x="8150352" y="4901184"/>
            <a:ext cx="3307080" cy="658368"/>
          </a:xfrm>
          <a:prstGeom prst="rect">
            <a:avLst/>
          </a:prstGeom>
          <a:solidFill>
            <a:srgbClr val="FFFFFF"/>
          </a:solidFill>
          <a:ln w="12700">
            <a:solidFill>
              <a:srgbClr val="DCE0E8"/>
            </a:solidFill>
            <a:prstDash val="solid"/>
          </a:ln>
        </p:spPr>
        <p:txBody>
          <a:bodyPr/>
          <a:lstStyle/>
          <a:p>
            <a:endParaRPr lang="ko-KR" altLang="en-US"/>
          </a:p>
        </p:txBody>
      </p:sp>
      <p:sp>
        <p:nvSpPr>
          <p:cNvPr id="34" name="Text 32"/>
          <p:cNvSpPr/>
          <p:nvPr/>
        </p:nvSpPr>
        <p:spPr>
          <a:xfrm>
            <a:off x="8260080" y="4992624"/>
            <a:ext cx="3087624" cy="256032"/>
          </a:xfrm>
          <a:prstGeom prst="rect">
            <a:avLst/>
          </a:prstGeom>
          <a:noFill/>
          <a:ln/>
        </p:spPr>
        <p:txBody>
          <a:bodyPr wrap="square" lIns="0" tIns="0" rIns="0" bIns="0" rtlCol="0" anchor="ctr"/>
          <a:lstStyle/>
          <a:p>
            <a:pPr marL="0" indent="0" algn="ctr">
              <a:buNone/>
            </a:pPr>
            <a:r>
              <a:rPr lang="en-US" sz="1250" b="1" dirty="0">
                <a:solidFill>
                  <a:srgbClr val="1E2761"/>
                </a:solidFill>
                <a:highlight>
                  <a:srgbClr val="FFFF00"/>
                </a:highlight>
                <a:latin typeface="Pretendard" pitchFamily="34" charset="0"/>
                <a:ea typeface="Pretendard" pitchFamily="34" charset="-122"/>
                <a:cs typeface="Pretendard" pitchFamily="34" charset="-120"/>
              </a:rPr>
              <a:t>주거형 치료</a:t>
            </a:r>
            <a:endParaRPr lang="en-US" sz="1250" dirty="0">
              <a:highlight>
                <a:srgbClr val="FFFF00"/>
              </a:highlight>
            </a:endParaRPr>
          </a:p>
        </p:txBody>
      </p:sp>
      <p:sp>
        <p:nvSpPr>
          <p:cNvPr id="35" name="Text 33"/>
          <p:cNvSpPr/>
          <p:nvPr/>
        </p:nvSpPr>
        <p:spPr>
          <a:xfrm>
            <a:off x="8260080" y="5248656"/>
            <a:ext cx="3087624" cy="237744"/>
          </a:xfrm>
          <a:prstGeom prst="rect">
            <a:avLst/>
          </a:prstGeom>
          <a:noFill/>
          <a:ln/>
        </p:spPr>
        <p:txBody>
          <a:bodyPr wrap="square" lIns="0" tIns="0" rIns="0" bIns="0" rtlCol="0" anchor="t"/>
          <a:lstStyle/>
          <a:p>
            <a:pPr marL="0" indent="0" algn="ctr">
              <a:lnSpc>
                <a:spcPts val="1600"/>
              </a:lnSpc>
              <a:buNone/>
            </a:pPr>
            <a:r>
              <a:rPr lang="en-US" sz="1150" dirty="0">
                <a:solidFill>
                  <a:srgbClr val="464D5C"/>
                </a:solidFill>
                <a:latin typeface="Pretendard" pitchFamily="34" charset="0"/>
                <a:ea typeface="Pretendard" pitchFamily="34" charset="-122"/>
                <a:cs typeface="Pretendard" pitchFamily="34" charset="-120"/>
              </a:rPr>
              <a:t>배치 명령</a:t>
            </a:r>
            <a:endParaRPr lang="en-US" sz="1150" dirty="0"/>
          </a:p>
        </p:txBody>
      </p:sp>
      <p:sp>
        <p:nvSpPr>
          <p:cNvPr id="36" name="Text 34"/>
          <p:cNvSpPr/>
          <p:nvPr/>
        </p:nvSpPr>
        <p:spPr>
          <a:xfrm>
            <a:off x="731520" y="5632704"/>
            <a:ext cx="10725912" cy="219456"/>
          </a:xfrm>
          <a:prstGeom prst="rect">
            <a:avLst/>
          </a:prstGeom>
          <a:noFill/>
          <a:ln/>
        </p:spPr>
        <p:txBody>
          <a:bodyPr wrap="square" lIns="0" tIns="0" rIns="0" bIns="0" rtlCol="0" anchor="ctr"/>
          <a:lstStyle/>
          <a:p>
            <a:pPr marL="0" indent="0">
              <a:buNone/>
            </a:pPr>
            <a:r>
              <a:rPr lang="en-US" sz="1100" dirty="0">
                <a:solidFill>
                  <a:srgbClr val="6E7686"/>
                </a:solidFill>
                <a:latin typeface="Pretendard" pitchFamily="34" charset="0"/>
                <a:ea typeface="Pretendard" pitchFamily="34" charset="-122"/>
                <a:cs typeface="Pretendard" pitchFamily="34" charset="-120"/>
              </a:rPr>
              <a:t>법정모욕: 이 사건에서는 법원 명령 불이행에 대한 제재 판단을 뜻한다</a:t>
            </a:r>
            <a:endParaRPr lang="en-US" sz="1100" dirty="0"/>
          </a:p>
        </p:txBody>
      </p:sp>
      <p:sp>
        <p:nvSpPr>
          <p:cNvPr id="38" name="Text 36"/>
          <p:cNvSpPr/>
          <p:nvPr/>
        </p:nvSpPr>
        <p:spPr>
          <a:xfrm>
            <a:off x="731520" y="5980176"/>
            <a:ext cx="10725912" cy="420624"/>
          </a:xfrm>
          <a:prstGeom prst="rect">
            <a:avLst/>
          </a:prstGeom>
          <a:solidFill>
            <a:schemeClr val="accent1">
              <a:lumMod val="20000"/>
              <a:lumOff val="80000"/>
            </a:schemeClr>
          </a:solidFill>
          <a:ln/>
        </p:spPr>
        <p:txBody>
          <a:bodyPr wrap="square" lIns="0" tIns="0" rIns="0" bIns="0" rtlCol="0" anchor="ctr"/>
          <a:lstStyle/>
          <a:p>
            <a:pPr algn="ctr"/>
            <a:r>
              <a:rPr lang="ko-KR" altLang="en-US" sz="1250" b="1" dirty="0">
                <a:solidFill>
                  <a:srgbClr val="1E2761"/>
                </a:solidFill>
                <a:latin typeface="Pretendard" pitchFamily="34" charset="0"/>
                <a:ea typeface="Pretendard" pitchFamily="34" charset="-122"/>
                <a:cs typeface="Pretendard" pitchFamily="34" charset="-120"/>
              </a:rPr>
              <a:t>치료를 우선하는 경로에서 어느 정도의 강제와 자유 제한까지 정당화할 수 있는가</a:t>
            </a:r>
            <a:r>
              <a:rPr lang="en-US" altLang="ko-KR" sz="1250" b="1" dirty="0">
                <a:solidFill>
                  <a:srgbClr val="1E2761"/>
                </a:solidFill>
                <a:latin typeface="Pretendard" pitchFamily="34" charset="0"/>
                <a:ea typeface="Pretendard" pitchFamily="34" charset="-122"/>
                <a:cs typeface="Pretendard" pitchFamily="34" charset="-120"/>
              </a:rPr>
              <a:t>?</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521208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5. 치료·재활의 실행 조건</a:t>
            </a:r>
            <a:endParaRPr lang="en-US" sz="1250" dirty="0"/>
          </a:p>
        </p:txBody>
      </p:sp>
      <p:sp>
        <p:nvSpPr>
          <p:cNvPr id="3" name="Text 1"/>
          <p:cNvSpPr/>
          <p:nvPr/>
        </p:nvSpPr>
        <p:spPr>
          <a:xfrm>
            <a:off x="6035040" y="384048"/>
            <a:ext cx="5422392" cy="256032"/>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청소년 치료시설의 병상과 대기</a:t>
            </a:r>
            <a:endParaRPr lang="en-US" sz="1050" dirty="0"/>
          </a:p>
        </p:txBody>
      </p:sp>
      <p:sp>
        <p:nvSpPr>
          <p:cNvPr id="4" name="Text 2"/>
          <p:cNvSpPr/>
          <p:nvPr/>
        </p:nvSpPr>
        <p:spPr>
          <a:xfrm>
            <a:off x="731520" y="640080"/>
            <a:ext cx="10725912" cy="640080"/>
          </a:xfrm>
          <a:prstGeom prst="rect">
            <a:avLst/>
          </a:prstGeom>
          <a:noFill/>
          <a:ln/>
        </p:spPr>
        <p:txBody>
          <a:bodyPr wrap="square" lIns="0" tIns="0" rIns="0" bIns="0" rtlCol="0" anchor="ctr"/>
          <a:lstStyle/>
          <a:p>
            <a:pPr marL="0" indent="0">
              <a:buNone/>
            </a:pPr>
            <a:r>
              <a:rPr lang="en-US" sz="2750" b="1" dirty="0">
                <a:solidFill>
                  <a:srgbClr val="1E2761"/>
                </a:solidFill>
                <a:latin typeface="Pretendard" pitchFamily="34" charset="0"/>
                <a:ea typeface="Pretendard" pitchFamily="34" charset="-122"/>
                <a:cs typeface="Pretendard" pitchFamily="34" charset="-120"/>
              </a:rPr>
              <a:t>치료 참여의무 위반 — 법정모욕 판단과 시설수용 제재의 한계</a:t>
            </a:r>
            <a:endParaRPr lang="en-US" sz="2750" dirty="0"/>
          </a:p>
        </p:txBody>
      </p:sp>
      <p:sp>
        <p:nvSpPr>
          <p:cNvPr id="5" name="Shape 3"/>
          <p:cNvSpPr/>
          <p:nvPr/>
        </p:nvSpPr>
        <p:spPr>
          <a:xfrm>
            <a:off x="731520" y="1316736"/>
            <a:ext cx="10725912"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417320"/>
            <a:ext cx="10725912" cy="548640"/>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1005840" y="1417320"/>
            <a:ext cx="10149840" cy="548640"/>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치료 참여를 확보할 대응 수단과, 그 수단이 허용되는 요건 · 범위를 함께 정해야 한다</a:t>
            </a:r>
            <a:endParaRPr lang="en-US" sz="1300" dirty="0"/>
          </a:p>
        </p:txBody>
      </p:sp>
      <p:sp>
        <p:nvSpPr>
          <p:cNvPr id="8" name="Text 6"/>
          <p:cNvSpPr/>
          <p:nvPr/>
        </p:nvSpPr>
        <p:spPr>
          <a:xfrm>
            <a:off x="731520" y="2084832"/>
            <a:ext cx="10725912" cy="237744"/>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사건   </a:t>
            </a:r>
            <a:r>
              <a:rPr lang="en-US" sz="1150" dirty="0">
                <a:solidFill>
                  <a:srgbClr val="222633"/>
                </a:solidFill>
                <a:latin typeface="Pretendard" pitchFamily="34" charset="0"/>
                <a:ea typeface="Pretendard" pitchFamily="34" charset="-122"/>
                <a:cs typeface="Pretendard" pitchFamily="34" charset="-120"/>
              </a:rPr>
              <a:t>T.N. v. Portesy(2005) · 앞 화면과 </a:t>
            </a:r>
            <a:r>
              <a:rPr lang="en-US" sz="1150" dirty="0" err="1">
                <a:solidFill>
                  <a:srgbClr val="222633"/>
                </a:solidFill>
                <a:latin typeface="Pretendard" pitchFamily="34" charset="0"/>
                <a:ea typeface="Pretendard" pitchFamily="34" charset="-122"/>
                <a:cs typeface="Pretendard" pitchFamily="34" charset="-120"/>
              </a:rPr>
              <a:t>같은</a:t>
            </a:r>
            <a:r>
              <a:rPr lang="en-US" sz="1150" dirty="0">
                <a:solidFill>
                  <a:srgbClr val="222633"/>
                </a:solidFill>
                <a:latin typeface="Pretendard" pitchFamily="34" charset="0"/>
                <a:ea typeface="Pretendard" pitchFamily="34" charset="-122"/>
                <a:cs typeface="Pretendard" pitchFamily="34" charset="-120"/>
              </a:rPr>
              <a:t> </a:t>
            </a:r>
            <a:r>
              <a:rPr lang="en-US" sz="1150" dirty="0" err="1">
                <a:solidFill>
                  <a:srgbClr val="222633"/>
                </a:solidFill>
                <a:latin typeface="Pretendard" pitchFamily="34" charset="0"/>
                <a:ea typeface="Pretendard" pitchFamily="34" charset="-122"/>
                <a:cs typeface="Pretendard" pitchFamily="34" charset="-120"/>
              </a:rPr>
              <a:t>사건</a:t>
            </a:r>
            <a:r>
              <a:rPr lang="ko-KR" altLang="en-US" sz="1150" dirty="0">
                <a:solidFill>
                  <a:srgbClr val="222633"/>
                </a:solidFill>
                <a:latin typeface="Pretendard" pitchFamily="34" charset="0"/>
                <a:ea typeface="Pretendard" pitchFamily="34" charset="-122"/>
                <a:cs typeface="Pretendard" pitchFamily="34" charset="-120"/>
              </a:rPr>
              <a:t>의 </a:t>
            </a:r>
            <a:r>
              <a:rPr lang="ko-KR" altLang="en-US" sz="1150" b="1" dirty="0">
                <a:solidFill>
                  <a:srgbClr val="222633"/>
                </a:solidFill>
                <a:latin typeface="Pretendard" pitchFamily="34" charset="0"/>
                <a:ea typeface="Pretendard" pitchFamily="34" charset="-122"/>
                <a:cs typeface="Pretendard" pitchFamily="34" charset="-120"/>
              </a:rPr>
              <a:t>항소법원 결정</a:t>
            </a:r>
            <a:endParaRPr lang="en-US" sz="1150" b="1" dirty="0"/>
          </a:p>
        </p:txBody>
      </p:sp>
      <p:sp>
        <p:nvSpPr>
          <p:cNvPr id="9" name="Shape 7"/>
          <p:cNvSpPr/>
          <p:nvPr/>
        </p:nvSpPr>
        <p:spPr>
          <a:xfrm>
            <a:off x="731520" y="2395728"/>
            <a:ext cx="5175504" cy="1700784"/>
          </a:xfrm>
          <a:prstGeom prst="rect">
            <a:avLst/>
          </a:prstGeom>
          <a:solidFill>
            <a:srgbClr val="FFFFFF"/>
          </a:solidFill>
          <a:ln w="12700">
            <a:solidFill>
              <a:srgbClr val="DCE0E8"/>
            </a:solidFill>
            <a:prstDash val="solid"/>
          </a:ln>
        </p:spPr>
        <p:txBody>
          <a:bodyPr/>
          <a:lstStyle/>
          <a:p>
            <a:endParaRPr lang="ko-KR" altLang="en-US"/>
          </a:p>
        </p:txBody>
      </p:sp>
      <p:sp>
        <p:nvSpPr>
          <p:cNvPr id="10" name="Text 8"/>
          <p:cNvSpPr/>
          <p:nvPr/>
        </p:nvSpPr>
        <p:spPr>
          <a:xfrm>
            <a:off x="987552" y="2487168"/>
            <a:ext cx="4663440" cy="274320"/>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법정모욕 판단 유지</a:t>
            </a:r>
            <a:endParaRPr lang="en-US" sz="1300" dirty="0"/>
          </a:p>
        </p:txBody>
      </p:sp>
      <p:sp>
        <p:nvSpPr>
          <p:cNvPr id="11" name="Shape 9"/>
          <p:cNvSpPr/>
          <p:nvPr/>
        </p:nvSpPr>
        <p:spPr>
          <a:xfrm>
            <a:off x="987552" y="2816352"/>
            <a:ext cx="4663440" cy="0"/>
          </a:xfrm>
          <a:prstGeom prst="line">
            <a:avLst/>
          </a:prstGeom>
          <a:noFill/>
          <a:ln w="12700">
            <a:solidFill>
              <a:srgbClr val="DCE0E8"/>
            </a:solidFill>
            <a:prstDash val="solid"/>
          </a:ln>
        </p:spPr>
        <p:txBody>
          <a:bodyPr/>
          <a:lstStyle/>
          <a:p>
            <a:endParaRPr lang="ko-KR" altLang="en-US"/>
          </a:p>
        </p:txBody>
      </p:sp>
      <p:sp>
        <p:nvSpPr>
          <p:cNvPr id="12" name="Text 10"/>
          <p:cNvSpPr/>
          <p:nvPr/>
        </p:nvSpPr>
        <p:spPr>
          <a:xfrm>
            <a:off x="987552" y="3071079"/>
            <a:ext cx="4663440" cy="292608"/>
          </a:xfrm>
          <a:prstGeom prst="rect">
            <a:avLst/>
          </a:prstGeom>
          <a:noFill/>
          <a:ln/>
        </p:spPr>
        <p:txBody>
          <a:bodyPr wrap="square" lIns="0" tIns="0" rIns="0" bIns="0" rtlCol="0" anchor="t"/>
          <a:lstStyle/>
          <a:p>
            <a:pPr marL="0" indent="0">
              <a:lnSpc>
                <a:spcPts val="1900"/>
              </a:lnSpc>
              <a:buNone/>
            </a:pPr>
            <a:r>
              <a:rPr lang="en-US" sz="1250" b="1" dirty="0">
                <a:solidFill>
                  <a:srgbClr val="222633"/>
                </a:solidFill>
                <a:highlight>
                  <a:srgbClr val="FFFF00"/>
                </a:highlight>
                <a:latin typeface="Pretendard" pitchFamily="34" charset="0"/>
                <a:ea typeface="Pretendard" pitchFamily="34" charset="-122"/>
                <a:cs typeface="Pretendard" pitchFamily="34" charset="-120"/>
              </a:rPr>
              <a:t>법원이 승인한 치료 참여 의무의 불이행에 책임을 물을 수 있었다</a:t>
            </a:r>
            <a:endParaRPr lang="en-US" sz="1250" dirty="0">
              <a:highlight>
                <a:srgbClr val="FFFF00"/>
              </a:highlight>
            </a:endParaRPr>
          </a:p>
        </p:txBody>
      </p:sp>
      <p:sp>
        <p:nvSpPr>
          <p:cNvPr id="13" name="Text 11"/>
          <p:cNvSpPr/>
          <p:nvPr/>
        </p:nvSpPr>
        <p:spPr>
          <a:xfrm>
            <a:off x="987552" y="3419856"/>
            <a:ext cx="4663440" cy="365760"/>
          </a:xfrm>
          <a:prstGeom prst="rect">
            <a:avLst/>
          </a:prstGeom>
          <a:noFill/>
          <a:ln/>
        </p:spPr>
        <p:txBody>
          <a:bodyPr wrap="square" lIns="0" tIns="0" rIns="0" bIns="0" rtlCol="0" anchor="t"/>
          <a:lstStyle/>
          <a:p>
            <a:pPr marL="0" indent="0">
              <a:lnSpc>
                <a:spcPts val="1700"/>
              </a:lnSpc>
              <a:buNone/>
            </a:pPr>
            <a:r>
              <a:rPr lang="en-US" sz="1150" dirty="0">
                <a:solidFill>
                  <a:srgbClr val="464D5C"/>
                </a:solidFill>
                <a:latin typeface="Pretendard" pitchFamily="34" charset="0"/>
                <a:ea typeface="Pretendard" pitchFamily="34" charset="-122"/>
                <a:cs typeface="Pretendard" pitchFamily="34" charset="-120"/>
              </a:rPr>
              <a:t>항소법원은 법정모욕을 인정한 원심 판단에 오류가 있다고 보지 않았다</a:t>
            </a:r>
            <a:endParaRPr lang="en-US" sz="1150" dirty="0"/>
          </a:p>
        </p:txBody>
      </p:sp>
      <p:sp>
        <p:nvSpPr>
          <p:cNvPr id="14" name="Shape 12"/>
          <p:cNvSpPr/>
          <p:nvPr/>
        </p:nvSpPr>
        <p:spPr>
          <a:xfrm>
            <a:off x="6281928" y="2386584"/>
            <a:ext cx="5175504" cy="1700784"/>
          </a:xfrm>
          <a:prstGeom prst="rect">
            <a:avLst/>
          </a:prstGeom>
          <a:solidFill>
            <a:srgbClr val="FFFFFF"/>
          </a:solidFill>
          <a:ln w="12700">
            <a:solidFill>
              <a:srgbClr val="DCE0E8"/>
            </a:solidFill>
            <a:prstDash val="solid"/>
          </a:ln>
        </p:spPr>
        <p:txBody>
          <a:bodyPr/>
          <a:lstStyle/>
          <a:p>
            <a:endParaRPr lang="ko-KR" altLang="en-US"/>
          </a:p>
        </p:txBody>
      </p:sp>
      <p:sp>
        <p:nvSpPr>
          <p:cNvPr id="15" name="Text 13"/>
          <p:cNvSpPr/>
          <p:nvPr/>
        </p:nvSpPr>
        <p:spPr>
          <a:xfrm>
            <a:off x="6537960" y="2487168"/>
            <a:ext cx="4663440" cy="274320"/>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시설수용 제재 취소</a:t>
            </a:r>
            <a:endParaRPr lang="en-US" sz="1300" dirty="0"/>
          </a:p>
        </p:txBody>
      </p:sp>
      <p:sp>
        <p:nvSpPr>
          <p:cNvPr id="16" name="Shape 14"/>
          <p:cNvSpPr/>
          <p:nvPr/>
        </p:nvSpPr>
        <p:spPr>
          <a:xfrm>
            <a:off x="6537960" y="2816352"/>
            <a:ext cx="4663440" cy="0"/>
          </a:xfrm>
          <a:prstGeom prst="line">
            <a:avLst/>
          </a:prstGeom>
          <a:noFill/>
          <a:ln w="12700">
            <a:solidFill>
              <a:srgbClr val="DCE0E8"/>
            </a:solidFill>
            <a:prstDash val="solid"/>
          </a:ln>
        </p:spPr>
        <p:txBody>
          <a:bodyPr/>
          <a:lstStyle/>
          <a:p>
            <a:endParaRPr lang="ko-KR" altLang="en-US"/>
          </a:p>
        </p:txBody>
      </p:sp>
      <p:sp>
        <p:nvSpPr>
          <p:cNvPr id="17" name="Text 15"/>
          <p:cNvSpPr/>
          <p:nvPr/>
        </p:nvSpPr>
        <p:spPr>
          <a:xfrm>
            <a:off x="6537960" y="2907792"/>
            <a:ext cx="4663440" cy="512064"/>
          </a:xfrm>
          <a:prstGeom prst="rect">
            <a:avLst/>
          </a:prstGeom>
          <a:noFill/>
          <a:ln/>
        </p:spPr>
        <p:txBody>
          <a:bodyPr wrap="square" lIns="0" tIns="0" rIns="0" bIns="0" rtlCol="0" anchor="t"/>
          <a:lstStyle/>
          <a:p>
            <a:pPr marL="0" indent="0">
              <a:lnSpc>
                <a:spcPts val="1900"/>
              </a:lnSpc>
              <a:buNone/>
            </a:pPr>
            <a:r>
              <a:rPr lang="en-US" sz="1250" b="1" dirty="0">
                <a:solidFill>
                  <a:srgbClr val="222633"/>
                </a:solidFill>
                <a:highlight>
                  <a:srgbClr val="FFFF00"/>
                </a:highlight>
                <a:latin typeface="Pretendard" pitchFamily="34" charset="0"/>
                <a:ea typeface="Pretendard" pitchFamily="34" charset="-122"/>
                <a:cs typeface="Pretendard" pitchFamily="34" charset="-120"/>
              </a:rPr>
              <a:t>당시 법률은 ACTS 시설 수용과 주거형 치료 </a:t>
            </a:r>
            <a:r>
              <a:rPr lang="en-US" sz="1250" b="1" dirty="0" err="1">
                <a:solidFill>
                  <a:srgbClr val="222633"/>
                </a:solidFill>
                <a:highlight>
                  <a:srgbClr val="FFFF00"/>
                </a:highlight>
                <a:latin typeface="Pretendard" pitchFamily="34" charset="0"/>
                <a:ea typeface="Pretendard" pitchFamily="34" charset="-122"/>
                <a:cs typeface="Pretendard" pitchFamily="34" charset="-120"/>
              </a:rPr>
              <a:t>배치를</a:t>
            </a:r>
            <a:r>
              <a:rPr lang="en-US" sz="1250" b="1" dirty="0">
                <a:solidFill>
                  <a:srgbClr val="222633"/>
                </a:solidFill>
                <a:highlight>
                  <a:srgbClr val="FFFF00"/>
                </a:highlight>
                <a:latin typeface="Pretendard" pitchFamily="34" charset="0"/>
                <a:ea typeface="Pretendard" pitchFamily="34" charset="-122"/>
                <a:cs typeface="Pretendard" pitchFamily="34" charset="-120"/>
              </a:rPr>
              <a:t> </a:t>
            </a: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치료 참여 의무 불이행</a:t>
            </a:r>
            <a:r>
              <a:rPr lang="en-US" sz="1250" b="1" dirty="0">
                <a:solidFill>
                  <a:srgbClr val="222633"/>
                </a:solidFill>
                <a:highlight>
                  <a:srgbClr val="FFFF00"/>
                </a:highlight>
                <a:latin typeface="Pretendard" pitchFamily="34" charset="0"/>
                <a:ea typeface="Pretendard" pitchFamily="34" charset="-122"/>
                <a:cs typeface="Pretendard" pitchFamily="34" charset="-120"/>
              </a:rPr>
              <a:t>의 제재로 허용하지 않았다</a:t>
            </a:r>
            <a:endParaRPr lang="en-US" sz="1250" dirty="0">
              <a:highlight>
                <a:srgbClr val="FFFF00"/>
              </a:highlight>
            </a:endParaRPr>
          </a:p>
        </p:txBody>
      </p:sp>
      <p:sp>
        <p:nvSpPr>
          <p:cNvPr id="18" name="Text 16"/>
          <p:cNvSpPr/>
          <p:nvPr/>
        </p:nvSpPr>
        <p:spPr>
          <a:xfrm>
            <a:off x="6537960" y="3419856"/>
            <a:ext cx="4663440" cy="219456"/>
          </a:xfrm>
          <a:prstGeom prst="rect">
            <a:avLst/>
          </a:prstGeom>
          <a:noFill/>
          <a:ln/>
        </p:spPr>
        <p:txBody>
          <a:bodyPr wrap="square" lIns="0" tIns="0" rIns="0" bIns="0" rtlCol="0" anchor="t"/>
          <a:lstStyle/>
          <a:p>
            <a:pPr marL="0" indent="0">
              <a:lnSpc>
                <a:spcPts val="1700"/>
              </a:lnSpc>
              <a:buNone/>
            </a:pPr>
            <a:r>
              <a:rPr lang="en-US" sz="1150" b="1" dirty="0">
                <a:solidFill>
                  <a:srgbClr val="464D5C"/>
                </a:solidFill>
                <a:latin typeface="Pretendard" pitchFamily="34" charset="0"/>
                <a:ea typeface="Pretendard" pitchFamily="34" charset="-122"/>
                <a:cs typeface="Pretendard" pitchFamily="34" charset="-120"/>
              </a:rPr>
              <a:t>항소법원은 그 제재를 부과한 명령 부분을 취소했다</a:t>
            </a:r>
            <a:endParaRPr lang="en-US" sz="1150" b="1" dirty="0"/>
          </a:p>
        </p:txBody>
      </p:sp>
      <p:sp>
        <p:nvSpPr>
          <p:cNvPr id="19" name="Text 17"/>
          <p:cNvSpPr/>
          <p:nvPr/>
        </p:nvSpPr>
        <p:spPr>
          <a:xfrm>
            <a:off x="6537960" y="3785616"/>
            <a:ext cx="4663440" cy="256032"/>
          </a:xfrm>
          <a:prstGeom prst="rect">
            <a:avLst/>
          </a:prstGeom>
          <a:noFill/>
          <a:ln/>
        </p:spPr>
        <p:txBody>
          <a:bodyPr wrap="square" lIns="0" tIns="0" rIns="0" bIns="0" rtlCol="0" anchor="ctr"/>
          <a:lstStyle/>
          <a:p>
            <a:pPr marL="0" indent="0">
              <a:buNone/>
            </a:pPr>
            <a:r>
              <a:rPr lang="en-US" sz="1050" dirty="0">
                <a:solidFill>
                  <a:srgbClr val="6E7686"/>
                </a:solidFill>
                <a:latin typeface="Pretendard" pitchFamily="34" charset="0"/>
                <a:ea typeface="Pretendard" pitchFamily="34" charset="-122"/>
                <a:cs typeface="Pretendard" pitchFamily="34" charset="-120"/>
              </a:rPr>
              <a:t>“그 제재들은 부적절하게 부과되었다.” — </a:t>
            </a:r>
            <a:r>
              <a:rPr lang="en-US" sz="1050" dirty="0" err="1">
                <a:solidFill>
                  <a:srgbClr val="6E7686"/>
                </a:solidFill>
                <a:latin typeface="Pretendard" pitchFamily="34" charset="0"/>
                <a:ea typeface="Pretendard" pitchFamily="34" charset="-122"/>
                <a:cs typeface="Pretendard" pitchFamily="34" charset="-120"/>
              </a:rPr>
              <a:t>다수의견</a:t>
            </a:r>
            <a:endParaRPr lang="en-US" sz="1050" dirty="0"/>
          </a:p>
        </p:txBody>
      </p:sp>
      <p:sp>
        <p:nvSpPr>
          <p:cNvPr id="20" name="Shape 18"/>
          <p:cNvSpPr/>
          <p:nvPr/>
        </p:nvSpPr>
        <p:spPr>
          <a:xfrm>
            <a:off x="731520" y="4315968"/>
            <a:ext cx="10725912" cy="914400"/>
          </a:xfrm>
          <a:prstGeom prst="rect">
            <a:avLst/>
          </a:prstGeom>
          <a:solidFill>
            <a:srgbClr val="F2F4F8"/>
          </a:solidFill>
          <a:ln w="12700">
            <a:solidFill>
              <a:srgbClr val="F2F4F8"/>
            </a:solidFill>
            <a:prstDash val="solid"/>
          </a:ln>
        </p:spPr>
        <p:txBody>
          <a:bodyPr/>
          <a:lstStyle/>
          <a:p>
            <a:endParaRPr lang="ko-KR" altLang="en-US"/>
          </a:p>
        </p:txBody>
      </p:sp>
      <p:sp>
        <p:nvSpPr>
          <p:cNvPr id="21" name="Text 19"/>
          <p:cNvSpPr/>
          <p:nvPr/>
        </p:nvSpPr>
        <p:spPr>
          <a:xfrm>
            <a:off x="1005840" y="4315968"/>
            <a:ext cx="2194560" cy="914400"/>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국내 제도와의 연결</a:t>
            </a:r>
            <a:endParaRPr lang="en-US" sz="1150" dirty="0"/>
          </a:p>
        </p:txBody>
      </p:sp>
      <p:sp>
        <p:nvSpPr>
          <p:cNvPr id="22" name="Text 20"/>
          <p:cNvSpPr/>
          <p:nvPr/>
        </p:nvSpPr>
        <p:spPr>
          <a:xfrm>
            <a:off x="3383280" y="4315968"/>
            <a:ext cx="7799832" cy="914400"/>
          </a:xfrm>
          <a:prstGeom prst="rect">
            <a:avLst/>
          </a:prstGeom>
          <a:noFill/>
          <a:ln/>
        </p:spPr>
        <p:txBody>
          <a:bodyPr wrap="square" lIns="0" tIns="0" rIns="0" bIns="0" rtlCol="0" anchor="ctr"/>
          <a:lstStyle/>
          <a:p>
            <a:pPr marL="0" indent="0">
              <a:lnSpc>
                <a:spcPts val="1900"/>
              </a:lnSpc>
              <a:buNone/>
            </a:pPr>
            <a:r>
              <a:rPr lang="en-US" sz="1200" b="1" dirty="0" err="1">
                <a:solidFill>
                  <a:srgbClr val="222633"/>
                </a:solidFill>
                <a:latin typeface="Pretendard" pitchFamily="34" charset="0"/>
                <a:ea typeface="Pretendard" pitchFamily="34" charset="-122"/>
                <a:cs typeface="Pretendard" pitchFamily="34" charset="-120"/>
              </a:rPr>
              <a:t>국내</a:t>
            </a:r>
            <a:r>
              <a:rPr lang="en-US" sz="1200" b="1" dirty="0">
                <a:solidFill>
                  <a:srgbClr val="222633"/>
                </a:solidFill>
                <a:latin typeface="Pretendard" pitchFamily="34" charset="0"/>
                <a:ea typeface="Pretendard" pitchFamily="34" charset="-122"/>
                <a:cs typeface="Pretendard" pitchFamily="34" charset="-120"/>
              </a:rPr>
              <a:t> 4 · 5호 보호관찰에서도 중대한 준수사항 위반으로 보호관찰을 계속하기 어려우면 처분변경을 신청할 수 있다</a:t>
            </a:r>
            <a:endParaRPr lang="en-US" sz="1200" b="1" dirty="0"/>
          </a:p>
          <a:p>
            <a:pPr marL="0" indent="0">
              <a:lnSpc>
                <a:spcPts val="1900"/>
              </a:lnSpc>
              <a:buNone/>
            </a:pPr>
            <a:r>
              <a:rPr lang="en-US" sz="1200" dirty="0">
                <a:solidFill>
                  <a:srgbClr val="222633"/>
                </a:solidFill>
                <a:latin typeface="Pretendard" pitchFamily="34" charset="0"/>
                <a:ea typeface="Pretendard" pitchFamily="34" charset="-122"/>
                <a:cs typeface="Pretendard" pitchFamily="34" charset="-120"/>
              </a:rPr>
              <a:t>법원은 법이 정한 처분의 종류 · 병합 범위 · 연령 · 기간을 따라 판단해야 한다</a:t>
            </a:r>
            <a:endParaRPr lang="en-US" sz="1200" dirty="0"/>
          </a:p>
        </p:txBody>
      </p:sp>
      <p:sp>
        <p:nvSpPr>
          <p:cNvPr id="23" name="Shape 21"/>
          <p:cNvSpPr/>
          <p:nvPr/>
        </p:nvSpPr>
        <p:spPr>
          <a:xfrm>
            <a:off x="731520" y="5650992"/>
            <a:ext cx="10725912" cy="0"/>
          </a:xfrm>
          <a:prstGeom prst="line">
            <a:avLst/>
          </a:prstGeom>
          <a:noFill/>
          <a:ln w="12700">
            <a:solidFill>
              <a:srgbClr val="DCE0E8"/>
            </a:solidFill>
            <a:prstDash val="solid"/>
          </a:ln>
        </p:spPr>
        <p:txBody>
          <a:bodyPr/>
          <a:lstStyle/>
          <a:p>
            <a:endParaRPr lang="ko-KR" altLang="en-US"/>
          </a:p>
        </p:txBody>
      </p:sp>
      <p:sp>
        <p:nvSpPr>
          <p:cNvPr id="24" name="Text 22"/>
          <p:cNvSpPr/>
          <p:nvPr/>
        </p:nvSpPr>
        <p:spPr>
          <a:xfrm>
            <a:off x="733044" y="5650991"/>
            <a:ext cx="10725912" cy="493775"/>
          </a:xfrm>
          <a:prstGeom prst="rect">
            <a:avLst/>
          </a:prstGeom>
          <a:solidFill>
            <a:schemeClr val="accent1">
              <a:lumMod val="20000"/>
              <a:lumOff val="80000"/>
            </a:schemeClr>
          </a:solidFill>
          <a:ln/>
        </p:spPr>
        <p:txBody>
          <a:bodyPr wrap="square" lIns="0" tIns="0" rIns="0" bIns="0" rtlCol="0" anchor="ctr"/>
          <a:lstStyle/>
          <a:p>
            <a:pPr marL="0" indent="0" algn="ctr">
              <a:buNone/>
            </a:pPr>
            <a:r>
              <a:rPr lang="en-US" sz="1250" b="1" dirty="0">
                <a:solidFill>
                  <a:srgbClr val="1E2761"/>
                </a:solidFill>
                <a:latin typeface="Pretendard" pitchFamily="34" charset="0"/>
                <a:ea typeface="Pretendard" pitchFamily="34" charset="-122"/>
                <a:cs typeface="Pretendard" pitchFamily="34" charset="-120"/>
              </a:rPr>
              <a:t>치료 참여 중단에 어떤 대응이 필요하며, 시설 수용까지 허용할 조건은 무엇인가?</a:t>
            </a:r>
            <a:endParaRPr lang="en-US" sz="1250" dirty="0"/>
          </a:p>
        </p:txBody>
      </p:sp>
      <p:sp>
        <p:nvSpPr>
          <p:cNvPr id="25" name="Shape 23"/>
          <p:cNvSpPr/>
          <p:nvPr/>
        </p:nvSpPr>
        <p:spPr>
          <a:xfrm>
            <a:off x="731520" y="6144768"/>
            <a:ext cx="10725912" cy="0"/>
          </a:xfrm>
          <a:prstGeom prst="line">
            <a:avLst/>
          </a:prstGeom>
          <a:noFill/>
          <a:ln w="12700">
            <a:solidFill>
              <a:srgbClr val="DCE0E8"/>
            </a:solidFill>
            <a:prstDash val="solid"/>
          </a:ln>
        </p:spPr>
        <p:txBody>
          <a:bodyPr/>
          <a:lstStyle/>
          <a:p>
            <a:endParaRPr lang="ko-KR"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521208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5. 치료·재활의 실행 조건</a:t>
            </a:r>
            <a:endParaRPr lang="en-US" sz="1250" dirty="0"/>
          </a:p>
        </p:txBody>
      </p:sp>
      <p:sp>
        <p:nvSpPr>
          <p:cNvPr id="3" name="Text 1"/>
          <p:cNvSpPr/>
          <p:nvPr/>
        </p:nvSpPr>
        <p:spPr>
          <a:xfrm>
            <a:off x="6035040" y="384048"/>
            <a:ext cx="5422392" cy="256032"/>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T.N. 사건의 경과와 제재 명령</a:t>
            </a:r>
            <a:endParaRPr lang="en-US" sz="1050" dirty="0"/>
          </a:p>
        </p:txBody>
      </p:sp>
      <p:sp>
        <p:nvSpPr>
          <p:cNvPr id="4" name="Text 2"/>
          <p:cNvSpPr/>
          <p:nvPr/>
        </p:nvSpPr>
        <p:spPr>
          <a:xfrm>
            <a:off x="731520" y="640080"/>
            <a:ext cx="10725912" cy="640080"/>
          </a:xfrm>
          <a:prstGeom prst="rect">
            <a:avLst/>
          </a:prstGeom>
          <a:noFill/>
          <a:ln/>
        </p:spPr>
        <p:txBody>
          <a:bodyPr wrap="square" lIns="0" tIns="0" rIns="0" bIns="0" rtlCol="0" anchor="ctr"/>
          <a:lstStyle/>
          <a:p>
            <a:pPr marL="0" indent="0">
              <a:buNone/>
            </a:pPr>
            <a:r>
              <a:rPr lang="en-US" sz="2750" b="1" dirty="0">
                <a:solidFill>
                  <a:srgbClr val="1E2761"/>
                </a:solidFill>
                <a:latin typeface="Pretendard" pitchFamily="34" charset="0"/>
                <a:ea typeface="Pretendard" pitchFamily="34" charset="-122"/>
                <a:cs typeface="Pretendard" pitchFamily="34" charset="-120"/>
              </a:rPr>
              <a:t>소년 보호관찰 — 중대한 준수사항 위반과 처분변경</a:t>
            </a:r>
            <a:endParaRPr lang="en-US" sz="2750" dirty="0"/>
          </a:p>
        </p:txBody>
      </p:sp>
      <p:sp>
        <p:nvSpPr>
          <p:cNvPr id="5" name="Shape 3"/>
          <p:cNvSpPr/>
          <p:nvPr/>
        </p:nvSpPr>
        <p:spPr>
          <a:xfrm>
            <a:off x="731520" y="1316736"/>
            <a:ext cx="10725912"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417320"/>
            <a:ext cx="10725912" cy="548640"/>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1005840" y="1417320"/>
            <a:ext cx="10149840" cy="548640"/>
          </a:xfrm>
          <a:prstGeom prst="rect">
            <a:avLst/>
          </a:prstGeom>
          <a:noFill/>
          <a:ln/>
        </p:spPr>
        <p:txBody>
          <a:bodyPr wrap="square" lIns="0" tIns="0" rIns="0" bIns="0" rtlCol="0" anchor="ctr"/>
          <a:lstStyle/>
          <a:p>
            <a:pPr marL="0" indent="0">
              <a:buNone/>
            </a:pPr>
            <a:r>
              <a:rPr lang="en-US" sz="1300" b="1" dirty="0">
                <a:solidFill>
                  <a:srgbClr val="1E2761"/>
                </a:solidFill>
                <a:highlight>
                  <a:srgbClr val="FFFF00"/>
                </a:highlight>
                <a:latin typeface="Pretendard" pitchFamily="34" charset="0"/>
                <a:ea typeface="Pretendard" pitchFamily="34" charset="-122"/>
                <a:cs typeface="Pretendard" pitchFamily="34" charset="-120"/>
              </a:rPr>
              <a:t>준수사항 위반이 중대하여 보호관찰을 계속하기 어려운 경우, </a:t>
            </a:r>
            <a:r>
              <a:rPr lang="en-US" sz="1300" b="1" dirty="0" err="1">
                <a:solidFill>
                  <a:srgbClr val="1E2761"/>
                </a:solidFill>
                <a:highlight>
                  <a:srgbClr val="FFFF00"/>
                </a:highlight>
                <a:latin typeface="Pretendard" pitchFamily="34" charset="0"/>
                <a:ea typeface="Pretendard" pitchFamily="34" charset="-122"/>
                <a:cs typeface="Pretendard" pitchFamily="34" charset="-120"/>
              </a:rPr>
              <a:t>보호관찰소장이</a:t>
            </a:r>
            <a:r>
              <a:rPr lang="en-US" sz="1300" b="1" dirty="0">
                <a:solidFill>
                  <a:srgbClr val="1E2761"/>
                </a:solidFill>
                <a:highlight>
                  <a:srgbClr val="FFFF00"/>
                </a:highlight>
                <a:latin typeface="Pretendard" pitchFamily="34" charset="0"/>
                <a:ea typeface="Pretendard" pitchFamily="34" charset="-122"/>
                <a:cs typeface="Pretendard" pitchFamily="34" charset="-120"/>
              </a:rPr>
              <a:t> </a:t>
            </a:r>
            <a:r>
              <a:rPr lang="ko-KR" altLang="en-US" sz="1300" b="1" dirty="0">
                <a:solidFill>
                  <a:srgbClr val="1E2761"/>
                </a:solidFill>
                <a:highlight>
                  <a:srgbClr val="FFFF00"/>
                </a:highlight>
                <a:latin typeface="Pretendard" pitchFamily="34" charset="0"/>
                <a:ea typeface="Pretendard" pitchFamily="34" charset="-122"/>
                <a:cs typeface="Pretendard" pitchFamily="34" charset="-120"/>
              </a:rPr>
              <a:t>보호처분 </a:t>
            </a:r>
            <a:r>
              <a:rPr lang="en-US" sz="1300" b="1" dirty="0" err="1">
                <a:solidFill>
                  <a:srgbClr val="1E2761"/>
                </a:solidFill>
                <a:highlight>
                  <a:srgbClr val="FFFF00"/>
                </a:highlight>
                <a:latin typeface="Pretendard" pitchFamily="34" charset="0"/>
                <a:ea typeface="Pretendard" pitchFamily="34" charset="-122"/>
                <a:cs typeface="Pretendard" pitchFamily="34" charset="-120"/>
              </a:rPr>
              <a:t>변경을</a:t>
            </a:r>
            <a:r>
              <a:rPr lang="en-US" sz="1300" b="1" dirty="0">
                <a:solidFill>
                  <a:srgbClr val="1E2761"/>
                </a:solidFill>
                <a:highlight>
                  <a:srgbClr val="FFFF00"/>
                </a:highlight>
                <a:latin typeface="Pretendard" pitchFamily="34" charset="0"/>
                <a:ea typeface="Pretendard" pitchFamily="34" charset="-122"/>
                <a:cs typeface="Pretendard" pitchFamily="34" charset="-120"/>
              </a:rPr>
              <a:t> </a:t>
            </a:r>
            <a:r>
              <a:rPr lang="en-US" sz="1300" b="1" dirty="0" err="1">
                <a:solidFill>
                  <a:srgbClr val="1E2761"/>
                </a:solidFill>
                <a:highlight>
                  <a:srgbClr val="FFFF00"/>
                </a:highlight>
                <a:latin typeface="Pretendard" pitchFamily="34" charset="0"/>
                <a:ea typeface="Pretendard" pitchFamily="34" charset="-122"/>
                <a:cs typeface="Pretendard" pitchFamily="34" charset="-120"/>
              </a:rPr>
              <a:t>신청</a:t>
            </a:r>
            <a:r>
              <a:rPr lang="ko-KR" altLang="en-US" sz="1300" b="1" dirty="0">
                <a:solidFill>
                  <a:srgbClr val="1E2761"/>
                </a:solidFill>
                <a:highlight>
                  <a:srgbClr val="FFFF00"/>
                </a:highlight>
                <a:latin typeface="Pretendard" pitchFamily="34" charset="0"/>
                <a:ea typeface="Pretendard" pitchFamily="34" charset="-122"/>
                <a:cs typeface="Pretendard" pitchFamily="34" charset="-120"/>
              </a:rPr>
              <a:t>할 수 있다</a:t>
            </a:r>
            <a:endParaRPr lang="en-US" sz="1300" dirty="0">
              <a:highlight>
                <a:srgbClr val="FFFF00"/>
              </a:highlight>
            </a:endParaRPr>
          </a:p>
        </p:txBody>
      </p:sp>
      <p:sp>
        <p:nvSpPr>
          <p:cNvPr id="8" name="Text 6"/>
          <p:cNvSpPr/>
          <p:nvPr/>
        </p:nvSpPr>
        <p:spPr>
          <a:xfrm>
            <a:off x="731520" y="2103120"/>
            <a:ext cx="10725912" cy="256032"/>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적용대상   </a:t>
            </a:r>
            <a:r>
              <a:rPr lang="en-US" sz="1150" dirty="0">
                <a:solidFill>
                  <a:srgbClr val="222633"/>
                </a:solidFill>
                <a:latin typeface="Pretendard" pitchFamily="34" charset="0"/>
                <a:ea typeface="Pretendard" pitchFamily="34" charset="-122"/>
                <a:cs typeface="Pretendard" pitchFamily="34" charset="-120"/>
              </a:rPr>
              <a:t>소년법상 4호 · 5호 보호관찰을 받는 사람</a:t>
            </a:r>
            <a:r>
              <a:rPr lang="en-US" sz="1150" b="1" dirty="0">
                <a:solidFill>
                  <a:srgbClr val="A8871C"/>
                </a:solidFill>
                <a:latin typeface="Pretendard" pitchFamily="34" charset="0"/>
                <a:ea typeface="Pretendard" pitchFamily="34" charset="-122"/>
                <a:cs typeface="Pretendard" pitchFamily="34" charset="-120"/>
              </a:rPr>
              <a:t>      변경 요건   </a:t>
            </a:r>
            <a:r>
              <a:rPr lang="en-US" sz="1150" dirty="0">
                <a:solidFill>
                  <a:srgbClr val="222633"/>
                </a:solidFill>
                <a:latin typeface="Pretendard" pitchFamily="34" charset="0"/>
                <a:ea typeface="Pretendard" pitchFamily="34" charset="-122"/>
                <a:cs typeface="Pretendard" pitchFamily="34" charset="-120"/>
              </a:rPr>
              <a:t>준수사항을 위반하고 그 정도가 무거워 보호관찰을 계속하기 적절하지 않다고 판단되는 경우</a:t>
            </a:r>
            <a:endParaRPr lang="en-US" sz="1150" dirty="0"/>
          </a:p>
        </p:txBody>
      </p:sp>
      <p:sp>
        <p:nvSpPr>
          <p:cNvPr id="9" name="Shape 7"/>
          <p:cNvSpPr/>
          <p:nvPr/>
        </p:nvSpPr>
        <p:spPr>
          <a:xfrm>
            <a:off x="731520" y="2377440"/>
            <a:ext cx="3307080" cy="676656"/>
          </a:xfrm>
          <a:prstGeom prst="rect">
            <a:avLst/>
          </a:prstGeom>
          <a:solidFill>
            <a:srgbClr val="FFFFFF"/>
          </a:solidFill>
          <a:ln w="12700">
            <a:solidFill>
              <a:srgbClr val="DCE0E8"/>
            </a:solidFill>
            <a:prstDash val="solid"/>
          </a:ln>
        </p:spPr>
        <p:txBody>
          <a:bodyPr/>
          <a:lstStyle/>
          <a:p>
            <a:endParaRPr lang="ko-KR" altLang="en-US"/>
          </a:p>
        </p:txBody>
      </p:sp>
      <p:sp>
        <p:nvSpPr>
          <p:cNvPr id="10" name="Text 8"/>
          <p:cNvSpPr/>
          <p:nvPr/>
        </p:nvSpPr>
        <p:spPr>
          <a:xfrm>
            <a:off x="841248" y="2583180"/>
            <a:ext cx="3087624" cy="256032"/>
          </a:xfrm>
          <a:prstGeom prst="rect">
            <a:avLst/>
          </a:prstGeom>
          <a:noFill/>
          <a:ln/>
        </p:spPr>
        <p:txBody>
          <a:bodyPr wrap="square" lIns="0" tIns="0" rIns="0" bIns="0" rtlCol="0" anchor="ctr"/>
          <a:lstStyle/>
          <a:p>
            <a:pPr marL="0" indent="0" algn="ctr">
              <a:buNone/>
            </a:pPr>
            <a:r>
              <a:rPr lang="en-US" sz="1250" b="1" dirty="0">
                <a:solidFill>
                  <a:srgbClr val="1E2761"/>
                </a:solidFill>
                <a:latin typeface="Pretendard" pitchFamily="34" charset="0"/>
                <a:ea typeface="Pretendard" pitchFamily="34" charset="-122"/>
                <a:cs typeface="Pretendard" pitchFamily="34" charset="-120"/>
              </a:rPr>
              <a:t>보호관찰소장의 신청</a:t>
            </a:r>
            <a:endParaRPr lang="en-US" sz="1250" dirty="0"/>
          </a:p>
        </p:txBody>
      </p:sp>
      <p:sp>
        <p:nvSpPr>
          <p:cNvPr id="11" name="Text 9"/>
          <p:cNvSpPr/>
          <p:nvPr/>
        </p:nvSpPr>
        <p:spPr>
          <a:xfrm>
            <a:off x="4038600" y="2377440"/>
            <a:ext cx="402336" cy="676656"/>
          </a:xfrm>
          <a:prstGeom prst="rect">
            <a:avLst/>
          </a:prstGeom>
          <a:noFill/>
          <a:ln/>
        </p:spPr>
        <p:txBody>
          <a:bodyPr wrap="square" lIns="0" tIns="0" rIns="0" bIns="0" rtlCol="0" anchor="ctr"/>
          <a:lstStyle/>
          <a:p>
            <a:pPr marL="0" indent="0" algn="ctr">
              <a:buNone/>
            </a:pPr>
            <a:r>
              <a:rPr lang="en-US" sz="1400" dirty="0">
                <a:solidFill>
                  <a:srgbClr val="6E7686"/>
                </a:solidFill>
                <a:latin typeface="Pretendard" pitchFamily="34" charset="0"/>
                <a:ea typeface="Pretendard" pitchFamily="34" charset="-122"/>
                <a:cs typeface="Pretendard" pitchFamily="34" charset="-120"/>
              </a:rPr>
              <a:t>→</a:t>
            </a:r>
            <a:endParaRPr lang="en-US" sz="1400" dirty="0"/>
          </a:p>
        </p:txBody>
      </p:sp>
      <p:sp>
        <p:nvSpPr>
          <p:cNvPr id="12" name="Shape 10"/>
          <p:cNvSpPr/>
          <p:nvPr/>
        </p:nvSpPr>
        <p:spPr>
          <a:xfrm>
            <a:off x="4440936" y="2377440"/>
            <a:ext cx="3307080" cy="676656"/>
          </a:xfrm>
          <a:prstGeom prst="rect">
            <a:avLst/>
          </a:prstGeom>
          <a:solidFill>
            <a:srgbClr val="FFFFFF"/>
          </a:solidFill>
          <a:ln w="12700">
            <a:solidFill>
              <a:srgbClr val="DCE0E8"/>
            </a:solidFill>
            <a:prstDash val="solid"/>
          </a:ln>
        </p:spPr>
        <p:txBody>
          <a:bodyPr/>
          <a:lstStyle/>
          <a:p>
            <a:endParaRPr lang="ko-KR" altLang="en-US"/>
          </a:p>
        </p:txBody>
      </p:sp>
      <p:sp>
        <p:nvSpPr>
          <p:cNvPr id="13" name="Text 11"/>
          <p:cNvSpPr/>
          <p:nvPr/>
        </p:nvSpPr>
        <p:spPr>
          <a:xfrm>
            <a:off x="4550664" y="2583180"/>
            <a:ext cx="3087624" cy="256032"/>
          </a:xfrm>
          <a:prstGeom prst="rect">
            <a:avLst/>
          </a:prstGeom>
          <a:noFill/>
          <a:ln/>
        </p:spPr>
        <p:txBody>
          <a:bodyPr wrap="square" lIns="0" tIns="0" rIns="0" bIns="0" rtlCol="0" anchor="ctr"/>
          <a:lstStyle/>
          <a:p>
            <a:pPr marL="0" indent="0" algn="ctr">
              <a:buNone/>
            </a:pPr>
            <a:r>
              <a:rPr lang="en-US" sz="1250" b="1" dirty="0">
                <a:solidFill>
                  <a:srgbClr val="1E2761"/>
                </a:solidFill>
                <a:latin typeface="Pretendard" pitchFamily="34" charset="0"/>
                <a:ea typeface="Pretendard" pitchFamily="34" charset="-122"/>
                <a:cs typeface="Pretendard" pitchFamily="34" charset="-120"/>
              </a:rPr>
              <a:t>법원의 심리 · 판단</a:t>
            </a:r>
            <a:endParaRPr lang="en-US" sz="1250" dirty="0"/>
          </a:p>
        </p:txBody>
      </p:sp>
      <p:sp>
        <p:nvSpPr>
          <p:cNvPr id="14" name="Text 12"/>
          <p:cNvSpPr/>
          <p:nvPr/>
        </p:nvSpPr>
        <p:spPr>
          <a:xfrm>
            <a:off x="7748016" y="2377440"/>
            <a:ext cx="402336" cy="676656"/>
          </a:xfrm>
          <a:prstGeom prst="rect">
            <a:avLst/>
          </a:prstGeom>
          <a:noFill/>
          <a:ln/>
        </p:spPr>
        <p:txBody>
          <a:bodyPr wrap="square" lIns="0" tIns="0" rIns="0" bIns="0" rtlCol="0" anchor="ctr"/>
          <a:lstStyle/>
          <a:p>
            <a:pPr marL="0" indent="0" algn="ctr">
              <a:buNone/>
            </a:pPr>
            <a:r>
              <a:rPr lang="en-US" sz="1400" dirty="0">
                <a:solidFill>
                  <a:srgbClr val="6E7686"/>
                </a:solidFill>
                <a:latin typeface="Pretendard" pitchFamily="34" charset="0"/>
                <a:ea typeface="Pretendard" pitchFamily="34" charset="-122"/>
                <a:cs typeface="Pretendard" pitchFamily="34" charset="-120"/>
              </a:rPr>
              <a:t>→</a:t>
            </a:r>
            <a:endParaRPr lang="en-US" sz="1400" dirty="0"/>
          </a:p>
        </p:txBody>
      </p:sp>
      <p:sp>
        <p:nvSpPr>
          <p:cNvPr id="15" name="Shape 13"/>
          <p:cNvSpPr/>
          <p:nvPr/>
        </p:nvSpPr>
        <p:spPr>
          <a:xfrm>
            <a:off x="8150352" y="2377440"/>
            <a:ext cx="3307080" cy="676656"/>
          </a:xfrm>
          <a:prstGeom prst="rect">
            <a:avLst/>
          </a:prstGeom>
          <a:solidFill>
            <a:srgbClr val="FFFFFF"/>
          </a:solidFill>
          <a:ln w="12700">
            <a:solidFill>
              <a:srgbClr val="DCE0E8"/>
            </a:solidFill>
            <a:prstDash val="solid"/>
          </a:ln>
        </p:spPr>
        <p:txBody>
          <a:bodyPr/>
          <a:lstStyle/>
          <a:p>
            <a:endParaRPr lang="ko-KR" altLang="en-US"/>
          </a:p>
        </p:txBody>
      </p:sp>
      <p:sp>
        <p:nvSpPr>
          <p:cNvPr id="16" name="Text 14"/>
          <p:cNvSpPr/>
          <p:nvPr/>
        </p:nvSpPr>
        <p:spPr>
          <a:xfrm>
            <a:off x="8260080" y="2583180"/>
            <a:ext cx="3087624" cy="256032"/>
          </a:xfrm>
          <a:prstGeom prst="rect">
            <a:avLst/>
          </a:prstGeom>
          <a:noFill/>
          <a:ln/>
        </p:spPr>
        <p:txBody>
          <a:bodyPr wrap="square" lIns="0" tIns="0" rIns="0" bIns="0" rtlCol="0" anchor="ctr"/>
          <a:lstStyle/>
          <a:p>
            <a:pPr marL="0" indent="0" algn="ctr">
              <a:buNone/>
            </a:pPr>
            <a:r>
              <a:rPr lang="en-US" sz="1250" b="1" dirty="0">
                <a:solidFill>
                  <a:srgbClr val="1E2761"/>
                </a:solidFill>
                <a:latin typeface="Pretendard" pitchFamily="34" charset="0"/>
                <a:ea typeface="Pretendard" pitchFamily="34" charset="-122"/>
                <a:cs typeface="Pretendard" pitchFamily="34" charset="-120"/>
              </a:rPr>
              <a:t>소년부 판사의 처분변경 결정</a:t>
            </a:r>
            <a:endParaRPr lang="en-US" sz="1250" dirty="0"/>
          </a:p>
        </p:txBody>
      </p:sp>
      <p:sp>
        <p:nvSpPr>
          <p:cNvPr id="17" name="Shape 15"/>
          <p:cNvSpPr/>
          <p:nvPr/>
        </p:nvSpPr>
        <p:spPr>
          <a:xfrm>
            <a:off x="731520" y="3163824"/>
            <a:ext cx="10725912" cy="493776"/>
          </a:xfrm>
          <a:prstGeom prst="rect">
            <a:avLst/>
          </a:prstGeom>
          <a:solidFill>
            <a:srgbClr val="F2F4F8"/>
          </a:solidFill>
          <a:ln w="12700">
            <a:solidFill>
              <a:srgbClr val="F2F4F8"/>
            </a:solidFill>
            <a:prstDash val="solid"/>
          </a:ln>
        </p:spPr>
        <p:txBody>
          <a:bodyPr/>
          <a:lstStyle/>
          <a:p>
            <a:endParaRPr lang="ko-KR" altLang="en-US"/>
          </a:p>
        </p:txBody>
      </p:sp>
      <p:sp>
        <p:nvSpPr>
          <p:cNvPr id="18" name="Text 16"/>
          <p:cNvSpPr/>
          <p:nvPr/>
        </p:nvSpPr>
        <p:spPr>
          <a:xfrm>
            <a:off x="1005840" y="3163824"/>
            <a:ext cx="1645920" cy="493776"/>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변경 범위</a:t>
            </a:r>
            <a:endParaRPr lang="en-US" sz="1150" dirty="0"/>
          </a:p>
        </p:txBody>
      </p:sp>
      <p:sp>
        <p:nvSpPr>
          <p:cNvPr id="19" name="Text 17"/>
          <p:cNvSpPr/>
          <p:nvPr/>
        </p:nvSpPr>
        <p:spPr>
          <a:xfrm>
            <a:off x="2834640" y="3163824"/>
            <a:ext cx="8348472" cy="493776"/>
          </a:xfrm>
          <a:prstGeom prst="rect">
            <a:avLst/>
          </a:prstGeom>
          <a:noFill/>
          <a:ln/>
        </p:spPr>
        <p:txBody>
          <a:bodyPr wrap="square" lIns="0" tIns="0" rIns="0" bIns="0" rtlCol="0" anchor="ctr"/>
          <a:lstStyle/>
          <a:p>
            <a:pPr marL="0" indent="0">
              <a:buNone/>
            </a:pPr>
            <a:r>
              <a:rPr lang="en-US" sz="1250" b="1" dirty="0">
                <a:solidFill>
                  <a:srgbClr val="222633"/>
                </a:solidFill>
                <a:latin typeface="Pretendard" pitchFamily="34" charset="0"/>
                <a:ea typeface="Pretendard" pitchFamily="34" charset="-122"/>
                <a:cs typeface="Pretendard" pitchFamily="34" charset="-120"/>
              </a:rPr>
              <a:t>소년법 제32조가 정한 보호처분 중 선택하며, 여러 처분의 병합도 법이 허용한 조합을 따른다</a:t>
            </a:r>
            <a:endParaRPr lang="en-US" sz="1250" dirty="0"/>
          </a:p>
        </p:txBody>
      </p:sp>
      <p:sp>
        <p:nvSpPr>
          <p:cNvPr id="20" name="Text 18"/>
          <p:cNvSpPr/>
          <p:nvPr/>
        </p:nvSpPr>
        <p:spPr>
          <a:xfrm>
            <a:off x="731520" y="3730752"/>
            <a:ext cx="10725912" cy="237744"/>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처분별 법정 연령 · 기간</a:t>
            </a:r>
            <a:endParaRPr lang="en-US" sz="1150" dirty="0"/>
          </a:p>
        </p:txBody>
      </p:sp>
      <p:sp>
        <p:nvSpPr>
          <p:cNvPr id="21" name="Shape 19"/>
          <p:cNvSpPr/>
          <p:nvPr/>
        </p:nvSpPr>
        <p:spPr>
          <a:xfrm>
            <a:off x="731520" y="4142955"/>
            <a:ext cx="3108960" cy="310896"/>
          </a:xfrm>
          <a:prstGeom prst="rect">
            <a:avLst/>
          </a:prstGeom>
          <a:solidFill>
            <a:srgbClr val="F2F4F8"/>
          </a:solidFill>
          <a:ln w="12700">
            <a:solidFill>
              <a:srgbClr val="DCE0E8"/>
            </a:solidFill>
            <a:prstDash val="solid"/>
          </a:ln>
        </p:spPr>
        <p:txBody>
          <a:bodyPr/>
          <a:lstStyle/>
          <a:p>
            <a:endParaRPr lang="ko-KR" altLang="en-US"/>
          </a:p>
        </p:txBody>
      </p:sp>
      <p:sp>
        <p:nvSpPr>
          <p:cNvPr id="22" name="Text 20"/>
          <p:cNvSpPr/>
          <p:nvPr/>
        </p:nvSpPr>
        <p:spPr>
          <a:xfrm>
            <a:off x="804672" y="4142955"/>
            <a:ext cx="2962656" cy="310896"/>
          </a:xfrm>
          <a:prstGeom prst="rect">
            <a:avLst/>
          </a:prstGeom>
          <a:noFill/>
          <a:ln/>
        </p:spPr>
        <p:txBody>
          <a:bodyPr wrap="square" lIns="0" tIns="0" rIns="0" bIns="0" rtlCol="0" anchor="ctr"/>
          <a:lstStyle/>
          <a:p>
            <a:pPr marL="0" indent="0" algn="ctr">
              <a:buNone/>
            </a:pPr>
            <a:r>
              <a:rPr lang="en-US" sz="1250" b="1" dirty="0">
                <a:solidFill>
                  <a:srgbClr val="1E2761"/>
                </a:solidFill>
                <a:latin typeface="Pretendard" pitchFamily="34" charset="0"/>
                <a:ea typeface="Pretendard" pitchFamily="34" charset="-122"/>
                <a:cs typeface="Pretendard" pitchFamily="34" charset="-120"/>
              </a:rPr>
              <a:t>처분</a:t>
            </a:r>
            <a:endParaRPr lang="en-US" sz="1250" dirty="0"/>
          </a:p>
        </p:txBody>
      </p:sp>
      <p:sp>
        <p:nvSpPr>
          <p:cNvPr id="25" name="Shape 23"/>
          <p:cNvSpPr/>
          <p:nvPr/>
        </p:nvSpPr>
        <p:spPr>
          <a:xfrm>
            <a:off x="3840480" y="4142955"/>
            <a:ext cx="7616952" cy="310896"/>
          </a:xfrm>
          <a:prstGeom prst="rect">
            <a:avLst/>
          </a:prstGeom>
          <a:solidFill>
            <a:srgbClr val="F2F4F8"/>
          </a:solidFill>
          <a:ln w="12700">
            <a:solidFill>
              <a:srgbClr val="DCE0E8"/>
            </a:solidFill>
            <a:prstDash val="solid"/>
          </a:ln>
        </p:spPr>
        <p:txBody>
          <a:bodyPr/>
          <a:lstStyle/>
          <a:p>
            <a:endParaRPr lang="ko-KR" altLang="en-US"/>
          </a:p>
        </p:txBody>
      </p:sp>
      <p:sp>
        <p:nvSpPr>
          <p:cNvPr id="26" name="Text 24"/>
          <p:cNvSpPr/>
          <p:nvPr/>
        </p:nvSpPr>
        <p:spPr>
          <a:xfrm>
            <a:off x="3840480" y="4142955"/>
            <a:ext cx="7543800" cy="310896"/>
          </a:xfrm>
          <a:prstGeom prst="rect">
            <a:avLst/>
          </a:prstGeom>
          <a:noFill/>
          <a:ln/>
        </p:spPr>
        <p:txBody>
          <a:bodyPr wrap="square" lIns="0" tIns="0" rIns="0" bIns="0" rtlCol="0" anchor="ctr"/>
          <a:lstStyle/>
          <a:p>
            <a:pPr marL="0" indent="0" algn="ctr">
              <a:buNone/>
            </a:pPr>
            <a:r>
              <a:rPr lang="ko-KR" altLang="en-US" sz="1250" b="1" dirty="0">
                <a:solidFill>
                  <a:srgbClr val="1E2761"/>
                </a:solidFill>
                <a:latin typeface="Pretendard" pitchFamily="34" charset="0"/>
                <a:ea typeface="Pretendard" pitchFamily="34" charset="-122"/>
                <a:cs typeface="Pretendard" pitchFamily="34" charset="-120"/>
              </a:rPr>
              <a:t>내용</a:t>
            </a:r>
            <a:endParaRPr lang="en-US" sz="1250" dirty="0"/>
          </a:p>
        </p:txBody>
      </p:sp>
      <p:sp>
        <p:nvSpPr>
          <p:cNvPr id="27" name="Shape 25"/>
          <p:cNvSpPr/>
          <p:nvPr/>
        </p:nvSpPr>
        <p:spPr>
          <a:xfrm>
            <a:off x="731520" y="4453851"/>
            <a:ext cx="3108960" cy="310896"/>
          </a:xfrm>
          <a:prstGeom prst="rect">
            <a:avLst/>
          </a:prstGeom>
          <a:solidFill>
            <a:srgbClr val="FFFFFF"/>
          </a:solidFill>
          <a:ln w="12700">
            <a:solidFill>
              <a:srgbClr val="DCE0E8"/>
            </a:solidFill>
            <a:prstDash val="solid"/>
          </a:ln>
        </p:spPr>
        <p:txBody>
          <a:bodyPr/>
          <a:lstStyle/>
          <a:p>
            <a:endParaRPr lang="ko-KR" altLang="en-US"/>
          </a:p>
        </p:txBody>
      </p:sp>
      <p:sp>
        <p:nvSpPr>
          <p:cNvPr id="28" name="Text 26"/>
          <p:cNvSpPr/>
          <p:nvPr/>
        </p:nvSpPr>
        <p:spPr>
          <a:xfrm>
            <a:off x="877824" y="4453851"/>
            <a:ext cx="2816352" cy="310896"/>
          </a:xfrm>
          <a:prstGeom prst="rect">
            <a:avLst/>
          </a:prstGeom>
          <a:noFill/>
          <a:ln/>
        </p:spPr>
        <p:txBody>
          <a:bodyPr wrap="square" lIns="0" tIns="0" rIns="0" bIns="0" rtlCol="0" anchor="ctr"/>
          <a:lstStyle/>
          <a:p>
            <a:pPr algn="ctr">
              <a:lnSpc>
                <a:spcPts val="1700"/>
              </a:lnSpc>
            </a:pPr>
            <a:r>
              <a:rPr lang="en-US" altLang="ko-KR" sz="1250" b="1" dirty="0">
                <a:solidFill>
                  <a:srgbClr val="1E2761"/>
                </a:solidFill>
                <a:latin typeface="Pretendard" pitchFamily="34" charset="0"/>
                <a:ea typeface="Pretendard" pitchFamily="34" charset="-122"/>
                <a:cs typeface="Pretendard" pitchFamily="34" charset="-120"/>
              </a:rPr>
              <a:t>6</a:t>
            </a:r>
            <a:r>
              <a:rPr lang="ko-KR" altLang="en-US" sz="1250" b="1" dirty="0">
                <a:solidFill>
                  <a:srgbClr val="1E2761"/>
                </a:solidFill>
                <a:latin typeface="Pretendard" pitchFamily="34" charset="0"/>
                <a:ea typeface="Pretendard" pitchFamily="34" charset="-122"/>
                <a:cs typeface="Pretendard" pitchFamily="34" charset="-120"/>
              </a:rPr>
              <a:t>호 시설 감호위탁</a:t>
            </a:r>
            <a:endParaRPr lang="en-US" sz="1250" dirty="0"/>
          </a:p>
        </p:txBody>
      </p:sp>
      <p:sp>
        <p:nvSpPr>
          <p:cNvPr id="31" name="Shape 29"/>
          <p:cNvSpPr/>
          <p:nvPr/>
        </p:nvSpPr>
        <p:spPr>
          <a:xfrm>
            <a:off x="3840480" y="4453851"/>
            <a:ext cx="7616952" cy="310896"/>
          </a:xfrm>
          <a:prstGeom prst="rect">
            <a:avLst/>
          </a:prstGeom>
          <a:solidFill>
            <a:srgbClr val="FFFFFF"/>
          </a:solidFill>
          <a:ln w="12700">
            <a:solidFill>
              <a:srgbClr val="DCE0E8"/>
            </a:solidFill>
            <a:prstDash val="solid"/>
          </a:ln>
        </p:spPr>
        <p:txBody>
          <a:bodyPr/>
          <a:lstStyle/>
          <a:p>
            <a:endParaRPr lang="ko-KR" altLang="en-US"/>
          </a:p>
        </p:txBody>
      </p:sp>
      <p:sp>
        <p:nvSpPr>
          <p:cNvPr id="32" name="Text 30"/>
          <p:cNvSpPr/>
          <p:nvPr/>
        </p:nvSpPr>
        <p:spPr>
          <a:xfrm>
            <a:off x="5269832" y="4453851"/>
            <a:ext cx="6044344" cy="310896"/>
          </a:xfrm>
          <a:prstGeom prst="rect">
            <a:avLst/>
          </a:prstGeom>
          <a:noFill/>
          <a:ln/>
        </p:spPr>
        <p:txBody>
          <a:bodyPr wrap="square" lIns="0" tIns="0" rIns="0" bIns="0" rtlCol="0" anchor="ctr"/>
          <a:lstStyle/>
          <a:p>
            <a:pPr>
              <a:lnSpc>
                <a:spcPts val="1700"/>
              </a:lnSpc>
            </a:pPr>
            <a:r>
              <a:rPr lang="ko-KR" altLang="en-US" sz="1150" dirty="0">
                <a:solidFill>
                  <a:srgbClr val="222633"/>
                </a:solidFill>
                <a:latin typeface="Pretendard" pitchFamily="34" charset="0"/>
                <a:ea typeface="Pretendard" pitchFamily="34" charset="-122"/>
                <a:cs typeface="Pretendard" pitchFamily="34" charset="-120"/>
              </a:rPr>
              <a:t>아동복지시설</a:t>
            </a:r>
            <a:r>
              <a:rPr lang="en-US" altLang="ko-KR" sz="1150" dirty="0">
                <a:solidFill>
                  <a:srgbClr val="222633"/>
                </a:solidFill>
                <a:latin typeface="Pretendard" pitchFamily="34" charset="0"/>
                <a:ea typeface="Pretendard" pitchFamily="34" charset="-122"/>
                <a:cs typeface="Pretendard" pitchFamily="34" charset="-120"/>
              </a:rPr>
              <a:t>·</a:t>
            </a:r>
            <a:r>
              <a:rPr lang="ko-KR" altLang="en-US" sz="1150" dirty="0">
                <a:solidFill>
                  <a:srgbClr val="222633"/>
                </a:solidFill>
                <a:latin typeface="Pretendard" pitchFamily="34" charset="0"/>
                <a:ea typeface="Pretendard" pitchFamily="34" charset="-122"/>
                <a:cs typeface="Pretendard" pitchFamily="34" charset="-120"/>
              </a:rPr>
              <a:t>소년보호시설에 맡겨 보호한다</a:t>
            </a:r>
            <a:endParaRPr lang="en-US" sz="1150" dirty="0"/>
          </a:p>
        </p:txBody>
      </p:sp>
      <p:sp>
        <p:nvSpPr>
          <p:cNvPr id="33" name="Shape 31"/>
          <p:cNvSpPr/>
          <p:nvPr/>
        </p:nvSpPr>
        <p:spPr>
          <a:xfrm>
            <a:off x="731520" y="4764747"/>
            <a:ext cx="3108960" cy="310896"/>
          </a:xfrm>
          <a:prstGeom prst="rect">
            <a:avLst/>
          </a:prstGeom>
          <a:solidFill>
            <a:srgbClr val="FFFFFF"/>
          </a:solidFill>
          <a:ln w="12700">
            <a:solidFill>
              <a:srgbClr val="DCE0E8"/>
            </a:solidFill>
            <a:prstDash val="solid"/>
          </a:ln>
        </p:spPr>
        <p:txBody>
          <a:bodyPr/>
          <a:lstStyle/>
          <a:p>
            <a:endParaRPr lang="ko-KR" altLang="en-US"/>
          </a:p>
        </p:txBody>
      </p:sp>
      <p:sp>
        <p:nvSpPr>
          <p:cNvPr id="34" name="Text 32"/>
          <p:cNvSpPr/>
          <p:nvPr/>
        </p:nvSpPr>
        <p:spPr>
          <a:xfrm>
            <a:off x="877824" y="4764747"/>
            <a:ext cx="2497034" cy="310896"/>
          </a:xfrm>
          <a:prstGeom prst="rect">
            <a:avLst/>
          </a:prstGeom>
          <a:noFill/>
          <a:ln/>
        </p:spPr>
        <p:txBody>
          <a:bodyPr wrap="square" lIns="0" tIns="0" rIns="0" bIns="0" rtlCol="0" anchor="ctr"/>
          <a:lstStyle/>
          <a:p>
            <a:pPr algn="ctr">
              <a:lnSpc>
                <a:spcPts val="1700"/>
              </a:lnSpc>
            </a:pPr>
            <a:r>
              <a:rPr lang="en-US" altLang="ko-KR" sz="1250" b="1" dirty="0">
                <a:solidFill>
                  <a:srgbClr val="1E2761"/>
                </a:solidFill>
                <a:latin typeface="Pretendard" pitchFamily="34" charset="0"/>
                <a:ea typeface="Pretendard" pitchFamily="34" charset="-122"/>
                <a:cs typeface="Pretendard" pitchFamily="34" charset="-120"/>
              </a:rPr>
              <a:t>7</a:t>
            </a:r>
            <a:r>
              <a:rPr lang="ko-KR" altLang="en-US" sz="1250" b="1" dirty="0">
                <a:solidFill>
                  <a:srgbClr val="1E2761"/>
                </a:solidFill>
                <a:latin typeface="Pretendard" pitchFamily="34" charset="0"/>
                <a:ea typeface="Pretendard" pitchFamily="34" charset="-122"/>
                <a:cs typeface="Pretendard" pitchFamily="34" charset="-120"/>
              </a:rPr>
              <a:t>호 의료위탁</a:t>
            </a:r>
            <a:endParaRPr lang="en-US" sz="1250" dirty="0"/>
          </a:p>
        </p:txBody>
      </p:sp>
      <p:sp>
        <p:nvSpPr>
          <p:cNvPr id="37" name="Shape 35"/>
          <p:cNvSpPr/>
          <p:nvPr/>
        </p:nvSpPr>
        <p:spPr>
          <a:xfrm>
            <a:off x="3840480" y="4764747"/>
            <a:ext cx="7616952" cy="310896"/>
          </a:xfrm>
          <a:prstGeom prst="rect">
            <a:avLst/>
          </a:prstGeom>
          <a:solidFill>
            <a:srgbClr val="FFFFFF"/>
          </a:solidFill>
          <a:ln w="12700">
            <a:solidFill>
              <a:srgbClr val="DCE0E8"/>
            </a:solidFill>
            <a:prstDash val="solid"/>
          </a:ln>
        </p:spPr>
        <p:txBody>
          <a:bodyPr/>
          <a:lstStyle/>
          <a:p>
            <a:endParaRPr lang="ko-KR" altLang="en-US"/>
          </a:p>
        </p:txBody>
      </p:sp>
      <p:sp>
        <p:nvSpPr>
          <p:cNvPr id="38" name="Text 36"/>
          <p:cNvSpPr/>
          <p:nvPr/>
        </p:nvSpPr>
        <p:spPr>
          <a:xfrm>
            <a:off x="5269832" y="4764747"/>
            <a:ext cx="6044344" cy="310896"/>
          </a:xfrm>
          <a:prstGeom prst="rect">
            <a:avLst/>
          </a:prstGeom>
          <a:noFill/>
          <a:ln/>
        </p:spPr>
        <p:txBody>
          <a:bodyPr wrap="square" lIns="0" tIns="0" rIns="0" bIns="0" rtlCol="0" anchor="ctr"/>
          <a:lstStyle/>
          <a:p>
            <a:pPr>
              <a:lnSpc>
                <a:spcPts val="1700"/>
              </a:lnSpc>
            </a:pPr>
            <a:r>
              <a:rPr lang="ko-KR" altLang="en-US" sz="1150" dirty="0">
                <a:solidFill>
                  <a:srgbClr val="222633"/>
                </a:solidFill>
                <a:latin typeface="Pretendard" pitchFamily="34" charset="0"/>
                <a:ea typeface="Pretendard" pitchFamily="34" charset="-122"/>
                <a:cs typeface="Pretendard" pitchFamily="34" charset="-120"/>
              </a:rPr>
              <a:t>의료적 치료 필요에 따라 병원</a:t>
            </a:r>
            <a:r>
              <a:rPr lang="en-US" altLang="ko-KR" sz="1150" dirty="0">
                <a:solidFill>
                  <a:srgbClr val="222633"/>
                </a:solidFill>
                <a:latin typeface="Pretendard" pitchFamily="34" charset="0"/>
                <a:ea typeface="Pretendard" pitchFamily="34" charset="-122"/>
                <a:cs typeface="Pretendard" pitchFamily="34" charset="-120"/>
              </a:rPr>
              <a:t>·</a:t>
            </a:r>
            <a:r>
              <a:rPr lang="ko-KR" altLang="en-US" sz="1150" dirty="0">
                <a:solidFill>
                  <a:srgbClr val="222633"/>
                </a:solidFill>
                <a:latin typeface="Pretendard" pitchFamily="34" charset="0"/>
                <a:ea typeface="Pretendard" pitchFamily="34" charset="-122"/>
                <a:cs typeface="Pretendard" pitchFamily="34" charset="-120"/>
              </a:rPr>
              <a:t>요양소</a:t>
            </a:r>
            <a:r>
              <a:rPr lang="en-US" altLang="ko-KR" sz="1150" dirty="0">
                <a:solidFill>
                  <a:srgbClr val="222633"/>
                </a:solidFill>
                <a:latin typeface="Pretendard" pitchFamily="34" charset="0"/>
                <a:ea typeface="Pretendard" pitchFamily="34" charset="-122"/>
                <a:cs typeface="Pretendard" pitchFamily="34" charset="-120"/>
              </a:rPr>
              <a:t>·</a:t>
            </a:r>
            <a:r>
              <a:rPr lang="ko-KR" altLang="en-US" sz="1150" dirty="0">
                <a:solidFill>
                  <a:srgbClr val="222633"/>
                </a:solidFill>
                <a:latin typeface="Pretendard" pitchFamily="34" charset="0"/>
                <a:ea typeface="Pretendard" pitchFamily="34" charset="-122"/>
                <a:cs typeface="Pretendard" pitchFamily="34" charset="-120"/>
              </a:rPr>
              <a:t>의료재활소년원에 맡긴다</a:t>
            </a:r>
            <a:endParaRPr lang="en-US" sz="1150" dirty="0"/>
          </a:p>
        </p:txBody>
      </p:sp>
      <p:sp>
        <p:nvSpPr>
          <p:cNvPr id="39" name="Shape 37"/>
          <p:cNvSpPr/>
          <p:nvPr/>
        </p:nvSpPr>
        <p:spPr>
          <a:xfrm>
            <a:off x="731520" y="5075643"/>
            <a:ext cx="3108960" cy="310896"/>
          </a:xfrm>
          <a:prstGeom prst="rect">
            <a:avLst/>
          </a:prstGeom>
          <a:solidFill>
            <a:srgbClr val="FFFFFF"/>
          </a:solidFill>
          <a:ln w="12700">
            <a:solidFill>
              <a:srgbClr val="DCE0E8"/>
            </a:solidFill>
            <a:prstDash val="solid"/>
          </a:ln>
        </p:spPr>
        <p:txBody>
          <a:bodyPr/>
          <a:lstStyle/>
          <a:p>
            <a:endParaRPr lang="ko-KR" altLang="en-US"/>
          </a:p>
        </p:txBody>
      </p:sp>
      <p:sp>
        <p:nvSpPr>
          <p:cNvPr id="40" name="Text 38"/>
          <p:cNvSpPr/>
          <p:nvPr/>
        </p:nvSpPr>
        <p:spPr>
          <a:xfrm>
            <a:off x="1005840" y="5075643"/>
            <a:ext cx="2688336" cy="310896"/>
          </a:xfrm>
          <a:prstGeom prst="rect">
            <a:avLst/>
          </a:prstGeom>
          <a:noFill/>
          <a:ln/>
        </p:spPr>
        <p:txBody>
          <a:bodyPr wrap="square" lIns="0" tIns="0" rIns="0" bIns="0" rtlCol="0" anchor="ctr"/>
          <a:lstStyle/>
          <a:p>
            <a:pPr algn="ctr">
              <a:lnSpc>
                <a:spcPts val="1700"/>
              </a:lnSpc>
            </a:pPr>
            <a:r>
              <a:rPr lang="en-US" altLang="ko-KR" sz="1250" b="1" dirty="0">
                <a:solidFill>
                  <a:srgbClr val="1E2761"/>
                </a:solidFill>
                <a:latin typeface="Pretendard" pitchFamily="34" charset="0"/>
                <a:ea typeface="Pretendard" pitchFamily="34" charset="-122"/>
                <a:cs typeface="Pretendard" pitchFamily="34" charset="-120"/>
              </a:rPr>
              <a:t>8~10</a:t>
            </a:r>
            <a:r>
              <a:rPr lang="ko-KR" altLang="en-US" sz="1250" b="1" dirty="0">
                <a:solidFill>
                  <a:srgbClr val="1E2761"/>
                </a:solidFill>
                <a:latin typeface="Pretendard" pitchFamily="34" charset="0"/>
                <a:ea typeface="Pretendard" pitchFamily="34" charset="-122"/>
                <a:cs typeface="Pretendard" pitchFamily="34" charset="-120"/>
              </a:rPr>
              <a:t>호 소년원 송치</a:t>
            </a:r>
            <a:endParaRPr lang="en-US" sz="1250" dirty="0"/>
          </a:p>
        </p:txBody>
      </p:sp>
      <p:sp>
        <p:nvSpPr>
          <p:cNvPr id="43" name="Shape 41"/>
          <p:cNvSpPr/>
          <p:nvPr/>
        </p:nvSpPr>
        <p:spPr>
          <a:xfrm>
            <a:off x="3840480" y="5075643"/>
            <a:ext cx="7616952" cy="310896"/>
          </a:xfrm>
          <a:prstGeom prst="rect">
            <a:avLst/>
          </a:prstGeom>
          <a:solidFill>
            <a:srgbClr val="FFFFFF"/>
          </a:solidFill>
          <a:ln w="12700">
            <a:solidFill>
              <a:srgbClr val="DCE0E8"/>
            </a:solidFill>
            <a:prstDash val="solid"/>
          </a:ln>
        </p:spPr>
        <p:txBody>
          <a:bodyPr/>
          <a:lstStyle/>
          <a:p>
            <a:endParaRPr lang="ko-KR" altLang="en-US"/>
          </a:p>
        </p:txBody>
      </p:sp>
      <p:sp>
        <p:nvSpPr>
          <p:cNvPr id="44" name="Text 42"/>
          <p:cNvSpPr/>
          <p:nvPr/>
        </p:nvSpPr>
        <p:spPr>
          <a:xfrm>
            <a:off x="5269832" y="5075643"/>
            <a:ext cx="6044344" cy="310896"/>
          </a:xfrm>
          <a:prstGeom prst="rect">
            <a:avLst/>
          </a:prstGeom>
          <a:noFill/>
          <a:ln/>
        </p:spPr>
        <p:txBody>
          <a:bodyPr wrap="square" lIns="0" tIns="0" rIns="0" bIns="0" rtlCol="0" anchor="ctr"/>
          <a:lstStyle/>
          <a:p>
            <a:pPr>
              <a:lnSpc>
                <a:spcPts val="1700"/>
              </a:lnSpc>
            </a:pPr>
            <a:r>
              <a:rPr lang="ko-KR" altLang="en-US" sz="1150" dirty="0">
                <a:solidFill>
                  <a:srgbClr val="222633"/>
                </a:solidFill>
                <a:latin typeface="Pretendard" pitchFamily="34" charset="0"/>
                <a:ea typeface="Pretendard" pitchFamily="34" charset="-122"/>
                <a:cs typeface="Pretendard" pitchFamily="34" charset="-120"/>
              </a:rPr>
              <a:t>소년원에 수용되어 교육</a:t>
            </a:r>
            <a:r>
              <a:rPr lang="en-US" altLang="ko-KR" sz="1150" dirty="0">
                <a:solidFill>
                  <a:srgbClr val="222633"/>
                </a:solidFill>
                <a:latin typeface="Pretendard" pitchFamily="34" charset="0"/>
                <a:ea typeface="Pretendard" pitchFamily="34" charset="-122"/>
                <a:cs typeface="Pretendard" pitchFamily="34" charset="-120"/>
              </a:rPr>
              <a:t>·</a:t>
            </a:r>
            <a:r>
              <a:rPr lang="ko-KR" altLang="en-US" sz="1150" dirty="0">
                <a:solidFill>
                  <a:srgbClr val="222633"/>
                </a:solidFill>
                <a:latin typeface="Pretendard" pitchFamily="34" charset="0"/>
                <a:ea typeface="Pretendard" pitchFamily="34" charset="-122"/>
                <a:cs typeface="Pretendard" pitchFamily="34" charset="-120"/>
              </a:rPr>
              <a:t>교정을 받게 된다</a:t>
            </a:r>
            <a:endParaRPr lang="en-US" sz="1150" dirty="0"/>
          </a:p>
        </p:txBody>
      </p:sp>
      <p:sp>
        <p:nvSpPr>
          <p:cNvPr id="52" name="Text 50"/>
          <p:cNvSpPr/>
          <p:nvPr/>
        </p:nvSpPr>
        <p:spPr>
          <a:xfrm>
            <a:off x="733044" y="5577840"/>
            <a:ext cx="10725912" cy="493776"/>
          </a:xfrm>
          <a:prstGeom prst="rect">
            <a:avLst/>
          </a:prstGeom>
          <a:solidFill>
            <a:schemeClr val="accent1">
              <a:lumMod val="20000"/>
              <a:lumOff val="80000"/>
            </a:schemeClr>
          </a:solidFill>
          <a:ln/>
        </p:spPr>
        <p:txBody>
          <a:bodyPr wrap="square" lIns="0" tIns="0" rIns="0" bIns="0" rtlCol="0" anchor="ctr"/>
          <a:lstStyle/>
          <a:p>
            <a:pPr marL="0" indent="0" algn="ctr">
              <a:buNone/>
            </a:pPr>
            <a:r>
              <a:rPr lang="ko-KR" altLang="en-US" sz="1250" b="1" dirty="0">
                <a:solidFill>
                  <a:schemeClr val="accent1">
                    <a:lumMod val="50000"/>
                  </a:schemeClr>
                </a:solidFill>
                <a:latin typeface="Pretendard" pitchFamily="34" charset="0"/>
                <a:ea typeface="Pretendard" pitchFamily="34" charset="-122"/>
                <a:cs typeface="Pretendard" pitchFamily="34" charset="-120"/>
              </a:rPr>
              <a:t>보호처분 변경이 가능하다는 것과 처분된 변경이 실제로 이루어지는가</a:t>
            </a:r>
            <a:r>
              <a:rPr lang="en-US" altLang="ko-KR" sz="1250" b="1" dirty="0">
                <a:solidFill>
                  <a:schemeClr val="accent1">
                    <a:lumMod val="50000"/>
                  </a:schemeClr>
                </a:solidFill>
                <a:latin typeface="Pretendard" pitchFamily="34" charset="0"/>
                <a:ea typeface="Pretendard" pitchFamily="34" charset="-122"/>
                <a:cs typeface="Pretendard" pitchFamily="34" charset="-120"/>
              </a:rPr>
              <a:t>, </a:t>
            </a:r>
            <a:r>
              <a:rPr lang="ko-KR" altLang="en-US" sz="1250" b="1" dirty="0">
                <a:solidFill>
                  <a:schemeClr val="accent1">
                    <a:lumMod val="50000"/>
                  </a:schemeClr>
                </a:solidFill>
                <a:latin typeface="Pretendard" pitchFamily="34" charset="0"/>
                <a:ea typeface="Pretendard" pitchFamily="34" charset="-122"/>
                <a:cs typeface="Pretendard" pitchFamily="34" charset="-120"/>
              </a:rPr>
              <a:t>충분한가는 별개의 문제이다</a:t>
            </a:r>
            <a:endParaRPr lang="en-US" sz="1250" dirty="0">
              <a:solidFill>
                <a:schemeClr val="accent1">
                  <a:lumMod val="50000"/>
                </a:schemeClr>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치료·재활의 실행 조건</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소년약물치료법원 — 치료 변경·제재와 참여 종료</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보호관찰 위반 후 소년원 송치로 바뀐 사례</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중대한 준수사항 위반과 재비행이 반복되자, 법원이 지역사회 처우에서 소년원 송치로 처분을 바꾼 사례</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BODY8"/>
          <p:cNvSpPr/>
          <p:nvPr/>
        </p:nvSpPr>
        <p:spPr>
          <a:xfrm>
            <a:off x="3154680" y="2335908"/>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보호자 감호위탁·수강명령·단기 보호관찰(제1·2·4호)</a:t>
            </a:r>
            <a:r>
              <a:rPr lang="ko-KR" altLang="en-US" sz="1250" b="1" dirty="0">
                <a:solidFill>
                  <a:srgbClr val="222633"/>
                </a:solidFill>
                <a:latin typeface="Pretendard" pitchFamily="34" charset="0"/>
                <a:ea typeface="Pretendard" pitchFamily="34" charset="-122"/>
                <a:cs typeface="Pretendard" pitchFamily="34" charset="-120"/>
              </a:rPr>
              <a:t>을 부과했다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2015.10.21. · 교통사고처리특례법 위반 등으로 소년보호사건에서 처리되었다</a:t>
            </a:r>
          </a:p>
        </p:txBody>
      </p:sp>
      <p:sp>
        <p:nvSpPr>
          <p:cNvPr id="9" name="HEAD9"/>
          <p:cNvSpPr/>
          <p:nvPr/>
        </p:nvSpPr>
        <p:spPr>
          <a:xfrm>
            <a:off x="731520" y="2184763"/>
            <a:ext cx="2240280" cy="815675"/>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원처분</a:t>
            </a:r>
          </a:p>
        </p:txBody>
      </p:sp>
      <p:sp>
        <p:nvSpPr>
          <p:cNvPr id="10" name="RULE10"/>
          <p:cNvSpPr/>
          <p:nvPr/>
        </p:nvSpPr>
        <p:spPr>
          <a:xfrm>
            <a:off x="731520" y="3173519"/>
            <a:ext cx="10725912" cy="0"/>
          </a:xfrm>
          <a:prstGeom prst="line">
            <a:avLst/>
          </a:prstGeom>
          <a:ln w="9525">
            <a:solidFill>
              <a:srgbClr val="DCE0E8"/>
            </a:solidFill>
          </a:ln>
        </p:spPr>
        <p:txBody>
          <a:bodyPr/>
          <a:lstStyle/>
          <a:p>
            <a:endParaRPr lang="ko-KR"/>
          </a:p>
        </p:txBody>
      </p:sp>
      <p:sp>
        <p:nvSpPr>
          <p:cNvPr id="11" name="BODY11"/>
          <p:cNvSpPr/>
          <p:nvPr/>
        </p:nvSpPr>
        <p:spPr>
          <a:xfrm>
            <a:off x="3154680" y="3438964"/>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장기 보호관찰에 1개월 이내 소년원 송치</a:t>
            </a:r>
            <a:r>
              <a:rPr lang="ko-KR" altLang="en-US" sz="1250" b="1" dirty="0">
                <a:solidFill>
                  <a:srgbClr val="222633"/>
                </a:solidFill>
                <a:latin typeface="Pretendard" pitchFamily="34" charset="0"/>
                <a:ea typeface="Pretendard" pitchFamily="34" charset="-122"/>
                <a:cs typeface="Pretendard" pitchFamily="34" charset="-120"/>
              </a:rPr>
              <a:t>를 병합했다(제5·8호)</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2016.8.24. · </a:t>
            </a:r>
            <a:r>
              <a:rPr lang="ko-KR" altLang="en-US" sz="1150" b="1" dirty="0">
                <a:solidFill>
                  <a:srgbClr val="464D5C"/>
                </a:solidFill>
                <a:highlight>
                  <a:srgbClr val="FFFF00"/>
                </a:highlight>
                <a:latin typeface="Pretendard" pitchFamily="34" charset="0"/>
                <a:ea typeface="Pretendard" pitchFamily="34" charset="-122"/>
                <a:cs typeface="Pretendard" pitchFamily="34" charset="-120"/>
              </a:rPr>
              <a:t>지도·감독과 수강명령 집행에 불응하고 재비행·소환 불응 등이 있어 보호관찰소장이 변경을 신청</a:t>
            </a:r>
            <a:r>
              <a:rPr lang="ko-KR" altLang="en-US" sz="1150" dirty="0">
                <a:solidFill>
                  <a:srgbClr val="464D5C"/>
                </a:solidFill>
                <a:latin typeface="Pretendard" pitchFamily="34" charset="0"/>
                <a:ea typeface="Pretendard" pitchFamily="34" charset="-122"/>
                <a:cs typeface="Pretendard" pitchFamily="34" charset="-120"/>
              </a:rPr>
              <a:t>했다</a:t>
            </a:r>
          </a:p>
        </p:txBody>
      </p:sp>
      <p:sp>
        <p:nvSpPr>
          <p:cNvPr id="12" name="HEAD12"/>
          <p:cNvSpPr/>
          <p:nvPr/>
        </p:nvSpPr>
        <p:spPr>
          <a:xfrm>
            <a:off x="731520" y="3287818"/>
            <a:ext cx="2240280" cy="815675"/>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1차 변경</a:t>
            </a:r>
          </a:p>
        </p:txBody>
      </p:sp>
      <p:sp>
        <p:nvSpPr>
          <p:cNvPr id="13" name="RULE13"/>
          <p:cNvSpPr/>
          <p:nvPr/>
        </p:nvSpPr>
        <p:spPr>
          <a:xfrm>
            <a:off x="731520" y="4191668"/>
            <a:ext cx="10725912" cy="0"/>
          </a:xfrm>
          <a:prstGeom prst="line">
            <a:avLst/>
          </a:prstGeom>
          <a:ln w="9525">
            <a:solidFill>
              <a:srgbClr val="DCE0E8"/>
            </a:solidFill>
          </a:ln>
        </p:spPr>
        <p:txBody>
          <a:bodyPr/>
          <a:lstStyle/>
          <a:p>
            <a:endParaRPr lang="ko-KR"/>
          </a:p>
        </p:txBody>
      </p:sp>
      <p:sp>
        <p:nvSpPr>
          <p:cNvPr id="14" name="BODY14"/>
          <p:cNvSpPr/>
          <p:nvPr/>
        </p:nvSpPr>
        <p:spPr>
          <a:xfrm>
            <a:off x="3154680" y="4463643"/>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단기 소년원 송치</a:t>
            </a:r>
            <a:r>
              <a:rPr lang="ko-KR" altLang="en-US" sz="1250" b="1" dirty="0">
                <a:solidFill>
                  <a:srgbClr val="222633"/>
                </a:solidFill>
                <a:latin typeface="Pretendard" pitchFamily="34" charset="0"/>
                <a:ea typeface="Pretendard" pitchFamily="34" charset="-122"/>
                <a:cs typeface="Pretendard" pitchFamily="34" charset="-120"/>
              </a:rPr>
              <a:t>로 바꾸었다(제9호)</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2017.3.29. · 외출제한명령과 교우 접촉 금지를 위반하고 재비행이 있어 보호관찰소장이 다시 변경을 신청했다</a:t>
            </a:r>
          </a:p>
        </p:txBody>
      </p:sp>
      <p:sp>
        <p:nvSpPr>
          <p:cNvPr id="15" name="HEAD15"/>
          <p:cNvSpPr/>
          <p:nvPr/>
        </p:nvSpPr>
        <p:spPr>
          <a:xfrm>
            <a:off x="731520" y="4299440"/>
            <a:ext cx="2240280" cy="815675"/>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2차 변경</a:t>
            </a:r>
          </a:p>
        </p:txBody>
      </p:sp>
      <p:sp>
        <p:nvSpPr>
          <p:cNvPr id="16" name="RULE16"/>
          <p:cNvSpPr/>
          <p:nvPr/>
        </p:nvSpPr>
        <p:spPr>
          <a:xfrm>
            <a:off x="733044" y="5259810"/>
            <a:ext cx="10725912" cy="0"/>
          </a:xfrm>
          <a:prstGeom prst="line">
            <a:avLst/>
          </a:prstGeom>
          <a:ln w="9525">
            <a:solidFill>
              <a:srgbClr val="DCE0E8"/>
            </a:solidFill>
          </a:ln>
        </p:spPr>
        <p:txBody>
          <a:bodyPr/>
          <a:lstStyle/>
          <a:p>
            <a:endParaRPr lang="ko-KR"/>
          </a:p>
        </p:txBody>
      </p:sp>
      <p:sp>
        <p:nvSpPr>
          <p:cNvPr id="20" name="CLOSE20"/>
          <p:cNvSpPr/>
          <p:nvPr/>
        </p:nvSpPr>
        <p:spPr>
          <a:xfrm>
            <a:off x="731520" y="5517418"/>
            <a:ext cx="10725912" cy="470974"/>
          </a:xfrm>
          <a:prstGeom prst="rect">
            <a:avLst/>
          </a:prstGeom>
          <a:solidFill>
            <a:schemeClr val="accent1">
              <a:lumMod val="20000"/>
              <a:lumOff val="80000"/>
            </a:schemeClr>
          </a:solidFill>
          <a:ln/>
        </p:spPr>
        <p:txBody>
          <a:bodyPr wrap="square" lIns="0" tIns="0" rIns="0" bIns="0" rtlCol="0" anchor="ctr"/>
          <a:lstStyle/>
          <a:p>
            <a:pPr algn="ctr">
              <a:lnSpc>
                <a:spcPct val="118000"/>
              </a:lnSpc>
            </a:pPr>
            <a:r>
              <a:rPr lang="ko-KR" altLang="en-US" sz="1250" b="1" dirty="0">
                <a:solidFill>
                  <a:srgbClr val="002060"/>
                </a:solidFill>
                <a:latin typeface="Pretendard" pitchFamily="34" charset="0"/>
                <a:ea typeface="Pretendard" pitchFamily="34" charset="-122"/>
                <a:cs typeface="Pretendard" pitchFamily="34" charset="-120"/>
              </a:rPr>
              <a:t>중대한 준수사항 위반과 재비행이 반복되면 보호자 감호위탁 및 단기 보호관찰에서 소년원 송치로 변경될 수 있다</a:t>
            </a:r>
            <a:r>
              <a:rPr lang="en-US" altLang="ko-KR" sz="1250" b="1" dirty="0">
                <a:solidFill>
                  <a:srgbClr val="002060"/>
                </a:solidFill>
                <a:latin typeface="Pretendard" pitchFamily="34" charset="0"/>
                <a:ea typeface="Pretendard" pitchFamily="34" charset="-122"/>
                <a:cs typeface="Pretendard" pitchFamily="34" charset="-120"/>
              </a:rPr>
              <a:t>.</a:t>
            </a:r>
            <a:endParaRPr lang="ko-KR" altLang="en-US" sz="1250" b="1" dirty="0">
              <a:solidFill>
                <a:srgbClr val="002060"/>
              </a:solidFill>
              <a:latin typeface="Pretendard" pitchFamily="34" charset="0"/>
              <a:ea typeface="Pretendard" pitchFamily="34" charset="-122"/>
              <a:cs typeface="Pretendard" pitchFamily="34" charset="-12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521208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5. 치료·재활의 실행 조건</a:t>
            </a:r>
            <a:endParaRPr lang="en-US" sz="1250" dirty="0"/>
          </a:p>
        </p:txBody>
      </p:sp>
      <p:sp>
        <p:nvSpPr>
          <p:cNvPr id="3" name="Text 1"/>
          <p:cNvSpPr/>
          <p:nvPr/>
        </p:nvSpPr>
        <p:spPr>
          <a:xfrm>
            <a:off x="6035040" y="384048"/>
            <a:ext cx="5422392" cy="256032"/>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치료 종료 후 상담과 사례관리</a:t>
            </a:r>
            <a:endParaRPr lang="en-US" sz="1050" dirty="0"/>
          </a:p>
        </p:txBody>
      </p:sp>
      <p:sp>
        <p:nvSpPr>
          <p:cNvPr id="4" name="Text 2"/>
          <p:cNvSpPr/>
          <p:nvPr/>
        </p:nvSpPr>
        <p:spPr>
          <a:xfrm>
            <a:off x="731520" y="640080"/>
            <a:ext cx="10725912" cy="640080"/>
          </a:xfrm>
          <a:prstGeom prst="rect">
            <a:avLst/>
          </a:prstGeom>
          <a:noFill/>
          <a:ln/>
        </p:spPr>
        <p:txBody>
          <a:bodyPr wrap="square" lIns="0" tIns="0" rIns="0" bIns="0" rtlCol="0" anchor="ctr"/>
          <a:lstStyle/>
          <a:p>
            <a:pPr marL="0" indent="0">
              <a:buNone/>
            </a:pPr>
            <a:r>
              <a:rPr lang="en-US" sz="2750" b="1" dirty="0">
                <a:solidFill>
                  <a:srgbClr val="1E2761"/>
                </a:solidFill>
                <a:latin typeface="Pretendard" pitchFamily="34" charset="0"/>
                <a:ea typeface="Pretendard" pitchFamily="34" charset="-122"/>
                <a:cs typeface="Pretendard" pitchFamily="34" charset="-120"/>
              </a:rPr>
              <a:t>국내 치료보호기관의 치료 실적과 이용 집중</a:t>
            </a:r>
            <a:endParaRPr lang="en-US" sz="2750" dirty="0"/>
          </a:p>
        </p:txBody>
      </p:sp>
      <p:sp>
        <p:nvSpPr>
          <p:cNvPr id="5" name="Shape 3"/>
          <p:cNvSpPr/>
          <p:nvPr/>
        </p:nvSpPr>
        <p:spPr>
          <a:xfrm>
            <a:off x="731520" y="1316736"/>
            <a:ext cx="10725912"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417320"/>
            <a:ext cx="10725912" cy="548640"/>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1005840" y="1417320"/>
            <a:ext cx="10149840" cy="548640"/>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지정기관 수와 함께 실제 치료를 담당하는 기관의 분포를 확인해야 한다</a:t>
            </a:r>
            <a:endParaRPr lang="en-US" sz="1300" dirty="0"/>
          </a:p>
        </p:txBody>
      </p:sp>
      <p:sp>
        <p:nvSpPr>
          <p:cNvPr id="8" name="Text 6"/>
          <p:cNvSpPr/>
          <p:nvPr/>
        </p:nvSpPr>
        <p:spPr>
          <a:xfrm>
            <a:off x="731520" y="2103120"/>
            <a:ext cx="10725912" cy="237744"/>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자료 범위   </a:t>
            </a:r>
            <a:r>
              <a:rPr lang="en-US" sz="1150" dirty="0">
                <a:solidFill>
                  <a:srgbClr val="222633"/>
                </a:solidFill>
                <a:latin typeface="Pretendard" pitchFamily="34" charset="0"/>
                <a:ea typeface="Pretendard" pitchFamily="34" charset="-122"/>
                <a:cs typeface="Pretendard" pitchFamily="34" charset="-120"/>
              </a:rPr>
              <a:t>2025년 치료보호 실적  ·  전체 연령  ·  보건복지부 제출자료를 인용한 보도</a:t>
            </a:r>
            <a:endParaRPr lang="en-US" sz="1150" dirty="0"/>
          </a:p>
        </p:txBody>
      </p:sp>
      <p:sp>
        <p:nvSpPr>
          <p:cNvPr id="9" name="Shape 7"/>
          <p:cNvSpPr/>
          <p:nvPr/>
        </p:nvSpPr>
        <p:spPr>
          <a:xfrm>
            <a:off x="731520" y="2432304"/>
            <a:ext cx="5175504" cy="1481328"/>
          </a:xfrm>
          <a:prstGeom prst="rect">
            <a:avLst/>
          </a:prstGeom>
          <a:solidFill>
            <a:srgbClr val="FFFFFF"/>
          </a:solidFill>
          <a:ln w="12700">
            <a:solidFill>
              <a:srgbClr val="DCE0E8"/>
            </a:solidFill>
            <a:prstDash val="solid"/>
          </a:ln>
        </p:spPr>
        <p:txBody>
          <a:bodyPr/>
          <a:lstStyle/>
          <a:p>
            <a:endParaRPr lang="ko-KR" altLang="en-US"/>
          </a:p>
        </p:txBody>
      </p:sp>
      <p:sp>
        <p:nvSpPr>
          <p:cNvPr id="10" name="Text 8"/>
          <p:cNvSpPr/>
          <p:nvPr/>
        </p:nvSpPr>
        <p:spPr>
          <a:xfrm>
            <a:off x="731520" y="2560320"/>
            <a:ext cx="5175504" cy="256032"/>
          </a:xfrm>
          <a:prstGeom prst="rect">
            <a:avLst/>
          </a:prstGeom>
          <a:noFill/>
          <a:ln/>
        </p:spPr>
        <p:txBody>
          <a:bodyPr wrap="square" lIns="0" tIns="0" rIns="0" bIns="0" rtlCol="0" anchor="ctr"/>
          <a:lstStyle/>
          <a:p>
            <a:pPr marL="0" indent="0" algn="ctr">
              <a:buNone/>
            </a:pPr>
            <a:r>
              <a:rPr lang="en-US" sz="1250" b="1" dirty="0">
                <a:solidFill>
                  <a:srgbClr val="464D5C"/>
                </a:solidFill>
                <a:latin typeface="Pretendard" pitchFamily="34" charset="0"/>
                <a:ea typeface="Pretendard" pitchFamily="34" charset="-122"/>
                <a:cs typeface="Pretendard" pitchFamily="34" charset="-120"/>
              </a:rPr>
              <a:t>실적이 있는 지정기관</a:t>
            </a:r>
            <a:endParaRPr lang="en-US" sz="1250" dirty="0"/>
          </a:p>
        </p:txBody>
      </p:sp>
      <p:sp>
        <p:nvSpPr>
          <p:cNvPr id="11" name="Text 9"/>
          <p:cNvSpPr/>
          <p:nvPr/>
        </p:nvSpPr>
        <p:spPr>
          <a:xfrm>
            <a:off x="731520" y="2852928"/>
            <a:ext cx="5175504" cy="512064"/>
          </a:xfrm>
          <a:prstGeom prst="rect">
            <a:avLst/>
          </a:prstGeom>
          <a:noFill/>
          <a:ln/>
        </p:spPr>
        <p:txBody>
          <a:bodyPr wrap="square" lIns="0" tIns="0" rIns="0" bIns="0" rtlCol="0" anchor="ctr"/>
          <a:lstStyle/>
          <a:p>
            <a:pPr marL="0" indent="0" algn="ctr">
              <a:buNone/>
            </a:pPr>
            <a:r>
              <a:rPr lang="en-US" sz="2250" b="1" dirty="0">
                <a:solidFill>
                  <a:srgbClr val="1E2761"/>
                </a:solidFill>
                <a:latin typeface="Pretendard" pitchFamily="34" charset="0"/>
                <a:ea typeface="Pretendard" pitchFamily="34" charset="-122"/>
                <a:cs typeface="Pretendard" pitchFamily="34" charset="-120"/>
              </a:rPr>
              <a:t>56.3%</a:t>
            </a:r>
            <a:endParaRPr lang="en-US" sz="2250" dirty="0"/>
          </a:p>
        </p:txBody>
      </p:sp>
      <p:sp>
        <p:nvSpPr>
          <p:cNvPr id="12" name="Text 10"/>
          <p:cNvSpPr/>
          <p:nvPr/>
        </p:nvSpPr>
        <p:spPr>
          <a:xfrm>
            <a:off x="969264" y="3383280"/>
            <a:ext cx="4700016" cy="237744"/>
          </a:xfrm>
          <a:prstGeom prst="rect">
            <a:avLst/>
          </a:prstGeom>
          <a:noFill/>
          <a:ln/>
        </p:spPr>
        <p:txBody>
          <a:bodyPr wrap="square" lIns="0" tIns="0" rIns="0" bIns="0" rtlCol="0" anchor="ctr"/>
          <a:lstStyle/>
          <a:p>
            <a:pPr marL="0" indent="0" algn="ctr">
              <a:buNone/>
            </a:pPr>
            <a:r>
              <a:rPr lang="en-US" sz="1150" dirty="0">
                <a:solidFill>
                  <a:srgbClr val="222633"/>
                </a:solidFill>
                <a:latin typeface="Pretendard" pitchFamily="34" charset="0"/>
                <a:ea typeface="Pretendard" pitchFamily="34" charset="-122"/>
                <a:cs typeface="Pretendard" pitchFamily="34" charset="-120"/>
              </a:rPr>
              <a:t>18 / 32개 기관</a:t>
            </a:r>
            <a:endParaRPr lang="en-US" sz="1150" dirty="0"/>
          </a:p>
        </p:txBody>
      </p:sp>
      <p:sp>
        <p:nvSpPr>
          <p:cNvPr id="13" name="Text 11"/>
          <p:cNvSpPr/>
          <p:nvPr/>
        </p:nvSpPr>
        <p:spPr>
          <a:xfrm>
            <a:off x="969264" y="3621024"/>
            <a:ext cx="4700016" cy="219456"/>
          </a:xfrm>
          <a:prstGeom prst="rect">
            <a:avLst/>
          </a:prstGeom>
          <a:noFill/>
          <a:ln/>
        </p:spPr>
        <p:txBody>
          <a:bodyPr wrap="square" lIns="0" tIns="0" rIns="0" bIns="0" rtlCol="0" anchor="ctr"/>
          <a:lstStyle/>
          <a:p>
            <a:pPr marL="0" indent="0" algn="ctr">
              <a:buNone/>
            </a:pPr>
            <a:r>
              <a:rPr lang="en-US" sz="1100" dirty="0">
                <a:solidFill>
                  <a:srgbClr val="6E7686"/>
                </a:solidFill>
                <a:latin typeface="Pretendard" pitchFamily="34" charset="0"/>
                <a:ea typeface="Pretendard" pitchFamily="34" charset="-122"/>
                <a:cs typeface="Pretendard" pitchFamily="34" charset="-120"/>
              </a:rPr>
              <a:t>14개 기관은 치료보호 실적 없음</a:t>
            </a:r>
            <a:endParaRPr lang="en-US" sz="1100" dirty="0"/>
          </a:p>
        </p:txBody>
      </p:sp>
      <p:sp>
        <p:nvSpPr>
          <p:cNvPr id="14" name="Shape 12"/>
          <p:cNvSpPr/>
          <p:nvPr/>
        </p:nvSpPr>
        <p:spPr>
          <a:xfrm>
            <a:off x="6281928" y="2432304"/>
            <a:ext cx="5175504" cy="1481328"/>
          </a:xfrm>
          <a:prstGeom prst="rect">
            <a:avLst/>
          </a:prstGeom>
          <a:solidFill>
            <a:srgbClr val="F2F4F8"/>
          </a:solidFill>
          <a:ln w="12700">
            <a:solidFill>
              <a:srgbClr val="F2F4F8"/>
            </a:solidFill>
            <a:prstDash val="solid"/>
          </a:ln>
        </p:spPr>
        <p:txBody>
          <a:bodyPr/>
          <a:lstStyle/>
          <a:p>
            <a:endParaRPr lang="ko-KR" altLang="en-US"/>
          </a:p>
        </p:txBody>
      </p:sp>
      <p:sp>
        <p:nvSpPr>
          <p:cNvPr id="15" name="Text 13"/>
          <p:cNvSpPr/>
          <p:nvPr/>
        </p:nvSpPr>
        <p:spPr>
          <a:xfrm>
            <a:off x="6281928" y="2560320"/>
            <a:ext cx="5175504" cy="256032"/>
          </a:xfrm>
          <a:prstGeom prst="rect">
            <a:avLst/>
          </a:prstGeom>
          <a:noFill/>
          <a:ln/>
        </p:spPr>
        <p:txBody>
          <a:bodyPr wrap="square" lIns="0" tIns="0" rIns="0" bIns="0" rtlCol="0" anchor="ctr"/>
          <a:lstStyle/>
          <a:p>
            <a:pPr marL="0" indent="0" algn="ctr">
              <a:buNone/>
            </a:pPr>
            <a:r>
              <a:rPr lang="en-US" sz="1250" b="1" dirty="0">
                <a:solidFill>
                  <a:srgbClr val="464D5C"/>
                </a:solidFill>
                <a:latin typeface="Pretendard" pitchFamily="34" charset="0"/>
                <a:ea typeface="Pretendard" pitchFamily="34" charset="-122"/>
                <a:cs typeface="Pretendard" pitchFamily="34" charset="-120"/>
              </a:rPr>
              <a:t>상위 5개 기관의 치료 비중</a:t>
            </a:r>
            <a:endParaRPr lang="en-US" sz="1250" dirty="0"/>
          </a:p>
        </p:txBody>
      </p:sp>
      <p:sp>
        <p:nvSpPr>
          <p:cNvPr id="16" name="Text 14"/>
          <p:cNvSpPr/>
          <p:nvPr/>
        </p:nvSpPr>
        <p:spPr>
          <a:xfrm>
            <a:off x="6281928" y="2852928"/>
            <a:ext cx="5175504" cy="512064"/>
          </a:xfrm>
          <a:prstGeom prst="rect">
            <a:avLst/>
          </a:prstGeom>
          <a:noFill/>
          <a:ln/>
        </p:spPr>
        <p:txBody>
          <a:bodyPr wrap="square" lIns="0" tIns="0" rIns="0" bIns="0" rtlCol="0" anchor="ctr"/>
          <a:lstStyle/>
          <a:p>
            <a:pPr marL="0" indent="0" algn="ctr">
              <a:buNone/>
            </a:pPr>
            <a:r>
              <a:rPr lang="en-US" sz="2250" b="1" dirty="0">
                <a:solidFill>
                  <a:srgbClr val="1E2761"/>
                </a:solidFill>
                <a:latin typeface="Pretendard" pitchFamily="34" charset="0"/>
                <a:ea typeface="Pretendard" pitchFamily="34" charset="-122"/>
                <a:cs typeface="Pretendard" pitchFamily="34" charset="-120"/>
              </a:rPr>
              <a:t>84.5%</a:t>
            </a:r>
            <a:endParaRPr lang="en-US" sz="2250" dirty="0"/>
          </a:p>
        </p:txBody>
      </p:sp>
      <p:sp>
        <p:nvSpPr>
          <p:cNvPr id="17" name="Text 15"/>
          <p:cNvSpPr/>
          <p:nvPr/>
        </p:nvSpPr>
        <p:spPr>
          <a:xfrm>
            <a:off x="6519672" y="3383280"/>
            <a:ext cx="4700016" cy="237744"/>
          </a:xfrm>
          <a:prstGeom prst="rect">
            <a:avLst/>
          </a:prstGeom>
          <a:noFill/>
          <a:ln/>
        </p:spPr>
        <p:txBody>
          <a:bodyPr wrap="square" lIns="0" tIns="0" rIns="0" bIns="0" rtlCol="0" anchor="ctr"/>
          <a:lstStyle/>
          <a:p>
            <a:pPr marL="0" indent="0" algn="ctr">
              <a:buNone/>
            </a:pPr>
            <a:r>
              <a:rPr lang="en-US" sz="1150" dirty="0">
                <a:solidFill>
                  <a:srgbClr val="222633"/>
                </a:solidFill>
                <a:latin typeface="Pretendard" pitchFamily="34" charset="0"/>
                <a:ea typeface="Pretendard" pitchFamily="34" charset="-122"/>
                <a:cs typeface="Pretendard" pitchFamily="34" charset="-120"/>
              </a:rPr>
              <a:t>상위 5개 기관에서 1,393명 치료</a:t>
            </a:r>
            <a:endParaRPr lang="en-US" sz="1150" dirty="0"/>
          </a:p>
        </p:txBody>
      </p:sp>
      <p:sp>
        <p:nvSpPr>
          <p:cNvPr id="18" name="Text 16"/>
          <p:cNvSpPr/>
          <p:nvPr/>
        </p:nvSpPr>
        <p:spPr>
          <a:xfrm>
            <a:off x="731520" y="4318375"/>
            <a:ext cx="10725912" cy="237744"/>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병상 분포   </a:t>
            </a:r>
            <a:r>
              <a:rPr lang="en-US" sz="1150" dirty="0">
                <a:solidFill>
                  <a:srgbClr val="222633"/>
                </a:solidFill>
                <a:latin typeface="Pretendard" pitchFamily="34" charset="0"/>
                <a:ea typeface="Pretendard" pitchFamily="34" charset="-122"/>
                <a:cs typeface="Pretendard" pitchFamily="34" charset="-120"/>
              </a:rPr>
              <a:t>전체 336개 중 상위 5개 기관에 177개(52.7%)가 있었다</a:t>
            </a:r>
            <a:endParaRPr lang="en-US" sz="1150" dirty="0"/>
          </a:p>
        </p:txBody>
      </p:sp>
      <p:sp>
        <p:nvSpPr>
          <p:cNvPr id="19" name="Text 17"/>
          <p:cNvSpPr/>
          <p:nvPr/>
        </p:nvSpPr>
        <p:spPr>
          <a:xfrm>
            <a:off x="731520" y="4647559"/>
            <a:ext cx="10725912" cy="256032"/>
          </a:xfrm>
          <a:prstGeom prst="rect">
            <a:avLst/>
          </a:prstGeom>
          <a:noFill/>
          <a:ln/>
        </p:spPr>
        <p:txBody>
          <a:bodyPr wrap="square" lIns="0" tIns="0" rIns="0" bIns="0" rtlCol="0" anchor="ctr"/>
          <a:lstStyle/>
          <a:p>
            <a:pPr marL="0" indent="0">
              <a:buNone/>
            </a:pPr>
            <a:r>
              <a:rPr lang="en-US" sz="1150" b="1" dirty="0">
                <a:solidFill>
                  <a:srgbClr val="1E2761"/>
                </a:solidFill>
                <a:latin typeface="Pretendard" pitchFamily="34" charset="0"/>
                <a:ea typeface="Pretendard" pitchFamily="34" charset="-122"/>
                <a:cs typeface="Pretendard" pitchFamily="34" charset="-120"/>
              </a:rPr>
              <a:t>해석   </a:t>
            </a:r>
            <a:r>
              <a:rPr lang="en-US" sz="1150" dirty="0">
                <a:solidFill>
                  <a:srgbClr val="222633"/>
                </a:solidFill>
                <a:latin typeface="Pretendard" pitchFamily="34" charset="0"/>
                <a:ea typeface="Pretendard" pitchFamily="34" charset="-122"/>
                <a:cs typeface="Pretendard" pitchFamily="34" charset="-120"/>
              </a:rPr>
              <a:t>치료 실적이 일부 기관에 집중되어 있다. 전체 지정기관 수만으로 지역별로 실제 이용할 수 있는 치료 여건을 판단하기 어렵다</a:t>
            </a:r>
            <a:endParaRPr lang="en-US" sz="1150" dirty="0"/>
          </a:p>
        </p:txBody>
      </p:sp>
      <p:sp>
        <p:nvSpPr>
          <p:cNvPr id="20" name="Text 18"/>
          <p:cNvSpPr/>
          <p:nvPr/>
        </p:nvSpPr>
        <p:spPr>
          <a:xfrm>
            <a:off x="731520" y="4921879"/>
            <a:ext cx="10725912" cy="256032"/>
          </a:xfrm>
          <a:prstGeom prst="rect">
            <a:avLst/>
          </a:prstGeom>
          <a:noFill/>
          <a:ln/>
        </p:spPr>
        <p:txBody>
          <a:bodyPr wrap="square" lIns="0" tIns="0" rIns="0" bIns="0" rtlCol="0" anchor="ctr"/>
          <a:lstStyle/>
          <a:p>
            <a:pPr marL="0" indent="0">
              <a:buNone/>
            </a:pPr>
            <a:r>
              <a:rPr lang="en-US" sz="1150" b="1" dirty="0">
                <a:solidFill>
                  <a:srgbClr val="1E2761"/>
                </a:solidFill>
                <a:latin typeface="Pretendard" pitchFamily="34" charset="0"/>
                <a:ea typeface="Pretendard" pitchFamily="34" charset="-122"/>
                <a:cs typeface="Pretendard" pitchFamily="34" charset="-120"/>
              </a:rPr>
              <a:t>범위   </a:t>
            </a:r>
            <a:r>
              <a:rPr lang="en-US" sz="1150" dirty="0">
                <a:solidFill>
                  <a:srgbClr val="222633"/>
                </a:solidFill>
                <a:latin typeface="Pretendard" pitchFamily="34" charset="0"/>
                <a:ea typeface="Pretendard" pitchFamily="34" charset="-122"/>
                <a:cs typeface="Pretendard" pitchFamily="34" charset="-120"/>
              </a:rPr>
              <a:t>전체 연령의 치료보호 실적이다. 청소년의 이용률이나 병상가동률을 나타내지 않는다</a:t>
            </a:r>
            <a:endParaRPr lang="en-US" sz="1150" dirty="0"/>
          </a:p>
        </p:txBody>
      </p:sp>
      <p:sp>
        <p:nvSpPr>
          <p:cNvPr id="21" name="Shape 19"/>
          <p:cNvSpPr/>
          <p:nvPr/>
        </p:nvSpPr>
        <p:spPr>
          <a:xfrm>
            <a:off x="731520" y="5650992"/>
            <a:ext cx="10725912" cy="0"/>
          </a:xfrm>
          <a:prstGeom prst="line">
            <a:avLst/>
          </a:prstGeom>
          <a:noFill/>
          <a:ln w="12700">
            <a:solidFill>
              <a:srgbClr val="DCE0E8"/>
            </a:solidFill>
            <a:prstDash val="solid"/>
          </a:ln>
        </p:spPr>
        <p:txBody>
          <a:bodyPr/>
          <a:lstStyle/>
          <a:p>
            <a:endParaRPr lang="ko-KR" altLang="en-US"/>
          </a:p>
        </p:txBody>
      </p:sp>
      <p:sp>
        <p:nvSpPr>
          <p:cNvPr id="22" name="Text 20"/>
          <p:cNvSpPr/>
          <p:nvPr/>
        </p:nvSpPr>
        <p:spPr>
          <a:xfrm>
            <a:off x="731520" y="5742432"/>
            <a:ext cx="10725912" cy="329184"/>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청소년에게 치료·재활을 우선하려면 실제로 해당 청소년을 진료할 기관 · 인력 · 병상을 확인해야 한다</a:t>
            </a:r>
            <a:endParaRPr lang="en-US" sz="1250" dirty="0"/>
          </a:p>
        </p:txBody>
      </p:sp>
      <p:sp>
        <p:nvSpPr>
          <p:cNvPr id="23" name="Shape 21"/>
          <p:cNvSpPr/>
          <p:nvPr/>
        </p:nvSpPr>
        <p:spPr>
          <a:xfrm>
            <a:off x="731520" y="6144768"/>
            <a:ext cx="10725912" cy="0"/>
          </a:xfrm>
          <a:prstGeom prst="line">
            <a:avLst/>
          </a:prstGeom>
          <a:noFill/>
          <a:ln w="12700">
            <a:solidFill>
              <a:srgbClr val="DCE0E8"/>
            </a:solidFill>
            <a:prstDash val="solid"/>
          </a:ln>
        </p:spPr>
        <p:txBody>
          <a:bodyPr/>
          <a:lstStyle/>
          <a:p>
            <a:endParaRPr lang="ko-KR"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ection">
            <a:extLst>
              <a:ext uri="{FF2B5EF4-FFF2-40B4-BE49-F238E27FC236}">
                <a16:creationId xmlns:a16="http://schemas.microsoft.com/office/drawing/2014/main" id="{8D1C4135-ADD6-4AB9-9124-413D42D7D878}"/>
              </a:ext>
            </a:extLst>
          </p:cNvPr>
          <p:cNvSpPr>
            <a:spLocks noGrp="1"/>
          </p:cNvSpPr>
          <p:nvPr/>
        </p:nvSpPr>
        <p:spPr>
          <a:xfrm>
            <a:off x="731520" y="396240"/>
            <a:ext cx="9144000" cy="228600"/>
          </a:xfrm>
          <a:prstGeom prst="rect">
            <a:avLst/>
          </a:prstGeom>
          <a:noFill/>
          <a:ln w="0">
            <a:noFill/>
          </a:ln>
        </p:spPr>
        <p:txBody>
          <a:bodyPr wrap="none" lIns="0" tIns="0" rIns="0" bIns="0" anchor="t">
            <a:noAutofit/>
          </a:bodyPr>
          <a:lstStyle/>
          <a:p>
            <a:pPr algn="l">
              <a:lnSpc>
                <a:spcPct val="117000"/>
              </a:lnSpc>
              <a:buNone/>
              <a:defRPr sz="1650" b="1">
                <a:solidFill>
                  <a:srgbClr val="50596D"/>
                </a:solidFill>
                <a:latin typeface="Pretendard"/>
                <a:ea typeface="Pretendard"/>
                <a:cs typeface="Pretendard"/>
              </a:defRPr>
            </a:pPr>
            <a:r>
              <a:rPr sz="1320" b="1">
                <a:solidFill>
                  <a:srgbClr val="50596D"/>
                </a:solidFill>
                <a:latin typeface="Pretendard"/>
                <a:ea typeface="Pretendard"/>
                <a:cs typeface="Pretendard"/>
              </a:rPr>
              <a:t>5. 치료·재활의 실행 조건</a:t>
            </a:r>
          </a:p>
        </p:txBody>
      </p:sp>
      <p:sp>
        <p:nvSpPr>
          <p:cNvPr id="2" name="title">
            <a:extLst>
              <a:ext uri="{FF2B5EF4-FFF2-40B4-BE49-F238E27FC236}">
                <a16:creationId xmlns:a16="http://schemas.microsoft.com/office/drawing/2014/main" id="{1EF1EAC5-74EB-4E78-B65A-80EDA577A5A8}"/>
              </a:ext>
            </a:extLst>
          </p:cNvPr>
          <p:cNvSpPr>
            <a:spLocks noGrp="1"/>
          </p:cNvSpPr>
          <p:nvPr/>
        </p:nvSpPr>
        <p:spPr>
          <a:xfrm>
            <a:off x="731520" y="784860"/>
            <a:ext cx="10728960" cy="510540"/>
          </a:xfrm>
          <a:prstGeom prst="rect">
            <a:avLst/>
          </a:prstGeom>
          <a:noFill/>
          <a:ln w="0">
            <a:noFill/>
          </a:ln>
        </p:spPr>
        <p:txBody>
          <a:bodyPr wrap="none" lIns="0" tIns="0" rIns="0" bIns="0" anchor="t">
            <a:noAutofit/>
          </a:bodyPr>
          <a:lstStyle/>
          <a:p>
            <a:pPr algn="l">
              <a:lnSpc>
                <a:spcPct val="117000"/>
              </a:lnSpc>
              <a:buNone/>
              <a:defRPr sz="3675" b="1">
                <a:solidFill>
                  <a:srgbClr val="222761"/>
                </a:solidFill>
                <a:latin typeface="Pretendard"/>
                <a:ea typeface="Pretendard"/>
                <a:cs typeface="Pretendard"/>
              </a:defRPr>
            </a:pPr>
            <a:r>
              <a:rPr sz="2940" b="1">
                <a:solidFill>
                  <a:srgbClr val="222761"/>
                </a:solidFill>
                <a:latin typeface="Pretendard"/>
                <a:ea typeface="Pretendard"/>
                <a:cs typeface="Pretendard"/>
              </a:rPr>
              <a:t>10대의 마약류 치료보호 실적</a:t>
            </a:r>
          </a:p>
        </p:txBody>
      </p:sp>
      <p:sp>
        <p:nvSpPr>
          <p:cNvPr id="3" name="title-rule">
            <a:extLst>
              <a:ext uri="{FF2B5EF4-FFF2-40B4-BE49-F238E27FC236}">
                <a16:creationId xmlns:a16="http://schemas.microsoft.com/office/drawing/2014/main" id="{208B266B-1080-4650-906F-E1C6CA943318}"/>
              </a:ext>
            </a:extLst>
          </p:cNvPr>
          <p:cNvSpPr>
            <a:spLocks noGrp="1"/>
          </p:cNvSpPr>
          <p:nvPr/>
        </p:nvSpPr>
        <p:spPr>
          <a:xfrm>
            <a:off x="731520" y="1325880"/>
            <a:ext cx="10728960" cy="0"/>
          </a:xfrm>
          <a:prstGeom prst="line">
            <a:avLst/>
          </a:prstGeom>
          <a:noFill/>
          <a:ln w="9525">
            <a:solidFill>
              <a:srgbClr val="D6DDE9"/>
            </a:solidFill>
          </a:ln>
        </p:spPr>
        <p:txBody>
          <a:bodyPr/>
          <a:lstStyle/>
          <a:p>
            <a:endParaRPr lang="ko-KR" altLang="en-US" sz="1440"/>
          </a:p>
        </p:txBody>
      </p:sp>
      <p:sp>
        <p:nvSpPr>
          <p:cNvPr id="4" name="purpose-band">
            <a:extLst>
              <a:ext uri="{FF2B5EF4-FFF2-40B4-BE49-F238E27FC236}">
                <a16:creationId xmlns:a16="http://schemas.microsoft.com/office/drawing/2014/main" id="{81C3DFBB-94FC-4CCA-86BB-3D9A68857EC5}"/>
              </a:ext>
            </a:extLst>
          </p:cNvPr>
          <p:cNvSpPr>
            <a:spLocks noGrp="1"/>
          </p:cNvSpPr>
          <p:nvPr/>
        </p:nvSpPr>
        <p:spPr>
          <a:xfrm>
            <a:off x="731520" y="1424940"/>
            <a:ext cx="10728960" cy="556260"/>
          </a:xfrm>
          <a:prstGeom prst="rect">
            <a:avLst/>
          </a:prstGeom>
          <a:solidFill>
            <a:srgbClr val="F1F3F8"/>
          </a:solidFill>
          <a:ln w="0">
            <a:noFill/>
          </a:ln>
        </p:spPr>
        <p:txBody>
          <a:bodyPr/>
          <a:lstStyle/>
          <a:p>
            <a:endParaRPr lang="ko-KR" altLang="en-US" sz="1440"/>
          </a:p>
        </p:txBody>
      </p:sp>
      <p:sp>
        <p:nvSpPr>
          <p:cNvPr id="5" name="purpose">
            <a:extLst>
              <a:ext uri="{FF2B5EF4-FFF2-40B4-BE49-F238E27FC236}">
                <a16:creationId xmlns:a16="http://schemas.microsoft.com/office/drawing/2014/main" id="{3347C5B1-8036-4BC3-A89E-3D972D40588F}"/>
              </a:ext>
            </a:extLst>
          </p:cNvPr>
          <p:cNvSpPr>
            <a:spLocks noGrp="1"/>
          </p:cNvSpPr>
          <p:nvPr/>
        </p:nvSpPr>
        <p:spPr>
          <a:xfrm>
            <a:off x="975360" y="1559692"/>
            <a:ext cx="10241280" cy="281940"/>
          </a:xfrm>
          <a:prstGeom prst="rect">
            <a:avLst/>
          </a:prstGeom>
          <a:noFill/>
          <a:ln w="0">
            <a:noFill/>
          </a:ln>
        </p:spPr>
        <p:txBody>
          <a:bodyPr wrap="none" lIns="0" tIns="0" rIns="0" bIns="0" anchor="t">
            <a:noAutofit/>
          </a:bodyPr>
          <a:lstStyle/>
          <a:p>
            <a:pPr algn="l">
              <a:lnSpc>
                <a:spcPct val="117000"/>
              </a:lnSpc>
              <a:buNone/>
              <a:defRPr sz="2025" b="1">
                <a:solidFill>
                  <a:srgbClr val="222761"/>
                </a:solidFill>
                <a:latin typeface="Pretendard"/>
                <a:ea typeface="Pretendard"/>
                <a:cs typeface="Pretendard"/>
              </a:defRPr>
            </a:pPr>
            <a:r>
              <a:rPr sz="1620" b="1" dirty="0" err="1">
                <a:solidFill>
                  <a:srgbClr val="222761"/>
                </a:solidFill>
                <a:latin typeface="Pretendard"/>
                <a:ea typeface="Pretendard"/>
                <a:cs typeface="Pretendard"/>
              </a:rPr>
              <a:t>치료·재활</a:t>
            </a:r>
            <a:r>
              <a:rPr sz="1620" b="1" dirty="0">
                <a:solidFill>
                  <a:srgbClr val="222761"/>
                </a:solidFill>
                <a:latin typeface="Pretendard"/>
                <a:ea typeface="Pretendard"/>
                <a:cs typeface="Pretendard"/>
              </a:rPr>
              <a:t> </a:t>
            </a:r>
            <a:r>
              <a:rPr sz="1620" b="1" dirty="0" err="1">
                <a:solidFill>
                  <a:srgbClr val="222761"/>
                </a:solidFill>
                <a:latin typeface="Pretendard"/>
                <a:ea typeface="Pretendard"/>
                <a:cs typeface="Pretendard"/>
              </a:rPr>
              <a:t>우선을</a:t>
            </a:r>
            <a:r>
              <a:rPr sz="1620" b="1" dirty="0">
                <a:solidFill>
                  <a:srgbClr val="222761"/>
                </a:solidFill>
                <a:latin typeface="Pretendard"/>
                <a:ea typeface="Pretendard"/>
                <a:cs typeface="Pretendard"/>
              </a:rPr>
              <a:t> </a:t>
            </a:r>
            <a:r>
              <a:rPr sz="1620" b="1" dirty="0" err="1">
                <a:solidFill>
                  <a:srgbClr val="222761"/>
                </a:solidFill>
                <a:latin typeface="Pretendard"/>
                <a:ea typeface="Pretendard"/>
                <a:cs typeface="Pretendard"/>
              </a:rPr>
              <a:t>논의하려면</a:t>
            </a:r>
            <a:r>
              <a:rPr sz="1620" b="1" dirty="0">
                <a:solidFill>
                  <a:srgbClr val="222761"/>
                </a:solidFill>
                <a:latin typeface="Pretendard"/>
                <a:ea typeface="Pretendard"/>
                <a:cs typeface="Pretendard"/>
              </a:rPr>
              <a:t> </a:t>
            </a:r>
            <a:r>
              <a:rPr sz="1620" b="1" dirty="0" err="1">
                <a:solidFill>
                  <a:srgbClr val="222761"/>
                </a:solidFill>
                <a:latin typeface="Pretendard"/>
                <a:ea typeface="Pretendard"/>
                <a:cs typeface="Pretendard"/>
              </a:rPr>
              <a:t>실제</a:t>
            </a:r>
            <a:r>
              <a:rPr sz="1620" b="1" dirty="0">
                <a:solidFill>
                  <a:srgbClr val="222761"/>
                </a:solidFill>
                <a:latin typeface="Pretendard"/>
                <a:ea typeface="Pretendard"/>
                <a:cs typeface="Pretendard"/>
              </a:rPr>
              <a:t> </a:t>
            </a:r>
            <a:r>
              <a:rPr sz="1620" b="1" dirty="0" err="1">
                <a:solidFill>
                  <a:srgbClr val="222761"/>
                </a:solidFill>
                <a:latin typeface="Pretendard"/>
                <a:ea typeface="Pretendard"/>
                <a:cs typeface="Pretendard"/>
              </a:rPr>
              <a:t>치료보호로</a:t>
            </a:r>
            <a:r>
              <a:rPr sz="1620" b="1" dirty="0">
                <a:solidFill>
                  <a:srgbClr val="222761"/>
                </a:solidFill>
                <a:latin typeface="Pretendard"/>
                <a:ea typeface="Pretendard"/>
                <a:cs typeface="Pretendard"/>
              </a:rPr>
              <a:t> </a:t>
            </a:r>
            <a:r>
              <a:rPr sz="1620" b="1" dirty="0" err="1">
                <a:solidFill>
                  <a:srgbClr val="222761"/>
                </a:solidFill>
                <a:latin typeface="Pretendard"/>
                <a:ea typeface="Pretendard"/>
                <a:cs typeface="Pretendard"/>
              </a:rPr>
              <a:t>연결된</a:t>
            </a:r>
            <a:r>
              <a:rPr sz="1620" b="1" dirty="0">
                <a:solidFill>
                  <a:srgbClr val="222761"/>
                </a:solidFill>
                <a:latin typeface="Pretendard"/>
                <a:ea typeface="Pretendard"/>
                <a:cs typeface="Pretendard"/>
              </a:rPr>
              <a:t> </a:t>
            </a:r>
            <a:r>
              <a:rPr sz="1620" b="1" dirty="0" err="1">
                <a:solidFill>
                  <a:srgbClr val="222761"/>
                </a:solidFill>
                <a:latin typeface="Pretendard"/>
                <a:ea typeface="Pretendard"/>
                <a:cs typeface="Pretendard"/>
              </a:rPr>
              <a:t>청소년</a:t>
            </a:r>
            <a:r>
              <a:rPr sz="1620" b="1" dirty="0">
                <a:solidFill>
                  <a:srgbClr val="222761"/>
                </a:solidFill>
                <a:latin typeface="Pretendard"/>
                <a:ea typeface="Pretendard"/>
                <a:cs typeface="Pretendard"/>
              </a:rPr>
              <a:t> </a:t>
            </a:r>
            <a:r>
              <a:rPr sz="1620" b="1" dirty="0" err="1">
                <a:solidFill>
                  <a:srgbClr val="222761"/>
                </a:solidFill>
                <a:latin typeface="Pretendard"/>
                <a:ea typeface="Pretendard"/>
                <a:cs typeface="Pretendard"/>
              </a:rPr>
              <a:t>규모도</a:t>
            </a:r>
            <a:r>
              <a:rPr sz="1620" b="1" dirty="0">
                <a:solidFill>
                  <a:srgbClr val="222761"/>
                </a:solidFill>
                <a:latin typeface="Pretendard"/>
                <a:ea typeface="Pretendard"/>
                <a:cs typeface="Pretendard"/>
              </a:rPr>
              <a:t> </a:t>
            </a:r>
            <a:r>
              <a:rPr sz="1620" b="1" dirty="0" err="1">
                <a:solidFill>
                  <a:srgbClr val="222761"/>
                </a:solidFill>
                <a:latin typeface="Pretendard"/>
                <a:ea typeface="Pretendard"/>
                <a:cs typeface="Pretendard"/>
              </a:rPr>
              <a:t>살펴봐야</a:t>
            </a:r>
            <a:r>
              <a:rPr sz="1620" b="1" dirty="0">
                <a:solidFill>
                  <a:srgbClr val="222761"/>
                </a:solidFill>
                <a:latin typeface="Pretendard"/>
                <a:ea typeface="Pretendard"/>
                <a:cs typeface="Pretendard"/>
              </a:rPr>
              <a:t> </a:t>
            </a:r>
            <a:r>
              <a:rPr sz="1620" b="1" dirty="0" err="1">
                <a:solidFill>
                  <a:srgbClr val="222761"/>
                </a:solidFill>
                <a:latin typeface="Pretendard"/>
                <a:ea typeface="Pretendard"/>
                <a:cs typeface="Pretendard"/>
              </a:rPr>
              <a:t>한다</a:t>
            </a:r>
            <a:endParaRPr sz="1620" b="1" dirty="0">
              <a:solidFill>
                <a:srgbClr val="222761"/>
              </a:solidFill>
              <a:latin typeface="Pretendard"/>
              <a:ea typeface="Pretendard"/>
              <a:cs typeface="Pretendard"/>
            </a:endParaRPr>
          </a:p>
        </p:txBody>
      </p:sp>
      <p:sp>
        <p:nvSpPr>
          <p:cNvPr id="6" name="scope">
            <a:extLst>
              <a:ext uri="{FF2B5EF4-FFF2-40B4-BE49-F238E27FC236}">
                <a16:creationId xmlns:a16="http://schemas.microsoft.com/office/drawing/2014/main" id="{1E39B4DA-6596-4780-B88F-61E1F76189BF}"/>
              </a:ext>
            </a:extLst>
          </p:cNvPr>
          <p:cNvSpPr>
            <a:spLocks noGrp="1"/>
          </p:cNvSpPr>
          <p:nvPr/>
        </p:nvSpPr>
        <p:spPr>
          <a:xfrm>
            <a:off x="731520" y="2164080"/>
            <a:ext cx="10728960" cy="228600"/>
          </a:xfrm>
          <a:prstGeom prst="rect">
            <a:avLst/>
          </a:prstGeom>
          <a:noFill/>
          <a:ln w="0">
            <a:noFill/>
          </a:ln>
        </p:spPr>
        <p:txBody>
          <a:bodyPr wrap="none" lIns="0" tIns="0" rIns="0" bIns="0" anchor="t">
            <a:noAutofit/>
          </a:bodyPr>
          <a:lstStyle/>
          <a:p>
            <a:pPr algn="l">
              <a:lnSpc>
                <a:spcPct val="117000"/>
              </a:lnSpc>
              <a:buNone/>
              <a:defRPr sz="1650" b="0">
                <a:solidFill>
                  <a:srgbClr val="748095"/>
                </a:solidFill>
                <a:latin typeface="Pretendard"/>
                <a:ea typeface="Pretendard"/>
                <a:cs typeface="Pretendard"/>
              </a:defRPr>
            </a:pPr>
            <a:r>
              <a:rPr sz="1320">
                <a:solidFill>
                  <a:srgbClr val="748095"/>
                </a:solidFill>
                <a:latin typeface="Pretendard"/>
                <a:ea typeface="Pretendard"/>
                <a:cs typeface="Pretendard"/>
              </a:rPr>
              <a:t>2019~2023년 · 원자료 연령 구분: 10대 · 단위: 명</a:t>
            </a:r>
          </a:p>
        </p:txBody>
      </p:sp>
      <p:sp>
        <p:nvSpPr>
          <p:cNvPr id="7" name="chart-heading">
            <a:extLst>
              <a:ext uri="{FF2B5EF4-FFF2-40B4-BE49-F238E27FC236}">
                <a16:creationId xmlns:a16="http://schemas.microsoft.com/office/drawing/2014/main" id="{E4241DB0-631E-4ABC-8BC2-8B9557DC1838}"/>
              </a:ext>
            </a:extLst>
          </p:cNvPr>
          <p:cNvSpPr>
            <a:spLocks noGrp="1"/>
          </p:cNvSpPr>
          <p:nvPr/>
        </p:nvSpPr>
        <p:spPr>
          <a:xfrm>
            <a:off x="731520" y="2567940"/>
            <a:ext cx="7543800" cy="243840"/>
          </a:xfrm>
          <a:prstGeom prst="rect">
            <a:avLst/>
          </a:prstGeom>
          <a:noFill/>
          <a:ln w="0">
            <a:noFill/>
          </a:ln>
        </p:spPr>
        <p:txBody>
          <a:bodyPr wrap="none" lIns="0" tIns="0" rIns="0" bIns="0" anchor="t">
            <a:noAutofit/>
          </a:bodyPr>
          <a:lstStyle/>
          <a:p>
            <a:pPr algn="l">
              <a:lnSpc>
                <a:spcPct val="117000"/>
              </a:lnSpc>
              <a:buNone/>
              <a:defRPr sz="1875" b="1">
                <a:solidFill>
                  <a:srgbClr val="222761"/>
                </a:solidFill>
                <a:latin typeface="Pretendard"/>
                <a:ea typeface="Pretendard"/>
                <a:cs typeface="Pretendard"/>
              </a:defRPr>
            </a:pPr>
            <a:r>
              <a:rPr sz="1500" b="1">
                <a:solidFill>
                  <a:srgbClr val="222761"/>
                </a:solidFill>
                <a:latin typeface="Pretendard"/>
                <a:ea typeface="Pretendard"/>
                <a:cs typeface="Pretendard"/>
              </a:rPr>
              <a:t>연도별 치료보호 인원</a:t>
            </a:r>
          </a:p>
        </p:txBody>
      </p:sp>
      <p:graphicFrame>
        <p:nvGraphicFramePr>
          <p:cNvPr id="26" name="Chart"/>
          <p:cNvGraphicFramePr/>
          <p:nvPr/>
        </p:nvGraphicFramePr>
        <p:xfrm>
          <a:off x="716280" y="2887980"/>
          <a:ext cx="7505700" cy="2316480"/>
        </p:xfrm>
        <a:graphic>
          <a:graphicData uri="http://schemas.openxmlformats.org/drawingml/2006/chart">
            <c:chart xmlns:c="http://schemas.openxmlformats.org/drawingml/2006/chart" xmlns:r="http://schemas.openxmlformats.org/officeDocument/2006/relationships" r:id="rId3"/>
          </a:graphicData>
        </a:graphic>
      </p:graphicFrame>
      <p:sp>
        <p:nvSpPr>
          <p:cNvPr id="9" name="column-rule">
            <a:extLst>
              <a:ext uri="{FF2B5EF4-FFF2-40B4-BE49-F238E27FC236}">
                <a16:creationId xmlns:a16="http://schemas.microsoft.com/office/drawing/2014/main" id="{0EB2845E-C943-465A-9D8C-1EEE16A39E3B}"/>
              </a:ext>
            </a:extLst>
          </p:cNvPr>
          <p:cNvSpPr>
            <a:spLocks noGrp="1"/>
          </p:cNvSpPr>
          <p:nvPr/>
        </p:nvSpPr>
        <p:spPr>
          <a:xfrm>
            <a:off x="8458200" y="2567940"/>
            <a:ext cx="0" cy="2506980"/>
          </a:xfrm>
          <a:prstGeom prst="line">
            <a:avLst/>
          </a:prstGeom>
          <a:noFill/>
          <a:ln w="9525">
            <a:solidFill>
              <a:srgbClr val="D6DDE9"/>
            </a:solidFill>
          </a:ln>
        </p:spPr>
        <p:txBody>
          <a:bodyPr/>
          <a:lstStyle/>
          <a:p>
            <a:endParaRPr lang="ko-KR" altLang="en-US" sz="1440"/>
          </a:p>
        </p:txBody>
      </p:sp>
      <p:sp>
        <p:nvSpPr>
          <p:cNvPr id="10" name="share-heading">
            <a:extLst>
              <a:ext uri="{FF2B5EF4-FFF2-40B4-BE49-F238E27FC236}">
                <a16:creationId xmlns:a16="http://schemas.microsoft.com/office/drawing/2014/main" id="{512E0679-FE2B-4D48-9071-A67B41B4CC75}"/>
              </a:ext>
            </a:extLst>
          </p:cNvPr>
          <p:cNvSpPr>
            <a:spLocks noGrp="1"/>
          </p:cNvSpPr>
          <p:nvPr/>
        </p:nvSpPr>
        <p:spPr>
          <a:xfrm>
            <a:off x="8839200" y="2674620"/>
            <a:ext cx="2621280" cy="548640"/>
          </a:xfrm>
          <a:prstGeom prst="rect">
            <a:avLst/>
          </a:prstGeom>
          <a:noFill/>
          <a:ln w="0">
            <a:noFill/>
          </a:ln>
        </p:spPr>
        <p:txBody>
          <a:bodyPr wrap="none" lIns="0" tIns="0" rIns="0" bIns="0" anchor="t">
            <a:noAutofit/>
          </a:bodyPr>
          <a:lstStyle/>
          <a:p>
            <a:pPr algn="l">
              <a:lnSpc>
                <a:spcPct val="117000"/>
              </a:lnSpc>
              <a:buNone/>
              <a:defRPr sz="1800" b="1">
                <a:solidFill>
                  <a:srgbClr val="303747"/>
                </a:solidFill>
                <a:latin typeface="Pretendard"/>
                <a:ea typeface="Pretendard"/>
                <a:cs typeface="Pretendard"/>
              </a:defRPr>
            </a:pPr>
            <a:r>
              <a:rPr sz="1440" b="1">
                <a:solidFill>
                  <a:srgbClr val="303747"/>
                </a:solidFill>
                <a:latin typeface="Pretendard"/>
                <a:ea typeface="Pretendard"/>
                <a:cs typeface="Pretendard"/>
              </a:rPr>
              <a:t>2023년 전체 치료보호 인원 중</a:t>
            </a:r>
          </a:p>
          <a:p>
            <a:pPr algn="l">
              <a:lnSpc>
                <a:spcPct val="117000"/>
              </a:lnSpc>
              <a:buNone/>
              <a:defRPr sz="1800" b="1">
                <a:solidFill>
                  <a:srgbClr val="303747"/>
                </a:solidFill>
                <a:latin typeface="Pretendard"/>
                <a:ea typeface="Pretendard"/>
                <a:cs typeface="Pretendard"/>
              </a:defRPr>
            </a:pPr>
            <a:r>
              <a:rPr sz="1440" b="1">
                <a:solidFill>
                  <a:srgbClr val="303747"/>
                </a:solidFill>
                <a:latin typeface="Pretendard"/>
                <a:ea typeface="Pretendard"/>
                <a:cs typeface="Pretendard"/>
              </a:rPr>
              <a:t>10대가 차지하는 비중</a:t>
            </a:r>
          </a:p>
        </p:txBody>
      </p:sp>
      <p:sp>
        <p:nvSpPr>
          <p:cNvPr id="11" name="share">
            <a:extLst>
              <a:ext uri="{FF2B5EF4-FFF2-40B4-BE49-F238E27FC236}">
                <a16:creationId xmlns:a16="http://schemas.microsoft.com/office/drawing/2014/main" id="{6C94847D-CAD9-4578-9432-0EF1535C7283}"/>
              </a:ext>
            </a:extLst>
          </p:cNvPr>
          <p:cNvSpPr>
            <a:spLocks noGrp="1"/>
          </p:cNvSpPr>
          <p:nvPr/>
        </p:nvSpPr>
        <p:spPr>
          <a:xfrm>
            <a:off x="8816340" y="3398520"/>
            <a:ext cx="2644140" cy="754380"/>
          </a:xfrm>
          <a:prstGeom prst="rect">
            <a:avLst/>
          </a:prstGeom>
          <a:noFill/>
          <a:ln w="0">
            <a:noFill/>
          </a:ln>
        </p:spPr>
        <p:txBody>
          <a:bodyPr wrap="none" lIns="0" tIns="0" rIns="0" bIns="0" anchor="t">
            <a:noAutofit/>
          </a:bodyPr>
          <a:lstStyle/>
          <a:p>
            <a:pPr algn="l">
              <a:lnSpc>
                <a:spcPct val="117000"/>
              </a:lnSpc>
              <a:buNone/>
              <a:defRPr sz="6450" b="1">
                <a:solidFill>
                  <a:srgbClr val="222761"/>
                </a:solidFill>
                <a:latin typeface="Pretendard"/>
                <a:ea typeface="Pretendard"/>
                <a:cs typeface="Pretendard"/>
              </a:defRPr>
            </a:pPr>
            <a:r>
              <a:rPr sz="5160" b="1">
                <a:solidFill>
                  <a:srgbClr val="222761"/>
                </a:solidFill>
                <a:latin typeface="Pretendard"/>
                <a:ea typeface="Pretendard"/>
                <a:cs typeface="Pretendard"/>
              </a:rPr>
              <a:t>3.1%</a:t>
            </a:r>
          </a:p>
        </p:txBody>
      </p:sp>
      <p:sp>
        <p:nvSpPr>
          <p:cNvPr id="12" name="numerator-denominator">
            <a:extLst>
              <a:ext uri="{FF2B5EF4-FFF2-40B4-BE49-F238E27FC236}">
                <a16:creationId xmlns:a16="http://schemas.microsoft.com/office/drawing/2014/main" id="{EBD7C0D7-E5A2-4F52-9A97-FB208783984D}"/>
              </a:ext>
            </a:extLst>
          </p:cNvPr>
          <p:cNvSpPr>
            <a:spLocks noGrp="1"/>
          </p:cNvSpPr>
          <p:nvPr/>
        </p:nvSpPr>
        <p:spPr>
          <a:xfrm>
            <a:off x="8839200" y="4221480"/>
            <a:ext cx="2621280" cy="274320"/>
          </a:xfrm>
          <a:prstGeom prst="rect">
            <a:avLst/>
          </a:prstGeom>
          <a:noFill/>
          <a:ln w="0">
            <a:noFill/>
          </a:ln>
        </p:spPr>
        <p:txBody>
          <a:bodyPr wrap="none" lIns="0" tIns="0" rIns="0" bIns="0" anchor="t">
            <a:noAutofit/>
          </a:bodyPr>
          <a:lstStyle/>
          <a:p>
            <a:pPr algn="l">
              <a:lnSpc>
                <a:spcPct val="117000"/>
              </a:lnSpc>
              <a:buNone/>
              <a:defRPr sz="2025" b="1">
                <a:solidFill>
                  <a:srgbClr val="303747"/>
                </a:solidFill>
                <a:latin typeface="Pretendard"/>
                <a:ea typeface="Pretendard"/>
                <a:cs typeface="Pretendard"/>
              </a:defRPr>
            </a:pPr>
            <a:r>
              <a:rPr sz="1620" b="1">
                <a:solidFill>
                  <a:srgbClr val="303747"/>
                </a:solidFill>
                <a:latin typeface="Pretendard"/>
                <a:ea typeface="Pretendard"/>
                <a:cs typeface="Pretendard"/>
              </a:rPr>
              <a:t>10대 20명 / 전체 641명</a:t>
            </a:r>
          </a:p>
        </p:txBody>
      </p:sp>
      <p:sp>
        <p:nvSpPr>
          <p:cNvPr id="13" name="share-context">
            <a:extLst>
              <a:ext uri="{FF2B5EF4-FFF2-40B4-BE49-F238E27FC236}">
                <a16:creationId xmlns:a16="http://schemas.microsoft.com/office/drawing/2014/main" id="{1A90D9B4-20FC-41B5-B211-74897EF464CC}"/>
              </a:ext>
            </a:extLst>
          </p:cNvPr>
          <p:cNvSpPr>
            <a:spLocks noGrp="1"/>
          </p:cNvSpPr>
          <p:nvPr/>
        </p:nvSpPr>
        <p:spPr>
          <a:xfrm>
            <a:off x="8839200" y="4617720"/>
            <a:ext cx="2621280" cy="228600"/>
          </a:xfrm>
          <a:prstGeom prst="rect">
            <a:avLst/>
          </a:prstGeom>
          <a:noFill/>
          <a:ln w="0">
            <a:noFill/>
          </a:ln>
        </p:spPr>
        <p:txBody>
          <a:bodyPr wrap="none" lIns="0" tIns="0" rIns="0" bIns="0" anchor="t">
            <a:noAutofit/>
          </a:bodyPr>
          <a:lstStyle/>
          <a:p>
            <a:pPr algn="l">
              <a:lnSpc>
                <a:spcPct val="117000"/>
              </a:lnSpc>
              <a:buNone/>
              <a:defRPr sz="1575" b="0">
                <a:solidFill>
                  <a:srgbClr val="748095"/>
                </a:solidFill>
                <a:latin typeface="Pretendard"/>
                <a:ea typeface="Pretendard"/>
                <a:cs typeface="Pretendard"/>
              </a:defRPr>
            </a:pPr>
            <a:r>
              <a:rPr sz="1260">
                <a:solidFill>
                  <a:srgbClr val="748095"/>
                </a:solidFill>
                <a:latin typeface="Pretendard"/>
                <a:ea typeface="Pretendard"/>
                <a:cs typeface="Pretendard"/>
              </a:rPr>
              <a:t>치료보호 제도 이용자 기준</a:t>
            </a:r>
          </a:p>
        </p:txBody>
      </p:sp>
      <p:sp>
        <p:nvSpPr>
          <p:cNvPr id="15" name="age-note">
            <a:extLst>
              <a:ext uri="{FF2B5EF4-FFF2-40B4-BE49-F238E27FC236}">
                <a16:creationId xmlns:a16="http://schemas.microsoft.com/office/drawing/2014/main" id="{EDC11F63-9F52-45D1-8050-A7ADB070B328}"/>
              </a:ext>
            </a:extLst>
          </p:cNvPr>
          <p:cNvSpPr>
            <a:spLocks noGrp="1"/>
          </p:cNvSpPr>
          <p:nvPr/>
        </p:nvSpPr>
        <p:spPr>
          <a:xfrm>
            <a:off x="791678" y="5280660"/>
            <a:ext cx="10728960" cy="213360"/>
          </a:xfrm>
          <a:prstGeom prst="rect">
            <a:avLst/>
          </a:prstGeom>
          <a:noFill/>
          <a:ln w="0">
            <a:noFill/>
          </a:ln>
        </p:spPr>
        <p:txBody>
          <a:bodyPr wrap="none" lIns="0" tIns="0" rIns="0" bIns="0" anchor="t">
            <a:noAutofit/>
          </a:bodyPr>
          <a:lstStyle/>
          <a:p>
            <a:pPr algn="l">
              <a:lnSpc>
                <a:spcPct val="117000"/>
              </a:lnSpc>
              <a:buNone/>
              <a:defRPr sz="1500" b="0">
                <a:solidFill>
                  <a:srgbClr val="748095"/>
                </a:solidFill>
                <a:latin typeface="Pretendard"/>
                <a:ea typeface="Pretendard"/>
                <a:cs typeface="Pretendard"/>
              </a:defRPr>
            </a:pPr>
            <a:r>
              <a:rPr sz="1200" dirty="0" err="1">
                <a:solidFill>
                  <a:srgbClr val="748095"/>
                </a:solidFill>
                <a:latin typeface="Pretendard"/>
                <a:ea typeface="Pretendard"/>
                <a:cs typeface="Pretendard"/>
              </a:rPr>
              <a:t>연령은</a:t>
            </a:r>
            <a:r>
              <a:rPr sz="1200" dirty="0">
                <a:solidFill>
                  <a:srgbClr val="748095"/>
                </a:solidFill>
                <a:latin typeface="Pretendard"/>
                <a:ea typeface="Pretendard"/>
                <a:cs typeface="Pretendard"/>
              </a:rPr>
              <a:t> </a:t>
            </a:r>
            <a:r>
              <a:rPr sz="1200" dirty="0" err="1">
                <a:solidFill>
                  <a:srgbClr val="748095"/>
                </a:solidFill>
                <a:latin typeface="Pretendard"/>
                <a:ea typeface="Pretendard"/>
                <a:cs typeface="Pretendard"/>
              </a:rPr>
              <a:t>원자료의</a:t>
            </a:r>
            <a:r>
              <a:rPr sz="1200" dirty="0">
                <a:solidFill>
                  <a:srgbClr val="748095"/>
                </a:solidFill>
                <a:latin typeface="Pretendard"/>
                <a:ea typeface="Pretendard"/>
                <a:cs typeface="Pretendard"/>
              </a:rPr>
              <a:t> ‘10대’ </a:t>
            </a:r>
            <a:r>
              <a:rPr sz="1200" dirty="0" err="1">
                <a:solidFill>
                  <a:srgbClr val="748095"/>
                </a:solidFill>
                <a:latin typeface="Pretendard"/>
                <a:ea typeface="Pretendard"/>
                <a:cs typeface="Pretendard"/>
              </a:rPr>
              <a:t>분류로</a:t>
            </a:r>
            <a:r>
              <a:rPr sz="1200" dirty="0">
                <a:solidFill>
                  <a:srgbClr val="748095"/>
                </a:solidFill>
                <a:latin typeface="Pretendard"/>
                <a:ea typeface="Pretendard"/>
                <a:cs typeface="Pretendard"/>
              </a:rPr>
              <a:t>, 만 14~18세 </a:t>
            </a:r>
            <a:r>
              <a:rPr sz="1200" dirty="0" err="1">
                <a:solidFill>
                  <a:srgbClr val="748095"/>
                </a:solidFill>
                <a:latin typeface="Pretendard"/>
                <a:ea typeface="Pretendard"/>
                <a:cs typeface="Pretendard"/>
              </a:rPr>
              <a:t>검거</a:t>
            </a:r>
            <a:r>
              <a:rPr sz="1200" dirty="0">
                <a:solidFill>
                  <a:srgbClr val="748095"/>
                </a:solidFill>
                <a:latin typeface="Pretendard"/>
                <a:ea typeface="Pretendard"/>
                <a:cs typeface="Pretendard"/>
              </a:rPr>
              <a:t> </a:t>
            </a:r>
            <a:r>
              <a:rPr sz="1200" dirty="0" err="1">
                <a:solidFill>
                  <a:srgbClr val="748095"/>
                </a:solidFill>
                <a:latin typeface="Pretendard"/>
                <a:ea typeface="Pretendard"/>
                <a:cs typeface="Pretendard"/>
              </a:rPr>
              <a:t>통계와</a:t>
            </a:r>
            <a:r>
              <a:rPr sz="1200" dirty="0">
                <a:solidFill>
                  <a:srgbClr val="748095"/>
                </a:solidFill>
                <a:latin typeface="Pretendard"/>
                <a:ea typeface="Pretendard"/>
                <a:cs typeface="Pretendard"/>
              </a:rPr>
              <a:t> </a:t>
            </a:r>
            <a:r>
              <a:rPr sz="1200" dirty="0" err="1">
                <a:solidFill>
                  <a:srgbClr val="748095"/>
                </a:solidFill>
                <a:latin typeface="Pretendard"/>
                <a:ea typeface="Pretendard"/>
                <a:cs typeface="Pretendard"/>
              </a:rPr>
              <a:t>집계</a:t>
            </a:r>
            <a:r>
              <a:rPr sz="1200" dirty="0">
                <a:solidFill>
                  <a:srgbClr val="748095"/>
                </a:solidFill>
                <a:latin typeface="Pretendard"/>
                <a:ea typeface="Pretendard"/>
                <a:cs typeface="Pretendard"/>
              </a:rPr>
              <a:t> </a:t>
            </a:r>
            <a:r>
              <a:rPr sz="1200" dirty="0" err="1">
                <a:solidFill>
                  <a:srgbClr val="748095"/>
                </a:solidFill>
                <a:latin typeface="Pretendard"/>
                <a:ea typeface="Pretendard"/>
                <a:cs typeface="Pretendard"/>
              </a:rPr>
              <a:t>범위가</a:t>
            </a:r>
            <a:r>
              <a:rPr sz="1200" dirty="0">
                <a:solidFill>
                  <a:srgbClr val="748095"/>
                </a:solidFill>
                <a:latin typeface="Pretendard"/>
                <a:ea typeface="Pretendard"/>
                <a:cs typeface="Pretendard"/>
              </a:rPr>
              <a:t> </a:t>
            </a:r>
            <a:r>
              <a:rPr sz="1200" dirty="0" err="1">
                <a:solidFill>
                  <a:srgbClr val="748095"/>
                </a:solidFill>
                <a:latin typeface="Pretendard"/>
                <a:ea typeface="Pretendard"/>
                <a:cs typeface="Pretendard"/>
              </a:rPr>
              <a:t>다르다</a:t>
            </a:r>
            <a:r>
              <a:rPr sz="1200" dirty="0">
                <a:solidFill>
                  <a:srgbClr val="748095"/>
                </a:solidFill>
                <a:latin typeface="Pretendard"/>
                <a:ea typeface="Pretendard"/>
                <a:cs typeface="Pretendard"/>
              </a:rPr>
              <a:t>.</a:t>
            </a:r>
          </a:p>
        </p:txBody>
      </p:sp>
      <p:sp>
        <p:nvSpPr>
          <p:cNvPr id="16" name="takeaway-band">
            <a:extLst>
              <a:ext uri="{FF2B5EF4-FFF2-40B4-BE49-F238E27FC236}">
                <a16:creationId xmlns:a16="http://schemas.microsoft.com/office/drawing/2014/main" id="{269C517D-34A8-4753-864F-8875790CA9F5}"/>
              </a:ext>
            </a:extLst>
          </p:cNvPr>
          <p:cNvSpPr>
            <a:spLocks noGrp="1"/>
          </p:cNvSpPr>
          <p:nvPr/>
        </p:nvSpPr>
        <p:spPr>
          <a:xfrm>
            <a:off x="731520" y="6012180"/>
            <a:ext cx="10728960" cy="411480"/>
          </a:xfrm>
          <a:prstGeom prst="rect">
            <a:avLst/>
          </a:prstGeom>
          <a:solidFill>
            <a:srgbClr val="E0E7F4"/>
          </a:solidFill>
          <a:ln w="0">
            <a:noFill/>
          </a:ln>
        </p:spPr>
        <p:txBody>
          <a:bodyPr/>
          <a:lstStyle/>
          <a:p>
            <a:endParaRPr lang="ko-KR" altLang="en-US" sz="1440"/>
          </a:p>
        </p:txBody>
      </p:sp>
      <p:sp>
        <p:nvSpPr>
          <p:cNvPr id="17" name="takeaway">
            <a:extLst>
              <a:ext uri="{FF2B5EF4-FFF2-40B4-BE49-F238E27FC236}">
                <a16:creationId xmlns:a16="http://schemas.microsoft.com/office/drawing/2014/main" id="{EA973721-A5B7-4E49-B0BE-36A93EF4CE71}"/>
              </a:ext>
            </a:extLst>
          </p:cNvPr>
          <p:cNvSpPr>
            <a:spLocks noGrp="1"/>
          </p:cNvSpPr>
          <p:nvPr/>
        </p:nvSpPr>
        <p:spPr>
          <a:xfrm>
            <a:off x="899160" y="6126480"/>
            <a:ext cx="10393680" cy="243840"/>
          </a:xfrm>
          <a:prstGeom prst="rect">
            <a:avLst/>
          </a:prstGeom>
          <a:noFill/>
          <a:ln w="0">
            <a:noFill/>
          </a:ln>
        </p:spPr>
        <p:txBody>
          <a:bodyPr wrap="none" lIns="0" tIns="0" rIns="0" bIns="0" anchor="t">
            <a:noAutofit/>
          </a:bodyPr>
          <a:lstStyle/>
          <a:p>
            <a:pPr algn="ctr">
              <a:lnSpc>
                <a:spcPct val="117000"/>
              </a:lnSpc>
              <a:buNone/>
              <a:defRPr sz="1725" b="1">
                <a:solidFill>
                  <a:srgbClr val="222761"/>
                </a:solidFill>
                <a:latin typeface="Pretendard"/>
                <a:ea typeface="Pretendard"/>
                <a:cs typeface="Pretendard"/>
              </a:defRPr>
            </a:pPr>
            <a:r>
              <a:rPr sz="1380" b="1">
                <a:solidFill>
                  <a:srgbClr val="222761"/>
                </a:solidFill>
                <a:latin typeface="Pretendard"/>
                <a:ea typeface="Pretendard"/>
                <a:cs typeface="Pretendard"/>
              </a:rPr>
              <a:t>치료·재활 우선의 실행 과제는 치료가 필요한 청소년을 실제 치료로 연결하고, 치료를 지속하도록 돕는 데 있다.</a:t>
            </a:r>
          </a:p>
        </p:txBody>
      </p:sp>
    </p:spTree>
    <p:extLst>
      <p:ext uri="{BB962C8B-B14F-4D97-AF65-F5344CB8AC3E}">
        <p14:creationId xmlns:p14="http://schemas.microsoft.com/office/powerpoint/2010/main" val="4727571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521208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5. 치료·재활의 실행 조건</a:t>
            </a:r>
            <a:endParaRPr lang="en-US" sz="1250" dirty="0"/>
          </a:p>
        </p:txBody>
      </p:sp>
      <p:sp>
        <p:nvSpPr>
          <p:cNvPr id="3" name="Text 1"/>
          <p:cNvSpPr/>
          <p:nvPr/>
        </p:nvSpPr>
        <p:spPr>
          <a:xfrm>
            <a:off x="6035040" y="384048"/>
            <a:ext cx="5422392" cy="256032"/>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치료 의뢰 이후의 확인 책임</a:t>
            </a:r>
            <a:endParaRPr lang="en-US" sz="1050" dirty="0"/>
          </a:p>
        </p:txBody>
      </p:sp>
      <p:sp>
        <p:nvSpPr>
          <p:cNvPr id="4" name="Text 2"/>
          <p:cNvSpPr/>
          <p:nvPr/>
        </p:nvSpPr>
        <p:spPr>
          <a:xfrm>
            <a:off x="731520" y="640080"/>
            <a:ext cx="10725912" cy="640080"/>
          </a:xfrm>
          <a:prstGeom prst="rect">
            <a:avLst/>
          </a:prstGeom>
          <a:noFill/>
          <a:ln/>
        </p:spPr>
        <p:txBody>
          <a:bodyPr wrap="square" lIns="0" tIns="0" rIns="0" bIns="0" rtlCol="0" anchor="ctr"/>
          <a:lstStyle/>
          <a:p>
            <a:pPr marL="0" indent="0">
              <a:buNone/>
            </a:pPr>
            <a:r>
              <a:rPr lang="en-US" sz="2750" b="1" dirty="0">
                <a:solidFill>
                  <a:srgbClr val="1E2761"/>
                </a:solidFill>
                <a:latin typeface="Pretendard" pitchFamily="34" charset="0"/>
                <a:ea typeface="Pretendard" pitchFamily="34" charset="-122"/>
                <a:cs typeface="Pretendard" pitchFamily="34" charset="-120"/>
              </a:rPr>
              <a:t>청소년 치료·재활 종료 후 상담과 사례관리</a:t>
            </a:r>
            <a:endParaRPr lang="en-US" sz="2750" dirty="0"/>
          </a:p>
        </p:txBody>
      </p:sp>
      <p:sp>
        <p:nvSpPr>
          <p:cNvPr id="5" name="Shape 3"/>
          <p:cNvSpPr/>
          <p:nvPr/>
        </p:nvSpPr>
        <p:spPr>
          <a:xfrm>
            <a:off x="731520" y="1316736"/>
            <a:ext cx="10725912"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417320"/>
            <a:ext cx="10725912" cy="548640"/>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1005840" y="1417320"/>
            <a:ext cx="10149840" cy="548640"/>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2025년 정부 계획은 치료 · 재활을 마친 청소년에게 지역사회 상담을 이어 제공하고, 위험이 커지면 전문기관으로 다시 연결하도록 제시했다</a:t>
            </a:r>
            <a:endParaRPr lang="en-US" sz="1300" dirty="0"/>
          </a:p>
        </p:txBody>
      </p:sp>
      <p:sp>
        <p:nvSpPr>
          <p:cNvPr id="8" name="Text 6"/>
          <p:cNvSpPr/>
          <p:nvPr/>
        </p:nvSpPr>
        <p:spPr>
          <a:xfrm>
            <a:off x="731520" y="2103120"/>
            <a:ext cx="10725912" cy="237744"/>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국내 정책 설계   </a:t>
            </a:r>
            <a:r>
              <a:rPr lang="en-US" sz="1150" dirty="0">
                <a:solidFill>
                  <a:srgbClr val="222633"/>
                </a:solidFill>
                <a:latin typeface="Pretendard" pitchFamily="34" charset="0"/>
                <a:ea typeface="Pretendard" pitchFamily="34" charset="-122"/>
                <a:cs typeface="Pretendard" pitchFamily="34" charset="-120"/>
              </a:rPr>
              <a:t>2025년 마약류 관리 세부 시행계획  │  대전 시범사업 및 확대 검토</a:t>
            </a:r>
            <a:endParaRPr lang="en-US" sz="1150" dirty="0"/>
          </a:p>
        </p:txBody>
      </p:sp>
      <p:sp>
        <p:nvSpPr>
          <p:cNvPr id="9" name="Shape 7"/>
          <p:cNvSpPr/>
          <p:nvPr/>
        </p:nvSpPr>
        <p:spPr>
          <a:xfrm>
            <a:off x="731520" y="2395728"/>
            <a:ext cx="2240280" cy="731520"/>
          </a:xfrm>
          <a:prstGeom prst="rect">
            <a:avLst/>
          </a:prstGeom>
          <a:solidFill>
            <a:srgbClr val="F2F4F8"/>
          </a:solidFill>
          <a:ln w="12700">
            <a:solidFill>
              <a:srgbClr val="F2F4F8"/>
            </a:solidFill>
            <a:prstDash val="solid"/>
          </a:ln>
        </p:spPr>
        <p:txBody>
          <a:bodyPr/>
          <a:lstStyle/>
          <a:p>
            <a:endParaRPr lang="ko-KR" altLang="en-US"/>
          </a:p>
        </p:txBody>
      </p:sp>
      <p:sp>
        <p:nvSpPr>
          <p:cNvPr id="10" name="Text 8"/>
          <p:cNvSpPr/>
          <p:nvPr/>
        </p:nvSpPr>
        <p:spPr>
          <a:xfrm>
            <a:off x="859536" y="2395728"/>
            <a:ext cx="1984248" cy="731520"/>
          </a:xfrm>
          <a:prstGeom prst="rect">
            <a:avLst/>
          </a:prstGeom>
          <a:noFill/>
          <a:ln/>
        </p:spPr>
        <p:txBody>
          <a:bodyPr wrap="square" lIns="0" tIns="0" rIns="0" bIns="0" rtlCol="0" anchor="ctr"/>
          <a:lstStyle/>
          <a:p>
            <a:pPr marL="0" indent="0" algn="ctr">
              <a:lnSpc>
                <a:spcPts val="1900"/>
              </a:lnSpc>
              <a:buNone/>
            </a:pPr>
            <a:r>
              <a:rPr lang="en-US" sz="1300" b="1" dirty="0">
                <a:solidFill>
                  <a:srgbClr val="1E2761"/>
                </a:solidFill>
                <a:latin typeface="Pretendard" pitchFamily="34" charset="0"/>
                <a:ea typeface="Pretendard" pitchFamily="34" charset="-122"/>
                <a:cs typeface="Pretendard" pitchFamily="34" charset="-120"/>
              </a:rPr>
              <a:t>종료 후 상담</a:t>
            </a:r>
            <a:endParaRPr lang="en-US" sz="1300" dirty="0"/>
          </a:p>
        </p:txBody>
      </p:sp>
      <p:sp>
        <p:nvSpPr>
          <p:cNvPr id="11" name="Shape 9"/>
          <p:cNvSpPr/>
          <p:nvPr/>
        </p:nvSpPr>
        <p:spPr>
          <a:xfrm>
            <a:off x="3227832" y="2395728"/>
            <a:ext cx="8229600" cy="731520"/>
          </a:xfrm>
          <a:prstGeom prst="rect">
            <a:avLst/>
          </a:prstGeom>
          <a:solidFill>
            <a:srgbClr val="FFFFFF"/>
          </a:solidFill>
          <a:ln w="12700">
            <a:solidFill>
              <a:srgbClr val="DCE0E8"/>
            </a:solidFill>
            <a:prstDash val="solid"/>
          </a:ln>
        </p:spPr>
        <p:txBody>
          <a:bodyPr/>
          <a:lstStyle/>
          <a:p>
            <a:endParaRPr lang="ko-KR" altLang="en-US"/>
          </a:p>
        </p:txBody>
      </p:sp>
      <p:sp>
        <p:nvSpPr>
          <p:cNvPr id="12" name="Text 10"/>
          <p:cNvSpPr/>
          <p:nvPr/>
        </p:nvSpPr>
        <p:spPr>
          <a:xfrm>
            <a:off x="3465576" y="2529040"/>
            <a:ext cx="7754112" cy="274320"/>
          </a:xfrm>
          <a:prstGeom prst="rect">
            <a:avLst/>
          </a:prstGeom>
          <a:noFill/>
          <a:ln/>
        </p:spPr>
        <p:txBody>
          <a:bodyPr wrap="square" lIns="0" tIns="0" rIns="0" bIns="0" rtlCol="0" anchor="ctr"/>
          <a:lstStyle/>
          <a:p>
            <a:pPr marL="0" indent="0">
              <a:buNone/>
            </a:pPr>
            <a:r>
              <a:rPr lang="en-US" sz="1250" b="1" dirty="0">
                <a:solidFill>
                  <a:srgbClr val="222633"/>
                </a:solidFill>
                <a:latin typeface="Pretendard" pitchFamily="34" charset="0"/>
                <a:ea typeface="Pretendard" pitchFamily="34" charset="-122"/>
                <a:cs typeface="Pretendard" pitchFamily="34" charset="-120"/>
              </a:rPr>
              <a:t>청소년상담복지센터가 상담 · 심리 지원을 이어간다</a:t>
            </a:r>
            <a:endParaRPr lang="en-US" sz="1250" dirty="0"/>
          </a:p>
        </p:txBody>
      </p:sp>
      <p:sp>
        <p:nvSpPr>
          <p:cNvPr id="13" name="Text 11"/>
          <p:cNvSpPr/>
          <p:nvPr/>
        </p:nvSpPr>
        <p:spPr>
          <a:xfrm>
            <a:off x="3465576" y="2803360"/>
            <a:ext cx="7754112" cy="310896"/>
          </a:xfrm>
          <a:prstGeom prst="rect">
            <a:avLst/>
          </a:prstGeom>
          <a:noFill/>
          <a:ln/>
        </p:spPr>
        <p:txBody>
          <a:bodyPr wrap="square" lIns="0" tIns="0" rIns="0" bIns="0" rtlCol="0" anchor="t"/>
          <a:lstStyle/>
          <a:p>
            <a:pPr marL="0" indent="0">
              <a:lnSpc>
                <a:spcPts val="1700"/>
              </a:lnSpc>
              <a:buNone/>
            </a:pPr>
            <a:r>
              <a:rPr lang="en-US" sz="1150" dirty="0">
                <a:solidFill>
                  <a:srgbClr val="464D5C"/>
                </a:solidFill>
                <a:latin typeface="Pretendard" pitchFamily="34" charset="0"/>
                <a:ea typeface="Pretendard" pitchFamily="34" charset="-122"/>
                <a:cs typeface="Pretendard" pitchFamily="34" charset="-120"/>
              </a:rPr>
              <a:t>치료 · 재활을 마친 청소년을 연결해 우울 · 불안 등의 어려움을 다룬다</a:t>
            </a:r>
            <a:endParaRPr lang="en-US" sz="1150" dirty="0"/>
          </a:p>
        </p:txBody>
      </p:sp>
      <p:sp>
        <p:nvSpPr>
          <p:cNvPr id="14" name="Shape 12"/>
          <p:cNvSpPr/>
          <p:nvPr/>
        </p:nvSpPr>
        <p:spPr>
          <a:xfrm>
            <a:off x="731520" y="3182112"/>
            <a:ext cx="2240280" cy="731520"/>
          </a:xfrm>
          <a:prstGeom prst="rect">
            <a:avLst/>
          </a:prstGeom>
          <a:solidFill>
            <a:srgbClr val="F2F4F8"/>
          </a:solidFill>
          <a:ln w="12700">
            <a:solidFill>
              <a:srgbClr val="F2F4F8"/>
            </a:solidFill>
            <a:prstDash val="solid"/>
          </a:ln>
        </p:spPr>
        <p:txBody>
          <a:bodyPr/>
          <a:lstStyle/>
          <a:p>
            <a:endParaRPr lang="ko-KR" altLang="en-US"/>
          </a:p>
        </p:txBody>
      </p:sp>
      <p:sp>
        <p:nvSpPr>
          <p:cNvPr id="15" name="Text 13"/>
          <p:cNvSpPr/>
          <p:nvPr/>
        </p:nvSpPr>
        <p:spPr>
          <a:xfrm>
            <a:off x="859536" y="3182112"/>
            <a:ext cx="1984248" cy="731520"/>
          </a:xfrm>
          <a:prstGeom prst="rect">
            <a:avLst/>
          </a:prstGeom>
          <a:noFill/>
          <a:ln/>
        </p:spPr>
        <p:txBody>
          <a:bodyPr wrap="square" lIns="0" tIns="0" rIns="0" bIns="0" rtlCol="0" anchor="ctr"/>
          <a:lstStyle/>
          <a:p>
            <a:pPr marL="0" indent="0" algn="ctr">
              <a:lnSpc>
                <a:spcPts val="1900"/>
              </a:lnSpc>
              <a:buNone/>
            </a:pPr>
            <a:r>
              <a:rPr lang="en-US" sz="1300" b="1" dirty="0">
                <a:solidFill>
                  <a:srgbClr val="1E2761"/>
                </a:solidFill>
                <a:latin typeface="Pretendard" pitchFamily="34" charset="0"/>
                <a:ea typeface="Pretendard" pitchFamily="34" charset="-122"/>
                <a:cs typeface="Pretendard" pitchFamily="34" charset="-120"/>
              </a:rPr>
              <a:t>위험 악화</a:t>
            </a:r>
            <a:endParaRPr lang="en-US" sz="1300" dirty="0"/>
          </a:p>
        </p:txBody>
      </p:sp>
      <p:sp>
        <p:nvSpPr>
          <p:cNvPr id="16" name="Shape 14"/>
          <p:cNvSpPr/>
          <p:nvPr/>
        </p:nvSpPr>
        <p:spPr>
          <a:xfrm>
            <a:off x="3227832" y="3182112"/>
            <a:ext cx="8229600" cy="731520"/>
          </a:xfrm>
          <a:prstGeom prst="rect">
            <a:avLst/>
          </a:prstGeom>
          <a:solidFill>
            <a:srgbClr val="FFFFFF"/>
          </a:solidFill>
          <a:ln w="12700">
            <a:solidFill>
              <a:srgbClr val="DCE0E8"/>
            </a:solidFill>
            <a:prstDash val="solid"/>
          </a:ln>
        </p:spPr>
        <p:txBody>
          <a:bodyPr/>
          <a:lstStyle/>
          <a:p>
            <a:endParaRPr lang="ko-KR" altLang="en-US"/>
          </a:p>
        </p:txBody>
      </p:sp>
      <p:sp>
        <p:nvSpPr>
          <p:cNvPr id="17" name="Text 15"/>
          <p:cNvSpPr/>
          <p:nvPr/>
        </p:nvSpPr>
        <p:spPr>
          <a:xfrm>
            <a:off x="3465576" y="3315424"/>
            <a:ext cx="7754112" cy="274320"/>
          </a:xfrm>
          <a:prstGeom prst="rect">
            <a:avLst/>
          </a:prstGeom>
          <a:noFill/>
          <a:ln/>
        </p:spPr>
        <p:txBody>
          <a:bodyPr wrap="square" lIns="0" tIns="0" rIns="0" bIns="0" rtlCol="0" anchor="ctr"/>
          <a:lstStyle/>
          <a:p>
            <a:pPr marL="0" indent="0">
              <a:buNone/>
            </a:pPr>
            <a:r>
              <a:rPr lang="en-US" sz="1250" b="1" dirty="0">
                <a:solidFill>
                  <a:srgbClr val="222633"/>
                </a:solidFill>
                <a:latin typeface="Pretendard" pitchFamily="34" charset="0"/>
                <a:ea typeface="Pretendard" pitchFamily="34" charset="-122"/>
                <a:cs typeface="Pretendard" pitchFamily="34" charset="-120"/>
              </a:rPr>
              <a:t>재발 위험이 커지면 전문 재활기관으로 다시 연결한다</a:t>
            </a:r>
            <a:endParaRPr lang="en-US" sz="1250" dirty="0"/>
          </a:p>
        </p:txBody>
      </p:sp>
      <p:sp>
        <p:nvSpPr>
          <p:cNvPr id="18" name="Text 16"/>
          <p:cNvSpPr/>
          <p:nvPr/>
        </p:nvSpPr>
        <p:spPr>
          <a:xfrm>
            <a:off x="3465576" y="3589744"/>
            <a:ext cx="7754112" cy="310896"/>
          </a:xfrm>
          <a:prstGeom prst="rect">
            <a:avLst/>
          </a:prstGeom>
          <a:noFill/>
          <a:ln/>
        </p:spPr>
        <p:txBody>
          <a:bodyPr wrap="square" lIns="0" tIns="0" rIns="0" bIns="0" rtlCol="0" anchor="t"/>
          <a:lstStyle/>
          <a:p>
            <a:pPr marL="0" indent="0">
              <a:lnSpc>
                <a:spcPts val="1700"/>
              </a:lnSpc>
              <a:buNone/>
            </a:pPr>
            <a:r>
              <a:rPr lang="en-US" sz="1150" dirty="0">
                <a:solidFill>
                  <a:srgbClr val="464D5C"/>
                </a:solidFill>
                <a:latin typeface="Pretendard" pitchFamily="34" charset="0"/>
                <a:ea typeface="Pretendard" pitchFamily="34" charset="-122"/>
                <a:cs typeface="Pretendard" pitchFamily="34" charset="-120"/>
              </a:rPr>
              <a:t>함께한걸음센터 등 관계기관으로 연계해 필요한 지원을 받도록 한다</a:t>
            </a:r>
            <a:endParaRPr lang="en-US" sz="1150" dirty="0"/>
          </a:p>
        </p:txBody>
      </p:sp>
      <p:sp>
        <p:nvSpPr>
          <p:cNvPr id="19" name="Shape 17"/>
          <p:cNvSpPr/>
          <p:nvPr/>
        </p:nvSpPr>
        <p:spPr>
          <a:xfrm>
            <a:off x="731520" y="3968496"/>
            <a:ext cx="2240280" cy="731520"/>
          </a:xfrm>
          <a:prstGeom prst="rect">
            <a:avLst/>
          </a:prstGeom>
          <a:solidFill>
            <a:srgbClr val="F2F4F8"/>
          </a:solidFill>
          <a:ln w="12700">
            <a:solidFill>
              <a:srgbClr val="F2F4F8"/>
            </a:solidFill>
            <a:prstDash val="solid"/>
          </a:ln>
        </p:spPr>
        <p:txBody>
          <a:bodyPr/>
          <a:lstStyle/>
          <a:p>
            <a:endParaRPr lang="ko-KR" altLang="en-US"/>
          </a:p>
        </p:txBody>
      </p:sp>
      <p:sp>
        <p:nvSpPr>
          <p:cNvPr id="20" name="Text 18"/>
          <p:cNvSpPr/>
          <p:nvPr/>
        </p:nvSpPr>
        <p:spPr>
          <a:xfrm>
            <a:off x="859536" y="3968496"/>
            <a:ext cx="1984248" cy="731520"/>
          </a:xfrm>
          <a:prstGeom prst="rect">
            <a:avLst/>
          </a:prstGeom>
          <a:noFill/>
          <a:ln/>
        </p:spPr>
        <p:txBody>
          <a:bodyPr wrap="square" lIns="0" tIns="0" rIns="0" bIns="0" rtlCol="0" anchor="ctr"/>
          <a:lstStyle/>
          <a:p>
            <a:pPr marL="0" indent="0" algn="ctr">
              <a:lnSpc>
                <a:spcPts val="1900"/>
              </a:lnSpc>
              <a:buNone/>
            </a:pPr>
            <a:r>
              <a:rPr lang="en-US" sz="1300" b="1" dirty="0">
                <a:solidFill>
                  <a:srgbClr val="1E2761"/>
                </a:solidFill>
                <a:latin typeface="Pretendard" pitchFamily="34" charset="0"/>
                <a:ea typeface="Pretendard" pitchFamily="34" charset="-122"/>
                <a:cs typeface="Pretendard" pitchFamily="34" charset="-120"/>
              </a:rPr>
              <a:t>시범 운영</a:t>
            </a:r>
            <a:endParaRPr lang="en-US" sz="1300" dirty="0"/>
          </a:p>
        </p:txBody>
      </p:sp>
      <p:sp>
        <p:nvSpPr>
          <p:cNvPr id="21" name="Shape 19"/>
          <p:cNvSpPr/>
          <p:nvPr/>
        </p:nvSpPr>
        <p:spPr>
          <a:xfrm>
            <a:off x="3227832" y="3968496"/>
            <a:ext cx="8229600" cy="731520"/>
          </a:xfrm>
          <a:prstGeom prst="rect">
            <a:avLst/>
          </a:prstGeom>
          <a:solidFill>
            <a:srgbClr val="FFFFFF"/>
          </a:solidFill>
          <a:ln w="12700">
            <a:solidFill>
              <a:srgbClr val="DCE0E8"/>
            </a:solidFill>
            <a:prstDash val="solid"/>
          </a:ln>
        </p:spPr>
        <p:txBody>
          <a:bodyPr/>
          <a:lstStyle/>
          <a:p>
            <a:endParaRPr lang="ko-KR" altLang="en-US"/>
          </a:p>
        </p:txBody>
      </p:sp>
      <p:sp>
        <p:nvSpPr>
          <p:cNvPr id="22" name="Text 20"/>
          <p:cNvSpPr/>
          <p:nvPr/>
        </p:nvSpPr>
        <p:spPr>
          <a:xfrm>
            <a:off x="3465576" y="4101808"/>
            <a:ext cx="7754112" cy="274320"/>
          </a:xfrm>
          <a:prstGeom prst="rect">
            <a:avLst/>
          </a:prstGeom>
          <a:noFill/>
          <a:ln/>
        </p:spPr>
        <p:txBody>
          <a:bodyPr wrap="square" lIns="0" tIns="0" rIns="0" bIns="0" rtlCol="0" anchor="ctr"/>
          <a:lstStyle/>
          <a:p>
            <a:pPr marL="0" indent="0">
              <a:buNone/>
            </a:pPr>
            <a:r>
              <a:rPr lang="en-US" sz="1250" b="1" dirty="0">
                <a:solidFill>
                  <a:srgbClr val="222633"/>
                </a:solidFill>
                <a:latin typeface="Pretendard" pitchFamily="34" charset="0"/>
                <a:ea typeface="Pretendard" pitchFamily="34" charset="-122"/>
                <a:cs typeface="Pretendard" pitchFamily="34" charset="-120"/>
              </a:rPr>
              <a:t>대전에서 기관 간 연계와 사례관리를 시범 추진한다</a:t>
            </a:r>
            <a:endParaRPr lang="en-US" sz="1250" dirty="0"/>
          </a:p>
        </p:txBody>
      </p:sp>
      <p:sp>
        <p:nvSpPr>
          <p:cNvPr id="23" name="Text 21"/>
          <p:cNvSpPr/>
          <p:nvPr/>
        </p:nvSpPr>
        <p:spPr>
          <a:xfrm>
            <a:off x="3465576" y="4376128"/>
            <a:ext cx="7754112" cy="310896"/>
          </a:xfrm>
          <a:prstGeom prst="rect">
            <a:avLst/>
          </a:prstGeom>
          <a:noFill/>
          <a:ln/>
        </p:spPr>
        <p:txBody>
          <a:bodyPr wrap="square" lIns="0" tIns="0" rIns="0" bIns="0" rtlCol="0" anchor="t"/>
          <a:lstStyle/>
          <a:p>
            <a:pPr marL="0" indent="0">
              <a:lnSpc>
                <a:spcPts val="1700"/>
              </a:lnSpc>
              <a:buNone/>
            </a:pPr>
            <a:r>
              <a:rPr lang="en-US" sz="1150" dirty="0">
                <a:solidFill>
                  <a:srgbClr val="464D5C"/>
                </a:solidFill>
                <a:latin typeface="Pretendard" pitchFamily="34" charset="0"/>
                <a:ea typeface="Pretendard" pitchFamily="34" charset="-122"/>
                <a:cs typeface="Pretendard" pitchFamily="34" charset="-120"/>
              </a:rPr>
              <a:t>청소년상담복지센터와 한국마약퇴치운동본부가 협력하고, 이후 지역 확대를 검토한다</a:t>
            </a:r>
            <a:endParaRPr lang="en-US" sz="1150" dirty="0"/>
          </a:p>
        </p:txBody>
      </p:sp>
      <p:sp>
        <p:nvSpPr>
          <p:cNvPr id="24" name="Text 22"/>
          <p:cNvSpPr/>
          <p:nvPr/>
        </p:nvSpPr>
        <p:spPr>
          <a:xfrm>
            <a:off x="731520" y="4828032"/>
            <a:ext cx="10725912" cy="237744"/>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운영을 판단할 질문</a:t>
            </a:r>
            <a:endParaRPr lang="en-US" sz="1150" dirty="0"/>
          </a:p>
        </p:txBody>
      </p:sp>
      <p:sp>
        <p:nvSpPr>
          <p:cNvPr id="25" name="Text 23"/>
          <p:cNvSpPr/>
          <p:nvPr/>
        </p:nvSpPr>
        <p:spPr>
          <a:xfrm>
            <a:off x="731520" y="5084064"/>
            <a:ext cx="10725912" cy="256032"/>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종료 후 첫 상담이 실제로 이루어졌는가?     연락이 끊기거나 물질 재사용 위험이 커졌을 때 어느 기관이 다시 접촉하는가?</a:t>
            </a:r>
            <a:endParaRPr lang="en-US" sz="1250" dirty="0"/>
          </a:p>
        </p:txBody>
      </p:sp>
      <p:sp>
        <p:nvSpPr>
          <p:cNvPr id="26" name="Text 24"/>
          <p:cNvSpPr/>
          <p:nvPr/>
        </p:nvSpPr>
        <p:spPr>
          <a:xfrm>
            <a:off x="731520" y="5376672"/>
            <a:ext cx="10725912" cy="219456"/>
          </a:xfrm>
          <a:prstGeom prst="rect">
            <a:avLst/>
          </a:prstGeom>
          <a:noFill/>
          <a:ln/>
        </p:spPr>
        <p:txBody>
          <a:bodyPr wrap="square" lIns="0" tIns="0" rIns="0" bIns="0" rtlCol="0" anchor="ctr"/>
          <a:lstStyle/>
          <a:p>
            <a:pPr marL="0" indent="0">
              <a:buNone/>
            </a:pPr>
            <a:r>
              <a:rPr lang="en-US" sz="1100" dirty="0">
                <a:solidFill>
                  <a:srgbClr val="6E7686"/>
                </a:solidFill>
                <a:latin typeface="Pretendard" pitchFamily="34" charset="0"/>
                <a:ea typeface="Pretendard" pitchFamily="34" charset="-122"/>
                <a:cs typeface="Pretendard" pitchFamily="34" charset="-120"/>
              </a:rPr>
              <a:t>2025년 시행계획에 제시된 사업 내용이며, 전국 시행 실적이나 효과를 확인한 결과 자료와 구분한다</a:t>
            </a:r>
            <a:endParaRPr lang="en-US" sz="1100" dirty="0"/>
          </a:p>
        </p:txBody>
      </p:sp>
      <p:sp>
        <p:nvSpPr>
          <p:cNvPr id="27" name="Shape 25"/>
          <p:cNvSpPr/>
          <p:nvPr/>
        </p:nvSpPr>
        <p:spPr>
          <a:xfrm>
            <a:off x="731520" y="5650992"/>
            <a:ext cx="10725912" cy="0"/>
          </a:xfrm>
          <a:prstGeom prst="line">
            <a:avLst/>
          </a:prstGeom>
          <a:noFill/>
          <a:ln w="12700">
            <a:solidFill>
              <a:srgbClr val="DCE0E8"/>
            </a:solidFill>
            <a:prstDash val="solid"/>
          </a:ln>
        </p:spPr>
        <p:txBody>
          <a:bodyPr/>
          <a:lstStyle/>
          <a:p>
            <a:endParaRPr lang="ko-KR" altLang="en-US"/>
          </a:p>
        </p:txBody>
      </p:sp>
      <p:sp>
        <p:nvSpPr>
          <p:cNvPr id="28" name="Text 26"/>
          <p:cNvSpPr/>
          <p:nvPr/>
        </p:nvSpPr>
        <p:spPr>
          <a:xfrm>
            <a:off x="731520" y="5650993"/>
            <a:ext cx="10725912" cy="488000"/>
          </a:xfrm>
          <a:prstGeom prst="rect">
            <a:avLst/>
          </a:prstGeom>
          <a:solidFill>
            <a:schemeClr val="accent1">
              <a:lumMod val="20000"/>
              <a:lumOff val="80000"/>
            </a:schemeClr>
          </a:solidFill>
          <a:ln/>
        </p:spPr>
        <p:txBody>
          <a:bodyPr wrap="square" lIns="0" tIns="0" rIns="0" bIns="0" rtlCol="0" anchor="ctr"/>
          <a:lstStyle/>
          <a:p>
            <a:pPr algn="ctr"/>
            <a:r>
              <a:rPr lang="ko-KR" altLang="en-US" sz="1250" b="1" dirty="0">
                <a:solidFill>
                  <a:schemeClr val="accent1">
                    <a:lumMod val="50000"/>
                  </a:schemeClr>
                </a:solidFill>
                <a:latin typeface="Pretendard" pitchFamily="34" charset="0"/>
                <a:ea typeface="Pretendard" pitchFamily="34" charset="-122"/>
                <a:cs typeface="Pretendard" pitchFamily="34" charset="-120"/>
              </a:rPr>
              <a:t>치료</a:t>
            </a:r>
            <a:r>
              <a:rPr lang="en-US" altLang="ko-KR" sz="1250" b="1" dirty="0">
                <a:solidFill>
                  <a:schemeClr val="accent1">
                    <a:lumMod val="50000"/>
                  </a:schemeClr>
                </a:solidFill>
                <a:latin typeface="Pretendard" pitchFamily="34" charset="0"/>
                <a:ea typeface="Pretendard" pitchFamily="34" charset="-122"/>
                <a:cs typeface="Pretendard" pitchFamily="34" charset="-120"/>
              </a:rPr>
              <a:t>·</a:t>
            </a:r>
            <a:r>
              <a:rPr lang="ko-KR" altLang="en-US" sz="1250" b="1" dirty="0">
                <a:solidFill>
                  <a:schemeClr val="accent1">
                    <a:lumMod val="50000"/>
                  </a:schemeClr>
                </a:solidFill>
                <a:latin typeface="Pretendard" pitchFamily="34" charset="0"/>
                <a:ea typeface="Pretendard" pitchFamily="34" charset="-122"/>
                <a:cs typeface="Pretendard" pitchFamily="34" charset="-120"/>
              </a:rPr>
              <a:t>재활을 우선한다면</a:t>
            </a:r>
            <a:r>
              <a:rPr lang="en-US" altLang="ko-KR" sz="1250" b="1" dirty="0">
                <a:solidFill>
                  <a:schemeClr val="accent1">
                    <a:lumMod val="50000"/>
                  </a:schemeClr>
                </a:solidFill>
                <a:latin typeface="Pretendard" pitchFamily="34" charset="0"/>
                <a:ea typeface="Pretendard" pitchFamily="34" charset="-122"/>
                <a:cs typeface="Pretendard" pitchFamily="34" charset="-120"/>
              </a:rPr>
              <a:t>, </a:t>
            </a:r>
            <a:r>
              <a:rPr lang="ko-KR" altLang="en-US" sz="1250" b="1" dirty="0">
                <a:solidFill>
                  <a:schemeClr val="accent1">
                    <a:lumMod val="50000"/>
                  </a:schemeClr>
                </a:solidFill>
                <a:latin typeface="Pretendard" pitchFamily="34" charset="0"/>
                <a:ea typeface="Pretendard" pitchFamily="34" charset="-122"/>
                <a:cs typeface="Pretendard" pitchFamily="34" charset="-120"/>
              </a:rPr>
              <a:t>프로그램 종료 후에도 재사용 위험에 대응하고 일상 복귀를 돕는 지원이 이어져야 한다</a:t>
            </a:r>
            <a:r>
              <a:rPr lang="en-US" altLang="ko-KR" sz="1250" b="1" dirty="0">
                <a:solidFill>
                  <a:schemeClr val="accent1">
                    <a:lumMod val="50000"/>
                  </a:schemeClr>
                </a:solidFill>
                <a:latin typeface="Pretendard" pitchFamily="34" charset="0"/>
                <a:ea typeface="Pretendard" pitchFamily="34" charset="-122"/>
                <a:cs typeface="Pretendard" pitchFamily="34" charset="-120"/>
              </a:rPr>
              <a:t>.</a:t>
            </a:r>
            <a:endParaRPr lang="en-US" sz="1250" dirty="0">
              <a:solidFill>
                <a:schemeClr val="accent1">
                  <a:lumMod val="50000"/>
                </a:schemeClr>
              </a:solidFill>
            </a:endParaRPr>
          </a:p>
        </p:txBody>
      </p:sp>
      <p:sp>
        <p:nvSpPr>
          <p:cNvPr id="29" name="Shape 27"/>
          <p:cNvSpPr/>
          <p:nvPr/>
        </p:nvSpPr>
        <p:spPr>
          <a:xfrm>
            <a:off x="731520" y="6144768"/>
            <a:ext cx="10725912" cy="0"/>
          </a:xfrm>
          <a:prstGeom prst="line">
            <a:avLst/>
          </a:prstGeom>
          <a:noFill/>
          <a:ln w="12700">
            <a:solidFill>
              <a:srgbClr val="DCE0E8"/>
            </a:solidFill>
            <a:prstDash val="solid"/>
          </a:ln>
        </p:spPr>
        <p:txBody>
          <a:bodyPr/>
          <a:lstStyle/>
          <a:p>
            <a:endParaRPr lang="ko-KR"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6. 형사처벌과 치료·재활의 효과</a:t>
            </a:r>
            <a:endParaRPr lang="en-US" sz="1250" dirty="0"/>
          </a:p>
        </p:txBody>
      </p:sp>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소년약물치료법원의 결합 경로</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pPr marL="0" indent="0">
              <a:buNone/>
            </a:pPr>
            <a:r>
              <a:rPr lang="en-US" sz="2700" b="1" dirty="0">
                <a:solidFill>
                  <a:srgbClr val="1E2761"/>
                </a:solidFill>
                <a:latin typeface="Pretendard" pitchFamily="34" charset="0"/>
                <a:ea typeface="Pretendard" pitchFamily="34" charset="-122"/>
                <a:cs typeface="Pretendard" pitchFamily="34" charset="-120"/>
              </a:rPr>
              <a:t>효과 — </a:t>
            </a:r>
            <a:r>
              <a:rPr lang="en-US" sz="2700" b="1" dirty="0" err="1">
                <a:solidFill>
                  <a:srgbClr val="1E2761"/>
                </a:solidFill>
                <a:latin typeface="Pretendard" pitchFamily="34" charset="0"/>
                <a:ea typeface="Pretendard" pitchFamily="34" charset="-122"/>
                <a:cs typeface="Pretendard" pitchFamily="34" charset="-120"/>
              </a:rPr>
              <a:t>특별예방과</a:t>
            </a:r>
            <a:r>
              <a:rPr lang="en-US" sz="2700" b="1" dirty="0">
                <a:solidFill>
                  <a:srgbClr val="1E2761"/>
                </a:solidFill>
                <a:latin typeface="Pretendard" pitchFamily="34" charset="0"/>
                <a:ea typeface="Pretendard" pitchFamily="34" charset="-122"/>
                <a:cs typeface="Pretendard" pitchFamily="34" charset="-120"/>
              </a:rPr>
              <a:t> </a:t>
            </a:r>
            <a:r>
              <a:rPr lang="en-US" sz="2700" b="1" dirty="0" err="1">
                <a:solidFill>
                  <a:srgbClr val="1E2761"/>
                </a:solidFill>
                <a:latin typeface="Pretendard" pitchFamily="34" charset="0"/>
                <a:ea typeface="Pretendard" pitchFamily="34" charset="-122"/>
                <a:cs typeface="Pretendard" pitchFamily="34" charset="-120"/>
              </a:rPr>
              <a:t>일반예방</a:t>
            </a:r>
            <a:endParaRPr lang="en-US" sz="2700" dirty="0"/>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353312"/>
            <a:ext cx="10698480" cy="438912"/>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987552" y="1353312"/>
            <a:ext cx="10186416" cy="438912"/>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처우를 받은 청소년의 사용중단 · 재범방지 · 생활회복과, 다른 청소년의 사용 억제는 서로 다른 효과다</a:t>
            </a:r>
            <a:endParaRPr lang="en-US" sz="1250" dirty="0"/>
          </a:p>
        </p:txBody>
      </p:sp>
      <p:sp>
        <p:nvSpPr>
          <p:cNvPr id="8" name="Text 6"/>
          <p:cNvSpPr/>
          <p:nvPr/>
        </p:nvSpPr>
        <p:spPr>
          <a:xfrm>
            <a:off x="731520" y="1975104"/>
            <a:ext cx="7818120" cy="292608"/>
          </a:xfrm>
          <a:prstGeom prst="rect">
            <a:avLst/>
          </a:prstGeom>
          <a:noFill/>
          <a:ln/>
        </p:spPr>
        <p:txBody>
          <a:bodyPr wrap="square" lIns="0" tIns="0" rIns="0" bIns="0" rtlCol="0" anchor="ctr"/>
          <a:lstStyle/>
          <a:p>
            <a:pPr marL="0" indent="0">
              <a:buNone/>
            </a:pPr>
            <a:r>
              <a:rPr lang="en-US" sz="1350" b="1" dirty="0">
                <a:solidFill>
                  <a:srgbClr val="1E2761"/>
                </a:solidFill>
                <a:latin typeface="Pretendard" pitchFamily="34" charset="0"/>
                <a:ea typeface="Pretendard" pitchFamily="34" charset="-122"/>
                <a:cs typeface="Pretendard" pitchFamily="34" charset="-120"/>
              </a:rPr>
              <a:t>특별예방</a:t>
            </a:r>
            <a:r>
              <a:rPr lang="en-US" sz="1200" dirty="0">
                <a:solidFill>
                  <a:srgbClr val="464D5C"/>
                </a:solidFill>
                <a:latin typeface="Pretendard" pitchFamily="34" charset="0"/>
                <a:ea typeface="Pretendard" pitchFamily="34" charset="-122"/>
                <a:cs typeface="Pretendard" pitchFamily="34" charset="-120"/>
              </a:rPr>
              <a:t>   </a:t>
            </a:r>
            <a:r>
              <a:rPr lang="en-US" sz="1200" b="1" dirty="0">
                <a:solidFill>
                  <a:srgbClr val="464D5C"/>
                </a:solidFill>
                <a:latin typeface="Pretendard" pitchFamily="34" charset="0"/>
                <a:ea typeface="Pretendard" pitchFamily="34" charset="-122"/>
                <a:cs typeface="Pretendard" pitchFamily="34" charset="-120"/>
              </a:rPr>
              <a:t>처우를 받은 청소년이 다시 </a:t>
            </a:r>
            <a:r>
              <a:rPr lang="en-US" sz="1200" b="1" dirty="0" err="1">
                <a:solidFill>
                  <a:srgbClr val="464D5C"/>
                </a:solidFill>
                <a:latin typeface="Pretendard" pitchFamily="34" charset="0"/>
                <a:ea typeface="Pretendard" pitchFamily="34" charset="-122"/>
                <a:cs typeface="Pretendard" pitchFamily="34" charset="-120"/>
              </a:rPr>
              <a:t>범죄하지</a:t>
            </a:r>
            <a:r>
              <a:rPr lang="en-US" sz="1200" b="1" dirty="0">
                <a:solidFill>
                  <a:srgbClr val="464D5C"/>
                </a:solidFill>
                <a:latin typeface="Pretendard" pitchFamily="34" charset="0"/>
                <a:ea typeface="Pretendard" pitchFamily="34" charset="-122"/>
                <a:cs typeface="Pretendard" pitchFamily="34" charset="-120"/>
              </a:rPr>
              <a:t> </a:t>
            </a:r>
            <a:r>
              <a:rPr lang="en-US" sz="1200" b="1" dirty="0" err="1">
                <a:solidFill>
                  <a:srgbClr val="464D5C"/>
                </a:solidFill>
                <a:latin typeface="Pretendard" pitchFamily="34" charset="0"/>
                <a:ea typeface="Pretendard" pitchFamily="34" charset="-122"/>
                <a:cs typeface="Pretendard" pitchFamily="34" charset="-120"/>
              </a:rPr>
              <a:t>않는가</a:t>
            </a:r>
            <a:r>
              <a:rPr lang="en-US" sz="1200" b="1" dirty="0">
                <a:solidFill>
                  <a:srgbClr val="464D5C"/>
                </a:solidFill>
                <a:latin typeface="Pretendard" pitchFamily="34" charset="0"/>
                <a:ea typeface="Pretendard" pitchFamily="34" charset="-122"/>
                <a:cs typeface="Pretendard" pitchFamily="34" charset="-120"/>
              </a:rPr>
              <a:t>, </a:t>
            </a:r>
            <a:r>
              <a:rPr lang="ko-KR" altLang="en-US" sz="1200" b="1" dirty="0">
                <a:solidFill>
                  <a:srgbClr val="464D5C"/>
                </a:solidFill>
                <a:latin typeface="Pretendard" pitchFamily="34" charset="0"/>
                <a:ea typeface="Pretendard" pitchFamily="34" charset="-122"/>
                <a:cs typeface="Pretendard" pitchFamily="34" charset="-120"/>
              </a:rPr>
              <a:t>나아가 생활회복이 가능한가</a:t>
            </a:r>
            <a:endParaRPr lang="en-US" sz="1350" b="1" dirty="0"/>
          </a:p>
        </p:txBody>
      </p:sp>
      <p:sp>
        <p:nvSpPr>
          <p:cNvPr id="9" name="Shape 7"/>
          <p:cNvSpPr/>
          <p:nvPr/>
        </p:nvSpPr>
        <p:spPr>
          <a:xfrm>
            <a:off x="731519" y="2322576"/>
            <a:ext cx="2450833" cy="384048"/>
          </a:xfrm>
          <a:prstGeom prst="rect">
            <a:avLst/>
          </a:prstGeom>
          <a:solidFill>
            <a:srgbClr val="F2F4F8"/>
          </a:solidFill>
          <a:ln w="12700">
            <a:solidFill>
              <a:srgbClr val="DCE0E8"/>
            </a:solidFill>
            <a:prstDash val="solid"/>
          </a:ln>
        </p:spPr>
        <p:txBody>
          <a:bodyPr/>
          <a:lstStyle/>
          <a:p>
            <a:endParaRPr lang="ko-KR" altLang="en-US"/>
          </a:p>
        </p:txBody>
      </p:sp>
      <p:sp>
        <p:nvSpPr>
          <p:cNvPr id="10" name="Text 8"/>
          <p:cNvSpPr/>
          <p:nvPr/>
        </p:nvSpPr>
        <p:spPr>
          <a:xfrm>
            <a:off x="731519" y="2322576"/>
            <a:ext cx="2450833" cy="384048"/>
          </a:xfrm>
          <a:prstGeom prst="rect">
            <a:avLst/>
          </a:prstGeom>
          <a:noFill/>
          <a:ln/>
        </p:spPr>
        <p:txBody>
          <a:bodyPr wrap="square" lIns="0" tIns="0" rIns="0" bIns="0" rtlCol="0" anchor="ctr"/>
          <a:lstStyle/>
          <a:p>
            <a:pPr marL="0" indent="0" algn="ctr">
              <a:buNone/>
            </a:pPr>
            <a:r>
              <a:rPr lang="en-US" sz="1150" b="1" dirty="0">
                <a:solidFill>
                  <a:srgbClr val="1E2761"/>
                </a:solidFill>
                <a:latin typeface="Pretendard" pitchFamily="34" charset="0"/>
                <a:ea typeface="Pretendard" pitchFamily="34" charset="-122"/>
                <a:cs typeface="Pretendard" pitchFamily="34" charset="-120"/>
              </a:rPr>
              <a:t>결과</a:t>
            </a:r>
            <a:endParaRPr lang="en-US" sz="1150" dirty="0"/>
          </a:p>
        </p:txBody>
      </p:sp>
      <p:sp>
        <p:nvSpPr>
          <p:cNvPr id="11" name="Shape 9"/>
          <p:cNvSpPr/>
          <p:nvPr/>
        </p:nvSpPr>
        <p:spPr>
          <a:xfrm>
            <a:off x="3108960" y="2322576"/>
            <a:ext cx="5440680" cy="384048"/>
          </a:xfrm>
          <a:prstGeom prst="rect">
            <a:avLst/>
          </a:prstGeom>
          <a:solidFill>
            <a:srgbClr val="F2F4F8"/>
          </a:solidFill>
          <a:ln w="12700">
            <a:solidFill>
              <a:srgbClr val="DCE0E8"/>
            </a:solidFill>
            <a:prstDash val="solid"/>
          </a:ln>
        </p:spPr>
        <p:txBody>
          <a:bodyPr/>
          <a:lstStyle/>
          <a:p>
            <a:endParaRPr lang="ko-KR" altLang="en-US"/>
          </a:p>
        </p:txBody>
      </p:sp>
      <p:sp>
        <p:nvSpPr>
          <p:cNvPr id="12" name="Text 10"/>
          <p:cNvSpPr/>
          <p:nvPr/>
        </p:nvSpPr>
        <p:spPr>
          <a:xfrm>
            <a:off x="3108960" y="2322576"/>
            <a:ext cx="5440680" cy="384048"/>
          </a:xfrm>
          <a:prstGeom prst="rect">
            <a:avLst/>
          </a:prstGeom>
          <a:noFill/>
          <a:ln/>
        </p:spPr>
        <p:txBody>
          <a:bodyPr wrap="square" lIns="0" tIns="0" rIns="0" bIns="0" rtlCol="0" anchor="ctr"/>
          <a:lstStyle/>
          <a:p>
            <a:pPr marL="0" indent="0" algn="ctr">
              <a:buNone/>
            </a:pPr>
            <a:r>
              <a:rPr lang="en-US" sz="1150" b="1" dirty="0">
                <a:solidFill>
                  <a:srgbClr val="1E2761"/>
                </a:solidFill>
                <a:latin typeface="Pretendard" pitchFamily="34" charset="0"/>
                <a:ea typeface="Pretendard" pitchFamily="34" charset="-122"/>
                <a:cs typeface="Pretendard" pitchFamily="34" charset="-120"/>
              </a:rPr>
              <a:t>효과가 있다면 나타나야 할 변화</a:t>
            </a:r>
            <a:endParaRPr lang="en-US" sz="1150" dirty="0"/>
          </a:p>
        </p:txBody>
      </p:sp>
      <p:sp>
        <p:nvSpPr>
          <p:cNvPr id="13" name="Shape 11"/>
          <p:cNvSpPr/>
          <p:nvPr/>
        </p:nvSpPr>
        <p:spPr>
          <a:xfrm>
            <a:off x="731519" y="2706624"/>
            <a:ext cx="2450833" cy="621792"/>
          </a:xfrm>
          <a:prstGeom prst="rect">
            <a:avLst/>
          </a:prstGeom>
          <a:solidFill>
            <a:srgbClr val="FFFFFF"/>
          </a:solidFill>
          <a:ln w="12700">
            <a:solidFill>
              <a:srgbClr val="DCE0E8"/>
            </a:solidFill>
            <a:prstDash val="solid"/>
          </a:ln>
        </p:spPr>
        <p:txBody>
          <a:bodyPr/>
          <a:lstStyle/>
          <a:p>
            <a:endParaRPr lang="ko-KR" altLang="en-US"/>
          </a:p>
        </p:txBody>
      </p:sp>
      <p:sp>
        <p:nvSpPr>
          <p:cNvPr id="14" name="Text 12"/>
          <p:cNvSpPr/>
          <p:nvPr/>
        </p:nvSpPr>
        <p:spPr>
          <a:xfrm>
            <a:off x="822959" y="2706624"/>
            <a:ext cx="2237717" cy="621792"/>
          </a:xfrm>
          <a:prstGeom prst="rect">
            <a:avLst/>
          </a:prstGeom>
          <a:noFill/>
          <a:ln/>
        </p:spPr>
        <p:txBody>
          <a:bodyPr wrap="square" lIns="0" tIns="0" rIns="0" bIns="0" rtlCol="0" anchor="ctr"/>
          <a:lstStyle/>
          <a:p>
            <a:pPr marL="0" indent="0" algn="ctr">
              <a:buNone/>
            </a:pPr>
            <a:r>
              <a:rPr lang="en-US" sz="1300" b="1" dirty="0">
                <a:solidFill>
                  <a:srgbClr val="1E2761"/>
                </a:solidFill>
                <a:latin typeface="Pretendard" pitchFamily="34" charset="0"/>
                <a:ea typeface="Pretendard" pitchFamily="34" charset="-122"/>
                <a:cs typeface="Pretendard" pitchFamily="34" charset="-120"/>
              </a:rPr>
              <a:t>재사용</a:t>
            </a:r>
            <a:endParaRPr lang="en-US" sz="1300" dirty="0"/>
          </a:p>
        </p:txBody>
      </p:sp>
      <p:sp>
        <p:nvSpPr>
          <p:cNvPr id="15" name="Shape 13"/>
          <p:cNvSpPr/>
          <p:nvPr/>
        </p:nvSpPr>
        <p:spPr>
          <a:xfrm>
            <a:off x="3108960" y="2706624"/>
            <a:ext cx="5440680" cy="621792"/>
          </a:xfrm>
          <a:prstGeom prst="rect">
            <a:avLst/>
          </a:prstGeom>
          <a:solidFill>
            <a:srgbClr val="FFFFFF"/>
          </a:solidFill>
          <a:ln w="12700">
            <a:solidFill>
              <a:srgbClr val="DCE0E8"/>
            </a:solidFill>
            <a:prstDash val="solid"/>
          </a:ln>
        </p:spPr>
        <p:txBody>
          <a:bodyPr/>
          <a:lstStyle/>
          <a:p>
            <a:endParaRPr lang="ko-KR" altLang="en-US"/>
          </a:p>
        </p:txBody>
      </p:sp>
      <p:sp>
        <p:nvSpPr>
          <p:cNvPr id="16" name="Text 14"/>
          <p:cNvSpPr/>
          <p:nvPr/>
        </p:nvSpPr>
        <p:spPr>
          <a:xfrm>
            <a:off x="3328416" y="2706624"/>
            <a:ext cx="5001768" cy="621792"/>
          </a:xfrm>
          <a:prstGeom prst="rect">
            <a:avLst/>
          </a:prstGeom>
          <a:noFill/>
          <a:ln/>
        </p:spPr>
        <p:txBody>
          <a:bodyPr wrap="square" lIns="0" tIns="0" rIns="0" bIns="0" rtlCol="0" anchor="ctr"/>
          <a:lstStyle/>
          <a:p>
            <a:pPr marL="0" indent="0">
              <a:lnSpc>
                <a:spcPts val="1900"/>
              </a:lnSpc>
              <a:buNone/>
            </a:pPr>
            <a:r>
              <a:rPr lang="en-US" sz="1200" dirty="0">
                <a:solidFill>
                  <a:srgbClr val="222633"/>
                </a:solidFill>
                <a:latin typeface="Pretendard" pitchFamily="34" charset="0"/>
                <a:ea typeface="Pretendard" pitchFamily="34" charset="-122"/>
                <a:cs typeface="Pretendard" pitchFamily="34" charset="-120"/>
              </a:rPr>
              <a:t>마약류를 다시 사용하는 빈도 · 비율이나 사용기간이 줄어든다</a:t>
            </a:r>
            <a:endParaRPr lang="en-US" sz="1200" dirty="0"/>
          </a:p>
        </p:txBody>
      </p:sp>
      <p:sp>
        <p:nvSpPr>
          <p:cNvPr id="17" name="Shape 15"/>
          <p:cNvSpPr/>
          <p:nvPr/>
        </p:nvSpPr>
        <p:spPr>
          <a:xfrm>
            <a:off x="731519" y="3328416"/>
            <a:ext cx="2450833" cy="621792"/>
          </a:xfrm>
          <a:prstGeom prst="rect">
            <a:avLst/>
          </a:prstGeom>
          <a:solidFill>
            <a:srgbClr val="FFFFFF"/>
          </a:solidFill>
          <a:ln w="12700">
            <a:solidFill>
              <a:srgbClr val="DCE0E8"/>
            </a:solidFill>
            <a:prstDash val="solid"/>
          </a:ln>
        </p:spPr>
        <p:txBody>
          <a:bodyPr/>
          <a:lstStyle/>
          <a:p>
            <a:endParaRPr lang="ko-KR" altLang="en-US"/>
          </a:p>
        </p:txBody>
      </p:sp>
      <p:sp>
        <p:nvSpPr>
          <p:cNvPr id="18" name="Text 16"/>
          <p:cNvSpPr/>
          <p:nvPr/>
        </p:nvSpPr>
        <p:spPr>
          <a:xfrm>
            <a:off x="822959" y="3328416"/>
            <a:ext cx="2237717" cy="621792"/>
          </a:xfrm>
          <a:prstGeom prst="rect">
            <a:avLst/>
          </a:prstGeom>
          <a:noFill/>
          <a:ln/>
        </p:spPr>
        <p:txBody>
          <a:bodyPr wrap="square" lIns="0" tIns="0" rIns="0" bIns="0" rtlCol="0" anchor="ctr"/>
          <a:lstStyle/>
          <a:p>
            <a:pPr marL="0" indent="0" algn="ctr">
              <a:buNone/>
            </a:pPr>
            <a:r>
              <a:rPr lang="en-US" sz="1300" b="1" dirty="0">
                <a:solidFill>
                  <a:srgbClr val="1E2761"/>
                </a:solidFill>
                <a:latin typeface="Pretendard" pitchFamily="34" charset="0"/>
                <a:ea typeface="Pretendard" pitchFamily="34" charset="-122"/>
                <a:cs typeface="Pretendard" pitchFamily="34" charset="-120"/>
              </a:rPr>
              <a:t>재범 · 재접촉</a:t>
            </a:r>
            <a:endParaRPr lang="en-US" sz="1300" dirty="0"/>
          </a:p>
        </p:txBody>
      </p:sp>
      <p:sp>
        <p:nvSpPr>
          <p:cNvPr id="19" name="Shape 17"/>
          <p:cNvSpPr/>
          <p:nvPr/>
        </p:nvSpPr>
        <p:spPr>
          <a:xfrm>
            <a:off x="3108960" y="3328416"/>
            <a:ext cx="5440680" cy="621792"/>
          </a:xfrm>
          <a:prstGeom prst="rect">
            <a:avLst/>
          </a:prstGeom>
          <a:solidFill>
            <a:srgbClr val="FFFFFF"/>
          </a:solidFill>
          <a:ln w="12700">
            <a:solidFill>
              <a:srgbClr val="DCE0E8"/>
            </a:solidFill>
            <a:prstDash val="solid"/>
          </a:ln>
        </p:spPr>
        <p:txBody>
          <a:bodyPr/>
          <a:lstStyle/>
          <a:p>
            <a:endParaRPr lang="ko-KR" altLang="en-US"/>
          </a:p>
        </p:txBody>
      </p:sp>
      <p:sp>
        <p:nvSpPr>
          <p:cNvPr id="20" name="Text 18"/>
          <p:cNvSpPr/>
          <p:nvPr/>
        </p:nvSpPr>
        <p:spPr>
          <a:xfrm>
            <a:off x="3328416" y="3328416"/>
            <a:ext cx="5001768" cy="621792"/>
          </a:xfrm>
          <a:prstGeom prst="rect">
            <a:avLst/>
          </a:prstGeom>
          <a:noFill/>
          <a:ln/>
        </p:spPr>
        <p:txBody>
          <a:bodyPr wrap="square" lIns="0" tIns="0" rIns="0" bIns="0" rtlCol="0" anchor="ctr"/>
          <a:lstStyle/>
          <a:p>
            <a:pPr marL="0" indent="0">
              <a:lnSpc>
                <a:spcPts val="1900"/>
              </a:lnSpc>
              <a:buNone/>
            </a:pPr>
            <a:r>
              <a:rPr lang="en-US" sz="1200" dirty="0">
                <a:solidFill>
                  <a:srgbClr val="222633"/>
                </a:solidFill>
                <a:latin typeface="Pretendard" pitchFamily="34" charset="0"/>
                <a:ea typeface="Pretendard" pitchFamily="34" charset="-122"/>
                <a:cs typeface="Pretendard" pitchFamily="34" charset="-120"/>
              </a:rPr>
              <a:t>새로운 범죄 · 재체포 · 재유죄판결 등 다시 사법절차에 들어오는 일이 줄어든다</a:t>
            </a:r>
            <a:endParaRPr lang="en-US" sz="1200" dirty="0"/>
          </a:p>
        </p:txBody>
      </p:sp>
      <p:sp>
        <p:nvSpPr>
          <p:cNvPr id="21" name="Shape 19"/>
          <p:cNvSpPr/>
          <p:nvPr/>
        </p:nvSpPr>
        <p:spPr>
          <a:xfrm>
            <a:off x="731519" y="3950208"/>
            <a:ext cx="2450833" cy="621792"/>
          </a:xfrm>
          <a:prstGeom prst="rect">
            <a:avLst/>
          </a:prstGeom>
          <a:solidFill>
            <a:srgbClr val="FFFFFF"/>
          </a:solidFill>
          <a:ln w="12700">
            <a:solidFill>
              <a:srgbClr val="DCE0E8"/>
            </a:solidFill>
            <a:prstDash val="solid"/>
          </a:ln>
        </p:spPr>
        <p:txBody>
          <a:bodyPr/>
          <a:lstStyle/>
          <a:p>
            <a:endParaRPr lang="ko-KR" altLang="en-US"/>
          </a:p>
        </p:txBody>
      </p:sp>
      <p:sp>
        <p:nvSpPr>
          <p:cNvPr id="22" name="Text 20"/>
          <p:cNvSpPr/>
          <p:nvPr/>
        </p:nvSpPr>
        <p:spPr>
          <a:xfrm>
            <a:off x="822959" y="3950208"/>
            <a:ext cx="2237717" cy="621792"/>
          </a:xfrm>
          <a:prstGeom prst="rect">
            <a:avLst/>
          </a:prstGeom>
          <a:noFill/>
          <a:ln/>
        </p:spPr>
        <p:txBody>
          <a:bodyPr wrap="square" lIns="0" tIns="0" rIns="0" bIns="0" rtlCol="0" anchor="ctr"/>
          <a:lstStyle/>
          <a:p>
            <a:pPr marL="0" indent="0" algn="ctr">
              <a:buNone/>
            </a:pPr>
            <a:r>
              <a:rPr lang="en-US" sz="1300" b="1" dirty="0">
                <a:solidFill>
                  <a:srgbClr val="1E2761"/>
                </a:solidFill>
                <a:latin typeface="Pretendard" pitchFamily="34" charset="0"/>
                <a:ea typeface="Pretendard" pitchFamily="34" charset="-122"/>
                <a:cs typeface="Pretendard" pitchFamily="34" charset="-120"/>
              </a:rPr>
              <a:t>생활회복</a:t>
            </a:r>
            <a:endParaRPr lang="en-US" sz="1300" dirty="0"/>
          </a:p>
        </p:txBody>
      </p:sp>
      <p:sp>
        <p:nvSpPr>
          <p:cNvPr id="23" name="Shape 21"/>
          <p:cNvSpPr/>
          <p:nvPr/>
        </p:nvSpPr>
        <p:spPr>
          <a:xfrm>
            <a:off x="3108960" y="3950208"/>
            <a:ext cx="5440680" cy="621792"/>
          </a:xfrm>
          <a:prstGeom prst="rect">
            <a:avLst/>
          </a:prstGeom>
          <a:solidFill>
            <a:srgbClr val="FFFFFF"/>
          </a:solidFill>
          <a:ln w="12700">
            <a:solidFill>
              <a:srgbClr val="DCE0E8"/>
            </a:solidFill>
            <a:prstDash val="solid"/>
          </a:ln>
        </p:spPr>
        <p:txBody>
          <a:bodyPr/>
          <a:lstStyle/>
          <a:p>
            <a:endParaRPr lang="ko-KR" altLang="en-US"/>
          </a:p>
        </p:txBody>
      </p:sp>
      <p:sp>
        <p:nvSpPr>
          <p:cNvPr id="24" name="Text 22"/>
          <p:cNvSpPr/>
          <p:nvPr/>
        </p:nvSpPr>
        <p:spPr>
          <a:xfrm>
            <a:off x="3328416" y="3950208"/>
            <a:ext cx="5001768" cy="621792"/>
          </a:xfrm>
          <a:prstGeom prst="rect">
            <a:avLst/>
          </a:prstGeom>
          <a:noFill/>
          <a:ln/>
        </p:spPr>
        <p:txBody>
          <a:bodyPr wrap="square" lIns="0" tIns="0" rIns="0" bIns="0" rtlCol="0" anchor="ctr"/>
          <a:lstStyle/>
          <a:p>
            <a:pPr marL="0" indent="0">
              <a:lnSpc>
                <a:spcPts val="1900"/>
              </a:lnSpc>
              <a:buNone/>
            </a:pPr>
            <a:r>
              <a:rPr lang="en-US" sz="1200" dirty="0">
                <a:solidFill>
                  <a:srgbClr val="222633"/>
                </a:solidFill>
                <a:latin typeface="Pretendard" pitchFamily="34" charset="0"/>
                <a:ea typeface="Pretendard" pitchFamily="34" charset="-122"/>
                <a:cs typeface="Pretendard" pitchFamily="34" charset="-120"/>
              </a:rPr>
              <a:t>학교생활 · 가족관계 · 정신건강 등 일상 기능이 개선된다</a:t>
            </a:r>
            <a:endParaRPr lang="en-US" sz="1200" dirty="0"/>
          </a:p>
        </p:txBody>
      </p:sp>
      <p:sp>
        <p:nvSpPr>
          <p:cNvPr id="25" name="Text 23"/>
          <p:cNvSpPr/>
          <p:nvPr/>
        </p:nvSpPr>
        <p:spPr>
          <a:xfrm>
            <a:off x="731520" y="4626864"/>
            <a:ext cx="7818120" cy="256032"/>
          </a:xfrm>
          <a:prstGeom prst="rect">
            <a:avLst/>
          </a:prstGeom>
          <a:noFill/>
          <a:ln/>
        </p:spPr>
        <p:txBody>
          <a:bodyPr wrap="square" lIns="0" tIns="0" rIns="0" bIns="0" rtlCol="0" anchor="ctr"/>
          <a:lstStyle/>
          <a:p>
            <a:pPr marL="0" indent="0">
              <a:buNone/>
            </a:pPr>
            <a:r>
              <a:rPr lang="en-US" sz="1100" dirty="0">
                <a:solidFill>
                  <a:srgbClr val="6E7686"/>
                </a:solidFill>
                <a:latin typeface="Pretendard" pitchFamily="34" charset="0"/>
                <a:ea typeface="Pretendard" pitchFamily="34" charset="-122"/>
                <a:cs typeface="Pretendard" pitchFamily="34" charset="-120"/>
              </a:rPr>
              <a:t>치료 · 재활을 통한 재사회화, 처벌에 의한 개별 억제, 필요시 격리 모두 특별예방의 방식이 될 수 있다</a:t>
            </a:r>
            <a:endParaRPr lang="en-US" sz="1100" dirty="0"/>
          </a:p>
        </p:txBody>
      </p:sp>
      <p:sp>
        <p:nvSpPr>
          <p:cNvPr id="26" name="Text 24"/>
          <p:cNvSpPr/>
          <p:nvPr/>
        </p:nvSpPr>
        <p:spPr>
          <a:xfrm>
            <a:off x="8951976" y="1975104"/>
            <a:ext cx="2478024" cy="292608"/>
          </a:xfrm>
          <a:prstGeom prst="rect">
            <a:avLst/>
          </a:prstGeom>
          <a:noFill/>
          <a:ln/>
        </p:spPr>
        <p:txBody>
          <a:bodyPr wrap="square" lIns="0" tIns="0" rIns="0" bIns="0" rtlCol="0" anchor="ctr"/>
          <a:lstStyle/>
          <a:p>
            <a:pPr marL="0" indent="0">
              <a:buNone/>
            </a:pPr>
            <a:r>
              <a:rPr lang="en-US" sz="1350" b="1" dirty="0">
                <a:solidFill>
                  <a:srgbClr val="1E2761"/>
                </a:solidFill>
                <a:latin typeface="Pretendard" pitchFamily="34" charset="0"/>
                <a:ea typeface="Pretendard" pitchFamily="34" charset="-122"/>
                <a:cs typeface="Pretendard" pitchFamily="34" charset="-120"/>
              </a:rPr>
              <a:t>일반예방</a:t>
            </a:r>
            <a:endParaRPr lang="en-US" sz="1350" dirty="0"/>
          </a:p>
        </p:txBody>
      </p:sp>
      <p:sp>
        <p:nvSpPr>
          <p:cNvPr id="27" name="Shape 25"/>
          <p:cNvSpPr/>
          <p:nvPr/>
        </p:nvSpPr>
        <p:spPr>
          <a:xfrm>
            <a:off x="8951976" y="2322576"/>
            <a:ext cx="2478024" cy="2249424"/>
          </a:xfrm>
          <a:prstGeom prst="rect">
            <a:avLst/>
          </a:prstGeom>
          <a:solidFill>
            <a:srgbClr val="F2F4F8"/>
          </a:solidFill>
          <a:ln w="12700">
            <a:solidFill>
              <a:srgbClr val="F2F4F8"/>
            </a:solidFill>
            <a:prstDash val="solid"/>
          </a:ln>
        </p:spPr>
        <p:txBody>
          <a:bodyPr/>
          <a:lstStyle/>
          <a:p>
            <a:endParaRPr lang="ko-KR" altLang="en-US"/>
          </a:p>
        </p:txBody>
      </p:sp>
      <p:sp>
        <p:nvSpPr>
          <p:cNvPr id="28" name="Text 26"/>
          <p:cNvSpPr/>
          <p:nvPr/>
        </p:nvSpPr>
        <p:spPr>
          <a:xfrm>
            <a:off x="9208008" y="2505456"/>
            <a:ext cx="1965960" cy="493776"/>
          </a:xfrm>
          <a:prstGeom prst="rect">
            <a:avLst/>
          </a:prstGeom>
          <a:noFill/>
          <a:ln/>
        </p:spPr>
        <p:txBody>
          <a:bodyPr wrap="square" lIns="0" tIns="0" rIns="0" bIns="0" rtlCol="0" anchor="t"/>
          <a:lstStyle/>
          <a:p>
            <a:pPr marL="0" indent="0" algn="ctr">
              <a:lnSpc>
                <a:spcPts val="1900"/>
              </a:lnSpc>
              <a:buNone/>
            </a:pPr>
            <a:r>
              <a:rPr lang="en-US" sz="1250" b="1" dirty="0">
                <a:solidFill>
                  <a:srgbClr val="1E2761"/>
                </a:solidFill>
                <a:latin typeface="Pretendard" pitchFamily="34" charset="0"/>
                <a:ea typeface="Pretendard" pitchFamily="34" charset="-122"/>
                <a:cs typeface="Pretendard" pitchFamily="34" charset="-120"/>
              </a:rPr>
              <a:t>정책을 직접 적용받지 않은</a:t>
            </a:r>
            <a:endParaRPr lang="en-US" sz="1250" dirty="0"/>
          </a:p>
          <a:p>
            <a:pPr marL="0" indent="0" algn="ctr">
              <a:lnSpc>
                <a:spcPts val="1900"/>
              </a:lnSpc>
              <a:buNone/>
            </a:pPr>
            <a:r>
              <a:rPr lang="en-US" sz="1250" b="1" dirty="0">
                <a:solidFill>
                  <a:srgbClr val="1E2761"/>
                </a:solidFill>
                <a:latin typeface="Pretendard" pitchFamily="34" charset="0"/>
                <a:ea typeface="Pretendard" pitchFamily="34" charset="-122"/>
                <a:cs typeface="Pretendard" pitchFamily="34" charset="-120"/>
              </a:rPr>
              <a:t>다른 청소년</a:t>
            </a:r>
            <a:endParaRPr lang="en-US" sz="1250" dirty="0"/>
          </a:p>
        </p:txBody>
      </p:sp>
      <p:sp>
        <p:nvSpPr>
          <p:cNvPr id="29" name="Shape 27"/>
          <p:cNvSpPr/>
          <p:nvPr/>
        </p:nvSpPr>
        <p:spPr>
          <a:xfrm>
            <a:off x="9262872" y="3127248"/>
            <a:ext cx="1856232" cy="0"/>
          </a:xfrm>
          <a:prstGeom prst="line">
            <a:avLst/>
          </a:prstGeom>
          <a:noFill/>
          <a:ln w="12700">
            <a:solidFill>
              <a:srgbClr val="DCE0E8"/>
            </a:solidFill>
            <a:prstDash val="solid"/>
          </a:ln>
        </p:spPr>
        <p:txBody>
          <a:bodyPr/>
          <a:lstStyle/>
          <a:p>
            <a:endParaRPr lang="ko-KR" altLang="en-US"/>
          </a:p>
        </p:txBody>
      </p:sp>
      <p:sp>
        <p:nvSpPr>
          <p:cNvPr id="30" name="Text 28"/>
          <p:cNvSpPr/>
          <p:nvPr/>
        </p:nvSpPr>
        <p:spPr>
          <a:xfrm>
            <a:off x="9226296" y="3273552"/>
            <a:ext cx="1929384" cy="1097280"/>
          </a:xfrm>
          <a:prstGeom prst="rect">
            <a:avLst/>
          </a:prstGeom>
          <a:noFill/>
          <a:ln/>
        </p:spPr>
        <p:txBody>
          <a:bodyPr wrap="square" lIns="0" tIns="0" rIns="0" bIns="0" rtlCol="0" anchor="t"/>
          <a:lstStyle/>
          <a:p>
            <a:pPr marL="0" indent="0">
              <a:lnSpc>
                <a:spcPts val="2100"/>
              </a:lnSpc>
              <a:buNone/>
            </a:pPr>
            <a:r>
              <a:rPr lang="en-US" sz="1200" dirty="0">
                <a:solidFill>
                  <a:srgbClr val="222633"/>
                </a:solidFill>
                <a:latin typeface="Pretendard" pitchFamily="34" charset="0"/>
                <a:ea typeface="Pretendard" pitchFamily="34" charset="-122"/>
                <a:cs typeface="Pretendard" pitchFamily="34" charset="-120"/>
              </a:rPr>
              <a:t>그 정책을 직접 적용받지 않은 다른 청소년의 사용 · 범죄가 줄어드는가</a:t>
            </a:r>
            <a:endParaRPr lang="en-US" sz="1200" dirty="0"/>
          </a:p>
        </p:txBody>
      </p:sp>
      <p:sp>
        <p:nvSpPr>
          <p:cNvPr id="31" name="Shape 29"/>
          <p:cNvSpPr/>
          <p:nvPr/>
        </p:nvSpPr>
        <p:spPr>
          <a:xfrm>
            <a:off x="731520" y="4992624"/>
            <a:ext cx="54864" cy="566928"/>
          </a:xfrm>
          <a:prstGeom prst="rect">
            <a:avLst/>
          </a:prstGeom>
          <a:solidFill>
            <a:srgbClr val="C2A648"/>
          </a:solidFill>
          <a:ln w="12700">
            <a:solidFill>
              <a:srgbClr val="C2A648"/>
            </a:solidFill>
            <a:prstDash val="solid"/>
          </a:ln>
        </p:spPr>
        <p:txBody>
          <a:bodyPr/>
          <a:lstStyle/>
          <a:p>
            <a:endParaRPr lang="ko-KR" altLang="en-US"/>
          </a:p>
        </p:txBody>
      </p:sp>
      <p:sp>
        <p:nvSpPr>
          <p:cNvPr id="32" name="Text 30"/>
          <p:cNvSpPr/>
          <p:nvPr/>
        </p:nvSpPr>
        <p:spPr>
          <a:xfrm>
            <a:off x="969264" y="4992624"/>
            <a:ext cx="10460736" cy="566928"/>
          </a:xfrm>
          <a:prstGeom prst="rect">
            <a:avLst/>
          </a:prstGeom>
          <a:noFill/>
          <a:ln/>
        </p:spPr>
        <p:txBody>
          <a:bodyPr wrap="square" lIns="0" tIns="0" rIns="0" bIns="0" rtlCol="0" anchor="ctr"/>
          <a:lstStyle/>
          <a:p>
            <a:pPr marL="0" indent="0">
              <a:buNone/>
            </a:pPr>
            <a:r>
              <a:rPr lang="en-US" sz="1250" b="1" dirty="0">
                <a:solidFill>
                  <a:srgbClr val="A8871C"/>
                </a:solidFill>
                <a:latin typeface="Pretendard" pitchFamily="34" charset="0"/>
                <a:ea typeface="Pretendard" pitchFamily="34" charset="-122"/>
                <a:cs typeface="Pretendard" pitchFamily="34" charset="-120"/>
              </a:rPr>
              <a:t>지속성</a:t>
            </a:r>
            <a:r>
              <a:rPr lang="en-US" sz="1200" dirty="0">
                <a:solidFill>
                  <a:srgbClr val="222633"/>
                </a:solidFill>
                <a:latin typeface="Pretendard" pitchFamily="34" charset="0"/>
                <a:ea typeface="Pretendard" pitchFamily="34" charset="-122"/>
                <a:cs typeface="Pretendard" pitchFamily="34" charset="-120"/>
              </a:rPr>
              <a:t>   감독 · 치료가 끝난 뒤에도 변화가 유지되는가</a:t>
            </a:r>
            <a:endParaRPr lang="en-US" sz="1250" dirty="0"/>
          </a:p>
        </p:txBody>
      </p:sp>
      <p:sp>
        <p:nvSpPr>
          <p:cNvPr id="33" name="Text 31"/>
          <p:cNvSpPr/>
          <p:nvPr/>
        </p:nvSpPr>
        <p:spPr>
          <a:xfrm>
            <a:off x="731520" y="5724144"/>
            <a:ext cx="10698480" cy="310896"/>
          </a:xfrm>
          <a:prstGeom prst="rect">
            <a:avLst/>
          </a:prstGeom>
          <a:noFill/>
          <a:ln/>
        </p:spPr>
        <p:txBody>
          <a:bodyPr wrap="square" lIns="0" tIns="0" rIns="0" bIns="0" rtlCol="0" anchor="ctr"/>
          <a:lstStyle/>
          <a:p>
            <a:pPr marL="0" indent="0">
              <a:buNone/>
            </a:pPr>
            <a:r>
              <a:rPr lang="en-US" sz="1250" b="1" dirty="0">
                <a:solidFill>
                  <a:srgbClr val="A8871C"/>
                </a:solidFill>
                <a:latin typeface="Pretendard" pitchFamily="34" charset="0"/>
                <a:ea typeface="Pretendard" pitchFamily="34" charset="-122"/>
                <a:cs typeface="Pretendard" pitchFamily="34" charset="-120"/>
              </a:rPr>
              <a:t>재사용이 줄었다고 재범 · 생활회복 · 일반예방까지 좋아졌다고 말할 수는 없다</a:t>
            </a:r>
            <a:endParaRPr lang="en-US" sz="1250" dirty="0"/>
          </a:p>
        </p:txBody>
      </p:sp>
      <p:sp>
        <p:nvSpPr>
          <p:cNvPr id="34" name="Shape 32"/>
          <p:cNvSpPr/>
          <p:nvPr/>
        </p:nvSpPr>
        <p:spPr>
          <a:xfrm>
            <a:off x="731520" y="6153912"/>
            <a:ext cx="10698480" cy="0"/>
          </a:xfrm>
          <a:prstGeom prst="line">
            <a:avLst/>
          </a:prstGeom>
          <a:noFill/>
          <a:ln w="12700">
            <a:solidFill>
              <a:srgbClr val="DCE0E8"/>
            </a:solidFill>
            <a:prstDash val="solid"/>
          </a:ln>
        </p:spPr>
        <p:txBody>
          <a:bodyPr/>
          <a:lstStyle/>
          <a:p>
            <a:endParaRPr lang="ko-KR"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6. 형사처벌과 치료·재활의 효과</a:t>
            </a:r>
            <a:endParaRPr lang="en-US" sz="1250" dirty="0"/>
          </a:p>
        </p:txBody>
      </p:sp>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JDTC와 일반법원의 재체포 결과</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pPr marL="0" indent="0">
              <a:buNone/>
            </a:pPr>
            <a:r>
              <a:rPr lang="en-US" sz="2700" b="1" dirty="0">
                <a:solidFill>
                  <a:srgbClr val="1E2761"/>
                </a:solidFill>
                <a:latin typeface="Pretendard" pitchFamily="34" charset="0"/>
                <a:ea typeface="Pretendard" pitchFamily="34" charset="-122"/>
                <a:cs typeface="Pretendard" pitchFamily="34" charset="-120"/>
              </a:rPr>
              <a:t>소년약물치료법원(JDTC) — 법원 감독과 치료를 묶은 경로</a:t>
            </a:r>
            <a:endParaRPr lang="en-US" sz="2700" dirty="0"/>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353312"/>
            <a:ext cx="10698480" cy="438912"/>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987552" y="1353312"/>
            <a:ext cx="10186416" cy="438912"/>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Belenko 연구는 약물사용 문제와 재범위험이 있는 14~17세 청소년을 일반 소년법원 경로와 JDTC 경로에서 비교했다</a:t>
            </a:r>
            <a:endParaRPr lang="en-US" sz="1250" dirty="0"/>
          </a:p>
        </p:txBody>
      </p:sp>
      <p:sp>
        <p:nvSpPr>
          <p:cNvPr id="8" name="Shape 6"/>
          <p:cNvSpPr/>
          <p:nvPr/>
        </p:nvSpPr>
        <p:spPr>
          <a:xfrm>
            <a:off x="746760" y="1935400"/>
            <a:ext cx="10698480" cy="914400"/>
          </a:xfrm>
          <a:prstGeom prst="rect">
            <a:avLst/>
          </a:prstGeom>
          <a:solidFill>
            <a:srgbClr val="FFFFFF"/>
          </a:solidFill>
          <a:ln w="12700">
            <a:solidFill>
              <a:srgbClr val="DCE0E8"/>
            </a:solidFill>
            <a:prstDash val="solid"/>
          </a:ln>
        </p:spPr>
        <p:txBody>
          <a:bodyPr/>
          <a:lstStyle/>
          <a:p>
            <a:endParaRPr lang="ko-KR" altLang="en-US"/>
          </a:p>
        </p:txBody>
      </p:sp>
      <p:sp>
        <p:nvSpPr>
          <p:cNvPr id="9" name="Text 7"/>
          <p:cNvSpPr/>
          <p:nvPr/>
        </p:nvSpPr>
        <p:spPr>
          <a:xfrm>
            <a:off x="1005840" y="1993392"/>
            <a:ext cx="10149840" cy="274320"/>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소년약물치료법원 (Juvenile Drug Treatment Court, JDTC)</a:t>
            </a:r>
            <a:endParaRPr lang="en-US" sz="1300" dirty="0"/>
          </a:p>
        </p:txBody>
      </p:sp>
      <p:sp>
        <p:nvSpPr>
          <p:cNvPr id="10" name="Text 8"/>
          <p:cNvSpPr/>
          <p:nvPr/>
        </p:nvSpPr>
        <p:spPr>
          <a:xfrm>
            <a:off x="1005840" y="2267712"/>
            <a:ext cx="10149840" cy="274320"/>
          </a:xfrm>
          <a:prstGeom prst="rect">
            <a:avLst/>
          </a:prstGeom>
          <a:noFill/>
          <a:ln/>
        </p:spPr>
        <p:txBody>
          <a:bodyPr wrap="square" lIns="0" tIns="0" rIns="0" bIns="0" rtlCol="0" anchor="ctr"/>
          <a:lstStyle/>
          <a:p>
            <a:pPr marL="0" indent="0">
              <a:buNone/>
            </a:pPr>
            <a:r>
              <a:rPr lang="en-US" sz="1200" b="1" dirty="0">
                <a:solidFill>
                  <a:srgbClr val="222633"/>
                </a:solidFill>
                <a:highlight>
                  <a:srgbClr val="FFFF00"/>
                </a:highlight>
                <a:latin typeface="Pretendard" pitchFamily="34" charset="0"/>
                <a:ea typeface="Pretendard" pitchFamily="34" charset="-122"/>
                <a:cs typeface="Pretendard" pitchFamily="34" charset="-120"/>
              </a:rPr>
              <a:t>약물사용 문제가 있는 소년사법 대상 청소년에게 일반 소년법원 절차보다 치료 · 사례관리 · 가족참여 · 약물검사와 법원의 지속적 감독을 더 체계적으로 결합한 전문 법원 경로</a:t>
            </a:r>
            <a:endParaRPr lang="en-US" sz="1200" b="1" dirty="0">
              <a:highlight>
                <a:srgbClr val="FFFF00"/>
              </a:highlight>
            </a:endParaRPr>
          </a:p>
        </p:txBody>
      </p:sp>
      <p:sp>
        <p:nvSpPr>
          <p:cNvPr id="11" name="Text 9"/>
          <p:cNvSpPr/>
          <p:nvPr/>
        </p:nvSpPr>
        <p:spPr>
          <a:xfrm>
            <a:off x="1005840" y="2523744"/>
            <a:ext cx="10149840" cy="256032"/>
          </a:xfrm>
          <a:prstGeom prst="rect">
            <a:avLst/>
          </a:prstGeom>
          <a:noFill/>
          <a:ln/>
        </p:spPr>
        <p:txBody>
          <a:bodyPr wrap="square" lIns="0" tIns="0" rIns="0" bIns="0" rtlCol="0" anchor="ctr"/>
          <a:lstStyle/>
          <a:p>
            <a:pPr marL="0" indent="0">
              <a:buNone/>
            </a:pPr>
            <a:r>
              <a:rPr lang="en-US" sz="1050" b="1" dirty="0">
                <a:solidFill>
                  <a:srgbClr val="6E7686"/>
                </a:solidFill>
                <a:latin typeface="Pretendard" pitchFamily="34" charset="0"/>
                <a:ea typeface="Pretendard" pitchFamily="34" charset="-122"/>
                <a:cs typeface="Pretendard" pitchFamily="34" charset="-120"/>
              </a:rPr>
              <a:t>치료기관으로 사건을 넘기고 법원이 손을 떼는 방식이 아니라, 치료 참여와 약물사용 여부를 법원이 계속 확인하면서 경로 전체를 관리한다</a:t>
            </a:r>
            <a:endParaRPr lang="en-US" sz="1050" b="1" dirty="0"/>
          </a:p>
        </p:txBody>
      </p:sp>
      <p:sp>
        <p:nvSpPr>
          <p:cNvPr id="12" name="Text 10"/>
          <p:cNvSpPr/>
          <p:nvPr/>
        </p:nvSpPr>
        <p:spPr>
          <a:xfrm>
            <a:off x="731520" y="2944368"/>
            <a:ext cx="10698480" cy="256032"/>
          </a:xfrm>
          <a:prstGeom prst="rect">
            <a:avLst/>
          </a:prstGeom>
          <a:noFill/>
          <a:ln/>
        </p:spPr>
        <p:txBody>
          <a:bodyPr wrap="square" lIns="0" tIns="0" rIns="0" bIns="0" rtlCol="0" anchor="ctr"/>
          <a:lstStyle/>
          <a:p>
            <a:pPr marL="0" indent="0">
              <a:buNone/>
            </a:pPr>
            <a:r>
              <a:rPr lang="en-US" sz="1100" b="1" dirty="0">
                <a:solidFill>
                  <a:srgbClr val="A8871C"/>
                </a:solidFill>
                <a:latin typeface="Pretendard" pitchFamily="34" charset="0"/>
                <a:ea typeface="Pretendard" pitchFamily="34" charset="-122"/>
                <a:cs typeface="Pretendard" pitchFamily="34" charset="-120"/>
              </a:rPr>
              <a:t>Belenko et al. 평가 대상 │ </a:t>
            </a:r>
            <a:r>
              <a:rPr lang="en-US" sz="1100" b="1" dirty="0">
                <a:solidFill>
                  <a:srgbClr val="222633"/>
                </a:solidFill>
                <a:latin typeface="Pretendard" pitchFamily="34" charset="0"/>
                <a:ea typeface="Pretendard" pitchFamily="34" charset="-122"/>
                <a:cs typeface="Pretendard" pitchFamily="34" charset="-120"/>
              </a:rPr>
              <a:t>14~17세  ·  약물사용 문제  ·  중등도 이상 재범위험이 있는 소년사법 대상 청소년</a:t>
            </a:r>
            <a:endParaRPr lang="en-US" sz="1100" b="1" dirty="0"/>
          </a:p>
        </p:txBody>
      </p:sp>
      <p:sp>
        <p:nvSpPr>
          <p:cNvPr id="13" name="Shape 11"/>
          <p:cNvSpPr/>
          <p:nvPr/>
        </p:nvSpPr>
        <p:spPr>
          <a:xfrm>
            <a:off x="731520" y="3291840"/>
            <a:ext cx="4171348" cy="2432304"/>
          </a:xfrm>
          <a:prstGeom prst="rect">
            <a:avLst/>
          </a:prstGeom>
          <a:solidFill>
            <a:srgbClr val="F2F4F8"/>
          </a:solidFill>
          <a:ln w="12700">
            <a:solidFill>
              <a:srgbClr val="F2F4F8"/>
            </a:solidFill>
            <a:prstDash val="solid"/>
          </a:ln>
        </p:spPr>
        <p:txBody>
          <a:bodyPr/>
          <a:lstStyle/>
          <a:p>
            <a:endParaRPr lang="ko-KR" altLang="en-US"/>
          </a:p>
        </p:txBody>
      </p:sp>
      <p:sp>
        <p:nvSpPr>
          <p:cNvPr id="14" name="Text 12"/>
          <p:cNvSpPr/>
          <p:nvPr/>
        </p:nvSpPr>
        <p:spPr>
          <a:xfrm>
            <a:off x="950976" y="3328416"/>
            <a:ext cx="3675888" cy="256032"/>
          </a:xfrm>
          <a:prstGeom prst="rect">
            <a:avLst/>
          </a:prstGeom>
          <a:noFill/>
          <a:ln/>
        </p:spPr>
        <p:txBody>
          <a:bodyPr wrap="square" lIns="0" tIns="0" rIns="0" bIns="0" rtlCol="0" anchor="ctr"/>
          <a:lstStyle/>
          <a:p>
            <a:pPr marL="0" indent="0">
              <a:buNone/>
            </a:pPr>
            <a:r>
              <a:rPr lang="en-US" sz="1400" b="1" dirty="0">
                <a:solidFill>
                  <a:srgbClr val="1E2761"/>
                </a:solidFill>
                <a:latin typeface="Pretendard" pitchFamily="34" charset="0"/>
                <a:ea typeface="Pretendard" pitchFamily="34" charset="-122"/>
                <a:cs typeface="Pretendard" pitchFamily="34" charset="-120"/>
              </a:rPr>
              <a:t>일반 소년법원</a:t>
            </a:r>
            <a:endParaRPr lang="en-US" sz="1400" dirty="0"/>
          </a:p>
        </p:txBody>
      </p:sp>
      <p:sp>
        <p:nvSpPr>
          <p:cNvPr id="15" name="Text 13"/>
          <p:cNvSpPr/>
          <p:nvPr/>
        </p:nvSpPr>
        <p:spPr>
          <a:xfrm>
            <a:off x="950976" y="3566160"/>
            <a:ext cx="3675888" cy="201168"/>
          </a:xfrm>
          <a:prstGeom prst="rect">
            <a:avLst/>
          </a:prstGeom>
          <a:noFill/>
          <a:ln/>
        </p:spPr>
        <p:txBody>
          <a:bodyPr wrap="square" lIns="0" tIns="0" rIns="0" bIns="0" rtlCol="0" anchor="ctr"/>
          <a:lstStyle/>
          <a:p>
            <a:pPr marL="0" indent="0">
              <a:buNone/>
            </a:pPr>
            <a:r>
              <a:rPr lang="en-US" sz="950" dirty="0">
                <a:solidFill>
                  <a:srgbClr val="6E7686"/>
                </a:solidFill>
                <a:latin typeface="Pretendard" pitchFamily="34" charset="0"/>
                <a:ea typeface="Pretendard" pitchFamily="34" charset="-122"/>
                <a:cs typeface="Pretendard" pitchFamily="34" charset="-120"/>
              </a:rPr>
              <a:t>Traditional Juvenile Court, TJC</a:t>
            </a:r>
            <a:endParaRPr lang="en-US" sz="950" dirty="0"/>
          </a:p>
        </p:txBody>
      </p:sp>
      <p:sp>
        <p:nvSpPr>
          <p:cNvPr id="16" name="Text 14"/>
          <p:cNvSpPr/>
          <p:nvPr/>
        </p:nvSpPr>
        <p:spPr>
          <a:xfrm>
            <a:off x="822960" y="3895344"/>
            <a:ext cx="3931920" cy="438912"/>
          </a:xfrm>
          <a:prstGeom prst="rect">
            <a:avLst/>
          </a:prstGeom>
          <a:noFill/>
          <a:ln/>
        </p:spPr>
        <p:txBody>
          <a:bodyPr wrap="square" lIns="0" tIns="0" rIns="0" bIns="0" rtlCol="0" anchor="t"/>
          <a:lstStyle/>
          <a:p>
            <a:pPr marL="0" indent="0">
              <a:lnSpc>
                <a:spcPts val="1800"/>
              </a:lnSpc>
              <a:buNone/>
            </a:pPr>
            <a:r>
              <a:rPr lang="en-US" sz="1150" dirty="0">
                <a:solidFill>
                  <a:srgbClr val="222633"/>
                </a:solidFill>
                <a:latin typeface="Pretendard" pitchFamily="34" charset="0"/>
                <a:ea typeface="Pretendard" pitchFamily="34" charset="-122"/>
                <a:cs typeface="Pretendard" pitchFamily="34" charset="-120"/>
              </a:rPr>
              <a:t>· 일반 소년법원 절차에서 사건을 처리한다</a:t>
            </a:r>
            <a:endParaRPr lang="en-US" sz="1150" dirty="0"/>
          </a:p>
        </p:txBody>
      </p:sp>
      <p:sp>
        <p:nvSpPr>
          <p:cNvPr id="17" name="Text 15"/>
          <p:cNvSpPr/>
          <p:nvPr/>
        </p:nvSpPr>
        <p:spPr>
          <a:xfrm>
            <a:off x="822960" y="4370832"/>
            <a:ext cx="4023360" cy="438912"/>
          </a:xfrm>
          <a:prstGeom prst="rect">
            <a:avLst/>
          </a:prstGeom>
          <a:noFill/>
          <a:ln/>
        </p:spPr>
        <p:txBody>
          <a:bodyPr wrap="square" lIns="0" tIns="0" rIns="0" bIns="0" rtlCol="0" anchor="t"/>
          <a:lstStyle/>
          <a:p>
            <a:pPr marL="0" indent="0">
              <a:lnSpc>
                <a:spcPts val="1800"/>
              </a:lnSpc>
              <a:buNone/>
            </a:pPr>
            <a:r>
              <a:rPr lang="en-US" sz="1150" dirty="0">
                <a:solidFill>
                  <a:srgbClr val="222633"/>
                </a:solidFill>
                <a:latin typeface="Pretendard" pitchFamily="34" charset="0"/>
                <a:ea typeface="Pretendard" pitchFamily="34" charset="-122"/>
                <a:cs typeface="Pretendard" pitchFamily="34" charset="-120"/>
              </a:rPr>
              <a:t>· 지역사회에 </a:t>
            </a:r>
            <a:r>
              <a:rPr lang="en-US" sz="1150" b="1" dirty="0">
                <a:solidFill>
                  <a:srgbClr val="222633"/>
                </a:solidFill>
                <a:latin typeface="Pretendard" pitchFamily="34" charset="0"/>
                <a:ea typeface="Pretendard" pitchFamily="34" charset="-122"/>
                <a:cs typeface="Pretendard" pitchFamily="34" charset="-120"/>
              </a:rPr>
              <a:t>이미 존재하는 약물치료 · 상담 · 서비스를 이용할 수 있다</a:t>
            </a:r>
            <a:endParaRPr lang="en-US" sz="1150" b="1" dirty="0"/>
          </a:p>
        </p:txBody>
      </p:sp>
      <p:sp>
        <p:nvSpPr>
          <p:cNvPr id="18" name="Text 16"/>
          <p:cNvSpPr/>
          <p:nvPr/>
        </p:nvSpPr>
        <p:spPr>
          <a:xfrm>
            <a:off x="822960" y="4846320"/>
            <a:ext cx="3931920" cy="438912"/>
          </a:xfrm>
          <a:prstGeom prst="rect">
            <a:avLst/>
          </a:prstGeom>
          <a:noFill/>
          <a:ln/>
        </p:spPr>
        <p:txBody>
          <a:bodyPr wrap="square" lIns="0" tIns="0" rIns="0" bIns="0" rtlCol="0" anchor="t"/>
          <a:lstStyle/>
          <a:p>
            <a:pPr marL="0" indent="0">
              <a:lnSpc>
                <a:spcPts val="1800"/>
              </a:lnSpc>
              <a:buNone/>
            </a:pPr>
            <a:r>
              <a:rPr lang="en-US" sz="1150" dirty="0">
                <a:solidFill>
                  <a:srgbClr val="222633"/>
                </a:solidFill>
                <a:latin typeface="Pretendard" pitchFamily="34" charset="0"/>
                <a:ea typeface="Pretendard" pitchFamily="34" charset="-122"/>
                <a:cs typeface="Pretendard" pitchFamily="34" charset="-120"/>
              </a:rPr>
              <a:t>· </a:t>
            </a:r>
            <a:r>
              <a:rPr lang="en-US" sz="1150" b="1" dirty="0">
                <a:solidFill>
                  <a:srgbClr val="222633"/>
                </a:solidFill>
                <a:latin typeface="Pretendard" pitchFamily="34" charset="0"/>
                <a:ea typeface="Pretendard" pitchFamily="34" charset="-122"/>
                <a:cs typeface="Pretendard" pitchFamily="34" charset="-120"/>
              </a:rPr>
              <a:t>일부 법원은 가족참여 · 사례관리 등 JDTC와 비슷한 </a:t>
            </a:r>
            <a:r>
              <a:rPr lang="en-US" sz="1150" b="1" dirty="0" err="1">
                <a:solidFill>
                  <a:srgbClr val="222633"/>
                </a:solidFill>
                <a:latin typeface="Pretendard" pitchFamily="34" charset="0"/>
                <a:ea typeface="Pretendard" pitchFamily="34" charset="-122"/>
                <a:cs typeface="Pretendard" pitchFamily="34" charset="-120"/>
              </a:rPr>
              <a:t>요소도</a:t>
            </a:r>
            <a:r>
              <a:rPr lang="en-US" sz="1150" b="1" dirty="0">
                <a:solidFill>
                  <a:srgbClr val="222633"/>
                </a:solidFill>
                <a:latin typeface="Pretendard" pitchFamily="34" charset="0"/>
                <a:ea typeface="Pretendard" pitchFamily="34" charset="-122"/>
                <a:cs typeface="Pretendard" pitchFamily="34" charset="-120"/>
              </a:rPr>
              <a:t> </a:t>
            </a:r>
            <a:r>
              <a:rPr lang="en-US" sz="1150" b="1" dirty="0" err="1">
                <a:solidFill>
                  <a:srgbClr val="222633"/>
                </a:solidFill>
                <a:latin typeface="Pretendard" pitchFamily="34" charset="0"/>
                <a:ea typeface="Pretendard" pitchFamily="34" charset="-122"/>
                <a:cs typeface="Pretendard" pitchFamily="34" charset="-120"/>
              </a:rPr>
              <a:t>부분적</a:t>
            </a:r>
            <a:r>
              <a:rPr lang="en-US" sz="1150" b="1" dirty="0">
                <a:solidFill>
                  <a:srgbClr val="222633"/>
                </a:solidFill>
                <a:latin typeface="Pretendard" pitchFamily="34" charset="0"/>
                <a:ea typeface="Pretendard" pitchFamily="34" charset="-122"/>
                <a:cs typeface="Pretendard" pitchFamily="34" charset="-120"/>
              </a:rPr>
              <a:t> </a:t>
            </a:r>
          </a:p>
          <a:p>
            <a:pPr marL="0" indent="0">
              <a:lnSpc>
                <a:spcPts val="1800"/>
              </a:lnSpc>
              <a:buNone/>
            </a:pPr>
            <a:r>
              <a:rPr lang="en-US" sz="1150" b="1" dirty="0">
                <a:solidFill>
                  <a:srgbClr val="222633"/>
                </a:solidFill>
                <a:latin typeface="Pretendard" pitchFamily="34" charset="0"/>
                <a:ea typeface="Pretendard" pitchFamily="34" charset="-122"/>
                <a:cs typeface="Pretendard" pitchFamily="34" charset="-120"/>
              </a:rPr>
              <a:t>  </a:t>
            </a:r>
            <a:r>
              <a:rPr lang="en-US" sz="1150" b="1" dirty="0" err="1">
                <a:solidFill>
                  <a:srgbClr val="222633"/>
                </a:solidFill>
                <a:latin typeface="Pretendard" pitchFamily="34" charset="0"/>
                <a:ea typeface="Pretendard" pitchFamily="34" charset="-122"/>
                <a:cs typeface="Pretendard" pitchFamily="34" charset="-120"/>
              </a:rPr>
              <a:t>으로</a:t>
            </a:r>
            <a:r>
              <a:rPr lang="en-US" sz="1150" b="1" dirty="0">
                <a:solidFill>
                  <a:srgbClr val="222633"/>
                </a:solidFill>
                <a:latin typeface="Pretendard" pitchFamily="34" charset="0"/>
                <a:ea typeface="Pretendard" pitchFamily="34" charset="-122"/>
                <a:cs typeface="Pretendard" pitchFamily="34" charset="-120"/>
              </a:rPr>
              <a:t> 운영</a:t>
            </a:r>
            <a:r>
              <a:rPr lang="en-US" sz="1150" dirty="0">
                <a:solidFill>
                  <a:srgbClr val="222633"/>
                </a:solidFill>
                <a:latin typeface="Pretendard" pitchFamily="34" charset="0"/>
                <a:ea typeface="Pretendard" pitchFamily="34" charset="-122"/>
                <a:cs typeface="Pretendard" pitchFamily="34" charset="-120"/>
              </a:rPr>
              <a:t>하고 있었다</a:t>
            </a:r>
            <a:endParaRPr lang="en-US" sz="1150" dirty="0"/>
          </a:p>
        </p:txBody>
      </p:sp>
      <p:sp>
        <p:nvSpPr>
          <p:cNvPr id="19" name="Text 17"/>
          <p:cNvSpPr/>
          <p:nvPr/>
        </p:nvSpPr>
        <p:spPr>
          <a:xfrm>
            <a:off x="822960" y="5358384"/>
            <a:ext cx="3931920" cy="274320"/>
          </a:xfrm>
          <a:prstGeom prst="rect">
            <a:avLst/>
          </a:prstGeom>
          <a:noFill/>
          <a:ln/>
        </p:spPr>
        <p:txBody>
          <a:bodyPr wrap="square" lIns="0" tIns="0" rIns="0" bIns="0" rtlCol="0" anchor="ctr"/>
          <a:lstStyle/>
          <a:p>
            <a:pPr marL="0" indent="0">
              <a:buNone/>
            </a:pPr>
            <a:r>
              <a:rPr lang="en-US" sz="1200" b="1" dirty="0">
                <a:solidFill>
                  <a:srgbClr val="A8871C"/>
                </a:solidFill>
                <a:latin typeface="Pretendard" pitchFamily="34" charset="0"/>
                <a:ea typeface="Pretendard" pitchFamily="34" charset="-122"/>
                <a:cs typeface="Pretendard" pitchFamily="34" charset="-120"/>
              </a:rPr>
              <a:t>치료가 없는 경로는 아니다</a:t>
            </a:r>
            <a:endParaRPr lang="en-US" sz="1200" dirty="0"/>
          </a:p>
        </p:txBody>
      </p:sp>
      <p:sp>
        <p:nvSpPr>
          <p:cNvPr id="20" name="Shape 18"/>
          <p:cNvSpPr/>
          <p:nvPr/>
        </p:nvSpPr>
        <p:spPr>
          <a:xfrm>
            <a:off x="5173579" y="3291840"/>
            <a:ext cx="6283853" cy="2432304"/>
          </a:xfrm>
          <a:prstGeom prst="rect">
            <a:avLst/>
          </a:prstGeom>
          <a:solidFill>
            <a:srgbClr val="1E2761"/>
          </a:solidFill>
          <a:ln w="12700">
            <a:solidFill>
              <a:srgbClr val="1E2761"/>
            </a:solidFill>
            <a:prstDash val="solid"/>
          </a:ln>
        </p:spPr>
        <p:txBody>
          <a:bodyPr/>
          <a:lstStyle/>
          <a:p>
            <a:endParaRPr lang="ko-KR" altLang="en-US"/>
          </a:p>
        </p:txBody>
      </p:sp>
      <p:sp>
        <p:nvSpPr>
          <p:cNvPr id="21" name="Text 19"/>
          <p:cNvSpPr/>
          <p:nvPr/>
        </p:nvSpPr>
        <p:spPr>
          <a:xfrm>
            <a:off x="5468112" y="3328416"/>
            <a:ext cx="5742432" cy="256032"/>
          </a:xfrm>
          <a:prstGeom prst="rect">
            <a:avLst/>
          </a:prstGeom>
          <a:noFill/>
          <a:ln/>
        </p:spPr>
        <p:txBody>
          <a:bodyPr wrap="square" lIns="0" tIns="0" rIns="0" bIns="0" rtlCol="0" anchor="ctr"/>
          <a:lstStyle/>
          <a:p>
            <a:pPr marL="0" indent="0">
              <a:buNone/>
            </a:pPr>
            <a:r>
              <a:rPr lang="en-US" sz="1400" b="1" dirty="0">
                <a:solidFill>
                  <a:srgbClr val="FFFFFF"/>
                </a:solidFill>
                <a:latin typeface="Pretendard" pitchFamily="34" charset="0"/>
                <a:ea typeface="Pretendard" pitchFamily="34" charset="-122"/>
                <a:cs typeface="Pretendard" pitchFamily="34" charset="-120"/>
              </a:rPr>
              <a:t>소년약물치료법원</a:t>
            </a:r>
            <a:endParaRPr lang="en-US" sz="1400" dirty="0"/>
          </a:p>
        </p:txBody>
      </p:sp>
      <p:sp>
        <p:nvSpPr>
          <p:cNvPr id="22" name="Text 20"/>
          <p:cNvSpPr/>
          <p:nvPr/>
        </p:nvSpPr>
        <p:spPr>
          <a:xfrm>
            <a:off x="5468112" y="3566160"/>
            <a:ext cx="5742432" cy="201168"/>
          </a:xfrm>
          <a:prstGeom prst="rect">
            <a:avLst/>
          </a:prstGeom>
          <a:noFill/>
          <a:ln/>
        </p:spPr>
        <p:txBody>
          <a:bodyPr wrap="square" lIns="0" tIns="0" rIns="0" bIns="0" rtlCol="0" anchor="ctr"/>
          <a:lstStyle/>
          <a:p>
            <a:pPr marL="0" indent="0">
              <a:buNone/>
            </a:pPr>
            <a:r>
              <a:rPr lang="en-US" sz="950" dirty="0">
                <a:solidFill>
                  <a:srgbClr val="AFBBD9"/>
                </a:solidFill>
                <a:latin typeface="Pretendard" pitchFamily="34" charset="0"/>
                <a:ea typeface="Pretendard" pitchFamily="34" charset="-122"/>
                <a:cs typeface="Pretendard" pitchFamily="34" charset="-120"/>
              </a:rPr>
              <a:t>Juvenile Drug Treatment Court, JDTC</a:t>
            </a:r>
            <a:endParaRPr lang="en-US" sz="950" dirty="0"/>
          </a:p>
        </p:txBody>
      </p:sp>
      <p:sp>
        <p:nvSpPr>
          <p:cNvPr id="23" name="Shape 21"/>
          <p:cNvSpPr/>
          <p:nvPr/>
        </p:nvSpPr>
        <p:spPr>
          <a:xfrm>
            <a:off x="5305926" y="3895344"/>
            <a:ext cx="2923674" cy="804672"/>
          </a:xfrm>
          <a:prstGeom prst="rect">
            <a:avLst/>
          </a:prstGeom>
          <a:solidFill>
            <a:srgbClr val="FFFFFF"/>
          </a:solidFill>
          <a:ln w="12700">
            <a:solidFill>
              <a:srgbClr val="DCE0E8"/>
            </a:solidFill>
            <a:prstDash val="solid"/>
          </a:ln>
        </p:spPr>
        <p:txBody>
          <a:bodyPr/>
          <a:lstStyle/>
          <a:p>
            <a:endParaRPr lang="ko-KR" altLang="en-US"/>
          </a:p>
        </p:txBody>
      </p:sp>
      <p:sp>
        <p:nvSpPr>
          <p:cNvPr id="24" name="Text 22"/>
          <p:cNvSpPr/>
          <p:nvPr/>
        </p:nvSpPr>
        <p:spPr>
          <a:xfrm>
            <a:off x="5394960" y="3968496"/>
            <a:ext cx="2688336" cy="274320"/>
          </a:xfrm>
          <a:prstGeom prst="rect">
            <a:avLst/>
          </a:prstGeom>
          <a:noFill/>
          <a:ln/>
        </p:spPr>
        <p:txBody>
          <a:bodyPr wrap="square" lIns="0" tIns="0" rIns="0" bIns="0" rtlCol="0" anchor="ctr"/>
          <a:lstStyle/>
          <a:p>
            <a:pPr marL="0" indent="0">
              <a:buNone/>
            </a:pPr>
            <a:r>
              <a:rPr lang="en-US" sz="1100" b="1" dirty="0">
                <a:solidFill>
                  <a:srgbClr val="1E2761"/>
                </a:solidFill>
                <a:latin typeface="Pretendard" pitchFamily="34" charset="0"/>
                <a:ea typeface="Pretendard" pitchFamily="34" charset="-122"/>
                <a:cs typeface="Pretendard" pitchFamily="34" charset="-120"/>
              </a:rPr>
              <a:t>① </a:t>
            </a:r>
            <a:r>
              <a:rPr lang="en-US" sz="1100" b="1" dirty="0" err="1">
                <a:solidFill>
                  <a:srgbClr val="1E2761"/>
                </a:solidFill>
                <a:latin typeface="Pretendard" pitchFamily="34" charset="0"/>
                <a:ea typeface="Pretendard" pitchFamily="34" charset="-122"/>
                <a:cs typeface="Pretendard" pitchFamily="34" charset="-120"/>
              </a:rPr>
              <a:t>문제를</a:t>
            </a:r>
            <a:r>
              <a:rPr lang="en-US" sz="1100" b="1" dirty="0">
                <a:solidFill>
                  <a:srgbClr val="1E2761"/>
                </a:solidFill>
                <a:latin typeface="Pretendard" pitchFamily="34" charset="0"/>
                <a:ea typeface="Pretendard" pitchFamily="34" charset="-122"/>
                <a:cs typeface="Pretendard" pitchFamily="34" charset="-120"/>
              </a:rPr>
              <a:t> </a:t>
            </a:r>
            <a:r>
              <a:rPr lang="en-US" sz="1100" b="1" dirty="0" err="1">
                <a:solidFill>
                  <a:srgbClr val="1E2761"/>
                </a:solidFill>
                <a:latin typeface="Pretendard" pitchFamily="34" charset="0"/>
                <a:ea typeface="Pretendard" pitchFamily="34" charset="-122"/>
                <a:cs typeface="Pretendard" pitchFamily="34" charset="-120"/>
              </a:rPr>
              <a:t>평가하고</a:t>
            </a:r>
            <a:r>
              <a:rPr lang="en-US" sz="1100" b="1" dirty="0">
                <a:solidFill>
                  <a:srgbClr val="1E2761"/>
                </a:solidFill>
                <a:latin typeface="Pretendard" pitchFamily="34" charset="0"/>
                <a:ea typeface="Pretendard" pitchFamily="34" charset="-122"/>
                <a:cs typeface="Pretendard" pitchFamily="34" charset="-120"/>
              </a:rPr>
              <a:t>, </a:t>
            </a:r>
            <a:r>
              <a:rPr lang="ko-KR" altLang="en-US" sz="1100" b="1" dirty="0">
                <a:solidFill>
                  <a:srgbClr val="1E2761"/>
                </a:solidFill>
                <a:latin typeface="Pretendard" pitchFamily="34" charset="0"/>
                <a:ea typeface="Pretendard" pitchFamily="34" charset="-122"/>
                <a:cs typeface="Pretendard" pitchFamily="34" charset="-120"/>
              </a:rPr>
              <a:t>맞춤형 </a:t>
            </a:r>
            <a:r>
              <a:rPr lang="en-US" sz="1100" b="1" dirty="0" err="1">
                <a:solidFill>
                  <a:srgbClr val="1E2761"/>
                </a:solidFill>
                <a:latin typeface="Pretendard" pitchFamily="34" charset="0"/>
                <a:ea typeface="Pretendard" pitchFamily="34" charset="-122"/>
                <a:cs typeface="Pretendard" pitchFamily="34" charset="-120"/>
              </a:rPr>
              <a:t>치료를</a:t>
            </a:r>
            <a:r>
              <a:rPr lang="en-US" sz="1100" b="1" dirty="0">
                <a:solidFill>
                  <a:srgbClr val="1E2761"/>
                </a:solidFill>
                <a:latin typeface="Pretendard" pitchFamily="34" charset="0"/>
                <a:ea typeface="Pretendard" pitchFamily="34" charset="-122"/>
                <a:cs typeface="Pretendard" pitchFamily="34" charset="-120"/>
              </a:rPr>
              <a:t> 연결</a:t>
            </a:r>
            <a:endParaRPr lang="en-US" sz="1100" dirty="0"/>
          </a:p>
        </p:txBody>
      </p:sp>
      <p:sp>
        <p:nvSpPr>
          <p:cNvPr id="25" name="Text 23"/>
          <p:cNvSpPr/>
          <p:nvPr/>
        </p:nvSpPr>
        <p:spPr>
          <a:xfrm>
            <a:off x="5394960" y="4224528"/>
            <a:ext cx="2688336" cy="420624"/>
          </a:xfrm>
          <a:prstGeom prst="rect">
            <a:avLst/>
          </a:prstGeom>
          <a:noFill/>
          <a:ln/>
        </p:spPr>
        <p:txBody>
          <a:bodyPr wrap="square" lIns="0" tIns="0" rIns="0" bIns="0" rtlCol="0" anchor="t"/>
          <a:lstStyle/>
          <a:p>
            <a:pPr marL="0" indent="0">
              <a:lnSpc>
                <a:spcPts val="1400"/>
              </a:lnSpc>
              <a:buNone/>
            </a:pPr>
            <a:r>
              <a:rPr lang="en-US" sz="1000" dirty="0">
                <a:solidFill>
                  <a:srgbClr val="464D5C"/>
                </a:solidFill>
                <a:latin typeface="Pretendard" pitchFamily="34" charset="0"/>
                <a:ea typeface="Pretendard" pitchFamily="34" charset="-122"/>
                <a:cs typeface="Pretendard" pitchFamily="34" charset="-120"/>
              </a:rPr>
              <a:t>약물사용 · 재범위험 · 정신건강을 평가하고, 근거기반 치료와 서비스를 개인별로 연결</a:t>
            </a:r>
            <a:endParaRPr lang="en-US" sz="1000" dirty="0"/>
          </a:p>
        </p:txBody>
      </p:sp>
      <p:sp>
        <p:nvSpPr>
          <p:cNvPr id="26" name="Shape 24"/>
          <p:cNvSpPr/>
          <p:nvPr/>
        </p:nvSpPr>
        <p:spPr>
          <a:xfrm>
            <a:off x="8449056" y="3895344"/>
            <a:ext cx="2919984" cy="804672"/>
          </a:xfrm>
          <a:prstGeom prst="rect">
            <a:avLst/>
          </a:prstGeom>
          <a:solidFill>
            <a:srgbClr val="FFFFFF"/>
          </a:solidFill>
          <a:ln w="12700">
            <a:solidFill>
              <a:srgbClr val="DCE0E8"/>
            </a:solidFill>
            <a:prstDash val="solid"/>
          </a:ln>
        </p:spPr>
        <p:txBody>
          <a:bodyPr/>
          <a:lstStyle/>
          <a:p>
            <a:endParaRPr lang="ko-KR" altLang="en-US"/>
          </a:p>
        </p:txBody>
      </p:sp>
      <p:sp>
        <p:nvSpPr>
          <p:cNvPr id="27" name="Text 25"/>
          <p:cNvSpPr/>
          <p:nvPr/>
        </p:nvSpPr>
        <p:spPr>
          <a:xfrm>
            <a:off x="8595360" y="3968496"/>
            <a:ext cx="2688336" cy="274320"/>
          </a:xfrm>
          <a:prstGeom prst="rect">
            <a:avLst/>
          </a:prstGeom>
          <a:noFill/>
          <a:ln/>
        </p:spPr>
        <p:txBody>
          <a:bodyPr wrap="square" lIns="0" tIns="0" rIns="0" bIns="0" rtlCol="0" anchor="ctr"/>
          <a:lstStyle/>
          <a:p>
            <a:pPr marL="0" indent="0">
              <a:buNone/>
            </a:pPr>
            <a:r>
              <a:rPr lang="en-US" sz="1100" b="1" dirty="0">
                <a:solidFill>
                  <a:srgbClr val="1E2761"/>
                </a:solidFill>
                <a:latin typeface="Pretendard" pitchFamily="34" charset="0"/>
                <a:ea typeface="Pretendard" pitchFamily="34" charset="-122"/>
                <a:cs typeface="Pretendard" pitchFamily="34" charset="-120"/>
              </a:rPr>
              <a:t>② 가족까지 치료과정에 참여</a:t>
            </a:r>
            <a:endParaRPr lang="en-US" sz="1100" dirty="0"/>
          </a:p>
        </p:txBody>
      </p:sp>
      <p:sp>
        <p:nvSpPr>
          <p:cNvPr id="28" name="Text 26"/>
          <p:cNvSpPr/>
          <p:nvPr/>
        </p:nvSpPr>
        <p:spPr>
          <a:xfrm>
            <a:off x="8595360" y="4224528"/>
            <a:ext cx="2688336" cy="420624"/>
          </a:xfrm>
          <a:prstGeom prst="rect">
            <a:avLst/>
          </a:prstGeom>
          <a:noFill/>
          <a:ln/>
        </p:spPr>
        <p:txBody>
          <a:bodyPr wrap="square" lIns="0" tIns="0" rIns="0" bIns="0" rtlCol="0" anchor="t"/>
          <a:lstStyle/>
          <a:p>
            <a:pPr marL="0" indent="0">
              <a:lnSpc>
                <a:spcPts val="1400"/>
              </a:lnSpc>
              <a:buNone/>
            </a:pPr>
            <a:r>
              <a:rPr lang="en-US" sz="1000" dirty="0">
                <a:solidFill>
                  <a:srgbClr val="464D5C"/>
                </a:solidFill>
                <a:latin typeface="Pretendard" pitchFamily="34" charset="0"/>
                <a:ea typeface="Pretendard" pitchFamily="34" charset="-122"/>
                <a:cs typeface="Pretendard" pitchFamily="34" charset="-120"/>
              </a:rPr>
              <a:t>부모 · 보호자가 법원과 치료과정에 참여하고 가정에서의 관리와 회복을 함께 다룸</a:t>
            </a:r>
            <a:endParaRPr lang="en-US" sz="1000" dirty="0"/>
          </a:p>
        </p:txBody>
      </p:sp>
      <p:sp>
        <p:nvSpPr>
          <p:cNvPr id="29" name="Shape 27"/>
          <p:cNvSpPr/>
          <p:nvPr/>
        </p:nvSpPr>
        <p:spPr>
          <a:xfrm>
            <a:off x="5305926" y="4791456"/>
            <a:ext cx="2923674" cy="804672"/>
          </a:xfrm>
          <a:prstGeom prst="rect">
            <a:avLst/>
          </a:prstGeom>
          <a:solidFill>
            <a:srgbClr val="FFFFFF"/>
          </a:solidFill>
          <a:ln w="12700">
            <a:solidFill>
              <a:srgbClr val="DCE0E8"/>
            </a:solidFill>
            <a:prstDash val="solid"/>
          </a:ln>
        </p:spPr>
        <p:txBody>
          <a:bodyPr/>
          <a:lstStyle/>
          <a:p>
            <a:endParaRPr lang="ko-KR" altLang="en-US"/>
          </a:p>
        </p:txBody>
      </p:sp>
      <p:sp>
        <p:nvSpPr>
          <p:cNvPr id="30" name="Text 28"/>
          <p:cNvSpPr/>
          <p:nvPr/>
        </p:nvSpPr>
        <p:spPr>
          <a:xfrm>
            <a:off x="5394960" y="4864608"/>
            <a:ext cx="2688336" cy="274320"/>
          </a:xfrm>
          <a:prstGeom prst="rect">
            <a:avLst/>
          </a:prstGeom>
          <a:noFill/>
          <a:ln/>
        </p:spPr>
        <p:txBody>
          <a:bodyPr wrap="square" lIns="0" tIns="0" rIns="0" bIns="0" rtlCol="0" anchor="ctr"/>
          <a:lstStyle/>
          <a:p>
            <a:pPr marL="0" indent="0">
              <a:buNone/>
            </a:pPr>
            <a:r>
              <a:rPr lang="en-US" sz="1100" b="1" dirty="0">
                <a:solidFill>
                  <a:srgbClr val="1E2761"/>
                </a:solidFill>
                <a:latin typeface="Pretendard" pitchFamily="34" charset="0"/>
                <a:ea typeface="Pretendard" pitchFamily="34" charset="-122"/>
                <a:cs typeface="Pretendard" pitchFamily="34" charset="-120"/>
              </a:rPr>
              <a:t>③ 법원이 사용중단과 참여를 계속 감독</a:t>
            </a:r>
            <a:endParaRPr lang="en-US" sz="1100" dirty="0"/>
          </a:p>
        </p:txBody>
      </p:sp>
      <p:sp>
        <p:nvSpPr>
          <p:cNvPr id="31" name="Text 29"/>
          <p:cNvSpPr/>
          <p:nvPr/>
        </p:nvSpPr>
        <p:spPr>
          <a:xfrm>
            <a:off x="5394960" y="5120640"/>
            <a:ext cx="2688336" cy="420624"/>
          </a:xfrm>
          <a:prstGeom prst="rect">
            <a:avLst/>
          </a:prstGeom>
          <a:noFill/>
          <a:ln/>
        </p:spPr>
        <p:txBody>
          <a:bodyPr wrap="square" lIns="0" tIns="0" rIns="0" bIns="0" rtlCol="0" anchor="t"/>
          <a:lstStyle/>
          <a:p>
            <a:pPr marL="0" indent="0">
              <a:lnSpc>
                <a:spcPts val="1400"/>
              </a:lnSpc>
              <a:buNone/>
            </a:pPr>
            <a:r>
              <a:rPr lang="en-US" sz="1000" dirty="0">
                <a:solidFill>
                  <a:srgbClr val="464D5C"/>
                </a:solidFill>
                <a:latin typeface="Pretendard" pitchFamily="34" charset="0"/>
                <a:ea typeface="Pretendard" pitchFamily="34" charset="-122"/>
                <a:cs typeface="Pretendard" pitchFamily="34" charset="-120"/>
              </a:rPr>
              <a:t>정기 약물검사 · 지역사회 감독으로 치료 참여와 준수사항 이행을 지속 확인</a:t>
            </a:r>
            <a:endParaRPr lang="en-US" sz="1000" dirty="0"/>
          </a:p>
        </p:txBody>
      </p:sp>
      <p:sp>
        <p:nvSpPr>
          <p:cNvPr id="32" name="Shape 30"/>
          <p:cNvSpPr/>
          <p:nvPr/>
        </p:nvSpPr>
        <p:spPr>
          <a:xfrm>
            <a:off x="8449056" y="4791456"/>
            <a:ext cx="2919984" cy="804672"/>
          </a:xfrm>
          <a:prstGeom prst="rect">
            <a:avLst/>
          </a:prstGeom>
          <a:solidFill>
            <a:srgbClr val="FFFFFF"/>
          </a:solidFill>
          <a:ln w="12700">
            <a:solidFill>
              <a:srgbClr val="DCE0E8"/>
            </a:solidFill>
            <a:prstDash val="solid"/>
          </a:ln>
        </p:spPr>
        <p:txBody>
          <a:bodyPr/>
          <a:lstStyle/>
          <a:p>
            <a:endParaRPr lang="ko-KR" altLang="en-US"/>
          </a:p>
        </p:txBody>
      </p:sp>
      <p:sp>
        <p:nvSpPr>
          <p:cNvPr id="33" name="Text 31"/>
          <p:cNvSpPr/>
          <p:nvPr/>
        </p:nvSpPr>
        <p:spPr>
          <a:xfrm>
            <a:off x="8595360" y="4864608"/>
            <a:ext cx="2688336" cy="274320"/>
          </a:xfrm>
          <a:prstGeom prst="rect">
            <a:avLst/>
          </a:prstGeom>
          <a:noFill/>
          <a:ln/>
        </p:spPr>
        <p:txBody>
          <a:bodyPr wrap="square" lIns="0" tIns="0" rIns="0" bIns="0" rtlCol="0" anchor="ctr"/>
          <a:lstStyle/>
          <a:p>
            <a:r>
              <a:rPr lang="en-US" sz="1100" b="1" dirty="0">
                <a:solidFill>
                  <a:srgbClr val="1E2761"/>
                </a:solidFill>
                <a:latin typeface="Pretendard" pitchFamily="34" charset="0"/>
                <a:ea typeface="Pretendard" pitchFamily="34" charset="-122"/>
                <a:cs typeface="Pretendard" pitchFamily="34" charset="-120"/>
              </a:rPr>
              <a:t>④ 보상 · </a:t>
            </a:r>
            <a:r>
              <a:rPr lang="en-US" sz="1100" b="1" dirty="0" err="1">
                <a:solidFill>
                  <a:srgbClr val="1E2761"/>
                </a:solidFill>
                <a:latin typeface="Pretendard" pitchFamily="34" charset="0"/>
                <a:ea typeface="Pretendard" pitchFamily="34" charset="-122"/>
                <a:cs typeface="Pretendard" pitchFamily="34" charset="-120"/>
              </a:rPr>
              <a:t>제재</a:t>
            </a:r>
            <a:r>
              <a:rPr lang="en-US" altLang="ko-KR" sz="1100" b="1" dirty="0">
                <a:solidFill>
                  <a:srgbClr val="1E2761"/>
                </a:solidFill>
                <a:latin typeface="Pretendard" pitchFamily="34" charset="0"/>
                <a:ea typeface="Pretendard" pitchFamily="34" charset="-122"/>
                <a:cs typeface="Pretendard" pitchFamily="34" charset="-120"/>
              </a:rPr>
              <a:t> · </a:t>
            </a:r>
            <a:r>
              <a:rPr lang="en-US" sz="1100" b="1" dirty="0" err="1">
                <a:solidFill>
                  <a:srgbClr val="1E2761"/>
                </a:solidFill>
                <a:latin typeface="Pretendard" pitchFamily="34" charset="0"/>
                <a:ea typeface="Pretendard" pitchFamily="34" charset="-122"/>
                <a:cs typeface="Pretendard" pitchFamily="34" charset="-120"/>
              </a:rPr>
              <a:t>완료까지</a:t>
            </a:r>
            <a:r>
              <a:rPr lang="en-US" sz="1100" b="1" dirty="0">
                <a:solidFill>
                  <a:srgbClr val="1E2761"/>
                </a:solidFill>
                <a:latin typeface="Pretendard" pitchFamily="34" charset="0"/>
                <a:ea typeface="Pretendard" pitchFamily="34" charset="-122"/>
                <a:cs typeface="Pretendard" pitchFamily="34" charset="-120"/>
              </a:rPr>
              <a:t> 추적</a:t>
            </a:r>
            <a:endParaRPr lang="en-US" sz="1100" dirty="0"/>
          </a:p>
        </p:txBody>
      </p:sp>
      <p:sp>
        <p:nvSpPr>
          <p:cNvPr id="34" name="Text 32"/>
          <p:cNvSpPr/>
          <p:nvPr/>
        </p:nvSpPr>
        <p:spPr>
          <a:xfrm>
            <a:off x="8595360" y="5120640"/>
            <a:ext cx="2688336" cy="420624"/>
          </a:xfrm>
          <a:prstGeom prst="rect">
            <a:avLst/>
          </a:prstGeom>
          <a:noFill/>
          <a:ln/>
        </p:spPr>
        <p:txBody>
          <a:bodyPr wrap="square" lIns="0" tIns="0" rIns="0" bIns="0" rtlCol="0" anchor="t"/>
          <a:lstStyle/>
          <a:p>
            <a:pPr marL="0" indent="0">
              <a:lnSpc>
                <a:spcPts val="1400"/>
              </a:lnSpc>
              <a:buNone/>
            </a:pPr>
            <a:r>
              <a:rPr lang="en-US" sz="1000" dirty="0">
                <a:solidFill>
                  <a:srgbClr val="464D5C"/>
                </a:solidFill>
                <a:latin typeface="Pretendard" pitchFamily="34" charset="0"/>
                <a:ea typeface="Pretendard" pitchFamily="34" charset="-122"/>
                <a:cs typeface="Pretendard" pitchFamily="34" charset="-120"/>
              </a:rPr>
              <a:t>준수 · 개선에는 보상, 위반에는 단계적 대응 · 참여와 수료 여부를 계속 확인</a:t>
            </a:r>
            <a:endParaRPr lang="en-US" sz="1000" dirty="0"/>
          </a:p>
        </p:txBody>
      </p:sp>
      <p:sp>
        <p:nvSpPr>
          <p:cNvPr id="35" name="Text 33"/>
          <p:cNvSpPr/>
          <p:nvPr/>
        </p:nvSpPr>
        <p:spPr>
          <a:xfrm>
            <a:off x="731520" y="5815584"/>
            <a:ext cx="10698480" cy="274320"/>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두 경로의 차이는 ‘치료를 하느냐 마느냐’보다, 치료 · 가족 · 사례관리 · 검사와 법적 감독을 얼마나 체계적으로 하나의 경로로 묶었는가에 있었다</a:t>
            </a:r>
            <a:endParaRPr lang="en-US" sz="1250" dirty="0"/>
          </a:p>
        </p:txBody>
      </p:sp>
      <p:sp>
        <p:nvSpPr>
          <p:cNvPr id="36" name="Text 34"/>
          <p:cNvSpPr/>
          <p:nvPr/>
        </p:nvSpPr>
        <p:spPr>
          <a:xfrm>
            <a:off x="731520" y="6108192"/>
            <a:ext cx="10698480" cy="237744"/>
          </a:xfrm>
          <a:prstGeom prst="rect">
            <a:avLst/>
          </a:prstGeom>
          <a:noFill/>
          <a:ln/>
        </p:spPr>
        <p:txBody>
          <a:bodyPr wrap="square" lIns="0" tIns="0" rIns="0" bIns="0" rtlCol="0" anchor="ctr"/>
          <a:lstStyle/>
          <a:p>
            <a:pPr marL="0" indent="0">
              <a:buNone/>
            </a:pPr>
            <a:r>
              <a:rPr lang="en-US" sz="1050" dirty="0">
                <a:solidFill>
                  <a:srgbClr val="A8871C"/>
                </a:solidFill>
                <a:latin typeface="Pretendard" pitchFamily="34" charset="0"/>
                <a:ea typeface="Pretendard" pitchFamily="34" charset="-122"/>
                <a:cs typeface="Pretendard" pitchFamily="34" charset="-120"/>
              </a:rPr>
              <a:t>결과가 가장 좋았던 무작위배정 지역의 JDTC는 지침 이행률도 86% → 92%로 높았다</a:t>
            </a:r>
            <a:endParaRPr lang="en-US" sz="1050" dirty="0"/>
          </a:p>
        </p:txBody>
      </p:sp>
      <p:sp>
        <p:nvSpPr>
          <p:cNvPr id="37" name="Shape 35"/>
          <p:cNvSpPr/>
          <p:nvPr/>
        </p:nvSpPr>
        <p:spPr>
          <a:xfrm>
            <a:off x="731520" y="6437376"/>
            <a:ext cx="10698480" cy="0"/>
          </a:xfrm>
          <a:prstGeom prst="line">
            <a:avLst/>
          </a:prstGeom>
          <a:noFill/>
          <a:ln w="12700">
            <a:solidFill>
              <a:srgbClr val="DCE0E8"/>
            </a:solidFill>
            <a:prstDash val="solid"/>
          </a:ln>
        </p:spPr>
        <p:txBody>
          <a:bodyPr/>
          <a:lstStyle/>
          <a:p>
            <a:endParaRPr lang="ko-KR"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6. 형사처벌과 치료·재활의 효과</a:t>
            </a:r>
            <a:endParaRPr lang="en-US" sz="1250" dirty="0"/>
          </a:p>
        </p:txBody>
      </p:sp>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법원감독과 MST·CM의 조합</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pPr marL="0" indent="0">
              <a:buNone/>
            </a:pPr>
            <a:r>
              <a:rPr lang="en-US" sz="2700" b="1" dirty="0">
                <a:solidFill>
                  <a:srgbClr val="1E2761"/>
                </a:solidFill>
                <a:latin typeface="Pretendard" pitchFamily="34" charset="0"/>
                <a:ea typeface="Pretendard" pitchFamily="34" charset="-122"/>
                <a:cs typeface="Pretendard" pitchFamily="34" charset="-120"/>
              </a:rPr>
              <a:t>무작위배정 지역 — 12개월 재체포 일반법원 60%, JDTC 32%</a:t>
            </a:r>
            <a:endParaRPr lang="en-US" sz="2700" dirty="0"/>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353312"/>
            <a:ext cx="10698480" cy="438912"/>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987552" y="1353312"/>
            <a:ext cx="10186416" cy="438912"/>
          </a:xfrm>
          <a:prstGeom prst="rect">
            <a:avLst/>
          </a:prstGeom>
          <a:noFill/>
          <a:ln/>
        </p:spPr>
        <p:txBody>
          <a:bodyPr wrap="square" lIns="0" tIns="0" rIns="0" bIns="0" rtlCol="0" anchor="ctr"/>
          <a:lstStyle/>
          <a:p>
            <a:pPr marL="0" indent="0">
              <a:buNone/>
            </a:pPr>
            <a:r>
              <a:rPr lang="en-US" sz="1250" b="1" dirty="0" err="1">
                <a:solidFill>
                  <a:srgbClr val="1E2761"/>
                </a:solidFill>
                <a:latin typeface="Pretendard" pitchFamily="34" charset="0"/>
                <a:ea typeface="Pretendard" pitchFamily="34" charset="-122"/>
                <a:cs typeface="Pretendard" pitchFamily="34" charset="-120"/>
              </a:rPr>
              <a:t>무작위배정</a:t>
            </a:r>
            <a:r>
              <a:rPr lang="en-US" sz="1250" b="1" dirty="0">
                <a:solidFill>
                  <a:srgbClr val="1E2761"/>
                </a:solidFill>
                <a:latin typeface="Pretendard" pitchFamily="34" charset="0"/>
                <a:ea typeface="Pretendard" pitchFamily="34" charset="-122"/>
                <a:cs typeface="Pretendard" pitchFamily="34" charset="-120"/>
              </a:rPr>
              <a:t> 지역에서 치료 · 감독 결합형 JDTC와 일반 소년법원을 비교했을 때 약물사용과 특별예방 모두에서 JDTC에 유리한 방향이 나타났다</a:t>
            </a:r>
            <a:endParaRPr lang="en-US" sz="1250" dirty="0"/>
          </a:p>
        </p:txBody>
      </p:sp>
      <p:sp>
        <p:nvSpPr>
          <p:cNvPr id="8" name="Text 6"/>
          <p:cNvSpPr/>
          <p:nvPr/>
        </p:nvSpPr>
        <p:spPr>
          <a:xfrm>
            <a:off x="731520" y="1956816"/>
            <a:ext cx="5148072" cy="274320"/>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최근 90일 대마사용일수</a:t>
            </a:r>
            <a:endParaRPr lang="en-US" sz="1250" dirty="0"/>
          </a:p>
        </p:txBody>
      </p:sp>
      <p:sp>
        <p:nvSpPr>
          <p:cNvPr id="13" name="Shape 11"/>
          <p:cNvSpPr/>
          <p:nvPr/>
        </p:nvSpPr>
        <p:spPr>
          <a:xfrm>
            <a:off x="731520" y="2333641"/>
            <a:ext cx="5148072" cy="749808"/>
          </a:xfrm>
          <a:prstGeom prst="rect">
            <a:avLst/>
          </a:prstGeom>
          <a:solidFill>
            <a:srgbClr val="F2F4F8"/>
          </a:solidFill>
          <a:ln w="12700">
            <a:solidFill>
              <a:srgbClr val="F2F4F8"/>
            </a:solidFill>
            <a:prstDash val="solid"/>
          </a:ln>
        </p:spPr>
        <p:txBody>
          <a:bodyPr/>
          <a:lstStyle/>
          <a:p>
            <a:endParaRPr lang="ko-KR" altLang="en-US"/>
          </a:p>
        </p:txBody>
      </p:sp>
      <p:sp>
        <p:nvSpPr>
          <p:cNvPr id="14" name="Text 12"/>
          <p:cNvSpPr/>
          <p:nvPr/>
        </p:nvSpPr>
        <p:spPr>
          <a:xfrm>
            <a:off x="932928" y="2333641"/>
            <a:ext cx="1005840" cy="749808"/>
          </a:xfrm>
          <a:prstGeom prst="rect">
            <a:avLst/>
          </a:prstGeom>
          <a:noFill/>
          <a:ln/>
        </p:spPr>
        <p:txBody>
          <a:bodyPr wrap="square" lIns="0" tIns="0" rIns="0" bIns="0" rtlCol="0" anchor="ctr"/>
          <a:lstStyle/>
          <a:p>
            <a:pPr marL="0" indent="0">
              <a:buNone/>
            </a:pPr>
            <a:r>
              <a:rPr lang="ko-KR" altLang="en-US" sz="1350" b="1" dirty="0">
                <a:solidFill>
                  <a:srgbClr val="1E2761"/>
                </a:solidFill>
                <a:latin typeface="Pretendard" pitchFamily="34" charset="0"/>
                <a:ea typeface="Pretendard" pitchFamily="34" charset="-122"/>
                <a:cs typeface="Pretendard" pitchFamily="34" charset="-120"/>
              </a:rPr>
              <a:t>일반 소년법원</a:t>
            </a:r>
            <a:endParaRPr lang="en-US" sz="1350" dirty="0"/>
          </a:p>
        </p:txBody>
      </p:sp>
      <p:sp>
        <p:nvSpPr>
          <p:cNvPr id="15" name="Text 13"/>
          <p:cNvSpPr/>
          <p:nvPr/>
        </p:nvSpPr>
        <p:spPr>
          <a:xfrm>
            <a:off x="2634916" y="2333641"/>
            <a:ext cx="1781636" cy="749808"/>
          </a:xfrm>
          <a:prstGeom prst="rect">
            <a:avLst/>
          </a:prstGeom>
          <a:noFill/>
          <a:ln/>
        </p:spPr>
        <p:txBody>
          <a:bodyPr wrap="square" lIns="0" tIns="0" rIns="0" bIns="0" rtlCol="0" anchor="ctr"/>
          <a:lstStyle/>
          <a:p>
            <a:pPr marL="0" indent="0">
              <a:buNone/>
            </a:pPr>
            <a:r>
              <a:rPr lang="en-US" sz="1300" dirty="0">
                <a:solidFill>
                  <a:srgbClr val="464D5C"/>
                </a:solidFill>
                <a:latin typeface="Pretendard" pitchFamily="34" charset="0"/>
                <a:ea typeface="Pretendard" pitchFamily="34" charset="-122"/>
                <a:cs typeface="Pretendard" pitchFamily="34" charset="-120"/>
              </a:rPr>
              <a:t>52.0일</a:t>
            </a:r>
            <a:r>
              <a:rPr lang="en-US" sz="1200" dirty="0">
                <a:solidFill>
                  <a:srgbClr val="6E7686"/>
                </a:solidFill>
                <a:latin typeface="Pretendard" pitchFamily="34" charset="0"/>
                <a:ea typeface="Pretendard" pitchFamily="34" charset="-122"/>
                <a:cs typeface="Pretendard" pitchFamily="34" charset="-120"/>
              </a:rPr>
              <a:t>  →  </a:t>
            </a:r>
            <a:r>
              <a:rPr lang="en-US" sz="1500" b="1" dirty="0">
                <a:solidFill>
                  <a:srgbClr val="1E2761"/>
                </a:solidFill>
                <a:latin typeface="Pretendard" pitchFamily="34" charset="0"/>
                <a:ea typeface="Pretendard" pitchFamily="34" charset="-122"/>
                <a:cs typeface="Pretendard" pitchFamily="34" charset="-120"/>
              </a:rPr>
              <a:t>39.9일</a:t>
            </a:r>
            <a:endParaRPr lang="en-US" sz="1300" dirty="0"/>
          </a:p>
        </p:txBody>
      </p:sp>
      <p:sp>
        <p:nvSpPr>
          <p:cNvPr id="16" name="Text 14"/>
          <p:cNvSpPr/>
          <p:nvPr/>
        </p:nvSpPr>
        <p:spPr>
          <a:xfrm>
            <a:off x="4507992" y="2333641"/>
            <a:ext cx="1188720" cy="749808"/>
          </a:xfrm>
          <a:prstGeom prst="rect">
            <a:avLst/>
          </a:prstGeom>
          <a:noFill/>
          <a:ln/>
        </p:spPr>
        <p:txBody>
          <a:bodyPr wrap="square" lIns="0" tIns="0" rIns="0" bIns="0" rtlCol="0" anchor="ctr"/>
          <a:lstStyle/>
          <a:p>
            <a:pPr marL="0" indent="0" algn="r">
              <a:buNone/>
            </a:pPr>
            <a:r>
              <a:rPr lang="en-US" sz="1400" b="1" dirty="0">
                <a:solidFill>
                  <a:srgbClr val="A8871C"/>
                </a:solidFill>
                <a:latin typeface="Pretendard" pitchFamily="34" charset="0"/>
                <a:ea typeface="Pretendard" pitchFamily="34" charset="-122"/>
                <a:cs typeface="Pretendard" pitchFamily="34" charset="-120"/>
              </a:rPr>
              <a:t>−12.1일</a:t>
            </a:r>
            <a:endParaRPr lang="en-US" sz="1400" dirty="0"/>
          </a:p>
        </p:txBody>
      </p:sp>
      <p:sp>
        <p:nvSpPr>
          <p:cNvPr id="17" name="Text 15"/>
          <p:cNvSpPr/>
          <p:nvPr/>
        </p:nvSpPr>
        <p:spPr>
          <a:xfrm>
            <a:off x="731520" y="4078224"/>
            <a:ext cx="5148072" cy="530352"/>
          </a:xfrm>
          <a:prstGeom prst="rect">
            <a:avLst/>
          </a:prstGeom>
          <a:noFill/>
          <a:ln/>
        </p:spPr>
        <p:txBody>
          <a:bodyPr wrap="square" lIns="0" tIns="0" rIns="0" bIns="0" rtlCol="0" anchor="t"/>
          <a:lstStyle/>
          <a:p>
            <a:pPr marL="0" indent="0">
              <a:lnSpc>
                <a:spcPts val="1500"/>
              </a:lnSpc>
              <a:buNone/>
            </a:pPr>
            <a:r>
              <a:rPr lang="en-US" sz="1050" dirty="0">
                <a:solidFill>
                  <a:srgbClr val="6E7686"/>
                </a:solidFill>
                <a:latin typeface="Pretendard" pitchFamily="34" charset="0"/>
                <a:ea typeface="Pretendard" pitchFamily="34" charset="-122"/>
                <a:cs typeface="Pretendard" pitchFamily="34" charset="-120"/>
              </a:rPr>
              <a:t>6개월 </a:t>
            </a:r>
            <a:r>
              <a:rPr lang="en-US" sz="1050" dirty="0" err="1">
                <a:solidFill>
                  <a:srgbClr val="6E7686"/>
                </a:solidFill>
                <a:latin typeface="Pretendard" pitchFamily="34" charset="0"/>
                <a:ea typeface="Pretendard" pitchFamily="34" charset="-122"/>
                <a:cs typeface="Pretendard" pitchFamily="34" charset="-120"/>
              </a:rPr>
              <a:t>조사응답자</a:t>
            </a:r>
            <a:r>
              <a:rPr lang="en-US" sz="1050" dirty="0">
                <a:solidFill>
                  <a:srgbClr val="6E7686"/>
                </a:solidFill>
                <a:latin typeface="Pretendard" pitchFamily="34" charset="0"/>
                <a:ea typeface="Pretendard" pitchFamily="34" charset="-122"/>
                <a:cs typeface="Pretendard" pitchFamily="34" charset="-120"/>
              </a:rPr>
              <a:t>  </a:t>
            </a:r>
            <a:r>
              <a:rPr lang="ko-KR" altLang="en-US" sz="1050" dirty="0">
                <a:solidFill>
                  <a:srgbClr val="6E7686"/>
                </a:solidFill>
                <a:latin typeface="Pretendard" pitchFamily="34" charset="0"/>
                <a:ea typeface="Pretendard" pitchFamily="34" charset="-122"/>
                <a:cs typeface="Pretendard" pitchFamily="34" charset="-120"/>
              </a:rPr>
              <a:t>소년약물치료법원</a:t>
            </a:r>
            <a:r>
              <a:rPr lang="en-US" sz="1050" dirty="0">
                <a:solidFill>
                  <a:srgbClr val="6E7686"/>
                </a:solidFill>
                <a:latin typeface="Pretendard" pitchFamily="34" charset="0"/>
                <a:ea typeface="Pretendard" pitchFamily="34" charset="-122"/>
                <a:cs typeface="Pretendard" pitchFamily="34" charset="-120"/>
              </a:rPr>
              <a:t> n=21 · TJC n=23</a:t>
            </a:r>
            <a:endParaRPr lang="en-US" sz="1050" dirty="0"/>
          </a:p>
          <a:p>
            <a:pPr>
              <a:lnSpc>
                <a:spcPts val="1500"/>
              </a:lnSpc>
            </a:pPr>
            <a:r>
              <a:rPr lang="en-US" sz="1050" dirty="0" err="1">
                <a:solidFill>
                  <a:srgbClr val="6E7686"/>
                </a:solidFill>
                <a:latin typeface="Pretendard" pitchFamily="34" charset="0"/>
                <a:ea typeface="Pretendard" pitchFamily="34" charset="-122"/>
                <a:cs typeface="Pretendard" pitchFamily="34" charset="-120"/>
              </a:rPr>
              <a:t>감소폭은</a:t>
            </a:r>
            <a:r>
              <a:rPr lang="en-US" sz="1050" dirty="0">
                <a:solidFill>
                  <a:srgbClr val="6E7686"/>
                </a:solidFill>
                <a:latin typeface="Pretendard" pitchFamily="34" charset="0"/>
                <a:ea typeface="Pretendard" pitchFamily="34" charset="-122"/>
                <a:cs typeface="Pretendard" pitchFamily="34" charset="-120"/>
              </a:rPr>
              <a:t> </a:t>
            </a:r>
            <a:r>
              <a:rPr lang="ko-KR" altLang="en-US" sz="1050" dirty="0">
                <a:solidFill>
                  <a:srgbClr val="6E7686"/>
                </a:solidFill>
                <a:latin typeface="Pretendard" pitchFamily="34" charset="0"/>
                <a:ea typeface="Pretendard" pitchFamily="34" charset="-122"/>
                <a:cs typeface="Pretendard" pitchFamily="34" charset="-120"/>
              </a:rPr>
              <a:t>소년약물치료법원 </a:t>
            </a:r>
            <a:r>
              <a:rPr lang="en-US" sz="1050" dirty="0">
                <a:solidFill>
                  <a:srgbClr val="6E7686"/>
                </a:solidFill>
                <a:latin typeface="Pretendard" pitchFamily="34" charset="0"/>
                <a:ea typeface="Pretendard" pitchFamily="34" charset="-122"/>
                <a:cs typeface="Pretendard" pitchFamily="34" charset="-120"/>
              </a:rPr>
              <a:t>가 컸지만 집단차이는 p&lt;.10으로 5% 유의수준에는 이르지 않음</a:t>
            </a:r>
            <a:endParaRPr lang="en-US" sz="1050" dirty="0"/>
          </a:p>
        </p:txBody>
      </p:sp>
      <p:sp>
        <p:nvSpPr>
          <p:cNvPr id="18" name="Text 16"/>
          <p:cNvSpPr/>
          <p:nvPr/>
        </p:nvSpPr>
        <p:spPr>
          <a:xfrm>
            <a:off x="6281928" y="1956816"/>
            <a:ext cx="5148072" cy="274320"/>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12개월 재체포</a:t>
            </a:r>
            <a:endParaRPr lang="en-US" sz="1250" dirty="0"/>
          </a:p>
        </p:txBody>
      </p:sp>
      <p:sp>
        <p:nvSpPr>
          <p:cNvPr id="19" name="Shape 17"/>
          <p:cNvSpPr/>
          <p:nvPr/>
        </p:nvSpPr>
        <p:spPr>
          <a:xfrm>
            <a:off x="6647688" y="2670048"/>
            <a:ext cx="2025396" cy="1243584"/>
          </a:xfrm>
          <a:prstGeom prst="rect">
            <a:avLst/>
          </a:prstGeom>
          <a:solidFill>
            <a:srgbClr val="DCE0E8"/>
          </a:solidFill>
          <a:ln w="12700">
            <a:solidFill>
              <a:srgbClr val="DCE0E8"/>
            </a:solidFill>
            <a:prstDash val="solid"/>
          </a:ln>
        </p:spPr>
        <p:txBody>
          <a:bodyPr/>
          <a:lstStyle/>
          <a:p>
            <a:endParaRPr lang="ko-KR" altLang="en-US"/>
          </a:p>
        </p:txBody>
      </p:sp>
      <p:sp>
        <p:nvSpPr>
          <p:cNvPr id="20" name="Text 18"/>
          <p:cNvSpPr/>
          <p:nvPr/>
        </p:nvSpPr>
        <p:spPr>
          <a:xfrm>
            <a:off x="6647688" y="2304288"/>
            <a:ext cx="2025396" cy="347472"/>
          </a:xfrm>
          <a:prstGeom prst="rect">
            <a:avLst/>
          </a:prstGeom>
          <a:noFill/>
          <a:ln/>
        </p:spPr>
        <p:txBody>
          <a:bodyPr wrap="square" lIns="0" tIns="0" rIns="0" bIns="0" rtlCol="0" anchor="ctr"/>
          <a:lstStyle/>
          <a:p>
            <a:pPr marL="0" indent="0" algn="ctr">
              <a:buNone/>
            </a:pPr>
            <a:r>
              <a:rPr lang="en-US" sz="2000" b="1" dirty="0">
                <a:solidFill>
                  <a:srgbClr val="1E2761"/>
                </a:solidFill>
                <a:latin typeface="Pretendard" pitchFamily="34" charset="0"/>
                <a:ea typeface="Pretendard" pitchFamily="34" charset="-122"/>
                <a:cs typeface="Pretendard" pitchFamily="34" charset="-120"/>
              </a:rPr>
              <a:t>60%</a:t>
            </a:r>
            <a:endParaRPr lang="en-US" sz="2000" dirty="0"/>
          </a:p>
        </p:txBody>
      </p:sp>
      <p:sp>
        <p:nvSpPr>
          <p:cNvPr id="21" name="Text 19"/>
          <p:cNvSpPr/>
          <p:nvPr/>
        </p:nvSpPr>
        <p:spPr>
          <a:xfrm>
            <a:off x="6464808" y="3986784"/>
            <a:ext cx="2391156" cy="274320"/>
          </a:xfrm>
          <a:prstGeom prst="rect">
            <a:avLst/>
          </a:prstGeom>
          <a:noFill/>
          <a:ln/>
        </p:spPr>
        <p:txBody>
          <a:bodyPr wrap="square" lIns="0" tIns="0" rIns="0" bIns="0" rtlCol="0" anchor="ctr"/>
          <a:lstStyle/>
          <a:p>
            <a:pPr marL="0" indent="0" algn="ctr">
              <a:buNone/>
            </a:pPr>
            <a:r>
              <a:rPr lang="en-US" sz="1200" b="1" dirty="0">
                <a:solidFill>
                  <a:srgbClr val="1E2761"/>
                </a:solidFill>
                <a:latin typeface="Pretendard" pitchFamily="34" charset="0"/>
                <a:ea typeface="Pretendard" pitchFamily="34" charset="-122"/>
                <a:cs typeface="Pretendard" pitchFamily="34" charset="-120"/>
              </a:rPr>
              <a:t>일반 소년법원</a:t>
            </a:r>
            <a:endParaRPr lang="en-US" sz="1200" dirty="0"/>
          </a:p>
        </p:txBody>
      </p:sp>
      <p:sp>
        <p:nvSpPr>
          <p:cNvPr id="22" name="Shape 20"/>
          <p:cNvSpPr/>
          <p:nvPr/>
        </p:nvSpPr>
        <p:spPr>
          <a:xfrm>
            <a:off x="9038844" y="3250387"/>
            <a:ext cx="2025396" cy="663245"/>
          </a:xfrm>
          <a:prstGeom prst="rect">
            <a:avLst/>
          </a:prstGeom>
          <a:solidFill>
            <a:srgbClr val="1E2761"/>
          </a:solidFill>
          <a:ln w="12700">
            <a:solidFill>
              <a:srgbClr val="1E2761"/>
            </a:solidFill>
            <a:prstDash val="solid"/>
          </a:ln>
        </p:spPr>
        <p:txBody>
          <a:bodyPr/>
          <a:lstStyle/>
          <a:p>
            <a:endParaRPr lang="ko-KR" altLang="en-US"/>
          </a:p>
        </p:txBody>
      </p:sp>
      <p:sp>
        <p:nvSpPr>
          <p:cNvPr id="23" name="Text 21"/>
          <p:cNvSpPr/>
          <p:nvPr/>
        </p:nvSpPr>
        <p:spPr>
          <a:xfrm>
            <a:off x="9038844" y="2884627"/>
            <a:ext cx="2025396" cy="347472"/>
          </a:xfrm>
          <a:prstGeom prst="rect">
            <a:avLst/>
          </a:prstGeom>
          <a:noFill/>
          <a:ln/>
        </p:spPr>
        <p:txBody>
          <a:bodyPr wrap="square" lIns="0" tIns="0" rIns="0" bIns="0" rtlCol="0" anchor="ctr"/>
          <a:lstStyle/>
          <a:p>
            <a:pPr marL="0" indent="0" algn="ctr">
              <a:buNone/>
            </a:pPr>
            <a:r>
              <a:rPr lang="en-US" sz="2000" b="1" dirty="0">
                <a:solidFill>
                  <a:srgbClr val="1E2761"/>
                </a:solidFill>
                <a:latin typeface="Pretendard" pitchFamily="34" charset="0"/>
                <a:ea typeface="Pretendard" pitchFamily="34" charset="-122"/>
                <a:cs typeface="Pretendard" pitchFamily="34" charset="-120"/>
              </a:rPr>
              <a:t>32%</a:t>
            </a:r>
            <a:endParaRPr lang="en-US" sz="2000" dirty="0"/>
          </a:p>
        </p:txBody>
      </p:sp>
      <p:sp>
        <p:nvSpPr>
          <p:cNvPr id="24" name="Text 22"/>
          <p:cNvSpPr/>
          <p:nvPr/>
        </p:nvSpPr>
        <p:spPr>
          <a:xfrm>
            <a:off x="8855964" y="3986784"/>
            <a:ext cx="2391156" cy="274320"/>
          </a:xfrm>
          <a:prstGeom prst="rect">
            <a:avLst/>
          </a:prstGeom>
          <a:noFill/>
          <a:ln/>
        </p:spPr>
        <p:txBody>
          <a:bodyPr wrap="square" lIns="0" tIns="0" rIns="0" bIns="0" rtlCol="0" anchor="ctr"/>
          <a:lstStyle/>
          <a:p>
            <a:pPr marL="0" indent="0" algn="ctr">
              <a:buNone/>
            </a:pPr>
            <a:r>
              <a:rPr lang="ko-KR" altLang="en-US" sz="1200" b="1" dirty="0">
                <a:solidFill>
                  <a:srgbClr val="1E2761"/>
                </a:solidFill>
                <a:latin typeface="Pretendard" pitchFamily="34" charset="0"/>
                <a:ea typeface="Pretendard" pitchFamily="34" charset="-122"/>
                <a:cs typeface="Pretendard" pitchFamily="34" charset="-120"/>
              </a:rPr>
              <a:t>소년약물치료법원</a:t>
            </a:r>
            <a:endParaRPr lang="en-US" sz="1200" dirty="0"/>
          </a:p>
        </p:txBody>
      </p:sp>
      <p:sp>
        <p:nvSpPr>
          <p:cNvPr id="25" name="Text 23"/>
          <p:cNvSpPr/>
          <p:nvPr/>
        </p:nvSpPr>
        <p:spPr>
          <a:xfrm>
            <a:off x="6652501" y="4334255"/>
            <a:ext cx="5148072" cy="256032"/>
          </a:xfrm>
          <a:prstGeom prst="rect">
            <a:avLst/>
          </a:prstGeom>
          <a:noFill/>
          <a:ln/>
        </p:spPr>
        <p:txBody>
          <a:bodyPr wrap="square" lIns="0" tIns="0" rIns="0" bIns="0" rtlCol="0" anchor="ctr"/>
          <a:lstStyle/>
          <a:p>
            <a:pPr marL="0" indent="0">
              <a:buNone/>
            </a:pPr>
            <a:r>
              <a:rPr lang="en-US" sz="1050" b="1" dirty="0">
                <a:solidFill>
                  <a:srgbClr val="6E7686"/>
                </a:solidFill>
                <a:latin typeface="Pretendard" pitchFamily="34" charset="0"/>
                <a:ea typeface="Pretendard" pitchFamily="34" charset="-122"/>
                <a:cs typeface="Pretendard" pitchFamily="34" charset="-120"/>
              </a:rPr>
              <a:t>공식 법원 행정자료  ·  OR 0.31, p&lt;.05 &lt;- </a:t>
            </a:r>
            <a:r>
              <a:rPr lang="ko-KR" altLang="en-US" sz="1050" b="1" dirty="0">
                <a:solidFill>
                  <a:srgbClr val="6E7686"/>
                </a:solidFill>
                <a:latin typeface="Pretendard" pitchFamily="34" charset="0"/>
                <a:ea typeface="Pretendard" pitchFamily="34" charset="-122"/>
                <a:cs typeface="Pretendard" pitchFamily="34" charset="-120"/>
              </a:rPr>
              <a:t>유의미한 차이가 있었다</a:t>
            </a:r>
            <a:endParaRPr lang="en-US" sz="1050" b="1" dirty="0"/>
          </a:p>
        </p:txBody>
      </p:sp>
      <p:sp>
        <p:nvSpPr>
          <p:cNvPr id="26" name="Text 24"/>
          <p:cNvSpPr/>
          <p:nvPr/>
        </p:nvSpPr>
        <p:spPr>
          <a:xfrm>
            <a:off x="731520" y="4937760"/>
            <a:ext cx="10698480" cy="274320"/>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치료 · 감독 결합형 경로에서 대마사용 감소와 재체포 감소 가능성이 나타났다</a:t>
            </a:r>
            <a:endParaRPr lang="en-US" sz="1250" dirty="0"/>
          </a:p>
        </p:txBody>
      </p:sp>
      <p:sp>
        <p:nvSpPr>
          <p:cNvPr id="27" name="Text 25"/>
          <p:cNvSpPr/>
          <p:nvPr/>
        </p:nvSpPr>
        <p:spPr>
          <a:xfrm>
            <a:off x="731520" y="5269591"/>
            <a:ext cx="10698480" cy="256032"/>
          </a:xfrm>
          <a:prstGeom prst="rect">
            <a:avLst/>
          </a:prstGeom>
          <a:noFill/>
          <a:ln/>
        </p:spPr>
        <p:txBody>
          <a:bodyPr wrap="square" lIns="0" tIns="0" rIns="0" bIns="0" rtlCol="0" anchor="ctr"/>
          <a:lstStyle/>
          <a:p>
            <a:pPr marL="0" indent="0">
              <a:buNone/>
            </a:pPr>
            <a:r>
              <a:rPr lang="en-US" sz="1100" dirty="0">
                <a:solidFill>
                  <a:srgbClr val="222633"/>
                </a:solidFill>
                <a:latin typeface="Pretendard" pitchFamily="34" charset="0"/>
                <a:ea typeface="Pretendard" pitchFamily="34" charset="-122"/>
                <a:cs typeface="Pretendard" pitchFamily="34" charset="-120"/>
              </a:rPr>
              <a:t>다만 모든 지역에서 같은 크기의 효과가 나타난 것은 아니었다</a:t>
            </a:r>
            <a:endParaRPr lang="en-US" sz="1100" dirty="0"/>
          </a:p>
        </p:txBody>
      </p:sp>
      <p:sp>
        <p:nvSpPr>
          <p:cNvPr id="28" name="Text 26"/>
          <p:cNvSpPr/>
          <p:nvPr/>
        </p:nvSpPr>
        <p:spPr>
          <a:xfrm>
            <a:off x="731520" y="5522976"/>
            <a:ext cx="10698480" cy="292608"/>
          </a:xfrm>
          <a:prstGeom prst="rect">
            <a:avLst/>
          </a:prstGeom>
          <a:noFill/>
          <a:ln/>
        </p:spPr>
        <p:txBody>
          <a:bodyPr wrap="square" lIns="0" tIns="0" rIns="0" bIns="0" rtlCol="0" anchor="ctr"/>
          <a:lstStyle/>
          <a:p>
            <a:pPr marL="0" indent="0">
              <a:buNone/>
            </a:pPr>
            <a:r>
              <a:rPr lang="en-US" sz="1150" b="1" dirty="0">
                <a:solidFill>
                  <a:srgbClr val="A8871C"/>
                </a:solidFill>
                <a:latin typeface="Pretendard" pitchFamily="34" charset="0"/>
                <a:ea typeface="Pretendard" pitchFamily="34" charset="-122"/>
                <a:cs typeface="Pretendard" pitchFamily="34" charset="-120"/>
              </a:rPr>
              <a:t>재체포 60% 대 32%는 한 무작위배정 지역의 결과이며, </a:t>
            </a:r>
            <a:r>
              <a:rPr lang="en-US" sz="1150" b="1" dirty="0" err="1">
                <a:solidFill>
                  <a:srgbClr val="A8871C"/>
                </a:solidFill>
                <a:latin typeface="Pretendard" pitchFamily="34" charset="0"/>
                <a:ea typeface="Pretendard" pitchFamily="34" charset="-122"/>
                <a:cs typeface="Pretendard" pitchFamily="34" charset="-120"/>
              </a:rPr>
              <a:t>전체</a:t>
            </a:r>
            <a:r>
              <a:rPr lang="en-US" sz="1150" b="1" dirty="0">
                <a:solidFill>
                  <a:srgbClr val="A8871C"/>
                </a:solidFill>
                <a:latin typeface="Pretendard" pitchFamily="34" charset="0"/>
                <a:ea typeface="Pretendard" pitchFamily="34" charset="-122"/>
                <a:cs typeface="Pretendard" pitchFamily="34" charset="-120"/>
              </a:rPr>
              <a:t> </a:t>
            </a:r>
            <a:r>
              <a:rPr lang="ko-KR" altLang="en-US" sz="1150" b="1" dirty="0">
                <a:solidFill>
                  <a:srgbClr val="A8871C"/>
                </a:solidFill>
                <a:latin typeface="Pretendard" pitchFamily="34" charset="0"/>
                <a:ea typeface="Pretendard" pitchFamily="34" charset="-122"/>
                <a:cs typeface="Pretendard" pitchFamily="34" charset="-120"/>
              </a:rPr>
              <a:t>소년약물치료법원</a:t>
            </a:r>
            <a:r>
              <a:rPr lang="en-US" sz="1150" b="1" dirty="0">
                <a:solidFill>
                  <a:srgbClr val="A8871C"/>
                </a:solidFill>
                <a:latin typeface="Pretendard" pitchFamily="34" charset="0"/>
                <a:ea typeface="Pretendard" pitchFamily="34" charset="-122"/>
                <a:cs typeface="Pretendard" pitchFamily="34" charset="-120"/>
              </a:rPr>
              <a:t>의 평균효과로 일반화할 수 없다</a:t>
            </a:r>
            <a:endParaRPr lang="en-US" sz="1150" dirty="0"/>
          </a:p>
        </p:txBody>
      </p:sp>
      <p:sp>
        <p:nvSpPr>
          <p:cNvPr id="29" name="Shape 27"/>
          <p:cNvSpPr/>
          <p:nvPr/>
        </p:nvSpPr>
        <p:spPr>
          <a:xfrm>
            <a:off x="731520" y="6153912"/>
            <a:ext cx="10698480" cy="0"/>
          </a:xfrm>
          <a:prstGeom prst="line">
            <a:avLst/>
          </a:prstGeom>
          <a:noFill/>
          <a:ln w="12700">
            <a:solidFill>
              <a:srgbClr val="DCE0E8"/>
            </a:solidFill>
            <a:prstDash val="solid"/>
          </a:ln>
        </p:spPr>
        <p:txBody>
          <a:bodyPr/>
          <a:lstStyle/>
          <a:p>
            <a:endParaRPr lang="ko-KR" altLang="en-US"/>
          </a:p>
        </p:txBody>
      </p:sp>
      <p:sp>
        <p:nvSpPr>
          <p:cNvPr id="32" name="Shape 7">
            <a:extLst>
              <a:ext uri="{FF2B5EF4-FFF2-40B4-BE49-F238E27FC236}">
                <a16:creationId xmlns:a16="http://schemas.microsoft.com/office/drawing/2014/main" id="{FEE8E047-2731-501C-9E81-16105D1C1852}"/>
              </a:ext>
            </a:extLst>
          </p:cNvPr>
          <p:cNvSpPr/>
          <p:nvPr/>
        </p:nvSpPr>
        <p:spPr>
          <a:xfrm>
            <a:off x="731520" y="3201724"/>
            <a:ext cx="5148072" cy="749808"/>
          </a:xfrm>
          <a:prstGeom prst="rect">
            <a:avLst/>
          </a:prstGeom>
          <a:solidFill>
            <a:srgbClr val="1E2761"/>
          </a:solidFill>
          <a:ln w="12700">
            <a:solidFill>
              <a:srgbClr val="1E2761"/>
            </a:solidFill>
            <a:prstDash val="solid"/>
          </a:ln>
        </p:spPr>
        <p:txBody>
          <a:bodyPr/>
          <a:lstStyle/>
          <a:p>
            <a:endParaRPr lang="ko-KR" altLang="en-US"/>
          </a:p>
        </p:txBody>
      </p:sp>
      <p:sp>
        <p:nvSpPr>
          <p:cNvPr id="34" name="Text 8">
            <a:extLst>
              <a:ext uri="{FF2B5EF4-FFF2-40B4-BE49-F238E27FC236}">
                <a16:creationId xmlns:a16="http://schemas.microsoft.com/office/drawing/2014/main" id="{E96E57B4-2F43-7C69-0D4E-3B75ADD6E411}"/>
              </a:ext>
            </a:extLst>
          </p:cNvPr>
          <p:cNvSpPr/>
          <p:nvPr/>
        </p:nvSpPr>
        <p:spPr>
          <a:xfrm>
            <a:off x="950976" y="3201724"/>
            <a:ext cx="1318180" cy="749808"/>
          </a:xfrm>
          <a:prstGeom prst="rect">
            <a:avLst/>
          </a:prstGeom>
          <a:noFill/>
          <a:ln/>
        </p:spPr>
        <p:txBody>
          <a:bodyPr wrap="square" lIns="0" tIns="0" rIns="0" bIns="0" rtlCol="0" anchor="ctr"/>
          <a:lstStyle/>
          <a:p>
            <a:pPr marL="0" indent="0">
              <a:buNone/>
            </a:pPr>
            <a:r>
              <a:rPr lang="ko-KR" altLang="en-US" sz="1350" b="1" dirty="0">
                <a:solidFill>
                  <a:srgbClr val="FFFFFF"/>
                </a:solidFill>
                <a:latin typeface="Pretendard" pitchFamily="34" charset="0"/>
                <a:ea typeface="Pretendard" pitchFamily="34" charset="-122"/>
                <a:cs typeface="Pretendard" pitchFamily="34" charset="-120"/>
              </a:rPr>
              <a:t>소년약물치료법원</a:t>
            </a:r>
            <a:endParaRPr lang="en-US" sz="1350" dirty="0"/>
          </a:p>
        </p:txBody>
      </p:sp>
      <p:sp>
        <p:nvSpPr>
          <p:cNvPr id="36" name="Text 9">
            <a:extLst>
              <a:ext uri="{FF2B5EF4-FFF2-40B4-BE49-F238E27FC236}">
                <a16:creationId xmlns:a16="http://schemas.microsoft.com/office/drawing/2014/main" id="{66F2EA2F-7EE2-7452-B25A-57A2D566ACA4}"/>
              </a:ext>
            </a:extLst>
          </p:cNvPr>
          <p:cNvSpPr/>
          <p:nvPr/>
        </p:nvSpPr>
        <p:spPr>
          <a:xfrm>
            <a:off x="2634916" y="3201724"/>
            <a:ext cx="1781636" cy="749808"/>
          </a:xfrm>
          <a:prstGeom prst="rect">
            <a:avLst/>
          </a:prstGeom>
          <a:noFill/>
          <a:ln/>
        </p:spPr>
        <p:txBody>
          <a:bodyPr wrap="square" lIns="0" tIns="0" rIns="0" bIns="0" rtlCol="0" anchor="ctr"/>
          <a:lstStyle/>
          <a:p>
            <a:pPr marL="0" indent="0">
              <a:buNone/>
            </a:pPr>
            <a:r>
              <a:rPr lang="en-US" sz="1300" dirty="0">
                <a:solidFill>
                  <a:srgbClr val="C9D2E6"/>
                </a:solidFill>
                <a:latin typeface="Pretendard" pitchFamily="34" charset="0"/>
                <a:ea typeface="Pretendard" pitchFamily="34" charset="-122"/>
                <a:cs typeface="Pretendard" pitchFamily="34" charset="-120"/>
              </a:rPr>
              <a:t>63.7일</a:t>
            </a:r>
            <a:r>
              <a:rPr lang="en-US" sz="1200" dirty="0">
                <a:solidFill>
                  <a:srgbClr val="AFBBD9"/>
                </a:solidFill>
                <a:latin typeface="Pretendard" pitchFamily="34" charset="0"/>
                <a:ea typeface="Pretendard" pitchFamily="34" charset="-122"/>
                <a:cs typeface="Pretendard" pitchFamily="34" charset="-120"/>
              </a:rPr>
              <a:t>  →  </a:t>
            </a:r>
            <a:r>
              <a:rPr lang="en-US" sz="1500" b="1" dirty="0">
                <a:solidFill>
                  <a:srgbClr val="FFFFFF"/>
                </a:solidFill>
                <a:latin typeface="Pretendard" pitchFamily="34" charset="0"/>
                <a:ea typeface="Pretendard" pitchFamily="34" charset="-122"/>
                <a:cs typeface="Pretendard" pitchFamily="34" charset="-120"/>
              </a:rPr>
              <a:t>34.7일</a:t>
            </a:r>
            <a:endParaRPr lang="en-US" sz="1300" dirty="0"/>
          </a:p>
        </p:txBody>
      </p:sp>
      <p:sp>
        <p:nvSpPr>
          <p:cNvPr id="38" name="Text 10">
            <a:extLst>
              <a:ext uri="{FF2B5EF4-FFF2-40B4-BE49-F238E27FC236}">
                <a16:creationId xmlns:a16="http://schemas.microsoft.com/office/drawing/2014/main" id="{97C00324-F8F6-370B-37E0-EBD877844393}"/>
              </a:ext>
            </a:extLst>
          </p:cNvPr>
          <p:cNvSpPr/>
          <p:nvPr/>
        </p:nvSpPr>
        <p:spPr>
          <a:xfrm>
            <a:off x="4507992" y="3201724"/>
            <a:ext cx="1188720" cy="749808"/>
          </a:xfrm>
          <a:prstGeom prst="rect">
            <a:avLst/>
          </a:prstGeom>
          <a:noFill/>
          <a:ln/>
        </p:spPr>
        <p:txBody>
          <a:bodyPr wrap="square" lIns="0" tIns="0" rIns="0" bIns="0" rtlCol="0" anchor="ctr"/>
          <a:lstStyle/>
          <a:p>
            <a:pPr marL="0" indent="0" algn="r">
              <a:buNone/>
            </a:pPr>
            <a:r>
              <a:rPr lang="en-US" sz="1400" b="1" dirty="0">
                <a:solidFill>
                  <a:srgbClr val="C2A648"/>
                </a:solidFill>
                <a:latin typeface="Pretendard" pitchFamily="34" charset="0"/>
                <a:ea typeface="Pretendard" pitchFamily="34" charset="-122"/>
                <a:cs typeface="Pretendard" pitchFamily="34" charset="-120"/>
              </a:rPr>
              <a:t>−29.0일</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6. 형사처벌과 치료·재활의 효과</a:t>
            </a:r>
            <a:endParaRPr lang="en-US" sz="1250" dirty="0"/>
          </a:p>
        </p:txBody>
      </p:sp>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치료 구성별 대마검사와 재체포</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pPr marL="0" indent="0">
              <a:buNone/>
            </a:pPr>
            <a:r>
              <a:rPr lang="en-US" sz="2700" b="1" dirty="0">
                <a:solidFill>
                  <a:srgbClr val="1E2761"/>
                </a:solidFill>
                <a:latin typeface="Pretendard" pitchFamily="34" charset="0"/>
                <a:ea typeface="Pretendard" pitchFamily="34" charset="-122"/>
                <a:cs typeface="Pretendard" pitchFamily="34" charset="-120"/>
              </a:rPr>
              <a:t>소년약물법원 감독과 MST · CM을 달리 조합한 네 처우경로</a:t>
            </a:r>
            <a:endParaRPr lang="en-US" sz="2700" dirty="0"/>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353312"/>
            <a:ext cx="10698480" cy="438912"/>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987552" y="1353312"/>
            <a:ext cx="10186416" cy="438912"/>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Henggeler(2006)는 통상 법원처리에 소년약물법원 감독을 더하고, 그 위에 다체계치료(MST)와 유관관리(CM)를 차례로 추가해 네 처우조건을 비교했다</a:t>
            </a:r>
            <a:endParaRPr lang="en-US" sz="1250" dirty="0"/>
          </a:p>
        </p:txBody>
      </p:sp>
      <p:sp>
        <p:nvSpPr>
          <p:cNvPr id="8" name="Text 6"/>
          <p:cNvSpPr/>
          <p:nvPr/>
        </p:nvSpPr>
        <p:spPr>
          <a:xfrm>
            <a:off x="731520" y="1920240"/>
            <a:ext cx="10698480" cy="256032"/>
          </a:xfrm>
          <a:prstGeom prst="rect">
            <a:avLst/>
          </a:prstGeom>
          <a:noFill/>
          <a:ln/>
        </p:spPr>
        <p:txBody>
          <a:bodyPr wrap="square" lIns="0" tIns="0" rIns="0" bIns="0" rtlCol="0" anchor="ctr"/>
          <a:lstStyle/>
          <a:p>
            <a:pPr marL="0" indent="0">
              <a:buNone/>
            </a:pPr>
            <a:r>
              <a:rPr lang="en-US" sz="1100" b="1" dirty="0">
                <a:solidFill>
                  <a:srgbClr val="A8871C"/>
                </a:solidFill>
                <a:latin typeface="Pretendard" pitchFamily="34" charset="0"/>
                <a:ea typeface="Pretendard" pitchFamily="34" charset="-122"/>
                <a:cs typeface="Pretendard" pitchFamily="34" charset="-120"/>
              </a:rPr>
              <a:t>연구대상 │ </a:t>
            </a:r>
            <a:r>
              <a:rPr lang="en-US" sz="1100" dirty="0">
                <a:solidFill>
                  <a:srgbClr val="222633"/>
                </a:solidFill>
                <a:latin typeface="Pretendard" pitchFamily="34" charset="0"/>
                <a:ea typeface="Pretendard" pitchFamily="34" charset="-122"/>
                <a:cs typeface="Pretendard" pitchFamily="34" charset="-120"/>
              </a:rPr>
              <a:t>12~17세  ·  DSM-IV 약물남용 또는 의존 기준 충족  ·  161명  ·  네 조건에 무작위배정</a:t>
            </a:r>
            <a:endParaRPr lang="en-US" sz="1100" dirty="0"/>
          </a:p>
        </p:txBody>
      </p:sp>
      <p:sp>
        <p:nvSpPr>
          <p:cNvPr id="40" name="Shape 38"/>
          <p:cNvSpPr/>
          <p:nvPr/>
        </p:nvSpPr>
        <p:spPr>
          <a:xfrm>
            <a:off x="731520" y="2191667"/>
            <a:ext cx="5148072" cy="1353312"/>
          </a:xfrm>
          <a:prstGeom prst="rect">
            <a:avLst/>
          </a:prstGeom>
          <a:solidFill>
            <a:srgbClr val="FFFFFF"/>
          </a:solidFill>
          <a:ln w="12700">
            <a:solidFill>
              <a:srgbClr val="DCE0E8"/>
            </a:solidFill>
            <a:prstDash val="solid"/>
          </a:ln>
        </p:spPr>
        <p:txBody>
          <a:bodyPr/>
          <a:lstStyle/>
          <a:p>
            <a:endParaRPr lang="ko-KR" altLang="en-US"/>
          </a:p>
        </p:txBody>
      </p:sp>
      <p:sp>
        <p:nvSpPr>
          <p:cNvPr id="41" name="Text 39"/>
          <p:cNvSpPr/>
          <p:nvPr/>
        </p:nvSpPr>
        <p:spPr>
          <a:xfrm>
            <a:off x="969264" y="2283107"/>
            <a:ext cx="4672584" cy="256032"/>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다체계치료 (MST)</a:t>
            </a:r>
            <a:endParaRPr lang="en-US" sz="1300" dirty="0"/>
          </a:p>
        </p:txBody>
      </p:sp>
      <p:sp>
        <p:nvSpPr>
          <p:cNvPr id="42" name="Text 40"/>
          <p:cNvSpPr/>
          <p:nvPr/>
        </p:nvSpPr>
        <p:spPr>
          <a:xfrm>
            <a:off x="969264" y="2520851"/>
            <a:ext cx="4672584" cy="201168"/>
          </a:xfrm>
          <a:prstGeom prst="rect">
            <a:avLst/>
          </a:prstGeom>
          <a:noFill/>
          <a:ln/>
        </p:spPr>
        <p:txBody>
          <a:bodyPr wrap="square" lIns="0" tIns="0" rIns="0" bIns="0" rtlCol="0" anchor="ctr"/>
          <a:lstStyle/>
          <a:p>
            <a:pPr marL="0" indent="0">
              <a:buNone/>
            </a:pPr>
            <a:r>
              <a:rPr lang="en-US" sz="950" dirty="0">
                <a:solidFill>
                  <a:srgbClr val="6E7686"/>
                </a:solidFill>
                <a:latin typeface="Pretendard" pitchFamily="34" charset="0"/>
                <a:ea typeface="Pretendard" pitchFamily="34" charset="-122"/>
                <a:cs typeface="Pretendard" pitchFamily="34" charset="-120"/>
              </a:rPr>
              <a:t>Multisystemic Therapy</a:t>
            </a:r>
            <a:endParaRPr lang="en-US" sz="950" dirty="0"/>
          </a:p>
        </p:txBody>
      </p:sp>
      <p:sp>
        <p:nvSpPr>
          <p:cNvPr id="43" name="Text 41"/>
          <p:cNvSpPr/>
          <p:nvPr/>
        </p:nvSpPr>
        <p:spPr>
          <a:xfrm>
            <a:off x="969264" y="2722019"/>
            <a:ext cx="4672584" cy="402336"/>
          </a:xfrm>
          <a:prstGeom prst="rect">
            <a:avLst/>
          </a:prstGeom>
          <a:noFill/>
          <a:ln/>
        </p:spPr>
        <p:txBody>
          <a:bodyPr wrap="square" lIns="0" tIns="0" rIns="0" bIns="0" rtlCol="0" anchor="t"/>
          <a:lstStyle/>
          <a:p>
            <a:pPr marL="0" indent="0">
              <a:lnSpc>
                <a:spcPts val="1700"/>
              </a:lnSpc>
              <a:buNone/>
            </a:pPr>
            <a:r>
              <a:rPr lang="en-US" sz="1150" b="1" dirty="0">
                <a:solidFill>
                  <a:srgbClr val="222633"/>
                </a:solidFill>
                <a:highlight>
                  <a:srgbClr val="FFFF00"/>
                </a:highlight>
                <a:latin typeface="Pretendard" pitchFamily="34" charset="0"/>
                <a:ea typeface="Pretendard" pitchFamily="34" charset="-122"/>
                <a:cs typeface="Pretendard" pitchFamily="34" charset="-120"/>
              </a:rPr>
              <a:t>청소년 개인만 상담하지 않고, 약물사용과 연결된 생활환경을 함께 바꾸는 집중적인 가족 · 지역사회 치료</a:t>
            </a:r>
            <a:endParaRPr lang="en-US" sz="1150" dirty="0">
              <a:highlight>
                <a:srgbClr val="FFFF00"/>
              </a:highlight>
            </a:endParaRPr>
          </a:p>
        </p:txBody>
      </p:sp>
      <p:sp>
        <p:nvSpPr>
          <p:cNvPr id="44" name="Text 42"/>
          <p:cNvSpPr/>
          <p:nvPr/>
        </p:nvSpPr>
        <p:spPr>
          <a:xfrm>
            <a:off x="969264" y="3142643"/>
            <a:ext cx="4672584" cy="365760"/>
          </a:xfrm>
          <a:prstGeom prst="rect">
            <a:avLst/>
          </a:prstGeom>
          <a:noFill/>
          <a:ln/>
        </p:spPr>
        <p:txBody>
          <a:bodyPr wrap="square" lIns="0" tIns="0" rIns="0" bIns="0" rtlCol="0" anchor="t"/>
          <a:lstStyle/>
          <a:p>
            <a:pPr marL="0" indent="0">
              <a:lnSpc>
                <a:spcPts val="1400"/>
              </a:lnSpc>
              <a:buNone/>
            </a:pPr>
            <a:r>
              <a:rPr lang="ko-KR" altLang="en-US" sz="1000" dirty="0" err="1">
                <a:solidFill>
                  <a:srgbClr val="464D5C"/>
                </a:solidFill>
                <a:latin typeface="Pretendard" pitchFamily="34" charset="0"/>
                <a:ea typeface="Pretendard" pitchFamily="34" charset="-122"/>
                <a:cs typeface="Pretendard" pitchFamily="34" charset="-120"/>
              </a:rPr>
              <a:t>ㅡ</a:t>
            </a:r>
            <a:r>
              <a:rPr lang="ko-KR" altLang="en-US" sz="1000" dirty="0">
                <a:solidFill>
                  <a:srgbClr val="464D5C"/>
                </a:solidFill>
                <a:latin typeface="Pretendard" pitchFamily="34" charset="0"/>
                <a:ea typeface="Pretendard" pitchFamily="34" charset="-122"/>
                <a:cs typeface="Pretendard" pitchFamily="34" charset="-120"/>
              </a:rPr>
              <a:t> </a:t>
            </a:r>
            <a:r>
              <a:rPr lang="en-US" sz="1000" dirty="0" err="1">
                <a:solidFill>
                  <a:srgbClr val="464D5C"/>
                </a:solidFill>
                <a:latin typeface="Pretendard" pitchFamily="34" charset="0"/>
                <a:ea typeface="Pretendard" pitchFamily="34" charset="-122"/>
                <a:cs typeface="Pretendard" pitchFamily="34" charset="-120"/>
              </a:rPr>
              <a:t>부모의</a:t>
            </a:r>
            <a:r>
              <a:rPr lang="en-US" sz="1000" dirty="0">
                <a:solidFill>
                  <a:srgbClr val="464D5C"/>
                </a:solidFill>
                <a:latin typeface="Pretendard" pitchFamily="34" charset="0"/>
                <a:ea typeface="Pretendard" pitchFamily="34" charset="-122"/>
                <a:cs typeface="Pretendard" pitchFamily="34" charset="-120"/>
              </a:rPr>
              <a:t> 감독과 가정규칙, 또래관계, 학교생활을 함께 다루고 실제 생활에서 행동변화를 만들어 간다</a:t>
            </a:r>
            <a:endParaRPr lang="en-US" sz="1000" dirty="0"/>
          </a:p>
        </p:txBody>
      </p:sp>
      <p:sp>
        <p:nvSpPr>
          <p:cNvPr id="45" name="Shape 43"/>
          <p:cNvSpPr/>
          <p:nvPr/>
        </p:nvSpPr>
        <p:spPr>
          <a:xfrm>
            <a:off x="6281928" y="2191667"/>
            <a:ext cx="5148072" cy="1353312"/>
          </a:xfrm>
          <a:prstGeom prst="rect">
            <a:avLst/>
          </a:prstGeom>
          <a:solidFill>
            <a:srgbClr val="F2F4F8"/>
          </a:solidFill>
          <a:ln w="12700">
            <a:solidFill>
              <a:srgbClr val="F2F4F8"/>
            </a:solidFill>
            <a:prstDash val="solid"/>
          </a:ln>
        </p:spPr>
        <p:txBody>
          <a:bodyPr/>
          <a:lstStyle/>
          <a:p>
            <a:endParaRPr lang="ko-KR" altLang="en-US"/>
          </a:p>
        </p:txBody>
      </p:sp>
      <p:sp>
        <p:nvSpPr>
          <p:cNvPr id="46" name="Text 44"/>
          <p:cNvSpPr/>
          <p:nvPr/>
        </p:nvSpPr>
        <p:spPr>
          <a:xfrm>
            <a:off x="6519672" y="2283107"/>
            <a:ext cx="4672584" cy="256032"/>
          </a:xfrm>
          <a:prstGeom prst="rect">
            <a:avLst/>
          </a:prstGeom>
          <a:noFill/>
          <a:ln/>
        </p:spPr>
        <p:txBody>
          <a:bodyPr wrap="square" lIns="0" tIns="0" rIns="0" bIns="0" rtlCol="0" anchor="ctr"/>
          <a:lstStyle/>
          <a:p>
            <a:pPr marL="0" indent="0">
              <a:buNone/>
            </a:pPr>
            <a:r>
              <a:rPr lang="en-US" sz="1300" b="1" dirty="0">
                <a:solidFill>
                  <a:srgbClr val="1E2761"/>
                </a:solidFill>
                <a:latin typeface="Pretendard" pitchFamily="34" charset="0"/>
                <a:ea typeface="Pretendard" pitchFamily="34" charset="-122"/>
                <a:cs typeface="Pretendard" pitchFamily="34" charset="-120"/>
              </a:rPr>
              <a:t>유관관리 (CM)</a:t>
            </a:r>
            <a:endParaRPr lang="en-US" sz="1300" dirty="0"/>
          </a:p>
        </p:txBody>
      </p:sp>
      <p:sp>
        <p:nvSpPr>
          <p:cNvPr id="47" name="Text 45"/>
          <p:cNvSpPr/>
          <p:nvPr/>
        </p:nvSpPr>
        <p:spPr>
          <a:xfrm>
            <a:off x="6519672" y="2520851"/>
            <a:ext cx="4672584" cy="201168"/>
          </a:xfrm>
          <a:prstGeom prst="rect">
            <a:avLst/>
          </a:prstGeom>
          <a:noFill/>
          <a:ln/>
        </p:spPr>
        <p:txBody>
          <a:bodyPr wrap="square" lIns="0" tIns="0" rIns="0" bIns="0" rtlCol="0" anchor="ctr"/>
          <a:lstStyle/>
          <a:p>
            <a:pPr marL="0" indent="0">
              <a:buNone/>
            </a:pPr>
            <a:r>
              <a:rPr lang="en-US" sz="950" dirty="0">
                <a:solidFill>
                  <a:srgbClr val="6E7686"/>
                </a:solidFill>
                <a:latin typeface="Pretendard" pitchFamily="34" charset="0"/>
                <a:ea typeface="Pretendard" pitchFamily="34" charset="-122"/>
                <a:cs typeface="Pretendard" pitchFamily="34" charset="-120"/>
              </a:rPr>
              <a:t>Contingency Management</a:t>
            </a:r>
            <a:endParaRPr lang="en-US" sz="950" dirty="0"/>
          </a:p>
        </p:txBody>
      </p:sp>
      <p:sp>
        <p:nvSpPr>
          <p:cNvPr id="48" name="Text 46"/>
          <p:cNvSpPr/>
          <p:nvPr/>
        </p:nvSpPr>
        <p:spPr>
          <a:xfrm>
            <a:off x="6519672" y="2722019"/>
            <a:ext cx="4672584" cy="402336"/>
          </a:xfrm>
          <a:prstGeom prst="rect">
            <a:avLst/>
          </a:prstGeom>
          <a:noFill/>
          <a:ln/>
        </p:spPr>
        <p:txBody>
          <a:bodyPr wrap="square" lIns="0" tIns="0" rIns="0" bIns="0" rtlCol="0" anchor="t"/>
          <a:lstStyle/>
          <a:p>
            <a:pPr marL="0" indent="0">
              <a:lnSpc>
                <a:spcPts val="1700"/>
              </a:lnSpc>
              <a:buNone/>
            </a:pPr>
            <a:r>
              <a:rPr lang="en-US" sz="1150" b="1" dirty="0">
                <a:solidFill>
                  <a:srgbClr val="222633"/>
                </a:solidFill>
                <a:highlight>
                  <a:srgbClr val="FFFF00"/>
                </a:highlight>
                <a:latin typeface="Pretendard" pitchFamily="34" charset="0"/>
                <a:ea typeface="Pretendard" pitchFamily="34" charset="-122"/>
                <a:cs typeface="Pretendard" pitchFamily="34" charset="-120"/>
              </a:rPr>
              <a:t>단약과 같은 목표행동에 즉각적인 보상을 연결하는 행동치료</a:t>
            </a:r>
            <a:endParaRPr lang="en-US" sz="1150" dirty="0">
              <a:highlight>
                <a:srgbClr val="FFFF00"/>
              </a:highlight>
            </a:endParaRPr>
          </a:p>
        </p:txBody>
      </p:sp>
      <p:sp>
        <p:nvSpPr>
          <p:cNvPr id="49" name="Text 47"/>
          <p:cNvSpPr/>
          <p:nvPr/>
        </p:nvSpPr>
        <p:spPr>
          <a:xfrm>
            <a:off x="6519672" y="3142643"/>
            <a:ext cx="4672584" cy="365760"/>
          </a:xfrm>
          <a:prstGeom prst="rect">
            <a:avLst/>
          </a:prstGeom>
          <a:noFill/>
          <a:ln/>
        </p:spPr>
        <p:txBody>
          <a:bodyPr wrap="square" lIns="0" tIns="0" rIns="0" bIns="0" rtlCol="0" anchor="t"/>
          <a:lstStyle/>
          <a:p>
            <a:pPr marL="0" indent="0">
              <a:lnSpc>
                <a:spcPts val="1400"/>
              </a:lnSpc>
              <a:buNone/>
            </a:pPr>
            <a:r>
              <a:rPr lang="en-US" sz="1000" dirty="0">
                <a:solidFill>
                  <a:srgbClr val="464D5C"/>
                </a:solidFill>
                <a:latin typeface="Pretendard" pitchFamily="34" charset="0"/>
                <a:ea typeface="Pretendard" pitchFamily="34" charset="-122"/>
                <a:cs typeface="Pretendard" pitchFamily="34" charset="-120"/>
              </a:rPr>
              <a:t>이 연구에서는 </a:t>
            </a:r>
            <a:r>
              <a:rPr lang="en-US" sz="1000" b="1" dirty="0">
                <a:solidFill>
                  <a:srgbClr val="464D5C"/>
                </a:solidFill>
                <a:latin typeface="Pretendard" pitchFamily="34" charset="0"/>
                <a:ea typeface="Pretendard" pitchFamily="34" charset="-122"/>
                <a:cs typeface="Pretendard" pitchFamily="34" charset="-120"/>
              </a:rPr>
              <a:t>음성 약물검사에 보상을 제공하고, 약물을 사용하는 상황을 분석해 재사용을 피할 계획과 자기관리 행동을 만들었다</a:t>
            </a:r>
            <a:endParaRPr lang="en-US" sz="1000" b="1" dirty="0"/>
          </a:p>
        </p:txBody>
      </p:sp>
      <p:sp>
        <p:nvSpPr>
          <p:cNvPr id="51" name="Shape 7">
            <a:extLst>
              <a:ext uri="{FF2B5EF4-FFF2-40B4-BE49-F238E27FC236}">
                <a16:creationId xmlns:a16="http://schemas.microsoft.com/office/drawing/2014/main" id="{4B4B9D62-A59D-3947-3C1A-438CB9FE45B2}"/>
              </a:ext>
            </a:extLst>
          </p:cNvPr>
          <p:cNvSpPr/>
          <p:nvPr/>
        </p:nvSpPr>
        <p:spPr>
          <a:xfrm>
            <a:off x="731520" y="3924703"/>
            <a:ext cx="2372868" cy="676656"/>
          </a:xfrm>
          <a:prstGeom prst="rect">
            <a:avLst/>
          </a:prstGeom>
          <a:solidFill>
            <a:srgbClr val="F2F4F8"/>
          </a:solidFill>
          <a:ln w="12700">
            <a:solidFill>
              <a:srgbClr val="F2F4F8"/>
            </a:solidFill>
            <a:prstDash val="solid"/>
          </a:ln>
        </p:spPr>
        <p:txBody>
          <a:bodyPr/>
          <a:lstStyle/>
          <a:p>
            <a:endParaRPr lang="ko-KR" altLang="en-US"/>
          </a:p>
        </p:txBody>
      </p:sp>
      <p:sp>
        <p:nvSpPr>
          <p:cNvPr id="53" name="Text 8">
            <a:extLst>
              <a:ext uri="{FF2B5EF4-FFF2-40B4-BE49-F238E27FC236}">
                <a16:creationId xmlns:a16="http://schemas.microsoft.com/office/drawing/2014/main" id="{DCCB0413-6C1C-328B-1B89-E5741F5EFF7A}"/>
              </a:ext>
            </a:extLst>
          </p:cNvPr>
          <p:cNvSpPr/>
          <p:nvPr/>
        </p:nvSpPr>
        <p:spPr>
          <a:xfrm>
            <a:off x="822960" y="3924703"/>
            <a:ext cx="2189988" cy="676656"/>
          </a:xfrm>
          <a:prstGeom prst="rect">
            <a:avLst/>
          </a:prstGeom>
          <a:noFill/>
          <a:ln/>
        </p:spPr>
        <p:txBody>
          <a:bodyPr wrap="square" lIns="0" tIns="0" rIns="0" bIns="0" rtlCol="0" anchor="ctr"/>
          <a:lstStyle/>
          <a:p>
            <a:pPr marL="0" indent="0" algn="ctr">
              <a:lnSpc>
                <a:spcPts val="1600"/>
              </a:lnSpc>
              <a:buNone/>
            </a:pPr>
            <a:r>
              <a:rPr lang="en-US" sz="1150" b="1" dirty="0">
                <a:solidFill>
                  <a:srgbClr val="1E2761"/>
                </a:solidFill>
                <a:latin typeface="Pretendard" pitchFamily="34" charset="0"/>
                <a:ea typeface="Pretendard" pitchFamily="34" charset="-122"/>
                <a:cs typeface="Pretendard" pitchFamily="34" charset="-120"/>
              </a:rPr>
              <a:t>① 통상 가정법원</a:t>
            </a:r>
            <a:endParaRPr lang="en-US" sz="1150" dirty="0"/>
          </a:p>
          <a:p>
            <a:pPr marL="0" indent="0" algn="ctr">
              <a:lnSpc>
                <a:spcPts val="1600"/>
              </a:lnSpc>
              <a:buNone/>
            </a:pPr>
            <a:r>
              <a:rPr lang="en-US" sz="1150" b="1" dirty="0">
                <a:solidFill>
                  <a:srgbClr val="1E2761"/>
                </a:solidFill>
                <a:latin typeface="Pretendard" pitchFamily="34" charset="0"/>
                <a:ea typeface="Pretendard" pitchFamily="34" charset="-122"/>
                <a:cs typeface="Pretendard" pitchFamily="34" charset="-120"/>
              </a:rPr>
              <a:t>+ 지역사회 치료</a:t>
            </a:r>
            <a:endParaRPr lang="en-US" sz="1150" dirty="0"/>
          </a:p>
        </p:txBody>
      </p:sp>
      <p:sp>
        <p:nvSpPr>
          <p:cNvPr id="55" name="Text 9">
            <a:extLst>
              <a:ext uri="{FF2B5EF4-FFF2-40B4-BE49-F238E27FC236}">
                <a16:creationId xmlns:a16="http://schemas.microsoft.com/office/drawing/2014/main" id="{FEC7CBC1-81D0-38A8-EFE7-ABDEFB5F9C9E}"/>
              </a:ext>
            </a:extLst>
          </p:cNvPr>
          <p:cNvSpPr/>
          <p:nvPr/>
        </p:nvSpPr>
        <p:spPr>
          <a:xfrm>
            <a:off x="731520" y="4656223"/>
            <a:ext cx="2372868" cy="237744"/>
          </a:xfrm>
          <a:prstGeom prst="rect">
            <a:avLst/>
          </a:prstGeom>
          <a:noFill/>
          <a:ln/>
        </p:spPr>
        <p:txBody>
          <a:bodyPr wrap="square" lIns="0" tIns="0" rIns="0" bIns="0" rtlCol="0" anchor="ctr"/>
          <a:lstStyle/>
          <a:p>
            <a:pPr marL="0" indent="0" algn="ctr">
              <a:buNone/>
            </a:pPr>
            <a:r>
              <a:rPr lang="en-US" sz="950" dirty="0">
                <a:solidFill>
                  <a:srgbClr val="6E7686"/>
                </a:solidFill>
                <a:latin typeface="Pretendard" pitchFamily="34" charset="0"/>
                <a:ea typeface="Pretendard" pitchFamily="34" charset="-122"/>
                <a:cs typeface="Pretendard" pitchFamily="34" charset="-120"/>
              </a:rPr>
              <a:t>Family Court · n=42</a:t>
            </a:r>
            <a:endParaRPr lang="en-US" sz="950" dirty="0"/>
          </a:p>
        </p:txBody>
      </p:sp>
      <p:sp>
        <p:nvSpPr>
          <p:cNvPr id="57" name="Shape 10">
            <a:extLst>
              <a:ext uri="{FF2B5EF4-FFF2-40B4-BE49-F238E27FC236}">
                <a16:creationId xmlns:a16="http://schemas.microsoft.com/office/drawing/2014/main" id="{A71856BB-C966-8D34-2B55-751111130AD6}"/>
              </a:ext>
            </a:extLst>
          </p:cNvPr>
          <p:cNvSpPr/>
          <p:nvPr/>
        </p:nvSpPr>
        <p:spPr>
          <a:xfrm>
            <a:off x="731520" y="4948831"/>
            <a:ext cx="2372868" cy="1517904"/>
          </a:xfrm>
          <a:prstGeom prst="rect">
            <a:avLst/>
          </a:prstGeom>
          <a:solidFill>
            <a:srgbClr val="FFFFFF"/>
          </a:solidFill>
          <a:ln w="12700">
            <a:solidFill>
              <a:srgbClr val="DCE0E8"/>
            </a:solidFill>
            <a:prstDash val="solid"/>
          </a:ln>
        </p:spPr>
        <p:txBody>
          <a:bodyPr/>
          <a:lstStyle/>
          <a:p>
            <a:endParaRPr lang="ko-KR" altLang="en-US"/>
          </a:p>
        </p:txBody>
      </p:sp>
      <p:sp>
        <p:nvSpPr>
          <p:cNvPr id="59" name="Text 11">
            <a:extLst>
              <a:ext uri="{FF2B5EF4-FFF2-40B4-BE49-F238E27FC236}">
                <a16:creationId xmlns:a16="http://schemas.microsoft.com/office/drawing/2014/main" id="{861B04C7-C342-357D-6AB7-BA70E444E98B}"/>
              </a:ext>
            </a:extLst>
          </p:cNvPr>
          <p:cNvSpPr/>
          <p:nvPr/>
        </p:nvSpPr>
        <p:spPr>
          <a:xfrm>
            <a:off x="896112" y="5058559"/>
            <a:ext cx="2043684" cy="274320"/>
          </a:xfrm>
          <a:prstGeom prst="rect">
            <a:avLst/>
          </a:prstGeom>
          <a:noFill/>
          <a:ln/>
        </p:spPr>
        <p:txBody>
          <a:bodyPr wrap="square" lIns="0" tIns="0" rIns="0" bIns="0" rtlCol="0" anchor="t"/>
          <a:lstStyle/>
          <a:p>
            <a:pPr marL="0" indent="0">
              <a:lnSpc>
                <a:spcPts val="1500"/>
              </a:lnSpc>
              <a:buNone/>
            </a:pPr>
            <a:r>
              <a:rPr lang="en-US" sz="1050" dirty="0">
                <a:solidFill>
                  <a:srgbClr val="222633"/>
                </a:solidFill>
                <a:latin typeface="Pretendard" pitchFamily="34" charset="0"/>
                <a:ea typeface="Pretendard" pitchFamily="34" charset="-122"/>
                <a:cs typeface="Pretendard" pitchFamily="34" charset="-120"/>
              </a:rPr>
              <a:t>· 통상 가정법원 절차</a:t>
            </a:r>
            <a:endParaRPr lang="en-US" sz="1050" dirty="0"/>
          </a:p>
        </p:txBody>
      </p:sp>
      <p:sp>
        <p:nvSpPr>
          <p:cNvPr id="61" name="Text 12">
            <a:extLst>
              <a:ext uri="{FF2B5EF4-FFF2-40B4-BE49-F238E27FC236}">
                <a16:creationId xmlns:a16="http://schemas.microsoft.com/office/drawing/2014/main" id="{8B02D6FE-9CF3-BAAE-49B6-6DBAD9653F5D}"/>
              </a:ext>
            </a:extLst>
          </p:cNvPr>
          <p:cNvSpPr/>
          <p:nvPr/>
        </p:nvSpPr>
        <p:spPr>
          <a:xfrm>
            <a:off x="896112" y="5351167"/>
            <a:ext cx="2043684" cy="274320"/>
          </a:xfrm>
          <a:prstGeom prst="rect">
            <a:avLst/>
          </a:prstGeom>
          <a:noFill/>
          <a:ln/>
        </p:spPr>
        <p:txBody>
          <a:bodyPr wrap="square" lIns="0" tIns="0" rIns="0" bIns="0" rtlCol="0" anchor="t"/>
          <a:lstStyle/>
          <a:p>
            <a:pPr marL="0" indent="0">
              <a:lnSpc>
                <a:spcPts val="1500"/>
              </a:lnSpc>
              <a:buNone/>
            </a:pPr>
            <a:r>
              <a:rPr lang="en-US" sz="1050" dirty="0">
                <a:solidFill>
                  <a:srgbClr val="222633"/>
                </a:solidFill>
                <a:latin typeface="Pretendard" pitchFamily="34" charset="0"/>
                <a:ea typeface="Pretendard" pitchFamily="34" charset="-122"/>
                <a:cs typeface="Pretendard" pitchFamily="34" charset="-120"/>
              </a:rPr>
              <a:t>· 법원 출석 연 1~2회 수준</a:t>
            </a:r>
            <a:endParaRPr lang="en-US" sz="1050" dirty="0"/>
          </a:p>
        </p:txBody>
      </p:sp>
      <p:sp>
        <p:nvSpPr>
          <p:cNvPr id="63" name="Text 13">
            <a:extLst>
              <a:ext uri="{FF2B5EF4-FFF2-40B4-BE49-F238E27FC236}">
                <a16:creationId xmlns:a16="http://schemas.microsoft.com/office/drawing/2014/main" id="{40827DD3-C46E-1384-A053-305C00713A92}"/>
              </a:ext>
            </a:extLst>
          </p:cNvPr>
          <p:cNvSpPr/>
          <p:nvPr/>
        </p:nvSpPr>
        <p:spPr>
          <a:xfrm>
            <a:off x="896112" y="5643775"/>
            <a:ext cx="2043684" cy="274320"/>
          </a:xfrm>
          <a:prstGeom prst="rect">
            <a:avLst/>
          </a:prstGeom>
          <a:noFill/>
          <a:ln/>
        </p:spPr>
        <p:txBody>
          <a:bodyPr wrap="square" lIns="0" tIns="0" rIns="0" bIns="0" rtlCol="0" anchor="t"/>
          <a:lstStyle/>
          <a:p>
            <a:pPr marL="0" indent="0">
              <a:lnSpc>
                <a:spcPts val="1500"/>
              </a:lnSpc>
              <a:buNone/>
            </a:pPr>
            <a:r>
              <a:rPr lang="en-US" sz="1050" dirty="0">
                <a:solidFill>
                  <a:srgbClr val="222633"/>
                </a:solidFill>
                <a:latin typeface="Pretendard" pitchFamily="34" charset="0"/>
                <a:ea typeface="Pretendard" pitchFamily="34" charset="-122"/>
                <a:cs typeface="Pretendard" pitchFamily="34" charset="-120"/>
              </a:rPr>
              <a:t>· 지역사회 외래 약물치료 이용</a:t>
            </a:r>
            <a:endParaRPr lang="en-US" sz="1050" dirty="0"/>
          </a:p>
        </p:txBody>
      </p:sp>
      <p:sp>
        <p:nvSpPr>
          <p:cNvPr id="67" name="Shape 15">
            <a:extLst>
              <a:ext uri="{FF2B5EF4-FFF2-40B4-BE49-F238E27FC236}">
                <a16:creationId xmlns:a16="http://schemas.microsoft.com/office/drawing/2014/main" id="{84CEBFA1-317D-561F-D222-C80D540DF70D}"/>
              </a:ext>
            </a:extLst>
          </p:cNvPr>
          <p:cNvSpPr/>
          <p:nvPr/>
        </p:nvSpPr>
        <p:spPr>
          <a:xfrm>
            <a:off x="3506724" y="3924703"/>
            <a:ext cx="2372868" cy="676656"/>
          </a:xfrm>
          <a:prstGeom prst="rect">
            <a:avLst/>
          </a:prstGeom>
          <a:solidFill>
            <a:srgbClr val="F2F4F8"/>
          </a:solidFill>
          <a:ln w="12700">
            <a:solidFill>
              <a:srgbClr val="F2F4F8"/>
            </a:solidFill>
            <a:prstDash val="solid"/>
          </a:ln>
        </p:spPr>
        <p:txBody>
          <a:bodyPr/>
          <a:lstStyle/>
          <a:p>
            <a:endParaRPr lang="ko-KR" altLang="en-US"/>
          </a:p>
        </p:txBody>
      </p:sp>
      <p:sp>
        <p:nvSpPr>
          <p:cNvPr id="69" name="Text 16">
            <a:extLst>
              <a:ext uri="{FF2B5EF4-FFF2-40B4-BE49-F238E27FC236}">
                <a16:creationId xmlns:a16="http://schemas.microsoft.com/office/drawing/2014/main" id="{C8E4A192-5F96-6D47-781B-3AFEB67A3B32}"/>
              </a:ext>
            </a:extLst>
          </p:cNvPr>
          <p:cNvSpPr/>
          <p:nvPr/>
        </p:nvSpPr>
        <p:spPr>
          <a:xfrm>
            <a:off x="3598164" y="3924703"/>
            <a:ext cx="2189988" cy="676656"/>
          </a:xfrm>
          <a:prstGeom prst="rect">
            <a:avLst/>
          </a:prstGeom>
          <a:noFill/>
          <a:ln/>
        </p:spPr>
        <p:txBody>
          <a:bodyPr wrap="square" lIns="0" tIns="0" rIns="0" bIns="0" rtlCol="0" anchor="ctr"/>
          <a:lstStyle/>
          <a:p>
            <a:pPr marL="0" indent="0" algn="ctr">
              <a:lnSpc>
                <a:spcPts val="1600"/>
              </a:lnSpc>
              <a:buNone/>
            </a:pPr>
            <a:r>
              <a:rPr lang="en-US" sz="1150" b="1" dirty="0">
                <a:solidFill>
                  <a:srgbClr val="1E2761"/>
                </a:solidFill>
                <a:latin typeface="Pretendard" pitchFamily="34" charset="0"/>
                <a:ea typeface="Pretendard" pitchFamily="34" charset="-122"/>
                <a:cs typeface="Pretendard" pitchFamily="34" charset="-120"/>
              </a:rPr>
              <a:t>② 소년약물법원</a:t>
            </a:r>
            <a:endParaRPr lang="en-US" sz="1150" dirty="0"/>
          </a:p>
          <a:p>
            <a:pPr marL="0" indent="0" algn="ctr">
              <a:lnSpc>
                <a:spcPts val="1600"/>
              </a:lnSpc>
              <a:buNone/>
            </a:pPr>
            <a:r>
              <a:rPr lang="en-US" sz="1150" b="1" dirty="0">
                <a:solidFill>
                  <a:srgbClr val="1E2761"/>
                </a:solidFill>
                <a:latin typeface="Pretendard" pitchFamily="34" charset="0"/>
                <a:ea typeface="Pretendard" pitchFamily="34" charset="-122"/>
                <a:cs typeface="Pretendard" pitchFamily="34" charset="-120"/>
              </a:rPr>
              <a:t>+ 기존 지역사회 치료</a:t>
            </a:r>
            <a:endParaRPr lang="en-US" sz="1150" dirty="0"/>
          </a:p>
        </p:txBody>
      </p:sp>
      <p:sp>
        <p:nvSpPr>
          <p:cNvPr id="71" name="Text 17">
            <a:extLst>
              <a:ext uri="{FF2B5EF4-FFF2-40B4-BE49-F238E27FC236}">
                <a16:creationId xmlns:a16="http://schemas.microsoft.com/office/drawing/2014/main" id="{80D21C01-E4F8-B215-A8B7-473A6D0FA7EE}"/>
              </a:ext>
            </a:extLst>
          </p:cNvPr>
          <p:cNvSpPr/>
          <p:nvPr/>
        </p:nvSpPr>
        <p:spPr>
          <a:xfrm>
            <a:off x="3506724" y="4656223"/>
            <a:ext cx="2372868" cy="237744"/>
          </a:xfrm>
          <a:prstGeom prst="rect">
            <a:avLst/>
          </a:prstGeom>
          <a:noFill/>
          <a:ln/>
        </p:spPr>
        <p:txBody>
          <a:bodyPr wrap="square" lIns="0" tIns="0" rIns="0" bIns="0" rtlCol="0" anchor="ctr"/>
          <a:lstStyle/>
          <a:p>
            <a:pPr marL="0" indent="0" algn="ctr">
              <a:buNone/>
            </a:pPr>
            <a:r>
              <a:rPr lang="en-US" sz="950" dirty="0">
                <a:solidFill>
                  <a:srgbClr val="6E7686"/>
                </a:solidFill>
                <a:latin typeface="Pretendard" pitchFamily="34" charset="0"/>
                <a:ea typeface="Pretendard" pitchFamily="34" charset="-122"/>
                <a:cs typeface="Pretendard" pitchFamily="34" charset="-120"/>
              </a:rPr>
              <a:t>Drug Court · n=38</a:t>
            </a:r>
            <a:endParaRPr lang="en-US" sz="950" dirty="0"/>
          </a:p>
        </p:txBody>
      </p:sp>
      <p:sp>
        <p:nvSpPr>
          <p:cNvPr id="73" name="Shape 18">
            <a:extLst>
              <a:ext uri="{FF2B5EF4-FFF2-40B4-BE49-F238E27FC236}">
                <a16:creationId xmlns:a16="http://schemas.microsoft.com/office/drawing/2014/main" id="{A68717AD-0587-5D99-C1E2-60910EFC71B3}"/>
              </a:ext>
            </a:extLst>
          </p:cNvPr>
          <p:cNvSpPr/>
          <p:nvPr/>
        </p:nvSpPr>
        <p:spPr>
          <a:xfrm>
            <a:off x="3506724" y="4948831"/>
            <a:ext cx="2372868" cy="1517904"/>
          </a:xfrm>
          <a:prstGeom prst="rect">
            <a:avLst/>
          </a:prstGeom>
          <a:solidFill>
            <a:srgbClr val="FFFFFF"/>
          </a:solidFill>
          <a:ln w="12700">
            <a:solidFill>
              <a:srgbClr val="DCE0E8"/>
            </a:solidFill>
            <a:prstDash val="solid"/>
          </a:ln>
        </p:spPr>
        <p:txBody>
          <a:bodyPr/>
          <a:lstStyle/>
          <a:p>
            <a:endParaRPr lang="ko-KR" altLang="en-US"/>
          </a:p>
        </p:txBody>
      </p:sp>
      <p:sp>
        <p:nvSpPr>
          <p:cNvPr id="75" name="Text 19">
            <a:extLst>
              <a:ext uri="{FF2B5EF4-FFF2-40B4-BE49-F238E27FC236}">
                <a16:creationId xmlns:a16="http://schemas.microsoft.com/office/drawing/2014/main" id="{545A45A0-5C6B-1E99-2202-0A0206E21521}"/>
              </a:ext>
            </a:extLst>
          </p:cNvPr>
          <p:cNvSpPr/>
          <p:nvPr/>
        </p:nvSpPr>
        <p:spPr>
          <a:xfrm>
            <a:off x="3671316" y="5058559"/>
            <a:ext cx="2043684" cy="274320"/>
          </a:xfrm>
          <a:prstGeom prst="rect">
            <a:avLst/>
          </a:prstGeom>
          <a:noFill/>
          <a:ln/>
        </p:spPr>
        <p:txBody>
          <a:bodyPr wrap="square" lIns="0" tIns="0" rIns="0" bIns="0" rtlCol="0" anchor="t"/>
          <a:lstStyle/>
          <a:p>
            <a:pPr marL="0" indent="0">
              <a:lnSpc>
                <a:spcPts val="1500"/>
              </a:lnSpc>
              <a:buNone/>
            </a:pPr>
            <a:r>
              <a:rPr lang="en-US" sz="1050" dirty="0">
                <a:solidFill>
                  <a:srgbClr val="222633"/>
                </a:solidFill>
                <a:latin typeface="Pretendard" pitchFamily="34" charset="0"/>
                <a:ea typeface="Pretendard" pitchFamily="34" charset="-122"/>
                <a:cs typeface="Pretendard" pitchFamily="34" charset="-120"/>
              </a:rPr>
              <a:t>· 초기 주 1회 법원 출석</a:t>
            </a:r>
            <a:endParaRPr lang="en-US" sz="1050" dirty="0"/>
          </a:p>
        </p:txBody>
      </p:sp>
      <p:sp>
        <p:nvSpPr>
          <p:cNvPr id="77" name="Text 20">
            <a:extLst>
              <a:ext uri="{FF2B5EF4-FFF2-40B4-BE49-F238E27FC236}">
                <a16:creationId xmlns:a16="http://schemas.microsoft.com/office/drawing/2014/main" id="{B330BCBB-A217-3767-E5E7-5772D2068D9F}"/>
              </a:ext>
            </a:extLst>
          </p:cNvPr>
          <p:cNvSpPr/>
          <p:nvPr/>
        </p:nvSpPr>
        <p:spPr>
          <a:xfrm>
            <a:off x="3671316" y="5351167"/>
            <a:ext cx="2043684" cy="274320"/>
          </a:xfrm>
          <a:prstGeom prst="rect">
            <a:avLst/>
          </a:prstGeom>
          <a:noFill/>
          <a:ln/>
        </p:spPr>
        <p:txBody>
          <a:bodyPr wrap="square" lIns="0" tIns="0" rIns="0" bIns="0" rtlCol="0" anchor="t"/>
          <a:lstStyle/>
          <a:p>
            <a:pPr marL="0" indent="0">
              <a:lnSpc>
                <a:spcPts val="1500"/>
              </a:lnSpc>
              <a:buNone/>
            </a:pPr>
            <a:r>
              <a:rPr lang="en-US" sz="1050" dirty="0">
                <a:solidFill>
                  <a:srgbClr val="222633"/>
                </a:solidFill>
                <a:latin typeface="Pretendard" pitchFamily="34" charset="0"/>
                <a:ea typeface="Pretendard" pitchFamily="34" charset="-122"/>
                <a:cs typeface="Pretendard" pitchFamily="34" charset="-120"/>
              </a:rPr>
              <a:t>· 정기 소변 약물검사</a:t>
            </a:r>
            <a:endParaRPr lang="en-US" sz="1050" dirty="0"/>
          </a:p>
        </p:txBody>
      </p:sp>
      <p:sp>
        <p:nvSpPr>
          <p:cNvPr id="79" name="Text 21">
            <a:extLst>
              <a:ext uri="{FF2B5EF4-FFF2-40B4-BE49-F238E27FC236}">
                <a16:creationId xmlns:a16="http://schemas.microsoft.com/office/drawing/2014/main" id="{9F55CCA5-A892-6AA3-6CC9-C7AA8BAF285F}"/>
              </a:ext>
            </a:extLst>
          </p:cNvPr>
          <p:cNvSpPr/>
          <p:nvPr/>
        </p:nvSpPr>
        <p:spPr>
          <a:xfrm>
            <a:off x="3671316" y="5643775"/>
            <a:ext cx="2043684" cy="274320"/>
          </a:xfrm>
          <a:prstGeom prst="rect">
            <a:avLst/>
          </a:prstGeom>
          <a:noFill/>
          <a:ln/>
        </p:spPr>
        <p:txBody>
          <a:bodyPr wrap="square" lIns="0" tIns="0" rIns="0" bIns="0" rtlCol="0" anchor="t"/>
          <a:lstStyle/>
          <a:p>
            <a:pPr marL="0" indent="0">
              <a:lnSpc>
                <a:spcPts val="1500"/>
              </a:lnSpc>
              <a:buNone/>
            </a:pPr>
            <a:r>
              <a:rPr lang="en-US" sz="1050" dirty="0">
                <a:solidFill>
                  <a:srgbClr val="222633"/>
                </a:solidFill>
                <a:latin typeface="Pretendard" pitchFamily="34" charset="0"/>
                <a:ea typeface="Pretendard" pitchFamily="34" charset="-122"/>
                <a:cs typeface="Pretendard" pitchFamily="34" charset="-120"/>
              </a:rPr>
              <a:t>· 보호자 · 상담자의 행동보고 확인</a:t>
            </a:r>
            <a:endParaRPr lang="en-US" sz="1050" dirty="0"/>
          </a:p>
        </p:txBody>
      </p:sp>
      <p:sp>
        <p:nvSpPr>
          <p:cNvPr id="81" name="Text 22">
            <a:extLst>
              <a:ext uri="{FF2B5EF4-FFF2-40B4-BE49-F238E27FC236}">
                <a16:creationId xmlns:a16="http://schemas.microsoft.com/office/drawing/2014/main" id="{05F7C403-0F09-3867-8573-94C8FC16D647}"/>
              </a:ext>
            </a:extLst>
          </p:cNvPr>
          <p:cNvSpPr/>
          <p:nvPr/>
        </p:nvSpPr>
        <p:spPr>
          <a:xfrm>
            <a:off x="3671316" y="5936383"/>
            <a:ext cx="2043684" cy="274320"/>
          </a:xfrm>
          <a:prstGeom prst="rect">
            <a:avLst/>
          </a:prstGeom>
          <a:noFill/>
          <a:ln/>
        </p:spPr>
        <p:txBody>
          <a:bodyPr wrap="square" lIns="0" tIns="0" rIns="0" bIns="0" rtlCol="0" anchor="t"/>
          <a:lstStyle/>
          <a:p>
            <a:pPr marL="0" indent="0">
              <a:lnSpc>
                <a:spcPts val="1500"/>
              </a:lnSpc>
              <a:buNone/>
            </a:pPr>
            <a:r>
              <a:rPr lang="en-US" sz="1050" dirty="0">
                <a:solidFill>
                  <a:srgbClr val="222633"/>
                </a:solidFill>
                <a:latin typeface="Pretendard" pitchFamily="34" charset="0"/>
                <a:ea typeface="Pretendard" pitchFamily="34" charset="-122"/>
                <a:cs typeface="Pretendard" pitchFamily="34" charset="-120"/>
              </a:rPr>
              <a:t>· 준수 · 개선 → 보상</a:t>
            </a:r>
            <a:endParaRPr lang="en-US" sz="1050" dirty="0"/>
          </a:p>
        </p:txBody>
      </p:sp>
      <p:sp>
        <p:nvSpPr>
          <p:cNvPr id="83" name="Text 23">
            <a:extLst>
              <a:ext uri="{FF2B5EF4-FFF2-40B4-BE49-F238E27FC236}">
                <a16:creationId xmlns:a16="http://schemas.microsoft.com/office/drawing/2014/main" id="{CE3D060F-AEBE-548F-91B2-C31C5272E8DC}"/>
              </a:ext>
            </a:extLst>
          </p:cNvPr>
          <p:cNvSpPr/>
          <p:nvPr/>
        </p:nvSpPr>
        <p:spPr>
          <a:xfrm>
            <a:off x="3671316" y="6228991"/>
            <a:ext cx="2043684" cy="274320"/>
          </a:xfrm>
          <a:prstGeom prst="rect">
            <a:avLst/>
          </a:prstGeom>
          <a:noFill/>
          <a:ln/>
        </p:spPr>
        <p:txBody>
          <a:bodyPr wrap="square" lIns="0" tIns="0" rIns="0" bIns="0" rtlCol="0" anchor="t"/>
          <a:lstStyle/>
          <a:p>
            <a:pPr marL="0" indent="0">
              <a:lnSpc>
                <a:spcPts val="1500"/>
              </a:lnSpc>
              <a:buNone/>
            </a:pPr>
            <a:r>
              <a:rPr lang="en-US" sz="1050" dirty="0">
                <a:solidFill>
                  <a:srgbClr val="222633"/>
                </a:solidFill>
                <a:latin typeface="Pretendard" pitchFamily="34" charset="0"/>
                <a:ea typeface="Pretendard" pitchFamily="34" charset="-122"/>
                <a:cs typeface="Pretendard" pitchFamily="34" charset="-120"/>
              </a:rPr>
              <a:t>· 위반 → 단계적 제재</a:t>
            </a:r>
            <a:endParaRPr lang="en-US" sz="1050" dirty="0"/>
          </a:p>
        </p:txBody>
      </p:sp>
      <p:sp>
        <p:nvSpPr>
          <p:cNvPr id="85" name="Text 24">
            <a:extLst>
              <a:ext uri="{FF2B5EF4-FFF2-40B4-BE49-F238E27FC236}">
                <a16:creationId xmlns:a16="http://schemas.microsoft.com/office/drawing/2014/main" id="{C9D44463-DF1D-0CAC-874E-3510DEE87A5E}"/>
              </a:ext>
            </a:extLst>
          </p:cNvPr>
          <p:cNvSpPr/>
          <p:nvPr/>
        </p:nvSpPr>
        <p:spPr>
          <a:xfrm>
            <a:off x="5641848" y="4647079"/>
            <a:ext cx="950976" cy="237744"/>
          </a:xfrm>
          <a:prstGeom prst="rect">
            <a:avLst/>
          </a:prstGeom>
          <a:noFill/>
          <a:ln/>
        </p:spPr>
        <p:txBody>
          <a:bodyPr wrap="square" lIns="0" tIns="0" rIns="0" bIns="0" rtlCol="0" anchor="ctr"/>
          <a:lstStyle/>
          <a:p>
            <a:pPr marL="0" indent="0" algn="ctr">
              <a:buNone/>
            </a:pPr>
            <a:r>
              <a:rPr lang="en-US" sz="950" b="1" dirty="0">
                <a:solidFill>
                  <a:srgbClr val="A8871C"/>
                </a:solidFill>
                <a:latin typeface="Pretendard" pitchFamily="34" charset="0"/>
                <a:ea typeface="Pretendard" pitchFamily="34" charset="-122"/>
                <a:cs typeface="Pretendard" pitchFamily="34" charset="-120"/>
              </a:rPr>
              <a:t>MST 추가 →</a:t>
            </a:r>
            <a:endParaRPr lang="en-US" sz="950" dirty="0"/>
          </a:p>
        </p:txBody>
      </p:sp>
      <p:sp>
        <p:nvSpPr>
          <p:cNvPr id="87" name="Shape 25">
            <a:extLst>
              <a:ext uri="{FF2B5EF4-FFF2-40B4-BE49-F238E27FC236}">
                <a16:creationId xmlns:a16="http://schemas.microsoft.com/office/drawing/2014/main" id="{FA50F9FF-B3F8-90D3-45E9-73F26020F966}"/>
              </a:ext>
            </a:extLst>
          </p:cNvPr>
          <p:cNvSpPr/>
          <p:nvPr/>
        </p:nvSpPr>
        <p:spPr>
          <a:xfrm>
            <a:off x="6281928" y="3924703"/>
            <a:ext cx="2372868" cy="676656"/>
          </a:xfrm>
          <a:prstGeom prst="rect">
            <a:avLst/>
          </a:prstGeom>
          <a:solidFill>
            <a:srgbClr val="F2F4F8"/>
          </a:solidFill>
          <a:ln w="12700">
            <a:solidFill>
              <a:srgbClr val="F2F4F8"/>
            </a:solidFill>
            <a:prstDash val="solid"/>
          </a:ln>
        </p:spPr>
        <p:txBody>
          <a:bodyPr/>
          <a:lstStyle/>
          <a:p>
            <a:endParaRPr lang="ko-KR" altLang="en-US"/>
          </a:p>
        </p:txBody>
      </p:sp>
      <p:sp>
        <p:nvSpPr>
          <p:cNvPr id="89" name="Text 26">
            <a:extLst>
              <a:ext uri="{FF2B5EF4-FFF2-40B4-BE49-F238E27FC236}">
                <a16:creationId xmlns:a16="http://schemas.microsoft.com/office/drawing/2014/main" id="{229A418D-644E-ADB4-7AD3-33EFA08FAD91}"/>
              </a:ext>
            </a:extLst>
          </p:cNvPr>
          <p:cNvSpPr/>
          <p:nvPr/>
        </p:nvSpPr>
        <p:spPr>
          <a:xfrm>
            <a:off x="6373368" y="3924703"/>
            <a:ext cx="2189988" cy="676656"/>
          </a:xfrm>
          <a:prstGeom prst="rect">
            <a:avLst/>
          </a:prstGeom>
          <a:noFill/>
          <a:ln/>
        </p:spPr>
        <p:txBody>
          <a:bodyPr wrap="square" lIns="0" tIns="0" rIns="0" bIns="0" rtlCol="0" anchor="ctr"/>
          <a:lstStyle/>
          <a:p>
            <a:pPr marL="0" indent="0" algn="ctr">
              <a:lnSpc>
                <a:spcPts val="1600"/>
              </a:lnSpc>
              <a:buNone/>
            </a:pPr>
            <a:r>
              <a:rPr lang="en-US" sz="1150" b="1" dirty="0">
                <a:solidFill>
                  <a:srgbClr val="1E2761"/>
                </a:solidFill>
                <a:latin typeface="Pretendard" pitchFamily="34" charset="0"/>
                <a:ea typeface="Pretendard" pitchFamily="34" charset="-122"/>
                <a:cs typeface="Pretendard" pitchFamily="34" charset="-120"/>
              </a:rPr>
              <a:t>③ 소년약물법원</a:t>
            </a:r>
            <a:endParaRPr lang="en-US" sz="1150" dirty="0"/>
          </a:p>
          <a:p>
            <a:pPr marL="0" indent="0" algn="ctr">
              <a:lnSpc>
                <a:spcPts val="1600"/>
              </a:lnSpc>
              <a:buNone/>
            </a:pPr>
            <a:r>
              <a:rPr lang="en-US" sz="1150" b="1" dirty="0">
                <a:solidFill>
                  <a:srgbClr val="1E2761"/>
                </a:solidFill>
                <a:latin typeface="Pretendard" pitchFamily="34" charset="0"/>
                <a:ea typeface="Pretendard" pitchFamily="34" charset="-122"/>
                <a:cs typeface="Pretendard" pitchFamily="34" charset="-120"/>
              </a:rPr>
              <a:t>+ MST</a:t>
            </a:r>
            <a:endParaRPr lang="en-US" sz="1150" dirty="0"/>
          </a:p>
        </p:txBody>
      </p:sp>
      <p:sp>
        <p:nvSpPr>
          <p:cNvPr id="91" name="Text 27">
            <a:extLst>
              <a:ext uri="{FF2B5EF4-FFF2-40B4-BE49-F238E27FC236}">
                <a16:creationId xmlns:a16="http://schemas.microsoft.com/office/drawing/2014/main" id="{FC79F6CB-52E4-C295-8E10-CA0DB7694B33}"/>
              </a:ext>
            </a:extLst>
          </p:cNvPr>
          <p:cNvSpPr/>
          <p:nvPr/>
        </p:nvSpPr>
        <p:spPr>
          <a:xfrm>
            <a:off x="6281928" y="4656223"/>
            <a:ext cx="2372868" cy="237744"/>
          </a:xfrm>
          <a:prstGeom prst="rect">
            <a:avLst/>
          </a:prstGeom>
          <a:noFill/>
          <a:ln/>
        </p:spPr>
        <p:txBody>
          <a:bodyPr wrap="square" lIns="0" tIns="0" rIns="0" bIns="0" rtlCol="0" anchor="ctr"/>
          <a:lstStyle/>
          <a:p>
            <a:pPr marL="0" indent="0" algn="ctr">
              <a:buNone/>
            </a:pPr>
            <a:r>
              <a:rPr lang="en-US" sz="950" dirty="0">
                <a:solidFill>
                  <a:srgbClr val="6E7686"/>
                </a:solidFill>
                <a:latin typeface="Pretendard" pitchFamily="34" charset="0"/>
                <a:ea typeface="Pretendard" pitchFamily="34" charset="-122"/>
                <a:cs typeface="Pretendard" pitchFamily="34" charset="-120"/>
              </a:rPr>
              <a:t>Drug Court + MST · n=38</a:t>
            </a:r>
            <a:endParaRPr lang="en-US" sz="950" dirty="0"/>
          </a:p>
        </p:txBody>
      </p:sp>
      <p:sp>
        <p:nvSpPr>
          <p:cNvPr id="93" name="Shape 28">
            <a:extLst>
              <a:ext uri="{FF2B5EF4-FFF2-40B4-BE49-F238E27FC236}">
                <a16:creationId xmlns:a16="http://schemas.microsoft.com/office/drawing/2014/main" id="{C43535BB-1FCE-66DB-9BBD-B85740F443D6}"/>
              </a:ext>
            </a:extLst>
          </p:cNvPr>
          <p:cNvSpPr/>
          <p:nvPr/>
        </p:nvSpPr>
        <p:spPr>
          <a:xfrm>
            <a:off x="6281928" y="4948831"/>
            <a:ext cx="2372868" cy="1517904"/>
          </a:xfrm>
          <a:prstGeom prst="rect">
            <a:avLst/>
          </a:prstGeom>
          <a:solidFill>
            <a:srgbClr val="FFFFFF"/>
          </a:solidFill>
          <a:ln w="12700">
            <a:solidFill>
              <a:srgbClr val="DCE0E8"/>
            </a:solidFill>
            <a:prstDash val="solid"/>
          </a:ln>
        </p:spPr>
        <p:txBody>
          <a:bodyPr/>
          <a:lstStyle/>
          <a:p>
            <a:endParaRPr lang="ko-KR" altLang="en-US"/>
          </a:p>
        </p:txBody>
      </p:sp>
      <p:sp>
        <p:nvSpPr>
          <p:cNvPr id="95" name="Text 29">
            <a:extLst>
              <a:ext uri="{FF2B5EF4-FFF2-40B4-BE49-F238E27FC236}">
                <a16:creationId xmlns:a16="http://schemas.microsoft.com/office/drawing/2014/main" id="{72A3B090-08CB-3BE5-A534-0EB6CE7FA042}"/>
              </a:ext>
            </a:extLst>
          </p:cNvPr>
          <p:cNvSpPr/>
          <p:nvPr/>
        </p:nvSpPr>
        <p:spPr>
          <a:xfrm>
            <a:off x="6446520" y="5058559"/>
            <a:ext cx="2043684" cy="274320"/>
          </a:xfrm>
          <a:prstGeom prst="rect">
            <a:avLst/>
          </a:prstGeom>
          <a:noFill/>
          <a:ln/>
        </p:spPr>
        <p:txBody>
          <a:bodyPr wrap="square" lIns="0" tIns="0" rIns="0" bIns="0" rtlCol="0" anchor="t"/>
          <a:lstStyle/>
          <a:p>
            <a:pPr marL="0" indent="0">
              <a:lnSpc>
                <a:spcPts val="1500"/>
              </a:lnSpc>
              <a:buNone/>
            </a:pPr>
            <a:r>
              <a:rPr lang="en-US" sz="1050" dirty="0">
                <a:solidFill>
                  <a:srgbClr val="222633"/>
                </a:solidFill>
                <a:latin typeface="Pretendard" pitchFamily="34" charset="0"/>
                <a:ea typeface="Pretendard" pitchFamily="34" charset="-122"/>
                <a:cs typeface="Pretendard" pitchFamily="34" charset="-120"/>
              </a:rPr>
              <a:t>· ②의 법원감독 유지</a:t>
            </a:r>
            <a:endParaRPr lang="en-US" sz="1050" dirty="0"/>
          </a:p>
        </p:txBody>
      </p:sp>
      <p:sp>
        <p:nvSpPr>
          <p:cNvPr id="97" name="Text 30">
            <a:extLst>
              <a:ext uri="{FF2B5EF4-FFF2-40B4-BE49-F238E27FC236}">
                <a16:creationId xmlns:a16="http://schemas.microsoft.com/office/drawing/2014/main" id="{F436F884-7ED5-1813-C9AD-3A7A22130A3E}"/>
              </a:ext>
            </a:extLst>
          </p:cNvPr>
          <p:cNvSpPr/>
          <p:nvPr/>
        </p:nvSpPr>
        <p:spPr>
          <a:xfrm>
            <a:off x="6446520" y="5351167"/>
            <a:ext cx="2043684" cy="274320"/>
          </a:xfrm>
          <a:prstGeom prst="rect">
            <a:avLst/>
          </a:prstGeom>
          <a:noFill/>
          <a:ln/>
        </p:spPr>
        <p:txBody>
          <a:bodyPr wrap="square" lIns="0" tIns="0" rIns="0" bIns="0" rtlCol="0" anchor="t"/>
          <a:lstStyle/>
          <a:p>
            <a:pPr marL="0" indent="0">
              <a:lnSpc>
                <a:spcPts val="1500"/>
              </a:lnSpc>
              <a:buNone/>
            </a:pPr>
            <a:r>
              <a:rPr lang="en-US" sz="1050" dirty="0">
                <a:solidFill>
                  <a:srgbClr val="222633"/>
                </a:solidFill>
                <a:latin typeface="Pretendard" pitchFamily="34" charset="0"/>
                <a:ea typeface="Pretendard" pitchFamily="34" charset="-122"/>
                <a:cs typeface="Pretendard" pitchFamily="34" charset="-120"/>
              </a:rPr>
              <a:t>· 다체계치료(MST) 추가</a:t>
            </a:r>
            <a:endParaRPr lang="en-US" sz="1050" dirty="0"/>
          </a:p>
        </p:txBody>
      </p:sp>
      <p:sp>
        <p:nvSpPr>
          <p:cNvPr id="99" name="Text 31">
            <a:extLst>
              <a:ext uri="{FF2B5EF4-FFF2-40B4-BE49-F238E27FC236}">
                <a16:creationId xmlns:a16="http://schemas.microsoft.com/office/drawing/2014/main" id="{1AA17BED-FF6A-63F0-E056-9B804ACE502E}"/>
              </a:ext>
            </a:extLst>
          </p:cNvPr>
          <p:cNvSpPr/>
          <p:nvPr/>
        </p:nvSpPr>
        <p:spPr>
          <a:xfrm>
            <a:off x="8490204" y="4682694"/>
            <a:ext cx="950976" cy="237744"/>
          </a:xfrm>
          <a:prstGeom prst="rect">
            <a:avLst/>
          </a:prstGeom>
          <a:noFill/>
          <a:ln/>
        </p:spPr>
        <p:txBody>
          <a:bodyPr wrap="square" lIns="0" tIns="0" rIns="0" bIns="0" rtlCol="0" anchor="ctr"/>
          <a:lstStyle/>
          <a:p>
            <a:pPr marL="0" indent="0" algn="ctr">
              <a:buNone/>
            </a:pPr>
            <a:r>
              <a:rPr lang="en-US" sz="950" b="1" dirty="0">
                <a:solidFill>
                  <a:srgbClr val="A8871C"/>
                </a:solidFill>
                <a:latin typeface="Pretendard" pitchFamily="34" charset="0"/>
                <a:ea typeface="Pretendard" pitchFamily="34" charset="-122"/>
                <a:cs typeface="Pretendard" pitchFamily="34" charset="-120"/>
              </a:rPr>
              <a:t>CM 추가 →</a:t>
            </a:r>
            <a:endParaRPr lang="en-US" sz="950" dirty="0"/>
          </a:p>
        </p:txBody>
      </p:sp>
      <p:sp>
        <p:nvSpPr>
          <p:cNvPr id="101" name="Shape 32">
            <a:extLst>
              <a:ext uri="{FF2B5EF4-FFF2-40B4-BE49-F238E27FC236}">
                <a16:creationId xmlns:a16="http://schemas.microsoft.com/office/drawing/2014/main" id="{E3882F32-1082-D58C-9172-AB2499B80B93}"/>
              </a:ext>
            </a:extLst>
          </p:cNvPr>
          <p:cNvSpPr/>
          <p:nvPr/>
        </p:nvSpPr>
        <p:spPr>
          <a:xfrm>
            <a:off x="9057132" y="3924703"/>
            <a:ext cx="2372868" cy="676656"/>
          </a:xfrm>
          <a:prstGeom prst="rect">
            <a:avLst/>
          </a:prstGeom>
          <a:solidFill>
            <a:srgbClr val="1E2761"/>
          </a:solidFill>
          <a:ln w="12700">
            <a:solidFill>
              <a:srgbClr val="1E2761"/>
            </a:solidFill>
            <a:prstDash val="solid"/>
          </a:ln>
        </p:spPr>
        <p:txBody>
          <a:bodyPr/>
          <a:lstStyle/>
          <a:p>
            <a:endParaRPr lang="ko-KR" altLang="en-US"/>
          </a:p>
        </p:txBody>
      </p:sp>
      <p:sp>
        <p:nvSpPr>
          <p:cNvPr id="103" name="Text 33">
            <a:extLst>
              <a:ext uri="{FF2B5EF4-FFF2-40B4-BE49-F238E27FC236}">
                <a16:creationId xmlns:a16="http://schemas.microsoft.com/office/drawing/2014/main" id="{3946F656-AC11-0611-EC31-9B839D851D1E}"/>
              </a:ext>
            </a:extLst>
          </p:cNvPr>
          <p:cNvSpPr/>
          <p:nvPr/>
        </p:nvSpPr>
        <p:spPr>
          <a:xfrm>
            <a:off x="9148572" y="3924703"/>
            <a:ext cx="2189988" cy="676656"/>
          </a:xfrm>
          <a:prstGeom prst="rect">
            <a:avLst/>
          </a:prstGeom>
          <a:noFill/>
          <a:ln/>
        </p:spPr>
        <p:txBody>
          <a:bodyPr wrap="square" lIns="0" tIns="0" rIns="0" bIns="0" rtlCol="0" anchor="ctr"/>
          <a:lstStyle/>
          <a:p>
            <a:pPr marL="0" indent="0" algn="ctr">
              <a:lnSpc>
                <a:spcPts val="1600"/>
              </a:lnSpc>
              <a:buNone/>
            </a:pPr>
            <a:r>
              <a:rPr lang="en-US" sz="1150" b="1" dirty="0">
                <a:solidFill>
                  <a:srgbClr val="FFFFFF"/>
                </a:solidFill>
                <a:latin typeface="Pretendard" pitchFamily="34" charset="0"/>
                <a:ea typeface="Pretendard" pitchFamily="34" charset="-122"/>
                <a:cs typeface="Pretendard" pitchFamily="34" charset="-120"/>
              </a:rPr>
              <a:t>④ 소년약물법원</a:t>
            </a:r>
            <a:endParaRPr lang="en-US" sz="1150" dirty="0"/>
          </a:p>
          <a:p>
            <a:pPr marL="0" indent="0" algn="ctr">
              <a:lnSpc>
                <a:spcPts val="1600"/>
              </a:lnSpc>
              <a:buNone/>
            </a:pPr>
            <a:r>
              <a:rPr lang="en-US" sz="1150" b="1" dirty="0">
                <a:solidFill>
                  <a:srgbClr val="FFFFFF"/>
                </a:solidFill>
                <a:latin typeface="Pretendard" pitchFamily="34" charset="0"/>
                <a:ea typeface="Pretendard" pitchFamily="34" charset="-122"/>
                <a:cs typeface="Pretendard" pitchFamily="34" charset="-120"/>
              </a:rPr>
              <a:t>+ MST + CM</a:t>
            </a:r>
            <a:endParaRPr lang="en-US" sz="1150" dirty="0"/>
          </a:p>
        </p:txBody>
      </p:sp>
      <p:sp>
        <p:nvSpPr>
          <p:cNvPr id="105" name="Text 34">
            <a:extLst>
              <a:ext uri="{FF2B5EF4-FFF2-40B4-BE49-F238E27FC236}">
                <a16:creationId xmlns:a16="http://schemas.microsoft.com/office/drawing/2014/main" id="{C2D76E94-9244-13EF-A1EB-1EAD2F8AE65B}"/>
              </a:ext>
            </a:extLst>
          </p:cNvPr>
          <p:cNvSpPr/>
          <p:nvPr/>
        </p:nvSpPr>
        <p:spPr>
          <a:xfrm>
            <a:off x="9057132" y="4656223"/>
            <a:ext cx="2372868" cy="237744"/>
          </a:xfrm>
          <a:prstGeom prst="rect">
            <a:avLst/>
          </a:prstGeom>
          <a:noFill/>
          <a:ln/>
        </p:spPr>
        <p:txBody>
          <a:bodyPr wrap="square" lIns="0" tIns="0" rIns="0" bIns="0" rtlCol="0" anchor="ctr"/>
          <a:lstStyle/>
          <a:p>
            <a:pPr marL="0" indent="0" algn="ctr">
              <a:buNone/>
            </a:pPr>
            <a:r>
              <a:rPr lang="en-US" sz="950" dirty="0">
                <a:solidFill>
                  <a:srgbClr val="6E7686"/>
                </a:solidFill>
                <a:latin typeface="Pretendard" pitchFamily="34" charset="0"/>
                <a:ea typeface="Pretendard" pitchFamily="34" charset="-122"/>
                <a:cs typeface="Pretendard" pitchFamily="34" charset="-120"/>
              </a:rPr>
              <a:t>Drug Court + MST + CM · n=43</a:t>
            </a:r>
            <a:endParaRPr lang="en-US" sz="950" dirty="0"/>
          </a:p>
        </p:txBody>
      </p:sp>
      <p:sp>
        <p:nvSpPr>
          <p:cNvPr id="107" name="Shape 35">
            <a:extLst>
              <a:ext uri="{FF2B5EF4-FFF2-40B4-BE49-F238E27FC236}">
                <a16:creationId xmlns:a16="http://schemas.microsoft.com/office/drawing/2014/main" id="{74BF4326-B010-9DCA-7A32-E737DCE03868}"/>
              </a:ext>
            </a:extLst>
          </p:cNvPr>
          <p:cNvSpPr/>
          <p:nvPr/>
        </p:nvSpPr>
        <p:spPr>
          <a:xfrm>
            <a:off x="9057132" y="4948831"/>
            <a:ext cx="2372868" cy="1517904"/>
          </a:xfrm>
          <a:prstGeom prst="rect">
            <a:avLst/>
          </a:prstGeom>
          <a:solidFill>
            <a:srgbClr val="FFFFFF"/>
          </a:solidFill>
          <a:ln w="12700">
            <a:solidFill>
              <a:srgbClr val="DCE0E8"/>
            </a:solidFill>
            <a:prstDash val="solid"/>
          </a:ln>
        </p:spPr>
        <p:txBody>
          <a:bodyPr/>
          <a:lstStyle/>
          <a:p>
            <a:endParaRPr lang="ko-KR" altLang="en-US"/>
          </a:p>
        </p:txBody>
      </p:sp>
      <p:sp>
        <p:nvSpPr>
          <p:cNvPr id="109" name="Text 36">
            <a:extLst>
              <a:ext uri="{FF2B5EF4-FFF2-40B4-BE49-F238E27FC236}">
                <a16:creationId xmlns:a16="http://schemas.microsoft.com/office/drawing/2014/main" id="{6CECCD83-46DD-CFD3-0214-1F75A97721F7}"/>
              </a:ext>
            </a:extLst>
          </p:cNvPr>
          <p:cNvSpPr/>
          <p:nvPr/>
        </p:nvSpPr>
        <p:spPr>
          <a:xfrm>
            <a:off x="9221724" y="5058559"/>
            <a:ext cx="2043684" cy="274320"/>
          </a:xfrm>
          <a:prstGeom prst="rect">
            <a:avLst/>
          </a:prstGeom>
          <a:noFill/>
          <a:ln/>
        </p:spPr>
        <p:txBody>
          <a:bodyPr wrap="square" lIns="0" tIns="0" rIns="0" bIns="0" rtlCol="0" anchor="t"/>
          <a:lstStyle/>
          <a:p>
            <a:pPr marL="0" indent="0">
              <a:lnSpc>
                <a:spcPts val="1500"/>
              </a:lnSpc>
              <a:buNone/>
            </a:pPr>
            <a:r>
              <a:rPr lang="en-US" sz="1050" dirty="0">
                <a:solidFill>
                  <a:srgbClr val="222633"/>
                </a:solidFill>
                <a:latin typeface="Pretendard" pitchFamily="34" charset="0"/>
                <a:ea typeface="Pretendard" pitchFamily="34" charset="-122"/>
                <a:cs typeface="Pretendard" pitchFamily="34" charset="-120"/>
              </a:rPr>
              <a:t>· ③의 법원감독 · MST 유지</a:t>
            </a:r>
            <a:endParaRPr lang="en-US" sz="1050" dirty="0"/>
          </a:p>
        </p:txBody>
      </p:sp>
      <p:sp>
        <p:nvSpPr>
          <p:cNvPr id="111" name="Text 37">
            <a:extLst>
              <a:ext uri="{FF2B5EF4-FFF2-40B4-BE49-F238E27FC236}">
                <a16:creationId xmlns:a16="http://schemas.microsoft.com/office/drawing/2014/main" id="{56D9743C-B2DE-A188-6CD0-60B375D44A40}"/>
              </a:ext>
            </a:extLst>
          </p:cNvPr>
          <p:cNvSpPr/>
          <p:nvPr/>
        </p:nvSpPr>
        <p:spPr>
          <a:xfrm>
            <a:off x="9221724" y="5351167"/>
            <a:ext cx="2043684" cy="274320"/>
          </a:xfrm>
          <a:prstGeom prst="rect">
            <a:avLst/>
          </a:prstGeom>
          <a:noFill/>
          <a:ln/>
        </p:spPr>
        <p:txBody>
          <a:bodyPr wrap="square" lIns="0" tIns="0" rIns="0" bIns="0" rtlCol="0" anchor="t"/>
          <a:lstStyle/>
          <a:p>
            <a:pPr marL="0" indent="0">
              <a:lnSpc>
                <a:spcPts val="1500"/>
              </a:lnSpc>
              <a:buNone/>
            </a:pPr>
            <a:r>
              <a:rPr lang="en-US" sz="1050" dirty="0">
                <a:solidFill>
                  <a:srgbClr val="222633"/>
                </a:solidFill>
                <a:latin typeface="Pretendard" pitchFamily="34" charset="0"/>
                <a:ea typeface="Pretendard" pitchFamily="34" charset="-122"/>
                <a:cs typeface="Pretendard" pitchFamily="34" charset="-120"/>
              </a:rPr>
              <a:t>· 유관관리(CM) 추가</a:t>
            </a:r>
            <a:endParaRPr lang="en-US" sz="1050" dirty="0"/>
          </a:p>
        </p:txBody>
      </p:sp>
      <p:sp>
        <p:nvSpPr>
          <p:cNvPr id="112" name="직사각형 111">
            <a:extLst>
              <a:ext uri="{FF2B5EF4-FFF2-40B4-BE49-F238E27FC236}">
                <a16:creationId xmlns:a16="http://schemas.microsoft.com/office/drawing/2014/main" id="{C2EF38AD-A8D4-D6FF-6237-0C95478C8B30}"/>
              </a:ext>
            </a:extLst>
          </p:cNvPr>
          <p:cNvSpPr/>
          <p:nvPr/>
        </p:nvSpPr>
        <p:spPr>
          <a:xfrm>
            <a:off x="3415284" y="3825563"/>
            <a:ext cx="8123000" cy="2758112"/>
          </a:xfrm>
          <a:prstGeom prst="rect">
            <a:avLst/>
          </a:prstGeom>
          <a:noFill/>
          <a:ln w="19050">
            <a:solidFill>
              <a:schemeClr val="accent2">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6. 형사처벌과 치료·재활의 효과</a:t>
            </a:r>
            <a:endParaRPr lang="en-US" sz="1250" dirty="0"/>
          </a:p>
        </p:txBody>
      </p:sp>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가족·생활환경 개입의 결과</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pPr marL="0" indent="0">
              <a:buNone/>
            </a:pPr>
            <a:r>
              <a:rPr lang="ko-KR" altLang="en-US" sz="2700" b="1" dirty="0">
                <a:solidFill>
                  <a:srgbClr val="1E2761"/>
                </a:solidFill>
                <a:latin typeface="Pretendard" pitchFamily="34" charset="0"/>
                <a:ea typeface="Pretendard" pitchFamily="34" charset="-122"/>
                <a:cs typeface="Pretendard" pitchFamily="34" charset="-120"/>
              </a:rPr>
              <a:t>소년약물치료법원 세 조건 비교</a:t>
            </a:r>
            <a:endParaRPr lang="en-US" sz="2700" dirty="0"/>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353312"/>
            <a:ext cx="10698480" cy="438912"/>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987552" y="1353312"/>
            <a:ext cx="10186416" cy="438912"/>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소년약물법원이라는 제도 이름보다, 그 안에 어떤 치료를 실제로 넣는지가 약물사용 결과에 영향을 줄 수 있었다</a:t>
            </a:r>
            <a:endParaRPr lang="en-US" sz="1250" dirty="0"/>
          </a:p>
        </p:txBody>
      </p:sp>
      <p:sp>
        <p:nvSpPr>
          <p:cNvPr id="8" name="Text 6"/>
          <p:cNvSpPr/>
          <p:nvPr/>
        </p:nvSpPr>
        <p:spPr>
          <a:xfrm>
            <a:off x="731520" y="2004704"/>
            <a:ext cx="10698480" cy="274320"/>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대마 약물검사 양성 비율</a:t>
            </a:r>
            <a:endParaRPr lang="en-US" sz="1250" dirty="0"/>
          </a:p>
        </p:txBody>
      </p:sp>
      <p:sp>
        <p:nvSpPr>
          <p:cNvPr id="9" name="Text 7"/>
          <p:cNvSpPr/>
          <p:nvPr/>
        </p:nvSpPr>
        <p:spPr>
          <a:xfrm>
            <a:off x="4059936" y="2249424"/>
            <a:ext cx="2310384" cy="365760"/>
          </a:xfrm>
          <a:prstGeom prst="rect">
            <a:avLst/>
          </a:prstGeom>
          <a:noFill/>
          <a:ln/>
        </p:spPr>
        <p:txBody>
          <a:bodyPr wrap="square" lIns="0" tIns="0" rIns="0" bIns="0" rtlCol="0" anchor="ctr"/>
          <a:lstStyle/>
          <a:p>
            <a:pPr marL="0" indent="0" algn="ctr">
              <a:lnSpc>
                <a:spcPts val="1500"/>
              </a:lnSpc>
              <a:buNone/>
            </a:pPr>
            <a:r>
              <a:rPr lang="en-US" sz="1100" b="1" dirty="0">
                <a:solidFill>
                  <a:srgbClr val="1E2761"/>
                </a:solidFill>
                <a:latin typeface="Pretendard" pitchFamily="34" charset="0"/>
                <a:ea typeface="Pretendard" pitchFamily="34" charset="-122"/>
                <a:cs typeface="Pretendard" pitchFamily="34" charset="-120"/>
              </a:rPr>
              <a:t>Drug Court + 기존 지역치료</a:t>
            </a:r>
            <a:endParaRPr lang="en-US" sz="1100" dirty="0"/>
          </a:p>
        </p:txBody>
      </p:sp>
      <p:sp>
        <p:nvSpPr>
          <p:cNvPr id="10" name="Text 8"/>
          <p:cNvSpPr/>
          <p:nvPr/>
        </p:nvSpPr>
        <p:spPr>
          <a:xfrm>
            <a:off x="6589776" y="2249424"/>
            <a:ext cx="2310384" cy="365760"/>
          </a:xfrm>
          <a:prstGeom prst="rect">
            <a:avLst/>
          </a:prstGeom>
          <a:noFill/>
          <a:ln/>
        </p:spPr>
        <p:txBody>
          <a:bodyPr wrap="square" lIns="0" tIns="0" rIns="0" bIns="0" rtlCol="0" anchor="ctr"/>
          <a:lstStyle/>
          <a:p>
            <a:pPr marL="0" indent="0" algn="ctr">
              <a:lnSpc>
                <a:spcPts val="1500"/>
              </a:lnSpc>
              <a:buNone/>
            </a:pPr>
            <a:r>
              <a:rPr lang="en-US" sz="1100" b="1" dirty="0">
                <a:solidFill>
                  <a:srgbClr val="1E2761"/>
                </a:solidFill>
                <a:latin typeface="Pretendard" pitchFamily="34" charset="0"/>
                <a:ea typeface="Pretendard" pitchFamily="34" charset="-122"/>
                <a:cs typeface="Pretendard" pitchFamily="34" charset="-120"/>
              </a:rPr>
              <a:t>Drug Court + </a:t>
            </a:r>
            <a:r>
              <a:rPr lang="ko-KR" altLang="en-US" sz="1100" b="1" dirty="0">
                <a:solidFill>
                  <a:srgbClr val="1E2761"/>
                </a:solidFill>
                <a:latin typeface="Pretendard" pitchFamily="34" charset="0"/>
                <a:ea typeface="Pretendard" pitchFamily="34" charset="-122"/>
                <a:cs typeface="Pretendard" pitchFamily="34" charset="-120"/>
              </a:rPr>
              <a:t>다체계치료</a:t>
            </a:r>
            <a:endParaRPr lang="en-US" sz="1100" dirty="0"/>
          </a:p>
        </p:txBody>
      </p:sp>
      <p:sp>
        <p:nvSpPr>
          <p:cNvPr id="11" name="Text 9"/>
          <p:cNvSpPr/>
          <p:nvPr/>
        </p:nvSpPr>
        <p:spPr>
          <a:xfrm>
            <a:off x="9119616" y="2249424"/>
            <a:ext cx="2310384" cy="365760"/>
          </a:xfrm>
          <a:prstGeom prst="rect">
            <a:avLst/>
          </a:prstGeom>
          <a:noFill/>
          <a:ln/>
        </p:spPr>
        <p:txBody>
          <a:bodyPr wrap="square" lIns="0" tIns="0" rIns="0" bIns="0" rtlCol="0" anchor="ctr"/>
          <a:lstStyle/>
          <a:p>
            <a:pPr marL="0" indent="0" algn="ctr">
              <a:lnSpc>
                <a:spcPts val="1500"/>
              </a:lnSpc>
              <a:buNone/>
            </a:pPr>
            <a:r>
              <a:rPr lang="en-US" sz="1100" b="1" dirty="0">
                <a:solidFill>
                  <a:srgbClr val="1E2761"/>
                </a:solidFill>
                <a:latin typeface="Pretendard" pitchFamily="34" charset="0"/>
                <a:ea typeface="Pretendard" pitchFamily="34" charset="-122"/>
                <a:cs typeface="Pretendard" pitchFamily="34" charset="-120"/>
              </a:rPr>
              <a:t>Drug Court + </a:t>
            </a:r>
            <a:r>
              <a:rPr lang="ko-KR" altLang="en-US" sz="1100" b="1" dirty="0">
                <a:solidFill>
                  <a:srgbClr val="1E2761"/>
                </a:solidFill>
                <a:latin typeface="Pretendard" pitchFamily="34" charset="0"/>
                <a:ea typeface="Pretendard" pitchFamily="34" charset="-122"/>
                <a:cs typeface="Pretendard" pitchFamily="34" charset="-120"/>
              </a:rPr>
              <a:t>다체계치료 </a:t>
            </a:r>
            <a:r>
              <a:rPr lang="en-US" altLang="ko-KR" sz="1100" b="1" dirty="0">
                <a:solidFill>
                  <a:srgbClr val="1E2761"/>
                </a:solidFill>
                <a:latin typeface="Pretendard" pitchFamily="34" charset="0"/>
                <a:ea typeface="Pretendard" pitchFamily="34" charset="-122"/>
                <a:cs typeface="Pretendard" pitchFamily="34" charset="-120"/>
              </a:rPr>
              <a:t>+ </a:t>
            </a:r>
            <a:r>
              <a:rPr lang="ko-KR" altLang="en-US" sz="1100" b="1" dirty="0" err="1">
                <a:solidFill>
                  <a:srgbClr val="1E2761"/>
                </a:solidFill>
                <a:latin typeface="Pretendard" pitchFamily="34" charset="0"/>
                <a:ea typeface="Pretendard" pitchFamily="34" charset="-122"/>
                <a:cs typeface="Pretendard" pitchFamily="34" charset="-120"/>
              </a:rPr>
              <a:t>유관관리</a:t>
            </a:r>
            <a:endParaRPr lang="en-US" sz="1100" dirty="0"/>
          </a:p>
        </p:txBody>
      </p:sp>
      <p:sp>
        <p:nvSpPr>
          <p:cNvPr id="12" name="Shape 10"/>
          <p:cNvSpPr/>
          <p:nvPr/>
        </p:nvSpPr>
        <p:spPr>
          <a:xfrm>
            <a:off x="731520" y="2688336"/>
            <a:ext cx="3108960" cy="731520"/>
          </a:xfrm>
          <a:prstGeom prst="rect">
            <a:avLst/>
          </a:prstGeom>
          <a:solidFill>
            <a:srgbClr val="F2F4F8"/>
          </a:solidFill>
          <a:ln w="12700">
            <a:solidFill>
              <a:srgbClr val="F2F4F8"/>
            </a:solidFill>
            <a:prstDash val="solid"/>
          </a:ln>
        </p:spPr>
        <p:txBody>
          <a:bodyPr/>
          <a:lstStyle/>
          <a:p>
            <a:endParaRPr lang="ko-KR" altLang="en-US"/>
          </a:p>
        </p:txBody>
      </p:sp>
      <p:sp>
        <p:nvSpPr>
          <p:cNvPr id="13" name="Text 11"/>
          <p:cNvSpPr/>
          <p:nvPr/>
        </p:nvSpPr>
        <p:spPr>
          <a:xfrm>
            <a:off x="731520" y="2688336"/>
            <a:ext cx="3108960" cy="731520"/>
          </a:xfrm>
          <a:prstGeom prst="rect">
            <a:avLst/>
          </a:prstGeom>
          <a:noFill/>
          <a:ln/>
        </p:spPr>
        <p:txBody>
          <a:bodyPr wrap="square" lIns="0" tIns="0" rIns="0" bIns="0" rtlCol="0" anchor="ctr"/>
          <a:lstStyle/>
          <a:p>
            <a:pPr marL="0" indent="0" algn="ctr">
              <a:buNone/>
            </a:pPr>
            <a:r>
              <a:rPr lang="en-US" sz="1300" b="1" dirty="0">
                <a:solidFill>
                  <a:srgbClr val="1E2761"/>
                </a:solidFill>
                <a:latin typeface="Pretendard" pitchFamily="34" charset="0"/>
                <a:ea typeface="Pretendard" pitchFamily="34" charset="-122"/>
                <a:cs typeface="Pretendard" pitchFamily="34" charset="-120"/>
              </a:rPr>
              <a:t>첫 4개월</a:t>
            </a:r>
            <a:endParaRPr lang="en-US" sz="1300" dirty="0"/>
          </a:p>
        </p:txBody>
      </p:sp>
      <p:sp>
        <p:nvSpPr>
          <p:cNvPr id="14" name="Shape 12"/>
          <p:cNvSpPr/>
          <p:nvPr/>
        </p:nvSpPr>
        <p:spPr>
          <a:xfrm>
            <a:off x="4059936" y="2688336"/>
            <a:ext cx="2310384" cy="731520"/>
          </a:xfrm>
          <a:prstGeom prst="rect">
            <a:avLst/>
          </a:prstGeom>
          <a:solidFill>
            <a:srgbClr val="FFFFFF"/>
          </a:solidFill>
          <a:ln w="12700">
            <a:solidFill>
              <a:srgbClr val="DCE0E8"/>
            </a:solidFill>
            <a:prstDash val="solid"/>
          </a:ln>
        </p:spPr>
        <p:txBody>
          <a:bodyPr/>
          <a:lstStyle/>
          <a:p>
            <a:endParaRPr lang="ko-KR" altLang="en-US"/>
          </a:p>
        </p:txBody>
      </p:sp>
      <p:sp>
        <p:nvSpPr>
          <p:cNvPr id="15" name="Text 13"/>
          <p:cNvSpPr/>
          <p:nvPr/>
        </p:nvSpPr>
        <p:spPr>
          <a:xfrm>
            <a:off x="4059936" y="2688336"/>
            <a:ext cx="2310384" cy="731520"/>
          </a:xfrm>
          <a:prstGeom prst="rect">
            <a:avLst/>
          </a:prstGeom>
          <a:noFill/>
          <a:ln/>
        </p:spPr>
        <p:txBody>
          <a:bodyPr wrap="square" lIns="0" tIns="0" rIns="0" bIns="0" rtlCol="0" anchor="ctr"/>
          <a:lstStyle/>
          <a:p>
            <a:pPr marL="0" indent="0" algn="ctr">
              <a:buNone/>
            </a:pPr>
            <a:r>
              <a:rPr lang="en-US" sz="2200" b="1" dirty="0">
                <a:solidFill>
                  <a:srgbClr val="1E2761"/>
                </a:solidFill>
                <a:latin typeface="Pretendard" pitchFamily="34" charset="0"/>
                <a:ea typeface="Pretendard" pitchFamily="34" charset="-122"/>
                <a:cs typeface="Pretendard" pitchFamily="34" charset="-120"/>
              </a:rPr>
              <a:t>69%</a:t>
            </a:r>
            <a:endParaRPr lang="en-US" sz="2200" dirty="0"/>
          </a:p>
        </p:txBody>
      </p:sp>
      <p:sp>
        <p:nvSpPr>
          <p:cNvPr id="16" name="Shape 14"/>
          <p:cNvSpPr/>
          <p:nvPr/>
        </p:nvSpPr>
        <p:spPr>
          <a:xfrm>
            <a:off x="6589776" y="2688336"/>
            <a:ext cx="2310384" cy="731520"/>
          </a:xfrm>
          <a:prstGeom prst="rect">
            <a:avLst/>
          </a:prstGeom>
          <a:solidFill>
            <a:srgbClr val="FFFFFF"/>
          </a:solidFill>
          <a:ln w="25400">
            <a:solidFill>
              <a:srgbClr val="1E2761"/>
            </a:solidFill>
            <a:prstDash val="solid"/>
          </a:ln>
        </p:spPr>
        <p:txBody>
          <a:bodyPr/>
          <a:lstStyle/>
          <a:p>
            <a:endParaRPr lang="ko-KR" altLang="en-US"/>
          </a:p>
        </p:txBody>
      </p:sp>
      <p:sp>
        <p:nvSpPr>
          <p:cNvPr id="17" name="Text 15"/>
          <p:cNvSpPr/>
          <p:nvPr/>
        </p:nvSpPr>
        <p:spPr>
          <a:xfrm>
            <a:off x="6589776" y="2688336"/>
            <a:ext cx="2310384" cy="731520"/>
          </a:xfrm>
          <a:prstGeom prst="rect">
            <a:avLst/>
          </a:prstGeom>
          <a:noFill/>
          <a:ln/>
        </p:spPr>
        <p:txBody>
          <a:bodyPr wrap="square" lIns="0" tIns="0" rIns="0" bIns="0" rtlCol="0" anchor="ctr"/>
          <a:lstStyle/>
          <a:p>
            <a:pPr marL="0" indent="0" algn="ctr">
              <a:buNone/>
            </a:pPr>
            <a:r>
              <a:rPr lang="en-US" sz="2200" b="1" dirty="0">
                <a:solidFill>
                  <a:srgbClr val="1E2761"/>
                </a:solidFill>
                <a:latin typeface="Pretendard" pitchFamily="34" charset="0"/>
                <a:ea typeface="Pretendard" pitchFamily="34" charset="-122"/>
                <a:cs typeface="Pretendard" pitchFamily="34" charset="-120"/>
              </a:rPr>
              <a:t>28%</a:t>
            </a:r>
            <a:endParaRPr lang="en-US" sz="2200" dirty="0"/>
          </a:p>
        </p:txBody>
      </p:sp>
      <p:sp>
        <p:nvSpPr>
          <p:cNvPr id="18" name="Shape 16"/>
          <p:cNvSpPr/>
          <p:nvPr/>
        </p:nvSpPr>
        <p:spPr>
          <a:xfrm>
            <a:off x="9119616" y="2688336"/>
            <a:ext cx="2310384" cy="731520"/>
          </a:xfrm>
          <a:prstGeom prst="rect">
            <a:avLst/>
          </a:prstGeom>
          <a:solidFill>
            <a:srgbClr val="FFFFFF"/>
          </a:solidFill>
          <a:ln w="25400">
            <a:solidFill>
              <a:srgbClr val="1E2761"/>
            </a:solidFill>
            <a:prstDash val="solid"/>
          </a:ln>
        </p:spPr>
        <p:txBody>
          <a:bodyPr/>
          <a:lstStyle/>
          <a:p>
            <a:endParaRPr lang="ko-KR" altLang="en-US"/>
          </a:p>
        </p:txBody>
      </p:sp>
      <p:sp>
        <p:nvSpPr>
          <p:cNvPr id="19" name="Text 17"/>
          <p:cNvSpPr/>
          <p:nvPr/>
        </p:nvSpPr>
        <p:spPr>
          <a:xfrm>
            <a:off x="9119616" y="2688336"/>
            <a:ext cx="2310384" cy="731520"/>
          </a:xfrm>
          <a:prstGeom prst="rect">
            <a:avLst/>
          </a:prstGeom>
          <a:noFill/>
          <a:ln/>
        </p:spPr>
        <p:txBody>
          <a:bodyPr wrap="square" lIns="0" tIns="0" rIns="0" bIns="0" rtlCol="0" anchor="ctr"/>
          <a:lstStyle/>
          <a:p>
            <a:pPr marL="0" indent="0" algn="ctr">
              <a:buNone/>
            </a:pPr>
            <a:r>
              <a:rPr lang="en-US" sz="2200" b="1" dirty="0">
                <a:solidFill>
                  <a:srgbClr val="1E2761"/>
                </a:solidFill>
                <a:latin typeface="Pretendard" pitchFamily="34" charset="0"/>
                <a:ea typeface="Pretendard" pitchFamily="34" charset="-122"/>
                <a:cs typeface="Pretendard" pitchFamily="34" charset="-120"/>
              </a:rPr>
              <a:t>18%</a:t>
            </a:r>
            <a:endParaRPr lang="en-US" sz="2200" dirty="0"/>
          </a:p>
        </p:txBody>
      </p:sp>
      <p:sp>
        <p:nvSpPr>
          <p:cNvPr id="20" name="Shape 18"/>
          <p:cNvSpPr/>
          <p:nvPr/>
        </p:nvSpPr>
        <p:spPr>
          <a:xfrm>
            <a:off x="731520" y="3529584"/>
            <a:ext cx="3108960" cy="731520"/>
          </a:xfrm>
          <a:prstGeom prst="rect">
            <a:avLst/>
          </a:prstGeom>
          <a:solidFill>
            <a:srgbClr val="F2F4F8"/>
          </a:solidFill>
          <a:ln w="12700">
            <a:solidFill>
              <a:srgbClr val="F2F4F8"/>
            </a:solidFill>
            <a:prstDash val="solid"/>
          </a:ln>
        </p:spPr>
        <p:txBody>
          <a:bodyPr/>
          <a:lstStyle/>
          <a:p>
            <a:endParaRPr lang="ko-KR" altLang="en-US"/>
          </a:p>
        </p:txBody>
      </p:sp>
      <p:sp>
        <p:nvSpPr>
          <p:cNvPr id="21" name="Text 19"/>
          <p:cNvSpPr/>
          <p:nvPr/>
        </p:nvSpPr>
        <p:spPr>
          <a:xfrm>
            <a:off x="731520" y="3529584"/>
            <a:ext cx="3108960" cy="731520"/>
          </a:xfrm>
          <a:prstGeom prst="rect">
            <a:avLst/>
          </a:prstGeom>
          <a:noFill/>
          <a:ln/>
        </p:spPr>
        <p:txBody>
          <a:bodyPr wrap="square" lIns="0" tIns="0" rIns="0" bIns="0" rtlCol="0" anchor="ctr"/>
          <a:lstStyle/>
          <a:p>
            <a:pPr marL="0" indent="0" algn="ctr">
              <a:buNone/>
            </a:pPr>
            <a:r>
              <a:rPr lang="en-US" sz="1300" b="1" dirty="0">
                <a:solidFill>
                  <a:srgbClr val="1E2761"/>
                </a:solidFill>
                <a:latin typeface="Pretendard" pitchFamily="34" charset="0"/>
                <a:ea typeface="Pretendard" pitchFamily="34" charset="-122"/>
                <a:cs typeface="Pretendard" pitchFamily="34" charset="-120"/>
              </a:rPr>
              <a:t>4~12개월</a:t>
            </a:r>
            <a:endParaRPr lang="en-US" sz="1300" dirty="0"/>
          </a:p>
        </p:txBody>
      </p:sp>
      <p:sp>
        <p:nvSpPr>
          <p:cNvPr id="22" name="Shape 20"/>
          <p:cNvSpPr/>
          <p:nvPr/>
        </p:nvSpPr>
        <p:spPr>
          <a:xfrm>
            <a:off x="4059936" y="3529584"/>
            <a:ext cx="2310384" cy="731520"/>
          </a:xfrm>
          <a:prstGeom prst="rect">
            <a:avLst/>
          </a:prstGeom>
          <a:solidFill>
            <a:srgbClr val="FFFFFF"/>
          </a:solidFill>
          <a:ln w="12700">
            <a:solidFill>
              <a:srgbClr val="DCE0E8"/>
            </a:solidFill>
            <a:prstDash val="solid"/>
          </a:ln>
        </p:spPr>
        <p:txBody>
          <a:bodyPr/>
          <a:lstStyle/>
          <a:p>
            <a:endParaRPr lang="ko-KR" altLang="en-US"/>
          </a:p>
        </p:txBody>
      </p:sp>
      <p:sp>
        <p:nvSpPr>
          <p:cNvPr id="23" name="Text 21"/>
          <p:cNvSpPr/>
          <p:nvPr/>
        </p:nvSpPr>
        <p:spPr>
          <a:xfrm>
            <a:off x="4059936" y="3529584"/>
            <a:ext cx="2310384" cy="731520"/>
          </a:xfrm>
          <a:prstGeom prst="rect">
            <a:avLst/>
          </a:prstGeom>
          <a:noFill/>
          <a:ln/>
        </p:spPr>
        <p:txBody>
          <a:bodyPr wrap="square" lIns="0" tIns="0" rIns="0" bIns="0" rtlCol="0" anchor="ctr"/>
          <a:lstStyle/>
          <a:p>
            <a:pPr marL="0" indent="0" algn="ctr">
              <a:buNone/>
            </a:pPr>
            <a:r>
              <a:rPr lang="en-US" sz="2200" b="1" dirty="0">
                <a:solidFill>
                  <a:srgbClr val="1E2761"/>
                </a:solidFill>
                <a:latin typeface="Pretendard" pitchFamily="34" charset="0"/>
                <a:ea typeface="Pretendard" pitchFamily="34" charset="-122"/>
                <a:cs typeface="Pretendard" pitchFamily="34" charset="-120"/>
              </a:rPr>
              <a:t>45%</a:t>
            </a:r>
            <a:endParaRPr lang="en-US" sz="2200" dirty="0"/>
          </a:p>
        </p:txBody>
      </p:sp>
      <p:sp>
        <p:nvSpPr>
          <p:cNvPr id="24" name="Shape 22"/>
          <p:cNvSpPr/>
          <p:nvPr/>
        </p:nvSpPr>
        <p:spPr>
          <a:xfrm>
            <a:off x="6589776" y="3529584"/>
            <a:ext cx="2310384" cy="731520"/>
          </a:xfrm>
          <a:prstGeom prst="rect">
            <a:avLst/>
          </a:prstGeom>
          <a:solidFill>
            <a:srgbClr val="FFFFFF"/>
          </a:solidFill>
          <a:ln w="25400">
            <a:solidFill>
              <a:srgbClr val="1E2761"/>
            </a:solidFill>
            <a:prstDash val="solid"/>
          </a:ln>
        </p:spPr>
        <p:txBody>
          <a:bodyPr/>
          <a:lstStyle/>
          <a:p>
            <a:endParaRPr lang="ko-KR" altLang="en-US"/>
          </a:p>
        </p:txBody>
      </p:sp>
      <p:sp>
        <p:nvSpPr>
          <p:cNvPr id="25" name="Text 23"/>
          <p:cNvSpPr/>
          <p:nvPr/>
        </p:nvSpPr>
        <p:spPr>
          <a:xfrm>
            <a:off x="6589776" y="3529584"/>
            <a:ext cx="2310384" cy="731520"/>
          </a:xfrm>
          <a:prstGeom prst="rect">
            <a:avLst/>
          </a:prstGeom>
          <a:noFill/>
          <a:ln/>
        </p:spPr>
        <p:txBody>
          <a:bodyPr wrap="square" lIns="0" tIns="0" rIns="0" bIns="0" rtlCol="0" anchor="ctr"/>
          <a:lstStyle/>
          <a:p>
            <a:pPr marL="0" indent="0" algn="ctr">
              <a:buNone/>
            </a:pPr>
            <a:r>
              <a:rPr lang="en-US" sz="2200" b="1" dirty="0">
                <a:solidFill>
                  <a:srgbClr val="1E2761"/>
                </a:solidFill>
                <a:latin typeface="Pretendard" pitchFamily="34" charset="0"/>
                <a:ea typeface="Pretendard" pitchFamily="34" charset="-122"/>
                <a:cs typeface="Pretendard" pitchFamily="34" charset="-120"/>
              </a:rPr>
              <a:t>7%</a:t>
            </a:r>
            <a:endParaRPr lang="en-US" sz="2200" dirty="0"/>
          </a:p>
        </p:txBody>
      </p:sp>
      <p:sp>
        <p:nvSpPr>
          <p:cNvPr id="26" name="Shape 24"/>
          <p:cNvSpPr/>
          <p:nvPr/>
        </p:nvSpPr>
        <p:spPr>
          <a:xfrm>
            <a:off x="9119616" y="3529584"/>
            <a:ext cx="2310384" cy="731520"/>
          </a:xfrm>
          <a:prstGeom prst="rect">
            <a:avLst/>
          </a:prstGeom>
          <a:solidFill>
            <a:srgbClr val="FFFFFF"/>
          </a:solidFill>
          <a:ln w="25400">
            <a:solidFill>
              <a:srgbClr val="1E2761"/>
            </a:solidFill>
            <a:prstDash val="solid"/>
          </a:ln>
        </p:spPr>
        <p:txBody>
          <a:bodyPr/>
          <a:lstStyle/>
          <a:p>
            <a:endParaRPr lang="ko-KR" altLang="en-US"/>
          </a:p>
        </p:txBody>
      </p:sp>
      <p:sp>
        <p:nvSpPr>
          <p:cNvPr id="27" name="Text 25"/>
          <p:cNvSpPr/>
          <p:nvPr/>
        </p:nvSpPr>
        <p:spPr>
          <a:xfrm>
            <a:off x="9119616" y="3529584"/>
            <a:ext cx="2310384" cy="731520"/>
          </a:xfrm>
          <a:prstGeom prst="rect">
            <a:avLst/>
          </a:prstGeom>
          <a:noFill/>
          <a:ln/>
        </p:spPr>
        <p:txBody>
          <a:bodyPr wrap="square" lIns="0" tIns="0" rIns="0" bIns="0" rtlCol="0" anchor="ctr"/>
          <a:lstStyle/>
          <a:p>
            <a:pPr marL="0" indent="0" algn="ctr">
              <a:buNone/>
            </a:pPr>
            <a:r>
              <a:rPr lang="en-US" sz="2200" b="1" dirty="0">
                <a:solidFill>
                  <a:srgbClr val="1E2761"/>
                </a:solidFill>
                <a:latin typeface="Pretendard" pitchFamily="34" charset="0"/>
                <a:ea typeface="Pretendard" pitchFamily="34" charset="-122"/>
                <a:cs typeface="Pretendard" pitchFamily="34" charset="-120"/>
              </a:rPr>
              <a:t>17%</a:t>
            </a:r>
            <a:endParaRPr lang="en-US" sz="2200" dirty="0"/>
          </a:p>
        </p:txBody>
      </p:sp>
      <p:sp>
        <p:nvSpPr>
          <p:cNvPr id="28" name="Text 26"/>
          <p:cNvSpPr/>
          <p:nvPr/>
        </p:nvSpPr>
        <p:spPr>
          <a:xfrm>
            <a:off x="731520" y="4407408"/>
            <a:ext cx="10698480" cy="256032"/>
          </a:xfrm>
          <a:prstGeom prst="rect">
            <a:avLst/>
          </a:prstGeom>
          <a:noFill/>
          <a:ln/>
        </p:spPr>
        <p:txBody>
          <a:bodyPr wrap="square" lIns="0" tIns="0" rIns="0" bIns="0" rtlCol="0" anchor="ctr"/>
          <a:lstStyle/>
          <a:p>
            <a:pPr marL="0" indent="0">
              <a:buNone/>
            </a:pPr>
            <a:r>
              <a:rPr lang="en-US" sz="1050" dirty="0">
                <a:solidFill>
                  <a:srgbClr val="6E7686"/>
                </a:solidFill>
                <a:latin typeface="Pretendard" pitchFamily="34" charset="0"/>
                <a:ea typeface="Pretendard" pitchFamily="34" charset="-122"/>
                <a:cs typeface="Pretendard" pitchFamily="34" charset="-120"/>
              </a:rPr>
              <a:t>CM을 더한 집단이 언제나 MST보다 좋았던 것은 아니다  ·  두 MST 조건이 기존 Drug Court 치료보다 낮았다는 점이 핵심이다</a:t>
            </a:r>
            <a:endParaRPr lang="en-US" sz="1050" dirty="0"/>
          </a:p>
        </p:txBody>
      </p:sp>
      <p:sp>
        <p:nvSpPr>
          <p:cNvPr id="29" name="Shape 27"/>
          <p:cNvSpPr/>
          <p:nvPr/>
        </p:nvSpPr>
        <p:spPr>
          <a:xfrm>
            <a:off x="731520" y="4718304"/>
            <a:ext cx="5166360" cy="786384"/>
          </a:xfrm>
          <a:prstGeom prst="rect">
            <a:avLst/>
          </a:prstGeom>
          <a:solidFill>
            <a:srgbClr val="FFFFFF"/>
          </a:solidFill>
          <a:ln w="12700">
            <a:solidFill>
              <a:srgbClr val="DCE0E8"/>
            </a:solidFill>
            <a:prstDash val="solid"/>
          </a:ln>
        </p:spPr>
        <p:txBody>
          <a:bodyPr/>
          <a:lstStyle/>
          <a:p>
            <a:endParaRPr lang="ko-KR" altLang="en-US"/>
          </a:p>
        </p:txBody>
      </p:sp>
      <p:sp>
        <p:nvSpPr>
          <p:cNvPr id="30" name="Text 28"/>
          <p:cNvSpPr/>
          <p:nvPr/>
        </p:nvSpPr>
        <p:spPr>
          <a:xfrm>
            <a:off x="969264" y="4791456"/>
            <a:ext cx="4690872" cy="256032"/>
          </a:xfrm>
          <a:prstGeom prst="rect">
            <a:avLst/>
          </a:prstGeom>
          <a:noFill/>
          <a:ln/>
        </p:spPr>
        <p:txBody>
          <a:bodyPr wrap="square" lIns="0" tIns="0" rIns="0" bIns="0" rtlCol="0" anchor="ctr"/>
          <a:lstStyle/>
          <a:p>
            <a:pPr marL="0" indent="0">
              <a:buNone/>
            </a:pPr>
            <a:r>
              <a:rPr lang="en-US" sz="1200" b="1" dirty="0">
                <a:solidFill>
                  <a:srgbClr val="1E2761"/>
                </a:solidFill>
                <a:latin typeface="Pretendard" pitchFamily="34" charset="0"/>
                <a:ea typeface="Pretendard" pitchFamily="34" charset="-122"/>
                <a:cs typeface="Pretendard" pitchFamily="34" charset="-120"/>
              </a:rPr>
              <a:t>공식 재체포 · 수감</a:t>
            </a:r>
            <a:endParaRPr lang="en-US" sz="1200" dirty="0"/>
          </a:p>
        </p:txBody>
      </p:sp>
      <p:sp>
        <p:nvSpPr>
          <p:cNvPr id="31" name="Text 29"/>
          <p:cNvSpPr/>
          <p:nvPr/>
        </p:nvSpPr>
        <p:spPr>
          <a:xfrm>
            <a:off x="969264" y="5047488"/>
            <a:ext cx="4690872" cy="384048"/>
          </a:xfrm>
          <a:prstGeom prst="rect">
            <a:avLst/>
          </a:prstGeom>
          <a:noFill/>
          <a:ln/>
        </p:spPr>
        <p:txBody>
          <a:bodyPr wrap="square" lIns="0" tIns="0" rIns="0" bIns="0" rtlCol="0" anchor="t"/>
          <a:lstStyle/>
          <a:p>
            <a:pPr marL="0" indent="0">
              <a:lnSpc>
                <a:spcPts val="1500"/>
              </a:lnSpc>
              <a:buNone/>
            </a:pPr>
            <a:r>
              <a:rPr lang="en-US" sz="1050" b="1" dirty="0">
                <a:solidFill>
                  <a:srgbClr val="222633"/>
                </a:solidFill>
                <a:highlight>
                  <a:srgbClr val="FFFF00"/>
                </a:highlight>
                <a:latin typeface="Pretendard" pitchFamily="34" charset="0"/>
                <a:ea typeface="Pretendard" pitchFamily="34" charset="-122"/>
                <a:cs typeface="Pretendard" pitchFamily="34" charset="-120"/>
              </a:rPr>
              <a:t>1년 뒤 네 집단 간 유의한 차이 없음</a:t>
            </a:r>
            <a:r>
              <a:rPr lang="en-US" sz="1050" b="1" dirty="0">
                <a:solidFill>
                  <a:srgbClr val="222633"/>
                </a:solidFill>
                <a:latin typeface="Pretendard" pitchFamily="34" charset="0"/>
                <a:ea typeface="Pretendard" pitchFamily="34" charset="-122"/>
                <a:cs typeface="Pretendard" pitchFamily="34" charset="-120"/>
              </a:rPr>
              <a:t>  </a:t>
            </a:r>
            <a:r>
              <a:rPr lang="en-US" sz="1050" dirty="0">
                <a:solidFill>
                  <a:srgbClr val="222633"/>
                </a:solidFill>
                <a:latin typeface="Pretendard" pitchFamily="34" charset="0"/>
                <a:ea typeface="Pretendard" pitchFamily="34" charset="-122"/>
                <a:cs typeface="Pretendard" pitchFamily="34" charset="-120"/>
              </a:rPr>
              <a:t>·  자기보고 약물사용과 범죄행동은 Drug Court 조건에서 더 감소</a:t>
            </a:r>
            <a:endParaRPr lang="en-US" sz="1050" dirty="0"/>
          </a:p>
        </p:txBody>
      </p:sp>
      <p:sp>
        <p:nvSpPr>
          <p:cNvPr id="32" name="Shape 30"/>
          <p:cNvSpPr/>
          <p:nvPr/>
        </p:nvSpPr>
        <p:spPr>
          <a:xfrm>
            <a:off x="6263640" y="4718304"/>
            <a:ext cx="5166360" cy="786384"/>
          </a:xfrm>
          <a:prstGeom prst="rect">
            <a:avLst/>
          </a:prstGeom>
          <a:solidFill>
            <a:srgbClr val="F2F4F8"/>
          </a:solidFill>
          <a:ln w="12700">
            <a:solidFill>
              <a:srgbClr val="F2F4F8"/>
            </a:solidFill>
            <a:prstDash val="solid"/>
          </a:ln>
        </p:spPr>
        <p:txBody>
          <a:bodyPr/>
          <a:lstStyle/>
          <a:p>
            <a:endParaRPr lang="ko-KR" altLang="en-US"/>
          </a:p>
        </p:txBody>
      </p:sp>
      <p:sp>
        <p:nvSpPr>
          <p:cNvPr id="33" name="Text 31"/>
          <p:cNvSpPr/>
          <p:nvPr/>
        </p:nvSpPr>
        <p:spPr>
          <a:xfrm>
            <a:off x="6501384" y="4791456"/>
            <a:ext cx="4690872" cy="256032"/>
          </a:xfrm>
          <a:prstGeom prst="rect">
            <a:avLst/>
          </a:prstGeom>
          <a:noFill/>
          <a:ln/>
        </p:spPr>
        <p:txBody>
          <a:bodyPr wrap="square" lIns="0" tIns="0" rIns="0" bIns="0" rtlCol="0" anchor="ctr"/>
          <a:lstStyle/>
          <a:p>
            <a:pPr marL="0" indent="0">
              <a:buNone/>
            </a:pPr>
            <a:r>
              <a:rPr lang="ko-KR" altLang="en-US" sz="1200" b="1" dirty="0">
                <a:solidFill>
                  <a:srgbClr val="A8871C"/>
                </a:solidFill>
                <a:latin typeface="Pretendard" pitchFamily="34" charset="0"/>
                <a:ea typeface="Pretendard" pitchFamily="34" charset="-122"/>
                <a:cs typeface="Pretendard" pitchFamily="34" charset="-120"/>
              </a:rPr>
              <a:t>약물검사 양성 비율과 공식 </a:t>
            </a:r>
            <a:r>
              <a:rPr lang="ko-KR" altLang="en-US" sz="1200" b="1" dirty="0" err="1">
                <a:solidFill>
                  <a:srgbClr val="A8871C"/>
                </a:solidFill>
                <a:latin typeface="Pretendard" pitchFamily="34" charset="0"/>
                <a:ea typeface="Pretendard" pitchFamily="34" charset="-122"/>
                <a:cs typeface="Pretendard" pitchFamily="34" charset="-120"/>
              </a:rPr>
              <a:t>재체포</a:t>
            </a:r>
            <a:r>
              <a:rPr lang="ko-KR" altLang="en-US" sz="1200" b="1" dirty="0">
                <a:solidFill>
                  <a:srgbClr val="A8871C"/>
                </a:solidFill>
                <a:latin typeface="Pretendard" pitchFamily="34" charset="0"/>
                <a:ea typeface="Pretendard" pitchFamily="34" charset="-122"/>
                <a:cs typeface="Pretendard" pitchFamily="34" charset="-120"/>
              </a:rPr>
              <a:t> 비율 간 불일치에 대한 </a:t>
            </a:r>
            <a:r>
              <a:rPr lang="en-US" sz="1200" b="1" dirty="0" err="1">
                <a:solidFill>
                  <a:srgbClr val="A8871C"/>
                </a:solidFill>
                <a:latin typeface="Pretendard" pitchFamily="34" charset="0"/>
                <a:ea typeface="Pretendard" pitchFamily="34" charset="-122"/>
                <a:cs typeface="Pretendard" pitchFamily="34" charset="-120"/>
              </a:rPr>
              <a:t>가능성</a:t>
            </a:r>
            <a:endParaRPr lang="en-US" sz="1200" dirty="0"/>
          </a:p>
        </p:txBody>
      </p:sp>
      <p:sp>
        <p:nvSpPr>
          <p:cNvPr id="34" name="Text 32"/>
          <p:cNvSpPr/>
          <p:nvPr/>
        </p:nvSpPr>
        <p:spPr>
          <a:xfrm>
            <a:off x="6501384" y="5047488"/>
            <a:ext cx="4690872" cy="384048"/>
          </a:xfrm>
          <a:prstGeom prst="rect">
            <a:avLst/>
          </a:prstGeom>
          <a:noFill/>
          <a:ln/>
        </p:spPr>
        <p:txBody>
          <a:bodyPr wrap="square" lIns="0" tIns="0" rIns="0" bIns="0" rtlCol="0" anchor="t"/>
          <a:lstStyle/>
          <a:p>
            <a:pPr>
              <a:lnSpc>
                <a:spcPts val="1500"/>
              </a:lnSpc>
            </a:pPr>
            <a:r>
              <a:rPr lang="en-US" sz="1050" b="1" dirty="0">
                <a:solidFill>
                  <a:srgbClr val="222633"/>
                </a:solidFill>
                <a:latin typeface="Pretendard" pitchFamily="34" charset="0"/>
                <a:ea typeface="Pretendard" pitchFamily="34" charset="-122"/>
                <a:cs typeface="Pretendard" pitchFamily="34" charset="-120"/>
              </a:rPr>
              <a:t>Drug Court는 검사 · 법원출석 · 감독이 훨씬 잦아 실제 위반을 더 많이 발견했을 </a:t>
            </a:r>
            <a:r>
              <a:rPr lang="en-US" sz="1050" b="1" dirty="0" err="1">
                <a:solidFill>
                  <a:srgbClr val="222633"/>
                </a:solidFill>
                <a:latin typeface="Pretendard" pitchFamily="34" charset="0"/>
                <a:ea typeface="Pretendard" pitchFamily="34" charset="-122"/>
                <a:cs typeface="Pretendard" pitchFamily="34" charset="-120"/>
              </a:rPr>
              <a:t>가능성이</a:t>
            </a:r>
            <a:r>
              <a:rPr lang="en-US" sz="1050" b="1" dirty="0">
                <a:solidFill>
                  <a:srgbClr val="222633"/>
                </a:solidFill>
                <a:latin typeface="Pretendard" pitchFamily="34" charset="0"/>
                <a:ea typeface="Pretendard" pitchFamily="34" charset="-122"/>
                <a:cs typeface="Pretendard" pitchFamily="34" charset="-120"/>
              </a:rPr>
              <a:t> </a:t>
            </a:r>
            <a:r>
              <a:rPr lang="en-US" sz="1050" b="1" dirty="0" err="1">
                <a:solidFill>
                  <a:srgbClr val="222633"/>
                </a:solidFill>
                <a:latin typeface="Pretendard" pitchFamily="34" charset="0"/>
                <a:ea typeface="Pretendard" pitchFamily="34" charset="-122"/>
                <a:cs typeface="Pretendard" pitchFamily="34" charset="-120"/>
              </a:rPr>
              <a:t>있다</a:t>
            </a:r>
            <a:r>
              <a:rPr lang="en-US" sz="1050" b="1" dirty="0">
                <a:solidFill>
                  <a:srgbClr val="222633"/>
                </a:solidFill>
                <a:latin typeface="Pretendard" pitchFamily="34" charset="0"/>
                <a:ea typeface="Pretendard" pitchFamily="34" charset="-122"/>
                <a:cs typeface="Pretendard" pitchFamily="34" charset="-120"/>
              </a:rPr>
              <a:t>(</a:t>
            </a:r>
            <a:r>
              <a:rPr lang="ko-KR" altLang="en-US" sz="1050" b="1" dirty="0">
                <a:solidFill>
                  <a:srgbClr val="222633"/>
                </a:solidFill>
                <a:latin typeface="Pretendard" pitchFamily="34" charset="0"/>
                <a:ea typeface="Pretendard" pitchFamily="34" charset="-122"/>
                <a:cs typeface="Pretendard" pitchFamily="34" charset="-120"/>
              </a:rPr>
              <a:t>→ 같은 수준의 위반행동이 있어도 발견될 기회가 더 많음</a:t>
            </a:r>
            <a:r>
              <a:rPr lang="en-US" altLang="ko-KR" sz="1050" b="1" dirty="0">
                <a:solidFill>
                  <a:srgbClr val="222633"/>
                </a:solidFill>
                <a:latin typeface="Pretendard" pitchFamily="34" charset="0"/>
                <a:ea typeface="Pretendard" pitchFamily="34" charset="-122"/>
                <a:cs typeface="Pretendard" pitchFamily="34" charset="-120"/>
              </a:rPr>
              <a:t>)</a:t>
            </a:r>
            <a:endParaRPr lang="en-US" sz="1050" b="1" dirty="0"/>
          </a:p>
        </p:txBody>
      </p:sp>
      <p:sp>
        <p:nvSpPr>
          <p:cNvPr id="35" name="Text 33"/>
          <p:cNvSpPr/>
          <p:nvPr/>
        </p:nvSpPr>
        <p:spPr>
          <a:xfrm>
            <a:off x="731520" y="5801390"/>
            <a:ext cx="10698480" cy="553690"/>
          </a:xfrm>
          <a:prstGeom prst="rect">
            <a:avLst/>
          </a:prstGeom>
          <a:solidFill>
            <a:schemeClr val="accent1">
              <a:lumMod val="20000"/>
              <a:lumOff val="80000"/>
            </a:schemeClr>
          </a:solidFill>
          <a:ln/>
        </p:spPr>
        <p:txBody>
          <a:bodyPr wrap="square" lIns="0" tIns="0" rIns="0" bIns="0" rtlCol="0" anchor="ctr"/>
          <a:lstStyle/>
          <a:p>
            <a:pPr algn="ctr"/>
            <a:r>
              <a:rPr lang="ko-KR" altLang="en-US" sz="1250" b="1" dirty="0">
                <a:solidFill>
                  <a:schemeClr val="accent1">
                    <a:lumMod val="50000"/>
                  </a:schemeClr>
                </a:solidFill>
                <a:latin typeface="Pretendard" pitchFamily="34" charset="0"/>
                <a:ea typeface="Pretendard" pitchFamily="34" charset="-122"/>
                <a:cs typeface="Pretendard" pitchFamily="34" charset="-120"/>
              </a:rPr>
              <a:t>치료 구성에 따라 약물사용 개선은 달라졌지만</a:t>
            </a:r>
            <a:r>
              <a:rPr lang="en-US" altLang="ko-KR" sz="1250" b="1" dirty="0">
                <a:solidFill>
                  <a:schemeClr val="accent1">
                    <a:lumMod val="50000"/>
                  </a:schemeClr>
                </a:solidFill>
                <a:latin typeface="Pretendard" pitchFamily="34" charset="0"/>
                <a:ea typeface="Pretendard" pitchFamily="34" charset="-122"/>
                <a:cs typeface="Pretendard" pitchFamily="34" charset="-120"/>
              </a:rPr>
              <a:t>, </a:t>
            </a:r>
            <a:r>
              <a:rPr lang="ko-KR" altLang="en-US" sz="1250" b="1" dirty="0">
                <a:solidFill>
                  <a:schemeClr val="accent1">
                    <a:lumMod val="50000"/>
                  </a:schemeClr>
                </a:solidFill>
                <a:latin typeface="Pretendard" pitchFamily="34" charset="0"/>
                <a:ea typeface="Pretendard" pitchFamily="34" charset="-122"/>
                <a:cs typeface="Pretendard" pitchFamily="34" charset="-120"/>
              </a:rPr>
              <a:t>추가 치료의 이득과 재범 감소가 모두 확인된 것은 아니다</a:t>
            </a:r>
            <a:r>
              <a:rPr lang="en-US" altLang="ko-KR" sz="1250" b="1" dirty="0">
                <a:solidFill>
                  <a:schemeClr val="accent1">
                    <a:lumMod val="50000"/>
                  </a:schemeClr>
                </a:solidFill>
                <a:latin typeface="Pretendard" pitchFamily="34" charset="0"/>
                <a:ea typeface="Pretendard" pitchFamily="34" charset="-122"/>
                <a:cs typeface="Pretendard" pitchFamily="34" charset="-120"/>
              </a:rPr>
              <a:t>. </a:t>
            </a:r>
          </a:p>
          <a:p>
            <a:pPr algn="ctr"/>
            <a:r>
              <a:rPr lang="ko-KR" altLang="en-US" sz="1250" b="1" dirty="0">
                <a:solidFill>
                  <a:schemeClr val="accent1">
                    <a:lumMod val="50000"/>
                  </a:schemeClr>
                </a:solidFill>
                <a:latin typeface="Pretendard" pitchFamily="34" charset="0"/>
                <a:ea typeface="Pretendard" pitchFamily="34" charset="-122"/>
                <a:cs typeface="Pretendard" pitchFamily="34" charset="-120"/>
              </a:rPr>
              <a:t>치료</a:t>
            </a:r>
            <a:r>
              <a:rPr lang="en-US" altLang="ko-KR" sz="1250" b="1" dirty="0">
                <a:solidFill>
                  <a:schemeClr val="accent1">
                    <a:lumMod val="50000"/>
                  </a:schemeClr>
                </a:solidFill>
                <a:latin typeface="Pretendard" pitchFamily="34" charset="0"/>
                <a:ea typeface="Pretendard" pitchFamily="34" charset="-122"/>
                <a:cs typeface="Pretendard" pitchFamily="34" charset="-120"/>
              </a:rPr>
              <a:t>·</a:t>
            </a:r>
            <a:r>
              <a:rPr lang="ko-KR" altLang="en-US" sz="1250" b="1" dirty="0">
                <a:solidFill>
                  <a:schemeClr val="accent1">
                    <a:lumMod val="50000"/>
                  </a:schemeClr>
                </a:solidFill>
                <a:latin typeface="Pretendard" pitchFamily="34" charset="0"/>
                <a:ea typeface="Pretendard" pitchFamily="34" charset="-122"/>
                <a:cs typeface="Pretendard" pitchFamily="34" charset="-120"/>
              </a:rPr>
              <a:t>재활의 우선성은 구체적인 성과와 비용을 함께 비교하여 판단해야 한다</a:t>
            </a:r>
            <a:r>
              <a:rPr lang="en-US" altLang="ko-KR" sz="1250" b="1" dirty="0">
                <a:solidFill>
                  <a:schemeClr val="accent1">
                    <a:lumMod val="50000"/>
                  </a:schemeClr>
                </a:solidFill>
                <a:latin typeface="Pretendard" pitchFamily="34" charset="0"/>
                <a:ea typeface="Pretendard" pitchFamily="34" charset="-122"/>
                <a:cs typeface="Pretendard" pitchFamily="34" charset="-120"/>
              </a:rPr>
              <a:t>.</a:t>
            </a:r>
            <a:endParaRPr lang="en-US" sz="1250" dirty="0">
              <a:solidFill>
                <a:schemeClr val="accent1">
                  <a:lumMod val="50000"/>
                </a:schemeClr>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형사처벌과 치료·재활의 효과</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JDTC 평균효과와 수료율</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미국 JDTC 메타분석 — 연구 개요와 주요 한계</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치료·재활의 효과를 판단하려면, 비교한 청소년의 특성과 실제로 제공된 치료·감독을 함께 살펴보아야 한다</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BK8"/>
          <p:cNvSpPr/>
          <p:nvPr/>
        </p:nvSpPr>
        <p:spPr>
          <a:xfrm>
            <a:off x="731520" y="2195865"/>
            <a:ext cx="5175504" cy="310896"/>
          </a:xfrm>
          <a:prstGeom prst="rect">
            <a:avLst/>
          </a:prstGeom>
          <a:solidFill>
            <a:srgbClr val="F2F4F8"/>
          </a:solidFill>
          <a:ln/>
        </p:spPr>
        <p:txBody>
          <a:bodyPr/>
          <a:lstStyle/>
          <a:p>
            <a:endParaRPr lang="ko-KR" altLang="en-US"/>
          </a:p>
        </p:txBody>
      </p:sp>
      <p:sp>
        <p:nvSpPr>
          <p:cNvPr id="9" name="BL9"/>
          <p:cNvSpPr/>
          <p:nvPr/>
        </p:nvSpPr>
        <p:spPr>
          <a:xfrm>
            <a:off x="896112" y="2195865"/>
            <a:ext cx="4846320" cy="310896"/>
          </a:xfrm>
          <a:prstGeom prst="rect">
            <a:avLst/>
          </a:prstGeom>
          <a:noFill/>
          <a:ln/>
        </p:spPr>
        <p:txBody>
          <a:bodyPr wrap="square" lIns="0" tIns="0" rIns="0" bIns="0" rtlCol="0" anchor="ctr"/>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① 연구 개요와 비교한 처리 방식</a:t>
            </a:r>
          </a:p>
        </p:txBody>
      </p:sp>
      <p:sp>
        <p:nvSpPr>
          <p:cNvPr id="10" name="BK10"/>
          <p:cNvSpPr/>
          <p:nvPr/>
        </p:nvSpPr>
        <p:spPr>
          <a:xfrm>
            <a:off x="6197021" y="2195864"/>
            <a:ext cx="5175504" cy="310896"/>
          </a:xfrm>
          <a:prstGeom prst="rect">
            <a:avLst/>
          </a:prstGeom>
          <a:solidFill>
            <a:srgbClr val="F2F4F8"/>
          </a:solidFill>
          <a:ln/>
        </p:spPr>
        <p:txBody>
          <a:bodyPr/>
          <a:lstStyle/>
          <a:p>
            <a:endParaRPr lang="ko-KR" altLang="en-US"/>
          </a:p>
        </p:txBody>
      </p:sp>
      <p:sp>
        <p:nvSpPr>
          <p:cNvPr id="11" name="BL11"/>
          <p:cNvSpPr/>
          <p:nvPr/>
        </p:nvSpPr>
        <p:spPr>
          <a:xfrm>
            <a:off x="6361613" y="2195864"/>
            <a:ext cx="4846320" cy="310896"/>
          </a:xfrm>
          <a:prstGeom prst="rect">
            <a:avLst/>
          </a:prstGeom>
          <a:noFill/>
          <a:ln/>
        </p:spPr>
        <p:txBody>
          <a:bodyPr wrap="square" lIns="0" tIns="0" rIns="0" bIns="0" rtlCol="0" anchor="ctr"/>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② 연구 과정에서 확인된 문제</a:t>
            </a:r>
          </a:p>
        </p:txBody>
      </p:sp>
      <p:sp>
        <p:nvSpPr>
          <p:cNvPr id="12" name="C12"/>
          <p:cNvSpPr/>
          <p:nvPr/>
        </p:nvSpPr>
        <p:spPr>
          <a:xfrm>
            <a:off x="881741" y="2675925"/>
            <a:ext cx="5025283" cy="748132"/>
          </a:xfrm>
          <a:prstGeom prst="rect">
            <a:avLst/>
          </a:prstGeom>
          <a:noFill/>
          <a:ln/>
        </p:spPr>
        <p:txBody>
          <a:bodyPr wrap="square" lIns="0" tIns="0" rIns="0" bIns="0" rtlCol="0" anchor="t"/>
          <a:lstStyle/>
          <a:p>
            <a:pPr marL="0" indent="0">
              <a:lnSpc>
                <a:spcPct val="118000"/>
              </a:lnSpc>
              <a:spcAft>
                <a:spcPts val="400"/>
              </a:spcAft>
              <a:buNone/>
            </a:pPr>
            <a:r>
              <a:rPr lang="ko-KR" altLang="en-US" sz="1250" b="1" dirty="0">
                <a:solidFill>
                  <a:srgbClr val="222633"/>
                </a:solidFill>
                <a:latin typeface="Pretendard" pitchFamily="34" charset="0"/>
                <a:ea typeface="Pretendard" pitchFamily="34" charset="-122"/>
                <a:cs typeface="Pretendard" pitchFamily="34" charset="-120"/>
              </a:rPr>
              <a:t>미국의 JDTC 효과평가 연구를 종합했다</a:t>
            </a:r>
          </a:p>
          <a:p>
            <a:pPr marL="0" indent="0">
              <a:lnSpc>
                <a:spcPct val="118000"/>
              </a:lnSpc>
              <a:spcAft>
                <a:spcPts val="300"/>
              </a:spcAft>
              <a:buNone/>
            </a:pPr>
            <a:r>
              <a:rPr lang="ko-KR" altLang="en-US" sz="1150" dirty="0">
                <a:solidFill>
                  <a:srgbClr val="464D5C"/>
                </a:solidFill>
                <a:latin typeface="Pretendard" pitchFamily="34" charset="0"/>
                <a:ea typeface="Pretendard" pitchFamily="34" charset="-122"/>
                <a:cs typeface="Pretendard" pitchFamily="34" charset="-120"/>
              </a:rPr>
              <a:t>44개 연구 · 55개 표본 · 12,310명</a:t>
            </a:r>
          </a:p>
          <a:p>
            <a:pPr marL="0" indent="0">
              <a:lnSpc>
                <a:spcPct val="118000"/>
              </a:lnSpc>
              <a:spcAft>
                <a:spcPts val="300"/>
              </a:spcAft>
              <a:buNone/>
            </a:pPr>
            <a:r>
              <a:rPr lang="ko-KR" altLang="en-US" sz="1150" dirty="0">
                <a:solidFill>
                  <a:srgbClr val="464D5C"/>
                </a:solidFill>
                <a:latin typeface="Pretendard" pitchFamily="34" charset="0"/>
                <a:ea typeface="Pretendard" pitchFamily="34" charset="-122"/>
                <a:cs typeface="Pretendard" pitchFamily="34" charset="-120"/>
              </a:rPr>
              <a:t>연구에 포함된 청소년의 평균 연령은 약 16세였다</a:t>
            </a:r>
          </a:p>
        </p:txBody>
      </p:sp>
      <p:sp>
        <p:nvSpPr>
          <p:cNvPr id="14" name="R14"/>
          <p:cNvSpPr/>
          <p:nvPr/>
        </p:nvSpPr>
        <p:spPr>
          <a:xfrm>
            <a:off x="731520" y="3537052"/>
            <a:ext cx="10725912" cy="0"/>
          </a:xfrm>
          <a:prstGeom prst="line">
            <a:avLst/>
          </a:prstGeom>
          <a:ln w="9525">
            <a:solidFill>
              <a:srgbClr val="DCE0E8"/>
            </a:solidFill>
          </a:ln>
        </p:spPr>
        <p:txBody>
          <a:bodyPr/>
          <a:lstStyle/>
          <a:p>
            <a:endParaRPr lang="ko-KR"/>
          </a:p>
        </p:txBody>
      </p:sp>
      <p:sp>
        <p:nvSpPr>
          <p:cNvPr id="15" name="C15"/>
          <p:cNvSpPr/>
          <p:nvPr/>
        </p:nvSpPr>
        <p:spPr>
          <a:xfrm>
            <a:off x="881741" y="3625225"/>
            <a:ext cx="5025283" cy="748132"/>
          </a:xfrm>
          <a:prstGeom prst="rect">
            <a:avLst/>
          </a:prstGeom>
          <a:noFill/>
          <a:ln/>
        </p:spPr>
        <p:txBody>
          <a:bodyPr wrap="square" lIns="0" tIns="0" rIns="0" bIns="0" rtlCol="0" anchor="t"/>
          <a:lstStyle/>
          <a:p>
            <a:pPr marL="0" indent="0">
              <a:lnSpc>
                <a:spcPct val="118000"/>
              </a:lnSpc>
              <a:spcAft>
                <a:spcPts val="400"/>
              </a:spcAft>
              <a:buNone/>
            </a:pPr>
            <a:r>
              <a:rPr lang="ko-KR" altLang="en-US" sz="1250" b="1" dirty="0">
                <a:solidFill>
                  <a:srgbClr val="222633"/>
                </a:solidFill>
                <a:latin typeface="Pretendard" pitchFamily="34" charset="0"/>
                <a:ea typeface="Pretendard" pitchFamily="34" charset="-122"/>
                <a:cs typeface="Pretendard" pitchFamily="34" charset="-120"/>
              </a:rPr>
              <a:t>두 가지 소년사건 처리 방식</a:t>
            </a:r>
            <a:r>
              <a:rPr lang="en-US" altLang="ko-KR" sz="1250" b="1" dirty="0">
                <a:solidFill>
                  <a:srgbClr val="222633"/>
                </a:solidFill>
                <a:latin typeface="Pretendard" pitchFamily="34" charset="0"/>
                <a:ea typeface="Pretendard" pitchFamily="34" charset="-122"/>
                <a:cs typeface="Pretendard" pitchFamily="34" charset="-120"/>
              </a:rPr>
              <a:t>(</a:t>
            </a:r>
            <a:r>
              <a:rPr lang="ko-KR" altLang="en-US" sz="1250" b="1" dirty="0">
                <a:solidFill>
                  <a:srgbClr val="222633"/>
                </a:solidFill>
                <a:latin typeface="Pretendard" pitchFamily="34" charset="0"/>
                <a:ea typeface="Pretendard" pitchFamily="34" charset="-122"/>
                <a:cs typeface="Pretendard" pitchFamily="34" charset="-120"/>
              </a:rPr>
              <a:t>기존 소년법원과 소년약물법원</a:t>
            </a:r>
            <a:r>
              <a:rPr lang="en-US" altLang="ko-KR" sz="1250" b="1" dirty="0">
                <a:solidFill>
                  <a:srgbClr val="222633"/>
                </a:solidFill>
                <a:latin typeface="Pretendard" pitchFamily="34" charset="0"/>
                <a:ea typeface="Pretendard" pitchFamily="34" charset="-122"/>
                <a:cs typeface="Pretendard" pitchFamily="34" charset="-120"/>
              </a:rPr>
              <a:t>)</a:t>
            </a:r>
            <a:r>
              <a:rPr lang="ko-KR" altLang="en-US" sz="1250" b="1" dirty="0">
                <a:solidFill>
                  <a:srgbClr val="222633"/>
                </a:solidFill>
                <a:latin typeface="Pretendard" pitchFamily="34" charset="0"/>
                <a:ea typeface="Pretendard" pitchFamily="34" charset="-122"/>
                <a:cs typeface="Pretendard" pitchFamily="34" charset="-120"/>
              </a:rPr>
              <a:t> 의 결과를 비교했다</a:t>
            </a:r>
          </a:p>
          <a:p>
            <a:pPr marL="0" indent="0">
              <a:lnSpc>
                <a:spcPct val="118000"/>
              </a:lnSpc>
              <a:spcAft>
                <a:spcPts val="300"/>
              </a:spcAft>
              <a:buNone/>
            </a:pPr>
            <a:r>
              <a:rPr lang="ko-KR" altLang="en-US" sz="1150" b="1" dirty="0">
                <a:solidFill>
                  <a:srgbClr val="002060"/>
                </a:solidFill>
                <a:highlight>
                  <a:srgbClr val="FFFF00"/>
                </a:highlight>
                <a:latin typeface="Pretendard" pitchFamily="34" charset="0"/>
                <a:ea typeface="Pretendard" pitchFamily="34" charset="-122"/>
                <a:cs typeface="Pretendard" pitchFamily="34" charset="-120"/>
              </a:rPr>
              <a:t>기존 소년사건 처리</a:t>
            </a:r>
            <a:r>
              <a:rPr lang="ko-KR" altLang="en-US" sz="1150" b="1" dirty="0">
                <a:solidFill>
                  <a:srgbClr val="464D5C"/>
                </a:solidFill>
                <a:latin typeface="Pretendard" pitchFamily="34" charset="0"/>
                <a:ea typeface="Pretendard" pitchFamily="34" charset="-122"/>
                <a:cs typeface="Pretendard" pitchFamily="34" charset="-120"/>
              </a:rPr>
              <a:t>는 보호관찰 등이며 </a:t>
            </a:r>
            <a:r>
              <a:rPr lang="ko-KR" altLang="en-US" sz="1150" b="1" dirty="0">
                <a:solidFill>
                  <a:srgbClr val="464D5C"/>
                </a:solidFill>
                <a:highlight>
                  <a:srgbClr val="FFFF00"/>
                </a:highlight>
                <a:latin typeface="Pretendard" pitchFamily="34" charset="0"/>
                <a:ea typeface="Pretendard" pitchFamily="34" charset="-122"/>
                <a:cs typeface="Pretendard" pitchFamily="34" charset="-120"/>
              </a:rPr>
              <a:t>기본적인 치료 연계가 포함될 수 있다</a:t>
            </a:r>
            <a:endParaRPr lang="en-US" altLang="ko-KR" sz="1150" b="1" dirty="0">
              <a:solidFill>
                <a:srgbClr val="464D5C"/>
              </a:solidFill>
              <a:highlight>
                <a:srgbClr val="FFFF00"/>
              </a:highlight>
              <a:latin typeface="Pretendard" pitchFamily="34" charset="0"/>
              <a:ea typeface="Pretendard" pitchFamily="34" charset="-122"/>
              <a:cs typeface="Pretendard" pitchFamily="34" charset="-120"/>
            </a:endParaRPr>
          </a:p>
          <a:p>
            <a:pPr>
              <a:lnSpc>
                <a:spcPct val="118000"/>
              </a:lnSpc>
              <a:spcAft>
                <a:spcPts val="300"/>
              </a:spcAft>
            </a:pPr>
            <a:r>
              <a:rPr lang="ko-KR" altLang="en-US" sz="1150" b="1" dirty="0" err="1">
                <a:solidFill>
                  <a:srgbClr val="002060"/>
                </a:solidFill>
                <a:highlight>
                  <a:srgbClr val="FFFF00"/>
                </a:highlight>
                <a:latin typeface="Pretendard" pitchFamily="34" charset="0"/>
                <a:ea typeface="Pretendard" pitchFamily="34" charset="-122"/>
                <a:cs typeface="Pretendard" pitchFamily="34" charset="-120"/>
              </a:rPr>
              <a:t>JDTC</a:t>
            </a:r>
            <a:r>
              <a:rPr lang="ko-KR" altLang="en-US" sz="1150" b="1" dirty="0" err="1">
                <a:solidFill>
                  <a:srgbClr val="464D5C"/>
                </a:solidFill>
                <a:highlight>
                  <a:srgbClr val="FFFF00"/>
                </a:highlight>
                <a:latin typeface="Pretendard" pitchFamily="34" charset="0"/>
                <a:ea typeface="Pretendard" pitchFamily="34" charset="-122"/>
                <a:cs typeface="Pretendard" pitchFamily="34" charset="-120"/>
              </a:rPr>
              <a:t>는</a:t>
            </a:r>
            <a:r>
              <a:rPr lang="ko-KR" altLang="en-US" sz="1150" b="1" dirty="0">
                <a:solidFill>
                  <a:srgbClr val="464D5C"/>
                </a:solidFill>
                <a:highlight>
                  <a:srgbClr val="FFFF00"/>
                </a:highlight>
                <a:latin typeface="Pretendard" pitchFamily="34" charset="0"/>
                <a:ea typeface="Pretendard" pitchFamily="34" charset="-122"/>
                <a:cs typeface="Pretendard" pitchFamily="34" charset="-120"/>
              </a:rPr>
              <a:t> 법원 감독과 </a:t>
            </a:r>
            <a:r>
              <a:rPr lang="ko-KR" altLang="en-US" sz="1150" b="1" dirty="0" err="1">
                <a:solidFill>
                  <a:srgbClr val="464D5C"/>
                </a:solidFill>
                <a:highlight>
                  <a:srgbClr val="FFFF00"/>
                </a:highlight>
                <a:latin typeface="Pretendard" pitchFamily="34" charset="0"/>
                <a:ea typeface="Pretendard" pitchFamily="34" charset="-122"/>
                <a:cs typeface="Pretendard" pitchFamily="34" charset="-120"/>
              </a:rPr>
              <a:t>다차원적인</a:t>
            </a:r>
            <a:r>
              <a:rPr lang="ko-KR" altLang="en-US" sz="1150" b="1" dirty="0">
                <a:solidFill>
                  <a:srgbClr val="464D5C"/>
                </a:solidFill>
                <a:highlight>
                  <a:srgbClr val="FFFF00"/>
                </a:highlight>
                <a:latin typeface="Pretendard" pitchFamily="34" charset="0"/>
                <a:ea typeface="Pretendard" pitchFamily="34" charset="-122"/>
                <a:cs typeface="Pretendard" pitchFamily="34" charset="-120"/>
              </a:rPr>
              <a:t> 지역사회 약물치료를 결합한다</a:t>
            </a:r>
          </a:p>
          <a:p>
            <a:pPr marL="0" indent="0">
              <a:lnSpc>
                <a:spcPct val="118000"/>
              </a:lnSpc>
              <a:spcAft>
                <a:spcPts val="300"/>
              </a:spcAft>
              <a:buNone/>
            </a:pPr>
            <a:endParaRPr lang="ko-KR" altLang="en-US" sz="1150" dirty="0">
              <a:solidFill>
                <a:srgbClr val="464D5C"/>
              </a:solidFill>
              <a:latin typeface="Pretendard" pitchFamily="34" charset="0"/>
              <a:ea typeface="Pretendard" pitchFamily="34" charset="-122"/>
              <a:cs typeface="Pretendard" pitchFamily="34" charset="-120"/>
            </a:endParaRPr>
          </a:p>
        </p:txBody>
      </p:sp>
      <p:sp>
        <p:nvSpPr>
          <p:cNvPr id="16" name="C16"/>
          <p:cNvSpPr/>
          <p:nvPr/>
        </p:nvSpPr>
        <p:spPr>
          <a:xfrm>
            <a:off x="6361613" y="2632633"/>
            <a:ext cx="4999158" cy="748132"/>
          </a:xfrm>
          <a:prstGeom prst="rect">
            <a:avLst/>
          </a:prstGeom>
          <a:noFill/>
          <a:ln/>
        </p:spPr>
        <p:txBody>
          <a:bodyPr wrap="square" lIns="0" tIns="0" rIns="0" bIns="0" rtlCol="0" anchor="t"/>
          <a:lstStyle/>
          <a:p>
            <a:pPr marL="0" indent="0">
              <a:lnSpc>
                <a:spcPct val="118000"/>
              </a:lnSpc>
              <a:spcAft>
                <a:spcPts val="400"/>
              </a:spcAft>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계획한 치료·감독을 충분히 실행되지 못했을 가능성이 있었다</a:t>
            </a:r>
          </a:p>
          <a:p>
            <a:pPr marL="0" indent="0">
              <a:lnSpc>
                <a:spcPct val="125000"/>
              </a:lnSpc>
              <a:spcAft>
                <a:spcPts val="300"/>
              </a:spcAft>
              <a:buNone/>
            </a:pPr>
            <a:r>
              <a:rPr lang="ko-KR" altLang="en-US" sz="1150" dirty="0">
                <a:solidFill>
                  <a:srgbClr val="464D5C"/>
                </a:solidFill>
                <a:latin typeface="Pretendard" pitchFamily="34" charset="0"/>
                <a:ea typeface="Pretendard" pitchFamily="34" charset="-122"/>
                <a:cs typeface="Pretendard" pitchFamily="34" charset="-120"/>
              </a:rPr>
              <a:t>JDTC 프로그램 단위 76개 중 33개(43%)</a:t>
            </a:r>
            <a:r>
              <a:rPr lang="ko-KR" altLang="en-US" sz="1150" b="1" dirty="0">
                <a:solidFill>
                  <a:srgbClr val="464D5C"/>
                </a:solidFill>
                <a:highlight>
                  <a:srgbClr val="FFFF00"/>
                </a:highlight>
                <a:latin typeface="Pretendard" pitchFamily="34" charset="0"/>
                <a:ea typeface="Pretendard" pitchFamily="34" charset="-122"/>
                <a:cs typeface="Pretendard" pitchFamily="34" charset="-120"/>
              </a:rPr>
              <a:t>에서 서비스를 계획대로 제공하는 데 문제가 있었을 가능성이 보고되었다</a:t>
            </a:r>
          </a:p>
        </p:txBody>
      </p:sp>
      <p:sp>
        <p:nvSpPr>
          <p:cNvPr id="17" name="R17"/>
          <p:cNvSpPr/>
          <p:nvPr/>
        </p:nvSpPr>
        <p:spPr>
          <a:xfrm>
            <a:off x="731520" y="4486351"/>
            <a:ext cx="10725912" cy="0"/>
          </a:xfrm>
          <a:prstGeom prst="line">
            <a:avLst/>
          </a:prstGeom>
          <a:ln w="9525">
            <a:solidFill>
              <a:srgbClr val="DCE0E8"/>
            </a:solidFill>
          </a:ln>
        </p:spPr>
        <p:txBody>
          <a:bodyPr/>
          <a:lstStyle/>
          <a:p>
            <a:endParaRPr lang="ko-KR"/>
          </a:p>
        </p:txBody>
      </p:sp>
      <p:sp>
        <p:nvSpPr>
          <p:cNvPr id="18" name="C18"/>
          <p:cNvSpPr/>
          <p:nvPr/>
        </p:nvSpPr>
        <p:spPr>
          <a:xfrm>
            <a:off x="881741" y="4574524"/>
            <a:ext cx="5025283" cy="717804"/>
          </a:xfrm>
          <a:prstGeom prst="rect">
            <a:avLst/>
          </a:prstGeom>
          <a:noFill/>
          <a:ln/>
        </p:spPr>
        <p:txBody>
          <a:bodyPr wrap="square" lIns="0" tIns="0" rIns="0" bIns="0" rtlCol="0" anchor="t"/>
          <a:lstStyle/>
          <a:p>
            <a:pPr marL="0" indent="0">
              <a:lnSpc>
                <a:spcPct val="118000"/>
              </a:lnSpc>
              <a:spcAft>
                <a:spcPts val="400"/>
              </a:spcAft>
              <a:buNone/>
            </a:pPr>
            <a:r>
              <a:rPr lang="ko-KR" altLang="en-US" sz="1250" b="1" dirty="0">
                <a:solidFill>
                  <a:srgbClr val="222633"/>
                </a:solidFill>
                <a:latin typeface="Pretendard" pitchFamily="34" charset="0"/>
                <a:ea typeface="Pretendard" pitchFamily="34" charset="-122"/>
                <a:cs typeface="Pretendard" pitchFamily="34" charset="-120"/>
              </a:rPr>
              <a:t>재범·약물사용·프로그램 수료를 살펴보았다</a:t>
            </a:r>
          </a:p>
          <a:p>
            <a:pPr marL="0" indent="0">
              <a:lnSpc>
                <a:spcPct val="118000"/>
              </a:lnSpc>
              <a:spcAft>
                <a:spcPts val="300"/>
              </a:spcAft>
              <a:buNone/>
            </a:pPr>
            <a:r>
              <a:rPr lang="ko-KR" altLang="en-US" sz="1150" dirty="0">
                <a:solidFill>
                  <a:srgbClr val="464D5C"/>
                </a:solidFill>
                <a:latin typeface="Pretendard" pitchFamily="34" charset="0"/>
                <a:ea typeface="Pretendard" pitchFamily="34" charset="-122"/>
                <a:cs typeface="Pretendard" pitchFamily="34" charset="-120"/>
              </a:rPr>
              <a:t>프로그램 운영 중과 종료 후의 재범·약물사용 결과, 프로그램 수료율을 분석했다</a:t>
            </a:r>
          </a:p>
        </p:txBody>
      </p:sp>
      <p:sp>
        <p:nvSpPr>
          <p:cNvPr id="19" name="C19"/>
          <p:cNvSpPr/>
          <p:nvPr/>
        </p:nvSpPr>
        <p:spPr>
          <a:xfrm>
            <a:off x="6361613" y="3637636"/>
            <a:ext cx="4999158" cy="717804"/>
          </a:xfrm>
          <a:prstGeom prst="rect">
            <a:avLst/>
          </a:prstGeom>
          <a:noFill/>
          <a:ln/>
        </p:spPr>
        <p:txBody>
          <a:bodyPr wrap="square" lIns="0" tIns="0" rIns="0" bIns="0" rtlCol="0" anchor="t"/>
          <a:lstStyle/>
          <a:p>
            <a:pPr marL="0" indent="0">
              <a:lnSpc>
                <a:spcPct val="118000"/>
              </a:lnSpc>
              <a:spcAft>
                <a:spcPts val="400"/>
              </a:spcAft>
              <a:buNone/>
            </a:pPr>
            <a:r>
              <a:rPr lang="ko-KR" altLang="en-US" sz="1250" b="1" dirty="0">
                <a:solidFill>
                  <a:srgbClr val="222633"/>
                </a:solidFill>
                <a:latin typeface="Pretendard" pitchFamily="34" charset="0"/>
                <a:ea typeface="Pretendard" pitchFamily="34" charset="-122"/>
                <a:cs typeface="Pretendard" pitchFamily="34" charset="-120"/>
              </a:rPr>
              <a:t>치료 제공을 뒷받침할 </a:t>
            </a: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운영 여건이 부족</a:t>
            </a:r>
            <a:r>
              <a:rPr lang="ko-KR" altLang="en-US" sz="1250" b="1" dirty="0">
                <a:solidFill>
                  <a:srgbClr val="222633"/>
                </a:solidFill>
                <a:latin typeface="Pretendard" pitchFamily="34" charset="0"/>
                <a:ea typeface="Pretendard" pitchFamily="34" charset="-122"/>
                <a:cs typeface="Pretendard" pitchFamily="34" charset="-120"/>
              </a:rPr>
              <a:t>한 경우가 있다</a:t>
            </a:r>
          </a:p>
          <a:p>
            <a:pPr marL="0" indent="0">
              <a:lnSpc>
                <a:spcPct val="125000"/>
              </a:lnSpc>
              <a:spcAft>
                <a:spcPts val="300"/>
              </a:spcAft>
              <a:buNone/>
            </a:pPr>
            <a:r>
              <a:rPr lang="ko-KR" altLang="en-US" sz="1150" dirty="0">
                <a:solidFill>
                  <a:srgbClr val="464D5C"/>
                </a:solidFill>
                <a:latin typeface="Pretendard" pitchFamily="34" charset="0"/>
                <a:ea typeface="Pretendard" pitchFamily="34" charset="-122"/>
                <a:cs typeface="Pretendard" pitchFamily="34" charset="-120"/>
              </a:rPr>
              <a:t>JDTC 지침 개발사업도 </a:t>
            </a:r>
            <a:r>
              <a:rPr lang="ko-KR" altLang="en-US" sz="1150" b="1" dirty="0">
                <a:solidFill>
                  <a:srgbClr val="464D5C"/>
                </a:solidFill>
                <a:highlight>
                  <a:srgbClr val="FFFF00"/>
                </a:highlight>
                <a:latin typeface="Pretendard" pitchFamily="34" charset="0"/>
                <a:ea typeface="Pretendard" pitchFamily="34" charset="-122"/>
                <a:cs typeface="Pretendard" pitchFamily="34" charset="-120"/>
              </a:rPr>
              <a:t>일관되지 않은 실행, 효과가 검증된 치료의 부족, 지속할 준비 부족을 현장 과제로 제시</a:t>
            </a:r>
            <a:r>
              <a:rPr lang="ko-KR" altLang="en-US" sz="1150" dirty="0">
                <a:solidFill>
                  <a:srgbClr val="464D5C"/>
                </a:solidFill>
                <a:latin typeface="Pretendard" pitchFamily="34" charset="0"/>
                <a:ea typeface="Pretendard" pitchFamily="34" charset="-122"/>
                <a:cs typeface="Pretendard" pitchFamily="34" charset="-120"/>
              </a:rPr>
              <a:t>했다</a:t>
            </a:r>
          </a:p>
        </p:txBody>
      </p:sp>
      <p:sp>
        <p:nvSpPr>
          <p:cNvPr id="20" name="R20"/>
          <p:cNvSpPr/>
          <p:nvPr/>
        </p:nvSpPr>
        <p:spPr>
          <a:xfrm>
            <a:off x="731520" y="5405323"/>
            <a:ext cx="10725912" cy="0"/>
          </a:xfrm>
          <a:prstGeom prst="line">
            <a:avLst/>
          </a:prstGeom>
          <a:ln w="9525">
            <a:solidFill>
              <a:srgbClr val="DCE0E8"/>
            </a:solidFill>
          </a:ln>
        </p:spPr>
        <p:txBody>
          <a:bodyPr/>
          <a:lstStyle/>
          <a:p>
            <a:endParaRPr lang="ko-KR"/>
          </a:p>
        </p:txBody>
      </p:sp>
      <p:sp>
        <p:nvSpPr>
          <p:cNvPr id="22" name="CL"/>
          <p:cNvSpPr/>
          <p:nvPr/>
        </p:nvSpPr>
        <p:spPr>
          <a:xfrm>
            <a:off x="1103811" y="5568607"/>
            <a:ext cx="9659983" cy="739444"/>
          </a:xfrm>
          <a:prstGeom prst="rect">
            <a:avLst/>
          </a:prstGeom>
          <a:solidFill>
            <a:schemeClr val="accent1">
              <a:lumMod val="20000"/>
              <a:lumOff val="80000"/>
            </a:schemeClr>
          </a:solidFill>
          <a:ln/>
        </p:spPr>
        <p:txBody>
          <a:bodyPr wrap="square" lIns="0" tIns="0" rIns="0" bIns="0" rtlCol="0" anchor="ctr"/>
          <a:lstStyle/>
          <a:p>
            <a:pPr marL="0" indent="0" algn="ctr">
              <a:lnSpc>
                <a:spcPct val="118000"/>
              </a:lnSpc>
              <a:buNone/>
            </a:pPr>
            <a:r>
              <a:rPr lang="ko-KR" altLang="en-US" sz="1250" b="1" dirty="0">
                <a:solidFill>
                  <a:srgbClr val="002060"/>
                </a:solidFill>
                <a:latin typeface="Pretendard" pitchFamily="34" charset="0"/>
                <a:ea typeface="Pretendard" pitchFamily="34" charset="-122"/>
                <a:cs typeface="Pretendard" pitchFamily="34" charset="-120"/>
              </a:rPr>
              <a:t>치료·재활을 우선하는 정책에는 치료 담당기관과 전문인력의 확보, 실제 운영 가능성</a:t>
            </a:r>
            <a:r>
              <a:rPr lang="en-US" altLang="ko-KR" sz="1250" b="1" dirty="0">
                <a:solidFill>
                  <a:srgbClr val="002060"/>
                </a:solidFill>
                <a:latin typeface="Pretendard" pitchFamily="34" charset="0"/>
                <a:ea typeface="Pretendard" pitchFamily="34" charset="-122"/>
                <a:cs typeface="Pretendard" pitchFamily="34" charset="-120"/>
              </a:rPr>
              <a:t>, </a:t>
            </a:r>
            <a:r>
              <a:rPr lang="ko-KR" altLang="en-US" sz="1250" b="1" dirty="0">
                <a:solidFill>
                  <a:srgbClr val="002060"/>
                </a:solidFill>
                <a:latin typeface="Pretendard" pitchFamily="34" charset="0"/>
                <a:ea typeface="Pretendard" pitchFamily="34" charset="-122"/>
                <a:cs typeface="Pretendard" pitchFamily="34" charset="-120"/>
              </a:rPr>
              <a:t>치료의 개시·지속 여부를 확인하는 관리체계가 함께 필요하다</a:t>
            </a:r>
          </a:p>
        </p:txBody>
      </p:sp>
      <p:sp>
        <p:nvSpPr>
          <p:cNvPr id="26" name="C19">
            <a:extLst>
              <a:ext uri="{FF2B5EF4-FFF2-40B4-BE49-F238E27FC236}">
                <a16:creationId xmlns:a16="http://schemas.microsoft.com/office/drawing/2014/main" id="{13C35D9F-8856-28D3-B061-2FB06AF2C46A}"/>
              </a:ext>
            </a:extLst>
          </p:cNvPr>
          <p:cNvSpPr/>
          <p:nvPr/>
        </p:nvSpPr>
        <p:spPr>
          <a:xfrm>
            <a:off x="6361613" y="4586934"/>
            <a:ext cx="4999158" cy="717804"/>
          </a:xfrm>
          <a:prstGeom prst="rect">
            <a:avLst/>
          </a:prstGeom>
          <a:noFill/>
          <a:ln/>
        </p:spPr>
        <p:txBody>
          <a:bodyPr wrap="square" lIns="0" tIns="0" rIns="0" bIns="0" rtlCol="0" anchor="t"/>
          <a:lstStyle/>
          <a:p>
            <a:pPr marL="0" indent="0">
              <a:lnSpc>
                <a:spcPct val="118000"/>
              </a:lnSpc>
              <a:spcAft>
                <a:spcPts val="400"/>
              </a:spcAft>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낮은 </a:t>
            </a:r>
            <a:r>
              <a:rPr lang="ko-KR" altLang="en-US" sz="1250" b="1" dirty="0" err="1">
                <a:solidFill>
                  <a:srgbClr val="222633"/>
                </a:solidFill>
                <a:highlight>
                  <a:srgbClr val="FFFF00"/>
                </a:highlight>
                <a:latin typeface="Pretendard" pitchFamily="34" charset="0"/>
                <a:ea typeface="Pretendard" pitchFamily="34" charset="-122"/>
                <a:cs typeface="Pretendard" pitchFamily="34" charset="-120"/>
              </a:rPr>
              <a:t>수료율</a:t>
            </a: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 문제</a:t>
            </a:r>
          </a:p>
          <a:p>
            <a:pPr>
              <a:lnSpc>
                <a:spcPct val="125000"/>
              </a:lnSpc>
              <a:spcAft>
                <a:spcPts val="300"/>
              </a:spcAft>
            </a:pPr>
            <a:r>
              <a:rPr lang="en-US" altLang="ko-KR" sz="1150" dirty="0">
                <a:solidFill>
                  <a:srgbClr val="464D5C"/>
                </a:solidFill>
                <a:latin typeface="Pretendard" pitchFamily="34" charset="0"/>
                <a:ea typeface="Pretendard" pitchFamily="34" charset="-122"/>
                <a:cs typeface="Pretendard" pitchFamily="34" charset="-120"/>
              </a:rPr>
              <a:t>JDTC </a:t>
            </a:r>
            <a:r>
              <a:rPr lang="ko-KR" altLang="en-US" sz="1150" dirty="0">
                <a:solidFill>
                  <a:srgbClr val="464D5C"/>
                </a:solidFill>
                <a:latin typeface="Pretendard" pitchFamily="34" charset="0"/>
                <a:ea typeface="Pretendard" pitchFamily="34" charset="-122"/>
                <a:cs typeface="Pretendard" pitchFamily="34" charset="-120"/>
              </a:rPr>
              <a:t>평균 수료율은 </a:t>
            </a:r>
            <a:r>
              <a:rPr lang="en-US" altLang="ko-KR" sz="1150" dirty="0">
                <a:solidFill>
                  <a:srgbClr val="464D5C"/>
                </a:solidFill>
                <a:latin typeface="Pretendard" pitchFamily="34" charset="0"/>
                <a:ea typeface="Pretendard" pitchFamily="34" charset="-122"/>
                <a:cs typeface="Pretendard" pitchFamily="34" charset="-120"/>
              </a:rPr>
              <a:t>54.74%</a:t>
            </a:r>
            <a:r>
              <a:rPr lang="ko-KR" altLang="en-US" sz="1150" dirty="0">
                <a:solidFill>
                  <a:srgbClr val="464D5C"/>
                </a:solidFill>
                <a:latin typeface="Pretendard" pitchFamily="34" charset="0"/>
                <a:ea typeface="Pretendard" pitchFamily="34" charset="-122"/>
                <a:cs typeface="Pretendard" pitchFamily="34" charset="-120"/>
              </a:rPr>
              <a:t>로 등록한 청소년 가운데 </a:t>
            </a:r>
            <a:r>
              <a:rPr lang="ko-KR" altLang="en-US" sz="1150" dirty="0">
                <a:solidFill>
                  <a:srgbClr val="464D5C"/>
                </a:solidFill>
                <a:highlight>
                  <a:srgbClr val="FFFF00"/>
                </a:highlight>
                <a:latin typeface="Pretendard" pitchFamily="34" charset="0"/>
                <a:ea typeface="Pretendard" pitchFamily="34" charset="-122"/>
                <a:cs typeface="Pretendard" pitchFamily="34" charset="-120"/>
              </a:rPr>
              <a:t>약 절반만 프로그램을 공식 수료했다 </a:t>
            </a:r>
          </a:p>
          <a:p>
            <a:pPr>
              <a:lnSpc>
                <a:spcPct val="125000"/>
              </a:lnSpc>
              <a:spcAft>
                <a:spcPts val="300"/>
              </a:spcAft>
            </a:pPr>
            <a:r>
              <a:rPr lang="ko-KR" altLang="en-US" sz="1150" dirty="0">
                <a:solidFill>
                  <a:srgbClr val="464D5C"/>
                </a:solidFill>
                <a:latin typeface="Pretendard" pitchFamily="34" charset="0"/>
                <a:ea typeface="Pretendard" pitchFamily="34" charset="-122"/>
                <a:cs typeface="Pretendard" pitchFamily="34" charset="-120"/>
              </a:rPr>
              <a:t>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6. 형사처벌과 치료·재활의 효과</a:t>
            </a:r>
            <a:endParaRPr lang="en-US" sz="1250" dirty="0"/>
          </a:p>
        </p:txBody>
      </p:sp>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치료·감독 종료 후 효과의 유지</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r>
              <a:rPr lang="en-US" sz="2700" b="1" dirty="0">
                <a:solidFill>
                  <a:srgbClr val="1E2761"/>
                </a:solidFill>
                <a:latin typeface="Pretendard" pitchFamily="34" charset="0"/>
                <a:ea typeface="Pretendard" pitchFamily="34" charset="-122"/>
                <a:cs typeface="Pretendard" pitchFamily="34" charset="-120"/>
              </a:rPr>
              <a:t>JDTC </a:t>
            </a:r>
            <a:r>
              <a:rPr lang="ko-KR" altLang="en-US" sz="2700" b="1" dirty="0">
                <a:solidFill>
                  <a:srgbClr val="1E2761"/>
                </a:solidFill>
                <a:latin typeface="Pretendard" pitchFamily="34" charset="0"/>
                <a:ea typeface="Pretendard" pitchFamily="34" charset="-122"/>
                <a:cs typeface="Pretendard" pitchFamily="34" charset="-120"/>
              </a:rPr>
              <a:t>메타분석 </a:t>
            </a:r>
            <a:r>
              <a:rPr lang="en-US" sz="2700" b="1" dirty="0">
                <a:solidFill>
                  <a:srgbClr val="1E2761"/>
                </a:solidFill>
                <a:latin typeface="Pretendard" pitchFamily="34" charset="0"/>
                <a:ea typeface="Pretendard" pitchFamily="34" charset="-122"/>
                <a:cs typeface="Pretendard" pitchFamily="34" charset="-120"/>
              </a:rPr>
              <a:t>—</a:t>
            </a:r>
            <a:r>
              <a:rPr lang="en-US" sz="2700" b="1" dirty="0" err="1">
                <a:solidFill>
                  <a:srgbClr val="1E2761"/>
                </a:solidFill>
                <a:latin typeface="Pretendard" pitchFamily="34" charset="0"/>
                <a:ea typeface="Pretendard" pitchFamily="34" charset="-122"/>
                <a:cs typeface="Pretendard" pitchFamily="34" charset="-120"/>
              </a:rPr>
              <a:t>감독</a:t>
            </a:r>
            <a:r>
              <a:rPr lang="en-US" sz="2700" b="1" dirty="0">
                <a:solidFill>
                  <a:srgbClr val="1E2761"/>
                </a:solidFill>
                <a:latin typeface="Pretendard" pitchFamily="34" charset="0"/>
                <a:ea typeface="Pretendard" pitchFamily="34" charset="-122"/>
                <a:cs typeface="Pretendard" pitchFamily="34" charset="-120"/>
              </a:rPr>
              <a:t> 중 </a:t>
            </a:r>
            <a:r>
              <a:rPr lang="en-US" sz="2700" b="1" dirty="0" err="1">
                <a:solidFill>
                  <a:srgbClr val="1E2761"/>
                </a:solidFill>
                <a:latin typeface="Pretendard" pitchFamily="34" charset="0"/>
                <a:ea typeface="Pretendard" pitchFamily="34" charset="-122"/>
                <a:cs typeface="Pretendard" pitchFamily="34" charset="-120"/>
              </a:rPr>
              <a:t>재범</a:t>
            </a:r>
            <a:r>
              <a:rPr lang="en-US" sz="2700" b="1" dirty="0">
                <a:solidFill>
                  <a:srgbClr val="1E2761"/>
                </a:solidFill>
                <a:latin typeface="Pretendard" pitchFamily="34" charset="0"/>
                <a:ea typeface="Pretendard" pitchFamily="34" charset="-122"/>
                <a:cs typeface="Pretendard" pitchFamily="34" charset="-120"/>
              </a:rPr>
              <a:t> </a:t>
            </a:r>
            <a:r>
              <a:rPr lang="en-US" sz="2700" b="1" dirty="0" err="1">
                <a:solidFill>
                  <a:srgbClr val="1E2761"/>
                </a:solidFill>
                <a:latin typeface="Pretendard" pitchFamily="34" charset="0"/>
                <a:ea typeface="Pretendard" pitchFamily="34" charset="-122"/>
                <a:cs typeface="Pretendard" pitchFamily="34" charset="-120"/>
              </a:rPr>
              <a:t>소폭</a:t>
            </a:r>
            <a:r>
              <a:rPr lang="en-US" sz="2700" b="1" dirty="0">
                <a:solidFill>
                  <a:srgbClr val="1E2761"/>
                </a:solidFill>
                <a:latin typeface="Pretendard" pitchFamily="34" charset="0"/>
                <a:ea typeface="Pretendard" pitchFamily="34" charset="-122"/>
                <a:cs typeface="Pretendard" pitchFamily="34" charset="-120"/>
              </a:rPr>
              <a:t> </a:t>
            </a:r>
            <a:r>
              <a:rPr lang="ko-KR" altLang="en-US" sz="2700" b="1" dirty="0">
                <a:solidFill>
                  <a:srgbClr val="1E2761"/>
                </a:solidFill>
                <a:latin typeface="Pretendard" pitchFamily="34" charset="0"/>
                <a:ea typeface="Pretendard" pitchFamily="34" charset="-122"/>
                <a:cs typeface="Pretendard" pitchFamily="34" charset="-120"/>
              </a:rPr>
              <a:t>감소</a:t>
            </a:r>
            <a:r>
              <a:rPr lang="en-US" sz="2700" b="1" dirty="0">
                <a:solidFill>
                  <a:srgbClr val="1E2761"/>
                </a:solidFill>
                <a:latin typeface="Pretendard" pitchFamily="34" charset="0"/>
                <a:ea typeface="Pretendard" pitchFamily="34" charset="-122"/>
                <a:cs typeface="Pretendard" pitchFamily="34" charset="-120"/>
              </a:rPr>
              <a:t>, 약물사용은 미확인</a:t>
            </a:r>
            <a:endParaRPr lang="en-US" sz="2700" dirty="0"/>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46760" y="1353312"/>
            <a:ext cx="10698480" cy="438912"/>
          </a:xfrm>
          <a:prstGeom prst="rect">
            <a:avLst/>
          </a:prstGeom>
          <a:solidFill>
            <a:srgbClr val="F2F4F8"/>
          </a:solidFill>
          <a:ln w="12700">
            <a:solidFill>
              <a:srgbClr val="F2F4F8"/>
            </a:solidFill>
            <a:prstDash val="solid"/>
          </a:ln>
        </p:spPr>
        <p:txBody>
          <a:bodyPr/>
          <a:lstStyle/>
          <a:p>
            <a:endParaRPr lang="ko-KR" altLang="en-US" dirty="0"/>
          </a:p>
        </p:txBody>
      </p:sp>
      <p:sp>
        <p:nvSpPr>
          <p:cNvPr id="7" name="Text 5"/>
          <p:cNvSpPr/>
          <p:nvPr/>
        </p:nvSpPr>
        <p:spPr>
          <a:xfrm>
            <a:off x="987552" y="1353312"/>
            <a:ext cx="10186416" cy="438912"/>
          </a:xfrm>
          <a:prstGeom prst="rect">
            <a:avLst/>
          </a:prstGeom>
          <a:noFill/>
          <a:ln>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효과는 ‘법원 감독 중 </a:t>
            </a:r>
            <a:r>
              <a:rPr lang="ko-KR" altLang="en-US" sz="1250" b="1" dirty="0">
                <a:solidFill>
                  <a:srgbClr val="1E2761"/>
                </a:solidFill>
                <a:latin typeface="Pretendard" pitchFamily="34" charset="0"/>
                <a:ea typeface="Pretendard" pitchFamily="34" charset="-122"/>
                <a:cs typeface="Pretendard" pitchFamily="34" charset="-120"/>
              </a:rPr>
              <a:t>일반</a:t>
            </a:r>
            <a:r>
              <a:rPr lang="en-US" sz="1250" b="1" dirty="0" err="1">
                <a:solidFill>
                  <a:srgbClr val="1E2761"/>
                </a:solidFill>
                <a:latin typeface="Pretendard" pitchFamily="34" charset="0"/>
                <a:ea typeface="Pretendard" pitchFamily="34" charset="-122"/>
                <a:cs typeface="Pretendard" pitchFamily="34" charset="-120"/>
              </a:rPr>
              <a:t>재범</a:t>
            </a:r>
            <a:r>
              <a:rPr lang="en-US" sz="1250" b="1" dirty="0">
                <a:solidFill>
                  <a:srgbClr val="1E2761"/>
                </a:solidFill>
                <a:latin typeface="Pretendard" pitchFamily="34" charset="0"/>
                <a:ea typeface="Pretendard" pitchFamily="34" charset="-122"/>
                <a:cs typeface="Pretendard" pitchFamily="34" charset="-120"/>
              </a:rPr>
              <a:t>’, ‘프로그램 종료 뒤 </a:t>
            </a:r>
            <a:r>
              <a:rPr lang="ko-KR" altLang="en-US" sz="1250" b="1" dirty="0">
                <a:solidFill>
                  <a:srgbClr val="1E2761"/>
                </a:solidFill>
                <a:latin typeface="Pretendard" pitchFamily="34" charset="0"/>
                <a:ea typeface="Pretendard" pitchFamily="34" charset="-122"/>
                <a:cs typeface="Pretendard" pitchFamily="34" charset="-120"/>
              </a:rPr>
              <a:t>일반</a:t>
            </a:r>
            <a:r>
              <a:rPr lang="en-US" sz="1250" b="1" dirty="0" err="1">
                <a:solidFill>
                  <a:srgbClr val="1E2761"/>
                </a:solidFill>
                <a:latin typeface="Pretendard" pitchFamily="34" charset="0"/>
                <a:ea typeface="Pretendard" pitchFamily="34" charset="-122"/>
                <a:cs typeface="Pretendard" pitchFamily="34" charset="-120"/>
              </a:rPr>
              <a:t>재범</a:t>
            </a:r>
            <a:r>
              <a:rPr lang="en-US" sz="1250" b="1" dirty="0">
                <a:solidFill>
                  <a:srgbClr val="1E2761"/>
                </a:solidFill>
                <a:latin typeface="Pretendard" pitchFamily="34" charset="0"/>
                <a:ea typeface="Pretendard" pitchFamily="34" charset="-122"/>
                <a:cs typeface="Pretendard" pitchFamily="34" charset="-120"/>
              </a:rPr>
              <a:t>’, ‘약물사용’에서 서로 다르게 나타났다</a:t>
            </a:r>
            <a:endParaRPr lang="en-US" sz="1250" dirty="0"/>
          </a:p>
        </p:txBody>
      </p:sp>
      <p:sp>
        <p:nvSpPr>
          <p:cNvPr id="8" name="Shape 6"/>
          <p:cNvSpPr/>
          <p:nvPr/>
        </p:nvSpPr>
        <p:spPr>
          <a:xfrm>
            <a:off x="731520" y="2296449"/>
            <a:ext cx="3322320" cy="2157984"/>
          </a:xfrm>
          <a:prstGeom prst="rect">
            <a:avLst/>
          </a:prstGeom>
          <a:solidFill>
            <a:srgbClr val="FFFFFF"/>
          </a:solidFill>
          <a:ln w="12700">
            <a:solidFill>
              <a:srgbClr val="DCE0E8"/>
            </a:solidFill>
            <a:prstDash val="solid"/>
          </a:ln>
        </p:spPr>
        <p:txBody>
          <a:bodyPr/>
          <a:lstStyle/>
          <a:p>
            <a:endParaRPr lang="ko-KR" altLang="en-US"/>
          </a:p>
        </p:txBody>
      </p:sp>
      <p:sp>
        <p:nvSpPr>
          <p:cNvPr id="9" name="Text 7"/>
          <p:cNvSpPr/>
          <p:nvPr/>
        </p:nvSpPr>
        <p:spPr>
          <a:xfrm>
            <a:off x="950976" y="2387889"/>
            <a:ext cx="2883408" cy="274320"/>
          </a:xfrm>
          <a:prstGeom prst="rect">
            <a:avLst/>
          </a:prstGeom>
          <a:noFill/>
          <a:ln/>
        </p:spPr>
        <p:txBody>
          <a:bodyPr wrap="square" lIns="0" tIns="0" rIns="0" bIns="0" rtlCol="0" anchor="ctr"/>
          <a:lstStyle/>
          <a:p>
            <a:pPr marL="0" indent="0">
              <a:buNone/>
            </a:pPr>
            <a:r>
              <a:rPr lang="en-US" sz="1200" b="1" dirty="0">
                <a:solidFill>
                  <a:srgbClr val="1E2761"/>
                </a:solidFill>
                <a:latin typeface="Pretendard" pitchFamily="34" charset="0"/>
                <a:ea typeface="Pretendard" pitchFamily="34" charset="-122"/>
                <a:cs typeface="Pretendard" pitchFamily="34" charset="-120"/>
              </a:rPr>
              <a:t>① 법원 감독 중 </a:t>
            </a:r>
            <a:r>
              <a:rPr lang="en-US" sz="1200" b="1" dirty="0" err="1">
                <a:solidFill>
                  <a:srgbClr val="1E2761"/>
                </a:solidFill>
                <a:latin typeface="Pretendard" pitchFamily="34" charset="0"/>
                <a:ea typeface="Pretendard" pitchFamily="34" charset="-122"/>
                <a:cs typeface="Pretendard" pitchFamily="34" charset="-120"/>
              </a:rPr>
              <a:t>일반재범</a:t>
            </a:r>
            <a:endParaRPr lang="en-US" sz="1200" dirty="0"/>
          </a:p>
        </p:txBody>
      </p:sp>
      <p:sp>
        <p:nvSpPr>
          <p:cNvPr id="10" name="Text 8"/>
          <p:cNvSpPr/>
          <p:nvPr/>
        </p:nvSpPr>
        <p:spPr>
          <a:xfrm>
            <a:off x="950976" y="2698785"/>
            <a:ext cx="2883408" cy="475488"/>
          </a:xfrm>
          <a:prstGeom prst="rect">
            <a:avLst/>
          </a:prstGeom>
          <a:noFill/>
          <a:ln/>
        </p:spPr>
        <p:txBody>
          <a:bodyPr wrap="square" lIns="0" tIns="0" rIns="0" bIns="0" rtlCol="0" anchor="ctr"/>
          <a:lstStyle/>
          <a:p>
            <a:pPr marL="0" indent="0">
              <a:lnSpc>
                <a:spcPts val="2000"/>
              </a:lnSpc>
              <a:buNone/>
            </a:pPr>
            <a:r>
              <a:rPr lang="en-US" sz="1400" b="1" dirty="0">
                <a:solidFill>
                  <a:srgbClr val="1E2761"/>
                </a:solidFill>
                <a:latin typeface="Pretendard" pitchFamily="34" charset="0"/>
                <a:ea typeface="Pretendard" pitchFamily="34" charset="-122"/>
                <a:cs typeface="Pretendard" pitchFamily="34" charset="-120"/>
              </a:rPr>
              <a:t>JDTC에서 소폭 감소</a:t>
            </a:r>
            <a:endParaRPr lang="en-US" sz="1400" dirty="0"/>
          </a:p>
        </p:txBody>
      </p:sp>
      <p:sp>
        <p:nvSpPr>
          <p:cNvPr id="11" name="Shape 9"/>
          <p:cNvSpPr/>
          <p:nvPr/>
        </p:nvSpPr>
        <p:spPr>
          <a:xfrm>
            <a:off x="950976" y="3229137"/>
            <a:ext cx="2883408" cy="0"/>
          </a:xfrm>
          <a:prstGeom prst="line">
            <a:avLst/>
          </a:prstGeom>
          <a:noFill/>
          <a:ln w="12700">
            <a:solidFill>
              <a:srgbClr val="DCE0E8"/>
            </a:solidFill>
            <a:prstDash val="solid"/>
          </a:ln>
        </p:spPr>
        <p:txBody>
          <a:bodyPr/>
          <a:lstStyle/>
          <a:p>
            <a:endParaRPr lang="ko-KR" altLang="en-US"/>
          </a:p>
        </p:txBody>
      </p:sp>
      <p:sp>
        <p:nvSpPr>
          <p:cNvPr id="12" name="Text 10"/>
          <p:cNvSpPr/>
          <p:nvPr/>
        </p:nvSpPr>
        <p:spPr>
          <a:xfrm>
            <a:off x="950976" y="3320577"/>
            <a:ext cx="2883408" cy="256032"/>
          </a:xfrm>
          <a:prstGeom prst="rect">
            <a:avLst/>
          </a:prstGeom>
          <a:noFill/>
          <a:ln/>
        </p:spPr>
        <p:txBody>
          <a:bodyPr wrap="square" lIns="0" tIns="0" rIns="0" bIns="0" rtlCol="0" anchor="ctr"/>
          <a:lstStyle/>
          <a:p>
            <a:pPr marL="0" indent="0">
              <a:buNone/>
            </a:pPr>
            <a:r>
              <a:rPr lang="en-US" sz="1050" dirty="0">
                <a:solidFill>
                  <a:srgbClr val="6E7686"/>
                </a:solidFill>
                <a:latin typeface="Pretendard" pitchFamily="34" charset="0"/>
                <a:ea typeface="Pretendard" pitchFamily="34" charset="-122"/>
                <a:cs typeface="Pretendard" pitchFamily="34" charset="-120"/>
              </a:rPr>
              <a:t>14개 연구 · 46개 효과크기</a:t>
            </a:r>
            <a:endParaRPr lang="en-US" sz="1050" dirty="0"/>
          </a:p>
        </p:txBody>
      </p:sp>
      <p:sp>
        <p:nvSpPr>
          <p:cNvPr id="13" name="Text 11"/>
          <p:cNvSpPr/>
          <p:nvPr/>
        </p:nvSpPr>
        <p:spPr>
          <a:xfrm>
            <a:off x="950976" y="3594897"/>
            <a:ext cx="2883408" cy="256032"/>
          </a:xfrm>
          <a:prstGeom prst="rect">
            <a:avLst/>
          </a:prstGeom>
          <a:noFill/>
          <a:ln/>
        </p:spPr>
        <p:txBody>
          <a:bodyPr wrap="square" lIns="0" tIns="0" rIns="0" bIns="0" rtlCol="0" anchor="ctr"/>
          <a:lstStyle/>
          <a:p>
            <a:pPr marL="0" indent="0">
              <a:buNone/>
            </a:pPr>
            <a:r>
              <a:rPr lang="en-US" sz="1050" dirty="0">
                <a:solidFill>
                  <a:srgbClr val="6E7686"/>
                </a:solidFill>
                <a:latin typeface="Pretendard" pitchFamily="34" charset="0"/>
                <a:ea typeface="Pretendard" pitchFamily="34" charset="-122"/>
                <a:cs typeface="Pretendard" pitchFamily="34" charset="-120"/>
              </a:rPr>
              <a:t>재범하지 않을 오즈 1.38배</a:t>
            </a:r>
            <a:endParaRPr lang="en-US" sz="1050" dirty="0"/>
          </a:p>
        </p:txBody>
      </p:sp>
      <p:sp>
        <p:nvSpPr>
          <p:cNvPr id="14" name="Text 12"/>
          <p:cNvSpPr/>
          <p:nvPr/>
        </p:nvSpPr>
        <p:spPr>
          <a:xfrm>
            <a:off x="950976" y="3924081"/>
            <a:ext cx="2883408" cy="457200"/>
          </a:xfrm>
          <a:prstGeom prst="rect">
            <a:avLst/>
          </a:prstGeom>
          <a:noFill/>
          <a:ln/>
        </p:spPr>
        <p:txBody>
          <a:bodyPr wrap="square" lIns="0" tIns="0" rIns="0" bIns="0" rtlCol="0" anchor="t"/>
          <a:lstStyle/>
          <a:p>
            <a:pPr marL="0" indent="0">
              <a:lnSpc>
                <a:spcPts val="1600"/>
              </a:lnSpc>
              <a:buNone/>
            </a:pPr>
            <a:r>
              <a:rPr lang="en-US" sz="1100" b="1" dirty="0">
                <a:solidFill>
                  <a:srgbClr val="A8871C"/>
                </a:solidFill>
                <a:latin typeface="Pretendard" pitchFamily="34" charset="0"/>
                <a:ea typeface="Pretendard" pitchFamily="34" charset="-122"/>
                <a:cs typeface="Pretendard" pitchFamily="34" charset="-120"/>
              </a:rPr>
              <a:t>절대 차이로 환산하면 약 1%p 수준의 작은 효과</a:t>
            </a:r>
            <a:endParaRPr lang="en-US" sz="1100" dirty="0"/>
          </a:p>
        </p:txBody>
      </p:sp>
      <p:sp>
        <p:nvSpPr>
          <p:cNvPr id="15" name="Shape 13"/>
          <p:cNvSpPr/>
          <p:nvPr/>
        </p:nvSpPr>
        <p:spPr>
          <a:xfrm>
            <a:off x="4419600" y="2296449"/>
            <a:ext cx="3322320" cy="2157984"/>
          </a:xfrm>
          <a:prstGeom prst="rect">
            <a:avLst/>
          </a:prstGeom>
          <a:solidFill>
            <a:srgbClr val="F2F4F8"/>
          </a:solidFill>
          <a:ln w="12700">
            <a:solidFill>
              <a:srgbClr val="F2F4F8"/>
            </a:solidFill>
            <a:prstDash val="solid"/>
          </a:ln>
        </p:spPr>
        <p:txBody>
          <a:bodyPr/>
          <a:lstStyle/>
          <a:p>
            <a:endParaRPr lang="ko-KR" altLang="en-US"/>
          </a:p>
        </p:txBody>
      </p:sp>
      <p:sp>
        <p:nvSpPr>
          <p:cNvPr id="16" name="Text 14"/>
          <p:cNvSpPr/>
          <p:nvPr/>
        </p:nvSpPr>
        <p:spPr>
          <a:xfrm>
            <a:off x="4639056" y="2387889"/>
            <a:ext cx="2883408" cy="274320"/>
          </a:xfrm>
          <a:prstGeom prst="rect">
            <a:avLst/>
          </a:prstGeom>
          <a:noFill/>
          <a:ln/>
        </p:spPr>
        <p:txBody>
          <a:bodyPr wrap="square" lIns="0" tIns="0" rIns="0" bIns="0" rtlCol="0" anchor="ctr"/>
          <a:lstStyle/>
          <a:p>
            <a:pPr marL="0" indent="0">
              <a:buNone/>
            </a:pPr>
            <a:r>
              <a:rPr lang="en-US" sz="1200" b="1" dirty="0">
                <a:solidFill>
                  <a:srgbClr val="1E2761"/>
                </a:solidFill>
                <a:latin typeface="Pretendard" pitchFamily="34" charset="0"/>
                <a:ea typeface="Pretendard" pitchFamily="34" charset="-122"/>
                <a:cs typeface="Pretendard" pitchFamily="34" charset="-120"/>
              </a:rPr>
              <a:t>② 프로그램 종료 뒤 일반재범</a:t>
            </a:r>
            <a:endParaRPr lang="en-US" sz="1200" dirty="0"/>
          </a:p>
        </p:txBody>
      </p:sp>
      <p:sp>
        <p:nvSpPr>
          <p:cNvPr id="17" name="Text 15"/>
          <p:cNvSpPr/>
          <p:nvPr/>
        </p:nvSpPr>
        <p:spPr>
          <a:xfrm>
            <a:off x="4639056" y="2698785"/>
            <a:ext cx="2883408" cy="475488"/>
          </a:xfrm>
          <a:prstGeom prst="rect">
            <a:avLst/>
          </a:prstGeom>
          <a:noFill/>
          <a:ln/>
        </p:spPr>
        <p:txBody>
          <a:bodyPr wrap="square" lIns="0" tIns="0" rIns="0" bIns="0" rtlCol="0" anchor="ctr"/>
          <a:lstStyle/>
          <a:p>
            <a:pPr marL="0" indent="0">
              <a:lnSpc>
                <a:spcPts val="2000"/>
              </a:lnSpc>
              <a:buNone/>
            </a:pPr>
            <a:r>
              <a:rPr lang="en-US" sz="1400" b="1" dirty="0">
                <a:solidFill>
                  <a:srgbClr val="1E2761"/>
                </a:solidFill>
                <a:latin typeface="Pretendard" pitchFamily="34" charset="0"/>
                <a:ea typeface="Pretendard" pitchFamily="34" charset="-122"/>
                <a:cs typeface="Pretendard" pitchFamily="34" charset="-120"/>
              </a:rPr>
              <a:t>JDTC의 우월성 확인되지 않음</a:t>
            </a:r>
            <a:endParaRPr lang="en-US" sz="1400" dirty="0"/>
          </a:p>
        </p:txBody>
      </p:sp>
      <p:sp>
        <p:nvSpPr>
          <p:cNvPr id="18" name="Shape 16"/>
          <p:cNvSpPr/>
          <p:nvPr/>
        </p:nvSpPr>
        <p:spPr>
          <a:xfrm>
            <a:off x="4639056" y="3229137"/>
            <a:ext cx="2883408" cy="0"/>
          </a:xfrm>
          <a:prstGeom prst="line">
            <a:avLst/>
          </a:prstGeom>
          <a:noFill/>
          <a:ln w="12700">
            <a:solidFill>
              <a:srgbClr val="DCE0E8"/>
            </a:solidFill>
            <a:prstDash val="solid"/>
          </a:ln>
        </p:spPr>
        <p:txBody>
          <a:bodyPr/>
          <a:lstStyle/>
          <a:p>
            <a:endParaRPr lang="ko-KR" altLang="en-US"/>
          </a:p>
        </p:txBody>
      </p:sp>
      <p:sp>
        <p:nvSpPr>
          <p:cNvPr id="19" name="Text 17"/>
          <p:cNvSpPr/>
          <p:nvPr/>
        </p:nvSpPr>
        <p:spPr>
          <a:xfrm>
            <a:off x="4639056" y="3320577"/>
            <a:ext cx="2883408" cy="256032"/>
          </a:xfrm>
          <a:prstGeom prst="rect">
            <a:avLst/>
          </a:prstGeom>
          <a:noFill/>
          <a:ln/>
        </p:spPr>
        <p:txBody>
          <a:bodyPr wrap="square" lIns="0" tIns="0" rIns="0" bIns="0" rtlCol="0" anchor="ctr"/>
          <a:lstStyle/>
          <a:p>
            <a:pPr marL="0" indent="0">
              <a:buNone/>
            </a:pPr>
            <a:r>
              <a:rPr lang="en-US" sz="1050" dirty="0">
                <a:solidFill>
                  <a:srgbClr val="6E7686"/>
                </a:solidFill>
                <a:latin typeface="Pretendard" pitchFamily="34" charset="0"/>
                <a:ea typeface="Pretendard" pitchFamily="34" charset="-122"/>
                <a:cs typeface="Pretendard" pitchFamily="34" charset="-120"/>
              </a:rPr>
              <a:t>50개 표본 · 254개 효과크기</a:t>
            </a:r>
            <a:endParaRPr lang="en-US" sz="1050" dirty="0"/>
          </a:p>
        </p:txBody>
      </p:sp>
      <p:sp>
        <p:nvSpPr>
          <p:cNvPr id="20" name="Text 18"/>
          <p:cNvSpPr/>
          <p:nvPr/>
        </p:nvSpPr>
        <p:spPr>
          <a:xfrm>
            <a:off x="4639056" y="3594897"/>
            <a:ext cx="2883408" cy="256032"/>
          </a:xfrm>
          <a:prstGeom prst="rect">
            <a:avLst/>
          </a:prstGeom>
          <a:noFill/>
          <a:ln/>
        </p:spPr>
        <p:txBody>
          <a:bodyPr wrap="square" lIns="0" tIns="0" rIns="0" bIns="0" rtlCol="0" anchor="ctr"/>
          <a:lstStyle/>
          <a:p>
            <a:pPr marL="0" indent="0">
              <a:buNone/>
            </a:pPr>
            <a:r>
              <a:rPr lang="en-US" sz="1050" dirty="0">
                <a:solidFill>
                  <a:srgbClr val="6E7686"/>
                </a:solidFill>
                <a:latin typeface="Pretendard" pitchFamily="34" charset="0"/>
                <a:ea typeface="Pretendard" pitchFamily="34" charset="-122"/>
                <a:cs typeface="Pretendard" pitchFamily="34" charset="-120"/>
              </a:rPr>
              <a:t>평균효과가 통계적으로 유의하지 않음</a:t>
            </a:r>
            <a:endParaRPr lang="en-US" sz="1050" dirty="0"/>
          </a:p>
        </p:txBody>
      </p:sp>
      <p:sp>
        <p:nvSpPr>
          <p:cNvPr id="21" name="Text 19"/>
          <p:cNvSpPr/>
          <p:nvPr/>
        </p:nvSpPr>
        <p:spPr>
          <a:xfrm>
            <a:off x="4639056" y="3924081"/>
            <a:ext cx="2883408" cy="457200"/>
          </a:xfrm>
          <a:prstGeom prst="rect">
            <a:avLst/>
          </a:prstGeom>
          <a:noFill/>
          <a:ln/>
        </p:spPr>
        <p:txBody>
          <a:bodyPr wrap="square" lIns="0" tIns="0" rIns="0" bIns="0" rtlCol="0" anchor="t"/>
          <a:lstStyle/>
          <a:p>
            <a:pPr marL="0" indent="0">
              <a:lnSpc>
                <a:spcPts val="1600"/>
              </a:lnSpc>
              <a:buNone/>
            </a:pPr>
            <a:r>
              <a:rPr lang="en-US" sz="1100" b="1" dirty="0">
                <a:solidFill>
                  <a:srgbClr val="A8871C"/>
                </a:solidFill>
                <a:latin typeface="Pretendard" pitchFamily="34" charset="0"/>
                <a:ea typeface="Pretendard" pitchFamily="34" charset="-122"/>
                <a:cs typeface="Pretendard" pitchFamily="34" charset="-120"/>
              </a:rPr>
              <a:t>감독 중의 작은 차이가 종료 뒤까지 이어진다는 근거는 없었다</a:t>
            </a:r>
            <a:endParaRPr lang="en-US" sz="1100" dirty="0"/>
          </a:p>
        </p:txBody>
      </p:sp>
      <p:sp>
        <p:nvSpPr>
          <p:cNvPr id="22" name="Shape 20"/>
          <p:cNvSpPr/>
          <p:nvPr/>
        </p:nvSpPr>
        <p:spPr>
          <a:xfrm>
            <a:off x="8107680" y="2296449"/>
            <a:ext cx="3322320" cy="2157984"/>
          </a:xfrm>
          <a:prstGeom prst="rect">
            <a:avLst/>
          </a:prstGeom>
          <a:solidFill>
            <a:srgbClr val="F2F4F8"/>
          </a:solidFill>
          <a:ln w="12700">
            <a:solidFill>
              <a:srgbClr val="F2F4F8"/>
            </a:solidFill>
            <a:prstDash val="solid"/>
          </a:ln>
        </p:spPr>
        <p:txBody>
          <a:bodyPr/>
          <a:lstStyle/>
          <a:p>
            <a:endParaRPr lang="ko-KR" altLang="en-US"/>
          </a:p>
        </p:txBody>
      </p:sp>
      <p:sp>
        <p:nvSpPr>
          <p:cNvPr id="23" name="Text 21"/>
          <p:cNvSpPr/>
          <p:nvPr/>
        </p:nvSpPr>
        <p:spPr>
          <a:xfrm>
            <a:off x="8327136" y="2387889"/>
            <a:ext cx="2883408" cy="274320"/>
          </a:xfrm>
          <a:prstGeom prst="rect">
            <a:avLst/>
          </a:prstGeom>
          <a:noFill/>
          <a:ln/>
        </p:spPr>
        <p:txBody>
          <a:bodyPr wrap="square" lIns="0" tIns="0" rIns="0" bIns="0" rtlCol="0" anchor="ctr"/>
          <a:lstStyle/>
          <a:p>
            <a:pPr marL="0" indent="0">
              <a:buNone/>
            </a:pPr>
            <a:r>
              <a:rPr lang="en-US" sz="1200" b="1" dirty="0">
                <a:solidFill>
                  <a:srgbClr val="1E2761"/>
                </a:solidFill>
                <a:latin typeface="Pretendard" pitchFamily="34" charset="0"/>
                <a:ea typeface="Pretendard" pitchFamily="34" charset="-122"/>
                <a:cs typeface="Pretendard" pitchFamily="34" charset="-120"/>
              </a:rPr>
              <a:t>③ </a:t>
            </a:r>
            <a:r>
              <a:rPr lang="ko-KR" altLang="en-US" sz="1200" b="1" dirty="0">
                <a:solidFill>
                  <a:srgbClr val="1E2761"/>
                </a:solidFill>
                <a:latin typeface="Pretendard" pitchFamily="34" charset="0"/>
                <a:ea typeface="Pretendard" pitchFamily="34" charset="-122"/>
                <a:cs typeface="Pretendard" pitchFamily="34" charset="-120"/>
              </a:rPr>
              <a:t>법원 감독 중 </a:t>
            </a:r>
            <a:r>
              <a:rPr lang="en-US" sz="1200" b="1" dirty="0" err="1">
                <a:solidFill>
                  <a:srgbClr val="1E2761"/>
                </a:solidFill>
                <a:latin typeface="Pretendard" pitchFamily="34" charset="0"/>
                <a:ea typeface="Pretendard" pitchFamily="34" charset="-122"/>
                <a:cs typeface="Pretendard" pitchFamily="34" charset="-120"/>
              </a:rPr>
              <a:t>약물사용</a:t>
            </a:r>
            <a:endParaRPr lang="en-US" sz="1200" dirty="0"/>
          </a:p>
        </p:txBody>
      </p:sp>
      <p:sp>
        <p:nvSpPr>
          <p:cNvPr id="24" name="Text 22"/>
          <p:cNvSpPr/>
          <p:nvPr/>
        </p:nvSpPr>
        <p:spPr>
          <a:xfrm>
            <a:off x="8327136" y="2698785"/>
            <a:ext cx="2883408" cy="475488"/>
          </a:xfrm>
          <a:prstGeom prst="rect">
            <a:avLst/>
          </a:prstGeom>
          <a:noFill/>
          <a:ln/>
        </p:spPr>
        <p:txBody>
          <a:bodyPr wrap="square" lIns="0" tIns="0" rIns="0" bIns="0" rtlCol="0" anchor="ctr"/>
          <a:lstStyle/>
          <a:p>
            <a:pPr marL="0" indent="0">
              <a:lnSpc>
                <a:spcPts val="2000"/>
              </a:lnSpc>
              <a:buNone/>
            </a:pPr>
            <a:r>
              <a:rPr lang="en-US" sz="1400" b="1" dirty="0">
                <a:solidFill>
                  <a:srgbClr val="1E2761"/>
                </a:solidFill>
                <a:latin typeface="Pretendard" pitchFamily="34" charset="0"/>
                <a:ea typeface="Pretendard" pitchFamily="34" charset="-122"/>
                <a:cs typeface="Pretendard" pitchFamily="34" charset="-120"/>
              </a:rPr>
              <a:t>JDTC의 감소효과 확인되지 않음</a:t>
            </a:r>
            <a:endParaRPr lang="en-US" sz="1400" dirty="0"/>
          </a:p>
        </p:txBody>
      </p:sp>
      <p:sp>
        <p:nvSpPr>
          <p:cNvPr id="25" name="Shape 23"/>
          <p:cNvSpPr/>
          <p:nvPr/>
        </p:nvSpPr>
        <p:spPr>
          <a:xfrm>
            <a:off x="8327136" y="3229137"/>
            <a:ext cx="2883408" cy="0"/>
          </a:xfrm>
          <a:prstGeom prst="line">
            <a:avLst/>
          </a:prstGeom>
          <a:noFill/>
          <a:ln w="12700">
            <a:solidFill>
              <a:srgbClr val="DCE0E8"/>
            </a:solidFill>
            <a:prstDash val="solid"/>
          </a:ln>
        </p:spPr>
        <p:txBody>
          <a:bodyPr/>
          <a:lstStyle/>
          <a:p>
            <a:endParaRPr lang="ko-KR" altLang="en-US"/>
          </a:p>
        </p:txBody>
      </p:sp>
      <p:sp>
        <p:nvSpPr>
          <p:cNvPr id="26" name="Text 24"/>
          <p:cNvSpPr/>
          <p:nvPr/>
        </p:nvSpPr>
        <p:spPr>
          <a:xfrm>
            <a:off x="8327136" y="3320577"/>
            <a:ext cx="2883408" cy="256032"/>
          </a:xfrm>
          <a:prstGeom prst="rect">
            <a:avLst/>
          </a:prstGeom>
          <a:noFill/>
          <a:ln/>
        </p:spPr>
        <p:txBody>
          <a:bodyPr wrap="square" lIns="0" tIns="0" rIns="0" bIns="0" rtlCol="0" anchor="ctr"/>
          <a:lstStyle/>
          <a:p>
            <a:pPr marL="0" indent="0">
              <a:buNone/>
            </a:pPr>
            <a:r>
              <a:rPr lang="en-US" sz="1050" dirty="0">
                <a:solidFill>
                  <a:srgbClr val="6E7686"/>
                </a:solidFill>
                <a:latin typeface="Pretendard" pitchFamily="34" charset="0"/>
                <a:ea typeface="Pretendard" pitchFamily="34" charset="-122"/>
                <a:cs typeface="Pretendard" pitchFamily="34" charset="-120"/>
              </a:rPr>
              <a:t>감독 중 약물사용 9개 연구 · 34개 효과크기</a:t>
            </a:r>
            <a:endParaRPr lang="en-US" sz="1050" dirty="0"/>
          </a:p>
        </p:txBody>
      </p:sp>
      <p:sp>
        <p:nvSpPr>
          <p:cNvPr id="27" name="Text 25"/>
          <p:cNvSpPr/>
          <p:nvPr/>
        </p:nvSpPr>
        <p:spPr>
          <a:xfrm>
            <a:off x="8327136" y="3594897"/>
            <a:ext cx="2883408" cy="256032"/>
          </a:xfrm>
          <a:prstGeom prst="rect">
            <a:avLst/>
          </a:prstGeom>
          <a:noFill/>
          <a:ln/>
        </p:spPr>
        <p:txBody>
          <a:bodyPr wrap="square" lIns="0" tIns="0" rIns="0" bIns="0" rtlCol="0" anchor="ctr"/>
          <a:lstStyle/>
          <a:p>
            <a:pPr marL="0" indent="0">
              <a:buNone/>
            </a:pPr>
            <a:r>
              <a:rPr lang="en-US" sz="1050" dirty="0">
                <a:solidFill>
                  <a:srgbClr val="6E7686"/>
                </a:solidFill>
                <a:latin typeface="Pretendard" pitchFamily="34" charset="0"/>
                <a:ea typeface="Pretendard" pitchFamily="34" charset="-122"/>
                <a:cs typeface="Pretendard" pitchFamily="34" charset="-120"/>
              </a:rPr>
              <a:t>집단 간 유의한 차이 없음</a:t>
            </a:r>
            <a:endParaRPr lang="en-US" sz="1050" dirty="0"/>
          </a:p>
        </p:txBody>
      </p:sp>
      <p:sp>
        <p:nvSpPr>
          <p:cNvPr id="28" name="Text 26"/>
          <p:cNvSpPr/>
          <p:nvPr/>
        </p:nvSpPr>
        <p:spPr>
          <a:xfrm>
            <a:off x="8327136" y="3924081"/>
            <a:ext cx="2883408" cy="457200"/>
          </a:xfrm>
          <a:prstGeom prst="rect">
            <a:avLst/>
          </a:prstGeom>
          <a:noFill/>
          <a:ln/>
        </p:spPr>
        <p:txBody>
          <a:bodyPr wrap="square" lIns="0" tIns="0" rIns="0" bIns="0" rtlCol="0" anchor="t"/>
          <a:lstStyle/>
          <a:p>
            <a:pPr marL="0" indent="0">
              <a:lnSpc>
                <a:spcPts val="1600"/>
              </a:lnSpc>
              <a:buNone/>
            </a:pPr>
            <a:r>
              <a:rPr lang="en-US" sz="1100" b="1" dirty="0">
                <a:solidFill>
                  <a:srgbClr val="A8871C"/>
                </a:solidFill>
                <a:latin typeface="Pretendard" pitchFamily="34" charset="0"/>
                <a:ea typeface="Pretendard" pitchFamily="34" charset="-122"/>
                <a:cs typeface="Pretendard" pitchFamily="34" charset="-120"/>
              </a:rPr>
              <a:t>종료 뒤 약물사용도 유의한 차이는 확인되지 않았으나 자료가 적어 해석에 주의가 필요하다</a:t>
            </a:r>
            <a:endParaRPr lang="en-US" sz="1100" dirty="0"/>
          </a:p>
        </p:txBody>
      </p:sp>
      <p:sp>
        <p:nvSpPr>
          <p:cNvPr id="33" name="Text 31"/>
          <p:cNvSpPr/>
          <p:nvPr/>
        </p:nvSpPr>
        <p:spPr>
          <a:xfrm>
            <a:off x="731520" y="5034424"/>
            <a:ext cx="10698480" cy="274320"/>
          </a:xfrm>
          <a:prstGeom prst="rect">
            <a:avLst/>
          </a:prstGeom>
          <a:noFill/>
          <a:ln/>
        </p:spPr>
        <p:txBody>
          <a:bodyPr wrap="square" lIns="0" tIns="0" rIns="0" bIns="0" rtlCol="0" anchor="ctr"/>
          <a:lstStyle/>
          <a:p>
            <a:pPr marL="0" indent="0" algn="ctr">
              <a:buNone/>
            </a:pPr>
            <a:r>
              <a:rPr lang="ko-KR" altLang="en-US" sz="1400" b="1" dirty="0">
                <a:solidFill>
                  <a:srgbClr val="1E2761"/>
                </a:solidFill>
                <a:latin typeface="Pretendard" pitchFamily="34" charset="0"/>
                <a:ea typeface="Pretendard" pitchFamily="34" charset="-122"/>
                <a:cs typeface="Pretendard" pitchFamily="34" charset="-120"/>
              </a:rPr>
              <a:t>메타분석 결과</a:t>
            </a:r>
            <a:r>
              <a:rPr lang="en-US" altLang="ko-KR" sz="1400" b="1" dirty="0">
                <a:solidFill>
                  <a:srgbClr val="1E2761"/>
                </a:solidFill>
                <a:latin typeface="Pretendard" pitchFamily="34" charset="0"/>
                <a:ea typeface="Pretendard" pitchFamily="34" charset="-122"/>
                <a:cs typeface="Pretendard" pitchFamily="34" charset="-120"/>
              </a:rPr>
              <a:t>,</a:t>
            </a:r>
            <a:r>
              <a:rPr lang="en-US" sz="1400" b="1" dirty="0">
                <a:solidFill>
                  <a:srgbClr val="1E2761"/>
                </a:solidFill>
                <a:latin typeface="Pretendard" pitchFamily="34" charset="0"/>
                <a:ea typeface="Pretendard" pitchFamily="34" charset="-122"/>
                <a:cs typeface="Pretendard" pitchFamily="34" charset="-120"/>
              </a:rPr>
              <a:t> </a:t>
            </a:r>
            <a:r>
              <a:rPr lang="en-US" sz="1400" b="1" dirty="0">
                <a:solidFill>
                  <a:srgbClr val="1E2761"/>
                </a:solidFill>
                <a:highlight>
                  <a:srgbClr val="FFFF00"/>
                </a:highlight>
                <a:latin typeface="Pretendard" pitchFamily="34" charset="0"/>
                <a:ea typeface="Pretendard" pitchFamily="34" charset="-122"/>
                <a:cs typeface="Pretendard" pitchFamily="34" charset="-120"/>
              </a:rPr>
              <a:t>감독 중 </a:t>
            </a:r>
            <a:r>
              <a:rPr lang="en-US" sz="1400" b="1" dirty="0" err="1">
                <a:solidFill>
                  <a:srgbClr val="1E2761"/>
                </a:solidFill>
                <a:highlight>
                  <a:srgbClr val="FFFF00"/>
                </a:highlight>
                <a:latin typeface="Pretendard" pitchFamily="34" charset="0"/>
                <a:ea typeface="Pretendard" pitchFamily="34" charset="-122"/>
                <a:cs typeface="Pretendard" pitchFamily="34" charset="-120"/>
              </a:rPr>
              <a:t>재범에</a:t>
            </a:r>
            <a:r>
              <a:rPr lang="en-US" sz="1400" b="1" dirty="0">
                <a:solidFill>
                  <a:srgbClr val="1E2761"/>
                </a:solidFill>
                <a:highlight>
                  <a:srgbClr val="FFFF00"/>
                </a:highlight>
                <a:latin typeface="Pretendard" pitchFamily="34" charset="0"/>
                <a:ea typeface="Pretendard" pitchFamily="34" charset="-122"/>
                <a:cs typeface="Pretendard" pitchFamily="34" charset="-120"/>
              </a:rPr>
              <a:t> 작은 차이가 있었지만, 약물사용 감소와 종료 뒤 재범 감소는 일관되게 확인되지 않았다</a:t>
            </a:r>
            <a:endParaRPr lang="en-US" sz="1400" dirty="0">
              <a:highlight>
                <a:srgbClr val="FFFF00"/>
              </a:highlight>
            </a:endParaRPr>
          </a:p>
        </p:txBody>
      </p:sp>
      <p:sp>
        <p:nvSpPr>
          <p:cNvPr id="34" name="Text 32"/>
          <p:cNvSpPr/>
          <p:nvPr/>
        </p:nvSpPr>
        <p:spPr>
          <a:xfrm>
            <a:off x="731520" y="5400185"/>
            <a:ext cx="10698480" cy="292608"/>
          </a:xfrm>
          <a:prstGeom prst="rect">
            <a:avLst/>
          </a:prstGeom>
          <a:noFill/>
          <a:ln/>
        </p:spPr>
        <p:txBody>
          <a:bodyPr wrap="square" lIns="0" tIns="0" rIns="0" bIns="0" rtlCol="0" anchor="ctr"/>
          <a:lstStyle/>
          <a:p>
            <a:pPr marL="0" indent="0" algn="ctr">
              <a:buNone/>
            </a:pPr>
            <a:r>
              <a:rPr lang="en-US" sz="1400" b="1" dirty="0">
                <a:solidFill>
                  <a:srgbClr val="A8871C"/>
                </a:solidFill>
                <a:latin typeface="Pretendard" pitchFamily="34" charset="0"/>
                <a:ea typeface="Pretendard" pitchFamily="34" charset="-122"/>
                <a:cs typeface="Pretendard" pitchFamily="34" charset="-120"/>
              </a:rPr>
              <a:t>평균 수료율 54.7%는 치료 · 감독의 효과뿐 아니라 실제 참여 · 완료가 정책 성과를 좌우한다는 </a:t>
            </a:r>
            <a:r>
              <a:rPr lang="en-US" sz="1400" b="1" dirty="0" err="1">
                <a:solidFill>
                  <a:srgbClr val="A8871C"/>
                </a:solidFill>
                <a:latin typeface="Pretendard" pitchFamily="34" charset="0"/>
                <a:ea typeface="Pretendard" pitchFamily="34" charset="-122"/>
                <a:cs typeface="Pretendard" pitchFamily="34" charset="-120"/>
              </a:rPr>
              <a:t>문제로</a:t>
            </a:r>
            <a:r>
              <a:rPr lang="en-US" sz="1400" b="1" dirty="0">
                <a:solidFill>
                  <a:srgbClr val="A8871C"/>
                </a:solidFill>
                <a:latin typeface="Pretendard" pitchFamily="34" charset="0"/>
                <a:ea typeface="Pretendard" pitchFamily="34" charset="-122"/>
                <a:cs typeface="Pretendard" pitchFamily="34" charset="-120"/>
              </a:rPr>
              <a:t> </a:t>
            </a:r>
            <a:r>
              <a:rPr lang="en-US" sz="1400" b="1" dirty="0" err="1">
                <a:solidFill>
                  <a:srgbClr val="A8871C"/>
                </a:solidFill>
                <a:latin typeface="Pretendard" pitchFamily="34" charset="0"/>
                <a:ea typeface="Pretendard" pitchFamily="34" charset="-122"/>
                <a:cs typeface="Pretendard" pitchFamily="34" charset="-120"/>
              </a:rPr>
              <a:t>이어</a:t>
            </a:r>
            <a:r>
              <a:rPr lang="ko-KR" altLang="en-US" sz="1400" b="1" dirty="0">
                <a:solidFill>
                  <a:srgbClr val="A8871C"/>
                </a:solidFill>
                <a:latin typeface="Pretendard" pitchFamily="34" charset="0"/>
                <a:ea typeface="Pretendard" pitchFamily="34" charset="-122"/>
                <a:cs typeface="Pretendard" pitchFamily="34" charset="-120"/>
              </a:rPr>
              <a:t>질 수 있</a:t>
            </a:r>
            <a:r>
              <a:rPr lang="en-US" sz="1400" b="1" dirty="0">
                <a:solidFill>
                  <a:srgbClr val="A8871C"/>
                </a:solidFill>
                <a:latin typeface="Pretendard" pitchFamily="34" charset="0"/>
                <a:ea typeface="Pretendard" pitchFamily="34" charset="-122"/>
                <a:cs typeface="Pretendard" pitchFamily="34" charset="-120"/>
              </a:rPr>
              <a:t>다</a:t>
            </a:r>
            <a:endParaRPr lang="en-US" sz="1400" dirty="0"/>
          </a:p>
        </p:txBody>
      </p:sp>
      <p:sp>
        <p:nvSpPr>
          <p:cNvPr id="35" name="Shape 33"/>
          <p:cNvSpPr/>
          <p:nvPr/>
        </p:nvSpPr>
        <p:spPr>
          <a:xfrm>
            <a:off x="731520" y="6153912"/>
            <a:ext cx="10698480" cy="0"/>
          </a:xfrm>
          <a:prstGeom prst="line">
            <a:avLst/>
          </a:prstGeom>
          <a:noFill/>
          <a:ln w="12700">
            <a:solidFill>
              <a:srgbClr val="DCE0E8"/>
            </a:solidFill>
            <a:prstDash val="solid"/>
          </a:ln>
        </p:spPr>
        <p:txBody>
          <a:bodyPr/>
          <a:lstStyle/>
          <a:p>
            <a:endParaRPr lang="ko-KR"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직사각형 36">
            <a:extLst>
              <a:ext uri="{FF2B5EF4-FFF2-40B4-BE49-F238E27FC236}">
                <a16:creationId xmlns:a16="http://schemas.microsoft.com/office/drawing/2014/main" id="{F687A2F6-943A-3299-481E-58CBCF6EEDD6}"/>
              </a:ext>
            </a:extLst>
          </p:cNvPr>
          <p:cNvSpPr/>
          <p:nvPr/>
        </p:nvSpPr>
        <p:spPr>
          <a:xfrm>
            <a:off x="4713078" y="2996038"/>
            <a:ext cx="2766713" cy="1879238"/>
          </a:xfrm>
          <a:prstGeom prst="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4368C6F4-5F91-42D5-CB80-159075870A52}"/>
              </a:ext>
            </a:extLst>
          </p:cNvPr>
          <p:cNvSpPr/>
          <p:nvPr/>
        </p:nvSpPr>
        <p:spPr>
          <a:xfrm>
            <a:off x="2514600" y="2996032"/>
            <a:ext cx="2198478" cy="1879238"/>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형사처벌과 치료·재활의 효과</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미국 JDTC 메타분석 — 연구 개요와 주요 한계</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부모 행동훈련과 단약 보상을 결합한 치료 — 청소년 대마사용 연구</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치료·재활의 효과를 논의하려면, 청소년과 보호자에게 제공한 구체적인 활동을 살펴볼 필요가 있다</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9" name="CL"/>
          <p:cNvSpPr/>
          <p:nvPr/>
        </p:nvSpPr>
        <p:spPr>
          <a:xfrm>
            <a:off x="731520" y="5235421"/>
            <a:ext cx="10725912" cy="624427"/>
          </a:xfrm>
          <a:prstGeom prst="rect">
            <a:avLst/>
          </a:prstGeom>
          <a:solidFill>
            <a:schemeClr val="accent5">
              <a:lumMod val="20000"/>
              <a:lumOff val="80000"/>
            </a:schemeClr>
          </a:solidFill>
          <a:ln/>
        </p:spPr>
        <p:txBody>
          <a:bodyPr wrap="square" lIns="0" tIns="0" rIns="0" bIns="0" rtlCol="0" anchor="ctr"/>
          <a:lstStyle/>
          <a:p>
            <a:pPr algn="ctr">
              <a:lnSpc>
                <a:spcPct val="118000"/>
              </a:lnSpc>
            </a:pPr>
            <a:r>
              <a:rPr lang="ko-KR" altLang="en-US" sz="1250" b="1" dirty="0">
                <a:solidFill>
                  <a:srgbClr val="002060"/>
                </a:solidFill>
                <a:latin typeface="Pretendard" pitchFamily="34" charset="0"/>
                <a:ea typeface="Pretendard" pitchFamily="34" charset="-122"/>
                <a:cs typeface="Pretendard" pitchFamily="34" charset="-120"/>
              </a:rPr>
              <a:t>같은 상담</a:t>
            </a:r>
            <a:r>
              <a:rPr lang="en-US" altLang="ko-KR" sz="1250" b="1" dirty="0">
                <a:solidFill>
                  <a:srgbClr val="002060"/>
                </a:solidFill>
                <a:latin typeface="Pretendard" pitchFamily="34" charset="0"/>
                <a:ea typeface="Pretendard" pitchFamily="34" charset="-122"/>
                <a:cs typeface="Pretendard" pitchFamily="34" charset="-120"/>
              </a:rPr>
              <a:t>·</a:t>
            </a:r>
            <a:r>
              <a:rPr lang="ko-KR" altLang="en-US" sz="1250" b="1" dirty="0">
                <a:solidFill>
                  <a:srgbClr val="002060"/>
                </a:solidFill>
                <a:latin typeface="Pretendard" pitchFamily="34" charset="0"/>
                <a:ea typeface="Pretendard" pitchFamily="34" charset="-122"/>
                <a:cs typeface="Pretendard" pitchFamily="34" charset="-120"/>
              </a:rPr>
              <a:t>약물검사를 제공하더라도</a:t>
            </a:r>
            <a:r>
              <a:rPr lang="en-US" altLang="ko-KR" sz="1250" b="1" dirty="0">
                <a:solidFill>
                  <a:srgbClr val="002060"/>
                </a:solidFill>
                <a:latin typeface="Pretendard" pitchFamily="34" charset="0"/>
                <a:ea typeface="Pretendard" pitchFamily="34" charset="-122"/>
                <a:cs typeface="Pretendard" pitchFamily="34" charset="-120"/>
              </a:rPr>
              <a:t>, </a:t>
            </a:r>
            <a:r>
              <a:rPr lang="ko-KR" altLang="en-US" sz="1250" b="1" dirty="0">
                <a:solidFill>
                  <a:srgbClr val="002060"/>
                </a:solidFill>
                <a:latin typeface="Pretendard" pitchFamily="34" charset="0"/>
                <a:ea typeface="Pretendard" pitchFamily="34" charset="-122"/>
                <a:cs typeface="Pretendard" pitchFamily="34" charset="-120"/>
              </a:rPr>
              <a:t>무엇을 보상하고 부모가 가정에서 어떻게 지원하도록 구체적으로 지시하는지에 따라 치료 결과가 달라질 수 있다</a:t>
            </a:r>
            <a:r>
              <a:rPr lang="en-US" altLang="ko-KR" sz="1250" b="1" dirty="0">
                <a:solidFill>
                  <a:srgbClr val="002060"/>
                </a:solidFill>
                <a:latin typeface="Pretendard" pitchFamily="34" charset="0"/>
                <a:ea typeface="Pretendard" pitchFamily="34" charset="-122"/>
                <a:cs typeface="Pretendard" pitchFamily="34" charset="-120"/>
              </a:rPr>
              <a:t>.</a:t>
            </a:r>
            <a:endParaRPr lang="ko-KR" altLang="en-US" sz="1250" b="1" dirty="0">
              <a:solidFill>
                <a:srgbClr val="002060"/>
              </a:solidFill>
              <a:latin typeface="Pretendard" pitchFamily="34" charset="0"/>
              <a:ea typeface="Pretendard" pitchFamily="34" charset="-122"/>
              <a:cs typeface="Pretendard" pitchFamily="34" charset="-120"/>
            </a:endParaRPr>
          </a:p>
        </p:txBody>
      </p:sp>
      <p:sp>
        <p:nvSpPr>
          <p:cNvPr id="12" name="OV"/>
          <p:cNvSpPr/>
          <p:nvPr/>
        </p:nvSpPr>
        <p:spPr>
          <a:xfrm>
            <a:off x="733044" y="2189988"/>
            <a:ext cx="10725912" cy="237744"/>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Stanger 외(2009) · 14~18세 청소년 69명 · 두 집단에 무작위 배정</a:t>
            </a:r>
          </a:p>
        </p:txBody>
      </p:sp>
      <p:sp>
        <p:nvSpPr>
          <p:cNvPr id="13" name="OS"/>
          <p:cNvSpPr/>
          <p:nvPr/>
        </p:nvSpPr>
        <p:spPr>
          <a:xfrm>
            <a:off x="731520" y="2427732"/>
            <a:ext cx="10725912" cy="237744"/>
          </a:xfrm>
          <a:prstGeom prst="rect">
            <a:avLst/>
          </a:prstGeom>
          <a:noFill/>
          <a:ln/>
        </p:spPr>
        <p:txBody>
          <a:bodyPr wrap="square" lIns="0" tIns="0" rIns="0" bIns="0" rtlCol="0" anchor="t"/>
          <a:lstStyle/>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두 집단 모두 동기강화·인지행동치료와 주 2회 약물검사를 받았다</a:t>
            </a:r>
          </a:p>
        </p:txBody>
      </p:sp>
      <p:sp>
        <p:nvSpPr>
          <p:cNvPr id="14" name="R0"/>
          <p:cNvSpPr/>
          <p:nvPr/>
        </p:nvSpPr>
        <p:spPr>
          <a:xfrm>
            <a:off x="731520" y="2752344"/>
            <a:ext cx="10725912" cy="0"/>
          </a:xfrm>
          <a:prstGeom prst="line">
            <a:avLst/>
          </a:prstGeom>
          <a:ln w="9525">
            <a:solidFill>
              <a:srgbClr val="DCE0E8"/>
            </a:solidFill>
          </a:ln>
        </p:spPr>
        <p:txBody>
          <a:bodyPr/>
          <a:lstStyle/>
          <a:p>
            <a:endParaRPr lang="ko-KR"/>
          </a:p>
        </p:txBody>
      </p:sp>
      <p:sp>
        <p:nvSpPr>
          <p:cNvPr id="17" name="HL17"/>
          <p:cNvSpPr/>
          <p:nvPr/>
        </p:nvSpPr>
        <p:spPr>
          <a:xfrm>
            <a:off x="3063891" y="3044627"/>
            <a:ext cx="1152144" cy="292608"/>
          </a:xfrm>
          <a:prstGeom prst="rect">
            <a:avLst/>
          </a:prstGeom>
          <a:noFill/>
          <a:ln/>
        </p:spPr>
        <p:txBody>
          <a:bodyPr wrap="square" lIns="0" tIns="0" rIns="0" bIns="0" rtlCol="0" anchor="ctr"/>
          <a:lstStyle/>
          <a:p>
            <a:pPr marL="0" indent="0">
              <a:lnSpc>
                <a:spcPct val="118000"/>
              </a:lnSpc>
              <a:buNone/>
            </a:pPr>
            <a:r>
              <a:rPr lang="ko-KR" altLang="en-US" sz="1200" b="1" dirty="0">
                <a:solidFill>
                  <a:srgbClr val="1E2761"/>
                </a:solidFill>
                <a:latin typeface="Pretendard" pitchFamily="34" charset="0"/>
                <a:ea typeface="Pretendard" pitchFamily="34" charset="-122"/>
                <a:cs typeface="Pretendard" pitchFamily="34" charset="-120"/>
              </a:rPr>
              <a:t>집단 </a:t>
            </a:r>
            <a:r>
              <a:rPr lang="en-US" altLang="ko-KR" sz="1200" b="1" dirty="0">
                <a:solidFill>
                  <a:srgbClr val="1E2761"/>
                </a:solidFill>
                <a:latin typeface="Pretendard" pitchFamily="34" charset="0"/>
                <a:ea typeface="Pretendard" pitchFamily="34" charset="-122"/>
                <a:cs typeface="Pretendard" pitchFamily="34" charset="-120"/>
              </a:rPr>
              <a:t>A(</a:t>
            </a:r>
            <a:r>
              <a:rPr lang="ko-KR" altLang="en-US" sz="1200" b="1" dirty="0">
                <a:solidFill>
                  <a:srgbClr val="1E2761"/>
                </a:solidFill>
                <a:latin typeface="Pretendard" pitchFamily="34" charset="0"/>
                <a:ea typeface="Pretendard" pitchFamily="34" charset="-122"/>
                <a:cs typeface="Pretendard" pitchFamily="34" charset="-120"/>
              </a:rPr>
              <a:t>비교 집단</a:t>
            </a:r>
            <a:r>
              <a:rPr lang="en-US" altLang="ko-KR" sz="1200" b="1" dirty="0">
                <a:solidFill>
                  <a:srgbClr val="1E2761"/>
                </a:solidFill>
                <a:latin typeface="Pretendard" pitchFamily="34" charset="0"/>
                <a:ea typeface="Pretendard" pitchFamily="34" charset="-122"/>
                <a:cs typeface="Pretendard" pitchFamily="34" charset="-120"/>
              </a:rPr>
              <a:t>)</a:t>
            </a:r>
            <a:endParaRPr lang="ko-KR" altLang="en-US" sz="1200" b="1" dirty="0">
              <a:solidFill>
                <a:srgbClr val="1E2761"/>
              </a:solidFill>
              <a:latin typeface="Pretendard" pitchFamily="34" charset="0"/>
              <a:ea typeface="Pretendard" pitchFamily="34" charset="-122"/>
              <a:cs typeface="Pretendard" pitchFamily="34" charset="-120"/>
            </a:endParaRPr>
          </a:p>
        </p:txBody>
      </p:sp>
      <p:sp>
        <p:nvSpPr>
          <p:cNvPr id="18" name="HL18"/>
          <p:cNvSpPr/>
          <p:nvPr/>
        </p:nvSpPr>
        <p:spPr>
          <a:xfrm>
            <a:off x="5591557" y="3047958"/>
            <a:ext cx="1152144" cy="292608"/>
          </a:xfrm>
          <a:prstGeom prst="rect">
            <a:avLst/>
          </a:prstGeom>
          <a:noFill/>
          <a:ln/>
        </p:spPr>
        <p:txBody>
          <a:bodyPr wrap="square" lIns="0" tIns="0" rIns="0" bIns="0" rtlCol="0" anchor="ctr"/>
          <a:lstStyle/>
          <a:p>
            <a:pPr marL="0" indent="0">
              <a:lnSpc>
                <a:spcPct val="118000"/>
              </a:lnSpc>
              <a:buNone/>
            </a:pPr>
            <a:r>
              <a:rPr lang="ko-KR" altLang="en-US" sz="1200" b="1" dirty="0">
                <a:solidFill>
                  <a:srgbClr val="1E2761"/>
                </a:solidFill>
                <a:latin typeface="Pretendard" pitchFamily="34" charset="0"/>
                <a:ea typeface="Pretendard" pitchFamily="34" charset="-122"/>
                <a:cs typeface="Pretendard" pitchFamily="34" charset="-120"/>
              </a:rPr>
              <a:t>집단 </a:t>
            </a:r>
            <a:r>
              <a:rPr lang="en-US" altLang="ko-KR" sz="1200" b="1" dirty="0">
                <a:solidFill>
                  <a:srgbClr val="1E2761"/>
                </a:solidFill>
                <a:latin typeface="Pretendard" pitchFamily="34" charset="0"/>
                <a:ea typeface="Pretendard" pitchFamily="34" charset="-122"/>
                <a:cs typeface="Pretendard" pitchFamily="34" charset="-120"/>
              </a:rPr>
              <a:t>B(</a:t>
            </a:r>
            <a:r>
              <a:rPr lang="ko-KR" altLang="en-US" sz="1200" b="1" dirty="0">
                <a:solidFill>
                  <a:srgbClr val="1E2761"/>
                </a:solidFill>
                <a:latin typeface="Pretendard" pitchFamily="34" charset="0"/>
                <a:ea typeface="Pretendard" pitchFamily="34" charset="-122"/>
                <a:cs typeface="Pretendard" pitchFamily="34" charset="-120"/>
              </a:rPr>
              <a:t>실험 집단</a:t>
            </a:r>
            <a:r>
              <a:rPr lang="en-US" altLang="ko-KR" sz="1200" b="1" dirty="0">
                <a:solidFill>
                  <a:srgbClr val="1E2761"/>
                </a:solidFill>
                <a:latin typeface="Pretendard" pitchFamily="34" charset="0"/>
                <a:ea typeface="Pretendard" pitchFamily="34" charset="-122"/>
                <a:cs typeface="Pretendard" pitchFamily="34" charset="-120"/>
              </a:rPr>
              <a:t>)</a:t>
            </a:r>
            <a:endParaRPr lang="ko-KR" altLang="en-US" sz="1200" b="1" dirty="0">
              <a:solidFill>
                <a:srgbClr val="1E2761"/>
              </a:solidFill>
              <a:latin typeface="Pretendard" pitchFamily="34" charset="0"/>
              <a:ea typeface="Pretendard" pitchFamily="34" charset="-122"/>
              <a:cs typeface="Pretendard" pitchFamily="34" charset="-120"/>
            </a:endParaRPr>
          </a:p>
        </p:txBody>
      </p:sp>
      <p:sp>
        <p:nvSpPr>
          <p:cNvPr id="19" name="CC19"/>
          <p:cNvSpPr/>
          <p:nvPr/>
        </p:nvSpPr>
        <p:spPr>
          <a:xfrm>
            <a:off x="2957103" y="3670227"/>
            <a:ext cx="1397073" cy="245014"/>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치료에 출석하면 보상</a:t>
            </a:r>
          </a:p>
        </p:txBody>
      </p:sp>
      <p:sp>
        <p:nvSpPr>
          <p:cNvPr id="20" name="CC20"/>
          <p:cNvSpPr/>
          <p:nvPr/>
        </p:nvSpPr>
        <p:spPr>
          <a:xfrm>
            <a:off x="4760105" y="3532637"/>
            <a:ext cx="2711851" cy="505206"/>
          </a:xfrm>
          <a:prstGeom prst="rect">
            <a:avLst/>
          </a:prstGeom>
          <a:noFill/>
          <a:ln/>
        </p:spPr>
        <p:txBody>
          <a:bodyPr wrap="square" lIns="0" tIns="0" rIns="0" bIns="0" rtlCol="0" anchor="t"/>
          <a:lstStyle/>
          <a:p>
            <a:pPr marL="0" indent="0" algn="ctr">
              <a:lnSpc>
                <a:spcPct val="125000"/>
              </a:lnSpc>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단약</a:t>
            </a:r>
            <a:r>
              <a:rPr lang="en-US" altLang="ko-KR" sz="1250" b="1" dirty="0">
                <a:solidFill>
                  <a:srgbClr val="222633"/>
                </a:solidFill>
                <a:highlight>
                  <a:srgbClr val="FFFF00"/>
                </a:highlight>
                <a:latin typeface="Pretendard" pitchFamily="34" charset="0"/>
                <a:ea typeface="Pretendard" pitchFamily="34" charset="-122"/>
                <a:cs typeface="Pretendard" pitchFamily="34" charset="-120"/>
              </a:rPr>
              <a:t>(</a:t>
            </a: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약물을 사용하지 않은 것</a:t>
            </a:r>
            <a:r>
              <a:rPr lang="en-US" altLang="ko-KR" sz="1250" b="1" dirty="0">
                <a:solidFill>
                  <a:srgbClr val="222633"/>
                </a:solidFill>
                <a:highlight>
                  <a:srgbClr val="FFFF00"/>
                </a:highlight>
                <a:latin typeface="Pretendard" pitchFamily="34" charset="0"/>
                <a:ea typeface="Pretendard" pitchFamily="34" charset="-122"/>
                <a:cs typeface="Pretendard" pitchFamily="34" charset="-120"/>
              </a:rPr>
              <a:t>)</a:t>
            </a: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이 </a:t>
            </a:r>
            <a:endParaRPr lang="en-US" altLang="ko-KR" sz="1250" b="1" dirty="0">
              <a:solidFill>
                <a:srgbClr val="222633"/>
              </a:solidFill>
              <a:highlight>
                <a:srgbClr val="FFFF00"/>
              </a:highlight>
              <a:latin typeface="Pretendard" pitchFamily="34" charset="0"/>
              <a:ea typeface="Pretendard" pitchFamily="34" charset="-122"/>
              <a:cs typeface="Pretendard" pitchFamily="34" charset="-120"/>
            </a:endParaRPr>
          </a:p>
          <a:p>
            <a:pPr marL="0" indent="0" algn="ctr">
              <a:lnSpc>
                <a:spcPct val="125000"/>
              </a:lnSpc>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확인되면 보상</a:t>
            </a:r>
          </a:p>
        </p:txBody>
      </p:sp>
      <p:sp>
        <p:nvSpPr>
          <p:cNvPr id="21" name="CH21"/>
          <p:cNvSpPr/>
          <p:nvPr/>
        </p:nvSpPr>
        <p:spPr>
          <a:xfrm>
            <a:off x="731520" y="3447288"/>
            <a:ext cx="6740436" cy="677423"/>
          </a:xfrm>
          <a:prstGeom prst="rect">
            <a:avLst/>
          </a:prstGeom>
          <a:noFill/>
          <a:ln>
            <a:solidFill>
              <a:schemeClr val="accent1">
                <a:lumMod val="75000"/>
              </a:schemeClr>
            </a:solidFill>
          </a:ln>
        </p:spPr>
        <p:txBody>
          <a:bodyPr wrap="square" lIns="0" tIns="0" rIns="0" bIns="0" rtlCol="0" anchor="ctr"/>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     청소년에게 제공한 보상</a:t>
            </a:r>
          </a:p>
        </p:txBody>
      </p:sp>
      <p:sp>
        <p:nvSpPr>
          <p:cNvPr id="23" name="CC23"/>
          <p:cNvSpPr/>
          <p:nvPr/>
        </p:nvSpPr>
        <p:spPr>
          <a:xfrm>
            <a:off x="2853254" y="4243040"/>
            <a:ext cx="1521170" cy="476245"/>
          </a:xfrm>
          <a:prstGeom prst="rect">
            <a:avLst/>
          </a:prstGeom>
          <a:noFill/>
          <a:ln/>
        </p:spPr>
        <p:txBody>
          <a:bodyPr wrap="square" lIns="0" tIns="0" rIns="0" bIns="0" rtlCol="0" anchor="t"/>
          <a:lstStyle/>
          <a:p>
            <a:pPr marL="0" indent="0" algn="ctr">
              <a:lnSpc>
                <a:spcPct val="118000"/>
              </a:lnSpc>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부모에게</a:t>
            </a:r>
            <a:r>
              <a:rPr lang="ko-KR" altLang="en-US" sz="1250" b="1" dirty="0">
                <a:solidFill>
                  <a:srgbClr val="222633"/>
                </a:solidFill>
                <a:latin typeface="Pretendard" pitchFamily="34" charset="0"/>
                <a:ea typeface="Pretendard" pitchFamily="34" charset="-122"/>
                <a:cs typeface="Pretendard" pitchFamily="34" charset="-120"/>
              </a:rPr>
              <a:t> 약물 문제와 대응에 관한 </a:t>
            </a: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정보 교육</a:t>
            </a:r>
          </a:p>
        </p:txBody>
      </p:sp>
      <p:sp>
        <p:nvSpPr>
          <p:cNvPr id="24" name="CC24"/>
          <p:cNvSpPr/>
          <p:nvPr/>
        </p:nvSpPr>
        <p:spPr>
          <a:xfrm>
            <a:off x="4760105" y="4248150"/>
            <a:ext cx="2638047" cy="476250"/>
          </a:xfrm>
          <a:prstGeom prst="rect">
            <a:avLst/>
          </a:prstGeom>
          <a:noFill/>
          <a:ln/>
        </p:spPr>
        <p:txBody>
          <a:bodyPr wrap="square" lIns="0" tIns="0" rIns="0" bIns="0" rtlCol="0" anchor="t"/>
          <a:lstStyle/>
          <a:p>
            <a:pPr marL="0" indent="0" algn="ctr">
              <a:lnSpc>
                <a:spcPct val="125000"/>
              </a:lnSpc>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부모가</a:t>
            </a:r>
            <a:r>
              <a:rPr lang="ko-KR" altLang="en-US" sz="1250" b="1" dirty="0">
                <a:solidFill>
                  <a:srgbClr val="222633"/>
                </a:solidFill>
                <a:latin typeface="Pretendard" pitchFamily="34" charset="0"/>
                <a:ea typeface="Pretendard" pitchFamily="34" charset="-122"/>
                <a:cs typeface="Pretendard" pitchFamily="34" charset="-120"/>
              </a:rPr>
              <a:t> 약물사용을 확인하고, 보상을 적용하는 방법과 </a:t>
            </a: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행동을 훈련</a:t>
            </a:r>
          </a:p>
        </p:txBody>
      </p:sp>
      <p:sp>
        <p:nvSpPr>
          <p:cNvPr id="25" name="CH25"/>
          <p:cNvSpPr/>
          <p:nvPr/>
        </p:nvSpPr>
        <p:spPr>
          <a:xfrm>
            <a:off x="724989" y="4124711"/>
            <a:ext cx="6754802" cy="750560"/>
          </a:xfrm>
          <a:prstGeom prst="rect">
            <a:avLst/>
          </a:prstGeom>
          <a:noFill/>
          <a:ln>
            <a:solidFill>
              <a:schemeClr val="accent1">
                <a:lumMod val="75000"/>
              </a:schemeClr>
            </a:solidFill>
          </a:ln>
        </p:spPr>
        <p:txBody>
          <a:bodyPr wrap="square" lIns="0" tIns="0" rIns="0" bIns="0" rtlCol="0" anchor="ctr"/>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    부모에게 요청한 활동</a:t>
            </a:r>
          </a:p>
        </p:txBody>
      </p:sp>
      <p:sp>
        <p:nvSpPr>
          <p:cNvPr id="27" name="RT"/>
          <p:cNvSpPr/>
          <p:nvPr/>
        </p:nvSpPr>
        <p:spPr>
          <a:xfrm>
            <a:off x="7918704" y="2953512"/>
            <a:ext cx="3538728" cy="493776"/>
          </a:xfrm>
          <a:prstGeom prst="rect">
            <a:avLst/>
          </a:prstGeom>
          <a:noFill/>
          <a:ln/>
        </p:spPr>
        <p:txBody>
          <a:bodyPr wrap="square" lIns="0" tIns="0" rIns="0" bIns="0" rtlCol="0" anchor="t"/>
          <a:lstStyle/>
          <a:p>
            <a:pPr marL="0" indent="0">
              <a:lnSpc>
                <a:spcPct val="118000"/>
              </a:lnSpc>
              <a:buNone/>
            </a:pPr>
            <a:r>
              <a:rPr lang="ko-KR" altLang="en-US" sz="1200" b="1" dirty="0">
                <a:solidFill>
                  <a:srgbClr val="1E2761"/>
                </a:solidFill>
                <a:latin typeface="Pretendard" pitchFamily="34" charset="0"/>
                <a:ea typeface="Pretendard" pitchFamily="34" charset="-122"/>
                <a:cs typeface="Pretendard" pitchFamily="34" charset="-120"/>
              </a:rPr>
              <a:t>치료기간 중 10주 이상 연속으로 대마를 사용하지 않은 청소년의 비율</a:t>
            </a:r>
          </a:p>
        </p:txBody>
      </p:sp>
      <p:sp>
        <p:nvSpPr>
          <p:cNvPr id="28" name="BR0"/>
          <p:cNvSpPr/>
          <p:nvPr/>
        </p:nvSpPr>
        <p:spPr>
          <a:xfrm>
            <a:off x="8247888" y="4255359"/>
            <a:ext cx="1042416" cy="260101"/>
          </a:xfrm>
          <a:prstGeom prst="rect">
            <a:avLst/>
          </a:prstGeom>
          <a:solidFill>
            <a:srgbClr val="5A6699"/>
          </a:solidFill>
          <a:ln/>
        </p:spPr>
        <p:txBody>
          <a:bodyPr/>
          <a:lstStyle/>
          <a:p>
            <a:endParaRPr lang="ko-KR" altLang="en-US"/>
          </a:p>
        </p:txBody>
      </p:sp>
      <p:sp>
        <p:nvSpPr>
          <p:cNvPr id="29" name="BV0"/>
          <p:cNvSpPr/>
          <p:nvPr/>
        </p:nvSpPr>
        <p:spPr>
          <a:xfrm>
            <a:off x="7882128" y="3926175"/>
            <a:ext cx="1773936" cy="310896"/>
          </a:xfrm>
          <a:prstGeom prst="rect">
            <a:avLst/>
          </a:prstGeom>
          <a:noFill/>
          <a:ln/>
        </p:spPr>
        <p:txBody>
          <a:bodyPr wrap="square" lIns="0" tIns="0" rIns="0" bIns="0" rtlCol="0" anchor="b"/>
          <a:lstStyle/>
          <a:p>
            <a:pPr marL="0" indent="0" algn="ctr">
              <a:lnSpc>
                <a:spcPct val="118000"/>
              </a:lnSpc>
              <a:buNone/>
            </a:pPr>
            <a:r>
              <a:rPr lang="ko-KR" altLang="en-US" sz="2250" b="1" dirty="0">
                <a:solidFill>
                  <a:srgbClr val="5A6699"/>
                </a:solidFill>
                <a:latin typeface="Pretendard" pitchFamily="34" charset="0"/>
                <a:ea typeface="Pretendard" pitchFamily="34" charset="-122"/>
                <a:cs typeface="Pretendard" pitchFamily="34" charset="-120"/>
              </a:rPr>
              <a:t>18%</a:t>
            </a:r>
          </a:p>
        </p:txBody>
      </p:sp>
      <p:sp>
        <p:nvSpPr>
          <p:cNvPr id="30" name="BL0"/>
          <p:cNvSpPr/>
          <p:nvPr/>
        </p:nvSpPr>
        <p:spPr>
          <a:xfrm>
            <a:off x="7845552" y="4570324"/>
            <a:ext cx="1847088" cy="457200"/>
          </a:xfrm>
          <a:prstGeom prst="rect">
            <a:avLst/>
          </a:prstGeom>
          <a:noFill/>
          <a:ln/>
        </p:spPr>
        <p:txBody>
          <a:bodyPr wrap="square" lIns="0" tIns="0" rIns="0" bIns="0" rtlCol="0" anchor="t"/>
          <a:lstStyle/>
          <a:p>
            <a:pPr marL="0" indent="0" algn="ctr">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출석 </a:t>
            </a:r>
            <a:r>
              <a:rPr lang="ko-KR" altLang="en-US" sz="1150" dirty="0" err="1">
                <a:solidFill>
                  <a:srgbClr val="464D5C"/>
                </a:solidFill>
                <a:latin typeface="Pretendard" pitchFamily="34" charset="0"/>
                <a:ea typeface="Pretendard" pitchFamily="34" charset="-122"/>
                <a:cs typeface="Pretendard" pitchFamily="34" charset="-120"/>
              </a:rPr>
              <a:t>보상·부모</a:t>
            </a:r>
            <a:r>
              <a:rPr lang="ko-KR" altLang="en-US" sz="1150" dirty="0">
                <a:solidFill>
                  <a:srgbClr val="464D5C"/>
                </a:solidFill>
                <a:latin typeface="Pretendard" pitchFamily="34" charset="0"/>
                <a:ea typeface="Pretendard" pitchFamily="34" charset="-122"/>
                <a:cs typeface="Pretendard" pitchFamily="34" charset="-120"/>
              </a:rPr>
              <a:t> 정보교육</a:t>
            </a:r>
          </a:p>
        </p:txBody>
      </p:sp>
      <p:sp>
        <p:nvSpPr>
          <p:cNvPr id="31" name="BR1"/>
          <p:cNvSpPr/>
          <p:nvPr/>
        </p:nvSpPr>
        <p:spPr>
          <a:xfrm>
            <a:off x="10122408" y="3792957"/>
            <a:ext cx="1042416" cy="722503"/>
          </a:xfrm>
          <a:prstGeom prst="rect">
            <a:avLst/>
          </a:prstGeom>
          <a:solidFill>
            <a:srgbClr val="1E2761"/>
          </a:solidFill>
          <a:ln/>
        </p:spPr>
        <p:txBody>
          <a:bodyPr/>
          <a:lstStyle/>
          <a:p>
            <a:endParaRPr lang="ko-KR" altLang="en-US"/>
          </a:p>
        </p:txBody>
      </p:sp>
      <p:sp>
        <p:nvSpPr>
          <p:cNvPr id="32" name="BV1"/>
          <p:cNvSpPr/>
          <p:nvPr/>
        </p:nvSpPr>
        <p:spPr>
          <a:xfrm>
            <a:off x="9756648" y="3463773"/>
            <a:ext cx="1773936" cy="310896"/>
          </a:xfrm>
          <a:prstGeom prst="rect">
            <a:avLst/>
          </a:prstGeom>
          <a:noFill/>
          <a:ln/>
        </p:spPr>
        <p:txBody>
          <a:bodyPr wrap="square" lIns="0" tIns="0" rIns="0" bIns="0" rtlCol="0" anchor="b"/>
          <a:lstStyle/>
          <a:p>
            <a:pPr marL="0" indent="0" algn="ctr">
              <a:lnSpc>
                <a:spcPct val="118000"/>
              </a:lnSpc>
              <a:buNone/>
            </a:pPr>
            <a:r>
              <a:rPr lang="ko-KR" altLang="en-US" sz="2250" b="1" dirty="0">
                <a:solidFill>
                  <a:srgbClr val="1E2761"/>
                </a:solidFill>
                <a:latin typeface="Pretendard" pitchFamily="34" charset="0"/>
                <a:ea typeface="Pretendard" pitchFamily="34" charset="-122"/>
                <a:cs typeface="Pretendard" pitchFamily="34" charset="-120"/>
              </a:rPr>
              <a:t>50%</a:t>
            </a:r>
          </a:p>
        </p:txBody>
      </p:sp>
      <p:sp>
        <p:nvSpPr>
          <p:cNvPr id="33" name="BL1"/>
          <p:cNvSpPr/>
          <p:nvPr/>
        </p:nvSpPr>
        <p:spPr>
          <a:xfrm>
            <a:off x="9720072" y="4570324"/>
            <a:ext cx="1847088" cy="457200"/>
          </a:xfrm>
          <a:prstGeom prst="rect">
            <a:avLst/>
          </a:prstGeom>
          <a:noFill/>
          <a:ln/>
        </p:spPr>
        <p:txBody>
          <a:bodyPr wrap="square" lIns="0" tIns="0" rIns="0" bIns="0" rtlCol="0" anchor="t"/>
          <a:lstStyle/>
          <a:p>
            <a:pPr marL="0" indent="0" algn="ctr">
              <a:lnSpc>
                <a:spcPct val="118000"/>
              </a:lnSpc>
              <a:buNone/>
            </a:pPr>
            <a:r>
              <a:rPr lang="ko-KR" altLang="en-US" sz="1150" b="1" dirty="0">
                <a:solidFill>
                  <a:srgbClr val="464D5C"/>
                </a:solidFill>
                <a:latin typeface="Pretendard" pitchFamily="34" charset="0"/>
                <a:ea typeface="Pretendard" pitchFamily="34" charset="-122"/>
                <a:cs typeface="Pretendard" pitchFamily="34" charset="-120"/>
              </a:rPr>
              <a:t>단약 보상·부모 행동훈련</a:t>
            </a:r>
          </a:p>
        </p:txBody>
      </p:sp>
      <p:sp>
        <p:nvSpPr>
          <p:cNvPr id="34" name="BA"/>
          <p:cNvSpPr/>
          <p:nvPr/>
        </p:nvSpPr>
        <p:spPr>
          <a:xfrm>
            <a:off x="8010144" y="4515460"/>
            <a:ext cx="3355848" cy="0"/>
          </a:xfrm>
          <a:prstGeom prst="line">
            <a:avLst/>
          </a:prstGeom>
          <a:ln w="9525">
            <a:solidFill>
              <a:srgbClr val="DCE0E8"/>
            </a:solidFill>
          </a:ln>
        </p:spPr>
        <p:txBody>
          <a:bodyPr/>
          <a:lstStyle/>
          <a:p>
            <a:endParaRPr lang="ko-K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6. 형사처벌과 치료·재활의 효과</a:t>
            </a:r>
            <a:endParaRPr lang="en-US" sz="1250" dirty="0"/>
          </a:p>
        </p:txBody>
      </p:sp>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공식 소년사법 처리와 이후 비행</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r>
              <a:rPr lang="ko-KR" altLang="en-US" sz="2700" b="1" dirty="0">
                <a:solidFill>
                  <a:srgbClr val="1E2761"/>
                </a:solidFill>
                <a:latin typeface="Pretendard" pitchFamily="34" charset="0"/>
                <a:ea typeface="Pretendard" pitchFamily="34" charset="-122"/>
                <a:cs typeface="Pretendard" pitchFamily="34" charset="-120"/>
              </a:rPr>
              <a:t>치료</a:t>
            </a:r>
            <a:r>
              <a:rPr lang="en-US" altLang="ko-KR" sz="2700" b="1" dirty="0">
                <a:solidFill>
                  <a:srgbClr val="1E2761"/>
                </a:solidFill>
                <a:latin typeface="Pretendard" pitchFamily="34" charset="0"/>
                <a:ea typeface="Pretendard" pitchFamily="34" charset="-122"/>
                <a:cs typeface="Pretendard" pitchFamily="34" charset="-120"/>
              </a:rPr>
              <a:t>·</a:t>
            </a:r>
            <a:r>
              <a:rPr lang="ko-KR" altLang="en-US" sz="2700" b="1" dirty="0">
                <a:solidFill>
                  <a:srgbClr val="1E2761"/>
                </a:solidFill>
                <a:latin typeface="Pretendard" pitchFamily="34" charset="0"/>
                <a:ea typeface="Pretendard" pitchFamily="34" charset="-122"/>
                <a:cs typeface="Pretendard" pitchFamily="34" charset="-120"/>
              </a:rPr>
              <a:t>재활</a:t>
            </a:r>
            <a:r>
              <a:rPr lang="en-US" sz="2700" b="1" dirty="0">
                <a:solidFill>
                  <a:srgbClr val="1E2761"/>
                </a:solidFill>
                <a:latin typeface="Pretendard" pitchFamily="34" charset="0"/>
                <a:ea typeface="Pretendard" pitchFamily="34" charset="-122"/>
                <a:cs typeface="Pretendard" pitchFamily="34" charset="-120"/>
              </a:rPr>
              <a:t> </a:t>
            </a:r>
            <a:r>
              <a:rPr lang="ko-KR" altLang="en-US" sz="2700" b="1" dirty="0">
                <a:solidFill>
                  <a:srgbClr val="1E2761"/>
                </a:solidFill>
                <a:latin typeface="Pretendard" pitchFamily="34" charset="0"/>
                <a:ea typeface="Pretendard" pitchFamily="34" charset="-122"/>
                <a:cs typeface="Pretendard" pitchFamily="34" charset="-120"/>
              </a:rPr>
              <a:t>효과 </a:t>
            </a:r>
            <a:r>
              <a:rPr lang="en-US" sz="2700" b="1" dirty="0" err="1">
                <a:solidFill>
                  <a:srgbClr val="1E2761"/>
                </a:solidFill>
                <a:latin typeface="Pretendard" pitchFamily="34" charset="0"/>
                <a:ea typeface="Pretendard" pitchFamily="34" charset="-122"/>
                <a:cs typeface="Pretendard" pitchFamily="34" charset="-120"/>
              </a:rPr>
              <a:t>유지</a:t>
            </a:r>
            <a:r>
              <a:rPr lang="ko-KR" altLang="en-US" sz="2700" b="1" dirty="0">
                <a:solidFill>
                  <a:srgbClr val="1E2761"/>
                </a:solidFill>
                <a:latin typeface="Pretendard" pitchFamily="34" charset="0"/>
                <a:ea typeface="Pretendard" pitchFamily="34" charset="-122"/>
                <a:cs typeface="Pretendard" pitchFamily="34" charset="-120"/>
              </a:rPr>
              <a:t> 문제</a:t>
            </a:r>
            <a:r>
              <a:rPr lang="en-US" sz="2700" b="1" dirty="0">
                <a:solidFill>
                  <a:srgbClr val="1E2761"/>
                </a:solidFill>
                <a:latin typeface="Pretendard" pitchFamily="34" charset="0"/>
                <a:ea typeface="Pretendard" pitchFamily="34" charset="-122"/>
                <a:cs typeface="Pretendard" pitchFamily="34" charset="-120"/>
              </a:rPr>
              <a:t> — 치료·감독 중 나타난 변화가 종료 뒤에도 계속되는가</a:t>
            </a:r>
            <a:endParaRPr lang="en-US" sz="2700" dirty="0"/>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624022"/>
            <a:ext cx="10698480" cy="438912"/>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987552" y="1624022"/>
            <a:ext cx="10186416" cy="438912"/>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프로그램 중 나타난 효과와 프로그램 종료 뒤에도 남은 효과는 구분해서 볼 필요가 있었다</a:t>
            </a:r>
            <a:endParaRPr lang="en-US" sz="1250" dirty="0"/>
          </a:p>
        </p:txBody>
      </p:sp>
      <p:sp>
        <p:nvSpPr>
          <p:cNvPr id="17" name="Shape 15"/>
          <p:cNvSpPr/>
          <p:nvPr/>
        </p:nvSpPr>
        <p:spPr>
          <a:xfrm>
            <a:off x="736766" y="2444818"/>
            <a:ext cx="5148072" cy="1920240"/>
          </a:xfrm>
          <a:prstGeom prst="rect">
            <a:avLst/>
          </a:prstGeom>
          <a:solidFill>
            <a:srgbClr val="FFFFFF"/>
          </a:solidFill>
          <a:ln w="12700">
            <a:solidFill>
              <a:srgbClr val="DCE0E8"/>
            </a:solidFill>
            <a:prstDash val="solid"/>
          </a:ln>
        </p:spPr>
        <p:txBody>
          <a:bodyPr/>
          <a:lstStyle/>
          <a:p>
            <a:endParaRPr lang="ko-KR" altLang="en-US"/>
          </a:p>
        </p:txBody>
      </p:sp>
      <p:sp>
        <p:nvSpPr>
          <p:cNvPr id="18" name="Text 16"/>
          <p:cNvSpPr/>
          <p:nvPr/>
        </p:nvSpPr>
        <p:spPr>
          <a:xfrm>
            <a:off x="974510" y="2536258"/>
            <a:ext cx="4672584" cy="256032"/>
          </a:xfrm>
          <a:prstGeom prst="rect">
            <a:avLst/>
          </a:prstGeom>
          <a:noFill/>
          <a:ln/>
        </p:spPr>
        <p:txBody>
          <a:bodyPr wrap="square" lIns="0" tIns="0" rIns="0" bIns="0" rtlCol="0" anchor="ctr"/>
          <a:lstStyle/>
          <a:p>
            <a:pPr marL="0" indent="0">
              <a:buNone/>
            </a:pPr>
            <a:r>
              <a:rPr lang="en-US" sz="1200" b="1" dirty="0">
                <a:solidFill>
                  <a:srgbClr val="C2A648"/>
                </a:solidFill>
                <a:latin typeface="Pretendard" pitchFamily="34" charset="0"/>
                <a:ea typeface="Pretendard" pitchFamily="34" charset="-122"/>
                <a:cs typeface="Pretendard" pitchFamily="34" charset="-120"/>
              </a:rPr>
              <a:t>JDTC 메타분석</a:t>
            </a:r>
            <a:endParaRPr lang="en-US" sz="1200" dirty="0"/>
          </a:p>
        </p:txBody>
      </p:sp>
      <p:sp>
        <p:nvSpPr>
          <p:cNvPr id="19" name="Shape 17"/>
          <p:cNvSpPr/>
          <p:nvPr/>
        </p:nvSpPr>
        <p:spPr>
          <a:xfrm>
            <a:off x="974510" y="2865442"/>
            <a:ext cx="4672584" cy="566928"/>
          </a:xfrm>
          <a:prstGeom prst="rect">
            <a:avLst/>
          </a:prstGeom>
          <a:solidFill>
            <a:srgbClr val="F2F4F8"/>
          </a:solidFill>
          <a:ln w="12700">
            <a:solidFill>
              <a:srgbClr val="F2F4F8"/>
            </a:solidFill>
            <a:prstDash val="solid"/>
          </a:ln>
        </p:spPr>
        <p:txBody>
          <a:bodyPr/>
          <a:lstStyle/>
          <a:p>
            <a:endParaRPr lang="ko-KR" altLang="en-US"/>
          </a:p>
        </p:txBody>
      </p:sp>
      <p:sp>
        <p:nvSpPr>
          <p:cNvPr id="20" name="Text 18"/>
          <p:cNvSpPr/>
          <p:nvPr/>
        </p:nvSpPr>
        <p:spPr>
          <a:xfrm>
            <a:off x="1120814" y="2920306"/>
            <a:ext cx="1280160" cy="219456"/>
          </a:xfrm>
          <a:prstGeom prst="rect">
            <a:avLst/>
          </a:prstGeom>
          <a:noFill/>
          <a:ln/>
        </p:spPr>
        <p:txBody>
          <a:bodyPr wrap="square" lIns="0" tIns="0" rIns="0" bIns="0" rtlCol="0" anchor="ctr"/>
          <a:lstStyle/>
          <a:p>
            <a:pPr marL="0" indent="0">
              <a:buNone/>
            </a:pPr>
            <a:r>
              <a:rPr lang="en-US" sz="1050" dirty="0">
                <a:solidFill>
                  <a:srgbClr val="A8871C"/>
                </a:solidFill>
                <a:latin typeface="Pretendard" pitchFamily="34" charset="0"/>
                <a:ea typeface="Pretendard" pitchFamily="34" charset="-122"/>
                <a:cs typeface="Pretendard" pitchFamily="34" charset="-120"/>
              </a:rPr>
              <a:t>감독 중</a:t>
            </a:r>
            <a:endParaRPr lang="en-US" sz="1050" dirty="0"/>
          </a:p>
        </p:txBody>
      </p:sp>
      <p:sp>
        <p:nvSpPr>
          <p:cNvPr id="21" name="Text 19"/>
          <p:cNvSpPr/>
          <p:nvPr/>
        </p:nvSpPr>
        <p:spPr>
          <a:xfrm>
            <a:off x="1120814" y="3121474"/>
            <a:ext cx="4379976" cy="256032"/>
          </a:xfrm>
          <a:prstGeom prst="rect">
            <a:avLst/>
          </a:prstGeom>
          <a:noFill/>
          <a:ln/>
        </p:spPr>
        <p:txBody>
          <a:bodyPr wrap="square" lIns="0" tIns="0" rIns="0" bIns="0" rtlCol="0" anchor="ctr"/>
          <a:lstStyle/>
          <a:p>
            <a:pPr marL="0" indent="0">
              <a:buNone/>
            </a:pPr>
            <a:r>
              <a:rPr lang="en-US" sz="1200" b="1" dirty="0">
                <a:solidFill>
                  <a:srgbClr val="1E2761"/>
                </a:solidFill>
                <a:latin typeface="Pretendard" pitchFamily="34" charset="0"/>
                <a:ea typeface="Pretendard" pitchFamily="34" charset="-122"/>
                <a:cs typeface="Pretendard" pitchFamily="34" charset="-120"/>
              </a:rPr>
              <a:t>일반재범에서 작은 개선</a:t>
            </a:r>
            <a:endParaRPr lang="en-US" sz="1200" dirty="0"/>
          </a:p>
        </p:txBody>
      </p:sp>
      <p:sp>
        <p:nvSpPr>
          <p:cNvPr id="22" name="Text 20"/>
          <p:cNvSpPr/>
          <p:nvPr/>
        </p:nvSpPr>
        <p:spPr>
          <a:xfrm>
            <a:off x="736766" y="3432370"/>
            <a:ext cx="5148072" cy="128016"/>
          </a:xfrm>
          <a:prstGeom prst="rect">
            <a:avLst/>
          </a:prstGeom>
          <a:noFill/>
          <a:ln/>
        </p:spPr>
        <p:txBody>
          <a:bodyPr wrap="square" lIns="0" tIns="0" rIns="0" bIns="0" rtlCol="0" anchor="ctr"/>
          <a:lstStyle/>
          <a:p>
            <a:pPr marL="0" indent="0" algn="ctr">
              <a:buNone/>
            </a:pPr>
            <a:r>
              <a:rPr lang="en-US" sz="1000" dirty="0">
                <a:solidFill>
                  <a:srgbClr val="6E7686"/>
                </a:solidFill>
                <a:latin typeface="Pretendard" pitchFamily="34" charset="0"/>
                <a:ea typeface="Pretendard" pitchFamily="34" charset="-122"/>
                <a:cs typeface="Pretendard" pitchFamily="34" charset="-120"/>
              </a:rPr>
              <a:t>↓</a:t>
            </a:r>
            <a:endParaRPr lang="en-US" sz="1000" dirty="0"/>
          </a:p>
        </p:txBody>
      </p:sp>
      <p:sp>
        <p:nvSpPr>
          <p:cNvPr id="23" name="Shape 21"/>
          <p:cNvSpPr/>
          <p:nvPr/>
        </p:nvSpPr>
        <p:spPr>
          <a:xfrm>
            <a:off x="974510" y="3560386"/>
            <a:ext cx="4672584" cy="566928"/>
          </a:xfrm>
          <a:prstGeom prst="rect">
            <a:avLst/>
          </a:prstGeom>
          <a:solidFill>
            <a:srgbClr val="1E2761"/>
          </a:solidFill>
          <a:ln w="12700">
            <a:solidFill>
              <a:srgbClr val="1E2761"/>
            </a:solidFill>
            <a:prstDash val="solid"/>
          </a:ln>
        </p:spPr>
        <p:txBody>
          <a:bodyPr/>
          <a:lstStyle/>
          <a:p>
            <a:endParaRPr lang="ko-KR" altLang="en-US"/>
          </a:p>
        </p:txBody>
      </p:sp>
      <p:sp>
        <p:nvSpPr>
          <p:cNvPr id="24" name="Text 22"/>
          <p:cNvSpPr/>
          <p:nvPr/>
        </p:nvSpPr>
        <p:spPr>
          <a:xfrm>
            <a:off x="1120814" y="3615250"/>
            <a:ext cx="1280160" cy="219456"/>
          </a:xfrm>
          <a:prstGeom prst="rect">
            <a:avLst/>
          </a:prstGeom>
          <a:noFill/>
          <a:ln/>
        </p:spPr>
        <p:txBody>
          <a:bodyPr wrap="square" lIns="0" tIns="0" rIns="0" bIns="0" rtlCol="0" anchor="ctr"/>
          <a:lstStyle/>
          <a:p>
            <a:pPr marL="0" indent="0">
              <a:buNone/>
            </a:pPr>
            <a:r>
              <a:rPr lang="en-US" sz="1050" dirty="0">
                <a:solidFill>
                  <a:srgbClr val="C2A648"/>
                </a:solidFill>
                <a:latin typeface="Pretendard" pitchFamily="34" charset="0"/>
                <a:ea typeface="Pretendard" pitchFamily="34" charset="-122"/>
                <a:cs typeface="Pretendard" pitchFamily="34" charset="-120"/>
              </a:rPr>
              <a:t>종료 뒤</a:t>
            </a:r>
            <a:endParaRPr lang="en-US" sz="1050" dirty="0"/>
          </a:p>
        </p:txBody>
      </p:sp>
      <p:sp>
        <p:nvSpPr>
          <p:cNvPr id="25" name="Text 23"/>
          <p:cNvSpPr/>
          <p:nvPr/>
        </p:nvSpPr>
        <p:spPr>
          <a:xfrm>
            <a:off x="1120814" y="3816418"/>
            <a:ext cx="4379976" cy="256032"/>
          </a:xfrm>
          <a:prstGeom prst="rect">
            <a:avLst/>
          </a:prstGeom>
          <a:noFill/>
          <a:ln/>
        </p:spPr>
        <p:txBody>
          <a:bodyPr wrap="square" lIns="0" tIns="0" rIns="0" bIns="0" rtlCol="0" anchor="ctr"/>
          <a:lstStyle/>
          <a:p>
            <a:pPr marL="0" indent="0">
              <a:buNone/>
            </a:pPr>
            <a:r>
              <a:rPr lang="en-US" sz="1200" b="1" dirty="0">
                <a:solidFill>
                  <a:srgbClr val="FFFFFF"/>
                </a:solidFill>
                <a:latin typeface="Pretendard" pitchFamily="34" charset="0"/>
                <a:ea typeface="Pretendard" pitchFamily="34" charset="-122"/>
                <a:cs typeface="Pretendard" pitchFamily="34" charset="-120"/>
              </a:rPr>
              <a:t>평균 우위가 확인되지 않았다</a:t>
            </a:r>
            <a:endParaRPr lang="en-US" sz="1200" dirty="0"/>
          </a:p>
        </p:txBody>
      </p:sp>
      <p:sp>
        <p:nvSpPr>
          <p:cNvPr id="26" name="Text 24"/>
          <p:cNvSpPr/>
          <p:nvPr/>
        </p:nvSpPr>
        <p:spPr>
          <a:xfrm>
            <a:off x="736766" y="4970969"/>
            <a:ext cx="10720666" cy="599652"/>
          </a:xfrm>
          <a:prstGeom prst="rect">
            <a:avLst/>
          </a:prstGeom>
          <a:solidFill>
            <a:schemeClr val="accent1">
              <a:lumMod val="20000"/>
              <a:lumOff val="80000"/>
            </a:schemeClr>
          </a:solidFill>
          <a:ln/>
        </p:spPr>
        <p:txBody>
          <a:bodyPr wrap="square" lIns="0" tIns="0" rIns="0" bIns="0" rtlCol="0" anchor="ctr"/>
          <a:lstStyle/>
          <a:p>
            <a:pPr algn="ctr"/>
            <a:r>
              <a:rPr lang="ko-KR" altLang="en-US" sz="1250" b="1" dirty="0">
                <a:solidFill>
                  <a:srgbClr val="1E2761"/>
                </a:solidFill>
                <a:latin typeface="Pretendard" pitchFamily="34" charset="0"/>
                <a:ea typeface="Pretendard" pitchFamily="34" charset="-122"/>
                <a:cs typeface="Pretendard" pitchFamily="34" charset="-120"/>
              </a:rPr>
              <a:t>치료</a:t>
            </a:r>
            <a:r>
              <a:rPr lang="en-US" altLang="ko-KR" sz="1250" b="1" dirty="0">
                <a:solidFill>
                  <a:srgbClr val="1E2761"/>
                </a:solidFill>
                <a:latin typeface="Pretendard" pitchFamily="34" charset="0"/>
                <a:ea typeface="Pretendard" pitchFamily="34" charset="-122"/>
                <a:cs typeface="Pretendard" pitchFamily="34" charset="-120"/>
              </a:rPr>
              <a:t>·</a:t>
            </a:r>
            <a:r>
              <a:rPr lang="ko-KR" altLang="en-US" sz="1250" b="1" dirty="0">
                <a:solidFill>
                  <a:srgbClr val="1E2761"/>
                </a:solidFill>
                <a:latin typeface="Pretendard" pitchFamily="34" charset="0"/>
                <a:ea typeface="Pretendard" pitchFamily="34" charset="-122"/>
                <a:cs typeface="Pretendard" pitchFamily="34" charset="-120"/>
              </a:rPr>
              <a:t>감독 중 나타난 변화가  프로그램이 종료 된 이후 효과가 중단된다면</a:t>
            </a:r>
            <a:r>
              <a:rPr lang="en-US" altLang="ko-KR" sz="1250" b="1" dirty="0">
                <a:solidFill>
                  <a:srgbClr val="1E2761"/>
                </a:solidFill>
                <a:latin typeface="Pretendard" pitchFamily="34" charset="0"/>
                <a:ea typeface="Pretendard" pitchFamily="34" charset="-122"/>
                <a:cs typeface="Pretendard" pitchFamily="34" charset="-120"/>
              </a:rPr>
              <a:t>, </a:t>
            </a:r>
            <a:r>
              <a:rPr lang="ko-KR" altLang="en-US" sz="1250" b="1" dirty="0">
                <a:solidFill>
                  <a:srgbClr val="1E2761"/>
                </a:solidFill>
                <a:latin typeface="Pretendard" pitchFamily="34" charset="0"/>
                <a:ea typeface="Pretendard" pitchFamily="34" charset="-122"/>
                <a:cs typeface="Pretendard" pitchFamily="34" charset="-120"/>
              </a:rPr>
              <a:t>효과적인 치료라고 볼 수 있을까</a:t>
            </a:r>
            <a:endParaRPr lang="en-US" sz="1250" dirty="0"/>
          </a:p>
        </p:txBody>
      </p:sp>
      <p:sp>
        <p:nvSpPr>
          <p:cNvPr id="27" name="Shape 25"/>
          <p:cNvSpPr/>
          <p:nvPr/>
        </p:nvSpPr>
        <p:spPr>
          <a:xfrm>
            <a:off x="731520" y="6153912"/>
            <a:ext cx="10698480" cy="0"/>
          </a:xfrm>
          <a:prstGeom prst="line">
            <a:avLst/>
          </a:prstGeom>
          <a:noFill/>
          <a:ln w="12700">
            <a:solidFill>
              <a:srgbClr val="DCE0E8"/>
            </a:solidFill>
            <a:prstDash val="solid"/>
          </a:ln>
        </p:spPr>
        <p:txBody>
          <a:bodyPr/>
          <a:lstStyle/>
          <a:p>
            <a:endParaRPr lang="ko-KR" altLang="en-US"/>
          </a:p>
        </p:txBody>
      </p:sp>
      <p:sp>
        <p:nvSpPr>
          <p:cNvPr id="48" name="Shape 6">
            <a:extLst>
              <a:ext uri="{FF2B5EF4-FFF2-40B4-BE49-F238E27FC236}">
                <a16:creationId xmlns:a16="http://schemas.microsoft.com/office/drawing/2014/main" id="{73AAFC0C-1B38-F144-7384-AD4D6D6D392B}"/>
              </a:ext>
            </a:extLst>
          </p:cNvPr>
          <p:cNvSpPr/>
          <p:nvPr/>
        </p:nvSpPr>
        <p:spPr>
          <a:xfrm>
            <a:off x="6307162" y="2444818"/>
            <a:ext cx="5148072" cy="1920240"/>
          </a:xfrm>
          <a:prstGeom prst="rect">
            <a:avLst/>
          </a:prstGeom>
          <a:solidFill>
            <a:srgbClr val="FFFFFF"/>
          </a:solidFill>
          <a:ln w="12700">
            <a:solidFill>
              <a:srgbClr val="DCE0E8"/>
            </a:solidFill>
            <a:prstDash val="solid"/>
          </a:ln>
        </p:spPr>
        <p:txBody>
          <a:bodyPr/>
          <a:lstStyle/>
          <a:p>
            <a:endParaRPr lang="ko-KR" altLang="en-US"/>
          </a:p>
        </p:txBody>
      </p:sp>
      <p:sp>
        <p:nvSpPr>
          <p:cNvPr id="50" name="Text 7">
            <a:extLst>
              <a:ext uri="{FF2B5EF4-FFF2-40B4-BE49-F238E27FC236}">
                <a16:creationId xmlns:a16="http://schemas.microsoft.com/office/drawing/2014/main" id="{F09E7ACB-25B5-EA2A-F801-DA2DCA7A3CA6}"/>
              </a:ext>
            </a:extLst>
          </p:cNvPr>
          <p:cNvSpPr/>
          <p:nvPr/>
        </p:nvSpPr>
        <p:spPr>
          <a:xfrm>
            <a:off x="6544906" y="2536258"/>
            <a:ext cx="4672584" cy="256032"/>
          </a:xfrm>
          <a:prstGeom prst="rect">
            <a:avLst/>
          </a:prstGeom>
          <a:noFill/>
          <a:ln/>
        </p:spPr>
        <p:txBody>
          <a:bodyPr wrap="square" lIns="0" tIns="0" rIns="0" bIns="0" rtlCol="0" anchor="ctr"/>
          <a:lstStyle/>
          <a:p>
            <a:pPr marL="0" indent="0">
              <a:buNone/>
            </a:pPr>
            <a:r>
              <a:rPr lang="en-US" sz="1200" b="1" dirty="0">
                <a:solidFill>
                  <a:srgbClr val="C2A648"/>
                </a:solidFill>
                <a:latin typeface="Pretendard" pitchFamily="34" charset="0"/>
                <a:ea typeface="Pretendard" pitchFamily="34" charset="-122"/>
                <a:cs typeface="Pretendard" pitchFamily="34" charset="-120"/>
              </a:rPr>
              <a:t>Stanger 외 (2009)</a:t>
            </a:r>
            <a:endParaRPr lang="en-US" sz="1200" dirty="0"/>
          </a:p>
        </p:txBody>
      </p:sp>
      <p:sp>
        <p:nvSpPr>
          <p:cNvPr id="52" name="Shape 8">
            <a:extLst>
              <a:ext uri="{FF2B5EF4-FFF2-40B4-BE49-F238E27FC236}">
                <a16:creationId xmlns:a16="http://schemas.microsoft.com/office/drawing/2014/main" id="{28764D03-62C2-9775-6C14-57231271E15C}"/>
              </a:ext>
            </a:extLst>
          </p:cNvPr>
          <p:cNvSpPr/>
          <p:nvPr/>
        </p:nvSpPr>
        <p:spPr>
          <a:xfrm>
            <a:off x="6544906" y="2865442"/>
            <a:ext cx="4672584" cy="566928"/>
          </a:xfrm>
          <a:prstGeom prst="rect">
            <a:avLst/>
          </a:prstGeom>
          <a:solidFill>
            <a:srgbClr val="F2F4F8"/>
          </a:solidFill>
          <a:ln w="12700">
            <a:solidFill>
              <a:srgbClr val="F2F4F8"/>
            </a:solidFill>
            <a:prstDash val="solid"/>
          </a:ln>
        </p:spPr>
        <p:txBody>
          <a:bodyPr/>
          <a:lstStyle/>
          <a:p>
            <a:endParaRPr lang="ko-KR" altLang="en-US"/>
          </a:p>
        </p:txBody>
      </p:sp>
      <p:sp>
        <p:nvSpPr>
          <p:cNvPr id="54" name="Text 9">
            <a:extLst>
              <a:ext uri="{FF2B5EF4-FFF2-40B4-BE49-F238E27FC236}">
                <a16:creationId xmlns:a16="http://schemas.microsoft.com/office/drawing/2014/main" id="{2861F1FF-E6B6-4324-DC92-E254606432E3}"/>
              </a:ext>
            </a:extLst>
          </p:cNvPr>
          <p:cNvSpPr/>
          <p:nvPr/>
        </p:nvSpPr>
        <p:spPr>
          <a:xfrm>
            <a:off x="6691210" y="2920306"/>
            <a:ext cx="1280160" cy="219456"/>
          </a:xfrm>
          <a:prstGeom prst="rect">
            <a:avLst/>
          </a:prstGeom>
          <a:noFill/>
          <a:ln/>
        </p:spPr>
        <p:txBody>
          <a:bodyPr wrap="square" lIns="0" tIns="0" rIns="0" bIns="0" rtlCol="0" anchor="ctr"/>
          <a:lstStyle/>
          <a:p>
            <a:pPr marL="0" indent="0">
              <a:buNone/>
            </a:pPr>
            <a:r>
              <a:rPr lang="en-US" sz="1050" dirty="0">
                <a:solidFill>
                  <a:srgbClr val="A8871C"/>
                </a:solidFill>
                <a:latin typeface="Pretendard" pitchFamily="34" charset="0"/>
                <a:ea typeface="Pretendard" pitchFamily="34" charset="-122"/>
                <a:cs typeface="Pretendard" pitchFamily="34" charset="-120"/>
              </a:rPr>
              <a:t>치료기간 중</a:t>
            </a:r>
            <a:endParaRPr lang="en-US" sz="1050" dirty="0"/>
          </a:p>
        </p:txBody>
      </p:sp>
      <p:sp>
        <p:nvSpPr>
          <p:cNvPr id="56" name="Text 10">
            <a:extLst>
              <a:ext uri="{FF2B5EF4-FFF2-40B4-BE49-F238E27FC236}">
                <a16:creationId xmlns:a16="http://schemas.microsoft.com/office/drawing/2014/main" id="{05A48D29-7A0A-4FB4-FBA2-507E0CF40D54}"/>
              </a:ext>
            </a:extLst>
          </p:cNvPr>
          <p:cNvSpPr/>
          <p:nvPr/>
        </p:nvSpPr>
        <p:spPr>
          <a:xfrm>
            <a:off x="6691210" y="3121474"/>
            <a:ext cx="4379976" cy="256032"/>
          </a:xfrm>
          <a:prstGeom prst="rect">
            <a:avLst/>
          </a:prstGeom>
          <a:noFill/>
          <a:ln/>
        </p:spPr>
        <p:txBody>
          <a:bodyPr wrap="square" lIns="0" tIns="0" rIns="0" bIns="0" rtlCol="0" anchor="ctr"/>
          <a:lstStyle/>
          <a:p>
            <a:pPr marL="0" indent="0">
              <a:buNone/>
            </a:pPr>
            <a:r>
              <a:rPr lang="en-US" sz="1200" b="1" dirty="0">
                <a:solidFill>
                  <a:srgbClr val="1E2761"/>
                </a:solidFill>
                <a:latin typeface="Pretendard" pitchFamily="34" charset="0"/>
                <a:ea typeface="Pretendard" pitchFamily="34" charset="-122"/>
                <a:cs typeface="Pretendard" pitchFamily="34" charset="-120"/>
              </a:rPr>
              <a:t>10주 이상 연속 단약에서 큰 차이</a:t>
            </a:r>
            <a:endParaRPr lang="en-US" sz="1200" dirty="0"/>
          </a:p>
        </p:txBody>
      </p:sp>
      <p:sp>
        <p:nvSpPr>
          <p:cNvPr id="58" name="Text 11">
            <a:extLst>
              <a:ext uri="{FF2B5EF4-FFF2-40B4-BE49-F238E27FC236}">
                <a16:creationId xmlns:a16="http://schemas.microsoft.com/office/drawing/2014/main" id="{EB95785F-04EC-85AD-F3C7-0E89198333CC}"/>
              </a:ext>
            </a:extLst>
          </p:cNvPr>
          <p:cNvSpPr/>
          <p:nvPr/>
        </p:nvSpPr>
        <p:spPr>
          <a:xfrm>
            <a:off x="6307162" y="3432370"/>
            <a:ext cx="5148072" cy="128016"/>
          </a:xfrm>
          <a:prstGeom prst="rect">
            <a:avLst/>
          </a:prstGeom>
          <a:noFill/>
          <a:ln/>
        </p:spPr>
        <p:txBody>
          <a:bodyPr wrap="square" lIns="0" tIns="0" rIns="0" bIns="0" rtlCol="0" anchor="ctr"/>
          <a:lstStyle/>
          <a:p>
            <a:pPr marL="0" indent="0" algn="ctr">
              <a:buNone/>
            </a:pPr>
            <a:r>
              <a:rPr lang="en-US" sz="1000" dirty="0">
                <a:solidFill>
                  <a:srgbClr val="6E7686"/>
                </a:solidFill>
                <a:latin typeface="Pretendard" pitchFamily="34" charset="0"/>
                <a:ea typeface="Pretendard" pitchFamily="34" charset="-122"/>
                <a:cs typeface="Pretendard" pitchFamily="34" charset="-120"/>
              </a:rPr>
              <a:t>↓</a:t>
            </a:r>
            <a:endParaRPr lang="en-US" sz="1000" dirty="0"/>
          </a:p>
        </p:txBody>
      </p:sp>
      <p:sp>
        <p:nvSpPr>
          <p:cNvPr id="60" name="Shape 12">
            <a:extLst>
              <a:ext uri="{FF2B5EF4-FFF2-40B4-BE49-F238E27FC236}">
                <a16:creationId xmlns:a16="http://schemas.microsoft.com/office/drawing/2014/main" id="{E1F55777-1DEA-275C-2762-79291D029C14}"/>
              </a:ext>
            </a:extLst>
          </p:cNvPr>
          <p:cNvSpPr/>
          <p:nvPr/>
        </p:nvSpPr>
        <p:spPr>
          <a:xfrm>
            <a:off x="6544906" y="3560386"/>
            <a:ext cx="4672584" cy="566928"/>
          </a:xfrm>
          <a:prstGeom prst="rect">
            <a:avLst/>
          </a:prstGeom>
          <a:solidFill>
            <a:srgbClr val="1E2761"/>
          </a:solidFill>
          <a:ln w="12700">
            <a:solidFill>
              <a:srgbClr val="1E2761"/>
            </a:solidFill>
            <a:prstDash val="solid"/>
          </a:ln>
        </p:spPr>
        <p:txBody>
          <a:bodyPr/>
          <a:lstStyle/>
          <a:p>
            <a:endParaRPr lang="ko-KR" altLang="en-US"/>
          </a:p>
        </p:txBody>
      </p:sp>
      <p:sp>
        <p:nvSpPr>
          <p:cNvPr id="62" name="Text 13">
            <a:extLst>
              <a:ext uri="{FF2B5EF4-FFF2-40B4-BE49-F238E27FC236}">
                <a16:creationId xmlns:a16="http://schemas.microsoft.com/office/drawing/2014/main" id="{88E96979-AFA2-50C0-4B0E-9734DA24E53D}"/>
              </a:ext>
            </a:extLst>
          </p:cNvPr>
          <p:cNvSpPr/>
          <p:nvPr/>
        </p:nvSpPr>
        <p:spPr>
          <a:xfrm>
            <a:off x="6691210" y="3615250"/>
            <a:ext cx="1280160" cy="219456"/>
          </a:xfrm>
          <a:prstGeom prst="rect">
            <a:avLst/>
          </a:prstGeom>
          <a:noFill/>
          <a:ln/>
        </p:spPr>
        <p:txBody>
          <a:bodyPr wrap="square" lIns="0" tIns="0" rIns="0" bIns="0" rtlCol="0" anchor="ctr"/>
          <a:lstStyle/>
          <a:p>
            <a:pPr marL="0" indent="0">
              <a:buNone/>
            </a:pPr>
            <a:r>
              <a:rPr lang="en-US" sz="1050" dirty="0">
                <a:solidFill>
                  <a:srgbClr val="C2A648"/>
                </a:solidFill>
                <a:latin typeface="Pretendard" pitchFamily="34" charset="0"/>
                <a:ea typeface="Pretendard" pitchFamily="34" charset="-122"/>
                <a:cs typeface="Pretendard" pitchFamily="34" charset="-120"/>
              </a:rPr>
              <a:t>후속기간</a:t>
            </a:r>
            <a:endParaRPr lang="en-US" sz="1050" dirty="0"/>
          </a:p>
        </p:txBody>
      </p:sp>
      <p:sp>
        <p:nvSpPr>
          <p:cNvPr id="64" name="Text 14">
            <a:extLst>
              <a:ext uri="{FF2B5EF4-FFF2-40B4-BE49-F238E27FC236}">
                <a16:creationId xmlns:a16="http://schemas.microsoft.com/office/drawing/2014/main" id="{DDECF9DA-9AA8-5210-9D24-4ACA56A89708}"/>
              </a:ext>
            </a:extLst>
          </p:cNvPr>
          <p:cNvSpPr/>
          <p:nvPr/>
        </p:nvSpPr>
        <p:spPr>
          <a:xfrm>
            <a:off x="6691210" y="3816418"/>
            <a:ext cx="4379976" cy="256032"/>
          </a:xfrm>
          <a:prstGeom prst="rect">
            <a:avLst/>
          </a:prstGeom>
          <a:noFill/>
          <a:ln/>
        </p:spPr>
        <p:txBody>
          <a:bodyPr wrap="square" lIns="0" tIns="0" rIns="0" bIns="0" rtlCol="0" anchor="ctr"/>
          <a:lstStyle/>
          <a:p>
            <a:pPr marL="0" indent="0">
              <a:buNone/>
            </a:pPr>
            <a:r>
              <a:rPr lang="en-US" sz="1200" b="1" dirty="0">
                <a:solidFill>
                  <a:srgbClr val="FFFFFF"/>
                </a:solidFill>
                <a:latin typeface="Pretendard" pitchFamily="34" charset="0"/>
                <a:ea typeface="Pretendard" pitchFamily="34" charset="-122"/>
                <a:cs typeface="Pretendard" pitchFamily="34" charset="-120"/>
              </a:rPr>
              <a:t>그 차이가 그대로 유지되지는 않았다</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6. 형사처벌과 치료·재활의 효과</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단순 소지 제재와 약물사용</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마약사범에 대한 국내 교정시설의 재활교육과 재입소 결과</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형을 집행하면서 제공한 재활교육도 출소 뒤의 재입소 여부와 재입소까지의 시간을 나누어 평가할 수 있다</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BODY8"/>
          <p:cNvSpPr/>
          <p:nvPr/>
        </p:nvSpPr>
        <p:spPr>
          <a:xfrm>
            <a:off x="3154680" y="2231412"/>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김도균·나종민(2025) · 2018~2019년 출소한 </a:t>
            </a: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향정신성의약품 투약사범 931명</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자료상 22~65세 · 평균 46.9세 · 교육 이수 439명, 미이수 492명</a:t>
            </a:r>
          </a:p>
        </p:txBody>
      </p:sp>
      <p:sp>
        <p:nvSpPr>
          <p:cNvPr id="9" name="HEAD9"/>
          <p:cNvSpPr/>
          <p:nvPr/>
        </p:nvSpPr>
        <p:spPr>
          <a:xfrm>
            <a:off x="731520" y="2054135"/>
            <a:ext cx="2240280" cy="867938"/>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연구 대상</a:t>
            </a:r>
          </a:p>
        </p:txBody>
      </p:sp>
      <p:sp>
        <p:nvSpPr>
          <p:cNvPr id="10" name="RULE10"/>
          <p:cNvSpPr/>
          <p:nvPr/>
        </p:nvSpPr>
        <p:spPr>
          <a:xfrm>
            <a:off x="731520" y="2899214"/>
            <a:ext cx="10725912" cy="0"/>
          </a:xfrm>
          <a:prstGeom prst="line">
            <a:avLst/>
          </a:prstGeom>
          <a:ln w="9525">
            <a:solidFill>
              <a:srgbClr val="DCE0E8"/>
            </a:solidFill>
          </a:ln>
        </p:spPr>
        <p:txBody>
          <a:bodyPr/>
          <a:lstStyle/>
          <a:p>
            <a:endParaRPr lang="ko-KR"/>
          </a:p>
        </p:txBody>
      </p:sp>
      <p:sp>
        <p:nvSpPr>
          <p:cNvPr id="11" name="BODY11"/>
          <p:cNvSpPr/>
          <p:nvPr/>
        </p:nvSpPr>
        <p:spPr>
          <a:xfrm>
            <a:off x="3154680" y="3118944"/>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동기강화상담·인지행동치료·개인 및 집단상담을 제공</a:t>
            </a:r>
            <a:r>
              <a:rPr lang="ko-KR" altLang="en-US" sz="1250" b="1" dirty="0">
                <a:solidFill>
                  <a:srgbClr val="222633"/>
                </a:solidFill>
                <a:latin typeface="Pretendard" pitchFamily="34" charset="0"/>
                <a:ea typeface="Pretendard" pitchFamily="34" charset="-122"/>
                <a:cs typeface="Pretendard" pitchFamily="34" charset="-120"/>
              </a:rPr>
              <a:t>했다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당시 과정은 기본 16시간, 집중 26시간, 심화 134시간이었고 2024년 9월까지 마약류 재입소를 확인했다</a:t>
            </a:r>
          </a:p>
        </p:txBody>
      </p:sp>
      <p:sp>
        <p:nvSpPr>
          <p:cNvPr id="12" name="HEAD12"/>
          <p:cNvSpPr/>
          <p:nvPr/>
        </p:nvSpPr>
        <p:spPr>
          <a:xfrm>
            <a:off x="731520" y="2941667"/>
            <a:ext cx="2240280" cy="867938"/>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교육 내용</a:t>
            </a:r>
          </a:p>
        </p:txBody>
      </p:sp>
      <p:sp>
        <p:nvSpPr>
          <p:cNvPr id="13" name="RULE13"/>
          <p:cNvSpPr/>
          <p:nvPr/>
        </p:nvSpPr>
        <p:spPr>
          <a:xfrm>
            <a:off x="731520" y="3838996"/>
            <a:ext cx="10725912" cy="0"/>
          </a:xfrm>
          <a:prstGeom prst="line">
            <a:avLst/>
          </a:prstGeom>
          <a:ln w="9525">
            <a:solidFill>
              <a:srgbClr val="DCE0E8"/>
            </a:solidFill>
          </a:ln>
        </p:spPr>
        <p:txBody>
          <a:bodyPr/>
          <a:lstStyle/>
          <a:p>
            <a:endParaRPr lang="ko-KR"/>
          </a:p>
        </p:txBody>
      </p:sp>
      <p:sp>
        <p:nvSpPr>
          <p:cNvPr id="14" name="BODY14"/>
          <p:cNvSpPr/>
          <p:nvPr/>
        </p:nvSpPr>
        <p:spPr>
          <a:xfrm>
            <a:off x="3154680" y="4078321"/>
            <a:ext cx="8302752" cy="224790"/>
          </a:xfrm>
          <a:prstGeom prst="rect">
            <a:avLst/>
          </a:prstGeom>
          <a:noFill/>
          <a:ln/>
        </p:spPr>
        <p:txBody>
          <a:bodyPr wrap="square" lIns="0" tIns="0" rIns="0" bIns="0" rtlCol="0" anchor="t"/>
          <a:lstStyle/>
          <a:p>
            <a:pPr marL="0" indent="0">
              <a:lnSpc>
                <a:spcPct val="118000"/>
              </a:lnSpc>
              <a:buNone/>
            </a:pPr>
            <a:r>
              <a:rPr lang="ko-KR" altLang="en-US" sz="1250" b="1" dirty="0" err="1">
                <a:solidFill>
                  <a:srgbClr val="222633"/>
                </a:solidFill>
                <a:highlight>
                  <a:srgbClr val="FFFF00"/>
                </a:highlight>
                <a:latin typeface="Pretendard" pitchFamily="34" charset="0"/>
                <a:ea typeface="Pretendard" pitchFamily="34" charset="-122"/>
                <a:cs typeface="Pretendard" pitchFamily="34" charset="-120"/>
              </a:rPr>
              <a:t>재입소</a:t>
            </a: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 수준은 낮은 방향</a:t>
            </a:r>
            <a:r>
              <a:rPr lang="ko-KR" altLang="en-US" sz="1250" b="1" dirty="0">
                <a:solidFill>
                  <a:srgbClr val="222633"/>
                </a:solidFill>
                <a:latin typeface="Pretendard" pitchFamily="34" charset="0"/>
                <a:ea typeface="Pretendard" pitchFamily="34" charset="-122"/>
                <a:cs typeface="Pretendard" pitchFamily="34" charset="-120"/>
              </a:rPr>
              <a:t>이었으나 통계적으로 유의한 차이는 확인되지 않았다</a:t>
            </a:r>
          </a:p>
        </p:txBody>
      </p:sp>
      <p:sp>
        <p:nvSpPr>
          <p:cNvPr id="15" name="HEAD15"/>
          <p:cNvSpPr/>
          <p:nvPr/>
        </p:nvSpPr>
        <p:spPr>
          <a:xfrm>
            <a:off x="731520" y="3901045"/>
            <a:ext cx="2240280" cy="606623"/>
          </a:xfrm>
          <a:prstGeom prst="rect">
            <a:avLst/>
          </a:prstGeom>
          <a:noFill/>
          <a:ln/>
        </p:spPr>
        <p:txBody>
          <a:bodyPr wrap="square" lIns="0" tIns="0" rIns="0" bIns="0" rtlCol="0" anchor="ctr"/>
          <a:lstStyle/>
          <a:p>
            <a:pPr marL="0" indent="0" algn="ctr">
              <a:lnSpc>
                <a:spcPct val="118000"/>
              </a:lnSpc>
              <a:buNone/>
            </a:pPr>
            <a:r>
              <a:rPr lang="ko-KR" altLang="en-US" sz="1300" b="1" dirty="0" err="1">
                <a:solidFill>
                  <a:srgbClr val="1E2761"/>
                </a:solidFill>
                <a:latin typeface="Pretendard" pitchFamily="34" charset="0"/>
                <a:ea typeface="Pretendard" pitchFamily="34" charset="-122"/>
                <a:cs typeface="Pretendard" pitchFamily="34" charset="-120"/>
              </a:rPr>
              <a:t>재입소</a:t>
            </a:r>
            <a:r>
              <a:rPr lang="ko-KR" altLang="en-US" sz="1300" b="1" dirty="0">
                <a:solidFill>
                  <a:srgbClr val="1E2761"/>
                </a:solidFill>
                <a:latin typeface="Pretendard" pitchFamily="34" charset="0"/>
                <a:ea typeface="Pretendard" pitchFamily="34" charset="-122"/>
                <a:cs typeface="Pretendard" pitchFamily="34" charset="-120"/>
              </a:rPr>
              <a:t> 여부만 고려</a:t>
            </a:r>
          </a:p>
        </p:txBody>
      </p:sp>
      <p:sp>
        <p:nvSpPr>
          <p:cNvPr id="16" name="RULE16"/>
          <p:cNvSpPr/>
          <p:nvPr/>
        </p:nvSpPr>
        <p:spPr>
          <a:xfrm>
            <a:off x="731520" y="4569711"/>
            <a:ext cx="10725912" cy="0"/>
          </a:xfrm>
          <a:prstGeom prst="line">
            <a:avLst/>
          </a:prstGeom>
          <a:ln w="9525">
            <a:solidFill>
              <a:srgbClr val="DCE0E8"/>
            </a:solidFill>
          </a:ln>
        </p:spPr>
        <p:txBody>
          <a:bodyPr/>
          <a:lstStyle/>
          <a:p>
            <a:endParaRPr lang="ko-KR"/>
          </a:p>
        </p:txBody>
      </p:sp>
      <p:sp>
        <p:nvSpPr>
          <p:cNvPr id="17" name="BODY17"/>
          <p:cNvSpPr/>
          <p:nvPr/>
        </p:nvSpPr>
        <p:spPr>
          <a:xfrm>
            <a:off x="3154680" y="4691470"/>
            <a:ext cx="8302752" cy="774395"/>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연령·범죄경력 등을 고려한 뒤 일정 기간까지 </a:t>
            </a: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재입소 위험이 약 19.5% 낮았다</a:t>
            </a:r>
          </a:p>
          <a:p>
            <a:pPr marL="0" indent="0">
              <a:lnSpc>
                <a:spcPct val="118000"/>
              </a:lnSpc>
              <a:spcAft>
                <a:spcPts val="500"/>
              </a:spcAft>
              <a:buNone/>
            </a:pPr>
            <a:r>
              <a:rPr lang="ko-KR" altLang="en-US" sz="1150" dirty="0">
                <a:solidFill>
                  <a:srgbClr val="464D5C"/>
                </a:solidFill>
                <a:latin typeface="Pretendard" pitchFamily="34" charset="0"/>
                <a:ea typeface="Pretendard" pitchFamily="34" charset="-122"/>
                <a:cs typeface="Pretendard" pitchFamily="34" charset="-120"/>
              </a:rPr>
              <a:t>교육시간이 길수록 결과가 좋아진다는 관계는 확인되지 않았다</a:t>
            </a:r>
          </a:p>
          <a:p>
            <a:pPr marL="0" indent="0">
              <a:lnSpc>
                <a:spcPct val="118000"/>
              </a:lnSpc>
              <a:buNone/>
            </a:pPr>
            <a:r>
              <a:rPr lang="ko-KR" altLang="en-US" sz="1200" dirty="0">
                <a:solidFill>
                  <a:srgbClr val="A8871C"/>
                </a:solidFill>
                <a:latin typeface="Pretendard" pitchFamily="34" charset="0"/>
                <a:ea typeface="Pretendard" pitchFamily="34" charset="-122"/>
                <a:cs typeface="Pretendard" pitchFamily="34" charset="-120"/>
              </a:rPr>
              <a:t>성인 출소자 연구이다</a:t>
            </a:r>
          </a:p>
        </p:txBody>
      </p:sp>
      <p:sp>
        <p:nvSpPr>
          <p:cNvPr id="18" name="HEAD18"/>
          <p:cNvSpPr/>
          <p:nvPr/>
        </p:nvSpPr>
        <p:spPr>
          <a:xfrm>
            <a:off x="731520" y="4735665"/>
            <a:ext cx="2240280" cy="677955"/>
          </a:xfrm>
          <a:prstGeom prst="rect">
            <a:avLst/>
          </a:prstGeom>
          <a:noFill/>
          <a:ln/>
        </p:spPr>
        <p:txBody>
          <a:bodyPr wrap="square" lIns="0" tIns="0" rIns="0" bIns="0" rtlCol="0" anchor="ctr"/>
          <a:lstStyle/>
          <a:p>
            <a:pPr marL="0" indent="0" algn="ctr">
              <a:lnSpc>
                <a:spcPct val="118000"/>
              </a:lnSpc>
              <a:buNone/>
            </a:pPr>
            <a:r>
              <a:rPr lang="ko-KR" altLang="en-US" sz="1300" b="1" dirty="0" err="1">
                <a:solidFill>
                  <a:srgbClr val="1E2761"/>
                </a:solidFill>
                <a:latin typeface="Pretendard" pitchFamily="34" charset="0"/>
                <a:ea typeface="Pretendard" pitchFamily="34" charset="-122"/>
                <a:cs typeface="Pretendard" pitchFamily="34" charset="-120"/>
              </a:rPr>
              <a:t>재입소</a:t>
            </a:r>
            <a:r>
              <a:rPr lang="ko-KR" altLang="en-US" sz="1300" b="1" dirty="0">
                <a:solidFill>
                  <a:srgbClr val="1E2761"/>
                </a:solidFill>
                <a:latin typeface="Pretendard" pitchFamily="34" charset="0"/>
                <a:ea typeface="Pretendard" pitchFamily="34" charset="-122"/>
                <a:cs typeface="Pretendard" pitchFamily="34" charset="-120"/>
              </a:rPr>
              <a:t> 시점까지 고려</a:t>
            </a:r>
          </a:p>
        </p:txBody>
      </p:sp>
      <p:sp>
        <p:nvSpPr>
          <p:cNvPr id="19" name="RULE19"/>
          <p:cNvSpPr/>
          <p:nvPr/>
        </p:nvSpPr>
        <p:spPr>
          <a:xfrm>
            <a:off x="731520" y="5547136"/>
            <a:ext cx="10725912" cy="0"/>
          </a:xfrm>
          <a:prstGeom prst="line">
            <a:avLst/>
          </a:prstGeom>
          <a:ln w="9525">
            <a:solidFill>
              <a:srgbClr val="DCE0E8"/>
            </a:solidFill>
          </a:ln>
        </p:spPr>
        <p:txBody>
          <a:bodyPr/>
          <a:lstStyle/>
          <a:p>
            <a:endParaRPr lang="ko-KR"/>
          </a:p>
        </p:txBody>
      </p:sp>
      <p:sp>
        <p:nvSpPr>
          <p:cNvPr id="20" name="CLOSE20"/>
          <p:cNvSpPr/>
          <p:nvPr/>
        </p:nvSpPr>
        <p:spPr>
          <a:xfrm>
            <a:off x="731520" y="5680653"/>
            <a:ext cx="10725912" cy="604918"/>
          </a:xfrm>
          <a:prstGeom prst="rect">
            <a:avLst/>
          </a:prstGeom>
          <a:solidFill>
            <a:schemeClr val="accent1">
              <a:lumMod val="20000"/>
              <a:lumOff val="80000"/>
            </a:schemeClr>
          </a:solidFill>
          <a:ln/>
        </p:spPr>
        <p:txBody>
          <a:bodyPr wrap="square" lIns="0" tIns="0" rIns="0" bIns="0" rtlCol="0" anchor="ctr"/>
          <a:lstStyle/>
          <a:p>
            <a:pPr algn="ctr">
              <a:lnSpc>
                <a:spcPct val="118000"/>
              </a:lnSpc>
            </a:pPr>
            <a:r>
              <a:rPr lang="ko-KR" altLang="en-US" sz="1250" b="1" dirty="0">
                <a:solidFill>
                  <a:srgbClr val="002060"/>
                </a:solidFill>
                <a:latin typeface="Pretendard" pitchFamily="34" charset="0"/>
                <a:ea typeface="Pretendard" pitchFamily="34" charset="-122"/>
                <a:cs typeface="Pretendard" pitchFamily="34" charset="-120"/>
              </a:rPr>
              <a:t>재활교육 이수의 긍정적 관련성은 </a:t>
            </a:r>
            <a:r>
              <a:rPr lang="ko-KR" altLang="en-US" sz="1250" b="1" dirty="0" err="1">
                <a:solidFill>
                  <a:srgbClr val="002060"/>
                </a:solidFill>
                <a:latin typeface="Pretendard" pitchFamily="34" charset="0"/>
                <a:ea typeface="Pretendard" pitchFamily="34" charset="-122"/>
                <a:cs typeface="Pretendard" pitchFamily="34" charset="-120"/>
              </a:rPr>
              <a:t>재입소</a:t>
            </a:r>
            <a:r>
              <a:rPr lang="ko-KR" altLang="en-US" sz="1250" b="1" dirty="0">
                <a:solidFill>
                  <a:srgbClr val="002060"/>
                </a:solidFill>
                <a:latin typeface="Pretendard" pitchFamily="34" charset="0"/>
                <a:ea typeface="Pretendard" pitchFamily="34" charset="-122"/>
                <a:cs typeface="Pretendard" pitchFamily="34" charset="-120"/>
              </a:rPr>
              <a:t> 시점을 고려한 분석에서 확인되었지만</a:t>
            </a:r>
            <a:r>
              <a:rPr lang="en-US" altLang="ko-KR" sz="1250" b="1" dirty="0">
                <a:solidFill>
                  <a:srgbClr val="002060"/>
                </a:solidFill>
                <a:latin typeface="Pretendard" pitchFamily="34" charset="0"/>
                <a:ea typeface="Pretendard" pitchFamily="34" charset="-122"/>
                <a:cs typeface="Pretendard" pitchFamily="34" charset="-120"/>
              </a:rPr>
              <a:t>, </a:t>
            </a:r>
            <a:r>
              <a:rPr lang="ko-KR" altLang="en-US" sz="1250" b="1" dirty="0" err="1">
                <a:solidFill>
                  <a:srgbClr val="002060"/>
                </a:solidFill>
                <a:latin typeface="Pretendard" pitchFamily="34" charset="0"/>
                <a:ea typeface="Pretendard" pitchFamily="34" charset="-122"/>
                <a:cs typeface="Pretendard" pitchFamily="34" charset="-120"/>
              </a:rPr>
              <a:t>재입소</a:t>
            </a:r>
            <a:r>
              <a:rPr lang="ko-KR" altLang="en-US" sz="1250" b="1" dirty="0">
                <a:solidFill>
                  <a:srgbClr val="002060"/>
                </a:solidFill>
                <a:latin typeface="Pretendard" pitchFamily="34" charset="0"/>
                <a:ea typeface="Pretendard" pitchFamily="34" charset="-122"/>
                <a:cs typeface="Pretendard" pitchFamily="34" charset="-120"/>
              </a:rPr>
              <a:t> 여부와 교육시간 증가에서는 뚜렷한 결과가 확인되지 않았다</a:t>
            </a:r>
            <a:r>
              <a:rPr lang="en-US" altLang="ko-KR" sz="1250" b="1" dirty="0">
                <a:solidFill>
                  <a:srgbClr val="002060"/>
                </a:solidFill>
                <a:latin typeface="Pretendard" pitchFamily="34" charset="0"/>
                <a:ea typeface="Pretendard" pitchFamily="34" charset="-122"/>
                <a:cs typeface="Pretendard" pitchFamily="34" charset="-120"/>
              </a:rPr>
              <a:t>.</a:t>
            </a:r>
            <a:endParaRPr lang="ko-KR" altLang="en-US" sz="1250" b="1" dirty="0">
              <a:solidFill>
                <a:srgbClr val="002060"/>
              </a:solidFill>
              <a:latin typeface="Pretendard" pitchFamily="34" charset="0"/>
              <a:ea typeface="Pretendard" pitchFamily="34" charset="-122"/>
              <a:cs typeface="Pretendard" pitchFamily="34" charset="-12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6. 형사처벌과 치료·재활의 효과</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구금 이후의 재범·교육 결과</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소년사법의 공식 처리와 이후 비행</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공식 소년사법 처리가 다른 처리 경로보다 이후 비행을 줄인다는 일관된 결과는 나타나지 않았다</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BODY8"/>
          <p:cNvSpPr/>
          <p:nvPr/>
        </p:nvSpPr>
        <p:spPr>
          <a:xfrm>
            <a:off x="3154680" y="2212716"/>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Petrosino 외(2010) · 17세 이하 대상의 실험 29개 · 총 7,304명</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1973~2008년 발표 · 미국 27개, 호주 2개 연구</a:t>
            </a:r>
          </a:p>
        </p:txBody>
      </p:sp>
      <p:sp>
        <p:nvSpPr>
          <p:cNvPr id="9" name="HEAD9"/>
          <p:cNvSpPr/>
          <p:nvPr/>
        </p:nvSpPr>
        <p:spPr>
          <a:xfrm>
            <a:off x="731520" y="2034540"/>
            <a:ext cx="2240280" cy="869737"/>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연구 범위</a:t>
            </a:r>
          </a:p>
        </p:txBody>
      </p:sp>
      <p:sp>
        <p:nvSpPr>
          <p:cNvPr id="10" name="RULE10"/>
          <p:cNvSpPr/>
          <p:nvPr/>
        </p:nvSpPr>
        <p:spPr>
          <a:xfrm>
            <a:off x="731520" y="2927137"/>
            <a:ext cx="10725912" cy="0"/>
          </a:xfrm>
          <a:prstGeom prst="line">
            <a:avLst/>
          </a:prstGeom>
          <a:ln w="9525">
            <a:solidFill>
              <a:srgbClr val="DCE0E8"/>
            </a:solidFill>
          </a:ln>
        </p:spPr>
        <p:txBody>
          <a:bodyPr/>
          <a:lstStyle/>
          <a:p>
            <a:endParaRPr lang="ko-KR"/>
          </a:p>
        </p:txBody>
      </p:sp>
      <p:sp>
        <p:nvSpPr>
          <p:cNvPr id="11" name="BODY11"/>
          <p:cNvSpPr/>
          <p:nvPr/>
        </p:nvSpPr>
        <p:spPr>
          <a:xfrm>
            <a:off x="3154680" y="3082453"/>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공식 처리를 계속한 집단과 절차 밖으로 전환한 집단</a:t>
            </a:r>
            <a:r>
              <a:rPr lang="en-US" altLang="ko-KR" sz="1250" b="1" dirty="0">
                <a:solidFill>
                  <a:srgbClr val="222633"/>
                </a:solidFill>
                <a:highlight>
                  <a:srgbClr val="FFFF00"/>
                </a:highlight>
                <a:latin typeface="Pretendard" pitchFamily="34" charset="0"/>
                <a:ea typeface="Pretendard" pitchFamily="34" charset="-122"/>
                <a:cs typeface="Pretendard" pitchFamily="34" charset="-120"/>
              </a:rPr>
              <a:t>(</a:t>
            </a:r>
            <a:r>
              <a:rPr lang="ko-KR" altLang="en-US" sz="1250" b="1" dirty="0" err="1">
                <a:solidFill>
                  <a:srgbClr val="222633"/>
                </a:solidFill>
                <a:highlight>
                  <a:srgbClr val="FFFF00"/>
                </a:highlight>
                <a:latin typeface="Pretendard" pitchFamily="34" charset="0"/>
                <a:ea typeface="Pretendard" pitchFamily="34" charset="-122"/>
                <a:cs typeface="Pretendard" pitchFamily="34" charset="-120"/>
              </a:rPr>
              <a:t>다이버전</a:t>
            </a: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 집단</a:t>
            </a:r>
            <a:r>
              <a:rPr lang="en-US" altLang="ko-KR" sz="1250" b="1" dirty="0">
                <a:solidFill>
                  <a:srgbClr val="222633"/>
                </a:solidFill>
                <a:highlight>
                  <a:srgbClr val="FFFF00"/>
                </a:highlight>
                <a:latin typeface="Pretendard" pitchFamily="34" charset="0"/>
                <a:ea typeface="Pretendard" pitchFamily="34" charset="-122"/>
                <a:cs typeface="Pretendard" pitchFamily="34" charset="-120"/>
              </a:rPr>
              <a:t>)</a:t>
            </a: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의 이후 비행을 비교</a:t>
            </a:r>
            <a:r>
              <a:rPr lang="ko-KR" altLang="en-US" sz="1250" b="1" dirty="0">
                <a:solidFill>
                  <a:srgbClr val="222633"/>
                </a:solidFill>
                <a:latin typeface="Pretendard" pitchFamily="34" charset="0"/>
                <a:ea typeface="Pretendard" pitchFamily="34" charset="-122"/>
                <a:cs typeface="Pretendard" pitchFamily="34" charset="-120"/>
              </a:rPr>
              <a:t>했다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전환된 집단이 받은 지원의 내용은 연구마다 달랐다</a:t>
            </a:r>
          </a:p>
        </p:txBody>
      </p:sp>
      <p:sp>
        <p:nvSpPr>
          <p:cNvPr id="12" name="HEAD12"/>
          <p:cNvSpPr/>
          <p:nvPr/>
        </p:nvSpPr>
        <p:spPr>
          <a:xfrm>
            <a:off x="731520" y="2904277"/>
            <a:ext cx="2240280" cy="869737"/>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무엇을 비교했는가</a:t>
            </a:r>
          </a:p>
        </p:txBody>
      </p:sp>
      <p:sp>
        <p:nvSpPr>
          <p:cNvPr id="13" name="RULE13"/>
          <p:cNvSpPr/>
          <p:nvPr/>
        </p:nvSpPr>
        <p:spPr>
          <a:xfrm>
            <a:off x="731520" y="3796873"/>
            <a:ext cx="10725912" cy="0"/>
          </a:xfrm>
          <a:prstGeom prst="line">
            <a:avLst/>
          </a:prstGeom>
          <a:ln w="9525">
            <a:solidFill>
              <a:srgbClr val="DCE0E8"/>
            </a:solidFill>
          </a:ln>
        </p:spPr>
        <p:txBody>
          <a:bodyPr/>
          <a:lstStyle/>
          <a:p>
            <a:endParaRPr lang="ko-KR"/>
          </a:p>
        </p:txBody>
      </p:sp>
      <p:sp>
        <p:nvSpPr>
          <p:cNvPr id="14" name="BODY14"/>
          <p:cNvSpPr/>
          <p:nvPr/>
        </p:nvSpPr>
        <p:spPr>
          <a:xfrm>
            <a:off x="3154680" y="3952189"/>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공식 사법 처리와 다른 경로로 보내는 처리를 비교했다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다른 경로에는 서비스를 제공한 경우와 별도 서비스를 제공하지 않은 경우가 모두 포함됐다</a:t>
            </a:r>
          </a:p>
        </p:txBody>
      </p:sp>
      <p:sp>
        <p:nvSpPr>
          <p:cNvPr id="15" name="HEAD15"/>
          <p:cNvSpPr/>
          <p:nvPr/>
        </p:nvSpPr>
        <p:spPr>
          <a:xfrm>
            <a:off x="731520" y="3774013"/>
            <a:ext cx="2240280" cy="869737"/>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함께 살핀 처리 경로</a:t>
            </a:r>
          </a:p>
        </p:txBody>
      </p:sp>
      <p:sp>
        <p:nvSpPr>
          <p:cNvPr id="16" name="RULE16"/>
          <p:cNvSpPr/>
          <p:nvPr/>
        </p:nvSpPr>
        <p:spPr>
          <a:xfrm>
            <a:off x="731520" y="4666610"/>
            <a:ext cx="10725912" cy="0"/>
          </a:xfrm>
          <a:prstGeom prst="line">
            <a:avLst/>
          </a:prstGeom>
          <a:ln w="9525">
            <a:solidFill>
              <a:srgbClr val="DCE0E8"/>
            </a:solidFill>
          </a:ln>
        </p:spPr>
        <p:txBody>
          <a:bodyPr/>
          <a:lstStyle/>
          <a:p>
            <a:endParaRPr lang="ko-KR"/>
          </a:p>
        </p:txBody>
      </p:sp>
      <p:sp>
        <p:nvSpPr>
          <p:cNvPr id="17" name="BODY17"/>
          <p:cNvSpPr/>
          <p:nvPr/>
        </p:nvSpPr>
        <p:spPr>
          <a:xfrm>
            <a:off x="3154680" y="4821926"/>
            <a:ext cx="8302752" cy="504088"/>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초기 관찰의 차이는 통계적으로 유의하지 않았고, 마지막 관찰에서는 </a:t>
            </a: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공식 처리 쪽의 비행이 더 많은 방향이 나타났다</a:t>
            </a:r>
          </a:p>
          <a:p>
            <a:pPr marL="0" indent="0">
              <a:lnSpc>
                <a:spcPct val="118000"/>
              </a:lnSpc>
              <a:buNone/>
            </a:pPr>
            <a:r>
              <a:rPr lang="ko-KR" altLang="en-US" sz="1200" dirty="0">
                <a:solidFill>
                  <a:srgbClr val="A8871C"/>
                </a:solidFill>
                <a:latin typeface="Pretendard" pitchFamily="34" charset="0"/>
                <a:ea typeface="Pretendard" pitchFamily="34" charset="-122"/>
                <a:cs typeface="Pretendard" pitchFamily="34" charset="-120"/>
              </a:rPr>
              <a:t>다양한 소년사건의 연구이며 마약류 투약·사용 청소년만을 비교하거나 치료 프로그램과 구금을 비교한 결과가 아니다</a:t>
            </a:r>
          </a:p>
        </p:txBody>
      </p:sp>
      <p:sp>
        <p:nvSpPr>
          <p:cNvPr id="18" name="HEAD18"/>
          <p:cNvSpPr/>
          <p:nvPr/>
        </p:nvSpPr>
        <p:spPr>
          <a:xfrm>
            <a:off x="731520" y="4643750"/>
            <a:ext cx="2240280" cy="878728"/>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이후 비행</a:t>
            </a:r>
          </a:p>
        </p:txBody>
      </p:sp>
      <p:sp>
        <p:nvSpPr>
          <p:cNvPr id="19" name="RULE19"/>
          <p:cNvSpPr/>
          <p:nvPr/>
        </p:nvSpPr>
        <p:spPr>
          <a:xfrm>
            <a:off x="731520" y="5545338"/>
            <a:ext cx="10725912" cy="0"/>
          </a:xfrm>
          <a:prstGeom prst="line">
            <a:avLst/>
          </a:prstGeom>
          <a:ln w="9525">
            <a:solidFill>
              <a:srgbClr val="DCE0E8"/>
            </a:solidFill>
          </a:ln>
        </p:spPr>
        <p:txBody>
          <a:bodyPr/>
          <a:lstStyle/>
          <a:p>
            <a:endParaRPr lang="ko-KR"/>
          </a:p>
        </p:txBody>
      </p:sp>
      <p:sp>
        <p:nvSpPr>
          <p:cNvPr id="20" name="CLOSE20"/>
          <p:cNvSpPr/>
          <p:nvPr/>
        </p:nvSpPr>
        <p:spPr>
          <a:xfrm>
            <a:off x="731520" y="5545338"/>
            <a:ext cx="10725912" cy="599430"/>
          </a:xfrm>
          <a:prstGeom prst="rect">
            <a:avLst/>
          </a:prstGeom>
          <a:solidFill>
            <a:schemeClr val="accent1">
              <a:lumMod val="20000"/>
              <a:lumOff val="80000"/>
            </a:schemeClr>
          </a:solidFill>
          <a:ln/>
        </p:spPr>
        <p:txBody>
          <a:bodyPr wrap="square" lIns="0" tIns="0" rIns="0" bIns="0" rtlCol="0" anchor="ctr"/>
          <a:lstStyle/>
          <a:p>
            <a:pPr algn="ctr">
              <a:lnSpc>
                <a:spcPct val="118000"/>
              </a:lnSpc>
            </a:pPr>
            <a:r>
              <a:rPr lang="ko-KR" altLang="en-US" sz="1250" b="1" dirty="0">
                <a:solidFill>
                  <a:schemeClr val="accent1">
                    <a:lumMod val="50000"/>
                  </a:schemeClr>
                </a:solidFill>
                <a:latin typeface="Pretendard" pitchFamily="34" charset="0"/>
                <a:ea typeface="Pretendard" pitchFamily="34" charset="-122"/>
                <a:cs typeface="Pretendard" pitchFamily="34" charset="-120"/>
              </a:rPr>
              <a:t>공식 사법처리의 비행 억제 효과는 확인되지 않았고</a:t>
            </a:r>
            <a:r>
              <a:rPr lang="en-US" altLang="ko-KR" sz="1250" b="1" dirty="0">
                <a:solidFill>
                  <a:schemeClr val="accent1">
                    <a:lumMod val="50000"/>
                  </a:schemeClr>
                </a:solidFill>
                <a:latin typeface="Pretendard" pitchFamily="34" charset="0"/>
                <a:ea typeface="Pretendard" pitchFamily="34" charset="-122"/>
                <a:cs typeface="Pretendard" pitchFamily="34" charset="-120"/>
              </a:rPr>
              <a:t>, </a:t>
            </a:r>
            <a:r>
              <a:rPr lang="ko-KR" altLang="en-US" sz="1250" b="1" dirty="0">
                <a:solidFill>
                  <a:schemeClr val="accent1">
                    <a:lumMod val="50000"/>
                  </a:schemeClr>
                </a:solidFill>
                <a:latin typeface="Pretendard" pitchFamily="34" charset="0"/>
                <a:ea typeface="Pretendard" pitchFamily="34" charset="-122"/>
                <a:cs typeface="Pretendard" pitchFamily="34" charset="-120"/>
              </a:rPr>
              <a:t>오히려 이후 비행이 많아지는 경향이 나타났다</a:t>
            </a:r>
            <a:r>
              <a:rPr lang="en-US" altLang="ko-KR" sz="1250" b="1" dirty="0">
                <a:solidFill>
                  <a:schemeClr val="accent1">
                    <a:lumMod val="50000"/>
                  </a:schemeClr>
                </a:solidFill>
                <a:latin typeface="Pretendard" pitchFamily="34" charset="0"/>
                <a:ea typeface="Pretendard" pitchFamily="34" charset="-122"/>
                <a:cs typeface="Pretendard" pitchFamily="34" charset="-120"/>
              </a:rPr>
              <a:t>. </a:t>
            </a:r>
            <a:endParaRPr lang="ko-KR" altLang="en-US" sz="1250" b="1" dirty="0">
              <a:solidFill>
                <a:schemeClr val="accent1">
                  <a:lumMod val="50000"/>
                </a:schemeClr>
              </a:solidFill>
              <a:latin typeface="Pretendard" pitchFamily="34" charset="0"/>
              <a:ea typeface="Pretendard" pitchFamily="34" charset="-122"/>
              <a:cs typeface="Pretendard" pitchFamily="34" charset="-120"/>
            </a:endParaRPr>
          </a:p>
        </p:txBody>
      </p:sp>
      <p:sp>
        <p:nvSpPr>
          <p:cNvPr id="21" name="RULE21"/>
          <p:cNvSpPr/>
          <p:nvPr/>
        </p:nvSpPr>
        <p:spPr>
          <a:xfrm>
            <a:off x="731520" y="6144768"/>
            <a:ext cx="10725912" cy="0"/>
          </a:xfrm>
          <a:prstGeom prst="line">
            <a:avLst/>
          </a:prstGeom>
          <a:ln w="9525">
            <a:solidFill>
              <a:srgbClr val="DCE0E8"/>
            </a:solidFill>
          </a:ln>
        </p:spPr>
        <p:txBody>
          <a:bodyPr/>
          <a:lstStyle/>
          <a:p>
            <a:endParaRPr lang="ko-K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274320"/>
            <a:ext cx="6949440" cy="292608"/>
          </a:xfrm>
          <a:prstGeom prst="rect">
            <a:avLst/>
          </a:prstGeom>
          <a:noFill/>
          <a:ln/>
        </p:spPr>
        <p:txBody>
          <a:bodyPr wrap="square" lIns="0" tIns="0" rIns="0" bIns="0" rtlCol="0" anchor="ctr"/>
          <a:lstStyle/>
          <a:p>
            <a:pPr marL="0" indent="0">
              <a:buNone/>
            </a:pPr>
            <a:r>
              <a:rPr lang="en-US" sz="1250" b="1" kern="0" spc="200" dirty="0">
                <a:solidFill>
                  <a:srgbClr val="464D5C"/>
                </a:solidFill>
                <a:latin typeface="Pretendard" pitchFamily="34" charset="0"/>
                <a:ea typeface="Pretendard" pitchFamily="34" charset="-122"/>
                <a:cs typeface="Pretendard" pitchFamily="34" charset="-120"/>
              </a:rPr>
              <a:t>6. 형사처벌과 치료·재활의 효과</a:t>
            </a:r>
            <a:endParaRPr lang="en-US" sz="1250" dirty="0"/>
          </a:p>
        </p:txBody>
      </p:sp>
      <p:sp>
        <p:nvSpPr>
          <p:cNvPr id="3" name="Text 1"/>
          <p:cNvSpPr/>
          <p:nvPr/>
        </p:nvSpPr>
        <p:spPr>
          <a:xfrm>
            <a:off x="7223760" y="274320"/>
            <a:ext cx="4233672" cy="292608"/>
          </a:xfrm>
          <a:prstGeom prst="rect">
            <a:avLst/>
          </a:prstGeom>
          <a:noFill/>
          <a:ln/>
        </p:spPr>
        <p:txBody>
          <a:bodyPr wrap="square" lIns="0" tIns="0" rIns="0" bIns="0" rtlCol="0" anchor="ctr"/>
          <a:lstStyle/>
          <a:p>
            <a:pPr marL="0" indent="0" algn="r">
              <a:buNone/>
            </a:pPr>
            <a:r>
              <a:rPr lang="en-US" sz="1050" dirty="0">
                <a:solidFill>
                  <a:srgbClr val="6E7686"/>
                </a:solidFill>
                <a:latin typeface="Pretendard" pitchFamily="34" charset="0"/>
                <a:ea typeface="Pretendard" pitchFamily="34" charset="-122"/>
                <a:cs typeface="Pretendard" pitchFamily="34" charset="-120"/>
              </a:rPr>
              <a:t>다음 → 국내 교정시설의 재활교육</a:t>
            </a:r>
            <a:endParaRPr lang="en-US" sz="1050" dirty="0"/>
          </a:p>
        </p:txBody>
      </p:sp>
      <p:sp>
        <p:nvSpPr>
          <p:cNvPr id="4" name="Text 2"/>
          <p:cNvSpPr/>
          <p:nvPr/>
        </p:nvSpPr>
        <p:spPr>
          <a:xfrm>
            <a:off x="731520" y="548640"/>
            <a:ext cx="10972800" cy="566928"/>
          </a:xfrm>
          <a:prstGeom prst="rect">
            <a:avLst/>
          </a:prstGeom>
          <a:noFill/>
          <a:ln/>
        </p:spPr>
        <p:txBody>
          <a:bodyPr wrap="square" lIns="0" tIns="0" rIns="0" bIns="0" rtlCol="0" anchor="ctr"/>
          <a:lstStyle/>
          <a:p>
            <a:pPr marL="0" indent="0">
              <a:buNone/>
            </a:pPr>
            <a:r>
              <a:rPr lang="ko-KR" altLang="en-US" sz="2700" b="1" dirty="0">
                <a:solidFill>
                  <a:srgbClr val="1E2761"/>
                </a:solidFill>
                <a:latin typeface="Pretendard" pitchFamily="34" charset="0"/>
                <a:ea typeface="Pretendard" pitchFamily="34" charset="-122"/>
                <a:cs typeface="Pretendard" pitchFamily="34" charset="-120"/>
              </a:rPr>
              <a:t>청소년 </a:t>
            </a:r>
            <a:r>
              <a:rPr lang="en-US" sz="2700" b="1" dirty="0" err="1">
                <a:solidFill>
                  <a:srgbClr val="1E2761"/>
                </a:solidFill>
                <a:latin typeface="Pretendard" pitchFamily="34" charset="0"/>
                <a:ea typeface="Pretendard" pitchFamily="34" charset="-122"/>
                <a:cs typeface="Pretendard" pitchFamily="34" charset="-120"/>
              </a:rPr>
              <a:t>형사제재·구금</a:t>
            </a:r>
            <a:r>
              <a:rPr lang="en-US" sz="2700" b="1" dirty="0">
                <a:solidFill>
                  <a:srgbClr val="1E2761"/>
                </a:solidFill>
                <a:latin typeface="Pretendard" pitchFamily="34" charset="0"/>
                <a:ea typeface="Pretendard" pitchFamily="34" charset="-122"/>
                <a:cs typeface="Pretendard" pitchFamily="34" charset="-120"/>
              </a:rPr>
              <a:t> — 재범 감소와 장기적인 불리한 결과가 함께 있었다</a:t>
            </a:r>
            <a:endParaRPr lang="en-US" sz="2700" dirty="0"/>
          </a:p>
        </p:txBody>
      </p:sp>
      <p:sp>
        <p:nvSpPr>
          <p:cNvPr id="5" name="Shape 3"/>
          <p:cNvSpPr/>
          <p:nvPr/>
        </p:nvSpPr>
        <p:spPr>
          <a:xfrm>
            <a:off x="731520" y="1188720"/>
            <a:ext cx="10698480" cy="0"/>
          </a:xfrm>
          <a:prstGeom prst="line">
            <a:avLst/>
          </a:prstGeom>
          <a:noFill/>
          <a:ln w="12700">
            <a:solidFill>
              <a:srgbClr val="DCE0E8"/>
            </a:solidFill>
            <a:prstDash val="solid"/>
          </a:ln>
        </p:spPr>
        <p:txBody>
          <a:bodyPr/>
          <a:lstStyle/>
          <a:p>
            <a:endParaRPr lang="ko-KR" altLang="en-US"/>
          </a:p>
        </p:txBody>
      </p:sp>
      <p:sp>
        <p:nvSpPr>
          <p:cNvPr id="6" name="Shape 4"/>
          <p:cNvSpPr/>
          <p:nvPr/>
        </p:nvSpPr>
        <p:spPr>
          <a:xfrm>
            <a:off x="731520" y="1413472"/>
            <a:ext cx="10698480" cy="438912"/>
          </a:xfrm>
          <a:prstGeom prst="rect">
            <a:avLst/>
          </a:prstGeom>
          <a:solidFill>
            <a:srgbClr val="F2F4F8"/>
          </a:solidFill>
          <a:ln w="12700">
            <a:solidFill>
              <a:srgbClr val="F2F4F8"/>
            </a:solidFill>
            <a:prstDash val="solid"/>
          </a:ln>
        </p:spPr>
        <p:txBody>
          <a:bodyPr/>
          <a:lstStyle/>
          <a:p>
            <a:endParaRPr lang="ko-KR" altLang="en-US"/>
          </a:p>
        </p:txBody>
      </p:sp>
      <p:sp>
        <p:nvSpPr>
          <p:cNvPr id="7" name="Text 5"/>
          <p:cNvSpPr/>
          <p:nvPr/>
        </p:nvSpPr>
        <p:spPr>
          <a:xfrm>
            <a:off x="987552" y="1413472"/>
            <a:ext cx="10186416" cy="438912"/>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구금 연구에서는 재범이 줄어든 결과와 교육 · 성인기 결과가 나빠진 결과가 함께 보고됐다</a:t>
            </a:r>
            <a:endParaRPr lang="en-US" sz="1250" dirty="0"/>
          </a:p>
        </p:txBody>
      </p:sp>
      <p:sp>
        <p:nvSpPr>
          <p:cNvPr id="8" name="Text 6"/>
          <p:cNvSpPr/>
          <p:nvPr/>
        </p:nvSpPr>
        <p:spPr>
          <a:xfrm>
            <a:off x="731520" y="2227528"/>
            <a:ext cx="5148072" cy="274320"/>
          </a:xfrm>
          <a:prstGeom prst="rect">
            <a:avLst/>
          </a:prstGeom>
          <a:noFill/>
          <a:ln/>
        </p:spPr>
        <p:txBody>
          <a:bodyPr wrap="square" lIns="0" tIns="0" rIns="0" bIns="0" rtlCol="0" anchor="ctr"/>
          <a:lstStyle/>
          <a:p>
            <a:pPr marL="0" indent="0">
              <a:buNone/>
            </a:pPr>
            <a:r>
              <a:rPr lang="en-US" sz="1250" b="1" dirty="0">
                <a:solidFill>
                  <a:srgbClr val="1E2761"/>
                </a:solidFill>
                <a:latin typeface="Pretendard" pitchFamily="34" charset="0"/>
                <a:ea typeface="Pretendard" pitchFamily="34" charset="-122"/>
                <a:cs typeface="Pretendard" pitchFamily="34" charset="-120"/>
              </a:rPr>
              <a:t>특별예방 — 재범</a:t>
            </a:r>
            <a:endParaRPr lang="en-US" sz="1250" dirty="0"/>
          </a:p>
        </p:txBody>
      </p:sp>
      <p:sp>
        <p:nvSpPr>
          <p:cNvPr id="9" name="Shape 7"/>
          <p:cNvSpPr/>
          <p:nvPr/>
        </p:nvSpPr>
        <p:spPr>
          <a:xfrm>
            <a:off x="731520" y="2556712"/>
            <a:ext cx="5148072" cy="1828800"/>
          </a:xfrm>
          <a:prstGeom prst="rect">
            <a:avLst/>
          </a:prstGeom>
          <a:solidFill>
            <a:srgbClr val="FFFFFF"/>
          </a:solidFill>
          <a:ln w="12700">
            <a:solidFill>
              <a:srgbClr val="DCE0E8"/>
            </a:solidFill>
            <a:prstDash val="solid"/>
          </a:ln>
        </p:spPr>
        <p:txBody>
          <a:bodyPr/>
          <a:lstStyle/>
          <a:p>
            <a:endParaRPr lang="ko-KR" altLang="en-US"/>
          </a:p>
        </p:txBody>
      </p:sp>
      <p:sp>
        <p:nvSpPr>
          <p:cNvPr id="10" name="Text 8"/>
          <p:cNvSpPr/>
          <p:nvPr/>
        </p:nvSpPr>
        <p:spPr>
          <a:xfrm>
            <a:off x="969264" y="2648152"/>
            <a:ext cx="4672584" cy="256032"/>
          </a:xfrm>
          <a:prstGeom prst="rect">
            <a:avLst/>
          </a:prstGeom>
          <a:noFill/>
          <a:ln/>
        </p:spPr>
        <p:txBody>
          <a:bodyPr wrap="square" lIns="0" tIns="0" rIns="0" bIns="0" rtlCol="0" anchor="ctr"/>
          <a:lstStyle/>
          <a:p>
            <a:pPr marL="0" indent="0">
              <a:buNone/>
            </a:pPr>
            <a:r>
              <a:rPr lang="en-US" sz="1200" b="1" dirty="0">
                <a:solidFill>
                  <a:srgbClr val="C2A648"/>
                </a:solidFill>
                <a:latin typeface="Pretendard" pitchFamily="34" charset="0"/>
                <a:ea typeface="Pretendard" pitchFamily="34" charset="-122"/>
                <a:cs typeface="Pretendard" pitchFamily="34" charset="-120"/>
              </a:rPr>
              <a:t>Hjalmarsson (2009)</a:t>
            </a:r>
            <a:endParaRPr lang="en-US" sz="1200" dirty="0"/>
          </a:p>
        </p:txBody>
      </p:sp>
      <p:sp>
        <p:nvSpPr>
          <p:cNvPr id="11" name="Text 9"/>
          <p:cNvSpPr/>
          <p:nvPr/>
        </p:nvSpPr>
        <p:spPr>
          <a:xfrm>
            <a:off x="969264" y="2922472"/>
            <a:ext cx="4672584" cy="676656"/>
          </a:xfrm>
          <a:prstGeom prst="rect">
            <a:avLst/>
          </a:prstGeom>
          <a:noFill/>
          <a:ln/>
        </p:spPr>
        <p:txBody>
          <a:bodyPr wrap="square" lIns="0" tIns="0" rIns="0" bIns="0" rtlCol="0" anchor="t"/>
          <a:lstStyle/>
          <a:p>
            <a:pPr marL="0" indent="0">
              <a:lnSpc>
                <a:spcPts val="1800"/>
              </a:lnSpc>
              <a:buNone/>
            </a:pPr>
            <a:r>
              <a:rPr lang="en-US" sz="1200" b="1" dirty="0">
                <a:solidFill>
                  <a:srgbClr val="222633"/>
                </a:solidFill>
                <a:latin typeface="Pretendard" pitchFamily="34" charset="0"/>
                <a:ea typeface="Pretendard" pitchFamily="34" charset="-122"/>
                <a:cs typeface="Pretendard" pitchFamily="34" charset="-120"/>
              </a:rPr>
              <a:t>양형기준 경계에서 </a:t>
            </a:r>
            <a:r>
              <a:rPr lang="en-US" sz="1200" b="1" dirty="0">
                <a:solidFill>
                  <a:srgbClr val="222633"/>
                </a:solidFill>
                <a:highlight>
                  <a:srgbClr val="FFFF00"/>
                </a:highlight>
                <a:latin typeface="Pretendard" pitchFamily="34" charset="0"/>
                <a:ea typeface="Pretendard" pitchFamily="34" charset="-122"/>
                <a:cs typeface="Pretendard" pitchFamily="34" charset="-120"/>
              </a:rPr>
              <a:t>장기 시설구금을 받은 청소년은 석방 뒤 재범 위험이 약 36% 낮게 추정됐다</a:t>
            </a:r>
            <a:endParaRPr lang="en-US" sz="1200" dirty="0">
              <a:highlight>
                <a:srgbClr val="FFFF00"/>
              </a:highlight>
            </a:endParaRPr>
          </a:p>
        </p:txBody>
      </p:sp>
      <p:sp>
        <p:nvSpPr>
          <p:cNvPr id="12" name="Text 10"/>
          <p:cNvSpPr/>
          <p:nvPr/>
        </p:nvSpPr>
        <p:spPr>
          <a:xfrm>
            <a:off x="969264" y="3928312"/>
            <a:ext cx="4672584" cy="384048"/>
          </a:xfrm>
          <a:prstGeom prst="rect">
            <a:avLst/>
          </a:prstGeom>
          <a:noFill/>
          <a:ln/>
        </p:spPr>
        <p:txBody>
          <a:bodyPr wrap="square" lIns="0" tIns="0" rIns="0" bIns="0" rtlCol="0" anchor="t"/>
          <a:lstStyle/>
          <a:p>
            <a:pPr marL="0" indent="0">
              <a:lnSpc>
                <a:spcPts val="1500"/>
              </a:lnSpc>
              <a:buNone/>
            </a:pPr>
            <a:r>
              <a:rPr lang="en-US" sz="1050" dirty="0">
                <a:solidFill>
                  <a:srgbClr val="464D5C"/>
                </a:solidFill>
                <a:latin typeface="Pretendard" pitchFamily="34" charset="0"/>
                <a:ea typeface="Pretendard" pitchFamily="34" charset="-122"/>
                <a:cs typeface="Pretendard" pitchFamily="34" charset="-120"/>
              </a:rPr>
              <a:t>→  </a:t>
            </a:r>
            <a:r>
              <a:rPr lang="en-US" sz="1050" b="1" dirty="0">
                <a:solidFill>
                  <a:srgbClr val="464D5C"/>
                </a:solidFill>
                <a:latin typeface="Pretendard" pitchFamily="34" charset="0"/>
                <a:ea typeface="Pretendard" pitchFamily="34" charset="-122"/>
                <a:cs typeface="Pretendard" pitchFamily="34" charset="-120"/>
              </a:rPr>
              <a:t>형사제재가 그 청소년의 재범을 억제할 가능성을 보여주는 자료</a:t>
            </a:r>
            <a:r>
              <a:rPr lang="en-US" sz="1050" dirty="0">
                <a:solidFill>
                  <a:srgbClr val="464D5C"/>
                </a:solidFill>
                <a:latin typeface="Pretendard" pitchFamily="34" charset="0"/>
                <a:ea typeface="Pretendard" pitchFamily="34" charset="-122"/>
                <a:cs typeface="Pretendard" pitchFamily="34" charset="-120"/>
              </a:rPr>
              <a:t>다</a:t>
            </a:r>
            <a:endParaRPr lang="en-US" sz="1050" dirty="0"/>
          </a:p>
        </p:txBody>
      </p:sp>
      <p:sp>
        <p:nvSpPr>
          <p:cNvPr id="13" name="Text 11"/>
          <p:cNvSpPr/>
          <p:nvPr/>
        </p:nvSpPr>
        <p:spPr>
          <a:xfrm>
            <a:off x="6281928" y="2227528"/>
            <a:ext cx="5148072" cy="274320"/>
          </a:xfrm>
          <a:prstGeom prst="rect">
            <a:avLst/>
          </a:prstGeom>
          <a:noFill/>
          <a:ln/>
        </p:spPr>
        <p:txBody>
          <a:bodyPr wrap="square" lIns="0" tIns="0" rIns="0" bIns="0" rtlCol="0" anchor="ctr"/>
          <a:lstStyle/>
          <a:p>
            <a:pPr marL="0" indent="0">
              <a:buNone/>
            </a:pPr>
            <a:r>
              <a:rPr lang="ko-KR" altLang="en-US" sz="1250" b="1" dirty="0">
                <a:solidFill>
                  <a:srgbClr val="1E2761"/>
                </a:solidFill>
                <a:latin typeface="Pretendard" pitchFamily="34" charset="0"/>
                <a:ea typeface="Pretendard" pitchFamily="34" charset="-122"/>
                <a:cs typeface="Pretendard" pitchFamily="34" charset="-120"/>
              </a:rPr>
              <a:t>장기적인 효과</a:t>
            </a:r>
            <a:endParaRPr lang="en-US" sz="1250" dirty="0"/>
          </a:p>
        </p:txBody>
      </p:sp>
      <p:sp>
        <p:nvSpPr>
          <p:cNvPr id="14" name="Shape 12"/>
          <p:cNvSpPr/>
          <p:nvPr/>
        </p:nvSpPr>
        <p:spPr>
          <a:xfrm>
            <a:off x="6281928" y="2556712"/>
            <a:ext cx="5148072" cy="1828800"/>
          </a:xfrm>
          <a:prstGeom prst="rect">
            <a:avLst/>
          </a:prstGeom>
          <a:solidFill>
            <a:srgbClr val="F2F4F8"/>
          </a:solidFill>
          <a:ln w="12700">
            <a:solidFill>
              <a:srgbClr val="F2F4F8"/>
            </a:solidFill>
            <a:prstDash val="solid"/>
          </a:ln>
        </p:spPr>
        <p:txBody>
          <a:bodyPr/>
          <a:lstStyle/>
          <a:p>
            <a:endParaRPr lang="ko-KR" altLang="en-US"/>
          </a:p>
        </p:txBody>
      </p:sp>
      <p:sp>
        <p:nvSpPr>
          <p:cNvPr id="15" name="Text 13"/>
          <p:cNvSpPr/>
          <p:nvPr/>
        </p:nvSpPr>
        <p:spPr>
          <a:xfrm>
            <a:off x="6519672" y="2648152"/>
            <a:ext cx="4672584" cy="256032"/>
          </a:xfrm>
          <a:prstGeom prst="rect">
            <a:avLst/>
          </a:prstGeom>
          <a:noFill/>
          <a:ln/>
        </p:spPr>
        <p:txBody>
          <a:bodyPr wrap="square" lIns="0" tIns="0" rIns="0" bIns="0" rtlCol="0" anchor="ctr"/>
          <a:lstStyle/>
          <a:p>
            <a:pPr marL="0" indent="0">
              <a:buNone/>
            </a:pPr>
            <a:r>
              <a:rPr lang="en-US" sz="1200" b="1" dirty="0">
                <a:solidFill>
                  <a:srgbClr val="C2A648"/>
                </a:solidFill>
                <a:latin typeface="Pretendard" pitchFamily="34" charset="0"/>
                <a:ea typeface="Pretendard" pitchFamily="34" charset="-122"/>
                <a:cs typeface="Pretendard" pitchFamily="34" charset="-120"/>
              </a:rPr>
              <a:t>Aizer &amp; Doyle (2015)</a:t>
            </a:r>
            <a:endParaRPr lang="en-US" sz="1200" dirty="0"/>
          </a:p>
        </p:txBody>
      </p:sp>
      <p:sp>
        <p:nvSpPr>
          <p:cNvPr id="16" name="Text 14"/>
          <p:cNvSpPr/>
          <p:nvPr/>
        </p:nvSpPr>
        <p:spPr>
          <a:xfrm>
            <a:off x="6519672" y="2922472"/>
            <a:ext cx="4672584" cy="676656"/>
          </a:xfrm>
          <a:prstGeom prst="rect">
            <a:avLst/>
          </a:prstGeom>
          <a:noFill/>
          <a:ln/>
        </p:spPr>
        <p:txBody>
          <a:bodyPr wrap="square" lIns="0" tIns="0" rIns="0" bIns="0" rtlCol="0" anchor="t"/>
          <a:lstStyle/>
          <a:p>
            <a:pPr marL="0" indent="0">
              <a:lnSpc>
                <a:spcPts val="1800"/>
              </a:lnSpc>
              <a:buNone/>
            </a:pPr>
            <a:r>
              <a:rPr lang="en-US" sz="1200" b="1" dirty="0">
                <a:solidFill>
                  <a:srgbClr val="222633"/>
                </a:solidFill>
                <a:highlight>
                  <a:srgbClr val="FFFF00"/>
                </a:highlight>
                <a:latin typeface="Pretendard" pitchFamily="34" charset="0"/>
                <a:ea typeface="Pretendard" pitchFamily="34" charset="-122"/>
                <a:cs typeface="Pretendard" pitchFamily="34" charset="-120"/>
              </a:rPr>
              <a:t>소년구금은 고교 졸업 가능성을 낮추고 25세까지 성인 교정시설에 수감될 가능성을 높인 것으로 추정됐다</a:t>
            </a:r>
            <a:endParaRPr lang="en-US" sz="1200" dirty="0">
              <a:highlight>
                <a:srgbClr val="FFFF00"/>
              </a:highlight>
            </a:endParaRPr>
          </a:p>
        </p:txBody>
      </p:sp>
      <p:sp>
        <p:nvSpPr>
          <p:cNvPr id="17" name="Text 15"/>
          <p:cNvSpPr/>
          <p:nvPr/>
        </p:nvSpPr>
        <p:spPr>
          <a:xfrm>
            <a:off x="6519672" y="3928312"/>
            <a:ext cx="4672584" cy="384048"/>
          </a:xfrm>
          <a:prstGeom prst="rect">
            <a:avLst/>
          </a:prstGeom>
          <a:noFill/>
          <a:ln/>
        </p:spPr>
        <p:txBody>
          <a:bodyPr wrap="square" lIns="0" tIns="0" rIns="0" bIns="0" rtlCol="0" anchor="t"/>
          <a:lstStyle/>
          <a:p>
            <a:pPr>
              <a:lnSpc>
                <a:spcPts val="1500"/>
              </a:lnSpc>
            </a:pPr>
            <a:r>
              <a:rPr lang="en-US" sz="1050" dirty="0">
                <a:solidFill>
                  <a:srgbClr val="464D5C"/>
                </a:solidFill>
                <a:latin typeface="Pretendard" pitchFamily="34" charset="0"/>
                <a:ea typeface="Pretendard" pitchFamily="34" charset="-122"/>
                <a:cs typeface="Pretendard" pitchFamily="34" charset="-120"/>
              </a:rPr>
              <a:t>→  </a:t>
            </a:r>
            <a:r>
              <a:rPr lang="en-US" sz="1050" b="1" dirty="0">
                <a:solidFill>
                  <a:srgbClr val="464D5C"/>
                </a:solidFill>
                <a:latin typeface="Pretendard" pitchFamily="34" charset="0"/>
                <a:ea typeface="Pretendard" pitchFamily="34" charset="-122"/>
                <a:cs typeface="Pretendard" pitchFamily="34" charset="-120"/>
              </a:rPr>
              <a:t>구금의 성과를 재범만으로 </a:t>
            </a:r>
            <a:r>
              <a:rPr lang="en-US" sz="1050" b="1" dirty="0" err="1">
                <a:solidFill>
                  <a:srgbClr val="464D5C"/>
                </a:solidFill>
                <a:latin typeface="Pretendard" pitchFamily="34" charset="0"/>
                <a:ea typeface="Pretendard" pitchFamily="34" charset="-122"/>
                <a:cs typeface="Pretendard" pitchFamily="34" charset="-120"/>
              </a:rPr>
              <a:t>평가하면</a:t>
            </a:r>
            <a:r>
              <a:rPr lang="en-US" sz="1050" b="1" dirty="0">
                <a:solidFill>
                  <a:srgbClr val="464D5C"/>
                </a:solidFill>
                <a:latin typeface="Pretendard" pitchFamily="34" charset="0"/>
                <a:ea typeface="Pretendard" pitchFamily="34" charset="-122"/>
                <a:cs typeface="Pretendard" pitchFamily="34" charset="-120"/>
              </a:rPr>
              <a:t> </a:t>
            </a:r>
            <a:r>
              <a:rPr lang="en-US" sz="1050" b="1" dirty="0" err="1">
                <a:solidFill>
                  <a:srgbClr val="464D5C"/>
                </a:solidFill>
                <a:latin typeface="Pretendard" pitchFamily="34" charset="0"/>
                <a:ea typeface="Pretendard" pitchFamily="34" charset="-122"/>
                <a:cs typeface="Pretendard" pitchFamily="34" charset="-120"/>
              </a:rPr>
              <a:t>교육</a:t>
            </a:r>
            <a:r>
              <a:rPr lang="en-US" sz="1050" b="1" dirty="0">
                <a:solidFill>
                  <a:srgbClr val="464D5C"/>
                </a:solidFill>
                <a:latin typeface="Pretendard" pitchFamily="34" charset="0"/>
                <a:ea typeface="Pretendard" pitchFamily="34" charset="-122"/>
                <a:cs typeface="Pretendard" pitchFamily="34" charset="-120"/>
              </a:rPr>
              <a:t>·</a:t>
            </a:r>
            <a:r>
              <a:rPr lang="ko-KR" altLang="en-US" sz="1050" b="1" dirty="0">
                <a:solidFill>
                  <a:srgbClr val="464D5C"/>
                </a:solidFill>
                <a:latin typeface="Pretendard" pitchFamily="34" charset="0"/>
                <a:ea typeface="Pretendard" pitchFamily="34" charset="-122"/>
                <a:cs typeface="Pretendard" pitchFamily="34" charset="-120"/>
              </a:rPr>
              <a:t>사회복귀</a:t>
            </a:r>
            <a:r>
              <a:rPr lang="en-US" altLang="ko-KR" sz="1050" b="1" dirty="0">
                <a:solidFill>
                  <a:srgbClr val="464D5C"/>
                </a:solidFill>
                <a:latin typeface="Pretendard" pitchFamily="34" charset="0"/>
                <a:ea typeface="Pretendard" pitchFamily="34" charset="-122"/>
                <a:cs typeface="Pretendard" pitchFamily="34" charset="-120"/>
              </a:rPr>
              <a:t>·</a:t>
            </a:r>
            <a:r>
              <a:rPr lang="en-US" sz="1050" b="1" dirty="0" err="1">
                <a:solidFill>
                  <a:srgbClr val="464D5C"/>
                </a:solidFill>
                <a:latin typeface="Pretendard" pitchFamily="34" charset="0"/>
                <a:ea typeface="Pretendard" pitchFamily="34" charset="-122"/>
                <a:cs typeface="Pretendard" pitchFamily="34" charset="-120"/>
              </a:rPr>
              <a:t>성인기</a:t>
            </a:r>
            <a:r>
              <a:rPr lang="en-US" sz="1050" b="1" dirty="0">
                <a:solidFill>
                  <a:srgbClr val="464D5C"/>
                </a:solidFill>
                <a:latin typeface="Pretendard" pitchFamily="34" charset="0"/>
                <a:ea typeface="Pretendard" pitchFamily="34" charset="-122"/>
                <a:cs typeface="Pretendard" pitchFamily="34" charset="-120"/>
              </a:rPr>
              <a:t> 결과의 비용을 놓칠 수 있다</a:t>
            </a:r>
            <a:endParaRPr lang="en-US" sz="1050" b="1" dirty="0"/>
          </a:p>
        </p:txBody>
      </p:sp>
      <p:sp>
        <p:nvSpPr>
          <p:cNvPr id="18" name="Text 16"/>
          <p:cNvSpPr/>
          <p:nvPr/>
        </p:nvSpPr>
        <p:spPr>
          <a:xfrm>
            <a:off x="731520" y="4967840"/>
            <a:ext cx="10698480" cy="747157"/>
          </a:xfrm>
          <a:prstGeom prst="rect">
            <a:avLst/>
          </a:prstGeom>
          <a:solidFill>
            <a:schemeClr val="accent1">
              <a:lumMod val="20000"/>
              <a:lumOff val="80000"/>
            </a:schemeClr>
          </a:solidFill>
          <a:ln/>
        </p:spPr>
        <p:txBody>
          <a:bodyPr wrap="square" lIns="0" tIns="0" rIns="0" bIns="0" rtlCol="0" anchor="ctr"/>
          <a:lstStyle/>
          <a:p>
            <a:pPr marL="0" indent="0" algn="ctr">
              <a:buNone/>
            </a:pPr>
            <a:r>
              <a:rPr lang="en-US" sz="1250" b="1" dirty="0">
                <a:solidFill>
                  <a:srgbClr val="1E2761"/>
                </a:solidFill>
                <a:latin typeface="Pretendard" pitchFamily="34" charset="0"/>
                <a:ea typeface="Pretendard" pitchFamily="34" charset="-122"/>
                <a:cs typeface="Pretendard" pitchFamily="34" charset="-120"/>
              </a:rPr>
              <a:t>형사처벌 우선 여부를 판단할 때에는 재범 억제 가능성과 교육 · 성인기 사법체계 접촉에 미친 결과를 함께 고려해야 한다</a:t>
            </a:r>
            <a:endParaRPr lang="en-US" sz="1250" dirty="0"/>
          </a:p>
        </p:txBody>
      </p:sp>
      <p:sp>
        <p:nvSpPr>
          <p:cNvPr id="20" name="Shape 18"/>
          <p:cNvSpPr/>
          <p:nvPr/>
        </p:nvSpPr>
        <p:spPr>
          <a:xfrm>
            <a:off x="731520" y="6153912"/>
            <a:ext cx="10698480" cy="0"/>
          </a:xfrm>
          <a:prstGeom prst="line">
            <a:avLst/>
          </a:prstGeom>
          <a:noFill/>
          <a:ln w="12700">
            <a:solidFill>
              <a:srgbClr val="DCE0E8"/>
            </a:solidFill>
            <a:prstDash val="solid"/>
          </a:ln>
        </p:spPr>
        <p:txBody>
          <a:bodyPr/>
          <a:lstStyle/>
          <a:p>
            <a:endParaRPr lang="ko-KR"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6. 형사처벌과 치료·재활의 효과</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제7장 · 주요 논거와 최종 판단</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약물 단순 소지 제재의 변화와 약물사용</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약물 단순 소지에 대한 제재를 완화한 뒤 약물사용이 증가했는지는 국가와 제도에 따라 달랐다</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BODY8"/>
          <p:cNvSpPr/>
          <p:nvPr/>
        </p:nvSpPr>
        <p:spPr>
          <a:xfrm>
            <a:off x="3154680" y="2328330"/>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9개국에서 </a:t>
            </a: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약물을 단순 소지한 죄에 적용한 제재 완화·다이버전·비범죄화</a:t>
            </a:r>
            <a:r>
              <a:rPr lang="ko-KR" altLang="en-US" sz="1250" b="1" dirty="0">
                <a:solidFill>
                  <a:srgbClr val="222633"/>
                </a:solidFill>
                <a:latin typeface="Pretendard" pitchFamily="34" charset="0"/>
                <a:ea typeface="Pretendard" pitchFamily="34" charset="-122"/>
                <a:cs typeface="Pretendard" pitchFamily="34" charset="-120"/>
              </a:rPr>
              <a:t> 자료를 검토했다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생산·판매의 합법화와 유죄판결 후의 처우 변경은 검토 범위에서 제외했다</a:t>
            </a:r>
          </a:p>
        </p:txBody>
      </p:sp>
      <p:sp>
        <p:nvSpPr>
          <p:cNvPr id="9" name="HEAD9"/>
          <p:cNvSpPr/>
          <p:nvPr/>
        </p:nvSpPr>
        <p:spPr>
          <a:xfrm>
            <a:off x="731520" y="2034540"/>
            <a:ext cx="2240280" cy="956729"/>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검토 범위</a:t>
            </a:r>
          </a:p>
        </p:txBody>
      </p:sp>
      <p:sp>
        <p:nvSpPr>
          <p:cNvPr id="10" name="RULE10"/>
          <p:cNvSpPr/>
          <p:nvPr/>
        </p:nvSpPr>
        <p:spPr>
          <a:xfrm>
            <a:off x="731520" y="3014129"/>
            <a:ext cx="10725912" cy="0"/>
          </a:xfrm>
          <a:prstGeom prst="line">
            <a:avLst/>
          </a:prstGeom>
          <a:ln w="9525">
            <a:solidFill>
              <a:srgbClr val="DCE0E8"/>
            </a:solidFill>
          </a:ln>
        </p:spPr>
        <p:txBody>
          <a:bodyPr/>
          <a:lstStyle/>
          <a:p>
            <a:endParaRPr lang="ko-KR"/>
          </a:p>
        </p:txBody>
      </p:sp>
      <p:sp>
        <p:nvSpPr>
          <p:cNvPr id="11" name="BODY11"/>
          <p:cNvSpPr/>
          <p:nvPr/>
        </p:nvSpPr>
        <p:spPr>
          <a:xfrm>
            <a:off x="3154680" y="3360592"/>
            <a:ext cx="8302752" cy="259352"/>
          </a:xfrm>
          <a:prstGeom prst="rect">
            <a:avLst/>
          </a:prstGeom>
          <a:noFill/>
          <a:ln/>
        </p:spPr>
        <p:txBody>
          <a:bodyPr wrap="square" lIns="0" tIns="0" rIns="0" bIns="0" rtlCol="0" anchor="t"/>
          <a:lstStyle/>
          <a:p>
            <a:pPr marL="0" indent="0">
              <a:lnSpc>
                <a:spcPct val="125000"/>
              </a:lnSpc>
              <a:buNone/>
            </a:pPr>
            <a:r>
              <a:rPr lang="ko-KR" altLang="en-US" sz="1250" b="1" dirty="0">
                <a:solidFill>
                  <a:srgbClr val="222633"/>
                </a:solidFill>
                <a:latin typeface="Pretendard" pitchFamily="34" charset="0"/>
                <a:ea typeface="Pretendard" pitchFamily="34" charset="-122"/>
                <a:cs typeface="Pretendard" pitchFamily="34" charset="-120"/>
              </a:rPr>
              <a:t>처벌을 실제로 덜 적용하는 방식, 교육·치료·사회서비스로 보내는 방식, 개인 사용 목적 소지의 형사제재를 법에서 없애는 방식이 포함됐다</a:t>
            </a:r>
          </a:p>
        </p:txBody>
      </p:sp>
      <p:sp>
        <p:nvSpPr>
          <p:cNvPr id="12" name="HEAD12"/>
          <p:cNvSpPr/>
          <p:nvPr/>
        </p:nvSpPr>
        <p:spPr>
          <a:xfrm>
            <a:off x="731520" y="2991269"/>
            <a:ext cx="2240280" cy="937882"/>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제도 선택</a:t>
            </a:r>
          </a:p>
        </p:txBody>
      </p:sp>
      <p:sp>
        <p:nvSpPr>
          <p:cNvPr id="13" name="RULE13"/>
          <p:cNvSpPr/>
          <p:nvPr/>
        </p:nvSpPr>
        <p:spPr>
          <a:xfrm>
            <a:off x="731520" y="3952011"/>
            <a:ext cx="10725912" cy="0"/>
          </a:xfrm>
          <a:prstGeom prst="line">
            <a:avLst/>
          </a:prstGeom>
          <a:ln w="9525">
            <a:solidFill>
              <a:srgbClr val="DCE0E8"/>
            </a:solidFill>
          </a:ln>
        </p:spPr>
        <p:txBody>
          <a:bodyPr/>
          <a:lstStyle/>
          <a:p>
            <a:endParaRPr lang="ko-KR"/>
          </a:p>
        </p:txBody>
      </p:sp>
      <p:sp>
        <p:nvSpPr>
          <p:cNvPr id="14" name="BODY14"/>
          <p:cNvSpPr/>
          <p:nvPr/>
        </p:nvSpPr>
        <p:spPr>
          <a:xfrm>
            <a:off x="3154680" y="4150824"/>
            <a:ext cx="8302752" cy="1044702"/>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일부 연구에서는 사용 증가가 나타났지만 여러 연구에서는 증가가 확인되지 않았다</a:t>
            </a:r>
          </a:p>
          <a:p>
            <a:pPr marL="0" indent="0">
              <a:lnSpc>
                <a:spcPct val="118000"/>
              </a:lnSpc>
              <a:spcAft>
                <a:spcPts val="500"/>
              </a:spcAft>
              <a:buNone/>
            </a:pPr>
            <a:r>
              <a:rPr lang="ko-KR" altLang="en-US" sz="1150" dirty="0">
                <a:solidFill>
                  <a:srgbClr val="464D5C"/>
                </a:solidFill>
                <a:latin typeface="Pretendard" pitchFamily="34" charset="0"/>
                <a:ea typeface="Pretendard" pitchFamily="34" charset="-122"/>
                <a:cs typeface="Pretendard" pitchFamily="34" charset="-120"/>
              </a:rPr>
              <a:t>제재 완화 이후 사용 증가가 일관되게 나타난 것은 아니었다</a:t>
            </a:r>
          </a:p>
          <a:p>
            <a:pPr marL="0" indent="0">
              <a:lnSpc>
                <a:spcPct val="118000"/>
              </a:lnSpc>
              <a:spcAft>
                <a:spcPts val="500"/>
              </a:spcAft>
              <a:buNone/>
            </a:pPr>
            <a:r>
              <a:rPr lang="ko-KR" altLang="en-US" sz="1150" dirty="0">
                <a:solidFill>
                  <a:srgbClr val="464D5C"/>
                </a:solidFill>
                <a:latin typeface="Pretendard" pitchFamily="34" charset="0"/>
                <a:ea typeface="Pretendard" pitchFamily="34" charset="-122"/>
                <a:cs typeface="Pretendard" pitchFamily="34" charset="-120"/>
              </a:rPr>
              <a:t>단속 방식, 치료 접근성, 낙인과 사회복귀 여건을 함께 살핀 결과다</a:t>
            </a:r>
          </a:p>
          <a:p>
            <a:pPr marL="0" indent="0">
              <a:lnSpc>
                <a:spcPct val="118000"/>
              </a:lnSpc>
              <a:buNone/>
            </a:pPr>
            <a:r>
              <a:rPr lang="ko-KR" altLang="en-US" sz="1200" dirty="0">
                <a:solidFill>
                  <a:srgbClr val="A8871C"/>
                </a:solidFill>
                <a:latin typeface="Pretendard" pitchFamily="34" charset="0"/>
                <a:ea typeface="Pretendard" pitchFamily="34" charset="-122"/>
                <a:cs typeface="Pretendard" pitchFamily="34" charset="-120"/>
              </a:rPr>
              <a:t>소년만의 연구가 아니며 대마 관련 자료의 비중이 크고, 한국 범죄소년의 치료 우선 정책을 직접 평가한 결과도 아니다</a:t>
            </a:r>
          </a:p>
        </p:txBody>
      </p:sp>
      <p:sp>
        <p:nvSpPr>
          <p:cNvPr id="15" name="HEAD15"/>
          <p:cNvSpPr/>
          <p:nvPr/>
        </p:nvSpPr>
        <p:spPr>
          <a:xfrm>
            <a:off x="731520" y="3929151"/>
            <a:ext cx="2240280" cy="1506334"/>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사용의 변화</a:t>
            </a:r>
          </a:p>
        </p:txBody>
      </p:sp>
      <p:sp>
        <p:nvSpPr>
          <p:cNvPr id="17" name="CLOSE17"/>
          <p:cNvSpPr/>
          <p:nvPr/>
        </p:nvSpPr>
        <p:spPr>
          <a:xfrm>
            <a:off x="731520" y="5657157"/>
            <a:ext cx="10725912" cy="521963"/>
          </a:xfrm>
          <a:prstGeom prst="rect">
            <a:avLst/>
          </a:prstGeom>
          <a:solidFill>
            <a:schemeClr val="accent1">
              <a:lumMod val="20000"/>
              <a:lumOff val="80000"/>
            </a:schemeClr>
          </a:solidFill>
          <a:ln/>
        </p:spPr>
        <p:txBody>
          <a:bodyPr wrap="square" lIns="0" tIns="0" rIns="0" bIns="0" rtlCol="0" anchor="ctr"/>
          <a:lstStyle/>
          <a:p>
            <a:pPr algn="ctr">
              <a:lnSpc>
                <a:spcPct val="118000"/>
              </a:lnSpc>
            </a:pPr>
            <a:r>
              <a:rPr lang="ko-KR" altLang="en-US" sz="1250" b="1" dirty="0">
                <a:solidFill>
                  <a:schemeClr val="accent1">
                    <a:lumMod val="50000"/>
                  </a:schemeClr>
                </a:solidFill>
                <a:latin typeface="Pretendard" pitchFamily="34" charset="0"/>
                <a:ea typeface="Pretendard" pitchFamily="34" charset="-122"/>
                <a:cs typeface="Pretendard" pitchFamily="34" charset="-120"/>
              </a:rPr>
              <a:t>제재 완화가 약물사용 증가로 일관되게 이어지지는 않았다</a:t>
            </a:r>
            <a:r>
              <a:rPr lang="en-US" altLang="ko-KR" sz="1250" b="1" dirty="0">
                <a:solidFill>
                  <a:schemeClr val="accent1">
                    <a:lumMod val="50000"/>
                  </a:schemeClr>
                </a:solidFill>
                <a:latin typeface="Pretendard" pitchFamily="34" charset="0"/>
                <a:ea typeface="Pretendard" pitchFamily="34" charset="-122"/>
                <a:cs typeface="Pretendard" pitchFamily="34" charset="-120"/>
              </a:rPr>
              <a:t> </a:t>
            </a:r>
            <a:endParaRPr lang="ko-KR" altLang="en-US" sz="1250" b="1" dirty="0">
              <a:solidFill>
                <a:schemeClr val="accent1">
                  <a:lumMod val="50000"/>
                </a:schemeClr>
              </a:solidFill>
              <a:latin typeface="Pretendard" pitchFamily="34" charset="0"/>
              <a:ea typeface="Pretendard" pitchFamily="34" charset="-122"/>
              <a:cs typeface="Pretendard" pitchFamily="34" charset="-12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48640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5A6273"/>
                </a:solidFill>
                <a:latin typeface="Pretendard" pitchFamily="34" charset="0"/>
                <a:ea typeface="Pretendard" pitchFamily="34" charset="-122"/>
                <a:cs typeface="Pretendard" pitchFamily="34" charset="-120"/>
              </a:rPr>
              <a:t>주요 논거와 최종 판단</a:t>
            </a:r>
          </a:p>
        </p:txBody>
      </p:sp>
      <p:sp>
        <p:nvSpPr>
          <p:cNvPr id="3" name="NEXT"/>
          <p:cNvSpPr/>
          <p:nvPr/>
        </p:nvSpPr>
        <p:spPr>
          <a:xfrm>
            <a:off x="6245352" y="365760"/>
            <a:ext cx="5212080" cy="292608"/>
          </a:xfrm>
          <a:prstGeom prst="rect">
            <a:avLst/>
          </a:prstGeom>
          <a:noFill/>
          <a:ln/>
        </p:spPr>
        <p:txBody>
          <a:bodyPr wrap="square" lIns="0" tIns="0" rIns="0" bIns="0" rtlCol="0" anchor="ctr"/>
          <a:lstStyle/>
          <a:p>
            <a:pPr marL="0" indent="0" algn="r">
              <a:lnSpc>
                <a:spcPct val="118000"/>
              </a:lnSpc>
              <a:buNone/>
            </a:pPr>
            <a:r>
              <a:rPr lang="ko-KR" altLang="en-US" sz="1050" dirty="0">
                <a:solidFill>
                  <a:srgbClr val="8A91A0"/>
                </a:solidFill>
                <a:latin typeface="Pretendard" pitchFamily="34" charset="0"/>
                <a:ea typeface="Pretendard" pitchFamily="34" charset="-122"/>
                <a:cs typeface="Pretendard" pitchFamily="34" charset="-120"/>
              </a:rPr>
              <a:t>다음 → 쟁점 ① 청소년의 사용행위에 책임을 묻는 방식</a:t>
            </a:r>
          </a:p>
        </p:txBody>
      </p:sp>
      <p:sp>
        <p:nvSpPr>
          <p:cNvPr id="4" name="TITLE"/>
          <p:cNvSpPr/>
          <p:nvPr/>
        </p:nvSpPr>
        <p:spPr>
          <a:xfrm>
            <a:off x="731520" y="640080"/>
            <a:ext cx="10972800" cy="640080"/>
          </a:xfrm>
          <a:prstGeom prst="rect">
            <a:avLst/>
          </a:prstGeom>
          <a:noFill/>
          <a:ln/>
        </p:spPr>
        <p:txBody>
          <a:bodyPr wrap="square" lIns="0" tIns="0" rIns="0" bIns="0" rtlCol="0" anchor="ctr"/>
          <a:lstStyle/>
          <a:p>
            <a:pPr marL="0" indent="0">
              <a:buNone/>
            </a:pPr>
            <a:r>
              <a:rPr lang="ko-KR" altLang="en-US" sz="2700" b="1" dirty="0">
                <a:solidFill>
                  <a:srgbClr val="1E2761"/>
                </a:solidFill>
                <a:latin typeface="Pretendard" pitchFamily="34" charset="0"/>
                <a:ea typeface="Pretendard" pitchFamily="34" charset="-122"/>
                <a:cs typeface="Pretendard" pitchFamily="34" charset="-120"/>
              </a:rPr>
              <a:t>치료·재활 우선을 판단할 쟁점</a:t>
            </a:r>
          </a:p>
        </p:txBody>
      </p:sp>
      <p:sp>
        <p:nvSpPr>
          <p:cNvPr id="5" name="BAND"/>
          <p:cNvSpPr/>
          <p:nvPr/>
        </p:nvSpPr>
        <p:spPr>
          <a:xfrm>
            <a:off x="731520" y="1417320"/>
            <a:ext cx="10725912" cy="566928"/>
          </a:xfrm>
          <a:prstGeom prst="rect">
            <a:avLst/>
          </a:prstGeom>
          <a:solidFill>
            <a:srgbClr val="F2F4F8"/>
          </a:solidFill>
          <a:ln/>
        </p:spPr>
      </p:sp>
      <p:sp>
        <p:nvSpPr>
          <p:cNvPr id="6" name="BANDT"/>
          <p:cNvSpPr/>
          <p:nvPr/>
        </p:nvSpPr>
        <p:spPr>
          <a:xfrm>
            <a:off x="1005840" y="1417320"/>
            <a:ext cx="10177272" cy="566928"/>
          </a:xfrm>
          <a:prstGeom prst="rect">
            <a:avLst/>
          </a:prstGeom>
          <a:noFill/>
          <a:ln/>
        </p:spPr>
        <p:txBody>
          <a:bodyPr wrap="square" lIns="0" tIns="0" rIns="0" bIns="0" rtlCol="0" anchor="ctr"/>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마약류를 투약·사용한 청소년에게 형사처벌보다 치료·재활을 우선해야 하는지, 다음 여섯 가지 쟁점을 살펴본다.</a:t>
            </a:r>
          </a:p>
        </p:txBody>
      </p:sp>
      <p:sp>
        <p:nvSpPr>
          <p:cNvPr id="7" name="L"/>
          <p:cNvSpPr/>
          <p:nvPr/>
        </p:nvSpPr>
        <p:spPr>
          <a:xfrm>
            <a:off x="731520" y="2130552"/>
            <a:ext cx="10725912" cy="0"/>
          </a:xfrm>
          <a:prstGeom prst="line">
            <a:avLst/>
          </a:prstGeom>
          <a:ln w="19050">
            <a:solidFill>
              <a:srgbClr val="1E2761"/>
            </a:solidFill>
          </a:ln>
        </p:spPr>
        <p:txBody>
          <a:bodyPr/>
          <a:lstStyle/>
          <a:p>
            <a:endParaRPr lang="ko-KR"/>
          </a:p>
        </p:txBody>
      </p:sp>
      <p:sp>
        <p:nvSpPr>
          <p:cNvPr id="8" name="HEAD"/>
          <p:cNvSpPr/>
          <p:nvPr/>
        </p:nvSpPr>
        <p:spPr>
          <a:xfrm>
            <a:off x="731520" y="2240280"/>
            <a:ext cx="10725912" cy="475488"/>
          </a:xfrm>
          <a:prstGeom prst="rect">
            <a:avLst/>
          </a:prstGeom>
          <a:solidFill>
            <a:srgbClr val="5A6699"/>
          </a:solidFill>
          <a:ln/>
        </p:spPr>
      </p:sp>
      <p:sp>
        <p:nvSpPr>
          <p:cNvPr id="9" name="H1"/>
          <p:cNvSpPr/>
          <p:nvPr/>
        </p:nvSpPr>
        <p:spPr>
          <a:xfrm>
            <a:off x="1005840" y="2240280"/>
            <a:ext cx="3017520" cy="475488"/>
          </a:xfrm>
          <a:prstGeom prst="rect">
            <a:avLst/>
          </a:prstGeom>
          <a:noFill/>
          <a:ln/>
        </p:spPr>
        <p:txBody>
          <a:bodyPr wrap="square" lIns="0" tIns="0" rIns="0" bIns="0" rtlCol="0" anchor="ctr"/>
          <a:lstStyle/>
          <a:p>
            <a:pPr marL="0" indent="0">
              <a:lnSpc>
                <a:spcPct val="118000"/>
              </a:lnSpc>
              <a:buNone/>
            </a:pPr>
            <a:r>
              <a:rPr lang="ko-KR" altLang="en-US" sz="1300" b="1" dirty="0">
                <a:solidFill>
                  <a:srgbClr val="FFFFFF"/>
                </a:solidFill>
                <a:latin typeface="Pretendard" pitchFamily="34" charset="0"/>
                <a:ea typeface="Pretendard" pitchFamily="34" charset="-122"/>
                <a:cs typeface="Pretendard" pitchFamily="34" charset="-120"/>
              </a:rPr>
              <a:t>쟁점</a:t>
            </a:r>
          </a:p>
        </p:txBody>
      </p:sp>
      <p:sp>
        <p:nvSpPr>
          <p:cNvPr id="10" name="H2"/>
          <p:cNvSpPr/>
          <p:nvPr/>
        </p:nvSpPr>
        <p:spPr>
          <a:xfrm>
            <a:off x="4297680" y="2240280"/>
            <a:ext cx="6949440" cy="475488"/>
          </a:xfrm>
          <a:prstGeom prst="rect">
            <a:avLst/>
          </a:prstGeom>
          <a:noFill/>
          <a:ln/>
        </p:spPr>
        <p:txBody>
          <a:bodyPr wrap="square" lIns="0" tIns="0" rIns="0" bIns="0" rtlCol="0" anchor="ctr"/>
          <a:lstStyle/>
          <a:p>
            <a:pPr marL="0" indent="0">
              <a:lnSpc>
                <a:spcPct val="118000"/>
              </a:lnSpc>
              <a:buNone/>
            </a:pPr>
            <a:r>
              <a:rPr lang="ko-KR" altLang="en-US" sz="1300" b="1" dirty="0">
                <a:solidFill>
                  <a:srgbClr val="FFFFFF"/>
                </a:solidFill>
                <a:latin typeface="Pretendard" pitchFamily="34" charset="0"/>
                <a:ea typeface="Pretendard" pitchFamily="34" charset="-122"/>
                <a:cs typeface="Pretendard" pitchFamily="34" charset="-120"/>
              </a:rPr>
              <a:t>핵심 질문</a:t>
            </a:r>
          </a:p>
        </p:txBody>
      </p:sp>
      <p:sp>
        <p:nvSpPr>
          <p:cNvPr id="11" name="RL"/>
          <p:cNvSpPr/>
          <p:nvPr/>
        </p:nvSpPr>
        <p:spPr>
          <a:xfrm>
            <a:off x="1005840" y="2715768"/>
            <a:ext cx="3108960" cy="594360"/>
          </a:xfrm>
          <a:prstGeom prst="rect">
            <a:avLst/>
          </a:prstGeom>
          <a:noFill/>
          <a:ln/>
        </p:spPr>
        <p:txBody>
          <a:bodyPr wrap="square" lIns="0" tIns="0" rIns="0" bIns="0" rtlCol="0" anchor="ctr"/>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① 책임을 묻는 방식</a:t>
            </a:r>
          </a:p>
        </p:txBody>
      </p:sp>
      <p:sp>
        <p:nvSpPr>
          <p:cNvPr id="12" name="RQ"/>
          <p:cNvSpPr/>
          <p:nvPr/>
        </p:nvSpPr>
        <p:spPr>
          <a:xfrm>
            <a:off x="4297680" y="2715768"/>
            <a:ext cx="7040880" cy="594360"/>
          </a:xfrm>
          <a:prstGeom prst="rect">
            <a:avLst/>
          </a:prstGeom>
          <a:noFill/>
          <a:ln/>
        </p:spPr>
        <p:txBody>
          <a:bodyPr wrap="square" lIns="0" tIns="0" rIns="0" bIns="0" rtlCol="0" anchor="ctr"/>
          <a:lstStyle/>
          <a:p>
            <a:pPr marL="0" indent="0">
              <a:lnSpc>
                <a:spcPct val="125000"/>
              </a:lnSpc>
              <a:buNone/>
            </a:pPr>
            <a:r>
              <a:rPr lang="ko-KR" altLang="en-US" sz="1250" dirty="0">
                <a:solidFill>
                  <a:srgbClr val="222633"/>
                </a:solidFill>
                <a:latin typeface="Pretendard" pitchFamily="34" charset="0"/>
                <a:ea typeface="Pretendard" pitchFamily="34" charset="-122"/>
                <a:cs typeface="Pretendard" pitchFamily="34" charset="-120"/>
              </a:rPr>
              <a:t>청소년의 사용행위에 치료·재활 참여를 먼저 요구하는 것이 적절한가?</a:t>
            </a:r>
          </a:p>
        </p:txBody>
      </p:sp>
      <p:sp>
        <p:nvSpPr>
          <p:cNvPr id="13" name="L"/>
          <p:cNvSpPr/>
          <p:nvPr/>
        </p:nvSpPr>
        <p:spPr>
          <a:xfrm>
            <a:off x="731520" y="3310128"/>
            <a:ext cx="10725912" cy="0"/>
          </a:xfrm>
          <a:prstGeom prst="line">
            <a:avLst/>
          </a:prstGeom>
          <a:ln w="9525">
            <a:solidFill>
              <a:srgbClr val="DCE0E8"/>
            </a:solidFill>
          </a:ln>
        </p:spPr>
        <p:txBody>
          <a:bodyPr/>
          <a:lstStyle/>
          <a:p>
            <a:endParaRPr lang="ko-KR"/>
          </a:p>
        </p:txBody>
      </p:sp>
      <p:sp>
        <p:nvSpPr>
          <p:cNvPr id="14" name="RL"/>
          <p:cNvSpPr/>
          <p:nvPr/>
        </p:nvSpPr>
        <p:spPr>
          <a:xfrm>
            <a:off x="1005840" y="3310128"/>
            <a:ext cx="3108960" cy="594360"/>
          </a:xfrm>
          <a:prstGeom prst="rect">
            <a:avLst/>
          </a:prstGeom>
          <a:noFill/>
          <a:ln/>
        </p:spPr>
        <p:txBody>
          <a:bodyPr wrap="square" lIns="0" tIns="0" rIns="0" bIns="0" rtlCol="0" anchor="ctr"/>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② 재사용·재범 감소 — 특별예방</a:t>
            </a:r>
          </a:p>
        </p:txBody>
      </p:sp>
      <p:sp>
        <p:nvSpPr>
          <p:cNvPr id="15" name="RQ"/>
          <p:cNvSpPr/>
          <p:nvPr/>
        </p:nvSpPr>
        <p:spPr>
          <a:xfrm>
            <a:off x="4297680" y="3310128"/>
            <a:ext cx="7040880" cy="594360"/>
          </a:xfrm>
          <a:prstGeom prst="rect">
            <a:avLst/>
          </a:prstGeom>
          <a:noFill/>
          <a:ln/>
        </p:spPr>
        <p:txBody>
          <a:bodyPr wrap="square" lIns="0" tIns="0" rIns="0" bIns="0" rtlCol="0" anchor="ctr"/>
          <a:lstStyle/>
          <a:p>
            <a:pPr marL="0" indent="0">
              <a:lnSpc>
                <a:spcPct val="125000"/>
              </a:lnSpc>
              <a:buNone/>
            </a:pPr>
            <a:r>
              <a:rPr lang="ko-KR" altLang="en-US" sz="1250" dirty="0">
                <a:solidFill>
                  <a:srgbClr val="222633"/>
                </a:solidFill>
                <a:latin typeface="Pretendard" pitchFamily="34" charset="0"/>
                <a:ea typeface="Pretendard" pitchFamily="34" charset="-122"/>
                <a:cs typeface="Pretendard" pitchFamily="34" charset="-120"/>
              </a:rPr>
              <a:t>이미 사용한 청소년의 재사용·재범을 줄이는 데 치료를 우선할 근거가 있는가?</a:t>
            </a:r>
          </a:p>
        </p:txBody>
      </p:sp>
      <p:sp>
        <p:nvSpPr>
          <p:cNvPr id="16" name="L"/>
          <p:cNvSpPr/>
          <p:nvPr/>
        </p:nvSpPr>
        <p:spPr>
          <a:xfrm>
            <a:off x="731520" y="3904488"/>
            <a:ext cx="10725912" cy="0"/>
          </a:xfrm>
          <a:prstGeom prst="line">
            <a:avLst/>
          </a:prstGeom>
          <a:ln w="9525">
            <a:solidFill>
              <a:srgbClr val="DCE0E8"/>
            </a:solidFill>
          </a:ln>
        </p:spPr>
        <p:txBody>
          <a:bodyPr/>
          <a:lstStyle/>
          <a:p>
            <a:endParaRPr lang="ko-KR"/>
          </a:p>
        </p:txBody>
      </p:sp>
      <p:sp>
        <p:nvSpPr>
          <p:cNvPr id="17" name="RL"/>
          <p:cNvSpPr/>
          <p:nvPr/>
        </p:nvSpPr>
        <p:spPr>
          <a:xfrm>
            <a:off x="1005840" y="3904488"/>
            <a:ext cx="3108960" cy="594360"/>
          </a:xfrm>
          <a:prstGeom prst="rect">
            <a:avLst/>
          </a:prstGeom>
          <a:noFill/>
          <a:ln/>
        </p:spPr>
        <p:txBody>
          <a:bodyPr wrap="square" lIns="0" tIns="0" rIns="0" bIns="0" rtlCol="0" anchor="ctr"/>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③ 다른 청소년의 사용 억제 — 일반예방</a:t>
            </a:r>
          </a:p>
        </p:txBody>
      </p:sp>
      <p:sp>
        <p:nvSpPr>
          <p:cNvPr id="18" name="RQ"/>
          <p:cNvSpPr/>
          <p:nvPr/>
        </p:nvSpPr>
        <p:spPr>
          <a:xfrm>
            <a:off x="4297680" y="3904488"/>
            <a:ext cx="7040880" cy="594360"/>
          </a:xfrm>
          <a:prstGeom prst="rect">
            <a:avLst/>
          </a:prstGeom>
          <a:noFill/>
          <a:ln/>
        </p:spPr>
        <p:txBody>
          <a:bodyPr wrap="square" lIns="0" tIns="0" rIns="0" bIns="0" rtlCol="0" anchor="ctr"/>
          <a:lstStyle/>
          <a:p>
            <a:pPr marL="0" indent="0">
              <a:lnSpc>
                <a:spcPct val="125000"/>
              </a:lnSpc>
              <a:buNone/>
            </a:pPr>
            <a:r>
              <a:rPr lang="ko-KR" altLang="en-US" sz="1250" dirty="0">
                <a:solidFill>
                  <a:srgbClr val="222633"/>
                </a:solidFill>
                <a:latin typeface="Pretendard" pitchFamily="34" charset="0"/>
                <a:ea typeface="Pretendard" pitchFamily="34" charset="-122"/>
                <a:cs typeface="Pretendard" pitchFamily="34" charset="-120"/>
              </a:rPr>
              <a:t>치료를 우선해 형사처벌 가능성이 낮아지면, 다른 청소년의 사용이 늘어날 것인가?</a:t>
            </a:r>
          </a:p>
        </p:txBody>
      </p:sp>
      <p:sp>
        <p:nvSpPr>
          <p:cNvPr id="19" name="L"/>
          <p:cNvSpPr/>
          <p:nvPr/>
        </p:nvSpPr>
        <p:spPr>
          <a:xfrm>
            <a:off x="731520" y="4498848"/>
            <a:ext cx="10725912" cy="0"/>
          </a:xfrm>
          <a:prstGeom prst="line">
            <a:avLst/>
          </a:prstGeom>
          <a:ln w="9525">
            <a:solidFill>
              <a:srgbClr val="DCE0E8"/>
            </a:solidFill>
          </a:ln>
        </p:spPr>
        <p:txBody>
          <a:bodyPr/>
          <a:lstStyle/>
          <a:p>
            <a:endParaRPr lang="ko-KR"/>
          </a:p>
        </p:txBody>
      </p:sp>
      <p:sp>
        <p:nvSpPr>
          <p:cNvPr id="20" name="RL"/>
          <p:cNvSpPr/>
          <p:nvPr/>
        </p:nvSpPr>
        <p:spPr>
          <a:xfrm>
            <a:off x="1005840" y="4498848"/>
            <a:ext cx="3108960" cy="594360"/>
          </a:xfrm>
          <a:prstGeom prst="rect">
            <a:avLst/>
          </a:prstGeom>
          <a:noFill/>
          <a:ln/>
        </p:spPr>
        <p:txBody>
          <a:bodyPr wrap="square" lIns="0" tIns="0" rIns="0" bIns="0" rtlCol="0" anchor="ctr"/>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④ 학교생활·사회복귀와 자유 제한</a:t>
            </a:r>
          </a:p>
        </p:txBody>
      </p:sp>
      <p:sp>
        <p:nvSpPr>
          <p:cNvPr id="21" name="RQ"/>
          <p:cNvSpPr/>
          <p:nvPr/>
        </p:nvSpPr>
        <p:spPr>
          <a:xfrm>
            <a:off x="4297680" y="4498848"/>
            <a:ext cx="7040880" cy="594360"/>
          </a:xfrm>
          <a:prstGeom prst="rect">
            <a:avLst/>
          </a:prstGeom>
          <a:noFill/>
          <a:ln/>
        </p:spPr>
        <p:txBody>
          <a:bodyPr wrap="square" lIns="0" tIns="0" rIns="0" bIns="0" rtlCol="0" anchor="ctr"/>
          <a:lstStyle/>
          <a:p>
            <a:pPr marL="0" indent="0">
              <a:lnSpc>
                <a:spcPct val="125000"/>
              </a:lnSpc>
              <a:buNone/>
            </a:pPr>
            <a:r>
              <a:rPr lang="ko-KR" altLang="en-US" sz="1250" dirty="0">
                <a:solidFill>
                  <a:srgbClr val="222633"/>
                </a:solidFill>
                <a:latin typeface="Pretendard" pitchFamily="34" charset="0"/>
                <a:ea typeface="Pretendard" pitchFamily="34" charset="-122"/>
                <a:cs typeface="Pretendard" pitchFamily="34" charset="-120"/>
              </a:rPr>
              <a:t>치료를 우선하면 학업 중단과 자유 제한 등 청소년이 겪는 불이익을 줄일 수 있는가?</a:t>
            </a:r>
          </a:p>
        </p:txBody>
      </p:sp>
      <p:sp>
        <p:nvSpPr>
          <p:cNvPr id="22" name="L"/>
          <p:cNvSpPr/>
          <p:nvPr/>
        </p:nvSpPr>
        <p:spPr>
          <a:xfrm>
            <a:off x="731520" y="5093208"/>
            <a:ext cx="10725912" cy="0"/>
          </a:xfrm>
          <a:prstGeom prst="line">
            <a:avLst/>
          </a:prstGeom>
          <a:ln w="9525">
            <a:solidFill>
              <a:srgbClr val="DCE0E8"/>
            </a:solidFill>
          </a:ln>
        </p:spPr>
        <p:txBody>
          <a:bodyPr/>
          <a:lstStyle/>
          <a:p>
            <a:endParaRPr lang="ko-KR"/>
          </a:p>
        </p:txBody>
      </p:sp>
      <p:sp>
        <p:nvSpPr>
          <p:cNvPr id="23" name="RL"/>
          <p:cNvSpPr/>
          <p:nvPr/>
        </p:nvSpPr>
        <p:spPr>
          <a:xfrm>
            <a:off x="1005840" y="5093208"/>
            <a:ext cx="3108960" cy="594360"/>
          </a:xfrm>
          <a:prstGeom prst="rect">
            <a:avLst/>
          </a:prstGeom>
          <a:noFill/>
          <a:ln/>
        </p:spPr>
        <p:txBody>
          <a:bodyPr wrap="square" lIns="0" tIns="0" rIns="0" bIns="0" rtlCol="0" anchor="ctr"/>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⑤ 치료 제공과 지속 여건</a:t>
            </a:r>
          </a:p>
        </p:txBody>
      </p:sp>
      <p:sp>
        <p:nvSpPr>
          <p:cNvPr id="24" name="RQ"/>
          <p:cNvSpPr/>
          <p:nvPr/>
        </p:nvSpPr>
        <p:spPr>
          <a:xfrm>
            <a:off x="4297680" y="5093208"/>
            <a:ext cx="7040880" cy="594360"/>
          </a:xfrm>
          <a:prstGeom prst="rect">
            <a:avLst/>
          </a:prstGeom>
          <a:noFill/>
          <a:ln/>
        </p:spPr>
        <p:txBody>
          <a:bodyPr wrap="square" lIns="0" tIns="0" rIns="0" bIns="0" rtlCol="0" anchor="ctr"/>
          <a:lstStyle/>
          <a:p>
            <a:pPr marL="0" indent="0">
              <a:lnSpc>
                <a:spcPct val="125000"/>
              </a:lnSpc>
              <a:buNone/>
            </a:pPr>
            <a:r>
              <a:rPr lang="ko-KR" altLang="en-US" sz="1250" dirty="0">
                <a:solidFill>
                  <a:srgbClr val="222633"/>
                </a:solidFill>
                <a:latin typeface="Pretendard" pitchFamily="34" charset="0"/>
                <a:ea typeface="Pretendard" pitchFamily="34" charset="-122"/>
                <a:cs typeface="Pretendard" pitchFamily="34" charset="-120"/>
              </a:rPr>
              <a:t>필요한 치료를 실제로 제공하고, 청소년이 계속 참여하도록 지원할 수 있는가?</a:t>
            </a:r>
          </a:p>
        </p:txBody>
      </p:sp>
      <p:sp>
        <p:nvSpPr>
          <p:cNvPr id="25" name="L"/>
          <p:cNvSpPr/>
          <p:nvPr/>
        </p:nvSpPr>
        <p:spPr>
          <a:xfrm>
            <a:off x="731520" y="5687568"/>
            <a:ext cx="10725912" cy="0"/>
          </a:xfrm>
          <a:prstGeom prst="line">
            <a:avLst/>
          </a:prstGeom>
          <a:ln w="9525">
            <a:solidFill>
              <a:srgbClr val="DCE0E8"/>
            </a:solidFill>
          </a:ln>
        </p:spPr>
        <p:txBody>
          <a:bodyPr/>
          <a:lstStyle/>
          <a:p>
            <a:endParaRPr lang="ko-KR"/>
          </a:p>
        </p:txBody>
      </p:sp>
      <p:sp>
        <p:nvSpPr>
          <p:cNvPr id="26" name="RL"/>
          <p:cNvSpPr/>
          <p:nvPr/>
        </p:nvSpPr>
        <p:spPr>
          <a:xfrm>
            <a:off x="1005840" y="5687568"/>
            <a:ext cx="3108960" cy="594360"/>
          </a:xfrm>
          <a:prstGeom prst="rect">
            <a:avLst/>
          </a:prstGeom>
          <a:noFill/>
          <a:ln/>
        </p:spPr>
        <p:txBody>
          <a:bodyPr wrap="square" lIns="0" tIns="0" rIns="0" bIns="0" rtlCol="0" anchor="ctr"/>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⑥ 불참·반복 위반에 대한 대응</a:t>
            </a:r>
          </a:p>
        </p:txBody>
      </p:sp>
      <p:sp>
        <p:nvSpPr>
          <p:cNvPr id="27" name="RQ"/>
          <p:cNvSpPr/>
          <p:nvPr/>
        </p:nvSpPr>
        <p:spPr>
          <a:xfrm>
            <a:off x="4297680" y="5687568"/>
            <a:ext cx="7040880" cy="594360"/>
          </a:xfrm>
          <a:prstGeom prst="rect">
            <a:avLst/>
          </a:prstGeom>
          <a:noFill/>
          <a:ln/>
        </p:spPr>
        <p:txBody>
          <a:bodyPr wrap="square" lIns="0" tIns="0" rIns="0" bIns="0" rtlCol="0" anchor="ctr"/>
          <a:lstStyle/>
          <a:p>
            <a:pPr marL="0" indent="0">
              <a:lnSpc>
                <a:spcPct val="125000"/>
              </a:lnSpc>
              <a:buNone/>
            </a:pPr>
            <a:r>
              <a:rPr lang="ko-KR" altLang="en-US" sz="1250" dirty="0">
                <a:solidFill>
                  <a:srgbClr val="222633"/>
                </a:solidFill>
                <a:latin typeface="Pretendard" pitchFamily="34" charset="0"/>
                <a:ea typeface="Pretendard" pitchFamily="34" charset="-122"/>
                <a:cs typeface="Pretendard" pitchFamily="34" charset="-120"/>
              </a:rPr>
              <a:t>치료에 계속 불참하거나 의무를 중대하게 위반할 때, 치료를 조정하거나 적절한 제재를 적용할 수 있는가?</a:t>
            </a:r>
          </a:p>
        </p:txBody>
      </p:sp>
      <p:sp>
        <p:nvSpPr>
          <p:cNvPr id="28" name="L"/>
          <p:cNvSpPr/>
          <p:nvPr/>
        </p:nvSpPr>
        <p:spPr>
          <a:xfrm>
            <a:off x="731520" y="6281928"/>
            <a:ext cx="10725912" cy="0"/>
          </a:xfrm>
          <a:prstGeom prst="line">
            <a:avLst/>
          </a:prstGeom>
          <a:ln w="9525">
            <a:solidFill>
              <a:srgbClr val="DCE0E8"/>
            </a:solidFill>
          </a:ln>
        </p:spPr>
        <p:txBody>
          <a:bodyPr/>
          <a:lstStyle/>
          <a:p>
            <a:endParaRPr lang="ko-K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48640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5A6273"/>
                </a:solidFill>
                <a:latin typeface="Pretendard" pitchFamily="34" charset="0"/>
                <a:ea typeface="Pretendard" pitchFamily="34" charset="-122"/>
                <a:cs typeface="Pretendard" pitchFamily="34" charset="-120"/>
              </a:rPr>
              <a:t>주요 논거와 최종 판단</a:t>
            </a:r>
          </a:p>
        </p:txBody>
      </p:sp>
      <p:sp>
        <p:nvSpPr>
          <p:cNvPr id="3" name="NEXT"/>
          <p:cNvSpPr/>
          <p:nvPr/>
        </p:nvSpPr>
        <p:spPr>
          <a:xfrm>
            <a:off x="6245352" y="365760"/>
            <a:ext cx="5212080" cy="292608"/>
          </a:xfrm>
          <a:prstGeom prst="rect">
            <a:avLst/>
          </a:prstGeom>
          <a:noFill/>
          <a:ln/>
        </p:spPr>
        <p:txBody>
          <a:bodyPr wrap="square" lIns="0" tIns="0" rIns="0" bIns="0" rtlCol="0" anchor="ctr"/>
          <a:lstStyle/>
          <a:p>
            <a:pPr marL="0" indent="0" algn="r">
              <a:lnSpc>
                <a:spcPct val="118000"/>
              </a:lnSpc>
              <a:buNone/>
            </a:pPr>
            <a:r>
              <a:rPr lang="ko-KR" altLang="en-US" sz="1050" dirty="0">
                <a:solidFill>
                  <a:srgbClr val="8A91A0"/>
                </a:solidFill>
                <a:latin typeface="Pretendard" pitchFamily="34" charset="0"/>
                <a:ea typeface="Pretendard" pitchFamily="34" charset="-122"/>
                <a:cs typeface="Pretendard" pitchFamily="34" charset="-120"/>
              </a:rPr>
              <a:t>다음 → 재사용·재범을 줄이는 방법 — 특별예방</a:t>
            </a:r>
          </a:p>
        </p:txBody>
      </p:sp>
      <p:sp>
        <p:nvSpPr>
          <p:cNvPr id="4" name="TITLE"/>
          <p:cNvSpPr/>
          <p:nvPr/>
        </p:nvSpPr>
        <p:spPr>
          <a:xfrm>
            <a:off x="731520" y="640080"/>
            <a:ext cx="10972800" cy="640080"/>
          </a:xfrm>
          <a:prstGeom prst="rect">
            <a:avLst/>
          </a:prstGeom>
          <a:noFill/>
          <a:ln/>
        </p:spPr>
        <p:txBody>
          <a:bodyPr wrap="square" lIns="0" tIns="0" rIns="0" bIns="0" rtlCol="0" anchor="ctr"/>
          <a:lstStyle/>
          <a:p>
            <a:pPr marL="0" indent="0">
              <a:buNone/>
            </a:pPr>
            <a:r>
              <a:rPr lang="ko-KR" altLang="en-US" sz="2700" b="1" dirty="0">
                <a:solidFill>
                  <a:srgbClr val="1E2761"/>
                </a:solidFill>
                <a:latin typeface="Pretendard" pitchFamily="34" charset="0"/>
                <a:ea typeface="Pretendard" pitchFamily="34" charset="-122"/>
                <a:cs typeface="Pretendard" pitchFamily="34" charset="-120"/>
              </a:rPr>
              <a:t>쟁점 ① 청소년의 사용행위에 책임을 묻는 방식</a:t>
            </a:r>
          </a:p>
        </p:txBody>
      </p:sp>
      <p:sp>
        <p:nvSpPr>
          <p:cNvPr id="5" name="BAND"/>
          <p:cNvSpPr/>
          <p:nvPr/>
        </p:nvSpPr>
        <p:spPr>
          <a:xfrm>
            <a:off x="731520" y="1417320"/>
            <a:ext cx="10725912" cy="566928"/>
          </a:xfrm>
          <a:prstGeom prst="rect">
            <a:avLst/>
          </a:prstGeom>
          <a:solidFill>
            <a:srgbClr val="F2F4F8"/>
          </a:solidFill>
          <a:ln/>
        </p:spPr>
      </p:sp>
      <p:sp>
        <p:nvSpPr>
          <p:cNvPr id="6" name="BANDT"/>
          <p:cNvSpPr/>
          <p:nvPr/>
        </p:nvSpPr>
        <p:spPr>
          <a:xfrm>
            <a:off x="1005840" y="1417320"/>
            <a:ext cx="10177272" cy="566928"/>
          </a:xfrm>
          <a:prstGeom prst="rect">
            <a:avLst/>
          </a:prstGeom>
          <a:noFill/>
          <a:ln/>
        </p:spPr>
        <p:txBody>
          <a:bodyPr wrap="square" lIns="0" tIns="0" rIns="0" bIns="0" rtlCol="0" anchor="ctr"/>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청소년의 판단 특성을 고려할 때, 사용행위에 대한 형사처벌보다 치료·재활을 먼저 요구하는 것이 적절한지가 쟁점이다.</a:t>
            </a:r>
          </a:p>
        </p:txBody>
      </p:sp>
      <p:sp>
        <p:nvSpPr>
          <p:cNvPr id="7" name="L"/>
          <p:cNvSpPr/>
          <p:nvPr/>
        </p:nvSpPr>
        <p:spPr>
          <a:xfrm>
            <a:off x="731520" y="2130552"/>
            <a:ext cx="10725912" cy="0"/>
          </a:xfrm>
          <a:prstGeom prst="line">
            <a:avLst/>
          </a:prstGeom>
          <a:ln w="19050">
            <a:solidFill>
              <a:srgbClr val="1E2761"/>
            </a:solidFill>
          </a:ln>
        </p:spPr>
        <p:txBody>
          <a:bodyPr/>
          <a:lstStyle/>
          <a:p>
            <a:endParaRPr lang="ko-KR"/>
          </a:p>
        </p:txBody>
      </p:sp>
      <p:sp>
        <p:nvSpPr>
          <p:cNvPr id="8" name="HEAD"/>
          <p:cNvSpPr/>
          <p:nvPr/>
        </p:nvSpPr>
        <p:spPr>
          <a:xfrm>
            <a:off x="731520" y="2240280"/>
            <a:ext cx="10725912" cy="502920"/>
          </a:xfrm>
          <a:prstGeom prst="rect">
            <a:avLst/>
          </a:prstGeom>
          <a:solidFill>
            <a:srgbClr val="5A6699"/>
          </a:solidFill>
          <a:ln/>
        </p:spPr>
      </p:sp>
      <p:sp>
        <p:nvSpPr>
          <p:cNvPr id="9" name="HL"/>
          <p:cNvSpPr/>
          <p:nvPr/>
        </p:nvSpPr>
        <p:spPr>
          <a:xfrm>
            <a:off x="2331720" y="2240280"/>
            <a:ext cx="4297680" cy="502920"/>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FFFFFF"/>
                </a:solidFill>
                <a:latin typeface="Pretendard" pitchFamily="34" charset="0"/>
                <a:ea typeface="Pretendard" pitchFamily="34" charset="-122"/>
                <a:cs typeface="Pretendard" pitchFamily="34" charset="-120"/>
              </a:rPr>
              <a:t>치료·재활을 형사처벌보다 우선해야 한다</a:t>
            </a:r>
          </a:p>
        </p:txBody>
      </p:sp>
      <p:sp>
        <p:nvSpPr>
          <p:cNvPr id="10" name="HR"/>
          <p:cNvSpPr/>
          <p:nvPr/>
        </p:nvSpPr>
        <p:spPr>
          <a:xfrm>
            <a:off x="6976872" y="2240280"/>
            <a:ext cx="4389120" cy="502920"/>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FFFFFF"/>
                </a:solidFill>
                <a:latin typeface="Pretendard" pitchFamily="34" charset="0"/>
                <a:ea typeface="Pretendard" pitchFamily="34" charset="-122"/>
                <a:cs typeface="Pretendard" pitchFamily="34" charset="-120"/>
              </a:rPr>
              <a:t>치료·재활을 형사처벌보다 우선해야 한다고 볼 수 없다</a:t>
            </a:r>
          </a:p>
        </p:txBody>
      </p:sp>
      <p:sp>
        <p:nvSpPr>
          <p:cNvPr id="11" name="RLAB"/>
          <p:cNvSpPr/>
          <p:nvPr/>
        </p:nvSpPr>
        <p:spPr>
          <a:xfrm>
            <a:off x="731520" y="2743200"/>
            <a:ext cx="1417320" cy="1097280"/>
          </a:xfrm>
          <a:prstGeom prst="rect">
            <a:avLst/>
          </a:prstGeom>
          <a:noFill/>
          <a:ln/>
        </p:spPr>
        <p:txBody>
          <a:bodyPr wrap="square" lIns="0" tIns="0" rIns="0" bIns="0" rtlCol="0" anchor="ctr"/>
          <a:lstStyle/>
          <a:p>
            <a:pPr marL="0" indent="0" algn="ctr">
              <a:lnSpc>
                <a:spcPct val="118000"/>
              </a:lnSpc>
              <a:buNone/>
            </a:pPr>
            <a:r>
              <a:rPr lang="ko-KR" altLang="en-US" sz="1350" b="1" dirty="0">
                <a:solidFill>
                  <a:srgbClr val="1E2761"/>
                </a:solidFill>
                <a:latin typeface="Pretendard" pitchFamily="34" charset="0"/>
                <a:ea typeface="Pretendard" pitchFamily="34" charset="-122"/>
                <a:cs typeface="Pretendard" pitchFamily="34" charset="-120"/>
              </a:rPr>
              <a:t>주장</a:t>
            </a:r>
          </a:p>
        </p:txBody>
      </p:sp>
      <p:sp>
        <p:nvSpPr>
          <p:cNvPr id="12" name="T"/>
          <p:cNvSpPr/>
          <p:nvPr/>
        </p:nvSpPr>
        <p:spPr>
          <a:xfrm>
            <a:off x="2331720" y="2743200"/>
            <a:ext cx="4297680" cy="1097280"/>
          </a:xfrm>
          <a:prstGeom prst="rect">
            <a:avLst/>
          </a:prstGeom>
          <a:noFill/>
          <a:ln/>
        </p:spPr>
        <p:txBody>
          <a:bodyPr wrap="square" lIns="0" tIns="0" rIns="0" bIns="0" rtlCol="0" anchor="ctr"/>
          <a:lstStyle/>
          <a:p>
            <a:pPr marL="0" indent="0">
              <a:lnSpc>
                <a:spcPct val="125000"/>
              </a:lnSpc>
              <a:buNone/>
            </a:pPr>
            <a:r>
              <a:rPr lang="ko-KR" altLang="en-US" sz="1200" b="1" dirty="0">
                <a:solidFill>
                  <a:srgbClr val="222633"/>
                </a:solidFill>
                <a:latin typeface="Pretendard" pitchFamily="34" charset="0"/>
                <a:ea typeface="Pretendard" pitchFamily="34" charset="-122"/>
                <a:cs typeface="Pretendard" pitchFamily="34" charset="-120"/>
              </a:rPr>
              <a:t>또래의 영향을 받기 쉬운 청소년에게는, 형사처벌보다 사용행동을 바꾸는 치료·재활 참여를 먼저 요구해야 한다.</a:t>
            </a:r>
          </a:p>
        </p:txBody>
      </p:sp>
      <p:sp>
        <p:nvSpPr>
          <p:cNvPr id="13" name="T"/>
          <p:cNvSpPr/>
          <p:nvPr/>
        </p:nvSpPr>
        <p:spPr>
          <a:xfrm>
            <a:off x="6976872" y="2743200"/>
            <a:ext cx="4389120" cy="1097280"/>
          </a:xfrm>
          <a:prstGeom prst="rect">
            <a:avLst/>
          </a:prstGeom>
          <a:noFill/>
          <a:ln/>
        </p:spPr>
        <p:txBody>
          <a:bodyPr wrap="square" lIns="0" tIns="0" rIns="0" bIns="0" rtlCol="0" anchor="ctr"/>
          <a:lstStyle/>
          <a:p>
            <a:pPr marL="0" indent="0">
              <a:lnSpc>
                <a:spcPct val="125000"/>
              </a:lnSpc>
              <a:buNone/>
            </a:pPr>
            <a:r>
              <a:rPr lang="ko-KR" altLang="en-US" sz="1200" b="1" dirty="0">
                <a:solidFill>
                  <a:srgbClr val="222633"/>
                </a:solidFill>
                <a:latin typeface="Pretendard" pitchFamily="34" charset="0"/>
                <a:ea typeface="Pretendard" pitchFamily="34" charset="-122"/>
                <a:cs typeface="Pretendard" pitchFamily="34" charset="-120"/>
              </a:rPr>
              <a:t>치료가 필요하더라도 위법한 사용행위에는 그 책임에 맞는 형사처벌이 필요하므로, 치료를 우선하는 원칙에는 동의하기 어렵다.</a:t>
            </a:r>
          </a:p>
        </p:txBody>
      </p:sp>
      <p:sp>
        <p:nvSpPr>
          <p:cNvPr id="14" name="L"/>
          <p:cNvSpPr/>
          <p:nvPr/>
        </p:nvSpPr>
        <p:spPr>
          <a:xfrm>
            <a:off x="731520" y="3840480"/>
            <a:ext cx="10725912" cy="0"/>
          </a:xfrm>
          <a:prstGeom prst="line">
            <a:avLst/>
          </a:prstGeom>
          <a:ln w="9525">
            <a:solidFill>
              <a:srgbClr val="DCE0E8"/>
            </a:solidFill>
          </a:ln>
        </p:spPr>
        <p:txBody>
          <a:bodyPr/>
          <a:lstStyle/>
          <a:p>
            <a:endParaRPr lang="ko-KR"/>
          </a:p>
        </p:txBody>
      </p:sp>
      <p:sp>
        <p:nvSpPr>
          <p:cNvPr id="15" name="RLAB"/>
          <p:cNvSpPr/>
          <p:nvPr/>
        </p:nvSpPr>
        <p:spPr>
          <a:xfrm>
            <a:off x="731520" y="3840480"/>
            <a:ext cx="1417320" cy="1691640"/>
          </a:xfrm>
          <a:prstGeom prst="rect">
            <a:avLst/>
          </a:prstGeom>
          <a:noFill/>
          <a:ln/>
        </p:spPr>
        <p:txBody>
          <a:bodyPr wrap="square" lIns="0" tIns="0" rIns="0" bIns="0" rtlCol="0" anchor="ctr"/>
          <a:lstStyle/>
          <a:p>
            <a:pPr marL="0" indent="0" algn="ctr">
              <a:lnSpc>
                <a:spcPct val="118000"/>
              </a:lnSpc>
              <a:buNone/>
            </a:pPr>
            <a:r>
              <a:rPr lang="ko-KR" altLang="en-US" sz="1350" b="1" dirty="0">
                <a:solidFill>
                  <a:srgbClr val="1E2761"/>
                </a:solidFill>
                <a:latin typeface="Pretendard" pitchFamily="34" charset="0"/>
                <a:ea typeface="Pretendard" pitchFamily="34" charset="-122"/>
                <a:cs typeface="Pretendard" pitchFamily="34" charset="-120"/>
              </a:rPr>
              <a:t>근거·이유</a:t>
            </a:r>
          </a:p>
        </p:txBody>
      </p:sp>
      <p:sp>
        <p:nvSpPr>
          <p:cNvPr id="16" name="T"/>
          <p:cNvSpPr/>
          <p:nvPr/>
        </p:nvSpPr>
        <p:spPr>
          <a:xfrm>
            <a:off x="2331720" y="3840480"/>
            <a:ext cx="4297680" cy="1691640"/>
          </a:xfrm>
          <a:prstGeom prst="rect">
            <a:avLst/>
          </a:prstGeom>
          <a:noFill/>
          <a:ln/>
        </p:spPr>
        <p:txBody>
          <a:bodyPr wrap="square" lIns="0" tIns="0" rIns="0" bIns="0" rtlCol="0" anchor="ctr"/>
          <a:lstStyle/>
          <a:p>
            <a:pPr marL="0" indent="0">
              <a:lnSpc>
                <a:spcPct val="125000"/>
              </a:lnSpc>
              <a:buNone/>
            </a:pPr>
            <a:r>
              <a:rPr lang="ko-KR" altLang="en-US" sz="1100" dirty="0">
                <a:solidFill>
                  <a:srgbClr val="222633"/>
                </a:solidFill>
                <a:latin typeface="Pretendard" pitchFamily="34" charset="0"/>
                <a:ea typeface="Pretendard" pitchFamily="34" charset="-122"/>
                <a:cs typeface="Pretendard" pitchFamily="34" charset="-120"/>
              </a:rPr>
              <a:t>운전 실험에서 청소년은 또래가 지켜볼 때 위험한 선택이 늘었다(Chein 외, 2011). 또래의 영향으로 판단이 흔들릴 수 있다는 점을 책임에 대한 대응에도 반영해야 한다. 청소년에게는 권유를 거절하고 위험한 상황에 대처하는 법을 배울 기회를 먼저 주는 것이 적절하다.</a:t>
            </a:r>
          </a:p>
        </p:txBody>
      </p:sp>
      <p:sp>
        <p:nvSpPr>
          <p:cNvPr id="17" name="T"/>
          <p:cNvSpPr/>
          <p:nvPr/>
        </p:nvSpPr>
        <p:spPr>
          <a:xfrm>
            <a:off x="6976872" y="3840480"/>
            <a:ext cx="4389120" cy="1691640"/>
          </a:xfrm>
          <a:prstGeom prst="rect">
            <a:avLst/>
          </a:prstGeom>
          <a:noFill/>
          <a:ln/>
        </p:spPr>
        <p:txBody>
          <a:bodyPr wrap="square" lIns="0" tIns="0" rIns="0" bIns="0" rtlCol="0" anchor="ctr"/>
          <a:lstStyle/>
          <a:p>
            <a:pPr marL="0" indent="0">
              <a:lnSpc>
                <a:spcPct val="125000"/>
              </a:lnSpc>
              <a:buNone/>
            </a:pPr>
            <a:r>
              <a:rPr lang="ko-KR" altLang="en-US" sz="1100" dirty="0">
                <a:solidFill>
                  <a:srgbClr val="222633"/>
                </a:solidFill>
                <a:latin typeface="Pretendard" pitchFamily="34" charset="0"/>
                <a:ea typeface="Pretendard" pitchFamily="34" charset="-122"/>
                <a:cs typeface="Pretendard" pitchFamily="34" charset="-120"/>
              </a:rPr>
              <a:t>치료는 앞으로의 사용을 줄이기 위한 것이지만, 형사처벌은 이미 저지른 위법행위에 책임을 묻는다. 청소년의 미숙함을 처벌의 정도에 반영하더라도, 치료 참여만으로 그 행위에 대한 책임까지 충분히 물었다고 보기는 어렵다.</a:t>
            </a:r>
          </a:p>
        </p:txBody>
      </p:sp>
      <p:sp>
        <p:nvSpPr>
          <p:cNvPr id="18" name="L"/>
          <p:cNvSpPr/>
          <p:nvPr/>
        </p:nvSpPr>
        <p:spPr>
          <a:xfrm>
            <a:off x="731520" y="5532120"/>
            <a:ext cx="10725912" cy="0"/>
          </a:xfrm>
          <a:prstGeom prst="line">
            <a:avLst/>
          </a:prstGeom>
          <a:ln w="9525">
            <a:solidFill>
              <a:srgbClr val="DCE0E8"/>
            </a:solidFill>
          </a:ln>
        </p:spPr>
        <p:txBody>
          <a:bodyPr/>
          <a:lstStyle/>
          <a:p>
            <a:endParaRPr lang="ko-KR"/>
          </a:p>
        </p:txBody>
      </p:sp>
      <p:sp>
        <p:nvSpPr>
          <p:cNvPr id="19" name="BBAND"/>
          <p:cNvSpPr/>
          <p:nvPr/>
        </p:nvSpPr>
        <p:spPr>
          <a:xfrm>
            <a:off x="731520" y="5650992"/>
            <a:ext cx="10725912" cy="512064"/>
          </a:xfrm>
          <a:prstGeom prst="rect">
            <a:avLst/>
          </a:prstGeom>
          <a:solidFill>
            <a:srgbClr val="F2F4F8"/>
          </a:solidFill>
          <a:ln/>
        </p:spPr>
      </p:sp>
      <p:sp>
        <p:nvSpPr>
          <p:cNvPr id="20" name="BBANDT"/>
          <p:cNvSpPr/>
          <p:nvPr/>
        </p:nvSpPr>
        <p:spPr>
          <a:xfrm>
            <a:off x="1005840" y="5650992"/>
            <a:ext cx="10177272" cy="512064"/>
          </a:xfrm>
          <a:prstGeom prst="rect">
            <a:avLst/>
          </a:prstGeom>
          <a:noFill/>
          <a:ln/>
        </p:spPr>
        <p:txBody>
          <a:bodyPr wrap="square" lIns="0" tIns="0" rIns="0" bIns="0" rtlCol="0" anchor="ctr"/>
          <a:lstStyle/>
          <a:p>
            <a:pPr marL="0" indent="0" algn="ctr">
              <a:lnSpc>
                <a:spcPct val="118000"/>
              </a:lnSpc>
              <a:buNone/>
            </a:pPr>
            <a:r>
              <a:rPr lang="ko-KR" altLang="en-US" sz="1200" b="1" dirty="0">
                <a:solidFill>
                  <a:srgbClr val="1E2761"/>
                </a:solidFill>
                <a:latin typeface="Pretendard" pitchFamily="34" charset="0"/>
                <a:ea typeface="Pretendard" pitchFamily="34" charset="-122"/>
                <a:cs typeface="Pretendard" pitchFamily="34" charset="-120"/>
              </a:rPr>
              <a:t>청소년의 미숙함을 형사처벌을 줄이는 이유로 볼지, 치료·재활을 먼저 요구할 이유로 볼지에서 판단이 갈린다.</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48640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5A6273"/>
                </a:solidFill>
                <a:latin typeface="Pretendard" pitchFamily="34" charset="0"/>
                <a:ea typeface="Pretendard" pitchFamily="34" charset="-122"/>
                <a:cs typeface="Pretendard" pitchFamily="34" charset="-120"/>
              </a:rPr>
              <a:t>주요 논거와 최종 판단</a:t>
            </a:r>
          </a:p>
        </p:txBody>
      </p:sp>
      <p:sp>
        <p:nvSpPr>
          <p:cNvPr id="3" name="NEXT"/>
          <p:cNvSpPr/>
          <p:nvPr/>
        </p:nvSpPr>
        <p:spPr>
          <a:xfrm>
            <a:off x="6245352" y="365760"/>
            <a:ext cx="5212080" cy="292608"/>
          </a:xfrm>
          <a:prstGeom prst="rect">
            <a:avLst/>
          </a:prstGeom>
          <a:noFill/>
          <a:ln/>
        </p:spPr>
        <p:txBody>
          <a:bodyPr wrap="square" lIns="0" tIns="0" rIns="0" bIns="0" rtlCol="0" anchor="ctr"/>
          <a:lstStyle/>
          <a:p>
            <a:pPr marL="0" indent="0" algn="r">
              <a:lnSpc>
                <a:spcPct val="118000"/>
              </a:lnSpc>
              <a:buNone/>
            </a:pPr>
            <a:r>
              <a:rPr lang="ko-KR" altLang="en-US" sz="1050" dirty="0">
                <a:solidFill>
                  <a:srgbClr val="8A91A0"/>
                </a:solidFill>
                <a:latin typeface="Pretendard" pitchFamily="34" charset="0"/>
                <a:ea typeface="Pretendard" pitchFamily="34" charset="-122"/>
                <a:cs typeface="Pretendard" pitchFamily="34" charset="-120"/>
              </a:rPr>
              <a:t>다음 → 다른 청소년의 사용과 일반예방</a:t>
            </a:r>
          </a:p>
        </p:txBody>
      </p:sp>
      <p:sp>
        <p:nvSpPr>
          <p:cNvPr id="4" name="TITLE"/>
          <p:cNvSpPr/>
          <p:nvPr/>
        </p:nvSpPr>
        <p:spPr>
          <a:xfrm>
            <a:off x="731520" y="640080"/>
            <a:ext cx="10972800" cy="640080"/>
          </a:xfrm>
          <a:prstGeom prst="rect">
            <a:avLst/>
          </a:prstGeom>
          <a:noFill/>
          <a:ln/>
        </p:spPr>
        <p:txBody>
          <a:bodyPr wrap="square" lIns="0" tIns="0" rIns="0" bIns="0" rtlCol="0" anchor="ctr"/>
          <a:lstStyle/>
          <a:p>
            <a:pPr marL="0" indent="0">
              <a:buNone/>
            </a:pPr>
            <a:r>
              <a:rPr lang="ko-KR" altLang="en-US" sz="2700" b="1" dirty="0">
                <a:solidFill>
                  <a:srgbClr val="1E2761"/>
                </a:solidFill>
                <a:latin typeface="Pretendard" pitchFamily="34" charset="0"/>
                <a:ea typeface="Pretendard" pitchFamily="34" charset="-122"/>
                <a:cs typeface="Pretendard" pitchFamily="34" charset="-120"/>
              </a:rPr>
              <a:t>쟁점 ② 재사용·재범을 줄이는 방법 — 특별예방</a:t>
            </a:r>
          </a:p>
        </p:txBody>
      </p:sp>
      <p:sp>
        <p:nvSpPr>
          <p:cNvPr id="5" name="BAND"/>
          <p:cNvSpPr/>
          <p:nvPr/>
        </p:nvSpPr>
        <p:spPr>
          <a:xfrm>
            <a:off x="731520" y="1417320"/>
            <a:ext cx="10725912" cy="566928"/>
          </a:xfrm>
          <a:prstGeom prst="rect">
            <a:avLst/>
          </a:prstGeom>
          <a:solidFill>
            <a:srgbClr val="F2F4F8"/>
          </a:solidFill>
          <a:ln/>
        </p:spPr>
      </p:sp>
      <p:sp>
        <p:nvSpPr>
          <p:cNvPr id="6" name="BANDT"/>
          <p:cNvSpPr/>
          <p:nvPr/>
        </p:nvSpPr>
        <p:spPr>
          <a:xfrm>
            <a:off x="1005840" y="1417320"/>
            <a:ext cx="10177272" cy="566928"/>
          </a:xfrm>
          <a:prstGeom prst="rect">
            <a:avLst/>
          </a:prstGeom>
          <a:noFill/>
          <a:ln/>
        </p:spPr>
        <p:txBody>
          <a:bodyPr wrap="square" lIns="0" tIns="0" rIns="0" bIns="0" rtlCol="0" anchor="ctr"/>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이미 사용한 청소년의 재사용·재범을 줄이는 데, 치료를 형사처벌보다 우선할 근거가 충분한지가 쟁점이다.</a:t>
            </a:r>
          </a:p>
        </p:txBody>
      </p:sp>
      <p:sp>
        <p:nvSpPr>
          <p:cNvPr id="7" name="L"/>
          <p:cNvSpPr/>
          <p:nvPr/>
        </p:nvSpPr>
        <p:spPr>
          <a:xfrm>
            <a:off x="731520" y="2130552"/>
            <a:ext cx="10725912" cy="0"/>
          </a:xfrm>
          <a:prstGeom prst="line">
            <a:avLst/>
          </a:prstGeom>
          <a:ln w="19050">
            <a:solidFill>
              <a:srgbClr val="1E2761"/>
            </a:solidFill>
          </a:ln>
        </p:spPr>
        <p:txBody>
          <a:bodyPr/>
          <a:lstStyle/>
          <a:p>
            <a:endParaRPr lang="ko-KR"/>
          </a:p>
        </p:txBody>
      </p:sp>
      <p:sp>
        <p:nvSpPr>
          <p:cNvPr id="8" name="HEAD"/>
          <p:cNvSpPr/>
          <p:nvPr/>
        </p:nvSpPr>
        <p:spPr>
          <a:xfrm>
            <a:off x="731520" y="2240280"/>
            <a:ext cx="10725912" cy="502920"/>
          </a:xfrm>
          <a:prstGeom prst="rect">
            <a:avLst/>
          </a:prstGeom>
          <a:solidFill>
            <a:srgbClr val="5A6699"/>
          </a:solidFill>
          <a:ln/>
        </p:spPr>
      </p:sp>
      <p:sp>
        <p:nvSpPr>
          <p:cNvPr id="9" name="HL"/>
          <p:cNvSpPr/>
          <p:nvPr/>
        </p:nvSpPr>
        <p:spPr>
          <a:xfrm>
            <a:off x="2331720" y="2240280"/>
            <a:ext cx="4297680" cy="502920"/>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FFFFFF"/>
                </a:solidFill>
                <a:latin typeface="Pretendard" pitchFamily="34" charset="0"/>
                <a:ea typeface="Pretendard" pitchFamily="34" charset="-122"/>
                <a:cs typeface="Pretendard" pitchFamily="34" charset="-120"/>
              </a:rPr>
              <a:t>치료·재활을 형사처벌보다 우선해야 한다</a:t>
            </a:r>
          </a:p>
        </p:txBody>
      </p:sp>
      <p:sp>
        <p:nvSpPr>
          <p:cNvPr id="10" name="HR"/>
          <p:cNvSpPr/>
          <p:nvPr/>
        </p:nvSpPr>
        <p:spPr>
          <a:xfrm>
            <a:off x="6976872" y="2240280"/>
            <a:ext cx="4389120" cy="502920"/>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FFFFFF"/>
                </a:solidFill>
                <a:latin typeface="Pretendard" pitchFamily="34" charset="0"/>
                <a:ea typeface="Pretendard" pitchFamily="34" charset="-122"/>
                <a:cs typeface="Pretendard" pitchFamily="34" charset="-120"/>
              </a:rPr>
              <a:t>치료·재활을 형사처벌보다 우선해야 한다고 볼 수 없다</a:t>
            </a:r>
          </a:p>
        </p:txBody>
      </p:sp>
      <p:sp>
        <p:nvSpPr>
          <p:cNvPr id="11" name="RLAB"/>
          <p:cNvSpPr/>
          <p:nvPr/>
        </p:nvSpPr>
        <p:spPr>
          <a:xfrm>
            <a:off x="731520" y="2743200"/>
            <a:ext cx="1417320" cy="1097280"/>
          </a:xfrm>
          <a:prstGeom prst="rect">
            <a:avLst/>
          </a:prstGeom>
          <a:noFill/>
          <a:ln/>
        </p:spPr>
        <p:txBody>
          <a:bodyPr wrap="square" lIns="0" tIns="0" rIns="0" bIns="0" rtlCol="0" anchor="ctr"/>
          <a:lstStyle/>
          <a:p>
            <a:pPr marL="0" indent="0" algn="ctr">
              <a:lnSpc>
                <a:spcPct val="118000"/>
              </a:lnSpc>
              <a:buNone/>
            </a:pPr>
            <a:r>
              <a:rPr lang="ko-KR" altLang="en-US" sz="1350" b="1" dirty="0">
                <a:solidFill>
                  <a:srgbClr val="1E2761"/>
                </a:solidFill>
                <a:latin typeface="Pretendard" pitchFamily="34" charset="0"/>
                <a:ea typeface="Pretendard" pitchFamily="34" charset="-122"/>
                <a:cs typeface="Pretendard" pitchFamily="34" charset="-120"/>
              </a:rPr>
              <a:t>주장</a:t>
            </a:r>
          </a:p>
        </p:txBody>
      </p:sp>
      <p:sp>
        <p:nvSpPr>
          <p:cNvPr id="12" name="T"/>
          <p:cNvSpPr/>
          <p:nvPr/>
        </p:nvSpPr>
        <p:spPr>
          <a:xfrm>
            <a:off x="2331720" y="2743200"/>
            <a:ext cx="4297680" cy="1097280"/>
          </a:xfrm>
          <a:prstGeom prst="rect">
            <a:avLst/>
          </a:prstGeom>
          <a:noFill/>
          <a:ln/>
        </p:spPr>
        <p:txBody>
          <a:bodyPr wrap="square" lIns="0" tIns="0" rIns="0" bIns="0" rtlCol="0" anchor="ctr"/>
          <a:lstStyle/>
          <a:p>
            <a:pPr marL="0" indent="0">
              <a:lnSpc>
                <a:spcPct val="125000"/>
              </a:lnSpc>
              <a:buNone/>
            </a:pPr>
            <a:r>
              <a:rPr lang="ko-KR" altLang="en-US" sz="1200" b="1" dirty="0">
                <a:solidFill>
                  <a:srgbClr val="222633"/>
                </a:solidFill>
                <a:latin typeface="Pretendard" pitchFamily="34" charset="0"/>
                <a:ea typeface="Pretendard" pitchFamily="34" charset="-122"/>
                <a:cs typeface="Pretendard" pitchFamily="34" charset="-120"/>
              </a:rPr>
              <a:t>단약 보상과 부모 훈련처럼 사용행동을 바꾸는 구체적인 치료를 형사처벌보다 먼저 제공해야 한다.</a:t>
            </a:r>
          </a:p>
        </p:txBody>
      </p:sp>
      <p:sp>
        <p:nvSpPr>
          <p:cNvPr id="13" name="T"/>
          <p:cNvSpPr/>
          <p:nvPr/>
        </p:nvSpPr>
        <p:spPr>
          <a:xfrm>
            <a:off x="6976872" y="2743200"/>
            <a:ext cx="4389120" cy="1097280"/>
          </a:xfrm>
          <a:prstGeom prst="rect">
            <a:avLst/>
          </a:prstGeom>
          <a:noFill/>
          <a:ln/>
        </p:spPr>
        <p:txBody>
          <a:bodyPr wrap="square" lIns="0" tIns="0" rIns="0" bIns="0" rtlCol="0" anchor="ctr"/>
          <a:lstStyle/>
          <a:p>
            <a:pPr marL="0" indent="0">
              <a:lnSpc>
                <a:spcPct val="125000"/>
              </a:lnSpc>
              <a:buNone/>
            </a:pPr>
            <a:r>
              <a:rPr lang="ko-KR" altLang="en-US" sz="1200" b="1" dirty="0">
                <a:solidFill>
                  <a:srgbClr val="222633"/>
                </a:solidFill>
                <a:latin typeface="Pretendard" pitchFamily="34" charset="0"/>
                <a:ea typeface="Pretendard" pitchFamily="34" charset="-122"/>
                <a:cs typeface="Pretendard" pitchFamily="34" charset="-120"/>
              </a:rPr>
              <a:t>치료의 효과만으로 치료를 더 우선해야 한다고 판단할 수는 없다. 이후 범죄를 줄이는 형사제재의 역할도 고려해야 한다.</a:t>
            </a:r>
          </a:p>
        </p:txBody>
      </p:sp>
      <p:sp>
        <p:nvSpPr>
          <p:cNvPr id="14" name="L"/>
          <p:cNvSpPr/>
          <p:nvPr/>
        </p:nvSpPr>
        <p:spPr>
          <a:xfrm>
            <a:off x="731520" y="3840480"/>
            <a:ext cx="10725912" cy="0"/>
          </a:xfrm>
          <a:prstGeom prst="line">
            <a:avLst/>
          </a:prstGeom>
          <a:ln w="9525">
            <a:solidFill>
              <a:srgbClr val="DCE0E8"/>
            </a:solidFill>
          </a:ln>
        </p:spPr>
        <p:txBody>
          <a:bodyPr/>
          <a:lstStyle/>
          <a:p>
            <a:endParaRPr lang="ko-KR"/>
          </a:p>
        </p:txBody>
      </p:sp>
      <p:sp>
        <p:nvSpPr>
          <p:cNvPr id="15" name="RLAB"/>
          <p:cNvSpPr/>
          <p:nvPr/>
        </p:nvSpPr>
        <p:spPr>
          <a:xfrm>
            <a:off x="731520" y="3840480"/>
            <a:ext cx="1417320" cy="1691640"/>
          </a:xfrm>
          <a:prstGeom prst="rect">
            <a:avLst/>
          </a:prstGeom>
          <a:noFill/>
          <a:ln/>
        </p:spPr>
        <p:txBody>
          <a:bodyPr wrap="square" lIns="0" tIns="0" rIns="0" bIns="0" rtlCol="0" anchor="ctr"/>
          <a:lstStyle/>
          <a:p>
            <a:pPr marL="0" indent="0" algn="ctr">
              <a:lnSpc>
                <a:spcPct val="118000"/>
              </a:lnSpc>
              <a:buNone/>
            </a:pPr>
            <a:r>
              <a:rPr lang="ko-KR" altLang="en-US" sz="1350" b="1" dirty="0">
                <a:solidFill>
                  <a:srgbClr val="1E2761"/>
                </a:solidFill>
                <a:latin typeface="Pretendard" pitchFamily="34" charset="0"/>
                <a:ea typeface="Pretendard" pitchFamily="34" charset="-122"/>
                <a:cs typeface="Pretendard" pitchFamily="34" charset="-120"/>
              </a:rPr>
              <a:t>근거·이유</a:t>
            </a:r>
          </a:p>
        </p:txBody>
      </p:sp>
      <p:sp>
        <p:nvSpPr>
          <p:cNvPr id="16" name="T"/>
          <p:cNvSpPr/>
          <p:nvPr/>
        </p:nvSpPr>
        <p:spPr>
          <a:xfrm>
            <a:off x="2331720" y="3840480"/>
            <a:ext cx="4297680" cy="1691640"/>
          </a:xfrm>
          <a:prstGeom prst="rect">
            <a:avLst/>
          </a:prstGeom>
          <a:noFill/>
          <a:ln/>
        </p:spPr>
        <p:txBody>
          <a:bodyPr wrap="square" lIns="0" tIns="0" rIns="0" bIns="0" rtlCol="0" anchor="ctr"/>
          <a:lstStyle/>
          <a:p>
            <a:pPr marL="0" indent="0">
              <a:lnSpc>
                <a:spcPct val="125000"/>
              </a:lnSpc>
              <a:buNone/>
            </a:pPr>
            <a:r>
              <a:rPr lang="ko-KR" altLang="en-US" sz="1100" dirty="0">
                <a:solidFill>
                  <a:srgbClr val="222633"/>
                </a:solidFill>
                <a:latin typeface="Pretendard" pitchFamily="34" charset="0"/>
                <a:ea typeface="Pretendard" pitchFamily="34" charset="-122"/>
                <a:cs typeface="Pretendard" pitchFamily="34" charset="-120"/>
              </a:rPr>
              <a:t>같은 상담·검사를 제공하되 보상 방식과 부모 대상 활동을 달리한 연구에서, 10주 이상 연속 단약한 비율은 단약 보상·부모 훈련 조건 50%, 출석 보상·부모교육 조건 18%였다. 사용을 줄이는 행동을 직접 훈련하고 보상하는 치료에서 단약이 더 오래 유지됐다(Stanger 외, 2009; 치료 중 결과).</a:t>
            </a:r>
          </a:p>
        </p:txBody>
      </p:sp>
      <p:sp>
        <p:nvSpPr>
          <p:cNvPr id="17" name="T"/>
          <p:cNvSpPr/>
          <p:nvPr/>
        </p:nvSpPr>
        <p:spPr>
          <a:xfrm>
            <a:off x="6976872" y="3840480"/>
            <a:ext cx="4389120" cy="1691640"/>
          </a:xfrm>
          <a:prstGeom prst="rect">
            <a:avLst/>
          </a:prstGeom>
          <a:noFill/>
          <a:ln/>
        </p:spPr>
        <p:txBody>
          <a:bodyPr wrap="square" lIns="0" tIns="0" rIns="0" bIns="0" rtlCol="0" anchor="ctr"/>
          <a:lstStyle/>
          <a:p>
            <a:pPr marL="0" indent="0">
              <a:lnSpc>
                <a:spcPct val="125000"/>
              </a:lnSpc>
              <a:buNone/>
            </a:pPr>
            <a:r>
              <a:rPr lang="ko-KR" altLang="en-US" sz="1100" dirty="0">
                <a:solidFill>
                  <a:srgbClr val="222633"/>
                </a:solidFill>
                <a:latin typeface="Pretendard" pitchFamily="34" charset="0"/>
                <a:ea typeface="Pretendard" pitchFamily="34" charset="-122"/>
                <a:cs typeface="Pretendard" pitchFamily="34" charset="-120"/>
              </a:rPr>
              <a:t>미국 워싱턴주에서 범죄 내용과 전력이 비슷한 소년들을 시설구금 여부가 갈리는 양형기준의 경계 부근에서 비교했다. 구금된 쪽에서 석방 후 다시 유죄판결을 받을 위험이 낮게 추정되어, 구금이 이후 범죄를 줄일 가능성을 보여준다(Hjalmarsson, 2009).</a:t>
            </a:r>
          </a:p>
        </p:txBody>
      </p:sp>
      <p:sp>
        <p:nvSpPr>
          <p:cNvPr id="18" name="L"/>
          <p:cNvSpPr/>
          <p:nvPr/>
        </p:nvSpPr>
        <p:spPr>
          <a:xfrm>
            <a:off x="731520" y="5532120"/>
            <a:ext cx="10725912" cy="0"/>
          </a:xfrm>
          <a:prstGeom prst="line">
            <a:avLst/>
          </a:prstGeom>
          <a:ln w="9525">
            <a:solidFill>
              <a:srgbClr val="DCE0E8"/>
            </a:solidFill>
          </a:ln>
        </p:spPr>
        <p:txBody>
          <a:bodyPr/>
          <a:lstStyle/>
          <a:p>
            <a:endParaRPr lang="ko-KR"/>
          </a:p>
        </p:txBody>
      </p:sp>
      <p:sp>
        <p:nvSpPr>
          <p:cNvPr id="19" name="BBAND"/>
          <p:cNvSpPr/>
          <p:nvPr/>
        </p:nvSpPr>
        <p:spPr>
          <a:xfrm>
            <a:off x="731520" y="5650992"/>
            <a:ext cx="10725912" cy="512064"/>
          </a:xfrm>
          <a:prstGeom prst="rect">
            <a:avLst/>
          </a:prstGeom>
          <a:solidFill>
            <a:srgbClr val="F2F4F8"/>
          </a:solidFill>
          <a:ln/>
        </p:spPr>
      </p:sp>
      <p:sp>
        <p:nvSpPr>
          <p:cNvPr id="20" name="BBANDT"/>
          <p:cNvSpPr/>
          <p:nvPr/>
        </p:nvSpPr>
        <p:spPr>
          <a:xfrm>
            <a:off x="1005840" y="5650992"/>
            <a:ext cx="10177272" cy="512064"/>
          </a:xfrm>
          <a:prstGeom prst="rect">
            <a:avLst/>
          </a:prstGeom>
          <a:noFill/>
          <a:ln/>
        </p:spPr>
        <p:txBody>
          <a:bodyPr wrap="square" lIns="0" tIns="0" rIns="0" bIns="0" rtlCol="0" anchor="ctr"/>
          <a:lstStyle/>
          <a:p>
            <a:pPr marL="0" indent="0" algn="ctr">
              <a:lnSpc>
                <a:spcPct val="118000"/>
              </a:lnSpc>
              <a:buNone/>
            </a:pPr>
            <a:r>
              <a:rPr lang="ko-KR" altLang="en-US" sz="1200" b="1" dirty="0">
                <a:solidFill>
                  <a:srgbClr val="1E2761"/>
                </a:solidFill>
                <a:latin typeface="Pretendard" pitchFamily="34" charset="0"/>
                <a:ea typeface="Pretendard" pitchFamily="34" charset="-122"/>
                <a:cs typeface="Pretendard" pitchFamily="34" charset="-120"/>
              </a:rPr>
              <a:t>치료 중 사용이 줄었는지와 함께, 처우가 끝난 뒤에도 재사용·재범이 줄어드는지를 우선순위 판단에 포함해야 한다.</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48640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5A6273"/>
                </a:solidFill>
                <a:latin typeface="Pretendard" pitchFamily="34" charset="0"/>
                <a:ea typeface="Pretendard" pitchFamily="34" charset="-122"/>
                <a:cs typeface="Pretendard" pitchFamily="34" charset="-120"/>
              </a:rPr>
              <a:t>주요 논거와 최종 판단</a:t>
            </a:r>
          </a:p>
        </p:txBody>
      </p:sp>
      <p:sp>
        <p:nvSpPr>
          <p:cNvPr id="3" name="NEXT"/>
          <p:cNvSpPr/>
          <p:nvPr/>
        </p:nvSpPr>
        <p:spPr>
          <a:xfrm>
            <a:off x="6245352" y="365760"/>
            <a:ext cx="5212080" cy="292608"/>
          </a:xfrm>
          <a:prstGeom prst="rect">
            <a:avLst/>
          </a:prstGeom>
          <a:noFill/>
          <a:ln/>
        </p:spPr>
        <p:txBody>
          <a:bodyPr wrap="square" lIns="0" tIns="0" rIns="0" bIns="0" rtlCol="0" anchor="ctr"/>
          <a:lstStyle/>
          <a:p>
            <a:pPr marL="0" indent="0" algn="r">
              <a:lnSpc>
                <a:spcPct val="118000"/>
              </a:lnSpc>
              <a:buNone/>
            </a:pPr>
            <a:r>
              <a:rPr lang="ko-KR" altLang="en-US" sz="1050" dirty="0">
                <a:solidFill>
                  <a:srgbClr val="8A91A0"/>
                </a:solidFill>
                <a:latin typeface="Pretendard" pitchFamily="34" charset="0"/>
                <a:ea typeface="Pretendard" pitchFamily="34" charset="-122"/>
                <a:cs typeface="Pretendard" pitchFamily="34" charset="-120"/>
              </a:rPr>
              <a:t>다음 → 학교생활·사회복귀와 자유의 제한</a:t>
            </a:r>
          </a:p>
        </p:txBody>
      </p:sp>
      <p:sp>
        <p:nvSpPr>
          <p:cNvPr id="4" name="TITLE"/>
          <p:cNvSpPr/>
          <p:nvPr/>
        </p:nvSpPr>
        <p:spPr>
          <a:xfrm>
            <a:off x="731520" y="640080"/>
            <a:ext cx="10972800" cy="640080"/>
          </a:xfrm>
          <a:prstGeom prst="rect">
            <a:avLst/>
          </a:prstGeom>
          <a:noFill/>
          <a:ln/>
        </p:spPr>
        <p:txBody>
          <a:bodyPr wrap="square" lIns="0" tIns="0" rIns="0" bIns="0" rtlCol="0" anchor="ctr"/>
          <a:lstStyle/>
          <a:p>
            <a:pPr marL="0" indent="0">
              <a:buNone/>
            </a:pPr>
            <a:r>
              <a:rPr lang="ko-KR" altLang="en-US" sz="2700" b="1" dirty="0">
                <a:solidFill>
                  <a:srgbClr val="1E2761"/>
                </a:solidFill>
                <a:latin typeface="Pretendard" pitchFamily="34" charset="0"/>
                <a:ea typeface="Pretendard" pitchFamily="34" charset="-122"/>
                <a:cs typeface="Pretendard" pitchFamily="34" charset="-120"/>
              </a:rPr>
              <a:t>쟁점 ③ 다른 청소년의 사용과 일반예방</a:t>
            </a:r>
          </a:p>
        </p:txBody>
      </p:sp>
      <p:sp>
        <p:nvSpPr>
          <p:cNvPr id="5" name="BAND"/>
          <p:cNvSpPr/>
          <p:nvPr/>
        </p:nvSpPr>
        <p:spPr>
          <a:xfrm>
            <a:off x="731520" y="1417320"/>
            <a:ext cx="10725912" cy="566928"/>
          </a:xfrm>
          <a:prstGeom prst="rect">
            <a:avLst/>
          </a:prstGeom>
          <a:solidFill>
            <a:srgbClr val="F2F4F8"/>
          </a:solidFill>
          <a:ln/>
        </p:spPr>
      </p:sp>
      <p:sp>
        <p:nvSpPr>
          <p:cNvPr id="6" name="BANDT"/>
          <p:cNvSpPr/>
          <p:nvPr/>
        </p:nvSpPr>
        <p:spPr>
          <a:xfrm>
            <a:off x="1005840" y="1417320"/>
            <a:ext cx="10177272" cy="566928"/>
          </a:xfrm>
          <a:prstGeom prst="rect">
            <a:avLst/>
          </a:prstGeom>
          <a:noFill/>
          <a:ln/>
        </p:spPr>
        <p:txBody>
          <a:bodyPr wrap="square" lIns="0" tIns="0" rIns="0" bIns="0" rtlCol="0" anchor="ctr"/>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치료를 우선해 형사처벌 가능성이 낮아지면, 다른 청소년도 사용을 더 쉽게 선택하게 되는지가 쟁점이다.</a:t>
            </a:r>
          </a:p>
        </p:txBody>
      </p:sp>
      <p:sp>
        <p:nvSpPr>
          <p:cNvPr id="7" name="L"/>
          <p:cNvSpPr/>
          <p:nvPr/>
        </p:nvSpPr>
        <p:spPr>
          <a:xfrm>
            <a:off x="731520" y="2130552"/>
            <a:ext cx="10725912" cy="0"/>
          </a:xfrm>
          <a:prstGeom prst="line">
            <a:avLst/>
          </a:prstGeom>
          <a:ln w="19050">
            <a:solidFill>
              <a:srgbClr val="1E2761"/>
            </a:solidFill>
          </a:ln>
        </p:spPr>
        <p:txBody>
          <a:bodyPr/>
          <a:lstStyle/>
          <a:p>
            <a:endParaRPr lang="ko-KR"/>
          </a:p>
        </p:txBody>
      </p:sp>
      <p:sp>
        <p:nvSpPr>
          <p:cNvPr id="8" name="HEAD"/>
          <p:cNvSpPr/>
          <p:nvPr/>
        </p:nvSpPr>
        <p:spPr>
          <a:xfrm>
            <a:off x="731520" y="2240280"/>
            <a:ext cx="10725912" cy="502920"/>
          </a:xfrm>
          <a:prstGeom prst="rect">
            <a:avLst/>
          </a:prstGeom>
          <a:solidFill>
            <a:srgbClr val="5A6699"/>
          </a:solidFill>
          <a:ln/>
        </p:spPr>
      </p:sp>
      <p:sp>
        <p:nvSpPr>
          <p:cNvPr id="9" name="HL"/>
          <p:cNvSpPr/>
          <p:nvPr/>
        </p:nvSpPr>
        <p:spPr>
          <a:xfrm>
            <a:off x="2331720" y="2240280"/>
            <a:ext cx="4297680" cy="502920"/>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FFFFFF"/>
                </a:solidFill>
                <a:latin typeface="Pretendard" pitchFamily="34" charset="0"/>
                <a:ea typeface="Pretendard" pitchFamily="34" charset="-122"/>
                <a:cs typeface="Pretendard" pitchFamily="34" charset="-120"/>
              </a:rPr>
              <a:t>치료·재활을 형사처벌보다 우선해야 한다</a:t>
            </a:r>
          </a:p>
        </p:txBody>
      </p:sp>
      <p:sp>
        <p:nvSpPr>
          <p:cNvPr id="10" name="HR"/>
          <p:cNvSpPr/>
          <p:nvPr/>
        </p:nvSpPr>
        <p:spPr>
          <a:xfrm>
            <a:off x="6976872" y="2240280"/>
            <a:ext cx="4389120" cy="502920"/>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FFFFFF"/>
                </a:solidFill>
                <a:latin typeface="Pretendard" pitchFamily="34" charset="0"/>
                <a:ea typeface="Pretendard" pitchFamily="34" charset="-122"/>
                <a:cs typeface="Pretendard" pitchFamily="34" charset="-120"/>
              </a:rPr>
              <a:t>치료·재활을 형사처벌보다 우선해야 한다고 볼 수 없다</a:t>
            </a:r>
          </a:p>
        </p:txBody>
      </p:sp>
      <p:sp>
        <p:nvSpPr>
          <p:cNvPr id="11" name="RLAB"/>
          <p:cNvSpPr/>
          <p:nvPr/>
        </p:nvSpPr>
        <p:spPr>
          <a:xfrm>
            <a:off x="731520" y="2743200"/>
            <a:ext cx="1417320" cy="1097280"/>
          </a:xfrm>
          <a:prstGeom prst="rect">
            <a:avLst/>
          </a:prstGeom>
          <a:noFill/>
          <a:ln/>
        </p:spPr>
        <p:txBody>
          <a:bodyPr wrap="square" lIns="0" tIns="0" rIns="0" bIns="0" rtlCol="0" anchor="ctr"/>
          <a:lstStyle/>
          <a:p>
            <a:pPr marL="0" indent="0" algn="ctr">
              <a:lnSpc>
                <a:spcPct val="118000"/>
              </a:lnSpc>
              <a:buNone/>
            </a:pPr>
            <a:r>
              <a:rPr lang="ko-KR" altLang="en-US" sz="1350" b="1" dirty="0">
                <a:solidFill>
                  <a:srgbClr val="1E2761"/>
                </a:solidFill>
                <a:latin typeface="Pretendard" pitchFamily="34" charset="0"/>
                <a:ea typeface="Pretendard" pitchFamily="34" charset="-122"/>
                <a:cs typeface="Pretendard" pitchFamily="34" charset="-120"/>
              </a:rPr>
              <a:t>주장</a:t>
            </a:r>
          </a:p>
        </p:txBody>
      </p:sp>
      <p:sp>
        <p:nvSpPr>
          <p:cNvPr id="12" name="T"/>
          <p:cNvSpPr/>
          <p:nvPr/>
        </p:nvSpPr>
        <p:spPr>
          <a:xfrm>
            <a:off x="2331720" y="2743200"/>
            <a:ext cx="4297680" cy="1097280"/>
          </a:xfrm>
          <a:prstGeom prst="rect">
            <a:avLst/>
          </a:prstGeom>
          <a:noFill/>
          <a:ln/>
        </p:spPr>
        <p:txBody>
          <a:bodyPr wrap="square" lIns="0" tIns="0" rIns="0" bIns="0" rtlCol="0" anchor="ctr"/>
          <a:lstStyle/>
          <a:p>
            <a:pPr marL="0" indent="0">
              <a:lnSpc>
                <a:spcPct val="125000"/>
              </a:lnSpc>
              <a:buNone/>
            </a:pPr>
            <a:r>
              <a:rPr lang="ko-KR" altLang="en-US" sz="1200" b="1" dirty="0">
                <a:solidFill>
                  <a:srgbClr val="222633"/>
                </a:solidFill>
                <a:latin typeface="Pretendard" pitchFamily="34" charset="0"/>
                <a:ea typeface="Pretendard" pitchFamily="34" charset="-122"/>
                <a:cs typeface="Pretendard" pitchFamily="34" charset="-120"/>
              </a:rPr>
              <a:t>처벌을 줄이면 사용이 늘 것이라는 우려만으로, 형사처벌보다 치료·재활을 우선하는 데 반대해서는 안 된다.</a:t>
            </a:r>
          </a:p>
        </p:txBody>
      </p:sp>
      <p:sp>
        <p:nvSpPr>
          <p:cNvPr id="13" name="T"/>
          <p:cNvSpPr/>
          <p:nvPr/>
        </p:nvSpPr>
        <p:spPr>
          <a:xfrm>
            <a:off x="6976872" y="2743200"/>
            <a:ext cx="4389120" cy="1097280"/>
          </a:xfrm>
          <a:prstGeom prst="rect">
            <a:avLst/>
          </a:prstGeom>
          <a:noFill/>
          <a:ln/>
        </p:spPr>
        <p:txBody>
          <a:bodyPr wrap="square" lIns="0" tIns="0" rIns="0" bIns="0" rtlCol="0" anchor="ctr"/>
          <a:lstStyle/>
          <a:p>
            <a:pPr marL="0" indent="0">
              <a:lnSpc>
                <a:spcPct val="125000"/>
              </a:lnSpc>
              <a:buNone/>
            </a:pPr>
            <a:r>
              <a:rPr lang="ko-KR" altLang="en-US" sz="1200" b="1" dirty="0">
                <a:solidFill>
                  <a:srgbClr val="222633"/>
                </a:solidFill>
                <a:latin typeface="Pretendard" pitchFamily="34" charset="0"/>
                <a:ea typeface="Pretendard" pitchFamily="34" charset="-122"/>
                <a:cs typeface="Pretendard" pitchFamily="34" charset="-120"/>
              </a:rPr>
              <a:t>다른 청소년의 사용을 억제하려면 적발 시 형사처벌을 받을 수 있다는 점을 유지해야 하므로, 치료를 먼저 적용하는 데 신중해야 한다.</a:t>
            </a:r>
          </a:p>
        </p:txBody>
      </p:sp>
      <p:sp>
        <p:nvSpPr>
          <p:cNvPr id="14" name="L"/>
          <p:cNvSpPr/>
          <p:nvPr/>
        </p:nvSpPr>
        <p:spPr>
          <a:xfrm>
            <a:off x="731520" y="3840480"/>
            <a:ext cx="10725912" cy="0"/>
          </a:xfrm>
          <a:prstGeom prst="line">
            <a:avLst/>
          </a:prstGeom>
          <a:ln w="9525">
            <a:solidFill>
              <a:srgbClr val="DCE0E8"/>
            </a:solidFill>
          </a:ln>
        </p:spPr>
        <p:txBody>
          <a:bodyPr/>
          <a:lstStyle/>
          <a:p>
            <a:endParaRPr lang="ko-KR"/>
          </a:p>
        </p:txBody>
      </p:sp>
      <p:sp>
        <p:nvSpPr>
          <p:cNvPr id="15" name="RLAB"/>
          <p:cNvSpPr/>
          <p:nvPr/>
        </p:nvSpPr>
        <p:spPr>
          <a:xfrm>
            <a:off x="731520" y="3840480"/>
            <a:ext cx="1417320" cy="1691640"/>
          </a:xfrm>
          <a:prstGeom prst="rect">
            <a:avLst/>
          </a:prstGeom>
          <a:noFill/>
          <a:ln/>
        </p:spPr>
        <p:txBody>
          <a:bodyPr wrap="square" lIns="0" tIns="0" rIns="0" bIns="0" rtlCol="0" anchor="ctr"/>
          <a:lstStyle/>
          <a:p>
            <a:pPr marL="0" indent="0" algn="ctr">
              <a:lnSpc>
                <a:spcPct val="118000"/>
              </a:lnSpc>
              <a:buNone/>
            </a:pPr>
            <a:r>
              <a:rPr lang="ko-KR" altLang="en-US" sz="1350" b="1" dirty="0">
                <a:solidFill>
                  <a:srgbClr val="1E2761"/>
                </a:solidFill>
                <a:latin typeface="Pretendard" pitchFamily="34" charset="0"/>
                <a:ea typeface="Pretendard" pitchFamily="34" charset="-122"/>
                <a:cs typeface="Pretendard" pitchFamily="34" charset="-120"/>
              </a:rPr>
              <a:t>근거·이유</a:t>
            </a:r>
          </a:p>
        </p:txBody>
      </p:sp>
      <p:sp>
        <p:nvSpPr>
          <p:cNvPr id="16" name="T"/>
          <p:cNvSpPr/>
          <p:nvPr/>
        </p:nvSpPr>
        <p:spPr>
          <a:xfrm>
            <a:off x="2331720" y="3840480"/>
            <a:ext cx="4297680" cy="1691640"/>
          </a:xfrm>
          <a:prstGeom prst="rect">
            <a:avLst/>
          </a:prstGeom>
          <a:noFill/>
          <a:ln/>
        </p:spPr>
        <p:txBody>
          <a:bodyPr wrap="square" lIns="0" tIns="0" rIns="0" bIns="0" rtlCol="0" anchor="ctr"/>
          <a:lstStyle/>
          <a:p>
            <a:pPr marL="0" indent="0">
              <a:lnSpc>
                <a:spcPct val="125000"/>
              </a:lnSpc>
              <a:buNone/>
            </a:pPr>
            <a:r>
              <a:rPr lang="ko-KR" altLang="en-US" sz="1100" dirty="0">
                <a:solidFill>
                  <a:srgbClr val="222633"/>
                </a:solidFill>
                <a:latin typeface="Pretendard" pitchFamily="34" charset="0"/>
                <a:ea typeface="Pretendard" pitchFamily="34" charset="-122"/>
                <a:cs typeface="Pretendard" pitchFamily="34" charset="-120"/>
              </a:rPr>
              <a:t>9개국의 단순 소지에 대한 제재 완화 등을 검토한 연구에서는 약물사용 증가가 일관되게 나타나지 않았다. 처벌을 줄인다는 사실만으로 사용이 반드시 늘어난다고 볼 수는 없다(Stevens 외, 2022).</a:t>
            </a:r>
          </a:p>
        </p:txBody>
      </p:sp>
      <p:sp>
        <p:nvSpPr>
          <p:cNvPr id="17" name="T"/>
          <p:cNvSpPr/>
          <p:nvPr/>
        </p:nvSpPr>
        <p:spPr>
          <a:xfrm>
            <a:off x="6976872" y="3840480"/>
            <a:ext cx="4389120" cy="1691640"/>
          </a:xfrm>
          <a:prstGeom prst="rect">
            <a:avLst/>
          </a:prstGeom>
          <a:noFill/>
          <a:ln/>
        </p:spPr>
        <p:txBody>
          <a:bodyPr wrap="square" lIns="0" tIns="0" rIns="0" bIns="0" rtlCol="0" anchor="ctr"/>
          <a:lstStyle/>
          <a:p>
            <a:pPr marL="0" indent="0">
              <a:lnSpc>
                <a:spcPct val="125000"/>
              </a:lnSpc>
              <a:buNone/>
            </a:pPr>
            <a:r>
              <a:rPr lang="ko-KR" altLang="en-US" sz="1100" dirty="0">
                <a:solidFill>
                  <a:srgbClr val="222633"/>
                </a:solidFill>
                <a:latin typeface="Pretendard" pitchFamily="34" charset="0"/>
                <a:ea typeface="Pretendard" pitchFamily="34" charset="-122"/>
                <a:cs typeface="Pretendard" pitchFamily="34" charset="-120"/>
              </a:rPr>
              <a:t>처벌을 예상해 사용을 망설이던 청소년은, 치료로 대신할 수 있다고 알면 적발에 따른 불이익을 작게 느낄 수 있다. 그 결과 사용을 억제하던 이유 하나가 약해져, 사용을 더 쉽게 선택할 가능성이 있다.</a:t>
            </a:r>
          </a:p>
        </p:txBody>
      </p:sp>
      <p:sp>
        <p:nvSpPr>
          <p:cNvPr id="18" name="L"/>
          <p:cNvSpPr/>
          <p:nvPr/>
        </p:nvSpPr>
        <p:spPr>
          <a:xfrm>
            <a:off x="731520" y="5532120"/>
            <a:ext cx="10725912" cy="0"/>
          </a:xfrm>
          <a:prstGeom prst="line">
            <a:avLst/>
          </a:prstGeom>
          <a:ln w="9525">
            <a:solidFill>
              <a:srgbClr val="DCE0E8"/>
            </a:solidFill>
          </a:ln>
        </p:spPr>
        <p:txBody>
          <a:bodyPr/>
          <a:lstStyle/>
          <a:p>
            <a:endParaRPr lang="ko-KR"/>
          </a:p>
        </p:txBody>
      </p:sp>
      <p:sp>
        <p:nvSpPr>
          <p:cNvPr id="19" name="BBAND"/>
          <p:cNvSpPr/>
          <p:nvPr/>
        </p:nvSpPr>
        <p:spPr>
          <a:xfrm>
            <a:off x="731520" y="5650992"/>
            <a:ext cx="10725912" cy="512064"/>
          </a:xfrm>
          <a:prstGeom prst="rect">
            <a:avLst/>
          </a:prstGeom>
          <a:solidFill>
            <a:srgbClr val="F2F4F8"/>
          </a:solidFill>
          <a:ln/>
        </p:spPr>
      </p:sp>
      <p:sp>
        <p:nvSpPr>
          <p:cNvPr id="20" name="BBANDT"/>
          <p:cNvSpPr/>
          <p:nvPr/>
        </p:nvSpPr>
        <p:spPr>
          <a:xfrm>
            <a:off x="1005840" y="5650992"/>
            <a:ext cx="10177272" cy="512064"/>
          </a:xfrm>
          <a:prstGeom prst="rect">
            <a:avLst/>
          </a:prstGeom>
          <a:noFill/>
          <a:ln/>
        </p:spPr>
        <p:txBody>
          <a:bodyPr wrap="square" lIns="0" tIns="0" rIns="0" bIns="0" rtlCol="0" anchor="ctr"/>
          <a:lstStyle/>
          <a:p>
            <a:pPr marL="0" indent="0" algn="ctr">
              <a:lnSpc>
                <a:spcPct val="118000"/>
              </a:lnSpc>
              <a:buNone/>
            </a:pPr>
            <a:r>
              <a:rPr lang="ko-KR" altLang="en-US" sz="1200" b="1" dirty="0">
                <a:solidFill>
                  <a:srgbClr val="1E2761"/>
                </a:solidFill>
                <a:latin typeface="Pretendard" pitchFamily="34" charset="0"/>
                <a:ea typeface="Pretendard" pitchFamily="34" charset="-122"/>
                <a:cs typeface="Pretendard" pitchFamily="34" charset="-120"/>
              </a:rPr>
              <a:t>일반예방에서는 처우받은 당사자의 재범과 별도로, 다른 청소년의 사용 시작이나 사용 빈도가 달라지는지를 살핀다.</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48640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5A6273"/>
                </a:solidFill>
                <a:latin typeface="Pretendard" pitchFamily="34" charset="0"/>
                <a:ea typeface="Pretendard" pitchFamily="34" charset="-122"/>
                <a:cs typeface="Pretendard" pitchFamily="34" charset="-120"/>
              </a:rPr>
              <a:t>주요 논거와 최종 판단</a:t>
            </a:r>
          </a:p>
        </p:txBody>
      </p:sp>
      <p:sp>
        <p:nvSpPr>
          <p:cNvPr id="3" name="NEXT"/>
          <p:cNvSpPr/>
          <p:nvPr/>
        </p:nvSpPr>
        <p:spPr>
          <a:xfrm>
            <a:off x="6245352" y="365760"/>
            <a:ext cx="5212080" cy="292608"/>
          </a:xfrm>
          <a:prstGeom prst="rect">
            <a:avLst/>
          </a:prstGeom>
          <a:noFill/>
          <a:ln/>
        </p:spPr>
        <p:txBody>
          <a:bodyPr wrap="square" lIns="0" tIns="0" rIns="0" bIns="0" rtlCol="0" anchor="ctr"/>
          <a:lstStyle/>
          <a:p>
            <a:pPr marL="0" indent="0" algn="r">
              <a:lnSpc>
                <a:spcPct val="118000"/>
              </a:lnSpc>
              <a:buNone/>
            </a:pPr>
            <a:r>
              <a:rPr lang="ko-KR" altLang="en-US" sz="1050" dirty="0">
                <a:solidFill>
                  <a:srgbClr val="8A91A0"/>
                </a:solidFill>
                <a:latin typeface="Pretendard" pitchFamily="34" charset="0"/>
                <a:ea typeface="Pretendard" pitchFamily="34" charset="-122"/>
                <a:cs typeface="Pretendard" pitchFamily="34" charset="-120"/>
              </a:rPr>
              <a:t>다음 → 치료 불참·반복 위반과 치료 우선의 한계</a:t>
            </a:r>
          </a:p>
        </p:txBody>
      </p:sp>
      <p:sp>
        <p:nvSpPr>
          <p:cNvPr id="4" name="TITLE"/>
          <p:cNvSpPr/>
          <p:nvPr/>
        </p:nvSpPr>
        <p:spPr>
          <a:xfrm>
            <a:off x="731520" y="640080"/>
            <a:ext cx="10972800" cy="640080"/>
          </a:xfrm>
          <a:prstGeom prst="rect">
            <a:avLst/>
          </a:prstGeom>
          <a:noFill/>
          <a:ln/>
        </p:spPr>
        <p:txBody>
          <a:bodyPr wrap="square" lIns="0" tIns="0" rIns="0" bIns="0" rtlCol="0" anchor="ctr"/>
          <a:lstStyle/>
          <a:p>
            <a:pPr marL="0" indent="0">
              <a:buNone/>
            </a:pPr>
            <a:r>
              <a:rPr lang="ko-KR" altLang="en-US" sz="2700" b="1" dirty="0">
                <a:solidFill>
                  <a:srgbClr val="1E2761"/>
                </a:solidFill>
                <a:latin typeface="Pretendard" pitchFamily="34" charset="0"/>
                <a:ea typeface="Pretendard" pitchFamily="34" charset="-122"/>
                <a:cs typeface="Pretendard" pitchFamily="34" charset="-120"/>
              </a:rPr>
              <a:t>쟁점 ⑤ 치료를 실제로 제공하고 지속할 여건</a:t>
            </a:r>
          </a:p>
        </p:txBody>
      </p:sp>
      <p:sp>
        <p:nvSpPr>
          <p:cNvPr id="5" name="BAND"/>
          <p:cNvSpPr/>
          <p:nvPr/>
        </p:nvSpPr>
        <p:spPr>
          <a:xfrm>
            <a:off x="731520" y="1417320"/>
            <a:ext cx="10725912" cy="566928"/>
          </a:xfrm>
          <a:prstGeom prst="rect">
            <a:avLst/>
          </a:prstGeom>
          <a:solidFill>
            <a:srgbClr val="F2F4F8"/>
          </a:solidFill>
          <a:ln/>
        </p:spPr>
      </p:sp>
      <p:sp>
        <p:nvSpPr>
          <p:cNvPr id="6" name="BANDT"/>
          <p:cNvSpPr/>
          <p:nvPr/>
        </p:nvSpPr>
        <p:spPr>
          <a:xfrm>
            <a:off x="1005840" y="1417320"/>
            <a:ext cx="10177272" cy="566928"/>
          </a:xfrm>
          <a:prstGeom prst="rect">
            <a:avLst/>
          </a:prstGeom>
          <a:noFill/>
          <a:ln/>
        </p:spPr>
        <p:txBody>
          <a:bodyPr wrap="square" lIns="0" tIns="0" rIns="0" bIns="0" rtlCol="0" anchor="ctr"/>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필요한 치료를 실제로 제공하고 지속할 여건이, 형사처벌보다 치료를 우선한다는 원칙을 뒷받침하는지가 쟁점이다.</a:t>
            </a:r>
          </a:p>
        </p:txBody>
      </p:sp>
      <p:sp>
        <p:nvSpPr>
          <p:cNvPr id="7" name="L"/>
          <p:cNvSpPr/>
          <p:nvPr/>
        </p:nvSpPr>
        <p:spPr>
          <a:xfrm>
            <a:off x="731520" y="2130552"/>
            <a:ext cx="10725912" cy="0"/>
          </a:xfrm>
          <a:prstGeom prst="line">
            <a:avLst/>
          </a:prstGeom>
          <a:ln w="19050">
            <a:solidFill>
              <a:srgbClr val="1E2761"/>
            </a:solidFill>
          </a:ln>
        </p:spPr>
        <p:txBody>
          <a:bodyPr/>
          <a:lstStyle/>
          <a:p>
            <a:endParaRPr lang="ko-KR"/>
          </a:p>
        </p:txBody>
      </p:sp>
      <p:sp>
        <p:nvSpPr>
          <p:cNvPr id="8" name="HEAD"/>
          <p:cNvSpPr/>
          <p:nvPr/>
        </p:nvSpPr>
        <p:spPr>
          <a:xfrm>
            <a:off x="731520" y="2240280"/>
            <a:ext cx="10725912" cy="502920"/>
          </a:xfrm>
          <a:prstGeom prst="rect">
            <a:avLst/>
          </a:prstGeom>
          <a:solidFill>
            <a:srgbClr val="5A6699"/>
          </a:solidFill>
          <a:ln/>
        </p:spPr>
      </p:sp>
      <p:sp>
        <p:nvSpPr>
          <p:cNvPr id="9" name="HL"/>
          <p:cNvSpPr/>
          <p:nvPr/>
        </p:nvSpPr>
        <p:spPr>
          <a:xfrm>
            <a:off x="2331720" y="2240280"/>
            <a:ext cx="4297680" cy="502920"/>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FFFFFF"/>
                </a:solidFill>
                <a:latin typeface="Pretendard" pitchFamily="34" charset="0"/>
                <a:ea typeface="Pretendard" pitchFamily="34" charset="-122"/>
                <a:cs typeface="Pretendard" pitchFamily="34" charset="-120"/>
              </a:rPr>
              <a:t>치료·재활을 형사처벌보다 우선해야 한다</a:t>
            </a:r>
          </a:p>
        </p:txBody>
      </p:sp>
      <p:sp>
        <p:nvSpPr>
          <p:cNvPr id="10" name="HR"/>
          <p:cNvSpPr/>
          <p:nvPr/>
        </p:nvSpPr>
        <p:spPr>
          <a:xfrm>
            <a:off x="6976872" y="2240280"/>
            <a:ext cx="4389120" cy="502920"/>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FFFFFF"/>
                </a:solidFill>
                <a:latin typeface="Pretendard" pitchFamily="34" charset="0"/>
                <a:ea typeface="Pretendard" pitchFamily="34" charset="-122"/>
                <a:cs typeface="Pretendard" pitchFamily="34" charset="-120"/>
              </a:rPr>
              <a:t>치료·재활을 형사처벌보다 우선해야 한다고 볼 수 없다</a:t>
            </a:r>
          </a:p>
        </p:txBody>
      </p:sp>
      <p:sp>
        <p:nvSpPr>
          <p:cNvPr id="11" name="RLAB"/>
          <p:cNvSpPr/>
          <p:nvPr/>
        </p:nvSpPr>
        <p:spPr>
          <a:xfrm>
            <a:off x="731520" y="2743200"/>
            <a:ext cx="1417320" cy="1097280"/>
          </a:xfrm>
          <a:prstGeom prst="rect">
            <a:avLst/>
          </a:prstGeom>
          <a:noFill/>
          <a:ln/>
        </p:spPr>
        <p:txBody>
          <a:bodyPr wrap="square" lIns="0" tIns="0" rIns="0" bIns="0" rtlCol="0" anchor="ctr"/>
          <a:lstStyle/>
          <a:p>
            <a:pPr marL="0" indent="0" algn="ctr">
              <a:lnSpc>
                <a:spcPct val="118000"/>
              </a:lnSpc>
              <a:buNone/>
            </a:pPr>
            <a:r>
              <a:rPr lang="ko-KR" altLang="en-US" sz="1350" b="1" dirty="0">
                <a:solidFill>
                  <a:srgbClr val="1E2761"/>
                </a:solidFill>
                <a:latin typeface="Pretendard" pitchFamily="34" charset="0"/>
                <a:ea typeface="Pretendard" pitchFamily="34" charset="-122"/>
                <a:cs typeface="Pretendard" pitchFamily="34" charset="-120"/>
              </a:rPr>
              <a:t>주장</a:t>
            </a:r>
          </a:p>
        </p:txBody>
      </p:sp>
      <p:sp>
        <p:nvSpPr>
          <p:cNvPr id="12" name="T"/>
          <p:cNvSpPr/>
          <p:nvPr/>
        </p:nvSpPr>
        <p:spPr>
          <a:xfrm>
            <a:off x="2331720" y="2743200"/>
            <a:ext cx="4297680" cy="1097280"/>
          </a:xfrm>
          <a:prstGeom prst="rect">
            <a:avLst/>
          </a:prstGeom>
          <a:noFill/>
          <a:ln/>
        </p:spPr>
        <p:txBody>
          <a:bodyPr wrap="square" lIns="0" tIns="0" rIns="0" bIns="0" rtlCol="0" anchor="ctr"/>
          <a:lstStyle/>
          <a:p>
            <a:pPr marL="0" indent="0">
              <a:lnSpc>
                <a:spcPct val="125000"/>
              </a:lnSpc>
              <a:buNone/>
            </a:pPr>
            <a:r>
              <a:rPr lang="ko-KR" altLang="en-US" sz="1200" b="1" dirty="0">
                <a:solidFill>
                  <a:srgbClr val="222633"/>
                </a:solidFill>
                <a:latin typeface="Pretendard" pitchFamily="34" charset="0"/>
                <a:ea typeface="Pretendard" pitchFamily="34" charset="-122"/>
                <a:cs typeface="Pretendard" pitchFamily="34" charset="-120"/>
              </a:rPr>
              <a:t>치료 여건의 부족을 이유로 형사처벌을 앞세우기보다, 치료기관과 참여 지원을 늘려 치료·재활을 우선해야 한다.</a:t>
            </a:r>
          </a:p>
        </p:txBody>
      </p:sp>
      <p:sp>
        <p:nvSpPr>
          <p:cNvPr id="13" name="T"/>
          <p:cNvSpPr/>
          <p:nvPr/>
        </p:nvSpPr>
        <p:spPr>
          <a:xfrm>
            <a:off x="6976872" y="2743200"/>
            <a:ext cx="4389120" cy="1097280"/>
          </a:xfrm>
          <a:prstGeom prst="rect">
            <a:avLst/>
          </a:prstGeom>
          <a:noFill/>
          <a:ln/>
        </p:spPr>
        <p:txBody>
          <a:bodyPr wrap="square" lIns="0" tIns="0" rIns="0" bIns="0" rtlCol="0" anchor="ctr"/>
          <a:lstStyle/>
          <a:p>
            <a:pPr marL="0" indent="0">
              <a:lnSpc>
                <a:spcPct val="125000"/>
              </a:lnSpc>
              <a:buNone/>
            </a:pPr>
            <a:r>
              <a:rPr lang="ko-KR" altLang="en-US" sz="1200" b="1" dirty="0">
                <a:solidFill>
                  <a:srgbClr val="222633"/>
                </a:solidFill>
                <a:latin typeface="Pretendard" pitchFamily="34" charset="0"/>
                <a:ea typeface="Pretendard" pitchFamily="34" charset="-122"/>
                <a:cs typeface="Pretendard" pitchFamily="34" charset="-120"/>
              </a:rPr>
              <a:t>필요한 치료를 실제로 제공하고 지속할 수 없다면 기대한 효과를 얻기 어려우므로, 치료를 형사처벌보다 우선하는 원칙을 채택하기 어렵다.</a:t>
            </a:r>
          </a:p>
        </p:txBody>
      </p:sp>
      <p:sp>
        <p:nvSpPr>
          <p:cNvPr id="14" name="L"/>
          <p:cNvSpPr/>
          <p:nvPr/>
        </p:nvSpPr>
        <p:spPr>
          <a:xfrm>
            <a:off x="731520" y="3840480"/>
            <a:ext cx="10725912" cy="0"/>
          </a:xfrm>
          <a:prstGeom prst="line">
            <a:avLst/>
          </a:prstGeom>
          <a:ln w="9525">
            <a:solidFill>
              <a:srgbClr val="DCE0E8"/>
            </a:solidFill>
          </a:ln>
        </p:spPr>
        <p:txBody>
          <a:bodyPr/>
          <a:lstStyle/>
          <a:p>
            <a:endParaRPr lang="ko-KR"/>
          </a:p>
        </p:txBody>
      </p:sp>
      <p:sp>
        <p:nvSpPr>
          <p:cNvPr id="15" name="RLAB"/>
          <p:cNvSpPr/>
          <p:nvPr/>
        </p:nvSpPr>
        <p:spPr>
          <a:xfrm>
            <a:off x="731520" y="3840480"/>
            <a:ext cx="1417320" cy="1691640"/>
          </a:xfrm>
          <a:prstGeom prst="rect">
            <a:avLst/>
          </a:prstGeom>
          <a:noFill/>
          <a:ln/>
        </p:spPr>
        <p:txBody>
          <a:bodyPr wrap="square" lIns="0" tIns="0" rIns="0" bIns="0" rtlCol="0" anchor="ctr"/>
          <a:lstStyle/>
          <a:p>
            <a:pPr marL="0" indent="0" algn="ctr">
              <a:lnSpc>
                <a:spcPct val="118000"/>
              </a:lnSpc>
              <a:buNone/>
            </a:pPr>
            <a:r>
              <a:rPr lang="ko-KR" altLang="en-US" sz="1350" b="1" dirty="0">
                <a:solidFill>
                  <a:srgbClr val="1E2761"/>
                </a:solidFill>
                <a:latin typeface="Pretendard" pitchFamily="34" charset="0"/>
                <a:ea typeface="Pretendard" pitchFamily="34" charset="-122"/>
                <a:cs typeface="Pretendard" pitchFamily="34" charset="-120"/>
              </a:rPr>
              <a:t>근거·이유</a:t>
            </a:r>
          </a:p>
        </p:txBody>
      </p:sp>
      <p:sp>
        <p:nvSpPr>
          <p:cNvPr id="16" name="T"/>
          <p:cNvSpPr/>
          <p:nvPr/>
        </p:nvSpPr>
        <p:spPr>
          <a:xfrm>
            <a:off x="2331720" y="3840480"/>
            <a:ext cx="4297680" cy="1691640"/>
          </a:xfrm>
          <a:prstGeom prst="rect">
            <a:avLst/>
          </a:prstGeom>
          <a:noFill/>
          <a:ln/>
        </p:spPr>
        <p:txBody>
          <a:bodyPr wrap="square" lIns="0" tIns="0" rIns="0" bIns="0" rtlCol="0" anchor="ctr"/>
          <a:lstStyle/>
          <a:p>
            <a:pPr marL="0" indent="0">
              <a:lnSpc>
                <a:spcPct val="125000"/>
              </a:lnSpc>
              <a:buNone/>
            </a:pPr>
            <a:r>
              <a:rPr lang="ko-KR" altLang="en-US" sz="1100" dirty="0">
                <a:solidFill>
                  <a:srgbClr val="222633"/>
                </a:solidFill>
                <a:latin typeface="Pretendard" pitchFamily="34" charset="0"/>
                <a:ea typeface="Pretendard" pitchFamily="34" charset="-122"/>
                <a:cs typeface="Pretendard" pitchFamily="34" charset="-120"/>
              </a:rPr>
              <a:t>18세 때 물질사용장애 증상이 심했던 집단일수록 성인기에도 증상이 나타난 비율이 높았다(McCabe 외, 2022). 사용 문제가 오래 이어질 수 있으므로, 사건을 처리하는 데 그치지 않고 적발된 시점부터 필요한 치료와 지속 지원에 연결해야 한다.</a:t>
            </a:r>
          </a:p>
        </p:txBody>
      </p:sp>
      <p:sp>
        <p:nvSpPr>
          <p:cNvPr id="17" name="T"/>
          <p:cNvSpPr/>
          <p:nvPr/>
        </p:nvSpPr>
        <p:spPr>
          <a:xfrm>
            <a:off x="6976872" y="3840480"/>
            <a:ext cx="4389120" cy="1691640"/>
          </a:xfrm>
          <a:prstGeom prst="rect">
            <a:avLst/>
          </a:prstGeom>
          <a:noFill/>
          <a:ln/>
        </p:spPr>
        <p:txBody>
          <a:bodyPr wrap="square" lIns="0" tIns="0" rIns="0" bIns="0" rtlCol="0" anchor="ctr"/>
          <a:lstStyle/>
          <a:p>
            <a:pPr marL="0" indent="0">
              <a:lnSpc>
                <a:spcPct val="125000"/>
              </a:lnSpc>
              <a:buNone/>
            </a:pPr>
            <a:r>
              <a:rPr lang="ko-KR" altLang="en-US" sz="1100" dirty="0">
                <a:solidFill>
                  <a:srgbClr val="222633"/>
                </a:solidFill>
                <a:latin typeface="Pretendard" pitchFamily="34" charset="0"/>
                <a:ea typeface="Pretendard" pitchFamily="34" charset="-122"/>
                <a:cs typeface="Pretendard" pitchFamily="34" charset="-120"/>
              </a:rPr>
              <a:t>영국 RISKIT-CJS에서는 프로그램에 배정된 246명 중 전체 과정을 마친 사람이 47명(19.1%)이었다. 국내 치료보호 실적도 일부 기관에 집중됐다. 이러한 참여·제공의 문제가 해결되지 않으면, 치료에 배정해도 시작하거나 끝까지 참여하지 못할 수 있다.</a:t>
            </a:r>
          </a:p>
        </p:txBody>
      </p:sp>
      <p:sp>
        <p:nvSpPr>
          <p:cNvPr id="18" name="L"/>
          <p:cNvSpPr/>
          <p:nvPr/>
        </p:nvSpPr>
        <p:spPr>
          <a:xfrm>
            <a:off x="731520" y="5532120"/>
            <a:ext cx="10725912" cy="0"/>
          </a:xfrm>
          <a:prstGeom prst="line">
            <a:avLst/>
          </a:prstGeom>
          <a:ln w="9525">
            <a:solidFill>
              <a:srgbClr val="DCE0E8"/>
            </a:solidFill>
          </a:ln>
        </p:spPr>
        <p:txBody>
          <a:bodyPr/>
          <a:lstStyle/>
          <a:p>
            <a:endParaRPr lang="ko-KR"/>
          </a:p>
        </p:txBody>
      </p:sp>
      <p:sp>
        <p:nvSpPr>
          <p:cNvPr id="19" name="BBAND"/>
          <p:cNvSpPr/>
          <p:nvPr/>
        </p:nvSpPr>
        <p:spPr>
          <a:xfrm>
            <a:off x="731520" y="5650992"/>
            <a:ext cx="10725912" cy="512064"/>
          </a:xfrm>
          <a:prstGeom prst="rect">
            <a:avLst/>
          </a:prstGeom>
          <a:solidFill>
            <a:srgbClr val="F2F4F8"/>
          </a:solidFill>
          <a:ln/>
        </p:spPr>
      </p:sp>
      <p:sp>
        <p:nvSpPr>
          <p:cNvPr id="20" name="BBANDT"/>
          <p:cNvSpPr/>
          <p:nvPr/>
        </p:nvSpPr>
        <p:spPr>
          <a:xfrm>
            <a:off x="1005840" y="5650992"/>
            <a:ext cx="10177272" cy="512064"/>
          </a:xfrm>
          <a:prstGeom prst="rect">
            <a:avLst/>
          </a:prstGeom>
          <a:noFill/>
          <a:ln/>
        </p:spPr>
        <p:txBody>
          <a:bodyPr wrap="square" lIns="0" tIns="0" rIns="0" bIns="0" rtlCol="0" anchor="ctr"/>
          <a:lstStyle/>
          <a:p>
            <a:pPr marL="0" indent="0" algn="ctr">
              <a:lnSpc>
                <a:spcPct val="118000"/>
              </a:lnSpc>
              <a:buNone/>
            </a:pPr>
            <a:r>
              <a:rPr lang="ko-KR" altLang="en-US" sz="1200" b="1" dirty="0">
                <a:solidFill>
                  <a:srgbClr val="1E2761"/>
                </a:solidFill>
                <a:latin typeface="Pretendard" pitchFamily="34" charset="0"/>
                <a:ea typeface="Pretendard" pitchFamily="34" charset="-122"/>
                <a:cs typeface="Pretendard" pitchFamily="34" charset="-120"/>
              </a:rPr>
              <a:t>치료 여건의 부족을 지원 확대의 이유로 볼지, 치료 우선 원칙의 실행 가능성을 제한하는 이유로 볼지에서 판단이 갈린다.</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48640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5A6273"/>
                </a:solidFill>
                <a:latin typeface="Pretendard" pitchFamily="34" charset="0"/>
                <a:ea typeface="Pretendard" pitchFamily="34" charset="-122"/>
                <a:cs typeface="Pretendard" pitchFamily="34" charset="-120"/>
              </a:rPr>
              <a:t>주요 논거와 최종 판단</a:t>
            </a:r>
          </a:p>
        </p:txBody>
      </p:sp>
      <p:sp>
        <p:nvSpPr>
          <p:cNvPr id="3" name="NEXT"/>
          <p:cNvSpPr/>
          <p:nvPr/>
        </p:nvSpPr>
        <p:spPr>
          <a:xfrm>
            <a:off x="6245352" y="365760"/>
            <a:ext cx="5212080" cy="292608"/>
          </a:xfrm>
          <a:prstGeom prst="rect">
            <a:avLst/>
          </a:prstGeom>
          <a:noFill/>
          <a:ln/>
        </p:spPr>
        <p:txBody>
          <a:bodyPr wrap="square" lIns="0" tIns="0" rIns="0" bIns="0" rtlCol="0" anchor="ctr"/>
          <a:lstStyle/>
          <a:p>
            <a:pPr marL="0" indent="0" algn="r">
              <a:lnSpc>
                <a:spcPct val="118000"/>
              </a:lnSpc>
              <a:buNone/>
            </a:pPr>
            <a:r>
              <a:rPr lang="ko-KR" altLang="en-US" sz="1050" dirty="0">
                <a:solidFill>
                  <a:srgbClr val="8A91A0"/>
                </a:solidFill>
                <a:latin typeface="Pretendard" pitchFamily="34" charset="0"/>
                <a:ea typeface="Pretendard" pitchFamily="34" charset="-122"/>
                <a:cs typeface="Pretendard" pitchFamily="34" charset="-120"/>
              </a:rPr>
              <a:t>다음 → 치료를 실제로 제공하고 지속할 여건</a:t>
            </a:r>
          </a:p>
        </p:txBody>
      </p:sp>
      <p:sp>
        <p:nvSpPr>
          <p:cNvPr id="4" name="TITLE"/>
          <p:cNvSpPr/>
          <p:nvPr/>
        </p:nvSpPr>
        <p:spPr>
          <a:xfrm>
            <a:off x="731520" y="640080"/>
            <a:ext cx="10972800" cy="640080"/>
          </a:xfrm>
          <a:prstGeom prst="rect">
            <a:avLst/>
          </a:prstGeom>
          <a:noFill/>
          <a:ln/>
        </p:spPr>
        <p:txBody>
          <a:bodyPr wrap="square" lIns="0" tIns="0" rIns="0" bIns="0" rtlCol="0" anchor="ctr"/>
          <a:lstStyle/>
          <a:p>
            <a:pPr marL="0" indent="0">
              <a:buNone/>
            </a:pPr>
            <a:r>
              <a:rPr lang="ko-KR" altLang="en-US" sz="2700" b="1" dirty="0">
                <a:solidFill>
                  <a:srgbClr val="1E2761"/>
                </a:solidFill>
                <a:latin typeface="Pretendard" pitchFamily="34" charset="0"/>
                <a:ea typeface="Pretendard" pitchFamily="34" charset="-122"/>
                <a:cs typeface="Pretendard" pitchFamily="34" charset="-120"/>
              </a:rPr>
              <a:t>쟁점 ④ 학교생활·사회복귀와 자유의 제한</a:t>
            </a:r>
          </a:p>
        </p:txBody>
      </p:sp>
      <p:sp>
        <p:nvSpPr>
          <p:cNvPr id="5" name="BAND"/>
          <p:cNvSpPr/>
          <p:nvPr/>
        </p:nvSpPr>
        <p:spPr>
          <a:xfrm>
            <a:off x="731520" y="1417320"/>
            <a:ext cx="10725912" cy="566928"/>
          </a:xfrm>
          <a:prstGeom prst="rect">
            <a:avLst/>
          </a:prstGeom>
          <a:solidFill>
            <a:srgbClr val="F2F4F8"/>
          </a:solidFill>
          <a:ln/>
        </p:spPr>
      </p:sp>
      <p:sp>
        <p:nvSpPr>
          <p:cNvPr id="6" name="BANDT"/>
          <p:cNvSpPr/>
          <p:nvPr/>
        </p:nvSpPr>
        <p:spPr>
          <a:xfrm>
            <a:off x="1005840" y="1417320"/>
            <a:ext cx="10177272" cy="566928"/>
          </a:xfrm>
          <a:prstGeom prst="rect">
            <a:avLst/>
          </a:prstGeom>
          <a:noFill/>
          <a:ln/>
        </p:spPr>
        <p:txBody>
          <a:bodyPr wrap="square" lIns="0" tIns="0" rIns="0" bIns="0" rtlCol="0" anchor="ctr"/>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치료를 우선하면 형사처벌에 비해 학업·사회복귀의 불이익과 자유 제한을 줄일 수 있는지가 쟁점이다.</a:t>
            </a:r>
          </a:p>
        </p:txBody>
      </p:sp>
      <p:sp>
        <p:nvSpPr>
          <p:cNvPr id="7" name="L"/>
          <p:cNvSpPr/>
          <p:nvPr/>
        </p:nvSpPr>
        <p:spPr>
          <a:xfrm>
            <a:off x="731520" y="2130552"/>
            <a:ext cx="10725912" cy="0"/>
          </a:xfrm>
          <a:prstGeom prst="line">
            <a:avLst/>
          </a:prstGeom>
          <a:ln w="19050">
            <a:solidFill>
              <a:srgbClr val="1E2761"/>
            </a:solidFill>
          </a:ln>
        </p:spPr>
        <p:txBody>
          <a:bodyPr/>
          <a:lstStyle/>
          <a:p>
            <a:endParaRPr lang="ko-KR"/>
          </a:p>
        </p:txBody>
      </p:sp>
      <p:sp>
        <p:nvSpPr>
          <p:cNvPr id="8" name="HEAD"/>
          <p:cNvSpPr/>
          <p:nvPr/>
        </p:nvSpPr>
        <p:spPr>
          <a:xfrm>
            <a:off x="731520" y="2240280"/>
            <a:ext cx="10725912" cy="502920"/>
          </a:xfrm>
          <a:prstGeom prst="rect">
            <a:avLst/>
          </a:prstGeom>
          <a:solidFill>
            <a:srgbClr val="5A6699"/>
          </a:solidFill>
          <a:ln/>
        </p:spPr>
      </p:sp>
      <p:sp>
        <p:nvSpPr>
          <p:cNvPr id="9" name="HL"/>
          <p:cNvSpPr/>
          <p:nvPr/>
        </p:nvSpPr>
        <p:spPr>
          <a:xfrm>
            <a:off x="2331720" y="2240280"/>
            <a:ext cx="4297680" cy="502920"/>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FFFFFF"/>
                </a:solidFill>
                <a:latin typeface="Pretendard" pitchFamily="34" charset="0"/>
                <a:ea typeface="Pretendard" pitchFamily="34" charset="-122"/>
                <a:cs typeface="Pretendard" pitchFamily="34" charset="-120"/>
              </a:rPr>
              <a:t>치료·재활을 형사처벌보다 우선해야 한다</a:t>
            </a:r>
          </a:p>
        </p:txBody>
      </p:sp>
      <p:sp>
        <p:nvSpPr>
          <p:cNvPr id="10" name="HR"/>
          <p:cNvSpPr/>
          <p:nvPr/>
        </p:nvSpPr>
        <p:spPr>
          <a:xfrm>
            <a:off x="6976872" y="2240280"/>
            <a:ext cx="4389120" cy="502920"/>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FFFFFF"/>
                </a:solidFill>
                <a:latin typeface="Pretendard" pitchFamily="34" charset="0"/>
                <a:ea typeface="Pretendard" pitchFamily="34" charset="-122"/>
                <a:cs typeface="Pretendard" pitchFamily="34" charset="-120"/>
              </a:rPr>
              <a:t>치료·재활을 형사처벌보다 우선해야 한다고 볼 수 없다</a:t>
            </a:r>
          </a:p>
        </p:txBody>
      </p:sp>
      <p:sp>
        <p:nvSpPr>
          <p:cNvPr id="11" name="RLAB"/>
          <p:cNvSpPr/>
          <p:nvPr/>
        </p:nvSpPr>
        <p:spPr>
          <a:xfrm>
            <a:off x="731520" y="2743200"/>
            <a:ext cx="1417320" cy="1097280"/>
          </a:xfrm>
          <a:prstGeom prst="rect">
            <a:avLst/>
          </a:prstGeom>
          <a:noFill/>
          <a:ln/>
        </p:spPr>
        <p:txBody>
          <a:bodyPr wrap="square" lIns="0" tIns="0" rIns="0" bIns="0" rtlCol="0" anchor="ctr"/>
          <a:lstStyle/>
          <a:p>
            <a:pPr marL="0" indent="0" algn="ctr">
              <a:lnSpc>
                <a:spcPct val="118000"/>
              </a:lnSpc>
              <a:buNone/>
            </a:pPr>
            <a:r>
              <a:rPr lang="ko-KR" altLang="en-US" sz="1350" b="1" dirty="0">
                <a:solidFill>
                  <a:srgbClr val="1E2761"/>
                </a:solidFill>
                <a:latin typeface="Pretendard" pitchFamily="34" charset="0"/>
                <a:ea typeface="Pretendard" pitchFamily="34" charset="-122"/>
                <a:cs typeface="Pretendard" pitchFamily="34" charset="-120"/>
              </a:rPr>
              <a:t>주장</a:t>
            </a:r>
          </a:p>
        </p:txBody>
      </p:sp>
      <p:sp>
        <p:nvSpPr>
          <p:cNvPr id="12" name="T"/>
          <p:cNvSpPr/>
          <p:nvPr/>
        </p:nvSpPr>
        <p:spPr>
          <a:xfrm>
            <a:off x="2331720" y="2743200"/>
            <a:ext cx="4297680" cy="1097280"/>
          </a:xfrm>
          <a:prstGeom prst="rect">
            <a:avLst/>
          </a:prstGeom>
          <a:noFill/>
          <a:ln/>
        </p:spPr>
        <p:txBody>
          <a:bodyPr wrap="square" lIns="0" tIns="0" rIns="0" bIns="0" rtlCol="0" anchor="ctr"/>
          <a:lstStyle/>
          <a:p>
            <a:pPr marL="0" indent="0">
              <a:lnSpc>
                <a:spcPct val="125000"/>
              </a:lnSpc>
              <a:buNone/>
            </a:pPr>
            <a:r>
              <a:rPr lang="ko-KR" altLang="en-US" sz="1200" b="1" dirty="0">
                <a:solidFill>
                  <a:srgbClr val="222633"/>
                </a:solidFill>
                <a:latin typeface="Pretendard" pitchFamily="34" charset="0"/>
                <a:ea typeface="Pretendard" pitchFamily="34" charset="-122"/>
                <a:cs typeface="Pretendard" pitchFamily="34" charset="-120"/>
              </a:rPr>
              <a:t>학교와 일상생활을 유지하면서 치료받을 수 있는 방법을 우선해, 구금으로 학업과 진학 준비가 끊기는 일을 줄여야 한다.</a:t>
            </a:r>
          </a:p>
        </p:txBody>
      </p:sp>
      <p:sp>
        <p:nvSpPr>
          <p:cNvPr id="13" name="T"/>
          <p:cNvSpPr/>
          <p:nvPr/>
        </p:nvSpPr>
        <p:spPr>
          <a:xfrm>
            <a:off x="6976872" y="2743200"/>
            <a:ext cx="4389120" cy="1097280"/>
          </a:xfrm>
          <a:prstGeom prst="rect">
            <a:avLst/>
          </a:prstGeom>
          <a:noFill/>
          <a:ln/>
        </p:spPr>
        <p:txBody>
          <a:bodyPr wrap="square" lIns="0" tIns="0" rIns="0" bIns="0" rtlCol="0" anchor="ctr"/>
          <a:lstStyle/>
          <a:p>
            <a:pPr marL="0" indent="0">
              <a:lnSpc>
                <a:spcPct val="125000"/>
              </a:lnSpc>
              <a:buNone/>
            </a:pPr>
            <a:r>
              <a:rPr lang="ko-KR" altLang="en-US" sz="1200" b="1" dirty="0">
                <a:solidFill>
                  <a:srgbClr val="222633"/>
                </a:solidFill>
                <a:latin typeface="Pretendard" pitchFamily="34" charset="0"/>
                <a:ea typeface="Pretendard" pitchFamily="34" charset="-122"/>
                <a:cs typeface="Pretendard" pitchFamily="34" charset="-120"/>
              </a:rPr>
              <a:t>형사처벌 안에서도 구금과 불이익을 줄일 수 있으므로, 학업·사회복귀의 부담만으로 치료를 우선해야 한다고 볼 수는 없다.</a:t>
            </a:r>
          </a:p>
        </p:txBody>
      </p:sp>
      <p:sp>
        <p:nvSpPr>
          <p:cNvPr id="14" name="L"/>
          <p:cNvSpPr/>
          <p:nvPr/>
        </p:nvSpPr>
        <p:spPr>
          <a:xfrm>
            <a:off x="731520" y="3840480"/>
            <a:ext cx="10725912" cy="0"/>
          </a:xfrm>
          <a:prstGeom prst="line">
            <a:avLst/>
          </a:prstGeom>
          <a:ln w="9525">
            <a:solidFill>
              <a:srgbClr val="DCE0E8"/>
            </a:solidFill>
          </a:ln>
        </p:spPr>
        <p:txBody>
          <a:bodyPr/>
          <a:lstStyle/>
          <a:p>
            <a:endParaRPr lang="ko-KR"/>
          </a:p>
        </p:txBody>
      </p:sp>
      <p:sp>
        <p:nvSpPr>
          <p:cNvPr id="15" name="RLAB"/>
          <p:cNvSpPr/>
          <p:nvPr/>
        </p:nvSpPr>
        <p:spPr>
          <a:xfrm>
            <a:off x="731520" y="3840480"/>
            <a:ext cx="1417320" cy="1389888"/>
          </a:xfrm>
          <a:prstGeom prst="rect">
            <a:avLst/>
          </a:prstGeom>
          <a:noFill/>
          <a:ln/>
        </p:spPr>
        <p:txBody>
          <a:bodyPr wrap="square" lIns="0" tIns="0" rIns="0" bIns="0" rtlCol="0" anchor="ctr"/>
          <a:lstStyle/>
          <a:p>
            <a:pPr marL="0" indent="0" algn="ctr">
              <a:lnSpc>
                <a:spcPct val="118000"/>
              </a:lnSpc>
              <a:buNone/>
            </a:pPr>
            <a:r>
              <a:rPr lang="ko-KR" altLang="en-US" sz="1350" b="1" dirty="0">
                <a:solidFill>
                  <a:srgbClr val="1E2761"/>
                </a:solidFill>
                <a:latin typeface="Pretendard" pitchFamily="34" charset="0"/>
                <a:ea typeface="Pretendard" pitchFamily="34" charset="-122"/>
                <a:cs typeface="Pretendard" pitchFamily="34" charset="-120"/>
              </a:rPr>
              <a:t>근거·이유</a:t>
            </a:r>
          </a:p>
        </p:txBody>
      </p:sp>
      <p:sp>
        <p:nvSpPr>
          <p:cNvPr id="16" name="T"/>
          <p:cNvSpPr/>
          <p:nvPr/>
        </p:nvSpPr>
        <p:spPr>
          <a:xfrm>
            <a:off x="2331720" y="3840480"/>
            <a:ext cx="4297680" cy="1389888"/>
          </a:xfrm>
          <a:prstGeom prst="rect">
            <a:avLst/>
          </a:prstGeom>
          <a:noFill/>
          <a:ln/>
        </p:spPr>
        <p:txBody>
          <a:bodyPr wrap="square" lIns="0" tIns="0" rIns="0" bIns="0" rtlCol="0" anchor="ctr"/>
          <a:lstStyle/>
          <a:p>
            <a:pPr marL="0" indent="0">
              <a:lnSpc>
                <a:spcPct val="125000"/>
              </a:lnSpc>
              <a:buNone/>
            </a:pPr>
            <a:r>
              <a:rPr lang="ko-KR" altLang="en-US" sz="1100" dirty="0">
                <a:solidFill>
                  <a:srgbClr val="222633"/>
                </a:solidFill>
                <a:latin typeface="Pretendard" pitchFamily="34" charset="0"/>
                <a:ea typeface="Pretendard" pitchFamily="34" charset="-122"/>
                <a:cs typeface="Pretendard" pitchFamily="34" charset="-120"/>
              </a:rPr>
              <a:t>미국의 소년 구금 연구에서는 고교 졸업 가능성이 낮아지고, 25세까지 성인 교정시설에 수감될 가능성이 높아진 것으로 추정됐다. </a:t>
            </a:r>
            <a:endParaRPr lang="en-US" altLang="ko-KR" sz="1100" dirty="0">
              <a:solidFill>
                <a:srgbClr val="222633"/>
              </a:solidFill>
              <a:latin typeface="Pretendard" pitchFamily="34" charset="0"/>
              <a:ea typeface="Pretendard" pitchFamily="34" charset="-122"/>
              <a:cs typeface="Pretendard" pitchFamily="34" charset="-120"/>
            </a:endParaRPr>
          </a:p>
          <a:p>
            <a:pPr marL="0" indent="0">
              <a:lnSpc>
                <a:spcPct val="125000"/>
              </a:lnSpc>
              <a:buNone/>
            </a:pPr>
            <a:endParaRPr lang="en-US" altLang="ko-KR" sz="1100" dirty="0">
              <a:solidFill>
                <a:srgbClr val="222633"/>
              </a:solidFill>
              <a:latin typeface="Pretendard" pitchFamily="34" charset="0"/>
              <a:ea typeface="Pretendard" pitchFamily="34" charset="-122"/>
              <a:cs typeface="Pretendard" pitchFamily="34" charset="-120"/>
            </a:endParaRPr>
          </a:p>
          <a:p>
            <a:pPr marL="0" indent="0">
              <a:lnSpc>
                <a:spcPct val="125000"/>
              </a:lnSpc>
              <a:buNone/>
            </a:pPr>
            <a:r>
              <a:rPr lang="ko-KR" altLang="en-US" sz="1100" dirty="0">
                <a:solidFill>
                  <a:srgbClr val="222633"/>
                </a:solidFill>
                <a:latin typeface="Pretendard" pitchFamily="34" charset="0"/>
                <a:ea typeface="Pretendard" pitchFamily="34" charset="-122"/>
                <a:cs typeface="Pretendard" pitchFamily="34" charset="-120"/>
              </a:rPr>
              <a:t>구금의 불이익이 이후에도 이어질 수 있으므로, 지역사회에서 치료받을 기회를 먼저 제공할 필요가 있다(Aizer·Doyle, 2015).</a:t>
            </a:r>
          </a:p>
        </p:txBody>
      </p:sp>
      <p:sp>
        <p:nvSpPr>
          <p:cNvPr id="17" name="T"/>
          <p:cNvSpPr/>
          <p:nvPr/>
        </p:nvSpPr>
        <p:spPr>
          <a:xfrm>
            <a:off x="6976872" y="3840480"/>
            <a:ext cx="4389120" cy="1389888"/>
          </a:xfrm>
          <a:prstGeom prst="rect">
            <a:avLst/>
          </a:prstGeom>
          <a:noFill/>
          <a:ln/>
        </p:spPr>
        <p:txBody>
          <a:bodyPr wrap="square" lIns="0" tIns="0" rIns="0" bIns="0" rtlCol="0" anchor="ctr"/>
          <a:lstStyle/>
          <a:p>
            <a:pPr marL="0" indent="0">
              <a:lnSpc>
                <a:spcPct val="125000"/>
              </a:lnSpc>
              <a:buNone/>
            </a:pPr>
            <a:r>
              <a:rPr lang="ko-KR" altLang="en-US" sz="1100" dirty="0">
                <a:solidFill>
                  <a:srgbClr val="222633"/>
                </a:solidFill>
                <a:latin typeface="Pretendard" pitchFamily="34" charset="0"/>
                <a:ea typeface="Pretendard" pitchFamily="34" charset="-122"/>
                <a:cs typeface="Pretendard" pitchFamily="34" charset="-120"/>
              </a:rPr>
              <a:t>형사처벌을 하더라도 시설에 수용하지 않고 교육</a:t>
            </a:r>
            <a:r>
              <a:rPr lang="en-US" altLang="ko-KR" sz="1100" dirty="0">
                <a:solidFill>
                  <a:srgbClr val="222633"/>
                </a:solidFill>
                <a:latin typeface="Pretendard" pitchFamily="34" charset="0"/>
                <a:ea typeface="Pretendard" pitchFamily="34" charset="-122"/>
                <a:cs typeface="Pretendard" pitchFamily="34" charset="-120"/>
              </a:rPr>
              <a:t>·</a:t>
            </a:r>
            <a:r>
              <a:rPr lang="ko-KR" altLang="en-US" sz="1100" dirty="0">
                <a:solidFill>
                  <a:srgbClr val="222633"/>
                </a:solidFill>
                <a:latin typeface="Pretendard" pitchFamily="34" charset="0"/>
                <a:ea typeface="Pretendard" pitchFamily="34" charset="-122"/>
                <a:cs typeface="Pretendard" pitchFamily="34" charset="-120"/>
              </a:rPr>
              <a:t>재활을 병행할 수 있으므로</a:t>
            </a:r>
            <a:r>
              <a:rPr lang="en-US" altLang="ko-KR" sz="1100" dirty="0">
                <a:solidFill>
                  <a:srgbClr val="222633"/>
                </a:solidFill>
                <a:latin typeface="Pretendard" pitchFamily="34" charset="0"/>
                <a:ea typeface="Pretendard" pitchFamily="34" charset="-122"/>
                <a:cs typeface="Pretendard" pitchFamily="34" charset="-120"/>
              </a:rPr>
              <a:t>, </a:t>
            </a:r>
            <a:r>
              <a:rPr lang="ko-KR" altLang="en-US" sz="1100" dirty="0">
                <a:solidFill>
                  <a:srgbClr val="222633"/>
                </a:solidFill>
                <a:latin typeface="Pretendard" pitchFamily="34" charset="0"/>
                <a:ea typeface="Pretendard" pitchFamily="34" charset="-122"/>
                <a:cs typeface="Pretendard" pitchFamily="34" charset="-120"/>
              </a:rPr>
              <a:t>학업을 보호하기 위해 반드시 치료를 우선해야 하는 것은 아니다</a:t>
            </a:r>
            <a:r>
              <a:rPr lang="en-US" altLang="ko-KR" sz="1100" dirty="0">
                <a:solidFill>
                  <a:srgbClr val="222633"/>
                </a:solidFill>
                <a:latin typeface="Pretendard" pitchFamily="34" charset="0"/>
                <a:ea typeface="Pretendard" pitchFamily="34" charset="-122"/>
                <a:cs typeface="Pretendard" pitchFamily="34" charset="-120"/>
              </a:rPr>
              <a:t>.</a:t>
            </a:r>
          </a:p>
          <a:p>
            <a:pPr marL="0" indent="0">
              <a:lnSpc>
                <a:spcPct val="125000"/>
              </a:lnSpc>
              <a:buNone/>
            </a:pPr>
            <a:endParaRPr lang="en-US" altLang="ko-KR" sz="1100" dirty="0">
              <a:solidFill>
                <a:srgbClr val="222633"/>
              </a:solidFill>
              <a:latin typeface="Pretendard" pitchFamily="34" charset="0"/>
              <a:ea typeface="Pretendard" pitchFamily="34" charset="-122"/>
              <a:cs typeface="Pretendard" pitchFamily="34" charset="-120"/>
            </a:endParaRPr>
          </a:p>
          <a:p>
            <a:pPr marL="0" indent="0">
              <a:lnSpc>
                <a:spcPct val="125000"/>
              </a:lnSpc>
              <a:buNone/>
            </a:pPr>
            <a:r>
              <a:rPr lang="ko-KR" altLang="en-US" sz="1100" dirty="0">
                <a:solidFill>
                  <a:srgbClr val="222633"/>
                </a:solidFill>
                <a:latin typeface="Pretendard" pitchFamily="34" charset="0"/>
                <a:ea typeface="Pretendard" pitchFamily="34" charset="-122"/>
                <a:cs typeface="Pretendard" pitchFamily="34" charset="-120"/>
              </a:rPr>
              <a:t>소년에게는 형 감경·성인과의 분리 수용·자격 특례도 있어, 형사책임을 유지하면서 처우의 부담을 조정할 수 있다.</a:t>
            </a:r>
          </a:p>
        </p:txBody>
      </p:sp>
      <p:sp>
        <p:nvSpPr>
          <p:cNvPr id="18" name="AUX"/>
          <p:cNvSpPr/>
          <p:nvPr/>
        </p:nvSpPr>
        <p:spPr>
          <a:xfrm>
            <a:off x="2331720" y="5248656"/>
            <a:ext cx="9034272" cy="274320"/>
          </a:xfrm>
          <a:prstGeom prst="rect">
            <a:avLst/>
          </a:prstGeom>
          <a:noFill/>
          <a:ln/>
        </p:spPr>
        <p:txBody>
          <a:bodyPr wrap="square" lIns="0" tIns="0" rIns="0" bIns="0" rtlCol="0" anchor="ctr"/>
          <a:lstStyle/>
          <a:p>
            <a:pPr marL="0" indent="0">
              <a:lnSpc>
                <a:spcPct val="118000"/>
              </a:lnSpc>
              <a:buNone/>
            </a:pPr>
            <a:r>
              <a:rPr lang="ko-KR" altLang="en-US" sz="1050" dirty="0">
                <a:solidFill>
                  <a:srgbClr val="5A6273"/>
                </a:solidFill>
                <a:latin typeface="Pretendard" pitchFamily="34" charset="0"/>
                <a:ea typeface="Pretendard" pitchFamily="34" charset="-122"/>
                <a:cs typeface="Pretendard" pitchFamily="34" charset="-120"/>
              </a:rPr>
              <a:t>※ 통제망 확대의 예: 원래 별도의 감독 없이 처리될 사건에 장기간 검사·출석 의무를 추가하면, 치료를 이유로 자유 제한이 늘어날 수 있다.</a:t>
            </a:r>
          </a:p>
        </p:txBody>
      </p:sp>
      <p:sp>
        <p:nvSpPr>
          <p:cNvPr id="19" name="L"/>
          <p:cNvSpPr/>
          <p:nvPr/>
        </p:nvSpPr>
        <p:spPr>
          <a:xfrm>
            <a:off x="731520" y="5532120"/>
            <a:ext cx="10725912" cy="0"/>
          </a:xfrm>
          <a:prstGeom prst="line">
            <a:avLst/>
          </a:prstGeom>
          <a:ln w="9525">
            <a:solidFill>
              <a:srgbClr val="DCE0E8"/>
            </a:solidFill>
          </a:ln>
        </p:spPr>
        <p:txBody>
          <a:bodyPr/>
          <a:lstStyle/>
          <a:p>
            <a:endParaRPr lang="ko-KR"/>
          </a:p>
        </p:txBody>
      </p:sp>
      <p:sp>
        <p:nvSpPr>
          <p:cNvPr id="20" name="BBAND"/>
          <p:cNvSpPr/>
          <p:nvPr/>
        </p:nvSpPr>
        <p:spPr>
          <a:xfrm>
            <a:off x="731520" y="5650992"/>
            <a:ext cx="10725912" cy="512064"/>
          </a:xfrm>
          <a:prstGeom prst="rect">
            <a:avLst/>
          </a:prstGeom>
          <a:solidFill>
            <a:srgbClr val="F2F4F8"/>
          </a:solidFill>
          <a:ln/>
        </p:spPr>
      </p:sp>
      <p:sp>
        <p:nvSpPr>
          <p:cNvPr id="21" name="BBANDT"/>
          <p:cNvSpPr/>
          <p:nvPr/>
        </p:nvSpPr>
        <p:spPr>
          <a:xfrm>
            <a:off x="1005840" y="5650992"/>
            <a:ext cx="10177272" cy="512064"/>
          </a:xfrm>
          <a:prstGeom prst="rect">
            <a:avLst/>
          </a:prstGeom>
          <a:noFill/>
          <a:ln/>
        </p:spPr>
        <p:txBody>
          <a:bodyPr wrap="square" lIns="0" tIns="0" rIns="0" bIns="0" rtlCol="0" anchor="ctr"/>
          <a:lstStyle/>
          <a:p>
            <a:pPr marL="0" indent="0" algn="ctr">
              <a:lnSpc>
                <a:spcPct val="118000"/>
              </a:lnSpc>
              <a:buNone/>
            </a:pPr>
            <a:r>
              <a:rPr lang="ko-KR" altLang="en-US" sz="1200" b="1" dirty="0">
                <a:solidFill>
                  <a:srgbClr val="1E2761"/>
                </a:solidFill>
                <a:latin typeface="Pretendard" pitchFamily="34" charset="0"/>
                <a:ea typeface="Pretendard" pitchFamily="34" charset="-122"/>
                <a:cs typeface="Pretendard" pitchFamily="34" charset="-120"/>
              </a:rPr>
              <a:t>형사처벌과 치료라는 명칭보다 실제 수용 여부, 의무의 내용·기간, 학업·사회복귀에 미치는 영향을 비교해야 한다.</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48640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5A6273"/>
                </a:solidFill>
                <a:latin typeface="Pretendard" pitchFamily="34" charset="0"/>
                <a:ea typeface="Pretendard" pitchFamily="34" charset="-122"/>
                <a:cs typeface="Pretendard" pitchFamily="34" charset="-120"/>
              </a:rPr>
              <a:t>주요 논거와 최종 판단</a:t>
            </a:r>
          </a:p>
        </p:txBody>
      </p:sp>
      <p:sp>
        <p:nvSpPr>
          <p:cNvPr id="3" name="NEXT"/>
          <p:cNvSpPr/>
          <p:nvPr/>
        </p:nvSpPr>
        <p:spPr>
          <a:xfrm>
            <a:off x="6245352" y="365760"/>
            <a:ext cx="5212080" cy="292608"/>
          </a:xfrm>
          <a:prstGeom prst="rect">
            <a:avLst/>
          </a:prstGeom>
          <a:noFill/>
          <a:ln/>
        </p:spPr>
        <p:txBody>
          <a:bodyPr wrap="square" lIns="0" tIns="0" rIns="0" bIns="0" rtlCol="0" anchor="ctr"/>
          <a:lstStyle/>
          <a:p>
            <a:pPr marL="0" indent="0" algn="r">
              <a:lnSpc>
                <a:spcPct val="118000"/>
              </a:lnSpc>
              <a:buNone/>
            </a:pPr>
            <a:r>
              <a:rPr lang="ko-KR" altLang="en-US" sz="1050" dirty="0">
                <a:solidFill>
                  <a:srgbClr val="8A91A0"/>
                </a:solidFill>
                <a:latin typeface="Pretendard" pitchFamily="34" charset="0"/>
                <a:ea typeface="Pretendard" pitchFamily="34" charset="-122"/>
                <a:cs typeface="Pretendard" pitchFamily="34" charset="-120"/>
              </a:rPr>
              <a:t>다음 → 쟁점별 핵심 논거</a:t>
            </a:r>
          </a:p>
        </p:txBody>
      </p:sp>
      <p:sp>
        <p:nvSpPr>
          <p:cNvPr id="4" name="TITLE"/>
          <p:cNvSpPr/>
          <p:nvPr/>
        </p:nvSpPr>
        <p:spPr>
          <a:xfrm>
            <a:off x="731520" y="640080"/>
            <a:ext cx="10972800" cy="640080"/>
          </a:xfrm>
          <a:prstGeom prst="rect">
            <a:avLst/>
          </a:prstGeom>
          <a:noFill/>
          <a:ln/>
        </p:spPr>
        <p:txBody>
          <a:bodyPr wrap="square" lIns="0" tIns="0" rIns="0" bIns="0" rtlCol="0" anchor="ctr"/>
          <a:lstStyle/>
          <a:p>
            <a:pPr marL="0" indent="0">
              <a:buNone/>
            </a:pPr>
            <a:r>
              <a:rPr lang="ko-KR" altLang="en-US" sz="2700" b="1" dirty="0">
                <a:solidFill>
                  <a:srgbClr val="1E2761"/>
                </a:solidFill>
                <a:latin typeface="Pretendard" pitchFamily="34" charset="0"/>
                <a:ea typeface="Pretendard" pitchFamily="34" charset="-122"/>
                <a:cs typeface="Pretendard" pitchFamily="34" charset="-120"/>
              </a:rPr>
              <a:t>쟁점 ⑥ 치료 불참·반복 위반과 치료 우선의 한계</a:t>
            </a:r>
          </a:p>
        </p:txBody>
      </p:sp>
      <p:sp>
        <p:nvSpPr>
          <p:cNvPr id="5" name="BAND"/>
          <p:cNvSpPr/>
          <p:nvPr/>
        </p:nvSpPr>
        <p:spPr>
          <a:xfrm>
            <a:off x="731520" y="1417320"/>
            <a:ext cx="10725912" cy="566928"/>
          </a:xfrm>
          <a:prstGeom prst="rect">
            <a:avLst/>
          </a:prstGeom>
          <a:solidFill>
            <a:srgbClr val="F2F4F8"/>
          </a:solidFill>
          <a:ln/>
        </p:spPr>
      </p:sp>
      <p:sp>
        <p:nvSpPr>
          <p:cNvPr id="6" name="BANDT"/>
          <p:cNvSpPr/>
          <p:nvPr/>
        </p:nvSpPr>
        <p:spPr>
          <a:xfrm>
            <a:off x="1005840" y="1417320"/>
            <a:ext cx="10177272" cy="566928"/>
          </a:xfrm>
          <a:prstGeom prst="rect">
            <a:avLst/>
          </a:prstGeom>
          <a:noFill/>
          <a:ln/>
        </p:spPr>
        <p:txBody>
          <a:bodyPr wrap="square" lIns="0" tIns="0" rIns="0" bIns="0" rtlCol="0" anchor="ctr"/>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치료 불참이나 중대한 의무 위반이 생겼을 때의 대응 가능성이, 치료를 형사처벌보다 우선할 수 있는지를 판단하는 근거가 된다.</a:t>
            </a:r>
          </a:p>
        </p:txBody>
      </p:sp>
      <p:sp>
        <p:nvSpPr>
          <p:cNvPr id="7" name="L"/>
          <p:cNvSpPr/>
          <p:nvPr/>
        </p:nvSpPr>
        <p:spPr>
          <a:xfrm>
            <a:off x="731520" y="2130552"/>
            <a:ext cx="10725912" cy="0"/>
          </a:xfrm>
          <a:prstGeom prst="line">
            <a:avLst/>
          </a:prstGeom>
          <a:ln w="19050">
            <a:solidFill>
              <a:srgbClr val="1E2761"/>
            </a:solidFill>
          </a:ln>
        </p:spPr>
        <p:txBody>
          <a:bodyPr/>
          <a:lstStyle/>
          <a:p>
            <a:endParaRPr lang="ko-KR"/>
          </a:p>
        </p:txBody>
      </p:sp>
      <p:sp>
        <p:nvSpPr>
          <p:cNvPr id="8" name="HEAD"/>
          <p:cNvSpPr/>
          <p:nvPr/>
        </p:nvSpPr>
        <p:spPr>
          <a:xfrm>
            <a:off x="731520" y="2240280"/>
            <a:ext cx="10725912" cy="502920"/>
          </a:xfrm>
          <a:prstGeom prst="rect">
            <a:avLst/>
          </a:prstGeom>
          <a:solidFill>
            <a:srgbClr val="5A6699"/>
          </a:solidFill>
          <a:ln/>
        </p:spPr>
      </p:sp>
      <p:sp>
        <p:nvSpPr>
          <p:cNvPr id="9" name="HL"/>
          <p:cNvSpPr/>
          <p:nvPr/>
        </p:nvSpPr>
        <p:spPr>
          <a:xfrm>
            <a:off x="2331720" y="2240280"/>
            <a:ext cx="4297680" cy="502920"/>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FFFFFF"/>
                </a:solidFill>
                <a:latin typeface="Pretendard" pitchFamily="34" charset="0"/>
                <a:ea typeface="Pretendard" pitchFamily="34" charset="-122"/>
                <a:cs typeface="Pretendard" pitchFamily="34" charset="-120"/>
              </a:rPr>
              <a:t>치료·재활을 형사처벌보다 우선해야 한다</a:t>
            </a:r>
          </a:p>
        </p:txBody>
      </p:sp>
      <p:sp>
        <p:nvSpPr>
          <p:cNvPr id="10" name="HR"/>
          <p:cNvSpPr/>
          <p:nvPr/>
        </p:nvSpPr>
        <p:spPr>
          <a:xfrm>
            <a:off x="6976872" y="2240280"/>
            <a:ext cx="4389120" cy="502920"/>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FFFFFF"/>
                </a:solidFill>
                <a:latin typeface="Pretendard" pitchFamily="34" charset="0"/>
                <a:ea typeface="Pretendard" pitchFamily="34" charset="-122"/>
                <a:cs typeface="Pretendard" pitchFamily="34" charset="-120"/>
              </a:rPr>
              <a:t>치료·재활을 형사처벌보다 우선해야 한다고 볼 수 없다</a:t>
            </a:r>
          </a:p>
        </p:txBody>
      </p:sp>
      <p:sp>
        <p:nvSpPr>
          <p:cNvPr id="11" name="RLAB"/>
          <p:cNvSpPr/>
          <p:nvPr/>
        </p:nvSpPr>
        <p:spPr>
          <a:xfrm>
            <a:off x="731520" y="2743200"/>
            <a:ext cx="1417320" cy="1097280"/>
          </a:xfrm>
          <a:prstGeom prst="rect">
            <a:avLst/>
          </a:prstGeom>
          <a:noFill/>
          <a:ln/>
        </p:spPr>
        <p:txBody>
          <a:bodyPr wrap="square" lIns="0" tIns="0" rIns="0" bIns="0" rtlCol="0" anchor="ctr"/>
          <a:lstStyle/>
          <a:p>
            <a:pPr marL="0" indent="0" algn="ctr">
              <a:lnSpc>
                <a:spcPct val="118000"/>
              </a:lnSpc>
              <a:buNone/>
            </a:pPr>
            <a:r>
              <a:rPr lang="ko-KR" altLang="en-US" sz="1350" b="1" dirty="0">
                <a:solidFill>
                  <a:srgbClr val="1E2761"/>
                </a:solidFill>
                <a:latin typeface="Pretendard" pitchFamily="34" charset="0"/>
                <a:ea typeface="Pretendard" pitchFamily="34" charset="-122"/>
                <a:cs typeface="Pretendard" pitchFamily="34" charset="-120"/>
              </a:rPr>
              <a:t>주장</a:t>
            </a:r>
          </a:p>
        </p:txBody>
      </p:sp>
      <p:sp>
        <p:nvSpPr>
          <p:cNvPr id="12" name="T"/>
          <p:cNvSpPr/>
          <p:nvPr/>
        </p:nvSpPr>
        <p:spPr>
          <a:xfrm>
            <a:off x="2331720" y="2743200"/>
            <a:ext cx="4297680" cy="1097280"/>
          </a:xfrm>
          <a:prstGeom prst="rect">
            <a:avLst/>
          </a:prstGeom>
          <a:noFill/>
          <a:ln/>
        </p:spPr>
        <p:txBody>
          <a:bodyPr wrap="square" lIns="0" tIns="0" rIns="0" bIns="0" rtlCol="0" anchor="ctr"/>
          <a:lstStyle/>
          <a:p>
            <a:pPr marL="0" indent="0">
              <a:lnSpc>
                <a:spcPct val="125000"/>
              </a:lnSpc>
              <a:buNone/>
            </a:pPr>
            <a:r>
              <a:rPr lang="ko-KR" altLang="en-US" sz="1200" b="1" dirty="0">
                <a:solidFill>
                  <a:srgbClr val="222633"/>
                </a:solidFill>
                <a:latin typeface="Pretendard" pitchFamily="34" charset="0"/>
                <a:ea typeface="Pretendard" pitchFamily="34" charset="-122"/>
                <a:cs typeface="Pretendard" pitchFamily="34" charset="-120"/>
              </a:rPr>
              <a:t>반복 위반이 있더라도 치료의 조정과 가능한 감독</a:t>
            </a:r>
            <a:r>
              <a:rPr lang="en-US" altLang="ko-KR" sz="1200" b="1" dirty="0">
                <a:solidFill>
                  <a:srgbClr val="222633"/>
                </a:solidFill>
                <a:latin typeface="Pretendard" pitchFamily="34" charset="0"/>
                <a:ea typeface="Pretendard" pitchFamily="34" charset="-122"/>
                <a:cs typeface="Pretendard" pitchFamily="34" charset="-120"/>
              </a:rPr>
              <a:t>·</a:t>
            </a:r>
            <a:r>
              <a:rPr lang="ko-KR" altLang="en-US" sz="1200" b="1" dirty="0">
                <a:solidFill>
                  <a:srgbClr val="222633"/>
                </a:solidFill>
                <a:latin typeface="Pretendard" pitchFamily="34" charset="0"/>
                <a:ea typeface="Pretendard" pitchFamily="34" charset="-122"/>
                <a:cs typeface="Pretendard" pitchFamily="34" charset="-120"/>
              </a:rPr>
              <a:t>제재를 먼저 검토해야 하며</a:t>
            </a:r>
            <a:r>
              <a:rPr lang="en-US" altLang="ko-KR" sz="1200" b="1" dirty="0">
                <a:solidFill>
                  <a:srgbClr val="222633"/>
                </a:solidFill>
                <a:latin typeface="Pretendard" pitchFamily="34" charset="0"/>
                <a:ea typeface="Pretendard" pitchFamily="34" charset="-122"/>
                <a:cs typeface="Pretendard" pitchFamily="34" charset="-120"/>
              </a:rPr>
              <a:t>, </a:t>
            </a:r>
            <a:r>
              <a:rPr lang="ko-KR" altLang="en-US" sz="1200" b="1" dirty="0">
                <a:solidFill>
                  <a:srgbClr val="222633"/>
                </a:solidFill>
                <a:latin typeface="Pretendard" pitchFamily="34" charset="0"/>
                <a:ea typeface="Pretendard" pitchFamily="34" charset="-122"/>
                <a:cs typeface="Pretendard" pitchFamily="34" charset="-120"/>
              </a:rPr>
              <a:t>곧바로 치료 우선을 포기해서는 안 된다</a:t>
            </a:r>
            <a:r>
              <a:rPr lang="en-US" altLang="ko-KR" sz="1200" b="1" dirty="0">
                <a:solidFill>
                  <a:srgbClr val="222633"/>
                </a:solidFill>
                <a:latin typeface="Pretendard" pitchFamily="34" charset="0"/>
                <a:ea typeface="Pretendard" pitchFamily="34" charset="-122"/>
                <a:cs typeface="Pretendard" pitchFamily="34" charset="-120"/>
              </a:rPr>
              <a:t>.</a:t>
            </a:r>
            <a:endParaRPr lang="ko-KR" altLang="en-US" sz="1200" b="1" dirty="0">
              <a:solidFill>
                <a:srgbClr val="222633"/>
              </a:solidFill>
              <a:latin typeface="Pretendard" pitchFamily="34" charset="0"/>
              <a:ea typeface="Pretendard" pitchFamily="34" charset="-122"/>
              <a:cs typeface="Pretendard" pitchFamily="34" charset="-120"/>
            </a:endParaRPr>
          </a:p>
        </p:txBody>
      </p:sp>
      <p:sp>
        <p:nvSpPr>
          <p:cNvPr id="13" name="T"/>
          <p:cNvSpPr/>
          <p:nvPr/>
        </p:nvSpPr>
        <p:spPr>
          <a:xfrm>
            <a:off x="6976872" y="2743200"/>
            <a:ext cx="4389120" cy="1097280"/>
          </a:xfrm>
          <a:prstGeom prst="rect">
            <a:avLst/>
          </a:prstGeom>
          <a:noFill/>
          <a:ln/>
        </p:spPr>
        <p:txBody>
          <a:bodyPr wrap="square" lIns="0" tIns="0" rIns="0" bIns="0" rtlCol="0" anchor="ctr"/>
          <a:lstStyle/>
          <a:p>
            <a:pPr marL="0" indent="0">
              <a:lnSpc>
                <a:spcPct val="125000"/>
              </a:lnSpc>
              <a:buNone/>
            </a:pPr>
            <a:r>
              <a:rPr lang="ko-KR" altLang="en-US" sz="1200" b="1" dirty="0">
                <a:solidFill>
                  <a:srgbClr val="222633"/>
                </a:solidFill>
                <a:latin typeface="Pretendard" pitchFamily="34" charset="0"/>
                <a:ea typeface="Pretendard" pitchFamily="34" charset="-122"/>
                <a:cs typeface="Pretendard" pitchFamily="34" charset="-120"/>
              </a:rPr>
              <a:t>치료 참여가 계속 거부되거나 중대한 위반이 반복될 때 이를 바로잡을 수단이 부족하다면, 형사처벌보다 치료를 우선하는 원칙을 채택하기 어렵다.</a:t>
            </a:r>
          </a:p>
        </p:txBody>
      </p:sp>
      <p:sp>
        <p:nvSpPr>
          <p:cNvPr id="14" name="L"/>
          <p:cNvSpPr/>
          <p:nvPr/>
        </p:nvSpPr>
        <p:spPr>
          <a:xfrm>
            <a:off x="731520" y="3840480"/>
            <a:ext cx="10725912" cy="0"/>
          </a:xfrm>
          <a:prstGeom prst="line">
            <a:avLst/>
          </a:prstGeom>
          <a:ln w="9525">
            <a:solidFill>
              <a:srgbClr val="DCE0E8"/>
            </a:solidFill>
          </a:ln>
        </p:spPr>
        <p:txBody>
          <a:bodyPr/>
          <a:lstStyle/>
          <a:p>
            <a:endParaRPr lang="ko-KR"/>
          </a:p>
        </p:txBody>
      </p:sp>
      <p:sp>
        <p:nvSpPr>
          <p:cNvPr id="15" name="RLAB"/>
          <p:cNvSpPr/>
          <p:nvPr/>
        </p:nvSpPr>
        <p:spPr>
          <a:xfrm>
            <a:off x="731520" y="3840480"/>
            <a:ext cx="1417320" cy="1691640"/>
          </a:xfrm>
          <a:prstGeom prst="rect">
            <a:avLst/>
          </a:prstGeom>
          <a:noFill/>
          <a:ln/>
        </p:spPr>
        <p:txBody>
          <a:bodyPr wrap="square" lIns="0" tIns="0" rIns="0" bIns="0" rtlCol="0" anchor="ctr"/>
          <a:lstStyle/>
          <a:p>
            <a:pPr marL="0" indent="0" algn="ctr">
              <a:lnSpc>
                <a:spcPct val="118000"/>
              </a:lnSpc>
              <a:buNone/>
            </a:pPr>
            <a:r>
              <a:rPr lang="ko-KR" altLang="en-US" sz="1350" b="1" dirty="0">
                <a:solidFill>
                  <a:srgbClr val="1E2761"/>
                </a:solidFill>
                <a:latin typeface="Pretendard" pitchFamily="34" charset="0"/>
                <a:ea typeface="Pretendard" pitchFamily="34" charset="-122"/>
                <a:cs typeface="Pretendard" pitchFamily="34" charset="-120"/>
              </a:rPr>
              <a:t>근거·이유</a:t>
            </a:r>
          </a:p>
        </p:txBody>
      </p:sp>
      <p:sp>
        <p:nvSpPr>
          <p:cNvPr id="16" name="T"/>
          <p:cNvSpPr/>
          <p:nvPr/>
        </p:nvSpPr>
        <p:spPr>
          <a:xfrm>
            <a:off x="2331720" y="3840480"/>
            <a:ext cx="4297680" cy="1691640"/>
          </a:xfrm>
          <a:prstGeom prst="rect">
            <a:avLst/>
          </a:prstGeom>
          <a:noFill/>
          <a:ln/>
        </p:spPr>
        <p:txBody>
          <a:bodyPr wrap="square" lIns="0" tIns="0" rIns="0" bIns="0" rtlCol="0" anchor="ctr"/>
          <a:lstStyle/>
          <a:p>
            <a:pPr marL="0" indent="0">
              <a:lnSpc>
                <a:spcPct val="125000"/>
              </a:lnSpc>
              <a:buNone/>
            </a:pPr>
            <a:r>
              <a:rPr lang="ko-KR" altLang="en-US" sz="1100" dirty="0">
                <a:solidFill>
                  <a:srgbClr val="222633"/>
                </a:solidFill>
                <a:latin typeface="Pretendard" pitchFamily="34" charset="0"/>
                <a:ea typeface="Pretendard" pitchFamily="34" charset="-122"/>
                <a:cs typeface="Pretendard" pitchFamily="34" charset="-120"/>
              </a:rPr>
              <a:t>불참에는 이동</a:t>
            </a:r>
            <a:r>
              <a:rPr lang="en-US" altLang="ko-KR" sz="1100" dirty="0">
                <a:solidFill>
                  <a:srgbClr val="222633"/>
                </a:solidFill>
                <a:latin typeface="Pretendard" pitchFamily="34" charset="0"/>
                <a:ea typeface="Pretendard" pitchFamily="34" charset="-122"/>
                <a:cs typeface="Pretendard" pitchFamily="34" charset="-120"/>
              </a:rPr>
              <a:t>·</a:t>
            </a:r>
            <a:r>
              <a:rPr lang="ko-KR" altLang="en-US" sz="1100" dirty="0">
                <a:solidFill>
                  <a:srgbClr val="222633"/>
                </a:solidFill>
                <a:latin typeface="Pretendard" pitchFamily="34" charset="0"/>
                <a:ea typeface="Pretendard" pitchFamily="34" charset="-122"/>
                <a:cs typeface="Pretendard" pitchFamily="34" charset="-120"/>
              </a:rPr>
              <a:t>시간 문제나 치료가 맞지 않는 사정이 있을 수 있다</a:t>
            </a:r>
            <a:r>
              <a:rPr lang="en-US" altLang="ko-KR" sz="1100" dirty="0">
                <a:solidFill>
                  <a:srgbClr val="222633"/>
                </a:solidFill>
                <a:latin typeface="Pretendard" pitchFamily="34" charset="0"/>
                <a:ea typeface="Pretendard" pitchFamily="34" charset="-122"/>
                <a:cs typeface="Pretendard" pitchFamily="34" charset="-120"/>
              </a:rPr>
              <a:t>. </a:t>
            </a:r>
            <a:r>
              <a:rPr lang="ko-KR" altLang="en-US" sz="1100" dirty="0">
                <a:solidFill>
                  <a:srgbClr val="222633"/>
                </a:solidFill>
                <a:latin typeface="Pretendard" pitchFamily="34" charset="0"/>
                <a:ea typeface="Pretendard" pitchFamily="34" charset="-122"/>
                <a:cs typeface="Pretendard" pitchFamily="34" charset="-120"/>
              </a:rPr>
              <a:t>중대한 의무 위반에는 국내 소년 보호관찰의 처분변경과 같은 대응 절차도 있다</a:t>
            </a:r>
            <a:r>
              <a:rPr lang="en-US" altLang="ko-KR" sz="1100" dirty="0">
                <a:solidFill>
                  <a:srgbClr val="222633"/>
                </a:solidFill>
                <a:latin typeface="Pretendard" pitchFamily="34" charset="0"/>
                <a:ea typeface="Pretendard" pitchFamily="34" charset="-122"/>
                <a:cs typeface="Pretendard" pitchFamily="34" charset="-120"/>
              </a:rPr>
              <a:t>. </a:t>
            </a:r>
            <a:r>
              <a:rPr lang="ko-KR" altLang="en-US" sz="1100" dirty="0">
                <a:solidFill>
                  <a:srgbClr val="222633"/>
                </a:solidFill>
                <a:latin typeface="Pretendard" pitchFamily="34" charset="0"/>
                <a:ea typeface="Pretendard" pitchFamily="34" charset="-122"/>
                <a:cs typeface="Pretendard" pitchFamily="34" charset="-120"/>
              </a:rPr>
              <a:t>치료를 우선하면서도 위반에 대응하는 방안을 검토할 수 있다</a:t>
            </a:r>
            <a:r>
              <a:rPr lang="en-US" altLang="ko-KR" sz="1100" dirty="0">
                <a:solidFill>
                  <a:srgbClr val="222633"/>
                </a:solidFill>
                <a:latin typeface="Pretendard" pitchFamily="34" charset="0"/>
                <a:ea typeface="Pretendard" pitchFamily="34" charset="-122"/>
                <a:cs typeface="Pretendard" pitchFamily="34" charset="-120"/>
              </a:rPr>
              <a:t>.</a:t>
            </a:r>
            <a:r>
              <a:rPr lang="ko-KR" altLang="en-US" sz="1100" dirty="0">
                <a:solidFill>
                  <a:srgbClr val="222633"/>
                </a:solidFill>
                <a:latin typeface="Pretendard" pitchFamily="34" charset="0"/>
                <a:ea typeface="Pretendard" pitchFamily="34" charset="-122"/>
                <a:cs typeface="Pretendard" pitchFamily="34" charset="-120"/>
              </a:rPr>
              <a:t> </a:t>
            </a:r>
            <a:endParaRPr lang="en-US" altLang="ko-KR" sz="1100" dirty="0">
              <a:solidFill>
                <a:srgbClr val="222633"/>
              </a:solidFill>
              <a:latin typeface="Pretendard" pitchFamily="34" charset="0"/>
              <a:ea typeface="Pretendard" pitchFamily="34" charset="-122"/>
              <a:cs typeface="Pretendard" pitchFamily="34" charset="-120"/>
            </a:endParaRPr>
          </a:p>
          <a:p>
            <a:pPr marL="0" indent="0">
              <a:lnSpc>
                <a:spcPct val="125000"/>
              </a:lnSpc>
              <a:buNone/>
            </a:pPr>
            <a:endParaRPr lang="en-US" altLang="ko-KR" sz="1100" dirty="0">
              <a:solidFill>
                <a:srgbClr val="222633"/>
              </a:solidFill>
              <a:latin typeface="Pretendard" pitchFamily="34" charset="0"/>
              <a:ea typeface="Pretendard" pitchFamily="34" charset="-122"/>
              <a:cs typeface="Pretendard" pitchFamily="34" charset="-120"/>
            </a:endParaRPr>
          </a:p>
          <a:p>
            <a:pPr marL="0" indent="0">
              <a:lnSpc>
                <a:spcPct val="125000"/>
              </a:lnSpc>
              <a:buNone/>
            </a:pPr>
            <a:r>
              <a:rPr lang="ko-KR" altLang="en-US" sz="1100" dirty="0">
                <a:solidFill>
                  <a:srgbClr val="222633"/>
                </a:solidFill>
                <a:latin typeface="Pretendard" pitchFamily="34" charset="0"/>
                <a:ea typeface="Pretendard" pitchFamily="34" charset="-122"/>
                <a:cs typeface="Pretendard" pitchFamily="34" charset="-120"/>
              </a:rPr>
              <a:t>국내 4·5호 보호관찰에는 위반이 중대해 계속하기 부적절할 때 법원에 보호처분 변경을 신청하는 절차도 있어, 치료 우선이 위반을 그대로 두어야 한다는 뜻은 아니다.</a:t>
            </a:r>
          </a:p>
        </p:txBody>
      </p:sp>
      <p:sp>
        <p:nvSpPr>
          <p:cNvPr id="17" name="T"/>
          <p:cNvSpPr/>
          <p:nvPr/>
        </p:nvSpPr>
        <p:spPr>
          <a:xfrm>
            <a:off x="6976872" y="3840480"/>
            <a:ext cx="4389120" cy="1691640"/>
          </a:xfrm>
          <a:prstGeom prst="rect">
            <a:avLst/>
          </a:prstGeom>
          <a:noFill/>
          <a:ln/>
        </p:spPr>
        <p:txBody>
          <a:bodyPr wrap="square" lIns="0" tIns="0" rIns="0" bIns="0" rtlCol="0" anchor="ctr"/>
          <a:lstStyle/>
          <a:p>
            <a:pPr marL="0" indent="0">
              <a:lnSpc>
                <a:spcPct val="125000"/>
              </a:lnSpc>
              <a:buNone/>
            </a:pPr>
            <a:r>
              <a:rPr lang="ko-KR" altLang="en-US" sz="1100" dirty="0">
                <a:solidFill>
                  <a:srgbClr val="222633"/>
                </a:solidFill>
                <a:latin typeface="Pretendard" pitchFamily="34" charset="0"/>
                <a:ea typeface="Pretendard" pitchFamily="34" charset="-122"/>
                <a:cs typeface="Pretendard" pitchFamily="34" charset="-120"/>
              </a:rPr>
              <a:t>지원과 치료 조정 뒤에도 중대한 위반이 반복되고 참여를 확보할 수 없다면</a:t>
            </a:r>
            <a:r>
              <a:rPr lang="en-US" altLang="ko-KR" sz="1100" dirty="0">
                <a:solidFill>
                  <a:srgbClr val="222633"/>
                </a:solidFill>
                <a:latin typeface="Pretendard" pitchFamily="34" charset="0"/>
                <a:ea typeface="Pretendard" pitchFamily="34" charset="-122"/>
                <a:cs typeface="Pretendard" pitchFamily="34" charset="-120"/>
              </a:rPr>
              <a:t>, </a:t>
            </a:r>
            <a:r>
              <a:rPr lang="ko-KR" altLang="en-US" sz="1100" dirty="0">
                <a:solidFill>
                  <a:srgbClr val="222633"/>
                </a:solidFill>
                <a:latin typeface="Pretendard" pitchFamily="34" charset="0"/>
                <a:ea typeface="Pretendard" pitchFamily="34" charset="-122"/>
                <a:cs typeface="Pretendard" pitchFamily="34" charset="-120"/>
              </a:rPr>
              <a:t>해당 청소년에게 계속 치료를 우선하는 것이 오히려 </a:t>
            </a:r>
            <a:r>
              <a:rPr lang="ko-KR" altLang="en-US" sz="1100" dirty="0" err="1">
                <a:solidFill>
                  <a:srgbClr val="222633"/>
                </a:solidFill>
                <a:latin typeface="Pretendard" pitchFamily="34" charset="0"/>
                <a:ea typeface="Pretendard" pitchFamily="34" charset="-122"/>
                <a:cs typeface="Pretendard" pitchFamily="34" charset="-120"/>
              </a:rPr>
              <a:t>독이될</a:t>
            </a:r>
            <a:r>
              <a:rPr lang="ko-KR" altLang="en-US" sz="1100" dirty="0">
                <a:solidFill>
                  <a:srgbClr val="222633"/>
                </a:solidFill>
                <a:latin typeface="Pretendard" pitchFamily="34" charset="0"/>
                <a:ea typeface="Pretendard" pitchFamily="34" charset="-122"/>
                <a:cs typeface="Pretendard" pitchFamily="34" charset="-120"/>
              </a:rPr>
              <a:t> 수 있다</a:t>
            </a:r>
            <a:r>
              <a:rPr lang="en-US" altLang="ko-KR" sz="1100" dirty="0">
                <a:solidFill>
                  <a:srgbClr val="222633"/>
                </a:solidFill>
                <a:latin typeface="Pretendard" pitchFamily="34" charset="0"/>
                <a:ea typeface="Pretendard" pitchFamily="34" charset="-122"/>
                <a:cs typeface="Pretendard" pitchFamily="34" charset="-120"/>
              </a:rPr>
              <a:t>.</a:t>
            </a:r>
          </a:p>
          <a:p>
            <a:pPr marL="0" indent="0">
              <a:lnSpc>
                <a:spcPct val="125000"/>
              </a:lnSpc>
              <a:buNone/>
            </a:pPr>
            <a:endParaRPr lang="en-US" altLang="ko-KR" sz="1100" dirty="0">
              <a:solidFill>
                <a:srgbClr val="222633"/>
              </a:solidFill>
              <a:latin typeface="Pretendard" pitchFamily="34" charset="0"/>
              <a:ea typeface="Pretendard" pitchFamily="34" charset="-122"/>
              <a:cs typeface="Pretendard" pitchFamily="34" charset="-120"/>
            </a:endParaRPr>
          </a:p>
          <a:p>
            <a:pPr marL="0" indent="0">
              <a:lnSpc>
                <a:spcPct val="125000"/>
              </a:lnSpc>
              <a:buNone/>
            </a:pPr>
            <a:r>
              <a:rPr lang="ko-KR" altLang="en-US" sz="1100" dirty="0">
                <a:solidFill>
                  <a:srgbClr val="222633"/>
                </a:solidFill>
                <a:latin typeface="Pretendard" pitchFamily="34" charset="0"/>
                <a:ea typeface="Pretendard" pitchFamily="34" charset="-122"/>
                <a:cs typeface="Pretendard" pitchFamily="34" charset="-120"/>
              </a:rPr>
              <a:t>참여를 요구할 수 있다는 것과</a:t>
            </a:r>
            <a:r>
              <a:rPr lang="en-US" altLang="ko-KR" sz="1100" dirty="0">
                <a:solidFill>
                  <a:srgbClr val="222633"/>
                </a:solidFill>
                <a:latin typeface="Pretendard" pitchFamily="34" charset="0"/>
                <a:ea typeface="Pretendard" pitchFamily="34" charset="-122"/>
                <a:cs typeface="Pretendard" pitchFamily="34" charset="-120"/>
              </a:rPr>
              <a:t>, </a:t>
            </a:r>
            <a:r>
              <a:rPr lang="ko-KR" altLang="en-US" sz="1100" dirty="0">
                <a:solidFill>
                  <a:srgbClr val="222633"/>
                </a:solidFill>
                <a:latin typeface="Pretendard" pitchFamily="34" charset="0"/>
                <a:ea typeface="Pretendard" pitchFamily="34" charset="-122"/>
                <a:cs typeface="Pretendard" pitchFamily="34" charset="-120"/>
              </a:rPr>
              <a:t>불이행에 실제로 사용할 수 있는 제재가 충분하다는 것은 다르다</a:t>
            </a:r>
            <a:r>
              <a:rPr lang="en-US" altLang="ko-KR" sz="1100" dirty="0">
                <a:solidFill>
                  <a:srgbClr val="222633"/>
                </a:solidFill>
                <a:latin typeface="Pretendard" pitchFamily="34" charset="0"/>
                <a:ea typeface="Pretendard" pitchFamily="34" charset="-122"/>
                <a:cs typeface="Pretendard" pitchFamily="34" charset="-120"/>
              </a:rPr>
              <a:t>.</a:t>
            </a:r>
          </a:p>
          <a:p>
            <a:pPr marL="0" indent="0">
              <a:lnSpc>
                <a:spcPct val="125000"/>
              </a:lnSpc>
              <a:buNone/>
            </a:pPr>
            <a:endParaRPr lang="en-US" altLang="ko-KR" sz="1100" dirty="0">
              <a:solidFill>
                <a:srgbClr val="222633"/>
              </a:solidFill>
              <a:latin typeface="Pretendard" pitchFamily="34" charset="0"/>
              <a:ea typeface="Pretendard" pitchFamily="34" charset="-122"/>
              <a:cs typeface="Pretendard" pitchFamily="34" charset="-120"/>
            </a:endParaRPr>
          </a:p>
          <a:p>
            <a:pPr marL="0" indent="0">
              <a:lnSpc>
                <a:spcPct val="125000"/>
              </a:lnSpc>
              <a:buNone/>
            </a:pPr>
            <a:endParaRPr lang="ko-KR" altLang="en-US" sz="1100" dirty="0">
              <a:solidFill>
                <a:srgbClr val="222633"/>
              </a:solidFill>
              <a:latin typeface="Pretendard" pitchFamily="34" charset="0"/>
              <a:ea typeface="Pretendard" pitchFamily="34" charset="-122"/>
              <a:cs typeface="Pretendard" pitchFamily="34" charset="-120"/>
            </a:endParaRPr>
          </a:p>
        </p:txBody>
      </p:sp>
      <p:sp>
        <p:nvSpPr>
          <p:cNvPr id="18" name="L"/>
          <p:cNvSpPr/>
          <p:nvPr/>
        </p:nvSpPr>
        <p:spPr>
          <a:xfrm>
            <a:off x="731520" y="5532120"/>
            <a:ext cx="10725912" cy="0"/>
          </a:xfrm>
          <a:prstGeom prst="line">
            <a:avLst/>
          </a:prstGeom>
          <a:ln w="9525">
            <a:solidFill>
              <a:srgbClr val="DCE0E8"/>
            </a:solidFill>
          </a:ln>
        </p:spPr>
        <p:txBody>
          <a:bodyPr/>
          <a:lstStyle/>
          <a:p>
            <a:endParaRPr lang="ko-KR"/>
          </a:p>
        </p:txBody>
      </p:sp>
      <p:sp>
        <p:nvSpPr>
          <p:cNvPr id="19" name="BBAND"/>
          <p:cNvSpPr/>
          <p:nvPr/>
        </p:nvSpPr>
        <p:spPr>
          <a:xfrm>
            <a:off x="731520" y="5650992"/>
            <a:ext cx="10725912" cy="512064"/>
          </a:xfrm>
          <a:prstGeom prst="rect">
            <a:avLst/>
          </a:prstGeom>
          <a:solidFill>
            <a:srgbClr val="F2F4F8"/>
          </a:solidFill>
          <a:ln/>
        </p:spPr>
      </p:sp>
      <p:sp>
        <p:nvSpPr>
          <p:cNvPr id="20" name="BBANDT"/>
          <p:cNvSpPr/>
          <p:nvPr/>
        </p:nvSpPr>
        <p:spPr>
          <a:xfrm>
            <a:off x="1005840" y="5650992"/>
            <a:ext cx="10177272" cy="512064"/>
          </a:xfrm>
          <a:prstGeom prst="rect">
            <a:avLst/>
          </a:prstGeom>
          <a:noFill/>
          <a:ln/>
        </p:spPr>
        <p:txBody>
          <a:bodyPr wrap="square" lIns="0" tIns="0" rIns="0" bIns="0" rtlCol="0" anchor="ctr"/>
          <a:lstStyle/>
          <a:p>
            <a:pPr marL="0" indent="0" algn="ctr">
              <a:lnSpc>
                <a:spcPct val="118000"/>
              </a:lnSpc>
              <a:buNone/>
            </a:pPr>
            <a:r>
              <a:rPr lang="ko-KR" altLang="en-US" sz="1200" b="1" dirty="0">
                <a:solidFill>
                  <a:srgbClr val="1E2761"/>
                </a:solidFill>
                <a:latin typeface="Pretendard" pitchFamily="34" charset="0"/>
                <a:ea typeface="Pretendard" pitchFamily="34" charset="-122"/>
                <a:cs typeface="Pretendard" pitchFamily="34" charset="-120"/>
              </a:rPr>
              <a:t>치료 우선의 타당성은 재참여를 돕는 지원뿐 아니라, 중대한 반복 위반에 실제로 사용할 수 있는 적법한 대응에도 달려 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1672</TotalTime>
  <Words>17431</Words>
  <Application>Microsoft Office PowerPoint</Application>
  <PresentationFormat>와이드스크린</PresentationFormat>
  <Paragraphs>1965</Paragraphs>
  <Slides>64</Slides>
  <Notes>64</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64</vt:i4>
      </vt:variant>
    </vt:vector>
  </HeadingPairs>
  <TitlesOfParts>
    <vt:vector size="69" baseType="lpstr">
      <vt:lpstr>Pretendard</vt: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범죄·공공안전세미나 Ⅱ · 4주차 제1장</dc:title>
  <dc:subject>PptxGenJS Presentation</dc:subject>
  <dc:creator>권준성</dc:creator>
  <cp:lastModifiedBy>준성 권</cp:lastModifiedBy>
  <cp:revision>76</cp:revision>
  <dcterms:created xsi:type="dcterms:W3CDTF">2026-09-16T15:34:24Z</dcterms:created>
  <dcterms:modified xsi:type="dcterms:W3CDTF">2026-09-21T06:52:39Z</dcterms:modified>
</cp:coreProperties>
</file>