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256" r:id="rId2"/>
    <p:sldId id="314" r:id="rId3"/>
    <p:sldId id="257" r:id="rId4"/>
    <p:sldId id="305" r:id="rId5"/>
    <p:sldId id="258" r:id="rId6"/>
    <p:sldId id="259" r:id="rId7"/>
    <p:sldId id="261" r:id="rId8"/>
    <p:sldId id="262" r:id="rId9"/>
    <p:sldId id="263" r:id="rId10"/>
    <p:sldId id="264" r:id="rId11"/>
    <p:sldId id="306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315" r:id="rId27"/>
    <p:sldId id="316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308" r:id="rId39"/>
    <p:sldId id="309" r:id="rId40"/>
    <p:sldId id="310" r:id="rId41"/>
    <p:sldId id="311" r:id="rId42"/>
    <p:sldId id="312" r:id="rId43"/>
    <p:sldId id="313" r:id="rId44"/>
    <p:sldId id="298" r:id="rId45"/>
    <p:sldId id="299" r:id="rId46"/>
    <p:sldId id="302" r:id="rId47"/>
    <p:sldId id="300" r:id="rId48"/>
    <p:sldId id="301" r:id="rId49"/>
    <p:sldId id="303" r:id="rId50"/>
    <p:sldId id="304" r:id="rId5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3" autoAdjust="0"/>
    <p:restoredTop sz="94684" autoAdjust="0"/>
  </p:normalViewPr>
  <p:slideViewPr>
    <p:cSldViewPr snapToGrid="0">
      <p:cViewPr varScale="1">
        <p:scale>
          <a:sx n="159" d="100"/>
          <a:sy n="159" d="100"/>
        </p:scale>
        <p:origin x="336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D4DD6C3-A2E2-4BC4-A5B9-7CBE8AAB9C5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1/49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사형제는 폐지되어야 하는가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지난 시간에는 논제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쟁점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주장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근거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전제를 구분해 보았습니다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오늘은 이 말을 다시 외우는 대신 실제 문제에 적용해 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오늘의 전체 질문은 ‘사형제는 폐지되어야 하는가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?’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먼저 사형이라는 형벌이 무엇인지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우리 법과 실제 운영은 어떤 상태인지부터 확인하겠습니다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주제에서는 정확한 사실을 아는 일과 그 사실을 바탕으로 판단하는 일이 함께 필요합니다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어떤 나라가 사형을 폐지했는지는 자료로 확인할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하지만 그 나라의 선택을 우리도 따라야 하는지는 이유가 더 필요합니다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범죄를 줄이는 효과가 얼마나 되는지와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효과가 생명을 박탈하는 형벌을 정당화할 만큼 충분한지도 구분해야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오늘은 자신의 처음 생각을 반드시 바꾸어야 하는 시간이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유지하더라도 어떤 근거로 유지하는지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바꾼다면 어떤 자료나 질문 때문에 바뀌었는지를 설명할 수 있으면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시작하기 전에 두 가지 질문을 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오늘 사형제를 유지할지 폐지할지 반드시 결정해야 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수업에서는 판단에 필요한 자료와 질문을 함께 살핍니다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결론을 정할 수 있다면 그 이유를 설명하고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아직 판단하기 어렵다면 어떤 사실이나 기준이 더 필요한지 구체적으로 말하면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판단 유보도 이유가 있어야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자료가 정확하면 정답도 하나로 정해지지 않나요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법에 사형이 있는지처럼 자료가 답을 정해 주는 물음도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그러나 어떤 위험을 어느 정도 감수할지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응보와 생명 보호에 각각 어떤 무게를 둘지는 자료만으로 정해지지 않습니다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그렇다고 아무 판단이나 같은 것은 아니며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자기 기준이 일관되고 제시한 자료와 결론이 연결되는지 확인해야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 연결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먼저 직관으로 답을 떠올려 보고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뒤에서 실제 자료와 비교해 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읽을 때의 범위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16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200" b="1"/>
              <a:t>범죄·공공안전세미나Ⅱ · 2주차 사형제 · 2/48</a:t>
            </a:r>
          </a:p>
          <a:p>
            <a:pPr marL="0" indent="0">
              <a:buNone/>
            </a:pPr>
            <a:r>
              <a:rPr sz="1200"/>
              <a:t>기준본 v58의 기존 내용 유지 및 승인된 검토사항 반영 · v59</a:t>
            </a:r>
          </a:p>
          <a:p>
            <a:pPr marL="0" indent="0">
              <a:buNone/>
            </a:pPr>
            <a:r>
              <a:rPr sz="1200" b="1"/>
              <a:t>슬라이드: 오늘 시작하기 전에 — 두 가지 질문</a:t>
            </a:r>
          </a:p>
          <a:p>
            <a:pPr marL="0" indent="0">
              <a:buNone/>
            </a:pPr>
            <a:r>
              <a:rPr sz="1200"/>
              <a:t>발표 대본</a:t>
            </a:r>
          </a:p>
          <a:p>
            <a:pPr marL="0" indent="0">
              <a:buNone/>
            </a:pPr>
            <a:r>
              <a:rPr sz="1200"/>
              <a:t>첫 번째 문제는 이 여섯 나라 가운데 2025년에 사형 집행이 확인되지 않은 나라를 찾는 것입니다. 두 번째는 같은 해 실제 집행에서 확인되지 않은 방법을 찾는 것입니다. 두 문제 모두 2025년이라는 기간이 있고, 실제 집행에 관한 질문이라는 점에 주의해 주세요.</a:t>
            </a:r>
          </a:p>
          <a:p>
            <a:pPr marL="0" indent="0">
              <a:buNone/>
            </a:pPr>
            <a:r>
              <a:rPr sz="1200" b="1"/>
              <a:t>손을 들지 않아도 좋습니다. 마음속으로 답을 하나 정하고, 왜 그 답을 골랐는지만 잠시 기억해 두세요. 최근 본 뉴스 때문일 수도 있고, 그 나라에 대한 이미지 때문일 수도 있습니다. 영화에서 자주 본 방식이라 지금도 많이 쓰일 것이라고 생각할 수도 있겠지요.</a:t>
            </a:r>
          </a:p>
          <a:p>
            <a:pPr marL="0" indent="0">
              <a:buNone/>
            </a:pPr>
            <a:r>
              <a:rPr sz="1200"/>
              <a:t>정답은 뒤에서 세계 현황을 볼 때 확인하겠습니다. 그때 처음 생각과 자료가 같았는지, 달랐다면 어떤 정보를 놓쳤는지도 함께 살펴보겠습니다.</a:t>
            </a:r>
          </a:p>
          <a:p>
            <a:pPr marL="0" indent="0">
              <a:buNone/>
            </a:pPr>
            <a:r>
              <a:rPr sz="1200"/>
              <a:t>예상 질문과 답변</a:t>
            </a:r>
          </a:p>
          <a:p>
            <a:pPr marL="0" indent="0">
              <a:buNone/>
            </a:pPr>
            <a:r>
              <a:rPr sz="1200" b="1"/>
              <a:t>1. 질문: 집행이 ‘확인되지 않았다’고 쓰는 이유가 있나요?</a:t>
            </a:r>
          </a:p>
          <a:p>
            <a:pPr marL="0" indent="0">
              <a:buNone/>
            </a:pPr>
            <a:r>
              <a:rPr sz="1200"/>
              <a:t>답변: 보고서는 정부 발표, 판결과 사건 기록 등 확보할 수 있는 정보를 모아 집계합니다. 국가마다 공개 수준이 다르기 때문에 보고서가 확인한 범위와 실제 발생한 모든 일을 구분해야 합니다. 이 문제에서는 Amnesty의 해당 연도 집계에 포함되는지를 기준으로 답합니다.</a:t>
            </a:r>
          </a:p>
          <a:p>
            <a:pPr marL="0" indent="0">
              <a:buNone/>
            </a:pPr>
            <a:r>
              <a:rPr sz="1200" b="1"/>
              <a:t>2. 질문: 전기의자가 어떤 지역 법에 남아 있으면 정답이 달라지나요?</a:t>
            </a:r>
          </a:p>
          <a:p>
            <a:pPr marL="0" indent="0">
              <a:buNone/>
            </a:pPr>
            <a:r>
              <a:rPr sz="1200"/>
              <a:t>답변: 달라지지 않습니다. 법에서 허용하는 방식과 특정 연도 실제 집행에서 사용한 방식은 다른 항목입니다. 이 문제는 후자를 묻습니다. 따라서 뉴스에서 허용 규정을 보았다는 기억만으로 답하면 질문의 범위를 놓칠 수 있습니다.</a:t>
            </a:r>
          </a:p>
          <a:p>
            <a:pPr marL="0" indent="0">
              <a:buNone/>
            </a:pPr>
            <a:r>
              <a:rPr sz="1200"/>
              <a:t>다음 장 연결: 이제 정답을 확인하는 데 필요한 배경부터 차례로 살펴보겠습니다.</a:t>
            </a:r>
          </a:p>
          <a:p>
            <a:pPr marL="0" indent="0">
              <a:buNone/>
            </a:pPr>
            <a:r>
              <a:rPr sz="1200"/>
              <a:t>자료를 읽을 때의 범위</a:t>
            </a:r>
          </a:p>
          <a:p>
            <a:pPr marL="0" indent="0">
              <a:buNone/>
            </a:pPr>
            <a:r>
              <a:rPr sz="1200"/>
              <a:t>[I01] 인쇄 p.7 집행 총수, p.9 집행방법 표, p.19 아시아 국가별 집행, p.37 집행국 및 + 산정규칙, p.39~40 분류와 국가목록. 113·9·23·145·54, 17국·2,707명, 파키스탄·전기의자 정답 확인.</a:t>
            </a:r>
          </a:p>
          <a:p>
            <a:pPr marL="0" indent="0">
              <a:buNone/>
            </a:pPr>
            <a:r>
              <a:rPr sz="1200"/>
              <a:t>해석 범위: 확인된 최소 집계이며 실제 비공개 규모를 포괄하지 못함. +는 집행 자체 확인·신뢰할 만한 최소인원 불명; 합계에서는 2로 처리한다는 규칙을 명시. 2025년 말 분류로 이후 개정을 반영하지 않음. 추출 표 단위는 수치 원문과 함께 점검.</a:t>
            </a:r>
          </a:p>
          <a:p>
            <a:pPr marL="0" indent="0">
              <a:buNone/>
            </a:pPr>
            <a:r>
              <a:rPr sz="1200"/>
              <a:t>[Sources]</a:t>
            </a:r>
          </a:p>
          <a:p>
            <a:pPr marL="0" indent="0">
              <a:buNone/>
            </a:pPr>
            <a:r>
              <a:rPr sz="1200"/>
              <a:t>[I01] Amnesty International, Death Sentences and Executions 2025, ACT 50/0778/2026</a:t>
            </a:r>
          </a:p>
          <a:p>
            <a:pPr marL="0" indent="0">
              <a:buNone/>
            </a:pPr>
            <a:r>
              <a:rPr sz="1200"/>
              <a:t>https://www.amnesty.org/en/wp-content/uploads/2026/05/ACT5007782026ENGLISH.pdf</a:t>
            </a:r>
          </a:p>
          <a:p>
            <a:pPr marL="0" indent="0">
              <a:buNone/>
            </a:pPr>
            <a:r>
              <a:rPr sz="1200"/>
              <a:t>확인 범위: 생산기관 원보고서 PDF 본문·표 직접 확인 · 2026-05-18 발행 / 2025년 집계 / 2026-09-05 확인</a:t>
            </a:r>
          </a:p>
          <a:p>
            <a:pPr marL="0" indent="0">
              <a:buNone/>
            </a:pPr>
            <a:r>
              <a:rPr sz="120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오늘 볼 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오늘은 여섯 묶음으로 진행합니다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먼저 사형이 무엇을 박탈하는 형벌인지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형벌의 목적과 어떤 관계가 있는지를 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이어서 오늘 논제가 직접 묻는 범위를 정리합니다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사형제의 폐지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집행 재개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대체형벌의 도입은 연결되어 있지만 같은 질문은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다음으로 역사와 현행법을 살피고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조문에 남아 있는 제도와 실제 집행이 어떻게 다른지 확인합니다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국제 비교에서는 국가 수와 집행 인원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법률상 폐지와 장기 미집행을 구분하겠습니다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헌법재판에서는 어떤 법적 기준으로 사형을 판단해 왔는지 보겠습니다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후반에는 대체형벌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비용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범죄억제 연구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오판 사례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사형의 적용과 여론조사를 살펴봅니다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마지막에는 자료를 다시 모아 놓고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우리가 답해야 할 핵심 물음이 무엇인지 정리하겠습니다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처음부터 결론을 정해 두고 자료를 끼워 맞추기보다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각각의 자료가 어떤 판단을 지지할 수 있는지 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왜 쟁점을 처음에 모두 정리하지 않나요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용어와 제도를 아직 모르는 상태에서는 쟁점의 질문을 보아도 구체적으로 이해하기 어렵습니다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먼저 공통 배경과 자료를 확인하고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마지막에 그 자료들이 연결되는 핵심 물음을 묶어 보려는 구성입니다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역사나 외국 사례도 결론의 근거가 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제도가 어떻게 바뀔 수 있는지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어떤 선택과 부담이 있었는지를 보여주는 자료가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과거부터 있었다는 사실만으로 지금도 정당하다고 할 수 없고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나라가 선택했다는 사실만으로 우리에게 같은 선택이 적절하다고 할 수도 없습니다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현재 한국과 연결되는 이유가 필요합니다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 연결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먼저 사형이 형벌체계 안에서 무엇을 박탈하는 형벌인지 확인하겠습니다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읽을 때의 범위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[B10] 1997.12.30 23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 집행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이후 장기 미집행과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2007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분류 설명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실제 집행기관의 행정 원표는 아니며 상세 집행 시각과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920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 누적 집계를 뒷받침하지 않는다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당시에 예고한 특별감형은 이후 완료사실과 구분해야 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[B11] 1997.12.30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이후 장기 미집행 상태에 관한 최신 공식 설명 보강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성명의 사형폐지 지향은 기관의 의견이다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본 대본은 그 정책 결론을 강사 결론으로 채택하지 않는다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외국 국가수는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I01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말 자료로 확인한다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[B10]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국가인권위원회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사형수 특별감형을 환영하며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사형제 폐지를 기원합니다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https://humanrights.go.kr/base/board/read?boardManagementNo=24&amp;boardNo=555401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보도자료 원문직접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2007.12.31;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2026.9.5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[B11]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국가인권위원회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‘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세계 사형 폐지의 날’ 국가인권위원장 성명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https://www.humanrights.go.kr/base/board/read?boardManagementNo=24&amp;boardNo=7611541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성명 원문직접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2025.10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게시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2026.9.5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17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4/49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 및 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형법학의 분류는 형법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조의 목록을 이해하기 위한 학문적 분류입니다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조문이 네 유형이라는 이름으로 직접 나누어 놓은 것은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법익은 법이 보호하는 이익을 말합니다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생명을 빼앗으면 생명형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신체의 자유를 제한하면 자유형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재산을 박탈하면 재산형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일정한 자격을 잃게 하거나 정지시키면 명예형 또는 자격형으로 설명합니다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사형과 무기징역을 비교하는 출발점은 형량의 길이만이 아니라 무엇을 박탈하는가에 있다는 점입니다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 내용에 따른 설명 순서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조는 아홉 가지 형을 정한다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형법학에서는 이를 박탈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제한하는 법익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법이 보호하는 이익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따라 네 유형으로 분류한다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형법학이라는 표현이 정확한가요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형벌론을 다루는 형법학에서 사용하는 분류입니다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조는 아홉 형의 목록을 정하고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네 유형은 이를 박탈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제한되는 법익에 따라 설명한 것입니다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자격정지도 박탈인가요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영구적 박탈만을 뜻하지 않도록 박탈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제한으로 표현했습니다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자격정지는 일정 기간 자격행사를 제한하는 형입니다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https://www.law.go.kr/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기준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2026. 9. 5.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 및 헌재 결정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해설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레바논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호는 법무부 게시 비공식 영문 번역과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UNODC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개정 확인을 구별함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국회입법조사처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조규범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(2015),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벌금형제도의 문제점과 입법과제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형벌의 분류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형법학 문헌 인용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https://www.nars.go.kr/fileDownload2.do?doc_id=1L4EQx_Xk12&amp;fileName=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174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5/49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 및 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표는 세 열을 순서대로 읽으면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왼쪽은 형벌의 목적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가운데는 그 목적의 뜻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오른쪽은 그 목적을 사형제에 적용할 때의 질문입니다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응보는 범죄자가 부담하는 책임에 상응하는 처벌이라는 생각이지 피해감정을 그대로 실현하자는 뜻으로만 이해하면 안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일반예방은 처벌받는 사람 이외의 사람들이 범죄를 피하도록 하는 작용입니다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특별예방은 처벌받는 사람의 재범 방지에 초점을 둡니다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가운데 사회보호는 위험의 차단을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재사회화는 변화와 복귀를 중시합니다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집행은 그 사람의 사회복귀 가능성을 없애므로 그 기능과 비용을 다른 형벌과 비교해야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하단 문장의 주체는 국가입니다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국가는 어떤 목적을 정당한 것으로 선택하고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실제 효과와 대체 가능성을 어떻게 입증할지 설명해야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 내용에 따른 설명 순서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논제의 출발점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국가는 왜 자유형과 별도로 사형을 두는가 — 형벌의 목적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사형과 대체형벌을 비교할 때 살펴볼 형벌의 목적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— 형벌이 추구하는 목적과 실제로 나타나는 효과를 구별한다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→ 폐지한다는 것은 무엇을 바꾸는가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형벌의 목적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목적의 의미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사형제에서 따져 볼 질문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응보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범죄의 책임에 상응하는 형벌을 부과한다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책임에 상응하는 형벌이 생명 박탈까지 요구하는가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일반예방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형벌에 대한 두려움으로 다른 사람의 범죄를 억제한다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사형이 장기 자유형보다 범죄를 추가로 억제하는가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특별예방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사회보호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처벌받는 사람의 재범을 막고 사회를 보호한다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사회복귀 제한과 교도소 안의 안전을 어떻게 확보하는가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특별예방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범죄자의 변화와 사회복귀를 돕는다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재사회화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집행은 그 가능성을 없앤다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이를 어떻게 판단할 것인가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국가가 형벌로 이루려는 목적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사형이 실제로 내는 효과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형벌의 대체 가능성을 함께 살핀다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글자 크기가 같아진 이유는 무엇인가요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가운데와 오른쪽은 각각 의미 설명과 적용 질문이라는 동일한 수준의 본문입니다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크기와 굵기를 맞추고 열 제목과 색으로 역할을 구별했습니다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목적이 있으면 효과도 인정되나요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추구하는 목적은 제도를 정당화하는 이유이며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실제 효과는 경험적 자료로 확인할 문제입니다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목적을 선언한 것만으로 효과가 입증되지는 않습니다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https://law.go.kr/detcInfoP.do?detcSeq=135377&amp;mode=1&amp;vSct=95%ED%97%8C%25E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https://www.ccourt.go.kr/site/kor/ex/bbs/View.do?bcIdx=941543&amp;cbIdx=1106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기준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2026. 9. 5.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 및 헌재 결정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해설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레바논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호는 법무부 게시 비공식 영문 번역과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UNODC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개정 확인을 구별함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177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6/49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 및 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사형제 폐지를 논할 때 다른 형벌이 등장하는 것은 논제를 벗어나서가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사형은 현재 형벌체계의 최고형이며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자유가 아니라 생명을 직접 박탈합니다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국가가 사형이 필요하다고 설명하려면 사형의 어떤 기능이 다른 형벌로는 충분히 달성되지 않는지를 제시해야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반대로 대체형벌을 주장할 때도 그 형이 사회보호와 책임에 상응하는 처벌을 어떻게 수행하는지 설명해야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폐지 여부와 함께 폐지 후 최고형의 구조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 요건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시설 내 안전 등을 비교하게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집행 재개 여부는 사형 조항을 그대로 둔 상태의 집행정책이고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대상 범죄 축소는 제도를 유지한 상태의 적용 범위 문제입니다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 내용에 따른 설명 순서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사형의 형벌체계상 특수성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가장 무거운 형이자 생명을 박탈하는 형벌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사형은 자유를 제한하는 다른 형벌과 달리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집행 뒤 생명을 회복할 수 없다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폐지 논의에서 비교가 필요한 이유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사형의 기능을 다른 형벌로도 달성할 수 있는가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사회보호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범죄예방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책임에 상응하는 처벌을 다른 형벌이 수행할 수 있는지 살펴야 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폐지 뒤 어떤 형을 최고형으로 둘지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형의 가석방을 허용할지도 함께 검토할 설계 문제다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형벌 설계까지 논하면 논제가 너무 넓어지지 않나요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사형의 필요성을 판단하는 데 직접 필요한 범위에서 비교합니다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모든 교정정책을 한 번에 결정해야 한다는 뜻은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사형은 단지 가장 긴 징역과 같은가요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생명을 박탈하고 집행 뒤 회복이 불가능하다는 점에서 자유형과 성격이 다릅니다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https://www.law.go.kr/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https://law.go.kr/detcInfoP.do?detcSeq=135377&amp;mode=1&amp;vSct=95%ED%97%8C%25E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https://www.ccourt.go.kr/site/kor/ex/bbs/View.do?bcIdx=941543&amp;cbIdx=1106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기준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2026. 9. 5.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 및 헌재 결정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해설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레바논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호는 법무부 게시 비공식 영문 번역과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UNODC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개정 확인을 구별함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180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7/49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규정과 절차의 역사적 변천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장은 오래된 제도일수록 정당하다는 것을 보여주려는 장이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오늘의 사형 규정이 언제 어떤 법체계 안에 놓여 있었는지 구분하기 위한 간단한 역사입니다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먼저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1953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년은 한국에서 사형이 처음 등장한 해가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그보다 훨씬 이전부터 사형에 해당하는 규범과 집행이 확인됩니다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고조선의 팔조법금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흔히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조법금이라고 부르는 규범을 들어 보았을 것입니다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여덟 조항의 원문 전체가 고조선 법전 형태로 남아 있는 것은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후대 문헌을 통해 전해지는 일부 내용 가운데 사람을 죽인 자에게 죽음으로 책임을 묻는 규정이 설명되어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‘고조선 법전 전문을 확인했다’는 뜻으로 소개해서는 안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우리가 보는 것은 전승된 규정에 대한 역사 해설입니다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고려와 조선에서도 사형은 존재했습니다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여기서 주목할 점은 형벌의 존재뿐 아니라 절차입니다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사형에 해당하는 사건을 여러 번 살피고 국왕의 판단을 받는 제도가 발전했습니다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장의 삼복제는 그 한 사례입니다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같은 사형제라도 적용하는 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판단하는 기관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반복 심사의 절차가 달랐다는 점을 알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개항기 이후에는 형사법제와 집행방식이 바뀌었고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1905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대한제국에서 『형법대전』이 제정되었습니다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법전은 전통 법규와 당시의 새로운 법령을 종합한 성격을 지녔습니다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제목에 형법이 들어 있다고 해서 오늘의 형법과 내용이나 원리가 모두 같다고 생각해서는 안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1912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조선형사령에 따라 일본의 형사법이 적용된 시기를 거쳐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해방 후에는 독자 형법을 마련하는 과정을 밟게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대한민국 형법은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1953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 법률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293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호로 제정되어 같은 해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일부터 시행되었습니다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제정이유에서도 형의 종류 가운데 사형을 명시하고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그러므로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1953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년은 사형 자체의 시작이 아니라 대한민국의 독자 형법체계에서 사형을 규정한 시점이라고 설명하는 것이 정확합니다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이런 역사에는 오늘의 정당성에 대한 답이 들어 있지 않습니다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오래 유지된 제도라도 지금의 헌법과 사회에서 이유를 다시 물을 수 있고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제도가 변화했다는 사실만으로 어느 방향의 변화든 바람직했다고 말할 수도 없습니다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역사자료는 무엇이 있었고 무엇이 바뀌었는지를 알려 줍니다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제도를 오늘도 유지할 것인가는 현재의 이유와 자료로 판단해야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강사 보충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연표의 간격은 실제 시간 길이에 비례하지 않습니다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고조선부터 고려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조선까지의 긴 시기와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1894·1905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년을 같은 크기의 줄로 놓았으므로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일정한 속도로 제도가 발전했다는 인상을 주지 않도록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군주제의 사형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식민통치기의 사형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대한민국 형법의 사형이 정당화 원리까지 같은 제도였다고 연결하지 않습니다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1953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이전 사형 집행까지 대한민국 형법 통계에 포함해도 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통계가 무엇을 집계했는지에 달려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1949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년부터의 행정 집계를 소개한다면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1953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대한민국 형법 시행 이전의 집행을 포함한다고 밝혀야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수치를 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1953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형법 시행 이후 집행 인원’이라고 부르면 기간이 어긋납니다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팔조법금 전체를 알고 있는 것인가요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전문이 그대로 전해지는 것이 아니라 후대 문헌에 일부 조항이 남아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사전의 해설을 당시 완전한 법전 원문과 동일시하지 않아야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수업에서는 살인에 대해 사형을 정한 규정이 전해진다는 범위로만 사용합니다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오래전에도 신중한 절차가 있었다면 사형이 안전하게 운영됐다고 볼 수 있나요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절차가 있었다는 사실과 오류가 충분히 통제되었다는 평가는 다릅니다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실제 적용의 예외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조사 방식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판단기관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당시의 권리보장 수준을 따로 알아야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역사적 제도의 존재만으로 당시나 오늘의 오판 위험이 해결되었다고 말할 수는 없습니다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 연결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반복 심사가 어떤 모습이었는지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조선의 삼복제를 한 장 더 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읽을 때의 범위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[B03]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고려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조선의 사형사건 반복심리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경제육전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경국대전의 법제화와 담당기관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보고방식의 변천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당시 법전 원문 전체를 직접 대조한 것은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계복 항목과 연원 연대가 일치하지 않는 부분이 있어 세부 연대를 합쳐 단일 도식으로 단정하지 않는다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현대 삼심제와 동일시하지 않는다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[B04] 1905.4.29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법률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 형법대전 제정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전통 법전과 새 법령 참작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1894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특정 집행방법 폐지의 완료 시점은 이 페이지에서 확인되지 않는다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[B06]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법률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293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 제정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시행일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제정이유 ⑨의 사형을 포함한 형의 종류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페이지에서 확인한 본문은 제정이유 해설이며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1953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전체 조문 직접 전재가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[B07] 1894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갑오개혁 이후 집행방법과 집행장소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공개성 변화라는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초록은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1894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‘이후’ 변화로 서술한다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모든 폐지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정비가 그해 한 번에 완료됐다고 특정할 근거는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[B08]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전문이 전하지 않고 일부 조항이 한서 지리지에 전한다는 설명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살인에 대한 사형 규정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고조선 원법전 자체를 확보한 것은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후대 사료의 해설이며 전승과 해석의 한계를 포함한다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[B09] 1905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형법대전 성격 및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1912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조선형사령에 따른 일본 형사법 의용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일부 규정의 잔존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1912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조선형사령 원문을 직접 읽은 것은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해방 후 구법 잠정적용의 세부 법적 근거는 별도 원문 대조가 필요하다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[B03]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한국민족문화대백과사전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삼복제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https://encykorea.aks.ac.kr/Article/E0026613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기관 제공 학술해설 본문직접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1995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2022.11.21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최종수정 표시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2026.9.5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[B04]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국사편찬위원회 우리역사넷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4)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형법의 제정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https://contents.history.go.kr/mobile/nh/view.do?levelId=nh_044_0040_0030_0040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역사해설 본문직접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2026.9.5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[B06]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국가법령정보센터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1953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형법 제정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개정이유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https://www.law.go.kr/LSW/lsSideInfoP.do?ancNo=00293&amp;ancYd=19530918&amp;chrClsCd=010202&amp;lsNm=%ED%98%95%EB%B2%95&amp;urlMode=lsRvsDocInfoR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제정이유 직접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1953.9.18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1953.10.3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시행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2026.9.5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[B07]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조선시대의 감옥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그리고 사형장의 변화 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KCI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학술논문 초록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https://www.kci.go.kr/kciportal/ci/sereArticleSearch/ciSereArtiView.kci?sereArticleSearchBean.artiId=ART002110354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학술초록 직접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전문 미확인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2016;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2026.9.5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[B08]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한국민족문화대백과사전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팔조법금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https://encykorea.aks.ac.kr/Article/E0059778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기관 제공 학술해설 본문직접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2026.9.5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[B09]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한국민족문화대백과사전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형법대전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https://encykorea.aks.ac.kr/Article/E0063530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기관 제공 학술해설 본문직접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2026.9.5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183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8/49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조선의 사형절차와 삼복제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삼복제의 ‘복’은 다시 살핀다는 뜻으로 이해하면 쉽습니다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사형에 해당하는 사건을 한 번의 심리로 끝내지 않고 거듭 확인한 뒤 처결하도록 한 절차입니다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화면에는 초복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재복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삼복과 국왕의 판단을 간단하게 연결했지만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이것을 모든 시대와 지역에 똑같이 적용된 세부 절차표로 읽지는 않아야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한국민족문화대백과사전의 제도 해설은 고려 때의 기록에서 출발해 조선의 법전화와 절차 변화를 설명합니다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특히 지방 사건을 누가 다시 심리했는지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어느 기관을 거쳐 국왕에게 올렸는지가 법전과 시기에 따라 달랐다고 설명합니다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계복에 관한 해설에서는 관련 문서와 적용조문을 갖추어 국왕에게 여러 차례 아뢰고 판단받는 모습도 확인할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‘세 번의 심리를 모두 마친 뒤 처음 국왕이 등장한다’고 이해하면 지나친 단순화입니다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이름 때문에 현대의 삼심제를 떠올릴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하지만 현대의 심급제는 법률에 따라 상급심에 불복하고 다른 심급의 법원이 판단을 심사하는 구조입니다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조선의 삼복제는 군주와 관료제 안에서 이루어진 반복 심리와 보고 절차였다는 점에서 차이가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숫자가 셋이라는 이유만으로 같은 제도라고 할 수는 없습니다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수업에서 이 자료를 쓰는 이유는 사형사건을 다룰 때 신중한 확인이 필요하다는 문제의식이 과거의 제도에도 있었다는 점을 살피기 위해서입니다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이것을 당시 모든 사람이 현대적 생명권을 보장받았다는 말로 넓히지 않겠습니다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제도의 취지가 신중함이었다는 설명과 그 제도가 실제로 오류를 얼마나 줄였는지는 별도의 물음입니다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구분은 오늘의 재판절차를 살필 때도 중요합니다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여러 번 판단한다는 사실은 의미가 있지만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반복 횟수만 세어 모든 위험이 사라졌다고 말할 수는 없습니다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어떤 증거를 보고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이전 판단을 얼마나 독립적으로 살피며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잘못을 발견하면 어떻게 바로잡는지가 함께 중요해집니다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문제는 뒤의 오판 사례를 볼 때 다시 만나겠습니다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실제 기록 하나를 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성종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 기록에는 형조에서 종성의 죄수 한치명과 계손의 사건을 삼복하여 아뢴 내용이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사람을 모살한 죄에 해당 법률을 적용해 형을 보고했고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국왕이 그에 따랐다는 내용입니다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사례는 삼복이라는 용어가 후대 설명에만 있는 것이 아니라 당시 사건 기록에도 나타난다는 점을 보여줍니다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이 짧은 기록만으로 사건의 전체 증거나 판단의 정확성까지 알 수 있는 것은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삼복제는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심과 같은 것인가요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반복해서 판단한다는 기능적 유사성은 있지만 제도의 구조와 권한관계는 다릅니다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현대의 심급제와 동일한 상소권이나 독립된 법원 구조를 전제할 수 없습니다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수업에서는 현대 제도의 원형이라고 단정하기보다 역사적 반복 심사절차로 설명합니다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세 번 조사하면 오판을 막을 수 있지 않나요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다시 조사하고 판단할 기회를 두면 오류를 발견할 가능성이 생깁니다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그러나 같은 잘못된 자료나 동일한 전제를 그대로 반복하면 오류가 이어질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횟수와 함께 각 단계에서 무엇을 새로 확인할 수 있었는지 보아야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삼복제 자료만으로 실제 오류율을 추정할 수는 없습니다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사료 속 두 사람의 처벌이 다른 이유는 신분 차이인가요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해당 짧은 기사에는 서로 다른 형을 적용했다는 사실이 있지만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차이가 신분 때문인지 역할이나 다른 법적 사유 때문인지는 이 기사만으로 확정할 수 없습니다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전체 사건 기록과 적용 규정을 확인하지 않은 상태에서 원인을 단정하지 않겠습니다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 연결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역사적 절차를 확인했으니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이제 현재 대한민국의 조문에서 사형이 어디에 남아 있는지 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읽을 때의 범위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[B03]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고려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조선의 사형사건 반복심리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경제육전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경국대전의 법제화와 담당기관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보고방식의 변천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당시 법전 원문 전체를 직접 대조한 것은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계복 항목과 연원 연대가 일치하지 않는 부분이 있어 세부 연대를 합쳐 단일 도식으로 단정하지 않는다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현대 삼심제와 동일시하지 않는다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[B12]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초복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재복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삼복 및 국왕에 대한 반복 계문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참석자와 심리 방식의 설명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기원 연대는 삼복제 항목과 불일치하는 부분이 있어 사용하지 않는다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모든 사례에 단일 절차가 적용됐다고 일반화하지 않는다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[B13]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형조가 해당 사건을 삼복하여 아뢰고 국왕이 따랐다는 실제 기사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국역 주석의 삼복 설명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전체 심리기록이나 증거목록이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두 사람의 형 차이에 관한 원인은 기사만으로 확정할 수 없다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[B03]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한국민족문화대백과사전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삼복제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https://encykorea.aks.ac.kr/Article/E0026613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기관 제공 학술해설 본문직접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1995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2022.11.21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최종수정 표시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2026.9.5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[B12]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한국민족문화대백과사전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계복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https://encykorea.aks.ac.kr/Article/E0003145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기관 제공 학술해설 본문직접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2026.9.5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[B13]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성종실록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성종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기사 — 형조에서 종성의 죄수 한치명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계손 등의 죄가 부대시에 해당함을 아뢰다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https://sillok.history.go.kr/id/wia_10810017_003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사료 원문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국역 직접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1477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기록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2026.9.5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186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9/49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 및 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법정형은 특정 범죄에 대하여 법률이 미리 정해 둔 형벌의 종류와 범위입니다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살인죄의 경우 사형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무기 또는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이상의 징역이라는 선택과 범위가 정해져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법원은 적용 법조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가중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감경 규정과 구체적 사실을 살펴 선고할 형을 정합니다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죄명이라는 표제만으로 동일한 범위를 단정해서는 안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같은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338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조라도 강도살인과 강도치사는 법정형이 다릅니다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여적죄는 조문상 사형만 정하지만 법률상 감경이 적용될 가능성은 별도로 살펴야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 내용에 따른 설명 순서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법정형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법률이 특정 범죄에 대해 정한 형벌의 종류와 범위 — 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살인죄는 사형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무기 또는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이상의 징역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법정형은 종류만인가요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형벌의 종류와 범위를 함께 말합니다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징역이라는 종류뿐 아니라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이상이라는 범위도 포함됩니다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사형이 법정형이면 실제로 사형이 선고되나요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사형이 선택지로 존재하는 것과 해당 사건에서 사형을 선택하는 것은 다릅니다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적용 법률과 양형 판단을 살펴야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https://www.law.go.kr/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기준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2026. 9. 5.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 및 헌재 결정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해설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레바논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호는 법무부 게시 비공식 영문 번역과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UNODC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개정 확인을 구별함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189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11/49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 및 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 형법 개정은 사형을 형의 시효 대상에서 제외했습니다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개정은 같은 날 시행되었습니다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날짜는 최근 제도 변화의 시점을 이해하는 정보이므로 유지합니다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형의 시효는 유죄판결로 형이 확정된 뒤 일정 기간 집행되지 않았을 때 형의 집행을 면제하는 제도입니다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 발생 뒤 기소 가능 기간을 다루는 공소시효와 다릅니다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사형을 시효에서 제외했다는 것은 시간이 오래 지났다는 사유만으로 사형의 집행을 면제하지 않는다는 뜻이며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당장 집행을 재개했다는 뜻은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 내용에 따른 설명 순서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2023. 8. 8.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 개정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시행 — 사형을 형의 시효 적용 대상에서 제외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법률 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19582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개정 날짜와 시행 날짜가 같은가요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법률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19582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호의 개정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시행일은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장기 미집행이면 법률상 폐지인가요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법률에서 사형을 삭제한 것과 집행을 장기간 하지 않는 상태는 다릅니다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국제앰네스티의 실질적 폐지 분류도 이 차이를 전제로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https://www.law.go.kr/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기준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2026. 9. 5.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 및 헌재 결정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해설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레바논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호는 법무부 게시 비공식 영문 번역과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UNODC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개정 확인을 구별함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192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 12/49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슬라이드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세계의 사형제 현황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 표를 보기 전에 서로 다른 질문 두 가지를 구별하겠습니다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어느 나라의 법에 사형이 남아 있는지를 묻는 질문과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어느 나라가 특정한 해에 실제로 집행했는지를 묻는 질문입니다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법에는 남아 있지만 집행하지 않을 수 있으므로 두 질문의 답이 같을 필요가 없습니다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 자료의 생산자인 국제앰네스티는 사형폐지를 지지하는 인권단체입니다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그런 입장은 밝히되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자료를 평가할 때는 실제 집계 기준과 공개 범위를 따져야 합니다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입장이 있다는 이유만으로 통계를 배제하거나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반대로 국제단체가 발표했다는 이유만으로 모든 해석까지 받아들일 필요는 없습니다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[I01·I02]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표의 기준 시점은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2025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년 말입니다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모든 범죄에서 폐지한 나라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113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개국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일반범죄에 한하여 폐지한 나라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9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개국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실질적 폐지로 분류한 나라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23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개국을 합치면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145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개국입니다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존치국은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54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개국입니다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여기서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145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는 별도의 다섯 번째 범주가 아니라 앞의 세 범주의 합계입니다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그리고 실질적 폐지는 단순히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10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년이 지나면 자동으로 얻는 지위가 아닙니다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그 기간의 미집행에 더해 집행하지 않는 정책이나 확립된 관행이 있다고 판단하는 분류입니다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[I01]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아래 집행 실적은 나라의 법적 지위와 다른 정보를 줍니다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2025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년에는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17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개국에서 최소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2,707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명의 집행이 기록됐습니다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중국 등 비공개 국가의 실제 규모를 포괄하지 못하므로 세계 전체의 정확한 총인원이라고 읽지 않습니다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많은 나라가 폐지한 상태와 특정한 나라들에서 상당한 수의 집행이 이뤄지는 상태는 함께 나타날 수 있습니다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앞의 숫자는 국가를 세고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뒤의 숫자는 사람을 셉니다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한 국가가 매우 많이 집행하더라도 국가 수에서는 하나이기 때문입니다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[I01·I02]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도입 퀴즈의 답도 확인하겠습니다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첫 문제는 파키스탄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둘째 문제는 전기의자입니다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이것은 파키스탄이 사형제 자체를 없앴다는 뜻도 아니고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전기의자가 세계 어디에서도 법적으로 허용되지 않는다는 뜻도 아닙니다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 자료가 확인한 해당 연도의 실제 집행 여부와 방법에 대한 답입니다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[I01]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구체적인 설명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그렇다면 폐지국이 많다는 사실로 오늘의 답을 정할 수 있을까요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국제적 흐름을 파악하고 다른 제도를 검토할 이유는 됩니다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하지만 여러 나라가 선택했다는 사실만으로 그 선택이 한국에서 반드시 옳다는 결론이 나오지는 않습니다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우리에게 필요한 것은 그 선택의 이유와 조건입니다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거꾸로 집행이 이어진다는 사실도 사형이 꼭 필요하거나 범죄를 더 억제한다는 증명은 아닙니다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 장은 무엇이 어디에서 시행되는지를 보여주는 현황 자료이고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그 제도가 어떤 효과를 내는지는 뒤의 다른 자료에서 살펴보겠습니다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여기서 짧게 가상의 표를 생각해 보겠습니다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열 나라 가운데 아홉 나라가 집행을 하지 않고 한 나라만 집행한다고 합시다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그 한 나라의 인구가 매우 많거나 집행이 집중된다면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집행국 비중은 낮아도 집행된 사람의 수는 클 수 있습니다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반대로 집행국 수가 같더라도 각 나라의 집행 횟수가 줄면 사람 수는 감소합니다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그러므로 ‘사형이 줄고 있다’는 말에는 적어도 무엇이 줄었다는 것인지가 붙어야 합니다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사형을 법에 둔 나라가 줄었는지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실제 집행국이 줄었는지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집행된 사람의 수가 줄었는지는 다른 설명입니다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 가정은 실제 국가 수를 재현한 것이 아니라 단위를 구별하기 위한 예입니다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또 하나는 자료 생산자의 입장을 대하는 태도입니다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사형폐지를 지지하는 기관의 숫자는 모두 틀렸다고 한다면 자료 자체를 확인할 기회를 잃습니다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반대로 그 기관이 숫자와 함께 제시한 정책 주장을 숫자가 증명한 결론이라고 받아들이면 사실과 판단이 섞입니다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우리가 가져갈 것은 공개된 기준에 따라 확인되는 사실과 그 한계입니다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정책 판단은 그 위에 필요한 이유를 더하여 설명해야 합니다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 구별은 뒤에서 존치를 지지하는 견해가 인용한 연구를 볼 때에도 똑같이 적용합니다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145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개국이면 전체 국가의 몇 퍼센트인가요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 표의 네 범주를 합친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199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를 분모로 하면 약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73%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다만 이 분모는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Amnesty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가 분류한 국가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지역의 단위이므로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UN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회원국 수나 세계 인구를 분모로 한 비중과 혼동하지 않습니다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화면에는 이미 국가 수가 충분히 있어 이 비율까지 새로 추가할 필요는 없습니다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[I01]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2.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10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년 동안 사형을 집행하지 않으면 국제법상 폐지국이 되나요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 표는 국제앰네스티의 분류입니다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자동으로 국내법의 사형 조항이 없어지는 법적 효력이 발생하는 것은 아닙니다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기간 이외에 정책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관행에 대한 판단도 포함됩니다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따라서 법률상 폐지 여부는 별도로 법을 확인해야 합니다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[I01]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3.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17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개국에서 집행했다면 나머지 존치국들은 사실상 폐지한 것 아닌가요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한 해 동안 집행이 없었다는 사실만으로 앞으로도 집행하지 않겠다는 정책까지 확인되는 것은 아닙니다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해당 연도에 확정 사건이 없었거나 절차가 진행 중인 경우처럼 여러 가능성이 있습니다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 자료만으로 개별 국가의 미집행 이유를 추정하지 않는 것이 좋습니다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4.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중국 수치가 없는데 이 숫자를 왜 사용하나요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정확한 전체 총량을 알려주지는 못해도 확인된 집행이 어느 범위에 이르는지는 보여줍니다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따라서 ‘최소’라는 표현과 미공개 범위를 함께 제시합니다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비공개 집행을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으로 처리해 현실이 없다고 읽는 것도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확인되지 않은 추정치를 임의로 보태는 것도 피합니다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[I02]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5.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사형폐지 단체가 낸 자료라면 편향된 것 아닌가요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정책적 지향과 사실 자료의 정확성은 구분해서 평가합니다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분류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수집 방법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공개 한계를 살피고 가능한 부분을 다른 공식 자료와 대조해야 합니다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단체의 주장을 따라야 할 의무는 없으며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 표를 사용한다는 사실이 그 단체의 모든 정책 주장에 동의한다는 뜻도 아닙니다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다음 장 연결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표는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2025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년 말의 상태를 보여줬습니다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다음에는 그 뒤 법을 바꾼 레바논을 보겠습니다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다만 한국과 공통인 것은 장기 미집행이라는 측면이지 모든 법제 조건이 같다는 뜻은 아닙니다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자료를 읽을 때의 범위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[I01]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인쇄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p.7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집행 총수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p.9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집행방법 표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p.19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아시아 국가별 집행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p.37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집행국 및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+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산정규칙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p.39~40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분류와 국가목록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113·9·23·145·54, 17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국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·2,707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명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파키스탄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전기의자 정답 확인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확인된 최소 집계이며 실제 비공개 규모를 포괄하지 못함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+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는 집행 자체 확인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신뢰할 만한 최소인원 불명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;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합계에서는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로 처리한다는 규칙을 명시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2025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년 말 분류로 이후 개정을 반영하지 않음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추출 표 단위는 수치 원문과 함께 점검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[I02]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보고서명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발간번호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발행일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2,707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명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·17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개국 및 중국 실제 규모 미포괄 설명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국가별 정의와 세부 표는 링크된 원보고서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I01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로 확인해야 함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[I01] Amnesty International, Death Sentences and Executions 2025, ACT 50/0778/2026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https://www.amnesty.org/en/wp-content/uploads/2026/05/ACT5007782026ENGLISH.pdf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생산기관 원보고서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PDF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본문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표 직접 확인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 2026-05-18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발행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/ 2025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년 집계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/ 2026-09-05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확인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[I02] Amnesty International, Death sentences and executions 2025 —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공식 발간 페이지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https://www.amnesty.org/en/documents/act50/0778/2026/en/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공식 발간 페이지 본문 직접 확인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 2026-05-18 / 2026-09-05 </a:t>
            </a:r>
            <a:r>
              <a:rPr lang="zh-CN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확인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195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13/49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 및 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레바논은 장기간 집행하지 않던 상태에서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사형 조항을 폐지한 사례입니다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법률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호는 관보에 게재된 날부터 시행하도록 정했고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관보 게재일은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사형폐지법상 대체형은 범죄 발생 시기에 따라 다릅니다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시행 전 범죄와 기존 미집행 사형 사건은 종신 중노동형으로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시행 후 범죄는 가중된 종신 중노동형으로 대체합니다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여기서 중요한 것은 가중형이라고 해서 모든 형 감경을 금지한 것은 아니라는 점입니다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(b)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법률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463/2002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호가 정한 감경만 허용한다고 규정합니다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장에서 그 법을 설명합니다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이후 사면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감형 관련 별도 법률의 개인별 적용 결과까지 이 표가 확정하는 것은 아니며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표는 사형폐지법 자체가 정한 대체형을 설명합니다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 내용에 따른 설명 순서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→ 레바논의 형 감경 제도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종신 중노동형은 노역을 수반하는 종신 자유형이다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새 가중형에는 법률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463/2002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호에 따른 감경만 허용한다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사형폐지법상 대체형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시행 전 범죄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기존 미집행 사형은 종신 중노동형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시행 후 범죄는 가중된 종신 중노동형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가중된 종신형은 가석방 없는 종신형인가요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호만으로 모든 석방 가능성이 없다고 단정할 수 없습니다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463/2002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호에 따른 감경이 허용되는 구조를 함께 읽어야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모든 기존 수형자가 같은 형으로 바뀌나요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장은 사형폐지법상 기존 미집행 사형과 범죄 발생 시기에 따른 원칙을 설명합니다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범죄나 별도 사면법의 개별 적용까지 같다는 뜻은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https://nhrclb.org/en/archives/8261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https://www.justice.gov.lb/public/uploads/Law%20on%20Enforcement%20of%20Penalties_EN%20%20%20final.pdf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기준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2026. 9. 5.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 및 헌재 결정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해설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레바논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호는 법무부 게시 비공식 영문 번역과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UNODC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개정 확인을 구별함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198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14/49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 및 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463/2002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호는 사형폐지법의 다른 이름이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2002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 제정된 형 집행에 관한 법률로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자유형을 복역하는 사람의 상태와 법정 조건을 심사하여 형을 줄이는 절차를 마련했습니다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법무부가 게시한 영어 번역문은 비공식 번역이며 원문과 구별해야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법의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조와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조는 좋은 복역 태도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석방 후 본인이나 다른 사람에게 생길 위험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신체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사회적 상태 등을 고려하도록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및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조부터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조는 위원회의 제안과 법원의 심사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결정 구조를 정합니다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법률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183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호로 개정된 사실이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UNODC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심사자료에서 확인됩니다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2002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원법에 적힌 복역기간 수치를 새 가중형의 현재 석방 시점으로 그대로 옮겨 쓰지 않았습니다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사형폐지법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(b)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핵심은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호의 감경 경로를 남겨 두었다는 것입니다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일정 기간 뒤 자동으로 형이 끝난다거나 반대로 어떤 경우에도 감경이 안 된다고 설명하면 모두 부정확합니다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 내용에 따른 설명 순서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국제 현황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레바논의 가중된 종신형 — 어떤 감경이 가능한가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법률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463/2002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호는 수형자의 형 집행 중 감경 요건과 절차를 정한 법률이다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대체형벌은 형의 이름뿐 아니라 감경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석방 요건까지 살펴야 실제 구금 범위를 이해할 수 있다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레바논 국가인권위원회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법률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법무부 게시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463/2002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 번역문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UNODC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국가심사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(2015)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→ 헌법은 사형을 어떻게 다루는가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법의 성격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2002. 9. 17.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제정된 「형 집행에 관한 법률」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복역 태도와 석방 후 위험성 등을 심사해 자유형을 줄이는 제도다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2011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법률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183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호로 개정되었으며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사형을 폐지한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법률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호와는 별개의 법이다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수형자의 상태와 법정 요건을 개별적으로 심사한다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감경위원회가 자료를 심사해 제안하고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관할 법원이 감경 여부를 결정하는 구조다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복역기간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범죄유형 등 적용 요건이 있으므로 일정 기간이 지나면 자동 석방되는 제도는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사형폐지법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법률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(b)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이 법에 따른 감경만 허용한다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가중된 종신 중노동형에도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463/2002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호의 감경 가능성은 남는다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이 규정만으로 모든 감경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석방 가능성이 사라진 절대적 종신형이라고 설명할 수는 없다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한국의 가석방과 같은 제도인가요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모두 형 집행 중 사회복귀 가능성과 관련되지만 법적 구조와 조건은 다릅니다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여기서는 원문의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sentence reduction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형 감경으로 옮겼습니다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그렇다면 언제 석방되나요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새 가중형에 적용되는 현행 감경 요건과 범죄유형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실제 복역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법원의 결정을 확인해야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자료만으로 일률적인 석방 연도를 정할 수 없습니다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왜 법률 번호까지 설명하나요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호는 사형의 폐지와 대체형을 정하고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호는 허용되는 감경 경로를 정합니다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두 법의 역할을 알아야 대체형벌의 실질을 이해할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https://nhrclb.org/en/archives/8261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https://www.justice.gov.lb/public/uploads/Law%20on%20Enforcement%20of%20Penalties_EN%20%20%20final.pdf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https://www.unodc.org/documents/treaties/UNCAC/WorkingGroups/ImplementationReviewGroup/3-4November2015/V1507554e.pdf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기준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2026. 9. 5.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 및 헌재 결정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해설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레바논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호는 법무부 게시 비공식 영문 번역과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UNODC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개정 확인을 구별함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201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15/49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 및 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항은 비상계엄하 군사재판의 단심 예외를 정한 조항입니다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단심은 한 번의 재판으로 끝내는 절차입니다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본문에 열거된 특수한 경우에는 법률이 정하면 단심으로 할 수 있지만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사형을 선고한 경우에는 그렇게 하지 못한다는 것이 단서의 직접적인 내용입니다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강조한 문장은 그 절차상 보호를 보여 줍니다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문제는 여기서 사형제 자체가 헌법적으로 허용된다는 결론까지 도출할 수 있느냐입니다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다수의견은 사형의 존재를 전제한 것으로 읽었고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의견은 이미 존재하던 사형 선고를 절차적으로 제한하는 조항으로 읽었습니다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조대현의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의견은 이 조항이 정한 특수상황의 예외만 인정했다는 점에서 또 구별됩니다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 내용에 따른 설명 순서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선고 때 단심을 금지한 규정에서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사형제 자체의 헌법적 허용까지 읽어낼 수 있는가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단심을 금지하면 반드시 세 번 재판하나요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조항이 모든 사건에 세 차례의 재판을 보장한다는 뜻은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여기서는 해당 특수상황에서 사형 선고를 단심으로 확정하지 못하도록 한 내용을 설명합니다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헌법에 사형이라는 말이 있으면 일반 사형제가 당연히 합헌인가요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바로 그 해석이 논쟁의 대상입니다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절차적 언급의 의미와 생명권 제한 요건을 함께 판단합니다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https://www.law.go.kr/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대한민국헌법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https://law.go.kr/detcInfoP.do?detcSeq=135377&amp;mode=1&amp;vSct=95%ED%97%8C%25E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https://www.ccourt.go.kr/site/kor/ex/bbs/View.do?bcIdx=941543&amp;cbIdx=1106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기준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2026. 9. 5.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 및 헌재 결정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해설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레바논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호는 법무부 게시 비공식 영문 번역과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UNODC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개정 확인을 구별함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204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16/49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 및 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재판의 전제성은 추상적인 법률 논쟁이 아니라 진행 중인 구체적 재판과 위헌심사를 연결하는 요건입니다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해당 법률이 그 사건에 적용되어야 하고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위헌인지에 따라 재판의 주문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내용이나 효력의 법률적 의미가 달라져야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반드시 결론이 피고인에게 유리하게 바뀌어야 한다는 뜻만은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제청은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항소심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상고심의 재판부 모두 요건을 갖추면 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법원이 직권으로 제청하거나 당사자의 신청을 받아 제청하면 헌가 사건입니다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당사자가 신청했지만 기각된 뒤 헌법재판소법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항에 따라 헌법소원을 청구하면 헌바 사건입니다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 내용에 따른 설명 순서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→ 생명권 논의의 헌법 조항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재판의 전제성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문제된 법률이 그 사건에 적용되고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법률의 위헌 여부에 따라 재판의 주문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결론 또는 내용과 효력의 법률적 의미가 달라지는 경우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어느 심급에서든 가능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항소심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상고심에서 그 재판에 적용되는 법률의 위헌 여부가 전제가 되면 제청할 수 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법원 제청은 헌가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제청신청 기각 뒤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 헌법소원은 헌바 사건번호를 사용한다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 재판부의 명칭은 무엇인가요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 재판부와 항소심 재판부라고 부르면 정확합니다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대법원의 상고심 재판부도 제청할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법원이 제청신청을 기각하면 위헌심사를 더는 못 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법률이 정한 요건과 기간에 따라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 헌법소원을 청구할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무기징역을 선고받아도 사형 조항을 다툴 수 있나요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조항이 해당 사건에 적용되는지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위헌 여부가 재판에 영향을 주는지 전제성을 따져야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뒤의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2019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59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실제로 제기된 문제입니다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https://www.law.go.kr/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대한민국헌법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기준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2026. 9. 5.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 및 헌재 결정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해설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레바논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호는 법무부 게시 비공식 영문 번역과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UNODC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개정 확인을 구별함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207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17/49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 및 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세 조항은 같은 역할을 하는 것이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조는 인간의 존엄과 가치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행복추구권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국가의 인권 확인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보장 의무를 선언합니다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항은 헌법에 이름이 적혀 있지 않은 자유와 권리도 가볍게 취급해서는 안 된다고 정합니다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생명권은 조문에 그 이름이 명시되어 있지 않지만 헌재가 모든 기본권의 전제로 인정한 권리입니다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항은 기본권을 제한할 수 있는 목적과 필요성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법률의 근거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본질적 내용 침해 금지를 정합니다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사형제 사건의 핵심은 생명권도 이 규정에 따라 제한될 수 있는지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생명을 없애는 것이 본질적 내용 침해 금지와 양립하는지입니다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합헌 의견도 생명권의 중요성을 부정하지 않았으며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위헌 의견들도 제한 가능성과 심사 방법을 모두 똑같이 보지는 않았습니다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 내용에 따른 설명 순서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헌법재판소의 판단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생명권 논의의 헌법 조항 — 보장 근거와 제한의 한계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헌법은 생명권을 명시적으로 열거하지 않지만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헌재는 모든 기본권의 전제가 되는 기본권으로 인정한다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쟁점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생명권도 제한할 수 있는가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그렇다면 사형에 의한 생명권 제한은 어디까지 허용되는가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대한민국헌법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원문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95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및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2008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생명권 보장과 제한 가능성을 논의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→ 비례의 원칙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역할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인간의 존엄과 가치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국가의 기본적 인권 보장 의무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모든 국민은 인간으로서의 존엄과 가치를 가지며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행복을 추구할 권리를 가진다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국가는 개인이 가지는 불가침의 기본적 인권을 확인하고 이를 보장할 의무를 진다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역할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헌법에 이름이 적혀 있지 않은 기본권도 보호한다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국민의 자유와 권리는 헌법에 열거되지 아니한 이유로 경시되지 아니한다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역할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기본권 제한의 목적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필요성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법률 근거와 본질적 내용 침해 금지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국민의 모든 자유와 권리는 국가안전보장ㆍ질서유지 또는 공공복리를 위하여 필요한 경우에 한하여 법률로써 제한할 수 있으며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제한하는 경우에도 자유와 권리의 본질적인 내용을 침해할 수 없다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조에 생명권이라는 단어가 있나요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없습니다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생명권 보장은 인간의 존엄과 가치 등 헌법적 근거와 모든 기본권의 전제라는 성격을 통해 설명됩니다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항과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항은 어떻게 다른가요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항은 열거되지 않은 권리도 보호한다는 규정이고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항은 기본권을 제한할 때의 조건과 한계를 정합니다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본질적 내용은 무엇인가요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제한하더라도 그 권리가 권리로서 남아 있기 위해 보장되어야 할 핵심입니다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생명은 부분적으로만 박탈할 수 없으므로 이 규정을 어떻게 적용할지가 사형제 논의의 쟁점입니다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https://www.law.go.kr/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대한민국헌법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https://law.go.kr/detcInfoP.do?detcSeq=135377&amp;mode=1&amp;vSct=95%ED%97%8C%25E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https://www.ccourt.go.kr/site/kor/ex/bbs/View.do?bcIdx=941543&amp;cbIdx=1106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기준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2026. 9. 5.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 및 헌재 결정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해설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레바논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호는 법무부 게시 비공식 영문 번역과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UNODC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개정 확인을 구별함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210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18/49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 및 구체적인 설명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장은 비례의 원칙을 사형제 논의에 적용하기 전에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판례가 기본권 제한을 어떤 요소로 심사하는지를 보여주는 장입니다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비례의 원칙이라는 표현이 헌법 조문에 그대로 적혀 있는 것은 아니며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헌재는 헌법 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37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항에서 도출되는 과잉금지원칙 또는 비례원칙으로 기본권 제한을 심사한다고 설명합니다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헌법재판소는 기본권을 제한하는 입법이 이 한계를 지키는지를 과잉금지원칙 또는 비례원칙으로 심사한다고 설명합니다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2005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결정은 목적의 정당성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방법의 적정성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피해의 최소성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법익의 균형성이라는 네 요소를 차례로 제시합니다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사형제에서는 이 네 요소가 그대로 쟁점으로 이어집니다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목적의 정당성은 중대한 범죄로부터 생명과 안전을 보호하고 형사사법질서를 유지하려는 목적이 정당한지입니다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이 목적 자체보다 더 치열한 부분은 그 다음입니다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방법의 적정성에서는 사형이 실제로 범죄억제나 사회보호에 기여하는지를 묻고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피해의 최소성에서는 같은 목적을 덜 침해적인 형벌로 달성할 수 없는지를 묻습니다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법익의 균형성에서는 사형으로 얻는 공익이 생명권 박탈이라는 침해보다 큰지를 묻습니다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여기서 중요한 점은 목적이 정당하다는 것만으로 사형이 정당화되지는 않는다는 것입니다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효과가 있는지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대체수단이 있는지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마지막으로 얻는 이익과 생명권 침해를 어떻게 견주어 볼지를 차례로 보아야 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→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1996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결정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헌법 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37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2005.11.24. 2005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 —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과잉금지원칙 내지 비례원칙의 네 요소 일반론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2010.2.25. 2008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 —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사형제 사건에서 비례원칙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법익균형성 등 적용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19/49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 및 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1996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재판관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인이 합헌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인이 위헌 의견을 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다수의견은 생명권이 모든 기본권의 전제임을 인정하면서도 다른 생명이나 중대한 공익의 보호가 불가피한 예외적 상황에서는 제한이 가능하다고 보았습니다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 단서가 사형의 존재를 전제한다는 해석만으로 끝낸 것이 아니라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비례원칙과 사형의 필요성도 판단했습니다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범죄예방에서는 죽음의 공포가 주는 효과를 기대할 수 있다고 보았지만 무기징역과의 비교를 실증적으로 확정하지는 않았습니다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반대의견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인의 이유도 구별해야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김진우는 존엄과 개선 가능성을 중심으로 인간을 사회방위 수단으로 다루는 문제를 제기했고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조승형은 생명권의 본질과 과잉금지 원칙을 강조했습니다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합헌 결정이 사형제의 영구 존치를 명령한 것으로 이해해서는 안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 내용에 따른 설명 순서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1996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결정 — 사형제의 합헌성 판단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생명권도 헌법 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37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항에 따른 제한의 대상이 될 수 있다고 보았다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헌법 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110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 단서는 사형제도의 존재를 간접적으로 전제한다고 보았다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극히 한정적으로 적용되는 사형은 당시에도 형벌로서 기능을 하고 있어 합헌이라고 판단했다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김진우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사형은 인간의 존엄과 가치에 반하며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개선될 수 있는 사람을 사회방위의 수단으로 삼아 그 가능성을 박탈한다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조승형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 박탈은 기본권의 본질적 내용을 침해한다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응보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일반예방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사회방위도 사형을 정당화할 충분한 근거가 되지 못한다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반대의견에서는 무기징역을 통한 대체 가능성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오판의 회복 불가능성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사형의 추가적 억제효과를 입증하기 어렵다는 점도 문제 삼았다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합헌은 사형을 반드시 유지해야 한다는 명령이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다수의견은 개별 사형 조항의 비례성과 신중한 선고를 요구하고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사회적 조건이 달라지면 사형을 폐지해야 할 가능성도 언급했다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→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1996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판단에 붙은 조건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합헌인데 왜 폐지 언급이 있나요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당시 제도가 헌법에 위반되지 않는다는 판단과 장래에 필요성이 사라져 폐지해야 한다는 판단은 양립할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합헌 논거가 두 개뿐인가요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그렇지 않습니다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생명권 제한 가능성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해석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비례원칙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범죄예방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사회보호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대체형벌과의 비교 등 여러 논거를 제시했습니다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반대의견 두 명의 이유는 같은가요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결론은 같지만 논증의 중심과 전개는 다릅니다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화면에서는 재판관 이름을 붙여 핵심을 나누었습니다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https://law.go.kr/detcInfoP.do?detcSeq=135377&amp;mode=1&amp;vSct=95%ED%97%8C%25E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기준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2026. 9. 5.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 및 헌재 결정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해설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레바논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호는 법무부 게시 비공식 영문 번역과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UNODC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개정 확인을 구별함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215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20/49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 및 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장은 앞 장의 합헌 결론이 어떤 조건 아래 제시되었는지를 보여 줍니다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첫째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사형이 다른 생명이나 그에 못지않은 중대한 공익을 보호하는 데 불가피한 예외적 경우에만 허용된다고 보았습니다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둘째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각각의 사형 조항과 범죄 사이에 적정한 비례관계가 있는지 확인하고 선고에 특별히 신중해야 한다고 요구했습니다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셋째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범죄억제의 실증 자료가 충분하다는 결론을 내린 것이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사형의 위하 효과를 기대하면서도 비교 근거가 약하다고 인정했고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당시 무기징역이 동등하게 대체한다는 주장도 가설 수준이라고 평가했습니다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마지막으로 사회적 조건과 법감정이 변하면 폐지되어야 할 시기가 올 수 있다고 밝혔습니다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부분은 합헌 결론을 뒤집은 별개의 주문이 아니라 다수의견이 밝힌 적용의 한계와 장래 변화 가능성입니다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 내용에 따른 설명 순서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헌법재판소의 판단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1996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결정 — 합헌 판단에도 조건이 있다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다수의견은 사형을 무조건 승인한 것이 아니라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당시의 필요성과 적용의 한계를 함께 판단했다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판단할 때의 조건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자료가 뒷받침하는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앞으로 바뀔 수 있는 사정을 함께 읽는다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1996. 11. 28. 95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다수의견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→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결정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적용의 한계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사람의 생명 또는 이에 못지않은 중대한 공익을 보호하기 위해 불가피한 예외적 경우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 박탈이 필요한지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범죄의 불법과 형벌이 적정한 비례관계에 있는지 개별적으로 살펴야 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법정형에 사형이 있다는 이유만으로 모든 해당 사건에 사형을 선고하는 것은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증거의 범위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사형과 무기징역의 범죄예방 효과 차이를 뒷받침하는 실증적 근거는 충분하지 않았다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다수의견은 당시 사형과 무기징역의 예방 효과를 비교해 어느 한쪽이 명백히 우월하다고 단정할 자료가 충분하지 않다고 보았다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변화 가능성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범죄예방의 필요성과 국민의 법감정이 달라질 가능성을 열어 두었다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사형의 범죄예방 필요성이 거의 없어지거나 국민의 법감정이 그렇게 인식하는 때에는 폐지되어야 한다고 언급했다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당시 합헌 결론과 향후 입법적 폐지는 양립할 수 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당시에는 합헌이지만 나중에는 위헌일 수도 있다는 뜻인가요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다수의견은 필요성과 사회적 조건을 함께 고려했습니다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장래의 입법적 폐지 가능성을 열어 두었으며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이후 심사에서는 당시의 조건과 자료를 다시 판단할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효과의 근거가 약하다는 말은 효과가 없다는 말인가요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같지 않습니다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효과가 없다는 확정과 현재 자료로 효과를 충분히 입증하지 못했다는 평가는 구별해야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https://law.go.kr/detcInfoP.do?detcSeq=135377&amp;mode=1&amp;vSct=95%ED%97%8C%25E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기준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2026. 9. 5.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 및 헌재 결정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해설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레바논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호는 법무부 게시 비공식 영문 번역과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UNODC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개정 확인을 구별함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218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21/49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 및 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2008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에서는 합헌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위헌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일부위헌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인의 의견이 제시되었습니다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진한 다섯 칸은 합헌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빈 세 칸은 위헌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연한 한 칸은 일부위헌으로 표시했습니다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다수의견의 공익과 사익 비교는 범죄자에게 생명권이 없거나 인간으로서 가치가 낮다는 선언이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극악한 범죄에 한정해 사형을 부과할 때 생명 보호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범죄예방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정의 실현의 공익과 생명권 침해를 비례원칙으로 심사하여 정당화될 수 있다고 본 것입니다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판단 자체가 적절한지는 위헌 의견과 함께 살펴야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위헌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인의 생명권 제한 가능성에 대한 생각도 동일하지 않았습니다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장은 그 차이를 인명별로 설명합니다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 내용에 따른 설명 순서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2010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결정 — 두 번째 합헌 판단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 사형선고 → 항소심에서 제청신청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→ 항소심 법원이 헌법재판소에 제청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극악한 범죄에 한정해 부과되는 사형에서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 보호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범죄예방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정의 실현의 공익이 생명권 침해에 비해 작지 않다고 판단했다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김희옥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수감 중인 사람의 생명을 빼앗아야 할 긴급성이 없고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 없는 무기형 등 대안을 고려할 수 있다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김종대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생명권 제한도 비례심사가 필요하다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사면을 제한하는 최고 자유형의 도입을 조건으로 폐지해야 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목영준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생명권은 본질적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비본질적 부분을 나눌 수 없는 절대적 기본권이다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 박탈은 그 본질을 침해한다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조대현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일부위헌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항의 비상계엄하 군사재판에는 헌법상 예외가 있으나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밖의 적용은 위헌이다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다수의견도 범죄자의 생명권을 기본권으로 인정한다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극악한 범죄에 대한 제한이 정당한지를 심사한 것이다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2010. 2. 25. 2008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 · ■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합헌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 □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위헌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연한 칸 일부위헌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허용 범위의 차이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→ 위헌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일부위헌 의견의 차이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극악한 범죄자는 보통 국민과 다른 기본권을 갖나요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범죄자의 생명권도 기본권으로 인정됩니다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문제는 특정한 범죄에 대해 국가가 그 권리를 제한하는 것이 헌법적으로 정당한지입니다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사익이라고 부르면 생명이 덜 중요하다는 뜻인가요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비례심사에서 개인이 침해받는 이익을 가리킨 표현입니다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말만으로 생명의 가치가 낮다는 뜻이 되는 것은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일부위헌 칸이 연한 이유는 무엇인가요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위헌 의견의 강도가 약해서가 아니라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허용하는 적용 범위가 다른 의견임을 구별하기 위해서입니다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https://www.ccourt.go.kr/site/kor/ex/bbs/View.do?bcIdx=941543&amp;cbIdx=1106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기준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2026. 9. 5.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 및 헌재 결정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해설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레바논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호는 법무부 게시 비공식 영문 번역과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UNODC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개정 확인을 구별함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221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22/49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사건 청구인은 존속살해로 재판을 받았습니다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적용법조란 그 사건에 실제로 적용되는 법률 조항을 뜻합니다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여기서는 자기 또는 배우자의 직계존속을 살해한 경우를 처벌하는 형법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250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항이 문제입니다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조항에는 사형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무기징역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이상의 유기징역이 선택 가능한 형으로 규정되어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청구인은 재판 중 위헌법률심판 제청을 신청했다가 기각되었고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심에서 무기징역을 선고받은 뒤 헌법소원을 청구했습니다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앞에서 설명한 재판의 전제성이 여기서는 구체적인 다툼이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사형을 받지 않은 사람이 사형조항의 위헌 여부를 다툴 수 있는지가 문제입니다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법무부장관 측은 실제 선고형이 무기징역이라는 점을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청구인 측은 사형이라는 선택지의 존재가 양형 전체에 영향을 준다는 점을 강조했습니다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이는 양측의 주장이지 이 슬라이드에서 재판의 전제성이 확정되었다는 뜻은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일에는 공개변론이 열렸습니다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이는 공개된 심판정에서 주장과 전문적인 의견을 듣고 재판부가 질문하는 심리 절차입니다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개최 사실과 합헌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위헌의 최종 결정은 구별해야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이미 전제성 정의를 배웠는데 또 필요한가요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정의를 반복하는 대신 실제 선고형이 무기징역인 이 사건에서 무엇이 다투어지는지 보여줍니다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공개변론은 단순히 변론 날짜를 공개했다는 뜻인가요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공개된 자리에서 구술로 심리한다는 뜻입니다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헌법재판소법 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항의 서면심리 원칙과 필요시 변론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34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조의 심판 공개 규정과 함께 이해해야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별도 사형확정자가 당사자가 된 것인가요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화면에는 보조참가를 신청한 경과만 표시했습니다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신청과 허가는 별개입니다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헌법재판소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2019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59, 2022. 7. 14.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공개변론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https://www.ccourt.go.kr/site/kor/ex/bbs/View.do?bcIdx=993097&amp;cbIdx=1129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변론에 앞서 소개된 당사자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참고인 의견요지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로이슈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2022. 7. 13.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https://www.lawissue.co.kr/view.php?ud=2022071319340173599a8c8bf58f_12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250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헌법재판소법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4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23/49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표는 공개변론에 앞서 소개된 의견의 요지를 같은 쟁점끼리 맞춘 것입니다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왼쪽은 법무부장관 측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오른쪽은 청구인 측입니다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한쪽은 생명권 제한의 예외와 입법적 판단을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쪽은 생명 박탈의 회복 불가능성과 대체수단을 중심으로 논증합니다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억제효과나 국제 비교가 언급되었다는 사실과 그 주장이 입증되었다는 평가는 구별합니다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특히 “연구결과가 일치하지 않는다”는 말은 “효과가 반드시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이다”와 같지 않습니다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법무부 측의 주장도 여기서는 당사자 측 의견으로 제시하는 것이지 강의자의 사실 판단으로 채택하는 것이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실제 공개변론의 모든 발언을 담았나요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2022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 소개된 사전 의견요지를 중심으로 주요 논거를 재배열했습니다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전체 속기록의 완전한 요약이라고 표시하지 않았습니다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주장들이 서로 완전히 대응하나요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비교를 위해 쟁점별로 배치한 강의용 정리입니다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참고인은 별도 장에 구분했습니다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헌법재판소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2019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59, 2022. 7. 14.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공개변론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https://www.ccourt.go.kr/site/kor/ex/bbs/View.do?bcIdx=993097&amp;cbIdx=1129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변론에 앞서 소개된 당사자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참고인 의견요지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로이슈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2022. 7. 13.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https://www.lawissue.co.kr/view.php?ud=2022071319340173599a8c8bf58f_12</a:t>
            </a:r>
          </a:p>
        </p:txBody>
      </p:sp>
      <p:sp>
        <p:nvSpPr>
          <p:cNvPr id="1227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200" b="1"/>
              <a:t>범죄·공공안전세미나Ⅱ · 2주차 사형제 · 24/48</a:t>
            </a:r>
          </a:p>
          <a:p>
            <a:pPr marL="0" indent="0">
              <a:buNone/>
            </a:pPr>
            <a:r>
              <a:rPr sz="1200"/>
              <a:t>기준본 v58의 기존 내용 유지 및 승인된 검토사항 반영 · v59</a:t>
            </a:r>
          </a:p>
          <a:p>
            <a:pPr marL="0" indent="0">
              <a:buNone/>
            </a:pPr>
            <a:r>
              <a:rPr sz="1200" b="1"/>
              <a:t>발표 대본</a:t>
            </a:r>
          </a:p>
          <a:p>
            <a:pPr marL="0" indent="0">
              <a:buNone/>
            </a:pPr>
            <a:r>
              <a:rPr sz="1200"/>
              <a:t>앞 장의 대리인 주장과 이 장의 참고인 의견은 절차적 역할이 다릅니다. 허완중 참고인은 인간의 존엄과 개선 가능성을, 장영수 참고인은 헌법 해석과 입법정책의 구별을 강조합니다. 헌재가 직권으로 선정한 고학수 참고인은 억제효과를 다루는 실증연구를 읽을 때의 주의를 설명합니다.</a:t>
            </a:r>
          </a:p>
          <a:p>
            <a:pPr marL="0" indent="0">
              <a:buNone/>
            </a:pPr>
            <a:r>
              <a:rPr sz="1200"/>
              <a:t>연구로 효과를 확정하지 못했다는 진술을 곧바로 찬성 또는 반대의 최종 결론으로 바꾸지 않는 것이 중요합니다. 연구가 답하는 경험적 질문과 생명 박탈을 정당화할 수 있는지에 관한 규범적 질문이 다르기 때문입니다.</a:t>
            </a:r>
          </a:p>
          <a:p>
            <a:pPr marL="0" indent="0">
              <a:buNone/>
            </a:pPr>
            <a:endParaRPr sz="1200"/>
          </a:p>
          <a:p>
            <a:pPr marL="0" indent="0">
              <a:buNone/>
            </a:pPr>
            <a:r>
              <a:rPr sz="1200"/>
              <a:t>예상 질문과 설명</a:t>
            </a:r>
          </a:p>
          <a:p>
            <a:pPr marL="0" indent="0">
              <a:buNone/>
            </a:pPr>
            <a:r>
              <a:rPr sz="1200"/>
              <a:t>질문: 헌재가 선정한 참고인은 헌재 입장을 말하나요?</a:t>
            </a:r>
          </a:p>
          <a:p>
            <a:pPr marL="0" indent="0">
              <a:buNone/>
            </a:pPr>
            <a:r>
              <a:rPr sz="1200"/>
              <a:t>답: 아닙니다. 전문적 의견의 제시이며 재판부의 결정과 구별됩니다.</a:t>
            </a:r>
          </a:p>
          <a:p>
            <a:pPr marL="0" indent="0">
              <a:buNone/>
            </a:pPr>
            <a:r>
              <a:rPr sz="1200"/>
              <a:t>질문: 이 세 사람의 실제 발언을 그대로 옮겼나요?</a:t>
            </a:r>
          </a:p>
          <a:p>
            <a:pPr marL="0" indent="0">
              <a:buNone/>
            </a:pPr>
            <a:r>
              <a:rPr sz="1200" b="1"/>
              <a:t>답: 사전에 소개된 의견요지를 바탕으로 한 설명이며 직접 인용이나 전체 발언록 요약이 아닙니다.</a:t>
            </a:r>
          </a:p>
          <a:p>
            <a:pPr marL="0" indent="0">
              <a:buNone/>
            </a:pPr>
            <a:endParaRPr sz="1200" b="1"/>
          </a:p>
          <a:p>
            <a:pPr marL="0" indent="0">
              <a:buNone/>
            </a:pPr>
            <a:r>
              <a:rPr sz="1200" b="1"/>
              <a:t>[Sources]</a:t>
            </a:r>
          </a:p>
          <a:p>
            <a:pPr marL="0" indent="0">
              <a:buNone/>
            </a:pPr>
            <a:r>
              <a:rPr sz="1200"/>
              <a:t>헌법재판소 2019헌바59, 2022. 7. 14. 공개변론</a:t>
            </a:r>
          </a:p>
          <a:p>
            <a:pPr marL="0" indent="0">
              <a:buNone/>
            </a:pPr>
            <a:r>
              <a:rPr sz="1200"/>
              <a:t>https://www.ccourt.go.kr/site/kor/ex/bbs/View.do?bcIdx=993097&amp;cbIdx=1129</a:t>
            </a:r>
          </a:p>
          <a:p>
            <a:pPr marL="0" indent="0">
              <a:buNone/>
            </a:pPr>
            <a:r>
              <a:rPr sz="1200"/>
              <a:t>변론에 앞서 소개된 당사자·참고인 의견요지: 로이슈 2022. 7. 13.</a:t>
            </a:r>
          </a:p>
          <a:p>
            <a:pPr marL="0" indent="0">
              <a:buNone/>
            </a:pPr>
            <a:r>
              <a:rPr sz="1200"/>
              <a:t>https://www.lawissue.co.kr/view.php?ud=2022071319340173599a8c8bf58f_12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25/49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시기를 가로축으로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쟁점을 세로축으로 놓았습니다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1996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칸은 주로 다수의견의 논거이고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2022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년은 법무부장관 측과 그 측 참고인의 의견요지입니다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논거가 반복된다는 점과 표현이 달라진다는 점을 함께 읽습니다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1996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년의 억제효과 “추정”에서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년의 생명 박탈에 대한 공포와 강한 억제 기능의 강조로 표현의 무게가 이동합니다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그러나 이를 새 실증자료로 인과효과가 입증되었다는 뜻으로 읽어서는 안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2022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년에는 억제효과 연구 자체에 관한 전문적 설명도 제시되어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규범적 주장과 경험적 근거를 더 분명하게 분리해 볼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오판 행의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1996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칸은 검토한 의견요지에서 같은 형태의 응답을 확인하지 못한 부분입니다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빈칸을 실제 발언 부재나 반대 입장으로 단정하지 않기 위해 대시로 표시했습니다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세 칸은 모두 헌재의 결론인가요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앞 두 칸은 결정의 다수의견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마지막은 공개변론 관련 주장입니다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년에는 억제효과가 과학적으로 입증되었나요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의미가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논증의 표현과 실증적 입증 수준은 구별합니다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1996. 11. 28. 95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다수의견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반대의견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https://www.law.go.kr/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헌재결정례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/(95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1)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2010. 2. 25. 2008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합헌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위헌의견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https://www.ccourt.go.kr/site/kor/ex/bbs/View.do?bcIdx=941543&amp;cbIdx=1106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헌법재판소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2019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59, 2022. 7. 14.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공개변론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https://www.ccourt.go.kr/site/kor/ex/bbs/View.do?bcIdx=993097&amp;cbIdx=1129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변론에 앞서 소개된 당사자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참고인 의견요지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로이슈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2022. 7. 13.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https://www.lawissue.co.kr/view.php?ud=2022071319340173599a8c8bf58f_12</a:t>
            </a:r>
          </a:p>
        </p:txBody>
      </p:sp>
      <p:sp>
        <p:nvSpPr>
          <p:cNvPr id="1233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26/49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표는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1996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년의 반대의견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2010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년의 위헌의견들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2022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청구인 측과 그 측 참고인의 의견을 같은 축에서 살핍니다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서로 다른 재판관의 의견을 하나의 완전히 일치한 입장으로 합쳐서는 안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특히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년에는 군사재판의 헌법상 예외를 별도로 다룬 의견과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 없는 무기형 같은 대체형벌의 마련을 조건으로 사형 폐지를 주장한 의견이 함께 있었습니다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대체형벌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개선 가능성은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년에 새로 등장한 논거가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반복되는 문제에 대해 어떤 헌법적 설명과 제도적 대안을 붙였는지가 비교의 대상입니다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논거의 유무만 표시하는 표보다 간단한 설명을 넣은 교차표가 오해를 줄입니다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위헌의견을 가진 재판관들은 모두 똑같이 주장했나요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표는 공통 축을 비교하는 요약입니다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앞의 개별 의견 장에서 본 예외와 조건을 함께 읽어야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마지막 칸의 주장도 헌재가 인정한 것인가요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공개변론 관련 의견요지이지 결정의 결론이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1996. 11. 28. 95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결정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다수의견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반대의견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https://www.law.go.kr/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헌재결정례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/(95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1)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2010. 2. 25. 2008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합헌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위헌의견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https://www.ccourt.go.kr/site/kor/ex/bbs/View.do?bcIdx=941543&amp;cbIdx=1106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헌법재판소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2019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59, 2022. 7. 14.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공개변론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https://www.ccourt.go.kr/site/kor/ex/bbs/View.do?bcIdx=993097&amp;cbIdx=1129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변론에 앞서 소개된 당사자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참고인 의견요지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로이슈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2022. 7. 13.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https://www.lawissue.co.kr/view.php?ud=2022071319340173599a8c8bf58f_12</a:t>
            </a:r>
          </a:p>
        </p:txBody>
      </p:sp>
      <p:sp>
        <p:nvSpPr>
          <p:cNvPr id="1236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27/49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존폐 논의와 가석방 없는 무기형의 관계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 없는 무기형을 여기서 다루는 이유는 사형을 대신할 최고형으로 논의되는 대표적인 대안이기 때문입니다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폐지와 이 형의 도입은 별개의 정책 선택이지만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없이도 형벌의 목적을 달성할 수 있는지 판단할 때 서로 연결됩니다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앞에서 사형이 꼭 필요한지를 판단하려면 다른 형벌이 어떤 역할을 할 수 있는지 살펴봐야 한다고 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이제 화면의 표를 읽어보겠습니다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가로는 사형을 법에 남길 것인지 없앨 것인지이고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세로는 가석방 없는 무기형을 추가할 것인지입니다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서로 관련은 있지만 별도로 선택할 수 있는 두 문제를 교차해 놓은 표입니다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네 칸 가운데 하나를 지금 정답으로 고르라는 뜻은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먼저 무기형이라는 말부터 풀겠습니다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무기징역은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년형처럼 복역기간이 정해진 형벌이 아니라 일생 동안의 자유를 제한하는 종신자유형입니다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우리 법은 일정한 요건을 갖추면 가석방을 허용합니다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가석방은 형 집행 도중 일정한 심사와 조건 아래 사회로 나오는 제도입니다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현행 형법의 일반적인 기준으로 무기형은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년이 지나야 그 대상이 될 수 있지만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기간만 채웠다고 석방되는 것은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“무기징역은 사실상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년형”이라는 설명은 틀립니다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왼쪽 위는 사형을 남겨 두고 현행 무기형을 운영하는 구조입니다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오른쪽 위는 사형을 없애고 현행 무기형을 최고형으로 두는 구조입니다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이때도 어떤 수형자는 끝내 가석방되지 않고 평생 복역할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달라지는 것은 반드시 밖으로 나온다는 점이 아니라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가석방을 심사할 법적 가능성을 남긴다는 점입니다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아래 두 칸은 가석방을 허용하지 않는 무기형을 추가하는 경우입니다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사형을 남긴 상태에서 추가하면 여기서는 병존형이라고 부릅니다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법관의 선택지에 사형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 없는 무기형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 가능한 무기형이 함께 놓이는 것입니다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사형을 없애고 가석방 없는 무기형을 최고형으로 두면 여기서는 대체형이라고 부릅니다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두 이름은 이 강의에서 정책의 관계를 구분하기 위한 말입니다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 없는 무기형도 정확한 설계가 중요합니다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가석방을 막는다는 것과 나중에 유죄판결이 잘못되었을 때 재심을 하지 못하게 한다는 것은 전혀 다릅니다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재심은 확정판결에 특별한 잘못이 있는지 다시 다투는 절차입니다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감형은 형을 줄이거나 더 가벼운 형으로 바꾸는 것이고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가석방은 형을 그대로 전제한 채 집행 중 조건부로 나오는 것입니다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어떤 예외절차까지 남기는지에 따라 제도의 실제 내용이 달라집니다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여기서 얻을 수 있는 결론은 비교적 간단합니다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“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 없는 무기형이 필요하다”는 말만 들어서는 그 사람이 사형 폐지를 주장하는지 존치를 주장하는지 알 수 없습니다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사형과 함께 둘 것인지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사형을 대신할 것인지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그리고 가석방 외의 재검토 가능성을 어떻게 둘 것인지까지 들어야 제안의 내용이 분명해집니다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오늘의 존폐 논제도 이런 구체적인 형벌을 비교해야 판단할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이해를 위해 가상의 두 제안을 생각해보겠습니다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 사람은 “생명을 빼앗는 형벌을 없애되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가장 중한 범죄에는 가석방을 허용하지 않는 형을 두자”고 말합니다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사람은 “사형은 필요하지만 사형까지 선고하기 어려운 사건에도 더 강한 격리가 필요하다”고 말합니다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둘 다 같은 형벌 이름을 사용하지만 첫 제안은 사형 대체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둘째 제안은 형벌 선택지 확대입니다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대체형벌이라는 단어만 보고 두 사람이 같은 결론이라고 요약하면 안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반대로 사형 폐지에 동의하는 두 사람도 최고형 설계에서는 다른 견해를 가질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 사람은 가석방을 완전히 막고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사람은 오랜 복역 뒤에도 변화 가능성을 심사할 길을 남기려 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폐지에 관한 판단이 같다고 해서 모든 후속 제도에 동의하는 것은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표는 그런 차이를 문장 속에서 놓치지 않도록 도와주는 것입니다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무기징역과 종신형은 다른 형벌인가요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현행 한국 무기징역은 종신자유형입니다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일상에서 종신형을 가석방 없는 형만 가리키는 말로 쓰기도 해서 혼동이 생깁니다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강의에서는 가석방 가능한 무기형인지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 없는 무기형인지까지 붙여 구분합니다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년이 지나면 본인이 신청해서 나올 권리가 생기나요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년은 일반적인 법정 최소기간이지 출소를 보장하는 기간이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수용태도와 뉘우침 등 법정 요건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 적격심사와 허가를 거쳐야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해당 기간이 되었다는 이유만으로 석방해야 하는 구조가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개별 과거 범죄의 적용시점 문제는 별도로 확인해야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가석방을 막는데 감형을 허용하면 모순 아닌가요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가석방은 원래 선고형을 유지한 채 집행 중 조건부 석방하는 절차이고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감형은 선고형 자체를 줄이거나 바꾸는 절차입니다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서로 다른 통로여서 제도적으로 함께 설계할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언제 누구에게 감형을 허용하느냐에 따라 실제 격리 효과가 달라집니다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폐지에 동의하려면 반드시 가석방 없는 무기형에 동의해야 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논리적으로 필수는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현행 무기형을 최고형으로 두는 폐지안도 가능합니다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사형이 수행한다고 주장되는 응보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사회보호 등을 다른 형벌이 어느 정도 충족하는지 설명할 필요는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 연결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구분을 염두에 두고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사형을 유지하면서 적용 요건을 좁힌 대만의 결정을 살펴보겠습니다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읽을 때의 범위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[A01]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무기형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행상 양호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뉘우침 뚜렷함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행정처분으로 가석방 가능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자동 석방 아님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개별 수형자에 대한 법 개정 전후 적용례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경과규정까지 일률화하지 않음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[A02]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이유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.3)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미필적 고의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흉기 미사용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피해자 한 명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1.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.6)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중복 무기형 집행과 절대적 종신형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1.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법리오해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심리미진으로 양형 심히 부당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원심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310.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대법원이 가석방 없는 무기형 신설을 명령하거나 사형제 위헌을 판단한 판결 아님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항소심 논리는 대법원 판결에 인용된 범위로 확인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[A03] p1~3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존치 상태에서 가석방 불허 무기형 추가안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8.14~9.25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입법예고 예고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p2 2023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2043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도입 근거로 해석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보도자료의 필요성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효과 평가를 판결 자체의 결론 또는 검증된 효과로 옮기지 않음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2023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당시 정부 구상의 내용 자료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[A04] p13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사형수형자 예산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31,737,311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 사형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2012~2021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p14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연평균 약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명과 연약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억원 논거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p18~22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특별감형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범위 제한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최저복역 강화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 요건 강화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법무부 제출 원표와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사법연감 원책은 별도 미대조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억원의 재현 산식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누적 수용기간 모형 미제시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무기수형자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26,698,814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원은 보고서에 없음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[A01]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가석방의 요건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https://www.law.go.kr/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문면은 법무부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2023.8.11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p1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및 국가법령정보센터 조문 검색결과 대조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 사이트는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2026.9.13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시행 예정본을 반환하므로 시행일 혼동 주의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· 2020.12.8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전문개정 문면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2026.9.5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[A02]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대법원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2023.7.13.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선고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2043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https://www.law.go.kr/LSW/precInfoP.do?precSeq=236931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국가법령정보센터 판결 전문 직접 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2023.7.13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[A03]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법무부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가석방을 허용하지 않는 무기형 신설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https://www.corrections.go.kr/bbs/moj/182/457439/download.do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쪽 보도자료 원문 직접 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2023.8.11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[A04]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김광현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 없는 종신형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終身刑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제도 도입의 전제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NARS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현안분석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https://www.nars.go.kr/report/view.do?brdSeq=43151&amp;cmsCode=CM0043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프로젝트에 저장된 원본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PDF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직접 확인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p13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4·5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렌더 이미지 대조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p14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및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p18~22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본문 대조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웹 상세 서지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요약도 확인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· 2023.10.19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239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사건은 사형확정자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37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명이 같은 범죄를 저지른 사건이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서로 다른 사건에서 살인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강간 등과 결합한 살인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강도살인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몸값 목적 납치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살인으로 사형이 확정된 사람들이 각각 헌법심판을 청구했습니다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사형이 확정된 시기는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2000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년부터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2020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년까지였습니다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통상적인 재판절차를 거친 뒤 자신들에게 적용된 사형 규정과 재판절차의 헌법적 정당성을 문제 삼았습니다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그래서 헌법법정은 공통된 쟁점을 가진 청구들을 함께 심리했습니다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이것이 병합입니다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네 개라는 숫자는 사건 수가 아니라 주요 살인 관련 처벌조항 네 개를 뜻합니다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과거 몸값 목적 납치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살인에 반드시 사형을 선고하게 한 규정과 절차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책임능력 규정도 함께 검토했습니다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2024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 공개변론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9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 결정으로 이어졌습니다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장에서는 청구인과 법무부가 무엇을 주장했는지 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https://cons.judicial.gov.tw/en/docdata.aspx?fid=5535&amp;id=355776</a:t>
            </a:r>
          </a:p>
        </p:txBody>
      </p:sp>
      <p:sp>
        <p:nvSpPr>
          <p:cNvPr id="1242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법무부는 개별 청구인의 형을 결정하는 재판부가 아니라 제도의 합헌성을 옹호하는 관계기관입니다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기존 화면의 개별 사건의 판단이라는 소제목과 처벌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피해자 권익 보호 문장은 적절하지 않아 교체했습니다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원문에 정리된 법무부 주장은 응보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예방 목적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입법자의 판단 존중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정신적 장애를 양형에서 고려하는 기존 제도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실무상 최종심 변호인과 구두변론의 보장입니다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절차의 충분성은 사형 사건에서 기존 절차로 충분한지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헌법 차원에서 더 강한 보장을 요구해야 하는지라는 쟁점입니다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법무부는 실무상 보장을 내세웠고 청구인은 확실한 권리 보장과 재판부 전원일치를 요구했습니다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이는 피해자 보호가 불필요하다는 뜻이 아니며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피해자 보호를 사형의 합헌성 근거로 제가 임의로 추가하지 않는다는 의미입니다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https://mojlaw.moj.gov.tw/LawContentExShow.aspx?id=CJ00006128&amp;type=CJ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수정된 주장 구조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각 소제목은 해당 당사자의 주장이지 헌법법정의 판단이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법무부는 사형 자체의 정당성 및 입법자 존중을 주장하고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정신적 장애는 기존 양형에서 고려 가능하며 현행 최종심 실무도 보호를 제공한다고 답변했다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청구인들은 사형 규정의 위헌성 외에도 필요적 사형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정신적 장애에 대한 사형 금지의 부재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최종심 변호인과 구두변론의 법적 의무 부재를 문제 삼았다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청구인별 청구 범위가 같다는 뜻은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법무부의 기존 실무에 관한 주장과 청구인들이 과거 재판에서 보호를 받지 못했다는 주장은 적용 시점도 구분해야 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https://mojlaw.moj.gov.tw/LawContentExShow.aspx?id=CJ00006128&amp;type=CJ (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청구인 주장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20–30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단락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법무부 주장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32–34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단락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한국과 비교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대만 전체가 필요적 사형이라는 뜻이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사건은 현행 네 선택형 사형 조항과 과거 형법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348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항의 필요적 사형을 함께 심사했다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비교는 한국 현행 일반 살인죄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250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항에 한정한다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한국의 모든 범죄에 필요적 사형이 없다는 뜻은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법정형과 실제 선고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집행은 구분한다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https://www.law.go.kr/LSW/lsLawLinkInfo.do?chrClsCd=010202&amp;lsJoLnkSeq=1000375677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5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결정은 두 실체 판단을 구별해야 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먼저 과거 몸값 목적 납치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살인 조항처럼 사형만을 법정형으로 둔 규정은 위헌입니다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여기서 필요적 사형은 법원이 개별 사건의 책임과 중대성을 따져 다른 형을 선택할 수 없는 구조를 뜻합니다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반면 네 살인 관련 조항처럼 사형과 무기징역 등을 함께 둔 선택형 사형 규정은 전면 위헌이 아니라 제한적으로 허용되었습니다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법원이 구체적 범행과 책임을 따져 가장 중대한 사건이라고 판단하고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가장 엄격한 적법절차가 보장된 경우에만 사형 선고가 가능하다는 취지입니다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절차 보장 세 항목은 그동안 대만에서 전부 아무 보장도 없었다는 뜻이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대만 헌법재판소의 영문 요약은 재판 단계의 필요적 변호는 이미 있었지만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수사 단계의 필요적 변호에 관한 특정 규정이 없었던 점을 문제로 보았습니다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또 최종심에서 변호인 조력을 배제하거나 구두변론을 요구하지 않은 규정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선고에 합의부 법관 전원의 동의를 요구하는 특정 규정이 없었던 점을 위헌 또는 정비 대상으로 보았습니다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화면에서는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official summary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professional judges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직역한 직업법관이라는 표현을 피하고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학생이 이해하기 쉽게 법관으로 구성된 합의부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합의부 법관 전원으로 풀어 설명합니다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전원동의는 이 헌법재판 재판관 전원일치가 아니라 사형을 선고하는 형사재판부 구성원 전원의 동의를 뜻합니다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최종심의 필요적 변호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구두변론과 각급 법관의 전원동의 요건은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2024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결정일부터 적용하도록 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이들 조항에도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년의 법률 정비기간이 있지만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정비기간이 끝날 때까지 적용을 미루라는 뜻은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수사 중 변호인 참여에 대해서는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내 입법 정비를 명하고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기한 내 정비하지 않으면 결정 취지에 따라 처리하도록 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장에서는 정신적 장애로 능력이 제한된 경우를 범행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재판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집행 시점으로 나누어 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https://cons.judicial.gov.tw/en/docdata.aspx?fid=5535&amp;id=355776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 대응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제목은 필요적 사형은 위헌으로 표기합니다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사건의 과거 몸값 목적 납치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살인 규정을 대상으로 한 판단이며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한국의 사형만 정한 조문과 감경제도를 동일하게 평가한 설명이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각주에서는 종전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1·2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 필요적 변호와 새로 요구된 수사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최종심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전원동의 보장을 구분합니다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정신적 장애에 따른 제한은 다음 장에 유지합니다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2026-09-06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대만 헌법법정 중문 공식 판결요약의 주문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3~6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및 영문 공식 요약 이유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92~113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단락을 대조했습니다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2024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결정이 요구한 내용의 확인이며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2026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입법 이행 현황을 새로 확인한 것은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https://cons.judicial.gov.tw/docdata.aspx?fid=77&amp;id=353628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https://cons.judicial.gov.tw/en/docdata.aspx?fid=5535&amp;id=355776</a:t>
            </a:r>
          </a:p>
        </p:txBody>
      </p:sp>
      <p:sp>
        <p:nvSpPr>
          <p:cNvPr id="1248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4D40DD-2B6E-43C1-93EB-04086A5B0BFD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31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정신적 장애에 대한 보호는 절차 보장 전체와 동일한 개념이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결정은 진단명 하나로 결론을 정한 것이 아니라 범행 당시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재판 당시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집행 당시의 능력을 나누어 보았습니다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범행 당시에는 행위의 위법성을 인식하거나 그 인식에 따라 행동할 능력이 현저히 낮은지가 문제이고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경우 사형 선고가 금지됩니다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재판 당시에는 자신의 사건에서 효과적으로 방어하고 재판에 참여할 능력이 현저히 부족한지가 문제이고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경우에도 사형 선고가 금지됩니다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집행 당시에는 사형 집행의 의미와 이유를 이해할 능력이 결여되었는지가 문제이고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경우 사형 집행이 금지됩니다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청구인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12·13·14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번은 재판 중 방어능력이 실제 쟁점이 되었고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법정은 법 정비 전 집행 금지와 정비 후 특별구제절차를 정했습니다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장에서는 사형을 대체하거나 보완하는 형벌이 실제 사건에서 어떤 문제로 나타나는지 보겠습니다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https://cons.judicial.gov.tw/en/docdata.aspx?fid=5535&amp;id=355776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 구성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p.30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넘겨받은 정신적 장애 관련 내용을 독립 슬라이드로 분리했다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시점별 능력 확인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보호 결과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청구인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명의 구제 의미를 한 장에서 설명한다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미필적 고의가 왜 등장했는가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판결은 장기간 누적된 폭행이 매번 피해자를 반드시 죽이겠다는 확정적 고의에 따른 것이라기보다 괴롭히려는 목적과 미필적 고의로 이루어졌다고 설명합니다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즉 폭행의 직접 목적과 사망 가능성에 대한 인식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용인을 구별하는 것입니다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흉기를 쓰지 않았다고 미필적 고의가 자동으로 되는 것도 아니고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죽이려는 목적이 없으면 무조건 상해치사가 되는 것도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대법원 판결은 사형 양형을 다루는 판결이므로 사망 가능성의 인식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용인을 인정한 세부 증거 전체를 재현하지 않습니다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특정 상해 부위나 진술을 이 판결만으로 단정해 보충하지 않습니다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핵심은 미필적 고의라는 책임 정도를 사형 선택에서 충분히 고려해야 한다는 판단입니다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https://www.law.go.kr/LSW/precInfoP.do?precSeq=236931</a:t>
            </a:r>
          </a:p>
        </p:txBody>
      </p:sp>
      <p:sp>
        <p:nvSpPr>
          <p:cNvPr id="1254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33/49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대법원은 원심의 사형을 그대로 유지하지 않고 사건을 돌려보냈습니다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형의 양정이 심히 부당할 정도로 사형 선택의 법리를 잘못 적용하고 필요한 심리가 부족하다고 판단한 것입니다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대법원이 직접 무기징역을 선고한 것은 아니며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환송 후 항소심에서 무기징역이 선고되어 확정되었습니다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왼쪽은 원심 논거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오른쪽은 대법원의 검토입니다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다시 무기징역을 선고한다는 이유만으로 이를 무의미한 형이라고 단정할 수 없고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법에 없는 절대적 종신형의 기능을 기대하여 사형을 선택하는 설명도 타당하지 않다고 보았습니다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이 판결이 추가 무기징역의 구체적인 처벌 효과를 상세히 입증한 것은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핵심은 법체계에 대한 문제 제기만으로 개별 피고인에게 사형을 선택할 수 없다는 점입니다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대법원은 범행과 피고인에 관한 유리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불리한 사정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유사사건과의 균형을 충분히 따져야 한다고 보았습니다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어차피 둘 다 무기징역인데 집행 순서가 무슨 의미인가요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대법원도 무기징역의 본질상 두 번의 일생을 복역할 수는 없다는 점을 인정했습니다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“순서를 바꾸면 추가 처벌 효과가 생긴다”고 해석하면 안 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판결은 구체적인 효과를 설명한 것이 아니라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법원이 집행 순서를 미리 확정적으로 전제하여 양형의 근거로 삼는 데 신중해야 한다고 지적했습니다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앞의 무기징역을 이미 복역 중인데 무엇을 먼저 집행한다는 것인가요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여기서의 순서는 선고 날짜가 아니라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별도로 확정된 형들 가운데 어느 형을 법적으로 집행하는지의 문제입니다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형사소송법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조는 검사의 집행 지휘를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조는 복수의 형 집행과 일정 요건 아래 집행을 정지하고 다른 형을 집행할 수 있는 구조를 정합니다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집행 정지는 석방과 같은 말이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설명은 판결이 인용한 법적 구조를 풀어쓴 것이며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사건에서 실제로 어떤 순서가 정해졌다고 말하는 것은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두 무기징역이면 가석방에 필요한 기간도 두 배인가요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판결에서 그런 계산을 도출할 수 없습니다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 기간의 합산이나 추가 처벌 효과를 임의로 설명해서는 안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대법원이 추가 무기형을 실효성 있는 대안으로 입증했나요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효과를 구체적으로 설명한 판단과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추가 무기형이 무의미하다고 단정할 수 없다는 판단을 구별합니다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대법원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2023. 7. 13.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선고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2043,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이유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.6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및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https://www.law.go.kr/LSW/precInfoP.do?precSeq=236931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환송 후 경과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뉴시스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2024. 4. 25.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출처 유지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화면의 논거 대응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심의 사형 선택 논거와 대법원의 검토를 세 행으로 읽는다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추가 무기형의 효과 ↔ 추가 무기형의 의미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미집행 사형의 기능 ↔ 법정 형벌과의 구별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범행의 중대성 ↔ 양형 심리의 충실성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첫 행의 판시는 다시 무기징역을 선고한다는 사정만으로 그 형을 무의미하다고 보지 않았다는 의미다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구체적 집행 순서나 추가 처벌 효과를 확정했다는 설명으로 확장하지 않는다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https://www.law.go.kr/LSW/precInfoP.do?precSeq=236931 —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이유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.6),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(2026-09-05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재대조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</a:p>
        </p:txBody>
      </p:sp>
      <p:sp>
        <p:nvSpPr>
          <p:cNvPr id="1257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형법 개정안은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2023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법무부가 입법예고한 가석방 없는 무기형 신설안을 뜻하므로 주어를 명시했습니다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법원행정처 의견은 법률이 바뀌었다거나 재판부가 위헌 결정을 했다는 뜻이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사형을 유지하면서 무기형을 가석방 가능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불가로 나누면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기존 사형 대상뿐 아니라 무기형을 최고형으로 둔 범죄에도 새 형이 적용될 수 있다는 우려입니다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NARS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이 우려를 보도자료가 아니라 한국일보 보도를 인용해 소개하므로 그 출처 단계도 구별해야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별도 대안에서 재심사는 유죄판결을 다시 판단하는 형사재심과 다릅니다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일정 기간 복역 후 개선 정도 등을 살펴 특별감형이나 석방 가능성을 검토하는 제도입니다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자동 석방이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또 가석방 가능성을 남겨 두면서 장기형을 활용하거나 가석방 심사 전 최소복역기간을 더 길게 정하는 방안도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이는 평생 석방 가능성을 차단하는 제도와 구별됩니다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국회입법조사처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 없는 종신형 제도 도입의 전제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현안분석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301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2023.10.19, pp.16~22.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보완 설명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입법조사처 보고서는 가석방 요건 강화 하나만을 결론으로 정한 것이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두 설계의 출발점이 다르다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첫째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 없는 형을 새로 만들더라도 특별감형을 통해 가석방 가능한 무기형으로 바꿀 여지를 두는 보완책이다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일본변호사연합회 제안을 소개하고 한국에서도 유사한 방안을 검토할 수 있다고 설명한다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특별감형은 곧 석방이 아니며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감형 후 가석방은 별도 심사다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둘째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새 가석방 불가형을 도입하는 대신 상대적 종신형을 유지하며 현행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년의 최소복역기간을 예컨대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·40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년으로 늘리고 심사요건을 강화하는 대안이다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숫자는 확정안이 아닌 보고서가 검토한 예시다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현행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년은 가석방이 가능해지는 최소기간이지 실제 석방시점이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국회입법조사처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 없는 종신형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終身刑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제도 도입의 전제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현안분석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2023.10.19, pp.18–24,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특히 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III.3.</a:t>
            </a:r>
          </a:p>
        </p:txBody>
      </p:sp>
      <p:sp>
        <p:nvSpPr>
          <p:cNvPr id="1260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페이지는 두 정책 가정을 나누어 읽습니다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첫째는 사형 폐지와 대체형 도입입니다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보고서는 한국이 장기 미집행 상태라 사형확정자도 이미 장기간 수용한다는 점에서 추가비용이 크지 않을 수 있다고 보았습니다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둘째는 사형을 남기고 가석방 없는 무기형을 추가하는 경우입니다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이때 원래 가석방될 사람의 복역기간이 늘어나면 추가비용이 발생합니다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보고서의 연평균 약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 약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억 원은 무기수 가석방과 연결된 논의이며 제도 전체의 장기 추가비용이나 상한을 산출한 것이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현재 수용비와 추가비용을 섞으면 사형 대체에 평생 수용비 전액이 새로 든다는 오해를 만들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반대로 이 자료만으로 새 제도의 비용 부담이 항상 작다고 단정할 수도 없습니다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적용 인원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가석방의 변화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누적 복역기간을 정해야 장기 추계가 가능합니다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의료비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시설 부담은 강의상 검토사항이며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NARS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계산한 추계로 제시하지 않습니다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수사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재판과 피해자 지원 등을 포함한 사회 전체 비용 비교도 이 수용비 자료만으로 답할 수 없습니다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국회입법조사처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 없는 종신형 제도 도입의 전제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현안분석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301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2023.10.19, pp.13~14.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보완 설명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장의 역할은 비용에 관한 과도한 단정을 점검하는 짧은 보충 설명이다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독립적인 비용효과 분석이나 사형 폐지의 핵심 근거가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강의에서 비용 주장을 별도로 다루지 않는다면 본문에서 생략해도 논거 흐름은 유지된다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다룬다면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분 이내로 설명한다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한국은 사형확정자를 이미 장기간 수용하므로 사형을 대체한다고 평생 수용비가 전부 추가되지 않는다는 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기존 무기형 대상자의 가석방을 차단하면 복역기간 증가에 따른 추가비용이 생길 수 있다는 점을 구분한다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사형과 무기형이 법적으로 같다는 뜻은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보고서의 적은 가석방 인원에 기초한 논의를 누적 장기비용의 확정적 상한으로 읽지 않는다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263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셀린의 법률상 존치와 실제 집행위험을 구별한다는 설명은 사용자가 말한 법에 사형이 있지만 실제로 집행하지 않는 상황을 포함합니다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또한 집행하는 곳들 사이에서도 빈도와 확률이 다를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법률의 유무만으로 실제 처벌 위협이 같다고 전제하기 어렵습니다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이는 셀린이 한국을 분석했다는 뜻은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교란요인은 경제상황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인구구조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치안 등 사형제와 살인율에 함께 관련될 수 있는 조건입니다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에를리히의 수치는 분석모형의 잠정적 추정이며 직접 목격한 방지 건수가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NRC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기존 연구의 설계로 사형 효과의 방향을 신뢰성 있게 판별하기 어렵다고 평가했습니다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https://nap.nationalacademies.org/catalog/13363/deterrence-and-the-death-penalty</a:t>
            </a:r>
          </a:p>
        </p:txBody>
      </p:sp>
      <p:sp>
        <p:nvSpPr>
          <p:cNvPr id="1266" name="PlaceHolder 3"/>
          <p:cNvSpPr>
            <a:spLocks noGrp="1"/>
          </p:cNvSpPr>
          <p:nvPr>
            <p:ph type="sldNum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Parker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미국에서 사형 법률 폐지라는 변화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Oliphant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 주의 집행 중단이라는 변화를 비교집단과 견주었습니다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Oliphant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네 곳 모두 살인율 추정치가 감소 방향이지만 유의하지 않았습니다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감소가 입증됐다고 설명하지 않습니다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Farrell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O’Sullivan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호주 연구는 사형 폐지 뒤 살인이 감소했다는 의미가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사형의 법적 허용과 실제 집행이 살인을 줄이는 방향의 관계를 보고했습니다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집행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건과 연결된 감소폭은 모형에 따라 크게 달랐습니다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추가로 최소 가석방 불가기간이 있는 의무적 종신형의 효과와 비교했을 때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사형의 법적 허용 효과가 그 형벌과 같다는 가설을 기각하지 못했습니다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이를 통계적으로 동등성이 입증됐다고 설명하지 않습니다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기존 의무적 장기 종신형이라는 표현은 정확한 제도를 전달하지 못하므로 바꿨습니다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페이지의 의미는 모든 연구가 같은 결과라는 것이 아니라 미국 두 연구와 호주 연구의 구체적 결과를 각각 이해하는 데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https://onlinelibrary.wiley.com/doi/10.1002/soej.12771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https://onlinelibrary.wiley.com/doi/10.1111/1745-9133.12601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https://papers.ssrn.com/sol3/papers.cfm?abstract_id=3722634</a:t>
            </a:r>
          </a:p>
        </p:txBody>
      </p:sp>
      <p:sp>
        <p:nvSpPr>
          <p:cNvPr id="1336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38/49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불확실성의 부담은 어디에 두는가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장에서는 연구의 결론과 정책의 결론 사이를 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상단은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NRC(2012)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연구평가와 앞 장에서 소개한 후속 연구를 함께 읽은 강의상 정리입니다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후속 연구의 비교대상과 방법이 서로 다르며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자료만으로 장기 자유형보다 사형의 억제효과가 더 크다고 확정하기는 어렵다는 뜻입니다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아래의 두 문장은 그 위원회의 권고를 그대로 인용한 것이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같은 자료에 서로 다른 전제를 붙이면 어떤 논증이 만들어지는지 보여주기 위해 구성한 예시입니다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첫 번째는 제도를 바꿀 때 충분한 이유가 필요하다는 생각입니다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사형의 추가효과가 없다는 점도 확립되지 않았으므로 법에 있는 사형을 지금 없애는 데 신중해야 한다는 방향입니다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논증에서 실제로 결론을 이어주는 것은 효과가 확인되었다는 연구결과가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불확실한 때에는 기존 제도를 유지하는 쪽을 기본으로 삼는다는 전제입니다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전제를 받아들이는 이유까지 설명해야 주장이 완성됩니다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여기서 한국의 현재 상태를 한 번 더 정확히 보아야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법에는 사형이 남아 있지만 집행은 오랫동안 이루어지지 않았습니다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그래서 법률을 그대로 두자는 것과 집행을 다시 시작하자는 것은 같은 현상유지가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법률상 존치를 지지하는 사람이 자동으로 집행 재개까지 지지하는 것도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장의 첫 논증이 직접 다루는 것은 법률상 존치의 문제입니다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두 번째는 생명을 박탈하는 결정에는 더 충분한 이유가 필요하다는 생각입니다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잘못 집행한 뒤에는 생명을 돌려줄 수 없으므로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강한 자유형보다 무엇이 더 필요한지 충분히 입증해야 한다는 방향입니다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이때에도 연구가 폐지를 직접 명령하는 것은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되돌릴 수 없는 조치에 더 높은 정당화 부담을 지운다는 전제가 결론을 이어줍니다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왜 그 부담을 높여야 하는지 설명해야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장을 읽을 때에는 어느 전제가 더 마음에 드는지만 묻지 말고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전제를 청중에게 어떻게 설명할지 생각해보면 좋겠습니다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예컨대 제도를 바꾸는 쪽에만 설명 부담을 지울 이유가 무엇인지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생명박탈의 불가역성이 다른 고려보다 얼마나 중요한지를 말해야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자료에 없는 부분을 숨기지 않고 논증 안에 드러내는 연습입니다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연구가 남긴 불확실성을 인정하면서도 판단의 이유를 구체적으로 제시할 수 있어야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읽는 정확성과 판단을 설명하는 책임을 함께 가져가는 것입니다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두 논증 모두 질문을 더 받을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첫 번째에는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'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현행 제도가 있다는 사실만으로 계속 유지할 이유가 충분한가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'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물을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두 번째에는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'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추가적인 범죄억제 외에 응보나 다른 이유로 사형을 정당화할 수 있는가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'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물을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또한 사형을 없애면서 어떤 대체형벌을 둘 것인지에 따라서도 판단이 달라질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어느 문장도 한 번 말하면 토론이 끝나는 만능 문장은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이해를 위해 자신의 주장을 한 문장 길게 만들어보겠습니다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'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효과가 확실하지 않으므로 폐지해야 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'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멈추지 않고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'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생명을 돌려줄 수 없는 조치에는 대체형벌보다 필요한 이유가 더 충분히 제시되어야 한다고 보기 때문에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'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붙이는 것입니다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유지 쪽이라면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'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불확실한 연구만으로 기존 최고형을 제거했을 때 생길 위험을 감수하기 어렵다고 보기 때문에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'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처럼 연결할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이것은 실제 특정인의 발언이 아니라 강의용 구성 예시입니다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이렇게 전제가 드러나면 반론도 정확해집니다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사람이 연구를 잘못 이해한 것인지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아니면 같은 연구를 이해하면서 다른 기준으로 판단하는 것인지 구별할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후자의 경우 논문 수를 더 세는 것만으로 의견 차이가 해결되지는 않습니다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서로의 기준이 왜 적절한지 설명하는 토론이 필요합니다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두 전제 중 어떤 것이 논리적으로 맞나요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둘 다 논증에 사용할 수 있는 전제이지만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둘 다 추가 설명과 비판의 대상입니다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현재 존재한다는 사실만으로 정당성이 완성되는 것도 아니고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불가역성 하나가 모든 고려를 자동으로 압도하는 것도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어느 전제를 채택할지와 그 전제가 이 제도에 왜 적절한지를 설명해야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효과가 있다는 쪽이 입증해야 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없다는 쪽이 입증해야 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경험적 주장을 하는 사람은 자신이 한 주장에 맞는 근거를 제시해야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사형이 살인을 줄인다고 말하는 쪽과 전혀 줄이지 않는다고 말하는 쪽 모두 마찬가지입니다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그와 별도로 제도 변경 또는 유지에 어느 정도 정당화 부담을 요구할지는 규범적 논의입니다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두 종류의 부담을 섞지 않는 것이 중요합니다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불확실하면 집행하지 않고 법만 남기면 양쪽을 만족시키지 않나요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그것은 가능한 정책 조합입니다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법률상 사형선고가 계속 가능하며 미집행이 영구적으로 보장되는지도 별도 문제가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그러므로 집행 보류가 사형제 존폐에 관한 모든 질문을 해결한다고 보기는 어렵습니다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앞에서 법률 존치와 실제 집행을 구분한 이유가 여기에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장은 과학보다 개인 가치관이 중요하다는 뜻인가요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연구와 판단은 서로 다른 역할을 한다는 뜻입니다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연구는 억제효과에 관한 경험적 주장이 어디까지 뒷받침되는지 알려줍니다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판단에서는 그 근거와 남은 불확실성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응보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사회보호 등의 고려를 어떤 기준으로 연결하는지 설명합니다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근거 없는 주장을 가치관이라는 말로 보호할 수는 없습니다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 연결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되돌릴 수 없다는 성격이 실제 사건에서는 어떻게 나타나는지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집행 뒤 유죄판결이 파기된 사건을 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읽을 때의 범위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[E04] p.2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효과 방향 판별 불가 및 정책적 확정 주장 근거로 사용하지 말라는 권고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pp.2–3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대체형벌 대비 추가효과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처벌위험 인식의 결함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p.3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불확실성은 어느 한쪽 입장 지지가 아님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2012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당시 검토한 연구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후속 연구까지 평가하거나 사형 존폐 전반을 결론 내린 보고서 아님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[E04] National Research Council. (2012). Deterrence and the Death Penalty. D. S. Nagin &amp; J. V. Pepper (Eds.). Washington, DC: The National Academies Press. DOI: 10.17226/13363.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https://www.nationalacademies.org/read/13363/chapter/2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 직접 확인 — 공식 보고서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Summary pp.1–8 · 2012 /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2026-09-05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보완 설명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상단은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NRC(2012)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자체의 결론과 후속 연구를 구분하면서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앞 장들에서 다룬 자료를 종합한 강의상 정리이다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NRC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이후 논문까지 검토했다는 뜻은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Parker(2021), Oliphant(2022)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폐지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집행유예 이후 살인 증가를 확인하지 못한 연구이고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Farrell·O’Sullivan(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온라인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2025/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권호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2026)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일부 모형에서 사형 관련 살인 감소를 보고했지만 의무적 종신형과 최소가석방불가기간을 둔 제도보다 더 큰 효과는 확인하지 못했다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이들 연구의 결과를 모두 효과 없음으로 묶지 않는다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앞서 본 자료만으로 사형의 장기 자유형 대비 추가효과를 확정하기 어렵다는 취지다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아래 두 논증은 연구자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·NRC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직접 정책 권고가 아닌 강의용 구성이다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https://nap.nationalacademies.org/catalog/13363/deterrence-and-the-death-penalty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https://papers.ssrn.com/sol3/papers.cfm?abstract_id=3722634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https://onlinelibrary.wiley.com/doi/10.1111/1745-9133.12601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https://onlinelibrary.wiley.com/doi/10.1002/soej.12771</a:t>
            </a:r>
          </a:p>
        </p:txBody>
      </p:sp>
      <p:sp>
        <p:nvSpPr>
          <p:cNvPr id="1339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39/49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집행 뒤 유죄판결이 파기된 사건 —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Mahmood Mattan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이번 사건은 영국 웨일스의 마무드 매턴 사건입니다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매턴은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1952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살인죄로 사형을 선고받아 같은 해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월에 집행됐습니다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이후 형사사건재심위원회가 사건을 조사해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1997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항소법원에 회부했고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항소법원은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1998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유죄판결을 파기했습니다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집행한 뒤 약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년이 지난 시점이었습니다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판결을 바로잡을 수는 있었지만 이미 집행한 생명을 돌려줄 수는 없었습니다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사건에서 볼 것은 단지 오래전에 잘못된 판결이 있었다는 사실만이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재판에서 어떤 정보가 빠졌는지를 보아야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위원회의 공식 설명에 따르면 핵심 증인이 경찰에 처음 한 진술과 법정 증언이 크게 달랐는데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차이가 법원과 피고인 측에 공개되지 않았습니다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증인이 증거 제공에 대한 금전적 보상을 받았다는 사실도 공개되지 않았습니다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목격자 네 명이 매턴을 지목하지 못했다는 사실 역시 법원에 전달되지 않았습니다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지점은 경찰 업무와도 직접 연결됩니다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사건의 결론을 뒷받침하는 정보만 모으는 것과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결론을 의심하게 만드는 정보까지 정확히 기록하고 전달하는 것은 다릅니다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수사에서 확보한 정보가 법원까지 전달되지 않으면 법원은 실제로 존재하는 자료 전체를 놓고 판단할 수 없습니다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재판의 횟수를 늘리더라도 모든 단계가 같은 불완전한 자료를 본다면 문제를 잡아내지 못할 수 있다는 질문도 생깁니다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이것은 이 사건을 바탕으로 우리가 검토해볼 절차적 물음입니다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사건을 소개할 때 두 가지 범위를 지키겠습니다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첫째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항소법원이 유죄판결을 파기했다는 사실을 실제 범인이 누구인지까지 확정됐다는 뜻으로 확대하지 않습니다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둘째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사건 하나로 사형사건의 오판이 얼마나 자주 발생하는지 계산할 수는 없습니다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사례는 어떤 문제가 실제로 일어날 수 있는지 구체적으로 보여주지만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빈도를 보여주려면 전체 사건집단과 비교할 자료가 필요합니다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또 징역형의 오판이라면 아무 피해가 없다는 이야기도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부당하게 잃은 시간과 생활을 모두 되돌릴 수는 없습니다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살아 있는 사람에게는 석방과 이후 삶의 가능성이 남아 있지만 사형을 집행한 뒤에는 그것이 불가능합니다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오늘 이 사건이 연결되는 질문은 바로 그 차이입니다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오류를 줄이는 절차가 있더라도 남는 위험을 생명박탈이라는 형벌에서 어떻게 평가할 것인지 생각해볼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정보들이 왜 중요한지 하나씩 생각해보겠습니다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증인이 사건 직후에는 다르게 말했다면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변호인은 무엇이 바뀌었고 왜 바뀌었는지 물을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보상을 받은 사실을 알았다면 증언의 동기를 함께 살필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목격자들이 피고인을 지목하지 못했다면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지목한 증언만을 놓고 판단할 때와 증거의 전체 모습이 달라집니다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각각이 자동으로 무죄를 증명한다는 뜻은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법원이 증거의 신뢰성을 판단하는 데 중요한 질문을 가능하게 하는 정보라는 뜻입니다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학생 여러분이 사건기록을 검토한다고 가정해보겠습니다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 증인은 피고인을 보았다고 하고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목격자들은 지목하지 못했다고 적혀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이때 지목하지 못한 기록을 중요하지 않다고 넘겨도 될까요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지목 실패가 곧 피고인의 현장 부재를 뜻하지는 않지만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목격 조건과 신원확인의 신뢰성을 검토하는 데 필요할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그래서 증거를 평가한 결론과 그 평가에 필요한 자료의 공개는 구분해야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존치를 주장하는 사람은 이 사건을 보면서 공개와 변론 절차를 강화하자고 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폐지를 주장하는 사람은 절차를 강화해도 남는 오류의 위험 때문에 집행 가능한 생명형을 없애자고 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사례는 어느 선택이 자동으로 옳다고 답해주지는 않지만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각 선택이 어떤 위험을 해결하려 하고 무엇을 남기는지 구체적으로 묻게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법원이 유죄판결을 파기했으면 실제로 무죄였다는 뜻 아닌가요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사건에서는 사형의 근거였던 유죄판결이 파기됐다는 점이 확인됩니다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이를 존중해 설명해야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판결 파기와 진범의 확정은 다른 사건 경과이므로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진범이 밝혀졌다는 이야기를 덧붙여서는 안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강의에서는 그 이상을 주장하지 않고 판결이 뒤집힌 뒤에도 생명을 회복할 수 없다는 점을 다룹니다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왜 이렇게 오래된 외국 사건을 한국 논의에 쓰나요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한국의 현재 오판 빈도를 추정하려는 자료가 아니라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집행 이후 유죄판결이 바뀌었을 때의 회복 불가능성을 구체화하는 사례입니다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당시와 현재의 수사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재판 조건이 같다고 전제하지 않습니다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오늘의 제도가 그 위험을 얼마나 줄였는지는 별도의 자료로 검토해야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진술이 바뀌거나 보상금을 받았으면 증인이 거짓말한 것 아닌가요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사실만으로 거짓말이라고 단정할 수는 없습니다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그러나 증언을 믿을 만한지 검토할 중요한 사정입니다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핵심은 그 사정까지 공개돼 변호인과 법원이 충분히 따져볼 수 있었는가입니다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강의는 개별 증인이 어떤 범죄를 저질렀다고 추가로 판단하지 않습니다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오판이 문제라면 증거가 확실한 사건에만 사형을 적용하면 되지 않나요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제안은 오류 위험을 줄이려는 방향입니다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무엇을 확실한 증거라고 볼지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관련 정보가 누락되지 않았는지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나중에 해석이 바뀔 가능성까지 어떻게 점검할지 설명해야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사건의 교훈은 당시 유죄를 확신했다는 사실만으로 이후 번복 가능성이 없어지는 것은 아니라는 점입니다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 연결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매턴 사건은 판결이 뒤집힐 수 있다는 사실을 보여줬습니다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다음에는 집단 자료를 이용해 그 규모를 추정하려 한 연구를 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읽을 때의 범위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[E08] 1952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사형선고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·9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집행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1997.8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회부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1998.2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파기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초기진술과 법정증언 차이 미공개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증인 금전보상 수령 미공개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네 목격자 지목 실패 미제시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요약의 선고월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월이 판결문 재전재 검색 문면의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월과 충돌하므로 대본은 연도만 사용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실제 범인 확정 여부까지 이 요약으로 단정하지 않음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[E09]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검색 문면에서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1952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선고로 표시되어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CCRC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요약과 날짜 충돌 발견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학생 발화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판시 인용 근거로 쓰지 않음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사건번호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정확한 파기일도 판결문 전문을 직접 대조하기 전 별도 확인대상으로 관리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[E08] Criminal Cases Review Commission. Mattan, Mahmood.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https://ccrc.gov.uk/decision/mattan-mahmood/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사건요약 직접 확인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항소법원 판결문 전문 직접 확인은 아님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2024-09-09 /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2026-09-05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[E09] R v Mahmoud Mattan (Hanged), [1998] EWCA Crim 676 —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판결문 재전재 검색 문면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참고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재확인 필요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https://netk.net.au/UK/Mattan.asp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미확인 — 검색 문면만 확인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 페이지 본문 직접 접근 실패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1998-02-24 /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검색 문면 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2026-09-05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보완 설명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현상금과 국가배상금을 혼동하지 않는다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장의 돈은 피해자 릴리 볼퍼트 가족이 범인 정보 제공을 위해 내건 현상금이다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National Library of Wales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인명사전은 가족이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파운드를 내건 사실을 설명한다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CCRC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핵심 증인이 증거 제공으로 금전적 보상을 받았으나 공개되지 않았음을 확인한다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Natalie Smith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사건 해설은 가족이 내건 현상금 일부를 증인이 유죄판결 뒤 수령했다고 구체화한다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화면에는 구체적인 수령액을 쓰지 않는다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네 목격자는 법정에서 네 명이 매턴은 아니라고 증언했다는 뜻이 아니라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수사 중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identification parade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식별하지 못했다는 뜻이다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유죄판결 파기는 진범을 특정한 결과와 구별된다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BBC2022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후속 취재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회는 재수사에서도 새로운 수사 단서를 찾지 못했다고 설명하며 피해자 가족도 진범을 알지 못한다고 말한다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2026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현재의 수사 종결 상태를 공식 확인한 자료로 과장하지 않고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확인한 후속 취재의 시점을 표시한다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https://ccrc.gov.uk/decision/mattan-mahmood/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https://biography.wales/article/s15-MATT-HUS-1923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https://www.thejusticegap.com/killed-by-injustice-the-legacy-of-mahmoud-mattan/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https://podcasts.apple.com/nz/podcast/mattan-injustice-of-a-hanged-man/id1643128242</a:t>
            </a:r>
          </a:p>
        </p:txBody>
      </p:sp>
      <p:sp>
        <p:nvSpPr>
          <p:cNvPr id="1342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40/49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사형선고 사건의 무죄 판명 추정 —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Gross et al. 2014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앞 장에서는 한 사람의 사건을 보았습니다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이번에는 미국에서 사형을 선고받은 집단을 분석한 연구입니다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그로스와 동료들은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1973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년부터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2004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년까지 사형을 선고받은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7,482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명의 자료를 이용했습니다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여기서 먼저 용어를 정리하겠습니다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연구가 세는 것은 유죄판결 이후 해당 범죄의 법적 유죄책임을 공식적으로 벗게 된 경우입니다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이를 영어로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exoneration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이라고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한국에서 말하는 확정 무죄판결이라는 한 가지 절차와 완전히 같은 범주는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그렇다면 뒤늦게 책임을 벗은 사람을 전체 사형선고자 수로 나누면 끝날까요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연구진은 그것만으로는 부족하다고 보았습니다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잘못된 판결이 있었어도 그 잘못을 찾아내지 못하면 숫자에 잡히지 않기 때문입니다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잘못이 존재하는 문제와 그 잘못이 발견되는 문제를 구분해야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사형의 위협이 있을 때에는 사건을 다시 살피는 노력이 집중되지만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감형되어 집행 위험을 벗어나면 그 정도가 달라질 수 있다는 점에 주목했습니다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연구는 책임해소로 이어진 절차가 사형의 위협 아래에서 시작됐는지도 구분했습니다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최종적으로 석방된 날만 보아서 감형 전후를 나눈 것은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그런 차이와 각 사람을 관찰할 수 있었던 기간을 고려해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사형의 위협이 계속되는 조건이라면 뒤늦게 책임을 벗는 비율이 어느 정도일지를 추정했습니다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화면의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21.4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년까지 누적 추정은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4.1%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함께 제시한 불확실성 범위는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2.8~5.2%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여기서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21.4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년은 모든 사람을 정확히 그 기간만큼 따라갔다는 뜻이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일찍 선고받은 사람은 오랫동안 관찰할 수 있었고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늦게 선고받은 사람은 관찰기간이 짧았습니다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연구는 이런 차이를 고려해 선고 뒤 시간이 흐를수록 책임해소가 누적되는 모습을 추정한 것입니다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그래서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4.1%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관찰된 사람 수의 단순한 비율로 읽으면 연구의 질문이 바뀝니다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연구자들은 이 결과를 잘못된 유죄판결 비율의 보수적 추정으로 해석합니다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공식적으로 책임을 벗은 결과가 사실적 무고함과 언제나 완벽하게 일치하는 것은 아니라는 문제도 논문에서 다룹니다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반대로 실제로 무고한데 끝내 책임을 벗지 못한 사람도 있을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그 해석에는 발견되지 않은 오류와 분류의 문제를 어떻게 다룰지에 관한 가정이 들어갑니다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숫자로 할 수 없는 말도 분명합니다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처형된 사람의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4.1%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무고했다는 계산이 아니고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오늘 한국 사형선고자의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4.1%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무고하다는 뜻도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특정한 미국 사건집단과 제도 아래에서 얻은 추정입니다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연구는 사례만으로 빈도를 말할 수 없다는 한계를 넘어서려는 시도라는 점에서 의미가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동시에 추정의 조건을 밝힐수록 연구를 정확하게 이해할 수 있다는 점도 보여줍니다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숫자가 작거나 크다는 인상만으로 읽지 말고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누구를 어떤 기준으로 세었는지 함께 보아야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이해를 위한 비유를 들어보겠습니다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두 창고에 똑같이 오류가 섞여 있다고 가정하더라도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한쪽은 계속 검사하고 다른 쪽은 검사를 일찍 멈추면 발견된 오류 수는 다를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발견된 오류 수가 적다는 사실만으로 원래 오류가 적었다고 결론 낼 수 없는 이유입니다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이것은 사람의 재판을 물건과 같다고 보자는 뜻이 아니라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실제 존재와 발견된 결과가 다를 수 있다는 구조를 설명하기 위한 예입니다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또 오판이 확인된 사건만 모은 자료에서는 발견되기 쉬운 유형이 많이 보일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이를 모든 사건의 모습으로 확대하면 다른 종류의 오류를 놓칠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그래서 이 연구에서도 특정 집단을 정하고 관찰기간과 사형위협의 차이를 고려했습니다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연구가 이런 문제를 다뤘다는 것과 모든 불확실성을 없앴다는 것은 다르므로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결론과 함께 어떤 가정을 사용했는지를 읽어야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결국 미국 사형선고자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 중 약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명은 무죄라고 말할 수 있나요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관찰 사실처럼 말하면 부정확합니다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해당 미국 사건집단에서 사형위협이 지속되는 조건의 책임해소 자료를 바탕으로 잘못된 유죄판결 비율을 추정한 결과라고 설명해야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집행자만의 비율이나 모든 시기 사형선고자의 고정 비율로 옮겨서는 안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4.1%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면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7,482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명에 곱해서 무고한 사람 수를 계산해도 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그렇게 계산한 수는 직접 확인한 무고한 사람 수가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연구의 가정을 전체 집단에 적용한 추정 규모일 뿐입니다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강의에서는 숫자에 실제 이름이 확인된 사람들의 명단처럼 보이는 인상을 줄 수 있으므로 그런 환산을 하지 않는 편이 낫습니다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95%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신뢰구간이 있으면 실제 오판율이 그 안에 있다는 뜻 아닌가요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표시된 범위는 연구가 선택한 계산과 가정 아래의 통계적 불확실성을 나타냅니다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책임해소가 무고함을 얼마나 정확히 나타내는지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발견되지 않은 사건을 어떻게 다루는지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한국에도 적용되는지 같은 모든 불확실성이 그 범위에 포함되는 것은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그래서 구간만으로 실제 오판율이 확정됐다고 말할 수 없습니다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사형사건에서 오류가 많이 발견된다면 그만큼 제도가 잘 작동하는 것 아닌가요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집행 전에 오류를 찾아냈다면 오류를 바로잡는 기능이 작동한 것입니다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하지만 발견된 사례는 처음의 잘못된 판결도 보여줍니다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발견을 많이 한다는 사실만으로 처음 오류가 많았는지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검토가 철저해서 많이 발견했는지 분리하기는 어렵습니다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제도의 평가에서는 오류의 발생과 발견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시정의 시점을 함께 보아야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 연결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여기까지는 유죄판결이 정확한가의 문제였습니다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다음에는 유죄인 사건들 사이에서도 사형이 일관되게 선택되는지를 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읽을 때의 범위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[E10] The Data: 1973–2004 7,482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Figure 2: 21.4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누적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4.1%(2.8–5.2);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사형위협 분류의 절차 개시시점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Estimating false convictions from exonerations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법적 유죄책임 해소 대리지표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오분류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보수적 추정 해석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사형집행자 무고비율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 오판율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모든 사건집단의 확정 비율로 일반화할 수 없음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통계구간이 분류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발견편향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국가차이의 모든 불확실성을 포함하지 않음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[E10] Gross, S. R., O’Brien, B., Hu, C., &amp; Kennedy, E. H. (2014). Rate of false conviction of criminal defendants who are sentenced to death. PNAS, 111(20), 7230–7235. DOI: 10.1073/pnas.1306417111.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https://pmc.ncbi.nlm.nih.gov/articles/PMC4034186/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 직접 확인 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PMC HTML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전체를 실행환경으로 직접 받아 본문 대조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웹 도구 본문은 접근제한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· 2014 /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2026-09-05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보완 설명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유죄책임 해소라는 번역을 화면에서 누명 해소로 풀었다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제목에는 연구의 목적이 오판 비율 추정임을 드러낸다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오판과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exoneration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동일한 사건 집합이 아니다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오판은 실제 잘못된 유죄판결이며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exoneration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무고함을 이유로 법적 유죄책임을 공식적으로 벗은 관찰 가능한 결과이다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연구진은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exoneration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자료로 전체 오판 비율을 보수적으로 추정한다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단순 괄호 동의어로 오판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=exoneration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이라고 쓰지 않는다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4.1%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실제 발견한 누명 해소 사건을 전체 선고자로 나눈 관찰비율이 아니라 사형위협 지속 가정 아래 생존분석으로 추정한 누적비율이다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https://pmc.ncbi.nlm.nih.gov/articles/PMC4034186/</a:t>
            </a:r>
          </a:p>
        </p:txBody>
      </p:sp>
      <p:sp>
        <p:nvSpPr>
          <p:cNvPr id="1345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 41/49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슬라이드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사형의 적용 — 범죄 외의 요인이 선택에 영향을 미치는가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앞의 오판 문제는 범죄를 저지르지 않은 사람을 잘못 판단할 수 있는가에 관한 것이었습니다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이번에는 실제로 중대한 범죄를 저지른 사람들 사이에서도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어떤 사람에게 사형이 선택되는지에 일관성이 있는가를 보겠습니다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같은 죄명이라고 모두 똑같은 사건은 아닙니다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범행 내용과 책임의 차이는 형벌에 반영될 수 있습니다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여기서 묻는 것은 그런 차이 외에 지역이나 인종 같은 요소가 형벌 선택과 연결되는가입니다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미국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GAO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1990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년에 관련 연구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28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개를 검토했습니다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그중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82%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에서 피해자의 인종과 사형 대상 기소 또는 사형선고의 관련성이 보고되었습니다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 비율의 분모는 범죄사건이 아니라 연구입니다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사건 열 건 중 여덟 건이 인종차별이었다는 뜻도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특정 인종 피해자의 사건에는 반드시 사형이 선고된다는 뜻도 아닙니다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여러 연구에서 같은 방향의 문제가 관찰되었다는 뜻입니다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다만 연구들의 질과 사용 자료가 완전히 같은 것도 아닙니다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해당 연구들이 보고한 전반적인 방향은 피해자가 백인인 사건에서 사형을 추구하거나 선고할 가능성이 더 높다는 것이었습니다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다음 군 단위 연구에서 군은 미국의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county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라는 지역 단위를 말합니다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Baumgartner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와 동료들은 지역별 과거 사형선고가 얼마나 쌓였는지와 이후 선고를 연결해 보았습니다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인구와 살인사건 수 등을 고려한 모형에서도 과거선고 누적과 후속선고 사이의 관련성이 나타났고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연구진은 지역 관행이 강화되는 과정으로 해석했습니다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그러나 이것은 기관의 학습을 직접 관찰한 실험은 아닙니다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모형에 들어가지 않은 지역 특성이 남아 있을 수 있습니다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법원이 이 문제를 판단한 사례가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2018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년 워싱턴주 대법원의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Gregory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사건입니다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법원은 당시 그 주의 사형 운영에서 자의성과 인종편향을 문제 삼아 주헌법에 어긋난다고 판단했습니다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사형이라는 형벌이 어떤 설계에서도 당연히 위헌이라는 결론과는 구별됩니다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따라서 제도를 고쳐 유지할 수 있는지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운영상 문제를 반복적으로 없애지 못한다면 제도를 중단해야 하는지도 이어지는 질문입니다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여러분이 한국의 제도를 설명한다면 여기서 미국 수치를 그대로 옮길 수는 없습니다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대신 어떤 자료가 필요할지를 생각할 수 있습니다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비슷한 중대성을 가진 사건을 모으고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기소와 구형과 선고를 구별하고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왜 어떤 사건만 사형으로 이어지는지 살펴야 합니다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모든 사건의 결론을 같게 만드는 것이 일관성은 아닙니다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다른 결론이 나왔다면 그 차이를 설명하는 적절한 이유가 있는지를 확인하는 것이 핵심입니다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구체적인 설명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이해를 위한 가상 비교를 해보겠습니다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두 지역 모두 살인사건이 열 건이라고 해도 한 지역에는 계획적 다수피해 사건이 많고 다른 지역에는 전혀 다른 사정이 많다면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사형선고 수 차이만으로 지역편향이라고 할 수 없습니다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반대로 범행의 중대성을 충분히 고려한 뒤에도 지역 자체와 큰 차이가 남으면 그때에는 기소 관행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변호자원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양형기준 등을 살펴야 합니다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 예시는 실제 통계가 아니라 무엇을 비교해야 하는지 보여주는 사고실험입니다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피해자의 인종과 관련되었다면 곧바로 인종차별이 입증된 것인가요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통계적 관련성이 개별 판사의 차별 의도를 바로 입증하는 것은 아닙니다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사건 특성이나 절차의 차이를 얼마나 고려했는지 살펴야 합니다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그렇다고 의도가 확인되지 않으면 제도적 불균형이 아무 문제도 아니라고 할 수도 없습니다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개별 책임의 입증과 제도 전체의 공정성 평가는 구분됩니다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2.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지역마다 범죄의 심각성이 다르면 사형선고 수가 다른 게 정상 아닌가요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그럴 수 있습니다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그래서 단순 선고건수 비교를 넘어 관련 사건 특성을 고려해야 합니다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해당 군 단위 연구 역시 일정 요인을 통제하지만 모든 개별 범행을 동일하게 맞춘 설계는 아니어서 연구결과의 적용 범위를 제한합니다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3.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82%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라는 수치가 크면 연구의 결론을 확신해도 되나요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어느 정도 일관된 패턴인지를 알려주지만 효과의 크기나 정확성을 직접 나타내는 지표는 아닙니다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연구 간 표본과 방법 차이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중복 데이터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출판 여부 등을 함께 보아야 합니다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GAO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역시 자료의 질과 표본선택 문제를 따로 평가했습니다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다음 장 연결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어떤 사건에 사형이 선택되는지를 보았습니다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이제 형벌이 피해자 유족의 회복과 어떻게 연결되는지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유족이 경험한 절차를 살펴보겠습니다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자료를 읽을 때의 범위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[P01]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인쇄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p.2~6: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평가대상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28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개 연구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23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개 데이터셋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82%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는 피해자 인종과 기소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사형선고 관련성을 보고한 연구의 비율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표본선택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누락변수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소표본 한계 명시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미국의 당시 연구 종합이며 한국의 차별 정도나 오늘의 사형선고 확률을 산출하지 않는다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[P02] Two distinct tests, Time-series cross-sectional tests, Tables 2~4: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누적 사형선고와 후속 선고의 연관성 및 저자들의 자기강화 해석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본문 앞부분은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1972~2019,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후반 계수모형 설명은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1976~2018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로 서술하므로 기간을 단일 분석기간으로 확정하지 않는다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범죄유형을 완벽히 같게 만든 개인사건 실험이 아니다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[P03] ¶1, ¶16, ¶27~31: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주헌법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Article I §14,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당시 운영의 자의성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인종편향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사형 그 자체의 당연위헌 판단과 구별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공식 사건페이지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https://www.courts.wa.gov/appellate_trial_courts/SupremeCourt/?fa=supremecourt.StatevGregory ;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공식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PDF https://www.courts.wa.gov/opinions/pdf/880867.pdf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는 간헐적 시간초과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한국 헌법에 대한 판단이 아니다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[P01] U.S. GAO (1990), Death Penalty Sentencing: Research Indicates Pattern of Racial Disparities, GGD-90-57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https://www.gao.gov/assets/ggd-90-57.pdf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공식 보고서 원문 직접 대조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 1990-02-26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[P02] Baumgartner et al. (2020), Learning to kill: Why a small handful of counties generates the bulk of US death sentences. PLOS ONE, 15(10), e0240401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https://journals.plos.org/plosone/article?id=10.1371/journal.pone.0240401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학술지 원문 직접 대조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 2020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[P03] Washington Supreme Court, State v. Gregory, No.88086-7, 192 Wn.2d 1 (2018)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https://caselaw.findlaw.com/court/wa-supreme-court/1957172.html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판결문 전문 공개본 직접 대조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;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법원 사건페이지에서 사건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일자 및 공식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PDF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링크 확인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 2018-10-11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보완 설명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]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 페이지는 사형에 대한 국가별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지역별 의견이나 여론이 다르다는 예시가 아니다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미국의 실제 기소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선고 자료와 법원 판단을 통해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사형을 허용하는 곳 안에서도 적용이 일관되고 공정한지를 묻는다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한국에 해당하지 않는다는 표현도 너무 넓다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미국의 피해자 인종 효과나 카운티 차이가 한국에도 똑같이 나타난다고 말할 수 없지만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한국도 누가 사형을 구형받고 선고받는지의 일관성은 검토할 수 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집행이 없어도 선고 단계의 질문은 남는다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한국 실태를 판단하려면 국내 사건의 범행 특성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피고인 사정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구형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선고 자료를 별도로 비교해야 한다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강의용 설명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앞 장은 죄 없는 사람이 유죄가 되는 오류를 봤습니다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이번에는 유죄인 사건 가운데 왜 어떤 사건에만 사형이 선택되는지 보겠습니다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범행과 책임의 차이라면 설명할 수 있지만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피해자의 인종이나 지역의 관행과 연결된다면 제도가 공정하게 운영되는지 별도로 물어야 합니다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 자료는 미국의 문제를 보여줍니다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한국의 같은 문제를 입증하는 자료는 아니지만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우리에게도 어떤 기준으로 사형을 선택하는가라는 질문을 제시합니다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https://www.gao.gov/products/ggd-90-57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https://journals.plos.org/plosone/article?id=10.1371/journal.pone.0240401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https://www.courts.wa.gov/opinions/pdf/880867.pdf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화면 변경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]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82%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의 분모가 연구라는 설명은 본문의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28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개 중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82%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로 드러나므로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사건의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82%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라는 뜻은 아니다라는 중복 해설은 화면에서 삭제했습니다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질의 대응을 위한 분모 설명은 노트에 유지합니다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지역 경험의 주어는 카운티의 과거 사형선고 경험으로 명시합니다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8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42/49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피해자 유족의 회복과 형벌 —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Armour &amp; Umbreit 2012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형벌의 목적을 말할 때 피해자와 유족을 위한다는 설명이 자주 등장합니다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그런데 유족이 어떤 형벌을 원한다는 물음과 그 형벌을 거친 뒤 실제로 어떻게 살아가는가라는 물음은 서로 다릅니다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연구는 두 번째 물음을 직접 살펴보려 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유족의 경험을 미리 한 방향으로 추정하지 않고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형사절차를 경험한 사람들의 말을 듣는 데 의미가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Armour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Umbreit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최고형으로 사형을 사용하는 텍사스와 가석방 없는 종신형을 사용하는 미네소타의 살인피해자 유족을 비교했습니다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연구는 판결 뒤 경과기간이 서로 다른 유족들을 면접하여 비교했습니다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이를 같은 사람을 오랫동안 계속 만나 회복과정을 추적한 조사처럼 이해하면 안 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경과시간이 다를 뿐 아니라 사람과 사건도 다른 비교라는 점을 먼저 기억해야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연구에서 눈여겨본 차이는 선고 뒤의 절차였습니다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미네소타에도 상소가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종신형이 선고되는 순간 모든 법적절차가 끝나는 것은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사형을 둘러싼 절차와 비교할 때 상소 이후 법적절차가 상대적으로 일찍 끝나는 경험이 관찰되었습니다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연구진은 미네소타 참여자들에게서 더 나은 건강 관련 지표를 보고했습니다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결과를 소개할 때 어느 한 형벌이 유족을 회복시켰다는 결론으로 바로 연결하지 않습니다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또 하나 중요한 것은 법적절차가 끝났다는 말과 상실의 슬픔이 끝났다는 말이 다르다는 것입니다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판결이 확정되면 상소 결과를 기다리는 일이 줄어들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하지만 가족을 잃은 경험까지 사라지는 것은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그러므로 사건 종결이라는 표현을 완치나 완전한 회복처럼 쓰지 않겠습니다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유족마다 원하는 형벌과 회복의 경로가 다를 수 있다는 점도 함께 남겨두어야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자료에서 다음으로 가져갈 질문은 구체적입니다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유족을 위해 형벌을 결정한다고 말하려면 선고형 외에 어떤 절차 경험과 지원을 살펴야 할까요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오판을 줄이기 위해 판단을 신중히 다시 살피는 절차는 중요합니다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동시에 기다림이 길어질 때 유족에게 어떤 설명과 지원이 필요한지도 물을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사형의 존폐에 대한 제도 판단과 유족의 생활을 실제로 돕는 방법을 모두 설명해야 한다는 뜻입니다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왜 그 연결을 조심할까요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텍사스와 미네소타에는 형벌 외에도 서로 다른 점이 많습니다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참여자들의 사건 특성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생활환경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도움을 받을 수 있는 조건이 같은지 따져야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설령 처음 조사할 사람을 공정하게 뽑았다고 해도 두 주의 생활환경이나 사건 특성까지 같아지는 것은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사람을 어떻게 모집했는지와 형벌의 효과를 어떻게 분리했는지는 다른 문제입니다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연구가 흥미롭다는 점과 인과효과를 확정할 수 있다는 점을 구분합시다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이해를 위한 가상 장면입니다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어떤 유족은 유죄가 인정되어도 상소 결과가 바뀔까 계속 기다리고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유족은 법적절차가 끝난 뒤 일상생활을 다시 꾸리는 데 어려움을 겪을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둘 다 고통을 경험하지만 도움이 필요한 지점은 다를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첫 경우에는 절차 진행 상황과 예상 경로에 대한 설명이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두 번째 경우에는 일상과 관계를 회복하는 지원이 중요할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장면은 연구 참여자의 실제 발언을 재현한 것이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 결과가 평균적으로 어떤 방향이라고 해도 한 유족에게 무엇을 느껴야 한다고 요구할 근거는 되지 않습니다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형벌에 대한 정책 논의에서 유족의 경험을 참고하되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당사자에게 용서나 특정한 형벌 선호를 요구하는 방식으로 사용하지 않아야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연구는 사형이 유족에게 나쁘다는 증거인가요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두 형사사법 환경에서 절차경험과 건강지표 차이가 보고된 자료입니다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형벌 외 차이를 모두 제거한 실험이 아니므로 사형 자체가 그 차이를 만들었다고 확정할 수 없습니다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유족의 회복을 말할 때 선고뿐 아니라 선고 뒤 절차도 조사해야 한다는 점을 지지하는 자료로 읽는 것이 적절합니다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조사할 사람을 공정하게 뽑았는데도 형벌의 효과를 확정할 수 없나요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조사할 사람을 뽑는 과정이 공정해도 두 주의 사건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지원체계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생활환경 같은 차이는 남을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누구에게 사형 관련 절차가 적용될지는 조사자가 똑같은 조건 아래 정한 것이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사람을 뽑는 과정과 형벌 이외의 차이를 배제하는 문제를 구별해야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그러면 상소를 줄이고 빨리 집행하면 해결되지 않나요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연구가 상소 단축이나 빠른 집행의 효과를 비교한 것은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신속한 종결이 중요하다는 해석만으로 오판을 걸러낼 기회를 줄여도 된다는 결론은 나오지 않습니다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정확한 판단과 유족에게 절차를 설명하고 지원하는 방법을 함께 살펴야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참여자 수가 적은 면접연구는 의미가 없나요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작은 면접연구도 참여자가 어떤 상황에서 무엇을 경험했는지 구체적으로 이해하는 데 도움을 줄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그 경험이 전체 유족에게 얼마나 흔한지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특정 형벌이 다른 형벌보다 회복을 더 잘 이끄는지까지 같은 자료로 확정할 수는 없습니다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자료의 역할에 맞게 활용해야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 없는 종신형이면 유족은 모두 만족하나요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그렇게 일반화할 수 없습니다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형벌 만족과 건강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회복은 같은 지표가 아니고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같은 형벌을 경험해도 유족의 요구는 다양할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법적절차가 끝났다는 사실이 슬픔이나 생활상의 어려움까지 끝났다는 뜻은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 연결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유족이 실제로 경험하는 절차와 회복을 살펴봤습니다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다음에는 국민 일반의 사형제 인식을 어떻게 조사하는지 보겠습니다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유족의 경험과 일반 국민의 제도 선호는 서로 다른 자료입니다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읽을 때의 범위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[P06]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텍사스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미네소타 유족 비교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서로 다른 네 경과시점의 대상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대면면접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미네소타에서 상대적으로 나은 건강 지표 보고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39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/19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/20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명은 이번 원문대조로 확정 못함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숫자는 대본에서 보류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무작위 표집은 형벌 무작위 배정을 뜻하지 않음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[P07]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미네소타도 재판 뒤 상소가 있으며 확정 뒤 사건의 법적절차 종료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형벌의 이름 외 절차 경험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상호작용을 함께 살필 필요 설명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연구자 인터뷰는 논문 본문을 대체하는 표본수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통계계수 근거가 아니다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사례발언 전체를 모든 유족에게 일반화하지 않는다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[P06] Armour &amp; Umbreit (2012), Assessing the Impact of the Ultimate Penal Sanction on Homicide Survivors: A Two State Comparison, Marquette Law Review 96(1),1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https://scholarship.law.marquette.edu/mulr/vol96/iss1/3/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학술지 공식 초록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서지 직접 확인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본문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PDF403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표본수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배분 상세 미확인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2012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[P07] University of Texas at Austin, What does the death penalty do for the victim’s family? — Marilyn Armour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인터뷰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https://sites.utexas.edu/theutopian/what-does-the-death-penalty-do-for-the-victims-family/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연구자 소속대학의 저자 인터뷰 직접 대조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2013-09-11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1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43/49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v69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여론조사 장 분리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v70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리얼미터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2019 —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사형제도 문항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장은 리얼미터 조사의 실제 문항 구조를 보여주는 장입니다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핵심은 세 가지 정책 선택지에 각각 다른 이유문이 붙어 있었다는 점입니다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폐지는 오판으로 인한 억울한 죽음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미집행은 범죄 경각심과 억울한 죽음의 동시 고려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실제 집행은 흉악범죄 감소와 피해자의 억울함 해소라는 이유와 함께 제시되었습니다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이 결과를 단순히 사형제 존폐 여론으로만 읽거나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집행 찬반 수치만으로 정리하면 문항이 가진 프레이밍을 놓치게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읽을 때의 범위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CBS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방송기록에서 리얼미터 대표가 조사방법과 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보기 문구를 낭독한 기록을 확인했습니다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원설문지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통계표와 방송기록을 함께 대조한 것으로 정리합니다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CBS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김현정의 뉴스쇼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[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]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집행해야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51.7%" VS "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불필요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45.7%", 2019.6.17.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리얼미터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집행 찬성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52% vs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집행 반대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제도 폐지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46%, 2019.6.17.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 연결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같은 사형제 여론조사라도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한국갤럽은 제도 유지와 폐지를 묻는 방식이었습니다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287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CE9C8B-D566-42D2-8E6F-E01C9FE49003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44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44/49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v69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여론조사 장 분리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v70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한국갤럽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2022 —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사형제 존폐 문항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장은 한국갤럽 조사의 실제 질문과 보기를 보여주는 장입니다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갤럽은 사형제 존폐 공개변론이 있었다는 안내 뒤 사형제도를 유지하는 것이 좋은지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폐지하는 것이 좋은지를 물었습니다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중요한 점은 유지라는 응답이 곧 실제 집행 재개를 뜻하지 않는다는 것입니다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제도 유지 여부와 집행 여부는 다른 질문입니다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앞 장의 리얼미터 결과와 이 장의 갤럽 결과를 나란히 놓고 여론이 달라졌다고 말하려면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먼저 문항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조사방법의 차이를 설명해야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읽을 때의 범위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한국갤럽 데일리 오피니언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504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PDF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조사 개요와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p.14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보기 문구를 확인했습니다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한국갤럽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데일리 오피니언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504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(2022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), 2022.7.22.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 연결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여론조사는 제도의 정당성을 바로 증명하지는 않지만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어떤 방식으로 물었을 때 사람들이 어떻게 답하는지는 중요한 자료입니다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이제 앞에서 본 자료들을 주요 논거로 다시 묶어 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290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8B01192-3E60-4301-9993-DD89755AC201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45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45/49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정리하면 무엇이 남는가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다 본 뒤 남는 물음을 네 가지로 정리해 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먼저 구체적으로 확인한 사안의 조건이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사형이 집행되면 수형자의 생명이 박탈됩니다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우리나라는 사형 규정을 두면서 장기간 실제 집행을 하지 않았습니다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그리고 사형의 존폐를 정하는 것과 이후의 형벌체계를 구체적으로 설계하는 것은 관련되지만 구별되는 결정입니다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조건에서 무엇을 더 확인하고 판단해야 하는지가 이어집니다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첫 번째는 사형이 장기 자유형에 더해 범죄를 억제하는가입니다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오늘 소개한 연구평가만으로 그 효과의 방향을 확정하기 어렵다고 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그러면 누구에게나 같은 결론이 나와야 할까요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그렇지는 않습니다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불확실한 효과에 얼마나 기대어 제도를 정할 수 있는지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불확실성을 줄이기 위해 어떤 자료가 더 필요한지 설명해야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불확실하다는 사실이 곧 유지나 폐지 중 어느 결론을 대신해 주지는 않습니다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두 번째는 다른 형벌이 격리와 재범 방지에 어떤 기능을 할 수 있는가입니다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여기서는 형벌의 이름만 부르면 충분하지 않습니다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가석방을 허용하는지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석방 절차는 무엇인지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교정시설 내부 안전은 어떻게 확보하는지 구체적인 조건이 필요합니다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가석방을 없애는 것과 어떤 상황에서도 석방할 수 없게 하는 것은 같지 않습니다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잘못된 유죄판결을 바로잡는 재심도 형기를 줄여주는 은혜적 조치와 구분해야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세 번째는 국가가 생명을 박탈하는 형벌을 허용할 수 있는가라는 헌법적 물음입니다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생명권 제한의 한계와 덜 침해적인 대안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형벌의 중대성에 상응하는 절차가 중심에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오판 가능성과 적용의 자의성은 이 물음을 현실적인 제도 운영의 문제로 만듭니다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추상적으로 형벌의 목적을 내세웠다고 실제 운영까지 정당해지는 것은 아니기 때문입니다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네 번째는 응보와 개선 가능성을 어떻게 견주어 판단하는가입니다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세 번째가 헌법적 허용범위에 초점을 맞춘다면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물음은 우리가 형벌에 어떤 목적을 요구하는지에 초점을 맞춥니다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사람의 변화 가능성을 인정한다는 말이 곧 출소시켜야 한다는 뜻은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무기형을 집행하면서도 변화와 책임의 자각을 중요하게 볼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반대로 개선 가능성을 고려하더라도 범죄의 중대성에 맞는 책임을 충분히 물어야 한다고 판단할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네 물음은 완전히 독립된 시험문항이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대체형벌이 어느 정도 사회를 보호할 수 있는지는 생명 박탈의 필요성과 연결되고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오판과 시설 내 위험을 어떻게 평가하는지도 제도 설계와 연결됩니다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여러분은 자신이 결론을 내리는 데 특히 중요한 물음을 고르고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확인된 자료가 답하는 부분과 자신이 기준을 세워 판단한 부분을 이어 설명하면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어떤 주장을 점검하려면 결론을 바꿀 수 있는 조건을 생각해 볼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가령 대체형벌이 사회보호를 충분히 수행한다는 점을 중요하게 보는 판단이라면 충분하다는 기준을 밝혀야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완전한 위험 제거를 요구하는지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현실적으로 달성 가능한 수준의 위험관리를 요구하는지에 따라 비교가 달라집니다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같은 기준을 자신이 선택한 제도에도 적용하는지 살피는 것이 자기 논증의 검토입니다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억제효과는 사실판단이니까 연구가 나오면 논쟁이 끝나나요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어떤 효과가 있는지는 자료로 확인할 종류의 문제입니다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그러나 효과가 있더라도 어느 정도면 국가의 생명박탈을 정당화하기에 충분한지는 별도의 판단입니다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반대로 효과가 불확실해도 응보를 중심 근거로 제시하는 입장이 있을 수 있으므로 정책 결론 전체가 자동으로 정해지지는 않습니다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개선 가능성을 인정하면 가석방도 허용해야 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같은 문제는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수용 중 자신의 행위를 이해하고 변화할 수 있다는 판단과 사회복귀의 위험 및 허용조건에 관한 판단은 구별됩니다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재심사 기회를 끝내 주지 않는 제도를 정당화할 때 그 변화 가능성을 어떻게 취급할지는 설명해야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네 쟁점을 전부 같은 분량으로 다뤄야 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강사는 전체 논제의 판단 지형을 보여주기 위해 여러 물음을 제시합니다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학생은 자신의 결론을 좌우하는 핵심 쟁점을 선택해 깊이 설명할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선택하지 않은 중요한 부담을 존재하지 않는 것처럼 처리하지 않고 자신의 논증에 어떤 영향을 주는지 점검해야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 연결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이제 마지막으로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이런 판단에 사용하는 자료를 스스로 읽을 때 계속 가져갈 질문들을 짧게 정리하겠습니다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읽을 때의 범위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[P08] §2~5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표현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검증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운영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공통으로 인정하는 지점 조건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 워밍업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주부터 지정토론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토요일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23:59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발표자료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11/2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중간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·12/14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원본 강의계획서는 평가와 폐지된 과제 안내가 남아 정정 대상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추후 확정 공지가 있으면 그것을 우선 확인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[C03]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사건개요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합헌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2,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생명권 보장과 제한 근거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조건부 폐지 언급의 원문 종결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김진우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조승형 별도 반대의견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,1996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년부터 교화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인간존엄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응보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국제비교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비례성 논의 존재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현행 조문 숫자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외국현황의 근거로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1996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별지를 재사용하지 않는다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반대의견 구획 유지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일부 집행조항은 각하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[C04]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광주고법의 신청 수용 제청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합헌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일부위헌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1,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재판관별 논거 및 조대현의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110④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적용범위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,2010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다수의견의 오판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사법제도 한계 논거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보충의견의 적용축소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절차신중론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결정문 전문 직접 검증으로 표기하지 말 것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수업 문장은 공식 설명에 근거한 요약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 인용 최종확정은 결정문 대조 필요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당시는 무기 가석방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규정이므로 현행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년과 혼동 금지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[C06] 2019.2.12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접수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심무기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상소기각 경과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,2021.3.30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보조참가 신청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청구인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법무부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허완중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장영수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고학수 의견요지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변론 전 예고성 기사이므로 당일 전 발언 확인으로 승격 금지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의견 문언 직접인용은 보류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전체 제출기록에 특정 연구가 없다는 부재명제의 근거로 불충분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사실경과 전달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짧은 요지에만 사용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[E04] p.2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효과 방향 판별 불가 및 정책적 확정 주장 근거로 사용하지 말라는 권고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pp.2–3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대체형벌 대비 추가효과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처벌위험 인식의 결함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p.3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불확실성은 어느 한쪽 입장 지지가 아님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2012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당시 검토한 연구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후속 연구까지 평가하거나 사형 존폐 전반을 결론 내린 보고서 아님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[A01]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무기형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행상 양호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뉘우침 뚜렷함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행정처분으로 가석방 가능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자동 석방 아님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개별 수형자에 대한 법 개정 전후 적용례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경과규정까지 일률화하지 않음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[A03] p1~3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존치 상태에서 가석방 불허 무기형 추가안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8.14~9.25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입법예고 예고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p2 2023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2043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도입 근거로 해석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보도자료의 필요성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효과 평가를 판결 자체의 결론 또는 검증된 효과로 옮기지 않음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2023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당시 정부 구상의 내용 자료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[P08]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강의자료 제작 지침 개정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 및 강의계획서 정합성 확인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현행운영기준 정정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local:project_sources/16-guideline_v4_20260901-5-.md;project_sources/14-courseplan_reconciliation_20260901-2-1-.md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첨부 현행문서 대조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2026-09-01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[C03]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1996.11.28.95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250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등 위헌소원 결정문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https://law.go.kr/detcInfoP.do?detcSeq=135377&amp;mode=1&amp;vSct=95%ED%97%8C%25E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국가법령정보센터 전문 직접 확인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(2026-09-05) · 1996-11-28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[C04]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헌법재판소 분야별 주요판례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:2008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사형제 사건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https://www.ccourt.go.kr/site/kor/ex/bbs/View.do?bcIdx=941543&amp;cbIdx=1106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 자체 상세 공식 요약 직접 확인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국가법령정보센터 결정문 전문은 접속 오류로 직접 대조 미완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2010-02-25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[C06]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로이슈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 변론 안내와 사건개요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의견요지 전달 보도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https://www.lawissue.co.kr/view.php?ud=2022071319340173599a8c8bf58f_12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보도 본문 직접 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 배포 원자료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실제 당일 발언 미확보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2022-07-13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[E04] National Research Council. (2012). Deterrence and the Death Penalty. D. S. Nagin &amp; J. V. Pepper (Eds.). Washington, DC: The National Academies Press. DOI: 10.17226/13363.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https://www.nationalacademies.org/read/13363/chapter/2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 직접 확인 — 공식 보고서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Summary pp.1–8 · 2012 /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2026-09-05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[A01]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 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가석방의 요건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https://www.law.go.kr/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문면은 법무부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2023.8.11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p1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및 국가법령정보센터 조문 검색결과 대조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 사이트는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2026.9.13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시행 예정본을 반환하므로 시행일 혼동 주의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· 2020.12.8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전문개정 문면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2026.9.5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[A03]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법무부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가석방을 허용하지 않는 무기형 신설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https://www.corrections.go.kr/bbs/moj/182/457439/download.do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쪽 보도자료 원문 직접 확인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2023.8.11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296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46/49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사형제 존폐 논의의 주요 논거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앞에서 살핀 논거를 같은 다섯 주제로 비교합니다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각 칸은 어느 입장의 이유가 어떻게 유지 또는 폐지 판단으로 이어지는지를 요약한 문장입니다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칸의 크기가 같다고 그 논거를 뒷받침하는 증거의 수준까지 같다는 뜻은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연구결과를 보고하는 문장과 그 결과를 받아들여 어떤 정책을 택하는지는 구별해 읽어 주세요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첫째는 응보와 형벌의 목적입니다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유지 쪽은 극히 중대한 범죄에 생명 박탈까지 포함하는 처벌이 책임에 상응한다고 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폐지 쪽은 중대한 범죄의 책임을 부정하는 대신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장기 자유형으로 책임을 물으면서 생명과 개선 가능성을 남겨야 한다고 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개선 가능성을 인정한다는 말이 곧바로 석방해야 한다는 뜻은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둘째는 일반예방입니다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두 칸 모두 장기 자유형과 비교한 추가 억제효과를 다룹니다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유지 쪽은 사형의 더 강한 위하력을 이유로 제시합니다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폐지 쪽은 추가 억제효과를 뒷받침할 근거가 충분하지 않다는 점을 들어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효과만으로 생명 박탈을 정당화하기 어렵다고 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NRC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사형 폐지를 권고했다고 읽으면 안 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NRC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연구평가와 불확실성을 어떤 입장의 이유로 삼는지는 별개입니다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셋째는 특별예방과 사회보호입니다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유지 쪽은 사형을 집행하면 그 사람의 이후 범죄를 영구히 차단한다는 점을 중시합니다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폐지 쪽은 사회복귀를 제한하는 형벌과 교정시설 내부의 위험관리를 대안으로 제시합니다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대안이 어느 정도 위험을 줄이는지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어떤 자원과 절차가 필요한지는 별도로 설명해야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사형도 선고만으로 집행 전 위험이 사라지지는 않습니다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넷째는 생명권과 비례입니다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유지 쪽은 생명권도 예외적으로 제한될 수 있고 극악범죄에 한정한 사형이 비례원칙에 어긋나지 않는다고 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폐지 쪽에는 생명 박탈 자체가 본질적 내용 침해라는 이유와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덜 침해적인 대안이 있으므로 사형은 과도하다는 이유가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두 이유는 같은 것이 아니기 때문에 화면에서 또는의 관계로 묶었습니다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다섯째는 오판과 불가역성입니다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유지 쪽도 오판이 발생하면 생명을 되돌릴 수 있다는 주장을 하는 것은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오판 위험을 사법제도 전반의 한계로 보면서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엄격한 심사와 절차 보장으로 줄여 사형을 유지할 수 있다고 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폐지 쪽은 그 위험을 완전히 없앨 수 없고 집행 뒤 생명을 회복할 수 없으므로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생명을 박탈하지 않는 형벌로 대체해야 한다고 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양쪽의 차이는 오판이라는 말을 쓰는지보다 그 위험을 감수할 수 있는지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어떤 보호장치면 충분한지에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적용의 공정성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유족의 회복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교정비용과 여론은 관련된 논거를 점검하는 자료로 함께 살핍니다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여론은 효과를 증명하지 않고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유족이 어떤 형벌을 원하는지와 실제로 어떻게 회복하는지도 같지 않습니다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각 자료의 범위를 지키면서 자신의 판단을 설명해야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가상의 두 학생이 모두 추가 억제효과는 불확실하다고 읽었다고 합시다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 학생은 극단적 범죄에 대한 응보가 충분한 이유라고 판단할 수 있고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학생은 불가역적인 생명 박탈을 허용할 이유가 충분하지 않다고 판단할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다르게 읽어서만 결론이 달라지는 것은 아닙니다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같은 자료를 인정한 뒤에도 무엇을 어느 정도 중요하게 둘지에 대한 설명이 필요합니다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다섯 논거 중 세 개가 내 입장을 지지하면 결론을 정해도 되나요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논거를 투표하듯 셀 수는 없습니다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어떤 논거는 자료가 약하고 어떤 논거는 결론의 필수 조건일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예컨대 권리의 한계를 결정적 기준으로 보는 사람은 다른 효용이 일부 있더라도 그 기준이 충족되지 않으면 다른 결론을 내릴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판단 기준과 이유를 설명해야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응보는 복수와 같은 것 아닌가요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범죄에 상응하는 공적 책임을 묻는다는 응보의 설명과 피해 감정에 따라 고통을 되돌려준다는 사적 복수를 그대로 같은 개념으로 처리하면 논의를 놓칩니다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응보를 중시하더라도 국가가 허용할 형벌의 종류와 비례의 한계는 다시 설명해야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교도소 안 재범을 못 막으면 무기형은 대안이 될 수 없나요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대안이 어떤 기능을 얼마나 수행해야 하는지 기준을 먼저 밝혀야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사회복귀 제한과 시설 내 위험관리는 구별됩니다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사형도 선고 이후 집행 전에는 시설 내 위험문제가 남습니다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어느 제도에 어떤 위험이 남고 어떻게 줄일지 구체적으로 비교해야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 연결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논거들을 실제 결론으로 연결하려면 어떤 물음에 답해야 할까요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장에서 그 질문들을 정리하겠습니다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읽을 때의 범위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[C03]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사건개요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합헌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2,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생명권 보장과 제한 근거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조건부 폐지 언급의 원문 종결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김진우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조승형 별도 반대의견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,1996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년부터 교화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인간존엄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응보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국제비교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비례성 논의 존재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현행 조문 숫자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외국현황의 근거로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1996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별지를 재사용하지 않는다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반대의견 구획 유지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일부 집행조항은 각하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[C04]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광주고법의 신청 수용 제청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합헌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위헌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일부위헌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1,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재판관별 논거 및 조대현의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110④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적용범위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,2010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다수의견의 오판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사법제도 한계 논거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보충의견의 적용축소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절차신중론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결정문 전문 직접 검증으로 표기하지 말 것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수업 문장은 공식 설명에 근거한 요약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 인용 최종확정은 결정문 대조 필요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당시는 무기 가석방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규정이므로 현행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년과 혼동 금지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[C06] 2019.2.12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접수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,1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심무기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상소기각 경과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,2021.3.30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보조참가 신청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청구인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법무부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허완중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장영수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고학수 의견요지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변론 전 예고성 기사이므로 당일 전 발언 확인으로 승격 금지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의견 문언 직접인용은 보류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전체 제출기록에 특정 연구가 없다는 부재명제의 근거로 불충분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사실경과 전달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짧은 요지에만 사용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[E04] p.2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효과 방향 판별 불가 및 정책적 확정 주장 근거로 사용하지 말라는 권고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pp.2–3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대체형벌 대비 추가효과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처벌위험 인식의 결함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p.3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불확실성은 어느 한쪽 입장 지지가 아님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2012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당시 검토한 연구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후속 연구까지 평가하거나 사형 존폐 전반을 결론 내린 보고서 아님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[A01]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무기형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행상 양호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뉘우침 뚜렷함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행정처분으로 가석방 가능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자동 석방 아님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개별 수형자에 대한 법 개정 전후 적용례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경과규정까지 일률화하지 않음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[A03] p1~3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존치 상태에서 가석방 불허 무기형 추가안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8.14~9.25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입법예고 예고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p2 2023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2043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도입 근거로 해석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보도자료의 필요성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효과 평가를 판결 자체의 결론 또는 검증된 효과로 옮기지 않음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2023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당시 정부 구상의 내용 자료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[C03]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1996.11.28.95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 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250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등 위헌소원 결정문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https://law.go.kr/detcInfoP.do?detcSeq=135377&amp;mode=1&amp;vSct=95%ED%97%8C%25E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국가법령정보센터 전문 직접 확인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(2026-09-05) · 1996-11-28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[C04]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헌법재판소 분야별 주요판례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:2008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사형제 사건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https://www.ccourt.go.kr/site/kor/ex/bbs/View.do?bcIdx=941543&amp;cbIdx=1106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 자체 상세 공식 요약 직접 확인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국가법령정보센터 결정문 전문은 접속 오류로 직접 대조 미완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2010-02-25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[C06]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로이슈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 변론 안내와 사건개요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의견요지 전달 보도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https://www.lawissue.co.kr/view.php?ud=2022071319340173599a8c8bf58f_12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보도 본문 직접 확인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 배포 원자료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실제 당일 발언 미확보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2022-07-13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[E04] National Research Council. (2012). Deterrence and the Death Penalty. D. S. Nagin &amp; J. V. Pepper (Eds.). Washington, DC: The National Academies Press. DOI: 10.17226/13363.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https://www.nationalacademies.org/read/13363/chapter/2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 직접 확인 — 공식 보고서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Summary pp.1–8 · 2012 /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2026-09-05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[A01]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 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가석방의 요건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https://www.law.go.kr/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형법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 문면은 법무부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2023.8.11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p1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및 국가법령정보센터 조문 검색결과 대조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 사이트는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2026.9.13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시행 예정본을 반환하므로 시행일 혼동 주의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· 2020.12.8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전문개정 문면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;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2026.9.5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[A03]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법무부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가석방을 허용하지 않는 무기형 신설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https://www.corrections.go.kr/bbs/moj/182/457439/download.do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4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쪽 보도자료 원문 직접 확인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2023.8.11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[v69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논거별 출처와 재구성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표는 앞서 제시한 의견을 같은 주제로 비교하기 위한 강의상 재구성이다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하나의 판시를 그대로 인용하거나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각 입장 내부의 다양한 이유를 모두 같은 이유로 취급하지 않는다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응보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유지 쪽은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95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1·2008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다수의견의 책임에 상응하는 형벌 논거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폐지 쪽은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95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반대의견과 기존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p.24·26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정리된 대체형벌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개선 가능성 논거를 연결했다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일반예방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유지 쪽은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95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1·2008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위하력 설명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폐지 쪽은 기존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p.23·38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정리된 추가효과의 근거 부족과 정당화 부담에 관한 논거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NRC(2012)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폐지를 주장한 자료가 아니며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연구평가와 그 평가를 이유로 한 입장의 논증은 구별한다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2012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평가를 후속 연구 전체에 적용하지 않는다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특별예방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사회보호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유지 쪽은 사형 집행의 재범 차단 설명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폐지 쪽은 기존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p.23·27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사회복귀 제한이라는 대체형벌 논거에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p.32~34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시설 내 안전 검토를 함께 반영했다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시설 내 위험관리가 언제나 완전하게 작동한다는 경험적 결론이 아니라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대안으로서 설명하고 입증해야 할 논거다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사형도 집행 전에는 시설 내 위험이 남는다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생명권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비례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유지 쪽은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95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헌바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1·2008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다수의견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폐지 쪽의 본질 침해와 덜 침해적인 대안은 서로 구별되는 위헌 논거이므로 또는의 관계로 제시했다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사형이 헌법상 허용된다는 판단과 반드시 존치해야 한다는 입법정책 판단은 동일하지 않다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오판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불가역성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유지 쪽은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2008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다수의견의 오판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사법제도 한계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심급 및 재심 등 제도 개선 논거와 보충의견의 엄격한 절차 논거를 연결한 재구성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폐지 쪽은 기존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p.23·26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오판과 생명 회복 불가능성 논거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Mattan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사건은 오류 가능성의 구체적 사례이며 빈도 자료가 아니다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Gross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(2014)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특정 조건 아래의 추정으로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사형 폐지를 직접 도출한 판시나 한국의 오판율 자료가 아니다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재확인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(2026-09-06): NRC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보고서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Summary pp.2~3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연구평가와 정책 판단 구별을 직접 대조했다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헌재 내용은 첨부 기준본과 헌재 공식 주요판례 검색결과를 대조했으며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국가법령정보센터의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2010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결정 전문은 이번 접속에서 반환되지 않아 전문 신규 확인으로 표기하지 않는다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https://www.nationalacademies.org/read/13363/chapter/2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https://www.ccourt.go.kr/site/kor/ex/bbs/View.do?bcIdx=941543&amp;cbIdx=1106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48/49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연구와 조사 자료를 읽을 때 묻는 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오늘 자료에서 계속 했던 확인을 다섯 물음으로 남기겠습니다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첫째 누가 만들었는가입니다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기관의 이름은 중요한 정보이지만 그것만으로 결론이 맞다고 결정할 수는 없습니다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어떤 목적에서 무엇을 집계했는지까지 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둘째 원문인가입니다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기사의 숫자와 보고서의 숫자가 같더라도 분모나 문맥이 생략되면 뜻이 달라집니다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GAO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82%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사건의 비율이 아니라 연구의 비율이었던 것이 좋은 예입니다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셋째 그 질문에 맞는 방법인가입니다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복잡한 통계 용어부터 외울 필요는 없습니다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누구를 조사했고 무엇과 비교했는지를 먼저 보세요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사람들을 경과시점별로 비교한 결과를 같은 사람의 변화처럼 읽지 않고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두 여론조사의 차이를 질문효과만으로 설명하지 않는 것이 여기에 해당합니다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넷째 다른 자료에서도 확인되는가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혹은 다른 결과가 있는가입니다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자기 결론에 맞는 한 편만 선택하면 전체 연구가 보여주는 불확실성을 놓칠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다섯째 어디까지 적용할 수 있는가입니다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미국의 지역별 사형선고 연구는 한국에서 무엇을 조사할지 생각하게 하지만 그 수치를 그대로 한국의 현실이라고 말하게 해주지는 않습니다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발표자료와 토론문에서 자료를 인용할 때 이 물음들을 활용하면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많이 찾는 것 자체보다 그 자료가 여러분의 판단을 어디까지 지지하는지 설명하는 것이 중요합니다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법령과 판례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조사문항과 수치는 원문을 열어 문구와 기준을 확인하고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확인하지 못한 부분은 확인한 것처럼 쓰지 마세요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오늘의 다섯 물음은 새로운 제출과제가 아니라 여러분의 근거 설명을 점검하는 기준입니다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발표자료에 길게 쓰기 어렵다면 핵심 한계 한 줄을 붙이는 방법이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예를 들어 두 지역 유족 비교연구를 인용했다면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제도 외 차이가 남아 형벌의 인과효과를 확정하지 않는다는 한 줄을 덧붙입니다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제한을 밝힌다고 자료를 포기하는 것은 아닙니다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어느 부분에서 유용한지 정확하게 쓰는 것입니다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이해관계단체 자료는 쓰면 안 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사용할 수 있습니다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생산 목적과 집계기준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범위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자료와의 대조 결과를 확인해야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단체의 입장이 있다는 이유만으로 모든 통계를 버리거나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단체가 전문적이라는 이유만으로 모든 해석을 받아들이지 않습니다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원문이 열리지 않으면 기사를 근거로 써도 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기사만 확인했다면 원자료를 확인한 것처럼 쓰지 않습니다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통계는 원문을 확인하고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확인이 어려우면 어떤 경로로 확인한 자료인지와 남은 한계를 밝히세요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 확인 여부가 핵심 판단을 좌우한다면 다른 확인 가능한 자료를 찾는 것이 좋습니다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연구까지 찾을 시간이 부족하면 어떻게 하나요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자기 주장을 좌우하는 핵심 근거부터 우선순위를 정합니다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우선 원문과 방법을 확인하고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체계적 검토나 신뢰할 만한 연구 종합이 있는지 살펴볼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모든 문헌을 빠짐없이 읽었다고 주장할 필요는 없지만 확인 범위를 넘는 단정은 피해야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 연결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마지막으로 다음 주 준비와 이미 안내된 제출 일정을 확인하겠습니다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읽을 때의 범위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[P08] §2~5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표현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검증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운영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공통으로 인정하는 지점 조건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 워밍업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주부터 지정토론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토요일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23:59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발표자료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11/2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중간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·12/14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원본 강의계획서는 평가와 폐지된 과제 안내가 남아 정정 대상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추후 확정 공지가 있으면 그것을 우선 확인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[P08]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강의자료 제작 지침 개정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 및 강의계획서 정합성 확인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현행운영기준 정정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local:project_sources/16-guideline_v4_20260901-5-.md;project_sources/14-courseplan_reconciliation_20260901-2-1-.md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첨부 현행문서 대조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2026-09-01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299" name="PlaceHolder 3"/>
          <p:cNvSpPr>
            <a:spLocks noGrp="1"/>
          </p:cNvSpPr>
          <p:nvPr>
            <p:ph type="sldNum" idx="4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공공안전세미나Ⅱ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49/49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기준본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v58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기존 내용 유지 및 승인된 검토사항 반영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v59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이번 주 할 일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주차까지는 강사와 함께 진행하는 워밍업입니다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논제는 형사미성년자 기준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촉법소년 상한 연령을 낮추어야 하는가입니다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오늘 한 것처럼 먼저 현행법의 대상과 기준을 살펴보고 관련 통계가 무엇을 세는지 확인해 오면 다음 수업을 이해하는 데 도움이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지정토론은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주차부터 시작하고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배정 결과와 발표 인원은 확정 공지에 따라 확인하면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발표자료는 자신이 발표하는 수업 직전 토요일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59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분까지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LMS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제출합니다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A4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 장에 입장과 핵심 주장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근거와 출처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자기 주장에 제기될 수 있는 반대 논거와 그에 대한 답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 신뢰도 점검을 정리합니다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중간 토론문은 수업에서 다루지 않은 별도 논제입니다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수업이 끝난 뒤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LMS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공지하고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59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분까지 제출합니다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기말 토론문은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이후의 쟁점토론 논제 중 하나를 고릅니다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본인이 발표한 논제도 선택할 수 있지만 수업에서 나온 자료와 논의를 반영해 보완하고 확장해야 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제출은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59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분까지입니다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중간과 기말 토론문 형식은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A4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세 쪽 내외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포인트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줄간격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160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퍼센트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표지 없음이며 세부안내는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LMS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다시 확인할 수 있습니다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별도의 파트별 정리 과제는 없습니다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구체적인 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마지막으로 오늘 본 원문 하나를 실제로 여는 과정을 짧게 보겠습니다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검색에서 자료를 찾았다면 제목과 날짜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조항이나 표의 위치까지 확인합니다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원문을 찾는 이유는 여러분의 판단을 대신하게 하려는 것이 아니라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판단을 지지한다고 적은 자료가 실제로 무슨 말을 하는지 확인하려는 것입니다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오늘 자료에서 아직 이해되지 않는 부분은 질문해 주세요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여기까지 하겠습니다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시연발화 예시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지금 확인할 것은 검색결과의 제목이 아니라 원문 안의 해당 부분입니다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보고서라면 전체 조사대상과 표 제목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분모를 함께 확인하고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법령이라면 시행일과 해당 조문을 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오늘 사용한 자료 중 하나만 이 순서로 확인해도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시연이 어려운 환경이면 배포자료의 원문 링크를 안내하고 수업을 마무리합니다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예상 질문과 답변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주에 발표하는 사람도 토요일에 발표자료를 내나요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현재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주차는 지정토론이 없는 워밍업이고 지정토론은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주차부터입니다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발표자료 제출은 본인이 지정토론을 맡은 주차에 적용됩니다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이번 안내만으로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발표자료 제출의무가 새로 생기지 않습니다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사형제를 기말 토론문 논제로 선택할 수 있나요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현행 기준은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이후 쟁점토론 논제 중 선택입니다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사형제와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주차 워밍업 논제는 현재 자유선택 범위에 포함되지 않습니다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추후 강사가 범위를 바꾸어 공지하면 그 공지를 따르면 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중간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점은 발표점수 아닌가요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현행 운영에서는 중간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40%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중간 토론문이고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기말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40%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지정토론 발표와 기말 토론문입니다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수시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20%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출석과 참여입니다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구판 강의계획서에 남은 평가 문구와 충돌하므로 정정안과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LMS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공지를 기준으로 안내합니다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발표한 논제를 다시 쓰면 중복 제출 아닌가요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답변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현행 기준은 본인 발표 논제 선택을 허용합니다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발표자료 한 장을 그대로 옮기는 것으로 끝내지 않고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수업에서 확인한 자료와 질문을 반영해 논증을 보완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확장해야 합니다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다음 장 연결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수업 종료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 시연을 했다면 별도 시연시간으로 기록한다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자료를 읽을 때의 범위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[P08] §2~5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표현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검증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운영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공통으로 인정하는 지점 조건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3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 워밍업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주부터 지정토론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토요일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23:59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발표자료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11/2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중간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·12/14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기말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해석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원본 강의계획서는 평가와 폐지된 과제 안내가 남아 정정 대상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추후 확정 공지가 있으면 그것을 우선 확인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[P08]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강의자료 제작 지침 개정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 및 강의계획서 정합성 확인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현행운영기준 정정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local:project_sources/16-guideline_v4_20260901-5-.md;project_sources/14-courseplan_reconciliation_20260901-2-1-.md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범위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첨부 현행문서 대조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2026-09-01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302" name="PlaceHolder 3"/>
          <p:cNvSpPr>
            <a:spLocks noGrp="1"/>
          </p:cNvSpPr>
          <p:nvPr>
            <p:ph type="sldNum" idx="4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1097280" y="2286000"/>
            <a:ext cx="10056600" cy="40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650" b="0" u="none" strike="noStrike" spc="201">
                <a:solidFill>
                  <a:srgbClr val="AFBBD9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범죄 </a:t>
            </a:r>
            <a:r>
              <a:rPr lang="en-US" sz="1650" b="0" u="none" strike="noStrike" spc="201">
                <a:solidFill>
                  <a:srgbClr val="AFBBD9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650" b="0" u="none" strike="noStrike" spc="201">
                <a:solidFill>
                  <a:srgbClr val="AFBBD9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공공안전세미나 Ⅱ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1"/>
          <p:cNvSpPr/>
          <p:nvPr/>
        </p:nvSpPr>
        <p:spPr>
          <a:xfrm>
            <a:off x="1097280" y="2788920"/>
            <a:ext cx="1005660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40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사형제는 폐지되어야 하는가</a:t>
            </a:r>
            <a:r>
              <a:rPr lang="en-US" sz="40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?</a:t>
            </a:r>
            <a:endParaRPr lang="en-US" sz="405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097280" y="3931920"/>
            <a:ext cx="1461240" cy="3492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097280" y="4206240"/>
            <a:ext cx="10056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C9D2E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워밍업</a:t>
            </a:r>
            <a:r>
              <a:rPr lang="en-US" sz="1400" b="0" u="none" strike="noStrike">
                <a:solidFill>
                  <a:srgbClr val="C9D2E6"/>
                </a:solidFill>
                <a:effectLst/>
                <a:uFillTx/>
                <a:latin typeface="Pretendard"/>
                <a:ea typeface="Pretendard"/>
                <a:cs typeface="Pretendard"/>
              </a:rPr>
              <a:t>(1) — 1</a:t>
            </a:r>
            <a:r>
              <a:rPr lang="zh-CN" sz="1400" b="0" u="none" strike="noStrike">
                <a:solidFill>
                  <a:srgbClr val="C9D2E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주차에 익힌 방법을 실제 논쟁에 적용해 봅니다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097280" y="5760720"/>
            <a:ext cx="1005660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8A97B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2026</a:t>
            </a:r>
            <a:r>
              <a:rPr lang="zh-CN" sz="1250" b="0" u="none" strike="noStrike">
                <a:solidFill>
                  <a:srgbClr val="8A97B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학년도 </a:t>
            </a:r>
            <a:r>
              <a:rPr lang="en-US" sz="1250" b="0" u="none" strike="noStrike">
                <a:solidFill>
                  <a:srgbClr val="8A97B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zh-CN" sz="1250" b="0" u="none" strike="noStrike">
                <a:solidFill>
                  <a:srgbClr val="8A97B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학기  </a:t>
            </a:r>
            <a:r>
              <a:rPr lang="en-US" sz="1250" b="0" u="none" strike="noStrike">
                <a:solidFill>
                  <a:srgbClr val="8A97B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 2</a:t>
            </a:r>
            <a:r>
              <a:rPr lang="zh-CN" sz="1250" b="0" u="none" strike="noStrike">
                <a:solidFill>
                  <a:srgbClr val="8A97B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주차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AE62A0DA-91A2-49DE-B3FE-5D653E7F4671}"/>
              </a:ext>
            </a:extLst>
          </p:cNvPr>
          <p:cNvSpPr>
            <a:spLocks noGrp="1"/>
          </p:cNvSpPr>
          <p:nvPr/>
        </p:nvSpPr>
        <p:spPr>
          <a:xfrm>
            <a:off x="731520" y="365760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도입 퀴즈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C526D59-22D2-447B-AB8C-6D0881F58722}"/>
              </a:ext>
            </a:extLst>
          </p:cNvPr>
          <p:cNvSpPr>
            <a:spLocks noGrp="1"/>
          </p:cNvSpPr>
          <p:nvPr/>
        </p:nvSpPr>
        <p:spPr>
          <a:xfrm>
            <a:off x="73152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 dirty="0" err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오늘</a:t>
            </a:r>
            <a:r>
              <a:rPr sz="27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700" b="1" dirty="0" err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시작하기</a:t>
            </a:r>
            <a:r>
              <a:rPr sz="27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700" b="1" dirty="0" err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전에</a:t>
            </a:r>
            <a:endParaRPr sz="2700" b="1" dirty="0">
              <a:solidFill>
                <a:srgbClr val="1E276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NEXT">
            <a:extLst>
              <a:ext uri="{FF2B5EF4-FFF2-40B4-BE49-F238E27FC236}">
                <a16:creationId xmlns:a16="http://schemas.microsoft.com/office/drawing/2014/main" id="{3FE4F5C9-8790-4674-90D5-711FAF19E753}"/>
              </a:ext>
            </a:extLst>
          </p:cNvPr>
          <p:cNvSpPr>
            <a:spLocks noGrp="1"/>
          </p:cNvSpPr>
          <p:nvPr/>
        </p:nvSpPr>
        <p:spPr>
          <a:xfrm>
            <a:off x="7616952" y="36576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sz="105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오늘 볼 것</a:t>
            </a:r>
          </a:p>
        </p:txBody>
      </p:sp>
      <p:sp>
        <p:nvSpPr>
          <p:cNvPr id="7" name="L">
            <a:extLst>
              <a:ext uri="{FF2B5EF4-FFF2-40B4-BE49-F238E27FC236}">
                <a16:creationId xmlns:a16="http://schemas.microsoft.com/office/drawing/2014/main" id="{57998801-B872-4898-9383-0D13BD7CCAB7}"/>
              </a:ext>
            </a:extLst>
          </p:cNvPr>
          <p:cNvSpPr>
            <a:spLocks noGrp="1"/>
          </p:cNvSpPr>
          <p:nvPr/>
        </p:nvSpPr>
        <p:spPr>
          <a:xfrm>
            <a:off x="731520" y="1735455"/>
            <a:ext cx="10698480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">
            <a:extLst>
              <a:ext uri="{FF2B5EF4-FFF2-40B4-BE49-F238E27FC236}">
                <a16:creationId xmlns:a16="http://schemas.microsoft.com/office/drawing/2014/main" id="{46A0E441-33E3-4565-9597-D8890C038DE5}"/>
              </a:ext>
            </a:extLst>
          </p:cNvPr>
          <p:cNvSpPr>
            <a:spLocks noGrp="1"/>
          </p:cNvSpPr>
          <p:nvPr/>
        </p:nvSpPr>
        <p:spPr>
          <a:xfrm>
            <a:off x="731520" y="5530215"/>
            <a:ext cx="10698480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0" name="QZ300">
            <a:extLst>
              <a:ext uri="{FF2B5EF4-FFF2-40B4-BE49-F238E27FC236}">
                <a16:creationId xmlns:a16="http://schemas.microsoft.com/office/drawing/2014/main" id="{5E2F50B8-5A14-48EE-8F7C-13AFBF1FEB1F}"/>
              </a:ext>
            </a:extLst>
          </p:cNvPr>
          <p:cNvSpPr>
            <a:spLocks noGrp="1"/>
          </p:cNvSpPr>
          <p:nvPr/>
        </p:nvSpPr>
        <p:spPr>
          <a:xfrm>
            <a:off x="731520" y="2009775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500" b="1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Q1</a:t>
            </a:r>
          </a:p>
        </p:txBody>
      </p:sp>
      <p:sp>
        <p:nvSpPr>
          <p:cNvPr id="301" name="QZ301">
            <a:extLst>
              <a:ext uri="{FF2B5EF4-FFF2-40B4-BE49-F238E27FC236}">
                <a16:creationId xmlns:a16="http://schemas.microsoft.com/office/drawing/2014/main" id="{3F9FEBCE-3AC8-41D2-A673-145D68401A37}"/>
              </a:ext>
            </a:extLst>
          </p:cNvPr>
          <p:cNvSpPr>
            <a:spLocks noGrp="1"/>
          </p:cNvSpPr>
          <p:nvPr/>
        </p:nvSpPr>
        <p:spPr>
          <a:xfrm>
            <a:off x="1417320" y="2009775"/>
            <a:ext cx="100126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6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2025년에 사형 집행이 확인되지 않은 국가는?</a:t>
            </a:r>
          </a:p>
        </p:txBody>
      </p:sp>
      <p:sp>
        <p:nvSpPr>
          <p:cNvPr id="310" name="QZ310">
            <a:extLst>
              <a:ext uri="{FF2B5EF4-FFF2-40B4-BE49-F238E27FC236}">
                <a16:creationId xmlns:a16="http://schemas.microsoft.com/office/drawing/2014/main" id="{0BE8852E-E8C5-4065-98C0-39A94E02CFA5}"/>
              </a:ext>
            </a:extLst>
          </p:cNvPr>
          <p:cNvSpPr>
            <a:spLocks noGrp="1"/>
          </p:cNvSpPr>
          <p:nvPr/>
        </p:nvSpPr>
        <p:spPr>
          <a:xfrm>
            <a:off x="1417320" y="2558415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350" b="1">
                <a:solidFill>
                  <a:srgbClr val="5A6699"/>
                </a:solidFill>
                <a:latin typeface="Pretendard"/>
                <a:ea typeface="Pretendard"/>
                <a:cs typeface="Pretendard"/>
              </a:rPr>
              <a:t>①  </a:t>
            </a:r>
            <a:r>
              <a:rPr sz="13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이란</a:t>
            </a:r>
          </a:p>
        </p:txBody>
      </p:sp>
      <p:sp>
        <p:nvSpPr>
          <p:cNvPr id="311" name="QZ311">
            <a:extLst>
              <a:ext uri="{FF2B5EF4-FFF2-40B4-BE49-F238E27FC236}">
                <a16:creationId xmlns:a16="http://schemas.microsoft.com/office/drawing/2014/main" id="{2DAE3CEB-A01A-432B-A779-6EA49BC4B8F7}"/>
              </a:ext>
            </a:extLst>
          </p:cNvPr>
          <p:cNvSpPr>
            <a:spLocks noGrp="1"/>
          </p:cNvSpPr>
          <p:nvPr/>
        </p:nvSpPr>
        <p:spPr>
          <a:xfrm>
            <a:off x="4800600" y="2558415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350" b="1">
                <a:solidFill>
                  <a:srgbClr val="5A6699"/>
                </a:solidFill>
                <a:latin typeface="Pretendard"/>
                <a:ea typeface="Pretendard"/>
                <a:cs typeface="Pretendard"/>
              </a:rPr>
              <a:t>②  </a:t>
            </a:r>
            <a:r>
              <a:rPr sz="13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미국</a:t>
            </a:r>
          </a:p>
        </p:txBody>
      </p:sp>
      <p:sp>
        <p:nvSpPr>
          <p:cNvPr id="312" name="QZ312">
            <a:extLst>
              <a:ext uri="{FF2B5EF4-FFF2-40B4-BE49-F238E27FC236}">
                <a16:creationId xmlns:a16="http://schemas.microsoft.com/office/drawing/2014/main" id="{6817ACF9-00F7-48D4-85AB-94557AFFEBF0}"/>
              </a:ext>
            </a:extLst>
          </p:cNvPr>
          <p:cNvSpPr>
            <a:spLocks noGrp="1"/>
          </p:cNvSpPr>
          <p:nvPr/>
        </p:nvSpPr>
        <p:spPr>
          <a:xfrm>
            <a:off x="8183880" y="2558415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350" b="1">
                <a:solidFill>
                  <a:srgbClr val="5A6699"/>
                </a:solidFill>
                <a:latin typeface="Pretendard"/>
                <a:ea typeface="Pretendard"/>
                <a:cs typeface="Pretendard"/>
              </a:rPr>
              <a:t>③  </a:t>
            </a:r>
            <a:r>
              <a:rPr sz="13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대만</a:t>
            </a:r>
          </a:p>
        </p:txBody>
      </p:sp>
      <p:sp>
        <p:nvSpPr>
          <p:cNvPr id="313" name="QZ313">
            <a:extLst>
              <a:ext uri="{FF2B5EF4-FFF2-40B4-BE49-F238E27FC236}">
                <a16:creationId xmlns:a16="http://schemas.microsoft.com/office/drawing/2014/main" id="{F4F1204A-BB0C-4DF9-87CC-FC3014FF75D1}"/>
              </a:ext>
            </a:extLst>
          </p:cNvPr>
          <p:cNvSpPr>
            <a:spLocks noGrp="1"/>
          </p:cNvSpPr>
          <p:nvPr/>
        </p:nvSpPr>
        <p:spPr>
          <a:xfrm>
            <a:off x="1417320" y="3033903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350" b="1">
                <a:solidFill>
                  <a:srgbClr val="5A6699"/>
                </a:solidFill>
                <a:latin typeface="Pretendard"/>
                <a:ea typeface="Pretendard"/>
                <a:cs typeface="Pretendard"/>
              </a:rPr>
              <a:t>④  </a:t>
            </a:r>
            <a:r>
              <a:rPr sz="13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싱가포르</a:t>
            </a:r>
          </a:p>
        </p:txBody>
      </p:sp>
      <p:sp>
        <p:nvSpPr>
          <p:cNvPr id="314" name="QZ314">
            <a:extLst>
              <a:ext uri="{FF2B5EF4-FFF2-40B4-BE49-F238E27FC236}">
                <a16:creationId xmlns:a16="http://schemas.microsoft.com/office/drawing/2014/main" id="{25F94B7D-77D8-4C42-845F-B4E38647B62A}"/>
              </a:ext>
            </a:extLst>
          </p:cNvPr>
          <p:cNvSpPr>
            <a:spLocks noGrp="1"/>
          </p:cNvSpPr>
          <p:nvPr/>
        </p:nvSpPr>
        <p:spPr>
          <a:xfrm>
            <a:off x="4800600" y="3033903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350" b="1">
                <a:solidFill>
                  <a:srgbClr val="5A6699"/>
                </a:solidFill>
                <a:latin typeface="Pretendard"/>
                <a:ea typeface="Pretendard"/>
                <a:cs typeface="Pretendard"/>
              </a:rPr>
              <a:t>⑤  </a:t>
            </a:r>
            <a:r>
              <a:rPr sz="13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일본</a:t>
            </a:r>
          </a:p>
        </p:txBody>
      </p:sp>
      <p:sp>
        <p:nvSpPr>
          <p:cNvPr id="315" name="QZ315">
            <a:extLst>
              <a:ext uri="{FF2B5EF4-FFF2-40B4-BE49-F238E27FC236}">
                <a16:creationId xmlns:a16="http://schemas.microsoft.com/office/drawing/2014/main" id="{207FD2AC-CFA1-4BB3-A25E-5FC7D667DEA5}"/>
              </a:ext>
            </a:extLst>
          </p:cNvPr>
          <p:cNvSpPr>
            <a:spLocks noGrp="1"/>
          </p:cNvSpPr>
          <p:nvPr/>
        </p:nvSpPr>
        <p:spPr>
          <a:xfrm>
            <a:off x="8183880" y="3033903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350" b="1">
                <a:solidFill>
                  <a:srgbClr val="5A6699"/>
                </a:solidFill>
                <a:latin typeface="Pretendard"/>
                <a:ea typeface="Pretendard"/>
                <a:cs typeface="Pretendard"/>
              </a:rPr>
              <a:t>⑥  </a:t>
            </a:r>
            <a:r>
              <a:rPr sz="13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파키스탄</a:t>
            </a:r>
          </a:p>
        </p:txBody>
      </p:sp>
      <p:sp>
        <p:nvSpPr>
          <p:cNvPr id="320" name="QL320">
            <a:extLst>
              <a:ext uri="{FF2B5EF4-FFF2-40B4-BE49-F238E27FC236}">
                <a16:creationId xmlns:a16="http://schemas.microsoft.com/office/drawing/2014/main" id="{3444B624-B20C-4117-A9F4-5ED00FFA8704}"/>
              </a:ext>
            </a:extLst>
          </p:cNvPr>
          <p:cNvSpPr>
            <a:spLocks noGrp="1"/>
          </p:cNvSpPr>
          <p:nvPr/>
        </p:nvSpPr>
        <p:spPr>
          <a:xfrm>
            <a:off x="731520" y="3655695"/>
            <a:ext cx="10698480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0" name="QZ330">
            <a:extLst>
              <a:ext uri="{FF2B5EF4-FFF2-40B4-BE49-F238E27FC236}">
                <a16:creationId xmlns:a16="http://schemas.microsoft.com/office/drawing/2014/main" id="{714CFF2A-A1EF-459D-B2B7-9BC44C269AEE}"/>
              </a:ext>
            </a:extLst>
          </p:cNvPr>
          <p:cNvSpPr>
            <a:spLocks noGrp="1"/>
          </p:cNvSpPr>
          <p:nvPr/>
        </p:nvSpPr>
        <p:spPr>
          <a:xfrm>
            <a:off x="731520" y="3902583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500" b="1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Q2</a:t>
            </a:r>
          </a:p>
        </p:txBody>
      </p:sp>
      <p:sp>
        <p:nvSpPr>
          <p:cNvPr id="331" name="QZ331">
            <a:extLst>
              <a:ext uri="{FF2B5EF4-FFF2-40B4-BE49-F238E27FC236}">
                <a16:creationId xmlns:a16="http://schemas.microsoft.com/office/drawing/2014/main" id="{76336303-8AF6-4C4E-856E-5C7D2B537D3E}"/>
              </a:ext>
            </a:extLst>
          </p:cNvPr>
          <p:cNvSpPr>
            <a:spLocks noGrp="1"/>
          </p:cNvSpPr>
          <p:nvPr/>
        </p:nvSpPr>
        <p:spPr>
          <a:xfrm>
            <a:off x="1417320" y="3902583"/>
            <a:ext cx="100126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6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2025년 집행에서 확인된 방법이 아닌 것은?</a:t>
            </a:r>
          </a:p>
        </p:txBody>
      </p:sp>
      <p:sp>
        <p:nvSpPr>
          <p:cNvPr id="340" name="QZ340">
            <a:extLst>
              <a:ext uri="{FF2B5EF4-FFF2-40B4-BE49-F238E27FC236}">
                <a16:creationId xmlns:a16="http://schemas.microsoft.com/office/drawing/2014/main" id="{735BB9D0-DE5C-4EB5-A8A8-7D1C12FA48AE}"/>
              </a:ext>
            </a:extLst>
          </p:cNvPr>
          <p:cNvSpPr>
            <a:spLocks noGrp="1"/>
          </p:cNvSpPr>
          <p:nvPr/>
        </p:nvSpPr>
        <p:spPr>
          <a:xfrm>
            <a:off x="1417320" y="4451223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350" b="1">
                <a:solidFill>
                  <a:srgbClr val="5A6699"/>
                </a:solidFill>
                <a:latin typeface="Pretendard"/>
                <a:ea typeface="Pretendard"/>
                <a:cs typeface="Pretendard"/>
              </a:rPr>
              <a:t>①  </a:t>
            </a:r>
            <a:r>
              <a:rPr sz="13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교수형</a:t>
            </a:r>
          </a:p>
        </p:txBody>
      </p:sp>
      <p:sp>
        <p:nvSpPr>
          <p:cNvPr id="341" name="QZ341">
            <a:extLst>
              <a:ext uri="{FF2B5EF4-FFF2-40B4-BE49-F238E27FC236}">
                <a16:creationId xmlns:a16="http://schemas.microsoft.com/office/drawing/2014/main" id="{CC50D3C0-9500-42C3-B560-03B65B691AAC}"/>
              </a:ext>
            </a:extLst>
          </p:cNvPr>
          <p:cNvSpPr>
            <a:spLocks noGrp="1"/>
          </p:cNvSpPr>
          <p:nvPr/>
        </p:nvSpPr>
        <p:spPr>
          <a:xfrm>
            <a:off x="4800600" y="4451223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350" b="1">
                <a:solidFill>
                  <a:srgbClr val="5A6699"/>
                </a:solidFill>
                <a:latin typeface="Pretendard"/>
                <a:ea typeface="Pretendard"/>
                <a:cs typeface="Pretendard"/>
              </a:rPr>
              <a:t>②  </a:t>
            </a:r>
            <a:r>
              <a:rPr sz="13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참수형</a:t>
            </a:r>
          </a:p>
        </p:txBody>
      </p:sp>
      <p:sp>
        <p:nvSpPr>
          <p:cNvPr id="342" name="QZ342">
            <a:extLst>
              <a:ext uri="{FF2B5EF4-FFF2-40B4-BE49-F238E27FC236}">
                <a16:creationId xmlns:a16="http://schemas.microsoft.com/office/drawing/2014/main" id="{2300B829-83BE-46FE-A718-78EECA05EE69}"/>
              </a:ext>
            </a:extLst>
          </p:cNvPr>
          <p:cNvSpPr>
            <a:spLocks noGrp="1"/>
          </p:cNvSpPr>
          <p:nvPr/>
        </p:nvSpPr>
        <p:spPr>
          <a:xfrm>
            <a:off x="8183880" y="4451223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350" b="1">
                <a:solidFill>
                  <a:srgbClr val="5A6699"/>
                </a:solidFill>
                <a:latin typeface="Pretendard"/>
                <a:ea typeface="Pretendard"/>
                <a:cs typeface="Pretendard"/>
              </a:rPr>
              <a:t>③  </a:t>
            </a:r>
            <a:r>
              <a:rPr sz="13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총살</a:t>
            </a:r>
          </a:p>
        </p:txBody>
      </p:sp>
      <p:sp>
        <p:nvSpPr>
          <p:cNvPr id="343" name="QZ343">
            <a:extLst>
              <a:ext uri="{FF2B5EF4-FFF2-40B4-BE49-F238E27FC236}">
                <a16:creationId xmlns:a16="http://schemas.microsoft.com/office/drawing/2014/main" id="{93C4F8C8-012D-4AA3-A0DB-A6B6E169E114}"/>
              </a:ext>
            </a:extLst>
          </p:cNvPr>
          <p:cNvSpPr>
            <a:spLocks noGrp="1"/>
          </p:cNvSpPr>
          <p:nvPr/>
        </p:nvSpPr>
        <p:spPr>
          <a:xfrm>
            <a:off x="1417320" y="4926711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350" b="1">
                <a:solidFill>
                  <a:srgbClr val="5A6699"/>
                </a:solidFill>
                <a:latin typeface="Pretendard"/>
                <a:ea typeface="Pretendard"/>
                <a:cs typeface="Pretendard"/>
              </a:rPr>
              <a:t>④  </a:t>
            </a:r>
            <a:r>
              <a:rPr sz="13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약물주사</a:t>
            </a:r>
          </a:p>
        </p:txBody>
      </p:sp>
      <p:sp>
        <p:nvSpPr>
          <p:cNvPr id="344" name="QZ344">
            <a:extLst>
              <a:ext uri="{FF2B5EF4-FFF2-40B4-BE49-F238E27FC236}">
                <a16:creationId xmlns:a16="http://schemas.microsoft.com/office/drawing/2014/main" id="{4273F370-8824-49DE-B998-BBB6C080F95E}"/>
              </a:ext>
            </a:extLst>
          </p:cNvPr>
          <p:cNvSpPr>
            <a:spLocks noGrp="1"/>
          </p:cNvSpPr>
          <p:nvPr/>
        </p:nvSpPr>
        <p:spPr>
          <a:xfrm>
            <a:off x="4800600" y="4926711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350" b="1">
                <a:solidFill>
                  <a:srgbClr val="5A6699"/>
                </a:solidFill>
                <a:latin typeface="Pretendard"/>
                <a:ea typeface="Pretendard"/>
                <a:cs typeface="Pretendard"/>
              </a:rPr>
              <a:t>⑤  </a:t>
            </a:r>
            <a:r>
              <a:rPr sz="13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질소가스</a:t>
            </a:r>
          </a:p>
        </p:txBody>
      </p:sp>
      <p:sp>
        <p:nvSpPr>
          <p:cNvPr id="345" name="QZ345">
            <a:extLst>
              <a:ext uri="{FF2B5EF4-FFF2-40B4-BE49-F238E27FC236}">
                <a16:creationId xmlns:a16="http://schemas.microsoft.com/office/drawing/2014/main" id="{448AFB36-6F71-4A87-A6D5-CCD3B228A508}"/>
              </a:ext>
            </a:extLst>
          </p:cNvPr>
          <p:cNvSpPr>
            <a:spLocks noGrp="1"/>
          </p:cNvSpPr>
          <p:nvPr/>
        </p:nvSpPr>
        <p:spPr>
          <a:xfrm>
            <a:off x="8183880" y="4926711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350" b="1">
                <a:solidFill>
                  <a:srgbClr val="5A6699"/>
                </a:solidFill>
                <a:latin typeface="Pretendard"/>
                <a:ea typeface="Pretendard"/>
                <a:cs typeface="Pretendard"/>
              </a:rPr>
              <a:t>⑥  </a:t>
            </a:r>
            <a:r>
              <a:rPr sz="13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전기의자</a:t>
            </a:r>
          </a:p>
        </p:txBody>
      </p:sp>
    </p:spTree>
    <p:extLst>
      <p:ext uri="{BB962C8B-B14F-4D97-AF65-F5344CB8AC3E}">
        <p14:creationId xmlns:p14="http://schemas.microsoft.com/office/powerpoint/2010/main" val="1283705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WEEK 2 · </a:t>
            </a: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워밍업</a:t>
            </a:r>
            <a:r>
              <a:rPr lang="en-US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(1)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오늘 볼 것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2"/>
          <p:cNvSpPr/>
          <p:nvPr/>
        </p:nvSpPr>
        <p:spPr>
          <a:xfrm>
            <a:off x="731520" y="1508760"/>
            <a:ext cx="1069848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3"/>
          <p:cNvSpPr/>
          <p:nvPr/>
        </p:nvSpPr>
        <p:spPr>
          <a:xfrm>
            <a:off x="731520" y="1679400"/>
            <a:ext cx="310716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사형은 어떤 형벌이며 왜 두는가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4"/>
          <p:cNvSpPr/>
          <p:nvPr/>
        </p:nvSpPr>
        <p:spPr>
          <a:xfrm>
            <a:off x="4114800" y="1661040"/>
            <a:ext cx="731340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형벌체계에서의 위치 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형벌의 목적 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칸트와 베카리아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5"/>
          <p:cNvSpPr/>
          <p:nvPr/>
        </p:nvSpPr>
        <p:spPr>
          <a:xfrm>
            <a:off x="731520" y="225216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6"/>
          <p:cNvSpPr/>
          <p:nvPr/>
        </p:nvSpPr>
        <p:spPr>
          <a:xfrm>
            <a:off x="731520" y="2432160"/>
            <a:ext cx="310716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규정과 절차의 역사적 변천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7"/>
          <p:cNvSpPr/>
          <p:nvPr/>
        </p:nvSpPr>
        <p:spPr>
          <a:xfrm>
            <a:off x="4114800" y="2414160"/>
            <a:ext cx="731340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고조선부터 </a:t>
            </a:r>
            <a:r>
              <a:rPr lang="en-US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1953</a:t>
            </a:r>
            <a:r>
              <a:rPr lang="zh-CN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형법까지</a:t>
            </a:r>
            <a:r>
              <a:rPr lang="en-US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그리고 조선의 삼복제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8"/>
          <p:cNvSpPr/>
          <p:nvPr/>
        </p:nvSpPr>
        <p:spPr>
          <a:xfrm>
            <a:off x="731520" y="299592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9"/>
          <p:cNvSpPr/>
          <p:nvPr/>
        </p:nvSpPr>
        <p:spPr>
          <a:xfrm>
            <a:off x="731520" y="3175920"/>
            <a:ext cx="310716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현행법과 집행 현실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4114800" y="3157560"/>
            <a:ext cx="731340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조문에 있는 사형과 집행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Shape 11"/>
          <p:cNvSpPr/>
          <p:nvPr/>
        </p:nvSpPr>
        <p:spPr>
          <a:xfrm>
            <a:off x="731520" y="373968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731520" y="3919680"/>
            <a:ext cx="310716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국제 비교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4114800" y="3901320"/>
            <a:ext cx="731340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국제적 현황과 사례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Shape 14"/>
          <p:cNvSpPr/>
          <p:nvPr/>
        </p:nvSpPr>
        <p:spPr>
          <a:xfrm>
            <a:off x="731520" y="597096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731520" y="4663440"/>
            <a:ext cx="310716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헌법재판과 대체형벌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4114800" y="4645080"/>
            <a:ext cx="731340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국내 결정과 공개변론 </a:t>
            </a:r>
            <a:r>
              <a:rPr lang="en-US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대만의 제한적 존치 </a:t>
            </a:r>
            <a:r>
              <a:rPr lang="en-US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대체형벌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5"/>
          <p:cNvSpPr/>
          <p:nvPr/>
        </p:nvSpPr>
        <p:spPr>
          <a:xfrm>
            <a:off x="731520" y="522720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731520" y="5403960"/>
            <a:ext cx="310716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자료읽기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4114800" y="5385960"/>
            <a:ext cx="731340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비용</a:t>
            </a:r>
            <a:r>
              <a:rPr lang="en-US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억제효과</a:t>
            </a:r>
            <a:r>
              <a:rPr lang="en-US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오판</a:t>
            </a:r>
            <a:r>
              <a:rPr lang="en-US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여론</a:t>
            </a:r>
            <a:r>
              <a:rPr lang="en-US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4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유족 자료를 읽고 네 쟁점으로 정리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Shape 5"/>
          <p:cNvSpPr/>
          <p:nvPr/>
        </p:nvSpPr>
        <p:spPr>
          <a:xfrm>
            <a:off x="731520" y="597096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731520" y="448308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칸트와 베카리아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731520" y="329040"/>
            <a:ext cx="3682088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altLang="en-US" sz="1300" b="1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논제의 출발점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731520" y="658440"/>
            <a:ext cx="8417977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칸트와 </a:t>
            </a:r>
            <a:r>
              <a:rPr lang="ko-KR" sz="2750" b="1" u="none" strike="noStrike" dirty="0" err="1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베카리아</a:t>
            </a:r>
            <a:r>
              <a:rPr lang="ko-KR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 — 두 출발점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8348472" y="438840"/>
            <a:ext cx="3108960" cy="31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 defTabSz="914400">
              <a:lnSpc>
                <a:spcPct val="118000"/>
              </a:lnSpc>
            </a:pPr>
            <a:r>
              <a:rPr lang="ko-KR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사형은 어떤 형벌인가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96" name="Rounded Rectangle 6"/>
          <p:cNvSpPr/>
          <p:nvPr/>
        </p:nvSpPr>
        <p:spPr>
          <a:xfrm>
            <a:off x="906923" y="2172604"/>
            <a:ext cx="5041464" cy="3236976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97" name="Rounded Rectangle 7"/>
          <p:cNvSpPr/>
          <p:nvPr/>
        </p:nvSpPr>
        <p:spPr>
          <a:xfrm>
            <a:off x="6256724" y="2172604"/>
            <a:ext cx="5041464" cy="3236976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98" name="TextBox 8"/>
          <p:cNvSpPr/>
          <p:nvPr/>
        </p:nvSpPr>
        <p:spPr>
          <a:xfrm>
            <a:off x="1082327" y="2355484"/>
            <a:ext cx="4690657" cy="31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8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칸트 — 응보와 책임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99" name="TextBox 9"/>
          <p:cNvSpPr/>
          <p:nvPr/>
        </p:nvSpPr>
        <p:spPr>
          <a:xfrm>
            <a:off x="6432127" y="2355484"/>
            <a:ext cx="4690657" cy="31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8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베카리아 — 필요성과 예방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2" name="Rounded Rectangle 22"/>
          <p:cNvSpPr/>
          <p:nvPr/>
        </p:nvSpPr>
        <p:spPr>
          <a:xfrm>
            <a:off x="1163472" y="5664922"/>
            <a:ext cx="9865055" cy="475488"/>
          </a:xfrm>
          <a:prstGeom prst="rect">
            <a:avLst/>
          </a:prstGeom>
          <a:solidFill>
            <a:srgbClr val="1E2761"/>
          </a:solidFill>
          <a:ln w="8890">
            <a:solidFill>
              <a:srgbClr val="1E276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41040" rIns="128160" bIns="3672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altLang="en-US" sz="1300" b="1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형벌의 목적은 </a:t>
            </a:r>
            <a:r>
              <a:rPr lang="ko-KR" sz="1300" b="1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범죄에 상응하는 처벌인가</a:t>
            </a:r>
            <a:r>
              <a:rPr lang="en-US" sz="1300" b="1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300" b="1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사회보호에 필요한 수단인가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BAND">
            <a:extLst>
              <a:ext uri="{FF2B5EF4-FFF2-40B4-BE49-F238E27FC236}">
                <a16:creationId xmlns:a16="http://schemas.microsoft.com/office/drawing/2014/main" id="{B6AE05A6-6F07-A2F0-4FF1-7E200023EBE7}"/>
              </a:ext>
            </a:extLst>
          </p:cNvPr>
          <p:cNvSpPr/>
          <p:nvPr/>
        </p:nvSpPr>
        <p:spPr>
          <a:xfrm>
            <a:off x="731520" y="1417320"/>
            <a:ext cx="10696680" cy="5468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E763F2D-9877-5D2E-3C8C-AABCD7E11177}"/>
              </a:ext>
            </a:extLst>
          </p:cNvPr>
          <p:cNvSpPr/>
          <p:nvPr/>
        </p:nvSpPr>
        <p:spPr>
          <a:xfrm>
            <a:off x="1005840" y="1480820"/>
            <a:ext cx="10148040" cy="46809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사형을 둘러싼 고전적 질문 </a:t>
            </a:r>
            <a:r>
              <a:rPr lang="ko-KR" altLang="en-US" sz="1300" b="1" dirty="0" err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ㅡ</a:t>
            </a:r>
            <a:r>
              <a:rPr lang="ko-KR" altLang="en-US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 형벌의 목적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00" name="RL0L"/>
          <p:cNvSpPr/>
          <p:nvPr/>
        </p:nvSpPr>
        <p:spPr>
          <a:xfrm>
            <a:off x="1124712" y="2897774"/>
            <a:ext cx="1325880" cy="27432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먼저 묻는 것</a:t>
            </a:r>
          </a:p>
        </p:txBody>
      </p:sp>
      <p:sp>
        <p:nvSpPr>
          <p:cNvPr id="201" name="RT0L"/>
          <p:cNvSpPr/>
          <p:nvPr/>
        </p:nvSpPr>
        <p:spPr>
          <a:xfrm>
            <a:off x="2523744" y="2815478"/>
            <a:ext cx="3255264" cy="47665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범죄자</a:t>
            </a:r>
            <a:r>
              <a:rPr lang="ko-KR" altLang="en-US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의</a:t>
            </a:r>
            <a:r>
              <a:rPr lang="ko-KR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 행위와 책임에 상응하는 처벌은 무엇인가</a:t>
            </a:r>
          </a:p>
        </p:txBody>
      </p:sp>
      <p:sp>
        <p:nvSpPr>
          <p:cNvPr id="202" name="RL0R"/>
          <p:cNvSpPr/>
          <p:nvPr/>
        </p:nvSpPr>
        <p:spPr>
          <a:xfrm>
            <a:off x="6473952" y="2897774"/>
            <a:ext cx="1325880" cy="27432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먼저 묻는 것</a:t>
            </a:r>
          </a:p>
        </p:txBody>
      </p:sp>
      <p:sp>
        <p:nvSpPr>
          <p:cNvPr id="203" name="RT0R"/>
          <p:cNvSpPr/>
          <p:nvPr/>
        </p:nvSpPr>
        <p:spPr>
          <a:xfrm>
            <a:off x="7872984" y="2815478"/>
            <a:ext cx="3255264" cy="459994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사회를 보호하기 위해 이 형벌이 실제로 필요한가</a:t>
            </a:r>
          </a:p>
        </p:txBody>
      </p:sp>
      <p:sp>
        <p:nvSpPr>
          <p:cNvPr id="204" name="RL1L"/>
          <p:cNvSpPr/>
          <p:nvPr/>
        </p:nvSpPr>
        <p:spPr>
          <a:xfrm>
            <a:off x="1124712" y="3519566"/>
            <a:ext cx="1325880" cy="27432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형벌의 근거</a:t>
            </a:r>
          </a:p>
        </p:txBody>
      </p:sp>
      <p:sp>
        <p:nvSpPr>
          <p:cNvPr id="205" name="RT1L"/>
          <p:cNvSpPr/>
          <p:nvPr/>
        </p:nvSpPr>
        <p:spPr>
          <a:xfrm>
            <a:off x="2523744" y="3437270"/>
            <a:ext cx="3255264" cy="47665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형벌은 다른 사람을 억제하기 위한 수단이기에 앞서, </a:t>
            </a:r>
            <a:r>
              <a:rPr lang="ko-KR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범죄자의 죄책에 대한 정당한 응답이어야 한다</a:t>
            </a:r>
          </a:p>
        </p:txBody>
      </p:sp>
      <p:sp>
        <p:nvSpPr>
          <p:cNvPr id="206" name="RL1R"/>
          <p:cNvSpPr/>
          <p:nvPr/>
        </p:nvSpPr>
        <p:spPr>
          <a:xfrm>
            <a:off x="6473952" y="3519566"/>
            <a:ext cx="1325880" cy="27432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형벌의 근거</a:t>
            </a:r>
          </a:p>
        </p:txBody>
      </p:sp>
      <p:sp>
        <p:nvSpPr>
          <p:cNvPr id="207" name="RT1R"/>
          <p:cNvSpPr/>
          <p:nvPr/>
        </p:nvSpPr>
        <p:spPr>
          <a:xfrm>
            <a:off x="7872984" y="3437270"/>
            <a:ext cx="3255264" cy="481076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국가의 처벌권은 공공의 안전에 필요한 범위에서만 정당화된다</a:t>
            </a:r>
          </a:p>
        </p:txBody>
      </p:sp>
      <p:sp>
        <p:nvSpPr>
          <p:cNvPr id="208" name="RL2L"/>
          <p:cNvSpPr/>
          <p:nvPr/>
        </p:nvSpPr>
        <p:spPr>
          <a:xfrm>
            <a:off x="1124712" y="4141358"/>
            <a:ext cx="1325880" cy="27432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사형에 대한 판단</a:t>
            </a:r>
          </a:p>
        </p:txBody>
      </p:sp>
      <p:sp>
        <p:nvSpPr>
          <p:cNvPr id="209" name="RT2L"/>
          <p:cNvSpPr/>
          <p:nvPr/>
        </p:nvSpPr>
        <p:spPr>
          <a:xfrm>
            <a:off x="2523744" y="4059062"/>
            <a:ext cx="3255264" cy="47665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살인</a:t>
            </a:r>
            <a:r>
              <a:rPr lang="ko-KR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은 타인의 생명을 박탈한 범죄이므로, 그 </a:t>
            </a:r>
            <a:r>
              <a:rPr lang="ko-KR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책임에 상응하는 형벌은 사형이라고 보았다</a:t>
            </a:r>
          </a:p>
        </p:txBody>
      </p:sp>
      <p:sp>
        <p:nvSpPr>
          <p:cNvPr id="210" name="RL2R"/>
          <p:cNvSpPr/>
          <p:nvPr/>
        </p:nvSpPr>
        <p:spPr>
          <a:xfrm>
            <a:off x="6473952" y="4141358"/>
            <a:ext cx="1325880" cy="27432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사형에 대한 판단</a:t>
            </a:r>
          </a:p>
        </p:txBody>
      </p:sp>
      <p:sp>
        <p:nvSpPr>
          <p:cNvPr id="211" name="RT2R"/>
          <p:cNvSpPr/>
          <p:nvPr/>
        </p:nvSpPr>
        <p:spPr>
          <a:xfrm>
            <a:off x="7872984" y="4059062"/>
            <a:ext cx="3255264" cy="481076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사형이 다른 형벌보다 필요하고 유용한지를 묻고, 사형의 필요성을 부정하는 쪽으로 나아갔다</a:t>
            </a:r>
          </a:p>
        </p:txBody>
      </p:sp>
      <p:sp>
        <p:nvSpPr>
          <p:cNvPr id="212" name="RL3L"/>
          <p:cNvSpPr/>
          <p:nvPr/>
        </p:nvSpPr>
        <p:spPr>
          <a:xfrm>
            <a:off x="1124712" y="4763150"/>
            <a:ext cx="1325880" cy="27432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altLang="en-US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핵심 논의</a:t>
            </a:r>
            <a:endParaRPr lang="ko-KR" sz="1200" b="1" u="none" strike="noStrike" dirty="0">
              <a:solidFill>
                <a:srgbClr val="A8871C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13" name="RT3L"/>
          <p:cNvSpPr/>
          <p:nvPr/>
        </p:nvSpPr>
        <p:spPr>
          <a:xfrm>
            <a:off x="2523744" y="4680854"/>
            <a:ext cx="3255264" cy="47665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사형이 유용하기 때문이 아니라, 책임에 상응하는 처벌이라는 이유가 중심이다</a:t>
            </a:r>
          </a:p>
        </p:txBody>
      </p:sp>
      <p:sp>
        <p:nvSpPr>
          <p:cNvPr id="214" name="RL3R"/>
          <p:cNvSpPr/>
          <p:nvPr/>
        </p:nvSpPr>
        <p:spPr>
          <a:xfrm>
            <a:off x="6473952" y="4763150"/>
            <a:ext cx="1325880" cy="27432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altLang="en-US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핵심 논의</a:t>
            </a:r>
            <a:endParaRPr lang="ko-KR" sz="1200" b="1" u="none" strike="noStrike" dirty="0">
              <a:solidFill>
                <a:srgbClr val="A8871C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15" name="RT3R"/>
          <p:cNvSpPr/>
          <p:nvPr/>
        </p:nvSpPr>
        <p:spPr>
          <a:xfrm>
            <a:off x="7872984" y="4680854"/>
            <a:ext cx="3255264" cy="47665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범죄예방에는 처벌의 가혹성보다 처벌의 확실성</a:t>
            </a:r>
            <a:r>
              <a:rPr lang="ko-KR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이 더 중요하다고 보았다</a:t>
            </a:r>
          </a:p>
        </p:txBody>
      </p:sp>
      <p:sp>
        <p:nvSpPr>
          <p:cNvPr id="300" name="NOTE"/>
          <p:cNvSpPr/>
          <p:nvPr/>
        </p:nvSpPr>
        <p:spPr>
          <a:xfrm>
            <a:off x="731520" y="6326124"/>
            <a:ext cx="10698480" cy="420624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오늘날의 존치·폐지 논거가 이 두 사람으로 환원되지는 않는다. 뒤에서 볼 비례심사와 대체형벌 논의가 어디에서 출발하는지 보기 위한 대비다.</a:t>
            </a:r>
          </a:p>
          <a:p>
            <a:pPr defTabSz="914400">
              <a:lnSpc>
                <a:spcPct val="118000"/>
              </a:lnSpc>
            </a:pPr>
            <a:r>
              <a:rPr lang="ko-KR" sz="1050" b="1" u="none" strike="noStrike" dirty="0">
                <a:solidFill>
                  <a:srgbClr val="6E7686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베카리아도 국가의 존립이 위협되는 극단적 상황에</a:t>
            </a:r>
            <a:r>
              <a:rPr lang="ko-KR" altLang="en-US" sz="1050" b="1" u="none" strike="noStrike" dirty="0">
                <a:solidFill>
                  <a:srgbClr val="6E7686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서는 사형이 필요할 수 있다는</a:t>
            </a:r>
            <a:r>
              <a:rPr lang="ko-KR" sz="1050" b="1" u="none" strike="noStrike" dirty="0">
                <a:solidFill>
                  <a:srgbClr val="6E7686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 예외적 논의를 남겼다.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KICKER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논제의 대상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ITLE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사형은 어떤 형벌인가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NEXT"/>
          <p:cNvSpPr/>
          <p:nvPr/>
        </p:nvSpPr>
        <p:spPr>
          <a:xfrm>
            <a:off x="8348472" y="365760"/>
            <a:ext cx="31089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형벌의 목적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BAND"/>
          <p:cNvSpPr/>
          <p:nvPr/>
        </p:nvSpPr>
        <p:spPr>
          <a:xfrm>
            <a:off x="731520" y="1417320"/>
            <a:ext cx="10696680" cy="5468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BANDT"/>
          <p:cNvSpPr/>
          <p:nvPr/>
        </p:nvSpPr>
        <p:spPr>
          <a:xfrm>
            <a:off x="1005840" y="1417320"/>
            <a:ext cx="101480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형법 제</a:t>
            </a:r>
            <a:r>
              <a:rPr lang="en-US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41</a:t>
            </a:r>
            <a:r>
              <a:rPr lang="zh-CN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조는 아홉 가지 형을 정한다</a:t>
            </a:r>
            <a:r>
              <a:rPr lang="en-US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zh-CN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형법학에서는 이를 박탈</a:t>
            </a:r>
            <a:r>
              <a:rPr lang="en-US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제한하는 법익</a:t>
            </a:r>
            <a:r>
              <a:rPr lang="en-US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법이 보호하는 이익</a:t>
            </a:r>
            <a:r>
              <a:rPr lang="en-US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r>
              <a:rPr lang="zh-CN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에 따라 네 유형으로 분류한다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L"/>
          <p:cNvSpPr/>
          <p:nvPr/>
        </p:nvSpPr>
        <p:spPr>
          <a:xfrm>
            <a:off x="731520" y="22402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TICK"/>
          <p:cNvSpPr/>
          <p:nvPr/>
        </p:nvSpPr>
        <p:spPr>
          <a:xfrm>
            <a:off x="731520" y="2558880"/>
            <a:ext cx="89640" cy="41868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RL"/>
          <p:cNvSpPr/>
          <p:nvPr/>
        </p:nvSpPr>
        <p:spPr>
          <a:xfrm>
            <a:off x="1051560" y="2503800"/>
            <a:ext cx="2375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RK"/>
          <p:cNvSpPr/>
          <p:nvPr/>
        </p:nvSpPr>
        <p:spPr>
          <a:xfrm>
            <a:off x="3657600" y="2503800"/>
            <a:ext cx="3655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RM"/>
          <p:cNvSpPr/>
          <p:nvPr/>
        </p:nvSpPr>
        <p:spPr>
          <a:xfrm>
            <a:off x="7498080" y="2503800"/>
            <a:ext cx="39301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생명을 박탈한다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6" name="L"/>
          <p:cNvSpPr/>
          <p:nvPr/>
        </p:nvSpPr>
        <p:spPr>
          <a:xfrm>
            <a:off x="731520" y="32918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TICK"/>
          <p:cNvSpPr/>
          <p:nvPr/>
        </p:nvSpPr>
        <p:spPr>
          <a:xfrm>
            <a:off x="731520" y="3532680"/>
            <a:ext cx="89640" cy="418680"/>
          </a:xfrm>
          <a:prstGeom prst="rect">
            <a:avLst/>
          </a:prstGeom>
          <a:solidFill>
            <a:srgbClr val="5A66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RL"/>
          <p:cNvSpPr/>
          <p:nvPr/>
        </p:nvSpPr>
        <p:spPr>
          <a:xfrm>
            <a:off x="1051560" y="3477600"/>
            <a:ext cx="2375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자유형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RK"/>
          <p:cNvSpPr/>
          <p:nvPr/>
        </p:nvSpPr>
        <p:spPr>
          <a:xfrm>
            <a:off x="3657600" y="3477600"/>
            <a:ext cx="3655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징역 </a:t>
            </a:r>
            <a:r>
              <a:rPr lang="en-US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금고 </a:t>
            </a:r>
            <a:r>
              <a:rPr lang="en-US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구류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0" name="RM"/>
          <p:cNvSpPr/>
          <p:nvPr/>
        </p:nvSpPr>
        <p:spPr>
          <a:xfrm>
            <a:off x="7498080" y="3477600"/>
            <a:ext cx="39301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신체의 자유를 박탈한다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L"/>
          <p:cNvSpPr/>
          <p:nvPr/>
        </p:nvSpPr>
        <p:spPr>
          <a:xfrm>
            <a:off x="731520" y="41878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2" name="TICK"/>
          <p:cNvSpPr/>
          <p:nvPr/>
        </p:nvSpPr>
        <p:spPr>
          <a:xfrm>
            <a:off x="731520" y="4428720"/>
            <a:ext cx="89640" cy="418680"/>
          </a:xfrm>
          <a:prstGeom prst="rect">
            <a:avLst/>
          </a:prstGeom>
          <a:solidFill>
            <a:srgbClr val="DCE0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3" name="RL"/>
          <p:cNvSpPr/>
          <p:nvPr/>
        </p:nvSpPr>
        <p:spPr>
          <a:xfrm>
            <a:off x="1051560" y="4374000"/>
            <a:ext cx="2375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재산형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" name="RK"/>
          <p:cNvSpPr/>
          <p:nvPr/>
        </p:nvSpPr>
        <p:spPr>
          <a:xfrm>
            <a:off x="3657600" y="4374000"/>
            <a:ext cx="3655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벌금 </a:t>
            </a:r>
            <a:r>
              <a:rPr lang="en-US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과료 </a:t>
            </a:r>
            <a:r>
              <a:rPr lang="en-US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몰수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" name="RM"/>
          <p:cNvSpPr/>
          <p:nvPr/>
        </p:nvSpPr>
        <p:spPr>
          <a:xfrm>
            <a:off x="7498080" y="4374000"/>
            <a:ext cx="39301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재산을 박탈한다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" name="L"/>
          <p:cNvSpPr/>
          <p:nvPr/>
        </p:nvSpPr>
        <p:spPr>
          <a:xfrm>
            <a:off x="731520" y="508392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7" name="TICK"/>
          <p:cNvSpPr/>
          <p:nvPr/>
        </p:nvSpPr>
        <p:spPr>
          <a:xfrm>
            <a:off x="731520" y="5324760"/>
            <a:ext cx="89640" cy="418680"/>
          </a:xfrm>
          <a:prstGeom prst="rect">
            <a:avLst/>
          </a:prstGeom>
          <a:solidFill>
            <a:srgbClr val="DCE0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8" name="RL"/>
          <p:cNvSpPr/>
          <p:nvPr/>
        </p:nvSpPr>
        <p:spPr>
          <a:xfrm>
            <a:off x="1051560" y="5270040"/>
            <a:ext cx="2375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명예형</a:t>
            </a: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자격형</a:t>
            </a: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9" name="RK"/>
          <p:cNvSpPr/>
          <p:nvPr/>
        </p:nvSpPr>
        <p:spPr>
          <a:xfrm>
            <a:off x="3657600" y="5270040"/>
            <a:ext cx="3655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자격상실 </a:t>
            </a:r>
            <a:r>
              <a:rPr lang="en-US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자격정지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" name="RM"/>
          <p:cNvSpPr/>
          <p:nvPr/>
        </p:nvSpPr>
        <p:spPr>
          <a:xfrm>
            <a:off x="7498080" y="5270040"/>
            <a:ext cx="39301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일정한 자격을 박탈하거나 정지한다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" name="L"/>
          <p:cNvSpPr/>
          <p:nvPr/>
        </p:nvSpPr>
        <p:spPr>
          <a:xfrm>
            <a:off x="731520" y="597996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2" name="GBAND"/>
          <p:cNvSpPr/>
          <p:nvPr/>
        </p:nvSpPr>
        <p:spPr>
          <a:xfrm>
            <a:off x="697600" y="6055200"/>
            <a:ext cx="106966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사형은 </a:t>
            </a: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형벌 중 유일하게 생명을</a:t>
            </a: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박탈한다 — 국가는 왜 자유형과 별도로 생명형을 두는가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3" name="NOTE"/>
          <p:cNvSpPr/>
          <p:nvPr/>
        </p:nvSpPr>
        <p:spPr>
          <a:xfrm>
            <a:off x="731520" y="6419160"/>
            <a:ext cx="10696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형법 제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41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100" b="1" u="none" strike="noStrike" dirty="0">
                <a:solidFill>
                  <a:srgbClr val="6E7686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사형은 제</a:t>
            </a:r>
            <a:r>
              <a:rPr lang="en-US" sz="1100" b="1" u="none" strike="noStrike" dirty="0">
                <a:solidFill>
                  <a:srgbClr val="6E7686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41</a:t>
            </a:r>
            <a:r>
              <a:rPr lang="zh-CN" sz="1100" b="1" u="none" strike="noStrike" dirty="0">
                <a:solidFill>
                  <a:srgbClr val="6E7686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조가 정한 형 가운데 생명을 박탈하는 유일한 형이다</a:t>
            </a:r>
            <a:r>
              <a:rPr lang="zh-CN" sz="1100" b="1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자격상실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자격정지는 문헌에 따라 명예형 또는 자격형으로 부른다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논제의 출발점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5" name="Text 1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형벌의 목적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731520" y="1417320"/>
            <a:ext cx="10696680" cy="65628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7" name="Text 3"/>
          <p:cNvSpPr/>
          <p:nvPr/>
        </p:nvSpPr>
        <p:spPr>
          <a:xfrm>
            <a:off x="1005840" y="1417320"/>
            <a:ext cx="101480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형벌이 무엇을 위해 부과되는지 먼저 살펴본다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8" name="L"/>
          <p:cNvSpPr/>
          <p:nvPr/>
        </p:nvSpPr>
        <p:spPr>
          <a:xfrm>
            <a:off x="731520" y="588852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9" name="LBAND"/>
          <p:cNvSpPr/>
          <p:nvPr/>
        </p:nvSpPr>
        <p:spPr>
          <a:xfrm>
            <a:off x="731520" y="6118970"/>
            <a:ext cx="10696680" cy="51012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0" name="T"/>
          <p:cNvSpPr/>
          <p:nvPr/>
        </p:nvSpPr>
        <p:spPr>
          <a:xfrm>
            <a:off x="1005840" y="6118970"/>
            <a:ext cx="1014804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 dirty="0">
                <a:solidFill>
                  <a:srgbClr val="002060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국가가 형벌로 이루려는 목적을 먼저 확인하고</a:t>
            </a:r>
            <a:r>
              <a:rPr lang="en-US" sz="1250" b="1" u="none" strike="noStrike" dirty="0">
                <a:solidFill>
                  <a:srgbClr val="002060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50" b="1" u="none" strike="noStrike" dirty="0">
                <a:solidFill>
                  <a:srgbClr val="002060"/>
                </a:solidFill>
                <a:effectLst/>
                <a:uFillTx/>
                <a:latin typeface="Pretendard"/>
                <a:ea typeface="Pretendard"/>
                <a:cs typeface="Pretendard"/>
              </a:rPr>
              <a:t>뒤에서 사형이 실제로 그 목적에 기여하는지 살펴본다</a:t>
            </a:r>
            <a:endParaRPr lang="en-US" sz="1250" b="0" u="none" strike="noStrike" dirty="0">
              <a:solidFill>
                <a:srgbClr val="00206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1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폐지한다는 것은 무엇을 바꾸는가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" name="T700"/>
          <p:cNvSpPr/>
          <p:nvPr/>
        </p:nvSpPr>
        <p:spPr>
          <a:xfrm>
            <a:off x="1987550" y="2286000"/>
            <a:ext cx="83820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형벌의 목적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" name="T701"/>
          <p:cNvSpPr/>
          <p:nvPr/>
        </p:nvSpPr>
        <p:spPr>
          <a:xfrm>
            <a:off x="5943600" y="2286000"/>
            <a:ext cx="136525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의미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4" name="T702"/>
          <p:cNvSpPr/>
          <p:nvPr/>
        </p:nvSpPr>
        <p:spPr>
          <a:xfrm>
            <a:off x="7670800" y="2286000"/>
            <a:ext cx="436896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" name="L703"/>
          <p:cNvSpPr/>
          <p:nvPr/>
        </p:nvSpPr>
        <p:spPr>
          <a:xfrm>
            <a:off x="731520" y="2651760"/>
            <a:ext cx="1069848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" name="T704"/>
          <p:cNvSpPr/>
          <p:nvPr/>
        </p:nvSpPr>
        <p:spPr>
          <a:xfrm>
            <a:off x="1987550" y="2657520"/>
            <a:ext cx="1207240" cy="7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응보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7" name="T705"/>
          <p:cNvSpPr/>
          <p:nvPr/>
        </p:nvSpPr>
        <p:spPr>
          <a:xfrm>
            <a:off x="5943600" y="2657520"/>
            <a:ext cx="5520160" cy="7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범죄의 책임에 상응하는 형벌을 부과한다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8" name="T706"/>
          <p:cNvSpPr/>
          <p:nvPr/>
        </p:nvSpPr>
        <p:spPr>
          <a:xfrm>
            <a:off x="7670800" y="2657520"/>
            <a:ext cx="4368960" cy="7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464D5C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9" name="T707"/>
          <p:cNvSpPr/>
          <p:nvPr/>
        </p:nvSpPr>
        <p:spPr>
          <a:xfrm>
            <a:off x="1987550" y="3457440"/>
            <a:ext cx="1207240" cy="7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일반예방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0" name="T708"/>
          <p:cNvSpPr/>
          <p:nvPr/>
        </p:nvSpPr>
        <p:spPr>
          <a:xfrm>
            <a:off x="5943600" y="3457440"/>
            <a:ext cx="5520160" cy="7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형벌에 대한 두려움으로 다른 사람의 범죄를 억제한다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1" name="T709"/>
          <p:cNvSpPr/>
          <p:nvPr/>
        </p:nvSpPr>
        <p:spPr>
          <a:xfrm>
            <a:off x="7670800" y="3457440"/>
            <a:ext cx="4368960" cy="7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464D5C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2" name="L710"/>
          <p:cNvSpPr/>
          <p:nvPr/>
        </p:nvSpPr>
        <p:spPr>
          <a:xfrm>
            <a:off x="731520" y="344772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3" name="T711"/>
          <p:cNvSpPr/>
          <p:nvPr/>
        </p:nvSpPr>
        <p:spPr>
          <a:xfrm>
            <a:off x="1987550" y="4257720"/>
            <a:ext cx="1549400" cy="7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특별예방 </a:t>
            </a:r>
            <a:r>
              <a:rPr lang="en-US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사회보호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" name="T712"/>
          <p:cNvSpPr/>
          <p:nvPr/>
        </p:nvSpPr>
        <p:spPr>
          <a:xfrm>
            <a:off x="5943600" y="4257720"/>
            <a:ext cx="5520160" cy="7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처벌받는 사람의 재범을 막고 사회를 보호한다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5" name="T713"/>
          <p:cNvSpPr/>
          <p:nvPr/>
        </p:nvSpPr>
        <p:spPr>
          <a:xfrm>
            <a:off x="7670800" y="4257720"/>
            <a:ext cx="4368960" cy="7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464D5C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6" name="L714"/>
          <p:cNvSpPr/>
          <p:nvPr/>
        </p:nvSpPr>
        <p:spPr>
          <a:xfrm>
            <a:off x="731520" y="424800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7" name="T715"/>
          <p:cNvSpPr/>
          <p:nvPr/>
        </p:nvSpPr>
        <p:spPr>
          <a:xfrm>
            <a:off x="1987550" y="5057640"/>
            <a:ext cx="1384300" cy="7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특별예방 </a:t>
            </a:r>
            <a:r>
              <a:rPr lang="en-US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개선</a:t>
            </a:r>
            <a:r>
              <a:rPr lang="en-US" altLang="zh-CN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교화</a:t>
            </a:r>
            <a:r>
              <a:rPr lang="en-US" altLang="ko-KR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)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8" name="T716"/>
          <p:cNvSpPr/>
          <p:nvPr/>
        </p:nvSpPr>
        <p:spPr>
          <a:xfrm>
            <a:off x="5943600" y="5057640"/>
            <a:ext cx="5520160" cy="7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범죄자의 변화와 사회복귀를 돕는다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개선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재사회화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9" name="T717"/>
          <p:cNvSpPr/>
          <p:nvPr/>
        </p:nvSpPr>
        <p:spPr>
          <a:xfrm>
            <a:off x="7670800" y="5057640"/>
            <a:ext cx="4368960" cy="7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464D5C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90" name="L718"/>
          <p:cNvSpPr/>
          <p:nvPr/>
        </p:nvSpPr>
        <p:spPr>
          <a:xfrm>
            <a:off x="731520" y="504792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101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논제와 쟁점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5" name="S102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altLang="en-US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한국에서 </a:t>
            </a:r>
            <a:r>
              <a:rPr lang="zh-CN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사형을 폐지한다는 것은 무엇을 바꾸는가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6" name="S103"/>
          <p:cNvSpPr/>
          <p:nvPr/>
        </p:nvSpPr>
        <p:spPr>
          <a:xfrm>
            <a:off x="731520" y="1417320"/>
            <a:ext cx="10696680" cy="5468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7" name="S104"/>
          <p:cNvSpPr/>
          <p:nvPr/>
        </p:nvSpPr>
        <p:spPr>
          <a:xfrm>
            <a:off x="1005840" y="1417320"/>
            <a:ext cx="101480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“사형제는 폐지되어야 하는가?”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는 사형이라는 형벌을 법에서 없앨 것인지를 묻는다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8" name="L105"/>
          <p:cNvSpPr/>
          <p:nvPr/>
        </p:nvSpPr>
        <p:spPr>
          <a:xfrm>
            <a:off x="731520" y="2194560"/>
            <a:ext cx="1069848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9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사형 규정의 역사적 변천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20" name="M411"/>
          <p:cNvSpPr/>
          <p:nvPr/>
        </p:nvSpPr>
        <p:spPr>
          <a:xfrm>
            <a:off x="731520" y="5495400"/>
            <a:ext cx="106966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21" name="R600"/>
          <p:cNvSpPr/>
          <p:nvPr/>
        </p:nvSpPr>
        <p:spPr>
          <a:xfrm>
            <a:off x="731520" y="2517480"/>
            <a:ext cx="49359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사형의 형벌체계상 특수성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22" name="R601"/>
          <p:cNvSpPr/>
          <p:nvPr/>
        </p:nvSpPr>
        <p:spPr>
          <a:xfrm>
            <a:off x="731520" y="2928960"/>
            <a:ext cx="4935960" cy="100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가장 무거운 형이자 생명을 직접 박탈하는 형벌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다른 형벌과 달리</a:t>
            </a:r>
            <a:r>
              <a:rPr lang="en-US" altLang="zh-CN" sz="135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en-US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사형이 </a:t>
            </a:r>
            <a:r>
              <a:rPr lang="zh-CN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집행</a:t>
            </a:r>
            <a:r>
              <a:rPr lang="ko-KR" altLang="en-US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된</a:t>
            </a:r>
            <a:r>
              <a:rPr lang="zh-CN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 뒤 박탈된 생명을 회복할 수 없다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23" name="R602"/>
          <p:cNvSpPr/>
          <p:nvPr/>
        </p:nvSpPr>
        <p:spPr>
          <a:xfrm>
            <a:off x="6309360" y="2517480"/>
            <a:ext cx="511884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폐지 논의에서 비교</a:t>
            </a:r>
            <a:r>
              <a:rPr lang="ko-KR" altLang="en-US" sz="13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와 대안이</a:t>
            </a:r>
            <a:r>
              <a:rPr lang="zh-CN" sz="13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필요한 이유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24" name="R603"/>
          <p:cNvSpPr/>
          <p:nvPr/>
        </p:nvSpPr>
        <p:spPr>
          <a:xfrm>
            <a:off x="6309360" y="2928960"/>
            <a:ext cx="5118840" cy="100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사형의 기능을 다른 형벌로도 달성할 수 있는가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altLang="en-US" sz="1200" dirty="0">
                <a:solidFill>
                  <a:srgbClr val="464D5C"/>
                </a:solidFill>
                <a:latin typeface="Pretendard"/>
                <a:cs typeface="Pretendard"/>
              </a:rPr>
              <a:t>사회보호</a:t>
            </a:r>
            <a:r>
              <a:rPr 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zh-CN" altLang="en-US" sz="1200" dirty="0">
                <a:solidFill>
                  <a:srgbClr val="464D5C"/>
                </a:solidFill>
                <a:latin typeface="Pretendard"/>
                <a:cs typeface="Pretendard"/>
              </a:rPr>
              <a:t>범죄예방</a:t>
            </a:r>
            <a:r>
              <a:rPr 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zh-CN" altLang="en-US" sz="1200" dirty="0">
                <a:solidFill>
                  <a:srgbClr val="464D5C"/>
                </a:solidFill>
                <a:latin typeface="Pretendard"/>
                <a:cs typeface="Pretendard"/>
              </a:rPr>
              <a:t>책임에 상응하는 처벌을 </a:t>
            </a:r>
            <a:r>
              <a:rPr lang="zh-CN" altLang="en-US" sz="1200" dirty="0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cs typeface="Pretendard"/>
              </a:rPr>
              <a:t>다른 형벌이 어느 정도 수행할 수 있는지 살펴야 한다</a:t>
            </a:r>
            <a:endParaRPr lang="en-US" sz="1200" dirty="0">
              <a:solidFill>
                <a:srgbClr val="464D5C"/>
              </a:solidFill>
              <a:highlight>
                <a:srgbClr val="FFFF00"/>
              </a:highlight>
              <a:latin typeface="Pretendard"/>
              <a:ea typeface="Pretendard"/>
              <a:cs typeface="Pretendard"/>
            </a:endParaRPr>
          </a:p>
        </p:txBody>
      </p:sp>
      <p:sp>
        <p:nvSpPr>
          <p:cNvPr id="125" name="R605"/>
          <p:cNvSpPr/>
          <p:nvPr/>
        </p:nvSpPr>
        <p:spPr>
          <a:xfrm>
            <a:off x="2484120" y="4124880"/>
            <a:ext cx="705993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사형이 갖는 최고형의 위치와 특수한 기능 때문에</a:t>
            </a:r>
            <a:r>
              <a:rPr 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폐지 뒤 최고형의 종류와 </a:t>
            </a:r>
            <a:r>
              <a:rPr lang="ko-KR" alt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범위</a:t>
            </a:r>
            <a:r>
              <a:rPr 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도 함께 설계해야 한다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26" name="RL606"/>
          <p:cNvSpPr/>
          <p:nvPr/>
        </p:nvSpPr>
        <p:spPr>
          <a:xfrm>
            <a:off x="731520" y="47548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27" name="R607"/>
          <p:cNvSpPr/>
          <p:nvPr/>
        </p:nvSpPr>
        <p:spPr>
          <a:xfrm>
            <a:off x="731520" y="4920840"/>
            <a:ext cx="1069668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사형제의 필요성과 폐지 이후의 결과를 판단하기 위해 필요한 관련 쟁점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28" name="R608"/>
          <p:cNvSpPr/>
          <p:nvPr/>
        </p:nvSpPr>
        <p:spPr>
          <a:xfrm>
            <a:off x="731520" y="5303520"/>
            <a:ext cx="1069668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35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폐지 시 대체 형벌의 설계</a:t>
            </a:r>
            <a:endParaRPr lang="en-US" altLang="ko-KR" sz="1350" b="1" dirty="0">
              <a:solidFill>
                <a:srgbClr val="222633"/>
              </a:solidFill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altLang="en-US" sz="135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집행 재개 여부</a:t>
            </a:r>
            <a:endParaRPr lang="en-US" sz="1350" b="1" dirty="0">
              <a:solidFill>
                <a:srgbClr val="222633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35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사형 적용 범위의 축소 여부</a:t>
            </a:r>
            <a:endParaRPr lang="en-US" altLang="ko-KR" sz="1350" b="1" dirty="0">
              <a:solidFill>
                <a:srgbClr val="22263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9" name="RL609"/>
          <p:cNvSpPr/>
          <p:nvPr/>
        </p:nvSpPr>
        <p:spPr>
          <a:xfrm>
            <a:off x="729720" y="61010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KICKER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한국 사형제의 형성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31" name="TITLE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규정과 절차의 역사적 변천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32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조선의 삼복제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33" name="BAND"/>
          <p:cNvSpPr/>
          <p:nvPr/>
        </p:nvSpPr>
        <p:spPr>
          <a:xfrm>
            <a:off x="731520" y="1417320"/>
            <a:ext cx="10696680" cy="5468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34" name="BANDT"/>
          <p:cNvSpPr/>
          <p:nvPr/>
        </p:nvSpPr>
        <p:spPr>
          <a:xfrm>
            <a:off x="1005840" y="1417320"/>
            <a:ext cx="101480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우리 역사에서 사형 규정은 매우 오래전부터 여러 시대의 법체계에서 확인된다</a:t>
            </a:r>
            <a:r>
              <a:rPr lang="en-US" altLang="zh-CN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00" b="1" u="none" strike="noStrike" dirty="0" err="1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ㅡ</a:t>
            </a:r>
            <a:r>
              <a:rPr lang="ko-KR" altLang="en-US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 사형은 오랜 기간 우리 사회의 최고형으로 자리해 왔다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35" name="L"/>
          <p:cNvSpPr/>
          <p:nvPr/>
        </p:nvSpPr>
        <p:spPr>
          <a:xfrm>
            <a:off x="731520" y="22402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36" name="ERA"/>
          <p:cNvSpPr/>
          <p:nvPr/>
        </p:nvSpPr>
        <p:spPr>
          <a:xfrm>
            <a:off x="731520" y="2865240"/>
            <a:ext cx="202824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고조선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37" name="KW"/>
          <p:cNvSpPr/>
          <p:nvPr/>
        </p:nvSpPr>
        <p:spPr>
          <a:xfrm>
            <a:off x="731520" y="3358800"/>
            <a:ext cx="2028240" cy="60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법금팔조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(8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조법금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38" name="TX"/>
          <p:cNvSpPr/>
          <p:nvPr/>
        </p:nvSpPr>
        <p:spPr>
          <a:xfrm>
            <a:off x="731520" y="4090320"/>
            <a:ext cx="2028240" cy="15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전해지는 조항 가운데 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살인자를 사형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에 처하는 규정이 있다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39" name="ERA"/>
          <p:cNvSpPr/>
          <p:nvPr/>
        </p:nvSpPr>
        <p:spPr>
          <a:xfrm>
            <a:off x="2898720" y="2865240"/>
            <a:ext cx="202824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고려 </a:t>
            </a: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조선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40" name="KW"/>
          <p:cNvSpPr/>
          <p:nvPr/>
        </p:nvSpPr>
        <p:spPr>
          <a:xfrm>
            <a:off x="2898720" y="3358800"/>
            <a:ext cx="2028240" cy="60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반복 심리와 삼복제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41" name="TX"/>
          <p:cNvSpPr/>
          <p:nvPr/>
        </p:nvSpPr>
        <p:spPr>
          <a:xfrm>
            <a:off x="2898720" y="4090320"/>
            <a:ext cx="2028240" cy="15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사형사건을 거듭 심리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하고 국왕이 최종 판단하는 절차가 발전했다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42" name="ERA"/>
          <p:cNvSpPr/>
          <p:nvPr/>
        </p:nvSpPr>
        <p:spPr>
          <a:xfrm>
            <a:off x="5065920" y="2865240"/>
            <a:ext cx="202824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1894 · 1905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43" name="KW"/>
          <p:cNvSpPr/>
          <p:nvPr/>
        </p:nvSpPr>
        <p:spPr>
          <a:xfrm>
            <a:off x="5065920" y="3358800"/>
            <a:ext cx="2028240" cy="60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집행방식과 근대 형법 정비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44" name="TX"/>
          <p:cNvSpPr/>
          <p:nvPr/>
        </p:nvSpPr>
        <p:spPr>
          <a:xfrm>
            <a:off x="5065920" y="4090320"/>
            <a:ext cx="2028240" cy="15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참형</a:t>
            </a:r>
            <a:r>
              <a:rPr lang="en-US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능지처참을 폐지하고 교수형</a:t>
            </a:r>
            <a:r>
              <a:rPr lang="en-US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총살형으로 정비했으며</a:t>
            </a:r>
            <a:r>
              <a:rPr lang="en-US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1905</a:t>
            </a: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『형법대전』이 제정되었다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45" name="ERA"/>
          <p:cNvSpPr/>
          <p:nvPr/>
        </p:nvSpPr>
        <p:spPr>
          <a:xfrm>
            <a:off x="7232760" y="2865240"/>
            <a:ext cx="202824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1912 ~ </a:t>
            </a: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해방 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46" name="KW"/>
          <p:cNvSpPr/>
          <p:nvPr/>
        </p:nvSpPr>
        <p:spPr>
          <a:xfrm>
            <a:off x="7232760" y="3358800"/>
            <a:ext cx="2028240" cy="60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일본 형법 적용과 해방 후 잠정 유지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47" name="TX"/>
          <p:cNvSpPr/>
          <p:nvPr/>
        </p:nvSpPr>
        <p:spPr>
          <a:xfrm>
            <a:off x="7232760" y="4090320"/>
            <a:ext cx="2028240" cy="15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조선형사령에 따른 일본 형법이 적용되었고</a:t>
            </a:r>
            <a:r>
              <a:rPr lang="en-US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해방 뒤에도 종전 법령이 잠정 적용되었다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48" name="ERA"/>
          <p:cNvSpPr/>
          <p:nvPr/>
        </p:nvSpPr>
        <p:spPr>
          <a:xfrm>
            <a:off x="9399960" y="2865240"/>
            <a:ext cx="202824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1953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49" name="KW"/>
          <p:cNvSpPr/>
          <p:nvPr/>
        </p:nvSpPr>
        <p:spPr>
          <a:xfrm>
            <a:off x="9399960" y="3358800"/>
            <a:ext cx="2028240" cy="60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대한민국 독자 형법 시행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50" name="TX"/>
          <p:cNvSpPr/>
          <p:nvPr/>
        </p:nvSpPr>
        <p:spPr>
          <a:xfrm>
            <a:off x="9399960" y="4090320"/>
            <a:ext cx="2028240" cy="15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형의 종류에 사형을 규정했다 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법률 제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293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호 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 1953. 10. 3. 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시행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51" name="VL"/>
          <p:cNvSpPr/>
          <p:nvPr/>
        </p:nvSpPr>
        <p:spPr>
          <a:xfrm>
            <a:off x="2779560" y="2883240"/>
            <a:ext cx="360" cy="246888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52" name="VL"/>
          <p:cNvSpPr/>
          <p:nvPr/>
        </p:nvSpPr>
        <p:spPr>
          <a:xfrm>
            <a:off x="4946760" y="2883240"/>
            <a:ext cx="360" cy="246888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53" name="VL"/>
          <p:cNvSpPr/>
          <p:nvPr/>
        </p:nvSpPr>
        <p:spPr>
          <a:xfrm>
            <a:off x="7113960" y="2883240"/>
            <a:ext cx="360" cy="246888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54" name="VL"/>
          <p:cNvSpPr/>
          <p:nvPr/>
        </p:nvSpPr>
        <p:spPr>
          <a:xfrm>
            <a:off x="9281160" y="2883240"/>
            <a:ext cx="360" cy="246888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55" name="L"/>
          <p:cNvSpPr/>
          <p:nvPr/>
        </p:nvSpPr>
        <p:spPr>
          <a:xfrm>
            <a:off x="731520" y="54406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56" name="GBAND"/>
          <p:cNvSpPr/>
          <p:nvPr/>
        </p:nvSpPr>
        <p:spPr>
          <a:xfrm>
            <a:off x="731520" y="5713730"/>
            <a:ext cx="106966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한국에는 고조선 이후 사실상 대부분의 시기 동안 사형제가 존재했다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57" name="NOTE"/>
          <p:cNvSpPr/>
          <p:nvPr/>
        </p:nvSpPr>
        <p:spPr>
          <a:xfrm>
            <a:off x="731520" y="6309360"/>
            <a:ext cx="10696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한국민족문화대백과사전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법금팔조 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 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삼복제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) · 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국사편찬위원회 우리역사넷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(1894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 형벌 정비 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 1905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 『형법대전』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) · 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국가법령정보센터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KICKER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한국 사형제의 형성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59" name="TITLE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조선의 사형절차와 삼복제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0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현행법에 남아 있는 사형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1" name="BAND"/>
          <p:cNvSpPr/>
          <p:nvPr/>
        </p:nvSpPr>
        <p:spPr>
          <a:xfrm>
            <a:off x="731520" y="1417320"/>
            <a:ext cx="10696680" cy="83952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2" name="BANDT"/>
          <p:cNvSpPr/>
          <p:nvPr/>
        </p:nvSpPr>
        <p:spPr>
          <a:xfrm>
            <a:off x="1005840" y="1417320"/>
            <a:ext cx="10148040" cy="83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사형에 해당하는 사건은 한 번의 심리로 끝내지 않았다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 초복 · </a:t>
            </a:r>
            <a:r>
              <a:rPr lang="zh-CN" sz="13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재복 </a:t>
            </a:r>
            <a:r>
              <a:rPr lang="en-US" sz="13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삼복으로 거듭 조사한 뒤 국왕에게 보고해 처결하는 구조였다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3" name="L"/>
          <p:cNvSpPr/>
          <p:nvPr/>
        </p:nvSpPr>
        <p:spPr>
          <a:xfrm>
            <a:off x="731520" y="22402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4" name="R"/>
          <p:cNvSpPr/>
          <p:nvPr/>
        </p:nvSpPr>
        <p:spPr>
          <a:xfrm>
            <a:off x="731520" y="2519280"/>
            <a:ext cx="2009880" cy="56520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5" name="T"/>
          <p:cNvSpPr/>
          <p:nvPr/>
        </p:nvSpPr>
        <p:spPr>
          <a:xfrm>
            <a:off x="731520" y="2519280"/>
            <a:ext cx="200988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초복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6" name="R"/>
          <p:cNvSpPr/>
          <p:nvPr/>
        </p:nvSpPr>
        <p:spPr>
          <a:xfrm>
            <a:off x="3337560" y="2519280"/>
            <a:ext cx="2009880" cy="56520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7" name="T"/>
          <p:cNvSpPr/>
          <p:nvPr/>
        </p:nvSpPr>
        <p:spPr>
          <a:xfrm>
            <a:off x="3337560" y="2519280"/>
            <a:ext cx="200988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재복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8" name="R"/>
          <p:cNvSpPr/>
          <p:nvPr/>
        </p:nvSpPr>
        <p:spPr>
          <a:xfrm>
            <a:off x="5943600" y="2519280"/>
            <a:ext cx="2009880" cy="56520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9" name="T"/>
          <p:cNvSpPr/>
          <p:nvPr/>
        </p:nvSpPr>
        <p:spPr>
          <a:xfrm>
            <a:off x="5943600" y="2519280"/>
            <a:ext cx="200988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삼복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0" name="R"/>
          <p:cNvSpPr/>
          <p:nvPr/>
        </p:nvSpPr>
        <p:spPr>
          <a:xfrm>
            <a:off x="8549640" y="2519280"/>
            <a:ext cx="2878560" cy="56520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1" name="T"/>
          <p:cNvSpPr/>
          <p:nvPr/>
        </p:nvSpPr>
        <p:spPr>
          <a:xfrm>
            <a:off x="8549640" y="2519280"/>
            <a:ext cx="287856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국왕에게 보고 </a:t>
            </a: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처결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2" name="ARR"/>
          <p:cNvSpPr/>
          <p:nvPr/>
        </p:nvSpPr>
        <p:spPr>
          <a:xfrm>
            <a:off x="2834640" y="2519280"/>
            <a:ext cx="45540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3" name="ARR"/>
          <p:cNvSpPr/>
          <p:nvPr/>
        </p:nvSpPr>
        <p:spPr>
          <a:xfrm>
            <a:off x="5440680" y="2519280"/>
            <a:ext cx="45540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4" name="ARR"/>
          <p:cNvSpPr/>
          <p:nvPr/>
        </p:nvSpPr>
        <p:spPr>
          <a:xfrm>
            <a:off x="8046720" y="2519280"/>
            <a:ext cx="45540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5" name="L"/>
          <p:cNvSpPr/>
          <p:nvPr/>
        </p:nvSpPr>
        <p:spPr>
          <a:xfrm>
            <a:off x="731520" y="34012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6" name="RL"/>
          <p:cNvSpPr/>
          <p:nvPr/>
        </p:nvSpPr>
        <p:spPr>
          <a:xfrm>
            <a:off x="960120" y="4047490"/>
            <a:ext cx="191844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삼심제와의 차이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7" name="RT"/>
          <p:cNvSpPr/>
          <p:nvPr/>
        </p:nvSpPr>
        <p:spPr>
          <a:xfrm>
            <a:off x="2720340" y="3977640"/>
            <a:ext cx="859356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4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오늘날 삼심제와 같은 상급심 제도는 아니지만</a:t>
            </a:r>
            <a:r>
              <a:rPr lang="en-US" sz="14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4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사형사건을 한 번의 심리로 끝내지 않고 거듭 살핀 절차였다</a:t>
            </a:r>
            <a:r>
              <a:rPr lang="en-US" sz="14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altLang="en-US" sz="14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이는</a:t>
            </a:r>
            <a:r>
              <a:rPr lang="zh-CN" sz="14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zh-CN" sz="14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인명을 중히 여겨 사형의 판단을 신중히 하려는 취지에서 비롯한 것으로 </a:t>
            </a:r>
            <a:r>
              <a:rPr lang="ko-KR" altLang="en-US" sz="14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전해진</a:t>
            </a:r>
            <a:r>
              <a:rPr lang="zh-CN" sz="14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다</a:t>
            </a:r>
            <a:r>
              <a:rPr lang="en-US" sz="14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4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8" name="L"/>
          <p:cNvSpPr/>
          <p:nvPr/>
        </p:nvSpPr>
        <p:spPr>
          <a:xfrm>
            <a:off x="731520" y="51386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9" name="GBAND"/>
          <p:cNvSpPr/>
          <p:nvPr/>
        </p:nvSpPr>
        <p:spPr>
          <a:xfrm>
            <a:off x="731520" y="5565060"/>
            <a:ext cx="106966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사형사건을 거듭 심리한 뒤 국왕의 최종 판단을 받도록 한 절차가 법제화되어 있었다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80" name="NOTE"/>
          <p:cNvSpPr/>
          <p:nvPr/>
        </p:nvSpPr>
        <p:spPr>
          <a:xfrm>
            <a:off x="731520" y="6355080"/>
            <a:ext cx="10696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한국민족문화대백과 「삼복제」 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성종실록 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85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권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성종 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8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(1477) 10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17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일 제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3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기사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삼복하여 아뢰는 사례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현행법과 집행 현실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현행법에서 사형은 어디에 남아 있는가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731520" y="1341120"/>
            <a:ext cx="10696680" cy="5468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1005840" y="1341120"/>
            <a:ext cx="101480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역사에서 현재로 돌아오면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사형은 형법의 형의 종류와 집행방법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그리고 여러 법정형 조항에 그대로 남아 있다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85" name="Shape 4"/>
          <p:cNvSpPr/>
          <p:nvPr/>
        </p:nvSpPr>
        <p:spPr>
          <a:xfrm>
            <a:off x="731520" y="2086610"/>
            <a:ext cx="1069848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86" name="Text 15"/>
          <p:cNvSpPr/>
          <p:nvPr/>
        </p:nvSpPr>
        <p:spPr>
          <a:xfrm>
            <a:off x="731520" y="6508060"/>
            <a:ext cx="10696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국가법령정보센터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형법 제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41·66·87·92·93·250·338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군형법 제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3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형법상 교수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군형법 적용대상자는 총살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87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사형방법의 역설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953770" y="2399450"/>
            <a:ext cx="15526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형의 종류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89" name="F51"/>
          <p:cNvSpPr/>
          <p:nvPr/>
        </p:nvSpPr>
        <p:spPr>
          <a:xfrm>
            <a:off x="2560320" y="2184170"/>
            <a:ext cx="8867880" cy="65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41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형의 종류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)  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형의 종류는 다음과 같다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 1. 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 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2. 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징역  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3. 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금고 …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90" name="FL52"/>
          <p:cNvSpPr/>
          <p:nvPr/>
        </p:nvSpPr>
        <p:spPr>
          <a:xfrm>
            <a:off x="731520" y="296429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953770" y="3238970"/>
            <a:ext cx="15526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집행방법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92" name="F54"/>
          <p:cNvSpPr/>
          <p:nvPr/>
        </p:nvSpPr>
        <p:spPr>
          <a:xfrm>
            <a:off x="2560320" y="3043850"/>
            <a:ext cx="8867880" cy="65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형법 제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66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)  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사형은 교정시설 안에서 교수하여 집행한다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군형법 제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3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집행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)  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사형은 소속 군 참모총장이 지정한 장소에서 총살로써 집행한다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93" name="FL55"/>
          <p:cNvSpPr/>
          <p:nvPr/>
        </p:nvSpPr>
        <p:spPr>
          <a:xfrm>
            <a:off x="731520" y="382397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1007640" y="4136810"/>
            <a:ext cx="15526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법정형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95" name="F57"/>
          <p:cNvSpPr/>
          <p:nvPr/>
        </p:nvSpPr>
        <p:spPr>
          <a:xfrm>
            <a:off x="2560320" y="3988130"/>
            <a:ext cx="8867880" cy="65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대표 예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내란 우두머리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87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) · 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외환유치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92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) · 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여적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93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) · 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살인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250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) · 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강도살인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338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전단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).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alt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	             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특별법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군형법에도 별도 사형 규정이 있다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96" name="FL58"/>
          <p:cNvSpPr/>
          <p:nvPr/>
        </p:nvSpPr>
        <p:spPr>
          <a:xfrm>
            <a:off x="731520" y="484781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97" name="GBAND"/>
          <p:cNvSpPr/>
          <p:nvPr/>
        </p:nvSpPr>
        <p:spPr>
          <a:xfrm>
            <a:off x="731520" y="5823310"/>
            <a:ext cx="10696680" cy="668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법정형</a:t>
            </a:r>
            <a:r>
              <a:rPr lang="en-US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법률이 특정 범죄에 대해 정한 형벌의 종류와 범위 </a:t>
            </a:r>
            <a:r>
              <a:rPr lang="zh-CN" sz="120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—</a:t>
            </a:r>
            <a:r>
              <a:rPr lang="zh-CN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zh-CN" sz="1200" b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예</a:t>
            </a:r>
            <a:r>
              <a:rPr lang="en-US" sz="1200" b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200" b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살인죄는 사형</a:t>
            </a:r>
            <a:r>
              <a:rPr lang="en-US" sz="1200" b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00" b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무기 또는 </a:t>
            </a:r>
            <a:r>
              <a:rPr lang="en-US" sz="1200" b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5</a:t>
            </a:r>
            <a:r>
              <a:rPr lang="zh-CN" sz="1200" b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이상의 징역</a:t>
            </a:r>
            <a:endParaRPr lang="en-US" altLang="zh-CN" sz="1200" b="1" u="none" strike="noStrike" dirty="0">
              <a:solidFill>
                <a:schemeClr val="tx1">
                  <a:lumMod val="50000"/>
                  <a:lumOff val="50000"/>
                </a:schemeClr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ko-KR" altLang="ko-KR" sz="120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절대적 법정형: 법률이 특정 범죄에 대해 하나의 형벌만 정해 둔 경우 </a:t>
            </a:r>
            <a:r>
              <a:rPr lang="ko-KR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— </a:t>
            </a:r>
            <a:r>
              <a:rPr lang="ko-KR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예: 여적죄는 사형만 규정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820950" y="5140670"/>
            <a:ext cx="15526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절대적 법정형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99" name="F57"/>
          <p:cNvSpPr/>
          <p:nvPr/>
        </p:nvSpPr>
        <p:spPr>
          <a:xfrm>
            <a:off x="2560320" y="4975970"/>
            <a:ext cx="8867880" cy="65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93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여적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) 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적국과 합세하여 대한민국에 항적한 자는 사형에 처한다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법정형은 사형 하나이지만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법률상 감경 규정이 적용되면 다른 형이 선고될 수 있다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00" name="FL72"/>
          <p:cNvSpPr/>
          <p:nvPr/>
        </p:nvSpPr>
        <p:spPr>
          <a:xfrm>
            <a:off x="731520" y="576221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">
            <a:extLst>
              <a:ext uri="{FF2B5EF4-FFF2-40B4-BE49-F238E27FC236}">
                <a16:creationId xmlns:a16="http://schemas.microsoft.com/office/drawing/2014/main" id="{BAB5DA32-BC82-C6F7-AE47-574AC5BA8EC4}"/>
              </a:ext>
            </a:extLst>
          </p:cNvPr>
          <p:cNvSpPr/>
          <p:nvPr/>
        </p:nvSpPr>
        <p:spPr>
          <a:xfrm>
            <a:off x="747660" y="1417320"/>
            <a:ext cx="10696680" cy="83952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" name="KICKER"/>
          <p:cNvSpPr/>
          <p:nvPr/>
        </p:nvSpPr>
        <p:spPr>
          <a:xfrm>
            <a:off x="731520" y="329184"/>
            <a:ext cx="4206240" cy="256032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300" b="1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현행법과 집행 현실</a:t>
            </a:r>
          </a:p>
        </p:txBody>
      </p:sp>
      <p:sp>
        <p:nvSpPr>
          <p:cNvPr id="3" name="NEXT"/>
          <p:cNvSpPr/>
          <p:nvPr/>
        </p:nvSpPr>
        <p:spPr>
          <a:xfrm>
            <a:off x="8348472" y="438912"/>
            <a:ext cx="3108960" cy="32004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algn="r" defTabSz="914400">
              <a:lnSpc>
                <a:spcPct val="118000"/>
              </a:lnSpc>
            </a:pPr>
            <a:r>
              <a:rPr lang="ko-KR" sz="10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법률과 실제 집행</a:t>
            </a:r>
          </a:p>
        </p:txBody>
      </p:sp>
      <p:sp>
        <p:nvSpPr>
          <p:cNvPr id="4" name="TITLE"/>
          <p:cNvSpPr/>
          <p:nvPr/>
        </p:nvSpPr>
        <p:spPr>
          <a:xfrm>
            <a:off x="731520" y="658368"/>
            <a:ext cx="10698480" cy="475488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사형방법의 역설 — </a:t>
            </a:r>
            <a:r>
              <a:rPr lang="ko-KR" altLang="en-US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존치를 전제로 한 또 다른 문제</a:t>
            </a:r>
            <a:endParaRPr lang="ko-KR" sz="2750" b="1" u="none" strike="noStrike" dirty="0">
              <a:solidFill>
                <a:srgbClr val="1E276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L5"/>
          <p:cNvSpPr/>
          <p:nvPr/>
        </p:nvSpPr>
        <p:spPr>
          <a:xfrm>
            <a:off x="731520" y="1216152"/>
            <a:ext cx="10725912" cy="0"/>
          </a:xfrm>
          <a:prstGeom prst="line">
            <a:avLst/>
          </a:prstGeom>
          <a:ln w="9525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UB1"/>
          <p:cNvSpPr/>
          <p:nvPr/>
        </p:nvSpPr>
        <p:spPr>
          <a:xfrm>
            <a:off x="731520" y="1539240"/>
            <a:ext cx="6056630" cy="36576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5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사형을 유지한 국가들은 더 빠르고 덜 고통스러운 집행방법을 반복해서 찾았다</a:t>
            </a:r>
          </a:p>
        </p:txBody>
      </p:sp>
      <p:sp>
        <p:nvSpPr>
          <p:cNvPr id="7" name="SUB2"/>
          <p:cNvSpPr/>
          <p:nvPr/>
        </p:nvSpPr>
        <p:spPr>
          <a:xfrm>
            <a:off x="731520" y="1865376"/>
            <a:ext cx="5885180" cy="292608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alt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  </a:t>
            </a:r>
            <a:r>
              <a:rPr lang="ko-KR" altLang="en-US" sz="125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ㅡ</a:t>
            </a:r>
            <a:r>
              <a:rPr lang="ko-KR" alt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ko-KR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그</a:t>
            </a:r>
            <a:r>
              <a:rPr lang="ko-KR" alt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러나</a:t>
            </a:r>
            <a:r>
              <a:rPr lang="ko-KR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새 방법이 등장할 때마다 잔혹성과 실패, 의료 참여의 윤리 문제가 다시 제기됐다</a:t>
            </a:r>
          </a:p>
        </p:txBody>
      </p:sp>
      <p:sp>
        <p:nvSpPr>
          <p:cNvPr id="20" name="PANEL20"/>
          <p:cNvSpPr/>
          <p:nvPr/>
        </p:nvSpPr>
        <p:spPr>
          <a:xfrm>
            <a:off x="731520" y="2414016"/>
            <a:ext cx="2514600" cy="2139696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txBody>
          <a:bodyPr anchor="ctr">
            <a:noAutofit/>
          </a:bodyPr>
          <a:lstStyle/>
          <a:p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H0"/>
          <p:cNvSpPr/>
          <p:nvPr/>
        </p:nvSpPr>
        <p:spPr>
          <a:xfrm>
            <a:off x="822960" y="2560320"/>
            <a:ext cx="2331720" cy="292608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18세기 말 · 기요틴</a:t>
            </a:r>
          </a:p>
        </p:txBody>
      </p:sp>
      <p:sp>
        <p:nvSpPr>
          <p:cNvPr id="22" name="A0"/>
          <p:cNvSpPr/>
          <p:nvPr/>
        </p:nvSpPr>
        <p:spPr>
          <a:xfrm>
            <a:off x="859536" y="2907792"/>
            <a:ext cx="2258568" cy="804672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귀족의 참수와 평민의 교수</a:t>
            </a:r>
            <a:r>
              <a:rPr lang="en-US" altLang="ko-KR"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차륜형 등 신분에 따라 달랐던 처형방식을 없애고</a:t>
            </a:r>
            <a:r>
              <a:rPr lang="en-US" altLang="ko-KR"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누구에게나 동일하고 신속한 방식으로 집행하려는 개혁으로 등장했다</a:t>
            </a:r>
            <a:endParaRPr lang="ko-KR" sz="1150" b="0" u="none" strike="noStrike" dirty="0">
              <a:solidFill>
                <a:srgbClr val="222633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B0"/>
          <p:cNvSpPr/>
          <p:nvPr/>
        </p:nvSpPr>
        <p:spPr>
          <a:xfrm>
            <a:off x="859536" y="3923030"/>
            <a:ext cx="2258568" cy="539242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→ 이후 신속하고 효율적인 대량 처형을 가능하게 한 장치로 기억됐다</a:t>
            </a:r>
          </a:p>
        </p:txBody>
      </p:sp>
      <p:sp>
        <p:nvSpPr>
          <p:cNvPr id="24" name="PANEL24"/>
          <p:cNvSpPr/>
          <p:nvPr/>
        </p:nvSpPr>
        <p:spPr>
          <a:xfrm>
            <a:off x="3456432" y="2414016"/>
            <a:ext cx="2514600" cy="2139696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txBody>
          <a:bodyPr anchor="ctr">
            <a:noAutofit/>
          </a:bodyPr>
          <a:lstStyle/>
          <a:p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H1"/>
          <p:cNvSpPr/>
          <p:nvPr/>
        </p:nvSpPr>
        <p:spPr>
          <a:xfrm>
            <a:off x="3547872" y="2560320"/>
            <a:ext cx="2331720" cy="292608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1890 · 전기의자</a:t>
            </a:r>
          </a:p>
        </p:txBody>
      </p:sp>
      <p:sp>
        <p:nvSpPr>
          <p:cNvPr id="26" name="A1"/>
          <p:cNvSpPr/>
          <p:nvPr/>
        </p:nvSpPr>
        <p:spPr>
          <a:xfrm>
            <a:off x="3584448" y="2907792"/>
            <a:ext cx="2258568" cy="804672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1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교수형보다 빠르고 고통이 적은 현대적</a:t>
            </a:r>
            <a:r>
              <a:rPr lang="en-US" altLang="ko-KR"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인도적 방</a:t>
            </a:r>
            <a:r>
              <a:rPr lang="ko-KR" sz="11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법으로 </a:t>
            </a:r>
            <a:r>
              <a:rPr lang="ko-KR" altLang="en-US" sz="11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도입</a:t>
            </a:r>
            <a:r>
              <a:rPr lang="ko-KR" sz="11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됐다</a:t>
            </a:r>
          </a:p>
        </p:txBody>
      </p:sp>
      <p:sp>
        <p:nvSpPr>
          <p:cNvPr id="27" name="B1"/>
          <p:cNvSpPr/>
          <p:nvPr/>
        </p:nvSpPr>
        <p:spPr>
          <a:xfrm>
            <a:off x="3584448" y="3730752"/>
            <a:ext cx="2258568" cy="73152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→ </a:t>
            </a:r>
            <a:r>
              <a:rPr lang="ko-KR" alt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최초 집행으로 첫 전기 충격으로 사형수가 사망하지 않아</a:t>
            </a:r>
            <a:r>
              <a:rPr lang="en-US" altLang="ko-KR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두 번 집행됨</a:t>
            </a:r>
            <a:r>
              <a:rPr lang="en-US" altLang="ko-KR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ko-KR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최초 집행부터 심각한 실패로 기록</a:t>
            </a:r>
          </a:p>
        </p:txBody>
      </p:sp>
      <p:sp>
        <p:nvSpPr>
          <p:cNvPr id="28" name="PANEL28"/>
          <p:cNvSpPr/>
          <p:nvPr/>
        </p:nvSpPr>
        <p:spPr>
          <a:xfrm>
            <a:off x="6181344" y="2414016"/>
            <a:ext cx="2514600" cy="2139696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txBody>
          <a:bodyPr anchor="ctr">
            <a:noAutofit/>
          </a:bodyPr>
          <a:lstStyle/>
          <a:p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H2"/>
          <p:cNvSpPr/>
          <p:nvPr/>
        </p:nvSpPr>
        <p:spPr>
          <a:xfrm>
            <a:off x="6272784" y="2560320"/>
            <a:ext cx="2331720" cy="292608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1977 도입 · 약물주입</a:t>
            </a:r>
          </a:p>
        </p:txBody>
      </p:sp>
      <p:sp>
        <p:nvSpPr>
          <p:cNvPr id="30" name="A2"/>
          <p:cNvSpPr/>
          <p:nvPr/>
        </p:nvSpPr>
        <p:spPr>
          <a:xfrm>
            <a:off x="6309360" y="2907792"/>
            <a:ext cx="2258568" cy="804672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1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전기의자와 가스실보다 인도적인 방식으로 설계됐다</a:t>
            </a:r>
          </a:p>
        </p:txBody>
      </p:sp>
      <p:sp>
        <p:nvSpPr>
          <p:cNvPr id="31" name="B2"/>
          <p:cNvSpPr/>
          <p:nvPr/>
        </p:nvSpPr>
        <p:spPr>
          <a:xfrm>
            <a:off x="6309360" y="3730752"/>
            <a:ext cx="2258568" cy="73152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→ 약물 확보와 집행 실패</a:t>
            </a:r>
            <a:r>
              <a:rPr lang="en-US" altLang="ko-KR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정맥 확보 실패</a:t>
            </a:r>
            <a:r>
              <a:rPr lang="en-US" altLang="ko-KR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15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투여 과정 오류</a:t>
            </a:r>
            <a:r>
              <a:rPr lang="en-US" altLang="ko-KR" sz="115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의료인의 참여를 둘러싼 윤리 문제가 이어졌다</a:t>
            </a:r>
          </a:p>
        </p:txBody>
      </p:sp>
      <p:sp>
        <p:nvSpPr>
          <p:cNvPr id="32" name="PANEL32"/>
          <p:cNvSpPr/>
          <p:nvPr/>
        </p:nvSpPr>
        <p:spPr>
          <a:xfrm>
            <a:off x="8906256" y="2414016"/>
            <a:ext cx="2514600" cy="2139696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txBody>
          <a:bodyPr anchor="ctr">
            <a:noAutofit/>
          </a:bodyPr>
          <a:lstStyle/>
          <a:p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H3"/>
          <p:cNvSpPr/>
          <p:nvPr/>
        </p:nvSpPr>
        <p:spPr>
          <a:xfrm>
            <a:off x="8997696" y="2560320"/>
            <a:ext cx="2331720" cy="292608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2024 · 질소가스</a:t>
            </a:r>
          </a:p>
        </p:txBody>
      </p:sp>
      <p:sp>
        <p:nvSpPr>
          <p:cNvPr id="34" name="A3"/>
          <p:cNvSpPr/>
          <p:nvPr/>
        </p:nvSpPr>
        <p:spPr>
          <a:xfrm>
            <a:off x="9034272" y="2907792"/>
            <a:ext cx="2258568" cy="804672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1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수초 안에 의식을 잃는 방법이라는 설명과 함께 처음 집행됐다</a:t>
            </a:r>
          </a:p>
        </p:txBody>
      </p:sp>
      <p:sp>
        <p:nvSpPr>
          <p:cNvPr id="35" name="B3"/>
          <p:cNvSpPr/>
          <p:nvPr/>
        </p:nvSpPr>
        <p:spPr>
          <a:xfrm>
            <a:off x="9034272" y="3730752"/>
            <a:ext cx="2258568" cy="73152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→ </a:t>
            </a:r>
            <a:r>
              <a:rPr lang="en-US" altLang="ko-KR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2024</a:t>
            </a:r>
            <a:r>
              <a:rPr lang="ko-KR" alt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최초 </a:t>
            </a:r>
            <a:r>
              <a:rPr lang="ko-KR" altLang="en-US" sz="115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질소가스 집행에서 </a:t>
            </a:r>
            <a:r>
              <a:rPr lang="ko-KR" alt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사형수들이</a:t>
            </a:r>
            <a:r>
              <a:rPr lang="ko-KR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수 분간의 몸부림과 가쁜 호흡을 </a:t>
            </a:r>
            <a:r>
              <a:rPr lang="ko-KR" alt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보였다고 </a:t>
            </a:r>
            <a:r>
              <a:rPr lang="ko-KR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보고했다</a:t>
            </a:r>
          </a:p>
        </p:txBody>
      </p:sp>
      <p:sp>
        <p:nvSpPr>
          <p:cNvPr id="60" name="BAND60"/>
          <p:cNvSpPr/>
          <p:nvPr/>
        </p:nvSpPr>
        <p:spPr>
          <a:xfrm>
            <a:off x="731520" y="4764278"/>
            <a:ext cx="10698480" cy="438912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txBody>
          <a:bodyPr anchor="ctr">
            <a:noAutofit/>
          </a:bodyPr>
          <a:lstStyle/>
          <a:p>
            <a:endParaRPr/>
          </a:p>
        </p:txBody>
      </p:sp>
      <p:sp>
        <p:nvSpPr>
          <p:cNvPr id="61" name="RES"/>
          <p:cNvSpPr/>
          <p:nvPr/>
        </p:nvSpPr>
        <p:spPr>
          <a:xfrm>
            <a:off x="1005840" y="4847336"/>
            <a:ext cx="10149840" cy="249428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2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1890~2010년 미국의 집행 8,776건 가운데 276건(3.15%)이 절차대로 진행되지 않았고, 그 비율은 약물주입에서 가장 높았다</a:t>
            </a:r>
          </a:p>
        </p:txBody>
      </p:sp>
      <p:sp>
        <p:nvSpPr>
          <p:cNvPr id="62" name="Q1"/>
          <p:cNvSpPr/>
          <p:nvPr/>
        </p:nvSpPr>
        <p:spPr>
          <a:xfrm>
            <a:off x="731520" y="5381244"/>
            <a:ext cx="5257800" cy="37490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altLang="en-US" sz="120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질문</a:t>
            </a:r>
            <a:r>
              <a:rPr lang="ko-KR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1   </a:t>
            </a:r>
            <a:r>
              <a:rPr lang="ko-KR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집행과정의 고통을 줄이면 사형 자체의 정당성 문제도 줄어드는가</a:t>
            </a:r>
          </a:p>
        </p:txBody>
      </p:sp>
      <p:sp>
        <p:nvSpPr>
          <p:cNvPr id="63" name="Q2"/>
          <p:cNvSpPr/>
          <p:nvPr/>
        </p:nvSpPr>
        <p:spPr>
          <a:xfrm>
            <a:off x="6201664" y="5368545"/>
            <a:ext cx="5230368" cy="374900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altLang="en-US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질문</a:t>
            </a:r>
            <a:r>
              <a:rPr lang="ko-KR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2   </a:t>
            </a:r>
            <a:r>
              <a:rPr lang="ko-KR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집행방법의 인도화는 국가의 생명박탈을 더 받아들이기 쉽게 만드는가</a:t>
            </a:r>
          </a:p>
        </p:txBody>
      </p:sp>
      <p:sp>
        <p:nvSpPr>
          <p:cNvPr id="64" name="L64"/>
          <p:cNvSpPr/>
          <p:nvPr/>
        </p:nvSpPr>
        <p:spPr>
          <a:xfrm>
            <a:off x="731520" y="585216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GBAND"/>
          <p:cNvSpPr/>
          <p:nvPr/>
        </p:nvSpPr>
        <p:spPr>
          <a:xfrm>
            <a:off x="731520" y="5911088"/>
            <a:ext cx="10698480" cy="585468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집행과정의 고통을 줄이면 ‘잔혹한 </a:t>
            </a:r>
            <a:r>
              <a:rPr lang="ko-KR" altLang="ko-KR" sz="1200" b="1" dirty="0" err="1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집행’</a:t>
            </a:r>
            <a:r>
              <a:rPr lang="ko-KR" altLang="en-US" sz="1200" b="1" dirty="0" err="1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에</a:t>
            </a:r>
            <a:r>
              <a:rPr lang="ko-KR" altLang="en-US" sz="120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 대한</a:t>
            </a:r>
            <a:r>
              <a:rPr lang="ko-KR" altLang="ko-KR" sz="120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 비판은 일부 줄어들 수 있</a:t>
            </a:r>
            <a:r>
              <a:rPr lang="ko-KR" altLang="en-US" sz="120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으나</a:t>
            </a:r>
            <a:r>
              <a:rPr lang="en-US" altLang="ko-KR" sz="120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ko-KR" altLang="ko-KR" sz="120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 생명박탈 자체의 정당성 문제는 남고, </a:t>
            </a:r>
            <a:endParaRPr lang="en-US" altLang="ko-KR" sz="1200" b="1" dirty="0">
              <a:solidFill>
                <a:srgbClr val="A8871C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50000"/>
              </a:lnSpc>
            </a:pPr>
            <a:r>
              <a:rPr lang="ko-KR" altLang="ko-KR" sz="120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오히려 집행의 인도화가 국가의 생명박탈을 더 받아들이기 쉽게 만든다는 비판도 제기된다</a:t>
            </a:r>
            <a:r>
              <a:rPr lang="en-US" altLang="ko-KR" sz="120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sz="1200" b="1" u="none" strike="noStrike" dirty="0">
              <a:solidFill>
                <a:srgbClr val="A8871C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6" name="NOTE"/>
          <p:cNvSpPr/>
          <p:nvPr/>
        </p:nvSpPr>
        <p:spPr>
          <a:xfrm>
            <a:off x="731520" y="6541006"/>
            <a:ext cx="10698480" cy="262129"/>
          </a:xfrm>
          <a:prstGeom prst="rect">
            <a:avLst/>
          </a:prstGeom>
          <a:noFill/>
          <a:ln w="0">
            <a:noFill/>
          </a:ln>
        </p:spPr>
        <p:txBody>
          <a:bodyPr lIns="54720" tIns="32760" rIns="54720" bIns="32760" anchor="t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실패 집계: Austin Sarat, Gruesome Spectacles(2014) · 미국 사형정보센터(DPIC) 정리 · 2024. 1. 25. 앨라배마 질소 집행의 경과는 DPIC와 언론 보도 기준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0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현행법과 집행 현실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한국의 사형제 — 법률과 실제 집행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26" name="Shape 2"/>
          <p:cNvSpPr/>
          <p:nvPr/>
        </p:nvSpPr>
        <p:spPr>
          <a:xfrm>
            <a:off x="731520" y="1417320"/>
            <a:ext cx="10696680" cy="83952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27" name="Text 3"/>
          <p:cNvSpPr/>
          <p:nvPr/>
        </p:nvSpPr>
        <p:spPr>
          <a:xfrm>
            <a:off x="1005840" y="1417320"/>
            <a:ext cx="10148040" cy="83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법에는 사형이 남아 있고 집행은 멈춰 있다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 28</a:t>
            </a:r>
            <a:r>
              <a:rPr lang="zh-CN" sz="13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넘게 집행이 없어 국제앰네스티는 한국을 ‘실질적 폐지국’으로 분류한다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28" name="Shape 4"/>
          <p:cNvSpPr/>
          <p:nvPr/>
        </p:nvSpPr>
        <p:spPr>
          <a:xfrm>
            <a:off x="731520" y="2240280"/>
            <a:ext cx="1069848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29" name="Text 5"/>
          <p:cNvSpPr/>
          <p:nvPr/>
        </p:nvSpPr>
        <p:spPr>
          <a:xfrm>
            <a:off x="1155700" y="2518410"/>
            <a:ext cx="25001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22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1997. 12. 30.</a:t>
            </a:r>
            <a:endParaRPr lang="en-US" sz="2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30" name="Text 6"/>
          <p:cNvSpPr/>
          <p:nvPr/>
        </p:nvSpPr>
        <p:spPr>
          <a:xfrm>
            <a:off x="5060950" y="2339920"/>
            <a:ext cx="636725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마지막 사형 집행일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31" name="Text 7"/>
          <p:cNvSpPr/>
          <p:nvPr/>
        </p:nvSpPr>
        <p:spPr>
          <a:xfrm>
            <a:off x="5060950" y="2742040"/>
            <a:ext cx="636725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이날 </a:t>
            </a:r>
            <a:r>
              <a:rPr lang="en-US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23</a:t>
            </a: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명 집행 </a:t>
            </a:r>
            <a:r>
              <a:rPr lang="en-US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이후 사형 집행이 이루어지지 않았다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32" name="Shape 8"/>
          <p:cNvSpPr/>
          <p:nvPr/>
        </p:nvSpPr>
        <p:spPr>
          <a:xfrm>
            <a:off x="731520" y="321818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33" name="Text 9"/>
          <p:cNvSpPr/>
          <p:nvPr/>
        </p:nvSpPr>
        <p:spPr>
          <a:xfrm>
            <a:off x="1155700" y="3522400"/>
            <a:ext cx="25001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2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법률상 존치</a:t>
            </a:r>
            <a:endParaRPr lang="en-US" sz="2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34" name="Text 10"/>
          <p:cNvSpPr/>
          <p:nvPr/>
        </p:nvSpPr>
        <p:spPr>
          <a:xfrm>
            <a:off x="5060950" y="3464560"/>
            <a:ext cx="636725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형법에 사형 규정이 남아 있다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35" name="Text 11"/>
          <p:cNvSpPr/>
          <p:nvPr/>
        </p:nvSpPr>
        <p:spPr>
          <a:xfrm>
            <a:off x="5060950" y="3867040"/>
            <a:ext cx="636725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형법 제</a:t>
            </a:r>
            <a:r>
              <a:rPr lang="en-US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41</a:t>
            </a: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조와 개별 법정형 조항은 사형을 형벌의 선택지로 두고 있다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36" name="Shape 12"/>
          <p:cNvSpPr/>
          <p:nvPr/>
        </p:nvSpPr>
        <p:spPr>
          <a:xfrm>
            <a:off x="731520" y="431546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37" name="Text 13"/>
          <p:cNvSpPr/>
          <p:nvPr/>
        </p:nvSpPr>
        <p:spPr>
          <a:xfrm>
            <a:off x="1155700" y="4574880"/>
            <a:ext cx="25001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2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실질적 폐지</a:t>
            </a:r>
            <a:endParaRPr lang="en-US" sz="2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38" name="Text 14"/>
          <p:cNvSpPr/>
          <p:nvPr/>
        </p:nvSpPr>
        <p:spPr>
          <a:xfrm>
            <a:off x="5060950" y="4491640"/>
            <a:ext cx="636725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국제앰네스티의 분류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39" name="Text 15"/>
          <p:cNvSpPr/>
          <p:nvPr/>
        </p:nvSpPr>
        <p:spPr>
          <a:xfrm>
            <a:off x="5060950" y="4894120"/>
            <a:ext cx="636725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법률에는 사형이 남아 있지만 장기간 집행하지 않고</a:t>
            </a:r>
            <a:r>
              <a:rPr lang="en-US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집행하지 않는 정책</a:t>
            </a:r>
            <a:r>
              <a:rPr lang="en-US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관행이 있다고 분류되는 경우다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40" name="Shape 16"/>
          <p:cNvSpPr/>
          <p:nvPr/>
        </p:nvSpPr>
        <p:spPr>
          <a:xfrm>
            <a:off x="731520" y="530294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41" name="Text 17"/>
          <p:cNvSpPr/>
          <p:nvPr/>
        </p:nvSpPr>
        <p:spPr>
          <a:xfrm>
            <a:off x="731520" y="5400330"/>
            <a:ext cx="106966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2023. 8. 8. </a:t>
            </a: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형법 개정</a:t>
            </a:r>
            <a:r>
              <a:rPr lang="en-US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시행 — 사형을 형의 시효 적용 대상에서 제외 </a:t>
            </a:r>
            <a:r>
              <a:rPr lang="en-US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법률 제</a:t>
            </a:r>
            <a:r>
              <a:rPr lang="en-US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19582</a:t>
            </a: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호</a:t>
            </a:r>
            <a:r>
              <a:rPr lang="en-US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42" name="LBAND"/>
          <p:cNvSpPr/>
          <p:nvPr/>
        </p:nvSpPr>
        <p:spPr>
          <a:xfrm>
            <a:off x="731520" y="5817392"/>
            <a:ext cx="10696680" cy="907258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44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세계의 사형제 현황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18">
            <a:extLst>
              <a:ext uri="{FF2B5EF4-FFF2-40B4-BE49-F238E27FC236}">
                <a16:creationId xmlns:a16="http://schemas.microsoft.com/office/drawing/2014/main" id="{9351CBE2-50E1-F6FA-A426-BD9F90C86122}"/>
              </a:ext>
            </a:extLst>
          </p:cNvPr>
          <p:cNvSpPr>
            <a:spLocks noGrp="1"/>
          </p:cNvSpPr>
          <p:nvPr/>
        </p:nvSpPr>
        <p:spPr>
          <a:xfrm>
            <a:off x="1005840" y="5817320"/>
            <a:ext cx="10149840" cy="90725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150" b="1" dirty="0" err="1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공소시효</a:t>
            </a:r>
            <a:r>
              <a:rPr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sz="115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범죄가</a:t>
            </a:r>
            <a:r>
              <a:rPr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발생한</a:t>
            </a:r>
            <a:r>
              <a:rPr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뒤 </a:t>
            </a:r>
            <a:r>
              <a:rPr sz="115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국가가</a:t>
            </a:r>
            <a:r>
              <a:rPr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기소할</a:t>
            </a:r>
            <a:r>
              <a:rPr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수 </a:t>
            </a:r>
            <a:r>
              <a:rPr sz="115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있는</a:t>
            </a:r>
            <a:r>
              <a:rPr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기간</a:t>
            </a:r>
            <a:r>
              <a:rPr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         </a:t>
            </a:r>
            <a:r>
              <a:rPr sz="1150" b="1" dirty="0" err="1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형의</a:t>
            </a:r>
            <a:r>
              <a:rPr sz="11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1" dirty="0" err="1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시효</a:t>
            </a:r>
            <a:r>
              <a:rPr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sz="115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형이</a:t>
            </a:r>
            <a:r>
              <a:rPr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확정된</a:t>
            </a:r>
            <a:r>
              <a:rPr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뒤 </a:t>
            </a:r>
            <a:r>
              <a:rPr sz="115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일정</a:t>
            </a:r>
            <a:r>
              <a:rPr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기간</a:t>
            </a:r>
            <a:r>
              <a:rPr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집행되지</a:t>
            </a:r>
            <a:r>
              <a:rPr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않으면</a:t>
            </a:r>
            <a:r>
              <a:rPr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집행이</a:t>
            </a:r>
            <a:r>
              <a:rPr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면제되는</a:t>
            </a:r>
            <a:r>
              <a:rPr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제도</a:t>
            </a:r>
            <a:r>
              <a:rPr lang="en-US" sz="11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ㅡ</a:t>
            </a:r>
            <a:r>
              <a:rPr lang="ko-KR" altLang="en-US" sz="1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 유죄판결 자체가 없어지는 것은 아니다</a:t>
            </a:r>
            <a:endParaRPr lang="en-US" altLang="ko-KR" sz="1150" dirty="0">
              <a:solidFill>
                <a:schemeClr val="tx1">
                  <a:lumMod val="50000"/>
                  <a:lumOff val="50000"/>
                </a:schemeClr>
              </a:solidFill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8000"/>
              </a:lnSpc>
              <a:buNone/>
            </a:pPr>
            <a:endParaRPr lang="en-US" sz="800" dirty="0">
              <a:solidFill>
                <a:srgbClr val="222633"/>
              </a:solidFill>
              <a:latin typeface="Pretendard"/>
              <a:ea typeface="Pretendard"/>
              <a:cs typeface="Pretendard"/>
            </a:endParaRPr>
          </a:p>
          <a:p>
            <a:r>
              <a:rPr lang="ko-KR" altLang="ko-KR" sz="1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과거 사형에는 30년의 집행시효가 규정되어 있었지만, 2023년부터 사형은 형의 시효 대상에서 제외되었다.</a:t>
            </a:r>
            <a:r>
              <a:rPr lang="en-US" altLang="ko-KR" sz="1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</a:p>
          <a:p>
            <a:r>
              <a:rPr lang="ko-KR" altLang="ko-KR" sz="1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2023년 개정 전에도 법무부는 사형확정자의 구치는 사형 집행절차의 일부이므로 그동안 집행시효 자체가 진행되지 않는다고 해석할 수 있다고 설명</a:t>
            </a:r>
            <a:r>
              <a:rPr lang="ko-KR" altLang="en-US" sz="1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하였다</a:t>
            </a:r>
            <a:r>
              <a:rPr lang="en-US" altLang="ko-KR" sz="1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.</a:t>
            </a:r>
            <a:endParaRPr sz="1150" dirty="0">
              <a:solidFill>
                <a:schemeClr val="tx1">
                  <a:lumMod val="50000"/>
                  <a:lumOff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KICKER"/>
          <p:cNvSpPr/>
          <p:nvPr/>
        </p:nvSpPr>
        <p:spPr>
          <a:xfrm>
            <a:off x="731520" y="3657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국제 현황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46" name="TITLE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세계의 사형제 현황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47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레바논 사례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48" name="BAND"/>
          <p:cNvSpPr/>
          <p:nvPr/>
        </p:nvSpPr>
        <p:spPr>
          <a:xfrm>
            <a:off x="731520" y="1417320"/>
            <a:ext cx="10696680" cy="5468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49" name="BANDT"/>
          <p:cNvSpPr/>
          <p:nvPr/>
        </p:nvSpPr>
        <p:spPr>
          <a:xfrm>
            <a:off x="1005840" y="1417320"/>
            <a:ext cx="101480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국제앰네스티 집계 </a:t>
            </a:r>
            <a:r>
              <a:rPr lang="en-US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2025</a:t>
            </a:r>
            <a:r>
              <a:rPr lang="zh-CN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말 기준</a:t>
            </a:r>
            <a:r>
              <a:rPr lang="en-US" sz="11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 </a:t>
            </a:r>
            <a:r>
              <a:rPr lang="ko-KR" altLang="en-US" sz="1150" b="1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ㅡ</a:t>
            </a:r>
            <a:r>
              <a:rPr lang="en-US" sz="1150" b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15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국제앰네스티는</a:t>
            </a:r>
            <a:r>
              <a:rPr lang="ko-KR" altLang="en-US" sz="1150" b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150" b="1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사형폐지를</a:t>
            </a:r>
            <a:r>
              <a:rPr lang="en-US" sz="1150" b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150" b="1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지지하는</a:t>
            </a:r>
            <a:r>
              <a:rPr lang="en-US" sz="1150" b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150" b="1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국제</a:t>
            </a:r>
            <a:r>
              <a:rPr lang="en-US" sz="1150" b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150" b="1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인권</a:t>
            </a:r>
            <a:r>
              <a:rPr lang="en-US" sz="1150" b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 NGO</a:t>
            </a:r>
            <a:endParaRPr lang="en-US" sz="1150" b="0" u="none" strike="noStrike" dirty="0">
              <a:solidFill>
                <a:schemeClr val="tx1">
                  <a:lumMod val="50000"/>
                  <a:lumOff val="50000"/>
                </a:schemeClr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50" name="L"/>
          <p:cNvSpPr/>
          <p:nvPr/>
        </p:nvSpPr>
        <p:spPr>
          <a:xfrm>
            <a:off x="731520" y="22402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51" name="TH"/>
          <p:cNvSpPr/>
          <p:nvPr/>
        </p:nvSpPr>
        <p:spPr>
          <a:xfrm>
            <a:off x="731520" y="2304360"/>
            <a:ext cx="347292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2025</a:t>
            </a:r>
            <a:r>
              <a:rPr lang="zh-CN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말 분류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52" name="TH"/>
          <p:cNvSpPr/>
          <p:nvPr/>
        </p:nvSpPr>
        <p:spPr>
          <a:xfrm>
            <a:off x="4480560" y="2304360"/>
            <a:ext cx="127836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국가 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53" name="TH"/>
          <p:cNvSpPr/>
          <p:nvPr/>
        </p:nvSpPr>
        <p:spPr>
          <a:xfrm>
            <a:off x="7406640" y="2304360"/>
            <a:ext cx="402156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의미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54" name="L"/>
          <p:cNvSpPr/>
          <p:nvPr/>
        </p:nvSpPr>
        <p:spPr>
          <a:xfrm>
            <a:off x="731520" y="27064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55" name="C1"/>
          <p:cNvSpPr/>
          <p:nvPr/>
        </p:nvSpPr>
        <p:spPr>
          <a:xfrm>
            <a:off x="731520" y="2752200"/>
            <a:ext cx="347292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모든 범죄에 대해 폐지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56" name="C2"/>
          <p:cNvSpPr/>
          <p:nvPr/>
        </p:nvSpPr>
        <p:spPr>
          <a:xfrm>
            <a:off x="4480560" y="2752200"/>
            <a:ext cx="127836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113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57" name="C3"/>
          <p:cNvSpPr/>
          <p:nvPr/>
        </p:nvSpPr>
        <p:spPr>
          <a:xfrm>
            <a:off x="7406640" y="2752200"/>
            <a:ext cx="402156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법률에 사형 없음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58" name="L"/>
          <p:cNvSpPr/>
          <p:nvPr/>
        </p:nvSpPr>
        <p:spPr>
          <a:xfrm>
            <a:off x="731520" y="334656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59" name="C1"/>
          <p:cNvSpPr/>
          <p:nvPr/>
        </p:nvSpPr>
        <p:spPr>
          <a:xfrm>
            <a:off x="731520" y="3374280"/>
            <a:ext cx="347292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일반범죄에 대해서만 폐지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60" name="C2"/>
          <p:cNvSpPr/>
          <p:nvPr/>
        </p:nvSpPr>
        <p:spPr>
          <a:xfrm>
            <a:off x="4480560" y="3374280"/>
            <a:ext cx="127836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61" name="C3"/>
          <p:cNvSpPr/>
          <p:nvPr/>
        </p:nvSpPr>
        <p:spPr>
          <a:xfrm>
            <a:off x="7406640" y="3374280"/>
            <a:ext cx="402156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일반범죄 사형 없음 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예외범죄는 남을 수 있음</a:t>
            </a:r>
            <a:r>
              <a:rPr lang="en-US" altLang="zh-CN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여적</a:t>
            </a:r>
            <a:r>
              <a:rPr lang="en-US" altLang="ko-KR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반역</a:t>
            </a:r>
            <a:r>
              <a:rPr lang="en-US" altLang="ko-KR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15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62" name="L"/>
          <p:cNvSpPr/>
          <p:nvPr/>
        </p:nvSpPr>
        <p:spPr>
          <a:xfrm>
            <a:off x="731520" y="394992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63" name="C1"/>
          <p:cNvSpPr/>
          <p:nvPr/>
        </p:nvSpPr>
        <p:spPr>
          <a:xfrm>
            <a:off x="731520" y="3974760"/>
            <a:ext cx="347292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실질적 폐지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64" name="C2"/>
          <p:cNvSpPr/>
          <p:nvPr/>
        </p:nvSpPr>
        <p:spPr>
          <a:xfrm>
            <a:off x="4480560" y="3974760"/>
            <a:ext cx="127836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65" name="C3"/>
          <p:cNvSpPr/>
          <p:nvPr/>
        </p:nvSpPr>
        <p:spPr>
          <a:xfrm>
            <a:off x="7406640" y="3974760"/>
            <a:ext cx="402156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통상 </a:t>
            </a:r>
            <a:r>
              <a:rPr lang="en-US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10</a:t>
            </a: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이상 미집행이며</a:t>
            </a:r>
            <a:r>
              <a:rPr lang="en-US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집행하지 않는 정책</a:t>
            </a:r>
            <a:r>
              <a:rPr lang="en-US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관행이 있는 경우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66" name="L"/>
          <p:cNvSpPr/>
          <p:nvPr/>
        </p:nvSpPr>
        <p:spPr>
          <a:xfrm>
            <a:off x="731520" y="45536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67" name="S1"/>
          <p:cNvSpPr/>
          <p:nvPr/>
        </p:nvSpPr>
        <p:spPr>
          <a:xfrm>
            <a:off x="731520" y="4605480"/>
            <a:ext cx="347292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법률상 또는 실질적으로 폐지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68" name="S2"/>
          <p:cNvSpPr/>
          <p:nvPr/>
        </p:nvSpPr>
        <p:spPr>
          <a:xfrm>
            <a:off x="4480560" y="4605480"/>
            <a:ext cx="127836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145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69" name="S3"/>
          <p:cNvSpPr/>
          <p:nvPr/>
        </p:nvSpPr>
        <p:spPr>
          <a:xfrm>
            <a:off x="7406640" y="4605480"/>
            <a:ext cx="402156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113 + 9 + 23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70" name="L"/>
          <p:cNvSpPr/>
          <p:nvPr/>
        </p:nvSpPr>
        <p:spPr>
          <a:xfrm>
            <a:off x="731520" y="52120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71" name="S4"/>
          <p:cNvSpPr/>
          <p:nvPr/>
        </p:nvSpPr>
        <p:spPr>
          <a:xfrm>
            <a:off x="731520" y="5303520"/>
            <a:ext cx="347292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존치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72" name="S5"/>
          <p:cNvSpPr/>
          <p:nvPr/>
        </p:nvSpPr>
        <p:spPr>
          <a:xfrm>
            <a:off x="4480560" y="5303520"/>
            <a:ext cx="127836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54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73" name="S6"/>
          <p:cNvSpPr/>
          <p:nvPr/>
        </p:nvSpPr>
        <p:spPr>
          <a:xfrm>
            <a:off x="7406640" y="5303520"/>
            <a:ext cx="402156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일반범죄에 사형 유지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74" name="L"/>
          <p:cNvSpPr/>
          <p:nvPr/>
        </p:nvSpPr>
        <p:spPr>
          <a:xfrm>
            <a:off x="731520" y="588852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75" name="EXE"/>
          <p:cNvSpPr/>
          <p:nvPr/>
        </p:nvSpPr>
        <p:spPr>
          <a:xfrm>
            <a:off x="731520" y="6118970"/>
            <a:ext cx="106966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2025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집행 확인 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17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개국 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최소 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2,707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명 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중국 등 비공개된 실제 규모를 모두 포함한 세계 총계는 아니다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KICKER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국제 현황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78" name="TITLE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장기 미집행에서 법률상 폐지로 — 레바논 </a:t>
            </a:r>
            <a:r>
              <a:rPr lang="en-US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2026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79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레바논의 형 감경 제도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0" name="BAND"/>
          <p:cNvSpPr/>
          <p:nvPr/>
        </p:nvSpPr>
        <p:spPr>
          <a:xfrm>
            <a:off x="731520" y="1417320"/>
            <a:ext cx="10696680" cy="5468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1" name="BANDT"/>
          <p:cNvSpPr/>
          <p:nvPr/>
        </p:nvSpPr>
        <p:spPr>
          <a:xfrm>
            <a:off x="1005840" y="1417320"/>
            <a:ext cx="101480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레바논은 </a:t>
            </a:r>
            <a:r>
              <a:rPr lang="en-US" altLang="ko-KR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2026</a:t>
            </a:r>
            <a:r>
              <a:rPr lang="ko-KR" altLang="en-US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년 사형을 법에서 없애고</a:t>
            </a:r>
            <a:r>
              <a:rPr lang="en-US" altLang="ko-KR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범죄 시점에 따라 서로 다른 종신형을 대체형벌로 두었다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2" name="L"/>
          <p:cNvSpPr/>
          <p:nvPr/>
        </p:nvSpPr>
        <p:spPr>
          <a:xfrm>
            <a:off x="731520" y="22402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3" name="TICK"/>
          <p:cNvSpPr/>
          <p:nvPr/>
        </p:nvSpPr>
        <p:spPr>
          <a:xfrm>
            <a:off x="731520" y="2470320"/>
            <a:ext cx="71280" cy="30924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4" name="H"/>
          <p:cNvSpPr/>
          <p:nvPr/>
        </p:nvSpPr>
        <p:spPr>
          <a:xfrm>
            <a:off x="1005840" y="2415600"/>
            <a:ext cx="1042236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2004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이후 미집행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5" name="X"/>
          <p:cNvSpPr/>
          <p:nvPr/>
        </p:nvSpPr>
        <p:spPr>
          <a:xfrm>
            <a:off x="1005840" y="2817720"/>
            <a:ext cx="105765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마지막 집행은 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2004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월</a:t>
            </a:r>
            <a:r>
              <a:rPr lang="en-US" altLang="zh-CN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.</a:t>
            </a:r>
            <a:r>
              <a:rPr lang="ko-KR" alt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그러나 </a:t>
            </a:r>
            <a:r>
              <a:rPr lang="en-US" altLang="ko-KR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Amnesty</a:t>
            </a:r>
            <a:r>
              <a:rPr lang="ko-KR" alt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는 </a:t>
            </a:r>
            <a:r>
              <a:rPr lang="en-US" altLang="ko-KR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2025</a:t>
            </a:r>
            <a:r>
              <a:rPr lang="ko-KR" alt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년 말까지 레바논을 존치국으로 분류했다 </a:t>
            </a:r>
            <a:r>
              <a:rPr lang="en-US" altLang="ko-KR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lang="ko-KR" altLang="en-US" sz="120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미집행</a:t>
            </a:r>
            <a:r>
              <a:rPr lang="ko-KR" alt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기간뿐 아니라 집행하지 않는 정책</a:t>
            </a:r>
            <a:r>
              <a:rPr lang="en-US" altLang="ko-KR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확립된 관행까지 분류에 고려한다</a:t>
            </a:r>
            <a:r>
              <a:rPr lang="en-US" altLang="ko-KR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.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6" name="L"/>
          <p:cNvSpPr/>
          <p:nvPr/>
        </p:nvSpPr>
        <p:spPr>
          <a:xfrm>
            <a:off x="731520" y="332820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7" name="TICK"/>
          <p:cNvSpPr/>
          <p:nvPr/>
        </p:nvSpPr>
        <p:spPr>
          <a:xfrm>
            <a:off x="731520" y="3456360"/>
            <a:ext cx="71280" cy="30924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8" name="H"/>
          <p:cNvSpPr/>
          <p:nvPr/>
        </p:nvSpPr>
        <p:spPr>
          <a:xfrm>
            <a:off x="1005840" y="3401640"/>
            <a:ext cx="1042236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2026. 8. 20. 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법률상 폐지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9" name="X"/>
          <p:cNvSpPr/>
          <p:nvPr/>
        </p:nvSpPr>
        <p:spPr>
          <a:xfrm>
            <a:off x="1005840" y="3803760"/>
            <a:ext cx="10422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의회 가결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(8. 11.) → 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관보</a:t>
            </a:r>
            <a:r>
              <a:rPr lang="en-US" alt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정부의 공식 </a:t>
            </a:r>
            <a:r>
              <a:rPr lang="ko-KR" altLang="en-US" sz="120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공고물</a:t>
            </a:r>
            <a:r>
              <a:rPr lang="en-US" altLang="ko-KR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게재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시행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(8. 20.) · 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법률 제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68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호 제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6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조는 관보 게재일부터 시행하도록 정했다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0" name="L"/>
          <p:cNvSpPr/>
          <p:nvPr/>
        </p:nvSpPr>
        <p:spPr>
          <a:xfrm>
            <a:off x="731520" y="424260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1" name="TICK"/>
          <p:cNvSpPr/>
          <p:nvPr/>
        </p:nvSpPr>
        <p:spPr>
          <a:xfrm>
            <a:off x="731520" y="4370760"/>
            <a:ext cx="71280" cy="30924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2" name="H"/>
          <p:cNvSpPr/>
          <p:nvPr/>
        </p:nvSpPr>
        <p:spPr>
          <a:xfrm>
            <a:off x="1005840" y="4316040"/>
            <a:ext cx="1042236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대체형벌</a:t>
            </a:r>
            <a:r>
              <a:rPr lang="en-US" alt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설계</a:t>
            </a:r>
            <a:r>
              <a:rPr 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 — 시행시점에 따라 달리 적용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3" name="X"/>
          <p:cNvSpPr/>
          <p:nvPr/>
        </p:nvSpPr>
        <p:spPr>
          <a:xfrm>
            <a:off x="1005840" y="4718160"/>
            <a:ext cx="10422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시행 전 범죄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기존 미집행 사형은 종신 중노동형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시행 후 범죄는 가중된 종신 중노동형으로 대체한다</a:t>
            </a:r>
            <a:endParaRPr lang="en-US" sz="12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4" name="L"/>
          <p:cNvSpPr/>
          <p:nvPr/>
        </p:nvSpPr>
        <p:spPr>
          <a:xfrm>
            <a:off x="731520" y="515700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5" name="TICK"/>
          <p:cNvSpPr/>
          <p:nvPr/>
        </p:nvSpPr>
        <p:spPr>
          <a:xfrm>
            <a:off x="731520" y="5285160"/>
            <a:ext cx="71280" cy="30924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6" name="H"/>
          <p:cNvSpPr/>
          <p:nvPr/>
        </p:nvSpPr>
        <p:spPr>
          <a:xfrm>
            <a:off x="1005840" y="5230440"/>
            <a:ext cx="1042236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무엇이 ‘가중’되었나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7" name="X"/>
          <p:cNvSpPr/>
          <p:nvPr/>
        </p:nvSpPr>
        <p:spPr>
          <a:xfrm>
            <a:off x="1005840" y="5632560"/>
            <a:ext cx="10422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노동강도나 </a:t>
            </a:r>
            <a:r>
              <a:rPr lang="ko-KR" altLang="en-US" sz="120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최소복역기간을</a:t>
            </a:r>
            <a:r>
              <a:rPr lang="ko-KR" alt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새로 정한 것이 아니라</a:t>
            </a:r>
            <a:r>
              <a:rPr lang="en-US" altLang="ko-KR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00" dirty="0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가중된 종신 노동형의 </a:t>
            </a:r>
            <a:r>
              <a:rPr lang="ko-KR" altLang="en-US" sz="1200" dirty="0" err="1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감경을</a:t>
            </a:r>
            <a:r>
              <a:rPr lang="ko-KR" altLang="en-US" sz="1200" dirty="0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 법률 제</a:t>
            </a:r>
            <a:r>
              <a:rPr lang="en-US" altLang="ko-KR" sz="1200" dirty="0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463/2002</a:t>
            </a:r>
            <a:r>
              <a:rPr lang="ko-KR" altLang="en-US" sz="1200" dirty="0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호에 따른 절차로 제한한 것이 핵심이다</a:t>
            </a:r>
            <a:r>
              <a:rPr lang="en-US" altLang="ko-KR" sz="1200" dirty="0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8" name="L"/>
          <p:cNvSpPr/>
          <p:nvPr/>
        </p:nvSpPr>
        <p:spPr>
          <a:xfrm>
            <a:off x="731520" y="607140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9" name="GBAND"/>
          <p:cNvSpPr/>
          <p:nvPr/>
        </p:nvSpPr>
        <p:spPr>
          <a:xfrm>
            <a:off x="731520" y="6166440"/>
            <a:ext cx="1069668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사형을 법에서 없애는 순간</a:t>
            </a:r>
            <a:r>
              <a:rPr lang="en-US" altLang="ko-KR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무엇을 최고형으로 </a:t>
            </a:r>
            <a:r>
              <a:rPr lang="ko-KR" altLang="en-US" sz="1250" b="1" dirty="0" err="1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둘지와</a:t>
            </a: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 그 형을 어떻게 집행</a:t>
            </a:r>
            <a:r>
              <a:rPr lang="en-US" altLang="ko-KR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감경할지도 함께 결정해야 한다</a:t>
            </a:r>
            <a:r>
              <a:rPr lang="en-US" altLang="ko-KR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 0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국제 현황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01" name="Text 1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종신형의 집행을 줄이는 방식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02" name="Shape 2"/>
          <p:cNvSpPr/>
          <p:nvPr/>
        </p:nvSpPr>
        <p:spPr>
          <a:xfrm>
            <a:off x="731520" y="1417320"/>
            <a:ext cx="10696680" cy="5468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03" name="Text 3"/>
          <p:cNvSpPr/>
          <p:nvPr/>
        </p:nvSpPr>
        <p:spPr>
          <a:xfrm>
            <a:off x="1005840" y="1417320"/>
            <a:ext cx="101480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대체형벌은 이름뿐 아니라 감경</a:t>
            </a:r>
            <a:r>
              <a:rPr lang="en-US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가석방</a:t>
            </a:r>
            <a:r>
              <a:rPr lang="en-US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사면 구조까지 함께 살펴야 실제 구금 범위를 이해할 수 있다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04" name="Shape 4"/>
          <p:cNvSpPr/>
          <p:nvPr/>
        </p:nvSpPr>
        <p:spPr>
          <a:xfrm>
            <a:off x="731520" y="2240280"/>
            <a:ext cx="1069848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05" name="Text 5"/>
          <p:cNvSpPr/>
          <p:nvPr/>
        </p:nvSpPr>
        <p:spPr>
          <a:xfrm>
            <a:off x="890270" y="2689560"/>
            <a:ext cx="1284120" cy="42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기본 제도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06" name="Text 6"/>
          <p:cNvSpPr/>
          <p:nvPr/>
        </p:nvSpPr>
        <p:spPr>
          <a:xfrm>
            <a:off x="2103120" y="2451220"/>
            <a:ext cx="93250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레바논</a:t>
            </a:r>
            <a:r>
              <a:rPr 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 감경 </a:t>
            </a:r>
            <a:r>
              <a:rPr 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/ </a:t>
            </a: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한국</a:t>
            </a:r>
            <a:r>
              <a:rPr 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가석방</a:t>
            </a:r>
            <a:r>
              <a:rPr 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사면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07" name="Text 7"/>
          <p:cNvSpPr/>
          <p:nvPr/>
        </p:nvSpPr>
        <p:spPr>
          <a:xfrm>
            <a:off x="2103120" y="2816980"/>
            <a:ext cx="9325080" cy="62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레바논은 감경위원회 심사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제안 뒤 법원이 형을 줄인다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한국의 가석방은 형 자체를 줄이지 않고 행정처분으로 조건부 석방하는 구조다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08" name="Shape 8"/>
          <p:cNvSpPr/>
          <p:nvPr/>
        </p:nvSpPr>
        <p:spPr>
          <a:xfrm>
            <a:off x="731520" y="347472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09" name="Text 9"/>
          <p:cNvSpPr/>
          <p:nvPr/>
        </p:nvSpPr>
        <p:spPr>
          <a:xfrm>
            <a:off x="890270" y="3924000"/>
            <a:ext cx="1284120" cy="42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시간 기준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10" name="Text 10"/>
          <p:cNvSpPr/>
          <p:nvPr/>
        </p:nvSpPr>
        <p:spPr>
          <a:xfrm>
            <a:off x="2103120" y="3685660"/>
            <a:ext cx="93250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레바논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일정 복역 후 감경 신청 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/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한국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무기형은 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후 가석방 대상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11" name="Text 11"/>
          <p:cNvSpPr/>
          <p:nvPr/>
        </p:nvSpPr>
        <p:spPr>
          <a:xfrm>
            <a:off x="2103120" y="4051420"/>
            <a:ext cx="9325080" cy="62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두 제도 모두 일정 기간이 지나면 자동 석방되는 제도가 아니다</a:t>
            </a:r>
            <a:r>
              <a:rPr lang="en-US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zh-CN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범죄유형</a:t>
            </a:r>
            <a:r>
              <a:rPr lang="en-US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수형자의 상태</a:t>
            </a:r>
            <a:r>
              <a:rPr lang="en-US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재범위험</a:t>
            </a:r>
            <a:r>
              <a:rPr lang="en-US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행상 등을 개별적으로 본다</a:t>
            </a:r>
            <a:r>
              <a:rPr lang="en-US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12" name="Shape 12"/>
          <p:cNvSpPr/>
          <p:nvPr/>
        </p:nvSpPr>
        <p:spPr>
          <a:xfrm>
            <a:off x="731520" y="470916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13" name="Text 13"/>
          <p:cNvSpPr/>
          <p:nvPr/>
        </p:nvSpPr>
        <p:spPr>
          <a:xfrm>
            <a:off x="890270" y="5158440"/>
            <a:ext cx="1284120" cy="42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법적 효과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14" name="Text 14"/>
          <p:cNvSpPr/>
          <p:nvPr/>
        </p:nvSpPr>
        <p:spPr>
          <a:xfrm>
            <a:off x="2103120" y="4920100"/>
            <a:ext cx="93250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 자체를 줄이는 감경과</a:t>
            </a:r>
            <a:r>
              <a:rPr 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형을 유지한 채 석방하는 가석방은 구별된다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15" name="Text 15"/>
          <p:cNvSpPr/>
          <p:nvPr/>
        </p:nvSpPr>
        <p:spPr>
          <a:xfrm>
            <a:off x="2103120" y="5285860"/>
            <a:ext cx="9325080" cy="62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최고형을 비교할 때는 형벌의 이름뿐 아니라 감경</a:t>
            </a:r>
            <a:r>
              <a:rPr lang="en-US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가석방</a:t>
            </a:r>
            <a:r>
              <a:rPr lang="en-US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사면 가능성까지 함께 확인해야 한다</a:t>
            </a:r>
            <a:r>
              <a:rPr lang="en-US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16" name="Shape 20"/>
          <p:cNvSpPr/>
          <p:nvPr/>
        </p:nvSpPr>
        <p:spPr>
          <a:xfrm>
            <a:off x="731520" y="594360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17" name="Text 21"/>
          <p:cNvSpPr/>
          <p:nvPr/>
        </p:nvSpPr>
        <p:spPr>
          <a:xfrm>
            <a:off x="731520" y="6108120"/>
            <a:ext cx="10696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감경은 형 자체를 줄이는 제도이고</a:t>
            </a:r>
            <a:r>
              <a:rPr lang="en-US" altLang="ko-KR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가석방은 형은 그대로 둔 채 조건부로 석방하는 제도다</a:t>
            </a:r>
            <a:r>
              <a:rPr lang="en-US" altLang="ko-KR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. 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18" name="T"/>
          <p:cNvSpPr/>
          <p:nvPr/>
        </p:nvSpPr>
        <p:spPr>
          <a:xfrm>
            <a:off x="731520" y="6455520"/>
            <a:ext cx="10696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레바논 법률 제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68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호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463/2002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호 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한국 형법 제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72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 제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79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사면법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19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헌법은 사형을 어떻게 다루는가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 0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헌법재판소의 판단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21" name="Text 1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헌법은 사형을 어떻게 다루고 있는가 — 제</a:t>
            </a:r>
            <a:r>
              <a:rPr lang="en-US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110</a:t>
            </a: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4</a:t>
            </a: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항의 두 해석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22" name="Shape 2"/>
          <p:cNvSpPr/>
          <p:nvPr/>
        </p:nvSpPr>
        <p:spPr>
          <a:xfrm>
            <a:off x="731520" y="1417320"/>
            <a:ext cx="10696680" cy="83952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23" name="Text 3"/>
          <p:cNvSpPr/>
          <p:nvPr/>
        </p:nvSpPr>
        <p:spPr>
          <a:xfrm>
            <a:off x="1005840" y="1417320"/>
            <a:ext cx="10148040" cy="83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헌법이 사형을 직접 언급하는 유일한 조항이다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 이 조항을 어떻게 읽을 것인지가 헌법재판에서 다시 문제가 된다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24" name="Shape 4"/>
          <p:cNvSpPr/>
          <p:nvPr/>
        </p:nvSpPr>
        <p:spPr>
          <a:xfrm>
            <a:off x="731520" y="2194560"/>
            <a:ext cx="1069848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25" name="Text 8"/>
          <p:cNvSpPr/>
          <p:nvPr/>
        </p:nvSpPr>
        <p:spPr>
          <a:xfrm>
            <a:off x="1309370" y="2622240"/>
            <a:ext cx="15526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26" name="Text 9"/>
          <p:cNvSpPr/>
          <p:nvPr/>
        </p:nvSpPr>
        <p:spPr>
          <a:xfrm>
            <a:off x="2587680" y="2462040"/>
            <a:ext cx="886788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2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110</a:t>
            </a:r>
            <a:r>
              <a:rPr lang="zh-CN" sz="12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2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4</a:t>
            </a:r>
            <a:r>
              <a:rPr lang="zh-CN" sz="12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  비상계엄하의 군사재판은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250" b="0" u="none" strike="noStrike" dirty="0" err="1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군인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군무원의 범죄나 군사에 관한 간첩죄의 경우와 초병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초소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유독음식물공급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포로에 관한 죄 중 </a:t>
            </a:r>
            <a:r>
              <a:rPr lang="zh-CN" sz="12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법률이 정한 경우에 한하여 단심으로 할 수 있다</a:t>
            </a:r>
            <a:r>
              <a:rPr lang="en-US" sz="12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zh-CN" sz="12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다만</a:t>
            </a:r>
            <a:r>
              <a:rPr lang="en-US" sz="12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사형을 선고한 경우에는 그러하지 아니하다</a:t>
            </a:r>
            <a:r>
              <a:rPr lang="en-US" sz="12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27" name="Text 10"/>
          <p:cNvSpPr/>
          <p:nvPr/>
        </p:nvSpPr>
        <p:spPr>
          <a:xfrm>
            <a:off x="2560320" y="3926160"/>
            <a:ext cx="21927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① </a:t>
            </a:r>
            <a:r>
              <a:rPr lang="en-US" sz="1200" b="1" u="none" strike="noStrike" dirty="0" err="1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근거로</a:t>
            </a:r>
            <a:r>
              <a:rPr lang="en-US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200" b="1" u="none" strike="noStrike" dirty="0" err="1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읽는</a:t>
            </a:r>
            <a:r>
              <a:rPr lang="en-US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200" b="1" u="none" strike="noStrike" dirty="0" err="1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견해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28" name="Text 11"/>
          <p:cNvSpPr/>
          <p:nvPr/>
        </p:nvSpPr>
        <p:spPr>
          <a:xfrm>
            <a:off x="4937760" y="3926160"/>
            <a:ext cx="64904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헌법이 사형의 존재를 전제한 조항이며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50" b="1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사형제가 헌법상 허용된다는 근거가 된다</a:t>
            </a:r>
            <a:endParaRPr lang="en-US" sz="1250" b="1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29" name="Text 12"/>
          <p:cNvSpPr/>
          <p:nvPr/>
        </p:nvSpPr>
        <p:spPr>
          <a:xfrm>
            <a:off x="2560320" y="4573440"/>
            <a:ext cx="21927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② 제한으로 읽는 견해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30" name="Text 13"/>
          <p:cNvSpPr/>
          <p:nvPr/>
        </p:nvSpPr>
        <p:spPr>
          <a:xfrm>
            <a:off x="4937760" y="4573440"/>
            <a:ext cx="64904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비상계엄하 군사재판의 단심을 제한하는 절차 조항일 뿐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50" b="1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사형을 승인한 근거 조항은 아니다</a:t>
            </a:r>
            <a:endParaRPr lang="en-US" sz="1250" b="1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31" name="Shape 14"/>
          <p:cNvSpPr/>
          <p:nvPr/>
        </p:nvSpPr>
        <p:spPr>
          <a:xfrm>
            <a:off x="731520" y="553212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32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헌법재판의 경로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33" name="G40"/>
          <p:cNvSpPr/>
          <p:nvPr/>
        </p:nvSpPr>
        <p:spPr>
          <a:xfrm>
            <a:off x="731520" y="5945220"/>
            <a:ext cx="106966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선고 때 단심을 금지한 규정에서</a:t>
            </a:r>
            <a:r>
              <a:rPr lang="en-US" sz="13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3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사형제 자체의 헌법적 허용까지 읽어낼 수 있는가</a:t>
            </a:r>
            <a:r>
              <a:rPr lang="en-US" sz="13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?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8476818A-2EC6-BAB9-5DE7-745D4EDADAA2}"/>
              </a:ext>
            </a:extLst>
          </p:cNvPr>
          <p:cNvSpPr/>
          <p:nvPr/>
        </p:nvSpPr>
        <p:spPr>
          <a:xfrm>
            <a:off x="731520" y="347472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KICKER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헌법재판소의 판단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37" name="TITLE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위헌법률심판 제청과 위헌심사형 헌법소원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38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생명권 논의의 헌법 조항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39" name="BAND"/>
          <p:cNvSpPr/>
          <p:nvPr/>
        </p:nvSpPr>
        <p:spPr>
          <a:xfrm>
            <a:off x="731520" y="1417320"/>
            <a:ext cx="10696680" cy="5468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0" name="BANDT"/>
          <p:cNvSpPr/>
          <p:nvPr/>
        </p:nvSpPr>
        <p:spPr>
          <a:xfrm>
            <a:off x="1005840" y="1417320"/>
            <a:ext cx="101480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적용 법률의 위헌 여부가 재판 결과에 영향을 줄 때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재판의 전제성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), 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법원 제청 또는 제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68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 헌법소원으로 다툰다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1" name="ND"/>
          <p:cNvSpPr/>
          <p:nvPr/>
        </p:nvSpPr>
        <p:spPr>
          <a:xfrm>
            <a:off x="731520" y="3246120"/>
            <a:ext cx="2101320" cy="86688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2" name="NT"/>
          <p:cNvSpPr/>
          <p:nvPr/>
        </p:nvSpPr>
        <p:spPr>
          <a:xfrm>
            <a:off x="731520" y="3246120"/>
            <a:ext cx="2101320" cy="86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5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zh-CN" sz="12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진행 중인 재판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적용 법률의 위헌 여부 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3" name="ND"/>
          <p:cNvSpPr/>
          <p:nvPr/>
        </p:nvSpPr>
        <p:spPr>
          <a:xfrm>
            <a:off x="3429000" y="2487240"/>
            <a:ext cx="2375640" cy="7844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4" name="NT"/>
          <p:cNvSpPr/>
          <p:nvPr/>
        </p:nvSpPr>
        <p:spPr>
          <a:xfrm>
            <a:off x="3429000" y="2487240"/>
            <a:ext cx="2375640" cy="78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법원이 직권으로 제청 결정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위헌이라고 의심할 만한 이유가 있는 경우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5" name="ND"/>
          <p:cNvSpPr/>
          <p:nvPr/>
        </p:nvSpPr>
        <p:spPr>
          <a:xfrm>
            <a:off x="3429000" y="3931920"/>
            <a:ext cx="2375640" cy="82116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6" name="NT"/>
          <p:cNvSpPr/>
          <p:nvPr/>
        </p:nvSpPr>
        <p:spPr>
          <a:xfrm>
            <a:off x="3429000" y="3931920"/>
            <a:ext cx="237564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당사자가 제청신청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법원에 제청을 요청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7" name="ND"/>
          <p:cNvSpPr/>
          <p:nvPr/>
        </p:nvSpPr>
        <p:spPr>
          <a:xfrm>
            <a:off x="6400800" y="3703320"/>
            <a:ext cx="2009880" cy="56520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8" name="NT"/>
          <p:cNvSpPr/>
          <p:nvPr/>
        </p:nvSpPr>
        <p:spPr>
          <a:xfrm>
            <a:off x="6400800" y="3703320"/>
            <a:ext cx="200988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받아들임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9" name="ND"/>
          <p:cNvSpPr/>
          <p:nvPr/>
        </p:nvSpPr>
        <p:spPr>
          <a:xfrm>
            <a:off x="6400800" y="4617720"/>
            <a:ext cx="2009880" cy="56520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0" name="NT"/>
          <p:cNvSpPr/>
          <p:nvPr/>
        </p:nvSpPr>
        <p:spPr>
          <a:xfrm>
            <a:off x="6400800" y="4617720"/>
            <a:ext cx="200988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기각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1" name="ND"/>
          <p:cNvSpPr/>
          <p:nvPr/>
        </p:nvSpPr>
        <p:spPr>
          <a:xfrm>
            <a:off x="9006840" y="2487240"/>
            <a:ext cx="2421360" cy="82116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2" name="NT"/>
          <p:cNvSpPr/>
          <p:nvPr/>
        </p:nvSpPr>
        <p:spPr>
          <a:xfrm>
            <a:off x="9006840" y="2487240"/>
            <a:ext cx="242136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위헌법률심판 제청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1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법원</a:t>
            </a:r>
            <a:r>
              <a:rPr lang="en-US" sz="11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3" name="ND"/>
          <p:cNvSpPr/>
          <p:nvPr/>
        </p:nvSpPr>
        <p:spPr>
          <a:xfrm>
            <a:off x="9006840" y="4590360"/>
            <a:ext cx="2421360" cy="82116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4" name="NT"/>
          <p:cNvSpPr/>
          <p:nvPr/>
        </p:nvSpPr>
        <p:spPr>
          <a:xfrm>
            <a:off x="9006840" y="4590360"/>
            <a:ext cx="242136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헌법소원 청구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1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당사자</a:t>
            </a:r>
            <a:r>
              <a:rPr lang="en-US" sz="11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5" name="L"/>
          <p:cNvSpPr/>
          <p:nvPr/>
        </p:nvSpPr>
        <p:spPr>
          <a:xfrm>
            <a:off x="2834640" y="3675600"/>
            <a:ext cx="29232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6" name="VL"/>
          <p:cNvSpPr/>
          <p:nvPr/>
        </p:nvSpPr>
        <p:spPr>
          <a:xfrm>
            <a:off x="3126960" y="2880360"/>
            <a:ext cx="360" cy="146304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7" name="L"/>
          <p:cNvSpPr/>
          <p:nvPr/>
        </p:nvSpPr>
        <p:spPr>
          <a:xfrm>
            <a:off x="3126960" y="2880360"/>
            <a:ext cx="30204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8" name="L"/>
          <p:cNvSpPr/>
          <p:nvPr/>
        </p:nvSpPr>
        <p:spPr>
          <a:xfrm>
            <a:off x="3126960" y="4343400"/>
            <a:ext cx="30204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9" name="L"/>
          <p:cNvSpPr/>
          <p:nvPr/>
        </p:nvSpPr>
        <p:spPr>
          <a:xfrm>
            <a:off x="5806440" y="2880360"/>
            <a:ext cx="320040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0" name="L"/>
          <p:cNvSpPr/>
          <p:nvPr/>
        </p:nvSpPr>
        <p:spPr>
          <a:xfrm>
            <a:off x="5806440" y="4343400"/>
            <a:ext cx="36576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1" name="VL"/>
          <p:cNvSpPr/>
          <p:nvPr/>
        </p:nvSpPr>
        <p:spPr>
          <a:xfrm>
            <a:off x="6172200" y="3986640"/>
            <a:ext cx="360" cy="91440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2" name="L"/>
          <p:cNvSpPr/>
          <p:nvPr/>
        </p:nvSpPr>
        <p:spPr>
          <a:xfrm>
            <a:off x="6172200" y="3986640"/>
            <a:ext cx="22860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3" name="L"/>
          <p:cNvSpPr/>
          <p:nvPr/>
        </p:nvSpPr>
        <p:spPr>
          <a:xfrm>
            <a:off x="6172200" y="4901040"/>
            <a:ext cx="22860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4" name="L"/>
          <p:cNvSpPr/>
          <p:nvPr/>
        </p:nvSpPr>
        <p:spPr>
          <a:xfrm>
            <a:off x="8412480" y="3986640"/>
            <a:ext cx="27432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5" name="VL"/>
          <p:cNvSpPr/>
          <p:nvPr/>
        </p:nvSpPr>
        <p:spPr>
          <a:xfrm>
            <a:off x="8686800" y="2898360"/>
            <a:ext cx="360" cy="108828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6" name="L"/>
          <p:cNvSpPr/>
          <p:nvPr/>
        </p:nvSpPr>
        <p:spPr>
          <a:xfrm>
            <a:off x="8686800" y="2898360"/>
            <a:ext cx="32004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7" name="L"/>
          <p:cNvSpPr/>
          <p:nvPr/>
        </p:nvSpPr>
        <p:spPr>
          <a:xfrm>
            <a:off x="8412480" y="4901040"/>
            <a:ext cx="59436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8" name="P80"/>
          <p:cNvSpPr/>
          <p:nvPr/>
        </p:nvSpPr>
        <p:spPr>
          <a:xfrm>
            <a:off x="731520" y="5669280"/>
            <a:ext cx="106966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재판의 전제성</a:t>
            </a:r>
            <a:r>
              <a:rPr lang="en-US" sz="13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ko-KR" sz="13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문제된 법률이 그 사건에 적용되고</a:t>
            </a:r>
            <a:r>
              <a:rPr lang="en-US" sz="13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3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그 법률의 위헌 여부에 따라 재판의 주문</a:t>
            </a:r>
            <a:r>
              <a:rPr lang="en-US" sz="13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3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결론 또는 내용과 효력의 법률적 의미가 달라지는 경우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9" name="LBAND"/>
          <p:cNvSpPr/>
          <p:nvPr/>
        </p:nvSpPr>
        <p:spPr>
          <a:xfrm>
            <a:off x="731520" y="6016680"/>
            <a:ext cx="10696680" cy="6566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70" name="P81"/>
          <p:cNvSpPr/>
          <p:nvPr/>
        </p:nvSpPr>
        <p:spPr>
          <a:xfrm>
            <a:off x="1005840" y="6016680"/>
            <a:ext cx="10148040" cy="65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어느 심급에서든 가능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심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항소심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상고심에서 그 재판에 적용되는 법률의 위헌 여부가 전제가 되면 제청할 수 있다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법원 제청은 헌가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제청신청 기각 뒤 제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68</a:t>
            </a: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 헌법소원은 헌바 사건번호를 사용한다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ext 0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헌법재판소의 판단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72" name="Text 1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 논의의 헌법 조항 — 보장 근거와 제한의 한계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73" name="Shape 2"/>
          <p:cNvSpPr/>
          <p:nvPr/>
        </p:nvSpPr>
        <p:spPr>
          <a:xfrm>
            <a:off x="731520" y="1417320"/>
            <a:ext cx="10696680" cy="5468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74" name="Text 3"/>
          <p:cNvSpPr/>
          <p:nvPr/>
        </p:nvSpPr>
        <p:spPr>
          <a:xfrm>
            <a:off x="1005840" y="1417320"/>
            <a:ext cx="101480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헌법은 생명권을 명시적으로 열거하지 않지만</a:t>
            </a:r>
            <a:r>
              <a:rPr lang="en-US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헌재는 모든 기본권의 전제가 되는 기본권으로 인정한다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75" name="Shape 4"/>
          <p:cNvSpPr/>
          <p:nvPr/>
        </p:nvSpPr>
        <p:spPr>
          <a:xfrm>
            <a:off x="731520" y="2240280"/>
            <a:ext cx="1069848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76" name="Text 5"/>
          <p:cNvSpPr/>
          <p:nvPr/>
        </p:nvSpPr>
        <p:spPr>
          <a:xfrm>
            <a:off x="731520" y="2386080"/>
            <a:ext cx="1284120" cy="42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10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77" name="Text 6"/>
          <p:cNvSpPr/>
          <p:nvPr/>
        </p:nvSpPr>
        <p:spPr>
          <a:xfrm>
            <a:off x="2103120" y="2362320"/>
            <a:ext cx="93250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역할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인간의 존엄과 가치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국가의 기본적 인권 보장 의무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78" name="Text 7"/>
          <p:cNvSpPr/>
          <p:nvPr/>
        </p:nvSpPr>
        <p:spPr>
          <a:xfrm>
            <a:off x="2103120" y="2728080"/>
            <a:ext cx="9325080" cy="62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모든 국민은 인간으로서의 존엄과 가치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를 가지며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행복을 추구할 권리를 가진다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국가는 개인이 가지는 불가침의 기본적 인권을 확인하고 이를 보장할 의무를 진다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79" name="Shape 8"/>
          <p:cNvSpPr/>
          <p:nvPr/>
        </p:nvSpPr>
        <p:spPr>
          <a:xfrm>
            <a:off x="731520" y="347472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80" name="Text 9"/>
          <p:cNvSpPr/>
          <p:nvPr/>
        </p:nvSpPr>
        <p:spPr>
          <a:xfrm>
            <a:off x="731520" y="3620520"/>
            <a:ext cx="1284120" cy="42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37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81" name="Text 10"/>
          <p:cNvSpPr/>
          <p:nvPr/>
        </p:nvSpPr>
        <p:spPr>
          <a:xfrm>
            <a:off x="2103120" y="3596760"/>
            <a:ext cx="93250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역할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헌법에 이름이 적혀 있지 않은 기본권도 보호한다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82" name="Text 11"/>
          <p:cNvSpPr/>
          <p:nvPr/>
        </p:nvSpPr>
        <p:spPr>
          <a:xfrm>
            <a:off x="2103120" y="3962520"/>
            <a:ext cx="9325080" cy="62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국민의 자유와 권리는 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헌법에 열거되지 아니한 이유로 경시되지 아니한다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83" name="Shape 12"/>
          <p:cNvSpPr/>
          <p:nvPr/>
        </p:nvSpPr>
        <p:spPr>
          <a:xfrm>
            <a:off x="731520" y="470916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84" name="Text 13"/>
          <p:cNvSpPr/>
          <p:nvPr/>
        </p:nvSpPr>
        <p:spPr>
          <a:xfrm>
            <a:off x="731520" y="4854960"/>
            <a:ext cx="1284120" cy="42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37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85" name="Text 14"/>
          <p:cNvSpPr/>
          <p:nvPr/>
        </p:nvSpPr>
        <p:spPr>
          <a:xfrm>
            <a:off x="2103120" y="4831200"/>
            <a:ext cx="93250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역할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기본권 제한의 목적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필요성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법률 근거와 본질적 내용 침해 금지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86" name="Text 15"/>
          <p:cNvSpPr/>
          <p:nvPr/>
        </p:nvSpPr>
        <p:spPr>
          <a:xfrm>
            <a:off x="2103120" y="5196960"/>
            <a:ext cx="9325080" cy="62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국민의 모든 자유와 권리는 국가안전보장ㆍ질서유지 또는 공공복리를 위하여 필요한 경우에 한하여 법률로써 제한할 수 있으며</a:t>
            </a:r>
            <a:r>
              <a:rPr lang="en-US" sz="1250" b="1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,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제한하는 경우에도 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자유와 권리의 본질적인 내용을 침해할 수 없다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87" name="Shape 20"/>
          <p:cNvSpPr/>
          <p:nvPr/>
        </p:nvSpPr>
        <p:spPr>
          <a:xfrm>
            <a:off x="731520" y="594360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88" name="Text 21"/>
          <p:cNvSpPr/>
          <p:nvPr/>
        </p:nvSpPr>
        <p:spPr>
          <a:xfrm>
            <a:off x="731520" y="6108120"/>
            <a:ext cx="10696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헌법에 따르면 </a:t>
            </a:r>
            <a:r>
              <a:rPr lang="ko-KR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생명권도 제한할 수 있는가</a:t>
            </a:r>
            <a:r>
              <a:rPr lang="en-US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? 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89" name="T"/>
          <p:cNvSpPr/>
          <p:nvPr/>
        </p:nvSpPr>
        <p:spPr>
          <a:xfrm>
            <a:off x="731520" y="6455520"/>
            <a:ext cx="10696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대한민국헌법 제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10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37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원문 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95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헌바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1 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및 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2008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헌가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23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에서 생명권 보장과 제한 가능성을 논의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90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비례의 원칙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KICKER"/>
          <p:cNvSpPr/>
          <p:nvPr/>
        </p:nvSpPr>
        <p:spPr>
          <a:xfrm>
            <a:off x="731520" y="365760"/>
            <a:ext cx="694764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헌법재판소의 판단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92" name="TITLE"/>
          <p:cNvSpPr/>
          <p:nvPr/>
        </p:nvSpPr>
        <p:spPr>
          <a:xfrm>
            <a:off x="731520" y="631080"/>
            <a:ext cx="982800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비례의 원칙 — 기본권 제한은 어디까지 허용되는가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93" name="NEXT"/>
          <p:cNvSpPr/>
          <p:nvPr/>
        </p:nvSpPr>
        <p:spPr>
          <a:xfrm>
            <a:off x="7863840" y="365760"/>
            <a:ext cx="35643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1996</a:t>
            </a:r>
            <a:r>
              <a:rPr lang="ko-KR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결정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94" name="BAND_BG"/>
          <p:cNvSpPr/>
          <p:nvPr/>
        </p:nvSpPr>
        <p:spPr>
          <a:xfrm>
            <a:off x="731520" y="1316880"/>
            <a:ext cx="10696680" cy="49212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95" name="BAND_TEXT"/>
          <p:cNvSpPr/>
          <p:nvPr/>
        </p:nvSpPr>
        <p:spPr>
          <a:xfrm>
            <a:off x="960120" y="1316880"/>
            <a:ext cx="10193760" cy="49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헌재는 헌법 제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37</a:t>
            </a: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항에서 도출되는 비례의 원칙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과잉금지원칙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에 따라 기본권 제한을 심사한다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96" name="SECTION_TEST"/>
          <p:cNvSpPr/>
          <p:nvPr/>
        </p:nvSpPr>
        <p:spPr>
          <a:xfrm>
            <a:off x="777240" y="2024940"/>
            <a:ext cx="2970000" cy="24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판례상 비례심사의 네 요소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97" name="table_top"/>
          <p:cNvSpPr/>
          <p:nvPr/>
        </p:nvSpPr>
        <p:spPr>
          <a:xfrm>
            <a:off x="777240" y="2530640"/>
            <a:ext cx="10378440" cy="360"/>
          </a:xfrm>
          <a:prstGeom prst="line">
            <a:avLst/>
          </a:prstGeom>
          <a:ln w="1079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98" name="table_head_bottom"/>
          <p:cNvSpPr/>
          <p:nvPr/>
        </p:nvSpPr>
        <p:spPr>
          <a:xfrm>
            <a:off x="777240" y="2942120"/>
            <a:ext cx="10378440" cy="360"/>
          </a:xfrm>
          <a:prstGeom prst="line">
            <a:avLst/>
          </a:prstGeom>
          <a:ln w="1079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99" name="H1"/>
          <p:cNvSpPr/>
          <p:nvPr/>
        </p:nvSpPr>
        <p:spPr>
          <a:xfrm>
            <a:off x="868680" y="2594720"/>
            <a:ext cx="1964160" cy="25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비례심사의 요소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00" name="H2"/>
          <p:cNvSpPr/>
          <p:nvPr/>
        </p:nvSpPr>
        <p:spPr>
          <a:xfrm>
            <a:off x="2880360" y="2594720"/>
            <a:ext cx="3564360" cy="25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설명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01" name="H3"/>
          <p:cNvSpPr/>
          <p:nvPr/>
        </p:nvSpPr>
        <p:spPr>
          <a:xfrm>
            <a:off x="6492240" y="2594720"/>
            <a:ext cx="4387320" cy="25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사형제에 적용하면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02" name="R0_A"/>
          <p:cNvSpPr/>
          <p:nvPr/>
        </p:nvSpPr>
        <p:spPr>
          <a:xfrm>
            <a:off x="868680" y="3056310"/>
            <a:ext cx="1872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① 목적의 정당성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03" name="R0_B"/>
          <p:cNvSpPr/>
          <p:nvPr/>
        </p:nvSpPr>
        <p:spPr>
          <a:xfrm>
            <a:off x="2880360" y="3047310"/>
            <a:ext cx="330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기본권을 제한하려는 목적이 정당한지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04" name="R0_C"/>
          <p:cNvSpPr/>
          <p:nvPr/>
        </p:nvSpPr>
        <p:spPr>
          <a:xfrm>
            <a:off x="6492240" y="3047310"/>
            <a:ext cx="44330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중대한 범죄로부터 생명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안전을 보호하고 형사사법질서를 유지하려는 목적은 정당한가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05" name="row_line_1"/>
          <p:cNvSpPr/>
          <p:nvPr/>
        </p:nvSpPr>
        <p:spPr>
          <a:xfrm>
            <a:off x="777240" y="3504150"/>
            <a:ext cx="10378440" cy="360"/>
          </a:xfrm>
          <a:prstGeom prst="line">
            <a:avLst/>
          </a:prstGeom>
          <a:ln w="762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06" name="R1_A"/>
          <p:cNvSpPr/>
          <p:nvPr/>
        </p:nvSpPr>
        <p:spPr>
          <a:xfrm>
            <a:off x="868680" y="3631040"/>
            <a:ext cx="1872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② 방법의 적정성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07" name="R1_B"/>
          <p:cNvSpPr/>
          <p:nvPr/>
        </p:nvSpPr>
        <p:spPr>
          <a:xfrm>
            <a:off x="2880360" y="3622040"/>
            <a:ext cx="330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선택한 수단이 목적 달성에 적합한지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08" name="R1_C"/>
          <p:cNvSpPr/>
          <p:nvPr/>
        </p:nvSpPr>
        <p:spPr>
          <a:xfrm>
            <a:off x="6492240" y="3622040"/>
            <a:ext cx="44330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사형이 범죄억제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사회보호에 실제로 기여하는가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09" name="row_line_2"/>
          <p:cNvSpPr/>
          <p:nvPr/>
        </p:nvSpPr>
        <p:spPr>
          <a:xfrm>
            <a:off x="777240" y="4079240"/>
            <a:ext cx="10378440" cy="360"/>
          </a:xfrm>
          <a:prstGeom prst="line">
            <a:avLst/>
          </a:prstGeom>
          <a:ln w="762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10" name="R2_A"/>
          <p:cNvSpPr/>
          <p:nvPr/>
        </p:nvSpPr>
        <p:spPr>
          <a:xfrm>
            <a:off x="868680" y="4199780"/>
            <a:ext cx="1872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③ 피해의 최소성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11" name="R2_B"/>
          <p:cNvSpPr/>
          <p:nvPr/>
        </p:nvSpPr>
        <p:spPr>
          <a:xfrm>
            <a:off x="2880360" y="4190420"/>
            <a:ext cx="330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같은 목적을 달성할 덜 제한적인 수단이 없는지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12" name="R2_C"/>
          <p:cNvSpPr/>
          <p:nvPr/>
        </p:nvSpPr>
        <p:spPr>
          <a:xfrm>
            <a:off x="6492240" y="4190420"/>
            <a:ext cx="44330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무기형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가석방 없는 무기형 등 덜 침해적인 대체수단은 없는가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13" name="row_line_3"/>
          <p:cNvSpPr/>
          <p:nvPr/>
        </p:nvSpPr>
        <p:spPr>
          <a:xfrm>
            <a:off x="777240" y="4647620"/>
            <a:ext cx="10378440" cy="360"/>
          </a:xfrm>
          <a:prstGeom prst="line">
            <a:avLst/>
          </a:prstGeom>
          <a:ln w="762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14" name="R3_A"/>
          <p:cNvSpPr/>
          <p:nvPr/>
        </p:nvSpPr>
        <p:spPr>
          <a:xfrm>
            <a:off x="868680" y="4749110"/>
            <a:ext cx="1872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④ 법익의 균형성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15" name="R3_B"/>
          <p:cNvSpPr/>
          <p:nvPr/>
        </p:nvSpPr>
        <p:spPr>
          <a:xfrm>
            <a:off x="2880360" y="4739750"/>
            <a:ext cx="330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얻는 공익과 제한되는 기본권 사이에 균형이 있는지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16" name="R3_C"/>
          <p:cNvSpPr/>
          <p:nvPr/>
        </p:nvSpPr>
        <p:spPr>
          <a:xfrm>
            <a:off x="6492240" y="4739750"/>
            <a:ext cx="44330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얻는 공익이 생명 박탈이라는 침해를 정당화할 만큼 큰가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17" name="table_bottom"/>
          <p:cNvSpPr/>
          <p:nvPr/>
        </p:nvSpPr>
        <p:spPr>
          <a:xfrm>
            <a:off x="777240" y="5196950"/>
            <a:ext cx="10378440" cy="360"/>
          </a:xfrm>
          <a:prstGeom prst="line">
            <a:avLst/>
          </a:prstGeom>
          <a:ln w="1079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18" name="TAKE_BG"/>
          <p:cNvSpPr/>
          <p:nvPr/>
        </p:nvSpPr>
        <p:spPr>
          <a:xfrm>
            <a:off x="777240" y="5596200"/>
            <a:ext cx="10376640" cy="38232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19" name="TAKE_TEXT"/>
          <p:cNvSpPr/>
          <p:nvPr/>
        </p:nvSpPr>
        <p:spPr>
          <a:xfrm>
            <a:off x="960120" y="5596200"/>
            <a:ext cx="1001088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목적이 정당해도 끝이 아니다 </a:t>
            </a:r>
            <a:r>
              <a:rPr lang="en-US" altLang="ko-KR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수단의 효과</a:t>
            </a:r>
            <a:r>
              <a:rPr 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덜 제한적인 대안</a:t>
            </a:r>
            <a:r>
              <a:rPr 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공익과 생명권 침해의 균형까지 함께 본다</a:t>
            </a:r>
            <a:endParaRPr lang="en-US" sz="1250" b="1" dirty="0">
              <a:solidFill>
                <a:srgbClr val="A8871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20" name="SOURCE"/>
          <p:cNvSpPr/>
          <p:nvPr/>
        </p:nvSpPr>
        <p:spPr>
          <a:xfrm>
            <a:off x="731520" y="6382440"/>
            <a:ext cx="10696680" cy="20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출처</a:t>
            </a:r>
            <a:r>
              <a:rPr lang="en-US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ko-KR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 제</a:t>
            </a:r>
            <a:r>
              <a:rPr lang="en-US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37</a:t>
            </a:r>
            <a:r>
              <a:rPr lang="ko-KR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ko-KR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 </a:t>
            </a:r>
            <a:r>
              <a:rPr lang="en-US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ko-KR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헌재 </a:t>
            </a:r>
            <a:r>
              <a:rPr lang="en-US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2005.11.24. 2005</a:t>
            </a:r>
            <a:r>
              <a:rPr lang="ko-KR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헌바</a:t>
            </a:r>
            <a:r>
              <a:rPr lang="en-US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46 · </a:t>
            </a:r>
            <a:r>
              <a:rPr lang="ko-KR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헌재 </a:t>
            </a:r>
            <a:r>
              <a:rPr lang="en-US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2010.2.25. 2008</a:t>
            </a:r>
            <a:r>
              <a:rPr lang="ko-KR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헌가</a:t>
            </a:r>
            <a:r>
              <a:rPr lang="en-US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23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Text 0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헌법재판소의 판단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22" name="Text 1"/>
          <p:cNvSpPr/>
          <p:nvPr/>
        </p:nvSpPr>
        <p:spPr>
          <a:xfrm>
            <a:off x="731520" y="640080"/>
            <a:ext cx="76183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1996</a:t>
            </a: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결정 — 사형제의 합헌성 판단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23" name="Shape 2"/>
          <p:cNvSpPr/>
          <p:nvPr/>
        </p:nvSpPr>
        <p:spPr>
          <a:xfrm>
            <a:off x="731520" y="1417320"/>
            <a:ext cx="10696680" cy="7754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24" name="Text 3"/>
          <p:cNvSpPr/>
          <p:nvPr/>
        </p:nvSpPr>
        <p:spPr>
          <a:xfrm>
            <a:off x="1005840" y="1417320"/>
            <a:ext cx="621612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심 사형선고 → 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심 사형선고 → 상고 중 제청신청 → 기각 → 헌법소원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 사형제 합헌성에 관한 최초 판단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25" name="Text 4"/>
          <p:cNvSpPr/>
          <p:nvPr/>
        </p:nvSpPr>
        <p:spPr>
          <a:xfrm>
            <a:off x="731520" y="2286000"/>
            <a:ext cx="493596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다수의견 </a:t>
            </a: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합헌 </a:t>
            </a: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7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인</a:t>
            </a: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26" name="Shape 5"/>
          <p:cNvSpPr/>
          <p:nvPr/>
        </p:nvSpPr>
        <p:spPr>
          <a:xfrm>
            <a:off x="731520" y="2651760"/>
            <a:ext cx="493776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27" name="Text 6"/>
          <p:cNvSpPr/>
          <p:nvPr/>
        </p:nvSpPr>
        <p:spPr>
          <a:xfrm>
            <a:off x="731520" y="2730960"/>
            <a:ext cx="493596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생명권도 헌법 제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37</a:t>
            </a:r>
            <a:r>
              <a:rPr lang="ko-KR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ko-KR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항에 따른 제한의 대상이 될 수 있다</a:t>
            </a:r>
            <a:r>
              <a:rPr lang="ko-KR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고 보았다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28" name="Shape 7"/>
          <p:cNvSpPr/>
          <p:nvPr/>
        </p:nvSpPr>
        <p:spPr>
          <a:xfrm>
            <a:off x="731520" y="3749040"/>
            <a:ext cx="493776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29" name="Text 8"/>
          <p:cNvSpPr/>
          <p:nvPr/>
        </p:nvSpPr>
        <p:spPr>
          <a:xfrm>
            <a:off x="731520" y="3802320"/>
            <a:ext cx="493596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헌법 제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110</a:t>
            </a:r>
            <a:r>
              <a:rPr lang="ko-KR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4</a:t>
            </a:r>
            <a:r>
              <a:rPr lang="ko-KR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항 단서는 사형제도의 존재를 간접적으로 전제한다</a:t>
            </a:r>
            <a:r>
              <a:rPr lang="ko-KR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고 보았다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30" name="Shape 9"/>
          <p:cNvSpPr/>
          <p:nvPr/>
        </p:nvSpPr>
        <p:spPr>
          <a:xfrm>
            <a:off x="731520" y="4800600"/>
            <a:ext cx="493776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31" name="Text 10"/>
          <p:cNvSpPr/>
          <p:nvPr/>
        </p:nvSpPr>
        <p:spPr>
          <a:xfrm>
            <a:off x="731520" y="4892040"/>
            <a:ext cx="493596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극히 한정적으로 적용되는 사형은 당시에도 형벌로서 기능을 하고 </a:t>
            </a:r>
            <a:r>
              <a:rPr lang="ko-KR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있어 합헌이라고 판단했다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32" name="Text 11"/>
          <p:cNvSpPr/>
          <p:nvPr/>
        </p:nvSpPr>
        <p:spPr>
          <a:xfrm>
            <a:off x="6519600" y="2286000"/>
            <a:ext cx="493596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반대의견 </a:t>
            </a: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위헌 </a:t>
            </a: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인</a:t>
            </a: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33" name="Shape 12"/>
          <p:cNvSpPr/>
          <p:nvPr/>
        </p:nvSpPr>
        <p:spPr>
          <a:xfrm>
            <a:off x="6519600" y="2651760"/>
            <a:ext cx="493776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34" name="Text 13"/>
          <p:cNvSpPr/>
          <p:nvPr/>
        </p:nvSpPr>
        <p:spPr>
          <a:xfrm>
            <a:off x="6519600" y="2728080"/>
            <a:ext cx="493596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사형은 인간의 존엄과 가치에 반하며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개선될 수 있는 사람을 사회방위의 수단으로 삼아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 그 가능성을 박탈한다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35" name="Shape 14"/>
          <p:cNvSpPr/>
          <p:nvPr/>
        </p:nvSpPr>
        <p:spPr>
          <a:xfrm>
            <a:off x="6519600" y="3749040"/>
            <a:ext cx="493776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36" name="Text 15"/>
          <p:cNvSpPr/>
          <p:nvPr/>
        </p:nvSpPr>
        <p:spPr>
          <a:xfrm>
            <a:off x="6519600" y="3799440"/>
            <a:ext cx="493596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생명 박탈은 기본권의 본질적 내용을 침해한다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응보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일반예방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사회방위도 사형을 정당화할 충분한 근거가 되지 못한다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37" name="Shape 16"/>
          <p:cNvSpPr/>
          <p:nvPr/>
        </p:nvSpPr>
        <p:spPr>
          <a:xfrm>
            <a:off x="6519600" y="4800600"/>
            <a:ext cx="493776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38" name="Text 17"/>
          <p:cNvSpPr/>
          <p:nvPr/>
        </p:nvSpPr>
        <p:spPr>
          <a:xfrm>
            <a:off x="6519600" y="4892040"/>
            <a:ext cx="493596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반대의견에서는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무기징역을 통한 대체 가능성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오판의 회복 불가능성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사형의 추가적 억제효과를 입증하기 어렵다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는 점도 문제 삼았다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39" name="Text 19"/>
          <p:cNvSpPr/>
          <p:nvPr/>
        </p:nvSpPr>
        <p:spPr>
          <a:xfrm>
            <a:off x="731520" y="6172200"/>
            <a:ext cx="10696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40" name="sq400"/>
          <p:cNvSpPr/>
          <p:nvPr/>
        </p:nvSpPr>
        <p:spPr>
          <a:xfrm>
            <a:off x="9477720" y="1737360"/>
            <a:ext cx="140040" cy="14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41" name="sq401"/>
          <p:cNvSpPr/>
          <p:nvPr/>
        </p:nvSpPr>
        <p:spPr>
          <a:xfrm>
            <a:off x="9669960" y="1737360"/>
            <a:ext cx="140040" cy="14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42" name="sq402"/>
          <p:cNvSpPr/>
          <p:nvPr/>
        </p:nvSpPr>
        <p:spPr>
          <a:xfrm>
            <a:off x="9861840" y="1737360"/>
            <a:ext cx="140040" cy="14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43" name="sq403"/>
          <p:cNvSpPr/>
          <p:nvPr/>
        </p:nvSpPr>
        <p:spPr>
          <a:xfrm>
            <a:off x="10053720" y="1737360"/>
            <a:ext cx="140040" cy="14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44" name="sq404"/>
          <p:cNvSpPr/>
          <p:nvPr/>
        </p:nvSpPr>
        <p:spPr>
          <a:xfrm>
            <a:off x="10245960" y="1737360"/>
            <a:ext cx="140040" cy="14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45" name="sq405"/>
          <p:cNvSpPr/>
          <p:nvPr/>
        </p:nvSpPr>
        <p:spPr>
          <a:xfrm>
            <a:off x="10437840" y="1737360"/>
            <a:ext cx="140040" cy="14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46" name="sq406"/>
          <p:cNvSpPr/>
          <p:nvPr/>
        </p:nvSpPr>
        <p:spPr>
          <a:xfrm>
            <a:off x="10630080" y="1737360"/>
            <a:ext cx="140040" cy="14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47" name="sq420"/>
          <p:cNvSpPr/>
          <p:nvPr/>
        </p:nvSpPr>
        <p:spPr>
          <a:xfrm>
            <a:off x="10821960" y="1737360"/>
            <a:ext cx="140040" cy="140040"/>
          </a:xfrm>
          <a:prstGeom prst="rect">
            <a:avLst/>
          </a:prstGeom>
          <a:noFill/>
          <a:ln w="12700">
            <a:solidFill>
              <a:srgbClr val="6E76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48" name="sq421"/>
          <p:cNvSpPr/>
          <p:nvPr/>
        </p:nvSpPr>
        <p:spPr>
          <a:xfrm>
            <a:off x="11013840" y="1737360"/>
            <a:ext cx="140040" cy="140040"/>
          </a:xfrm>
          <a:prstGeom prst="rect">
            <a:avLst/>
          </a:prstGeom>
          <a:noFill/>
          <a:ln w="12700">
            <a:solidFill>
              <a:srgbClr val="6E76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49" name="lb440"/>
          <p:cNvSpPr/>
          <p:nvPr/>
        </p:nvSpPr>
        <p:spPr>
          <a:xfrm>
            <a:off x="7374600" y="1700640"/>
            <a:ext cx="200988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</a:pPr>
            <a:r>
              <a:rPr lang="zh-CN" sz="105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합헌 </a:t>
            </a:r>
            <a:r>
              <a:rPr lang="en-US" sz="105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7  ·  </a:t>
            </a:r>
            <a:r>
              <a:rPr lang="zh-CN" sz="105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위헌 </a:t>
            </a:r>
            <a:r>
              <a:rPr lang="en-US" sz="105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50" name="Shape 9"/>
          <p:cNvSpPr/>
          <p:nvPr/>
        </p:nvSpPr>
        <p:spPr>
          <a:xfrm>
            <a:off x="731520" y="5908320"/>
            <a:ext cx="493776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51" name="Shape 16"/>
          <p:cNvSpPr/>
          <p:nvPr/>
        </p:nvSpPr>
        <p:spPr>
          <a:xfrm>
            <a:off x="6519600" y="5908320"/>
            <a:ext cx="493776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52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1996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판단에 붙은 조건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53" name="CN600"/>
          <p:cNvSpPr/>
          <p:nvPr/>
        </p:nvSpPr>
        <p:spPr>
          <a:xfrm>
            <a:off x="8503920" y="71316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95</a:t>
            </a:r>
            <a:r>
              <a:rPr lang="zh-CN" sz="13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헌바</a:t>
            </a:r>
            <a:r>
              <a:rPr lang="en-US" sz="13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54" name="LBAND"/>
          <p:cNvSpPr/>
          <p:nvPr/>
        </p:nvSpPr>
        <p:spPr>
          <a:xfrm>
            <a:off x="731520" y="5989320"/>
            <a:ext cx="10696680" cy="68400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55" name="CN601"/>
          <p:cNvSpPr/>
          <p:nvPr/>
        </p:nvSpPr>
        <p:spPr>
          <a:xfrm>
            <a:off x="1005840" y="5989320"/>
            <a:ext cx="10148040" cy="68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합헌은 사형을 반드시 유지해야 한다는 명령이 아니다</a:t>
            </a:r>
            <a:r>
              <a:rPr 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다수의견은 사형을 예외적으로 적용해야 하며</a:t>
            </a:r>
            <a:r>
              <a:rPr 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사회적 조건이 달라지면 사형을 폐지해야 할 가능성도 언급했다</a:t>
            </a:r>
            <a:r>
              <a:rPr 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Text 0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헌법재판소의 판단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57" name="Text 1"/>
          <p:cNvSpPr/>
          <p:nvPr/>
        </p:nvSpPr>
        <p:spPr>
          <a:xfrm>
            <a:off x="731520" y="640080"/>
            <a:ext cx="76183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1996</a:t>
            </a: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결정 — 합헌 판단에도 조건이 있다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58" name="Shape 2"/>
          <p:cNvSpPr/>
          <p:nvPr/>
        </p:nvSpPr>
        <p:spPr>
          <a:xfrm>
            <a:off x="731520" y="1417320"/>
            <a:ext cx="10696680" cy="5468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59" name="Text 3"/>
          <p:cNvSpPr/>
          <p:nvPr/>
        </p:nvSpPr>
        <p:spPr>
          <a:xfrm>
            <a:off x="1005840" y="1417320"/>
            <a:ext cx="101480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다수의견은 사형을 무조건 승인한 것이 아니라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당시의 필요성과 적용의 한계를 함께 판단했다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60" name="Shape 4"/>
          <p:cNvSpPr/>
          <p:nvPr/>
        </p:nvSpPr>
        <p:spPr>
          <a:xfrm>
            <a:off x="731520" y="2360930"/>
            <a:ext cx="1069848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61" name="Text 5"/>
          <p:cNvSpPr/>
          <p:nvPr/>
        </p:nvSpPr>
        <p:spPr>
          <a:xfrm>
            <a:off x="902880" y="2767010"/>
            <a:ext cx="1284120" cy="42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적용의 한계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62" name="Text 6"/>
          <p:cNvSpPr/>
          <p:nvPr/>
        </p:nvSpPr>
        <p:spPr>
          <a:xfrm>
            <a:off x="2103120" y="2565520"/>
            <a:ext cx="93250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다른 사람의 생명 또는 이에 못지않은 중대한 공익을 보호하기 위해 불가피한 예외적 경우에만 적용하여야 한다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63" name="Text 7"/>
          <p:cNvSpPr/>
          <p:nvPr/>
        </p:nvSpPr>
        <p:spPr>
          <a:xfrm>
            <a:off x="2103120" y="2848730"/>
            <a:ext cx="9325080" cy="62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개별 사건에서 피고인의 생명을 박탈하는 사형이 정말 필요한지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범죄의 불법과 책임에 비해 형벌이 지나치지 </a:t>
            </a:r>
            <a:r>
              <a:rPr lang="ko-KR" sz="125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않은지</a:t>
            </a:r>
            <a:r>
              <a:rPr lang="ko-KR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엄격하게 살펴야 한다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64" name="Shape 8"/>
          <p:cNvSpPr/>
          <p:nvPr/>
        </p:nvSpPr>
        <p:spPr>
          <a:xfrm>
            <a:off x="731520" y="359537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65" name="Text 9"/>
          <p:cNvSpPr/>
          <p:nvPr/>
        </p:nvSpPr>
        <p:spPr>
          <a:xfrm>
            <a:off x="902880" y="3976250"/>
            <a:ext cx="1284120" cy="42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증거의 범위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66" name="Text 10"/>
          <p:cNvSpPr/>
          <p:nvPr/>
        </p:nvSpPr>
        <p:spPr>
          <a:xfrm>
            <a:off x="2103120" y="3825360"/>
            <a:ext cx="93250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사형과 무기징역의 범죄예방 효과 차이를 뒷받침하는 실증적 근거는 충분하지 않았다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67" name="Text 11"/>
          <p:cNvSpPr/>
          <p:nvPr/>
        </p:nvSpPr>
        <p:spPr>
          <a:xfrm>
            <a:off x="2103120" y="4083170"/>
            <a:ext cx="9325080" cy="62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다수의견은 당시 사형과 무기징역의 예방 효과를 비교해 어느 한쪽이 명백히 우월하다고 단정할 자료가 충분하지 않다고 보았다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68" name="Shape 12"/>
          <p:cNvSpPr/>
          <p:nvPr/>
        </p:nvSpPr>
        <p:spPr>
          <a:xfrm>
            <a:off x="731520" y="482981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69" name="Text 13"/>
          <p:cNvSpPr/>
          <p:nvPr/>
        </p:nvSpPr>
        <p:spPr>
          <a:xfrm>
            <a:off x="902880" y="5197730"/>
            <a:ext cx="1284120" cy="42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변화 가능성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70" name="Text 14"/>
          <p:cNvSpPr/>
          <p:nvPr/>
        </p:nvSpPr>
        <p:spPr>
          <a:xfrm>
            <a:off x="2103120" y="4951850"/>
            <a:ext cx="93250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범죄예방의 필요성과 국민의 법감정이 달라질 가능성을 열어 두었다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71" name="Text 15"/>
          <p:cNvSpPr/>
          <p:nvPr/>
        </p:nvSpPr>
        <p:spPr>
          <a:xfrm>
            <a:off x="2103120" y="5317610"/>
            <a:ext cx="9325080" cy="62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사형의 범죄예방 필요성이 거의 없어지거나 국민의 법감정이 사형의 필요성을 인정하지 않게 되는 때에는 폐지되어야 한다고 언급했다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ko-KR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당시 합헌 결론과 향후 입법적 폐지는 양립할 수 있다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72" name="Shape 20"/>
          <p:cNvSpPr/>
          <p:nvPr/>
        </p:nvSpPr>
        <p:spPr>
          <a:xfrm>
            <a:off x="731520" y="606425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74" name="T"/>
          <p:cNvSpPr/>
          <p:nvPr/>
        </p:nvSpPr>
        <p:spPr>
          <a:xfrm>
            <a:off x="6765660" y="778320"/>
            <a:ext cx="914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95</a:t>
            </a:r>
            <a:r>
              <a:rPr lang="zh-CN" sz="20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헌바</a:t>
            </a:r>
            <a:r>
              <a:rPr lang="en-US" sz="20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75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2010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결정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Text 0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헌법재판소의 판단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77" name="Text 1"/>
          <p:cNvSpPr/>
          <p:nvPr/>
        </p:nvSpPr>
        <p:spPr>
          <a:xfrm>
            <a:off x="731520" y="640080"/>
            <a:ext cx="76183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2010</a:t>
            </a: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결정 — 두 번째 합헌 판단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78" name="Shape 2"/>
          <p:cNvSpPr/>
          <p:nvPr/>
        </p:nvSpPr>
        <p:spPr>
          <a:xfrm>
            <a:off x="731520" y="1417320"/>
            <a:ext cx="10696680" cy="5468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79" name="Text 3"/>
          <p:cNvSpPr/>
          <p:nvPr/>
        </p:nvSpPr>
        <p:spPr>
          <a:xfrm>
            <a:off x="1005840" y="1417320"/>
            <a:ext cx="609408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심 사형선고 → 항소심에서 제청신청 → 항소심 법원이 헌법재판소에 제청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80" name="Text 4"/>
          <p:cNvSpPr/>
          <p:nvPr/>
        </p:nvSpPr>
        <p:spPr>
          <a:xfrm>
            <a:off x="731520" y="2286000"/>
            <a:ext cx="493596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다수의견 </a:t>
            </a: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합헌 </a:t>
            </a: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5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인</a:t>
            </a: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81" name="Text 13"/>
          <p:cNvSpPr/>
          <p:nvPr/>
        </p:nvSpPr>
        <p:spPr>
          <a:xfrm>
            <a:off x="6519600" y="2286000"/>
            <a:ext cx="493596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2010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년에 더 구체화된 논의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82" name="Shape 14"/>
          <p:cNvSpPr/>
          <p:nvPr/>
        </p:nvSpPr>
        <p:spPr>
          <a:xfrm>
            <a:off x="6519600" y="2651760"/>
            <a:ext cx="493776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83" name="Text 15"/>
          <p:cNvSpPr/>
          <p:nvPr/>
        </p:nvSpPr>
        <p:spPr>
          <a:xfrm>
            <a:off x="6519600" y="2734200"/>
            <a:ext cx="4935960" cy="69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대체형벌</a:t>
            </a:r>
            <a:r>
              <a:rPr lang="en-US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무기징역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가석방 조항도 함께 심판대상이 되면서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사형을 대체할 최고 자유형 논의가 더 직접적으로 들어왔다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84" name="Shape 16"/>
          <p:cNvSpPr/>
          <p:nvPr/>
        </p:nvSpPr>
        <p:spPr>
          <a:xfrm>
            <a:off x="6519600" y="3502080"/>
            <a:ext cx="493776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85" name="Text 17"/>
          <p:cNvSpPr/>
          <p:nvPr/>
        </p:nvSpPr>
        <p:spPr>
          <a:xfrm>
            <a:off x="6519600" y="3557160"/>
            <a:ext cx="4935960" cy="69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비례심사</a:t>
            </a:r>
            <a:r>
              <a:rPr lang="en-US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 제한 가능성을 전제로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목적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수단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대체수단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법익균형을 더 구체적으로 검토했다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86" name="Shape 18"/>
          <p:cNvSpPr/>
          <p:nvPr/>
        </p:nvSpPr>
        <p:spPr>
          <a:xfrm>
            <a:off x="6519600" y="4352400"/>
            <a:ext cx="493776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87" name="Shape 32"/>
          <p:cNvSpPr/>
          <p:nvPr/>
        </p:nvSpPr>
        <p:spPr>
          <a:xfrm>
            <a:off x="6519600" y="6053040"/>
            <a:ext cx="493776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88" name="Shape 31"/>
          <p:cNvSpPr/>
          <p:nvPr/>
        </p:nvSpPr>
        <p:spPr>
          <a:xfrm>
            <a:off x="6519600" y="5202720"/>
            <a:ext cx="493776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89" name="Text 19"/>
          <p:cNvSpPr/>
          <p:nvPr/>
        </p:nvSpPr>
        <p:spPr>
          <a:xfrm>
            <a:off x="6519600" y="4434840"/>
            <a:ext cx="4935960" cy="69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보충의견</a:t>
            </a:r>
            <a:r>
              <a:rPr lang="en-US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합헌 재판관 중 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3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인은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사형 적용범위 축소와 수사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재판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집행 절차의 엄격화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를 함께 제시했다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90" name="Text 30"/>
          <p:cNvSpPr/>
          <p:nvPr/>
        </p:nvSpPr>
        <p:spPr>
          <a:xfrm>
            <a:off x="6519600" y="5257800"/>
            <a:ext cx="4935960" cy="69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결론 구도</a:t>
            </a:r>
            <a:r>
              <a:rPr lang="en-US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1996</a:t>
            </a:r>
            <a:r>
              <a:rPr lang="zh-CN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</a:t>
            </a:r>
            <a:r>
              <a:rPr lang="en-US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7:2 </a:t>
            </a:r>
            <a:r>
              <a:rPr lang="zh-CN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합헌에서 </a:t>
            </a:r>
            <a:r>
              <a:rPr lang="en-US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2010</a:t>
            </a:r>
            <a:r>
              <a:rPr lang="zh-CN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</a:t>
            </a:r>
            <a:r>
              <a:rPr lang="en-US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5:4 </a:t>
            </a:r>
            <a:r>
              <a:rPr lang="zh-CN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합헌으로 의견 차이가 더 좁아졌다</a:t>
            </a:r>
            <a:r>
              <a:rPr lang="en-US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1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92" name="sq500"/>
          <p:cNvSpPr/>
          <p:nvPr/>
        </p:nvSpPr>
        <p:spPr>
          <a:xfrm>
            <a:off x="9477720" y="1627560"/>
            <a:ext cx="140040" cy="14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93" name="sq501"/>
          <p:cNvSpPr/>
          <p:nvPr/>
        </p:nvSpPr>
        <p:spPr>
          <a:xfrm>
            <a:off x="9669960" y="1627560"/>
            <a:ext cx="140040" cy="14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94" name="sq502"/>
          <p:cNvSpPr/>
          <p:nvPr/>
        </p:nvSpPr>
        <p:spPr>
          <a:xfrm>
            <a:off x="9861840" y="1627560"/>
            <a:ext cx="140040" cy="14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95" name="sq503"/>
          <p:cNvSpPr/>
          <p:nvPr/>
        </p:nvSpPr>
        <p:spPr>
          <a:xfrm>
            <a:off x="10053720" y="1627560"/>
            <a:ext cx="140040" cy="14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96" name="sq504"/>
          <p:cNvSpPr/>
          <p:nvPr/>
        </p:nvSpPr>
        <p:spPr>
          <a:xfrm>
            <a:off x="10245960" y="1627560"/>
            <a:ext cx="140040" cy="14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97" name="sq520"/>
          <p:cNvSpPr/>
          <p:nvPr/>
        </p:nvSpPr>
        <p:spPr>
          <a:xfrm>
            <a:off x="10437840" y="1627560"/>
            <a:ext cx="140040" cy="140040"/>
          </a:xfrm>
          <a:prstGeom prst="rect">
            <a:avLst/>
          </a:prstGeom>
          <a:noFill/>
          <a:ln w="12700">
            <a:solidFill>
              <a:srgbClr val="6E76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98" name="sq521"/>
          <p:cNvSpPr/>
          <p:nvPr/>
        </p:nvSpPr>
        <p:spPr>
          <a:xfrm>
            <a:off x="10630080" y="1627560"/>
            <a:ext cx="140040" cy="140040"/>
          </a:xfrm>
          <a:prstGeom prst="rect">
            <a:avLst/>
          </a:prstGeom>
          <a:noFill/>
          <a:ln w="12700">
            <a:solidFill>
              <a:srgbClr val="6E76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99" name="sq522"/>
          <p:cNvSpPr/>
          <p:nvPr/>
        </p:nvSpPr>
        <p:spPr>
          <a:xfrm>
            <a:off x="10821960" y="1627560"/>
            <a:ext cx="140040" cy="140040"/>
          </a:xfrm>
          <a:prstGeom prst="rect">
            <a:avLst/>
          </a:prstGeom>
          <a:noFill/>
          <a:ln w="12700">
            <a:solidFill>
              <a:srgbClr val="6E76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00" name="sq523"/>
          <p:cNvSpPr/>
          <p:nvPr/>
        </p:nvSpPr>
        <p:spPr>
          <a:xfrm>
            <a:off x="11013840" y="1627560"/>
            <a:ext cx="140040" cy="140040"/>
          </a:xfrm>
          <a:prstGeom prst="rect">
            <a:avLst/>
          </a:prstGeom>
          <a:solidFill>
            <a:srgbClr val="DCE0E8"/>
          </a:solidFill>
          <a:ln w="12700">
            <a:solidFill>
              <a:srgbClr val="6E76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01" name="lb540"/>
          <p:cNvSpPr/>
          <p:nvPr/>
        </p:nvSpPr>
        <p:spPr>
          <a:xfrm>
            <a:off x="7374600" y="1591200"/>
            <a:ext cx="200988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</a:pPr>
            <a:r>
              <a:rPr lang="zh-CN" sz="10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합헌 </a:t>
            </a:r>
            <a:r>
              <a:rPr lang="en-US" sz="10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5 · </a:t>
            </a:r>
            <a:r>
              <a:rPr lang="zh-CN" sz="10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위헌 </a:t>
            </a:r>
            <a:r>
              <a:rPr lang="en-US" sz="10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3 · </a:t>
            </a:r>
            <a:r>
              <a:rPr lang="zh-CN" sz="10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일부위헌 </a:t>
            </a:r>
            <a:r>
              <a:rPr lang="en-US" sz="10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02" name="L"/>
          <p:cNvSpPr/>
          <p:nvPr/>
        </p:nvSpPr>
        <p:spPr>
          <a:xfrm>
            <a:off x="731520" y="2651760"/>
            <a:ext cx="493776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03" name="M"/>
          <p:cNvSpPr/>
          <p:nvPr/>
        </p:nvSpPr>
        <p:spPr>
          <a:xfrm>
            <a:off x="731520" y="2734200"/>
            <a:ext cx="4935960" cy="69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생명권도 제한될 수 있으며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사형이 헌법 제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37</a:t>
            </a: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항의 비례원칙에 위반되는지를 심사했다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04" name="L"/>
          <p:cNvSpPr/>
          <p:nvPr/>
        </p:nvSpPr>
        <p:spPr>
          <a:xfrm>
            <a:off x="731520" y="3502080"/>
            <a:ext cx="493776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05" name="M"/>
          <p:cNvSpPr/>
          <p:nvPr/>
        </p:nvSpPr>
        <p:spPr>
          <a:xfrm>
            <a:off x="731520" y="3555360"/>
            <a:ext cx="4935960" cy="69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극악한 범죄에 한정된 사형에서 생명 보호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범죄예방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정의 실현의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공익이 생명권 침해보다 작지 않고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범죄의 중대성에 비추어 지나치게 과도한 형벌도 아니라고 보았다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06" name="L"/>
          <p:cNvSpPr/>
          <p:nvPr/>
        </p:nvSpPr>
        <p:spPr>
          <a:xfrm>
            <a:off x="731520" y="4352400"/>
            <a:ext cx="493776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07" name="M"/>
          <p:cNvSpPr/>
          <p:nvPr/>
        </p:nvSpPr>
        <p:spPr>
          <a:xfrm>
            <a:off x="731520" y="4434840"/>
            <a:ext cx="4935960" cy="69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사형과 같은 효과를 내면서 생명권 침해가 더 작은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대체형벌이 명백히 존재한다고 보기 어렵다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고 보았다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08" name="L"/>
          <p:cNvSpPr/>
          <p:nvPr/>
        </p:nvSpPr>
        <p:spPr>
          <a:xfrm>
            <a:off x="731520" y="5202720"/>
            <a:ext cx="493776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09" name="M"/>
          <p:cNvSpPr/>
          <p:nvPr/>
        </p:nvSpPr>
        <p:spPr>
          <a:xfrm>
            <a:off x="731520" y="5256360"/>
            <a:ext cx="4935960" cy="69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 제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110</a:t>
            </a: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4</a:t>
            </a: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항은 사형을 예외적으로 전제한 조항이라고 보았다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10" name="L"/>
          <p:cNvSpPr/>
          <p:nvPr/>
        </p:nvSpPr>
        <p:spPr>
          <a:xfrm>
            <a:off x="731520" y="6053040"/>
            <a:ext cx="493776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11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다시 제기된 헌법소원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13" name="CN611"/>
          <p:cNvSpPr/>
          <p:nvPr/>
        </p:nvSpPr>
        <p:spPr>
          <a:xfrm>
            <a:off x="731520" y="6419160"/>
            <a:ext cx="106966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0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헌재 </a:t>
            </a:r>
            <a:r>
              <a:rPr lang="en-US" sz="10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2010. 2. 25. 2008</a:t>
            </a:r>
            <a:r>
              <a:rPr lang="zh-CN" sz="10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헌가</a:t>
            </a:r>
            <a:r>
              <a:rPr lang="en-US" sz="10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23 · 1996</a:t>
            </a:r>
            <a:r>
              <a:rPr lang="zh-CN" sz="10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년보다 좁은 </a:t>
            </a:r>
            <a:r>
              <a:rPr lang="en-US" sz="10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5:4 </a:t>
            </a:r>
            <a:r>
              <a:rPr lang="zh-CN" sz="10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합헌 </a:t>
            </a:r>
            <a:r>
              <a:rPr lang="en-US" sz="10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050" b="1" u="none" strike="noStrike" dirty="0">
                <a:solidFill>
                  <a:srgbClr val="6E7686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대체형벌과 비례심사 논의가 더 구체화</a:t>
            </a:r>
            <a:endParaRPr lang="en-US" sz="1050" b="1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">
            <a:extLst>
              <a:ext uri="{FF2B5EF4-FFF2-40B4-BE49-F238E27FC236}">
                <a16:creationId xmlns:a16="http://schemas.microsoft.com/office/drawing/2014/main" id="{1340EF91-7B5E-B9AF-FC19-5A805C951F0A}"/>
              </a:ext>
            </a:extLst>
          </p:cNvPr>
          <p:cNvSpPr/>
          <p:nvPr/>
        </p:nvSpPr>
        <p:spPr>
          <a:xfrm>
            <a:off x="5533760" y="785520"/>
            <a:ext cx="145759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2008</a:t>
            </a:r>
            <a:r>
              <a:rPr lang="ko-KR" altLang="en-US" sz="2000" b="1" u="none" strike="noStrike" dirty="0" err="1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헌가</a:t>
            </a:r>
            <a:r>
              <a:rPr lang="en-US" altLang="ko-KR" sz="20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23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TextBox 1"/>
          <p:cNvSpPr/>
          <p:nvPr/>
        </p:nvSpPr>
        <p:spPr>
          <a:xfrm>
            <a:off x="731520" y="329040"/>
            <a:ext cx="3682088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헌법재판소의 판단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15" name="TextBox 2"/>
          <p:cNvSpPr/>
          <p:nvPr/>
        </p:nvSpPr>
        <p:spPr>
          <a:xfrm>
            <a:off x="731520" y="658440"/>
            <a:ext cx="8417977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다시 제기된 사형제 헌법소원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16" name="TextBox 3"/>
          <p:cNvSpPr/>
          <p:nvPr/>
        </p:nvSpPr>
        <p:spPr>
          <a:xfrm>
            <a:off x="8348472" y="438840"/>
            <a:ext cx="3108960" cy="31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 defTabSz="914400">
              <a:lnSpc>
                <a:spcPct val="118000"/>
              </a:lnSpc>
            </a:pPr>
            <a:r>
              <a:rPr lang="ko-KR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2022</a:t>
            </a:r>
            <a:r>
              <a:rPr lang="ko-KR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공개변론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cxnSp>
        <p:nvCxnSpPr>
          <p:cNvPr id="517" name="Connector 4"/>
          <p:cNvCxnSpPr/>
          <p:nvPr/>
        </p:nvCxnSpPr>
        <p:spPr>
          <a:xfrm>
            <a:off x="731520" y="1216080"/>
            <a:ext cx="10727224" cy="1440"/>
          </a:xfrm>
          <a:prstGeom prst="straightConnector1">
            <a:avLst/>
          </a:prstGeom>
          <a:ln w="0">
            <a:solidFill>
              <a:srgbClr val="F2F4F8"/>
            </a:solidFill>
          </a:ln>
        </p:spPr>
      </p:cxnSp>
      <p:sp>
        <p:nvSpPr>
          <p:cNvPr id="519" name="Rounded Rectangle 6"/>
          <p:cNvSpPr/>
          <p:nvPr/>
        </p:nvSpPr>
        <p:spPr>
          <a:xfrm>
            <a:off x="994625" y="2515870"/>
            <a:ext cx="4866061" cy="141732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20" name="TextBox 7"/>
          <p:cNvSpPr/>
          <p:nvPr/>
        </p:nvSpPr>
        <p:spPr>
          <a:xfrm>
            <a:off x="1064717" y="2588950"/>
            <a:ext cx="4638174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적용법조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21" name="TextBox 8"/>
          <p:cNvSpPr/>
          <p:nvPr/>
        </p:nvSpPr>
        <p:spPr>
          <a:xfrm>
            <a:off x="1064717" y="2899990"/>
            <a:ext cx="4638174" cy="97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형법 제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250</a:t>
            </a:r>
            <a:r>
              <a:rPr lang="ko-KR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ko-KR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ko-KR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존속살해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r>
              <a:rPr lang="ko-KR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의 사형 부분과 형법 제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41</a:t>
            </a:r>
            <a:r>
              <a:rPr lang="ko-KR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lang="ko-KR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호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</a:pPr>
            <a:r>
              <a:rPr lang="ko-KR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존속살해는 사형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무기 또는 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7</a:t>
            </a:r>
            <a:r>
              <a:rPr lang="ko-KR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이상의 징역을 법정형으로 둔다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22" name="Rounded Rectangle 9"/>
          <p:cNvSpPr/>
          <p:nvPr/>
        </p:nvSpPr>
        <p:spPr>
          <a:xfrm>
            <a:off x="6151413" y="2515870"/>
            <a:ext cx="5059073" cy="141732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23" name="TextBox 10"/>
          <p:cNvSpPr/>
          <p:nvPr/>
        </p:nvSpPr>
        <p:spPr>
          <a:xfrm>
            <a:off x="6151413" y="2588950"/>
            <a:ext cx="4988981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전제성 쟁점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24" name="TextBox 11"/>
          <p:cNvSpPr/>
          <p:nvPr/>
        </p:nvSpPr>
        <p:spPr>
          <a:xfrm>
            <a:off x="6151413" y="2899990"/>
            <a:ext cx="4988981" cy="97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실제 사형을 선고받지 않았더라도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사형이 법정 최고형으로 존재한다는 사실 자체가 양형에 영향을 미치는가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?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26" name="Rounded Rectangle 13"/>
          <p:cNvSpPr/>
          <p:nvPr/>
        </p:nvSpPr>
        <p:spPr>
          <a:xfrm>
            <a:off x="994625" y="4584700"/>
            <a:ext cx="4866061" cy="10958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27" name="TextBox 14"/>
          <p:cNvSpPr/>
          <p:nvPr/>
        </p:nvSpPr>
        <p:spPr>
          <a:xfrm>
            <a:off x="1170028" y="4785940"/>
            <a:ext cx="4515254" cy="47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실제 확정형은 무기징역이므로 사형 부분이 당해 재판에 직접 적용됐다고 보기 어렵다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29" name="Rounded Rectangle 16"/>
          <p:cNvSpPr/>
          <p:nvPr/>
        </p:nvSpPr>
        <p:spPr>
          <a:xfrm>
            <a:off x="6169022" y="4584700"/>
            <a:ext cx="5041464" cy="10958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30" name="TextBox 17"/>
          <p:cNvSpPr/>
          <p:nvPr/>
        </p:nvSpPr>
        <p:spPr>
          <a:xfrm>
            <a:off x="6344426" y="4749220"/>
            <a:ext cx="4678012" cy="56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사형이 법정 최고형으로 존재하는 것 자체가 양형의 기준점이 되므로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사형조항의 위헌 여부가 재판의 법률적 의미에 영향을 줄 수 있다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31" name="Rounded Rectangle 18"/>
          <p:cNvSpPr/>
          <p:nvPr/>
        </p:nvSpPr>
        <p:spPr>
          <a:xfrm>
            <a:off x="1140679" y="6073200"/>
            <a:ext cx="9908906" cy="455760"/>
          </a:xfrm>
          <a:prstGeom prst="rect">
            <a:avLst/>
          </a:prstGeom>
          <a:solidFill>
            <a:srgbClr val="1E2761"/>
          </a:solidFill>
          <a:ln w="8890">
            <a:solidFill>
              <a:srgbClr val="1E276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41040" rIns="128160" bIns="3672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250" b="1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“사형이 실제로 선고되지 않아도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250" b="1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법정 최고형의 존재가 재판에 영향을 미치는가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?”</a:t>
            </a:r>
            <a:endParaRPr lang="en-US" sz="1250" b="0" u="none" strike="noStrike" dirty="0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1A6FE59D-4C7C-0592-750A-9AECDFB711DC}"/>
              </a:ext>
            </a:extLst>
          </p:cNvPr>
          <p:cNvSpPr/>
          <p:nvPr/>
        </p:nvSpPr>
        <p:spPr>
          <a:xfrm>
            <a:off x="994625" y="4255360"/>
            <a:ext cx="4866061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이해관계인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법무부장관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) </a:t>
            </a: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측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5DB2903-51A5-CDB7-FAB6-0192573DA2A0}"/>
              </a:ext>
            </a:extLst>
          </p:cNvPr>
          <p:cNvSpPr/>
          <p:nvPr/>
        </p:nvSpPr>
        <p:spPr>
          <a:xfrm>
            <a:off x="6169022" y="4255360"/>
            <a:ext cx="5056489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청구인 측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9851D5E2-C4F7-E402-C6F3-3577DF9F5168}"/>
              </a:ext>
            </a:extLst>
          </p:cNvPr>
          <p:cNvSpPr>
            <a:spLocks noGrp="1"/>
          </p:cNvSpPr>
          <p:nvPr/>
        </p:nvSpPr>
        <p:spPr>
          <a:xfrm>
            <a:off x="994625" y="1417320"/>
            <a:ext cx="10230886" cy="841248"/>
          </a:xfrm>
          <a:prstGeom prst="rect">
            <a:avLst/>
          </a:prstGeom>
          <a:solidFill>
            <a:srgbClr val="F2F4F8"/>
          </a:solidFill>
        </p:spPr>
        <p:txBody>
          <a:bodyPr/>
          <a:lstStyle/>
          <a:p>
            <a:endParaRPr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940392F8-9E73-0461-57ED-AF7B9C92F651}"/>
              </a:ext>
            </a:extLst>
          </p:cNvPr>
          <p:cNvSpPr>
            <a:spLocks noGrp="1"/>
          </p:cNvSpPr>
          <p:nvPr/>
        </p:nvSpPr>
        <p:spPr>
          <a:xfrm>
            <a:off x="1005840" y="1417320"/>
            <a:ext cx="10149840" cy="8412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     </a:t>
            </a:r>
            <a:r>
              <a:rPr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1심 </a:t>
            </a:r>
            <a:r>
              <a:rPr sz="1300" b="1" dirty="0" err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계속</a:t>
            </a:r>
            <a:r>
              <a:rPr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 중 </a:t>
            </a:r>
            <a:r>
              <a:rPr sz="1300" b="1" dirty="0" err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제청신청</a:t>
            </a:r>
            <a:r>
              <a:rPr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sz="1300" b="1" dirty="0" err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기각</a:t>
            </a:r>
            <a:r>
              <a:rPr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 → 1심 </a:t>
            </a:r>
            <a:r>
              <a:rPr sz="1300" b="1" dirty="0" err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무기징역</a:t>
            </a:r>
            <a:r>
              <a:rPr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선고</a:t>
            </a:r>
            <a:r>
              <a:rPr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sz="1300" b="1" dirty="0" err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헌법소원</a:t>
            </a:r>
            <a:r>
              <a:rPr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청구</a:t>
            </a:r>
            <a:endParaRPr sz="1300" b="1" dirty="0">
              <a:solidFill>
                <a:srgbClr val="1E2761"/>
              </a:solidFill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     </a:t>
            </a:r>
            <a:r>
              <a:rPr sz="13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sz="130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무기징역을</a:t>
            </a:r>
            <a:r>
              <a:rPr sz="13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선고받은</a:t>
            </a:r>
            <a:r>
              <a:rPr sz="13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사람이</a:t>
            </a:r>
            <a:r>
              <a:rPr sz="13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사형조항의</a:t>
            </a:r>
            <a:r>
              <a:rPr sz="13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위헌</a:t>
            </a:r>
            <a:r>
              <a:rPr sz="13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여부를</a:t>
            </a:r>
            <a:r>
              <a:rPr sz="13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다투는</a:t>
            </a:r>
            <a:r>
              <a:rPr sz="13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사건이다</a:t>
            </a:r>
            <a:endParaRPr sz="1300" dirty="0">
              <a:solidFill>
                <a:srgbClr val="464D5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">
            <a:extLst>
              <a:ext uri="{FF2B5EF4-FFF2-40B4-BE49-F238E27FC236}">
                <a16:creationId xmlns:a16="http://schemas.microsoft.com/office/drawing/2014/main" id="{7D27D17B-3D3C-BF05-451D-BE2167BAA9C3}"/>
              </a:ext>
            </a:extLst>
          </p:cNvPr>
          <p:cNvSpPr/>
          <p:nvPr/>
        </p:nvSpPr>
        <p:spPr>
          <a:xfrm>
            <a:off x="4731258" y="690630"/>
            <a:ext cx="145759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2019</a:t>
            </a:r>
            <a:r>
              <a:rPr lang="ko-KR" altLang="en-US" sz="2000" b="1" u="none" strike="noStrike" dirty="0" err="1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헌바</a:t>
            </a:r>
            <a:r>
              <a:rPr lang="en-US" altLang="ko-KR" sz="20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59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TextBox 1"/>
          <p:cNvSpPr/>
          <p:nvPr/>
        </p:nvSpPr>
        <p:spPr>
          <a:xfrm>
            <a:off x="731520" y="329040"/>
            <a:ext cx="3682088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헌법재판소의 판단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34" name="TextBox 2"/>
          <p:cNvSpPr/>
          <p:nvPr/>
        </p:nvSpPr>
        <p:spPr>
          <a:xfrm>
            <a:off x="731520" y="658440"/>
            <a:ext cx="8417977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en-US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2022 </a:t>
            </a:r>
            <a:r>
              <a:rPr lang="ko-KR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공개변론 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35" name="TextBox 3"/>
          <p:cNvSpPr/>
          <p:nvPr/>
        </p:nvSpPr>
        <p:spPr>
          <a:xfrm>
            <a:off x="9194729" y="438840"/>
            <a:ext cx="2235011" cy="31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 defTabSz="914400">
              <a:lnSpc>
                <a:spcPct val="118000"/>
              </a:lnSpc>
            </a:pPr>
            <a:r>
              <a:rPr lang="ko-KR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참고인의 의견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cxnSp>
        <p:nvCxnSpPr>
          <p:cNvPr id="536" name="Connector 4"/>
          <p:cNvCxnSpPr/>
          <p:nvPr/>
        </p:nvCxnSpPr>
        <p:spPr>
          <a:xfrm>
            <a:off x="731520" y="1216080"/>
            <a:ext cx="10727224" cy="1440"/>
          </a:xfrm>
          <a:prstGeom prst="straightConnector1">
            <a:avLst/>
          </a:prstGeom>
          <a:ln w="0">
            <a:solidFill>
              <a:srgbClr val="F2F4F8"/>
            </a:solidFill>
          </a:ln>
        </p:spPr>
      </p:cxnSp>
      <p:sp>
        <p:nvSpPr>
          <p:cNvPr id="537" name="TextBox 5"/>
          <p:cNvSpPr/>
          <p:nvPr/>
        </p:nvSpPr>
        <p:spPr>
          <a:xfrm>
            <a:off x="889314" y="1337760"/>
            <a:ext cx="10347414" cy="30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altLang="ko-KR" sz="13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2019</a:t>
            </a:r>
            <a:r>
              <a:rPr lang="ko-KR" altLang="en-US" sz="1300" b="1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헌바</a:t>
            </a:r>
            <a:r>
              <a:rPr lang="en-US" altLang="ko-KR" sz="13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59 · 2022. 7. 14. </a:t>
            </a:r>
            <a:r>
              <a:rPr lang="ko-KR" altLang="en-US" sz="13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공개변론 </a:t>
            </a:r>
            <a:r>
              <a:rPr lang="ko-KR" altLang="en-US" sz="1300" b="1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ㅡ</a:t>
            </a:r>
            <a:r>
              <a:rPr lang="ko-KR" altLang="en-US" sz="13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당사자 측의 주요 논거</a:t>
            </a:r>
          </a:p>
        </p:txBody>
      </p:sp>
      <p:sp>
        <p:nvSpPr>
          <p:cNvPr id="538" name="TextBox 6"/>
          <p:cNvSpPr/>
          <p:nvPr/>
        </p:nvSpPr>
        <p:spPr>
          <a:xfrm>
            <a:off x="819222" y="1783080"/>
            <a:ext cx="5195114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이해관계인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법무부장관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) </a:t>
            </a: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측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39" name="TextBox 7"/>
          <p:cNvSpPr/>
          <p:nvPr/>
        </p:nvSpPr>
        <p:spPr>
          <a:xfrm>
            <a:off x="6234971" y="1783080"/>
            <a:ext cx="5195114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청구인 측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0" name="Rounded Rectangle 8"/>
          <p:cNvSpPr/>
          <p:nvPr/>
        </p:nvSpPr>
        <p:spPr>
          <a:xfrm>
            <a:off x="819222" y="216720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1" name="TextBox 9"/>
          <p:cNvSpPr/>
          <p:nvPr/>
        </p:nvSpPr>
        <p:spPr>
          <a:xfrm>
            <a:off x="889314" y="224028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헌법적 근거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2" name="TextBox 10"/>
          <p:cNvSpPr/>
          <p:nvPr/>
        </p:nvSpPr>
        <p:spPr>
          <a:xfrm>
            <a:off x="889314" y="255132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 제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110</a:t>
            </a: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4</a:t>
            </a: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항이 사형의 존재를 간접적으로 인정한다고 본다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3" name="Rounded Rectangle 11"/>
          <p:cNvSpPr/>
          <p:nvPr/>
        </p:nvSpPr>
        <p:spPr>
          <a:xfrm>
            <a:off x="819222" y="281196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4" name="TextBox 12"/>
          <p:cNvSpPr/>
          <p:nvPr/>
        </p:nvSpPr>
        <p:spPr>
          <a:xfrm>
            <a:off x="889314" y="288504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응보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5" name="TextBox 13"/>
          <p:cNvSpPr/>
          <p:nvPr/>
        </p:nvSpPr>
        <p:spPr>
          <a:xfrm>
            <a:off x="889314" y="319572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극히 중대한 범죄에는 책임에 상응하는 최고형이 필요하다고 본다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6" name="Rounded Rectangle 14"/>
          <p:cNvSpPr/>
          <p:nvPr/>
        </p:nvSpPr>
        <p:spPr>
          <a:xfrm>
            <a:off x="819222" y="345636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7" name="TextBox 15"/>
          <p:cNvSpPr/>
          <p:nvPr/>
        </p:nvSpPr>
        <p:spPr>
          <a:xfrm>
            <a:off x="889314" y="352944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억제효과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8" name="TextBox 16"/>
          <p:cNvSpPr/>
          <p:nvPr/>
        </p:nvSpPr>
        <p:spPr>
          <a:xfrm>
            <a:off x="889314" y="384048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사형의 범죄 억제 기능을 중시한다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9" name="Rounded Rectangle 17"/>
          <p:cNvSpPr/>
          <p:nvPr/>
        </p:nvSpPr>
        <p:spPr>
          <a:xfrm>
            <a:off x="819222" y="410112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0" name="TextBox 18"/>
          <p:cNvSpPr/>
          <p:nvPr/>
        </p:nvSpPr>
        <p:spPr>
          <a:xfrm>
            <a:off x="889314" y="417420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국제 비교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1" name="TextBox 19"/>
          <p:cNvSpPr/>
          <p:nvPr/>
        </p:nvSpPr>
        <p:spPr>
          <a:xfrm>
            <a:off x="889314" y="448524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미국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일본 등도 사형을 두므로 존치 자체가 후진성을 뜻하지는 않는다고 본다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2" name="Rounded Rectangle 20"/>
          <p:cNvSpPr/>
          <p:nvPr/>
        </p:nvSpPr>
        <p:spPr>
          <a:xfrm>
            <a:off x="819222" y="474588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3" name="TextBox 21"/>
          <p:cNvSpPr/>
          <p:nvPr/>
        </p:nvSpPr>
        <p:spPr>
          <a:xfrm>
            <a:off x="889314" y="481896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대체형벌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4" name="TextBox 22"/>
          <p:cNvSpPr/>
          <p:nvPr/>
        </p:nvSpPr>
        <p:spPr>
          <a:xfrm>
            <a:off x="889314" y="512964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가석방 없는 종신형만으로 사형을 대체하기 어렵다고 본다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5" name="Rounded Rectangle 23"/>
          <p:cNvSpPr/>
          <p:nvPr/>
        </p:nvSpPr>
        <p:spPr>
          <a:xfrm>
            <a:off x="819222" y="539028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6" name="TextBox 24"/>
          <p:cNvSpPr/>
          <p:nvPr/>
        </p:nvSpPr>
        <p:spPr>
          <a:xfrm>
            <a:off x="889314" y="546372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오판 가능성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7" name="TextBox 25"/>
          <p:cNvSpPr/>
          <p:nvPr/>
        </p:nvSpPr>
        <p:spPr>
          <a:xfrm>
            <a:off x="889314" y="577440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오판은 사법제도 일반의 한계이므로 사형제 자체의 위헌 사유로 보기 어렵다고 본다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8" name="Rounded Rectangle 26"/>
          <p:cNvSpPr/>
          <p:nvPr/>
        </p:nvSpPr>
        <p:spPr>
          <a:xfrm>
            <a:off x="6234971" y="216720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9" name="TextBox 27"/>
          <p:cNvSpPr/>
          <p:nvPr/>
        </p:nvSpPr>
        <p:spPr>
          <a:xfrm>
            <a:off x="6305064" y="224028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 제한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0" name="TextBox 28"/>
          <p:cNvSpPr/>
          <p:nvPr/>
        </p:nvSpPr>
        <p:spPr>
          <a:xfrm>
            <a:off x="6305064" y="255132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생명은 법적 평가로 박탈할 수 있는 것이 아니며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생명권의 본질을 침해한다고 본다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1" name="Rounded Rectangle 29"/>
          <p:cNvSpPr/>
          <p:nvPr/>
        </p:nvSpPr>
        <p:spPr>
          <a:xfrm>
            <a:off x="6234971" y="281196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2" name="TextBox 30"/>
          <p:cNvSpPr/>
          <p:nvPr/>
        </p:nvSpPr>
        <p:spPr>
          <a:xfrm>
            <a:off x="6305064" y="288504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억제효과의 근거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3" name="TextBox 31"/>
          <p:cNvSpPr/>
          <p:nvPr/>
        </p:nvSpPr>
        <p:spPr>
          <a:xfrm>
            <a:off x="6305064" y="319572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사형이 범죄를 더 줄인다는 데 일치된 연구결과가 없다고 본다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4" name="Rounded Rectangle 32"/>
          <p:cNvSpPr/>
          <p:nvPr/>
        </p:nvSpPr>
        <p:spPr>
          <a:xfrm>
            <a:off x="6234971" y="345636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5" name="TextBox 33"/>
          <p:cNvSpPr/>
          <p:nvPr/>
        </p:nvSpPr>
        <p:spPr>
          <a:xfrm>
            <a:off x="6305064" y="352944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대체형벌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6" name="TextBox 34"/>
          <p:cNvSpPr/>
          <p:nvPr/>
        </p:nvSpPr>
        <p:spPr>
          <a:xfrm>
            <a:off x="6305064" y="384048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절대적 종신형 등 생명을 박탈하지 않는 수단으로 사회 격리 목적을 달성할 수 있다고 본다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7" name="Rounded Rectangle 35"/>
          <p:cNvSpPr/>
          <p:nvPr/>
        </p:nvSpPr>
        <p:spPr>
          <a:xfrm>
            <a:off x="6234971" y="410112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8" name="TextBox 36"/>
          <p:cNvSpPr/>
          <p:nvPr/>
        </p:nvSpPr>
        <p:spPr>
          <a:xfrm>
            <a:off x="6305064" y="417420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오판</a:t>
            </a:r>
            <a:r>
              <a:rPr lang="en-US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불가역성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9" name="TextBox 37"/>
          <p:cNvSpPr/>
          <p:nvPr/>
        </p:nvSpPr>
        <p:spPr>
          <a:xfrm>
            <a:off x="6305064" y="448524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집행 후 오판이 드러나면 생명을 되돌릴 수 없다는 점을 중시한다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9E00A31-45F3-4349-A41D-1F00EF019F24}"/>
              </a:ext>
            </a:extLst>
          </p:cNvPr>
          <p:cNvSpPr>
            <a:spLocks noGrp="1"/>
          </p:cNvSpPr>
          <p:nvPr/>
        </p:nvSpPr>
        <p:spPr>
          <a:xfrm>
            <a:off x="731520" y="365760"/>
            <a:ext cx="66751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</a:pPr>
            <a:r>
              <a:rPr sz="130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헌법재판소의 판단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36A71C-8755-483C-BA3F-4C7C335AFC51}"/>
              </a:ext>
            </a:extLst>
          </p:cNvPr>
          <p:cNvSpPr>
            <a:spLocks noGrp="1"/>
          </p:cNvSpPr>
          <p:nvPr/>
        </p:nvSpPr>
        <p:spPr>
          <a:xfrm>
            <a:off x="73152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2022 공개변론 — 참고인의 의견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15BE22-3DCD-4EC5-9077-700C2E6F787C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solidFill>
            <a:srgbClr val="F2F4F8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80B4C9D-432D-4C57-8021-C246B892BFC7}"/>
              </a:ext>
            </a:extLst>
          </p:cNvPr>
          <p:cNvSpPr>
            <a:spLocks noGrp="1"/>
          </p:cNvSpPr>
          <p:nvPr/>
        </p:nvSpPr>
        <p:spPr>
          <a:xfrm>
            <a:off x="1005840" y="1417320"/>
            <a:ext cx="101498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 sz="1350" b="0">
                <a:solidFill>
                  <a:srgbClr val="1E2761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참고인은 전문적 지식과 의견을 제시한다. 선정 주체와 의견의 내용은 구별해 표시한다.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3C0774A-9B47-4B99-98DE-D9444DC4A201}"/>
              </a:ext>
            </a:extLst>
          </p:cNvPr>
          <p:cNvSpPr>
            <a:spLocks noGrp="1"/>
          </p:cNvSpPr>
          <p:nvPr/>
        </p:nvSpPr>
        <p:spPr>
          <a:xfrm>
            <a:off x="731520" y="2392680"/>
            <a:ext cx="10698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22609CE-42BD-4278-9216-FB2E2A464DF8}"/>
              </a:ext>
            </a:extLst>
          </p:cNvPr>
          <p:cNvSpPr>
            <a:spLocks noGrp="1"/>
          </p:cNvSpPr>
          <p:nvPr/>
        </p:nvSpPr>
        <p:spPr>
          <a:xfrm>
            <a:off x="985521" y="2760663"/>
            <a:ext cx="722630" cy="42862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4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청</a:t>
            </a:r>
            <a:r>
              <a:rPr sz="1400" b="1" dirty="0" err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구인</a:t>
            </a:r>
            <a:r>
              <a:rPr sz="14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 측</a:t>
            </a:r>
            <a:endParaRPr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EBE4FA7-C300-4BD2-A9AE-0942172E192F}"/>
              </a:ext>
            </a:extLst>
          </p:cNvPr>
          <p:cNvSpPr>
            <a:spLocks noGrp="1"/>
          </p:cNvSpPr>
          <p:nvPr/>
        </p:nvSpPr>
        <p:spPr>
          <a:xfrm>
            <a:off x="2103120" y="2514600"/>
            <a:ext cx="93268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 sz="1300" b="1"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인간의 존엄과 개선 가능성</a:t>
            </a:r>
            <a:endParaRPr sz="12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F69B4E3-A2A9-4DD1-B152-E10B27C10373}"/>
              </a:ext>
            </a:extLst>
          </p:cNvPr>
          <p:cNvSpPr>
            <a:spLocks noGrp="1"/>
          </p:cNvSpPr>
          <p:nvPr/>
        </p:nvSpPr>
        <p:spPr>
          <a:xfrm>
            <a:off x="2103120" y="2880360"/>
            <a:ext cx="9326880" cy="62198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 sz="1250" b="0">
                <a:solidFill>
                  <a:srgbClr val="1E2761"/>
                </a:solidFill>
                <a:latin typeface="Pretendard"/>
                <a:ea typeface="Pretendard"/>
                <a:cs typeface="Pretendard"/>
              </a:defRPr>
            </a:pP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국가가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형사정책의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수단으로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인간의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생명을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박탈해서는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안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된다고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본다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사형은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개선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가능성을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포기하는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형벌이며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국민의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법감정만으로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합헌성을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판단할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수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없다는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입장이다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355C2D1-7BB0-43ED-9EBF-F6B03FB55815}"/>
              </a:ext>
            </a:extLst>
          </p:cNvPr>
          <p:cNvSpPr>
            <a:spLocks noGrp="1"/>
          </p:cNvSpPr>
          <p:nvPr/>
        </p:nvSpPr>
        <p:spPr>
          <a:xfrm>
            <a:off x="731520" y="36271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2A12E22-64EB-41F8-8708-C446224AD04A}"/>
              </a:ext>
            </a:extLst>
          </p:cNvPr>
          <p:cNvSpPr>
            <a:spLocks noGrp="1"/>
          </p:cNvSpPr>
          <p:nvPr/>
        </p:nvSpPr>
        <p:spPr>
          <a:xfrm>
            <a:off x="985520" y="3995103"/>
            <a:ext cx="722631" cy="42862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defRPr>
            </a:pPr>
            <a:r>
              <a:rPr sz="1400" b="1" dirty="0" err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법무부</a:t>
            </a:r>
            <a:r>
              <a:rPr sz="14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 측</a:t>
            </a:r>
            <a:endParaRPr sz="1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4034CD3-4DF7-4239-AF3C-21DBC72588AF}"/>
              </a:ext>
            </a:extLst>
          </p:cNvPr>
          <p:cNvSpPr>
            <a:spLocks noGrp="1"/>
          </p:cNvSpPr>
          <p:nvPr/>
        </p:nvSpPr>
        <p:spPr>
          <a:xfrm>
            <a:off x="2103120" y="3749040"/>
            <a:ext cx="93268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 sz="1300" b="1">
                <a:latin typeface="Pretendard"/>
                <a:ea typeface="Pretendard"/>
                <a:cs typeface="Pretendard"/>
              </a:defRPr>
            </a:pPr>
            <a:r>
              <a:rPr sz="1300" b="1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헌법</a:t>
            </a:r>
            <a:r>
              <a:rPr sz="13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해석과</a:t>
            </a:r>
            <a:r>
              <a:rPr sz="13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응보의 기능</a:t>
            </a:r>
            <a:endParaRPr sz="12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6B3ED78-5BBB-4F84-A9B5-97D26745B640}"/>
              </a:ext>
            </a:extLst>
          </p:cNvPr>
          <p:cNvSpPr>
            <a:spLocks noGrp="1"/>
          </p:cNvSpPr>
          <p:nvPr/>
        </p:nvSpPr>
        <p:spPr>
          <a:xfrm>
            <a:off x="2103120" y="4114800"/>
            <a:ext cx="9326880" cy="62198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 sz="1250" b="0">
                <a:solidFill>
                  <a:srgbClr val="1E2761"/>
                </a:solidFill>
                <a:latin typeface="Pretendard"/>
                <a:ea typeface="Pretendard"/>
                <a:cs typeface="Pretendard"/>
              </a:defRPr>
            </a:pP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생명권을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어떠한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경우에도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제한할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수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없는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권리로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보기는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어렵고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현대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형사사법에서도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응보를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배제할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수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없다고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본다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. 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48D4415-9875-4EA3-8AE6-E761BD6B3947}"/>
              </a:ext>
            </a:extLst>
          </p:cNvPr>
          <p:cNvSpPr>
            <a:spLocks noGrp="1"/>
          </p:cNvSpPr>
          <p:nvPr/>
        </p:nvSpPr>
        <p:spPr>
          <a:xfrm>
            <a:off x="731520" y="486156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9F98D37-353E-4B34-AE51-8E8AB9B1E01C}"/>
              </a:ext>
            </a:extLst>
          </p:cNvPr>
          <p:cNvSpPr>
            <a:spLocks noGrp="1"/>
          </p:cNvSpPr>
          <p:nvPr/>
        </p:nvSpPr>
        <p:spPr>
          <a:xfrm>
            <a:off x="985520" y="5229543"/>
            <a:ext cx="722631" cy="42862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defRPr>
            </a:pPr>
            <a:r>
              <a:rPr sz="1400" b="1" dirty="0" err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헌재</a:t>
            </a:r>
            <a:r>
              <a:rPr sz="14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 dirty="0" err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직권</a:t>
            </a:r>
            <a:endParaRPr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FBD7F67-CF8C-447E-877A-BD9441E113B0}"/>
              </a:ext>
            </a:extLst>
          </p:cNvPr>
          <p:cNvSpPr>
            <a:spLocks noGrp="1"/>
          </p:cNvSpPr>
          <p:nvPr/>
        </p:nvSpPr>
        <p:spPr>
          <a:xfrm>
            <a:off x="2103120" y="4983480"/>
            <a:ext cx="93268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 sz="1300" b="1"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억제효과 연구의 한계</a:t>
            </a:r>
            <a:endParaRPr sz="12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EAABEFA-416A-40AE-8373-EAEE22C8F075}"/>
              </a:ext>
            </a:extLst>
          </p:cNvPr>
          <p:cNvSpPr>
            <a:spLocks noGrp="1"/>
          </p:cNvSpPr>
          <p:nvPr/>
        </p:nvSpPr>
        <p:spPr>
          <a:xfrm>
            <a:off x="2103120" y="5349240"/>
            <a:ext cx="9326880" cy="62198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 sz="1250" b="0">
                <a:solidFill>
                  <a:srgbClr val="1E2761"/>
                </a:solidFill>
                <a:latin typeface="Pretendard"/>
                <a:ea typeface="Pretendard"/>
                <a:cs typeface="Pretendard"/>
              </a:defRPr>
            </a:pPr>
            <a:r>
              <a:rPr sz="1250" b="0" dirty="0" err="1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기존</a:t>
            </a:r>
            <a:r>
              <a:rPr sz="1250" b="0" dirty="0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연구만으로</a:t>
            </a:r>
            <a:r>
              <a:rPr sz="1250" b="0" dirty="0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사형이</a:t>
            </a:r>
            <a:r>
              <a:rPr sz="1250" b="0" dirty="0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다른</a:t>
            </a:r>
            <a:r>
              <a:rPr sz="1250" b="0" dirty="0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형벌보다</a:t>
            </a:r>
            <a:r>
              <a:rPr sz="1250" b="0" dirty="0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살인을</a:t>
            </a:r>
            <a:r>
              <a:rPr sz="1250" b="0" dirty="0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 더 </a:t>
            </a:r>
            <a:r>
              <a:rPr sz="1250" b="0" dirty="0" err="1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억제하는지</a:t>
            </a:r>
            <a:r>
              <a:rPr sz="1250" b="0" dirty="0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확정하기</a:t>
            </a:r>
            <a:r>
              <a:rPr sz="1250" b="0" dirty="0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어렵다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는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점을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설명한다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효과가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확인되지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않았다는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것과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효과가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없다고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입증되었다는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것은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다르다</a:t>
            </a:r>
            <a:r>
              <a:rPr sz="125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4B6DBBB-5393-418A-B2F5-00A858743261}"/>
              </a:ext>
            </a:extLst>
          </p:cNvPr>
          <p:cNvSpPr>
            <a:spLocks noGrp="1"/>
          </p:cNvSpPr>
          <p:nvPr/>
        </p:nvSpPr>
        <p:spPr>
          <a:xfrm>
            <a:off x="731520" y="609600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">
            <a:extLst>
              <a:ext uri="{FF2B5EF4-FFF2-40B4-BE49-F238E27FC236}">
                <a16:creationId xmlns:a16="http://schemas.microsoft.com/office/drawing/2014/main" id="{FBAFA47C-1C9A-4A72-B153-945496C57B86}"/>
              </a:ext>
            </a:extLst>
          </p:cNvPr>
          <p:cNvSpPr>
            <a:spLocks noGrp="1"/>
          </p:cNvSpPr>
          <p:nvPr/>
        </p:nvSpPr>
        <p:spPr>
          <a:xfrm>
            <a:off x="731520" y="6455664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 sz="950" b="0">
                <a:solidFill>
                  <a:srgbClr val="1E2761"/>
                </a:solidFill>
                <a:latin typeface="Pretendard"/>
                <a:ea typeface="Pretendard"/>
                <a:cs typeface="Pretendard"/>
              </a:defRPr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출처: 공개변론 관련 당사자·참고인 의견요지(로이슈, 2022. 7. 13.)</a:t>
            </a:r>
          </a:p>
        </p:txBody>
      </p:sp>
      <p:sp>
        <p:nvSpPr>
          <p:cNvPr id="25" name="NEXT">
            <a:extLst>
              <a:ext uri="{FF2B5EF4-FFF2-40B4-BE49-F238E27FC236}">
                <a16:creationId xmlns:a16="http://schemas.microsoft.com/office/drawing/2014/main" id="{8965622B-3A1B-4F75-A651-613E629FD477}"/>
              </a:ext>
            </a:extLst>
          </p:cNvPr>
          <p:cNvSpPr>
            <a:spLocks noGrp="1"/>
          </p:cNvSpPr>
          <p:nvPr/>
        </p:nvSpPr>
        <p:spPr>
          <a:xfrm>
            <a:off x="7616952" y="36576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sz="110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시기별 논거 비교</a:t>
            </a:r>
          </a:p>
        </p:txBody>
      </p:sp>
    </p:spTree>
    <p:extLst>
      <p:ext uri="{BB962C8B-B14F-4D97-AF65-F5344CB8AC3E}">
        <p14:creationId xmlns:p14="http://schemas.microsoft.com/office/powerpoint/2010/main" val="1645596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TextBox 1"/>
          <p:cNvSpPr/>
          <p:nvPr/>
        </p:nvSpPr>
        <p:spPr>
          <a:xfrm>
            <a:off x="731520" y="329040"/>
            <a:ext cx="3682088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헌법재판소의 판단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89" name="TextBox 2"/>
          <p:cNvSpPr/>
          <p:nvPr/>
        </p:nvSpPr>
        <p:spPr>
          <a:xfrm>
            <a:off x="731520" y="658440"/>
            <a:ext cx="8417977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시기별 비교 ① — 사형 허용</a:t>
            </a:r>
            <a:r>
              <a:rPr lang="en-US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유지 쪽 논거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90" name="TextBox 3"/>
          <p:cNvSpPr/>
          <p:nvPr/>
        </p:nvSpPr>
        <p:spPr>
          <a:xfrm>
            <a:off x="9194729" y="438840"/>
            <a:ext cx="2235011" cy="31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 defTabSz="914400">
              <a:lnSpc>
                <a:spcPct val="118000"/>
              </a:lnSpc>
            </a:pPr>
            <a:r>
              <a:rPr lang="ko-KR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폐지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위헌 쪽 논거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cxnSp>
        <p:nvCxnSpPr>
          <p:cNvPr id="591" name="Connector 4"/>
          <p:cNvCxnSpPr/>
          <p:nvPr/>
        </p:nvCxnSpPr>
        <p:spPr>
          <a:xfrm>
            <a:off x="731520" y="1216080"/>
            <a:ext cx="10727224" cy="1440"/>
          </a:xfrm>
          <a:prstGeom prst="straightConnector1">
            <a:avLst/>
          </a:prstGeom>
          <a:ln w="0">
            <a:solidFill>
              <a:srgbClr val="F2F4F8"/>
            </a:solidFill>
          </a:ln>
        </p:spPr>
      </p:cxnSp>
      <p:sp>
        <p:nvSpPr>
          <p:cNvPr id="592" name="TextBox 5"/>
          <p:cNvSpPr/>
          <p:nvPr/>
        </p:nvSpPr>
        <p:spPr>
          <a:xfrm>
            <a:off x="863072" y="1307520"/>
            <a:ext cx="10522817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en-US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1996·2010</a:t>
            </a:r>
            <a:r>
              <a:rPr lang="ko-KR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은 결정의 의견</a:t>
            </a:r>
            <a:r>
              <a:rPr lang="en-US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2022</a:t>
            </a:r>
            <a:r>
              <a:rPr lang="ko-KR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는 공개변론 관련 의견요지다</a:t>
            </a:r>
            <a:r>
              <a:rPr lang="en-US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ko-KR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동일한 법적 지위의 자료는 아니다</a:t>
            </a:r>
            <a:r>
              <a:rPr lang="en-US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93" name="TextBox 6"/>
          <p:cNvSpPr/>
          <p:nvPr/>
        </p:nvSpPr>
        <p:spPr>
          <a:xfrm>
            <a:off x="792980" y="1719000"/>
            <a:ext cx="1270293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0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쟁점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94" name="TextBox 7"/>
          <p:cNvSpPr/>
          <p:nvPr/>
        </p:nvSpPr>
        <p:spPr>
          <a:xfrm>
            <a:off x="2090896" y="1719000"/>
            <a:ext cx="2980475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1996 · 95</a:t>
            </a:r>
            <a:r>
              <a:rPr lang="ko-KR" sz="10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헌바</a:t>
            </a: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95" name="TextBox 8"/>
          <p:cNvSpPr/>
          <p:nvPr/>
        </p:nvSpPr>
        <p:spPr>
          <a:xfrm>
            <a:off x="5160453" y="1719000"/>
            <a:ext cx="2980475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2010 · 2008</a:t>
            </a:r>
            <a:r>
              <a:rPr lang="ko-KR" sz="10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헌가</a:t>
            </a: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96" name="TextBox 9"/>
          <p:cNvSpPr/>
          <p:nvPr/>
        </p:nvSpPr>
        <p:spPr>
          <a:xfrm>
            <a:off x="8230011" y="1719000"/>
            <a:ext cx="3112028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2022 · </a:t>
            </a:r>
            <a:r>
              <a:rPr lang="ko-KR" sz="10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공개변론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98" name="TextBox 11"/>
          <p:cNvSpPr/>
          <p:nvPr/>
        </p:nvSpPr>
        <p:spPr>
          <a:xfrm>
            <a:off x="795528" y="2048256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99" name="TextBox 12"/>
          <p:cNvSpPr/>
          <p:nvPr/>
        </p:nvSpPr>
        <p:spPr>
          <a:xfrm>
            <a:off x="2093976" y="2048256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생명권도 예외적으로 제한 가능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0" name="TextBox 13"/>
          <p:cNvSpPr/>
          <p:nvPr/>
        </p:nvSpPr>
        <p:spPr>
          <a:xfrm>
            <a:off x="5157216" y="2048256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 제한 가능성을 전제로 비례심사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1" name="TextBox 14"/>
          <p:cNvSpPr/>
          <p:nvPr/>
        </p:nvSpPr>
        <p:spPr>
          <a:xfrm>
            <a:off x="8229600" y="2048256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 제한 가능성을 전제로 제도 존치 주장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2" name="TextBox 15"/>
          <p:cNvSpPr/>
          <p:nvPr/>
        </p:nvSpPr>
        <p:spPr>
          <a:xfrm>
            <a:off x="795528" y="2560320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 제110조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3" name="TextBox 16"/>
          <p:cNvSpPr/>
          <p:nvPr/>
        </p:nvSpPr>
        <p:spPr>
          <a:xfrm>
            <a:off x="2093976" y="2560320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언급을 존재 전제로 해석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4" name="TextBox 17"/>
          <p:cNvSpPr/>
          <p:nvPr/>
        </p:nvSpPr>
        <p:spPr>
          <a:xfrm>
            <a:off x="5157216" y="2560320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사형을 예외적으로 전제한 조항으로 해석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5" name="TextBox 18"/>
          <p:cNvSpPr/>
          <p:nvPr/>
        </p:nvSpPr>
        <p:spPr>
          <a:xfrm>
            <a:off x="8229600" y="2560320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헌법의 사형 언급을 간접적 인정으로 해석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6" name="TextBox 19"/>
          <p:cNvSpPr/>
          <p:nvPr/>
        </p:nvSpPr>
        <p:spPr>
          <a:xfrm>
            <a:off x="795528" y="3072384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응보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7" name="TextBox 20"/>
          <p:cNvSpPr/>
          <p:nvPr/>
        </p:nvSpPr>
        <p:spPr>
          <a:xfrm>
            <a:off x="2093976" y="3072384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중대한 범죄에 상응하는 형벌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8" name="TextBox 21"/>
          <p:cNvSpPr/>
          <p:nvPr/>
        </p:nvSpPr>
        <p:spPr>
          <a:xfrm>
            <a:off x="5157216" y="3072384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정의 실현과 책임에 상응하는 형벌 강조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9" name="TextBox 22"/>
          <p:cNvSpPr/>
          <p:nvPr/>
        </p:nvSpPr>
        <p:spPr>
          <a:xfrm>
            <a:off x="8229600" y="3072384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응보의 필요성 주장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0" name="TextBox 23"/>
          <p:cNvSpPr/>
          <p:nvPr/>
        </p:nvSpPr>
        <p:spPr>
          <a:xfrm>
            <a:off x="795528" y="3584448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억제효과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1" name="TextBox 24"/>
          <p:cNvSpPr/>
          <p:nvPr/>
        </p:nvSpPr>
        <p:spPr>
          <a:xfrm>
            <a:off x="2093976" y="3584448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위하효과를 기대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2" name="TextBox 25"/>
          <p:cNvSpPr/>
          <p:nvPr/>
        </p:nvSpPr>
        <p:spPr>
          <a:xfrm>
            <a:off x="5157216" y="3584448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강한 범죄 억제 가능성 강조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3" name="TextBox 26"/>
          <p:cNvSpPr/>
          <p:nvPr/>
        </p:nvSpPr>
        <p:spPr>
          <a:xfrm>
            <a:off x="8229600" y="3584448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범죄 억제 기능 주장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4" name="TextBox 27"/>
          <p:cNvSpPr/>
          <p:nvPr/>
        </p:nvSpPr>
        <p:spPr>
          <a:xfrm>
            <a:off x="795528" y="4096512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5" name="TextBox 28"/>
          <p:cNvSpPr/>
          <p:nvPr/>
        </p:nvSpPr>
        <p:spPr>
          <a:xfrm>
            <a:off x="2093976" y="4096512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무기형만으로 충분히 대신하기 어렵다고 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6" name="TextBox 29"/>
          <p:cNvSpPr/>
          <p:nvPr/>
        </p:nvSpPr>
        <p:spPr>
          <a:xfrm>
            <a:off x="5157216" y="4096512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동일 효과의 덜 침해적 대안이 명백하지 않음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7" name="TextBox 30"/>
          <p:cNvSpPr/>
          <p:nvPr/>
        </p:nvSpPr>
        <p:spPr>
          <a:xfrm>
            <a:off x="8229600" y="4096512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가석방 없는 종신형만으로 대체하기 어렵다는 주장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8" name="TextBox 31"/>
          <p:cNvSpPr/>
          <p:nvPr/>
        </p:nvSpPr>
        <p:spPr>
          <a:xfrm>
            <a:off x="795528" y="4608576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오판·불가역성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9" name="TextBox 32"/>
          <p:cNvSpPr/>
          <p:nvPr/>
        </p:nvSpPr>
        <p:spPr>
          <a:xfrm>
            <a:off x="2093976" y="4608576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en-US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20" name="TextBox 33"/>
          <p:cNvSpPr/>
          <p:nvPr/>
        </p:nvSpPr>
        <p:spPr>
          <a:xfrm>
            <a:off x="5157216" y="4608576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오판 위험은 사법제도 일반의 문제라는 응답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21" name="TextBox 34"/>
          <p:cNvSpPr/>
          <p:nvPr/>
        </p:nvSpPr>
        <p:spPr>
          <a:xfrm>
            <a:off x="8229600" y="4608576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오판을 제도 일반의 한계로 보는 응답 반복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" name="TextBox 31"/>
          <p:cNvSpPr/>
          <p:nvPr/>
        </p:nvSpPr>
        <p:spPr>
          <a:xfrm>
            <a:off x="795528" y="5120640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인간 존엄·개선 가능성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Box 32"/>
          <p:cNvSpPr/>
          <p:nvPr/>
        </p:nvSpPr>
        <p:spPr>
          <a:xfrm>
            <a:off x="2093976" y="5120640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en-US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3"/>
          <p:cNvSpPr/>
          <p:nvPr/>
        </p:nvSpPr>
        <p:spPr>
          <a:xfrm>
            <a:off x="5157216" y="5120640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절차 엄격화·적용범위 축소 필요성을 보충의견에서 제시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34"/>
          <p:cNvSpPr/>
          <p:nvPr/>
        </p:nvSpPr>
        <p:spPr>
          <a:xfrm>
            <a:off x="8229600" y="5120640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TextBox 1"/>
          <p:cNvSpPr/>
          <p:nvPr/>
        </p:nvSpPr>
        <p:spPr>
          <a:xfrm>
            <a:off x="731520" y="329040"/>
            <a:ext cx="3682088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헌법재판소의 판단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23" name="TextBox 2"/>
          <p:cNvSpPr/>
          <p:nvPr/>
        </p:nvSpPr>
        <p:spPr>
          <a:xfrm>
            <a:off x="731520" y="658440"/>
            <a:ext cx="8417977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시기별 비교 ② — 사형 폐지</a:t>
            </a:r>
            <a:r>
              <a:rPr lang="en-US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위헌 쪽 논거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24" name="TextBox 3"/>
          <p:cNvSpPr/>
          <p:nvPr/>
        </p:nvSpPr>
        <p:spPr>
          <a:xfrm>
            <a:off x="9194729" y="438840"/>
            <a:ext cx="2235011" cy="31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 defTabSz="914400">
              <a:lnSpc>
                <a:spcPct val="118000"/>
              </a:lnSpc>
            </a:pPr>
            <a:r>
              <a:rPr lang="ko-KR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대체형벌과의 관계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cxnSp>
        <p:nvCxnSpPr>
          <p:cNvPr id="625" name="Connector 4"/>
          <p:cNvCxnSpPr/>
          <p:nvPr/>
        </p:nvCxnSpPr>
        <p:spPr>
          <a:xfrm>
            <a:off x="731520" y="1216080"/>
            <a:ext cx="10727224" cy="1440"/>
          </a:xfrm>
          <a:prstGeom prst="straightConnector1">
            <a:avLst/>
          </a:prstGeom>
          <a:ln w="0">
            <a:solidFill>
              <a:srgbClr val="F2F4F8"/>
            </a:solidFill>
          </a:ln>
        </p:spPr>
      </p:cxnSp>
      <p:sp>
        <p:nvSpPr>
          <p:cNvPr id="626" name="TextBox 5"/>
          <p:cNvSpPr/>
          <p:nvPr/>
        </p:nvSpPr>
        <p:spPr>
          <a:xfrm>
            <a:off x="863072" y="1307520"/>
            <a:ext cx="10522817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en-US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1996·2010</a:t>
            </a:r>
            <a:r>
              <a:rPr lang="ko-KR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은 결정의 의견</a:t>
            </a:r>
            <a:r>
              <a:rPr lang="en-US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2022</a:t>
            </a:r>
            <a:r>
              <a:rPr lang="ko-KR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는 공개변론 관련 의견요지다</a:t>
            </a:r>
            <a:r>
              <a:rPr lang="en-US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ko-KR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동일한 법적 지위의 자료는 아니다</a:t>
            </a:r>
            <a:r>
              <a:rPr lang="en-US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27" name="TextBox 6"/>
          <p:cNvSpPr/>
          <p:nvPr/>
        </p:nvSpPr>
        <p:spPr>
          <a:xfrm>
            <a:off x="792980" y="1719000"/>
            <a:ext cx="1270293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1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쟁점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28" name="TextBox 7"/>
          <p:cNvSpPr/>
          <p:nvPr/>
        </p:nvSpPr>
        <p:spPr>
          <a:xfrm>
            <a:off x="2090896" y="1719000"/>
            <a:ext cx="2980475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1996 · 95</a:t>
            </a:r>
            <a:r>
              <a:rPr lang="ko-KR" sz="11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헌바</a:t>
            </a: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29" name="TextBox 8"/>
          <p:cNvSpPr/>
          <p:nvPr/>
        </p:nvSpPr>
        <p:spPr>
          <a:xfrm>
            <a:off x="5160453" y="1719000"/>
            <a:ext cx="2980475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2010 · 2008</a:t>
            </a:r>
            <a:r>
              <a:rPr lang="ko-KR" sz="11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헌가</a:t>
            </a: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30" name="TextBox 9"/>
          <p:cNvSpPr/>
          <p:nvPr/>
        </p:nvSpPr>
        <p:spPr>
          <a:xfrm>
            <a:off x="8230011" y="1719000"/>
            <a:ext cx="3112028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2022 · </a:t>
            </a:r>
            <a:r>
              <a:rPr lang="ko-KR" sz="11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공개변론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32" name="TextBox 11"/>
          <p:cNvSpPr/>
          <p:nvPr/>
        </p:nvSpPr>
        <p:spPr>
          <a:xfrm>
            <a:off x="795528" y="2048256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33" name="TextBox 12"/>
          <p:cNvSpPr/>
          <p:nvPr/>
        </p:nvSpPr>
        <p:spPr>
          <a:xfrm>
            <a:off x="2093976" y="2048256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 박탈은 본질적 내용 침해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34" name="TextBox 13"/>
          <p:cNvSpPr/>
          <p:nvPr/>
        </p:nvSpPr>
        <p:spPr>
          <a:xfrm>
            <a:off x="5157216" y="2048256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 자체를 제한 불가능한 권리로 보는 의견도 있음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35" name="TextBox 14"/>
          <p:cNvSpPr/>
          <p:nvPr/>
        </p:nvSpPr>
        <p:spPr>
          <a:xfrm>
            <a:off x="8229600" y="2048256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생명은 법적 평가로 박탈할 성질이 아니라는 주장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36" name="TextBox 15"/>
          <p:cNvSpPr/>
          <p:nvPr/>
        </p:nvSpPr>
        <p:spPr>
          <a:xfrm>
            <a:off x="795528" y="2560320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 제110조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37" name="TextBox 16"/>
          <p:cNvSpPr/>
          <p:nvPr/>
        </p:nvSpPr>
        <p:spPr>
          <a:xfrm>
            <a:off x="2093976" y="2560320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38" name="TextBox 17"/>
          <p:cNvSpPr/>
          <p:nvPr/>
        </p:nvSpPr>
        <p:spPr>
          <a:xfrm>
            <a:off x="5157216" y="2560320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군사재판의 예외만 허용한 조항이라는 의견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39" name="TextBox 18"/>
          <p:cNvSpPr/>
          <p:nvPr/>
        </p:nvSpPr>
        <p:spPr>
          <a:xfrm>
            <a:off x="8229600" y="2560320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40" name="TextBox 19"/>
          <p:cNvSpPr/>
          <p:nvPr/>
        </p:nvSpPr>
        <p:spPr>
          <a:xfrm>
            <a:off x="795528" y="3072384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응보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41" name="TextBox 20"/>
          <p:cNvSpPr/>
          <p:nvPr/>
        </p:nvSpPr>
        <p:spPr>
          <a:xfrm>
            <a:off x="2093976" y="3072384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응보·일반예방·사회방위도 사형을 정당화할 충분한 근거가 되지 못함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42" name="TextBox 21"/>
          <p:cNvSpPr/>
          <p:nvPr/>
        </p:nvSpPr>
        <p:spPr>
          <a:xfrm>
            <a:off x="5157216" y="3072384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형벌 목적만으로 생명박탈 정당화는 어렵다는 취지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43" name="TextBox 22"/>
          <p:cNvSpPr/>
          <p:nvPr/>
        </p:nvSpPr>
        <p:spPr>
          <a:xfrm>
            <a:off x="8229600" y="3072384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44" name="TextBox 23"/>
          <p:cNvSpPr/>
          <p:nvPr/>
        </p:nvSpPr>
        <p:spPr>
          <a:xfrm>
            <a:off x="795528" y="3584448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억제효과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45" name="TextBox 24"/>
          <p:cNvSpPr/>
          <p:nvPr/>
        </p:nvSpPr>
        <p:spPr>
          <a:xfrm>
            <a:off x="2093976" y="3584448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추가 억제효과를 입증하기 어렵다는 점을 문제 삼음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46" name="TextBox 25"/>
          <p:cNvSpPr/>
          <p:nvPr/>
        </p:nvSpPr>
        <p:spPr>
          <a:xfrm>
            <a:off x="5157216" y="3584448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효과의 실증적 불확실성 강조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47" name="TextBox 26"/>
          <p:cNvSpPr/>
          <p:nvPr/>
        </p:nvSpPr>
        <p:spPr>
          <a:xfrm>
            <a:off x="8229600" y="3584448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사형이 범죄를 더 줄인다는 데 일치된 연구결과가 없다고 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48" name="TextBox 27"/>
          <p:cNvSpPr/>
          <p:nvPr/>
        </p:nvSpPr>
        <p:spPr>
          <a:xfrm>
            <a:off x="795528" y="4096512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49" name="TextBox 28"/>
          <p:cNvSpPr/>
          <p:nvPr/>
        </p:nvSpPr>
        <p:spPr>
          <a:xfrm>
            <a:off x="2093976" y="4096512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무기징역 등 대체 가능성 검토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50" name="TextBox 29"/>
          <p:cNvSpPr/>
          <p:nvPr/>
        </p:nvSpPr>
        <p:spPr>
          <a:xfrm>
            <a:off x="5157216" y="4096512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계속 수용이나 가석방 제한 최고 자유형으로 대체 가능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51" name="TextBox 30"/>
          <p:cNvSpPr/>
          <p:nvPr/>
        </p:nvSpPr>
        <p:spPr>
          <a:xfrm>
            <a:off x="8229600" y="4096512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절대적 종신형 등으로 격리 목적 달성 가능 주장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52" name="TextBox 31"/>
          <p:cNvSpPr/>
          <p:nvPr/>
        </p:nvSpPr>
        <p:spPr>
          <a:xfrm>
            <a:off x="795528" y="4608576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오판·불가역성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53" name="TextBox 32"/>
          <p:cNvSpPr/>
          <p:nvPr/>
        </p:nvSpPr>
        <p:spPr>
          <a:xfrm>
            <a:off x="2093976" y="4608576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en-US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오판 가능성과 집행 후 회복 불가능성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54" name="TextBox 33"/>
          <p:cNvSpPr/>
          <p:nvPr/>
        </p:nvSpPr>
        <p:spPr>
          <a:xfrm>
            <a:off x="5157216" y="4608576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사법판단의 오류와 회복 불가능성 강조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55" name="TextBox 34"/>
          <p:cNvSpPr/>
          <p:nvPr/>
        </p:nvSpPr>
        <p:spPr>
          <a:xfrm>
            <a:off x="8229600" y="4608576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en-US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오판이 뒤늦게 드러나도 생명을 되돌릴 수 없음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" name="TextBox 31"/>
          <p:cNvSpPr/>
          <p:nvPr/>
        </p:nvSpPr>
        <p:spPr>
          <a:xfrm>
            <a:off x="795528" y="5120640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인간 존엄·개선 가능성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Box 32"/>
          <p:cNvSpPr/>
          <p:nvPr/>
        </p:nvSpPr>
        <p:spPr>
          <a:xfrm>
            <a:off x="2093976" y="5120640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en-US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인간의 존엄과 양립하기 어렵고 개선 가능성을 박탈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3"/>
          <p:cNvSpPr/>
          <p:nvPr/>
        </p:nvSpPr>
        <p:spPr>
          <a:xfrm>
            <a:off x="5157216" y="5120640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인간 존엄과 개선 가능성, 형벌의 한계 강조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34"/>
          <p:cNvSpPr/>
          <p:nvPr/>
        </p:nvSpPr>
        <p:spPr>
          <a:xfrm>
            <a:off x="8229600" y="5120640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en-US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인간을 정책 수단으로 삼고 개선 가능성을 포기한다는 비판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S101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정책대안 </a:t>
            </a:r>
            <a:r>
              <a:rPr lang="en-US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57" name="S102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존폐 논의와 가석방 없는 무기형의 관계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58" name="S103"/>
          <p:cNvSpPr/>
          <p:nvPr/>
        </p:nvSpPr>
        <p:spPr>
          <a:xfrm>
            <a:off x="731520" y="1417320"/>
            <a:ext cx="10696680" cy="7754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59" name="S104"/>
          <p:cNvSpPr/>
          <p:nvPr/>
        </p:nvSpPr>
        <p:spPr>
          <a:xfrm>
            <a:off x="1657350" y="1417320"/>
            <a:ext cx="949653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altLang="en-US" sz="1300" b="1" dirty="0">
                <a:solidFill>
                  <a:srgbClr val="1E2761"/>
                </a:solidFill>
                <a:latin typeface="Pretendard"/>
                <a:cs typeface="Pretendard"/>
              </a:rPr>
              <a:t>사형 폐지와 가석방 없는 무기형 도입은 별개의 선택이다</a:t>
            </a:r>
            <a:r>
              <a:rPr lang="en-US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lang="zh-CN" altLang="en-US" sz="1300" b="1" dirty="0">
                <a:solidFill>
                  <a:srgbClr val="1E2761"/>
                </a:solidFill>
                <a:latin typeface="Pretendard"/>
                <a:cs typeface="Pretendard"/>
              </a:rPr>
              <a:t>다만 이 형은 사형을 대체할 최고형의 한 방안이므로 함께 논의된다</a:t>
            </a:r>
            <a:r>
              <a:rPr lang="en-US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660" name="L105"/>
          <p:cNvSpPr/>
          <p:nvPr/>
        </p:nvSpPr>
        <p:spPr>
          <a:xfrm>
            <a:off x="731520" y="2194560"/>
            <a:ext cx="1069848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61" name="L112"/>
          <p:cNvSpPr/>
          <p:nvPr/>
        </p:nvSpPr>
        <p:spPr>
          <a:xfrm>
            <a:off x="731520" y="576072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62" name="S113"/>
          <p:cNvSpPr/>
          <p:nvPr/>
        </p:nvSpPr>
        <p:spPr>
          <a:xfrm>
            <a:off x="731520" y="5285232"/>
            <a:ext cx="1069668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형법 제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72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가석방의 요건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) 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 — 무기형은 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년이 지난 뒤 법정 요건을 충족하면 가석방 대상이 될 수 있다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기간이 지나면 자동으로 석방되는 것이 아니다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63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대만의 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2024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결정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64" name="M400"/>
          <p:cNvSpPr/>
          <p:nvPr/>
        </p:nvSpPr>
        <p:spPr>
          <a:xfrm>
            <a:off x="3246120" y="2304360"/>
            <a:ext cx="383868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존치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65" name="M401"/>
          <p:cNvSpPr/>
          <p:nvPr/>
        </p:nvSpPr>
        <p:spPr>
          <a:xfrm>
            <a:off x="7360920" y="2304360"/>
            <a:ext cx="406728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폐지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66" name="N402"/>
          <p:cNvSpPr/>
          <p:nvPr/>
        </p:nvSpPr>
        <p:spPr>
          <a:xfrm>
            <a:off x="731520" y="2724840"/>
            <a:ext cx="1069848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67" name="M403"/>
          <p:cNvSpPr/>
          <p:nvPr/>
        </p:nvSpPr>
        <p:spPr>
          <a:xfrm>
            <a:off x="731520" y="2718720"/>
            <a:ext cx="232992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현행 무기형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68" name="M404"/>
          <p:cNvSpPr/>
          <p:nvPr/>
        </p:nvSpPr>
        <p:spPr>
          <a:xfrm>
            <a:off x="3246120" y="2718720"/>
            <a:ext cx="383868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현행 구조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사형이 법정최고형이고</a:t>
            </a:r>
            <a:r>
              <a:rPr lang="en-US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무기형은 법정 요건을 충족하면 가석방 대상이 될 수 있다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69" name="M405"/>
          <p:cNvSpPr/>
          <p:nvPr/>
        </p:nvSpPr>
        <p:spPr>
          <a:xfrm>
            <a:off x="7360920" y="2718720"/>
            <a:ext cx="406728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Pretendard"/>
                <a:ea typeface="Pretendard"/>
                <a:cs typeface="Pretendard"/>
              </a:rPr>
              <a:t>현행 무기형이 가장 무거운 형벌이 된다</a:t>
            </a:r>
            <a:endParaRPr lang="en-US" sz="1250" b="0" u="none" strike="noStrike" dirty="0">
              <a:solidFill>
                <a:schemeClr val="tx1">
                  <a:lumMod val="50000"/>
                  <a:lumOff val="50000"/>
                </a:schemeClr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 박탈은 없애되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무기형의 가석방 가능성은 남긴다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70" name="N406"/>
          <p:cNvSpPr/>
          <p:nvPr/>
        </p:nvSpPr>
        <p:spPr>
          <a:xfrm>
            <a:off x="731520" y="393192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71" name="M407"/>
          <p:cNvSpPr/>
          <p:nvPr/>
        </p:nvSpPr>
        <p:spPr>
          <a:xfrm>
            <a:off x="731520" y="4108680"/>
            <a:ext cx="232992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가석방 없는 무기형 도입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72" name="M408"/>
          <p:cNvSpPr/>
          <p:nvPr/>
        </p:nvSpPr>
        <p:spPr>
          <a:xfrm>
            <a:off x="3246120" y="4108680"/>
            <a:ext cx="383868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병존형 — 사형을 남기고 가석방 없는 무기형을 추가한다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시설 내부의 안전과 사면</a:t>
            </a:r>
            <a:r>
              <a:rPr lang="en-US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감형 등 별도 절차도 검토해야 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73" name="M409"/>
          <p:cNvSpPr/>
          <p:nvPr/>
        </p:nvSpPr>
        <p:spPr>
          <a:xfrm>
            <a:off x="7360920" y="4108680"/>
            <a:ext cx="406728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 — 사형을 없애고 가석방 없는 무기형을 최고형으로 둔다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시설 내부의 안전과 사면</a:t>
            </a:r>
            <a:r>
              <a:rPr lang="en-US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감형 등 별도 절차도 검토해야 한다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Text 0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국제 비교 </a:t>
            </a:r>
            <a:r>
              <a:rPr lang="en-US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76" name="Text 1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대만 </a:t>
            </a:r>
            <a:r>
              <a:rPr lang="en-US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2024 — </a:t>
            </a: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사형확정자 </a:t>
            </a:r>
            <a:r>
              <a:rPr lang="en-US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37</a:t>
            </a: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명의 병합 사건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77" name="Shape 2"/>
          <p:cNvSpPr/>
          <p:nvPr/>
        </p:nvSpPr>
        <p:spPr>
          <a:xfrm>
            <a:off x="731520" y="1417320"/>
            <a:ext cx="10696680" cy="5468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78" name="Text 3"/>
          <p:cNvSpPr/>
          <p:nvPr/>
        </p:nvSpPr>
        <p:spPr>
          <a:xfrm>
            <a:off x="1005840" y="1417320"/>
            <a:ext cx="101480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비교의 초점은 사형의 헌법적 정당화와 생명 박탈에 요구되는 보호장치다</a:t>
            </a:r>
            <a:r>
              <a:rPr lang="en-US" sz="1350" b="0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79" name="Shape 4"/>
          <p:cNvSpPr/>
          <p:nvPr/>
        </p:nvSpPr>
        <p:spPr>
          <a:xfrm>
            <a:off x="731520" y="2240280"/>
            <a:ext cx="1069848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80" name="Text 5"/>
          <p:cNvSpPr/>
          <p:nvPr/>
        </p:nvSpPr>
        <p:spPr>
          <a:xfrm>
            <a:off x="960120" y="2691000"/>
            <a:ext cx="1284120" cy="42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청구 배경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81" name="Text 6"/>
          <p:cNvSpPr/>
          <p:nvPr/>
        </p:nvSpPr>
        <p:spPr>
          <a:xfrm>
            <a:off x="2103120" y="2362320"/>
            <a:ext cx="93250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서로 다른 범죄로 사형이 확정된 사람들이 헌법심판을 청구했다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82" name="Text 7"/>
          <p:cNvSpPr/>
          <p:nvPr/>
        </p:nvSpPr>
        <p:spPr>
          <a:xfrm>
            <a:off x="2103120" y="2728080"/>
            <a:ext cx="9325080" cy="62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청구인 </a:t>
            </a:r>
            <a:r>
              <a:rPr lang="en-US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37</a:t>
            </a:r>
            <a:r>
              <a:rPr lang="zh-CN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명은 살인이나 강간</a:t>
            </a:r>
            <a:r>
              <a:rPr lang="en-US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강도</a:t>
            </a:r>
            <a:r>
              <a:rPr lang="en-US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몸값 목적 납치와 결합한 살인으로 </a:t>
            </a:r>
            <a:r>
              <a:rPr lang="en-US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2000~2020</a:t>
            </a:r>
            <a:r>
              <a:rPr lang="zh-CN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사형이 확정되었다</a:t>
            </a:r>
            <a:r>
              <a:rPr lang="en-US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zh-CN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통상적인 재판절차를 거친 뒤</a:t>
            </a:r>
            <a:r>
              <a:rPr lang="en-US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자신에게 적용된 사형 규정과 재판절차가 헌법에 어긋난다고 각각 청구했다</a:t>
            </a:r>
            <a:r>
              <a:rPr lang="en-US" sz="12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83" name="Shape 8"/>
          <p:cNvSpPr/>
          <p:nvPr/>
        </p:nvSpPr>
        <p:spPr>
          <a:xfrm>
            <a:off x="731520" y="347472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84" name="Text 9"/>
          <p:cNvSpPr/>
          <p:nvPr/>
        </p:nvSpPr>
        <p:spPr>
          <a:xfrm>
            <a:off x="960120" y="3925440"/>
            <a:ext cx="1284120" cy="42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범죄</a:t>
            </a:r>
            <a:r>
              <a:rPr lang="en-US" alt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유형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85" name="Text 10"/>
          <p:cNvSpPr/>
          <p:nvPr/>
        </p:nvSpPr>
        <p:spPr>
          <a:xfrm>
            <a:off x="2103120" y="3596760"/>
            <a:ext cx="93250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사람을 고의로 죽인 네 유형의 범죄에 관한 처벌조항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86" name="Text 11"/>
          <p:cNvSpPr/>
          <p:nvPr/>
        </p:nvSpPr>
        <p:spPr>
          <a:xfrm>
            <a:off x="2103120" y="3962520"/>
            <a:ext cx="9325080" cy="62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① </a:t>
            </a:r>
            <a:r>
              <a:rPr lang="en-US" sz="125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살인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271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)  ② 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강간 등과 결합한 살인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226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조의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1 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전단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③ </a:t>
            </a:r>
            <a:r>
              <a:rPr lang="en-US" sz="125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강도살인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332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)  ④ 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몸값 목적 납치와 결합한 살인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348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87" name="Shape 12"/>
          <p:cNvSpPr/>
          <p:nvPr/>
        </p:nvSpPr>
        <p:spPr>
          <a:xfrm>
            <a:off x="731520" y="470916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88" name="Text 13"/>
          <p:cNvSpPr/>
          <p:nvPr/>
        </p:nvSpPr>
        <p:spPr>
          <a:xfrm>
            <a:off x="960120" y="5159880"/>
            <a:ext cx="1284120" cy="42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병합 심리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89" name="Text 14"/>
          <p:cNvSpPr/>
          <p:nvPr/>
        </p:nvSpPr>
        <p:spPr>
          <a:xfrm>
            <a:off x="2103120" y="4831200"/>
            <a:ext cx="93250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공통된 헌법적 쟁점이 있어 여러 청구를 병합했다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90" name="Text 15"/>
          <p:cNvSpPr/>
          <p:nvPr/>
        </p:nvSpPr>
        <p:spPr>
          <a:xfrm>
            <a:off x="2103120" y="5196960"/>
            <a:ext cx="9325080" cy="62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사형으로 생명을 박탈해도 되는지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변호인의 도움과 최종심 변론이 충분했는지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정신적 장애가 있는 사람에게도 사형을 허용할 수 있는지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가 문제였다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2024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4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월 공개변론을 거쳐 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9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</a:t>
            </a:r>
            <a:r>
              <a:rPr lang="zh-CN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일 결정했다</a:t>
            </a:r>
            <a:r>
              <a:rPr lang="en-US" sz="12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91" name="Shape 20"/>
          <p:cNvSpPr/>
          <p:nvPr/>
        </p:nvSpPr>
        <p:spPr>
          <a:xfrm>
            <a:off x="731520" y="594360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92" name="Text 21"/>
          <p:cNvSpPr/>
          <p:nvPr/>
        </p:nvSpPr>
        <p:spPr>
          <a:xfrm>
            <a:off x="731520" y="6108120"/>
            <a:ext cx="10696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병합 심리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공통되거나 밀접하게 관련된 쟁점이 있는 여러 사건을 묶어 함께 심리하는 것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93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대만 사건의 주요 주장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TextBox 1"/>
          <p:cNvSpPr/>
          <p:nvPr/>
        </p:nvSpPr>
        <p:spPr>
          <a:xfrm>
            <a:off x="731520" y="329040"/>
            <a:ext cx="3682088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국제 비교 </a:t>
            </a:r>
            <a:r>
              <a:rPr lang="en-US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ko-KR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95" name="TextBox 2"/>
          <p:cNvSpPr/>
          <p:nvPr/>
        </p:nvSpPr>
        <p:spPr>
          <a:xfrm>
            <a:off x="731520" y="658440"/>
            <a:ext cx="8417977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대만 </a:t>
            </a:r>
            <a:r>
              <a:rPr lang="en-US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2024 — </a:t>
            </a:r>
            <a:r>
              <a:rPr lang="ko-KR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공개변론에서 다툰 핵심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96" name="TextBox 3"/>
          <p:cNvSpPr/>
          <p:nvPr/>
        </p:nvSpPr>
        <p:spPr>
          <a:xfrm>
            <a:off x="8348472" y="438840"/>
            <a:ext cx="3108960" cy="31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 defTabSz="914400">
              <a:lnSpc>
                <a:spcPct val="118000"/>
              </a:lnSpc>
            </a:pPr>
            <a:r>
              <a:rPr lang="ko-KR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대만 결정의 요건과 보호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cxnSp>
        <p:nvCxnSpPr>
          <p:cNvPr id="697" name="Connector 4"/>
          <p:cNvCxnSpPr/>
          <p:nvPr/>
        </p:nvCxnSpPr>
        <p:spPr>
          <a:xfrm>
            <a:off x="731520" y="1216080"/>
            <a:ext cx="10727224" cy="1440"/>
          </a:xfrm>
          <a:prstGeom prst="straightConnector1">
            <a:avLst/>
          </a:prstGeom>
          <a:ln w="0">
            <a:solidFill>
              <a:srgbClr val="F2F4F8"/>
            </a:solidFill>
          </a:ln>
        </p:spPr>
      </p:cxnSp>
      <p:sp>
        <p:nvSpPr>
          <p:cNvPr id="698" name="TextBox 5"/>
          <p:cNvSpPr/>
          <p:nvPr/>
        </p:nvSpPr>
        <p:spPr>
          <a:xfrm>
            <a:off x="906923" y="1325880"/>
            <a:ext cx="10347414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이 사건은 일부 청구인에게 적용된 과거의 필요적 사형 규정과</a:t>
            </a:r>
            <a:r>
              <a:rPr lang="en-US" sz="12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2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사형이 선택형인 현행 네 조항을 함께 심사했다</a:t>
            </a:r>
            <a:r>
              <a:rPr lang="en-US" sz="12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99" name="TextBox 6"/>
          <p:cNvSpPr/>
          <p:nvPr/>
        </p:nvSpPr>
        <p:spPr>
          <a:xfrm>
            <a:off x="819222" y="1847160"/>
            <a:ext cx="5195114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대만 법무부 — 사형 규정</a:t>
            </a:r>
            <a:r>
              <a:rPr lang="en-US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3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기존 제도는 합헌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00" name="TextBox 7"/>
          <p:cNvSpPr/>
          <p:nvPr/>
        </p:nvSpPr>
        <p:spPr>
          <a:xfrm>
            <a:off x="6234971" y="1847160"/>
            <a:ext cx="5195114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청구인 측 — 사형 규정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보호의 미비는 위헌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01" name="Rounded Rectangle 8"/>
          <p:cNvSpPr/>
          <p:nvPr/>
        </p:nvSpPr>
        <p:spPr>
          <a:xfrm>
            <a:off x="819222" y="2231280"/>
            <a:ext cx="5195114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F2F4F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02" name="TextBox 9"/>
          <p:cNvSpPr/>
          <p:nvPr/>
        </p:nvSpPr>
        <p:spPr>
          <a:xfrm>
            <a:off x="889314" y="230436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중대한 생명 침해와 사형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03" name="TextBox 10"/>
          <p:cNvSpPr/>
          <p:nvPr/>
        </p:nvSpPr>
        <p:spPr>
          <a:xfrm>
            <a:off x="889314" y="2615040"/>
            <a:ext cx="5054585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사형이 곧 인간 존엄 침해는 아니며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중대한 생명 침해 범죄에는 응보와 예방을 위한 최후 수단이 될 수 있다고 주장했다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04" name="Rounded Rectangle 11"/>
          <p:cNvSpPr/>
          <p:nvPr/>
        </p:nvSpPr>
        <p:spPr>
          <a:xfrm>
            <a:off x="819222" y="3489840"/>
            <a:ext cx="5195114" cy="118872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05" name="TextBox 12"/>
          <p:cNvSpPr/>
          <p:nvPr/>
        </p:nvSpPr>
        <p:spPr>
          <a:xfrm>
            <a:off x="889314" y="3764448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 dirty="0">
                <a:solidFill>
                  <a:srgbClr val="A8871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정신적 장애</a:t>
            </a:r>
            <a:r>
              <a:rPr lang="ko-KR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와 양형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06" name="TextBox 13"/>
          <p:cNvSpPr/>
          <p:nvPr/>
        </p:nvSpPr>
        <p:spPr>
          <a:xfrm>
            <a:off x="889314" y="4075128"/>
            <a:ext cx="5054585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법정 감경요건에 못 미쳐도 형을 정할 때 정신적 장애와 책임 정도를 고려할 수 있다고 주장했다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07" name="Rounded Rectangle 14"/>
          <p:cNvSpPr/>
          <p:nvPr/>
        </p:nvSpPr>
        <p:spPr>
          <a:xfrm>
            <a:off x="819222" y="4748760"/>
            <a:ext cx="5195114" cy="118872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08" name="TextBox 15"/>
          <p:cNvSpPr/>
          <p:nvPr/>
        </p:nvSpPr>
        <p:spPr>
          <a:xfrm>
            <a:off x="889314" y="5023008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기존 절차와 </a:t>
            </a:r>
            <a:r>
              <a:rPr lang="ko-KR" sz="1250" b="1" u="none" strike="noStrike" dirty="0">
                <a:solidFill>
                  <a:srgbClr val="A8871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전원일치</a:t>
            </a:r>
            <a:endParaRPr lang="en-US" sz="125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09" name="TextBox 16"/>
          <p:cNvSpPr/>
          <p:nvPr/>
        </p:nvSpPr>
        <p:spPr>
          <a:xfrm>
            <a:off x="889314" y="5334048"/>
            <a:ext cx="5054585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최종심의 변호인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구두변론은 실무상 보장되며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법관 전원일치는 헌법상 의무가 아니라고 보았다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10" name="Rounded Rectangle 17"/>
          <p:cNvSpPr/>
          <p:nvPr/>
        </p:nvSpPr>
        <p:spPr>
          <a:xfrm>
            <a:off x="6234971" y="2231280"/>
            <a:ext cx="5195114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F2F4F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11" name="TextBox 18"/>
          <p:cNvSpPr/>
          <p:nvPr/>
        </p:nvSpPr>
        <p:spPr>
          <a:xfrm>
            <a:off x="6305064" y="230436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</a:t>
            </a:r>
            <a:r>
              <a:rPr lang="en-US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존엄과 대체수단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12" name="TextBox 19"/>
          <p:cNvSpPr/>
          <p:nvPr/>
        </p:nvSpPr>
        <p:spPr>
          <a:xfrm>
            <a:off x="6305064" y="2615040"/>
            <a:ext cx="5054585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다른 형벌로도 형벌 목적을 달성할 수 있는데 생명까지 박탈하는 것은 과도하고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오판도 되돌릴 수 없다고 주장했다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13" name="Rounded Rectangle 20"/>
          <p:cNvSpPr/>
          <p:nvPr/>
        </p:nvSpPr>
        <p:spPr>
          <a:xfrm>
            <a:off x="6234971" y="3489840"/>
            <a:ext cx="5195114" cy="118872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14" name="TextBox 21"/>
          <p:cNvSpPr/>
          <p:nvPr/>
        </p:nvSpPr>
        <p:spPr>
          <a:xfrm>
            <a:off x="6305064" y="3764448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필요적 사형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15" name="TextBox 22"/>
          <p:cNvSpPr/>
          <p:nvPr/>
        </p:nvSpPr>
        <p:spPr>
          <a:xfrm>
            <a:off x="6305064" y="4075128"/>
            <a:ext cx="5054585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죄가 성립하면 반드시 사형을 선고하게 한 과거 규정은 개인의 책임과 구체적 사정을 고려할 수 없다고 주장했다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ko-KR" altLang="en-US" sz="1050" b="0" u="none" strike="noStrike" dirty="0" err="1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ㅡ</a:t>
            </a:r>
            <a:r>
              <a:rPr lang="ko-KR" alt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1999</a:t>
            </a:r>
            <a:r>
              <a:rPr lang="ko-KR" altLang="en-US" sz="105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년판</a:t>
            </a:r>
            <a:r>
              <a:rPr lang="ko-KR" altLang="en-US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형법 제</a:t>
            </a:r>
            <a:r>
              <a:rPr lang="en-US" altLang="ko-KR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348</a:t>
            </a:r>
            <a:r>
              <a:rPr lang="ko-KR" altLang="en-US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조 제</a:t>
            </a:r>
            <a:r>
              <a:rPr lang="en-US" altLang="ko-KR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항</a:t>
            </a:r>
            <a:r>
              <a:rPr lang="en-US" altLang="ko-KR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즉 몸값 목적 납치와 결합한 살인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16" name="Rounded Rectangle 23"/>
          <p:cNvSpPr/>
          <p:nvPr/>
        </p:nvSpPr>
        <p:spPr>
          <a:xfrm>
            <a:off x="6234971" y="4748760"/>
            <a:ext cx="5195114" cy="118872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17" name="TextBox 24"/>
          <p:cNvSpPr/>
          <p:nvPr/>
        </p:nvSpPr>
        <p:spPr>
          <a:xfrm>
            <a:off x="6305064" y="5023008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정신적 장애와 더 엄격한 절차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18" name="TextBox 25"/>
          <p:cNvSpPr/>
          <p:nvPr/>
        </p:nvSpPr>
        <p:spPr>
          <a:xfrm>
            <a:off x="6305064" y="5334048"/>
            <a:ext cx="5054585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050" b="1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정신적 장애가 있는 사람에게 사형을 금지</a:t>
            </a:r>
            <a:r>
              <a:rPr lang="ko-KR" sz="105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하고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최종심 변호인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구두변론 및 </a:t>
            </a:r>
            <a:r>
              <a:rPr lang="ko-KR" altLang="en-US" sz="1050" b="1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사형 선고 시 </a:t>
            </a:r>
            <a:r>
              <a:rPr lang="ko-KR" sz="1050" b="1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재판부 법관 전원동의를 법으로 보장해야 한다</a:t>
            </a:r>
            <a:r>
              <a:rPr lang="ko-KR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고 주장했다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AKE_BG">
            <a:extLst>
              <a:ext uri="{FF2B5EF4-FFF2-40B4-BE49-F238E27FC236}">
                <a16:creationId xmlns:a16="http://schemas.microsoft.com/office/drawing/2014/main" id="{8254AB57-B608-3C82-2C85-33151210E991}"/>
              </a:ext>
            </a:extLst>
          </p:cNvPr>
          <p:cNvSpPr/>
          <p:nvPr/>
        </p:nvSpPr>
        <p:spPr>
          <a:xfrm>
            <a:off x="819221" y="6146640"/>
            <a:ext cx="10610863" cy="38232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AKE_TEXT">
            <a:extLst>
              <a:ext uri="{FF2B5EF4-FFF2-40B4-BE49-F238E27FC236}">
                <a16:creationId xmlns:a16="http://schemas.microsoft.com/office/drawing/2014/main" id="{A0B045A9-A29E-D36F-1964-B9CC51A69123}"/>
              </a:ext>
            </a:extLst>
          </p:cNvPr>
          <p:cNvSpPr/>
          <p:nvPr/>
        </p:nvSpPr>
        <p:spPr>
          <a:xfrm>
            <a:off x="1090560" y="6146640"/>
            <a:ext cx="1001088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절대적 법정형은 조문상 형벌 선택지가 </a:t>
            </a:r>
            <a:r>
              <a:rPr lang="ko-KR" altLang="en-US" sz="1250" b="1" dirty="0" err="1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하나뿐인</a:t>
            </a: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 구조이고</a:t>
            </a:r>
            <a:r>
              <a:rPr lang="en-US" altLang="ko-KR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필요적 사형은 법원이 실제로 사형 외의 선택을 할 수 없는 구조를 말한다</a:t>
            </a:r>
            <a:r>
              <a:rPr lang="en-US" altLang="ko-KR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. </a:t>
            </a:r>
            <a:endParaRPr lang="en-US" sz="1250" b="1" dirty="0">
              <a:solidFill>
                <a:srgbClr val="A8871C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TextBox 1"/>
          <p:cNvSpPr/>
          <p:nvPr/>
        </p:nvSpPr>
        <p:spPr>
          <a:xfrm>
            <a:off x="731520" y="347400"/>
            <a:ext cx="4384392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zh-CN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국제 비교 </a:t>
            </a:r>
            <a:r>
              <a:rPr lang="en-US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1" name="TextBox 2"/>
          <p:cNvSpPr/>
          <p:nvPr/>
        </p:nvSpPr>
        <p:spPr>
          <a:xfrm>
            <a:off x="731520" y="713160"/>
            <a:ext cx="8769475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대만 </a:t>
            </a:r>
            <a:r>
              <a:rPr lang="en-US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2024 — </a:t>
            </a: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위헌 판단과 사형의 제한적 허용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2" name="TextBox 3"/>
          <p:cNvSpPr/>
          <p:nvPr/>
        </p:nvSpPr>
        <p:spPr>
          <a:xfrm>
            <a:off x="8348472" y="457200"/>
            <a:ext cx="31089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>
              <a:lnSpc>
                <a:spcPct val="118000"/>
              </a:lnSpc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정신적 장애에 따른 사형 제한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3" name="Rectangle 4"/>
          <p:cNvSpPr/>
          <p:nvPr/>
        </p:nvSpPr>
        <p:spPr>
          <a:xfrm>
            <a:off x="731520" y="1243440"/>
            <a:ext cx="10742762" cy="1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4" name="TextBox 5"/>
          <p:cNvSpPr/>
          <p:nvPr/>
        </p:nvSpPr>
        <p:spPr>
          <a:xfrm>
            <a:off x="906923" y="1393880"/>
            <a:ext cx="10348105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en-US" sz="16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2024</a:t>
            </a:r>
            <a:r>
              <a:rPr lang="zh-CN" sz="16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헌법법정</a:t>
            </a:r>
            <a:r>
              <a:rPr lang="ko-KR" altLang="en-US" sz="16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의 결정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5" name="Rounded Rectangle 6"/>
          <p:cNvSpPr/>
          <p:nvPr/>
        </p:nvSpPr>
        <p:spPr>
          <a:xfrm>
            <a:off x="731520" y="1874520"/>
            <a:ext cx="4933605" cy="3565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6" name="Rounded Rectangle 7"/>
          <p:cNvSpPr/>
          <p:nvPr/>
        </p:nvSpPr>
        <p:spPr>
          <a:xfrm>
            <a:off x="6169023" y="1850360"/>
            <a:ext cx="5129856" cy="3565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7" name="TextBox 8"/>
          <p:cNvSpPr/>
          <p:nvPr/>
        </p:nvSpPr>
        <p:spPr>
          <a:xfrm>
            <a:off x="2305050" y="2032200"/>
            <a:ext cx="1884895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zh-CN" sz="15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규정에 대한 판단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8" name="TextBox 9"/>
          <p:cNvSpPr/>
          <p:nvPr/>
        </p:nvSpPr>
        <p:spPr>
          <a:xfrm>
            <a:off x="916028" y="2972520"/>
            <a:ext cx="1884895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zh-CN" sz="15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필요적 사형은 위헌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9" name="TextBox 10"/>
          <p:cNvSpPr/>
          <p:nvPr/>
        </p:nvSpPr>
        <p:spPr>
          <a:xfrm>
            <a:off x="2713913" y="2926080"/>
            <a:ext cx="2734388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>
              <a:lnSpc>
                <a:spcPct val="118000"/>
              </a:lnSpc>
            </a:pPr>
            <a:r>
              <a:rPr lang="zh-CN" sz="13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법원이 다른 형을 선택할 수 없이 사형을 선고해야 하는 구조는</a:t>
            </a:r>
            <a:r>
              <a:rPr lang="en-US" sz="13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3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개별 책임과 범행의 중대성을 따질 선택지를 없앤다</a:t>
            </a:r>
            <a:r>
              <a:rPr lang="en-US" sz="13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0" name="Rectangle 11"/>
          <p:cNvSpPr/>
          <p:nvPr/>
        </p:nvSpPr>
        <p:spPr>
          <a:xfrm>
            <a:off x="846777" y="3703320"/>
            <a:ext cx="4691348" cy="8280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1" name="TextBox 12"/>
          <p:cNvSpPr/>
          <p:nvPr/>
        </p:nvSpPr>
        <p:spPr>
          <a:xfrm>
            <a:off x="916028" y="3969360"/>
            <a:ext cx="1389022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>
              <a:lnSpc>
                <a:spcPct val="118000"/>
              </a:lnSpc>
            </a:pPr>
            <a:r>
              <a:rPr lang="zh-CN" sz="15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선택형 사형 규정은 제한적으로 허용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2" name="TextBox 13"/>
          <p:cNvSpPr/>
          <p:nvPr/>
        </p:nvSpPr>
        <p:spPr>
          <a:xfrm>
            <a:off x="2713912" y="3905280"/>
            <a:ext cx="2734389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>
              <a:lnSpc>
                <a:spcPct val="118000"/>
              </a:lnSpc>
            </a:pPr>
            <a:r>
              <a:rPr lang="zh-CN" sz="13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외에 무기징역 등을 함께 둔 네 살인 관련 조항은 전면 위헌으로 보지 않았다</a:t>
            </a:r>
            <a:r>
              <a:rPr lang="en-US" sz="13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zh-CN" sz="13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다만 </a:t>
            </a:r>
            <a:r>
              <a:rPr lang="zh-CN" sz="135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가장 중대한 사건이고 엄격한 절차가 보장될 때만 사형 선고가 가능하다고 보았다</a:t>
            </a:r>
            <a:r>
              <a:rPr lang="en-US" sz="135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35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3" name="TextBox 14"/>
          <p:cNvSpPr/>
          <p:nvPr/>
        </p:nvSpPr>
        <p:spPr>
          <a:xfrm>
            <a:off x="7512827" y="1979240"/>
            <a:ext cx="2196324" cy="3373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zh-CN" sz="15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선고에 필요한 절차</a:t>
            </a:r>
            <a:r>
              <a:rPr lang="en-US" altLang="zh-CN" sz="15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5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강화</a:t>
            </a:r>
            <a:endParaRPr lang="en-US" altLang="ko-KR" sz="1500" b="1" u="none" strike="noStrike" dirty="0">
              <a:solidFill>
                <a:srgbClr val="A8871C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4" name="Rectangle 15"/>
          <p:cNvSpPr/>
          <p:nvPr/>
        </p:nvSpPr>
        <p:spPr>
          <a:xfrm>
            <a:off x="6388277" y="2930000"/>
            <a:ext cx="4647497" cy="621000"/>
          </a:xfrm>
          <a:prstGeom prst="rect">
            <a:avLst/>
          </a:prstGeom>
          <a:solidFill>
            <a:srgbClr val="F2F4F8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5" name="TextBox 16"/>
          <p:cNvSpPr/>
          <p:nvPr/>
        </p:nvSpPr>
        <p:spPr>
          <a:xfrm>
            <a:off x="6546071" y="3039800"/>
            <a:ext cx="966756" cy="4463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2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수사 중 변호인 </a:t>
            </a:r>
            <a:endParaRPr lang="en-US" altLang="zh-CN" sz="1200" b="1" u="none" strike="noStrike" dirty="0">
              <a:solidFill>
                <a:srgbClr val="1E2761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18000"/>
              </a:lnSpc>
            </a:pPr>
            <a:r>
              <a:rPr lang="zh-CN" sz="12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조력 보장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6" name="TextBox 17"/>
          <p:cNvSpPr/>
          <p:nvPr/>
        </p:nvSpPr>
        <p:spPr>
          <a:xfrm>
            <a:off x="7885746" y="3021440"/>
            <a:ext cx="3018475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zh-CN" sz="11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해당 범죄 수사에서 피의자가 변호인의 도움을 받아 의견을 말할 수 있도록 한다</a:t>
            </a:r>
            <a:r>
              <a:rPr lang="en-US" sz="11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7" name="Rectangle 18"/>
          <p:cNvSpPr/>
          <p:nvPr/>
        </p:nvSpPr>
        <p:spPr>
          <a:xfrm>
            <a:off x="6388277" y="3752960"/>
            <a:ext cx="4647497" cy="621000"/>
          </a:xfrm>
          <a:prstGeom prst="rect">
            <a:avLst/>
          </a:prstGeom>
          <a:solidFill>
            <a:srgbClr val="F2F4F8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8" name="TextBox 19"/>
          <p:cNvSpPr/>
          <p:nvPr/>
        </p:nvSpPr>
        <p:spPr>
          <a:xfrm>
            <a:off x="6546071" y="3862760"/>
            <a:ext cx="118188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2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최종심 변호인 참여</a:t>
            </a:r>
            <a:r>
              <a:rPr lang="en-US" sz="12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</a:p>
          <a:p>
            <a:pPr>
              <a:lnSpc>
                <a:spcPct val="118000"/>
              </a:lnSpc>
            </a:pPr>
            <a:r>
              <a:rPr lang="zh-CN" sz="12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구두변론 의무화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9" name="TextBox 20"/>
          <p:cNvSpPr/>
          <p:nvPr/>
        </p:nvSpPr>
        <p:spPr>
          <a:xfrm>
            <a:off x="7885746" y="3844400"/>
            <a:ext cx="3018476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zh-CN" sz="11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마지막 심급에서도 변호인의 조력과 구두변론을 거쳐 사형 여부를 판단한다</a:t>
            </a:r>
            <a:r>
              <a:rPr lang="en-US" sz="11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40" name="Rectangle 21"/>
          <p:cNvSpPr/>
          <p:nvPr/>
        </p:nvSpPr>
        <p:spPr>
          <a:xfrm>
            <a:off x="6388277" y="4575920"/>
            <a:ext cx="4647497" cy="621000"/>
          </a:xfrm>
          <a:prstGeom prst="rect">
            <a:avLst/>
          </a:prstGeom>
          <a:solidFill>
            <a:srgbClr val="F2F4F8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41" name="TextBox 22"/>
          <p:cNvSpPr/>
          <p:nvPr/>
        </p:nvSpPr>
        <p:spPr>
          <a:xfrm>
            <a:off x="6546070" y="4685720"/>
            <a:ext cx="1181881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2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합의부 법관 전원의 </a:t>
            </a:r>
            <a:endParaRPr lang="en-US" altLang="zh-CN" sz="1200" b="1" u="none" strike="noStrike" dirty="0">
              <a:solidFill>
                <a:srgbClr val="1E2761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18000"/>
              </a:lnSpc>
            </a:pPr>
            <a:r>
              <a:rPr lang="zh-CN" sz="12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동의 요구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42" name="TextBox 23"/>
          <p:cNvSpPr/>
          <p:nvPr/>
        </p:nvSpPr>
        <p:spPr>
          <a:xfrm>
            <a:off x="7885744" y="4667360"/>
            <a:ext cx="3018477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zh-CN" sz="1100" b="1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사형은 그 형사재판부의 합의부 구성원 모두가 동의한 때에만 선고할 수 있다</a:t>
            </a:r>
            <a:r>
              <a:rPr lang="en-US" sz="1100" b="1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100" b="1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43" name="Rounded Rectangle 24"/>
          <p:cNvSpPr/>
          <p:nvPr/>
        </p:nvSpPr>
        <p:spPr>
          <a:xfrm>
            <a:off x="731521" y="5742360"/>
            <a:ext cx="10567358" cy="502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44" name="TextBox 25"/>
          <p:cNvSpPr/>
          <p:nvPr/>
        </p:nvSpPr>
        <p:spPr>
          <a:xfrm>
            <a:off x="1126177" y="5879520"/>
            <a:ext cx="9953447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algn="ctr">
              <a:lnSpc>
                <a:spcPct val="118000"/>
              </a:lnSpc>
            </a:pP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대만 결정은 사형을 전면 위헌으로 보지 않았다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다만 필요적 사형은 위헌으로 보고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선택형 사형도 가장 중대한 사건과 엄격한 절차가 있을 때만 허용했다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848570-5885-7A7C-16FA-6FB1FCAC8F3E}"/>
              </a:ext>
            </a:extLst>
          </p:cNvPr>
          <p:cNvSpPr txBox="1"/>
          <p:nvPr/>
        </p:nvSpPr>
        <p:spPr>
          <a:xfrm>
            <a:off x="6845477" y="2380893"/>
            <a:ext cx="4006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ko-KR" altLang="ko-KR" sz="11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기존에도 일부 보호와 실무 관행은 있었지만, 의무화한 상태는 아니었다. </a:t>
            </a:r>
            <a:endParaRPr lang="en-US" altLang="ko-KR" sz="1100" dirty="0">
              <a:solidFill>
                <a:srgbClr val="222633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00000"/>
              </a:lnSpc>
            </a:pPr>
            <a:r>
              <a:rPr lang="ko-KR" altLang="ko-KR" sz="11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헌법법정은 그 부족한 부분을 </a:t>
            </a:r>
            <a:r>
              <a:rPr lang="ko-KR" altLang="ko-KR" sz="11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헌법상 필수 요건으로 끌어올렸다.</a:t>
            </a:r>
            <a:endParaRPr lang="en-US" altLang="ko-KR" sz="1100" dirty="0">
              <a:solidFill>
                <a:srgbClr val="222633"/>
              </a:solidFill>
              <a:highlight>
                <a:srgbClr val="FFFF00"/>
              </a:highlight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TextBox 1"/>
          <p:cNvSpPr/>
          <p:nvPr/>
        </p:nvSpPr>
        <p:spPr>
          <a:xfrm>
            <a:off x="731520" y="347400"/>
            <a:ext cx="4384392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zh-CN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국제 비교 </a:t>
            </a:r>
            <a:r>
              <a:rPr lang="en-US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47" name="TextBox 2"/>
          <p:cNvSpPr/>
          <p:nvPr/>
        </p:nvSpPr>
        <p:spPr>
          <a:xfrm>
            <a:off x="731520" y="713160"/>
            <a:ext cx="8769475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대만 </a:t>
            </a:r>
            <a:r>
              <a:rPr lang="en-US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2024 — </a:t>
            </a: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정신적 장애에 따른 사형 제한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48" name="TextBox 3"/>
          <p:cNvSpPr/>
          <p:nvPr/>
        </p:nvSpPr>
        <p:spPr>
          <a:xfrm>
            <a:off x="8348472" y="457200"/>
            <a:ext cx="31089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>
              <a:lnSpc>
                <a:spcPct val="118000"/>
              </a:lnSpc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무기수의 교도소 내 살인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49" name="Rectangle 4"/>
          <p:cNvSpPr/>
          <p:nvPr/>
        </p:nvSpPr>
        <p:spPr>
          <a:xfrm>
            <a:off x="731520" y="1243440"/>
            <a:ext cx="10742762" cy="1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0" name="TextBox 5"/>
          <p:cNvSpPr/>
          <p:nvPr/>
        </p:nvSpPr>
        <p:spPr>
          <a:xfrm>
            <a:off x="729929" y="1444680"/>
            <a:ext cx="10260403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5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기존에도 정신적 장애를 양형에서 고려할 수 있었지만</a:t>
            </a:r>
            <a:r>
              <a:rPr lang="en-US" altLang="ko-KR" sz="15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, 2024</a:t>
            </a:r>
            <a:r>
              <a:rPr lang="ko-KR" altLang="en-US" sz="15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년 결정은 일정한 능력 저하가 있으면 사형 선고</a:t>
            </a:r>
            <a:r>
              <a:rPr lang="en-US" altLang="ko-KR" sz="15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5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집행 자체를 제한했다</a:t>
            </a:r>
            <a:r>
              <a:rPr lang="en-US" altLang="ko-KR" sz="15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1" name="Rectangle 6"/>
          <p:cNvSpPr/>
          <p:nvPr/>
        </p:nvSpPr>
        <p:spPr>
          <a:xfrm>
            <a:off x="906923" y="2020570"/>
            <a:ext cx="1884895" cy="328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2" name="TextBox 7"/>
          <p:cNvSpPr/>
          <p:nvPr/>
        </p:nvSpPr>
        <p:spPr>
          <a:xfrm>
            <a:off x="906923" y="2093650"/>
            <a:ext cx="1884895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algn="ctr">
              <a:lnSpc>
                <a:spcPct val="118000"/>
              </a:lnSpc>
            </a:pPr>
            <a:r>
              <a:rPr lang="zh-CN" sz="13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해당 시점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3" name="Rectangle 8"/>
          <p:cNvSpPr/>
          <p:nvPr/>
        </p:nvSpPr>
        <p:spPr>
          <a:xfrm>
            <a:off x="2880210" y="2020570"/>
            <a:ext cx="2060298" cy="328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4" name="TextBox 9"/>
          <p:cNvSpPr/>
          <p:nvPr/>
        </p:nvSpPr>
        <p:spPr>
          <a:xfrm>
            <a:off x="2880210" y="2093650"/>
            <a:ext cx="2060298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algn="ctr">
              <a:lnSpc>
                <a:spcPct val="118000"/>
              </a:lnSpc>
            </a:pPr>
            <a:r>
              <a:rPr lang="zh-CN" sz="13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보호의 결과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5" name="Rectangle 10"/>
          <p:cNvSpPr/>
          <p:nvPr/>
        </p:nvSpPr>
        <p:spPr>
          <a:xfrm>
            <a:off x="5028901" y="2020570"/>
            <a:ext cx="6182276" cy="328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6" name="TextBox 11"/>
          <p:cNvSpPr/>
          <p:nvPr/>
        </p:nvSpPr>
        <p:spPr>
          <a:xfrm>
            <a:off x="5028901" y="2093650"/>
            <a:ext cx="6182276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algn="ctr">
              <a:lnSpc>
                <a:spcPct val="118000"/>
              </a:lnSpc>
            </a:pPr>
            <a:r>
              <a:rPr lang="zh-CN" sz="13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무엇을 확인하는가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7" name="Rectangle 12"/>
          <p:cNvSpPr/>
          <p:nvPr/>
        </p:nvSpPr>
        <p:spPr>
          <a:xfrm>
            <a:off x="906923" y="2395728"/>
            <a:ext cx="188489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8" name="TextBox 13"/>
          <p:cNvSpPr/>
          <p:nvPr/>
        </p:nvSpPr>
        <p:spPr>
          <a:xfrm>
            <a:off x="1012234" y="2468880"/>
            <a:ext cx="1674273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범행 당시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9" name="Rectangle 14"/>
          <p:cNvSpPr/>
          <p:nvPr/>
        </p:nvSpPr>
        <p:spPr>
          <a:xfrm>
            <a:off x="2880210" y="2395728"/>
            <a:ext cx="206029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0" name="TextBox 15"/>
          <p:cNvSpPr/>
          <p:nvPr/>
        </p:nvSpPr>
        <p:spPr>
          <a:xfrm>
            <a:off x="2985522" y="2468880"/>
            <a:ext cx="1849676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선고 금지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1" name="Rectangle 16"/>
          <p:cNvSpPr/>
          <p:nvPr/>
        </p:nvSpPr>
        <p:spPr>
          <a:xfrm>
            <a:off x="5028901" y="2395728"/>
            <a:ext cx="618227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2" name="TextBox 17"/>
          <p:cNvSpPr/>
          <p:nvPr/>
        </p:nvSpPr>
        <p:spPr>
          <a:xfrm>
            <a:off x="5134212" y="2468880"/>
            <a:ext cx="5971654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zh-CN" sz="13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행위의 위법성을 인식하거나 그 인식에 따라 행동할 능력이 현저히 낮은 경우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3" name="Rectangle 18"/>
          <p:cNvSpPr/>
          <p:nvPr/>
        </p:nvSpPr>
        <p:spPr>
          <a:xfrm>
            <a:off x="906923" y="3273552"/>
            <a:ext cx="188489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4" name="TextBox 19"/>
          <p:cNvSpPr/>
          <p:nvPr/>
        </p:nvSpPr>
        <p:spPr>
          <a:xfrm>
            <a:off x="1012234" y="3346704"/>
            <a:ext cx="1674273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재판 당시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5" name="Rectangle 20"/>
          <p:cNvSpPr/>
          <p:nvPr/>
        </p:nvSpPr>
        <p:spPr>
          <a:xfrm>
            <a:off x="2880210" y="3273552"/>
            <a:ext cx="206029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6" name="TextBox 21"/>
          <p:cNvSpPr/>
          <p:nvPr/>
        </p:nvSpPr>
        <p:spPr>
          <a:xfrm>
            <a:off x="2985522" y="3346704"/>
            <a:ext cx="1849676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선고 금지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7" name="Rectangle 22"/>
          <p:cNvSpPr/>
          <p:nvPr/>
        </p:nvSpPr>
        <p:spPr>
          <a:xfrm>
            <a:off x="5028901" y="3273552"/>
            <a:ext cx="618227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8" name="TextBox 23"/>
          <p:cNvSpPr/>
          <p:nvPr/>
        </p:nvSpPr>
        <p:spPr>
          <a:xfrm>
            <a:off x="5134212" y="3346704"/>
            <a:ext cx="5971654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zh-CN" sz="13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자신의 사건에서 효과적으로 방어하고 재판에 참여할 능력이 현저히 부족한 경우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9" name="Rectangle 24"/>
          <p:cNvSpPr/>
          <p:nvPr/>
        </p:nvSpPr>
        <p:spPr>
          <a:xfrm>
            <a:off x="906923" y="4151376"/>
            <a:ext cx="188489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70" name="TextBox 25"/>
          <p:cNvSpPr/>
          <p:nvPr/>
        </p:nvSpPr>
        <p:spPr>
          <a:xfrm>
            <a:off x="1012234" y="4224528"/>
            <a:ext cx="1674273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집행 당시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71" name="Rectangle 26"/>
          <p:cNvSpPr/>
          <p:nvPr/>
        </p:nvSpPr>
        <p:spPr>
          <a:xfrm>
            <a:off x="2880210" y="4151376"/>
            <a:ext cx="206029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72" name="TextBox 27"/>
          <p:cNvSpPr/>
          <p:nvPr/>
        </p:nvSpPr>
        <p:spPr>
          <a:xfrm>
            <a:off x="2985522" y="4224528"/>
            <a:ext cx="1849676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집행 금지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73" name="Rectangle 28"/>
          <p:cNvSpPr/>
          <p:nvPr/>
        </p:nvSpPr>
        <p:spPr>
          <a:xfrm>
            <a:off x="5028901" y="4151376"/>
            <a:ext cx="618227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74" name="TextBox 29"/>
          <p:cNvSpPr/>
          <p:nvPr/>
        </p:nvSpPr>
        <p:spPr>
          <a:xfrm>
            <a:off x="5134212" y="4224528"/>
            <a:ext cx="5971654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zh-CN" sz="13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집행의 의미와 이유를 이해할 능력이 결여된 경우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75" name="TextBox 30"/>
          <p:cNvSpPr/>
          <p:nvPr/>
        </p:nvSpPr>
        <p:spPr>
          <a:xfrm>
            <a:off x="906923" y="5240528"/>
            <a:ext cx="10304254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18000"/>
              </a:lnSpc>
            </a:pPr>
            <a:r>
              <a:rPr lang="zh-CN" sz="12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청구인 </a:t>
            </a:r>
            <a:r>
              <a:rPr lang="en-US" sz="12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3</a:t>
            </a:r>
            <a:r>
              <a:rPr lang="zh-CN" sz="12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명은 재판 중 방어능력이 쟁점이 되었고</a:t>
            </a:r>
            <a:r>
              <a:rPr lang="en-US" sz="12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 정비 전 집행 금지와 정비 후 특별구제절차 요청 대상이 되었다</a:t>
            </a:r>
            <a:r>
              <a:rPr lang="en-US" sz="12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76" name="Rounded Rectangle 31"/>
          <p:cNvSpPr/>
          <p:nvPr/>
        </p:nvSpPr>
        <p:spPr>
          <a:xfrm>
            <a:off x="906923" y="5742360"/>
            <a:ext cx="10304254" cy="502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77" name="TextBox 32"/>
          <p:cNvSpPr/>
          <p:nvPr/>
        </p:nvSpPr>
        <p:spPr>
          <a:xfrm>
            <a:off x="1126177" y="5879520"/>
            <a:ext cx="9953447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algn="ctr">
              <a:lnSpc>
                <a:spcPct val="118000"/>
              </a:lnSpc>
            </a:pPr>
            <a:r>
              <a:rPr lang="ko-KR" altLang="en-US" sz="15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정신적 장애에 따른 제한은 진단명만이 아니라 범행</a:t>
            </a:r>
            <a:r>
              <a:rPr lang="en-US" altLang="ko-KR" sz="15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5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재판</a:t>
            </a:r>
            <a:r>
              <a:rPr lang="en-US" altLang="ko-KR" sz="15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5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집행 당시의 기능적 능력에 따른다</a:t>
            </a:r>
            <a:r>
              <a:rPr lang="en-US" altLang="ko-KR" sz="15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778" name="TextBox 33"/>
          <p:cNvSpPr/>
          <p:nvPr/>
        </p:nvSpPr>
        <p:spPr>
          <a:xfrm>
            <a:off x="731520" y="6473880"/>
            <a:ext cx="10523508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zh-CN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대만 사형제 헌법심판</a:t>
            </a:r>
            <a:r>
              <a:rPr lang="en-US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(2024.9.20.) · </a:t>
            </a:r>
            <a:r>
              <a:rPr lang="zh-CN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진단명 자체가 아니라 각 시점의 능력 기준으로 정리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KICKER"/>
          <p:cNvSpPr/>
          <p:nvPr/>
        </p:nvSpPr>
        <p:spPr>
          <a:xfrm>
            <a:off x="731520" y="3657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정책대안 </a:t>
            </a:r>
            <a:r>
              <a:rPr lang="en-US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80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대법원의 파기 이유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81" name="TITLE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무기수의 교도소 내 살인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82" name="BAND"/>
          <p:cNvSpPr/>
          <p:nvPr/>
        </p:nvSpPr>
        <p:spPr>
          <a:xfrm>
            <a:off x="731520" y="1417320"/>
            <a:ext cx="10696680" cy="66528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83" name="BANDT"/>
          <p:cNvSpPr/>
          <p:nvPr/>
        </p:nvSpPr>
        <p:spPr>
          <a:xfrm>
            <a:off x="1005840" y="1417320"/>
            <a:ext cx="10148040" cy="71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심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항소심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은 무기징역을 집행 중인 사람에게 무기형으로는 형벌의 목적을 달성하기 어렵다고 보았다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 사형과 무기형의 비교가 한 사건 안에서 구체적으로 나타났다  ·  </a:t>
            </a:r>
            <a:r>
              <a:rPr lang="zh-CN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대법원 </a:t>
            </a:r>
            <a:r>
              <a:rPr lang="en-US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2023</a:t>
            </a:r>
            <a:r>
              <a:rPr lang="zh-CN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도</a:t>
            </a:r>
            <a:r>
              <a:rPr lang="en-US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2043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84" name="L"/>
          <p:cNvSpPr/>
          <p:nvPr/>
        </p:nvSpPr>
        <p:spPr>
          <a:xfrm>
            <a:off x="731520" y="22046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85" name="H"/>
          <p:cNvSpPr/>
          <p:nvPr/>
        </p:nvSpPr>
        <p:spPr>
          <a:xfrm>
            <a:off x="731520" y="2311560"/>
            <a:ext cx="106966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86" name="DOT"/>
          <p:cNvSpPr/>
          <p:nvPr/>
        </p:nvSpPr>
        <p:spPr>
          <a:xfrm>
            <a:off x="731520" y="2723040"/>
            <a:ext cx="52920" cy="5292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87" name="T"/>
          <p:cNvSpPr/>
          <p:nvPr/>
        </p:nvSpPr>
        <p:spPr>
          <a:xfrm>
            <a:off x="914400" y="2598840"/>
            <a:ext cx="1051380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이전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 사건으로 무기징역이 확정되어 복역하던 피고인이, </a:t>
            </a: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다른 수용자 두 명과 공모하여 같은 방 수용자를 장기간 반복해 폭행하여 사망에 이르게 했다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88" name="DOT"/>
          <p:cNvSpPr/>
          <p:nvPr/>
        </p:nvSpPr>
        <p:spPr>
          <a:xfrm>
            <a:off x="731520" y="3070440"/>
            <a:ext cx="52920" cy="5292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89" name="T"/>
          <p:cNvSpPr/>
          <p:nvPr/>
        </p:nvSpPr>
        <p:spPr>
          <a:xfrm>
            <a:off x="914400" y="3003480"/>
            <a:ext cx="1051380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살해 목적의 확정적 고의보다는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괴롭히려는 목적과 미필적 고의로 누적된 폭행이라고 보았다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 미필적 고의: </a:t>
            </a: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사망할 가능성을 알면서도 그 결과를 받아들이고 행위하는 것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90" name="L"/>
          <p:cNvSpPr/>
          <p:nvPr/>
        </p:nvSpPr>
        <p:spPr>
          <a:xfrm>
            <a:off x="731520" y="35564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91" name="H"/>
          <p:cNvSpPr/>
          <p:nvPr/>
        </p:nvSpPr>
        <p:spPr>
          <a:xfrm>
            <a:off x="731520" y="3749040"/>
            <a:ext cx="106966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재판의 경과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92" name="T"/>
          <p:cNvSpPr/>
          <p:nvPr/>
        </p:nvSpPr>
        <p:spPr>
          <a:xfrm>
            <a:off x="731520" y="4114800"/>
            <a:ext cx="106966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심 무기징역</a:t>
            </a:r>
            <a:r>
              <a:rPr lang="en-US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  →   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심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항소심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)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</a:t>
            </a:r>
            <a:r>
              <a:rPr lang="en-US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  →  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대법원 파기환송</a:t>
            </a:r>
            <a:r>
              <a:rPr lang="en-US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  →  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환송 후 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심 무기징역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확정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93" name="L"/>
          <p:cNvSpPr/>
          <p:nvPr/>
        </p:nvSpPr>
        <p:spPr>
          <a:xfrm>
            <a:off x="731520" y="459000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94" name="H"/>
          <p:cNvSpPr/>
          <p:nvPr/>
        </p:nvSpPr>
        <p:spPr>
          <a:xfrm>
            <a:off x="731520" y="4700160"/>
            <a:ext cx="106966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심의 사형 선택 이유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95" name="DOT"/>
          <p:cNvSpPr/>
          <p:nvPr/>
        </p:nvSpPr>
        <p:spPr>
          <a:xfrm>
            <a:off x="731520" y="5196240"/>
            <a:ext cx="52920" cy="5292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96" name="T"/>
          <p:cNvSpPr/>
          <p:nvPr/>
        </p:nvSpPr>
        <p:spPr>
          <a:xfrm>
            <a:off x="914400" y="5065920"/>
            <a:ext cx="1051380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범행의 동기와 방법이 잔혹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하여 책임이 무겁다고 보았다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97" name="DOT"/>
          <p:cNvSpPr/>
          <p:nvPr/>
        </p:nvSpPr>
        <p:spPr>
          <a:xfrm>
            <a:off x="731520" y="5525280"/>
            <a:ext cx="52920" cy="5292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98" name="T"/>
          <p:cNvSpPr/>
          <p:nvPr/>
        </p:nvSpPr>
        <p:spPr>
          <a:xfrm>
            <a:off x="914400" y="5394960"/>
            <a:ext cx="1051380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무기징역 집행 중인 사람에게 다시 무기징역 이하의 형을 선고하면 일반예방의 측면에서 별 의미 없는 처벌로 받아들여진다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고 보았다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99" name="DOT"/>
          <p:cNvSpPr/>
          <p:nvPr/>
        </p:nvSpPr>
        <p:spPr>
          <a:xfrm>
            <a:off x="731520" y="5854680"/>
            <a:ext cx="52920" cy="5292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00" name="T"/>
          <p:cNvSpPr/>
          <p:nvPr/>
        </p:nvSpPr>
        <p:spPr>
          <a:xfrm>
            <a:off x="914400" y="5724000"/>
            <a:ext cx="1051380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사형은 집행되지 않더라도 사실상 절대적 종신형으로 기능하는 측면이 있다고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보았다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01" name="L"/>
          <p:cNvSpPr/>
          <p:nvPr/>
        </p:nvSpPr>
        <p:spPr>
          <a:xfrm>
            <a:off x="731520" y="61264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02" name="GBAND"/>
          <p:cNvSpPr/>
          <p:nvPr/>
        </p:nvSpPr>
        <p:spPr>
          <a:xfrm>
            <a:off x="731520" y="6217920"/>
            <a:ext cx="10696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다시 무기징역을 선고하는 것은 형벌로서 어떤 일을 할 수 있는가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03" name="NOTE"/>
          <p:cNvSpPr/>
          <p:nvPr/>
        </p:nvSpPr>
        <p:spPr>
          <a:xfrm>
            <a:off x="731520" y="6510600"/>
            <a:ext cx="1069668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대법원 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2023. 7. 13. 2023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도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2043 · 1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심 대전지법 공주지원 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2022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고합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2 · 2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심 대전고법 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2022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노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310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KICKER"/>
          <p:cNvSpPr/>
          <p:nvPr/>
        </p:nvSpPr>
        <p:spPr>
          <a:xfrm>
            <a:off x="731520" y="3657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정책대안 </a:t>
            </a:r>
            <a:r>
              <a:rPr lang="en-US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05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국내의 도입 논의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06" name="TITLE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대법원 — 추가 무기형의 문제만으로 사형을 택할 수 없다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07" name="BAND"/>
          <p:cNvSpPr/>
          <p:nvPr/>
        </p:nvSpPr>
        <p:spPr>
          <a:xfrm>
            <a:off x="731520" y="1417320"/>
            <a:ext cx="10696680" cy="83952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08" name="BANDT"/>
          <p:cNvSpPr/>
          <p:nvPr/>
        </p:nvSpPr>
        <p:spPr>
          <a:xfrm>
            <a:off x="1005840" y="1417320"/>
            <a:ext cx="10148040" cy="83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대법원은 이 사건 사형 양형</a:t>
            </a:r>
            <a:r>
              <a:rPr 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형의 결정</a:t>
            </a:r>
            <a:r>
              <a:rPr 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이 부당하고 필요한 심리가 부족하다고 보아 파기환송했다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 </a:t>
            </a:r>
            <a:r>
              <a:rPr lang="en-US" sz="120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파기환송</a:t>
            </a:r>
            <a:r>
              <a:rPr 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lang="en-US" sz="120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원심판결을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20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깨고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20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사건을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20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돌려보내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20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다시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20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재판하게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20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하는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20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결정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09" name="L"/>
          <p:cNvSpPr/>
          <p:nvPr/>
        </p:nvSpPr>
        <p:spPr>
          <a:xfrm>
            <a:off x="731520" y="23954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10" name="H"/>
          <p:cNvSpPr/>
          <p:nvPr/>
        </p:nvSpPr>
        <p:spPr>
          <a:xfrm>
            <a:off x="731520" y="2523600"/>
            <a:ext cx="493596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심의 사형 선택 논거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11" name="H"/>
          <p:cNvSpPr/>
          <p:nvPr/>
        </p:nvSpPr>
        <p:spPr>
          <a:xfrm>
            <a:off x="6519600" y="2523600"/>
            <a:ext cx="493596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대법원의 검토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12" name="DOT"/>
          <p:cNvSpPr/>
          <p:nvPr/>
        </p:nvSpPr>
        <p:spPr>
          <a:xfrm>
            <a:off x="731520" y="2971800"/>
            <a:ext cx="52920" cy="5292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13" name="T"/>
          <p:cNvSpPr/>
          <p:nvPr/>
        </p:nvSpPr>
        <p:spPr>
          <a:xfrm>
            <a:off x="914400" y="2876400"/>
            <a:ext cx="4753080" cy="70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zh-CN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추가 무기형의 효과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이미 무기징역을 복역 중이라면 다시 무기징역을 선고해도 별 의미 없는 처벌로 받아들여진다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14" name="DOT"/>
          <p:cNvSpPr/>
          <p:nvPr/>
        </p:nvSpPr>
        <p:spPr>
          <a:xfrm>
            <a:off x="6519600" y="2971800"/>
            <a:ext cx="52920" cy="5292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15" name="T"/>
          <p:cNvSpPr/>
          <p:nvPr/>
        </p:nvSpPr>
        <p:spPr>
          <a:xfrm>
            <a:off x="6702480" y="2876400"/>
            <a:ext cx="4753080" cy="70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ko-KR" altLang="en-US" sz="135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추가 무기형을 ‘</a:t>
            </a:r>
            <a:r>
              <a:rPr lang="ko-KR" altLang="en-US" sz="1350" b="1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무의미’하다고</a:t>
            </a:r>
            <a:r>
              <a:rPr lang="ko-KR" altLang="en-US" sz="135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단정할 수 있는가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여러 형의 실제 집행은 별도의 법률과 집행절차에 따르므로</a:t>
            </a:r>
            <a:r>
              <a:rPr lang="en-US" altLang="ko-KR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5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두 번째 무기형의 효과가 없다고 미리 단정해 사형 선택의 근거로 삼기는 어렵다</a:t>
            </a:r>
            <a:r>
              <a:rPr lang="ko-KR" altLang="en-US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고 보았다</a:t>
            </a:r>
            <a:r>
              <a:rPr lang="en-US" altLang="ko-KR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16" name="DOT"/>
          <p:cNvSpPr/>
          <p:nvPr/>
        </p:nvSpPr>
        <p:spPr>
          <a:xfrm>
            <a:off x="731520" y="3943260"/>
            <a:ext cx="52920" cy="5292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17" name="T"/>
          <p:cNvSpPr/>
          <p:nvPr/>
        </p:nvSpPr>
        <p:spPr>
          <a:xfrm>
            <a:off x="914400" y="3733920"/>
            <a:ext cx="4753080" cy="70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zh-CN" sz="13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미집행 사형의 기능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사형은 집행되지 않아도 사실상 절대적 종신형으로 기능한다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18" name="DOT"/>
          <p:cNvSpPr/>
          <p:nvPr/>
        </p:nvSpPr>
        <p:spPr>
          <a:xfrm>
            <a:off x="6519600" y="3857400"/>
            <a:ext cx="52920" cy="5292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19" name="T"/>
          <p:cNvSpPr/>
          <p:nvPr/>
        </p:nvSpPr>
        <p:spPr>
          <a:xfrm>
            <a:off x="6702480" y="3762360"/>
            <a:ext cx="4753080" cy="70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zh-CN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법정 형벌과의 구별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절대적 종신형은 법령상 형의 종류가 아니다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미집행 사형의 기능을 사형 선고의 근거로 삼기는 어렵다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20" name="DOT"/>
          <p:cNvSpPr/>
          <p:nvPr/>
        </p:nvSpPr>
        <p:spPr>
          <a:xfrm>
            <a:off x="731520" y="4733760"/>
            <a:ext cx="52920" cy="5292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21" name="T"/>
          <p:cNvSpPr/>
          <p:nvPr/>
        </p:nvSpPr>
        <p:spPr>
          <a:xfrm>
            <a:off x="914400" y="4486320"/>
            <a:ext cx="4753080" cy="70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zh-CN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범행의 중대성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잔혹한 범행이므로 매우 무거운 책임을 물어야 한다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22" name="DOT"/>
          <p:cNvSpPr/>
          <p:nvPr/>
        </p:nvSpPr>
        <p:spPr>
          <a:xfrm>
            <a:off x="6519600" y="4654440"/>
            <a:ext cx="52920" cy="5292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23" name="T"/>
          <p:cNvSpPr/>
          <p:nvPr/>
        </p:nvSpPr>
        <p:spPr>
          <a:xfrm>
            <a:off x="6702480" y="4559400"/>
            <a:ext cx="4753080" cy="70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zh-CN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양형 심리의 충실성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양형의 조건이 되는 사정들을 빠짐없이 비교 확인하고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유사사건과의 형평 및 사형의 엄격한 요건을 심리해야 한다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24" name="T"/>
          <p:cNvSpPr/>
          <p:nvPr/>
        </p:nvSpPr>
        <p:spPr>
          <a:xfrm>
            <a:off x="914400" y="5153040"/>
            <a:ext cx="10513800" cy="22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추가 무기형의 구체적인 집행</a:t>
            </a:r>
            <a:r>
              <a:rPr lang="en-US" sz="10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0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처벌 효과까지 확정한 판단은 아니다</a:t>
            </a:r>
            <a:r>
              <a:rPr lang="en-US" sz="10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25" name="L"/>
          <p:cNvSpPr/>
          <p:nvPr/>
        </p:nvSpPr>
        <p:spPr>
          <a:xfrm>
            <a:off x="731520" y="546732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26" name="H"/>
          <p:cNvSpPr/>
          <p:nvPr/>
        </p:nvSpPr>
        <p:spPr>
          <a:xfrm>
            <a:off x="731520" y="5543640"/>
            <a:ext cx="106966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환송 뒤의 결말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27" name="T"/>
          <p:cNvSpPr/>
          <p:nvPr/>
        </p:nvSpPr>
        <p:spPr>
          <a:xfrm>
            <a:off x="731520" y="5838840"/>
            <a:ext cx="106966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환송 후 대전고법은 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2024. 4. 16.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무기징역을 선고했고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검찰이 재상고하지 않아 확정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되었다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28" name="L"/>
          <p:cNvSpPr/>
          <p:nvPr/>
        </p:nvSpPr>
        <p:spPr>
          <a:xfrm>
            <a:off x="731520" y="618156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29" name="GBAND"/>
          <p:cNvSpPr/>
          <p:nvPr/>
        </p:nvSpPr>
        <p:spPr>
          <a:xfrm>
            <a:off x="731520" y="6350790"/>
            <a:ext cx="106966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새 범죄에 대한 추가 처벌이 필요하다는 사실만으로 사형 선택이 정당화되는 것은 아니다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KICKER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정책대안 </a:t>
            </a:r>
            <a:r>
              <a:rPr lang="en-US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32" name="TITLE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가석방 없는 무기형 — 국내의 도입 논의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33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사형과 종신형의 비용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34" name="TH"/>
          <p:cNvSpPr/>
          <p:nvPr/>
        </p:nvSpPr>
        <p:spPr>
          <a:xfrm>
            <a:off x="928370" y="2381400"/>
            <a:ext cx="23299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50" b="1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자료 </a:t>
            </a:r>
            <a:r>
              <a:rPr lang="en-US" sz="1150" b="1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150" b="1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시점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35" name="TH"/>
          <p:cNvSpPr/>
          <p:nvPr/>
        </p:nvSpPr>
        <p:spPr>
          <a:xfrm>
            <a:off x="3246120" y="2381400"/>
            <a:ext cx="31528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5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논의의 맥락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36" name="TH"/>
          <p:cNvSpPr/>
          <p:nvPr/>
        </p:nvSpPr>
        <p:spPr>
          <a:xfrm>
            <a:off x="6675120" y="2381400"/>
            <a:ext cx="47530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5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핵심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37" name="L"/>
          <p:cNvSpPr/>
          <p:nvPr/>
        </p:nvSpPr>
        <p:spPr>
          <a:xfrm>
            <a:off x="731520" y="27050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38" name="C1"/>
          <p:cNvSpPr/>
          <p:nvPr/>
        </p:nvSpPr>
        <p:spPr>
          <a:xfrm>
            <a:off x="910080" y="2793940"/>
            <a:ext cx="2329920" cy="68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법무부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2023. 8.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39" name="C2"/>
          <p:cNvSpPr/>
          <p:nvPr/>
        </p:nvSpPr>
        <p:spPr>
          <a:xfrm>
            <a:off x="3246120" y="2819520"/>
            <a:ext cx="3152880" cy="68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사형을 유지한 채 가석방 없는 무기형을 추가하는 정부안을 입법예고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0" name="C3"/>
          <p:cNvSpPr/>
          <p:nvPr/>
        </p:nvSpPr>
        <p:spPr>
          <a:xfrm>
            <a:off x="6675120" y="2819520"/>
            <a:ext cx="4753080" cy="68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사형을 유지하면서 별도의 가석방 없는 무기형을 추가하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는 구조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1" name="L"/>
          <p:cNvSpPr/>
          <p:nvPr/>
        </p:nvSpPr>
        <p:spPr>
          <a:xfrm>
            <a:off x="731520" y="35240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2" name="C1"/>
          <p:cNvSpPr/>
          <p:nvPr/>
        </p:nvSpPr>
        <p:spPr>
          <a:xfrm>
            <a:off x="910080" y="3612940"/>
            <a:ext cx="2329920" cy="68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대한변호사협회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2023. 9. 12.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3" name="C2"/>
          <p:cNvSpPr/>
          <p:nvPr/>
        </p:nvSpPr>
        <p:spPr>
          <a:xfrm>
            <a:off x="3246120" y="3638520"/>
            <a:ext cx="3152880" cy="68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법무부의 가석방 없는 무기형 신설 개정안에 검토의견 제출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4" name="C3"/>
          <p:cNvSpPr/>
          <p:nvPr/>
        </p:nvSpPr>
        <p:spPr>
          <a:xfrm>
            <a:off x="6675120" y="3638520"/>
            <a:ext cx="4753080" cy="68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사형 외에 가석방 없는 무기형도 선택할 수 있어야 한다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는 취지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의견서 전달 보도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5" name="L"/>
          <p:cNvSpPr/>
          <p:nvPr/>
        </p:nvSpPr>
        <p:spPr>
          <a:xfrm>
            <a:off x="731520" y="43052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6" name="C1"/>
          <p:cNvSpPr/>
          <p:nvPr/>
        </p:nvSpPr>
        <p:spPr>
          <a:xfrm>
            <a:off x="910080" y="4394140"/>
            <a:ext cx="2329920" cy="7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법원행정처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2023. 8. 25.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7" name="C2"/>
          <p:cNvSpPr/>
          <p:nvPr/>
        </p:nvSpPr>
        <p:spPr>
          <a:xfrm>
            <a:off x="3246120" y="4654670"/>
            <a:ext cx="3152880" cy="3722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국회 법제사법위원회의 의견조회에 회신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8" name="C3"/>
          <p:cNvSpPr/>
          <p:nvPr/>
        </p:nvSpPr>
        <p:spPr>
          <a:xfrm>
            <a:off x="6675120" y="4419720"/>
            <a:ext cx="4753080" cy="7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사형 대체인지 추가 형벌인지 먼저 검토할 필요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0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ㅡ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사형을 유지한 채 가석방 없는 무기형을 별도 형벌로 추가하면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입법 방식에 따라 </a:t>
            </a:r>
            <a:r>
              <a:rPr lang="ko-KR" altLang="en-US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기존에 사형이 법정형이 아니었던 범죄에도 적용범위가 넓어질 수 있다는 우려</a:t>
            </a:r>
            <a:r>
              <a:rPr lang="en-US" altLang="ko-KR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9" name="L"/>
          <p:cNvSpPr/>
          <p:nvPr/>
        </p:nvSpPr>
        <p:spPr>
          <a:xfrm>
            <a:off x="731520" y="52196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50" name="C1"/>
          <p:cNvSpPr/>
          <p:nvPr/>
        </p:nvSpPr>
        <p:spPr>
          <a:xfrm>
            <a:off x="928370" y="5334840"/>
            <a:ext cx="2329920" cy="11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국회입법조사처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2023. 10.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51" name="C2"/>
          <p:cNvSpPr/>
          <p:nvPr/>
        </p:nvSpPr>
        <p:spPr>
          <a:xfrm>
            <a:off x="3246120" y="5315040"/>
            <a:ext cx="3152880" cy="11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도입 시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새 형벌의 보완책과 별도 대안을 구분한다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52" name="C3"/>
          <p:cNvSpPr/>
          <p:nvPr/>
        </p:nvSpPr>
        <p:spPr>
          <a:xfrm>
            <a:off x="6675120" y="5315040"/>
            <a:ext cx="4753080" cy="11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도입 시 보완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특별감형을 거쳐 가석방 가능한 형으로 바꿀 길을 마련한다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미 도입 시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별도 대안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최소복역기간</a:t>
            </a:r>
            <a:r>
              <a:rPr lang="en-US" alt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현 </a:t>
            </a:r>
            <a:r>
              <a:rPr lang="en-US" altLang="ko-KR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en-US" altLang="ko-KR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0</a:t>
            </a:r>
            <a:r>
              <a:rPr lang="ko-KR" altLang="en-US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년</a:t>
            </a:r>
            <a:r>
              <a:rPr lang="en-US" altLang="ko-KR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  <a:cs typeface="Pretendard"/>
              </a:rPr>
              <a:t>)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심사요건을 강화한다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53" name="L"/>
          <p:cNvSpPr/>
          <p:nvPr/>
        </p:nvSpPr>
        <p:spPr>
          <a:xfrm>
            <a:off x="731520" y="653400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54" name="BAND"/>
          <p:cNvSpPr/>
          <p:nvPr/>
        </p:nvSpPr>
        <p:spPr>
          <a:xfrm>
            <a:off x="731520" y="1417320"/>
            <a:ext cx="10696680" cy="83952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55" name="BANDT"/>
          <p:cNvSpPr/>
          <p:nvPr/>
        </p:nvSpPr>
        <p:spPr>
          <a:xfrm>
            <a:off x="1005840" y="1417320"/>
            <a:ext cx="10148040" cy="83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검토할 선택은 두 가지다</a:t>
            </a:r>
            <a:r>
              <a:rPr lang="en-US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사형을 대체할 것인가</a:t>
            </a:r>
            <a:r>
              <a:rPr lang="en-US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사형을 유지하면서 새 형벌을 추가할 것인가</a:t>
            </a:r>
            <a:r>
              <a:rPr lang="en-US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KICKER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대체형벌과 비용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57" name="TITLE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가석방 없는 무기형 — 어떤 비용이 더 늘어나는가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58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억제효과 연구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59" name="BAND"/>
          <p:cNvSpPr/>
          <p:nvPr/>
        </p:nvSpPr>
        <p:spPr>
          <a:xfrm>
            <a:off x="731520" y="1417320"/>
            <a:ext cx="10696680" cy="5468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60" name="BANDT"/>
          <p:cNvSpPr/>
          <p:nvPr/>
        </p:nvSpPr>
        <p:spPr>
          <a:xfrm>
            <a:off x="1005840" y="1417320"/>
            <a:ext cx="101480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4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사형을 대신하는 경우와 사형을 존치한 채 기존 무기형보다 더 강한 형으로 추가하는 경우의 추가비용은 다르게 계산해야 한다</a:t>
            </a:r>
            <a:r>
              <a:rPr lang="en-US" altLang="ko-KR" sz="14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400" b="1" dirty="0">
              <a:solidFill>
                <a:srgbClr val="1E276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61" name="H"/>
          <p:cNvSpPr/>
          <p:nvPr/>
        </p:nvSpPr>
        <p:spPr>
          <a:xfrm>
            <a:off x="731520" y="2400480"/>
            <a:ext cx="533844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① </a:t>
            </a:r>
            <a:r>
              <a:rPr lang="en-US" sz="1400" b="1" u="none" strike="noStrike" dirty="0" err="1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사형을</a:t>
            </a:r>
            <a:r>
              <a:rPr 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400" b="1" u="none" strike="noStrike" dirty="0" err="1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폐지하고</a:t>
            </a:r>
            <a:r>
              <a:rPr 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400" b="1" u="none" strike="noStrike" dirty="0" err="1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대체하는</a:t>
            </a:r>
            <a:r>
              <a:rPr 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400" b="1" u="none" strike="noStrike" dirty="0" err="1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경우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62" name="DOT"/>
          <p:cNvSpPr/>
          <p:nvPr/>
        </p:nvSpPr>
        <p:spPr>
          <a:xfrm>
            <a:off x="731520" y="3095460"/>
            <a:ext cx="52920" cy="5292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63" name="IT"/>
          <p:cNvSpPr/>
          <p:nvPr/>
        </p:nvSpPr>
        <p:spPr>
          <a:xfrm>
            <a:off x="914400" y="2905200"/>
            <a:ext cx="4380120" cy="82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비교</a:t>
            </a:r>
            <a:r>
              <a:rPr lang="en-US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대상자를 가석방 없는 무기형으로 처벌한다</a:t>
            </a:r>
            <a:r>
              <a:rPr lang="en-US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1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한국은 사형을 장기간 집행하지 않아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현재도 이들을 계속 수용하는 비용을 부담한다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64" name="DOT"/>
          <p:cNvSpPr/>
          <p:nvPr/>
        </p:nvSpPr>
        <p:spPr>
          <a:xfrm>
            <a:off x="731520" y="4184770"/>
            <a:ext cx="52920" cy="5292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65" name="IT"/>
          <p:cNvSpPr/>
          <p:nvPr/>
        </p:nvSpPr>
        <p:spPr>
          <a:xfrm>
            <a:off x="914400" y="3886200"/>
            <a:ext cx="4380120" cy="82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사형을 가석방 없는 무기형으로 바꾸어도 장기 수용은 이어진다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보고서는 이 때문에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수용비 증가가 크지 않을 수 있다고 보았다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66" name="DOT"/>
          <p:cNvSpPr/>
          <p:nvPr/>
        </p:nvSpPr>
        <p:spPr>
          <a:xfrm>
            <a:off x="731520" y="5045120"/>
            <a:ext cx="52920" cy="5292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67" name="IT"/>
          <p:cNvSpPr/>
          <p:nvPr/>
        </p:nvSpPr>
        <p:spPr>
          <a:xfrm>
            <a:off x="914400" y="4867200"/>
            <a:ext cx="4272120" cy="82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현재의 수용비 ≠ 새 제도의 추가비용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인당 연간 수용예산에 대상자 수를 곱하는 것만으로는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제도를 바꿔 새로 늘어나는 비용을 알 수 없다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68" name="H"/>
          <p:cNvSpPr/>
          <p:nvPr/>
        </p:nvSpPr>
        <p:spPr>
          <a:xfrm>
            <a:off x="6089760" y="2400480"/>
            <a:ext cx="533844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② </a:t>
            </a:r>
            <a:r>
              <a:rPr lang="en-US" sz="1400" b="1" u="none" strike="noStrike" dirty="0" err="1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사형을</a:t>
            </a:r>
            <a:r>
              <a:rPr 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400" b="1" u="none" strike="noStrike" dirty="0" err="1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유지하고</a:t>
            </a:r>
            <a:r>
              <a:rPr 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400" b="1" u="none" strike="noStrike" dirty="0" err="1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추가하는</a:t>
            </a:r>
            <a:r>
              <a:rPr 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400" b="1" u="none" strike="noStrike" dirty="0" err="1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경우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69" name="DOT"/>
          <p:cNvSpPr/>
          <p:nvPr/>
        </p:nvSpPr>
        <p:spPr>
          <a:xfrm>
            <a:off x="6089760" y="3184360"/>
            <a:ext cx="52920" cy="5292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70" name="IT"/>
          <p:cNvSpPr/>
          <p:nvPr/>
        </p:nvSpPr>
        <p:spPr>
          <a:xfrm>
            <a:off x="6272640" y="2905200"/>
            <a:ext cx="5155560" cy="82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비교</a:t>
            </a:r>
            <a:r>
              <a:rPr lang="en-US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종전 무기형 대상자 일부에게 가석방 없는 무기형을 선고한다</a:t>
            </a:r>
            <a:r>
              <a:rPr lang="en-US" sz="12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1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그 사람이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원래 가석방됐을 시점 이후에도 수용하면 비용이 더 든다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71" name="DOT"/>
          <p:cNvSpPr/>
          <p:nvPr/>
        </p:nvSpPr>
        <p:spPr>
          <a:xfrm>
            <a:off x="6089760" y="4165720"/>
            <a:ext cx="52920" cy="5292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72" name="IT"/>
          <p:cNvSpPr/>
          <p:nvPr/>
        </p:nvSpPr>
        <p:spPr>
          <a:xfrm>
            <a:off x="6272640" y="3886200"/>
            <a:ext cx="5155560" cy="82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보고서는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무기수 가석방 인원이 적다는 점을 들어 추가비용이 크지 않을 수 있다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고 보았다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다만 장기간 누적될 수용인원과 비용을 계산한 전망은 아니다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73" name="DOT"/>
          <p:cNvSpPr/>
          <p:nvPr/>
        </p:nvSpPr>
        <p:spPr>
          <a:xfrm>
            <a:off x="6089760" y="5146720"/>
            <a:ext cx="52920" cy="5292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74" name="IT"/>
          <p:cNvSpPr/>
          <p:nvPr/>
        </p:nvSpPr>
        <p:spPr>
          <a:xfrm>
            <a:off x="6272640" y="4867200"/>
            <a:ext cx="5155560" cy="82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추가비용을 알려면 적용 인원과 늘어나는 복역기간을 정해야 한다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고령화에 따른 의료비와 시설 부담도 함께 살펴야 한다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75" name="L"/>
          <p:cNvSpPr/>
          <p:nvPr/>
        </p:nvSpPr>
        <p:spPr>
          <a:xfrm>
            <a:off x="731520" y="60350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76" name="GBAND"/>
          <p:cNvSpPr/>
          <p:nvPr/>
        </p:nvSpPr>
        <p:spPr>
          <a:xfrm>
            <a:off x="731520" y="6162840"/>
            <a:ext cx="1069668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5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가석방 없는 무기형의 비용은 ‘평생 수용비’ 자체보다</a:t>
            </a:r>
            <a:r>
              <a:rPr lang="en-US" altLang="ko-KR" sz="125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5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제도 변경으로 추가되는 수용인원과 복역기간을 봐야 한다</a:t>
            </a:r>
            <a:r>
              <a:rPr lang="en-US" altLang="ko-KR" sz="125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77" name="NOTE"/>
          <p:cNvSpPr/>
          <p:nvPr/>
        </p:nvSpPr>
        <p:spPr>
          <a:xfrm>
            <a:off x="731520" y="6486480"/>
            <a:ext cx="1069668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국회입법조사처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NARS 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현안분석 제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301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호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(2023), pp.13–14 · 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장기비용 검토사항은 강의상 설명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78" name="HL"/>
          <p:cNvSpPr/>
          <p:nvPr/>
        </p:nvSpPr>
        <p:spPr>
          <a:xfrm>
            <a:off x="731520" y="2212560"/>
            <a:ext cx="1069848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Text 0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억제 효과 연구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80" name="Text 1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사형제의 억제 효과 연구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81" name="Shape 2"/>
          <p:cNvSpPr/>
          <p:nvPr/>
        </p:nvSpPr>
        <p:spPr>
          <a:xfrm>
            <a:off x="731520" y="1417320"/>
            <a:ext cx="10696680" cy="83952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82" name="Text 3"/>
          <p:cNvSpPr/>
          <p:nvPr/>
        </p:nvSpPr>
        <p:spPr>
          <a:xfrm>
            <a:off x="1005840" y="1417320"/>
            <a:ext cx="10148040" cy="83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비교할 것은 사형이 다른 장기형보다 살인을 더 줄이는지다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 아래는 미국 자료를 중심으로 한 연구와 연구평가이며, </a:t>
            </a:r>
            <a:r>
              <a:rPr lang="zh-CN" sz="13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한국에 적용할 때 제도 차이를 살펴야 한다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83" name="Shape 4"/>
          <p:cNvSpPr/>
          <p:nvPr/>
        </p:nvSpPr>
        <p:spPr>
          <a:xfrm>
            <a:off x="731520" y="2240280"/>
            <a:ext cx="1069848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84" name="Text 5"/>
          <p:cNvSpPr/>
          <p:nvPr/>
        </p:nvSpPr>
        <p:spPr>
          <a:xfrm>
            <a:off x="731520" y="2318040"/>
            <a:ext cx="11869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1959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85" name="Text 6"/>
          <p:cNvSpPr/>
          <p:nvPr/>
        </p:nvSpPr>
        <p:spPr>
          <a:xfrm>
            <a:off x="2103120" y="2318040"/>
            <a:ext cx="93250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셀린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(Sellin),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『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The Death Penalty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』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86" name="Text 7"/>
          <p:cNvSpPr/>
          <p:nvPr/>
        </p:nvSpPr>
        <p:spPr>
          <a:xfrm>
            <a:off x="2103120" y="2683800"/>
            <a:ext cx="9325080" cy="40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유사한 </a:t>
            </a:r>
            <a:r>
              <a:rPr lang="ko-KR" alt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조건을 가진 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존치 주와 폐지 주를 비교했지만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사형 유무에 따른 살인율의 일관된 차이는 확인하지 못했다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15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 </a:t>
            </a:r>
            <a:r>
              <a:rPr lang="en-US" sz="115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한계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법에 사형이 있어도 집행 빈도는 다르며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경제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치안 등 다른 조건을 모두 같게 맞출 수는 없다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87" name="Shape 8"/>
          <p:cNvSpPr/>
          <p:nvPr/>
        </p:nvSpPr>
        <p:spPr>
          <a:xfrm>
            <a:off x="731520" y="323676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88" name="Text 9"/>
          <p:cNvSpPr/>
          <p:nvPr/>
        </p:nvSpPr>
        <p:spPr>
          <a:xfrm>
            <a:off x="731520" y="3273480"/>
            <a:ext cx="11869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1975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89" name="Text 10"/>
          <p:cNvSpPr/>
          <p:nvPr/>
        </p:nvSpPr>
        <p:spPr>
          <a:xfrm>
            <a:off x="2103120" y="3273480"/>
            <a:ext cx="93250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에를리히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(Ehrlich),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『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American Economic Review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』 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65(3)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90" name="Text 11"/>
          <p:cNvSpPr/>
          <p:nvPr/>
        </p:nvSpPr>
        <p:spPr>
          <a:xfrm>
            <a:off x="2103120" y="3639240"/>
            <a:ext cx="9325080" cy="40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미국의 장기자료에서 </a:t>
            </a:r>
            <a:r>
              <a:rPr lang="ko-KR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사형 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집행 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건 증가가 평균 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7~8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건의 살인 감소와 관련될 수 있다는 잠정적 추정을 제시했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 </a:t>
            </a:r>
            <a:r>
              <a:rPr lang="en-US" sz="115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실제로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15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살인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7~8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건을 막았다고 직접 관찰한 수치는 아니다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91" name="Shape 12"/>
          <p:cNvSpPr/>
          <p:nvPr/>
        </p:nvSpPr>
        <p:spPr>
          <a:xfrm>
            <a:off x="731520" y="419688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92" name="Text 13"/>
          <p:cNvSpPr/>
          <p:nvPr/>
        </p:nvSpPr>
        <p:spPr>
          <a:xfrm>
            <a:off x="731520" y="4279320"/>
            <a:ext cx="11869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1977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93" name="Text 14"/>
          <p:cNvSpPr/>
          <p:nvPr/>
        </p:nvSpPr>
        <p:spPr>
          <a:xfrm>
            <a:off x="2103120" y="4279320"/>
            <a:ext cx="93250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에를리히 연구의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재검증 — 패셀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테일러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(Passell &amp; Taylor, 1977)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94" name="Text 15"/>
          <p:cNvSpPr/>
          <p:nvPr/>
        </p:nvSpPr>
        <p:spPr>
          <a:xfrm>
            <a:off x="2103120" y="4645080"/>
            <a:ext cx="9325080" cy="40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에를리히의 분석을 다시 계산했더니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기간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변수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계산 방식을 바꿀 때 결과가 크게 달라졌다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15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 </a:t>
            </a:r>
            <a:r>
              <a:rPr lang="en-US" sz="115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최초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15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추정</a:t>
            </a:r>
            <a:r>
              <a:rPr lang="ko-KR" alt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의 신뢰성에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15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문제를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15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제기했다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95" name="Shape 16"/>
          <p:cNvSpPr/>
          <p:nvPr/>
        </p:nvSpPr>
        <p:spPr>
          <a:xfrm>
            <a:off x="731520" y="515700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96" name="Text 17"/>
          <p:cNvSpPr/>
          <p:nvPr/>
        </p:nvSpPr>
        <p:spPr>
          <a:xfrm>
            <a:off x="731520" y="5276160"/>
            <a:ext cx="11869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2012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97" name="Text 18"/>
          <p:cNvSpPr/>
          <p:nvPr/>
        </p:nvSpPr>
        <p:spPr>
          <a:xfrm>
            <a:off x="2103120" y="5276160"/>
            <a:ext cx="93250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미국 국가연구위원회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(NRC),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『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Deterrence and the Death Penalty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』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98" name="Text 19"/>
          <p:cNvSpPr/>
          <p:nvPr/>
        </p:nvSpPr>
        <p:spPr>
          <a:xfrm>
            <a:off x="2103120" y="5641920"/>
            <a:ext cx="9325080" cy="40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기존 연구를 종합 평가했지만</a:t>
            </a:r>
            <a:r>
              <a:rPr lang="en-US" sz="11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150" b="1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사형이 살인율을 낮추는지</a:t>
            </a:r>
            <a:r>
              <a:rPr lang="en-US" sz="1150" b="1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150" b="1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높이는지</a:t>
            </a:r>
            <a:r>
              <a:rPr lang="en-US" sz="1150" b="1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150" b="1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영향이 없는지 신뢰성 있게 판별하기 어렵다고 보았다</a:t>
            </a:r>
            <a:r>
              <a:rPr lang="en-US" sz="1150" b="1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15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99" name="Shape 20"/>
          <p:cNvSpPr/>
          <p:nvPr/>
        </p:nvSpPr>
        <p:spPr>
          <a:xfrm>
            <a:off x="731520" y="611712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900" name="Text 21"/>
          <p:cNvSpPr/>
          <p:nvPr/>
        </p:nvSpPr>
        <p:spPr>
          <a:xfrm>
            <a:off x="731520" y="6236280"/>
            <a:ext cx="10696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이 평가는 기존 연구로 효과의 방향을 판단하기 어렵다는 뜻이다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사형의 효과가 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0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이라고 입증한 것은 아니다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901" name="T"/>
          <p:cNvSpPr/>
          <p:nvPr/>
        </p:nvSpPr>
        <p:spPr>
          <a:xfrm>
            <a:off x="731520" y="6419160"/>
            <a:ext cx="10696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Sellin(1959) · Ehrlich(1975) AER 65(3), 397–417 · Passell &amp; Taylor(1977) AER 67(3), 445–451 · National Research Council(2012)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902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2020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이후 후속 연구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Text 0"/>
          <p:cNvSpPr/>
          <p:nvPr/>
        </p:nvSpPr>
        <p:spPr>
          <a:xfrm>
            <a:off x="731520" y="365760"/>
            <a:ext cx="6674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억제 효과 연구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Text 1"/>
          <p:cNvSpPr/>
          <p:nvPr/>
        </p:nvSpPr>
        <p:spPr>
          <a:xfrm>
            <a:off x="73152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2020</a:t>
            </a:r>
            <a:r>
              <a:rPr lang="zh-CN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년 이후 — 억제효과 연구의 결론은 달라졌는가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Shape 2"/>
          <p:cNvSpPr/>
          <p:nvPr/>
        </p:nvSpPr>
        <p:spPr>
          <a:xfrm>
            <a:off x="731520" y="1417320"/>
            <a:ext cx="10698120" cy="54828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 3"/>
          <p:cNvSpPr/>
          <p:nvPr/>
        </p:nvSpPr>
        <p:spPr>
          <a:xfrm>
            <a:off x="1005840" y="1417320"/>
            <a:ext cx="10149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법률 폐지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집행 중단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형벌 간 비교는 각각 무엇이 달라졌을 때 살인율이 변했는지를 살핀다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Shape 4"/>
          <p:cNvSpPr/>
          <p:nvPr/>
        </p:nvSpPr>
        <p:spPr>
          <a:xfrm>
            <a:off x="731520" y="2240280"/>
            <a:ext cx="1069848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Text 5"/>
          <p:cNvSpPr/>
          <p:nvPr/>
        </p:nvSpPr>
        <p:spPr>
          <a:xfrm>
            <a:off x="731520" y="247968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5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2021</a:t>
            </a:r>
            <a:endParaRPr lang="en-US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 6"/>
          <p:cNvSpPr/>
          <p:nvPr/>
        </p:nvSpPr>
        <p:spPr>
          <a:xfrm>
            <a:off x="2103120" y="2479680"/>
            <a:ext cx="93265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Parker —(</a:t>
            </a:r>
            <a:r>
              <a:rPr lang="zh-CN" altLang="ko-KR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미국</a:t>
            </a:r>
            <a:r>
              <a:rPr lang="en-US" alt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)</a:t>
            </a:r>
            <a:r>
              <a:rPr lang="ko-KR" alt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폐지 전 살인율 흐름이 비슷</a:t>
            </a:r>
            <a:r>
              <a:rPr lang="ko-KR" alt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했던</a:t>
            </a: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ko-KR" alt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지역</a:t>
            </a:r>
            <a:r>
              <a:rPr lang="en-US" alt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ko-KR" alt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중</a:t>
            </a:r>
            <a:r>
              <a:rPr lang="zh-CN" altLang="ko-KR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 사형제 폐지</a:t>
            </a:r>
            <a:r>
              <a:rPr lang="ko-KR" alt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한 지역과 존치한 지역을</a:t>
            </a: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 비교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Text 7"/>
          <p:cNvSpPr/>
          <p:nvPr/>
        </p:nvSpPr>
        <p:spPr>
          <a:xfrm>
            <a:off x="2103120" y="2845440"/>
            <a:ext cx="9326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사형 법률</a:t>
            </a:r>
            <a:r>
              <a:rPr lang="ko-KR" altLang="en-US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의 존재가</a:t>
            </a:r>
            <a:r>
              <a:rPr lang="zh-CN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 살인을 억제했다는 증거를 확인하지 못했다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.</a:t>
            </a:r>
            <a:endParaRPr lang="en-US" sz="113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— 이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연구의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비교는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사형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법률을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없앤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변화에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초점을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둔다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1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Shape 8"/>
          <p:cNvSpPr/>
          <p:nvPr/>
        </p:nvSpPr>
        <p:spPr>
          <a:xfrm>
            <a:off x="731520" y="347472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Text 9"/>
          <p:cNvSpPr/>
          <p:nvPr/>
        </p:nvSpPr>
        <p:spPr>
          <a:xfrm>
            <a:off x="731520" y="371700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2022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Text 10"/>
          <p:cNvSpPr/>
          <p:nvPr/>
        </p:nvSpPr>
        <p:spPr>
          <a:xfrm>
            <a:off x="2103120" y="3717000"/>
            <a:ext cx="93265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Oliphant — (</a:t>
            </a:r>
            <a:r>
              <a:rPr lang="ko-KR" alt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미국</a:t>
            </a:r>
            <a:r>
              <a:rPr lang="en-US" altLang="ko-KR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)</a:t>
            </a:r>
            <a:r>
              <a:rPr lang="ko-KR" alt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 사형 집행이 중단 된 </a:t>
            </a:r>
            <a:r>
              <a:rPr lang="en-US" altLang="ko-KR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4</a:t>
            </a:r>
            <a:r>
              <a:rPr lang="ko-KR" alt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개 주에서 집행이 중단 된 후 살인율이 어떻게 달라졌는지를 중단 전 추세가 비슷했던 </a:t>
            </a:r>
            <a:r>
              <a:rPr lang="ko-KR" altLang="en-US" sz="1300" b="1" dirty="0">
                <a:solidFill>
                  <a:srgbClr val="222633"/>
                </a:solidFill>
                <a:latin typeface="Pretendard"/>
                <a:ea typeface="Pretendard"/>
              </a:rPr>
              <a:t>주들과 비교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Text 11"/>
          <p:cNvSpPr/>
          <p:nvPr/>
        </p:nvSpPr>
        <p:spPr>
          <a:xfrm>
            <a:off x="2103120" y="4082760"/>
            <a:ext cx="9326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집행 중단 후 살인율 증가를 확인하지 못했</a:t>
            </a:r>
            <a:r>
              <a:rPr lang="ko-KR" alt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으며</a:t>
            </a:r>
            <a:r>
              <a:rPr lang="en-US" altLang="ko-KR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,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ko-KR" altLang="en-US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오히려 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4</a:t>
            </a:r>
            <a:r>
              <a:rPr lang="zh-CN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개 주 모두 </a:t>
            </a:r>
            <a:r>
              <a:rPr lang="ko-KR" altLang="en-US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살인율이 </a:t>
            </a:r>
            <a:r>
              <a:rPr lang="zh-CN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감소</a:t>
            </a:r>
            <a:r>
              <a:rPr lang="ko-KR" altLang="en-US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하는</a:t>
            </a:r>
            <a:r>
              <a:rPr lang="zh-CN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 방향</a:t>
            </a:r>
            <a:r>
              <a:rPr lang="ko-KR" altLang="en-US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으로 확인됨</a:t>
            </a:r>
            <a:r>
              <a:rPr lang="en-US" altLang="ko-KR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. </a:t>
            </a:r>
            <a:r>
              <a:rPr lang="ko-KR" altLang="en-US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다만</a:t>
            </a:r>
            <a:r>
              <a:rPr lang="en-US" altLang="ko-KR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, </a:t>
            </a:r>
            <a:r>
              <a:rPr lang="ko-KR" altLang="en-US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이는</a:t>
            </a:r>
            <a:r>
              <a:rPr lang="zh-CN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 통계적으로 유의하지 않았다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.</a:t>
            </a:r>
            <a:endParaRPr lang="en-US" sz="113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—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감소가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확실히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입증됐다는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뜻도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아니다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1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Shape 12"/>
          <p:cNvSpPr/>
          <p:nvPr/>
        </p:nvSpPr>
        <p:spPr>
          <a:xfrm>
            <a:off x="731520" y="470916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Text 13"/>
          <p:cNvSpPr/>
          <p:nvPr/>
        </p:nvSpPr>
        <p:spPr>
          <a:xfrm>
            <a:off x="731520" y="493920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2026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Text 14"/>
          <p:cNvSpPr/>
          <p:nvPr/>
        </p:nvSpPr>
        <p:spPr>
          <a:xfrm>
            <a:off x="2103120" y="4939200"/>
            <a:ext cx="93265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Farrell &amp; O’Sullivan — (</a:t>
            </a:r>
            <a:r>
              <a:rPr lang="ko-KR" alt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호주</a:t>
            </a:r>
            <a:r>
              <a:rPr lang="en-US" altLang="ko-KR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) </a:t>
            </a: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주별 자료</a:t>
            </a:r>
            <a:r>
              <a:rPr 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(1910~2022</a:t>
            </a: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년</a:t>
            </a:r>
            <a:r>
              <a:rPr 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)</a:t>
            </a: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로 사형과 살인율의 관계 분석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Text 15"/>
          <p:cNvSpPr/>
          <p:nvPr/>
        </p:nvSpPr>
        <p:spPr>
          <a:xfrm>
            <a:off x="2103120" y="5267880"/>
            <a:ext cx="932652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사형의 법적 허용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·</a:t>
            </a:r>
            <a:r>
              <a:rPr lang="zh-CN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집행이 살인 감소와 관련된다는 결과를 보고했다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. </a:t>
            </a:r>
            <a:r>
              <a:rPr lang="zh-CN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감소폭은 분석 모형에 따라 달랐다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1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다만 최소 가석방 불가기간을 둔 </a:t>
            </a:r>
            <a:r>
              <a:rPr lang="zh-CN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의무적 종신형과 비교하면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, </a:t>
            </a:r>
            <a:r>
              <a:rPr lang="zh-CN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사형의 억제효과가 더 크다는 차이는 확인하지 못했다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.</a:t>
            </a:r>
            <a:endParaRPr lang="en-US" sz="113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933" name="Shape 20"/>
          <p:cNvSpPr/>
          <p:nvPr/>
        </p:nvSpPr>
        <p:spPr>
          <a:xfrm>
            <a:off x="731520" y="594360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 21"/>
          <p:cNvSpPr/>
          <p:nvPr/>
        </p:nvSpPr>
        <p:spPr>
          <a:xfrm>
            <a:off x="731520" y="5991120"/>
            <a:ext cx="1069812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미국 연구</a:t>
            </a:r>
            <a:r>
              <a:rPr lang="en-US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: </a:t>
            </a:r>
            <a:r>
              <a:rPr lang="zh-CN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폐지</a:t>
            </a:r>
            <a:r>
              <a:rPr lang="en-US" altLang="zh-CN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ko-KR" altLang="en-US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혹은 </a:t>
            </a:r>
            <a:r>
              <a:rPr lang="zh-CN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집행 중단 뒤 살인 증가를 확인하지 못함</a:t>
            </a:r>
            <a:r>
              <a:rPr lang="en-US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호주 연구</a:t>
            </a:r>
            <a:r>
              <a:rPr lang="en-US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: </a:t>
            </a:r>
            <a:r>
              <a:rPr lang="zh-CN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사형의 억제효과를 보고했지만</a:t>
            </a:r>
            <a:r>
              <a:rPr lang="en-US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비교한 장기형보다 더 크다는 차이는 확인하지 못함</a:t>
            </a:r>
            <a:r>
              <a:rPr lang="en-US" sz="12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T"/>
          <p:cNvSpPr/>
          <p:nvPr/>
        </p:nvSpPr>
        <p:spPr>
          <a:xfrm>
            <a:off x="731520" y="6486480"/>
            <a:ext cx="10698120" cy="35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Parker(2021), JELS 18(3) · Oliphant(2022), Criminology &amp; Public Policy 21(4)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Farrell &amp; O’Sullivan(2026), Southern Economic Journal 92(4) · NRC(2012)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NEXT"/>
          <p:cNvSpPr/>
          <p:nvPr/>
        </p:nvSpPr>
        <p:spPr>
          <a:xfrm>
            <a:off x="7616880" y="36576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다음 → 불확실성의 부담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Text 0"/>
          <p:cNvSpPr/>
          <p:nvPr/>
        </p:nvSpPr>
        <p:spPr>
          <a:xfrm>
            <a:off x="731520" y="365760"/>
            <a:ext cx="6674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증거와 판단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 1"/>
          <p:cNvSpPr/>
          <p:nvPr/>
        </p:nvSpPr>
        <p:spPr>
          <a:xfrm>
            <a:off x="73152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불확실성의 부담은 어디에 두는가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Shape 2"/>
          <p:cNvSpPr/>
          <p:nvPr/>
        </p:nvSpPr>
        <p:spPr>
          <a:xfrm>
            <a:off x="731520" y="1417320"/>
            <a:ext cx="10698120" cy="84096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Text 3"/>
          <p:cNvSpPr/>
          <p:nvPr/>
        </p:nvSpPr>
        <p:spPr>
          <a:xfrm>
            <a:off x="1005840" y="141732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300" dirty="0">
                <a:solidFill>
                  <a:srgbClr val="222633"/>
                </a:solidFill>
                <a:latin typeface="Pretendard"/>
                <a:ea typeface="Pretendard"/>
              </a:rPr>
              <a:t>사형의 추가효과가 확실하지 않을 때</a:t>
            </a:r>
            <a:r>
              <a:rPr lang="en-US" altLang="ko-KR" sz="1300" dirty="0">
                <a:solidFill>
                  <a:srgbClr val="222633"/>
                </a:solidFill>
                <a:latin typeface="Pretendard"/>
                <a:ea typeface="Pretendard"/>
              </a:rPr>
              <a:t>, </a:t>
            </a:r>
            <a:r>
              <a:rPr lang="ko-KR" altLang="en-US" sz="1300" dirty="0">
                <a:solidFill>
                  <a:srgbClr val="222633"/>
                </a:solidFill>
                <a:latin typeface="Pretendard"/>
                <a:ea typeface="Pretendard"/>
              </a:rPr>
              <a:t>그 불확실성을 누가 감수해야 하는가</a:t>
            </a:r>
            <a:r>
              <a:rPr lang="en-US" altLang="ko-KR" sz="1300" dirty="0">
                <a:solidFill>
                  <a:srgbClr val="222633"/>
                </a:solidFill>
                <a:latin typeface="Pretendard"/>
                <a:ea typeface="Pretendard"/>
              </a:rPr>
              <a:t>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Shape 4"/>
          <p:cNvSpPr/>
          <p:nvPr/>
        </p:nvSpPr>
        <p:spPr>
          <a:xfrm>
            <a:off x="731520" y="2286000"/>
            <a:ext cx="1069848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Text 5"/>
          <p:cNvSpPr/>
          <p:nvPr/>
        </p:nvSpPr>
        <p:spPr>
          <a:xfrm>
            <a:off x="1005840" y="2988900"/>
            <a:ext cx="3990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현행 제도를 바꾸려면 그 이유가 충분해야 한다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— </a:t>
            </a:r>
            <a:r>
              <a:rPr lang="en-US" sz="110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유지를</a:t>
            </a:r>
            <a:r>
              <a:rPr lang="en-US" sz="11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0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정당화하는</a:t>
            </a:r>
            <a:r>
              <a:rPr lang="en-US" sz="11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0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해석의</a:t>
            </a:r>
            <a:r>
              <a:rPr lang="en-US" sz="11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예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Text 6"/>
          <p:cNvSpPr/>
          <p:nvPr/>
        </p:nvSpPr>
        <p:spPr>
          <a:xfrm>
            <a:off x="5841360" y="2667600"/>
            <a:ext cx="5588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4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그러므로</a:t>
            </a:r>
            <a:r>
              <a:rPr lang="en-US" sz="14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: “</a:t>
            </a:r>
            <a:r>
              <a:rPr lang="zh-CN" sz="14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추가적 억제효과가 없다고도 확인되지 않았으니 유지한다”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Text 7"/>
          <p:cNvSpPr/>
          <p:nvPr/>
        </p:nvSpPr>
        <p:spPr>
          <a:xfrm>
            <a:off x="5841360" y="3302280"/>
            <a:ext cx="5588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판단의 이유  </a:t>
            </a:r>
            <a:r>
              <a:rPr lang="zh-CN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불확실한 경우에는 현행 상태를 유지하는 쪽을 기본으로 본다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Shape 8"/>
          <p:cNvSpPr/>
          <p:nvPr/>
        </p:nvSpPr>
        <p:spPr>
          <a:xfrm>
            <a:off x="731520" y="401616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 9"/>
          <p:cNvSpPr/>
          <p:nvPr/>
        </p:nvSpPr>
        <p:spPr>
          <a:xfrm>
            <a:off x="1005840" y="4678380"/>
            <a:ext cx="3990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되돌릴 수 없는 조치에는 더 강한 이유가 필요하다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— </a:t>
            </a:r>
            <a:r>
              <a:rPr lang="en-US" sz="110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폐지를</a:t>
            </a:r>
            <a:r>
              <a:rPr lang="en-US" sz="11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0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정당화하는</a:t>
            </a:r>
            <a:r>
              <a:rPr lang="en-US" sz="11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0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해석의</a:t>
            </a:r>
            <a:r>
              <a:rPr lang="en-US" sz="11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예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Text 10"/>
          <p:cNvSpPr/>
          <p:nvPr/>
        </p:nvSpPr>
        <p:spPr>
          <a:xfrm>
            <a:off x="5841360" y="4368960"/>
            <a:ext cx="5588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4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그러므로</a:t>
            </a:r>
            <a:r>
              <a:rPr lang="en-US" sz="14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: “</a:t>
            </a:r>
            <a:r>
              <a:rPr lang="zh-CN" sz="14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효과가 불확실하다면 사형제를 유지해서는 안 된다”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Text 11"/>
          <p:cNvSpPr/>
          <p:nvPr/>
        </p:nvSpPr>
        <p:spPr>
          <a:xfrm>
            <a:off x="5841360" y="5003280"/>
            <a:ext cx="5588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판단의 이유  </a:t>
            </a:r>
            <a:r>
              <a:rPr lang="zh-CN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회복할 수 없는 조치일수록 더 높은 수준의 정당화가 필요하다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Shape 12"/>
          <p:cNvSpPr/>
          <p:nvPr/>
        </p:nvSpPr>
        <p:spPr>
          <a:xfrm>
            <a:off x="731520" y="568872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Shape 13"/>
          <p:cNvSpPr/>
          <p:nvPr/>
        </p:nvSpPr>
        <p:spPr>
          <a:xfrm>
            <a:off x="731520" y="6035040"/>
            <a:ext cx="10698120" cy="54828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Text 14"/>
          <p:cNvSpPr/>
          <p:nvPr/>
        </p:nvSpPr>
        <p:spPr>
          <a:xfrm>
            <a:off x="1005840" y="6035040"/>
            <a:ext cx="10149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같은 연구결과를 받아들여도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어떤 전제를 두느냐에 따라 서로 다른 해석과 결론에 이를 수 있다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NEXT"/>
          <p:cNvSpPr/>
          <p:nvPr/>
        </p:nvSpPr>
        <p:spPr>
          <a:xfrm>
            <a:off x="7616880" y="36576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다음 → 집행 뒤 판결이 뒤집힌 사건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KICKER"/>
          <p:cNvSpPr/>
          <p:nvPr/>
        </p:nvSpPr>
        <p:spPr>
          <a:xfrm>
            <a:off x="731520" y="365760"/>
            <a:ext cx="8686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오판과 불가역성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TITLE"/>
          <p:cNvSpPr/>
          <p:nvPr/>
        </p:nvSpPr>
        <p:spPr>
          <a:xfrm>
            <a:off x="73152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집행 뒤 유죄판결이 파기된 사건 — </a:t>
            </a:r>
            <a:r>
              <a:rPr lang="ko-KR" altLang="en-US" sz="2750" b="1" u="none" strike="noStrike" dirty="0" err="1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마무드</a:t>
            </a:r>
            <a:r>
              <a:rPr lang="ko-KR" altLang="en-US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ko-KR" altLang="en-US" sz="2750" b="1" u="none" strike="noStrike" dirty="0" err="1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매턴</a:t>
            </a:r>
            <a:r>
              <a:rPr lang="en-US" altLang="ko-KR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en-US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Mahmood Mattan)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NEXT"/>
          <p:cNvSpPr/>
          <p:nvPr/>
        </p:nvSpPr>
        <p:spPr>
          <a:xfrm>
            <a:off x="7616880" y="36576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다음 → 사형선고 사건의 오판 추정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BAND"/>
          <p:cNvSpPr/>
          <p:nvPr/>
        </p:nvSpPr>
        <p:spPr>
          <a:xfrm>
            <a:off x="731520" y="1417320"/>
            <a:ext cx="10698120" cy="54828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BANDT"/>
          <p:cNvSpPr/>
          <p:nvPr/>
        </p:nvSpPr>
        <p:spPr>
          <a:xfrm>
            <a:off x="1005840" y="1417320"/>
            <a:ext cx="10149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사형이 집행된 뒤에도 유죄판결이 뒤집힐 수 있고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그 경우 원상회복이 불가능하다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L"/>
          <p:cNvSpPr/>
          <p:nvPr/>
        </p:nvSpPr>
        <p:spPr>
          <a:xfrm>
            <a:off x="731520" y="22402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H"/>
          <p:cNvSpPr/>
          <p:nvPr/>
        </p:nvSpPr>
        <p:spPr>
          <a:xfrm>
            <a:off x="731520" y="2514600"/>
            <a:ext cx="5339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사건의 경과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DOT"/>
          <p:cNvSpPr/>
          <p:nvPr/>
        </p:nvSpPr>
        <p:spPr>
          <a:xfrm>
            <a:off x="731520" y="3090600"/>
            <a:ext cx="54360" cy="5436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IT"/>
          <p:cNvSpPr/>
          <p:nvPr/>
        </p:nvSpPr>
        <p:spPr>
          <a:xfrm>
            <a:off x="914400" y="3017520"/>
            <a:ext cx="51570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1952. </a:t>
            </a: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살인죄 유죄판결과 사형선고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1952. 9. </a:t>
            </a: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사형 집행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DOT"/>
          <p:cNvSpPr/>
          <p:nvPr/>
        </p:nvSpPr>
        <p:spPr>
          <a:xfrm>
            <a:off x="731520" y="3895200"/>
            <a:ext cx="54360" cy="5436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IT"/>
          <p:cNvSpPr/>
          <p:nvPr/>
        </p:nvSpPr>
        <p:spPr>
          <a:xfrm>
            <a:off x="914400" y="3822120"/>
            <a:ext cx="51570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1997 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형사사건재심위원회</a:t>
            </a:r>
            <a:r>
              <a:rPr lang="en-US" alt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(CCRC)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가 사건을 항소법원에 회부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DOT"/>
          <p:cNvSpPr/>
          <p:nvPr/>
        </p:nvSpPr>
        <p:spPr>
          <a:xfrm>
            <a:off x="731520" y="4700160"/>
            <a:ext cx="54360" cy="5436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IT"/>
          <p:cNvSpPr/>
          <p:nvPr/>
        </p:nvSpPr>
        <p:spPr>
          <a:xfrm>
            <a:off x="914400" y="4626720"/>
            <a:ext cx="51570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1998. 2.  </a:t>
            </a: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항소법원이 유죄판결 파기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H"/>
          <p:cNvSpPr/>
          <p:nvPr/>
        </p:nvSpPr>
        <p:spPr>
          <a:xfrm>
            <a:off x="6089760" y="2514600"/>
            <a:ext cx="5339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재판에 전달되지 않은 것들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DOT"/>
          <p:cNvSpPr/>
          <p:nvPr/>
        </p:nvSpPr>
        <p:spPr>
          <a:xfrm>
            <a:off x="6089760" y="3090600"/>
            <a:ext cx="54360" cy="5436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IT"/>
          <p:cNvSpPr/>
          <p:nvPr/>
        </p:nvSpPr>
        <p:spPr>
          <a:xfrm>
            <a:off x="6272640" y="3017520"/>
            <a:ext cx="5157000" cy="50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</a:rPr>
              <a:t>초기 경찰 진술에서 핵심 증인은 가게에서 나온 남성을 ‘금니가 있고 모자를 쓰지 않은 </a:t>
            </a:r>
            <a:r>
              <a:rPr lang="ko-KR" altLang="en-US" sz="1200" dirty="0" err="1">
                <a:solidFill>
                  <a:srgbClr val="222633"/>
                </a:solidFill>
                <a:latin typeface="Pretendard"/>
                <a:ea typeface="Pretendard"/>
              </a:rPr>
              <a:t>남성’으로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</a:rPr>
              <a:t> 묘사했고 </a:t>
            </a:r>
            <a:r>
              <a:rPr lang="ko-KR" altLang="en-US" sz="1200" dirty="0" err="1">
                <a:solidFill>
                  <a:srgbClr val="222633"/>
                </a:solidFill>
                <a:latin typeface="Pretendard"/>
                <a:ea typeface="Pretendard"/>
              </a:rPr>
              <a:t>매턴을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</a:rPr>
              <a:t> 지목하지 않았다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</a:rPr>
              <a:t>.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DOT"/>
          <p:cNvSpPr/>
          <p:nvPr/>
        </p:nvSpPr>
        <p:spPr>
          <a:xfrm>
            <a:off x="6089760" y="3895200"/>
            <a:ext cx="54360" cy="5436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IT"/>
          <p:cNvSpPr/>
          <p:nvPr/>
        </p:nvSpPr>
        <p:spPr>
          <a:xfrm>
            <a:off x="6272640" y="3822120"/>
            <a:ext cx="5157000" cy="50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</a:rPr>
              <a:t>이후에는 </a:t>
            </a:r>
            <a:r>
              <a:rPr lang="ko-KR" altLang="en-US" sz="1200" dirty="0" err="1">
                <a:solidFill>
                  <a:srgbClr val="222633"/>
                </a:solidFill>
                <a:latin typeface="Pretendard"/>
                <a:ea typeface="Pretendard"/>
              </a:rPr>
              <a:t>매턴이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</a:rPr>
              <a:t> 가게에서 나오는 것을 봤다고 증언했는데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</a:rPr>
              <a:t>, 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</a:rPr>
              <a:t>이 진술 변화와 증인이 피해자 가족이 건 현상금 일부를 받은 사실은 피고인 측에 공개되지 않았다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DOT"/>
          <p:cNvSpPr/>
          <p:nvPr/>
        </p:nvSpPr>
        <p:spPr>
          <a:xfrm>
            <a:off x="6089760" y="4700160"/>
            <a:ext cx="54360" cy="5436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IT"/>
          <p:cNvSpPr/>
          <p:nvPr/>
        </p:nvSpPr>
        <p:spPr>
          <a:xfrm>
            <a:off x="6272640" y="4626720"/>
            <a:ext cx="5157000" cy="50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다른 목격자 네 명은 수사 중 신원확인 절차에서 매턴을 </a:t>
            </a:r>
            <a:r>
              <a:rPr lang="ko-KR" alt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용의자로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지목하지 </a:t>
            </a:r>
            <a:r>
              <a:rPr lang="ko-KR" alt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않았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.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여러 사람을 세워 놓고 식별하게 한 결과가 법원에 제시되지 않았다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L"/>
          <p:cNvSpPr/>
          <p:nvPr/>
        </p:nvSpPr>
        <p:spPr>
          <a:xfrm>
            <a:off x="731520" y="60350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GBAND"/>
          <p:cNvSpPr/>
          <p:nvPr/>
        </p:nvSpPr>
        <p:spPr>
          <a:xfrm>
            <a:off x="731520" y="61995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이 사례는 사형사건에서도 오판이 가능함을 보여</a:t>
            </a:r>
            <a:r>
              <a:rPr lang="ko-KR" altLang="en-US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준다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NOTE"/>
          <p:cNvSpPr/>
          <p:nvPr/>
        </p:nvSpPr>
        <p:spPr>
          <a:xfrm>
            <a:off x="731520" y="652896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CCRC 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공식 사건요약 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웨일스 인명사전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(2024) · BBC 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후속 취재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(2022)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DOT"/>
          <p:cNvSpPr/>
          <p:nvPr/>
        </p:nvSpPr>
        <p:spPr>
          <a:xfrm>
            <a:off x="731520" y="5504760"/>
            <a:ext cx="54360" cy="5436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IT"/>
          <p:cNvSpPr/>
          <p:nvPr/>
        </p:nvSpPr>
        <p:spPr>
          <a:xfrm>
            <a:off x="914400" y="5431680"/>
            <a:ext cx="51570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집행 뒤 약 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45</a:t>
            </a: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년이 지나 유죄판결이 파기되었다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DOT"/>
          <p:cNvSpPr/>
          <p:nvPr/>
        </p:nvSpPr>
        <p:spPr>
          <a:xfrm>
            <a:off x="6089760" y="5504760"/>
            <a:ext cx="54360" cy="5436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IT"/>
          <p:cNvSpPr/>
          <p:nvPr/>
        </p:nvSpPr>
        <p:spPr>
          <a:xfrm>
            <a:off x="6272640" y="5431680"/>
            <a:ext cx="51570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진범이 밝혀져 해결된 사건은 아니다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. BBC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의 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2022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년 후속 취재에서도 살인사건은 미해결로 남았다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KICKER"/>
          <p:cNvSpPr/>
          <p:nvPr/>
        </p:nvSpPr>
        <p:spPr>
          <a:xfrm>
            <a:off x="731520" y="365760"/>
            <a:ext cx="8686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오판과 불가역성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NEXT"/>
          <p:cNvSpPr/>
          <p:nvPr/>
        </p:nvSpPr>
        <p:spPr>
          <a:xfrm>
            <a:off x="7616880" y="36576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다음 → 적용의 일관성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TITLE"/>
          <p:cNvSpPr/>
          <p:nvPr/>
        </p:nvSpPr>
        <p:spPr>
          <a:xfrm>
            <a:off x="73152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사형선고 사건의 오판 비율 추정 — </a:t>
            </a:r>
            <a:r>
              <a:rPr lang="en-US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Gross </a:t>
            </a:r>
            <a:r>
              <a:rPr lang="zh-CN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외</a:t>
            </a:r>
            <a:r>
              <a:rPr lang="en-US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(2014)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BAND"/>
          <p:cNvSpPr/>
          <p:nvPr/>
        </p:nvSpPr>
        <p:spPr>
          <a:xfrm>
            <a:off x="746940" y="1417320"/>
            <a:ext cx="10698120" cy="84096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BANDT"/>
          <p:cNvSpPr/>
          <p:nvPr/>
        </p:nvSpPr>
        <p:spPr>
          <a:xfrm>
            <a:off x="1005840" y="141732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미국 사형선고자 </a:t>
            </a:r>
            <a:r>
              <a:rPr lang="en-US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7,482</a:t>
            </a:r>
            <a:r>
              <a:rPr lang="zh-CN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명</a:t>
            </a:r>
            <a:r>
              <a:rPr lang="en-US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(1973~2004</a:t>
            </a:r>
            <a:r>
              <a:rPr lang="zh-CN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년</a:t>
            </a:r>
            <a:r>
              <a:rPr lang="en-US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)</a:t>
            </a:r>
            <a:r>
              <a:rPr lang="ko-KR" altLang="en-US" sz="1300" dirty="0">
                <a:solidFill>
                  <a:srgbClr val="222633"/>
                </a:solidFill>
                <a:latin typeface="Pretendard"/>
                <a:ea typeface="Pretendard"/>
              </a:rPr>
              <a:t>를 분석대상으로</a:t>
            </a:r>
            <a:r>
              <a:rPr lang="en-US" altLang="ko-KR" sz="1300" dirty="0">
                <a:solidFill>
                  <a:srgbClr val="222633"/>
                </a:solidFill>
                <a:latin typeface="Pretendard"/>
                <a:ea typeface="Pretendard"/>
              </a:rPr>
              <a:t>, </a:t>
            </a:r>
            <a:r>
              <a:rPr lang="ko-KR" altLang="en-US" sz="1300" dirty="0">
                <a:solidFill>
                  <a:srgbClr val="222633"/>
                </a:solidFill>
                <a:latin typeface="Pretendard"/>
                <a:ea typeface="Pretendard"/>
              </a:rPr>
              <a:t>선고 후 경과와</a:t>
            </a:r>
            <a:r>
              <a:rPr lang="zh-CN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ko-KR" altLang="en-US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누명 해소까지 걸린 시간</a:t>
            </a:r>
            <a:r>
              <a:rPr lang="zh-CN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을 </a:t>
            </a:r>
            <a:r>
              <a:rPr lang="ko-KR" altLang="en-US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이용해 오판 비율을 </a:t>
            </a:r>
            <a:r>
              <a:rPr lang="zh-CN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추정했다</a:t>
            </a:r>
            <a:r>
              <a:rPr lang="en-US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누명 해소</a:t>
            </a:r>
            <a:r>
              <a:rPr lang="en-US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(exoneration)</a:t>
            </a:r>
            <a:r>
              <a:rPr lang="zh-CN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는 기소 취소</a:t>
            </a:r>
            <a:r>
              <a:rPr lang="en-US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무죄판결</a:t>
            </a:r>
            <a:r>
              <a:rPr lang="en-US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사면 등</a:t>
            </a:r>
            <a:r>
              <a:rPr lang="ko-KR" altLang="en-US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으로</a:t>
            </a:r>
            <a:r>
              <a:rPr lang="zh-CN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 유죄책임을 벗은 경우다</a:t>
            </a:r>
            <a:r>
              <a:rPr lang="en-US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L"/>
          <p:cNvSpPr/>
          <p:nvPr/>
        </p:nvSpPr>
        <p:spPr>
          <a:xfrm>
            <a:off x="731520" y="23954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RL"/>
          <p:cNvSpPr/>
          <p:nvPr/>
        </p:nvSpPr>
        <p:spPr>
          <a:xfrm>
            <a:off x="731520" y="2578100"/>
            <a:ext cx="2102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무엇을 비교했는가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RT"/>
          <p:cNvSpPr/>
          <p:nvPr/>
        </p:nvSpPr>
        <p:spPr>
          <a:xfrm>
            <a:off x="2795820" y="2559740"/>
            <a:ext cx="86338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00" b="0" u="none" strike="noStrike" dirty="0" err="1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사형선고자들</a:t>
            </a:r>
            <a:r>
              <a:rPr lang="ko-KR" alt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 중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계속 사형선고 상태에 있는 사람과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감형 등으로 사형의 위협에서 벗어난 사람이 뒤늦게 누명을 벗는 양상을 비교했다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RL"/>
          <p:cNvSpPr/>
          <p:nvPr/>
        </p:nvSpPr>
        <p:spPr>
          <a:xfrm>
            <a:off x="731520" y="4028550"/>
            <a:ext cx="2102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관찰된 사실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RT"/>
          <p:cNvSpPr/>
          <p:nvPr/>
        </p:nvSpPr>
        <p:spPr>
          <a:xfrm>
            <a:off x="2795820" y="4046646"/>
            <a:ext cx="86338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사형의 위협이 사라지면 사건을 다시 조사해 오판을 찾아내려는 노력도 줄어들 수 있다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RL"/>
          <p:cNvSpPr/>
          <p:nvPr/>
        </p:nvSpPr>
        <p:spPr>
          <a:xfrm>
            <a:off x="731520" y="4749110"/>
            <a:ext cx="2102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추정된 결과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RT"/>
          <p:cNvSpPr/>
          <p:nvPr/>
        </p:nvSpPr>
        <p:spPr>
          <a:xfrm>
            <a:off x="2795820" y="477037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모두 사형의 위협 아래 남는다고 가정할 때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, </a:t>
            </a:r>
            <a:r>
              <a:rPr lang="zh-CN" sz="1200" b="1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선고 뒤 </a:t>
            </a:r>
            <a:r>
              <a:rPr lang="en-US" sz="1200" b="1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21.4</a:t>
            </a:r>
            <a:r>
              <a:rPr lang="zh-CN" sz="1200" b="1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년까지 누명을 벗는 비율은 </a:t>
            </a:r>
            <a:r>
              <a:rPr lang="en-US" sz="1200" b="1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4.1%</a:t>
            </a:r>
            <a:r>
              <a:rPr lang="zh-CN" sz="1200" b="1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로 추정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됐다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(95%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신뢰구간 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2.8~5.2%).</a:t>
            </a:r>
            <a:endParaRPr lang="en-US" sz="12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992" name="RL"/>
          <p:cNvSpPr/>
          <p:nvPr/>
        </p:nvSpPr>
        <p:spPr>
          <a:xfrm>
            <a:off x="731520" y="5533390"/>
            <a:ext cx="2102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읽을 때 주의할 것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RT"/>
          <p:cNvSpPr/>
          <p:nvPr/>
        </p:nvSpPr>
        <p:spPr>
          <a:xfrm>
            <a:off x="2795820" y="5515030"/>
            <a:ext cx="86338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자료에 잡히는 것은 실제로 누명을 벗은 경우다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. </a:t>
            </a: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끝내 밝혀지지 않은 오판은 포함되지 않아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연구진은 이를 오판 비율의 보수적 추정으로 해석했다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L"/>
          <p:cNvSpPr/>
          <p:nvPr/>
        </p:nvSpPr>
        <p:spPr>
          <a:xfrm>
            <a:off x="733340" y="608617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GBAND"/>
          <p:cNvSpPr/>
          <p:nvPr/>
        </p:nvSpPr>
        <p:spPr>
          <a:xfrm>
            <a:off x="731520" y="618167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4.1%</a:t>
            </a: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는 특정 가정 아래 계산한 추정치이며</a:t>
            </a:r>
            <a:r>
              <a:rPr lang="en-US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집행된 사람 중 무고한 사람의 비율을 뜻하지 않는다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NOTE"/>
          <p:cNvSpPr/>
          <p:nvPr/>
        </p:nvSpPr>
        <p:spPr>
          <a:xfrm>
            <a:off x="731520" y="6560820"/>
            <a:ext cx="10698120" cy="2237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Gross et al.(2014), PNAS 111(20), 7230–7235 · DOI: 10.1073/pnas.1306417111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L">
            <a:extLst>
              <a:ext uri="{FF2B5EF4-FFF2-40B4-BE49-F238E27FC236}">
                <a16:creationId xmlns:a16="http://schemas.microsoft.com/office/drawing/2014/main" id="{F08EB468-C4B0-3392-217E-3EB7F3D5404E}"/>
              </a:ext>
            </a:extLst>
          </p:cNvPr>
          <p:cNvSpPr/>
          <p:nvPr/>
        </p:nvSpPr>
        <p:spPr>
          <a:xfrm>
            <a:off x="731160" y="318883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L">
            <a:extLst>
              <a:ext uri="{FF2B5EF4-FFF2-40B4-BE49-F238E27FC236}">
                <a16:creationId xmlns:a16="http://schemas.microsoft.com/office/drawing/2014/main" id="{59EEBC4B-EA7C-82A0-BDBA-9C9E36BB827D}"/>
              </a:ext>
            </a:extLst>
          </p:cNvPr>
          <p:cNvSpPr/>
          <p:nvPr/>
        </p:nvSpPr>
        <p:spPr>
          <a:xfrm>
            <a:off x="724810" y="464207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L">
            <a:extLst>
              <a:ext uri="{FF2B5EF4-FFF2-40B4-BE49-F238E27FC236}">
                <a16:creationId xmlns:a16="http://schemas.microsoft.com/office/drawing/2014/main" id="{01093B60-DA2D-40DC-88A9-B51F2A3D4207}"/>
              </a:ext>
            </a:extLst>
          </p:cNvPr>
          <p:cNvSpPr/>
          <p:nvPr/>
        </p:nvSpPr>
        <p:spPr>
          <a:xfrm>
            <a:off x="693060" y="535951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L">
            <a:extLst>
              <a:ext uri="{FF2B5EF4-FFF2-40B4-BE49-F238E27FC236}">
                <a16:creationId xmlns:a16="http://schemas.microsoft.com/office/drawing/2014/main" id="{C5DA824F-9BC9-1361-EC02-999789F74E44}"/>
              </a:ext>
            </a:extLst>
          </p:cNvPr>
          <p:cNvSpPr/>
          <p:nvPr/>
        </p:nvSpPr>
        <p:spPr>
          <a:xfrm>
            <a:off x="718460" y="38903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RL">
            <a:extLst>
              <a:ext uri="{FF2B5EF4-FFF2-40B4-BE49-F238E27FC236}">
                <a16:creationId xmlns:a16="http://schemas.microsoft.com/office/drawing/2014/main" id="{1D2A7926-5352-A697-DD8C-2DE13E4709CD}"/>
              </a:ext>
            </a:extLst>
          </p:cNvPr>
          <p:cNvSpPr/>
          <p:nvPr/>
        </p:nvSpPr>
        <p:spPr>
          <a:xfrm>
            <a:off x="693060" y="3315405"/>
            <a:ext cx="2102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어떻게 추정했는가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RT">
            <a:extLst>
              <a:ext uri="{FF2B5EF4-FFF2-40B4-BE49-F238E27FC236}">
                <a16:creationId xmlns:a16="http://schemas.microsoft.com/office/drawing/2014/main" id="{A1CA7406-B815-29FB-D682-F511981B1687}"/>
              </a:ext>
            </a:extLst>
          </p:cNvPr>
          <p:cNvSpPr/>
          <p:nvPr/>
        </p:nvSpPr>
        <p:spPr>
          <a:xfrm>
            <a:off x="2795820" y="3328310"/>
            <a:ext cx="86338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</a:rPr>
              <a:t>사람마다 관찰기간이 다른 점과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</a:rPr>
              <a:t>, 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</a:rPr>
              <a:t>감형 등으로 사형위협에서 벗어나는 시점을 고려해 누적비율을 계산했다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Text 0"/>
          <p:cNvSpPr/>
          <p:nvPr/>
        </p:nvSpPr>
        <p:spPr>
          <a:xfrm>
            <a:off x="731520" y="365760"/>
            <a:ext cx="6674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적용의 일관성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Text 1"/>
          <p:cNvSpPr/>
          <p:nvPr/>
        </p:nvSpPr>
        <p:spPr>
          <a:xfrm>
            <a:off x="731520" y="750240"/>
            <a:ext cx="1097244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사형의 적용 — </a:t>
            </a:r>
            <a:r>
              <a:rPr lang="ko-KR" altLang="en-US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사형제는 공정하고 일관되게 적용될 수 있는가 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Shape 2"/>
          <p:cNvSpPr/>
          <p:nvPr/>
        </p:nvSpPr>
        <p:spPr>
          <a:xfrm>
            <a:off x="731520" y="1417320"/>
            <a:ext cx="10698120" cy="54828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Text 3"/>
          <p:cNvSpPr/>
          <p:nvPr/>
        </p:nvSpPr>
        <p:spPr>
          <a:xfrm>
            <a:off x="1005840" y="1417320"/>
            <a:ext cx="10149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미국에서는 사형을 허용하는 지역 안에서도 누가 사형 대상이 되는지 차이가 관찰됐다</a:t>
            </a:r>
            <a:r>
              <a:rPr lang="en-US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300" b="1" dirty="0">
                <a:solidFill>
                  <a:srgbClr val="222633"/>
                </a:solidFill>
                <a:latin typeface="Pretendard"/>
                <a:ea typeface="Pretendard"/>
              </a:rPr>
              <a:t>사형의 합헌성뿐 아니라</a:t>
            </a:r>
            <a:r>
              <a:rPr lang="en-US" altLang="ko-KR" sz="1300" b="1" dirty="0">
                <a:solidFill>
                  <a:srgbClr val="222633"/>
                </a:solidFill>
                <a:latin typeface="Pretendard"/>
                <a:ea typeface="Pretendard"/>
              </a:rPr>
              <a:t>, </a:t>
            </a:r>
            <a:r>
              <a:rPr lang="ko-KR" altLang="en-US" sz="1300" b="1" dirty="0">
                <a:solidFill>
                  <a:srgbClr val="222633"/>
                </a:solidFill>
                <a:latin typeface="Pretendard"/>
                <a:ea typeface="Pretendard"/>
              </a:rPr>
              <a:t>실제 선고가 범행과 책임에 따라 일관되게 이루어지는지도 제도 평가의 문제다</a:t>
            </a:r>
            <a:r>
              <a:rPr lang="en-US" altLang="ko-KR" sz="1300" b="1" dirty="0">
                <a:solidFill>
                  <a:srgbClr val="222633"/>
                </a:solidFill>
                <a:latin typeface="Pretendard"/>
                <a:ea typeface="Pretendard"/>
              </a:rPr>
              <a:t>.</a:t>
            </a:r>
            <a:endParaRPr lang="en-US" sz="13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Shape 4"/>
          <p:cNvSpPr/>
          <p:nvPr/>
        </p:nvSpPr>
        <p:spPr>
          <a:xfrm>
            <a:off x="731520" y="2240280"/>
            <a:ext cx="1069848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Text 5"/>
          <p:cNvSpPr/>
          <p:nvPr/>
        </p:nvSpPr>
        <p:spPr>
          <a:xfrm>
            <a:off x="1005840" y="266994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5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1990</a:t>
            </a:r>
            <a:endParaRPr lang="en-US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Text 6"/>
          <p:cNvSpPr/>
          <p:nvPr/>
        </p:nvSpPr>
        <p:spPr>
          <a:xfrm>
            <a:off x="2103120" y="2541960"/>
            <a:ext cx="93265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미국 회계감사원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(GAO) —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사형선고에 관한 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28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개 연구를 종합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Text 7"/>
          <p:cNvSpPr/>
          <p:nvPr/>
        </p:nvSpPr>
        <p:spPr>
          <a:xfrm>
            <a:off x="2103120" y="2907720"/>
            <a:ext cx="9326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28</a:t>
            </a:r>
            <a:r>
              <a:rPr lang="zh-CN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개 중 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82%</a:t>
            </a:r>
            <a:r>
              <a:rPr lang="zh-CN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의 연구에서 피해자가 백인인 사건의 사형 기소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·</a:t>
            </a:r>
            <a:r>
              <a:rPr lang="zh-CN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선고 가능성이 더 높다고 보고했다</a:t>
            </a:r>
            <a:endParaRPr lang="en-US" sz="113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1005" name="Shape 8"/>
          <p:cNvSpPr/>
          <p:nvPr/>
        </p:nvSpPr>
        <p:spPr>
          <a:xfrm>
            <a:off x="731520" y="347472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Text 9"/>
          <p:cNvSpPr/>
          <p:nvPr/>
        </p:nvSpPr>
        <p:spPr>
          <a:xfrm>
            <a:off x="1005840" y="510210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2020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Text 10"/>
          <p:cNvSpPr/>
          <p:nvPr/>
        </p:nvSpPr>
        <p:spPr>
          <a:xfrm>
            <a:off x="2103120" y="4937760"/>
            <a:ext cx="93265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Baumgartner 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외 — 미국 사형존치 주의 카운티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군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)</a:t>
            </a: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별 사형선고와 지역 특성을 분석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Text 11"/>
          <p:cNvSpPr/>
          <p:nvPr/>
        </p:nvSpPr>
        <p:spPr>
          <a:xfrm>
            <a:off x="2103120" y="5303520"/>
            <a:ext cx="932652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카운티의 과거 사형선고 경험은 이후 사형선고를 강하게 예측했고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ko-KR" altLang="en-US" sz="1130" dirty="0">
                <a:solidFill>
                  <a:srgbClr val="464D5C"/>
                </a:solidFill>
                <a:latin typeface="Pretendard"/>
                <a:ea typeface="Pretendard"/>
              </a:rPr>
              <a:t>연구진은 이를 </a:t>
            </a:r>
            <a:r>
              <a:rPr lang="ko-KR" altLang="en-US" sz="1130" dirty="0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</a:rPr>
              <a:t>지역별 사형 관행이 누적</a:t>
            </a:r>
            <a:r>
              <a:rPr lang="en-US" altLang="ko-KR" sz="1130" dirty="0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</a:rPr>
              <a:t>·</a:t>
            </a:r>
            <a:r>
              <a:rPr lang="ko-KR" altLang="en-US" sz="1130" dirty="0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</a:rPr>
              <a:t>강화될 가능성으로 해석했다</a:t>
            </a:r>
            <a:r>
              <a:rPr lang="en-US" altLang="ko-KR" sz="1130" dirty="0">
                <a:solidFill>
                  <a:srgbClr val="464D5C"/>
                </a:solidFill>
                <a:highlight>
                  <a:srgbClr val="FFFF00"/>
                </a:highlight>
                <a:latin typeface="Pretendard"/>
                <a:ea typeface="Pretendard"/>
              </a:rPr>
              <a:t>.</a:t>
            </a: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—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과거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경험이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원인이라고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확정한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것은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아니다</a:t>
            </a:r>
            <a:endParaRPr lang="en-US" sz="11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Shape 12"/>
          <p:cNvSpPr/>
          <p:nvPr/>
        </p:nvSpPr>
        <p:spPr>
          <a:xfrm>
            <a:off x="731520" y="470916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Text 13"/>
          <p:cNvSpPr/>
          <p:nvPr/>
        </p:nvSpPr>
        <p:spPr>
          <a:xfrm>
            <a:off x="1005840" y="3866542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2018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Text 14"/>
          <p:cNvSpPr/>
          <p:nvPr/>
        </p:nvSpPr>
        <p:spPr>
          <a:xfrm>
            <a:off x="2103120" y="3721680"/>
            <a:ext cx="93265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워싱턴주 대법원 — </a:t>
            </a:r>
            <a:r>
              <a:rPr lang="en-US" sz="13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State v. Gregory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Text 15"/>
          <p:cNvSpPr/>
          <p:nvPr/>
        </p:nvSpPr>
        <p:spPr>
          <a:xfrm>
            <a:off x="2103120" y="4078080"/>
            <a:ext cx="932652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당시 </a:t>
            </a:r>
            <a:r>
              <a:rPr lang="zh-CN" sz="1130" b="0" u="none" strike="noStrike" dirty="0">
                <a:solidFill>
                  <a:srgbClr val="464D5C"/>
                </a:solidFill>
                <a:effectLst/>
                <a:highlight>
                  <a:srgbClr val="FFFF00"/>
                </a:highlight>
                <a:uFillTx/>
                <a:latin typeface="Pretendard"/>
                <a:ea typeface="Pretendard"/>
              </a:rPr>
              <a:t>워싱턴주 사형제가 운영되는 방식이 자의적이고 인종적으로 편향됐다고 보아 주헌법상 위헌으로 판단했다</a:t>
            </a:r>
            <a:endParaRPr lang="en-US" sz="113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—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사형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그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자체를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위헌으로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본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것이</a:t>
            </a:r>
            <a:r>
              <a:rPr lang="en-US" sz="113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en-US" sz="113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아니다</a:t>
            </a:r>
            <a:endParaRPr lang="en-US" sz="11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20"/>
          <p:cNvSpPr/>
          <p:nvPr/>
        </p:nvSpPr>
        <p:spPr>
          <a:xfrm>
            <a:off x="731520" y="5943600"/>
            <a:ext cx="10698480" cy="360"/>
          </a:xfrm>
          <a:prstGeom prst="line">
            <a:avLst/>
          </a:prstGeom>
          <a:ln w="12700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Text 21"/>
          <p:cNvSpPr/>
          <p:nvPr/>
        </p:nvSpPr>
        <p:spPr>
          <a:xfrm>
            <a:off x="731520" y="613987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50" b="1" dirty="0">
                <a:solidFill>
                  <a:srgbClr val="222633"/>
                </a:solidFill>
                <a:latin typeface="Pretendard"/>
                <a:ea typeface="Pretendard"/>
              </a:rPr>
              <a:t>사형제의 평가는 법률상 허용 여부뿐 아니라</a:t>
            </a:r>
            <a:r>
              <a:rPr lang="en-US" altLang="ko-KR" sz="1250" b="1" dirty="0">
                <a:solidFill>
                  <a:srgbClr val="222633"/>
                </a:solidFill>
                <a:latin typeface="Pretendard"/>
                <a:ea typeface="Pretendard"/>
              </a:rPr>
              <a:t>, </a:t>
            </a:r>
            <a:r>
              <a:rPr lang="ko-KR" altLang="en-US" sz="1250" b="1" dirty="0">
                <a:solidFill>
                  <a:srgbClr val="222633"/>
                </a:solidFill>
                <a:latin typeface="Pretendard"/>
                <a:ea typeface="Pretendard"/>
              </a:rPr>
              <a:t>실제 사건에서 어떤 기준으로 사형이 선택되는지도 함께 봐야 한다</a:t>
            </a:r>
            <a:r>
              <a:rPr lang="en-US" altLang="ko-KR" sz="1250" b="1" dirty="0">
                <a:solidFill>
                  <a:srgbClr val="222633"/>
                </a:solidFill>
                <a:latin typeface="Pretendard"/>
                <a:ea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T"/>
          <p:cNvSpPr/>
          <p:nvPr/>
        </p:nvSpPr>
        <p:spPr>
          <a:xfrm>
            <a:off x="731520" y="64555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GAO(1990) · State v. Gregory(2018) · Baumgartner 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외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(2020, PLOS ONE) — 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미국 자료이며 한국에 그대로 적용할 수 없다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NEXT"/>
          <p:cNvSpPr/>
          <p:nvPr/>
        </p:nvSpPr>
        <p:spPr>
          <a:xfrm>
            <a:off x="7616880" y="36576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다음 → 피해자 유족 연구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KICKER"/>
          <p:cNvSpPr/>
          <p:nvPr/>
        </p:nvSpPr>
        <p:spPr>
          <a:xfrm>
            <a:off x="731520" y="365760"/>
            <a:ext cx="8686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쟁점별 자료 </a:t>
            </a:r>
            <a:r>
              <a:rPr lang="en-US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피해자 유족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NEXT"/>
          <p:cNvSpPr/>
          <p:nvPr/>
        </p:nvSpPr>
        <p:spPr>
          <a:xfrm>
            <a:off x="7616880" y="36576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다음 → 사형제 여론조사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TITLE"/>
          <p:cNvSpPr/>
          <p:nvPr/>
        </p:nvSpPr>
        <p:spPr>
          <a:xfrm>
            <a:off x="73152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피해자 유족의 회복 — </a:t>
            </a:r>
            <a:r>
              <a:rPr lang="ko-KR" altLang="en-US" sz="2750" b="1" u="none" strike="noStrike" dirty="0" err="1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아머</a:t>
            </a:r>
            <a:r>
              <a:rPr lang="ko-KR" altLang="en-US" sz="2750" b="1" dirty="0" err="1">
                <a:solidFill>
                  <a:srgbClr val="1E2761"/>
                </a:solidFill>
                <a:latin typeface="Pretendard"/>
                <a:ea typeface="Pretendard"/>
              </a:rPr>
              <a:t>와</a:t>
            </a:r>
            <a:r>
              <a:rPr lang="ko-KR" altLang="en-US" sz="2750" b="1" dirty="0">
                <a:solidFill>
                  <a:srgbClr val="1E2761"/>
                </a:solidFill>
                <a:latin typeface="Pretendard"/>
                <a:ea typeface="Pretendard"/>
              </a:rPr>
              <a:t> </a:t>
            </a:r>
            <a:r>
              <a:rPr lang="ko-KR" altLang="en-US" sz="2750" b="1" dirty="0" err="1">
                <a:solidFill>
                  <a:srgbClr val="1E2761"/>
                </a:solidFill>
                <a:latin typeface="Pretendard"/>
                <a:ea typeface="Pretendard"/>
              </a:rPr>
              <a:t>엄브라이트</a:t>
            </a:r>
            <a:r>
              <a:rPr lang="en-US" altLang="ko-KR" sz="2750" b="1" dirty="0">
                <a:solidFill>
                  <a:srgbClr val="1E2761"/>
                </a:solidFill>
                <a:latin typeface="Pretendard"/>
                <a:ea typeface="Pretendard"/>
              </a:rPr>
              <a:t>(</a:t>
            </a:r>
            <a:r>
              <a:rPr lang="en-US" sz="2750" b="1" u="none" strike="noStrike" dirty="0" err="1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Armour</a:t>
            </a:r>
            <a:r>
              <a:rPr lang="en-US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 &amp; Umbreit) 2012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BAND"/>
          <p:cNvSpPr/>
          <p:nvPr/>
        </p:nvSpPr>
        <p:spPr>
          <a:xfrm>
            <a:off x="731520" y="1417320"/>
            <a:ext cx="10698120" cy="84096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BANDT"/>
          <p:cNvSpPr/>
          <p:nvPr/>
        </p:nvSpPr>
        <p:spPr>
          <a:xfrm>
            <a:off x="1005840" y="141732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</a:rPr>
              <a:t>사형을 사용하는 텍사스와 가석방 없는 종신형을 사용하는 미네소타의 살인피해자 유족을 면접해 비교했다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— 판결 뒤 경과 시점이 서로 다른 유족들의 경험을 살폈으며, </a:t>
            </a:r>
            <a:r>
              <a:rPr lang="zh-CN" sz="12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같은 사람을 계속 추적한 조사로 소개하지 않는다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L"/>
          <p:cNvSpPr/>
          <p:nvPr/>
        </p:nvSpPr>
        <p:spPr>
          <a:xfrm>
            <a:off x="731520" y="23954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T"/>
          <p:cNvSpPr/>
          <p:nvPr/>
        </p:nvSpPr>
        <p:spPr>
          <a:xfrm>
            <a:off x="1782900" y="2743020"/>
            <a:ext cx="5339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텍사스 — 최고형이 사형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사형이 선고된 사건의 유족 경험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T"/>
          <p:cNvSpPr/>
          <p:nvPr/>
        </p:nvSpPr>
        <p:spPr>
          <a:xfrm>
            <a:off x="6470760" y="2739390"/>
            <a:ext cx="5339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</a:rPr>
              <a:t>미네소타 — 최고형이 가석방 없는 종신형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</a:rPr>
              <a:t>종신형이 선고된 사건의 유족 경험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L"/>
          <p:cNvSpPr/>
          <p:nvPr/>
        </p:nvSpPr>
        <p:spPr>
          <a:xfrm>
            <a:off x="731520" y="36208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RL"/>
          <p:cNvSpPr/>
          <p:nvPr/>
        </p:nvSpPr>
        <p:spPr>
          <a:xfrm>
            <a:off x="731520" y="381265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관찰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RT"/>
          <p:cNvSpPr/>
          <p:nvPr/>
        </p:nvSpPr>
        <p:spPr>
          <a:xfrm>
            <a:off x="1955800" y="3635102"/>
            <a:ext cx="9473840" cy="7671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200" b="1" dirty="0">
                <a:solidFill>
                  <a:srgbClr val="222633"/>
                </a:solidFill>
                <a:latin typeface="Pretendard"/>
                <a:ea typeface="Pretendard"/>
              </a:rPr>
              <a:t>텍사스의 사형사건</a:t>
            </a:r>
            <a:r>
              <a:rPr lang="ko-KR" altLang="en-US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</a:rPr>
              <a:t>에서는 유죄판결 뒤에도 항소와 재심 관련 절차가 장기간 이어지는 경우가 많았고</a:t>
            </a:r>
            <a:r>
              <a:rPr lang="en-US" altLang="ko-KR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</a:rPr>
              <a:t>, </a:t>
            </a:r>
            <a:r>
              <a:rPr lang="ko-KR" altLang="en-US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</a:rPr>
              <a:t>유족들은 사건이 끝나지 않은 듯한 불확실성과 반복적인 법적 관여를 경험했다</a:t>
            </a:r>
            <a:r>
              <a:rPr lang="en-US" altLang="ko-KR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</a:rPr>
              <a:t>.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</a:rPr>
              <a:t> </a:t>
            </a:r>
            <a:r>
              <a:rPr lang="ko-KR" altLang="en-US" sz="1200" b="1" dirty="0">
                <a:solidFill>
                  <a:srgbClr val="222633"/>
                </a:solidFill>
                <a:latin typeface="Pretendard"/>
                <a:ea typeface="Pretendard"/>
              </a:rPr>
              <a:t>미네소타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</a:rPr>
              <a:t>에서도 상소는 있었지만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</a:rPr>
              <a:t>, </a:t>
            </a:r>
            <a:r>
              <a:rPr lang="ko-KR" altLang="en-US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</a:rPr>
              <a:t>법적 절차가 상대적으로 더 예측 가능하고 이른 시점에 종결되는 경험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</a:rPr>
              <a:t>이 보고되었다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RL"/>
          <p:cNvSpPr/>
          <p:nvPr/>
        </p:nvSpPr>
        <p:spPr>
          <a:xfrm>
            <a:off x="731520" y="458470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결과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RT"/>
          <p:cNvSpPr/>
          <p:nvPr/>
        </p:nvSpPr>
        <p:spPr>
          <a:xfrm>
            <a:off x="1955800" y="4438986"/>
            <a:ext cx="9473840" cy="75619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200" dirty="0">
                <a:highlight>
                  <a:srgbClr val="FFFF00"/>
                </a:highlight>
                <a:latin typeface="Pretendard"/>
                <a:ea typeface="Pretendard"/>
              </a:rPr>
              <a:t>미네소타 참여자들은 텍사스 </a:t>
            </a:r>
            <a:r>
              <a:rPr lang="ko-KR" altLang="en-US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</a:rPr>
              <a:t>참여자들보다 신체</a:t>
            </a:r>
            <a:r>
              <a:rPr lang="en-US" altLang="ko-KR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</a:rPr>
              <a:t>·</a:t>
            </a:r>
            <a:r>
              <a:rPr lang="ko-KR" altLang="en-US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</a:rPr>
              <a:t>심리</a:t>
            </a:r>
            <a:r>
              <a:rPr lang="en-US" altLang="ko-KR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</a:rPr>
              <a:t>·</a:t>
            </a:r>
            <a:r>
              <a:rPr lang="ko-KR" altLang="en-US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</a:rPr>
              <a:t>행동 건강지표가 더 양호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</a:rPr>
              <a:t>했고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</a:rPr>
              <a:t>, 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</a:rPr>
              <a:t>시간이 지나면서 복합애도 증상이 더 뚜렷하게 감소하는 경향이 나타났다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</a:rPr>
              <a:t>. </a:t>
            </a:r>
            <a:r>
              <a:rPr lang="ko-KR" altLang="en-US" sz="1200" b="1" dirty="0">
                <a:solidFill>
                  <a:srgbClr val="002060"/>
                </a:solidFill>
                <a:highlight>
                  <a:srgbClr val="FFFF00"/>
                </a:highlight>
                <a:latin typeface="Pretendard"/>
                <a:ea typeface="Pretendard"/>
              </a:rPr>
              <a:t>연구진은 절차가 언제 끝날지 예측하고 통제할 수 있다는 느낌이 회복에 중요할 수 있다고 해석했다</a:t>
            </a:r>
            <a:r>
              <a:rPr lang="en-US" altLang="ko-KR" sz="1200" b="1" dirty="0">
                <a:solidFill>
                  <a:srgbClr val="002060"/>
                </a:solidFill>
                <a:highlight>
                  <a:srgbClr val="FFFF00"/>
                </a:highlight>
                <a:latin typeface="Pretendard"/>
                <a:ea typeface="Pretendard"/>
              </a:rPr>
              <a:t>.</a:t>
            </a:r>
            <a:endParaRPr lang="en-US" sz="1200" b="1" u="none" strike="noStrike" dirty="0">
              <a:solidFill>
                <a:srgbClr val="00206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1031" name="RL"/>
          <p:cNvSpPr/>
          <p:nvPr/>
        </p:nvSpPr>
        <p:spPr>
          <a:xfrm>
            <a:off x="731520" y="531368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한계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RT"/>
          <p:cNvSpPr/>
          <p:nvPr/>
        </p:nvSpPr>
        <p:spPr>
          <a:xfrm>
            <a:off x="1955800" y="5295320"/>
            <a:ext cx="9473840" cy="527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</a:rPr>
              <a:t>두 주의 차이는 형벌만의 차이가 아니다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</a:rPr>
              <a:t>. 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</a:rPr>
              <a:t>사건 특성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</a:rPr>
              <a:t>, 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</a:rPr>
              <a:t>피해자와 가해자의 관계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</a:rPr>
              <a:t>, 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</a:rPr>
              <a:t>지원체계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</a:rPr>
              <a:t>, 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</a:rPr>
              <a:t>지역 환경 등이 함께 다를 수 있어 </a:t>
            </a:r>
            <a:r>
              <a:rPr lang="ko-KR" altLang="en-US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</a:rPr>
              <a:t>사형 자체가 건강 차이를 만들었다고 인과적으로 확정할 수 없다</a:t>
            </a:r>
            <a:r>
              <a:rPr lang="en-US" altLang="ko-KR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</a:rPr>
              <a:t>. </a:t>
            </a:r>
            <a:r>
              <a:rPr lang="ko-KR" altLang="en-US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</a:rPr>
              <a:t>또 서로 다른 시점의 유족들을 비교한 연구이므로</a:t>
            </a:r>
            <a:r>
              <a:rPr lang="en-US" altLang="ko-KR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</a:rPr>
              <a:t>, </a:t>
            </a:r>
            <a:r>
              <a:rPr lang="ko-KR" altLang="en-US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</a:rPr>
              <a:t>같은 사람을 장기간 추적한 종단연구로 읽어서는 안 된다</a:t>
            </a:r>
            <a:r>
              <a:rPr lang="en-US" altLang="ko-KR" sz="1200" dirty="0">
                <a:solidFill>
                  <a:srgbClr val="222633"/>
                </a:solidFill>
                <a:highlight>
                  <a:srgbClr val="FFFF00"/>
                </a:highlight>
                <a:latin typeface="Pretendard"/>
                <a:ea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1033" name="L"/>
          <p:cNvSpPr/>
          <p:nvPr/>
        </p:nvSpPr>
        <p:spPr>
          <a:xfrm>
            <a:off x="731520" y="59068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GBAND"/>
          <p:cNvSpPr/>
          <p:nvPr/>
        </p:nvSpPr>
        <p:spPr>
          <a:xfrm>
            <a:off x="731520" y="603504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유족의 회복을 말하려면 선고형과 함께 절차 경험</a:t>
            </a:r>
            <a:r>
              <a:rPr lang="en-US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기다림</a:t>
            </a:r>
            <a:r>
              <a:rPr lang="en-US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</a:rPr>
              <a:t>생활을 돕는 지원도 살펴야 한다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NOTE"/>
          <p:cNvSpPr/>
          <p:nvPr/>
        </p:nvSpPr>
        <p:spPr>
          <a:xfrm>
            <a:off x="731520" y="638244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Armour &amp; Umbreit(2012), Marquette Law Review 96(1) · </a:t>
            </a: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</a:rPr>
              <a:t>두 주의 비교에서 모든 유족이나 형벌의 인과효과로 일반화하지 않는다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L">
            <a:extLst>
              <a:ext uri="{FF2B5EF4-FFF2-40B4-BE49-F238E27FC236}">
                <a16:creationId xmlns:a16="http://schemas.microsoft.com/office/drawing/2014/main" id="{63AE7C44-1FEE-AA94-6703-A18F246BD7FB}"/>
              </a:ext>
            </a:extLst>
          </p:cNvPr>
          <p:cNvSpPr/>
          <p:nvPr/>
        </p:nvSpPr>
        <p:spPr>
          <a:xfrm>
            <a:off x="722160" y="4414515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L">
            <a:extLst>
              <a:ext uri="{FF2B5EF4-FFF2-40B4-BE49-F238E27FC236}">
                <a16:creationId xmlns:a16="http://schemas.microsoft.com/office/drawing/2014/main" id="{0D794706-C451-F0B7-6187-9C5BEE85B9F6}"/>
              </a:ext>
            </a:extLst>
          </p:cNvPr>
          <p:cNvSpPr/>
          <p:nvPr/>
        </p:nvSpPr>
        <p:spPr>
          <a:xfrm>
            <a:off x="722160" y="519590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TextBox 1"/>
          <p:cNvSpPr/>
          <p:nvPr/>
        </p:nvSpPr>
        <p:spPr>
          <a:xfrm>
            <a:off x="731520" y="329040"/>
            <a:ext cx="3682434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자료 읽기 </a:t>
            </a:r>
            <a:r>
              <a:rPr lang="en-US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여론조사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13" name="TextBox 2"/>
          <p:cNvSpPr/>
          <p:nvPr/>
        </p:nvSpPr>
        <p:spPr>
          <a:xfrm>
            <a:off x="731520" y="658440"/>
            <a:ext cx="8593726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ko-KR" altLang="en-US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사형제에 관한 한국의 여론조사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14" name="TextBox 3"/>
          <p:cNvSpPr/>
          <p:nvPr/>
        </p:nvSpPr>
        <p:spPr>
          <a:xfrm>
            <a:off x="8348472" y="438840"/>
            <a:ext cx="310896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>
              <a:lnSpc>
                <a:spcPct val="118000"/>
              </a:lnSpc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문항이 다르면 숫자의 의미도 달라진다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17" name="Rounded Rectangle 6"/>
          <p:cNvSpPr/>
          <p:nvPr/>
        </p:nvSpPr>
        <p:spPr>
          <a:xfrm>
            <a:off x="819222" y="1460500"/>
            <a:ext cx="5217212" cy="3899708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18" name="TextBox 7"/>
          <p:cNvSpPr/>
          <p:nvPr/>
        </p:nvSpPr>
        <p:spPr>
          <a:xfrm>
            <a:off x="889314" y="1533580"/>
            <a:ext cx="5077028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리얼미터 </a:t>
            </a:r>
            <a:r>
              <a:rPr lang="en-US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2019 · CBS </a:t>
            </a:r>
            <a:r>
              <a:rPr lang="zh-CN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의뢰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19" name="TextBox 8"/>
          <p:cNvSpPr/>
          <p:nvPr/>
        </p:nvSpPr>
        <p:spPr>
          <a:xfrm>
            <a:off x="889314" y="1844620"/>
            <a:ext cx="5077028" cy="340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zh-CN" sz="10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조사 조건</a:t>
            </a:r>
            <a:endParaRPr lang="en-US" sz="1050" b="1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2019.6.14. </a:t>
            </a:r>
            <a:r>
              <a:rPr lang="zh-CN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전국 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</a:t>
            </a:r>
            <a:r>
              <a:rPr lang="zh-CN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세 이상 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500</a:t>
            </a:r>
            <a:r>
              <a:rPr lang="zh-CN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명 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전화면접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/ARS · </a:t>
            </a:r>
            <a:r>
              <a:rPr lang="zh-CN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표본오차 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±4.4%p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zh-CN" sz="10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질문 </a:t>
            </a:r>
            <a:endParaRPr lang="en-US" sz="1050" b="1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ko-KR" altLang="en-US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최근 사형제에 대한 논란이 다시 일고 있습니다</a:t>
            </a:r>
            <a:r>
              <a:rPr lang="en-US" altLang="ko-KR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lang="ko-KR" altLang="en-US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현재 우리나라는 사형제는 유지하고 있지만 오랜 기간 동안 사형 집행은 하지 않는 상황입니다</a:t>
            </a:r>
            <a:r>
              <a:rPr lang="en-US" altLang="ko-KR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lang="ko-KR" altLang="en-US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선생님께서는 우리나라의 사형 제도로 다음 중 어느 방안이 가장 바람직하다고 생각하십니까</a:t>
            </a:r>
            <a:r>
              <a:rPr lang="en-US" altLang="ko-KR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>
              <a:lnSpc>
                <a:spcPct val="125000"/>
              </a:lnSpc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zh-CN" sz="10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보기 구조</a:t>
            </a:r>
            <a:endParaRPr lang="en-US" sz="1050" b="1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① </a:t>
            </a:r>
            <a:r>
              <a:rPr lang="ko-KR" altLang="en-US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법원의 오판으로 억울한 죽음이 나올 수 있기 때문에 사형제를 폐지하는 것이 바람직하다</a:t>
            </a:r>
            <a:r>
              <a:rPr lang="en-US" altLang="ko-KR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>
              <a:lnSpc>
                <a:spcPct val="125000"/>
              </a:lnSpc>
            </a:pP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② </a:t>
            </a:r>
            <a:r>
              <a:rPr lang="ko-KR" altLang="en-US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범죄 경각심 고취와 억울한 죽음 모두를 감안해서 현재처럼 사형제는 유지하되 집행은 안 하는  </a:t>
            </a:r>
            <a:endParaRPr lang="en-US" altLang="ko-KR" sz="1050" dirty="0">
              <a:solidFill>
                <a:srgbClr val="222633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en-US" altLang="ko-KR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    </a:t>
            </a:r>
            <a:r>
              <a:rPr lang="ko-KR" altLang="en-US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것이 바람직하다</a:t>
            </a:r>
            <a:r>
              <a:rPr lang="en-US" altLang="ko-KR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③ </a:t>
            </a:r>
            <a:r>
              <a:rPr lang="ko-KR" altLang="en-US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흉악 범죄를 줄이고 피해자의 억울함을 풀어주기 위해 사형을 실제 집행하는 것이 바람직하다</a:t>
            </a:r>
            <a:r>
              <a:rPr lang="en-US" altLang="ko-KR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④ 잘 </a:t>
            </a:r>
            <a:r>
              <a:rPr lang="en-US" sz="1050" b="0" u="none" strike="noStrike" dirty="0" err="1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모르겠다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20" name="Rounded Rectangle 9"/>
          <p:cNvSpPr/>
          <p:nvPr/>
        </p:nvSpPr>
        <p:spPr>
          <a:xfrm>
            <a:off x="6256724" y="1460500"/>
            <a:ext cx="5217212" cy="386392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21" name="TextBox 10"/>
          <p:cNvSpPr/>
          <p:nvPr/>
        </p:nvSpPr>
        <p:spPr>
          <a:xfrm>
            <a:off x="6326816" y="1533580"/>
            <a:ext cx="5077028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한국갤럽 </a:t>
            </a:r>
            <a:r>
              <a:rPr lang="en-US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2022 · </a:t>
            </a:r>
            <a:r>
              <a:rPr lang="zh-CN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데일리 오피니언 제</a:t>
            </a:r>
            <a:r>
              <a:rPr lang="en-US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504</a:t>
            </a:r>
            <a:r>
              <a:rPr lang="zh-CN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호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22" name="TextBox 11"/>
          <p:cNvSpPr/>
          <p:nvPr/>
        </p:nvSpPr>
        <p:spPr>
          <a:xfrm>
            <a:off x="6326816" y="1844620"/>
            <a:ext cx="5077028" cy="340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zh-CN" sz="10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조사 조건</a:t>
            </a:r>
            <a:endParaRPr lang="en-US" sz="1050" b="1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2022.7.19.~21. </a:t>
            </a:r>
            <a:r>
              <a:rPr lang="zh-CN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전국 만 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18</a:t>
            </a:r>
            <a:r>
              <a:rPr lang="zh-CN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세 이상 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1,000</a:t>
            </a:r>
            <a:r>
              <a:rPr lang="zh-CN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명 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전화조사원 인터뷰 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표본오차 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±3.1%p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zh-CN" sz="10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질문</a:t>
            </a:r>
            <a:r>
              <a:rPr lang="zh-CN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zh-CN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지난주 헌법재판소에서 사형제 존폐 관련 공개 변론이 있었습니다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zh-CN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귀하는 사형 제도에 대해 다음 중 어떻게 생각하십니까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?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zh-CN" sz="10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보기 구조</a:t>
            </a:r>
            <a:endParaRPr lang="en-US" sz="1050" b="1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① </a:t>
            </a:r>
            <a:r>
              <a:rPr lang="en-US" sz="1050" b="0" u="none" strike="noStrike" dirty="0" err="1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유지하는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050" b="0" u="none" strike="noStrike" dirty="0" err="1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것이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050" b="0" u="none" strike="noStrike" dirty="0" err="1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좋다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② </a:t>
            </a:r>
            <a:r>
              <a:rPr lang="en-US" sz="1050" b="0" u="none" strike="noStrike" dirty="0" err="1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폐지하는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050" b="0" u="none" strike="noStrike" dirty="0" err="1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것이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1050" b="0" u="none" strike="noStrike" dirty="0" err="1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좋다</a:t>
            </a:r>
            <a:endParaRPr lang="en-US" sz="1050" b="0" u="none" strike="noStrike" dirty="0">
              <a:solidFill>
                <a:srgbClr val="222633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보기 로테이션</a:t>
            </a:r>
            <a:r>
              <a:rPr lang="en-US" altLang="ko-KR" sz="10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zh-CN" sz="10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결과표 별도 범주</a:t>
            </a:r>
            <a:r>
              <a:rPr lang="en-US" altLang="zh-CN" sz="10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050" b="1" u="none" strike="noStrike" dirty="0" err="1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ㅡ</a:t>
            </a:r>
            <a:r>
              <a:rPr lang="ko-KR" altLang="en-US" sz="10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 보기에는 존재하지 않음</a:t>
            </a:r>
            <a:endParaRPr lang="en-US" sz="1050" b="1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zh-CN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모름 </a:t>
            </a:r>
            <a:r>
              <a:rPr lang="en-US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/ </a:t>
            </a:r>
            <a:r>
              <a:rPr lang="zh-CN" sz="10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응답거절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23" name="Rounded Rectangle 12"/>
          <p:cNvSpPr/>
          <p:nvPr/>
        </p:nvSpPr>
        <p:spPr>
          <a:xfrm>
            <a:off x="1126177" y="5535168"/>
            <a:ext cx="9909251" cy="346320"/>
          </a:xfrm>
          <a:prstGeom prst="rect">
            <a:avLst/>
          </a:prstGeom>
          <a:solidFill>
            <a:srgbClr val="1E2761"/>
          </a:solidFill>
          <a:ln w="8890">
            <a:solidFill>
              <a:srgbClr val="1E276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41040" rIns="128160" bIns="36720" anchor="ctr">
            <a:noAutofit/>
          </a:bodyPr>
          <a:lstStyle/>
          <a:p>
            <a:pPr algn="ctr">
              <a:lnSpc>
                <a:spcPct val="118000"/>
              </a:lnSpc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리얼미터는 집행 여부를 나누고 이유문을 붙였고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갤럽은 제도 유지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폐지를 직접 물었다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24" name="TextBox 13"/>
          <p:cNvSpPr/>
          <p:nvPr/>
        </p:nvSpPr>
        <p:spPr>
          <a:xfrm>
            <a:off x="792980" y="6056448"/>
            <a:ext cx="10435461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CBS </a:t>
            </a:r>
            <a:r>
              <a:rPr lang="zh-CN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공식 방송기록의 리얼미터 대표 조사설명 </a:t>
            </a:r>
            <a:r>
              <a:rPr lang="en-US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한국갤럽 데일리 오피니언 제</a:t>
            </a:r>
            <a:r>
              <a:rPr lang="en-US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504</a:t>
            </a:r>
            <a:r>
              <a:rPr lang="zh-CN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TextBox 1"/>
          <p:cNvSpPr/>
          <p:nvPr/>
        </p:nvSpPr>
        <p:spPr>
          <a:xfrm>
            <a:off x="731520" y="329040"/>
            <a:ext cx="3682434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자료 읽기 </a:t>
            </a:r>
            <a:r>
              <a:rPr lang="en-US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여론조사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26" name="TextBox 2"/>
          <p:cNvSpPr/>
          <p:nvPr/>
        </p:nvSpPr>
        <p:spPr>
          <a:xfrm>
            <a:off x="731520" y="658440"/>
            <a:ext cx="8593726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문항이 다르면 숫자의 의미도 달라진다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27" name="TextBox 3"/>
          <p:cNvSpPr/>
          <p:nvPr/>
        </p:nvSpPr>
        <p:spPr>
          <a:xfrm>
            <a:off x="8348472" y="438840"/>
            <a:ext cx="310896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>
              <a:lnSpc>
                <a:spcPct val="118000"/>
              </a:lnSpc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자료와 판단 정리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cxnSp>
        <p:nvCxnSpPr>
          <p:cNvPr id="1028" name="Connector 4"/>
          <p:cNvCxnSpPr/>
          <p:nvPr/>
        </p:nvCxnSpPr>
        <p:spPr>
          <a:xfrm>
            <a:off x="731520" y="1216080"/>
            <a:ext cx="10726879" cy="1080"/>
          </a:xfrm>
          <a:prstGeom prst="straightConnector1">
            <a:avLst/>
          </a:prstGeom>
          <a:ln w="0">
            <a:solidFill>
              <a:srgbClr val="F2F4F8"/>
            </a:solidFill>
          </a:ln>
        </p:spPr>
      </p:cxnSp>
      <p:sp>
        <p:nvSpPr>
          <p:cNvPr id="1029" name="TextBox 5"/>
          <p:cNvSpPr/>
          <p:nvPr/>
        </p:nvSpPr>
        <p:spPr>
          <a:xfrm>
            <a:off x="906923" y="1446530"/>
            <a:ext cx="10347759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>
              <a:lnSpc>
                <a:spcPct val="118000"/>
              </a:lnSpc>
            </a:pP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제도를 유지할지와 실제로 집행할지는 서로 다른 질문이다 — 문항</a:t>
            </a:r>
            <a:r>
              <a:rPr 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보기와 조사 조건을 함께 읽는다</a:t>
            </a:r>
            <a:r>
              <a:rPr lang="en-US" sz="13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30" name="TextBox 6"/>
          <p:cNvSpPr/>
          <p:nvPr/>
        </p:nvSpPr>
        <p:spPr>
          <a:xfrm>
            <a:off x="778126" y="2001520"/>
            <a:ext cx="4910257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>
              <a:lnSpc>
                <a:spcPct val="118000"/>
              </a:lnSpc>
            </a:pPr>
            <a:r>
              <a:rPr lang="zh-CN" sz="12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리얼미터 </a:t>
            </a:r>
            <a:r>
              <a:rPr lang="en-US" sz="12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2019 · </a:t>
            </a:r>
            <a:r>
              <a:rPr lang="zh-CN" sz="12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가장 바람직한 방안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31" name="TextBox 7"/>
          <p:cNvSpPr/>
          <p:nvPr/>
        </p:nvSpPr>
        <p:spPr>
          <a:xfrm>
            <a:off x="6300575" y="2007870"/>
            <a:ext cx="4910257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>
              <a:lnSpc>
                <a:spcPct val="118000"/>
              </a:lnSpc>
            </a:pPr>
            <a:r>
              <a:rPr lang="zh-CN" sz="12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한국갤럽 </a:t>
            </a:r>
            <a:r>
              <a:rPr lang="en-US" sz="12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2022 · </a:t>
            </a:r>
            <a:r>
              <a:rPr lang="zh-CN" sz="12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사형제 존폐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32" name="TextBox 8"/>
          <p:cNvSpPr/>
          <p:nvPr/>
        </p:nvSpPr>
        <p:spPr>
          <a:xfrm>
            <a:off x="778126" y="2504440"/>
            <a:ext cx="1314489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1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폐지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33" name="Rectangle 9"/>
          <p:cNvSpPr/>
          <p:nvPr/>
        </p:nvSpPr>
        <p:spPr>
          <a:xfrm>
            <a:off x="2181352" y="2531800"/>
            <a:ext cx="3243925" cy="200160"/>
          </a:xfrm>
          <a:prstGeom prst="rect">
            <a:avLst/>
          </a:prstGeom>
          <a:solidFill>
            <a:srgbClr val="F2F4F8"/>
          </a:solidFill>
          <a:ln w="8890">
            <a:solidFill>
              <a:srgbClr val="F2F4F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34" name="Rectangle 10"/>
          <p:cNvSpPr/>
          <p:nvPr/>
        </p:nvSpPr>
        <p:spPr>
          <a:xfrm>
            <a:off x="2181352" y="2531800"/>
            <a:ext cx="360475" cy="200160"/>
          </a:xfrm>
          <a:prstGeom prst="rect">
            <a:avLst/>
          </a:prstGeom>
          <a:solidFill>
            <a:srgbClr val="FF0000"/>
          </a:solidFill>
          <a:ln w="8890">
            <a:noFill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35" name="TextBox 11"/>
          <p:cNvSpPr/>
          <p:nvPr/>
        </p:nvSpPr>
        <p:spPr>
          <a:xfrm>
            <a:off x="4778014" y="2486080"/>
            <a:ext cx="656727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>
              <a:lnSpc>
                <a:spcPct val="118000"/>
              </a:lnSpc>
            </a:pPr>
            <a:r>
              <a:rPr lang="en-US" sz="11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7.8%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36" name="TextBox 12"/>
          <p:cNvSpPr/>
          <p:nvPr/>
        </p:nvSpPr>
        <p:spPr>
          <a:xfrm>
            <a:off x="778126" y="3007360"/>
            <a:ext cx="1314489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1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유지</a:t>
            </a:r>
            <a:r>
              <a:rPr lang="en-US" sz="11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1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미집행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37" name="Rectangle 13"/>
          <p:cNvSpPr/>
          <p:nvPr/>
        </p:nvSpPr>
        <p:spPr>
          <a:xfrm>
            <a:off x="2181352" y="3034720"/>
            <a:ext cx="3243925" cy="200160"/>
          </a:xfrm>
          <a:prstGeom prst="rect">
            <a:avLst/>
          </a:prstGeom>
          <a:solidFill>
            <a:srgbClr val="F2F4F8"/>
          </a:solidFill>
          <a:ln w="8890">
            <a:solidFill>
              <a:srgbClr val="F2F4F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38" name="Rectangle 14"/>
          <p:cNvSpPr/>
          <p:nvPr/>
        </p:nvSpPr>
        <p:spPr>
          <a:xfrm>
            <a:off x="2181352" y="3034720"/>
            <a:ext cx="1755759" cy="20016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8890">
            <a:noFill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39" name="TextBox 15"/>
          <p:cNvSpPr/>
          <p:nvPr/>
        </p:nvSpPr>
        <p:spPr>
          <a:xfrm>
            <a:off x="4746264" y="2989000"/>
            <a:ext cx="656727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>
              <a:lnSpc>
                <a:spcPct val="118000"/>
              </a:lnSpc>
            </a:pPr>
            <a:r>
              <a:rPr lang="en-US" sz="11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37.9%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40" name="TextBox 16"/>
          <p:cNvSpPr/>
          <p:nvPr/>
        </p:nvSpPr>
        <p:spPr>
          <a:xfrm>
            <a:off x="778126" y="3510280"/>
            <a:ext cx="1314489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1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집행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41" name="Rectangle 17"/>
          <p:cNvSpPr/>
          <p:nvPr/>
        </p:nvSpPr>
        <p:spPr>
          <a:xfrm>
            <a:off x="2181352" y="3537640"/>
            <a:ext cx="3243925" cy="200160"/>
          </a:xfrm>
          <a:prstGeom prst="rect">
            <a:avLst/>
          </a:prstGeom>
          <a:solidFill>
            <a:srgbClr val="F2F4F8"/>
          </a:solidFill>
          <a:ln w="8890">
            <a:solidFill>
              <a:srgbClr val="F2F4F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42" name="Rectangle 18"/>
          <p:cNvSpPr/>
          <p:nvPr/>
        </p:nvSpPr>
        <p:spPr>
          <a:xfrm>
            <a:off x="2181352" y="3537640"/>
            <a:ext cx="2395567" cy="20016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8890">
            <a:noFill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43" name="TextBox 19"/>
          <p:cNvSpPr/>
          <p:nvPr/>
        </p:nvSpPr>
        <p:spPr>
          <a:xfrm>
            <a:off x="4803414" y="3491920"/>
            <a:ext cx="656727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>
              <a:lnSpc>
                <a:spcPct val="118000"/>
              </a:lnSpc>
            </a:pPr>
            <a:r>
              <a:rPr lang="en-US" sz="11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51.7%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44" name="TextBox 20"/>
          <p:cNvSpPr/>
          <p:nvPr/>
        </p:nvSpPr>
        <p:spPr>
          <a:xfrm>
            <a:off x="778126" y="4013200"/>
            <a:ext cx="1314489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1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잘 모르겠다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45" name="Rectangle 21"/>
          <p:cNvSpPr/>
          <p:nvPr/>
        </p:nvSpPr>
        <p:spPr>
          <a:xfrm>
            <a:off x="2181352" y="4040560"/>
            <a:ext cx="3243925" cy="200160"/>
          </a:xfrm>
          <a:prstGeom prst="rect">
            <a:avLst/>
          </a:prstGeom>
          <a:solidFill>
            <a:srgbClr val="F2F4F8"/>
          </a:solidFill>
          <a:ln w="8890">
            <a:solidFill>
              <a:srgbClr val="F2F4F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46" name="Rectangle 22"/>
          <p:cNvSpPr/>
          <p:nvPr/>
        </p:nvSpPr>
        <p:spPr>
          <a:xfrm>
            <a:off x="2181352" y="4040560"/>
            <a:ext cx="119468" cy="200160"/>
          </a:xfrm>
          <a:prstGeom prst="rect">
            <a:avLst/>
          </a:prstGeom>
          <a:solidFill>
            <a:srgbClr val="6E7686"/>
          </a:solidFill>
          <a:ln w="8890">
            <a:solidFill>
              <a:srgbClr val="6E768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47" name="TextBox 23"/>
          <p:cNvSpPr/>
          <p:nvPr/>
        </p:nvSpPr>
        <p:spPr>
          <a:xfrm>
            <a:off x="4816114" y="3994840"/>
            <a:ext cx="656727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>
              <a:lnSpc>
                <a:spcPct val="118000"/>
              </a:lnSpc>
            </a:pPr>
            <a:r>
              <a:rPr lang="en-US" sz="11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2.6%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48" name="TextBox 24"/>
          <p:cNvSpPr/>
          <p:nvPr/>
        </p:nvSpPr>
        <p:spPr>
          <a:xfrm>
            <a:off x="6300575" y="2510790"/>
            <a:ext cx="1314489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1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폐지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49" name="Rectangle 25"/>
          <p:cNvSpPr/>
          <p:nvPr/>
        </p:nvSpPr>
        <p:spPr>
          <a:xfrm>
            <a:off x="7703801" y="2538150"/>
            <a:ext cx="3243925" cy="200160"/>
          </a:xfrm>
          <a:prstGeom prst="rect">
            <a:avLst/>
          </a:prstGeom>
          <a:solidFill>
            <a:srgbClr val="F2F4F8"/>
          </a:solidFill>
          <a:ln w="8890">
            <a:solidFill>
              <a:srgbClr val="F2F4F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50" name="Rectangle 26"/>
          <p:cNvSpPr/>
          <p:nvPr/>
        </p:nvSpPr>
        <p:spPr>
          <a:xfrm>
            <a:off x="7703801" y="2538150"/>
            <a:ext cx="1065195" cy="200160"/>
          </a:xfrm>
          <a:prstGeom prst="rect">
            <a:avLst/>
          </a:prstGeom>
          <a:solidFill>
            <a:srgbClr val="FF0000"/>
          </a:solidFill>
          <a:ln w="8890">
            <a:noFill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51" name="TextBox 27"/>
          <p:cNvSpPr/>
          <p:nvPr/>
        </p:nvSpPr>
        <p:spPr>
          <a:xfrm>
            <a:off x="10325863" y="2492430"/>
            <a:ext cx="656727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>
              <a:lnSpc>
                <a:spcPct val="118000"/>
              </a:lnSpc>
            </a:pPr>
            <a:r>
              <a:rPr lang="en-US" sz="11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23%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52" name="TextBox 28"/>
          <p:cNvSpPr/>
          <p:nvPr/>
        </p:nvSpPr>
        <p:spPr>
          <a:xfrm>
            <a:off x="6300575" y="3259510"/>
            <a:ext cx="1314489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1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유지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53" name="Rectangle 29"/>
          <p:cNvSpPr/>
          <p:nvPr/>
        </p:nvSpPr>
        <p:spPr>
          <a:xfrm>
            <a:off x="7703801" y="3286870"/>
            <a:ext cx="3243925" cy="200160"/>
          </a:xfrm>
          <a:prstGeom prst="rect">
            <a:avLst/>
          </a:prstGeom>
          <a:solidFill>
            <a:srgbClr val="F2F4F8"/>
          </a:solidFill>
          <a:ln w="8890">
            <a:solidFill>
              <a:srgbClr val="F2F4F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54" name="Rectangle 30"/>
          <p:cNvSpPr/>
          <p:nvPr/>
        </p:nvSpPr>
        <p:spPr>
          <a:xfrm>
            <a:off x="7703801" y="3286870"/>
            <a:ext cx="3197657" cy="20016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8890">
            <a:noFill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55" name="TextBox 31"/>
          <p:cNvSpPr/>
          <p:nvPr/>
        </p:nvSpPr>
        <p:spPr>
          <a:xfrm>
            <a:off x="10236963" y="3241150"/>
            <a:ext cx="656727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>
              <a:lnSpc>
                <a:spcPct val="118000"/>
              </a:lnSpc>
            </a:pPr>
            <a:r>
              <a:rPr lang="en-US" sz="1150" b="1" u="none" strike="noStrike">
                <a:solidFill>
                  <a:schemeClr val="bg1"/>
                </a:solidFill>
                <a:effectLst/>
                <a:uFillTx/>
                <a:latin typeface="Pretendard"/>
                <a:ea typeface="Pretendard"/>
                <a:cs typeface="Pretendard"/>
              </a:rPr>
              <a:t>69%</a:t>
            </a:r>
            <a:endParaRPr lang="en-US" sz="1150" b="0" u="none" strike="noStrike">
              <a:solidFill>
                <a:schemeClr val="bg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56" name="TextBox 32"/>
          <p:cNvSpPr/>
          <p:nvPr/>
        </p:nvSpPr>
        <p:spPr>
          <a:xfrm>
            <a:off x="6300575" y="3982830"/>
            <a:ext cx="1314489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1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모름</a:t>
            </a:r>
            <a:r>
              <a:rPr lang="en-US" sz="11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1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거절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57" name="Rectangle 33"/>
          <p:cNvSpPr/>
          <p:nvPr/>
        </p:nvSpPr>
        <p:spPr>
          <a:xfrm>
            <a:off x="7703801" y="4010550"/>
            <a:ext cx="3243925" cy="200160"/>
          </a:xfrm>
          <a:prstGeom prst="rect">
            <a:avLst/>
          </a:prstGeom>
          <a:solidFill>
            <a:srgbClr val="F2F4F8"/>
          </a:solidFill>
          <a:ln w="8890">
            <a:solidFill>
              <a:srgbClr val="F2F4F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58" name="Rectangle 34"/>
          <p:cNvSpPr/>
          <p:nvPr/>
        </p:nvSpPr>
        <p:spPr>
          <a:xfrm>
            <a:off x="7703801" y="4010550"/>
            <a:ext cx="369797" cy="200160"/>
          </a:xfrm>
          <a:prstGeom prst="rect">
            <a:avLst/>
          </a:prstGeom>
          <a:solidFill>
            <a:srgbClr val="6E7686"/>
          </a:solidFill>
          <a:ln w="8890">
            <a:solidFill>
              <a:srgbClr val="6E768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59" name="TextBox 35"/>
          <p:cNvSpPr/>
          <p:nvPr/>
        </p:nvSpPr>
        <p:spPr>
          <a:xfrm>
            <a:off x="10294113" y="3964830"/>
            <a:ext cx="656727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>
              <a:lnSpc>
                <a:spcPct val="118000"/>
              </a:lnSpc>
            </a:pPr>
            <a:r>
              <a:rPr lang="en-US" sz="11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8%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60" name="Rounded Rectangle 36"/>
          <p:cNvSpPr/>
          <p:nvPr/>
        </p:nvSpPr>
        <p:spPr>
          <a:xfrm>
            <a:off x="849617" y="4709160"/>
            <a:ext cx="5230668" cy="118999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61" name="TextBox 37"/>
          <p:cNvSpPr/>
          <p:nvPr/>
        </p:nvSpPr>
        <p:spPr>
          <a:xfrm>
            <a:off x="919708" y="4782240"/>
            <a:ext cx="5090485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읽을 점 ①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62" name="TextBox 38"/>
          <p:cNvSpPr/>
          <p:nvPr/>
        </p:nvSpPr>
        <p:spPr>
          <a:xfrm>
            <a:off x="919708" y="5093280"/>
            <a:ext cx="5090485" cy="52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1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리얼미터의 </a:t>
            </a:r>
            <a:r>
              <a:rPr lang="en-US" sz="11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37.9%</a:t>
            </a:r>
            <a:r>
              <a:rPr lang="zh-CN" sz="11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는 “사형제는 남기되 집행하지 않는 선택”에 대한 별도 수요를 보여준다</a:t>
            </a:r>
            <a:r>
              <a:rPr lang="en-US" sz="11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63" name="Rounded Rectangle 39"/>
          <p:cNvSpPr/>
          <p:nvPr/>
        </p:nvSpPr>
        <p:spPr>
          <a:xfrm>
            <a:off x="6300575" y="4709160"/>
            <a:ext cx="5041809" cy="118891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64" name="TextBox 40"/>
          <p:cNvSpPr/>
          <p:nvPr/>
        </p:nvSpPr>
        <p:spPr>
          <a:xfrm>
            <a:off x="6370667" y="4782240"/>
            <a:ext cx="4901625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읽을 점 ②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65" name="TextBox 41"/>
          <p:cNvSpPr/>
          <p:nvPr/>
        </p:nvSpPr>
        <p:spPr>
          <a:xfrm>
            <a:off x="6370667" y="5093280"/>
            <a:ext cx="4901625" cy="52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1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갤럽의 유지 </a:t>
            </a:r>
            <a:r>
              <a:rPr lang="en-US" sz="11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69% </a:t>
            </a:r>
            <a:r>
              <a:rPr lang="zh-CN" sz="11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안에서 실제 집행을 원하는 사람과 미집행을 원하는 사람의 비율은 이 문항만으로 알 수 없다</a:t>
            </a:r>
            <a:r>
              <a:rPr lang="en-US" sz="11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r>
              <a:rPr lang="en-US" sz="11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</a:t>
            </a:r>
          </a:p>
          <a:p>
            <a:pPr>
              <a:lnSpc>
                <a:spcPct val="118000"/>
              </a:lnSpc>
            </a:pPr>
            <a:r>
              <a:rPr lang="ko-KR" altLang="en-US" sz="11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보기에 없었음에도 모름과 거절의 비율이 </a:t>
            </a:r>
            <a:r>
              <a:rPr lang="en-US" altLang="ko-KR" sz="11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2.6%</a:t>
            </a:r>
            <a:r>
              <a:rPr lang="ko-KR" altLang="en-US" sz="11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에서 </a:t>
            </a:r>
            <a:r>
              <a:rPr lang="en-US" altLang="ko-KR" sz="11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8%</a:t>
            </a:r>
            <a:r>
              <a:rPr lang="ko-KR" altLang="en-US" sz="11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로 증가하였다</a:t>
            </a:r>
            <a:r>
              <a:rPr lang="en-US" altLang="ko-KR" sz="11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66" name="Rounded Rectangle 42"/>
          <p:cNvSpPr/>
          <p:nvPr/>
        </p:nvSpPr>
        <p:spPr>
          <a:xfrm>
            <a:off x="1126177" y="6069910"/>
            <a:ext cx="9909251" cy="383040"/>
          </a:xfrm>
          <a:prstGeom prst="rect">
            <a:avLst/>
          </a:prstGeom>
          <a:solidFill>
            <a:srgbClr val="1E2761"/>
          </a:solidFill>
          <a:ln w="8890">
            <a:solidFill>
              <a:srgbClr val="1E276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41040" rIns="128160" bIns="36720" anchor="ctr">
            <a:noAutofit/>
          </a:bodyPr>
          <a:lstStyle/>
          <a:p>
            <a:pPr algn="ctr">
              <a:lnSpc>
                <a:spcPct val="118000"/>
              </a:lnSpc>
            </a:pPr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두 조사는 시점</a:t>
            </a:r>
            <a:r>
              <a:rPr lang="en-US" altLang="ko-KR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질문</a:t>
            </a:r>
            <a:r>
              <a:rPr lang="en-US" altLang="ko-KR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보기</a:t>
            </a:r>
            <a:r>
              <a:rPr lang="en-US" altLang="ko-KR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조사방법이 달라</a:t>
            </a:r>
            <a:r>
              <a:rPr lang="en-US" altLang="ko-KR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비율 차이를 곧바로 ‘여론 </a:t>
            </a:r>
            <a:r>
              <a:rPr lang="ko-KR" altLang="en-US" sz="12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변화’나</a:t>
            </a:r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‘질문 방식의 </a:t>
            </a:r>
            <a:r>
              <a:rPr lang="ko-KR" altLang="en-US" sz="12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효과’로</a:t>
            </a:r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해석할 수 없다</a:t>
            </a:r>
            <a:r>
              <a:rPr lang="en-US" altLang="ko-KR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TextBox 1"/>
          <p:cNvSpPr/>
          <p:nvPr/>
        </p:nvSpPr>
        <p:spPr>
          <a:xfrm>
            <a:off x="731520" y="329040"/>
            <a:ext cx="3682088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주요 논거와 정리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07" name="TextBox 2"/>
          <p:cNvSpPr/>
          <p:nvPr/>
        </p:nvSpPr>
        <p:spPr>
          <a:xfrm>
            <a:off x="731520" y="658440"/>
            <a:ext cx="8417977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자료가 답한 것과 판단으로 남는 것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08" name="TextBox 3"/>
          <p:cNvSpPr/>
          <p:nvPr/>
        </p:nvSpPr>
        <p:spPr>
          <a:xfrm>
            <a:off x="8348472" y="438840"/>
            <a:ext cx="3108960" cy="31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 defTabSz="914400">
              <a:lnSpc>
                <a:spcPct val="118000"/>
              </a:lnSpc>
            </a:pPr>
            <a:r>
              <a:rPr lang="ko-KR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형벌의 목적과 효과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cxnSp>
        <p:nvCxnSpPr>
          <p:cNvPr id="1109" name="Connector 4"/>
          <p:cNvCxnSpPr/>
          <p:nvPr/>
        </p:nvCxnSpPr>
        <p:spPr>
          <a:xfrm>
            <a:off x="731520" y="1216080"/>
            <a:ext cx="10727224" cy="1440"/>
          </a:xfrm>
          <a:prstGeom prst="straightConnector1">
            <a:avLst/>
          </a:prstGeom>
          <a:ln w="0">
            <a:solidFill>
              <a:srgbClr val="F2F4F8"/>
            </a:solidFill>
          </a:ln>
        </p:spPr>
      </p:cxnSp>
      <p:sp>
        <p:nvSpPr>
          <p:cNvPr id="1110" name="TextBox 5"/>
          <p:cNvSpPr/>
          <p:nvPr/>
        </p:nvSpPr>
        <p:spPr>
          <a:xfrm>
            <a:off x="818531" y="1621548"/>
            <a:ext cx="10347414" cy="30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자료는 사실과 효과의 범위를 보여주지만</a:t>
            </a:r>
            <a:r>
              <a:rPr lang="en-US" altLang="ko-KR" sz="14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4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그것이 사형의 유지</a:t>
            </a:r>
            <a:r>
              <a:rPr lang="en-US" altLang="ko-KR" sz="14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4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폐지를 정당화하는지는 별도의 판단이 필요하다</a:t>
            </a:r>
            <a:r>
              <a:rPr lang="en-US" altLang="ko-KR" sz="14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11" name="Rounded Rectangle 6"/>
          <p:cNvSpPr/>
          <p:nvPr/>
        </p:nvSpPr>
        <p:spPr>
          <a:xfrm>
            <a:off x="906923" y="2584450"/>
            <a:ext cx="5085315" cy="243205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12" name="TextBox 7"/>
          <p:cNvSpPr/>
          <p:nvPr/>
        </p:nvSpPr>
        <p:spPr>
          <a:xfrm>
            <a:off x="977016" y="2657530"/>
            <a:ext cx="494513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자료로 확인한 것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13" name="TextBox 8"/>
          <p:cNvSpPr/>
          <p:nvPr/>
        </p:nvSpPr>
        <p:spPr>
          <a:xfrm>
            <a:off x="977016" y="2968570"/>
            <a:ext cx="4945130" cy="308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사형의 장기 자유형 대비 추가 억제효과는 확정하기 어렵다</a:t>
            </a:r>
            <a:r>
              <a:rPr lang="en-US" altLang="ko-KR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>
              <a:lnSpc>
                <a:spcPct val="125000"/>
              </a:lnSpc>
            </a:pP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무기형의 실제 강도는 가석방</a:t>
            </a:r>
            <a:r>
              <a:rPr lang="en-US" altLang="ko-KR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감형</a:t>
            </a:r>
            <a:r>
              <a:rPr lang="en-US" altLang="ko-KR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사면 등 제도 설계에 따라 달라진다</a:t>
            </a:r>
            <a:r>
              <a:rPr lang="en-US" altLang="ko-KR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>
              <a:lnSpc>
                <a:spcPct val="125000"/>
              </a:lnSpc>
            </a:pP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헌재는 생명권의 중요성과 예외적 제한 가능성을 함께 논의해 왔다</a:t>
            </a:r>
            <a:r>
              <a:rPr lang="en-US" altLang="ko-KR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>
              <a:lnSpc>
                <a:spcPct val="125000"/>
              </a:lnSpc>
            </a:pP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사형사건에서도 오판과 적용의 불공정 가능성이 제기되며</a:t>
            </a:r>
            <a:r>
              <a:rPr lang="en-US" altLang="ko-KR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집행 뒤에는 회복할 수 없다</a:t>
            </a:r>
            <a:r>
              <a:rPr lang="en-US" altLang="ko-KR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 defTabSz="914400">
              <a:lnSpc>
                <a:spcPct val="125000"/>
              </a:lnSpc>
            </a:pP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14" name="Rounded Rectangle 9"/>
          <p:cNvSpPr/>
          <p:nvPr/>
        </p:nvSpPr>
        <p:spPr>
          <a:xfrm>
            <a:off x="6256724" y="2584450"/>
            <a:ext cx="5085315" cy="243061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15" name="TextBox 10"/>
          <p:cNvSpPr/>
          <p:nvPr/>
        </p:nvSpPr>
        <p:spPr>
          <a:xfrm>
            <a:off x="6326816" y="2657530"/>
            <a:ext cx="494513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자료만으로 정해지지 않는 것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16" name="TextBox 11"/>
          <p:cNvSpPr/>
          <p:nvPr/>
        </p:nvSpPr>
        <p:spPr>
          <a:xfrm>
            <a:off x="6326816" y="2968570"/>
            <a:ext cx="4945130" cy="308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어느 정도의 억제효과가 생명박탈을 정당화하기에 충분한가</a:t>
            </a:r>
            <a:r>
              <a:rPr lang="en-US" altLang="ko-KR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>
              <a:lnSpc>
                <a:spcPct val="125000"/>
              </a:lnSpc>
            </a:pP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대체형벌이 어느 정도 사회보호 기능을 수행하면 사형을 대신할 수 있는가</a:t>
            </a:r>
            <a:r>
              <a:rPr lang="en-US" altLang="ko-KR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>
              <a:lnSpc>
                <a:spcPct val="125000"/>
              </a:lnSpc>
            </a:pP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극히 중대한 범죄의 책임에 상응하는 처벌이 사형까지 요구하는가</a:t>
            </a:r>
            <a:r>
              <a:rPr lang="en-US" altLang="ko-KR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222633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</a:pP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절차를 강화한 뒤에도 남는 오류와 불공정의 위험을 감수할 수 있는가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17" name="Rounded Rectangle 12"/>
          <p:cNvSpPr/>
          <p:nvPr/>
        </p:nvSpPr>
        <p:spPr>
          <a:xfrm>
            <a:off x="1037785" y="5698080"/>
            <a:ext cx="9908906" cy="501480"/>
          </a:xfrm>
          <a:prstGeom prst="rect">
            <a:avLst/>
          </a:prstGeom>
          <a:solidFill>
            <a:srgbClr val="1E2761"/>
          </a:solidFill>
          <a:ln w="8890">
            <a:solidFill>
              <a:srgbClr val="1E276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41040" rIns="128160" bIns="3672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좋은 답변은 자료가 말해 준 범위와</a:t>
            </a:r>
            <a:r>
              <a:rPr lang="en-US" altLang="ko-KR"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 자료를 어떤 가치</a:t>
            </a:r>
            <a:r>
              <a:rPr lang="en-US" altLang="ko-KR"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기준으로 결론에 연결했는지를 구별해 설명한다</a:t>
            </a:r>
            <a:r>
              <a:rPr lang="en-US" altLang="ko-KR"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TextBox 1"/>
          <p:cNvSpPr/>
          <p:nvPr/>
        </p:nvSpPr>
        <p:spPr>
          <a:xfrm>
            <a:off x="731520" y="329040"/>
            <a:ext cx="3682088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주요 논거와 정리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69" name="TextBox 2"/>
          <p:cNvSpPr/>
          <p:nvPr/>
        </p:nvSpPr>
        <p:spPr>
          <a:xfrm>
            <a:off x="731520" y="658440"/>
            <a:ext cx="8417977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종합 ① — </a:t>
            </a:r>
            <a:r>
              <a:rPr lang="ko-KR" altLang="en-US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사형은 어떤 목적과 기능으로 정당화 되는가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70" name="TextBox 3"/>
          <p:cNvSpPr/>
          <p:nvPr/>
        </p:nvSpPr>
        <p:spPr>
          <a:xfrm>
            <a:off x="8348472" y="438840"/>
            <a:ext cx="3108960" cy="31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 defTabSz="914400">
              <a:lnSpc>
                <a:spcPct val="118000"/>
              </a:lnSpc>
            </a:pPr>
            <a:r>
              <a:rPr lang="ko-KR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사형은 어디까지 허용될 수 있는가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cxnSp>
        <p:nvCxnSpPr>
          <p:cNvPr id="1071" name="Connector 4"/>
          <p:cNvCxnSpPr/>
          <p:nvPr/>
        </p:nvCxnSpPr>
        <p:spPr>
          <a:xfrm>
            <a:off x="731520" y="1216080"/>
            <a:ext cx="10727224" cy="1440"/>
          </a:xfrm>
          <a:prstGeom prst="straightConnector1">
            <a:avLst/>
          </a:prstGeom>
          <a:ln w="0">
            <a:solidFill>
              <a:srgbClr val="F2F4F8"/>
            </a:solidFill>
          </a:ln>
        </p:spPr>
      </p:cxnSp>
      <p:sp>
        <p:nvSpPr>
          <p:cNvPr id="1072" name="TextBox 5"/>
          <p:cNvSpPr/>
          <p:nvPr/>
        </p:nvSpPr>
        <p:spPr>
          <a:xfrm>
            <a:off x="906923" y="1459230"/>
            <a:ext cx="10347414" cy="30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4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앞에서 살핀 논거를 먼저 형벌의 목적과 효과 중심으로 정리한다</a:t>
            </a:r>
            <a:r>
              <a:rPr lang="en-US" sz="14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73" name="TextBox 6"/>
          <p:cNvSpPr/>
          <p:nvPr/>
        </p:nvSpPr>
        <p:spPr>
          <a:xfrm>
            <a:off x="819222" y="2024380"/>
            <a:ext cx="1752652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1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논거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74" name="TextBox 7"/>
          <p:cNvSpPr/>
          <p:nvPr/>
        </p:nvSpPr>
        <p:spPr>
          <a:xfrm>
            <a:off x="2660956" y="2024380"/>
            <a:ext cx="4164447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1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유지 쪽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75" name="TextBox 8"/>
          <p:cNvSpPr/>
          <p:nvPr/>
        </p:nvSpPr>
        <p:spPr>
          <a:xfrm>
            <a:off x="6958337" y="2024380"/>
            <a:ext cx="4164447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1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폐지 쪽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77" name="TextBox 10"/>
          <p:cNvSpPr/>
          <p:nvPr/>
        </p:nvSpPr>
        <p:spPr>
          <a:xfrm>
            <a:off x="819222" y="2481580"/>
            <a:ext cx="1752652" cy="9770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응보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78" name="TextBox 11"/>
          <p:cNvSpPr/>
          <p:nvPr/>
        </p:nvSpPr>
        <p:spPr>
          <a:xfrm>
            <a:off x="2660956" y="2481580"/>
            <a:ext cx="4164447" cy="9770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극히 중대한 범죄에는 생명 박탈까지 포함하는 처벌이 책임에 상응하므로 사형이 필요하다</a:t>
            </a:r>
            <a:r>
              <a:rPr lang="en-US" sz="12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79" name="TextBox 12"/>
          <p:cNvSpPr/>
          <p:nvPr/>
        </p:nvSpPr>
        <p:spPr>
          <a:xfrm>
            <a:off x="6958337" y="2481580"/>
            <a:ext cx="4164447" cy="9770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극히 중대한 범죄도 장기 자유형으로 책임을 묻되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생명과 개선 가능성을 남겨야 한다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80" name="TextBox 13"/>
          <p:cNvSpPr/>
          <p:nvPr/>
        </p:nvSpPr>
        <p:spPr>
          <a:xfrm>
            <a:off x="819222" y="3551500"/>
            <a:ext cx="1752652" cy="9770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일반예방</a:t>
            </a:r>
            <a:r>
              <a:rPr lang="en-US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억제효과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81" name="TextBox 14"/>
          <p:cNvSpPr/>
          <p:nvPr/>
        </p:nvSpPr>
        <p:spPr>
          <a:xfrm>
            <a:off x="2660956" y="3551500"/>
            <a:ext cx="4164447" cy="9770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사형의 위하력은 장기 자유형보다 강하므로 다른 사람의 중대한 범죄를 더 억제할 수 있다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82" name="TextBox 15"/>
          <p:cNvSpPr/>
          <p:nvPr/>
        </p:nvSpPr>
        <p:spPr>
          <a:xfrm>
            <a:off x="6958337" y="3551500"/>
            <a:ext cx="4164447" cy="9770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장기 자유형보다 더 억제한다는 근거가 부족하므로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추가 억제효과만으로 사형을 정당화하기 어렵다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83" name="TextBox 16"/>
          <p:cNvSpPr/>
          <p:nvPr/>
        </p:nvSpPr>
        <p:spPr>
          <a:xfrm>
            <a:off x="819222" y="4621420"/>
            <a:ext cx="1752652" cy="9770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특별예방</a:t>
            </a:r>
            <a:r>
              <a:rPr lang="en-US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사회보호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84" name="TextBox 17"/>
          <p:cNvSpPr/>
          <p:nvPr/>
        </p:nvSpPr>
        <p:spPr>
          <a:xfrm>
            <a:off x="2660956" y="4621420"/>
            <a:ext cx="4164447" cy="9770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사형을 집행하면 그 사람의 재범을 영구히 차단하므로 사회보호를 위한 최종 수단이 될 수 있다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85" name="TextBox 18"/>
          <p:cNvSpPr/>
          <p:nvPr/>
        </p:nvSpPr>
        <p:spPr>
          <a:xfrm>
            <a:off x="6958337" y="4621420"/>
            <a:ext cx="4164447" cy="9770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장기 자유형으로 사회복귀를 제한하고 시설 내 위험을 관리하면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 박탈 없이도 사회를 보호할 수 있다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86" name="Rounded Rectangle 19"/>
          <p:cNvSpPr/>
          <p:nvPr/>
        </p:nvSpPr>
        <p:spPr>
          <a:xfrm>
            <a:off x="1126177" y="5911850"/>
            <a:ext cx="9908906" cy="455760"/>
          </a:xfrm>
          <a:prstGeom prst="rect">
            <a:avLst/>
          </a:prstGeom>
          <a:solidFill>
            <a:srgbClr val="1E2761"/>
          </a:solidFill>
          <a:ln w="8890">
            <a:solidFill>
              <a:srgbClr val="1E276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41040" rIns="128160" bIns="3672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효과가 불확실해도 응보를 중시할 수 있고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응보를 인정해도 생명 박탈의 한계를 따질 수 있다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TextBox 1"/>
          <p:cNvSpPr/>
          <p:nvPr/>
        </p:nvSpPr>
        <p:spPr>
          <a:xfrm>
            <a:off x="731520" y="329040"/>
            <a:ext cx="3682088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주요 논거와 정리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88" name="TextBox 2"/>
          <p:cNvSpPr/>
          <p:nvPr/>
        </p:nvSpPr>
        <p:spPr>
          <a:xfrm>
            <a:off x="731520" y="658440"/>
            <a:ext cx="8417977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ko-KR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종합 ② — </a:t>
            </a:r>
            <a:r>
              <a:rPr lang="ko-KR" altLang="en-US" sz="275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사형은 어디까지 허용될 수 있는가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89" name="TextBox 3"/>
          <p:cNvSpPr/>
          <p:nvPr/>
        </p:nvSpPr>
        <p:spPr>
          <a:xfrm>
            <a:off x="8348472" y="438840"/>
            <a:ext cx="3108960" cy="31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 defTabSz="914400">
              <a:lnSpc>
                <a:spcPct val="118000"/>
              </a:lnSpc>
            </a:pPr>
            <a:r>
              <a:rPr lang="ko-KR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연구·조사 자료 읽기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cxnSp>
        <p:nvCxnSpPr>
          <p:cNvPr id="1090" name="Connector 4"/>
          <p:cNvCxnSpPr/>
          <p:nvPr/>
        </p:nvCxnSpPr>
        <p:spPr>
          <a:xfrm>
            <a:off x="731520" y="1216080"/>
            <a:ext cx="10727224" cy="1440"/>
          </a:xfrm>
          <a:prstGeom prst="straightConnector1">
            <a:avLst/>
          </a:prstGeom>
          <a:ln w="0">
            <a:solidFill>
              <a:srgbClr val="F2F4F8"/>
            </a:solidFill>
          </a:ln>
        </p:spPr>
      </p:cxnSp>
      <p:sp>
        <p:nvSpPr>
          <p:cNvPr id="1091" name="TextBox 5"/>
          <p:cNvSpPr/>
          <p:nvPr/>
        </p:nvSpPr>
        <p:spPr>
          <a:xfrm>
            <a:off x="906923" y="1427480"/>
            <a:ext cx="10347414" cy="30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사형의 목적과 기능을 인정하더라도</a:t>
            </a:r>
            <a:r>
              <a:rPr lang="en-US" altLang="ko-KR" sz="14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4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국가가 생명을 박탈하는 형벌을 허용하고 실제로 적용하려면 별도의 한계를 넘어야 한다</a:t>
            </a:r>
            <a:r>
              <a:rPr lang="en-US" altLang="ko-KR" sz="14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92" name="TextBox 6"/>
          <p:cNvSpPr/>
          <p:nvPr/>
        </p:nvSpPr>
        <p:spPr>
          <a:xfrm>
            <a:off x="819222" y="2011680"/>
            <a:ext cx="1752652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1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논거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93" name="TextBox 7"/>
          <p:cNvSpPr/>
          <p:nvPr/>
        </p:nvSpPr>
        <p:spPr>
          <a:xfrm>
            <a:off x="2660956" y="2011680"/>
            <a:ext cx="4164447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1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유지 쪽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94" name="TextBox 8"/>
          <p:cNvSpPr/>
          <p:nvPr/>
        </p:nvSpPr>
        <p:spPr>
          <a:xfrm>
            <a:off x="6958337" y="2011680"/>
            <a:ext cx="4164447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1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폐지 쪽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96" name="TextBox 10"/>
          <p:cNvSpPr/>
          <p:nvPr/>
        </p:nvSpPr>
        <p:spPr>
          <a:xfrm>
            <a:off x="819222" y="2468880"/>
            <a:ext cx="1752652" cy="9770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</a:t>
            </a:r>
            <a:r>
              <a:rPr lang="en-US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비례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97" name="TextBox 11"/>
          <p:cNvSpPr/>
          <p:nvPr/>
        </p:nvSpPr>
        <p:spPr>
          <a:xfrm>
            <a:off x="2660956" y="2468880"/>
            <a:ext cx="4164447" cy="9770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생명권도 예외적으로 제한될 수 있으며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극악범죄에 대한 사형은 비례원칙에 어긋나지 않는다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98" name="TextBox 12"/>
          <p:cNvSpPr/>
          <p:nvPr/>
        </p:nvSpPr>
        <p:spPr>
          <a:xfrm>
            <a:off x="6958337" y="2468880"/>
            <a:ext cx="4164447" cy="9770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생명권의 본질을 침해하거나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덜 침해적인 대안이 있어 사형은 비례원칙에 어긋난다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099" name="TextBox 13"/>
          <p:cNvSpPr/>
          <p:nvPr/>
        </p:nvSpPr>
        <p:spPr>
          <a:xfrm>
            <a:off x="819222" y="3538800"/>
            <a:ext cx="1752652" cy="9770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오판</a:t>
            </a:r>
            <a:r>
              <a:rPr lang="en-US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불가역성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00" name="TextBox 14"/>
          <p:cNvSpPr/>
          <p:nvPr/>
        </p:nvSpPr>
        <p:spPr>
          <a:xfrm>
            <a:off x="2660956" y="3538800"/>
            <a:ext cx="4164447" cy="9770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집행 뒤에는 오판이 밝혀져도 생명을 회복할 수 없지만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엄격한 절차로 오판 위험을 줄이며 유지할 수 있다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01" name="TextBox 15"/>
          <p:cNvSpPr/>
          <p:nvPr/>
        </p:nvSpPr>
        <p:spPr>
          <a:xfrm>
            <a:off x="6958337" y="3538800"/>
            <a:ext cx="4164447" cy="9770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사형의 오판 위험은 완전히 없앨 수 없고 집행 뒤 생명을 회복할 수 없으므로 다른 형벌로 대체해야 한다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02" name="TextBox 16"/>
          <p:cNvSpPr/>
          <p:nvPr/>
        </p:nvSpPr>
        <p:spPr>
          <a:xfrm>
            <a:off x="819222" y="4608720"/>
            <a:ext cx="1752652" cy="9770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적용의 공정성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03" name="TextBox 17"/>
          <p:cNvSpPr/>
          <p:nvPr/>
        </p:nvSpPr>
        <p:spPr>
          <a:xfrm>
            <a:off x="2660956" y="4608720"/>
            <a:ext cx="4164447" cy="9770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25000"/>
              </a:lnSpc>
            </a:pPr>
            <a:r>
              <a:rPr lang="ko-KR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개별 범행과 책임을 엄격히 따지고 절차를 강화하면 사형을 예외적으로 공정하게 운용할 수 있다</a:t>
            </a:r>
            <a:r>
              <a:rPr lang="en-US" sz="12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04" name="TextBox 18"/>
          <p:cNvSpPr/>
          <p:nvPr/>
        </p:nvSpPr>
        <p:spPr>
          <a:xfrm>
            <a:off x="6958337" y="4608720"/>
            <a:ext cx="4164447" cy="9770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범죄와 책임 외의 요인이 사형 선택에 반복적으로 영향을 미친다면</a:t>
            </a:r>
            <a:r>
              <a:rPr lang="en-US" altLang="ko-KR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제도 운영의 공정성이 문제된다</a:t>
            </a:r>
            <a:r>
              <a:rPr lang="en-US" altLang="ko-KR" sz="125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05" name="Rounded Rectangle 19"/>
          <p:cNvSpPr/>
          <p:nvPr/>
        </p:nvSpPr>
        <p:spPr>
          <a:xfrm>
            <a:off x="1126177" y="5943600"/>
            <a:ext cx="9908906" cy="455760"/>
          </a:xfrm>
          <a:prstGeom prst="rect">
            <a:avLst/>
          </a:prstGeom>
          <a:solidFill>
            <a:srgbClr val="1E2761"/>
          </a:solidFill>
          <a:ln w="8890">
            <a:solidFill>
              <a:srgbClr val="1E276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41040" rIns="128160" bIns="36720" anchor="ctr">
            <a:noAutofit/>
          </a:bodyPr>
          <a:lstStyle/>
          <a:p>
            <a:pPr algn="ctr">
              <a:lnSpc>
                <a:spcPct val="118000"/>
              </a:lnSpc>
            </a:pPr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사형제의 평가는 법률상 허용 여부뿐 아니라</a:t>
            </a:r>
            <a:r>
              <a:rPr lang="en-US" altLang="ko-KR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오판을 통제하고 공정한 기준으로 사형을 선택할 수 있는지도 함께 봐야 한다</a:t>
            </a:r>
            <a:r>
              <a:rPr lang="en-US" altLang="ko-KR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KICKER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연구 </a:t>
            </a:r>
            <a:r>
              <a:rPr lang="en-US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조사 자료 읽기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20" name="TITLE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연구와 조사 자료를 읽을 때 묻는 것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21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이번 주 공지 · 다음 주 내용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22" name="BAND"/>
          <p:cNvSpPr/>
          <p:nvPr/>
        </p:nvSpPr>
        <p:spPr>
          <a:xfrm>
            <a:off x="731520" y="1417320"/>
            <a:ext cx="10696680" cy="5468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23" name="BANDT"/>
          <p:cNvSpPr/>
          <p:nvPr/>
        </p:nvSpPr>
        <p:spPr>
          <a:xfrm>
            <a:off x="1005840" y="1417320"/>
            <a:ext cx="101480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자료를 인용하기 전에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무엇을 어디까지 말할 수 있는 자료인지 확인한다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24" name="L"/>
          <p:cNvSpPr/>
          <p:nvPr/>
        </p:nvSpPr>
        <p:spPr>
          <a:xfrm>
            <a:off x="731520" y="22402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25" name="RL"/>
          <p:cNvSpPr/>
          <p:nvPr/>
        </p:nvSpPr>
        <p:spPr>
          <a:xfrm>
            <a:off x="731520" y="2450520"/>
            <a:ext cx="237564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생산 주체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26" name="RQ"/>
          <p:cNvSpPr/>
          <p:nvPr/>
        </p:nvSpPr>
        <p:spPr>
          <a:xfrm>
            <a:off x="3291840" y="2450520"/>
            <a:ext cx="81363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누가 어떤 목적으로 만들었는가</a:t>
            </a:r>
            <a:r>
              <a:rPr lang="en-US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? — </a:t>
            </a: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예</a:t>
            </a:r>
            <a:r>
              <a:rPr lang="en-US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국제앰네스티는 사형폐지를 지지하는 인권단체다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27" name="L"/>
          <p:cNvSpPr/>
          <p:nvPr/>
        </p:nvSpPr>
        <p:spPr>
          <a:xfrm>
            <a:off x="731520" y="314532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28" name="RL"/>
          <p:cNvSpPr/>
          <p:nvPr/>
        </p:nvSpPr>
        <p:spPr>
          <a:xfrm>
            <a:off x="731520" y="3304080"/>
            <a:ext cx="237564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원자료 확인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29" name="RQ"/>
          <p:cNvSpPr/>
          <p:nvPr/>
        </p:nvSpPr>
        <p:spPr>
          <a:xfrm>
            <a:off x="3291840" y="3304080"/>
            <a:ext cx="81363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원문과 요약을 구별했는가</a:t>
            </a:r>
            <a:r>
              <a:rPr lang="en-US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? — </a:t>
            </a: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예</a:t>
            </a:r>
            <a:r>
              <a:rPr lang="en-US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실제 질문</a:t>
            </a:r>
            <a:r>
              <a:rPr lang="en-US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보기와 결과표의 짧은 응답 라벨은 다를 수 있다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30" name="L"/>
          <p:cNvSpPr/>
          <p:nvPr/>
        </p:nvSpPr>
        <p:spPr>
          <a:xfrm>
            <a:off x="731520" y="393192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31" name="RL"/>
          <p:cNvSpPr/>
          <p:nvPr/>
        </p:nvSpPr>
        <p:spPr>
          <a:xfrm>
            <a:off x="731520" y="4099680"/>
            <a:ext cx="237564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방법의 적절성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32" name="RQ"/>
          <p:cNvSpPr/>
          <p:nvPr/>
        </p:nvSpPr>
        <p:spPr>
          <a:xfrm>
            <a:off x="3291840" y="4099680"/>
            <a:ext cx="81363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질문에 맞는 자료와 비교인가</a:t>
            </a:r>
            <a:r>
              <a:rPr lang="en-US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? — </a:t>
            </a: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예</a:t>
            </a:r>
            <a:r>
              <a:rPr lang="en-US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두 주 유족의 차이에서 형벌 외의 차이도 함께 살펴야 한다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33" name="L"/>
          <p:cNvSpPr/>
          <p:nvPr/>
        </p:nvSpPr>
        <p:spPr>
          <a:xfrm>
            <a:off x="731520" y="471816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34" name="RL"/>
          <p:cNvSpPr/>
          <p:nvPr/>
        </p:nvSpPr>
        <p:spPr>
          <a:xfrm>
            <a:off x="731520" y="4889160"/>
            <a:ext cx="237564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altLang="en-US" sz="15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재현</a:t>
            </a:r>
            <a:r>
              <a:rPr lang="zh-CN" sz="15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 확인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35" name="RQ"/>
          <p:cNvSpPr/>
          <p:nvPr/>
        </p:nvSpPr>
        <p:spPr>
          <a:xfrm>
            <a:off x="3291840" y="4889160"/>
            <a:ext cx="81363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다른 연구에서도 같은 결과인가</a:t>
            </a:r>
            <a:r>
              <a:rPr lang="en-US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? — </a:t>
            </a: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예</a:t>
            </a:r>
            <a:r>
              <a:rPr lang="en-US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억제효과 연구는 자료와 비교 방식에 따라 결과가 달랐다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36" name="L"/>
          <p:cNvSpPr/>
          <p:nvPr/>
        </p:nvSpPr>
        <p:spPr>
          <a:xfrm>
            <a:off x="731520" y="550440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37" name="RL"/>
          <p:cNvSpPr/>
          <p:nvPr/>
        </p:nvSpPr>
        <p:spPr>
          <a:xfrm>
            <a:off x="731520" y="5672160"/>
            <a:ext cx="237564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적용 범위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38" name="RQ"/>
          <p:cNvSpPr/>
          <p:nvPr/>
        </p:nvSpPr>
        <p:spPr>
          <a:xfrm>
            <a:off x="3291840" y="5672160"/>
            <a:ext cx="81363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어디까지 적용할 수 있는가</a:t>
            </a:r>
            <a:r>
              <a:rPr lang="en-US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? — </a:t>
            </a: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예</a:t>
            </a:r>
            <a:r>
              <a:rPr lang="en-US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미국의 기소</a:t>
            </a:r>
            <a:r>
              <a:rPr lang="en-US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집행 구조가 한국과 같은지 먼저 살핀다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39" name="L"/>
          <p:cNvSpPr/>
          <p:nvPr/>
        </p:nvSpPr>
        <p:spPr>
          <a:xfrm>
            <a:off x="731520" y="629100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40" name="GBAND"/>
          <p:cNvSpPr/>
          <p:nvPr/>
        </p:nvSpPr>
        <p:spPr>
          <a:xfrm>
            <a:off x="731520" y="6419160"/>
            <a:ext cx="106966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이 물음을 출발점으로</a:t>
            </a:r>
            <a:r>
              <a:rPr lang="en-US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발표자료와 토론문에서 근거가 지지하는 범위와 남은 한계를 설명한다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KICKER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마무리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42" name="TITLE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이번 주 </a:t>
            </a:r>
            <a:r>
              <a:rPr lang="ko-KR" altLang="en-US" sz="275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공지</a:t>
            </a:r>
            <a:r>
              <a:rPr lang="zh-CN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en-US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주</a:t>
            </a:r>
            <a:r>
              <a:rPr lang="en-US" altLang="zh-CN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내용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43" name="L"/>
          <p:cNvSpPr/>
          <p:nvPr/>
        </p:nvSpPr>
        <p:spPr>
          <a:xfrm>
            <a:off x="731520" y="15544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44" name="H1"/>
          <p:cNvSpPr/>
          <p:nvPr/>
        </p:nvSpPr>
        <p:spPr>
          <a:xfrm>
            <a:off x="731520" y="1719000"/>
            <a:ext cx="1069668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이번 주</a:t>
            </a:r>
            <a:r>
              <a:rPr lang="en-US" alt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공지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49" name="D"/>
          <p:cNvSpPr/>
          <p:nvPr/>
        </p:nvSpPr>
        <p:spPr>
          <a:xfrm>
            <a:off x="850530" y="2474660"/>
            <a:ext cx="1810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50" name="B"/>
          <p:cNvSpPr/>
          <p:nvPr/>
        </p:nvSpPr>
        <p:spPr>
          <a:xfrm>
            <a:off x="731520" y="2469780"/>
            <a:ext cx="106509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지정토론 배정 결과와 주차별 발표 인원은 확정되는 대로 공지합니다 — 지정토론은 </a:t>
            </a:r>
            <a:r>
              <a:rPr lang="en-US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4</a:t>
            </a:r>
            <a:r>
              <a:rPr lang="zh-CN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주차부터 시작합니다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62" name="L"/>
          <p:cNvSpPr/>
          <p:nvPr/>
        </p:nvSpPr>
        <p:spPr>
          <a:xfrm>
            <a:off x="684000" y="36392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63" name="H3"/>
          <p:cNvSpPr/>
          <p:nvPr/>
        </p:nvSpPr>
        <p:spPr>
          <a:xfrm>
            <a:off x="684000" y="4317480"/>
            <a:ext cx="1069668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주 </a:t>
            </a:r>
            <a:r>
              <a:rPr lang="ko-KR" alt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내용</a:t>
            </a:r>
            <a:r>
              <a:rPr 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(3</a:t>
            </a:r>
            <a:r>
              <a:rPr 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주차</a:t>
            </a:r>
            <a:r>
              <a:rPr 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64" name="NX"/>
          <p:cNvSpPr/>
          <p:nvPr/>
        </p:nvSpPr>
        <p:spPr>
          <a:xfrm>
            <a:off x="684000" y="5303520"/>
            <a:ext cx="1069668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형사미성년자 기준 내지 촉법소년 상한 연령을 하향하여야 하는가</a:t>
            </a:r>
            <a:r>
              <a:rPr lang="en-US" sz="13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?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</TotalTime>
  <Words>69773</Words>
  <Application>Microsoft Office PowerPoint</Application>
  <PresentationFormat>와이드스크린</PresentationFormat>
  <Paragraphs>2345</Paragraphs>
  <Slides>50</Slides>
  <Notes>47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6" baseType="lpstr">
      <vt:lpstr>Pretendard</vt:lpstr>
      <vt:lpstr>Arial</vt:lpstr>
      <vt:lpstr>Symbol</vt:lpstr>
      <vt:lpstr>Times New Roman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준성 권</cp:lastModifiedBy>
  <cp:revision>44</cp:revision>
  <dcterms:modified xsi:type="dcterms:W3CDTF">2026-09-07T03:50:38Z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2026-09-05T16:04:19Z</dcterms:created>
  <dc:creator>Walnut Exporter</dc:creator>
  <dc:description/>
  <dc:language>en-US</dc:language>
  <cp:lastModifiedBy>Walnut Exporter</cp:lastModifiedBy>
  <dcterms:modified xsi:type="dcterms:W3CDTF">2026-09-05T16:04:19Z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47</vt:r8>
  </property>
  <property fmtid="{D5CDD505-2E9C-101B-9397-08002B2CF9AE}" pid="3" name="PresentationFormat">
    <vt:lpwstr>와이드스크린</vt:lpwstr>
  </property>
  <property fmtid="{D5CDD505-2E9C-101B-9397-08002B2CF9AE}" pid="4" name="Slides">
    <vt:r8>47</vt:r8>
  </property>
</Properties>
</file>